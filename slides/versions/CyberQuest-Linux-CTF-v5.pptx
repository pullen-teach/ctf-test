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32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67" r:id="rId40"/>
    <p:sldId id="294" r:id="rId41"/>
    <p:sldId id="333" r:id="rId79"/>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9" r:id="rId65"/>
    <p:sldId id="322" r:id="rId66"/>
    <p:sldId id="323" r:id="rId67"/>
    <p:sldId id="332" r:id="rId68"/>
    <p:sldId id="326" r:id="rId69"/>
    <p:sldId id="327" r:id="rId70"/>
    <p:sldId id="329" r:id="rId71"/>
    <p:sldId id="330" r:id="rId72"/>
    <p:sldId id="331" r:id="rId7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B505249-E962-BA39-5914-8EC0EDE189CD}">
          <p14:sldIdLst>
            <p14:sldId id="256"/>
            <p14:sldId id="257"/>
            <p14:sldId id="258"/>
          </p14:sldIdLst>
        </p14:section>
        <p14:section name="Part 1 · Linux fundamentals" id="{67889A25-A20E-7C5E-A581-21BF3FAB1F45}">
          <p14:sldIdLst>
            <p14:sldId id="259"/>
            <p14:sldId id="260"/>
            <p14:sldId id="261"/>
            <p14:sldId id="262"/>
            <p14:sldId id="263"/>
            <p14:sldId id="264"/>
            <p14:sldId id="265"/>
            <p14:sldId id="266"/>
          </p14:sldIdLst>
        </p14:section>
        <p14:section name="Part 2 · Command-line essentials" id="{50FE8EB7-4810-3D0F-6780-DD16DA957759}">
          <p14:sldIdLst>
            <p14:sldId id="268"/>
            <p14:sldId id="328"/>
            <p14:sldId id="269"/>
          </p14:sldIdLst>
        </p14:section>
        <p14:section name="Big idea 1 · The file system" id="{4C34E239-4351-E7E5-613D-645901723F4F}">
          <p14:sldIdLst>
            <p14:sldId id="270"/>
            <p14:sldId id="271"/>
            <p14:sldId id="272"/>
            <p14:sldId id="273"/>
            <p14:sldId id="274"/>
            <p14:sldId id="275"/>
            <p14:sldId id="276"/>
          </p14:sldIdLst>
        </p14:section>
        <p14:section name="Big idea 2 · Learning any command" id="{470C3839-DB5C-9A17-836D-962B4468AACE}">
          <p14:sldIdLst>
            <p14:sldId id="277"/>
            <p14:sldId id="278"/>
            <p14:sldId id="279"/>
            <p14:sldId id="280"/>
            <p14:sldId id="281"/>
          </p14:sldIdLst>
        </p14:section>
        <p14:section name="Big idea 3 · Searching" id="{75586DEC-0709-FE98-FC79-434F57E5BEA9}">
          <p14:sldIdLst>
            <p14:sldId id="282"/>
            <p14:sldId id="283"/>
            <p14:sldId id="284"/>
            <p14:sldId id="285"/>
            <p14:sldId id="286"/>
          </p14:sldIdLst>
        </p14:section>
        <p14:section name="Big idea 4 · Data and secrets" id="{741F6F05-D7F6-CF91-13EF-F8B68AAE7154}">
          <p14:sldIdLst>
            <p14:sldId id="287"/>
            <p14:sldId id="288"/>
          </p14:sldIdLst>
        </p14:section>
        <p14:section name="Part 2 · Recap" id="{903DCE0E-C76A-14EF-22D3-CAA6A1D97F3B}">
          <p14:sldIdLst>
            <p14:sldId id="289"/>
            <p14:sldId id="290"/>
          </p14:sldIdLst>
        </p14:section>
        <p14:section name="Part 3 · Rules and warm-up" id="{CAD2E985-EFD5-E0C8-1528-00C8EC45F7A5}">
          <p14:sldIdLst>
            <p14:sldId id="291"/>
            <p14:sldId id="292"/>
            <p14:sldId id="293"/>
            <p14:sldId id="267"/>
            <p14:sldId id="294"/>
            <p14:sldId id="295"/>
            <p14:sldId id="296"/>
          </p14:sldIdLst>
        </p14:section>
        <p14:section name="Missions 1–2 · Together" id="{145227D7-15F1-7794-6DB6-A90EF6450281}">
          <p14:sldIdLst>
            <p14:sldId id="297"/>
            <p14:sldId id="298"/>
            <p14:sldId id="299"/>
            <p14:sldId id="300"/>
          </p14:sldIdLst>
        </p14:section>
        <p14:section name="Missions 3–10 · The race" id="{2CCE9CB8-6E63-DA04-4941-EFC3AD373B8D}">
          <p14:sldIdLst>
            <p14:sldId id="301"/>
            <p14:sldId id="302"/>
            <p14:sldId id="303"/>
            <p14:sldId id="304"/>
            <p14:sldId id="305"/>
            <p14:sldId id="306"/>
            <p14:sldId id="307"/>
            <p14:sldId id="308"/>
            <p14:sldId id="309"/>
            <p14:sldId id="310"/>
            <p14:sldId id="311"/>
            <p14:sldId id="312"/>
            <p14:sldId id="313"/>
            <p14:sldId id="314"/>
            <p14:sldId id="315"/>
            <p14:sldId id="316"/>
          </p14:sldIdLst>
        </p14:section>
        <p14:section name="Part 3 · After the race" id="{34651E02-4A5D-6FE5-5B38-6DC016C6244C}">
          <p14:sldIdLst>
            <p14:sldId id="317"/>
          </p14:sldIdLst>
        </p14:section>
        <p14:section name="Part 4 · Debrief" id="{3D4F0883-5717-781A-671C-CCF69D793714}">
          <p14:sldIdLst>
            <p14:sldId id="319"/>
            <p14:sldId id="322"/>
            <p14:sldId id="323"/>
          </p14:sldIdLst>
        </p14:section>
        <p14:section name="Mentor appendix" id="{F5671429-FC4E-BAA9-750F-2E3233C456F4}">
          <p14:sldIdLst>
            <p14:sldId id="332"/>
            <p14:sldId id="326"/>
            <p14:sldId id="327"/>
            <p14:sldId id="329"/>
            <p14:sldId id="330"/>
            <p14:sldId id="33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623"/>
    <a:srgbClr val="5665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8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 Id="rId79" Type="http://schemas.openxmlformats.org/officeDocument/2006/relationships/slide" Target="slides/slide7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1088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and introduce the mentors: name, what you do, and one sentence on how you use a terminal at work.
Promise: 'In the next 90 minutes you will start a Linux computer inside your browser, learn about a dozen commands, then compete for 2,700 points against the clock.'
Before class: the link is written on the 'Open the CTF' slide, and you have watched it reach 'Ready' on a student Chromebook on the school network.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timeline so students know the competition is coming and the theory is short.
Timing for 90 minutes: opening 3 min, Part 1 Linux 101 10 min, Part 2 learn 25 min (open the CTF at the start: see the mentor appendix), Part 3 compete 42 min, Part 4 debrief 10 min.
Part 2 teaches the commands in exactly the order the missions need them, so each mission feels like using something you just learned.
If you only have 60 minutes: demo the Try it pills instead of pausing for them, and skip the side quests.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capture the flag, or CTF, is a puzzle competition for security skills. Each puzzle hides a secret piece of text called a flag. Find it, submit it, score points.
Read the flag anatomy out loud. Every flag today starts with CYBA and has its secret between curly braces.
Ask: 'Why would companies want people who are good at this?' Because finding the hidden thing, legally and with permission, is exactly what defenders are paid to do.
Stress the word permission. This CTF is built to be explored. Real systems are not yours to poke 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Eight minutes of story before anyone touches a keyboard. Keep it fast and visual: the point is WHY this matters, not memorising dates.
Ask: 'Who thinks they have used Linux today?' Count hands now, and again at the end of this part.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a story: a small idea from a phone company lab, a free-software movement, and a student's hobby project that ended up running the world.
1969: Ken Thompson and Dennis Ritchie create Unix at Bell Labs. Its ideas (small tools, everything is a file, a shell to glue them together) are exactly what we use today.
1983: Richard Stallman launches the GNU project to build a free Unix-like system. Many everyday commands come from that tradition.
1991: Linus Torvalds, a 21-year-old student in Helsinki, posts a 'just a hobby' kernel. Combined with free tools, it becomes a complete free operating system.
2008: the first Android phone ships, built on the Linux kernel.
2017: from the November 2017 TOP500 list on, every one of the world's 500 fastest supercomputers runs Linux.
Vocabulary: Linux is the kernel, the core that talks to the hardware. A distribution (Ubuntu, Debian, Fedora, Kali) is Linux plus tools, packaged together. Linux is open source: anyone can read and improve the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audiences, same tool.
Developers: most servers, cloud machines and containers run Linux, so code gets built, tested and deployed there. Git, the tool almost every developer uses, was written by Linus Torvalds in 2005 to manage the Linux kernel. In Stack Overflow's 2025 developer survey, about 28% of developers said they use Ubuntu for personal work, and that is just one Linux distribution.
Security: defenders read Linux logs, investigate Linux servers and run security tools that are made for Linux first. Kali Linux, a distribution built for penetration testing, ships with hundreds of security tools. CTF competitions, like the one later today, are usually played on Linux.
Bridge: every command you learn today works on those same systems.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personal: most students carry Linux every day without knowing it.
About 69% of the world's phones run Android (StatCounter, September 2026), and Android is built on the Linux kernel. iPhones are not Linux, but they come from the same Unix family tree, so many of today's commands work on a Mac too.
Chromebooks run ChromeOS, which is built on Linux: anyone on a Chromebook right now is using Linux. Many smart TVs, home Wi-Fi routers, car dashboards and the Steam Deck run Linux too. And almost every app on your phone talks to servers that run Linux.
Ask: 'Now who thinks they used Linux today?' Count hands again.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say 'terminal' and 'shell' as if they were the same thing. They are layers.
The terminal is the window: it shows text and sends your keystrokes. The shell is the program inside it that reads each command, runs it and prints the answer. Popular shells are bash, zsh and sh; today's CTF uses sh from BusyBox. The kernel is Linux itself: it runs programs and talks to the hardware.
The prompt (player@quest:~$) is the shell saying 'your turn'. CLI means command-line interface: working by typing commands. GUI means graphical user interface: windows, icons and a mouse.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anyone types, name the parts of the screen. Point at each one on the projector as you go.
1. The terminal is the black window. It is just text: no buttons, no icons. You talk to the computer by typing, and it answers in text.
2. The prompt, player@quest:~, tells you who you are (player), which computer (quest) and which folder you are in (~, your home).
3. The prompt character $ means 'ready, your turn'. A very common beginner mistake is typing the $ as well. Don't: it is already there.
4. The command is what you type after the $. Nothing happens until you press Enter.
5. The output is the computer's answer, printed underneath.
6. Then a fresh prompt appears with a blinking cursor: your turn again.
Ask a student to come up and point at each part on the screen.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the GUI: it is easier to discover, and great for one-off visual work. Professionals use both and pick the right tool.
The CLI wins whenever the work is precise, repeated, big, remote or needs to be shared. A command is also documentation: you can paste exactly what you did into a chat or a script.
Ask: 'Which column would you want if you had to do this job a thousand times?'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of Part 1. For work that is repeated, large or remote, the command line is unmatched by any GUI.
Speed of doing: one line replaces hundreds of clicks, and a script repeats it forever. Speed of the machine: a shell needs a few megabytes of memory, while a graphical desktop needs far more, so a command line runs fine on tiny devices and busy servers. Speed of reach: text travels over even a weak connection, so one person can manage thousands of servers.
The click times are estimates, about three seconds per rename. The point is the shape, not the exact numbers.
Bridge to Part 2: 'In the competition you will search a 12,000-line log. Let's open the CTF and learn the command-line essentials.'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Tell the class: 'Part 2 is four big ideas. Each one is a set of tools for the competition.'
Demo every command live on the projector. Then give the room 30 seconds to type the green Try it command themselves.
None of the Try it commands touch the mission folders, so nothing gets spoiled.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terminal works in a loop, and once students see the loop they stop being nervous of it.
Prompt, type, Enter, output, prompt again. Walk the four cards, then show the two terminals underneath.
Left: some commands print nothing at all. cd moves you and stays silent; the new prompt shows the new folder. Silence usually means it worked.
Right: errors are output too. LS fails because Linux is case-sensitive. ls /nope fails because the folder does not exist. The message tells you what went wrong, so read it out loud.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Part 2. Every command today belongs to one of four ideas, and the ideas build on each other.
1. The file system: everything is a file or a folder. You point at them with paths, then move around or look inside.
2. Learning any command: every command has the same shape, and every command can explain itself.
3. Searching: when there is too much to look at by hand, let the computer search by name or inside files.
4. Data and secrets: some text only looks secret.
Each idea is a set of tools the class will need in the competition.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1: the file system. Say the sentence on the slide out loud and have the class repeat the three verbs: point, move, look.
Everything that follows in this concept is one of those three things: a path points at something; pwd and cd move you; ls and cat look.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things live on a Linux computer, and telling them apart is the first skill.
A file holds data: text, a picture, a program. You look inside a file with cat.
A folder (Linux says 'directory') holds files and other folders. You look inside a folder with ls, and you can step into it with cd.
Three ways to tell them apart: ls shows folders in blue; ls -l starts folder lines with d and file lines with -; cd into a file says 'Not a directory'.
TRY IT: ls -l ~ . Every mission line starts with d, because each mission is a folder.
COMES BACK IN: Mission 1 is a trail of folders, and its signposts are file names.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path is the address of a file or folder: folder names joined by slashes. Commands need paths to know what to act on.
Absolute paths start with / (the root) and work from anywhere. Relative paths start from wherever you are now, so they are shorter but depend on your location.
Four special names: / is the top of the tree, ~ is your home, . is right here, .. is one level up.
All three commands at the bottom go to the same place when you start at home. Ask the class: which one works from anywhere?
TRY IT: ls /home/player and ls ~ show the same thing.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live in folders (Linux calls them directories), and folders nest like a tree. The top is / , called the root.
Five moves: pwd prints where you are, ls lists what is here, cd NAME goes into a folder, cd .. goes back up one level, and cd ~ (or just cd) takes you home. cd can also take a path: cd a/b goes two levels down at once.
In ls, folders show in blue. cd only works on folders; cd into a file says 'Not a directory'.
TRY IT: cd /etc, pwd, cd .., pwd, cd ~. Have students say out loud where they expect to be before pressing Enter.
COMES BACK IN: Mission 1, Make your move, is all about these five.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 looks inside a folder. On its own it looks where you are; give it a path and it looks there without moving you.
Hidden files: any name that starts with a dot is skipped by plain ls. ls -a shows all of them, including . (here) and .. (up). Hiding is a convention, not security. Your home folder has one: .profile.
ls -l shows details: file or folder, permissions, owner, size.
TRY IT: ls -a ~ shows the hidden .profile.
COMES BACK IN: Mission 1 (reading signposts with ls) and Mission 3, Now you see me (ls -a).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 prints a whole file. That is perfect for short files and terrible for huge ones, so there are tools for looking at part of a file, or just measuring it.
/etc/passwd lists the accounts on this computer. Here there are only two: root, the all-powerful administrator, and player, you.
less opens a file you can scroll: arrow keys or space to move, q to quit. Say 'q to quit' twice.
COMES BACK IN: cat is in every mission from Mission 2 on; head and wc -l help in Mission 5.</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file carries permissions: who may read it, change it, or run it. ls -l shows them as a ten-letter string; chmod changes them, but only on files you own.
Read the string in threes after the first letter: owner, group, everyone. r read, w write, x execute (run). A dash means 'no'.
./name runs a program or script in the current folder. Without the x permission, Linux answers 'Permission denied'.
Demo on the right with a two-line script. Do NOT use mission 7's file: that is the puzzle.
COMES BACK IN: Mission 7, Permission denied, and Endgame.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2: learning any command. Nobody memorises every command. Professionals know the shape of a command and how to make it explain itself.
Point back to Concept 1: the arguments of most commands are paths.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line left to right. Everything before the $ is the prompt. Everything after it is what you type.
Most commands follow the same shape: command, then options (usually starting with a dash), then arguments (what to act on).
TRY IT: ls -l /home lists /home in the long format. Nothing happens until you press Enter, and Linux is case-sensitive: LS does not work.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skill of the whole session. Almost every command explains itself if you type its name, a space, and --help.
Read the help in two parts. The Usage line shows the shape: options in square brackets are optional, FILE... means one or more files. Then the option list: each option and what it does.
We use wc here on purpose; Mission 2 asks students to do the same with cat, so don't show cat --help yet.
On a full Linux system, man COMMAND opens the longer manual (q quits). The page's small Linux has --help only.
COMES BACK IN: Mission 2 needs it, and the first hint for most missions says 'read the --help'. --help is free; hints are not.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is the quick answer. The manual is the full one, and every full Linux system and every Mac has it.
man grep opens the manual page for grep: what it does, every option, and examples near the bottom. Move with the arrow keys or space, search with / followed by a word, and press q to quit. Say 'q to quit' twice.
Finding a command you have never heard of: apropos rename (the same as man -k rename) searches every manual page's one-line description, so you can search by the job instead of the name. whatis gives one line about a command. tldr (a free extra tool) and explainshell.com show short, real examples.
Our CTF computer is deliberately tiny: it has no manual pages, so man is not there. Inside the CTF, use --help, and list every command with ls /bin (or busybox --list in real-Linux mode).
Takeaway: nobody memorises commands. Professionals know how to find them.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keys that make everyone faster, and that matter in a timed competition.
Tab: type the first letters of a name and press Tab; the shell finishes it. If several names match, press Tab twice to see the choices. It also prevents typos in long paths.
Up arrow brings back the last command so you can fix or extend it. Ctrl+C stops whatever is running. clear wipes the screen.
TRY IT: type cd miss and press Tab twice.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3: searching. When a folder tree or a file is too big to read by hand, you let the computer search.
find searches the TREE by name. grep searches INSIDE files by content. Pipes let you chain small tools into a bigger question.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folders one by one does not scale. find walks every sub-folder for you.
Read the command as a sentence: find, starting in /etc, files whose name matches this pattern. The star means 'anything'. Keep the quotes around a pattern that has a star.
TRY IT: find /etc -name "p*" finds passwd and profile.
COMES BACK IN: Mission 4, Needle in the tree.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looks at file names. grep looks inside files and prints only the lines that contain your word.
This is the everyday tool of a security analyst: logs are huge, and the one line that matters is in there somewhere.
TRY IT: grep player /etc/passwd prints the one line about your account.
COMES BACK IN: Mission 5, Search party.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 character sends the output of one command into the next. Each tool does one small job; chained together they answer a real question.
Here: how many commands on this computer have 'sh' in their name? ls /bin lists every command. grep keeps the names containing sh. wc -l counts them.
Build it up live, one stage at a time, using the Up arrow to bring the last command back. The pipe key is Shift plus backslash.
COMES BACK IN: Mission 5 (head and wc -l to size up the log), Missions 6, 9 and 10, and the side quests.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small tools that shine in a pipe.
sort puts lines in order, so identical lines end up next to each other. uniq squashes neighbouring repeats: -c counts them, -u keeps only the lines with no twin. Because uniq only looks at neighbours, it almost always comes after sort.
cut slices one field out of every line: -d says what separates the fields, -f which field to keep. Try it on /etc/passwd, where fields are separated by colons.
COMES BACK IN: Mission 6, Odd one out (sort | uniq), Endgame (cut) and the side quests.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4: data and secrets. It powers Missions 8, 9 and the Endgame.
Some text only looks secret. Knowing the difference between encoding and encryption is a core security idea.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security idea worth one slide. Base64 turns any data into plain letters and digits so it can travel through systems that only handle text. It looks scrambled, but there is no key: anyone can reverse it.
Encryption needs a secret key to undo. Attackers often hide commands in base64 hoping nobody looks; analysts decode it in one command.
Don't show the decode option: finding it with base64 --help is Mission 8. Ask 'how could we find out which option decodes?' and leave it open.
How to recognise base64: a mix of upper case, lower case and digits, sometimes ending in one or two = signs.
COMES BACK IN: Mission 8, Decoder ring; Mission 9, Layer cake; and the Endgame.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Normalise being stuck. Professionals look things up all day.
The page has a hint for every mission: hint 1 up to hint 10, or the Need a hint? box in the sidebar. Hints come in tiers: the first points to a command's --help, later ones give more direction (Easy missions have one hint, the Endgame has four). Each hint costs 5% of that mission's points, charged once, and hint N always shows the price before you buy with hint N --show. Try --help first: it is free.
An error message is information. 'Permission denied' means you found something protected. 'No such file' usually means a typo or the wrong folder: run pwd and ls.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recap before the competition, grouped by the four big ideas. Do not re-teach: point and name.
Mentors can flip back to this slide at any time during Part 3.</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If students played around while learning, have everyone reload now for a fresh computer, zero points and a clean clock. This is the ONE time a reload is welcome.
Put the CTF on one half of the projector and these slides on the other, or switch between them.
Each mission has two slides: the brief (show it, read it, ask the three questions) and the walkthrough (reveal it after the class has tried).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rules of the competition crystal clear before the clock matters.
Points come from difficulty, on CyberQuest's scale: Easy 100, Medium 200, Hard 400, Very Hard 800. Today's ten missions are worth 2,700 in total, plus 50 bonus points for the optional warm-up. Mission 10, the Endgame, is the one Very Hard.
The clock counts UP. It waits during the warm-up, starts at the first keystroke of Mission 1, and stops when you capture the last flag. Nobody gets cut off; the clock just records how long you took.
Ranking: most points wins; on a tie, the faster time wins. Hints cost 5% of the mission's points each (an Easy hint is 5 points, an Endgame hint 40), charged once. Wrong flags cost nothing.
A wrong flag costs nothing. Encourage trying.</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five-step routine is the same for every mission. Drill it now so that the only new thing in each round is the puzzle itself.
Say it together as a class: Read. Go. Hunt. Copy. Submit.
Step 4 trips people up: select the flag in the terminal with the mouse and copy it, including CYBA and both curly braces. On a Chromebook, Ctrl+Shift+V pastes into the terminal.</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screenshot from the middle of a game: warm-up and two flags captured, mission 3 open.
Walk the eight parts. The progress track lights one coloured bar per flag. Points, the clock and flags captured sit at the top of the sidebar. The clock waits during the warm-up, starts with Mission 1, counts up and stops at the last flag. The stepper shows a green check for each captured mission. Each mission shows its difficulty and points. Run buttons type the starting commands for you. Next unlocks once the flag is captured.
The most common problem in class is typing before clicking inside the terminal. Say it twice.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together, before the clock matters. It practises the capture routine with zero pressure.
orientation.txt in the home folder explains the game: how to read a mission's instructions (cd into the folder, cat README.txt), what a flag looks like, how to submit it, what the replies mean, and where hints live. Its last line is the warm-up flag.
It is optional and untimed: worth 50 bonus points, and the sidebar has a Skip warm-up button. The clock only starts once a team moves on to Mission 1.
Copying the flag is the real lesson: highlight it with the mouse, paste with Ctrl+V or a right-click, and include CYBA{ and the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phases so nobody is left behind.
Missions 1 and 2 are guided ('We do'): the class tells the mentor what to type and everyone captures together. The clock is running, but everyone moves at the same pace.
Missions 3 to 10 are a race ('You do'): teams solve on their own. Show the brief slide, ask the questions, then let them go. Reveal each walkthrough once most teams have the flag, or when the room is stuck.
Mentors walk the room during the race: point at hints, ask questions, don't type for students.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the whole competition. Leave it up for a moment and let students read the names.
Notice the order: the commands appear in the same order we learned them in Part 2.
Suggested pacing: the warm-up together in 3 minutes, missions 1 and 2 together in 12, then the race for missions 3 to 10. Most teams reach Mission 8 or 9 in 35 minutes; the Endgame is for the fastest. Stop the race on time: points and times are already recorded.</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 OF 10: Make your move   [Easy, 100 points, We do, about 6 minutes]
Show this slide first. Read the brief out loud, then ask the three questions BEFORE anyone types. Take one answer per question; do not confirm or correct yet.
CLASS CALLS IT OUT. This is the first mission and the first time the clock matters, so keep it upbeat.
Ask before every cd: 'what do the names say?' Folders show in blue in ls; the long dashed names are plain files used as signs. Try cd into a sign on purpose: 'Not a directory' is a great teaching moment.
The first sign always leads to a dead end on purpose, so the class has to use cd .. . The last step shows that cd can take two folders at once: cd gazebo/crate.
The flag is a file NAME. Select it in the ls output and paste it after submit.
Place names are random per computer: park, library, market, harbor, station, arcade; then fountain, gazebo, tunnel, bridge or kiosk; then locker, crate, shed, cellar or toolbox.</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 OF 10: Make your move
Guided mission: solve it live with the class calling out commands, then use this slide to recap.
The slide never shows a real flag: every computer has its own, so students still have to run the commands themselves.
Ask one student to explain the three steps in their own words. Offer the stretch question to anyone who finished early.
CLASS CALLS IT OUT. This is the first mission and the first time the clock matters, so keep it upbeat.
Ask before every cd: 'what do the names say?' Folders show in blue in ls; the long dashed names are plain files used as signs. Try cd into a sign on purpose: 'Not a directory' is a great teaching moment.
The first sign always leads to a dead end on purpose, so the class has to use cd .. . The last step shows that cd can take two folders at once: cd gazebo/crate.
The flag is a file NAME. Select it in the ls output and paste it after submit.
Place names are random per computer: park, library, market, harbor, station, arcade; then fountain, gazebo, tunnel, bridge or kiosk; then locker, crate, shed, cellar or toolbox.</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2 OF 10: Let the cat out of the bag   [Easy, 100 points, We do, about 6 minutes]
Show this slide first. Read the brief out loud, then ask the three questions BEFORE anyone types. Take one answer per question; do not confirm or correct yet.
CLASS CALLS IT OUT. Two lessons in one: cat reads files, and --help makes any command explain itself.
Before anyone runs cat --help, ask: 'how would you find out what a program can do if nobody told you?' Then show the two dashes.
Read the help out loud: the Usage line says cat takes options, then files. -n numbers output lines.
The real line number is random per computer (30 to 95). Teams scroll up to find it; on a laptop that is easy.
Submitting a look-alike line gives 'Incorrect flag', a nice proof that only one is real.</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2 OF 10: Let the cat out of the bag
Guided mission: solve it live with the class calling out commands, then use this slide to recap.
The slide never shows a real flag: every computer has its own, so students still have to run the commands themselves.
Ask one student to explain the three steps in their own words. Offer the stretch question to anyone who finished early.
CLASS CALLS IT OUT. Two lessons in one: cat reads files, and --help makes any command explain itself.
Before anyone runs cat --help, ask: 'how would you find out what a program can do if nobody told you?' Then show the two dashes.
Read the help out loud: the Usage line says cat takes options, then files. -n numbers output lines.
The real line number is random per computer (30 to 95). Teams scroll up to find it; on a laptop that is easy.
Submitting a look-alike line gives 'Incorrect flag', a nice proof that only one is real.</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3 OF 10: Now you see me   [Easy, 100 points, You do, about 4 minutes]
Show this slide first. Read the brief out loud, then ask the three questions BEFORE anyone types. Take one answer per question; do not confirm or correct yet.
TEAMS RACE. From here on the clock really matters: teams solve first, and you reveal this walkthrough after most have it.
If a team is stuck, point them at hint 3, or ask 'what does ls --help say about names that start with a dot?'
The real file is .treasure, .stash, .secret-notes or .backup-codes; the decoy always starts with .old-.
Stretch answer: .profile, the file that sets up the coloured prompt.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3 OF 10: Now you see me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From here on the clock really matters: teams solve first, and you reveal this walkthrough after most have it.
If a team is stuck, point them at hint 3, or ask 'what does ls --help say about names that start with a dot?'
The real file is .treasure, .stash, .secret-notes or .backup-codes; the decoy always starts with .old-.
Stretch answer: .profile, the file that sets up the coloured prompt.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4 OF 10: Needle in the tree   [Medium, 200 points, You do, about 6 minutes]
Show this slide first. Read the brief out loud, then ask the three questions BEFORE anyone types. Take one answer per question; do not confirm or correct yet.
TEAMS RACE. Worth 200 points: the first Medium.
The ending is random per computer: .key, .gem or .relic. Teams must read their OWN README.
When revealing, read the find command as a sentence: find, starting in archive, things whose name ends in .gem. Keep the quotes around the pattern.
The long path is the perfect moment for Tab.</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4 OF 10: Needle in the tree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200 points: the first Medium.
The ending is random per computer: .key, .gem or .relic. Teams must read their OWN README.
When revealing, read the find command as a sentence: find, starting in archive, things whose name ends in .gem. Keep the quotes around the pattern.
The long path is the perfect moment for Tab.</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5 OF 10: Search party   [Medium, 200 points, You do, about 6 minutes]
Show this slide first. Read the brief out loud, then ask the three questions BEFORE anyone types. Take one answer per question; do not confirm or correct yet.
TEAMS RACE. If a team runs cat access.log, 12,000 lines blur past: that makes the case for grep. Ctrl+C stops it early.
The intruder's name is random per computer: nightowl, ghost_fox, zero_cool, red_panda or pixel_wolf.
Copy only the token value, starting at CYBA{ and ending at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5 OF 10: Search party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If a team runs cat access.log, 12,000 lines blur past: that makes the case for grep. Ctrl+C stops it early.
The intruder's name is random per computer: nightowl, ghost_fox, zero_cool, red_panda or pixel_wolf.
Copy only the token value, starting at CYBA{ and ending at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6 OF 10: Odd one out   [Medium, 200 points, You do, about 5 minutes]
Show this slide first. Read the brief out loud, then ask the three questions BEFORE anyone types. Take one answer per question; do not confirm or correct yet.
TEAMS RACE. The first pipe mission. uniq only compares NEIGHBOURING lines, so uniq -u on the unsorted file prints almost everything: a great 'why?' moment.
If stuck: hint 6 (costs 10 points), or 'what does uniq --help say about unique lines?'
Also correct: sort codes.txt | uniq -c | sort -n | head -1 shows a count of 1 next to the flag.</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6 OF 10: Odd one out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The first pipe mission. uniq only compares NEIGHBOURING lines, so uniq -u on the unsorted file prints almost everything: a great 'why?' moment.
If stuck: hint 6 (costs 10 points), or 'what does uniq --help say about unique lines?'
Also correct: sort codes.txt | uniq -c | sort -n | head -1 shows a count of 1 next to the flag.</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7 OF 10: Permission denied   [Medium, 200 points, You do, about 5 minutes]
Show this slide first. Read the brief out loud, then ask the three questions BEFORE anyone types. Take one answer per question; do not confirm or correct yet.
TEAMS RACE. Read the permission string in threes: owner, group, everyone. r read, w write, x execute (run).
Some teams will cat unlock.sh and decode its hidden .door file with base64 by hand. That works too: praise it as thinking like an attacker, then ask them to do it the intended way.
Stretch answer: root owns them, and player cannot change them (Operation not permitted). That is exactly why the answers are safe.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7 OF 10: Permission denied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Read the permission string in threes: owner, group, everyone. r read, w write, x execute (run).
Some teams will cat unlock.sh and decode its hidden .door file with base64 by hand. That works too: praise it as thinking like an attacker, then ask them to do it the intended way.
Stretch answer: root owns them, and player cannot change them (Operation not permitted). That is exactly why the answers are safe.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8 OF 10: Decoder ring   [Hard, 400 points, You do, about 5 minutes]
Show this slide first. Read the brief out loud, then ask the three questions BEFORE anyone types. Take one answer per question; do not confirm or correct yet.
TEAMS RACE. Worth 400 points: the first Hard. The command is short; recognising base64 and finding -d in the help is the hard part.
Ask again after: did we need a password to undo this? No. So it was never secret. Mission 9 builds straight on this.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8 OF 10: Decoder ring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400 points: the first Hard. The command is short; recognising base64 and finding -d in the help is the hard part.
Ask again after: did we need a password to undo this? No. So it was never secret. Mission 9 builds straight on this.</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9 OF 10: Layer cake   [Hard, 400 points, You do, about 5 minutes]
Show this slide first. Read the brief out loud, then ask the three questions BEFORE anyone types. Take one answer per question; do not confirm or correct yet.
TEAMS RACE. Worth 400 points. The number of layers is random (4, 5 or 6), so teams cannot copy each other's command.
The Up arrow is the star of this mission: bring the last command back, add  | base64 -d , press Enter.
If the output turns into garbage symbols, they decoded once too many: remove the last pipe.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9 OF 10: Layer cake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400 points. The number of layers is random (4, 5 or 6), so teams cannot copy each other's command.
The Up arrow is the star of this mission: bring the last command back, add  | base64 -d , press Enter.
If the output turns into garbage symbols, they decoded once too many: remove the last pipe.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10 OF 10: Endgame   [Very Hard, 800 points, You do, about 10 minutes]
Show this slide first. Read the brief out loud, then ask the three questions BEFORE anyone types. Take one answer per question; do not confirm or correct yet.
TEAMS RACE. Worth 800 points: the biggest prize and the only Very Hard mission. Expect only the strongest teams to finish. Points land only for the whole flag, but every piece found is progress worth praising.
Coach piece by piece: 'Which mission taught you hidden files? Searching a log? A locked script?'
cut -d= -f4 means: split the line at every = sign and keep the 4th part, the token. Copying the token by hand into  echo TOKEN | base64 -d  works too.
The pieces on this slide are an example: every computer has its own.
When the last flag lands, the clock stops and the sidebar shows the finish card. Celebrate it.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10 OF 10: Endgame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800 points: the biggest prize and the only Very Hard mission. Expect only the strongest teams to finish. Points land only for the whole flag, but every piece found is progress worth praising.
Coach piece by piece: 'Which mission taught you hidden files? Searching a log? A locked script?'
cut -d= -f4 means: split the line at every = sign and keep the 4th part, the token. Copying the token by hand into  echo TOKEN | base64 -d  works too.
The pieces on this slide are an example: every computer has its own.
When the last flag lands, the clock stops and the sidebar shows the finish card. Celebrate it.</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flags and no points: the answer is a number or a name, and teams compare out loud. Perfect for teams that finish the race early.
Answers:
Count the haystack: find archive -type f | wc -l  gives 81 files; -type d gives 26 folders. Same on every computer.
Who failed most?: grep LOGIN_FAIL access.log | cut -d' ' -f2 | sort | uniq -c | sort -n | tail -3. Different on every computer; ties happen.
Head count: cut -d' ' -f2 access.log | sort -u | wc -l gives 11 (ten users plus the intruder).
Swap secrets: echo meet at the gym | base64, write it on paper, swap with a neighbour, decode with echo ... | base64 -d.</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Applaud the fastest teams, and also the team that got unstuck the most times.
Fun closer: have everyone type the command on this slide. $(whoami) runs whoami and drops its answer into the sentence.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visual receipt for the session, in mission order. Each stamp is a tool the class used today.
Ask students to count the stamps they earned. Anyone with ten or more did a full beginner Linux lab in one session.</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missions to real work. Ask the questions on the right and let students answer before you do.
Mentors: share one real story (unclassified and non-sensitive) of using these commands at work.</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59585-0458-C5F3-AB5A-E7060340F7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57871-AF8A-427A-4BEF-F1B0B0779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40C716-2065-26F6-DF26-420EB16F3390}"/>
              </a:ext>
            </a:extLst>
          </p:cNvPr>
          <p:cNvSpPr>
            <a:spLocks noGrp="1"/>
          </p:cNvSpPr>
          <p:nvPr>
            <p:ph type="body" idx="1"/>
          </p:nvPr>
        </p:nvSpPr>
        <p:spPr/>
        <p:txBody>
          <a:bodyPr/>
          <a:lstStyle/>
          <a:p>
            <a:r>
              <a:rPr lang="en-US" dirty="0"/>
              <a:t>Section break. Applaud the fastest teams, and also the team that got unstuck the most times.
Fun closer: have everyone type the command on this slide. $(whoami) runs whoami and drops its answer into the sentence.</a:t>
            </a:r>
          </a:p>
        </p:txBody>
      </p:sp>
      <p:sp>
        <p:nvSpPr>
          <p:cNvPr id="4" name="Slide Number Placeholder 3">
            <a:extLst>
              <a:ext uri="{FF2B5EF4-FFF2-40B4-BE49-F238E27FC236}">
                <a16:creationId xmlns:a16="http://schemas.microsoft.com/office/drawing/2014/main" id="{6CFABCE4-4202-4FBF-2D9C-06C3093F761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11738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CyberQuest Linux CTF is our own page, hosted free on GitLab Pages. When it loads, it starts a small but real Linux computer inside the tab.
How: a program called v86 pretends to be a PC, using a browser feature called WebAssembly. That pretend PC boots a real Linux kernel, and a toolkit called BusyBox provides the commands.
Some school and work browsers switch WebAssembly off. Then the page starts lite mode instead: a simulated shell with the same ten missions and the same commands. Students barely notice the difference.
Everything runs on the student's own device. Every page load hides ten new random flags (plus the warm-up), which is why reloading resets your progress.</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 READING: run this with students right before Part 2 (Command-line essentials), so every device is booted for the Try it pills. Give students two or three minutes. Mentors walk the room.
WRITE YOUR GITLAB PAGES ADDRESS IN THE BOX before presenting (click the dashed box and type). A QR code or short link on the board also helps.
Boot takes about 10 seconds on a laptop; Chromebooks can take longer. The status in the top right corner says 'Ready in N s' when it is done.
Most important rule: do not reload the page. A reload builds a brand-new computer with new flags, and resets the clock and points.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everyone click in the terminal and type three commands: whoami, pwd and ls. Show it on the projector at the same time.
This is practice: the competition clock does not start until Mission 1, so nothing here counts against anyone.
whoami answers 'player'. pwd shows the home folder. ls shows README.txt, orientation.txt and the ten mission folders.
Do not move on until every student has a prompt and sees the ten missions. Thumbs up when you do.</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Flags are random on every page load and the CTF keeps only fingerprints, so there is no list of flags: play each mission yourself before class.
Fixed side-quest answers: Count the haystack is 81 files and 26 folders; Head count is 11.</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Most problems are outside the page: the school web filter, or the GitLab Pages visibility setting. Test on a student device, on the school network, beforehand.
Plan B if most devices can't load it: drive the CTF on the projector from a device that works, and run the whole competition as 'We do', with teams racing to call out the next command on paper.</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Warm-up 2 builds speed. Do it together, still before the clock matters: it is optional, untimed and worth 50 bonus points.</a:t>
            </a:r>
          </a:p>
          <a:p/>
          <a:p>
            <a:r>
              <a:t>Three drills, one key each. Tab: in ~/speed/tab, type cat dri and press Tab; the long file name finishes itself. Up arrow: run again five times within 15 seconds; the up arrow brings the command back. Ctrl+C: run runaway, which prints forever, then press Ctrl+C to stop it.</a:t>
            </a:r>
          </a:p>
          <a:p/>
          <a:p>
            <a:r>
              <a:t>Each drill prints a 4-character piece. The flag is CYBA{speed- followed by the three pieces in order, then }. Highlight each piece and paste it: that's the copy and paste drill.</a:t>
            </a:r>
          </a:p>
          <a:p/>
          <a:p>
            <a:r>
              <a:t>Pieces on this slide are examples; every computer has its own. hint 11 is free.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www.explainshell.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2.png"/><Relationship Id="rId4" Type="http://schemas.openxmlformats.org/officeDocument/2006/relationships/image" Target="../media/image1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2.png"/><Relationship Id="rId4" Type="http://schemas.openxmlformats.org/officeDocument/2006/relationships/image" Target="../media/image23.png"/><Relationship Id="rId5" Type="http://schemas.openxmlformats.org/officeDocument/2006/relationships/image" Target="../media/image22.png"/><Relationship Id="rId6" Type="http://schemas.openxmlformats.org/officeDocument/2006/relationships/image" Target="../media/image2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hyperlink" Target="https://ctf-test-584641.gitlab.io/"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1</a:t>
            </a:r>
            <a:endParaRPr lang="en-US" sz="1000" dirty="0"/>
          </a:p>
        </p:txBody>
      </p:sp>
      <p:sp>
        <p:nvSpPr>
          <p:cNvPr id="5" name="Text 2"/>
          <p:cNvSpPr txBox="1"/>
          <p:nvPr/>
        </p:nvSpPr>
        <p:spPr>
          <a:xfrm>
            <a:off x="548640" y="1234440"/>
            <a:ext cx="6035040" cy="1188720"/>
          </a:xfrm>
          <a:prstGeom prst="rect">
            <a:avLst/>
          </a:prstGeom>
          <a:noFill/>
          <a:ln/>
        </p:spPr>
        <p:txBody>
          <a:bodyPr wrap="square" lIns="0" tIns="0" rIns="0" bIns="0" rtlCol="0" anchor="ctr"/>
          <a:lstStyle/>
          <a:p>
            <a:pPr marL="0" indent="0">
              <a:buNone/>
            </a:pPr>
            <a:r>
              <a:rPr lang="en-US" sz="7200" b="1" dirty="0">
                <a:solidFill>
                  <a:srgbClr val="FFFFFF"/>
                </a:solidFill>
                <a:latin typeface="Arial" pitchFamily="34" charset="0"/>
                <a:ea typeface="Arial" pitchFamily="34" charset="-122"/>
                <a:cs typeface="Arial" pitchFamily="34" charset="-120"/>
              </a:rPr>
              <a:t>CyberQuest</a:t>
            </a:r>
            <a:endParaRPr lang="en-US" sz="7200" dirty="0"/>
          </a:p>
        </p:txBody>
      </p:sp>
      <p:sp>
        <p:nvSpPr>
          <p:cNvPr id="6" name="Text 3"/>
          <p:cNvSpPr txBox="1"/>
          <p:nvPr/>
        </p:nvSpPr>
        <p:spPr>
          <a:xfrm>
            <a:off x="548640" y="2514600"/>
            <a:ext cx="5760720" cy="1005840"/>
          </a:xfrm>
          <a:prstGeom prst="rect">
            <a:avLst/>
          </a:prstGeom>
          <a:noFill/>
          <a:ln/>
        </p:spPr>
        <p:txBody>
          <a:bodyPr wrap="square" lIns="0" tIns="0" rIns="0" bIns="0" rtlCol="0" anchor="ctr"/>
          <a:lstStyle/>
          <a:p>
            <a:pPr marL="0" indent="0">
              <a:buNone/>
            </a:pPr>
            <a:r>
              <a:rPr lang="en-US" sz="2800" dirty="0">
                <a:solidFill>
                  <a:srgbClr val="B8C4D9"/>
                </a:solidFill>
                <a:latin typeface="Calibri" pitchFamily="34" charset="0"/>
                <a:ea typeface="Calibri" pitchFamily="34" charset="-122"/>
                <a:cs typeface="Calibri" pitchFamily="34" charset="-120"/>
              </a:rPr>
              <a:t>Linux CTF: learn the command line, then compete.</a:t>
            </a:r>
            <a:endParaRPr lang="en-US" sz="2800" dirty="0"/>
          </a:p>
        </p:txBody>
      </p:sp>
      <p:sp>
        <p:nvSpPr>
          <p:cNvPr id="7" name="Shape 4"/>
          <p:cNvSpPr/>
          <p:nvPr/>
        </p:nvSpPr>
        <p:spPr>
          <a:xfrm>
            <a:off x="548640" y="3794760"/>
            <a:ext cx="2743200" cy="347472"/>
          </a:xfrm>
          <a:prstGeom prst="roundRect">
            <a:avLst>
              <a:gd name="adj" fmla="val 50000"/>
            </a:avLst>
          </a:prstGeom>
          <a:solidFill>
            <a:srgbClr val="F5A623"/>
          </a:solidFill>
          <a:ln/>
        </p:spPr>
        <p:txBody>
          <a:bodyPr/>
          <a:lstStyle/>
          <a:p>
            <a:endParaRPr lang="en-US"/>
          </a:p>
        </p:txBody>
      </p:sp>
      <p:sp>
        <p:nvSpPr>
          <p:cNvPr id="8" name="Text 5"/>
          <p:cNvSpPr txBox="1"/>
          <p:nvPr/>
        </p:nvSpPr>
        <p:spPr>
          <a:xfrm>
            <a:off x="548640" y="3794760"/>
            <a:ext cx="2743200" cy="347472"/>
          </a:xfrm>
          <a:prstGeom prst="rect">
            <a:avLst/>
          </a:prstGeom>
          <a:noFill/>
          <a:ln/>
        </p:spPr>
        <p:txBody>
          <a:bodyPr wrap="square" lIns="0" tIns="0" rIns="0" bIns="0" rtlCol="0" anchor="ctr"/>
          <a:lstStyle/>
          <a:p>
            <a:pPr marL="0" indent="0" algn="ctr">
              <a:buNone/>
            </a:pPr>
            <a:r>
              <a:rPr lang="en-US" sz="1500" b="1" dirty="0">
                <a:solidFill>
                  <a:srgbClr val="12213A"/>
                </a:solidFill>
                <a:latin typeface="Calibri" pitchFamily="34" charset="0"/>
                <a:ea typeface="Calibri" pitchFamily="34" charset="-122"/>
                <a:cs typeface="Calibri" pitchFamily="34" charset="-120"/>
              </a:rPr>
              <a:t>simulated CTF competition</a:t>
            </a:r>
            <a:endParaRPr lang="en-US" sz="1500" dirty="0"/>
          </a:p>
        </p:txBody>
      </p:sp>
      <p:sp>
        <p:nvSpPr>
          <p:cNvPr id="9" name="Text 6"/>
          <p:cNvSpPr txBox="1"/>
          <p:nvPr/>
        </p:nvSpPr>
        <p:spPr>
          <a:xfrm>
            <a:off x="548640" y="4434840"/>
            <a:ext cx="548640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CTF Foundation: Command line</a:t>
            </a:r>
            <a:endParaRPr lang="en-US" sz="1700" dirty="0"/>
          </a:p>
        </p:txBody>
      </p:sp>
      <p:sp>
        <p:nvSpPr>
          <p:cNvPr id="10" name="Shape 7"/>
          <p:cNvSpPr/>
          <p:nvPr/>
        </p:nvSpPr>
        <p:spPr>
          <a:xfrm>
            <a:off x="548640" y="5349240"/>
            <a:ext cx="482803" cy="292608"/>
          </a:xfrm>
          <a:prstGeom prst="roundRect">
            <a:avLst>
              <a:gd name="adj" fmla="val 18750"/>
            </a:avLst>
          </a:prstGeom>
          <a:solidFill>
            <a:srgbClr val="17875A"/>
          </a:solidFill>
          <a:ln/>
        </p:spPr>
        <p:txBody>
          <a:bodyPr/>
          <a:lstStyle/>
          <a:p>
            <a:endParaRPr lang="en-US"/>
          </a:p>
        </p:txBody>
      </p:sp>
      <p:sp>
        <p:nvSpPr>
          <p:cNvPr id="11" name="Text 8"/>
          <p:cNvSpPr txBox="1"/>
          <p:nvPr/>
        </p:nvSpPr>
        <p:spPr>
          <a:xfrm>
            <a:off x="548640"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2" name="Shape 9"/>
          <p:cNvSpPr/>
          <p:nvPr/>
        </p:nvSpPr>
        <p:spPr>
          <a:xfrm>
            <a:off x="1104595" y="5349240"/>
            <a:ext cx="482803" cy="292608"/>
          </a:xfrm>
          <a:prstGeom prst="roundRect">
            <a:avLst>
              <a:gd name="adj" fmla="val 18750"/>
            </a:avLst>
          </a:prstGeom>
          <a:solidFill>
            <a:srgbClr val="2A9FD6"/>
          </a:solidFill>
          <a:ln/>
        </p:spPr>
        <p:txBody>
          <a:bodyPr/>
          <a:lstStyle/>
          <a:p>
            <a:endParaRPr lang="en-US"/>
          </a:p>
        </p:txBody>
      </p:sp>
      <p:sp>
        <p:nvSpPr>
          <p:cNvPr id="13" name="Text 10"/>
          <p:cNvSpPr txBox="1"/>
          <p:nvPr/>
        </p:nvSpPr>
        <p:spPr>
          <a:xfrm>
            <a:off x="1104595"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4" name="Shape 11"/>
          <p:cNvSpPr/>
          <p:nvPr/>
        </p:nvSpPr>
        <p:spPr>
          <a:xfrm>
            <a:off x="1660550" y="5349240"/>
            <a:ext cx="482803" cy="292608"/>
          </a:xfrm>
          <a:prstGeom prst="roundRect">
            <a:avLst>
              <a:gd name="adj" fmla="val 18750"/>
            </a:avLst>
          </a:prstGeom>
          <a:solidFill>
            <a:srgbClr val="2459D8"/>
          </a:solidFill>
          <a:ln/>
        </p:spPr>
        <p:txBody>
          <a:bodyPr/>
          <a:lstStyle/>
          <a:p>
            <a:endParaRPr lang="en-US"/>
          </a:p>
        </p:txBody>
      </p:sp>
      <p:sp>
        <p:nvSpPr>
          <p:cNvPr id="15" name="Text 12"/>
          <p:cNvSpPr txBox="1"/>
          <p:nvPr/>
        </p:nvSpPr>
        <p:spPr>
          <a:xfrm>
            <a:off x="1660550"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6" name="Shape 13"/>
          <p:cNvSpPr/>
          <p:nvPr/>
        </p:nvSpPr>
        <p:spPr>
          <a:xfrm>
            <a:off x="2216506" y="5349240"/>
            <a:ext cx="482803" cy="292608"/>
          </a:xfrm>
          <a:prstGeom prst="roundRect">
            <a:avLst>
              <a:gd name="adj" fmla="val 18750"/>
            </a:avLst>
          </a:prstGeom>
          <a:solidFill>
            <a:srgbClr val="7448D4"/>
          </a:solidFill>
          <a:ln/>
        </p:spPr>
        <p:txBody>
          <a:bodyPr/>
          <a:lstStyle/>
          <a:p>
            <a:endParaRPr lang="en-US"/>
          </a:p>
        </p:txBody>
      </p:sp>
      <p:sp>
        <p:nvSpPr>
          <p:cNvPr id="17" name="Text 14"/>
          <p:cNvSpPr txBox="1"/>
          <p:nvPr/>
        </p:nvSpPr>
        <p:spPr>
          <a:xfrm>
            <a:off x="2216506"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8" name="Shape 15"/>
          <p:cNvSpPr/>
          <p:nvPr/>
        </p:nvSpPr>
        <p:spPr>
          <a:xfrm>
            <a:off x="2772461" y="5349240"/>
            <a:ext cx="482803" cy="292608"/>
          </a:xfrm>
          <a:prstGeom prst="roundRect">
            <a:avLst>
              <a:gd name="adj" fmla="val 18750"/>
            </a:avLst>
          </a:prstGeom>
          <a:solidFill>
            <a:srgbClr val="D1416B"/>
          </a:solidFill>
          <a:ln/>
        </p:spPr>
        <p:txBody>
          <a:bodyPr/>
          <a:lstStyle/>
          <a:p>
            <a:endParaRPr lang="en-US"/>
          </a:p>
        </p:txBody>
      </p:sp>
      <p:sp>
        <p:nvSpPr>
          <p:cNvPr id="19" name="Text 16"/>
          <p:cNvSpPr txBox="1"/>
          <p:nvPr/>
        </p:nvSpPr>
        <p:spPr>
          <a:xfrm>
            <a:off x="2772461"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0" name="Shape 17"/>
          <p:cNvSpPr/>
          <p:nvPr/>
        </p:nvSpPr>
        <p:spPr>
          <a:xfrm>
            <a:off x="3328416" y="5349240"/>
            <a:ext cx="482803" cy="292608"/>
          </a:xfrm>
          <a:prstGeom prst="roundRect">
            <a:avLst>
              <a:gd name="adj" fmla="val 18750"/>
            </a:avLst>
          </a:prstGeom>
          <a:solidFill>
            <a:srgbClr val="E8820C"/>
          </a:solidFill>
          <a:ln/>
        </p:spPr>
        <p:txBody>
          <a:bodyPr/>
          <a:lstStyle/>
          <a:p>
            <a:endParaRPr lang="en-US"/>
          </a:p>
        </p:txBody>
      </p:sp>
      <p:sp>
        <p:nvSpPr>
          <p:cNvPr id="21" name="Text 18"/>
          <p:cNvSpPr txBox="1"/>
          <p:nvPr/>
        </p:nvSpPr>
        <p:spPr>
          <a:xfrm>
            <a:off x="3328416"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2" name="Shape 19"/>
          <p:cNvSpPr/>
          <p:nvPr/>
        </p:nvSpPr>
        <p:spPr>
          <a:xfrm>
            <a:off x="3884371" y="5349240"/>
            <a:ext cx="482803" cy="292608"/>
          </a:xfrm>
          <a:prstGeom prst="roundRect">
            <a:avLst>
              <a:gd name="adj" fmla="val 18750"/>
            </a:avLst>
          </a:prstGeom>
          <a:solidFill>
            <a:srgbClr val="C9A227"/>
          </a:solidFill>
          <a:ln/>
        </p:spPr>
        <p:txBody>
          <a:bodyPr/>
          <a:lstStyle/>
          <a:p>
            <a:endParaRPr lang="en-US"/>
          </a:p>
        </p:txBody>
      </p:sp>
      <p:sp>
        <p:nvSpPr>
          <p:cNvPr id="23" name="Text 20"/>
          <p:cNvSpPr txBox="1"/>
          <p:nvPr/>
        </p:nvSpPr>
        <p:spPr>
          <a:xfrm>
            <a:off x="3884371"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4" name="Shape 21"/>
          <p:cNvSpPr/>
          <p:nvPr/>
        </p:nvSpPr>
        <p:spPr>
          <a:xfrm>
            <a:off x="4440326" y="5349240"/>
            <a:ext cx="482803" cy="292608"/>
          </a:xfrm>
          <a:prstGeom prst="roundRect">
            <a:avLst>
              <a:gd name="adj" fmla="val 18750"/>
            </a:avLst>
          </a:prstGeom>
          <a:solidFill>
            <a:srgbClr val="0F9488"/>
          </a:solidFill>
          <a:ln/>
        </p:spPr>
        <p:txBody>
          <a:bodyPr/>
          <a:lstStyle/>
          <a:p>
            <a:endParaRPr lang="en-US"/>
          </a:p>
        </p:txBody>
      </p:sp>
      <p:sp>
        <p:nvSpPr>
          <p:cNvPr id="25" name="Text 22"/>
          <p:cNvSpPr txBox="1"/>
          <p:nvPr/>
        </p:nvSpPr>
        <p:spPr>
          <a:xfrm>
            <a:off x="4440326"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6" name="Shape 23"/>
          <p:cNvSpPr/>
          <p:nvPr/>
        </p:nvSpPr>
        <p:spPr>
          <a:xfrm>
            <a:off x="4996282" y="5349240"/>
            <a:ext cx="482803" cy="292608"/>
          </a:xfrm>
          <a:prstGeom prst="roundRect">
            <a:avLst>
              <a:gd name="adj" fmla="val 18750"/>
            </a:avLst>
          </a:prstGeom>
          <a:solidFill>
            <a:srgbClr val="5B6EE1"/>
          </a:solidFill>
          <a:ln/>
        </p:spPr>
        <p:txBody>
          <a:bodyPr/>
          <a:lstStyle/>
          <a:p>
            <a:endParaRPr lang="en-US"/>
          </a:p>
        </p:txBody>
      </p:sp>
      <p:sp>
        <p:nvSpPr>
          <p:cNvPr id="27" name="Text 24"/>
          <p:cNvSpPr txBox="1"/>
          <p:nvPr/>
        </p:nvSpPr>
        <p:spPr>
          <a:xfrm>
            <a:off x="4996282"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8" name="Shape 25"/>
          <p:cNvSpPr/>
          <p:nvPr/>
        </p:nvSpPr>
        <p:spPr>
          <a:xfrm>
            <a:off x="5552237" y="5349240"/>
            <a:ext cx="482803" cy="292608"/>
          </a:xfrm>
          <a:prstGeom prst="roundRect">
            <a:avLst>
              <a:gd name="adj" fmla="val 18750"/>
            </a:avLst>
          </a:prstGeom>
          <a:solidFill>
            <a:srgbClr val="B4233F"/>
          </a:solidFill>
          <a:ln/>
        </p:spPr>
        <p:txBody>
          <a:bodyPr/>
          <a:lstStyle/>
          <a:p>
            <a:endParaRPr lang="en-US"/>
          </a:p>
        </p:txBody>
      </p:sp>
      <p:sp>
        <p:nvSpPr>
          <p:cNvPr id="29" name="Text 26"/>
          <p:cNvSpPr txBox="1"/>
          <p:nvPr/>
        </p:nvSpPr>
        <p:spPr>
          <a:xfrm>
            <a:off x="5552237"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
        <p:nvSpPr>
          <p:cNvPr id="30" name="Shape 27"/>
          <p:cNvSpPr/>
          <p:nvPr/>
        </p:nvSpPr>
        <p:spPr>
          <a:xfrm>
            <a:off x="6675120" y="1097280"/>
            <a:ext cx="4965192" cy="4526280"/>
          </a:xfrm>
          <a:prstGeom prst="roundRect">
            <a:avLst>
              <a:gd name="adj" fmla="val 2424"/>
            </a:avLst>
          </a:prstGeom>
          <a:solidFill>
            <a:srgbClr val="162238"/>
          </a:solidFill>
          <a:ln w="12700">
            <a:solidFill>
              <a:srgbClr val="2B3B5C"/>
            </a:solidFill>
            <a:prstDash val="solid"/>
          </a:ln>
        </p:spPr>
        <p:txBody>
          <a:bodyPr/>
          <a:lstStyle/>
          <a:p>
            <a:endParaRPr lang="en-US"/>
          </a:p>
        </p:txBody>
      </p:sp>
      <p:sp>
        <p:nvSpPr>
          <p:cNvPr id="31" name="Shape 28"/>
          <p:cNvSpPr/>
          <p:nvPr/>
        </p:nvSpPr>
        <p:spPr>
          <a:xfrm>
            <a:off x="6903720" y="1280160"/>
            <a:ext cx="128016" cy="128016"/>
          </a:xfrm>
          <a:prstGeom prst="ellipse">
            <a:avLst/>
          </a:prstGeom>
          <a:solidFill>
            <a:srgbClr val="E5534B"/>
          </a:solidFill>
          <a:ln/>
        </p:spPr>
        <p:txBody>
          <a:bodyPr/>
          <a:lstStyle/>
          <a:p>
            <a:endParaRPr lang="en-US"/>
          </a:p>
        </p:txBody>
      </p:sp>
      <p:sp>
        <p:nvSpPr>
          <p:cNvPr id="32" name="Shape 29"/>
          <p:cNvSpPr/>
          <p:nvPr/>
        </p:nvSpPr>
        <p:spPr>
          <a:xfrm>
            <a:off x="7123176" y="1280160"/>
            <a:ext cx="128016" cy="128016"/>
          </a:xfrm>
          <a:prstGeom prst="ellipse">
            <a:avLst/>
          </a:prstGeom>
          <a:solidFill>
            <a:srgbClr val="F5A623"/>
          </a:solidFill>
          <a:ln/>
        </p:spPr>
        <p:txBody>
          <a:bodyPr/>
          <a:lstStyle/>
          <a:p>
            <a:endParaRPr lang="en-US"/>
          </a:p>
        </p:txBody>
      </p:sp>
      <p:sp>
        <p:nvSpPr>
          <p:cNvPr id="33" name="Shape 30"/>
          <p:cNvSpPr/>
          <p:nvPr/>
        </p:nvSpPr>
        <p:spPr>
          <a:xfrm>
            <a:off x="7342632" y="1280160"/>
            <a:ext cx="128016" cy="128016"/>
          </a:xfrm>
          <a:prstGeom prst="ellipse">
            <a:avLst/>
          </a:prstGeom>
          <a:solidFill>
            <a:srgbClr val="46D39A"/>
          </a:solidFill>
          <a:ln/>
        </p:spPr>
        <p:txBody>
          <a:bodyPr/>
          <a:lstStyle/>
          <a:p>
            <a:endParaRPr lang="en-US"/>
          </a:p>
        </p:txBody>
      </p:sp>
      <p:sp>
        <p:nvSpPr>
          <p:cNvPr id="34" name="Text 31"/>
          <p:cNvSpPr txBox="1"/>
          <p:nvPr/>
        </p:nvSpPr>
        <p:spPr>
          <a:xfrm>
            <a:off x="6995160" y="1691640"/>
            <a:ext cx="4389120" cy="3749040"/>
          </a:xfrm>
          <a:prstGeom prst="rect">
            <a:avLst/>
          </a:prstGeom>
          <a:noFill/>
          <a:ln/>
        </p:spPr>
        <p:txBody>
          <a:bodyPr wrap="square" lIns="0" tIns="0" rIns="0" bIns="0" rtlCol="0" anchor="t"/>
          <a:lstStyle/>
          <a:p>
            <a:pPr marL="0" indent="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whoami</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player</a:t>
            </a:r>
            <a:endParaRPr lang="en-US" sz="1800" dirty="0"/>
          </a:p>
          <a:p>
            <a:pPr marL="0" indent="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ls skills/</a:t>
            </a:r>
            <a:endParaRPr lang="en-US" sz="1800" dirty="0"/>
          </a:p>
          <a:p>
            <a:pPr marL="0" indent="0">
              <a:spcAft>
                <a:spcPts val="300"/>
              </a:spcAft>
              <a:buNone/>
            </a:pPr>
            <a:r>
              <a:rPr lang="en-US" sz="1800" dirty="0">
                <a:solidFill>
                  <a:srgbClr val="7F8FAD"/>
                </a:solidFill>
                <a:latin typeface="Courier New" pitchFamily="34" charset="0"/>
                <a:ea typeface="Courier New" pitchFamily="34" charset="-122"/>
                <a:cs typeface="Courier New" pitchFamily="34" charset="-120"/>
              </a:rPr>
              <a:t>(empty, for now)</a:t>
            </a:r>
            <a:endParaRPr lang="en-US" sz="1800" dirty="0"/>
          </a:p>
          <a:p>
            <a:pPr marL="0" indent="0">
              <a:spcAft>
                <a:spcPts val="300"/>
              </a:spcAft>
              <a:buNone/>
            </a:pPr>
            <a:r>
              <a:rPr lang="en-US" sz="1800" dirty="0">
                <a:solidFill>
                  <a:srgbClr val="000000"/>
                </a:solidFill>
                <a:latin typeface="Courier New" pitchFamily="34" charset="0"/>
                <a:ea typeface="Courier New" pitchFamily="34" charset="-122"/>
                <a:cs typeface="Courier New" pitchFamily="34" charset="-120"/>
              </a:rPr>
              <a:t> </a:t>
            </a:r>
            <a:endParaRPr lang="en-US" sz="1800" dirty="0"/>
          </a:p>
          <a:p>
            <a:pPr marL="0" indent="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./start-ctf</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10 flags hidden, plus 2 warm-ups</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2,700 points up for grabs</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clock starts when you type</a:t>
            </a:r>
            <a:endParaRPr lang="en-US" sz="1800" dirty="0"/>
          </a:p>
          <a:p>
            <a:pPr marL="0" indent="0">
              <a:spcAft>
                <a:spcPts val="300"/>
              </a:spcAft>
              <a:buNone/>
            </a:pPr>
            <a:r>
              <a:rPr lang="en-US" sz="1800" b="1" dirty="0">
                <a:solidFill>
                  <a:srgbClr val="F5A623"/>
                </a:solidFill>
                <a:latin typeface="Courier New" pitchFamily="34" charset="0"/>
                <a:ea typeface="Courier New" pitchFamily="34" charset="-122"/>
                <a:cs typeface="Courier New" pitchFamily="34" charset="-120"/>
              </a:rPr>
              <a:t>Good luck.</a:t>
            </a:r>
            <a:endParaRPr lang="en-US" sz="18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Today's mission, in four parts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48640" y="1554480"/>
            <a:ext cx="2624328" cy="3566160"/>
          </a:xfrm>
          <a:prstGeom prst="roundRect">
            <a:avLst>
              <a:gd name="adj" fmla="val 3484"/>
            </a:avLst>
          </a:prstGeom>
          <a:solidFill>
            <a:srgbClr val="F1F5FB"/>
          </a:solidFill>
          <a:ln/>
        </p:spPr>
        <p:txBody>
          <a:bodyPr/>
          <a:lstStyle/>
          <a:p>
            <a:endParaRPr lang="en-US"/>
          </a:p>
        </p:txBody>
      </p:sp>
      <p:sp>
        <p:nvSpPr>
          <p:cNvPr id="7" name="Text 4"/>
          <p:cNvSpPr txBox="1"/>
          <p:nvPr/>
        </p:nvSpPr>
        <p:spPr>
          <a:xfrm>
            <a:off x="777240" y="1737360"/>
            <a:ext cx="1737360" cy="1051560"/>
          </a:xfrm>
          <a:prstGeom prst="rect">
            <a:avLst/>
          </a:prstGeom>
          <a:noFill/>
          <a:ln/>
        </p:spPr>
        <p:txBody>
          <a:bodyPr wrap="square" lIns="0" tIns="0" rIns="0" bIns="0" rtlCol="0" anchor="ctr"/>
          <a:lstStyle/>
          <a:p>
            <a:pPr marL="0" indent="0">
              <a:buNone/>
            </a:pPr>
            <a:r>
              <a:rPr lang="en-US" sz="5800" b="1" dirty="0">
                <a:solidFill>
                  <a:srgbClr val="17875A"/>
                </a:solidFill>
                <a:latin typeface="Arial" pitchFamily="34" charset="0"/>
                <a:ea typeface="Arial" pitchFamily="34" charset="-122"/>
                <a:cs typeface="Arial" pitchFamily="34" charset="-120"/>
              </a:rPr>
              <a:t>10</a:t>
            </a:r>
            <a:endParaRPr lang="en-US" sz="5800" dirty="0"/>
          </a:p>
        </p:txBody>
      </p:sp>
      <p:sp>
        <p:nvSpPr>
          <p:cNvPr id="8" name="Text 5"/>
          <p:cNvSpPr txBox="1"/>
          <p:nvPr/>
        </p:nvSpPr>
        <p:spPr>
          <a:xfrm>
            <a:off x="777240"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9" name="Text 6"/>
          <p:cNvSpPr txBox="1"/>
          <p:nvPr/>
        </p:nvSpPr>
        <p:spPr>
          <a:xfrm>
            <a:off x="777240"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Linux 101</a:t>
            </a:r>
            <a:endParaRPr lang="en-US" sz="2100" dirty="0"/>
          </a:p>
        </p:txBody>
      </p:sp>
      <p:sp>
        <p:nvSpPr>
          <p:cNvPr id="10" name="Text 7"/>
          <p:cNvSpPr txBox="1"/>
          <p:nvPr/>
        </p:nvSpPr>
        <p:spPr>
          <a:xfrm>
            <a:off x="777240"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Where Linux came from, why it is everywhere, and why we type.</a:t>
            </a:r>
            <a:endParaRPr lang="en-US" sz="1450" dirty="0"/>
          </a:p>
        </p:txBody>
      </p:sp>
      <p:sp>
        <p:nvSpPr>
          <p:cNvPr id="11" name="Shape 8"/>
          <p:cNvSpPr/>
          <p:nvPr/>
        </p:nvSpPr>
        <p:spPr>
          <a:xfrm>
            <a:off x="3355848" y="1554480"/>
            <a:ext cx="2624328" cy="3566160"/>
          </a:xfrm>
          <a:prstGeom prst="roundRect">
            <a:avLst>
              <a:gd name="adj" fmla="val 3484"/>
            </a:avLst>
          </a:prstGeom>
          <a:solidFill>
            <a:srgbClr val="F1F5FB"/>
          </a:solidFill>
          <a:ln/>
        </p:spPr>
        <p:txBody>
          <a:bodyPr/>
          <a:lstStyle/>
          <a:p>
            <a:endParaRPr lang="en-US"/>
          </a:p>
        </p:txBody>
      </p:sp>
      <p:sp>
        <p:nvSpPr>
          <p:cNvPr id="12" name="Text 9"/>
          <p:cNvSpPr txBox="1"/>
          <p:nvPr/>
        </p:nvSpPr>
        <p:spPr>
          <a:xfrm>
            <a:off x="3584448" y="1737360"/>
            <a:ext cx="1737360" cy="1051560"/>
          </a:xfrm>
          <a:prstGeom prst="rect">
            <a:avLst/>
          </a:prstGeom>
          <a:noFill/>
          <a:ln/>
        </p:spPr>
        <p:txBody>
          <a:bodyPr wrap="square" lIns="0" tIns="0" rIns="0" bIns="0" rtlCol="0" anchor="ctr"/>
          <a:lstStyle/>
          <a:p>
            <a:pPr marL="0" indent="0">
              <a:buNone/>
            </a:pPr>
            <a:r>
              <a:rPr lang="en-US" sz="5800" b="1" dirty="0">
                <a:solidFill>
                  <a:srgbClr val="2459D8"/>
                </a:solidFill>
                <a:latin typeface="Arial" pitchFamily="34" charset="0"/>
                <a:ea typeface="Arial" pitchFamily="34" charset="-122"/>
                <a:cs typeface="Arial" pitchFamily="34" charset="-120"/>
              </a:rPr>
              <a:t>25</a:t>
            </a:r>
            <a:endParaRPr lang="en-US" sz="5800" dirty="0"/>
          </a:p>
        </p:txBody>
      </p:sp>
      <p:sp>
        <p:nvSpPr>
          <p:cNvPr id="13" name="Text 10"/>
          <p:cNvSpPr txBox="1"/>
          <p:nvPr/>
        </p:nvSpPr>
        <p:spPr>
          <a:xfrm>
            <a:off x="3584448"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14" name="Text 11"/>
          <p:cNvSpPr txBox="1"/>
          <p:nvPr/>
        </p:nvSpPr>
        <p:spPr>
          <a:xfrm>
            <a:off x="3584448"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Learn</a:t>
            </a:r>
            <a:endParaRPr lang="en-US" sz="2100" dirty="0"/>
          </a:p>
        </p:txBody>
      </p:sp>
      <p:sp>
        <p:nvSpPr>
          <p:cNvPr id="15" name="Text 12"/>
          <p:cNvSpPr txBox="1"/>
          <p:nvPr/>
        </p:nvSpPr>
        <p:spPr>
          <a:xfrm>
            <a:off x="3584448"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Open the CTF, then a dozen commands in the order the missions use them.</a:t>
            </a:r>
            <a:endParaRPr lang="en-US" sz="1450" dirty="0"/>
          </a:p>
        </p:txBody>
      </p:sp>
      <p:sp>
        <p:nvSpPr>
          <p:cNvPr id="16" name="Shape 13"/>
          <p:cNvSpPr/>
          <p:nvPr/>
        </p:nvSpPr>
        <p:spPr>
          <a:xfrm>
            <a:off x="6163056" y="1554480"/>
            <a:ext cx="2624328" cy="3566160"/>
          </a:xfrm>
          <a:prstGeom prst="roundRect">
            <a:avLst>
              <a:gd name="adj" fmla="val 3484"/>
            </a:avLst>
          </a:prstGeom>
          <a:solidFill>
            <a:srgbClr val="F1F5FB"/>
          </a:solidFill>
          <a:ln/>
        </p:spPr>
        <p:txBody>
          <a:bodyPr/>
          <a:lstStyle/>
          <a:p>
            <a:endParaRPr lang="en-US"/>
          </a:p>
        </p:txBody>
      </p:sp>
      <p:sp>
        <p:nvSpPr>
          <p:cNvPr id="17" name="Text 14"/>
          <p:cNvSpPr txBox="1"/>
          <p:nvPr/>
        </p:nvSpPr>
        <p:spPr>
          <a:xfrm>
            <a:off x="6391656" y="1737360"/>
            <a:ext cx="1737360" cy="1051560"/>
          </a:xfrm>
          <a:prstGeom prst="rect">
            <a:avLst/>
          </a:prstGeom>
          <a:noFill/>
          <a:ln/>
        </p:spPr>
        <p:txBody>
          <a:bodyPr wrap="square" lIns="0" tIns="0" rIns="0" bIns="0" rtlCol="0" anchor="ctr"/>
          <a:lstStyle/>
          <a:p>
            <a:pPr marL="0" indent="0">
              <a:buNone/>
            </a:pPr>
            <a:r>
              <a:rPr lang="en-US" sz="5800" b="1" dirty="0">
                <a:solidFill>
                  <a:srgbClr val="7448D4"/>
                </a:solidFill>
                <a:latin typeface="Arial" pitchFamily="34" charset="0"/>
                <a:ea typeface="Arial" pitchFamily="34" charset="-122"/>
                <a:cs typeface="Arial" pitchFamily="34" charset="-120"/>
              </a:rPr>
              <a:t>42</a:t>
            </a:r>
            <a:endParaRPr lang="en-US" sz="5800" dirty="0"/>
          </a:p>
        </p:txBody>
      </p:sp>
      <p:sp>
        <p:nvSpPr>
          <p:cNvPr id="18" name="Text 15"/>
          <p:cNvSpPr txBox="1"/>
          <p:nvPr/>
        </p:nvSpPr>
        <p:spPr>
          <a:xfrm>
            <a:off x="6391656"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19" name="Text 16"/>
          <p:cNvSpPr txBox="1"/>
          <p:nvPr/>
        </p:nvSpPr>
        <p:spPr>
          <a:xfrm>
            <a:off x="6391656"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Compete</a:t>
            </a:r>
            <a:endParaRPr lang="en-US" sz="2100" dirty="0"/>
          </a:p>
        </p:txBody>
      </p:sp>
      <p:sp>
        <p:nvSpPr>
          <p:cNvPr id="20" name="Text 17"/>
          <p:cNvSpPr txBox="1"/>
          <p:nvPr/>
        </p:nvSpPr>
        <p:spPr>
          <a:xfrm>
            <a:off x="6391656"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Ten flags, 2,700 points, one clock. Easiest first.</a:t>
            </a:r>
            <a:endParaRPr lang="en-US" sz="1450" dirty="0"/>
          </a:p>
        </p:txBody>
      </p:sp>
      <p:sp>
        <p:nvSpPr>
          <p:cNvPr id="21" name="Shape 18"/>
          <p:cNvSpPr/>
          <p:nvPr/>
        </p:nvSpPr>
        <p:spPr>
          <a:xfrm>
            <a:off x="8970264" y="1554480"/>
            <a:ext cx="2624328" cy="3566160"/>
          </a:xfrm>
          <a:prstGeom prst="roundRect">
            <a:avLst>
              <a:gd name="adj" fmla="val 3484"/>
            </a:avLst>
          </a:prstGeom>
          <a:solidFill>
            <a:srgbClr val="F1F5FB"/>
          </a:solidFill>
          <a:ln/>
        </p:spPr>
        <p:txBody>
          <a:bodyPr/>
          <a:lstStyle/>
          <a:p>
            <a:endParaRPr lang="en-US"/>
          </a:p>
        </p:txBody>
      </p:sp>
      <p:sp>
        <p:nvSpPr>
          <p:cNvPr id="22" name="Text 19"/>
          <p:cNvSpPr txBox="1"/>
          <p:nvPr/>
        </p:nvSpPr>
        <p:spPr>
          <a:xfrm>
            <a:off x="9198864" y="1737360"/>
            <a:ext cx="1737360" cy="1051560"/>
          </a:xfrm>
          <a:prstGeom prst="rect">
            <a:avLst/>
          </a:prstGeom>
          <a:noFill/>
          <a:ln/>
        </p:spPr>
        <p:txBody>
          <a:bodyPr wrap="square" lIns="0" tIns="0" rIns="0" bIns="0" rtlCol="0" anchor="ctr"/>
          <a:lstStyle/>
          <a:p>
            <a:pPr marL="0" indent="0">
              <a:buNone/>
            </a:pPr>
            <a:r>
              <a:rPr lang="en-US" sz="5800" b="1" dirty="0">
                <a:solidFill>
                  <a:srgbClr val="D1416B"/>
                </a:solidFill>
                <a:latin typeface="Arial" pitchFamily="34" charset="0"/>
                <a:ea typeface="Arial" pitchFamily="34" charset="-122"/>
                <a:cs typeface="Arial" pitchFamily="34" charset="-120"/>
              </a:rPr>
              <a:t>10</a:t>
            </a:r>
            <a:endParaRPr lang="en-US" sz="5800" dirty="0"/>
          </a:p>
        </p:txBody>
      </p:sp>
      <p:sp>
        <p:nvSpPr>
          <p:cNvPr id="23" name="Text 20"/>
          <p:cNvSpPr txBox="1"/>
          <p:nvPr/>
        </p:nvSpPr>
        <p:spPr>
          <a:xfrm>
            <a:off x="9198864"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24" name="Text 21"/>
          <p:cNvSpPr txBox="1"/>
          <p:nvPr/>
        </p:nvSpPr>
        <p:spPr>
          <a:xfrm>
            <a:off x="9198864"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Debrief</a:t>
            </a:r>
            <a:endParaRPr lang="en-US" sz="2100" dirty="0"/>
          </a:p>
        </p:txBody>
      </p:sp>
      <p:sp>
        <p:nvSpPr>
          <p:cNvPr id="25" name="Text 22"/>
          <p:cNvSpPr txBox="1"/>
          <p:nvPr/>
        </p:nvSpPr>
        <p:spPr>
          <a:xfrm>
            <a:off x="9198864"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How it stays fair, and where this leads.</a:t>
            </a:r>
            <a:endParaRPr lang="en-US" sz="1450" dirty="0"/>
          </a:p>
        </p:txBody>
      </p:sp>
      <p:sp>
        <p:nvSpPr>
          <p:cNvPr id="26" name="Shape 23"/>
          <p:cNvSpPr/>
          <p:nvPr/>
        </p:nvSpPr>
        <p:spPr>
          <a:xfrm>
            <a:off x="548640" y="5349240"/>
            <a:ext cx="11094415" cy="685800"/>
          </a:xfrm>
          <a:prstGeom prst="roundRect">
            <a:avLst>
              <a:gd name="adj" fmla="val 13333"/>
            </a:avLst>
          </a:prstGeom>
          <a:solidFill>
            <a:srgbClr val="FFF4DC"/>
          </a:solidFill>
          <a:ln/>
        </p:spPr>
        <p:txBody>
          <a:bodyPr/>
          <a:lstStyle/>
          <a:p>
            <a:endParaRPr lang="en-US"/>
          </a:p>
        </p:txBody>
      </p:sp>
      <p:sp>
        <p:nvSpPr>
          <p:cNvPr id="27" name="Text 24"/>
          <p:cNvSpPr txBox="1"/>
          <p:nvPr/>
        </p:nvSpPr>
        <p:spPr>
          <a:xfrm>
            <a:off x="822960" y="5349240"/>
            <a:ext cx="10545775" cy="68580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The deal: </a:t>
            </a:r>
            <a:r>
              <a:rPr lang="en-US" sz="1700" dirty="0">
                <a:solidFill>
                  <a:srgbClr val="12213A"/>
                </a:solidFill>
                <a:latin typeface="Calibri" pitchFamily="34" charset="0"/>
                <a:ea typeface="Calibri" pitchFamily="34" charset="-122"/>
                <a:cs typeface="Calibri" pitchFamily="34" charset="-120"/>
              </a:rPr>
              <a:t>nobody is expected to know any of this already. Typing the wrong thing is how everyone learns it.</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11"/>
                                        </p:tgtEl>
                                        <p:attrNameLst>
                                          <p:attrName>style.opacity</p:attrName>
                                        </p:attrNameLst>
                                      </p:cBhvr>
                                      <p:to>
                                        <p:strVal val="0.25"/>
                                      </p:to>
                                    </p:set>
                                    <p:animEffect filter="image" prLst="opacity: 0.25">
                                      <p:cBhvr rctx="IE">
                                        <p:cTn id="7" dur="1" fill="hold"/>
                                        <p:tgtEl>
                                          <p:spTgt spid="11"/>
                                        </p:tgtEl>
                                      </p:cBhvr>
                                    </p:animEffect>
                                  </p:childTnLst>
                                </p:cTn>
                              </p:par>
                              <p:par>
                                <p:cTn id="8" presetID="9" presetClass="emph" presetSubtype="0" fill="hold" grpId="0" nodeType="withEffect">
                                  <p:stCondLst>
                                    <p:cond delay="0"/>
                                  </p:stCondLst>
                                  <p:childTnLst>
                                    <p:set>
                                      <p:cBhvr>
                                        <p:cTn id="9" dur="1" fill="hold"/>
                                        <p:tgtEl>
                                          <p:spTgt spid="12"/>
                                        </p:tgtEl>
                                        <p:attrNameLst>
                                          <p:attrName>style.opacity</p:attrName>
                                        </p:attrNameLst>
                                      </p:cBhvr>
                                      <p:to>
                                        <p:strVal val="0.25"/>
                                      </p:to>
                                    </p:set>
                                    <p:animEffect filter="image" prLst="opacity: 0.25">
                                      <p:cBhvr rctx="IE">
                                        <p:cTn id="10" dur="1" fill="hold"/>
                                        <p:tgtEl>
                                          <p:spTgt spid="12"/>
                                        </p:tgtEl>
                                      </p:cBhvr>
                                    </p:animEffect>
                                  </p:childTnLst>
                                </p:cTn>
                              </p:par>
                              <p:par>
                                <p:cTn id="11" presetID="9" presetClass="emph" presetSubtype="0" fill="hold" grpId="0" nodeType="withEffect">
                                  <p:stCondLst>
                                    <p:cond delay="0"/>
                                  </p:stCondLst>
                                  <p:childTnLst>
                                    <p:set>
                                      <p:cBhvr>
                                        <p:cTn id="12" dur="1" fill="hold"/>
                                        <p:tgtEl>
                                          <p:spTgt spid="13"/>
                                        </p:tgtEl>
                                        <p:attrNameLst>
                                          <p:attrName>style.opacity</p:attrName>
                                        </p:attrNameLst>
                                      </p:cBhvr>
                                      <p:to>
                                        <p:strVal val="0.25"/>
                                      </p:to>
                                    </p:set>
                                    <p:animEffect filter="image" prLst="opacity: 0.25">
                                      <p:cBhvr rctx="IE">
                                        <p:cTn id="13" dur="1" fill="hold"/>
                                        <p:tgtEl>
                                          <p:spTgt spid="13"/>
                                        </p:tgtEl>
                                      </p:cBhvr>
                                    </p:animEffect>
                                  </p:childTnLst>
                                </p:cTn>
                              </p:par>
                              <p:par>
                                <p:cTn id="14" presetID="9" presetClass="emph" presetSubtype="0" fill="hold" grpId="0" nodeType="withEffect">
                                  <p:stCondLst>
                                    <p:cond delay="0"/>
                                  </p:stCondLst>
                                  <p:childTnLst>
                                    <p:set>
                                      <p:cBhvr>
                                        <p:cTn id="15" dur="1" fill="hold"/>
                                        <p:tgtEl>
                                          <p:spTgt spid="14"/>
                                        </p:tgtEl>
                                        <p:attrNameLst>
                                          <p:attrName>style.opacity</p:attrName>
                                        </p:attrNameLst>
                                      </p:cBhvr>
                                      <p:to>
                                        <p:strVal val="0.25"/>
                                      </p:to>
                                    </p:set>
                                    <p:animEffect filter="image" prLst="opacity: 0.25">
                                      <p:cBhvr rctx="IE">
                                        <p:cTn id="16" dur="1" fill="hold"/>
                                        <p:tgtEl>
                                          <p:spTgt spid="14"/>
                                        </p:tgtEl>
                                      </p:cBhvr>
                                    </p:animEffect>
                                  </p:childTnLst>
                                </p:cTn>
                              </p:par>
                              <p:par>
                                <p:cTn id="17" presetID="9" presetClass="emph" presetSubtype="0" fill="hold" grpId="0" nodeType="withEffect">
                                  <p:stCondLst>
                                    <p:cond delay="0"/>
                                  </p:stCondLst>
                                  <p:childTnLst>
                                    <p:set>
                                      <p:cBhvr>
                                        <p:cTn id="18" dur="1" fill="hold"/>
                                        <p:tgtEl>
                                          <p:spTgt spid="15"/>
                                        </p:tgtEl>
                                        <p:attrNameLst>
                                          <p:attrName>style.opacity</p:attrName>
                                        </p:attrNameLst>
                                      </p:cBhvr>
                                      <p:to>
                                        <p:strVal val="0.25"/>
                                      </p:to>
                                    </p:set>
                                    <p:animEffect filter="image" prLst="opacity: 0.25">
                                      <p:cBhvr rctx="IE">
                                        <p:cTn id="19" dur="1" fill="hold"/>
                                        <p:tgtEl>
                                          <p:spTgt spid="15"/>
                                        </p:tgtEl>
                                      </p:cBhvr>
                                    </p:animEffect>
                                  </p:childTnLst>
                                </p:cTn>
                              </p:par>
                              <p:par>
                                <p:cTn id="20" presetID="9" presetClass="emph" presetSubtype="0" fill="hold" grpId="0" nodeType="withEffect">
                                  <p:stCondLst>
                                    <p:cond delay="0"/>
                                  </p:stCondLst>
                                  <p:childTnLst>
                                    <p:set>
                                      <p:cBhvr>
                                        <p:cTn id="21" dur="1" fill="hold"/>
                                        <p:tgtEl>
                                          <p:spTgt spid="16"/>
                                        </p:tgtEl>
                                        <p:attrNameLst>
                                          <p:attrName>style.opacity</p:attrName>
                                        </p:attrNameLst>
                                      </p:cBhvr>
                                      <p:to>
                                        <p:strVal val="0.25"/>
                                      </p:to>
                                    </p:set>
                                    <p:animEffect filter="image" prLst="opacity: 0.25">
                                      <p:cBhvr rctx="IE">
                                        <p:cTn id="22" dur="1" fill="hold"/>
                                        <p:tgtEl>
                                          <p:spTgt spid="16"/>
                                        </p:tgtEl>
                                      </p:cBhvr>
                                    </p:animEffect>
                                  </p:childTnLst>
                                </p:cTn>
                              </p:par>
                              <p:par>
                                <p:cTn id="23" presetID="9" presetClass="emph" presetSubtype="0" fill="hold" grpId="0" nodeType="withEffect">
                                  <p:stCondLst>
                                    <p:cond delay="0"/>
                                  </p:stCondLst>
                                  <p:childTnLst>
                                    <p:set>
                                      <p:cBhvr>
                                        <p:cTn id="24" dur="1" fill="hold"/>
                                        <p:tgtEl>
                                          <p:spTgt spid="17"/>
                                        </p:tgtEl>
                                        <p:attrNameLst>
                                          <p:attrName>style.opacity</p:attrName>
                                        </p:attrNameLst>
                                      </p:cBhvr>
                                      <p:to>
                                        <p:strVal val="0.25"/>
                                      </p:to>
                                    </p:set>
                                    <p:animEffect filter="image" prLst="opacity: 0.25">
                                      <p:cBhvr rctx="IE">
                                        <p:cTn id="25" dur="1" fill="hold"/>
                                        <p:tgtEl>
                                          <p:spTgt spid="17"/>
                                        </p:tgtEl>
                                      </p:cBhvr>
                                    </p:animEffect>
                                  </p:childTnLst>
                                </p:cTn>
                              </p:par>
                              <p:par>
                                <p:cTn id="26" presetID="9" presetClass="emph" presetSubtype="0" fill="hold" grpId="0" nodeType="withEffect">
                                  <p:stCondLst>
                                    <p:cond delay="0"/>
                                  </p:stCondLst>
                                  <p:childTnLst>
                                    <p:set>
                                      <p:cBhvr>
                                        <p:cTn id="27" dur="1" fill="hold"/>
                                        <p:tgtEl>
                                          <p:spTgt spid="18"/>
                                        </p:tgtEl>
                                        <p:attrNameLst>
                                          <p:attrName>style.opacity</p:attrName>
                                        </p:attrNameLst>
                                      </p:cBhvr>
                                      <p:to>
                                        <p:strVal val="0.25"/>
                                      </p:to>
                                    </p:set>
                                    <p:animEffect filter="image" prLst="opacity: 0.25">
                                      <p:cBhvr rctx="IE">
                                        <p:cTn id="28" dur="1" fill="hold"/>
                                        <p:tgtEl>
                                          <p:spTgt spid="18"/>
                                        </p:tgtEl>
                                      </p:cBhvr>
                                    </p:animEffect>
                                  </p:childTnLst>
                                </p:cTn>
                              </p:par>
                              <p:par>
                                <p:cTn id="29" presetID="9" presetClass="emph" presetSubtype="0" fill="hold" grpId="0" nodeType="withEffect">
                                  <p:stCondLst>
                                    <p:cond delay="0"/>
                                  </p:stCondLst>
                                  <p:childTnLst>
                                    <p:set>
                                      <p:cBhvr>
                                        <p:cTn id="30" dur="1" fill="hold"/>
                                        <p:tgtEl>
                                          <p:spTgt spid="19"/>
                                        </p:tgtEl>
                                        <p:attrNameLst>
                                          <p:attrName>style.opacity</p:attrName>
                                        </p:attrNameLst>
                                      </p:cBhvr>
                                      <p:to>
                                        <p:strVal val="0.25"/>
                                      </p:to>
                                    </p:set>
                                    <p:animEffect filter="image" prLst="opacity: 0.25">
                                      <p:cBhvr rctx="IE">
                                        <p:cTn id="31" dur="1" fill="hold"/>
                                        <p:tgtEl>
                                          <p:spTgt spid="19"/>
                                        </p:tgtEl>
                                      </p:cBhvr>
                                    </p:animEffect>
                                  </p:childTnLst>
                                </p:cTn>
                              </p:par>
                              <p:par>
                                <p:cTn id="32" presetID="9" presetClass="emph" presetSubtype="0" fill="hold" grpId="0" nodeType="withEffect">
                                  <p:stCondLst>
                                    <p:cond delay="0"/>
                                  </p:stCondLst>
                                  <p:childTnLst>
                                    <p:set>
                                      <p:cBhvr>
                                        <p:cTn id="33" dur="1" fill="hold"/>
                                        <p:tgtEl>
                                          <p:spTgt spid="20"/>
                                        </p:tgtEl>
                                        <p:attrNameLst>
                                          <p:attrName>style.opacity</p:attrName>
                                        </p:attrNameLst>
                                      </p:cBhvr>
                                      <p:to>
                                        <p:strVal val="0.25"/>
                                      </p:to>
                                    </p:set>
                                    <p:animEffect filter="image" prLst="opacity: 0.25">
                                      <p:cBhvr rctx="IE">
                                        <p:cTn id="34" dur="1" fill="hold"/>
                                        <p:tgtEl>
                                          <p:spTgt spid="20"/>
                                        </p:tgtEl>
                                      </p:cBhvr>
                                    </p:animEffect>
                                  </p:childTnLst>
                                </p:cTn>
                              </p:par>
                              <p:par>
                                <p:cTn id="35" presetID="9" presetClass="emph" presetSubtype="0" fill="hold" grpId="0" nodeType="withEffect">
                                  <p:stCondLst>
                                    <p:cond delay="0"/>
                                  </p:stCondLst>
                                  <p:childTnLst>
                                    <p:set>
                                      <p:cBhvr>
                                        <p:cTn id="36" dur="1" fill="hold"/>
                                        <p:tgtEl>
                                          <p:spTgt spid="21"/>
                                        </p:tgtEl>
                                        <p:attrNameLst>
                                          <p:attrName>style.opacity</p:attrName>
                                        </p:attrNameLst>
                                      </p:cBhvr>
                                      <p:to>
                                        <p:strVal val="0.25"/>
                                      </p:to>
                                    </p:set>
                                    <p:animEffect filter="image" prLst="opacity: 0.25">
                                      <p:cBhvr rctx="IE">
                                        <p:cTn id="37" dur="1" fill="hold"/>
                                        <p:tgtEl>
                                          <p:spTgt spid="21"/>
                                        </p:tgtEl>
                                      </p:cBhvr>
                                    </p:animEffect>
                                  </p:childTnLst>
                                </p:cTn>
                              </p:par>
                              <p:par>
                                <p:cTn id="38" presetID="9" presetClass="emph" presetSubtype="0" fill="hold" grpId="0" nodeType="withEffect">
                                  <p:stCondLst>
                                    <p:cond delay="0"/>
                                  </p:stCondLst>
                                  <p:childTnLst>
                                    <p:set>
                                      <p:cBhvr>
                                        <p:cTn id="39" dur="1" fill="hold"/>
                                        <p:tgtEl>
                                          <p:spTgt spid="22"/>
                                        </p:tgtEl>
                                        <p:attrNameLst>
                                          <p:attrName>style.opacity</p:attrName>
                                        </p:attrNameLst>
                                      </p:cBhvr>
                                      <p:to>
                                        <p:strVal val="0.25"/>
                                      </p:to>
                                    </p:set>
                                    <p:animEffect filter="image" prLst="opacity: 0.25">
                                      <p:cBhvr rctx="IE">
                                        <p:cTn id="40" dur="1" fill="hold"/>
                                        <p:tgtEl>
                                          <p:spTgt spid="22"/>
                                        </p:tgtEl>
                                      </p:cBhvr>
                                    </p:animEffect>
                                  </p:childTnLst>
                                </p:cTn>
                              </p:par>
                              <p:par>
                                <p:cTn id="41" presetID="9" presetClass="emph" presetSubtype="0" fill="hold" grpId="0" nodeType="withEffect">
                                  <p:stCondLst>
                                    <p:cond delay="0"/>
                                  </p:stCondLst>
                                  <p:childTnLst>
                                    <p:set>
                                      <p:cBhvr>
                                        <p:cTn id="42" dur="1" fill="hold"/>
                                        <p:tgtEl>
                                          <p:spTgt spid="23"/>
                                        </p:tgtEl>
                                        <p:attrNameLst>
                                          <p:attrName>style.opacity</p:attrName>
                                        </p:attrNameLst>
                                      </p:cBhvr>
                                      <p:to>
                                        <p:strVal val="0.25"/>
                                      </p:to>
                                    </p:set>
                                    <p:animEffect filter="image" prLst="opacity: 0.25">
                                      <p:cBhvr rctx="IE">
                                        <p:cTn id="43" dur="1" fill="hold"/>
                                        <p:tgtEl>
                                          <p:spTgt spid="23"/>
                                        </p:tgtEl>
                                      </p:cBhvr>
                                    </p:animEffect>
                                  </p:childTnLst>
                                </p:cTn>
                              </p:par>
                              <p:par>
                                <p:cTn id="44" presetID="9" presetClass="emph" presetSubtype="0" fill="hold" grpId="0" nodeType="withEffect">
                                  <p:stCondLst>
                                    <p:cond delay="0"/>
                                  </p:stCondLst>
                                  <p:childTnLst>
                                    <p:set>
                                      <p:cBhvr>
                                        <p:cTn id="45" dur="1" fill="hold"/>
                                        <p:tgtEl>
                                          <p:spTgt spid="24"/>
                                        </p:tgtEl>
                                        <p:attrNameLst>
                                          <p:attrName>style.opacity</p:attrName>
                                        </p:attrNameLst>
                                      </p:cBhvr>
                                      <p:to>
                                        <p:strVal val="0.25"/>
                                      </p:to>
                                    </p:set>
                                    <p:animEffect filter="image" prLst="opacity: 0.25">
                                      <p:cBhvr rctx="IE">
                                        <p:cTn id="46" dur="1" fill="hold"/>
                                        <p:tgtEl>
                                          <p:spTgt spid="24"/>
                                        </p:tgtEl>
                                      </p:cBhvr>
                                    </p:animEffect>
                                  </p:childTnLst>
                                </p:cTn>
                              </p:par>
                              <p:par>
                                <p:cTn id="47" presetID="9" presetClass="emph" presetSubtype="0" fill="hold" grpId="0" nodeType="withEffect">
                                  <p:stCondLst>
                                    <p:cond delay="0"/>
                                  </p:stCondLst>
                                  <p:childTnLst>
                                    <p:set>
                                      <p:cBhvr>
                                        <p:cTn id="48" dur="1" fill="hold"/>
                                        <p:tgtEl>
                                          <p:spTgt spid="25"/>
                                        </p:tgtEl>
                                        <p:attrNameLst>
                                          <p:attrName>style.opacity</p:attrName>
                                        </p:attrNameLst>
                                      </p:cBhvr>
                                      <p:to>
                                        <p:strVal val="0.25"/>
                                      </p:to>
                                    </p:set>
                                    <p:animEffect filter="image" prLst="opacity: 0.25">
                                      <p:cBhvr rctx="IE">
                                        <p:cTn id="49" dur="1" fill="hold"/>
                                        <p:tgtEl>
                                          <p:spTgt spid="25"/>
                                        </p:tgtEl>
                                      </p:cBhvr>
                                    </p:animEffect>
                                  </p:childTnLst>
                                </p:cTn>
                              </p:par>
                              <p:par>
                                <p:cTn id="50" presetID="9" presetClass="emph" presetSubtype="0" fill="hold" grpId="0" nodeType="withEffect">
                                  <p:stCondLst>
                                    <p:cond delay="0"/>
                                  </p:stCondLst>
                                  <p:childTnLst>
                                    <p:set>
                                      <p:cBhvr>
                                        <p:cTn id="51" dur="1" fill="hold"/>
                                        <p:tgtEl>
                                          <p:spTgt spid="26"/>
                                        </p:tgtEl>
                                        <p:attrNameLst>
                                          <p:attrName>style.opacity</p:attrName>
                                        </p:attrNameLst>
                                      </p:cBhvr>
                                      <p:to>
                                        <p:strVal val="0.25"/>
                                      </p:to>
                                    </p:set>
                                    <p:animEffect filter="image" prLst="opacity: 0.25">
                                      <p:cBhvr rctx="IE">
                                        <p:cTn id="52" dur="1" fill="hold"/>
                                        <p:tgtEl>
                                          <p:spTgt spid="26"/>
                                        </p:tgtEl>
                                      </p:cBhvr>
                                    </p:animEffect>
                                  </p:childTnLst>
                                </p:cTn>
                              </p:par>
                              <p:par>
                                <p:cTn id="53" presetID="9" presetClass="emph" presetSubtype="0" fill="hold" grpId="0" nodeType="withEffect">
                                  <p:stCondLst>
                                    <p:cond delay="0"/>
                                  </p:stCondLst>
                                  <p:childTnLst>
                                    <p:set>
                                      <p:cBhvr>
                                        <p:cTn id="54" dur="1" fill="hold"/>
                                        <p:tgtEl>
                                          <p:spTgt spid="27"/>
                                        </p:tgtEl>
                                        <p:attrNameLst>
                                          <p:attrName>style.opacity</p:attrName>
                                        </p:attrNameLst>
                                      </p:cBhvr>
                                      <p:to>
                                        <p:strVal val="0.25"/>
                                      </p:to>
                                    </p:set>
                                    <p:animEffect filter="image" prLst="opacity: 0.25">
                                      <p:cBhvr rctx="IE">
                                        <p:cTn id="55" dur="1" fill="hold"/>
                                        <p:tgtEl>
                                          <p:spTgt spid="27"/>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mph" presetSubtype="0" fill="hold" grpId="0" nodeType="clickEffect">
                                  <p:stCondLst>
                                    <p:cond delay="0"/>
                                  </p:stCondLst>
                                  <p:childTnLst>
                                    <p:set>
                                      <p:cBhvr>
                                        <p:cTn id="59" dur="400" fill="hold"/>
                                        <p:tgtEl>
                                          <p:spTgt spid="11"/>
                                        </p:tgtEl>
                                        <p:attrNameLst>
                                          <p:attrName>style.opacity</p:attrName>
                                        </p:attrNameLst>
                                      </p:cBhvr>
                                      <p:to>
                                        <p:strVal val="1"/>
                                      </p:to>
                                    </p:set>
                                    <p:animEffect filter="image" prLst="opacity: 1">
                                      <p:cBhvr rctx="IE">
                                        <p:cTn id="60" dur="400" fill="hold"/>
                                        <p:tgtEl>
                                          <p:spTgt spid="11"/>
                                        </p:tgtEl>
                                      </p:cBhvr>
                                    </p:animEffect>
                                  </p:childTnLst>
                                </p:cTn>
                              </p:par>
                              <p:par>
                                <p:cTn id="61" presetID="9" presetClass="emph" presetSubtype="0" fill="hold" grpId="0" nodeType="withEffect">
                                  <p:stCondLst>
                                    <p:cond delay="0"/>
                                  </p:stCondLst>
                                  <p:childTnLst>
                                    <p:set>
                                      <p:cBhvr>
                                        <p:cTn id="62" dur="400" fill="hold"/>
                                        <p:tgtEl>
                                          <p:spTgt spid="12"/>
                                        </p:tgtEl>
                                        <p:attrNameLst>
                                          <p:attrName>style.opacity</p:attrName>
                                        </p:attrNameLst>
                                      </p:cBhvr>
                                      <p:to>
                                        <p:strVal val="1"/>
                                      </p:to>
                                    </p:set>
                                    <p:animEffect filter="image" prLst="opacity: 1">
                                      <p:cBhvr rctx="IE">
                                        <p:cTn id="63" dur="400" fill="hold"/>
                                        <p:tgtEl>
                                          <p:spTgt spid="12"/>
                                        </p:tgtEl>
                                      </p:cBhvr>
                                    </p:animEffect>
                                  </p:childTnLst>
                                </p:cTn>
                              </p:par>
                              <p:par>
                                <p:cTn id="64" presetID="9" presetClass="emph" presetSubtype="0" fill="hold" grpId="0" nodeType="withEffect">
                                  <p:stCondLst>
                                    <p:cond delay="0"/>
                                  </p:stCondLst>
                                  <p:childTnLst>
                                    <p:set>
                                      <p:cBhvr>
                                        <p:cTn id="65" dur="400" fill="hold"/>
                                        <p:tgtEl>
                                          <p:spTgt spid="13"/>
                                        </p:tgtEl>
                                        <p:attrNameLst>
                                          <p:attrName>style.opacity</p:attrName>
                                        </p:attrNameLst>
                                      </p:cBhvr>
                                      <p:to>
                                        <p:strVal val="1"/>
                                      </p:to>
                                    </p:set>
                                    <p:animEffect filter="image" prLst="opacity: 1">
                                      <p:cBhvr rctx="IE">
                                        <p:cTn id="66" dur="400" fill="hold"/>
                                        <p:tgtEl>
                                          <p:spTgt spid="13"/>
                                        </p:tgtEl>
                                      </p:cBhvr>
                                    </p:animEffect>
                                  </p:childTnLst>
                                </p:cTn>
                              </p:par>
                              <p:par>
                                <p:cTn id="67" presetID="9" presetClass="emph" presetSubtype="0" fill="hold" grpId="0" nodeType="withEffect">
                                  <p:stCondLst>
                                    <p:cond delay="0"/>
                                  </p:stCondLst>
                                  <p:childTnLst>
                                    <p:set>
                                      <p:cBhvr>
                                        <p:cTn id="68" dur="400" fill="hold"/>
                                        <p:tgtEl>
                                          <p:spTgt spid="14"/>
                                        </p:tgtEl>
                                        <p:attrNameLst>
                                          <p:attrName>style.opacity</p:attrName>
                                        </p:attrNameLst>
                                      </p:cBhvr>
                                      <p:to>
                                        <p:strVal val="1"/>
                                      </p:to>
                                    </p:set>
                                    <p:animEffect filter="image" prLst="opacity: 1">
                                      <p:cBhvr rctx="IE">
                                        <p:cTn id="69" dur="400" fill="hold"/>
                                        <p:tgtEl>
                                          <p:spTgt spid="14"/>
                                        </p:tgtEl>
                                      </p:cBhvr>
                                    </p:animEffect>
                                  </p:childTnLst>
                                </p:cTn>
                              </p:par>
                              <p:par>
                                <p:cTn id="70" presetID="9" presetClass="emph" presetSubtype="0" fill="hold" grpId="0" nodeType="withEffect">
                                  <p:stCondLst>
                                    <p:cond delay="0"/>
                                  </p:stCondLst>
                                  <p:childTnLst>
                                    <p:set>
                                      <p:cBhvr>
                                        <p:cTn id="71" dur="400" fill="hold"/>
                                        <p:tgtEl>
                                          <p:spTgt spid="15"/>
                                        </p:tgtEl>
                                        <p:attrNameLst>
                                          <p:attrName>style.opacity</p:attrName>
                                        </p:attrNameLst>
                                      </p:cBhvr>
                                      <p:to>
                                        <p:strVal val="1"/>
                                      </p:to>
                                    </p:set>
                                    <p:animEffect filter="image" prLst="opacity: 1">
                                      <p:cBhvr rctx="IE">
                                        <p:cTn id="72" dur="400" fill="hold"/>
                                        <p:tgtEl>
                                          <p:spTgt spid="15"/>
                                        </p:tgtEl>
                                      </p:cBhvr>
                                    </p:animEffect>
                                  </p:childTnLst>
                                </p:cTn>
                              </p:par>
                              <p:par>
                                <p:cTn id="73" presetID="9" presetClass="emph" presetSubtype="0" fill="hold" grpId="0" nodeType="withEffect">
                                  <p:stCondLst>
                                    <p:cond delay="0"/>
                                  </p:stCondLst>
                                  <p:childTnLst>
                                    <p:set>
                                      <p:cBhvr>
                                        <p:cTn id="74" dur="400" fill="hold"/>
                                        <p:tgtEl>
                                          <p:spTgt spid="6"/>
                                        </p:tgtEl>
                                        <p:attrNameLst>
                                          <p:attrName>style.opacity</p:attrName>
                                        </p:attrNameLst>
                                      </p:cBhvr>
                                      <p:to>
                                        <p:strVal val="0.25"/>
                                      </p:to>
                                    </p:set>
                                    <p:animEffect filter="image" prLst="opacity: 0.25">
                                      <p:cBhvr rctx="IE">
                                        <p:cTn id="75" dur="400" fill="hold"/>
                                        <p:tgtEl>
                                          <p:spTgt spid="6"/>
                                        </p:tgtEl>
                                      </p:cBhvr>
                                    </p:animEffect>
                                  </p:childTnLst>
                                </p:cTn>
                              </p:par>
                              <p:par>
                                <p:cTn id="76" presetID="9" presetClass="emph" presetSubtype="0" fill="hold" grpId="0" nodeType="withEffect">
                                  <p:stCondLst>
                                    <p:cond delay="0"/>
                                  </p:stCondLst>
                                  <p:childTnLst>
                                    <p:set>
                                      <p:cBhvr>
                                        <p:cTn id="77" dur="400" fill="hold"/>
                                        <p:tgtEl>
                                          <p:spTgt spid="7"/>
                                        </p:tgtEl>
                                        <p:attrNameLst>
                                          <p:attrName>style.opacity</p:attrName>
                                        </p:attrNameLst>
                                      </p:cBhvr>
                                      <p:to>
                                        <p:strVal val="0.25"/>
                                      </p:to>
                                    </p:set>
                                    <p:animEffect filter="image" prLst="opacity: 0.25">
                                      <p:cBhvr rctx="IE">
                                        <p:cTn id="78" dur="400" fill="hold"/>
                                        <p:tgtEl>
                                          <p:spTgt spid="7"/>
                                        </p:tgtEl>
                                      </p:cBhvr>
                                    </p:animEffect>
                                  </p:childTnLst>
                                </p:cTn>
                              </p:par>
                              <p:par>
                                <p:cTn id="79" presetID="9" presetClass="emph" presetSubtype="0" fill="hold" grpId="0" nodeType="withEffect">
                                  <p:stCondLst>
                                    <p:cond delay="0"/>
                                  </p:stCondLst>
                                  <p:childTnLst>
                                    <p:set>
                                      <p:cBhvr>
                                        <p:cTn id="80" dur="400" fill="hold"/>
                                        <p:tgtEl>
                                          <p:spTgt spid="8"/>
                                        </p:tgtEl>
                                        <p:attrNameLst>
                                          <p:attrName>style.opacity</p:attrName>
                                        </p:attrNameLst>
                                      </p:cBhvr>
                                      <p:to>
                                        <p:strVal val="0.25"/>
                                      </p:to>
                                    </p:set>
                                    <p:animEffect filter="image" prLst="opacity: 0.25">
                                      <p:cBhvr rctx="IE">
                                        <p:cTn id="81" dur="400" fill="hold"/>
                                        <p:tgtEl>
                                          <p:spTgt spid="8"/>
                                        </p:tgtEl>
                                      </p:cBhvr>
                                    </p:animEffect>
                                  </p:childTnLst>
                                </p:cTn>
                              </p:par>
                              <p:par>
                                <p:cTn id="82" presetID="9" presetClass="emph" presetSubtype="0" fill="hold" grpId="0" nodeType="withEffect">
                                  <p:stCondLst>
                                    <p:cond delay="0"/>
                                  </p:stCondLst>
                                  <p:childTnLst>
                                    <p:set>
                                      <p:cBhvr>
                                        <p:cTn id="83" dur="400" fill="hold"/>
                                        <p:tgtEl>
                                          <p:spTgt spid="9"/>
                                        </p:tgtEl>
                                        <p:attrNameLst>
                                          <p:attrName>style.opacity</p:attrName>
                                        </p:attrNameLst>
                                      </p:cBhvr>
                                      <p:to>
                                        <p:strVal val="0.25"/>
                                      </p:to>
                                    </p:set>
                                    <p:animEffect filter="image" prLst="opacity: 0.25">
                                      <p:cBhvr rctx="IE">
                                        <p:cTn id="84" dur="400" fill="hold"/>
                                        <p:tgtEl>
                                          <p:spTgt spid="9"/>
                                        </p:tgtEl>
                                      </p:cBhvr>
                                    </p:animEffect>
                                  </p:childTnLst>
                                </p:cTn>
                              </p:par>
                              <p:par>
                                <p:cTn id="85" presetID="9" presetClass="emph" presetSubtype="0" fill="hold" grpId="0" nodeType="withEffect">
                                  <p:stCondLst>
                                    <p:cond delay="0"/>
                                  </p:stCondLst>
                                  <p:childTnLst>
                                    <p:set>
                                      <p:cBhvr>
                                        <p:cTn id="86" dur="400" fill="hold"/>
                                        <p:tgtEl>
                                          <p:spTgt spid="10"/>
                                        </p:tgtEl>
                                        <p:attrNameLst>
                                          <p:attrName>style.opacity</p:attrName>
                                        </p:attrNameLst>
                                      </p:cBhvr>
                                      <p:to>
                                        <p:strVal val="0.25"/>
                                      </p:to>
                                    </p:set>
                                    <p:animEffect filter="image" prLst="opacity: 0.25">
                                      <p:cBhvr rctx="IE">
                                        <p:cTn id="87" dur="400" fill="hold"/>
                                        <p:tgtEl>
                                          <p:spTgt spid="10"/>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mph" presetSubtype="0" fill="hold" grpId="0" nodeType="clickEffect">
                                  <p:stCondLst>
                                    <p:cond delay="0"/>
                                  </p:stCondLst>
                                  <p:childTnLst>
                                    <p:set>
                                      <p:cBhvr>
                                        <p:cTn id="91" dur="400" fill="hold"/>
                                        <p:tgtEl>
                                          <p:spTgt spid="16"/>
                                        </p:tgtEl>
                                        <p:attrNameLst>
                                          <p:attrName>style.opacity</p:attrName>
                                        </p:attrNameLst>
                                      </p:cBhvr>
                                      <p:to>
                                        <p:strVal val="1"/>
                                      </p:to>
                                    </p:set>
                                    <p:animEffect filter="image" prLst="opacity: 1">
                                      <p:cBhvr rctx="IE">
                                        <p:cTn id="92" dur="400" fill="hold"/>
                                        <p:tgtEl>
                                          <p:spTgt spid="16"/>
                                        </p:tgtEl>
                                      </p:cBhvr>
                                    </p:animEffect>
                                  </p:childTnLst>
                                </p:cTn>
                              </p:par>
                              <p:par>
                                <p:cTn id="93" presetID="9" presetClass="emph" presetSubtype="0" fill="hold" grpId="0" nodeType="withEffect">
                                  <p:stCondLst>
                                    <p:cond delay="0"/>
                                  </p:stCondLst>
                                  <p:childTnLst>
                                    <p:set>
                                      <p:cBhvr>
                                        <p:cTn id="94" dur="400" fill="hold"/>
                                        <p:tgtEl>
                                          <p:spTgt spid="17"/>
                                        </p:tgtEl>
                                        <p:attrNameLst>
                                          <p:attrName>style.opacity</p:attrName>
                                        </p:attrNameLst>
                                      </p:cBhvr>
                                      <p:to>
                                        <p:strVal val="1"/>
                                      </p:to>
                                    </p:set>
                                    <p:animEffect filter="image" prLst="opacity: 1">
                                      <p:cBhvr rctx="IE">
                                        <p:cTn id="95" dur="400" fill="hold"/>
                                        <p:tgtEl>
                                          <p:spTgt spid="17"/>
                                        </p:tgtEl>
                                      </p:cBhvr>
                                    </p:animEffect>
                                  </p:childTnLst>
                                </p:cTn>
                              </p:par>
                              <p:par>
                                <p:cTn id="96" presetID="9" presetClass="emph" presetSubtype="0" fill="hold" grpId="0" nodeType="withEffect">
                                  <p:stCondLst>
                                    <p:cond delay="0"/>
                                  </p:stCondLst>
                                  <p:childTnLst>
                                    <p:set>
                                      <p:cBhvr>
                                        <p:cTn id="97" dur="400" fill="hold"/>
                                        <p:tgtEl>
                                          <p:spTgt spid="18"/>
                                        </p:tgtEl>
                                        <p:attrNameLst>
                                          <p:attrName>style.opacity</p:attrName>
                                        </p:attrNameLst>
                                      </p:cBhvr>
                                      <p:to>
                                        <p:strVal val="1"/>
                                      </p:to>
                                    </p:set>
                                    <p:animEffect filter="image" prLst="opacity: 1">
                                      <p:cBhvr rctx="IE">
                                        <p:cTn id="98" dur="400" fill="hold"/>
                                        <p:tgtEl>
                                          <p:spTgt spid="18"/>
                                        </p:tgtEl>
                                      </p:cBhvr>
                                    </p:animEffect>
                                  </p:childTnLst>
                                </p:cTn>
                              </p:par>
                              <p:par>
                                <p:cTn id="99" presetID="9" presetClass="emph" presetSubtype="0" fill="hold" grpId="0" nodeType="withEffect">
                                  <p:stCondLst>
                                    <p:cond delay="0"/>
                                  </p:stCondLst>
                                  <p:childTnLst>
                                    <p:set>
                                      <p:cBhvr>
                                        <p:cTn id="100" dur="400" fill="hold"/>
                                        <p:tgtEl>
                                          <p:spTgt spid="19"/>
                                        </p:tgtEl>
                                        <p:attrNameLst>
                                          <p:attrName>style.opacity</p:attrName>
                                        </p:attrNameLst>
                                      </p:cBhvr>
                                      <p:to>
                                        <p:strVal val="1"/>
                                      </p:to>
                                    </p:set>
                                    <p:animEffect filter="image" prLst="opacity: 1">
                                      <p:cBhvr rctx="IE">
                                        <p:cTn id="101" dur="400" fill="hold"/>
                                        <p:tgtEl>
                                          <p:spTgt spid="19"/>
                                        </p:tgtEl>
                                      </p:cBhvr>
                                    </p:animEffect>
                                  </p:childTnLst>
                                </p:cTn>
                              </p:par>
                              <p:par>
                                <p:cTn id="102" presetID="9" presetClass="emph" presetSubtype="0" fill="hold" grpId="0" nodeType="withEffect">
                                  <p:stCondLst>
                                    <p:cond delay="0"/>
                                  </p:stCondLst>
                                  <p:childTnLst>
                                    <p:set>
                                      <p:cBhvr>
                                        <p:cTn id="103" dur="400" fill="hold"/>
                                        <p:tgtEl>
                                          <p:spTgt spid="20"/>
                                        </p:tgtEl>
                                        <p:attrNameLst>
                                          <p:attrName>style.opacity</p:attrName>
                                        </p:attrNameLst>
                                      </p:cBhvr>
                                      <p:to>
                                        <p:strVal val="1"/>
                                      </p:to>
                                    </p:set>
                                    <p:animEffect filter="image" prLst="opacity: 1">
                                      <p:cBhvr rctx="IE">
                                        <p:cTn id="104" dur="400" fill="hold"/>
                                        <p:tgtEl>
                                          <p:spTgt spid="20"/>
                                        </p:tgtEl>
                                      </p:cBhvr>
                                    </p:animEffect>
                                  </p:childTnLst>
                                </p:cTn>
                              </p:par>
                              <p:par>
                                <p:cTn id="105" presetID="9" presetClass="emph" presetSubtype="0" fill="hold" grpId="0" nodeType="withEffect">
                                  <p:stCondLst>
                                    <p:cond delay="0"/>
                                  </p:stCondLst>
                                  <p:childTnLst>
                                    <p:set>
                                      <p:cBhvr>
                                        <p:cTn id="106" dur="400" fill="hold"/>
                                        <p:tgtEl>
                                          <p:spTgt spid="11"/>
                                        </p:tgtEl>
                                        <p:attrNameLst>
                                          <p:attrName>style.opacity</p:attrName>
                                        </p:attrNameLst>
                                      </p:cBhvr>
                                      <p:to>
                                        <p:strVal val="0.25"/>
                                      </p:to>
                                    </p:set>
                                    <p:animEffect filter="image" prLst="opacity: 0.25">
                                      <p:cBhvr rctx="IE">
                                        <p:cTn id="107" dur="400" fill="hold"/>
                                        <p:tgtEl>
                                          <p:spTgt spid="11"/>
                                        </p:tgtEl>
                                      </p:cBhvr>
                                    </p:animEffect>
                                  </p:childTnLst>
                                </p:cTn>
                              </p:par>
                              <p:par>
                                <p:cTn id="108" presetID="9" presetClass="emph" presetSubtype="0" fill="hold" grpId="0" nodeType="withEffect">
                                  <p:stCondLst>
                                    <p:cond delay="0"/>
                                  </p:stCondLst>
                                  <p:childTnLst>
                                    <p:set>
                                      <p:cBhvr>
                                        <p:cTn id="109" dur="400" fill="hold"/>
                                        <p:tgtEl>
                                          <p:spTgt spid="12"/>
                                        </p:tgtEl>
                                        <p:attrNameLst>
                                          <p:attrName>style.opacity</p:attrName>
                                        </p:attrNameLst>
                                      </p:cBhvr>
                                      <p:to>
                                        <p:strVal val="0.25"/>
                                      </p:to>
                                    </p:set>
                                    <p:animEffect filter="image" prLst="opacity: 0.25">
                                      <p:cBhvr rctx="IE">
                                        <p:cTn id="110" dur="400" fill="hold"/>
                                        <p:tgtEl>
                                          <p:spTgt spid="12"/>
                                        </p:tgtEl>
                                      </p:cBhvr>
                                    </p:animEffect>
                                  </p:childTnLst>
                                </p:cTn>
                              </p:par>
                              <p:par>
                                <p:cTn id="111" presetID="9" presetClass="emph" presetSubtype="0" fill="hold" grpId="0" nodeType="withEffect">
                                  <p:stCondLst>
                                    <p:cond delay="0"/>
                                  </p:stCondLst>
                                  <p:childTnLst>
                                    <p:set>
                                      <p:cBhvr>
                                        <p:cTn id="112" dur="400" fill="hold"/>
                                        <p:tgtEl>
                                          <p:spTgt spid="13"/>
                                        </p:tgtEl>
                                        <p:attrNameLst>
                                          <p:attrName>style.opacity</p:attrName>
                                        </p:attrNameLst>
                                      </p:cBhvr>
                                      <p:to>
                                        <p:strVal val="0.25"/>
                                      </p:to>
                                    </p:set>
                                    <p:animEffect filter="image" prLst="opacity: 0.25">
                                      <p:cBhvr rctx="IE">
                                        <p:cTn id="113" dur="400" fill="hold"/>
                                        <p:tgtEl>
                                          <p:spTgt spid="13"/>
                                        </p:tgtEl>
                                      </p:cBhvr>
                                    </p:animEffect>
                                  </p:childTnLst>
                                </p:cTn>
                              </p:par>
                              <p:par>
                                <p:cTn id="114" presetID="9" presetClass="emph" presetSubtype="0" fill="hold" grpId="0" nodeType="withEffect">
                                  <p:stCondLst>
                                    <p:cond delay="0"/>
                                  </p:stCondLst>
                                  <p:childTnLst>
                                    <p:set>
                                      <p:cBhvr>
                                        <p:cTn id="115" dur="400" fill="hold"/>
                                        <p:tgtEl>
                                          <p:spTgt spid="14"/>
                                        </p:tgtEl>
                                        <p:attrNameLst>
                                          <p:attrName>style.opacity</p:attrName>
                                        </p:attrNameLst>
                                      </p:cBhvr>
                                      <p:to>
                                        <p:strVal val="0.25"/>
                                      </p:to>
                                    </p:set>
                                    <p:animEffect filter="image" prLst="opacity: 0.25">
                                      <p:cBhvr rctx="IE">
                                        <p:cTn id="116" dur="400" fill="hold"/>
                                        <p:tgtEl>
                                          <p:spTgt spid="14"/>
                                        </p:tgtEl>
                                      </p:cBhvr>
                                    </p:animEffect>
                                  </p:childTnLst>
                                </p:cTn>
                              </p:par>
                              <p:par>
                                <p:cTn id="117" presetID="9" presetClass="emph" presetSubtype="0" fill="hold" grpId="0" nodeType="withEffect">
                                  <p:stCondLst>
                                    <p:cond delay="0"/>
                                  </p:stCondLst>
                                  <p:childTnLst>
                                    <p:set>
                                      <p:cBhvr>
                                        <p:cTn id="118" dur="400" fill="hold"/>
                                        <p:tgtEl>
                                          <p:spTgt spid="15"/>
                                        </p:tgtEl>
                                        <p:attrNameLst>
                                          <p:attrName>style.opacity</p:attrName>
                                        </p:attrNameLst>
                                      </p:cBhvr>
                                      <p:to>
                                        <p:strVal val="0.25"/>
                                      </p:to>
                                    </p:set>
                                    <p:animEffect filter="image" prLst="opacity: 0.25">
                                      <p:cBhvr rctx="IE">
                                        <p:cTn id="119" dur="400" fill="hold"/>
                                        <p:tgtEl>
                                          <p:spTgt spid="15"/>
                                        </p:tgtEl>
                                      </p:cBhvr>
                                    </p:animEffect>
                                  </p:childTnLst>
                                </p:cTn>
                              </p:par>
                            </p:childTnLst>
                          </p:cTn>
                        </p:par>
                      </p:childTnLst>
                    </p:cTn>
                  </p:par>
                  <p:par>
                    <p:cTn id="120" fill="hold">
                      <p:stCondLst>
                        <p:cond delay="indefinite"/>
                      </p:stCondLst>
                      <p:childTnLst>
                        <p:par>
                          <p:cTn id="121" fill="hold">
                            <p:stCondLst>
                              <p:cond delay="0"/>
                            </p:stCondLst>
                            <p:childTnLst>
                              <p:par>
                                <p:cTn id="122" presetID="9" presetClass="emph" presetSubtype="0" fill="hold" grpId="0" nodeType="clickEffect">
                                  <p:stCondLst>
                                    <p:cond delay="0"/>
                                  </p:stCondLst>
                                  <p:childTnLst>
                                    <p:set>
                                      <p:cBhvr>
                                        <p:cTn id="123" dur="400" fill="hold"/>
                                        <p:tgtEl>
                                          <p:spTgt spid="21"/>
                                        </p:tgtEl>
                                        <p:attrNameLst>
                                          <p:attrName>style.opacity</p:attrName>
                                        </p:attrNameLst>
                                      </p:cBhvr>
                                      <p:to>
                                        <p:strVal val="1"/>
                                      </p:to>
                                    </p:set>
                                    <p:animEffect filter="image" prLst="opacity: 1">
                                      <p:cBhvr rctx="IE">
                                        <p:cTn id="124" dur="400" fill="hold"/>
                                        <p:tgtEl>
                                          <p:spTgt spid="21"/>
                                        </p:tgtEl>
                                      </p:cBhvr>
                                    </p:animEffect>
                                  </p:childTnLst>
                                </p:cTn>
                              </p:par>
                              <p:par>
                                <p:cTn id="125" presetID="9" presetClass="emph" presetSubtype="0" fill="hold" grpId="0" nodeType="withEffect">
                                  <p:stCondLst>
                                    <p:cond delay="0"/>
                                  </p:stCondLst>
                                  <p:childTnLst>
                                    <p:set>
                                      <p:cBhvr>
                                        <p:cTn id="126" dur="400" fill="hold"/>
                                        <p:tgtEl>
                                          <p:spTgt spid="22"/>
                                        </p:tgtEl>
                                        <p:attrNameLst>
                                          <p:attrName>style.opacity</p:attrName>
                                        </p:attrNameLst>
                                      </p:cBhvr>
                                      <p:to>
                                        <p:strVal val="1"/>
                                      </p:to>
                                    </p:set>
                                    <p:animEffect filter="image" prLst="opacity: 1">
                                      <p:cBhvr rctx="IE">
                                        <p:cTn id="127" dur="400" fill="hold"/>
                                        <p:tgtEl>
                                          <p:spTgt spid="22"/>
                                        </p:tgtEl>
                                      </p:cBhvr>
                                    </p:animEffect>
                                  </p:childTnLst>
                                </p:cTn>
                              </p:par>
                              <p:par>
                                <p:cTn id="128" presetID="9" presetClass="emph" presetSubtype="0" fill="hold" grpId="0" nodeType="withEffect">
                                  <p:stCondLst>
                                    <p:cond delay="0"/>
                                  </p:stCondLst>
                                  <p:childTnLst>
                                    <p:set>
                                      <p:cBhvr>
                                        <p:cTn id="129" dur="400" fill="hold"/>
                                        <p:tgtEl>
                                          <p:spTgt spid="23"/>
                                        </p:tgtEl>
                                        <p:attrNameLst>
                                          <p:attrName>style.opacity</p:attrName>
                                        </p:attrNameLst>
                                      </p:cBhvr>
                                      <p:to>
                                        <p:strVal val="1"/>
                                      </p:to>
                                    </p:set>
                                    <p:animEffect filter="image" prLst="opacity: 1">
                                      <p:cBhvr rctx="IE">
                                        <p:cTn id="130" dur="400" fill="hold"/>
                                        <p:tgtEl>
                                          <p:spTgt spid="23"/>
                                        </p:tgtEl>
                                      </p:cBhvr>
                                    </p:animEffect>
                                  </p:childTnLst>
                                </p:cTn>
                              </p:par>
                              <p:par>
                                <p:cTn id="131" presetID="9" presetClass="emph" presetSubtype="0" fill="hold" grpId="0" nodeType="withEffect">
                                  <p:stCondLst>
                                    <p:cond delay="0"/>
                                  </p:stCondLst>
                                  <p:childTnLst>
                                    <p:set>
                                      <p:cBhvr>
                                        <p:cTn id="132" dur="400" fill="hold"/>
                                        <p:tgtEl>
                                          <p:spTgt spid="24"/>
                                        </p:tgtEl>
                                        <p:attrNameLst>
                                          <p:attrName>style.opacity</p:attrName>
                                        </p:attrNameLst>
                                      </p:cBhvr>
                                      <p:to>
                                        <p:strVal val="1"/>
                                      </p:to>
                                    </p:set>
                                    <p:animEffect filter="image" prLst="opacity: 1">
                                      <p:cBhvr rctx="IE">
                                        <p:cTn id="133" dur="400" fill="hold"/>
                                        <p:tgtEl>
                                          <p:spTgt spid="24"/>
                                        </p:tgtEl>
                                      </p:cBhvr>
                                    </p:animEffect>
                                  </p:childTnLst>
                                </p:cTn>
                              </p:par>
                              <p:par>
                                <p:cTn id="134" presetID="9" presetClass="emph" presetSubtype="0" fill="hold" grpId="0" nodeType="withEffect">
                                  <p:stCondLst>
                                    <p:cond delay="0"/>
                                  </p:stCondLst>
                                  <p:childTnLst>
                                    <p:set>
                                      <p:cBhvr>
                                        <p:cTn id="135" dur="400" fill="hold"/>
                                        <p:tgtEl>
                                          <p:spTgt spid="25"/>
                                        </p:tgtEl>
                                        <p:attrNameLst>
                                          <p:attrName>style.opacity</p:attrName>
                                        </p:attrNameLst>
                                      </p:cBhvr>
                                      <p:to>
                                        <p:strVal val="1"/>
                                      </p:to>
                                    </p:set>
                                    <p:animEffect filter="image" prLst="opacity: 1">
                                      <p:cBhvr rctx="IE">
                                        <p:cTn id="136" dur="400" fill="hold"/>
                                        <p:tgtEl>
                                          <p:spTgt spid="25"/>
                                        </p:tgtEl>
                                      </p:cBhvr>
                                    </p:animEffect>
                                  </p:childTnLst>
                                </p:cTn>
                              </p:par>
                              <p:par>
                                <p:cTn id="137" presetID="9" presetClass="emph" presetSubtype="0" fill="hold" grpId="0" nodeType="withEffect">
                                  <p:stCondLst>
                                    <p:cond delay="0"/>
                                  </p:stCondLst>
                                  <p:childTnLst>
                                    <p:set>
                                      <p:cBhvr>
                                        <p:cTn id="138" dur="400" fill="hold"/>
                                        <p:tgtEl>
                                          <p:spTgt spid="16"/>
                                        </p:tgtEl>
                                        <p:attrNameLst>
                                          <p:attrName>style.opacity</p:attrName>
                                        </p:attrNameLst>
                                      </p:cBhvr>
                                      <p:to>
                                        <p:strVal val="0.25"/>
                                      </p:to>
                                    </p:set>
                                    <p:animEffect filter="image" prLst="opacity: 0.25">
                                      <p:cBhvr rctx="IE">
                                        <p:cTn id="139" dur="400" fill="hold"/>
                                        <p:tgtEl>
                                          <p:spTgt spid="16"/>
                                        </p:tgtEl>
                                      </p:cBhvr>
                                    </p:animEffect>
                                  </p:childTnLst>
                                </p:cTn>
                              </p:par>
                              <p:par>
                                <p:cTn id="140" presetID="9" presetClass="emph" presetSubtype="0" fill="hold" grpId="0" nodeType="withEffect">
                                  <p:stCondLst>
                                    <p:cond delay="0"/>
                                  </p:stCondLst>
                                  <p:childTnLst>
                                    <p:set>
                                      <p:cBhvr>
                                        <p:cTn id="141" dur="400" fill="hold"/>
                                        <p:tgtEl>
                                          <p:spTgt spid="17"/>
                                        </p:tgtEl>
                                        <p:attrNameLst>
                                          <p:attrName>style.opacity</p:attrName>
                                        </p:attrNameLst>
                                      </p:cBhvr>
                                      <p:to>
                                        <p:strVal val="0.25"/>
                                      </p:to>
                                    </p:set>
                                    <p:animEffect filter="image" prLst="opacity: 0.25">
                                      <p:cBhvr rctx="IE">
                                        <p:cTn id="142" dur="400" fill="hold"/>
                                        <p:tgtEl>
                                          <p:spTgt spid="17"/>
                                        </p:tgtEl>
                                      </p:cBhvr>
                                    </p:animEffect>
                                  </p:childTnLst>
                                </p:cTn>
                              </p:par>
                              <p:par>
                                <p:cTn id="143" presetID="9" presetClass="emph" presetSubtype="0" fill="hold" grpId="0" nodeType="withEffect">
                                  <p:stCondLst>
                                    <p:cond delay="0"/>
                                  </p:stCondLst>
                                  <p:childTnLst>
                                    <p:set>
                                      <p:cBhvr>
                                        <p:cTn id="144" dur="400" fill="hold"/>
                                        <p:tgtEl>
                                          <p:spTgt spid="18"/>
                                        </p:tgtEl>
                                        <p:attrNameLst>
                                          <p:attrName>style.opacity</p:attrName>
                                        </p:attrNameLst>
                                      </p:cBhvr>
                                      <p:to>
                                        <p:strVal val="0.25"/>
                                      </p:to>
                                    </p:set>
                                    <p:animEffect filter="image" prLst="opacity: 0.25">
                                      <p:cBhvr rctx="IE">
                                        <p:cTn id="145" dur="400" fill="hold"/>
                                        <p:tgtEl>
                                          <p:spTgt spid="18"/>
                                        </p:tgtEl>
                                      </p:cBhvr>
                                    </p:animEffect>
                                  </p:childTnLst>
                                </p:cTn>
                              </p:par>
                              <p:par>
                                <p:cTn id="146" presetID="9" presetClass="emph" presetSubtype="0" fill="hold" grpId="0" nodeType="withEffect">
                                  <p:stCondLst>
                                    <p:cond delay="0"/>
                                  </p:stCondLst>
                                  <p:childTnLst>
                                    <p:set>
                                      <p:cBhvr>
                                        <p:cTn id="147" dur="400" fill="hold"/>
                                        <p:tgtEl>
                                          <p:spTgt spid="19"/>
                                        </p:tgtEl>
                                        <p:attrNameLst>
                                          <p:attrName>style.opacity</p:attrName>
                                        </p:attrNameLst>
                                      </p:cBhvr>
                                      <p:to>
                                        <p:strVal val="0.25"/>
                                      </p:to>
                                    </p:set>
                                    <p:animEffect filter="image" prLst="opacity: 0.25">
                                      <p:cBhvr rctx="IE">
                                        <p:cTn id="148" dur="400" fill="hold"/>
                                        <p:tgtEl>
                                          <p:spTgt spid="19"/>
                                        </p:tgtEl>
                                      </p:cBhvr>
                                    </p:animEffect>
                                  </p:childTnLst>
                                </p:cTn>
                              </p:par>
                              <p:par>
                                <p:cTn id="149" presetID="9" presetClass="emph" presetSubtype="0" fill="hold" grpId="0" nodeType="withEffect">
                                  <p:stCondLst>
                                    <p:cond delay="0"/>
                                  </p:stCondLst>
                                  <p:childTnLst>
                                    <p:set>
                                      <p:cBhvr>
                                        <p:cTn id="150" dur="400" fill="hold"/>
                                        <p:tgtEl>
                                          <p:spTgt spid="20"/>
                                        </p:tgtEl>
                                        <p:attrNameLst>
                                          <p:attrName>style.opacity</p:attrName>
                                        </p:attrNameLst>
                                      </p:cBhvr>
                                      <p:to>
                                        <p:strVal val="0.25"/>
                                      </p:to>
                                    </p:set>
                                    <p:animEffect filter="image" prLst="opacity: 0.25">
                                      <p:cBhvr rctx="IE">
                                        <p:cTn id="151" dur="400" fill="hold"/>
                                        <p:tgtEl>
                                          <p:spTgt spid="20"/>
                                        </p:tgtEl>
                                      </p:cBhvr>
                                    </p:animEffect>
                                  </p:childTnLst>
                                </p:cTn>
                              </p:par>
                            </p:childTnLst>
                          </p:cTn>
                        </p:par>
                      </p:childTnLst>
                    </p:cTn>
                  </p:par>
                  <p:par>
                    <p:cTn id="152" fill="hold">
                      <p:stCondLst>
                        <p:cond delay="indefinite"/>
                      </p:stCondLst>
                      <p:childTnLst>
                        <p:par>
                          <p:cTn id="153" fill="hold">
                            <p:stCondLst>
                              <p:cond delay="0"/>
                            </p:stCondLst>
                            <p:childTnLst>
                              <p:par>
                                <p:cTn id="154" presetID="9" presetClass="emph" presetSubtype="0" fill="hold" grpId="0" nodeType="clickEffect">
                                  <p:stCondLst>
                                    <p:cond delay="0"/>
                                  </p:stCondLst>
                                  <p:childTnLst>
                                    <p:set>
                                      <p:cBhvr>
                                        <p:cTn id="155" dur="400" fill="hold"/>
                                        <p:tgtEl>
                                          <p:spTgt spid="26"/>
                                        </p:tgtEl>
                                        <p:attrNameLst>
                                          <p:attrName>style.opacity</p:attrName>
                                        </p:attrNameLst>
                                      </p:cBhvr>
                                      <p:to>
                                        <p:strVal val="1"/>
                                      </p:to>
                                    </p:set>
                                    <p:animEffect filter="image" prLst="opacity: 1">
                                      <p:cBhvr rctx="IE">
                                        <p:cTn id="156" dur="400" fill="hold"/>
                                        <p:tgtEl>
                                          <p:spTgt spid="26"/>
                                        </p:tgtEl>
                                      </p:cBhvr>
                                    </p:animEffect>
                                  </p:childTnLst>
                                </p:cTn>
                              </p:par>
                              <p:par>
                                <p:cTn id="157" presetID="9" presetClass="emph" presetSubtype="0" fill="hold" grpId="0" nodeType="withEffect">
                                  <p:stCondLst>
                                    <p:cond delay="0"/>
                                  </p:stCondLst>
                                  <p:childTnLst>
                                    <p:set>
                                      <p:cBhvr>
                                        <p:cTn id="158" dur="400" fill="hold"/>
                                        <p:tgtEl>
                                          <p:spTgt spid="27"/>
                                        </p:tgtEl>
                                        <p:attrNameLst>
                                          <p:attrName>style.opacity</p:attrName>
                                        </p:attrNameLst>
                                      </p:cBhvr>
                                      <p:to>
                                        <p:strVal val="1"/>
                                      </p:to>
                                    </p:set>
                                    <p:animEffect filter="image" prLst="opacity: 1">
                                      <p:cBhvr rctx="IE">
                                        <p:cTn id="159" dur="400" fill="hold"/>
                                        <p:tgtEl>
                                          <p:spTgt spid="27"/>
                                        </p:tgtEl>
                                      </p:cBhvr>
                                    </p:animEffect>
                                  </p:childTnLst>
                                </p:cTn>
                              </p:par>
                              <p:par>
                                <p:cTn id="160" presetID="9" presetClass="emph" presetSubtype="0" fill="hold" grpId="0" nodeType="withEffect">
                                  <p:stCondLst>
                                    <p:cond delay="0"/>
                                  </p:stCondLst>
                                  <p:childTnLst>
                                    <p:set>
                                      <p:cBhvr>
                                        <p:cTn id="161" dur="400" fill="hold"/>
                                        <p:tgtEl>
                                          <p:spTgt spid="21"/>
                                        </p:tgtEl>
                                        <p:attrNameLst>
                                          <p:attrName>style.opacity</p:attrName>
                                        </p:attrNameLst>
                                      </p:cBhvr>
                                      <p:to>
                                        <p:strVal val="0.25"/>
                                      </p:to>
                                    </p:set>
                                    <p:animEffect filter="image" prLst="opacity: 0.25">
                                      <p:cBhvr rctx="IE">
                                        <p:cTn id="162" dur="400" fill="hold"/>
                                        <p:tgtEl>
                                          <p:spTgt spid="21"/>
                                        </p:tgtEl>
                                      </p:cBhvr>
                                    </p:animEffect>
                                  </p:childTnLst>
                                </p:cTn>
                              </p:par>
                              <p:par>
                                <p:cTn id="163" presetID="9" presetClass="emph" presetSubtype="0" fill="hold" grpId="0" nodeType="withEffect">
                                  <p:stCondLst>
                                    <p:cond delay="0"/>
                                  </p:stCondLst>
                                  <p:childTnLst>
                                    <p:set>
                                      <p:cBhvr>
                                        <p:cTn id="164" dur="400" fill="hold"/>
                                        <p:tgtEl>
                                          <p:spTgt spid="22"/>
                                        </p:tgtEl>
                                        <p:attrNameLst>
                                          <p:attrName>style.opacity</p:attrName>
                                        </p:attrNameLst>
                                      </p:cBhvr>
                                      <p:to>
                                        <p:strVal val="0.25"/>
                                      </p:to>
                                    </p:set>
                                    <p:animEffect filter="image" prLst="opacity: 0.25">
                                      <p:cBhvr rctx="IE">
                                        <p:cTn id="165" dur="400" fill="hold"/>
                                        <p:tgtEl>
                                          <p:spTgt spid="22"/>
                                        </p:tgtEl>
                                      </p:cBhvr>
                                    </p:animEffect>
                                  </p:childTnLst>
                                </p:cTn>
                              </p:par>
                              <p:par>
                                <p:cTn id="166" presetID="9" presetClass="emph" presetSubtype="0" fill="hold" grpId="0" nodeType="withEffect">
                                  <p:stCondLst>
                                    <p:cond delay="0"/>
                                  </p:stCondLst>
                                  <p:childTnLst>
                                    <p:set>
                                      <p:cBhvr>
                                        <p:cTn id="167" dur="400" fill="hold"/>
                                        <p:tgtEl>
                                          <p:spTgt spid="23"/>
                                        </p:tgtEl>
                                        <p:attrNameLst>
                                          <p:attrName>style.opacity</p:attrName>
                                        </p:attrNameLst>
                                      </p:cBhvr>
                                      <p:to>
                                        <p:strVal val="0.25"/>
                                      </p:to>
                                    </p:set>
                                    <p:animEffect filter="image" prLst="opacity: 0.25">
                                      <p:cBhvr rctx="IE">
                                        <p:cTn id="168" dur="400" fill="hold"/>
                                        <p:tgtEl>
                                          <p:spTgt spid="23"/>
                                        </p:tgtEl>
                                      </p:cBhvr>
                                    </p:animEffect>
                                  </p:childTnLst>
                                </p:cTn>
                              </p:par>
                              <p:par>
                                <p:cTn id="169" presetID="9" presetClass="emph" presetSubtype="0" fill="hold" grpId="0" nodeType="withEffect">
                                  <p:stCondLst>
                                    <p:cond delay="0"/>
                                  </p:stCondLst>
                                  <p:childTnLst>
                                    <p:set>
                                      <p:cBhvr>
                                        <p:cTn id="170" dur="400" fill="hold"/>
                                        <p:tgtEl>
                                          <p:spTgt spid="24"/>
                                        </p:tgtEl>
                                        <p:attrNameLst>
                                          <p:attrName>style.opacity</p:attrName>
                                        </p:attrNameLst>
                                      </p:cBhvr>
                                      <p:to>
                                        <p:strVal val="0.25"/>
                                      </p:to>
                                    </p:set>
                                    <p:animEffect filter="image" prLst="opacity: 0.25">
                                      <p:cBhvr rctx="IE">
                                        <p:cTn id="171" dur="400" fill="hold"/>
                                        <p:tgtEl>
                                          <p:spTgt spid="24"/>
                                        </p:tgtEl>
                                      </p:cBhvr>
                                    </p:animEffect>
                                  </p:childTnLst>
                                </p:cTn>
                              </p:par>
                              <p:par>
                                <p:cTn id="172" presetID="9" presetClass="emph" presetSubtype="0" fill="hold" grpId="0" nodeType="withEffect">
                                  <p:stCondLst>
                                    <p:cond delay="0"/>
                                  </p:stCondLst>
                                  <p:childTnLst>
                                    <p:set>
                                      <p:cBhvr>
                                        <p:cTn id="173" dur="400" fill="hold"/>
                                        <p:tgtEl>
                                          <p:spTgt spid="25"/>
                                        </p:tgtEl>
                                        <p:attrNameLst>
                                          <p:attrName>style.opacity</p:attrName>
                                        </p:attrNameLst>
                                      </p:cBhvr>
                                      <p:to>
                                        <p:strVal val="0.25"/>
                                      </p:to>
                                    </p:set>
                                    <p:animEffect filter="image" prLst="opacity: 0.25">
                                      <p:cBhvr rctx="IE">
                                        <p:cTn id="174" dur="400" fill="hold"/>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What is a capture the flag?</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548640" y="1508760"/>
            <a:ext cx="11094415" cy="1371600"/>
          </a:xfrm>
          <a:prstGeom prst="roundRect">
            <a:avLst>
              <a:gd name="adj" fmla="val 6667"/>
            </a:avLst>
          </a:prstGeom>
          <a:solidFill>
            <a:srgbClr val="0E1726"/>
          </a:solidFill>
          <a:ln/>
        </p:spPr>
        <p:txBody>
          <a:bodyPr/>
          <a:lstStyle/>
          <a:p>
            <a:endParaRPr lang="en-US"/>
          </a:p>
        </p:txBody>
      </p:sp>
      <p:sp>
        <p:nvSpPr>
          <p:cNvPr id="7" name="Text 4"/>
          <p:cNvSpPr txBox="1"/>
          <p:nvPr/>
        </p:nvSpPr>
        <p:spPr>
          <a:xfrm>
            <a:off x="548640" y="1508760"/>
            <a:ext cx="11094415" cy="1371600"/>
          </a:xfrm>
          <a:prstGeom prst="rect">
            <a:avLst/>
          </a:prstGeom>
          <a:noFill/>
          <a:ln/>
        </p:spPr>
        <p:txBody>
          <a:bodyPr wrap="square" lIns="0" tIns="0" rIns="0" bIns="0" rtlCol="0" anchor="ctr"/>
          <a:lstStyle/>
          <a:p>
            <a:pPr marL="0" indent="0" algn="ctr">
              <a:buNone/>
            </a:pPr>
            <a:r>
              <a:rPr lang="en-US" sz="4000" b="1" dirty="0">
                <a:solidFill>
                  <a:srgbClr val="7FB2FF"/>
                </a:solidFill>
                <a:latin typeface="Courier New" pitchFamily="34" charset="0"/>
                <a:ea typeface="Courier New" pitchFamily="34" charset="-122"/>
                <a:cs typeface="Courier New" pitchFamily="34" charset="-120"/>
              </a:rPr>
              <a:t>CYBA</a:t>
            </a:r>
            <a:r>
              <a:rPr lang="en-US" sz="4000" b="1" dirty="0">
                <a:solidFill>
                  <a:srgbClr val="F5A623"/>
                </a:solidFill>
                <a:latin typeface="Courier New" pitchFamily="34" charset="0"/>
                <a:ea typeface="Courier New" pitchFamily="34" charset="-122"/>
                <a:cs typeface="Courier New" pitchFamily="34" charset="-120"/>
              </a:rPr>
              <a:t>{</a:t>
            </a:r>
            <a:r>
              <a:rPr lang="en-US" sz="4000" b="1" dirty="0">
                <a:solidFill>
                  <a:srgbClr val="46D39A"/>
                </a:solidFill>
                <a:latin typeface="Courier New" pitchFamily="34" charset="0"/>
                <a:ea typeface="Courier New" pitchFamily="34" charset="-122"/>
                <a:cs typeface="Courier New" pitchFamily="34" charset="-120"/>
              </a:rPr>
              <a:t>moves-4c8c640b</a:t>
            </a:r>
            <a:r>
              <a:rPr lang="en-US" sz="4000" b="1" dirty="0">
                <a:solidFill>
                  <a:srgbClr val="F5A623"/>
                </a:solidFill>
                <a:latin typeface="Courier New" pitchFamily="34" charset="0"/>
                <a:ea typeface="Courier New" pitchFamily="34" charset="-122"/>
                <a:cs typeface="Courier New" pitchFamily="34" charset="-120"/>
              </a:rPr>
              <a:t>}</a:t>
            </a:r>
            <a:endParaRPr lang="en-US" sz="4000" dirty="0"/>
          </a:p>
        </p:txBody>
      </p:sp>
      <p:sp>
        <p:nvSpPr>
          <p:cNvPr id="8" name="Shape 5"/>
          <p:cNvSpPr/>
          <p:nvPr/>
        </p:nvSpPr>
        <p:spPr>
          <a:xfrm>
            <a:off x="548640" y="3154680"/>
            <a:ext cx="3566160" cy="1508760"/>
          </a:xfrm>
          <a:prstGeom prst="roundRect">
            <a:avLst>
              <a:gd name="adj" fmla="val 6061"/>
            </a:avLst>
          </a:prstGeom>
          <a:solidFill>
            <a:srgbClr val="F1F5FB"/>
          </a:solidFill>
          <a:ln/>
        </p:spPr>
        <p:txBody>
          <a:bodyPr/>
          <a:lstStyle/>
          <a:p>
            <a:endParaRPr lang="en-US"/>
          </a:p>
        </p:txBody>
      </p:sp>
      <p:sp>
        <p:nvSpPr>
          <p:cNvPr id="9" name="Text 6"/>
          <p:cNvSpPr txBox="1"/>
          <p:nvPr/>
        </p:nvSpPr>
        <p:spPr>
          <a:xfrm>
            <a:off x="777240" y="3291840"/>
            <a:ext cx="3108960" cy="365760"/>
          </a:xfrm>
          <a:prstGeom prst="rect">
            <a:avLst/>
          </a:prstGeom>
          <a:noFill/>
          <a:ln/>
        </p:spPr>
        <p:txBody>
          <a:bodyPr wrap="square" lIns="0" tIns="0" rIns="0" bIns="0" rtlCol="0" anchor="t"/>
          <a:lstStyle/>
          <a:p>
            <a:pPr marL="0" indent="0">
              <a:buNone/>
            </a:pPr>
            <a:r>
              <a:rPr lang="en-US" sz="1900" b="1" dirty="0">
                <a:solidFill>
                  <a:srgbClr val="2459D8"/>
                </a:solidFill>
                <a:latin typeface="Courier New" pitchFamily="34" charset="0"/>
                <a:ea typeface="Courier New" pitchFamily="34" charset="-122"/>
                <a:cs typeface="Courier New" pitchFamily="34" charset="-120"/>
              </a:rPr>
              <a:t>CYBA</a:t>
            </a:r>
            <a:endParaRPr lang="en-US" sz="1900" dirty="0"/>
          </a:p>
        </p:txBody>
      </p:sp>
      <p:sp>
        <p:nvSpPr>
          <p:cNvPr id="10" name="Text 7"/>
          <p:cNvSpPr txBox="1"/>
          <p:nvPr/>
        </p:nvSpPr>
        <p:spPr>
          <a:xfrm>
            <a:off x="777240" y="3703320"/>
            <a:ext cx="3108960" cy="32004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Always the same start</a:t>
            </a:r>
            <a:endParaRPr lang="en-US" sz="1600" dirty="0"/>
          </a:p>
        </p:txBody>
      </p:sp>
      <p:sp>
        <p:nvSpPr>
          <p:cNvPr id="11" name="Text 8"/>
          <p:cNvSpPr txBox="1"/>
          <p:nvPr/>
        </p:nvSpPr>
        <p:spPr>
          <a:xfrm>
            <a:off x="777240" y="4041648"/>
            <a:ext cx="315468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Every flag today begins with CYBA.</a:t>
            </a:r>
            <a:endParaRPr lang="en-US" sz="1400" dirty="0"/>
          </a:p>
        </p:txBody>
      </p:sp>
      <p:sp>
        <p:nvSpPr>
          <p:cNvPr id="12" name="Shape 9"/>
          <p:cNvSpPr/>
          <p:nvPr/>
        </p:nvSpPr>
        <p:spPr>
          <a:xfrm>
            <a:off x="4306824" y="3154680"/>
            <a:ext cx="3566160" cy="1508760"/>
          </a:xfrm>
          <a:prstGeom prst="roundRect">
            <a:avLst>
              <a:gd name="adj" fmla="val 6061"/>
            </a:avLst>
          </a:prstGeom>
          <a:solidFill>
            <a:srgbClr val="F1F5FB"/>
          </a:solidFill>
          <a:ln/>
        </p:spPr>
        <p:txBody>
          <a:bodyPr/>
          <a:lstStyle/>
          <a:p>
            <a:endParaRPr lang="en-US"/>
          </a:p>
        </p:txBody>
      </p:sp>
      <p:sp>
        <p:nvSpPr>
          <p:cNvPr id="13" name="Text 10"/>
          <p:cNvSpPr txBox="1"/>
          <p:nvPr/>
        </p:nvSpPr>
        <p:spPr>
          <a:xfrm>
            <a:off x="4535424" y="3291840"/>
            <a:ext cx="3108960" cy="365760"/>
          </a:xfrm>
          <a:prstGeom prst="rect">
            <a:avLst/>
          </a:prstGeom>
          <a:noFill/>
          <a:ln/>
        </p:spPr>
        <p:txBody>
          <a:bodyPr wrap="square" lIns="0" tIns="0" rIns="0" bIns="0" rtlCol="0" anchor="t"/>
          <a:lstStyle/>
          <a:p>
            <a:pPr marL="0" indent="0">
              <a:buNone/>
            </a:pPr>
            <a:r>
              <a:rPr lang="en-US" sz="1900" b="1" dirty="0">
                <a:solidFill>
                  <a:srgbClr val="C07A00"/>
                </a:solidFill>
                <a:latin typeface="Courier New" pitchFamily="34" charset="0"/>
                <a:ea typeface="Courier New" pitchFamily="34" charset="-122"/>
                <a:cs typeface="Courier New" pitchFamily="34" charset="-120"/>
              </a:rPr>
              <a:t>{   }</a:t>
            </a:r>
            <a:endParaRPr lang="en-US" sz="1900" dirty="0"/>
          </a:p>
        </p:txBody>
      </p:sp>
      <p:sp>
        <p:nvSpPr>
          <p:cNvPr id="14" name="Text 11"/>
          <p:cNvSpPr txBox="1"/>
          <p:nvPr/>
        </p:nvSpPr>
        <p:spPr>
          <a:xfrm>
            <a:off x="4535424" y="3703320"/>
            <a:ext cx="3108960" cy="32004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The wrapper</a:t>
            </a:r>
            <a:endParaRPr lang="en-US" sz="1600" dirty="0"/>
          </a:p>
        </p:txBody>
      </p:sp>
      <p:sp>
        <p:nvSpPr>
          <p:cNvPr id="15" name="Text 12"/>
          <p:cNvSpPr txBox="1"/>
          <p:nvPr/>
        </p:nvSpPr>
        <p:spPr>
          <a:xfrm>
            <a:off x="4535424" y="4041648"/>
            <a:ext cx="315468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Curly braces mark where the secret begins and ends.</a:t>
            </a:r>
            <a:endParaRPr lang="en-US" sz="1400" dirty="0"/>
          </a:p>
        </p:txBody>
      </p:sp>
      <p:sp>
        <p:nvSpPr>
          <p:cNvPr id="16" name="Shape 13"/>
          <p:cNvSpPr/>
          <p:nvPr/>
        </p:nvSpPr>
        <p:spPr>
          <a:xfrm>
            <a:off x="8065008" y="3154680"/>
            <a:ext cx="3566160" cy="1508760"/>
          </a:xfrm>
          <a:prstGeom prst="roundRect">
            <a:avLst>
              <a:gd name="adj" fmla="val 6061"/>
            </a:avLst>
          </a:prstGeom>
          <a:solidFill>
            <a:srgbClr val="F1F5FB"/>
          </a:solidFill>
          <a:ln/>
        </p:spPr>
        <p:txBody>
          <a:bodyPr/>
          <a:lstStyle/>
          <a:p>
            <a:endParaRPr lang="en-US"/>
          </a:p>
        </p:txBody>
      </p:sp>
      <p:sp>
        <p:nvSpPr>
          <p:cNvPr id="17" name="Text 14"/>
          <p:cNvSpPr txBox="1"/>
          <p:nvPr/>
        </p:nvSpPr>
        <p:spPr>
          <a:xfrm>
            <a:off x="8293608" y="3291840"/>
            <a:ext cx="3108960" cy="365760"/>
          </a:xfrm>
          <a:prstGeom prst="rect">
            <a:avLst/>
          </a:prstGeom>
          <a:noFill/>
          <a:ln/>
        </p:spPr>
        <p:txBody>
          <a:bodyPr wrap="square" lIns="0" tIns="0" rIns="0" bIns="0" rtlCol="0" anchor="t"/>
          <a:lstStyle/>
          <a:p>
            <a:pPr marL="0" indent="0">
              <a:buNone/>
            </a:pPr>
            <a:r>
              <a:rPr lang="en-US" sz="1900" b="1" dirty="0">
                <a:solidFill>
                  <a:srgbClr val="17875A"/>
                </a:solidFill>
                <a:latin typeface="Courier New" pitchFamily="34" charset="0"/>
                <a:ea typeface="Courier New" pitchFamily="34" charset="-122"/>
                <a:cs typeface="Courier New" pitchFamily="34" charset="-120"/>
              </a:rPr>
              <a:t>moves-4c8c640b</a:t>
            </a:r>
            <a:endParaRPr lang="en-US" sz="1900" dirty="0"/>
          </a:p>
        </p:txBody>
      </p:sp>
      <p:sp>
        <p:nvSpPr>
          <p:cNvPr id="18" name="Text 15"/>
          <p:cNvSpPr txBox="1"/>
          <p:nvPr/>
        </p:nvSpPr>
        <p:spPr>
          <a:xfrm>
            <a:off x="8293608" y="3703320"/>
            <a:ext cx="3108960" cy="32004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The secret</a:t>
            </a:r>
            <a:endParaRPr lang="en-US" sz="1600" dirty="0"/>
          </a:p>
        </p:txBody>
      </p:sp>
      <p:sp>
        <p:nvSpPr>
          <p:cNvPr id="19" name="Text 16"/>
          <p:cNvSpPr txBox="1"/>
          <p:nvPr/>
        </p:nvSpPr>
        <p:spPr>
          <a:xfrm>
            <a:off x="8293608" y="4041648"/>
            <a:ext cx="315468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A word, a dash, 8 random characters. New on every computer.</a:t>
            </a:r>
            <a:endParaRPr lang="en-US" sz="1400" dirty="0"/>
          </a:p>
        </p:txBody>
      </p:sp>
      <p:sp>
        <p:nvSpPr>
          <p:cNvPr id="20" name="Shape 17"/>
          <p:cNvSpPr/>
          <p:nvPr/>
        </p:nvSpPr>
        <p:spPr>
          <a:xfrm>
            <a:off x="548640" y="4983480"/>
            <a:ext cx="2377440" cy="914400"/>
          </a:xfrm>
          <a:prstGeom prst="roundRect">
            <a:avLst>
              <a:gd name="adj" fmla="val 10000"/>
            </a:avLst>
          </a:prstGeom>
          <a:solidFill>
            <a:srgbClr val="2A9FD6"/>
          </a:solidFill>
          <a:ln/>
        </p:spPr>
        <p:txBody>
          <a:bodyPr/>
          <a:lstStyle/>
          <a:p>
            <a:endParaRPr lang="en-US"/>
          </a:p>
        </p:txBody>
      </p:sp>
      <p:sp>
        <p:nvSpPr>
          <p:cNvPr id="21" name="Text 18"/>
          <p:cNvSpPr txBox="1"/>
          <p:nvPr/>
        </p:nvSpPr>
        <p:spPr>
          <a:xfrm>
            <a:off x="548640"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Read</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the mission</a:t>
            </a:r>
            <a:endParaRPr lang="en-US" sz="2000" dirty="0"/>
          </a:p>
        </p:txBody>
      </p:sp>
      <p:sp>
        <p:nvSpPr>
          <p:cNvPr id="22" name="Text 19"/>
          <p:cNvSpPr txBox="1"/>
          <p:nvPr/>
        </p:nvSpPr>
        <p:spPr>
          <a:xfrm>
            <a:off x="2926080" y="4983480"/>
            <a:ext cx="429768" cy="914400"/>
          </a:xfrm>
          <a:prstGeom prst="rect">
            <a:avLst/>
          </a:prstGeom>
          <a:noFill/>
          <a:ln/>
        </p:spPr>
        <p:txBody>
          <a:bodyPr wrap="square" lIns="0" tIns="0" rIns="0" bIns="0" rtlCol="0" anchor="ctr"/>
          <a:lstStyle/>
          <a:p>
            <a:pPr marL="0" indent="0" algn="ctr">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3" name="Shape 20"/>
          <p:cNvSpPr/>
          <p:nvPr/>
        </p:nvSpPr>
        <p:spPr>
          <a:xfrm>
            <a:off x="3355848" y="4983480"/>
            <a:ext cx="2377440" cy="914400"/>
          </a:xfrm>
          <a:prstGeom prst="roundRect">
            <a:avLst>
              <a:gd name="adj" fmla="val 10000"/>
            </a:avLst>
          </a:prstGeom>
          <a:solidFill>
            <a:srgbClr val="2459D8"/>
          </a:solidFill>
          <a:ln/>
        </p:spPr>
        <p:txBody>
          <a:bodyPr/>
          <a:lstStyle/>
          <a:p>
            <a:endParaRPr lang="en-US"/>
          </a:p>
        </p:txBody>
      </p:sp>
      <p:sp>
        <p:nvSpPr>
          <p:cNvPr id="24" name="Text 21"/>
          <p:cNvSpPr txBox="1"/>
          <p:nvPr/>
        </p:nvSpPr>
        <p:spPr>
          <a:xfrm>
            <a:off x="3355848"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Find</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the flag</a:t>
            </a:r>
            <a:endParaRPr lang="en-US" sz="2000" dirty="0"/>
          </a:p>
        </p:txBody>
      </p:sp>
      <p:sp>
        <p:nvSpPr>
          <p:cNvPr id="25" name="Text 22"/>
          <p:cNvSpPr txBox="1"/>
          <p:nvPr/>
        </p:nvSpPr>
        <p:spPr>
          <a:xfrm>
            <a:off x="5733288" y="4983480"/>
            <a:ext cx="429768" cy="914400"/>
          </a:xfrm>
          <a:prstGeom prst="rect">
            <a:avLst/>
          </a:prstGeom>
          <a:noFill/>
          <a:ln/>
        </p:spPr>
        <p:txBody>
          <a:bodyPr wrap="square" lIns="0" tIns="0" rIns="0" bIns="0" rtlCol="0" anchor="ctr"/>
          <a:lstStyle/>
          <a:p>
            <a:pPr marL="0" indent="0" algn="ctr">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6" name="Shape 23"/>
          <p:cNvSpPr/>
          <p:nvPr/>
        </p:nvSpPr>
        <p:spPr>
          <a:xfrm>
            <a:off x="6163056" y="4983480"/>
            <a:ext cx="2377440" cy="914400"/>
          </a:xfrm>
          <a:prstGeom prst="roundRect">
            <a:avLst>
              <a:gd name="adj" fmla="val 10000"/>
            </a:avLst>
          </a:prstGeom>
          <a:solidFill>
            <a:srgbClr val="7448D4"/>
          </a:solidFill>
          <a:ln/>
        </p:spPr>
        <p:txBody>
          <a:bodyPr/>
          <a:lstStyle/>
          <a:p>
            <a:endParaRPr lang="en-US"/>
          </a:p>
        </p:txBody>
      </p:sp>
      <p:sp>
        <p:nvSpPr>
          <p:cNvPr id="27" name="Text 24"/>
          <p:cNvSpPr txBox="1"/>
          <p:nvPr/>
        </p:nvSpPr>
        <p:spPr>
          <a:xfrm>
            <a:off x="6163056"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Submit</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the whole thing</a:t>
            </a:r>
            <a:endParaRPr lang="en-US" sz="2000" dirty="0"/>
          </a:p>
        </p:txBody>
      </p:sp>
      <p:sp>
        <p:nvSpPr>
          <p:cNvPr id="28" name="Text 25"/>
          <p:cNvSpPr txBox="1"/>
          <p:nvPr/>
        </p:nvSpPr>
        <p:spPr>
          <a:xfrm>
            <a:off x="8540496" y="4983480"/>
            <a:ext cx="429768" cy="914400"/>
          </a:xfrm>
          <a:prstGeom prst="rect">
            <a:avLst/>
          </a:prstGeom>
          <a:noFill/>
          <a:ln/>
        </p:spPr>
        <p:txBody>
          <a:bodyPr wrap="square" lIns="0" tIns="0" rIns="0" bIns="0" rtlCol="0" anchor="ctr"/>
          <a:lstStyle/>
          <a:p>
            <a:pPr marL="0" indent="0" algn="ctr">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9" name="Shape 26"/>
          <p:cNvSpPr/>
          <p:nvPr/>
        </p:nvSpPr>
        <p:spPr>
          <a:xfrm>
            <a:off x="8970264" y="4983480"/>
            <a:ext cx="2377440" cy="914400"/>
          </a:xfrm>
          <a:prstGeom prst="roundRect">
            <a:avLst>
              <a:gd name="adj" fmla="val 10000"/>
            </a:avLst>
          </a:prstGeom>
          <a:solidFill>
            <a:srgbClr val="D1416B"/>
          </a:solidFill>
          <a:ln/>
        </p:spPr>
        <p:txBody>
          <a:bodyPr/>
          <a:lstStyle/>
          <a:p>
            <a:endParaRPr lang="en-US"/>
          </a:p>
        </p:txBody>
      </p:sp>
      <p:sp>
        <p:nvSpPr>
          <p:cNvPr id="30" name="Text 27"/>
          <p:cNvSpPr txBox="1"/>
          <p:nvPr/>
        </p:nvSpPr>
        <p:spPr>
          <a:xfrm>
            <a:off x="8970264"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Score</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points on the board</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4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4</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17875A"/>
                </a:solidFill>
                <a:latin typeface="Arial" pitchFamily="34" charset="0"/>
                <a:ea typeface="Arial" pitchFamily="34" charset="-122"/>
                <a:cs typeface="Arial" pitchFamily="34" charset="-120"/>
              </a:rPr>
              <a:t>1</a:t>
            </a:r>
            <a:endParaRPr lang="en-US" sz="250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Linux fundamentals</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The origin story</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uname -s   # Linux</a:t>
            </a:r>
            <a:endParaRPr lang="en-US" sz="2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 brief history of Linux</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731520" y="2121408"/>
            <a:ext cx="10728655" cy="54864"/>
          </a:xfrm>
          <a:prstGeom prst="rect">
            <a:avLst/>
          </a:prstGeom>
          <a:solidFill>
            <a:srgbClr val="D6DEEA"/>
          </a:solidFill>
          <a:ln/>
        </p:spPr>
        <p:txBody>
          <a:bodyPr/>
          <a:lstStyle/>
          <a:p>
            <a:endParaRPr lang="en-US"/>
          </a:p>
        </p:txBody>
      </p:sp>
      <p:sp>
        <p:nvSpPr>
          <p:cNvPr id="7" name="Shape 4"/>
          <p:cNvSpPr/>
          <p:nvPr/>
        </p:nvSpPr>
        <p:spPr>
          <a:xfrm>
            <a:off x="676656" y="1828800"/>
            <a:ext cx="1463040" cy="640080"/>
          </a:xfrm>
          <a:prstGeom prst="roundRect">
            <a:avLst>
              <a:gd name="adj" fmla="val 17143"/>
            </a:avLst>
          </a:prstGeom>
          <a:solidFill>
            <a:srgbClr val="2A9FD6"/>
          </a:solidFill>
          <a:ln/>
        </p:spPr>
        <p:txBody>
          <a:bodyPr/>
          <a:lstStyle/>
          <a:p>
            <a:endParaRPr lang="en-US"/>
          </a:p>
        </p:txBody>
      </p:sp>
      <p:sp>
        <p:nvSpPr>
          <p:cNvPr id="8" name="Text 5"/>
          <p:cNvSpPr txBox="1"/>
          <p:nvPr/>
        </p:nvSpPr>
        <p:spPr>
          <a:xfrm>
            <a:off x="676656"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1969</a:t>
            </a:r>
            <a:endParaRPr lang="en-US" sz="2400" dirty="0"/>
          </a:p>
        </p:txBody>
      </p:sp>
      <p:sp>
        <p:nvSpPr>
          <p:cNvPr id="9" name="Shape 6"/>
          <p:cNvSpPr/>
          <p:nvPr/>
        </p:nvSpPr>
        <p:spPr>
          <a:xfrm>
            <a:off x="548640" y="2743200"/>
            <a:ext cx="1719072" cy="3017520"/>
          </a:xfrm>
          <a:prstGeom prst="roundRect">
            <a:avLst>
              <a:gd name="adj" fmla="val 5319"/>
            </a:avLst>
          </a:prstGeom>
          <a:solidFill>
            <a:srgbClr val="F1F5FB"/>
          </a:solidFill>
          <a:ln/>
        </p:spPr>
        <p:txBody>
          <a:bodyPr/>
          <a:lstStyle/>
          <a:p>
            <a:endParaRPr lang="en-US"/>
          </a:p>
        </p:txBody>
      </p:sp>
      <p:sp>
        <p:nvSpPr>
          <p:cNvPr id="10" name="Text 7"/>
          <p:cNvSpPr txBox="1"/>
          <p:nvPr/>
        </p:nvSpPr>
        <p:spPr>
          <a:xfrm>
            <a:off x="713232" y="2880360"/>
            <a:ext cx="1463040" cy="548640"/>
          </a:xfrm>
          <a:prstGeom prst="rect">
            <a:avLst/>
          </a:prstGeom>
          <a:noFill/>
          <a:ln/>
        </p:spPr>
        <p:txBody>
          <a:bodyPr wrap="square" lIns="0" tIns="0" rIns="0" bIns="0" rtlCol="0" anchor="t"/>
          <a:lstStyle/>
          <a:p>
            <a:pPr marL="0" indent="0">
              <a:buNone/>
            </a:pPr>
            <a:r>
              <a:rPr lang="en-US" sz="1800" b="1" dirty="0">
                <a:solidFill>
                  <a:srgbClr val="2A9FD6"/>
                </a:solidFill>
                <a:latin typeface="Arial" pitchFamily="34" charset="0"/>
                <a:ea typeface="Arial" pitchFamily="34" charset="-122"/>
                <a:cs typeface="Arial" pitchFamily="34" charset="-120"/>
              </a:rPr>
              <a:t>Unix is born</a:t>
            </a:r>
            <a:endParaRPr lang="en-US" sz="1800" dirty="0"/>
          </a:p>
        </p:txBody>
      </p:sp>
      <p:sp>
        <p:nvSpPr>
          <p:cNvPr id="11" name="Text 8"/>
          <p:cNvSpPr txBox="1"/>
          <p:nvPr/>
        </p:nvSpPr>
        <p:spPr>
          <a:xfrm>
            <a:off x="713232"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Thompson and Ritchie build Unix at Bell Labs: small tools, files and a shell.</a:t>
            </a:r>
            <a:endParaRPr lang="en-US" sz="1450" dirty="0"/>
          </a:p>
        </p:txBody>
      </p:sp>
      <p:sp>
        <p:nvSpPr>
          <p:cNvPr id="12" name="Shape 9"/>
          <p:cNvSpPr/>
          <p:nvPr/>
        </p:nvSpPr>
        <p:spPr>
          <a:xfrm>
            <a:off x="2542032" y="1828800"/>
            <a:ext cx="1463040" cy="640080"/>
          </a:xfrm>
          <a:prstGeom prst="roundRect">
            <a:avLst>
              <a:gd name="adj" fmla="val 17143"/>
            </a:avLst>
          </a:prstGeom>
          <a:solidFill>
            <a:srgbClr val="2459D8"/>
          </a:solidFill>
          <a:ln/>
        </p:spPr>
        <p:txBody>
          <a:bodyPr/>
          <a:lstStyle/>
          <a:p>
            <a:endParaRPr lang="en-US"/>
          </a:p>
        </p:txBody>
      </p:sp>
      <p:sp>
        <p:nvSpPr>
          <p:cNvPr id="13" name="Text 10"/>
          <p:cNvSpPr txBox="1"/>
          <p:nvPr/>
        </p:nvSpPr>
        <p:spPr>
          <a:xfrm>
            <a:off x="2542032"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1983</a:t>
            </a:r>
            <a:endParaRPr lang="en-US" sz="2400" dirty="0"/>
          </a:p>
        </p:txBody>
      </p:sp>
      <p:sp>
        <p:nvSpPr>
          <p:cNvPr id="14" name="Shape 11"/>
          <p:cNvSpPr/>
          <p:nvPr/>
        </p:nvSpPr>
        <p:spPr>
          <a:xfrm>
            <a:off x="2414016" y="2743200"/>
            <a:ext cx="1719072" cy="3017520"/>
          </a:xfrm>
          <a:prstGeom prst="roundRect">
            <a:avLst>
              <a:gd name="adj" fmla="val 5319"/>
            </a:avLst>
          </a:prstGeom>
          <a:solidFill>
            <a:srgbClr val="F1F5FB"/>
          </a:solidFill>
          <a:ln/>
        </p:spPr>
        <p:txBody>
          <a:bodyPr/>
          <a:lstStyle/>
          <a:p>
            <a:endParaRPr lang="en-US"/>
          </a:p>
        </p:txBody>
      </p:sp>
      <p:sp>
        <p:nvSpPr>
          <p:cNvPr id="15" name="Text 12"/>
          <p:cNvSpPr txBox="1"/>
          <p:nvPr/>
        </p:nvSpPr>
        <p:spPr>
          <a:xfrm>
            <a:off x="2578608" y="2880360"/>
            <a:ext cx="1463040" cy="548640"/>
          </a:xfrm>
          <a:prstGeom prst="rect">
            <a:avLst/>
          </a:prstGeom>
          <a:noFill/>
          <a:ln/>
        </p:spPr>
        <p:txBody>
          <a:bodyPr wrap="square" lIns="0" tIns="0" rIns="0" bIns="0" rtlCol="0" anchor="t"/>
          <a:lstStyle/>
          <a:p>
            <a:pPr marL="0" indent="0">
              <a:buNone/>
            </a:pPr>
            <a:r>
              <a:rPr lang="en-US" sz="1800" b="1" dirty="0">
                <a:solidFill>
                  <a:srgbClr val="2459D8"/>
                </a:solidFill>
                <a:latin typeface="Arial" pitchFamily="34" charset="0"/>
                <a:ea typeface="Arial" pitchFamily="34" charset="-122"/>
                <a:cs typeface="Arial" pitchFamily="34" charset="-120"/>
              </a:rPr>
              <a:t>GNU begins</a:t>
            </a:r>
            <a:endParaRPr lang="en-US" sz="1800" dirty="0"/>
          </a:p>
        </p:txBody>
      </p:sp>
      <p:sp>
        <p:nvSpPr>
          <p:cNvPr id="16" name="Text 13"/>
          <p:cNvSpPr txBox="1"/>
          <p:nvPr/>
        </p:nvSpPr>
        <p:spPr>
          <a:xfrm>
            <a:off x="2578608"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Stallman starts building a free, Unix-like system and its tools.</a:t>
            </a:r>
            <a:endParaRPr lang="en-US" sz="1450" dirty="0"/>
          </a:p>
        </p:txBody>
      </p:sp>
      <p:sp>
        <p:nvSpPr>
          <p:cNvPr id="17" name="Shape 14"/>
          <p:cNvSpPr/>
          <p:nvPr/>
        </p:nvSpPr>
        <p:spPr>
          <a:xfrm>
            <a:off x="4407408" y="1828800"/>
            <a:ext cx="1463040" cy="640080"/>
          </a:xfrm>
          <a:prstGeom prst="roundRect">
            <a:avLst>
              <a:gd name="adj" fmla="val 17143"/>
            </a:avLst>
          </a:prstGeom>
          <a:solidFill>
            <a:srgbClr val="17875A"/>
          </a:solidFill>
          <a:ln/>
        </p:spPr>
        <p:txBody>
          <a:bodyPr/>
          <a:lstStyle/>
          <a:p>
            <a:endParaRPr lang="en-US"/>
          </a:p>
        </p:txBody>
      </p:sp>
      <p:sp>
        <p:nvSpPr>
          <p:cNvPr id="18" name="Text 15"/>
          <p:cNvSpPr txBox="1"/>
          <p:nvPr/>
        </p:nvSpPr>
        <p:spPr>
          <a:xfrm>
            <a:off x="4407408"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1991</a:t>
            </a:r>
            <a:endParaRPr lang="en-US" sz="2400" dirty="0"/>
          </a:p>
        </p:txBody>
      </p:sp>
      <p:sp>
        <p:nvSpPr>
          <p:cNvPr id="19" name="Shape 16"/>
          <p:cNvSpPr/>
          <p:nvPr/>
        </p:nvSpPr>
        <p:spPr>
          <a:xfrm>
            <a:off x="4279392" y="2743200"/>
            <a:ext cx="1719072" cy="3017520"/>
          </a:xfrm>
          <a:prstGeom prst="roundRect">
            <a:avLst>
              <a:gd name="adj" fmla="val 5319"/>
            </a:avLst>
          </a:prstGeom>
          <a:solidFill>
            <a:srgbClr val="F1F5FB"/>
          </a:solidFill>
          <a:ln/>
        </p:spPr>
        <p:txBody>
          <a:bodyPr/>
          <a:lstStyle/>
          <a:p>
            <a:endParaRPr lang="en-US"/>
          </a:p>
        </p:txBody>
      </p:sp>
      <p:sp>
        <p:nvSpPr>
          <p:cNvPr id="20" name="Text 17"/>
          <p:cNvSpPr txBox="1"/>
          <p:nvPr/>
        </p:nvSpPr>
        <p:spPr>
          <a:xfrm>
            <a:off x="4443984" y="2880360"/>
            <a:ext cx="1463040" cy="548640"/>
          </a:xfrm>
          <a:prstGeom prst="rect">
            <a:avLst/>
          </a:prstGeom>
          <a:noFill/>
          <a:ln/>
        </p:spPr>
        <p:txBody>
          <a:bodyPr wrap="square" lIns="0" tIns="0" rIns="0" bIns="0" rtlCol="0" anchor="t"/>
          <a:lstStyle/>
          <a:p>
            <a:pPr marL="0" indent="0">
              <a:buNone/>
            </a:pPr>
            <a:r>
              <a:rPr lang="en-US" sz="1800" b="1" dirty="0">
                <a:solidFill>
                  <a:srgbClr val="17875A"/>
                </a:solidFill>
                <a:latin typeface="Arial" pitchFamily="34" charset="0"/>
                <a:ea typeface="Arial" pitchFamily="34" charset="-122"/>
                <a:cs typeface="Arial" pitchFamily="34" charset="-120"/>
              </a:rPr>
              <a:t>Linux</a:t>
            </a:r>
            <a:endParaRPr lang="en-US" sz="1800" dirty="0"/>
          </a:p>
        </p:txBody>
      </p:sp>
      <p:sp>
        <p:nvSpPr>
          <p:cNvPr id="21" name="Text 18"/>
          <p:cNvSpPr txBox="1"/>
          <p:nvPr/>
        </p:nvSpPr>
        <p:spPr>
          <a:xfrm>
            <a:off x="4443984"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Linus Torvalds, a 21-year-old student, posts a 'hobby' kernel.</a:t>
            </a:r>
            <a:endParaRPr lang="en-US" sz="1450" dirty="0"/>
          </a:p>
        </p:txBody>
      </p:sp>
      <p:sp>
        <p:nvSpPr>
          <p:cNvPr id="22" name="Shape 19"/>
          <p:cNvSpPr/>
          <p:nvPr/>
        </p:nvSpPr>
        <p:spPr>
          <a:xfrm>
            <a:off x="6272784" y="1828800"/>
            <a:ext cx="1463040" cy="640080"/>
          </a:xfrm>
          <a:prstGeom prst="roundRect">
            <a:avLst>
              <a:gd name="adj" fmla="val 17143"/>
            </a:avLst>
          </a:prstGeom>
          <a:solidFill>
            <a:srgbClr val="7448D4"/>
          </a:solidFill>
          <a:ln/>
        </p:spPr>
        <p:txBody>
          <a:bodyPr/>
          <a:lstStyle/>
          <a:p>
            <a:endParaRPr lang="en-US"/>
          </a:p>
        </p:txBody>
      </p:sp>
      <p:sp>
        <p:nvSpPr>
          <p:cNvPr id="23" name="Text 20"/>
          <p:cNvSpPr txBox="1"/>
          <p:nvPr/>
        </p:nvSpPr>
        <p:spPr>
          <a:xfrm>
            <a:off x="6272784"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2008</a:t>
            </a:r>
            <a:endParaRPr lang="en-US" sz="2400" dirty="0"/>
          </a:p>
        </p:txBody>
      </p:sp>
      <p:sp>
        <p:nvSpPr>
          <p:cNvPr id="24" name="Shape 21"/>
          <p:cNvSpPr/>
          <p:nvPr/>
        </p:nvSpPr>
        <p:spPr>
          <a:xfrm>
            <a:off x="6144768" y="2743200"/>
            <a:ext cx="1719072" cy="3017520"/>
          </a:xfrm>
          <a:prstGeom prst="roundRect">
            <a:avLst>
              <a:gd name="adj" fmla="val 5319"/>
            </a:avLst>
          </a:prstGeom>
          <a:solidFill>
            <a:srgbClr val="F1F5FB"/>
          </a:solidFill>
          <a:ln/>
        </p:spPr>
        <p:txBody>
          <a:bodyPr/>
          <a:lstStyle/>
          <a:p>
            <a:endParaRPr lang="en-US"/>
          </a:p>
        </p:txBody>
      </p:sp>
      <p:sp>
        <p:nvSpPr>
          <p:cNvPr id="25" name="Text 22"/>
          <p:cNvSpPr txBox="1"/>
          <p:nvPr/>
        </p:nvSpPr>
        <p:spPr>
          <a:xfrm>
            <a:off x="6309360" y="2880360"/>
            <a:ext cx="1463040" cy="548640"/>
          </a:xfrm>
          <a:prstGeom prst="rect">
            <a:avLst/>
          </a:prstGeom>
          <a:noFill/>
          <a:ln/>
        </p:spPr>
        <p:txBody>
          <a:bodyPr wrap="square" lIns="0" tIns="0" rIns="0" bIns="0" rtlCol="0" anchor="t"/>
          <a:lstStyle/>
          <a:p>
            <a:pPr marL="0" indent="0">
              <a:buNone/>
            </a:pPr>
            <a:r>
              <a:rPr lang="en-US" sz="1800" b="1" dirty="0">
                <a:solidFill>
                  <a:srgbClr val="7448D4"/>
                </a:solidFill>
                <a:latin typeface="Arial" pitchFamily="34" charset="0"/>
                <a:ea typeface="Arial" pitchFamily="34" charset="-122"/>
                <a:cs typeface="Arial" pitchFamily="34" charset="-120"/>
              </a:rPr>
              <a:t>Android</a:t>
            </a:r>
            <a:endParaRPr lang="en-US" sz="1800" dirty="0"/>
          </a:p>
        </p:txBody>
      </p:sp>
      <p:sp>
        <p:nvSpPr>
          <p:cNvPr id="26" name="Text 23"/>
          <p:cNvSpPr txBox="1"/>
          <p:nvPr/>
        </p:nvSpPr>
        <p:spPr>
          <a:xfrm>
            <a:off x="6309360"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The first Android phone ships, built on the Linux kernel.</a:t>
            </a:r>
            <a:endParaRPr lang="en-US" sz="1450" dirty="0"/>
          </a:p>
        </p:txBody>
      </p:sp>
      <p:sp>
        <p:nvSpPr>
          <p:cNvPr id="27" name="Shape 24"/>
          <p:cNvSpPr/>
          <p:nvPr/>
        </p:nvSpPr>
        <p:spPr>
          <a:xfrm>
            <a:off x="8138160" y="1828800"/>
            <a:ext cx="1463040" cy="640080"/>
          </a:xfrm>
          <a:prstGeom prst="roundRect">
            <a:avLst>
              <a:gd name="adj" fmla="val 17143"/>
            </a:avLst>
          </a:prstGeom>
          <a:solidFill>
            <a:srgbClr val="D1416B"/>
          </a:solidFill>
          <a:ln/>
        </p:spPr>
        <p:txBody>
          <a:bodyPr/>
          <a:lstStyle/>
          <a:p>
            <a:endParaRPr lang="en-US"/>
          </a:p>
        </p:txBody>
      </p:sp>
      <p:sp>
        <p:nvSpPr>
          <p:cNvPr id="28" name="Text 25"/>
          <p:cNvSpPr txBox="1"/>
          <p:nvPr/>
        </p:nvSpPr>
        <p:spPr>
          <a:xfrm>
            <a:off x="8138160"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2017</a:t>
            </a:r>
            <a:endParaRPr lang="en-US" sz="2400" dirty="0"/>
          </a:p>
        </p:txBody>
      </p:sp>
      <p:sp>
        <p:nvSpPr>
          <p:cNvPr id="29" name="Shape 26"/>
          <p:cNvSpPr/>
          <p:nvPr/>
        </p:nvSpPr>
        <p:spPr>
          <a:xfrm>
            <a:off x="8010144" y="2743200"/>
            <a:ext cx="1719072" cy="3017520"/>
          </a:xfrm>
          <a:prstGeom prst="roundRect">
            <a:avLst>
              <a:gd name="adj" fmla="val 5319"/>
            </a:avLst>
          </a:prstGeom>
          <a:solidFill>
            <a:srgbClr val="F1F5FB"/>
          </a:solidFill>
          <a:ln/>
        </p:spPr>
        <p:txBody>
          <a:bodyPr/>
          <a:lstStyle/>
          <a:p>
            <a:endParaRPr lang="en-US"/>
          </a:p>
        </p:txBody>
      </p:sp>
      <p:sp>
        <p:nvSpPr>
          <p:cNvPr id="30" name="Text 27"/>
          <p:cNvSpPr txBox="1"/>
          <p:nvPr/>
        </p:nvSpPr>
        <p:spPr>
          <a:xfrm>
            <a:off x="8174736" y="2880360"/>
            <a:ext cx="1463040" cy="548640"/>
          </a:xfrm>
          <a:prstGeom prst="rect">
            <a:avLst/>
          </a:prstGeom>
          <a:noFill/>
          <a:ln/>
        </p:spPr>
        <p:txBody>
          <a:bodyPr wrap="square" lIns="0" tIns="0" rIns="0" bIns="0" rtlCol="0" anchor="t"/>
          <a:lstStyle/>
          <a:p>
            <a:pPr marL="0" indent="0">
              <a:buNone/>
            </a:pPr>
            <a:r>
              <a:rPr lang="en-US" sz="1800" b="1" dirty="0">
                <a:solidFill>
                  <a:srgbClr val="D1416B"/>
                </a:solidFill>
                <a:latin typeface="Arial" pitchFamily="34" charset="0"/>
                <a:ea typeface="Arial" pitchFamily="34" charset="-122"/>
                <a:cs typeface="Arial" pitchFamily="34" charset="-120"/>
              </a:rPr>
              <a:t>500 / 500</a:t>
            </a:r>
            <a:endParaRPr lang="en-US" sz="1800" dirty="0"/>
          </a:p>
        </p:txBody>
      </p:sp>
      <p:sp>
        <p:nvSpPr>
          <p:cNvPr id="31" name="Text 28"/>
          <p:cNvSpPr txBox="1"/>
          <p:nvPr/>
        </p:nvSpPr>
        <p:spPr>
          <a:xfrm>
            <a:off x="8174736"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 one of the world's top 500 supercomputers runs Linux.</a:t>
            </a:r>
            <a:endParaRPr lang="en-US" sz="1450" dirty="0"/>
          </a:p>
        </p:txBody>
      </p:sp>
      <p:sp>
        <p:nvSpPr>
          <p:cNvPr id="32" name="Shape 29"/>
          <p:cNvSpPr/>
          <p:nvPr/>
        </p:nvSpPr>
        <p:spPr>
          <a:xfrm>
            <a:off x="10003536" y="1828800"/>
            <a:ext cx="1463040" cy="640080"/>
          </a:xfrm>
          <a:prstGeom prst="roundRect">
            <a:avLst>
              <a:gd name="adj" fmla="val 17143"/>
            </a:avLst>
          </a:prstGeom>
          <a:solidFill>
            <a:srgbClr val="E8820C"/>
          </a:solidFill>
          <a:ln/>
        </p:spPr>
        <p:txBody>
          <a:bodyPr/>
          <a:lstStyle/>
          <a:p>
            <a:endParaRPr lang="en-US"/>
          </a:p>
        </p:txBody>
      </p:sp>
      <p:sp>
        <p:nvSpPr>
          <p:cNvPr id="33" name="Text 30"/>
          <p:cNvSpPr txBox="1"/>
          <p:nvPr/>
        </p:nvSpPr>
        <p:spPr>
          <a:xfrm>
            <a:off x="10003536"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Today</a:t>
            </a:r>
            <a:endParaRPr lang="en-US" sz="2400" dirty="0"/>
          </a:p>
        </p:txBody>
      </p:sp>
      <p:sp>
        <p:nvSpPr>
          <p:cNvPr id="34" name="Shape 31"/>
          <p:cNvSpPr/>
          <p:nvPr/>
        </p:nvSpPr>
        <p:spPr>
          <a:xfrm>
            <a:off x="9875520" y="2743200"/>
            <a:ext cx="1719072" cy="3017520"/>
          </a:xfrm>
          <a:prstGeom prst="roundRect">
            <a:avLst>
              <a:gd name="adj" fmla="val 5319"/>
            </a:avLst>
          </a:prstGeom>
          <a:solidFill>
            <a:srgbClr val="F1F5FB"/>
          </a:solidFill>
          <a:ln/>
        </p:spPr>
        <p:txBody>
          <a:bodyPr/>
          <a:lstStyle/>
          <a:p>
            <a:endParaRPr lang="en-US"/>
          </a:p>
        </p:txBody>
      </p:sp>
      <p:sp>
        <p:nvSpPr>
          <p:cNvPr id="35" name="Text 32"/>
          <p:cNvSpPr txBox="1"/>
          <p:nvPr/>
        </p:nvSpPr>
        <p:spPr>
          <a:xfrm>
            <a:off x="10040112" y="2880360"/>
            <a:ext cx="1463040" cy="548640"/>
          </a:xfrm>
          <a:prstGeom prst="rect">
            <a:avLst/>
          </a:prstGeom>
          <a:noFill/>
          <a:ln/>
        </p:spPr>
        <p:txBody>
          <a:bodyPr wrap="square" lIns="0" tIns="0" rIns="0" bIns="0" rtlCol="0" anchor="t"/>
          <a:lstStyle/>
          <a:p>
            <a:pPr marL="0" indent="0">
              <a:buNone/>
            </a:pPr>
            <a:r>
              <a:rPr lang="en-US" sz="1800" b="1" dirty="0">
                <a:solidFill>
                  <a:srgbClr val="E8820C"/>
                </a:solidFill>
                <a:latin typeface="Arial" pitchFamily="34" charset="0"/>
                <a:ea typeface="Arial" pitchFamily="34" charset="-122"/>
                <a:cs typeface="Arial" pitchFamily="34" charset="-120"/>
              </a:rPr>
              <a:t>Everywhere</a:t>
            </a:r>
            <a:endParaRPr lang="en-US" sz="1800" dirty="0"/>
          </a:p>
        </p:txBody>
      </p:sp>
      <p:sp>
        <p:nvSpPr>
          <p:cNvPr id="36" name="Text 33"/>
          <p:cNvSpPr txBox="1"/>
          <p:nvPr/>
        </p:nvSpPr>
        <p:spPr>
          <a:xfrm>
            <a:off x="10040112"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Phones, servers, the cloud, TVs, cars and game consoles.</a:t>
            </a:r>
            <a:endParaRPr lang="en-US" sz="1450" dirty="0"/>
          </a:p>
        </p:txBody>
      </p:sp>
      <p:sp>
        <p:nvSpPr>
          <p:cNvPr id="37" name="Text 34"/>
          <p:cNvSpPr txBox="1"/>
          <p:nvPr/>
        </p:nvSpPr>
        <p:spPr>
          <a:xfrm>
            <a:off x="548640" y="5897880"/>
            <a:ext cx="11094415" cy="365760"/>
          </a:xfrm>
          <a:prstGeom prst="rect">
            <a:avLst/>
          </a:prstGeom>
          <a:noFill/>
          <a:ln/>
        </p:spPr>
        <p:txBody>
          <a:bodyPr wrap="square" lIns="0" tIns="0" rIns="0" bIns="0" rtlCol="0" anchor="t"/>
          <a:lstStyle/>
          <a:p>
            <a:pPr marL="0" indent="0">
              <a:buNone/>
            </a:pPr>
            <a:r>
              <a:rPr lang="en-US" sz="1400" b="1" dirty="0">
                <a:solidFill>
                  <a:srgbClr val="12213A"/>
                </a:solidFill>
                <a:latin typeface="Calibri" pitchFamily="34" charset="0"/>
                <a:ea typeface="Calibri" pitchFamily="34" charset="-122"/>
                <a:cs typeface="Calibri" pitchFamily="34" charset="-120"/>
              </a:rPr>
              <a:t>Linux </a:t>
            </a:r>
            <a:r>
              <a:rPr lang="en-US" sz="1400" dirty="0">
                <a:solidFill>
                  <a:srgbClr val="12213A"/>
                </a:solidFill>
                <a:latin typeface="Calibri" pitchFamily="34" charset="0"/>
                <a:ea typeface="Calibri" pitchFamily="34" charset="-122"/>
                <a:cs typeface="Calibri" pitchFamily="34" charset="-120"/>
              </a:rPr>
              <a:t>is the kernel, the core. A </a:t>
            </a:r>
            <a:r>
              <a:rPr lang="en-US" sz="1400" b="1" dirty="0">
                <a:solidFill>
                  <a:srgbClr val="12213A"/>
                </a:solidFill>
                <a:latin typeface="Calibri" pitchFamily="34" charset="0"/>
                <a:ea typeface="Calibri" pitchFamily="34" charset="-122"/>
                <a:cs typeface="Calibri" pitchFamily="34" charset="-120"/>
              </a:rPr>
              <a:t>distribution </a:t>
            </a:r>
            <a:r>
              <a:rPr lang="en-US" sz="1400" dirty="0">
                <a:solidFill>
                  <a:srgbClr val="12213A"/>
                </a:solidFill>
                <a:latin typeface="Calibri" pitchFamily="34" charset="0"/>
                <a:ea typeface="Calibri" pitchFamily="34" charset="-122"/>
                <a:cs typeface="Calibri" pitchFamily="34" charset="-120"/>
              </a:rPr>
              <a:t>(Ubuntu, Debian, Kali) is Linux plus tools, ready to use.</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par>
                                <p:cTn id="20" presetID="9" presetClass="emph" presetSubtype="0" fill="hold" grpId="0" nodeType="withEffect">
                                  <p:stCondLst>
                                    <p:cond delay="0"/>
                                  </p:stCondLst>
                                  <p:childTnLst>
                                    <p:set>
                                      <p:cBhvr>
                                        <p:cTn id="21" dur="400" fill="hold"/>
                                        <p:tgtEl>
                                          <p:spTgt spid="7"/>
                                        </p:tgtEl>
                                        <p:attrNameLst>
                                          <p:attrName>style.opacity</p:attrName>
                                        </p:attrNameLst>
                                      </p:cBhvr>
                                      <p:to>
                                        <p:strVal val="0.25"/>
                                      </p:to>
                                    </p:set>
                                    <p:animEffect filter="image" prLst="opacity: 0.25">
                                      <p:cBhvr rctx="IE">
                                        <p:cTn id="22" dur="400" fill="hold"/>
                                        <p:tgtEl>
                                          <p:spTgt spid="7"/>
                                        </p:tgtEl>
                                      </p:cBhvr>
                                    </p:animEffect>
                                  </p:childTnLst>
                                </p:cTn>
                              </p:par>
                              <p:par>
                                <p:cTn id="23" presetID="9" presetClass="emph" presetSubtype="0" fill="hold" grpId="0" nodeType="withEffect">
                                  <p:stCondLst>
                                    <p:cond delay="0"/>
                                  </p:stCondLst>
                                  <p:childTnLst>
                                    <p:set>
                                      <p:cBhvr>
                                        <p:cTn id="24" dur="400" fill="hold"/>
                                        <p:tgtEl>
                                          <p:spTgt spid="8"/>
                                        </p:tgtEl>
                                        <p:attrNameLst>
                                          <p:attrName>style.opacity</p:attrName>
                                        </p:attrNameLst>
                                      </p:cBhvr>
                                      <p:to>
                                        <p:strVal val="0.25"/>
                                      </p:to>
                                    </p:set>
                                    <p:animEffect filter="image" prLst="opacity: 0.25">
                                      <p:cBhvr rctx="IE">
                                        <p:cTn id="25" dur="400" fill="hold"/>
                                        <p:tgtEl>
                                          <p:spTgt spid="8"/>
                                        </p:tgtEl>
                                      </p:cBhvr>
                                    </p:animEffect>
                                  </p:childTnLst>
                                </p:cTn>
                              </p:par>
                              <p:par>
                                <p:cTn id="26" presetID="9" presetClass="emph" presetSubtype="0" fill="hold" grpId="0" nodeType="withEffect">
                                  <p:stCondLst>
                                    <p:cond delay="0"/>
                                  </p:stCondLst>
                                  <p:childTnLst>
                                    <p:set>
                                      <p:cBhvr>
                                        <p:cTn id="27" dur="400" fill="hold"/>
                                        <p:tgtEl>
                                          <p:spTgt spid="9"/>
                                        </p:tgtEl>
                                        <p:attrNameLst>
                                          <p:attrName>style.opacity</p:attrName>
                                        </p:attrNameLst>
                                      </p:cBhvr>
                                      <p:to>
                                        <p:strVal val="0.25"/>
                                      </p:to>
                                    </p:set>
                                    <p:animEffect filter="image" prLst="opacity: 0.25">
                                      <p:cBhvr rctx="IE">
                                        <p:cTn id="28" dur="400" fill="hold"/>
                                        <p:tgtEl>
                                          <p:spTgt spid="9"/>
                                        </p:tgtEl>
                                      </p:cBhvr>
                                    </p:animEffect>
                                  </p:childTnLst>
                                </p:cTn>
                              </p:par>
                              <p:par>
                                <p:cTn id="29" presetID="9" presetClass="emph" presetSubtype="0" fill="hold" grpId="0" nodeType="withEffect">
                                  <p:stCondLst>
                                    <p:cond delay="0"/>
                                  </p:stCondLst>
                                  <p:childTnLst>
                                    <p:set>
                                      <p:cBhvr>
                                        <p:cTn id="30" dur="400" fill="hold"/>
                                        <p:tgtEl>
                                          <p:spTgt spid="10"/>
                                        </p:tgtEl>
                                        <p:attrNameLst>
                                          <p:attrName>style.opacity</p:attrName>
                                        </p:attrNameLst>
                                      </p:cBhvr>
                                      <p:to>
                                        <p:strVal val="0.25"/>
                                      </p:to>
                                    </p:set>
                                    <p:animEffect filter="image" prLst="opacity: 0.25">
                                      <p:cBhvr rctx="IE">
                                        <p:cTn id="31" dur="400" fill="hold"/>
                                        <p:tgtEl>
                                          <p:spTgt spid="10"/>
                                        </p:tgtEl>
                                      </p:cBhvr>
                                    </p:animEffect>
                                  </p:childTnLst>
                                </p:cTn>
                              </p:par>
                              <p:par>
                                <p:cTn id="32" presetID="9" presetClass="emph" presetSubtype="0" fill="hold" grpId="0" nodeType="withEffect">
                                  <p:stCondLst>
                                    <p:cond delay="0"/>
                                  </p:stCondLst>
                                  <p:childTnLst>
                                    <p:set>
                                      <p:cBhvr>
                                        <p:cTn id="33" dur="400" fill="hold"/>
                                        <p:tgtEl>
                                          <p:spTgt spid="11"/>
                                        </p:tgtEl>
                                        <p:attrNameLst>
                                          <p:attrName>style.opacity</p:attrName>
                                        </p:attrNameLst>
                                      </p:cBhvr>
                                      <p:to>
                                        <p:strVal val="0.25"/>
                                      </p:to>
                                    </p:set>
                                    <p:animEffect filter="image" prLst="opacity: 0.25">
                                      <p:cBhvr rctx="IE">
                                        <p:cTn id="34" dur="400" fill="hold"/>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00"/>
                                        <p:tgtEl>
                                          <p:spTgt spid="1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0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00"/>
                                        <p:tgtEl>
                                          <p:spTgt spid="2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00"/>
                                        <p:tgtEl>
                                          <p:spTgt spid="21"/>
                                        </p:tgtEl>
                                      </p:cBhvr>
                                    </p:animEffect>
                                  </p:childTnLst>
                                </p:cTn>
                              </p:par>
                              <p:par>
                                <p:cTn id="52" presetID="9" presetClass="emph" presetSubtype="0" fill="hold" grpId="0" nodeType="withEffect">
                                  <p:stCondLst>
                                    <p:cond delay="0"/>
                                  </p:stCondLst>
                                  <p:childTnLst>
                                    <p:set>
                                      <p:cBhvr>
                                        <p:cTn id="53" dur="400" fill="hold"/>
                                        <p:tgtEl>
                                          <p:spTgt spid="12"/>
                                        </p:tgtEl>
                                        <p:attrNameLst>
                                          <p:attrName>style.opacity</p:attrName>
                                        </p:attrNameLst>
                                      </p:cBhvr>
                                      <p:to>
                                        <p:strVal val="0.25"/>
                                      </p:to>
                                    </p:set>
                                    <p:animEffect filter="image" prLst="opacity: 0.25">
                                      <p:cBhvr rctx="IE">
                                        <p:cTn id="54" dur="400" fill="hold"/>
                                        <p:tgtEl>
                                          <p:spTgt spid="12"/>
                                        </p:tgtEl>
                                      </p:cBhvr>
                                    </p:animEffect>
                                  </p:childTnLst>
                                </p:cTn>
                              </p:par>
                              <p:par>
                                <p:cTn id="55" presetID="9" presetClass="emph" presetSubtype="0" fill="hold" grpId="0" nodeType="withEffect">
                                  <p:stCondLst>
                                    <p:cond delay="0"/>
                                  </p:stCondLst>
                                  <p:childTnLst>
                                    <p:set>
                                      <p:cBhvr>
                                        <p:cTn id="56" dur="400" fill="hold"/>
                                        <p:tgtEl>
                                          <p:spTgt spid="13"/>
                                        </p:tgtEl>
                                        <p:attrNameLst>
                                          <p:attrName>style.opacity</p:attrName>
                                        </p:attrNameLst>
                                      </p:cBhvr>
                                      <p:to>
                                        <p:strVal val="0.25"/>
                                      </p:to>
                                    </p:set>
                                    <p:animEffect filter="image" prLst="opacity: 0.25">
                                      <p:cBhvr rctx="IE">
                                        <p:cTn id="57" dur="400" fill="hold"/>
                                        <p:tgtEl>
                                          <p:spTgt spid="13"/>
                                        </p:tgtEl>
                                      </p:cBhvr>
                                    </p:animEffect>
                                  </p:childTnLst>
                                </p:cTn>
                              </p:par>
                              <p:par>
                                <p:cTn id="58" presetID="9" presetClass="emph" presetSubtype="0" fill="hold" grpId="0" nodeType="withEffect">
                                  <p:stCondLst>
                                    <p:cond delay="0"/>
                                  </p:stCondLst>
                                  <p:childTnLst>
                                    <p:set>
                                      <p:cBhvr>
                                        <p:cTn id="59" dur="400" fill="hold"/>
                                        <p:tgtEl>
                                          <p:spTgt spid="14"/>
                                        </p:tgtEl>
                                        <p:attrNameLst>
                                          <p:attrName>style.opacity</p:attrName>
                                        </p:attrNameLst>
                                      </p:cBhvr>
                                      <p:to>
                                        <p:strVal val="0.25"/>
                                      </p:to>
                                    </p:set>
                                    <p:animEffect filter="image" prLst="opacity: 0.25">
                                      <p:cBhvr rctx="IE">
                                        <p:cTn id="60" dur="400" fill="hold"/>
                                        <p:tgtEl>
                                          <p:spTgt spid="14"/>
                                        </p:tgtEl>
                                      </p:cBhvr>
                                    </p:animEffect>
                                  </p:childTnLst>
                                </p:cTn>
                              </p:par>
                              <p:par>
                                <p:cTn id="61" presetID="9" presetClass="emph" presetSubtype="0" fill="hold" grpId="0" nodeType="withEffect">
                                  <p:stCondLst>
                                    <p:cond delay="0"/>
                                  </p:stCondLst>
                                  <p:childTnLst>
                                    <p:set>
                                      <p:cBhvr>
                                        <p:cTn id="62" dur="400" fill="hold"/>
                                        <p:tgtEl>
                                          <p:spTgt spid="15"/>
                                        </p:tgtEl>
                                        <p:attrNameLst>
                                          <p:attrName>style.opacity</p:attrName>
                                        </p:attrNameLst>
                                      </p:cBhvr>
                                      <p:to>
                                        <p:strVal val="0.25"/>
                                      </p:to>
                                    </p:set>
                                    <p:animEffect filter="image" prLst="opacity: 0.25">
                                      <p:cBhvr rctx="IE">
                                        <p:cTn id="63" dur="400" fill="hold"/>
                                        <p:tgtEl>
                                          <p:spTgt spid="15"/>
                                        </p:tgtEl>
                                      </p:cBhvr>
                                    </p:animEffect>
                                  </p:childTnLst>
                                </p:cTn>
                              </p:par>
                              <p:par>
                                <p:cTn id="64" presetID="9" presetClass="emph" presetSubtype="0" fill="hold" grpId="0" nodeType="withEffect">
                                  <p:stCondLst>
                                    <p:cond delay="0"/>
                                  </p:stCondLst>
                                  <p:childTnLst>
                                    <p:set>
                                      <p:cBhvr>
                                        <p:cTn id="65" dur="400" fill="hold"/>
                                        <p:tgtEl>
                                          <p:spTgt spid="16"/>
                                        </p:tgtEl>
                                        <p:attrNameLst>
                                          <p:attrName>style.opacity</p:attrName>
                                        </p:attrNameLst>
                                      </p:cBhvr>
                                      <p:to>
                                        <p:strVal val="0.25"/>
                                      </p:to>
                                    </p:set>
                                    <p:animEffect filter="image" prLst="opacity: 0.25">
                                      <p:cBhvr rctx="IE">
                                        <p:cTn id="66" dur="400" fill="hold"/>
                                        <p:tgtEl>
                                          <p:spTgt spid="1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400"/>
                                        <p:tgtEl>
                                          <p:spTgt spid="2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400"/>
                                        <p:tgtEl>
                                          <p:spTgt spid="2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400"/>
                                        <p:tgtEl>
                                          <p:spTgt spid="2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400"/>
                                        <p:tgtEl>
                                          <p:spTgt spid="2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400"/>
                                        <p:tgtEl>
                                          <p:spTgt spid="26"/>
                                        </p:tgtEl>
                                      </p:cBhvr>
                                    </p:animEffect>
                                  </p:childTnLst>
                                </p:cTn>
                              </p:par>
                              <p:par>
                                <p:cTn id="84" presetID="9" presetClass="emph" presetSubtype="0" fill="hold" grpId="0" nodeType="withEffect">
                                  <p:stCondLst>
                                    <p:cond delay="0"/>
                                  </p:stCondLst>
                                  <p:childTnLst>
                                    <p:set>
                                      <p:cBhvr>
                                        <p:cTn id="85" dur="400" fill="hold"/>
                                        <p:tgtEl>
                                          <p:spTgt spid="17"/>
                                        </p:tgtEl>
                                        <p:attrNameLst>
                                          <p:attrName>style.opacity</p:attrName>
                                        </p:attrNameLst>
                                      </p:cBhvr>
                                      <p:to>
                                        <p:strVal val="0.25"/>
                                      </p:to>
                                    </p:set>
                                    <p:animEffect filter="image" prLst="opacity: 0.25">
                                      <p:cBhvr rctx="IE">
                                        <p:cTn id="86" dur="400" fill="hold"/>
                                        <p:tgtEl>
                                          <p:spTgt spid="17"/>
                                        </p:tgtEl>
                                      </p:cBhvr>
                                    </p:animEffect>
                                  </p:childTnLst>
                                </p:cTn>
                              </p:par>
                              <p:par>
                                <p:cTn id="87" presetID="9" presetClass="emph" presetSubtype="0" fill="hold" grpId="0" nodeType="withEffect">
                                  <p:stCondLst>
                                    <p:cond delay="0"/>
                                  </p:stCondLst>
                                  <p:childTnLst>
                                    <p:set>
                                      <p:cBhvr>
                                        <p:cTn id="88" dur="400" fill="hold"/>
                                        <p:tgtEl>
                                          <p:spTgt spid="18"/>
                                        </p:tgtEl>
                                        <p:attrNameLst>
                                          <p:attrName>style.opacity</p:attrName>
                                        </p:attrNameLst>
                                      </p:cBhvr>
                                      <p:to>
                                        <p:strVal val="0.25"/>
                                      </p:to>
                                    </p:set>
                                    <p:animEffect filter="image" prLst="opacity: 0.25">
                                      <p:cBhvr rctx="IE">
                                        <p:cTn id="89" dur="400" fill="hold"/>
                                        <p:tgtEl>
                                          <p:spTgt spid="18"/>
                                        </p:tgtEl>
                                      </p:cBhvr>
                                    </p:animEffect>
                                  </p:childTnLst>
                                </p:cTn>
                              </p:par>
                              <p:par>
                                <p:cTn id="90" presetID="9" presetClass="emph" presetSubtype="0" fill="hold" grpId="0" nodeType="withEffect">
                                  <p:stCondLst>
                                    <p:cond delay="0"/>
                                  </p:stCondLst>
                                  <p:childTnLst>
                                    <p:set>
                                      <p:cBhvr>
                                        <p:cTn id="91" dur="400" fill="hold"/>
                                        <p:tgtEl>
                                          <p:spTgt spid="19"/>
                                        </p:tgtEl>
                                        <p:attrNameLst>
                                          <p:attrName>style.opacity</p:attrName>
                                        </p:attrNameLst>
                                      </p:cBhvr>
                                      <p:to>
                                        <p:strVal val="0.25"/>
                                      </p:to>
                                    </p:set>
                                    <p:animEffect filter="image" prLst="opacity: 0.25">
                                      <p:cBhvr rctx="IE">
                                        <p:cTn id="92" dur="400" fill="hold"/>
                                        <p:tgtEl>
                                          <p:spTgt spid="19"/>
                                        </p:tgtEl>
                                      </p:cBhvr>
                                    </p:animEffect>
                                  </p:childTnLst>
                                </p:cTn>
                              </p:par>
                              <p:par>
                                <p:cTn id="93" presetID="9" presetClass="emph" presetSubtype="0" fill="hold" grpId="0" nodeType="withEffect">
                                  <p:stCondLst>
                                    <p:cond delay="0"/>
                                  </p:stCondLst>
                                  <p:childTnLst>
                                    <p:set>
                                      <p:cBhvr>
                                        <p:cTn id="94" dur="400" fill="hold"/>
                                        <p:tgtEl>
                                          <p:spTgt spid="20"/>
                                        </p:tgtEl>
                                        <p:attrNameLst>
                                          <p:attrName>style.opacity</p:attrName>
                                        </p:attrNameLst>
                                      </p:cBhvr>
                                      <p:to>
                                        <p:strVal val="0.25"/>
                                      </p:to>
                                    </p:set>
                                    <p:animEffect filter="image" prLst="opacity: 0.25">
                                      <p:cBhvr rctx="IE">
                                        <p:cTn id="95" dur="400" fill="hold"/>
                                        <p:tgtEl>
                                          <p:spTgt spid="20"/>
                                        </p:tgtEl>
                                      </p:cBhvr>
                                    </p:animEffect>
                                  </p:childTnLst>
                                </p:cTn>
                              </p:par>
                              <p:par>
                                <p:cTn id="96" presetID="9" presetClass="emph" presetSubtype="0" fill="hold" grpId="0" nodeType="withEffect">
                                  <p:stCondLst>
                                    <p:cond delay="0"/>
                                  </p:stCondLst>
                                  <p:childTnLst>
                                    <p:set>
                                      <p:cBhvr>
                                        <p:cTn id="97" dur="400" fill="hold"/>
                                        <p:tgtEl>
                                          <p:spTgt spid="21"/>
                                        </p:tgtEl>
                                        <p:attrNameLst>
                                          <p:attrName>style.opacity</p:attrName>
                                        </p:attrNameLst>
                                      </p:cBhvr>
                                      <p:to>
                                        <p:strVal val="0.25"/>
                                      </p:to>
                                    </p:set>
                                    <p:animEffect filter="image" prLst="opacity: 0.25">
                                      <p:cBhvr rctx="IE">
                                        <p:cTn id="98" dur="400" fill="hold"/>
                                        <p:tgtEl>
                                          <p:spTgt spid="21"/>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27"/>
                                        </p:tgtEl>
                                        <p:attrNameLst>
                                          <p:attrName>style.visibility</p:attrName>
                                        </p:attrNameLst>
                                      </p:cBhvr>
                                      <p:to>
                                        <p:strVal val="visible"/>
                                      </p:to>
                                    </p:set>
                                    <p:animEffect transition="in" filter="fade">
                                      <p:cBhvr>
                                        <p:cTn id="103" dur="400"/>
                                        <p:tgtEl>
                                          <p:spTgt spid="2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400"/>
                                        <p:tgtEl>
                                          <p:spTgt spid="2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29"/>
                                        </p:tgtEl>
                                        <p:attrNameLst>
                                          <p:attrName>style.visibility</p:attrName>
                                        </p:attrNameLst>
                                      </p:cBhvr>
                                      <p:to>
                                        <p:strVal val="visible"/>
                                      </p:to>
                                    </p:set>
                                    <p:animEffect transition="in" filter="fade">
                                      <p:cBhvr>
                                        <p:cTn id="109" dur="400"/>
                                        <p:tgtEl>
                                          <p:spTgt spid="2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0"/>
                                        </p:tgtEl>
                                        <p:attrNameLst>
                                          <p:attrName>style.visibility</p:attrName>
                                        </p:attrNameLst>
                                      </p:cBhvr>
                                      <p:to>
                                        <p:strVal val="visible"/>
                                      </p:to>
                                    </p:set>
                                    <p:animEffect transition="in" filter="fade">
                                      <p:cBhvr>
                                        <p:cTn id="112" dur="400"/>
                                        <p:tgtEl>
                                          <p:spTgt spid="3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1"/>
                                        </p:tgtEl>
                                        <p:attrNameLst>
                                          <p:attrName>style.visibility</p:attrName>
                                        </p:attrNameLst>
                                      </p:cBhvr>
                                      <p:to>
                                        <p:strVal val="visible"/>
                                      </p:to>
                                    </p:set>
                                    <p:animEffect transition="in" filter="fade">
                                      <p:cBhvr>
                                        <p:cTn id="115" dur="400"/>
                                        <p:tgtEl>
                                          <p:spTgt spid="31"/>
                                        </p:tgtEl>
                                      </p:cBhvr>
                                    </p:animEffect>
                                  </p:childTnLst>
                                </p:cTn>
                              </p:par>
                              <p:par>
                                <p:cTn id="116" presetID="9" presetClass="emph" presetSubtype="0" fill="hold" grpId="0" nodeType="withEffect">
                                  <p:stCondLst>
                                    <p:cond delay="0"/>
                                  </p:stCondLst>
                                  <p:childTnLst>
                                    <p:set>
                                      <p:cBhvr>
                                        <p:cTn id="117" dur="400" fill="hold"/>
                                        <p:tgtEl>
                                          <p:spTgt spid="22"/>
                                        </p:tgtEl>
                                        <p:attrNameLst>
                                          <p:attrName>style.opacity</p:attrName>
                                        </p:attrNameLst>
                                      </p:cBhvr>
                                      <p:to>
                                        <p:strVal val="0.25"/>
                                      </p:to>
                                    </p:set>
                                    <p:animEffect filter="image" prLst="opacity: 0.25">
                                      <p:cBhvr rctx="IE">
                                        <p:cTn id="118" dur="400" fill="hold"/>
                                        <p:tgtEl>
                                          <p:spTgt spid="22"/>
                                        </p:tgtEl>
                                      </p:cBhvr>
                                    </p:animEffect>
                                  </p:childTnLst>
                                </p:cTn>
                              </p:par>
                              <p:par>
                                <p:cTn id="119" presetID="9" presetClass="emph" presetSubtype="0" fill="hold" grpId="0" nodeType="withEffect">
                                  <p:stCondLst>
                                    <p:cond delay="0"/>
                                  </p:stCondLst>
                                  <p:childTnLst>
                                    <p:set>
                                      <p:cBhvr>
                                        <p:cTn id="120" dur="400" fill="hold"/>
                                        <p:tgtEl>
                                          <p:spTgt spid="23"/>
                                        </p:tgtEl>
                                        <p:attrNameLst>
                                          <p:attrName>style.opacity</p:attrName>
                                        </p:attrNameLst>
                                      </p:cBhvr>
                                      <p:to>
                                        <p:strVal val="0.25"/>
                                      </p:to>
                                    </p:set>
                                    <p:animEffect filter="image" prLst="opacity: 0.25">
                                      <p:cBhvr rctx="IE">
                                        <p:cTn id="121" dur="400" fill="hold"/>
                                        <p:tgtEl>
                                          <p:spTgt spid="23"/>
                                        </p:tgtEl>
                                      </p:cBhvr>
                                    </p:animEffect>
                                  </p:childTnLst>
                                </p:cTn>
                              </p:par>
                              <p:par>
                                <p:cTn id="122" presetID="9" presetClass="emph" presetSubtype="0" fill="hold" grpId="0" nodeType="withEffect">
                                  <p:stCondLst>
                                    <p:cond delay="0"/>
                                  </p:stCondLst>
                                  <p:childTnLst>
                                    <p:set>
                                      <p:cBhvr>
                                        <p:cTn id="123" dur="400" fill="hold"/>
                                        <p:tgtEl>
                                          <p:spTgt spid="24"/>
                                        </p:tgtEl>
                                        <p:attrNameLst>
                                          <p:attrName>style.opacity</p:attrName>
                                        </p:attrNameLst>
                                      </p:cBhvr>
                                      <p:to>
                                        <p:strVal val="0.25"/>
                                      </p:to>
                                    </p:set>
                                    <p:animEffect filter="image" prLst="opacity: 0.25">
                                      <p:cBhvr rctx="IE">
                                        <p:cTn id="124" dur="400" fill="hold"/>
                                        <p:tgtEl>
                                          <p:spTgt spid="24"/>
                                        </p:tgtEl>
                                      </p:cBhvr>
                                    </p:animEffect>
                                  </p:childTnLst>
                                </p:cTn>
                              </p:par>
                              <p:par>
                                <p:cTn id="125" presetID="9" presetClass="emph" presetSubtype="0" fill="hold" grpId="0" nodeType="withEffect">
                                  <p:stCondLst>
                                    <p:cond delay="0"/>
                                  </p:stCondLst>
                                  <p:childTnLst>
                                    <p:set>
                                      <p:cBhvr>
                                        <p:cTn id="126" dur="400" fill="hold"/>
                                        <p:tgtEl>
                                          <p:spTgt spid="25"/>
                                        </p:tgtEl>
                                        <p:attrNameLst>
                                          <p:attrName>style.opacity</p:attrName>
                                        </p:attrNameLst>
                                      </p:cBhvr>
                                      <p:to>
                                        <p:strVal val="0.25"/>
                                      </p:to>
                                    </p:set>
                                    <p:animEffect filter="image" prLst="opacity: 0.25">
                                      <p:cBhvr rctx="IE">
                                        <p:cTn id="127" dur="400" fill="hold"/>
                                        <p:tgtEl>
                                          <p:spTgt spid="25"/>
                                        </p:tgtEl>
                                      </p:cBhvr>
                                    </p:animEffect>
                                  </p:childTnLst>
                                </p:cTn>
                              </p:par>
                              <p:par>
                                <p:cTn id="128" presetID="9" presetClass="emph" presetSubtype="0" fill="hold" grpId="0" nodeType="withEffect">
                                  <p:stCondLst>
                                    <p:cond delay="0"/>
                                  </p:stCondLst>
                                  <p:childTnLst>
                                    <p:set>
                                      <p:cBhvr>
                                        <p:cTn id="129" dur="400" fill="hold"/>
                                        <p:tgtEl>
                                          <p:spTgt spid="26"/>
                                        </p:tgtEl>
                                        <p:attrNameLst>
                                          <p:attrName>style.opacity</p:attrName>
                                        </p:attrNameLst>
                                      </p:cBhvr>
                                      <p:to>
                                        <p:strVal val="0.25"/>
                                      </p:to>
                                    </p:set>
                                    <p:animEffect filter="image" prLst="opacity: 0.25">
                                      <p:cBhvr rctx="IE">
                                        <p:cTn id="130" dur="400" fill="hold"/>
                                        <p:tgtEl>
                                          <p:spTgt spid="26"/>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32"/>
                                        </p:tgtEl>
                                        <p:attrNameLst>
                                          <p:attrName>style.visibility</p:attrName>
                                        </p:attrNameLst>
                                      </p:cBhvr>
                                      <p:to>
                                        <p:strVal val="visible"/>
                                      </p:to>
                                    </p:set>
                                    <p:animEffect transition="in" filter="fade">
                                      <p:cBhvr>
                                        <p:cTn id="135" dur="400"/>
                                        <p:tgtEl>
                                          <p:spTgt spid="32"/>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33"/>
                                        </p:tgtEl>
                                        <p:attrNameLst>
                                          <p:attrName>style.visibility</p:attrName>
                                        </p:attrNameLst>
                                      </p:cBhvr>
                                      <p:to>
                                        <p:strVal val="visible"/>
                                      </p:to>
                                    </p:set>
                                    <p:animEffect transition="in" filter="fade">
                                      <p:cBhvr>
                                        <p:cTn id="138" dur="400"/>
                                        <p:tgtEl>
                                          <p:spTgt spid="33"/>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34"/>
                                        </p:tgtEl>
                                        <p:attrNameLst>
                                          <p:attrName>style.visibility</p:attrName>
                                        </p:attrNameLst>
                                      </p:cBhvr>
                                      <p:to>
                                        <p:strVal val="visible"/>
                                      </p:to>
                                    </p:set>
                                    <p:animEffect transition="in" filter="fade">
                                      <p:cBhvr>
                                        <p:cTn id="141" dur="400"/>
                                        <p:tgtEl>
                                          <p:spTgt spid="34"/>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35"/>
                                        </p:tgtEl>
                                        <p:attrNameLst>
                                          <p:attrName>style.visibility</p:attrName>
                                        </p:attrNameLst>
                                      </p:cBhvr>
                                      <p:to>
                                        <p:strVal val="visible"/>
                                      </p:to>
                                    </p:set>
                                    <p:animEffect transition="in" filter="fade">
                                      <p:cBhvr>
                                        <p:cTn id="144" dur="400"/>
                                        <p:tgtEl>
                                          <p:spTgt spid="35"/>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400"/>
                                        <p:tgtEl>
                                          <p:spTgt spid="36"/>
                                        </p:tgtEl>
                                      </p:cBhvr>
                                    </p:animEffect>
                                  </p:childTnLst>
                                </p:cTn>
                              </p:par>
                              <p:par>
                                <p:cTn id="148" presetID="9" presetClass="emph" presetSubtype="0" fill="hold" grpId="0" nodeType="withEffect">
                                  <p:stCondLst>
                                    <p:cond delay="0"/>
                                  </p:stCondLst>
                                  <p:childTnLst>
                                    <p:set>
                                      <p:cBhvr>
                                        <p:cTn id="149" dur="400" fill="hold"/>
                                        <p:tgtEl>
                                          <p:spTgt spid="27"/>
                                        </p:tgtEl>
                                        <p:attrNameLst>
                                          <p:attrName>style.opacity</p:attrName>
                                        </p:attrNameLst>
                                      </p:cBhvr>
                                      <p:to>
                                        <p:strVal val="0.25"/>
                                      </p:to>
                                    </p:set>
                                    <p:animEffect filter="image" prLst="opacity: 0.25">
                                      <p:cBhvr rctx="IE">
                                        <p:cTn id="150" dur="400" fill="hold"/>
                                        <p:tgtEl>
                                          <p:spTgt spid="27"/>
                                        </p:tgtEl>
                                      </p:cBhvr>
                                    </p:animEffect>
                                  </p:childTnLst>
                                </p:cTn>
                              </p:par>
                              <p:par>
                                <p:cTn id="151" presetID="9" presetClass="emph" presetSubtype="0" fill="hold" grpId="0" nodeType="withEffect">
                                  <p:stCondLst>
                                    <p:cond delay="0"/>
                                  </p:stCondLst>
                                  <p:childTnLst>
                                    <p:set>
                                      <p:cBhvr>
                                        <p:cTn id="152" dur="400" fill="hold"/>
                                        <p:tgtEl>
                                          <p:spTgt spid="28"/>
                                        </p:tgtEl>
                                        <p:attrNameLst>
                                          <p:attrName>style.opacity</p:attrName>
                                        </p:attrNameLst>
                                      </p:cBhvr>
                                      <p:to>
                                        <p:strVal val="0.25"/>
                                      </p:to>
                                    </p:set>
                                    <p:animEffect filter="image" prLst="opacity: 0.25">
                                      <p:cBhvr rctx="IE">
                                        <p:cTn id="153" dur="400" fill="hold"/>
                                        <p:tgtEl>
                                          <p:spTgt spid="28"/>
                                        </p:tgtEl>
                                      </p:cBhvr>
                                    </p:animEffect>
                                  </p:childTnLst>
                                </p:cTn>
                              </p:par>
                              <p:par>
                                <p:cTn id="154" presetID="9" presetClass="emph" presetSubtype="0" fill="hold" grpId="0" nodeType="withEffect">
                                  <p:stCondLst>
                                    <p:cond delay="0"/>
                                  </p:stCondLst>
                                  <p:childTnLst>
                                    <p:set>
                                      <p:cBhvr>
                                        <p:cTn id="155" dur="400" fill="hold"/>
                                        <p:tgtEl>
                                          <p:spTgt spid="29"/>
                                        </p:tgtEl>
                                        <p:attrNameLst>
                                          <p:attrName>style.opacity</p:attrName>
                                        </p:attrNameLst>
                                      </p:cBhvr>
                                      <p:to>
                                        <p:strVal val="0.25"/>
                                      </p:to>
                                    </p:set>
                                    <p:animEffect filter="image" prLst="opacity: 0.25">
                                      <p:cBhvr rctx="IE">
                                        <p:cTn id="156" dur="400" fill="hold"/>
                                        <p:tgtEl>
                                          <p:spTgt spid="29"/>
                                        </p:tgtEl>
                                      </p:cBhvr>
                                    </p:animEffect>
                                  </p:childTnLst>
                                </p:cTn>
                              </p:par>
                              <p:par>
                                <p:cTn id="157" presetID="9" presetClass="emph" presetSubtype="0" fill="hold" grpId="0" nodeType="withEffect">
                                  <p:stCondLst>
                                    <p:cond delay="0"/>
                                  </p:stCondLst>
                                  <p:childTnLst>
                                    <p:set>
                                      <p:cBhvr>
                                        <p:cTn id="158" dur="400" fill="hold"/>
                                        <p:tgtEl>
                                          <p:spTgt spid="30"/>
                                        </p:tgtEl>
                                        <p:attrNameLst>
                                          <p:attrName>style.opacity</p:attrName>
                                        </p:attrNameLst>
                                      </p:cBhvr>
                                      <p:to>
                                        <p:strVal val="0.25"/>
                                      </p:to>
                                    </p:set>
                                    <p:animEffect filter="image" prLst="opacity: 0.25">
                                      <p:cBhvr rctx="IE">
                                        <p:cTn id="159" dur="400" fill="hold"/>
                                        <p:tgtEl>
                                          <p:spTgt spid="30"/>
                                        </p:tgtEl>
                                      </p:cBhvr>
                                    </p:animEffect>
                                  </p:childTnLst>
                                </p:cTn>
                              </p:par>
                              <p:par>
                                <p:cTn id="160" presetID="9" presetClass="emph" presetSubtype="0" fill="hold" grpId="0" nodeType="withEffect">
                                  <p:stCondLst>
                                    <p:cond delay="0"/>
                                  </p:stCondLst>
                                  <p:childTnLst>
                                    <p:set>
                                      <p:cBhvr>
                                        <p:cTn id="161" dur="400" fill="hold"/>
                                        <p:tgtEl>
                                          <p:spTgt spid="31"/>
                                        </p:tgtEl>
                                        <p:attrNameLst>
                                          <p:attrName>style.opacity</p:attrName>
                                        </p:attrNameLst>
                                      </p:cBhvr>
                                      <p:to>
                                        <p:strVal val="0.25"/>
                                      </p:to>
                                    </p:set>
                                    <p:animEffect filter="image" prLst="opacity: 0.25">
                                      <p:cBhvr rctx="IE">
                                        <p:cTn id="162" dur="400" fill="hold"/>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Why developers and security pros live in Linux</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a:t>
            </a:r>
            <a:endParaRPr lang="en-US" sz="1000" dirty="0"/>
          </a:p>
        </p:txBody>
      </p:sp>
      <p:sp>
        <p:nvSpPr>
          <p:cNvPr id="6" name="Shape 3"/>
          <p:cNvSpPr/>
          <p:nvPr/>
        </p:nvSpPr>
        <p:spPr>
          <a:xfrm>
            <a:off x="548640" y="1554480"/>
            <a:ext cx="3931920" cy="2011680"/>
          </a:xfrm>
          <a:prstGeom prst="roundRect">
            <a:avLst>
              <a:gd name="adj" fmla="val 4545"/>
            </a:avLst>
          </a:prstGeom>
          <a:solidFill>
            <a:srgbClr val="0E1726"/>
          </a:solidFill>
          <a:ln/>
        </p:spPr>
        <p:txBody>
          <a:bodyPr/>
          <a:lstStyle/>
          <a:p>
            <a:endParaRPr lang="en-US"/>
          </a:p>
        </p:txBody>
      </p:sp>
      <p:sp>
        <p:nvSpPr>
          <p:cNvPr id="7" name="Text 4"/>
          <p:cNvSpPr txBox="1"/>
          <p:nvPr/>
        </p:nvSpPr>
        <p:spPr>
          <a:xfrm>
            <a:off x="868680" y="1691640"/>
            <a:ext cx="3291840" cy="822960"/>
          </a:xfrm>
          <a:prstGeom prst="rect">
            <a:avLst/>
          </a:prstGeom>
          <a:noFill/>
          <a:ln/>
        </p:spPr>
        <p:txBody>
          <a:bodyPr wrap="square" lIns="0" tIns="0" rIns="0" bIns="0" rtlCol="0" anchor="ctr"/>
          <a:lstStyle/>
          <a:p>
            <a:pPr marL="0" indent="0">
              <a:buNone/>
            </a:pPr>
            <a:r>
              <a:rPr lang="en-US" sz="4400" b="1" dirty="0">
                <a:solidFill>
                  <a:srgbClr val="46D39A"/>
                </a:solidFill>
                <a:latin typeface="Arial" pitchFamily="34" charset="0"/>
                <a:ea typeface="Arial" pitchFamily="34" charset="-122"/>
                <a:cs typeface="Arial" pitchFamily="34" charset="-120"/>
              </a:rPr>
              <a:t>500 / 500</a:t>
            </a:r>
            <a:endParaRPr lang="en-US" sz="4400" dirty="0"/>
          </a:p>
        </p:txBody>
      </p:sp>
      <p:sp>
        <p:nvSpPr>
          <p:cNvPr id="8" name="Text 5"/>
          <p:cNvSpPr txBox="1"/>
          <p:nvPr/>
        </p:nvSpPr>
        <p:spPr>
          <a:xfrm>
            <a:off x="868680" y="2560320"/>
            <a:ext cx="3291840" cy="82296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of the world's fastest supercomputers run Linux (TOP500, since 2017).</a:t>
            </a:r>
            <a:endParaRPr lang="en-US" sz="1500" dirty="0"/>
          </a:p>
        </p:txBody>
      </p:sp>
      <p:sp>
        <p:nvSpPr>
          <p:cNvPr id="9" name="Shape 6"/>
          <p:cNvSpPr/>
          <p:nvPr/>
        </p:nvSpPr>
        <p:spPr>
          <a:xfrm>
            <a:off x="548640" y="3749040"/>
            <a:ext cx="3931920" cy="2011680"/>
          </a:xfrm>
          <a:prstGeom prst="roundRect">
            <a:avLst>
              <a:gd name="adj" fmla="val 4545"/>
            </a:avLst>
          </a:prstGeom>
          <a:solidFill>
            <a:srgbClr val="0E1726"/>
          </a:solidFill>
          <a:ln/>
        </p:spPr>
        <p:txBody>
          <a:bodyPr/>
          <a:lstStyle/>
          <a:p>
            <a:endParaRPr lang="en-US"/>
          </a:p>
        </p:txBody>
      </p:sp>
      <p:sp>
        <p:nvSpPr>
          <p:cNvPr id="10" name="Text 7"/>
          <p:cNvSpPr txBox="1"/>
          <p:nvPr/>
        </p:nvSpPr>
        <p:spPr>
          <a:xfrm>
            <a:off x="868680" y="3886200"/>
            <a:ext cx="3291840" cy="822960"/>
          </a:xfrm>
          <a:prstGeom prst="rect">
            <a:avLst/>
          </a:prstGeom>
          <a:noFill/>
          <a:ln/>
        </p:spPr>
        <p:txBody>
          <a:bodyPr wrap="square" lIns="0" tIns="0" rIns="0" bIns="0" rtlCol="0" anchor="ctr"/>
          <a:lstStyle/>
          <a:p>
            <a:pPr marL="0" indent="0">
              <a:buNone/>
            </a:pPr>
            <a:r>
              <a:rPr lang="en-US" sz="4400" b="1" dirty="0">
                <a:solidFill>
                  <a:srgbClr val="F5A623"/>
                </a:solidFill>
                <a:latin typeface="Arial" pitchFamily="34" charset="0"/>
                <a:ea typeface="Arial" pitchFamily="34" charset="-122"/>
                <a:cs typeface="Arial" pitchFamily="34" charset="-120"/>
              </a:rPr>
              <a:t>28%</a:t>
            </a:r>
            <a:endParaRPr lang="en-US" sz="4400" dirty="0"/>
          </a:p>
        </p:txBody>
      </p:sp>
      <p:sp>
        <p:nvSpPr>
          <p:cNvPr id="11" name="Text 8"/>
          <p:cNvSpPr txBox="1"/>
          <p:nvPr/>
        </p:nvSpPr>
        <p:spPr>
          <a:xfrm>
            <a:off x="868680" y="4754880"/>
            <a:ext cx="3291840" cy="82296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of developers use Ubuntu, just one Linux, for personal work (Stack Overflow 2025 survey).</a:t>
            </a:r>
            <a:endParaRPr lang="en-US" sz="1500" dirty="0"/>
          </a:p>
        </p:txBody>
      </p:sp>
      <p:sp>
        <p:nvSpPr>
          <p:cNvPr id="12" name="Shape 9"/>
          <p:cNvSpPr/>
          <p:nvPr/>
        </p:nvSpPr>
        <p:spPr>
          <a:xfrm>
            <a:off x="5029200" y="1600200"/>
            <a:ext cx="822960" cy="822960"/>
          </a:xfrm>
          <a:prstGeom prst="ellipse">
            <a:avLst/>
          </a:prstGeom>
          <a:solidFill>
            <a:srgbClr val="2459D8"/>
          </a:solidFill>
          <a:ln/>
        </p:spPr>
        <p:txBody>
          <a:bodyPr/>
          <a:lstStyle/>
          <a:p>
            <a:endParaRPr lang="en-US"/>
          </a:p>
        </p:txBody>
      </p:sp>
      <p:pic>
        <p:nvPicPr>
          <p:cNvPr id="13" name="Image 0" descr="preencoded.png"/>
          <p:cNvPicPr>
            <a:picLocks noChangeAspect="1"/>
          </p:cNvPicPr>
          <p:nvPr/>
        </p:nvPicPr>
        <p:blipFill>
          <a:blip r:embed="rId3"/>
          <a:stretch>
            <a:fillRect/>
          </a:stretch>
        </p:blipFill>
        <p:spPr>
          <a:xfrm>
            <a:off x="5234940" y="1805940"/>
            <a:ext cx="411480" cy="411480"/>
          </a:xfrm>
          <a:prstGeom prst="rect">
            <a:avLst/>
          </a:prstGeom>
        </p:spPr>
      </p:pic>
      <p:sp>
        <p:nvSpPr>
          <p:cNvPr id="14" name="Text 10"/>
          <p:cNvSpPr txBox="1"/>
          <p:nvPr/>
        </p:nvSpPr>
        <p:spPr>
          <a:xfrm>
            <a:off x="6126480" y="1581912"/>
            <a:ext cx="5486400" cy="411480"/>
          </a:xfrm>
          <a:prstGeom prst="rect">
            <a:avLst/>
          </a:prstGeom>
          <a:noFill/>
          <a:ln/>
        </p:spPr>
        <p:txBody>
          <a:bodyPr wrap="square" lIns="0" tIns="0" rIns="0" bIns="0" rtlCol="0" anchor="t"/>
          <a:lstStyle/>
          <a:p>
            <a:pPr marL="0" indent="0">
              <a:buNone/>
            </a:pPr>
            <a:r>
              <a:rPr lang="en-US" sz="2200" b="1" dirty="0">
                <a:solidFill>
                  <a:srgbClr val="12213A"/>
                </a:solidFill>
                <a:latin typeface="Calibri" pitchFamily="34" charset="0"/>
                <a:ea typeface="Calibri" pitchFamily="34" charset="-122"/>
                <a:cs typeface="Calibri" pitchFamily="34" charset="-120"/>
              </a:rPr>
              <a:t>Developers</a:t>
            </a:r>
            <a:endParaRPr lang="en-US" sz="2200" dirty="0"/>
          </a:p>
        </p:txBody>
      </p:sp>
      <p:sp>
        <p:nvSpPr>
          <p:cNvPr id="15" name="Text 11"/>
          <p:cNvSpPr txBox="1"/>
          <p:nvPr/>
        </p:nvSpPr>
        <p:spPr>
          <a:xfrm>
            <a:off x="6126480" y="2011680"/>
            <a:ext cx="539496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Servers, the cloud and containers run Linux, so code is built, tested and shipped there. Git was written for the Linux kernel.</a:t>
            </a:r>
            <a:endParaRPr lang="en-US" sz="1600" dirty="0"/>
          </a:p>
        </p:txBody>
      </p:sp>
      <p:sp>
        <p:nvSpPr>
          <p:cNvPr id="16" name="Shape 12"/>
          <p:cNvSpPr/>
          <p:nvPr/>
        </p:nvSpPr>
        <p:spPr>
          <a:xfrm>
            <a:off x="5029200" y="3017520"/>
            <a:ext cx="822960" cy="822960"/>
          </a:xfrm>
          <a:prstGeom prst="ellipse">
            <a:avLst/>
          </a:prstGeom>
          <a:solidFill>
            <a:srgbClr val="D1416B"/>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5234940" y="3223260"/>
            <a:ext cx="411480" cy="411480"/>
          </a:xfrm>
          <a:prstGeom prst="rect">
            <a:avLst/>
          </a:prstGeom>
        </p:spPr>
      </p:pic>
      <p:sp>
        <p:nvSpPr>
          <p:cNvPr id="18" name="Text 13"/>
          <p:cNvSpPr txBox="1"/>
          <p:nvPr/>
        </p:nvSpPr>
        <p:spPr>
          <a:xfrm>
            <a:off x="6126480" y="2999232"/>
            <a:ext cx="5486400" cy="411480"/>
          </a:xfrm>
          <a:prstGeom prst="rect">
            <a:avLst/>
          </a:prstGeom>
          <a:noFill/>
          <a:ln/>
        </p:spPr>
        <p:txBody>
          <a:bodyPr wrap="square" lIns="0" tIns="0" rIns="0" bIns="0" rtlCol="0" anchor="t"/>
          <a:lstStyle/>
          <a:p>
            <a:pPr marL="0" indent="0">
              <a:buNone/>
            </a:pPr>
            <a:r>
              <a:rPr lang="en-US" sz="2200" b="1" dirty="0">
                <a:solidFill>
                  <a:srgbClr val="12213A"/>
                </a:solidFill>
                <a:latin typeface="Calibri" pitchFamily="34" charset="0"/>
                <a:ea typeface="Calibri" pitchFamily="34" charset="-122"/>
                <a:cs typeface="Calibri" pitchFamily="34" charset="-120"/>
              </a:rPr>
              <a:t>Security analysts</a:t>
            </a:r>
            <a:endParaRPr lang="en-US" sz="2200" dirty="0"/>
          </a:p>
        </p:txBody>
      </p:sp>
      <p:sp>
        <p:nvSpPr>
          <p:cNvPr id="19" name="Text 14"/>
          <p:cNvSpPr txBox="1"/>
          <p:nvPr/>
        </p:nvSpPr>
        <p:spPr>
          <a:xfrm>
            <a:off x="6126480" y="3429000"/>
            <a:ext cx="539496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Logs, servers and investigations live on Linux. Most security tools are made for it first.</a:t>
            </a:r>
            <a:endParaRPr lang="en-US" sz="1600" dirty="0"/>
          </a:p>
        </p:txBody>
      </p:sp>
      <p:sp>
        <p:nvSpPr>
          <p:cNvPr id="20" name="Shape 15"/>
          <p:cNvSpPr/>
          <p:nvPr/>
        </p:nvSpPr>
        <p:spPr>
          <a:xfrm>
            <a:off x="5029200" y="4434840"/>
            <a:ext cx="822960" cy="822960"/>
          </a:xfrm>
          <a:prstGeom prst="ellipse">
            <a:avLst/>
          </a:prstGeom>
          <a:solidFill>
            <a:srgbClr val="7448D4"/>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5234940" y="4640580"/>
            <a:ext cx="411480" cy="411480"/>
          </a:xfrm>
          <a:prstGeom prst="rect">
            <a:avLst/>
          </a:prstGeom>
        </p:spPr>
      </p:pic>
      <p:sp>
        <p:nvSpPr>
          <p:cNvPr id="22" name="Text 16"/>
          <p:cNvSpPr txBox="1"/>
          <p:nvPr/>
        </p:nvSpPr>
        <p:spPr>
          <a:xfrm>
            <a:off x="6126480" y="4416552"/>
            <a:ext cx="5486400" cy="411480"/>
          </a:xfrm>
          <a:prstGeom prst="rect">
            <a:avLst/>
          </a:prstGeom>
          <a:noFill/>
          <a:ln/>
        </p:spPr>
        <p:txBody>
          <a:bodyPr wrap="square" lIns="0" tIns="0" rIns="0" bIns="0" rtlCol="0" anchor="t"/>
          <a:lstStyle/>
          <a:p>
            <a:pPr marL="0" indent="0">
              <a:buNone/>
            </a:pPr>
            <a:r>
              <a:rPr lang="en-US" sz="2200" b="1" dirty="0">
                <a:solidFill>
                  <a:srgbClr val="12213A"/>
                </a:solidFill>
                <a:latin typeface="Calibri" pitchFamily="34" charset="0"/>
                <a:ea typeface="Calibri" pitchFamily="34" charset="-122"/>
                <a:cs typeface="Calibri" pitchFamily="34" charset="-120"/>
              </a:rPr>
              <a:t>Ethical hackers</a:t>
            </a:r>
            <a:endParaRPr lang="en-US" sz="2200" dirty="0"/>
          </a:p>
        </p:txBody>
      </p:sp>
      <p:sp>
        <p:nvSpPr>
          <p:cNvPr id="23" name="Text 17"/>
          <p:cNvSpPr txBox="1"/>
          <p:nvPr/>
        </p:nvSpPr>
        <p:spPr>
          <a:xfrm>
            <a:off x="6126480" y="4846320"/>
            <a:ext cx="539496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Kali Linux ships with hundreds of testing tools. CTFs like today's are played on Linux.</a:t>
            </a:r>
            <a:endParaRPr lang="en-US" sz="16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It's in your pocket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548640" y="1554480"/>
            <a:ext cx="3931920" cy="4206240"/>
          </a:xfrm>
          <a:prstGeom prst="roundRect">
            <a:avLst>
              <a:gd name="adj" fmla="val 2326"/>
            </a:avLst>
          </a:prstGeom>
          <a:solidFill>
            <a:srgbClr val="0E1726"/>
          </a:solidFill>
          <a:ln/>
        </p:spPr>
        <p:txBody>
          <a:bodyPr/>
          <a:lstStyle/>
          <a:p>
            <a:endParaRPr lang="en-US"/>
          </a:p>
        </p:txBody>
      </p:sp>
      <p:sp>
        <p:nvSpPr>
          <p:cNvPr id="7" name="Text 4"/>
          <p:cNvSpPr txBox="1"/>
          <p:nvPr/>
        </p:nvSpPr>
        <p:spPr>
          <a:xfrm>
            <a:off x="868680" y="1828800"/>
            <a:ext cx="3291840" cy="1188720"/>
          </a:xfrm>
          <a:prstGeom prst="rect">
            <a:avLst/>
          </a:prstGeom>
          <a:noFill/>
          <a:ln/>
        </p:spPr>
        <p:txBody>
          <a:bodyPr wrap="square" lIns="0" tIns="0" rIns="0" bIns="0" rtlCol="0" anchor="ctr"/>
          <a:lstStyle/>
          <a:p>
            <a:pPr marL="0" indent="0">
              <a:buNone/>
            </a:pPr>
            <a:r>
              <a:rPr lang="en-US" sz="7200" b="1" dirty="0">
                <a:solidFill>
                  <a:srgbClr val="46D39A"/>
                </a:solidFill>
                <a:latin typeface="Arial" pitchFamily="34" charset="0"/>
                <a:ea typeface="Arial" pitchFamily="34" charset="-122"/>
                <a:cs typeface="Arial" pitchFamily="34" charset="-120"/>
              </a:rPr>
              <a:t>69%</a:t>
            </a:r>
            <a:endParaRPr lang="en-US" sz="7200" dirty="0"/>
          </a:p>
        </p:txBody>
      </p:sp>
      <p:sp>
        <p:nvSpPr>
          <p:cNvPr id="8" name="Text 5"/>
          <p:cNvSpPr txBox="1"/>
          <p:nvPr/>
        </p:nvSpPr>
        <p:spPr>
          <a:xfrm>
            <a:off x="868680" y="3108960"/>
            <a:ext cx="3291840" cy="109728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of the world's phones run Android, which is built on the Linux kernel.</a:t>
            </a:r>
            <a:endParaRPr lang="en-US" sz="2000" dirty="0"/>
          </a:p>
        </p:txBody>
      </p:sp>
      <p:sp>
        <p:nvSpPr>
          <p:cNvPr id="9" name="Text 6"/>
          <p:cNvSpPr txBox="1"/>
          <p:nvPr/>
        </p:nvSpPr>
        <p:spPr>
          <a:xfrm>
            <a:off x="868680" y="5120640"/>
            <a:ext cx="3291840" cy="457200"/>
          </a:xfrm>
          <a:prstGeom prst="rect">
            <a:avLst/>
          </a:prstGeom>
          <a:noFill/>
          <a:ln/>
        </p:spPr>
        <p:txBody>
          <a:bodyPr wrap="square" lIns="0" tIns="0" rIns="0" bIns="0" rtlCol="0" anchor="t"/>
          <a:lstStyle/>
          <a:p>
            <a:pPr marL="0" indent="0">
              <a:buNone/>
            </a:pPr>
            <a:r>
              <a:rPr lang="en-US" sz="1200" dirty="0">
                <a:solidFill>
                  <a:srgbClr val="7F8FAD"/>
                </a:solidFill>
                <a:latin typeface="Calibri" pitchFamily="34" charset="0"/>
                <a:ea typeface="Calibri" pitchFamily="34" charset="-122"/>
                <a:cs typeface="Calibri" pitchFamily="34" charset="-120"/>
              </a:rPr>
              <a:t>StatCounter, worldwide mobile OS share, September 2026</a:t>
            </a:r>
            <a:endParaRPr lang="en-US" sz="1200" dirty="0"/>
          </a:p>
        </p:txBody>
      </p:sp>
      <p:sp>
        <p:nvSpPr>
          <p:cNvPr id="10" name="Shape 7"/>
          <p:cNvSpPr/>
          <p:nvPr/>
        </p:nvSpPr>
        <p:spPr>
          <a:xfrm>
            <a:off x="4846320" y="1600200"/>
            <a:ext cx="1600200" cy="1645920"/>
          </a:xfrm>
          <a:prstGeom prst="roundRect">
            <a:avLst>
              <a:gd name="adj" fmla="val 5714"/>
            </a:avLst>
          </a:prstGeom>
          <a:solidFill>
            <a:srgbClr val="F1F5FB"/>
          </a:solidFill>
          <a:ln/>
        </p:spPr>
        <p:txBody>
          <a:bodyPr/>
          <a:lstStyle/>
          <a:p>
            <a:endParaRPr lang="en-US"/>
          </a:p>
        </p:txBody>
      </p:sp>
      <p:sp>
        <p:nvSpPr>
          <p:cNvPr id="11" name="Shape 8"/>
          <p:cNvSpPr/>
          <p:nvPr/>
        </p:nvSpPr>
        <p:spPr>
          <a:xfrm>
            <a:off x="5276088" y="1801368"/>
            <a:ext cx="731520" cy="731520"/>
          </a:xfrm>
          <a:prstGeom prst="ellipse">
            <a:avLst/>
          </a:prstGeom>
          <a:solidFill>
            <a:srgbClr val="7448D4"/>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5458968" y="1984248"/>
            <a:ext cx="365760" cy="365760"/>
          </a:xfrm>
          <a:prstGeom prst="rect">
            <a:avLst/>
          </a:prstGeom>
        </p:spPr>
      </p:pic>
      <p:sp>
        <p:nvSpPr>
          <p:cNvPr id="13" name="Text 9"/>
          <p:cNvSpPr txBox="1"/>
          <p:nvPr/>
        </p:nvSpPr>
        <p:spPr>
          <a:xfrm>
            <a:off x="489204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Android phones</a:t>
            </a:r>
            <a:endParaRPr lang="en-US" sz="1400" dirty="0"/>
          </a:p>
        </p:txBody>
      </p:sp>
      <p:sp>
        <p:nvSpPr>
          <p:cNvPr id="14" name="Shape 10"/>
          <p:cNvSpPr/>
          <p:nvPr/>
        </p:nvSpPr>
        <p:spPr>
          <a:xfrm>
            <a:off x="6583680" y="1600200"/>
            <a:ext cx="1600200" cy="1645920"/>
          </a:xfrm>
          <a:prstGeom prst="roundRect">
            <a:avLst>
              <a:gd name="adj" fmla="val 5714"/>
            </a:avLst>
          </a:prstGeom>
          <a:solidFill>
            <a:srgbClr val="F1F5FB"/>
          </a:solidFill>
          <a:ln/>
        </p:spPr>
        <p:txBody>
          <a:bodyPr/>
          <a:lstStyle/>
          <a:p>
            <a:endParaRPr lang="en-US"/>
          </a:p>
        </p:txBody>
      </p:sp>
      <p:sp>
        <p:nvSpPr>
          <p:cNvPr id="15" name="Shape 11"/>
          <p:cNvSpPr/>
          <p:nvPr/>
        </p:nvSpPr>
        <p:spPr>
          <a:xfrm>
            <a:off x="7013448" y="1801368"/>
            <a:ext cx="731520" cy="731520"/>
          </a:xfrm>
          <a:prstGeom prst="ellipse">
            <a:avLst/>
          </a:prstGeom>
          <a:solidFill>
            <a:srgbClr val="2459D8"/>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7196328" y="1984248"/>
            <a:ext cx="365760" cy="365760"/>
          </a:xfrm>
          <a:prstGeom prst="rect">
            <a:avLst/>
          </a:prstGeom>
        </p:spPr>
      </p:pic>
      <p:sp>
        <p:nvSpPr>
          <p:cNvPr id="17" name="Text 12"/>
          <p:cNvSpPr txBox="1"/>
          <p:nvPr/>
        </p:nvSpPr>
        <p:spPr>
          <a:xfrm>
            <a:off x="662940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Chromebooks</a:t>
            </a:r>
            <a:endParaRPr lang="en-US" sz="1400" dirty="0"/>
          </a:p>
        </p:txBody>
      </p:sp>
      <p:sp>
        <p:nvSpPr>
          <p:cNvPr id="18" name="Shape 13"/>
          <p:cNvSpPr/>
          <p:nvPr/>
        </p:nvSpPr>
        <p:spPr>
          <a:xfrm>
            <a:off x="8321040" y="1600200"/>
            <a:ext cx="1600200" cy="1645920"/>
          </a:xfrm>
          <a:prstGeom prst="roundRect">
            <a:avLst>
              <a:gd name="adj" fmla="val 5714"/>
            </a:avLst>
          </a:prstGeom>
          <a:solidFill>
            <a:srgbClr val="F1F5FB"/>
          </a:solidFill>
          <a:ln/>
        </p:spPr>
        <p:txBody>
          <a:bodyPr/>
          <a:lstStyle/>
          <a:p>
            <a:endParaRPr lang="en-US"/>
          </a:p>
        </p:txBody>
      </p:sp>
      <p:sp>
        <p:nvSpPr>
          <p:cNvPr id="19" name="Shape 14"/>
          <p:cNvSpPr/>
          <p:nvPr/>
        </p:nvSpPr>
        <p:spPr>
          <a:xfrm>
            <a:off x="8750808" y="1801368"/>
            <a:ext cx="731520" cy="731520"/>
          </a:xfrm>
          <a:prstGeom prst="ellipse">
            <a:avLst/>
          </a:prstGeom>
          <a:solidFill>
            <a:srgbClr val="D1416B"/>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933688" y="1984248"/>
            <a:ext cx="365760" cy="365760"/>
          </a:xfrm>
          <a:prstGeom prst="rect">
            <a:avLst/>
          </a:prstGeom>
        </p:spPr>
      </p:pic>
      <p:sp>
        <p:nvSpPr>
          <p:cNvPr id="21" name="Text 15"/>
          <p:cNvSpPr txBox="1"/>
          <p:nvPr/>
        </p:nvSpPr>
        <p:spPr>
          <a:xfrm>
            <a:off x="836676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Smart TVs</a:t>
            </a:r>
            <a:endParaRPr lang="en-US" sz="1400" dirty="0"/>
          </a:p>
        </p:txBody>
      </p:sp>
      <p:sp>
        <p:nvSpPr>
          <p:cNvPr id="22" name="Shape 16"/>
          <p:cNvSpPr/>
          <p:nvPr/>
        </p:nvSpPr>
        <p:spPr>
          <a:xfrm>
            <a:off x="10058400" y="1600200"/>
            <a:ext cx="1600200" cy="1645920"/>
          </a:xfrm>
          <a:prstGeom prst="roundRect">
            <a:avLst>
              <a:gd name="adj" fmla="val 5714"/>
            </a:avLst>
          </a:prstGeom>
          <a:solidFill>
            <a:srgbClr val="F1F5FB"/>
          </a:solidFill>
          <a:ln/>
        </p:spPr>
        <p:txBody>
          <a:bodyPr/>
          <a:lstStyle/>
          <a:p>
            <a:endParaRPr lang="en-US"/>
          </a:p>
        </p:txBody>
      </p:sp>
      <p:sp>
        <p:nvSpPr>
          <p:cNvPr id="23" name="Shape 17"/>
          <p:cNvSpPr/>
          <p:nvPr/>
        </p:nvSpPr>
        <p:spPr>
          <a:xfrm>
            <a:off x="10488168" y="1801368"/>
            <a:ext cx="731520" cy="731520"/>
          </a:xfrm>
          <a:prstGeom prst="ellipse">
            <a:avLst/>
          </a:prstGeom>
          <a:solidFill>
            <a:srgbClr val="2A9FD6"/>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10671048" y="1984248"/>
            <a:ext cx="365760" cy="365760"/>
          </a:xfrm>
          <a:prstGeom prst="rect">
            <a:avLst/>
          </a:prstGeom>
        </p:spPr>
      </p:pic>
      <p:sp>
        <p:nvSpPr>
          <p:cNvPr id="25" name="Text 18"/>
          <p:cNvSpPr txBox="1"/>
          <p:nvPr/>
        </p:nvSpPr>
        <p:spPr>
          <a:xfrm>
            <a:off x="1010412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Wi-Fi routers</a:t>
            </a:r>
            <a:endParaRPr lang="en-US" sz="1400" dirty="0"/>
          </a:p>
        </p:txBody>
      </p:sp>
      <p:sp>
        <p:nvSpPr>
          <p:cNvPr id="26" name="Shape 19"/>
          <p:cNvSpPr/>
          <p:nvPr/>
        </p:nvSpPr>
        <p:spPr>
          <a:xfrm>
            <a:off x="4846320" y="3429000"/>
            <a:ext cx="1600200" cy="1645920"/>
          </a:xfrm>
          <a:prstGeom prst="roundRect">
            <a:avLst>
              <a:gd name="adj" fmla="val 5714"/>
            </a:avLst>
          </a:prstGeom>
          <a:solidFill>
            <a:srgbClr val="F1F5FB"/>
          </a:solidFill>
          <a:ln/>
        </p:spPr>
        <p:txBody>
          <a:bodyPr/>
          <a:lstStyle/>
          <a:p>
            <a:endParaRPr lang="en-US"/>
          </a:p>
        </p:txBody>
      </p:sp>
      <p:sp>
        <p:nvSpPr>
          <p:cNvPr id="27" name="Shape 20"/>
          <p:cNvSpPr/>
          <p:nvPr/>
        </p:nvSpPr>
        <p:spPr>
          <a:xfrm>
            <a:off x="5276088" y="3630168"/>
            <a:ext cx="731520" cy="731520"/>
          </a:xfrm>
          <a:prstGeom prst="ellipse">
            <a:avLst/>
          </a:prstGeom>
          <a:solidFill>
            <a:srgbClr val="E8820C"/>
          </a:solidFill>
          <a:ln/>
        </p:spPr>
        <p:txBody>
          <a:bodyPr/>
          <a:lstStyle/>
          <a:p>
            <a:endParaRPr lang="en-US"/>
          </a:p>
        </p:txBody>
      </p:sp>
      <p:pic>
        <p:nvPicPr>
          <p:cNvPr id="28" name="Image 4" descr="preencoded.png"/>
          <p:cNvPicPr>
            <a:picLocks noChangeAspect="1"/>
          </p:cNvPicPr>
          <p:nvPr/>
        </p:nvPicPr>
        <p:blipFill>
          <a:blip r:embed="rId7"/>
          <a:stretch>
            <a:fillRect/>
          </a:stretch>
        </p:blipFill>
        <p:spPr>
          <a:xfrm>
            <a:off x="5458968" y="3813048"/>
            <a:ext cx="365760" cy="365760"/>
          </a:xfrm>
          <a:prstGeom prst="rect">
            <a:avLst/>
          </a:prstGeom>
        </p:spPr>
      </p:pic>
      <p:sp>
        <p:nvSpPr>
          <p:cNvPr id="29" name="Text 21"/>
          <p:cNvSpPr txBox="1"/>
          <p:nvPr/>
        </p:nvSpPr>
        <p:spPr>
          <a:xfrm>
            <a:off x="489204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Car dashboards</a:t>
            </a:r>
            <a:endParaRPr lang="en-US" sz="1400" dirty="0"/>
          </a:p>
        </p:txBody>
      </p:sp>
      <p:sp>
        <p:nvSpPr>
          <p:cNvPr id="30" name="Shape 22"/>
          <p:cNvSpPr/>
          <p:nvPr/>
        </p:nvSpPr>
        <p:spPr>
          <a:xfrm>
            <a:off x="6583680" y="3429000"/>
            <a:ext cx="1600200" cy="1645920"/>
          </a:xfrm>
          <a:prstGeom prst="roundRect">
            <a:avLst>
              <a:gd name="adj" fmla="val 5714"/>
            </a:avLst>
          </a:prstGeom>
          <a:solidFill>
            <a:srgbClr val="F1F5FB"/>
          </a:solidFill>
          <a:ln/>
        </p:spPr>
        <p:txBody>
          <a:bodyPr/>
          <a:lstStyle/>
          <a:p>
            <a:endParaRPr lang="en-US"/>
          </a:p>
        </p:txBody>
      </p:sp>
      <p:sp>
        <p:nvSpPr>
          <p:cNvPr id="31" name="Shape 23"/>
          <p:cNvSpPr/>
          <p:nvPr/>
        </p:nvSpPr>
        <p:spPr>
          <a:xfrm>
            <a:off x="7013448" y="3630168"/>
            <a:ext cx="731520" cy="731520"/>
          </a:xfrm>
          <a:prstGeom prst="ellipse">
            <a:avLst/>
          </a:prstGeom>
          <a:solidFill>
            <a:srgbClr val="0F9488"/>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7196328" y="3813048"/>
            <a:ext cx="365760" cy="365760"/>
          </a:xfrm>
          <a:prstGeom prst="rect">
            <a:avLst/>
          </a:prstGeom>
        </p:spPr>
      </p:pic>
      <p:sp>
        <p:nvSpPr>
          <p:cNvPr id="33" name="Text 24"/>
          <p:cNvSpPr txBox="1"/>
          <p:nvPr/>
        </p:nvSpPr>
        <p:spPr>
          <a:xfrm>
            <a:off x="662940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Steam Deck</a:t>
            </a:r>
            <a:endParaRPr lang="en-US" sz="1400" dirty="0"/>
          </a:p>
        </p:txBody>
      </p:sp>
      <p:sp>
        <p:nvSpPr>
          <p:cNvPr id="34" name="Shape 25"/>
          <p:cNvSpPr/>
          <p:nvPr/>
        </p:nvSpPr>
        <p:spPr>
          <a:xfrm>
            <a:off x="8321040" y="3429000"/>
            <a:ext cx="1600200" cy="1645920"/>
          </a:xfrm>
          <a:prstGeom prst="roundRect">
            <a:avLst>
              <a:gd name="adj" fmla="val 5714"/>
            </a:avLst>
          </a:prstGeom>
          <a:solidFill>
            <a:srgbClr val="F1F5FB"/>
          </a:solidFill>
          <a:ln/>
        </p:spPr>
        <p:txBody>
          <a:bodyPr/>
          <a:lstStyle/>
          <a:p>
            <a:endParaRPr lang="en-US"/>
          </a:p>
        </p:txBody>
      </p:sp>
      <p:sp>
        <p:nvSpPr>
          <p:cNvPr id="35" name="Shape 26"/>
          <p:cNvSpPr/>
          <p:nvPr/>
        </p:nvSpPr>
        <p:spPr>
          <a:xfrm>
            <a:off x="8750808" y="3630168"/>
            <a:ext cx="731520" cy="731520"/>
          </a:xfrm>
          <a:prstGeom prst="ellipse">
            <a:avLst/>
          </a:prstGeom>
          <a:solidFill>
            <a:srgbClr val="5B6EE1"/>
          </a:solidFill>
          <a:ln/>
        </p:spPr>
        <p:txBody>
          <a:bodyPr/>
          <a:lstStyle/>
          <a:p>
            <a:endParaRPr lang="en-US"/>
          </a:p>
        </p:txBody>
      </p:sp>
      <p:pic>
        <p:nvPicPr>
          <p:cNvPr id="36" name="Image 6" descr="preencoded.png"/>
          <p:cNvPicPr>
            <a:picLocks noChangeAspect="1"/>
          </p:cNvPicPr>
          <p:nvPr/>
        </p:nvPicPr>
        <p:blipFill>
          <a:blip r:embed="rId9"/>
          <a:stretch>
            <a:fillRect/>
          </a:stretch>
        </p:blipFill>
        <p:spPr>
          <a:xfrm>
            <a:off x="8933688" y="3813048"/>
            <a:ext cx="365760" cy="365760"/>
          </a:xfrm>
          <a:prstGeom prst="rect">
            <a:avLst/>
          </a:prstGeom>
        </p:spPr>
      </p:pic>
      <p:sp>
        <p:nvSpPr>
          <p:cNvPr id="37" name="Text 27"/>
          <p:cNvSpPr txBox="1"/>
          <p:nvPr/>
        </p:nvSpPr>
        <p:spPr>
          <a:xfrm>
            <a:off x="836676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The cloud</a:t>
            </a:r>
            <a:endParaRPr lang="en-US" sz="1400" dirty="0"/>
          </a:p>
        </p:txBody>
      </p:sp>
      <p:sp>
        <p:nvSpPr>
          <p:cNvPr id="38" name="Shape 28"/>
          <p:cNvSpPr/>
          <p:nvPr/>
        </p:nvSpPr>
        <p:spPr>
          <a:xfrm>
            <a:off x="10058400" y="3429000"/>
            <a:ext cx="1600200" cy="1645920"/>
          </a:xfrm>
          <a:prstGeom prst="roundRect">
            <a:avLst>
              <a:gd name="adj" fmla="val 5714"/>
            </a:avLst>
          </a:prstGeom>
          <a:solidFill>
            <a:srgbClr val="F1F5FB"/>
          </a:solidFill>
          <a:ln/>
        </p:spPr>
        <p:txBody>
          <a:bodyPr/>
          <a:lstStyle/>
          <a:p>
            <a:endParaRPr lang="en-US"/>
          </a:p>
        </p:txBody>
      </p:sp>
      <p:sp>
        <p:nvSpPr>
          <p:cNvPr id="39" name="Shape 29"/>
          <p:cNvSpPr/>
          <p:nvPr/>
        </p:nvSpPr>
        <p:spPr>
          <a:xfrm>
            <a:off x="10488168" y="3630168"/>
            <a:ext cx="731520" cy="731520"/>
          </a:xfrm>
          <a:prstGeom prst="ellipse">
            <a:avLst/>
          </a:prstGeom>
          <a:solidFill>
            <a:srgbClr val="17875A"/>
          </a:solidFill>
          <a:ln/>
        </p:spPr>
        <p:txBody>
          <a:bodyPr/>
          <a:lstStyle/>
          <a:p>
            <a:endParaRPr lang="en-US"/>
          </a:p>
        </p:txBody>
      </p:sp>
      <p:pic>
        <p:nvPicPr>
          <p:cNvPr id="40" name="Image 7" descr="preencoded.png"/>
          <p:cNvPicPr>
            <a:picLocks noChangeAspect="1"/>
          </p:cNvPicPr>
          <p:nvPr/>
        </p:nvPicPr>
        <p:blipFill>
          <a:blip r:embed="rId10"/>
          <a:stretch>
            <a:fillRect/>
          </a:stretch>
        </p:blipFill>
        <p:spPr>
          <a:xfrm>
            <a:off x="10671048" y="3813048"/>
            <a:ext cx="365760" cy="365760"/>
          </a:xfrm>
          <a:prstGeom prst="rect">
            <a:avLst/>
          </a:prstGeom>
        </p:spPr>
      </p:pic>
      <p:sp>
        <p:nvSpPr>
          <p:cNvPr id="41" name="Text 30"/>
          <p:cNvSpPr txBox="1"/>
          <p:nvPr/>
        </p:nvSpPr>
        <p:spPr>
          <a:xfrm>
            <a:off x="1010412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Web servers</a:t>
            </a:r>
            <a:endParaRPr lang="en-US" sz="1400" dirty="0"/>
          </a:p>
        </p:txBody>
      </p:sp>
      <p:sp>
        <p:nvSpPr>
          <p:cNvPr id="42" name="Shape 31"/>
          <p:cNvSpPr/>
          <p:nvPr/>
        </p:nvSpPr>
        <p:spPr>
          <a:xfrm>
            <a:off x="4846320" y="5349240"/>
            <a:ext cx="6812280" cy="548640"/>
          </a:xfrm>
          <a:prstGeom prst="roundRect">
            <a:avLst>
              <a:gd name="adj" fmla="val 16667"/>
            </a:avLst>
          </a:prstGeom>
          <a:solidFill>
            <a:srgbClr val="E2F5EC"/>
          </a:solidFill>
          <a:ln/>
        </p:spPr>
        <p:txBody>
          <a:bodyPr/>
          <a:lstStyle/>
          <a:p>
            <a:endParaRPr lang="en-US"/>
          </a:p>
        </p:txBody>
      </p:sp>
      <p:sp>
        <p:nvSpPr>
          <p:cNvPr id="43" name="Text 32"/>
          <p:cNvSpPr txBox="1"/>
          <p:nvPr/>
        </p:nvSpPr>
        <p:spPr>
          <a:xfrm>
            <a:off x="5074920" y="5349240"/>
            <a:ext cx="6400800" cy="548640"/>
          </a:xfrm>
          <a:prstGeom prst="rect">
            <a:avLst/>
          </a:prstGeom>
          <a:noFill/>
          <a:ln/>
        </p:spPr>
        <p:txBody>
          <a:bodyPr wrap="square" lIns="0" tIns="0" rIns="0" bIns="0" rtlCol="0" anchor="ctr"/>
          <a:lstStyle/>
          <a:p>
            <a:pPr marL="0" indent="0">
              <a:buNone/>
            </a:pPr>
            <a:r>
              <a:rPr lang="en-US" sz="1600" b="1" dirty="0">
                <a:solidFill>
                  <a:srgbClr val="0F6A45"/>
                </a:solidFill>
                <a:latin typeface="Calibri" pitchFamily="34" charset="0"/>
                <a:ea typeface="Calibri" pitchFamily="34" charset="-122"/>
                <a:cs typeface="Calibri" pitchFamily="34" charset="-120"/>
              </a:rPr>
              <a:t>On a Chromebook right now? You are already using Linux.</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childTnLst>
                          </p:cTn>
                        </p:par>
                        <p:par>
                          <p:cTn id="17" fill="hold">
                            <p:stCondLst>
                              <p:cond delay="250"/>
                            </p:stCondLst>
                            <p:childTnLst>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0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par>
                          <p:cTn id="30" fill="hold">
                            <p:stCondLst>
                              <p:cond delay="500"/>
                            </p:stCondLst>
                            <p:childTnLst>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4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400"/>
                                        <p:tgtEl>
                                          <p:spTgt spid="19"/>
                                        </p:tgtEl>
                                      </p:cBhvr>
                                    </p:animEffect>
                                  </p:childTnLst>
                                </p:cTn>
                              </p:par>
                              <p:par>
                                <p:cTn id="37" presetID="10"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4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00"/>
                                        <p:tgtEl>
                                          <p:spTgt spid="21"/>
                                        </p:tgtEl>
                                      </p:cBhvr>
                                    </p:animEffect>
                                  </p:childTnLst>
                                </p:cTn>
                              </p:par>
                            </p:childTnLst>
                          </p:cTn>
                        </p:par>
                        <p:par>
                          <p:cTn id="43" fill="hold">
                            <p:stCondLst>
                              <p:cond delay="750"/>
                            </p:stCondLst>
                            <p:childTnLst>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400"/>
                                        <p:tgtEl>
                                          <p:spTgt spid="23"/>
                                        </p:tgtEl>
                                      </p:cBhvr>
                                    </p:animEffect>
                                  </p:childTnLst>
                                </p:cTn>
                              </p:par>
                              <p:par>
                                <p:cTn id="50" presetID="10" presetClass="entr" presetSubtype="0" fill="hold"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400"/>
                                        <p:tgtEl>
                                          <p:spTgt spid="2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00"/>
                                        <p:tgtEl>
                                          <p:spTgt spid="25"/>
                                        </p:tgtEl>
                                      </p:cBhvr>
                                    </p:animEffect>
                                  </p:childTnLst>
                                </p:cTn>
                              </p:par>
                            </p:childTnLst>
                          </p:cTn>
                        </p:par>
                        <p:par>
                          <p:cTn id="56" fill="hold">
                            <p:stCondLst>
                              <p:cond delay="1000"/>
                            </p:stCondLst>
                            <p:childTnLst>
                              <p:par>
                                <p:cTn id="57" presetID="10"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00"/>
                                        <p:tgtEl>
                                          <p:spTgt spid="2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400"/>
                                        <p:tgtEl>
                                          <p:spTgt spid="27"/>
                                        </p:tgtEl>
                                      </p:cBhvr>
                                    </p:animEffect>
                                  </p:childTnLst>
                                </p:cTn>
                              </p:par>
                              <p:par>
                                <p:cTn id="63" presetID="10" presetClass="entr" presetSubtype="0" fill="hold"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4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400"/>
                                        <p:tgtEl>
                                          <p:spTgt spid="29"/>
                                        </p:tgtEl>
                                      </p:cBhvr>
                                    </p:animEffect>
                                  </p:childTnLst>
                                </p:cTn>
                              </p:par>
                            </p:childTnLst>
                          </p:cTn>
                        </p:par>
                        <p:par>
                          <p:cTn id="69" fill="hold">
                            <p:stCondLst>
                              <p:cond delay="1250"/>
                            </p:stCondLst>
                            <p:childTnLst>
                              <p:par>
                                <p:cTn id="70" presetID="10" presetClass="entr" presetSubtype="0" fill="hold" grpId="0" nodeType="with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400"/>
                                        <p:tgtEl>
                                          <p:spTgt spid="3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00"/>
                                        <p:tgtEl>
                                          <p:spTgt spid="31"/>
                                        </p:tgtEl>
                                      </p:cBhvr>
                                    </p:animEffect>
                                  </p:childTnLst>
                                </p:cTn>
                              </p:par>
                              <p:par>
                                <p:cTn id="76" presetID="10" presetClass="entr" presetSubtype="0" fill="hold"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400"/>
                                        <p:tgtEl>
                                          <p:spTgt spid="3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400"/>
                                        <p:tgtEl>
                                          <p:spTgt spid="33"/>
                                        </p:tgtEl>
                                      </p:cBhvr>
                                    </p:animEffect>
                                  </p:childTnLst>
                                </p:cTn>
                              </p:par>
                            </p:childTnLst>
                          </p:cTn>
                        </p:par>
                        <p:par>
                          <p:cTn id="82" fill="hold">
                            <p:stCondLst>
                              <p:cond delay="1500"/>
                            </p:stCondLst>
                            <p:childTnLst>
                              <p:par>
                                <p:cTn id="83" presetID="10" presetClass="entr" presetSubtype="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400"/>
                                        <p:tgtEl>
                                          <p:spTgt spid="3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400"/>
                                        <p:tgtEl>
                                          <p:spTgt spid="35"/>
                                        </p:tgtEl>
                                      </p:cBhvr>
                                    </p:animEffect>
                                  </p:childTnLst>
                                </p:cTn>
                              </p:par>
                              <p:par>
                                <p:cTn id="89" presetID="10" presetClass="entr" presetSubtype="0" fill="hold"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400"/>
                                        <p:tgtEl>
                                          <p:spTgt spid="36"/>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400"/>
                                        <p:tgtEl>
                                          <p:spTgt spid="37"/>
                                        </p:tgtEl>
                                      </p:cBhvr>
                                    </p:animEffect>
                                  </p:childTnLst>
                                </p:cTn>
                              </p:par>
                            </p:childTnLst>
                          </p:cTn>
                        </p:par>
                        <p:par>
                          <p:cTn id="95" fill="hold">
                            <p:stCondLst>
                              <p:cond delay="1750"/>
                            </p:stCondLst>
                            <p:childTnLst>
                              <p:par>
                                <p:cTn id="96" presetID="10" presetClass="entr" presetSubtype="0" fill="hold" grpId="0" nodeType="with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fade">
                                      <p:cBhvr>
                                        <p:cTn id="98" dur="400"/>
                                        <p:tgtEl>
                                          <p:spTgt spid="3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9"/>
                                        </p:tgtEl>
                                        <p:attrNameLst>
                                          <p:attrName>style.visibility</p:attrName>
                                        </p:attrNameLst>
                                      </p:cBhvr>
                                      <p:to>
                                        <p:strVal val="visible"/>
                                      </p:to>
                                    </p:set>
                                    <p:animEffect transition="in" filter="fade">
                                      <p:cBhvr>
                                        <p:cTn id="101" dur="400"/>
                                        <p:tgtEl>
                                          <p:spTgt spid="39"/>
                                        </p:tgtEl>
                                      </p:cBhvr>
                                    </p:animEffect>
                                  </p:childTnLst>
                                </p:cTn>
                              </p:par>
                              <p:par>
                                <p:cTn id="102" presetID="10" presetClass="entr" presetSubtype="0" fill="hold" nodeType="withEffect">
                                  <p:stCondLst>
                                    <p:cond delay="0"/>
                                  </p:stCondLst>
                                  <p:childTnLst>
                                    <p:set>
                                      <p:cBhvr>
                                        <p:cTn id="103" dur="1" fill="hold">
                                          <p:stCondLst>
                                            <p:cond delay="0"/>
                                          </p:stCondLst>
                                        </p:cTn>
                                        <p:tgtEl>
                                          <p:spTgt spid="40"/>
                                        </p:tgtEl>
                                        <p:attrNameLst>
                                          <p:attrName>style.visibility</p:attrName>
                                        </p:attrNameLst>
                                      </p:cBhvr>
                                      <p:to>
                                        <p:strVal val="visible"/>
                                      </p:to>
                                    </p:set>
                                    <p:animEffect transition="in" filter="fade">
                                      <p:cBhvr>
                                        <p:cTn id="104" dur="400"/>
                                        <p:tgtEl>
                                          <p:spTgt spid="4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400"/>
                                        <p:tgtEl>
                                          <p:spTgt spid="41"/>
                                        </p:tgtEl>
                                      </p:cBhvr>
                                    </p:animEffect>
                                  </p:childTnLst>
                                </p:cTn>
                              </p:par>
                            </p:childTnLst>
                          </p:cTn>
                        </p:par>
                        <p:par>
                          <p:cTn id="108" fill="hold">
                            <p:stCondLst>
                              <p:cond delay="2000"/>
                            </p:stCondLst>
                            <p:childTnLst>
                              <p:par>
                                <p:cTn id="109" presetID="10" presetClass="entr" presetSubtype="0" fill="hold" grpId="0" nodeType="with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1" dur="400"/>
                                        <p:tgtEl>
                                          <p:spTgt spid="42"/>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4"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9" grpId="0" animBg="1"/>
      <p:bldP spid="30" grpId="0" animBg="1"/>
      <p:bldP spid="31" grpId="0" animBg="1"/>
      <p:bldP spid="33" grpId="0" animBg="1"/>
      <p:bldP spid="34" grpId="0" animBg="1"/>
      <p:bldP spid="35" grpId="0" animBg="1"/>
      <p:bldP spid="37" grpId="0" animBg="1"/>
      <p:bldP spid="38" grpId="0" animBg="1"/>
      <p:bldP spid="39" grpId="0" animBg="1"/>
      <p:bldP spid="41" grpId="0" animBg="1"/>
      <p:bldP spid="42" grpId="0" animBg="1"/>
      <p:bldP spid="4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Terminal, shell, kernel: who does what?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548640" y="1508760"/>
            <a:ext cx="6035040" cy="749808"/>
          </a:xfrm>
          <a:prstGeom prst="roundRect">
            <a:avLst>
              <a:gd name="adj" fmla="val 12195"/>
            </a:avLst>
          </a:prstGeom>
          <a:solidFill>
            <a:srgbClr val="E4EAF3"/>
          </a:solidFill>
          <a:ln/>
        </p:spPr>
        <p:txBody>
          <a:bodyPr/>
          <a:lstStyle/>
          <a:p>
            <a:endParaRPr lang="en-US"/>
          </a:p>
        </p:txBody>
      </p:sp>
      <p:sp>
        <p:nvSpPr>
          <p:cNvPr id="7" name="Text 4"/>
          <p:cNvSpPr txBox="1"/>
          <p:nvPr/>
        </p:nvSpPr>
        <p:spPr>
          <a:xfrm>
            <a:off x="777240" y="1508760"/>
            <a:ext cx="5669280" cy="749808"/>
          </a:xfrm>
          <a:prstGeom prst="rect">
            <a:avLst/>
          </a:prstGeom>
          <a:noFill/>
          <a:ln/>
        </p:spPr>
        <p:txBody>
          <a:bodyPr wrap="square" lIns="0" tIns="0" rIns="0" bIns="0" rtlCol="0" anchor="ctr"/>
          <a:lstStyle/>
          <a:p>
            <a:pPr marL="0" indent="0">
              <a:buNone/>
            </a:pPr>
            <a:r>
              <a:rPr lang="en-US" sz="2000" b="1" dirty="0">
                <a:solidFill>
                  <a:srgbClr val="12213A"/>
                </a:solidFill>
                <a:latin typeface="Calibri" pitchFamily="34" charset="0"/>
                <a:ea typeface="Calibri" pitchFamily="34" charset="-122"/>
                <a:cs typeface="Calibri" pitchFamily="34" charset="-120"/>
              </a:rPr>
              <a:t>You   </a:t>
            </a:r>
            <a:r>
              <a:rPr lang="en-US" sz="1350" dirty="0">
                <a:solidFill>
                  <a:srgbClr val="12213A"/>
                </a:solidFill>
                <a:latin typeface="Calibri" pitchFamily="34" charset="0"/>
                <a:ea typeface="Calibri" pitchFamily="34" charset="-122"/>
                <a:cs typeface="Calibri" pitchFamily="34" charset="-120"/>
              </a:rPr>
              <a:t>type a command and press Enter</a:t>
            </a:r>
            <a:endParaRPr lang="en-US" sz="2000" dirty="0"/>
          </a:p>
        </p:txBody>
      </p:sp>
      <p:sp>
        <p:nvSpPr>
          <p:cNvPr id="8" name="Shape 5"/>
          <p:cNvSpPr/>
          <p:nvPr/>
        </p:nvSpPr>
        <p:spPr>
          <a:xfrm>
            <a:off x="777240" y="2404872"/>
            <a:ext cx="5577840" cy="749808"/>
          </a:xfrm>
          <a:prstGeom prst="roundRect">
            <a:avLst>
              <a:gd name="adj" fmla="val 12195"/>
            </a:avLst>
          </a:prstGeom>
          <a:solidFill>
            <a:srgbClr val="2A9FD6"/>
          </a:solidFill>
          <a:ln/>
        </p:spPr>
        <p:txBody>
          <a:bodyPr/>
          <a:lstStyle/>
          <a:p>
            <a:endParaRPr lang="en-US"/>
          </a:p>
        </p:txBody>
      </p:sp>
      <p:sp>
        <p:nvSpPr>
          <p:cNvPr id="9" name="Text 6"/>
          <p:cNvSpPr txBox="1"/>
          <p:nvPr/>
        </p:nvSpPr>
        <p:spPr>
          <a:xfrm>
            <a:off x="1005840" y="2404872"/>
            <a:ext cx="52120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Terminal   </a:t>
            </a:r>
            <a:r>
              <a:rPr lang="en-US" sz="1350" dirty="0">
                <a:solidFill>
                  <a:srgbClr val="FFFFFF"/>
                </a:solidFill>
                <a:latin typeface="Calibri" pitchFamily="34" charset="0"/>
                <a:ea typeface="Calibri" pitchFamily="34" charset="-122"/>
                <a:cs typeface="Calibri" pitchFamily="34" charset="-120"/>
              </a:rPr>
              <a:t>the window: shows text, sends your keystrokes</a:t>
            </a:r>
            <a:endParaRPr lang="en-US" sz="2000" dirty="0"/>
          </a:p>
        </p:txBody>
      </p:sp>
      <p:sp>
        <p:nvSpPr>
          <p:cNvPr id="10" name="Shape 7"/>
          <p:cNvSpPr/>
          <p:nvPr/>
        </p:nvSpPr>
        <p:spPr>
          <a:xfrm>
            <a:off x="1005840" y="3300984"/>
            <a:ext cx="5120640" cy="749808"/>
          </a:xfrm>
          <a:prstGeom prst="roundRect">
            <a:avLst>
              <a:gd name="adj" fmla="val 12195"/>
            </a:avLst>
          </a:prstGeom>
          <a:solidFill>
            <a:srgbClr val="2459D8"/>
          </a:solidFill>
          <a:ln/>
        </p:spPr>
        <p:txBody>
          <a:bodyPr/>
          <a:lstStyle/>
          <a:p>
            <a:endParaRPr lang="en-US"/>
          </a:p>
        </p:txBody>
      </p:sp>
      <p:sp>
        <p:nvSpPr>
          <p:cNvPr id="11" name="Text 8"/>
          <p:cNvSpPr txBox="1"/>
          <p:nvPr/>
        </p:nvSpPr>
        <p:spPr>
          <a:xfrm>
            <a:off x="1234440" y="3300984"/>
            <a:ext cx="47548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Shell   </a:t>
            </a:r>
            <a:r>
              <a:rPr lang="en-US" sz="1350" dirty="0">
                <a:solidFill>
                  <a:srgbClr val="FFFFFF"/>
                </a:solidFill>
                <a:latin typeface="Calibri" pitchFamily="34" charset="0"/>
                <a:ea typeface="Calibri" pitchFamily="34" charset="-122"/>
                <a:cs typeface="Calibri" pitchFamily="34" charset="-120"/>
              </a:rPr>
              <a:t>reads the command and runs it: sh, bash, zsh</a:t>
            </a:r>
            <a:endParaRPr lang="en-US" sz="2000" dirty="0"/>
          </a:p>
        </p:txBody>
      </p:sp>
      <p:sp>
        <p:nvSpPr>
          <p:cNvPr id="12" name="Shape 9"/>
          <p:cNvSpPr/>
          <p:nvPr/>
        </p:nvSpPr>
        <p:spPr>
          <a:xfrm>
            <a:off x="1234440" y="4197096"/>
            <a:ext cx="4663440" cy="749808"/>
          </a:xfrm>
          <a:prstGeom prst="roundRect">
            <a:avLst>
              <a:gd name="adj" fmla="val 12195"/>
            </a:avLst>
          </a:prstGeom>
          <a:solidFill>
            <a:srgbClr val="17875A"/>
          </a:solidFill>
          <a:ln/>
        </p:spPr>
        <p:txBody>
          <a:bodyPr/>
          <a:lstStyle/>
          <a:p>
            <a:endParaRPr lang="en-US"/>
          </a:p>
        </p:txBody>
      </p:sp>
      <p:sp>
        <p:nvSpPr>
          <p:cNvPr id="13" name="Text 10"/>
          <p:cNvSpPr txBox="1"/>
          <p:nvPr/>
        </p:nvSpPr>
        <p:spPr>
          <a:xfrm>
            <a:off x="1463040" y="4197096"/>
            <a:ext cx="42976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Kernel   </a:t>
            </a:r>
            <a:r>
              <a:rPr lang="en-US" sz="1350" dirty="0">
                <a:solidFill>
                  <a:srgbClr val="FFFFFF"/>
                </a:solidFill>
                <a:latin typeface="Calibri" pitchFamily="34" charset="0"/>
                <a:ea typeface="Calibri" pitchFamily="34" charset="-122"/>
                <a:cs typeface="Calibri" pitchFamily="34" charset="-120"/>
              </a:rPr>
              <a:t>Linux itself: runs programs, talks to hardware</a:t>
            </a:r>
            <a:endParaRPr lang="en-US" sz="2000" dirty="0"/>
          </a:p>
        </p:txBody>
      </p:sp>
      <p:sp>
        <p:nvSpPr>
          <p:cNvPr id="14" name="Shape 11"/>
          <p:cNvSpPr/>
          <p:nvPr/>
        </p:nvSpPr>
        <p:spPr>
          <a:xfrm>
            <a:off x="1463040" y="5093208"/>
            <a:ext cx="4206240" cy="749808"/>
          </a:xfrm>
          <a:prstGeom prst="roundRect">
            <a:avLst>
              <a:gd name="adj" fmla="val 12195"/>
            </a:avLst>
          </a:prstGeom>
          <a:solidFill>
            <a:srgbClr val="56657E"/>
          </a:solidFill>
          <a:ln/>
        </p:spPr>
        <p:txBody>
          <a:bodyPr/>
          <a:lstStyle/>
          <a:p>
            <a:endParaRPr lang="en-US"/>
          </a:p>
        </p:txBody>
      </p:sp>
      <p:sp>
        <p:nvSpPr>
          <p:cNvPr id="15" name="Text 12"/>
          <p:cNvSpPr txBox="1"/>
          <p:nvPr/>
        </p:nvSpPr>
        <p:spPr>
          <a:xfrm>
            <a:off x="1691640" y="5093208"/>
            <a:ext cx="38404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Hardware   </a:t>
            </a:r>
            <a:r>
              <a:rPr lang="en-US" sz="1350" dirty="0">
                <a:solidFill>
                  <a:srgbClr val="FFFFFF"/>
                </a:solidFill>
                <a:latin typeface="Calibri" pitchFamily="34" charset="0"/>
                <a:ea typeface="Calibri" pitchFamily="34" charset="-122"/>
                <a:cs typeface="Calibri" pitchFamily="34" charset="-120"/>
              </a:rPr>
              <a:t>CPU, memory, disk, network</a:t>
            </a:r>
            <a:endParaRPr lang="en-US" sz="2000" dirty="0"/>
          </a:p>
        </p:txBody>
      </p:sp>
      <p:sp>
        <p:nvSpPr>
          <p:cNvPr id="16" name="Shape 13"/>
          <p:cNvSpPr/>
          <p:nvPr/>
        </p:nvSpPr>
        <p:spPr>
          <a:xfrm>
            <a:off x="6903720" y="1508760"/>
            <a:ext cx="4736592" cy="2651760"/>
          </a:xfrm>
          <a:prstGeom prst="roundRect">
            <a:avLst>
              <a:gd name="adj" fmla="val 3448"/>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7" name="Shape 14"/>
          <p:cNvSpPr/>
          <p:nvPr/>
        </p:nvSpPr>
        <p:spPr>
          <a:xfrm>
            <a:off x="7104888" y="1664208"/>
            <a:ext cx="118872" cy="118872"/>
          </a:xfrm>
          <a:prstGeom prst="ellipse">
            <a:avLst/>
          </a:prstGeom>
          <a:solidFill>
            <a:srgbClr val="E5534B"/>
          </a:solidFill>
          <a:ln/>
        </p:spPr>
        <p:txBody>
          <a:bodyPr/>
          <a:lstStyle/>
          <a:p>
            <a:endParaRPr lang="en-US"/>
          </a:p>
        </p:txBody>
      </p:sp>
      <p:sp>
        <p:nvSpPr>
          <p:cNvPr id="18" name="Shape 15"/>
          <p:cNvSpPr/>
          <p:nvPr/>
        </p:nvSpPr>
        <p:spPr>
          <a:xfrm>
            <a:off x="7306056" y="1664208"/>
            <a:ext cx="118872" cy="118872"/>
          </a:xfrm>
          <a:prstGeom prst="ellipse">
            <a:avLst/>
          </a:prstGeom>
          <a:solidFill>
            <a:srgbClr val="F5A623"/>
          </a:solidFill>
          <a:ln/>
        </p:spPr>
        <p:txBody>
          <a:bodyPr/>
          <a:lstStyle/>
          <a:p>
            <a:endParaRPr lang="en-US"/>
          </a:p>
        </p:txBody>
      </p:sp>
      <p:sp>
        <p:nvSpPr>
          <p:cNvPr id="19" name="Shape 16"/>
          <p:cNvSpPr/>
          <p:nvPr/>
        </p:nvSpPr>
        <p:spPr>
          <a:xfrm>
            <a:off x="7507224" y="1664208"/>
            <a:ext cx="118872" cy="118872"/>
          </a:xfrm>
          <a:prstGeom prst="ellipse">
            <a:avLst/>
          </a:prstGeom>
          <a:solidFill>
            <a:srgbClr val="46D39A"/>
          </a:solidFill>
          <a:ln/>
        </p:spPr>
        <p:txBody>
          <a:bodyPr/>
          <a:lstStyle/>
          <a:p>
            <a:endParaRPr lang="en-US"/>
          </a:p>
        </p:txBody>
      </p:sp>
      <p:sp>
        <p:nvSpPr>
          <p:cNvPr id="20" name="Text 17"/>
          <p:cNvSpPr txBox="1"/>
          <p:nvPr/>
        </p:nvSpPr>
        <p:spPr>
          <a:xfrm>
            <a:off x="7818120" y="1581912"/>
            <a:ext cx="290779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terminal window</a:t>
            </a:r>
            <a:endParaRPr lang="en-US" sz="1000" dirty="0"/>
          </a:p>
        </p:txBody>
      </p:sp>
      <p:sp>
        <p:nvSpPr>
          <p:cNvPr id="21" name="Text 18"/>
          <p:cNvSpPr txBox="1"/>
          <p:nvPr/>
        </p:nvSpPr>
        <p:spPr>
          <a:xfrm>
            <a:off x="7178040" y="1965960"/>
            <a:ext cx="4187952" cy="205740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echo $0</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sh</a:t>
            </a:r>
            <a:endParaRPr lang="en-US" sz="1600" dirty="0"/>
          </a:p>
          <a:p>
            <a:pPr marL="0" indent="0">
              <a:spcAft>
                <a:spcPts val="200"/>
              </a:spcAft>
              <a:buNone/>
            </a:pPr>
            <a:r>
              <a:rPr lang="en-US" sz="1600" dirty="0">
                <a:solidFill>
                  <a:srgbClr val="7F8FAD"/>
                </a:solidFill>
                <a:latin typeface="Courier New" pitchFamily="34" charset="0"/>
                <a:ea typeface="Courier New" pitchFamily="34" charset="-122"/>
                <a:cs typeface="Courier New" pitchFamily="34" charset="-120"/>
              </a:rPr>
              <a:t># the shell's name</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uname -s</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Linux</a:t>
            </a:r>
            <a:endParaRPr lang="en-US" sz="1600" dirty="0"/>
          </a:p>
          <a:p>
            <a:pPr marL="0" indent="0">
              <a:spcAft>
                <a:spcPts val="200"/>
              </a:spcAft>
              <a:buNone/>
            </a:pPr>
            <a:r>
              <a:rPr lang="en-US" sz="1600" dirty="0">
                <a:solidFill>
                  <a:srgbClr val="7F8FAD"/>
                </a:solidFill>
                <a:latin typeface="Courier New" pitchFamily="34" charset="0"/>
                <a:ea typeface="Courier New" pitchFamily="34" charset="-122"/>
                <a:cs typeface="Courier New" pitchFamily="34" charset="-120"/>
              </a:rPr>
              <a:t># the kernel's name</a:t>
            </a:r>
            <a:endParaRPr lang="en-US" sz="1600" dirty="0"/>
          </a:p>
        </p:txBody>
      </p:sp>
      <p:sp>
        <p:nvSpPr>
          <p:cNvPr id="22" name="Shape 19"/>
          <p:cNvSpPr/>
          <p:nvPr/>
        </p:nvSpPr>
        <p:spPr>
          <a:xfrm>
            <a:off x="6903720" y="4343400"/>
            <a:ext cx="4736592" cy="1554480"/>
          </a:xfrm>
          <a:prstGeom prst="roundRect">
            <a:avLst>
              <a:gd name="adj" fmla="val 5882"/>
            </a:avLst>
          </a:prstGeom>
          <a:solidFill>
            <a:srgbClr val="F1F5FB"/>
          </a:solidFill>
          <a:ln/>
        </p:spPr>
        <p:txBody>
          <a:bodyPr/>
          <a:lstStyle/>
          <a:p>
            <a:endParaRPr lang="en-US"/>
          </a:p>
        </p:txBody>
      </p:sp>
      <p:sp>
        <p:nvSpPr>
          <p:cNvPr id="23" name="Text 20"/>
          <p:cNvSpPr txBox="1"/>
          <p:nvPr/>
        </p:nvSpPr>
        <p:spPr>
          <a:xfrm>
            <a:off x="7132320" y="4434840"/>
            <a:ext cx="4389120" cy="1371600"/>
          </a:xfrm>
          <a:prstGeom prst="rect">
            <a:avLst/>
          </a:prstGeom>
          <a:noFill/>
          <a:ln/>
        </p:spPr>
        <p:txBody>
          <a:bodyPr wrap="square" lIns="0" tIns="0" rIns="0" bIns="0" rtlCol="0" anchor="ctr"/>
          <a:lstStyle/>
          <a:p>
            <a:pPr marL="0" indent="0">
              <a:buNone/>
            </a:pPr>
            <a:r>
              <a:rPr lang="en-US" sz="1600" b="1" dirty="0">
                <a:solidFill>
                  <a:srgbClr val="2459D8"/>
                </a:solidFill>
                <a:latin typeface="Calibri" pitchFamily="34" charset="0"/>
                <a:ea typeface="Calibri" pitchFamily="34" charset="-122"/>
                <a:cs typeface="Calibri" pitchFamily="34" charset="-120"/>
              </a:rPr>
              <a:t>CLI </a:t>
            </a:r>
            <a:r>
              <a:rPr lang="en-US" sz="1600" dirty="0">
                <a:solidFill>
                  <a:srgbClr val="12213A"/>
                </a:solidFill>
                <a:latin typeface="Calibri" pitchFamily="34" charset="0"/>
                <a:ea typeface="Calibri" pitchFamily="34" charset="-122"/>
                <a:cs typeface="Calibri" pitchFamily="34" charset="-120"/>
              </a:rPr>
              <a:t>command-line interface: you type.</a:t>
            </a:r>
            <a:endParaRPr lang="en-US" sz="1600" dirty="0"/>
          </a:p>
          <a:p>
            <a:pPr marL="0" indent="0">
              <a:buNone/>
            </a:pPr>
            <a:r>
              <a:rPr lang="en-US" sz="1600" b="1" dirty="0">
                <a:solidFill>
                  <a:srgbClr val="D1416B"/>
                </a:solidFill>
                <a:latin typeface="Calibri" pitchFamily="34" charset="0"/>
                <a:ea typeface="Calibri" pitchFamily="34" charset="-122"/>
                <a:cs typeface="Calibri" pitchFamily="34" charset="-120"/>
              </a:rPr>
              <a:t>GUI </a:t>
            </a:r>
            <a:r>
              <a:rPr lang="en-US" sz="1600" dirty="0">
                <a:solidFill>
                  <a:srgbClr val="12213A"/>
                </a:solidFill>
                <a:latin typeface="Calibri" pitchFamily="34" charset="0"/>
                <a:ea typeface="Calibri" pitchFamily="34" charset="-122"/>
                <a:cs typeface="Calibri" pitchFamily="34" charset="-120"/>
              </a:rPr>
              <a:t>graphical user interface: you point and click.</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8"/>
                                        </p:tgtEl>
                                        <p:attrNameLst>
                                          <p:attrName>style.opacity</p:attrName>
                                        </p:attrNameLst>
                                      </p:cBhvr>
                                      <p:to>
                                        <p:strVal val="0.25"/>
                                      </p:to>
                                    </p:set>
                                    <p:animEffect filter="image" prLst="opacity: 0.25">
                                      <p:cBhvr rctx="IE">
                                        <p:cTn id="7" dur="1" fill="hold"/>
                                        <p:tgtEl>
                                          <p:spTgt spid="8"/>
                                        </p:tgtEl>
                                      </p:cBhvr>
                                    </p:animEffect>
                                  </p:childTnLst>
                                </p:cTn>
                              </p:par>
                              <p:par>
                                <p:cTn id="8" presetID="9" presetClass="emph" presetSubtype="0" fill="hold" grpId="0" nodeType="withEffect">
                                  <p:stCondLst>
                                    <p:cond delay="0"/>
                                  </p:stCondLst>
                                  <p:childTnLst>
                                    <p:set>
                                      <p:cBhvr>
                                        <p:cTn id="9" dur="1" fill="hold"/>
                                        <p:tgtEl>
                                          <p:spTgt spid="9"/>
                                        </p:tgtEl>
                                        <p:attrNameLst>
                                          <p:attrName>style.opacity</p:attrName>
                                        </p:attrNameLst>
                                      </p:cBhvr>
                                      <p:to>
                                        <p:strVal val="0.25"/>
                                      </p:to>
                                    </p:set>
                                    <p:animEffect filter="image" prLst="opacity: 0.25">
                                      <p:cBhvr rctx="IE">
                                        <p:cTn id="10" dur="1" fill="hold"/>
                                        <p:tgtEl>
                                          <p:spTgt spid="9"/>
                                        </p:tgtEl>
                                      </p:cBhvr>
                                    </p:animEffect>
                                  </p:childTnLst>
                                </p:cTn>
                              </p:par>
                              <p:par>
                                <p:cTn id="11" presetID="9" presetClass="emph" presetSubtype="0" fill="hold" grpId="0" nodeType="withEffect">
                                  <p:stCondLst>
                                    <p:cond delay="0"/>
                                  </p:stCondLst>
                                  <p:childTnLst>
                                    <p:set>
                                      <p:cBhvr>
                                        <p:cTn id="12" dur="1" fill="hold"/>
                                        <p:tgtEl>
                                          <p:spTgt spid="10"/>
                                        </p:tgtEl>
                                        <p:attrNameLst>
                                          <p:attrName>style.opacity</p:attrName>
                                        </p:attrNameLst>
                                      </p:cBhvr>
                                      <p:to>
                                        <p:strVal val="0.25"/>
                                      </p:to>
                                    </p:set>
                                    <p:animEffect filter="image" prLst="opacity: 0.25">
                                      <p:cBhvr rctx="IE">
                                        <p:cTn id="13" dur="1" fill="hold"/>
                                        <p:tgtEl>
                                          <p:spTgt spid="10"/>
                                        </p:tgtEl>
                                      </p:cBhvr>
                                    </p:animEffect>
                                  </p:childTnLst>
                                </p:cTn>
                              </p:par>
                              <p:par>
                                <p:cTn id="14" presetID="9" presetClass="emph" presetSubtype="0" fill="hold" grpId="0" nodeType="withEffect">
                                  <p:stCondLst>
                                    <p:cond delay="0"/>
                                  </p:stCondLst>
                                  <p:childTnLst>
                                    <p:set>
                                      <p:cBhvr>
                                        <p:cTn id="15" dur="1" fill="hold"/>
                                        <p:tgtEl>
                                          <p:spTgt spid="11"/>
                                        </p:tgtEl>
                                        <p:attrNameLst>
                                          <p:attrName>style.opacity</p:attrName>
                                        </p:attrNameLst>
                                      </p:cBhvr>
                                      <p:to>
                                        <p:strVal val="0.25"/>
                                      </p:to>
                                    </p:set>
                                    <p:animEffect filter="image" prLst="opacity: 0.25">
                                      <p:cBhvr rctx="IE">
                                        <p:cTn id="16" dur="1" fill="hold"/>
                                        <p:tgtEl>
                                          <p:spTgt spid="11"/>
                                        </p:tgtEl>
                                      </p:cBhvr>
                                    </p:animEffect>
                                  </p:childTnLst>
                                </p:cTn>
                              </p:par>
                              <p:par>
                                <p:cTn id="17" presetID="9" presetClass="emph" presetSubtype="0" fill="hold" grpId="0" nodeType="withEffect">
                                  <p:stCondLst>
                                    <p:cond delay="0"/>
                                  </p:stCondLst>
                                  <p:childTnLst>
                                    <p:set>
                                      <p:cBhvr>
                                        <p:cTn id="18" dur="1" fill="hold"/>
                                        <p:tgtEl>
                                          <p:spTgt spid="12"/>
                                        </p:tgtEl>
                                        <p:attrNameLst>
                                          <p:attrName>style.opacity</p:attrName>
                                        </p:attrNameLst>
                                      </p:cBhvr>
                                      <p:to>
                                        <p:strVal val="0.25"/>
                                      </p:to>
                                    </p:set>
                                    <p:animEffect filter="image" prLst="opacity: 0.25">
                                      <p:cBhvr rctx="IE">
                                        <p:cTn id="19" dur="1" fill="hold"/>
                                        <p:tgtEl>
                                          <p:spTgt spid="12"/>
                                        </p:tgtEl>
                                      </p:cBhvr>
                                    </p:animEffect>
                                  </p:childTnLst>
                                </p:cTn>
                              </p:par>
                              <p:par>
                                <p:cTn id="20" presetID="9" presetClass="emph" presetSubtype="0" fill="hold" grpId="0" nodeType="withEffect">
                                  <p:stCondLst>
                                    <p:cond delay="0"/>
                                  </p:stCondLst>
                                  <p:childTnLst>
                                    <p:set>
                                      <p:cBhvr>
                                        <p:cTn id="21" dur="1" fill="hold"/>
                                        <p:tgtEl>
                                          <p:spTgt spid="13"/>
                                        </p:tgtEl>
                                        <p:attrNameLst>
                                          <p:attrName>style.opacity</p:attrName>
                                        </p:attrNameLst>
                                      </p:cBhvr>
                                      <p:to>
                                        <p:strVal val="0.25"/>
                                      </p:to>
                                    </p:set>
                                    <p:animEffect filter="image" prLst="opacity: 0.25">
                                      <p:cBhvr rctx="IE">
                                        <p:cTn id="22" dur="1" fill="hold"/>
                                        <p:tgtEl>
                                          <p:spTgt spid="13"/>
                                        </p:tgtEl>
                                      </p:cBhvr>
                                    </p:animEffect>
                                  </p:childTnLst>
                                </p:cTn>
                              </p:par>
                              <p:par>
                                <p:cTn id="23" presetID="9" presetClass="emph" presetSubtype="0" fill="hold" grpId="0" nodeType="withEffect">
                                  <p:stCondLst>
                                    <p:cond delay="0"/>
                                  </p:stCondLst>
                                  <p:childTnLst>
                                    <p:set>
                                      <p:cBhvr>
                                        <p:cTn id="24" dur="1" fill="hold"/>
                                        <p:tgtEl>
                                          <p:spTgt spid="14"/>
                                        </p:tgtEl>
                                        <p:attrNameLst>
                                          <p:attrName>style.opacity</p:attrName>
                                        </p:attrNameLst>
                                      </p:cBhvr>
                                      <p:to>
                                        <p:strVal val="0.25"/>
                                      </p:to>
                                    </p:set>
                                    <p:animEffect filter="image" prLst="opacity: 0.25">
                                      <p:cBhvr rctx="IE">
                                        <p:cTn id="25" dur="1" fill="hold"/>
                                        <p:tgtEl>
                                          <p:spTgt spid="14"/>
                                        </p:tgtEl>
                                      </p:cBhvr>
                                    </p:animEffect>
                                  </p:childTnLst>
                                </p:cTn>
                              </p:par>
                              <p:par>
                                <p:cTn id="26" presetID="9" presetClass="emph" presetSubtype="0" fill="hold" grpId="0" nodeType="withEffect">
                                  <p:stCondLst>
                                    <p:cond delay="0"/>
                                  </p:stCondLst>
                                  <p:childTnLst>
                                    <p:set>
                                      <p:cBhvr>
                                        <p:cTn id="27" dur="1" fill="hold"/>
                                        <p:tgtEl>
                                          <p:spTgt spid="15"/>
                                        </p:tgtEl>
                                        <p:attrNameLst>
                                          <p:attrName>style.opacity</p:attrName>
                                        </p:attrNameLst>
                                      </p:cBhvr>
                                      <p:to>
                                        <p:strVal val="0.25"/>
                                      </p:to>
                                    </p:set>
                                    <p:animEffect filter="image" prLst="opacity: 0.25">
                                      <p:cBhvr rctx="IE">
                                        <p:cTn id="28" dur="1" fill="hold"/>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mph" presetSubtype="0" fill="hold" grpId="0" nodeType="clickEffect">
                                  <p:stCondLst>
                                    <p:cond delay="0"/>
                                  </p:stCondLst>
                                  <p:childTnLst>
                                    <p:set>
                                      <p:cBhvr>
                                        <p:cTn id="32" dur="400" fill="hold"/>
                                        <p:tgtEl>
                                          <p:spTgt spid="8"/>
                                        </p:tgtEl>
                                        <p:attrNameLst>
                                          <p:attrName>style.opacity</p:attrName>
                                        </p:attrNameLst>
                                      </p:cBhvr>
                                      <p:to>
                                        <p:strVal val="1"/>
                                      </p:to>
                                    </p:set>
                                    <p:animEffect filter="image" prLst="opacity: 1">
                                      <p:cBhvr rctx="IE">
                                        <p:cTn id="33" dur="400" fill="hold"/>
                                        <p:tgtEl>
                                          <p:spTgt spid="8"/>
                                        </p:tgtEl>
                                      </p:cBhvr>
                                    </p:animEffect>
                                  </p:childTnLst>
                                </p:cTn>
                              </p:par>
                              <p:par>
                                <p:cTn id="34" presetID="9" presetClass="emph" presetSubtype="0" fill="hold" grpId="0" nodeType="withEffect">
                                  <p:stCondLst>
                                    <p:cond delay="0"/>
                                  </p:stCondLst>
                                  <p:childTnLst>
                                    <p:set>
                                      <p:cBhvr>
                                        <p:cTn id="35" dur="400" fill="hold"/>
                                        <p:tgtEl>
                                          <p:spTgt spid="9"/>
                                        </p:tgtEl>
                                        <p:attrNameLst>
                                          <p:attrName>style.opacity</p:attrName>
                                        </p:attrNameLst>
                                      </p:cBhvr>
                                      <p:to>
                                        <p:strVal val="1"/>
                                      </p:to>
                                    </p:set>
                                    <p:animEffect filter="image" prLst="opacity: 1">
                                      <p:cBhvr rctx="IE">
                                        <p:cTn id="36" dur="400" fill="hold"/>
                                        <p:tgtEl>
                                          <p:spTgt spid="9"/>
                                        </p:tgtEl>
                                      </p:cBhvr>
                                    </p:animEffect>
                                  </p:childTnLst>
                                </p:cTn>
                              </p:par>
                              <p:par>
                                <p:cTn id="37" presetID="9" presetClass="emph" presetSubtype="0" fill="hold" grpId="0" nodeType="withEffect">
                                  <p:stCondLst>
                                    <p:cond delay="0"/>
                                  </p:stCondLst>
                                  <p:childTnLst>
                                    <p:set>
                                      <p:cBhvr>
                                        <p:cTn id="38" dur="400" fill="hold"/>
                                        <p:tgtEl>
                                          <p:spTgt spid="6"/>
                                        </p:tgtEl>
                                        <p:attrNameLst>
                                          <p:attrName>style.opacity</p:attrName>
                                        </p:attrNameLst>
                                      </p:cBhvr>
                                      <p:to>
                                        <p:strVal val="0.25"/>
                                      </p:to>
                                    </p:set>
                                    <p:animEffect filter="image" prLst="opacity: 0.25">
                                      <p:cBhvr rctx="IE">
                                        <p:cTn id="39" dur="400" fill="hold"/>
                                        <p:tgtEl>
                                          <p:spTgt spid="6"/>
                                        </p:tgtEl>
                                      </p:cBhvr>
                                    </p:animEffect>
                                  </p:childTnLst>
                                </p:cTn>
                              </p:par>
                              <p:par>
                                <p:cTn id="40" presetID="9" presetClass="emph" presetSubtype="0" fill="hold" grpId="0" nodeType="withEffect">
                                  <p:stCondLst>
                                    <p:cond delay="0"/>
                                  </p:stCondLst>
                                  <p:childTnLst>
                                    <p:set>
                                      <p:cBhvr>
                                        <p:cTn id="41" dur="400" fill="hold"/>
                                        <p:tgtEl>
                                          <p:spTgt spid="7"/>
                                        </p:tgtEl>
                                        <p:attrNameLst>
                                          <p:attrName>style.opacity</p:attrName>
                                        </p:attrNameLst>
                                      </p:cBhvr>
                                      <p:to>
                                        <p:strVal val="0.25"/>
                                      </p:to>
                                    </p:set>
                                    <p:animEffect filter="image" prLst="opacity: 0.25">
                                      <p:cBhvr rctx="IE">
                                        <p:cTn id="42" dur="400" fill="hold"/>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mph" presetSubtype="0" fill="hold" grpId="0" nodeType="clickEffect">
                                  <p:stCondLst>
                                    <p:cond delay="0"/>
                                  </p:stCondLst>
                                  <p:childTnLst>
                                    <p:set>
                                      <p:cBhvr>
                                        <p:cTn id="46" dur="400" fill="hold"/>
                                        <p:tgtEl>
                                          <p:spTgt spid="10"/>
                                        </p:tgtEl>
                                        <p:attrNameLst>
                                          <p:attrName>style.opacity</p:attrName>
                                        </p:attrNameLst>
                                      </p:cBhvr>
                                      <p:to>
                                        <p:strVal val="1"/>
                                      </p:to>
                                    </p:set>
                                    <p:animEffect filter="image" prLst="opacity: 1">
                                      <p:cBhvr rctx="IE">
                                        <p:cTn id="47" dur="400" fill="hold"/>
                                        <p:tgtEl>
                                          <p:spTgt spid="10"/>
                                        </p:tgtEl>
                                      </p:cBhvr>
                                    </p:animEffect>
                                  </p:childTnLst>
                                </p:cTn>
                              </p:par>
                              <p:par>
                                <p:cTn id="48" presetID="9" presetClass="emph" presetSubtype="0" fill="hold" grpId="0" nodeType="withEffect">
                                  <p:stCondLst>
                                    <p:cond delay="0"/>
                                  </p:stCondLst>
                                  <p:childTnLst>
                                    <p:set>
                                      <p:cBhvr>
                                        <p:cTn id="49" dur="400" fill="hold"/>
                                        <p:tgtEl>
                                          <p:spTgt spid="11"/>
                                        </p:tgtEl>
                                        <p:attrNameLst>
                                          <p:attrName>style.opacity</p:attrName>
                                        </p:attrNameLst>
                                      </p:cBhvr>
                                      <p:to>
                                        <p:strVal val="1"/>
                                      </p:to>
                                    </p:set>
                                    <p:animEffect filter="image" prLst="opacity: 1">
                                      <p:cBhvr rctx="IE">
                                        <p:cTn id="50" dur="400" fill="hold"/>
                                        <p:tgtEl>
                                          <p:spTgt spid="11"/>
                                        </p:tgtEl>
                                      </p:cBhvr>
                                    </p:animEffect>
                                  </p:childTnLst>
                                </p:cTn>
                              </p:par>
                              <p:par>
                                <p:cTn id="51" presetID="9" presetClass="emph" presetSubtype="0" fill="hold" grpId="0" nodeType="withEffect">
                                  <p:stCondLst>
                                    <p:cond delay="0"/>
                                  </p:stCondLst>
                                  <p:childTnLst>
                                    <p:set>
                                      <p:cBhvr>
                                        <p:cTn id="52" dur="400" fill="hold"/>
                                        <p:tgtEl>
                                          <p:spTgt spid="8"/>
                                        </p:tgtEl>
                                        <p:attrNameLst>
                                          <p:attrName>style.opacity</p:attrName>
                                        </p:attrNameLst>
                                      </p:cBhvr>
                                      <p:to>
                                        <p:strVal val="0.25"/>
                                      </p:to>
                                    </p:set>
                                    <p:animEffect filter="image" prLst="opacity: 0.25">
                                      <p:cBhvr rctx="IE">
                                        <p:cTn id="53" dur="400" fill="hold"/>
                                        <p:tgtEl>
                                          <p:spTgt spid="8"/>
                                        </p:tgtEl>
                                      </p:cBhvr>
                                    </p:animEffect>
                                  </p:childTnLst>
                                </p:cTn>
                              </p:par>
                              <p:par>
                                <p:cTn id="54" presetID="9" presetClass="emph" presetSubtype="0" fill="hold" grpId="0" nodeType="withEffect">
                                  <p:stCondLst>
                                    <p:cond delay="0"/>
                                  </p:stCondLst>
                                  <p:childTnLst>
                                    <p:set>
                                      <p:cBhvr>
                                        <p:cTn id="55" dur="400" fill="hold"/>
                                        <p:tgtEl>
                                          <p:spTgt spid="9"/>
                                        </p:tgtEl>
                                        <p:attrNameLst>
                                          <p:attrName>style.opacity</p:attrName>
                                        </p:attrNameLst>
                                      </p:cBhvr>
                                      <p:to>
                                        <p:strVal val="0.25"/>
                                      </p:to>
                                    </p:set>
                                    <p:animEffect filter="image" prLst="opacity: 0.25">
                                      <p:cBhvr rctx="IE">
                                        <p:cTn id="56" dur="400" fill="hold"/>
                                        <p:tgtEl>
                                          <p:spTgt spid="9"/>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mph" presetSubtype="0" fill="hold" grpId="0" nodeType="clickEffect">
                                  <p:stCondLst>
                                    <p:cond delay="0"/>
                                  </p:stCondLst>
                                  <p:childTnLst>
                                    <p:set>
                                      <p:cBhvr>
                                        <p:cTn id="60" dur="400" fill="hold"/>
                                        <p:tgtEl>
                                          <p:spTgt spid="12"/>
                                        </p:tgtEl>
                                        <p:attrNameLst>
                                          <p:attrName>style.opacity</p:attrName>
                                        </p:attrNameLst>
                                      </p:cBhvr>
                                      <p:to>
                                        <p:strVal val="1"/>
                                      </p:to>
                                    </p:set>
                                    <p:animEffect filter="image" prLst="opacity: 1">
                                      <p:cBhvr rctx="IE">
                                        <p:cTn id="61" dur="400" fill="hold"/>
                                        <p:tgtEl>
                                          <p:spTgt spid="12"/>
                                        </p:tgtEl>
                                      </p:cBhvr>
                                    </p:animEffect>
                                  </p:childTnLst>
                                </p:cTn>
                              </p:par>
                              <p:par>
                                <p:cTn id="62" presetID="9" presetClass="emph" presetSubtype="0" fill="hold" grpId="0" nodeType="withEffect">
                                  <p:stCondLst>
                                    <p:cond delay="0"/>
                                  </p:stCondLst>
                                  <p:childTnLst>
                                    <p:set>
                                      <p:cBhvr>
                                        <p:cTn id="63" dur="400" fill="hold"/>
                                        <p:tgtEl>
                                          <p:spTgt spid="13"/>
                                        </p:tgtEl>
                                        <p:attrNameLst>
                                          <p:attrName>style.opacity</p:attrName>
                                        </p:attrNameLst>
                                      </p:cBhvr>
                                      <p:to>
                                        <p:strVal val="1"/>
                                      </p:to>
                                    </p:set>
                                    <p:animEffect filter="image" prLst="opacity: 1">
                                      <p:cBhvr rctx="IE">
                                        <p:cTn id="64" dur="400" fill="hold"/>
                                        <p:tgtEl>
                                          <p:spTgt spid="13"/>
                                        </p:tgtEl>
                                      </p:cBhvr>
                                    </p:animEffect>
                                  </p:childTnLst>
                                </p:cTn>
                              </p:par>
                              <p:par>
                                <p:cTn id="65" presetID="9" presetClass="emph" presetSubtype="0" fill="hold" grpId="0" nodeType="withEffect">
                                  <p:stCondLst>
                                    <p:cond delay="0"/>
                                  </p:stCondLst>
                                  <p:childTnLst>
                                    <p:set>
                                      <p:cBhvr>
                                        <p:cTn id="66" dur="400" fill="hold"/>
                                        <p:tgtEl>
                                          <p:spTgt spid="10"/>
                                        </p:tgtEl>
                                        <p:attrNameLst>
                                          <p:attrName>style.opacity</p:attrName>
                                        </p:attrNameLst>
                                      </p:cBhvr>
                                      <p:to>
                                        <p:strVal val="0.25"/>
                                      </p:to>
                                    </p:set>
                                    <p:animEffect filter="image" prLst="opacity: 0.25">
                                      <p:cBhvr rctx="IE">
                                        <p:cTn id="67" dur="400" fill="hold"/>
                                        <p:tgtEl>
                                          <p:spTgt spid="10"/>
                                        </p:tgtEl>
                                      </p:cBhvr>
                                    </p:animEffect>
                                  </p:childTnLst>
                                </p:cTn>
                              </p:par>
                              <p:par>
                                <p:cTn id="68" presetID="9" presetClass="emph" presetSubtype="0" fill="hold" grpId="0" nodeType="withEffect">
                                  <p:stCondLst>
                                    <p:cond delay="0"/>
                                  </p:stCondLst>
                                  <p:childTnLst>
                                    <p:set>
                                      <p:cBhvr>
                                        <p:cTn id="69" dur="400" fill="hold"/>
                                        <p:tgtEl>
                                          <p:spTgt spid="11"/>
                                        </p:tgtEl>
                                        <p:attrNameLst>
                                          <p:attrName>style.opacity</p:attrName>
                                        </p:attrNameLst>
                                      </p:cBhvr>
                                      <p:to>
                                        <p:strVal val="0.25"/>
                                      </p:to>
                                    </p:set>
                                    <p:animEffect filter="image" prLst="opacity: 0.25">
                                      <p:cBhvr rctx="IE">
                                        <p:cTn id="70" dur="400" fill="hold"/>
                                        <p:tgtEl>
                                          <p:spTgt spid="11"/>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mph" presetSubtype="0" fill="hold" grpId="0" nodeType="clickEffect">
                                  <p:stCondLst>
                                    <p:cond delay="0"/>
                                  </p:stCondLst>
                                  <p:childTnLst>
                                    <p:set>
                                      <p:cBhvr>
                                        <p:cTn id="74" dur="400" fill="hold"/>
                                        <p:tgtEl>
                                          <p:spTgt spid="14"/>
                                        </p:tgtEl>
                                        <p:attrNameLst>
                                          <p:attrName>style.opacity</p:attrName>
                                        </p:attrNameLst>
                                      </p:cBhvr>
                                      <p:to>
                                        <p:strVal val="1"/>
                                      </p:to>
                                    </p:set>
                                    <p:animEffect filter="image" prLst="opacity: 1">
                                      <p:cBhvr rctx="IE">
                                        <p:cTn id="75" dur="400" fill="hold"/>
                                        <p:tgtEl>
                                          <p:spTgt spid="14"/>
                                        </p:tgtEl>
                                      </p:cBhvr>
                                    </p:animEffect>
                                  </p:childTnLst>
                                </p:cTn>
                              </p:par>
                              <p:par>
                                <p:cTn id="76" presetID="9" presetClass="emph" presetSubtype="0" fill="hold" grpId="0" nodeType="withEffect">
                                  <p:stCondLst>
                                    <p:cond delay="0"/>
                                  </p:stCondLst>
                                  <p:childTnLst>
                                    <p:set>
                                      <p:cBhvr>
                                        <p:cTn id="77" dur="400" fill="hold"/>
                                        <p:tgtEl>
                                          <p:spTgt spid="15"/>
                                        </p:tgtEl>
                                        <p:attrNameLst>
                                          <p:attrName>style.opacity</p:attrName>
                                        </p:attrNameLst>
                                      </p:cBhvr>
                                      <p:to>
                                        <p:strVal val="1"/>
                                      </p:to>
                                    </p:set>
                                    <p:animEffect filter="image" prLst="opacity: 1">
                                      <p:cBhvr rctx="IE">
                                        <p:cTn id="78" dur="400" fill="hold"/>
                                        <p:tgtEl>
                                          <p:spTgt spid="15"/>
                                        </p:tgtEl>
                                      </p:cBhvr>
                                    </p:animEffect>
                                  </p:childTnLst>
                                </p:cTn>
                              </p:par>
                              <p:par>
                                <p:cTn id="79" presetID="9" presetClass="emph" presetSubtype="0" fill="hold" grpId="0" nodeType="withEffect">
                                  <p:stCondLst>
                                    <p:cond delay="0"/>
                                  </p:stCondLst>
                                  <p:childTnLst>
                                    <p:set>
                                      <p:cBhvr>
                                        <p:cTn id="80" dur="400" fill="hold"/>
                                        <p:tgtEl>
                                          <p:spTgt spid="12"/>
                                        </p:tgtEl>
                                        <p:attrNameLst>
                                          <p:attrName>style.opacity</p:attrName>
                                        </p:attrNameLst>
                                      </p:cBhvr>
                                      <p:to>
                                        <p:strVal val="0.25"/>
                                      </p:to>
                                    </p:set>
                                    <p:animEffect filter="image" prLst="opacity: 0.25">
                                      <p:cBhvr rctx="IE">
                                        <p:cTn id="81" dur="400" fill="hold"/>
                                        <p:tgtEl>
                                          <p:spTgt spid="12"/>
                                        </p:tgtEl>
                                      </p:cBhvr>
                                    </p:animEffect>
                                  </p:childTnLst>
                                </p:cTn>
                              </p:par>
                              <p:par>
                                <p:cTn id="82" presetID="9" presetClass="emph" presetSubtype="0" fill="hold" grpId="0" nodeType="withEffect">
                                  <p:stCondLst>
                                    <p:cond delay="0"/>
                                  </p:stCondLst>
                                  <p:childTnLst>
                                    <p:set>
                                      <p:cBhvr>
                                        <p:cTn id="83" dur="400" fill="hold"/>
                                        <p:tgtEl>
                                          <p:spTgt spid="13"/>
                                        </p:tgtEl>
                                        <p:attrNameLst>
                                          <p:attrName>style.opacity</p:attrName>
                                        </p:attrNameLst>
                                      </p:cBhvr>
                                      <p:to>
                                        <p:strVal val="0.25"/>
                                      </p:to>
                                    </p:set>
                                    <p:animEffect filter="image" prLst="opacity: 0.25">
                                      <p:cBhvr rctx="IE">
                                        <p:cTn id="84" dur="400" fill="hold"/>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Anatomy of the terminal</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548640" y="1463040"/>
            <a:ext cx="704088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7" name="Shape 4"/>
          <p:cNvSpPr/>
          <p:nvPr/>
        </p:nvSpPr>
        <p:spPr>
          <a:xfrm>
            <a:off x="749808" y="1618488"/>
            <a:ext cx="118872" cy="118872"/>
          </a:xfrm>
          <a:prstGeom prst="ellipse">
            <a:avLst/>
          </a:prstGeom>
          <a:solidFill>
            <a:srgbClr val="E5534B"/>
          </a:solidFill>
          <a:ln/>
        </p:spPr>
        <p:txBody>
          <a:bodyPr/>
          <a:lstStyle/>
          <a:p>
            <a:endParaRPr lang="en-US"/>
          </a:p>
        </p:txBody>
      </p:sp>
      <p:sp>
        <p:nvSpPr>
          <p:cNvPr id="8" name="Shape 5"/>
          <p:cNvSpPr/>
          <p:nvPr/>
        </p:nvSpPr>
        <p:spPr>
          <a:xfrm>
            <a:off x="950976" y="1618488"/>
            <a:ext cx="118872" cy="118872"/>
          </a:xfrm>
          <a:prstGeom prst="ellipse">
            <a:avLst/>
          </a:prstGeom>
          <a:solidFill>
            <a:srgbClr val="F5A623"/>
          </a:solidFill>
          <a:ln/>
        </p:spPr>
        <p:txBody>
          <a:bodyPr/>
          <a:lstStyle/>
          <a:p>
            <a:endParaRPr lang="en-US"/>
          </a:p>
        </p:txBody>
      </p:sp>
      <p:sp>
        <p:nvSpPr>
          <p:cNvPr id="9" name="Shape 6"/>
          <p:cNvSpPr/>
          <p:nvPr/>
        </p:nvSpPr>
        <p:spPr>
          <a:xfrm>
            <a:off x="1152144" y="1618488"/>
            <a:ext cx="118872" cy="118872"/>
          </a:xfrm>
          <a:prstGeom prst="ellipse">
            <a:avLst/>
          </a:prstGeom>
          <a:solidFill>
            <a:srgbClr val="46D39A"/>
          </a:solidFill>
          <a:ln/>
        </p:spPr>
        <p:txBody>
          <a:bodyPr/>
          <a:lstStyle/>
          <a:p>
            <a:endParaRPr lang="en-US"/>
          </a:p>
        </p:txBody>
      </p:sp>
      <p:sp>
        <p:nvSpPr>
          <p:cNvPr id="10" name="Text 7"/>
          <p:cNvSpPr txBox="1"/>
          <p:nvPr/>
        </p:nvSpPr>
        <p:spPr>
          <a:xfrm>
            <a:off x="1463040" y="1536192"/>
            <a:ext cx="52120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CyberQuest Linux CTF terminal</a:t>
            </a:r>
            <a:endParaRPr lang="en-US" sz="1000" dirty="0"/>
          </a:p>
        </p:txBody>
      </p:sp>
      <p:sp>
        <p:nvSpPr>
          <p:cNvPr id="11" name="Text 8"/>
          <p:cNvSpPr txBox="1"/>
          <p:nvPr/>
        </p:nvSpPr>
        <p:spPr>
          <a:xfrm>
            <a:off x="914400" y="2240280"/>
            <a:ext cx="1981200" cy="411480"/>
          </a:xfrm>
          <a:prstGeom prst="rect">
            <a:avLst/>
          </a:prstGeom>
          <a:noFill/>
          <a:ln/>
        </p:spPr>
        <p:txBody>
          <a:bodyPr wrap="square" lIns="0" tIns="0" rIns="0" bIns="0" rtlCol="0" anchor="ctr"/>
          <a:lstStyle/>
          <a:p>
            <a:pPr marL="0" indent="0">
              <a:buNone/>
            </a:pPr>
            <a:r>
              <a:rPr lang="en-US" sz="1700" b="1" dirty="0">
                <a:solidFill>
                  <a:srgbClr val="46D39A"/>
                </a:solidFill>
                <a:latin typeface="Courier New" pitchFamily="34" charset="0"/>
                <a:ea typeface="Courier New" pitchFamily="34" charset="-122"/>
                <a:cs typeface="Courier New" pitchFamily="34" charset="-120"/>
              </a:rPr>
              <a:t>player@quest:~</a:t>
            </a:r>
            <a:endParaRPr lang="en-US" sz="1700" dirty="0"/>
          </a:p>
        </p:txBody>
      </p:sp>
      <p:sp>
        <p:nvSpPr>
          <p:cNvPr id="12" name="Text 9"/>
          <p:cNvSpPr txBox="1"/>
          <p:nvPr/>
        </p:nvSpPr>
        <p:spPr>
          <a:xfrm>
            <a:off x="2727960" y="2240280"/>
            <a:ext cx="403860" cy="411480"/>
          </a:xfrm>
          <a:prstGeom prst="rect">
            <a:avLst/>
          </a:prstGeom>
          <a:noFill/>
          <a:ln/>
        </p:spPr>
        <p:txBody>
          <a:bodyPr wrap="square" lIns="0" tIns="0" rIns="0" bIns="0" rtlCol="0" anchor="ctr"/>
          <a:lstStyle/>
          <a:p>
            <a:pPr marL="0" indent="0">
              <a:buNone/>
            </a:pPr>
            <a:r>
              <a:rPr lang="en-US" sz="1700" b="1" dirty="0">
                <a:solidFill>
                  <a:srgbClr val="F5A623"/>
                </a:solidFill>
                <a:latin typeface="Courier New" pitchFamily="34" charset="0"/>
                <a:ea typeface="Courier New" pitchFamily="34" charset="-122"/>
                <a:cs typeface="Courier New" pitchFamily="34" charset="-120"/>
              </a:rPr>
              <a:t>$</a:t>
            </a:r>
            <a:endParaRPr lang="en-US" sz="1700" dirty="0"/>
          </a:p>
        </p:txBody>
      </p:sp>
      <p:sp>
        <p:nvSpPr>
          <p:cNvPr id="13" name="Text 10"/>
          <p:cNvSpPr txBox="1"/>
          <p:nvPr/>
        </p:nvSpPr>
        <p:spPr>
          <a:xfrm>
            <a:off x="2987040" y="2240280"/>
            <a:ext cx="662940" cy="411480"/>
          </a:xfrm>
          <a:prstGeom prst="rect">
            <a:avLst/>
          </a:prstGeom>
          <a:noFill/>
          <a:ln/>
        </p:spPr>
        <p:txBody>
          <a:bodyPr wrap="square" lIns="0" tIns="0" rIns="0" bIns="0" rtlCol="0" anchor="ctr"/>
          <a:lstStyle/>
          <a:p>
            <a:pPr marL="0" indent="0">
              <a:buNone/>
            </a:pPr>
            <a:r>
              <a:rPr lang="en-US" sz="1700" b="1" dirty="0">
                <a:solidFill>
                  <a:srgbClr val="FFFFFF"/>
                </a:solidFill>
                <a:latin typeface="Courier New" pitchFamily="34" charset="0"/>
                <a:ea typeface="Courier New" pitchFamily="34" charset="-122"/>
                <a:cs typeface="Courier New" pitchFamily="34" charset="-120"/>
              </a:rPr>
              <a:t>pwd</a:t>
            </a:r>
            <a:endParaRPr lang="en-US" sz="1700" dirty="0"/>
          </a:p>
        </p:txBody>
      </p:sp>
      <p:sp>
        <p:nvSpPr>
          <p:cNvPr id="14" name="Text 11"/>
          <p:cNvSpPr txBox="1"/>
          <p:nvPr/>
        </p:nvSpPr>
        <p:spPr>
          <a:xfrm>
            <a:off x="3634740" y="2240280"/>
            <a:ext cx="2606040" cy="411480"/>
          </a:xfrm>
          <a:prstGeom prst="rect">
            <a:avLst/>
          </a:prstGeom>
          <a:noFill/>
          <a:ln/>
        </p:spPr>
        <p:txBody>
          <a:bodyPr wrap="square" lIns="0" tIns="0" rIns="0" bIns="0" rtlCol="0" anchor="ctr"/>
          <a:lstStyle/>
          <a:p>
            <a:pPr marL="0" indent="0">
              <a:buNone/>
            </a:pPr>
            <a:r>
              <a:rPr lang="en-US" sz="1700" dirty="0">
                <a:solidFill>
                  <a:srgbClr val="7F8FAD"/>
                </a:solidFill>
                <a:latin typeface="Courier New" pitchFamily="34" charset="0"/>
                <a:ea typeface="Courier New" pitchFamily="34" charset="-122"/>
                <a:cs typeface="Courier New" pitchFamily="34" charset="-120"/>
              </a:rPr>
              <a:t># then press Enter</a:t>
            </a:r>
            <a:endParaRPr lang="en-US" sz="1700" dirty="0"/>
          </a:p>
        </p:txBody>
      </p:sp>
      <p:sp>
        <p:nvSpPr>
          <p:cNvPr id="15" name="Text 12"/>
          <p:cNvSpPr txBox="1"/>
          <p:nvPr/>
        </p:nvSpPr>
        <p:spPr>
          <a:xfrm>
            <a:off x="914400" y="3246120"/>
            <a:ext cx="1828800" cy="411480"/>
          </a:xfrm>
          <a:prstGeom prst="rect">
            <a:avLst/>
          </a:prstGeom>
          <a:noFill/>
          <a:ln/>
        </p:spPr>
        <p:txBody>
          <a:bodyPr wrap="square" lIns="0" tIns="0" rIns="0" bIns="0" rtlCol="0" anchor="ctr"/>
          <a:lstStyle/>
          <a:p>
            <a:pPr marL="0" indent="0">
              <a:buNone/>
            </a:pPr>
            <a:r>
              <a:rPr lang="en-US" sz="1700" dirty="0">
                <a:solidFill>
                  <a:srgbClr val="B8C4D9"/>
                </a:solidFill>
                <a:latin typeface="Courier New" pitchFamily="34" charset="0"/>
                <a:ea typeface="Courier New" pitchFamily="34" charset="-122"/>
                <a:cs typeface="Courier New" pitchFamily="34" charset="-120"/>
              </a:rPr>
              <a:t>/home/player</a:t>
            </a:r>
            <a:endParaRPr lang="en-US" sz="1700" dirty="0"/>
          </a:p>
        </p:txBody>
      </p:sp>
      <p:sp>
        <p:nvSpPr>
          <p:cNvPr id="16" name="Text 13"/>
          <p:cNvSpPr txBox="1"/>
          <p:nvPr/>
        </p:nvSpPr>
        <p:spPr>
          <a:xfrm>
            <a:off x="914400" y="4251960"/>
            <a:ext cx="2087880" cy="411480"/>
          </a:xfrm>
          <a:prstGeom prst="rect">
            <a:avLst/>
          </a:prstGeom>
          <a:noFill/>
          <a:ln/>
        </p:spPr>
        <p:txBody>
          <a:bodyPr wrap="square" lIns="0" tIns="0" rIns="0" bIns="0" rtlCol="0" anchor="ctr"/>
          <a:lstStyle/>
          <a:p>
            <a:pPr marL="0" indent="0">
              <a:buNone/>
            </a:pPr>
            <a:r>
              <a:rPr lang="en-US" sz="1700" b="1" dirty="0">
                <a:solidFill>
                  <a:srgbClr val="46D39A"/>
                </a:solidFill>
                <a:latin typeface="Courier New" pitchFamily="34" charset="0"/>
                <a:ea typeface="Courier New" pitchFamily="34" charset="-122"/>
                <a:cs typeface="Courier New" pitchFamily="34" charset="-120"/>
              </a:rPr>
              <a:t>player@quest:~</a:t>
            </a:r>
            <a:endParaRPr lang="en-US" sz="1700" dirty="0"/>
          </a:p>
        </p:txBody>
      </p:sp>
      <p:sp>
        <p:nvSpPr>
          <p:cNvPr id="17" name="Text 14"/>
          <p:cNvSpPr txBox="1"/>
          <p:nvPr/>
        </p:nvSpPr>
        <p:spPr>
          <a:xfrm>
            <a:off x="2727960" y="4251960"/>
            <a:ext cx="403860" cy="411480"/>
          </a:xfrm>
          <a:prstGeom prst="rect">
            <a:avLst/>
          </a:prstGeom>
          <a:noFill/>
          <a:ln/>
        </p:spPr>
        <p:txBody>
          <a:bodyPr wrap="square" lIns="0" tIns="0" rIns="0" bIns="0" rtlCol="0" anchor="ctr"/>
          <a:lstStyle/>
          <a:p>
            <a:pPr marL="0" indent="0">
              <a:buNone/>
            </a:pPr>
            <a:r>
              <a:rPr lang="en-US" sz="1700" b="1" dirty="0">
                <a:solidFill>
                  <a:srgbClr val="F5A623"/>
                </a:solidFill>
                <a:latin typeface="Courier New" pitchFamily="34" charset="0"/>
                <a:ea typeface="Courier New" pitchFamily="34" charset="-122"/>
                <a:cs typeface="Courier New" pitchFamily="34" charset="-120"/>
              </a:rPr>
              <a:t>$</a:t>
            </a:r>
            <a:endParaRPr lang="en-US" sz="1700" dirty="0"/>
          </a:p>
        </p:txBody>
      </p:sp>
      <p:sp>
        <p:nvSpPr>
          <p:cNvPr id="18" name="Shape 15"/>
          <p:cNvSpPr/>
          <p:nvPr/>
        </p:nvSpPr>
        <p:spPr>
          <a:xfrm>
            <a:off x="2987040" y="4297680"/>
            <a:ext cx="116586" cy="329184"/>
          </a:xfrm>
          <a:prstGeom prst="rect">
            <a:avLst/>
          </a:prstGeom>
          <a:solidFill>
            <a:srgbClr val="B8C4D9"/>
          </a:solidFill>
          <a:ln/>
        </p:spPr>
        <p:txBody>
          <a:bodyPr/>
          <a:lstStyle/>
          <a:p>
            <a:endParaRPr lang="en-US"/>
          </a:p>
        </p:txBody>
      </p:sp>
      <p:sp>
        <p:nvSpPr>
          <p:cNvPr id="19" name="Shape 16"/>
          <p:cNvSpPr/>
          <p:nvPr/>
        </p:nvSpPr>
        <p:spPr>
          <a:xfrm>
            <a:off x="850392" y="2221992"/>
            <a:ext cx="2025396" cy="448056"/>
          </a:xfrm>
          <a:prstGeom prst="roundRect">
            <a:avLst>
              <a:gd name="adj" fmla="val 12245"/>
            </a:avLst>
          </a:prstGeom>
          <a:ln w="25400">
            <a:solidFill>
              <a:srgbClr val="46D39A"/>
            </a:solidFill>
            <a:prstDash val="solid"/>
          </a:ln>
        </p:spPr>
        <p:txBody>
          <a:bodyPr/>
          <a:lstStyle/>
          <a:p>
            <a:endParaRPr lang="en-US"/>
          </a:p>
        </p:txBody>
      </p:sp>
      <p:sp>
        <p:nvSpPr>
          <p:cNvPr id="20" name="Shape 17"/>
          <p:cNvSpPr/>
          <p:nvPr/>
        </p:nvSpPr>
        <p:spPr>
          <a:xfrm>
            <a:off x="2709672" y="2221992"/>
            <a:ext cx="166116" cy="448056"/>
          </a:xfrm>
          <a:prstGeom prst="roundRect">
            <a:avLst>
              <a:gd name="adj" fmla="val 33028"/>
            </a:avLst>
          </a:prstGeom>
          <a:ln w="25400">
            <a:solidFill>
              <a:srgbClr val="F5A623"/>
            </a:solidFill>
            <a:prstDash val="solid"/>
          </a:ln>
        </p:spPr>
        <p:txBody>
          <a:bodyPr/>
          <a:lstStyle/>
          <a:p>
            <a:endParaRPr lang="en-US"/>
          </a:p>
        </p:txBody>
      </p:sp>
      <p:sp>
        <p:nvSpPr>
          <p:cNvPr id="21" name="Shape 18"/>
          <p:cNvSpPr/>
          <p:nvPr/>
        </p:nvSpPr>
        <p:spPr>
          <a:xfrm>
            <a:off x="2923032" y="2221992"/>
            <a:ext cx="516636" cy="448056"/>
          </a:xfrm>
          <a:prstGeom prst="roundRect">
            <a:avLst>
              <a:gd name="adj" fmla="val 12245"/>
            </a:avLst>
          </a:prstGeom>
          <a:ln w="25400">
            <a:solidFill>
              <a:srgbClr val="7FB2FF"/>
            </a:solidFill>
            <a:prstDash val="solid"/>
          </a:ln>
        </p:spPr>
        <p:txBody>
          <a:bodyPr/>
          <a:lstStyle/>
          <a:p>
            <a:endParaRPr lang="en-US"/>
          </a:p>
        </p:txBody>
      </p:sp>
      <p:sp>
        <p:nvSpPr>
          <p:cNvPr id="22" name="Shape 19"/>
          <p:cNvSpPr/>
          <p:nvPr/>
        </p:nvSpPr>
        <p:spPr>
          <a:xfrm>
            <a:off x="850392" y="3227832"/>
            <a:ext cx="1682496" cy="448056"/>
          </a:xfrm>
          <a:prstGeom prst="roundRect">
            <a:avLst>
              <a:gd name="adj" fmla="val 12245"/>
            </a:avLst>
          </a:prstGeom>
          <a:ln w="25400">
            <a:solidFill>
              <a:srgbClr val="C9A7FF"/>
            </a:solidFill>
            <a:prstDash val="solid"/>
          </a:ln>
        </p:spPr>
        <p:txBody>
          <a:bodyPr/>
          <a:lstStyle/>
          <a:p>
            <a:endParaRPr lang="en-US"/>
          </a:p>
        </p:txBody>
      </p:sp>
      <p:sp>
        <p:nvSpPr>
          <p:cNvPr id="23" name="Shape 20"/>
          <p:cNvSpPr/>
          <p:nvPr/>
        </p:nvSpPr>
        <p:spPr>
          <a:xfrm>
            <a:off x="2963405" y="4233672"/>
            <a:ext cx="166116" cy="448056"/>
          </a:xfrm>
          <a:prstGeom prst="roundRect">
            <a:avLst>
              <a:gd name="adj" fmla="val 33028"/>
            </a:avLst>
          </a:prstGeom>
          <a:ln w="25400">
            <a:solidFill>
              <a:srgbClr val="FF8FB1"/>
            </a:solidFill>
            <a:prstDash val="solid"/>
          </a:ln>
        </p:spPr>
        <p:txBody>
          <a:bodyPr/>
          <a:lstStyle/>
          <a:p>
            <a:endParaRPr lang="en-US"/>
          </a:p>
        </p:txBody>
      </p:sp>
      <p:sp>
        <p:nvSpPr>
          <p:cNvPr id="24" name="Shape 21"/>
          <p:cNvSpPr/>
          <p:nvPr/>
        </p:nvSpPr>
        <p:spPr>
          <a:xfrm>
            <a:off x="7086600" y="1572768"/>
            <a:ext cx="329184" cy="329184"/>
          </a:xfrm>
          <a:prstGeom prst="ellipse">
            <a:avLst/>
          </a:prstGeom>
          <a:solidFill>
            <a:srgbClr val="FFFFFF"/>
          </a:solidFill>
          <a:ln/>
        </p:spPr>
        <p:txBody>
          <a:bodyPr/>
          <a:lstStyle/>
          <a:p>
            <a:endParaRPr lang="en-US"/>
          </a:p>
        </p:txBody>
      </p:sp>
      <p:sp>
        <p:nvSpPr>
          <p:cNvPr id="25" name="Text 22"/>
          <p:cNvSpPr txBox="1"/>
          <p:nvPr/>
        </p:nvSpPr>
        <p:spPr>
          <a:xfrm>
            <a:off x="7086600" y="1572768"/>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1</a:t>
            </a:r>
            <a:endParaRPr lang="en-US" sz="1300" dirty="0"/>
          </a:p>
        </p:txBody>
      </p:sp>
      <p:sp>
        <p:nvSpPr>
          <p:cNvPr id="26" name="Shape 23"/>
          <p:cNvSpPr/>
          <p:nvPr/>
        </p:nvSpPr>
        <p:spPr>
          <a:xfrm>
            <a:off x="804672" y="1819656"/>
            <a:ext cx="329184" cy="329184"/>
          </a:xfrm>
          <a:prstGeom prst="ellipse">
            <a:avLst/>
          </a:prstGeom>
          <a:solidFill>
            <a:srgbClr val="46D39A"/>
          </a:solidFill>
          <a:ln/>
        </p:spPr>
        <p:txBody>
          <a:bodyPr/>
          <a:lstStyle/>
          <a:p>
            <a:endParaRPr lang="en-US"/>
          </a:p>
        </p:txBody>
      </p:sp>
      <p:sp>
        <p:nvSpPr>
          <p:cNvPr id="27" name="Text 24"/>
          <p:cNvSpPr txBox="1"/>
          <p:nvPr/>
        </p:nvSpPr>
        <p:spPr>
          <a:xfrm>
            <a:off x="804672" y="181965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2</a:t>
            </a:r>
            <a:endParaRPr lang="en-US" sz="1300" dirty="0"/>
          </a:p>
        </p:txBody>
      </p:sp>
      <p:sp>
        <p:nvSpPr>
          <p:cNvPr id="28" name="Shape 25"/>
          <p:cNvSpPr/>
          <p:nvPr/>
        </p:nvSpPr>
        <p:spPr>
          <a:xfrm>
            <a:off x="2636520" y="1819656"/>
            <a:ext cx="329184" cy="329184"/>
          </a:xfrm>
          <a:prstGeom prst="ellipse">
            <a:avLst/>
          </a:prstGeom>
          <a:solidFill>
            <a:srgbClr val="F5A623"/>
          </a:solidFill>
          <a:ln/>
        </p:spPr>
        <p:txBody>
          <a:bodyPr/>
          <a:lstStyle/>
          <a:p>
            <a:endParaRPr lang="en-US"/>
          </a:p>
        </p:txBody>
      </p:sp>
      <p:sp>
        <p:nvSpPr>
          <p:cNvPr id="29" name="Text 26"/>
          <p:cNvSpPr txBox="1"/>
          <p:nvPr/>
        </p:nvSpPr>
        <p:spPr>
          <a:xfrm>
            <a:off x="2636520" y="181965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3</a:t>
            </a:r>
            <a:endParaRPr lang="en-US" sz="1300" dirty="0"/>
          </a:p>
        </p:txBody>
      </p:sp>
      <p:sp>
        <p:nvSpPr>
          <p:cNvPr id="30" name="Shape 27"/>
          <p:cNvSpPr/>
          <p:nvPr/>
        </p:nvSpPr>
        <p:spPr>
          <a:xfrm>
            <a:off x="3096768" y="1819656"/>
            <a:ext cx="329184" cy="329184"/>
          </a:xfrm>
          <a:prstGeom prst="ellipse">
            <a:avLst/>
          </a:prstGeom>
          <a:solidFill>
            <a:srgbClr val="7FB2FF"/>
          </a:solidFill>
          <a:ln/>
        </p:spPr>
        <p:txBody>
          <a:bodyPr/>
          <a:lstStyle/>
          <a:p>
            <a:endParaRPr lang="en-US"/>
          </a:p>
        </p:txBody>
      </p:sp>
      <p:sp>
        <p:nvSpPr>
          <p:cNvPr id="31" name="Text 28"/>
          <p:cNvSpPr txBox="1"/>
          <p:nvPr/>
        </p:nvSpPr>
        <p:spPr>
          <a:xfrm>
            <a:off x="3096768" y="181965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4</a:t>
            </a:r>
            <a:endParaRPr lang="en-US" sz="1300" dirty="0"/>
          </a:p>
        </p:txBody>
      </p:sp>
      <p:sp>
        <p:nvSpPr>
          <p:cNvPr id="32" name="Shape 29"/>
          <p:cNvSpPr/>
          <p:nvPr/>
        </p:nvSpPr>
        <p:spPr>
          <a:xfrm>
            <a:off x="804672" y="2825496"/>
            <a:ext cx="329184" cy="329184"/>
          </a:xfrm>
          <a:prstGeom prst="ellipse">
            <a:avLst/>
          </a:prstGeom>
          <a:solidFill>
            <a:srgbClr val="C9A7FF"/>
          </a:solidFill>
          <a:ln/>
        </p:spPr>
        <p:txBody>
          <a:bodyPr/>
          <a:lstStyle/>
          <a:p>
            <a:endParaRPr lang="en-US"/>
          </a:p>
        </p:txBody>
      </p:sp>
      <p:sp>
        <p:nvSpPr>
          <p:cNvPr id="33" name="Text 30"/>
          <p:cNvSpPr txBox="1"/>
          <p:nvPr/>
        </p:nvSpPr>
        <p:spPr>
          <a:xfrm>
            <a:off x="804672" y="282549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5</a:t>
            </a:r>
            <a:endParaRPr lang="en-US" sz="1300" dirty="0"/>
          </a:p>
        </p:txBody>
      </p:sp>
      <p:sp>
        <p:nvSpPr>
          <p:cNvPr id="34" name="Shape 31"/>
          <p:cNvSpPr/>
          <p:nvPr/>
        </p:nvSpPr>
        <p:spPr>
          <a:xfrm>
            <a:off x="2895600" y="3831336"/>
            <a:ext cx="329184" cy="329184"/>
          </a:xfrm>
          <a:prstGeom prst="ellipse">
            <a:avLst/>
          </a:prstGeom>
          <a:solidFill>
            <a:srgbClr val="FF8FB1"/>
          </a:solidFill>
          <a:ln/>
        </p:spPr>
        <p:txBody>
          <a:bodyPr/>
          <a:lstStyle/>
          <a:p>
            <a:endParaRPr lang="en-US"/>
          </a:p>
        </p:txBody>
      </p:sp>
      <p:sp>
        <p:nvSpPr>
          <p:cNvPr id="35" name="Text 32"/>
          <p:cNvSpPr txBox="1"/>
          <p:nvPr/>
        </p:nvSpPr>
        <p:spPr>
          <a:xfrm>
            <a:off x="2895600" y="383133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6</a:t>
            </a:r>
            <a:endParaRPr lang="en-US" sz="1300" dirty="0"/>
          </a:p>
        </p:txBody>
      </p:sp>
      <p:sp>
        <p:nvSpPr>
          <p:cNvPr id="36" name="Shape 33"/>
          <p:cNvSpPr/>
          <p:nvPr/>
        </p:nvSpPr>
        <p:spPr>
          <a:xfrm>
            <a:off x="7863840" y="1481328"/>
            <a:ext cx="347472" cy="347472"/>
          </a:xfrm>
          <a:prstGeom prst="ellipse">
            <a:avLst/>
          </a:prstGeom>
          <a:solidFill>
            <a:srgbClr val="8B98AD"/>
          </a:solidFill>
          <a:ln/>
        </p:spPr>
        <p:txBody>
          <a:bodyPr/>
          <a:lstStyle/>
          <a:p>
            <a:endParaRPr lang="en-US"/>
          </a:p>
        </p:txBody>
      </p:sp>
      <p:sp>
        <p:nvSpPr>
          <p:cNvPr id="37" name="Text 34"/>
          <p:cNvSpPr txBox="1"/>
          <p:nvPr/>
        </p:nvSpPr>
        <p:spPr>
          <a:xfrm>
            <a:off x="7863840" y="14813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38" name="Text 35"/>
          <p:cNvSpPr txBox="1"/>
          <p:nvPr/>
        </p:nvSpPr>
        <p:spPr>
          <a:xfrm>
            <a:off x="8366760" y="144475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terminal</a:t>
            </a:r>
            <a:endParaRPr lang="en-US" sz="1700" dirty="0"/>
          </a:p>
        </p:txBody>
      </p:sp>
      <p:sp>
        <p:nvSpPr>
          <p:cNvPr id="39" name="Text 36"/>
          <p:cNvSpPr txBox="1"/>
          <p:nvPr/>
        </p:nvSpPr>
        <p:spPr>
          <a:xfrm>
            <a:off x="8366760" y="176479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black window. You type, and the computer answers in text.</a:t>
            </a:r>
            <a:endParaRPr lang="en-US" sz="1300" dirty="0"/>
          </a:p>
        </p:txBody>
      </p:sp>
      <p:sp>
        <p:nvSpPr>
          <p:cNvPr id="40" name="Shape 37"/>
          <p:cNvSpPr/>
          <p:nvPr/>
        </p:nvSpPr>
        <p:spPr>
          <a:xfrm>
            <a:off x="7863840" y="2258568"/>
            <a:ext cx="347472" cy="347472"/>
          </a:xfrm>
          <a:prstGeom prst="ellipse">
            <a:avLst/>
          </a:prstGeom>
          <a:solidFill>
            <a:srgbClr val="17875A"/>
          </a:solidFill>
          <a:ln/>
        </p:spPr>
        <p:txBody>
          <a:bodyPr/>
          <a:lstStyle/>
          <a:p>
            <a:endParaRPr lang="en-US"/>
          </a:p>
        </p:txBody>
      </p:sp>
      <p:sp>
        <p:nvSpPr>
          <p:cNvPr id="41" name="Text 38"/>
          <p:cNvSpPr txBox="1"/>
          <p:nvPr/>
        </p:nvSpPr>
        <p:spPr>
          <a:xfrm>
            <a:off x="7863840" y="225856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42" name="Text 39"/>
          <p:cNvSpPr txBox="1"/>
          <p:nvPr/>
        </p:nvSpPr>
        <p:spPr>
          <a:xfrm>
            <a:off x="8366760" y="222199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prompt</a:t>
            </a:r>
            <a:endParaRPr lang="en-US" sz="1700" dirty="0"/>
          </a:p>
        </p:txBody>
      </p:sp>
      <p:sp>
        <p:nvSpPr>
          <p:cNvPr id="43" name="Text 40"/>
          <p:cNvSpPr txBox="1"/>
          <p:nvPr/>
        </p:nvSpPr>
        <p:spPr>
          <a:xfrm>
            <a:off x="8366760" y="254203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player@quest:~ shows who you are, which computer, which folder.</a:t>
            </a:r>
            <a:endParaRPr lang="en-US" sz="1300" dirty="0"/>
          </a:p>
        </p:txBody>
      </p:sp>
      <p:sp>
        <p:nvSpPr>
          <p:cNvPr id="44" name="Shape 41"/>
          <p:cNvSpPr/>
          <p:nvPr/>
        </p:nvSpPr>
        <p:spPr>
          <a:xfrm>
            <a:off x="7863840" y="3035808"/>
            <a:ext cx="347472" cy="347472"/>
          </a:xfrm>
          <a:prstGeom prst="ellipse">
            <a:avLst/>
          </a:prstGeom>
          <a:solidFill>
            <a:srgbClr val="C07A00"/>
          </a:solidFill>
          <a:ln/>
        </p:spPr>
        <p:txBody>
          <a:bodyPr/>
          <a:lstStyle/>
          <a:p>
            <a:endParaRPr lang="en-US"/>
          </a:p>
        </p:txBody>
      </p:sp>
      <p:sp>
        <p:nvSpPr>
          <p:cNvPr id="45" name="Text 42"/>
          <p:cNvSpPr txBox="1"/>
          <p:nvPr/>
        </p:nvSpPr>
        <p:spPr>
          <a:xfrm>
            <a:off x="7863840" y="303580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46" name="Text 43"/>
          <p:cNvSpPr txBox="1"/>
          <p:nvPr/>
        </p:nvSpPr>
        <p:spPr>
          <a:xfrm>
            <a:off x="8366760" y="299923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prompt character</a:t>
            </a:r>
            <a:endParaRPr lang="en-US" sz="1700" dirty="0"/>
          </a:p>
        </p:txBody>
      </p:sp>
      <p:sp>
        <p:nvSpPr>
          <p:cNvPr id="47" name="Text 44"/>
          <p:cNvSpPr txBox="1"/>
          <p:nvPr/>
        </p:nvSpPr>
        <p:spPr>
          <a:xfrm>
            <a:off x="8366760" y="331927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 means 'ready, your turn'. Never type it yourself.</a:t>
            </a:r>
            <a:endParaRPr lang="en-US" sz="1300" dirty="0"/>
          </a:p>
        </p:txBody>
      </p:sp>
      <p:sp>
        <p:nvSpPr>
          <p:cNvPr id="48" name="Shape 45"/>
          <p:cNvSpPr/>
          <p:nvPr/>
        </p:nvSpPr>
        <p:spPr>
          <a:xfrm>
            <a:off x="7863840" y="3813048"/>
            <a:ext cx="347472" cy="347472"/>
          </a:xfrm>
          <a:prstGeom prst="ellipse">
            <a:avLst/>
          </a:prstGeom>
          <a:solidFill>
            <a:srgbClr val="2459D8"/>
          </a:solidFill>
          <a:ln/>
        </p:spPr>
        <p:txBody>
          <a:bodyPr/>
          <a:lstStyle/>
          <a:p>
            <a:endParaRPr lang="en-US"/>
          </a:p>
        </p:txBody>
      </p:sp>
      <p:sp>
        <p:nvSpPr>
          <p:cNvPr id="49" name="Text 46"/>
          <p:cNvSpPr txBox="1"/>
          <p:nvPr/>
        </p:nvSpPr>
        <p:spPr>
          <a:xfrm>
            <a:off x="7863840" y="381304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50" name="Text 47"/>
          <p:cNvSpPr txBox="1"/>
          <p:nvPr/>
        </p:nvSpPr>
        <p:spPr>
          <a:xfrm>
            <a:off x="8366760" y="377647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command</a:t>
            </a:r>
            <a:endParaRPr lang="en-US" sz="1700" dirty="0"/>
          </a:p>
        </p:txBody>
      </p:sp>
      <p:sp>
        <p:nvSpPr>
          <p:cNvPr id="51" name="Text 48"/>
          <p:cNvSpPr txBox="1"/>
          <p:nvPr/>
        </p:nvSpPr>
        <p:spPr>
          <a:xfrm>
            <a:off x="8366760" y="409651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What you type after the $. Then press Enter.</a:t>
            </a:r>
            <a:endParaRPr lang="en-US" sz="1300" dirty="0"/>
          </a:p>
        </p:txBody>
      </p:sp>
      <p:sp>
        <p:nvSpPr>
          <p:cNvPr id="52" name="Shape 49"/>
          <p:cNvSpPr/>
          <p:nvPr/>
        </p:nvSpPr>
        <p:spPr>
          <a:xfrm>
            <a:off x="7863840" y="4590288"/>
            <a:ext cx="347472" cy="347472"/>
          </a:xfrm>
          <a:prstGeom prst="ellipse">
            <a:avLst/>
          </a:prstGeom>
          <a:solidFill>
            <a:srgbClr val="7448D4"/>
          </a:solidFill>
          <a:ln/>
        </p:spPr>
        <p:txBody>
          <a:bodyPr/>
          <a:lstStyle/>
          <a:p>
            <a:endParaRPr lang="en-US"/>
          </a:p>
        </p:txBody>
      </p:sp>
      <p:sp>
        <p:nvSpPr>
          <p:cNvPr id="53" name="Text 50"/>
          <p:cNvSpPr txBox="1"/>
          <p:nvPr/>
        </p:nvSpPr>
        <p:spPr>
          <a:xfrm>
            <a:off x="7863840" y="459028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54" name="Text 51"/>
          <p:cNvSpPr txBox="1"/>
          <p:nvPr/>
        </p:nvSpPr>
        <p:spPr>
          <a:xfrm>
            <a:off x="8366760" y="455371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output</a:t>
            </a:r>
            <a:endParaRPr lang="en-US" sz="1700" dirty="0"/>
          </a:p>
        </p:txBody>
      </p:sp>
      <p:sp>
        <p:nvSpPr>
          <p:cNvPr id="55" name="Text 52"/>
          <p:cNvSpPr txBox="1"/>
          <p:nvPr/>
        </p:nvSpPr>
        <p:spPr>
          <a:xfrm>
            <a:off x="8366760" y="487375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computer's answer, printed underneath.</a:t>
            </a:r>
            <a:endParaRPr lang="en-US" sz="1300" dirty="0"/>
          </a:p>
        </p:txBody>
      </p:sp>
      <p:sp>
        <p:nvSpPr>
          <p:cNvPr id="56" name="Shape 53"/>
          <p:cNvSpPr/>
          <p:nvPr/>
        </p:nvSpPr>
        <p:spPr>
          <a:xfrm>
            <a:off x="7863840" y="5367528"/>
            <a:ext cx="347472" cy="347472"/>
          </a:xfrm>
          <a:prstGeom prst="ellipse">
            <a:avLst/>
          </a:prstGeom>
          <a:solidFill>
            <a:srgbClr val="D1416B"/>
          </a:solidFill>
          <a:ln/>
        </p:spPr>
        <p:txBody>
          <a:bodyPr/>
          <a:lstStyle/>
          <a:p>
            <a:endParaRPr lang="en-US"/>
          </a:p>
        </p:txBody>
      </p:sp>
      <p:sp>
        <p:nvSpPr>
          <p:cNvPr id="57" name="Text 54"/>
          <p:cNvSpPr txBox="1"/>
          <p:nvPr/>
        </p:nvSpPr>
        <p:spPr>
          <a:xfrm>
            <a:off x="7863840" y="53675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58" name="Text 55"/>
          <p:cNvSpPr txBox="1"/>
          <p:nvPr/>
        </p:nvSpPr>
        <p:spPr>
          <a:xfrm>
            <a:off x="8366760" y="533095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A new prompt</a:t>
            </a:r>
            <a:endParaRPr lang="en-US" sz="1700" dirty="0"/>
          </a:p>
        </p:txBody>
      </p:sp>
      <p:sp>
        <p:nvSpPr>
          <p:cNvPr id="59" name="Text 56"/>
          <p:cNvSpPr txBox="1"/>
          <p:nvPr/>
        </p:nvSpPr>
        <p:spPr>
          <a:xfrm>
            <a:off x="8366760" y="565099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A fresh $ and a blinking cursor: your turn again.</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400"/>
                                        <p:tgtEl>
                                          <p:spTgt spid="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400"/>
                                        <p:tgtEl>
                                          <p:spTgt spid="3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400"/>
                                        <p:tgtEl>
                                          <p:spTgt spid="3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400"/>
                                        <p:tgtEl>
                                          <p:spTgt spid="3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400"/>
                                        <p:tgtEl>
                                          <p:spTgt spid="4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fade">
                                      <p:cBhvr>
                                        <p:cTn id="30" dur="400"/>
                                        <p:tgtEl>
                                          <p:spTgt spid="4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fade">
                                      <p:cBhvr>
                                        <p:cTn id="33" dur="400"/>
                                        <p:tgtEl>
                                          <p:spTgt spid="4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fade">
                                      <p:cBhvr>
                                        <p:cTn id="36" dur="400"/>
                                        <p:tgtEl>
                                          <p:spTgt spid="4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400"/>
                                        <p:tgtEl>
                                          <p:spTgt spid="2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400"/>
                                        <p:tgtEl>
                                          <p:spTgt spid="2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00"/>
                                        <p:tgtEl>
                                          <p:spTgt spid="1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animEffect transition="in" filter="fade">
                                      <p:cBhvr>
                                        <p:cTn id="59" dur="400"/>
                                        <p:tgtEl>
                                          <p:spTgt spid="4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400"/>
                                        <p:tgtEl>
                                          <p:spTgt spid="2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400"/>
                                        <p:tgtEl>
                                          <p:spTgt spid="20"/>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48"/>
                                        </p:tgtEl>
                                        <p:attrNameLst>
                                          <p:attrName>style.visibility</p:attrName>
                                        </p:attrNameLst>
                                      </p:cBhvr>
                                      <p:to>
                                        <p:strVal val="visible"/>
                                      </p:to>
                                    </p:set>
                                    <p:animEffect transition="in" filter="fade">
                                      <p:cBhvr>
                                        <p:cTn id="73" dur="400"/>
                                        <p:tgtEl>
                                          <p:spTgt spid="4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9"/>
                                        </p:tgtEl>
                                        <p:attrNameLst>
                                          <p:attrName>style.visibility</p:attrName>
                                        </p:attrNameLst>
                                      </p:cBhvr>
                                      <p:to>
                                        <p:strVal val="visible"/>
                                      </p:to>
                                    </p:set>
                                    <p:animEffect transition="in" filter="fade">
                                      <p:cBhvr>
                                        <p:cTn id="76" dur="400"/>
                                        <p:tgtEl>
                                          <p:spTgt spid="4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0"/>
                                        </p:tgtEl>
                                        <p:attrNameLst>
                                          <p:attrName>style.visibility</p:attrName>
                                        </p:attrNameLst>
                                      </p:cBhvr>
                                      <p:to>
                                        <p:strVal val="visible"/>
                                      </p:to>
                                    </p:set>
                                    <p:animEffect transition="in" filter="fade">
                                      <p:cBhvr>
                                        <p:cTn id="79" dur="400"/>
                                        <p:tgtEl>
                                          <p:spTgt spid="5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1"/>
                                        </p:tgtEl>
                                        <p:attrNameLst>
                                          <p:attrName>style.visibility</p:attrName>
                                        </p:attrNameLst>
                                      </p:cBhvr>
                                      <p:to>
                                        <p:strVal val="visible"/>
                                      </p:to>
                                    </p:set>
                                    <p:animEffect transition="in" filter="fade">
                                      <p:cBhvr>
                                        <p:cTn id="82" dur="400"/>
                                        <p:tgtEl>
                                          <p:spTgt spid="5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0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0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fade">
                                      <p:cBhvr>
                                        <p:cTn id="91" dur="400"/>
                                        <p:tgtEl>
                                          <p:spTgt spid="21"/>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52"/>
                                        </p:tgtEl>
                                        <p:attrNameLst>
                                          <p:attrName>style.visibility</p:attrName>
                                        </p:attrNameLst>
                                      </p:cBhvr>
                                      <p:to>
                                        <p:strVal val="visible"/>
                                      </p:to>
                                    </p:set>
                                    <p:animEffect transition="in" filter="fade">
                                      <p:cBhvr>
                                        <p:cTn id="96" dur="400"/>
                                        <p:tgtEl>
                                          <p:spTgt spid="5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3"/>
                                        </p:tgtEl>
                                        <p:attrNameLst>
                                          <p:attrName>style.visibility</p:attrName>
                                        </p:attrNameLst>
                                      </p:cBhvr>
                                      <p:to>
                                        <p:strVal val="visible"/>
                                      </p:to>
                                    </p:set>
                                    <p:animEffect transition="in" filter="fade">
                                      <p:cBhvr>
                                        <p:cTn id="99" dur="400"/>
                                        <p:tgtEl>
                                          <p:spTgt spid="5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4"/>
                                        </p:tgtEl>
                                        <p:attrNameLst>
                                          <p:attrName>style.visibility</p:attrName>
                                        </p:attrNameLst>
                                      </p:cBhvr>
                                      <p:to>
                                        <p:strVal val="visible"/>
                                      </p:to>
                                    </p:set>
                                    <p:animEffect transition="in" filter="fade">
                                      <p:cBhvr>
                                        <p:cTn id="102" dur="400"/>
                                        <p:tgtEl>
                                          <p:spTgt spid="5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5"/>
                                        </p:tgtEl>
                                        <p:attrNameLst>
                                          <p:attrName>style.visibility</p:attrName>
                                        </p:attrNameLst>
                                      </p:cBhvr>
                                      <p:to>
                                        <p:strVal val="visible"/>
                                      </p:to>
                                    </p:set>
                                    <p:animEffect transition="in" filter="fade">
                                      <p:cBhvr>
                                        <p:cTn id="105" dur="400"/>
                                        <p:tgtEl>
                                          <p:spTgt spid="5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2"/>
                                        </p:tgtEl>
                                        <p:attrNameLst>
                                          <p:attrName>style.visibility</p:attrName>
                                        </p:attrNameLst>
                                      </p:cBhvr>
                                      <p:to>
                                        <p:strVal val="visible"/>
                                      </p:to>
                                    </p:set>
                                    <p:animEffect transition="in" filter="fade">
                                      <p:cBhvr>
                                        <p:cTn id="108" dur="400"/>
                                        <p:tgtEl>
                                          <p:spTgt spid="32"/>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3"/>
                                        </p:tgtEl>
                                        <p:attrNameLst>
                                          <p:attrName>style.visibility</p:attrName>
                                        </p:attrNameLst>
                                      </p:cBhvr>
                                      <p:to>
                                        <p:strVal val="visible"/>
                                      </p:to>
                                    </p:set>
                                    <p:animEffect transition="in" filter="fade">
                                      <p:cBhvr>
                                        <p:cTn id="111" dur="400"/>
                                        <p:tgtEl>
                                          <p:spTgt spid="33"/>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22"/>
                                        </p:tgtEl>
                                        <p:attrNameLst>
                                          <p:attrName>style.visibility</p:attrName>
                                        </p:attrNameLst>
                                      </p:cBhvr>
                                      <p:to>
                                        <p:strVal val="visible"/>
                                      </p:to>
                                    </p:set>
                                    <p:animEffect transition="in" filter="fade">
                                      <p:cBhvr>
                                        <p:cTn id="114" dur="400"/>
                                        <p:tgtEl>
                                          <p:spTgt spid="22"/>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56"/>
                                        </p:tgtEl>
                                        <p:attrNameLst>
                                          <p:attrName>style.visibility</p:attrName>
                                        </p:attrNameLst>
                                      </p:cBhvr>
                                      <p:to>
                                        <p:strVal val="visible"/>
                                      </p:to>
                                    </p:set>
                                    <p:animEffect transition="in" filter="fade">
                                      <p:cBhvr>
                                        <p:cTn id="119" dur="400"/>
                                        <p:tgtEl>
                                          <p:spTgt spid="56"/>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7"/>
                                        </p:tgtEl>
                                        <p:attrNameLst>
                                          <p:attrName>style.visibility</p:attrName>
                                        </p:attrNameLst>
                                      </p:cBhvr>
                                      <p:to>
                                        <p:strVal val="visible"/>
                                      </p:to>
                                    </p:set>
                                    <p:animEffect transition="in" filter="fade">
                                      <p:cBhvr>
                                        <p:cTn id="122" dur="400"/>
                                        <p:tgtEl>
                                          <p:spTgt spid="57"/>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8"/>
                                        </p:tgtEl>
                                        <p:attrNameLst>
                                          <p:attrName>style.visibility</p:attrName>
                                        </p:attrNameLst>
                                      </p:cBhvr>
                                      <p:to>
                                        <p:strVal val="visible"/>
                                      </p:to>
                                    </p:set>
                                    <p:animEffect transition="in" filter="fade">
                                      <p:cBhvr>
                                        <p:cTn id="125" dur="400"/>
                                        <p:tgtEl>
                                          <p:spTgt spid="58"/>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9"/>
                                        </p:tgtEl>
                                        <p:attrNameLst>
                                          <p:attrName>style.visibility</p:attrName>
                                        </p:attrNameLst>
                                      </p:cBhvr>
                                      <p:to>
                                        <p:strVal val="visible"/>
                                      </p:to>
                                    </p:set>
                                    <p:animEffect transition="in" filter="fade">
                                      <p:cBhvr>
                                        <p:cTn id="128" dur="400"/>
                                        <p:tgtEl>
                                          <p:spTgt spid="59"/>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34"/>
                                        </p:tgtEl>
                                        <p:attrNameLst>
                                          <p:attrName>style.visibility</p:attrName>
                                        </p:attrNameLst>
                                      </p:cBhvr>
                                      <p:to>
                                        <p:strVal val="visible"/>
                                      </p:to>
                                    </p:set>
                                    <p:animEffect transition="in" filter="fade">
                                      <p:cBhvr>
                                        <p:cTn id="131" dur="400"/>
                                        <p:tgtEl>
                                          <p:spTgt spid="34"/>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400"/>
                                        <p:tgtEl>
                                          <p:spTgt spid="35"/>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23"/>
                                        </p:tgtEl>
                                        <p:attrNameLst>
                                          <p:attrName>style.visibility</p:attrName>
                                        </p:attrNameLst>
                                      </p:cBhvr>
                                      <p:to>
                                        <p:strVal val="visible"/>
                                      </p:to>
                                    </p:set>
                                    <p:animEffect transition="in" filter="fade">
                                      <p:cBhvr>
                                        <p:cTn id="13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CLI vs GUI</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3566160" y="1463040"/>
            <a:ext cx="3977640" cy="548640"/>
          </a:xfrm>
          <a:prstGeom prst="roundRect">
            <a:avLst>
              <a:gd name="adj" fmla="val 13333"/>
            </a:avLst>
          </a:prstGeom>
          <a:solidFill>
            <a:srgbClr val="D1416B"/>
          </a:solidFill>
          <a:ln/>
        </p:spPr>
        <p:txBody>
          <a:bodyPr/>
          <a:lstStyle/>
          <a:p>
            <a:endParaRPr lang="en-US"/>
          </a:p>
        </p:txBody>
      </p:sp>
      <p:sp>
        <p:nvSpPr>
          <p:cNvPr id="7" name="Text 4"/>
          <p:cNvSpPr txBox="1"/>
          <p:nvPr/>
        </p:nvSpPr>
        <p:spPr>
          <a:xfrm>
            <a:off x="3566160" y="1463040"/>
            <a:ext cx="3977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GUI: point and click</a:t>
            </a:r>
            <a:endParaRPr lang="en-US" sz="1800" dirty="0"/>
          </a:p>
        </p:txBody>
      </p:sp>
      <p:sp>
        <p:nvSpPr>
          <p:cNvPr id="8" name="Shape 5"/>
          <p:cNvSpPr/>
          <p:nvPr/>
        </p:nvSpPr>
        <p:spPr>
          <a:xfrm>
            <a:off x="7635240" y="1463040"/>
            <a:ext cx="4005072" cy="548640"/>
          </a:xfrm>
          <a:prstGeom prst="roundRect">
            <a:avLst>
              <a:gd name="adj" fmla="val 13333"/>
            </a:avLst>
          </a:prstGeom>
          <a:solidFill>
            <a:srgbClr val="2459D8"/>
          </a:solidFill>
          <a:ln/>
        </p:spPr>
        <p:txBody>
          <a:bodyPr/>
          <a:lstStyle/>
          <a:p>
            <a:endParaRPr lang="en-US"/>
          </a:p>
        </p:txBody>
      </p:sp>
      <p:sp>
        <p:nvSpPr>
          <p:cNvPr id="9" name="Text 6"/>
          <p:cNvSpPr txBox="1"/>
          <p:nvPr/>
        </p:nvSpPr>
        <p:spPr>
          <a:xfrm>
            <a:off x="7635240" y="1463040"/>
            <a:ext cx="400507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CLI: type commands</a:t>
            </a:r>
            <a:endParaRPr lang="en-US" sz="1800" dirty="0"/>
          </a:p>
        </p:txBody>
      </p:sp>
      <p:sp>
        <p:nvSpPr>
          <p:cNvPr id="10" name="Shape 7"/>
          <p:cNvSpPr/>
          <p:nvPr/>
        </p:nvSpPr>
        <p:spPr>
          <a:xfrm>
            <a:off x="548640" y="2121408"/>
            <a:ext cx="11094415" cy="566928"/>
          </a:xfrm>
          <a:prstGeom prst="rect">
            <a:avLst/>
          </a:prstGeom>
          <a:solidFill>
            <a:srgbClr val="F1F5FB"/>
          </a:solidFill>
          <a:ln/>
        </p:spPr>
        <p:txBody>
          <a:bodyPr/>
          <a:lstStyle/>
          <a:p>
            <a:endParaRPr lang="en-US"/>
          </a:p>
        </p:txBody>
      </p:sp>
      <p:sp>
        <p:nvSpPr>
          <p:cNvPr id="11" name="Text 8"/>
          <p:cNvSpPr txBox="1"/>
          <p:nvPr/>
        </p:nvSpPr>
        <p:spPr>
          <a:xfrm>
            <a:off x="685800" y="212140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Learning it</a:t>
            </a:r>
            <a:endParaRPr lang="en-US" sz="1500" dirty="0"/>
          </a:p>
        </p:txBody>
      </p:sp>
      <p:sp>
        <p:nvSpPr>
          <p:cNvPr id="12" name="Text 9"/>
          <p:cNvSpPr txBox="1"/>
          <p:nvPr/>
        </p:nvSpPr>
        <p:spPr>
          <a:xfrm>
            <a:off x="3703320" y="212140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Easy to discover: look around and click</a:t>
            </a:r>
            <a:endParaRPr lang="en-US" sz="1500" dirty="0"/>
          </a:p>
        </p:txBody>
      </p:sp>
      <p:sp>
        <p:nvSpPr>
          <p:cNvPr id="13" name="Text 10"/>
          <p:cNvSpPr txBox="1"/>
          <p:nvPr/>
        </p:nvSpPr>
        <p:spPr>
          <a:xfrm>
            <a:off x="7772400" y="2121408"/>
            <a:ext cx="3822192"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Learn the words first, then you are fast</a:t>
            </a:r>
            <a:endParaRPr lang="en-US" sz="1500" dirty="0"/>
          </a:p>
        </p:txBody>
      </p:sp>
      <p:sp>
        <p:nvSpPr>
          <p:cNvPr id="14" name="Shape 11"/>
          <p:cNvSpPr/>
          <p:nvPr/>
        </p:nvSpPr>
        <p:spPr>
          <a:xfrm>
            <a:off x="548640" y="2761488"/>
            <a:ext cx="11094415" cy="566928"/>
          </a:xfrm>
          <a:prstGeom prst="rect">
            <a:avLst/>
          </a:prstGeom>
          <a:solidFill>
            <a:srgbClr val="FFFFFF"/>
          </a:solidFill>
          <a:ln/>
        </p:spPr>
        <p:txBody>
          <a:bodyPr/>
          <a:lstStyle/>
          <a:p>
            <a:endParaRPr lang="en-US"/>
          </a:p>
        </p:txBody>
      </p:sp>
      <p:sp>
        <p:nvSpPr>
          <p:cNvPr id="15" name="Text 12"/>
          <p:cNvSpPr txBox="1"/>
          <p:nvPr/>
        </p:nvSpPr>
        <p:spPr>
          <a:xfrm>
            <a:off x="685800" y="276148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Rename 500 files</a:t>
            </a:r>
            <a:endParaRPr lang="en-US" sz="1500" dirty="0"/>
          </a:p>
        </p:txBody>
      </p:sp>
      <p:sp>
        <p:nvSpPr>
          <p:cNvPr id="16" name="Text 13"/>
          <p:cNvSpPr txBox="1"/>
          <p:nvPr/>
        </p:nvSpPr>
        <p:spPr>
          <a:xfrm>
            <a:off x="3703320" y="276148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500 right-clicks</a:t>
            </a:r>
            <a:endParaRPr lang="en-US" sz="1500" dirty="0"/>
          </a:p>
        </p:txBody>
      </p:sp>
      <p:sp>
        <p:nvSpPr>
          <p:cNvPr id="17" name="Text 14"/>
          <p:cNvSpPr txBox="1"/>
          <p:nvPr/>
        </p:nvSpPr>
        <p:spPr>
          <a:xfrm>
            <a:off x="7772400" y="276148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One line</a:t>
            </a:r>
            <a:endParaRPr lang="en-US" sz="1500" dirty="0"/>
          </a:p>
        </p:txBody>
      </p:sp>
      <p:sp>
        <p:nvSpPr>
          <p:cNvPr id="18" name="Shape 15"/>
          <p:cNvSpPr/>
          <p:nvPr/>
        </p:nvSpPr>
        <p:spPr>
          <a:xfrm>
            <a:off x="548640" y="3401568"/>
            <a:ext cx="11094415" cy="566928"/>
          </a:xfrm>
          <a:prstGeom prst="rect">
            <a:avLst/>
          </a:prstGeom>
          <a:solidFill>
            <a:srgbClr val="F1F5FB"/>
          </a:solidFill>
          <a:ln/>
        </p:spPr>
        <p:txBody>
          <a:bodyPr/>
          <a:lstStyle/>
          <a:p>
            <a:endParaRPr lang="en-US"/>
          </a:p>
        </p:txBody>
      </p:sp>
      <p:sp>
        <p:nvSpPr>
          <p:cNvPr id="19" name="Text 16"/>
          <p:cNvSpPr txBox="1"/>
          <p:nvPr/>
        </p:nvSpPr>
        <p:spPr>
          <a:xfrm>
            <a:off x="685800" y="340156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Find one line in a huge log</a:t>
            </a:r>
            <a:endParaRPr lang="en-US" sz="1500" dirty="0"/>
          </a:p>
        </p:txBody>
      </p:sp>
      <p:sp>
        <p:nvSpPr>
          <p:cNvPr id="20" name="Text 17"/>
          <p:cNvSpPr txBox="1"/>
          <p:nvPr/>
        </p:nvSpPr>
        <p:spPr>
          <a:xfrm>
            <a:off x="3703320" y="340156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Scroll, squint, Ctrl+F</a:t>
            </a:r>
            <a:endParaRPr lang="en-US" sz="1500" dirty="0"/>
          </a:p>
        </p:txBody>
      </p:sp>
      <p:sp>
        <p:nvSpPr>
          <p:cNvPr id="21" name="Text 18"/>
          <p:cNvSpPr txBox="1"/>
          <p:nvPr/>
        </p:nvSpPr>
        <p:spPr>
          <a:xfrm>
            <a:off x="7772400" y="340156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grep finds it in a blink</a:t>
            </a:r>
            <a:endParaRPr lang="en-US" sz="1500" dirty="0"/>
          </a:p>
        </p:txBody>
      </p:sp>
      <p:sp>
        <p:nvSpPr>
          <p:cNvPr id="22" name="Shape 19"/>
          <p:cNvSpPr/>
          <p:nvPr/>
        </p:nvSpPr>
        <p:spPr>
          <a:xfrm>
            <a:off x="548640" y="4041648"/>
            <a:ext cx="11094415" cy="566928"/>
          </a:xfrm>
          <a:prstGeom prst="rect">
            <a:avLst/>
          </a:prstGeom>
          <a:solidFill>
            <a:srgbClr val="FFFFFF"/>
          </a:solidFill>
          <a:ln/>
        </p:spPr>
        <p:txBody>
          <a:bodyPr/>
          <a:lstStyle/>
          <a:p>
            <a:endParaRPr lang="en-US"/>
          </a:p>
        </p:txBody>
      </p:sp>
      <p:sp>
        <p:nvSpPr>
          <p:cNvPr id="23" name="Text 20"/>
          <p:cNvSpPr txBox="1"/>
          <p:nvPr/>
        </p:nvSpPr>
        <p:spPr>
          <a:xfrm>
            <a:off x="685800" y="404164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Repeat yesterday's work</a:t>
            </a:r>
            <a:endParaRPr lang="en-US" sz="1500" dirty="0"/>
          </a:p>
        </p:txBody>
      </p:sp>
      <p:sp>
        <p:nvSpPr>
          <p:cNvPr id="24" name="Text 21"/>
          <p:cNvSpPr txBox="1"/>
          <p:nvPr/>
        </p:nvSpPr>
        <p:spPr>
          <a:xfrm>
            <a:off x="3703320" y="404164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Remember every click</a:t>
            </a:r>
            <a:endParaRPr lang="en-US" sz="1500" dirty="0"/>
          </a:p>
        </p:txBody>
      </p:sp>
      <p:sp>
        <p:nvSpPr>
          <p:cNvPr id="25" name="Text 22"/>
          <p:cNvSpPr txBox="1"/>
          <p:nvPr/>
        </p:nvSpPr>
        <p:spPr>
          <a:xfrm>
            <a:off x="7772400" y="404164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Press the Up arrow, or run the script</a:t>
            </a:r>
            <a:endParaRPr lang="en-US" sz="1500" dirty="0"/>
          </a:p>
        </p:txBody>
      </p:sp>
      <p:sp>
        <p:nvSpPr>
          <p:cNvPr id="26" name="Shape 23"/>
          <p:cNvSpPr/>
          <p:nvPr/>
        </p:nvSpPr>
        <p:spPr>
          <a:xfrm>
            <a:off x="548640" y="4681728"/>
            <a:ext cx="11094415" cy="566928"/>
          </a:xfrm>
          <a:prstGeom prst="rect">
            <a:avLst/>
          </a:prstGeom>
          <a:solidFill>
            <a:srgbClr val="F1F5FB"/>
          </a:solidFill>
          <a:ln/>
        </p:spPr>
        <p:txBody>
          <a:bodyPr/>
          <a:lstStyle/>
          <a:p>
            <a:endParaRPr lang="en-US"/>
          </a:p>
        </p:txBody>
      </p:sp>
      <p:sp>
        <p:nvSpPr>
          <p:cNvPr id="27" name="Text 24"/>
          <p:cNvSpPr txBox="1"/>
          <p:nvPr/>
        </p:nvSpPr>
        <p:spPr>
          <a:xfrm>
            <a:off x="685800" y="468172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A server 1,000 miles away</a:t>
            </a:r>
            <a:endParaRPr lang="en-US" sz="1500" dirty="0"/>
          </a:p>
        </p:txBody>
      </p:sp>
      <p:sp>
        <p:nvSpPr>
          <p:cNvPr id="28" name="Text 25"/>
          <p:cNvSpPr txBox="1"/>
          <p:nvPr/>
        </p:nvSpPr>
        <p:spPr>
          <a:xfrm>
            <a:off x="3703320" y="468172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Needs a remote desktop and a fast link</a:t>
            </a:r>
            <a:endParaRPr lang="en-US" sz="1500" dirty="0"/>
          </a:p>
        </p:txBody>
      </p:sp>
      <p:sp>
        <p:nvSpPr>
          <p:cNvPr id="29" name="Text 26"/>
          <p:cNvSpPr txBox="1"/>
          <p:nvPr/>
        </p:nvSpPr>
        <p:spPr>
          <a:xfrm>
            <a:off x="7772400" y="468172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Works over a slow text connection</a:t>
            </a:r>
            <a:endParaRPr lang="en-US" sz="1500" dirty="0"/>
          </a:p>
        </p:txBody>
      </p:sp>
      <p:sp>
        <p:nvSpPr>
          <p:cNvPr id="30" name="Shape 27"/>
          <p:cNvSpPr/>
          <p:nvPr/>
        </p:nvSpPr>
        <p:spPr>
          <a:xfrm>
            <a:off x="548640" y="5321808"/>
            <a:ext cx="11094415" cy="566928"/>
          </a:xfrm>
          <a:prstGeom prst="rect">
            <a:avLst/>
          </a:prstGeom>
          <a:solidFill>
            <a:srgbClr val="FFFFFF"/>
          </a:solidFill>
          <a:ln/>
        </p:spPr>
        <p:txBody>
          <a:bodyPr/>
          <a:lstStyle/>
          <a:p>
            <a:endParaRPr lang="en-US"/>
          </a:p>
        </p:txBody>
      </p:sp>
      <p:sp>
        <p:nvSpPr>
          <p:cNvPr id="31" name="Text 28"/>
          <p:cNvSpPr txBox="1"/>
          <p:nvPr/>
        </p:nvSpPr>
        <p:spPr>
          <a:xfrm>
            <a:off x="685800" y="532180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Show someone how you did it</a:t>
            </a:r>
            <a:endParaRPr lang="en-US" sz="1500" dirty="0"/>
          </a:p>
        </p:txBody>
      </p:sp>
      <p:sp>
        <p:nvSpPr>
          <p:cNvPr id="32" name="Text 29"/>
          <p:cNvSpPr txBox="1"/>
          <p:nvPr/>
        </p:nvSpPr>
        <p:spPr>
          <a:xfrm>
            <a:off x="3703320" y="532180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Screenshots and arrows</a:t>
            </a:r>
            <a:endParaRPr lang="en-US" sz="1500" dirty="0"/>
          </a:p>
        </p:txBody>
      </p:sp>
      <p:sp>
        <p:nvSpPr>
          <p:cNvPr id="33" name="Text 30"/>
          <p:cNvSpPr txBox="1"/>
          <p:nvPr/>
        </p:nvSpPr>
        <p:spPr>
          <a:xfrm>
            <a:off x="7772400" y="532180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Paste the command</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4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400"/>
                                        <p:tgtEl>
                                          <p:spTgt spid="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400"/>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4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0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00"/>
                                        <p:tgtEl>
                                          <p:spTgt spid="2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400"/>
                                        <p:tgtEl>
                                          <p:spTgt spid="2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400"/>
                                        <p:tgtEl>
                                          <p:spTgt spid="2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400"/>
                                        <p:tgtEl>
                                          <p:spTgt spid="2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400"/>
                                        <p:tgtEl>
                                          <p:spTgt spid="29"/>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400"/>
                                        <p:tgtEl>
                                          <p:spTgt spid="3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Speed: nothing beats the command line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11</a:t>
            </a:r>
            <a:endParaRPr lang="en-US" sz="1000" dirty="0"/>
          </a:p>
        </p:txBody>
      </p:sp>
      <p:sp>
        <p:nvSpPr>
          <p:cNvPr id="6" name="Shape 3"/>
          <p:cNvSpPr/>
          <p:nvPr/>
        </p:nvSpPr>
        <p:spPr>
          <a:xfrm>
            <a:off x="548640" y="1508760"/>
            <a:ext cx="3566160" cy="3520440"/>
          </a:xfrm>
          <a:prstGeom prst="roundRect">
            <a:avLst>
              <a:gd name="adj" fmla="val 2597"/>
            </a:avLst>
          </a:prstGeom>
          <a:solidFill>
            <a:srgbClr val="F1F5FB"/>
          </a:solidFill>
          <a:ln/>
        </p:spPr>
        <p:txBody>
          <a:bodyPr/>
          <a:lstStyle/>
          <a:p>
            <a:endParaRPr lang="en-US"/>
          </a:p>
        </p:txBody>
      </p:sp>
      <p:sp>
        <p:nvSpPr>
          <p:cNvPr id="7" name="Shape 4"/>
          <p:cNvSpPr/>
          <p:nvPr/>
        </p:nvSpPr>
        <p:spPr>
          <a:xfrm>
            <a:off x="548640" y="1508760"/>
            <a:ext cx="3566160" cy="91440"/>
          </a:xfrm>
          <a:prstGeom prst="rect">
            <a:avLst/>
          </a:prstGeom>
          <a:solidFill>
            <a:srgbClr val="2459D8"/>
          </a:solidFill>
          <a:ln/>
        </p:spPr>
        <p:txBody>
          <a:bodyPr/>
          <a:lstStyle/>
          <a:p>
            <a:endParaRPr lang="en-US"/>
          </a:p>
        </p:txBody>
      </p:sp>
      <p:sp>
        <p:nvSpPr>
          <p:cNvPr id="8" name="Text 5"/>
          <p:cNvSpPr txBox="1"/>
          <p:nvPr/>
        </p:nvSpPr>
        <p:spPr>
          <a:xfrm>
            <a:off x="822960" y="1691640"/>
            <a:ext cx="3108960" cy="45720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Rename 500 photos</a:t>
            </a:r>
            <a:endParaRPr lang="en-US" sz="1900" dirty="0"/>
          </a:p>
        </p:txBody>
      </p:sp>
      <p:sp>
        <p:nvSpPr>
          <p:cNvPr id="9" name="Text 6"/>
          <p:cNvSpPr txBox="1"/>
          <p:nvPr/>
        </p:nvSpPr>
        <p:spPr>
          <a:xfrm>
            <a:off x="822960" y="22402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10" name="Text 7"/>
          <p:cNvSpPr txBox="1"/>
          <p:nvPr/>
        </p:nvSpPr>
        <p:spPr>
          <a:xfrm>
            <a:off x="822960" y="2514600"/>
            <a:ext cx="3108960" cy="548640"/>
          </a:xfrm>
          <a:prstGeom prst="rect">
            <a:avLst/>
          </a:prstGeom>
          <a:noFill/>
          <a:ln/>
        </p:spPr>
        <p:txBody>
          <a:bodyPr wrap="square" lIns="0" tIns="0" rIns="0" bIns="0" rtlCol="0" anchor="ctr"/>
          <a:lstStyle/>
          <a:p>
            <a:pPr marL="0" indent="0">
              <a:buNone/>
            </a:pPr>
            <a:r>
              <a:rPr lang="en-US" sz="2600" b="1" dirty="0">
                <a:solidFill>
                  <a:srgbClr val="D1416B"/>
                </a:solidFill>
                <a:latin typeface="Arial" pitchFamily="34" charset="0"/>
                <a:ea typeface="Arial" pitchFamily="34" charset="-122"/>
                <a:cs typeface="Arial" pitchFamily="34" charset="-120"/>
              </a:rPr>
              <a:t>~25 min  </a:t>
            </a:r>
            <a:r>
              <a:rPr lang="en-US" sz="1300" dirty="0">
                <a:solidFill>
                  <a:srgbClr val="56657E"/>
                </a:solidFill>
                <a:latin typeface="Arial" pitchFamily="34" charset="0"/>
                <a:ea typeface="Arial" pitchFamily="34" charset="-122"/>
                <a:cs typeface="Arial" pitchFamily="34" charset="-120"/>
              </a:rPr>
              <a:t>of clicking</a:t>
            </a:r>
            <a:endParaRPr lang="en-US" sz="2600" dirty="0"/>
          </a:p>
        </p:txBody>
      </p:sp>
      <p:sp>
        <p:nvSpPr>
          <p:cNvPr id="11" name="Text 8"/>
          <p:cNvSpPr txBox="1"/>
          <p:nvPr/>
        </p:nvSpPr>
        <p:spPr>
          <a:xfrm>
            <a:off x="822960" y="31546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12" name="Text 9"/>
          <p:cNvSpPr txBox="1"/>
          <p:nvPr/>
        </p:nvSpPr>
        <p:spPr>
          <a:xfrm>
            <a:off x="822960" y="3429000"/>
            <a:ext cx="3108960" cy="548640"/>
          </a:xfrm>
          <a:prstGeom prst="rect">
            <a:avLst/>
          </a:prstGeom>
          <a:noFill/>
          <a:ln/>
        </p:spPr>
        <p:txBody>
          <a:bodyPr wrap="square" lIns="0" tIns="0" rIns="0" bIns="0" rtlCol="0" anchor="ctr"/>
          <a:lstStyle/>
          <a:p>
            <a:pPr marL="0" indent="0">
              <a:buNone/>
            </a:pPr>
            <a:r>
              <a:rPr lang="en-US" sz="2600" b="1" dirty="0">
                <a:solidFill>
                  <a:srgbClr val="17875A"/>
                </a:solidFill>
                <a:latin typeface="Arial" pitchFamily="34" charset="0"/>
                <a:ea typeface="Arial" pitchFamily="34" charset="-122"/>
                <a:cs typeface="Arial" pitchFamily="34" charset="-120"/>
              </a:rPr>
              <a:t>1 line</a:t>
            </a:r>
            <a:endParaRPr lang="en-US" sz="2600" dirty="0"/>
          </a:p>
        </p:txBody>
      </p:sp>
      <p:sp>
        <p:nvSpPr>
          <p:cNvPr id="13" name="Shape 10"/>
          <p:cNvSpPr/>
          <p:nvPr/>
        </p:nvSpPr>
        <p:spPr>
          <a:xfrm>
            <a:off x="822960" y="4114800"/>
            <a:ext cx="3017520" cy="685800"/>
          </a:xfrm>
          <a:prstGeom prst="roundRect">
            <a:avLst>
              <a:gd name="adj" fmla="val 10667"/>
            </a:avLst>
          </a:prstGeom>
          <a:solidFill>
            <a:srgbClr val="0E1726"/>
          </a:solidFill>
          <a:ln/>
        </p:spPr>
        <p:txBody>
          <a:bodyPr/>
          <a:lstStyle/>
          <a:p>
            <a:endParaRPr lang="en-US"/>
          </a:p>
        </p:txBody>
      </p:sp>
      <p:sp>
        <p:nvSpPr>
          <p:cNvPr id="14" name="Text 11"/>
          <p:cNvSpPr txBox="1"/>
          <p:nvPr/>
        </p:nvSpPr>
        <p:spPr>
          <a:xfrm>
            <a:off x="914400" y="4114800"/>
            <a:ext cx="2834640" cy="68580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for f in *.jpg; do mv "$f" "trip-$f"; done</a:t>
            </a:r>
            <a:endParaRPr lang="en-US" sz="1100" dirty="0"/>
          </a:p>
        </p:txBody>
      </p:sp>
      <p:sp>
        <p:nvSpPr>
          <p:cNvPr id="15" name="Shape 12"/>
          <p:cNvSpPr/>
          <p:nvPr/>
        </p:nvSpPr>
        <p:spPr>
          <a:xfrm>
            <a:off x="4306824" y="1508760"/>
            <a:ext cx="3566160" cy="3520440"/>
          </a:xfrm>
          <a:prstGeom prst="roundRect">
            <a:avLst>
              <a:gd name="adj" fmla="val 2597"/>
            </a:avLst>
          </a:prstGeom>
          <a:solidFill>
            <a:srgbClr val="F1F5FB"/>
          </a:solidFill>
          <a:ln/>
        </p:spPr>
        <p:txBody>
          <a:bodyPr/>
          <a:lstStyle/>
          <a:p>
            <a:endParaRPr lang="en-US"/>
          </a:p>
        </p:txBody>
      </p:sp>
      <p:sp>
        <p:nvSpPr>
          <p:cNvPr id="16" name="Shape 13"/>
          <p:cNvSpPr/>
          <p:nvPr/>
        </p:nvSpPr>
        <p:spPr>
          <a:xfrm>
            <a:off x="4306824" y="1508760"/>
            <a:ext cx="3566160" cy="91440"/>
          </a:xfrm>
          <a:prstGeom prst="rect">
            <a:avLst/>
          </a:prstGeom>
          <a:solidFill>
            <a:srgbClr val="7448D4"/>
          </a:solidFill>
          <a:ln/>
        </p:spPr>
        <p:txBody>
          <a:bodyPr/>
          <a:lstStyle/>
          <a:p>
            <a:endParaRPr lang="en-US"/>
          </a:p>
        </p:txBody>
      </p:sp>
      <p:sp>
        <p:nvSpPr>
          <p:cNvPr id="17" name="Text 14"/>
          <p:cNvSpPr txBox="1"/>
          <p:nvPr/>
        </p:nvSpPr>
        <p:spPr>
          <a:xfrm>
            <a:off x="4581144" y="1691640"/>
            <a:ext cx="3108960" cy="45720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Find one line in 12,000</a:t>
            </a:r>
            <a:endParaRPr lang="en-US" sz="1900" dirty="0"/>
          </a:p>
        </p:txBody>
      </p:sp>
      <p:sp>
        <p:nvSpPr>
          <p:cNvPr id="18" name="Text 15"/>
          <p:cNvSpPr txBox="1"/>
          <p:nvPr/>
        </p:nvSpPr>
        <p:spPr>
          <a:xfrm>
            <a:off x="4581144" y="22402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19" name="Text 16"/>
          <p:cNvSpPr txBox="1"/>
          <p:nvPr/>
        </p:nvSpPr>
        <p:spPr>
          <a:xfrm>
            <a:off x="4581144" y="2514600"/>
            <a:ext cx="3108960" cy="548640"/>
          </a:xfrm>
          <a:prstGeom prst="rect">
            <a:avLst/>
          </a:prstGeom>
          <a:noFill/>
          <a:ln/>
        </p:spPr>
        <p:txBody>
          <a:bodyPr wrap="square" lIns="0" tIns="0" rIns="0" bIns="0" rtlCol="0" anchor="ctr"/>
          <a:lstStyle/>
          <a:p>
            <a:pPr marL="0" indent="0">
              <a:buNone/>
            </a:pPr>
            <a:r>
              <a:rPr lang="en-US" sz="2600" b="1" dirty="0">
                <a:solidFill>
                  <a:srgbClr val="D1416B"/>
                </a:solidFill>
                <a:latin typeface="Arial" pitchFamily="34" charset="0"/>
                <a:ea typeface="Arial" pitchFamily="34" charset="-122"/>
                <a:cs typeface="Arial" pitchFamily="34" charset="-120"/>
              </a:rPr>
              <a:t>minutes  </a:t>
            </a:r>
            <a:r>
              <a:rPr lang="en-US" sz="1300" dirty="0">
                <a:solidFill>
                  <a:srgbClr val="56657E"/>
                </a:solidFill>
                <a:latin typeface="Arial" pitchFamily="34" charset="0"/>
                <a:ea typeface="Arial" pitchFamily="34" charset="-122"/>
                <a:cs typeface="Arial" pitchFamily="34" charset="-120"/>
              </a:rPr>
              <a:t>of scrolling and squinting</a:t>
            </a:r>
            <a:endParaRPr lang="en-US" sz="2600" dirty="0"/>
          </a:p>
        </p:txBody>
      </p:sp>
      <p:sp>
        <p:nvSpPr>
          <p:cNvPr id="20" name="Text 17"/>
          <p:cNvSpPr txBox="1"/>
          <p:nvPr/>
        </p:nvSpPr>
        <p:spPr>
          <a:xfrm>
            <a:off x="4581144" y="31546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21" name="Text 18"/>
          <p:cNvSpPr txBox="1"/>
          <p:nvPr/>
        </p:nvSpPr>
        <p:spPr>
          <a:xfrm>
            <a:off x="4581144" y="3429000"/>
            <a:ext cx="3108960" cy="548640"/>
          </a:xfrm>
          <a:prstGeom prst="rect">
            <a:avLst/>
          </a:prstGeom>
          <a:noFill/>
          <a:ln/>
        </p:spPr>
        <p:txBody>
          <a:bodyPr wrap="square" lIns="0" tIns="0" rIns="0" bIns="0" rtlCol="0" anchor="ctr"/>
          <a:lstStyle/>
          <a:p>
            <a:pPr marL="0" indent="0">
              <a:buNone/>
            </a:pPr>
            <a:r>
              <a:rPr lang="en-US" sz="2600" b="1" dirty="0">
                <a:solidFill>
                  <a:srgbClr val="17875A"/>
                </a:solidFill>
                <a:latin typeface="Arial" pitchFamily="34" charset="0"/>
                <a:ea typeface="Arial" pitchFamily="34" charset="-122"/>
                <a:cs typeface="Arial" pitchFamily="34" charset="-120"/>
              </a:rPr>
              <a:t>&lt; 1 sec</a:t>
            </a:r>
            <a:endParaRPr lang="en-US" sz="2600" dirty="0"/>
          </a:p>
        </p:txBody>
      </p:sp>
      <p:sp>
        <p:nvSpPr>
          <p:cNvPr id="22" name="Shape 19"/>
          <p:cNvSpPr/>
          <p:nvPr/>
        </p:nvSpPr>
        <p:spPr>
          <a:xfrm>
            <a:off x="4581144" y="4114800"/>
            <a:ext cx="3017520" cy="685800"/>
          </a:xfrm>
          <a:prstGeom prst="roundRect">
            <a:avLst>
              <a:gd name="adj" fmla="val 10667"/>
            </a:avLst>
          </a:prstGeom>
          <a:solidFill>
            <a:srgbClr val="0E1726"/>
          </a:solidFill>
          <a:ln/>
        </p:spPr>
        <p:txBody>
          <a:bodyPr/>
          <a:lstStyle/>
          <a:p>
            <a:endParaRPr lang="en-US"/>
          </a:p>
        </p:txBody>
      </p:sp>
      <p:sp>
        <p:nvSpPr>
          <p:cNvPr id="23" name="Text 20"/>
          <p:cNvSpPr txBox="1"/>
          <p:nvPr/>
        </p:nvSpPr>
        <p:spPr>
          <a:xfrm>
            <a:off x="4672584" y="4114800"/>
            <a:ext cx="2834640" cy="68580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grep red_panda access.log</a:t>
            </a:r>
            <a:endParaRPr lang="en-US" sz="1100" dirty="0"/>
          </a:p>
        </p:txBody>
      </p:sp>
      <p:sp>
        <p:nvSpPr>
          <p:cNvPr id="24" name="Shape 21"/>
          <p:cNvSpPr/>
          <p:nvPr/>
        </p:nvSpPr>
        <p:spPr>
          <a:xfrm>
            <a:off x="8065008" y="1508760"/>
            <a:ext cx="3566160" cy="3520440"/>
          </a:xfrm>
          <a:prstGeom prst="roundRect">
            <a:avLst>
              <a:gd name="adj" fmla="val 2597"/>
            </a:avLst>
          </a:prstGeom>
          <a:solidFill>
            <a:srgbClr val="F1F5FB"/>
          </a:solidFill>
          <a:ln/>
        </p:spPr>
        <p:txBody>
          <a:bodyPr/>
          <a:lstStyle/>
          <a:p>
            <a:endParaRPr lang="en-US"/>
          </a:p>
        </p:txBody>
      </p:sp>
      <p:sp>
        <p:nvSpPr>
          <p:cNvPr id="25" name="Shape 22"/>
          <p:cNvSpPr/>
          <p:nvPr/>
        </p:nvSpPr>
        <p:spPr>
          <a:xfrm>
            <a:off x="8065008" y="1508760"/>
            <a:ext cx="3566160" cy="91440"/>
          </a:xfrm>
          <a:prstGeom prst="rect">
            <a:avLst/>
          </a:prstGeom>
          <a:solidFill>
            <a:srgbClr val="D1416B"/>
          </a:solidFill>
          <a:ln/>
        </p:spPr>
        <p:txBody>
          <a:bodyPr/>
          <a:lstStyle/>
          <a:p>
            <a:endParaRPr lang="en-US"/>
          </a:p>
        </p:txBody>
      </p:sp>
      <p:sp>
        <p:nvSpPr>
          <p:cNvPr id="26" name="Text 23"/>
          <p:cNvSpPr txBox="1"/>
          <p:nvPr/>
        </p:nvSpPr>
        <p:spPr>
          <a:xfrm>
            <a:off x="8339328" y="1691640"/>
            <a:ext cx="3108960" cy="45720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Do it on 100 servers</a:t>
            </a:r>
            <a:endParaRPr lang="en-US" sz="1900" dirty="0"/>
          </a:p>
        </p:txBody>
      </p:sp>
      <p:sp>
        <p:nvSpPr>
          <p:cNvPr id="27" name="Text 24"/>
          <p:cNvSpPr txBox="1"/>
          <p:nvPr/>
        </p:nvSpPr>
        <p:spPr>
          <a:xfrm>
            <a:off x="8339328" y="22402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28" name="Text 25"/>
          <p:cNvSpPr txBox="1"/>
          <p:nvPr/>
        </p:nvSpPr>
        <p:spPr>
          <a:xfrm>
            <a:off x="8339328" y="2514600"/>
            <a:ext cx="3108960" cy="548640"/>
          </a:xfrm>
          <a:prstGeom prst="rect">
            <a:avLst/>
          </a:prstGeom>
          <a:noFill/>
          <a:ln/>
        </p:spPr>
        <p:txBody>
          <a:bodyPr wrap="square" lIns="0" tIns="0" rIns="0" bIns="0" rtlCol="0" anchor="ctr"/>
          <a:lstStyle/>
          <a:p>
            <a:pPr marL="0" indent="0">
              <a:buNone/>
            </a:pPr>
            <a:r>
              <a:rPr lang="en-US" sz="2600" b="1" dirty="0">
                <a:solidFill>
                  <a:srgbClr val="D1416B"/>
                </a:solidFill>
                <a:latin typeface="Arial" pitchFamily="34" charset="0"/>
                <a:ea typeface="Arial" pitchFamily="34" charset="-122"/>
                <a:cs typeface="Arial" pitchFamily="34" charset="-120"/>
              </a:rPr>
              <a:t>hours  </a:t>
            </a:r>
            <a:r>
              <a:rPr lang="en-US" sz="1300" dirty="0">
                <a:solidFill>
                  <a:srgbClr val="56657E"/>
                </a:solidFill>
                <a:latin typeface="Arial" pitchFamily="34" charset="0"/>
                <a:ea typeface="Arial" pitchFamily="34" charset="-122"/>
                <a:cs typeface="Arial" pitchFamily="34" charset="-120"/>
              </a:rPr>
              <a:t>of remote desktops</a:t>
            </a:r>
            <a:endParaRPr lang="en-US" sz="2600" dirty="0"/>
          </a:p>
        </p:txBody>
      </p:sp>
      <p:sp>
        <p:nvSpPr>
          <p:cNvPr id="29" name="Text 26"/>
          <p:cNvSpPr txBox="1"/>
          <p:nvPr/>
        </p:nvSpPr>
        <p:spPr>
          <a:xfrm>
            <a:off x="8339328" y="31546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30" name="Text 27"/>
          <p:cNvSpPr txBox="1"/>
          <p:nvPr/>
        </p:nvSpPr>
        <p:spPr>
          <a:xfrm>
            <a:off x="8339328" y="3429000"/>
            <a:ext cx="3108960" cy="548640"/>
          </a:xfrm>
          <a:prstGeom prst="rect">
            <a:avLst/>
          </a:prstGeom>
          <a:noFill/>
          <a:ln/>
        </p:spPr>
        <p:txBody>
          <a:bodyPr wrap="square" lIns="0" tIns="0" rIns="0" bIns="0" rtlCol="0" anchor="ctr"/>
          <a:lstStyle/>
          <a:p>
            <a:pPr marL="0" indent="0">
              <a:buNone/>
            </a:pPr>
            <a:r>
              <a:rPr lang="en-US" sz="2600" b="1" dirty="0">
                <a:solidFill>
                  <a:srgbClr val="17875A"/>
                </a:solidFill>
                <a:latin typeface="Arial" pitchFamily="34" charset="0"/>
                <a:ea typeface="Arial" pitchFamily="34" charset="-122"/>
                <a:cs typeface="Arial" pitchFamily="34" charset="-120"/>
              </a:rPr>
              <a:t>1 loop</a:t>
            </a:r>
            <a:endParaRPr lang="en-US" sz="2600" dirty="0"/>
          </a:p>
        </p:txBody>
      </p:sp>
      <p:sp>
        <p:nvSpPr>
          <p:cNvPr id="31" name="Shape 28"/>
          <p:cNvSpPr/>
          <p:nvPr/>
        </p:nvSpPr>
        <p:spPr>
          <a:xfrm>
            <a:off x="8339328" y="4114800"/>
            <a:ext cx="3017520" cy="685800"/>
          </a:xfrm>
          <a:prstGeom prst="roundRect">
            <a:avLst>
              <a:gd name="adj" fmla="val 10667"/>
            </a:avLst>
          </a:prstGeom>
          <a:solidFill>
            <a:srgbClr val="0E1726"/>
          </a:solidFill>
          <a:ln/>
        </p:spPr>
        <p:txBody>
          <a:bodyPr/>
          <a:lstStyle/>
          <a:p>
            <a:endParaRPr lang="en-US"/>
          </a:p>
        </p:txBody>
      </p:sp>
      <p:sp>
        <p:nvSpPr>
          <p:cNvPr id="32" name="Text 29"/>
          <p:cNvSpPr txBox="1"/>
          <p:nvPr/>
        </p:nvSpPr>
        <p:spPr>
          <a:xfrm>
            <a:off x="8430768" y="4114800"/>
            <a:ext cx="2834640" cy="68580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for h in $(cat servers); do ssh $h uptime; done</a:t>
            </a:r>
            <a:endParaRPr lang="en-US" sz="1100" dirty="0"/>
          </a:p>
        </p:txBody>
      </p:sp>
      <p:sp>
        <p:nvSpPr>
          <p:cNvPr id="33" name="Shape 30"/>
          <p:cNvSpPr/>
          <p:nvPr/>
        </p:nvSpPr>
        <p:spPr>
          <a:xfrm>
            <a:off x="548640" y="5257800"/>
            <a:ext cx="11094415" cy="685800"/>
          </a:xfrm>
          <a:prstGeom prst="roundRect">
            <a:avLst>
              <a:gd name="adj" fmla="val 13333"/>
            </a:avLst>
          </a:prstGeom>
          <a:solidFill>
            <a:srgbClr val="0E1726"/>
          </a:solidFill>
          <a:ln/>
        </p:spPr>
        <p:txBody>
          <a:bodyPr/>
          <a:lstStyle/>
          <a:p>
            <a:endParaRPr lang="en-US"/>
          </a:p>
        </p:txBody>
      </p:sp>
      <p:sp>
        <p:nvSpPr>
          <p:cNvPr id="34" name="Text 31"/>
          <p:cNvSpPr txBox="1"/>
          <p:nvPr/>
        </p:nvSpPr>
        <p:spPr>
          <a:xfrm>
            <a:off x="868680" y="5257800"/>
            <a:ext cx="10454335" cy="685800"/>
          </a:xfrm>
          <a:prstGeom prst="rect">
            <a:avLst/>
          </a:prstGeom>
          <a:noFill/>
          <a:ln/>
        </p:spPr>
        <p:txBody>
          <a:bodyPr wrap="square" lIns="0" tIns="0" rIns="0" bIns="0" rtlCol="0" anchor="ctr"/>
          <a:lstStyle/>
          <a:p>
            <a:pPr marL="0" indent="0">
              <a:buNone/>
            </a:pPr>
            <a:r>
              <a:rPr lang="en-US" sz="1900" b="1" dirty="0">
                <a:solidFill>
                  <a:srgbClr val="46D39A"/>
                </a:solidFill>
                <a:latin typeface="Courier New" pitchFamily="34" charset="0"/>
                <a:ea typeface="Courier New" pitchFamily="34" charset="-122"/>
                <a:cs typeface="Courier New" pitchFamily="34" charset="-120"/>
              </a:rPr>
              <a:t>$ </a:t>
            </a:r>
            <a:r>
              <a:rPr lang="en-US" sz="1900" b="1" dirty="0">
                <a:solidFill>
                  <a:srgbClr val="FFFFFF"/>
                </a:solidFill>
                <a:latin typeface="Courier New" pitchFamily="34" charset="0"/>
                <a:ea typeface="Courier New" pitchFamily="34" charset="-122"/>
                <a:cs typeface="Courier New" pitchFamily="34" charset="-120"/>
              </a:rPr>
              <a:t>Repeated, big or remote work? The command line is unmatched.</a:t>
            </a:r>
            <a:endParaRPr lang="en-US" sz="1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00"/>
                                        <p:tgtEl>
                                          <p:spTgt spid="2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00"/>
                                        <p:tgtEl>
                                          <p:spTgt spid="3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00"/>
                                        <p:tgtEl>
                                          <p:spTgt spid="32"/>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0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13</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2459D8"/>
                </a:solidFill>
                <a:latin typeface="Arial" pitchFamily="34" charset="0"/>
                <a:ea typeface="Arial" pitchFamily="34" charset="-122"/>
                <a:cs typeface="Arial" pitchFamily="34" charset="-120"/>
              </a:rPr>
              <a:t>2</a:t>
            </a:r>
            <a:endParaRPr lang="en-US" sz="25000" dirty="0"/>
          </a:p>
        </p:txBody>
      </p:sp>
      <p:sp>
        <p:nvSpPr>
          <p:cNvPr id="6" name="Text 3"/>
          <p:cNvSpPr txBox="1"/>
          <p:nvPr/>
        </p:nvSpPr>
        <p:spPr>
          <a:xfrm>
            <a:off x="3931920" y="1463040"/>
            <a:ext cx="7315200" cy="365760"/>
          </a:xfrm>
          <a:prstGeom prst="rect">
            <a:avLst/>
          </a:prstGeom>
          <a:noFill/>
          <a:ln/>
        </p:spPr>
        <p:txBody>
          <a:bodyPr wrap="square" lIns="0" tIns="0" rIns="0" bIns="0" rtlCol="0" anchor="ctr"/>
          <a:lstStyle/>
          <a:p>
            <a:pPr marL="0" indent="0">
              <a:buNone/>
            </a:pPr>
            <a:r>
              <a:rPr lang="en-US" sz="1600" dirty="0">
                <a:solidFill>
                  <a:srgbClr val="7F8FAD"/>
                </a:solidFill>
                <a:latin typeface="Courier New" pitchFamily="34" charset="0"/>
                <a:ea typeface="Courier New" pitchFamily="34" charset="-122"/>
                <a:cs typeface="Courier New" pitchFamily="34" charset="-120"/>
              </a:rPr>
              <a:t>Part 2 of 4</a:t>
            </a:r>
            <a:endParaRPr lang="en-US" sz="16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Command-line essentials</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Open the CTF, then four big ideas and a dozen commands. Each idea powers a mission, and every slide has a Try it.</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man linux   # the manual, in 25 minutes</a:t>
            </a:r>
            <a:endParaRPr lang="en-US" sz="20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Every command is a conversation</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73</a:t>
            </a:r>
            <a:endParaRPr lang="en-US" sz="1000" dirty="0"/>
          </a:p>
        </p:txBody>
      </p:sp>
      <p:sp>
        <p:nvSpPr>
          <p:cNvPr id="6" name="Shape 3"/>
          <p:cNvSpPr/>
          <p:nvPr/>
        </p:nvSpPr>
        <p:spPr>
          <a:xfrm>
            <a:off x="548640" y="1508760"/>
            <a:ext cx="2514600" cy="2148840"/>
          </a:xfrm>
          <a:prstGeom prst="roundRect">
            <a:avLst>
              <a:gd name="adj" fmla="val 4255"/>
            </a:avLst>
          </a:prstGeom>
          <a:solidFill>
            <a:srgbClr val="F1F5FB"/>
          </a:solidFill>
          <a:ln/>
        </p:spPr>
        <p:txBody>
          <a:bodyPr/>
          <a:lstStyle/>
          <a:p>
            <a:endParaRPr lang="en-US"/>
          </a:p>
        </p:txBody>
      </p:sp>
      <p:sp>
        <p:nvSpPr>
          <p:cNvPr id="7" name="Text 4"/>
          <p:cNvSpPr txBox="1"/>
          <p:nvPr/>
        </p:nvSpPr>
        <p:spPr>
          <a:xfrm>
            <a:off x="822960" y="1645920"/>
            <a:ext cx="914400" cy="731520"/>
          </a:xfrm>
          <a:prstGeom prst="rect">
            <a:avLst/>
          </a:prstGeom>
          <a:noFill/>
          <a:ln/>
        </p:spPr>
        <p:txBody>
          <a:bodyPr wrap="square" lIns="0" tIns="0" rIns="0" bIns="0" rtlCol="0" anchor="ctr"/>
          <a:lstStyle/>
          <a:p>
            <a:pPr marL="0" indent="0">
              <a:buNone/>
            </a:pPr>
            <a:r>
              <a:rPr lang="en-US" sz="4400" b="1" dirty="0">
                <a:solidFill>
                  <a:srgbClr val="2A9FD6"/>
                </a:solidFill>
                <a:latin typeface="Arial" pitchFamily="34" charset="0"/>
                <a:ea typeface="Arial" pitchFamily="34" charset="-122"/>
                <a:cs typeface="Arial" pitchFamily="34" charset="-120"/>
              </a:rPr>
              <a:t>1</a:t>
            </a:r>
            <a:endParaRPr lang="en-US" sz="4400" dirty="0"/>
          </a:p>
        </p:txBody>
      </p:sp>
      <p:sp>
        <p:nvSpPr>
          <p:cNvPr id="8" name="Text 5"/>
          <p:cNvSpPr txBox="1"/>
          <p:nvPr/>
        </p:nvSpPr>
        <p:spPr>
          <a:xfrm>
            <a:off x="822960"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Prompt appears</a:t>
            </a:r>
            <a:endParaRPr lang="en-US" sz="2000" dirty="0"/>
          </a:p>
        </p:txBody>
      </p:sp>
      <p:sp>
        <p:nvSpPr>
          <p:cNvPr id="9" name="Text 6"/>
          <p:cNvSpPr txBox="1"/>
          <p:nvPr/>
        </p:nvSpPr>
        <p:spPr>
          <a:xfrm>
            <a:off x="822960"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The computer says: your turn.</a:t>
            </a:r>
            <a:endParaRPr lang="en-US" sz="1500" dirty="0"/>
          </a:p>
        </p:txBody>
      </p:sp>
      <p:sp>
        <p:nvSpPr>
          <p:cNvPr id="10" name="Text 7"/>
          <p:cNvSpPr txBox="1"/>
          <p:nvPr/>
        </p:nvSpPr>
        <p:spPr>
          <a:xfrm>
            <a:off x="3063240"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1" name="Shape 8"/>
          <p:cNvSpPr/>
          <p:nvPr/>
        </p:nvSpPr>
        <p:spPr>
          <a:xfrm>
            <a:off x="3355848" y="1508760"/>
            <a:ext cx="2514600" cy="2148840"/>
          </a:xfrm>
          <a:prstGeom prst="roundRect">
            <a:avLst>
              <a:gd name="adj" fmla="val 4255"/>
            </a:avLst>
          </a:prstGeom>
          <a:solidFill>
            <a:srgbClr val="F1F5FB"/>
          </a:solidFill>
          <a:ln/>
        </p:spPr>
        <p:txBody>
          <a:bodyPr/>
          <a:lstStyle/>
          <a:p>
            <a:endParaRPr lang="en-US"/>
          </a:p>
        </p:txBody>
      </p:sp>
      <p:sp>
        <p:nvSpPr>
          <p:cNvPr id="12" name="Text 9"/>
          <p:cNvSpPr txBox="1"/>
          <p:nvPr/>
        </p:nvSpPr>
        <p:spPr>
          <a:xfrm>
            <a:off x="3630168" y="1645920"/>
            <a:ext cx="914400" cy="731520"/>
          </a:xfrm>
          <a:prstGeom prst="rect">
            <a:avLst/>
          </a:prstGeom>
          <a:noFill/>
          <a:ln/>
        </p:spPr>
        <p:txBody>
          <a:bodyPr wrap="square" lIns="0" tIns="0" rIns="0" bIns="0" rtlCol="0" anchor="ctr"/>
          <a:lstStyle/>
          <a:p>
            <a:pPr marL="0" indent="0">
              <a:buNone/>
            </a:pPr>
            <a:r>
              <a:rPr lang="en-US" sz="4400" b="1" dirty="0">
                <a:solidFill>
                  <a:srgbClr val="2459D8"/>
                </a:solidFill>
                <a:latin typeface="Arial" pitchFamily="34" charset="0"/>
                <a:ea typeface="Arial" pitchFamily="34" charset="-122"/>
                <a:cs typeface="Arial" pitchFamily="34" charset="-120"/>
              </a:rPr>
              <a:t>2</a:t>
            </a:r>
            <a:endParaRPr lang="en-US" sz="4400" dirty="0"/>
          </a:p>
        </p:txBody>
      </p:sp>
      <p:sp>
        <p:nvSpPr>
          <p:cNvPr id="13" name="Text 10"/>
          <p:cNvSpPr txBox="1"/>
          <p:nvPr/>
        </p:nvSpPr>
        <p:spPr>
          <a:xfrm>
            <a:off x="3630168"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You type</a:t>
            </a:r>
            <a:endParaRPr lang="en-US" sz="2000" dirty="0"/>
          </a:p>
        </p:txBody>
      </p:sp>
      <p:sp>
        <p:nvSpPr>
          <p:cNvPr id="14" name="Text 11"/>
          <p:cNvSpPr txBox="1"/>
          <p:nvPr/>
        </p:nvSpPr>
        <p:spPr>
          <a:xfrm>
            <a:off x="3630168"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Letters appear after the $. Nothing runs yet.</a:t>
            </a:r>
            <a:endParaRPr lang="en-US" sz="1500" dirty="0"/>
          </a:p>
        </p:txBody>
      </p:sp>
      <p:sp>
        <p:nvSpPr>
          <p:cNvPr id="15" name="Text 12"/>
          <p:cNvSpPr txBox="1"/>
          <p:nvPr/>
        </p:nvSpPr>
        <p:spPr>
          <a:xfrm>
            <a:off x="5870448"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6" name="Shape 13"/>
          <p:cNvSpPr/>
          <p:nvPr/>
        </p:nvSpPr>
        <p:spPr>
          <a:xfrm>
            <a:off x="6163056" y="1508760"/>
            <a:ext cx="2514600" cy="2148840"/>
          </a:xfrm>
          <a:prstGeom prst="roundRect">
            <a:avLst>
              <a:gd name="adj" fmla="val 4255"/>
            </a:avLst>
          </a:prstGeom>
          <a:solidFill>
            <a:srgbClr val="F1F5FB"/>
          </a:solidFill>
          <a:ln/>
        </p:spPr>
        <p:txBody>
          <a:bodyPr/>
          <a:lstStyle/>
          <a:p>
            <a:endParaRPr lang="en-US"/>
          </a:p>
        </p:txBody>
      </p:sp>
      <p:sp>
        <p:nvSpPr>
          <p:cNvPr id="17" name="Text 14"/>
          <p:cNvSpPr txBox="1"/>
          <p:nvPr/>
        </p:nvSpPr>
        <p:spPr>
          <a:xfrm>
            <a:off x="6437376" y="1645920"/>
            <a:ext cx="914400" cy="731520"/>
          </a:xfrm>
          <a:prstGeom prst="rect">
            <a:avLst/>
          </a:prstGeom>
          <a:noFill/>
          <a:ln/>
        </p:spPr>
        <p:txBody>
          <a:bodyPr wrap="square" lIns="0" tIns="0" rIns="0" bIns="0" rtlCol="0" anchor="ctr"/>
          <a:lstStyle/>
          <a:p>
            <a:pPr marL="0" indent="0">
              <a:buNone/>
            </a:pPr>
            <a:r>
              <a:rPr lang="en-US" sz="4400" b="1" dirty="0">
                <a:solidFill>
                  <a:srgbClr val="7448D4"/>
                </a:solidFill>
                <a:latin typeface="Arial" pitchFamily="34" charset="0"/>
                <a:ea typeface="Arial" pitchFamily="34" charset="-122"/>
                <a:cs typeface="Arial" pitchFamily="34" charset="-120"/>
              </a:rPr>
              <a:t>3</a:t>
            </a:r>
            <a:endParaRPr lang="en-US" sz="4400" dirty="0"/>
          </a:p>
        </p:txBody>
      </p:sp>
      <p:sp>
        <p:nvSpPr>
          <p:cNvPr id="18" name="Text 15"/>
          <p:cNvSpPr txBox="1"/>
          <p:nvPr/>
        </p:nvSpPr>
        <p:spPr>
          <a:xfrm>
            <a:off x="6437376"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You press Enter</a:t>
            </a:r>
            <a:endParaRPr lang="en-US" sz="2000" dirty="0"/>
          </a:p>
        </p:txBody>
      </p:sp>
      <p:sp>
        <p:nvSpPr>
          <p:cNvPr id="19" name="Text 16"/>
          <p:cNvSpPr txBox="1"/>
          <p:nvPr/>
        </p:nvSpPr>
        <p:spPr>
          <a:xfrm>
            <a:off x="6437376"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Now the computer runs the command.</a:t>
            </a:r>
            <a:endParaRPr lang="en-US" sz="1500" dirty="0"/>
          </a:p>
        </p:txBody>
      </p:sp>
      <p:sp>
        <p:nvSpPr>
          <p:cNvPr id="20" name="Text 17"/>
          <p:cNvSpPr txBox="1"/>
          <p:nvPr/>
        </p:nvSpPr>
        <p:spPr>
          <a:xfrm>
            <a:off x="8677656"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1" name="Shape 18"/>
          <p:cNvSpPr/>
          <p:nvPr/>
        </p:nvSpPr>
        <p:spPr>
          <a:xfrm>
            <a:off x="8970264" y="1508760"/>
            <a:ext cx="2514600" cy="2148840"/>
          </a:xfrm>
          <a:prstGeom prst="roundRect">
            <a:avLst>
              <a:gd name="adj" fmla="val 4255"/>
            </a:avLst>
          </a:prstGeom>
          <a:solidFill>
            <a:srgbClr val="F1F5FB"/>
          </a:solidFill>
          <a:ln/>
        </p:spPr>
        <p:txBody>
          <a:bodyPr/>
          <a:lstStyle/>
          <a:p>
            <a:endParaRPr lang="en-US"/>
          </a:p>
        </p:txBody>
      </p:sp>
      <p:sp>
        <p:nvSpPr>
          <p:cNvPr id="22" name="Text 19"/>
          <p:cNvSpPr txBox="1"/>
          <p:nvPr/>
        </p:nvSpPr>
        <p:spPr>
          <a:xfrm>
            <a:off x="9244584" y="1645920"/>
            <a:ext cx="914400" cy="731520"/>
          </a:xfrm>
          <a:prstGeom prst="rect">
            <a:avLst/>
          </a:prstGeom>
          <a:noFill/>
          <a:ln/>
        </p:spPr>
        <p:txBody>
          <a:bodyPr wrap="square" lIns="0" tIns="0" rIns="0" bIns="0" rtlCol="0" anchor="ctr"/>
          <a:lstStyle/>
          <a:p>
            <a:pPr marL="0" indent="0">
              <a:buNone/>
            </a:pPr>
            <a:r>
              <a:rPr lang="en-US" sz="4400" b="1" dirty="0">
                <a:solidFill>
                  <a:srgbClr val="D1416B"/>
                </a:solidFill>
                <a:latin typeface="Arial" pitchFamily="34" charset="0"/>
                <a:ea typeface="Arial" pitchFamily="34" charset="-122"/>
                <a:cs typeface="Arial" pitchFamily="34" charset="-120"/>
              </a:rPr>
              <a:t>4</a:t>
            </a:r>
            <a:endParaRPr lang="en-US" sz="4400" dirty="0"/>
          </a:p>
        </p:txBody>
      </p:sp>
      <p:sp>
        <p:nvSpPr>
          <p:cNvPr id="23" name="Text 20"/>
          <p:cNvSpPr txBox="1"/>
          <p:nvPr/>
        </p:nvSpPr>
        <p:spPr>
          <a:xfrm>
            <a:off x="9244584"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Output appears</a:t>
            </a:r>
            <a:endParaRPr lang="en-US" sz="2000" dirty="0"/>
          </a:p>
        </p:txBody>
      </p:sp>
      <p:sp>
        <p:nvSpPr>
          <p:cNvPr id="24" name="Text 21"/>
          <p:cNvSpPr txBox="1"/>
          <p:nvPr/>
        </p:nvSpPr>
        <p:spPr>
          <a:xfrm>
            <a:off x="9244584"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Then a new prompt, and back to step 1.</a:t>
            </a:r>
            <a:endParaRPr lang="en-US" sz="1500" dirty="0"/>
          </a:p>
        </p:txBody>
      </p:sp>
      <p:sp>
        <p:nvSpPr>
          <p:cNvPr id="25" name="Text 22"/>
          <p:cNvSpPr txBox="1"/>
          <p:nvPr/>
        </p:nvSpPr>
        <p:spPr>
          <a:xfrm>
            <a:off x="11484864"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alibri" pitchFamily="34" charset="0"/>
                <a:ea typeface="Calibri" pitchFamily="34" charset="-122"/>
                <a:cs typeface="Calibri" pitchFamily="34" charset="-120"/>
              </a:rPr>
              <a:t>↺</a:t>
            </a:r>
            <a:endParaRPr lang="en-US" sz="2200" dirty="0"/>
          </a:p>
        </p:txBody>
      </p:sp>
      <p:sp>
        <p:nvSpPr>
          <p:cNvPr id="26" name="Shape 23"/>
          <p:cNvSpPr/>
          <p:nvPr/>
        </p:nvSpPr>
        <p:spPr>
          <a:xfrm>
            <a:off x="548640" y="3931920"/>
            <a:ext cx="5440680" cy="2011680"/>
          </a:xfrm>
          <a:prstGeom prst="roundRect">
            <a:avLst>
              <a:gd name="adj" fmla="val 4545"/>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7" name="Shape 24"/>
          <p:cNvSpPr/>
          <p:nvPr/>
        </p:nvSpPr>
        <p:spPr>
          <a:xfrm>
            <a:off x="749808" y="4087368"/>
            <a:ext cx="118872" cy="118872"/>
          </a:xfrm>
          <a:prstGeom prst="ellipse">
            <a:avLst/>
          </a:prstGeom>
          <a:solidFill>
            <a:srgbClr val="E5534B"/>
          </a:solidFill>
          <a:ln/>
        </p:spPr>
        <p:txBody>
          <a:bodyPr/>
          <a:lstStyle/>
          <a:p>
            <a:endParaRPr lang="en-US"/>
          </a:p>
        </p:txBody>
      </p:sp>
      <p:sp>
        <p:nvSpPr>
          <p:cNvPr id="28" name="Shape 25"/>
          <p:cNvSpPr/>
          <p:nvPr/>
        </p:nvSpPr>
        <p:spPr>
          <a:xfrm>
            <a:off x="950976" y="4087368"/>
            <a:ext cx="118872" cy="118872"/>
          </a:xfrm>
          <a:prstGeom prst="ellipse">
            <a:avLst/>
          </a:prstGeom>
          <a:solidFill>
            <a:srgbClr val="F5A623"/>
          </a:solidFill>
          <a:ln/>
        </p:spPr>
        <p:txBody>
          <a:bodyPr/>
          <a:lstStyle/>
          <a:p>
            <a:endParaRPr lang="en-US"/>
          </a:p>
        </p:txBody>
      </p:sp>
      <p:sp>
        <p:nvSpPr>
          <p:cNvPr id="29" name="Shape 26"/>
          <p:cNvSpPr/>
          <p:nvPr/>
        </p:nvSpPr>
        <p:spPr>
          <a:xfrm>
            <a:off x="1152144" y="4087368"/>
            <a:ext cx="118872" cy="118872"/>
          </a:xfrm>
          <a:prstGeom prst="ellipse">
            <a:avLst/>
          </a:prstGeom>
          <a:solidFill>
            <a:srgbClr val="46D39A"/>
          </a:solidFill>
          <a:ln/>
        </p:spPr>
        <p:txBody>
          <a:bodyPr/>
          <a:lstStyle/>
          <a:p>
            <a:endParaRPr lang="en-US"/>
          </a:p>
        </p:txBody>
      </p:sp>
      <p:sp>
        <p:nvSpPr>
          <p:cNvPr id="30" name="Text 27"/>
          <p:cNvSpPr txBox="1"/>
          <p:nvPr/>
        </p:nvSpPr>
        <p:spPr>
          <a:xfrm>
            <a:off x="1463040" y="4005072"/>
            <a:ext cx="36118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no output? that's normal</a:t>
            </a:r>
            <a:endParaRPr lang="en-US" sz="1000" dirty="0"/>
          </a:p>
        </p:txBody>
      </p:sp>
      <p:sp>
        <p:nvSpPr>
          <p:cNvPr id="31" name="Text 28"/>
          <p:cNvSpPr txBox="1"/>
          <p:nvPr/>
        </p:nvSpPr>
        <p:spPr>
          <a:xfrm>
            <a:off x="822960" y="4389120"/>
            <a:ext cx="4892040" cy="141732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cd /etc</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pwd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cd ~</a:t>
            </a:r>
            <a:endParaRPr lang="en-US" sz="1600" dirty="0"/>
          </a:p>
        </p:txBody>
      </p:sp>
      <p:sp>
        <p:nvSpPr>
          <p:cNvPr id="32" name="Shape 29"/>
          <p:cNvSpPr/>
          <p:nvPr/>
        </p:nvSpPr>
        <p:spPr>
          <a:xfrm>
            <a:off x="6199632" y="3931920"/>
            <a:ext cx="5440680" cy="2011680"/>
          </a:xfrm>
          <a:prstGeom prst="roundRect">
            <a:avLst>
              <a:gd name="adj" fmla="val 4545"/>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3" name="Shape 30"/>
          <p:cNvSpPr/>
          <p:nvPr/>
        </p:nvSpPr>
        <p:spPr>
          <a:xfrm>
            <a:off x="6400800" y="4087368"/>
            <a:ext cx="118872" cy="118872"/>
          </a:xfrm>
          <a:prstGeom prst="ellipse">
            <a:avLst/>
          </a:prstGeom>
          <a:solidFill>
            <a:srgbClr val="E5534B"/>
          </a:solidFill>
          <a:ln/>
        </p:spPr>
        <p:txBody>
          <a:bodyPr/>
          <a:lstStyle/>
          <a:p>
            <a:endParaRPr lang="en-US"/>
          </a:p>
        </p:txBody>
      </p:sp>
      <p:sp>
        <p:nvSpPr>
          <p:cNvPr id="34" name="Shape 31"/>
          <p:cNvSpPr/>
          <p:nvPr/>
        </p:nvSpPr>
        <p:spPr>
          <a:xfrm>
            <a:off x="6601968" y="4087368"/>
            <a:ext cx="118872" cy="118872"/>
          </a:xfrm>
          <a:prstGeom prst="ellipse">
            <a:avLst/>
          </a:prstGeom>
          <a:solidFill>
            <a:srgbClr val="F5A623"/>
          </a:solidFill>
          <a:ln/>
        </p:spPr>
        <p:txBody>
          <a:bodyPr/>
          <a:lstStyle/>
          <a:p>
            <a:endParaRPr lang="en-US"/>
          </a:p>
        </p:txBody>
      </p:sp>
      <p:sp>
        <p:nvSpPr>
          <p:cNvPr id="35" name="Shape 32"/>
          <p:cNvSpPr/>
          <p:nvPr/>
        </p:nvSpPr>
        <p:spPr>
          <a:xfrm>
            <a:off x="6803136" y="4087368"/>
            <a:ext cx="118872" cy="118872"/>
          </a:xfrm>
          <a:prstGeom prst="ellipse">
            <a:avLst/>
          </a:prstGeom>
          <a:solidFill>
            <a:srgbClr val="46D39A"/>
          </a:solidFill>
          <a:ln/>
        </p:spPr>
        <p:txBody>
          <a:bodyPr/>
          <a:lstStyle/>
          <a:p>
            <a:endParaRPr lang="en-US"/>
          </a:p>
        </p:txBody>
      </p:sp>
      <p:sp>
        <p:nvSpPr>
          <p:cNvPr id="36" name="Text 33"/>
          <p:cNvSpPr txBox="1"/>
          <p:nvPr/>
        </p:nvSpPr>
        <p:spPr>
          <a:xfrm>
            <a:off x="7114032" y="4005072"/>
            <a:ext cx="36118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errors are output too: read them</a:t>
            </a:r>
            <a:endParaRPr lang="en-US" sz="1000" dirty="0"/>
          </a:p>
        </p:txBody>
      </p:sp>
      <p:sp>
        <p:nvSpPr>
          <p:cNvPr id="37" name="Text 34"/>
          <p:cNvSpPr txBox="1"/>
          <p:nvPr/>
        </p:nvSpPr>
        <p:spPr>
          <a:xfrm>
            <a:off x="6473952" y="4389120"/>
            <a:ext cx="4892040" cy="141732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LS</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-sh: LS: not found</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ls /nope</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ls: /nope: No such file or directory</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00"/>
                                        <p:tgtEl>
                                          <p:spTgt spid="25"/>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4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4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4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0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40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4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Four big ideas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14</a:t>
            </a:r>
            <a:endParaRPr lang="en-US" sz="1000" dirty="0"/>
          </a:p>
        </p:txBody>
      </p:sp>
      <p:sp>
        <p:nvSpPr>
          <p:cNvPr id="6" name="Shape 3"/>
          <p:cNvSpPr/>
          <p:nvPr/>
        </p:nvSpPr>
        <p:spPr>
          <a:xfrm>
            <a:off x="548640" y="1508760"/>
            <a:ext cx="2624328" cy="4434840"/>
          </a:xfrm>
          <a:prstGeom prst="roundRect">
            <a:avLst>
              <a:gd name="adj" fmla="val 3484"/>
            </a:avLst>
          </a:prstGeom>
          <a:solidFill>
            <a:srgbClr val="F1F5FB"/>
          </a:solidFill>
          <a:ln/>
        </p:spPr>
        <p:txBody>
          <a:bodyPr/>
          <a:lstStyle/>
          <a:p>
            <a:endParaRPr lang="en-US"/>
          </a:p>
        </p:txBody>
      </p:sp>
      <p:sp>
        <p:nvSpPr>
          <p:cNvPr id="7" name="Shape 4"/>
          <p:cNvSpPr/>
          <p:nvPr/>
        </p:nvSpPr>
        <p:spPr>
          <a:xfrm>
            <a:off x="548640" y="1508760"/>
            <a:ext cx="2624328" cy="109728"/>
          </a:xfrm>
          <a:prstGeom prst="rect">
            <a:avLst/>
          </a:prstGeom>
          <a:solidFill>
            <a:srgbClr val="17875A"/>
          </a:solidFill>
          <a:ln/>
        </p:spPr>
        <p:txBody>
          <a:bodyPr/>
          <a:lstStyle/>
          <a:p>
            <a:endParaRPr lang="en-US"/>
          </a:p>
        </p:txBody>
      </p:sp>
      <p:sp>
        <p:nvSpPr>
          <p:cNvPr id="8" name="Shape 5"/>
          <p:cNvSpPr/>
          <p:nvPr/>
        </p:nvSpPr>
        <p:spPr>
          <a:xfrm>
            <a:off x="777240" y="1810512"/>
            <a:ext cx="640080" cy="640080"/>
          </a:xfrm>
          <a:prstGeom prst="ellipse">
            <a:avLst/>
          </a:prstGeom>
          <a:solidFill>
            <a:srgbClr val="17875A"/>
          </a:solidFill>
          <a:ln/>
        </p:spPr>
        <p:txBody>
          <a:bodyPr/>
          <a:lstStyle/>
          <a:p>
            <a:endParaRPr lang="en-US"/>
          </a:p>
        </p:txBody>
      </p:sp>
      <p:sp>
        <p:nvSpPr>
          <p:cNvPr id="9" name="Text 6"/>
          <p:cNvSpPr txBox="1"/>
          <p:nvPr/>
        </p:nvSpPr>
        <p:spPr>
          <a:xfrm>
            <a:off x="777240"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10" name="Text 7"/>
          <p:cNvSpPr txBox="1"/>
          <p:nvPr/>
        </p:nvSpPr>
        <p:spPr>
          <a:xfrm>
            <a:off x="777240"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The file system</a:t>
            </a:r>
            <a:endParaRPr lang="en-US" sz="2100" dirty="0"/>
          </a:p>
        </p:txBody>
      </p:sp>
      <p:sp>
        <p:nvSpPr>
          <p:cNvPr id="11" name="Text 8"/>
          <p:cNvSpPr txBox="1"/>
          <p:nvPr/>
        </p:nvSpPr>
        <p:spPr>
          <a:xfrm>
            <a:off x="777240"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Everything is a file or a folder. Point at them with paths, then move around or look inside.</a:t>
            </a:r>
            <a:endParaRPr lang="en-US" sz="1450" dirty="0"/>
          </a:p>
        </p:txBody>
      </p:sp>
      <p:sp>
        <p:nvSpPr>
          <p:cNvPr id="12" name="Text 9"/>
          <p:cNvSpPr txBox="1"/>
          <p:nvPr/>
        </p:nvSpPr>
        <p:spPr>
          <a:xfrm>
            <a:off x="777240"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pwd  cd  ls  cat  chmod</a:t>
            </a:r>
            <a:endParaRPr lang="en-US" sz="1300" dirty="0"/>
          </a:p>
        </p:txBody>
      </p:sp>
      <p:sp>
        <p:nvSpPr>
          <p:cNvPr id="13" name="Shape 10"/>
          <p:cNvSpPr/>
          <p:nvPr/>
        </p:nvSpPr>
        <p:spPr>
          <a:xfrm>
            <a:off x="3355848" y="1508760"/>
            <a:ext cx="2624328" cy="4434840"/>
          </a:xfrm>
          <a:prstGeom prst="roundRect">
            <a:avLst>
              <a:gd name="adj" fmla="val 3484"/>
            </a:avLst>
          </a:prstGeom>
          <a:solidFill>
            <a:srgbClr val="F1F5FB"/>
          </a:solidFill>
          <a:ln/>
        </p:spPr>
        <p:txBody>
          <a:bodyPr/>
          <a:lstStyle/>
          <a:p>
            <a:endParaRPr lang="en-US"/>
          </a:p>
        </p:txBody>
      </p:sp>
      <p:sp>
        <p:nvSpPr>
          <p:cNvPr id="14" name="Shape 11"/>
          <p:cNvSpPr/>
          <p:nvPr/>
        </p:nvSpPr>
        <p:spPr>
          <a:xfrm>
            <a:off x="3355848" y="1508760"/>
            <a:ext cx="2624328" cy="109728"/>
          </a:xfrm>
          <a:prstGeom prst="rect">
            <a:avLst/>
          </a:prstGeom>
          <a:solidFill>
            <a:srgbClr val="2A9FD6"/>
          </a:solidFill>
          <a:ln/>
        </p:spPr>
        <p:txBody>
          <a:bodyPr/>
          <a:lstStyle/>
          <a:p>
            <a:endParaRPr lang="en-US"/>
          </a:p>
        </p:txBody>
      </p:sp>
      <p:sp>
        <p:nvSpPr>
          <p:cNvPr id="15" name="Shape 12"/>
          <p:cNvSpPr/>
          <p:nvPr/>
        </p:nvSpPr>
        <p:spPr>
          <a:xfrm>
            <a:off x="3584448" y="1810512"/>
            <a:ext cx="640080" cy="640080"/>
          </a:xfrm>
          <a:prstGeom prst="ellipse">
            <a:avLst/>
          </a:prstGeom>
          <a:solidFill>
            <a:srgbClr val="2A9FD6"/>
          </a:solidFill>
          <a:ln/>
        </p:spPr>
        <p:txBody>
          <a:bodyPr/>
          <a:lstStyle/>
          <a:p>
            <a:endParaRPr lang="en-US"/>
          </a:p>
        </p:txBody>
      </p:sp>
      <p:sp>
        <p:nvSpPr>
          <p:cNvPr id="16" name="Text 13"/>
          <p:cNvSpPr txBox="1"/>
          <p:nvPr/>
        </p:nvSpPr>
        <p:spPr>
          <a:xfrm>
            <a:off x="3584448"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7" name="Text 14"/>
          <p:cNvSpPr txBox="1"/>
          <p:nvPr/>
        </p:nvSpPr>
        <p:spPr>
          <a:xfrm>
            <a:off x="3584448"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Learning any command</a:t>
            </a:r>
            <a:endParaRPr lang="en-US" sz="2100" dirty="0"/>
          </a:p>
        </p:txBody>
      </p:sp>
      <p:sp>
        <p:nvSpPr>
          <p:cNvPr id="18" name="Text 15"/>
          <p:cNvSpPr txBox="1"/>
          <p:nvPr/>
        </p:nvSpPr>
        <p:spPr>
          <a:xfrm>
            <a:off x="3584448"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 command has the same shape, and every command can explain itself.</a:t>
            </a:r>
            <a:endParaRPr lang="en-US" sz="1450" dirty="0"/>
          </a:p>
        </p:txBody>
      </p:sp>
      <p:sp>
        <p:nvSpPr>
          <p:cNvPr id="19" name="Text 16"/>
          <p:cNvSpPr txBox="1"/>
          <p:nvPr/>
        </p:nvSpPr>
        <p:spPr>
          <a:xfrm>
            <a:off x="3584448"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--help  Tab</a:t>
            </a:r>
            <a:endParaRPr lang="en-US" sz="1300" dirty="0"/>
          </a:p>
        </p:txBody>
      </p:sp>
      <p:sp>
        <p:nvSpPr>
          <p:cNvPr id="20" name="Shape 17"/>
          <p:cNvSpPr/>
          <p:nvPr/>
        </p:nvSpPr>
        <p:spPr>
          <a:xfrm>
            <a:off x="6163056" y="1508760"/>
            <a:ext cx="2624328" cy="4434840"/>
          </a:xfrm>
          <a:prstGeom prst="roundRect">
            <a:avLst>
              <a:gd name="adj" fmla="val 3484"/>
            </a:avLst>
          </a:prstGeom>
          <a:solidFill>
            <a:srgbClr val="F1F5FB"/>
          </a:solidFill>
          <a:ln/>
        </p:spPr>
        <p:txBody>
          <a:bodyPr/>
          <a:lstStyle/>
          <a:p>
            <a:endParaRPr lang="en-US"/>
          </a:p>
        </p:txBody>
      </p:sp>
      <p:sp>
        <p:nvSpPr>
          <p:cNvPr id="21" name="Shape 18"/>
          <p:cNvSpPr/>
          <p:nvPr/>
        </p:nvSpPr>
        <p:spPr>
          <a:xfrm>
            <a:off x="6163056" y="1508760"/>
            <a:ext cx="2624328" cy="109728"/>
          </a:xfrm>
          <a:prstGeom prst="rect">
            <a:avLst/>
          </a:prstGeom>
          <a:solidFill>
            <a:srgbClr val="7448D4"/>
          </a:solidFill>
          <a:ln/>
        </p:spPr>
        <p:txBody>
          <a:bodyPr/>
          <a:lstStyle/>
          <a:p>
            <a:endParaRPr lang="en-US"/>
          </a:p>
        </p:txBody>
      </p:sp>
      <p:sp>
        <p:nvSpPr>
          <p:cNvPr id="22" name="Shape 19"/>
          <p:cNvSpPr/>
          <p:nvPr/>
        </p:nvSpPr>
        <p:spPr>
          <a:xfrm>
            <a:off x="6391656" y="1810512"/>
            <a:ext cx="640080" cy="640080"/>
          </a:xfrm>
          <a:prstGeom prst="ellipse">
            <a:avLst/>
          </a:prstGeom>
          <a:solidFill>
            <a:srgbClr val="7448D4"/>
          </a:solidFill>
          <a:ln/>
        </p:spPr>
        <p:txBody>
          <a:bodyPr/>
          <a:lstStyle/>
          <a:p>
            <a:endParaRPr lang="en-US"/>
          </a:p>
        </p:txBody>
      </p:sp>
      <p:sp>
        <p:nvSpPr>
          <p:cNvPr id="23" name="Text 20"/>
          <p:cNvSpPr txBox="1"/>
          <p:nvPr/>
        </p:nvSpPr>
        <p:spPr>
          <a:xfrm>
            <a:off x="6391656"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24" name="Text 21"/>
          <p:cNvSpPr txBox="1"/>
          <p:nvPr/>
        </p:nvSpPr>
        <p:spPr>
          <a:xfrm>
            <a:off x="6391656"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Searching</a:t>
            </a:r>
            <a:endParaRPr lang="en-US" sz="2100" dirty="0"/>
          </a:p>
        </p:txBody>
      </p:sp>
      <p:sp>
        <p:nvSpPr>
          <p:cNvPr id="25" name="Text 22"/>
          <p:cNvSpPr txBox="1"/>
          <p:nvPr/>
        </p:nvSpPr>
        <p:spPr>
          <a:xfrm>
            <a:off x="6391656"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Too much to read by hand? Search by name or inside files, and chain tools together.</a:t>
            </a:r>
            <a:endParaRPr lang="en-US" sz="1450" dirty="0"/>
          </a:p>
        </p:txBody>
      </p:sp>
      <p:sp>
        <p:nvSpPr>
          <p:cNvPr id="26" name="Text 23"/>
          <p:cNvSpPr txBox="1"/>
          <p:nvPr/>
        </p:nvSpPr>
        <p:spPr>
          <a:xfrm>
            <a:off x="6391656"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find  grep  |  sort  uniq</a:t>
            </a:r>
            <a:endParaRPr lang="en-US" sz="1300" dirty="0"/>
          </a:p>
        </p:txBody>
      </p:sp>
      <p:sp>
        <p:nvSpPr>
          <p:cNvPr id="27" name="Shape 24"/>
          <p:cNvSpPr/>
          <p:nvPr/>
        </p:nvSpPr>
        <p:spPr>
          <a:xfrm>
            <a:off x="8970264" y="1508760"/>
            <a:ext cx="2624328" cy="4434840"/>
          </a:xfrm>
          <a:prstGeom prst="roundRect">
            <a:avLst>
              <a:gd name="adj" fmla="val 3484"/>
            </a:avLst>
          </a:prstGeom>
          <a:solidFill>
            <a:srgbClr val="F1F5FB"/>
          </a:solidFill>
          <a:ln/>
        </p:spPr>
        <p:txBody>
          <a:bodyPr/>
          <a:lstStyle/>
          <a:p>
            <a:endParaRPr lang="en-US"/>
          </a:p>
        </p:txBody>
      </p:sp>
      <p:sp>
        <p:nvSpPr>
          <p:cNvPr id="28" name="Shape 25"/>
          <p:cNvSpPr/>
          <p:nvPr/>
        </p:nvSpPr>
        <p:spPr>
          <a:xfrm>
            <a:off x="8970264" y="1508760"/>
            <a:ext cx="2624328" cy="109728"/>
          </a:xfrm>
          <a:prstGeom prst="rect">
            <a:avLst/>
          </a:prstGeom>
          <a:solidFill>
            <a:srgbClr val="E8820C"/>
          </a:solidFill>
          <a:ln/>
        </p:spPr>
        <p:txBody>
          <a:bodyPr/>
          <a:lstStyle/>
          <a:p>
            <a:endParaRPr lang="en-US"/>
          </a:p>
        </p:txBody>
      </p:sp>
      <p:sp>
        <p:nvSpPr>
          <p:cNvPr id="29" name="Shape 26"/>
          <p:cNvSpPr/>
          <p:nvPr/>
        </p:nvSpPr>
        <p:spPr>
          <a:xfrm>
            <a:off x="9198864" y="1810512"/>
            <a:ext cx="640080" cy="640080"/>
          </a:xfrm>
          <a:prstGeom prst="ellipse">
            <a:avLst/>
          </a:prstGeom>
          <a:solidFill>
            <a:srgbClr val="E8820C"/>
          </a:solidFill>
          <a:ln/>
        </p:spPr>
        <p:txBody>
          <a:bodyPr/>
          <a:lstStyle/>
          <a:p>
            <a:endParaRPr lang="en-US"/>
          </a:p>
        </p:txBody>
      </p:sp>
      <p:sp>
        <p:nvSpPr>
          <p:cNvPr id="30" name="Text 27"/>
          <p:cNvSpPr txBox="1"/>
          <p:nvPr/>
        </p:nvSpPr>
        <p:spPr>
          <a:xfrm>
            <a:off x="9198864"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31" name="Text 28"/>
          <p:cNvSpPr txBox="1"/>
          <p:nvPr/>
        </p:nvSpPr>
        <p:spPr>
          <a:xfrm>
            <a:off x="9198864"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Data and secrets</a:t>
            </a:r>
            <a:endParaRPr lang="en-US" sz="2100" dirty="0"/>
          </a:p>
        </p:txBody>
      </p:sp>
      <p:sp>
        <p:nvSpPr>
          <p:cNvPr id="32" name="Text 29"/>
          <p:cNvSpPr txBox="1"/>
          <p:nvPr/>
        </p:nvSpPr>
        <p:spPr>
          <a:xfrm>
            <a:off x="9198864"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Some text only looks secret. Encoding is not encryption.</a:t>
            </a:r>
            <a:endParaRPr lang="en-US" sz="1450" dirty="0"/>
          </a:p>
        </p:txBody>
      </p:sp>
      <p:sp>
        <p:nvSpPr>
          <p:cNvPr id="33" name="Text 30"/>
          <p:cNvSpPr txBox="1"/>
          <p:nvPr/>
        </p:nvSpPr>
        <p:spPr>
          <a:xfrm>
            <a:off x="9198864"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base64</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13"/>
                                        </p:tgtEl>
                                        <p:attrNameLst>
                                          <p:attrName>style.opacity</p:attrName>
                                        </p:attrNameLst>
                                      </p:cBhvr>
                                      <p:to>
                                        <p:strVal val="0.25"/>
                                      </p:to>
                                    </p:set>
                                    <p:animEffect filter="image" prLst="opacity: 0.25">
                                      <p:cBhvr rctx="IE">
                                        <p:cTn id="7" dur="1" fill="hold"/>
                                        <p:tgtEl>
                                          <p:spTgt spid="13"/>
                                        </p:tgtEl>
                                      </p:cBhvr>
                                    </p:animEffect>
                                  </p:childTnLst>
                                </p:cTn>
                              </p:par>
                              <p:par>
                                <p:cTn id="8" presetID="9" presetClass="emph" presetSubtype="0" fill="hold" grpId="0" nodeType="withEffect">
                                  <p:stCondLst>
                                    <p:cond delay="0"/>
                                  </p:stCondLst>
                                  <p:childTnLst>
                                    <p:set>
                                      <p:cBhvr>
                                        <p:cTn id="9" dur="1" fill="hold"/>
                                        <p:tgtEl>
                                          <p:spTgt spid="14"/>
                                        </p:tgtEl>
                                        <p:attrNameLst>
                                          <p:attrName>style.opacity</p:attrName>
                                        </p:attrNameLst>
                                      </p:cBhvr>
                                      <p:to>
                                        <p:strVal val="0.25"/>
                                      </p:to>
                                    </p:set>
                                    <p:animEffect filter="image" prLst="opacity: 0.25">
                                      <p:cBhvr rctx="IE">
                                        <p:cTn id="10" dur="1" fill="hold"/>
                                        <p:tgtEl>
                                          <p:spTgt spid="14"/>
                                        </p:tgtEl>
                                      </p:cBhvr>
                                    </p:animEffect>
                                  </p:childTnLst>
                                </p:cTn>
                              </p:par>
                              <p:par>
                                <p:cTn id="11" presetID="9" presetClass="emph" presetSubtype="0" fill="hold" grpId="0" nodeType="withEffect">
                                  <p:stCondLst>
                                    <p:cond delay="0"/>
                                  </p:stCondLst>
                                  <p:childTnLst>
                                    <p:set>
                                      <p:cBhvr>
                                        <p:cTn id="12" dur="1" fill="hold"/>
                                        <p:tgtEl>
                                          <p:spTgt spid="15"/>
                                        </p:tgtEl>
                                        <p:attrNameLst>
                                          <p:attrName>style.opacity</p:attrName>
                                        </p:attrNameLst>
                                      </p:cBhvr>
                                      <p:to>
                                        <p:strVal val="0.25"/>
                                      </p:to>
                                    </p:set>
                                    <p:animEffect filter="image" prLst="opacity: 0.25">
                                      <p:cBhvr rctx="IE">
                                        <p:cTn id="13" dur="1" fill="hold"/>
                                        <p:tgtEl>
                                          <p:spTgt spid="15"/>
                                        </p:tgtEl>
                                      </p:cBhvr>
                                    </p:animEffect>
                                  </p:childTnLst>
                                </p:cTn>
                              </p:par>
                              <p:par>
                                <p:cTn id="14" presetID="9" presetClass="emph" presetSubtype="0" fill="hold" grpId="0" nodeType="withEffect">
                                  <p:stCondLst>
                                    <p:cond delay="0"/>
                                  </p:stCondLst>
                                  <p:childTnLst>
                                    <p:set>
                                      <p:cBhvr>
                                        <p:cTn id="15" dur="1" fill="hold"/>
                                        <p:tgtEl>
                                          <p:spTgt spid="16"/>
                                        </p:tgtEl>
                                        <p:attrNameLst>
                                          <p:attrName>style.opacity</p:attrName>
                                        </p:attrNameLst>
                                      </p:cBhvr>
                                      <p:to>
                                        <p:strVal val="0.25"/>
                                      </p:to>
                                    </p:set>
                                    <p:animEffect filter="image" prLst="opacity: 0.25">
                                      <p:cBhvr rctx="IE">
                                        <p:cTn id="16" dur="1" fill="hold"/>
                                        <p:tgtEl>
                                          <p:spTgt spid="16"/>
                                        </p:tgtEl>
                                      </p:cBhvr>
                                    </p:animEffect>
                                  </p:childTnLst>
                                </p:cTn>
                              </p:par>
                              <p:par>
                                <p:cTn id="17" presetID="9" presetClass="emph" presetSubtype="0" fill="hold" grpId="0" nodeType="withEffect">
                                  <p:stCondLst>
                                    <p:cond delay="0"/>
                                  </p:stCondLst>
                                  <p:childTnLst>
                                    <p:set>
                                      <p:cBhvr>
                                        <p:cTn id="18" dur="1" fill="hold"/>
                                        <p:tgtEl>
                                          <p:spTgt spid="17"/>
                                        </p:tgtEl>
                                        <p:attrNameLst>
                                          <p:attrName>style.opacity</p:attrName>
                                        </p:attrNameLst>
                                      </p:cBhvr>
                                      <p:to>
                                        <p:strVal val="0.25"/>
                                      </p:to>
                                    </p:set>
                                    <p:animEffect filter="image" prLst="opacity: 0.25">
                                      <p:cBhvr rctx="IE">
                                        <p:cTn id="19" dur="1" fill="hold"/>
                                        <p:tgtEl>
                                          <p:spTgt spid="17"/>
                                        </p:tgtEl>
                                      </p:cBhvr>
                                    </p:animEffect>
                                  </p:childTnLst>
                                </p:cTn>
                              </p:par>
                              <p:par>
                                <p:cTn id="20" presetID="9" presetClass="emph" presetSubtype="0" fill="hold" grpId="0" nodeType="withEffect">
                                  <p:stCondLst>
                                    <p:cond delay="0"/>
                                  </p:stCondLst>
                                  <p:childTnLst>
                                    <p:set>
                                      <p:cBhvr>
                                        <p:cTn id="21" dur="1" fill="hold"/>
                                        <p:tgtEl>
                                          <p:spTgt spid="18"/>
                                        </p:tgtEl>
                                        <p:attrNameLst>
                                          <p:attrName>style.opacity</p:attrName>
                                        </p:attrNameLst>
                                      </p:cBhvr>
                                      <p:to>
                                        <p:strVal val="0.25"/>
                                      </p:to>
                                    </p:set>
                                    <p:animEffect filter="image" prLst="opacity: 0.25">
                                      <p:cBhvr rctx="IE">
                                        <p:cTn id="22" dur="1" fill="hold"/>
                                        <p:tgtEl>
                                          <p:spTgt spid="18"/>
                                        </p:tgtEl>
                                      </p:cBhvr>
                                    </p:animEffect>
                                  </p:childTnLst>
                                </p:cTn>
                              </p:par>
                              <p:par>
                                <p:cTn id="23" presetID="9" presetClass="emph" presetSubtype="0" fill="hold" grpId="0" nodeType="withEffect">
                                  <p:stCondLst>
                                    <p:cond delay="0"/>
                                  </p:stCondLst>
                                  <p:childTnLst>
                                    <p:set>
                                      <p:cBhvr>
                                        <p:cTn id="24" dur="1" fill="hold"/>
                                        <p:tgtEl>
                                          <p:spTgt spid="19"/>
                                        </p:tgtEl>
                                        <p:attrNameLst>
                                          <p:attrName>style.opacity</p:attrName>
                                        </p:attrNameLst>
                                      </p:cBhvr>
                                      <p:to>
                                        <p:strVal val="0.25"/>
                                      </p:to>
                                    </p:set>
                                    <p:animEffect filter="image" prLst="opacity: 0.25">
                                      <p:cBhvr rctx="IE">
                                        <p:cTn id="25" dur="1" fill="hold"/>
                                        <p:tgtEl>
                                          <p:spTgt spid="19"/>
                                        </p:tgtEl>
                                      </p:cBhvr>
                                    </p:animEffect>
                                  </p:childTnLst>
                                </p:cTn>
                              </p:par>
                              <p:par>
                                <p:cTn id="26" presetID="9" presetClass="emph" presetSubtype="0" fill="hold" grpId="0" nodeType="withEffect">
                                  <p:stCondLst>
                                    <p:cond delay="0"/>
                                  </p:stCondLst>
                                  <p:childTnLst>
                                    <p:set>
                                      <p:cBhvr>
                                        <p:cTn id="27" dur="1" fill="hold"/>
                                        <p:tgtEl>
                                          <p:spTgt spid="20"/>
                                        </p:tgtEl>
                                        <p:attrNameLst>
                                          <p:attrName>style.opacity</p:attrName>
                                        </p:attrNameLst>
                                      </p:cBhvr>
                                      <p:to>
                                        <p:strVal val="0.25"/>
                                      </p:to>
                                    </p:set>
                                    <p:animEffect filter="image" prLst="opacity: 0.25">
                                      <p:cBhvr rctx="IE">
                                        <p:cTn id="28" dur="1" fill="hold"/>
                                        <p:tgtEl>
                                          <p:spTgt spid="20"/>
                                        </p:tgtEl>
                                      </p:cBhvr>
                                    </p:animEffect>
                                  </p:childTnLst>
                                </p:cTn>
                              </p:par>
                              <p:par>
                                <p:cTn id="29" presetID="9" presetClass="emph" presetSubtype="0" fill="hold" grpId="0" nodeType="withEffect">
                                  <p:stCondLst>
                                    <p:cond delay="0"/>
                                  </p:stCondLst>
                                  <p:childTnLst>
                                    <p:set>
                                      <p:cBhvr>
                                        <p:cTn id="30" dur="1" fill="hold"/>
                                        <p:tgtEl>
                                          <p:spTgt spid="21"/>
                                        </p:tgtEl>
                                        <p:attrNameLst>
                                          <p:attrName>style.opacity</p:attrName>
                                        </p:attrNameLst>
                                      </p:cBhvr>
                                      <p:to>
                                        <p:strVal val="0.25"/>
                                      </p:to>
                                    </p:set>
                                    <p:animEffect filter="image" prLst="opacity: 0.25">
                                      <p:cBhvr rctx="IE">
                                        <p:cTn id="31" dur="1" fill="hold"/>
                                        <p:tgtEl>
                                          <p:spTgt spid="21"/>
                                        </p:tgtEl>
                                      </p:cBhvr>
                                    </p:animEffect>
                                  </p:childTnLst>
                                </p:cTn>
                              </p:par>
                              <p:par>
                                <p:cTn id="32" presetID="9" presetClass="emph" presetSubtype="0" fill="hold" grpId="0" nodeType="withEffect">
                                  <p:stCondLst>
                                    <p:cond delay="0"/>
                                  </p:stCondLst>
                                  <p:childTnLst>
                                    <p:set>
                                      <p:cBhvr>
                                        <p:cTn id="33" dur="1" fill="hold"/>
                                        <p:tgtEl>
                                          <p:spTgt spid="22"/>
                                        </p:tgtEl>
                                        <p:attrNameLst>
                                          <p:attrName>style.opacity</p:attrName>
                                        </p:attrNameLst>
                                      </p:cBhvr>
                                      <p:to>
                                        <p:strVal val="0.25"/>
                                      </p:to>
                                    </p:set>
                                    <p:animEffect filter="image" prLst="opacity: 0.25">
                                      <p:cBhvr rctx="IE">
                                        <p:cTn id="34" dur="1" fill="hold"/>
                                        <p:tgtEl>
                                          <p:spTgt spid="22"/>
                                        </p:tgtEl>
                                      </p:cBhvr>
                                    </p:animEffect>
                                  </p:childTnLst>
                                </p:cTn>
                              </p:par>
                              <p:par>
                                <p:cTn id="35" presetID="9" presetClass="emph" presetSubtype="0" fill="hold" grpId="0" nodeType="withEffect">
                                  <p:stCondLst>
                                    <p:cond delay="0"/>
                                  </p:stCondLst>
                                  <p:childTnLst>
                                    <p:set>
                                      <p:cBhvr>
                                        <p:cTn id="36" dur="1" fill="hold"/>
                                        <p:tgtEl>
                                          <p:spTgt spid="23"/>
                                        </p:tgtEl>
                                        <p:attrNameLst>
                                          <p:attrName>style.opacity</p:attrName>
                                        </p:attrNameLst>
                                      </p:cBhvr>
                                      <p:to>
                                        <p:strVal val="0.25"/>
                                      </p:to>
                                    </p:set>
                                    <p:animEffect filter="image" prLst="opacity: 0.25">
                                      <p:cBhvr rctx="IE">
                                        <p:cTn id="37" dur="1" fill="hold"/>
                                        <p:tgtEl>
                                          <p:spTgt spid="23"/>
                                        </p:tgtEl>
                                      </p:cBhvr>
                                    </p:animEffect>
                                  </p:childTnLst>
                                </p:cTn>
                              </p:par>
                              <p:par>
                                <p:cTn id="38" presetID="9" presetClass="emph" presetSubtype="0" fill="hold" grpId="0" nodeType="withEffect">
                                  <p:stCondLst>
                                    <p:cond delay="0"/>
                                  </p:stCondLst>
                                  <p:childTnLst>
                                    <p:set>
                                      <p:cBhvr>
                                        <p:cTn id="39" dur="1" fill="hold"/>
                                        <p:tgtEl>
                                          <p:spTgt spid="24"/>
                                        </p:tgtEl>
                                        <p:attrNameLst>
                                          <p:attrName>style.opacity</p:attrName>
                                        </p:attrNameLst>
                                      </p:cBhvr>
                                      <p:to>
                                        <p:strVal val="0.25"/>
                                      </p:to>
                                    </p:set>
                                    <p:animEffect filter="image" prLst="opacity: 0.25">
                                      <p:cBhvr rctx="IE">
                                        <p:cTn id="40" dur="1" fill="hold"/>
                                        <p:tgtEl>
                                          <p:spTgt spid="24"/>
                                        </p:tgtEl>
                                      </p:cBhvr>
                                    </p:animEffect>
                                  </p:childTnLst>
                                </p:cTn>
                              </p:par>
                              <p:par>
                                <p:cTn id="41" presetID="9" presetClass="emph" presetSubtype="0" fill="hold" grpId="0" nodeType="withEffect">
                                  <p:stCondLst>
                                    <p:cond delay="0"/>
                                  </p:stCondLst>
                                  <p:childTnLst>
                                    <p:set>
                                      <p:cBhvr>
                                        <p:cTn id="42" dur="1" fill="hold"/>
                                        <p:tgtEl>
                                          <p:spTgt spid="25"/>
                                        </p:tgtEl>
                                        <p:attrNameLst>
                                          <p:attrName>style.opacity</p:attrName>
                                        </p:attrNameLst>
                                      </p:cBhvr>
                                      <p:to>
                                        <p:strVal val="0.25"/>
                                      </p:to>
                                    </p:set>
                                    <p:animEffect filter="image" prLst="opacity: 0.25">
                                      <p:cBhvr rctx="IE">
                                        <p:cTn id="43" dur="1" fill="hold"/>
                                        <p:tgtEl>
                                          <p:spTgt spid="25"/>
                                        </p:tgtEl>
                                      </p:cBhvr>
                                    </p:animEffect>
                                  </p:childTnLst>
                                </p:cTn>
                              </p:par>
                              <p:par>
                                <p:cTn id="44" presetID="9" presetClass="emph" presetSubtype="0" fill="hold" grpId="0" nodeType="withEffect">
                                  <p:stCondLst>
                                    <p:cond delay="0"/>
                                  </p:stCondLst>
                                  <p:childTnLst>
                                    <p:set>
                                      <p:cBhvr>
                                        <p:cTn id="45" dur="1" fill="hold"/>
                                        <p:tgtEl>
                                          <p:spTgt spid="26"/>
                                        </p:tgtEl>
                                        <p:attrNameLst>
                                          <p:attrName>style.opacity</p:attrName>
                                        </p:attrNameLst>
                                      </p:cBhvr>
                                      <p:to>
                                        <p:strVal val="0.25"/>
                                      </p:to>
                                    </p:set>
                                    <p:animEffect filter="image" prLst="opacity: 0.25">
                                      <p:cBhvr rctx="IE">
                                        <p:cTn id="46" dur="1" fill="hold"/>
                                        <p:tgtEl>
                                          <p:spTgt spid="26"/>
                                        </p:tgtEl>
                                      </p:cBhvr>
                                    </p:animEffect>
                                  </p:childTnLst>
                                </p:cTn>
                              </p:par>
                              <p:par>
                                <p:cTn id="47" presetID="9" presetClass="emph" presetSubtype="0" fill="hold" grpId="0" nodeType="withEffect">
                                  <p:stCondLst>
                                    <p:cond delay="0"/>
                                  </p:stCondLst>
                                  <p:childTnLst>
                                    <p:set>
                                      <p:cBhvr>
                                        <p:cTn id="48" dur="1" fill="hold"/>
                                        <p:tgtEl>
                                          <p:spTgt spid="27"/>
                                        </p:tgtEl>
                                        <p:attrNameLst>
                                          <p:attrName>style.opacity</p:attrName>
                                        </p:attrNameLst>
                                      </p:cBhvr>
                                      <p:to>
                                        <p:strVal val="0.25"/>
                                      </p:to>
                                    </p:set>
                                    <p:animEffect filter="image" prLst="opacity: 0.25">
                                      <p:cBhvr rctx="IE">
                                        <p:cTn id="49" dur="1" fill="hold"/>
                                        <p:tgtEl>
                                          <p:spTgt spid="27"/>
                                        </p:tgtEl>
                                      </p:cBhvr>
                                    </p:animEffect>
                                  </p:childTnLst>
                                </p:cTn>
                              </p:par>
                              <p:par>
                                <p:cTn id="50" presetID="9" presetClass="emph" presetSubtype="0" fill="hold" grpId="0" nodeType="withEffect">
                                  <p:stCondLst>
                                    <p:cond delay="0"/>
                                  </p:stCondLst>
                                  <p:childTnLst>
                                    <p:set>
                                      <p:cBhvr>
                                        <p:cTn id="51" dur="1" fill="hold"/>
                                        <p:tgtEl>
                                          <p:spTgt spid="28"/>
                                        </p:tgtEl>
                                        <p:attrNameLst>
                                          <p:attrName>style.opacity</p:attrName>
                                        </p:attrNameLst>
                                      </p:cBhvr>
                                      <p:to>
                                        <p:strVal val="0.25"/>
                                      </p:to>
                                    </p:set>
                                    <p:animEffect filter="image" prLst="opacity: 0.25">
                                      <p:cBhvr rctx="IE">
                                        <p:cTn id="52" dur="1" fill="hold"/>
                                        <p:tgtEl>
                                          <p:spTgt spid="28"/>
                                        </p:tgtEl>
                                      </p:cBhvr>
                                    </p:animEffect>
                                  </p:childTnLst>
                                </p:cTn>
                              </p:par>
                              <p:par>
                                <p:cTn id="53" presetID="9" presetClass="emph" presetSubtype="0" fill="hold" grpId="0" nodeType="withEffect">
                                  <p:stCondLst>
                                    <p:cond delay="0"/>
                                  </p:stCondLst>
                                  <p:childTnLst>
                                    <p:set>
                                      <p:cBhvr>
                                        <p:cTn id="54" dur="1" fill="hold"/>
                                        <p:tgtEl>
                                          <p:spTgt spid="29"/>
                                        </p:tgtEl>
                                        <p:attrNameLst>
                                          <p:attrName>style.opacity</p:attrName>
                                        </p:attrNameLst>
                                      </p:cBhvr>
                                      <p:to>
                                        <p:strVal val="0.25"/>
                                      </p:to>
                                    </p:set>
                                    <p:animEffect filter="image" prLst="opacity: 0.25">
                                      <p:cBhvr rctx="IE">
                                        <p:cTn id="55" dur="1" fill="hold"/>
                                        <p:tgtEl>
                                          <p:spTgt spid="29"/>
                                        </p:tgtEl>
                                      </p:cBhvr>
                                    </p:animEffect>
                                  </p:childTnLst>
                                </p:cTn>
                              </p:par>
                              <p:par>
                                <p:cTn id="56" presetID="9" presetClass="emph" presetSubtype="0" fill="hold" grpId="0" nodeType="withEffect">
                                  <p:stCondLst>
                                    <p:cond delay="0"/>
                                  </p:stCondLst>
                                  <p:childTnLst>
                                    <p:set>
                                      <p:cBhvr>
                                        <p:cTn id="57" dur="1" fill="hold"/>
                                        <p:tgtEl>
                                          <p:spTgt spid="30"/>
                                        </p:tgtEl>
                                        <p:attrNameLst>
                                          <p:attrName>style.opacity</p:attrName>
                                        </p:attrNameLst>
                                      </p:cBhvr>
                                      <p:to>
                                        <p:strVal val="0.25"/>
                                      </p:to>
                                    </p:set>
                                    <p:animEffect filter="image" prLst="opacity: 0.25">
                                      <p:cBhvr rctx="IE">
                                        <p:cTn id="58" dur="1" fill="hold"/>
                                        <p:tgtEl>
                                          <p:spTgt spid="30"/>
                                        </p:tgtEl>
                                      </p:cBhvr>
                                    </p:animEffect>
                                  </p:childTnLst>
                                </p:cTn>
                              </p:par>
                              <p:par>
                                <p:cTn id="59" presetID="9" presetClass="emph" presetSubtype="0" fill="hold" grpId="0" nodeType="withEffect">
                                  <p:stCondLst>
                                    <p:cond delay="0"/>
                                  </p:stCondLst>
                                  <p:childTnLst>
                                    <p:set>
                                      <p:cBhvr>
                                        <p:cTn id="60" dur="1" fill="hold"/>
                                        <p:tgtEl>
                                          <p:spTgt spid="31"/>
                                        </p:tgtEl>
                                        <p:attrNameLst>
                                          <p:attrName>style.opacity</p:attrName>
                                        </p:attrNameLst>
                                      </p:cBhvr>
                                      <p:to>
                                        <p:strVal val="0.25"/>
                                      </p:to>
                                    </p:set>
                                    <p:animEffect filter="image" prLst="opacity: 0.25">
                                      <p:cBhvr rctx="IE">
                                        <p:cTn id="61" dur="1" fill="hold"/>
                                        <p:tgtEl>
                                          <p:spTgt spid="31"/>
                                        </p:tgtEl>
                                      </p:cBhvr>
                                    </p:animEffect>
                                  </p:childTnLst>
                                </p:cTn>
                              </p:par>
                              <p:par>
                                <p:cTn id="62" presetID="9" presetClass="emph" presetSubtype="0" fill="hold" grpId="0" nodeType="withEffect">
                                  <p:stCondLst>
                                    <p:cond delay="0"/>
                                  </p:stCondLst>
                                  <p:childTnLst>
                                    <p:set>
                                      <p:cBhvr>
                                        <p:cTn id="63" dur="1" fill="hold"/>
                                        <p:tgtEl>
                                          <p:spTgt spid="32"/>
                                        </p:tgtEl>
                                        <p:attrNameLst>
                                          <p:attrName>style.opacity</p:attrName>
                                        </p:attrNameLst>
                                      </p:cBhvr>
                                      <p:to>
                                        <p:strVal val="0.25"/>
                                      </p:to>
                                    </p:set>
                                    <p:animEffect filter="image" prLst="opacity: 0.25">
                                      <p:cBhvr rctx="IE">
                                        <p:cTn id="64" dur="1" fill="hold"/>
                                        <p:tgtEl>
                                          <p:spTgt spid="32"/>
                                        </p:tgtEl>
                                      </p:cBhvr>
                                    </p:animEffect>
                                  </p:childTnLst>
                                </p:cTn>
                              </p:par>
                              <p:par>
                                <p:cTn id="65" presetID="9" presetClass="emph" presetSubtype="0" fill="hold" grpId="0" nodeType="withEffect">
                                  <p:stCondLst>
                                    <p:cond delay="0"/>
                                  </p:stCondLst>
                                  <p:childTnLst>
                                    <p:set>
                                      <p:cBhvr>
                                        <p:cTn id="66" dur="1" fill="hold"/>
                                        <p:tgtEl>
                                          <p:spTgt spid="33"/>
                                        </p:tgtEl>
                                        <p:attrNameLst>
                                          <p:attrName>style.opacity</p:attrName>
                                        </p:attrNameLst>
                                      </p:cBhvr>
                                      <p:to>
                                        <p:strVal val="0.25"/>
                                      </p:to>
                                    </p:set>
                                    <p:animEffect filter="image" prLst="opacity: 0.25">
                                      <p:cBhvr rctx="IE">
                                        <p:cTn id="67" dur="1" fill="hold"/>
                                        <p:tgtEl>
                                          <p:spTgt spid="33"/>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mph" presetSubtype="0" fill="hold" grpId="0" nodeType="clickEffect">
                                  <p:stCondLst>
                                    <p:cond delay="0"/>
                                  </p:stCondLst>
                                  <p:childTnLst>
                                    <p:set>
                                      <p:cBhvr>
                                        <p:cTn id="71" dur="400" fill="hold"/>
                                        <p:tgtEl>
                                          <p:spTgt spid="13"/>
                                        </p:tgtEl>
                                        <p:attrNameLst>
                                          <p:attrName>style.opacity</p:attrName>
                                        </p:attrNameLst>
                                      </p:cBhvr>
                                      <p:to>
                                        <p:strVal val="1"/>
                                      </p:to>
                                    </p:set>
                                    <p:animEffect filter="image" prLst="opacity: 1">
                                      <p:cBhvr rctx="IE">
                                        <p:cTn id="72" dur="400" fill="hold"/>
                                        <p:tgtEl>
                                          <p:spTgt spid="13"/>
                                        </p:tgtEl>
                                      </p:cBhvr>
                                    </p:animEffect>
                                  </p:childTnLst>
                                </p:cTn>
                              </p:par>
                              <p:par>
                                <p:cTn id="73" presetID="9" presetClass="emph" presetSubtype="0" fill="hold" grpId="0" nodeType="withEffect">
                                  <p:stCondLst>
                                    <p:cond delay="0"/>
                                  </p:stCondLst>
                                  <p:childTnLst>
                                    <p:set>
                                      <p:cBhvr>
                                        <p:cTn id="74" dur="400" fill="hold"/>
                                        <p:tgtEl>
                                          <p:spTgt spid="14"/>
                                        </p:tgtEl>
                                        <p:attrNameLst>
                                          <p:attrName>style.opacity</p:attrName>
                                        </p:attrNameLst>
                                      </p:cBhvr>
                                      <p:to>
                                        <p:strVal val="1"/>
                                      </p:to>
                                    </p:set>
                                    <p:animEffect filter="image" prLst="opacity: 1">
                                      <p:cBhvr rctx="IE">
                                        <p:cTn id="75" dur="400" fill="hold"/>
                                        <p:tgtEl>
                                          <p:spTgt spid="14"/>
                                        </p:tgtEl>
                                      </p:cBhvr>
                                    </p:animEffect>
                                  </p:childTnLst>
                                </p:cTn>
                              </p:par>
                              <p:par>
                                <p:cTn id="76" presetID="9" presetClass="emph" presetSubtype="0" fill="hold" grpId="0" nodeType="withEffect">
                                  <p:stCondLst>
                                    <p:cond delay="0"/>
                                  </p:stCondLst>
                                  <p:childTnLst>
                                    <p:set>
                                      <p:cBhvr>
                                        <p:cTn id="77" dur="400" fill="hold"/>
                                        <p:tgtEl>
                                          <p:spTgt spid="15"/>
                                        </p:tgtEl>
                                        <p:attrNameLst>
                                          <p:attrName>style.opacity</p:attrName>
                                        </p:attrNameLst>
                                      </p:cBhvr>
                                      <p:to>
                                        <p:strVal val="1"/>
                                      </p:to>
                                    </p:set>
                                    <p:animEffect filter="image" prLst="opacity: 1">
                                      <p:cBhvr rctx="IE">
                                        <p:cTn id="78" dur="400" fill="hold"/>
                                        <p:tgtEl>
                                          <p:spTgt spid="15"/>
                                        </p:tgtEl>
                                      </p:cBhvr>
                                    </p:animEffect>
                                  </p:childTnLst>
                                </p:cTn>
                              </p:par>
                              <p:par>
                                <p:cTn id="79" presetID="9" presetClass="emph" presetSubtype="0" fill="hold" grpId="0" nodeType="withEffect">
                                  <p:stCondLst>
                                    <p:cond delay="0"/>
                                  </p:stCondLst>
                                  <p:childTnLst>
                                    <p:set>
                                      <p:cBhvr>
                                        <p:cTn id="80" dur="400" fill="hold"/>
                                        <p:tgtEl>
                                          <p:spTgt spid="16"/>
                                        </p:tgtEl>
                                        <p:attrNameLst>
                                          <p:attrName>style.opacity</p:attrName>
                                        </p:attrNameLst>
                                      </p:cBhvr>
                                      <p:to>
                                        <p:strVal val="1"/>
                                      </p:to>
                                    </p:set>
                                    <p:animEffect filter="image" prLst="opacity: 1">
                                      <p:cBhvr rctx="IE">
                                        <p:cTn id="81" dur="400" fill="hold"/>
                                        <p:tgtEl>
                                          <p:spTgt spid="16"/>
                                        </p:tgtEl>
                                      </p:cBhvr>
                                    </p:animEffect>
                                  </p:childTnLst>
                                </p:cTn>
                              </p:par>
                              <p:par>
                                <p:cTn id="82" presetID="9" presetClass="emph" presetSubtype="0" fill="hold" grpId="0" nodeType="withEffect">
                                  <p:stCondLst>
                                    <p:cond delay="0"/>
                                  </p:stCondLst>
                                  <p:childTnLst>
                                    <p:set>
                                      <p:cBhvr>
                                        <p:cTn id="83" dur="400" fill="hold"/>
                                        <p:tgtEl>
                                          <p:spTgt spid="17"/>
                                        </p:tgtEl>
                                        <p:attrNameLst>
                                          <p:attrName>style.opacity</p:attrName>
                                        </p:attrNameLst>
                                      </p:cBhvr>
                                      <p:to>
                                        <p:strVal val="1"/>
                                      </p:to>
                                    </p:set>
                                    <p:animEffect filter="image" prLst="opacity: 1">
                                      <p:cBhvr rctx="IE">
                                        <p:cTn id="84" dur="400" fill="hold"/>
                                        <p:tgtEl>
                                          <p:spTgt spid="17"/>
                                        </p:tgtEl>
                                      </p:cBhvr>
                                    </p:animEffect>
                                  </p:childTnLst>
                                </p:cTn>
                              </p:par>
                              <p:par>
                                <p:cTn id="85" presetID="9" presetClass="emph" presetSubtype="0" fill="hold" grpId="0" nodeType="withEffect">
                                  <p:stCondLst>
                                    <p:cond delay="0"/>
                                  </p:stCondLst>
                                  <p:childTnLst>
                                    <p:set>
                                      <p:cBhvr>
                                        <p:cTn id="86" dur="400" fill="hold"/>
                                        <p:tgtEl>
                                          <p:spTgt spid="18"/>
                                        </p:tgtEl>
                                        <p:attrNameLst>
                                          <p:attrName>style.opacity</p:attrName>
                                        </p:attrNameLst>
                                      </p:cBhvr>
                                      <p:to>
                                        <p:strVal val="1"/>
                                      </p:to>
                                    </p:set>
                                    <p:animEffect filter="image" prLst="opacity: 1">
                                      <p:cBhvr rctx="IE">
                                        <p:cTn id="87" dur="400" fill="hold"/>
                                        <p:tgtEl>
                                          <p:spTgt spid="18"/>
                                        </p:tgtEl>
                                      </p:cBhvr>
                                    </p:animEffect>
                                  </p:childTnLst>
                                </p:cTn>
                              </p:par>
                              <p:par>
                                <p:cTn id="88" presetID="9" presetClass="emph" presetSubtype="0" fill="hold" grpId="0" nodeType="withEffect">
                                  <p:stCondLst>
                                    <p:cond delay="0"/>
                                  </p:stCondLst>
                                  <p:childTnLst>
                                    <p:set>
                                      <p:cBhvr>
                                        <p:cTn id="89" dur="400" fill="hold"/>
                                        <p:tgtEl>
                                          <p:spTgt spid="19"/>
                                        </p:tgtEl>
                                        <p:attrNameLst>
                                          <p:attrName>style.opacity</p:attrName>
                                        </p:attrNameLst>
                                      </p:cBhvr>
                                      <p:to>
                                        <p:strVal val="1"/>
                                      </p:to>
                                    </p:set>
                                    <p:animEffect filter="image" prLst="opacity: 1">
                                      <p:cBhvr rctx="IE">
                                        <p:cTn id="90" dur="400" fill="hold"/>
                                        <p:tgtEl>
                                          <p:spTgt spid="19"/>
                                        </p:tgtEl>
                                      </p:cBhvr>
                                    </p:animEffect>
                                  </p:childTnLst>
                                </p:cTn>
                              </p:par>
                              <p:par>
                                <p:cTn id="91" presetID="9" presetClass="emph" presetSubtype="0" fill="hold" grpId="0" nodeType="withEffect">
                                  <p:stCondLst>
                                    <p:cond delay="0"/>
                                  </p:stCondLst>
                                  <p:childTnLst>
                                    <p:set>
                                      <p:cBhvr>
                                        <p:cTn id="92" dur="400" fill="hold"/>
                                        <p:tgtEl>
                                          <p:spTgt spid="6"/>
                                        </p:tgtEl>
                                        <p:attrNameLst>
                                          <p:attrName>style.opacity</p:attrName>
                                        </p:attrNameLst>
                                      </p:cBhvr>
                                      <p:to>
                                        <p:strVal val="0.25"/>
                                      </p:to>
                                    </p:set>
                                    <p:animEffect filter="image" prLst="opacity: 0.25">
                                      <p:cBhvr rctx="IE">
                                        <p:cTn id="93" dur="400" fill="hold"/>
                                        <p:tgtEl>
                                          <p:spTgt spid="6"/>
                                        </p:tgtEl>
                                      </p:cBhvr>
                                    </p:animEffect>
                                  </p:childTnLst>
                                </p:cTn>
                              </p:par>
                              <p:par>
                                <p:cTn id="94" presetID="9" presetClass="emph" presetSubtype="0" fill="hold" grpId="0" nodeType="withEffect">
                                  <p:stCondLst>
                                    <p:cond delay="0"/>
                                  </p:stCondLst>
                                  <p:childTnLst>
                                    <p:set>
                                      <p:cBhvr>
                                        <p:cTn id="95" dur="400" fill="hold"/>
                                        <p:tgtEl>
                                          <p:spTgt spid="7"/>
                                        </p:tgtEl>
                                        <p:attrNameLst>
                                          <p:attrName>style.opacity</p:attrName>
                                        </p:attrNameLst>
                                      </p:cBhvr>
                                      <p:to>
                                        <p:strVal val="0.25"/>
                                      </p:to>
                                    </p:set>
                                    <p:animEffect filter="image" prLst="opacity: 0.25">
                                      <p:cBhvr rctx="IE">
                                        <p:cTn id="96" dur="400" fill="hold"/>
                                        <p:tgtEl>
                                          <p:spTgt spid="7"/>
                                        </p:tgtEl>
                                      </p:cBhvr>
                                    </p:animEffect>
                                  </p:childTnLst>
                                </p:cTn>
                              </p:par>
                              <p:par>
                                <p:cTn id="97" presetID="9" presetClass="emph" presetSubtype="0" fill="hold" grpId="0" nodeType="withEffect">
                                  <p:stCondLst>
                                    <p:cond delay="0"/>
                                  </p:stCondLst>
                                  <p:childTnLst>
                                    <p:set>
                                      <p:cBhvr>
                                        <p:cTn id="98" dur="400" fill="hold"/>
                                        <p:tgtEl>
                                          <p:spTgt spid="8"/>
                                        </p:tgtEl>
                                        <p:attrNameLst>
                                          <p:attrName>style.opacity</p:attrName>
                                        </p:attrNameLst>
                                      </p:cBhvr>
                                      <p:to>
                                        <p:strVal val="0.25"/>
                                      </p:to>
                                    </p:set>
                                    <p:animEffect filter="image" prLst="opacity: 0.25">
                                      <p:cBhvr rctx="IE">
                                        <p:cTn id="99" dur="400" fill="hold"/>
                                        <p:tgtEl>
                                          <p:spTgt spid="8"/>
                                        </p:tgtEl>
                                      </p:cBhvr>
                                    </p:animEffect>
                                  </p:childTnLst>
                                </p:cTn>
                              </p:par>
                              <p:par>
                                <p:cTn id="100" presetID="9" presetClass="emph" presetSubtype="0" fill="hold" grpId="0" nodeType="withEffect">
                                  <p:stCondLst>
                                    <p:cond delay="0"/>
                                  </p:stCondLst>
                                  <p:childTnLst>
                                    <p:set>
                                      <p:cBhvr>
                                        <p:cTn id="101" dur="400" fill="hold"/>
                                        <p:tgtEl>
                                          <p:spTgt spid="9"/>
                                        </p:tgtEl>
                                        <p:attrNameLst>
                                          <p:attrName>style.opacity</p:attrName>
                                        </p:attrNameLst>
                                      </p:cBhvr>
                                      <p:to>
                                        <p:strVal val="0.25"/>
                                      </p:to>
                                    </p:set>
                                    <p:animEffect filter="image" prLst="opacity: 0.25">
                                      <p:cBhvr rctx="IE">
                                        <p:cTn id="102" dur="400" fill="hold"/>
                                        <p:tgtEl>
                                          <p:spTgt spid="9"/>
                                        </p:tgtEl>
                                      </p:cBhvr>
                                    </p:animEffect>
                                  </p:childTnLst>
                                </p:cTn>
                              </p:par>
                              <p:par>
                                <p:cTn id="103" presetID="9" presetClass="emph" presetSubtype="0" fill="hold" grpId="0" nodeType="withEffect">
                                  <p:stCondLst>
                                    <p:cond delay="0"/>
                                  </p:stCondLst>
                                  <p:childTnLst>
                                    <p:set>
                                      <p:cBhvr>
                                        <p:cTn id="104" dur="400" fill="hold"/>
                                        <p:tgtEl>
                                          <p:spTgt spid="10"/>
                                        </p:tgtEl>
                                        <p:attrNameLst>
                                          <p:attrName>style.opacity</p:attrName>
                                        </p:attrNameLst>
                                      </p:cBhvr>
                                      <p:to>
                                        <p:strVal val="0.25"/>
                                      </p:to>
                                    </p:set>
                                    <p:animEffect filter="image" prLst="opacity: 0.25">
                                      <p:cBhvr rctx="IE">
                                        <p:cTn id="105" dur="400" fill="hold"/>
                                        <p:tgtEl>
                                          <p:spTgt spid="10"/>
                                        </p:tgtEl>
                                      </p:cBhvr>
                                    </p:animEffect>
                                  </p:childTnLst>
                                </p:cTn>
                              </p:par>
                              <p:par>
                                <p:cTn id="106" presetID="9" presetClass="emph" presetSubtype="0" fill="hold" grpId="0" nodeType="withEffect">
                                  <p:stCondLst>
                                    <p:cond delay="0"/>
                                  </p:stCondLst>
                                  <p:childTnLst>
                                    <p:set>
                                      <p:cBhvr>
                                        <p:cTn id="107" dur="400" fill="hold"/>
                                        <p:tgtEl>
                                          <p:spTgt spid="11"/>
                                        </p:tgtEl>
                                        <p:attrNameLst>
                                          <p:attrName>style.opacity</p:attrName>
                                        </p:attrNameLst>
                                      </p:cBhvr>
                                      <p:to>
                                        <p:strVal val="0.25"/>
                                      </p:to>
                                    </p:set>
                                    <p:animEffect filter="image" prLst="opacity: 0.25">
                                      <p:cBhvr rctx="IE">
                                        <p:cTn id="108" dur="400" fill="hold"/>
                                        <p:tgtEl>
                                          <p:spTgt spid="11"/>
                                        </p:tgtEl>
                                      </p:cBhvr>
                                    </p:animEffect>
                                  </p:childTnLst>
                                </p:cTn>
                              </p:par>
                              <p:par>
                                <p:cTn id="109" presetID="9" presetClass="emph" presetSubtype="0" fill="hold" grpId="0" nodeType="withEffect">
                                  <p:stCondLst>
                                    <p:cond delay="0"/>
                                  </p:stCondLst>
                                  <p:childTnLst>
                                    <p:set>
                                      <p:cBhvr>
                                        <p:cTn id="110" dur="400" fill="hold"/>
                                        <p:tgtEl>
                                          <p:spTgt spid="12"/>
                                        </p:tgtEl>
                                        <p:attrNameLst>
                                          <p:attrName>style.opacity</p:attrName>
                                        </p:attrNameLst>
                                      </p:cBhvr>
                                      <p:to>
                                        <p:strVal val="0.25"/>
                                      </p:to>
                                    </p:set>
                                    <p:animEffect filter="image" prLst="opacity: 0.25">
                                      <p:cBhvr rctx="IE">
                                        <p:cTn id="111" dur="400" fill="hold"/>
                                        <p:tgtEl>
                                          <p:spTgt spid="12"/>
                                        </p:tgtEl>
                                      </p:cBhvr>
                                    </p:animEffect>
                                  </p:childTnLst>
                                </p:cTn>
                              </p:par>
                            </p:childTnLst>
                          </p:cTn>
                        </p:par>
                      </p:childTnLst>
                    </p:cTn>
                  </p:par>
                  <p:par>
                    <p:cTn id="112" fill="hold">
                      <p:stCondLst>
                        <p:cond delay="indefinite"/>
                      </p:stCondLst>
                      <p:childTnLst>
                        <p:par>
                          <p:cTn id="113" fill="hold">
                            <p:stCondLst>
                              <p:cond delay="0"/>
                            </p:stCondLst>
                            <p:childTnLst>
                              <p:par>
                                <p:cTn id="114" presetID="9" presetClass="emph" presetSubtype="0" fill="hold" grpId="0" nodeType="clickEffect">
                                  <p:stCondLst>
                                    <p:cond delay="0"/>
                                  </p:stCondLst>
                                  <p:childTnLst>
                                    <p:set>
                                      <p:cBhvr>
                                        <p:cTn id="115" dur="400" fill="hold"/>
                                        <p:tgtEl>
                                          <p:spTgt spid="20"/>
                                        </p:tgtEl>
                                        <p:attrNameLst>
                                          <p:attrName>style.opacity</p:attrName>
                                        </p:attrNameLst>
                                      </p:cBhvr>
                                      <p:to>
                                        <p:strVal val="1"/>
                                      </p:to>
                                    </p:set>
                                    <p:animEffect filter="image" prLst="opacity: 1">
                                      <p:cBhvr rctx="IE">
                                        <p:cTn id="116" dur="400" fill="hold"/>
                                        <p:tgtEl>
                                          <p:spTgt spid="20"/>
                                        </p:tgtEl>
                                      </p:cBhvr>
                                    </p:animEffect>
                                  </p:childTnLst>
                                </p:cTn>
                              </p:par>
                              <p:par>
                                <p:cTn id="117" presetID="9" presetClass="emph" presetSubtype="0" fill="hold" grpId="0" nodeType="withEffect">
                                  <p:stCondLst>
                                    <p:cond delay="0"/>
                                  </p:stCondLst>
                                  <p:childTnLst>
                                    <p:set>
                                      <p:cBhvr>
                                        <p:cTn id="118" dur="400" fill="hold"/>
                                        <p:tgtEl>
                                          <p:spTgt spid="21"/>
                                        </p:tgtEl>
                                        <p:attrNameLst>
                                          <p:attrName>style.opacity</p:attrName>
                                        </p:attrNameLst>
                                      </p:cBhvr>
                                      <p:to>
                                        <p:strVal val="1"/>
                                      </p:to>
                                    </p:set>
                                    <p:animEffect filter="image" prLst="opacity: 1">
                                      <p:cBhvr rctx="IE">
                                        <p:cTn id="119" dur="400" fill="hold"/>
                                        <p:tgtEl>
                                          <p:spTgt spid="21"/>
                                        </p:tgtEl>
                                      </p:cBhvr>
                                    </p:animEffect>
                                  </p:childTnLst>
                                </p:cTn>
                              </p:par>
                              <p:par>
                                <p:cTn id="120" presetID="9" presetClass="emph" presetSubtype="0" fill="hold" grpId="0" nodeType="withEffect">
                                  <p:stCondLst>
                                    <p:cond delay="0"/>
                                  </p:stCondLst>
                                  <p:childTnLst>
                                    <p:set>
                                      <p:cBhvr>
                                        <p:cTn id="121" dur="400" fill="hold"/>
                                        <p:tgtEl>
                                          <p:spTgt spid="22"/>
                                        </p:tgtEl>
                                        <p:attrNameLst>
                                          <p:attrName>style.opacity</p:attrName>
                                        </p:attrNameLst>
                                      </p:cBhvr>
                                      <p:to>
                                        <p:strVal val="1"/>
                                      </p:to>
                                    </p:set>
                                    <p:animEffect filter="image" prLst="opacity: 1">
                                      <p:cBhvr rctx="IE">
                                        <p:cTn id="122" dur="400" fill="hold"/>
                                        <p:tgtEl>
                                          <p:spTgt spid="22"/>
                                        </p:tgtEl>
                                      </p:cBhvr>
                                    </p:animEffect>
                                  </p:childTnLst>
                                </p:cTn>
                              </p:par>
                              <p:par>
                                <p:cTn id="123" presetID="9" presetClass="emph" presetSubtype="0" fill="hold" grpId="0" nodeType="withEffect">
                                  <p:stCondLst>
                                    <p:cond delay="0"/>
                                  </p:stCondLst>
                                  <p:childTnLst>
                                    <p:set>
                                      <p:cBhvr>
                                        <p:cTn id="124" dur="400" fill="hold"/>
                                        <p:tgtEl>
                                          <p:spTgt spid="23"/>
                                        </p:tgtEl>
                                        <p:attrNameLst>
                                          <p:attrName>style.opacity</p:attrName>
                                        </p:attrNameLst>
                                      </p:cBhvr>
                                      <p:to>
                                        <p:strVal val="1"/>
                                      </p:to>
                                    </p:set>
                                    <p:animEffect filter="image" prLst="opacity: 1">
                                      <p:cBhvr rctx="IE">
                                        <p:cTn id="125" dur="400" fill="hold"/>
                                        <p:tgtEl>
                                          <p:spTgt spid="23"/>
                                        </p:tgtEl>
                                      </p:cBhvr>
                                    </p:animEffect>
                                  </p:childTnLst>
                                </p:cTn>
                              </p:par>
                              <p:par>
                                <p:cTn id="126" presetID="9" presetClass="emph" presetSubtype="0" fill="hold" grpId="0" nodeType="withEffect">
                                  <p:stCondLst>
                                    <p:cond delay="0"/>
                                  </p:stCondLst>
                                  <p:childTnLst>
                                    <p:set>
                                      <p:cBhvr>
                                        <p:cTn id="127" dur="400" fill="hold"/>
                                        <p:tgtEl>
                                          <p:spTgt spid="24"/>
                                        </p:tgtEl>
                                        <p:attrNameLst>
                                          <p:attrName>style.opacity</p:attrName>
                                        </p:attrNameLst>
                                      </p:cBhvr>
                                      <p:to>
                                        <p:strVal val="1"/>
                                      </p:to>
                                    </p:set>
                                    <p:animEffect filter="image" prLst="opacity: 1">
                                      <p:cBhvr rctx="IE">
                                        <p:cTn id="128" dur="400" fill="hold"/>
                                        <p:tgtEl>
                                          <p:spTgt spid="24"/>
                                        </p:tgtEl>
                                      </p:cBhvr>
                                    </p:animEffect>
                                  </p:childTnLst>
                                </p:cTn>
                              </p:par>
                              <p:par>
                                <p:cTn id="129" presetID="9" presetClass="emph" presetSubtype="0" fill="hold" grpId="0" nodeType="withEffect">
                                  <p:stCondLst>
                                    <p:cond delay="0"/>
                                  </p:stCondLst>
                                  <p:childTnLst>
                                    <p:set>
                                      <p:cBhvr>
                                        <p:cTn id="130" dur="400" fill="hold"/>
                                        <p:tgtEl>
                                          <p:spTgt spid="25"/>
                                        </p:tgtEl>
                                        <p:attrNameLst>
                                          <p:attrName>style.opacity</p:attrName>
                                        </p:attrNameLst>
                                      </p:cBhvr>
                                      <p:to>
                                        <p:strVal val="1"/>
                                      </p:to>
                                    </p:set>
                                    <p:animEffect filter="image" prLst="opacity: 1">
                                      <p:cBhvr rctx="IE">
                                        <p:cTn id="131" dur="400" fill="hold"/>
                                        <p:tgtEl>
                                          <p:spTgt spid="25"/>
                                        </p:tgtEl>
                                      </p:cBhvr>
                                    </p:animEffect>
                                  </p:childTnLst>
                                </p:cTn>
                              </p:par>
                              <p:par>
                                <p:cTn id="132" presetID="9" presetClass="emph" presetSubtype="0" fill="hold" grpId="0" nodeType="withEffect">
                                  <p:stCondLst>
                                    <p:cond delay="0"/>
                                  </p:stCondLst>
                                  <p:childTnLst>
                                    <p:set>
                                      <p:cBhvr>
                                        <p:cTn id="133" dur="400" fill="hold"/>
                                        <p:tgtEl>
                                          <p:spTgt spid="26"/>
                                        </p:tgtEl>
                                        <p:attrNameLst>
                                          <p:attrName>style.opacity</p:attrName>
                                        </p:attrNameLst>
                                      </p:cBhvr>
                                      <p:to>
                                        <p:strVal val="1"/>
                                      </p:to>
                                    </p:set>
                                    <p:animEffect filter="image" prLst="opacity: 1">
                                      <p:cBhvr rctx="IE">
                                        <p:cTn id="134" dur="400" fill="hold"/>
                                        <p:tgtEl>
                                          <p:spTgt spid="26"/>
                                        </p:tgtEl>
                                      </p:cBhvr>
                                    </p:animEffect>
                                  </p:childTnLst>
                                </p:cTn>
                              </p:par>
                              <p:par>
                                <p:cTn id="135" presetID="9" presetClass="emph" presetSubtype="0" fill="hold" grpId="0" nodeType="withEffect">
                                  <p:stCondLst>
                                    <p:cond delay="0"/>
                                  </p:stCondLst>
                                  <p:childTnLst>
                                    <p:set>
                                      <p:cBhvr>
                                        <p:cTn id="136" dur="400" fill="hold"/>
                                        <p:tgtEl>
                                          <p:spTgt spid="13"/>
                                        </p:tgtEl>
                                        <p:attrNameLst>
                                          <p:attrName>style.opacity</p:attrName>
                                        </p:attrNameLst>
                                      </p:cBhvr>
                                      <p:to>
                                        <p:strVal val="0.25"/>
                                      </p:to>
                                    </p:set>
                                    <p:animEffect filter="image" prLst="opacity: 0.25">
                                      <p:cBhvr rctx="IE">
                                        <p:cTn id="137" dur="400" fill="hold"/>
                                        <p:tgtEl>
                                          <p:spTgt spid="13"/>
                                        </p:tgtEl>
                                      </p:cBhvr>
                                    </p:animEffect>
                                  </p:childTnLst>
                                </p:cTn>
                              </p:par>
                              <p:par>
                                <p:cTn id="138" presetID="9" presetClass="emph" presetSubtype="0" fill="hold" grpId="0" nodeType="withEffect">
                                  <p:stCondLst>
                                    <p:cond delay="0"/>
                                  </p:stCondLst>
                                  <p:childTnLst>
                                    <p:set>
                                      <p:cBhvr>
                                        <p:cTn id="139" dur="400" fill="hold"/>
                                        <p:tgtEl>
                                          <p:spTgt spid="14"/>
                                        </p:tgtEl>
                                        <p:attrNameLst>
                                          <p:attrName>style.opacity</p:attrName>
                                        </p:attrNameLst>
                                      </p:cBhvr>
                                      <p:to>
                                        <p:strVal val="0.25"/>
                                      </p:to>
                                    </p:set>
                                    <p:animEffect filter="image" prLst="opacity: 0.25">
                                      <p:cBhvr rctx="IE">
                                        <p:cTn id="140" dur="400" fill="hold"/>
                                        <p:tgtEl>
                                          <p:spTgt spid="14"/>
                                        </p:tgtEl>
                                      </p:cBhvr>
                                    </p:animEffect>
                                  </p:childTnLst>
                                </p:cTn>
                              </p:par>
                              <p:par>
                                <p:cTn id="141" presetID="9" presetClass="emph" presetSubtype="0" fill="hold" grpId="0" nodeType="withEffect">
                                  <p:stCondLst>
                                    <p:cond delay="0"/>
                                  </p:stCondLst>
                                  <p:childTnLst>
                                    <p:set>
                                      <p:cBhvr>
                                        <p:cTn id="142" dur="400" fill="hold"/>
                                        <p:tgtEl>
                                          <p:spTgt spid="15"/>
                                        </p:tgtEl>
                                        <p:attrNameLst>
                                          <p:attrName>style.opacity</p:attrName>
                                        </p:attrNameLst>
                                      </p:cBhvr>
                                      <p:to>
                                        <p:strVal val="0.25"/>
                                      </p:to>
                                    </p:set>
                                    <p:animEffect filter="image" prLst="opacity: 0.25">
                                      <p:cBhvr rctx="IE">
                                        <p:cTn id="143" dur="400" fill="hold"/>
                                        <p:tgtEl>
                                          <p:spTgt spid="15"/>
                                        </p:tgtEl>
                                      </p:cBhvr>
                                    </p:animEffect>
                                  </p:childTnLst>
                                </p:cTn>
                              </p:par>
                              <p:par>
                                <p:cTn id="144" presetID="9" presetClass="emph" presetSubtype="0" fill="hold" grpId="0" nodeType="withEffect">
                                  <p:stCondLst>
                                    <p:cond delay="0"/>
                                  </p:stCondLst>
                                  <p:childTnLst>
                                    <p:set>
                                      <p:cBhvr>
                                        <p:cTn id="145" dur="400" fill="hold"/>
                                        <p:tgtEl>
                                          <p:spTgt spid="16"/>
                                        </p:tgtEl>
                                        <p:attrNameLst>
                                          <p:attrName>style.opacity</p:attrName>
                                        </p:attrNameLst>
                                      </p:cBhvr>
                                      <p:to>
                                        <p:strVal val="0.25"/>
                                      </p:to>
                                    </p:set>
                                    <p:animEffect filter="image" prLst="opacity: 0.25">
                                      <p:cBhvr rctx="IE">
                                        <p:cTn id="146" dur="400" fill="hold"/>
                                        <p:tgtEl>
                                          <p:spTgt spid="16"/>
                                        </p:tgtEl>
                                      </p:cBhvr>
                                    </p:animEffect>
                                  </p:childTnLst>
                                </p:cTn>
                              </p:par>
                              <p:par>
                                <p:cTn id="147" presetID="9" presetClass="emph" presetSubtype="0" fill="hold" grpId="0" nodeType="withEffect">
                                  <p:stCondLst>
                                    <p:cond delay="0"/>
                                  </p:stCondLst>
                                  <p:childTnLst>
                                    <p:set>
                                      <p:cBhvr>
                                        <p:cTn id="148" dur="400" fill="hold"/>
                                        <p:tgtEl>
                                          <p:spTgt spid="17"/>
                                        </p:tgtEl>
                                        <p:attrNameLst>
                                          <p:attrName>style.opacity</p:attrName>
                                        </p:attrNameLst>
                                      </p:cBhvr>
                                      <p:to>
                                        <p:strVal val="0.25"/>
                                      </p:to>
                                    </p:set>
                                    <p:animEffect filter="image" prLst="opacity: 0.25">
                                      <p:cBhvr rctx="IE">
                                        <p:cTn id="149" dur="400" fill="hold"/>
                                        <p:tgtEl>
                                          <p:spTgt spid="17"/>
                                        </p:tgtEl>
                                      </p:cBhvr>
                                    </p:animEffect>
                                  </p:childTnLst>
                                </p:cTn>
                              </p:par>
                              <p:par>
                                <p:cTn id="150" presetID="9" presetClass="emph" presetSubtype="0" fill="hold" grpId="0" nodeType="withEffect">
                                  <p:stCondLst>
                                    <p:cond delay="0"/>
                                  </p:stCondLst>
                                  <p:childTnLst>
                                    <p:set>
                                      <p:cBhvr>
                                        <p:cTn id="151" dur="400" fill="hold"/>
                                        <p:tgtEl>
                                          <p:spTgt spid="18"/>
                                        </p:tgtEl>
                                        <p:attrNameLst>
                                          <p:attrName>style.opacity</p:attrName>
                                        </p:attrNameLst>
                                      </p:cBhvr>
                                      <p:to>
                                        <p:strVal val="0.25"/>
                                      </p:to>
                                    </p:set>
                                    <p:animEffect filter="image" prLst="opacity: 0.25">
                                      <p:cBhvr rctx="IE">
                                        <p:cTn id="152" dur="400" fill="hold"/>
                                        <p:tgtEl>
                                          <p:spTgt spid="18"/>
                                        </p:tgtEl>
                                      </p:cBhvr>
                                    </p:animEffect>
                                  </p:childTnLst>
                                </p:cTn>
                              </p:par>
                              <p:par>
                                <p:cTn id="153" presetID="9" presetClass="emph" presetSubtype="0" fill="hold" grpId="0" nodeType="withEffect">
                                  <p:stCondLst>
                                    <p:cond delay="0"/>
                                  </p:stCondLst>
                                  <p:childTnLst>
                                    <p:set>
                                      <p:cBhvr>
                                        <p:cTn id="154" dur="400" fill="hold"/>
                                        <p:tgtEl>
                                          <p:spTgt spid="19"/>
                                        </p:tgtEl>
                                        <p:attrNameLst>
                                          <p:attrName>style.opacity</p:attrName>
                                        </p:attrNameLst>
                                      </p:cBhvr>
                                      <p:to>
                                        <p:strVal val="0.25"/>
                                      </p:to>
                                    </p:set>
                                    <p:animEffect filter="image" prLst="opacity: 0.25">
                                      <p:cBhvr rctx="IE">
                                        <p:cTn id="155" dur="400" fill="hold"/>
                                        <p:tgtEl>
                                          <p:spTgt spid="19"/>
                                        </p:tgtEl>
                                      </p:cBhvr>
                                    </p:animEffect>
                                  </p:childTnLst>
                                </p:cTn>
                              </p:par>
                            </p:childTnLst>
                          </p:cTn>
                        </p:par>
                      </p:childTnLst>
                    </p:cTn>
                  </p:par>
                  <p:par>
                    <p:cTn id="156" fill="hold">
                      <p:stCondLst>
                        <p:cond delay="indefinite"/>
                      </p:stCondLst>
                      <p:childTnLst>
                        <p:par>
                          <p:cTn id="157" fill="hold">
                            <p:stCondLst>
                              <p:cond delay="0"/>
                            </p:stCondLst>
                            <p:childTnLst>
                              <p:par>
                                <p:cTn id="158" presetID="9" presetClass="emph" presetSubtype="0" fill="hold" grpId="0" nodeType="clickEffect">
                                  <p:stCondLst>
                                    <p:cond delay="0"/>
                                  </p:stCondLst>
                                  <p:childTnLst>
                                    <p:set>
                                      <p:cBhvr>
                                        <p:cTn id="159" dur="400" fill="hold"/>
                                        <p:tgtEl>
                                          <p:spTgt spid="27"/>
                                        </p:tgtEl>
                                        <p:attrNameLst>
                                          <p:attrName>style.opacity</p:attrName>
                                        </p:attrNameLst>
                                      </p:cBhvr>
                                      <p:to>
                                        <p:strVal val="1"/>
                                      </p:to>
                                    </p:set>
                                    <p:animEffect filter="image" prLst="opacity: 1">
                                      <p:cBhvr rctx="IE">
                                        <p:cTn id="160" dur="400" fill="hold"/>
                                        <p:tgtEl>
                                          <p:spTgt spid="27"/>
                                        </p:tgtEl>
                                      </p:cBhvr>
                                    </p:animEffect>
                                  </p:childTnLst>
                                </p:cTn>
                              </p:par>
                              <p:par>
                                <p:cTn id="161" presetID="9" presetClass="emph" presetSubtype="0" fill="hold" grpId="0" nodeType="withEffect">
                                  <p:stCondLst>
                                    <p:cond delay="0"/>
                                  </p:stCondLst>
                                  <p:childTnLst>
                                    <p:set>
                                      <p:cBhvr>
                                        <p:cTn id="162" dur="400" fill="hold"/>
                                        <p:tgtEl>
                                          <p:spTgt spid="28"/>
                                        </p:tgtEl>
                                        <p:attrNameLst>
                                          <p:attrName>style.opacity</p:attrName>
                                        </p:attrNameLst>
                                      </p:cBhvr>
                                      <p:to>
                                        <p:strVal val="1"/>
                                      </p:to>
                                    </p:set>
                                    <p:animEffect filter="image" prLst="opacity: 1">
                                      <p:cBhvr rctx="IE">
                                        <p:cTn id="163" dur="400" fill="hold"/>
                                        <p:tgtEl>
                                          <p:spTgt spid="28"/>
                                        </p:tgtEl>
                                      </p:cBhvr>
                                    </p:animEffect>
                                  </p:childTnLst>
                                </p:cTn>
                              </p:par>
                              <p:par>
                                <p:cTn id="164" presetID="9" presetClass="emph" presetSubtype="0" fill="hold" grpId="0" nodeType="withEffect">
                                  <p:stCondLst>
                                    <p:cond delay="0"/>
                                  </p:stCondLst>
                                  <p:childTnLst>
                                    <p:set>
                                      <p:cBhvr>
                                        <p:cTn id="165" dur="400" fill="hold"/>
                                        <p:tgtEl>
                                          <p:spTgt spid="29"/>
                                        </p:tgtEl>
                                        <p:attrNameLst>
                                          <p:attrName>style.opacity</p:attrName>
                                        </p:attrNameLst>
                                      </p:cBhvr>
                                      <p:to>
                                        <p:strVal val="1"/>
                                      </p:to>
                                    </p:set>
                                    <p:animEffect filter="image" prLst="opacity: 1">
                                      <p:cBhvr rctx="IE">
                                        <p:cTn id="166" dur="400" fill="hold"/>
                                        <p:tgtEl>
                                          <p:spTgt spid="29"/>
                                        </p:tgtEl>
                                      </p:cBhvr>
                                    </p:animEffect>
                                  </p:childTnLst>
                                </p:cTn>
                              </p:par>
                              <p:par>
                                <p:cTn id="167" presetID="9" presetClass="emph" presetSubtype="0" fill="hold" grpId="0" nodeType="withEffect">
                                  <p:stCondLst>
                                    <p:cond delay="0"/>
                                  </p:stCondLst>
                                  <p:childTnLst>
                                    <p:set>
                                      <p:cBhvr>
                                        <p:cTn id="168" dur="400" fill="hold"/>
                                        <p:tgtEl>
                                          <p:spTgt spid="30"/>
                                        </p:tgtEl>
                                        <p:attrNameLst>
                                          <p:attrName>style.opacity</p:attrName>
                                        </p:attrNameLst>
                                      </p:cBhvr>
                                      <p:to>
                                        <p:strVal val="1"/>
                                      </p:to>
                                    </p:set>
                                    <p:animEffect filter="image" prLst="opacity: 1">
                                      <p:cBhvr rctx="IE">
                                        <p:cTn id="169" dur="400" fill="hold"/>
                                        <p:tgtEl>
                                          <p:spTgt spid="30"/>
                                        </p:tgtEl>
                                      </p:cBhvr>
                                    </p:animEffect>
                                  </p:childTnLst>
                                </p:cTn>
                              </p:par>
                              <p:par>
                                <p:cTn id="170" presetID="9" presetClass="emph" presetSubtype="0" fill="hold" grpId="0" nodeType="withEffect">
                                  <p:stCondLst>
                                    <p:cond delay="0"/>
                                  </p:stCondLst>
                                  <p:childTnLst>
                                    <p:set>
                                      <p:cBhvr>
                                        <p:cTn id="171" dur="400" fill="hold"/>
                                        <p:tgtEl>
                                          <p:spTgt spid="31"/>
                                        </p:tgtEl>
                                        <p:attrNameLst>
                                          <p:attrName>style.opacity</p:attrName>
                                        </p:attrNameLst>
                                      </p:cBhvr>
                                      <p:to>
                                        <p:strVal val="1"/>
                                      </p:to>
                                    </p:set>
                                    <p:animEffect filter="image" prLst="opacity: 1">
                                      <p:cBhvr rctx="IE">
                                        <p:cTn id="172" dur="400" fill="hold"/>
                                        <p:tgtEl>
                                          <p:spTgt spid="31"/>
                                        </p:tgtEl>
                                      </p:cBhvr>
                                    </p:animEffect>
                                  </p:childTnLst>
                                </p:cTn>
                              </p:par>
                              <p:par>
                                <p:cTn id="173" presetID="9" presetClass="emph" presetSubtype="0" fill="hold" grpId="0" nodeType="withEffect">
                                  <p:stCondLst>
                                    <p:cond delay="0"/>
                                  </p:stCondLst>
                                  <p:childTnLst>
                                    <p:set>
                                      <p:cBhvr>
                                        <p:cTn id="174" dur="400" fill="hold"/>
                                        <p:tgtEl>
                                          <p:spTgt spid="32"/>
                                        </p:tgtEl>
                                        <p:attrNameLst>
                                          <p:attrName>style.opacity</p:attrName>
                                        </p:attrNameLst>
                                      </p:cBhvr>
                                      <p:to>
                                        <p:strVal val="1"/>
                                      </p:to>
                                    </p:set>
                                    <p:animEffect filter="image" prLst="opacity: 1">
                                      <p:cBhvr rctx="IE">
                                        <p:cTn id="175" dur="400" fill="hold"/>
                                        <p:tgtEl>
                                          <p:spTgt spid="32"/>
                                        </p:tgtEl>
                                      </p:cBhvr>
                                    </p:animEffect>
                                  </p:childTnLst>
                                </p:cTn>
                              </p:par>
                              <p:par>
                                <p:cTn id="176" presetID="9" presetClass="emph" presetSubtype="0" fill="hold" grpId="0" nodeType="withEffect">
                                  <p:stCondLst>
                                    <p:cond delay="0"/>
                                  </p:stCondLst>
                                  <p:childTnLst>
                                    <p:set>
                                      <p:cBhvr>
                                        <p:cTn id="177" dur="400" fill="hold"/>
                                        <p:tgtEl>
                                          <p:spTgt spid="33"/>
                                        </p:tgtEl>
                                        <p:attrNameLst>
                                          <p:attrName>style.opacity</p:attrName>
                                        </p:attrNameLst>
                                      </p:cBhvr>
                                      <p:to>
                                        <p:strVal val="1"/>
                                      </p:to>
                                    </p:set>
                                    <p:animEffect filter="image" prLst="opacity: 1">
                                      <p:cBhvr rctx="IE">
                                        <p:cTn id="178" dur="400" fill="hold"/>
                                        <p:tgtEl>
                                          <p:spTgt spid="33"/>
                                        </p:tgtEl>
                                      </p:cBhvr>
                                    </p:animEffect>
                                  </p:childTnLst>
                                </p:cTn>
                              </p:par>
                              <p:par>
                                <p:cTn id="179" presetID="9" presetClass="emph" presetSubtype="0" fill="hold" grpId="0" nodeType="withEffect">
                                  <p:stCondLst>
                                    <p:cond delay="0"/>
                                  </p:stCondLst>
                                  <p:childTnLst>
                                    <p:set>
                                      <p:cBhvr>
                                        <p:cTn id="180" dur="400" fill="hold"/>
                                        <p:tgtEl>
                                          <p:spTgt spid="20"/>
                                        </p:tgtEl>
                                        <p:attrNameLst>
                                          <p:attrName>style.opacity</p:attrName>
                                        </p:attrNameLst>
                                      </p:cBhvr>
                                      <p:to>
                                        <p:strVal val="0.25"/>
                                      </p:to>
                                    </p:set>
                                    <p:animEffect filter="image" prLst="opacity: 0.25">
                                      <p:cBhvr rctx="IE">
                                        <p:cTn id="181" dur="400" fill="hold"/>
                                        <p:tgtEl>
                                          <p:spTgt spid="20"/>
                                        </p:tgtEl>
                                      </p:cBhvr>
                                    </p:animEffect>
                                  </p:childTnLst>
                                </p:cTn>
                              </p:par>
                              <p:par>
                                <p:cTn id="182" presetID="9" presetClass="emph" presetSubtype="0" fill="hold" grpId="0" nodeType="withEffect">
                                  <p:stCondLst>
                                    <p:cond delay="0"/>
                                  </p:stCondLst>
                                  <p:childTnLst>
                                    <p:set>
                                      <p:cBhvr>
                                        <p:cTn id="183" dur="400" fill="hold"/>
                                        <p:tgtEl>
                                          <p:spTgt spid="21"/>
                                        </p:tgtEl>
                                        <p:attrNameLst>
                                          <p:attrName>style.opacity</p:attrName>
                                        </p:attrNameLst>
                                      </p:cBhvr>
                                      <p:to>
                                        <p:strVal val="0.25"/>
                                      </p:to>
                                    </p:set>
                                    <p:animEffect filter="image" prLst="opacity: 0.25">
                                      <p:cBhvr rctx="IE">
                                        <p:cTn id="184" dur="400" fill="hold"/>
                                        <p:tgtEl>
                                          <p:spTgt spid="21"/>
                                        </p:tgtEl>
                                      </p:cBhvr>
                                    </p:animEffect>
                                  </p:childTnLst>
                                </p:cTn>
                              </p:par>
                              <p:par>
                                <p:cTn id="185" presetID="9" presetClass="emph" presetSubtype="0" fill="hold" grpId="0" nodeType="withEffect">
                                  <p:stCondLst>
                                    <p:cond delay="0"/>
                                  </p:stCondLst>
                                  <p:childTnLst>
                                    <p:set>
                                      <p:cBhvr>
                                        <p:cTn id="186" dur="400" fill="hold"/>
                                        <p:tgtEl>
                                          <p:spTgt spid="22"/>
                                        </p:tgtEl>
                                        <p:attrNameLst>
                                          <p:attrName>style.opacity</p:attrName>
                                        </p:attrNameLst>
                                      </p:cBhvr>
                                      <p:to>
                                        <p:strVal val="0.25"/>
                                      </p:to>
                                    </p:set>
                                    <p:animEffect filter="image" prLst="opacity: 0.25">
                                      <p:cBhvr rctx="IE">
                                        <p:cTn id="187" dur="400" fill="hold"/>
                                        <p:tgtEl>
                                          <p:spTgt spid="22"/>
                                        </p:tgtEl>
                                      </p:cBhvr>
                                    </p:animEffect>
                                  </p:childTnLst>
                                </p:cTn>
                              </p:par>
                              <p:par>
                                <p:cTn id="188" presetID="9" presetClass="emph" presetSubtype="0" fill="hold" grpId="0" nodeType="withEffect">
                                  <p:stCondLst>
                                    <p:cond delay="0"/>
                                  </p:stCondLst>
                                  <p:childTnLst>
                                    <p:set>
                                      <p:cBhvr>
                                        <p:cTn id="189" dur="400" fill="hold"/>
                                        <p:tgtEl>
                                          <p:spTgt spid="23"/>
                                        </p:tgtEl>
                                        <p:attrNameLst>
                                          <p:attrName>style.opacity</p:attrName>
                                        </p:attrNameLst>
                                      </p:cBhvr>
                                      <p:to>
                                        <p:strVal val="0.25"/>
                                      </p:to>
                                    </p:set>
                                    <p:animEffect filter="image" prLst="opacity: 0.25">
                                      <p:cBhvr rctx="IE">
                                        <p:cTn id="190" dur="400" fill="hold"/>
                                        <p:tgtEl>
                                          <p:spTgt spid="23"/>
                                        </p:tgtEl>
                                      </p:cBhvr>
                                    </p:animEffect>
                                  </p:childTnLst>
                                </p:cTn>
                              </p:par>
                              <p:par>
                                <p:cTn id="191" presetID="9" presetClass="emph" presetSubtype="0" fill="hold" grpId="0" nodeType="withEffect">
                                  <p:stCondLst>
                                    <p:cond delay="0"/>
                                  </p:stCondLst>
                                  <p:childTnLst>
                                    <p:set>
                                      <p:cBhvr>
                                        <p:cTn id="192" dur="400" fill="hold"/>
                                        <p:tgtEl>
                                          <p:spTgt spid="24"/>
                                        </p:tgtEl>
                                        <p:attrNameLst>
                                          <p:attrName>style.opacity</p:attrName>
                                        </p:attrNameLst>
                                      </p:cBhvr>
                                      <p:to>
                                        <p:strVal val="0.25"/>
                                      </p:to>
                                    </p:set>
                                    <p:animEffect filter="image" prLst="opacity: 0.25">
                                      <p:cBhvr rctx="IE">
                                        <p:cTn id="193" dur="400" fill="hold"/>
                                        <p:tgtEl>
                                          <p:spTgt spid="24"/>
                                        </p:tgtEl>
                                      </p:cBhvr>
                                    </p:animEffect>
                                  </p:childTnLst>
                                </p:cTn>
                              </p:par>
                              <p:par>
                                <p:cTn id="194" presetID="9" presetClass="emph" presetSubtype="0" fill="hold" grpId="0" nodeType="withEffect">
                                  <p:stCondLst>
                                    <p:cond delay="0"/>
                                  </p:stCondLst>
                                  <p:childTnLst>
                                    <p:set>
                                      <p:cBhvr>
                                        <p:cTn id="195" dur="400" fill="hold"/>
                                        <p:tgtEl>
                                          <p:spTgt spid="25"/>
                                        </p:tgtEl>
                                        <p:attrNameLst>
                                          <p:attrName>style.opacity</p:attrName>
                                        </p:attrNameLst>
                                      </p:cBhvr>
                                      <p:to>
                                        <p:strVal val="0.25"/>
                                      </p:to>
                                    </p:set>
                                    <p:animEffect filter="image" prLst="opacity: 0.25">
                                      <p:cBhvr rctx="IE">
                                        <p:cTn id="196" dur="400" fill="hold"/>
                                        <p:tgtEl>
                                          <p:spTgt spid="25"/>
                                        </p:tgtEl>
                                      </p:cBhvr>
                                    </p:animEffect>
                                  </p:childTnLst>
                                </p:cTn>
                              </p:par>
                              <p:par>
                                <p:cTn id="197" presetID="9" presetClass="emph" presetSubtype="0" fill="hold" grpId="0" nodeType="withEffect">
                                  <p:stCondLst>
                                    <p:cond delay="0"/>
                                  </p:stCondLst>
                                  <p:childTnLst>
                                    <p:set>
                                      <p:cBhvr>
                                        <p:cTn id="198" dur="400" fill="hold"/>
                                        <p:tgtEl>
                                          <p:spTgt spid="26"/>
                                        </p:tgtEl>
                                        <p:attrNameLst>
                                          <p:attrName>style.opacity</p:attrName>
                                        </p:attrNameLst>
                                      </p:cBhvr>
                                      <p:to>
                                        <p:strVal val="0.25"/>
                                      </p:to>
                                    </p:set>
                                    <p:animEffect filter="image" prLst="opacity: 0.25">
                                      <p:cBhvr rctx="IE">
                                        <p:cTn id="199" dur="400" fill="hold"/>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15</a:t>
            </a:r>
            <a:endParaRPr lang="en-US" sz="1000" dirty="0"/>
          </a:p>
        </p:txBody>
      </p:sp>
      <p:sp>
        <p:nvSpPr>
          <p:cNvPr id="5" name="Shape 2"/>
          <p:cNvSpPr/>
          <p:nvPr/>
        </p:nvSpPr>
        <p:spPr>
          <a:xfrm>
            <a:off x="0" y="0"/>
            <a:ext cx="256032" cy="6858000"/>
          </a:xfrm>
          <a:prstGeom prst="rect">
            <a:avLst/>
          </a:prstGeom>
          <a:solidFill>
            <a:srgbClr val="17875A"/>
          </a:solidFill>
          <a:ln/>
        </p:spPr>
        <p:txBody>
          <a:bodyPr/>
          <a:lstStyle/>
          <a:p>
            <a:endParaRPr lang="en-US"/>
          </a:p>
        </p:txBody>
      </p:sp>
      <p:sp>
        <p:nvSpPr>
          <p:cNvPr id="6" name="Shape 3"/>
          <p:cNvSpPr/>
          <p:nvPr/>
        </p:nvSpPr>
        <p:spPr>
          <a:xfrm>
            <a:off x="640080" y="685800"/>
            <a:ext cx="1188720" cy="1188720"/>
          </a:xfrm>
          <a:prstGeom prst="ellipse">
            <a:avLst/>
          </a:prstGeom>
          <a:solidFill>
            <a:srgbClr val="17875A"/>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1</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1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The file system</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dirty="0">
                <a:solidFill>
                  <a:srgbClr val="12213A"/>
                </a:solidFill>
                <a:latin typeface="Calibri" pitchFamily="34" charset="0"/>
                <a:ea typeface="Calibri" pitchFamily="34" charset="-122"/>
                <a:cs typeface="Calibri" pitchFamily="34" charset="-120"/>
              </a:rPr>
              <a:t>Everything is a </a:t>
            </a:r>
            <a:r>
              <a:rPr lang="en-US" sz="2500" b="1" dirty="0">
                <a:solidFill>
                  <a:srgbClr val="12213A"/>
                </a:solidFill>
                <a:latin typeface="Calibri" pitchFamily="34" charset="0"/>
                <a:ea typeface="Calibri" pitchFamily="34" charset="-122"/>
                <a:cs typeface="Calibri" pitchFamily="34" charset="-120"/>
              </a:rPr>
              <a:t>file</a:t>
            </a:r>
            <a:r>
              <a:rPr lang="en-US" sz="2500" dirty="0">
                <a:solidFill>
                  <a:srgbClr val="12213A"/>
                </a:solidFill>
                <a:latin typeface="Calibri" pitchFamily="34" charset="0"/>
                <a:ea typeface="Calibri" pitchFamily="34" charset="-122"/>
                <a:cs typeface="Calibri" pitchFamily="34" charset="-120"/>
              </a:rPr>
              <a:t> or a </a:t>
            </a:r>
            <a:r>
              <a:rPr lang="en-US" sz="2500" b="1" dirty="0">
                <a:solidFill>
                  <a:srgbClr val="12213A"/>
                </a:solidFill>
                <a:latin typeface="Calibri" pitchFamily="34" charset="0"/>
                <a:ea typeface="Calibri" pitchFamily="34" charset="-122"/>
                <a:cs typeface="Calibri" pitchFamily="34" charset="-120"/>
              </a:rPr>
              <a:t>folder</a:t>
            </a:r>
            <a:r>
              <a:rPr lang="en-US" sz="2500" dirty="0">
                <a:solidFill>
                  <a:srgbClr val="12213A"/>
                </a:solidFill>
                <a:latin typeface="Calibri" pitchFamily="34" charset="0"/>
                <a:ea typeface="Calibri" pitchFamily="34" charset="-122"/>
                <a:cs typeface="Calibri" pitchFamily="34" charset="-120"/>
              </a:rPr>
              <a:t>. You point at them with a </a:t>
            </a:r>
            <a:r>
              <a:rPr lang="en-US" sz="2500" b="1" dirty="0">
                <a:solidFill>
                  <a:srgbClr val="12213A"/>
                </a:solidFill>
                <a:latin typeface="Calibri" pitchFamily="34" charset="0"/>
                <a:ea typeface="Calibri" pitchFamily="34" charset="-122"/>
                <a:cs typeface="Calibri" pitchFamily="34" charset="-120"/>
              </a:rPr>
              <a:t>path</a:t>
            </a:r>
            <a:r>
              <a:rPr lang="en-US" sz="2500" dirty="0">
                <a:solidFill>
                  <a:srgbClr val="12213A"/>
                </a:solidFill>
                <a:latin typeface="Calibri" pitchFamily="34" charset="0"/>
                <a:ea typeface="Calibri" pitchFamily="34" charset="-122"/>
                <a:cs typeface="Calibri" pitchFamily="34" charset="-120"/>
              </a:rPr>
              <a:t>, then move to them or look inside them.</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17875A"/>
                </a:solidFill>
                <a:latin typeface="Arial" pitchFamily="34" charset="0"/>
                <a:ea typeface="Arial" pitchFamily="34" charset="-122"/>
                <a:cs typeface="Arial" pitchFamily="34" charset="-120"/>
              </a:rPr>
              <a:t>Point</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  ~  .  ..</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A path is the address of a file or folder.</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17875A"/>
                </a:solidFill>
                <a:latin typeface="Arial" pitchFamily="34" charset="0"/>
                <a:ea typeface="Arial" pitchFamily="34" charset="-122"/>
                <a:cs typeface="Arial" pitchFamily="34" charset="-120"/>
              </a:rPr>
              <a:t>Move</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pwd  cd</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Find out where you are, and go somewhere else.</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17875A"/>
                </a:solidFill>
                <a:latin typeface="Arial" pitchFamily="34" charset="0"/>
                <a:ea typeface="Arial" pitchFamily="34" charset="-122"/>
                <a:cs typeface="Arial" pitchFamily="34" charset="-120"/>
              </a:rPr>
              <a:t>Look</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cat</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ls looks inside folders. cat looks inside files.</a:t>
            </a:r>
            <a:endParaRPr lang="en-US" sz="14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Files and folders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-l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16</a:t>
            </a:r>
            <a:endParaRPr lang="en-US" sz="1000" dirty="0"/>
          </a:p>
        </p:txBody>
      </p:sp>
      <p:sp>
        <p:nvSpPr>
          <p:cNvPr id="10" name="Shape 7"/>
          <p:cNvSpPr/>
          <p:nvPr/>
        </p:nvSpPr>
        <p:spPr>
          <a:xfrm>
            <a:off x="548640" y="1508760"/>
            <a:ext cx="5394960" cy="2057400"/>
          </a:xfrm>
          <a:prstGeom prst="roundRect">
            <a:avLst>
              <a:gd name="adj" fmla="val 4444"/>
            </a:avLst>
          </a:prstGeom>
          <a:solidFill>
            <a:srgbClr val="F1F5FB"/>
          </a:solidFill>
          <a:ln/>
        </p:spPr>
        <p:txBody>
          <a:bodyPr/>
          <a:lstStyle/>
          <a:p>
            <a:endParaRPr lang="en-US"/>
          </a:p>
        </p:txBody>
      </p:sp>
      <p:sp>
        <p:nvSpPr>
          <p:cNvPr id="11" name="Shape 8"/>
          <p:cNvSpPr/>
          <p:nvPr/>
        </p:nvSpPr>
        <p:spPr>
          <a:xfrm>
            <a:off x="548640" y="1508760"/>
            <a:ext cx="109728" cy="2057400"/>
          </a:xfrm>
          <a:prstGeom prst="rect">
            <a:avLst/>
          </a:prstGeom>
          <a:solidFill>
            <a:srgbClr val="2459D8"/>
          </a:solidFill>
          <a:ln/>
        </p:spPr>
        <p:txBody>
          <a:bodyPr/>
          <a:lstStyle/>
          <a:p>
            <a:endParaRPr lang="en-US"/>
          </a:p>
        </p:txBody>
      </p:sp>
      <p:sp>
        <p:nvSpPr>
          <p:cNvPr id="12" name="Text 9"/>
          <p:cNvSpPr txBox="1"/>
          <p:nvPr/>
        </p:nvSpPr>
        <p:spPr>
          <a:xfrm>
            <a:off x="868680" y="1645920"/>
            <a:ext cx="4846320" cy="502920"/>
          </a:xfrm>
          <a:prstGeom prst="rect">
            <a:avLst/>
          </a:prstGeom>
          <a:noFill/>
          <a:ln/>
        </p:spPr>
        <p:txBody>
          <a:bodyPr wrap="square" lIns="0" tIns="0" rIns="0" bIns="0" rtlCol="0" anchor="ctr"/>
          <a:lstStyle/>
          <a:p>
            <a:pPr marL="0" indent="0">
              <a:buNone/>
            </a:pPr>
            <a:r>
              <a:rPr lang="en-US" sz="2400" b="1" dirty="0">
                <a:solidFill>
                  <a:srgbClr val="12213A"/>
                </a:solidFill>
                <a:latin typeface="Arial" pitchFamily="34" charset="0"/>
                <a:ea typeface="Arial" pitchFamily="34" charset="-122"/>
                <a:cs typeface="Arial" pitchFamily="34" charset="-120"/>
              </a:rPr>
              <a:t>Folder</a:t>
            </a:r>
            <a:r>
              <a:rPr lang="en-US" sz="1400" dirty="0">
                <a:solidFill>
                  <a:srgbClr val="56657E"/>
                </a:solidFill>
                <a:latin typeface="Arial" pitchFamily="34" charset="0"/>
                <a:ea typeface="Arial" pitchFamily="34" charset="-122"/>
                <a:cs typeface="Arial" pitchFamily="34" charset="-120"/>
              </a:rPr>
              <a:t>   a.k.a. directory</a:t>
            </a:r>
            <a:endParaRPr lang="en-US" sz="1600" dirty="0"/>
          </a:p>
        </p:txBody>
      </p:sp>
      <p:sp>
        <p:nvSpPr>
          <p:cNvPr id="13" name="Text 10"/>
          <p:cNvSpPr txBox="1"/>
          <p:nvPr/>
        </p:nvSpPr>
        <p:spPr>
          <a:xfrm>
            <a:off x="868680" y="2194560"/>
            <a:ext cx="4114800" cy="731520"/>
          </a:xfrm>
          <a:prstGeom prst="rect">
            <a:avLst/>
          </a:prstGeom>
          <a:noFill/>
          <a:ln/>
        </p:spPr>
        <p:txBody>
          <a:bodyPr wrap="square" lIns="0" tIns="0" rIns="0" bIns="0" rtlCol="0" anchor="t"/>
          <a:lstStyle/>
          <a:p>
            <a:pPr marL="0" indent="0">
              <a:buNone/>
            </a:pPr>
            <a:r>
              <a:rPr lang="en-US" sz="1600" dirty="0">
                <a:solidFill>
                  <a:srgbClr val="12213A"/>
                </a:solidFill>
                <a:latin typeface="Calibri" pitchFamily="34" charset="0"/>
                <a:ea typeface="Calibri" pitchFamily="34" charset="-122"/>
                <a:cs typeface="Calibri" pitchFamily="34" charset="-120"/>
              </a:rPr>
              <a:t>Holds files and other folders. Look inside with ls. Step into it with cd.</a:t>
            </a:r>
            <a:endParaRPr lang="en-US" sz="1600" dirty="0"/>
          </a:p>
        </p:txBody>
      </p:sp>
      <p:sp>
        <p:nvSpPr>
          <p:cNvPr id="14" name="Text 11"/>
          <p:cNvSpPr txBox="1"/>
          <p:nvPr/>
        </p:nvSpPr>
        <p:spPr>
          <a:xfrm>
            <a:off x="868680" y="2971800"/>
            <a:ext cx="4937760" cy="41148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ls shows it in blue  ·  ls -l starts with d</a:t>
            </a:r>
            <a:endParaRPr lang="en-US" sz="1250" dirty="0"/>
          </a:p>
        </p:txBody>
      </p:sp>
      <p:sp>
        <p:nvSpPr>
          <p:cNvPr id="15" name="Shape 12"/>
          <p:cNvSpPr/>
          <p:nvPr/>
        </p:nvSpPr>
        <p:spPr>
          <a:xfrm>
            <a:off x="548640" y="3749040"/>
            <a:ext cx="5394960" cy="2057400"/>
          </a:xfrm>
          <a:prstGeom prst="roundRect">
            <a:avLst>
              <a:gd name="adj" fmla="val 4444"/>
            </a:avLst>
          </a:prstGeom>
          <a:solidFill>
            <a:srgbClr val="F1F5FB"/>
          </a:solidFill>
          <a:ln/>
        </p:spPr>
        <p:txBody>
          <a:bodyPr/>
          <a:lstStyle/>
          <a:p>
            <a:endParaRPr lang="en-US"/>
          </a:p>
        </p:txBody>
      </p:sp>
      <p:sp>
        <p:nvSpPr>
          <p:cNvPr id="16" name="Shape 13"/>
          <p:cNvSpPr/>
          <p:nvPr/>
        </p:nvSpPr>
        <p:spPr>
          <a:xfrm>
            <a:off x="548640" y="3749040"/>
            <a:ext cx="109728" cy="2057400"/>
          </a:xfrm>
          <a:prstGeom prst="rect">
            <a:avLst/>
          </a:prstGeom>
          <a:solidFill>
            <a:srgbClr val="D1416B"/>
          </a:solidFill>
          <a:ln/>
        </p:spPr>
        <p:txBody>
          <a:bodyPr/>
          <a:lstStyle/>
          <a:p>
            <a:endParaRPr lang="en-US"/>
          </a:p>
        </p:txBody>
      </p:sp>
      <p:sp>
        <p:nvSpPr>
          <p:cNvPr id="17" name="Text 14"/>
          <p:cNvSpPr txBox="1"/>
          <p:nvPr/>
        </p:nvSpPr>
        <p:spPr>
          <a:xfrm>
            <a:off x="868680" y="3886200"/>
            <a:ext cx="4846320" cy="502920"/>
          </a:xfrm>
          <a:prstGeom prst="rect">
            <a:avLst/>
          </a:prstGeom>
          <a:noFill/>
          <a:ln/>
        </p:spPr>
        <p:txBody>
          <a:bodyPr wrap="square" lIns="0" tIns="0" rIns="0" bIns="0" rtlCol="0" anchor="ctr"/>
          <a:lstStyle/>
          <a:p>
            <a:pPr marL="0" indent="0">
              <a:buNone/>
            </a:pPr>
            <a:r>
              <a:rPr lang="en-US" sz="2400" b="1" dirty="0">
                <a:solidFill>
                  <a:srgbClr val="12213A"/>
                </a:solidFill>
                <a:latin typeface="Arial" pitchFamily="34" charset="0"/>
                <a:ea typeface="Arial" pitchFamily="34" charset="-122"/>
                <a:cs typeface="Arial" pitchFamily="34" charset="-120"/>
              </a:rPr>
              <a:t>File</a:t>
            </a:r>
            <a:endParaRPr lang="en-US" sz="1600" dirty="0"/>
          </a:p>
        </p:txBody>
      </p:sp>
      <p:sp>
        <p:nvSpPr>
          <p:cNvPr id="18" name="Text 15"/>
          <p:cNvSpPr txBox="1"/>
          <p:nvPr/>
        </p:nvSpPr>
        <p:spPr>
          <a:xfrm>
            <a:off x="868680" y="4434840"/>
            <a:ext cx="4114800" cy="731520"/>
          </a:xfrm>
          <a:prstGeom prst="rect">
            <a:avLst/>
          </a:prstGeom>
          <a:noFill/>
          <a:ln/>
        </p:spPr>
        <p:txBody>
          <a:bodyPr wrap="square" lIns="0" tIns="0" rIns="0" bIns="0" rtlCol="0" anchor="t"/>
          <a:lstStyle/>
          <a:p>
            <a:pPr marL="0" indent="0">
              <a:buNone/>
            </a:pPr>
            <a:r>
              <a:rPr lang="en-US" sz="1600" dirty="0">
                <a:solidFill>
                  <a:srgbClr val="12213A"/>
                </a:solidFill>
                <a:latin typeface="Calibri" pitchFamily="34" charset="0"/>
                <a:ea typeface="Calibri" pitchFamily="34" charset="-122"/>
                <a:cs typeface="Calibri" pitchFamily="34" charset="-120"/>
              </a:rPr>
              <a:t>Holds data: text, a picture, a program. Look inside with cat. You can't cd into it.</a:t>
            </a:r>
            <a:endParaRPr lang="en-US" sz="1600" dirty="0"/>
          </a:p>
        </p:txBody>
      </p:sp>
      <p:sp>
        <p:nvSpPr>
          <p:cNvPr id="19" name="Text 16"/>
          <p:cNvSpPr txBox="1"/>
          <p:nvPr/>
        </p:nvSpPr>
        <p:spPr>
          <a:xfrm>
            <a:off x="868680" y="5212080"/>
            <a:ext cx="4937760" cy="411480"/>
          </a:xfrm>
          <a:prstGeom prst="rect">
            <a:avLst/>
          </a:prstGeom>
          <a:noFill/>
          <a:ln/>
        </p:spPr>
        <p:txBody>
          <a:bodyPr wrap="square" lIns="0" tIns="0" rIns="0" bIns="0" rtlCol="0" anchor="t"/>
          <a:lstStyle/>
          <a:p>
            <a:pPr marL="0" indent="0">
              <a:buNone/>
            </a:pPr>
            <a:r>
              <a:rPr lang="en-US" sz="1250" b="1" dirty="0">
                <a:solidFill>
                  <a:srgbClr val="D1416B"/>
                </a:solidFill>
                <a:latin typeface="Courier New" pitchFamily="34" charset="0"/>
                <a:ea typeface="Courier New" pitchFamily="34" charset="-122"/>
                <a:cs typeface="Courier New" pitchFamily="34" charset="-120"/>
              </a:rPr>
              <a:t>ls shows it in white  ·  ls -l starts with -</a:t>
            </a:r>
            <a:endParaRPr lang="en-US" sz="1250" dirty="0"/>
          </a:p>
        </p:txBody>
      </p:sp>
      <p:sp>
        <p:nvSpPr>
          <p:cNvPr id="20" name="Shape 17"/>
          <p:cNvSpPr/>
          <p:nvPr/>
        </p:nvSpPr>
        <p:spPr>
          <a:xfrm>
            <a:off x="5074920" y="1645920"/>
            <a:ext cx="640080" cy="640080"/>
          </a:xfrm>
          <a:prstGeom prst="ellipse">
            <a:avLst/>
          </a:prstGeom>
          <a:solidFill>
            <a:srgbClr val="2459D8"/>
          </a:solidFill>
          <a:ln/>
        </p:spPr>
        <p:txBody>
          <a:bodyPr/>
          <a:lstStyle/>
          <a:p>
            <a:endParaRPr lang="en-US"/>
          </a:p>
        </p:txBody>
      </p:sp>
      <p:pic>
        <p:nvPicPr>
          <p:cNvPr id="21" name="Image 0" descr="preencoded.png"/>
          <p:cNvPicPr>
            <a:picLocks noChangeAspect="1"/>
          </p:cNvPicPr>
          <p:nvPr/>
        </p:nvPicPr>
        <p:blipFill>
          <a:blip r:embed="rId3"/>
          <a:stretch>
            <a:fillRect/>
          </a:stretch>
        </p:blipFill>
        <p:spPr>
          <a:xfrm>
            <a:off x="5234940" y="1805940"/>
            <a:ext cx="320040" cy="320040"/>
          </a:xfrm>
          <a:prstGeom prst="rect">
            <a:avLst/>
          </a:prstGeom>
        </p:spPr>
      </p:pic>
      <p:sp>
        <p:nvSpPr>
          <p:cNvPr id="22" name="Shape 18"/>
          <p:cNvSpPr/>
          <p:nvPr/>
        </p:nvSpPr>
        <p:spPr>
          <a:xfrm>
            <a:off x="5074920" y="3886200"/>
            <a:ext cx="640080" cy="640080"/>
          </a:xfrm>
          <a:prstGeom prst="ellipse">
            <a:avLst/>
          </a:prstGeom>
          <a:solidFill>
            <a:srgbClr val="D1416B"/>
          </a:solidFill>
          <a:ln/>
        </p:spPr>
        <p:txBody>
          <a:bodyPr/>
          <a:lstStyle/>
          <a:p>
            <a:endParaRPr lang="en-US"/>
          </a:p>
        </p:txBody>
      </p:sp>
      <p:pic>
        <p:nvPicPr>
          <p:cNvPr id="23" name="Image 1" descr="preencoded.png"/>
          <p:cNvPicPr>
            <a:picLocks noChangeAspect="1"/>
          </p:cNvPicPr>
          <p:nvPr/>
        </p:nvPicPr>
        <p:blipFill>
          <a:blip r:embed="rId4"/>
          <a:stretch>
            <a:fillRect/>
          </a:stretch>
        </p:blipFill>
        <p:spPr>
          <a:xfrm>
            <a:off x="5234940" y="4046220"/>
            <a:ext cx="320040" cy="320040"/>
          </a:xfrm>
          <a:prstGeom prst="rect">
            <a:avLst/>
          </a:prstGeom>
        </p:spPr>
      </p:pic>
      <p:sp>
        <p:nvSpPr>
          <p:cNvPr id="24" name="Shape 19"/>
          <p:cNvSpPr/>
          <p:nvPr/>
        </p:nvSpPr>
        <p:spPr>
          <a:xfrm>
            <a:off x="6263640" y="1463040"/>
            <a:ext cx="5376672"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0"/>
          <p:cNvSpPr/>
          <p:nvPr/>
        </p:nvSpPr>
        <p:spPr>
          <a:xfrm>
            <a:off x="6464808" y="1618488"/>
            <a:ext cx="118872" cy="118872"/>
          </a:xfrm>
          <a:prstGeom prst="ellipse">
            <a:avLst/>
          </a:prstGeom>
          <a:solidFill>
            <a:srgbClr val="E5534B"/>
          </a:solidFill>
          <a:ln/>
        </p:spPr>
        <p:txBody>
          <a:bodyPr/>
          <a:lstStyle/>
          <a:p>
            <a:endParaRPr lang="en-US"/>
          </a:p>
        </p:txBody>
      </p:sp>
      <p:sp>
        <p:nvSpPr>
          <p:cNvPr id="26" name="Shape 21"/>
          <p:cNvSpPr/>
          <p:nvPr/>
        </p:nvSpPr>
        <p:spPr>
          <a:xfrm>
            <a:off x="6665976" y="1618488"/>
            <a:ext cx="118872" cy="118872"/>
          </a:xfrm>
          <a:prstGeom prst="ellipse">
            <a:avLst/>
          </a:prstGeom>
          <a:solidFill>
            <a:srgbClr val="F5A623"/>
          </a:solidFill>
          <a:ln/>
        </p:spPr>
        <p:txBody>
          <a:bodyPr/>
          <a:lstStyle/>
          <a:p>
            <a:endParaRPr lang="en-US"/>
          </a:p>
        </p:txBody>
      </p:sp>
      <p:sp>
        <p:nvSpPr>
          <p:cNvPr id="27" name="Shape 22"/>
          <p:cNvSpPr/>
          <p:nvPr/>
        </p:nvSpPr>
        <p:spPr>
          <a:xfrm>
            <a:off x="6867144" y="1618488"/>
            <a:ext cx="118872" cy="118872"/>
          </a:xfrm>
          <a:prstGeom prst="ellipse">
            <a:avLst/>
          </a:prstGeom>
          <a:solidFill>
            <a:srgbClr val="46D39A"/>
          </a:solidFill>
          <a:ln/>
        </p:spPr>
        <p:txBody>
          <a:bodyPr/>
          <a:lstStyle/>
          <a:p>
            <a:endParaRPr lang="en-US"/>
          </a:p>
        </p:txBody>
      </p:sp>
      <p:sp>
        <p:nvSpPr>
          <p:cNvPr id="28" name="Text 23"/>
          <p:cNvSpPr txBox="1"/>
          <p:nvPr/>
        </p:nvSpPr>
        <p:spPr>
          <a:xfrm>
            <a:off x="6537960" y="1920240"/>
            <a:ext cx="4828032" cy="384048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mission1  mission2  ...  mission10</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-l ~</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drwxr-xr-x  2 player ... mission1</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d at the start: a directory (folder)</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-l /etc/passwd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-rw-r--r--  1 root  ...  /etc/passwd</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 = a plain file</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/etc/passwd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-sh: cd: can't cd to /etc/passwd: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Not a directory</a:t>
            </a:r>
            <a:endParaRPr lang="en-US" sz="14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Pointing at things: paths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/home/player   ls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17</a:t>
            </a:r>
            <a:endParaRPr lang="en-US" sz="1000" dirty="0"/>
          </a:p>
        </p:txBody>
      </p:sp>
      <p:sp>
        <p:nvSpPr>
          <p:cNvPr id="10" name="Shape 7"/>
          <p:cNvSpPr/>
          <p:nvPr/>
        </p:nvSpPr>
        <p:spPr>
          <a:xfrm>
            <a:off x="548640" y="1508760"/>
            <a:ext cx="11094415" cy="1143000"/>
          </a:xfrm>
          <a:prstGeom prst="roundRect">
            <a:avLst>
              <a:gd name="adj" fmla="val 8000"/>
            </a:avLst>
          </a:prstGeom>
          <a:solidFill>
            <a:srgbClr val="0E1726"/>
          </a:solidFill>
          <a:ln/>
        </p:spPr>
        <p:txBody>
          <a:bodyPr/>
          <a:lstStyle/>
          <a:p>
            <a:endParaRPr lang="en-US"/>
          </a:p>
        </p:txBody>
      </p:sp>
      <p:sp>
        <p:nvSpPr>
          <p:cNvPr id="11" name="Text 8"/>
          <p:cNvSpPr txBox="1"/>
          <p:nvPr/>
        </p:nvSpPr>
        <p:spPr>
          <a:xfrm>
            <a:off x="548640" y="1508760"/>
            <a:ext cx="11094415" cy="1143000"/>
          </a:xfrm>
          <a:prstGeom prst="rect">
            <a:avLst/>
          </a:prstGeom>
          <a:noFill/>
          <a:ln/>
        </p:spPr>
        <p:txBody>
          <a:bodyPr wrap="square" lIns="0" tIns="0" rIns="0" bIns="0" rtlCol="0" anchor="ctr"/>
          <a:lstStyle/>
          <a:p>
            <a:pPr marL="0" indent="0" algn="ctr">
              <a:buNone/>
            </a:pP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7FB2FF"/>
                </a:solidFill>
                <a:latin typeface="Courier New" pitchFamily="34" charset="0"/>
                <a:ea typeface="Courier New" pitchFamily="34" charset="-122"/>
                <a:cs typeface="Courier New" pitchFamily="34" charset="-120"/>
              </a:rPr>
              <a:t>home</a:t>
            </a: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46D39A"/>
                </a:solidFill>
                <a:latin typeface="Courier New" pitchFamily="34" charset="0"/>
                <a:ea typeface="Courier New" pitchFamily="34" charset="-122"/>
                <a:cs typeface="Courier New" pitchFamily="34" charset="-120"/>
              </a:rPr>
              <a:t>player</a:t>
            </a: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C9A7FF"/>
                </a:solidFill>
                <a:latin typeface="Courier New" pitchFamily="34" charset="0"/>
                <a:ea typeface="Courier New" pitchFamily="34" charset="-122"/>
                <a:cs typeface="Courier New" pitchFamily="34" charset="-120"/>
              </a:rPr>
              <a:t>mission1</a:t>
            </a: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FF8FB1"/>
                </a:solidFill>
                <a:latin typeface="Courier New" pitchFamily="34" charset="0"/>
                <a:ea typeface="Courier New" pitchFamily="34" charset="-122"/>
                <a:cs typeface="Courier New" pitchFamily="34" charset="-120"/>
              </a:rPr>
              <a:t>town</a:t>
            </a:r>
            <a:endParaRPr lang="en-US" sz="3800" dirty="0"/>
          </a:p>
        </p:txBody>
      </p:sp>
      <p:sp>
        <p:nvSpPr>
          <p:cNvPr id="12" name="Text 9"/>
          <p:cNvSpPr txBox="1"/>
          <p:nvPr/>
        </p:nvSpPr>
        <p:spPr>
          <a:xfrm>
            <a:off x="548640" y="2724912"/>
            <a:ext cx="11094415" cy="320040"/>
          </a:xfrm>
          <a:prstGeom prst="rect">
            <a:avLst/>
          </a:prstGeom>
          <a:noFill/>
          <a:ln/>
        </p:spPr>
        <p:txBody>
          <a:bodyPr wrap="square" lIns="0" tIns="0" rIns="0" bIns="0" rtlCol="0" anchor="t"/>
          <a:lstStyle/>
          <a:p>
            <a:pPr marL="0" indent="0" algn="ctr">
              <a:buNone/>
            </a:pPr>
            <a:r>
              <a:rPr lang="en-US" sz="1400" dirty="0">
                <a:solidFill>
                  <a:srgbClr val="56657E"/>
                </a:solidFill>
                <a:latin typeface="Calibri" pitchFamily="34" charset="0"/>
                <a:ea typeface="Calibri" pitchFamily="34" charset="-122"/>
                <a:cs typeface="Calibri" pitchFamily="34" charset="-120"/>
              </a:rPr>
              <a:t>Each name is a folder inside the one before it. The slashes join them.</a:t>
            </a:r>
            <a:endParaRPr lang="en-US" sz="1400" dirty="0"/>
          </a:p>
        </p:txBody>
      </p:sp>
      <p:sp>
        <p:nvSpPr>
          <p:cNvPr id="13" name="Shape 10"/>
          <p:cNvSpPr/>
          <p:nvPr/>
        </p:nvSpPr>
        <p:spPr>
          <a:xfrm>
            <a:off x="548640" y="3200400"/>
            <a:ext cx="2624328" cy="1051560"/>
          </a:xfrm>
          <a:prstGeom prst="roundRect">
            <a:avLst>
              <a:gd name="adj" fmla="val 8696"/>
            </a:avLst>
          </a:prstGeom>
          <a:solidFill>
            <a:srgbClr val="F1F5FB"/>
          </a:solidFill>
          <a:ln/>
        </p:spPr>
        <p:txBody>
          <a:bodyPr/>
          <a:lstStyle/>
          <a:p>
            <a:endParaRPr lang="en-US"/>
          </a:p>
        </p:txBody>
      </p:sp>
      <p:sp>
        <p:nvSpPr>
          <p:cNvPr id="14" name="Text 11"/>
          <p:cNvSpPr txBox="1"/>
          <p:nvPr/>
        </p:nvSpPr>
        <p:spPr>
          <a:xfrm>
            <a:off x="777240" y="3291840"/>
            <a:ext cx="822960" cy="868680"/>
          </a:xfrm>
          <a:prstGeom prst="rect">
            <a:avLst/>
          </a:prstGeom>
          <a:noFill/>
          <a:ln/>
        </p:spPr>
        <p:txBody>
          <a:bodyPr wrap="square" lIns="0" tIns="0" rIns="0" bIns="0" rtlCol="0" anchor="ctr"/>
          <a:lstStyle/>
          <a:p>
            <a:pPr marL="0" indent="0">
              <a:buNone/>
            </a:pPr>
            <a:r>
              <a:rPr lang="en-US" sz="3200" b="1" dirty="0">
                <a:solidFill>
                  <a:srgbClr val="2A9FD6"/>
                </a:solidFill>
                <a:latin typeface="Courier New" pitchFamily="34" charset="0"/>
                <a:ea typeface="Courier New" pitchFamily="34" charset="-122"/>
                <a:cs typeface="Courier New" pitchFamily="34" charset="-120"/>
              </a:rPr>
              <a:t>/</a:t>
            </a:r>
            <a:endParaRPr lang="en-US" sz="3200" dirty="0"/>
          </a:p>
        </p:txBody>
      </p:sp>
      <p:sp>
        <p:nvSpPr>
          <p:cNvPr id="15" name="Text 12"/>
          <p:cNvSpPr txBox="1"/>
          <p:nvPr/>
        </p:nvSpPr>
        <p:spPr>
          <a:xfrm>
            <a:off x="1600200"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the root: top of the tree</a:t>
            </a:r>
            <a:endParaRPr lang="en-US" sz="1450" dirty="0"/>
          </a:p>
        </p:txBody>
      </p:sp>
      <p:sp>
        <p:nvSpPr>
          <p:cNvPr id="16" name="Shape 13"/>
          <p:cNvSpPr/>
          <p:nvPr/>
        </p:nvSpPr>
        <p:spPr>
          <a:xfrm>
            <a:off x="3355848" y="3200400"/>
            <a:ext cx="2624328" cy="1051560"/>
          </a:xfrm>
          <a:prstGeom prst="roundRect">
            <a:avLst>
              <a:gd name="adj" fmla="val 8696"/>
            </a:avLst>
          </a:prstGeom>
          <a:solidFill>
            <a:srgbClr val="F1F5FB"/>
          </a:solidFill>
          <a:ln/>
        </p:spPr>
        <p:txBody>
          <a:bodyPr/>
          <a:lstStyle/>
          <a:p>
            <a:endParaRPr lang="en-US"/>
          </a:p>
        </p:txBody>
      </p:sp>
      <p:sp>
        <p:nvSpPr>
          <p:cNvPr id="17" name="Text 14"/>
          <p:cNvSpPr txBox="1"/>
          <p:nvPr/>
        </p:nvSpPr>
        <p:spPr>
          <a:xfrm>
            <a:off x="3584448" y="3291840"/>
            <a:ext cx="822960" cy="868680"/>
          </a:xfrm>
          <a:prstGeom prst="rect">
            <a:avLst/>
          </a:prstGeom>
          <a:noFill/>
          <a:ln/>
        </p:spPr>
        <p:txBody>
          <a:bodyPr wrap="square" lIns="0" tIns="0" rIns="0" bIns="0" rtlCol="0" anchor="ctr"/>
          <a:lstStyle/>
          <a:p>
            <a:pPr marL="0" indent="0">
              <a:buNone/>
            </a:pPr>
            <a:r>
              <a:rPr lang="en-US" sz="3200" b="1" dirty="0">
                <a:solidFill>
                  <a:srgbClr val="2459D8"/>
                </a:solidFill>
                <a:latin typeface="Courier New" pitchFamily="34" charset="0"/>
                <a:ea typeface="Courier New" pitchFamily="34" charset="-122"/>
                <a:cs typeface="Courier New" pitchFamily="34" charset="-120"/>
              </a:rPr>
              <a:t>~</a:t>
            </a:r>
            <a:endParaRPr lang="en-US" sz="3200" dirty="0"/>
          </a:p>
        </p:txBody>
      </p:sp>
      <p:sp>
        <p:nvSpPr>
          <p:cNvPr id="18" name="Text 15"/>
          <p:cNvSpPr txBox="1"/>
          <p:nvPr/>
        </p:nvSpPr>
        <p:spPr>
          <a:xfrm>
            <a:off x="4407408"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your home: /home/player</a:t>
            </a:r>
            <a:endParaRPr lang="en-US" sz="1450" dirty="0"/>
          </a:p>
        </p:txBody>
      </p:sp>
      <p:sp>
        <p:nvSpPr>
          <p:cNvPr id="19" name="Shape 16"/>
          <p:cNvSpPr/>
          <p:nvPr/>
        </p:nvSpPr>
        <p:spPr>
          <a:xfrm>
            <a:off x="6163056" y="3200400"/>
            <a:ext cx="2624328" cy="1051560"/>
          </a:xfrm>
          <a:prstGeom prst="roundRect">
            <a:avLst>
              <a:gd name="adj" fmla="val 8696"/>
            </a:avLst>
          </a:prstGeom>
          <a:solidFill>
            <a:srgbClr val="F1F5FB"/>
          </a:solidFill>
          <a:ln/>
        </p:spPr>
        <p:txBody>
          <a:bodyPr/>
          <a:lstStyle/>
          <a:p>
            <a:endParaRPr lang="en-US"/>
          </a:p>
        </p:txBody>
      </p:sp>
      <p:sp>
        <p:nvSpPr>
          <p:cNvPr id="20" name="Text 17"/>
          <p:cNvSpPr txBox="1"/>
          <p:nvPr/>
        </p:nvSpPr>
        <p:spPr>
          <a:xfrm>
            <a:off x="6391656" y="3291840"/>
            <a:ext cx="822960" cy="868680"/>
          </a:xfrm>
          <a:prstGeom prst="rect">
            <a:avLst/>
          </a:prstGeom>
          <a:noFill/>
          <a:ln/>
        </p:spPr>
        <p:txBody>
          <a:bodyPr wrap="square" lIns="0" tIns="0" rIns="0" bIns="0" rtlCol="0" anchor="ctr"/>
          <a:lstStyle/>
          <a:p>
            <a:pPr marL="0" indent="0">
              <a:buNone/>
            </a:pPr>
            <a:r>
              <a:rPr lang="en-US" sz="3200" b="1" dirty="0">
                <a:solidFill>
                  <a:srgbClr val="7448D4"/>
                </a:solidFill>
                <a:latin typeface="Courier New" pitchFamily="34" charset="0"/>
                <a:ea typeface="Courier New" pitchFamily="34" charset="-122"/>
                <a:cs typeface="Courier New" pitchFamily="34" charset="-120"/>
              </a:rPr>
              <a:t>.</a:t>
            </a:r>
            <a:endParaRPr lang="en-US" sz="3200" dirty="0"/>
          </a:p>
        </p:txBody>
      </p:sp>
      <p:sp>
        <p:nvSpPr>
          <p:cNvPr id="21" name="Text 18"/>
          <p:cNvSpPr txBox="1"/>
          <p:nvPr/>
        </p:nvSpPr>
        <p:spPr>
          <a:xfrm>
            <a:off x="7214616"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right here</a:t>
            </a:r>
            <a:endParaRPr lang="en-US" sz="1450" dirty="0"/>
          </a:p>
        </p:txBody>
      </p:sp>
      <p:sp>
        <p:nvSpPr>
          <p:cNvPr id="22" name="Shape 19"/>
          <p:cNvSpPr/>
          <p:nvPr/>
        </p:nvSpPr>
        <p:spPr>
          <a:xfrm>
            <a:off x="8970264" y="3200400"/>
            <a:ext cx="2624328" cy="1051560"/>
          </a:xfrm>
          <a:prstGeom prst="roundRect">
            <a:avLst>
              <a:gd name="adj" fmla="val 8696"/>
            </a:avLst>
          </a:prstGeom>
          <a:solidFill>
            <a:srgbClr val="F1F5FB"/>
          </a:solidFill>
          <a:ln/>
        </p:spPr>
        <p:txBody>
          <a:bodyPr/>
          <a:lstStyle/>
          <a:p>
            <a:endParaRPr lang="en-US"/>
          </a:p>
        </p:txBody>
      </p:sp>
      <p:sp>
        <p:nvSpPr>
          <p:cNvPr id="23" name="Text 20"/>
          <p:cNvSpPr txBox="1"/>
          <p:nvPr/>
        </p:nvSpPr>
        <p:spPr>
          <a:xfrm>
            <a:off x="9198864" y="3291840"/>
            <a:ext cx="822960" cy="868680"/>
          </a:xfrm>
          <a:prstGeom prst="rect">
            <a:avLst/>
          </a:prstGeom>
          <a:noFill/>
          <a:ln/>
        </p:spPr>
        <p:txBody>
          <a:bodyPr wrap="square" lIns="0" tIns="0" rIns="0" bIns="0" rtlCol="0" anchor="ctr"/>
          <a:lstStyle/>
          <a:p>
            <a:pPr marL="0" indent="0">
              <a:buNone/>
            </a:pPr>
            <a:r>
              <a:rPr lang="en-US" sz="3200" b="1" dirty="0">
                <a:solidFill>
                  <a:srgbClr val="D1416B"/>
                </a:solidFill>
                <a:latin typeface="Courier New" pitchFamily="34" charset="0"/>
                <a:ea typeface="Courier New" pitchFamily="34" charset="-122"/>
                <a:cs typeface="Courier New" pitchFamily="34" charset="-120"/>
              </a:rPr>
              <a:t>..</a:t>
            </a:r>
            <a:endParaRPr lang="en-US" sz="3200" dirty="0"/>
          </a:p>
        </p:txBody>
      </p:sp>
      <p:sp>
        <p:nvSpPr>
          <p:cNvPr id="24" name="Text 21"/>
          <p:cNvSpPr txBox="1"/>
          <p:nvPr/>
        </p:nvSpPr>
        <p:spPr>
          <a:xfrm>
            <a:off x="10021824"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one level up</a:t>
            </a:r>
            <a:endParaRPr lang="en-US" sz="1450" dirty="0"/>
          </a:p>
        </p:txBody>
      </p:sp>
      <p:sp>
        <p:nvSpPr>
          <p:cNvPr id="25" name="Shape 22"/>
          <p:cNvSpPr/>
          <p:nvPr/>
        </p:nvSpPr>
        <p:spPr>
          <a:xfrm>
            <a:off x="548640" y="4480560"/>
            <a:ext cx="3566160" cy="1417320"/>
          </a:xfrm>
          <a:prstGeom prst="roundRect">
            <a:avLst>
              <a:gd name="adj" fmla="val 6452"/>
            </a:avLst>
          </a:prstGeom>
          <a:solidFill>
            <a:srgbClr val="F1F5FB"/>
          </a:solidFill>
          <a:ln/>
        </p:spPr>
        <p:txBody>
          <a:bodyPr/>
          <a:lstStyle/>
          <a:p>
            <a:endParaRPr lang="en-US"/>
          </a:p>
        </p:txBody>
      </p:sp>
      <p:sp>
        <p:nvSpPr>
          <p:cNvPr id="26" name="Text 23"/>
          <p:cNvSpPr txBox="1"/>
          <p:nvPr/>
        </p:nvSpPr>
        <p:spPr>
          <a:xfrm>
            <a:off x="777240" y="4572000"/>
            <a:ext cx="3108960" cy="36576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Absolute</a:t>
            </a:r>
            <a:endParaRPr lang="en-US" sz="1600" dirty="0"/>
          </a:p>
        </p:txBody>
      </p:sp>
      <p:sp>
        <p:nvSpPr>
          <p:cNvPr id="27" name="Text 24"/>
          <p:cNvSpPr txBox="1"/>
          <p:nvPr/>
        </p:nvSpPr>
        <p:spPr>
          <a:xfrm>
            <a:off x="777240" y="4956048"/>
            <a:ext cx="3200400" cy="36576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cd /home/player/mission1/town</a:t>
            </a:r>
            <a:endParaRPr lang="en-US" sz="1250" dirty="0"/>
          </a:p>
        </p:txBody>
      </p:sp>
      <p:sp>
        <p:nvSpPr>
          <p:cNvPr id="28" name="Text 25"/>
          <p:cNvSpPr txBox="1"/>
          <p:nvPr/>
        </p:nvSpPr>
        <p:spPr>
          <a:xfrm>
            <a:off x="777240" y="5349240"/>
            <a:ext cx="320040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Starts at /. Works from anywhere.</a:t>
            </a:r>
            <a:endParaRPr lang="en-US" sz="1300" dirty="0"/>
          </a:p>
        </p:txBody>
      </p:sp>
      <p:sp>
        <p:nvSpPr>
          <p:cNvPr id="29" name="Shape 26"/>
          <p:cNvSpPr/>
          <p:nvPr/>
        </p:nvSpPr>
        <p:spPr>
          <a:xfrm>
            <a:off x="4306824" y="4480560"/>
            <a:ext cx="3566160" cy="1417320"/>
          </a:xfrm>
          <a:prstGeom prst="roundRect">
            <a:avLst>
              <a:gd name="adj" fmla="val 6452"/>
            </a:avLst>
          </a:prstGeom>
          <a:solidFill>
            <a:srgbClr val="F1F5FB"/>
          </a:solidFill>
          <a:ln/>
        </p:spPr>
        <p:txBody>
          <a:bodyPr/>
          <a:lstStyle/>
          <a:p>
            <a:endParaRPr lang="en-US"/>
          </a:p>
        </p:txBody>
      </p:sp>
      <p:sp>
        <p:nvSpPr>
          <p:cNvPr id="30" name="Text 27"/>
          <p:cNvSpPr txBox="1"/>
          <p:nvPr/>
        </p:nvSpPr>
        <p:spPr>
          <a:xfrm>
            <a:off x="4535424" y="4572000"/>
            <a:ext cx="3108960" cy="36576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Relative</a:t>
            </a:r>
            <a:endParaRPr lang="en-US" sz="1600" dirty="0"/>
          </a:p>
        </p:txBody>
      </p:sp>
      <p:sp>
        <p:nvSpPr>
          <p:cNvPr id="31" name="Text 28"/>
          <p:cNvSpPr txBox="1"/>
          <p:nvPr/>
        </p:nvSpPr>
        <p:spPr>
          <a:xfrm>
            <a:off x="4535424" y="4956048"/>
            <a:ext cx="3200400" cy="36576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cd mission1/town</a:t>
            </a:r>
            <a:endParaRPr lang="en-US" sz="1250" dirty="0"/>
          </a:p>
        </p:txBody>
      </p:sp>
      <p:sp>
        <p:nvSpPr>
          <p:cNvPr id="32" name="Text 29"/>
          <p:cNvSpPr txBox="1"/>
          <p:nvPr/>
        </p:nvSpPr>
        <p:spPr>
          <a:xfrm>
            <a:off x="4535424" y="5349240"/>
            <a:ext cx="320040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Starts where you are (here: home).</a:t>
            </a:r>
            <a:endParaRPr lang="en-US" sz="1300" dirty="0"/>
          </a:p>
        </p:txBody>
      </p:sp>
      <p:sp>
        <p:nvSpPr>
          <p:cNvPr id="33" name="Shape 30"/>
          <p:cNvSpPr/>
          <p:nvPr/>
        </p:nvSpPr>
        <p:spPr>
          <a:xfrm>
            <a:off x="8065008" y="4480560"/>
            <a:ext cx="3566160" cy="1417320"/>
          </a:xfrm>
          <a:prstGeom prst="roundRect">
            <a:avLst>
              <a:gd name="adj" fmla="val 6452"/>
            </a:avLst>
          </a:prstGeom>
          <a:solidFill>
            <a:srgbClr val="F1F5FB"/>
          </a:solidFill>
          <a:ln/>
        </p:spPr>
        <p:txBody>
          <a:bodyPr/>
          <a:lstStyle/>
          <a:p>
            <a:endParaRPr lang="en-US"/>
          </a:p>
        </p:txBody>
      </p:sp>
      <p:sp>
        <p:nvSpPr>
          <p:cNvPr id="34" name="Text 31"/>
          <p:cNvSpPr txBox="1"/>
          <p:nvPr/>
        </p:nvSpPr>
        <p:spPr>
          <a:xfrm>
            <a:off x="8293608" y="4572000"/>
            <a:ext cx="3108960" cy="36576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From home</a:t>
            </a:r>
            <a:endParaRPr lang="en-US" sz="1600" dirty="0"/>
          </a:p>
        </p:txBody>
      </p:sp>
      <p:sp>
        <p:nvSpPr>
          <p:cNvPr id="35" name="Text 32"/>
          <p:cNvSpPr txBox="1"/>
          <p:nvPr/>
        </p:nvSpPr>
        <p:spPr>
          <a:xfrm>
            <a:off x="8293608" y="4956048"/>
            <a:ext cx="3200400" cy="36576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cd ~/mission1/town</a:t>
            </a:r>
            <a:endParaRPr lang="en-US" sz="1250" dirty="0"/>
          </a:p>
        </p:txBody>
      </p:sp>
      <p:sp>
        <p:nvSpPr>
          <p:cNvPr id="36" name="Text 33"/>
          <p:cNvSpPr txBox="1"/>
          <p:nvPr/>
        </p:nvSpPr>
        <p:spPr>
          <a:xfrm>
            <a:off x="8293608" y="5349240"/>
            <a:ext cx="320040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Starts at ~. Works from anywhere.</a:t>
            </a:r>
            <a:endParaRPr lang="en-US" sz="13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Moving around: pwd and cd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cd /etc   cd ..   cd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18</a:t>
            </a:r>
            <a:endParaRPr lang="en-US" sz="1000" dirty="0"/>
          </a:p>
        </p:txBody>
      </p:sp>
      <p:sp>
        <p:nvSpPr>
          <p:cNvPr id="10" name="Shape 7"/>
          <p:cNvSpPr/>
          <p:nvPr/>
        </p:nvSpPr>
        <p:spPr>
          <a:xfrm flipH="1">
            <a:off x="1234440" y="1920240"/>
            <a:ext cx="1417320" cy="411480"/>
          </a:xfrm>
          <a:prstGeom prst="line">
            <a:avLst/>
          </a:prstGeom>
          <a:noFill/>
          <a:ln w="19050">
            <a:solidFill>
              <a:srgbClr val="9AA8BF"/>
            </a:solidFill>
            <a:prstDash val="solid"/>
          </a:ln>
        </p:spPr>
        <p:txBody>
          <a:bodyPr/>
          <a:lstStyle/>
          <a:p>
            <a:endParaRPr lang="en-US"/>
          </a:p>
        </p:txBody>
      </p:sp>
      <p:sp>
        <p:nvSpPr>
          <p:cNvPr id="11" name="Shape 8"/>
          <p:cNvSpPr/>
          <p:nvPr/>
        </p:nvSpPr>
        <p:spPr>
          <a:xfrm>
            <a:off x="2651760" y="1920240"/>
            <a:ext cx="0" cy="411480"/>
          </a:xfrm>
          <a:prstGeom prst="line">
            <a:avLst/>
          </a:prstGeom>
          <a:noFill/>
          <a:ln w="19050">
            <a:solidFill>
              <a:srgbClr val="9AA8BF"/>
            </a:solidFill>
            <a:prstDash val="solid"/>
          </a:ln>
        </p:spPr>
        <p:txBody>
          <a:bodyPr/>
          <a:lstStyle/>
          <a:p>
            <a:endParaRPr lang="en-US"/>
          </a:p>
        </p:txBody>
      </p:sp>
      <p:sp>
        <p:nvSpPr>
          <p:cNvPr id="12" name="Shape 9"/>
          <p:cNvSpPr/>
          <p:nvPr/>
        </p:nvSpPr>
        <p:spPr>
          <a:xfrm>
            <a:off x="2651760" y="1920240"/>
            <a:ext cx="1417320" cy="411480"/>
          </a:xfrm>
          <a:prstGeom prst="line">
            <a:avLst/>
          </a:prstGeom>
          <a:noFill/>
          <a:ln w="19050">
            <a:solidFill>
              <a:srgbClr val="9AA8BF"/>
            </a:solidFill>
            <a:prstDash val="solid"/>
          </a:ln>
        </p:spPr>
        <p:txBody>
          <a:bodyPr/>
          <a:lstStyle/>
          <a:p>
            <a:endParaRPr lang="en-US"/>
          </a:p>
        </p:txBody>
      </p:sp>
      <p:sp>
        <p:nvSpPr>
          <p:cNvPr id="13" name="Shape 10"/>
          <p:cNvSpPr/>
          <p:nvPr/>
        </p:nvSpPr>
        <p:spPr>
          <a:xfrm>
            <a:off x="2651760" y="2743200"/>
            <a:ext cx="0" cy="320040"/>
          </a:xfrm>
          <a:prstGeom prst="line">
            <a:avLst/>
          </a:prstGeom>
          <a:noFill/>
          <a:ln w="19050">
            <a:solidFill>
              <a:srgbClr val="9AA8BF"/>
            </a:solidFill>
            <a:prstDash val="solid"/>
          </a:ln>
        </p:spPr>
        <p:txBody>
          <a:bodyPr/>
          <a:lstStyle/>
          <a:p>
            <a:endParaRPr lang="en-US"/>
          </a:p>
        </p:txBody>
      </p:sp>
      <p:sp>
        <p:nvSpPr>
          <p:cNvPr id="14" name="Shape 11"/>
          <p:cNvSpPr/>
          <p:nvPr/>
        </p:nvSpPr>
        <p:spPr>
          <a:xfrm>
            <a:off x="2651760" y="3474720"/>
            <a:ext cx="0" cy="320040"/>
          </a:xfrm>
          <a:prstGeom prst="line">
            <a:avLst/>
          </a:prstGeom>
          <a:noFill/>
          <a:ln w="19050">
            <a:solidFill>
              <a:srgbClr val="9AA8BF"/>
            </a:solidFill>
            <a:prstDash val="solid"/>
          </a:ln>
        </p:spPr>
        <p:txBody>
          <a:bodyPr/>
          <a:lstStyle/>
          <a:p>
            <a:endParaRPr lang="en-US"/>
          </a:p>
        </p:txBody>
      </p:sp>
      <p:sp>
        <p:nvSpPr>
          <p:cNvPr id="15" name="Shape 12"/>
          <p:cNvSpPr/>
          <p:nvPr/>
        </p:nvSpPr>
        <p:spPr>
          <a:xfrm>
            <a:off x="2286000" y="1508760"/>
            <a:ext cx="731520" cy="420624"/>
          </a:xfrm>
          <a:prstGeom prst="roundRect">
            <a:avLst>
              <a:gd name="adj" fmla="val 17391"/>
            </a:avLst>
          </a:prstGeom>
          <a:solidFill>
            <a:srgbClr val="0E1726"/>
          </a:solidFill>
          <a:ln/>
        </p:spPr>
        <p:txBody>
          <a:bodyPr/>
          <a:lstStyle/>
          <a:p>
            <a:endParaRPr lang="en-US"/>
          </a:p>
        </p:txBody>
      </p:sp>
      <p:sp>
        <p:nvSpPr>
          <p:cNvPr id="16" name="Text 13"/>
          <p:cNvSpPr txBox="1"/>
          <p:nvPr/>
        </p:nvSpPr>
        <p:spPr>
          <a:xfrm>
            <a:off x="2286000" y="1508760"/>
            <a:ext cx="731520"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17" name="Shape 14"/>
          <p:cNvSpPr/>
          <p:nvPr/>
        </p:nvSpPr>
        <p:spPr>
          <a:xfrm>
            <a:off x="685800" y="2331720"/>
            <a:ext cx="1097280" cy="420624"/>
          </a:xfrm>
          <a:prstGeom prst="roundRect">
            <a:avLst>
              <a:gd name="adj" fmla="val 17391"/>
            </a:avLst>
          </a:prstGeom>
          <a:solidFill>
            <a:srgbClr val="F1F5FB"/>
          </a:solidFill>
          <a:ln/>
        </p:spPr>
        <p:txBody>
          <a:bodyPr/>
          <a:lstStyle/>
          <a:p>
            <a:endParaRPr lang="en-US"/>
          </a:p>
        </p:txBody>
      </p:sp>
      <p:sp>
        <p:nvSpPr>
          <p:cNvPr id="18" name="Text 15"/>
          <p:cNvSpPr txBox="1"/>
          <p:nvPr/>
        </p:nvSpPr>
        <p:spPr>
          <a:xfrm>
            <a:off x="685800" y="2331720"/>
            <a:ext cx="10972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etc</a:t>
            </a:r>
            <a:endParaRPr lang="en-US" sz="1400" dirty="0"/>
          </a:p>
        </p:txBody>
      </p:sp>
      <p:sp>
        <p:nvSpPr>
          <p:cNvPr id="19" name="Shape 16"/>
          <p:cNvSpPr/>
          <p:nvPr/>
        </p:nvSpPr>
        <p:spPr>
          <a:xfrm>
            <a:off x="2103120" y="2331720"/>
            <a:ext cx="1097280" cy="420624"/>
          </a:xfrm>
          <a:prstGeom prst="roundRect">
            <a:avLst>
              <a:gd name="adj" fmla="val 17391"/>
            </a:avLst>
          </a:prstGeom>
          <a:solidFill>
            <a:srgbClr val="F1F5FB"/>
          </a:solidFill>
          <a:ln/>
        </p:spPr>
        <p:txBody>
          <a:bodyPr/>
          <a:lstStyle/>
          <a:p>
            <a:endParaRPr lang="en-US"/>
          </a:p>
        </p:txBody>
      </p:sp>
      <p:sp>
        <p:nvSpPr>
          <p:cNvPr id="20" name="Text 17"/>
          <p:cNvSpPr txBox="1"/>
          <p:nvPr/>
        </p:nvSpPr>
        <p:spPr>
          <a:xfrm>
            <a:off x="2103120" y="2331720"/>
            <a:ext cx="10972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home</a:t>
            </a:r>
            <a:endParaRPr lang="en-US" sz="1400" dirty="0"/>
          </a:p>
        </p:txBody>
      </p:sp>
      <p:sp>
        <p:nvSpPr>
          <p:cNvPr id="21" name="Shape 18"/>
          <p:cNvSpPr/>
          <p:nvPr/>
        </p:nvSpPr>
        <p:spPr>
          <a:xfrm>
            <a:off x="3520440" y="2331720"/>
            <a:ext cx="1097280" cy="420624"/>
          </a:xfrm>
          <a:prstGeom prst="roundRect">
            <a:avLst>
              <a:gd name="adj" fmla="val 17391"/>
            </a:avLst>
          </a:prstGeom>
          <a:solidFill>
            <a:srgbClr val="F1F5FB"/>
          </a:solidFill>
          <a:ln/>
        </p:spPr>
        <p:txBody>
          <a:bodyPr/>
          <a:lstStyle/>
          <a:p>
            <a:endParaRPr lang="en-US"/>
          </a:p>
        </p:txBody>
      </p:sp>
      <p:sp>
        <p:nvSpPr>
          <p:cNvPr id="22" name="Text 19"/>
          <p:cNvSpPr txBox="1"/>
          <p:nvPr/>
        </p:nvSpPr>
        <p:spPr>
          <a:xfrm>
            <a:off x="3520440" y="2331720"/>
            <a:ext cx="10972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tmp</a:t>
            </a:r>
            <a:endParaRPr lang="en-US" sz="1400" dirty="0"/>
          </a:p>
        </p:txBody>
      </p:sp>
      <p:sp>
        <p:nvSpPr>
          <p:cNvPr id="23" name="Shape 20"/>
          <p:cNvSpPr/>
          <p:nvPr/>
        </p:nvSpPr>
        <p:spPr>
          <a:xfrm>
            <a:off x="1874520" y="3063240"/>
            <a:ext cx="1554480" cy="420624"/>
          </a:xfrm>
          <a:prstGeom prst="roundRect">
            <a:avLst>
              <a:gd name="adj" fmla="val 17391"/>
            </a:avLst>
          </a:prstGeom>
          <a:solidFill>
            <a:srgbClr val="F5A623"/>
          </a:solidFill>
          <a:ln/>
        </p:spPr>
        <p:txBody>
          <a:bodyPr/>
          <a:lstStyle/>
          <a:p>
            <a:endParaRPr lang="en-US"/>
          </a:p>
        </p:txBody>
      </p:sp>
      <p:sp>
        <p:nvSpPr>
          <p:cNvPr id="24" name="Text 21"/>
          <p:cNvSpPr txBox="1"/>
          <p:nvPr/>
        </p:nvSpPr>
        <p:spPr>
          <a:xfrm>
            <a:off x="1874520" y="3063240"/>
            <a:ext cx="15544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player   ~</a:t>
            </a:r>
            <a:endParaRPr lang="en-US" sz="1400" dirty="0"/>
          </a:p>
        </p:txBody>
      </p:sp>
      <p:sp>
        <p:nvSpPr>
          <p:cNvPr id="25" name="Shape 22"/>
          <p:cNvSpPr/>
          <p:nvPr/>
        </p:nvSpPr>
        <p:spPr>
          <a:xfrm>
            <a:off x="1965960" y="3794760"/>
            <a:ext cx="1371600" cy="420624"/>
          </a:xfrm>
          <a:prstGeom prst="roundRect">
            <a:avLst>
              <a:gd name="adj" fmla="val 17391"/>
            </a:avLst>
          </a:prstGeom>
          <a:solidFill>
            <a:srgbClr val="17875A"/>
          </a:solidFill>
          <a:ln/>
        </p:spPr>
        <p:txBody>
          <a:bodyPr/>
          <a:lstStyle/>
          <a:p>
            <a:endParaRPr lang="en-US"/>
          </a:p>
        </p:txBody>
      </p:sp>
      <p:sp>
        <p:nvSpPr>
          <p:cNvPr id="26" name="Text 23"/>
          <p:cNvSpPr txBox="1"/>
          <p:nvPr/>
        </p:nvSpPr>
        <p:spPr>
          <a:xfrm>
            <a:off x="1965960" y="3794760"/>
            <a:ext cx="1371600"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mission1</a:t>
            </a:r>
            <a:endParaRPr lang="en-US" sz="1400" dirty="0"/>
          </a:p>
        </p:txBody>
      </p:sp>
      <p:sp>
        <p:nvSpPr>
          <p:cNvPr id="27" name="Text 24"/>
          <p:cNvSpPr txBox="1"/>
          <p:nvPr/>
        </p:nvSpPr>
        <p:spPr>
          <a:xfrm>
            <a:off x="2757369" y="3401568"/>
            <a:ext cx="2011680" cy="457200"/>
          </a:xfrm>
          <a:prstGeom prst="rect">
            <a:avLst/>
          </a:prstGeom>
          <a:noFill/>
          <a:ln/>
        </p:spPr>
        <p:txBody>
          <a:bodyPr wrap="square" lIns="0" tIns="0" rIns="0" bIns="0" rtlCol="0" anchor="ctr"/>
          <a:lstStyle/>
          <a:p>
            <a:pPr marL="0" indent="0">
              <a:buNone/>
            </a:pPr>
            <a:r>
              <a:rPr lang="en-US" sz="1100" b="1" dirty="0">
                <a:solidFill>
                  <a:srgbClr val="56657E"/>
                </a:solidFill>
                <a:latin typeface="Courier New" pitchFamily="34" charset="0"/>
                <a:ea typeface="Courier New" pitchFamily="34" charset="-122"/>
                <a:cs typeface="Courier New" pitchFamily="34" charset="-120"/>
              </a:rPr>
              <a:t>↓ cd mission1</a:t>
            </a:r>
            <a:endParaRPr lang="en-US" sz="1100" dirty="0"/>
          </a:p>
          <a:p>
            <a:pPr marL="0" indent="0">
              <a:buNone/>
            </a:pPr>
            <a:r>
              <a:rPr lang="en-US" sz="1100" b="1" dirty="0">
                <a:solidFill>
                  <a:srgbClr val="56657E"/>
                </a:solidFill>
                <a:latin typeface="Courier New" pitchFamily="34" charset="0"/>
                <a:ea typeface="Courier New" pitchFamily="34" charset="-122"/>
                <a:cs typeface="Courier New" pitchFamily="34" charset="-120"/>
              </a:rPr>
              <a:t>↑ cd ..</a:t>
            </a:r>
            <a:endParaRPr lang="en-US" sz="1100" dirty="0"/>
          </a:p>
        </p:txBody>
      </p:sp>
      <p:sp>
        <p:nvSpPr>
          <p:cNvPr id="28" name="Shape 25"/>
          <p:cNvSpPr/>
          <p:nvPr/>
        </p:nvSpPr>
        <p:spPr>
          <a:xfrm>
            <a:off x="548640" y="4673090"/>
            <a:ext cx="1600200" cy="365760"/>
          </a:xfrm>
          <a:prstGeom prst="roundRect">
            <a:avLst>
              <a:gd name="adj" fmla="val 20000"/>
            </a:avLst>
          </a:prstGeom>
          <a:solidFill>
            <a:srgbClr val="0E1726"/>
          </a:solidFill>
          <a:ln/>
        </p:spPr>
        <p:txBody>
          <a:bodyPr/>
          <a:lstStyle/>
          <a:p>
            <a:endParaRPr lang="en-US"/>
          </a:p>
        </p:txBody>
      </p:sp>
      <p:sp>
        <p:nvSpPr>
          <p:cNvPr id="29" name="Text 26"/>
          <p:cNvSpPr txBox="1"/>
          <p:nvPr/>
        </p:nvSpPr>
        <p:spPr>
          <a:xfrm>
            <a:off x="548640" y="4673090"/>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pwd</a:t>
            </a:r>
            <a:endParaRPr lang="en-US" sz="1400" dirty="0"/>
          </a:p>
        </p:txBody>
      </p:sp>
      <p:sp>
        <p:nvSpPr>
          <p:cNvPr id="30" name="Text 27"/>
          <p:cNvSpPr txBox="1"/>
          <p:nvPr/>
        </p:nvSpPr>
        <p:spPr>
          <a:xfrm>
            <a:off x="548640" y="5038850"/>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where am I?</a:t>
            </a:r>
            <a:endParaRPr lang="en-US" sz="1200" dirty="0"/>
          </a:p>
        </p:txBody>
      </p:sp>
      <p:sp>
        <p:nvSpPr>
          <p:cNvPr id="31" name="Shape 28"/>
          <p:cNvSpPr/>
          <p:nvPr/>
        </p:nvSpPr>
        <p:spPr>
          <a:xfrm>
            <a:off x="2286000" y="4673090"/>
            <a:ext cx="1600200" cy="365760"/>
          </a:xfrm>
          <a:prstGeom prst="roundRect">
            <a:avLst>
              <a:gd name="adj" fmla="val 20000"/>
            </a:avLst>
          </a:prstGeom>
          <a:solidFill>
            <a:srgbClr val="0E1726"/>
          </a:solidFill>
          <a:ln/>
        </p:spPr>
        <p:txBody>
          <a:bodyPr/>
          <a:lstStyle/>
          <a:p>
            <a:endParaRPr lang="en-US"/>
          </a:p>
        </p:txBody>
      </p:sp>
      <p:sp>
        <p:nvSpPr>
          <p:cNvPr id="32" name="Text 29"/>
          <p:cNvSpPr txBox="1"/>
          <p:nvPr/>
        </p:nvSpPr>
        <p:spPr>
          <a:xfrm>
            <a:off x="2286000" y="4673090"/>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ls</a:t>
            </a:r>
            <a:endParaRPr lang="en-US" sz="1400" dirty="0"/>
          </a:p>
        </p:txBody>
      </p:sp>
      <p:sp>
        <p:nvSpPr>
          <p:cNvPr id="33" name="Text 30"/>
          <p:cNvSpPr txBox="1"/>
          <p:nvPr/>
        </p:nvSpPr>
        <p:spPr>
          <a:xfrm>
            <a:off x="2286000" y="5038850"/>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what's here?</a:t>
            </a:r>
            <a:endParaRPr lang="en-US" sz="1200" dirty="0"/>
          </a:p>
        </p:txBody>
      </p:sp>
      <p:sp>
        <p:nvSpPr>
          <p:cNvPr id="34" name="Shape 31"/>
          <p:cNvSpPr/>
          <p:nvPr/>
        </p:nvSpPr>
        <p:spPr>
          <a:xfrm>
            <a:off x="4023360" y="4673090"/>
            <a:ext cx="1600200" cy="365760"/>
          </a:xfrm>
          <a:prstGeom prst="roundRect">
            <a:avLst>
              <a:gd name="adj" fmla="val 20000"/>
            </a:avLst>
          </a:prstGeom>
          <a:solidFill>
            <a:srgbClr val="0E1726"/>
          </a:solidFill>
          <a:ln/>
        </p:spPr>
        <p:txBody>
          <a:bodyPr/>
          <a:lstStyle/>
          <a:p>
            <a:endParaRPr lang="en-US"/>
          </a:p>
        </p:txBody>
      </p:sp>
      <p:sp>
        <p:nvSpPr>
          <p:cNvPr id="35" name="Text 32"/>
          <p:cNvSpPr txBox="1"/>
          <p:nvPr/>
        </p:nvSpPr>
        <p:spPr>
          <a:xfrm>
            <a:off x="4023360" y="4673090"/>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cd NAME</a:t>
            </a:r>
            <a:endParaRPr lang="en-US" sz="1400" dirty="0"/>
          </a:p>
        </p:txBody>
      </p:sp>
      <p:sp>
        <p:nvSpPr>
          <p:cNvPr id="36" name="Text 33"/>
          <p:cNvSpPr txBox="1"/>
          <p:nvPr/>
        </p:nvSpPr>
        <p:spPr>
          <a:xfrm>
            <a:off x="4023360" y="5038850"/>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go in</a:t>
            </a:r>
            <a:endParaRPr lang="en-US" sz="1200" dirty="0"/>
          </a:p>
        </p:txBody>
      </p:sp>
      <p:sp>
        <p:nvSpPr>
          <p:cNvPr id="37" name="Shape 34"/>
          <p:cNvSpPr/>
          <p:nvPr/>
        </p:nvSpPr>
        <p:spPr>
          <a:xfrm>
            <a:off x="548640" y="5386322"/>
            <a:ext cx="1600200" cy="365760"/>
          </a:xfrm>
          <a:prstGeom prst="roundRect">
            <a:avLst>
              <a:gd name="adj" fmla="val 20000"/>
            </a:avLst>
          </a:prstGeom>
          <a:solidFill>
            <a:srgbClr val="0E1726"/>
          </a:solidFill>
          <a:ln/>
        </p:spPr>
        <p:txBody>
          <a:bodyPr/>
          <a:lstStyle/>
          <a:p>
            <a:endParaRPr lang="en-US"/>
          </a:p>
        </p:txBody>
      </p:sp>
      <p:sp>
        <p:nvSpPr>
          <p:cNvPr id="38" name="Text 35"/>
          <p:cNvSpPr txBox="1"/>
          <p:nvPr/>
        </p:nvSpPr>
        <p:spPr>
          <a:xfrm>
            <a:off x="548640" y="5386322"/>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cd ..</a:t>
            </a:r>
            <a:endParaRPr lang="en-US" sz="1400" dirty="0"/>
          </a:p>
        </p:txBody>
      </p:sp>
      <p:sp>
        <p:nvSpPr>
          <p:cNvPr id="39" name="Text 36"/>
          <p:cNvSpPr txBox="1"/>
          <p:nvPr/>
        </p:nvSpPr>
        <p:spPr>
          <a:xfrm>
            <a:off x="548640" y="5752082"/>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go up</a:t>
            </a:r>
            <a:endParaRPr lang="en-US" sz="1200" dirty="0"/>
          </a:p>
        </p:txBody>
      </p:sp>
      <p:sp>
        <p:nvSpPr>
          <p:cNvPr id="40" name="Shape 37"/>
          <p:cNvSpPr/>
          <p:nvPr/>
        </p:nvSpPr>
        <p:spPr>
          <a:xfrm>
            <a:off x="2286000" y="5386322"/>
            <a:ext cx="1600200" cy="365760"/>
          </a:xfrm>
          <a:prstGeom prst="roundRect">
            <a:avLst>
              <a:gd name="adj" fmla="val 20000"/>
            </a:avLst>
          </a:prstGeom>
          <a:solidFill>
            <a:srgbClr val="0E1726"/>
          </a:solidFill>
          <a:ln/>
        </p:spPr>
        <p:txBody>
          <a:bodyPr/>
          <a:lstStyle/>
          <a:p>
            <a:endParaRPr lang="en-US"/>
          </a:p>
        </p:txBody>
      </p:sp>
      <p:sp>
        <p:nvSpPr>
          <p:cNvPr id="41" name="Text 38"/>
          <p:cNvSpPr txBox="1"/>
          <p:nvPr/>
        </p:nvSpPr>
        <p:spPr>
          <a:xfrm>
            <a:off x="2286000" y="5386322"/>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cd ~</a:t>
            </a:r>
            <a:endParaRPr lang="en-US" sz="1400" dirty="0"/>
          </a:p>
        </p:txBody>
      </p:sp>
      <p:sp>
        <p:nvSpPr>
          <p:cNvPr id="42" name="Text 39"/>
          <p:cNvSpPr txBox="1"/>
          <p:nvPr/>
        </p:nvSpPr>
        <p:spPr>
          <a:xfrm>
            <a:off x="2286000" y="5752082"/>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go home</a:t>
            </a:r>
            <a:endParaRPr lang="en-US" sz="1200" dirty="0"/>
          </a:p>
        </p:txBody>
      </p:sp>
      <p:sp>
        <p:nvSpPr>
          <p:cNvPr id="43" name="Shape 40"/>
          <p:cNvSpPr/>
          <p:nvPr/>
        </p:nvSpPr>
        <p:spPr>
          <a:xfrm>
            <a:off x="5669280" y="1463040"/>
            <a:ext cx="5943600" cy="4480560"/>
          </a:xfrm>
          <a:prstGeom prst="roundRect">
            <a:avLst>
              <a:gd name="adj" fmla="val 204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44" name="Shape 41"/>
          <p:cNvSpPr/>
          <p:nvPr/>
        </p:nvSpPr>
        <p:spPr>
          <a:xfrm>
            <a:off x="5870448" y="1618488"/>
            <a:ext cx="118872" cy="118872"/>
          </a:xfrm>
          <a:prstGeom prst="ellipse">
            <a:avLst/>
          </a:prstGeom>
          <a:solidFill>
            <a:srgbClr val="E5534B"/>
          </a:solidFill>
          <a:ln/>
        </p:spPr>
        <p:txBody>
          <a:bodyPr/>
          <a:lstStyle/>
          <a:p>
            <a:endParaRPr lang="en-US"/>
          </a:p>
        </p:txBody>
      </p:sp>
      <p:sp>
        <p:nvSpPr>
          <p:cNvPr id="45" name="Shape 42"/>
          <p:cNvSpPr/>
          <p:nvPr/>
        </p:nvSpPr>
        <p:spPr>
          <a:xfrm>
            <a:off x="6071616" y="1618488"/>
            <a:ext cx="118872" cy="118872"/>
          </a:xfrm>
          <a:prstGeom prst="ellipse">
            <a:avLst/>
          </a:prstGeom>
          <a:solidFill>
            <a:srgbClr val="F5A623"/>
          </a:solidFill>
          <a:ln/>
        </p:spPr>
        <p:txBody>
          <a:bodyPr/>
          <a:lstStyle/>
          <a:p>
            <a:endParaRPr lang="en-US"/>
          </a:p>
        </p:txBody>
      </p:sp>
      <p:sp>
        <p:nvSpPr>
          <p:cNvPr id="46" name="Shape 43"/>
          <p:cNvSpPr/>
          <p:nvPr/>
        </p:nvSpPr>
        <p:spPr>
          <a:xfrm>
            <a:off x="6272784" y="1618488"/>
            <a:ext cx="118872" cy="118872"/>
          </a:xfrm>
          <a:prstGeom prst="ellipse">
            <a:avLst/>
          </a:prstGeom>
          <a:solidFill>
            <a:srgbClr val="46D39A"/>
          </a:solidFill>
          <a:ln/>
        </p:spPr>
        <p:txBody>
          <a:bodyPr/>
          <a:lstStyle/>
          <a:p>
            <a:endParaRPr lang="en-US"/>
          </a:p>
        </p:txBody>
      </p:sp>
      <p:sp>
        <p:nvSpPr>
          <p:cNvPr id="47" name="Text 44"/>
          <p:cNvSpPr txBox="1"/>
          <p:nvPr/>
        </p:nvSpPr>
        <p:spPr>
          <a:xfrm>
            <a:off x="5943600" y="1920240"/>
            <a:ext cx="5394960" cy="388620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/home/player</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/etc</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/etc</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a:t>
            </a:r>
            <a:r>
              <a:rPr lang="en-US" sz="1500" dirty="0">
                <a:solidFill>
                  <a:srgbClr val="7F8FAD"/>
                </a:solidFill>
                <a:latin typeface="Courier New" pitchFamily="34" charset="0"/>
                <a:ea typeface="Courier New" pitchFamily="34" charset="-122"/>
                <a:cs typeface="Courier New" pitchFamily="34" charset="-120"/>
              </a:rPr>
              <a:t>   # up one level</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a:t>
            </a:r>
            <a:r>
              <a:rPr lang="en-US" sz="1500" dirty="0">
                <a:solidFill>
                  <a:srgbClr val="7F8FAD"/>
                </a:solidFill>
                <a:latin typeface="Courier New" pitchFamily="34" charset="0"/>
                <a:ea typeface="Courier New" pitchFamily="34" charset="-122"/>
                <a:cs typeface="Courier New" pitchFamily="34" charset="-120"/>
              </a:rPr>
              <a:t>   # home again</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a:t>
            </a:r>
            <a:r>
              <a:rPr lang="en-US" sz="1500" dirty="0">
                <a:solidFill>
                  <a:srgbClr val="7F8FAD"/>
                </a:solidFill>
                <a:latin typeface="Courier New" pitchFamily="34" charset="0"/>
                <a:ea typeface="Courier New" pitchFamily="34" charset="-122"/>
                <a:cs typeface="Courier New" pitchFamily="34" charset="-120"/>
              </a:rPr>
              <a:t>   # folders show in blue</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Looking inside folders: ls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-a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19</a:t>
            </a:r>
            <a:endParaRPr lang="en-US" sz="1000" dirty="0"/>
          </a:p>
        </p:txBody>
      </p:sp>
      <p:sp>
        <p:nvSpPr>
          <p:cNvPr id="10" name="Shape 7"/>
          <p:cNvSpPr/>
          <p:nvPr/>
        </p:nvSpPr>
        <p:spPr>
          <a:xfrm>
            <a:off x="548640" y="1645920"/>
            <a:ext cx="173736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a:t>
            </a:r>
            <a:endParaRPr lang="en-US" sz="1500" dirty="0"/>
          </a:p>
        </p:txBody>
      </p:sp>
      <p:sp>
        <p:nvSpPr>
          <p:cNvPr id="12" name="Text 9"/>
          <p:cNvSpPr txBox="1"/>
          <p:nvPr/>
        </p:nvSpPr>
        <p:spPr>
          <a:xfrm>
            <a:off x="2514600" y="164592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what is in this folder?</a:t>
            </a:r>
            <a:endParaRPr lang="en-US" sz="1700" dirty="0"/>
          </a:p>
        </p:txBody>
      </p:sp>
      <p:sp>
        <p:nvSpPr>
          <p:cNvPr id="13" name="Shape 10"/>
          <p:cNvSpPr/>
          <p:nvPr/>
        </p:nvSpPr>
        <p:spPr>
          <a:xfrm>
            <a:off x="548640" y="2423160"/>
            <a:ext cx="173736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PATH</a:t>
            </a:r>
            <a:endParaRPr lang="en-US" sz="1500" dirty="0"/>
          </a:p>
        </p:txBody>
      </p:sp>
      <p:sp>
        <p:nvSpPr>
          <p:cNvPr id="15" name="Text 12"/>
          <p:cNvSpPr txBox="1"/>
          <p:nvPr/>
        </p:nvSpPr>
        <p:spPr>
          <a:xfrm>
            <a:off x="2514600" y="242316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look somewhere else, without moving</a:t>
            </a:r>
            <a:endParaRPr lang="en-US" sz="1700" dirty="0"/>
          </a:p>
        </p:txBody>
      </p:sp>
      <p:sp>
        <p:nvSpPr>
          <p:cNvPr id="16" name="Shape 13"/>
          <p:cNvSpPr/>
          <p:nvPr/>
        </p:nvSpPr>
        <p:spPr>
          <a:xfrm>
            <a:off x="548640" y="3200400"/>
            <a:ext cx="173736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-a</a:t>
            </a:r>
            <a:endParaRPr lang="en-US" sz="1500" dirty="0"/>
          </a:p>
        </p:txBody>
      </p:sp>
      <p:sp>
        <p:nvSpPr>
          <p:cNvPr id="18" name="Text 15"/>
          <p:cNvSpPr txBox="1"/>
          <p:nvPr/>
        </p:nvSpPr>
        <p:spPr>
          <a:xfrm>
            <a:off x="2514600" y="320040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all, including hidden dot files</a:t>
            </a:r>
            <a:endParaRPr lang="en-US" sz="1700" dirty="0"/>
          </a:p>
        </p:txBody>
      </p:sp>
      <p:sp>
        <p:nvSpPr>
          <p:cNvPr id="19" name="Shape 16"/>
          <p:cNvSpPr/>
          <p:nvPr/>
        </p:nvSpPr>
        <p:spPr>
          <a:xfrm>
            <a:off x="548640" y="3977640"/>
            <a:ext cx="173736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-l</a:t>
            </a:r>
            <a:endParaRPr lang="en-US" sz="1500" dirty="0"/>
          </a:p>
        </p:txBody>
      </p:sp>
      <p:sp>
        <p:nvSpPr>
          <p:cNvPr id="21" name="Text 18"/>
          <p:cNvSpPr txBox="1"/>
          <p:nvPr/>
        </p:nvSpPr>
        <p:spPr>
          <a:xfrm>
            <a:off x="2514600" y="397764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long: type, permissions, owner, size</a:t>
            </a:r>
            <a:endParaRPr lang="en-US" sz="1700" dirty="0"/>
          </a:p>
        </p:txBody>
      </p:sp>
      <p:sp>
        <p:nvSpPr>
          <p:cNvPr id="22" name="Shape 19"/>
          <p:cNvSpPr/>
          <p:nvPr/>
        </p:nvSpPr>
        <p:spPr>
          <a:xfrm>
            <a:off x="548640" y="4892040"/>
            <a:ext cx="5394960" cy="1005840"/>
          </a:xfrm>
          <a:prstGeom prst="roundRect">
            <a:avLst>
              <a:gd name="adj" fmla="val 9091"/>
            </a:avLst>
          </a:prstGeom>
          <a:solidFill>
            <a:srgbClr val="FFF4DC"/>
          </a:solidFill>
          <a:ln/>
        </p:spPr>
        <p:txBody>
          <a:bodyPr/>
          <a:lstStyle/>
          <a:p>
            <a:endParaRPr lang="en-US"/>
          </a:p>
        </p:txBody>
      </p:sp>
      <p:sp>
        <p:nvSpPr>
          <p:cNvPr id="23" name="Text 20"/>
          <p:cNvSpPr txBox="1"/>
          <p:nvPr/>
        </p:nvSpPr>
        <p:spPr>
          <a:xfrm>
            <a:off x="822960" y="4892040"/>
            <a:ext cx="4846320" cy="100584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Hidden is not secret. </a:t>
            </a:r>
            <a:r>
              <a:rPr lang="en-US" sz="1700" dirty="0">
                <a:solidFill>
                  <a:srgbClr val="12213A"/>
                </a:solidFill>
                <a:latin typeface="Calibri" pitchFamily="34" charset="0"/>
                <a:ea typeface="Calibri" pitchFamily="34" charset="-122"/>
                <a:cs typeface="Calibri" pitchFamily="34" charset="-120"/>
              </a:rPr>
              <a:t>A dot at the start of a name just tells ls to skip it.</a:t>
            </a:r>
            <a:endParaRPr lang="en-US" sz="1700" dirty="0"/>
          </a:p>
        </p:txBody>
      </p:sp>
      <p:sp>
        <p:nvSpPr>
          <p:cNvPr id="24" name="Shape 21"/>
          <p:cNvSpPr/>
          <p:nvPr/>
        </p:nvSpPr>
        <p:spPr>
          <a:xfrm>
            <a:off x="6400800" y="1463040"/>
            <a:ext cx="521208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601968" y="1618488"/>
            <a:ext cx="118872" cy="118872"/>
          </a:xfrm>
          <a:prstGeom prst="ellipse">
            <a:avLst/>
          </a:prstGeom>
          <a:solidFill>
            <a:srgbClr val="E5534B"/>
          </a:solidFill>
          <a:ln/>
        </p:spPr>
        <p:txBody>
          <a:bodyPr/>
          <a:lstStyle/>
          <a:p>
            <a:endParaRPr lang="en-US"/>
          </a:p>
        </p:txBody>
      </p:sp>
      <p:sp>
        <p:nvSpPr>
          <p:cNvPr id="26" name="Shape 23"/>
          <p:cNvSpPr/>
          <p:nvPr/>
        </p:nvSpPr>
        <p:spPr>
          <a:xfrm>
            <a:off x="6803136" y="1618488"/>
            <a:ext cx="118872" cy="118872"/>
          </a:xfrm>
          <a:prstGeom prst="ellipse">
            <a:avLst/>
          </a:prstGeom>
          <a:solidFill>
            <a:srgbClr val="F5A623"/>
          </a:solidFill>
          <a:ln/>
        </p:spPr>
        <p:txBody>
          <a:bodyPr/>
          <a:lstStyle/>
          <a:p>
            <a:endParaRPr lang="en-US"/>
          </a:p>
        </p:txBody>
      </p:sp>
      <p:sp>
        <p:nvSpPr>
          <p:cNvPr id="27" name="Shape 24"/>
          <p:cNvSpPr/>
          <p:nvPr/>
        </p:nvSpPr>
        <p:spPr>
          <a:xfrm>
            <a:off x="7004304" y="1618488"/>
            <a:ext cx="118872" cy="118872"/>
          </a:xfrm>
          <a:prstGeom prst="ellipse">
            <a:avLst/>
          </a:prstGeom>
          <a:solidFill>
            <a:srgbClr val="46D39A"/>
          </a:solidFill>
          <a:ln/>
        </p:spPr>
        <p:txBody>
          <a:bodyPr/>
          <a:lstStyle/>
          <a:p>
            <a:endParaRPr lang="en-US"/>
          </a:p>
        </p:txBody>
      </p:sp>
      <p:sp>
        <p:nvSpPr>
          <p:cNvPr id="28" name="Text 25"/>
          <p:cNvSpPr txBox="1"/>
          <p:nvPr/>
        </p:nvSpPr>
        <p:spPr>
          <a:xfrm>
            <a:off x="7315200" y="1536192"/>
            <a:ext cx="33832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names starting with a dot are hidden</a:t>
            </a:r>
            <a:endParaRPr lang="en-US" sz="1000" dirty="0"/>
          </a:p>
        </p:txBody>
      </p:sp>
      <p:sp>
        <p:nvSpPr>
          <p:cNvPr id="29" name="Text 26"/>
          <p:cNvSpPr txBox="1"/>
          <p:nvPr/>
        </p:nvSpPr>
        <p:spPr>
          <a:xfrm>
            <a:off x="6675120" y="1920240"/>
            <a:ext cx="4663440" cy="3840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-a ~</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  ..  .profile</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/home</a:t>
            </a:r>
            <a:r>
              <a:rPr lang="en-US" sz="1500" dirty="0">
                <a:solidFill>
                  <a:srgbClr val="7F8FAD"/>
                </a:solidFill>
                <a:latin typeface="Courier New" pitchFamily="34" charset="0"/>
                <a:ea typeface="Courier New" pitchFamily="34" charset="-122"/>
                <a:cs typeface="Courier New" pitchFamily="34" charset="-120"/>
              </a:rPr>
              <a:t>   # look without moving</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player</a:t>
            </a:r>
            <a:endParaRPr lang="en-US" sz="15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Looking inside files: cat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cat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20</a:t>
            </a:r>
            <a:endParaRPr lang="en-US" sz="1000" dirty="0"/>
          </a:p>
        </p:txBody>
      </p:sp>
      <p:sp>
        <p:nvSpPr>
          <p:cNvPr id="10" name="Shape 7"/>
          <p:cNvSpPr/>
          <p:nvPr/>
        </p:nvSpPr>
        <p:spPr>
          <a:xfrm>
            <a:off x="548640" y="1645920"/>
            <a:ext cx="237744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cat file</a:t>
            </a:r>
            <a:endParaRPr lang="en-US" sz="1500" dirty="0"/>
          </a:p>
        </p:txBody>
      </p:sp>
      <p:sp>
        <p:nvSpPr>
          <p:cNvPr id="12" name="Text 9"/>
          <p:cNvSpPr txBox="1"/>
          <p:nvPr/>
        </p:nvSpPr>
        <p:spPr>
          <a:xfrm>
            <a:off x="3154680" y="164592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print the whole file</a:t>
            </a:r>
            <a:endParaRPr lang="en-US" sz="1700" dirty="0"/>
          </a:p>
        </p:txBody>
      </p:sp>
      <p:sp>
        <p:nvSpPr>
          <p:cNvPr id="13" name="Shape 10"/>
          <p:cNvSpPr/>
          <p:nvPr/>
        </p:nvSpPr>
        <p:spPr>
          <a:xfrm>
            <a:off x="548640" y="2423160"/>
            <a:ext cx="237744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head -3 file</a:t>
            </a:r>
            <a:endParaRPr lang="en-US" sz="1500" dirty="0"/>
          </a:p>
        </p:txBody>
      </p:sp>
      <p:sp>
        <p:nvSpPr>
          <p:cNvPr id="15" name="Text 12"/>
          <p:cNvSpPr txBox="1"/>
          <p:nvPr/>
        </p:nvSpPr>
        <p:spPr>
          <a:xfrm>
            <a:off x="3154680" y="24231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only the first 3 lines</a:t>
            </a:r>
            <a:endParaRPr lang="en-US" sz="1700" dirty="0"/>
          </a:p>
        </p:txBody>
      </p:sp>
      <p:sp>
        <p:nvSpPr>
          <p:cNvPr id="16" name="Shape 13"/>
          <p:cNvSpPr/>
          <p:nvPr/>
        </p:nvSpPr>
        <p:spPr>
          <a:xfrm>
            <a:off x="548640" y="3200400"/>
            <a:ext cx="237744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wc -l file</a:t>
            </a:r>
            <a:endParaRPr lang="en-US" sz="1500" dirty="0"/>
          </a:p>
        </p:txBody>
      </p:sp>
      <p:sp>
        <p:nvSpPr>
          <p:cNvPr id="18" name="Text 15"/>
          <p:cNvSpPr txBox="1"/>
          <p:nvPr/>
        </p:nvSpPr>
        <p:spPr>
          <a:xfrm>
            <a:off x="3154680" y="320040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count the lines</a:t>
            </a:r>
            <a:endParaRPr lang="en-US" sz="1700" dirty="0"/>
          </a:p>
        </p:txBody>
      </p:sp>
      <p:sp>
        <p:nvSpPr>
          <p:cNvPr id="19" name="Shape 16"/>
          <p:cNvSpPr/>
          <p:nvPr/>
        </p:nvSpPr>
        <p:spPr>
          <a:xfrm>
            <a:off x="548640" y="3977640"/>
            <a:ext cx="23774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less file</a:t>
            </a:r>
            <a:endParaRPr lang="en-US" sz="1500" dirty="0"/>
          </a:p>
        </p:txBody>
      </p:sp>
      <p:sp>
        <p:nvSpPr>
          <p:cNvPr id="21" name="Text 18"/>
          <p:cNvSpPr txBox="1"/>
          <p:nvPr/>
        </p:nvSpPr>
        <p:spPr>
          <a:xfrm>
            <a:off x="3154680" y="39776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scroll through it (q quits)</a:t>
            </a:r>
            <a:endParaRPr lang="en-US" sz="1700" dirty="0"/>
          </a:p>
        </p:txBody>
      </p:sp>
      <p:sp>
        <p:nvSpPr>
          <p:cNvPr id="22" name="Shape 19"/>
          <p:cNvSpPr/>
          <p:nvPr/>
        </p:nvSpPr>
        <p:spPr>
          <a:xfrm>
            <a:off x="548640" y="4892040"/>
            <a:ext cx="5394960" cy="1005840"/>
          </a:xfrm>
          <a:prstGeom prst="roundRect">
            <a:avLst>
              <a:gd name="adj" fmla="val 9091"/>
            </a:avLst>
          </a:prstGeom>
          <a:solidFill>
            <a:srgbClr val="FFF4DC"/>
          </a:solidFill>
          <a:ln/>
        </p:spPr>
        <p:txBody>
          <a:bodyPr/>
          <a:lstStyle/>
          <a:p>
            <a:endParaRPr lang="en-US"/>
          </a:p>
        </p:txBody>
      </p:sp>
      <p:sp>
        <p:nvSpPr>
          <p:cNvPr id="23" name="Text 20"/>
          <p:cNvSpPr txBox="1"/>
          <p:nvPr/>
        </p:nvSpPr>
        <p:spPr>
          <a:xfrm>
            <a:off x="822960" y="4892040"/>
            <a:ext cx="4846320" cy="100584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Stuck inside less? </a:t>
            </a:r>
            <a:r>
              <a:rPr lang="en-US" sz="1700" dirty="0">
                <a:solidFill>
                  <a:srgbClr val="12213A"/>
                </a:solidFill>
                <a:latin typeface="Calibri" pitchFamily="34" charset="0"/>
                <a:ea typeface="Calibri" pitchFamily="34" charset="-122"/>
                <a:cs typeface="Calibri" pitchFamily="34" charset="-120"/>
              </a:rPr>
              <a:t>Press q. Stuck anywhere else? Press Ctrl+C.</a:t>
            </a:r>
            <a:endParaRPr lang="en-US" sz="1700" dirty="0"/>
          </a:p>
        </p:txBody>
      </p:sp>
      <p:sp>
        <p:nvSpPr>
          <p:cNvPr id="24" name="Shape 21"/>
          <p:cNvSpPr/>
          <p:nvPr/>
        </p:nvSpPr>
        <p:spPr>
          <a:xfrm>
            <a:off x="6400800" y="1463040"/>
            <a:ext cx="521208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601968" y="1618488"/>
            <a:ext cx="118872" cy="118872"/>
          </a:xfrm>
          <a:prstGeom prst="ellipse">
            <a:avLst/>
          </a:prstGeom>
          <a:solidFill>
            <a:srgbClr val="E5534B"/>
          </a:solidFill>
          <a:ln/>
        </p:spPr>
        <p:txBody>
          <a:bodyPr/>
          <a:lstStyle/>
          <a:p>
            <a:endParaRPr lang="en-US"/>
          </a:p>
        </p:txBody>
      </p:sp>
      <p:sp>
        <p:nvSpPr>
          <p:cNvPr id="26" name="Shape 23"/>
          <p:cNvSpPr/>
          <p:nvPr/>
        </p:nvSpPr>
        <p:spPr>
          <a:xfrm>
            <a:off x="6803136" y="1618488"/>
            <a:ext cx="118872" cy="118872"/>
          </a:xfrm>
          <a:prstGeom prst="ellipse">
            <a:avLst/>
          </a:prstGeom>
          <a:solidFill>
            <a:srgbClr val="F5A623"/>
          </a:solidFill>
          <a:ln/>
        </p:spPr>
        <p:txBody>
          <a:bodyPr/>
          <a:lstStyle/>
          <a:p>
            <a:endParaRPr lang="en-US"/>
          </a:p>
        </p:txBody>
      </p:sp>
      <p:sp>
        <p:nvSpPr>
          <p:cNvPr id="27" name="Shape 24"/>
          <p:cNvSpPr/>
          <p:nvPr/>
        </p:nvSpPr>
        <p:spPr>
          <a:xfrm>
            <a:off x="7004304" y="1618488"/>
            <a:ext cx="118872" cy="118872"/>
          </a:xfrm>
          <a:prstGeom prst="ellipse">
            <a:avLst/>
          </a:prstGeom>
          <a:solidFill>
            <a:srgbClr val="46D39A"/>
          </a:solidFill>
          <a:ln/>
        </p:spPr>
        <p:txBody>
          <a:bodyPr/>
          <a:lstStyle/>
          <a:p>
            <a:endParaRPr lang="en-US"/>
          </a:p>
        </p:txBody>
      </p:sp>
      <p:sp>
        <p:nvSpPr>
          <p:cNvPr id="28" name="Text 25"/>
          <p:cNvSpPr txBox="1"/>
          <p:nvPr/>
        </p:nvSpPr>
        <p:spPr>
          <a:xfrm>
            <a:off x="6675120" y="1920240"/>
            <a:ext cx="4663440" cy="3840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cat /etc/passwd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root:x:0:0:root:/root:/bin/sh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player:x:1000:1000:player:</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/home/player:/bin/sh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wc -l /etc/passwd</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2 /etc/passwd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head -1 /etc/passwd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root:x:0:0:root:/root:/bin/sh</a:t>
            </a:r>
            <a:endParaRPr lang="en-US" sz="15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Who can do what: ls -l and chmod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-l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21</a:t>
            </a:r>
            <a:endParaRPr lang="en-US" sz="1000" dirty="0"/>
          </a:p>
        </p:txBody>
      </p:sp>
      <p:sp>
        <p:nvSpPr>
          <p:cNvPr id="10" name="Shape 7"/>
          <p:cNvSpPr/>
          <p:nvPr/>
        </p:nvSpPr>
        <p:spPr>
          <a:xfrm>
            <a:off x="548640" y="1645920"/>
            <a:ext cx="237744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-l</a:t>
            </a:r>
            <a:endParaRPr lang="en-US" sz="1500" dirty="0"/>
          </a:p>
        </p:txBody>
      </p:sp>
      <p:sp>
        <p:nvSpPr>
          <p:cNvPr id="12" name="Text 9"/>
          <p:cNvSpPr txBox="1"/>
          <p:nvPr/>
        </p:nvSpPr>
        <p:spPr>
          <a:xfrm>
            <a:off x="3154680" y="164592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show permissions</a:t>
            </a:r>
            <a:endParaRPr lang="en-US" sz="1700" dirty="0"/>
          </a:p>
        </p:txBody>
      </p:sp>
      <p:sp>
        <p:nvSpPr>
          <p:cNvPr id="13" name="Shape 10"/>
          <p:cNvSpPr/>
          <p:nvPr/>
        </p:nvSpPr>
        <p:spPr>
          <a:xfrm>
            <a:off x="548640" y="2423160"/>
            <a:ext cx="237744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chmod +x file</a:t>
            </a:r>
            <a:endParaRPr lang="en-US" sz="1500" dirty="0"/>
          </a:p>
        </p:txBody>
      </p:sp>
      <p:sp>
        <p:nvSpPr>
          <p:cNvPr id="15" name="Text 12"/>
          <p:cNvSpPr txBox="1"/>
          <p:nvPr/>
        </p:nvSpPr>
        <p:spPr>
          <a:xfrm>
            <a:off x="3154680" y="24231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add execute (run)</a:t>
            </a:r>
            <a:endParaRPr lang="en-US" sz="1700" dirty="0"/>
          </a:p>
        </p:txBody>
      </p:sp>
      <p:sp>
        <p:nvSpPr>
          <p:cNvPr id="16" name="Shape 13"/>
          <p:cNvSpPr/>
          <p:nvPr/>
        </p:nvSpPr>
        <p:spPr>
          <a:xfrm>
            <a:off x="548640" y="3200400"/>
            <a:ext cx="237744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chmod -w file</a:t>
            </a:r>
            <a:endParaRPr lang="en-US" sz="1500" dirty="0"/>
          </a:p>
        </p:txBody>
      </p:sp>
      <p:sp>
        <p:nvSpPr>
          <p:cNvPr id="18" name="Text 15"/>
          <p:cNvSpPr txBox="1"/>
          <p:nvPr/>
        </p:nvSpPr>
        <p:spPr>
          <a:xfrm>
            <a:off x="3154680" y="320040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take away write</a:t>
            </a:r>
            <a:endParaRPr lang="en-US" sz="1700" dirty="0"/>
          </a:p>
        </p:txBody>
      </p:sp>
      <p:sp>
        <p:nvSpPr>
          <p:cNvPr id="19" name="Shape 16"/>
          <p:cNvSpPr/>
          <p:nvPr/>
        </p:nvSpPr>
        <p:spPr>
          <a:xfrm>
            <a:off x="548640" y="3977640"/>
            <a:ext cx="23774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./file</a:t>
            </a:r>
            <a:endParaRPr lang="en-US" sz="1500" dirty="0"/>
          </a:p>
        </p:txBody>
      </p:sp>
      <p:sp>
        <p:nvSpPr>
          <p:cNvPr id="21" name="Text 18"/>
          <p:cNvSpPr txBox="1"/>
          <p:nvPr/>
        </p:nvSpPr>
        <p:spPr>
          <a:xfrm>
            <a:off x="3154680" y="39776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run a script in this folder</a:t>
            </a:r>
            <a:endParaRPr lang="en-US" sz="1700" dirty="0"/>
          </a:p>
        </p:txBody>
      </p:sp>
      <p:sp>
        <p:nvSpPr>
          <p:cNvPr id="22" name="Shape 19"/>
          <p:cNvSpPr/>
          <p:nvPr/>
        </p:nvSpPr>
        <p:spPr>
          <a:xfrm>
            <a:off x="548640" y="4846320"/>
            <a:ext cx="5394960" cy="1097280"/>
          </a:xfrm>
          <a:prstGeom prst="roundRect">
            <a:avLst>
              <a:gd name="adj" fmla="val 8333"/>
            </a:avLst>
          </a:prstGeom>
          <a:solidFill>
            <a:srgbClr val="F1F5FB"/>
          </a:solidFill>
          <a:ln/>
        </p:spPr>
        <p:txBody>
          <a:bodyPr/>
          <a:lstStyle/>
          <a:p>
            <a:endParaRPr lang="en-US"/>
          </a:p>
        </p:txBody>
      </p:sp>
      <p:sp>
        <p:nvSpPr>
          <p:cNvPr id="23" name="Text 20"/>
          <p:cNvSpPr txBox="1"/>
          <p:nvPr/>
        </p:nvSpPr>
        <p:spPr>
          <a:xfrm>
            <a:off x="822960" y="4919472"/>
            <a:ext cx="2926080" cy="457200"/>
          </a:xfrm>
          <a:prstGeom prst="rect">
            <a:avLst/>
          </a:prstGeom>
          <a:noFill/>
          <a:ln/>
        </p:spPr>
        <p:txBody>
          <a:bodyPr wrap="square" lIns="0" tIns="0" rIns="0" bIns="0" rtlCol="0" anchor="t"/>
          <a:lstStyle/>
          <a:p>
            <a:pPr marL="0" indent="0">
              <a:buNone/>
            </a:pPr>
            <a:r>
              <a:rPr lang="en-US" sz="2200" b="1" dirty="0">
                <a:solidFill>
                  <a:srgbClr val="12213A"/>
                </a:solidFill>
                <a:latin typeface="Courier New" pitchFamily="34" charset="0"/>
                <a:ea typeface="Courier New" pitchFamily="34" charset="-122"/>
                <a:cs typeface="Courier New" pitchFamily="34" charset="-120"/>
              </a:rPr>
              <a:t>-  rwx  r-x  r-x</a:t>
            </a:r>
            <a:endParaRPr lang="en-US" sz="2200" dirty="0"/>
          </a:p>
        </p:txBody>
      </p:sp>
      <p:sp>
        <p:nvSpPr>
          <p:cNvPr id="24" name="Text 21"/>
          <p:cNvSpPr txBox="1"/>
          <p:nvPr/>
        </p:nvSpPr>
        <p:spPr>
          <a:xfrm>
            <a:off x="822960" y="5376672"/>
            <a:ext cx="329184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type      owner           group          everyone</a:t>
            </a:r>
            <a:endParaRPr lang="en-US" sz="1300" dirty="0"/>
          </a:p>
        </p:txBody>
      </p:sp>
      <p:sp>
        <p:nvSpPr>
          <p:cNvPr id="25" name="Text 22"/>
          <p:cNvSpPr txBox="1"/>
          <p:nvPr/>
        </p:nvSpPr>
        <p:spPr>
          <a:xfrm>
            <a:off x="3840480" y="4919472"/>
            <a:ext cx="2011680" cy="822960"/>
          </a:xfrm>
          <a:prstGeom prst="rect">
            <a:avLst/>
          </a:prstGeom>
          <a:noFill/>
          <a:ln/>
        </p:spPr>
        <p:txBody>
          <a:bodyPr wrap="square" lIns="0" tIns="0" rIns="0" bIns="0" rtlCol="0" anchor="ctr"/>
          <a:lstStyle/>
          <a:p>
            <a:pPr marL="0" indent="0">
              <a:buNone/>
            </a:pPr>
            <a:r>
              <a:rPr lang="en-US" sz="1400" b="1" dirty="0">
                <a:solidFill>
                  <a:srgbClr val="17875A"/>
                </a:solidFill>
                <a:latin typeface="Calibri" pitchFamily="34" charset="0"/>
                <a:ea typeface="Calibri" pitchFamily="34" charset="-122"/>
                <a:cs typeface="Calibri" pitchFamily="34" charset="-120"/>
              </a:rPr>
              <a:t>r read  ·  w write  ·  x run</a:t>
            </a:r>
            <a:endParaRPr lang="en-US" sz="1400" dirty="0"/>
          </a:p>
        </p:txBody>
      </p:sp>
      <p:sp>
        <p:nvSpPr>
          <p:cNvPr id="26" name="Shape 23"/>
          <p:cNvSpPr/>
          <p:nvPr/>
        </p:nvSpPr>
        <p:spPr>
          <a:xfrm>
            <a:off x="6400800" y="1463040"/>
            <a:ext cx="5212080" cy="4480560"/>
          </a:xfrm>
          <a:prstGeom prst="roundRect">
            <a:avLst>
              <a:gd name="adj" fmla="val 204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7" name="Shape 24"/>
          <p:cNvSpPr/>
          <p:nvPr/>
        </p:nvSpPr>
        <p:spPr>
          <a:xfrm>
            <a:off x="6601968" y="1618488"/>
            <a:ext cx="118872" cy="118872"/>
          </a:xfrm>
          <a:prstGeom prst="ellipse">
            <a:avLst/>
          </a:prstGeom>
          <a:solidFill>
            <a:srgbClr val="E5534B"/>
          </a:solidFill>
          <a:ln/>
        </p:spPr>
        <p:txBody>
          <a:bodyPr/>
          <a:lstStyle/>
          <a:p>
            <a:endParaRPr lang="en-US"/>
          </a:p>
        </p:txBody>
      </p:sp>
      <p:sp>
        <p:nvSpPr>
          <p:cNvPr id="28" name="Shape 25"/>
          <p:cNvSpPr/>
          <p:nvPr/>
        </p:nvSpPr>
        <p:spPr>
          <a:xfrm>
            <a:off x="6803136" y="1618488"/>
            <a:ext cx="118872" cy="118872"/>
          </a:xfrm>
          <a:prstGeom prst="ellipse">
            <a:avLst/>
          </a:prstGeom>
          <a:solidFill>
            <a:srgbClr val="F5A623"/>
          </a:solidFill>
          <a:ln/>
        </p:spPr>
        <p:txBody>
          <a:bodyPr/>
          <a:lstStyle/>
          <a:p>
            <a:endParaRPr lang="en-US"/>
          </a:p>
        </p:txBody>
      </p:sp>
      <p:sp>
        <p:nvSpPr>
          <p:cNvPr id="29" name="Shape 26"/>
          <p:cNvSpPr/>
          <p:nvPr/>
        </p:nvSpPr>
        <p:spPr>
          <a:xfrm>
            <a:off x="7004304" y="1618488"/>
            <a:ext cx="118872" cy="118872"/>
          </a:xfrm>
          <a:prstGeom prst="ellipse">
            <a:avLst/>
          </a:prstGeom>
          <a:solidFill>
            <a:srgbClr val="46D39A"/>
          </a:solidFill>
          <a:ln/>
        </p:spPr>
        <p:txBody>
          <a:bodyPr/>
          <a:lstStyle/>
          <a:p>
            <a:endParaRPr lang="en-US"/>
          </a:p>
        </p:txBody>
      </p:sp>
      <p:sp>
        <p:nvSpPr>
          <p:cNvPr id="30" name="Text 27"/>
          <p:cNvSpPr txBox="1"/>
          <p:nvPr/>
        </p:nvSpPr>
        <p:spPr>
          <a:xfrm>
            <a:off x="7315200" y="1536192"/>
            <a:ext cx="33832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permissions</a:t>
            </a:r>
            <a:endParaRPr lang="en-US" sz="1000" dirty="0"/>
          </a:p>
        </p:txBody>
      </p:sp>
      <p:sp>
        <p:nvSpPr>
          <p:cNvPr id="31" name="Text 28"/>
          <p:cNvSpPr txBox="1"/>
          <p:nvPr/>
        </p:nvSpPr>
        <p:spPr>
          <a:xfrm>
            <a:off x="6675120" y="1920240"/>
            <a:ext cx="4663440" cy="388620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echo 'echo hello' &gt;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./hi.sh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-sh: ./hi.sh: Permission denied</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-l hi.sh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-rw-r--r--  1 player ...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chmod +x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-l hi.sh</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-rwxr-xr-x  1 player ...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./hi.sh</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hello</a:t>
            </a:r>
            <a:endParaRPr lang="en-US" sz="15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22</a:t>
            </a:r>
            <a:endParaRPr lang="en-US" sz="1000" dirty="0"/>
          </a:p>
        </p:txBody>
      </p:sp>
      <p:sp>
        <p:nvSpPr>
          <p:cNvPr id="5" name="Shape 2"/>
          <p:cNvSpPr/>
          <p:nvPr/>
        </p:nvSpPr>
        <p:spPr>
          <a:xfrm>
            <a:off x="0" y="0"/>
            <a:ext cx="256032" cy="6858000"/>
          </a:xfrm>
          <a:prstGeom prst="rect">
            <a:avLst/>
          </a:prstGeom>
          <a:solidFill>
            <a:srgbClr val="2A9FD6"/>
          </a:solidFill>
          <a:ln/>
        </p:spPr>
        <p:txBody>
          <a:bodyPr/>
          <a:lstStyle/>
          <a:p>
            <a:endParaRPr lang="en-US"/>
          </a:p>
        </p:txBody>
      </p:sp>
      <p:sp>
        <p:nvSpPr>
          <p:cNvPr id="6" name="Shape 3"/>
          <p:cNvSpPr/>
          <p:nvPr/>
        </p:nvSpPr>
        <p:spPr>
          <a:xfrm>
            <a:off x="640080" y="685800"/>
            <a:ext cx="1188720" cy="1188720"/>
          </a:xfrm>
          <a:prstGeom prst="ellipse">
            <a:avLst/>
          </a:prstGeom>
          <a:solidFill>
            <a:srgbClr val="2A9FD6"/>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2</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2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Learning any command</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b="1" dirty="0">
                <a:solidFill>
                  <a:srgbClr val="12213A"/>
                </a:solidFill>
                <a:latin typeface="Calibri" pitchFamily="34" charset="0"/>
                <a:ea typeface="Calibri" pitchFamily="34" charset="-122"/>
                <a:cs typeface="Calibri" pitchFamily="34" charset="-120"/>
              </a:rPr>
              <a:t>Every command </a:t>
            </a:r>
            <a:r>
              <a:rPr lang="en-US" sz="2500" dirty="0">
                <a:solidFill>
                  <a:srgbClr val="12213A"/>
                </a:solidFill>
                <a:latin typeface="Calibri" pitchFamily="34" charset="0"/>
                <a:ea typeface="Calibri" pitchFamily="34" charset="-122"/>
                <a:cs typeface="Calibri" pitchFamily="34" charset="-120"/>
              </a:rPr>
              <a:t>has the same shape, and every command </a:t>
            </a:r>
            <a:r>
              <a:rPr lang="en-US" sz="2500" b="1" dirty="0">
                <a:solidFill>
                  <a:srgbClr val="12213A"/>
                </a:solidFill>
                <a:latin typeface="Calibri" pitchFamily="34" charset="0"/>
                <a:ea typeface="Calibri" pitchFamily="34" charset="-122"/>
                <a:cs typeface="Calibri" pitchFamily="34" charset="-120"/>
              </a:rPr>
              <a:t>can explain itself</a:t>
            </a:r>
            <a:r>
              <a:rPr lang="en-US" sz="2500" dirty="0">
                <a:solidFill>
                  <a:srgbClr val="12213A"/>
                </a:solidFill>
                <a:latin typeface="Calibri" pitchFamily="34" charset="0"/>
                <a:ea typeface="Calibri" pitchFamily="34" charset="-122"/>
                <a:cs typeface="Calibri" pitchFamily="34" charset="-120"/>
              </a:rPr>
              <a:t>. Nobody memorises them all.</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2A9FD6"/>
                </a:solidFill>
                <a:latin typeface="Arial" pitchFamily="34" charset="0"/>
                <a:ea typeface="Arial" pitchFamily="34" charset="-122"/>
                <a:cs typeface="Arial" pitchFamily="34" charset="-120"/>
              </a:rPr>
              <a:t>Shape</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cmd -opt path</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What to do, how to do it, and what to do it to.</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2A9FD6"/>
                </a:solidFill>
                <a:latin typeface="Arial" pitchFamily="34" charset="0"/>
                <a:ea typeface="Arial" pitchFamily="34" charset="-122"/>
                <a:cs typeface="Arial" pitchFamily="34" charset="-120"/>
              </a:rPr>
              <a:t>Ask</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--help  man</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 command explains itself. man has the full manual.</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2A9FD6"/>
                </a:solidFill>
                <a:latin typeface="Arial" pitchFamily="34" charset="0"/>
                <a:ea typeface="Arial" pitchFamily="34" charset="-122"/>
                <a:cs typeface="Arial" pitchFamily="34" charset="-120"/>
              </a:rPr>
              <a:t>Speed up</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Tab  ↑  Ctrl+C</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Type less, fix faster.</a:t>
            </a:r>
            <a:endParaRPr lang="en-US" sz="14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The shape of a command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-l /home</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23</a:t>
            </a:r>
            <a:endParaRPr lang="en-US" sz="1000" dirty="0"/>
          </a:p>
        </p:txBody>
      </p:sp>
      <p:sp>
        <p:nvSpPr>
          <p:cNvPr id="10" name="Shape 7"/>
          <p:cNvSpPr/>
          <p:nvPr/>
        </p:nvSpPr>
        <p:spPr>
          <a:xfrm>
            <a:off x="548640" y="1508760"/>
            <a:ext cx="11094415" cy="1371600"/>
          </a:xfrm>
          <a:prstGeom prst="roundRect">
            <a:avLst>
              <a:gd name="adj" fmla="val 6667"/>
            </a:avLst>
          </a:prstGeom>
          <a:solidFill>
            <a:srgbClr val="0E1726"/>
          </a:solidFill>
          <a:ln/>
        </p:spPr>
        <p:txBody>
          <a:bodyPr/>
          <a:lstStyle/>
          <a:p>
            <a:endParaRPr lang="en-US"/>
          </a:p>
        </p:txBody>
      </p:sp>
      <p:sp>
        <p:nvSpPr>
          <p:cNvPr id="11" name="Text 8"/>
          <p:cNvSpPr txBox="1"/>
          <p:nvPr/>
        </p:nvSpPr>
        <p:spPr>
          <a:xfrm>
            <a:off x="548640" y="1508760"/>
            <a:ext cx="11094415" cy="1371600"/>
          </a:xfrm>
          <a:prstGeom prst="rect">
            <a:avLst/>
          </a:prstGeom>
          <a:noFill/>
          <a:ln/>
        </p:spPr>
        <p:txBody>
          <a:bodyPr wrap="square" lIns="0" tIns="0" rIns="0" bIns="0" rtlCol="0" anchor="ctr"/>
          <a:lstStyle/>
          <a:p>
            <a:pPr marL="0" indent="0" algn="ctr">
              <a:buNone/>
            </a:pPr>
            <a:r>
              <a:rPr lang="en-US" sz="3600" b="1" dirty="0">
                <a:solidFill>
                  <a:srgbClr val="46D39A"/>
                </a:solidFill>
                <a:latin typeface="Courier New" pitchFamily="34" charset="0"/>
                <a:ea typeface="Courier New" pitchFamily="34" charset="-122"/>
                <a:cs typeface="Courier New" pitchFamily="34" charset="-120"/>
              </a:rPr>
              <a:t>player</a:t>
            </a:r>
            <a:r>
              <a:rPr lang="en-US" sz="3600" b="1" dirty="0">
                <a:solidFill>
                  <a:srgbClr val="B8C4D9"/>
                </a:solidFill>
                <a:latin typeface="Courier New" pitchFamily="34" charset="0"/>
                <a:ea typeface="Courier New" pitchFamily="34" charset="-122"/>
                <a:cs typeface="Courier New" pitchFamily="34" charset="-120"/>
              </a:rPr>
              <a:t>@</a:t>
            </a:r>
            <a:r>
              <a:rPr lang="en-US" sz="3600" b="1" dirty="0">
                <a:solidFill>
                  <a:srgbClr val="7FB2FF"/>
                </a:solidFill>
                <a:latin typeface="Courier New" pitchFamily="34" charset="0"/>
                <a:ea typeface="Courier New" pitchFamily="34" charset="-122"/>
                <a:cs typeface="Courier New" pitchFamily="34" charset="-120"/>
              </a:rPr>
              <a:t>quest</a:t>
            </a:r>
            <a:r>
              <a:rPr lang="en-US" sz="3600" b="1" dirty="0">
                <a:solidFill>
                  <a:srgbClr val="B8C4D9"/>
                </a:solidFill>
                <a:latin typeface="Courier New" pitchFamily="34" charset="0"/>
                <a:ea typeface="Courier New" pitchFamily="34" charset="-122"/>
                <a:cs typeface="Courier New" pitchFamily="34" charset="-120"/>
              </a:rPr>
              <a:t>:</a:t>
            </a:r>
            <a:r>
              <a:rPr lang="en-US" sz="3600" b="1" dirty="0">
                <a:solidFill>
                  <a:srgbClr val="F5A623"/>
                </a:solidFill>
                <a:latin typeface="Courier New" pitchFamily="34" charset="0"/>
                <a:ea typeface="Courier New" pitchFamily="34" charset="-122"/>
                <a:cs typeface="Courier New" pitchFamily="34" charset="-120"/>
              </a:rPr>
              <a:t>~</a:t>
            </a:r>
            <a:r>
              <a:rPr lang="en-US" sz="3600" b="1" dirty="0">
                <a:solidFill>
                  <a:srgbClr val="B8C4D9"/>
                </a:solidFill>
                <a:latin typeface="Courier New" pitchFamily="34" charset="0"/>
                <a:ea typeface="Courier New" pitchFamily="34" charset="-122"/>
                <a:cs typeface="Courier New" pitchFamily="34" charset="-120"/>
              </a:rPr>
              <a:t>$ </a:t>
            </a:r>
            <a:r>
              <a:rPr lang="en-US" sz="3600" b="1" dirty="0">
                <a:solidFill>
                  <a:srgbClr val="FFFFFF"/>
                </a:solidFill>
                <a:latin typeface="Courier New" pitchFamily="34" charset="0"/>
                <a:ea typeface="Courier New" pitchFamily="34" charset="-122"/>
                <a:cs typeface="Courier New" pitchFamily="34" charset="-120"/>
              </a:rPr>
              <a:t>ls</a:t>
            </a:r>
            <a:r>
              <a:rPr lang="en-US" sz="3600" b="1" dirty="0">
                <a:solidFill>
                  <a:srgbClr val="FF8FB1"/>
                </a:solidFill>
                <a:latin typeface="Courier New" pitchFamily="34" charset="0"/>
                <a:ea typeface="Courier New" pitchFamily="34" charset="-122"/>
                <a:cs typeface="Courier New" pitchFamily="34" charset="-120"/>
              </a:rPr>
              <a:t> -l</a:t>
            </a:r>
            <a:r>
              <a:rPr lang="en-US" sz="3600" b="1" dirty="0">
                <a:solidFill>
                  <a:srgbClr val="7EE0D2"/>
                </a:solidFill>
                <a:latin typeface="Courier New" pitchFamily="34" charset="0"/>
                <a:ea typeface="Courier New" pitchFamily="34" charset="-122"/>
                <a:cs typeface="Courier New" pitchFamily="34" charset="-120"/>
              </a:rPr>
              <a:t> /home</a:t>
            </a:r>
            <a:endParaRPr lang="en-US" sz="3600" dirty="0"/>
          </a:p>
        </p:txBody>
      </p:sp>
      <p:sp>
        <p:nvSpPr>
          <p:cNvPr id="12" name="Shape 9"/>
          <p:cNvSpPr/>
          <p:nvPr/>
        </p:nvSpPr>
        <p:spPr>
          <a:xfrm>
            <a:off x="548640" y="3246120"/>
            <a:ext cx="3566160" cy="1188720"/>
          </a:xfrm>
          <a:prstGeom prst="roundRect">
            <a:avLst>
              <a:gd name="adj" fmla="val 7692"/>
            </a:avLst>
          </a:prstGeom>
          <a:solidFill>
            <a:srgbClr val="F1F5FB"/>
          </a:solidFill>
          <a:ln/>
        </p:spPr>
        <p:txBody>
          <a:bodyPr/>
          <a:lstStyle/>
          <a:p>
            <a:endParaRPr lang="en-US"/>
          </a:p>
        </p:txBody>
      </p:sp>
      <p:sp>
        <p:nvSpPr>
          <p:cNvPr id="13" name="Text 10"/>
          <p:cNvSpPr txBox="1"/>
          <p:nvPr/>
        </p:nvSpPr>
        <p:spPr>
          <a:xfrm>
            <a:off x="777240" y="3383280"/>
            <a:ext cx="3108960" cy="365760"/>
          </a:xfrm>
          <a:prstGeom prst="rect">
            <a:avLst/>
          </a:prstGeom>
          <a:noFill/>
          <a:ln/>
        </p:spPr>
        <p:txBody>
          <a:bodyPr wrap="square" lIns="0" tIns="0" rIns="0" bIns="0" rtlCol="0" anchor="t"/>
          <a:lstStyle/>
          <a:p>
            <a:pPr marL="0" indent="0">
              <a:buNone/>
            </a:pPr>
            <a:r>
              <a:rPr lang="en-US" sz="2000" b="1" dirty="0">
                <a:solidFill>
                  <a:srgbClr val="17875A"/>
                </a:solidFill>
                <a:latin typeface="Courier New" pitchFamily="34" charset="0"/>
                <a:ea typeface="Courier New" pitchFamily="34" charset="-122"/>
                <a:cs typeface="Courier New" pitchFamily="34" charset="-120"/>
              </a:rPr>
              <a:t>player</a:t>
            </a:r>
            <a:endParaRPr lang="en-US" sz="2000" dirty="0"/>
          </a:p>
        </p:txBody>
      </p:sp>
      <p:sp>
        <p:nvSpPr>
          <p:cNvPr id="14" name="Text 11"/>
          <p:cNvSpPr txBox="1"/>
          <p:nvPr/>
        </p:nvSpPr>
        <p:spPr>
          <a:xfrm>
            <a:off x="777240" y="384048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Who you are: </a:t>
            </a:r>
            <a:r>
              <a:rPr lang="en-US" sz="1500" dirty="0">
                <a:solidFill>
                  <a:srgbClr val="12213A"/>
                </a:solidFill>
                <a:latin typeface="Calibri" pitchFamily="34" charset="0"/>
                <a:ea typeface="Calibri" pitchFamily="34" charset="-122"/>
                <a:cs typeface="Calibri" pitchFamily="34" charset="-120"/>
              </a:rPr>
              <a:t>the account inside your computer</a:t>
            </a:r>
            <a:endParaRPr lang="en-US" sz="1500" dirty="0"/>
          </a:p>
        </p:txBody>
      </p:sp>
      <p:sp>
        <p:nvSpPr>
          <p:cNvPr id="15" name="Shape 12"/>
          <p:cNvSpPr/>
          <p:nvPr/>
        </p:nvSpPr>
        <p:spPr>
          <a:xfrm>
            <a:off x="4306824" y="3246120"/>
            <a:ext cx="3566160" cy="1188720"/>
          </a:xfrm>
          <a:prstGeom prst="roundRect">
            <a:avLst>
              <a:gd name="adj" fmla="val 7692"/>
            </a:avLst>
          </a:prstGeom>
          <a:solidFill>
            <a:srgbClr val="F1F5FB"/>
          </a:solidFill>
          <a:ln/>
        </p:spPr>
        <p:txBody>
          <a:bodyPr/>
          <a:lstStyle/>
          <a:p>
            <a:endParaRPr lang="en-US"/>
          </a:p>
        </p:txBody>
      </p:sp>
      <p:sp>
        <p:nvSpPr>
          <p:cNvPr id="16" name="Text 13"/>
          <p:cNvSpPr txBox="1"/>
          <p:nvPr/>
        </p:nvSpPr>
        <p:spPr>
          <a:xfrm>
            <a:off x="4535424" y="3383280"/>
            <a:ext cx="3108960" cy="365760"/>
          </a:xfrm>
          <a:prstGeom prst="rect">
            <a:avLst/>
          </a:prstGeom>
          <a:noFill/>
          <a:ln/>
        </p:spPr>
        <p:txBody>
          <a:bodyPr wrap="square" lIns="0" tIns="0" rIns="0" bIns="0" rtlCol="0" anchor="t"/>
          <a:lstStyle/>
          <a:p>
            <a:pPr marL="0" indent="0">
              <a:buNone/>
            </a:pPr>
            <a:r>
              <a:rPr lang="en-US" sz="2000" b="1" dirty="0">
                <a:solidFill>
                  <a:srgbClr val="2459D8"/>
                </a:solidFill>
                <a:latin typeface="Courier New" pitchFamily="34" charset="0"/>
                <a:ea typeface="Courier New" pitchFamily="34" charset="-122"/>
                <a:cs typeface="Courier New" pitchFamily="34" charset="-120"/>
              </a:rPr>
              <a:t>quest</a:t>
            </a:r>
            <a:endParaRPr lang="en-US" sz="2000" dirty="0"/>
          </a:p>
        </p:txBody>
      </p:sp>
      <p:sp>
        <p:nvSpPr>
          <p:cNvPr id="17" name="Text 14"/>
          <p:cNvSpPr txBox="1"/>
          <p:nvPr/>
        </p:nvSpPr>
        <p:spPr>
          <a:xfrm>
            <a:off x="4535424" y="384048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Which computer: </a:t>
            </a:r>
            <a:r>
              <a:rPr lang="en-US" sz="1500" dirty="0">
                <a:solidFill>
                  <a:srgbClr val="12213A"/>
                </a:solidFill>
                <a:latin typeface="Calibri" pitchFamily="34" charset="0"/>
                <a:ea typeface="Calibri" pitchFamily="34" charset="-122"/>
                <a:cs typeface="Calibri" pitchFamily="34" charset="-120"/>
              </a:rPr>
              <a:t>the Linux running in your tab</a:t>
            </a:r>
            <a:endParaRPr lang="en-US" sz="1500" dirty="0"/>
          </a:p>
        </p:txBody>
      </p:sp>
      <p:sp>
        <p:nvSpPr>
          <p:cNvPr id="18" name="Shape 15"/>
          <p:cNvSpPr/>
          <p:nvPr/>
        </p:nvSpPr>
        <p:spPr>
          <a:xfrm>
            <a:off x="8065008" y="3246120"/>
            <a:ext cx="3566160" cy="1188720"/>
          </a:xfrm>
          <a:prstGeom prst="roundRect">
            <a:avLst>
              <a:gd name="adj" fmla="val 7692"/>
            </a:avLst>
          </a:prstGeom>
          <a:solidFill>
            <a:srgbClr val="F1F5FB"/>
          </a:solidFill>
          <a:ln/>
        </p:spPr>
        <p:txBody>
          <a:bodyPr/>
          <a:lstStyle/>
          <a:p>
            <a:endParaRPr lang="en-US"/>
          </a:p>
        </p:txBody>
      </p:sp>
      <p:sp>
        <p:nvSpPr>
          <p:cNvPr id="19" name="Text 16"/>
          <p:cNvSpPr txBox="1"/>
          <p:nvPr/>
        </p:nvSpPr>
        <p:spPr>
          <a:xfrm>
            <a:off x="8293608" y="3383280"/>
            <a:ext cx="3108960" cy="365760"/>
          </a:xfrm>
          <a:prstGeom prst="rect">
            <a:avLst/>
          </a:prstGeom>
          <a:noFill/>
          <a:ln/>
        </p:spPr>
        <p:txBody>
          <a:bodyPr wrap="square" lIns="0" tIns="0" rIns="0" bIns="0" rtlCol="0" anchor="t"/>
          <a:lstStyle/>
          <a:p>
            <a:pPr marL="0" indent="0">
              <a:buNone/>
            </a:pPr>
            <a:r>
              <a:rPr lang="en-US" sz="2000" b="1" dirty="0">
                <a:solidFill>
                  <a:srgbClr val="C07A00"/>
                </a:solidFill>
                <a:latin typeface="Courier New" pitchFamily="34" charset="0"/>
                <a:ea typeface="Courier New" pitchFamily="34" charset="-122"/>
                <a:cs typeface="Courier New" pitchFamily="34" charset="-120"/>
              </a:rPr>
              <a:t>~</a:t>
            </a:r>
            <a:endParaRPr lang="en-US" sz="2000" dirty="0"/>
          </a:p>
        </p:txBody>
      </p:sp>
      <p:sp>
        <p:nvSpPr>
          <p:cNvPr id="20" name="Text 17"/>
          <p:cNvSpPr txBox="1"/>
          <p:nvPr/>
        </p:nvSpPr>
        <p:spPr>
          <a:xfrm>
            <a:off x="8293608" y="384048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Where you are: </a:t>
            </a:r>
            <a:r>
              <a:rPr lang="en-US" sz="1500" dirty="0">
                <a:solidFill>
                  <a:srgbClr val="12213A"/>
                </a:solidFill>
                <a:latin typeface="Calibri" pitchFamily="34" charset="0"/>
                <a:ea typeface="Calibri" pitchFamily="34" charset="-122"/>
                <a:cs typeface="Calibri" pitchFamily="34" charset="-120"/>
              </a:rPr>
              <a:t>~ means your home folder</a:t>
            </a:r>
            <a:endParaRPr lang="en-US" sz="1500" dirty="0"/>
          </a:p>
        </p:txBody>
      </p:sp>
      <p:sp>
        <p:nvSpPr>
          <p:cNvPr id="21" name="Shape 18"/>
          <p:cNvSpPr/>
          <p:nvPr/>
        </p:nvSpPr>
        <p:spPr>
          <a:xfrm>
            <a:off x="548640" y="4663440"/>
            <a:ext cx="3566160" cy="1188720"/>
          </a:xfrm>
          <a:prstGeom prst="roundRect">
            <a:avLst>
              <a:gd name="adj" fmla="val 7692"/>
            </a:avLst>
          </a:prstGeom>
          <a:solidFill>
            <a:srgbClr val="F1F5FB"/>
          </a:solidFill>
          <a:ln/>
        </p:spPr>
        <p:txBody>
          <a:bodyPr/>
          <a:lstStyle/>
          <a:p>
            <a:endParaRPr lang="en-US"/>
          </a:p>
        </p:txBody>
      </p:sp>
      <p:sp>
        <p:nvSpPr>
          <p:cNvPr id="22" name="Text 19"/>
          <p:cNvSpPr txBox="1"/>
          <p:nvPr/>
        </p:nvSpPr>
        <p:spPr>
          <a:xfrm>
            <a:off x="777240" y="4800600"/>
            <a:ext cx="3108960" cy="365760"/>
          </a:xfrm>
          <a:prstGeom prst="rect">
            <a:avLst/>
          </a:prstGeom>
          <a:noFill/>
          <a:ln/>
        </p:spPr>
        <p:txBody>
          <a:bodyPr wrap="square" lIns="0" tIns="0" rIns="0" bIns="0" rtlCol="0" anchor="t"/>
          <a:lstStyle/>
          <a:p>
            <a:pPr marL="0" indent="0">
              <a:buNone/>
            </a:pPr>
            <a:r>
              <a:rPr lang="en-US" sz="2000" b="1" dirty="0">
                <a:solidFill>
                  <a:srgbClr val="12213A"/>
                </a:solidFill>
                <a:latin typeface="Courier New" pitchFamily="34" charset="0"/>
                <a:ea typeface="Courier New" pitchFamily="34" charset="-122"/>
                <a:cs typeface="Courier New" pitchFamily="34" charset="-120"/>
              </a:rPr>
              <a:t>ls</a:t>
            </a:r>
            <a:endParaRPr lang="en-US" sz="2000" dirty="0"/>
          </a:p>
        </p:txBody>
      </p:sp>
      <p:sp>
        <p:nvSpPr>
          <p:cNvPr id="23" name="Text 20"/>
          <p:cNvSpPr txBox="1"/>
          <p:nvPr/>
        </p:nvSpPr>
        <p:spPr>
          <a:xfrm>
            <a:off x="777240" y="525780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The command: </a:t>
            </a:r>
            <a:r>
              <a:rPr lang="en-US" sz="1500" dirty="0">
                <a:solidFill>
                  <a:srgbClr val="12213A"/>
                </a:solidFill>
                <a:latin typeface="Calibri" pitchFamily="34" charset="0"/>
                <a:ea typeface="Calibri" pitchFamily="34" charset="-122"/>
                <a:cs typeface="Calibri" pitchFamily="34" charset="-120"/>
              </a:rPr>
              <a:t>what to do: list files</a:t>
            </a:r>
            <a:endParaRPr lang="en-US" sz="1500" dirty="0"/>
          </a:p>
        </p:txBody>
      </p:sp>
      <p:sp>
        <p:nvSpPr>
          <p:cNvPr id="24" name="Shape 21"/>
          <p:cNvSpPr/>
          <p:nvPr/>
        </p:nvSpPr>
        <p:spPr>
          <a:xfrm>
            <a:off x="4306824" y="4663440"/>
            <a:ext cx="3566160" cy="1188720"/>
          </a:xfrm>
          <a:prstGeom prst="roundRect">
            <a:avLst>
              <a:gd name="adj" fmla="val 7692"/>
            </a:avLst>
          </a:prstGeom>
          <a:solidFill>
            <a:srgbClr val="F1F5FB"/>
          </a:solidFill>
          <a:ln/>
        </p:spPr>
        <p:txBody>
          <a:bodyPr/>
          <a:lstStyle/>
          <a:p>
            <a:endParaRPr lang="en-US"/>
          </a:p>
        </p:txBody>
      </p:sp>
      <p:sp>
        <p:nvSpPr>
          <p:cNvPr id="25" name="Text 22"/>
          <p:cNvSpPr txBox="1"/>
          <p:nvPr/>
        </p:nvSpPr>
        <p:spPr>
          <a:xfrm>
            <a:off x="4535424" y="4800600"/>
            <a:ext cx="3108960" cy="365760"/>
          </a:xfrm>
          <a:prstGeom prst="rect">
            <a:avLst/>
          </a:prstGeom>
          <a:noFill/>
          <a:ln/>
        </p:spPr>
        <p:txBody>
          <a:bodyPr wrap="square" lIns="0" tIns="0" rIns="0" bIns="0" rtlCol="0" anchor="t"/>
          <a:lstStyle/>
          <a:p>
            <a:pPr marL="0" indent="0">
              <a:buNone/>
            </a:pPr>
            <a:r>
              <a:rPr lang="en-US" sz="2000" b="1" dirty="0">
                <a:solidFill>
                  <a:srgbClr val="C2356A"/>
                </a:solidFill>
                <a:latin typeface="Courier New" pitchFamily="34" charset="0"/>
                <a:ea typeface="Courier New" pitchFamily="34" charset="-122"/>
                <a:cs typeface="Courier New" pitchFamily="34" charset="-120"/>
              </a:rPr>
              <a:t>-l</a:t>
            </a:r>
            <a:endParaRPr lang="en-US" sz="2000" dirty="0"/>
          </a:p>
        </p:txBody>
      </p:sp>
      <p:sp>
        <p:nvSpPr>
          <p:cNvPr id="26" name="Text 23"/>
          <p:cNvSpPr txBox="1"/>
          <p:nvPr/>
        </p:nvSpPr>
        <p:spPr>
          <a:xfrm>
            <a:off x="4535424" y="525780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An option: </a:t>
            </a:r>
            <a:r>
              <a:rPr lang="en-US" sz="1500" dirty="0">
                <a:solidFill>
                  <a:srgbClr val="12213A"/>
                </a:solidFill>
                <a:latin typeface="Calibri" pitchFamily="34" charset="0"/>
                <a:ea typeface="Calibri" pitchFamily="34" charset="-122"/>
                <a:cs typeface="Calibri" pitchFamily="34" charset="-120"/>
              </a:rPr>
              <a:t>how to do it: the long format</a:t>
            </a:r>
            <a:endParaRPr lang="en-US" sz="1500" dirty="0"/>
          </a:p>
        </p:txBody>
      </p:sp>
      <p:sp>
        <p:nvSpPr>
          <p:cNvPr id="27" name="Shape 24"/>
          <p:cNvSpPr/>
          <p:nvPr/>
        </p:nvSpPr>
        <p:spPr>
          <a:xfrm>
            <a:off x="8065008" y="4663440"/>
            <a:ext cx="3566160" cy="1188720"/>
          </a:xfrm>
          <a:prstGeom prst="roundRect">
            <a:avLst>
              <a:gd name="adj" fmla="val 7692"/>
            </a:avLst>
          </a:prstGeom>
          <a:solidFill>
            <a:srgbClr val="F1F5FB"/>
          </a:solidFill>
          <a:ln/>
        </p:spPr>
        <p:txBody>
          <a:bodyPr/>
          <a:lstStyle/>
          <a:p>
            <a:endParaRPr lang="en-US"/>
          </a:p>
        </p:txBody>
      </p:sp>
      <p:sp>
        <p:nvSpPr>
          <p:cNvPr id="28" name="Text 25"/>
          <p:cNvSpPr txBox="1"/>
          <p:nvPr/>
        </p:nvSpPr>
        <p:spPr>
          <a:xfrm>
            <a:off x="8293608" y="4800600"/>
            <a:ext cx="3108960" cy="365760"/>
          </a:xfrm>
          <a:prstGeom prst="rect">
            <a:avLst/>
          </a:prstGeom>
          <a:noFill/>
          <a:ln/>
        </p:spPr>
        <p:txBody>
          <a:bodyPr wrap="square" lIns="0" tIns="0" rIns="0" bIns="0" rtlCol="0" anchor="t"/>
          <a:lstStyle/>
          <a:p>
            <a:pPr marL="0" indent="0">
              <a:buNone/>
            </a:pPr>
            <a:r>
              <a:rPr lang="en-US" sz="2000" b="1" dirty="0">
                <a:solidFill>
                  <a:srgbClr val="0E8C7A"/>
                </a:solidFill>
                <a:latin typeface="Courier New" pitchFamily="34" charset="0"/>
                <a:ea typeface="Courier New" pitchFamily="34" charset="-122"/>
                <a:cs typeface="Courier New" pitchFamily="34" charset="-120"/>
              </a:rPr>
              <a:t>/home</a:t>
            </a:r>
            <a:endParaRPr lang="en-US" sz="2000" dirty="0"/>
          </a:p>
        </p:txBody>
      </p:sp>
      <p:sp>
        <p:nvSpPr>
          <p:cNvPr id="29" name="Text 26"/>
          <p:cNvSpPr txBox="1"/>
          <p:nvPr/>
        </p:nvSpPr>
        <p:spPr>
          <a:xfrm>
            <a:off x="8293608" y="525780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An argument: </a:t>
            </a:r>
            <a:r>
              <a:rPr lang="en-US" sz="1500" dirty="0">
                <a:solidFill>
                  <a:srgbClr val="12213A"/>
                </a:solidFill>
                <a:latin typeface="Calibri" pitchFamily="34" charset="0"/>
                <a:ea typeface="Calibri" pitchFamily="34" charset="-122"/>
                <a:cs typeface="Calibri" pitchFamily="34" charset="-120"/>
              </a:rPr>
              <a:t>what to do it to</a:t>
            </a:r>
            <a:endParaRPr lang="en-US" sz="15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Ask any command for --help</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wc --help</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24</a:t>
            </a:r>
            <a:endParaRPr lang="en-US" sz="1000" dirty="0"/>
          </a:p>
        </p:txBody>
      </p:sp>
      <p:sp>
        <p:nvSpPr>
          <p:cNvPr id="10" name="Shape 7"/>
          <p:cNvSpPr/>
          <p:nvPr/>
        </p:nvSpPr>
        <p:spPr>
          <a:xfrm>
            <a:off x="548640" y="1463040"/>
            <a:ext cx="649224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1" name="Shape 8"/>
          <p:cNvSpPr/>
          <p:nvPr/>
        </p:nvSpPr>
        <p:spPr>
          <a:xfrm>
            <a:off x="749808" y="1618488"/>
            <a:ext cx="118872" cy="118872"/>
          </a:xfrm>
          <a:prstGeom prst="ellipse">
            <a:avLst/>
          </a:prstGeom>
          <a:solidFill>
            <a:srgbClr val="E5534B"/>
          </a:solidFill>
          <a:ln/>
        </p:spPr>
        <p:txBody>
          <a:bodyPr/>
          <a:lstStyle/>
          <a:p>
            <a:endParaRPr lang="en-US"/>
          </a:p>
        </p:txBody>
      </p:sp>
      <p:sp>
        <p:nvSpPr>
          <p:cNvPr id="12" name="Shape 9"/>
          <p:cNvSpPr/>
          <p:nvPr/>
        </p:nvSpPr>
        <p:spPr>
          <a:xfrm>
            <a:off x="950976" y="1618488"/>
            <a:ext cx="118872" cy="118872"/>
          </a:xfrm>
          <a:prstGeom prst="ellipse">
            <a:avLst/>
          </a:prstGeom>
          <a:solidFill>
            <a:srgbClr val="F5A623"/>
          </a:solidFill>
          <a:ln/>
        </p:spPr>
        <p:txBody>
          <a:bodyPr/>
          <a:lstStyle/>
          <a:p>
            <a:endParaRPr lang="en-US"/>
          </a:p>
        </p:txBody>
      </p:sp>
      <p:sp>
        <p:nvSpPr>
          <p:cNvPr id="13" name="Shape 10"/>
          <p:cNvSpPr/>
          <p:nvPr/>
        </p:nvSpPr>
        <p:spPr>
          <a:xfrm>
            <a:off x="1152144" y="1618488"/>
            <a:ext cx="118872" cy="118872"/>
          </a:xfrm>
          <a:prstGeom prst="ellipse">
            <a:avLst/>
          </a:prstGeom>
          <a:solidFill>
            <a:srgbClr val="46D39A"/>
          </a:solidFill>
          <a:ln/>
        </p:spPr>
        <p:txBody>
          <a:bodyPr/>
          <a:lstStyle/>
          <a:p>
            <a:endParaRPr lang="en-US"/>
          </a:p>
        </p:txBody>
      </p:sp>
      <p:sp>
        <p:nvSpPr>
          <p:cNvPr id="14" name="Text 11"/>
          <p:cNvSpPr txBox="1"/>
          <p:nvPr/>
        </p:nvSpPr>
        <p:spPr>
          <a:xfrm>
            <a:off x="1463040" y="1536192"/>
            <a:ext cx="46634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the command explains itself</a:t>
            </a:r>
            <a:endParaRPr lang="en-US" sz="1000" dirty="0"/>
          </a:p>
        </p:txBody>
      </p:sp>
      <p:sp>
        <p:nvSpPr>
          <p:cNvPr id="15" name="Text 12"/>
          <p:cNvSpPr txBox="1"/>
          <p:nvPr/>
        </p:nvSpPr>
        <p:spPr>
          <a:xfrm>
            <a:off x="822960" y="1920240"/>
            <a:ext cx="5943600" cy="3840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wc --help</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Usage: wc [-cmlwL] [FILE]...</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Count lines, words, and bytes for FILEs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-c      Count bytes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-m      Count characters</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        -l      Count newlines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-w      Count words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-L      Print longest line length</a:t>
            </a:r>
            <a:endParaRPr lang="en-US" sz="1500" dirty="0"/>
          </a:p>
        </p:txBody>
      </p:sp>
      <p:sp>
        <p:nvSpPr>
          <p:cNvPr id="16" name="Shape 13"/>
          <p:cNvSpPr/>
          <p:nvPr/>
        </p:nvSpPr>
        <p:spPr>
          <a:xfrm>
            <a:off x="7315200" y="1463040"/>
            <a:ext cx="4325112" cy="1325880"/>
          </a:xfrm>
          <a:prstGeom prst="roundRect">
            <a:avLst>
              <a:gd name="adj" fmla="val 6897"/>
            </a:avLst>
          </a:prstGeom>
          <a:solidFill>
            <a:srgbClr val="F1F5FB"/>
          </a:solidFill>
          <a:ln/>
        </p:spPr>
        <p:txBody>
          <a:bodyPr/>
          <a:lstStyle/>
          <a:p>
            <a:endParaRPr lang="en-US"/>
          </a:p>
        </p:txBody>
      </p:sp>
      <p:sp>
        <p:nvSpPr>
          <p:cNvPr id="17" name="Shape 14"/>
          <p:cNvSpPr/>
          <p:nvPr/>
        </p:nvSpPr>
        <p:spPr>
          <a:xfrm>
            <a:off x="7315200" y="1463040"/>
            <a:ext cx="109728" cy="1325880"/>
          </a:xfrm>
          <a:prstGeom prst="rect">
            <a:avLst/>
          </a:prstGeom>
          <a:solidFill>
            <a:srgbClr val="2459D8"/>
          </a:solidFill>
          <a:ln/>
        </p:spPr>
        <p:txBody>
          <a:bodyPr/>
          <a:lstStyle/>
          <a:p>
            <a:endParaRPr lang="en-US"/>
          </a:p>
        </p:txBody>
      </p:sp>
      <p:sp>
        <p:nvSpPr>
          <p:cNvPr id="18" name="Text 15"/>
          <p:cNvSpPr txBox="1"/>
          <p:nvPr/>
        </p:nvSpPr>
        <p:spPr>
          <a:xfrm>
            <a:off x="7635240" y="1600200"/>
            <a:ext cx="3840480" cy="36576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Usage line</a:t>
            </a:r>
            <a:endParaRPr lang="en-US" sz="1800" dirty="0"/>
          </a:p>
        </p:txBody>
      </p:sp>
      <p:sp>
        <p:nvSpPr>
          <p:cNvPr id="19" name="Text 16"/>
          <p:cNvSpPr txBox="1"/>
          <p:nvPr/>
        </p:nvSpPr>
        <p:spPr>
          <a:xfrm>
            <a:off x="7635240" y="1993392"/>
            <a:ext cx="3886200" cy="73152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The shape of the command. [ ] means optional. FILE... means one or more files.</a:t>
            </a:r>
            <a:endParaRPr lang="en-US" sz="1400" dirty="0"/>
          </a:p>
        </p:txBody>
      </p:sp>
      <p:sp>
        <p:nvSpPr>
          <p:cNvPr id="20" name="Shape 17"/>
          <p:cNvSpPr/>
          <p:nvPr/>
        </p:nvSpPr>
        <p:spPr>
          <a:xfrm>
            <a:off x="7315200" y="2971800"/>
            <a:ext cx="4325112" cy="1325880"/>
          </a:xfrm>
          <a:prstGeom prst="roundRect">
            <a:avLst>
              <a:gd name="adj" fmla="val 6897"/>
            </a:avLst>
          </a:prstGeom>
          <a:solidFill>
            <a:srgbClr val="F1F5FB"/>
          </a:solidFill>
          <a:ln/>
        </p:spPr>
        <p:txBody>
          <a:bodyPr/>
          <a:lstStyle/>
          <a:p>
            <a:endParaRPr lang="en-US"/>
          </a:p>
        </p:txBody>
      </p:sp>
      <p:sp>
        <p:nvSpPr>
          <p:cNvPr id="21" name="Shape 18"/>
          <p:cNvSpPr/>
          <p:nvPr/>
        </p:nvSpPr>
        <p:spPr>
          <a:xfrm>
            <a:off x="7315200" y="2971800"/>
            <a:ext cx="109728" cy="1325880"/>
          </a:xfrm>
          <a:prstGeom prst="rect">
            <a:avLst/>
          </a:prstGeom>
          <a:solidFill>
            <a:srgbClr val="7448D4"/>
          </a:solidFill>
          <a:ln/>
        </p:spPr>
        <p:txBody>
          <a:bodyPr/>
          <a:lstStyle/>
          <a:p>
            <a:endParaRPr lang="en-US"/>
          </a:p>
        </p:txBody>
      </p:sp>
      <p:sp>
        <p:nvSpPr>
          <p:cNvPr id="22" name="Text 19"/>
          <p:cNvSpPr txBox="1"/>
          <p:nvPr/>
        </p:nvSpPr>
        <p:spPr>
          <a:xfrm>
            <a:off x="7635240" y="3108960"/>
            <a:ext cx="3840480" cy="36576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Option list</a:t>
            </a:r>
            <a:endParaRPr lang="en-US" sz="1800" dirty="0"/>
          </a:p>
        </p:txBody>
      </p:sp>
      <p:sp>
        <p:nvSpPr>
          <p:cNvPr id="23" name="Text 20"/>
          <p:cNvSpPr txBox="1"/>
          <p:nvPr/>
        </p:nvSpPr>
        <p:spPr>
          <a:xfrm>
            <a:off x="7635240" y="3502152"/>
            <a:ext cx="3886200" cy="73152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One option per line, with what it does. Pick the one that matches your goal.</a:t>
            </a:r>
            <a:endParaRPr lang="en-US" sz="1400" dirty="0"/>
          </a:p>
        </p:txBody>
      </p:sp>
      <p:sp>
        <p:nvSpPr>
          <p:cNvPr id="24" name="Shape 21"/>
          <p:cNvSpPr/>
          <p:nvPr/>
        </p:nvSpPr>
        <p:spPr>
          <a:xfrm>
            <a:off x="7315200" y="4480560"/>
            <a:ext cx="4325112" cy="1325880"/>
          </a:xfrm>
          <a:prstGeom prst="roundRect">
            <a:avLst>
              <a:gd name="adj" fmla="val 6897"/>
            </a:avLst>
          </a:prstGeom>
          <a:solidFill>
            <a:srgbClr val="F1F5FB"/>
          </a:solidFill>
          <a:ln/>
        </p:spPr>
        <p:txBody>
          <a:bodyPr/>
          <a:lstStyle/>
          <a:p>
            <a:endParaRPr lang="en-US"/>
          </a:p>
        </p:txBody>
      </p:sp>
      <p:sp>
        <p:nvSpPr>
          <p:cNvPr id="25" name="Shape 22"/>
          <p:cNvSpPr/>
          <p:nvPr/>
        </p:nvSpPr>
        <p:spPr>
          <a:xfrm>
            <a:off x="7315200" y="4480560"/>
            <a:ext cx="109728" cy="1325880"/>
          </a:xfrm>
          <a:prstGeom prst="rect">
            <a:avLst/>
          </a:prstGeom>
          <a:solidFill>
            <a:srgbClr val="2A9FD6"/>
          </a:solidFill>
          <a:ln/>
        </p:spPr>
        <p:txBody>
          <a:bodyPr/>
          <a:lstStyle/>
          <a:p>
            <a:endParaRPr lang="en-US"/>
          </a:p>
        </p:txBody>
      </p:sp>
      <p:sp>
        <p:nvSpPr>
          <p:cNvPr id="26" name="Text 23"/>
          <p:cNvSpPr txBox="1"/>
          <p:nvPr/>
        </p:nvSpPr>
        <p:spPr>
          <a:xfrm>
            <a:off x="7635240" y="4617720"/>
            <a:ext cx="3840480" cy="36576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Then try it</a:t>
            </a:r>
            <a:endParaRPr lang="en-US" sz="1800" dirty="0"/>
          </a:p>
        </p:txBody>
      </p:sp>
      <p:sp>
        <p:nvSpPr>
          <p:cNvPr id="27" name="Text 24"/>
          <p:cNvSpPr txBox="1"/>
          <p:nvPr/>
        </p:nvSpPr>
        <p:spPr>
          <a:xfrm>
            <a:off x="7635240" y="5010912"/>
            <a:ext cx="3886200" cy="73152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Put the option between the command and the file:  wc -l file</a:t>
            </a:r>
            <a:endParaRPr lang="en-US" sz="14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fontScale="92500" lnSpcReduction="20000"/>
          </a:bodyPr>
          <a:lstStyle/>
          <a:p>
            <a:pPr marL="0" indent="0">
              <a:buNone/>
            </a:pPr>
            <a:r>
              <a:rPr lang="en-US" sz="3200" b="1" dirty="0">
                <a:solidFill>
                  <a:srgbClr val="12213A"/>
                </a:solidFill>
                <a:latin typeface="Arial" pitchFamily="34" charset="0"/>
                <a:ea typeface="Arial" pitchFamily="34" charset="-122"/>
                <a:cs typeface="Arial" pitchFamily="34" charset="-120"/>
              </a:rPr>
              <a:t>Go deeper: man, and finding new commands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/bin | wc -l</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25</a:t>
            </a:r>
            <a:endParaRPr lang="en-US" sz="1000" dirty="0"/>
          </a:p>
        </p:txBody>
      </p:sp>
      <p:sp>
        <p:nvSpPr>
          <p:cNvPr id="10" name="Shape 7"/>
          <p:cNvSpPr/>
          <p:nvPr/>
        </p:nvSpPr>
        <p:spPr>
          <a:xfrm>
            <a:off x="548640" y="1463040"/>
            <a:ext cx="5989320" cy="1005840"/>
          </a:xfrm>
          <a:prstGeom prst="roundRect">
            <a:avLst>
              <a:gd name="adj" fmla="val 9091"/>
            </a:avLst>
          </a:prstGeom>
          <a:solidFill>
            <a:srgbClr val="F1F5FB"/>
          </a:solidFill>
          <a:ln/>
        </p:spPr>
        <p:txBody>
          <a:bodyPr/>
          <a:lstStyle/>
          <a:p>
            <a:endParaRPr lang="en-US"/>
          </a:p>
        </p:txBody>
      </p:sp>
      <p:sp>
        <p:nvSpPr>
          <p:cNvPr id="11" name="Shape 8"/>
          <p:cNvSpPr/>
          <p:nvPr/>
        </p:nvSpPr>
        <p:spPr>
          <a:xfrm>
            <a:off x="548640" y="1463040"/>
            <a:ext cx="91440" cy="1005840"/>
          </a:xfrm>
          <a:prstGeom prst="rect">
            <a:avLst/>
          </a:prstGeom>
          <a:solidFill>
            <a:srgbClr val="2459D8"/>
          </a:solidFill>
          <a:ln/>
        </p:spPr>
        <p:txBody>
          <a:bodyPr/>
          <a:lstStyle/>
          <a:p>
            <a:endParaRPr lang="en-US"/>
          </a:p>
        </p:txBody>
      </p:sp>
      <p:sp>
        <p:nvSpPr>
          <p:cNvPr id="12" name="Text 9"/>
          <p:cNvSpPr txBox="1"/>
          <p:nvPr/>
        </p:nvSpPr>
        <p:spPr>
          <a:xfrm>
            <a:off x="822960" y="1536192"/>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Read the manual</a:t>
            </a:r>
            <a:endParaRPr lang="en-US" sz="1700" dirty="0"/>
          </a:p>
        </p:txBody>
      </p:sp>
      <p:sp>
        <p:nvSpPr>
          <p:cNvPr id="13" name="Shape 10"/>
          <p:cNvSpPr/>
          <p:nvPr/>
        </p:nvSpPr>
        <p:spPr>
          <a:xfrm>
            <a:off x="3977640" y="1554480"/>
            <a:ext cx="2377440" cy="384048"/>
          </a:xfrm>
          <a:prstGeom prst="roundRect">
            <a:avLst>
              <a:gd name="adj" fmla="val 14286"/>
            </a:avLst>
          </a:prstGeom>
          <a:solidFill>
            <a:srgbClr val="0E1726"/>
          </a:solidFill>
          <a:ln/>
        </p:spPr>
        <p:txBody>
          <a:bodyPr/>
          <a:lstStyle/>
          <a:p>
            <a:endParaRPr lang="en-US"/>
          </a:p>
        </p:txBody>
      </p:sp>
      <p:sp>
        <p:nvSpPr>
          <p:cNvPr id="14" name="Text 11"/>
          <p:cNvSpPr txBox="1"/>
          <p:nvPr/>
        </p:nvSpPr>
        <p:spPr>
          <a:xfrm>
            <a:off x="3977640" y="1554480"/>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man grep</a:t>
            </a:r>
            <a:endParaRPr lang="en-US" sz="1300" dirty="0"/>
          </a:p>
        </p:txBody>
      </p:sp>
      <p:sp>
        <p:nvSpPr>
          <p:cNvPr id="15" name="Text 12"/>
          <p:cNvSpPr txBox="1"/>
          <p:nvPr/>
        </p:nvSpPr>
        <p:spPr>
          <a:xfrm>
            <a:off x="822960" y="1965960"/>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Every option and examples. Arrows to move, / to search, q to quit.  </a:t>
            </a: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16" name="Shape 13"/>
          <p:cNvSpPr/>
          <p:nvPr/>
        </p:nvSpPr>
        <p:spPr>
          <a:xfrm>
            <a:off x="548640" y="2578608"/>
            <a:ext cx="5989320" cy="1005840"/>
          </a:xfrm>
          <a:prstGeom prst="roundRect">
            <a:avLst>
              <a:gd name="adj" fmla="val 9091"/>
            </a:avLst>
          </a:prstGeom>
          <a:solidFill>
            <a:srgbClr val="F1F5FB"/>
          </a:solidFill>
          <a:ln/>
        </p:spPr>
        <p:txBody>
          <a:bodyPr/>
          <a:lstStyle/>
          <a:p>
            <a:endParaRPr lang="en-US"/>
          </a:p>
        </p:txBody>
      </p:sp>
      <p:sp>
        <p:nvSpPr>
          <p:cNvPr id="17" name="Shape 14"/>
          <p:cNvSpPr/>
          <p:nvPr/>
        </p:nvSpPr>
        <p:spPr>
          <a:xfrm>
            <a:off x="548640" y="2578608"/>
            <a:ext cx="91440" cy="1005840"/>
          </a:xfrm>
          <a:prstGeom prst="rect">
            <a:avLst/>
          </a:prstGeom>
          <a:solidFill>
            <a:srgbClr val="7448D4"/>
          </a:solidFill>
          <a:ln/>
        </p:spPr>
        <p:txBody>
          <a:bodyPr/>
          <a:lstStyle/>
          <a:p>
            <a:endParaRPr lang="en-US"/>
          </a:p>
        </p:txBody>
      </p:sp>
      <p:sp>
        <p:nvSpPr>
          <p:cNvPr id="18" name="Text 15"/>
          <p:cNvSpPr txBox="1"/>
          <p:nvPr/>
        </p:nvSpPr>
        <p:spPr>
          <a:xfrm>
            <a:off x="822960" y="2651760"/>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Search by the job</a:t>
            </a:r>
            <a:endParaRPr lang="en-US" sz="1700" dirty="0"/>
          </a:p>
        </p:txBody>
      </p:sp>
      <p:sp>
        <p:nvSpPr>
          <p:cNvPr id="19" name="Shape 16"/>
          <p:cNvSpPr/>
          <p:nvPr/>
        </p:nvSpPr>
        <p:spPr>
          <a:xfrm>
            <a:off x="3977640" y="2670048"/>
            <a:ext cx="2377440" cy="384048"/>
          </a:xfrm>
          <a:prstGeom prst="roundRect">
            <a:avLst>
              <a:gd name="adj" fmla="val 14286"/>
            </a:avLst>
          </a:prstGeom>
          <a:solidFill>
            <a:srgbClr val="0E1726"/>
          </a:solidFill>
          <a:ln/>
        </p:spPr>
        <p:txBody>
          <a:bodyPr/>
          <a:lstStyle/>
          <a:p>
            <a:endParaRPr lang="en-US"/>
          </a:p>
        </p:txBody>
      </p:sp>
      <p:sp>
        <p:nvSpPr>
          <p:cNvPr id="20" name="Text 17"/>
          <p:cNvSpPr txBox="1"/>
          <p:nvPr/>
        </p:nvSpPr>
        <p:spPr>
          <a:xfrm>
            <a:off x="3977640" y="2670048"/>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apropos rename</a:t>
            </a:r>
            <a:endParaRPr lang="en-US" sz="1300" dirty="0"/>
          </a:p>
        </p:txBody>
      </p:sp>
      <p:sp>
        <p:nvSpPr>
          <p:cNvPr id="21" name="Text 18"/>
          <p:cNvSpPr txBox="1"/>
          <p:nvPr/>
        </p:nvSpPr>
        <p:spPr>
          <a:xfrm>
            <a:off x="822960" y="3081528"/>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Don't know the name? Search what commands do. Same as man -k.  </a:t>
            </a: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22" name="Shape 19"/>
          <p:cNvSpPr/>
          <p:nvPr/>
        </p:nvSpPr>
        <p:spPr>
          <a:xfrm>
            <a:off x="548640" y="3694176"/>
            <a:ext cx="5989320" cy="1005840"/>
          </a:xfrm>
          <a:prstGeom prst="roundRect">
            <a:avLst>
              <a:gd name="adj" fmla="val 9091"/>
            </a:avLst>
          </a:prstGeom>
          <a:solidFill>
            <a:srgbClr val="F1F5FB"/>
          </a:solidFill>
          <a:ln/>
        </p:spPr>
        <p:txBody>
          <a:bodyPr/>
          <a:lstStyle/>
          <a:p>
            <a:endParaRPr lang="en-US"/>
          </a:p>
        </p:txBody>
      </p:sp>
      <p:sp>
        <p:nvSpPr>
          <p:cNvPr id="23" name="Shape 20"/>
          <p:cNvSpPr/>
          <p:nvPr/>
        </p:nvSpPr>
        <p:spPr>
          <a:xfrm>
            <a:off x="548640" y="3694176"/>
            <a:ext cx="91440" cy="1005840"/>
          </a:xfrm>
          <a:prstGeom prst="rect">
            <a:avLst/>
          </a:prstGeom>
          <a:solidFill>
            <a:srgbClr val="D1416B"/>
          </a:solidFill>
          <a:ln/>
        </p:spPr>
        <p:txBody>
          <a:bodyPr/>
          <a:lstStyle/>
          <a:p>
            <a:endParaRPr lang="en-US"/>
          </a:p>
        </p:txBody>
      </p:sp>
      <p:sp>
        <p:nvSpPr>
          <p:cNvPr id="24" name="Text 21"/>
          <p:cNvSpPr txBox="1"/>
          <p:nvPr/>
        </p:nvSpPr>
        <p:spPr>
          <a:xfrm>
            <a:off x="822960" y="3767328"/>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One line or a few examples</a:t>
            </a:r>
            <a:endParaRPr lang="en-US" sz="1700" dirty="0"/>
          </a:p>
        </p:txBody>
      </p:sp>
      <p:sp>
        <p:nvSpPr>
          <p:cNvPr id="25" name="Shape 22"/>
          <p:cNvSpPr/>
          <p:nvPr/>
        </p:nvSpPr>
        <p:spPr>
          <a:xfrm>
            <a:off x="3977640" y="3785616"/>
            <a:ext cx="2377440" cy="384048"/>
          </a:xfrm>
          <a:prstGeom prst="roundRect">
            <a:avLst>
              <a:gd name="adj" fmla="val 14286"/>
            </a:avLst>
          </a:prstGeom>
          <a:solidFill>
            <a:srgbClr val="0E1726"/>
          </a:solidFill>
          <a:ln/>
        </p:spPr>
        <p:txBody>
          <a:bodyPr/>
          <a:lstStyle/>
          <a:p>
            <a:endParaRPr lang="en-US"/>
          </a:p>
        </p:txBody>
      </p:sp>
      <p:sp>
        <p:nvSpPr>
          <p:cNvPr id="26" name="Text 23"/>
          <p:cNvSpPr txBox="1"/>
          <p:nvPr/>
        </p:nvSpPr>
        <p:spPr>
          <a:xfrm>
            <a:off x="3977640" y="3785616"/>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whatis ls   tldr tar</a:t>
            </a:r>
            <a:endParaRPr lang="en-US" sz="1300" dirty="0"/>
          </a:p>
        </p:txBody>
      </p:sp>
      <p:sp>
        <p:nvSpPr>
          <p:cNvPr id="27" name="Text 24"/>
          <p:cNvSpPr txBox="1"/>
          <p:nvPr/>
        </p:nvSpPr>
        <p:spPr>
          <a:xfrm>
            <a:off x="822960" y="4197096"/>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A one-line summary, or the most useful examples.  </a:t>
            </a: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28" name="Shape 25"/>
          <p:cNvSpPr/>
          <p:nvPr/>
        </p:nvSpPr>
        <p:spPr>
          <a:xfrm>
            <a:off x="548640" y="4809744"/>
            <a:ext cx="5989320" cy="1005840"/>
          </a:xfrm>
          <a:prstGeom prst="roundRect">
            <a:avLst>
              <a:gd name="adj" fmla="val 9091"/>
            </a:avLst>
          </a:prstGeom>
          <a:solidFill>
            <a:srgbClr val="F1F5FB"/>
          </a:solidFill>
          <a:ln/>
        </p:spPr>
        <p:txBody>
          <a:bodyPr/>
          <a:lstStyle/>
          <a:p>
            <a:endParaRPr lang="en-US"/>
          </a:p>
        </p:txBody>
      </p:sp>
      <p:sp>
        <p:nvSpPr>
          <p:cNvPr id="29" name="Shape 26"/>
          <p:cNvSpPr/>
          <p:nvPr/>
        </p:nvSpPr>
        <p:spPr>
          <a:xfrm>
            <a:off x="548640" y="4809744"/>
            <a:ext cx="91440" cy="1005840"/>
          </a:xfrm>
          <a:prstGeom prst="rect">
            <a:avLst/>
          </a:prstGeom>
          <a:solidFill>
            <a:srgbClr val="17875A"/>
          </a:solidFill>
          <a:ln/>
        </p:spPr>
        <p:txBody>
          <a:bodyPr/>
          <a:lstStyle/>
          <a:p>
            <a:endParaRPr lang="en-US"/>
          </a:p>
        </p:txBody>
      </p:sp>
      <p:sp>
        <p:nvSpPr>
          <p:cNvPr id="30" name="Text 27"/>
          <p:cNvSpPr txBox="1"/>
          <p:nvPr/>
        </p:nvSpPr>
        <p:spPr>
          <a:xfrm>
            <a:off x="822960" y="4882896"/>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See everything you have</a:t>
            </a:r>
            <a:endParaRPr lang="en-US" sz="1700" dirty="0"/>
          </a:p>
        </p:txBody>
      </p:sp>
      <p:sp>
        <p:nvSpPr>
          <p:cNvPr id="31" name="Shape 28"/>
          <p:cNvSpPr/>
          <p:nvPr/>
        </p:nvSpPr>
        <p:spPr>
          <a:xfrm>
            <a:off x="3977640" y="4901184"/>
            <a:ext cx="2377440" cy="384048"/>
          </a:xfrm>
          <a:prstGeom prst="roundRect">
            <a:avLst>
              <a:gd name="adj" fmla="val 14286"/>
            </a:avLst>
          </a:prstGeom>
          <a:solidFill>
            <a:srgbClr val="0E1726"/>
          </a:solidFill>
          <a:ln/>
        </p:spPr>
        <p:txBody>
          <a:bodyPr/>
          <a:lstStyle/>
          <a:p>
            <a:endParaRPr lang="en-US"/>
          </a:p>
        </p:txBody>
      </p:sp>
      <p:sp>
        <p:nvSpPr>
          <p:cNvPr id="32" name="Text 29"/>
          <p:cNvSpPr txBox="1"/>
          <p:nvPr/>
        </p:nvSpPr>
        <p:spPr>
          <a:xfrm>
            <a:off x="3977640" y="4901184"/>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ls /bin</a:t>
            </a:r>
            <a:endParaRPr lang="en-US" sz="1300" dirty="0"/>
          </a:p>
        </p:txBody>
      </p:sp>
      <p:sp>
        <p:nvSpPr>
          <p:cNvPr id="33" name="Text 30"/>
          <p:cNvSpPr txBox="1"/>
          <p:nvPr/>
        </p:nvSpPr>
        <p:spPr>
          <a:xfrm>
            <a:off x="822960" y="5312664"/>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Every command on this computer. In the CTF too.  </a:t>
            </a:r>
            <a:r>
              <a:rPr lang="en-US" sz="1300" b="1" dirty="0">
                <a:solidFill>
                  <a:srgbClr val="17875A"/>
                </a:solidFill>
                <a:latin typeface="Calibri" pitchFamily="34" charset="0"/>
                <a:ea typeface="Calibri" pitchFamily="34" charset="-122"/>
                <a:cs typeface="Calibri" pitchFamily="34" charset="-120"/>
              </a:rPr>
              <a:t>works in the CTF</a:t>
            </a:r>
            <a:endParaRPr lang="en-US" sz="1300" dirty="0"/>
          </a:p>
        </p:txBody>
      </p:sp>
      <p:sp>
        <p:nvSpPr>
          <p:cNvPr id="34" name="Shape 31"/>
          <p:cNvSpPr/>
          <p:nvPr/>
        </p:nvSpPr>
        <p:spPr>
          <a:xfrm>
            <a:off x="6766560" y="1463040"/>
            <a:ext cx="4873752"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5" name="Shape 32"/>
          <p:cNvSpPr/>
          <p:nvPr/>
        </p:nvSpPr>
        <p:spPr>
          <a:xfrm>
            <a:off x="6967728" y="1618488"/>
            <a:ext cx="118872" cy="118872"/>
          </a:xfrm>
          <a:prstGeom prst="ellipse">
            <a:avLst/>
          </a:prstGeom>
          <a:solidFill>
            <a:srgbClr val="E5534B"/>
          </a:solidFill>
          <a:ln/>
        </p:spPr>
        <p:txBody>
          <a:bodyPr/>
          <a:lstStyle/>
          <a:p>
            <a:endParaRPr lang="en-US"/>
          </a:p>
        </p:txBody>
      </p:sp>
      <p:sp>
        <p:nvSpPr>
          <p:cNvPr id="36" name="Shape 33"/>
          <p:cNvSpPr/>
          <p:nvPr/>
        </p:nvSpPr>
        <p:spPr>
          <a:xfrm>
            <a:off x="7168896" y="1618488"/>
            <a:ext cx="118872" cy="118872"/>
          </a:xfrm>
          <a:prstGeom prst="ellipse">
            <a:avLst/>
          </a:prstGeom>
          <a:solidFill>
            <a:srgbClr val="F5A623"/>
          </a:solidFill>
          <a:ln/>
        </p:spPr>
        <p:txBody>
          <a:bodyPr/>
          <a:lstStyle/>
          <a:p>
            <a:endParaRPr lang="en-US"/>
          </a:p>
        </p:txBody>
      </p:sp>
      <p:sp>
        <p:nvSpPr>
          <p:cNvPr id="37" name="Shape 34"/>
          <p:cNvSpPr/>
          <p:nvPr/>
        </p:nvSpPr>
        <p:spPr>
          <a:xfrm>
            <a:off x="7370064" y="1618488"/>
            <a:ext cx="118872" cy="118872"/>
          </a:xfrm>
          <a:prstGeom prst="ellipse">
            <a:avLst/>
          </a:prstGeom>
          <a:solidFill>
            <a:srgbClr val="46D39A"/>
          </a:solidFill>
          <a:ln/>
        </p:spPr>
        <p:txBody>
          <a:bodyPr/>
          <a:lstStyle/>
          <a:p>
            <a:endParaRPr lang="en-US"/>
          </a:p>
        </p:txBody>
      </p:sp>
      <p:sp>
        <p:nvSpPr>
          <p:cNvPr id="38" name="Text 35"/>
          <p:cNvSpPr txBox="1"/>
          <p:nvPr/>
        </p:nvSpPr>
        <p:spPr>
          <a:xfrm>
            <a:off x="7680960" y="1536192"/>
            <a:ext cx="304495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discovering commands</a:t>
            </a:r>
            <a:endParaRPr lang="en-US" sz="1000" dirty="0"/>
          </a:p>
        </p:txBody>
      </p:sp>
      <p:sp>
        <p:nvSpPr>
          <p:cNvPr id="39" name="Text 36"/>
          <p:cNvSpPr txBox="1"/>
          <p:nvPr/>
        </p:nvSpPr>
        <p:spPr>
          <a:xfrm>
            <a:off x="7040880" y="1920240"/>
            <a:ext cx="4325112" cy="3840480"/>
          </a:xfrm>
          <a:prstGeom prst="rect">
            <a:avLst/>
          </a:prstGeom>
          <a:noFill/>
          <a:ln/>
        </p:spPr>
        <p:txBody>
          <a:bodyPr wrap="square" lIns="0" tIns="0" rIns="0" bIns="0" rtlCol="0" anchor="t"/>
          <a:lstStyle/>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on a full Linux machine or a Mac:</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apropos rename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mv (1)        - move (rename) files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rename (1)    - rename multiple files</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man mv</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press q to quit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in the CTF:</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/bin | wc -l</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 hundreds of commands</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/bin | grep sum</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md5sum  sha1sum  sha256sum ...</a:t>
            </a:r>
            <a:endParaRPr lang="en-US" sz="1400" dirty="0"/>
          </a:p>
        </p:txBody>
      </p:sp>
      <p:sp>
        <p:nvSpPr>
          <p:cNvPr id="40" name="Text 37"/>
          <p:cNvSpPr txBox="1"/>
          <p:nvPr/>
        </p:nvSpPr>
        <p:spPr>
          <a:xfrm>
            <a:off x="548640" y="5989320"/>
            <a:ext cx="11094415" cy="320040"/>
          </a:xfrm>
          <a:prstGeom prst="rect">
            <a:avLst/>
          </a:prstGeom>
          <a:noFill/>
          <a:ln/>
        </p:spPr>
        <p:txBody>
          <a:bodyPr wrap="square" lIns="0" tIns="0" rIns="0" bIns="0" rtlCol="0" anchor="t"/>
          <a:lstStyle/>
          <a:p>
            <a:pPr marL="0" indent="0">
              <a:buNone/>
            </a:pPr>
            <a:r>
              <a:rPr lang="en-US" sz="1300" b="1" dirty="0">
                <a:solidFill>
                  <a:srgbClr val="56657E"/>
                </a:solidFill>
                <a:latin typeface="Calibri" pitchFamily="34" charset="0"/>
                <a:ea typeface="Calibri" pitchFamily="34" charset="-122"/>
                <a:cs typeface="Calibri" pitchFamily="34" charset="-120"/>
              </a:rPr>
              <a:t>Online: </a:t>
            </a:r>
            <a:r>
              <a:rPr lang="en-US" sz="1300" dirty="0">
                <a:solidFill>
                  <a:srgbClr val="56657E"/>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http://www.explainshell.com</a:t>
            </a:r>
            <a:r>
              <a:rPr lang="en-US" sz="1300" dirty="0">
                <a:solidFill>
                  <a:srgbClr val="56657E"/>
                </a:solidFill>
                <a:latin typeface="Calibri" pitchFamily="34" charset="0"/>
                <a:ea typeface="Calibri" pitchFamily="34" charset="-122"/>
                <a:cs typeface="Calibri" pitchFamily="34" charset="-120"/>
              </a:rPr>
              <a:t> explains any command line, part by part. tldr.sh has short examples.</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16"/>
                                        </p:tgtEl>
                                        <p:attrNameLst>
                                          <p:attrName>style.opacity</p:attrName>
                                        </p:attrNameLst>
                                      </p:cBhvr>
                                      <p:to>
                                        <p:strVal val="0.25"/>
                                      </p:to>
                                    </p:set>
                                    <p:animEffect filter="image" prLst="opacity: 0.25">
                                      <p:cBhvr rctx="IE">
                                        <p:cTn id="7" dur="1" fill="hold"/>
                                        <p:tgtEl>
                                          <p:spTgt spid="16"/>
                                        </p:tgtEl>
                                      </p:cBhvr>
                                    </p:animEffect>
                                  </p:childTnLst>
                                </p:cTn>
                              </p:par>
                              <p:par>
                                <p:cTn id="8" presetID="9" presetClass="emph" presetSubtype="0" fill="hold" grpId="0" nodeType="withEffect">
                                  <p:stCondLst>
                                    <p:cond delay="0"/>
                                  </p:stCondLst>
                                  <p:childTnLst>
                                    <p:set>
                                      <p:cBhvr>
                                        <p:cTn id="9" dur="1" fill="hold"/>
                                        <p:tgtEl>
                                          <p:spTgt spid="17"/>
                                        </p:tgtEl>
                                        <p:attrNameLst>
                                          <p:attrName>style.opacity</p:attrName>
                                        </p:attrNameLst>
                                      </p:cBhvr>
                                      <p:to>
                                        <p:strVal val="0.25"/>
                                      </p:to>
                                    </p:set>
                                    <p:animEffect filter="image" prLst="opacity: 0.25">
                                      <p:cBhvr rctx="IE">
                                        <p:cTn id="10" dur="1" fill="hold"/>
                                        <p:tgtEl>
                                          <p:spTgt spid="17"/>
                                        </p:tgtEl>
                                      </p:cBhvr>
                                    </p:animEffect>
                                  </p:childTnLst>
                                </p:cTn>
                              </p:par>
                              <p:par>
                                <p:cTn id="11" presetID="9" presetClass="emph" presetSubtype="0" fill="hold" grpId="0" nodeType="withEffect">
                                  <p:stCondLst>
                                    <p:cond delay="0"/>
                                  </p:stCondLst>
                                  <p:childTnLst>
                                    <p:set>
                                      <p:cBhvr>
                                        <p:cTn id="12" dur="1" fill="hold"/>
                                        <p:tgtEl>
                                          <p:spTgt spid="18"/>
                                        </p:tgtEl>
                                        <p:attrNameLst>
                                          <p:attrName>style.opacity</p:attrName>
                                        </p:attrNameLst>
                                      </p:cBhvr>
                                      <p:to>
                                        <p:strVal val="0.25"/>
                                      </p:to>
                                    </p:set>
                                    <p:animEffect filter="image" prLst="opacity: 0.25">
                                      <p:cBhvr rctx="IE">
                                        <p:cTn id="13" dur="1" fill="hold"/>
                                        <p:tgtEl>
                                          <p:spTgt spid="18"/>
                                        </p:tgtEl>
                                      </p:cBhvr>
                                    </p:animEffect>
                                  </p:childTnLst>
                                </p:cTn>
                              </p:par>
                              <p:par>
                                <p:cTn id="14" presetID="9" presetClass="emph" presetSubtype="0" fill="hold" grpId="0" nodeType="withEffect">
                                  <p:stCondLst>
                                    <p:cond delay="0"/>
                                  </p:stCondLst>
                                  <p:childTnLst>
                                    <p:set>
                                      <p:cBhvr>
                                        <p:cTn id="15" dur="1" fill="hold"/>
                                        <p:tgtEl>
                                          <p:spTgt spid="19"/>
                                        </p:tgtEl>
                                        <p:attrNameLst>
                                          <p:attrName>style.opacity</p:attrName>
                                        </p:attrNameLst>
                                      </p:cBhvr>
                                      <p:to>
                                        <p:strVal val="0.25"/>
                                      </p:to>
                                    </p:set>
                                    <p:animEffect filter="image" prLst="opacity: 0.25">
                                      <p:cBhvr rctx="IE">
                                        <p:cTn id="16" dur="1" fill="hold"/>
                                        <p:tgtEl>
                                          <p:spTgt spid="19"/>
                                        </p:tgtEl>
                                      </p:cBhvr>
                                    </p:animEffect>
                                  </p:childTnLst>
                                </p:cTn>
                              </p:par>
                              <p:par>
                                <p:cTn id="17" presetID="9" presetClass="emph" presetSubtype="0" fill="hold" grpId="0" nodeType="withEffect">
                                  <p:stCondLst>
                                    <p:cond delay="0"/>
                                  </p:stCondLst>
                                  <p:childTnLst>
                                    <p:set>
                                      <p:cBhvr>
                                        <p:cTn id="18" dur="1" fill="hold"/>
                                        <p:tgtEl>
                                          <p:spTgt spid="20"/>
                                        </p:tgtEl>
                                        <p:attrNameLst>
                                          <p:attrName>style.opacity</p:attrName>
                                        </p:attrNameLst>
                                      </p:cBhvr>
                                      <p:to>
                                        <p:strVal val="0.25"/>
                                      </p:to>
                                    </p:set>
                                    <p:animEffect filter="image" prLst="opacity: 0.25">
                                      <p:cBhvr rctx="IE">
                                        <p:cTn id="19" dur="1" fill="hold"/>
                                        <p:tgtEl>
                                          <p:spTgt spid="20"/>
                                        </p:tgtEl>
                                      </p:cBhvr>
                                    </p:animEffect>
                                  </p:childTnLst>
                                </p:cTn>
                              </p:par>
                              <p:par>
                                <p:cTn id="20" presetID="9" presetClass="emph" presetSubtype="0" fill="hold" grpId="0" nodeType="withEffect">
                                  <p:stCondLst>
                                    <p:cond delay="0"/>
                                  </p:stCondLst>
                                  <p:childTnLst>
                                    <p:set>
                                      <p:cBhvr>
                                        <p:cTn id="21" dur="1" fill="hold"/>
                                        <p:tgtEl>
                                          <p:spTgt spid="21"/>
                                        </p:tgtEl>
                                        <p:attrNameLst>
                                          <p:attrName>style.opacity</p:attrName>
                                        </p:attrNameLst>
                                      </p:cBhvr>
                                      <p:to>
                                        <p:strVal val="0.25"/>
                                      </p:to>
                                    </p:set>
                                    <p:animEffect filter="image" prLst="opacity: 0.25">
                                      <p:cBhvr rctx="IE">
                                        <p:cTn id="22" dur="1" fill="hold"/>
                                        <p:tgtEl>
                                          <p:spTgt spid="21"/>
                                        </p:tgtEl>
                                      </p:cBhvr>
                                    </p:animEffect>
                                  </p:childTnLst>
                                </p:cTn>
                              </p:par>
                              <p:par>
                                <p:cTn id="23" presetID="9" presetClass="emph" presetSubtype="0" fill="hold" grpId="0" nodeType="withEffect">
                                  <p:stCondLst>
                                    <p:cond delay="0"/>
                                  </p:stCondLst>
                                  <p:childTnLst>
                                    <p:set>
                                      <p:cBhvr>
                                        <p:cTn id="24" dur="1" fill="hold"/>
                                        <p:tgtEl>
                                          <p:spTgt spid="22"/>
                                        </p:tgtEl>
                                        <p:attrNameLst>
                                          <p:attrName>style.opacity</p:attrName>
                                        </p:attrNameLst>
                                      </p:cBhvr>
                                      <p:to>
                                        <p:strVal val="0.25"/>
                                      </p:to>
                                    </p:set>
                                    <p:animEffect filter="image" prLst="opacity: 0.25">
                                      <p:cBhvr rctx="IE">
                                        <p:cTn id="25" dur="1" fill="hold"/>
                                        <p:tgtEl>
                                          <p:spTgt spid="22"/>
                                        </p:tgtEl>
                                      </p:cBhvr>
                                    </p:animEffect>
                                  </p:childTnLst>
                                </p:cTn>
                              </p:par>
                              <p:par>
                                <p:cTn id="26" presetID="9" presetClass="emph" presetSubtype="0" fill="hold" grpId="0" nodeType="withEffect">
                                  <p:stCondLst>
                                    <p:cond delay="0"/>
                                  </p:stCondLst>
                                  <p:childTnLst>
                                    <p:set>
                                      <p:cBhvr>
                                        <p:cTn id="27" dur="1" fill="hold"/>
                                        <p:tgtEl>
                                          <p:spTgt spid="23"/>
                                        </p:tgtEl>
                                        <p:attrNameLst>
                                          <p:attrName>style.opacity</p:attrName>
                                        </p:attrNameLst>
                                      </p:cBhvr>
                                      <p:to>
                                        <p:strVal val="0.25"/>
                                      </p:to>
                                    </p:set>
                                    <p:animEffect filter="image" prLst="opacity: 0.25">
                                      <p:cBhvr rctx="IE">
                                        <p:cTn id="28" dur="1" fill="hold"/>
                                        <p:tgtEl>
                                          <p:spTgt spid="23"/>
                                        </p:tgtEl>
                                      </p:cBhvr>
                                    </p:animEffect>
                                  </p:childTnLst>
                                </p:cTn>
                              </p:par>
                              <p:par>
                                <p:cTn id="29" presetID="9" presetClass="emph" presetSubtype="0" fill="hold" grpId="0" nodeType="withEffect">
                                  <p:stCondLst>
                                    <p:cond delay="0"/>
                                  </p:stCondLst>
                                  <p:childTnLst>
                                    <p:set>
                                      <p:cBhvr>
                                        <p:cTn id="30" dur="1" fill="hold"/>
                                        <p:tgtEl>
                                          <p:spTgt spid="24"/>
                                        </p:tgtEl>
                                        <p:attrNameLst>
                                          <p:attrName>style.opacity</p:attrName>
                                        </p:attrNameLst>
                                      </p:cBhvr>
                                      <p:to>
                                        <p:strVal val="0.25"/>
                                      </p:to>
                                    </p:set>
                                    <p:animEffect filter="image" prLst="opacity: 0.25">
                                      <p:cBhvr rctx="IE">
                                        <p:cTn id="31" dur="1" fill="hold"/>
                                        <p:tgtEl>
                                          <p:spTgt spid="24"/>
                                        </p:tgtEl>
                                      </p:cBhvr>
                                    </p:animEffect>
                                  </p:childTnLst>
                                </p:cTn>
                              </p:par>
                              <p:par>
                                <p:cTn id="32" presetID="9" presetClass="emph" presetSubtype="0" fill="hold" grpId="0" nodeType="withEffect">
                                  <p:stCondLst>
                                    <p:cond delay="0"/>
                                  </p:stCondLst>
                                  <p:childTnLst>
                                    <p:set>
                                      <p:cBhvr>
                                        <p:cTn id="33" dur="1" fill="hold"/>
                                        <p:tgtEl>
                                          <p:spTgt spid="25"/>
                                        </p:tgtEl>
                                        <p:attrNameLst>
                                          <p:attrName>style.opacity</p:attrName>
                                        </p:attrNameLst>
                                      </p:cBhvr>
                                      <p:to>
                                        <p:strVal val="0.25"/>
                                      </p:to>
                                    </p:set>
                                    <p:animEffect filter="image" prLst="opacity: 0.25">
                                      <p:cBhvr rctx="IE">
                                        <p:cTn id="34" dur="1" fill="hold"/>
                                        <p:tgtEl>
                                          <p:spTgt spid="25"/>
                                        </p:tgtEl>
                                      </p:cBhvr>
                                    </p:animEffect>
                                  </p:childTnLst>
                                </p:cTn>
                              </p:par>
                              <p:par>
                                <p:cTn id="35" presetID="9" presetClass="emph" presetSubtype="0" fill="hold" grpId="0" nodeType="withEffect">
                                  <p:stCondLst>
                                    <p:cond delay="0"/>
                                  </p:stCondLst>
                                  <p:childTnLst>
                                    <p:set>
                                      <p:cBhvr>
                                        <p:cTn id="36" dur="1" fill="hold"/>
                                        <p:tgtEl>
                                          <p:spTgt spid="26"/>
                                        </p:tgtEl>
                                        <p:attrNameLst>
                                          <p:attrName>style.opacity</p:attrName>
                                        </p:attrNameLst>
                                      </p:cBhvr>
                                      <p:to>
                                        <p:strVal val="0.25"/>
                                      </p:to>
                                    </p:set>
                                    <p:animEffect filter="image" prLst="opacity: 0.25">
                                      <p:cBhvr rctx="IE">
                                        <p:cTn id="37" dur="1" fill="hold"/>
                                        <p:tgtEl>
                                          <p:spTgt spid="26"/>
                                        </p:tgtEl>
                                      </p:cBhvr>
                                    </p:animEffect>
                                  </p:childTnLst>
                                </p:cTn>
                              </p:par>
                              <p:par>
                                <p:cTn id="38" presetID="9" presetClass="emph" presetSubtype="0" fill="hold" grpId="0" nodeType="withEffect">
                                  <p:stCondLst>
                                    <p:cond delay="0"/>
                                  </p:stCondLst>
                                  <p:childTnLst>
                                    <p:set>
                                      <p:cBhvr>
                                        <p:cTn id="39" dur="1" fill="hold"/>
                                        <p:tgtEl>
                                          <p:spTgt spid="27"/>
                                        </p:tgtEl>
                                        <p:attrNameLst>
                                          <p:attrName>style.opacity</p:attrName>
                                        </p:attrNameLst>
                                      </p:cBhvr>
                                      <p:to>
                                        <p:strVal val="0.25"/>
                                      </p:to>
                                    </p:set>
                                    <p:animEffect filter="image" prLst="opacity: 0.25">
                                      <p:cBhvr rctx="IE">
                                        <p:cTn id="40" dur="1" fill="hold"/>
                                        <p:tgtEl>
                                          <p:spTgt spid="27"/>
                                        </p:tgtEl>
                                      </p:cBhvr>
                                    </p:animEffect>
                                  </p:childTnLst>
                                </p:cTn>
                              </p:par>
                              <p:par>
                                <p:cTn id="41" presetID="9" presetClass="emph" presetSubtype="0" fill="hold" grpId="0" nodeType="withEffect">
                                  <p:stCondLst>
                                    <p:cond delay="0"/>
                                  </p:stCondLst>
                                  <p:childTnLst>
                                    <p:set>
                                      <p:cBhvr>
                                        <p:cTn id="42" dur="1" fill="hold"/>
                                        <p:tgtEl>
                                          <p:spTgt spid="28"/>
                                        </p:tgtEl>
                                        <p:attrNameLst>
                                          <p:attrName>style.opacity</p:attrName>
                                        </p:attrNameLst>
                                      </p:cBhvr>
                                      <p:to>
                                        <p:strVal val="0.25"/>
                                      </p:to>
                                    </p:set>
                                    <p:animEffect filter="image" prLst="opacity: 0.25">
                                      <p:cBhvr rctx="IE">
                                        <p:cTn id="43" dur="1" fill="hold"/>
                                        <p:tgtEl>
                                          <p:spTgt spid="28"/>
                                        </p:tgtEl>
                                      </p:cBhvr>
                                    </p:animEffect>
                                  </p:childTnLst>
                                </p:cTn>
                              </p:par>
                              <p:par>
                                <p:cTn id="44" presetID="9" presetClass="emph" presetSubtype="0" fill="hold" grpId="0" nodeType="withEffect">
                                  <p:stCondLst>
                                    <p:cond delay="0"/>
                                  </p:stCondLst>
                                  <p:childTnLst>
                                    <p:set>
                                      <p:cBhvr>
                                        <p:cTn id="45" dur="1" fill="hold"/>
                                        <p:tgtEl>
                                          <p:spTgt spid="29"/>
                                        </p:tgtEl>
                                        <p:attrNameLst>
                                          <p:attrName>style.opacity</p:attrName>
                                        </p:attrNameLst>
                                      </p:cBhvr>
                                      <p:to>
                                        <p:strVal val="0.25"/>
                                      </p:to>
                                    </p:set>
                                    <p:animEffect filter="image" prLst="opacity: 0.25">
                                      <p:cBhvr rctx="IE">
                                        <p:cTn id="46" dur="1" fill="hold"/>
                                        <p:tgtEl>
                                          <p:spTgt spid="29"/>
                                        </p:tgtEl>
                                      </p:cBhvr>
                                    </p:animEffect>
                                  </p:childTnLst>
                                </p:cTn>
                              </p:par>
                              <p:par>
                                <p:cTn id="47" presetID="9" presetClass="emph" presetSubtype="0" fill="hold" grpId="0" nodeType="withEffect">
                                  <p:stCondLst>
                                    <p:cond delay="0"/>
                                  </p:stCondLst>
                                  <p:childTnLst>
                                    <p:set>
                                      <p:cBhvr>
                                        <p:cTn id="48" dur="1" fill="hold"/>
                                        <p:tgtEl>
                                          <p:spTgt spid="30"/>
                                        </p:tgtEl>
                                        <p:attrNameLst>
                                          <p:attrName>style.opacity</p:attrName>
                                        </p:attrNameLst>
                                      </p:cBhvr>
                                      <p:to>
                                        <p:strVal val="0.25"/>
                                      </p:to>
                                    </p:set>
                                    <p:animEffect filter="image" prLst="opacity: 0.25">
                                      <p:cBhvr rctx="IE">
                                        <p:cTn id="49" dur="1" fill="hold"/>
                                        <p:tgtEl>
                                          <p:spTgt spid="30"/>
                                        </p:tgtEl>
                                      </p:cBhvr>
                                    </p:animEffect>
                                  </p:childTnLst>
                                </p:cTn>
                              </p:par>
                              <p:par>
                                <p:cTn id="50" presetID="9" presetClass="emph" presetSubtype="0" fill="hold" grpId="0" nodeType="withEffect">
                                  <p:stCondLst>
                                    <p:cond delay="0"/>
                                  </p:stCondLst>
                                  <p:childTnLst>
                                    <p:set>
                                      <p:cBhvr>
                                        <p:cTn id="51" dur="1" fill="hold"/>
                                        <p:tgtEl>
                                          <p:spTgt spid="31"/>
                                        </p:tgtEl>
                                        <p:attrNameLst>
                                          <p:attrName>style.opacity</p:attrName>
                                        </p:attrNameLst>
                                      </p:cBhvr>
                                      <p:to>
                                        <p:strVal val="0.25"/>
                                      </p:to>
                                    </p:set>
                                    <p:animEffect filter="image" prLst="opacity: 0.25">
                                      <p:cBhvr rctx="IE">
                                        <p:cTn id="52" dur="1" fill="hold"/>
                                        <p:tgtEl>
                                          <p:spTgt spid="31"/>
                                        </p:tgtEl>
                                      </p:cBhvr>
                                    </p:animEffect>
                                  </p:childTnLst>
                                </p:cTn>
                              </p:par>
                              <p:par>
                                <p:cTn id="53" presetID="9" presetClass="emph" presetSubtype="0" fill="hold" grpId="0" nodeType="withEffect">
                                  <p:stCondLst>
                                    <p:cond delay="0"/>
                                  </p:stCondLst>
                                  <p:childTnLst>
                                    <p:set>
                                      <p:cBhvr>
                                        <p:cTn id="54" dur="1" fill="hold"/>
                                        <p:tgtEl>
                                          <p:spTgt spid="32"/>
                                        </p:tgtEl>
                                        <p:attrNameLst>
                                          <p:attrName>style.opacity</p:attrName>
                                        </p:attrNameLst>
                                      </p:cBhvr>
                                      <p:to>
                                        <p:strVal val="0.25"/>
                                      </p:to>
                                    </p:set>
                                    <p:animEffect filter="image" prLst="opacity: 0.25">
                                      <p:cBhvr rctx="IE">
                                        <p:cTn id="55" dur="1" fill="hold"/>
                                        <p:tgtEl>
                                          <p:spTgt spid="32"/>
                                        </p:tgtEl>
                                      </p:cBhvr>
                                    </p:animEffect>
                                  </p:childTnLst>
                                </p:cTn>
                              </p:par>
                              <p:par>
                                <p:cTn id="56" presetID="9" presetClass="emph" presetSubtype="0" fill="hold" grpId="0" nodeType="withEffect">
                                  <p:stCondLst>
                                    <p:cond delay="0"/>
                                  </p:stCondLst>
                                  <p:childTnLst>
                                    <p:set>
                                      <p:cBhvr>
                                        <p:cTn id="57" dur="1" fill="hold"/>
                                        <p:tgtEl>
                                          <p:spTgt spid="33"/>
                                        </p:tgtEl>
                                        <p:attrNameLst>
                                          <p:attrName>style.opacity</p:attrName>
                                        </p:attrNameLst>
                                      </p:cBhvr>
                                      <p:to>
                                        <p:strVal val="0.25"/>
                                      </p:to>
                                    </p:set>
                                    <p:animEffect filter="image" prLst="opacity: 0.25">
                                      <p:cBhvr rctx="IE">
                                        <p:cTn id="58" dur="1" fill="hold"/>
                                        <p:tgtEl>
                                          <p:spTgt spid="33"/>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mph" presetSubtype="0" fill="hold" grpId="0" nodeType="clickEffect">
                                  <p:stCondLst>
                                    <p:cond delay="0"/>
                                  </p:stCondLst>
                                  <p:childTnLst>
                                    <p:set>
                                      <p:cBhvr>
                                        <p:cTn id="62" dur="400" fill="hold"/>
                                        <p:tgtEl>
                                          <p:spTgt spid="16"/>
                                        </p:tgtEl>
                                        <p:attrNameLst>
                                          <p:attrName>style.opacity</p:attrName>
                                        </p:attrNameLst>
                                      </p:cBhvr>
                                      <p:to>
                                        <p:strVal val="1"/>
                                      </p:to>
                                    </p:set>
                                    <p:animEffect filter="image" prLst="opacity: 1">
                                      <p:cBhvr rctx="IE">
                                        <p:cTn id="63" dur="400" fill="hold"/>
                                        <p:tgtEl>
                                          <p:spTgt spid="16"/>
                                        </p:tgtEl>
                                      </p:cBhvr>
                                    </p:animEffect>
                                  </p:childTnLst>
                                </p:cTn>
                              </p:par>
                              <p:par>
                                <p:cTn id="64" presetID="9" presetClass="emph" presetSubtype="0" fill="hold" grpId="0" nodeType="withEffect">
                                  <p:stCondLst>
                                    <p:cond delay="0"/>
                                  </p:stCondLst>
                                  <p:childTnLst>
                                    <p:set>
                                      <p:cBhvr>
                                        <p:cTn id="65" dur="400" fill="hold"/>
                                        <p:tgtEl>
                                          <p:spTgt spid="17"/>
                                        </p:tgtEl>
                                        <p:attrNameLst>
                                          <p:attrName>style.opacity</p:attrName>
                                        </p:attrNameLst>
                                      </p:cBhvr>
                                      <p:to>
                                        <p:strVal val="1"/>
                                      </p:to>
                                    </p:set>
                                    <p:animEffect filter="image" prLst="opacity: 1">
                                      <p:cBhvr rctx="IE">
                                        <p:cTn id="66" dur="400" fill="hold"/>
                                        <p:tgtEl>
                                          <p:spTgt spid="17"/>
                                        </p:tgtEl>
                                      </p:cBhvr>
                                    </p:animEffect>
                                  </p:childTnLst>
                                </p:cTn>
                              </p:par>
                              <p:par>
                                <p:cTn id="67" presetID="9" presetClass="emph" presetSubtype="0" fill="hold" grpId="0" nodeType="withEffect">
                                  <p:stCondLst>
                                    <p:cond delay="0"/>
                                  </p:stCondLst>
                                  <p:childTnLst>
                                    <p:set>
                                      <p:cBhvr>
                                        <p:cTn id="68" dur="400" fill="hold"/>
                                        <p:tgtEl>
                                          <p:spTgt spid="18"/>
                                        </p:tgtEl>
                                        <p:attrNameLst>
                                          <p:attrName>style.opacity</p:attrName>
                                        </p:attrNameLst>
                                      </p:cBhvr>
                                      <p:to>
                                        <p:strVal val="1"/>
                                      </p:to>
                                    </p:set>
                                    <p:animEffect filter="image" prLst="opacity: 1">
                                      <p:cBhvr rctx="IE">
                                        <p:cTn id="69" dur="400" fill="hold"/>
                                        <p:tgtEl>
                                          <p:spTgt spid="18"/>
                                        </p:tgtEl>
                                      </p:cBhvr>
                                    </p:animEffect>
                                  </p:childTnLst>
                                </p:cTn>
                              </p:par>
                              <p:par>
                                <p:cTn id="70" presetID="9" presetClass="emph" presetSubtype="0" fill="hold" grpId="0" nodeType="withEffect">
                                  <p:stCondLst>
                                    <p:cond delay="0"/>
                                  </p:stCondLst>
                                  <p:childTnLst>
                                    <p:set>
                                      <p:cBhvr>
                                        <p:cTn id="71" dur="400" fill="hold"/>
                                        <p:tgtEl>
                                          <p:spTgt spid="19"/>
                                        </p:tgtEl>
                                        <p:attrNameLst>
                                          <p:attrName>style.opacity</p:attrName>
                                        </p:attrNameLst>
                                      </p:cBhvr>
                                      <p:to>
                                        <p:strVal val="1"/>
                                      </p:to>
                                    </p:set>
                                    <p:animEffect filter="image" prLst="opacity: 1">
                                      <p:cBhvr rctx="IE">
                                        <p:cTn id="72" dur="400" fill="hold"/>
                                        <p:tgtEl>
                                          <p:spTgt spid="19"/>
                                        </p:tgtEl>
                                      </p:cBhvr>
                                    </p:animEffect>
                                  </p:childTnLst>
                                </p:cTn>
                              </p:par>
                              <p:par>
                                <p:cTn id="73" presetID="9" presetClass="emph" presetSubtype="0" fill="hold" grpId="0" nodeType="withEffect">
                                  <p:stCondLst>
                                    <p:cond delay="0"/>
                                  </p:stCondLst>
                                  <p:childTnLst>
                                    <p:set>
                                      <p:cBhvr>
                                        <p:cTn id="74" dur="400" fill="hold"/>
                                        <p:tgtEl>
                                          <p:spTgt spid="20"/>
                                        </p:tgtEl>
                                        <p:attrNameLst>
                                          <p:attrName>style.opacity</p:attrName>
                                        </p:attrNameLst>
                                      </p:cBhvr>
                                      <p:to>
                                        <p:strVal val="1"/>
                                      </p:to>
                                    </p:set>
                                    <p:animEffect filter="image" prLst="opacity: 1">
                                      <p:cBhvr rctx="IE">
                                        <p:cTn id="75" dur="400" fill="hold"/>
                                        <p:tgtEl>
                                          <p:spTgt spid="20"/>
                                        </p:tgtEl>
                                      </p:cBhvr>
                                    </p:animEffect>
                                  </p:childTnLst>
                                </p:cTn>
                              </p:par>
                              <p:par>
                                <p:cTn id="76" presetID="9" presetClass="emph" presetSubtype="0" fill="hold" grpId="0" nodeType="withEffect">
                                  <p:stCondLst>
                                    <p:cond delay="0"/>
                                  </p:stCondLst>
                                  <p:childTnLst>
                                    <p:set>
                                      <p:cBhvr>
                                        <p:cTn id="77" dur="400" fill="hold"/>
                                        <p:tgtEl>
                                          <p:spTgt spid="21"/>
                                        </p:tgtEl>
                                        <p:attrNameLst>
                                          <p:attrName>style.opacity</p:attrName>
                                        </p:attrNameLst>
                                      </p:cBhvr>
                                      <p:to>
                                        <p:strVal val="1"/>
                                      </p:to>
                                    </p:set>
                                    <p:animEffect filter="image" prLst="opacity: 1">
                                      <p:cBhvr rctx="IE">
                                        <p:cTn id="78" dur="400" fill="hold"/>
                                        <p:tgtEl>
                                          <p:spTgt spid="21"/>
                                        </p:tgtEl>
                                      </p:cBhvr>
                                    </p:animEffect>
                                  </p:childTnLst>
                                </p:cTn>
                              </p:par>
                              <p:par>
                                <p:cTn id="79" presetID="9" presetClass="emph" presetSubtype="0" fill="hold" grpId="0" nodeType="withEffect">
                                  <p:stCondLst>
                                    <p:cond delay="0"/>
                                  </p:stCondLst>
                                  <p:childTnLst>
                                    <p:set>
                                      <p:cBhvr>
                                        <p:cTn id="80" dur="400" fill="hold"/>
                                        <p:tgtEl>
                                          <p:spTgt spid="10"/>
                                        </p:tgtEl>
                                        <p:attrNameLst>
                                          <p:attrName>style.opacity</p:attrName>
                                        </p:attrNameLst>
                                      </p:cBhvr>
                                      <p:to>
                                        <p:strVal val="0.25"/>
                                      </p:to>
                                    </p:set>
                                    <p:animEffect filter="image" prLst="opacity: 0.25">
                                      <p:cBhvr rctx="IE">
                                        <p:cTn id="81" dur="400" fill="hold"/>
                                        <p:tgtEl>
                                          <p:spTgt spid="10"/>
                                        </p:tgtEl>
                                      </p:cBhvr>
                                    </p:animEffect>
                                  </p:childTnLst>
                                </p:cTn>
                              </p:par>
                              <p:par>
                                <p:cTn id="82" presetID="9" presetClass="emph" presetSubtype="0" fill="hold" grpId="0" nodeType="withEffect">
                                  <p:stCondLst>
                                    <p:cond delay="0"/>
                                  </p:stCondLst>
                                  <p:childTnLst>
                                    <p:set>
                                      <p:cBhvr>
                                        <p:cTn id="83" dur="400" fill="hold"/>
                                        <p:tgtEl>
                                          <p:spTgt spid="11"/>
                                        </p:tgtEl>
                                        <p:attrNameLst>
                                          <p:attrName>style.opacity</p:attrName>
                                        </p:attrNameLst>
                                      </p:cBhvr>
                                      <p:to>
                                        <p:strVal val="0.25"/>
                                      </p:to>
                                    </p:set>
                                    <p:animEffect filter="image" prLst="opacity: 0.25">
                                      <p:cBhvr rctx="IE">
                                        <p:cTn id="84" dur="400" fill="hold"/>
                                        <p:tgtEl>
                                          <p:spTgt spid="11"/>
                                        </p:tgtEl>
                                      </p:cBhvr>
                                    </p:animEffect>
                                  </p:childTnLst>
                                </p:cTn>
                              </p:par>
                              <p:par>
                                <p:cTn id="85" presetID="9" presetClass="emph" presetSubtype="0" fill="hold" grpId="0" nodeType="withEffect">
                                  <p:stCondLst>
                                    <p:cond delay="0"/>
                                  </p:stCondLst>
                                  <p:childTnLst>
                                    <p:set>
                                      <p:cBhvr>
                                        <p:cTn id="86" dur="400" fill="hold"/>
                                        <p:tgtEl>
                                          <p:spTgt spid="12"/>
                                        </p:tgtEl>
                                        <p:attrNameLst>
                                          <p:attrName>style.opacity</p:attrName>
                                        </p:attrNameLst>
                                      </p:cBhvr>
                                      <p:to>
                                        <p:strVal val="0.25"/>
                                      </p:to>
                                    </p:set>
                                    <p:animEffect filter="image" prLst="opacity: 0.25">
                                      <p:cBhvr rctx="IE">
                                        <p:cTn id="87" dur="400" fill="hold"/>
                                        <p:tgtEl>
                                          <p:spTgt spid="12"/>
                                        </p:tgtEl>
                                      </p:cBhvr>
                                    </p:animEffect>
                                  </p:childTnLst>
                                </p:cTn>
                              </p:par>
                              <p:par>
                                <p:cTn id="88" presetID="9" presetClass="emph" presetSubtype="0" fill="hold" grpId="0" nodeType="withEffect">
                                  <p:stCondLst>
                                    <p:cond delay="0"/>
                                  </p:stCondLst>
                                  <p:childTnLst>
                                    <p:set>
                                      <p:cBhvr>
                                        <p:cTn id="89" dur="400" fill="hold"/>
                                        <p:tgtEl>
                                          <p:spTgt spid="13"/>
                                        </p:tgtEl>
                                        <p:attrNameLst>
                                          <p:attrName>style.opacity</p:attrName>
                                        </p:attrNameLst>
                                      </p:cBhvr>
                                      <p:to>
                                        <p:strVal val="0.25"/>
                                      </p:to>
                                    </p:set>
                                    <p:animEffect filter="image" prLst="opacity: 0.25">
                                      <p:cBhvr rctx="IE">
                                        <p:cTn id="90" dur="400" fill="hold"/>
                                        <p:tgtEl>
                                          <p:spTgt spid="13"/>
                                        </p:tgtEl>
                                      </p:cBhvr>
                                    </p:animEffect>
                                  </p:childTnLst>
                                </p:cTn>
                              </p:par>
                              <p:par>
                                <p:cTn id="91" presetID="9" presetClass="emph" presetSubtype="0" fill="hold" grpId="0" nodeType="withEffect">
                                  <p:stCondLst>
                                    <p:cond delay="0"/>
                                  </p:stCondLst>
                                  <p:childTnLst>
                                    <p:set>
                                      <p:cBhvr>
                                        <p:cTn id="92" dur="400" fill="hold"/>
                                        <p:tgtEl>
                                          <p:spTgt spid="14"/>
                                        </p:tgtEl>
                                        <p:attrNameLst>
                                          <p:attrName>style.opacity</p:attrName>
                                        </p:attrNameLst>
                                      </p:cBhvr>
                                      <p:to>
                                        <p:strVal val="0.25"/>
                                      </p:to>
                                    </p:set>
                                    <p:animEffect filter="image" prLst="opacity: 0.25">
                                      <p:cBhvr rctx="IE">
                                        <p:cTn id="93" dur="400" fill="hold"/>
                                        <p:tgtEl>
                                          <p:spTgt spid="14"/>
                                        </p:tgtEl>
                                      </p:cBhvr>
                                    </p:animEffect>
                                  </p:childTnLst>
                                </p:cTn>
                              </p:par>
                              <p:par>
                                <p:cTn id="94" presetID="9" presetClass="emph" presetSubtype="0" fill="hold" grpId="0" nodeType="withEffect">
                                  <p:stCondLst>
                                    <p:cond delay="0"/>
                                  </p:stCondLst>
                                  <p:childTnLst>
                                    <p:set>
                                      <p:cBhvr>
                                        <p:cTn id="95" dur="400" fill="hold"/>
                                        <p:tgtEl>
                                          <p:spTgt spid="15"/>
                                        </p:tgtEl>
                                        <p:attrNameLst>
                                          <p:attrName>style.opacity</p:attrName>
                                        </p:attrNameLst>
                                      </p:cBhvr>
                                      <p:to>
                                        <p:strVal val="0.25"/>
                                      </p:to>
                                    </p:set>
                                    <p:animEffect filter="image" prLst="opacity: 0.25">
                                      <p:cBhvr rctx="IE">
                                        <p:cTn id="96" dur="400" fill="hold"/>
                                        <p:tgtEl>
                                          <p:spTgt spid="15"/>
                                        </p:tgtEl>
                                      </p:cBhvr>
                                    </p:animEffect>
                                  </p:childTnLst>
                                </p:cTn>
                              </p:par>
                            </p:childTnLst>
                          </p:cTn>
                        </p:par>
                      </p:childTnLst>
                    </p:cTn>
                  </p:par>
                  <p:par>
                    <p:cTn id="97" fill="hold">
                      <p:stCondLst>
                        <p:cond delay="indefinite"/>
                      </p:stCondLst>
                      <p:childTnLst>
                        <p:par>
                          <p:cTn id="98" fill="hold">
                            <p:stCondLst>
                              <p:cond delay="0"/>
                            </p:stCondLst>
                            <p:childTnLst>
                              <p:par>
                                <p:cTn id="99" presetID="9" presetClass="emph" presetSubtype="0" fill="hold" grpId="0" nodeType="clickEffect">
                                  <p:stCondLst>
                                    <p:cond delay="0"/>
                                  </p:stCondLst>
                                  <p:childTnLst>
                                    <p:set>
                                      <p:cBhvr>
                                        <p:cTn id="100" dur="400" fill="hold"/>
                                        <p:tgtEl>
                                          <p:spTgt spid="22"/>
                                        </p:tgtEl>
                                        <p:attrNameLst>
                                          <p:attrName>style.opacity</p:attrName>
                                        </p:attrNameLst>
                                      </p:cBhvr>
                                      <p:to>
                                        <p:strVal val="1"/>
                                      </p:to>
                                    </p:set>
                                    <p:animEffect filter="image" prLst="opacity: 1">
                                      <p:cBhvr rctx="IE">
                                        <p:cTn id="101" dur="400" fill="hold"/>
                                        <p:tgtEl>
                                          <p:spTgt spid="22"/>
                                        </p:tgtEl>
                                      </p:cBhvr>
                                    </p:animEffect>
                                  </p:childTnLst>
                                </p:cTn>
                              </p:par>
                              <p:par>
                                <p:cTn id="102" presetID="9" presetClass="emph" presetSubtype="0" fill="hold" grpId="0" nodeType="withEffect">
                                  <p:stCondLst>
                                    <p:cond delay="0"/>
                                  </p:stCondLst>
                                  <p:childTnLst>
                                    <p:set>
                                      <p:cBhvr>
                                        <p:cTn id="103" dur="400" fill="hold"/>
                                        <p:tgtEl>
                                          <p:spTgt spid="23"/>
                                        </p:tgtEl>
                                        <p:attrNameLst>
                                          <p:attrName>style.opacity</p:attrName>
                                        </p:attrNameLst>
                                      </p:cBhvr>
                                      <p:to>
                                        <p:strVal val="1"/>
                                      </p:to>
                                    </p:set>
                                    <p:animEffect filter="image" prLst="opacity: 1">
                                      <p:cBhvr rctx="IE">
                                        <p:cTn id="104" dur="400" fill="hold"/>
                                        <p:tgtEl>
                                          <p:spTgt spid="23"/>
                                        </p:tgtEl>
                                      </p:cBhvr>
                                    </p:animEffect>
                                  </p:childTnLst>
                                </p:cTn>
                              </p:par>
                              <p:par>
                                <p:cTn id="105" presetID="9" presetClass="emph" presetSubtype="0" fill="hold" grpId="0" nodeType="withEffect">
                                  <p:stCondLst>
                                    <p:cond delay="0"/>
                                  </p:stCondLst>
                                  <p:childTnLst>
                                    <p:set>
                                      <p:cBhvr>
                                        <p:cTn id="106" dur="400" fill="hold"/>
                                        <p:tgtEl>
                                          <p:spTgt spid="24"/>
                                        </p:tgtEl>
                                        <p:attrNameLst>
                                          <p:attrName>style.opacity</p:attrName>
                                        </p:attrNameLst>
                                      </p:cBhvr>
                                      <p:to>
                                        <p:strVal val="1"/>
                                      </p:to>
                                    </p:set>
                                    <p:animEffect filter="image" prLst="opacity: 1">
                                      <p:cBhvr rctx="IE">
                                        <p:cTn id="107" dur="400" fill="hold"/>
                                        <p:tgtEl>
                                          <p:spTgt spid="24"/>
                                        </p:tgtEl>
                                      </p:cBhvr>
                                    </p:animEffect>
                                  </p:childTnLst>
                                </p:cTn>
                              </p:par>
                              <p:par>
                                <p:cTn id="108" presetID="9" presetClass="emph" presetSubtype="0" fill="hold" grpId="0" nodeType="withEffect">
                                  <p:stCondLst>
                                    <p:cond delay="0"/>
                                  </p:stCondLst>
                                  <p:childTnLst>
                                    <p:set>
                                      <p:cBhvr>
                                        <p:cTn id="109" dur="400" fill="hold"/>
                                        <p:tgtEl>
                                          <p:spTgt spid="25"/>
                                        </p:tgtEl>
                                        <p:attrNameLst>
                                          <p:attrName>style.opacity</p:attrName>
                                        </p:attrNameLst>
                                      </p:cBhvr>
                                      <p:to>
                                        <p:strVal val="1"/>
                                      </p:to>
                                    </p:set>
                                    <p:animEffect filter="image" prLst="opacity: 1">
                                      <p:cBhvr rctx="IE">
                                        <p:cTn id="110" dur="400" fill="hold"/>
                                        <p:tgtEl>
                                          <p:spTgt spid="25"/>
                                        </p:tgtEl>
                                      </p:cBhvr>
                                    </p:animEffect>
                                  </p:childTnLst>
                                </p:cTn>
                              </p:par>
                              <p:par>
                                <p:cTn id="111" presetID="9" presetClass="emph" presetSubtype="0" fill="hold" grpId="0" nodeType="withEffect">
                                  <p:stCondLst>
                                    <p:cond delay="0"/>
                                  </p:stCondLst>
                                  <p:childTnLst>
                                    <p:set>
                                      <p:cBhvr>
                                        <p:cTn id="112" dur="400" fill="hold"/>
                                        <p:tgtEl>
                                          <p:spTgt spid="26"/>
                                        </p:tgtEl>
                                        <p:attrNameLst>
                                          <p:attrName>style.opacity</p:attrName>
                                        </p:attrNameLst>
                                      </p:cBhvr>
                                      <p:to>
                                        <p:strVal val="1"/>
                                      </p:to>
                                    </p:set>
                                    <p:animEffect filter="image" prLst="opacity: 1">
                                      <p:cBhvr rctx="IE">
                                        <p:cTn id="113" dur="400" fill="hold"/>
                                        <p:tgtEl>
                                          <p:spTgt spid="26"/>
                                        </p:tgtEl>
                                      </p:cBhvr>
                                    </p:animEffect>
                                  </p:childTnLst>
                                </p:cTn>
                              </p:par>
                              <p:par>
                                <p:cTn id="114" presetID="9" presetClass="emph" presetSubtype="0" fill="hold" grpId="0" nodeType="withEffect">
                                  <p:stCondLst>
                                    <p:cond delay="0"/>
                                  </p:stCondLst>
                                  <p:childTnLst>
                                    <p:set>
                                      <p:cBhvr>
                                        <p:cTn id="115" dur="400" fill="hold"/>
                                        <p:tgtEl>
                                          <p:spTgt spid="27"/>
                                        </p:tgtEl>
                                        <p:attrNameLst>
                                          <p:attrName>style.opacity</p:attrName>
                                        </p:attrNameLst>
                                      </p:cBhvr>
                                      <p:to>
                                        <p:strVal val="1"/>
                                      </p:to>
                                    </p:set>
                                    <p:animEffect filter="image" prLst="opacity: 1">
                                      <p:cBhvr rctx="IE">
                                        <p:cTn id="116" dur="400" fill="hold"/>
                                        <p:tgtEl>
                                          <p:spTgt spid="27"/>
                                        </p:tgtEl>
                                      </p:cBhvr>
                                    </p:animEffect>
                                  </p:childTnLst>
                                </p:cTn>
                              </p:par>
                              <p:par>
                                <p:cTn id="117" presetID="9" presetClass="emph" presetSubtype="0" fill="hold" grpId="0" nodeType="withEffect">
                                  <p:stCondLst>
                                    <p:cond delay="0"/>
                                  </p:stCondLst>
                                  <p:childTnLst>
                                    <p:set>
                                      <p:cBhvr>
                                        <p:cTn id="118" dur="400" fill="hold"/>
                                        <p:tgtEl>
                                          <p:spTgt spid="16"/>
                                        </p:tgtEl>
                                        <p:attrNameLst>
                                          <p:attrName>style.opacity</p:attrName>
                                        </p:attrNameLst>
                                      </p:cBhvr>
                                      <p:to>
                                        <p:strVal val="0.25"/>
                                      </p:to>
                                    </p:set>
                                    <p:animEffect filter="image" prLst="opacity: 0.25">
                                      <p:cBhvr rctx="IE">
                                        <p:cTn id="119" dur="400" fill="hold"/>
                                        <p:tgtEl>
                                          <p:spTgt spid="16"/>
                                        </p:tgtEl>
                                      </p:cBhvr>
                                    </p:animEffect>
                                  </p:childTnLst>
                                </p:cTn>
                              </p:par>
                              <p:par>
                                <p:cTn id="120" presetID="9" presetClass="emph" presetSubtype="0" fill="hold" grpId="0" nodeType="withEffect">
                                  <p:stCondLst>
                                    <p:cond delay="0"/>
                                  </p:stCondLst>
                                  <p:childTnLst>
                                    <p:set>
                                      <p:cBhvr>
                                        <p:cTn id="121" dur="400" fill="hold"/>
                                        <p:tgtEl>
                                          <p:spTgt spid="17"/>
                                        </p:tgtEl>
                                        <p:attrNameLst>
                                          <p:attrName>style.opacity</p:attrName>
                                        </p:attrNameLst>
                                      </p:cBhvr>
                                      <p:to>
                                        <p:strVal val="0.25"/>
                                      </p:to>
                                    </p:set>
                                    <p:animEffect filter="image" prLst="opacity: 0.25">
                                      <p:cBhvr rctx="IE">
                                        <p:cTn id="122" dur="400" fill="hold"/>
                                        <p:tgtEl>
                                          <p:spTgt spid="17"/>
                                        </p:tgtEl>
                                      </p:cBhvr>
                                    </p:animEffect>
                                  </p:childTnLst>
                                </p:cTn>
                              </p:par>
                              <p:par>
                                <p:cTn id="123" presetID="9" presetClass="emph" presetSubtype="0" fill="hold" grpId="0" nodeType="withEffect">
                                  <p:stCondLst>
                                    <p:cond delay="0"/>
                                  </p:stCondLst>
                                  <p:childTnLst>
                                    <p:set>
                                      <p:cBhvr>
                                        <p:cTn id="124" dur="400" fill="hold"/>
                                        <p:tgtEl>
                                          <p:spTgt spid="18"/>
                                        </p:tgtEl>
                                        <p:attrNameLst>
                                          <p:attrName>style.opacity</p:attrName>
                                        </p:attrNameLst>
                                      </p:cBhvr>
                                      <p:to>
                                        <p:strVal val="0.25"/>
                                      </p:to>
                                    </p:set>
                                    <p:animEffect filter="image" prLst="opacity: 0.25">
                                      <p:cBhvr rctx="IE">
                                        <p:cTn id="125" dur="400" fill="hold"/>
                                        <p:tgtEl>
                                          <p:spTgt spid="18"/>
                                        </p:tgtEl>
                                      </p:cBhvr>
                                    </p:animEffect>
                                  </p:childTnLst>
                                </p:cTn>
                              </p:par>
                              <p:par>
                                <p:cTn id="126" presetID="9" presetClass="emph" presetSubtype="0" fill="hold" grpId="0" nodeType="withEffect">
                                  <p:stCondLst>
                                    <p:cond delay="0"/>
                                  </p:stCondLst>
                                  <p:childTnLst>
                                    <p:set>
                                      <p:cBhvr>
                                        <p:cTn id="127" dur="400" fill="hold"/>
                                        <p:tgtEl>
                                          <p:spTgt spid="19"/>
                                        </p:tgtEl>
                                        <p:attrNameLst>
                                          <p:attrName>style.opacity</p:attrName>
                                        </p:attrNameLst>
                                      </p:cBhvr>
                                      <p:to>
                                        <p:strVal val="0.25"/>
                                      </p:to>
                                    </p:set>
                                    <p:animEffect filter="image" prLst="opacity: 0.25">
                                      <p:cBhvr rctx="IE">
                                        <p:cTn id="128" dur="400" fill="hold"/>
                                        <p:tgtEl>
                                          <p:spTgt spid="19"/>
                                        </p:tgtEl>
                                      </p:cBhvr>
                                    </p:animEffect>
                                  </p:childTnLst>
                                </p:cTn>
                              </p:par>
                              <p:par>
                                <p:cTn id="129" presetID="9" presetClass="emph" presetSubtype="0" fill="hold" grpId="0" nodeType="withEffect">
                                  <p:stCondLst>
                                    <p:cond delay="0"/>
                                  </p:stCondLst>
                                  <p:childTnLst>
                                    <p:set>
                                      <p:cBhvr>
                                        <p:cTn id="130" dur="400" fill="hold"/>
                                        <p:tgtEl>
                                          <p:spTgt spid="20"/>
                                        </p:tgtEl>
                                        <p:attrNameLst>
                                          <p:attrName>style.opacity</p:attrName>
                                        </p:attrNameLst>
                                      </p:cBhvr>
                                      <p:to>
                                        <p:strVal val="0.25"/>
                                      </p:to>
                                    </p:set>
                                    <p:animEffect filter="image" prLst="opacity: 0.25">
                                      <p:cBhvr rctx="IE">
                                        <p:cTn id="131" dur="400" fill="hold"/>
                                        <p:tgtEl>
                                          <p:spTgt spid="20"/>
                                        </p:tgtEl>
                                      </p:cBhvr>
                                    </p:animEffect>
                                  </p:childTnLst>
                                </p:cTn>
                              </p:par>
                              <p:par>
                                <p:cTn id="132" presetID="9" presetClass="emph" presetSubtype="0" fill="hold" grpId="0" nodeType="withEffect">
                                  <p:stCondLst>
                                    <p:cond delay="0"/>
                                  </p:stCondLst>
                                  <p:childTnLst>
                                    <p:set>
                                      <p:cBhvr>
                                        <p:cTn id="133" dur="400" fill="hold"/>
                                        <p:tgtEl>
                                          <p:spTgt spid="21"/>
                                        </p:tgtEl>
                                        <p:attrNameLst>
                                          <p:attrName>style.opacity</p:attrName>
                                        </p:attrNameLst>
                                      </p:cBhvr>
                                      <p:to>
                                        <p:strVal val="0.25"/>
                                      </p:to>
                                    </p:set>
                                    <p:animEffect filter="image" prLst="opacity: 0.25">
                                      <p:cBhvr rctx="IE">
                                        <p:cTn id="134" dur="400" fill="hold"/>
                                        <p:tgtEl>
                                          <p:spTgt spid="21"/>
                                        </p:tgtEl>
                                      </p:cBhvr>
                                    </p:animEffect>
                                  </p:childTnLst>
                                </p:cTn>
                              </p:par>
                            </p:childTnLst>
                          </p:cTn>
                        </p:par>
                      </p:childTnLst>
                    </p:cTn>
                  </p:par>
                  <p:par>
                    <p:cTn id="135" fill="hold">
                      <p:stCondLst>
                        <p:cond delay="indefinite"/>
                      </p:stCondLst>
                      <p:childTnLst>
                        <p:par>
                          <p:cTn id="136" fill="hold">
                            <p:stCondLst>
                              <p:cond delay="0"/>
                            </p:stCondLst>
                            <p:childTnLst>
                              <p:par>
                                <p:cTn id="137" presetID="9" presetClass="emph" presetSubtype="0" fill="hold" grpId="0" nodeType="clickEffect">
                                  <p:stCondLst>
                                    <p:cond delay="0"/>
                                  </p:stCondLst>
                                  <p:childTnLst>
                                    <p:set>
                                      <p:cBhvr>
                                        <p:cTn id="138" dur="400" fill="hold"/>
                                        <p:tgtEl>
                                          <p:spTgt spid="28"/>
                                        </p:tgtEl>
                                        <p:attrNameLst>
                                          <p:attrName>style.opacity</p:attrName>
                                        </p:attrNameLst>
                                      </p:cBhvr>
                                      <p:to>
                                        <p:strVal val="1"/>
                                      </p:to>
                                    </p:set>
                                    <p:animEffect filter="image" prLst="opacity: 1">
                                      <p:cBhvr rctx="IE">
                                        <p:cTn id="139" dur="400" fill="hold"/>
                                        <p:tgtEl>
                                          <p:spTgt spid="28"/>
                                        </p:tgtEl>
                                      </p:cBhvr>
                                    </p:animEffect>
                                  </p:childTnLst>
                                </p:cTn>
                              </p:par>
                              <p:par>
                                <p:cTn id="140" presetID="9" presetClass="emph" presetSubtype="0" fill="hold" grpId="0" nodeType="withEffect">
                                  <p:stCondLst>
                                    <p:cond delay="0"/>
                                  </p:stCondLst>
                                  <p:childTnLst>
                                    <p:set>
                                      <p:cBhvr>
                                        <p:cTn id="141" dur="400" fill="hold"/>
                                        <p:tgtEl>
                                          <p:spTgt spid="29"/>
                                        </p:tgtEl>
                                        <p:attrNameLst>
                                          <p:attrName>style.opacity</p:attrName>
                                        </p:attrNameLst>
                                      </p:cBhvr>
                                      <p:to>
                                        <p:strVal val="1"/>
                                      </p:to>
                                    </p:set>
                                    <p:animEffect filter="image" prLst="opacity: 1">
                                      <p:cBhvr rctx="IE">
                                        <p:cTn id="142" dur="400" fill="hold"/>
                                        <p:tgtEl>
                                          <p:spTgt spid="29"/>
                                        </p:tgtEl>
                                      </p:cBhvr>
                                    </p:animEffect>
                                  </p:childTnLst>
                                </p:cTn>
                              </p:par>
                              <p:par>
                                <p:cTn id="143" presetID="9" presetClass="emph" presetSubtype="0" fill="hold" grpId="0" nodeType="withEffect">
                                  <p:stCondLst>
                                    <p:cond delay="0"/>
                                  </p:stCondLst>
                                  <p:childTnLst>
                                    <p:set>
                                      <p:cBhvr>
                                        <p:cTn id="144" dur="400" fill="hold"/>
                                        <p:tgtEl>
                                          <p:spTgt spid="30"/>
                                        </p:tgtEl>
                                        <p:attrNameLst>
                                          <p:attrName>style.opacity</p:attrName>
                                        </p:attrNameLst>
                                      </p:cBhvr>
                                      <p:to>
                                        <p:strVal val="1"/>
                                      </p:to>
                                    </p:set>
                                    <p:animEffect filter="image" prLst="opacity: 1">
                                      <p:cBhvr rctx="IE">
                                        <p:cTn id="145" dur="400" fill="hold"/>
                                        <p:tgtEl>
                                          <p:spTgt spid="30"/>
                                        </p:tgtEl>
                                      </p:cBhvr>
                                    </p:animEffect>
                                  </p:childTnLst>
                                </p:cTn>
                              </p:par>
                              <p:par>
                                <p:cTn id="146" presetID="9" presetClass="emph" presetSubtype="0" fill="hold" grpId="0" nodeType="withEffect">
                                  <p:stCondLst>
                                    <p:cond delay="0"/>
                                  </p:stCondLst>
                                  <p:childTnLst>
                                    <p:set>
                                      <p:cBhvr>
                                        <p:cTn id="147" dur="400" fill="hold"/>
                                        <p:tgtEl>
                                          <p:spTgt spid="31"/>
                                        </p:tgtEl>
                                        <p:attrNameLst>
                                          <p:attrName>style.opacity</p:attrName>
                                        </p:attrNameLst>
                                      </p:cBhvr>
                                      <p:to>
                                        <p:strVal val="1"/>
                                      </p:to>
                                    </p:set>
                                    <p:animEffect filter="image" prLst="opacity: 1">
                                      <p:cBhvr rctx="IE">
                                        <p:cTn id="148" dur="400" fill="hold"/>
                                        <p:tgtEl>
                                          <p:spTgt spid="31"/>
                                        </p:tgtEl>
                                      </p:cBhvr>
                                    </p:animEffect>
                                  </p:childTnLst>
                                </p:cTn>
                              </p:par>
                              <p:par>
                                <p:cTn id="149" presetID="9" presetClass="emph" presetSubtype="0" fill="hold" grpId="0" nodeType="withEffect">
                                  <p:stCondLst>
                                    <p:cond delay="0"/>
                                  </p:stCondLst>
                                  <p:childTnLst>
                                    <p:set>
                                      <p:cBhvr>
                                        <p:cTn id="150" dur="400" fill="hold"/>
                                        <p:tgtEl>
                                          <p:spTgt spid="32"/>
                                        </p:tgtEl>
                                        <p:attrNameLst>
                                          <p:attrName>style.opacity</p:attrName>
                                        </p:attrNameLst>
                                      </p:cBhvr>
                                      <p:to>
                                        <p:strVal val="1"/>
                                      </p:to>
                                    </p:set>
                                    <p:animEffect filter="image" prLst="opacity: 1">
                                      <p:cBhvr rctx="IE">
                                        <p:cTn id="151" dur="400" fill="hold"/>
                                        <p:tgtEl>
                                          <p:spTgt spid="32"/>
                                        </p:tgtEl>
                                      </p:cBhvr>
                                    </p:animEffect>
                                  </p:childTnLst>
                                </p:cTn>
                              </p:par>
                              <p:par>
                                <p:cTn id="152" presetID="9" presetClass="emph" presetSubtype="0" fill="hold" grpId="0" nodeType="withEffect">
                                  <p:stCondLst>
                                    <p:cond delay="0"/>
                                  </p:stCondLst>
                                  <p:childTnLst>
                                    <p:set>
                                      <p:cBhvr>
                                        <p:cTn id="153" dur="400" fill="hold"/>
                                        <p:tgtEl>
                                          <p:spTgt spid="33"/>
                                        </p:tgtEl>
                                        <p:attrNameLst>
                                          <p:attrName>style.opacity</p:attrName>
                                        </p:attrNameLst>
                                      </p:cBhvr>
                                      <p:to>
                                        <p:strVal val="1"/>
                                      </p:to>
                                    </p:set>
                                    <p:animEffect filter="image" prLst="opacity: 1">
                                      <p:cBhvr rctx="IE">
                                        <p:cTn id="154" dur="400" fill="hold"/>
                                        <p:tgtEl>
                                          <p:spTgt spid="33"/>
                                        </p:tgtEl>
                                      </p:cBhvr>
                                    </p:animEffect>
                                  </p:childTnLst>
                                </p:cTn>
                              </p:par>
                              <p:par>
                                <p:cTn id="155" presetID="9" presetClass="emph" presetSubtype="0" fill="hold" grpId="0" nodeType="withEffect">
                                  <p:stCondLst>
                                    <p:cond delay="0"/>
                                  </p:stCondLst>
                                  <p:childTnLst>
                                    <p:set>
                                      <p:cBhvr>
                                        <p:cTn id="156" dur="400" fill="hold"/>
                                        <p:tgtEl>
                                          <p:spTgt spid="22"/>
                                        </p:tgtEl>
                                        <p:attrNameLst>
                                          <p:attrName>style.opacity</p:attrName>
                                        </p:attrNameLst>
                                      </p:cBhvr>
                                      <p:to>
                                        <p:strVal val="0.25"/>
                                      </p:to>
                                    </p:set>
                                    <p:animEffect filter="image" prLst="opacity: 0.25">
                                      <p:cBhvr rctx="IE">
                                        <p:cTn id="157" dur="400" fill="hold"/>
                                        <p:tgtEl>
                                          <p:spTgt spid="22"/>
                                        </p:tgtEl>
                                      </p:cBhvr>
                                    </p:animEffect>
                                  </p:childTnLst>
                                </p:cTn>
                              </p:par>
                              <p:par>
                                <p:cTn id="158" presetID="9" presetClass="emph" presetSubtype="0" fill="hold" grpId="0" nodeType="withEffect">
                                  <p:stCondLst>
                                    <p:cond delay="0"/>
                                  </p:stCondLst>
                                  <p:childTnLst>
                                    <p:set>
                                      <p:cBhvr>
                                        <p:cTn id="159" dur="400" fill="hold"/>
                                        <p:tgtEl>
                                          <p:spTgt spid="23"/>
                                        </p:tgtEl>
                                        <p:attrNameLst>
                                          <p:attrName>style.opacity</p:attrName>
                                        </p:attrNameLst>
                                      </p:cBhvr>
                                      <p:to>
                                        <p:strVal val="0.25"/>
                                      </p:to>
                                    </p:set>
                                    <p:animEffect filter="image" prLst="opacity: 0.25">
                                      <p:cBhvr rctx="IE">
                                        <p:cTn id="160" dur="400" fill="hold"/>
                                        <p:tgtEl>
                                          <p:spTgt spid="23"/>
                                        </p:tgtEl>
                                      </p:cBhvr>
                                    </p:animEffect>
                                  </p:childTnLst>
                                </p:cTn>
                              </p:par>
                              <p:par>
                                <p:cTn id="161" presetID="9" presetClass="emph" presetSubtype="0" fill="hold" grpId="0" nodeType="withEffect">
                                  <p:stCondLst>
                                    <p:cond delay="0"/>
                                  </p:stCondLst>
                                  <p:childTnLst>
                                    <p:set>
                                      <p:cBhvr>
                                        <p:cTn id="162" dur="400" fill="hold"/>
                                        <p:tgtEl>
                                          <p:spTgt spid="24"/>
                                        </p:tgtEl>
                                        <p:attrNameLst>
                                          <p:attrName>style.opacity</p:attrName>
                                        </p:attrNameLst>
                                      </p:cBhvr>
                                      <p:to>
                                        <p:strVal val="0.25"/>
                                      </p:to>
                                    </p:set>
                                    <p:animEffect filter="image" prLst="opacity: 0.25">
                                      <p:cBhvr rctx="IE">
                                        <p:cTn id="163" dur="400" fill="hold"/>
                                        <p:tgtEl>
                                          <p:spTgt spid="24"/>
                                        </p:tgtEl>
                                      </p:cBhvr>
                                    </p:animEffect>
                                  </p:childTnLst>
                                </p:cTn>
                              </p:par>
                              <p:par>
                                <p:cTn id="164" presetID="9" presetClass="emph" presetSubtype="0" fill="hold" grpId="0" nodeType="withEffect">
                                  <p:stCondLst>
                                    <p:cond delay="0"/>
                                  </p:stCondLst>
                                  <p:childTnLst>
                                    <p:set>
                                      <p:cBhvr>
                                        <p:cTn id="165" dur="400" fill="hold"/>
                                        <p:tgtEl>
                                          <p:spTgt spid="25"/>
                                        </p:tgtEl>
                                        <p:attrNameLst>
                                          <p:attrName>style.opacity</p:attrName>
                                        </p:attrNameLst>
                                      </p:cBhvr>
                                      <p:to>
                                        <p:strVal val="0.25"/>
                                      </p:to>
                                    </p:set>
                                    <p:animEffect filter="image" prLst="opacity: 0.25">
                                      <p:cBhvr rctx="IE">
                                        <p:cTn id="166" dur="400" fill="hold"/>
                                        <p:tgtEl>
                                          <p:spTgt spid="25"/>
                                        </p:tgtEl>
                                      </p:cBhvr>
                                    </p:animEffect>
                                  </p:childTnLst>
                                </p:cTn>
                              </p:par>
                              <p:par>
                                <p:cTn id="167" presetID="9" presetClass="emph" presetSubtype="0" fill="hold" grpId="0" nodeType="withEffect">
                                  <p:stCondLst>
                                    <p:cond delay="0"/>
                                  </p:stCondLst>
                                  <p:childTnLst>
                                    <p:set>
                                      <p:cBhvr>
                                        <p:cTn id="168" dur="400" fill="hold"/>
                                        <p:tgtEl>
                                          <p:spTgt spid="26"/>
                                        </p:tgtEl>
                                        <p:attrNameLst>
                                          <p:attrName>style.opacity</p:attrName>
                                        </p:attrNameLst>
                                      </p:cBhvr>
                                      <p:to>
                                        <p:strVal val="0.25"/>
                                      </p:to>
                                    </p:set>
                                    <p:animEffect filter="image" prLst="opacity: 0.25">
                                      <p:cBhvr rctx="IE">
                                        <p:cTn id="169" dur="400" fill="hold"/>
                                        <p:tgtEl>
                                          <p:spTgt spid="26"/>
                                        </p:tgtEl>
                                      </p:cBhvr>
                                    </p:animEffect>
                                  </p:childTnLst>
                                </p:cTn>
                              </p:par>
                              <p:par>
                                <p:cTn id="170" presetID="9" presetClass="emph" presetSubtype="0" fill="hold" grpId="0" nodeType="withEffect">
                                  <p:stCondLst>
                                    <p:cond delay="0"/>
                                  </p:stCondLst>
                                  <p:childTnLst>
                                    <p:set>
                                      <p:cBhvr>
                                        <p:cTn id="171" dur="400" fill="hold"/>
                                        <p:tgtEl>
                                          <p:spTgt spid="27"/>
                                        </p:tgtEl>
                                        <p:attrNameLst>
                                          <p:attrName>style.opacity</p:attrName>
                                        </p:attrNameLst>
                                      </p:cBhvr>
                                      <p:to>
                                        <p:strVal val="0.25"/>
                                      </p:to>
                                    </p:set>
                                    <p:animEffect filter="image" prLst="opacity: 0.25">
                                      <p:cBhvr rctx="IE">
                                        <p:cTn id="172" dur="400" fill="hold"/>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Type less, fix faster</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cd miss&lt;Tab&gt;&lt;Tab&gt;</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26</a:t>
            </a:r>
            <a:endParaRPr lang="en-US" sz="1000" dirty="0"/>
          </a:p>
        </p:txBody>
      </p:sp>
      <p:sp>
        <p:nvSpPr>
          <p:cNvPr id="10" name="Shape 7"/>
          <p:cNvSpPr/>
          <p:nvPr/>
        </p:nvSpPr>
        <p:spPr>
          <a:xfrm>
            <a:off x="548640" y="1463040"/>
            <a:ext cx="5486400" cy="3291840"/>
          </a:xfrm>
          <a:prstGeom prst="roundRect">
            <a:avLst>
              <a:gd name="adj" fmla="val 2778"/>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1" name="Shape 8"/>
          <p:cNvSpPr/>
          <p:nvPr/>
        </p:nvSpPr>
        <p:spPr>
          <a:xfrm>
            <a:off x="749808" y="1618488"/>
            <a:ext cx="118872" cy="118872"/>
          </a:xfrm>
          <a:prstGeom prst="ellipse">
            <a:avLst/>
          </a:prstGeom>
          <a:solidFill>
            <a:srgbClr val="E5534B"/>
          </a:solidFill>
          <a:ln/>
        </p:spPr>
        <p:txBody>
          <a:bodyPr/>
          <a:lstStyle/>
          <a:p>
            <a:endParaRPr lang="en-US"/>
          </a:p>
        </p:txBody>
      </p:sp>
      <p:sp>
        <p:nvSpPr>
          <p:cNvPr id="12" name="Shape 9"/>
          <p:cNvSpPr/>
          <p:nvPr/>
        </p:nvSpPr>
        <p:spPr>
          <a:xfrm>
            <a:off x="950976" y="1618488"/>
            <a:ext cx="118872" cy="118872"/>
          </a:xfrm>
          <a:prstGeom prst="ellipse">
            <a:avLst/>
          </a:prstGeom>
          <a:solidFill>
            <a:srgbClr val="F5A623"/>
          </a:solidFill>
          <a:ln/>
        </p:spPr>
        <p:txBody>
          <a:bodyPr/>
          <a:lstStyle/>
          <a:p>
            <a:endParaRPr lang="en-US"/>
          </a:p>
        </p:txBody>
      </p:sp>
      <p:sp>
        <p:nvSpPr>
          <p:cNvPr id="13" name="Shape 10"/>
          <p:cNvSpPr/>
          <p:nvPr/>
        </p:nvSpPr>
        <p:spPr>
          <a:xfrm>
            <a:off x="1152144" y="1618488"/>
            <a:ext cx="118872" cy="118872"/>
          </a:xfrm>
          <a:prstGeom prst="ellipse">
            <a:avLst/>
          </a:prstGeom>
          <a:solidFill>
            <a:srgbClr val="46D39A"/>
          </a:solidFill>
          <a:ln/>
        </p:spPr>
        <p:txBody>
          <a:bodyPr/>
          <a:lstStyle/>
          <a:p>
            <a:endParaRPr lang="en-US"/>
          </a:p>
        </p:txBody>
      </p:sp>
      <p:sp>
        <p:nvSpPr>
          <p:cNvPr id="14" name="Text 11"/>
          <p:cNvSpPr txBox="1"/>
          <p:nvPr/>
        </p:nvSpPr>
        <p:spPr>
          <a:xfrm>
            <a:off x="1463040" y="1536192"/>
            <a:ext cx="365760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Tab finishes names for you</a:t>
            </a:r>
            <a:endParaRPr lang="en-US" sz="1000" dirty="0"/>
          </a:p>
        </p:txBody>
      </p:sp>
      <p:sp>
        <p:nvSpPr>
          <p:cNvPr id="15" name="Text 12"/>
          <p:cNvSpPr txBox="1"/>
          <p:nvPr/>
        </p:nvSpPr>
        <p:spPr>
          <a:xfrm>
            <a:off x="822960" y="1920240"/>
            <a:ext cx="4937760" cy="2697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miss&lt;Tab&gt;</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mission</a:t>
            </a:r>
            <a:r>
              <a:rPr lang="en-US" sz="1500" dirty="0">
                <a:solidFill>
                  <a:srgbClr val="7F8FAD"/>
                </a:solidFill>
                <a:latin typeface="Courier New" pitchFamily="34" charset="0"/>
                <a:ea typeface="Courier New" pitchFamily="34" charset="-122"/>
                <a:cs typeface="Courier New" pitchFamily="34" charset="-120"/>
              </a:rPr>
              <a:t>   # 10 matches, so it stops</a:t>
            </a:r>
            <a:endParaRPr lang="en-US" sz="1500" dirty="0"/>
          </a:p>
          <a:p>
            <a:pPr marL="0" indent="0">
              <a:spcAft>
                <a:spcPts val="200"/>
              </a:spcAft>
              <a:buNone/>
            </a:pPr>
            <a:r>
              <a:rPr lang="en-US" sz="1500" dirty="0">
                <a:solidFill>
                  <a:srgbClr val="7F8FAD"/>
                </a:solidFill>
                <a:latin typeface="Courier New" pitchFamily="34" charset="0"/>
                <a:ea typeface="Courier New" pitchFamily="34" charset="-122"/>
                <a:cs typeface="Courier New" pitchFamily="34" charset="-120"/>
              </a:rPr>
              <a:t># press Tab twice to list them</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mission4/arch&lt;Tab&gt;</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mission4/archive/</a:t>
            </a:r>
            <a:endParaRPr lang="en-US" sz="1500" dirty="0"/>
          </a:p>
        </p:txBody>
      </p:sp>
      <p:sp>
        <p:nvSpPr>
          <p:cNvPr id="16" name="Shape 13"/>
          <p:cNvSpPr/>
          <p:nvPr/>
        </p:nvSpPr>
        <p:spPr>
          <a:xfrm>
            <a:off x="6355080" y="1463040"/>
            <a:ext cx="1737360" cy="685800"/>
          </a:xfrm>
          <a:prstGeom prst="roundRect">
            <a:avLst>
              <a:gd name="adj" fmla="val 13333"/>
            </a:avLst>
          </a:prstGeom>
          <a:solidFill>
            <a:srgbClr val="FFFFFF"/>
          </a:solidFill>
          <a:ln w="31750">
            <a:solidFill>
              <a:srgbClr val="2A9FD6"/>
            </a:solidFill>
            <a:prstDash val="solid"/>
          </a:ln>
        </p:spPr>
        <p:txBody>
          <a:bodyPr/>
          <a:lstStyle/>
          <a:p>
            <a:endParaRPr lang="en-US"/>
          </a:p>
        </p:txBody>
      </p:sp>
      <p:sp>
        <p:nvSpPr>
          <p:cNvPr id="17" name="Text 14"/>
          <p:cNvSpPr txBox="1"/>
          <p:nvPr/>
        </p:nvSpPr>
        <p:spPr>
          <a:xfrm>
            <a:off x="6355080" y="1463040"/>
            <a:ext cx="1737360" cy="685800"/>
          </a:xfrm>
          <a:prstGeom prst="rect">
            <a:avLst/>
          </a:prstGeom>
          <a:noFill/>
          <a:ln/>
        </p:spPr>
        <p:txBody>
          <a:bodyPr wrap="square" lIns="0" tIns="0" rIns="0" bIns="0" rtlCol="0" anchor="ctr"/>
          <a:lstStyle/>
          <a:p>
            <a:pPr marL="0" indent="0" algn="ctr">
              <a:buNone/>
            </a:pPr>
            <a:r>
              <a:rPr lang="en-US" sz="1700" b="1" dirty="0">
                <a:solidFill>
                  <a:srgbClr val="2A9FD6"/>
                </a:solidFill>
                <a:latin typeface="Courier New" pitchFamily="34" charset="0"/>
                <a:ea typeface="Courier New" pitchFamily="34" charset="-122"/>
                <a:cs typeface="Courier New" pitchFamily="34" charset="-120"/>
              </a:rPr>
              <a:t>Tab</a:t>
            </a:r>
            <a:endParaRPr lang="en-US" sz="1700" dirty="0"/>
          </a:p>
        </p:txBody>
      </p:sp>
      <p:sp>
        <p:nvSpPr>
          <p:cNvPr id="18" name="Text 15"/>
          <p:cNvSpPr txBox="1"/>
          <p:nvPr/>
        </p:nvSpPr>
        <p:spPr>
          <a:xfrm>
            <a:off x="8275320" y="1463040"/>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finish a name or path</a:t>
            </a:r>
            <a:endParaRPr lang="en-US" sz="1800" dirty="0"/>
          </a:p>
        </p:txBody>
      </p:sp>
      <p:sp>
        <p:nvSpPr>
          <p:cNvPr id="19" name="Shape 16"/>
          <p:cNvSpPr/>
          <p:nvPr/>
        </p:nvSpPr>
        <p:spPr>
          <a:xfrm>
            <a:off x="6355080" y="2304288"/>
            <a:ext cx="1737360" cy="685800"/>
          </a:xfrm>
          <a:prstGeom prst="roundRect">
            <a:avLst>
              <a:gd name="adj" fmla="val 13333"/>
            </a:avLst>
          </a:prstGeom>
          <a:solidFill>
            <a:srgbClr val="FFFFFF"/>
          </a:solidFill>
          <a:ln w="31750">
            <a:solidFill>
              <a:srgbClr val="2459D8"/>
            </a:solidFill>
            <a:prstDash val="solid"/>
          </a:ln>
        </p:spPr>
        <p:txBody>
          <a:bodyPr/>
          <a:lstStyle/>
          <a:p>
            <a:endParaRPr lang="en-US"/>
          </a:p>
        </p:txBody>
      </p:sp>
      <p:sp>
        <p:nvSpPr>
          <p:cNvPr id="20" name="Text 17"/>
          <p:cNvSpPr txBox="1"/>
          <p:nvPr/>
        </p:nvSpPr>
        <p:spPr>
          <a:xfrm>
            <a:off x="6355080" y="2304288"/>
            <a:ext cx="1737360" cy="685800"/>
          </a:xfrm>
          <a:prstGeom prst="rect">
            <a:avLst/>
          </a:prstGeom>
          <a:noFill/>
          <a:ln/>
        </p:spPr>
        <p:txBody>
          <a:bodyPr wrap="square" lIns="0" tIns="0" rIns="0" bIns="0" rtlCol="0" anchor="ctr"/>
          <a:lstStyle/>
          <a:p>
            <a:pPr marL="0" indent="0" algn="ctr">
              <a:buNone/>
            </a:pPr>
            <a:r>
              <a:rPr lang="en-US" sz="1700" b="1" dirty="0">
                <a:solidFill>
                  <a:srgbClr val="2459D8"/>
                </a:solidFill>
                <a:latin typeface="Courier New" pitchFamily="34" charset="0"/>
                <a:ea typeface="Courier New" pitchFamily="34" charset="-122"/>
                <a:cs typeface="Courier New" pitchFamily="34" charset="-120"/>
              </a:rPr>
              <a:t>Up arrow</a:t>
            </a:r>
            <a:endParaRPr lang="en-US" sz="1700" dirty="0"/>
          </a:p>
        </p:txBody>
      </p:sp>
      <p:sp>
        <p:nvSpPr>
          <p:cNvPr id="21" name="Text 18"/>
          <p:cNvSpPr txBox="1"/>
          <p:nvPr/>
        </p:nvSpPr>
        <p:spPr>
          <a:xfrm>
            <a:off x="8275320" y="2304288"/>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bring back the last command</a:t>
            </a:r>
            <a:endParaRPr lang="en-US" sz="1800" dirty="0"/>
          </a:p>
        </p:txBody>
      </p:sp>
      <p:sp>
        <p:nvSpPr>
          <p:cNvPr id="22" name="Shape 19"/>
          <p:cNvSpPr/>
          <p:nvPr/>
        </p:nvSpPr>
        <p:spPr>
          <a:xfrm>
            <a:off x="6355080" y="3145536"/>
            <a:ext cx="1737360" cy="685800"/>
          </a:xfrm>
          <a:prstGeom prst="roundRect">
            <a:avLst>
              <a:gd name="adj" fmla="val 13333"/>
            </a:avLst>
          </a:prstGeom>
          <a:solidFill>
            <a:srgbClr val="FFFFFF"/>
          </a:solidFill>
          <a:ln w="31750">
            <a:solidFill>
              <a:srgbClr val="D1416B"/>
            </a:solidFill>
            <a:prstDash val="solid"/>
          </a:ln>
        </p:spPr>
        <p:txBody>
          <a:bodyPr/>
          <a:lstStyle/>
          <a:p>
            <a:endParaRPr lang="en-US"/>
          </a:p>
        </p:txBody>
      </p:sp>
      <p:sp>
        <p:nvSpPr>
          <p:cNvPr id="23" name="Text 20"/>
          <p:cNvSpPr txBox="1"/>
          <p:nvPr/>
        </p:nvSpPr>
        <p:spPr>
          <a:xfrm>
            <a:off x="6355080" y="3145536"/>
            <a:ext cx="1737360" cy="685800"/>
          </a:xfrm>
          <a:prstGeom prst="rect">
            <a:avLst/>
          </a:prstGeom>
          <a:noFill/>
          <a:ln/>
        </p:spPr>
        <p:txBody>
          <a:bodyPr wrap="square" lIns="0" tIns="0" rIns="0" bIns="0" rtlCol="0" anchor="ctr"/>
          <a:lstStyle/>
          <a:p>
            <a:pPr marL="0" indent="0" algn="ctr">
              <a:buNone/>
            </a:pPr>
            <a:r>
              <a:rPr lang="en-US" sz="1700" b="1" dirty="0">
                <a:solidFill>
                  <a:srgbClr val="D1416B"/>
                </a:solidFill>
                <a:latin typeface="Courier New" pitchFamily="34" charset="0"/>
                <a:ea typeface="Courier New" pitchFamily="34" charset="-122"/>
                <a:cs typeface="Courier New" pitchFamily="34" charset="-120"/>
              </a:rPr>
              <a:t>Ctrl+C</a:t>
            </a:r>
            <a:endParaRPr lang="en-US" sz="1700" dirty="0"/>
          </a:p>
        </p:txBody>
      </p:sp>
      <p:sp>
        <p:nvSpPr>
          <p:cNvPr id="24" name="Text 21"/>
          <p:cNvSpPr txBox="1"/>
          <p:nvPr/>
        </p:nvSpPr>
        <p:spPr>
          <a:xfrm>
            <a:off x="8275320" y="3145536"/>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stop what is running</a:t>
            </a:r>
            <a:endParaRPr lang="en-US" sz="1800" dirty="0"/>
          </a:p>
        </p:txBody>
      </p:sp>
      <p:sp>
        <p:nvSpPr>
          <p:cNvPr id="25" name="Shape 22"/>
          <p:cNvSpPr/>
          <p:nvPr/>
        </p:nvSpPr>
        <p:spPr>
          <a:xfrm>
            <a:off x="6355080" y="3986784"/>
            <a:ext cx="1737360" cy="685800"/>
          </a:xfrm>
          <a:prstGeom prst="roundRect">
            <a:avLst>
              <a:gd name="adj" fmla="val 13333"/>
            </a:avLst>
          </a:prstGeom>
          <a:solidFill>
            <a:srgbClr val="FFFFFF"/>
          </a:solidFill>
          <a:ln w="31750">
            <a:solidFill>
              <a:srgbClr val="7448D4"/>
            </a:solidFill>
            <a:prstDash val="solid"/>
          </a:ln>
        </p:spPr>
        <p:txBody>
          <a:bodyPr/>
          <a:lstStyle/>
          <a:p>
            <a:endParaRPr lang="en-US"/>
          </a:p>
        </p:txBody>
      </p:sp>
      <p:sp>
        <p:nvSpPr>
          <p:cNvPr id="26" name="Text 23"/>
          <p:cNvSpPr txBox="1"/>
          <p:nvPr/>
        </p:nvSpPr>
        <p:spPr>
          <a:xfrm>
            <a:off x="6355080" y="3986784"/>
            <a:ext cx="1737360" cy="685800"/>
          </a:xfrm>
          <a:prstGeom prst="rect">
            <a:avLst/>
          </a:prstGeom>
          <a:noFill/>
          <a:ln/>
        </p:spPr>
        <p:txBody>
          <a:bodyPr wrap="square" lIns="0" tIns="0" rIns="0" bIns="0" rtlCol="0" anchor="ctr"/>
          <a:lstStyle/>
          <a:p>
            <a:pPr marL="0" indent="0" algn="ctr">
              <a:buNone/>
            </a:pPr>
            <a:r>
              <a:rPr lang="en-US" sz="1700" b="1" dirty="0">
                <a:solidFill>
                  <a:srgbClr val="7448D4"/>
                </a:solidFill>
                <a:latin typeface="Courier New" pitchFamily="34" charset="0"/>
                <a:ea typeface="Courier New" pitchFamily="34" charset="-122"/>
                <a:cs typeface="Courier New" pitchFamily="34" charset="-120"/>
              </a:rPr>
              <a:t>clear</a:t>
            </a:r>
            <a:endParaRPr lang="en-US" sz="1700" dirty="0"/>
          </a:p>
        </p:txBody>
      </p:sp>
      <p:sp>
        <p:nvSpPr>
          <p:cNvPr id="27" name="Text 24"/>
          <p:cNvSpPr txBox="1"/>
          <p:nvPr/>
        </p:nvSpPr>
        <p:spPr>
          <a:xfrm>
            <a:off x="8275320" y="3986784"/>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wipe the screen</a:t>
            </a:r>
            <a:endParaRPr lang="en-US" sz="1800" dirty="0"/>
          </a:p>
        </p:txBody>
      </p:sp>
      <p:sp>
        <p:nvSpPr>
          <p:cNvPr id="28" name="Shape 25"/>
          <p:cNvSpPr/>
          <p:nvPr/>
        </p:nvSpPr>
        <p:spPr>
          <a:xfrm>
            <a:off x="548640" y="4983480"/>
            <a:ext cx="11094415" cy="914400"/>
          </a:xfrm>
          <a:prstGeom prst="roundRect">
            <a:avLst>
              <a:gd name="adj" fmla="val 10000"/>
            </a:avLst>
          </a:prstGeom>
          <a:solidFill>
            <a:srgbClr val="F1F5FB"/>
          </a:solidFill>
          <a:ln/>
        </p:spPr>
        <p:txBody>
          <a:bodyPr/>
          <a:lstStyle/>
          <a:p>
            <a:endParaRPr lang="en-US"/>
          </a:p>
        </p:txBody>
      </p:sp>
      <p:sp>
        <p:nvSpPr>
          <p:cNvPr id="29" name="Shape 26"/>
          <p:cNvSpPr/>
          <p:nvPr/>
        </p:nvSpPr>
        <p:spPr>
          <a:xfrm>
            <a:off x="777240" y="5120640"/>
            <a:ext cx="640080" cy="640080"/>
          </a:xfrm>
          <a:prstGeom prst="ellipse">
            <a:avLst/>
          </a:prstGeom>
          <a:solidFill>
            <a:srgbClr val="2459D8"/>
          </a:solidFill>
          <a:ln/>
        </p:spPr>
        <p:txBody>
          <a:bodyPr/>
          <a:lstStyle/>
          <a:p>
            <a:endParaRPr lang="en-US"/>
          </a:p>
        </p:txBody>
      </p:sp>
      <p:pic>
        <p:nvPicPr>
          <p:cNvPr id="30" name="Image 0" descr="preencoded.png"/>
          <p:cNvPicPr>
            <a:picLocks noChangeAspect="1"/>
          </p:cNvPicPr>
          <p:nvPr/>
        </p:nvPicPr>
        <p:blipFill>
          <a:blip r:embed="rId3"/>
          <a:stretch>
            <a:fillRect/>
          </a:stretch>
        </p:blipFill>
        <p:spPr>
          <a:xfrm>
            <a:off x="937260" y="5280660"/>
            <a:ext cx="320040" cy="320040"/>
          </a:xfrm>
          <a:prstGeom prst="rect">
            <a:avLst/>
          </a:prstGeom>
        </p:spPr>
      </p:pic>
      <p:sp>
        <p:nvSpPr>
          <p:cNvPr id="31" name="Text 27"/>
          <p:cNvSpPr txBox="1"/>
          <p:nvPr/>
        </p:nvSpPr>
        <p:spPr>
          <a:xfrm>
            <a:off x="1645920" y="4983480"/>
            <a:ext cx="9692640" cy="91440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In a race, Tab is speed. </a:t>
            </a:r>
            <a:r>
              <a:rPr lang="en-US" sz="1700" dirty="0">
                <a:solidFill>
                  <a:srgbClr val="12213A"/>
                </a:solidFill>
                <a:latin typeface="Calibri" pitchFamily="34" charset="0"/>
                <a:ea typeface="Calibri" pitchFamily="34" charset="-122"/>
                <a:cs typeface="Calibri" pitchFamily="34" charset="-120"/>
              </a:rPr>
              <a:t>Long paths like archive/charlie/bin-x7q2/k3d9fa.gem take seconds with Tab and a minute without it.</a:t>
            </a:r>
            <a:endParaRPr lang="en-US" sz="17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27</a:t>
            </a:r>
            <a:endParaRPr lang="en-US" sz="1000" dirty="0"/>
          </a:p>
        </p:txBody>
      </p:sp>
      <p:sp>
        <p:nvSpPr>
          <p:cNvPr id="5" name="Shape 2"/>
          <p:cNvSpPr/>
          <p:nvPr/>
        </p:nvSpPr>
        <p:spPr>
          <a:xfrm>
            <a:off x="0" y="0"/>
            <a:ext cx="256032" cy="6858000"/>
          </a:xfrm>
          <a:prstGeom prst="rect">
            <a:avLst/>
          </a:prstGeom>
          <a:solidFill>
            <a:srgbClr val="7448D4"/>
          </a:solidFill>
          <a:ln/>
        </p:spPr>
        <p:txBody>
          <a:bodyPr/>
          <a:lstStyle/>
          <a:p>
            <a:endParaRPr lang="en-US"/>
          </a:p>
        </p:txBody>
      </p:sp>
      <p:sp>
        <p:nvSpPr>
          <p:cNvPr id="6" name="Shape 3"/>
          <p:cNvSpPr/>
          <p:nvPr/>
        </p:nvSpPr>
        <p:spPr>
          <a:xfrm>
            <a:off x="640080" y="685800"/>
            <a:ext cx="1188720" cy="1188720"/>
          </a:xfrm>
          <a:prstGeom prst="ellipse">
            <a:avLst/>
          </a:prstGeom>
          <a:solidFill>
            <a:srgbClr val="7448D4"/>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3</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3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Searching</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dirty="0">
                <a:solidFill>
                  <a:srgbClr val="12213A"/>
                </a:solidFill>
                <a:latin typeface="Calibri" pitchFamily="34" charset="0"/>
                <a:ea typeface="Calibri" pitchFamily="34" charset="-122"/>
                <a:cs typeface="Calibri" pitchFamily="34" charset="-120"/>
              </a:rPr>
              <a:t>When there is too much to read by hand, let the computer search: by name, or inside files.</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7448D4"/>
                </a:solidFill>
                <a:latin typeface="Arial" pitchFamily="34" charset="0"/>
                <a:ea typeface="Arial" pitchFamily="34" charset="-122"/>
                <a:cs typeface="Arial" pitchFamily="34" charset="-120"/>
              </a:rPr>
              <a:t>By name</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find</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Search the whole folder tree for a name.</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7448D4"/>
                </a:solidFill>
                <a:latin typeface="Arial" pitchFamily="34" charset="0"/>
                <a:ea typeface="Arial" pitchFamily="34" charset="-122"/>
                <a:cs typeface="Arial" pitchFamily="34" charset="-120"/>
              </a:rPr>
              <a:t>Inside files</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grep</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Print only the lines that contain your word.</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7448D4"/>
                </a:solidFill>
                <a:latin typeface="Arial" pitchFamily="34" charset="0"/>
                <a:ea typeface="Arial" pitchFamily="34" charset="-122"/>
                <a:cs typeface="Arial" pitchFamily="34" charset="-120"/>
              </a:rPr>
              <a:t>Chain</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Feed one command's output into the next.</a:t>
            </a:r>
            <a:endParaRPr lang="en-US" sz="145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Finding files with find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find /etc -name "p*"</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28</a:t>
            </a:r>
            <a:endParaRPr lang="en-US" sz="1000" dirty="0"/>
          </a:p>
        </p:txBody>
      </p:sp>
      <p:sp>
        <p:nvSpPr>
          <p:cNvPr id="10" name="Shape 7"/>
          <p:cNvSpPr/>
          <p:nvPr/>
        </p:nvSpPr>
        <p:spPr>
          <a:xfrm>
            <a:off x="548640" y="1645920"/>
            <a:ext cx="1188720" cy="685800"/>
          </a:xfrm>
          <a:prstGeom prst="roundRect">
            <a:avLst>
              <a:gd name="adj" fmla="val 10667"/>
            </a:avLst>
          </a:prstGeom>
          <a:solidFill>
            <a:srgbClr val="12213A"/>
          </a:solidFill>
          <a:ln/>
        </p:spPr>
        <p:txBody>
          <a:bodyPr/>
          <a:lstStyle/>
          <a:p>
            <a:endParaRPr lang="en-US"/>
          </a:p>
        </p:txBody>
      </p:sp>
      <p:sp>
        <p:nvSpPr>
          <p:cNvPr id="11" name="Text 8"/>
          <p:cNvSpPr txBox="1"/>
          <p:nvPr/>
        </p:nvSpPr>
        <p:spPr>
          <a:xfrm>
            <a:off x="548640" y="1645920"/>
            <a:ext cx="118872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find</a:t>
            </a:r>
            <a:endParaRPr lang="en-US" sz="1700" dirty="0"/>
          </a:p>
        </p:txBody>
      </p:sp>
      <p:sp>
        <p:nvSpPr>
          <p:cNvPr id="12" name="Text 9"/>
          <p:cNvSpPr txBox="1"/>
          <p:nvPr/>
        </p:nvSpPr>
        <p:spPr>
          <a:xfrm>
            <a:off x="548640" y="2423160"/>
            <a:ext cx="1188720" cy="8229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command</a:t>
            </a:r>
            <a:endParaRPr lang="en-US" sz="1300" dirty="0"/>
          </a:p>
        </p:txBody>
      </p:sp>
      <p:sp>
        <p:nvSpPr>
          <p:cNvPr id="13" name="Shape 10"/>
          <p:cNvSpPr/>
          <p:nvPr/>
        </p:nvSpPr>
        <p:spPr>
          <a:xfrm>
            <a:off x="1847088" y="1645920"/>
            <a:ext cx="1645920" cy="685800"/>
          </a:xfrm>
          <a:prstGeom prst="roundRect">
            <a:avLst>
              <a:gd name="adj" fmla="val 10667"/>
            </a:avLst>
          </a:prstGeom>
          <a:solidFill>
            <a:srgbClr val="2459D8"/>
          </a:solidFill>
          <a:ln/>
        </p:spPr>
        <p:txBody>
          <a:bodyPr/>
          <a:lstStyle/>
          <a:p>
            <a:endParaRPr lang="en-US"/>
          </a:p>
        </p:txBody>
      </p:sp>
      <p:sp>
        <p:nvSpPr>
          <p:cNvPr id="14" name="Text 11"/>
          <p:cNvSpPr txBox="1"/>
          <p:nvPr/>
        </p:nvSpPr>
        <p:spPr>
          <a:xfrm>
            <a:off x="1847088" y="1645920"/>
            <a:ext cx="164592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/etc</a:t>
            </a:r>
            <a:endParaRPr lang="en-US" sz="1700" dirty="0"/>
          </a:p>
        </p:txBody>
      </p:sp>
      <p:sp>
        <p:nvSpPr>
          <p:cNvPr id="15" name="Text 12"/>
          <p:cNvSpPr txBox="1"/>
          <p:nvPr/>
        </p:nvSpPr>
        <p:spPr>
          <a:xfrm>
            <a:off x="1847088" y="2423160"/>
            <a:ext cx="1645920" cy="8229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where to start looking</a:t>
            </a:r>
            <a:endParaRPr lang="en-US" sz="1300" dirty="0"/>
          </a:p>
        </p:txBody>
      </p:sp>
      <p:sp>
        <p:nvSpPr>
          <p:cNvPr id="16" name="Shape 13"/>
          <p:cNvSpPr/>
          <p:nvPr/>
        </p:nvSpPr>
        <p:spPr>
          <a:xfrm>
            <a:off x="3602736" y="1645920"/>
            <a:ext cx="2834640" cy="685800"/>
          </a:xfrm>
          <a:prstGeom prst="roundRect">
            <a:avLst>
              <a:gd name="adj" fmla="val 10667"/>
            </a:avLst>
          </a:prstGeom>
          <a:solidFill>
            <a:srgbClr val="7448D4"/>
          </a:solidFill>
          <a:ln/>
        </p:spPr>
        <p:txBody>
          <a:bodyPr/>
          <a:lstStyle/>
          <a:p>
            <a:endParaRPr lang="en-US"/>
          </a:p>
        </p:txBody>
      </p:sp>
      <p:sp>
        <p:nvSpPr>
          <p:cNvPr id="17" name="Text 14"/>
          <p:cNvSpPr txBox="1"/>
          <p:nvPr/>
        </p:nvSpPr>
        <p:spPr>
          <a:xfrm>
            <a:off x="3602736" y="1645920"/>
            <a:ext cx="283464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-name "p*"</a:t>
            </a:r>
            <a:endParaRPr lang="en-US" sz="1700" dirty="0"/>
          </a:p>
        </p:txBody>
      </p:sp>
      <p:sp>
        <p:nvSpPr>
          <p:cNvPr id="18" name="Text 15"/>
          <p:cNvSpPr txBox="1"/>
          <p:nvPr/>
        </p:nvSpPr>
        <p:spPr>
          <a:xfrm>
            <a:off x="3602736" y="2423160"/>
            <a:ext cx="2834640" cy="8229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what to match: any name starting with p</a:t>
            </a:r>
            <a:endParaRPr lang="en-US" sz="1300" dirty="0"/>
          </a:p>
        </p:txBody>
      </p:sp>
      <p:sp>
        <p:nvSpPr>
          <p:cNvPr id="19" name="Shape 16"/>
          <p:cNvSpPr/>
          <p:nvPr/>
        </p:nvSpPr>
        <p:spPr>
          <a:xfrm>
            <a:off x="548640" y="3611880"/>
            <a:ext cx="28346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611880"/>
            <a:ext cx="2834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-name passwd</a:t>
            </a:r>
            <a:endParaRPr lang="en-US" sz="1500" dirty="0"/>
          </a:p>
        </p:txBody>
      </p:sp>
      <p:sp>
        <p:nvSpPr>
          <p:cNvPr id="21" name="Text 18"/>
          <p:cNvSpPr txBox="1"/>
          <p:nvPr/>
        </p:nvSpPr>
        <p:spPr>
          <a:xfrm>
            <a:off x="3611880" y="361188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match one exact name</a:t>
            </a:r>
            <a:endParaRPr lang="en-US" sz="1700" dirty="0"/>
          </a:p>
        </p:txBody>
      </p:sp>
      <p:sp>
        <p:nvSpPr>
          <p:cNvPr id="22" name="Shape 19"/>
          <p:cNvSpPr/>
          <p:nvPr/>
        </p:nvSpPr>
        <p:spPr>
          <a:xfrm>
            <a:off x="548640" y="4251960"/>
            <a:ext cx="2834640" cy="457200"/>
          </a:xfrm>
          <a:prstGeom prst="roundRect">
            <a:avLst>
              <a:gd name="adj" fmla="val 16000"/>
            </a:avLst>
          </a:prstGeom>
          <a:solidFill>
            <a:srgbClr val="0E1726"/>
          </a:solidFill>
          <a:ln/>
        </p:spPr>
        <p:txBody>
          <a:bodyPr/>
          <a:lstStyle/>
          <a:p>
            <a:endParaRPr lang="en-US"/>
          </a:p>
        </p:txBody>
      </p:sp>
      <p:sp>
        <p:nvSpPr>
          <p:cNvPr id="23" name="Text 20"/>
          <p:cNvSpPr txBox="1"/>
          <p:nvPr/>
        </p:nvSpPr>
        <p:spPr>
          <a:xfrm>
            <a:off x="548640" y="4251960"/>
            <a:ext cx="2834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-name "*.txt"</a:t>
            </a:r>
            <a:endParaRPr lang="en-US" sz="1500" dirty="0"/>
          </a:p>
        </p:txBody>
      </p:sp>
      <p:sp>
        <p:nvSpPr>
          <p:cNvPr id="24" name="Text 21"/>
          <p:cNvSpPr txBox="1"/>
          <p:nvPr/>
        </p:nvSpPr>
        <p:spPr>
          <a:xfrm>
            <a:off x="3611880" y="42519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match a pattern</a:t>
            </a:r>
            <a:endParaRPr lang="en-US" sz="1700" dirty="0"/>
          </a:p>
        </p:txBody>
      </p:sp>
      <p:sp>
        <p:nvSpPr>
          <p:cNvPr id="25" name="Shape 22"/>
          <p:cNvSpPr/>
          <p:nvPr/>
        </p:nvSpPr>
        <p:spPr>
          <a:xfrm>
            <a:off x="548640" y="4892040"/>
            <a:ext cx="2834640" cy="457200"/>
          </a:xfrm>
          <a:prstGeom prst="roundRect">
            <a:avLst>
              <a:gd name="adj" fmla="val 16000"/>
            </a:avLst>
          </a:prstGeom>
          <a:solidFill>
            <a:srgbClr val="0E1726"/>
          </a:solidFill>
          <a:ln/>
        </p:spPr>
        <p:txBody>
          <a:bodyPr/>
          <a:lstStyle/>
          <a:p>
            <a:endParaRPr lang="en-US"/>
          </a:p>
        </p:txBody>
      </p:sp>
      <p:sp>
        <p:nvSpPr>
          <p:cNvPr id="26" name="Text 23"/>
          <p:cNvSpPr txBox="1"/>
          <p:nvPr/>
        </p:nvSpPr>
        <p:spPr>
          <a:xfrm>
            <a:off x="548640" y="4892040"/>
            <a:ext cx="2834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-type d</a:t>
            </a:r>
            <a:endParaRPr lang="en-US" sz="1500" dirty="0"/>
          </a:p>
        </p:txBody>
      </p:sp>
      <p:sp>
        <p:nvSpPr>
          <p:cNvPr id="27" name="Text 24"/>
          <p:cNvSpPr txBox="1"/>
          <p:nvPr/>
        </p:nvSpPr>
        <p:spPr>
          <a:xfrm>
            <a:off x="3611880" y="48920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only folders (f for files)</a:t>
            </a:r>
            <a:endParaRPr lang="en-US" sz="1700" dirty="0"/>
          </a:p>
        </p:txBody>
      </p:sp>
      <p:sp>
        <p:nvSpPr>
          <p:cNvPr id="28" name="Shape 25"/>
          <p:cNvSpPr/>
          <p:nvPr/>
        </p:nvSpPr>
        <p:spPr>
          <a:xfrm>
            <a:off x="6675120" y="1463040"/>
            <a:ext cx="493776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9" name="Shape 26"/>
          <p:cNvSpPr/>
          <p:nvPr/>
        </p:nvSpPr>
        <p:spPr>
          <a:xfrm>
            <a:off x="6876288" y="1618488"/>
            <a:ext cx="118872" cy="118872"/>
          </a:xfrm>
          <a:prstGeom prst="ellipse">
            <a:avLst/>
          </a:prstGeom>
          <a:solidFill>
            <a:srgbClr val="E5534B"/>
          </a:solidFill>
          <a:ln/>
        </p:spPr>
        <p:txBody>
          <a:bodyPr/>
          <a:lstStyle/>
          <a:p>
            <a:endParaRPr lang="en-US"/>
          </a:p>
        </p:txBody>
      </p:sp>
      <p:sp>
        <p:nvSpPr>
          <p:cNvPr id="30" name="Shape 27"/>
          <p:cNvSpPr/>
          <p:nvPr/>
        </p:nvSpPr>
        <p:spPr>
          <a:xfrm>
            <a:off x="7077456" y="1618488"/>
            <a:ext cx="118872" cy="118872"/>
          </a:xfrm>
          <a:prstGeom prst="ellipse">
            <a:avLst/>
          </a:prstGeom>
          <a:solidFill>
            <a:srgbClr val="F5A623"/>
          </a:solidFill>
          <a:ln/>
        </p:spPr>
        <p:txBody>
          <a:bodyPr/>
          <a:lstStyle/>
          <a:p>
            <a:endParaRPr lang="en-US"/>
          </a:p>
        </p:txBody>
      </p:sp>
      <p:sp>
        <p:nvSpPr>
          <p:cNvPr id="31" name="Shape 28"/>
          <p:cNvSpPr/>
          <p:nvPr/>
        </p:nvSpPr>
        <p:spPr>
          <a:xfrm>
            <a:off x="7278624" y="1618488"/>
            <a:ext cx="118872" cy="118872"/>
          </a:xfrm>
          <a:prstGeom prst="ellipse">
            <a:avLst/>
          </a:prstGeom>
          <a:solidFill>
            <a:srgbClr val="46D39A"/>
          </a:solidFill>
          <a:ln/>
        </p:spPr>
        <p:txBody>
          <a:bodyPr/>
          <a:lstStyle/>
          <a:p>
            <a:endParaRPr lang="en-US"/>
          </a:p>
        </p:txBody>
      </p:sp>
      <p:sp>
        <p:nvSpPr>
          <p:cNvPr id="32" name="Text 29"/>
          <p:cNvSpPr txBox="1"/>
          <p:nvPr/>
        </p:nvSpPr>
        <p:spPr>
          <a:xfrm>
            <a:off x="6949440" y="1920240"/>
            <a:ext cx="4389120" cy="384048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find /etc -name "p*"</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/etc/passwd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/etc/profile</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 </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find /etc -type 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/etc/quest</a:t>
            </a:r>
            <a:endParaRPr lang="en-US" sz="16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Searching inside files: grep</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grep player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29</a:t>
            </a:r>
            <a:endParaRPr lang="en-US" sz="1000" dirty="0"/>
          </a:p>
        </p:txBody>
      </p:sp>
      <p:sp>
        <p:nvSpPr>
          <p:cNvPr id="10" name="Shape 7"/>
          <p:cNvSpPr/>
          <p:nvPr/>
        </p:nvSpPr>
        <p:spPr>
          <a:xfrm>
            <a:off x="548640" y="1463040"/>
            <a:ext cx="11094415" cy="2514600"/>
          </a:xfrm>
          <a:prstGeom prst="roundRect">
            <a:avLst>
              <a:gd name="adj" fmla="val 3636"/>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1" name="Shape 8"/>
          <p:cNvSpPr/>
          <p:nvPr/>
        </p:nvSpPr>
        <p:spPr>
          <a:xfrm>
            <a:off x="749808" y="1618488"/>
            <a:ext cx="118872" cy="118872"/>
          </a:xfrm>
          <a:prstGeom prst="ellipse">
            <a:avLst/>
          </a:prstGeom>
          <a:solidFill>
            <a:srgbClr val="E5534B"/>
          </a:solidFill>
          <a:ln/>
        </p:spPr>
        <p:txBody>
          <a:bodyPr/>
          <a:lstStyle/>
          <a:p>
            <a:endParaRPr lang="en-US"/>
          </a:p>
        </p:txBody>
      </p:sp>
      <p:sp>
        <p:nvSpPr>
          <p:cNvPr id="12" name="Shape 9"/>
          <p:cNvSpPr/>
          <p:nvPr/>
        </p:nvSpPr>
        <p:spPr>
          <a:xfrm>
            <a:off x="950976" y="1618488"/>
            <a:ext cx="118872" cy="118872"/>
          </a:xfrm>
          <a:prstGeom prst="ellipse">
            <a:avLst/>
          </a:prstGeom>
          <a:solidFill>
            <a:srgbClr val="F5A623"/>
          </a:solidFill>
          <a:ln/>
        </p:spPr>
        <p:txBody>
          <a:bodyPr/>
          <a:lstStyle/>
          <a:p>
            <a:endParaRPr lang="en-US"/>
          </a:p>
        </p:txBody>
      </p:sp>
      <p:sp>
        <p:nvSpPr>
          <p:cNvPr id="13" name="Shape 10"/>
          <p:cNvSpPr/>
          <p:nvPr/>
        </p:nvSpPr>
        <p:spPr>
          <a:xfrm>
            <a:off x="1152144" y="1618488"/>
            <a:ext cx="118872" cy="118872"/>
          </a:xfrm>
          <a:prstGeom prst="ellipse">
            <a:avLst/>
          </a:prstGeom>
          <a:solidFill>
            <a:srgbClr val="46D39A"/>
          </a:solidFill>
          <a:ln/>
        </p:spPr>
        <p:txBody>
          <a:bodyPr/>
          <a:lstStyle/>
          <a:p>
            <a:endParaRPr lang="en-US"/>
          </a:p>
        </p:txBody>
      </p:sp>
      <p:sp>
        <p:nvSpPr>
          <p:cNvPr id="14" name="Text 11"/>
          <p:cNvSpPr txBox="1"/>
          <p:nvPr/>
        </p:nvSpPr>
        <p:spPr>
          <a:xfrm>
            <a:off x="822960" y="1920240"/>
            <a:ext cx="10545775" cy="1920240"/>
          </a:xfrm>
          <a:prstGeom prst="rect">
            <a:avLst/>
          </a:prstGeom>
          <a:noFill/>
          <a:ln/>
        </p:spPr>
        <p:txBody>
          <a:bodyPr wrap="square" lIns="0" tIns="0" rIns="0" bIns="0" rtlCol="0" anchor="t"/>
          <a:lstStyle/>
          <a:p>
            <a:pPr marL="0" indent="0">
              <a:spcAft>
                <a:spcPts val="200"/>
              </a:spcAft>
              <a:buNone/>
            </a:pPr>
            <a:r>
              <a:rPr lang="en-US" sz="1700" b="1" dirty="0">
                <a:solidFill>
                  <a:srgbClr val="46D39A"/>
                </a:solidFill>
                <a:latin typeface="Courier New" pitchFamily="34" charset="0"/>
                <a:ea typeface="Courier New" pitchFamily="34" charset="-122"/>
                <a:cs typeface="Courier New" pitchFamily="34" charset="-120"/>
              </a:rPr>
              <a:t>$ </a:t>
            </a:r>
            <a:r>
              <a:rPr lang="en-US" sz="1700" b="1" dirty="0">
                <a:solidFill>
                  <a:srgbClr val="FFFFFF"/>
                </a:solidFill>
                <a:latin typeface="Courier New" pitchFamily="34" charset="0"/>
                <a:ea typeface="Courier New" pitchFamily="34" charset="-122"/>
                <a:cs typeface="Courier New" pitchFamily="34" charset="-120"/>
              </a:rPr>
              <a:t>grep player /etc/passwd</a:t>
            </a:r>
            <a:r>
              <a:rPr lang="en-US" sz="1700" dirty="0">
                <a:solidFill>
                  <a:srgbClr val="7F8FAD"/>
                </a:solidFill>
                <a:latin typeface="Courier New" pitchFamily="34" charset="0"/>
                <a:ea typeface="Courier New" pitchFamily="34" charset="-122"/>
                <a:cs typeface="Courier New" pitchFamily="34" charset="-120"/>
              </a:rPr>
              <a:t>   # search one file</a:t>
            </a:r>
            <a:endParaRPr lang="en-US" sz="1700" dirty="0"/>
          </a:p>
          <a:p>
            <a:pPr marL="0" indent="0">
              <a:spcAft>
                <a:spcPts val="200"/>
              </a:spcAft>
              <a:buNone/>
            </a:pPr>
            <a:r>
              <a:rPr lang="en-US" sz="1700" b="1" dirty="0">
                <a:solidFill>
                  <a:srgbClr val="F5A623"/>
                </a:solidFill>
                <a:latin typeface="Courier New" pitchFamily="34" charset="0"/>
                <a:ea typeface="Courier New" pitchFamily="34" charset="-122"/>
                <a:cs typeface="Courier New" pitchFamily="34" charset="-120"/>
              </a:rPr>
              <a:t>player:x:1000:1000:player:/home/player:/bin/sh</a:t>
            </a:r>
            <a:endParaRPr lang="en-US" sz="1700" dirty="0"/>
          </a:p>
          <a:p>
            <a:pPr marL="0" indent="0">
              <a:spcAft>
                <a:spcPts val="200"/>
              </a:spcAft>
              <a:buNone/>
            </a:pPr>
            <a:r>
              <a:rPr lang="en-US" sz="1700" b="1" dirty="0">
                <a:solidFill>
                  <a:srgbClr val="46D39A"/>
                </a:solidFill>
                <a:latin typeface="Courier New" pitchFamily="34" charset="0"/>
                <a:ea typeface="Courier New" pitchFamily="34" charset="-122"/>
                <a:cs typeface="Courier New" pitchFamily="34" charset="-120"/>
              </a:rPr>
              <a:t>$ </a:t>
            </a:r>
            <a:r>
              <a:rPr lang="en-US" sz="1700" b="1" dirty="0">
                <a:solidFill>
                  <a:srgbClr val="FFFFFF"/>
                </a:solidFill>
                <a:latin typeface="Courier New" pitchFamily="34" charset="0"/>
                <a:ea typeface="Courier New" pitchFamily="34" charset="-122"/>
                <a:cs typeface="Courier New" pitchFamily="34" charset="-120"/>
              </a:rPr>
              <a:t>grep -r PS1 /etc</a:t>
            </a:r>
            <a:r>
              <a:rPr lang="en-US" sz="1700" dirty="0">
                <a:solidFill>
                  <a:srgbClr val="7F8FAD"/>
                </a:solidFill>
                <a:latin typeface="Courier New" pitchFamily="34" charset="0"/>
                <a:ea typeface="Courier New" pitchFamily="34" charset="-122"/>
                <a:cs typeface="Courier New" pitchFamily="34" charset="-120"/>
              </a:rPr>
              <a:t>   # search every file below here</a:t>
            </a:r>
            <a:endParaRPr lang="en-US" sz="1700" dirty="0"/>
          </a:p>
          <a:p>
            <a:pPr marL="0" indent="0">
              <a:spcAft>
                <a:spcPts val="200"/>
              </a:spcAft>
              <a:buNone/>
            </a:pPr>
            <a:r>
              <a:rPr lang="en-US" sz="1700" b="1" dirty="0">
                <a:solidFill>
                  <a:srgbClr val="F5A623"/>
                </a:solidFill>
                <a:latin typeface="Courier New" pitchFamily="34" charset="0"/>
                <a:ea typeface="Courier New" pitchFamily="34" charset="-122"/>
                <a:cs typeface="Courier New" pitchFamily="34" charset="-120"/>
              </a:rPr>
              <a:t>/etc/profile:export PS1='...'</a:t>
            </a:r>
            <a:endParaRPr lang="en-US" sz="1700" dirty="0"/>
          </a:p>
        </p:txBody>
      </p:sp>
      <p:sp>
        <p:nvSpPr>
          <p:cNvPr id="15" name="Shape 12"/>
          <p:cNvSpPr/>
          <p:nvPr/>
        </p:nvSpPr>
        <p:spPr>
          <a:xfrm>
            <a:off x="548640" y="4343400"/>
            <a:ext cx="3566160" cy="1554480"/>
          </a:xfrm>
          <a:prstGeom prst="roundRect">
            <a:avLst>
              <a:gd name="adj" fmla="val 5882"/>
            </a:avLst>
          </a:prstGeom>
          <a:solidFill>
            <a:srgbClr val="F1F5FB"/>
          </a:solidFill>
          <a:ln/>
        </p:spPr>
        <p:txBody>
          <a:bodyPr/>
          <a:lstStyle/>
          <a:p>
            <a:endParaRPr lang="en-US"/>
          </a:p>
        </p:txBody>
      </p:sp>
      <p:sp>
        <p:nvSpPr>
          <p:cNvPr id="16" name="Text 13"/>
          <p:cNvSpPr txBox="1"/>
          <p:nvPr/>
        </p:nvSpPr>
        <p:spPr>
          <a:xfrm>
            <a:off x="777240" y="4526280"/>
            <a:ext cx="3200400" cy="365760"/>
          </a:xfrm>
          <a:prstGeom prst="rect">
            <a:avLst/>
          </a:prstGeom>
          <a:noFill/>
          <a:ln/>
        </p:spPr>
        <p:txBody>
          <a:bodyPr wrap="square" lIns="0" tIns="0" rIns="0" bIns="0" rtlCol="0" anchor="t"/>
          <a:lstStyle/>
          <a:p>
            <a:pPr marL="0" indent="0">
              <a:buNone/>
            </a:pPr>
            <a:r>
              <a:rPr lang="en-US" sz="1600" b="1" dirty="0">
                <a:solidFill>
                  <a:srgbClr val="12213A"/>
                </a:solidFill>
                <a:latin typeface="Courier New" pitchFamily="34" charset="0"/>
                <a:ea typeface="Courier New" pitchFamily="34" charset="-122"/>
                <a:cs typeface="Courier New" pitchFamily="34" charset="-120"/>
              </a:rPr>
              <a:t>grep word file</a:t>
            </a:r>
            <a:endParaRPr lang="en-US" sz="1600" dirty="0"/>
          </a:p>
        </p:txBody>
      </p:sp>
      <p:sp>
        <p:nvSpPr>
          <p:cNvPr id="17" name="Text 14"/>
          <p:cNvSpPr txBox="1"/>
          <p:nvPr/>
        </p:nvSpPr>
        <p:spPr>
          <a:xfrm>
            <a:off x="777240" y="4983480"/>
            <a:ext cx="3108960" cy="82296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print the lines that contain the word</a:t>
            </a:r>
            <a:endParaRPr lang="en-US" sz="1600" dirty="0"/>
          </a:p>
        </p:txBody>
      </p:sp>
      <p:sp>
        <p:nvSpPr>
          <p:cNvPr id="18" name="Shape 15"/>
          <p:cNvSpPr/>
          <p:nvPr/>
        </p:nvSpPr>
        <p:spPr>
          <a:xfrm>
            <a:off x="4306824" y="4343400"/>
            <a:ext cx="3566160" cy="1554480"/>
          </a:xfrm>
          <a:prstGeom prst="roundRect">
            <a:avLst>
              <a:gd name="adj" fmla="val 5882"/>
            </a:avLst>
          </a:prstGeom>
          <a:solidFill>
            <a:srgbClr val="F1F5FB"/>
          </a:solidFill>
          <a:ln/>
        </p:spPr>
        <p:txBody>
          <a:bodyPr/>
          <a:lstStyle/>
          <a:p>
            <a:endParaRPr lang="en-US"/>
          </a:p>
        </p:txBody>
      </p:sp>
      <p:sp>
        <p:nvSpPr>
          <p:cNvPr id="19" name="Text 16"/>
          <p:cNvSpPr txBox="1"/>
          <p:nvPr/>
        </p:nvSpPr>
        <p:spPr>
          <a:xfrm>
            <a:off x="4535424" y="4526280"/>
            <a:ext cx="3200400" cy="365760"/>
          </a:xfrm>
          <a:prstGeom prst="rect">
            <a:avLst/>
          </a:prstGeom>
          <a:noFill/>
          <a:ln/>
        </p:spPr>
        <p:txBody>
          <a:bodyPr wrap="square" lIns="0" tIns="0" rIns="0" bIns="0" rtlCol="0" anchor="t"/>
          <a:lstStyle/>
          <a:p>
            <a:pPr marL="0" indent="0">
              <a:buNone/>
            </a:pPr>
            <a:r>
              <a:rPr lang="en-US" sz="1600" b="1" dirty="0">
                <a:solidFill>
                  <a:srgbClr val="12213A"/>
                </a:solidFill>
                <a:latin typeface="Courier New" pitchFamily="34" charset="0"/>
                <a:ea typeface="Courier New" pitchFamily="34" charset="-122"/>
                <a:cs typeface="Courier New" pitchFamily="34" charset="-120"/>
              </a:rPr>
              <a:t>grep -r word /etc</a:t>
            </a:r>
            <a:endParaRPr lang="en-US" sz="1600" dirty="0"/>
          </a:p>
        </p:txBody>
      </p:sp>
      <p:sp>
        <p:nvSpPr>
          <p:cNvPr id="20" name="Text 17"/>
          <p:cNvSpPr txBox="1"/>
          <p:nvPr/>
        </p:nvSpPr>
        <p:spPr>
          <a:xfrm>
            <a:off x="4535424" y="4983480"/>
            <a:ext cx="3108960" cy="82296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search every file in every folder below</a:t>
            </a:r>
            <a:endParaRPr lang="en-US" sz="1600" dirty="0"/>
          </a:p>
        </p:txBody>
      </p:sp>
      <p:sp>
        <p:nvSpPr>
          <p:cNvPr id="21" name="Shape 18"/>
          <p:cNvSpPr/>
          <p:nvPr/>
        </p:nvSpPr>
        <p:spPr>
          <a:xfrm>
            <a:off x="8065008" y="4343400"/>
            <a:ext cx="3566160" cy="1554480"/>
          </a:xfrm>
          <a:prstGeom prst="roundRect">
            <a:avLst>
              <a:gd name="adj" fmla="val 5882"/>
            </a:avLst>
          </a:prstGeom>
          <a:solidFill>
            <a:srgbClr val="F1F5FB"/>
          </a:solidFill>
          <a:ln/>
        </p:spPr>
        <p:txBody>
          <a:bodyPr/>
          <a:lstStyle/>
          <a:p>
            <a:endParaRPr lang="en-US"/>
          </a:p>
        </p:txBody>
      </p:sp>
      <p:sp>
        <p:nvSpPr>
          <p:cNvPr id="22" name="Text 19"/>
          <p:cNvSpPr txBox="1"/>
          <p:nvPr/>
        </p:nvSpPr>
        <p:spPr>
          <a:xfrm>
            <a:off x="8293608" y="4526280"/>
            <a:ext cx="3200400" cy="365760"/>
          </a:xfrm>
          <a:prstGeom prst="rect">
            <a:avLst/>
          </a:prstGeom>
          <a:noFill/>
          <a:ln/>
        </p:spPr>
        <p:txBody>
          <a:bodyPr wrap="square" lIns="0" tIns="0" rIns="0" bIns="0" rtlCol="0" anchor="t"/>
          <a:lstStyle/>
          <a:p>
            <a:pPr marL="0" indent="0">
              <a:buNone/>
            </a:pPr>
            <a:r>
              <a:rPr lang="en-US" sz="1600" b="1" dirty="0">
                <a:solidFill>
                  <a:srgbClr val="12213A"/>
                </a:solidFill>
                <a:latin typeface="Courier New" pitchFamily="34" charset="0"/>
                <a:ea typeface="Courier New" pitchFamily="34" charset="-122"/>
                <a:cs typeface="Courier New" pitchFamily="34" charset="-120"/>
              </a:rPr>
              <a:t>grep -c word file</a:t>
            </a:r>
            <a:endParaRPr lang="en-US" sz="1600" dirty="0"/>
          </a:p>
        </p:txBody>
      </p:sp>
      <p:sp>
        <p:nvSpPr>
          <p:cNvPr id="23" name="Text 20"/>
          <p:cNvSpPr txBox="1"/>
          <p:nvPr/>
        </p:nvSpPr>
        <p:spPr>
          <a:xfrm>
            <a:off x="8293608" y="4983480"/>
            <a:ext cx="3108960" cy="82296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just count the matching lines</a:t>
            </a:r>
            <a:endParaRPr lang="en-US" sz="16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Pipes: chain small tools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/bin | grep sh | wc -l</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30</a:t>
            </a:r>
            <a:endParaRPr lang="en-US" sz="1000" dirty="0"/>
          </a:p>
        </p:txBody>
      </p:sp>
      <p:sp>
        <p:nvSpPr>
          <p:cNvPr id="10" name="Shape 7"/>
          <p:cNvSpPr/>
          <p:nvPr/>
        </p:nvSpPr>
        <p:spPr>
          <a:xfrm>
            <a:off x="548640" y="1463040"/>
            <a:ext cx="11094415" cy="777240"/>
          </a:xfrm>
          <a:prstGeom prst="roundRect">
            <a:avLst>
              <a:gd name="adj" fmla="val 11765"/>
            </a:avLst>
          </a:prstGeom>
          <a:solidFill>
            <a:srgbClr val="0E1726"/>
          </a:solidFill>
          <a:ln/>
        </p:spPr>
        <p:txBody>
          <a:bodyPr/>
          <a:lstStyle/>
          <a:p>
            <a:endParaRPr lang="en-US"/>
          </a:p>
        </p:txBody>
      </p:sp>
      <p:sp>
        <p:nvSpPr>
          <p:cNvPr id="11" name="Text 8"/>
          <p:cNvSpPr txBox="1"/>
          <p:nvPr/>
        </p:nvSpPr>
        <p:spPr>
          <a:xfrm>
            <a:off x="868680" y="1463040"/>
            <a:ext cx="10454335" cy="777240"/>
          </a:xfrm>
          <a:prstGeom prst="rect">
            <a:avLst/>
          </a:prstGeom>
          <a:noFill/>
          <a:ln/>
        </p:spPr>
        <p:txBody>
          <a:bodyPr wrap="square" lIns="0" tIns="0" rIns="0" bIns="0" rtlCol="0" anchor="ctr"/>
          <a:lstStyle/>
          <a:p>
            <a:pPr marL="0" indent="0">
              <a:buNone/>
            </a:pPr>
            <a:r>
              <a:rPr lang="en-US" sz="2400" b="1" dirty="0">
                <a:solidFill>
                  <a:srgbClr val="46D39A"/>
                </a:solidFill>
                <a:latin typeface="Courier New" pitchFamily="34" charset="0"/>
                <a:ea typeface="Courier New" pitchFamily="34" charset="-122"/>
                <a:cs typeface="Courier New" pitchFamily="34" charset="-120"/>
              </a:rPr>
              <a:t>$ </a:t>
            </a:r>
            <a:r>
              <a:rPr lang="en-US" sz="2400" b="1" dirty="0">
                <a:solidFill>
                  <a:srgbClr val="FFFFFF"/>
                </a:solidFill>
                <a:latin typeface="Courier New" pitchFamily="34" charset="0"/>
                <a:ea typeface="Courier New" pitchFamily="34" charset="-122"/>
                <a:cs typeface="Courier New" pitchFamily="34" charset="-120"/>
              </a:rPr>
              <a:t>ls /bin </a:t>
            </a:r>
            <a:r>
              <a:rPr lang="en-US" sz="2400" b="1" dirty="0">
                <a:solidFill>
                  <a:srgbClr val="F5A623"/>
                </a:solidFill>
                <a:latin typeface="Courier New" pitchFamily="34" charset="0"/>
                <a:ea typeface="Courier New" pitchFamily="34" charset="-122"/>
                <a:cs typeface="Courier New" pitchFamily="34" charset="-120"/>
              </a:rPr>
              <a:t>|</a:t>
            </a:r>
            <a:r>
              <a:rPr lang="en-US" sz="2400" b="1" dirty="0">
                <a:solidFill>
                  <a:srgbClr val="FFFFFF"/>
                </a:solidFill>
                <a:latin typeface="Courier New" pitchFamily="34" charset="0"/>
                <a:ea typeface="Courier New" pitchFamily="34" charset="-122"/>
                <a:cs typeface="Courier New" pitchFamily="34" charset="-120"/>
              </a:rPr>
              <a:t> grep sh </a:t>
            </a:r>
            <a:r>
              <a:rPr lang="en-US" sz="2400" b="1" dirty="0">
                <a:solidFill>
                  <a:srgbClr val="F5A623"/>
                </a:solidFill>
                <a:latin typeface="Courier New" pitchFamily="34" charset="0"/>
                <a:ea typeface="Courier New" pitchFamily="34" charset="-122"/>
                <a:cs typeface="Courier New" pitchFamily="34" charset="-120"/>
              </a:rPr>
              <a:t>|</a:t>
            </a:r>
            <a:r>
              <a:rPr lang="en-US" sz="2400" b="1" dirty="0">
                <a:solidFill>
                  <a:srgbClr val="FFFFFF"/>
                </a:solidFill>
                <a:latin typeface="Courier New" pitchFamily="34" charset="0"/>
                <a:ea typeface="Courier New" pitchFamily="34" charset="-122"/>
                <a:cs typeface="Courier New" pitchFamily="34" charset="-120"/>
              </a:rPr>
              <a:t> wc -l</a:t>
            </a:r>
            <a:endParaRPr lang="en-US" sz="2400" dirty="0"/>
          </a:p>
        </p:txBody>
      </p:sp>
      <p:sp>
        <p:nvSpPr>
          <p:cNvPr id="12" name="Shape 9"/>
          <p:cNvSpPr/>
          <p:nvPr/>
        </p:nvSpPr>
        <p:spPr>
          <a:xfrm>
            <a:off x="548640" y="2606040"/>
            <a:ext cx="2834640" cy="3291840"/>
          </a:xfrm>
          <a:prstGeom prst="roundRect">
            <a:avLst>
              <a:gd name="adj" fmla="val 3226"/>
            </a:avLst>
          </a:prstGeom>
          <a:solidFill>
            <a:srgbClr val="F1F5FB"/>
          </a:solidFill>
          <a:ln/>
        </p:spPr>
        <p:txBody>
          <a:bodyPr/>
          <a:lstStyle/>
          <a:p>
            <a:endParaRPr lang="en-US"/>
          </a:p>
        </p:txBody>
      </p:sp>
      <p:sp>
        <p:nvSpPr>
          <p:cNvPr id="13" name="Shape 10"/>
          <p:cNvSpPr/>
          <p:nvPr/>
        </p:nvSpPr>
        <p:spPr>
          <a:xfrm>
            <a:off x="731520" y="2788920"/>
            <a:ext cx="2468880" cy="457200"/>
          </a:xfrm>
          <a:prstGeom prst="roundRect">
            <a:avLst>
              <a:gd name="adj" fmla="val 16000"/>
            </a:avLst>
          </a:prstGeom>
          <a:solidFill>
            <a:srgbClr val="56657E"/>
          </a:solidFill>
          <a:ln/>
        </p:spPr>
        <p:txBody>
          <a:bodyPr/>
          <a:lstStyle/>
          <a:p>
            <a:endParaRPr lang="en-US"/>
          </a:p>
        </p:txBody>
      </p:sp>
      <p:sp>
        <p:nvSpPr>
          <p:cNvPr id="14" name="Text 11"/>
          <p:cNvSpPr txBox="1"/>
          <p:nvPr/>
        </p:nvSpPr>
        <p:spPr>
          <a:xfrm>
            <a:off x="731520" y="2788920"/>
            <a:ext cx="24688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/bin</a:t>
            </a:r>
            <a:endParaRPr lang="en-US" sz="1500" dirty="0"/>
          </a:p>
        </p:txBody>
      </p:sp>
      <p:sp>
        <p:nvSpPr>
          <p:cNvPr id="15" name="Text 12"/>
          <p:cNvSpPr txBox="1"/>
          <p:nvPr/>
        </p:nvSpPr>
        <p:spPr>
          <a:xfrm>
            <a:off x="731520" y="3337560"/>
            <a:ext cx="246888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list every command</a:t>
            </a:r>
            <a:endParaRPr lang="en-US" sz="1300" dirty="0"/>
          </a:p>
        </p:txBody>
      </p:sp>
      <p:sp>
        <p:nvSpPr>
          <p:cNvPr id="16" name="Text 13"/>
          <p:cNvSpPr txBox="1"/>
          <p:nvPr/>
        </p:nvSpPr>
        <p:spPr>
          <a:xfrm>
            <a:off x="731520" y="3794760"/>
            <a:ext cx="2468880" cy="2011680"/>
          </a:xfrm>
          <a:prstGeom prst="rect">
            <a:avLst/>
          </a:prstGeom>
          <a:noFill/>
          <a:ln/>
        </p:spPr>
        <p:txBody>
          <a:bodyPr wrap="square" lIns="0" tIns="0" rIns="0" bIns="0" rtlCol="0" anchor="t"/>
          <a:lstStyle/>
          <a:p>
            <a:pPr marL="0" indent="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acpid</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adjtimex</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ash</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zcat</a:t>
            </a:r>
            <a:endParaRPr lang="en-US" sz="1500" dirty="0"/>
          </a:p>
        </p:txBody>
      </p:sp>
      <p:sp>
        <p:nvSpPr>
          <p:cNvPr id="17" name="Text 14"/>
          <p:cNvSpPr txBox="1"/>
          <p:nvPr/>
        </p:nvSpPr>
        <p:spPr>
          <a:xfrm>
            <a:off x="3383280" y="3840480"/>
            <a:ext cx="329184" cy="548640"/>
          </a:xfrm>
          <a:prstGeom prst="rect">
            <a:avLst/>
          </a:prstGeom>
          <a:noFill/>
          <a:ln/>
        </p:spPr>
        <p:txBody>
          <a:bodyPr wrap="square" lIns="0" tIns="0" rIns="0" bIns="0" rtlCol="0" anchor="ctr"/>
          <a:lstStyle/>
          <a:p>
            <a:pPr marL="0" indent="0" algn="ctr">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18" name="Shape 15"/>
          <p:cNvSpPr/>
          <p:nvPr/>
        </p:nvSpPr>
        <p:spPr>
          <a:xfrm>
            <a:off x="3712464" y="2606040"/>
            <a:ext cx="2834640" cy="3291840"/>
          </a:xfrm>
          <a:prstGeom prst="roundRect">
            <a:avLst>
              <a:gd name="adj" fmla="val 3226"/>
            </a:avLst>
          </a:prstGeom>
          <a:solidFill>
            <a:srgbClr val="F1F5FB"/>
          </a:solidFill>
          <a:ln/>
        </p:spPr>
        <p:txBody>
          <a:bodyPr/>
          <a:lstStyle/>
          <a:p>
            <a:endParaRPr lang="en-US"/>
          </a:p>
        </p:txBody>
      </p:sp>
      <p:sp>
        <p:nvSpPr>
          <p:cNvPr id="19" name="Shape 16"/>
          <p:cNvSpPr/>
          <p:nvPr/>
        </p:nvSpPr>
        <p:spPr>
          <a:xfrm>
            <a:off x="3895344" y="2788920"/>
            <a:ext cx="2468880" cy="457200"/>
          </a:xfrm>
          <a:prstGeom prst="roundRect">
            <a:avLst>
              <a:gd name="adj" fmla="val 16000"/>
            </a:avLst>
          </a:prstGeom>
          <a:solidFill>
            <a:srgbClr val="2459D8"/>
          </a:solidFill>
          <a:ln/>
        </p:spPr>
        <p:txBody>
          <a:bodyPr/>
          <a:lstStyle/>
          <a:p>
            <a:endParaRPr lang="en-US"/>
          </a:p>
        </p:txBody>
      </p:sp>
      <p:sp>
        <p:nvSpPr>
          <p:cNvPr id="20" name="Text 17"/>
          <p:cNvSpPr txBox="1"/>
          <p:nvPr/>
        </p:nvSpPr>
        <p:spPr>
          <a:xfrm>
            <a:off x="3895344" y="2788920"/>
            <a:ext cx="24688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grep sh</a:t>
            </a:r>
            <a:endParaRPr lang="en-US" sz="1500" dirty="0"/>
          </a:p>
        </p:txBody>
      </p:sp>
      <p:sp>
        <p:nvSpPr>
          <p:cNvPr id="21" name="Text 18"/>
          <p:cNvSpPr txBox="1"/>
          <p:nvPr/>
        </p:nvSpPr>
        <p:spPr>
          <a:xfrm>
            <a:off x="3895344" y="3337560"/>
            <a:ext cx="246888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keep names containing sh</a:t>
            </a:r>
            <a:endParaRPr lang="en-US" sz="1300" dirty="0"/>
          </a:p>
        </p:txBody>
      </p:sp>
      <p:sp>
        <p:nvSpPr>
          <p:cNvPr id="22" name="Text 19"/>
          <p:cNvSpPr txBox="1"/>
          <p:nvPr/>
        </p:nvSpPr>
        <p:spPr>
          <a:xfrm>
            <a:off x="3895344" y="3794760"/>
            <a:ext cx="2468880" cy="2011680"/>
          </a:xfrm>
          <a:prstGeom prst="rect">
            <a:avLst/>
          </a:prstGeom>
          <a:noFill/>
          <a:ln/>
        </p:spPr>
        <p:txBody>
          <a:bodyPr wrap="square" lIns="0" tIns="0" rIns="0" bIns="0" rtlCol="0" anchor="t"/>
          <a:lstStyle/>
          <a:p>
            <a:pPr marL="0" indent="0">
              <a:buNone/>
            </a:pPr>
            <a:r>
              <a:rPr lang="en-US" sz="1500" dirty="0">
                <a:solidFill>
                  <a:srgbClr val="12213A"/>
                </a:solidFill>
                <a:latin typeface="Courier New" pitchFamily="34" charset="0"/>
                <a:ea typeface="Courier New" pitchFamily="34" charset="-122"/>
                <a:cs typeface="Courier New" pitchFamily="34" charset="-120"/>
              </a:rPr>
              <a:t>ash</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sh</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sha1sum</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sha256sum</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unshare</a:t>
            </a:r>
            <a:endParaRPr lang="en-US" sz="1500" dirty="0"/>
          </a:p>
        </p:txBody>
      </p:sp>
      <p:sp>
        <p:nvSpPr>
          <p:cNvPr id="23" name="Text 20"/>
          <p:cNvSpPr txBox="1"/>
          <p:nvPr/>
        </p:nvSpPr>
        <p:spPr>
          <a:xfrm>
            <a:off x="6547104" y="3840480"/>
            <a:ext cx="329184" cy="548640"/>
          </a:xfrm>
          <a:prstGeom prst="rect">
            <a:avLst/>
          </a:prstGeom>
          <a:noFill/>
          <a:ln/>
        </p:spPr>
        <p:txBody>
          <a:bodyPr wrap="square" lIns="0" tIns="0" rIns="0" bIns="0" rtlCol="0" anchor="ctr"/>
          <a:lstStyle/>
          <a:p>
            <a:pPr marL="0" indent="0" algn="ctr">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24" name="Shape 21"/>
          <p:cNvSpPr/>
          <p:nvPr/>
        </p:nvSpPr>
        <p:spPr>
          <a:xfrm>
            <a:off x="6876288" y="2606040"/>
            <a:ext cx="2514600" cy="3291840"/>
          </a:xfrm>
          <a:prstGeom prst="roundRect">
            <a:avLst>
              <a:gd name="adj" fmla="val 3636"/>
            </a:avLst>
          </a:prstGeom>
          <a:solidFill>
            <a:srgbClr val="F1F5FB"/>
          </a:solidFill>
          <a:ln/>
        </p:spPr>
        <p:txBody>
          <a:bodyPr/>
          <a:lstStyle/>
          <a:p>
            <a:endParaRPr lang="en-US"/>
          </a:p>
        </p:txBody>
      </p:sp>
      <p:sp>
        <p:nvSpPr>
          <p:cNvPr id="25" name="Shape 22"/>
          <p:cNvSpPr/>
          <p:nvPr/>
        </p:nvSpPr>
        <p:spPr>
          <a:xfrm>
            <a:off x="7059168" y="2788920"/>
            <a:ext cx="2148840" cy="457200"/>
          </a:xfrm>
          <a:prstGeom prst="roundRect">
            <a:avLst>
              <a:gd name="adj" fmla="val 16000"/>
            </a:avLst>
          </a:prstGeom>
          <a:solidFill>
            <a:srgbClr val="7448D4"/>
          </a:solidFill>
          <a:ln/>
        </p:spPr>
        <p:txBody>
          <a:bodyPr/>
          <a:lstStyle/>
          <a:p>
            <a:endParaRPr lang="en-US"/>
          </a:p>
        </p:txBody>
      </p:sp>
      <p:sp>
        <p:nvSpPr>
          <p:cNvPr id="26" name="Text 23"/>
          <p:cNvSpPr txBox="1"/>
          <p:nvPr/>
        </p:nvSpPr>
        <p:spPr>
          <a:xfrm>
            <a:off x="7059168" y="2788920"/>
            <a:ext cx="21488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wc -l</a:t>
            </a:r>
            <a:endParaRPr lang="en-US" sz="1500" dirty="0"/>
          </a:p>
        </p:txBody>
      </p:sp>
      <p:sp>
        <p:nvSpPr>
          <p:cNvPr id="27" name="Text 24"/>
          <p:cNvSpPr txBox="1"/>
          <p:nvPr/>
        </p:nvSpPr>
        <p:spPr>
          <a:xfrm>
            <a:off x="7059168" y="3337560"/>
            <a:ext cx="214884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count the lines</a:t>
            </a:r>
            <a:endParaRPr lang="en-US" sz="1300" dirty="0"/>
          </a:p>
        </p:txBody>
      </p:sp>
      <p:sp>
        <p:nvSpPr>
          <p:cNvPr id="28" name="Text 25"/>
          <p:cNvSpPr txBox="1"/>
          <p:nvPr/>
        </p:nvSpPr>
        <p:spPr>
          <a:xfrm>
            <a:off x="7059168" y="3794760"/>
            <a:ext cx="2148840" cy="2011680"/>
          </a:xfrm>
          <a:prstGeom prst="rect">
            <a:avLst/>
          </a:prstGeom>
          <a:noFill/>
          <a:ln/>
        </p:spPr>
        <p:txBody>
          <a:bodyPr wrap="square" lIns="0" tIns="0" rIns="0" bIns="0" rtlCol="0" anchor="t"/>
          <a:lstStyle/>
          <a:p>
            <a:pPr marL="0" indent="0">
              <a:buNone/>
            </a:pPr>
            <a:r>
              <a:rPr lang="en-US" sz="1500" b="1" dirty="0">
                <a:solidFill>
                  <a:srgbClr val="17875A"/>
                </a:solidFill>
                <a:latin typeface="Courier New" pitchFamily="34" charset="0"/>
                <a:ea typeface="Courier New" pitchFamily="34" charset="-122"/>
                <a:cs typeface="Courier New" pitchFamily="34" charset="-120"/>
              </a:rPr>
              <a:t>10</a:t>
            </a:r>
            <a:endParaRPr lang="en-US" sz="1500" dirty="0"/>
          </a:p>
        </p:txBody>
      </p:sp>
      <p:sp>
        <p:nvSpPr>
          <p:cNvPr id="29" name="Text 26"/>
          <p:cNvSpPr txBox="1"/>
          <p:nvPr/>
        </p:nvSpPr>
        <p:spPr>
          <a:xfrm>
            <a:off x="9390888" y="3840480"/>
            <a:ext cx="329184" cy="548640"/>
          </a:xfrm>
          <a:prstGeom prst="rect">
            <a:avLst/>
          </a:prstGeom>
          <a:noFill/>
          <a:ln/>
        </p:spPr>
        <p:txBody>
          <a:bodyPr wrap="square" lIns="0" tIns="0" rIns="0" bIns="0" rtlCol="0" anchor="ctr"/>
          <a:lstStyle/>
          <a:p>
            <a:pPr marL="0" indent="0" algn="ctr">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30" name="Shape 27"/>
          <p:cNvSpPr/>
          <p:nvPr/>
        </p:nvSpPr>
        <p:spPr>
          <a:xfrm>
            <a:off x="9720072" y="2606040"/>
            <a:ext cx="1920240" cy="3291840"/>
          </a:xfrm>
          <a:prstGeom prst="roundRect">
            <a:avLst>
              <a:gd name="adj" fmla="val 4762"/>
            </a:avLst>
          </a:prstGeom>
          <a:solidFill>
            <a:srgbClr val="F1F5FB"/>
          </a:solidFill>
          <a:ln/>
        </p:spPr>
        <p:txBody>
          <a:bodyPr/>
          <a:lstStyle/>
          <a:p>
            <a:endParaRPr lang="en-US"/>
          </a:p>
        </p:txBody>
      </p:sp>
      <p:sp>
        <p:nvSpPr>
          <p:cNvPr id="31" name="Shape 28"/>
          <p:cNvSpPr/>
          <p:nvPr/>
        </p:nvSpPr>
        <p:spPr>
          <a:xfrm>
            <a:off x="9902952" y="2788920"/>
            <a:ext cx="1554480" cy="457200"/>
          </a:xfrm>
          <a:prstGeom prst="roundRect">
            <a:avLst>
              <a:gd name="adj" fmla="val 16000"/>
            </a:avLst>
          </a:prstGeom>
          <a:solidFill>
            <a:srgbClr val="D1416B"/>
          </a:solidFill>
          <a:ln/>
        </p:spPr>
        <p:txBody>
          <a:bodyPr/>
          <a:lstStyle/>
          <a:p>
            <a:endParaRPr lang="en-US"/>
          </a:p>
        </p:txBody>
      </p:sp>
      <p:sp>
        <p:nvSpPr>
          <p:cNvPr id="32" name="Text 29"/>
          <p:cNvSpPr txBox="1"/>
          <p:nvPr/>
        </p:nvSpPr>
        <p:spPr>
          <a:xfrm>
            <a:off x="9902952" y="2788920"/>
            <a:ext cx="15544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answer</a:t>
            </a:r>
            <a:endParaRPr lang="en-US" sz="1500" dirty="0"/>
          </a:p>
        </p:txBody>
      </p:sp>
      <p:sp>
        <p:nvSpPr>
          <p:cNvPr id="33" name="Text 30"/>
          <p:cNvSpPr txBox="1"/>
          <p:nvPr/>
        </p:nvSpPr>
        <p:spPr>
          <a:xfrm>
            <a:off x="9902952" y="3337560"/>
            <a:ext cx="155448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one number</a:t>
            </a:r>
            <a:endParaRPr lang="en-US" sz="1300" dirty="0"/>
          </a:p>
        </p:txBody>
      </p:sp>
      <p:sp>
        <p:nvSpPr>
          <p:cNvPr id="34" name="Text 31"/>
          <p:cNvSpPr txBox="1"/>
          <p:nvPr/>
        </p:nvSpPr>
        <p:spPr>
          <a:xfrm>
            <a:off x="9902952" y="3794760"/>
            <a:ext cx="1554480" cy="2011680"/>
          </a:xfrm>
          <a:prstGeom prst="rect">
            <a:avLst/>
          </a:prstGeom>
          <a:noFill/>
          <a:ln/>
        </p:spPr>
        <p:txBody>
          <a:bodyPr wrap="square" lIns="0" tIns="0" rIns="0" bIns="0" rtlCol="0" anchor="t"/>
          <a:lstStyle/>
          <a:p>
            <a:pPr marL="0" indent="0">
              <a:buNone/>
            </a:pPr>
            <a:r>
              <a:rPr lang="en-US" sz="1500" b="1" dirty="0">
                <a:solidFill>
                  <a:srgbClr val="17875A"/>
                </a:solidFill>
                <a:latin typeface="Courier New" pitchFamily="34" charset="0"/>
                <a:ea typeface="Courier New" pitchFamily="34" charset="-122"/>
                <a:cs typeface="Courier New" pitchFamily="34" charset="-120"/>
              </a:rPr>
              <a:t>10 commands</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0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00"/>
                                        <p:tgtEl>
                                          <p:spTgt spid="2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0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400"/>
                                        <p:tgtEl>
                                          <p:spTgt spid="2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400"/>
                                        <p:tgtEl>
                                          <p:spTgt spid="2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400"/>
                                        <p:tgtEl>
                                          <p:spTgt spid="2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00"/>
                                        <p:tgtEl>
                                          <p:spTgt spid="3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00"/>
                                        <p:tgtEl>
                                          <p:spTgt spid="3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00"/>
                                        <p:tgtEl>
                                          <p:spTgt spid="3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Sort and count: sort, uniq, cut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cut -d: -f1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31</a:t>
            </a:r>
            <a:endParaRPr lang="en-US" sz="1000" dirty="0"/>
          </a:p>
        </p:txBody>
      </p:sp>
      <p:sp>
        <p:nvSpPr>
          <p:cNvPr id="10" name="Shape 7"/>
          <p:cNvSpPr/>
          <p:nvPr/>
        </p:nvSpPr>
        <p:spPr>
          <a:xfrm>
            <a:off x="548640" y="1645920"/>
            <a:ext cx="237744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sort file</a:t>
            </a:r>
            <a:endParaRPr lang="en-US" sz="1500" dirty="0"/>
          </a:p>
        </p:txBody>
      </p:sp>
      <p:sp>
        <p:nvSpPr>
          <p:cNvPr id="12" name="Text 9"/>
          <p:cNvSpPr txBox="1"/>
          <p:nvPr/>
        </p:nvSpPr>
        <p:spPr>
          <a:xfrm>
            <a:off x="3154680" y="164592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put lines in order</a:t>
            </a:r>
            <a:endParaRPr lang="en-US" sz="1700" dirty="0"/>
          </a:p>
        </p:txBody>
      </p:sp>
      <p:sp>
        <p:nvSpPr>
          <p:cNvPr id="13" name="Shape 10"/>
          <p:cNvSpPr/>
          <p:nvPr/>
        </p:nvSpPr>
        <p:spPr>
          <a:xfrm>
            <a:off x="548640" y="2423160"/>
            <a:ext cx="237744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uniq -c</a:t>
            </a:r>
            <a:endParaRPr lang="en-US" sz="1500" dirty="0"/>
          </a:p>
        </p:txBody>
      </p:sp>
      <p:sp>
        <p:nvSpPr>
          <p:cNvPr id="15" name="Text 12"/>
          <p:cNvSpPr txBox="1"/>
          <p:nvPr/>
        </p:nvSpPr>
        <p:spPr>
          <a:xfrm>
            <a:off x="3154680" y="24231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count neighbouring repeats</a:t>
            </a:r>
            <a:endParaRPr lang="en-US" sz="1700" dirty="0"/>
          </a:p>
        </p:txBody>
      </p:sp>
      <p:sp>
        <p:nvSpPr>
          <p:cNvPr id="16" name="Shape 13"/>
          <p:cNvSpPr/>
          <p:nvPr/>
        </p:nvSpPr>
        <p:spPr>
          <a:xfrm>
            <a:off x="548640" y="3200400"/>
            <a:ext cx="237744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uniq -u</a:t>
            </a:r>
            <a:endParaRPr lang="en-US" sz="1500" dirty="0"/>
          </a:p>
        </p:txBody>
      </p:sp>
      <p:sp>
        <p:nvSpPr>
          <p:cNvPr id="18" name="Text 15"/>
          <p:cNvSpPr txBox="1"/>
          <p:nvPr/>
        </p:nvSpPr>
        <p:spPr>
          <a:xfrm>
            <a:off x="3154680" y="320040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only lines with no twin</a:t>
            </a:r>
            <a:endParaRPr lang="en-US" sz="1700" dirty="0"/>
          </a:p>
        </p:txBody>
      </p:sp>
      <p:sp>
        <p:nvSpPr>
          <p:cNvPr id="19" name="Shape 16"/>
          <p:cNvSpPr/>
          <p:nvPr/>
        </p:nvSpPr>
        <p:spPr>
          <a:xfrm>
            <a:off x="548640" y="3977640"/>
            <a:ext cx="23774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cut -d: -f1</a:t>
            </a:r>
            <a:endParaRPr lang="en-US" sz="1500" dirty="0"/>
          </a:p>
        </p:txBody>
      </p:sp>
      <p:sp>
        <p:nvSpPr>
          <p:cNvPr id="21" name="Text 18"/>
          <p:cNvSpPr txBox="1"/>
          <p:nvPr/>
        </p:nvSpPr>
        <p:spPr>
          <a:xfrm>
            <a:off x="3154680" y="39776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keep field 1 (split at :)</a:t>
            </a:r>
            <a:endParaRPr lang="en-US" sz="1700" dirty="0"/>
          </a:p>
        </p:txBody>
      </p:sp>
      <p:sp>
        <p:nvSpPr>
          <p:cNvPr id="22" name="Shape 19"/>
          <p:cNvSpPr/>
          <p:nvPr/>
        </p:nvSpPr>
        <p:spPr>
          <a:xfrm>
            <a:off x="548640" y="4892040"/>
            <a:ext cx="5394960" cy="1005840"/>
          </a:xfrm>
          <a:prstGeom prst="roundRect">
            <a:avLst>
              <a:gd name="adj" fmla="val 9091"/>
            </a:avLst>
          </a:prstGeom>
          <a:solidFill>
            <a:srgbClr val="FFF4DC"/>
          </a:solidFill>
          <a:ln/>
        </p:spPr>
        <p:txBody>
          <a:bodyPr/>
          <a:lstStyle/>
          <a:p>
            <a:endParaRPr lang="en-US"/>
          </a:p>
        </p:txBody>
      </p:sp>
      <p:sp>
        <p:nvSpPr>
          <p:cNvPr id="23" name="Text 20"/>
          <p:cNvSpPr txBox="1"/>
          <p:nvPr/>
        </p:nvSpPr>
        <p:spPr>
          <a:xfrm>
            <a:off x="822960" y="4892040"/>
            <a:ext cx="4846320" cy="1005840"/>
          </a:xfrm>
          <a:prstGeom prst="rect">
            <a:avLst/>
          </a:prstGeom>
          <a:noFill/>
          <a:ln/>
        </p:spPr>
        <p:txBody>
          <a:bodyPr wrap="square" lIns="0" tIns="0" rIns="0" bIns="0" rtlCol="0" anchor="ctr"/>
          <a:lstStyle/>
          <a:p>
            <a:pPr marL="0" indent="0">
              <a:buNone/>
            </a:pPr>
            <a:r>
              <a:rPr lang="en-US" sz="1600" b="1" dirty="0">
                <a:solidFill>
                  <a:srgbClr val="12213A"/>
                </a:solidFill>
                <a:latin typeface="Calibri" pitchFamily="34" charset="0"/>
                <a:ea typeface="Calibri" pitchFamily="34" charset="-122"/>
                <a:cs typeface="Calibri" pitchFamily="34" charset="-120"/>
              </a:rPr>
              <a:t>Rule of thumb: </a:t>
            </a:r>
            <a:r>
              <a:rPr lang="en-US" sz="1600" dirty="0">
                <a:solidFill>
                  <a:srgbClr val="12213A"/>
                </a:solidFill>
                <a:latin typeface="Calibri" pitchFamily="34" charset="0"/>
                <a:ea typeface="Calibri" pitchFamily="34" charset="-122"/>
                <a:cs typeface="Calibri" pitchFamily="34" charset="-120"/>
              </a:rPr>
              <a:t>sort first, then uniq. uniq only compares lines that sit next to each other.</a:t>
            </a:r>
            <a:endParaRPr lang="en-US" sz="1600" dirty="0"/>
          </a:p>
        </p:txBody>
      </p:sp>
      <p:sp>
        <p:nvSpPr>
          <p:cNvPr id="24" name="Shape 21"/>
          <p:cNvSpPr/>
          <p:nvPr/>
        </p:nvSpPr>
        <p:spPr>
          <a:xfrm>
            <a:off x="6400800" y="1463040"/>
            <a:ext cx="5212080" cy="4480560"/>
          </a:xfrm>
          <a:prstGeom prst="roundRect">
            <a:avLst>
              <a:gd name="adj" fmla="val 204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601968" y="1618488"/>
            <a:ext cx="118872" cy="118872"/>
          </a:xfrm>
          <a:prstGeom prst="ellipse">
            <a:avLst/>
          </a:prstGeom>
          <a:solidFill>
            <a:srgbClr val="E5534B"/>
          </a:solidFill>
          <a:ln/>
        </p:spPr>
        <p:txBody>
          <a:bodyPr/>
          <a:lstStyle/>
          <a:p>
            <a:endParaRPr lang="en-US"/>
          </a:p>
        </p:txBody>
      </p:sp>
      <p:sp>
        <p:nvSpPr>
          <p:cNvPr id="26" name="Shape 23"/>
          <p:cNvSpPr/>
          <p:nvPr/>
        </p:nvSpPr>
        <p:spPr>
          <a:xfrm>
            <a:off x="6803136" y="1618488"/>
            <a:ext cx="118872" cy="118872"/>
          </a:xfrm>
          <a:prstGeom prst="ellipse">
            <a:avLst/>
          </a:prstGeom>
          <a:solidFill>
            <a:srgbClr val="F5A623"/>
          </a:solidFill>
          <a:ln/>
        </p:spPr>
        <p:txBody>
          <a:bodyPr/>
          <a:lstStyle/>
          <a:p>
            <a:endParaRPr lang="en-US"/>
          </a:p>
        </p:txBody>
      </p:sp>
      <p:sp>
        <p:nvSpPr>
          <p:cNvPr id="27" name="Shape 24"/>
          <p:cNvSpPr/>
          <p:nvPr/>
        </p:nvSpPr>
        <p:spPr>
          <a:xfrm>
            <a:off x="7004304" y="1618488"/>
            <a:ext cx="118872" cy="118872"/>
          </a:xfrm>
          <a:prstGeom prst="ellipse">
            <a:avLst/>
          </a:prstGeom>
          <a:solidFill>
            <a:srgbClr val="46D39A"/>
          </a:solidFill>
          <a:ln/>
        </p:spPr>
        <p:txBody>
          <a:bodyPr/>
          <a:lstStyle/>
          <a:p>
            <a:endParaRPr lang="en-US"/>
          </a:p>
        </p:txBody>
      </p:sp>
      <p:sp>
        <p:nvSpPr>
          <p:cNvPr id="28" name="Text 25"/>
          <p:cNvSpPr txBox="1"/>
          <p:nvPr/>
        </p:nvSpPr>
        <p:spPr>
          <a:xfrm>
            <a:off x="7315200" y="1536192"/>
            <a:ext cx="33832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sort and uniq</a:t>
            </a:r>
            <a:endParaRPr lang="en-US" sz="1000" dirty="0"/>
          </a:p>
        </p:txBody>
      </p:sp>
      <p:sp>
        <p:nvSpPr>
          <p:cNvPr id="29" name="Text 26"/>
          <p:cNvSpPr txBox="1"/>
          <p:nvPr/>
        </p:nvSpPr>
        <p:spPr>
          <a:xfrm>
            <a:off x="6675120" y="1920240"/>
            <a:ext cx="4663440" cy="3886200"/>
          </a:xfrm>
          <a:prstGeom prst="rect">
            <a:avLst/>
          </a:prstGeom>
          <a:noFill/>
          <a:ln/>
        </p:spPr>
        <p:txBody>
          <a:bodyPr wrap="square" lIns="0" tIns="0" rIns="0" bIns="0" rtlCol="0" anchor="t"/>
          <a:lstStyle/>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an example file</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snacks.txt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apple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pear</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apple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sort snacks.txt | uniq -c</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2 apple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3 chips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1 pear</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sort snacks.txt | uniq -u</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pear</a:t>
            </a:r>
            <a:endParaRPr lang="en-US" sz="14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32</a:t>
            </a:r>
            <a:endParaRPr lang="en-US" sz="1000" dirty="0"/>
          </a:p>
        </p:txBody>
      </p:sp>
      <p:sp>
        <p:nvSpPr>
          <p:cNvPr id="5" name="Shape 2"/>
          <p:cNvSpPr/>
          <p:nvPr/>
        </p:nvSpPr>
        <p:spPr>
          <a:xfrm>
            <a:off x="0" y="0"/>
            <a:ext cx="256032" cy="6858000"/>
          </a:xfrm>
          <a:prstGeom prst="rect">
            <a:avLst/>
          </a:prstGeom>
          <a:solidFill>
            <a:srgbClr val="E8820C"/>
          </a:solidFill>
          <a:ln/>
        </p:spPr>
        <p:txBody>
          <a:bodyPr/>
          <a:lstStyle/>
          <a:p>
            <a:endParaRPr lang="en-US"/>
          </a:p>
        </p:txBody>
      </p:sp>
      <p:sp>
        <p:nvSpPr>
          <p:cNvPr id="6" name="Shape 3"/>
          <p:cNvSpPr/>
          <p:nvPr/>
        </p:nvSpPr>
        <p:spPr>
          <a:xfrm>
            <a:off x="640080" y="685800"/>
            <a:ext cx="1188720" cy="1188720"/>
          </a:xfrm>
          <a:prstGeom prst="ellipse">
            <a:avLst/>
          </a:prstGeom>
          <a:solidFill>
            <a:srgbClr val="E8820C"/>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4</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4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Data and secrets</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dirty="0">
                <a:solidFill>
                  <a:srgbClr val="12213A"/>
                </a:solidFill>
                <a:latin typeface="Calibri" pitchFamily="34" charset="0"/>
                <a:ea typeface="Calibri" pitchFamily="34" charset="-122"/>
                <a:cs typeface="Calibri" pitchFamily="34" charset="-120"/>
              </a:rPr>
              <a:t>Some text only looks secret. Encoding changes how data looks; only encryption needs a key.</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E8820C"/>
                </a:solidFill>
                <a:latin typeface="Arial" pitchFamily="34" charset="0"/>
                <a:ea typeface="Arial" pitchFamily="34" charset="-122"/>
                <a:cs typeface="Arial" pitchFamily="34" charset="-120"/>
              </a:rPr>
              <a:t>Encode</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base64</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Rewrite any data as plain letters and digits.</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E8820C"/>
                </a:solidFill>
                <a:latin typeface="Arial" pitchFamily="34" charset="0"/>
                <a:ea typeface="Arial" pitchFamily="34" charset="-122"/>
                <a:cs typeface="Arial" pitchFamily="34" charset="-120"/>
              </a:rPr>
              <a:t>Decode</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base64 --help</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Anyone can undo it. No key needed.</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E8820C"/>
                </a:solidFill>
                <a:latin typeface="Arial" pitchFamily="34" charset="0"/>
                <a:ea typeface="Arial" pitchFamily="34" charset="-122"/>
                <a:cs typeface="Arial" pitchFamily="34" charset="-120"/>
              </a:rPr>
              <a:t>Encrypt</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 secret key</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The real way to keep something secret.</a:t>
            </a:r>
            <a:endParaRPr lang="en-US" sz="145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Encoding is not encryption</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echo hello | base64</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33</a:t>
            </a:r>
            <a:endParaRPr lang="en-US" sz="1000" dirty="0"/>
          </a:p>
        </p:txBody>
      </p:sp>
      <p:sp>
        <p:nvSpPr>
          <p:cNvPr id="10" name="Shape 7"/>
          <p:cNvSpPr/>
          <p:nvPr/>
        </p:nvSpPr>
        <p:spPr>
          <a:xfrm>
            <a:off x="548640" y="1554480"/>
            <a:ext cx="3291840" cy="2011680"/>
          </a:xfrm>
          <a:prstGeom prst="roundRect">
            <a:avLst>
              <a:gd name="adj" fmla="val 4545"/>
            </a:avLst>
          </a:prstGeom>
          <a:solidFill>
            <a:srgbClr val="F1F5FB"/>
          </a:solidFill>
          <a:ln/>
        </p:spPr>
        <p:txBody>
          <a:bodyPr/>
          <a:lstStyle/>
          <a:p>
            <a:endParaRPr lang="en-US"/>
          </a:p>
        </p:txBody>
      </p:sp>
      <p:sp>
        <p:nvSpPr>
          <p:cNvPr id="11" name="Text 8"/>
          <p:cNvSpPr txBox="1"/>
          <p:nvPr/>
        </p:nvSpPr>
        <p:spPr>
          <a:xfrm>
            <a:off x="822960" y="1737360"/>
            <a:ext cx="2743200" cy="411480"/>
          </a:xfrm>
          <a:prstGeom prst="rect">
            <a:avLst/>
          </a:prstGeom>
          <a:noFill/>
          <a:ln/>
        </p:spPr>
        <p:txBody>
          <a:bodyPr wrap="square" lIns="0" tIns="0" rIns="0" bIns="0" rtlCol="0" anchor="t"/>
          <a:lstStyle/>
          <a:p>
            <a:pPr marL="0" indent="0">
              <a:buNone/>
            </a:pPr>
            <a:r>
              <a:rPr lang="en-US" sz="2200" b="1" dirty="0">
                <a:solidFill>
                  <a:srgbClr val="2459D8"/>
                </a:solidFill>
                <a:latin typeface="Arial" pitchFamily="34" charset="0"/>
                <a:ea typeface="Arial" pitchFamily="34" charset="-122"/>
                <a:cs typeface="Arial" pitchFamily="34" charset="-120"/>
              </a:rPr>
              <a:t>Encoding</a:t>
            </a:r>
            <a:endParaRPr lang="en-US" sz="2200" dirty="0"/>
          </a:p>
        </p:txBody>
      </p:sp>
      <p:sp>
        <p:nvSpPr>
          <p:cNvPr id="12" name="Text 9"/>
          <p:cNvSpPr txBox="1"/>
          <p:nvPr/>
        </p:nvSpPr>
        <p:spPr>
          <a:xfrm>
            <a:off x="822960" y="2240280"/>
            <a:ext cx="274320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A different way to write the same data. No secret. Anyone can undo it.</a:t>
            </a:r>
            <a:endParaRPr lang="en-US" sz="1600" dirty="0"/>
          </a:p>
        </p:txBody>
      </p:sp>
      <p:sp>
        <p:nvSpPr>
          <p:cNvPr id="13" name="Shape 10"/>
          <p:cNvSpPr/>
          <p:nvPr/>
        </p:nvSpPr>
        <p:spPr>
          <a:xfrm>
            <a:off x="548640" y="3794760"/>
            <a:ext cx="3291840" cy="2103120"/>
          </a:xfrm>
          <a:prstGeom prst="roundRect">
            <a:avLst>
              <a:gd name="adj" fmla="val 4348"/>
            </a:avLst>
          </a:prstGeom>
          <a:solidFill>
            <a:srgbClr val="F1F5FB"/>
          </a:solidFill>
          <a:ln/>
        </p:spPr>
        <p:txBody>
          <a:bodyPr/>
          <a:lstStyle/>
          <a:p>
            <a:endParaRPr lang="en-US"/>
          </a:p>
        </p:txBody>
      </p:sp>
      <p:sp>
        <p:nvSpPr>
          <p:cNvPr id="14" name="Text 11"/>
          <p:cNvSpPr txBox="1"/>
          <p:nvPr/>
        </p:nvSpPr>
        <p:spPr>
          <a:xfrm>
            <a:off x="822960" y="3977640"/>
            <a:ext cx="2743200" cy="411480"/>
          </a:xfrm>
          <a:prstGeom prst="rect">
            <a:avLst/>
          </a:prstGeom>
          <a:noFill/>
          <a:ln/>
        </p:spPr>
        <p:txBody>
          <a:bodyPr wrap="square" lIns="0" tIns="0" rIns="0" bIns="0" rtlCol="0" anchor="t"/>
          <a:lstStyle/>
          <a:p>
            <a:pPr marL="0" indent="0">
              <a:buNone/>
            </a:pPr>
            <a:r>
              <a:rPr lang="en-US" sz="2200" b="1" dirty="0">
                <a:solidFill>
                  <a:srgbClr val="D1416B"/>
                </a:solidFill>
                <a:latin typeface="Arial" pitchFamily="34" charset="0"/>
                <a:ea typeface="Arial" pitchFamily="34" charset="-122"/>
                <a:cs typeface="Arial" pitchFamily="34" charset="-120"/>
              </a:rPr>
              <a:t>Encryption</a:t>
            </a:r>
            <a:endParaRPr lang="en-US" sz="2200" dirty="0"/>
          </a:p>
        </p:txBody>
      </p:sp>
      <p:sp>
        <p:nvSpPr>
          <p:cNvPr id="15" name="Text 12"/>
          <p:cNvSpPr txBox="1"/>
          <p:nvPr/>
        </p:nvSpPr>
        <p:spPr>
          <a:xfrm>
            <a:off x="822960" y="4480560"/>
            <a:ext cx="274320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Scrambled with a secret key. Without the key, you cannot read it.</a:t>
            </a:r>
            <a:endParaRPr lang="en-US" sz="1600" dirty="0"/>
          </a:p>
        </p:txBody>
      </p:sp>
      <p:sp>
        <p:nvSpPr>
          <p:cNvPr id="16" name="Shape 13"/>
          <p:cNvSpPr/>
          <p:nvPr/>
        </p:nvSpPr>
        <p:spPr>
          <a:xfrm>
            <a:off x="4206240" y="1463040"/>
            <a:ext cx="740664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7" name="Shape 14"/>
          <p:cNvSpPr/>
          <p:nvPr/>
        </p:nvSpPr>
        <p:spPr>
          <a:xfrm>
            <a:off x="4407408" y="1618488"/>
            <a:ext cx="118872" cy="118872"/>
          </a:xfrm>
          <a:prstGeom prst="ellipse">
            <a:avLst/>
          </a:prstGeom>
          <a:solidFill>
            <a:srgbClr val="E5534B"/>
          </a:solidFill>
          <a:ln/>
        </p:spPr>
        <p:txBody>
          <a:bodyPr/>
          <a:lstStyle/>
          <a:p>
            <a:endParaRPr lang="en-US"/>
          </a:p>
        </p:txBody>
      </p:sp>
      <p:sp>
        <p:nvSpPr>
          <p:cNvPr id="18" name="Shape 15"/>
          <p:cNvSpPr/>
          <p:nvPr/>
        </p:nvSpPr>
        <p:spPr>
          <a:xfrm>
            <a:off x="4608576" y="1618488"/>
            <a:ext cx="118872" cy="118872"/>
          </a:xfrm>
          <a:prstGeom prst="ellipse">
            <a:avLst/>
          </a:prstGeom>
          <a:solidFill>
            <a:srgbClr val="F5A623"/>
          </a:solidFill>
          <a:ln/>
        </p:spPr>
        <p:txBody>
          <a:bodyPr/>
          <a:lstStyle/>
          <a:p>
            <a:endParaRPr lang="en-US"/>
          </a:p>
        </p:txBody>
      </p:sp>
      <p:sp>
        <p:nvSpPr>
          <p:cNvPr id="19" name="Shape 16"/>
          <p:cNvSpPr/>
          <p:nvPr/>
        </p:nvSpPr>
        <p:spPr>
          <a:xfrm>
            <a:off x="4809744" y="1618488"/>
            <a:ext cx="118872" cy="118872"/>
          </a:xfrm>
          <a:prstGeom prst="ellipse">
            <a:avLst/>
          </a:prstGeom>
          <a:solidFill>
            <a:srgbClr val="46D39A"/>
          </a:solidFill>
          <a:ln/>
        </p:spPr>
        <p:txBody>
          <a:bodyPr/>
          <a:lstStyle/>
          <a:p>
            <a:endParaRPr lang="en-US"/>
          </a:p>
        </p:txBody>
      </p:sp>
      <p:sp>
        <p:nvSpPr>
          <p:cNvPr id="20" name="Text 17"/>
          <p:cNvSpPr txBox="1"/>
          <p:nvPr/>
        </p:nvSpPr>
        <p:spPr>
          <a:xfrm>
            <a:off x="4480560" y="1920240"/>
            <a:ext cx="6858000" cy="3840480"/>
          </a:xfrm>
          <a:prstGeom prst="rect">
            <a:avLst/>
          </a:prstGeom>
          <a:noFill/>
          <a:ln/>
        </p:spPr>
        <p:txBody>
          <a:bodyPr wrap="square" lIns="0" tIns="0" rIns="0" bIns="0" rtlCol="0" anchor="t"/>
          <a:lstStyle/>
          <a:p>
            <a:pPr marL="0" indent="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echo hello | base64</a:t>
            </a:r>
            <a:endParaRPr lang="en-US" sz="1800" dirty="0"/>
          </a:p>
          <a:p>
            <a:pPr marL="0" indent="0">
              <a:spcAft>
                <a:spcPts val="200"/>
              </a:spcAft>
              <a:buNone/>
            </a:pPr>
            <a:r>
              <a:rPr lang="en-US" sz="1800" dirty="0">
                <a:solidFill>
                  <a:srgbClr val="B8C4D9"/>
                </a:solidFill>
                <a:latin typeface="Courier New" pitchFamily="34" charset="0"/>
                <a:ea typeface="Courier New" pitchFamily="34" charset="-122"/>
                <a:cs typeface="Courier New" pitchFamily="34" charset="-120"/>
              </a:rPr>
              <a:t>aGVsbG8K</a:t>
            </a:r>
            <a:endParaRPr lang="en-US" sz="1800" dirty="0"/>
          </a:p>
          <a:p>
            <a:pPr marL="0" indent="0">
              <a:spcAft>
                <a:spcPts val="200"/>
              </a:spcAft>
              <a:buNone/>
            </a:pPr>
            <a:r>
              <a:rPr lang="en-US" sz="1800" dirty="0">
                <a:solidFill>
                  <a:srgbClr val="B8C4D9"/>
                </a:solidFill>
                <a:latin typeface="Courier New" pitchFamily="34" charset="0"/>
                <a:ea typeface="Courier New" pitchFamily="34" charset="-122"/>
                <a:cs typeface="Courier New" pitchFamily="34" charset="-120"/>
              </a:rPr>
              <a:t> </a:t>
            </a:r>
            <a:endParaRPr lang="en-US" sz="1800" dirty="0"/>
          </a:p>
          <a:p>
            <a:pPr marL="0" indent="0">
              <a:spcAft>
                <a:spcPts val="200"/>
              </a:spcAft>
              <a:buNone/>
            </a:pPr>
            <a:r>
              <a:rPr lang="en-US" sz="1800" dirty="0">
                <a:solidFill>
                  <a:srgbClr val="7F8FAD"/>
                </a:solidFill>
                <a:latin typeface="Courier New" pitchFamily="34" charset="0"/>
                <a:ea typeface="Courier New" pitchFamily="34" charset="-122"/>
                <a:cs typeface="Courier New" pitchFamily="34" charset="-120"/>
              </a:rPr>
              <a:t># and back again? which option decodes?</a:t>
            </a:r>
            <a:endParaRPr lang="en-US" sz="1800" dirty="0"/>
          </a:p>
          <a:p>
            <a:pPr marL="0" indent="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base64 --help</a:t>
            </a:r>
            <a:r>
              <a:rPr lang="en-US" sz="1800" dirty="0">
                <a:solidFill>
                  <a:srgbClr val="7F8FAD"/>
                </a:solidFill>
                <a:latin typeface="Courier New" pitchFamily="34" charset="0"/>
                <a:ea typeface="Courier New" pitchFamily="34" charset="-122"/>
                <a:cs typeface="Courier New" pitchFamily="34" charset="-120"/>
              </a:rPr>
              <a:t>   # you know what to do</a:t>
            </a:r>
            <a:endParaRPr lang="en-US" sz="1800" dirty="0"/>
          </a:p>
          <a:p>
            <a:pPr marL="0" indent="0">
              <a:spcAft>
                <a:spcPts val="200"/>
              </a:spcAft>
              <a:buNone/>
            </a:pPr>
            <a:r>
              <a:rPr lang="en-US" sz="1800" dirty="0">
                <a:solidFill>
                  <a:srgbClr val="B8C4D9"/>
                </a:solidFill>
                <a:latin typeface="Courier New" pitchFamily="34" charset="0"/>
                <a:ea typeface="Courier New" pitchFamily="34" charset="-122"/>
                <a:cs typeface="Courier New" pitchFamily="34" charset="-120"/>
              </a:rPr>
              <a:t> </a:t>
            </a:r>
            <a:endParaRPr lang="en-US" sz="1800" dirty="0"/>
          </a:p>
          <a:p>
            <a:pPr marL="0" indent="0">
              <a:spcAft>
                <a:spcPts val="200"/>
              </a:spcAft>
              <a:buNone/>
            </a:pPr>
            <a:r>
              <a:rPr lang="en-US" sz="1800" dirty="0">
                <a:solidFill>
                  <a:srgbClr val="7F8FAD"/>
                </a:solidFill>
                <a:latin typeface="Courier New" pitchFamily="34" charset="0"/>
                <a:ea typeface="Courier New" pitchFamily="34" charset="-122"/>
                <a:cs typeface="Courier New" pitchFamily="34" charset="-120"/>
              </a:rPr>
              <a:t># that's Mission 8.</a:t>
            </a:r>
            <a:endParaRPr lang="en-US" sz="18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When you are stuck</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hint 1</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34</a:t>
            </a:r>
            <a:endParaRPr lang="en-US" sz="1000" dirty="0"/>
          </a:p>
        </p:txBody>
      </p:sp>
      <p:sp>
        <p:nvSpPr>
          <p:cNvPr id="10" name="Shape 7"/>
          <p:cNvSpPr/>
          <p:nvPr/>
        </p:nvSpPr>
        <p:spPr>
          <a:xfrm>
            <a:off x="548640" y="1554480"/>
            <a:ext cx="3566160" cy="2011680"/>
          </a:xfrm>
          <a:prstGeom prst="roundRect">
            <a:avLst>
              <a:gd name="adj" fmla="val 4545"/>
            </a:avLst>
          </a:prstGeom>
          <a:solidFill>
            <a:srgbClr val="F1F5FB"/>
          </a:solidFill>
          <a:ln/>
        </p:spPr>
        <p:txBody>
          <a:bodyPr/>
          <a:lstStyle/>
          <a:p>
            <a:endParaRPr lang="en-US"/>
          </a:p>
        </p:txBody>
      </p:sp>
      <p:sp>
        <p:nvSpPr>
          <p:cNvPr id="11" name="Shape 8"/>
          <p:cNvSpPr/>
          <p:nvPr/>
        </p:nvSpPr>
        <p:spPr>
          <a:xfrm>
            <a:off x="822960" y="1828800"/>
            <a:ext cx="640080" cy="640080"/>
          </a:xfrm>
          <a:prstGeom prst="ellipse">
            <a:avLst/>
          </a:prstGeom>
          <a:solidFill>
            <a:srgbClr val="F5A623"/>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982980" y="1988820"/>
            <a:ext cx="320040" cy="320040"/>
          </a:xfrm>
          <a:prstGeom prst="rect">
            <a:avLst/>
          </a:prstGeom>
        </p:spPr>
      </p:pic>
      <p:sp>
        <p:nvSpPr>
          <p:cNvPr id="13" name="Text 9"/>
          <p:cNvSpPr txBox="1"/>
          <p:nvPr/>
        </p:nvSpPr>
        <p:spPr>
          <a:xfrm>
            <a:off x="1645920" y="182880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hint 1</a:t>
            </a:r>
            <a:endParaRPr lang="en-US" sz="2000" dirty="0"/>
          </a:p>
        </p:txBody>
      </p:sp>
      <p:sp>
        <p:nvSpPr>
          <p:cNvPr id="14" name="Text 10"/>
          <p:cNvSpPr txBox="1"/>
          <p:nvPr/>
        </p:nvSpPr>
        <p:spPr>
          <a:xfrm>
            <a:off x="822960" y="265176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hint N shows the price; hint N --show buys it. 5% of the mission each.</a:t>
            </a:r>
            <a:endParaRPr lang="en-US" sz="1600" dirty="0"/>
          </a:p>
        </p:txBody>
      </p:sp>
      <p:sp>
        <p:nvSpPr>
          <p:cNvPr id="15" name="Shape 11"/>
          <p:cNvSpPr/>
          <p:nvPr/>
        </p:nvSpPr>
        <p:spPr>
          <a:xfrm>
            <a:off x="4306824" y="1554480"/>
            <a:ext cx="3566160" cy="2011680"/>
          </a:xfrm>
          <a:prstGeom prst="roundRect">
            <a:avLst>
              <a:gd name="adj" fmla="val 4545"/>
            </a:avLst>
          </a:prstGeom>
          <a:solidFill>
            <a:srgbClr val="F1F5FB"/>
          </a:solidFill>
          <a:ln/>
        </p:spPr>
        <p:txBody>
          <a:bodyPr/>
          <a:lstStyle/>
          <a:p>
            <a:endParaRPr lang="en-US"/>
          </a:p>
        </p:txBody>
      </p:sp>
      <p:sp>
        <p:nvSpPr>
          <p:cNvPr id="16" name="Shape 12"/>
          <p:cNvSpPr/>
          <p:nvPr/>
        </p:nvSpPr>
        <p:spPr>
          <a:xfrm>
            <a:off x="4581144" y="1828800"/>
            <a:ext cx="640080" cy="640080"/>
          </a:xfrm>
          <a:prstGeom prst="ellipse">
            <a:avLst/>
          </a:prstGeom>
          <a:solidFill>
            <a:srgbClr val="2459D8"/>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4741164" y="1988820"/>
            <a:ext cx="320040" cy="320040"/>
          </a:xfrm>
          <a:prstGeom prst="rect">
            <a:avLst/>
          </a:prstGeom>
        </p:spPr>
      </p:pic>
      <p:sp>
        <p:nvSpPr>
          <p:cNvPr id="18" name="Text 13"/>
          <p:cNvSpPr txBox="1"/>
          <p:nvPr/>
        </p:nvSpPr>
        <p:spPr>
          <a:xfrm>
            <a:off x="5404104" y="182880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--help</a:t>
            </a:r>
            <a:endParaRPr lang="en-US" sz="2000" dirty="0"/>
          </a:p>
        </p:txBody>
      </p:sp>
      <p:sp>
        <p:nvSpPr>
          <p:cNvPr id="19" name="Text 14"/>
          <p:cNvSpPr txBox="1"/>
          <p:nvPr/>
        </p:nvSpPr>
        <p:spPr>
          <a:xfrm>
            <a:off x="4581144" y="265176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Any command explains itself. Read the option list.</a:t>
            </a:r>
            <a:endParaRPr lang="en-US" sz="1600" dirty="0"/>
          </a:p>
        </p:txBody>
      </p:sp>
      <p:sp>
        <p:nvSpPr>
          <p:cNvPr id="20" name="Shape 15"/>
          <p:cNvSpPr/>
          <p:nvPr/>
        </p:nvSpPr>
        <p:spPr>
          <a:xfrm>
            <a:off x="8065008" y="1554480"/>
            <a:ext cx="3566160" cy="2011680"/>
          </a:xfrm>
          <a:prstGeom prst="roundRect">
            <a:avLst>
              <a:gd name="adj" fmla="val 4545"/>
            </a:avLst>
          </a:prstGeom>
          <a:solidFill>
            <a:srgbClr val="F1F5FB"/>
          </a:solidFill>
          <a:ln/>
        </p:spPr>
        <p:txBody>
          <a:bodyPr/>
          <a:lstStyle/>
          <a:p>
            <a:endParaRPr lang="en-US"/>
          </a:p>
        </p:txBody>
      </p:sp>
      <p:sp>
        <p:nvSpPr>
          <p:cNvPr id="21" name="Shape 16"/>
          <p:cNvSpPr/>
          <p:nvPr/>
        </p:nvSpPr>
        <p:spPr>
          <a:xfrm>
            <a:off x="8339328" y="1828800"/>
            <a:ext cx="640080" cy="640080"/>
          </a:xfrm>
          <a:prstGeom prst="ellipse">
            <a:avLst/>
          </a:prstGeom>
          <a:solidFill>
            <a:srgbClr val="2A9FD6"/>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8499348" y="1988820"/>
            <a:ext cx="320040" cy="320040"/>
          </a:xfrm>
          <a:prstGeom prst="rect">
            <a:avLst/>
          </a:prstGeom>
        </p:spPr>
      </p:pic>
      <p:sp>
        <p:nvSpPr>
          <p:cNvPr id="23" name="Text 17"/>
          <p:cNvSpPr txBox="1"/>
          <p:nvPr/>
        </p:nvSpPr>
        <p:spPr>
          <a:xfrm>
            <a:off x="9162288" y="182880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Tab</a:t>
            </a:r>
            <a:endParaRPr lang="en-US" sz="2000" dirty="0"/>
          </a:p>
        </p:txBody>
      </p:sp>
      <p:sp>
        <p:nvSpPr>
          <p:cNvPr id="24" name="Text 18"/>
          <p:cNvSpPr txBox="1"/>
          <p:nvPr/>
        </p:nvSpPr>
        <p:spPr>
          <a:xfrm>
            <a:off x="8339328" y="265176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Finishes file names for you</a:t>
            </a:r>
            <a:endParaRPr lang="en-US" sz="1600" dirty="0"/>
          </a:p>
        </p:txBody>
      </p:sp>
      <p:sp>
        <p:nvSpPr>
          <p:cNvPr id="25" name="Shape 19"/>
          <p:cNvSpPr/>
          <p:nvPr/>
        </p:nvSpPr>
        <p:spPr>
          <a:xfrm>
            <a:off x="548640" y="3794760"/>
            <a:ext cx="3566160" cy="2011680"/>
          </a:xfrm>
          <a:prstGeom prst="roundRect">
            <a:avLst>
              <a:gd name="adj" fmla="val 4545"/>
            </a:avLst>
          </a:prstGeom>
          <a:solidFill>
            <a:srgbClr val="F1F5FB"/>
          </a:solidFill>
          <a:ln/>
        </p:spPr>
        <p:txBody>
          <a:bodyPr/>
          <a:lstStyle/>
          <a:p>
            <a:endParaRPr lang="en-US"/>
          </a:p>
        </p:txBody>
      </p:sp>
      <p:sp>
        <p:nvSpPr>
          <p:cNvPr id="26" name="Shape 20"/>
          <p:cNvSpPr/>
          <p:nvPr/>
        </p:nvSpPr>
        <p:spPr>
          <a:xfrm>
            <a:off x="822960" y="4069080"/>
            <a:ext cx="640080" cy="640080"/>
          </a:xfrm>
          <a:prstGeom prst="ellipse">
            <a:avLst/>
          </a:prstGeom>
          <a:solidFill>
            <a:srgbClr val="7448D4"/>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982980" y="4229100"/>
            <a:ext cx="320040" cy="320040"/>
          </a:xfrm>
          <a:prstGeom prst="rect">
            <a:avLst/>
          </a:prstGeom>
        </p:spPr>
      </p:pic>
      <p:sp>
        <p:nvSpPr>
          <p:cNvPr id="28" name="Text 21"/>
          <p:cNvSpPr txBox="1"/>
          <p:nvPr/>
        </p:nvSpPr>
        <p:spPr>
          <a:xfrm>
            <a:off x="1645920" y="406908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Up arrow</a:t>
            </a:r>
            <a:endParaRPr lang="en-US" sz="2000" dirty="0"/>
          </a:p>
        </p:txBody>
      </p:sp>
      <p:sp>
        <p:nvSpPr>
          <p:cNvPr id="29" name="Text 22"/>
          <p:cNvSpPr txBox="1"/>
          <p:nvPr/>
        </p:nvSpPr>
        <p:spPr>
          <a:xfrm>
            <a:off x="822960" y="489204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Brings back your last command</a:t>
            </a:r>
            <a:endParaRPr lang="en-US" sz="1600" dirty="0"/>
          </a:p>
        </p:txBody>
      </p:sp>
      <p:sp>
        <p:nvSpPr>
          <p:cNvPr id="30" name="Shape 23"/>
          <p:cNvSpPr/>
          <p:nvPr/>
        </p:nvSpPr>
        <p:spPr>
          <a:xfrm>
            <a:off x="4306824" y="3794760"/>
            <a:ext cx="3566160" cy="2011680"/>
          </a:xfrm>
          <a:prstGeom prst="roundRect">
            <a:avLst>
              <a:gd name="adj" fmla="val 4545"/>
            </a:avLst>
          </a:prstGeom>
          <a:solidFill>
            <a:srgbClr val="F1F5FB"/>
          </a:solidFill>
          <a:ln/>
        </p:spPr>
        <p:txBody>
          <a:bodyPr/>
          <a:lstStyle/>
          <a:p>
            <a:endParaRPr lang="en-US"/>
          </a:p>
        </p:txBody>
      </p:sp>
      <p:sp>
        <p:nvSpPr>
          <p:cNvPr id="31" name="Shape 24"/>
          <p:cNvSpPr/>
          <p:nvPr/>
        </p:nvSpPr>
        <p:spPr>
          <a:xfrm>
            <a:off x="4581144" y="4069080"/>
            <a:ext cx="640080" cy="640080"/>
          </a:xfrm>
          <a:prstGeom prst="ellipse">
            <a:avLst/>
          </a:prstGeom>
          <a:solidFill>
            <a:srgbClr val="D1416B"/>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4741164" y="4229100"/>
            <a:ext cx="320040" cy="320040"/>
          </a:xfrm>
          <a:prstGeom prst="rect">
            <a:avLst/>
          </a:prstGeom>
        </p:spPr>
      </p:pic>
      <p:sp>
        <p:nvSpPr>
          <p:cNvPr id="33" name="Text 25"/>
          <p:cNvSpPr txBox="1"/>
          <p:nvPr/>
        </p:nvSpPr>
        <p:spPr>
          <a:xfrm>
            <a:off x="5404104" y="406908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Ctrl+C</a:t>
            </a:r>
            <a:endParaRPr lang="en-US" sz="2000" dirty="0"/>
          </a:p>
        </p:txBody>
      </p:sp>
      <p:sp>
        <p:nvSpPr>
          <p:cNvPr id="34" name="Text 26"/>
          <p:cNvSpPr txBox="1"/>
          <p:nvPr/>
        </p:nvSpPr>
        <p:spPr>
          <a:xfrm>
            <a:off x="4581144" y="489204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Stops whatever is running</a:t>
            </a:r>
            <a:endParaRPr lang="en-US" sz="1600" dirty="0"/>
          </a:p>
        </p:txBody>
      </p:sp>
      <p:sp>
        <p:nvSpPr>
          <p:cNvPr id="35" name="Shape 27"/>
          <p:cNvSpPr/>
          <p:nvPr/>
        </p:nvSpPr>
        <p:spPr>
          <a:xfrm>
            <a:off x="8065008" y="3794760"/>
            <a:ext cx="3566160" cy="2011680"/>
          </a:xfrm>
          <a:prstGeom prst="roundRect">
            <a:avLst>
              <a:gd name="adj" fmla="val 4545"/>
            </a:avLst>
          </a:prstGeom>
          <a:solidFill>
            <a:srgbClr val="F1F5FB"/>
          </a:solidFill>
          <a:ln/>
        </p:spPr>
        <p:txBody>
          <a:bodyPr/>
          <a:lstStyle/>
          <a:p>
            <a:endParaRPr lang="en-US"/>
          </a:p>
        </p:txBody>
      </p:sp>
      <p:sp>
        <p:nvSpPr>
          <p:cNvPr id="36" name="Shape 28"/>
          <p:cNvSpPr/>
          <p:nvPr/>
        </p:nvSpPr>
        <p:spPr>
          <a:xfrm>
            <a:off x="8339328" y="4069080"/>
            <a:ext cx="640080" cy="640080"/>
          </a:xfrm>
          <a:prstGeom prst="ellipse">
            <a:avLst/>
          </a:prstGeom>
          <a:solidFill>
            <a:srgbClr val="17875A"/>
          </a:solidFill>
          <a:ln/>
        </p:spPr>
        <p:txBody>
          <a:bodyPr/>
          <a:lstStyle/>
          <a:p>
            <a:endParaRPr lang="en-US"/>
          </a:p>
        </p:txBody>
      </p:sp>
      <p:pic>
        <p:nvPicPr>
          <p:cNvPr id="37" name="Image 5" descr="preencoded.png"/>
          <p:cNvPicPr>
            <a:picLocks noChangeAspect="1"/>
          </p:cNvPicPr>
          <p:nvPr/>
        </p:nvPicPr>
        <p:blipFill>
          <a:blip r:embed="rId8"/>
          <a:stretch>
            <a:fillRect/>
          </a:stretch>
        </p:blipFill>
        <p:spPr>
          <a:xfrm>
            <a:off x="8499348" y="4229100"/>
            <a:ext cx="320040" cy="320040"/>
          </a:xfrm>
          <a:prstGeom prst="rect">
            <a:avLst/>
          </a:prstGeom>
        </p:spPr>
      </p:pic>
      <p:sp>
        <p:nvSpPr>
          <p:cNvPr id="38" name="Text 29"/>
          <p:cNvSpPr txBox="1"/>
          <p:nvPr/>
        </p:nvSpPr>
        <p:spPr>
          <a:xfrm>
            <a:off x="9162288" y="406908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Arial" pitchFamily="34" charset="0"/>
                <a:ea typeface="Arial" pitchFamily="34" charset="-122"/>
                <a:cs typeface="Arial" pitchFamily="34" charset="-120"/>
              </a:rPr>
              <a:t>Read the error</a:t>
            </a:r>
            <a:endParaRPr lang="en-US" sz="2000" dirty="0"/>
          </a:p>
        </p:txBody>
      </p:sp>
      <p:sp>
        <p:nvSpPr>
          <p:cNvPr id="39" name="Text 30"/>
          <p:cNvSpPr txBox="1"/>
          <p:nvPr/>
        </p:nvSpPr>
        <p:spPr>
          <a:xfrm>
            <a:off x="8339328" y="489204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Permission denied is a clue, not a failure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15"/>
                                        </p:tgtEl>
                                        <p:attrNameLst>
                                          <p:attrName>style.opacity</p:attrName>
                                        </p:attrNameLst>
                                      </p:cBhvr>
                                      <p:to>
                                        <p:strVal val="0.25"/>
                                      </p:to>
                                    </p:set>
                                    <p:animEffect filter="image" prLst="opacity: 0.25">
                                      <p:cBhvr rctx="IE">
                                        <p:cTn id="7" dur="1" fill="hold"/>
                                        <p:tgtEl>
                                          <p:spTgt spid="15"/>
                                        </p:tgtEl>
                                      </p:cBhvr>
                                    </p:animEffect>
                                  </p:childTnLst>
                                </p:cTn>
                              </p:par>
                              <p:par>
                                <p:cTn id="8" presetID="9" presetClass="emph" presetSubtype="0" fill="hold" grpId="0" nodeType="withEffect">
                                  <p:stCondLst>
                                    <p:cond delay="0"/>
                                  </p:stCondLst>
                                  <p:childTnLst>
                                    <p:set>
                                      <p:cBhvr>
                                        <p:cTn id="9" dur="1" fill="hold"/>
                                        <p:tgtEl>
                                          <p:spTgt spid="16"/>
                                        </p:tgtEl>
                                        <p:attrNameLst>
                                          <p:attrName>style.opacity</p:attrName>
                                        </p:attrNameLst>
                                      </p:cBhvr>
                                      <p:to>
                                        <p:strVal val="0.25"/>
                                      </p:to>
                                    </p:set>
                                    <p:animEffect filter="image" prLst="opacity: 0.25">
                                      <p:cBhvr rctx="IE">
                                        <p:cTn id="10" dur="1" fill="hold"/>
                                        <p:tgtEl>
                                          <p:spTgt spid="16"/>
                                        </p:tgtEl>
                                      </p:cBhvr>
                                    </p:animEffect>
                                  </p:childTnLst>
                                </p:cTn>
                              </p:par>
                              <p:par>
                                <p:cTn id="11" presetID="9" presetClass="emph" presetSubtype="0" fill="hold" nodeType="withEffect">
                                  <p:stCondLst>
                                    <p:cond delay="0"/>
                                  </p:stCondLst>
                                  <p:childTnLst>
                                    <p:set>
                                      <p:cBhvr>
                                        <p:cTn id="12" dur="1" fill="hold"/>
                                        <p:tgtEl>
                                          <p:spTgt spid="17"/>
                                        </p:tgtEl>
                                        <p:attrNameLst>
                                          <p:attrName>style.opacity</p:attrName>
                                        </p:attrNameLst>
                                      </p:cBhvr>
                                      <p:to>
                                        <p:strVal val="0.25"/>
                                      </p:to>
                                    </p:set>
                                    <p:animEffect filter="image" prLst="opacity: 0.25">
                                      <p:cBhvr rctx="IE">
                                        <p:cTn id="13" dur="1" fill="hold"/>
                                        <p:tgtEl>
                                          <p:spTgt spid="17"/>
                                        </p:tgtEl>
                                      </p:cBhvr>
                                    </p:animEffect>
                                  </p:childTnLst>
                                </p:cTn>
                              </p:par>
                              <p:par>
                                <p:cTn id="14" presetID="9" presetClass="emph" presetSubtype="0" fill="hold" grpId="0" nodeType="withEffect">
                                  <p:stCondLst>
                                    <p:cond delay="0"/>
                                  </p:stCondLst>
                                  <p:childTnLst>
                                    <p:set>
                                      <p:cBhvr>
                                        <p:cTn id="15" dur="1" fill="hold"/>
                                        <p:tgtEl>
                                          <p:spTgt spid="18"/>
                                        </p:tgtEl>
                                        <p:attrNameLst>
                                          <p:attrName>style.opacity</p:attrName>
                                        </p:attrNameLst>
                                      </p:cBhvr>
                                      <p:to>
                                        <p:strVal val="0.25"/>
                                      </p:to>
                                    </p:set>
                                    <p:animEffect filter="image" prLst="opacity: 0.25">
                                      <p:cBhvr rctx="IE">
                                        <p:cTn id="16" dur="1" fill="hold"/>
                                        <p:tgtEl>
                                          <p:spTgt spid="18"/>
                                        </p:tgtEl>
                                      </p:cBhvr>
                                    </p:animEffect>
                                  </p:childTnLst>
                                </p:cTn>
                              </p:par>
                              <p:par>
                                <p:cTn id="17" presetID="9" presetClass="emph" presetSubtype="0" fill="hold" grpId="0" nodeType="withEffect">
                                  <p:stCondLst>
                                    <p:cond delay="0"/>
                                  </p:stCondLst>
                                  <p:childTnLst>
                                    <p:set>
                                      <p:cBhvr>
                                        <p:cTn id="18" dur="1" fill="hold"/>
                                        <p:tgtEl>
                                          <p:spTgt spid="19"/>
                                        </p:tgtEl>
                                        <p:attrNameLst>
                                          <p:attrName>style.opacity</p:attrName>
                                        </p:attrNameLst>
                                      </p:cBhvr>
                                      <p:to>
                                        <p:strVal val="0.25"/>
                                      </p:to>
                                    </p:set>
                                    <p:animEffect filter="image" prLst="opacity: 0.25">
                                      <p:cBhvr rctx="IE">
                                        <p:cTn id="19" dur="1" fill="hold"/>
                                        <p:tgtEl>
                                          <p:spTgt spid="19"/>
                                        </p:tgtEl>
                                      </p:cBhvr>
                                    </p:animEffect>
                                  </p:childTnLst>
                                </p:cTn>
                              </p:par>
                              <p:par>
                                <p:cTn id="20" presetID="9" presetClass="emph" presetSubtype="0" fill="hold" grpId="0" nodeType="withEffect">
                                  <p:stCondLst>
                                    <p:cond delay="0"/>
                                  </p:stCondLst>
                                  <p:childTnLst>
                                    <p:set>
                                      <p:cBhvr>
                                        <p:cTn id="21" dur="1" fill="hold"/>
                                        <p:tgtEl>
                                          <p:spTgt spid="20"/>
                                        </p:tgtEl>
                                        <p:attrNameLst>
                                          <p:attrName>style.opacity</p:attrName>
                                        </p:attrNameLst>
                                      </p:cBhvr>
                                      <p:to>
                                        <p:strVal val="0.25"/>
                                      </p:to>
                                    </p:set>
                                    <p:animEffect filter="image" prLst="opacity: 0.25">
                                      <p:cBhvr rctx="IE">
                                        <p:cTn id="22" dur="1" fill="hold"/>
                                        <p:tgtEl>
                                          <p:spTgt spid="20"/>
                                        </p:tgtEl>
                                      </p:cBhvr>
                                    </p:animEffect>
                                  </p:childTnLst>
                                </p:cTn>
                              </p:par>
                              <p:par>
                                <p:cTn id="23" presetID="9" presetClass="emph" presetSubtype="0" fill="hold" grpId="0" nodeType="withEffect">
                                  <p:stCondLst>
                                    <p:cond delay="0"/>
                                  </p:stCondLst>
                                  <p:childTnLst>
                                    <p:set>
                                      <p:cBhvr>
                                        <p:cTn id="24" dur="1" fill="hold"/>
                                        <p:tgtEl>
                                          <p:spTgt spid="21"/>
                                        </p:tgtEl>
                                        <p:attrNameLst>
                                          <p:attrName>style.opacity</p:attrName>
                                        </p:attrNameLst>
                                      </p:cBhvr>
                                      <p:to>
                                        <p:strVal val="0.25"/>
                                      </p:to>
                                    </p:set>
                                    <p:animEffect filter="image" prLst="opacity: 0.25">
                                      <p:cBhvr rctx="IE">
                                        <p:cTn id="25" dur="1" fill="hold"/>
                                        <p:tgtEl>
                                          <p:spTgt spid="21"/>
                                        </p:tgtEl>
                                      </p:cBhvr>
                                    </p:animEffect>
                                  </p:childTnLst>
                                </p:cTn>
                              </p:par>
                              <p:par>
                                <p:cTn id="26" presetID="9" presetClass="emph" presetSubtype="0" fill="hold" nodeType="withEffect">
                                  <p:stCondLst>
                                    <p:cond delay="0"/>
                                  </p:stCondLst>
                                  <p:childTnLst>
                                    <p:set>
                                      <p:cBhvr>
                                        <p:cTn id="27" dur="1" fill="hold"/>
                                        <p:tgtEl>
                                          <p:spTgt spid="22"/>
                                        </p:tgtEl>
                                        <p:attrNameLst>
                                          <p:attrName>style.opacity</p:attrName>
                                        </p:attrNameLst>
                                      </p:cBhvr>
                                      <p:to>
                                        <p:strVal val="0.25"/>
                                      </p:to>
                                    </p:set>
                                    <p:animEffect filter="image" prLst="opacity: 0.25">
                                      <p:cBhvr rctx="IE">
                                        <p:cTn id="28" dur="1" fill="hold"/>
                                        <p:tgtEl>
                                          <p:spTgt spid="22"/>
                                        </p:tgtEl>
                                      </p:cBhvr>
                                    </p:animEffect>
                                  </p:childTnLst>
                                </p:cTn>
                              </p:par>
                              <p:par>
                                <p:cTn id="29" presetID="9" presetClass="emph" presetSubtype="0" fill="hold" grpId="0" nodeType="withEffect">
                                  <p:stCondLst>
                                    <p:cond delay="0"/>
                                  </p:stCondLst>
                                  <p:childTnLst>
                                    <p:set>
                                      <p:cBhvr>
                                        <p:cTn id="30" dur="1" fill="hold"/>
                                        <p:tgtEl>
                                          <p:spTgt spid="23"/>
                                        </p:tgtEl>
                                        <p:attrNameLst>
                                          <p:attrName>style.opacity</p:attrName>
                                        </p:attrNameLst>
                                      </p:cBhvr>
                                      <p:to>
                                        <p:strVal val="0.25"/>
                                      </p:to>
                                    </p:set>
                                    <p:animEffect filter="image" prLst="opacity: 0.25">
                                      <p:cBhvr rctx="IE">
                                        <p:cTn id="31" dur="1" fill="hold"/>
                                        <p:tgtEl>
                                          <p:spTgt spid="23"/>
                                        </p:tgtEl>
                                      </p:cBhvr>
                                    </p:animEffect>
                                  </p:childTnLst>
                                </p:cTn>
                              </p:par>
                              <p:par>
                                <p:cTn id="32" presetID="9" presetClass="emph" presetSubtype="0" fill="hold" grpId="0" nodeType="withEffect">
                                  <p:stCondLst>
                                    <p:cond delay="0"/>
                                  </p:stCondLst>
                                  <p:childTnLst>
                                    <p:set>
                                      <p:cBhvr>
                                        <p:cTn id="33" dur="1" fill="hold"/>
                                        <p:tgtEl>
                                          <p:spTgt spid="24"/>
                                        </p:tgtEl>
                                        <p:attrNameLst>
                                          <p:attrName>style.opacity</p:attrName>
                                        </p:attrNameLst>
                                      </p:cBhvr>
                                      <p:to>
                                        <p:strVal val="0.25"/>
                                      </p:to>
                                    </p:set>
                                    <p:animEffect filter="image" prLst="opacity: 0.25">
                                      <p:cBhvr rctx="IE">
                                        <p:cTn id="34" dur="1" fill="hold"/>
                                        <p:tgtEl>
                                          <p:spTgt spid="24"/>
                                        </p:tgtEl>
                                      </p:cBhvr>
                                    </p:animEffect>
                                  </p:childTnLst>
                                </p:cTn>
                              </p:par>
                              <p:par>
                                <p:cTn id="35" presetID="9" presetClass="emph" presetSubtype="0" fill="hold" grpId="0" nodeType="withEffect">
                                  <p:stCondLst>
                                    <p:cond delay="0"/>
                                  </p:stCondLst>
                                  <p:childTnLst>
                                    <p:set>
                                      <p:cBhvr>
                                        <p:cTn id="36" dur="1" fill="hold"/>
                                        <p:tgtEl>
                                          <p:spTgt spid="25"/>
                                        </p:tgtEl>
                                        <p:attrNameLst>
                                          <p:attrName>style.opacity</p:attrName>
                                        </p:attrNameLst>
                                      </p:cBhvr>
                                      <p:to>
                                        <p:strVal val="0.25"/>
                                      </p:to>
                                    </p:set>
                                    <p:animEffect filter="image" prLst="opacity: 0.25">
                                      <p:cBhvr rctx="IE">
                                        <p:cTn id="37" dur="1" fill="hold"/>
                                        <p:tgtEl>
                                          <p:spTgt spid="25"/>
                                        </p:tgtEl>
                                      </p:cBhvr>
                                    </p:animEffect>
                                  </p:childTnLst>
                                </p:cTn>
                              </p:par>
                              <p:par>
                                <p:cTn id="38" presetID="9" presetClass="emph" presetSubtype="0" fill="hold" grpId="0" nodeType="withEffect">
                                  <p:stCondLst>
                                    <p:cond delay="0"/>
                                  </p:stCondLst>
                                  <p:childTnLst>
                                    <p:set>
                                      <p:cBhvr>
                                        <p:cTn id="39" dur="1" fill="hold"/>
                                        <p:tgtEl>
                                          <p:spTgt spid="26"/>
                                        </p:tgtEl>
                                        <p:attrNameLst>
                                          <p:attrName>style.opacity</p:attrName>
                                        </p:attrNameLst>
                                      </p:cBhvr>
                                      <p:to>
                                        <p:strVal val="0.25"/>
                                      </p:to>
                                    </p:set>
                                    <p:animEffect filter="image" prLst="opacity: 0.25">
                                      <p:cBhvr rctx="IE">
                                        <p:cTn id="40" dur="1" fill="hold"/>
                                        <p:tgtEl>
                                          <p:spTgt spid="26"/>
                                        </p:tgtEl>
                                      </p:cBhvr>
                                    </p:animEffect>
                                  </p:childTnLst>
                                </p:cTn>
                              </p:par>
                              <p:par>
                                <p:cTn id="41" presetID="9" presetClass="emph" presetSubtype="0" fill="hold" nodeType="withEffect">
                                  <p:stCondLst>
                                    <p:cond delay="0"/>
                                  </p:stCondLst>
                                  <p:childTnLst>
                                    <p:set>
                                      <p:cBhvr>
                                        <p:cTn id="42" dur="1" fill="hold"/>
                                        <p:tgtEl>
                                          <p:spTgt spid="27"/>
                                        </p:tgtEl>
                                        <p:attrNameLst>
                                          <p:attrName>style.opacity</p:attrName>
                                        </p:attrNameLst>
                                      </p:cBhvr>
                                      <p:to>
                                        <p:strVal val="0.25"/>
                                      </p:to>
                                    </p:set>
                                    <p:animEffect filter="image" prLst="opacity: 0.25">
                                      <p:cBhvr rctx="IE">
                                        <p:cTn id="43" dur="1" fill="hold"/>
                                        <p:tgtEl>
                                          <p:spTgt spid="27"/>
                                        </p:tgtEl>
                                      </p:cBhvr>
                                    </p:animEffect>
                                  </p:childTnLst>
                                </p:cTn>
                              </p:par>
                              <p:par>
                                <p:cTn id="44" presetID="9" presetClass="emph" presetSubtype="0" fill="hold" grpId="0" nodeType="withEffect">
                                  <p:stCondLst>
                                    <p:cond delay="0"/>
                                  </p:stCondLst>
                                  <p:childTnLst>
                                    <p:set>
                                      <p:cBhvr>
                                        <p:cTn id="45" dur="1" fill="hold"/>
                                        <p:tgtEl>
                                          <p:spTgt spid="28"/>
                                        </p:tgtEl>
                                        <p:attrNameLst>
                                          <p:attrName>style.opacity</p:attrName>
                                        </p:attrNameLst>
                                      </p:cBhvr>
                                      <p:to>
                                        <p:strVal val="0.25"/>
                                      </p:to>
                                    </p:set>
                                    <p:animEffect filter="image" prLst="opacity: 0.25">
                                      <p:cBhvr rctx="IE">
                                        <p:cTn id="46" dur="1" fill="hold"/>
                                        <p:tgtEl>
                                          <p:spTgt spid="28"/>
                                        </p:tgtEl>
                                      </p:cBhvr>
                                    </p:animEffect>
                                  </p:childTnLst>
                                </p:cTn>
                              </p:par>
                              <p:par>
                                <p:cTn id="47" presetID="9" presetClass="emph" presetSubtype="0" fill="hold" grpId="0" nodeType="withEffect">
                                  <p:stCondLst>
                                    <p:cond delay="0"/>
                                  </p:stCondLst>
                                  <p:childTnLst>
                                    <p:set>
                                      <p:cBhvr>
                                        <p:cTn id="48" dur="1" fill="hold"/>
                                        <p:tgtEl>
                                          <p:spTgt spid="29"/>
                                        </p:tgtEl>
                                        <p:attrNameLst>
                                          <p:attrName>style.opacity</p:attrName>
                                        </p:attrNameLst>
                                      </p:cBhvr>
                                      <p:to>
                                        <p:strVal val="0.25"/>
                                      </p:to>
                                    </p:set>
                                    <p:animEffect filter="image" prLst="opacity: 0.25">
                                      <p:cBhvr rctx="IE">
                                        <p:cTn id="49" dur="1" fill="hold"/>
                                        <p:tgtEl>
                                          <p:spTgt spid="29"/>
                                        </p:tgtEl>
                                      </p:cBhvr>
                                    </p:animEffect>
                                  </p:childTnLst>
                                </p:cTn>
                              </p:par>
                              <p:par>
                                <p:cTn id="50" presetID="9" presetClass="emph" presetSubtype="0" fill="hold" grpId="0" nodeType="withEffect">
                                  <p:stCondLst>
                                    <p:cond delay="0"/>
                                  </p:stCondLst>
                                  <p:childTnLst>
                                    <p:set>
                                      <p:cBhvr>
                                        <p:cTn id="51" dur="1" fill="hold"/>
                                        <p:tgtEl>
                                          <p:spTgt spid="30"/>
                                        </p:tgtEl>
                                        <p:attrNameLst>
                                          <p:attrName>style.opacity</p:attrName>
                                        </p:attrNameLst>
                                      </p:cBhvr>
                                      <p:to>
                                        <p:strVal val="0.25"/>
                                      </p:to>
                                    </p:set>
                                    <p:animEffect filter="image" prLst="opacity: 0.25">
                                      <p:cBhvr rctx="IE">
                                        <p:cTn id="52" dur="1" fill="hold"/>
                                        <p:tgtEl>
                                          <p:spTgt spid="30"/>
                                        </p:tgtEl>
                                      </p:cBhvr>
                                    </p:animEffect>
                                  </p:childTnLst>
                                </p:cTn>
                              </p:par>
                              <p:par>
                                <p:cTn id="53" presetID="9" presetClass="emph" presetSubtype="0" fill="hold" grpId="0" nodeType="withEffect">
                                  <p:stCondLst>
                                    <p:cond delay="0"/>
                                  </p:stCondLst>
                                  <p:childTnLst>
                                    <p:set>
                                      <p:cBhvr>
                                        <p:cTn id="54" dur="1" fill="hold"/>
                                        <p:tgtEl>
                                          <p:spTgt spid="31"/>
                                        </p:tgtEl>
                                        <p:attrNameLst>
                                          <p:attrName>style.opacity</p:attrName>
                                        </p:attrNameLst>
                                      </p:cBhvr>
                                      <p:to>
                                        <p:strVal val="0.25"/>
                                      </p:to>
                                    </p:set>
                                    <p:animEffect filter="image" prLst="opacity: 0.25">
                                      <p:cBhvr rctx="IE">
                                        <p:cTn id="55" dur="1" fill="hold"/>
                                        <p:tgtEl>
                                          <p:spTgt spid="31"/>
                                        </p:tgtEl>
                                      </p:cBhvr>
                                    </p:animEffect>
                                  </p:childTnLst>
                                </p:cTn>
                              </p:par>
                              <p:par>
                                <p:cTn id="56" presetID="9" presetClass="emph" presetSubtype="0" fill="hold" nodeType="withEffect">
                                  <p:stCondLst>
                                    <p:cond delay="0"/>
                                  </p:stCondLst>
                                  <p:childTnLst>
                                    <p:set>
                                      <p:cBhvr>
                                        <p:cTn id="57" dur="1" fill="hold"/>
                                        <p:tgtEl>
                                          <p:spTgt spid="32"/>
                                        </p:tgtEl>
                                        <p:attrNameLst>
                                          <p:attrName>style.opacity</p:attrName>
                                        </p:attrNameLst>
                                      </p:cBhvr>
                                      <p:to>
                                        <p:strVal val="0.25"/>
                                      </p:to>
                                    </p:set>
                                    <p:animEffect filter="image" prLst="opacity: 0.25">
                                      <p:cBhvr rctx="IE">
                                        <p:cTn id="58" dur="1" fill="hold"/>
                                        <p:tgtEl>
                                          <p:spTgt spid="32"/>
                                        </p:tgtEl>
                                      </p:cBhvr>
                                    </p:animEffect>
                                  </p:childTnLst>
                                </p:cTn>
                              </p:par>
                              <p:par>
                                <p:cTn id="59" presetID="9" presetClass="emph" presetSubtype="0" fill="hold" grpId="0" nodeType="withEffect">
                                  <p:stCondLst>
                                    <p:cond delay="0"/>
                                  </p:stCondLst>
                                  <p:childTnLst>
                                    <p:set>
                                      <p:cBhvr>
                                        <p:cTn id="60" dur="1" fill="hold"/>
                                        <p:tgtEl>
                                          <p:spTgt spid="33"/>
                                        </p:tgtEl>
                                        <p:attrNameLst>
                                          <p:attrName>style.opacity</p:attrName>
                                        </p:attrNameLst>
                                      </p:cBhvr>
                                      <p:to>
                                        <p:strVal val="0.25"/>
                                      </p:to>
                                    </p:set>
                                    <p:animEffect filter="image" prLst="opacity: 0.25">
                                      <p:cBhvr rctx="IE">
                                        <p:cTn id="61" dur="1" fill="hold"/>
                                        <p:tgtEl>
                                          <p:spTgt spid="33"/>
                                        </p:tgtEl>
                                      </p:cBhvr>
                                    </p:animEffect>
                                  </p:childTnLst>
                                </p:cTn>
                              </p:par>
                              <p:par>
                                <p:cTn id="62" presetID="9" presetClass="emph" presetSubtype="0" fill="hold" grpId="0" nodeType="withEffect">
                                  <p:stCondLst>
                                    <p:cond delay="0"/>
                                  </p:stCondLst>
                                  <p:childTnLst>
                                    <p:set>
                                      <p:cBhvr>
                                        <p:cTn id="63" dur="1" fill="hold"/>
                                        <p:tgtEl>
                                          <p:spTgt spid="34"/>
                                        </p:tgtEl>
                                        <p:attrNameLst>
                                          <p:attrName>style.opacity</p:attrName>
                                        </p:attrNameLst>
                                      </p:cBhvr>
                                      <p:to>
                                        <p:strVal val="0.25"/>
                                      </p:to>
                                    </p:set>
                                    <p:animEffect filter="image" prLst="opacity: 0.25">
                                      <p:cBhvr rctx="IE">
                                        <p:cTn id="64" dur="1" fill="hold"/>
                                        <p:tgtEl>
                                          <p:spTgt spid="34"/>
                                        </p:tgtEl>
                                      </p:cBhvr>
                                    </p:animEffect>
                                  </p:childTnLst>
                                </p:cTn>
                              </p:par>
                              <p:par>
                                <p:cTn id="65" presetID="9" presetClass="emph" presetSubtype="0" fill="hold" grpId="0" nodeType="withEffect">
                                  <p:stCondLst>
                                    <p:cond delay="0"/>
                                  </p:stCondLst>
                                  <p:childTnLst>
                                    <p:set>
                                      <p:cBhvr>
                                        <p:cTn id="66" dur="1" fill="hold"/>
                                        <p:tgtEl>
                                          <p:spTgt spid="35"/>
                                        </p:tgtEl>
                                        <p:attrNameLst>
                                          <p:attrName>style.opacity</p:attrName>
                                        </p:attrNameLst>
                                      </p:cBhvr>
                                      <p:to>
                                        <p:strVal val="0.25"/>
                                      </p:to>
                                    </p:set>
                                    <p:animEffect filter="image" prLst="opacity: 0.25">
                                      <p:cBhvr rctx="IE">
                                        <p:cTn id="67" dur="1" fill="hold"/>
                                        <p:tgtEl>
                                          <p:spTgt spid="35"/>
                                        </p:tgtEl>
                                      </p:cBhvr>
                                    </p:animEffect>
                                  </p:childTnLst>
                                </p:cTn>
                              </p:par>
                              <p:par>
                                <p:cTn id="68" presetID="9" presetClass="emph" presetSubtype="0" fill="hold" grpId="0" nodeType="withEffect">
                                  <p:stCondLst>
                                    <p:cond delay="0"/>
                                  </p:stCondLst>
                                  <p:childTnLst>
                                    <p:set>
                                      <p:cBhvr>
                                        <p:cTn id="69" dur="1" fill="hold"/>
                                        <p:tgtEl>
                                          <p:spTgt spid="36"/>
                                        </p:tgtEl>
                                        <p:attrNameLst>
                                          <p:attrName>style.opacity</p:attrName>
                                        </p:attrNameLst>
                                      </p:cBhvr>
                                      <p:to>
                                        <p:strVal val="0.25"/>
                                      </p:to>
                                    </p:set>
                                    <p:animEffect filter="image" prLst="opacity: 0.25">
                                      <p:cBhvr rctx="IE">
                                        <p:cTn id="70" dur="1" fill="hold"/>
                                        <p:tgtEl>
                                          <p:spTgt spid="36"/>
                                        </p:tgtEl>
                                      </p:cBhvr>
                                    </p:animEffect>
                                  </p:childTnLst>
                                </p:cTn>
                              </p:par>
                              <p:par>
                                <p:cTn id="71" presetID="9" presetClass="emph" presetSubtype="0" fill="hold" nodeType="withEffect">
                                  <p:stCondLst>
                                    <p:cond delay="0"/>
                                  </p:stCondLst>
                                  <p:childTnLst>
                                    <p:set>
                                      <p:cBhvr>
                                        <p:cTn id="72" dur="1" fill="hold"/>
                                        <p:tgtEl>
                                          <p:spTgt spid="37"/>
                                        </p:tgtEl>
                                        <p:attrNameLst>
                                          <p:attrName>style.opacity</p:attrName>
                                        </p:attrNameLst>
                                      </p:cBhvr>
                                      <p:to>
                                        <p:strVal val="0.25"/>
                                      </p:to>
                                    </p:set>
                                    <p:animEffect filter="image" prLst="opacity: 0.25">
                                      <p:cBhvr rctx="IE">
                                        <p:cTn id="73" dur="1" fill="hold"/>
                                        <p:tgtEl>
                                          <p:spTgt spid="37"/>
                                        </p:tgtEl>
                                      </p:cBhvr>
                                    </p:animEffect>
                                  </p:childTnLst>
                                </p:cTn>
                              </p:par>
                              <p:par>
                                <p:cTn id="74" presetID="9" presetClass="emph" presetSubtype="0" fill="hold" grpId="0" nodeType="withEffect">
                                  <p:stCondLst>
                                    <p:cond delay="0"/>
                                  </p:stCondLst>
                                  <p:childTnLst>
                                    <p:set>
                                      <p:cBhvr>
                                        <p:cTn id="75" dur="1" fill="hold"/>
                                        <p:tgtEl>
                                          <p:spTgt spid="38"/>
                                        </p:tgtEl>
                                        <p:attrNameLst>
                                          <p:attrName>style.opacity</p:attrName>
                                        </p:attrNameLst>
                                      </p:cBhvr>
                                      <p:to>
                                        <p:strVal val="0.25"/>
                                      </p:to>
                                    </p:set>
                                    <p:animEffect filter="image" prLst="opacity: 0.25">
                                      <p:cBhvr rctx="IE">
                                        <p:cTn id="76" dur="1" fill="hold"/>
                                        <p:tgtEl>
                                          <p:spTgt spid="38"/>
                                        </p:tgtEl>
                                      </p:cBhvr>
                                    </p:animEffect>
                                  </p:childTnLst>
                                </p:cTn>
                              </p:par>
                              <p:par>
                                <p:cTn id="77" presetID="9" presetClass="emph" presetSubtype="0" fill="hold" grpId="0" nodeType="withEffect">
                                  <p:stCondLst>
                                    <p:cond delay="0"/>
                                  </p:stCondLst>
                                  <p:childTnLst>
                                    <p:set>
                                      <p:cBhvr>
                                        <p:cTn id="78" dur="1" fill="hold"/>
                                        <p:tgtEl>
                                          <p:spTgt spid="39"/>
                                        </p:tgtEl>
                                        <p:attrNameLst>
                                          <p:attrName>style.opacity</p:attrName>
                                        </p:attrNameLst>
                                      </p:cBhvr>
                                      <p:to>
                                        <p:strVal val="0.25"/>
                                      </p:to>
                                    </p:set>
                                    <p:animEffect filter="image" prLst="opacity: 0.25">
                                      <p:cBhvr rctx="IE">
                                        <p:cTn id="79" dur="1" fill="hold"/>
                                        <p:tgtEl>
                                          <p:spTgt spid="39"/>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mph" presetSubtype="0" fill="hold" grpId="0" nodeType="clickEffect">
                                  <p:stCondLst>
                                    <p:cond delay="0"/>
                                  </p:stCondLst>
                                  <p:childTnLst>
                                    <p:set>
                                      <p:cBhvr>
                                        <p:cTn id="83" dur="400" fill="hold"/>
                                        <p:tgtEl>
                                          <p:spTgt spid="15"/>
                                        </p:tgtEl>
                                        <p:attrNameLst>
                                          <p:attrName>style.opacity</p:attrName>
                                        </p:attrNameLst>
                                      </p:cBhvr>
                                      <p:to>
                                        <p:strVal val="1"/>
                                      </p:to>
                                    </p:set>
                                    <p:animEffect filter="image" prLst="opacity: 1">
                                      <p:cBhvr rctx="IE">
                                        <p:cTn id="84" dur="400" fill="hold"/>
                                        <p:tgtEl>
                                          <p:spTgt spid="15"/>
                                        </p:tgtEl>
                                      </p:cBhvr>
                                    </p:animEffect>
                                  </p:childTnLst>
                                </p:cTn>
                              </p:par>
                              <p:par>
                                <p:cTn id="85" presetID="9" presetClass="emph" presetSubtype="0" fill="hold" grpId="0" nodeType="withEffect">
                                  <p:stCondLst>
                                    <p:cond delay="0"/>
                                  </p:stCondLst>
                                  <p:childTnLst>
                                    <p:set>
                                      <p:cBhvr>
                                        <p:cTn id="86" dur="400" fill="hold"/>
                                        <p:tgtEl>
                                          <p:spTgt spid="16"/>
                                        </p:tgtEl>
                                        <p:attrNameLst>
                                          <p:attrName>style.opacity</p:attrName>
                                        </p:attrNameLst>
                                      </p:cBhvr>
                                      <p:to>
                                        <p:strVal val="1"/>
                                      </p:to>
                                    </p:set>
                                    <p:animEffect filter="image" prLst="opacity: 1">
                                      <p:cBhvr rctx="IE">
                                        <p:cTn id="87" dur="400" fill="hold"/>
                                        <p:tgtEl>
                                          <p:spTgt spid="16"/>
                                        </p:tgtEl>
                                      </p:cBhvr>
                                    </p:animEffect>
                                  </p:childTnLst>
                                </p:cTn>
                              </p:par>
                              <p:par>
                                <p:cTn id="88" presetID="9" presetClass="emph" presetSubtype="0" fill="hold" nodeType="withEffect">
                                  <p:stCondLst>
                                    <p:cond delay="0"/>
                                  </p:stCondLst>
                                  <p:childTnLst>
                                    <p:set>
                                      <p:cBhvr>
                                        <p:cTn id="89" dur="400" fill="hold"/>
                                        <p:tgtEl>
                                          <p:spTgt spid="17"/>
                                        </p:tgtEl>
                                        <p:attrNameLst>
                                          <p:attrName>style.opacity</p:attrName>
                                        </p:attrNameLst>
                                      </p:cBhvr>
                                      <p:to>
                                        <p:strVal val="1"/>
                                      </p:to>
                                    </p:set>
                                    <p:animEffect filter="image" prLst="opacity: 1">
                                      <p:cBhvr rctx="IE">
                                        <p:cTn id="90" dur="400" fill="hold"/>
                                        <p:tgtEl>
                                          <p:spTgt spid="17"/>
                                        </p:tgtEl>
                                      </p:cBhvr>
                                    </p:animEffect>
                                  </p:childTnLst>
                                </p:cTn>
                              </p:par>
                              <p:par>
                                <p:cTn id="91" presetID="9" presetClass="emph" presetSubtype="0" fill="hold" grpId="0" nodeType="withEffect">
                                  <p:stCondLst>
                                    <p:cond delay="0"/>
                                  </p:stCondLst>
                                  <p:childTnLst>
                                    <p:set>
                                      <p:cBhvr>
                                        <p:cTn id="92" dur="400" fill="hold"/>
                                        <p:tgtEl>
                                          <p:spTgt spid="18"/>
                                        </p:tgtEl>
                                        <p:attrNameLst>
                                          <p:attrName>style.opacity</p:attrName>
                                        </p:attrNameLst>
                                      </p:cBhvr>
                                      <p:to>
                                        <p:strVal val="1"/>
                                      </p:to>
                                    </p:set>
                                    <p:animEffect filter="image" prLst="opacity: 1">
                                      <p:cBhvr rctx="IE">
                                        <p:cTn id="93" dur="400" fill="hold"/>
                                        <p:tgtEl>
                                          <p:spTgt spid="18"/>
                                        </p:tgtEl>
                                      </p:cBhvr>
                                    </p:animEffect>
                                  </p:childTnLst>
                                </p:cTn>
                              </p:par>
                              <p:par>
                                <p:cTn id="94" presetID="9" presetClass="emph" presetSubtype="0" fill="hold" grpId="0" nodeType="withEffect">
                                  <p:stCondLst>
                                    <p:cond delay="0"/>
                                  </p:stCondLst>
                                  <p:childTnLst>
                                    <p:set>
                                      <p:cBhvr>
                                        <p:cTn id="95" dur="400" fill="hold"/>
                                        <p:tgtEl>
                                          <p:spTgt spid="19"/>
                                        </p:tgtEl>
                                        <p:attrNameLst>
                                          <p:attrName>style.opacity</p:attrName>
                                        </p:attrNameLst>
                                      </p:cBhvr>
                                      <p:to>
                                        <p:strVal val="1"/>
                                      </p:to>
                                    </p:set>
                                    <p:animEffect filter="image" prLst="opacity: 1">
                                      <p:cBhvr rctx="IE">
                                        <p:cTn id="96" dur="400" fill="hold"/>
                                        <p:tgtEl>
                                          <p:spTgt spid="19"/>
                                        </p:tgtEl>
                                      </p:cBhvr>
                                    </p:animEffect>
                                  </p:childTnLst>
                                </p:cTn>
                              </p:par>
                              <p:par>
                                <p:cTn id="97" presetID="9" presetClass="emph" presetSubtype="0" fill="hold" grpId="0" nodeType="withEffect">
                                  <p:stCondLst>
                                    <p:cond delay="0"/>
                                  </p:stCondLst>
                                  <p:childTnLst>
                                    <p:set>
                                      <p:cBhvr>
                                        <p:cTn id="98" dur="400" fill="hold"/>
                                        <p:tgtEl>
                                          <p:spTgt spid="10"/>
                                        </p:tgtEl>
                                        <p:attrNameLst>
                                          <p:attrName>style.opacity</p:attrName>
                                        </p:attrNameLst>
                                      </p:cBhvr>
                                      <p:to>
                                        <p:strVal val="0.25"/>
                                      </p:to>
                                    </p:set>
                                    <p:animEffect filter="image" prLst="opacity: 0.25">
                                      <p:cBhvr rctx="IE">
                                        <p:cTn id="99" dur="400" fill="hold"/>
                                        <p:tgtEl>
                                          <p:spTgt spid="10"/>
                                        </p:tgtEl>
                                      </p:cBhvr>
                                    </p:animEffect>
                                  </p:childTnLst>
                                </p:cTn>
                              </p:par>
                              <p:par>
                                <p:cTn id="100" presetID="9" presetClass="emph" presetSubtype="0" fill="hold" grpId="0" nodeType="withEffect">
                                  <p:stCondLst>
                                    <p:cond delay="0"/>
                                  </p:stCondLst>
                                  <p:childTnLst>
                                    <p:set>
                                      <p:cBhvr>
                                        <p:cTn id="101" dur="400" fill="hold"/>
                                        <p:tgtEl>
                                          <p:spTgt spid="11"/>
                                        </p:tgtEl>
                                        <p:attrNameLst>
                                          <p:attrName>style.opacity</p:attrName>
                                        </p:attrNameLst>
                                      </p:cBhvr>
                                      <p:to>
                                        <p:strVal val="0.25"/>
                                      </p:to>
                                    </p:set>
                                    <p:animEffect filter="image" prLst="opacity: 0.25">
                                      <p:cBhvr rctx="IE">
                                        <p:cTn id="102" dur="400" fill="hold"/>
                                        <p:tgtEl>
                                          <p:spTgt spid="11"/>
                                        </p:tgtEl>
                                      </p:cBhvr>
                                    </p:animEffect>
                                  </p:childTnLst>
                                </p:cTn>
                              </p:par>
                              <p:par>
                                <p:cTn id="103" presetID="9" presetClass="emph" presetSubtype="0" fill="hold" nodeType="withEffect">
                                  <p:stCondLst>
                                    <p:cond delay="0"/>
                                  </p:stCondLst>
                                  <p:childTnLst>
                                    <p:set>
                                      <p:cBhvr>
                                        <p:cTn id="104" dur="400" fill="hold"/>
                                        <p:tgtEl>
                                          <p:spTgt spid="12"/>
                                        </p:tgtEl>
                                        <p:attrNameLst>
                                          <p:attrName>style.opacity</p:attrName>
                                        </p:attrNameLst>
                                      </p:cBhvr>
                                      <p:to>
                                        <p:strVal val="0.25"/>
                                      </p:to>
                                    </p:set>
                                    <p:animEffect filter="image" prLst="opacity: 0.25">
                                      <p:cBhvr rctx="IE">
                                        <p:cTn id="105" dur="400" fill="hold"/>
                                        <p:tgtEl>
                                          <p:spTgt spid="12"/>
                                        </p:tgtEl>
                                      </p:cBhvr>
                                    </p:animEffect>
                                  </p:childTnLst>
                                </p:cTn>
                              </p:par>
                              <p:par>
                                <p:cTn id="106" presetID="9" presetClass="emph" presetSubtype="0" fill="hold" grpId="0" nodeType="withEffect">
                                  <p:stCondLst>
                                    <p:cond delay="0"/>
                                  </p:stCondLst>
                                  <p:childTnLst>
                                    <p:set>
                                      <p:cBhvr>
                                        <p:cTn id="107" dur="400" fill="hold"/>
                                        <p:tgtEl>
                                          <p:spTgt spid="13"/>
                                        </p:tgtEl>
                                        <p:attrNameLst>
                                          <p:attrName>style.opacity</p:attrName>
                                        </p:attrNameLst>
                                      </p:cBhvr>
                                      <p:to>
                                        <p:strVal val="0.25"/>
                                      </p:to>
                                    </p:set>
                                    <p:animEffect filter="image" prLst="opacity: 0.25">
                                      <p:cBhvr rctx="IE">
                                        <p:cTn id="108" dur="400" fill="hold"/>
                                        <p:tgtEl>
                                          <p:spTgt spid="13"/>
                                        </p:tgtEl>
                                      </p:cBhvr>
                                    </p:animEffect>
                                  </p:childTnLst>
                                </p:cTn>
                              </p:par>
                              <p:par>
                                <p:cTn id="109" presetID="9" presetClass="emph" presetSubtype="0" fill="hold" grpId="0" nodeType="withEffect">
                                  <p:stCondLst>
                                    <p:cond delay="0"/>
                                  </p:stCondLst>
                                  <p:childTnLst>
                                    <p:set>
                                      <p:cBhvr>
                                        <p:cTn id="110" dur="400" fill="hold"/>
                                        <p:tgtEl>
                                          <p:spTgt spid="14"/>
                                        </p:tgtEl>
                                        <p:attrNameLst>
                                          <p:attrName>style.opacity</p:attrName>
                                        </p:attrNameLst>
                                      </p:cBhvr>
                                      <p:to>
                                        <p:strVal val="0.25"/>
                                      </p:to>
                                    </p:set>
                                    <p:animEffect filter="image" prLst="opacity: 0.25">
                                      <p:cBhvr rctx="IE">
                                        <p:cTn id="111" dur="400" fill="hold"/>
                                        <p:tgtEl>
                                          <p:spTgt spid="14"/>
                                        </p:tgtEl>
                                      </p:cBhvr>
                                    </p:animEffect>
                                  </p:childTnLst>
                                </p:cTn>
                              </p:par>
                            </p:childTnLst>
                          </p:cTn>
                        </p:par>
                      </p:childTnLst>
                    </p:cTn>
                  </p:par>
                  <p:par>
                    <p:cTn id="112" fill="hold">
                      <p:stCondLst>
                        <p:cond delay="indefinite"/>
                      </p:stCondLst>
                      <p:childTnLst>
                        <p:par>
                          <p:cTn id="113" fill="hold">
                            <p:stCondLst>
                              <p:cond delay="0"/>
                            </p:stCondLst>
                            <p:childTnLst>
                              <p:par>
                                <p:cTn id="114" presetID="9" presetClass="emph" presetSubtype="0" fill="hold" grpId="0" nodeType="clickEffect">
                                  <p:stCondLst>
                                    <p:cond delay="0"/>
                                  </p:stCondLst>
                                  <p:childTnLst>
                                    <p:set>
                                      <p:cBhvr>
                                        <p:cTn id="115" dur="400" fill="hold"/>
                                        <p:tgtEl>
                                          <p:spTgt spid="20"/>
                                        </p:tgtEl>
                                        <p:attrNameLst>
                                          <p:attrName>style.opacity</p:attrName>
                                        </p:attrNameLst>
                                      </p:cBhvr>
                                      <p:to>
                                        <p:strVal val="1"/>
                                      </p:to>
                                    </p:set>
                                    <p:animEffect filter="image" prLst="opacity: 1">
                                      <p:cBhvr rctx="IE">
                                        <p:cTn id="116" dur="400" fill="hold"/>
                                        <p:tgtEl>
                                          <p:spTgt spid="20"/>
                                        </p:tgtEl>
                                      </p:cBhvr>
                                    </p:animEffect>
                                  </p:childTnLst>
                                </p:cTn>
                              </p:par>
                              <p:par>
                                <p:cTn id="117" presetID="9" presetClass="emph" presetSubtype="0" fill="hold" grpId="0" nodeType="withEffect">
                                  <p:stCondLst>
                                    <p:cond delay="0"/>
                                  </p:stCondLst>
                                  <p:childTnLst>
                                    <p:set>
                                      <p:cBhvr>
                                        <p:cTn id="118" dur="400" fill="hold"/>
                                        <p:tgtEl>
                                          <p:spTgt spid="21"/>
                                        </p:tgtEl>
                                        <p:attrNameLst>
                                          <p:attrName>style.opacity</p:attrName>
                                        </p:attrNameLst>
                                      </p:cBhvr>
                                      <p:to>
                                        <p:strVal val="1"/>
                                      </p:to>
                                    </p:set>
                                    <p:animEffect filter="image" prLst="opacity: 1">
                                      <p:cBhvr rctx="IE">
                                        <p:cTn id="119" dur="400" fill="hold"/>
                                        <p:tgtEl>
                                          <p:spTgt spid="21"/>
                                        </p:tgtEl>
                                      </p:cBhvr>
                                    </p:animEffect>
                                  </p:childTnLst>
                                </p:cTn>
                              </p:par>
                              <p:par>
                                <p:cTn id="120" presetID="9" presetClass="emph" presetSubtype="0" fill="hold" nodeType="withEffect">
                                  <p:stCondLst>
                                    <p:cond delay="0"/>
                                  </p:stCondLst>
                                  <p:childTnLst>
                                    <p:set>
                                      <p:cBhvr>
                                        <p:cTn id="121" dur="400" fill="hold"/>
                                        <p:tgtEl>
                                          <p:spTgt spid="22"/>
                                        </p:tgtEl>
                                        <p:attrNameLst>
                                          <p:attrName>style.opacity</p:attrName>
                                        </p:attrNameLst>
                                      </p:cBhvr>
                                      <p:to>
                                        <p:strVal val="1"/>
                                      </p:to>
                                    </p:set>
                                    <p:animEffect filter="image" prLst="opacity: 1">
                                      <p:cBhvr rctx="IE">
                                        <p:cTn id="122" dur="400" fill="hold"/>
                                        <p:tgtEl>
                                          <p:spTgt spid="22"/>
                                        </p:tgtEl>
                                      </p:cBhvr>
                                    </p:animEffect>
                                  </p:childTnLst>
                                </p:cTn>
                              </p:par>
                              <p:par>
                                <p:cTn id="123" presetID="9" presetClass="emph" presetSubtype="0" fill="hold" grpId="0" nodeType="withEffect">
                                  <p:stCondLst>
                                    <p:cond delay="0"/>
                                  </p:stCondLst>
                                  <p:childTnLst>
                                    <p:set>
                                      <p:cBhvr>
                                        <p:cTn id="124" dur="400" fill="hold"/>
                                        <p:tgtEl>
                                          <p:spTgt spid="23"/>
                                        </p:tgtEl>
                                        <p:attrNameLst>
                                          <p:attrName>style.opacity</p:attrName>
                                        </p:attrNameLst>
                                      </p:cBhvr>
                                      <p:to>
                                        <p:strVal val="1"/>
                                      </p:to>
                                    </p:set>
                                    <p:animEffect filter="image" prLst="opacity: 1">
                                      <p:cBhvr rctx="IE">
                                        <p:cTn id="125" dur="400" fill="hold"/>
                                        <p:tgtEl>
                                          <p:spTgt spid="23"/>
                                        </p:tgtEl>
                                      </p:cBhvr>
                                    </p:animEffect>
                                  </p:childTnLst>
                                </p:cTn>
                              </p:par>
                              <p:par>
                                <p:cTn id="126" presetID="9" presetClass="emph" presetSubtype="0" fill="hold" grpId="0" nodeType="withEffect">
                                  <p:stCondLst>
                                    <p:cond delay="0"/>
                                  </p:stCondLst>
                                  <p:childTnLst>
                                    <p:set>
                                      <p:cBhvr>
                                        <p:cTn id="127" dur="400" fill="hold"/>
                                        <p:tgtEl>
                                          <p:spTgt spid="24"/>
                                        </p:tgtEl>
                                        <p:attrNameLst>
                                          <p:attrName>style.opacity</p:attrName>
                                        </p:attrNameLst>
                                      </p:cBhvr>
                                      <p:to>
                                        <p:strVal val="1"/>
                                      </p:to>
                                    </p:set>
                                    <p:animEffect filter="image" prLst="opacity: 1">
                                      <p:cBhvr rctx="IE">
                                        <p:cTn id="128" dur="400" fill="hold"/>
                                        <p:tgtEl>
                                          <p:spTgt spid="24"/>
                                        </p:tgtEl>
                                      </p:cBhvr>
                                    </p:animEffect>
                                  </p:childTnLst>
                                </p:cTn>
                              </p:par>
                              <p:par>
                                <p:cTn id="129" presetID="9" presetClass="emph" presetSubtype="0" fill="hold" grpId="0" nodeType="withEffect">
                                  <p:stCondLst>
                                    <p:cond delay="0"/>
                                  </p:stCondLst>
                                  <p:childTnLst>
                                    <p:set>
                                      <p:cBhvr>
                                        <p:cTn id="130" dur="400" fill="hold"/>
                                        <p:tgtEl>
                                          <p:spTgt spid="15"/>
                                        </p:tgtEl>
                                        <p:attrNameLst>
                                          <p:attrName>style.opacity</p:attrName>
                                        </p:attrNameLst>
                                      </p:cBhvr>
                                      <p:to>
                                        <p:strVal val="0.25"/>
                                      </p:to>
                                    </p:set>
                                    <p:animEffect filter="image" prLst="opacity: 0.25">
                                      <p:cBhvr rctx="IE">
                                        <p:cTn id="131" dur="400" fill="hold"/>
                                        <p:tgtEl>
                                          <p:spTgt spid="15"/>
                                        </p:tgtEl>
                                      </p:cBhvr>
                                    </p:animEffect>
                                  </p:childTnLst>
                                </p:cTn>
                              </p:par>
                              <p:par>
                                <p:cTn id="132" presetID="9" presetClass="emph" presetSubtype="0" fill="hold" grpId="0" nodeType="withEffect">
                                  <p:stCondLst>
                                    <p:cond delay="0"/>
                                  </p:stCondLst>
                                  <p:childTnLst>
                                    <p:set>
                                      <p:cBhvr>
                                        <p:cTn id="133" dur="400" fill="hold"/>
                                        <p:tgtEl>
                                          <p:spTgt spid="16"/>
                                        </p:tgtEl>
                                        <p:attrNameLst>
                                          <p:attrName>style.opacity</p:attrName>
                                        </p:attrNameLst>
                                      </p:cBhvr>
                                      <p:to>
                                        <p:strVal val="0.25"/>
                                      </p:to>
                                    </p:set>
                                    <p:animEffect filter="image" prLst="opacity: 0.25">
                                      <p:cBhvr rctx="IE">
                                        <p:cTn id="134" dur="400" fill="hold"/>
                                        <p:tgtEl>
                                          <p:spTgt spid="16"/>
                                        </p:tgtEl>
                                      </p:cBhvr>
                                    </p:animEffect>
                                  </p:childTnLst>
                                </p:cTn>
                              </p:par>
                              <p:par>
                                <p:cTn id="135" presetID="9" presetClass="emph" presetSubtype="0" fill="hold" nodeType="withEffect">
                                  <p:stCondLst>
                                    <p:cond delay="0"/>
                                  </p:stCondLst>
                                  <p:childTnLst>
                                    <p:set>
                                      <p:cBhvr>
                                        <p:cTn id="136" dur="400" fill="hold"/>
                                        <p:tgtEl>
                                          <p:spTgt spid="17"/>
                                        </p:tgtEl>
                                        <p:attrNameLst>
                                          <p:attrName>style.opacity</p:attrName>
                                        </p:attrNameLst>
                                      </p:cBhvr>
                                      <p:to>
                                        <p:strVal val="0.25"/>
                                      </p:to>
                                    </p:set>
                                    <p:animEffect filter="image" prLst="opacity: 0.25">
                                      <p:cBhvr rctx="IE">
                                        <p:cTn id="137" dur="400" fill="hold"/>
                                        <p:tgtEl>
                                          <p:spTgt spid="17"/>
                                        </p:tgtEl>
                                      </p:cBhvr>
                                    </p:animEffect>
                                  </p:childTnLst>
                                </p:cTn>
                              </p:par>
                              <p:par>
                                <p:cTn id="138" presetID="9" presetClass="emph" presetSubtype="0" fill="hold" grpId="0" nodeType="withEffect">
                                  <p:stCondLst>
                                    <p:cond delay="0"/>
                                  </p:stCondLst>
                                  <p:childTnLst>
                                    <p:set>
                                      <p:cBhvr>
                                        <p:cTn id="139" dur="400" fill="hold"/>
                                        <p:tgtEl>
                                          <p:spTgt spid="18"/>
                                        </p:tgtEl>
                                        <p:attrNameLst>
                                          <p:attrName>style.opacity</p:attrName>
                                        </p:attrNameLst>
                                      </p:cBhvr>
                                      <p:to>
                                        <p:strVal val="0.25"/>
                                      </p:to>
                                    </p:set>
                                    <p:animEffect filter="image" prLst="opacity: 0.25">
                                      <p:cBhvr rctx="IE">
                                        <p:cTn id="140" dur="400" fill="hold"/>
                                        <p:tgtEl>
                                          <p:spTgt spid="18"/>
                                        </p:tgtEl>
                                      </p:cBhvr>
                                    </p:animEffect>
                                  </p:childTnLst>
                                </p:cTn>
                              </p:par>
                              <p:par>
                                <p:cTn id="141" presetID="9" presetClass="emph" presetSubtype="0" fill="hold" grpId="0" nodeType="withEffect">
                                  <p:stCondLst>
                                    <p:cond delay="0"/>
                                  </p:stCondLst>
                                  <p:childTnLst>
                                    <p:set>
                                      <p:cBhvr>
                                        <p:cTn id="142" dur="400" fill="hold"/>
                                        <p:tgtEl>
                                          <p:spTgt spid="19"/>
                                        </p:tgtEl>
                                        <p:attrNameLst>
                                          <p:attrName>style.opacity</p:attrName>
                                        </p:attrNameLst>
                                      </p:cBhvr>
                                      <p:to>
                                        <p:strVal val="0.25"/>
                                      </p:to>
                                    </p:set>
                                    <p:animEffect filter="image" prLst="opacity: 0.25">
                                      <p:cBhvr rctx="IE">
                                        <p:cTn id="143" dur="400" fill="hold"/>
                                        <p:tgtEl>
                                          <p:spTgt spid="19"/>
                                        </p:tgtEl>
                                      </p:cBhvr>
                                    </p:animEffect>
                                  </p:childTnLst>
                                </p:cTn>
                              </p:par>
                            </p:childTnLst>
                          </p:cTn>
                        </p:par>
                      </p:childTnLst>
                    </p:cTn>
                  </p:par>
                  <p:par>
                    <p:cTn id="144" fill="hold">
                      <p:stCondLst>
                        <p:cond delay="indefinite"/>
                      </p:stCondLst>
                      <p:childTnLst>
                        <p:par>
                          <p:cTn id="145" fill="hold">
                            <p:stCondLst>
                              <p:cond delay="0"/>
                            </p:stCondLst>
                            <p:childTnLst>
                              <p:par>
                                <p:cTn id="146" presetID="9" presetClass="emph" presetSubtype="0" fill="hold" grpId="0" nodeType="clickEffect">
                                  <p:stCondLst>
                                    <p:cond delay="0"/>
                                  </p:stCondLst>
                                  <p:childTnLst>
                                    <p:set>
                                      <p:cBhvr>
                                        <p:cTn id="147" dur="400" fill="hold"/>
                                        <p:tgtEl>
                                          <p:spTgt spid="25"/>
                                        </p:tgtEl>
                                        <p:attrNameLst>
                                          <p:attrName>style.opacity</p:attrName>
                                        </p:attrNameLst>
                                      </p:cBhvr>
                                      <p:to>
                                        <p:strVal val="1"/>
                                      </p:to>
                                    </p:set>
                                    <p:animEffect filter="image" prLst="opacity: 1">
                                      <p:cBhvr rctx="IE">
                                        <p:cTn id="148" dur="400" fill="hold"/>
                                        <p:tgtEl>
                                          <p:spTgt spid="25"/>
                                        </p:tgtEl>
                                      </p:cBhvr>
                                    </p:animEffect>
                                  </p:childTnLst>
                                </p:cTn>
                              </p:par>
                              <p:par>
                                <p:cTn id="149" presetID="9" presetClass="emph" presetSubtype="0" fill="hold" grpId="0" nodeType="withEffect">
                                  <p:stCondLst>
                                    <p:cond delay="0"/>
                                  </p:stCondLst>
                                  <p:childTnLst>
                                    <p:set>
                                      <p:cBhvr>
                                        <p:cTn id="150" dur="400" fill="hold"/>
                                        <p:tgtEl>
                                          <p:spTgt spid="26"/>
                                        </p:tgtEl>
                                        <p:attrNameLst>
                                          <p:attrName>style.opacity</p:attrName>
                                        </p:attrNameLst>
                                      </p:cBhvr>
                                      <p:to>
                                        <p:strVal val="1"/>
                                      </p:to>
                                    </p:set>
                                    <p:animEffect filter="image" prLst="opacity: 1">
                                      <p:cBhvr rctx="IE">
                                        <p:cTn id="151" dur="400" fill="hold"/>
                                        <p:tgtEl>
                                          <p:spTgt spid="26"/>
                                        </p:tgtEl>
                                      </p:cBhvr>
                                    </p:animEffect>
                                  </p:childTnLst>
                                </p:cTn>
                              </p:par>
                              <p:par>
                                <p:cTn id="152" presetID="9" presetClass="emph" presetSubtype="0" fill="hold" nodeType="withEffect">
                                  <p:stCondLst>
                                    <p:cond delay="0"/>
                                  </p:stCondLst>
                                  <p:childTnLst>
                                    <p:set>
                                      <p:cBhvr>
                                        <p:cTn id="153" dur="400" fill="hold"/>
                                        <p:tgtEl>
                                          <p:spTgt spid="27"/>
                                        </p:tgtEl>
                                        <p:attrNameLst>
                                          <p:attrName>style.opacity</p:attrName>
                                        </p:attrNameLst>
                                      </p:cBhvr>
                                      <p:to>
                                        <p:strVal val="1"/>
                                      </p:to>
                                    </p:set>
                                    <p:animEffect filter="image" prLst="opacity: 1">
                                      <p:cBhvr rctx="IE">
                                        <p:cTn id="154" dur="400" fill="hold"/>
                                        <p:tgtEl>
                                          <p:spTgt spid="27"/>
                                        </p:tgtEl>
                                      </p:cBhvr>
                                    </p:animEffect>
                                  </p:childTnLst>
                                </p:cTn>
                              </p:par>
                              <p:par>
                                <p:cTn id="155" presetID="9" presetClass="emph" presetSubtype="0" fill="hold" grpId="0" nodeType="withEffect">
                                  <p:stCondLst>
                                    <p:cond delay="0"/>
                                  </p:stCondLst>
                                  <p:childTnLst>
                                    <p:set>
                                      <p:cBhvr>
                                        <p:cTn id="156" dur="400" fill="hold"/>
                                        <p:tgtEl>
                                          <p:spTgt spid="28"/>
                                        </p:tgtEl>
                                        <p:attrNameLst>
                                          <p:attrName>style.opacity</p:attrName>
                                        </p:attrNameLst>
                                      </p:cBhvr>
                                      <p:to>
                                        <p:strVal val="1"/>
                                      </p:to>
                                    </p:set>
                                    <p:animEffect filter="image" prLst="opacity: 1">
                                      <p:cBhvr rctx="IE">
                                        <p:cTn id="157" dur="400" fill="hold"/>
                                        <p:tgtEl>
                                          <p:spTgt spid="28"/>
                                        </p:tgtEl>
                                      </p:cBhvr>
                                    </p:animEffect>
                                  </p:childTnLst>
                                </p:cTn>
                              </p:par>
                              <p:par>
                                <p:cTn id="158" presetID="9" presetClass="emph" presetSubtype="0" fill="hold" grpId="0" nodeType="withEffect">
                                  <p:stCondLst>
                                    <p:cond delay="0"/>
                                  </p:stCondLst>
                                  <p:childTnLst>
                                    <p:set>
                                      <p:cBhvr>
                                        <p:cTn id="159" dur="400" fill="hold"/>
                                        <p:tgtEl>
                                          <p:spTgt spid="29"/>
                                        </p:tgtEl>
                                        <p:attrNameLst>
                                          <p:attrName>style.opacity</p:attrName>
                                        </p:attrNameLst>
                                      </p:cBhvr>
                                      <p:to>
                                        <p:strVal val="1"/>
                                      </p:to>
                                    </p:set>
                                    <p:animEffect filter="image" prLst="opacity: 1">
                                      <p:cBhvr rctx="IE">
                                        <p:cTn id="160" dur="400" fill="hold"/>
                                        <p:tgtEl>
                                          <p:spTgt spid="29"/>
                                        </p:tgtEl>
                                      </p:cBhvr>
                                    </p:animEffect>
                                  </p:childTnLst>
                                </p:cTn>
                              </p:par>
                              <p:par>
                                <p:cTn id="161" presetID="9" presetClass="emph" presetSubtype="0" fill="hold" grpId="0" nodeType="withEffect">
                                  <p:stCondLst>
                                    <p:cond delay="0"/>
                                  </p:stCondLst>
                                  <p:childTnLst>
                                    <p:set>
                                      <p:cBhvr>
                                        <p:cTn id="162" dur="400" fill="hold"/>
                                        <p:tgtEl>
                                          <p:spTgt spid="20"/>
                                        </p:tgtEl>
                                        <p:attrNameLst>
                                          <p:attrName>style.opacity</p:attrName>
                                        </p:attrNameLst>
                                      </p:cBhvr>
                                      <p:to>
                                        <p:strVal val="0.25"/>
                                      </p:to>
                                    </p:set>
                                    <p:animEffect filter="image" prLst="opacity: 0.25">
                                      <p:cBhvr rctx="IE">
                                        <p:cTn id="163" dur="400" fill="hold"/>
                                        <p:tgtEl>
                                          <p:spTgt spid="20"/>
                                        </p:tgtEl>
                                      </p:cBhvr>
                                    </p:animEffect>
                                  </p:childTnLst>
                                </p:cTn>
                              </p:par>
                              <p:par>
                                <p:cTn id="164" presetID="9" presetClass="emph" presetSubtype="0" fill="hold" grpId="0" nodeType="withEffect">
                                  <p:stCondLst>
                                    <p:cond delay="0"/>
                                  </p:stCondLst>
                                  <p:childTnLst>
                                    <p:set>
                                      <p:cBhvr>
                                        <p:cTn id="165" dur="400" fill="hold"/>
                                        <p:tgtEl>
                                          <p:spTgt spid="21"/>
                                        </p:tgtEl>
                                        <p:attrNameLst>
                                          <p:attrName>style.opacity</p:attrName>
                                        </p:attrNameLst>
                                      </p:cBhvr>
                                      <p:to>
                                        <p:strVal val="0.25"/>
                                      </p:to>
                                    </p:set>
                                    <p:animEffect filter="image" prLst="opacity: 0.25">
                                      <p:cBhvr rctx="IE">
                                        <p:cTn id="166" dur="400" fill="hold"/>
                                        <p:tgtEl>
                                          <p:spTgt spid="21"/>
                                        </p:tgtEl>
                                      </p:cBhvr>
                                    </p:animEffect>
                                  </p:childTnLst>
                                </p:cTn>
                              </p:par>
                              <p:par>
                                <p:cTn id="167" presetID="9" presetClass="emph" presetSubtype="0" fill="hold" nodeType="withEffect">
                                  <p:stCondLst>
                                    <p:cond delay="0"/>
                                  </p:stCondLst>
                                  <p:childTnLst>
                                    <p:set>
                                      <p:cBhvr>
                                        <p:cTn id="168" dur="400" fill="hold"/>
                                        <p:tgtEl>
                                          <p:spTgt spid="22"/>
                                        </p:tgtEl>
                                        <p:attrNameLst>
                                          <p:attrName>style.opacity</p:attrName>
                                        </p:attrNameLst>
                                      </p:cBhvr>
                                      <p:to>
                                        <p:strVal val="0.25"/>
                                      </p:to>
                                    </p:set>
                                    <p:animEffect filter="image" prLst="opacity: 0.25">
                                      <p:cBhvr rctx="IE">
                                        <p:cTn id="169" dur="400" fill="hold"/>
                                        <p:tgtEl>
                                          <p:spTgt spid="22"/>
                                        </p:tgtEl>
                                      </p:cBhvr>
                                    </p:animEffect>
                                  </p:childTnLst>
                                </p:cTn>
                              </p:par>
                              <p:par>
                                <p:cTn id="170" presetID="9" presetClass="emph" presetSubtype="0" fill="hold" grpId="0" nodeType="withEffect">
                                  <p:stCondLst>
                                    <p:cond delay="0"/>
                                  </p:stCondLst>
                                  <p:childTnLst>
                                    <p:set>
                                      <p:cBhvr>
                                        <p:cTn id="171" dur="400" fill="hold"/>
                                        <p:tgtEl>
                                          <p:spTgt spid="23"/>
                                        </p:tgtEl>
                                        <p:attrNameLst>
                                          <p:attrName>style.opacity</p:attrName>
                                        </p:attrNameLst>
                                      </p:cBhvr>
                                      <p:to>
                                        <p:strVal val="0.25"/>
                                      </p:to>
                                    </p:set>
                                    <p:animEffect filter="image" prLst="opacity: 0.25">
                                      <p:cBhvr rctx="IE">
                                        <p:cTn id="172" dur="400" fill="hold"/>
                                        <p:tgtEl>
                                          <p:spTgt spid="23"/>
                                        </p:tgtEl>
                                      </p:cBhvr>
                                    </p:animEffect>
                                  </p:childTnLst>
                                </p:cTn>
                              </p:par>
                              <p:par>
                                <p:cTn id="173" presetID="9" presetClass="emph" presetSubtype="0" fill="hold" grpId="0" nodeType="withEffect">
                                  <p:stCondLst>
                                    <p:cond delay="0"/>
                                  </p:stCondLst>
                                  <p:childTnLst>
                                    <p:set>
                                      <p:cBhvr>
                                        <p:cTn id="174" dur="400" fill="hold"/>
                                        <p:tgtEl>
                                          <p:spTgt spid="24"/>
                                        </p:tgtEl>
                                        <p:attrNameLst>
                                          <p:attrName>style.opacity</p:attrName>
                                        </p:attrNameLst>
                                      </p:cBhvr>
                                      <p:to>
                                        <p:strVal val="0.25"/>
                                      </p:to>
                                    </p:set>
                                    <p:animEffect filter="image" prLst="opacity: 0.25">
                                      <p:cBhvr rctx="IE">
                                        <p:cTn id="175" dur="400" fill="hold"/>
                                        <p:tgtEl>
                                          <p:spTgt spid="24"/>
                                        </p:tgtEl>
                                      </p:cBhvr>
                                    </p:animEffect>
                                  </p:childTnLst>
                                </p:cTn>
                              </p:par>
                            </p:childTnLst>
                          </p:cTn>
                        </p:par>
                      </p:childTnLst>
                    </p:cTn>
                  </p:par>
                  <p:par>
                    <p:cTn id="176" fill="hold">
                      <p:stCondLst>
                        <p:cond delay="indefinite"/>
                      </p:stCondLst>
                      <p:childTnLst>
                        <p:par>
                          <p:cTn id="177" fill="hold">
                            <p:stCondLst>
                              <p:cond delay="0"/>
                            </p:stCondLst>
                            <p:childTnLst>
                              <p:par>
                                <p:cTn id="178" presetID="9" presetClass="emph" presetSubtype="0" fill="hold" grpId="0" nodeType="clickEffect">
                                  <p:stCondLst>
                                    <p:cond delay="0"/>
                                  </p:stCondLst>
                                  <p:childTnLst>
                                    <p:set>
                                      <p:cBhvr>
                                        <p:cTn id="179" dur="400" fill="hold"/>
                                        <p:tgtEl>
                                          <p:spTgt spid="30"/>
                                        </p:tgtEl>
                                        <p:attrNameLst>
                                          <p:attrName>style.opacity</p:attrName>
                                        </p:attrNameLst>
                                      </p:cBhvr>
                                      <p:to>
                                        <p:strVal val="1"/>
                                      </p:to>
                                    </p:set>
                                    <p:animEffect filter="image" prLst="opacity: 1">
                                      <p:cBhvr rctx="IE">
                                        <p:cTn id="180" dur="400" fill="hold"/>
                                        <p:tgtEl>
                                          <p:spTgt spid="30"/>
                                        </p:tgtEl>
                                      </p:cBhvr>
                                    </p:animEffect>
                                  </p:childTnLst>
                                </p:cTn>
                              </p:par>
                              <p:par>
                                <p:cTn id="181" presetID="9" presetClass="emph" presetSubtype="0" fill="hold" grpId="0" nodeType="withEffect">
                                  <p:stCondLst>
                                    <p:cond delay="0"/>
                                  </p:stCondLst>
                                  <p:childTnLst>
                                    <p:set>
                                      <p:cBhvr>
                                        <p:cTn id="182" dur="400" fill="hold"/>
                                        <p:tgtEl>
                                          <p:spTgt spid="31"/>
                                        </p:tgtEl>
                                        <p:attrNameLst>
                                          <p:attrName>style.opacity</p:attrName>
                                        </p:attrNameLst>
                                      </p:cBhvr>
                                      <p:to>
                                        <p:strVal val="1"/>
                                      </p:to>
                                    </p:set>
                                    <p:animEffect filter="image" prLst="opacity: 1">
                                      <p:cBhvr rctx="IE">
                                        <p:cTn id="183" dur="400" fill="hold"/>
                                        <p:tgtEl>
                                          <p:spTgt spid="31"/>
                                        </p:tgtEl>
                                      </p:cBhvr>
                                    </p:animEffect>
                                  </p:childTnLst>
                                </p:cTn>
                              </p:par>
                              <p:par>
                                <p:cTn id="184" presetID="9" presetClass="emph" presetSubtype="0" fill="hold" nodeType="withEffect">
                                  <p:stCondLst>
                                    <p:cond delay="0"/>
                                  </p:stCondLst>
                                  <p:childTnLst>
                                    <p:set>
                                      <p:cBhvr>
                                        <p:cTn id="185" dur="400" fill="hold"/>
                                        <p:tgtEl>
                                          <p:spTgt spid="32"/>
                                        </p:tgtEl>
                                        <p:attrNameLst>
                                          <p:attrName>style.opacity</p:attrName>
                                        </p:attrNameLst>
                                      </p:cBhvr>
                                      <p:to>
                                        <p:strVal val="1"/>
                                      </p:to>
                                    </p:set>
                                    <p:animEffect filter="image" prLst="opacity: 1">
                                      <p:cBhvr rctx="IE">
                                        <p:cTn id="186" dur="400" fill="hold"/>
                                        <p:tgtEl>
                                          <p:spTgt spid="32"/>
                                        </p:tgtEl>
                                      </p:cBhvr>
                                    </p:animEffect>
                                  </p:childTnLst>
                                </p:cTn>
                              </p:par>
                              <p:par>
                                <p:cTn id="187" presetID="9" presetClass="emph" presetSubtype="0" fill="hold" grpId="0" nodeType="withEffect">
                                  <p:stCondLst>
                                    <p:cond delay="0"/>
                                  </p:stCondLst>
                                  <p:childTnLst>
                                    <p:set>
                                      <p:cBhvr>
                                        <p:cTn id="188" dur="400" fill="hold"/>
                                        <p:tgtEl>
                                          <p:spTgt spid="33"/>
                                        </p:tgtEl>
                                        <p:attrNameLst>
                                          <p:attrName>style.opacity</p:attrName>
                                        </p:attrNameLst>
                                      </p:cBhvr>
                                      <p:to>
                                        <p:strVal val="1"/>
                                      </p:to>
                                    </p:set>
                                    <p:animEffect filter="image" prLst="opacity: 1">
                                      <p:cBhvr rctx="IE">
                                        <p:cTn id="189" dur="400" fill="hold"/>
                                        <p:tgtEl>
                                          <p:spTgt spid="33"/>
                                        </p:tgtEl>
                                      </p:cBhvr>
                                    </p:animEffect>
                                  </p:childTnLst>
                                </p:cTn>
                              </p:par>
                              <p:par>
                                <p:cTn id="190" presetID="9" presetClass="emph" presetSubtype="0" fill="hold" grpId="0" nodeType="withEffect">
                                  <p:stCondLst>
                                    <p:cond delay="0"/>
                                  </p:stCondLst>
                                  <p:childTnLst>
                                    <p:set>
                                      <p:cBhvr>
                                        <p:cTn id="191" dur="400" fill="hold"/>
                                        <p:tgtEl>
                                          <p:spTgt spid="34"/>
                                        </p:tgtEl>
                                        <p:attrNameLst>
                                          <p:attrName>style.opacity</p:attrName>
                                        </p:attrNameLst>
                                      </p:cBhvr>
                                      <p:to>
                                        <p:strVal val="1"/>
                                      </p:to>
                                    </p:set>
                                    <p:animEffect filter="image" prLst="opacity: 1">
                                      <p:cBhvr rctx="IE">
                                        <p:cTn id="192" dur="400" fill="hold"/>
                                        <p:tgtEl>
                                          <p:spTgt spid="34"/>
                                        </p:tgtEl>
                                      </p:cBhvr>
                                    </p:animEffect>
                                  </p:childTnLst>
                                </p:cTn>
                              </p:par>
                              <p:par>
                                <p:cTn id="193" presetID="9" presetClass="emph" presetSubtype="0" fill="hold" grpId="0" nodeType="withEffect">
                                  <p:stCondLst>
                                    <p:cond delay="0"/>
                                  </p:stCondLst>
                                  <p:childTnLst>
                                    <p:set>
                                      <p:cBhvr>
                                        <p:cTn id="194" dur="400" fill="hold"/>
                                        <p:tgtEl>
                                          <p:spTgt spid="25"/>
                                        </p:tgtEl>
                                        <p:attrNameLst>
                                          <p:attrName>style.opacity</p:attrName>
                                        </p:attrNameLst>
                                      </p:cBhvr>
                                      <p:to>
                                        <p:strVal val="0.25"/>
                                      </p:to>
                                    </p:set>
                                    <p:animEffect filter="image" prLst="opacity: 0.25">
                                      <p:cBhvr rctx="IE">
                                        <p:cTn id="195" dur="400" fill="hold"/>
                                        <p:tgtEl>
                                          <p:spTgt spid="25"/>
                                        </p:tgtEl>
                                      </p:cBhvr>
                                    </p:animEffect>
                                  </p:childTnLst>
                                </p:cTn>
                              </p:par>
                              <p:par>
                                <p:cTn id="196" presetID="9" presetClass="emph" presetSubtype="0" fill="hold" grpId="0" nodeType="withEffect">
                                  <p:stCondLst>
                                    <p:cond delay="0"/>
                                  </p:stCondLst>
                                  <p:childTnLst>
                                    <p:set>
                                      <p:cBhvr>
                                        <p:cTn id="197" dur="400" fill="hold"/>
                                        <p:tgtEl>
                                          <p:spTgt spid="26"/>
                                        </p:tgtEl>
                                        <p:attrNameLst>
                                          <p:attrName>style.opacity</p:attrName>
                                        </p:attrNameLst>
                                      </p:cBhvr>
                                      <p:to>
                                        <p:strVal val="0.25"/>
                                      </p:to>
                                    </p:set>
                                    <p:animEffect filter="image" prLst="opacity: 0.25">
                                      <p:cBhvr rctx="IE">
                                        <p:cTn id="198" dur="400" fill="hold"/>
                                        <p:tgtEl>
                                          <p:spTgt spid="26"/>
                                        </p:tgtEl>
                                      </p:cBhvr>
                                    </p:animEffect>
                                  </p:childTnLst>
                                </p:cTn>
                              </p:par>
                              <p:par>
                                <p:cTn id="199" presetID="9" presetClass="emph" presetSubtype="0" fill="hold" nodeType="withEffect">
                                  <p:stCondLst>
                                    <p:cond delay="0"/>
                                  </p:stCondLst>
                                  <p:childTnLst>
                                    <p:set>
                                      <p:cBhvr>
                                        <p:cTn id="200" dur="400" fill="hold"/>
                                        <p:tgtEl>
                                          <p:spTgt spid="27"/>
                                        </p:tgtEl>
                                        <p:attrNameLst>
                                          <p:attrName>style.opacity</p:attrName>
                                        </p:attrNameLst>
                                      </p:cBhvr>
                                      <p:to>
                                        <p:strVal val="0.25"/>
                                      </p:to>
                                    </p:set>
                                    <p:animEffect filter="image" prLst="opacity: 0.25">
                                      <p:cBhvr rctx="IE">
                                        <p:cTn id="201" dur="400" fill="hold"/>
                                        <p:tgtEl>
                                          <p:spTgt spid="27"/>
                                        </p:tgtEl>
                                      </p:cBhvr>
                                    </p:animEffect>
                                  </p:childTnLst>
                                </p:cTn>
                              </p:par>
                              <p:par>
                                <p:cTn id="202" presetID="9" presetClass="emph" presetSubtype="0" fill="hold" grpId="0" nodeType="withEffect">
                                  <p:stCondLst>
                                    <p:cond delay="0"/>
                                  </p:stCondLst>
                                  <p:childTnLst>
                                    <p:set>
                                      <p:cBhvr>
                                        <p:cTn id="203" dur="400" fill="hold"/>
                                        <p:tgtEl>
                                          <p:spTgt spid="28"/>
                                        </p:tgtEl>
                                        <p:attrNameLst>
                                          <p:attrName>style.opacity</p:attrName>
                                        </p:attrNameLst>
                                      </p:cBhvr>
                                      <p:to>
                                        <p:strVal val="0.25"/>
                                      </p:to>
                                    </p:set>
                                    <p:animEffect filter="image" prLst="opacity: 0.25">
                                      <p:cBhvr rctx="IE">
                                        <p:cTn id="204" dur="400" fill="hold"/>
                                        <p:tgtEl>
                                          <p:spTgt spid="28"/>
                                        </p:tgtEl>
                                      </p:cBhvr>
                                    </p:animEffect>
                                  </p:childTnLst>
                                </p:cTn>
                              </p:par>
                              <p:par>
                                <p:cTn id="205" presetID="9" presetClass="emph" presetSubtype="0" fill="hold" grpId="0" nodeType="withEffect">
                                  <p:stCondLst>
                                    <p:cond delay="0"/>
                                  </p:stCondLst>
                                  <p:childTnLst>
                                    <p:set>
                                      <p:cBhvr>
                                        <p:cTn id="206" dur="400" fill="hold"/>
                                        <p:tgtEl>
                                          <p:spTgt spid="29"/>
                                        </p:tgtEl>
                                        <p:attrNameLst>
                                          <p:attrName>style.opacity</p:attrName>
                                        </p:attrNameLst>
                                      </p:cBhvr>
                                      <p:to>
                                        <p:strVal val="0.25"/>
                                      </p:to>
                                    </p:set>
                                    <p:animEffect filter="image" prLst="opacity: 0.25">
                                      <p:cBhvr rctx="IE">
                                        <p:cTn id="207" dur="400" fill="hold"/>
                                        <p:tgtEl>
                                          <p:spTgt spid="29"/>
                                        </p:tgtEl>
                                      </p:cBhvr>
                                    </p:animEffect>
                                  </p:childTnLst>
                                </p:cTn>
                              </p:par>
                            </p:childTnLst>
                          </p:cTn>
                        </p:par>
                      </p:childTnLst>
                    </p:cTn>
                  </p:par>
                  <p:par>
                    <p:cTn id="208" fill="hold">
                      <p:stCondLst>
                        <p:cond delay="indefinite"/>
                      </p:stCondLst>
                      <p:childTnLst>
                        <p:par>
                          <p:cTn id="209" fill="hold">
                            <p:stCondLst>
                              <p:cond delay="0"/>
                            </p:stCondLst>
                            <p:childTnLst>
                              <p:par>
                                <p:cTn id="210" presetID="9" presetClass="emph" presetSubtype="0" fill="hold" grpId="0" nodeType="clickEffect">
                                  <p:stCondLst>
                                    <p:cond delay="0"/>
                                  </p:stCondLst>
                                  <p:childTnLst>
                                    <p:set>
                                      <p:cBhvr>
                                        <p:cTn id="211" dur="400" fill="hold"/>
                                        <p:tgtEl>
                                          <p:spTgt spid="35"/>
                                        </p:tgtEl>
                                        <p:attrNameLst>
                                          <p:attrName>style.opacity</p:attrName>
                                        </p:attrNameLst>
                                      </p:cBhvr>
                                      <p:to>
                                        <p:strVal val="1"/>
                                      </p:to>
                                    </p:set>
                                    <p:animEffect filter="image" prLst="opacity: 1">
                                      <p:cBhvr rctx="IE">
                                        <p:cTn id="212" dur="400" fill="hold"/>
                                        <p:tgtEl>
                                          <p:spTgt spid="35"/>
                                        </p:tgtEl>
                                      </p:cBhvr>
                                    </p:animEffect>
                                  </p:childTnLst>
                                </p:cTn>
                              </p:par>
                              <p:par>
                                <p:cTn id="213" presetID="9" presetClass="emph" presetSubtype="0" fill="hold" grpId="0" nodeType="withEffect">
                                  <p:stCondLst>
                                    <p:cond delay="0"/>
                                  </p:stCondLst>
                                  <p:childTnLst>
                                    <p:set>
                                      <p:cBhvr>
                                        <p:cTn id="214" dur="400" fill="hold"/>
                                        <p:tgtEl>
                                          <p:spTgt spid="36"/>
                                        </p:tgtEl>
                                        <p:attrNameLst>
                                          <p:attrName>style.opacity</p:attrName>
                                        </p:attrNameLst>
                                      </p:cBhvr>
                                      <p:to>
                                        <p:strVal val="1"/>
                                      </p:to>
                                    </p:set>
                                    <p:animEffect filter="image" prLst="opacity: 1">
                                      <p:cBhvr rctx="IE">
                                        <p:cTn id="215" dur="400" fill="hold"/>
                                        <p:tgtEl>
                                          <p:spTgt spid="36"/>
                                        </p:tgtEl>
                                      </p:cBhvr>
                                    </p:animEffect>
                                  </p:childTnLst>
                                </p:cTn>
                              </p:par>
                              <p:par>
                                <p:cTn id="216" presetID="9" presetClass="emph" presetSubtype="0" fill="hold" nodeType="withEffect">
                                  <p:stCondLst>
                                    <p:cond delay="0"/>
                                  </p:stCondLst>
                                  <p:childTnLst>
                                    <p:set>
                                      <p:cBhvr>
                                        <p:cTn id="217" dur="400" fill="hold"/>
                                        <p:tgtEl>
                                          <p:spTgt spid="37"/>
                                        </p:tgtEl>
                                        <p:attrNameLst>
                                          <p:attrName>style.opacity</p:attrName>
                                        </p:attrNameLst>
                                      </p:cBhvr>
                                      <p:to>
                                        <p:strVal val="1"/>
                                      </p:to>
                                    </p:set>
                                    <p:animEffect filter="image" prLst="opacity: 1">
                                      <p:cBhvr rctx="IE">
                                        <p:cTn id="218" dur="400" fill="hold"/>
                                        <p:tgtEl>
                                          <p:spTgt spid="37"/>
                                        </p:tgtEl>
                                      </p:cBhvr>
                                    </p:animEffect>
                                  </p:childTnLst>
                                </p:cTn>
                              </p:par>
                              <p:par>
                                <p:cTn id="219" presetID="9" presetClass="emph" presetSubtype="0" fill="hold" grpId="0" nodeType="withEffect">
                                  <p:stCondLst>
                                    <p:cond delay="0"/>
                                  </p:stCondLst>
                                  <p:childTnLst>
                                    <p:set>
                                      <p:cBhvr>
                                        <p:cTn id="220" dur="400" fill="hold"/>
                                        <p:tgtEl>
                                          <p:spTgt spid="38"/>
                                        </p:tgtEl>
                                        <p:attrNameLst>
                                          <p:attrName>style.opacity</p:attrName>
                                        </p:attrNameLst>
                                      </p:cBhvr>
                                      <p:to>
                                        <p:strVal val="1"/>
                                      </p:to>
                                    </p:set>
                                    <p:animEffect filter="image" prLst="opacity: 1">
                                      <p:cBhvr rctx="IE">
                                        <p:cTn id="221" dur="400" fill="hold"/>
                                        <p:tgtEl>
                                          <p:spTgt spid="38"/>
                                        </p:tgtEl>
                                      </p:cBhvr>
                                    </p:animEffect>
                                  </p:childTnLst>
                                </p:cTn>
                              </p:par>
                              <p:par>
                                <p:cTn id="222" presetID="9" presetClass="emph" presetSubtype="0" fill="hold" grpId="0" nodeType="withEffect">
                                  <p:stCondLst>
                                    <p:cond delay="0"/>
                                  </p:stCondLst>
                                  <p:childTnLst>
                                    <p:set>
                                      <p:cBhvr>
                                        <p:cTn id="223" dur="400" fill="hold"/>
                                        <p:tgtEl>
                                          <p:spTgt spid="39"/>
                                        </p:tgtEl>
                                        <p:attrNameLst>
                                          <p:attrName>style.opacity</p:attrName>
                                        </p:attrNameLst>
                                      </p:cBhvr>
                                      <p:to>
                                        <p:strVal val="1"/>
                                      </p:to>
                                    </p:set>
                                    <p:animEffect filter="image" prLst="opacity: 1">
                                      <p:cBhvr rctx="IE">
                                        <p:cTn id="224" dur="400" fill="hold"/>
                                        <p:tgtEl>
                                          <p:spTgt spid="39"/>
                                        </p:tgtEl>
                                      </p:cBhvr>
                                    </p:animEffect>
                                  </p:childTnLst>
                                </p:cTn>
                              </p:par>
                              <p:par>
                                <p:cTn id="225" presetID="9" presetClass="emph" presetSubtype="0" fill="hold" grpId="0" nodeType="withEffect">
                                  <p:stCondLst>
                                    <p:cond delay="0"/>
                                  </p:stCondLst>
                                  <p:childTnLst>
                                    <p:set>
                                      <p:cBhvr>
                                        <p:cTn id="226" dur="400" fill="hold"/>
                                        <p:tgtEl>
                                          <p:spTgt spid="30"/>
                                        </p:tgtEl>
                                        <p:attrNameLst>
                                          <p:attrName>style.opacity</p:attrName>
                                        </p:attrNameLst>
                                      </p:cBhvr>
                                      <p:to>
                                        <p:strVal val="0.25"/>
                                      </p:to>
                                    </p:set>
                                    <p:animEffect filter="image" prLst="opacity: 0.25">
                                      <p:cBhvr rctx="IE">
                                        <p:cTn id="227" dur="400" fill="hold"/>
                                        <p:tgtEl>
                                          <p:spTgt spid="30"/>
                                        </p:tgtEl>
                                      </p:cBhvr>
                                    </p:animEffect>
                                  </p:childTnLst>
                                </p:cTn>
                              </p:par>
                              <p:par>
                                <p:cTn id="228" presetID="9" presetClass="emph" presetSubtype="0" fill="hold" grpId="0" nodeType="withEffect">
                                  <p:stCondLst>
                                    <p:cond delay="0"/>
                                  </p:stCondLst>
                                  <p:childTnLst>
                                    <p:set>
                                      <p:cBhvr>
                                        <p:cTn id="229" dur="400" fill="hold"/>
                                        <p:tgtEl>
                                          <p:spTgt spid="31"/>
                                        </p:tgtEl>
                                        <p:attrNameLst>
                                          <p:attrName>style.opacity</p:attrName>
                                        </p:attrNameLst>
                                      </p:cBhvr>
                                      <p:to>
                                        <p:strVal val="0.25"/>
                                      </p:to>
                                    </p:set>
                                    <p:animEffect filter="image" prLst="opacity: 0.25">
                                      <p:cBhvr rctx="IE">
                                        <p:cTn id="230" dur="400" fill="hold"/>
                                        <p:tgtEl>
                                          <p:spTgt spid="31"/>
                                        </p:tgtEl>
                                      </p:cBhvr>
                                    </p:animEffect>
                                  </p:childTnLst>
                                </p:cTn>
                              </p:par>
                              <p:par>
                                <p:cTn id="231" presetID="9" presetClass="emph" presetSubtype="0" fill="hold" nodeType="withEffect">
                                  <p:stCondLst>
                                    <p:cond delay="0"/>
                                  </p:stCondLst>
                                  <p:childTnLst>
                                    <p:set>
                                      <p:cBhvr>
                                        <p:cTn id="232" dur="400" fill="hold"/>
                                        <p:tgtEl>
                                          <p:spTgt spid="32"/>
                                        </p:tgtEl>
                                        <p:attrNameLst>
                                          <p:attrName>style.opacity</p:attrName>
                                        </p:attrNameLst>
                                      </p:cBhvr>
                                      <p:to>
                                        <p:strVal val="0.25"/>
                                      </p:to>
                                    </p:set>
                                    <p:animEffect filter="image" prLst="opacity: 0.25">
                                      <p:cBhvr rctx="IE">
                                        <p:cTn id="233" dur="400" fill="hold"/>
                                        <p:tgtEl>
                                          <p:spTgt spid="32"/>
                                        </p:tgtEl>
                                      </p:cBhvr>
                                    </p:animEffect>
                                  </p:childTnLst>
                                </p:cTn>
                              </p:par>
                              <p:par>
                                <p:cTn id="234" presetID="9" presetClass="emph" presetSubtype="0" fill="hold" grpId="0" nodeType="withEffect">
                                  <p:stCondLst>
                                    <p:cond delay="0"/>
                                  </p:stCondLst>
                                  <p:childTnLst>
                                    <p:set>
                                      <p:cBhvr>
                                        <p:cTn id="235" dur="400" fill="hold"/>
                                        <p:tgtEl>
                                          <p:spTgt spid="33"/>
                                        </p:tgtEl>
                                        <p:attrNameLst>
                                          <p:attrName>style.opacity</p:attrName>
                                        </p:attrNameLst>
                                      </p:cBhvr>
                                      <p:to>
                                        <p:strVal val="0.25"/>
                                      </p:to>
                                    </p:set>
                                    <p:animEffect filter="image" prLst="opacity: 0.25">
                                      <p:cBhvr rctx="IE">
                                        <p:cTn id="236" dur="400" fill="hold"/>
                                        <p:tgtEl>
                                          <p:spTgt spid="33"/>
                                        </p:tgtEl>
                                      </p:cBhvr>
                                    </p:animEffect>
                                  </p:childTnLst>
                                </p:cTn>
                              </p:par>
                              <p:par>
                                <p:cTn id="237" presetID="9" presetClass="emph" presetSubtype="0" fill="hold" grpId="0" nodeType="withEffect">
                                  <p:stCondLst>
                                    <p:cond delay="0"/>
                                  </p:stCondLst>
                                  <p:childTnLst>
                                    <p:set>
                                      <p:cBhvr>
                                        <p:cTn id="238" dur="400" fill="hold"/>
                                        <p:tgtEl>
                                          <p:spTgt spid="34"/>
                                        </p:tgtEl>
                                        <p:attrNameLst>
                                          <p:attrName>style.opacity</p:attrName>
                                        </p:attrNameLst>
                                      </p:cBhvr>
                                      <p:to>
                                        <p:strVal val="0.25"/>
                                      </p:to>
                                    </p:set>
                                    <p:animEffect filter="image" prLst="opacity: 0.25">
                                      <p:cBhvr rctx="IE">
                                        <p:cTn id="239" dur="400" fill="hold"/>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P spid="35" grpId="0" animBg="1"/>
      <p:bldP spid="36" grpId="0" animBg="1"/>
      <p:bldP spid="38" grpId="0" animBg="1"/>
      <p:bldP spid="3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Your toolbox</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35</a:t>
            </a:r>
            <a:endParaRPr lang="en-US" sz="1000" dirty="0"/>
          </a:p>
        </p:txBody>
      </p:sp>
      <p:sp>
        <p:nvSpPr>
          <p:cNvPr id="6" name="Shape 3"/>
          <p:cNvSpPr/>
          <p:nvPr/>
        </p:nvSpPr>
        <p:spPr>
          <a:xfrm>
            <a:off x="548640" y="1463040"/>
            <a:ext cx="2331720" cy="960120"/>
          </a:xfrm>
          <a:prstGeom prst="roundRect">
            <a:avLst>
              <a:gd name="adj" fmla="val 9524"/>
            </a:avLst>
          </a:prstGeom>
          <a:solidFill>
            <a:srgbClr val="17875A"/>
          </a:solidFill>
          <a:ln/>
        </p:spPr>
        <p:txBody>
          <a:bodyPr/>
          <a:lstStyle/>
          <a:p>
            <a:endParaRPr lang="en-US"/>
          </a:p>
        </p:txBody>
      </p:sp>
      <p:sp>
        <p:nvSpPr>
          <p:cNvPr id="7" name="Text 4"/>
          <p:cNvSpPr txBox="1"/>
          <p:nvPr/>
        </p:nvSpPr>
        <p:spPr>
          <a:xfrm>
            <a:off x="685800" y="146304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1  </a:t>
            </a:r>
            <a:r>
              <a:rPr lang="en-US" sz="1400" b="1" dirty="0">
                <a:solidFill>
                  <a:srgbClr val="FFFFFF"/>
                </a:solidFill>
                <a:latin typeface="Arial" pitchFamily="34" charset="0"/>
                <a:ea typeface="Arial" pitchFamily="34" charset="-122"/>
                <a:cs typeface="Arial" pitchFamily="34" charset="-120"/>
              </a:rPr>
              <a:t>The file system</a:t>
            </a:r>
            <a:endParaRPr lang="en-US" sz="2000" dirty="0"/>
          </a:p>
        </p:txBody>
      </p:sp>
      <p:sp>
        <p:nvSpPr>
          <p:cNvPr id="8" name="Shape 5"/>
          <p:cNvSpPr/>
          <p:nvPr/>
        </p:nvSpPr>
        <p:spPr>
          <a:xfrm>
            <a:off x="3017520" y="1463040"/>
            <a:ext cx="2011680" cy="960120"/>
          </a:xfrm>
          <a:prstGeom prst="roundRect">
            <a:avLst>
              <a:gd name="adj" fmla="val 9524"/>
            </a:avLst>
          </a:prstGeom>
          <a:solidFill>
            <a:srgbClr val="F1F5FB"/>
          </a:solidFill>
          <a:ln/>
        </p:spPr>
        <p:txBody>
          <a:bodyPr/>
          <a:lstStyle/>
          <a:p>
            <a:endParaRPr lang="en-US"/>
          </a:p>
        </p:txBody>
      </p:sp>
      <p:sp>
        <p:nvSpPr>
          <p:cNvPr id="9" name="Text 6"/>
          <p:cNvSpPr txBox="1"/>
          <p:nvPr/>
        </p:nvSpPr>
        <p:spPr>
          <a:xfrm>
            <a:off x="3154680"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pwd  cd  cd ..</a:t>
            </a:r>
            <a:endParaRPr lang="en-US" sz="1500" dirty="0"/>
          </a:p>
        </p:txBody>
      </p:sp>
      <p:sp>
        <p:nvSpPr>
          <p:cNvPr id="10" name="Text 7"/>
          <p:cNvSpPr txBox="1"/>
          <p:nvPr/>
        </p:nvSpPr>
        <p:spPr>
          <a:xfrm>
            <a:off x="3154680"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where am I? move</a:t>
            </a:r>
            <a:endParaRPr lang="en-US" sz="1300" dirty="0"/>
          </a:p>
        </p:txBody>
      </p:sp>
      <p:sp>
        <p:nvSpPr>
          <p:cNvPr id="11" name="Shape 8"/>
          <p:cNvSpPr/>
          <p:nvPr/>
        </p:nvSpPr>
        <p:spPr>
          <a:xfrm>
            <a:off x="5193792" y="1463040"/>
            <a:ext cx="2011680" cy="960120"/>
          </a:xfrm>
          <a:prstGeom prst="roundRect">
            <a:avLst>
              <a:gd name="adj" fmla="val 9524"/>
            </a:avLst>
          </a:prstGeom>
          <a:solidFill>
            <a:srgbClr val="F1F5FB"/>
          </a:solidFill>
          <a:ln/>
        </p:spPr>
        <p:txBody>
          <a:bodyPr/>
          <a:lstStyle/>
          <a:p>
            <a:endParaRPr lang="en-US"/>
          </a:p>
        </p:txBody>
      </p:sp>
      <p:sp>
        <p:nvSpPr>
          <p:cNvPr id="12" name="Text 9"/>
          <p:cNvSpPr txBox="1"/>
          <p:nvPr/>
        </p:nvSpPr>
        <p:spPr>
          <a:xfrm>
            <a:off x="5330952"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ls  ls -a</a:t>
            </a:r>
            <a:endParaRPr lang="en-US" sz="1500" dirty="0"/>
          </a:p>
        </p:txBody>
      </p:sp>
      <p:sp>
        <p:nvSpPr>
          <p:cNvPr id="13" name="Text 10"/>
          <p:cNvSpPr txBox="1"/>
          <p:nvPr/>
        </p:nvSpPr>
        <p:spPr>
          <a:xfrm>
            <a:off x="5330952"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look in folders</a:t>
            </a:r>
            <a:endParaRPr lang="en-US" sz="1300" dirty="0"/>
          </a:p>
        </p:txBody>
      </p:sp>
      <p:sp>
        <p:nvSpPr>
          <p:cNvPr id="14" name="Shape 11"/>
          <p:cNvSpPr/>
          <p:nvPr/>
        </p:nvSpPr>
        <p:spPr>
          <a:xfrm>
            <a:off x="7370064" y="1463040"/>
            <a:ext cx="2011680" cy="960120"/>
          </a:xfrm>
          <a:prstGeom prst="roundRect">
            <a:avLst>
              <a:gd name="adj" fmla="val 9524"/>
            </a:avLst>
          </a:prstGeom>
          <a:solidFill>
            <a:srgbClr val="F1F5FB"/>
          </a:solidFill>
          <a:ln/>
        </p:spPr>
        <p:txBody>
          <a:bodyPr/>
          <a:lstStyle/>
          <a:p>
            <a:endParaRPr lang="en-US"/>
          </a:p>
        </p:txBody>
      </p:sp>
      <p:sp>
        <p:nvSpPr>
          <p:cNvPr id="15" name="Text 12"/>
          <p:cNvSpPr txBox="1"/>
          <p:nvPr/>
        </p:nvSpPr>
        <p:spPr>
          <a:xfrm>
            <a:off x="7507224"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cat</a:t>
            </a:r>
            <a:endParaRPr lang="en-US" sz="1500" dirty="0"/>
          </a:p>
        </p:txBody>
      </p:sp>
      <p:sp>
        <p:nvSpPr>
          <p:cNvPr id="16" name="Text 13"/>
          <p:cNvSpPr txBox="1"/>
          <p:nvPr/>
        </p:nvSpPr>
        <p:spPr>
          <a:xfrm>
            <a:off x="7507224"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look in files</a:t>
            </a:r>
            <a:endParaRPr lang="en-US" sz="1300" dirty="0"/>
          </a:p>
        </p:txBody>
      </p:sp>
      <p:sp>
        <p:nvSpPr>
          <p:cNvPr id="17" name="Shape 14"/>
          <p:cNvSpPr/>
          <p:nvPr/>
        </p:nvSpPr>
        <p:spPr>
          <a:xfrm>
            <a:off x="9546336" y="1463040"/>
            <a:ext cx="2011680" cy="960120"/>
          </a:xfrm>
          <a:prstGeom prst="roundRect">
            <a:avLst>
              <a:gd name="adj" fmla="val 9524"/>
            </a:avLst>
          </a:prstGeom>
          <a:solidFill>
            <a:srgbClr val="F1F5FB"/>
          </a:solidFill>
          <a:ln/>
        </p:spPr>
        <p:txBody>
          <a:bodyPr/>
          <a:lstStyle/>
          <a:p>
            <a:endParaRPr lang="en-US"/>
          </a:p>
        </p:txBody>
      </p:sp>
      <p:sp>
        <p:nvSpPr>
          <p:cNvPr id="18" name="Text 15"/>
          <p:cNvSpPr txBox="1"/>
          <p:nvPr/>
        </p:nvSpPr>
        <p:spPr>
          <a:xfrm>
            <a:off x="9683496"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ls -l  chmod</a:t>
            </a:r>
            <a:endParaRPr lang="en-US" sz="1500" dirty="0"/>
          </a:p>
        </p:txBody>
      </p:sp>
      <p:sp>
        <p:nvSpPr>
          <p:cNvPr id="19" name="Text 16"/>
          <p:cNvSpPr txBox="1"/>
          <p:nvPr/>
        </p:nvSpPr>
        <p:spPr>
          <a:xfrm>
            <a:off x="9683496"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permissions</a:t>
            </a:r>
            <a:endParaRPr lang="en-US" sz="1300" dirty="0"/>
          </a:p>
        </p:txBody>
      </p:sp>
      <p:sp>
        <p:nvSpPr>
          <p:cNvPr id="20" name="Shape 17"/>
          <p:cNvSpPr/>
          <p:nvPr/>
        </p:nvSpPr>
        <p:spPr>
          <a:xfrm>
            <a:off x="548640" y="2560320"/>
            <a:ext cx="2331720" cy="960120"/>
          </a:xfrm>
          <a:prstGeom prst="roundRect">
            <a:avLst>
              <a:gd name="adj" fmla="val 9524"/>
            </a:avLst>
          </a:prstGeom>
          <a:solidFill>
            <a:srgbClr val="2A9FD6"/>
          </a:solidFill>
          <a:ln/>
        </p:spPr>
        <p:txBody>
          <a:bodyPr/>
          <a:lstStyle/>
          <a:p>
            <a:endParaRPr lang="en-US"/>
          </a:p>
        </p:txBody>
      </p:sp>
      <p:sp>
        <p:nvSpPr>
          <p:cNvPr id="21" name="Text 18"/>
          <p:cNvSpPr txBox="1"/>
          <p:nvPr/>
        </p:nvSpPr>
        <p:spPr>
          <a:xfrm>
            <a:off x="685800" y="256032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2  </a:t>
            </a:r>
            <a:r>
              <a:rPr lang="en-US" sz="1400" b="1" dirty="0">
                <a:solidFill>
                  <a:srgbClr val="FFFFFF"/>
                </a:solidFill>
                <a:latin typeface="Arial" pitchFamily="34" charset="0"/>
                <a:ea typeface="Arial" pitchFamily="34" charset="-122"/>
                <a:cs typeface="Arial" pitchFamily="34" charset="-120"/>
              </a:rPr>
              <a:t>Learning any command</a:t>
            </a:r>
            <a:endParaRPr lang="en-US" sz="2000" dirty="0"/>
          </a:p>
        </p:txBody>
      </p:sp>
      <p:sp>
        <p:nvSpPr>
          <p:cNvPr id="22" name="Shape 19"/>
          <p:cNvSpPr/>
          <p:nvPr/>
        </p:nvSpPr>
        <p:spPr>
          <a:xfrm>
            <a:off x="3017520" y="2560320"/>
            <a:ext cx="2011680" cy="960120"/>
          </a:xfrm>
          <a:prstGeom prst="roundRect">
            <a:avLst>
              <a:gd name="adj" fmla="val 9524"/>
            </a:avLst>
          </a:prstGeom>
          <a:solidFill>
            <a:srgbClr val="F1F5FB"/>
          </a:solidFill>
          <a:ln/>
        </p:spPr>
        <p:txBody>
          <a:bodyPr/>
          <a:lstStyle/>
          <a:p>
            <a:endParaRPr lang="en-US"/>
          </a:p>
        </p:txBody>
      </p:sp>
      <p:sp>
        <p:nvSpPr>
          <p:cNvPr id="23" name="Text 20"/>
          <p:cNvSpPr txBox="1"/>
          <p:nvPr/>
        </p:nvSpPr>
        <p:spPr>
          <a:xfrm>
            <a:off x="3154680" y="263347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--help</a:t>
            </a:r>
            <a:endParaRPr lang="en-US" sz="1500" dirty="0"/>
          </a:p>
        </p:txBody>
      </p:sp>
      <p:sp>
        <p:nvSpPr>
          <p:cNvPr id="24" name="Text 21"/>
          <p:cNvSpPr txBox="1"/>
          <p:nvPr/>
        </p:nvSpPr>
        <p:spPr>
          <a:xfrm>
            <a:off x="3154680" y="306324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learn any command</a:t>
            </a:r>
            <a:endParaRPr lang="en-US" sz="1300" dirty="0"/>
          </a:p>
        </p:txBody>
      </p:sp>
      <p:sp>
        <p:nvSpPr>
          <p:cNvPr id="25" name="Shape 22"/>
          <p:cNvSpPr/>
          <p:nvPr/>
        </p:nvSpPr>
        <p:spPr>
          <a:xfrm>
            <a:off x="5193792" y="2560320"/>
            <a:ext cx="2011680" cy="960120"/>
          </a:xfrm>
          <a:prstGeom prst="roundRect">
            <a:avLst>
              <a:gd name="adj" fmla="val 9524"/>
            </a:avLst>
          </a:prstGeom>
          <a:solidFill>
            <a:srgbClr val="F1F5FB"/>
          </a:solidFill>
          <a:ln/>
        </p:spPr>
        <p:txBody>
          <a:bodyPr/>
          <a:lstStyle/>
          <a:p>
            <a:endParaRPr lang="en-US"/>
          </a:p>
        </p:txBody>
      </p:sp>
      <p:sp>
        <p:nvSpPr>
          <p:cNvPr id="26" name="Text 23"/>
          <p:cNvSpPr txBox="1"/>
          <p:nvPr/>
        </p:nvSpPr>
        <p:spPr>
          <a:xfrm>
            <a:off x="5330952" y="263347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man  apropos</a:t>
            </a:r>
            <a:endParaRPr lang="en-US" sz="1500" dirty="0"/>
          </a:p>
        </p:txBody>
      </p:sp>
      <p:sp>
        <p:nvSpPr>
          <p:cNvPr id="27" name="Text 24"/>
          <p:cNvSpPr txBox="1"/>
          <p:nvPr/>
        </p:nvSpPr>
        <p:spPr>
          <a:xfrm>
            <a:off x="5330952" y="306324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manual; find by job</a:t>
            </a:r>
            <a:endParaRPr lang="en-US" sz="1300" dirty="0"/>
          </a:p>
        </p:txBody>
      </p:sp>
      <p:sp>
        <p:nvSpPr>
          <p:cNvPr id="28" name="Shape 25"/>
          <p:cNvSpPr/>
          <p:nvPr/>
        </p:nvSpPr>
        <p:spPr>
          <a:xfrm>
            <a:off x="7370064" y="2560320"/>
            <a:ext cx="2011680" cy="960120"/>
          </a:xfrm>
          <a:prstGeom prst="roundRect">
            <a:avLst>
              <a:gd name="adj" fmla="val 9524"/>
            </a:avLst>
          </a:prstGeom>
          <a:solidFill>
            <a:srgbClr val="F1F5FB"/>
          </a:solidFill>
          <a:ln/>
        </p:spPr>
        <p:txBody>
          <a:bodyPr/>
          <a:lstStyle/>
          <a:p>
            <a:endParaRPr lang="en-US"/>
          </a:p>
        </p:txBody>
      </p:sp>
      <p:sp>
        <p:nvSpPr>
          <p:cNvPr id="29" name="Text 26"/>
          <p:cNvSpPr txBox="1"/>
          <p:nvPr/>
        </p:nvSpPr>
        <p:spPr>
          <a:xfrm>
            <a:off x="7507224" y="263347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Tab</a:t>
            </a:r>
            <a:endParaRPr lang="en-US" sz="1500" dirty="0"/>
          </a:p>
        </p:txBody>
      </p:sp>
      <p:sp>
        <p:nvSpPr>
          <p:cNvPr id="30" name="Text 27"/>
          <p:cNvSpPr txBox="1"/>
          <p:nvPr/>
        </p:nvSpPr>
        <p:spPr>
          <a:xfrm>
            <a:off x="7507224" y="306324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finish names</a:t>
            </a:r>
            <a:endParaRPr lang="en-US" sz="1300" dirty="0"/>
          </a:p>
        </p:txBody>
      </p:sp>
      <p:sp>
        <p:nvSpPr>
          <p:cNvPr id="31" name="Shape 28"/>
          <p:cNvSpPr/>
          <p:nvPr/>
        </p:nvSpPr>
        <p:spPr>
          <a:xfrm>
            <a:off x="548640" y="3657600"/>
            <a:ext cx="2331720" cy="960120"/>
          </a:xfrm>
          <a:prstGeom prst="roundRect">
            <a:avLst>
              <a:gd name="adj" fmla="val 9524"/>
            </a:avLst>
          </a:prstGeom>
          <a:solidFill>
            <a:srgbClr val="7448D4"/>
          </a:solidFill>
          <a:ln/>
        </p:spPr>
        <p:txBody>
          <a:bodyPr/>
          <a:lstStyle/>
          <a:p>
            <a:endParaRPr lang="en-US"/>
          </a:p>
        </p:txBody>
      </p:sp>
      <p:sp>
        <p:nvSpPr>
          <p:cNvPr id="32" name="Text 29"/>
          <p:cNvSpPr txBox="1"/>
          <p:nvPr/>
        </p:nvSpPr>
        <p:spPr>
          <a:xfrm>
            <a:off x="685800" y="365760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3  </a:t>
            </a:r>
            <a:r>
              <a:rPr lang="en-US" sz="1400" b="1" dirty="0">
                <a:solidFill>
                  <a:srgbClr val="FFFFFF"/>
                </a:solidFill>
                <a:latin typeface="Arial" pitchFamily="34" charset="0"/>
                <a:ea typeface="Arial" pitchFamily="34" charset="-122"/>
                <a:cs typeface="Arial" pitchFamily="34" charset="-120"/>
              </a:rPr>
              <a:t>Searching</a:t>
            </a:r>
            <a:endParaRPr lang="en-US" sz="2000" dirty="0"/>
          </a:p>
        </p:txBody>
      </p:sp>
      <p:sp>
        <p:nvSpPr>
          <p:cNvPr id="33" name="Shape 30"/>
          <p:cNvSpPr/>
          <p:nvPr/>
        </p:nvSpPr>
        <p:spPr>
          <a:xfrm>
            <a:off x="3017520" y="3657600"/>
            <a:ext cx="2011680" cy="960120"/>
          </a:xfrm>
          <a:prstGeom prst="roundRect">
            <a:avLst>
              <a:gd name="adj" fmla="val 9524"/>
            </a:avLst>
          </a:prstGeom>
          <a:solidFill>
            <a:srgbClr val="F1F5FB"/>
          </a:solidFill>
          <a:ln/>
        </p:spPr>
        <p:txBody>
          <a:bodyPr/>
          <a:lstStyle/>
          <a:p>
            <a:endParaRPr lang="en-US"/>
          </a:p>
        </p:txBody>
      </p:sp>
      <p:sp>
        <p:nvSpPr>
          <p:cNvPr id="34" name="Text 31"/>
          <p:cNvSpPr txBox="1"/>
          <p:nvPr/>
        </p:nvSpPr>
        <p:spPr>
          <a:xfrm>
            <a:off x="3154680"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find</a:t>
            </a:r>
            <a:endParaRPr lang="en-US" sz="1500" dirty="0"/>
          </a:p>
        </p:txBody>
      </p:sp>
      <p:sp>
        <p:nvSpPr>
          <p:cNvPr id="35" name="Text 32"/>
          <p:cNvSpPr txBox="1"/>
          <p:nvPr/>
        </p:nvSpPr>
        <p:spPr>
          <a:xfrm>
            <a:off x="3154680"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search by name</a:t>
            </a:r>
            <a:endParaRPr lang="en-US" sz="1300" dirty="0"/>
          </a:p>
        </p:txBody>
      </p:sp>
      <p:sp>
        <p:nvSpPr>
          <p:cNvPr id="36" name="Shape 33"/>
          <p:cNvSpPr/>
          <p:nvPr/>
        </p:nvSpPr>
        <p:spPr>
          <a:xfrm>
            <a:off x="5193792" y="3657600"/>
            <a:ext cx="2011680" cy="960120"/>
          </a:xfrm>
          <a:prstGeom prst="roundRect">
            <a:avLst>
              <a:gd name="adj" fmla="val 9524"/>
            </a:avLst>
          </a:prstGeom>
          <a:solidFill>
            <a:srgbClr val="F1F5FB"/>
          </a:solidFill>
          <a:ln/>
        </p:spPr>
        <p:txBody>
          <a:bodyPr/>
          <a:lstStyle/>
          <a:p>
            <a:endParaRPr lang="en-US"/>
          </a:p>
        </p:txBody>
      </p:sp>
      <p:sp>
        <p:nvSpPr>
          <p:cNvPr id="37" name="Text 34"/>
          <p:cNvSpPr txBox="1"/>
          <p:nvPr/>
        </p:nvSpPr>
        <p:spPr>
          <a:xfrm>
            <a:off x="5330952"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grep</a:t>
            </a:r>
            <a:endParaRPr lang="en-US" sz="1500" dirty="0"/>
          </a:p>
        </p:txBody>
      </p:sp>
      <p:sp>
        <p:nvSpPr>
          <p:cNvPr id="38" name="Text 35"/>
          <p:cNvSpPr txBox="1"/>
          <p:nvPr/>
        </p:nvSpPr>
        <p:spPr>
          <a:xfrm>
            <a:off x="5330952"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search inside</a:t>
            </a:r>
            <a:endParaRPr lang="en-US" sz="1300" dirty="0"/>
          </a:p>
        </p:txBody>
      </p:sp>
      <p:sp>
        <p:nvSpPr>
          <p:cNvPr id="39" name="Shape 36"/>
          <p:cNvSpPr/>
          <p:nvPr/>
        </p:nvSpPr>
        <p:spPr>
          <a:xfrm>
            <a:off x="7370064" y="3657600"/>
            <a:ext cx="2011680" cy="960120"/>
          </a:xfrm>
          <a:prstGeom prst="roundRect">
            <a:avLst>
              <a:gd name="adj" fmla="val 9524"/>
            </a:avLst>
          </a:prstGeom>
          <a:solidFill>
            <a:srgbClr val="F1F5FB"/>
          </a:solidFill>
          <a:ln/>
        </p:spPr>
        <p:txBody>
          <a:bodyPr/>
          <a:lstStyle/>
          <a:p>
            <a:endParaRPr lang="en-US"/>
          </a:p>
        </p:txBody>
      </p:sp>
      <p:sp>
        <p:nvSpPr>
          <p:cNvPr id="40" name="Text 37"/>
          <p:cNvSpPr txBox="1"/>
          <p:nvPr/>
        </p:nvSpPr>
        <p:spPr>
          <a:xfrm>
            <a:off x="7507224"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head  wc  |</a:t>
            </a:r>
            <a:endParaRPr lang="en-US" sz="1500" dirty="0"/>
          </a:p>
        </p:txBody>
      </p:sp>
      <p:sp>
        <p:nvSpPr>
          <p:cNvPr id="41" name="Text 38"/>
          <p:cNvSpPr txBox="1"/>
          <p:nvPr/>
        </p:nvSpPr>
        <p:spPr>
          <a:xfrm>
            <a:off x="7507224"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peek, count, chain</a:t>
            </a:r>
            <a:endParaRPr lang="en-US" sz="1300" dirty="0"/>
          </a:p>
        </p:txBody>
      </p:sp>
      <p:sp>
        <p:nvSpPr>
          <p:cNvPr id="42" name="Shape 39"/>
          <p:cNvSpPr/>
          <p:nvPr/>
        </p:nvSpPr>
        <p:spPr>
          <a:xfrm>
            <a:off x="9546336" y="3657600"/>
            <a:ext cx="2011680" cy="960120"/>
          </a:xfrm>
          <a:prstGeom prst="roundRect">
            <a:avLst>
              <a:gd name="adj" fmla="val 9524"/>
            </a:avLst>
          </a:prstGeom>
          <a:solidFill>
            <a:srgbClr val="F1F5FB"/>
          </a:solidFill>
          <a:ln/>
        </p:spPr>
        <p:txBody>
          <a:bodyPr/>
          <a:lstStyle/>
          <a:p>
            <a:endParaRPr lang="en-US"/>
          </a:p>
        </p:txBody>
      </p:sp>
      <p:sp>
        <p:nvSpPr>
          <p:cNvPr id="43" name="Text 40"/>
          <p:cNvSpPr txBox="1"/>
          <p:nvPr/>
        </p:nvSpPr>
        <p:spPr>
          <a:xfrm>
            <a:off x="9683496"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sort  uniq  cut</a:t>
            </a:r>
            <a:endParaRPr lang="en-US" sz="1500" dirty="0"/>
          </a:p>
        </p:txBody>
      </p:sp>
      <p:sp>
        <p:nvSpPr>
          <p:cNvPr id="44" name="Text 41"/>
          <p:cNvSpPr txBox="1"/>
          <p:nvPr/>
        </p:nvSpPr>
        <p:spPr>
          <a:xfrm>
            <a:off x="9683496"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sort, count, slice</a:t>
            </a:r>
            <a:endParaRPr lang="en-US" sz="1300" dirty="0"/>
          </a:p>
        </p:txBody>
      </p:sp>
      <p:sp>
        <p:nvSpPr>
          <p:cNvPr id="45" name="Shape 42"/>
          <p:cNvSpPr/>
          <p:nvPr/>
        </p:nvSpPr>
        <p:spPr>
          <a:xfrm>
            <a:off x="548640" y="4754880"/>
            <a:ext cx="2331720" cy="960120"/>
          </a:xfrm>
          <a:prstGeom prst="roundRect">
            <a:avLst>
              <a:gd name="adj" fmla="val 9524"/>
            </a:avLst>
          </a:prstGeom>
          <a:solidFill>
            <a:srgbClr val="E8820C"/>
          </a:solidFill>
          <a:ln/>
        </p:spPr>
        <p:txBody>
          <a:bodyPr/>
          <a:lstStyle/>
          <a:p>
            <a:endParaRPr lang="en-US"/>
          </a:p>
        </p:txBody>
      </p:sp>
      <p:sp>
        <p:nvSpPr>
          <p:cNvPr id="46" name="Text 43"/>
          <p:cNvSpPr txBox="1"/>
          <p:nvPr/>
        </p:nvSpPr>
        <p:spPr>
          <a:xfrm>
            <a:off x="685800" y="475488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4  </a:t>
            </a:r>
            <a:r>
              <a:rPr lang="en-US" sz="1400" b="1" dirty="0">
                <a:solidFill>
                  <a:srgbClr val="FFFFFF"/>
                </a:solidFill>
                <a:latin typeface="Arial" pitchFamily="34" charset="0"/>
                <a:ea typeface="Arial" pitchFamily="34" charset="-122"/>
                <a:cs typeface="Arial" pitchFamily="34" charset="-120"/>
              </a:rPr>
              <a:t>Data and secrets</a:t>
            </a:r>
            <a:endParaRPr lang="en-US" sz="2000" dirty="0"/>
          </a:p>
        </p:txBody>
      </p:sp>
      <p:sp>
        <p:nvSpPr>
          <p:cNvPr id="47" name="Shape 44"/>
          <p:cNvSpPr/>
          <p:nvPr/>
        </p:nvSpPr>
        <p:spPr>
          <a:xfrm>
            <a:off x="3017520" y="4754880"/>
            <a:ext cx="2011680" cy="960120"/>
          </a:xfrm>
          <a:prstGeom prst="roundRect">
            <a:avLst>
              <a:gd name="adj" fmla="val 9524"/>
            </a:avLst>
          </a:prstGeom>
          <a:solidFill>
            <a:srgbClr val="F1F5FB"/>
          </a:solidFill>
          <a:ln/>
        </p:spPr>
        <p:txBody>
          <a:bodyPr/>
          <a:lstStyle/>
          <a:p>
            <a:endParaRPr lang="en-US"/>
          </a:p>
        </p:txBody>
      </p:sp>
      <p:sp>
        <p:nvSpPr>
          <p:cNvPr id="48" name="Text 45"/>
          <p:cNvSpPr txBox="1"/>
          <p:nvPr/>
        </p:nvSpPr>
        <p:spPr>
          <a:xfrm>
            <a:off x="3154680" y="482803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base64 -d</a:t>
            </a:r>
            <a:endParaRPr lang="en-US" sz="1500" dirty="0"/>
          </a:p>
        </p:txBody>
      </p:sp>
      <p:sp>
        <p:nvSpPr>
          <p:cNvPr id="49" name="Text 46"/>
          <p:cNvSpPr txBox="1"/>
          <p:nvPr/>
        </p:nvSpPr>
        <p:spPr>
          <a:xfrm>
            <a:off x="3154680" y="525780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decode</a:t>
            </a:r>
            <a:endParaRPr lang="en-US" sz="1300" dirty="0"/>
          </a:p>
        </p:txBody>
      </p:sp>
      <p:sp>
        <p:nvSpPr>
          <p:cNvPr id="50" name="Shape 47"/>
          <p:cNvSpPr/>
          <p:nvPr/>
        </p:nvSpPr>
        <p:spPr>
          <a:xfrm>
            <a:off x="5193792" y="4754880"/>
            <a:ext cx="2011680" cy="960120"/>
          </a:xfrm>
          <a:prstGeom prst="roundRect">
            <a:avLst>
              <a:gd name="adj" fmla="val 9524"/>
            </a:avLst>
          </a:prstGeom>
          <a:solidFill>
            <a:srgbClr val="F1F5FB"/>
          </a:solidFill>
          <a:ln/>
        </p:spPr>
        <p:txBody>
          <a:bodyPr/>
          <a:lstStyle/>
          <a:p>
            <a:endParaRPr lang="en-US"/>
          </a:p>
        </p:txBody>
      </p:sp>
      <p:sp>
        <p:nvSpPr>
          <p:cNvPr id="51" name="Text 48"/>
          <p:cNvSpPr txBox="1"/>
          <p:nvPr/>
        </p:nvSpPr>
        <p:spPr>
          <a:xfrm>
            <a:off x="5330952" y="482803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 base64 -d</a:t>
            </a:r>
            <a:endParaRPr lang="en-US" sz="1500" dirty="0"/>
          </a:p>
        </p:txBody>
      </p:sp>
      <p:sp>
        <p:nvSpPr>
          <p:cNvPr id="52" name="Text 49"/>
          <p:cNvSpPr txBox="1"/>
          <p:nvPr/>
        </p:nvSpPr>
        <p:spPr>
          <a:xfrm>
            <a:off x="5330952" y="525780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peel more layers</a:t>
            </a:r>
            <a:endParaRPr lang="en-US" sz="13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36</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7448D4"/>
                </a:solidFill>
                <a:latin typeface="Arial" pitchFamily="34" charset="0"/>
                <a:ea typeface="Arial" pitchFamily="34" charset="-122"/>
                <a:cs typeface="Arial" pitchFamily="34" charset="-120"/>
              </a:rPr>
              <a:t>3</a:t>
            </a:r>
            <a:endParaRPr lang="en-US" sz="250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The competition</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Capture as many flags as fast as you can.</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./capture --all   # 10 flags, 2,700 points</a:t>
            </a:r>
            <a:endParaRPr lang="en-US" sz="200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How scoring works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37</a:t>
            </a:r>
            <a:endParaRPr lang="en-US" sz="1000" dirty="0"/>
          </a:p>
        </p:txBody>
      </p:sp>
      <p:sp>
        <p:nvSpPr>
          <p:cNvPr id="6" name="Shape 3"/>
          <p:cNvSpPr/>
          <p:nvPr/>
        </p:nvSpPr>
        <p:spPr>
          <a:xfrm>
            <a:off x="548640" y="1508760"/>
            <a:ext cx="2624328" cy="1828800"/>
          </a:xfrm>
          <a:prstGeom prst="roundRect">
            <a:avLst>
              <a:gd name="adj" fmla="val 6000"/>
            </a:avLst>
          </a:prstGeom>
          <a:solidFill>
            <a:srgbClr val="E2F5EC"/>
          </a:solidFill>
          <a:ln/>
        </p:spPr>
        <p:txBody>
          <a:bodyPr/>
          <a:lstStyle/>
          <a:p>
            <a:endParaRPr lang="en-US"/>
          </a:p>
        </p:txBody>
      </p:sp>
      <p:sp>
        <p:nvSpPr>
          <p:cNvPr id="7" name="Text 4"/>
          <p:cNvSpPr txBox="1"/>
          <p:nvPr/>
        </p:nvSpPr>
        <p:spPr>
          <a:xfrm>
            <a:off x="548640" y="1600200"/>
            <a:ext cx="2624328" cy="868680"/>
          </a:xfrm>
          <a:prstGeom prst="rect">
            <a:avLst/>
          </a:prstGeom>
          <a:noFill/>
          <a:ln/>
        </p:spPr>
        <p:txBody>
          <a:bodyPr wrap="square" lIns="0" tIns="0" rIns="0" bIns="0" rtlCol="0" anchor="ctr"/>
          <a:lstStyle/>
          <a:p>
            <a:pPr marL="0" indent="0" algn="ctr">
              <a:buNone/>
            </a:pPr>
            <a:r>
              <a:rPr lang="en-US" sz="4800" b="1" dirty="0">
                <a:solidFill>
                  <a:srgbClr val="12704B"/>
                </a:solidFill>
                <a:latin typeface="Arial" pitchFamily="34" charset="0"/>
                <a:ea typeface="Arial" pitchFamily="34" charset="-122"/>
                <a:cs typeface="Arial" pitchFamily="34" charset="-120"/>
              </a:rPr>
              <a:t>100</a:t>
            </a:r>
            <a:endParaRPr lang="en-US" sz="4800" dirty="0"/>
          </a:p>
        </p:txBody>
      </p:sp>
      <p:sp>
        <p:nvSpPr>
          <p:cNvPr id="8" name="Text 5"/>
          <p:cNvSpPr txBox="1"/>
          <p:nvPr/>
        </p:nvSpPr>
        <p:spPr>
          <a:xfrm>
            <a:off x="548640" y="2468880"/>
            <a:ext cx="2624328" cy="320040"/>
          </a:xfrm>
          <a:prstGeom prst="rect">
            <a:avLst/>
          </a:prstGeom>
          <a:noFill/>
          <a:ln/>
        </p:spPr>
        <p:txBody>
          <a:bodyPr wrap="square" lIns="0" tIns="0" rIns="0" bIns="0" rtlCol="0" anchor="ctr"/>
          <a:lstStyle/>
          <a:p>
            <a:pPr marL="0" indent="0" algn="ctr">
              <a:buNone/>
            </a:pPr>
            <a:r>
              <a:rPr lang="en-US" sz="1400" b="1" dirty="0">
                <a:solidFill>
                  <a:srgbClr val="12704B"/>
                </a:solidFill>
                <a:latin typeface="Calibri" pitchFamily="34" charset="0"/>
                <a:ea typeface="Calibri" pitchFamily="34" charset="-122"/>
                <a:cs typeface="Calibri" pitchFamily="34" charset="-120"/>
              </a:rPr>
              <a:t>EASY  ·  points</a:t>
            </a:r>
            <a:endParaRPr lang="en-US" sz="1400" dirty="0"/>
          </a:p>
        </p:txBody>
      </p:sp>
      <p:sp>
        <p:nvSpPr>
          <p:cNvPr id="9" name="Text 6"/>
          <p:cNvSpPr txBox="1"/>
          <p:nvPr/>
        </p:nvSpPr>
        <p:spPr>
          <a:xfrm>
            <a:off x="548640" y="2834640"/>
            <a:ext cx="2624328" cy="320040"/>
          </a:xfrm>
          <a:prstGeom prst="rect">
            <a:avLst/>
          </a:prstGeom>
          <a:noFill/>
          <a:ln/>
        </p:spPr>
        <p:txBody>
          <a:bodyPr wrap="square" lIns="0" tIns="0" rIns="0" bIns="0" rtlCol="0" anchor="ctr"/>
          <a:lstStyle/>
          <a:p>
            <a:pPr marL="0" indent="0" algn="ctr">
              <a:buNone/>
            </a:pPr>
            <a:r>
              <a:rPr lang="en-US" sz="1300" dirty="0">
                <a:solidFill>
                  <a:srgbClr val="56657E"/>
                </a:solidFill>
                <a:latin typeface="Calibri" pitchFamily="34" charset="0"/>
                <a:ea typeface="Calibri" pitchFamily="34" charset="-122"/>
                <a:cs typeface="Calibri" pitchFamily="34" charset="-120"/>
              </a:rPr>
              <a:t>Missions 1, 2, 3</a:t>
            </a:r>
            <a:endParaRPr lang="en-US" sz="1300" dirty="0"/>
          </a:p>
        </p:txBody>
      </p:sp>
      <p:sp>
        <p:nvSpPr>
          <p:cNvPr id="10" name="Shape 7"/>
          <p:cNvSpPr/>
          <p:nvPr/>
        </p:nvSpPr>
        <p:spPr>
          <a:xfrm>
            <a:off x="3355848" y="1508760"/>
            <a:ext cx="2624328" cy="1828800"/>
          </a:xfrm>
          <a:prstGeom prst="roundRect">
            <a:avLst>
              <a:gd name="adj" fmla="val 6000"/>
            </a:avLst>
          </a:prstGeom>
          <a:solidFill>
            <a:srgbClr val="FFF4DE"/>
          </a:solidFill>
          <a:ln/>
        </p:spPr>
        <p:txBody>
          <a:bodyPr/>
          <a:lstStyle/>
          <a:p>
            <a:endParaRPr lang="en-US"/>
          </a:p>
        </p:txBody>
      </p:sp>
      <p:sp>
        <p:nvSpPr>
          <p:cNvPr id="11" name="Text 8"/>
          <p:cNvSpPr txBox="1"/>
          <p:nvPr/>
        </p:nvSpPr>
        <p:spPr>
          <a:xfrm>
            <a:off x="3355848" y="1600200"/>
            <a:ext cx="2624328" cy="868680"/>
          </a:xfrm>
          <a:prstGeom prst="rect">
            <a:avLst/>
          </a:prstGeom>
          <a:noFill/>
          <a:ln/>
        </p:spPr>
        <p:txBody>
          <a:bodyPr wrap="square" lIns="0" tIns="0" rIns="0" bIns="0" rtlCol="0" anchor="ctr"/>
          <a:lstStyle/>
          <a:p>
            <a:pPr marL="0" indent="0" algn="ctr">
              <a:buNone/>
            </a:pPr>
            <a:r>
              <a:rPr lang="en-US" sz="4800" b="1" dirty="0">
                <a:solidFill>
                  <a:srgbClr val="9A5B00"/>
                </a:solidFill>
                <a:latin typeface="Arial" pitchFamily="34" charset="0"/>
                <a:ea typeface="Arial" pitchFamily="34" charset="-122"/>
                <a:cs typeface="Arial" pitchFamily="34" charset="-120"/>
              </a:rPr>
              <a:t>200</a:t>
            </a:r>
            <a:endParaRPr lang="en-US" sz="4800" dirty="0"/>
          </a:p>
        </p:txBody>
      </p:sp>
      <p:sp>
        <p:nvSpPr>
          <p:cNvPr id="12" name="Text 9"/>
          <p:cNvSpPr txBox="1"/>
          <p:nvPr/>
        </p:nvSpPr>
        <p:spPr>
          <a:xfrm>
            <a:off x="3355848" y="2468880"/>
            <a:ext cx="2624328" cy="320040"/>
          </a:xfrm>
          <a:prstGeom prst="rect">
            <a:avLst/>
          </a:prstGeom>
          <a:noFill/>
          <a:ln/>
        </p:spPr>
        <p:txBody>
          <a:bodyPr wrap="square" lIns="0" tIns="0" rIns="0" bIns="0" rtlCol="0" anchor="ctr"/>
          <a:lstStyle/>
          <a:p>
            <a:pPr marL="0" indent="0" algn="ctr">
              <a:buNone/>
            </a:pPr>
            <a:r>
              <a:rPr lang="en-US" sz="1400" b="1" dirty="0">
                <a:solidFill>
                  <a:srgbClr val="9A5B00"/>
                </a:solidFill>
                <a:latin typeface="Calibri" pitchFamily="34" charset="0"/>
                <a:ea typeface="Calibri" pitchFamily="34" charset="-122"/>
                <a:cs typeface="Calibri" pitchFamily="34" charset="-120"/>
              </a:rPr>
              <a:t>MEDIUM  ·  points</a:t>
            </a:r>
            <a:endParaRPr lang="en-US" sz="1400" dirty="0"/>
          </a:p>
        </p:txBody>
      </p:sp>
      <p:sp>
        <p:nvSpPr>
          <p:cNvPr id="13" name="Text 10"/>
          <p:cNvSpPr txBox="1"/>
          <p:nvPr/>
        </p:nvSpPr>
        <p:spPr>
          <a:xfrm>
            <a:off x="3355848" y="2834640"/>
            <a:ext cx="2624328" cy="320040"/>
          </a:xfrm>
          <a:prstGeom prst="rect">
            <a:avLst/>
          </a:prstGeom>
          <a:noFill/>
          <a:ln/>
        </p:spPr>
        <p:txBody>
          <a:bodyPr wrap="square" lIns="0" tIns="0" rIns="0" bIns="0" rtlCol="0" anchor="ctr"/>
          <a:lstStyle/>
          <a:p>
            <a:pPr marL="0" indent="0" algn="ctr">
              <a:buNone/>
            </a:pPr>
            <a:r>
              <a:rPr lang="en-US" sz="1300" dirty="0">
                <a:solidFill>
                  <a:srgbClr val="56657E"/>
                </a:solidFill>
                <a:latin typeface="Calibri" pitchFamily="34" charset="0"/>
                <a:ea typeface="Calibri" pitchFamily="34" charset="-122"/>
                <a:cs typeface="Calibri" pitchFamily="34" charset="-120"/>
              </a:rPr>
              <a:t>Missions 4 to 7</a:t>
            </a:r>
            <a:endParaRPr lang="en-US" sz="1300" dirty="0"/>
          </a:p>
        </p:txBody>
      </p:sp>
      <p:sp>
        <p:nvSpPr>
          <p:cNvPr id="14" name="Shape 11"/>
          <p:cNvSpPr/>
          <p:nvPr/>
        </p:nvSpPr>
        <p:spPr>
          <a:xfrm>
            <a:off x="6163056" y="1508760"/>
            <a:ext cx="2624328" cy="1828800"/>
          </a:xfrm>
          <a:prstGeom prst="roundRect">
            <a:avLst>
              <a:gd name="adj" fmla="val 6000"/>
            </a:avLst>
          </a:prstGeom>
          <a:solidFill>
            <a:srgbClr val="FDE8EC"/>
          </a:solidFill>
          <a:ln/>
        </p:spPr>
        <p:txBody>
          <a:bodyPr/>
          <a:lstStyle/>
          <a:p>
            <a:endParaRPr lang="en-US"/>
          </a:p>
        </p:txBody>
      </p:sp>
      <p:sp>
        <p:nvSpPr>
          <p:cNvPr id="15" name="Text 12"/>
          <p:cNvSpPr txBox="1"/>
          <p:nvPr/>
        </p:nvSpPr>
        <p:spPr>
          <a:xfrm>
            <a:off x="6163056" y="1600200"/>
            <a:ext cx="2624328" cy="868680"/>
          </a:xfrm>
          <a:prstGeom prst="rect">
            <a:avLst/>
          </a:prstGeom>
          <a:noFill/>
          <a:ln/>
        </p:spPr>
        <p:txBody>
          <a:bodyPr wrap="square" lIns="0" tIns="0" rIns="0" bIns="0" rtlCol="0" anchor="ctr"/>
          <a:lstStyle/>
          <a:p>
            <a:pPr marL="0" indent="0" algn="ctr">
              <a:buNone/>
            </a:pPr>
            <a:r>
              <a:rPr lang="en-US" sz="4800" b="1" dirty="0">
                <a:solidFill>
                  <a:srgbClr val="B4233F"/>
                </a:solidFill>
                <a:latin typeface="Arial" pitchFamily="34" charset="0"/>
                <a:ea typeface="Arial" pitchFamily="34" charset="-122"/>
                <a:cs typeface="Arial" pitchFamily="34" charset="-120"/>
              </a:rPr>
              <a:t>400</a:t>
            </a:r>
            <a:endParaRPr lang="en-US" sz="4800" dirty="0"/>
          </a:p>
        </p:txBody>
      </p:sp>
      <p:sp>
        <p:nvSpPr>
          <p:cNvPr id="16" name="Text 13"/>
          <p:cNvSpPr txBox="1"/>
          <p:nvPr/>
        </p:nvSpPr>
        <p:spPr>
          <a:xfrm>
            <a:off x="6163056" y="2468880"/>
            <a:ext cx="2624328" cy="320040"/>
          </a:xfrm>
          <a:prstGeom prst="rect">
            <a:avLst/>
          </a:prstGeom>
          <a:noFill/>
          <a:ln/>
        </p:spPr>
        <p:txBody>
          <a:bodyPr wrap="square" lIns="0" tIns="0" rIns="0" bIns="0" rtlCol="0" anchor="ctr"/>
          <a:lstStyle/>
          <a:p>
            <a:pPr marL="0" indent="0" algn="ctr">
              <a:buNone/>
            </a:pPr>
            <a:r>
              <a:rPr lang="en-US" sz="1400" b="1" dirty="0">
                <a:solidFill>
                  <a:srgbClr val="B4233F"/>
                </a:solidFill>
                <a:latin typeface="Calibri" pitchFamily="34" charset="0"/>
                <a:ea typeface="Calibri" pitchFamily="34" charset="-122"/>
                <a:cs typeface="Calibri" pitchFamily="34" charset="-120"/>
              </a:rPr>
              <a:t>HARD  ·  points</a:t>
            </a:r>
            <a:endParaRPr lang="en-US" sz="1400" dirty="0"/>
          </a:p>
        </p:txBody>
      </p:sp>
      <p:sp>
        <p:nvSpPr>
          <p:cNvPr id="17" name="Text 14"/>
          <p:cNvSpPr txBox="1"/>
          <p:nvPr/>
        </p:nvSpPr>
        <p:spPr>
          <a:xfrm>
            <a:off x="6163056" y="2834640"/>
            <a:ext cx="2624328" cy="320040"/>
          </a:xfrm>
          <a:prstGeom prst="rect">
            <a:avLst/>
          </a:prstGeom>
          <a:noFill/>
          <a:ln/>
        </p:spPr>
        <p:txBody>
          <a:bodyPr wrap="square" lIns="0" tIns="0" rIns="0" bIns="0" rtlCol="0" anchor="ctr"/>
          <a:lstStyle/>
          <a:p>
            <a:pPr marL="0" indent="0" algn="ctr">
              <a:buNone/>
            </a:pPr>
            <a:r>
              <a:rPr lang="en-US" sz="1300" dirty="0">
                <a:solidFill>
                  <a:srgbClr val="56657E"/>
                </a:solidFill>
                <a:latin typeface="Calibri" pitchFamily="34" charset="0"/>
                <a:ea typeface="Calibri" pitchFamily="34" charset="-122"/>
                <a:cs typeface="Calibri" pitchFamily="34" charset="-120"/>
              </a:rPr>
              <a:t>Missions 8, 9</a:t>
            </a:r>
            <a:endParaRPr lang="en-US" sz="1300" dirty="0"/>
          </a:p>
        </p:txBody>
      </p:sp>
      <p:sp>
        <p:nvSpPr>
          <p:cNvPr id="18" name="Shape 15"/>
          <p:cNvSpPr/>
          <p:nvPr/>
        </p:nvSpPr>
        <p:spPr>
          <a:xfrm>
            <a:off x="8970264" y="1508760"/>
            <a:ext cx="2624328" cy="1828800"/>
          </a:xfrm>
          <a:prstGeom prst="roundRect">
            <a:avLst>
              <a:gd name="adj" fmla="val 6000"/>
            </a:avLst>
          </a:prstGeom>
          <a:solidFill>
            <a:srgbClr val="2A1430"/>
          </a:solidFill>
          <a:ln/>
        </p:spPr>
        <p:txBody>
          <a:bodyPr/>
          <a:lstStyle/>
          <a:p>
            <a:endParaRPr lang="en-US"/>
          </a:p>
        </p:txBody>
      </p:sp>
      <p:sp>
        <p:nvSpPr>
          <p:cNvPr id="19" name="Text 16"/>
          <p:cNvSpPr txBox="1"/>
          <p:nvPr/>
        </p:nvSpPr>
        <p:spPr>
          <a:xfrm>
            <a:off x="8970264" y="1600200"/>
            <a:ext cx="2624328" cy="868680"/>
          </a:xfrm>
          <a:prstGeom prst="rect">
            <a:avLst/>
          </a:prstGeom>
          <a:noFill/>
          <a:ln/>
        </p:spPr>
        <p:txBody>
          <a:bodyPr wrap="square" lIns="0" tIns="0" rIns="0" bIns="0" rtlCol="0" anchor="ctr"/>
          <a:lstStyle/>
          <a:p>
            <a:pPr marL="0" indent="0" algn="ctr">
              <a:buNone/>
            </a:pPr>
            <a:r>
              <a:rPr lang="en-US" sz="4800" b="1" dirty="0">
                <a:solidFill>
                  <a:srgbClr val="FF8FB1"/>
                </a:solidFill>
                <a:latin typeface="Arial" pitchFamily="34" charset="0"/>
                <a:ea typeface="Arial" pitchFamily="34" charset="-122"/>
                <a:cs typeface="Arial" pitchFamily="34" charset="-120"/>
              </a:rPr>
              <a:t>800</a:t>
            </a:r>
            <a:endParaRPr lang="en-US" sz="4800" dirty="0"/>
          </a:p>
        </p:txBody>
      </p:sp>
      <p:sp>
        <p:nvSpPr>
          <p:cNvPr id="20" name="Text 17"/>
          <p:cNvSpPr txBox="1"/>
          <p:nvPr/>
        </p:nvSpPr>
        <p:spPr>
          <a:xfrm>
            <a:off x="8970264" y="2468880"/>
            <a:ext cx="2624328" cy="320040"/>
          </a:xfrm>
          <a:prstGeom prst="rect">
            <a:avLst/>
          </a:prstGeom>
          <a:noFill/>
          <a:ln/>
        </p:spPr>
        <p:txBody>
          <a:bodyPr wrap="square" lIns="0" tIns="0" rIns="0" bIns="0" rtlCol="0" anchor="ctr"/>
          <a:lstStyle/>
          <a:p>
            <a:pPr marL="0" indent="0" algn="ctr">
              <a:buNone/>
            </a:pPr>
            <a:r>
              <a:rPr lang="en-US" sz="1400" b="1" dirty="0">
                <a:solidFill>
                  <a:srgbClr val="FF8FB1"/>
                </a:solidFill>
                <a:latin typeface="Calibri" pitchFamily="34" charset="0"/>
                <a:ea typeface="Calibri" pitchFamily="34" charset="-122"/>
                <a:cs typeface="Calibri" pitchFamily="34" charset="-120"/>
              </a:rPr>
              <a:t>VERY HARD  ·  points</a:t>
            </a:r>
            <a:endParaRPr lang="en-US" sz="1400" dirty="0"/>
          </a:p>
        </p:txBody>
      </p:sp>
      <p:sp>
        <p:nvSpPr>
          <p:cNvPr id="21" name="Text 18"/>
          <p:cNvSpPr txBox="1"/>
          <p:nvPr/>
        </p:nvSpPr>
        <p:spPr>
          <a:xfrm>
            <a:off x="8970264" y="2834640"/>
            <a:ext cx="2624328" cy="320040"/>
          </a:xfrm>
          <a:prstGeom prst="rect">
            <a:avLst/>
          </a:prstGeom>
          <a:noFill/>
          <a:ln/>
        </p:spPr>
        <p:txBody>
          <a:bodyPr wrap="square" lIns="0" tIns="0" rIns="0" bIns="0" rtlCol="0" anchor="ctr"/>
          <a:lstStyle/>
          <a:p>
            <a:pPr marL="0" indent="0" algn="ctr">
              <a:buNone/>
            </a:pPr>
            <a:r>
              <a:rPr lang="en-US" sz="1300" dirty="0">
                <a:solidFill>
                  <a:srgbClr val="F3C6D4"/>
                </a:solidFill>
                <a:latin typeface="Calibri" pitchFamily="34" charset="0"/>
                <a:ea typeface="Calibri" pitchFamily="34" charset="-122"/>
                <a:cs typeface="Calibri" pitchFamily="34" charset="-120"/>
              </a:rPr>
              <a:t>Mission 10: Endgame</a:t>
            </a:r>
            <a:endParaRPr lang="en-US" sz="1300" dirty="0"/>
          </a:p>
        </p:txBody>
      </p:sp>
      <p:sp>
        <p:nvSpPr>
          <p:cNvPr id="22" name="Shape 19"/>
          <p:cNvSpPr/>
          <p:nvPr/>
        </p:nvSpPr>
        <p:spPr>
          <a:xfrm>
            <a:off x="548640" y="3611880"/>
            <a:ext cx="3566160" cy="2286000"/>
          </a:xfrm>
          <a:prstGeom prst="roundRect">
            <a:avLst>
              <a:gd name="adj" fmla="val 4000"/>
            </a:avLst>
          </a:prstGeom>
          <a:solidFill>
            <a:srgbClr val="F1F5FB"/>
          </a:solidFill>
          <a:ln/>
        </p:spPr>
        <p:txBody>
          <a:bodyPr/>
          <a:lstStyle/>
          <a:p>
            <a:endParaRPr lang="en-US"/>
          </a:p>
        </p:txBody>
      </p:sp>
      <p:sp>
        <p:nvSpPr>
          <p:cNvPr id="23" name="Shape 20"/>
          <p:cNvSpPr/>
          <p:nvPr/>
        </p:nvSpPr>
        <p:spPr>
          <a:xfrm>
            <a:off x="822960" y="3794760"/>
            <a:ext cx="685800" cy="685800"/>
          </a:xfrm>
          <a:prstGeom prst="ellipse">
            <a:avLst/>
          </a:prstGeom>
          <a:solidFill>
            <a:srgbClr val="2459D8"/>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994410" y="3966210"/>
            <a:ext cx="342900" cy="342900"/>
          </a:xfrm>
          <a:prstGeom prst="rect">
            <a:avLst/>
          </a:prstGeom>
        </p:spPr>
      </p:pic>
      <p:sp>
        <p:nvSpPr>
          <p:cNvPr id="25" name="Text 21"/>
          <p:cNvSpPr txBox="1"/>
          <p:nvPr/>
        </p:nvSpPr>
        <p:spPr>
          <a:xfrm>
            <a:off x="1691640" y="3840480"/>
            <a:ext cx="2331720" cy="594360"/>
          </a:xfrm>
          <a:prstGeom prst="rect">
            <a:avLst/>
          </a:prstGeom>
          <a:noFill/>
          <a:ln/>
        </p:spPr>
        <p:txBody>
          <a:bodyPr wrap="square" lIns="0" tIns="0" rIns="0" bIns="0" rtlCol="0" anchor="ctr"/>
          <a:lstStyle/>
          <a:p>
            <a:pPr marL="0" indent="0">
              <a:buNone/>
            </a:pPr>
            <a:r>
              <a:rPr lang="en-US" sz="1900" b="1" dirty="0">
                <a:solidFill>
                  <a:srgbClr val="12213A"/>
                </a:solidFill>
                <a:latin typeface="Calibri" pitchFamily="34" charset="0"/>
                <a:ea typeface="Calibri" pitchFamily="34" charset="-122"/>
                <a:cs typeface="Calibri" pitchFamily="34" charset="-120"/>
              </a:rPr>
              <a:t>The clock counts up</a:t>
            </a:r>
            <a:endParaRPr lang="en-US" sz="1900" dirty="0"/>
          </a:p>
        </p:txBody>
      </p:sp>
      <p:sp>
        <p:nvSpPr>
          <p:cNvPr id="26" name="Text 22"/>
          <p:cNvSpPr txBox="1"/>
          <p:nvPr/>
        </p:nvSpPr>
        <p:spPr>
          <a:xfrm>
            <a:off x="822960" y="4663440"/>
            <a:ext cx="3063240" cy="109728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It starts with Mission 1 and stops at your last flag. Nobody is cut off.</a:t>
            </a:r>
            <a:endParaRPr lang="en-US" sz="1500" dirty="0"/>
          </a:p>
        </p:txBody>
      </p:sp>
      <p:sp>
        <p:nvSpPr>
          <p:cNvPr id="27" name="Shape 23"/>
          <p:cNvSpPr/>
          <p:nvPr/>
        </p:nvSpPr>
        <p:spPr>
          <a:xfrm>
            <a:off x="4306824" y="3611880"/>
            <a:ext cx="3566160" cy="2286000"/>
          </a:xfrm>
          <a:prstGeom prst="roundRect">
            <a:avLst>
              <a:gd name="adj" fmla="val 4000"/>
            </a:avLst>
          </a:prstGeom>
          <a:solidFill>
            <a:srgbClr val="F1F5FB"/>
          </a:solidFill>
          <a:ln/>
        </p:spPr>
        <p:txBody>
          <a:bodyPr/>
          <a:lstStyle/>
          <a:p>
            <a:endParaRPr lang="en-US"/>
          </a:p>
        </p:txBody>
      </p:sp>
      <p:sp>
        <p:nvSpPr>
          <p:cNvPr id="28" name="Shape 24"/>
          <p:cNvSpPr/>
          <p:nvPr/>
        </p:nvSpPr>
        <p:spPr>
          <a:xfrm>
            <a:off x="4581144" y="3794760"/>
            <a:ext cx="685800" cy="685800"/>
          </a:xfrm>
          <a:prstGeom prst="ellipse">
            <a:avLst/>
          </a:prstGeom>
          <a:solidFill>
            <a:srgbClr val="F5A623"/>
          </a:solidFill>
          <a:ln/>
        </p:spPr>
        <p:txBody>
          <a:bodyPr/>
          <a:lstStyle/>
          <a:p>
            <a:endParaRPr lang="en-US"/>
          </a:p>
        </p:txBody>
      </p:sp>
      <p:pic>
        <p:nvPicPr>
          <p:cNvPr id="29" name="Image 1" descr="preencoded.png"/>
          <p:cNvPicPr>
            <a:picLocks noChangeAspect="1"/>
          </p:cNvPicPr>
          <p:nvPr/>
        </p:nvPicPr>
        <p:blipFill>
          <a:blip r:embed="rId4"/>
          <a:stretch>
            <a:fillRect/>
          </a:stretch>
        </p:blipFill>
        <p:spPr>
          <a:xfrm>
            <a:off x="4752594" y="3966210"/>
            <a:ext cx="342900" cy="342900"/>
          </a:xfrm>
          <a:prstGeom prst="rect">
            <a:avLst/>
          </a:prstGeom>
        </p:spPr>
      </p:pic>
      <p:sp>
        <p:nvSpPr>
          <p:cNvPr id="30" name="Text 25"/>
          <p:cNvSpPr txBox="1"/>
          <p:nvPr/>
        </p:nvSpPr>
        <p:spPr>
          <a:xfrm>
            <a:off x="5449824" y="3840480"/>
            <a:ext cx="2331720" cy="594360"/>
          </a:xfrm>
          <a:prstGeom prst="rect">
            <a:avLst/>
          </a:prstGeom>
          <a:noFill/>
          <a:ln/>
        </p:spPr>
        <p:txBody>
          <a:bodyPr wrap="square" lIns="0" tIns="0" rIns="0" bIns="0" rtlCol="0" anchor="ctr"/>
          <a:lstStyle/>
          <a:p>
            <a:pPr marL="0" indent="0">
              <a:buNone/>
            </a:pPr>
            <a:r>
              <a:rPr lang="en-US" sz="1900" b="1" dirty="0">
                <a:solidFill>
                  <a:srgbClr val="12213A"/>
                </a:solidFill>
                <a:latin typeface="Calibri" pitchFamily="34" charset="0"/>
                <a:ea typeface="Calibri" pitchFamily="34" charset="-122"/>
                <a:cs typeface="Calibri" pitchFamily="34" charset="-120"/>
              </a:rPr>
              <a:t>Most points wins</a:t>
            </a:r>
            <a:endParaRPr lang="en-US" sz="1900" dirty="0"/>
          </a:p>
        </p:txBody>
      </p:sp>
      <p:sp>
        <p:nvSpPr>
          <p:cNvPr id="31" name="Text 26"/>
          <p:cNvSpPr txBox="1"/>
          <p:nvPr/>
        </p:nvSpPr>
        <p:spPr>
          <a:xfrm>
            <a:off x="4581144" y="4663440"/>
            <a:ext cx="3063240" cy="109728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Tie on points? The faster time wins.</a:t>
            </a:r>
            <a:endParaRPr lang="en-US" sz="1500" dirty="0"/>
          </a:p>
        </p:txBody>
      </p:sp>
      <p:sp>
        <p:nvSpPr>
          <p:cNvPr id="32" name="Shape 27"/>
          <p:cNvSpPr/>
          <p:nvPr/>
        </p:nvSpPr>
        <p:spPr>
          <a:xfrm>
            <a:off x="8065008" y="3611880"/>
            <a:ext cx="3566160" cy="2286000"/>
          </a:xfrm>
          <a:prstGeom prst="roundRect">
            <a:avLst>
              <a:gd name="adj" fmla="val 4000"/>
            </a:avLst>
          </a:prstGeom>
          <a:solidFill>
            <a:srgbClr val="F1F5FB"/>
          </a:solidFill>
          <a:ln/>
        </p:spPr>
        <p:txBody>
          <a:bodyPr/>
          <a:lstStyle/>
          <a:p>
            <a:endParaRPr lang="en-US"/>
          </a:p>
        </p:txBody>
      </p:sp>
      <p:sp>
        <p:nvSpPr>
          <p:cNvPr id="33" name="Shape 28"/>
          <p:cNvSpPr/>
          <p:nvPr/>
        </p:nvSpPr>
        <p:spPr>
          <a:xfrm>
            <a:off x="8339328" y="3794760"/>
            <a:ext cx="685800" cy="685800"/>
          </a:xfrm>
          <a:prstGeom prst="ellipse">
            <a:avLst/>
          </a:prstGeom>
          <a:solidFill>
            <a:srgbClr val="17875A"/>
          </a:solidFill>
          <a:ln/>
        </p:spPr>
        <p:txBody>
          <a:bodyPr/>
          <a:lstStyle/>
          <a:p>
            <a:endParaRPr lang="en-US"/>
          </a:p>
        </p:txBody>
      </p:sp>
      <p:pic>
        <p:nvPicPr>
          <p:cNvPr id="34" name="Image 2" descr="preencoded.png"/>
          <p:cNvPicPr>
            <a:picLocks noChangeAspect="1"/>
          </p:cNvPicPr>
          <p:nvPr/>
        </p:nvPicPr>
        <p:blipFill>
          <a:blip r:embed="rId5"/>
          <a:stretch>
            <a:fillRect/>
          </a:stretch>
        </p:blipFill>
        <p:spPr>
          <a:xfrm>
            <a:off x="8510778" y="3966210"/>
            <a:ext cx="342900" cy="342900"/>
          </a:xfrm>
          <a:prstGeom prst="rect">
            <a:avLst/>
          </a:prstGeom>
        </p:spPr>
      </p:pic>
      <p:sp>
        <p:nvSpPr>
          <p:cNvPr id="35" name="Text 29"/>
          <p:cNvSpPr txBox="1"/>
          <p:nvPr/>
        </p:nvSpPr>
        <p:spPr>
          <a:xfrm>
            <a:off x="9208008" y="3840480"/>
            <a:ext cx="2331720" cy="594360"/>
          </a:xfrm>
          <a:prstGeom prst="rect">
            <a:avLst/>
          </a:prstGeom>
          <a:noFill/>
          <a:ln/>
        </p:spPr>
        <p:txBody>
          <a:bodyPr wrap="square" lIns="0" tIns="0" rIns="0" bIns="0" rtlCol="0" anchor="ctr"/>
          <a:lstStyle/>
          <a:p>
            <a:pPr marL="0" indent="0">
              <a:buNone/>
            </a:pPr>
            <a:r>
              <a:rPr lang="en-US" sz="1900" b="1" dirty="0">
                <a:solidFill>
                  <a:srgbClr val="12213A"/>
                </a:solidFill>
                <a:latin typeface="Calibri" pitchFamily="34" charset="0"/>
                <a:ea typeface="Calibri" pitchFamily="34" charset="-122"/>
                <a:cs typeface="Calibri" pitchFamily="34" charset="-120"/>
              </a:rPr>
              <a:t>Hints cost 5%</a:t>
            </a:r>
            <a:endParaRPr lang="en-US" sz="1900" dirty="0"/>
          </a:p>
        </p:txBody>
      </p:sp>
      <p:sp>
        <p:nvSpPr>
          <p:cNvPr id="36" name="Text 30"/>
          <p:cNvSpPr txBox="1"/>
          <p:nvPr/>
        </p:nvSpPr>
        <p:spPr>
          <a:xfrm>
            <a:off x="8339328" y="4663440"/>
            <a:ext cx="3063240" cy="109728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Of that mission's points, per hint, charged once. Wrong flags cost nothing.</a:t>
            </a:r>
            <a:endParaRPr lang="en-US" sz="1500"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The capture routine, every single time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38</a:t>
            </a:r>
            <a:endParaRPr lang="en-US" sz="1000" dirty="0"/>
          </a:p>
        </p:txBody>
      </p:sp>
      <p:sp>
        <p:nvSpPr>
          <p:cNvPr id="6" name="Shape 3"/>
          <p:cNvSpPr/>
          <p:nvPr/>
        </p:nvSpPr>
        <p:spPr>
          <a:xfrm>
            <a:off x="548640" y="1600200"/>
            <a:ext cx="2011680" cy="3200400"/>
          </a:xfrm>
          <a:prstGeom prst="roundRect">
            <a:avLst>
              <a:gd name="adj" fmla="val 4545"/>
            </a:avLst>
          </a:prstGeom>
          <a:solidFill>
            <a:srgbClr val="F1F5FB"/>
          </a:solidFill>
          <a:ln/>
        </p:spPr>
        <p:txBody>
          <a:bodyPr/>
          <a:lstStyle/>
          <a:p>
            <a:endParaRPr lang="en-US"/>
          </a:p>
        </p:txBody>
      </p:sp>
      <p:sp>
        <p:nvSpPr>
          <p:cNvPr id="7" name="Shape 4"/>
          <p:cNvSpPr/>
          <p:nvPr/>
        </p:nvSpPr>
        <p:spPr>
          <a:xfrm>
            <a:off x="1097280" y="1828800"/>
            <a:ext cx="914400" cy="914400"/>
          </a:xfrm>
          <a:prstGeom prst="ellipse">
            <a:avLst/>
          </a:prstGeom>
          <a:solidFill>
            <a:srgbClr val="2A9FD6"/>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325880" y="2057400"/>
            <a:ext cx="457200" cy="457200"/>
          </a:xfrm>
          <a:prstGeom prst="rect">
            <a:avLst/>
          </a:prstGeom>
        </p:spPr>
      </p:pic>
      <p:sp>
        <p:nvSpPr>
          <p:cNvPr id="9" name="Text 5"/>
          <p:cNvSpPr txBox="1"/>
          <p:nvPr/>
        </p:nvSpPr>
        <p:spPr>
          <a:xfrm>
            <a:off x="685800"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Read</a:t>
            </a:r>
            <a:endParaRPr lang="en-US" sz="2400" dirty="0"/>
          </a:p>
        </p:txBody>
      </p:sp>
      <p:sp>
        <p:nvSpPr>
          <p:cNvPr id="10" name="Text 6"/>
          <p:cNvSpPr txBox="1"/>
          <p:nvPr/>
        </p:nvSpPr>
        <p:spPr>
          <a:xfrm>
            <a:off x="731520"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the sidebar, or cat README.txt.</a:t>
            </a:r>
            <a:endParaRPr lang="en-US" sz="1500" dirty="0"/>
          </a:p>
        </p:txBody>
      </p:sp>
      <p:sp>
        <p:nvSpPr>
          <p:cNvPr id="11" name="Text 7"/>
          <p:cNvSpPr txBox="1"/>
          <p:nvPr/>
        </p:nvSpPr>
        <p:spPr>
          <a:xfrm>
            <a:off x="2560320"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2" name="Shape 8"/>
          <p:cNvSpPr/>
          <p:nvPr/>
        </p:nvSpPr>
        <p:spPr>
          <a:xfrm>
            <a:off x="2816352" y="1600200"/>
            <a:ext cx="2011680" cy="3200400"/>
          </a:xfrm>
          <a:prstGeom prst="roundRect">
            <a:avLst>
              <a:gd name="adj" fmla="val 4545"/>
            </a:avLst>
          </a:prstGeom>
          <a:solidFill>
            <a:srgbClr val="F1F5FB"/>
          </a:solidFill>
          <a:ln/>
        </p:spPr>
        <p:txBody>
          <a:bodyPr/>
          <a:lstStyle/>
          <a:p>
            <a:endParaRPr lang="en-US"/>
          </a:p>
        </p:txBody>
      </p:sp>
      <p:sp>
        <p:nvSpPr>
          <p:cNvPr id="13" name="Shape 9"/>
          <p:cNvSpPr/>
          <p:nvPr/>
        </p:nvSpPr>
        <p:spPr>
          <a:xfrm>
            <a:off x="3364992" y="1828800"/>
            <a:ext cx="914400" cy="914400"/>
          </a:xfrm>
          <a:prstGeom prst="ellipse">
            <a:avLst/>
          </a:prstGeom>
          <a:solidFill>
            <a:srgbClr val="2459D8"/>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593592" y="2057400"/>
            <a:ext cx="457200" cy="457200"/>
          </a:xfrm>
          <a:prstGeom prst="rect">
            <a:avLst/>
          </a:prstGeom>
        </p:spPr>
      </p:pic>
      <p:sp>
        <p:nvSpPr>
          <p:cNvPr id="15" name="Text 10"/>
          <p:cNvSpPr txBox="1"/>
          <p:nvPr/>
        </p:nvSpPr>
        <p:spPr>
          <a:xfrm>
            <a:off x="2953512"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Go</a:t>
            </a:r>
            <a:endParaRPr lang="en-US" sz="2400" dirty="0"/>
          </a:p>
        </p:txBody>
      </p:sp>
      <p:sp>
        <p:nvSpPr>
          <p:cNvPr id="16" name="Text 11"/>
          <p:cNvSpPr txBox="1"/>
          <p:nvPr/>
        </p:nvSpPr>
        <p:spPr>
          <a:xfrm>
            <a:off x="2999232"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into the mission folder: Copy, then paste.</a:t>
            </a:r>
            <a:endParaRPr lang="en-US" sz="1500" dirty="0"/>
          </a:p>
        </p:txBody>
      </p:sp>
      <p:sp>
        <p:nvSpPr>
          <p:cNvPr id="17" name="Text 12"/>
          <p:cNvSpPr txBox="1"/>
          <p:nvPr/>
        </p:nvSpPr>
        <p:spPr>
          <a:xfrm>
            <a:off x="4828032"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8" name="Shape 13"/>
          <p:cNvSpPr/>
          <p:nvPr/>
        </p:nvSpPr>
        <p:spPr>
          <a:xfrm>
            <a:off x="5084064" y="1600200"/>
            <a:ext cx="2011680" cy="3200400"/>
          </a:xfrm>
          <a:prstGeom prst="roundRect">
            <a:avLst>
              <a:gd name="adj" fmla="val 4545"/>
            </a:avLst>
          </a:prstGeom>
          <a:solidFill>
            <a:srgbClr val="F1F5FB"/>
          </a:solidFill>
          <a:ln/>
        </p:spPr>
        <p:txBody>
          <a:bodyPr/>
          <a:lstStyle/>
          <a:p>
            <a:endParaRPr lang="en-US"/>
          </a:p>
        </p:txBody>
      </p:sp>
      <p:sp>
        <p:nvSpPr>
          <p:cNvPr id="19" name="Shape 14"/>
          <p:cNvSpPr/>
          <p:nvPr/>
        </p:nvSpPr>
        <p:spPr>
          <a:xfrm>
            <a:off x="5632704" y="1828800"/>
            <a:ext cx="914400" cy="914400"/>
          </a:xfrm>
          <a:prstGeom prst="ellipse">
            <a:avLst/>
          </a:prstGeom>
          <a:solidFill>
            <a:srgbClr val="7448D4"/>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5861304" y="2057400"/>
            <a:ext cx="457200" cy="457200"/>
          </a:xfrm>
          <a:prstGeom prst="rect">
            <a:avLst/>
          </a:prstGeom>
        </p:spPr>
      </p:pic>
      <p:sp>
        <p:nvSpPr>
          <p:cNvPr id="21" name="Text 15"/>
          <p:cNvSpPr txBox="1"/>
          <p:nvPr/>
        </p:nvSpPr>
        <p:spPr>
          <a:xfrm>
            <a:off x="5221224"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Hunt</a:t>
            </a:r>
            <a:endParaRPr lang="en-US" sz="2400" dirty="0"/>
          </a:p>
        </p:txBody>
      </p:sp>
      <p:sp>
        <p:nvSpPr>
          <p:cNvPr id="22" name="Text 16"/>
          <p:cNvSpPr txBox="1"/>
          <p:nvPr/>
        </p:nvSpPr>
        <p:spPr>
          <a:xfrm>
            <a:off x="5266944"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with the tool that fits the clue.</a:t>
            </a:r>
            <a:endParaRPr lang="en-US" sz="1500" dirty="0"/>
          </a:p>
        </p:txBody>
      </p:sp>
      <p:sp>
        <p:nvSpPr>
          <p:cNvPr id="23" name="Text 17"/>
          <p:cNvSpPr txBox="1"/>
          <p:nvPr/>
        </p:nvSpPr>
        <p:spPr>
          <a:xfrm>
            <a:off x="7095744"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4" name="Shape 18"/>
          <p:cNvSpPr/>
          <p:nvPr/>
        </p:nvSpPr>
        <p:spPr>
          <a:xfrm>
            <a:off x="7351776" y="1600200"/>
            <a:ext cx="2011680" cy="3200400"/>
          </a:xfrm>
          <a:prstGeom prst="roundRect">
            <a:avLst>
              <a:gd name="adj" fmla="val 4545"/>
            </a:avLst>
          </a:prstGeom>
          <a:solidFill>
            <a:srgbClr val="F1F5FB"/>
          </a:solidFill>
          <a:ln/>
        </p:spPr>
        <p:txBody>
          <a:bodyPr/>
          <a:lstStyle/>
          <a:p>
            <a:endParaRPr lang="en-US"/>
          </a:p>
        </p:txBody>
      </p:sp>
      <p:sp>
        <p:nvSpPr>
          <p:cNvPr id="25" name="Shape 19"/>
          <p:cNvSpPr/>
          <p:nvPr/>
        </p:nvSpPr>
        <p:spPr>
          <a:xfrm>
            <a:off x="7900416" y="1828800"/>
            <a:ext cx="914400" cy="914400"/>
          </a:xfrm>
          <a:prstGeom prst="ellipse">
            <a:avLst/>
          </a:prstGeom>
          <a:solidFill>
            <a:srgbClr val="D1416B"/>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8129016" y="2057400"/>
            <a:ext cx="457200" cy="457200"/>
          </a:xfrm>
          <a:prstGeom prst="rect">
            <a:avLst/>
          </a:prstGeom>
        </p:spPr>
      </p:pic>
      <p:sp>
        <p:nvSpPr>
          <p:cNvPr id="27" name="Text 20"/>
          <p:cNvSpPr txBox="1"/>
          <p:nvPr/>
        </p:nvSpPr>
        <p:spPr>
          <a:xfrm>
            <a:off x="7488936"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Copy</a:t>
            </a:r>
            <a:endParaRPr lang="en-US" sz="2400" dirty="0"/>
          </a:p>
        </p:txBody>
      </p:sp>
      <p:sp>
        <p:nvSpPr>
          <p:cNvPr id="28" name="Text 21"/>
          <p:cNvSpPr txBox="1"/>
          <p:nvPr/>
        </p:nvSpPr>
        <p:spPr>
          <a:xfrm>
            <a:off x="7534656"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the whole flag, CYBA{ to }.</a:t>
            </a:r>
            <a:endParaRPr lang="en-US" sz="1500" dirty="0"/>
          </a:p>
        </p:txBody>
      </p:sp>
      <p:sp>
        <p:nvSpPr>
          <p:cNvPr id="29" name="Text 22"/>
          <p:cNvSpPr txBox="1"/>
          <p:nvPr/>
        </p:nvSpPr>
        <p:spPr>
          <a:xfrm>
            <a:off x="9363456"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30" name="Shape 23"/>
          <p:cNvSpPr/>
          <p:nvPr/>
        </p:nvSpPr>
        <p:spPr>
          <a:xfrm>
            <a:off x="9619488" y="1600200"/>
            <a:ext cx="2011680" cy="3200400"/>
          </a:xfrm>
          <a:prstGeom prst="roundRect">
            <a:avLst>
              <a:gd name="adj" fmla="val 4545"/>
            </a:avLst>
          </a:prstGeom>
          <a:solidFill>
            <a:srgbClr val="F1F5FB"/>
          </a:solidFill>
          <a:ln/>
        </p:spPr>
        <p:txBody>
          <a:bodyPr/>
          <a:lstStyle/>
          <a:p>
            <a:endParaRPr lang="en-US"/>
          </a:p>
        </p:txBody>
      </p:sp>
      <p:sp>
        <p:nvSpPr>
          <p:cNvPr id="31" name="Shape 24"/>
          <p:cNvSpPr/>
          <p:nvPr/>
        </p:nvSpPr>
        <p:spPr>
          <a:xfrm>
            <a:off x="10168128" y="1828800"/>
            <a:ext cx="914400" cy="914400"/>
          </a:xfrm>
          <a:prstGeom prst="ellipse">
            <a:avLst/>
          </a:prstGeom>
          <a:solidFill>
            <a:srgbClr val="17875A"/>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10396728" y="2057400"/>
            <a:ext cx="457200" cy="457200"/>
          </a:xfrm>
          <a:prstGeom prst="rect">
            <a:avLst/>
          </a:prstGeom>
        </p:spPr>
      </p:pic>
      <p:sp>
        <p:nvSpPr>
          <p:cNvPr id="33" name="Text 25"/>
          <p:cNvSpPr txBox="1"/>
          <p:nvPr/>
        </p:nvSpPr>
        <p:spPr>
          <a:xfrm>
            <a:off x="9756648"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Submit</a:t>
            </a:r>
            <a:endParaRPr lang="en-US" sz="2400" dirty="0"/>
          </a:p>
        </p:txBody>
      </p:sp>
      <p:sp>
        <p:nvSpPr>
          <p:cNvPr id="34" name="Text 26"/>
          <p:cNvSpPr txBox="1"/>
          <p:nvPr/>
        </p:nvSpPr>
        <p:spPr>
          <a:xfrm>
            <a:off x="9802368"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type submit, paste, Enter. Points!</a:t>
            </a:r>
            <a:endParaRPr lang="en-US" sz="1500" dirty="0"/>
          </a:p>
        </p:txBody>
      </p:sp>
      <p:sp>
        <p:nvSpPr>
          <p:cNvPr id="35" name="Shape 27"/>
          <p:cNvSpPr/>
          <p:nvPr/>
        </p:nvSpPr>
        <p:spPr>
          <a:xfrm>
            <a:off x="548640" y="5029200"/>
            <a:ext cx="11094415" cy="914400"/>
          </a:xfrm>
          <a:prstGeom prst="roundRect">
            <a:avLst>
              <a:gd name="adj" fmla="val 10000"/>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6" name="Shape 28"/>
          <p:cNvSpPr/>
          <p:nvPr/>
        </p:nvSpPr>
        <p:spPr>
          <a:xfrm>
            <a:off x="749808" y="5184648"/>
            <a:ext cx="118872" cy="118872"/>
          </a:xfrm>
          <a:prstGeom prst="ellipse">
            <a:avLst/>
          </a:prstGeom>
          <a:solidFill>
            <a:srgbClr val="E5534B"/>
          </a:solidFill>
          <a:ln/>
        </p:spPr>
        <p:txBody>
          <a:bodyPr/>
          <a:lstStyle/>
          <a:p>
            <a:endParaRPr lang="en-US"/>
          </a:p>
        </p:txBody>
      </p:sp>
      <p:sp>
        <p:nvSpPr>
          <p:cNvPr id="37" name="Shape 29"/>
          <p:cNvSpPr/>
          <p:nvPr/>
        </p:nvSpPr>
        <p:spPr>
          <a:xfrm>
            <a:off x="950976" y="5184648"/>
            <a:ext cx="118872" cy="118872"/>
          </a:xfrm>
          <a:prstGeom prst="ellipse">
            <a:avLst/>
          </a:prstGeom>
          <a:solidFill>
            <a:srgbClr val="F5A623"/>
          </a:solidFill>
          <a:ln/>
        </p:spPr>
        <p:txBody>
          <a:bodyPr/>
          <a:lstStyle/>
          <a:p>
            <a:endParaRPr lang="en-US"/>
          </a:p>
        </p:txBody>
      </p:sp>
      <p:sp>
        <p:nvSpPr>
          <p:cNvPr id="38" name="Shape 30"/>
          <p:cNvSpPr/>
          <p:nvPr/>
        </p:nvSpPr>
        <p:spPr>
          <a:xfrm>
            <a:off x="1152144" y="5184648"/>
            <a:ext cx="118872" cy="118872"/>
          </a:xfrm>
          <a:prstGeom prst="ellipse">
            <a:avLst/>
          </a:prstGeom>
          <a:solidFill>
            <a:srgbClr val="46D39A"/>
          </a:solidFill>
          <a:ln/>
        </p:spPr>
        <p:txBody>
          <a:bodyPr/>
          <a:lstStyle/>
          <a:p>
            <a:endParaRPr lang="en-US"/>
          </a:p>
        </p:txBody>
      </p:sp>
      <p:sp>
        <p:nvSpPr>
          <p:cNvPr id="39" name="Text 31"/>
          <p:cNvSpPr txBox="1"/>
          <p:nvPr/>
        </p:nvSpPr>
        <p:spPr>
          <a:xfrm>
            <a:off x="822960" y="5486400"/>
            <a:ext cx="10545775" cy="320040"/>
          </a:xfrm>
          <a:prstGeom prst="rect">
            <a:avLst/>
          </a:prstGeom>
          <a:noFill/>
          <a:ln/>
        </p:spPr>
        <p:txBody>
          <a:bodyPr wrap="square" lIns="0" tIns="0" rIns="0" bIns="0" rtlCol="0" anchor="t"/>
          <a:lstStyle/>
          <a:p>
            <a:pPr marL="0" indent="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submit CYBA{moves-4c8c640b}</a:t>
            </a:r>
            <a:r>
              <a:rPr lang="en-US" sz="1800" dirty="0">
                <a:solidFill>
                  <a:srgbClr val="7F8FAD"/>
                </a:solidFill>
                <a:latin typeface="Courier New" pitchFamily="34" charset="0"/>
                <a:ea typeface="Courier New" pitchFamily="34" charset="-122"/>
                <a:cs typeface="Courier New" pitchFamily="34" charset="-120"/>
              </a:rPr>
              <a:t>   # Correct! +100 points</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00"/>
                                        <p:tgtEl>
                                          <p:spTgt spid="25"/>
                                        </p:tgtEl>
                                      </p:cBhvr>
                                    </p:animEffect>
                                  </p:childTnLst>
                                </p:cTn>
                              </p:par>
                              <p:par>
                                <p:cTn id="71" presetID="10" presetClass="entr" presetSubtype="0" fill="hold"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0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0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400"/>
                                        <p:tgtEl>
                                          <p:spTgt spid="31"/>
                                        </p:tgtEl>
                                      </p:cBhvr>
                                    </p:animEffect>
                                  </p:childTnLst>
                                </p:cTn>
                              </p:par>
                              <p:par>
                                <p:cTn id="91" presetID="10" presetClass="entr" presetSubtype="0" fill="hold"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4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4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00"/>
                                        <p:tgtEl>
                                          <p:spTgt spid="34"/>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fade">
                                      <p:cBhvr>
                                        <p:cTn id="104" dur="400"/>
                                        <p:tgtEl>
                                          <p:spTgt spid="35"/>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6"/>
                                        </p:tgtEl>
                                        <p:attrNameLst>
                                          <p:attrName>style.visibility</p:attrName>
                                        </p:attrNameLst>
                                      </p:cBhvr>
                                      <p:to>
                                        <p:strVal val="visible"/>
                                      </p:to>
                                    </p:set>
                                    <p:animEffect transition="in" filter="fade">
                                      <p:cBhvr>
                                        <p:cTn id="107" dur="400"/>
                                        <p:tgtEl>
                                          <p:spTgt spid="36"/>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7"/>
                                        </p:tgtEl>
                                        <p:attrNameLst>
                                          <p:attrName>style.visibility</p:attrName>
                                        </p:attrNameLst>
                                      </p:cBhvr>
                                      <p:to>
                                        <p:strVal val="visible"/>
                                      </p:to>
                                    </p:set>
                                    <p:animEffect transition="in" filter="fade">
                                      <p:cBhvr>
                                        <p:cTn id="110" dur="400"/>
                                        <p:tgtEl>
                                          <p:spTgt spid="37"/>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8"/>
                                        </p:tgtEl>
                                        <p:attrNameLst>
                                          <p:attrName>style.visibility</p:attrName>
                                        </p:attrNameLst>
                                      </p:cBhvr>
                                      <p:to>
                                        <p:strVal val="visible"/>
                                      </p:to>
                                    </p:set>
                                    <p:animEffect transition="in" filter="fade">
                                      <p:cBhvr>
                                        <p:cTn id="113" dur="400"/>
                                        <p:tgtEl>
                                          <p:spTgt spid="38"/>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39"/>
                                        </p:tgtEl>
                                        <p:attrNameLst>
                                          <p:attrName>style.visibility</p:attrName>
                                        </p:attrNameLst>
                                      </p:cBhvr>
                                      <p:to>
                                        <p:strVal val="visible"/>
                                      </p:to>
                                    </p:set>
                                    <p:animEffect transition="in" filter="fade">
                                      <p:cBhvr>
                                        <p:cTn id="116"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38" grpId="0" animBg="1"/>
      <p:bldP spid="3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Anatomy of the competition page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502920" y="1463040"/>
            <a:ext cx="6675120" cy="3968496"/>
          </a:xfrm>
          <a:prstGeom prst="roundRect">
            <a:avLst>
              <a:gd name="adj" fmla="val 1382"/>
            </a:avLst>
          </a:prstGeom>
          <a:solidFill>
            <a:srgbClr val="FFFFFF"/>
          </a:solidFill>
          <a:ln w="19050">
            <a:solidFill>
              <a:srgbClr val="D6DEEA"/>
            </a:solidFill>
            <a:prstDash val="solid"/>
          </a:ln>
          <a:effectLst>
            <a:outerShdw blurRad="127000" dist="38100" dir="5400000" algn="bl" rotWithShape="0">
              <a:srgbClr val="12213A">
                <a:alpha val="15000"/>
              </a:srgbClr>
            </a:outerShdw>
          </a:effectLst>
        </p:spPr>
        <p:txBody>
          <a:bodyPr/>
          <a:lstStyle/>
          <a:p>
            <a:endParaRPr lang="en-US"/>
          </a:p>
        </p:txBody>
      </p:sp>
      <p:pic>
        <p:nvPicPr>
          <p:cNvPr id="7" name="Image 0" descr="/home/claude/cyberquest-ctf/slides/img/page.png"/>
          <p:cNvPicPr>
            <a:picLocks noChangeAspect="1"/>
          </p:cNvPicPr>
          <p:nvPr/>
        </p:nvPicPr>
        <p:blipFill>
          <a:blip r:embed="rId3"/>
          <a:stretch>
            <a:fillRect/>
          </a:stretch>
        </p:blipFill>
        <p:spPr>
          <a:xfrm>
            <a:off x="548640" y="1508760"/>
            <a:ext cx="6583680" cy="3872484"/>
          </a:xfrm>
          <a:prstGeom prst="rect">
            <a:avLst/>
          </a:prstGeom>
        </p:spPr>
      </p:pic>
      <p:sp>
        <p:nvSpPr>
          <p:cNvPr id="8" name="Shape 4"/>
          <p:cNvSpPr/>
          <p:nvPr/>
        </p:nvSpPr>
        <p:spPr>
          <a:xfrm>
            <a:off x="2239204" y="1437222"/>
            <a:ext cx="365760" cy="365760"/>
          </a:xfrm>
          <a:prstGeom prst="ellipse">
            <a:avLst/>
          </a:prstGeom>
          <a:solidFill>
            <a:srgbClr val="2A9FD6"/>
          </a:solidFill>
          <a:ln w="25400">
            <a:solidFill>
              <a:srgbClr val="FFFFFF"/>
            </a:solidFill>
            <a:prstDash val="solid"/>
          </a:ln>
        </p:spPr>
        <p:txBody>
          <a:bodyPr/>
          <a:lstStyle/>
          <a:p>
            <a:endParaRPr lang="en-US"/>
          </a:p>
        </p:txBody>
      </p:sp>
      <p:sp>
        <p:nvSpPr>
          <p:cNvPr id="9" name="Text 5"/>
          <p:cNvSpPr txBox="1"/>
          <p:nvPr/>
        </p:nvSpPr>
        <p:spPr>
          <a:xfrm>
            <a:off x="2239204" y="143722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Shape 6"/>
          <p:cNvSpPr/>
          <p:nvPr/>
        </p:nvSpPr>
        <p:spPr>
          <a:xfrm>
            <a:off x="4722607" y="1814815"/>
            <a:ext cx="365760" cy="365760"/>
          </a:xfrm>
          <a:prstGeom prst="ellipse">
            <a:avLst/>
          </a:prstGeom>
          <a:solidFill>
            <a:srgbClr val="F5A623"/>
          </a:solidFill>
          <a:ln w="25400">
            <a:solidFill>
              <a:srgbClr val="FFFFFF"/>
            </a:solidFill>
            <a:prstDash val="solid"/>
          </a:ln>
        </p:spPr>
        <p:txBody>
          <a:bodyPr/>
          <a:lstStyle/>
          <a:p>
            <a:endParaRPr lang="en-US"/>
          </a:p>
        </p:txBody>
      </p:sp>
      <p:sp>
        <p:nvSpPr>
          <p:cNvPr id="11" name="Text 7"/>
          <p:cNvSpPr txBox="1"/>
          <p:nvPr/>
        </p:nvSpPr>
        <p:spPr>
          <a:xfrm>
            <a:off x="4722607" y="181481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Shape 8"/>
          <p:cNvSpPr/>
          <p:nvPr/>
        </p:nvSpPr>
        <p:spPr>
          <a:xfrm>
            <a:off x="5477794" y="1814815"/>
            <a:ext cx="365760" cy="365760"/>
          </a:xfrm>
          <a:prstGeom prst="ellipse">
            <a:avLst/>
          </a:prstGeom>
          <a:solidFill>
            <a:srgbClr val="2459D8"/>
          </a:solidFill>
          <a:ln w="25400">
            <a:solidFill>
              <a:srgbClr val="FFFFFF"/>
            </a:solidFill>
            <a:prstDash val="solid"/>
          </a:ln>
        </p:spPr>
        <p:txBody>
          <a:bodyPr/>
          <a:lstStyle/>
          <a:p>
            <a:endParaRPr lang="en-US"/>
          </a:p>
        </p:txBody>
      </p:sp>
      <p:sp>
        <p:nvSpPr>
          <p:cNvPr id="13" name="Text 9"/>
          <p:cNvSpPr txBox="1"/>
          <p:nvPr/>
        </p:nvSpPr>
        <p:spPr>
          <a:xfrm>
            <a:off x="5477794" y="181481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Shape 10"/>
          <p:cNvSpPr/>
          <p:nvPr/>
        </p:nvSpPr>
        <p:spPr>
          <a:xfrm>
            <a:off x="5293838" y="2090749"/>
            <a:ext cx="365760" cy="365760"/>
          </a:xfrm>
          <a:prstGeom prst="ellipse">
            <a:avLst/>
          </a:prstGeom>
          <a:solidFill>
            <a:srgbClr val="17875A"/>
          </a:solidFill>
          <a:ln w="25400">
            <a:solidFill>
              <a:srgbClr val="FFFFFF"/>
            </a:solidFill>
            <a:prstDash val="solid"/>
          </a:ln>
        </p:spPr>
        <p:txBody>
          <a:bodyPr/>
          <a:lstStyle/>
          <a:p>
            <a:endParaRPr lang="en-US"/>
          </a:p>
        </p:txBody>
      </p:sp>
      <p:sp>
        <p:nvSpPr>
          <p:cNvPr id="15" name="Text 11"/>
          <p:cNvSpPr txBox="1"/>
          <p:nvPr/>
        </p:nvSpPr>
        <p:spPr>
          <a:xfrm>
            <a:off x="5293838" y="209074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6" name="Shape 12"/>
          <p:cNvSpPr/>
          <p:nvPr/>
        </p:nvSpPr>
        <p:spPr>
          <a:xfrm>
            <a:off x="5700477" y="2657139"/>
            <a:ext cx="365760" cy="365760"/>
          </a:xfrm>
          <a:prstGeom prst="ellipse">
            <a:avLst/>
          </a:prstGeom>
          <a:solidFill>
            <a:srgbClr val="D1416B"/>
          </a:solidFill>
          <a:ln w="25400">
            <a:solidFill>
              <a:srgbClr val="FFFFFF"/>
            </a:solidFill>
            <a:prstDash val="solid"/>
          </a:ln>
        </p:spPr>
        <p:txBody>
          <a:bodyPr/>
          <a:lstStyle/>
          <a:p>
            <a:endParaRPr lang="en-US"/>
          </a:p>
        </p:txBody>
      </p:sp>
      <p:sp>
        <p:nvSpPr>
          <p:cNvPr id="17" name="Text 13"/>
          <p:cNvSpPr txBox="1"/>
          <p:nvPr/>
        </p:nvSpPr>
        <p:spPr>
          <a:xfrm>
            <a:off x="5700477" y="265713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8" name="Shape 14"/>
          <p:cNvSpPr/>
          <p:nvPr/>
        </p:nvSpPr>
        <p:spPr>
          <a:xfrm>
            <a:off x="6533119" y="3620486"/>
            <a:ext cx="365760" cy="365760"/>
          </a:xfrm>
          <a:prstGeom prst="ellipse">
            <a:avLst/>
          </a:prstGeom>
          <a:solidFill>
            <a:srgbClr val="7448D4"/>
          </a:solidFill>
          <a:ln w="25400">
            <a:solidFill>
              <a:srgbClr val="FFFFFF"/>
            </a:solidFill>
            <a:prstDash val="solid"/>
          </a:ln>
        </p:spPr>
        <p:txBody>
          <a:bodyPr/>
          <a:lstStyle/>
          <a:p>
            <a:endParaRPr lang="en-US"/>
          </a:p>
        </p:txBody>
      </p:sp>
      <p:sp>
        <p:nvSpPr>
          <p:cNvPr id="19" name="Text 15"/>
          <p:cNvSpPr txBox="1"/>
          <p:nvPr/>
        </p:nvSpPr>
        <p:spPr>
          <a:xfrm>
            <a:off x="6533119" y="362048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0" name="Shape 16"/>
          <p:cNvSpPr/>
          <p:nvPr/>
        </p:nvSpPr>
        <p:spPr>
          <a:xfrm>
            <a:off x="2447365" y="3359075"/>
            <a:ext cx="365760" cy="365760"/>
          </a:xfrm>
          <a:prstGeom prst="ellipse">
            <a:avLst/>
          </a:prstGeom>
          <a:solidFill>
            <a:srgbClr val="56657E"/>
          </a:solidFill>
          <a:ln w="25400">
            <a:solidFill>
              <a:srgbClr val="FFFFFF"/>
            </a:solidFill>
            <a:prstDash val="solid"/>
          </a:ln>
        </p:spPr>
        <p:txBody>
          <a:bodyPr/>
          <a:lstStyle/>
          <a:p>
            <a:endParaRPr lang="en-US"/>
          </a:p>
        </p:txBody>
      </p:sp>
      <p:sp>
        <p:nvSpPr>
          <p:cNvPr id="21" name="Text 17"/>
          <p:cNvSpPr txBox="1"/>
          <p:nvPr/>
        </p:nvSpPr>
        <p:spPr>
          <a:xfrm>
            <a:off x="2447365" y="335907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2" name="Shape 18"/>
          <p:cNvSpPr/>
          <p:nvPr/>
        </p:nvSpPr>
        <p:spPr>
          <a:xfrm>
            <a:off x="6470187" y="4985632"/>
            <a:ext cx="365760" cy="365760"/>
          </a:xfrm>
          <a:prstGeom prst="ellipse">
            <a:avLst/>
          </a:prstGeom>
          <a:solidFill>
            <a:srgbClr val="2459D8"/>
          </a:solidFill>
          <a:ln w="25400">
            <a:solidFill>
              <a:srgbClr val="FFFFFF"/>
            </a:solidFill>
            <a:prstDash val="solid"/>
          </a:ln>
        </p:spPr>
        <p:txBody>
          <a:bodyPr/>
          <a:lstStyle/>
          <a:p>
            <a:endParaRPr lang="en-US"/>
          </a:p>
        </p:txBody>
      </p:sp>
      <p:sp>
        <p:nvSpPr>
          <p:cNvPr id="23" name="Text 19"/>
          <p:cNvSpPr txBox="1"/>
          <p:nvPr/>
        </p:nvSpPr>
        <p:spPr>
          <a:xfrm>
            <a:off x="6470187" y="49856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4" name="Text 20"/>
          <p:cNvSpPr txBox="1"/>
          <p:nvPr/>
        </p:nvSpPr>
        <p:spPr>
          <a:xfrm>
            <a:off x="548640" y="5577840"/>
            <a:ext cx="6400800" cy="320040"/>
          </a:xfrm>
          <a:prstGeom prst="rect">
            <a:avLst/>
          </a:prstGeom>
          <a:noFill/>
          <a:ln/>
        </p:spPr>
        <p:txBody>
          <a:bodyPr wrap="square" lIns="0" tIns="0" rIns="0" bIns="0" rtlCol="0" anchor="t"/>
          <a:lstStyle/>
          <a:p>
            <a:pPr marL="0" indent="0">
              <a:buNone/>
            </a:pPr>
            <a:r>
              <a:rPr lang="en-US" sz="1200" dirty="0">
                <a:solidFill>
                  <a:srgbClr val="56657E"/>
                </a:solidFill>
                <a:latin typeface="Calibri" pitchFamily="34" charset="0"/>
                <a:ea typeface="Calibri" pitchFamily="34" charset="-122"/>
                <a:cs typeface="Calibri" pitchFamily="34" charset="-120"/>
              </a:rPr>
              <a:t>Mid-game: warm-up and missions 1 and 2 captured, mission 3 open.</a:t>
            </a:r>
            <a:endParaRPr lang="en-US" sz="1200" dirty="0"/>
          </a:p>
        </p:txBody>
      </p:sp>
      <p:sp>
        <p:nvSpPr>
          <p:cNvPr id="25" name="Shape 21"/>
          <p:cNvSpPr/>
          <p:nvPr/>
        </p:nvSpPr>
        <p:spPr>
          <a:xfrm>
            <a:off x="7406640" y="1527048"/>
            <a:ext cx="329184" cy="329184"/>
          </a:xfrm>
          <a:prstGeom prst="ellipse">
            <a:avLst/>
          </a:prstGeom>
          <a:solidFill>
            <a:srgbClr val="2A9FD6"/>
          </a:solidFill>
          <a:ln/>
        </p:spPr>
        <p:txBody>
          <a:bodyPr/>
          <a:lstStyle/>
          <a:p>
            <a:endParaRPr lang="en-US"/>
          </a:p>
        </p:txBody>
      </p:sp>
      <p:sp>
        <p:nvSpPr>
          <p:cNvPr id="26" name="Text 22"/>
          <p:cNvSpPr txBox="1"/>
          <p:nvPr/>
        </p:nvSpPr>
        <p:spPr>
          <a:xfrm>
            <a:off x="7406640" y="15270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7" name="Text 23"/>
          <p:cNvSpPr txBox="1"/>
          <p:nvPr/>
        </p:nvSpPr>
        <p:spPr>
          <a:xfrm>
            <a:off x="7863840" y="148132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Progress track  </a:t>
            </a:r>
            <a:r>
              <a:rPr lang="en-US" sz="1300" dirty="0">
                <a:solidFill>
                  <a:srgbClr val="56657E"/>
                </a:solidFill>
                <a:latin typeface="Calibri" pitchFamily="34" charset="0"/>
                <a:ea typeface="Calibri" pitchFamily="34" charset="-122"/>
                <a:cs typeface="Calibri" pitchFamily="34" charset="-120"/>
              </a:rPr>
              <a:t>One coloured bar lights up per flag.</a:t>
            </a:r>
            <a:endParaRPr lang="en-US" sz="1600" dirty="0"/>
          </a:p>
        </p:txBody>
      </p:sp>
      <p:sp>
        <p:nvSpPr>
          <p:cNvPr id="28" name="Shape 24"/>
          <p:cNvSpPr/>
          <p:nvPr/>
        </p:nvSpPr>
        <p:spPr>
          <a:xfrm>
            <a:off x="7406640" y="2075688"/>
            <a:ext cx="329184" cy="329184"/>
          </a:xfrm>
          <a:prstGeom prst="ellipse">
            <a:avLst/>
          </a:prstGeom>
          <a:solidFill>
            <a:srgbClr val="F5A623"/>
          </a:solidFill>
          <a:ln/>
        </p:spPr>
        <p:txBody>
          <a:bodyPr/>
          <a:lstStyle/>
          <a:p>
            <a:endParaRPr lang="en-US"/>
          </a:p>
        </p:txBody>
      </p:sp>
      <p:sp>
        <p:nvSpPr>
          <p:cNvPr id="29" name="Text 25"/>
          <p:cNvSpPr txBox="1"/>
          <p:nvPr/>
        </p:nvSpPr>
        <p:spPr>
          <a:xfrm>
            <a:off x="7406640" y="20756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0" name="Text 26"/>
          <p:cNvSpPr txBox="1"/>
          <p:nvPr/>
        </p:nvSpPr>
        <p:spPr>
          <a:xfrm>
            <a:off x="7863840" y="202996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Points  </a:t>
            </a:r>
            <a:r>
              <a:rPr lang="en-US" sz="1300" dirty="0">
                <a:solidFill>
                  <a:srgbClr val="56657E"/>
                </a:solidFill>
                <a:latin typeface="Calibri" pitchFamily="34" charset="0"/>
                <a:ea typeface="Calibri" pitchFamily="34" charset="-122"/>
                <a:cs typeface="Calibri" pitchFamily="34" charset="-120"/>
              </a:rPr>
              <a:t>Your score, out of 2,800 with both warm-ups.</a:t>
            </a:r>
            <a:endParaRPr lang="en-US" sz="1600" dirty="0"/>
          </a:p>
        </p:txBody>
      </p:sp>
      <p:sp>
        <p:nvSpPr>
          <p:cNvPr id="31" name="Shape 27"/>
          <p:cNvSpPr/>
          <p:nvPr/>
        </p:nvSpPr>
        <p:spPr>
          <a:xfrm>
            <a:off x="7406640" y="2624328"/>
            <a:ext cx="329184" cy="329184"/>
          </a:xfrm>
          <a:prstGeom prst="ellipse">
            <a:avLst/>
          </a:prstGeom>
          <a:solidFill>
            <a:srgbClr val="2459D8"/>
          </a:solidFill>
          <a:ln/>
        </p:spPr>
        <p:txBody>
          <a:bodyPr/>
          <a:lstStyle/>
          <a:p>
            <a:endParaRPr lang="en-US"/>
          </a:p>
        </p:txBody>
      </p:sp>
      <p:sp>
        <p:nvSpPr>
          <p:cNvPr id="32" name="Text 28"/>
          <p:cNvSpPr txBox="1"/>
          <p:nvPr/>
        </p:nvSpPr>
        <p:spPr>
          <a:xfrm>
            <a:off x="7406640" y="26243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3" name="Text 29"/>
          <p:cNvSpPr txBox="1"/>
          <p:nvPr/>
        </p:nvSpPr>
        <p:spPr>
          <a:xfrm>
            <a:off x="7863840" y="257860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Clock  </a:t>
            </a:r>
            <a:r>
              <a:rPr lang="en-US" sz="1300" dirty="0">
                <a:solidFill>
                  <a:srgbClr val="56657E"/>
                </a:solidFill>
                <a:latin typeface="Calibri" pitchFamily="34" charset="0"/>
                <a:ea typeface="Calibri" pitchFamily="34" charset="-122"/>
                <a:cs typeface="Calibri" pitchFamily="34" charset="-120"/>
              </a:rPr>
              <a:t>Starts at Mission 1 and counts up.</a:t>
            </a:r>
            <a:endParaRPr lang="en-US" sz="1600" dirty="0"/>
          </a:p>
        </p:txBody>
      </p:sp>
      <p:sp>
        <p:nvSpPr>
          <p:cNvPr id="34" name="Shape 30"/>
          <p:cNvSpPr/>
          <p:nvPr/>
        </p:nvSpPr>
        <p:spPr>
          <a:xfrm>
            <a:off x="7406640" y="3172968"/>
            <a:ext cx="329184" cy="329184"/>
          </a:xfrm>
          <a:prstGeom prst="ellipse">
            <a:avLst/>
          </a:prstGeom>
          <a:solidFill>
            <a:srgbClr val="17875A"/>
          </a:solidFill>
          <a:ln/>
        </p:spPr>
        <p:txBody>
          <a:bodyPr/>
          <a:lstStyle/>
          <a:p>
            <a:endParaRPr lang="en-US"/>
          </a:p>
        </p:txBody>
      </p:sp>
      <p:sp>
        <p:nvSpPr>
          <p:cNvPr id="35" name="Text 31"/>
          <p:cNvSpPr txBox="1"/>
          <p:nvPr/>
        </p:nvSpPr>
        <p:spPr>
          <a:xfrm>
            <a:off x="7406640" y="317296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6" name="Text 32"/>
          <p:cNvSpPr txBox="1"/>
          <p:nvPr/>
        </p:nvSpPr>
        <p:spPr>
          <a:xfrm>
            <a:off x="7863840" y="312724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Stepper  </a:t>
            </a:r>
            <a:r>
              <a:rPr lang="en-US" sz="1300" dirty="0">
                <a:solidFill>
                  <a:srgbClr val="56657E"/>
                </a:solidFill>
                <a:latin typeface="Calibri" pitchFamily="34" charset="0"/>
                <a:ea typeface="Calibri" pitchFamily="34" charset="-122"/>
                <a:cs typeface="Calibri" pitchFamily="34" charset="-120"/>
              </a:rPr>
              <a:t>W1 and W2 are the warm-ups; a check per flag.</a:t>
            </a:r>
            <a:endParaRPr lang="en-US" sz="1600" dirty="0"/>
          </a:p>
        </p:txBody>
      </p:sp>
      <p:sp>
        <p:nvSpPr>
          <p:cNvPr id="37" name="Shape 33"/>
          <p:cNvSpPr/>
          <p:nvPr/>
        </p:nvSpPr>
        <p:spPr>
          <a:xfrm>
            <a:off x="7406640" y="3721608"/>
            <a:ext cx="329184" cy="329184"/>
          </a:xfrm>
          <a:prstGeom prst="ellipse">
            <a:avLst/>
          </a:prstGeom>
          <a:solidFill>
            <a:srgbClr val="D1416B"/>
          </a:solidFill>
          <a:ln/>
        </p:spPr>
        <p:txBody>
          <a:bodyPr/>
          <a:lstStyle/>
          <a:p>
            <a:endParaRPr lang="en-US"/>
          </a:p>
        </p:txBody>
      </p:sp>
      <p:sp>
        <p:nvSpPr>
          <p:cNvPr id="38" name="Text 34"/>
          <p:cNvSpPr txBox="1"/>
          <p:nvPr/>
        </p:nvSpPr>
        <p:spPr>
          <a:xfrm>
            <a:off x="7406640" y="372160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9" name="Text 35"/>
          <p:cNvSpPr txBox="1"/>
          <p:nvPr/>
        </p:nvSpPr>
        <p:spPr>
          <a:xfrm>
            <a:off x="7863840" y="367588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Level and points  </a:t>
            </a:r>
            <a:r>
              <a:rPr lang="en-US" sz="1300" dirty="0">
                <a:solidFill>
                  <a:srgbClr val="56657E"/>
                </a:solidFill>
                <a:latin typeface="Calibri" pitchFamily="34" charset="0"/>
                <a:ea typeface="Calibri" pitchFamily="34" charset="-122"/>
                <a:cs typeface="Calibri" pitchFamily="34" charset="-120"/>
              </a:rPr>
              <a:t>Easy 100 up to Very Hard 800.</a:t>
            </a:r>
            <a:endParaRPr lang="en-US" sz="1600" dirty="0"/>
          </a:p>
        </p:txBody>
      </p:sp>
      <p:sp>
        <p:nvSpPr>
          <p:cNvPr id="40" name="Shape 36"/>
          <p:cNvSpPr/>
          <p:nvPr/>
        </p:nvSpPr>
        <p:spPr>
          <a:xfrm>
            <a:off x="7406640" y="4270248"/>
            <a:ext cx="329184" cy="329184"/>
          </a:xfrm>
          <a:prstGeom prst="ellipse">
            <a:avLst/>
          </a:prstGeom>
          <a:solidFill>
            <a:srgbClr val="7448D4"/>
          </a:solidFill>
          <a:ln/>
        </p:spPr>
        <p:txBody>
          <a:bodyPr/>
          <a:lstStyle/>
          <a:p>
            <a:endParaRPr lang="en-US"/>
          </a:p>
        </p:txBody>
      </p:sp>
      <p:sp>
        <p:nvSpPr>
          <p:cNvPr id="41" name="Text 37"/>
          <p:cNvSpPr txBox="1"/>
          <p:nvPr/>
        </p:nvSpPr>
        <p:spPr>
          <a:xfrm>
            <a:off x="7406640" y="42702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42" name="Text 38"/>
          <p:cNvSpPr txBox="1"/>
          <p:nvPr/>
        </p:nvSpPr>
        <p:spPr>
          <a:xfrm>
            <a:off x="7863840" y="422452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Copy buttons  </a:t>
            </a:r>
            <a:r>
              <a:rPr lang="en-US" sz="1300" dirty="0">
                <a:solidFill>
                  <a:srgbClr val="56657E"/>
                </a:solidFill>
                <a:latin typeface="Calibri" pitchFamily="34" charset="0"/>
                <a:ea typeface="Calibri" pitchFamily="34" charset="-122"/>
                <a:cs typeface="Calibri" pitchFamily="34" charset="-120"/>
              </a:rPr>
              <a:t>Copy a starting command, then paste it.</a:t>
            </a:r>
            <a:endParaRPr lang="en-US" sz="1600" dirty="0"/>
          </a:p>
        </p:txBody>
      </p:sp>
      <p:sp>
        <p:nvSpPr>
          <p:cNvPr id="43" name="Shape 39"/>
          <p:cNvSpPr/>
          <p:nvPr/>
        </p:nvSpPr>
        <p:spPr>
          <a:xfrm>
            <a:off x="7406640" y="4818888"/>
            <a:ext cx="329184" cy="329184"/>
          </a:xfrm>
          <a:prstGeom prst="ellipse">
            <a:avLst/>
          </a:prstGeom>
          <a:solidFill>
            <a:srgbClr val="56657E"/>
          </a:solidFill>
          <a:ln/>
        </p:spPr>
        <p:txBody>
          <a:bodyPr/>
          <a:lstStyle/>
          <a:p>
            <a:endParaRPr lang="en-US"/>
          </a:p>
        </p:txBody>
      </p:sp>
      <p:sp>
        <p:nvSpPr>
          <p:cNvPr id="44" name="Text 40"/>
          <p:cNvSpPr txBox="1"/>
          <p:nvPr/>
        </p:nvSpPr>
        <p:spPr>
          <a:xfrm>
            <a:off x="7406640" y="48188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45" name="Text 41"/>
          <p:cNvSpPr txBox="1"/>
          <p:nvPr/>
        </p:nvSpPr>
        <p:spPr>
          <a:xfrm>
            <a:off x="7863840" y="477316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Terminal  </a:t>
            </a:r>
            <a:r>
              <a:rPr lang="en-US" sz="1300" dirty="0">
                <a:solidFill>
                  <a:srgbClr val="56657E"/>
                </a:solidFill>
                <a:latin typeface="Calibri" pitchFamily="34" charset="0"/>
                <a:ea typeface="Calibri" pitchFamily="34" charset="-122"/>
                <a:cs typeface="Calibri" pitchFamily="34" charset="-120"/>
              </a:rPr>
              <a:t>Click inside it before you type.</a:t>
            </a:r>
            <a:endParaRPr lang="en-US" sz="1600" dirty="0"/>
          </a:p>
        </p:txBody>
      </p:sp>
      <p:sp>
        <p:nvSpPr>
          <p:cNvPr id="46" name="Shape 42"/>
          <p:cNvSpPr/>
          <p:nvPr/>
        </p:nvSpPr>
        <p:spPr>
          <a:xfrm>
            <a:off x="7406640" y="5367528"/>
            <a:ext cx="329184" cy="329184"/>
          </a:xfrm>
          <a:prstGeom prst="ellipse">
            <a:avLst/>
          </a:prstGeom>
          <a:solidFill>
            <a:srgbClr val="2459D8"/>
          </a:solidFill>
          <a:ln/>
        </p:spPr>
        <p:txBody>
          <a:bodyPr/>
          <a:lstStyle/>
          <a:p>
            <a:endParaRPr lang="en-US"/>
          </a:p>
        </p:txBody>
      </p:sp>
      <p:sp>
        <p:nvSpPr>
          <p:cNvPr id="47" name="Text 43"/>
          <p:cNvSpPr txBox="1"/>
          <p:nvPr/>
        </p:nvSpPr>
        <p:spPr>
          <a:xfrm>
            <a:off x="7406640" y="53675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48" name="Text 44"/>
          <p:cNvSpPr txBox="1"/>
          <p:nvPr/>
        </p:nvSpPr>
        <p:spPr>
          <a:xfrm>
            <a:off x="7863840" y="532180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Next mission  </a:t>
            </a:r>
            <a:r>
              <a:rPr lang="en-US" sz="1300" dirty="0">
                <a:solidFill>
                  <a:srgbClr val="56657E"/>
                </a:solidFill>
                <a:latin typeface="Calibri" pitchFamily="34" charset="0"/>
                <a:ea typeface="Calibri" pitchFamily="34" charset="-122"/>
                <a:cs typeface="Calibri" pitchFamily="34" charset="-120"/>
              </a:rPr>
              <a:t>Unlocks when the flag is captured.</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fill="hold" grpId="0" nodeType="afterEffect">
                                  <p:stCondLst>
                                    <p:cond delay="0"/>
                                  </p:stCondLst>
                                  <p:childTnLst>
                                    <p:set>
                                      <p:cBhvr>
                                        <p:cTn id="6" dur="1" fill="hold"/>
                                        <p:tgtEl>
                                          <p:spTgt spid="28"/>
                                        </p:tgtEl>
                                        <p:attrNameLst>
                                          <p:attrName>style.opacity</p:attrName>
                                        </p:attrNameLst>
                                      </p:cBhvr>
                                      <p:to>
                                        <p:strVal val="0.25"/>
                                      </p:to>
                                    </p:set>
                                    <p:animEffect filter="image" prLst="opacity: 0.25">
                                      <p:cBhvr rctx="IE">
                                        <p:cTn id="7" dur="1" fill="hold"/>
                                        <p:tgtEl>
                                          <p:spTgt spid="28"/>
                                        </p:tgtEl>
                                      </p:cBhvr>
                                    </p:animEffect>
                                  </p:childTnLst>
                                </p:cTn>
                              </p:par>
                              <p:par>
                                <p:cTn id="8" presetID="9" presetClass="emph" presetSubtype="0" fill="hold" grpId="0" nodeType="withEffect">
                                  <p:stCondLst>
                                    <p:cond delay="0"/>
                                  </p:stCondLst>
                                  <p:childTnLst>
                                    <p:set>
                                      <p:cBhvr>
                                        <p:cTn id="9" dur="1" fill="hold"/>
                                        <p:tgtEl>
                                          <p:spTgt spid="29"/>
                                        </p:tgtEl>
                                        <p:attrNameLst>
                                          <p:attrName>style.opacity</p:attrName>
                                        </p:attrNameLst>
                                      </p:cBhvr>
                                      <p:to>
                                        <p:strVal val="0.25"/>
                                      </p:to>
                                    </p:set>
                                    <p:animEffect filter="image" prLst="opacity: 0.25">
                                      <p:cBhvr rctx="IE">
                                        <p:cTn id="10" dur="1" fill="hold"/>
                                        <p:tgtEl>
                                          <p:spTgt spid="29"/>
                                        </p:tgtEl>
                                      </p:cBhvr>
                                    </p:animEffect>
                                  </p:childTnLst>
                                </p:cTn>
                              </p:par>
                              <p:par>
                                <p:cTn id="11" presetID="9" presetClass="emph" presetSubtype="0" fill="hold" grpId="0" nodeType="withEffect">
                                  <p:stCondLst>
                                    <p:cond delay="0"/>
                                  </p:stCondLst>
                                  <p:childTnLst>
                                    <p:set>
                                      <p:cBhvr>
                                        <p:cTn id="12" dur="1" fill="hold"/>
                                        <p:tgtEl>
                                          <p:spTgt spid="30"/>
                                        </p:tgtEl>
                                        <p:attrNameLst>
                                          <p:attrName>style.opacity</p:attrName>
                                        </p:attrNameLst>
                                      </p:cBhvr>
                                      <p:to>
                                        <p:strVal val="0.25"/>
                                      </p:to>
                                    </p:set>
                                    <p:animEffect filter="image" prLst="opacity: 0.25">
                                      <p:cBhvr rctx="IE">
                                        <p:cTn id="13" dur="1" fill="hold"/>
                                        <p:tgtEl>
                                          <p:spTgt spid="30"/>
                                        </p:tgtEl>
                                      </p:cBhvr>
                                    </p:animEffect>
                                  </p:childTnLst>
                                </p:cTn>
                              </p:par>
                              <p:par>
                                <p:cTn id="14" presetID="9" presetClass="emph" presetSubtype="0" fill="hold" grpId="0" nodeType="withEffect">
                                  <p:stCondLst>
                                    <p:cond delay="0"/>
                                  </p:stCondLst>
                                  <p:childTnLst>
                                    <p:set>
                                      <p:cBhvr>
                                        <p:cTn id="15" dur="1" fill="hold"/>
                                        <p:tgtEl>
                                          <p:spTgt spid="31"/>
                                        </p:tgtEl>
                                        <p:attrNameLst>
                                          <p:attrName>style.opacity</p:attrName>
                                        </p:attrNameLst>
                                      </p:cBhvr>
                                      <p:to>
                                        <p:strVal val="0.25"/>
                                      </p:to>
                                    </p:set>
                                    <p:animEffect filter="image" prLst="opacity: 0.25">
                                      <p:cBhvr rctx="IE">
                                        <p:cTn id="16" dur="1" fill="hold"/>
                                        <p:tgtEl>
                                          <p:spTgt spid="31"/>
                                        </p:tgtEl>
                                      </p:cBhvr>
                                    </p:animEffect>
                                  </p:childTnLst>
                                </p:cTn>
                              </p:par>
                              <p:par>
                                <p:cTn id="17" presetID="9" presetClass="emph" presetSubtype="0" fill="hold" grpId="0" nodeType="withEffect">
                                  <p:stCondLst>
                                    <p:cond delay="0"/>
                                  </p:stCondLst>
                                  <p:childTnLst>
                                    <p:set>
                                      <p:cBhvr>
                                        <p:cTn id="18" dur="1" fill="hold"/>
                                        <p:tgtEl>
                                          <p:spTgt spid="32"/>
                                        </p:tgtEl>
                                        <p:attrNameLst>
                                          <p:attrName>style.opacity</p:attrName>
                                        </p:attrNameLst>
                                      </p:cBhvr>
                                      <p:to>
                                        <p:strVal val="0.25"/>
                                      </p:to>
                                    </p:set>
                                    <p:animEffect filter="image" prLst="opacity: 0.25">
                                      <p:cBhvr rctx="IE">
                                        <p:cTn id="19" dur="1" fill="hold"/>
                                        <p:tgtEl>
                                          <p:spTgt spid="32"/>
                                        </p:tgtEl>
                                      </p:cBhvr>
                                    </p:animEffect>
                                  </p:childTnLst>
                                </p:cTn>
                              </p:par>
                              <p:par>
                                <p:cTn id="20" presetID="9" presetClass="emph" presetSubtype="0" fill="hold" grpId="0" nodeType="withEffect">
                                  <p:stCondLst>
                                    <p:cond delay="0"/>
                                  </p:stCondLst>
                                  <p:childTnLst>
                                    <p:set>
                                      <p:cBhvr>
                                        <p:cTn id="21" dur="1" fill="hold"/>
                                        <p:tgtEl>
                                          <p:spTgt spid="33"/>
                                        </p:tgtEl>
                                        <p:attrNameLst>
                                          <p:attrName>style.opacity</p:attrName>
                                        </p:attrNameLst>
                                      </p:cBhvr>
                                      <p:to>
                                        <p:strVal val="0.25"/>
                                      </p:to>
                                    </p:set>
                                    <p:animEffect filter="image" prLst="opacity: 0.25">
                                      <p:cBhvr rctx="IE">
                                        <p:cTn id="22" dur="1" fill="hold"/>
                                        <p:tgtEl>
                                          <p:spTgt spid="33"/>
                                        </p:tgtEl>
                                      </p:cBhvr>
                                    </p:animEffect>
                                  </p:childTnLst>
                                </p:cTn>
                              </p:par>
                              <p:par>
                                <p:cTn id="23" presetID="9" presetClass="emph" presetSubtype="0" fill="hold" grpId="0" nodeType="withEffect">
                                  <p:stCondLst>
                                    <p:cond delay="0"/>
                                  </p:stCondLst>
                                  <p:childTnLst>
                                    <p:set>
                                      <p:cBhvr>
                                        <p:cTn id="24" dur="1" fill="hold"/>
                                        <p:tgtEl>
                                          <p:spTgt spid="34"/>
                                        </p:tgtEl>
                                        <p:attrNameLst>
                                          <p:attrName>style.opacity</p:attrName>
                                        </p:attrNameLst>
                                      </p:cBhvr>
                                      <p:to>
                                        <p:strVal val="0.25"/>
                                      </p:to>
                                    </p:set>
                                    <p:animEffect filter="image" prLst="opacity: 0.25">
                                      <p:cBhvr rctx="IE">
                                        <p:cTn id="25" dur="1" fill="hold"/>
                                        <p:tgtEl>
                                          <p:spTgt spid="34"/>
                                        </p:tgtEl>
                                      </p:cBhvr>
                                    </p:animEffect>
                                  </p:childTnLst>
                                </p:cTn>
                              </p:par>
                              <p:par>
                                <p:cTn id="26" presetID="9" presetClass="emph" presetSubtype="0" fill="hold" grpId="0" nodeType="withEffect">
                                  <p:stCondLst>
                                    <p:cond delay="0"/>
                                  </p:stCondLst>
                                  <p:childTnLst>
                                    <p:set>
                                      <p:cBhvr>
                                        <p:cTn id="27" dur="1" fill="hold"/>
                                        <p:tgtEl>
                                          <p:spTgt spid="35"/>
                                        </p:tgtEl>
                                        <p:attrNameLst>
                                          <p:attrName>style.opacity</p:attrName>
                                        </p:attrNameLst>
                                      </p:cBhvr>
                                      <p:to>
                                        <p:strVal val="0.25"/>
                                      </p:to>
                                    </p:set>
                                    <p:animEffect filter="image" prLst="opacity: 0.25">
                                      <p:cBhvr rctx="IE">
                                        <p:cTn id="28" dur="1" fill="hold"/>
                                        <p:tgtEl>
                                          <p:spTgt spid="35"/>
                                        </p:tgtEl>
                                      </p:cBhvr>
                                    </p:animEffect>
                                  </p:childTnLst>
                                </p:cTn>
                              </p:par>
                              <p:par>
                                <p:cTn id="29" presetID="9" presetClass="emph" presetSubtype="0" fill="hold" grpId="0" nodeType="withEffect">
                                  <p:stCondLst>
                                    <p:cond delay="0"/>
                                  </p:stCondLst>
                                  <p:childTnLst>
                                    <p:set>
                                      <p:cBhvr>
                                        <p:cTn id="30" dur="1" fill="hold"/>
                                        <p:tgtEl>
                                          <p:spTgt spid="36"/>
                                        </p:tgtEl>
                                        <p:attrNameLst>
                                          <p:attrName>style.opacity</p:attrName>
                                        </p:attrNameLst>
                                      </p:cBhvr>
                                      <p:to>
                                        <p:strVal val="0.25"/>
                                      </p:to>
                                    </p:set>
                                    <p:animEffect filter="image" prLst="opacity: 0.25">
                                      <p:cBhvr rctx="IE">
                                        <p:cTn id="31" dur="1" fill="hold"/>
                                        <p:tgtEl>
                                          <p:spTgt spid="36"/>
                                        </p:tgtEl>
                                      </p:cBhvr>
                                    </p:animEffect>
                                  </p:childTnLst>
                                </p:cTn>
                              </p:par>
                              <p:par>
                                <p:cTn id="32" presetID="9" presetClass="emph" presetSubtype="0" fill="hold" grpId="0" nodeType="withEffect">
                                  <p:stCondLst>
                                    <p:cond delay="0"/>
                                  </p:stCondLst>
                                  <p:childTnLst>
                                    <p:set>
                                      <p:cBhvr>
                                        <p:cTn id="33" dur="1" fill="hold"/>
                                        <p:tgtEl>
                                          <p:spTgt spid="37"/>
                                        </p:tgtEl>
                                        <p:attrNameLst>
                                          <p:attrName>style.opacity</p:attrName>
                                        </p:attrNameLst>
                                      </p:cBhvr>
                                      <p:to>
                                        <p:strVal val="0.25"/>
                                      </p:to>
                                    </p:set>
                                    <p:animEffect filter="image" prLst="opacity: 0.25">
                                      <p:cBhvr rctx="IE">
                                        <p:cTn id="34" dur="1" fill="hold"/>
                                        <p:tgtEl>
                                          <p:spTgt spid="37"/>
                                        </p:tgtEl>
                                      </p:cBhvr>
                                    </p:animEffect>
                                  </p:childTnLst>
                                </p:cTn>
                              </p:par>
                              <p:par>
                                <p:cTn id="35" presetID="9" presetClass="emph" presetSubtype="0" fill="hold" grpId="0" nodeType="withEffect">
                                  <p:stCondLst>
                                    <p:cond delay="0"/>
                                  </p:stCondLst>
                                  <p:childTnLst>
                                    <p:set>
                                      <p:cBhvr>
                                        <p:cTn id="36" dur="1" fill="hold"/>
                                        <p:tgtEl>
                                          <p:spTgt spid="38"/>
                                        </p:tgtEl>
                                        <p:attrNameLst>
                                          <p:attrName>style.opacity</p:attrName>
                                        </p:attrNameLst>
                                      </p:cBhvr>
                                      <p:to>
                                        <p:strVal val="0.25"/>
                                      </p:to>
                                    </p:set>
                                    <p:animEffect filter="image" prLst="opacity: 0.25">
                                      <p:cBhvr rctx="IE">
                                        <p:cTn id="37" dur="1" fill="hold"/>
                                        <p:tgtEl>
                                          <p:spTgt spid="38"/>
                                        </p:tgtEl>
                                      </p:cBhvr>
                                    </p:animEffect>
                                  </p:childTnLst>
                                </p:cTn>
                              </p:par>
                              <p:par>
                                <p:cTn id="38" presetID="9" presetClass="emph" presetSubtype="0" fill="hold" grpId="0" nodeType="withEffect">
                                  <p:stCondLst>
                                    <p:cond delay="0"/>
                                  </p:stCondLst>
                                  <p:childTnLst>
                                    <p:set>
                                      <p:cBhvr>
                                        <p:cTn id="39" dur="1" fill="hold"/>
                                        <p:tgtEl>
                                          <p:spTgt spid="39"/>
                                        </p:tgtEl>
                                        <p:attrNameLst>
                                          <p:attrName>style.opacity</p:attrName>
                                        </p:attrNameLst>
                                      </p:cBhvr>
                                      <p:to>
                                        <p:strVal val="0.25"/>
                                      </p:to>
                                    </p:set>
                                    <p:animEffect filter="image" prLst="opacity: 0.25">
                                      <p:cBhvr rctx="IE">
                                        <p:cTn id="40" dur="1" fill="hold"/>
                                        <p:tgtEl>
                                          <p:spTgt spid="39"/>
                                        </p:tgtEl>
                                      </p:cBhvr>
                                    </p:animEffect>
                                  </p:childTnLst>
                                </p:cTn>
                              </p:par>
                              <p:par>
                                <p:cTn id="41" presetID="9" presetClass="emph" presetSubtype="0" fill="hold" grpId="0" nodeType="withEffect">
                                  <p:stCondLst>
                                    <p:cond delay="0"/>
                                  </p:stCondLst>
                                  <p:childTnLst>
                                    <p:set>
                                      <p:cBhvr>
                                        <p:cTn id="42" dur="1" fill="hold"/>
                                        <p:tgtEl>
                                          <p:spTgt spid="40"/>
                                        </p:tgtEl>
                                        <p:attrNameLst>
                                          <p:attrName>style.opacity</p:attrName>
                                        </p:attrNameLst>
                                      </p:cBhvr>
                                      <p:to>
                                        <p:strVal val="0.25"/>
                                      </p:to>
                                    </p:set>
                                    <p:animEffect filter="image" prLst="opacity: 0.25">
                                      <p:cBhvr rctx="IE">
                                        <p:cTn id="43" dur="1" fill="hold"/>
                                        <p:tgtEl>
                                          <p:spTgt spid="40"/>
                                        </p:tgtEl>
                                      </p:cBhvr>
                                    </p:animEffect>
                                  </p:childTnLst>
                                </p:cTn>
                              </p:par>
                              <p:par>
                                <p:cTn id="44" presetID="9" presetClass="emph" presetSubtype="0" fill="hold" grpId="0" nodeType="withEffect">
                                  <p:stCondLst>
                                    <p:cond delay="0"/>
                                  </p:stCondLst>
                                  <p:childTnLst>
                                    <p:set>
                                      <p:cBhvr>
                                        <p:cTn id="45" dur="1" fill="hold"/>
                                        <p:tgtEl>
                                          <p:spTgt spid="41"/>
                                        </p:tgtEl>
                                        <p:attrNameLst>
                                          <p:attrName>style.opacity</p:attrName>
                                        </p:attrNameLst>
                                      </p:cBhvr>
                                      <p:to>
                                        <p:strVal val="0.25"/>
                                      </p:to>
                                    </p:set>
                                    <p:animEffect filter="image" prLst="opacity: 0.25">
                                      <p:cBhvr rctx="IE">
                                        <p:cTn id="46" dur="1" fill="hold"/>
                                        <p:tgtEl>
                                          <p:spTgt spid="41"/>
                                        </p:tgtEl>
                                      </p:cBhvr>
                                    </p:animEffect>
                                  </p:childTnLst>
                                </p:cTn>
                              </p:par>
                              <p:par>
                                <p:cTn id="47" presetID="9" presetClass="emph" presetSubtype="0" fill="hold" grpId="0" nodeType="withEffect">
                                  <p:stCondLst>
                                    <p:cond delay="0"/>
                                  </p:stCondLst>
                                  <p:childTnLst>
                                    <p:set>
                                      <p:cBhvr>
                                        <p:cTn id="48" dur="1" fill="hold"/>
                                        <p:tgtEl>
                                          <p:spTgt spid="42"/>
                                        </p:tgtEl>
                                        <p:attrNameLst>
                                          <p:attrName>style.opacity</p:attrName>
                                        </p:attrNameLst>
                                      </p:cBhvr>
                                      <p:to>
                                        <p:strVal val="0.25"/>
                                      </p:to>
                                    </p:set>
                                    <p:animEffect filter="image" prLst="opacity: 0.25">
                                      <p:cBhvr rctx="IE">
                                        <p:cTn id="49" dur="1" fill="hold"/>
                                        <p:tgtEl>
                                          <p:spTgt spid="42"/>
                                        </p:tgtEl>
                                      </p:cBhvr>
                                    </p:animEffect>
                                  </p:childTnLst>
                                </p:cTn>
                              </p:par>
                              <p:par>
                                <p:cTn id="50" presetID="9" presetClass="emph" presetSubtype="0" fill="hold" grpId="0" nodeType="withEffect">
                                  <p:stCondLst>
                                    <p:cond delay="0"/>
                                  </p:stCondLst>
                                  <p:childTnLst>
                                    <p:set>
                                      <p:cBhvr>
                                        <p:cTn id="51" dur="1" fill="hold"/>
                                        <p:tgtEl>
                                          <p:spTgt spid="43"/>
                                        </p:tgtEl>
                                        <p:attrNameLst>
                                          <p:attrName>style.opacity</p:attrName>
                                        </p:attrNameLst>
                                      </p:cBhvr>
                                      <p:to>
                                        <p:strVal val="0.25"/>
                                      </p:to>
                                    </p:set>
                                    <p:animEffect filter="image" prLst="opacity: 0.25">
                                      <p:cBhvr rctx="IE">
                                        <p:cTn id="52" dur="1" fill="hold"/>
                                        <p:tgtEl>
                                          <p:spTgt spid="43"/>
                                        </p:tgtEl>
                                      </p:cBhvr>
                                    </p:animEffect>
                                  </p:childTnLst>
                                </p:cTn>
                              </p:par>
                              <p:par>
                                <p:cTn id="53" presetID="9" presetClass="emph" presetSubtype="0" fill="hold" grpId="0" nodeType="withEffect">
                                  <p:stCondLst>
                                    <p:cond delay="0"/>
                                  </p:stCondLst>
                                  <p:childTnLst>
                                    <p:set>
                                      <p:cBhvr>
                                        <p:cTn id="54" dur="1" fill="hold"/>
                                        <p:tgtEl>
                                          <p:spTgt spid="44"/>
                                        </p:tgtEl>
                                        <p:attrNameLst>
                                          <p:attrName>style.opacity</p:attrName>
                                        </p:attrNameLst>
                                      </p:cBhvr>
                                      <p:to>
                                        <p:strVal val="0.25"/>
                                      </p:to>
                                    </p:set>
                                    <p:animEffect filter="image" prLst="opacity: 0.25">
                                      <p:cBhvr rctx="IE">
                                        <p:cTn id="55" dur="1" fill="hold"/>
                                        <p:tgtEl>
                                          <p:spTgt spid="44"/>
                                        </p:tgtEl>
                                      </p:cBhvr>
                                    </p:animEffect>
                                  </p:childTnLst>
                                </p:cTn>
                              </p:par>
                              <p:par>
                                <p:cTn id="56" presetID="9" presetClass="emph" presetSubtype="0" fill="hold" grpId="0" nodeType="withEffect">
                                  <p:stCondLst>
                                    <p:cond delay="0"/>
                                  </p:stCondLst>
                                  <p:childTnLst>
                                    <p:set>
                                      <p:cBhvr>
                                        <p:cTn id="57" dur="1" fill="hold"/>
                                        <p:tgtEl>
                                          <p:spTgt spid="45"/>
                                        </p:tgtEl>
                                        <p:attrNameLst>
                                          <p:attrName>style.opacity</p:attrName>
                                        </p:attrNameLst>
                                      </p:cBhvr>
                                      <p:to>
                                        <p:strVal val="0.25"/>
                                      </p:to>
                                    </p:set>
                                    <p:animEffect filter="image" prLst="opacity: 0.25">
                                      <p:cBhvr rctx="IE">
                                        <p:cTn id="58" dur="1" fill="hold"/>
                                        <p:tgtEl>
                                          <p:spTgt spid="45"/>
                                        </p:tgtEl>
                                      </p:cBhvr>
                                    </p:animEffect>
                                  </p:childTnLst>
                                </p:cTn>
                              </p:par>
                              <p:par>
                                <p:cTn id="59" presetID="9" presetClass="emph" presetSubtype="0" fill="hold" grpId="0" nodeType="withEffect">
                                  <p:stCondLst>
                                    <p:cond delay="0"/>
                                  </p:stCondLst>
                                  <p:childTnLst>
                                    <p:set>
                                      <p:cBhvr>
                                        <p:cTn id="60" dur="1" fill="hold"/>
                                        <p:tgtEl>
                                          <p:spTgt spid="46"/>
                                        </p:tgtEl>
                                        <p:attrNameLst>
                                          <p:attrName>style.opacity</p:attrName>
                                        </p:attrNameLst>
                                      </p:cBhvr>
                                      <p:to>
                                        <p:strVal val="0.25"/>
                                      </p:to>
                                    </p:set>
                                    <p:animEffect filter="image" prLst="opacity: 0.25">
                                      <p:cBhvr rctx="IE">
                                        <p:cTn id="61" dur="1" fill="hold"/>
                                        <p:tgtEl>
                                          <p:spTgt spid="46"/>
                                        </p:tgtEl>
                                      </p:cBhvr>
                                    </p:animEffect>
                                  </p:childTnLst>
                                </p:cTn>
                              </p:par>
                              <p:par>
                                <p:cTn id="62" presetID="9" presetClass="emph" presetSubtype="0" fill="hold" grpId="0" nodeType="withEffect">
                                  <p:stCondLst>
                                    <p:cond delay="0"/>
                                  </p:stCondLst>
                                  <p:childTnLst>
                                    <p:set>
                                      <p:cBhvr>
                                        <p:cTn id="63" dur="1" fill="hold"/>
                                        <p:tgtEl>
                                          <p:spTgt spid="47"/>
                                        </p:tgtEl>
                                        <p:attrNameLst>
                                          <p:attrName>style.opacity</p:attrName>
                                        </p:attrNameLst>
                                      </p:cBhvr>
                                      <p:to>
                                        <p:strVal val="0.25"/>
                                      </p:to>
                                    </p:set>
                                    <p:animEffect filter="image" prLst="opacity: 0.25">
                                      <p:cBhvr rctx="IE">
                                        <p:cTn id="64" dur="1" fill="hold"/>
                                        <p:tgtEl>
                                          <p:spTgt spid="47"/>
                                        </p:tgtEl>
                                      </p:cBhvr>
                                    </p:animEffect>
                                  </p:childTnLst>
                                </p:cTn>
                              </p:par>
                              <p:par>
                                <p:cTn id="65" presetID="9" presetClass="emph" presetSubtype="0" fill="hold" grpId="0" nodeType="withEffect">
                                  <p:stCondLst>
                                    <p:cond delay="0"/>
                                  </p:stCondLst>
                                  <p:childTnLst>
                                    <p:set>
                                      <p:cBhvr>
                                        <p:cTn id="66" dur="1" fill="hold"/>
                                        <p:tgtEl>
                                          <p:spTgt spid="48"/>
                                        </p:tgtEl>
                                        <p:attrNameLst>
                                          <p:attrName>style.opacity</p:attrName>
                                        </p:attrNameLst>
                                      </p:cBhvr>
                                      <p:to>
                                        <p:strVal val="0.25"/>
                                      </p:to>
                                    </p:set>
                                    <p:animEffect filter="image" prLst="opacity: 0.25">
                                      <p:cBhvr rctx="IE">
                                        <p:cTn id="67" dur="1" fill="hold"/>
                                        <p:tgtEl>
                                          <p:spTgt spid="48"/>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mph" presetSubtype="0" fill="hold" grpId="0" nodeType="clickEffect">
                                  <p:stCondLst>
                                    <p:cond delay="0"/>
                                  </p:stCondLst>
                                  <p:childTnLst>
                                    <p:set>
                                      <p:cBhvr>
                                        <p:cTn id="71" dur="400" fill="hold"/>
                                        <p:tgtEl>
                                          <p:spTgt spid="28"/>
                                        </p:tgtEl>
                                        <p:attrNameLst>
                                          <p:attrName>style.opacity</p:attrName>
                                        </p:attrNameLst>
                                      </p:cBhvr>
                                      <p:to>
                                        <p:strVal val="1"/>
                                      </p:to>
                                    </p:set>
                                    <p:animEffect filter="image" prLst="opacity: 1">
                                      <p:cBhvr rctx="IE">
                                        <p:cTn id="72" dur="400" fill="hold"/>
                                        <p:tgtEl>
                                          <p:spTgt spid="28"/>
                                        </p:tgtEl>
                                      </p:cBhvr>
                                    </p:animEffect>
                                  </p:childTnLst>
                                </p:cTn>
                              </p:par>
                              <p:par>
                                <p:cTn id="73" presetID="9" presetClass="emph" presetSubtype="0" fill="hold" grpId="0" nodeType="withEffect">
                                  <p:stCondLst>
                                    <p:cond delay="0"/>
                                  </p:stCondLst>
                                  <p:childTnLst>
                                    <p:set>
                                      <p:cBhvr>
                                        <p:cTn id="74" dur="400" fill="hold"/>
                                        <p:tgtEl>
                                          <p:spTgt spid="29"/>
                                        </p:tgtEl>
                                        <p:attrNameLst>
                                          <p:attrName>style.opacity</p:attrName>
                                        </p:attrNameLst>
                                      </p:cBhvr>
                                      <p:to>
                                        <p:strVal val="1"/>
                                      </p:to>
                                    </p:set>
                                    <p:animEffect filter="image" prLst="opacity: 1">
                                      <p:cBhvr rctx="IE">
                                        <p:cTn id="75" dur="400" fill="hold"/>
                                        <p:tgtEl>
                                          <p:spTgt spid="29"/>
                                        </p:tgtEl>
                                      </p:cBhvr>
                                    </p:animEffect>
                                  </p:childTnLst>
                                </p:cTn>
                              </p:par>
                              <p:par>
                                <p:cTn id="76" presetID="9" presetClass="emph" presetSubtype="0" fill="hold" grpId="0" nodeType="withEffect">
                                  <p:stCondLst>
                                    <p:cond delay="0"/>
                                  </p:stCondLst>
                                  <p:childTnLst>
                                    <p:set>
                                      <p:cBhvr>
                                        <p:cTn id="77" dur="400" fill="hold"/>
                                        <p:tgtEl>
                                          <p:spTgt spid="30"/>
                                        </p:tgtEl>
                                        <p:attrNameLst>
                                          <p:attrName>style.opacity</p:attrName>
                                        </p:attrNameLst>
                                      </p:cBhvr>
                                      <p:to>
                                        <p:strVal val="1"/>
                                      </p:to>
                                    </p:set>
                                    <p:animEffect filter="image" prLst="opacity: 1">
                                      <p:cBhvr rctx="IE">
                                        <p:cTn id="78" dur="400" fill="hold"/>
                                        <p:tgtEl>
                                          <p:spTgt spid="30"/>
                                        </p:tgtEl>
                                      </p:cBhvr>
                                    </p:animEffect>
                                  </p:childTnLst>
                                </p:cTn>
                              </p:par>
                              <p:par>
                                <p:cTn id="79" presetID="9" presetClass="emph" presetSubtype="0" fill="hold" grpId="0" nodeType="withEffect">
                                  <p:stCondLst>
                                    <p:cond delay="0"/>
                                  </p:stCondLst>
                                  <p:childTnLst>
                                    <p:set>
                                      <p:cBhvr>
                                        <p:cTn id="80" dur="400" fill="hold"/>
                                        <p:tgtEl>
                                          <p:spTgt spid="25"/>
                                        </p:tgtEl>
                                        <p:attrNameLst>
                                          <p:attrName>style.opacity</p:attrName>
                                        </p:attrNameLst>
                                      </p:cBhvr>
                                      <p:to>
                                        <p:strVal val="0.25"/>
                                      </p:to>
                                    </p:set>
                                    <p:animEffect filter="image" prLst="opacity: 0.25">
                                      <p:cBhvr rctx="IE">
                                        <p:cTn id="81" dur="400" fill="hold"/>
                                        <p:tgtEl>
                                          <p:spTgt spid="25"/>
                                        </p:tgtEl>
                                      </p:cBhvr>
                                    </p:animEffect>
                                  </p:childTnLst>
                                </p:cTn>
                              </p:par>
                              <p:par>
                                <p:cTn id="82" presetID="9" presetClass="emph" presetSubtype="0" fill="hold" grpId="0" nodeType="withEffect">
                                  <p:stCondLst>
                                    <p:cond delay="0"/>
                                  </p:stCondLst>
                                  <p:childTnLst>
                                    <p:set>
                                      <p:cBhvr>
                                        <p:cTn id="83" dur="400" fill="hold"/>
                                        <p:tgtEl>
                                          <p:spTgt spid="26"/>
                                        </p:tgtEl>
                                        <p:attrNameLst>
                                          <p:attrName>style.opacity</p:attrName>
                                        </p:attrNameLst>
                                      </p:cBhvr>
                                      <p:to>
                                        <p:strVal val="0.25"/>
                                      </p:to>
                                    </p:set>
                                    <p:animEffect filter="image" prLst="opacity: 0.25">
                                      <p:cBhvr rctx="IE">
                                        <p:cTn id="84" dur="400" fill="hold"/>
                                        <p:tgtEl>
                                          <p:spTgt spid="26"/>
                                        </p:tgtEl>
                                      </p:cBhvr>
                                    </p:animEffect>
                                  </p:childTnLst>
                                </p:cTn>
                              </p:par>
                              <p:par>
                                <p:cTn id="85" presetID="9" presetClass="emph" presetSubtype="0" fill="hold" grpId="0" nodeType="withEffect">
                                  <p:stCondLst>
                                    <p:cond delay="0"/>
                                  </p:stCondLst>
                                  <p:childTnLst>
                                    <p:set>
                                      <p:cBhvr>
                                        <p:cTn id="86" dur="400" fill="hold"/>
                                        <p:tgtEl>
                                          <p:spTgt spid="27"/>
                                        </p:tgtEl>
                                        <p:attrNameLst>
                                          <p:attrName>style.opacity</p:attrName>
                                        </p:attrNameLst>
                                      </p:cBhvr>
                                      <p:to>
                                        <p:strVal val="0.25"/>
                                      </p:to>
                                    </p:set>
                                    <p:animEffect filter="image" prLst="opacity: 0.25">
                                      <p:cBhvr rctx="IE">
                                        <p:cTn id="87" dur="400" fill="hold"/>
                                        <p:tgtEl>
                                          <p:spTgt spid="27"/>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mph" presetSubtype="0" fill="hold" grpId="0" nodeType="clickEffect">
                                  <p:stCondLst>
                                    <p:cond delay="0"/>
                                  </p:stCondLst>
                                  <p:childTnLst>
                                    <p:set>
                                      <p:cBhvr>
                                        <p:cTn id="91" dur="400" fill="hold"/>
                                        <p:tgtEl>
                                          <p:spTgt spid="31"/>
                                        </p:tgtEl>
                                        <p:attrNameLst>
                                          <p:attrName>style.opacity</p:attrName>
                                        </p:attrNameLst>
                                      </p:cBhvr>
                                      <p:to>
                                        <p:strVal val="1"/>
                                      </p:to>
                                    </p:set>
                                    <p:animEffect filter="image" prLst="opacity: 1">
                                      <p:cBhvr rctx="IE">
                                        <p:cTn id="92" dur="400" fill="hold"/>
                                        <p:tgtEl>
                                          <p:spTgt spid="31"/>
                                        </p:tgtEl>
                                      </p:cBhvr>
                                    </p:animEffect>
                                  </p:childTnLst>
                                </p:cTn>
                              </p:par>
                              <p:par>
                                <p:cTn id="93" presetID="9" presetClass="emph" presetSubtype="0" fill="hold" grpId="0" nodeType="withEffect">
                                  <p:stCondLst>
                                    <p:cond delay="0"/>
                                  </p:stCondLst>
                                  <p:childTnLst>
                                    <p:set>
                                      <p:cBhvr>
                                        <p:cTn id="94" dur="400" fill="hold"/>
                                        <p:tgtEl>
                                          <p:spTgt spid="32"/>
                                        </p:tgtEl>
                                        <p:attrNameLst>
                                          <p:attrName>style.opacity</p:attrName>
                                        </p:attrNameLst>
                                      </p:cBhvr>
                                      <p:to>
                                        <p:strVal val="1"/>
                                      </p:to>
                                    </p:set>
                                    <p:animEffect filter="image" prLst="opacity: 1">
                                      <p:cBhvr rctx="IE">
                                        <p:cTn id="95" dur="400" fill="hold"/>
                                        <p:tgtEl>
                                          <p:spTgt spid="32"/>
                                        </p:tgtEl>
                                      </p:cBhvr>
                                    </p:animEffect>
                                  </p:childTnLst>
                                </p:cTn>
                              </p:par>
                              <p:par>
                                <p:cTn id="96" presetID="9" presetClass="emph" presetSubtype="0" fill="hold" grpId="0" nodeType="withEffect">
                                  <p:stCondLst>
                                    <p:cond delay="0"/>
                                  </p:stCondLst>
                                  <p:childTnLst>
                                    <p:set>
                                      <p:cBhvr>
                                        <p:cTn id="97" dur="400" fill="hold"/>
                                        <p:tgtEl>
                                          <p:spTgt spid="33"/>
                                        </p:tgtEl>
                                        <p:attrNameLst>
                                          <p:attrName>style.opacity</p:attrName>
                                        </p:attrNameLst>
                                      </p:cBhvr>
                                      <p:to>
                                        <p:strVal val="1"/>
                                      </p:to>
                                    </p:set>
                                    <p:animEffect filter="image" prLst="opacity: 1">
                                      <p:cBhvr rctx="IE">
                                        <p:cTn id="98" dur="400" fill="hold"/>
                                        <p:tgtEl>
                                          <p:spTgt spid="33"/>
                                        </p:tgtEl>
                                      </p:cBhvr>
                                    </p:animEffect>
                                  </p:childTnLst>
                                </p:cTn>
                              </p:par>
                              <p:par>
                                <p:cTn id="99" presetID="9" presetClass="emph" presetSubtype="0" fill="hold" grpId="0" nodeType="withEffect">
                                  <p:stCondLst>
                                    <p:cond delay="0"/>
                                  </p:stCondLst>
                                  <p:childTnLst>
                                    <p:set>
                                      <p:cBhvr>
                                        <p:cTn id="100" dur="400" fill="hold"/>
                                        <p:tgtEl>
                                          <p:spTgt spid="28"/>
                                        </p:tgtEl>
                                        <p:attrNameLst>
                                          <p:attrName>style.opacity</p:attrName>
                                        </p:attrNameLst>
                                      </p:cBhvr>
                                      <p:to>
                                        <p:strVal val="0.25"/>
                                      </p:to>
                                    </p:set>
                                    <p:animEffect filter="image" prLst="opacity: 0.25">
                                      <p:cBhvr rctx="IE">
                                        <p:cTn id="101" dur="400" fill="hold"/>
                                        <p:tgtEl>
                                          <p:spTgt spid="28"/>
                                        </p:tgtEl>
                                      </p:cBhvr>
                                    </p:animEffect>
                                  </p:childTnLst>
                                </p:cTn>
                              </p:par>
                              <p:par>
                                <p:cTn id="102" presetID="9" presetClass="emph" presetSubtype="0" fill="hold" grpId="0" nodeType="withEffect">
                                  <p:stCondLst>
                                    <p:cond delay="0"/>
                                  </p:stCondLst>
                                  <p:childTnLst>
                                    <p:set>
                                      <p:cBhvr>
                                        <p:cTn id="103" dur="400" fill="hold"/>
                                        <p:tgtEl>
                                          <p:spTgt spid="29"/>
                                        </p:tgtEl>
                                        <p:attrNameLst>
                                          <p:attrName>style.opacity</p:attrName>
                                        </p:attrNameLst>
                                      </p:cBhvr>
                                      <p:to>
                                        <p:strVal val="0.25"/>
                                      </p:to>
                                    </p:set>
                                    <p:animEffect filter="image" prLst="opacity: 0.25">
                                      <p:cBhvr rctx="IE">
                                        <p:cTn id="104" dur="400" fill="hold"/>
                                        <p:tgtEl>
                                          <p:spTgt spid="29"/>
                                        </p:tgtEl>
                                      </p:cBhvr>
                                    </p:animEffect>
                                  </p:childTnLst>
                                </p:cTn>
                              </p:par>
                              <p:par>
                                <p:cTn id="105" presetID="9" presetClass="emph" presetSubtype="0" fill="hold" grpId="0" nodeType="withEffect">
                                  <p:stCondLst>
                                    <p:cond delay="0"/>
                                  </p:stCondLst>
                                  <p:childTnLst>
                                    <p:set>
                                      <p:cBhvr>
                                        <p:cTn id="106" dur="400" fill="hold"/>
                                        <p:tgtEl>
                                          <p:spTgt spid="30"/>
                                        </p:tgtEl>
                                        <p:attrNameLst>
                                          <p:attrName>style.opacity</p:attrName>
                                        </p:attrNameLst>
                                      </p:cBhvr>
                                      <p:to>
                                        <p:strVal val="0.25"/>
                                      </p:to>
                                    </p:set>
                                    <p:animEffect filter="image" prLst="opacity: 0.25">
                                      <p:cBhvr rctx="IE">
                                        <p:cTn id="107" dur="400" fill="hold"/>
                                        <p:tgtEl>
                                          <p:spTgt spid="30"/>
                                        </p:tgtEl>
                                      </p:cBhvr>
                                    </p:animEffect>
                                  </p:childTnLst>
                                </p:cTn>
                              </p:par>
                            </p:childTnLst>
                          </p:cTn>
                        </p:par>
                      </p:childTnLst>
                    </p:cTn>
                  </p:par>
                  <p:par>
                    <p:cTn id="108" fill="hold">
                      <p:stCondLst>
                        <p:cond delay="indefinite"/>
                      </p:stCondLst>
                      <p:childTnLst>
                        <p:par>
                          <p:cTn id="109" fill="hold">
                            <p:stCondLst>
                              <p:cond delay="0"/>
                            </p:stCondLst>
                            <p:childTnLst>
                              <p:par>
                                <p:cTn id="110" presetID="9" presetClass="emph" presetSubtype="0" fill="hold" grpId="0" nodeType="clickEffect">
                                  <p:stCondLst>
                                    <p:cond delay="0"/>
                                  </p:stCondLst>
                                  <p:childTnLst>
                                    <p:set>
                                      <p:cBhvr>
                                        <p:cTn id="111" dur="400" fill="hold"/>
                                        <p:tgtEl>
                                          <p:spTgt spid="34"/>
                                        </p:tgtEl>
                                        <p:attrNameLst>
                                          <p:attrName>style.opacity</p:attrName>
                                        </p:attrNameLst>
                                      </p:cBhvr>
                                      <p:to>
                                        <p:strVal val="1"/>
                                      </p:to>
                                    </p:set>
                                    <p:animEffect filter="image" prLst="opacity: 1">
                                      <p:cBhvr rctx="IE">
                                        <p:cTn id="112" dur="400" fill="hold"/>
                                        <p:tgtEl>
                                          <p:spTgt spid="34"/>
                                        </p:tgtEl>
                                      </p:cBhvr>
                                    </p:animEffect>
                                  </p:childTnLst>
                                </p:cTn>
                              </p:par>
                              <p:par>
                                <p:cTn id="113" presetID="9" presetClass="emph" presetSubtype="0" fill="hold" grpId="0" nodeType="withEffect">
                                  <p:stCondLst>
                                    <p:cond delay="0"/>
                                  </p:stCondLst>
                                  <p:childTnLst>
                                    <p:set>
                                      <p:cBhvr>
                                        <p:cTn id="114" dur="400" fill="hold"/>
                                        <p:tgtEl>
                                          <p:spTgt spid="35"/>
                                        </p:tgtEl>
                                        <p:attrNameLst>
                                          <p:attrName>style.opacity</p:attrName>
                                        </p:attrNameLst>
                                      </p:cBhvr>
                                      <p:to>
                                        <p:strVal val="1"/>
                                      </p:to>
                                    </p:set>
                                    <p:animEffect filter="image" prLst="opacity: 1">
                                      <p:cBhvr rctx="IE">
                                        <p:cTn id="115" dur="400" fill="hold"/>
                                        <p:tgtEl>
                                          <p:spTgt spid="35"/>
                                        </p:tgtEl>
                                      </p:cBhvr>
                                    </p:animEffect>
                                  </p:childTnLst>
                                </p:cTn>
                              </p:par>
                              <p:par>
                                <p:cTn id="116" presetID="9" presetClass="emph" presetSubtype="0" fill="hold" grpId="0" nodeType="withEffect">
                                  <p:stCondLst>
                                    <p:cond delay="0"/>
                                  </p:stCondLst>
                                  <p:childTnLst>
                                    <p:set>
                                      <p:cBhvr>
                                        <p:cTn id="117" dur="400" fill="hold"/>
                                        <p:tgtEl>
                                          <p:spTgt spid="36"/>
                                        </p:tgtEl>
                                        <p:attrNameLst>
                                          <p:attrName>style.opacity</p:attrName>
                                        </p:attrNameLst>
                                      </p:cBhvr>
                                      <p:to>
                                        <p:strVal val="1"/>
                                      </p:to>
                                    </p:set>
                                    <p:animEffect filter="image" prLst="opacity: 1">
                                      <p:cBhvr rctx="IE">
                                        <p:cTn id="118" dur="400" fill="hold"/>
                                        <p:tgtEl>
                                          <p:spTgt spid="36"/>
                                        </p:tgtEl>
                                      </p:cBhvr>
                                    </p:animEffect>
                                  </p:childTnLst>
                                </p:cTn>
                              </p:par>
                              <p:par>
                                <p:cTn id="119" presetID="9" presetClass="emph" presetSubtype="0" fill="hold" grpId="0" nodeType="withEffect">
                                  <p:stCondLst>
                                    <p:cond delay="0"/>
                                  </p:stCondLst>
                                  <p:childTnLst>
                                    <p:set>
                                      <p:cBhvr>
                                        <p:cTn id="120" dur="400" fill="hold"/>
                                        <p:tgtEl>
                                          <p:spTgt spid="31"/>
                                        </p:tgtEl>
                                        <p:attrNameLst>
                                          <p:attrName>style.opacity</p:attrName>
                                        </p:attrNameLst>
                                      </p:cBhvr>
                                      <p:to>
                                        <p:strVal val="0.25"/>
                                      </p:to>
                                    </p:set>
                                    <p:animEffect filter="image" prLst="opacity: 0.25">
                                      <p:cBhvr rctx="IE">
                                        <p:cTn id="121" dur="400" fill="hold"/>
                                        <p:tgtEl>
                                          <p:spTgt spid="31"/>
                                        </p:tgtEl>
                                      </p:cBhvr>
                                    </p:animEffect>
                                  </p:childTnLst>
                                </p:cTn>
                              </p:par>
                              <p:par>
                                <p:cTn id="122" presetID="9" presetClass="emph" presetSubtype="0" fill="hold" grpId="0" nodeType="withEffect">
                                  <p:stCondLst>
                                    <p:cond delay="0"/>
                                  </p:stCondLst>
                                  <p:childTnLst>
                                    <p:set>
                                      <p:cBhvr>
                                        <p:cTn id="123" dur="400" fill="hold"/>
                                        <p:tgtEl>
                                          <p:spTgt spid="32"/>
                                        </p:tgtEl>
                                        <p:attrNameLst>
                                          <p:attrName>style.opacity</p:attrName>
                                        </p:attrNameLst>
                                      </p:cBhvr>
                                      <p:to>
                                        <p:strVal val="0.25"/>
                                      </p:to>
                                    </p:set>
                                    <p:animEffect filter="image" prLst="opacity: 0.25">
                                      <p:cBhvr rctx="IE">
                                        <p:cTn id="124" dur="400" fill="hold"/>
                                        <p:tgtEl>
                                          <p:spTgt spid="32"/>
                                        </p:tgtEl>
                                      </p:cBhvr>
                                    </p:animEffect>
                                  </p:childTnLst>
                                </p:cTn>
                              </p:par>
                              <p:par>
                                <p:cTn id="125" presetID="9" presetClass="emph" presetSubtype="0" fill="hold" grpId="0" nodeType="withEffect">
                                  <p:stCondLst>
                                    <p:cond delay="0"/>
                                  </p:stCondLst>
                                  <p:childTnLst>
                                    <p:set>
                                      <p:cBhvr>
                                        <p:cTn id="126" dur="400" fill="hold"/>
                                        <p:tgtEl>
                                          <p:spTgt spid="33"/>
                                        </p:tgtEl>
                                        <p:attrNameLst>
                                          <p:attrName>style.opacity</p:attrName>
                                        </p:attrNameLst>
                                      </p:cBhvr>
                                      <p:to>
                                        <p:strVal val="0.25"/>
                                      </p:to>
                                    </p:set>
                                    <p:animEffect filter="image" prLst="opacity: 0.25">
                                      <p:cBhvr rctx="IE">
                                        <p:cTn id="127" dur="400" fill="hold"/>
                                        <p:tgtEl>
                                          <p:spTgt spid="33"/>
                                        </p:tgtEl>
                                      </p:cBhvr>
                                    </p:animEffect>
                                  </p:childTnLst>
                                </p:cTn>
                              </p:par>
                            </p:childTnLst>
                          </p:cTn>
                        </p:par>
                      </p:childTnLst>
                    </p:cTn>
                  </p:par>
                  <p:par>
                    <p:cTn id="128" fill="hold">
                      <p:stCondLst>
                        <p:cond delay="indefinite"/>
                      </p:stCondLst>
                      <p:childTnLst>
                        <p:par>
                          <p:cTn id="129" fill="hold">
                            <p:stCondLst>
                              <p:cond delay="0"/>
                            </p:stCondLst>
                            <p:childTnLst>
                              <p:par>
                                <p:cTn id="130" presetID="9" presetClass="emph" presetSubtype="0" fill="hold" grpId="0" nodeType="clickEffect">
                                  <p:stCondLst>
                                    <p:cond delay="0"/>
                                  </p:stCondLst>
                                  <p:childTnLst>
                                    <p:set>
                                      <p:cBhvr>
                                        <p:cTn id="131" dur="400" fill="hold"/>
                                        <p:tgtEl>
                                          <p:spTgt spid="37"/>
                                        </p:tgtEl>
                                        <p:attrNameLst>
                                          <p:attrName>style.opacity</p:attrName>
                                        </p:attrNameLst>
                                      </p:cBhvr>
                                      <p:to>
                                        <p:strVal val="1"/>
                                      </p:to>
                                    </p:set>
                                    <p:animEffect filter="image" prLst="opacity: 1">
                                      <p:cBhvr rctx="IE">
                                        <p:cTn id="132" dur="400" fill="hold"/>
                                        <p:tgtEl>
                                          <p:spTgt spid="37"/>
                                        </p:tgtEl>
                                      </p:cBhvr>
                                    </p:animEffect>
                                  </p:childTnLst>
                                </p:cTn>
                              </p:par>
                              <p:par>
                                <p:cTn id="133" presetID="9" presetClass="emph" presetSubtype="0" fill="hold" grpId="0" nodeType="withEffect">
                                  <p:stCondLst>
                                    <p:cond delay="0"/>
                                  </p:stCondLst>
                                  <p:childTnLst>
                                    <p:set>
                                      <p:cBhvr>
                                        <p:cTn id="134" dur="400" fill="hold"/>
                                        <p:tgtEl>
                                          <p:spTgt spid="38"/>
                                        </p:tgtEl>
                                        <p:attrNameLst>
                                          <p:attrName>style.opacity</p:attrName>
                                        </p:attrNameLst>
                                      </p:cBhvr>
                                      <p:to>
                                        <p:strVal val="1"/>
                                      </p:to>
                                    </p:set>
                                    <p:animEffect filter="image" prLst="opacity: 1">
                                      <p:cBhvr rctx="IE">
                                        <p:cTn id="135" dur="400" fill="hold"/>
                                        <p:tgtEl>
                                          <p:spTgt spid="38"/>
                                        </p:tgtEl>
                                      </p:cBhvr>
                                    </p:animEffect>
                                  </p:childTnLst>
                                </p:cTn>
                              </p:par>
                              <p:par>
                                <p:cTn id="136" presetID="9" presetClass="emph" presetSubtype="0" fill="hold" grpId="0" nodeType="withEffect">
                                  <p:stCondLst>
                                    <p:cond delay="0"/>
                                  </p:stCondLst>
                                  <p:childTnLst>
                                    <p:set>
                                      <p:cBhvr>
                                        <p:cTn id="137" dur="400" fill="hold"/>
                                        <p:tgtEl>
                                          <p:spTgt spid="39"/>
                                        </p:tgtEl>
                                        <p:attrNameLst>
                                          <p:attrName>style.opacity</p:attrName>
                                        </p:attrNameLst>
                                      </p:cBhvr>
                                      <p:to>
                                        <p:strVal val="1"/>
                                      </p:to>
                                    </p:set>
                                    <p:animEffect filter="image" prLst="opacity: 1">
                                      <p:cBhvr rctx="IE">
                                        <p:cTn id="138" dur="400" fill="hold"/>
                                        <p:tgtEl>
                                          <p:spTgt spid="39"/>
                                        </p:tgtEl>
                                      </p:cBhvr>
                                    </p:animEffect>
                                  </p:childTnLst>
                                </p:cTn>
                              </p:par>
                              <p:par>
                                <p:cTn id="139" presetID="9" presetClass="emph" presetSubtype="0" fill="hold" grpId="0" nodeType="withEffect">
                                  <p:stCondLst>
                                    <p:cond delay="0"/>
                                  </p:stCondLst>
                                  <p:childTnLst>
                                    <p:set>
                                      <p:cBhvr>
                                        <p:cTn id="140" dur="400" fill="hold"/>
                                        <p:tgtEl>
                                          <p:spTgt spid="34"/>
                                        </p:tgtEl>
                                        <p:attrNameLst>
                                          <p:attrName>style.opacity</p:attrName>
                                        </p:attrNameLst>
                                      </p:cBhvr>
                                      <p:to>
                                        <p:strVal val="0.25"/>
                                      </p:to>
                                    </p:set>
                                    <p:animEffect filter="image" prLst="opacity: 0.25">
                                      <p:cBhvr rctx="IE">
                                        <p:cTn id="141" dur="400" fill="hold"/>
                                        <p:tgtEl>
                                          <p:spTgt spid="34"/>
                                        </p:tgtEl>
                                      </p:cBhvr>
                                    </p:animEffect>
                                  </p:childTnLst>
                                </p:cTn>
                              </p:par>
                              <p:par>
                                <p:cTn id="142" presetID="9" presetClass="emph" presetSubtype="0" fill="hold" grpId="0" nodeType="withEffect">
                                  <p:stCondLst>
                                    <p:cond delay="0"/>
                                  </p:stCondLst>
                                  <p:childTnLst>
                                    <p:set>
                                      <p:cBhvr>
                                        <p:cTn id="143" dur="400" fill="hold"/>
                                        <p:tgtEl>
                                          <p:spTgt spid="35"/>
                                        </p:tgtEl>
                                        <p:attrNameLst>
                                          <p:attrName>style.opacity</p:attrName>
                                        </p:attrNameLst>
                                      </p:cBhvr>
                                      <p:to>
                                        <p:strVal val="0.25"/>
                                      </p:to>
                                    </p:set>
                                    <p:animEffect filter="image" prLst="opacity: 0.25">
                                      <p:cBhvr rctx="IE">
                                        <p:cTn id="144" dur="400" fill="hold"/>
                                        <p:tgtEl>
                                          <p:spTgt spid="35"/>
                                        </p:tgtEl>
                                      </p:cBhvr>
                                    </p:animEffect>
                                  </p:childTnLst>
                                </p:cTn>
                              </p:par>
                              <p:par>
                                <p:cTn id="145" presetID="9" presetClass="emph" presetSubtype="0" fill="hold" grpId="0" nodeType="withEffect">
                                  <p:stCondLst>
                                    <p:cond delay="0"/>
                                  </p:stCondLst>
                                  <p:childTnLst>
                                    <p:set>
                                      <p:cBhvr>
                                        <p:cTn id="146" dur="400" fill="hold"/>
                                        <p:tgtEl>
                                          <p:spTgt spid="36"/>
                                        </p:tgtEl>
                                        <p:attrNameLst>
                                          <p:attrName>style.opacity</p:attrName>
                                        </p:attrNameLst>
                                      </p:cBhvr>
                                      <p:to>
                                        <p:strVal val="0.25"/>
                                      </p:to>
                                    </p:set>
                                    <p:animEffect filter="image" prLst="opacity: 0.25">
                                      <p:cBhvr rctx="IE">
                                        <p:cTn id="147" dur="400" fill="hold"/>
                                        <p:tgtEl>
                                          <p:spTgt spid="36"/>
                                        </p:tgtEl>
                                      </p:cBhvr>
                                    </p:animEffect>
                                  </p:childTnLst>
                                </p:cTn>
                              </p:par>
                            </p:childTnLst>
                          </p:cTn>
                        </p:par>
                      </p:childTnLst>
                    </p:cTn>
                  </p:par>
                  <p:par>
                    <p:cTn id="148" fill="hold">
                      <p:stCondLst>
                        <p:cond delay="indefinite"/>
                      </p:stCondLst>
                      <p:childTnLst>
                        <p:par>
                          <p:cTn id="149" fill="hold">
                            <p:stCondLst>
                              <p:cond delay="0"/>
                            </p:stCondLst>
                            <p:childTnLst>
                              <p:par>
                                <p:cTn id="150" presetID="9" presetClass="emph" presetSubtype="0" fill="hold" grpId="0" nodeType="clickEffect">
                                  <p:stCondLst>
                                    <p:cond delay="0"/>
                                  </p:stCondLst>
                                  <p:childTnLst>
                                    <p:set>
                                      <p:cBhvr>
                                        <p:cTn id="151" dur="400" fill="hold"/>
                                        <p:tgtEl>
                                          <p:spTgt spid="40"/>
                                        </p:tgtEl>
                                        <p:attrNameLst>
                                          <p:attrName>style.opacity</p:attrName>
                                        </p:attrNameLst>
                                      </p:cBhvr>
                                      <p:to>
                                        <p:strVal val="1"/>
                                      </p:to>
                                    </p:set>
                                    <p:animEffect filter="image" prLst="opacity: 1">
                                      <p:cBhvr rctx="IE">
                                        <p:cTn id="152" dur="400" fill="hold"/>
                                        <p:tgtEl>
                                          <p:spTgt spid="40"/>
                                        </p:tgtEl>
                                      </p:cBhvr>
                                    </p:animEffect>
                                  </p:childTnLst>
                                </p:cTn>
                              </p:par>
                              <p:par>
                                <p:cTn id="153" presetID="9" presetClass="emph" presetSubtype="0" fill="hold" grpId="0" nodeType="withEffect">
                                  <p:stCondLst>
                                    <p:cond delay="0"/>
                                  </p:stCondLst>
                                  <p:childTnLst>
                                    <p:set>
                                      <p:cBhvr>
                                        <p:cTn id="154" dur="400" fill="hold"/>
                                        <p:tgtEl>
                                          <p:spTgt spid="41"/>
                                        </p:tgtEl>
                                        <p:attrNameLst>
                                          <p:attrName>style.opacity</p:attrName>
                                        </p:attrNameLst>
                                      </p:cBhvr>
                                      <p:to>
                                        <p:strVal val="1"/>
                                      </p:to>
                                    </p:set>
                                    <p:animEffect filter="image" prLst="opacity: 1">
                                      <p:cBhvr rctx="IE">
                                        <p:cTn id="155" dur="400" fill="hold"/>
                                        <p:tgtEl>
                                          <p:spTgt spid="41"/>
                                        </p:tgtEl>
                                      </p:cBhvr>
                                    </p:animEffect>
                                  </p:childTnLst>
                                </p:cTn>
                              </p:par>
                              <p:par>
                                <p:cTn id="156" presetID="9" presetClass="emph" presetSubtype="0" fill="hold" grpId="0" nodeType="withEffect">
                                  <p:stCondLst>
                                    <p:cond delay="0"/>
                                  </p:stCondLst>
                                  <p:childTnLst>
                                    <p:set>
                                      <p:cBhvr>
                                        <p:cTn id="157" dur="400" fill="hold"/>
                                        <p:tgtEl>
                                          <p:spTgt spid="42"/>
                                        </p:tgtEl>
                                        <p:attrNameLst>
                                          <p:attrName>style.opacity</p:attrName>
                                        </p:attrNameLst>
                                      </p:cBhvr>
                                      <p:to>
                                        <p:strVal val="1"/>
                                      </p:to>
                                    </p:set>
                                    <p:animEffect filter="image" prLst="opacity: 1">
                                      <p:cBhvr rctx="IE">
                                        <p:cTn id="158" dur="400" fill="hold"/>
                                        <p:tgtEl>
                                          <p:spTgt spid="42"/>
                                        </p:tgtEl>
                                      </p:cBhvr>
                                    </p:animEffect>
                                  </p:childTnLst>
                                </p:cTn>
                              </p:par>
                              <p:par>
                                <p:cTn id="159" presetID="9" presetClass="emph" presetSubtype="0" fill="hold" grpId="0" nodeType="withEffect">
                                  <p:stCondLst>
                                    <p:cond delay="0"/>
                                  </p:stCondLst>
                                  <p:childTnLst>
                                    <p:set>
                                      <p:cBhvr>
                                        <p:cTn id="160" dur="400" fill="hold"/>
                                        <p:tgtEl>
                                          <p:spTgt spid="37"/>
                                        </p:tgtEl>
                                        <p:attrNameLst>
                                          <p:attrName>style.opacity</p:attrName>
                                        </p:attrNameLst>
                                      </p:cBhvr>
                                      <p:to>
                                        <p:strVal val="0.25"/>
                                      </p:to>
                                    </p:set>
                                    <p:animEffect filter="image" prLst="opacity: 0.25">
                                      <p:cBhvr rctx="IE">
                                        <p:cTn id="161" dur="400" fill="hold"/>
                                        <p:tgtEl>
                                          <p:spTgt spid="37"/>
                                        </p:tgtEl>
                                      </p:cBhvr>
                                    </p:animEffect>
                                  </p:childTnLst>
                                </p:cTn>
                              </p:par>
                              <p:par>
                                <p:cTn id="162" presetID="9" presetClass="emph" presetSubtype="0" fill="hold" grpId="0" nodeType="withEffect">
                                  <p:stCondLst>
                                    <p:cond delay="0"/>
                                  </p:stCondLst>
                                  <p:childTnLst>
                                    <p:set>
                                      <p:cBhvr>
                                        <p:cTn id="163" dur="400" fill="hold"/>
                                        <p:tgtEl>
                                          <p:spTgt spid="38"/>
                                        </p:tgtEl>
                                        <p:attrNameLst>
                                          <p:attrName>style.opacity</p:attrName>
                                        </p:attrNameLst>
                                      </p:cBhvr>
                                      <p:to>
                                        <p:strVal val="0.25"/>
                                      </p:to>
                                    </p:set>
                                    <p:animEffect filter="image" prLst="opacity: 0.25">
                                      <p:cBhvr rctx="IE">
                                        <p:cTn id="164" dur="400" fill="hold"/>
                                        <p:tgtEl>
                                          <p:spTgt spid="38"/>
                                        </p:tgtEl>
                                      </p:cBhvr>
                                    </p:animEffect>
                                  </p:childTnLst>
                                </p:cTn>
                              </p:par>
                              <p:par>
                                <p:cTn id="165" presetID="9" presetClass="emph" presetSubtype="0" fill="hold" grpId="0" nodeType="withEffect">
                                  <p:stCondLst>
                                    <p:cond delay="0"/>
                                  </p:stCondLst>
                                  <p:childTnLst>
                                    <p:set>
                                      <p:cBhvr>
                                        <p:cTn id="166" dur="400" fill="hold"/>
                                        <p:tgtEl>
                                          <p:spTgt spid="39"/>
                                        </p:tgtEl>
                                        <p:attrNameLst>
                                          <p:attrName>style.opacity</p:attrName>
                                        </p:attrNameLst>
                                      </p:cBhvr>
                                      <p:to>
                                        <p:strVal val="0.25"/>
                                      </p:to>
                                    </p:set>
                                    <p:animEffect filter="image" prLst="opacity: 0.25">
                                      <p:cBhvr rctx="IE">
                                        <p:cTn id="167" dur="400" fill="hold"/>
                                        <p:tgtEl>
                                          <p:spTgt spid="39"/>
                                        </p:tgtEl>
                                      </p:cBhvr>
                                    </p:animEffect>
                                  </p:childTnLst>
                                </p:cTn>
                              </p:par>
                            </p:childTnLst>
                          </p:cTn>
                        </p:par>
                      </p:childTnLst>
                    </p:cTn>
                  </p:par>
                  <p:par>
                    <p:cTn id="168" fill="hold">
                      <p:stCondLst>
                        <p:cond delay="indefinite"/>
                      </p:stCondLst>
                      <p:childTnLst>
                        <p:par>
                          <p:cTn id="169" fill="hold">
                            <p:stCondLst>
                              <p:cond delay="0"/>
                            </p:stCondLst>
                            <p:childTnLst>
                              <p:par>
                                <p:cTn id="170" presetID="9" presetClass="emph" presetSubtype="0" fill="hold" grpId="0" nodeType="clickEffect">
                                  <p:stCondLst>
                                    <p:cond delay="0"/>
                                  </p:stCondLst>
                                  <p:childTnLst>
                                    <p:set>
                                      <p:cBhvr>
                                        <p:cTn id="171" dur="400" fill="hold"/>
                                        <p:tgtEl>
                                          <p:spTgt spid="43"/>
                                        </p:tgtEl>
                                        <p:attrNameLst>
                                          <p:attrName>style.opacity</p:attrName>
                                        </p:attrNameLst>
                                      </p:cBhvr>
                                      <p:to>
                                        <p:strVal val="1"/>
                                      </p:to>
                                    </p:set>
                                    <p:animEffect filter="image" prLst="opacity: 1">
                                      <p:cBhvr rctx="IE">
                                        <p:cTn id="172" dur="400" fill="hold"/>
                                        <p:tgtEl>
                                          <p:spTgt spid="43"/>
                                        </p:tgtEl>
                                      </p:cBhvr>
                                    </p:animEffect>
                                  </p:childTnLst>
                                </p:cTn>
                              </p:par>
                              <p:par>
                                <p:cTn id="173" presetID="9" presetClass="emph" presetSubtype="0" fill="hold" grpId="0" nodeType="withEffect">
                                  <p:stCondLst>
                                    <p:cond delay="0"/>
                                  </p:stCondLst>
                                  <p:childTnLst>
                                    <p:set>
                                      <p:cBhvr>
                                        <p:cTn id="174" dur="400" fill="hold"/>
                                        <p:tgtEl>
                                          <p:spTgt spid="44"/>
                                        </p:tgtEl>
                                        <p:attrNameLst>
                                          <p:attrName>style.opacity</p:attrName>
                                        </p:attrNameLst>
                                      </p:cBhvr>
                                      <p:to>
                                        <p:strVal val="1"/>
                                      </p:to>
                                    </p:set>
                                    <p:animEffect filter="image" prLst="opacity: 1">
                                      <p:cBhvr rctx="IE">
                                        <p:cTn id="175" dur="400" fill="hold"/>
                                        <p:tgtEl>
                                          <p:spTgt spid="44"/>
                                        </p:tgtEl>
                                      </p:cBhvr>
                                    </p:animEffect>
                                  </p:childTnLst>
                                </p:cTn>
                              </p:par>
                              <p:par>
                                <p:cTn id="176" presetID="9" presetClass="emph" presetSubtype="0" fill="hold" grpId="0" nodeType="withEffect">
                                  <p:stCondLst>
                                    <p:cond delay="0"/>
                                  </p:stCondLst>
                                  <p:childTnLst>
                                    <p:set>
                                      <p:cBhvr>
                                        <p:cTn id="177" dur="400" fill="hold"/>
                                        <p:tgtEl>
                                          <p:spTgt spid="45"/>
                                        </p:tgtEl>
                                        <p:attrNameLst>
                                          <p:attrName>style.opacity</p:attrName>
                                        </p:attrNameLst>
                                      </p:cBhvr>
                                      <p:to>
                                        <p:strVal val="1"/>
                                      </p:to>
                                    </p:set>
                                    <p:animEffect filter="image" prLst="opacity: 1">
                                      <p:cBhvr rctx="IE">
                                        <p:cTn id="178" dur="400" fill="hold"/>
                                        <p:tgtEl>
                                          <p:spTgt spid="45"/>
                                        </p:tgtEl>
                                      </p:cBhvr>
                                    </p:animEffect>
                                  </p:childTnLst>
                                </p:cTn>
                              </p:par>
                              <p:par>
                                <p:cTn id="179" presetID="9" presetClass="emph" presetSubtype="0" fill="hold" grpId="0" nodeType="withEffect">
                                  <p:stCondLst>
                                    <p:cond delay="0"/>
                                  </p:stCondLst>
                                  <p:childTnLst>
                                    <p:set>
                                      <p:cBhvr>
                                        <p:cTn id="180" dur="400" fill="hold"/>
                                        <p:tgtEl>
                                          <p:spTgt spid="40"/>
                                        </p:tgtEl>
                                        <p:attrNameLst>
                                          <p:attrName>style.opacity</p:attrName>
                                        </p:attrNameLst>
                                      </p:cBhvr>
                                      <p:to>
                                        <p:strVal val="0.25"/>
                                      </p:to>
                                    </p:set>
                                    <p:animEffect filter="image" prLst="opacity: 0.25">
                                      <p:cBhvr rctx="IE">
                                        <p:cTn id="181" dur="400" fill="hold"/>
                                        <p:tgtEl>
                                          <p:spTgt spid="40"/>
                                        </p:tgtEl>
                                      </p:cBhvr>
                                    </p:animEffect>
                                  </p:childTnLst>
                                </p:cTn>
                              </p:par>
                              <p:par>
                                <p:cTn id="182" presetID="9" presetClass="emph" presetSubtype="0" fill="hold" grpId="0" nodeType="withEffect">
                                  <p:stCondLst>
                                    <p:cond delay="0"/>
                                  </p:stCondLst>
                                  <p:childTnLst>
                                    <p:set>
                                      <p:cBhvr>
                                        <p:cTn id="183" dur="400" fill="hold"/>
                                        <p:tgtEl>
                                          <p:spTgt spid="41"/>
                                        </p:tgtEl>
                                        <p:attrNameLst>
                                          <p:attrName>style.opacity</p:attrName>
                                        </p:attrNameLst>
                                      </p:cBhvr>
                                      <p:to>
                                        <p:strVal val="0.25"/>
                                      </p:to>
                                    </p:set>
                                    <p:animEffect filter="image" prLst="opacity: 0.25">
                                      <p:cBhvr rctx="IE">
                                        <p:cTn id="184" dur="400" fill="hold"/>
                                        <p:tgtEl>
                                          <p:spTgt spid="41"/>
                                        </p:tgtEl>
                                      </p:cBhvr>
                                    </p:animEffect>
                                  </p:childTnLst>
                                </p:cTn>
                              </p:par>
                              <p:par>
                                <p:cTn id="185" presetID="9" presetClass="emph" presetSubtype="0" fill="hold" grpId="0" nodeType="withEffect">
                                  <p:stCondLst>
                                    <p:cond delay="0"/>
                                  </p:stCondLst>
                                  <p:childTnLst>
                                    <p:set>
                                      <p:cBhvr>
                                        <p:cTn id="186" dur="400" fill="hold"/>
                                        <p:tgtEl>
                                          <p:spTgt spid="42"/>
                                        </p:tgtEl>
                                        <p:attrNameLst>
                                          <p:attrName>style.opacity</p:attrName>
                                        </p:attrNameLst>
                                      </p:cBhvr>
                                      <p:to>
                                        <p:strVal val="0.25"/>
                                      </p:to>
                                    </p:set>
                                    <p:animEffect filter="image" prLst="opacity: 0.25">
                                      <p:cBhvr rctx="IE">
                                        <p:cTn id="187" dur="400" fill="hold"/>
                                        <p:tgtEl>
                                          <p:spTgt spid="42"/>
                                        </p:tgtEl>
                                      </p:cBhvr>
                                    </p:animEffect>
                                  </p:childTnLst>
                                </p:cTn>
                              </p:par>
                            </p:childTnLst>
                          </p:cTn>
                        </p:par>
                      </p:childTnLst>
                    </p:cTn>
                  </p:par>
                  <p:par>
                    <p:cTn id="188" fill="hold">
                      <p:stCondLst>
                        <p:cond delay="indefinite"/>
                      </p:stCondLst>
                      <p:childTnLst>
                        <p:par>
                          <p:cTn id="189" fill="hold">
                            <p:stCondLst>
                              <p:cond delay="0"/>
                            </p:stCondLst>
                            <p:childTnLst>
                              <p:par>
                                <p:cTn id="190" presetID="9" presetClass="emph" presetSubtype="0" fill="hold" grpId="0" nodeType="clickEffect">
                                  <p:stCondLst>
                                    <p:cond delay="0"/>
                                  </p:stCondLst>
                                  <p:childTnLst>
                                    <p:set>
                                      <p:cBhvr>
                                        <p:cTn id="191" dur="400" fill="hold"/>
                                        <p:tgtEl>
                                          <p:spTgt spid="46"/>
                                        </p:tgtEl>
                                        <p:attrNameLst>
                                          <p:attrName>style.opacity</p:attrName>
                                        </p:attrNameLst>
                                      </p:cBhvr>
                                      <p:to>
                                        <p:strVal val="1"/>
                                      </p:to>
                                    </p:set>
                                    <p:animEffect filter="image" prLst="opacity: 1">
                                      <p:cBhvr rctx="IE">
                                        <p:cTn id="192" dur="400" fill="hold"/>
                                        <p:tgtEl>
                                          <p:spTgt spid="46"/>
                                        </p:tgtEl>
                                      </p:cBhvr>
                                    </p:animEffect>
                                  </p:childTnLst>
                                </p:cTn>
                              </p:par>
                              <p:par>
                                <p:cTn id="193" presetID="9" presetClass="emph" presetSubtype="0" fill="hold" grpId="0" nodeType="withEffect">
                                  <p:stCondLst>
                                    <p:cond delay="0"/>
                                  </p:stCondLst>
                                  <p:childTnLst>
                                    <p:set>
                                      <p:cBhvr>
                                        <p:cTn id="194" dur="400" fill="hold"/>
                                        <p:tgtEl>
                                          <p:spTgt spid="47"/>
                                        </p:tgtEl>
                                        <p:attrNameLst>
                                          <p:attrName>style.opacity</p:attrName>
                                        </p:attrNameLst>
                                      </p:cBhvr>
                                      <p:to>
                                        <p:strVal val="1"/>
                                      </p:to>
                                    </p:set>
                                    <p:animEffect filter="image" prLst="opacity: 1">
                                      <p:cBhvr rctx="IE">
                                        <p:cTn id="195" dur="400" fill="hold"/>
                                        <p:tgtEl>
                                          <p:spTgt spid="47"/>
                                        </p:tgtEl>
                                      </p:cBhvr>
                                    </p:animEffect>
                                  </p:childTnLst>
                                </p:cTn>
                              </p:par>
                              <p:par>
                                <p:cTn id="196" presetID="9" presetClass="emph" presetSubtype="0" fill="hold" grpId="0" nodeType="withEffect">
                                  <p:stCondLst>
                                    <p:cond delay="0"/>
                                  </p:stCondLst>
                                  <p:childTnLst>
                                    <p:set>
                                      <p:cBhvr>
                                        <p:cTn id="197" dur="400" fill="hold"/>
                                        <p:tgtEl>
                                          <p:spTgt spid="48"/>
                                        </p:tgtEl>
                                        <p:attrNameLst>
                                          <p:attrName>style.opacity</p:attrName>
                                        </p:attrNameLst>
                                      </p:cBhvr>
                                      <p:to>
                                        <p:strVal val="1"/>
                                      </p:to>
                                    </p:set>
                                    <p:animEffect filter="image" prLst="opacity: 1">
                                      <p:cBhvr rctx="IE">
                                        <p:cTn id="198" dur="400" fill="hold"/>
                                        <p:tgtEl>
                                          <p:spTgt spid="48"/>
                                        </p:tgtEl>
                                      </p:cBhvr>
                                    </p:animEffect>
                                  </p:childTnLst>
                                </p:cTn>
                              </p:par>
                              <p:par>
                                <p:cTn id="199" presetID="9" presetClass="emph" presetSubtype="0" fill="hold" grpId="0" nodeType="withEffect">
                                  <p:stCondLst>
                                    <p:cond delay="0"/>
                                  </p:stCondLst>
                                  <p:childTnLst>
                                    <p:set>
                                      <p:cBhvr>
                                        <p:cTn id="200" dur="400" fill="hold"/>
                                        <p:tgtEl>
                                          <p:spTgt spid="43"/>
                                        </p:tgtEl>
                                        <p:attrNameLst>
                                          <p:attrName>style.opacity</p:attrName>
                                        </p:attrNameLst>
                                      </p:cBhvr>
                                      <p:to>
                                        <p:strVal val="0.25"/>
                                      </p:to>
                                    </p:set>
                                    <p:animEffect filter="image" prLst="opacity: 0.25">
                                      <p:cBhvr rctx="IE">
                                        <p:cTn id="201" dur="400" fill="hold"/>
                                        <p:tgtEl>
                                          <p:spTgt spid="43"/>
                                        </p:tgtEl>
                                      </p:cBhvr>
                                    </p:animEffect>
                                  </p:childTnLst>
                                </p:cTn>
                              </p:par>
                              <p:par>
                                <p:cTn id="202" presetID="9" presetClass="emph" presetSubtype="0" fill="hold" grpId="0" nodeType="withEffect">
                                  <p:stCondLst>
                                    <p:cond delay="0"/>
                                  </p:stCondLst>
                                  <p:childTnLst>
                                    <p:set>
                                      <p:cBhvr>
                                        <p:cTn id="203" dur="400" fill="hold"/>
                                        <p:tgtEl>
                                          <p:spTgt spid="44"/>
                                        </p:tgtEl>
                                        <p:attrNameLst>
                                          <p:attrName>style.opacity</p:attrName>
                                        </p:attrNameLst>
                                      </p:cBhvr>
                                      <p:to>
                                        <p:strVal val="0.25"/>
                                      </p:to>
                                    </p:set>
                                    <p:animEffect filter="image" prLst="opacity: 0.25">
                                      <p:cBhvr rctx="IE">
                                        <p:cTn id="204" dur="400" fill="hold"/>
                                        <p:tgtEl>
                                          <p:spTgt spid="44"/>
                                        </p:tgtEl>
                                      </p:cBhvr>
                                    </p:animEffect>
                                  </p:childTnLst>
                                </p:cTn>
                              </p:par>
                              <p:par>
                                <p:cTn id="205" presetID="9" presetClass="emph" presetSubtype="0" fill="hold" grpId="0" nodeType="withEffect">
                                  <p:stCondLst>
                                    <p:cond delay="0"/>
                                  </p:stCondLst>
                                  <p:childTnLst>
                                    <p:set>
                                      <p:cBhvr>
                                        <p:cTn id="206" dur="400" fill="hold"/>
                                        <p:tgtEl>
                                          <p:spTgt spid="45"/>
                                        </p:tgtEl>
                                        <p:attrNameLst>
                                          <p:attrName>style.opacity</p:attrName>
                                        </p:attrNameLst>
                                      </p:cBhvr>
                                      <p:to>
                                        <p:strVal val="0.25"/>
                                      </p:to>
                                    </p:set>
                                    <p:animEffect filter="image" prLst="opacity: 0.25">
                                      <p:cBhvr rctx="IE">
                                        <p:cTn id="207" dur="400" fill="hold"/>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Warm-up 1: the orientation</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cat orientation.txt</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39</a:t>
            </a:r>
            <a:endParaRPr lang="en-US" sz="1000" dirty="0"/>
          </a:p>
        </p:txBody>
      </p:sp>
      <p:sp>
        <p:nvSpPr>
          <p:cNvPr id="10" name="Shape 7"/>
          <p:cNvSpPr/>
          <p:nvPr/>
        </p:nvSpPr>
        <p:spPr>
          <a:xfrm>
            <a:off x="548640" y="1645920"/>
            <a:ext cx="457200" cy="457200"/>
          </a:xfrm>
          <a:prstGeom prst="ellipse">
            <a:avLst/>
          </a:prstGeom>
          <a:solidFill>
            <a:srgbClr val="17875A"/>
          </a:solidFill>
          <a:ln/>
        </p:spPr>
        <p:txBody>
          <a:bodyPr/>
          <a:lstStyle/>
          <a:p>
            <a:endParaRPr lang="en-US"/>
          </a:p>
        </p:txBody>
      </p:sp>
      <p:sp>
        <p:nvSpPr>
          <p:cNvPr id="11" name="Text 8"/>
          <p:cNvSpPr txBox="1"/>
          <p:nvPr/>
        </p:nvSpPr>
        <p:spPr>
          <a:xfrm>
            <a:off x="548640" y="16459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2" name="Text 9"/>
          <p:cNvSpPr txBox="1"/>
          <p:nvPr/>
        </p:nvSpPr>
        <p:spPr>
          <a:xfrm>
            <a:off x="1188720" y="16184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Type  cat orientation.txt  and read it.</a:t>
            </a:r>
            <a:endParaRPr lang="en-US" sz="1800" dirty="0"/>
          </a:p>
        </p:txBody>
      </p:sp>
      <p:sp>
        <p:nvSpPr>
          <p:cNvPr id="13" name="Shape 10"/>
          <p:cNvSpPr/>
          <p:nvPr/>
        </p:nvSpPr>
        <p:spPr>
          <a:xfrm>
            <a:off x="548640" y="2560320"/>
            <a:ext cx="457200" cy="457200"/>
          </a:xfrm>
          <a:prstGeom prst="ellipse">
            <a:avLst/>
          </a:prstGeom>
          <a:solidFill>
            <a:srgbClr val="17875A"/>
          </a:solidFill>
          <a:ln/>
        </p:spPr>
        <p:txBody>
          <a:bodyPr/>
          <a:lstStyle/>
          <a:p>
            <a:endParaRPr lang="en-US"/>
          </a:p>
        </p:txBody>
      </p:sp>
      <p:sp>
        <p:nvSpPr>
          <p:cNvPr id="14" name="Text 11"/>
          <p:cNvSpPr txBox="1"/>
          <p:nvPr/>
        </p:nvSpPr>
        <p:spPr>
          <a:xfrm>
            <a:off x="548640" y="25603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2"/>
          <p:cNvSpPr txBox="1"/>
          <p:nvPr/>
        </p:nvSpPr>
        <p:spPr>
          <a:xfrm>
            <a:off x="1188720" y="25328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The warm-up flag is on its last line.</a:t>
            </a:r>
            <a:endParaRPr lang="en-US" sz="1800" dirty="0"/>
          </a:p>
        </p:txBody>
      </p:sp>
      <p:sp>
        <p:nvSpPr>
          <p:cNvPr id="16" name="Shape 13"/>
          <p:cNvSpPr/>
          <p:nvPr/>
        </p:nvSpPr>
        <p:spPr>
          <a:xfrm>
            <a:off x="548640" y="3474720"/>
            <a:ext cx="457200" cy="457200"/>
          </a:xfrm>
          <a:prstGeom prst="ellipse">
            <a:avLst/>
          </a:prstGeom>
          <a:solidFill>
            <a:srgbClr val="17875A"/>
          </a:solidFill>
          <a:ln/>
        </p:spPr>
        <p:txBody>
          <a:bodyPr/>
          <a:lstStyle/>
          <a:p>
            <a:endParaRPr lang="en-US"/>
          </a:p>
        </p:txBody>
      </p:sp>
      <p:sp>
        <p:nvSpPr>
          <p:cNvPr id="17" name="Text 14"/>
          <p:cNvSpPr txBox="1"/>
          <p:nvPr/>
        </p:nvSpPr>
        <p:spPr>
          <a:xfrm>
            <a:off x="548640" y="34747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1188720" y="34472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Highlight it, then  submit  and paste.</a:t>
            </a:r>
            <a:endParaRPr lang="en-US" sz="1800" dirty="0"/>
          </a:p>
        </p:txBody>
      </p:sp>
      <p:sp>
        <p:nvSpPr>
          <p:cNvPr id="19" name="Shape 16"/>
          <p:cNvSpPr/>
          <p:nvPr/>
        </p:nvSpPr>
        <p:spPr>
          <a:xfrm>
            <a:off x="548640" y="4389120"/>
            <a:ext cx="457200" cy="457200"/>
          </a:xfrm>
          <a:prstGeom prst="ellipse">
            <a:avLst/>
          </a:prstGeom>
          <a:solidFill>
            <a:srgbClr val="17875A"/>
          </a:solidFill>
          <a:ln/>
        </p:spPr>
        <p:txBody>
          <a:bodyPr/>
          <a:lstStyle/>
          <a:p>
            <a:endParaRPr lang="en-US"/>
          </a:p>
        </p:txBody>
      </p:sp>
      <p:sp>
        <p:nvSpPr>
          <p:cNvPr id="20" name="Text 17"/>
          <p:cNvSpPr txBox="1"/>
          <p:nvPr/>
        </p:nvSpPr>
        <p:spPr>
          <a:xfrm>
            <a:off x="548640" y="43891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8"/>
          <p:cNvSpPr txBox="1"/>
          <p:nvPr/>
        </p:nvSpPr>
        <p:spPr>
          <a:xfrm>
            <a:off x="1188720" y="43616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+50 bonus. Or skip to Warm-up 2.</a:t>
            </a:r>
            <a:endParaRPr lang="en-US" sz="1800" dirty="0"/>
          </a:p>
        </p:txBody>
      </p:sp>
      <p:sp>
        <p:nvSpPr>
          <p:cNvPr id="22" name="Shape 19"/>
          <p:cNvSpPr/>
          <p:nvPr/>
        </p:nvSpPr>
        <p:spPr>
          <a:xfrm>
            <a:off x="548640" y="5440680"/>
            <a:ext cx="5120640" cy="548640"/>
          </a:xfrm>
          <a:prstGeom prst="roundRect">
            <a:avLst>
              <a:gd name="adj" fmla="val 16667"/>
            </a:avLst>
          </a:prstGeom>
          <a:solidFill>
            <a:srgbClr val="E2F5EC"/>
          </a:solidFill>
          <a:ln/>
        </p:spPr>
        <p:txBody>
          <a:bodyPr/>
          <a:lstStyle/>
          <a:p>
            <a:endParaRPr lang="en-US"/>
          </a:p>
        </p:txBody>
      </p:sp>
      <p:sp>
        <p:nvSpPr>
          <p:cNvPr id="23" name="Text 20"/>
          <p:cNvSpPr txBox="1"/>
          <p:nvPr/>
        </p:nvSpPr>
        <p:spPr>
          <a:xfrm>
            <a:off x="822960" y="5440680"/>
            <a:ext cx="4754880" cy="548640"/>
          </a:xfrm>
          <a:prstGeom prst="rect">
            <a:avLst/>
          </a:prstGeom>
          <a:noFill/>
          <a:ln/>
        </p:spPr>
        <p:txBody>
          <a:bodyPr wrap="square" lIns="0" tIns="0" rIns="0" bIns="0" rtlCol="0" anchor="ctr"/>
          <a:lstStyle/>
          <a:p>
            <a:pPr marL="0" indent="0">
              <a:buNone/>
            </a:pPr>
            <a:r>
              <a:rPr lang="en-US" sz="1600" b="1" dirty="0">
                <a:solidFill>
                  <a:srgbClr val="0F6A45"/>
                </a:solidFill>
                <a:latin typeface="Calibri" pitchFamily="34" charset="0"/>
                <a:ea typeface="Calibri" pitchFamily="34" charset="-122"/>
                <a:cs typeface="Calibri" pitchFamily="34" charset="-120"/>
              </a:rPr>
              <a:t>Untimed: the clock starts with Mission 1.</a:t>
            </a:r>
            <a:endParaRPr lang="en-US" sz="1600" dirty="0"/>
          </a:p>
        </p:txBody>
      </p:sp>
      <p:sp>
        <p:nvSpPr>
          <p:cNvPr id="24" name="Shape 21"/>
          <p:cNvSpPr/>
          <p:nvPr/>
        </p:nvSpPr>
        <p:spPr>
          <a:xfrm>
            <a:off x="6126480" y="1463040"/>
            <a:ext cx="5513832" cy="4526280"/>
          </a:xfrm>
          <a:prstGeom prst="roundRect">
            <a:avLst>
              <a:gd name="adj" fmla="val 2020"/>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327648" y="1618488"/>
            <a:ext cx="118872" cy="118872"/>
          </a:xfrm>
          <a:prstGeom prst="ellipse">
            <a:avLst/>
          </a:prstGeom>
          <a:solidFill>
            <a:srgbClr val="E5534B"/>
          </a:solidFill>
          <a:ln/>
        </p:spPr>
        <p:txBody>
          <a:bodyPr/>
          <a:lstStyle/>
          <a:p>
            <a:endParaRPr lang="en-US"/>
          </a:p>
        </p:txBody>
      </p:sp>
      <p:sp>
        <p:nvSpPr>
          <p:cNvPr id="26" name="Shape 23"/>
          <p:cNvSpPr/>
          <p:nvPr/>
        </p:nvSpPr>
        <p:spPr>
          <a:xfrm>
            <a:off x="6528816" y="1618488"/>
            <a:ext cx="118872" cy="118872"/>
          </a:xfrm>
          <a:prstGeom prst="ellipse">
            <a:avLst/>
          </a:prstGeom>
          <a:solidFill>
            <a:srgbClr val="F5A623"/>
          </a:solidFill>
          <a:ln/>
        </p:spPr>
        <p:txBody>
          <a:bodyPr/>
          <a:lstStyle/>
          <a:p>
            <a:endParaRPr lang="en-US"/>
          </a:p>
        </p:txBody>
      </p:sp>
      <p:sp>
        <p:nvSpPr>
          <p:cNvPr id="27" name="Shape 24"/>
          <p:cNvSpPr/>
          <p:nvPr/>
        </p:nvSpPr>
        <p:spPr>
          <a:xfrm>
            <a:off x="6729984" y="1618488"/>
            <a:ext cx="118872" cy="118872"/>
          </a:xfrm>
          <a:prstGeom prst="ellipse">
            <a:avLst/>
          </a:prstGeom>
          <a:solidFill>
            <a:srgbClr val="46D39A"/>
          </a:solidFill>
          <a:ln/>
        </p:spPr>
        <p:txBody>
          <a:bodyPr/>
          <a:lstStyle/>
          <a:p>
            <a:endParaRPr lang="en-US"/>
          </a:p>
        </p:txBody>
      </p:sp>
      <p:sp>
        <p:nvSpPr>
          <p:cNvPr id="28" name="Text 25"/>
          <p:cNvSpPr txBox="1"/>
          <p:nvPr/>
        </p:nvSpPr>
        <p:spPr>
          <a:xfrm>
            <a:off x="7040880" y="1536192"/>
            <a:ext cx="368503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29" name="Text 26"/>
          <p:cNvSpPr txBox="1"/>
          <p:nvPr/>
        </p:nvSpPr>
        <p:spPr>
          <a:xfrm>
            <a:off x="6400800" y="1920240"/>
            <a:ext cx="4965192" cy="393192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orientation.txt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CTF Orientation</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1. Read a mission's instructions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cd ~/mission1   then   cat README.txt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3. Submit the flag</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submit CYBA{word-1a2b3c4d}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Warm-up flag:</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  CYBA{warmup-...}</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CYBA{warmup-...}</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+50 points</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How the competition runs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40</a:t>
            </a:r>
            <a:endParaRPr lang="en-US" sz="1000" dirty="0"/>
          </a:p>
        </p:txBody>
      </p:sp>
      <p:sp>
        <p:nvSpPr>
          <p:cNvPr id="6" name="Shape 3"/>
          <p:cNvSpPr/>
          <p:nvPr/>
        </p:nvSpPr>
        <p:spPr>
          <a:xfrm>
            <a:off x="548640" y="1554480"/>
            <a:ext cx="5449824" cy="2926080"/>
          </a:xfrm>
          <a:prstGeom prst="roundRect">
            <a:avLst>
              <a:gd name="adj" fmla="val 4375"/>
            </a:avLst>
          </a:prstGeom>
          <a:solidFill>
            <a:srgbClr val="2459D8"/>
          </a:solidFill>
          <a:ln/>
        </p:spPr>
        <p:txBody>
          <a:bodyPr/>
          <a:lstStyle/>
          <a:p>
            <a:endParaRPr lang="en-US"/>
          </a:p>
        </p:txBody>
      </p:sp>
      <p:sp>
        <p:nvSpPr>
          <p:cNvPr id="7" name="Text 4"/>
          <p:cNvSpPr txBox="1"/>
          <p:nvPr/>
        </p:nvSpPr>
        <p:spPr>
          <a:xfrm>
            <a:off x="914400" y="1737360"/>
            <a:ext cx="3657600" cy="457200"/>
          </a:xfrm>
          <a:prstGeom prst="rect">
            <a:avLst/>
          </a:prstGeom>
          <a:noFill/>
          <a:ln/>
        </p:spPr>
        <p:txBody>
          <a:bodyPr wrap="square" lIns="0" tIns="0" rIns="0" bIns="0" rtlCol="0" anchor="ctr"/>
          <a:lstStyle/>
          <a:p>
            <a:pPr marL="0" indent="0">
              <a:buNone/>
            </a:pPr>
            <a:r>
              <a:rPr lang="en-US" sz="1800" b="1" dirty="0">
                <a:solidFill>
                  <a:srgbClr val="E8EEFF"/>
                </a:solidFill>
                <a:latin typeface="Calibri" pitchFamily="34" charset="0"/>
                <a:ea typeface="Calibri" pitchFamily="34" charset="-122"/>
                <a:cs typeface="Calibri" pitchFamily="34" charset="-120"/>
              </a:rPr>
              <a:t>Missions 1–2</a:t>
            </a:r>
            <a:endParaRPr lang="en-US" sz="1800" dirty="0"/>
          </a:p>
        </p:txBody>
      </p:sp>
      <p:sp>
        <p:nvSpPr>
          <p:cNvPr id="8" name="Text 5"/>
          <p:cNvSpPr txBox="1"/>
          <p:nvPr/>
        </p:nvSpPr>
        <p:spPr>
          <a:xfrm>
            <a:off x="914400" y="2194560"/>
            <a:ext cx="3657600" cy="82296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We do</a:t>
            </a:r>
            <a:endParaRPr lang="en-US" sz="4400" dirty="0"/>
          </a:p>
        </p:txBody>
      </p:sp>
      <p:sp>
        <p:nvSpPr>
          <p:cNvPr id="9" name="Text 6"/>
          <p:cNvSpPr txBox="1"/>
          <p:nvPr/>
        </p:nvSpPr>
        <p:spPr>
          <a:xfrm>
            <a:off x="914400" y="3063240"/>
            <a:ext cx="4663440" cy="109728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Guided. The class calls out each command; the mentor types; everyone captures together.</a:t>
            </a:r>
            <a:endParaRPr lang="en-US" sz="1600" dirty="0"/>
          </a:p>
        </p:txBody>
      </p:sp>
      <p:sp>
        <p:nvSpPr>
          <p:cNvPr id="10" name="Text 7"/>
          <p:cNvSpPr txBox="1"/>
          <p:nvPr/>
        </p:nvSpPr>
        <p:spPr>
          <a:xfrm>
            <a:off x="4206240" y="1737360"/>
            <a:ext cx="1463040" cy="457200"/>
          </a:xfrm>
          <a:prstGeom prst="rect">
            <a:avLst/>
          </a:prstGeom>
          <a:noFill/>
          <a:ln/>
        </p:spPr>
        <p:txBody>
          <a:bodyPr wrap="square" lIns="0" tIns="0" rIns="0" bIns="0" rtlCol="0" anchor="ctr"/>
          <a:lstStyle/>
          <a:p>
            <a:pPr marL="0" indent="0" algn="r">
              <a:buNone/>
            </a:pPr>
            <a:r>
              <a:rPr lang="en-US" sz="1800" b="1" dirty="0">
                <a:solidFill>
                  <a:srgbClr val="FFFFFF"/>
                </a:solidFill>
                <a:latin typeface="Courier New" pitchFamily="34" charset="0"/>
                <a:ea typeface="Courier New" pitchFamily="34" charset="-122"/>
                <a:cs typeface="Courier New" pitchFamily="34" charset="-120"/>
              </a:rPr>
              <a:t>200 pts</a:t>
            </a:r>
            <a:endParaRPr lang="en-US" sz="1800" dirty="0"/>
          </a:p>
        </p:txBody>
      </p:sp>
      <p:sp>
        <p:nvSpPr>
          <p:cNvPr id="11" name="Shape 8"/>
          <p:cNvSpPr/>
          <p:nvPr/>
        </p:nvSpPr>
        <p:spPr>
          <a:xfrm>
            <a:off x="6190488" y="1554480"/>
            <a:ext cx="5449824" cy="2926080"/>
          </a:xfrm>
          <a:prstGeom prst="roundRect">
            <a:avLst>
              <a:gd name="adj" fmla="val 4375"/>
            </a:avLst>
          </a:prstGeom>
          <a:solidFill>
            <a:srgbClr val="17875A"/>
          </a:solidFill>
          <a:ln/>
        </p:spPr>
        <p:txBody>
          <a:bodyPr/>
          <a:lstStyle/>
          <a:p>
            <a:endParaRPr lang="en-US"/>
          </a:p>
        </p:txBody>
      </p:sp>
      <p:sp>
        <p:nvSpPr>
          <p:cNvPr id="12" name="Text 9"/>
          <p:cNvSpPr txBox="1"/>
          <p:nvPr/>
        </p:nvSpPr>
        <p:spPr>
          <a:xfrm>
            <a:off x="6556248" y="1737360"/>
            <a:ext cx="3657600" cy="457200"/>
          </a:xfrm>
          <a:prstGeom prst="rect">
            <a:avLst/>
          </a:prstGeom>
          <a:noFill/>
          <a:ln/>
        </p:spPr>
        <p:txBody>
          <a:bodyPr wrap="square" lIns="0" tIns="0" rIns="0" bIns="0" rtlCol="0" anchor="ctr"/>
          <a:lstStyle/>
          <a:p>
            <a:pPr marL="0" indent="0">
              <a:buNone/>
            </a:pPr>
            <a:r>
              <a:rPr lang="en-US" sz="1800" b="1" dirty="0">
                <a:solidFill>
                  <a:srgbClr val="E8EEFF"/>
                </a:solidFill>
                <a:latin typeface="Calibri" pitchFamily="34" charset="0"/>
                <a:ea typeface="Calibri" pitchFamily="34" charset="-122"/>
                <a:cs typeface="Calibri" pitchFamily="34" charset="-120"/>
              </a:rPr>
              <a:t>Missions 3–10</a:t>
            </a:r>
            <a:endParaRPr lang="en-US" sz="1800" dirty="0"/>
          </a:p>
        </p:txBody>
      </p:sp>
      <p:sp>
        <p:nvSpPr>
          <p:cNvPr id="13" name="Text 10"/>
          <p:cNvSpPr txBox="1"/>
          <p:nvPr/>
        </p:nvSpPr>
        <p:spPr>
          <a:xfrm>
            <a:off x="6556248" y="2194560"/>
            <a:ext cx="3657600" cy="82296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You do</a:t>
            </a:r>
            <a:endParaRPr lang="en-US" sz="4400" dirty="0"/>
          </a:p>
        </p:txBody>
      </p:sp>
      <p:sp>
        <p:nvSpPr>
          <p:cNvPr id="14" name="Text 11"/>
          <p:cNvSpPr txBox="1"/>
          <p:nvPr/>
        </p:nvSpPr>
        <p:spPr>
          <a:xfrm>
            <a:off x="6556248" y="3063240"/>
            <a:ext cx="4663440" cy="109728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The race. Teams solve on their own clock. The walkthrough comes after most teams have it.</a:t>
            </a:r>
            <a:endParaRPr lang="en-US" sz="1600" dirty="0"/>
          </a:p>
        </p:txBody>
      </p:sp>
      <p:sp>
        <p:nvSpPr>
          <p:cNvPr id="15" name="Text 12"/>
          <p:cNvSpPr txBox="1"/>
          <p:nvPr/>
        </p:nvSpPr>
        <p:spPr>
          <a:xfrm>
            <a:off x="9848088" y="1737360"/>
            <a:ext cx="1463040" cy="457200"/>
          </a:xfrm>
          <a:prstGeom prst="rect">
            <a:avLst/>
          </a:prstGeom>
          <a:noFill/>
          <a:ln/>
        </p:spPr>
        <p:txBody>
          <a:bodyPr wrap="square" lIns="0" tIns="0" rIns="0" bIns="0" rtlCol="0" anchor="ctr"/>
          <a:lstStyle/>
          <a:p>
            <a:pPr marL="0" indent="0" algn="r">
              <a:buNone/>
            </a:pPr>
            <a:r>
              <a:rPr lang="en-US" sz="1800" b="1" dirty="0">
                <a:solidFill>
                  <a:srgbClr val="FFFFFF"/>
                </a:solidFill>
                <a:latin typeface="Courier New" pitchFamily="34" charset="0"/>
                <a:ea typeface="Courier New" pitchFamily="34" charset="-122"/>
                <a:cs typeface="Courier New" pitchFamily="34" charset="-120"/>
              </a:rPr>
              <a:t>2,500 pts</a:t>
            </a:r>
            <a:endParaRPr lang="en-US" sz="1800" dirty="0"/>
          </a:p>
        </p:txBody>
      </p:sp>
      <p:sp>
        <p:nvSpPr>
          <p:cNvPr id="16" name="Shape 13"/>
          <p:cNvSpPr/>
          <p:nvPr/>
        </p:nvSpPr>
        <p:spPr>
          <a:xfrm>
            <a:off x="548640" y="4754880"/>
            <a:ext cx="2084832" cy="1143000"/>
          </a:xfrm>
          <a:prstGeom prst="roundRect">
            <a:avLst>
              <a:gd name="adj" fmla="val 8000"/>
            </a:avLst>
          </a:prstGeom>
          <a:solidFill>
            <a:srgbClr val="F1F5FB"/>
          </a:solidFill>
          <a:ln/>
        </p:spPr>
        <p:txBody>
          <a:bodyPr/>
          <a:lstStyle/>
          <a:p>
            <a:endParaRPr lang="en-US"/>
          </a:p>
        </p:txBody>
      </p:sp>
      <p:sp>
        <p:nvSpPr>
          <p:cNvPr id="17" name="Text 14"/>
          <p:cNvSpPr txBox="1"/>
          <p:nvPr/>
        </p:nvSpPr>
        <p:spPr>
          <a:xfrm>
            <a:off x="731520" y="4846320"/>
            <a:ext cx="1828800" cy="411480"/>
          </a:xfrm>
          <a:prstGeom prst="rect">
            <a:avLst/>
          </a:prstGeom>
          <a:noFill/>
          <a:ln/>
        </p:spPr>
        <p:txBody>
          <a:bodyPr wrap="square" lIns="0" tIns="0" rIns="0" bIns="0" rtlCol="0" anchor="t"/>
          <a:lstStyle/>
          <a:p>
            <a:pPr marL="0" indent="0">
              <a:buNone/>
            </a:pPr>
            <a:r>
              <a:rPr lang="en-US" sz="1900" b="1" dirty="0">
                <a:solidFill>
                  <a:srgbClr val="17875A"/>
                </a:solidFill>
                <a:latin typeface="Arial" pitchFamily="34" charset="0"/>
                <a:ea typeface="Arial" pitchFamily="34" charset="-122"/>
                <a:cs typeface="Arial" pitchFamily="34" charset="-120"/>
              </a:rPr>
              <a:t>Read</a:t>
            </a:r>
            <a:endParaRPr lang="en-US" sz="1900" dirty="0"/>
          </a:p>
        </p:txBody>
      </p:sp>
      <p:sp>
        <p:nvSpPr>
          <p:cNvPr id="18" name="Text 15"/>
          <p:cNvSpPr txBox="1"/>
          <p:nvPr/>
        </p:nvSpPr>
        <p:spPr>
          <a:xfrm>
            <a:off x="731520"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the brief out loud</a:t>
            </a:r>
            <a:endParaRPr lang="en-US" sz="1400" dirty="0"/>
          </a:p>
        </p:txBody>
      </p:sp>
      <p:sp>
        <p:nvSpPr>
          <p:cNvPr id="19" name="Shape 16"/>
          <p:cNvSpPr/>
          <p:nvPr/>
        </p:nvSpPr>
        <p:spPr>
          <a:xfrm>
            <a:off x="2816352" y="4754880"/>
            <a:ext cx="2084832" cy="1143000"/>
          </a:xfrm>
          <a:prstGeom prst="roundRect">
            <a:avLst>
              <a:gd name="adj" fmla="val 8000"/>
            </a:avLst>
          </a:prstGeom>
          <a:solidFill>
            <a:srgbClr val="F1F5FB"/>
          </a:solidFill>
          <a:ln/>
        </p:spPr>
        <p:txBody>
          <a:bodyPr/>
          <a:lstStyle/>
          <a:p>
            <a:endParaRPr lang="en-US"/>
          </a:p>
        </p:txBody>
      </p:sp>
      <p:sp>
        <p:nvSpPr>
          <p:cNvPr id="20" name="Text 17"/>
          <p:cNvSpPr txBox="1"/>
          <p:nvPr/>
        </p:nvSpPr>
        <p:spPr>
          <a:xfrm>
            <a:off x="2999232" y="4846320"/>
            <a:ext cx="1828800" cy="411480"/>
          </a:xfrm>
          <a:prstGeom prst="rect">
            <a:avLst/>
          </a:prstGeom>
          <a:noFill/>
          <a:ln/>
        </p:spPr>
        <p:txBody>
          <a:bodyPr wrap="square" lIns="0" tIns="0" rIns="0" bIns="0" rtlCol="0" anchor="t"/>
          <a:lstStyle/>
          <a:p>
            <a:pPr marL="0" indent="0">
              <a:buNone/>
            </a:pPr>
            <a:r>
              <a:rPr lang="en-US" sz="1900" b="1" dirty="0">
                <a:solidFill>
                  <a:srgbClr val="2A9FD6"/>
                </a:solidFill>
                <a:latin typeface="Arial" pitchFamily="34" charset="0"/>
                <a:ea typeface="Arial" pitchFamily="34" charset="-122"/>
                <a:cs typeface="Arial" pitchFamily="34" charset="-120"/>
              </a:rPr>
              <a:t>Predict</a:t>
            </a:r>
            <a:endParaRPr lang="en-US" sz="1900" dirty="0"/>
          </a:p>
        </p:txBody>
      </p:sp>
      <p:sp>
        <p:nvSpPr>
          <p:cNvPr id="21" name="Text 18"/>
          <p:cNvSpPr txBox="1"/>
          <p:nvPr/>
        </p:nvSpPr>
        <p:spPr>
          <a:xfrm>
            <a:off x="2999232"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which tool, what output</a:t>
            </a:r>
            <a:endParaRPr lang="en-US" sz="1400" dirty="0"/>
          </a:p>
        </p:txBody>
      </p:sp>
      <p:sp>
        <p:nvSpPr>
          <p:cNvPr id="22" name="Shape 19"/>
          <p:cNvSpPr/>
          <p:nvPr/>
        </p:nvSpPr>
        <p:spPr>
          <a:xfrm>
            <a:off x="5084064" y="4754880"/>
            <a:ext cx="2084832" cy="1143000"/>
          </a:xfrm>
          <a:prstGeom prst="roundRect">
            <a:avLst>
              <a:gd name="adj" fmla="val 8000"/>
            </a:avLst>
          </a:prstGeom>
          <a:solidFill>
            <a:srgbClr val="F1F5FB"/>
          </a:solidFill>
          <a:ln/>
        </p:spPr>
        <p:txBody>
          <a:bodyPr/>
          <a:lstStyle/>
          <a:p>
            <a:endParaRPr lang="en-US"/>
          </a:p>
        </p:txBody>
      </p:sp>
      <p:sp>
        <p:nvSpPr>
          <p:cNvPr id="23" name="Text 20"/>
          <p:cNvSpPr txBox="1"/>
          <p:nvPr/>
        </p:nvSpPr>
        <p:spPr>
          <a:xfrm>
            <a:off x="5266944" y="4846320"/>
            <a:ext cx="1828800" cy="411480"/>
          </a:xfrm>
          <a:prstGeom prst="rect">
            <a:avLst/>
          </a:prstGeom>
          <a:noFill/>
          <a:ln/>
        </p:spPr>
        <p:txBody>
          <a:bodyPr wrap="square" lIns="0" tIns="0" rIns="0" bIns="0" rtlCol="0" anchor="t"/>
          <a:lstStyle/>
          <a:p>
            <a:pPr marL="0" indent="0">
              <a:buNone/>
            </a:pPr>
            <a:r>
              <a:rPr lang="en-US" sz="1900" b="1" dirty="0">
                <a:solidFill>
                  <a:srgbClr val="2459D8"/>
                </a:solidFill>
                <a:latin typeface="Arial" pitchFamily="34" charset="0"/>
                <a:ea typeface="Arial" pitchFamily="34" charset="-122"/>
                <a:cs typeface="Arial" pitchFamily="34" charset="-120"/>
              </a:rPr>
              <a:t>Type</a:t>
            </a:r>
            <a:endParaRPr lang="en-US" sz="1900" dirty="0"/>
          </a:p>
        </p:txBody>
      </p:sp>
      <p:sp>
        <p:nvSpPr>
          <p:cNvPr id="24" name="Text 21"/>
          <p:cNvSpPr txBox="1"/>
          <p:nvPr/>
        </p:nvSpPr>
        <p:spPr>
          <a:xfrm>
            <a:off x="5266944"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one command at a time</a:t>
            </a:r>
            <a:endParaRPr lang="en-US" sz="1400" dirty="0"/>
          </a:p>
        </p:txBody>
      </p:sp>
      <p:sp>
        <p:nvSpPr>
          <p:cNvPr id="25" name="Shape 22"/>
          <p:cNvSpPr/>
          <p:nvPr/>
        </p:nvSpPr>
        <p:spPr>
          <a:xfrm>
            <a:off x="7351776" y="4754880"/>
            <a:ext cx="2084832" cy="1143000"/>
          </a:xfrm>
          <a:prstGeom prst="roundRect">
            <a:avLst>
              <a:gd name="adj" fmla="val 8000"/>
            </a:avLst>
          </a:prstGeom>
          <a:solidFill>
            <a:srgbClr val="F1F5FB"/>
          </a:solidFill>
          <a:ln/>
        </p:spPr>
        <p:txBody>
          <a:bodyPr/>
          <a:lstStyle/>
          <a:p>
            <a:endParaRPr lang="en-US"/>
          </a:p>
        </p:txBody>
      </p:sp>
      <p:sp>
        <p:nvSpPr>
          <p:cNvPr id="26" name="Text 23"/>
          <p:cNvSpPr txBox="1"/>
          <p:nvPr/>
        </p:nvSpPr>
        <p:spPr>
          <a:xfrm>
            <a:off x="7534656" y="4846320"/>
            <a:ext cx="1828800" cy="411480"/>
          </a:xfrm>
          <a:prstGeom prst="rect">
            <a:avLst/>
          </a:prstGeom>
          <a:noFill/>
          <a:ln/>
        </p:spPr>
        <p:txBody>
          <a:bodyPr wrap="square" lIns="0" tIns="0" rIns="0" bIns="0" rtlCol="0" anchor="t"/>
          <a:lstStyle/>
          <a:p>
            <a:pPr marL="0" indent="0">
              <a:buNone/>
            </a:pPr>
            <a:r>
              <a:rPr lang="en-US" sz="1900" b="1" dirty="0">
                <a:solidFill>
                  <a:srgbClr val="7448D4"/>
                </a:solidFill>
                <a:latin typeface="Arial" pitchFamily="34" charset="0"/>
                <a:ea typeface="Arial" pitchFamily="34" charset="-122"/>
                <a:cs typeface="Arial" pitchFamily="34" charset="-120"/>
              </a:rPr>
              <a:t>Capture</a:t>
            </a:r>
            <a:endParaRPr lang="en-US" sz="1900" dirty="0"/>
          </a:p>
        </p:txBody>
      </p:sp>
      <p:sp>
        <p:nvSpPr>
          <p:cNvPr id="27" name="Text 24"/>
          <p:cNvSpPr txBox="1"/>
          <p:nvPr/>
        </p:nvSpPr>
        <p:spPr>
          <a:xfrm>
            <a:off x="7534656"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everyone submits</a:t>
            </a:r>
            <a:endParaRPr lang="en-US" sz="1400" dirty="0"/>
          </a:p>
        </p:txBody>
      </p:sp>
      <p:sp>
        <p:nvSpPr>
          <p:cNvPr id="28" name="Shape 25"/>
          <p:cNvSpPr/>
          <p:nvPr/>
        </p:nvSpPr>
        <p:spPr>
          <a:xfrm>
            <a:off x="9619488" y="4754880"/>
            <a:ext cx="2084832" cy="1143000"/>
          </a:xfrm>
          <a:prstGeom prst="roundRect">
            <a:avLst>
              <a:gd name="adj" fmla="val 8000"/>
            </a:avLst>
          </a:prstGeom>
          <a:solidFill>
            <a:srgbClr val="F1F5FB"/>
          </a:solidFill>
          <a:ln/>
        </p:spPr>
        <p:txBody>
          <a:bodyPr/>
          <a:lstStyle/>
          <a:p>
            <a:endParaRPr lang="en-US"/>
          </a:p>
        </p:txBody>
      </p:sp>
      <p:sp>
        <p:nvSpPr>
          <p:cNvPr id="29" name="Text 26"/>
          <p:cNvSpPr txBox="1"/>
          <p:nvPr/>
        </p:nvSpPr>
        <p:spPr>
          <a:xfrm>
            <a:off x="9802368" y="4846320"/>
            <a:ext cx="1828800" cy="411480"/>
          </a:xfrm>
          <a:prstGeom prst="rect">
            <a:avLst/>
          </a:prstGeom>
          <a:noFill/>
          <a:ln/>
        </p:spPr>
        <p:txBody>
          <a:bodyPr wrap="square" lIns="0" tIns="0" rIns="0" bIns="0" rtlCol="0" anchor="t"/>
          <a:lstStyle/>
          <a:p>
            <a:pPr marL="0" indent="0">
              <a:buNone/>
            </a:pPr>
            <a:r>
              <a:rPr lang="en-US" sz="1900" b="1" dirty="0">
                <a:solidFill>
                  <a:srgbClr val="D1416B"/>
                </a:solidFill>
                <a:latin typeface="Arial" pitchFamily="34" charset="0"/>
                <a:ea typeface="Arial" pitchFamily="34" charset="-122"/>
                <a:cs typeface="Arial" pitchFamily="34" charset="-120"/>
              </a:rPr>
              <a:t>Explain</a:t>
            </a:r>
            <a:endParaRPr lang="en-US" sz="1900" dirty="0"/>
          </a:p>
        </p:txBody>
      </p:sp>
      <p:sp>
        <p:nvSpPr>
          <p:cNvPr id="30" name="Text 27"/>
          <p:cNvSpPr txBox="1"/>
          <p:nvPr/>
        </p:nvSpPr>
        <p:spPr>
          <a:xfrm>
            <a:off x="9802368"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in plain words</a:t>
            </a:r>
            <a:endParaRPr lang="en-US" sz="1400" dirty="0"/>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The trail: ten missions, 2,700 points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41</a:t>
            </a:r>
            <a:endParaRPr lang="en-US" sz="1000" dirty="0"/>
          </a:p>
        </p:txBody>
      </p:sp>
      <p:sp>
        <p:nvSpPr>
          <p:cNvPr id="6" name="Shape 3"/>
          <p:cNvSpPr/>
          <p:nvPr/>
        </p:nvSpPr>
        <p:spPr>
          <a:xfrm>
            <a:off x="548640" y="1463040"/>
            <a:ext cx="2103120" cy="2103120"/>
          </a:xfrm>
          <a:prstGeom prst="roundRect">
            <a:avLst>
              <a:gd name="adj" fmla="val 4348"/>
            </a:avLst>
          </a:prstGeom>
          <a:solidFill>
            <a:srgbClr val="F1F5FB"/>
          </a:solidFill>
          <a:ln/>
        </p:spPr>
        <p:txBody>
          <a:bodyPr/>
          <a:lstStyle/>
          <a:p>
            <a:endParaRPr lang="en-US"/>
          </a:p>
        </p:txBody>
      </p:sp>
      <p:sp>
        <p:nvSpPr>
          <p:cNvPr id="7" name="Shape 4"/>
          <p:cNvSpPr/>
          <p:nvPr/>
        </p:nvSpPr>
        <p:spPr>
          <a:xfrm>
            <a:off x="548640" y="1463040"/>
            <a:ext cx="2103120" cy="91440"/>
          </a:xfrm>
          <a:prstGeom prst="rect">
            <a:avLst/>
          </a:prstGeom>
          <a:solidFill>
            <a:srgbClr val="17875A"/>
          </a:solidFill>
          <a:ln/>
        </p:spPr>
        <p:txBody>
          <a:bodyPr/>
          <a:lstStyle/>
          <a:p>
            <a:endParaRPr lang="en-US"/>
          </a:p>
        </p:txBody>
      </p:sp>
      <p:sp>
        <p:nvSpPr>
          <p:cNvPr id="8" name="Shape 5"/>
          <p:cNvSpPr/>
          <p:nvPr/>
        </p:nvSpPr>
        <p:spPr>
          <a:xfrm>
            <a:off x="713232" y="1719072"/>
            <a:ext cx="502920" cy="502920"/>
          </a:xfrm>
          <a:prstGeom prst="ellipse">
            <a:avLst/>
          </a:prstGeom>
          <a:solidFill>
            <a:srgbClr val="17875A"/>
          </a:solidFill>
          <a:ln/>
        </p:spPr>
        <p:txBody>
          <a:bodyPr/>
          <a:lstStyle/>
          <a:p>
            <a:endParaRPr lang="en-US"/>
          </a:p>
        </p:txBody>
      </p:sp>
      <p:sp>
        <p:nvSpPr>
          <p:cNvPr id="9" name="Text 6"/>
          <p:cNvSpPr txBox="1"/>
          <p:nvPr/>
        </p:nvSpPr>
        <p:spPr>
          <a:xfrm>
            <a:off x="71323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10" name="Text 7"/>
          <p:cNvSpPr txBox="1"/>
          <p:nvPr/>
        </p:nvSpPr>
        <p:spPr>
          <a:xfrm>
            <a:off x="1325880" y="1719072"/>
            <a:ext cx="1188720" cy="502920"/>
          </a:xfrm>
          <a:prstGeom prst="rect">
            <a:avLst/>
          </a:prstGeom>
          <a:noFill/>
          <a:ln/>
        </p:spPr>
        <p:txBody>
          <a:bodyPr wrap="square" lIns="0" tIns="0" rIns="0" bIns="0" rtlCol="0" anchor="ctr"/>
          <a:lstStyle/>
          <a:p>
            <a:pPr marL="0" indent="0" algn="r">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11" name="Text 8"/>
          <p:cNvSpPr txBox="1"/>
          <p:nvPr/>
        </p:nvSpPr>
        <p:spPr>
          <a:xfrm>
            <a:off x="71323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Make your move</a:t>
            </a:r>
            <a:endParaRPr lang="en-US" sz="1500" dirty="0"/>
          </a:p>
        </p:txBody>
      </p:sp>
      <p:sp>
        <p:nvSpPr>
          <p:cNvPr id="12" name="Shape 9"/>
          <p:cNvSpPr/>
          <p:nvPr/>
        </p:nvSpPr>
        <p:spPr>
          <a:xfrm>
            <a:off x="713232" y="2852928"/>
            <a:ext cx="1783080" cy="347472"/>
          </a:xfrm>
          <a:prstGeom prst="roundRect">
            <a:avLst>
              <a:gd name="adj" fmla="val 50000"/>
            </a:avLst>
          </a:prstGeom>
          <a:solidFill>
            <a:srgbClr val="E2F5EC"/>
          </a:solidFill>
          <a:ln/>
        </p:spPr>
        <p:txBody>
          <a:bodyPr/>
          <a:lstStyle/>
          <a:p>
            <a:endParaRPr lang="en-US"/>
          </a:p>
        </p:txBody>
      </p:sp>
      <p:sp>
        <p:nvSpPr>
          <p:cNvPr id="13" name="Text 10"/>
          <p:cNvSpPr txBox="1"/>
          <p:nvPr/>
        </p:nvSpPr>
        <p:spPr>
          <a:xfrm>
            <a:off x="713232" y="2852928"/>
            <a:ext cx="1783080" cy="347472"/>
          </a:xfrm>
          <a:prstGeom prst="rect">
            <a:avLst/>
          </a:prstGeom>
          <a:noFill/>
          <a:ln/>
        </p:spPr>
        <p:txBody>
          <a:bodyPr wrap="square" lIns="0" tIns="0" rIns="0" bIns="0" rtlCol="0" anchor="ctr"/>
          <a:lstStyle/>
          <a:p>
            <a:pPr marL="0" indent="0" algn="ctr">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14" name="Text 11"/>
          <p:cNvSpPr txBox="1"/>
          <p:nvPr/>
        </p:nvSpPr>
        <p:spPr>
          <a:xfrm>
            <a:off x="71323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pwd  ls  cd  cd ..</a:t>
            </a:r>
            <a:endParaRPr lang="en-US" sz="1000" dirty="0"/>
          </a:p>
        </p:txBody>
      </p:sp>
      <p:sp>
        <p:nvSpPr>
          <p:cNvPr id="15" name="Shape 12"/>
          <p:cNvSpPr/>
          <p:nvPr/>
        </p:nvSpPr>
        <p:spPr>
          <a:xfrm>
            <a:off x="2788920" y="1463040"/>
            <a:ext cx="2103120" cy="2103120"/>
          </a:xfrm>
          <a:prstGeom prst="roundRect">
            <a:avLst>
              <a:gd name="adj" fmla="val 4348"/>
            </a:avLst>
          </a:prstGeom>
          <a:solidFill>
            <a:srgbClr val="F1F5FB"/>
          </a:solidFill>
          <a:ln/>
        </p:spPr>
        <p:txBody>
          <a:bodyPr/>
          <a:lstStyle/>
          <a:p>
            <a:endParaRPr lang="en-US"/>
          </a:p>
        </p:txBody>
      </p:sp>
      <p:sp>
        <p:nvSpPr>
          <p:cNvPr id="16" name="Shape 13"/>
          <p:cNvSpPr/>
          <p:nvPr/>
        </p:nvSpPr>
        <p:spPr>
          <a:xfrm>
            <a:off x="2788920" y="1463040"/>
            <a:ext cx="2103120" cy="91440"/>
          </a:xfrm>
          <a:prstGeom prst="rect">
            <a:avLst/>
          </a:prstGeom>
          <a:solidFill>
            <a:srgbClr val="2A9FD6"/>
          </a:solidFill>
          <a:ln/>
        </p:spPr>
        <p:txBody>
          <a:bodyPr/>
          <a:lstStyle/>
          <a:p>
            <a:endParaRPr lang="en-US"/>
          </a:p>
        </p:txBody>
      </p:sp>
      <p:sp>
        <p:nvSpPr>
          <p:cNvPr id="17" name="Shape 14"/>
          <p:cNvSpPr/>
          <p:nvPr/>
        </p:nvSpPr>
        <p:spPr>
          <a:xfrm>
            <a:off x="2953512" y="1719072"/>
            <a:ext cx="502920" cy="502920"/>
          </a:xfrm>
          <a:prstGeom prst="ellipse">
            <a:avLst/>
          </a:prstGeom>
          <a:solidFill>
            <a:srgbClr val="2A9FD6"/>
          </a:solidFill>
          <a:ln/>
        </p:spPr>
        <p:txBody>
          <a:bodyPr/>
          <a:lstStyle/>
          <a:p>
            <a:endParaRPr lang="en-US"/>
          </a:p>
        </p:txBody>
      </p:sp>
      <p:sp>
        <p:nvSpPr>
          <p:cNvPr id="18" name="Text 15"/>
          <p:cNvSpPr txBox="1"/>
          <p:nvPr/>
        </p:nvSpPr>
        <p:spPr>
          <a:xfrm>
            <a:off x="295351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9" name="Text 16"/>
          <p:cNvSpPr txBox="1"/>
          <p:nvPr/>
        </p:nvSpPr>
        <p:spPr>
          <a:xfrm>
            <a:off x="3566160" y="1719072"/>
            <a:ext cx="1188720" cy="502920"/>
          </a:xfrm>
          <a:prstGeom prst="rect">
            <a:avLst/>
          </a:prstGeom>
          <a:noFill/>
          <a:ln/>
        </p:spPr>
        <p:txBody>
          <a:bodyPr wrap="square" lIns="0" tIns="0" rIns="0" bIns="0" rtlCol="0" anchor="ctr"/>
          <a:lstStyle/>
          <a:p>
            <a:pPr marL="0" indent="0" algn="r">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20" name="Text 17"/>
          <p:cNvSpPr txBox="1"/>
          <p:nvPr/>
        </p:nvSpPr>
        <p:spPr>
          <a:xfrm>
            <a:off x="295351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Let the cat out of the bag</a:t>
            </a:r>
            <a:endParaRPr lang="en-US" sz="1500" dirty="0"/>
          </a:p>
        </p:txBody>
      </p:sp>
      <p:sp>
        <p:nvSpPr>
          <p:cNvPr id="21" name="Shape 18"/>
          <p:cNvSpPr/>
          <p:nvPr/>
        </p:nvSpPr>
        <p:spPr>
          <a:xfrm>
            <a:off x="2953512" y="2852928"/>
            <a:ext cx="1783080" cy="347472"/>
          </a:xfrm>
          <a:prstGeom prst="roundRect">
            <a:avLst>
              <a:gd name="adj" fmla="val 50000"/>
            </a:avLst>
          </a:prstGeom>
          <a:solidFill>
            <a:srgbClr val="E2F5EC"/>
          </a:solidFill>
          <a:ln/>
        </p:spPr>
        <p:txBody>
          <a:bodyPr/>
          <a:lstStyle/>
          <a:p>
            <a:endParaRPr lang="en-US"/>
          </a:p>
        </p:txBody>
      </p:sp>
      <p:sp>
        <p:nvSpPr>
          <p:cNvPr id="22" name="Text 19"/>
          <p:cNvSpPr txBox="1"/>
          <p:nvPr/>
        </p:nvSpPr>
        <p:spPr>
          <a:xfrm>
            <a:off x="2953512" y="2852928"/>
            <a:ext cx="1783080" cy="347472"/>
          </a:xfrm>
          <a:prstGeom prst="rect">
            <a:avLst/>
          </a:prstGeom>
          <a:noFill/>
          <a:ln/>
        </p:spPr>
        <p:txBody>
          <a:bodyPr wrap="square" lIns="0" tIns="0" rIns="0" bIns="0" rtlCol="0" anchor="ctr"/>
          <a:lstStyle/>
          <a:p>
            <a:pPr marL="0" indent="0" algn="ctr">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23" name="Text 20"/>
          <p:cNvSpPr txBox="1"/>
          <p:nvPr/>
        </p:nvSpPr>
        <p:spPr>
          <a:xfrm>
            <a:off x="295351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cat  --help</a:t>
            </a:r>
            <a:endParaRPr lang="en-US" sz="1000" dirty="0"/>
          </a:p>
        </p:txBody>
      </p:sp>
      <p:sp>
        <p:nvSpPr>
          <p:cNvPr id="24" name="Shape 21"/>
          <p:cNvSpPr/>
          <p:nvPr/>
        </p:nvSpPr>
        <p:spPr>
          <a:xfrm>
            <a:off x="5029200" y="1463040"/>
            <a:ext cx="2103120" cy="2103120"/>
          </a:xfrm>
          <a:prstGeom prst="roundRect">
            <a:avLst>
              <a:gd name="adj" fmla="val 4348"/>
            </a:avLst>
          </a:prstGeom>
          <a:solidFill>
            <a:srgbClr val="F1F5FB"/>
          </a:solidFill>
          <a:ln/>
        </p:spPr>
        <p:txBody>
          <a:bodyPr/>
          <a:lstStyle/>
          <a:p>
            <a:endParaRPr lang="en-US"/>
          </a:p>
        </p:txBody>
      </p:sp>
      <p:sp>
        <p:nvSpPr>
          <p:cNvPr id="25" name="Shape 22"/>
          <p:cNvSpPr/>
          <p:nvPr/>
        </p:nvSpPr>
        <p:spPr>
          <a:xfrm>
            <a:off x="5029200" y="1463040"/>
            <a:ext cx="2103120" cy="91440"/>
          </a:xfrm>
          <a:prstGeom prst="rect">
            <a:avLst/>
          </a:prstGeom>
          <a:solidFill>
            <a:srgbClr val="2459D8"/>
          </a:solidFill>
          <a:ln/>
        </p:spPr>
        <p:txBody>
          <a:bodyPr/>
          <a:lstStyle/>
          <a:p>
            <a:endParaRPr lang="en-US"/>
          </a:p>
        </p:txBody>
      </p:sp>
      <p:sp>
        <p:nvSpPr>
          <p:cNvPr id="26" name="Shape 23"/>
          <p:cNvSpPr/>
          <p:nvPr/>
        </p:nvSpPr>
        <p:spPr>
          <a:xfrm>
            <a:off x="5193792" y="1719072"/>
            <a:ext cx="502920" cy="502920"/>
          </a:xfrm>
          <a:prstGeom prst="ellipse">
            <a:avLst/>
          </a:prstGeom>
          <a:solidFill>
            <a:srgbClr val="2459D8"/>
          </a:solidFill>
          <a:ln/>
        </p:spPr>
        <p:txBody>
          <a:bodyPr/>
          <a:lstStyle/>
          <a:p>
            <a:endParaRPr lang="en-US"/>
          </a:p>
        </p:txBody>
      </p:sp>
      <p:sp>
        <p:nvSpPr>
          <p:cNvPr id="27" name="Text 24"/>
          <p:cNvSpPr txBox="1"/>
          <p:nvPr/>
        </p:nvSpPr>
        <p:spPr>
          <a:xfrm>
            <a:off x="519379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8" name="Text 25"/>
          <p:cNvSpPr txBox="1"/>
          <p:nvPr/>
        </p:nvSpPr>
        <p:spPr>
          <a:xfrm>
            <a:off x="5806440" y="171907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29" name="Text 26"/>
          <p:cNvSpPr txBox="1"/>
          <p:nvPr/>
        </p:nvSpPr>
        <p:spPr>
          <a:xfrm>
            <a:off x="519379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Now you see me</a:t>
            </a:r>
            <a:endParaRPr lang="en-US" sz="1500" dirty="0"/>
          </a:p>
        </p:txBody>
      </p:sp>
      <p:sp>
        <p:nvSpPr>
          <p:cNvPr id="30" name="Shape 27"/>
          <p:cNvSpPr/>
          <p:nvPr/>
        </p:nvSpPr>
        <p:spPr>
          <a:xfrm>
            <a:off x="5193792" y="2852928"/>
            <a:ext cx="1783080" cy="347472"/>
          </a:xfrm>
          <a:prstGeom prst="roundRect">
            <a:avLst>
              <a:gd name="adj" fmla="val 50000"/>
            </a:avLst>
          </a:prstGeom>
          <a:solidFill>
            <a:srgbClr val="E2F5EC"/>
          </a:solidFill>
          <a:ln/>
        </p:spPr>
        <p:txBody>
          <a:bodyPr/>
          <a:lstStyle/>
          <a:p>
            <a:endParaRPr lang="en-US"/>
          </a:p>
        </p:txBody>
      </p:sp>
      <p:sp>
        <p:nvSpPr>
          <p:cNvPr id="31" name="Text 28"/>
          <p:cNvSpPr txBox="1"/>
          <p:nvPr/>
        </p:nvSpPr>
        <p:spPr>
          <a:xfrm>
            <a:off x="5193792" y="2852928"/>
            <a:ext cx="1783080" cy="347472"/>
          </a:xfrm>
          <a:prstGeom prst="rect">
            <a:avLst/>
          </a:prstGeom>
          <a:noFill/>
          <a:ln/>
        </p:spPr>
        <p:txBody>
          <a:bodyPr wrap="square" lIns="0" tIns="0" rIns="0" bIns="0" rtlCol="0" anchor="ctr"/>
          <a:lstStyle/>
          <a:p>
            <a:pPr marL="0" indent="0" algn="ctr">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32" name="Text 29"/>
          <p:cNvSpPr txBox="1"/>
          <p:nvPr/>
        </p:nvSpPr>
        <p:spPr>
          <a:xfrm>
            <a:off x="519379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ls -a</a:t>
            </a:r>
            <a:endParaRPr lang="en-US" sz="1000" dirty="0"/>
          </a:p>
        </p:txBody>
      </p:sp>
      <p:sp>
        <p:nvSpPr>
          <p:cNvPr id="33" name="Shape 30"/>
          <p:cNvSpPr/>
          <p:nvPr/>
        </p:nvSpPr>
        <p:spPr>
          <a:xfrm>
            <a:off x="7269480" y="1463040"/>
            <a:ext cx="2103120" cy="2103120"/>
          </a:xfrm>
          <a:prstGeom prst="roundRect">
            <a:avLst>
              <a:gd name="adj" fmla="val 4348"/>
            </a:avLst>
          </a:prstGeom>
          <a:solidFill>
            <a:srgbClr val="F1F5FB"/>
          </a:solidFill>
          <a:ln/>
        </p:spPr>
        <p:txBody>
          <a:bodyPr/>
          <a:lstStyle/>
          <a:p>
            <a:endParaRPr lang="en-US"/>
          </a:p>
        </p:txBody>
      </p:sp>
      <p:sp>
        <p:nvSpPr>
          <p:cNvPr id="34" name="Shape 31"/>
          <p:cNvSpPr/>
          <p:nvPr/>
        </p:nvSpPr>
        <p:spPr>
          <a:xfrm>
            <a:off x="7269480" y="1463040"/>
            <a:ext cx="2103120" cy="91440"/>
          </a:xfrm>
          <a:prstGeom prst="rect">
            <a:avLst/>
          </a:prstGeom>
          <a:solidFill>
            <a:srgbClr val="7448D4"/>
          </a:solidFill>
          <a:ln/>
        </p:spPr>
        <p:txBody>
          <a:bodyPr/>
          <a:lstStyle/>
          <a:p>
            <a:endParaRPr lang="en-US"/>
          </a:p>
        </p:txBody>
      </p:sp>
      <p:sp>
        <p:nvSpPr>
          <p:cNvPr id="35" name="Shape 32"/>
          <p:cNvSpPr/>
          <p:nvPr/>
        </p:nvSpPr>
        <p:spPr>
          <a:xfrm>
            <a:off x="7434072" y="1719072"/>
            <a:ext cx="502920" cy="502920"/>
          </a:xfrm>
          <a:prstGeom prst="ellipse">
            <a:avLst/>
          </a:prstGeom>
          <a:solidFill>
            <a:srgbClr val="7448D4"/>
          </a:solidFill>
          <a:ln/>
        </p:spPr>
        <p:txBody>
          <a:bodyPr/>
          <a:lstStyle/>
          <a:p>
            <a:endParaRPr lang="en-US"/>
          </a:p>
        </p:txBody>
      </p:sp>
      <p:sp>
        <p:nvSpPr>
          <p:cNvPr id="36" name="Text 33"/>
          <p:cNvSpPr txBox="1"/>
          <p:nvPr/>
        </p:nvSpPr>
        <p:spPr>
          <a:xfrm>
            <a:off x="743407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37" name="Text 34"/>
          <p:cNvSpPr txBox="1"/>
          <p:nvPr/>
        </p:nvSpPr>
        <p:spPr>
          <a:xfrm>
            <a:off x="8046720" y="171907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38" name="Text 35"/>
          <p:cNvSpPr txBox="1"/>
          <p:nvPr/>
        </p:nvSpPr>
        <p:spPr>
          <a:xfrm>
            <a:off x="743407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Needle in the tree</a:t>
            </a:r>
            <a:endParaRPr lang="en-US" sz="1500" dirty="0"/>
          </a:p>
        </p:txBody>
      </p:sp>
      <p:sp>
        <p:nvSpPr>
          <p:cNvPr id="39" name="Shape 36"/>
          <p:cNvSpPr/>
          <p:nvPr/>
        </p:nvSpPr>
        <p:spPr>
          <a:xfrm>
            <a:off x="7434072" y="2852928"/>
            <a:ext cx="1783080" cy="347472"/>
          </a:xfrm>
          <a:prstGeom prst="roundRect">
            <a:avLst>
              <a:gd name="adj" fmla="val 50000"/>
            </a:avLst>
          </a:prstGeom>
          <a:solidFill>
            <a:srgbClr val="FFF4DE"/>
          </a:solidFill>
          <a:ln/>
        </p:spPr>
        <p:txBody>
          <a:bodyPr/>
          <a:lstStyle/>
          <a:p>
            <a:endParaRPr lang="en-US"/>
          </a:p>
        </p:txBody>
      </p:sp>
      <p:sp>
        <p:nvSpPr>
          <p:cNvPr id="40" name="Text 37"/>
          <p:cNvSpPr txBox="1"/>
          <p:nvPr/>
        </p:nvSpPr>
        <p:spPr>
          <a:xfrm>
            <a:off x="7434072" y="285292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41" name="Text 38"/>
          <p:cNvSpPr txBox="1"/>
          <p:nvPr/>
        </p:nvSpPr>
        <p:spPr>
          <a:xfrm>
            <a:off x="743407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find -name</a:t>
            </a:r>
            <a:endParaRPr lang="en-US" sz="1000" dirty="0"/>
          </a:p>
        </p:txBody>
      </p:sp>
      <p:sp>
        <p:nvSpPr>
          <p:cNvPr id="42" name="Shape 39"/>
          <p:cNvSpPr/>
          <p:nvPr/>
        </p:nvSpPr>
        <p:spPr>
          <a:xfrm>
            <a:off x="9509760" y="1463040"/>
            <a:ext cx="2103120" cy="2103120"/>
          </a:xfrm>
          <a:prstGeom prst="roundRect">
            <a:avLst>
              <a:gd name="adj" fmla="val 4348"/>
            </a:avLst>
          </a:prstGeom>
          <a:solidFill>
            <a:srgbClr val="F1F5FB"/>
          </a:solidFill>
          <a:ln/>
        </p:spPr>
        <p:txBody>
          <a:bodyPr/>
          <a:lstStyle/>
          <a:p>
            <a:endParaRPr lang="en-US"/>
          </a:p>
        </p:txBody>
      </p:sp>
      <p:sp>
        <p:nvSpPr>
          <p:cNvPr id="43" name="Shape 40"/>
          <p:cNvSpPr/>
          <p:nvPr/>
        </p:nvSpPr>
        <p:spPr>
          <a:xfrm>
            <a:off x="9509760" y="1463040"/>
            <a:ext cx="2103120" cy="91440"/>
          </a:xfrm>
          <a:prstGeom prst="rect">
            <a:avLst/>
          </a:prstGeom>
          <a:solidFill>
            <a:srgbClr val="D1416B"/>
          </a:solidFill>
          <a:ln/>
        </p:spPr>
        <p:txBody>
          <a:bodyPr/>
          <a:lstStyle/>
          <a:p>
            <a:endParaRPr lang="en-US"/>
          </a:p>
        </p:txBody>
      </p:sp>
      <p:sp>
        <p:nvSpPr>
          <p:cNvPr id="44" name="Shape 41"/>
          <p:cNvSpPr/>
          <p:nvPr/>
        </p:nvSpPr>
        <p:spPr>
          <a:xfrm>
            <a:off x="9674352" y="1719072"/>
            <a:ext cx="502920" cy="502920"/>
          </a:xfrm>
          <a:prstGeom prst="ellipse">
            <a:avLst/>
          </a:prstGeom>
          <a:solidFill>
            <a:srgbClr val="D1416B"/>
          </a:solidFill>
          <a:ln/>
        </p:spPr>
        <p:txBody>
          <a:bodyPr/>
          <a:lstStyle/>
          <a:p>
            <a:endParaRPr lang="en-US"/>
          </a:p>
        </p:txBody>
      </p:sp>
      <p:sp>
        <p:nvSpPr>
          <p:cNvPr id="45" name="Text 42"/>
          <p:cNvSpPr txBox="1"/>
          <p:nvPr/>
        </p:nvSpPr>
        <p:spPr>
          <a:xfrm>
            <a:off x="967435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46" name="Text 43"/>
          <p:cNvSpPr txBox="1"/>
          <p:nvPr/>
        </p:nvSpPr>
        <p:spPr>
          <a:xfrm>
            <a:off x="10287000" y="171907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47" name="Text 44"/>
          <p:cNvSpPr txBox="1"/>
          <p:nvPr/>
        </p:nvSpPr>
        <p:spPr>
          <a:xfrm>
            <a:off x="967435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Search party</a:t>
            </a:r>
            <a:endParaRPr lang="en-US" sz="1500" dirty="0"/>
          </a:p>
        </p:txBody>
      </p:sp>
      <p:sp>
        <p:nvSpPr>
          <p:cNvPr id="48" name="Shape 45"/>
          <p:cNvSpPr/>
          <p:nvPr/>
        </p:nvSpPr>
        <p:spPr>
          <a:xfrm>
            <a:off x="9674352" y="2852928"/>
            <a:ext cx="1783080" cy="347472"/>
          </a:xfrm>
          <a:prstGeom prst="roundRect">
            <a:avLst>
              <a:gd name="adj" fmla="val 50000"/>
            </a:avLst>
          </a:prstGeom>
          <a:solidFill>
            <a:srgbClr val="FFF4DE"/>
          </a:solidFill>
          <a:ln/>
        </p:spPr>
        <p:txBody>
          <a:bodyPr/>
          <a:lstStyle/>
          <a:p>
            <a:endParaRPr lang="en-US"/>
          </a:p>
        </p:txBody>
      </p:sp>
      <p:sp>
        <p:nvSpPr>
          <p:cNvPr id="49" name="Text 46"/>
          <p:cNvSpPr txBox="1"/>
          <p:nvPr/>
        </p:nvSpPr>
        <p:spPr>
          <a:xfrm>
            <a:off x="9674352" y="285292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50" name="Text 47"/>
          <p:cNvSpPr txBox="1"/>
          <p:nvPr/>
        </p:nvSpPr>
        <p:spPr>
          <a:xfrm>
            <a:off x="967435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grep</a:t>
            </a:r>
            <a:endParaRPr lang="en-US" sz="1000" dirty="0"/>
          </a:p>
        </p:txBody>
      </p:sp>
      <p:sp>
        <p:nvSpPr>
          <p:cNvPr id="51" name="Shape 48"/>
          <p:cNvSpPr/>
          <p:nvPr/>
        </p:nvSpPr>
        <p:spPr>
          <a:xfrm>
            <a:off x="548640" y="3703320"/>
            <a:ext cx="2103120" cy="2103120"/>
          </a:xfrm>
          <a:prstGeom prst="roundRect">
            <a:avLst>
              <a:gd name="adj" fmla="val 4348"/>
            </a:avLst>
          </a:prstGeom>
          <a:solidFill>
            <a:srgbClr val="F1F5FB"/>
          </a:solidFill>
          <a:ln/>
        </p:spPr>
        <p:txBody>
          <a:bodyPr/>
          <a:lstStyle/>
          <a:p>
            <a:endParaRPr lang="en-US"/>
          </a:p>
        </p:txBody>
      </p:sp>
      <p:sp>
        <p:nvSpPr>
          <p:cNvPr id="52" name="Shape 49"/>
          <p:cNvSpPr/>
          <p:nvPr/>
        </p:nvSpPr>
        <p:spPr>
          <a:xfrm>
            <a:off x="548640" y="3703320"/>
            <a:ext cx="2103120" cy="91440"/>
          </a:xfrm>
          <a:prstGeom prst="rect">
            <a:avLst/>
          </a:prstGeom>
          <a:solidFill>
            <a:srgbClr val="E8820C"/>
          </a:solidFill>
          <a:ln/>
        </p:spPr>
        <p:txBody>
          <a:bodyPr/>
          <a:lstStyle/>
          <a:p>
            <a:endParaRPr lang="en-US"/>
          </a:p>
        </p:txBody>
      </p:sp>
      <p:sp>
        <p:nvSpPr>
          <p:cNvPr id="53" name="Shape 50"/>
          <p:cNvSpPr/>
          <p:nvPr/>
        </p:nvSpPr>
        <p:spPr>
          <a:xfrm>
            <a:off x="713232" y="3959352"/>
            <a:ext cx="502920" cy="502920"/>
          </a:xfrm>
          <a:prstGeom prst="ellipse">
            <a:avLst/>
          </a:prstGeom>
          <a:solidFill>
            <a:srgbClr val="E8820C"/>
          </a:solidFill>
          <a:ln/>
        </p:spPr>
        <p:txBody>
          <a:bodyPr/>
          <a:lstStyle/>
          <a:p>
            <a:endParaRPr lang="en-US"/>
          </a:p>
        </p:txBody>
      </p:sp>
      <p:sp>
        <p:nvSpPr>
          <p:cNvPr id="54" name="Text 51"/>
          <p:cNvSpPr txBox="1"/>
          <p:nvPr/>
        </p:nvSpPr>
        <p:spPr>
          <a:xfrm>
            <a:off x="71323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55" name="Text 52"/>
          <p:cNvSpPr txBox="1"/>
          <p:nvPr/>
        </p:nvSpPr>
        <p:spPr>
          <a:xfrm>
            <a:off x="132588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56" name="Text 53"/>
          <p:cNvSpPr txBox="1"/>
          <p:nvPr/>
        </p:nvSpPr>
        <p:spPr>
          <a:xfrm>
            <a:off x="71323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Odd one out</a:t>
            </a:r>
            <a:endParaRPr lang="en-US" sz="1500" dirty="0"/>
          </a:p>
        </p:txBody>
      </p:sp>
      <p:sp>
        <p:nvSpPr>
          <p:cNvPr id="57" name="Shape 54"/>
          <p:cNvSpPr/>
          <p:nvPr/>
        </p:nvSpPr>
        <p:spPr>
          <a:xfrm>
            <a:off x="713232" y="5093208"/>
            <a:ext cx="1783080" cy="347472"/>
          </a:xfrm>
          <a:prstGeom prst="roundRect">
            <a:avLst>
              <a:gd name="adj" fmla="val 50000"/>
            </a:avLst>
          </a:prstGeom>
          <a:solidFill>
            <a:srgbClr val="FFF4DE"/>
          </a:solidFill>
          <a:ln/>
        </p:spPr>
        <p:txBody>
          <a:bodyPr/>
          <a:lstStyle/>
          <a:p>
            <a:endParaRPr lang="en-US"/>
          </a:p>
        </p:txBody>
      </p:sp>
      <p:sp>
        <p:nvSpPr>
          <p:cNvPr id="58" name="Text 55"/>
          <p:cNvSpPr txBox="1"/>
          <p:nvPr/>
        </p:nvSpPr>
        <p:spPr>
          <a:xfrm>
            <a:off x="713232" y="509320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59" name="Text 56"/>
          <p:cNvSpPr txBox="1"/>
          <p:nvPr/>
        </p:nvSpPr>
        <p:spPr>
          <a:xfrm>
            <a:off x="71323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sort  uniq  |</a:t>
            </a:r>
            <a:endParaRPr lang="en-US" sz="1000" dirty="0"/>
          </a:p>
        </p:txBody>
      </p:sp>
      <p:sp>
        <p:nvSpPr>
          <p:cNvPr id="60" name="Shape 57"/>
          <p:cNvSpPr/>
          <p:nvPr/>
        </p:nvSpPr>
        <p:spPr>
          <a:xfrm>
            <a:off x="2788920" y="3703320"/>
            <a:ext cx="2103120" cy="2103120"/>
          </a:xfrm>
          <a:prstGeom prst="roundRect">
            <a:avLst>
              <a:gd name="adj" fmla="val 4348"/>
            </a:avLst>
          </a:prstGeom>
          <a:solidFill>
            <a:srgbClr val="F1F5FB"/>
          </a:solidFill>
          <a:ln/>
        </p:spPr>
        <p:txBody>
          <a:bodyPr/>
          <a:lstStyle/>
          <a:p>
            <a:endParaRPr lang="en-US"/>
          </a:p>
        </p:txBody>
      </p:sp>
      <p:sp>
        <p:nvSpPr>
          <p:cNvPr id="61" name="Shape 58"/>
          <p:cNvSpPr/>
          <p:nvPr/>
        </p:nvSpPr>
        <p:spPr>
          <a:xfrm>
            <a:off x="2788920" y="3703320"/>
            <a:ext cx="2103120" cy="91440"/>
          </a:xfrm>
          <a:prstGeom prst="rect">
            <a:avLst/>
          </a:prstGeom>
          <a:solidFill>
            <a:srgbClr val="C9A227"/>
          </a:solidFill>
          <a:ln/>
        </p:spPr>
        <p:txBody>
          <a:bodyPr/>
          <a:lstStyle/>
          <a:p>
            <a:endParaRPr lang="en-US"/>
          </a:p>
        </p:txBody>
      </p:sp>
      <p:sp>
        <p:nvSpPr>
          <p:cNvPr id="62" name="Shape 59"/>
          <p:cNvSpPr/>
          <p:nvPr/>
        </p:nvSpPr>
        <p:spPr>
          <a:xfrm>
            <a:off x="2953512" y="3959352"/>
            <a:ext cx="502920" cy="502920"/>
          </a:xfrm>
          <a:prstGeom prst="ellipse">
            <a:avLst/>
          </a:prstGeom>
          <a:solidFill>
            <a:srgbClr val="C9A227"/>
          </a:solidFill>
          <a:ln/>
        </p:spPr>
        <p:txBody>
          <a:bodyPr/>
          <a:lstStyle/>
          <a:p>
            <a:endParaRPr lang="en-US"/>
          </a:p>
        </p:txBody>
      </p:sp>
      <p:sp>
        <p:nvSpPr>
          <p:cNvPr id="63" name="Text 60"/>
          <p:cNvSpPr txBox="1"/>
          <p:nvPr/>
        </p:nvSpPr>
        <p:spPr>
          <a:xfrm>
            <a:off x="295351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7</a:t>
            </a:r>
            <a:endParaRPr lang="en-US" sz="1700" dirty="0"/>
          </a:p>
        </p:txBody>
      </p:sp>
      <p:sp>
        <p:nvSpPr>
          <p:cNvPr id="64" name="Text 61"/>
          <p:cNvSpPr txBox="1"/>
          <p:nvPr/>
        </p:nvSpPr>
        <p:spPr>
          <a:xfrm>
            <a:off x="356616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65" name="Text 62"/>
          <p:cNvSpPr txBox="1"/>
          <p:nvPr/>
        </p:nvSpPr>
        <p:spPr>
          <a:xfrm>
            <a:off x="295351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Permission denied</a:t>
            </a:r>
            <a:endParaRPr lang="en-US" sz="1500" dirty="0"/>
          </a:p>
        </p:txBody>
      </p:sp>
      <p:sp>
        <p:nvSpPr>
          <p:cNvPr id="66" name="Shape 63"/>
          <p:cNvSpPr/>
          <p:nvPr/>
        </p:nvSpPr>
        <p:spPr>
          <a:xfrm>
            <a:off x="2953512" y="5093208"/>
            <a:ext cx="1783080" cy="347472"/>
          </a:xfrm>
          <a:prstGeom prst="roundRect">
            <a:avLst>
              <a:gd name="adj" fmla="val 50000"/>
            </a:avLst>
          </a:prstGeom>
          <a:solidFill>
            <a:srgbClr val="FFF4DE"/>
          </a:solidFill>
          <a:ln/>
        </p:spPr>
        <p:txBody>
          <a:bodyPr/>
          <a:lstStyle/>
          <a:p>
            <a:endParaRPr lang="en-US"/>
          </a:p>
        </p:txBody>
      </p:sp>
      <p:sp>
        <p:nvSpPr>
          <p:cNvPr id="67" name="Text 64"/>
          <p:cNvSpPr txBox="1"/>
          <p:nvPr/>
        </p:nvSpPr>
        <p:spPr>
          <a:xfrm>
            <a:off x="2953512" y="509320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68" name="Text 65"/>
          <p:cNvSpPr txBox="1"/>
          <p:nvPr/>
        </p:nvSpPr>
        <p:spPr>
          <a:xfrm>
            <a:off x="295351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ls -l  chmod +x</a:t>
            </a:r>
            <a:endParaRPr lang="en-US" sz="1000" dirty="0"/>
          </a:p>
        </p:txBody>
      </p:sp>
      <p:sp>
        <p:nvSpPr>
          <p:cNvPr id="69" name="Shape 66"/>
          <p:cNvSpPr/>
          <p:nvPr/>
        </p:nvSpPr>
        <p:spPr>
          <a:xfrm>
            <a:off x="5029200" y="3703320"/>
            <a:ext cx="2103120" cy="2103120"/>
          </a:xfrm>
          <a:prstGeom prst="roundRect">
            <a:avLst>
              <a:gd name="adj" fmla="val 4348"/>
            </a:avLst>
          </a:prstGeom>
          <a:solidFill>
            <a:srgbClr val="F1F5FB"/>
          </a:solidFill>
          <a:ln/>
        </p:spPr>
        <p:txBody>
          <a:bodyPr/>
          <a:lstStyle/>
          <a:p>
            <a:endParaRPr lang="en-US"/>
          </a:p>
        </p:txBody>
      </p:sp>
      <p:sp>
        <p:nvSpPr>
          <p:cNvPr id="70" name="Shape 67"/>
          <p:cNvSpPr/>
          <p:nvPr/>
        </p:nvSpPr>
        <p:spPr>
          <a:xfrm>
            <a:off x="5029200" y="3703320"/>
            <a:ext cx="2103120" cy="91440"/>
          </a:xfrm>
          <a:prstGeom prst="rect">
            <a:avLst/>
          </a:prstGeom>
          <a:solidFill>
            <a:srgbClr val="0F9488"/>
          </a:solidFill>
          <a:ln/>
        </p:spPr>
        <p:txBody>
          <a:bodyPr/>
          <a:lstStyle/>
          <a:p>
            <a:endParaRPr lang="en-US"/>
          </a:p>
        </p:txBody>
      </p:sp>
      <p:sp>
        <p:nvSpPr>
          <p:cNvPr id="71" name="Shape 68"/>
          <p:cNvSpPr/>
          <p:nvPr/>
        </p:nvSpPr>
        <p:spPr>
          <a:xfrm>
            <a:off x="5193792" y="3959352"/>
            <a:ext cx="502920" cy="502920"/>
          </a:xfrm>
          <a:prstGeom prst="ellipse">
            <a:avLst/>
          </a:prstGeom>
          <a:solidFill>
            <a:srgbClr val="0F9488"/>
          </a:solidFill>
          <a:ln/>
        </p:spPr>
        <p:txBody>
          <a:bodyPr/>
          <a:lstStyle/>
          <a:p>
            <a:endParaRPr lang="en-US"/>
          </a:p>
        </p:txBody>
      </p:sp>
      <p:sp>
        <p:nvSpPr>
          <p:cNvPr id="72" name="Text 69"/>
          <p:cNvSpPr txBox="1"/>
          <p:nvPr/>
        </p:nvSpPr>
        <p:spPr>
          <a:xfrm>
            <a:off x="519379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8</a:t>
            </a:r>
            <a:endParaRPr lang="en-US" sz="1700" dirty="0"/>
          </a:p>
        </p:txBody>
      </p:sp>
      <p:sp>
        <p:nvSpPr>
          <p:cNvPr id="73" name="Text 70"/>
          <p:cNvSpPr txBox="1"/>
          <p:nvPr/>
        </p:nvSpPr>
        <p:spPr>
          <a:xfrm>
            <a:off x="580644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74" name="Text 71"/>
          <p:cNvSpPr txBox="1"/>
          <p:nvPr/>
        </p:nvSpPr>
        <p:spPr>
          <a:xfrm>
            <a:off x="519379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Decoder ring</a:t>
            </a:r>
            <a:endParaRPr lang="en-US" sz="1500" dirty="0"/>
          </a:p>
        </p:txBody>
      </p:sp>
      <p:sp>
        <p:nvSpPr>
          <p:cNvPr id="75" name="Shape 72"/>
          <p:cNvSpPr/>
          <p:nvPr/>
        </p:nvSpPr>
        <p:spPr>
          <a:xfrm>
            <a:off x="5193792" y="5093208"/>
            <a:ext cx="1783080" cy="347472"/>
          </a:xfrm>
          <a:prstGeom prst="roundRect">
            <a:avLst>
              <a:gd name="adj" fmla="val 50000"/>
            </a:avLst>
          </a:prstGeom>
          <a:solidFill>
            <a:srgbClr val="FDE8EC"/>
          </a:solidFill>
          <a:ln/>
        </p:spPr>
        <p:txBody>
          <a:bodyPr/>
          <a:lstStyle/>
          <a:p>
            <a:endParaRPr lang="en-US"/>
          </a:p>
        </p:txBody>
      </p:sp>
      <p:sp>
        <p:nvSpPr>
          <p:cNvPr id="76" name="Text 73"/>
          <p:cNvSpPr txBox="1"/>
          <p:nvPr/>
        </p:nvSpPr>
        <p:spPr>
          <a:xfrm>
            <a:off x="5193792" y="5093208"/>
            <a:ext cx="1783080" cy="347472"/>
          </a:xfrm>
          <a:prstGeom prst="rect">
            <a:avLst/>
          </a:prstGeom>
          <a:noFill/>
          <a:ln/>
        </p:spPr>
        <p:txBody>
          <a:bodyPr wrap="square" lIns="0" tIns="0" rIns="0" bIns="0" rtlCol="0" anchor="ctr"/>
          <a:lstStyle/>
          <a:p>
            <a:pPr marL="0" indent="0" algn="ctr">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77" name="Text 74"/>
          <p:cNvSpPr txBox="1"/>
          <p:nvPr/>
        </p:nvSpPr>
        <p:spPr>
          <a:xfrm>
            <a:off x="519379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base64 -d</a:t>
            </a:r>
            <a:endParaRPr lang="en-US" sz="1000" dirty="0"/>
          </a:p>
        </p:txBody>
      </p:sp>
      <p:sp>
        <p:nvSpPr>
          <p:cNvPr id="78" name="Shape 75"/>
          <p:cNvSpPr/>
          <p:nvPr/>
        </p:nvSpPr>
        <p:spPr>
          <a:xfrm>
            <a:off x="7269480" y="3703320"/>
            <a:ext cx="2103120" cy="2103120"/>
          </a:xfrm>
          <a:prstGeom prst="roundRect">
            <a:avLst>
              <a:gd name="adj" fmla="val 4348"/>
            </a:avLst>
          </a:prstGeom>
          <a:solidFill>
            <a:srgbClr val="F1F5FB"/>
          </a:solidFill>
          <a:ln/>
        </p:spPr>
        <p:txBody>
          <a:bodyPr/>
          <a:lstStyle/>
          <a:p>
            <a:endParaRPr lang="en-US"/>
          </a:p>
        </p:txBody>
      </p:sp>
      <p:sp>
        <p:nvSpPr>
          <p:cNvPr id="79" name="Shape 76"/>
          <p:cNvSpPr/>
          <p:nvPr/>
        </p:nvSpPr>
        <p:spPr>
          <a:xfrm>
            <a:off x="7269480" y="3703320"/>
            <a:ext cx="2103120" cy="91440"/>
          </a:xfrm>
          <a:prstGeom prst="rect">
            <a:avLst/>
          </a:prstGeom>
          <a:solidFill>
            <a:srgbClr val="5B6EE1"/>
          </a:solidFill>
          <a:ln/>
        </p:spPr>
        <p:txBody>
          <a:bodyPr/>
          <a:lstStyle/>
          <a:p>
            <a:endParaRPr lang="en-US"/>
          </a:p>
        </p:txBody>
      </p:sp>
      <p:sp>
        <p:nvSpPr>
          <p:cNvPr id="80" name="Shape 77"/>
          <p:cNvSpPr/>
          <p:nvPr/>
        </p:nvSpPr>
        <p:spPr>
          <a:xfrm>
            <a:off x="7434072" y="3959352"/>
            <a:ext cx="502920" cy="502920"/>
          </a:xfrm>
          <a:prstGeom prst="ellipse">
            <a:avLst/>
          </a:prstGeom>
          <a:solidFill>
            <a:srgbClr val="5B6EE1"/>
          </a:solidFill>
          <a:ln/>
        </p:spPr>
        <p:txBody>
          <a:bodyPr/>
          <a:lstStyle/>
          <a:p>
            <a:endParaRPr lang="en-US"/>
          </a:p>
        </p:txBody>
      </p:sp>
      <p:sp>
        <p:nvSpPr>
          <p:cNvPr id="81" name="Text 78"/>
          <p:cNvSpPr txBox="1"/>
          <p:nvPr/>
        </p:nvSpPr>
        <p:spPr>
          <a:xfrm>
            <a:off x="743407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9</a:t>
            </a:r>
            <a:endParaRPr lang="en-US" sz="1700" dirty="0"/>
          </a:p>
        </p:txBody>
      </p:sp>
      <p:sp>
        <p:nvSpPr>
          <p:cNvPr id="82" name="Text 79"/>
          <p:cNvSpPr txBox="1"/>
          <p:nvPr/>
        </p:nvSpPr>
        <p:spPr>
          <a:xfrm>
            <a:off x="804672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83" name="Text 80"/>
          <p:cNvSpPr txBox="1"/>
          <p:nvPr/>
        </p:nvSpPr>
        <p:spPr>
          <a:xfrm>
            <a:off x="743407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Layer cake</a:t>
            </a:r>
            <a:endParaRPr lang="en-US" sz="1500" dirty="0"/>
          </a:p>
        </p:txBody>
      </p:sp>
      <p:sp>
        <p:nvSpPr>
          <p:cNvPr id="84" name="Shape 81"/>
          <p:cNvSpPr/>
          <p:nvPr/>
        </p:nvSpPr>
        <p:spPr>
          <a:xfrm>
            <a:off x="7434072" y="5093208"/>
            <a:ext cx="1783080" cy="347472"/>
          </a:xfrm>
          <a:prstGeom prst="roundRect">
            <a:avLst>
              <a:gd name="adj" fmla="val 50000"/>
            </a:avLst>
          </a:prstGeom>
          <a:solidFill>
            <a:srgbClr val="FDE8EC"/>
          </a:solidFill>
          <a:ln/>
        </p:spPr>
        <p:txBody>
          <a:bodyPr/>
          <a:lstStyle/>
          <a:p>
            <a:endParaRPr lang="en-US"/>
          </a:p>
        </p:txBody>
      </p:sp>
      <p:sp>
        <p:nvSpPr>
          <p:cNvPr id="85" name="Text 82"/>
          <p:cNvSpPr txBox="1"/>
          <p:nvPr/>
        </p:nvSpPr>
        <p:spPr>
          <a:xfrm>
            <a:off x="7434072" y="5093208"/>
            <a:ext cx="1783080" cy="347472"/>
          </a:xfrm>
          <a:prstGeom prst="rect">
            <a:avLst/>
          </a:prstGeom>
          <a:noFill/>
          <a:ln/>
        </p:spPr>
        <p:txBody>
          <a:bodyPr wrap="square" lIns="0" tIns="0" rIns="0" bIns="0" rtlCol="0" anchor="ctr"/>
          <a:lstStyle/>
          <a:p>
            <a:pPr marL="0" indent="0" algn="ctr">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86" name="Text 83"/>
          <p:cNvSpPr txBox="1"/>
          <p:nvPr/>
        </p:nvSpPr>
        <p:spPr>
          <a:xfrm>
            <a:off x="743407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base64 -d | base64 -d</a:t>
            </a:r>
            <a:endParaRPr lang="en-US" sz="1000" dirty="0"/>
          </a:p>
        </p:txBody>
      </p:sp>
      <p:sp>
        <p:nvSpPr>
          <p:cNvPr id="87" name="Shape 84"/>
          <p:cNvSpPr/>
          <p:nvPr/>
        </p:nvSpPr>
        <p:spPr>
          <a:xfrm>
            <a:off x="9509760" y="3703320"/>
            <a:ext cx="2103120" cy="2103120"/>
          </a:xfrm>
          <a:prstGeom prst="roundRect">
            <a:avLst>
              <a:gd name="adj" fmla="val 4348"/>
            </a:avLst>
          </a:prstGeom>
          <a:solidFill>
            <a:srgbClr val="F1F5FB"/>
          </a:solidFill>
          <a:ln/>
        </p:spPr>
        <p:txBody>
          <a:bodyPr/>
          <a:lstStyle/>
          <a:p>
            <a:endParaRPr lang="en-US"/>
          </a:p>
        </p:txBody>
      </p:sp>
      <p:sp>
        <p:nvSpPr>
          <p:cNvPr id="88" name="Shape 85"/>
          <p:cNvSpPr/>
          <p:nvPr/>
        </p:nvSpPr>
        <p:spPr>
          <a:xfrm>
            <a:off x="9509760" y="3703320"/>
            <a:ext cx="2103120" cy="91440"/>
          </a:xfrm>
          <a:prstGeom prst="rect">
            <a:avLst/>
          </a:prstGeom>
          <a:solidFill>
            <a:srgbClr val="B4233F"/>
          </a:solidFill>
          <a:ln/>
        </p:spPr>
        <p:txBody>
          <a:bodyPr/>
          <a:lstStyle/>
          <a:p>
            <a:endParaRPr lang="en-US"/>
          </a:p>
        </p:txBody>
      </p:sp>
      <p:sp>
        <p:nvSpPr>
          <p:cNvPr id="89" name="Shape 86"/>
          <p:cNvSpPr/>
          <p:nvPr/>
        </p:nvSpPr>
        <p:spPr>
          <a:xfrm>
            <a:off x="9674352" y="3959352"/>
            <a:ext cx="502920" cy="502920"/>
          </a:xfrm>
          <a:prstGeom prst="ellipse">
            <a:avLst/>
          </a:prstGeom>
          <a:solidFill>
            <a:srgbClr val="B4233F"/>
          </a:solidFill>
          <a:ln/>
        </p:spPr>
        <p:txBody>
          <a:bodyPr/>
          <a:lstStyle/>
          <a:p>
            <a:endParaRPr lang="en-US"/>
          </a:p>
        </p:txBody>
      </p:sp>
      <p:sp>
        <p:nvSpPr>
          <p:cNvPr id="90" name="Text 87"/>
          <p:cNvSpPr txBox="1"/>
          <p:nvPr/>
        </p:nvSpPr>
        <p:spPr>
          <a:xfrm>
            <a:off x="967435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10</a:t>
            </a:r>
            <a:endParaRPr lang="en-US" sz="1700" dirty="0"/>
          </a:p>
        </p:txBody>
      </p:sp>
      <p:sp>
        <p:nvSpPr>
          <p:cNvPr id="91" name="Text 88"/>
          <p:cNvSpPr txBox="1"/>
          <p:nvPr/>
        </p:nvSpPr>
        <p:spPr>
          <a:xfrm>
            <a:off x="1028700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92" name="Text 89"/>
          <p:cNvSpPr txBox="1"/>
          <p:nvPr/>
        </p:nvSpPr>
        <p:spPr>
          <a:xfrm>
            <a:off x="967435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Endgame</a:t>
            </a:r>
            <a:endParaRPr lang="en-US" sz="1500" dirty="0"/>
          </a:p>
        </p:txBody>
      </p:sp>
      <p:sp>
        <p:nvSpPr>
          <p:cNvPr id="93" name="Shape 90"/>
          <p:cNvSpPr/>
          <p:nvPr/>
        </p:nvSpPr>
        <p:spPr>
          <a:xfrm>
            <a:off x="9674352" y="5093208"/>
            <a:ext cx="1783080" cy="347472"/>
          </a:xfrm>
          <a:prstGeom prst="roundRect">
            <a:avLst>
              <a:gd name="adj" fmla="val 50000"/>
            </a:avLst>
          </a:prstGeom>
          <a:solidFill>
            <a:srgbClr val="2A1430"/>
          </a:solidFill>
          <a:ln/>
        </p:spPr>
        <p:txBody>
          <a:bodyPr/>
          <a:lstStyle/>
          <a:p>
            <a:endParaRPr lang="en-US"/>
          </a:p>
        </p:txBody>
      </p:sp>
      <p:sp>
        <p:nvSpPr>
          <p:cNvPr id="94" name="Text 91"/>
          <p:cNvSpPr txBox="1"/>
          <p:nvPr/>
        </p:nvSpPr>
        <p:spPr>
          <a:xfrm>
            <a:off x="9674352" y="5093208"/>
            <a:ext cx="1783080" cy="347472"/>
          </a:xfrm>
          <a:prstGeom prst="rect">
            <a:avLst/>
          </a:prstGeom>
          <a:noFill/>
          <a:ln/>
        </p:spPr>
        <p:txBody>
          <a:bodyPr wrap="square" lIns="0" tIns="0" rIns="0" bIns="0" rtlCol="0" anchor="ctr"/>
          <a:lstStyle/>
          <a:p>
            <a:pPr marL="0" indent="0" algn="ctr">
              <a:buNone/>
            </a:pPr>
            <a:r>
              <a:rPr lang="en-US" sz="1050" b="1" dirty="0">
                <a:solidFill>
                  <a:srgbClr val="FF8FB1"/>
                </a:solidFill>
                <a:latin typeface="Calibri" pitchFamily="34" charset="0"/>
                <a:ea typeface="Calibri" pitchFamily="34" charset="-122"/>
                <a:cs typeface="Calibri" pitchFamily="34" charset="-120"/>
              </a:rPr>
              <a:t>VERY HARD  ·  800</a:t>
            </a:r>
            <a:endParaRPr lang="en-US" sz="1050" dirty="0"/>
          </a:p>
        </p:txBody>
      </p:sp>
      <p:sp>
        <p:nvSpPr>
          <p:cNvPr id="95" name="Text 92"/>
          <p:cNvSpPr txBox="1"/>
          <p:nvPr/>
        </p:nvSpPr>
        <p:spPr>
          <a:xfrm>
            <a:off x="967435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find  grep  cut  base64  chmod</a:t>
            </a:r>
            <a:endParaRPr lang="en-US" sz="1000" dirty="0"/>
          </a:p>
        </p:txBody>
      </p:sp>
      <p:sp>
        <p:nvSpPr>
          <p:cNvPr id="96" name="Text 93"/>
          <p:cNvSpPr txBox="1"/>
          <p:nvPr/>
        </p:nvSpPr>
        <p:spPr>
          <a:xfrm>
            <a:off x="548640" y="5989320"/>
            <a:ext cx="7315200" cy="32004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Plus two warm-ups (orientation, speed drills): optional, untimed, +50 bonus each.</a:t>
            </a:r>
            <a:endParaRPr lang="en-US" sz="1300" dirty="0"/>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42</a:t>
            </a:r>
            <a:endParaRPr lang="en-US" sz="1000" dirty="0"/>
          </a:p>
        </p:txBody>
      </p:sp>
      <p:sp>
        <p:nvSpPr>
          <p:cNvPr id="5" name="Shape 2"/>
          <p:cNvSpPr/>
          <p:nvPr/>
        </p:nvSpPr>
        <p:spPr>
          <a:xfrm>
            <a:off x="548640" y="438912"/>
            <a:ext cx="1828800" cy="347472"/>
          </a:xfrm>
          <a:prstGeom prst="roundRect">
            <a:avLst>
              <a:gd name="adj" fmla="val 50000"/>
            </a:avLst>
          </a:prstGeom>
          <a:solidFill>
            <a:srgbClr val="17875A"/>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1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20624"/>
            <a:ext cx="421538" cy="402336"/>
          </a:xfrm>
          <a:prstGeom prst="roundRect">
            <a:avLst>
              <a:gd name="adj" fmla="val 13636"/>
            </a:avLst>
          </a:prstGeom>
          <a:solidFill>
            <a:srgbClr val="17875A"/>
          </a:solidFill>
          <a:ln/>
        </p:spPr>
        <p:txBody>
          <a:bodyPr/>
          <a:lstStyle/>
          <a:p>
            <a:endParaRPr lang="en-US"/>
          </a:p>
        </p:txBody>
      </p:sp>
      <p:sp>
        <p:nvSpPr>
          <p:cNvPr id="10" name="Text 7"/>
          <p:cNvSpPr txBox="1"/>
          <p:nvPr/>
        </p:nvSpPr>
        <p:spPr>
          <a:xfrm>
            <a:off x="676656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Shape 8"/>
          <p:cNvSpPr/>
          <p:nvPr/>
        </p:nvSpPr>
        <p:spPr>
          <a:xfrm>
            <a:off x="7261250" y="475488"/>
            <a:ext cx="421538" cy="292608"/>
          </a:xfrm>
          <a:prstGeom prst="roundRect">
            <a:avLst>
              <a:gd name="adj" fmla="val 18750"/>
            </a:avLst>
          </a:prstGeom>
          <a:solidFill>
            <a:srgbClr val="E4EAF3"/>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Make your move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A flag waits at the end of a trail of folders. Nothing needs opening: the file names are signposts. Read them with ls, follow them with cd.</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~/mission1/town</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pwd  ls  cd  cd ..</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command shows where you are right now?</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A sign says 'dead end, go back up'. What do we type?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will we know which names are folders and which are signs?</a:t>
            </a:r>
            <a:endParaRPr lang="en-US" sz="1550" dirty="0"/>
          </a:p>
        </p:txBody>
      </p:sp>
      <p:sp>
        <p:nvSpPr>
          <p:cNvPr id="41" name="Shape 38"/>
          <p:cNvSpPr/>
          <p:nvPr/>
        </p:nvSpPr>
        <p:spPr>
          <a:xfrm>
            <a:off x="7269480" y="4892040"/>
            <a:ext cx="4370832" cy="1051560"/>
          </a:xfrm>
          <a:prstGeom prst="roundRect">
            <a:avLst>
              <a:gd name="adj" fmla="val 8696"/>
            </a:avLst>
          </a:prstGeom>
          <a:solidFill>
            <a:srgbClr val="2459D8"/>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Class calls out each command. Mentor types.</a:t>
            </a:r>
            <a:endParaRPr lang="en-US" sz="1300" dirty="0"/>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43</a:t>
            </a:r>
            <a:endParaRPr lang="en-US" sz="1000" dirty="0"/>
          </a:p>
        </p:txBody>
      </p:sp>
      <p:sp>
        <p:nvSpPr>
          <p:cNvPr id="5" name="Shape 2"/>
          <p:cNvSpPr/>
          <p:nvPr/>
        </p:nvSpPr>
        <p:spPr>
          <a:xfrm>
            <a:off x="548640" y="438912"/>
            <a:ext cx="2103120" cy="347472"/>
          </a:xfrm>
          <a:prstGeom prst="roundRect">
            <a:avLst>
              <a:gd name="adj" fmla="val 50000"/>
            </a:avLst>
          </a:prstGeom>
          <a:solidFill>
            <a:srgbClr val="17875A"/>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1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13" name="Shape 10"/>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Make your move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~/mission1/town</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library  market  park  sign--go-into-the-library</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library</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dead-end--go-back-up-and-try-the-park</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park</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gazebo  go-into-the-gazebo-then-the-crate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gazebo/crate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CYBA{moves-...}  you-made-it--the-flag-is-the-file-name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CYBA{moves-...}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+100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17875A"/>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ls read the signposts: the names of the files in each folder.</a:t>
            </a:r>
            <a:endParaRPr lang="en-US" sz="1400" dirty="0"/>
          </a:p>
        </p:txBody>
      </p:sp>
      <p:sp>
        <p:nvSpPr>
          <p:cNvPr id="40" name="Shape 37"/>
          <p:cNvSpPr/>
          <p:nvPr/>
        </p:nvSpPr>
        <p:spPr>
          <a:xfrm>
            <a:off x="7543800" y="2980944"/>
            <a:ext cx="457200" cy="457200"/>
          </a:xfrm>
          <a:prstGeom prst="ellipse">
            <a:avLst/>
          </a:prstGeom>
          <a:solidFill>
            <a:srgbClr val="17875A"/>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cd followed them, and cd .. backed out of the dead end.</a:t>
            </a:r>
            <a:endParaRPr lang="en-US" sz="1400" dirty="0"/>
          </a:p>
        </p:txBody>
      </p:sp>
      <p:sp>
        <p:nvSpPr>
          <p:cNvPr id="43" name="Shape 40"/>
          <p:cNvSpPr/>
          <p:nvPr/>
        </p:nvSpPr>
        <p:spPr>
          <a:xfrm>
            <a:off x="7543800" y="3767328"/>
            <a:ext cx="457200" cy="457200"/>
          </a:xfrm>
          <a:prstGeom prst="ellipse">
            <a:avLst/>
          </a:prstGeom>
          <a:solidFill>
            <a:srgbClr val="17875A"/>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The last folder's file is named after the flag. No cat needed.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Responders land on unfamiliar servers and have to find their way around by typing.</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17875A"/>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From the crate folder, how many  cd ..  get you back to ~/mission1? Check with pwd.</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6">
            <a:extLst>
              <a:ext uri="{FF2B5EF4-FFF2-40B4-BE49-F238E27FC236}">
                <a16:creationId xmlns:a16="http://schemas.microsoft.com/office/drawing/2014/main" id="{145B524F-32A2-AFF3-CE26-8CD326969B62}"/>
              </a:ext>
            </a:extLst>
          </p:cNvPr>
          <p:cNvSpPr/>
          <p:nvPr/>
        </p:nvSpPr>
        <p:spPr>
          <a:xfrm>
            <a:off x="6766560" y="420624"/>
            <a:ext cx="421538" cy="402336"/>
          </a:xfrm>
          <a:prstGeom prst="roundRect">
            <a:avLst>
              <a:gd name="adj" fmla="val 13636"/>
            </a:avLst>
          </a:prstGeom>
          <a:solidFill>
            <a:srgbClr val="17875A"/>
          </a:solidFill>
          <a:ln/>
        </p:spPr>
        <p:txBody>
          <a:bodyPr/>
          <a:lstStyle/>
          <a:p>
            <a:endParaRPr lang="en-US"/>
          </a:p>
        </p:txBody>
      </p:sp>
      <p:sp>
        <p:nvSpPr>
          <p:cNvPr id="53" name="Text 7">
            <a:extLst>
              <a:ext uri="{FF2B5EF4-FFF2-40B4-BE49-F238E27FC236}">
                <a16:creationId xmlns:a16="http://schemas.microsoft.com/office/drawing/2014/main" id="{35740F8C-B5A9-4603-EC45-435021C2DD25}"/>
              </a:ext>
            </a:extLst>
          </p:cNvPr>
          <p:cNvSpPr txBox="1"/>
          <p:nvPr/>
        </p:nvSpPr>
        <p:spPr>
          <a:xfrm>
            <a:off x="676656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55" name="Shape 8">
            <a:extLst>
              <a:ext uri="{FF2B5EF4-FFF2-40B4-BE49-F238E27FC236}">
                <a16:creationId xmlns:a16="http://schemas.microsoft.com/office/drawing/2014/main" id="{A034B787-E144-6EC5-121A-8A46260E81F4}"/>
              </a:ext>
            </a:extLst>
          </p:cNvPr>
          <p:cNvSpPr/>
          <p:nvPr/>
        </p:nvSpPr>
        <p:spPr>
          <a:xfrm>
            <a:off x="7261250" y="475488"/>
            <a:ext cx="421538" cy="292608"/>
          </a:xfrm>
          <a:prstGeom prst="roundRect">
            <a:avLst>
              <a:gd name="adj" fmla="val 18750"/>
            </a:avLst>
          </a:prstGeom>
          <a:solidFill>
            <a:srgbClr val="E4EAF3"/>
          </a:solidFill>
          <a:ln/>
        </p:spPr>
        <p:txBody>
          <a:bodyPr/>
          <a:lstStyle/>
          <a:p>
            <a:endParaRPr lang="en-US"/>
          </a:p>
        </p:txBody>
      </p:sp>
      <p:sp>
        <p:nvSpPr>
          <p:cNvPr id="57" name="Text 9">
            <a:extLst>
              <a:ext uri="{FF2B5EF4-FFF2-40B4-BE49-F238E27FC236}">
                <a16:creationId xmlns:a16="http://schemas.microsoft.com/office/drawing/2014/main" id="{E224A2B6-CE66-5C09-156A-73DF32B885A2}"/>
              </a:ext>
            </a:extLst>
          </p:cNvPr>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2</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44</a:t>
            </a:r>
            <a:endParaRPr lang="en-US" sz="1000" dirty="0"/>
          </a:p>
        </p:txBody>
      </p:sp>
      <p:sp>
        <p:nvSpPr>
          <p:cNvPr id="5" name="Shape 2"/>
          <p:cNvSpPr/>
          <p:nvPr/>
        </p:nvSpPr>
        <p:spPr>
          <a:xfrm>
            <a:off x="548640" y="438912"/>
            <a:ext cx="1828800" cy="347472"/>
          </a:xfrm>
          <a:prstGeom prst="roundRect">
            <a:avLst>
              <a:gd name="adj" fmla="val 50000"/>
            </a:avLst>
          </a:prstGeom>
          <a:solidFill>
            <a:srgbClr val="2A9FD6"/>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2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20624"/>
            <a:ext cx="421538" cy="402336"/>
          </a:xfrm>
          <a:prstGeom prst="roundRect">
            <a:avLst>
              <a:gd name="adj" fmla="val 13636"/>
            </a:avLst>
          </a:prstGeom>
          <a:solidFill>
            <a:srgbClr val="2A9FD6"/>
          </a:solidFill>
          <a:ln/>
        </p:spPr>
        <p:txBody>
          <a:bodyPr/>
          <a:lstStyle/>
          <a:p>
            <a:endParaRPr lang="en-US"/>
          </a:p>
        </p:txBody>
      </p:sp>
      <p:sp>
        <p:nvSpPr>
          <p:cNvPr id="12" name="Text 9"/>
          <p:cNvSpPr txBox="1"/>
          <p:nvPr/>
        </p:nvSpPr>
        <p:spPr>
          <a:xfrm>
            <a:off x="726125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Shape 10"/>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Let the cat out of the bag</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bag.txt has 100 lines and every one looks like a flag. README.txt names the one real line. Counting by hand is how mistakes happen: make cat number the lines.</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~/mission2</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cat  --help</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we read README.txt?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could we find out what options cat has?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Once the lines are numbered, how do we find ours fast?</a:t>
            </a:r>
            <a:endParaRPr lang="en-US" sz="1550" dirty="0"/>
          </a:p>
        </p:txBody>
      </p:sp>
      <p:sp>
        <p:nvSpPr>
          <p:cNvPr id="41" name="Shape 38"/>
          <p:cNvSpPr/>
          <p:nvPr/>
        </p:nvSpPr>
        <p:spPr>
          <a:xfrm>
            <a:off x="7269480" y="4892040"/>
            <a:ext cx="4370832" cy="1051560"/>
          </a:xfrm>
          <a:prstGeom prst="roundRect">
            <a:avLst>
              <a:gd name="adj" fmla="val 8696"/>
            </a:avLst>
          </a:prstGeom>
          <a:solidFill>
            <a:srgbClr val="2459D8"/>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Class calls out each command. Mentor types.</a:t>
            </a:r>
            <a:endParaRPr lang="en-US" sz="1300" dirty="0"/>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45</a:t>
            </a:r>
            <a:endParaRPr lang="en-US" sz="1000" dirty="0"/>
          </a:p>
        </p:txBody>
      </p:sp>
      <p:sp>
        <p:nvSpPr>
          <p:cNvPr id="5" name="Shape 2"/>
          <p:cNvSpPr/>
          <p:nvPr/>
        </p:nvSpPr>
        <p:spPr>
          <a:xfrm>
            <a:off x="548640" y="438912"/>
            <a:ext cx="2103120" cy="347472"/>
          </a:xfrm>
          <a:prstGeom prst="roundRect">
            <a:avLst>
              <a:gd name="adj" fmla="val 50000"/>
            </a:avLst>
          </a:prstGeom>
          <a:solidFill>
            <a:srgbClr val="2A9FD6"/>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2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Let the cat out of the bag</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cd ~/mission2</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cat README.txt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The cat is hiding in bag.txt.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Every line in the bag looks like a flag,</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but only line 63 is real.</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cat --help</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Usage: cat [-nbvteA] [FILE]...</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        -n      Number output lines</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cat -n bag.txt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    62  meow CYBA{cat-1f0c2a9e}</a:t>
            </a:r>
            <a:endParaRPr lang="en-US" sz="1250" dirty="0"/>
          </a:p>
          <a:p>
            <a:pPr marL="0" indent="0">
              <a:spcAft>
                <a:spcPts val="200"/>
              </a:spcAft>
              <a:buNone/>
            </a:pPr>
            <a:r>
              <a:rPr lang="en-US" sz="1250" b="1" dirty="0">
                <a:solidFill>
                  <a:srgbClr val="F5A623"/>
                </a:solidFill>
                <a:latin typeface="Courier New" pitchFamily="34" charset="0"/>
                <a:ea typeface="Courier New" pitchFamily="34" charset="-122"/>
                <a:cs typeface="Courier New" pitchFamily="34" charset="-120"/>
              </a:rPr>
              <a:t>    63  meow CYBA{cat-...}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    64  meow CYBA{cat-77b3d4c1}</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submit CYBA{cat-...}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Correct! +100 points</a:t>
            </a:r>
            <a:endParaRPr lang="en-US" sz="125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2A9FD6"/>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printed README.txt, which named the real line.</a:t>
            </a:r>
            <a:endParaRPr lang="en-US" sz="1400" dirty="0"/>
          </a:p>
        </p:txBody>
      </p:sp>
      <p:sp>
        <p:nvSpPr>
          <p:cNvPr id="40" name="Shape 37"/>
          <p:cNvSpPr/>
          <p:nvPr/>
        </p:nvSpPr>
        <p:spPr>
          <a:xfrm>
            <a:off x="7543800" y="2980944"/>
            <a:ext cx="457200" cy="457200"/>
          </a:xfrm>
          <a:prstGeom prst="ellipse">
            <a:avLst/>
          </a:prstGeom>
          <a:solidFill>
            <a:srgbClr val="2A9FD6"/>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--help listed its options; -n numbers the lines.</a:t>
            </a:r>
            <a:endParaRPr lang="en-US" sz="1400" dirty="0"/>
          </a:p>
        </p:txBody>
      </p:sp>
      <p:sp>
        <p:nvSpPr>
          <p:cNvPr id="43" name="Shape 40"/>
          <p:cNvSpPr/>
          <p:nvPr/>
        </p:nvSpPr>
        <p:spPr>
          <a:xfrm>
            <a:off x="7543800" y="3767328"/>
            <a:ext cx="457200" cy="457200"/>
          </a:xfrm>
          <a:prstGeom prst="ellipse">
            <a:avLst/>
          </a:prstGeom>
          <a:solidFill>
            <a:srgbClr val="2A9FD6"/>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-n bag.txt put a number on every line, so line 63 was easy to spot.</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Engineers learn new tools every week. Reading --help is how they do it.</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2A9FD6"/>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Try  cat --help  again. What does -b do differently from -n?</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8">
            <a:extLst>
              <a:ext uri="{FF2B5EF4-FFF2-40B4-BE49-F238E27FC236}">
                <a16:creationId xmlns:a16="http://schemas.microsoft.com/office/drawing/2014/main" id="{A636CFBD-866B-7426-F068-759FED06865F}"/>
              </a:ext>
            </a:extLst>
          </p:cNvPr>
          <p:cNvSpPr/>
          <p:nvPr/>
        </p:nvSpPr>
        <p:spPr>
          <a:xfrm>
            <a:off x="7261250" y="420624"/>
            <a:ext cx="421538" cy="402336"/>
          </a:xfrm>
          <a:prstGeom prst="roundRect">
            <a:avLst>
              <a:gd name="adj" fmla="val 13636"/>
            </a:avLst>
          </a:prstGeom>
          <a:solidFill>
            <a:srgbClr val="2A9FD6"/>
          </a:solidFill>
          <a:ln/>
        </p:spPr>
        <p:txBody>
          <a:bodyPr/>
          <a:lstStyle/>
          <a:p>
            <a:endParaRPr lang="en-US"/>
          </a:p>
        </p:txBody>
      </p:sp>
      <p:sp>
        <p:nvSpPr>
          <p:cNvPr id="53" name="Text 9">
            <a:extLst>
              <a:ext uri="{FF2B5EF4-FFF2-40B4-BE49-F238E27FC236}">
                <a16:creationId xmlns:a16="http://schemas.microsoft.com/office/drawing/2014/main" id="{88A30673-B897-50D2-C772-CF31194745C8}"/>
              </a:ext>
            </a:extLst>
          </p:cNvPr>
          <p:cNvSpPr txBox="1"/>
          <p:nvPr/>
        </p:nvSpPr>
        <p:spPr>
          <a:xfrm>
            <a:off x="726125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55" name="Shape 10">
            <a:extLst>
              <a:ext uri="{FF2B5EF4-FFF2-40B4-BE49-F238E27FC236}">
                <a16:creationId xmlns:a16="http://schemas.microsoft.com/office/drawing/2014/main" id="{AAEAC1B7-64CA-DB63-7223-C52DBFC58F21}"/>
              </a:ext>
            </a:extLst>
          </p:cNvPr>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57" name="Text 11">
            <a:extLst>
              <a:ext uri="{FF2B5EF4-FFF2-40B4-BE49-F238E27FC236}">
                <a16:creationId xmlns:a16="http://schemas.microsoft.com/office/drawing/2014/main" id="{53765B69-8714-D581-DC42-DA4801B4BA38}"/>
              </a:ext>
            </a:extLst>
          </p:cNvPr>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46</a:t>
            </a:r>
            <a:endParaRPr lang="en-US" sz="1000" dirty="0"/>
          </a:p>
        </p:txBody>
      </p:sp>
      <p:sp>
        <p:nvSpPr>
          <p:cNvPr id="5" name="Shape 2"/>
          <p:cNvSpPr/>
          <p:nvPr/>
        </p:nvSpPr>
        <p:spPr>
          <a:xfrm>
            <a:off x="548640" y="438912"/>
            <a:ext cx="1828800" cy="347472"/>
          </a:xfrm>
          <a:prstGeom prst="roundRect">
            <a:avLst>
              <a:gd name="adj" fmla="val 50000"/>
            </a:avLst>
          </a:prstGeom>
          <a:solidFill>
            <a:srgbClr val="2459D8"/>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3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20624"/>
            <a:ext cx="421538" cy="402336"/>
          </a:xfrm>
          <a:prstGeom prst="roundRect">
            <a:avLst>
              <a:gd name="adj" fmla="val 13636"/>
            </a:avLst>
          </a:prstGeom>
          <a:solidFill>
            <a:srgbClr val="2459D8"/>
          </a:solidFill>
          <a:ln/>
        </p:spPr>
        <p:txBody>
          <a:bodyPr/>
          <a:lstStyle/>
          <a:p>
            <a:endParaRPr lang="en-US"/>
          </a:p>
        </p:txBody>
      </p:sp>
      <p:sp>
        <p:nvSpPr>
          <p:cNvPr id="14" name="Text 11"/>
          <p:cNvSpPr txBox="1"/>
          <p:nvPr/>
        </p:nvSpPr>
        <p:spPr>
          <a:xfrm>
            <a:off x="775594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Now you see me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There is a flag in this folder, but plain ls will not show it. Files whose names start with a dot are hidden. One hidden file is a decoy.</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~/mission3</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ls -a</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did we learn about names that start with a dot?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ls option shows them?</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will we tell the real file from the decoy?</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47</a:t>
            </a:r>
            <a:endParaRPr lang="en-US" sz="1000" dirty="0"/>
          </a:p>
        </p:txBody>
      </p:sp>
      <p:sp>
        <p:nvSpPr>
          <p:cNvPr id="5" name="Shape 2"/>
          <p:cNvSpPr/>
          <p:nvPr/>
        </p:nvSpPr>
        <p:spPr>
          <a:xfrm>
            <a:off x="548640" y="438912"/>
            <a:ext cx="2103120" cy="347472"/>
          </a:xfrm>
          <a:prstGeom prst="roundRect">
            <a:avLst>
              <a:gd name="adj" fmla="val 50000"/>
            </a:avLst>
          </a:prstGeom>
          <a:solidFill>
            <a:srgbClr val="2459D8"/>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3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Now you see me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~/mission3</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notes.txt</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-a</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  .old-n0mp  .stash  notes.txt</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.old-n0mp</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Close, but this hidden file is a decoy.</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.stash</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You found the hidden file.</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Flag: CYBA{hidden-...}</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CYBA{hidden-...}</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+100 points</a:t>
            </a:r>
            <a:endParaRPr lang="en-US" sz="14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2459D8"/>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Plain ls skipped every name that starts with a dot.</a:t>
            </a:r>
            <a:endParaRPr lang="en-US" sz="1400" dirty="0"/>
          </a:p>
        </p:txBody>
      </p:sp>
      <p:sp>
        <p:nvSpPr>
          <p:cNvPr id="40" name="Shape 37"/>
          <p:cNvSpPr/>
          <p:nvPr/>
        </p:nvSpPr>
        <p:spPr>
          <a:xfrm>
            <a:off x="7543800" y="2980944"/>
            <a:ext cx="457200" cy="457200"/>
          </a:xfrm>
          <a:prstGeom prst="ellipse">
            <a:avLst/>
          </a:prstGeom>
          <a:solidFill>
            <a:srgbClr val="2459D8"/>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ls -a showed them all, decoy included.</a:t>
            </a:r>
            <a:endParaRPr lang="en-US" sz="1400" dirty="0"/>
          </a:p>
        </p:txBody>
      </p:sp>
      <p:sp>
        <p:nvSpPr>
          <p:cNvPr id="43" name="Shape 40"/>
          <p:cNvSpPr/>
          <p:nvPr/>
        </p:nvSpPr>
        <p:spPr>
          <a:xfrm>
            <a:off x="7543800" y="3767328"/>
            <a:ext cx="457200" cy="457200"/>
          </a:xfrm>
          <a:prstGeom prst="ellipse">
            <a:avLst/>
          </a:prstGeom>
          <a:solidFill>
            <a:srgbClr val="2459D8"/>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read each one until the real flag appeared.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On a suspicious machine, ls -a is one of the first commands an investigator runs.</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2459D8"/>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Run  ls -a ~  . Which hidden file lives in your home folder?</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0">
            <a:extLst>
              <a:ext uri="{FF2B5EF4-FFF2-40B4-BE49-F238E27FC236}">
                <a16:creationId xmlns:a16="http://schemas.microsoft.com/office/drawing/2014/main" id="{BB20D67E-3E9C-DEDE-2ED0-43FE24B744C8}"/>
              </a:ext>
            </a:extLst>
          </p:cNvPr>
          <p:cNvSpPr/>
          <p:nvPr/>
        </p:nvSpPr>
        <p:spPr>
          <a:xfrm>
            <a:off x="7755941" y="420624"/>
            <a:ext cx="421538" cy="402336"/>
          </a:xfrm>
          <a:prstGeom prst="roundRect">
            <a:avLst>
              <a:gd name="adj" fmla="val 13636"/>
            </a:avLst>
          </a:prstGeom>
          <a:solidFill>
            <a:srgbClr val="2459D8"/>
          </a:solidFill>
          <a:ln/>
        </p:spPr>
        <p:txBody>
          <a:bodyPr/>
          <a:lstStyle/>
          <a:p>
            <a:endParaRPr lang="en-US"/>
          </a:p>
        </p:txBody>
      </p:sp>
      <p:sp>
        <p:nvSpPr>
          <p:cNvPr id="53" name="Text 11">
            <a:extLst>
              <a:ext uri="{FF2B5EF4-FFF2-40B4-BE49-F238E27FC236}">
                <a16:creationId xmlns:a16="http://schemas.microsoft.com/office/drawing/2014/main" id="{BF05A3AD-683E-FBBE-8664-7D4904FC04E8}"/>
              </a:ext>
            </a:extLst>
          </p:cNvPr>
          <p:cNvSpPr txBox="1"/>
          <p:nvPr/>
        </p:nvSpPr>
        <p:spPr>
          <a:xfrm>
            <a:off x="775594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55" name="Shape 12">
            <a:extLst>
              <a:ext uri="{FF2B5EF4-FFF2-40B4-BE49-F238E27FC236}">
                <a16:creationId xmlns:a16="http://schemas.microsoft.com/office/drawing/2014/main" id="{BAA70BAD-DE3E-1074-2365-2CDE859DA850}"/>
              </a:ext>
            </a:extLst>
          </p:cNvPr>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57" name="Text 13">
            <a:extLst>
              <a:ext uri="{FF2B5EF4-FFF2-40B4-BE49-F238E27FC236}">
                <a16:creationId xmlns:a16="http://schemas.microsoft.com/office/drawing/2014/main" id="{4B6EF097-AC1D-9E95-C299-A25AF4848DB0}"/>
              </a:ext>
            </a:extLst>
          </p:cNvPr>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48</a:t>
            </a:r>
            <a:endParaRPr lang="en-US" sz="1000" dirty="0"/>
          </a:p>
        </p:txBody>
      </p:sp>
      <p:sp>
        <p:nvSpPr>
          <p:cNvPr id="5" name="Shape 2"/>
          <p:cNvSpPr/>
          <p:nvPr/>
        </p:nvSpPr>
        <p:spPr>
          <a:xfrm>
            <a:off x="548640" y="438912"/>
            <a:ext cx="1828800" cy="347472"/>
          </a:xfrm>
          <a:prstGeom prst="roundRect">
            <a:avLst>
              <a:gd name="adj" fmla="val 50000"/>
            </a:avLst>
          </a:prstGeom>
          <a:solidFill>
            <a:srgbClr val="7448D4"/>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4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20624"/>
            <a:ext cx="421538" cy="402336"/>
          </a:xfrm>
          <a:prstGeom prst="roundRect">
            <a:avLst>
              <a:gd name="adj" fmla="val 13636"/>
            </a:avLst>
          </a:prstGeom>
          <a:solidFill>
            <a:srgbClr val="7448D4"/>
          </a:solidFill>
          <a:ln/>
        </p:spPr>
        <p:txBody>
          <a:bodyPr/>
          <a:lstStyle/>
          <a:p>
            <a:endParaRPr lang="en-US"/>
          </a:p>
        </p:txBody>
      </p:sp>
      <p:sp>
        <p:nvSpPr>
          <p:cNvPr id="16" name="Text 13"/>
          <p:cNvSpPr txBox="1"/>
          <p:nvPr/>
        </p:nvSpPr>
        <p:spPr>
          <a:xfrm>
            <a:off x="825063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Needle in the tree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archive folder holds about 80 files in 20 folders. One file has the ending named in README.txt, and it holds the flag.</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~/mission4</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find -name</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Opening 20 folders by hand would take ages. Which tool searches for us?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does the star in  "*.gem"  mean?</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Once find prints a path, how do we read that file?</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49</a:t>
            </a:r>
            <a:endParaRPr lang="en-US" sz="1000" dirty="0"/>
          </a:p>
        </p:txBody>
      </p:sp>
      <p:sp>
        <p:nvSpPr>
          <p:cNvPr id="5" name="Shape 2"/>
          <p:cNvSpPr/>
          <p:nvPr/>
        </p:nvSpPr>
        <p:spPr>
          <a:xfrm>
            <a:off x="548640" y="438912"/>
            <a:ext cx="2103120" cy="347472"/>
          </a:xfrm>
          <a:prstGeom prst="roundRect">
            <a:avLst>
              <a:gd name="adj" fmla="val 50000"/>
            </a:avLst>
          </a:prstGeom>
          <a:solidFill>
            <a:srgbClr val="7448D4"/>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4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Needle in the tree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~/mission4</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README.txt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Somewhere in archive/ is ONE file ending in .gem</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It holds the flag.</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find archive -name "*.gem"</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archive/charlie/bin-x7q2/k3d9fa.gem</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archive/charlie/bin-x7q2/k3d9fa.gem</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Flag: CYBA{finder-...}</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CYBA{finder-...}</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+200 points</a:t>
            </a:r>
            <a:endParaRPr lang="en-US" sz="14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7448D4"/>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README.txt turned 'some file' into a pattern: any name ending in .gem.</a:t>
            </a:r>
            <a:endParaRPr lang="en-US" sz="1400" dirty="0"/>
          </a:p>
        </p:txBody>
      </p:sp>
      <p:sp>
        <p:nvSpPr>
          <p:cNvPr id="40" name="Shape 37"/>
          <p:cNvSpPr/>
          <p:nvPr/>
        </p:nvSpPr>
        <p:spPr>
          <a:xfrm>
            <a:off x="7543800" y="2980944"/>
            <a:ext cx="457200" cy="457200"/>
          </a:xfrm>
          <a:prstGeom prst="ellipse">
            <a:avLst/>
          </a:prstGeom>
          <a:solidFill>
            <a:srgbClr val="7448D4"/>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find searched every folder below archive in one go.</a:t>
            </a:r>
            <a:endParaRPr lang="en-US" sz="1400" dirty="0"/>
          </a:p>
        </p:txBody>
      </p:sp>
      <p:sp>
        <p:nvSpPr>
          <p:cNvPr id="43" name="Shape 40"/>
          <p:cNvSpPr/>
          <p:nvPr/>
        </p:nvSpPr>
        <p:spPr>
          <a:xfrm>
            <a:off x="7543800" y="3767328"/>
            <a:ext cx="457200" cy="457200"/>
          </a:xfrm>
          <a:prstGeom prst="ellipse">
            <a:avLst/>
          </a:prstGeom>
          <a:solidFill>
            <a:srgbClr val="7448D4"/>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read the file at the exact path find printed.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Responders search whole servers for key and password files that should not be there.</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7448D4"/>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Type the cat command again, but press Tab after each few letters of the path.</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2">
            <a:extLst>
              <a:ext uri="{FF2B5EF4-FFF2-40B4-BE49-F238E27FC236}">
                <a16:creationId xmlns:a16="http://schemas.microsoft.com/office/drawing/2014/main" id="{491E0673-B5CD-660B-6AA7-0667A13D3972}"/>
              </a:ext>
            </a:extLst>
          </p:cNvPr>
          <p:cNvSpPr/>
          <p:nvPr/>
        </p:nvSpPr>
        <p:spPr>
          <a:xfrm>
            <a:off x="8250631" y="420624"/>
            <a:ext cx="421538" cy="402336"/>
          </a:xfrm>
          <a:prstGeom prst="roundRect">
            <a:avLst>
              <a:gd name="adj" fmla="val 13636"/>
            </a:avLst>
          </a:prstGeom>
          <a:solidFill>
            <a:srgbClr val="7448D4"/>
          </a:solidFill>
          <a:ln/>
        </p:spPr>
        <p:txBody>
          <a:bodyPr/>
          <a:lstStyle/>
          <a:p>
            <a:endParaRPr lang="en-US"/>
          </a:p>
        </p:txBody>
      </p:sp>
      <p:sp>
        <p:nvSpPr>
          <p:cNvPr id="53" name="Text 13">
            <a:extLst>
              <a:ext uri="{FF2B5EF4-FFF2-40B4-BE49-F238E27FC236}">
                <a16:creationId xmlns:a16="http://schemas.microsoft.com/office/drawing/2014/main" id="{34BF36EA-DF03-F57D-6DEA-C5317CBFCB6D}"/>
              </a:ext>
            </a:extLst>
          </p:cNvPr>
          <p:cNvSpPr txBox="1"/>
          <p:nvPr/>
        </p:nvSpPr>
        <p:spPr>
          <a:xfrm>
            <a:off x="825063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55" name="Shape 14">
            <a:extLst>
              <a:ext uri="{FF2B5EF4-FFF2-40B4-BE49-F238E27FC236}">
                <a16:creationId xmlns:a16="http://schemas.microsoft.com/office/drawing/2014/main" id="{64454EDB-EFDF-504D-82F5-8E777651399B}"/>
              </a:ext>
            </a:extLst>
          </p:cNvPr>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57" name="Text 15">
            <a:extLst>
              <a:ext uri="{FF2B5EF4-FFF2-40B4-BE49-F238E27FC236}">
                <a16:creationId xmlns:a16="http://schemas.microsoft.com/office/drawing/2014/main" id="{2535BBA1-BD60-AB2F-9579-29E5AF16D0F7}"/>
              </a:ext>
            </a:extLst>
          </p:cNvPr>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50</a:t>
            </a:r>
            <a:endParaRPr lang="en-US" sz="1000" dirty="0"/>
          </a:p>
        </p:txBody>
      </p:sp>
      <p:sp>
        <p:nvSpPr>
          <p:cNvPr id="5" name="Shape 2"/>
          <p:cNvSpPr/>
          <p:nvPr/>
        </p:nvSpPr>
        <p:spPr>
          <a:xfrm>
            <a:off x="548640" y="438912"/>
            <a:ext cx="1828800" cy="347472"/>
          </a:xfrm>
          <a:prstGeom prst="roundRect">
            <a:avLst>
              <a:gd name="adj" fmla="val 50000"/>
            </a:avLst>
          </a:prstGeom>
          <a:solidFill>
            <a:srgbClr val="D1416B"/>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5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20624"/>
            <a:ext cx="421538" cy="402336"/>
          </a:xfrm>
          <a:prstGeom prst="roundRect">
            <a:avLst>
              <a:gd name="adj" fmla="val 13636"/>
            </a:avLst>
          </a:prstGeom>
          <a:solidFill>
            <a:srgbClr val="D1416B"/>
          </a:solidFill>
          <a:ln/>
        </p:spPr>
        <p:txBody>
          <a:bodyPr/>
          <a:lstStyle/>
          <a:p>
            <a:endParaRPr lang="en-US"/>
          </a:p>
        </p:txBody>
      </p:sp>
      <p:sp>
        <p:nvSpPr>
          <p:cNvPr id="18" name="Text 15"/>
          <p:cNvSpPr txBox="1"/>
          <p:nvPr/>
        </p:nvSpPr>
        <p:spPr>
          <a:xfrm>
            <a:off x="874532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Search party</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An intruder logged in once. Their line is buried in access.log, which has 12,000 lines. The token on that line is the flag.</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~/mission5</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grep</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happens if we just cat a 12,000-line file?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find searches file names. What searches inside a file?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word should we search for?</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51</a:t>
            </a:r>
            <a:endParaRPr lang="en-US" sz="1000" dirty="0"/>
          </a:p>
        </p:txBody>
      </p:sp>
      <p:sp>
        <p:nvSpPr>
          <p:cNvPr id="5" name="Shape 2"/>
          <p:cNvSpPr/>
          <p:nvPr/>
        </p:nvSpPr>
        <p:spPr>
          <a:xfrm>
            <a:off x="548640" y="438912"/>
            <a:ext cx="2103120" cy="347472"/>
          </a:xfrm>
          <a:prstGeom prst="roundRect">
            <a:avLst>
              <a:gd name="adj" fmla="val 50000"/>
            </a:avLst>
          </a:prstGeom>
          <a:solidFill>
            <a:srgbClr val="D1416B"/>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5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Search party</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~/mission5</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cat README.txt</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An intruder logged in ONCE as:  red_panda</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wc -l access.log</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12000 access.log</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head -2 access.log</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08:00:00 user=erin action=LOGOUT token=1cca26ec</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08:00:01 user=ivan action=LOGIN_FAIL token=5bb550e1</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grep red_panda access.log</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10:47:13 user=red_panda action=LOGIN_OK token=CYBA{grep-...}</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CYBA{grep-...}</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D1416B"/>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wc -l proved the log is far too long to read.</a:t>
            </a:r>
            <a:endParaRPr lang="en-US" sz="1400" dirty="0"/>
          </a:p>
        </p:txBody>
      </p:sp>
      <p:sp>
        <p:nvSpPr>
          <p:cNvPr id="40" name="Shape 37"/>
          <p:cNvSpPr/>
          <p:nvPr/>
        </p:nvSpPr>
        <p:spPr>
          <a:xfrm>
            <a:off x="7543800" y="2980944"/>
            <a:ext cx="457200" cy="457200"/>
          </a:xfrm>
          <a:prstGeom prst="ellipse">
            <a:avLst/>
          </a:prstGeom>
          <a:solidFill>
            <a:srgbClr val="D1416B"/>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head showed the shape of one line: time, user, action, token.</a:t>
            </a:r>
            <a:endParaRPr lang="en-US" sz="1400" dirty="0"/>
          </a:p>
        </p:txBody>
      </p:sp>
      <p:sp>
        <p:nvSpPr>
          <p:cNvPr id="43" name="Shape 40"/>
          <p:cNvSpPr/>
          <p:nvPr/>
        </p:nvSpPr>
        <p:spPr>
          <a:xfrm>
            <a:off x="7543800" y="3767328"/>
            <a:ext cx="457200" cy="457200"/>
          </a:xfrm>
          <a:prstGeom prst="ellipse">
            <a:avLst/>
          </a:prstGeom>
          <a:solidFill>
            <a:srgbClr val="D1416B"/>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grep kept only the intruder's line. The token is the flag.</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Security analysts search millions of log lines for one name or address every day.</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D1416B"/>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Try  grep -c LOGIN_OK access.log  . What does -c change?</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4">
            <a:extLst>
              <a:ext uri="{FF2B5EF4-FFF2-40B4-BE49-F238E27FC236}">
                <a16:creationId xmlns:a16="http://schemas.microsoft.com/office/drawing/2014/main" id="{816CB778-A535-FFF4-AF95-B35ED1B41FDF}"/>
              </a:ext>
            </a:extLst>
          </p:cNvPr>
          <p:cNvSpPr/>
          <p:nvPr/>
        </p:nvSpPr>
        <p:spPr>
          <a:xfrm>
            <a:off x="8745322" y="420624"/>
            <a:ext cx="421538" cy="402336"/>
          </a:xfrm>
          <a:prstGeom prst="roundRect">
            <a:avLst>
              <a:gd name="adj" fmla="val 13636"/>
            </a:avLst>
          </a:prstGeom>
          <a:solidFill>
            <a:srgbClr val="D1416B"/>
          </a:solidFill>
          <a:ln/>
        </p:spPr>
        <p:txBody>
          <a:bodyPr/>
          <a:lstStyle/>
          <a:p>
            <a:endParaRPr lang="en-US"/>
          </a:p>
        </p:txBody>
      </p:sp>
      <p:sp>
        <p:nvSpPr>
          <p:cNvPr id="53" name="Text 15">
            <a:extLst>
              <a:ext uri="{FF2B5EF4-FFF2-40B4-BE49-F238E27FC236}">
                <a16:creationId xmlns:a16="http://schemas.microsoft.com/office/drawing/2014/main" id="{B673CC4C-B115-956C-CDB9-223D623AC0B1}"/>
              </a:ext>
            </a:extLst>
          </p:cNvPr>
          <p:cNvSpPr txBox="1"/>
          <p:nvPr/>
        </p:nvSpPr>
        <p:spPr>
          <a:xfrm>
            <a:off x="874532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55" name="Shape 16">
            <a:extLst>
              <a:ext uri="{FF2B5EF4-FFF2-40B4-BE49-F238E27FC236}">
                <a16:creationId xmlns:a16="http://schemas.microsoft.com/office/drawing/2014/main" id="{9300BBBD-F22D-C7F4-F1C1-85F037745DD2}"/>
              </a:ext>
            </a:extLst>
          </p:cNvPr>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57" name="Text 17">
            <a:extLst>
              <a:ext uri="{FF2B5EF4-FFF2-40B4-BE49-F238E27FC236}">
                <a16:creationId xmlns:a16="http://schemas.microsoft.com/office/drawing/2014/main" id="{D47DE1AC-6CAD-3658-9799-B1DEE5ED6467}"/>
              </a:ext>
            </a:extLst>
          </p:cNvPr>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52</a:t>
            </a:r>
            <a:endParaRPr lang="en-US" sz="1000" dirty="0"/>
          </a:p>
        </p:txBody>
      </p:sp>
      <p:sp>
        <p:nvSpPr>
          <p:cNvPr id="5" name="Shape 2"/>
          <p:cNvSpPr/>
          <p:nvPr/>
        </p:nvSpPr>
        <p:spPr>
          <a:xfrm>
            <a:off x="548640" y="438912"/>
            <a:ext cx="1828800" cy="347472"/>
          </a:xfrm>
          <a:prstGeom prst="roundRect">
            <a:avLst>
              <a:gd name="adj" fmla="val 50000"/>
            </a:avLst>
          </a:prstGeom>
          <a:solidFill>
            <a:srgbClr val="E8820C"/>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6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20624"/>
            <a:ext cx="421538" cy="402336"/>
          </a:xfrm>
          <a:prstGeom prst="roundRect">
            <a:avLst>
              <a:gd name="adj" fmla="val 13636"/>
            </a:avLst>
          </a:prstGeom>
          <a:solidFill>
            <a:srgbClr val="E8820C"/>
          </a:solidFill>
          <a:ln/>
        </p:spPr>
        <p:txBody>
          <a:bodyPr/>
          <a:lstStyle/>
          <a:p>
            <a:endParaRPr lang="en-US"/>
          </a:p>
        </p:txBody>
      </p:sp>
      <p:sp>
        <p:nvSpPr>
          <p:cNvPr id="20" name="Text 17"/>
          <p:cNvSpPr txBox="1"/>
          <p:nvPr/>
        </p:nvSpPr>
        <p:spPr>
          <a:xfrm>
            <a:off x="924001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Odd one out</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codes.txt holds about 900 flags. Every fake one appears at least twice; the real one appears exactly once. Sort the lines so twins sit together, then keep the loner.</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~/mission6</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sort  uniq  |</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Why would sorting help us spot duplicates?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does the | symbol do with two commands?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uniq option keeps only the lines with no twin?</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53</a:t>
            </a:r>
            <a:endParaRPr lang="en-US" sz="1000" dirty="0"/>
          </a:p>
        </p:txBody>
      </p:sp>
      <p:sp>
        <p:nvSpPr>
          <p:cNvPr id="5" name="Shape 2"/>
          <p:cNvSpPr/>
          <p:nvPr/>
        </p:nvSpPr>
        <p:spPr>
          <a:xfrm>
            <a:off x="548640" y="438912"/>
            <a:ext cx="2103120" cy="347472"/>
          </a:xfrm>
          <a:prstGeom prst="roundRect">
            <a:avLst>
              <a:gd name="adj" fmla="val 50000"/>
            </a:avLst>
          </a:prstGeom>
          <a:solidFill>
            <a:srgbClr val="E8820C"/>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6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Odd one out</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~/mission6</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head -3 codes.txt</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CYBA{odd-3f9a0c1e}</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CYBA{odd-b27d44a0}</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CYBA{odd-3f9a0c1e}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wc -l codes.txt</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906 codes.txt</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uniq --help</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        -u      Only print unique lines</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sort codes.txt | uniq -u</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CYBA{odd-...}</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CYBA{odd-...}</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E8820C"/>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sort put identical lines next to each other.</a:t>
            </a:r>
            <a:endParaRPr lang="en-US" sz="1400" dirty="0"/>
          </a:p>
        </p:txBody>
      </p:sp>
      <p:sp>
        <p:nvSpPr>
          <p:cNvPr id="40" name="Shape 37"/>
          <p:cNvSpPr/>
          <p:nvPr/>
        </p:nvSpPr>
        <p:spPr>
          <a:xfrm>
            <a:off x="7543800" y="2980944"/>
            <a:ext cx="457200" cy="457200"/>
          </a:xfrm>
          <a:prstGeom prst="ellipse">
            <a:avLst/>
          </a:prstGeom>
          <a:solidFill>
            <a:srgbClr val="E8820C"/>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uniq -u kept only the lines that appear exactly once.</a:t>
            </a:r>
            <a:endParaRPr lang="en-US" sz="1400" dirty="0"/>
          </a:p>
        </p:txBody>
      </p:sp>
      <p:sp>
        <p:nvSpPr>
          <p:cNvPr id="43" name="Shape 40"/>
          <p:cNvSpPr/>
          <p:nvPr/>
        </p:nvSpPr>
        <p:spPr>
          <a:xfrm>
            <a:off x="7543800" y="3767328"/>
            <a:ext cx="457200" cy="457200"/>
          </a:xfrm>
          <a:prstGeom prst="ellipse">
            <a:avLst/>
          </a:prstGeom>
          <a:solidFill>
            <a:srgbClr val="E8820C"/>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The pipe fed sort's output straight into uniq: no extra file needed.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Analysts run sort | uniq -c on logs every day to find the one odd event among millions.</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E8820C"/>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Try  sort codes.txt | uniq -c | sort -n | head -3  . What does the first column mean?</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6">
            <a:extLst>
              <a:ext uri="{FF2B5EF4-FFF2-40B4-BE49-F238E27FC236}">
                <a16:creationId xmlns:a16="http://schemas.microsoft.com/office/drawing/2014/main" id="{75CDB8DF-57BC-F2D6-C3EB-27DAEE9588CF}"/>
              </a:ext>
            </a:extLst>
          </p:cNvPr>
          <p:cNvSpPr/>
          <p:nvPr/>
        </p:nvSpPr>
        <p:spPr>
          <a:xfrm>
            <a:off x="9240012" y="420624"/>
            <a:ext cx="421538" cy="402336"/>
          </a:xfrm>
          <a:prstGeom prst="roundRect">
            <a:avLst>
              <a:gd name="adj" fmla="val 13636"/>
            </a:avLst>
          </a:prstGeom>
          <a:solidFill>
            <a:srgbClr val="E8820C"/>
          </a:solidFill>
          <a:ln/>
        </p:spPr>
        <p:txBody>
          <a:bodyPr/>
          <a:lstStyle/>
          <a:p>
            <a:endParaRPr lang="en-US"/>
          </a:p>
        </p:txBody>
      </p:sp>
      <p:sp>
        <p:nvSpPr>
          <p:cNvPr id="53" name="Text 17">
            <a:extLst>
              <a:ext uri="{FF2B5EF4-FFF2-40B4-BE49-F238E27FC236}">
                <a16:creationId xmlns:a16="http://schemas.microsoft.com/office/drawing/2014/main" id="{04A73B66-C5C8-4185-F939-37297CD2A4D2}"/>
              </a:ext>
            </a:extLst>
          </p:cNvPr>
          <p:cNvSpPr txBox="1"/>
          <p:nvPr/>
        </p:nvSpPr>
        <p:spPr>
          <a:xfrm>
            <a:off x="924001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55" name="Shape 18">
            <a:extLst>
              <a:ext uri="{FF2B5EF4-FFF2-40B4-BE49-F238E27FC236}">
                <a16:creationId xmlns:a16="http://schemas.microsoft.com/office/drawing/2014/main" id="{5A9BAE34-F58C-F877-B17B-5D9AAE6925C7}"/>
              </a:ext>
            </a:extLst>
          </p:cNvPr>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57" name="Text 19">
            <a:extLst>
              <a:ext uri="{FF2B5EF4-FFF2-40B4-BE49-F238E27FC236}">
                <a16:creationId xmlns:a16="http://schemas.microsoft.com/office/drawing/2014/main" id="{264CE5D4-A2EF-8B39-90E0-A087D56DE865}"/>
              </a:ext>
            </a:extLst>
          </p:cNvPr>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54</a:t>
            </a:r>
            <a:endParaRPr lang="en-US" sz="1000" dirty="0"/>
          </a:p>
        </p:txBody>
      </p:sp>
      <p:sp>
        <p:nvSpPr>
          <p:cNvPr id="5" name="Shape 2"/>
          <p:cNvSpPr/>
          <p:nvPr/>
        </p:nvSpPr>
        <p:spPr>
          <a:xfrm>
            <a:off x="548640" y="438912"/>
            <a:ext cx="1828800" cy="347472"/>
          </a:xfrm>
          <a:prstGeom prst="roundRect">
            <a:avLst>
              <a:gd name="adj" fmla="val 50000"/>
            </a:avLst>
          </a:prstGeom>
          <a:solidFill>
            <a:srgbClr val="C9A227"/>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7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20624"/>
            <a:ext cx="421538" cy="402336"/>
          </a:xfrm>
          <a:prstGeom prst="roundRect">
            <a:avLst>
              <a:gd name="adj" fmla="val 13636"/>
            </a:avLst>
          </a:prstGeom>
          <a:solidFill>
            <a:srgbClr val="C9A227"/>
          </a:solidFill>
          <a:ln/>
        </p:spPr>
        <p:txBody>
          <a:bodyPr/>
          <a:lstStyle/>
          <a:p>
            <a:endParaRPr lang="en-US"/>
          </a:p>
        </p:txBody>
      </p:sp>
      <p:sp>
        <p:nvSpPr>
          <p:cNvPr id="22" name="Text 19"/>
          <p:cNvSpPr txBox="1"/>
          <p:nvPr/>
        </p:nvSpPr>
        <p:spPr>
          <a:xfrm>
            <a:off x="973470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Permission denied</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flag is behind a locked door: unlock.sh, a script. Run it and Linux refuses. ls -l shows the file's permissions, and you own the file, so you can change them.</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~/mission7</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ls -l  chmod +x</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is 'Permission denied' telling us?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In  -rw-r--r--  which letter would mean 'can run'?</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we add that permission?</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55</a:t>
            </a:r>
            <a:endParaRPr lang="en-US" sz="1000" dirty="0"/>
          </a:p>
        </p:txBody>
      </p:sp>
      <p:sp>
        <p:nvSpPr>
          <p:cNvPr id="5" name="Shape 2"/>
          <p:cNvSpPr/>
          <p:nvPr/>
        </p:nvSpPr>
        <p:spPr>
          <a:xfrm>
            <a:off x="548640" y="438912"/>
            <a:ext cx="2103120" cy="347472"/>
          </a:xfrm>
          <a:prstGeom prst="roundRect">
            <a:avLst>
              <a:gd name="adj" fmla="val 50000"/>
            </a:avLst>
          </a:prstGeom>
          <a:solidFill>
            <a:srgbClr val="C9A227"/>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7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Permission denied</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~/mission7</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./unlock.sh</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-sh: ./unlock.sh: Permission denied</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 -l unlock.sh</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-rw-r--r--  1 player player  108 unlock.sh</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chmod +x unlock.sh</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 -l unlock.sh</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-rwxr-xr-x  1 player player  108 unlock.sh</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./unlock.sh</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Access granted.</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Flag: CYBA{exec-...}</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CYBA{exec-...}</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C9A227"/>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ls -l showed r and w, but no x: readable, not runnable.</a:t>
            </a:r>
            <a:endParaRPr lang="en-US" sz="1400" dirty="0"/>
          </a:p>
        </p:txBody>
      </p:sp>
      <p:sp>
        <p:nvSpPr>
          <p:cNvPr id="40" name="Shape 37"/>
          <p:cNvSpPr/>
          <p:nvPr/>
        </p:nvSpPr>
        <p:spPr>
          <a:xfrm>
            <a:off x="7543800" y="2980944"/>
            <a:ext cx="457200" cy="457200"/>
          </a:xfrm>
          <a:prstGeom prst="ellipse">
            <a:avLst/>
          </a:prstGeom>
          <a:solidFill>
            <a:srgbClr val="C9A227"/>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chmod +x added the execute permission.</a:t>
            </a:r>
            <a:endParaRPr lang="en-US" sz="1400" dirty="0"/>
          </a:p>
        </p:txBody>
      </p:sp>
      <p:sp>
        <p:nvSpPr>
          <p:cNvPr id="43" name="Shape 40"/>
          <p:cNvSpPr/>
          <p:nvPr/>
        </p:nvSpPr>
        <p:spPr>
          <a:xfrm>
            <a:off x="7543800" y="3767328"/>
            <a:ext cx="457200" cy="457200"/>
          </a:xfrm>
          <a:prstGeom prst="ellipse">
            <a:avLst/>
          </a:prstGeom>
          <a:solidFill>
            <a:srgbClr val="C9A227"/>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./unlock.sh ran the script from this folder, and it printed the flag.</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Admins fix 'Permission denied' every week; attackers hunt for files whose permissions are too loose.</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C9A227"/>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Run  ls -l /etc/quest  . Who owns those files? Can you chmod them?</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8">
            <a:extLst>
              <a:ext uri="{FF2B5EF4-FFF2-40B4-BE49-F238E27FC236}">
                <a16:creationId xmlns:a16="http://schemas.microsoft.com/office/drawing/2014/main" id="{3C5E8D99-02A5-F212-1EDE-31A09D60D96F}"/>
              </a:ext>
            </a:extLst>
          </p:cNvPr>
          <p:cNvSpPr/>
          <p:nvPr/>
        </p:nvSpPr>
        <p:spPr>
          <a:xfrm>
            <a:off x="9734702" y="420624"/>
            <a:ext cx="421538" cy="402336"/>
          </a:xfrm>
          <a:prstGeom prst="roundRect">
            <a:avLst>
              <a:gd name="adj" fmla="val 13636"/>
            </a:avLst>
          </a:prstGeom>
          <a:solidFill>
            <a:srgbClr val="C9A227"/>
          </a:solidFill>
          <a:ln/>
        </p:spPr>
        <p:txBody>
          <a:bodyPr/>
          <a:lstStyle/>
          <a:p>
            <a:endParaRPr lang="en-US"/>
          </a:p>
        </p:txBody>
      </p:sp>
      <p:sp>
        <p:nvSpPr>
          <p:cNvPr id="53" name="Text 19">
            <a:extLst>
              <a:ext uri="{FF2B5EF4-FFF2-40B4-BE49-F238E27FC236}">
                <a16:creationId xmlns:a16="http://schemas.microsoft.com/office/drawing/2014/main" id="{21597AD1-A710-F836-0813-E37938F7A11A}"/>
              </a:ext>
            </a:extLst>
          </p:cNvPr>
          <p:cNvSpPr txBox="1"/>
          <p:nvPr/>
        </p:nvSpPr>
        <p:spPr>
          <a:xfrm>
            <a:off x="973470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55" name="Shape 20">
            <a:extLst>
              <a:ext uri="{FF2B5EF4-FFF2-40B4-BE49-F238E27FC236}">
                <a16:creationId xmlns:a16="http://schemas.microsoft.com/office/drawing/2014/main" id="{7DACED8D-527E-77A4-67AD-2C2C273E3CB9}"/>
              </a:ext>
            </a:extLst>
          </p:cNvPr>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57" name="Text 21">
            <a:extLst>
              <a:ext uri="{FF2B5EF4-FFF2-40B4-BE49-F238E27FC236}">
                <a16:creationId xmlns:a16="http://schemas.microsoft.com/office/drawing/2014/main" id="{399FB438-B29C-C62D-6D50-D27DBEB8C290}"/>
              </a:ext>
            </a:extLst>
          </p:cNvPr>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56</a:t>
            </a:r>
            <a:endParaRPr lang="en-US" sz="1000" dirty="0"/>
          </a:p>
        </p:txBody>
      </p:sp>
      <p:sp>
        <p:nvSpPr>
          <p:cNvPr id="5" name="Shape 2"/>
          <p:cNvSpPr/>
          <p:nvPr/>
        </p:nvSpPr>
        <p:spPr>
          <a:xfrm>
            <a:off x="548640" y="438912"/>
            <a:ext cx="1828800" cy="347472"/>
          </a:xfrm>
          <a:prstGeom prst="roundRect">
            <a:avLst>
              <a:gd name="adj" fmla="val 50000"/>
            </a:avLst>
          </a:prstGeom>
          <a:solidFill>
            <a:srgbClr val="0F9488"/>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8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20624"/>
            <a:ext cx="421538" cy="402336"/>
          </a:xfrm>
          <a:prstGeom prst="roundRect">
            <a:avLst>
              <a:gd name="adj" fmla="val 13636"/>
            </a:avLst>
          </a:prstGeom>
          <a:solidFill>
            <a:srgbClr val="0F9488"/>
          </a:solidFill>
          <a:ln/>
        </p:spPr>
        <p:txBody>
          <a:bodyPr/>
          <a:lstStyle/>
          <a:p>
            <a:endParaRPr lang="en-US"/>
          </a:p>
        </p:txBody>
      </p:sp>
      <p:sp>
        <p:nvSpPr>
          <p:cNvPr id="24" name="Text 21"/>
          <p:cNvSpPr txBox="1"/>
          <p:nvPr/>
        </p:nvSpPr>
        <p:spPr>
          <a:xfrm>
            <a:off x="1022939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Decoder ring</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message.b64 looks like gibberish. It is not encrypted, only encoded. No password needed, just the right option.</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~/mission8</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base64 -d</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Upper case, lower case, digits and an = at the end. Which encoding looks like that?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Encoded or encrypted: what is the difference?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we find the option that decodes?</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57</a:t>
            </a:r>
            <a:endParaRPr lang="en-US" sz="1000" dirty="0"/>
          </a:p>
        </p:txBody>
      </p:sp>
      <p:sp>
        <p:nvSpPr>
          <p:cNvPr id="5" name="Shape 2"/>
          <p:cNvSpPr/>
          <p:nvPr/>
        </p:nvSpPr>
        <p:spPr>
          <a:xfrm>
            <a:off x="548640" y="438912"/>
            <a:ext cx="2103120" cy="347472"/>
          </a:xfrm>
          <a:prstGeom prst="roundRect">
            <a:avLst>
              <a:gd name="adj" fmla="val 50000"/>
            </a:avLst>
          </a:prstGeom>
          <a:solidFill>
            <a:srgbClr val="0F9488"/>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8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Decoder ring</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~/mission8</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message.b64</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RGVjb2RlZCEgRW5jb2RpbmcgaXMgbm90IGVuY3J5cHRpb24u...</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ZTJhNGZ9Cg==</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base64 --help</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Usage: base64 [-d] [-w COL] [FILE]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-d      Decode data</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base64 -d message.b64</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Decoded! Encoding is not encryption.</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Flag: CYBA{decoded-...}</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CYBA{decoded-...}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+400 points</a:t>
            </a:r>
            <a:endParaRPr lang="en-US" sz="14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0F9488"/>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The letters, digits and trailing = gave base64 away.</a:t>
            </a:r>
            <a:endParaRPr lang="en-US" sz="1400" dirty="0"/>
          </a:p>
        </p:txBody>
      </p:sp>
      <p:sp>
        <p:nvSpPr>
          <p:cNvPr id="40" name="Shape 37"/>
          <p:cNvSpPr/>
          <p:nvPr/>
        </p:nvSpPr>
        <p:spPr>
          <a:xfrm>
            <a:off x="7543800" y="2980944"/>
            <a:ext cx="457200" cy="457200"/>
          </a:xfrm>
          <a:prstGeom prst="ellipse">
            <a:avLst/>
          </a:prstGeom>
          <a:solidFill>
            <a:srgbClr val="0F9488"/>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--help showed that -d means decode.</a:t>
            </a:r>
            <a:endParaRPr lang="en-US" sz="1400" dirty="0"/>
          </a:p>
        </p:txBody>
      </p:sp>
      <p:sp>
        <p:nvSpPr>
          <p:cNvPr id="43" name="Shape 40"/>
          <p:cNvSpPr/>
          <p:nvPr/>
        </p:nvSpPr>
        <p:spPr>
          <a:xfrm>
            <a:off x="7543800" y="3767328"/>
            <a:ext cx="457200" cy="457200"/>
          </a:xfrm>
          <a:prstGeom prst="ellipse">
            <a:avLst/>
          </a:prstGeom>
          <a:solidFill>
            <a:srgbClr val="0F9488"/>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No key was needed, because encoding is not encryption.</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Attackers hide commands in base64 hoping nobody looks. Analysts decode first.</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0F9488"/>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Encode your first name with  echo NAME | base64  . Can a neighbour decode it?</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20">
            <a:extLst>
              <a:ext uri="{FF2B5EF4-FFF2-40B4-BE49-F238E27FC236}">
                <a16:creationId xmlns:a16="http://schemas.microsoft.com/office/drawing/2014/main" id="{C6579E7B-4724-3BDE-A0F8-2B00EEFD7DA6}"/>
              </a:ext>
            </a:extLst>
          </p:cNvPr>
          <p:cNvSpPr/>
          <p:nvPr/>
        </p:nvSpPr>
        <p:spPr>
          <a:xfrm>
            <a:off x="10229393" y="420624"/>
            <a:ext cx="421538" cy="402336"/>
          </a:xfrm>
          <a:prstGeom prst="roundRect">
            <a:avLst>
              <a:gd name="adj" fmla="val 13636"/>
            </a:avLst>
          </a:prstGeom>
          <a:solidFill>
            <a:srgbClr val="0F9488"/>
          </a:solidFill>
          <a:ln/>
        </p:spPr>
        <p:txBody>
          <a:bodyPr/>
          <a:lstStyle/>
          <a:p>
            <a:endParaRPr lang="en-US"/>
          </a:p>
        </p:txBody>
      </p:sp>
      <p:sp>
        <p:nvSpPr>
          <p:cNvPr id="53" name="Text 21">
            <a:extLst>
              <a:ext uri="{FF2B5EF4-FFF2-40B4-BE49-F238E27FC236}">
                <a16:creationId xmlns:a16="http://schemas.microsoft.com/office/drawing/2014/main" id="{E2436670-9A4E-75ED-8C9D-97AC071ED996}"/>
              </a:ext>
            </a:extLst>
          </p:cNvPr>
          <p:cNvSpPr txBox="1"/>
          <p:nvPr/>
        </p:nvSpPr>
        <p:spPr>
          <a:xfrm>
            <a:off x="1022939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5" name="Shape 22">
            <a:extLst>
              <a:ext uri="{FF2B5EF4-FFF2-40B4-BE49-F238E27FC236}">
                <a16:creationId xmlns:a16="http://schemas.microsoft.com/office/drawing/2014/main" id="{0C38CE68-70B4-7989-DF3B-AB49CBBC5EF9}"/>
              </a:ext>
            </a:extLst>
          </p:cNvPr>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57" name="Text 23">
            <a:extLst>
              <a:ext uri="{FF2B5EF4-FFF2-40B4-BE49-F238E27FC236}">
                <a16:creationId xmlns:a16="http://schemas.microsoft.com/office/drawing/2014/main" id="{80AA79B7-2010-4F18-5212-35A957F028F3}"/>
              </a:ext>
            </a:extLst>
          </p:cNvPr>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58</a:t>
            </a:r>
            <a:endParaRPr lang="en-US" sz="1000" dirty="0"/>
          </a:p>
        </p:txBody>
      </p:sp>
      <p:sp>
        <p:nvSpPr>
          <p:cNvPr id="5" name="Shape 2"/>
          <p:cNvSpPr/>
          <p:nvPr/>
        </p:nvSpPr>
        <p:spPr>
          <a:xfrm>
            <a:off x="548640" y="438912"/>
            <a:ext cx="1828800" cy="347472"/>
          </a:xfrm>
          <a:prstGeom prst="roundRect">
            <a:avLst>
              <a:gd name="adj" fmla="val 50000"/>
            </a:avLst>
          </a:prstGeom>
          <a:solidFill>
            <a:srgbClr val="5B6EE1"/>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9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20624"/>
            <a:ext cx="421538" cy="402336"/>
          </a:xfrm>
          <a:prstGeom prst="roundRect">
            <a:avLst>
              <a:gd name="adj" fmla="val 13636"/>
            </a:avLst>
          </a:prstGeom>
          <a:solidFill>
            <a:srgbClr val="5B6EE1"/>
          </a:solidFill>
          <a:ln/>
        </p:spPr>
        <p:txBody>
          <a:bodyPr/>
          <a:lstStyle/>
          <a:p>
            <a:endParaRPr lang="en-US"/>
          </a:p>
        </p:txBody>
      </p:sp>
      <p:sp>
        <p:nvSpPr>
          <p:cNvPr id="26" name="Text 23"/>
          <p:cNvSpPr txBox="1"/>
          <p:nvPr/>
        </p:nvSpPr>
        <p:spPr>
          <a:xfrm>
            <a:off x="1072408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Layer cake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cake.b64 was base64-encoded, then encoded again, and again: four to six layers, and nobody wrote down how many. Peel them with one pipeline.</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~/mission9</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base64 -d | base64 -d</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After one decode it still looks like base64. Now what?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can one base64 -d feed the next one?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will we know we reached the last layer?</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59</a:t>
            </a:r>
            <a:endParaRPr lang="en-US" sz="1000" dirty="0"/>
          </a:p>
        </p:txBody>
      </p:sp>
      <p:sp>
        <p:nvSpPr>
          <p:cNvPr id="5" name="Shape 2"/>
          <p:cNvSpPr/>
          <p:nvPr/>
        </p:nvSpPr>
        <p:spPr>
          <a:xfrm>
            <a:off x="548640" y="438912"/>
            <a:ext cx="2103120" cy="347472"/>
          </a:xfrm>
          <a:prstGeom prst="roundRect">
            <a:avLst>
              <a:gd name="adj" fmla="val 50000"/>
            </a:avLst>
          </a:prstGeom>
          <a:solidFill>
            <a:srgbClr val="5B6EE1"/>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9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Layer cake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cd ~/mission9</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base64 -d cake.b64</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Vm0wd2QyUXlVWGxWV0d4V1YwZDRWMVl3WkRSWFJteFZVMjA1...</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base64 -d cake.b64 | base64 -d</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Vm0weE5HSXlTWGxUV0doVVlteHdUMVpzVW5O...</a:t>
            </a:r>
            <a:endParaRPr lang="en-US" sz="1150" dirty="0"/>
          </a:p>
          <a:p>
            <a:pPr marL="0" indent="0">
              <a:spcAft>
                <a:spcPts val="200"/>
              </a:spcAft>
              <a:buNone/>
            </a:pPr>
            <a:r>
              <a:rPr lang="en-US" sz="1150" dirty="0">
                <a:solidFill>
                  <a:srgbClr val="7F8FAD"/>
                </a:solidFill>
                <a:latin typeface="Courier New" pitchFamily="34" charset="0"/>
                <a:ea typeface="Courier New" pitchFamily="34" charset="-122"/>
                <a:cs typeface="Courier New" pitchFamily="34" charset="-120"/>
              </a:rPr>
              <a:t># Up arrow, add one more | base64 -d, repeat</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base64 -d cake.b64 | base64 -d | base64 -d \</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    | base64 -d | base64 -d</a:t>
            </a:r>
            <a:endParaRPr lang="en-US" sz="1150" dirty="0"/>
          </a:p>
          <a:p>
            <a:pPr marL="0" indent="0">
              <a:spcAft>
                <a:spcPts val="200"/>
              </a:spcAft>
              <a:buNone/>
            </a:pPr>
            <a:r>
              <a:rPr lang="en-US" sz="1150" b="1" dirty="0">
                <a:solidFill>
                  <a:srgbClr val="F5A623"/>
                </a:solidFill>
                <a:latin typeface="Courier New" pitchFamily="34" charset="0"/>
                <a:ea typeface="Courier New" pitchFamily="34" charset="-122"/>
                <a:cs typeface="Courier New" pitchFamily="34" charset="-120"/>
              </a:rPr>
              <a:t>Flag: CYBA{layers-...}</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submit CYBA{layers-...}</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Correct! +400 points</a:t>
            </a:r>
            <a:endParaRPr lang="en-US" sz="115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5B6EE1"/>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Each base64 -d removed one layer.</a:t>
            </a:r>
            <a:endParaRPr lang="en-US" sz="1400" dirty="0"/>
          </a:p>
        </p:txBody>
      </p:sp>
      <p:sp>
        <p:nvSpPr>
          <p:cNvPr id="40" name="Shape 37"/>
          <p:cNvSpPr/>
          <p:nvPr/>
        </p:nvSpPr>
        <p:spPr>
          <a:xfrm>
            <a:off x="7543800" y="2980944"/>
            <a:ext cx="457200" cy="457200"/>
          </a:xfrm>
          <a:prstGeom prst="ellipse">
            <a:avLst/>
          </a:prstGeom>
          <a:solidFill>
            <a:srgbClr val="5B6EE1"/>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Pipes stacked the decodes: Up arrow plus one more  | base64 -d  was the whole workflow.</a:t>
            </a:r>
            <a:endParaRPr lang="en-US" sz="1400" dirty="0"/>
          </a:p>
        </p:txBody>
      </p:sp>
      <p:sp>
        <p:nvSpPr>
          <p:cNvPr id="43" name="Shape 40"/>
          <p:cNvSpPr/>
          <p:nvPr/>
        </p:nvSpPr>
        <p:spPr>
          <a:xfrm>
            <a:off x="7543800" y="3767328"/>
            <a:ext cx="457200" cy="457200"/>
          </a:xfrm>
          <a:prstGeom prst="ellipse">
            <a:avLst/>
          </a:prstGeom>
          <a:solidFill>
            <a:srgbClr val="5B6EE1"/>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When the output read 'Flag:', no layers were left.</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Malware often wraps its payload in several layers of encoding. Analysts peel them one at a time.</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5B6EE1"/>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Make your own:  echo hi | base64 | base64 | base64  . Swap with a team and peel theirs.</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22">
            <a:extLst>
              <a:ext uri="{FF2B5EF4-FFF2-40B4-BE49-F238E27FC236}">
                <a16:creationId xmlns:a16="http://schemas.microsoft.com/office/drawing/2014/main" id="{E6D69089-D22F-7A81-D955-53455DCCAD2C}"/>
              </a:ext>
            </a:extLst>
          </p:cNvPr>
          <p:cNvSpPr/>
          <p:nvPr/>
        </p:nvSpPr>
        <p:spPr>
          <a:xfrm>
            <a:off x="10724083" y="420624"/>
            <a:ext cx="421538" cy="402336"/>
          </a:xfrm>
          <a:prstGeom prst="roundRect">
            <a:avLst>
              <a:gd name="adj" fmla="val 13636"/>
            </a:avLst>
          </a:prstGeom>
          <a:solidFill>
            <a:srgbClr val="5B6EE1"/>
          </a:solidFill>
          <a:ln/>
        </p:spPr>
        <p:txBody>
          <a:bodyPr/>
          <a:lstStyle/>
          <a:p>
            <a:endParaRPr lang="en-US"/>
          </a:p>
        </p:txBody>
      </p:sp>
      <p:sp>
        <p:nvSpPr>
          <p:cNvPr id="53" name="Text 23">
            <a:extLst>
              <a:ext uri="{FF2B5EF4-FFF2-40B4-BE49-F238E27FC236}">
                <a16:creationId xmlns:a16="http://schemas.microsoft.com/office/drawing/2014/main" id="{37E733A7-2F11-0C29-F64F-ECBEBDB210EC}"/>
              </a:ext>
            </a:extLst>
          </p:cNvPr>
          <p:cNvSpPr txBox="1"/>
          <p:nvPr/>
        </p:nvSpPr>
        <p:spPr>
          <a:xfrm>
            <a:off x="1072408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55" name="Shape 24">
            <a:extLst>
              <a:ext uri="{FF2B5EF4-FFF2-40B4-BE49-F238E27FC236}">
                <a16:creationId xmlns:a16="http://schemas.microsoft.com/office/drawing/2014/main" id="{23939D62-0E0D-EB24-8E7B-5EA2CF6E667C}"/>
              </a:ext>
            </a:extLst>
          </p:cNvPr>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57" name="Text 25">
            <a:extLst>
              <a:ext uri="{FF2B5EF4-FFF2-40B4-BE49-F238E27FC236}">
                <a16:creationId xmlns:a16="http://schemas.microsoft.com/office/drawing/2014/main" id="{FD144DA1-D5F2-F0E8-FEB6-0746930585D4}"/>
              </a:ext>
            </a:extLst>
          </p:cNvPr>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60</a:t>
            </a:r>
            <a:endParaRPr lang="en-US" sz="1000" dirty="0"/>
          </a:p>
        </p:txBody>
      </p:sp>
      <p:sp>
        <p:nvSpPr>
          <p:cNvPr id="5" name="Shape 2"/>
          <p:cNvSpPr/>
          <p:nvPr/>
        </p:nvSpPr>
        <p:spPr>
          <a:xfrm>
            <a:off x="548640" y="438912"/>
            <a:ext cx="1828800" cy="347472"/>
          </a:xfrm>
          <a:prstGeom prst="roundRect">
            <a:avLst>
              <a:gd name="adj" fmla="val 50000"/>
            </a:avLst>
          </a:prstGeom>
          <a:solidFill>
            <a:srgbClr val="B4233F"/>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10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2A1430"/>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5B6EE1"/>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20624"/>
            <a:ext cx="421538" cy="402336"/>
          </a:xfrm>
          <a:prstGeom prst="roundRect">
            <a:avLst>
              <a:gd name="adj" fmla="val 13636"/>
            </a:avLst>
          </a:prstGeom>
          <a:solidFill>
            <a:srgbClr val="B4233F"/>
          </a:solidFill>
          <a:ln/>
        </p:spPr>
        <p:txBody>
          <a:bodyPr/>
          <a:lstStyle/>
          <a:p>
            <a:endParaRPr lang="en-US"/>
          </a:p>
        </p:txBody>
      </p:sp>
      <p:sp>
        <p:nvSpPr>
          <p:cNvPr id="28" name="Text 25"/>
          <p:cNvSpPr txBox="1"/>
          <p:nvPr/>
        </p:nvSpPr>
        <p:spPr>
          <a:xfrm>
            <a:off x="11218774"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Endgame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final boss. The flag is split into three pieces, each hidden a different way: a hidden file in a folder tree, a base64 token in a log, and a locked script. Assemble CYBA{piece1-piece2-piece3}.</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~/mission10</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find  grep  cut  base64  chmod</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+800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earlier mission taught the skill for each piece?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can we pull just the token out of one log line?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In which order do the pieces go?</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61</a:t>
            </a:r>
            <a:endParaRPr lang="en-US" sz="1000" dirty="0"/>
          </a:p>
        </p:txBody>
      </p:sp>
      <p:sp>
        <p:nvSpPr>
          <p:cNvPr id="5" name="Shape 2"/>
          <p:cNvSpPr/>
          <p:nvPr/>
        </p:nvSpPr>
        <p:spPr>
          <a:xfrm>
            <a:off x="548640" y="438912"/>
            <a:ext cx="2103120" cy="347472"/>
          </a:xfrm>
          <a:prstGeom prst="roundRect">
            <a:avLst>
              <a:gd name="adj" fmla="val 50000"/>
            </a:avLst>
          </a:prstGeom>
          <a:solidFill>
            <a:srgbClr val="B4233F"/>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10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2A1430"/>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5B6EE1"/>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B4233F"/>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Endgame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cd ~/mission10</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grep Piece README.txt</a:t>
            </a:r>
            <a:endParaRPr lang="en-US" sz="1100" dirty="0"/>
          </a:p>
          <a:p>
            <a:pPr marL="0" indent="0">
              <a:spcAft>
                <a:spcPts val="200"/>
              </a:spcAft>
              <a:buNone/>
            </a:pPr>
            <a:r>
              <a:rPr lang="en-US" sz="1100" dirty="0">
                <a:solidFill>
                  <a:srgbClr val="B8C4D9"/>
                </a:solidFill>
                <a:latin typeface="Courier New" pitchFamily="34" charset="0"/>
                <a:ea typeface="Courier New" pitchFamily="34" charset="-122"/>
                <a:cs typeface="Courier New" pitchFamily="34" charset="-120"/>
              </a:rPr>
              <a:t>  Piece 2: glitch logged in once in auth.log ...</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find vault -name ".*" -type f</a:t>
            </a:r>
            <a:endParaRPr lang="en-US" sz="1100" dirty="0"/>
          </a:p>
          <a:p>
            <a:pPr marL="0" indent="0">
              <a:spcAft>
                <a:spcPts val="200"/>
              </a:spcAft>
              <a:buNone/>
            </a:pPr>
            <a:r>
              <a:rPr lang="en-US" sz="1100" dirty="0">
                <a:solidFill>
                  <a:srgbClr val="B8C4D9"/>
                </a:solidFill>
                <a:latin typeface="Courier New" pitchFamily="34" charset="0"/>
                <a:ea typeface="Courier New" pitchFamily="34" charset="-122"/>
                <a:cs typeface="Courier New" pitchFamily="34" charset="-120"/>
              </a:rPr>
              <a:t>vault/south/rack-ml4/.stash   (+ 3 decoys)</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cat vault/south/rack-ml4/.stash</a:t>
            </a:r>
            <a:endParaRPr lang="en-US" sz="1100" dirty="0"/>
          </a:p>
          <a:p>
            <a:pPr marL="0" indent="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1: 244e32</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grep glitch auth.log | cut -d= -f4 | base64 -d</a:t>
            </a:r>
            <a:endParaRPr lang="en-US" sz="1100" dirty="0"/>
          </a:p>
          <a:p>
            <a:pPr marL="0" indent="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2: a7fdd6</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chmod +x unlock.sh &amp;&amp; ./unlock.sh</a:t>
            </a:r>
            <a:endParaRPr lang="en-US" sz="1100" dirty="0"/>
          </a:p>
          <a:p>
            <a:pPr marL="0" indent="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3: 917b9b</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submit CYBA{244e32-a7fdd6-917b9b}</a:t>
            </a:r>
            <a:endParaRPr lang="en-US" sz="1100" dirty="0"/>
          </a:p>
          <a:p>
            <a:pPr marL="0" indent="0">
              <a:spcAft>
                <a:spcPts val="200"/>
              </a:spcAft>
              <a:buNone/>
            </a:pPr>
            <a:r>
              <a:rPr lang="en-US" sz="1100" dirty="0">
                <a:solidFill>
                  <a:srgbClr val="B8C4D9"/>
                </a:solidFill>
                <a:latin typeface="Courier New" pitchFamily="34" charset="0"/>
                <a:ea typeface="Courier New" pitchFamily="34" charset="-122"/>
                <a:cs typeface="Courier New" pitchFamily="34" charset="-120"/>
              </a:rPr>
              <a:t>Correct! +800 points</a:t>
            </a:r>
            <a:endParaRPr lang="en-US" sz="11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B4233F"/>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find listed every hidden file in vault; cat told the real piece from the decoys.</a:t>
            </a:r>
            <a:endParaRPr lang="en-US" sz="1400" dirty="0"/>
          </a:p>
        </p:txBody>
      </p:sp>
      <p:sp>
        <p:nvSpPr>
          <p:cNvPr id="40" name="Shape 37"/>
          <p:cNvSpPr/>
          <p:nvPr/>
        </p:nvSpPr>
        <p:spPr>
          <a:xfrm>
            <a:off x="7543800" y="2980944"/>
            <a:ext cx="457200" cy="457200"/>
          </a:xfrm>
          <a:prstGeom prst="ellipse">
            <a:avLst/>
          </a:prstGeom>
          <a:solidFill>
            <a:srgbClr val="B4233F"/>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grep found the intruder's line, cut kept field 4 (the token) and base64 -d decoded it.</a:t>
            </a:r>
            <a:endParaRPr lang="en-US" sz="1400" dirty="0"/>
          </a:p>
        </p:txBody>
      </p:sp>
      <p:sp>
        <p:nvSpPr>
          <p:cNvPr id="43" name="Shape 40"/>
          <p:cNvSpPr/>
          <p:nvPr/>
        </p:nvSpPr>
        <p:spPr>
          <a:xfrm>
            <a:off x="7543800" y="3767328"/>
            <a:ext cx="457200" cy="457200"/>
          </a:xfrm>
          <a:prstGeom prst="ellipse">
            <a:avLst/>
          </a:prstGeom>
          <a:solidFill>
            <a:srgbClr val="B4233F"/>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chmod +x unlocked the script, which printed piece 3.</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Real incidents are never one trick: responders chain search, logs and decoding to rebuild what happened.</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B4233F"/>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When the last flag lands the clock stops. What was your total, and which mission had your biggest Took?</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4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Side quests: for teams that finish early</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62</a:t>
            </a:r>
            <a:endParaRPr lang="en-US" sz="1000" dirty="0"/>
          </a:p>
        </p:txBody>
      </p:sp>
      <p:sp>
        <p:nvSpPr>
          <p:cNvPr id="6" name="Shape 3"/>
          <p:cNvSpPr/>
          <p:nvPr/>
        </p:nvSpPr>
        <p:spPr>
          <a:xfrm>
            <a:off x="548640" y="1508760"/>
            <a:ext cx="5449824" cy="2057400"/>
          </a:xfrm>
          <a:prstGeom prst="roundRect">
            <a:avLst>
              <a:gd name="adj" fmla="val 5333"/>
            </a:avLst>
          </a:prstGeom>
          <a:solidFill>
            <a:srgbClr val="0E1726"/>
          </a:solidFill>
          <a:ln/>
        </p:spPr>
        <p:txBody>
          <a:bodyPr/>
          <a:lstStyle/>
          <a:p>
            <a:endParaRPr lang="en-US"/>
          </a:p>
        </p:txBody>
      </p:sp>
      <p:sp>
        <p:nvSpPr>
          <p:cNvPr id="7" name="Text 4"/>
          <p:cNvSpPr txBox="1"/>
          <p:nvPr/>
        </p:nvSpPr>
        <p:spPr>
          <a:xfrm>
            <a:off x="868680" y="169164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Count the haystack</a:t>
            </a:r>
            <a:endParaRPr lang="en-US" sz="2200" dirty="0"/>
          </a:p>
        </p:txBody>
      </p:sp>
      <p:sp>
        <p:nvSpPr>
          <p:cNvPr id="8" name="Text 5"/>
          <p:cNvSpPr txBox="1"/>
          <p:nvPr/>
        </p:nvSpPr>
        <p:spPr>
          <a:xfrm>
            <a:off x="4206240" y="173736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~/mission4</a:t>
            </a:r>
            <a:endParaRPr lang="en-US" sz="1200" dirty="0"/>
          </a:p>
        </p:txBody>
      </p:sp>
      <p:sp>
        <p:nvSpPr>
          <p:cNvPr id="9" name="Text 6"/>
          <p:cNvSpPr txBox="1"/>
          <p:nvPr/>
        </p:nvSpPr>
        <p:spPr>
          <a:xfrm>
            <a:off x="868680" y="224028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How many files did find search through? How many folders?</a:t>
            </a:r>
            <a:endParaRPr lang="en-US" sz="1600" dirty="0"/>
          </a:p>
        </p:txBody>
      </p:sp>
      <p:sp>
        <p:nvSpPr>
          <p:cNvPr id="10" name="Text 7"/>
          <p:cNvSpPr txBox="1"/>
          <p:nvPr/>
        </p:nvSpPr>
        <p:spPr>
          <a:xfrm>
            <a:off x="868680" y="304495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find archive -type f | wc -l</a:t>
            </a:r>
            <a:endParaRPr lang="en-US" sz="1400" dirty="0"/>
          </a:p>
        </p:txBody>
      </p:sp>
      <p:sp>
        <p:nvSpPr>
          <p:cNvPr id="11" name="Shape 8"/>
          <p:cNvSpPr/>
          <p:nvPr/>
        </p:nvSpPr>
        <p:spPr>
          <a:xfrm>
            <a:off x="6190488" y="1508760"/>
            <a:ext cx="5449824" cy="2057400"/>
          </a:xfrm>
          <a:prstGeom prst="roundRect">
            <a:avLst>
              <a:gd name="adj" fmla="val 5333"/>
            </a:avLst>
          </a:prstGeom>
          <a:solidFill>
            <a:srgbClr val="0E1726"/>
          </a:solidFill>
          <a:ln/>
        </p:spPr>
        <p:txBody>
          <a:bodyPr/>
          <a:lstStyle/>
          <a:p>
            <a:endParaRPr lang="en-US"/>
          </a:p>
        </p:txBody>
      </p:sp>
      <p:sp>
        <p:nvSpPr>
          <p:cNvPr id="12" name="Text 9"/>
          <p:cNvSpPr txBox="1"/>
          <p:nvPr/>
        </p:nvSpPr>
        <p:spPr>
          <a:xfrm>
            <a:off x="6510528" y="169164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Who failed most?</a:t>
            </a:r>
            <a:endParaRPr lang="en-US" sz="2200" dirty="0"/>
          </a:p>
        </p:txBody>
      </p:sp>
      <p:sp>
        <p:nvSpPr>
          <p:cNvPr id="13" name="Text 10"/>
          <p:cNvSpPr txBox="1"/>
          <p:nvPr/>
        </p:nvSpPr>
        <p:spPr>
          <a:xfrm>
            <a:off x="9848088" y="173736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~/mission5</a:t>
            </a:r>
            <a:endParaRPr lang="en-US" sz="1200" dirty="0"/>
          </a:p>
        </p:txBody>
      </p:sp>
      <p:sp>
        <p:nvSpPr>
          <p:cNvPr id="14" name="Text 11"/>
          <p:cNvSpPr txBox="1"/>
          <p:nvPr/>
        </p:nvSpPr>
        <p:spPr>
          <a:xfrm>
            <a:off x="6510528" y="224028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Which user has the most LOGIN_FAIL lines? Build it one pipe at a time.</a:t>
            </a:r>
            <a:endParaRPr lang="en-US" sz="1600" dirty="0"/>
          </a:p>
        </p:txBody>
      </p:sp>
      <p:sp>
        <p:nvSpPr>
          <p:cNvPr id="15" name="Text 12"/>
          <p:cNvSpPr txBox="1"/>
          <p:nvPr/>
        </p:nvSpPr>
        <p:spPr>
          <a:xfrm>
            <a:off x="6510528" y="304495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grep · cut · sort · uniq -c</a:t>
            </a:r>
            <a:endParaRPr lang="en-US" sz="1400" dirty="0"/>
          </a:p>
        </p:txBody>
      </p:sp>
      <p:sp>
        <p:nvSpPr>
          <p:cNvPr id="16" name="Shape 13"/>
          <p:cNvSpPr/>
          <p:nvPr/>
        </p:nvSpPr>
        <p:spPr>
          <a:xfrm>
            <a:off x="548640" y="3749040"/>
            <a:ext cx="5449824" cy="2057400"/>
          </a:xfrm>
          <a:prstGeom prst="roundRect">
            <a:avLst>
              <a:gd name="adj" fmla="val 5333"/>
            </a:avLst>
          </a:prstGeom>
          <a:solidFill>
            <a:srgbClr val="0E1726"/>
          </a:solidFill>
          <a:ln/>
        </p:spPr>
        <p:txBody>
          <a:bodyPr/>
          <a:lstStyle/>
          <a:p>
            <a:endParaRPr lang="en-US"/>
          </a:p>
        </p:txBody>
      </p:sp>
      <p:sp>
        <p:nvSpPr>
          <p:cNvPr id="17" name="Text 14"/>
          <p:cNvSpPr txBox="1"/>
          <p:nvPr/>
        </p:nvSpPr>
        <p:spPr>
          <a:xfrm>
            <a:off x="868680" y="393192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Head count</a:t>
            </a:r>
            <a:endParaRPr lang="en-US" sz="2200" dirty="0"/>
          </a:p>
        </p:txBody>
      </p:sp>
      <p:sp>
        <p:nvSpPr>
          <p:cNvPr id="18" name="Text 15"/>
          <p:cNvSpPr txBox="1"/>
          <p:nvPr/>
        </p:nvSpPr>
        <p:spPr>
          <a:xfrm>
            <a:off x="4206240" y="397764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~/mission5</a:t>
            </a:r>
            <a:endParaRPr lang="en-US" sz="1200" dirty="0"/>
          </a:p>
        </p:txBody>
      </p:sp>
      <p:sp>
        <p:nvSpPr>
          <p:cNvPr id="19" name="Text 16"/>
          <p:cNvSpPr txBox="1"/>
          <p:nvPr/>
        </p:nvSpPr>
        <p:spPr>
          <a:xfrm>
            <a:off x="868680" y="448056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How many different user names appear in access.log?</a:t>
            </a:r>
            <a:endParaRPr lang="en-US" sz="1600" dirty="0"/>
          </a:p>
        </p:txBody>
      </p:sp>
      <p:sp>
        <p:nvSpPr>
          <p:cNvPr id="20" name="Text 17"/>
          <p:cNvSpPr txBox="1"/>
          <p:nvPr/>
        </p:nvSpPr>
        <p:spPr>
          <a:xfrm>
            <a:off x="868680" y="528523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cut -d' ' -f2 · sort -u · wc -l</a:t>
            </a:r>
            <a:endParaRPr lang="en-US" sz="1400" dirty="0"/>
          </a:p>
        </p:txBody>
      </p:sp>
      <p:sp>
        <p:nvSpPr>
          <p:cNvPr id="21" name="Shape 18"/>
          <p:cNvSpPr/>
          <p:nvPr/>
        </p:nvSpPr>
        <p:spPr>
          <a:xfrm>
            <a:off x="6190488" y="3749040"/>
            <a:ext cx="5449824" cy="2057400"/>
          </a:xfrm>
          <a:prstGeom prst="roundRect">
            <a:avLst>
              <a:gd name="adj" fmla="val 5333"/>
            </a:avLst>
          </a:prstGeom>
          <a:solidFill>
            <a:srgbClr val="0E1726"/>
          </a:solidFill>
          <a:ln/>
        </p:spPr>
        <p:txBody>
          <a:bodyPr/>
          <a:lstStyle/>
          <a:p>
            <a:endParaRPr lang="en-US"/>
          </a:p>
        </p:txBody>
      </p:sp>
      <p:sp>
        <p:nvSpPr>
          <p:cNvPr id="22" name="Text 19"/>
          <p:cNvSpPr txBox="1"/>
          <p:nvPr/>
        </p:nvSpPr>
        <p:spPr>
          <a:xfrm>
            <a:off x="6510528" y="393192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Swap secrets</a:t>
            </a:r>
            <a:endParaRPr lang="en-US" sz="2200" dirty="0"/>
          </a:p>
        </p:txBody>
      </p:sp>
      <p:sp>
        <p:nvSpPr>
          <p:cNvPr id="23" name="Text 20"/>
          <p:cNvSpPr txBox="1"/>
          <p:nvPr/>
        </p:nvSpPr>
        <p:spPr>
          <a:xfrm>
            <a:off x="9848088" y="397764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anywhere</a:t>
            </a:r>
            <a:endParaRPr lang="en-US" sz="1200" dirty="0"/>
          </a:p>
        </p:txBody>
      </p:sp>
      <p:sp>
        <p:nvSpPr>
          <p:cNvPr id="24" name="Text 21"/>
          <p:cNvSpPr txBox="1"/>
          <p:nvPr/>
        </p:nvSpPr>
        <p:spPr>
          <a:xfrm>
            <a:off x="6510528" y="448056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Encode a message, write it on paper, swap with the next team, decode theirs.</a:t>
            </a:r>
            <a:endParaRPr lang="en-US" sz="1600" dirty="0"/>
          </a:p>
        </p:txBody>
      </p:sp>
      <p:sp>
        <p:nvSpPr>
          <p:cNvPr id="25" name="Text 22"/>
          <p:cNvSpPr txBox="1"/>
          <p:nvPr/>
        </p:nvSpPr>
        <p:spPr>
          <a:xfrm>
            <a:off x="6510528" y="528523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echo ... | base64</a:t>
            </a:r>
            <a:endParaRPr lang="en-US" sz="1400" dirty="0"/>
          </a:p>
        </p:txBody>
      </p:sp>
    </p:spTree>
  </p:cSld>
  <p:clrMapOvr>
    <a:masterClrMapping/>
  </p:clrMapOvr>
  <p:transition spd="med">
    <p:fade/>
  </p:transition>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CTF Foundation: Command line</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64</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D1416B"/>
                </a:solidFill>
                <a:latin typeface="Arial" pitchFamily="34" charset="0"/>
                <a:ea typeface="Arial" pitchFamily="34" charset="-122"/>
                <a:cs typeface="Arial" pitchFamily="34" charset="-120"/>
              </a:rPr>
              <a:t>4</a:t>
            </a:r>
            <a:endParaRPr lang="en-US" sz="250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Debrief</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How the game stays fair, what you just did, who gets paid to do it, and how to keep going.</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echo "$(whoami) leveled up"</a:t>
            </a:r>
            <a:endParaRPr lang="en-US" sz="2000" dirty="0"/>
          </a:p>
        </p:txBody>
      </p:sp>
    </p:spTree>
  </p:cSld>
  <p:clrMapOvr>
    <a:masterClrMapping/>
  </p:clrMapOvr>
  <p:transition spd="med">
    <p:fade/>
  </p:transition>
</p:sld>
</file>

<file path=ppt/slides/slide65.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Your skill passport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67</a:t>
            </a:r>
            <a:endParaRPr lang="en-US" sz="1000" dirty="0"/>
          </a:p>
        </p:txBody>
      </p:sp>
      <p:sp>
        <p:nvSpPr>
          <p:cNvPr id="6" name="Shape 3"/>
          <p:cNvSpPr/>
          <p:nvPr/>
        </p:nvSpPr>
        <p:spPr>
          <a:xfrm>
            <a:off x="548640" y="1508760"/>
            <a:ext cx="1719072" cy="1298448"/>
          </a:xfrm>
          <a:prstGeom prst="roundRect">
            <a:avLst>
              <a:gd name="adj" fmla="val 8451"/>
            </a:avLst>
          </a:prstGeom>
          <a:solidFill>
            <a:srgbClr val="FFFFFF"/>
          </a:solidFill>
          <a:ln w="31750">
            <a:solidFill>
              <a:srgbClr val="17875A"/>
            </a:solidFill>
            <a:prstDash val="dash"/>
          </a:ln>
        </p:spPr>
        <p:txBody>
          <a:bodyPr/>
          <a:lstStyle/>
          <a:p>
            <a:endParaRPr lang="en-US"/>
          </a:p>
        </p:txBody>
      </p:sp>
      <p:sp>
        <p:nvSpPr>
          <p:cNvPr id="7" name="Text 4"/>
          <p:cNvSpPr txBox="1"/>
          <p:nvPr/>
        </p:nvSpPr>
        <p:spPr>
          <a:xfrm>
            <a:off x="548640" y="1691640"/>
            <a:ext cx="1719072" cy="548640"/>
          </a:xfrm>
          <a:prstGeom prst="rect">
            <a:avLst/>
          </a:prstGeom>
          <a:noFill/>
          <a:ln/>
        </p:spPr>
        <p:txBody>
          <a:bodyPr wrap="square" lIns="0" tIns="0" rIns="0" bIns="0" rtlCol="0" anchor="ctr"/>
          <a:lstStyle/>
          <a:p>
            <a:pPr marL="0" indent="0" algn="ctr">
              <a:buNone/>
            </a:pPr>
            <a:r>
              <a:rPr lang="en-US" sz="2000" b="1" dirty="0">
                <a:solidFill>
                  <a:srgbClr val="17875A"/>
                </a:solidFill>
                <a:latin typeface="Courier New" pitchFamily="34" charset="0"/>
                <a:ea typeface="Courier New" pitchFamily="34" charset="-122"/>
                <a:cs typeface="Courier New" pitchFamily="34" charset="-120"/>
              </a:rPr>
              <a:t>pwd</a:t>
            </a:r>
            <a:endParaRPr lang="en-US" sz="2000" dirty="0"/>
          </a:p>
        </p:txBody>
      </p:sp>
      <p:sp>
        <p:nvSpPr>
          <p:cNvPr id="8" name="Text 5"/>
          <p:cNvSpPr txBox="1"/>
          <p:nvPr/>
        </p:nvSpPr>
        <p:spPr>
          <a:xfrm>
            <a:off x="548640"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9" name="Shape 6"/>
          <p:cNvSpPr/>
          <p:nvPr/>
        </p:nvSpPr>
        <p:spPr>
          <a:xfrm>
            <a:off x="2414016" y="1508760"/>
            <a:ext cx="1719072" cy="1298448"/>
          </a:xfrm>
          <a:prstGeom prst="roundRect">
            <a:avLst>
              <a:gd name="adj" fmla="val 8451"/>
            </a:avLst>
          </a:prstGeom>
          <a:solidFill>
            <a:srgbClr val="FFFFFF"/>
          </a:solidFill>
          <a:ln w="31750">
            <a:solidFill>
              <a:srgbClr val="17875A"/>
            </a:solidFill>
            <a:prstDash val="dash"/>
          </a:ln>
        </p:spPr>
        <p:txBody>
          <a:bodyPr/>
          <a:lstStyle/>
          <a:p>
            <a:endParaRPr lang="en-US"/>
          </a:p>
        </p:txBody>
      </p:sp>
      <p:sp>
        <p:nvSpPr>
          <p:cNvPr id="10" name="Text 7"/>
          <p:cNvSpPr txBox="1"/>
          <p:nvPr/>
        </p:nvSpPr>
        <p:spPr>
          <a:xfrm>
            <a:off x="2414016" y="1691640"/>
            <a:ext cx="1719072" cy="548640"/>
          </a:xfrm>
          <a:prstGeom prst="rect">
            <a:avLst/>
          </a:prstGeom>
          <a:noFill/>
          <a:ln/>
        </p:spPr>
        <p:txBody>
          <a:bodyPr wrap="square" lIns="0" tIns="0" rIns="0" bIns="0" rtlCol="0" anchor="ctr"/>
          <a:lstStyle/>
          <a:p>
            <a:pPr marL="0" indent="0" algn="ctr">
              <a:buNone/>
            </a:pPr>
            <a:r>
              <a:rPr lang="en-US" sz="2000" b="1" dirty="0">
                <a:solidFill>
                  <a:srgbClr val="17875A"/>
                </a:solidFill>
                <a:latin typeface="Courier New" pitchFamily="34" charset="0"/>
                <a:ea typeface="Courier New" pitchFamily="34" charset="-122"/>
                <a:cs typeface="Courier New" pitchFamily="34" charset="-120"/>
              </a:rPr>
              <a:t>ls</a:t>
            </a:r>
            <a:endParaRPr lang="en-US" sz="2000" dirty="0"/>
          </a:p>
        </p:txBody>
      </p:sp>
      <p:sp>
        <p:nvSpPr>
          <p:cNvPr id="11" name="Text 8"/>
          <p:cNvSpPr txBox="1"/>
          <p:nvPr/>
        </p:nvSpPr>
        <p:spPr>
          <a:xfrm>
            <a:off x="2414016"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12" name="Shape 9"/>
          <p:cNvSpPr/>
          <p:nvPr/>
        </p:nvSpPr>
        <p:spPr>
          <a:xfrm>
            <a:off x="4279392" y="1508760"/>
            <a:ext cx="1719072" cy="1298448"/>
          </a:xfrm>
          <a:prstGeom prst="roundRect">
            <a:avLst>
              <a:gd name="adj" fmla="val 8451"/>
            </a:avLst>
          </a:prstGeom>
          <a:solidFill>
            <a:srgbClr val="FFFFFF"/>
          </a:solidFill>
          <a:ln w="31750">
            <a:solidFill>
              <a:srgbClr val="17875A"/>
            </a:solidFill>
            <a:prstDash val="dash"/>
          </a:ln>
        </p:spPr>
        <p:txBody>
          <a:bodyPr/>
          <a:lstStyle/>
          <a:p>
            <a:endParaRPr lang="en-US"/>
          </a:p>
        </p:txBody>
      </p:sp>
      <p:sp>
        <p:nvSpPr>
          <p:cNvPr id="13" name="Text 10"/>
          <p:cNvSpPr txBox="1"/>
          <p:nvPr/>
        </p:nvSpPr>
        <p:spPr>
          <a:xfrm>
            <a:off x="4279392" y="1691640"/>
            <a:ext cx="1719072" cy="548640"/>
          </a:xfrm>
          <a:prstGeom prst="rect">
            <a:avLst/>
          </a:prstGeom>
          <a:noFill/>
          <a:ln/>
        </p:spPr>
        <p:txBody>
          <a:bodyPr wrap="square" lIns="0" tIns="0" rIns="0" bIns="0" rtlCol="0" anchor="ctr"/>
          <a:lstStyle/>
          <a:p>
            <a:pPr marL="0" indent="0" algn="ctr">
              <a:buNone/>
            </a:pPr>
            <a:r>
              <a:rPr lang="en-US" sz="2000" b="1" dirty="0">
                <a:solidFill>
                  <a:srgbClr val="17875A"/>
                </a:solidFill>
                <a:latin typeface="Courier New" pitchFamily="34" charset="0"/>
                <a:ea typeface="Courier New" pitchFamily="34" charset="-122"/>
                <a:cs typeface="Courier New" pitchFamily="34" charset="-120"/>
              </a:rPr>
              <a:t>cd  cd ..</a:t>
            </a:r>
            <a:endParaRPr lang="en-US" sz="2000" dirty="0"/>
          </a:p>
        </p:txBody>
      </p:sp>
      <p:sp>
        <p:nvSpPr>
          <p:cNvPr id="14" name="Text 11"/>
          <p:cNvSpPr txBox="1"/>
          <p:nvPr/>
        </p:nvSpPr>
        <p:spPr>
          <a:xfrm>
            <a:off x="4279392"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15" name="Shape 12"/>
          <p:cNvSpPr/>
          <p:nvPr/>
        </p:nvSpPr>
        <p:spPr>
          <a:xfrm>
            <a:off x="6144768" y="1508760"/>
            <a:ext cx="1719072" cy="1298448"/>
          </a:xfrm>
          <a:prstGeom prst="roundRect">
            <a:avLst>
              <a:gd name="adj" fmla="val 8451"/>
            </a:avLst>
          </a:prstGeom>
          <a:solidFill>
            <a:srgbClr val="FFFFFF"/>
          </a:solidFill>
          <a:ln w="31750">
            <a:solidFill>
              <a:srgbClr val="2A9FD6"/>
            </a:solidFill>
            <a:prstDash val="dash"/>
          </a:ln>
        </p:spPr>
        <p:txBody>
          <a:bodyPr/>
          <a:lstStyle/>
          <a:p>
            <a:endParaRPr lang="en-US"/>
          </a:p>
        </p:txBody>
      </p:sp>
      <p:sp>
        <p:nvSpPr>
          <p:cNvPr id="16" name="Text 13"/>
          <p:cNvSpPr txBox="1"/>
          <p:nvPr/>
        </p:nvSpPr>
        <p:spPr>
          <a:xfrm>
            <a:off x="6144768" y="1691640"/>
            <a:ext cx="1719072" cy="548640"/>
          </a:xfrm>
          <a:prstGeom prst="rect">
            <a:avLst/>
          </a:prstGeom>
          <a:noFill/>
          <a:ln/>
        </p:spPr>
        <p:txBody>
          <a:bodyPr wrap="square" lIns="0" tIns="0" rIns="0" bIns="0" rtlCol="0" anchor="ctr"/>
          <a:lstStyle/>
          <a:p>
            <a:pPr marL="0" indent="0" algn="ctr">
              <a:buNone/>
            </a:pPr>
            <a:r>
              <a:rPr lang="en-US" sz="2000" b="1" dirty="0">
                <a:solidFill>
                  <a:srgbClr val="2A9FD6"/>
                </a:solidFill>
                <a:latin typeface="Courier New" pitchFamily="34" charset="0"/>
                <a:ea typeface="Courier New" pitchFamily="34" charset="-122"/>
                <a:cs typeface="Courier New" pitchFamily="34" charset="-120"/>
              </a:rPr>
              <a:t>cat</a:t>
            </a:r>
            <a:endParaRPr lang="en-US" sz="2000" dirty="0"/>
          </a:p>
        </p:txBody>
      </p:sp>
      <p:sp>
        <p:nvSpPr>
          <p:cNvPr id="17" name="Text 14"/>
          <p:cNvSpPr txBox="1"/>
          <p:nvPr/>
        </p:nvSpPr>
        <p:spPr>
          <a:xfrm>
            <a:off x="6144768"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18" name="Shape 15"/>
          <p:cNvSpPr/>
          <p:nvPr/>
        </p:nvSpPr>
        <p:spPr>
          <a:xfrm>
            <a:off x="8010144" y="1508760"/>
            <a:ext cx="1719072" cy="1298448"/>
          </a:xfrm>
          <a:prstGeom prst="roundRect">
            <a:avLst>
              <a:gd name="adj" fmla="val 8451"/>
            </a:avLst>
          </a:prstGeom>
          <a:solidFill>
            <a:srgbClr val="FFFFFF"/>
          </a:solidFill>
          <a:ln w="31750">
            <a:solidFill>
              <a:srgbClr val="2A9FD6"/>
            </a:solidFill>
            <a:prstDash val="dash"/>
          </a:ln>
        </p:spPr>
        <p:txBody>
          <a:bodyPr/>
          <a:lstStyle/>
          <a:p>
            <a:endParaRPr lang="en-US"/>
          </a:p>
        </p:txBody>
      </p:sp>
      <p:sp>
        <p:nvSpPr>
          <p:cNvPr id="19" name="Text 16"/>
          <p:cNvSpPr txBox="1"/>
          <p:nvPr/>
        </p:nvSpPr>
        <p:spPr>
          <a:xfrm>
            <a:off x="8010144" y="1691640"/>
            <a:ext cx="1719072" cy="548640"/>
          </a:xfrm>
          <a:prstGeom prst="rect">
            <a:avLst/>
          </a:prstGeom>
          <a:noFill/>
          <a:ln/>
        </p:spPr>
        <p:txBody>
          <a:bodyPr wrap="square" lIns="0" tIns="0" rIns="0" bIns="0" rtlCol="0" anchor="ctr"/>
          <a:lstStyle/>
          <a:p>
            <a:pPr marL="0" indent="0" algn="ctr">
              <a:buNone/>
            </a:pPr>
            <a:r>
              <a:rPr lang="en-US" sz="2000" b="1" dirty="0">
                <a:solidFill>
                  <a:srgbClr val="2A9FD6"/>
                </a:solidFill>
                <a:latin typeface="Courier New" pitchFamily="34" charset="0"/>
                <a:ea typeface="Courier New" pitchFamily="34" charset="-122"/>
                <a:cs typeface="Courier New" pitchFamily="34" charset="-120"/>
              </a:rPr>
              <a:t>--help</a:t>
            </a:r>
            <a:endParaRPr lang="en-US" sz="2000" dirty="0"/>
          </a:p>
        </p:txBody>
      </p:sp>
      <p:sp>
        <p:nvSpPr>
          <p:cNvPr id="20" name="Text 17"/>
          <p:cNvSpPr txBox="1"/>
          <p:nvPr/>
        </p:nvSpPr>
        <p:spPr>
          <a:xfrm>
            <a:off x="8010144"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21" name="Shape 18"/>
          <p:cNvSpPr/>
          <p:nvPr/>
        </p:nvSpPr>
        <p:spPr>
          <a:xfrm>
            <a:off x="9875520" y="1508760"/>
            <a:ext cx="1719072" cy="1298448"/>
          </a:xfrm>
          <a:prstGeom prst="roundRect">
            <a:avLst>
              <a:gd name="adj" fmla="val 8451"/>
            </a:avLst>
          </a:prstGeom>
          <a:solidFill>
            <a:srgbClr val="FFFFFF"/>
          </a:solidFill>
          <a:ln w="31750">
            <a:solidFill>
              <a:srgbClr val="2459D8"/>
            </a:solidFill>
            <a:prstDash val="dash"/>
          </a:ln>
        </p:spPr>
        <p:txBody>
          <a:bodyPr/>
          <a:lstStyle/>
          <a:p>
            <a:endParaRPr lang="en-US"/>
          </a:p>
        </p:txBody>
      </p:sp>
      <p:sp>
        <p:nvSpPr>
          <p:cNvPr id="22" name="Text 19"/>
          <p:cNvSpPr txBox="1"/>
          <p:nvPr/>
        </p:nvSpPr>
        <p:spPr>
          <a:xfrm>
            <a:off x="9875520" y="1691640"/>
            <a:ext cx="1719072" cy="548640"/>
          </a:xfrm>
          <a:prstGeom prst="rect">
            <a:avLst/>
          </a:prstGeom>
          <a:noFill/>
          <a:ln/>
        </p:spPr>
        <p:txBody>
          <a:bodyPr wrap="square" lIns="0" tIns="0" rIns="0" bIns="0" rtlCol="0" anchor="ctr"/>
          <a:lstStyle/>
          <a:p>
            <a:pPr marL="0" indent="0" algn="ctr">
              <a:buNone/>
            </a:pPr>
            <a:r>
              <a:rPr lang="en-US" sz="2000" b="1" dirty="0">
                <a:solidFill>
                  <a:srgbClr val="2459D8"/>
                </a:solidFill>
                <a:latin typeface="Courier New" pitchFamily="34" charset="0"/>
                <a:ea typeface="Courier New" pitchFamily="34" charset="-122"/>
                <a:cs typeface="Courier New" pitchFamily="34" charset="-120"/>
              </a:rPr>
              <a:t>ls -a</a:t>
            </a:r>
            <a:endParaRPr lang="en-US" sz="2000" dirty="0"/>
          </a:p>
        </p:txBody>
      </p:sp>
      <p:sp>
        <p:nvSpPr>
          <p:cNvPr id="23" name="Text 20"/>
          <p:cNvSpPr txBox="1"/>
          <p:nvPr/>
        </p:nvSpPr>
        <p:spPr>
          <a:xfrm>
            <a:off x="9875520"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24" name="Shape 21"/>
          <p:cNvSpPr/>
          <p:nvPr/>
        </p:nvSpPr>
        <p:spPr>
          <a:xfrm>
            <a:off x="548640" y="2971800"/>
            <a:ext cx="1719072" cy="1298448"/>
          </a:xfrm>
          <a:prstGeom prst="roundRect">
            <a:avLst>
              <a:gd name="adj" fmla="val 8451"/>
            </a:avLst>
          </a:prstGeom>
          <a:solidFill>
            <a:srgbClr val="FFFFFF"/>
          </a:solidFill>
          <a:ln w="31750">
            <a:solidFill>
              <a:srgbClr val="2459D8"/>
            </a:solidFill>
            <a:prstDash val="dash"/>
          </a:ln>
        </p:spPr>
        <p:txBody>
          <a:bodyPr/>
          <a:lstStyle/>
          <a:p>
            <a:endParaRPr lang="en-US"/>
          </a:p>
        </p:txBody>
      </p:sp>
      <p:sp>
        <p:nvSpPr>
          <p:cNvPr id="25" name="Text 22"/>
          <p:cNvSpPr txBox="1"/>
          <p:nvPr/>
        </p:nvSpPr>
        <p:spPr>
          <a:xfrm>
            <a:off x="548640" y="3154680"/>
            <a:ext cx="1719072" cy="548640"/>
          </a:xfrm>
          <a:prstGeom prst="rect">
            <a:avLst/>
          </a:prstGeom>
          <a:noFill/>
          <a:ln/>
        </p:spPr>
        <p:txBody>
          <a:bodyPr wrap="square" lIns="0" tIns="0" rIns="0" bIns="0" rtlCol="0" anchor="ctr"/>
          <a:lstStyle/>
          <a:p>
            <a:pPr marL="0" indent="0" algn="ctr">
              <a:buNone/>
            </a:pPr>
            <a:r>
              <a:rPr lang="en-US" sz="2000" b="1" dirty="0">
                <a:solidFill>
                  <a:srgbClr val="2459D8"/>
                </a:solidFill>
                <a:latin typeface="Courier New" pitchFamily="34" charset="0"/>
                <a:ea typeface="Courier New" pitchFamily="34" charset="-122"/>
                <a:cs typeface="Courier New" pitchFamily="34" charset="-120"/>
              </a:rPr>
              <a:t>Tab</a:t>
            </a:r>
            <a:endParaRPr lang="en-US" sz="2000" dirty="0"/>
          </a:p>
        </p:txBody>
      </p:sp>
      <p:sp>
        <p:nvSpPr>
          <p:cNvPr id="26" name="Text 23"/>
          <p:cNvSpPr txBox="1"/>
          <p:nvPr/>
        </p:nvSpPr>
        <p:spPr>
          <a:xfrm>
            <a:off x="548640"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27" name="Shape 24"/>
          <p:cNvSpPr/>
          <p:nvPr/>
        </p:nvSpPr>
        <p:spPr>
          <a:xfrm>
            <a:off x="2414016" y="2971800"/>
            <a:ext cx="1719072" cy="1298448"/>
          </a:xfrm>
          <a:prstGeom prst="roundRect">
            <a:avLst>
              <a:gd name="adj" fmla="val 8451"/>
            </a:avLst>
          </a:prstGeom>
          <a:solidFill>
            <a:srgbClr val="FFFFFF"/>
          </a:solidFill>
          <a:ln w="31750">
            <a:solidFill>
              <a:srgbClr val="7448D4"/>
            </a:solidFill>
            <a:prstDash val="dash"/>
          </a:ln>
        </p:spPr>
        <p:txBody>
          <a:bodyPr/>
          <a:lstStyle/>
          <a:p>
            <a:endParaRPr lang="en-US"/>
          </a:p>
        </p:txBody>
      </p:sp>
      <p:sp>
        <p:nvSpPr>
          <p:cNvPr id="28" name="Text 25"/>
          <p:cNvSpPr txBox="1"/>
          <p:nvPr/>
        </p:nvSpPr>
        <p:spPr>
          <a:xfrm>
            <a:off x="2414016" y="3154680"/>
            <a:ext cx="1719072" cy="548640"/>
          </a:xfrm>
          <a:prstGeom prst="rect">
            <a:avLst/>
          </a:prstGeom>
          <a:noFill/>
          <a:ln/>
        </p:spPr>
        <p:txBody>
          <a:bodyPr wrap="square" lIns="0" tIns="0" rIns="0" bIns="0" rtlCol="0" anchor="ctr"/>
          <a:lstStyle/>
          <a:p>
            <a:pPr marL="0" indent="0" algn="ctr">
              <a:buNone/>
            </a:pPr>
            <a:r>
              <a:rPr lang="en-US" sz="2000" b="1" dirty="0">
                <a:solidFill>
                  <a:srgbClr val="7448D4"/>
                </a:solidFill>
                <a:latin typeface="Courier New" pitchFamily="34" charset="0"/>
                <a:ea typeface="Courier New" pitchFamily="34" charset="-122"/>
                <a:cs typeface="Courier New" pitchFamily="34" charset="-120"/>
              </a:rPr>
              <a:t>find</a:t>
            </a:r>
            <a:endParaRPr lang="en-US" sz="2000" dirty="0"/>
          </a:p>
        </p:txBody>
      </p:sp>
      <p:sp>
        <p:nvSpPr>
          <p:cNvPr id="29" name="Text 26"/>
          <p:cNvSpPr txBox="1"/>
          <p:nvPr/>
        </p:nvSpPr>
        <p:spPr>
          <a:xfrm>
            <a:off x="2414016"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4</a:t>
            </a:r>
            <a:endParaRPr lang="en-US" sz="1200" dirty="0"/>
          </a:p>
        </p:txBody>
      </p:sp>
      <p:sp>
        <p:nvSpPr>
          <p:cNvPr id="30" name="Shape 27"/>
          <p:cNvSpPr/>
          <p:nvPr/>
        </p:nvSpPr>
        <p:spPr>
          <a:xfrm>
            <a:off x="4279392" y="2971800"/>
            <a:ext cx="1719072" cy="1298448"/>
          </a:xfrm>
          <a:prstGeom prst="roundRect">
            <a:avLst>
              <a:gd name="adj" fmla="val 8451"/>
            </a:avLst>
          </a:prstGeom>
          <a:solidFill>
            <a:srgbClr val="FFFFFF"/>
          </a:solidFill>
          <a:ln w="31750">
            <a:solidFill>
              <a:srgbClr val="D1416B"/>
            </a:solidFill>
            <a:prstDash val="dash"/>
          </a:ln>
        </p:spPr>
        <p:txBody>
          <a:bodyPr/>
          <a:lstStyle/>
          <a:p>
            <a:endParaRPr lang="en-US"/>
          </a:p>
        </p:txBody>
      </p:sp>
      <p:sp>
        <p:nvSpPr>
          <p:cNvPr id="31" name="Text 28"/>
          <p:cNvSpPr txBox="1"/>
          <p:nvPr/>
        </p:nvSpPr>
        <p:spPr>
          <a:xfrm>
            <a:off x="4279392" y="3154680"/>
            <a:ext cx="1719072" cy="548640"/>
          </a:xfrm>
          <a:prstGeom prst="rect">
            <a:avLst/>
          </a:prstGeom>
          <a:noFill/>
          <a:ln/>
        </p:spPr>
        <p:txBody>
          <a:bodyPr wrap="square" lIns="0" tIns="0" rIns="0" bIns="0" rtlCol="0" anchor="ctr"/>
          <a:lstStyle/>
          <a:p>
            <a:pPr marL="0" indent="0" algn="ctr">
              <a:buNone/>
            </a:pPr>
            <a:r>
              <a:rPr lang="en-US" sz="2000" b="1" dirty="0">
                <a:solidFill>
                  <a:srgbClr val="D1416B"/>
                </a:solidFill>
                <a:latin typeface="Courier New" pitchFamily="34" charset="0"/>
                <a:ea typeface="Courier New" pitchFamily="34" charset="-122"/>
                <a:cs typeface="Courier New" pitchFamily="34" charset="-120"/>
              </a:rPr>
              <a:t>grep</a:t>
            </a:r>
            <a:endParaRPr lang="en-US" sz="2000" dirty="0"/>
          </a:p>
        </p:txBody>
      </p:sp>
      <p:sp>
        <p:nvSpPr>
          <p:cNvPr id="32" name="Text 29"/>
          <p:cNvSpPr txBox="1"/>
          <p:nvPr/>
        </p:nvSpPr>
        <p:spPr>
          <a:xfrm>
            <a:off x="4279392"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5</a:t>
            </a:r>
            <a:endParaRPr lang="en-US" sz="1200" dirty="0"/>
          </a:p>
        </p:txBody>
      </p:sp>
      <p:sp>
        <p:nvSpPr>
          <p:cNvPr id="33" name="Shape 30"/>
          <p:cNvSpPr/>
          <p:nvPr/>
        </p:nvSpPr>
        <p:spPr>
          <a:xfrm>
            <a:off x="6144768" y="2971800"/>
            <a:ext cx="1719072" cy="1298448"/>
          </a:xfrm>
          <a:prstGeom prst="roundRect">
            <a:avLst>
              <a:gd name="adj" fmla="val 8451"/>
            </a:avLst>
          </a:prstGeom>
          <a:solidFill>
            <a:srgbClr val="FFFFFF"/>
          </a:solidFill>
          <a:ln w="31750">
            <a:solidFill>
              <a:srgbClr val="D1416B"/>
            </a:solidFill>
            <a:prstDash val="dash"/>
          </a:ln>
        </p:spPr>
        <p:txBody>
          <a:bodyPr/>
          <a:lstStyle/>
          <a:p>
            <a:endParaRPr lang="en-US"/>
          </a:p>
        </p:txBody>
      </p:sp>
      <p:sp>
        <p:nvSpPr>
          <p:cNvPr id="34" name="Text 31"/>
          <p:cNvSpPr txBox="1"/>
          <p:nvPr/>
        </p:nvSpPr>
        <p:spPr>
          <a:xfrm>
            <a:off x="6144768" y="3154680"/>
            <a:ext cx="1719072" cy="548640"/>
          </a:xfrm>
          <a:prstGeom prst="rect">
            <a:avLst/>
          </a:prstGeom>
          <a:noFill/>
          <a:ln/>
        </p:spPr>
        <p:txBody>
          <a:bodyPr wrap="square" lIns="0" tIns="0" rIns="0" bIns="0" rtlCol="0" anchor="ctr"/>
          <a:lstStyle/>
          <a:p>
            <a:pPr marL="0" indent="0" algn="ctr">
              <a:buNone/>
            </a:pPr>
            <a:r>
              <a:rPr lang="en-US" sz="1400" b="1" dirty="0">
                <a:solidFill>
                  <a:srgbClr val="D1416B"/>
                </a:solidFill>
                <a:latin typeface="Courier New" pitchFamily="34" charset="0"/>
                <a:ea typeface="Courier New" pitchFamily="34" charset="-122"/>
                <a:cs typeface="Courier New" pitchFamily="34" charset="-120"/>
              </a:rPr>
              <a:t>head  wc -l</a:t>
            </a:r>
            <a:endParaRPr lang="en-US" sz="1400" dirty="0"/>
          </a:p>
        </p:txBody>
      </p:sp>
      <p:sp>
        <p:nvSpPr>
          <p:cNvPr id="35" name="Text 32"/>
          <p:cNvSpPr txBox="1"/>
          <p:nvPr/>
        </p:nvSpPr>
        <p:spPr>
          <a:xfrm>
            <a:off x="6144768"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5</a:t>
            </a:r>
            <a:endParaRPr lang="en-US" sz="1200" dirty="0"/>
          </a:p>
        </p:txBody>
      </p:sp>
      <p:sp>
        <p:nvSpPr>
          <p:cNvPr id="36" name="Shape 33"/>
          <p:cNvSpPr/>
          <p:nvPr/>
        </p:nvSpPr>
        <p:spPr>
          <a:xfrm>
            <a:off x="8010144" y="2971800"/>
            <a:ext cx="1719072" cy="1298448"/>
          </a:xfrm>
          <a:prstGeom prst="roundRect">
            <a:avLst>
              <a:gd name="adj" fmla="val 8451"/>
            </a:avLst>
          </a:prstGeom>
          <a:solidFill>
            <a:srgbClr val="FFFFFF"/>
          </a:solidFill>
          <a:ln w="31750">
            <a:solidFill>
              <a:srgbClr val="E8820C"/>
            </a:solidFill>
            <a:prstDash val="dash"/>
          </a:ln>
        </p:spPr>
        <p:txBody>
          <a:bodyPr/>
          <a:lstStyle/>
          <a:p>
            <a:endParaRPr lang="en-US"/>
          </a:p>
        </p:txBody>
      </p:sp>
      <p:sp>
        <p:nvSpPr>
          <p:cNvPr id="37" name="Text 34"/>
          <p:cNvSpPr txBox="1"/>
          <p:nvPr/>
        </p:nvSpPr>
        <p:spPr>
          <a:xfrm>
            <a:off x="8010144" y="3154680"/>
            <a:ext cx="1719072" cy="548640"/>
          </a:xfrm>
          <a:prstGeom prst="rect">
            <a:avLst/>
          </a:prstGeom>
          <a:noFill/>
          <a:ln/>
        </p:spPr>
        <p:txBody>
          <a:bodyPr wrap="square" lIns="0" tIns="0" rIns="0" bIns="0" rtlCol="0" anchor="ctr"/>
          <a:lstStyle/>
          <a:p>
            <a:pPr marL="0" indent="0" algn="ctr">
              <a:buNone/>
            </a:pPr>
            <a:r>
              <a:rPr lang="en-US" sz="2000" b="1" dirty="0">
                <a:solidFill>
                  <a:srgbClr val="E8820C"/>
                </a:solidFill>
                <a:latin typeface="Courier New" pitchFamily="34" charset="0"/>
                <a:ea typeface="Courier New" pitchFamily="34" charset="-122"/>
                <a:cs typeface="Courier New" pitchFamily="34" charset="-120"/>
              </a:rPr>
              <a:t>|</a:t>
            </a:r>
            <a:endParaRPr lang="en-US" sz="2000" dirty="0"/>
          </a:p>
        </p:txBody>
      </p:sp>
      <p:sp>
        <p:nvSpPr>
          <p:cNvPr id="38" name="Text 35"/>
          <p:cNvSpPr txBox="1"/>
          <p:nvPr/>
        </p:nvSpPr>
        <p:spPr>
          <a:xfrm>
            <a:off x="8010144"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39" name="Shape 36"/>
          <p:cNvSpPr/>
          <p:nvPr/>
        </p:nvSpPr>
        <p:spPr>
          <a:xfrm>
            <a:off x="9875520" y="2971800"/>
            <a:ext cx="1719072" cy="1298448"/>
          </a:xfrm>
          <a:prstGeom prst="roundRect">
            <a:avLst>
              <a:gd name="adj" fmla="val 8451"/>
            </a:avLst>
          </a:prstGeom>
          <a:solidFill>
            <a:srgbClr val="FFFFFF"/>
          </a:solidFill>
          <a:ln w="31750">
            <a:solidFill>
              <a:srgbClr val="E8820C"/>
            </a:solidFill>
            <a:prstDash val="dash"/>
          </a:ln>
        </p:spPr>
        <p:txBody>
          <a:bodyPr/>
          <a:lstStyle/>
          <a:p>
            <a:endParaRPr lang="en-US"/>
          </a:p>
        </p:txBody>
      </p:sp>
      <p:sp>
        <p:nvSpPr>
          <p:cNvPr id="40" name="Text 37"/>
          <p:cNvSpPr txBox="1"/>
          <p:nvPr/>
        </p:nvSpPr>
        <p:spPr>
          <a:xfrm>
            <a:off x="9875520" y="3154680"/>
            <a:ext cx="1719072" cy="548640"/>
          </a:xfrm>
          <a:prstGeom prst="rect">
            <a:avLst/>
          </a:prstGeom>
          <a:noFill/>
          <a:ln/>
        </p:spPr>
        <p:txBody>
          <a:bodyPr wrap="square" lIns="0" tIns="0" rIns="0" bIns="0" rtlCol="0" anchor="ctr"/>
          <a:lstStyle/>
          <a:p>
            <a:pPr marL="0" indent="0" algn="ctr">
              <a:buNone/>
            </a:pPr>
            <a:r>
              <a:rPr lang="en-US" sz="1400" b="1" dirty="0">
                <a:solidFill>
                  <a:srgbClr val="E8820C"/>
                </a:solidFill>
                <a:latin typeface="Courier New" pitchFamily="34" charset="0"/>
                <a:ea typeface="Courier New" pitchFamily="34" charset="-122"/>
                <a:cs typeface="Courier New" pitchFamily="34" charset="-120"/>
              </a:rPr>
              <a:t>sort  uniq</a:t>
            </a:r>
            <a:endParaRPr lang="en-US" sz="1400" dirty="0"/>
          </a:p>
        </p:txBody>
      </p:sp>
      <p:sp>
        <p:nvSpPr>
          <p:cNvPr id="41" name="Text 38"/>
          <p:cNvSpPr txBox="1"/>
          <p:nvPr/>
        </p:nvSpPr>
        <p:spPr>
          <a:xfrm>
            <a:off x="9875520"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42" name="Shape 39"/>
          <p:cNvSpPr/>
          <p:nvPr/>
        </p:nvSpPr>
        <p:spPr>
          <a:xfrm>
            <a:off x="548640" y="4434840"/>
            <a:ext cx="1719072" cy="1298448"/>
          </a:xfrm>
          <a:prstGeom prst="roundRect">
            <a:avLst>
              <a:gd name="adj" fmla="val 8451"/>
            </a:avLst>
          </a:prstGeom>
          <a:solidFill>
            <a:srgbClr val="FFFFFF"/>
          </a:solidFill>
          <a:ln w="31750">
            <a:solidFill>
              <a:srgbClr val="C9A227"/>
            </a:solidFill>
            <a:prstDash val="dash"/>
          </a:ln>
        </p:spPr>
        <p:txBody>
          <a:bodyPr/>
          <a:lstStyle/>
          <a:p>
            <a:endParaRPr lang="en-US"/>
          </a:p>
        </p:txBody>
      </p:sp>
      <p:sp>
        <p:nvSpPr>
          <p:cNvPr id="43" name="Text 40"/>
          <p:cNvSpPr txBox="1"/>
          <p:nvPr/>
        </p:nvSpPr>
        <p:spPr>
          <a:xfrm>
            <a:off x="548640" y="4617720"/>
            <a:ext cx="1719072" cy="548640"/>
          </a:xfrm>
          <a:prstGeom prst="rect">
            <a:avLst/>
          </a:prstGeom>
          <a:noFill/>
          <a:ln/>
        </p:spPr>
        <p:txBody>
          <a:bodyPr wrap="square" lIns="0" tIns="0" rIns="0" bIns="0" rtlCol="0" anchor="ctr"/>
          <a:lstStyle/>
          <a:p>
            <a:pPr marL="0" indent="0" algn="ctr">
              <a:buNone/>
            </a:pPr>
            <a:r>
              <a:rPr lang="en-US" sz="2000" b="1" dirty="0">
                <a:solidFill>
                  <a:srgbClr val="C9A227"/>
                </a:solidFill>
                <a:latin typeface="Courier New" pitchFamily="34" charset="0"/>
                <a:ea typeface="Courier New" pitchFamily="34" charset="-122"/>
                <a:cs typeface="Courier New" pitchFamily="34" charset="-120"/>
              </a:rPr>
              <a:t>ls -l</a:t>
            </a:r>
            <a:endParaRPr lang="en-US" sz="2000" dirty="0"/>
          </a:p>
        </p:txBody>
      </p:sp>
      <p:sp>
        <p:nvSpPr>
          <p:cNvPr id="44" name="Text 41"/>
          <p:cNvSpPr txBox="1"/>
          <p:nvPr/>
        </p:nvSpPr>
        <p:spPr>
          <a:xfrm>
            <a:off x="548640"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7</a:t>
            </a:r>
            <a:endParaRPr lang="en-US" sz="1200" dirty="0"/>
          </a:p>
        </p:txBody>
      </p:sp>
      <p:sp>
        <p:nvSpPr>
          <p:cNvPr id="45" name="Shape 42"/>
          <p:cNvSpPr/>
          <p:nvPr/>
        </p:nvSpPr>
        <p:spPr>
          <a:xfrm>
            <a:off x="2414016" y="4434840"/>
            <a:ext cx="1719072" cy="1298448"/>
          </a:xfrm>
          <a:prstGeom prst="roundRect">
            <a:avLst>
              <a:gd name="adj" fmla="val 8451"/>
            </a:avLst>
          </a:prstGeom>
          <a:solidFill>
            <a:srgbClr val="FFFFFF"/>
          </a:solidFill>
          <a:ln w="31750">
            <a:solidFill>
              <a:srgbClr val="C9A227"/>
            </a:solidFill>
            <a:prstDash val="dash"/>
          </a:ln>
        </p:spPr>
        <p:txBody>
          <a:bodyPr/>
          <a:lstStyle/>
          <a:p>
            <a:endParaRPr lang="en-US"/>
          </a:p>
        </p:txBody>
      </p:sp>
      <p:sp>
        <p:nvSpPr>
          <p:cNvPr id="46" name="Text 43"/>
          <p:cNvSpPr txBox="1"/>
          <p:nvPr/>
        </p:nvSpPr>
        <p:spPr>
          <a:xfrm>
            <a:off x="2414016" y="4617720"/>
            <a:ext cx="1719072" cy="548640"/>
          </a:xfrm>
          <a:prstGeom prst="rect">
            <a:avLst/>
          </a:prstGeom>
          <a:noFill/>
          <a:ln/>
        </p:spPr>
        <p:txBody>
          <a:bodyPr wrap="square" lIns="0" tIns="0" rIns="0" bIns="0" rtlCol="0" anchor="ctr"/>
          <a:lstStyle/>
          <a:p>
            <a:pPr marL="0" indent="0" algn="ctr">
              <a:buNone/>
            </a:pPr>
            <a:r>
              <a:rPr lang="en-US" sz="2000" b="1" dirty="0">
                <a:solidFill>
                  <a:srgbClr val="C9A227"/>
                </a:solidFill>
                <a:latin typeface="Courier New" pitchFamily="34" charset="0"/>
                <a:ea typeface="Courier New" pitchFamily="34" charset="-122"/>
                <a:cs typeface="Courier New" pitchFamily="34" charset="-120"/>
              </a:rPr>
              <a:t>chmod +x</a:t>
            </a:r>
            <a:endParaRPr lang="en-US" sz="2000" dirty="0"/>
          </a:p>
        </p:txBody>
      </p:sp>
      <p:sp>
        <p:nvSpPr>
          <p:cNvPr id="47" name="Text 44"/>
          <p:cNvSpPr txBox="1"/>
          <p:nvPr/>
        </p:nvSpPr>
        <p:spPr>
          <a:xfrm>
            <a:off x="2414016"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7</a:t>
            </a:r>
            <a:endParaRPr lang="en-US" sz="1200" dirty="0"/>
          </a:p>
        </p:txBody>
      </p:sp>
      <p:sp>
        <p:nvSpPr>
          <p:cNvPr id="48" name="Shape 45"/>
          <p:cNvSpPr/>
          <p:nvPr/>
        </p:nvSpPr>
        <p:spPr>
          <a:xfrm>
            <a:off x="4279392" y="4434840"/>
            <a:ext cx="1719072" cy="1298448"/>
          </a:xfrm>
          <a:prstGeom prst="roundRect">
            <a:avLst>
              <a:gd name="adj" fmla="val 8451"/>
            </a:avLst>
          </a:prstGeom>
          <a:solidFill>
            <a:srgbClr val="FFFFFF"/>
          </a:solidFill>
          <a:ln w="31750">
            <a:solidFill>
              <a:srgbClr val="0F9488"/>
            </a:solidFill>
            <a:prstDash val="dash"/>
          </a:ln>
        </p:spPr>
        <p:txBody>
          <a:bodyPr/>
          <a:lstStyle/>
          <a:p>
            <a:endParaRPr lang="en-US"/>
          </a:p>
        </p:txBody>
      </p:sp>
      <p:sp>
        <p:nvSpPr>
          <p:cNvPr id="49" name="Text 46"/>
          <p:cNvSpPr txBox="1"/>
          <p:nvPr/>
        </p:nvSpPr>
        <p:spPr>
          <a:xfrm>
            <a:off x="4279392" y="4617720"/>
            <a:ext cx="1719072" cy="548640"/>
          </a:xfrm>
          <a:prstGeom prst="rect">
            <a:avLst/>
          </a:prstGeom>
          <a:noFill/>
          <a:ln/>
        </p:spPr>
        <p:txBody>
          <a:bodyPr wrap="square" lIns="0" tIns="0" rIns="0" bIns="0" rtlCol="0" anchor="ctr"/>
          <a:lstStyle/>
          <a:p>
            <a:pPr marL="0" indent="0" algn="ctr">
              <a:buNone/>
            </a:pPr>
            <a:r>
              <a:rPr lang="en-US" sz="2000" b="1" dirty="0">
                <a:solidFill>
                  <a:srgbClr val="0F9488"/>
                </a:solidFill>
                <a:latin typeface="Courier New" pitchFamily="34" charset="0"/>
                <a:ea typeface="Courier New" pitchFamily="34" charset="-122"/>
                <a:cs typeface="Courier New" pitchFamily="34" charset="-120"/>
              </a:rPr>
              <a:t>base64 -d</a:t>
            </a:r>
            <a:endParaRPr lang="en-US" sz="2000" dirty="0"/>
          </a:p>
        </p:txBody>
      </p:sp>
      <p:sp>
        <p:nvSpPr>
          <p:cNvPr id="50" name="Text 47"/>
          <p:cNvSpPr txBox="1"/>
          <p:nvPr/>
        </p:nvSpPr>
        <p:spPr>
          <a:xfrm>
            <a:off x="4279392"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8</a:t>
            </a:r>
            <a:endParaRPr lang="en-US" sz="1200" dirty="0"/>
          </a:p>
        </p:txBody>
      </p:sp>
      <p:sp>
        <p:nvSpPr>
          <p:cNvPr id="51" name="Shape 48"/>
          <p:cNvSpPr/>
          <p:nvPr/>
        </p:nvSpPr>
        <p:spPr>
          <a:xfrm>
            <a:off x="6144768" y="4434840"/>
            <a:ext cx="1719072" cy="1298448"/>
          </a:xfrm>
          <a:prstGeom prst="roundRect">
            <a:avLst>
              <a:gd name="adj" fmla="val 8451"/>
            </a:avLst>
          </a:prstGeom>
          <a:solidFill>
            <a:srgbClr val="FFFFFF"/>
          </a:solidFill>
          <a:ln w="31750">
            <a:solidFill>
              <a:srgbClr val="5B6EE1"/>
            </a:solidFill>
            <a:prstDash val="dash"/>
          </a:ln>
        </p:spPr>
        <p:txBody>
          <a:bodyPr/>
          <a:lstStyle/>
          <a:p>
            <a:endParaRPr lang="en-US"/>
          </a:p>
        </p:txBody>
      </p:sp>
      <p:sp>
        <p:nvSpPr>
          <p:cNvPr id="52" name="Text 49"/>
          <p:cNvSpPr txBox="1"/>
          <p:nvPr/>
        </p:nvSpPr>
        <p:spPr>
          <a:xfrm>
            <a:off x="6144768" y="4617720"/>
            <a:ext cx="1719072" cy="548640"/>
          </a:xfrm>
          <a:prstGeom prst="rect">
            <a:avLst/>
          </a:prstGeom>
          <a:noFill/>
          <a:ln/>
        </p:spPr>
        <p:txBody>
          <a:bodyPr wrap="square" lIns="0" tIns="0" rIns="0" bIns="0" rtlCol="0" anchor="ctr"/>
          <a:lstStyle/>
          <a:p>
            <a:pPr marL="0" indent="0" algn="ctr">
              <a:buNone/>
            </a:pPr>
            <a:r>
              <a:rPr lang="en-US" sz="1400" b="1" dirty="0">
                <a:solidFill>
                  <a:srgbClr val="5B6EE1"/>
                </a:solidFill>
                <a:latin typeface="Courier New" pitchFamily="34" charset="0"/>
                <a:ea typeface="Courier New" pitchFamily="34" charset="-122"/>
                <a:cs typeface="Courier New" pitchFamily="34" charset="-120"/>
              </a:rPr>
              <a:t>| base64 -d</a:t>
            </a:r>
            <a:endParaRPr lang="en-US" sz="1400" dirty="0"/>
          </a:p>
        </p:txBody>
      </p:sp>
      <p:sp>
        <p:nvSpPr>
          <p:cNvPr id="53" name="Text 50"/>
          <p:cNvSpPr txBox="1"/>
          <p:nvPr/>
        </p:nvSpPr>
        <p:spPr>
          <a:xfrm>
            <a:off x="6144768"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9</a:t>
            </a:r>
            <a:endParaRPr lang="en-US" sz="1200" dirty="0"/>
          </a:p>
        </p:txBody>
      </p:sp>
      <p:sp>
        <p:nvSpPr>
          <p:cNvPr id="54" name="Shape 51"/>
          <p:cNvSpPr/>
          <p:nvPr/>
        </p:nvSpPr>
        <p:spPr>
          <a:xfrm>
            <a:off x="8010144" y="4434840"/>
            <a:ext cx="1719072" cy="1298448"/>
          </a:xfrm>
          <a:prstGeom prst="roundRect">
            <a:avLst>
              <a:gd name="adj" fmla="val 8451"/>
            </a:avLst>
          </a:prstGeom>
          <a:solidFill>
            <a:srgbClr val="FFFFFF"/>
          </a:solidFill>
          <a:ln w="31750">
            <a:solidFill>
              <a:srgbClr val="B4233F"/>
            </a:solidFill>
            <a:prstDash val="dash"/>
          </a:ln>
        </p:spPr>
        <p:txBody>
          <a:bodyPr/>
          <a:lstStyle/>
          <a:p>
            <a:endParaRPr lang="en-US"/>
          </a:p>
        </p:txBody>
      </p:sp>
      <p:sp>
        <p:nvSpPr>
          <p:cNvPr id="55" name="Text 52"/>
          <p:cNvSpPr txBox="1"/>
          <p:nvPr/>
        </p:nvSpPr>
        <p:spPr>
          <a:xfrm>
            <a:off x="8010144" y="4617720"/>
            <a:ext cx="1719072" cy="548640"/>
          </a:xfrm>
          <a:prstGeom prst="rect">
            <a:avLst/>
          </a:prstGeom>
          <a:noFill/>
          <a:ln/>
        </p:spPr>
        <p:txBody>
          <a:bodyPr wrap="square" lIns="0" tIns="0" rIns="0" bIns="0" rtlCol="0" anchor="ctr"/>
          <a:lstStyle/>
          <a:p>
            <a:pPr marL="0" indent="0" algn="ctr">
              <a:buNone/>
            </a:pPr>
            <a:r>
              <a:rPr lang="en-US" sz="2000" b="1" dirty="0">
                <a:solidFill>
                  <a:srgbClr val="B4233F"/>
                </a:solidFill>
                <a:latin typeface="Courier New" pitchFamily="34" charset="0"/>
                <a:ea typeface="Courier New" pitchFamily="34" charset="-122"/>
                <a:cs typeface="Courier New" pitchFamily="34" charset="-120"/>
              </a:rPr>
              <a:t>cut</a:t>
            </a:r>
            <a:endParaRPr lang="en-US" sz="2000" dirty="0"/>
          </a:p>
        </p:txBody>
      </p:sp>
      <p:sp>
        <p:nvSpPr>
          <p:cNvPr id="56" name="Text 53"/>
          <p:cNvSpPr txBox="1"/>
          <p:nvPr/>
        </p:nvSpPr>
        <p:spPr>
          <a:xfrm>
            <a:off x="8010144"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10</a:t>
            </a:r>
            <a:endParaRPr lang="en-US" sz="1200" dirty="0"/>
          </a:p>
        </p:txBody>
      </p:sp>
      <p:sp>
        <p:nvSpPr>
          <p:cNvPr id="57" name="Shape 54"/>
          <p:cNvSpPr/>
          <p:nvPr/>
        </p:nvSpPr>
        <p:spPr>
          <a:xfrm>
            <a:off x="9875520" y="4434840"/>
            <a:ext cx="1719072" cy="1298448"/>
          </a:xfrm>
          <a:prstGeom prst="roundRect">
            <a:avLst>
              <a:gd name="adj" fmla="val 8451"/>
            </a:avLst>
          </a:prstGeom>
          <a:solidFill>
            <a:srgbClr val="FFFFFF"/>
          </a:solidFill>
          <a:ln w="31750">
            <a:solidFill>
              <a:srgbClr val="56657E"/>
            </a:solidFill>
            <a:prstDash val="dash"/>
          </a:ln>
        </p:spPr>
        <p:txBody>
          <a:bodyPr/>
          <a:lstStyle/>
          <a:p>
            <a:endParaRPr lang="en-US"/>
          </a:p>
        </p:txBody>
      </p:sp>
      <p:sp>
        <p:nvSpPr>
          <p:cNvPr id="58" name="Text 55"/>
          <p:cNvSpPr txBox="1"/>
          <p:nvPr/>
        </p:nvSpPr>
        <p:spPr>
          <a:xfrm>
            <a:off x="9875520" y="4617720"/>
            <a:ext cx="1719072" cy="548640"/>
          </a:xfrm>
          <a:prstGeom prst="rect">
            <a:avLst/>
          </a:prstGeom>
          <a:noFill/>
          <a:ln/>
        </p:spPr>
        <p:txBody>
          <a:bodyPr wrap="square" lIns="0" tIns="0" rIns="0" bIns="0" rtlCol="0" anchor="ctr"/>
          <a:lstStyle/>
          <a:p>
            <a:pPr marL="0" indent="0" algn="ctr">
              <a:buNone/>
            </a:pPr>
            <a:r>
              <a:rPr lang="en-US" sz="2000" b="1" dirty="0">
                <a:solidFill>
                  <a:srgbClr val="56657E"/>
                </a:solidFill>
                <a:latin typeface="Courier New" pitchFamily="34" charset="0"/>
                <a:ea typeface="Courier New" pitchFamily="34" charset="-122"/>
                <a:cs typeface="Courier New" pitchFamily="34" charset="-120"/>
              </a:rPr>
              <a:t>sha256sum</a:t>
            </a:r>
            <a:endParaRPr lang="en-US" sz="2000" dirty="0"/>
          </a:p>
        </p:txBody>
      </p:sp>
      <p:sp>
        <p:nvSpPr>
          <p:cNvPr id="59" name="Text 56"/>
          <p:cNvSpPr txBox="1"/>
          <p:nvPr/>
        </p:nvSpPr>
        <p:spPr>
          <a:xfrm>
            <a:off x="9875520"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Debrief</a:t>
            </a:r>
            <a:endParaRPr lang="en-US" sz="1200" dirty="0"/>
          </a:p>
        </p:txBody>
      </p:sp>
      <p:sp>
        <p:nvSpPr>
          <p:cNvPr id="60" name="Text 57"/>
          <p:cNvSpPr txBox="1"/>
          <p:nvPr/>
        </p:nvSpPr>
        <p:spPr>
          <a:xfrm>
            <a:off x="548640" y="6035040"/>
            <a:ext cx="11094415" cy="32004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Eighteen tools, used on a real Linux system, in one session.</a:t>
            </a:r>
            <a:endParaRPr lang="en-US" sz="1500" dirty="0"/>
          </a:p>
        </p:txBody>
      </p:sp>
    </p:spTree>
  </p:cSld>
  <p:clrMapOvr>
    <a:masterClrMapping/>
  </p:clrMapOvr>
  <p:transition spd="med">
    <p:fade/>
  </p:transition>
</p:sld>
</file>

<file path=ppt/slides/slide66.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What you just did is the job</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68</a:t>
            </a:r>
            <a:endParaRPr lang="en-US" sz="1000" dirty="0"/>
          </a:p>
        </p:txBody>
      </p:sp>
      <p:sp>
        <p:nvSpPr>
          <p:cNvPr id="6" name="Shape 3"/>
          <p:cNvSpPr/>
          <p:nvPr/>
        </p:nvSpPr>
        <p:spPr>
          <a:xfrm>
            <a:off x="548640" y="1554480"/>
            <a:ext cx="731520" cy="731520"/>
          </a:xfrm>
          <a:prstGeom prst="ellipse">
            <a:avLst/>
          </a:prstGeom>
          <a:solidFill>
            <a:srgbClr val="17875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737360"/>
            <a:ext cx="365760" cy="365760"/>
          </a:xfrm>
          <a:prstGeom prst="rect">
            <a:avLst/>
          </a:prstGeom>
        </p:spPr>
      </p:pic>
      <p:sp>
        <p:nvSpPr>
          <p:cNvPr id="8" name="Text 4"/>
          <p:cNvSpPr txBox="1"/>
          <p:nvPr/>
        </p:nvSpPr>
        <p:spPr>
          <a:xfrm>
            <a:off x="1508760" y="155448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cd, ls and ls -a</a:t>
            </a:r>
            <a:endParaRPr lang="en-US" sz="1800" dirty="0"/>
          </a:p>
        </p:txBody>
      </p:sp>
      <p:sp>
        <p:nvSpPr>
          <p:cNvPr id="9" name="Text 5"/>
          <p:cNvSpPr txBox="1"/>
          <p:nvPr/>
        </p:nvSpPr>
        <p:spPr>
          <a:xfrm>
            <a:off x="1508760" y="193852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Finding your way around an unfamiliar server, hidden files included</a:t>
            </a:r>
            <a:endParaRPr lang="en-US" sz="1600" dirty="0"/>
          </a:p>
        </p:txBody>
      </p:sp>
      <p:sp>
        <p:nvSpPr>
          <p:cNvPr id="10" name="Shape 6"/>
          <p:cNvSpPr/>
          <p:nvPr/>
        </p:nvSpPr>
        <p:spPr>
          <a:xfrm>
            <a:off x="548640" y="2651760"/>
            <a:ext cx="731520" cy="731520"/>
          </a:xfrm>
          <a:prstGeom prst="ellipse">
            <a:avLst/>
          </a:prstGeom>
          <a:solidFill>
            <a:srgbClr val="7448D4"/>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731520" y="2834640"/>
            <a:ext cx="365760" cy="365760"/>
          </a:xfrm>
          <a:prstGeom prst="rect">
            <a:avLst/>
          </a:prstGeom>
        </p:spPr>
      </p:pic>
      <p:sp>
        <p:nvSpPr>
          <p:cNvPr id="12" name="Text 7"/>
          <p:cNvSpPr txBox="1"/>
          <p:nvPr/>
        </p:nvSpPr>
        <p:spPr>
          <a:xfrm>
            <a:off x="1508760" y="265176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find and grep</a:t>
            </a:r>
            <a:endParaRPr lang="en-US" sz="1800" dirty="0"/>
          </a:p>
        </p:txBody>
      </p:sp>
      <p:sp>
        <p:nvSpPr>
          <p:cNvPr id="13" name="Text 8"/>
          <p:cNvSpPr txBox="1"/>
          <p:nvPr/>
        </p:nvSpPr>
        <p:spPr>
          <a:xfrm>
            <a:off x="1508760" y="303580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Searching servers and logs for the one line that shows an intruder</a:t>
            </a:r>
            <a:endParaRPr lang="en-US" sz="1600" dirty="0"/>
          </a:p>
        </p:txBody>
      </p:sp>
      <p:sp>
        <p:nvSpPr>
          <p:cNvPr id="14" name="Shape 9"/>
          <p:cNvSpPr/>
          <p:nvPr/>
        </p:nvSpPr>
        <p:spPr>
          <a:xfrm>
            <a:off x="548640" y="3749040"/>
            <a:ext cx="731520" cy="731520"/>
          </a:xfrm>
          <a:prstGeom prst="ellipse">
            <a:avLst/>
          </a:prstGeom>
          <a:solidFill>
            <a:srgbClr val="2A9FD6"/>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731520" y="3931920"/>
            <a:ext cx="365760" cy="365760"/>
          </a:xfrm>
          <a:prstGeom prst="rect">
            <a:avLst/>
          </a:prstGeom>
        </p:spPr>
      </p:pic>
      <p:sp>
        <p:nvSpPr>
          <p:cNvPr id="16" name="Text 10"/>
          <p:cNvSpPr txBox="1"/>
          <p:nvPr/>
        </p:nvSpPr>
        <p:spPr>
          <a:xfrm>
            <a:off x="1508760" y="374904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--help</a:t>
            </a:r>
            <a:endParaRPr lang="en-US" sz="1800" dirty="0"/>
          </a:p>
        </p:txBody>
      </p:sp>
      <p:sp>
        <p:nvSpPr>
          <p:cNvPr id="17" name="Text 11"/>
          <p:cNvSpPr txBox="1"/>
          <p:nvPr/>
        </p:nvSpPr>
        <p:spPr>
          <a:xfrm>
            <a:off x="1508760" y="413308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Learning a new tool in minutes, without anyone teaching you</a:t>
            </a:r>
            <a:endParaRPr lang="en-US" sz="1600" dirty="0"/>
          </a:p>
        </p:txBody>
      </p:sp>
      <p:sp>
        <p:nvSpPr>
          <p:cNvPr id="18" name="Shape 12"/>
          <p:cNvSpPr/>
          <p:nvPr/>
        </p:nvSpPr>
        <p:spPr>
          <a:xfrm>
            <a:off x="548640" y="4846320"/>
            <a:ext cx="731520" cy="731520"/>
          </a:xfrm>
          <a:prstGeom prst="ellipse">
            <a:avLst/>
          </a:prstGeom>
          <a:solidFill>
            <a:srgbClr val="D1416B"/>
          </a:solidFill>
          <a:ln/>
        </p:spPr>
        <p:txBody>
          <a:bodyPr/>
          <a:lstStyle/>
          <a:p>
            <a:endParaRPr lang="en-US"/>
          </a:p>
        </p:txBody>
      </p:sp>
      <p:pic>
        <p:nvPicPr>
          <p:cNvPr id="19" name="Image 3" descr="preencoded.png"/>
          <p:cNvPicPr>
            <a:picLocks noChangeAspect="1"/>
          </p:cNvPicPr>
          <p:nvPr/>
        </p:nvPicPr>
        <p:blipFill>
          <a:blip r:embed="rId6"/>
          <a:stretch>
            <a:fillRect/>
          </a:stretch>
        </p:blipFill>
        <p:spPr>
          <a:xfrm>
            <a:off x="731520" y="5029200"/>
            <a:ext cx="365760" cy="365760"/>
          </a:xfrm>
          <a:prstGeom prst="rect">
            <a:avLst/>
          </a:prstGeom>
        </p:spPr>
      </p:pic>
      <p:sp>
        <p:nvSpPr>
          <p:cNvPr id="20" name="Text 13"/>
          <p:cNvSpPr txBox="1"/>
          <p:nvPr/>
        </p:nvSpPr>
        <p:spPr>
          <a:xfrm>
            <a:off x="1508760" y="484632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base64 -d and sha256sum</a:t>
            </a:r>
            <a:endParaRPr lang="en-US" sz="1800" dirty="0"/>
          </a:p>
        </p:txBody>
      </p:sp>
      <p:sp>
        <p:nvSpPr>
          <p:cNvPr id="21" name="Text 14"/>
          <p:cNvSpPr txBox="1"/>
          <p:nvPr/>
        </p:nvSpPr>
        <p:spPr>
          <a:xfrm>
            <a:off x="1508760" y="523036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Decoding hidden text and checking fingerprints</a:t>
            </a:r>
            <a:endParaRPr lang="en-US" sz="1600" dirty="0"/>
          </a:p>
        </p:txBody>
      </p:sp>
      <p:sp>
        <p:nvSpPr>
          <p:cNvPr id="22" name="Shape 15"/>
          <p:cNvSpPr/>
          <p:nvPr/>
        </p:nvSpPr>
        <p:spPr>
          <a:xfrm>
            <a:off x="7406640" y="1554480"/>
            <a:ext cx="4233672" cy="4343400"/>
          </a:xfrm>
          <a:prstGeom prst="roundRect">
            <a:avLst>
              <a:gd name="adj" fmla="val 2160"/>
            </a:avLst>
          </a:prstGeom>
          <a:solidFill>
            <a:srgbClr val="F1F5FB"/>
          </a:solidFill>
          <a:ln/>
        </p:spPr>
        <p:txBody>
          <a:bodyPr/>
          <a:lstStyle/>
          <a:p>
            <a:endParaRPr lang="en-US"/>
          </a:p>
        </p:txBody>
      </p:sp>
      <p:sp>
        <p:nvSpPr>
          <p:cNvPr id="23" name="Text 16"/>
          <p:cNvSpPr txBox="1"/>
          <p:nvPr/>
        </p:nvSpPr>
        <p:spPr>
          <a:xfrm>
            <a:off x="7726680" y="1783080"/>
            <a:ext cx="36576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Ask the room</a:t>
            </a:r>
            <a:endParaRPr lang="en-US" sz="2000" dirty="0"/>
          </a:p>
        </p:txBody>
      </p:sp>
      <p:sp>
        <p:nvSpPr>
          <p:cNvPr id="24" name="Text 17"/>
          <p:cNvSpPr txBox="1"/>
          <p:nvPr/>
        </p:nvSpPr>
        <p:spPr>
          <a:xfrm>
            <a:off x="7726680" y="2377440"/>
            <a:ext cx="3657600" cy="3291840"/>
          </a:xfrm>
          <a:prstGeom prst="rect">
            <a:avLst/>
          </a:prstGeom>
          <a:noFill/>
          <a:ln/>
        </p:spPr>
        <p:txBody>
          <a:bodyPr wrap="square" lIns="0" tIns="0" rIns="0" bIns="0" rtlCol="0" anchor="t"/>
          <a:lstStyle/>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Which mission had your biggest Took time? Why?</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Which command will you remember next week?</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If you defended the server in mission 5, how would you catch the intruder sooner?</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Where have you seen something 'hidden' that wasn't really secret?</a:t>
            </a:r>
            <a:endParaRPr lang="en-US" sz="1600" dirty="0"/>
          </a:p>
        </p:txBody>
      </p:sp>
    </p:spTree>
  </p:cSld>
  <p:clrMapOvr>
    <a:masterClrMapping/>
  </p:clrMapOvr>
  <p:transition spd="med">
    <p:fade/>
  </p:transition>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E1726"/>
        </a:solidFill>
        <a:effectLst/>
      </p:bgPr>
    </p:bg>
    <p:spTree>
      <p:nvGrpSpPr>
        <p:cNvPr id="1" name="">
          <a:extLst>
            <a:ext uri="{FF2B5EF4-FFF2-40B4-BE49-F238E27FC236}">
              <a16:creationId xmlns:a16="http://schemas.microsoft.com/office/drawing/2014/main" id="{9BE73CF3-EA0D-6AD6-A1A9-C0D576A1F50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C05C3A8-9EE9-2C70-29BF-74369C24B2E5}"/>
              </a:ext>
            </a:extLst>
          </p:cNvPr>
          <p:cNvSpPr txBox="1"/>
          <p:nvPr/>
        </p:nvSpPr>
        <p:spPr>
          <a:xfrm>
            <a:off x="548640" y="640080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F8FAD"/>
                </a:solidFill>
                <a:effectLst/>
                <a:uLnTx/>
                <a:uFillTx/>
                <a:latin typeface="Calibri" pitchFamily="34" charset="0"/>
                <a:ea typeface="Calibri" pitchFamily="34" charset="-122"/>
                <a:cs typeface="Calibri" pitchFamily="34" charset="-120"/>
              </a:rPr>
              <a:t>CyberQuest Academy  ·  CTF Foundation: Command line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1BC1D91-376C-995B-4CEA-D3D86F554171}"/>
              </a:ext>
            </a:extLst>
          </p:cNvPr>
          <p:cNvSpPr txBox="1"/>
          <p:nvPr/>
        </p:nvSpPr>
        <p:spPr>
          <a:xfrm>
            <a:off x="10728655" y="6400800"/>
            <a:ext cx="9144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F8FAD"/>
                </a:solidFill>
                <a:effectLst/>
                <a:uLnTx/>
                <a:uFillTx/>
                <a:latin typeface="Calibri" pitchFamily="34" charset="0"/>
                <a:ea typeface="Calibri" pitchFamily="34" charset="-122"/>
                <a:cs typeface="Calibri" pitchFamily="34" charset="-120"/>
              </a:rPr>
              <a:t>64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a:extLst>
              <a:ext uri="{FF2B5EF4-FFF2-40B4-BE49-F238E27FC236}">
                <a16:creationId xmlns:a16="http://schemas.microsoft.com/office/drawing/2014/main" id="{87C80D79-4B25-10A6-5324-82E872EADEC4}"/>
              </a:ext>
            </a:extLst>
          </p:cNvPr>
          <p:cNvSpPr txBox="1"/>
          <p:nvPr/>
        </p:nvSpPr>
        <p:spPr>
          <a:xfrm>
            <a:off x="548640" y="822960"/>
            <a:ext cx="2926080" cy="3291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0" b="1" i="0" u="none" strike="noStrike" kern="1200" cap="none" spc="0" normalizeH="0" baseline="0" noProof="0" dirty="0">
                <a:ln>
                  <a:noFill/>
                </a:ln>
                <a:solidFill>
                  <a:srgbClr val="D1416B"/>
                </a:solidFill>
                <a:effectLst/>
                <a:uLnTx/>
                <a:uFillTx/>
                <a:latin typeface="Arial" pitchFamily="34" charset="0"/>
                <a:ea typeface="Arial" pitchFamily="34" charset="-122"/>
                <a:cs typeface="Arial" pitchFamily="34" charset="-120"/>
              </a:rPr>
              <a:t>5</a:t>
            </a:r>
            <a:endParaRPr kumimoji="0" lang="en-US" sz="25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a:extLst>
              <a:ext uri="{FF2B5EF4-FFF2-40B4-BE49-F238E27FC236}">
                <a16:creationId xmlns:a16="http://schemas.microsoft.com/office/drawing/2014/main" id="{F05B6D62-D9AB-C437-943C-2F724A2F3E6C}"/>
              </a:ext>
            </a:extLst>
          </p:cNvPr>
          <p:cNvSpPr txBox="1"/>
          <p:nvPr/>
        </p:nvSpPr>
        <p:spPr>
          <a:xfrm>
            <a:off x="3931920" y="1874520"/>
            <a:ext cx="768096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Appendix</a:t>
            </a:r>
            <a:endParaRPr kumimoji="0" lang="en-US" sz="4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489A1FEB-357E-77CD-3C73-41B8064EDABA}"/>
              </a:ext>
            </a:extLst>
          </p:cNvPr>
          <p:cNvSpPr txBox="1"/>
          <p:nvPr/>
        </p:nvSpPr>
        <p:spPr>
          <a:xfrm>
            <a:off x="3931920" y="3337560"/>
            <a:ext cx="749808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B8C4D9"/>
                </a:solidFill>
                <a:effectLst/>
                <a:uLnTx/>
                <a:uFillTx/>
                <a:latin typeface="Calibri" pitchFamily="34" charset="0"/>
                <a:ea typeface="Calibri" pitchFamily="34" charset="-122"/>
                <a:cs typeface="Calibri" pitchFamily="34" charset="-120"/>
              </a:rPr>
              <a:t>Mentor Need to know Info</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a:extLst>
              <a:ext uri="{FF2B5EF4-FFF2-40B4-BE49-F238E27FC236}">
                <a16:creationId xmlns:a16="http://schemas.microsoft.com/office/drawing/2014/main" id="{6871F311-82CB-1EB3-5C95-89B9D0294918}"/>
              </a:ext>
            </a:extLst>
          </p:cNvPr>
          <p:cNvSpPr/>
          <p:nvPr/>
        </p:nvSpPr>
        <p:spPr>
          <a:xfrm>
            <a:off x="548640" y="4892040"/>
            <a:ext cx="11094415" cy="822960"/>
          </a:xfrm>
          <a:prstGeom prst="roundRect">
            <a:avLst>
              <a:gd name="adj" fmla="val 11111"/>
            </a:avLst>
          </a:prstGeom>
          <a:solidFill>
            <a:srgbClr val="16223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a:extLst>
              <a:ext uri="{FF2B5EF4-FFF2-40B4-BE49-F238E27FC236}">
                <a16:creationId xmlns:a16="http://schemas.microsoft.com/office/drawing/2014/main" id="{67E013E5-574A-2BB0-AA19-16834D29899E}"/>
              </a:ext>
            </a:extLst>
          </p:cNvPr>
          <p:cNvSpPr txBox="1"/>
          <p:nvPr/>
        </p:nvSpPr>
        <p:spPr>
          <a:xfrm>
            <a:off x="868680" y="4892040"/>
            <a:ext cx="10454335"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46D39A"/>
                </a:solidFill>
                <a:effectLst/>
                <a:uLnTx/>
                <a:uFillTx/>
                <a:latin typeface="Courier New" pitchFamily="34" charset="0"/>
                <a:ea typeface="Courier New" pitchFamily="34" charset="-122"/>
                <a:cs typeface="Courier New" pitchFamily="34" charset="-120"/>
              </a:rPr>
              <a:t>$ </a:t>
            </a:r>
            <a:r>
              <a:rPr kumimoji="0" lang="en-US" sz="2000" b="1"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echo "$(whoami) leveled up"</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6865966"/>
      </p:ext>
    </p:extLst>
  </p:cSld>
  <p:clrMapOvr>
    <a:masterClrMapping/>
  </p:clrMapOvr>
  <p:transition spd="med">
    <p:fade/>
  </p:transition>
</p:sld>
</file>

<file path=ppt/slides/slide68.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how the page works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71</a:t>
            </a:r>
            <a:endParaRPr lang="en-US" sz="1000" dirty="0"/>
          </a:p>
        </p:txBody>
      </p:sp>
      <p:sp>
        <p:nvSpPr>
          <p:cNvPr id="6" name="Shape 3"/>
          <p:cNvSpPr/>
          <p:nvPr/>
        </p:nvSpPr>
        <p:spPr>
          <a:xfrm>
            <a:off x="548640" y="1554480"/>
            <a:ext cx="3566160" cy="3063240"/>
          </a:xfrm>
          <a:prstGeom prst="roundRect">
            <a:avLst>
              <a:gd name="adj" fmla="val 2985"/>
            </a:avLst>
          </a:prstGeom>
          <a:solidFill>
            <a:srgbClr val="F1F5FB"/>
          </a:solidFill>
          <a:ln/>
        </p:spPr>
        <p:txBody>
          <a:bodyPr/>
          <a:lstStyle/>
          <a:p>
            <a:endParaRPr lang="en-US"/>
          </a:p>
        </p:txBody>
      </p:sp>
      <p:sp>
        <p:nvSpPr>
          <p:cNvPr id="7" name="Shape 4"/>
          <p:cNvSpPr/>
          <p:nvPr/>
        </p:nvSpPr>
        <p:spPr>
          <a:xfrm>
            <a:off x="822960" y="1783080"/>
            <a:ext cx="868680" cy="868680"/>
          </a:xfrm>
          <a:prstGeom prst="ellipse">
            <a:avLst/>
          </a:prstGeom>
          <a:solidFill>
            <a:srgbClr val="2A9FD6"/>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40130" y="2000250"/>
            <a:ext cx="434340" cy="434340"/>
          </a:xfrm>
          <a:prstGeom prst="rect">
            <a:avLst/>
          </a:prstGeom>
        </p:spPr>
      </p:pic>
      <p:sp>
        <p:nvSpPr>
          <p:cNvPr id="9" name="Text 5"/>
          <p:cNvSpPr txBox="1"/>
          <p:nvPr/>
        </p:nvSpPr>
        <p:spPr>
          <a:xfrm>
            <a:off x="822960" y="2834640"/>
            <a:ext cx="3017520" cy="457200"/>
          </a:xfrm>
          <a:prstGeom prst="rect">
            <a:avLst/>
          </a:prstGeom>
          <a:noFill/>
          <a:ln/>
        </p:spPr>
        <p:txBody>
          <a:bodyPr wrap="square" lIns="0" tIns="0" rIns="0" bIns="0" rtlCol="0" anchor="t"/>
          <a:lstStyle/>
          <a:p>
            <a:pPr marL="0" indent="0">
              <a:buNone/>
            </a:pPr>
            <a:r>
              <a:rPr lang="en-US" sz="2200" b="1" dirty="0">
                <a:solidFill>
                  <a:srgbClr val="12213A"/>
                </a:solidFill>
                <a:latin typeface="Arial" pitchFamily="34" charset="0"/>
                <a:ea typeface="Arial" pitchFamily="34" charset="-122"/>
                <a:cs typeface="Arial" pitchFamily="34" charset="-120"/>
              </a:rPr>
              <a:t>A real terminal</a:t>
            </a:r>
            <a:endParaRPr lang="en-US" sz="2200" dirty="0"/>
          </a:p>
        </p:txBody>
      </p:sp>
      <p:sp>
        <p:nvSpPr>
          <p:cNvPr id="10" name="Text 6"/>
          <p:cNvSpPr txBox="1"/>
          <p:nvPr/>
        </p:nvSpPr>
        <p:spPr>
          <a:xfrm>
            <a:off x="822960" y="3337560"/>
            <a:ext cx="301752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A Linux shell with standard commands, running in your tab.</a:t>
            </a:r>
            <a:endParaRPr lang="en-US" sz="1600" dirty="0"/>
          </a:p>
        </p:txBody>
      </p:sp>
      <p:sp>
        <p:nvSpPr>
          <p:cNvPr id="11" name="Shape 7"/>
          <p:cNvSpPr/>
          <p:nvPr/>
        </p:nvSpPr>
        <p:spPr>
          <a:xfrm>
            <a:off x="4306824" y="1554480"/>
            <a:ext cx="3566160" cy="3063240"/>
          </a:xfrm>
          <a:prstGeom prst="roundRect">
            <a:avLst>
              <a:gd name="adj" fmla="val 2985"/>
            </a:avLst>
          </a:prstGeom>
          <a:solidFill>
            <a:srgbClr val="F1F5FB"/>
          </a:solidFill>
          <a:ln/>
        </p:spPr>
        <p:txBody>
          <a:bodyPr/>
          <a:lstStyle/>
          <a:p>
            <a:endParaRPr lang="en-US"/>
          </a:p>
        </p:txBody>
      </p:sp>
      <p:sp>
        <p:nvSpPr>
          <p:cNvPr id="12" name="Shape 8"/>
          <p:cNvSpPr/>
          <p:nvPr/>
        </p:nvSpPr>
        <p:spPr>
          <a:xfrm>
            <a:off x="4581144" y="1783080"/>
            <a:ext cx="868680" cy="868680"/>
          </a:xfrm>
          <a:prstGeom prst="ellipse">
            <a:avLst/>
          </a:prstGeom>
          <a:solidFill>
            <a:srgbClr val="7448D4"/>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798314" y="2000250"/>
            <a:ext cx="434340" cy="434340"/>
          </a:xfrm>
          <a:prstGeom prst="rect">
            <a:avLst/>
          </a:prstGeom>
        </p:spPr>
      </p:pic>
      <p:sp>
        <p:nvSpPr>
          <p:cNvPr id="14" name="Text 9"/>
          <p:cNvSpPr txBox="1"/>
          <p:nvPr/>
        </p:nvSpPr>
        <p:spPr>
          <a:xfrm>
            <a:off x="4581144" y="2834640"/>
            <a:ext cx="3017520" cy="457200"/>
          </a:xfrm>
          <a:prstGeom prst="rect">
            <a:avLst/>
          </a:prstGeom>
          <a:noFill/>
          <a:ln/>
        </p:spPr>
        <p:txBody>
          <a:bodyPr wrap="square" lIns="0" tIns="0" rIns="0" bIns="0" rtlCol="0" anchor="t"/>
          <a:lstStyle/>
          <a:p>
            <a:pPr marL="0" indent="0">
              <a:buNone/>
            </a:pPr>
            <a:r>
              <a:rPr lang="en-US" sz="2200" b="1" dirty="0">
                <a:solidFill>
                  <a:srgbClr val="12213A"/>
                </a:solidFill>
                <a:latin typeface="Arial" pitchFamily="34" charset="0"/>
                <a:ea typeface="Arial" pitchFamily="34" charset="-122"/>
                <a:cs typeface="Arial" pitchFamily="34" charset="-120"/>
              </a:rPr>
              <a:t>Ten missions</a:t>
            </a:r>
            <a:endParaRPr lang="en-US" sz="2200" dirty="0"/>
          </a:p>
        </p:txBody>
      </p:sp>
      <p:sp>
        <p:nvSpPr>
          <p:cNvPr id="15" name="Text 10"/>
          <p:cNvSpPr txBox="1"/>
          <p:nvPr/>
        </p:nvSpPr>
        <p:spPr>
          <a:xfrm>
            <a:off x="4581144" y="3337560"/>
            <a:ext cx="301752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2,700 points, easiest first. New random flags on every page load.</a:t>
            </a:r>
            <a:endParaRPr lang="en-US" sz="1600" dirty="0"/>
          </a:p>
        </p:txBody>
      </p:sp>
      <p:sp>
        <p:nvSpPr>
          <p:cNvPr id="16" name="Shape 11"/>
          <p:cNvSpPr/>
          <p:nvPr/>
        </p:nvSpPr>
        <p:spPr>
          <a:xfrm>
            <a:off x="8065008" y="1554480"/>
            <a:ext cx="3566160" cy="3063240"/>
          </a:xfrm>
          <a:prstGeom prst="roundRect">
            <a:avLst>
              <a:gd name="adj" fmla="val 2985"/>
            </a:avLst>
          </a:prstGeom>
          <a:solidFill>
            <a:srgbClr val="F1F5FB"/>
          </a:solidFill>
          <a:ln/>
        </p:spPr>
        <p:txBody>
          <a:bodyPr/>
          <a:lstStyle/>
          <a:p>
            <a:endParaRPr lang="en-US"/>
          </a:p>
        </p:txBody>
      </p:sp>
      <p:sp>
        <p:nvSpPr>
          <p:cNvPr id="17" name="Shape 12"/>
          <p:cNvSpPr/>
          <p:nvPr/>
        </p:nvSpPr>
        <p:spPr>
          <a:xfrm>
            <a:off x="8339328" y="1783080"/>
            <a:ext cx="868680" cy="868680"/>
          </a:xfrm>
          <a:prstGeom prst="ellipse">
            <a:avLst/>
          </a:prstGeom>
          <a:solidFill>
            <a:srgbClr val="D1416B"/>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556498" y="2000250"/>
            <a:ext cx="434340" cy="434340"/>
          </a:xfrm>
          <a:prstGeom prst="rect">
            <a:avLst/>
          </a:prstGeom>
        </p:spPr>
      </p:pic>
      <p:sp>
        <p:nvSpPr>
          <p:cNvPr id="19" name="Text 13"/>
          <p:cNvSpPr txBox="1"/>
          <p:nvPr/>
        </p:nvSpPr>
        <p:spPr>
          <a:xfrm>
            <a:off x="8339328" y="2834640"/>
            <a:ext cx="3017520" cy="457200"/>
          </a:xfrm>
          <a:prstGeom prst="rect">
            <a:avLst/>
          </a:prstGeom>
          <a:noFill/>
          <a:ln/>
        </p:spPr>
        <p:txBody>
          <a:bodyPr wrap="square" lIns="0" tIns="0" rIns="0" bIns="0" rtlCol="0" anchor="t"/>
          <a:lstStyle/>
          <a:p>
            <a:pPr marL="0" indent="0">
              <a:buNone/>
            </a:pPr>
            <a:r>
              <a:rPr lang="en-US" sz="2200" b="1" dirty="0">
                <a:solidFill>
                  <a:srgbClr val="12213A"/>
                </a:solidFill>
                <a:latin typeface="Arial" pitchFamily="34" charset="0"/>
                <a:ea typeface="Arial" pitchFamily="34" charset="-122"/>
                <a:cs typeface="Arial" pitchFamily="34" charset="-120"/>
              </a:rPr>
              <a:t>Nothing to install</a:t>
            </a:r>
            <a:endParaRPr lang="en-US" sz="2200" dirty="0"/>
          </a:p>
        </p:txBody>
      </p:sp>
      <p:sp>
        <p:nvSpPr>
          <p:cNvPr id="20" name="Text 14"/>
          <p:cNvSpPr txBox="1"/>
          <p:nvPr/>
        </p:nvSpPr>
        <p:spPr>
          <a:xfrm>
            <a:off x="8339328" y="3337560"/>
            <a:ext cx="301752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One link. No accounts. Works on Chromebooks, laptops and desktops.</a:t>
            </a:r>
            <a:endParaRPr lang="en-US" sz="1600" dirty="0"/>
          </a:p>
        </p:txBody>
      </p:sp>
      <p:sp>
        <p:nvSpPr>
          <p:cNvPr id="21" name="Text 15"/>
          <p:cNvSpPr txBox="1"/>
          <p:nvPr/>
        </p:nvSpPr>
        <p:spPr>
          <a:xfrm>
            <a:off x="548640" y="4892040"/>
            <a:ext cx="2743200" cy="320040"/>
          </a:xfrm>
          <a:prstGeom prst="rect">
            <a:avLst/>
          </a:prstGeom>
          <a:noFill/>
          <a:ln/>
        </p:spPr>
        <p:txBody>
          <a:bodyPr wrap="square" lIns="0" tIns="0" rIns="0" bIns="0" rtlCol="0" anchor="t"/>
          <a:lstStyle/>
          <a:p>
            <a:pPr marL="0" indent="0">
              <a:buNone/>
            </a:pPr>
            <a:r>
              <a:rPr lang="en-US" sz="1400" b="1" dirty="0">
                <a:solidFill>
                  <a:srgbClr val="56657E"/>
                </a:solidFill>
                <a:latin typeface="Calibri" pitchFamily="34" charset="0"/>
                <a:ea typeface="Calibri" pitchFamily="34" charset="-122"/>
                <a:cs typeface="Calibri" pitchFamily="34" charset="-120"/>
              </a:rPr>
              <a:t>Under the hood</a:t>
            </a:r>
            <a:endParaRPr lang="en-US" sz="1400" dirty="0"/>
          </a:p>
        </p:txBody>
      </p:sp>
      <p:sp>
        <p:nvSpPr>
          <p:cNvPr id="22" name="Shape 16"/>
          <p:cNvSpPr/>
          <p:nvPr/>
        </p:nvSpPr>
        <p:spPr>
          <a:xfrm>
            <a:off x="548640" y="5303520"/>
            <a:ext cx="1499616" cy="347472"/>
          </a:xfrm>
          <a:prstGeom prst="roundRect">
            <a:avLst>
              <a:gd name="adj" fmla="val 50000"/>
            </a:avLst>
          </a:prstGeom>
          <a:solidFill>
            <a:srgbClr val="E4EAF3"/>
          </a:solidFill>
          <a:ln/>
        </p:spPr>
        <p:txBody>
          <a:bodyPr/>
          <a:lstStyle/>
          <a:p>
            <a:endParaRPr lang="en-US"/>
          </a:p>
        </p:txBody>
      </p:sp>
      <p:sp>
        <p:nvSpPr>
          <p:cNvPr id="23" name="Text 17"/>
          <p:cNvSpPr txBox="1"/>
          <p:nvPr/>
        </p:nvSpPr>
        <p:spPr>
          <a:xfrm>
            <a:off x="548640" y="5303520"/>
            <a:ext cx="1499616" cy="347472"/>
          </a:xfrm>
          <a:prstGeom prst="rect">
            <a:avLst/>
          </a:prstGeom>
          <a:noFill/>
          <a:ln/>
        </p:spPr>
        <p:txBody>
          <a:bodyPr wrap="square" lIns="0" tIns="0" rIns="0" bIns="0" rtlCol="0" anchor="ctr"/>
          <a:lstStyle/>
          <a:p>
            <a:pPr marL="0" indent="0" algn="ctr">
              <a:buNone/>
            </a:pPr>
            <a:r>
              <a:rPr lang="en-US" sz="1250" b="1" dirty="0">
                <a:solidFill>
                  <a:srgbClr val="56657E"/>
                </a:solidFill>
                <a:latin typeface="Calibri" pitchFamily="34" charset="0"/>
                <a:ea typeface="Calibri" pitchFamily="34" charset="-122"/>
                <a:cs typeface="Calibri" pitchFamily="34" charset="-120"/>
              </a:rPr>
              <a:t>Your browser</a:t>
            </a:r>
            <a:endParaRPr lang="en-US" sz="1250" dirty="0"/>
          </a:p>
        </p:txBody>
      </p:sp>
      <p:sp>
        <p:nvSpPr>
          <p:cNvPr id="24" name="Text 18"/>
          <p:cNvSpPr txBox="1"/>
          <p:nvPr/>
        </p:nvSpPr>
        <p:spPr>
          <a:xfrm>
            <a:off x="2048256"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5" name="Shape 19"/>
          <p:cNvSpPr/>
          <p:nvPr/>
        </p:nvSpPr>
        <p:spPr>
          <a:xfrm>
            <a:off x="2212848" y="5303520"/>
            <a:ext cx="2542032" cy="347472"/>
          </a:xfrm>
          <a:prstGeom prst="roundRect">
            <a:avLst>
              <a:gd name="adj" fmla="val 50000"/>
            </a:avLst>
          </a:prstGeom>
          <a:solidFill>
            <a:srgbClr val="2459D8"/>
          </a:solidFill>
          <a:ln/>
        </p:spPr>
        <p:txBody>
          <a:bodyPr/>
          <a:lstStyle/>
          <a:p>
            <a:endParaRPr lang="en-US"/>
          </a:p>
        </p:txBody>
      </p:sp>
      <p:sp>
        <p:nvSpPr>
          <p:cNvPr id="26" name="Text 20"/>
          <p:cNvSpPr txBox="1"/>
          <p:nvPr/>
        </p:nvSpPr>
        <p:spPr>
          <a:xfrm>
            <a:off x="2212848" y="5303520"/>
            <a:ext cx="2542032"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v86: a PC in WebAssembly</a:t>
            </a:r>
            <a:endParaRPr lang="en-US" sz="1250" dirty="0"/>
          </a:p>
        </p:txBody>
      </p:sp>
      <p:sp>
        <p:nvSpPr>
          <p:cNvPr id="27" name="Text 21"/>
          <p:cNvSpPr txBox="1"/>
          <p:nvPr/>
        </p:nvSpPr>
        <p:spPr>
          <a:xfrm>
            <a:off x="4754880"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8" name="Shape 22"/>
          <p:cNvSpPr/>
          <p:nvPr/>
        </p:nvSpPr>
        <p:spPr>
          <a:xfrm>
            <a:off x="4919472" y="5303520"/>
            <a:ext cx="1499616" cy="347472"/>
          </a:xfrm>
          <a:prstGeom prst="roundRect">
            <a:avLst>
              <a:gd name="adj" fmla="val 50000"/>
            </a:avLst>
          </a:prstGeom>
          <a:solidFill>
            <a:srgbClr val="7448D4"/>
          </a:solidFill>
          <a:ln/>
        </p:spPr>
        <p:txBody>
          <a:bodyPr/>
          <a:lstStyle/>
          <a:p>
            <a:endParaRPr lang="en-US"/>
          </a:p>
        </p:txBody>
      </p:sp>
      <p:sp>
        <p:nvSpPr>
          <p:cNvPr id="29" name="Text 23"/>
          <p:cNvSpPr txBox="1"/>
          <p:nvPr/>
        </p:nvSpPr>
        <p:spPr>
          <a:xfrm>
            <a:off x="4919472" y="5303520"/>
            <a:ext cx="1499616"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Linux kernel</a:t>
            </a:r>
            <a:endParaRPr lang="en-US" sz="1250" dirty="0"/>
          </a:p>
        </p:txBody>
      </p:sp>
      <p:sp>
        <p:nvSpPr>
          <p:cNvPr id="30" name="Text 24"/>
          <p:cNvSpPr txBox="1"/>
          <p:nvPr/>
        </p:nvSpPr>
        <p:spPr>
          <a:xfrm>
            <a:off x="6419088"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31" name="Shape 25"/>
          <p:cNvSpPr/>
          <p:nvPr/>
        </p:nvSpPr>
        <p:spPr>
          <a:xfrm>
            <a:off x="6583680" y="5303520"/>
            <a:ext cx="1847088" cy="347472"/>
          </a:xfrm>
          <a:prstGeom prst="roundRect">
            <a:avLst>
              <a:gd name="adj" fmla="val 50000"/>
            </a:avLst>
          </a:prstGeom>
          <a:solidFill>
            <a:srgbClr val="D1416B"/>
          </a:solidFill>
          <a:ln/>
        </p:spPr>
        <p:txBody>
          <a:bodyPr/>
          <a:lstStyle/>
          <a:p>
            <a:endParaRPr lang="en-US"/>
          </a:p>
        </p:txBody>
      </p:sp>
      <p:sp>
        <p:nvSpPr>
          <p:cNvPr id="32" name="Text 26"/>
          <p:cNvSpPr txBox="1"/>
          <p:nvPr/>
        </p:nvSpPr>
        <p:spPr>
          <a:xfrm>
            <a:off x="6583680" y="5303520"/>
            <a:ext cx="1847088"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BusyBox commands</a:t>
            </a:r>
            <a:endParaRPr lang="en-US" sz="1250" dirty="0"/>
          </a:p>
        </p:txBody>
      </p:sp>
      <p:sp>
        <p:nvSpPr>
          <p:cNvPr id="33" name="Text 27"/>
          <p:cNvSpPr txBox="1"/>
          <p:nvPr/>
        </p:nvSpPr>
        <p:spPr>
          <a:xfrm>
            <a:off x="8430768"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34" name="Shape 28"/>
          <p:cNvSpPr/>
          <p:nvPr/>
        </p:nvSpPr>
        <p:spPr>
          <a:xfrm>
            <a:off x="8595360" y="5303520"/>
            <a:ext cx="1847088" cy="347472"/>
          </a:xfrm>
          <a:prstGeom prst="roundRect">
            <a:avLst>
              <a:gd name="adj" fmla="val 50000"/>
            </a:avLst>
          </a:prstGeom>
          <a:solidFill>
            <a:srgbClr val="F5A623"/>
          </a:solidFill>
          <a:ln/>
        </p:spPr>
        <p:txBody>
          <a:bodyPr/>
          <a:lstStyle/>
          <a:p>
            <a:endParaRPr lang="en-US"/>
          </a:p>
        </p:txBody>
      </p:sp>
      <p:sp>
        <p:nvSpPr>
          <p:cNvPr id="35" name="Text 29"/>
          <p:cNvSpPr txBox="1"/>
          <p:nvPr/>
        </p:nvSpPr>
        <p:spPr>
          <a:xfrm>
            <a:off x="8595360" y="5303520"/>
            <a:ext cx="1847088" cy="347472"/>
          </a:xfrm>
          <a:prstGeom prst="rect">
            <a:avLst/>
          </a:prstGeom>
          <a:noFill/>
          <a:ln/>
        </p:spPr>
        <p:txBody>
          <a:bodyPr wrap="square" lIns="0" tIns="0" rIns="0" bIns="0" rtlCol="0" anchor="ctr"/>
          <a:lstStyle/>
          <a:p>
            <a:pPr marL="0" indent="0" algn="ctr">
              <a:buNone/>
            </a:pPr>
            <a:r>
              <a:rPr lang="en-US" sz="1250" b="1" dirty="0">
                <a:solidFill>
                  <a:srgbClr val="12213A"/>
                </a:solidFill>
                <a:latin typeface="Calibri" pitchFamily="34" charset="0"/>
                <a:ea typeface="Calibri" pitchFamily="34" charset="-122"/>
                <a:cs typeface="Calibri" pitchFamily="34" charset="-120"/>
              </a:rPr>
              <a:t>Your 10 missions</a:t>
            </a:r>
            <a:endParaRPr lang="en-US" sz="1250" dirty="0"/>
          </a:p>
        </p:txBody>
      </p:sp>
      <p:sp>
        <p:nvSpPr>
          <p:cNvPr id="36" name="Text 30"/>
          <p:cNvSpPr txBox="1"/>
          <p:nvPr/>
        </p:nvSpPr>
        <p:spPr>
          <a:xfrm>
            <a:off x="548640" y="5852160"/>
            <a:ext cx="10515600" cy="32004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No WebAssembly? The page switches to lite mode: a simulated shell with the same missions.</a:t>
            </a:r>
            <a:endParaRPr lang="en-US" sz="1300" dirty="0"/>
          </a:p>
        </p:txBody>
      </p:sp>
    </p:spTree>
  </p:cSld>
  <p:clrMapOvr>
    <a:masterClrMapping/>
  </p:clrMapOvr>
  <p:transition spd="med">
    <p:fade/>
  </p:transition>
</p:sld>
</file>

<file path=ppt/slides/slide69.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open the CTF</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72</a:t>
            </a:r>
            <a:endParaRPr lang="en-US" sz="1000" dirty="0"/>
          </a:p>
        </p:txBody>
      </p:sp>
      <p:sp>
        <p:nvSpPr>
          <p:cNvPr id="6" name="Shape 3"/>
          <p:cNvSpPr/>
          <p:nvPr/>
        </p:nvSpPr>
        <p:spPr>
          <a:xfrm>
            <a:off x="548640" y="1691640"/>
            <a:ext cx="457200" cy="457200"/>
          </a:xfrm>
          <a:prstGeom prst="ellipse">
            <a:avLst/>
          </a:prstGeom>
          <a:solidFill>
            <a:srgbClr val="2459D8"/>
          </a:solidFill>
          <a:ln/>
        </p:spPr>
        <p:txBody>
          <a:bodyPr/>
          <a:lstStyle/>
          <a:p>
            <a:endParaRPr lang="en-US"/>
          </a:p>
        </p:txBody>
      </p:sp>
      <p:sp>
        <p:nvSpPr>
          <p:cNvPr id="7" name="Text 4"/>
          <p:cNvSpPr txBox="1"/>
          <p:nvPr/>
        </p:nvSpPr>
        <p:spPr>
          <a:xfrm>
            <a:off x="548640" y="16916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1188720" y="166420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Open Chrome </a:t>
            </a:r>
            <a:r>
              <a:rPr lang="en-US" sz="1800" dirty="0">
                <a:solidFill>
                  <a:srgbClr val="12213A"/>
                </a:solidFill>
                <a:latin typeface="Calibri" pitchFamily="34" charset="0"/>
                <a:ea typeface="Calibri" pitchFamily="34" charset="-122"/>
                <a:cs typeface="Calibri" pitchFamily="34" charset="-120"/>
              </a:rPr>
              <a:t>and type the address from the box on the right.</a:t>
            </a:r>
            <a:endParaRPr lang="en-US" sz="1800" dirty="0"/>
          </a:p>
        </p:txBody>
      </p:sp>
      <p:sp>
        <p:nvSpPr>
          <p:cNvPr id="9" name="Shape 6"/>
          <p:cNvSpPr/>
          <p:nvPr/>
        </p:nvSpPr>
        <p:spPr>
          <a:xfrm>
            <a:off x="548640" y="2697480"/>
            <a:ext cx="457200" cy="457200"/>
          </a:xfrm>
          <a:prstGeom prst="ellipse">
            <a:avLst/>
          </a:prstGeom>
          <a:solidFill>
            <a:srgbClr val="2459D8"/>
          </a:solidFill>
          <a:ln/>
        </p:spPr>
        <p:txBody>
          <a:bodyPr/>
          <a:lstStyle/>
          <a:p>
            <a:endParaRPr lang="en-US"/>
          </a:p>
        </p:txBody>
      </p:sp>
      <p:sp>
        <p:nvSpPr>
          <p:cNvPr id="10" name="Text 7"/>
          <p:cNvSpPr txBox="1"/>
          <p:nvPr/>
        </p:nvSpPr>
        <p:spPr>
          <a:xfrm>
            <a:off x="548640" y="2697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8"/>
          <p:cNvSpPr txBox="1"/>
          <p:nvPr/>
        </p:nvSpPr>
        <p:spPr>
          <a:xfrm>
            <a:off x="1188720" y="267004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Watch it boot. </a:t>
            </a:r>
            <a:r>
              <a:rPr lang="en-US" sz="1800" dirty="0">
                <a:solidFill>
                  <a:srgbClr val="12213A"/>
                </a:solidFill>
                <a:latin typeface="Calibri" pitchFamily="34" charset="0"/>
                <a:ea typeface="Calibri" pitchFamily="34" charset="-122"/>
                <a:cs typeface="Calibri" pitchFamily="34" charset="-120"/>
              </a:rPr>
              <a:t>The status says 'Ready' when Linux is up.</a:t>
            </a:r>
            <a:endParaRPr lang="en-US" sz="1800" dirty="0"/>
          </a:p>
        </p:txBody>
      </p:sp>
      <p:sp>
        <p:nvSpPr>
          <p:cNvPr id="12" name="Shape 9"/>
          <p:cNvSpPr/>
          <p:nvPr/>
        </p:nvSpPr>
        <p:spPr>
          <a:xfrm>
            <a:off x="548640" y="3703320"/>
            <a:ext cx="457200" cy="457200"/>
          </a:xfrm>
          <a:prstGeom prst="ellipse">
            <a:avLst/>
          </a:prstGeom>
          <a:solidFill>
            <a:srgbClr val="2459D8"/>
          </a:solidFill>
          <a:ln/>
        </p:spPr>
        <p:txBody>
          <a:bodyPr/>
          <a:lstStyle/>
          <a:p>
            <a:endParaRPr lang="en-US"/>
          </a:p>
        </p:txBody>
      </p:sp>
      <p:sp>
        <p:nvSpPr>
          <p:cNvPr id="13" name="Text 10"/>
          <p:cNvSpPr txBox="1"/>
          <p:nvPr/>
        </p:nvSpPr>
        <p:spPr>
          <a:xfrm>
            <a:off x="548640" y="37033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1"/>
          <p:cNvSpPr txBox="1"/>
          <p:nvPr/>
        </p:nvSpPr>
        <p:spPr>
          <a:xfrm>
            <a:off x="1188720" y="367588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Click inside the black terminal. </a:t>
            </a:r>
            <a:r>
              <a:rPr lang="en-US" sz="1800" dirty="0">
                <a:solidFill>
                  <a:srgbClr val="12213A"/>
                </a:solidFill>
                <a:latin typeface="Calibri" pitchFamily="34" charset="0"/>
                <a:ea typeface="Calibri" pitchFamily="34" charset="-122"/>
                <a:cs typeface="Calibri" pitchFamily="34" charset="-120"/>
              </a:rPr>
              <a:t>A cursor should blink.</a:t>
            </a:r>
            <a:endParaRPr lang="en-US" sz="1800" dirty="0"/>
          </a:p>
        </p:txBody>
      </p:sp>
      <p:sp>
        <p:nvSpPr>
          <p:cNvPr id="15" name="Shape 12"/>
          <p:cNvSpPr/>
          <p:nvPr/>
        </p:nvSpPr>
        <p:spPr>
          <a:xfrm>
            <a:off x="548640" y="4709160"/>
            <a:ext cx="457200" cy="457200"/>
          </a:xfrm>
          <a:prstGeom prst="ellipse">
            <a:avLst/>
          </a:prstGeom>
          <a:solidFill>
            <a:srgbClr val="2459D8"/>
          </a:solidFill>
          <a:ln/>
        </p:spPr>
        <p:txBody>
          <a:bodyPr/>
          <a:lstStyle/>
          <a:p>
            <a:endParaRPr lang="en-US"/>
          </a:p>
        </p:txBody>
      </p:sp>
      <p:sp>
        <p:nvSpPr>
          <p:cNvPr id="16" name="Text 13"/>
          <p:cNvSpPr txBox="1"/>
          <p:nvPr/>
        </p:nvSpPr>
        <p:spPr>
          <a:xfrm>
            <a:off x="548640" y="47091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7" name="Text 14"/>
          <p:cNvSpPr txBox="1"/>
          <p:nvPr/>
        </p:nvSpPr>
        <p:spPr>
          <a:xfrm>
            <a:off x="1188720" y="468172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Never reload the page. </a:t>
            </a:r>
            <a:r>
              <a:rPr lang="en-US" sz="1800" dirty="0">
                <a:solidFill>
                  <a:srgbClr val="12213A"/>
                </a:solidFill>
                <a:latin typeface="Calibri" pitchFamily="34" charset="0"/>
                <a:ea typeface="Calibri" pitchFamily="34" charset="-122"/>
                <a:cs typeface="Calibri" pitchFamily="34" charset="-120"/>
              </a:rPr>
              <a:t>Reloading means new flags, zero points and a reset clock.</a:t>
            </a:r>
            <a:endParaRPr lang="en-US" sz="1800" dirty="0"/>
          </a:p>
        </p:txBody>
      </p:sp>
      <p:sp>
        <p:nvSpPr>
          <p:cNvPr id="18" name="Shape 15"/>
          <p:cNvSpPr/>
          <p:nvPr/>
        </p:nvSpPr>
        <p:spPr>
          <a:xfrm>
            <a:off x="7040880" y="1554480"/>
            <a:ext cx="4599432" cy="2926080"/>
          </a:xfrm>
          <a:prstGeom prst="roundRect">
            <a:avLst>
              <a:gd name="adj" fmla="val 3750"/>
            </a:avLst>
          </a:prstGeom>
          <a:solidFill>
            <a:srgbClr val="0E1726"/>
          </a:solidFill>
          <a:ln/>
        </p:spPr>
        <p:txBody>
          <a:bodyPr/>
          <a:lstStyle/>
          <a:p>
            <a:endParaRPr lang="en-US"/>
          </a:p>
        </p:txBody>
      </p:sp>
      <p:sp>
        <p:nvSpPr>
          <p:cNvPr id="19" name="Text 16"/>
          <p:cNvSpPr txBox="1"/>
          <p:nvPr/>
        </p:nvSpPr>
        <p:spPr>
          <a:xfrm>
            <a:off x="7040880" y="1737360"/>
            <a:ext cx="4599432" cy="365760"/>
          </a:xfrm>
          <a:prstGeom prst="rect">
            <a:avLst/>
          </a:prstGeom>
          <a:noFill/>
          <a:ln/>
        </p:spPr>
        <p:txBody>
          <a:bodyPr wrap="square" lIns="0" tIns="0" rIns="0" bIns="0" rtlCol="0" anchor="ctr"/>
          <a:lstStyle/>
          <a:p>
            <a:pPr marL="0" indent="0" algn="ctr">
              <a:buNone/>
            </a:pPr>
            <a:r>
              <a:rPr lang="en-US" sz="1600" dirty="0">
                <a:solidFill>
                  <a:srgbClr val="B8C4D9"/>
                </a:solidFill>
                <a:latin typeface="Calibri" pitchFamily="34" charset="0"/>
                <a:ea typeface="Calibri" pitchFamily="34" charset="-122"/>
                <a:cs typeface="Calibri" pitchFamily="34" charset="-120"/>
              </a:rPr>
              <a:t>CTF address</a:t>
            </a:r>
            <a:endParaRPr lang="en-US" sz="1600" dirty="0"/>
          </a:p>
        </p:txBody>
      </p:sp>
      <p:grpSp>
        <p:nvGrpSpPr>
          <p:cNvPr id="27" name="Group 26">
            <a:extLst>
              <a:ext uri="{FF2B5EF4-FFF2-40B4-BE49-F238E27FC236}">
                <a16:creationId xmlns:a16="http://schemas.microsoft.com/office/drawing/2014/main" id="{82CEF6DE-788A-A71E-A2A7-81C3EB2B492D}"/>
              </a:ext>
            </a:extLst>
          </p:cNvPr>
          <p:cNvGrpSpPr/>
          <p:nvPr/>
        </p:nvGrpSpPr>
        <p:grpSpPr>
          <a:xfrm>
            <a:off x="7406640" y="2331720"/>
            <a:ext cx="3867912" cy="1371600"/>
            <a:chOff x="7406640" y="2331720"/>
            <a:chExt cx="3867912" cy="1371600"/>
          </a:xfrm>
        </p:grpSpPr>
        <p:sp>
          <p:nvSpPr>
            <p:cNvPr id="20" name="Shape 17"/>
            <p:cNvSpPr/>
            <p:nvPr/>
          </p:nvSpPr>
          <p:spPr>
            <a:xfrm>
              <a:off x="7406640" y="2331720"/>
              <a:ext cx="3867912" cy="1371600"/>
            </a:xfrm>
            <a:prstGeom prst="roundRect">
              <a:avLst>
                <a:gd name="adj" fmla="val 5333"/>
              </a:avLst>
            </a:prstGeom>
            <a:solidFill>
              <a:srgbClr val="162238"/>
            </a:solidFill>
            <a:ln w="25400">
              <a:solidFill>
                <a:srgbClr val="F5A623"/>
              </a:solidFill>
              <a:prstDash val="dash"/>
            </a:ln>
          </p:spPr>
          <p:txBody>
            <a:bodyPr/>
            <a:lstStyle/>
            <a:p>
              <a:endParaRPr lang="en-US"/>
            </a:p>
          </p:txBody>
        </p:sp>
        <p:sp>
          <p:nvSpPr>
            <p:cNvPr id="21" name="Text 18"/>
            <p:cNvSpPr txBox="1"/>
            <p:nvPr/>
          </p:nvSpPr>
          <p:spPr>
            <a:xfrm>
              <a:off x="7406640" y="2331720"/>
              <a:ext cx="3867912" cy="1371600"/>
            </a:xfrm>
            <a:prstGeom prst="rect">
              <a:avLst/>
            </a:prstGeom>
            <a:noFill/>
            <a:ln/>
          </p:spPr>
          <p:txBody>
            <a:bodyPr wrap="square" lIns="0" tIns="0" rIns="0" bIns="0" rtlCol="0" anchor="ctr"/>
            <a:lstStyle/>
            <a:p>
              <a:pPr marL="0" indent="0" algn="ctr">
                <a:buNone/>
              </a:pPr>
              <a:r>
                <a:rPr lang="en-US" sz="2000" b="1" dirty="0">
                  <a:solidFill>
                    <a:srgbClr val="F5A623"/>
                  </a:solidFill>
                  <a:latin typeface="Courier New" pitchFamily="34" charset="0"/>
                  <a:ea typeface="Courier New" pitchFamily="34" charset="-122"/>
                  <a:cs typeface="Courier New" pitchFamily="34" charset="-120"/>
                  <a:hlinkClick r:id="rId3">
                    <a:extLst>
                      <a:ext uri="{A12FA001-AC4F-418D-AE19-62706E023703}">
                        <ahyp:hlinkClr xmlns:ahyp="http://schemas.microsoft.com/office/drawing/2018/hyperlinkcolor" val="tx"/>
                      </a:ext>
                    </a:extLst>
                  </a:hlinkClick>
                </a:rPr>
                <a:t>your-group.gitlab.io/...</a:t>
              </a:r>
              <a:endParaRPr lang="en-US" sz="2000" dirty="0">
                <a:solidFill>
                  <a:srgbClr val="F5A623"/>
                </a:solidFill>
              </a:endParaRPr>
            </a:p>
          </p:txBody>
        </p:sp>
      </p:grpSp>
      <p:sp>
        <p:nvSpPr>
          <p:cNvPr id="22" name="Text 19"/>
          <p:cNvSpPr txBox="1"/>
          <p:nvPr/>
        </p:nvSpPr>
        <p:spPr>
          <a:xfrm>
            <a:off x="7040880" y="3840480"/>
            <a:ext cx="4599432" cy="365760"/>
          </a:xfrm>
          <a:prstGeom prst="rect">
            <a:avLst/>
          </a:prstGeom>
          <a:noFill/>
          <a:ln/>
        </p:spPr>
        <p:txBody>
          <a:bodyPr wrap="square" lIns="0" tIns="0" rIns="0" bIns="0" rtlCol="0" anchor="ctr"/>
          <a:lstStyle/>
          <a:p>
            <a:pPr marL="0" indent="0" algn="ctr">
              <a:buNone/>
            </a:pPr>
            <a:r>
              <a:rPr lang="en-US" sz="1400" dirty="0">
                <a:solidFill>
                  <a:srgbClr val="7F8FAD"/>
                </a:solidFill>
                <a:latin typeface="Calibri" pitchFamily="34" charset="0"/>
                <a:ea typeface="Calibri" pitchFamily="34" charset="-122"/>
                <a:cs typeface="Calibri" pitchFamily="34" charset="-120"/>
              </a:rPr>
              <a:t>Type it exactly. One computer per pair.</a:t>
            </a:r>
            <a:endParaRPr lang="en-US" sz="1400" dirty="0"/>
          </a:p>
        </p:txBody>
      </p:sp>
      <p:sp>
        <p:nvSpPr>
          <p:cNvPr id="23" name="Shape 20"/>
          <p:cNvSpPr/>
          <p:nvPr/>
        </p:nvSpPr>
        <p:spPr>
          <a:xfrm>
            <a:off x="7040880" y="4709160"/>
            <a:ext cx="4599432" cy="1188720"/>
          </a:xfrm>
          <a:prstGeom prst="roundRect">
            <a:avLst>
              <a:gd name="adj" fmla="val 7692"/>
            </a:avLst>
          </a:prstGeom>
          <a:solidFill>
            <a:srgbClr val="FFF4DC"/>
          </a:solidFill>
          <a:ln/>
        </p:spPr>
        <p:txBody>
          <a:bodyPr/>
          <a:lstStyle/>
          <a:p>
            <a:endParaRPr lang="en-US"/>
          </a:p>
        </p:txBody>
      </p:sp>
      <p:sp>
        <p:nvSpPr>
          <p:cNvPr id="24" name="Text 21"/>
          <p:cNvSpPr txBox="1"/>
          <p:nvPr/>
        </p:nvSpPr>
        <p:spPr>
          <a:xfrm>
            <a:off x="7315200" y="4709160"/>
            <a:ext cx="4114800" cy="118872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Don't type yet! </a:t>
            </a:r>
            <a:r>
              <a:rPr lang="en-US" sz="1500" dirty="0">
                <a:solidFill>
                  <a:srgbClr val="12213A"/>
                </a:solidFill>
                <a:latin typeface="Calibri" pitchFamily="34" charset="0"/>
                <a:ea typeface="Calibri" pitchFamily="34" charset="-122"/>
                <a:cs typeface="Calibri" pitchFamily="34" charset="-120"/>
              </a:rPr>
              <a:t>The clock waits for Mission 1. The warm-ups are untimed, so explore freely.</a:t>
            </a:r>
            <a:endParaRPr lang="en-US" sz="1500" dirty="0"/>
          </a:p>
        </p:txBody>
      </p:sp>
    </p:spTree>
  </p:cSld>
  <p:clrMapOvr>
    <a:masterClrMapping/>
  </p:clrMapOvr>
  <p:transition spd="med">
    <p:fade/>
  </p:transition>
</p:sld>
</file>

<file path=ppt/slides/slide70.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your first three commands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74</a:t>
            </a:r>
            <a:endParaRPr lang="en-US" sz="1000" dirty="0"/>
          </a:p>
        </p:txBody>
      </p:sp>
      <p:sp>
        <p:nvSpPr>
          <p:cNvPr id="6" name="Shape 3"/>
          <p:cNvSpPr/>
          <p:nvPr/>
        </p:nvSpPr>
        <p:spPr>
          <a:xfrm>
            <a:off x="548640" y="1645920"/>
            <a:ext cx="457200" cy="457200"/>
          </a:xfrm>
          <a:prstGeom prst="ellipse">
            <a:avLst/>
          </a:prstGeom>
          <a:solidFill>
            <a:srgbClr val="2459D8"/>
          </a:solidFill>
          <a:ln/>
        </p:spPr>
        <p:txBody>
          <a:bodyPr/>
          <a:lstStyle/>
          <a:p>
            <a:endParaRPr lang="en-US"/>
          </a:p>
        </p:txBody>
      </p:sp>
      <p:sp>
        <p:nvSpPr>
          <p:cNvPr id="7" name="Text 4"/>
          <p:cNvSpPr txBox="1"/>
          <p:nvPr/>
        </p:nvSpPr>
        <p:spPr>
          <a:xfrm>
            <a:off x="548640" y="16459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1188720" y="161848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Click inside the terminal </a:t>
            </a:r>
            <a:r>
              <a:rPr lang="en-US" sz="1700" dirty="0">
                <a:solidFill>
                  <a:srgbClr val="12213A"/>
                </a:solidFill>
                <a:latin typeface="Calibri" pitchFamily="34" charset="0"/>
                <a:ea typeface="Calibri" pitchFamily="34" charset="-122"/>
                <a:cs typeface="Calibri" pitchFamily="34" charset="-120"/>
              </a:rPr>
              <a:t>so your typing goes there.</a:t>
            </a:r>
            <a:endParaRPr lang="en-US" sz="1700" dirty="0"/>
          </a:p>
        </p:txBody>
      </p:sp>
      <p:sp>
        <p:nvSpPr>
          <p:cNvPr id="9" name="Shape 6"/>
          <p:cNvSpPr/>
          <p:nvPr/>
        </p:nvSpPr>
        <p:spPr>
          <a:xfrm>
            <a:off x="548640" y="2606040"/>
            <a:ext cx="457200" cy="457200"/>
          </a:xfrm>
          <a:prstGeom prst="ellipse">
            <a:avLst/>
          </a:prstGeom>
          <a:solidFill>
            <a:srgbClr val="2459D8"/>
          </a:solidFill>
          <a:ln/>
        </p:spPr>
        <p:txBody>
          <a:bodyPr/>
          <a:lstStyle/>
          <a:p>
            <a:endParaRPr lang="en-US"/>
          </a:p>
        </p:txBody>
      </p:sp>
      <p:sp>
        <p:nvSpPr>
          <p:cNvPr id="10" name="Text 7"/>
          <p:cNvSpPr txBox="1"/>
          <p:nvPr/>
        </p:nvSpPr>
        <p:spPr>
          <a:xfrm>
            <a:off x="548640" y="26060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8"/>
          <p:cNvSpPr txBox="1"/>
          <p:nvPr/>
        </p:nvSpPr>
        <p:spPr>
          <a:xfrm>
            <a:off x="1188720" y="257860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Type a command, press Enter. </a:t>
            </a:r>
            <a:r>
              <a:rPr lang="en-US" sz="1700" dirty="0">
                <a:solidFill>
                  <a:srgbClr val="12213A"/>
                </a:solidFill>
                <a:latin typeface="Calibri" pitchFamily="34" charset="0"/>
                <a:ea typeface="Calibri" pitchFamily="34" charset="-122"/>
                <a:cs typeface="Calibri" pitchFamily="34" charset="-120"/>
              </a:rPr>
              <a:t>Nothing happens until you press Enter.</a:t>
            </a:r>
            <a:endParaRPr lang="en-US" sz="1700" dirty="0"/>
          </a:p>
        </p:txBody>
      </p:sp>
      <p:sp>
        <p:nvSpPr>
          <p:cNvPr id="12" name="Shape 9"/>
          <p:cNvSpPr/>
          <p:nvPr/>
        </p:nvSpPr>
        <p:spPr>
          <a:xfrm>
            <a:off x="548640" y="3566160"/>
            <a:ext cx="457200" cy="457200"/>
          </a:xfrm>
          <a:prstGeom prst="ellipse">
            <a:avLst/>
          </a:prstGeom>
          <a:solidFill>
            <a:srgbClr val="2459D8"/>
          </a:solidFill>
          <a:ln/>
        </p:spPr>
        <p:txBody>
          <a:bodyPr/>
          <a:lstStyle/>
          <a:p>
            <a:endParaRPr lang="en-US"/>
          </a:p>
        </p:txBody>
      </p:sp>
      <p:sp>
        <p:nvSpPr>
          <p:cNvPr id="13" name="Text 10"/>
          <p:cNvSpPr txBox="1"/>
          <p:nvPr/>
        </p:nvSpPr>
        <p:spPr>
          <a:xfrm>
            <a:off x="548640" y="35661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1"/>
          <p:cNvSpPr txBox="1"/>
          <p:nvPr/>
        </p:nvSpPr>
        <p:spPr>
          <a:xfrm>
            <a:off x="1188720" y="353872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Type the three commands </a:t>
            </a:r>
            <a:r>
              <a:rPr lang="en-US" sz="1700" dirty="0">
                <a:solidFill>
                  <a:srgbClr val="12213A"/>
                </a:solidFill>
                <a:latin typeface="Calibri" pitchFamily="34" charset="0"/>
                <a:ea typeface="Calibri" pitchFamily="34" charset="-122"/>
                <a:cs typeface="Calibri" pitchFamily="34" charset="-120"/>
              </a:rPr>
              <a:t>on the right, one at a time.</a:t>
            </a:r>
            <a:endParaRPr lang="en-US" sz="1700" dirty="0"/>
          </a:p>
        </p:txBody>
      </p:sp>
      <p:sp>
        <p:nvSpPr>
          <p:cNvPr id="15" name="Shape 12"/>
          <p:cNvSpPr/>
          <p:nvPr/>
        </p:nvSpPr>
        <p:spPr>
          <a:xfrm>
            <a:off x="548640" y="4526280"/>
            <a:ext cx="457200" cy="457200"/>
          </a:xfrm>
          <a:prstGeom prst="ellipse">
            <a:avLst/>
          </a:prstGeom>
          <a:solidFill>
            <a:srgbClr val="2459D8"/>
          </a:solidFill>
          <a:ln/>
        </p:spPr>
        <p:txBody>
          <a:bodyPr/>
          <a:lstStyle/>
          <a:p>
            <a:endParaRPr lang="en-US"/>
          </a:p>
        </p:txBody>
      </p:sp>
      <p:sp>
        <p:nvSpPr>
          <p:cNvPr id="16" name="Text 13"/>
          <p:cNvSpPr txBox="1"/>
          <p:nvPr/>
        </p:nvSpPr>
        <p:spPr>
          <a:xfrm>
            <a:off x="548640" y="45262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7" name="Text 14"/>
          <p:cNvSpPr txBox="1"/>
          <p:nvPr/>
        </p:nvSpPr>
        <p:spPr>
          <a:xfrm>
            <a:off x="1188720" y="449884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Leave the missions alone </a:t>
            </a:r>
            <a:r>
              <a:rPr lang="en-US" sz="1700" dirty="0">
                <a:solidFill>
                  <a:srgbClr val="12213A"/>
                </a:solidFill>
                <a:latin typeface="Calibri" pitchFamily="34" charset="0"/>
                <a:ea typeface="Calibri" pitchFamily="34" charset="-122"/>
                <a:cs typeface="Calibri" pitchFamily="34" charset="-120"/>
              </a:rPr>
              <a:t>for now. The competition comes later.</a:t>
            </a:r>
            <a:endParaRPr lang="en-US" sz="1700" dirty="0"/>
          </a:p>
        </p:txBody>
      </p:sp>
      <p:sp>
        <p:nvSpPr>
          <p:cNvPr id="18" name="Shape 15"/>
          <p:cNvSpPr/>
          <p:nvPr/>
        </p:nvSpPr>
        <p:spPr>
          <a:xfrm>
            <a:off x="548640" y="5486400"/>
            <a:ext cx="5120640" cy="548640"/>
          </a:xfrm>
          <a:prstGeom prst="roundRect">
            <a:avLst>
              <a:gd name="adj" fmla="val 16667"/>
            </a:avLst>
          </a:prstGeom>
          <a:solidFill>
            <a:srgbClr val="E2F5EC"/>
          </a:solidFill>
          <a:ln/>
        </p:spPr>
        <p:txBody>
          <a:bodyPr/>
          <a:lstStyle/>
          <a:p>
            <a:endParaRPr lang="en-US"/>
          </a:p>
        </p:txBody>
      </p:sp>
      <p:sp>
        <p:nvSpPr>
          <p:cNvPr id="19" name="Text 16"/>
          <p:cNvSpPr txBox="1"/>
          <p:nvPr/>
        </p:nvSpPr>
        <p:spPr>
          <a:xfrm>
            <a:off x="822960" y="5486400"/>
            <a:ext cx="4754880" cy="548640"/>
          </a:xfrm>
          <a:prstGeom prst="rect">
            <a:avLst/>
          </a:prstGeom>
          <a:noFill/>
          <a:ln/>
        </p:spPr>
        <p:txBody>
          <a:bodyPr wrap="square" lIns="0" tIns="0" rIns="0" bIns="0" rtlCol="0" anchor="ctr"/>
          <a:lstStyle/>
          <a:p>
            <a:pPr marL="0" indent="0">
              <a:buNone/>
            </a:pPr>
            <a:r>
              <a:rPr lang="en-US" sz="1600" b="1" dirty="0">
                <a:solidFill>
                  <a:srgbClr val="0F6A45"/>
                </a:solidFill>
                <a:latin typeface="Calibri" pitchFamily="34" charset="0"/>
                <a:ea typeface="Calibri" pitchFamily="34" charset="-122"/>
                <a:cs typeface="Calibri" pitchFamily="34" charset="-120"/>
              </a:rPr>
              <a:t>Thumbs up when you see mission1 to mission10.</a:t>
            </a:r>
            <a:endParaRPr lang="en-US" sz="1600" dirty="0"/>
          </a:p>
        </p:txBody>
      </p:sp>
      <p:sp>
        <p:nvSpPr>
          <p:cNvPr id="20" name="Shape 17"/>
          <p:cNvSpPr/>
          <p:nvPr/>
        </p:nvSpPr>
        <p:spPr>
          <a:xfrm>
            <a:off x="6126480" y="1463040"/>
            <a:ext cx="5513832" cy="4526280"/>
          </a:xfrm>
          <a:prstGeom prst="roundRect">
            <a:avLst>
              <a:gd name="adj" fmla="val 2020"/>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1" name="Shape 18"/>
          <p:cNvSpPr/>
          <p:nvPr/>
        </p:nvSpPr>
        <p:spPr>
          <a:xfrm>
            <a:off x="6327648" y="1618488"/>
            <a:ext cx="118872" cy="118872"/>
          </a:xfrm>
          <a:prstGeom prst="ellipse">
            <a:avLst/>
          </a:prstGeom>
          <a:solidFill>
            <a:srgbClr val="E5534B"/>
          </a:solidFill>
          <a:ln/>
        </p:spPr>
        <p:txBody>
          <a:bodyPr/>
          <a:lstStyle/>
          <a:p>
            <a:endParaRPr lang="en-US"/>
          </a:p>
        </p:txBody>
      </p:sp>
      <p:sp>
        <p:nvSpPr>
          <p:cNvPr id="22" name="Shape 19"/>
          <p:cNvSpPr/>
          <p:nvPr/>
        </p:nvSpPr>
        <p:spPr>
          <a:xfrm>
            <a:off x="6528816" y="1618488"/>
            <a:ext cx="118872" cy="118872"/>
          </a:xfrm>
          <a:prstGeom prst="ellipse">
            <a:avLst/>
          </a:prstGeom>
          <a:solidFill>
            <a:srgbClr val="F5A623"/>
          </a:solidFill>
          <a:ln/>
        </p:spPr>
        <p:txBody>
          <a:bodyPr/>
          <a:lstStyle/>
          <a:p>
            <a:endParaRPr lang="en-US"/>
          </a:p>
        </p:txBody>
      </p:sp>
      <p:sp>
        <p:nvSpPr>
          <p:cNvPr id="23" name="Shape 20"/>
          <p:cNvSpPr/>
          <p:nvPr/>
        </p:nvSpPr>
        <p:spPr>
          <a:xfrm>
            <a:off x="6729984" y="1618488"/>
            <a:ext cx="118872" cy="118872"/>
          </a:xfrm>
          <a:prstGeom prst="ellipse">
            <a:avLst/>
          </a:prstGeom>
          <a:solidFill>
            <a:srgbClr val="46D39A"/>
          </a:solidFill>
          <a:ln/>
        </p:spPr>
        <p:txBody>
          <a:bodyPr/>
          <a:lstStyle/>
          <a:p>
            <a:endParaRPr lang="en-US"/>
          </a:p>
        </p:txBody>
      </p:sp>
      <p:sp>
        <p:nvSpPr>
          <p:cNvPr id="24" name="Text 21"/>
          <p:cNvSpPr txBox="1"/>
          <p:nvPr/>
        </p:nvSpPr>
        <p:spPr>
          <a:xfrm>
            <a:off x="7040880" y="1536192"/>
            <a:ext cx="368503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your own Linux computer</a:t>
            </a:r>
            <a:endParaRPr lang="en-US" sz="1000" dirty="0"/>
          </a:p>
        </p:txBody>
      </p:sp>
      <p:sp>
        <p:nvSpPr>
          <p:cNvPr id="25" name="Text 22"/>
          <p:cNvSpPr txBox="1"/>
          <p:nvPr/>
        </p:nvSpPr>
        <p:spPr>
          <a:xfrm>
            <a:off x="6400800" y="1920240"/>
            <a:ext cx="4965192" cy="393192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whoami</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player</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pwd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/home/player</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ls</a:t>
            </a:r>
            <a:endParaRPr lang="en-US" sz="1600" dirty="0"/>
          </a:p>
          <a:p>
            <a:pPr marL="0" indent="0">
              <a:spcAft>
                <a:spcPts val="200"/>
              </a:spcAft>
              <a:buNone/>
            </a:pPr>
            <a:r>
              <a:rPr lang="en-US" sz="1600" b="1" dirty="0">
                <a:solidFill>
                  <a:srgbClr val="F5A623"/>
                </a:solidFill>
                <a:latin typeface="Courier New" pitchFamily="34" charset="0"/>
                <a:ea typeface="Courier New" pitchFamily="34" charset="-122"/>
                <a:cs typeface="Courier New" pitchFamily="34" charset="-120"/>
              </a:rPr>
              <a:t>README.txt  mission10  mission4  mission7</a:t>
            </a:r>
            <a:endParaRPr lang="en-US" sz="1600" dirty="0"/>
          </a:p>
          <a:p>
            <a:pPr marL="0" indent="0">
              <a:spcAft>
                <a:spcPts val="200"/>
              </a:spcAft>
              <a:buNone/>
            </a:pPr>
            <a:r>
              <a:rPr lang="en-US" sz="1600" b="1" dirty="0">
                <a:solidFill>
                  <a:srgbClr val="F5A623"/>
                </a:solidFill>
                <a:latin typeface="Courier New" pitchFamily="34" charset="0"/>
                <a:ea typeface="Courier New" pitchFamily="34" charset="-122"/>
                <a:cs typeface="Courier New" pitchFamily="34" charset="-120"/>
              </a:rPr>
              <a:t>mission1    mission2   mission5  mission8</a:t>
            </a:r>
            <a:endParaRPr lang="en-US" sz="1600" dirty="0"/>
          </a:p>
          <a:p>
            <a:pPr marL="0" indent="0">
              <a:spcAft>
                <a:spcPts val="200"/>
              </a:spcAft>
              <a:buNone/>
            </a:pPr>
            <a:r>
              <a:rPr lang="en-US" sz="1600" b="1" dirty="0">
                <a:solidFill>
                  <a:srgbClr val="F5A623"/>
                </a:solidFill>
                <a:latin typeface="Courier New" pitchFamily="34" charset="0"/>
                <a:ea typeface="Courier New" pitchFamily="34" charset="-122"/>
                <a:cs typeface="Courier New" pitchFamily="34" charset="-120"/>
              </a:rPr>
              <a:t>orientation.txt  ...  mission9</a:t>
            </a:r>
            <a:endParaRPr lang="en-US" sz="1600" dirty="0"/>
          </a:p>
        </p:txBody>
      </p:sp>
    </p:spTree>
  </p:cSld>
  <p:clrMapOvr>
    <a:masterClrMapping/>
  </p:clrMapOvr>
  <p:transition spd="med">
    <p:fade/>
  </p:transition>
</p:sld>
</file>

<file path=ppt/slides/slide71.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answer key</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75</a:t>
            </a:r>
            <a:endParaRPr lang="en-US" sz="1000" dirty="0"/>
          </a:p>
        </p:txBody>
      </p:sp>
      <p:sp>
        <p:nvSpPr>
          <p:cNvPr id="6" name="Shape 3"/>
          <p:cNvSpPr/>
          <p:nvPr/>
        </p:nvSpPr>
        <p:spPr>
          <a:xfrm>
            <a:off x="548640" y="1325880"/>
            <a:ext cx="11094415" cy="301752"/>
          </a:xfrm>
          <a:prstGeom prst="rect">
            <a:avLst/>
          </a:prstGeom>
          <a:solidFill>
            <a:srgbClr val="F1F5FB"/>
          </a:solidFill>
          <a:ln/>
        </p:spPr>
        <p:txBody>
          <a:bodyPr/>
          <a:lstStyle/>
          <a:p>
            <a:endParaRPr lang="en-US"/>
          </a:p>
        </p:txBody>
      </p:sp>
      <p:sp>
        <p:nvSpPr>
          <p:cNvPr id="7" name="Shape 4"/>
          <p:cNvSpPr/>
          <p:nvPr/>
        </p:nvSpPr>
        <p:spPr>
          <a:xfrm>
            <a:off x="658368" y="1362456"/>
            <a:ext cx="228600" cy="228600"/>
          </a:xfrm>
          <a:prstGeom prst="ellipse">
            <a:avLst/>
          </a:prstGeom>
          <a:solidFill>
            <a:srgbClr val="56657E"/>
          </a:solidFill>
          <a:ln/>
        </p:spPr>
        <p:txBody>
          <a:bodyPr/>
          <a:lstStyle/>
          <a:p>
            <a:endParaRPr lang="en-US"/>
          </a:p>
        </p:txBody>
      </p:sp>
      <p:sp>
        <p:nvSpPr>
          <p:cNvPr id="8" name="Text 5"/>
          <p:cNvSpPr txBox="1"/>
          <p:nvPr/>
        </p:nvSpPr>
        <p:spPr>
          <a:xfrm>
            <a:off x="658368" y="1362456"/>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a:t>
            </a:r>
            <a:endParaRPr lang="en-US" sz="900" dirty="0"/>
          </a:p>
        </p:txBody>
      </p:sp>
      <p:sp>
        <p:nvSpPr>
          <p:cNvPr id="9" name="Text 6"/>
          <p:cNvSpPr txBox="1"/>
          <p:nvPr/>
        </p:nvSpPr>
        <p:spPr>
          <a:xfrm>
            <a:off x="1005840" y="1325880"/>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Warm-up</a:t>
            </a:r>
            <a:endParaRPr lang="en-US" sz="1200" dirty="0"/>
          </a:p>
        </p:txBody>
      </p:sp>
      <p:sp>
        <p:nvSpPr>
          <p:cNvPr id="10" name="Text 7"/>
          <p:cNvSpPr txBox="1"/>
          <p:nvPr/>
        </p:nvSpPr>
        <p:spPr>
          <a:xfrm>
            <a:off x="3383280" y="1325880"/>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orientation.txt;  submit the flag on its last line</a:t>
            </a:r>
            <a:endParaRPr lang="en-US" sz="1000" dirty="0"/>
          </a:p>
        </p:txBody>
      </p:sp>
      <p:sp>
        <p:nvSpPr>
          <p:cNvPr id="11" name="Text 8"/>
          <p:cNvSpPr txBox="1"/>
          <p:nvPr/>
        </p:nvSpPr>
        <p:spPr>
          <a:xfrm>
            <a:off x="10241280" y="1325880"/>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Bonus · 50</a:t>
            </a:r>
            <a:endParaRPr lang="en-US" sz="1100" dirty="0"/>
          </a:p>
        </p:txBody>
      </p:sp>
      <p:sp>
        <p:nvSpPr>
          <p:cNvPr id="12" name="Shape 9"/>
          <p:cNvSpPr/>
          <p:nvPr/>
        </p:nvSpPr>
        <p:spPr>
          <a:xfrm>
            <a:off x="548640" y="1627632"/>
            <a:ext cx="11094415" cy="301752"/>
          </a:xfrm>
          <a:prstGeom prst="rect">
            <a:avLst/>
          </a:prstGeom>
          <a:solidFill>
            <a:srgbClr val="FFFFFF"/>
          </a:solidFill>
          <a:ln/>
        </p:spPr>
        <p:txBody>
          <a:bodyPr/>
          <a:lstStyle/>
          <a:p>
            <a:endParaRPr lang="en-US"/>
          </a:p>
        </p:txBody>
      </p:sp>
      <p:sp>
        <p:nvSpPr>
          <p:cNvPr id="13" name="Shape 10"/>
          <p:cNvSpPr/>
          <p:nvPr/>
        </p:nvSpPr>
        <p:spPr>
          <a:xfrm>
            <a:off x="658368" y="1664208"/>
            <a:ext cx="228600" cy="228600"/>
          </a:xfrm>
          <a:prstGeom prst="ellipse">
            <a:avLst/>
          </a:prstGeom>
          <a:solidFill>
            <a:srgbClr val="17875A"/>
          </a:solidFill>
          <a:ln/>
        </p:spPr>
        <p:txBody>
          <a:bodyPr/>
          <a:lstStyle/>
          <a:p>
            <a:endParaRPr lang="en-US"/>
          </a:p>
        </p:txBody>
      </p:sp>
      <p:sp>
        <p:nvSpPr>
          <p:cNvPr id="14" name="Text 11"/>
          <p:cNvSpPr txBox="1"/>
          <p:nvPr/>
        </p:nvSpPr>
        <p:spPr>
          <a:xfrm>
            <a:off x="658368" y="1664208"/>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5" name="Text 12"/>
          <p:cNvSpPr txBox="1"/>
          <p:nvPr/>
        </p:nvSpPr>
        <p:spPr>
          <a:xfrm>
            <a:off x="1005840" y="1627632"/>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Make your move</a:t>
            </a:r>
            <a:endParaRPr lang="en-US" sz="1200" dirty="0"/>
          </a:p>
        </p:txBody>
      </p:sp>
      <p:sp>
        <p:nvSpPr>
          <p:cNvPr id="16" name="Text 13"/>
          <p:cNvSpPr txBox="1"/>
          <p:nvPr/>
        </p:nvSpPr>
        <p:spPr>
          <a:xfrm>
            <a:off x="3383280" y="1627632"/>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cd town; ls; cd &lt;sign&gt;; cd ..; cd &lt;right place&gt;; cd &lt;a&gt;/&lt;b&gt;; ls</a:t>
            </a:r>
            <a:endParaRPr lang="en-US" sz="1000" dirty="0"/>
          </a:p>
        </p:txBody>
      </p:sp>
      <p:sp>
        <p:nvSpPr>
          <p:cNvPr id="17" name="Text 14"/>
          <p:cNvSpPr txBox="1"/>
          <p:nvPr/>
        </p:nvSpPr>
        <p:spPr>
          <a:xfrm>
            <a:off x="10241280" y="1627632"/>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18" name="Shape 15"/>
          <p:cNvSpPr/>
          <p:nvPr/>
        </p:nvSpPr>
        <p:spPr>
          <a:xfrm>
            <a:off x="548640" y="1929384"/>
            <a:ext cx="11094415" cy="301752"/>
          </a:xfrm>
          <a:prstGeom prst="rect">
            <a:avLst/>
          </a:prstGeom>
          <a:solidFill>
            <a:srgbClr val="F1F5FB"/>
          </a:solidFill>
          <a:ln/>
        </p:spPr>
        <p:txBody>
          <a:bodyPr/>
          <a:lstStyle/>
          <a:p>
            <a:endParaRPr lang="en-US"/>
          </a:p>
        </p:txBody>
      </p:sp>
      <p:sp>
        <p:nvSpPr>
          <p:cNvPr id="19" name="Shape 16"/>
          <p:cNvSpPr/>
          <p:nvPr/>
        </p:nvSpPr>
        <p:spPr>
          <a:xfrm>
            <a:off x="658368" y="1965960"/>
            <a:ext cx="228600" cy="228600"/>
          </a:xfrm>
          <a:prstGeom prst="ellipse">
            <a:avLst/>
          </a:prstGeom>
          <a:solidFill>
            <a:srgbClr val="2A9FD6"/>
          </a:solidFill>
          <a:ln/>
        </p:spPr>
        <p:txBody>
          <a:bodyPr/>
          <a:lstStyle/>
          <a:p>
            <a:endParaRPr lang="en-US"/>
          </a:p>
        </p:txBody>
      </p:sp>
      <p:sp>
        <p:nvSpPr>
          <p:cNvPr id="20" name="Text 17"/>
          <p:cNvSpPr txBox="1"/>
          <p:nvPr/>
        </p:nvSpPr>
        <p:spPr>
          <a:xfrm>
            <a:off x="658368" y="196596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1" name="Text 18"/>
          <p:cNvSpPr txBox="1"/>
          <p:nvPr/>
        </p:nvSpPr>
        <p:spPr>
          <a:xfrm>
            <a:off x="1005840" y="1929384"/>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Let the cat out of the bag</a:t>
            </a:r>
            <a:endParaRPr lang="en-US" sz="1200" dirty="0"/>
          </a:p>
        </p:txBody>
      </p:sp>
      <p:sp>
        <p:nvSpPr>
          <p:cNvPr id="22" name="Text 19"/>
          <p:cNvSpPr txBox="1"/>
          <p:nvPr/>
        </p:nvSpPr>
        <p:spPr>
          <a:xfrm>
            <a:off x="3383280" y="1929384"/>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README.txt;  cat --help;  cat -n bag.txt</a:t>
            </a:r>
            <a:endParaRPr lang="en-US" sz="1000" dirty="0"/>
          </a:p>
        </p:txBody>
      </p:sp>
      <p:sp>
        <p:nvSpPr>
          <p:cNvPr id="23" name="Text 20"/>
          <p:cNvSpPr txBox="1"/>
          <p:nvPr/>
        </p:nvSpPr>
        <p:spPr>
          <a:xfrm>
            <a:off x="10241280" y="1929384"/>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24" name="Shape 21"/>
          <p:cNvSpPr/>
          <p:nvPr/>
        </p:nvSpPr>
        <p:spPr>
          <a:xfrm>
            <a:off x="548640" y="2231136"/>
            <a:ext cx="11094415" cy="301752"/>
          </a:xfrm>
          <a:prstGeom prst="rect">
            <a:avLst/>
          </a:prstGeom>
          <a:solidFill>
            <a:srgbClr val="FFFFFF"/>
          </a:solidFill>
          <a:ln/>
        </p:spPr>
        <p:txBody>
          <a:bodyPr/>
          <a:lstStyle/>
          <a:p>
            <a:endParaRPr lang="en-US"/>
          </a:p>
        </p:txBody>
      </p:sp>
      <p:sp>
        <p:nvSpPr>
          <p:cNvPr id="25" name="Shape 22"/>
          <p:cNvSpPr/>
          <p:nvPr/>
        </p:nvSpPr>
        <p:spPr>
          <a:xfrm>
            <a:off x="658368" y="2267712"/>
            <a:ext cx="228600" cy="228600"/>
          </a:xfrm>
          <a:prstGeom prst="ellipse">
            <a:avLst/>
          </a:prstGeom>
          <a:solidFill>
            <a:srgbClr val="2459D8"/>
          </a:solidFill>
          <a:ln/>
        </p:spPr>
        <p:txBody>
          <a:bodyPr/>
          <a:lstStyle/>
          <a:p>
            <a:endParaRPr lang="en-US"/>
          </a:p>
        </p:txBody>
      </p:sp>
      <p:sp>
        <p:nvSpPr>
          <p:cNvPr id="26" name="Text 23"/>
          <p:cNvSpPr txBox="1"/>
          <p:nvPr/>
        </p:nvSpPr>
        <p:spPr>
          <a:xfrm>
            <a:off x="658368" y="2267712"/>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7" name="Text 24"/>
          <p:cNvSpPr txBox="1"/>
          <p:nvPr/>
        </p:nvSpPr>
        <p:spPr>
          <a:xfrm>
            <a:off x="1005840" y="2231136"/>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Now you see me</a:t>
            </a:r>
            <a:endParaRPr lang="en-US" sz="1200" dirty="0"/>
          </a:p>
        </p:txBody>
      </p:sp>
      <p:sp>
        <p:nvSpPr>
          <p:cNvPr id="28" name="Text 25"/>
          <p:cNvSpPr txBox="1"/>
          <p:nvPr/>
        </p:nvSpPr>
        <p:spPr>
          <a:xfrm>
            <a:off x="3383280" y="2231136"/>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ls -a;  cat the dot file that is not .old-...</a:t>
            </a:r>
            <a:endParaRPr lang="en-US" sz="1000" dirty="0"/>
          </a:p>
        </p:txBody>
      </p:sp>
      <p:sp>
        <p:nvSpPr>
          <p:cNvPr id="29" name="Text 26"/>
          <p:cNvSpPr txBox="1"/>
          <p:nvPr/>
        </p:nvSpPr>
        <p:spPr>
          <a:xfrm>
            <a:off x="10241280" y="2231136"/>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30" name="Shape 27"/>
          <p:cNvSpPr/>
          <p:nvPr/>
        </p:nvSpPr>
        <p:spPr>
          <a:xfrm>
            <a:off x="548640" y="2532888"/>
            <a:ext cx="11094415" cy="301752"/>
          </a:xfrm>
          <a:prstGeom prst="rect">
            <a:avLst/>
          </a:prstGeom>
          <a:solidFill>
            <a:srgbClr val="F1F5FB"/>
          </a:solidFill>
          <a:ln/>
        </p:spPr>
        <p:txBody>
          <a:bodyPr/>
          <a:lstStyle/>
          <a:p>
            <a:endParaRPr lang="en-US"/>
          </a:p>
        </p:txBody>
      </p:sp>
      <p:sp>
        <p:nvSpPr>
          <p:cNvPr id="31" name="Shape 28"/>
          <p:cNvSpPr/>
          <p:nvPr/>
        </p:nvSpPr>
        <p:spPr>
          <a:xfrm>
            <a:off x="658368" y="2569464"/>
            <a:ext cx="228600" cy="228600"/>
          </a:xfrm>
          <a:prstGeom prst="ellipse">
            <a:avLst/>
          </a:prstGeom>
          <a:solidFill>
            <a:srgbClr val="7448D4"/>
          </a:solidFill>
          <a:ln/>
        </p:spPr>
        <p:txBody>
          <a:bodyPr/>
          <a:lstStyle/>
          <a:p>
            <a:endParaRPr lang="en-US"/>
          </a:p>
        </p:txBody>
      </p:sp>
      <p:sp>
        <p:nvSpPr>
          <p:cNvPr id="32" name="Text 29"/>
          <p:cNvSpPr txBox="1"/>
          <p:nvPr/>
        </p:nvSpPr>
        <p:spPr>
          <a:xfrm>
            <a:off x="658368" y="2569464"/>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33" name="Text 30"/>
          <p:cNvSpPr txBox="1"/>
          <p:nvPr/>
        </p:nvSpPr>
        <p:spPr>
          <a:xfrm>
            <a:off x="1005840" y="2532888"/>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Needle in the tree</a:t>
            </a:r>
            <a:endParaRPr lang="en-US" sz="1200" dirty="0"/>
          </a:p>
        </p:txBody>
      </p:sp>
      <p:sp>
        <p:nvSpPr>
          <p:cNvPr id="34" name="Text 31"/>
          <p:cNvSpPr txBox="1"/>
          <p:nvPr/>
        </p:nvSpPr>
        <p:spPr>
          <a:xfrm>
            <a:off x="3383280" y="2532888"/>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README.txt;  find archive -name "*.&lt;ending&gt;";  cat &lt;path&gt;</a:t>
            </a:r>
            <a:endParaRPr lang="en-US" sz="1000" dirty="0"/>
          </a:p>
        </p:txBody>
      </p:sp>
      <p:sp>
        <p:nvSpPr>
          <p:cNvPr id="35" name="Text 32"/>
          <p:cNvSpPr txBox="1"/>
          <p:nvPr/>
        </p:nvSpPr>
        <p:spPr>
          <a:xfrm>
            <a:off x="10241280" y="2532888"/>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36" name="Shape 33"/>
          <p:cNvSpPr/>
          <p:nvPr/>
        </p:nvSpPr>
        <p:spPr>
          <a:xfrm>
            <a:off x="548640" y="2834640"/>
            <a:ext cx="11094415" cy="301752"/>
          </a:xfrm>
          <a:prstGeom prst="rect">
            <a:avLst/>
          </a:prstGeom>
          <a:solidFill>
            <a:srgbClr val="FFFFFF"/>
          </a:solidFill>
          <a:ln/>
        </p:spPr>
        <p:txBody>
          <a:bodyPr/>
          <a:lstStyle/>
          <a:p>
            <a:endParaRPr lang="en-US"/>
          </a:p>
        </p:txBody>
      </p:sp>
      <p:sp>
        <p:nvSpPr>
          <p:cNvPr id="37" name="Shape 34"/>
          <p:cNvSpPr/>
          <p:nvPr/>
        </p:nvSpPr>
        <p:spPr>
          <a:xfrm>
            <a:off x="658368" y="2871216"/>
            <a:ext cx="228600" cy="228600"/>
          </a:xfrm>
          <a:prstGeom prst="ellipse">
            <a:avLst/>
          </a:prstGeom>
          <a:solidFill>
            <a:srgbClr val="D1416B"/>
          </a:solidFill>
          <a:ln/>
        </p:spPr>
        <p:txBody>
          <a:bodyPr/>
          <a:lstStyle/>
          <a:p>
            <a:endParaRPr lang="en-US"/>
          </a:p>
        </p:txBody>
      </p:sp>
      <p:sp>
        <p:nvSpPr>
          <p:cNvPr id="38" name="Text 35"/>
          <p:cNvSpPr txBox="1"/>
          <p:nvPr/>
        </p:nvSpPr>
        <p:spPr>
          <a:xfrm>
            <a:off x="658368" y="2871216"/>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9" name="Text 36"/>
          <p:cNvSpPr txBox="1"/>
          <p:nvPr/>
        </p:nvSpPr>
        <p:spPr>
          <a:xfrm>
            <a:off x="1005840" y="2834640"/>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Search party</a:t>
            </a:r>
            <a:endParaRPr lang="en-US" sz="1200" dirty="0"/>
          </a:p>
        </p:txBody>
      </p:sp>
      <p:sp>
        <p:nvSpPr>
          <p:cNvPr id="40" name="Text 37"/>
          <p:cNvSpPr txBox="1"/>
          <p:nvPr/>
        </p:nvSpPr>
        <p:spPr>
          <a:xfrm>
            <a:off x="3383280" y="2834640"/>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README.txt;  grep &lt;name&gt; access.log</a:t>
            </a:r>
            <a:endParaRPr lang="en-US" sz="1000" dirty="0"/>
          </a:p>
        </p:txBody>
      </p:sp>
      <p:sp>
        <p:nvSpPr>
          <p:cNvPr id="41" name="Text 38"/>
          <p:cNvSpPr txBox="1"/>
          <p:nvPr/>
        </p:nvSpPr>
        <p:spPr>
          <a:xfrm>
            <a:off x="10241280" y="2834640"/>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2" name="Shape 39"/>
          <p:cNvSpPr/>
          <p:nvPr/>
        </p:nvSpPr>
        <p:spPr>
          <a:xfrm>
            <a:off x="548640" y="3136392"/>
            <a:ext cx="11094415" cy="301752"/>
          </a:xfrm>
          <a:prstGeom prst="rect">
            <a:avLst/>
          </a:prstGeom>
          <a:solidFill>
            <a:srgbClr val="F1F5FB"/>
          </a:solidFill>
          <a:ln/>
        </p:spPr>
        <p:txBody>
          <a:bodyPr/>
          <a:lstStyle/>
          <a:p>
            <a:endParaRPr lang="en-US"/>
          </a:p>
        </p:txBody>
      </p:sp>
      <p:sp>
        <p:nvSpPr>
          <p:cNvPr id="43" name="Shape 40"/>
          <p:cNvSpPr/>
          <p:nvPr/>
        </p:nvSpPr>
        <p:spPr>
          <a:xfrm>
            <a:off x="658368" y="3172968"/>
            <a:ext cx="228600" cy="228600"/>
          </a:xfrm>
          <a:prstGeom prst="ellipse">
            <a:avLst/>
          </a:prstGeom>
          <a:solidFill>
            <a:srgbClr val="E8820C"/>
          </a:solidFill>
          <a:ln/>
        </p:spPr>
        <p:txBody>
          <a:bodyPr/>
          <a:lstStyle/>
          <a:p>
            <a:endParaRPr lang="en-US"/>
          </a:p>
        </p:txBody>
      </p:sp>
      <p:sp>
        <p:nvSpPr>
          <p:cNvPr id="44" name="Text 41"/>
          <p:cNvSpPr txBox="1"/>
          <p:nvPr/>
        </p:nvSpPr>
        <p:spPr>
          <a:xfrm>
            <a:off x="658368" y="3172968"/>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45" name="Text 42"/>
          <p:cNvSpPr txBox="1"/>
          <p:nvPr/>
        </p:nvSpPr>
        <p:spPr>
          <a:xfrm>
            <a:off x="1005840" y="3136392"/>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Odd one out</a:t>
            </a:r>
            <a:endParaRPr lang="en-US" sz="1200" dirty="0"/>
          </a:p>
        </p:txBody>
      </p:sp>
      <p:sp>
        <p:nvSpPr>
          <p:cNvPr id="46" name="Text 43"/>
          <p:cNvSpPr txBox="1"/>
          <p:nvPr/>
        </p:nvSpPr>
        <p:spPr>
          <a:xfrm>
            <a:off x="3383280" y="3136392"/>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sort codes.txt | uniq -u</a:t>
            </a:r>
            <a:endParaRPr lang="en-US" sz="1000" dirty="0"/>
          </a:p>
        </p:txBody>
      </p:sp>
      <p:sp>
        <p:nvSpPr>
          <p:cNvPr id="47" name="Text 44"/>
          <p:cNvSpPr txBox="1"/>
          <p:nvPr/>
        </p:nvSpPr>
        <p:spPr>
          <a:xfrm>
            <a:off x="10241280" y="3136392"/>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8" name="Shape 45"/>
          <p:cNvSpPr/>
          <p:nvPr/>
        </p:nvSpPr>
        <p:spPr>
          <a:xfrm>
            <a:off x="548640" y="3438144"/>
            <a:ext cx="11094415" cy="301752"/>
          </a:xfrm>
          <a:prstGeom prst="rect">
            <a:avLst/>
          </a:prstGeom>
          <a:solidFill>
            <a:srgbClr val="FFFFFF"/>
          </a:solidFill>
          <a:ln/>
        </p:spPr>
        <p:txBody>
          <a:bodyPr/>
          <a:lstStyle/>
          <a:p>
            <a:endParaRPr lang="en-US"/>
          </a:p>
        </p:txBody>
      </p:sp>
      <p:sp>
        <p:nvSpPr>
          <p:cNvPr id="49" name="Shape 46"/>
          <p:cNvSpPr/>
          <p:nvPr/>
        </p:nvSpPr>
        <p:spPr>
          <a:xfrm>
            <a:off x="658368" y="3474720"/>
            <a:ext cx="228600" cy="228600"/>
          </a:xfrm>
          <a:prstGeom prst="ellipse">
            <a:avLst/>
          </a:prstGeom>
          <a:solidFill>
            <a:srgbClr val="C9A227"/>
          </a:solidFill>
          <a:ln/>
        </p:spPr>
        <p:txBody>
          <a:bodyPr/>
          <a:lstStyle/>
          <a:p>
            <a:endParaRPr lang="en-US"/>
          </a:p>
        </p:txBody>
      </p:sp>
      <p:sp>
        <p:nvSpPr>
          <p:cNvPr id="50" name="Text 47"/>
          <p:cNvSpPr txBox="1"/>
          <p:nvPr/>
        </p:nvSpPr>
        <p:spPr>
          <a:xfrm>
            <a:off x="658368" y="347472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7</a:t>
            </a:r>
            <a:endParaRPr lang="en-US" sz="900" dirty="0"/>
          </a:p>
        </p:txBody>
      </p:sp>
      <p:sp>
        <p:nvSpPr>
          <p:cNvPr id="51" name="Text 48"/>
          <p:cNvSpPr txBox="1"/>
          <p:nvPr/>
        </p:nvSpPr>
        <p:spPr>
          <a:xfrm>
            <a:off x="1005840" y="3438144"/>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Permission denied</a:t>
            </a:r>
            <a:endParaRPr lang="en-US" sz="1200" dirty="0"/>
          </a:p>
        </p:txBody>
      </p:sp>
      <p:sp>
        <p:nvSpPr>
          <p:cNvPr id="52" name="Text 49"/>
          <p:cNvSpPr txBox="1"/>
          <p:nvPr/>
        </p:nvSpPr>
        <p:spPr>
          <a:xfrm>
            <a:off x="3383280" y="3438144"/>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chmod +x unlock.sh;  ./unlock.sh</a:t>
            </a:r>
            <a:endParaRPr lang="en-US" sz="1000" dirty="0"/>
          </a:p>
        </p:txBody>
      </p:sp>
      <p:sp>
        <p:nvSpPr>
          <p:cNvPr id="53" name="Text 50"/>
          <p:cNvSpPr txBox="1"/>
          <p:nvPr/>
        </p:nvSpPr>
        <p:spPr>
          <a:xfrm>
            <a:off x="10241280" y="3438144"/>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54" name="Shape 51"/>
          <p:cNvSpPr/>
          <p:nvPr/>
        </p:nvSpPr>
        <p:spPr>
          <a:xfrm>
            <a:off x="548640" y="3739896"/>
            <a:ext cx="11094415" cy="301752"/>
          </a:xfrm>
          <a:prstGeom prst="rect">
            <a:avLst/>
          </a:prstGeom>
          <a:solidFill>
            <a:srgbClr val="F1F5FB"/>
          </a:solidFill>
          <a:ln/>
        </p:spPr>
        <p:txBody>
          <a:bodyPr/>
          <a:lstStyle/>
          <a:p>
            <a:endParaRPr lang="en-US"/>
          </a:p>
        </p:txBody>
      </p:sp>
      <p:sp>
        <p:nvSpPr>
          <p:cNvPr id="55" name="Shape 52"/>
          <p:cNvSpPr/>
          <p:nvPr/>
        </p:nvSpPr>
        <p:spPr>
          <a:xfrm>
            <a:off x="658368" y="3776472"/>
            <a:ext cx="228600" cy="228600"/>
          </a:xfrm>
          <a:prstGeom prst="ellipse">
            <a:avLst/>
          </a:prstGeom>
          <a:solidFill>
            <a:srgbClr val="0F9488"/>
          </a:solidFill>
          <a:ln/>
        </p:spPr>
        <p:txBody>
          <a:bodyPr/>
          <a:lstStyle/>
          <a:p>
            <a:endParaRPr lang="en-US"/>
          </a:p>
        </p:txBody>
      </p:sp>
      <p:sp>
        <p:nvSpPr>
          <p:cNvPr id="56" name="Text 53"/>
          <p:cNvSpPr txBox="1"/>
          <p:nvPr/>
        </p:nvSpPr>
        <p:spPr>
          <a:xfrm>
            <a:off x="658368" y="3776472"/>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8</a:t>
            </a:r>
            <a:endParaRPr lang="en-US" sz="900" dirty="0"/>
          </a:p>
        </p:txBody>
      </p:sp>
      <p:sp>
        <p:nvSpPr>
          <p:cNvPr id="57" name="Text 54"/>
          <p:cNvSpPr txBox="1"/>
          <p:nvPr/>
        </p:nvSpPr>
        <p:spPr>
          <a:xfrm>
            <a:off x="1005840" y="3739896"/>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Decoder ring</a:t>
            </a:r>
            <a:endParaRPr lang="en-US" sz="1200" dirty="0"/>
          </a:p>
        </p:txBody>
      </p:sp>
      <p:sp>
        <p:nvSpPr>
          <p:cNvPr id="58" name="Text 55"/>
          <p:cNvSpPr txBox="1"/>
          <p:nvPr/>
        </p:nvSpPr>
        <p:spPr>
          <a:xfrm>
            <a:off x="3383280" y="3739896"/>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base64 -d message.b64</a:t>
            </a:r>
            <a:endParaRPr lang="en-US" sz="1000" dirty="0"/>
          </a:p>
        </p:txBody>
      </p:sp>
      <p:sp>
        <p:nvSpPr>
          <p:cNvPr id="59" name="Text 56"/>
          <p:cNvSpPr txBox="1"/>
          <p:nvPr/>
        </p:nvSpPr>
        <p:spPr>
          <a:xfrm>
            <a:off x="10241280" y="3739896"/>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60" name="Shape 57"/>
          <p:cNvSpPr/>
          <p:nvPr/>
        </p:nvSpPr>
        <p:spPr>
          <a:xfrm>
            <a:off x="548640" y="4041648"/>
            <a:ext cx="11094415" cy="301752"/>
          </a:xfrm>
          <a:prstGeom prst="rect">
            <a:avLst/>
          </a:prstGeom>
          <a:solidFill>
            <a:srgbClr val="FFFFFF"/>
          </a:solidFill>
          <a:ln/>
        </p:spPr>
        <p:txBody>
          <a:bodyPr/>
          <a:lstStyle/>
          <a:p>
            <a:endParaRPr lang="en-US"/>
          </a:p>
        </p:txBody>
      </p:sp>
      <p:sp>
        <p:nvSpPr>
          <p:cNvPr id="61" name="Shape 58"/>
          <p:cNvSpPr/>
          <p:nvPr/>
        </p:nvSpPr>
        <p:spPr>
          <a:xfrm>
            <a:off x="658368" y="4078224"/>
            <a:ext cx="228600" cy="228600"/>
          </a:xfrm>
          <a:prstGeom prst="ellipse">
            <a:avLst/>
          </a:prstGeom>
          <a:solidFill>
            <a:srgbClr val="5B6EE1"/>
          </a:solidFill>
          <a:ln/>
        </p:spPr>
        <p:txBody>
          <a:bodyPr/>
          <a:lstStyle/>
          <a:p>
            <a:endParaRPr lang="en-US"/>
          </a:p>
        </p:txBody>
      </p:sp>
      <p:sp>
        <p:nvSpPr>
          <p:cNvPr id="62" name="Text 59"/>
          <p:cNvSpPr txBox="1"/>
          <p:nvPr/>
        </p:nvSpPr>
        <p:spPr>
          <a:xfrm>
            <a:off x="658368" y="4078224"/>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9</a:t>
            </a:r>
            <a:endParaRPr lang="en-US" sz="900" dirty="0"/>
          </a:p>
        </p:txBody>
      </p:sp>
      <p:sp>
        <p:nvSpPr>
          <p:cNvPr id="63" name="Text 60"/>
          <p:cNvSpPr txBox="1"/>
          <p:nvPr/>
        </p:nvSpPr>
        <p:spPr>
          <a:xfrm>
            <a:off x="1005840" y="4041648"/>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Layer cake</a:t>
            </a:r>
            <a:endParaRPr lang="en-US" sz="1200" dirty="0"/>
          </a:p>
        </p:txBody>
      </p:sp>
      <p:sp>
        <p:nvSpPr>
          <p:cNvPr id="64" name="Text 61"/>
          <p:cNvSpPr txBox="1"/>
          <p:nvPr/>
        </p:nvSpPr>
        <p:spPr>
          <a:xfrm>
            <a:off x="3383280" y="4041648"/>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base64 -d cake.b64 | base64 -d | ...  (4 to 6 times)</a:t>
            </a:r>
            <a:endParaRPr lang="en-US" sz="1000" dirty="0"/>
          </a:p>
        </p:txBody>
      </p:sp>
      <p:sp>
        <p:nvSpPr>
          <p:cNvPr id="65" name="Text 62"/>
          <p:cNvSpPr txBox="1"/>
          <p:nvPr/>
        </p:nvSpPr>
        <p:spPr>
          <a:xfrm>
            <a:off x="10241280" y="4041648"/>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66" name="Shape 63"/>
          <p:cNvSpPr/>
          <p:nvPr/>
        </p:nvSpPr>
        <p:spPr>
          <a:xfrm>
            <a:off x="548640" y="4343400"/>
            <a:ext cx="11094415" cy="301752"/>
          </a:xfrm>
          <a:prstGeom prst="rect">
            <a:avLst/>
          </a:prstGeom>
          <a:solidFill>
            <a:srgbClr val="F1F5FB"/>
          </a:solidFill>
          <a:ln/>
        </p:spPr>
        <p:txBody>
          <a:bodyPr/>
          <a:lstStyle/>
          <a:p>
            <a:endParaRPr lang="en-US"/>
          </a:p>
        </p:txBody>
      </p:sp>
      <p:sp>
        <p:nvSpPr>
          <p:cNvPr id="67" name="Shape 64"/>
          <p:cNvSpPr/>
          <p:nvPr/>
        </p:nvSpPr>
        <p:spPr>
          <a:xfrm>
            <a:off x="658368" y="4379976"/>
            <a:ext cx="228600" cy="228600"/>
          </a:xfrm>
          <a:prstGeom prst="ellipse">
            <a:avLst/>
          </a:prstGeom>
          <a:solidFill>
            <a:srgbClr val="B4233F"/>
          </a:solidFill>
          <a:ln/>
        </p:spPr>
        <p:txBody>
          <a:bodyPr/>
          <a:lstStyle/>
          <a:p>
            <a:endParaRPr lang="en-US"/>
          </a:p>
        </p:txBody>
      </p:sp>
      <p:sp>
        <p:nvSpPr>
          <p:cNvPr id="68" name="Text 65"/>
          <p:cNvSpPr txBox="1"/>
          <p:nvPr/>
        </p:nvSpPr>
        <p:spPr>
          <a:xfrm>
            <a:off x="658368" y="4379976"/>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10</a:t>
            </a:r>
            <a:endParaRPr lang="en-US" sz="900" dirty="0"/>
          </a:p>
        </p:txBody>
      </p:sp>
      <p:sp>
        <p:nvSpPr>
          <p:cNvPr id="69" name="Text 66"/>
          <p:cNvSpPr txBox="1"/>
          <p:nvPr/>
        </p:nvSpPr>
        <p:spPr>
          <a:xfrm>
            <a:off x="1005840" y="4343400"/>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Endgame</a:t>
            </a:r>
            <a:endParaRPr lang="en-US" sz="1200" dirty="0"/>
          </a:p>
        </p:txBody>
      </p:sp>
      <p:sp>
        <p:nvSpPr>
          <p:cNvPr id="70" name="Text 67"/>
          <p:cNvSpPr txBox="1"/>
          <p:nvPr/>
        </p:nvSpPr>
        <p:spPr>
          <a:xfrm>
            <a:off x="3383280" y="4343400"/>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find vault -name ".*";  grep NAME auth.log | cut -d= -f4 | base64 -d;  chmod +x unlock.sh</a:t>
            </a:r>
            <a:endParaRPr lang="en-US" sz="1000" dirty="0"/>
          </a:p>
        </p:txBody>
      </p:sp>
      <p:sp>
        <p:nvSpPr>
          <p:cNvPr id="71" name="Text 68"/>
          <p:cNvSpPr txBox="1"/>
          <p:nvPr/>
        </p:nvSpPr>
        <p:spPr>
          <a:xfrm>
            <a:off x="10241280" y="4343400"/>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Very Hard · 800</a:t>
            </a:r>
            <a:endParaRPr lang="en-US" sz="1100" dirty="0"/>
          </a:p>
        </p:txBody>
      </p:sp>
      <p:sp>
        <p:nvSpPr>
          <p:cNvPr id="72" name="Shape 69"/>
          <p:cNvSpPr/>
          <p:nvPr/>
        </p:nvSpPr>
        <p:spPr>
          <a:xfrm>
            <a:off x="548640" y="4645152"/>
            <a:ext cx="11094415" cy="301752"/>
          </a:xfrm>
          <a:prstGeom prst="rect">
            <a:avLst/>
          </a:prstGeom>
          <a:solidFill>
            <a:srgbClr val="FFFFFF"/>
          </a:solidFill>
          <a:ln/>
        </p:spPr>
        <p:txBody>
          <a:bodyPr/>
          <a:lstStyle/>
          <a:p>
            <a:endParaRPr lang="en-US"/>
          </a:p>
        </p:txBody>
      </p:sp>
      <p:sp>
        <p:nvSpPr>
          <p:cNvPr id="73" name="Shape 70"/>
          <p:cNvSpPr/>
          <p:nvPr/>
        </p:nvSpPr>
        <p:spPr>
          <a:xfrm>
            <a:off x="658368" y="4681728"/>
            <a:ext cx="228600" cy="228600"/>
          </a:xfrm>
          <a:prstGeom prst="ellipse">
            <a:avLst/>
          </a:prstGeom>
          <a:solidFill>
            <a:srgbClr val="56657E"/>
          </a:solidFill>
          <a:ln/>
        </p:spPr>
        <p:txBody>
          <a:bodyPr/>
          <a:lstStyle/>
          <a:p>
            <a:endParaRPr lang="en-US"/>
          </a:p>
        </p:txBody>
      </p:sp>
      <p:sp>
        <p:nvSpPr>
          <p:cNvPr id="74" name="Text 71"/>
          <p:cNvSpPr txBox="1"/>
          <p:nvPr/>
        </p:nvSpPr>
        <p:spPr>
          <a:xfrm>
            <a:off x="658368" y="4681728"/>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75" name="Text 72"/>
          <p:cNvSpPr txBox="1"/>
          <p:nvPr/>
        </p:nvSpPr>
        <p:spPr>
          <a:xfrm>
            <a:off x="1005840" y="4645152"/>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Count the haystack</a:t>
            </a:r>
            <a:endParaRPr lang="en-US" sz="1200" dirty="0"/>
          </a:p>
        </p:txBody>
      </p:sp>
      <p:sp>
        <p:nvSpPr>
          <p:cNvPr id="76" name="Text 73"/>
          <p:cNvSpPr txBox="1"/>
          <p:nvPr/>
        </p:nvSpPr>
        <p:spPr>
          <a:xfrm>
            <a:off x="3383280" y="4645152"/>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find archive -type f | wc -l  (81);  -type d  (26)</a:t>
            </a:r>
            <a:endParaRPr lang="en-US" sz="1000" dirty="0"/>
          </a:p>
        </p:txBody>
      </p:sp>
      <p:sp>
        <p:nvSpPr>
          <p:cNvPr id="77" name="Text 74"/>
          <p:cNvSpPr txBox="1"/>
          <p:nvPr/>
        </p:nvSpPr>
        <p:spPr>
          <a:xfrm>
            <a:off x="10241280" y="4645152"/>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78" name="Shape 75"/>
          <p:cNvSpPr/>
          <p:nvPr/>
        </p:nvSpPr>
        <p:spPr>
          <a:xfrm>
            <a:off x="548640" y="4946904"/>
            <a:ext cx="11094415" cy="301752"/>
          </a:xfrm>
          <a:prstGeom prst="rect">
            <a:avLst/>
          </a:prstGeom>
          <a:solidFill>
            <a:srgbClr val="F1F5FB"/>
          </a:solidFill>
          <a:ln/>
        </p:spPr>
        <p:txBody>
          <a:bodyPr/>
          <a:lstStyle/>
          <a:p>
            <a:endParaRPr lang="en-US"/>
          </a:p>
        </p:txBody>
      </p:sp>
      <p:sp>
        <p:nvSpPr>
          <p:cNvPr id="79" name="Shape 76"/>
          <p:cNvSpPr/>
          <p:nvPr/>
        </p:nvSpPr>
        <p:spPr>
          <a:xfrm>
            <a:off x="658368" y="4983480"/>
            <a:ext cx="228600" cy="228600"/>
          </a:xfrm>
          <a:prstGeom prst="ellipse">
            <a:avLst/>
          </a:prstGeom>
          <a:solidFill>
            <a:srgbClr val="56657E"/>
          </a:solidFill>
          <a:ln/>
        </p:spPr>
        <p:txBody>
          <a:bodyPr/>
          <a:lstStyle/>
          <a:p>
            <a:endParaRPr lang="en-US"/>
          </a:p>
        </p:txBody>
      </p:sp>
      <p:sp>
        <p:nvSpPr>
          <p:cNvPr id="80" name="Text 77"/>
          <p:cNvSpPr txBox="1"/>
          <p:nvPr/>
        </p:nvSpPr>
        <p:spPr>
          <a:xfrm>
            <a:off x="658368" y="498348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81" name="Text 78"/>
          <p:cNvSpPr txBox="1"/>
          <p:nvPr/>
        </p:nvSpPr>
        <p:spPr>
          <a:xfrm>
            <a:off x="1005840" y="4946904"/>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Who failed most?</a:t>
            </a:r>
            <a:endParaRPr lang="en-US" sz="1200" dirty="0"/>
          </a:p>
        </p:txBody>
      </p:sp>
      <p:sp>
        <p:nvSpPr>
          <p:cNvPr id="82" name="Text 79"/>
          <p:cNvSpPr txBox="1"/>
          <p:nvPr/>
        </p:nvSpPr>
        <p:spPr>
          <a:xfrm>
            <a:off x="3383280" y="4946904"/>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grep LOGIN_FAIL access.log | cut -d' ' -f2 | sort | uniq -c | sort -n</a:t>
            </a:r>
            <a:endParaRPr lang="en-US" sz="1000" dirty="0"/>
          </a:p>
        </p:txBody>
      </p:sp>
      <p:sp>
        <p:nvSpPr>
          <p:cNvPr id="83" name="Text 80"/>
          <p:cNvSpPr txBox="1"/>
          <p:nvPr/>
        </p:nvSpPr>
        <p:spPr>
          <a:xfrm>
            <a:off x="10241280" y="4946904"/>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84" name="Shape 81"/>
          <p:cNvSpPr/>
          <p:nvPr/>
        </p:nvSpPr>
        <p:spPr>
          <a:xfrm>
            <a:off x="548640" y="5248656"/>
            <a:ext cx="11094415" cy="301752"/>
          </a:xfrm>
          <a:prstGeom prst="rect">
            <a:avLst/>
          </a:prstGeom>
          <a:solidFill>
            <a:srgbClr val="FFFFFF"/>
          </a:solidFill>
          <a:ln/>
        </p:spPr>
        <p:txBody>
          <a:bodyPr/>
          <a:lstStyle/>
          <a:p>
            <a:endParaRPr lang="en-US"/>
          </a:p>
        </p:txBody>
      </p:sp>
      <p:sp>
        <p:nvSpPr>
          <p:cNvPr id="85" name="Shape 82"/>
          <p:cNvSpPr/>
          <p:nvPr/>
        </p:nvSpPr>
        <p:spPr>
          <a:xfrm>
            <a:off x="658368" y="5285232"/>
            <a:ext cx="228600" cy="228600"/>
          </a:xfrm>
          <a:prstGeom prst="ellipse">
            <a:avLst/>
          </a:prstGeom>
          <a:solidFill>
            <a:srgbClr val="56657E"/>
          </a:solidFill>
          <a:ln/>
        </p:spPr>
        <p:txBody>
          <a:bodyPr/>
          <a:lstStyle/>
          <a:p>
            <a:endParaRPr lang="en-US"/>
          </a:p>
        </p:txBody>
      </p:sp>
      <p:sp>
        <p:nvSpPr>
          <p:cNvPr id="86" name="Text 83"/>
          <p:cNvSpPr txBox="1"/>
          <p:nvPr/>
        </p:nvSpPr>
        <p:spPr>
          <a:xfrm>
            <a:off x="658368" y="5285232"/>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87" name="Text 84"/>
          <p:cNvSpPr txBox="1"/>
          <p:nvPr/>
        </p:nvSpPr>
        <p:spPr>
          <a:xfrm>
            <a:off x="1005840" y="5248656"/>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Head count</a:t>
            </a:r>
            <a:endParaRPr lang="en-US" sz="1200" dirty="0"/>
          </a:p>
        </p:txBody>
      </p:sp>
      <p:sp>
        <p:nvSpPr>
          <p:cNvPr id="88" name="Text 85"/>
          <p:cNvSpPr txBox="1"/>
          <p:nvPr/>
        </p:nvSpPr>
        <p:spPr>
          <a:xfrm>
            <a:off x="3383280" y="5248656"/>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cut -d' ' -f2 access.log | sort -u | wc -l  (11)</a:t>
            </a:r>
            <a:endParaRPr lang="en-US" sz="1000" dirty="0"/>
          </a:p>
        </p:txBody>
      </p:sp>
      <p:sp>
        <p:nvSpPr>
          <p:cNvPr id="89" name="Text 86"/>
          <p:cNvSpPr txBox="1"/>
          <p:nvPr/>
        </p:nvSpPr>
        <p:spPr>
          <a:xfrm>
            <a:off x="10241280" y="5248656"/>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90" name="Shape 87"/>
          <p:cNvSpPr/>
          <p:nvPr/>
        </p:nvSpPr>
        <p:spPr>
          <a:xfrm>
            <a:off x="548640" y="5550408"/>
            <a:ext cx="11094415" cy="301752"/>
          </a:xfrm>
          <a:prstGeom prst="rect">
            <a:avLst/>
          </a:prstGeom>
          <a:solidFill>
            <a:srgbClr val="F1F5FB"/>
          </a:solidFill>
          <a:ln/>
        </p:spPr>
        <p:txBody>
          <a:bodyPr/>
          <a:lstStyle/>
          <a:p>
            <a:endParaRPr lang="en-US"/>
          </a:p>
        </p:txBody>
      </p:sp>
      <p:sp>
        <p:nvSpPr>
          <p:cNvPr id="91" name="Shape 88"/>
          <p:cNvSpPr/>
          <p:nvPr/>
        </p:nvSpPr>
        <p:spPr>
          <a:xfrm>
            <a:off x="658368" y="5586984"/>
            <a:ext cx="228600" cy="228600"/>
          </a:xfrm>
          <a:prstGeom prst="ellipse">
            <a:avLst/>
          </a:prstGeom>
          <a:solidFill>
            <a:srgbClr val="56657E"/>
          </a:solidFill>
          <a:ln/>
        </p:spPr>
        <p:txBody>
          <a:bodyPr/>
          <a:lstStyle/>
          <a:p>
            <a:endParaRPr lang="en-US"/>
          </a:p>
        </p:txBody>
      </p:sp>
      <p:sp>
        <p:nvSpPr>
          <p:cNvPr id="92" name="Text 89"/>
          <p:cNvSpPr txBox="1"/>
          <p:nvPr/>
        </p:nvSpPr>
        <p:spPr>
          <a:xfrm>
            <a:off x="658368" y="5586984"/>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93" name="Text 90"/>
          <p:cNvSpPr txBox="1"/>
          <p:nvPr/>
        </p:nvSpPr>
        <p:spPr>
          <a:xfrm>
            <a:off x="1005840" y="5550408"/>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Swap secrets</a:t>
            </a:r>
            <a:endParaRPr lang="en-US" sz="1200" dirty="0"/>
          </a:p>
        </p:txBody>
      </p:sp>
      <p:sp>
        <p:nvSpPr>
          <p:cNvPr id="94" name="Text 91"/>
          <p:cNvSpPr txBox="1"/>
          <p:nvPr/>
        </p:nvSpPr>
        <p:spPr>
          <a:xfrm>
            <a:off x="3383280" y="5550408"/>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echo &lt;text&gt; | base64;   echo &lt;code&gt; | base64 -d</a:t>
            </a:r>
            <a:endParaRPr lang="en-US" sz="1000" dirty="0"/>
          </a:p>
        </p:txBody>
      </p:sp>
      <p:sp>
        <p:nvSpPr>
          <p:cNvPr id="95" name="Text 92"/>
          <p:cNvSpPr txBox="1"/>
          <p:nvPr/>
        </p:nvSpPr>
        <p:spPr>
          <a:xfrm>
            <a:off x="10241280" y="5550408"/>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Tree>
  </p:cSld>
  <p:clrMapOvr>
    <a:masterClrMapping/>
  </p:clrMapOvr>
  <p:transition spd="med">
    <p:fade/>
  </p:transition>
</p:sld>
</file>

<file path=ppt/slides/slide72.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when things go wrong</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76</a:t>
            </a:r>
            <a:endParaRPr lang="en-US" sz="1000" dirty="0"/>
          </a:p>
        </p:txBody>
      </p:sp>
      <p:sp>
        <p:nvSpPr>
          <p:cNvPr id="6" name="Shape 3"/>
          <p:cNvSpPr/>
          <p:nvPr/>
        </p:nvSpPr>
        <p:spPr>
          <a:xfrm>
            <a:off x="548640" y="1463040"/>
            <a:ext cx="5449824" cy="1005840"/>
          </a:xfrm>
          <a:prstGeom prst="roundRect">
            <a:avLst>
              <a:gd name="adj" fmla="val 9091"/>
            </a:avLst>
          </a:prstGeom>
          <a:solidFill>
            <a:srgbClr val="F1F5FB"/>
          </a:solidFill>
          <a:ln/>
        </p:spPr>
        <p:txBody>
          <a:bodyPr/>
          <a:lstStyle/>
          <a:p>
            <a:endParaRPr lang="en-US"/>
          </a:p>
        </p:txBody>
      </p:sp>
      <p:sp>
        <p:nvSpPr>
          <p:cNvPr id="7" name="Text 4"/>
          <p:cNvSpPr txBox="1"/>
          <p:nvPr/>
        </p:nvSpPr>
        <p:spPr>
          <a:xfrm>
            <a:off x="777240" y="1554480"/>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The page asks for a GitLab sign-in</a:t>
            </a:r>
            <a:endParaRPr lang="en-US" sz="1450" dirty="0"/>
          </a:p>
        </p:txBody>
      </p:sp>
      <p:sp>
        <p:nvSpPr>
          <p:cNvPr id="8" name="Text 5"/>
          <p:cNvSpPr txBox="1"/>
          <p:nvPr/>
        </p:nvSpPr>
        <p:spPr>
          <a:xfrm>
            <a:off x="777240" y="1874520"/>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Pages visibility is not public. Settings &gt; General &gt; Visibility &gt; Pages: Everyone.</a:t>
            </a:r>
            <a:endParaRPr lang="en-US" sz="1250" dirty="0"/>
          </a:p>
        </p:txBody>
      </p:sp>
      <p:sp>
        <p:nvSpPr>
          <p:cNvPr id="9" name="Shape 6"/>
          <p:cNvSpPr/>
          <p:nvPr/>
        </p:nvSpPr>
        <p:spPr>
          <a:xfrm>
            <a:off x="6190488" y="1463040"/>
            <a:ext cx="5449824" cy="1005840"/>
          </a:xfrm>
          <a:prstGeom prst="roundRect">
            <a:avLst>
              <a:gd name="adj" fmla="val 9091"/>
            </a:avLst>
          </a:prstGeom>
          <a:solidFill>
            <a:srgbClr val="F1F5FB"/>
          </a:solidFill>
          <a:ln/>
        </p:spPr>
        <p:txBody>
          <a:bodyPr/>
          <a:lstStyle/>
          <a:p>
            <a:endParaRPr lang="en-US"/>
          </a:p>
        </p:txBody>
      </p:sp>
      <p:sp>
        <p:nvSpPr>
          <p:cNvPr id="10" name="Text 7"/>
          <p:cNvSpPr txBox="1"/>
          <p:nvPr/>
        </p:nvSpPr>
        <p:spPr>
          <a:xfrm>
            <a:off x="6419088" y="1554480"/>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The page will not load at all</a:t>
            </a:r>
            <a:endParaRPr lang="en-US" sz="1450" dirty="0"/>
          </a:p>
        </p:txBody>
      </p:sp>
      <p:sp>
        <p:nvSpPr>
          <p:cNvPr id="11" name="Text 8"/>
          <p:cNvSpPr txBox="1"/>
          <p:nvPr/>
        </p:nvSpPr>
        <p:spPr>
          <a:xfrm>
            <a:off x="6419088" y="1874520"/>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The web filter is blocking *.gitlab.io. Ask IT to allow your Pages address.</a:t>
            </a:r>
            <a:endParaRPr lang="en-US" sz="1250" dirty="0"/>
          </a:p>
        </p:txBody>
      </p:sp>
      <p:sp>
        <p:nvSpPr>
          <p:cNvPr id="12" name="Shape 9"/>
          <p:cNvSpPr/>
          <p:nvPr/>
        </p:nvSpPr>
        <p:spPr>
          <a:xfrm>
            <a:off x="548640" y="2596896"/>
            <a:ext cx="5449824" cy="1005840"/>
          </a:xfrm>
          <a:prstGeom prst="roundRect">
            <a:avLst>
              <a:gd name="adj" fmla="val 9091"/>
            </a:avLst>
          </a:prstGeom>
          <a:solidFill>
            <a:srgbClr val="F1F5FB"/>
          </a:solidFill>
          <a:ln/>
        </p:spPr>
        <p:txBody>
          <a:bodyPr/>
          <a:lstStyle/>
          <a:p>
            <a:endParaRPr lang="en-US"/>
          </a:p>
        </p:txBody>
      </p:sp>
      <p:sp>
        <p:nvSpPr>
          <p:cNvPr id="13" name="Text 10"/>
          <p:cNvSpPr txBox="1"/>
          <p:nvPr/>
        </p:nvSpPr>
        <p:spPr>
          <a:xfrm>
            <a:off x="777240" y="2688336"/>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Status says 'Ready (lite mode)'</a:t>
            </a:r>
            <a:endParaRPr lang="en-US" sz="1450" dirty="0"/>
          </a:p>
        </p:txBody>
      </p:sp>
      <p:sp>
        <p:nvSpPr>
          <p:cNvPr id="14" name="Text 11"/>
          <p:cNvSpPr txBox="1"/>
          <p:nvPr/>
        </p:nvSpPr>
        <p:spPr>
          <a:xfrm>
            <a:off x="777240" y="3008376"/>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That browser blocks WebAssembly. Lite mode has the same missions: carry on.</a:t>
            </a:r>
            <a:endParaRPr lang="en-US" sz="1250" dirty="0"/>
          </a:p>
        </p:txBody>
      </p:sp>
      <p:sp>
        <p:nvSpPr>
          <p:cNvPr id="15" name="Shape 12"/>
          <p:cNvSpPr/>
          <p:nvPr/>
        </p:nvSpPr>
        <p:spPr>
          <a:xfrm>
            <a:off x="6190488" y="2596896"/>
            <a:ext cx="5449824" cy="1005840"/>
          </a:xfrm>
          <a:prstGeom prst="roundRect">
            <a:avLst>
              <a:gd name="adj" fmla="val 9091"/>
            </a:avLst>
          </a:prstGeom>
          <a:solidFill>
            <a:srgbClr val="F1F5FB"/>
          </a:solidFill>
          <a:ln/>
        </p:spPr>
        <p:txBody>
          <a:bodyPr/>
          <a:lstStyle/>
          <a:p>
            <a:endParaRPr lang="en-US"/>
          </a:p>
        </p:txBody>
      </p:sp>
      <p:sp>
        <p:nvSpPr>
          <p:cNvPr id="16" name="Text 13"/>
          <p:cNvSpPr txBox="1"/>
          <p:nvPr/>
        </p:nvSpPr>
        <p:spPr>
          <a:xfrm>
            <a:off x="6419088" y="2688336"/>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Typing does nothing</a:t>
            </a:r>
            <a:endParaRPr lang="en-US" sz="1450" dirty="0"/>
          </a:p>
        </p:txBody>
      </p:sp>
      <p:sp>
        <p:nvSpPr>
          <p:cNvPr id="17" name="Text 14"/>
          <p:cNvSpPr txBox="1"/>
          <p:nvPr/>
        </p:nvSpPr>
        <p:spPr>
          <a:xfrm>
            <a:off x="6419088" y="3008376"/>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Click inside the black terminal first.</a:t>
            </a:r>
            <a:endParaRPr lang="en-US" sz="1250" dirty="0"/>
          </a:p>
        </p:txBody>
      </p:sp>
      <p:sp>
        <p:nvSpPr>
          <p:cNvPr id="18" name="Shape 15"/>
          <p:cNvSpPr/>
          <p:nvPr/>
        </p:nvSpPr>
        <p:spPr>
          <a:xfrm>
            <a:off x="548640" y="3730752"/>
            <a:ext cx="5449824" cy="1005840"/>
          </a:xfrm>
          <a:prstGeom prst="roundRect">
            <a:avLst>
              <a:gd name="adj" fmla="val 9091"/>
            </a:avLst>
          </a:prstGeom>
          <a:solidFill>
            <a:srgbClr val="F1F5FB"/>
          </a:solidFill>
          <a:ln/>
        </p:spPr>
        <p:txBody>
          <a:bodyPr/>
          <a:lstStyle/>
          <a:p>
            <a:endParaRPr lang="en-US"/>
          </a:p>
        </p:txBody>
      </p:sp>
      <p:sp>
        <p:nvSpPr>
          <p:cNvPr id="19" name="Text 16"/>
          <p:cNvSpPr txBox="1"/>
          <p:nvPr/>
        </p:nvSpPr>
        <p:spPr>
          <a:xfrm>
            <a:off x="777240" y="3822192"/>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"Incorrect flag"</a:t>
            </a:r>
            <a:endParaRPr lang="en-US" sz="1450" dirty="0"/>
          </a:p>
        </p:txBody>
      </p:sp>
      <p:sp>
        <p:nvSpPr>
          <p:cNvPr id="20" name="Text 17"/>
          <p:cNvSpPr txBox="1"/>
          <p:nvPr/>
        </p:nvSpPr>
        <p:spPr>
          <a:xfrm>
            <a:off x="777240" y="4142232"/>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Copy the whole flag, CYBA{ to }, with no extra spaces. Flags from another computer never work.</a:t>
            </a:r>
            <a:endParaRPr lang="en-US" sz="1250" dirty="0"/>
          </a:p>
        </p:txBody>
      </p:sp>
      <p:sp>
        <p:nvSpPr>
          <p:cNvPr id="21" name="Shape 18"/>
          <p:cNvSpPr/>
          <p:nvPr/>
        </p:nvSpPr>
        <p:spPr>
          <a:xfrm>
            <a:off x="6190488" y="3730752"/>
            <a:ext cx="5449824" cy="1005840"/>
          </a:xfrm>
          <a:prstGeom prst="roundRect">
            <a:avLst>
              <a:gd name="adj" fmla="val 9091"/>
            </a:avLst>
          </a:prstGeom>
          <a:solidFill>
            <a:srgbClr val="F1F5FB"/>
          </a:solidFill>
          <a:ln/>
        </p:spPr>
        <p:txBody>
          <a:bodyPr/>
          <a:lstStyle/>
          <a:p>
            <a:endParaRPr lang="en-US"/>
          </a:p>
        </p:txBody>
      </p:sp>
      <p:sp>
        <p:nvSpPr>
          <p:cNvPr id="22" name="Text 19"/>
          <p:cNvSpPr txBox="1"/>
          <p:nvPr/>
        </p:nvSpPr>
        <p:spPr>
          <a:xfrm>
            <a:off x="6419088" y="3822192"/>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Page was reloaded by accident</a:t>
            </a:r>
            <a:endParaRPr lang="en-US" sz="1450" dirty="0"/>
          </a:p>
        </p:txBody>
      </p:sp>
      <p:sp>
        <p:nvSpPr>
          <p:cNvPr id="23" name="Text 20"/>
          <p:cNvSpPr txBox="1"/>
          <p:nvPr/>
        </p:nvSpPr>
        <p:spPr>
          <a:xfrm>
            <a:off x="6419088" y="4142232"/>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New computer, new flags, points and clock reset. The second run is fast.</a:t>
            </a:r>
            <a:endParaRPr lang="en-US" sz="1250" dirty="0"/>
          </a:p>
        </p:txBody>
      </p:sp>
      <p:sp>
        <p:nvSpPr>
          <p:cNvPr id="24" name="Shape 21"/>
          <p:cNvSpPr/>
          <p:nvPr/>
        </p:nvSpPr>
        <p:spPr>
          <a:xfrm>
            <a:off x="548640" y="4864608"/>
            <a:ext cx="5449824" cy="1005840"/>
          </a:xfrm>
          <a:prstGeom prst="roundRect">
            <a:avLst>
              <a:gd name="adj" fmla="val 9091"/>
            </a:avLst>
          </a:prstGeom>
          <a:solidFill>
            <a:srgbClr val="F1F5FB"/>
          </a:solidFill>
          <a:ln/>
        </p:spPr>
        <p:txBody>
          <a:bodyPr/>
          <a:lstStyle/>
          <a:p>
            <a:endParaRPr lang="en-US"/>
          </a:p>
        </p:txBody>
      </p:sp>
      <p:sp>
        <p:nvSpPr>
          <p:cNvPr id="25" name="Text 22"/>
          <p:cNvSpPr txBox="1"/>
          <p:nvPr/>
        </p:nvSpPr>
        <p:spPr>
          <a:xfrm>
            <a:off x="777240" y="4956048"/>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Screen flooded with text, or stuck</a:t>
            </a:r>
            <a:endParaRPr lang="en-US" sz="1450" dirty="0"/>
          </a:p>
        </p:txBody>
      </p:sp>
      <p:sp>
        <p:nvSpPr>
          <p:cNvPr id="26" name="Text 23"/>
          <p:cNvSpPr txBox="1"/>
          <p:nvPr/>
        </p:nvSpPr>
        <p:spPr>
          <a:xfrm>
            <a:off x="777240" y="5276088"/>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Ctrl+C stops a command. q quits less. clear wipes the screen.</a:t>
            </a:r>
            <a:endParaRPr lang="en-US" sz="1250" dirty="0"/>
          </a:p>
        </p:txBody>
      </p:sp>
      <p:sp>
        <p:nvSpPr>
          <p:cNvPr id="27" name="Shape 24"/>
          <p:cNvSpPr/>
          <p:nvPr/>
        </p:nvSpPr>
        <p:spPr>
          <a:xfrm>
            <a:off x="6190488" y="4864608"/>
            <a:ext cx="5449824" cy="1005840"/>
          </a:xfrm>
          <a:prstGeom prst="roundRect">
            <a:avLst>
              <a:gd name="adj" fmla="val 9091"/>
            </a:avLst>
          </a:prstGeom>
          <a:solidFill>
            <a:srgbClr val="F1F5FB"/>
          </a:solidFill>
          <a:ln/>
        </p:spPr>
        <p:txBody>
          <a:bodyPr/>
          <a:lstStyle/>
          <a:p>
            <a:endParaRPr lang="en-US"/>
          </a:p>
        </p:txBody>
      </p:sp>
      <p:sp>
        <p:nvSpPr>
          <p:cNvPr id="28" name="Text 25"/>
          <p:cNvSpPr txBox="1"/>
          <p:nvPr/>
        </p:nvSpPr>
        <p:spPr>
          <a:xfrm>
            <a:off x="6419088" y="4956048"/>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The clock didn't start</a:t>
            </a:r>
            <a:endParaRPr lang="en-US" sz="1450" dirty="0"/>
          </a:p>
        </p:txBody>
      </p:sp>
      <p:sp>
        <p:nvSpPr>
          <p:cNvPr id="29" name="Text 26"/>
          <p:cNvSpPr txBox="1"/>
          <p:nvPr/>
        </p:nvSpPr>
        <p:spPr>
          <a:xfrm>
            <a:off x="6419088" y="5276088"/>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It waits during the warm-ups. It starts at the first keystroke in Mission 1, or once both warm-ups are captured.</a:t>
            </a:r>
            <a:endParaRPr lang="en-US" sz="1250" dirty="0"/>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Warm-up 2: speed drills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cd ~/speed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CTF Foundation: Command line</a:t>
            </a:r>
            <a:endParaRPr lang="en-US" sz="1000" dirty="0"/>
          </a:p>
        </p:txBody>
      </p:sp>
      <p:sp>
        <p:nvSpPr>
          <p:cNvPr id="10" name="Shape 7"/>
          <p:cNvSpPr/>
          <p:nvPr/>
        </p:nvSpPr>
        <p:spPr>
          <a:xfrm>
            <a:off x="548640" y="1645920"/>
            <a:ext cx="457200" cy="457200"/>
          </a:xfrm>
          <a:prstGeom prst="ellipse">
            <a:avLst/>
          </a:prstGeom>
          <a:solidFill>
            <a:srgbClr val="17875A"/>
          </a:solidFill>
          <a:ln/>
        </p:spPr>
        <p:txBody>
          <a:bodyPr/>
          <a:lstStyle/>
          <a:p>
            <a:endParaRPr lang="en-US"/>
          </a:p>
        </p:txBody>
      </p:sp>
      <p:sp>
        <p:nvSpPr>
          <p:cNvPr id="11" name="Text 8"/>
          <p:cNvSpPr txBox="1"/>
          <p:nvPr/>
        </p:nvSpPr>
        <p:spPr>
          <a:xfrm>
            <a:off x="548640" y="16459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2" name="Text 9"/>
          <p:cNvSpPr txBox="1"/>
          <p:nvPr/>
        </p:nvSpPr>
        <p:spPr>
          <a:xfrm>
            <a:off x="1188720" y="16184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Tab: in  tab/  type  cat dri  then press Tab.</a:t>
            </a:r>
            <a:endParaRPr lang="en-US" sz="1800" dirty="0"/>
          </a:p>
        </p:txBody>
      </p:sp>
      <p:sp>
        <p:nvSpPr>
          <p:cNvPr id="13" name="Shape 10"/>
          <p:cNvSpPr/>
          <p:nvPr/>
        </p:nvSpPr>
        <p:spPr>
          <a:xfrm>
            <a:off x="548640" y="2560320"/>
            <a:ext cx="457200" cy="457200"/>
          </a:xfrm>
          <a:prstGeom prst="ellipse">
            <a:avLst/>
          </a:prstGeom>
          <a:solidFill>
            <a:srgbClr val="17875A"/>
          </a:solidFill>
          <a:ln/>
        </p:spPr>
        <p:txBody>
          <a:bodyPr/>
          <a:lstStyle/>
          <a:p>
            <a:endParaRPr lang="en-US"/>
          </a:p>
        </p:txBody>
      </p:sp>
      <p:sp>
        <p:nvSpPr>
          <p:cNvPr id="14" name="Text 11"/>
          <p:cNvSpPr txBox="1"/>
          <p:nvPr/>
        </p:nvSpPr>
        <p:spPr>
          <a:xfrm>
            <a:off x="548640" y="25603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2"/>
          <p:cNvSpPr txBox="1"/>
          <p:nvPr/>
        </p:nvSpPr>
        <p:spPr>
          <a:xfrm>
            <a:off x="1188720" y="25328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Up arrow: run  again  5 times in 15 seconds.</a:t>
            </a:r>
            <a:endParaRPr lang="en-US" sz="1800" dirty="0"/>
          </a:p>
        </p:txBody>
      </p:sp>
      <p:sp>
        <p:nvSpPr>
          <p:cNvPr id="16" name="Shape 13"/>
          <p:cNvSpPr/>
          <p:nvPr/>
        </p:nvSpPr>
        <p:spPr>
          <a:xfrm>
            <a:off x="548640" y="3474720"/>
            <a:ext cx="457200" cy="457200"/>
          </a:xfrm>
          <a:prstGeom prst="ellipse">
            <a:avLst/>
          </a:prstGeom>
          <a:solidFill>
            <a:srgbClr val="17875A"/>
          </a:solidFill>
          <a:ln/>
        </p:spPr>
        <p:txBody>
          <a:bodyPr/>
          <a:lstStyle/>
          <a:p>
            <a:endParaRPr lang="en-US"/>
          </a:p>
        </p:txBody>
      </p:sp>
      <p:sp>
        <p:nvSpPr>
          <p:cNvPr id="17" name="Text 14"/>
          <p:cNvSpPr txBox="1"/>
          <p:nvPr/>
        </p:nvSpPr>
        <p:spPr>
          <a:xfrm>
            <a:off x="548640" y="34747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1188720" y="34472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Ctrl+C: run  runaway , then stop it.</a:t>
            </a:r>
            <a:endParaRPr lang="en-US" sz="1800" dirty="0"/>
          </a:p>
        </p:txBody>
      </p:sp>
      <p:sp>
        <p:nvSpPr>
          <p:cNvPr id="19" name="Shape 16"/>
          <p:cNvSpPr/>
          <p:nvPr/>
        </p:nvSpPr>
        <p:spPr>
          <a:xfrm>
            <a:off x="548640" y="4389120"/>
            <a:ext cx="457200" cy="457200"/>
          </a:xfrm>
          <a:prstGeom prst="ellipse">
            <a:avLst/>
          </a:prstGeom>
          <a:solidFill>
            <a:srgbClr val="17875A"/>
          </a:solidFill>
          <a:ln/>
        </p:spPr>
        <p:txBody>
          <a:bodyPr/>
          <a:lstStyle/>
          <a:p>
            <a:endParaRPr lang="en-US"/>
          </a:p>
        </p:txBody>
      </p:sp>
      <p:sp>
        <p:nvSpPr>
          <p:cNvPr id="20" name="Text 17"/>
          <p:cNvSpPr txBox="1"/>
          <p:nvPr/>
        </p:nvSpPr>
        <p:spPr>
          <a:xfrm>
            <a:off x="548640" y="43891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8"/>
          <p:cNvSpPr txBox="1"/>
          <p:nvPr/>
        </p:nvSpPr>
        <p:spPr>
          <a:xfrm>
            <a:off x="1188720" y="43616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Paste the 3 pieces: CYBA{speed-...}  +50 bonus.</a:t>
            </a:r>
            <a:endParaRPr lang="en-US" sz="1800" dirty="0"/>
          </a:p>
        </p:txBody>
      </p:sp>
      <p:sp>
        <p:nvSpPr>
          <p:cNvPr id="22" name="Shape 19"/>
          <p:cNvSpPr/>
          <p:nvPr/>
        </p:nvSpPr>
        <p:spPr>
          <a:xfrm>
            <a:off x="548640" y="5440680"/>
            <a:ext cx="5120640" cy="548640"/>
          </a:xfrm>
          <a:prstGeom prst="roundRect">
            <a:avLst>
              <a:gd name="adj" fmla="val 16667"/>
            </a:avLst>
          </a:prstGeom>
          <a:solidFill>
            <a:srgbClr val="E2F5EC"/>
          </a:solidFill>
          <a:ln/>
        </p:spPr>
        <p:txBody>
          <a:bodyPr/>
          <a:lstStyle/>
          <a:p>
            <a:endParaRPr lang="en-US"/>
          </a:p>
        </p:txBody>
      </p:sp>
      <p:sp>
        <p:nvSpPr>
          <p:cNvPr id="23" name="Text 20"/>
          <p:cNvSpPr txBox="1"/>
          <p:nvPr/>
        </p:nvSpPr>
        <p:spPr>
          <a:xfrm>
            <a:off x="822960" y="5440680"/>
            <a:ext cx="4754880" cy="548640"/>
          </a:xfrm>
          <a:prstGeom prst="rect">
            <a:avLst/>
          </a:prstGeom>
          <a:noFill/>
          <a:ln/>
        </p:spPr>
        <p:txBody>
          <a:bodyPr wrap="square" lIns="0" tIns="0" rIns="0" bIns="0" rtlCol="0" anchor="ctr"/>
          <a:lstStyle/>
          <a:p>
            <a:pPr marL="0" indent="0">
              <a:buNone/>
            </a:pPr>
            <a:r>
              <a:rPr lang="en-US" sz="1600" b="1" dirty="0">
                <a:solidFill>
                  <a:srgbClr val="0F6A45"/>
                </a:solidFill>
                <a:latin typeface="Calibri" pitchFamily="34" charset="0"/>
                <a:ea typeface="Calibri" pitchFamily="34" charset="-122"/>
                <a:cs typeface="Calibri" pitchFamily="34" charset="-120"/>
              </a:rPr>
              <a:t>Untimed: the clock starts with Mission 1.</a:t>
            </a:r>
            <a:endParaRPr lang="en-US" sz="1600" dirty="0"/>
          </a:p>
        </p:txBody>
      </p:sp>
      <p:sp>
        <p:nvSpPr>
          <p:cNvPr id="24" name="Shape 21"/>
          <p:cNvSpPr/>
          <p:nvPr/>
        </p:nvSpPr>
        <p:spPr>
          <a:xfrm>
            <a:off x="6126480" y="1463040"/>
            <a:ext cx="5513832" cy="4526280"/>
          </a:xfrm>
          <a:prstGeom prst="roundRect">
            <a:avLst>
              <a:gd name="adj" fmla="val 2020"/>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327648" y="1618488"/>
            <a:ext cx="118872" cy="118872"/>
          </a:xfrm>
          <a:prstGeom prst="ellipse">
            <a:avLst/>
          </a:prstGeom>
          <a:solidFill>
            <a:srgbClr val="E5534B"/>
          </a:solidFill>
          <a:ln/>
        </p:spPr>
        <p:txBody>
          <a:bodyPr/>
          <a:lstStyle/>
          <a:p>
            <a:endParaRPr lang="en-US"/>
          </a:p>
        </p:txBody>
      </p:sp>
      <p:sp>
        <p:nvSpPr>
          <p:cNvPr id="26" name="Shape 23"/>
          <p:cNvSpPr/>
          <p:nvPr/>
        </p:nvSpPr>
        <p:spPr>
          <a:xfrm>
            <a:off x="6528816" y="1618488"/>
            <a:ext cx="118872" cy="118872"/>
          </a:xfrm>
          <a:prstGeom prst="ellipse">
            <a:avLst/>
          </a:prstGeom>
          <a:solidFill>
            <a:srgbClr val="F5A623"/>
          </a:solidFill>
          <a:ln/>
        </p:spPr>
        <p:txBody>
          <a:bodyPr/>
          <a:lstStyle/>
          <a:p>
            <a:endParaRPr lang="en-US"/>
          </a:p>
        </p:txBody>
      </p:sp>
      <p:sp>
        <p:nvSpPr>
          <p:cNvPr id="27" name="Shape 24"/>
          <p:cNvSpPr/>
          <p:nvPr/>
        </p:nvSpPr>
        <p:spPr>
          <a:xfrm>
            <a:off x="6729984" y="1618488"/>
            <a:ext cx="118872" cy="118872"/>
          </a:xfrm>
          <a:prstGeom prst="ellipse">
            <a:avLst/>
          </a:prstGeom>
          <a:solidFill>
            <a:srgbClr val="46D39A"/>
          </a:solidFill>
          <a:ln/>
        </p:spPr>
        <p:txBody>
          <a:bodyPr/>
          <a:lstStyle/>
          <a:p>
            <a:endParaRPr lang="en-US"/>
          </a:p>
        </p:txBody>
      </p:sp>
      <p:sp>
        <p:nvSpPr>
          <p:cNvPr id="28" name="Text 25"/>
          <p:cNvSpPr txBox="1"/>
          <p:nvPr/>
        </p:nvSpPr>
        <p:spPr>
          <a:xfrm>
            <a:off x="7040880" y="1536192"/>
            <a:ext cx="368503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29" name="Text 26"/>
          <p:cNvSpPr txBox="1"/>
          <p:nvPr/>
        </p:nvSpPr>
        <p:spPr>
          <a:xfrm>
            <a:off x="6400800" y="1920240"/>
            <a:ext cx="4965192" cy="393192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~/speed/tab</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dri&lt;Tab&gt;</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Piece 1: 3c9e</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again</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Run 1 of 5. Press the up arrow, then Enter.</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up arrow + Enter, four more times</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Piece 2: b730</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runaway</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Still running (1)... press Ctrl+C</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Piece 3: d88c</a:t>
            </a:r>
            <a:endParaRPr lang="en-US" sz="14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18141</Words>
  <Application>Microsoft Office PowerPoint</Application>
  <PresentationFormat>Widescreen</PresentationFormat>
  <Paragraphs>1938</Paragraphs>
  <Slides>72</Slides>
  <Notes>72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72</vt:i4>
      </vt:variant>
    </vt:vector>
  </HeadingPairs>
  <TitlesOfParts>
    <vt:vector size="77" baseType="lpstr">
      <vt:lpstr>Aptos</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CyberQuest Linux CTF: learn the command line, then compete</dc:title>
  <dc:subject>PptxGenJS Presentation</dc:subject>
  <dc:creator>CyberQuest Academy</dc:creator>
  <cp:lastModifiedBy>Pullen, Marquise Neshawntay</cp:lastModifiedBy>
  <cp:revision>3</cp:revision>
  <dcterms:created xsi:type="dcterms:W3CDTF">2026-10-09T03:12:26Z</dcterms:created>
  <dcterms:modified xsi:type="dcterms:W3CDTF">2026-10-09T04:23:47Z</dcterms:modified>
</cp:coreProperties>
</file>