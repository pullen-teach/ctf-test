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2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67" r:id="rId40"/>
    <p:sldId id="294" r:id="rId41"/>
    <p:sldId id="333" r:id="rId79"/>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9" r:id="rId65"/>
    <p:sldId id="322" r:id="rId66"/>
    <p:sldId id="323" r:id="rId67"/>
    <p:sldId id="332" r:id="rId68"/>
    <p:sldId id="326" r:id="rId69"/>
    <p:sldId id="327" r:id="rId70"/>
    <p:sldId id="329" r:id="rId71"/>
    <p:sldId id="330" r:id="rId72"/>
    <p:sldId id="331"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505249-E962-BA39-5914-8EC0EDE189CD}">
          <p14:sldIdLst>
            <p14:sldId id="256"/>
            <p14:sldId id="257"/>
            <p14:sldId id="258"/>
          </p14:sldIdLst>
        </p14:section>
        <p14:section name="Part 1 · Linux fundamentals" id="{67889A25-A20E-7C5E-A581-21BF3FAB1F45}">
          <p14:sldIdLst>
            <p14:sldId id="259"/>
            <p14:sldId id="260"/>
            <p14:sldId id="261"/>
            <p14:sldId id="262"/>
            <p14:sldId id="263"/>
            <p14:sldId id="264"/>
            <p14:sldId id="265"/>
            <p14:sldId id="266"/>
          </p14:sldIdLst>
        </p14:section>
        <p14:section name="Part 2 · Command-line essentials" id="{50FE8EB7-4810-3D0F-6780-DD16DA957759}">
          <p14:sldIdLst>
            <p14:sldId id="268"/>
            <p14:sldId id="328"/>
            <p14:sldId id="269"/>
          </p14:sldIdLst>
        </p14:section>
        <p14:section name="Big idea 1 · The file system" id="{4C34E239-4351-E7E5-613D-645901723F4F}">
          <p14:sldIdLst>
            <p14:sldId id="270"/>
            <p14:sldId id="271"/>
            <p14:sldId id="272"/>
            <p14:sldId id="273"/>
            <p14:sldId id="274"/>
            <p14:sldId id="275"/>
            <p14:sldId id="276"/>
          </p14:sldIdLst>
        </p14:section>
        <p14:section name="Big idea 2 · Learning any command" id="{470C3839-DB5C-9A17-836D-962B4468AACE}">
          <p14:sldIdLst>
            <p14:sldId id="277"/>
            <p14:sldId id="278"/>
            <p14:sldId id="279"/>
            <p14:sldId id="280"/>
            <p14:sldId id="281"/>
          </p14:sldIdLst>
        </p14:section>
        <p14:section name="Big idea 3 · Searching" id="{75586DEC-0709-FE98-FC79-434F57E5BEA9}">
          <p14:sldIdLst>
            <p14:sldId id="282"/>
            <p14:sldId id="283"/>
            <p14:sldId id="284"/>
            <p14:sldId id="285"/>
            <p14:sldId id="286"/>
          </p14:sldIdLst>
        </p14:section>
        <p14:section name="Big idea 4 · Data and secrets" id="{741F6F05-D7F6-CF91-13EF-F8B68AAE7154}">
          <p14:sldIdLst>
            <p14:sldId id="287"/>
            <p14:sldId id="288"/>
          </p14:sldIdLst>
        </p14:section>
        <p14:section name="Part 2 · Recap" id="{903DCE0E-C76A-14EF-22D3-CAA6A1D97F3B}">
          <p14:sldIdLst>
            <p14:sldId id="289"/>
            <p14:sldId id="290"/>
          </p14:sldIdLst>
        </p14:section>
        <p14:section name="Part 3 · Rules and warm-up" id="{CAD2E985-EFD5-E0C8-1528-00C8EC45F7A5}">
          <p14:sldIdLst>
            <p14:sldId id="291"/>
            <p14:sldId id="292"/>
            <p14:sldId id="293"/>
            <p14:sldId id="267"/>
            <p14:sldId id="294"/>
            <p14:sldId id="295"/>
            <p14:sldId id="296"/>
          </p14:sldIdLst>
        </p14:section>
        <p14:section name="Missions 1–2 · Together" id="{145227D7-15F1-7794-6DB6-A90EF6450281}">
          <p14:sldIdLst>
            <p14:sldId id="297"/>
            <p14:sldId id="298"/>
            <p14:sldId id="299"/>
            <p14:sldId id="300"/>
          </p14:sldIdLst>
        </p14:section>
        <p14:section name="Missions 3–10 · The race" id="{2CCE9CB8-6E63-DA04-4941-EFC3AD373B8D}">
          <p14:sldIdLst>
            <p14:sldId id="301"/>
            <p14:sldId id="302"/>
            <p14:sldId id="303"/>
            <p14:sldId id="304"/>
            <p14:sldId id="305"/>
            <p14:sldId id="306"/>
            <p14:sldId id="307"/>
            <p14:sldId id="308"/>
            <p14:sldId id="309"/>
            <p14:sldId id="310"/>
            <p14:sldId id="311"/>
            <p14:sldId id="312"/>
            <p14:sldId id="313"/>
            <p14:sldId id="314"/>
            <p14:sldId id="315"/>
            <p14:sldId id="316"/>
          </p14:sldIdLst>
        </p14:section>
        <p14:section name="Part 3 · After the race" id="{34651E02-4A5D-6FE5-5B38-6DC016C6244C}">
          <p14:sldIdLst>
            <p14:sldId id="317"/>
          </p14:sldIdLst>
        </p14:section>
        <p14:section name="Part 4 · Debrief" id="{3D4F0883-5717-781A-671C-CCF69D793714}">
          <p14:sldIdLst>
            <p14:sldId id="319"/>
            <p14:sldId id="322"/>
            <p14:sldId id="323"/>
          </p14:sldIdLst>
        </p14:section>
        <p14:section name="Mentor appendix" id="{F5671429-FC4E-BAA9-750F-2E3233C456F4}">
          <p14:sldIdLst>
            <p14:sldId id="332"/>
            <p14:sldId id="326"/>
            <p14:sldId id="327"/>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623"/>
    <a:srgbClr val="5665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3.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08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how you use a terminal at work.
Promise: 'In the next 90 minutes you will start a Linux computer inside your browser, learn about a dozen commands, then compete for 2,700 points against the clock.'
Before class: the link is written on the 'Open the CTF' slide, and you have watched it reach 'Ready' on a student Chromebook on the school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Linux 101 10 min, Part 2 learn 25 min (open the CTF at the start: see the mentor appendix), Part 3 compete 42 min, Part 4 debrief 10 min.
Part 2 teaches the commands in exactly the order the missions need them, so each mission feels like using something you just learned.
If you only have 60 minutes: demo the Try it pills instead of pausing for them, and skip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Each puzzle hides a secret piece of text called a flag. Find it, submit it, score points.
Read the flag anatomy out loud. Every flag today starts with CYBA and has its secret between curly braces.
Ask: 'Why would companies want people who are good at this?' Because finding the hidden thing, legally and with permission, is exactly what defenders are paid to do.
Stress the word permission. This CTF is built to be explored. Real systems are not yours to poke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Eight minutes of story before anyone touches a keyboard. Keep it fast and visual: the point is WHY this matters, not memorising dates.
Ask: 'Who thinks they have used Linux today?' Count hands now, and again at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small idea from a phone company lab, a free-software movement, and a student's hobby project that ended up running the world.
1969: Ken Thompson and Dennis Ritchie create Unix at Bell Labs. Its ideas (small tools, everything is a file, a shell to glue them together) are exactly what we use today.
1983: Richard Stallman launches the GNU project to build a free Unix-like system. Many everyday commands come from that tradition.
1991: Linus Torvalds, a 21-year-old student in Helsinki, posts a 'just a hobby' kernel. Combined with free tools, it becomes a complete free operating system.
2008: the first Android phone ships, built on the Linux kernel.
2017: from the November 2017 TOP500 list on, every one of the world's 500 fastest supercomputers runs Linux.
Vocabulary: Linux is the kernel, the core that talks to the hardware. A distribution (Ubuntu, Debian, Fedora, Kali) is Linux plus tools, packaged together. Linux is open source: anyone can read and improve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same tool.
Developers: most servers, cloud machines and containers run Linux, so code gets built, tested and deployed there. Git, the tool almost every developer uses, was written by Linus Torvalds in 2005 to manage the Linux kernel. In Stack Overflow's 2025 developer survey, about 28% of developers said they use Ubuntu for personal work, and that is just one Linux distribution.
Security: defenders read Linux logs, investigate Linux servers and run security tools that are made for Linux first. Kali Linux, a distribution built for penetration testing, ships with hundreds of security tools. CTF competitions, like the one later today, are usually played on Linux.
Bridge: every command you learn today works on those same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most students carry Linux every day without knowing it.
About 69% of the world's phones run Android (StatCounter, September 2026), and Android is built on the Linux kernel. iPhones are not Linux, but they come from the same Unix family tree, so many of today's commands work on a Mac too.
Chromebooks run ChromeOS, which is built on Linux: anyone on a Chromebook right now is using Linux. Many smart TVs, home Wi-Fi routers, car dashboards and the Steam Deck run Linux too. And almost every app on your phone talks to servers that run Linux.
Ask: 'Now who thinks they used Linux today?' Count hands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'terminal' and 'shell' as if they were the same thing. They are layers.
The terminal is the window: it shows text and sends your keystrokes. The shell is the program inside it that reads each command, runs it and prints the answer. Popular shells are bash, zsh and sh; today's CTF uses sh from BusyBox. The kernel is Linux itself: it runs programs and talks to the hardware.
The prompt (player@quest:~$) is the shell saying 'your turn'. CLI means command-line interface: working by typing commands. GUI means graphical user interface: windows, icons and a mouse.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types, name the parts of the screen. Point at each one on the projector as you go.
1. The terminal is the black window. It is just text: no buttons, no icons. You talk to the computer by typing, and it answers in text.
2. The prompt, player@quest:~, tells you who you are (player), which computer (quest) and which folder you are in (~, your home).
3. The prompt character $ means 'ready, your turn'. A very common beginner mistake is typing the $ as well. Don't: it is already there.
4. The command is what you type after the $. Nothing happens until you press Enter.
5. The output is the computer's answer, printed underneath.
6. Then a fresh prompt appears with a blinking cursor: your turn again.
Ask a student to come up and point at each part on the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GUI: it is easier to discover, and great for one-off visual work. Professionals use both and pick the right tool.
The CLI wins whenever the work is precise, repeated, big, remote or needs to be shared. A command is also documentation: you can paste exactly what you did into a chat or a script.
Ask: 'Which column would you want if you had to do this job a thousand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of Part 1. For work that is repeated, large or remote, the command line is unmatched by any GUI.
Speed of doing: one line replaces hundreds of clicks, and a script repeats it forever. Speed of the machine: a shell needs a few megabytes of memory, while a graphical desktop needs far more, so a command line runs fine on tiny devices and busy servers. Speed of reach: text travels over even a weak connection, so one person can manage thousands of servers.
The click times are estimates, about three seconds per rename. The point is the shape, not the exact numbers.
Bridge to Part 2: 'In the competition you will search a 12,000-line log. Let's open the CTF and learn the command-line essentials.'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Tell the class: 'Part 2 is four big ideas. Each one is a set of tools for the competition.'
Demo every command live on the projector. Then give the room 30 seconds to type the green Try it command themselves.
None of the Try it commands touch the mission folders, so nothing gets spoiled.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works in a loop, and once students see the loop they stop being nervous of it.
Prompt, type, Enter, output, prompt again. Walk the four cards, then show the two terminals underneath.
Left: some commands print nothing at all. cd moves you and stays silent; the new prompt shows the new folder. Silence usually means it worked.
Right: errors are output too. LS fails because Linux is case-sensitive. ls /nope fails because the folder does not exist. The message tells you what went wrong, so read it out 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Part 2. Every command today belongs to one of four ideas, and the ideas build on each other.
1. The file system: everything is a file or a folder. You point at them with paths, then move around or look inside.
2. Learning any command: every command has the same shape, and every command can explain itself.
3. Searching: when there is too much to look at by hand, let the computer search by name or inside files.
4. Data and secrets: some text only looks secret.
Each idea is a set of tools the class will need in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file system. Say the sentence on the slide out loud and have the class repeat the three verbs: point, move, look.
Everything that follows in this concept is one of those three things: a path points at something; pwd and cd move you; ls and cat look.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things live on a Linux computer, and telling them apart is the first skill.
A file holds data: text, a picture, a program. You look inside a file with cat.
A folder (Linux says 'directory') holds files and other folders. You look inside a folder with ls, and you can step into it with cd.
Three ways to tell them apart: ls shows folders in blue; ls -l starts folder lines with d and file lines with -; cd into a file says 'Not a directory'.
TRY IT: ls -l ~ . Every mission line starts with d, because each mission is a folder.
COMES BACK IN: Mission 1 is a trail of folders, and its signposts are file 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is the address of a file or folder: folder names joined by slashes. Commands need paths to know what to act on.
Absolute paths start with / (the root) and work from anywhere. Relative paths start from wherever you are now, so they are shorter but depend on your location.
Four special names: / is the top of the tree, ~ is your home, . is right here, .. is one level up.
All three commands at the bottom go to the same place when you start at home. Ask the class: which one works from anywhere?
TRY IT: ls /home/player and ls ~ show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live in folders (Linux calls them directories), and folders nest like a tree. The top is / , called the root.
Five moves: pwd prints where you are, ls lists what is here, cd NAME goes into a folder, cd .. goes back up one level, and cd ~ (or just cd) takes you home. cd can also take a path: cd a/b goes two levels down at once.
In ls, folders show in blue. cd only works on folders; cd into a file says 'Not a directory'.
TRY IT: cd /etc, pwd, cd .., pwd, cd ~. Have students say out loud where they expect to be before pressing Enter.
COMES BACK IN: Mission 1, Make your move, is all about these five.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looks inside a folder. On its own it looks where you are; give it a path and it looks there without moving you.
Hidden files: any name that starts with a dot is skipped by plain ls. ls -a shows all of them, including . (here) and .. (up). Hiding is a convention, not security. Your home folder has one: .profile.
ls -l shows details: file or folder, permissions, owner, size.
TRY IT: ls -a ~ shows the hidden .profile.
COMES BACK IN: Mission 1 (reading signposts with ls) and Mission 3, Now you see me (ls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prints a whole file. That is perfect for short files and terrible for huge ones, so there are tools for looking at part of a file, or just measuring it.
/etc/passwd lists the accounts on this computer. Here there are only two: root, the all-powerful administrator, and player, you.
less opens a file you can scroll: arrow keys or space to move, q to quit. Say 'q to quit' twice.
COMES BACK IN: cat is in every mission from Mission 2 on; head and wc -l help in Mission 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carries permissions: who may read it, change it, or run it. ls -l shows them as a ten-letter string; chmod changes them, but only on files you own.
Read the string in threes after the first letter: owner, group, everyone. r read, w write, x execute (run). A dash means 'no'.
./name runs a program or script in the current folder. Without the x permission, Linux answers 'Permission denied'.
Demo on the right with a two-line script. Do NOT use mission 7's file: that is the puzzle.
COMES BACK IN: Mission 7, Permission denied, and Endgame.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learning any command. Nobody memorises every command. Professionals know the shape of a command and how to make it explain itself.
Point back to Concept 1: the arguments of most commands are paths.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Everything before the $ is the prompt. Everything after it is what you type.
Most commands follow the same shape: command, then options (usually starting with a dash), then arguments (what to act on).
TRY IT: ls -l /home lists /home in the long format. Nothing happens until you press Enter, and Linux is case-sensitive: LS does not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skill of the whole session. Almost every command explains itself if you type its name, a space, and --help.
Read the help in two parts. The Usage line shows the shape: options in square brackets are optional, FILE... means one or more files. Then the option list: each option and what it does.
We use wc here on purpose; Mission 2 asks students to do the same with cat, so don't show cat --help yet.
On a full Linux system, man COMMAND opens the longer manual (q quits). The page's small Linux has --help only.
COMES BACK IN: Mission 2 needs it, and the first hint for most missions says 'read the --help'. --help is free; hints are not.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is the quick answer. The manual is the full one, and every full Linux system and every Mac has it.
man grep opens the manual page for grep: what it does, every option, and examples near the bottom. Move with the arrow keys or space, search with / followed by a word, and press q to quit. Say 'q to quit' twice.
Finding a command you have never heard of: apropos rename (the same as man -k rename) searches every manual page's one-line description, so you can search by the job instead of the name. whatis gives one line about a command. tldr (a free extra tool) and explainshell.com show short, real examples.
Our CTF computer is deliberately tiny: it has no manual pages, so man is not there. Inside the CTF, use --help, and list every command with ls /bin (or busybox --list in real-Linux mode).
Takeaway: nobody memorises commands. Professionals know how to find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keys that make everyone faster, and that matter in a timed competition.
Tab: type the first letters of a name and press Tab; the shell finishes it. If several names match, press Tab twice to see the choices. It also prevents typos in long paths.
Up arrow brings back the last command so you can fix or extend it. Ctrl+C stops whatever is running. clear wipes the screen.
TRY IT: type cd miss and press Tab twice.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searching. When a folder tree or a file is too big to read by hand, you let the computer search.
find searches the TREE by name. grep searches INSIDE files by content. Pipes let you chain small tools into a bigger question.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folders one by one does not scale. find walks every sub-folder for you.
Read the command as a sentence: find, starting in /etc, files whose name matches this pattern. The star means 'anything'. Keep the quotes around a pattern that has a star.
TRY IT: find /etc -name "p*" finds passwd and profile.
COMES BACK IN: Mission 4, Needle in the tree.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looks at file names. grep looks inside files and prints only the lines that contain your word.
This is the everyday tool of a security analyst: logs are huge, and the one line that matters is in there somewhere.
TRY IT: grep player /etc/passwd prints the one line about your account.
COMES BACK IN: Mission 5, Search party.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character sends the output of one command into the next. Each tool does one small job; chained together they answer a real question.
Here: how many commands on this computer have 'sh' in their name? ls /bin lists every command. grep keeps the names containing sh. wc -l counts them.
Build it up live, one stage at a time, using the Up arrow to bring the last command back. The pipe key is Shift plus backslash.
COMES BACK IN: Mission 5 (head and wc -l to size up the log), Missions 6, 9 and 10,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small tools that shine in a pipe.
sort puts lines in order, so identical lines end up next to each other. uniq squashes neighbouring repeats: -c counts them, -u keeps only the lines with no twin. Because uniq only looks at neighbours, it almost always comes after sort.
cut slices one field out of every line: -d says what separates the fields, -f which field to keep. Try it on /etc/passwd, where fields are separated by colons.
COMES BACK IN: Mission 6, Odd one out (sort | uniq), Endgame (cut)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data and secrets. It powers Missions 8, 9 and the Endgame.
Some text only looks secret. Knowing the difference between encoding and encryption is a core security idea.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idea worth one slide. Base64 turns any data into plain letters and digits so it can travel through systems that only handle text. It looks scrambled, but there is no key: anyone can reverse it.
Encryption needs a secret key to undo. Attackers often hide commands in base64 hoping nobody looks; analysts decode it in one command.
Don't show the decode option: finding it with base64 --help is Mission 8. Ask 'how could we find out which option decodes?' and leave it open.
How to recognise base64: a mix of upper case, lower case and digits, sometimes ending in one or two = signs.
COMES BACK IN: Mission 8, Decoder ring; Mission 9, Layer cake; and the Endgame.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being stuck. Professionals look things up all day.
The page has a hint for every mission: hint 1 up to hint 10, or the Need a hint? box in the sidebar. Hints come in tiers: the first points to a command's --help, later ones give more direction (Easy missions have one hint, the Endgame has four). Each hint costs 5% of that mission's points, charged once, and hint N always shows the price before you buy with hint N --show. Try --help first: it is free.
An error message is information. 'Permission denied' means you found something protected. 'No such file' usually means a typo or the wrong folder: run pwd and ls.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before the competition, grouped by the four big ideas. Do not re-teach: point and name.
Mentors can flip back to this slide at any time during Part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rules of the competition crystal clear before the clock matters.
Points come from difficulty, on CyberQuest's scale: Easy 100, Medium 200, Hard 400, Very Hard 800. Today's ten missions are worth 2,700 in total, plus 50 bonus points for the optional warm-up. Mission 10, the Endgame, is the one Very Hard.
The clock counts UP. It waits during the warm-up, starts at the first keystroke of Mission 1, and stops when you capture the last flag. Nobody gets cut off; the clock just records how long you took.
Ranking: most points wins; on a tie, the faster time wins. Hints cost 5% of the mission's points each (an Easy hint is 5 points, an Endgame hint 40), charged once. Wrong flags cost nothing.
A wrong flag costs nothing. Encourage trying.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five-step routine is the same for every mission. Drill it now so that the only new thing in each round is the puzzle itself.
Say it together as a class: Read. Go. Hunt. Copy. Submit.
Step 4 trips people up: select the flag in the terminal with the mouse and copy it, including CYBA and both curly braces. On a Chromebook, Ctrl+Shift+V pastes into the terminal.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two flags captured, mission 3 open.
Walk the eight parts. The progress track lights one coloured bar per flag. Points, the clock and flags captured sit at the top of the sidebar. The clock waits during the warm-up, starts with Mission 1, counts up and stops at the last flag. The stepper shows a green check for each captured mission. Each mission shows its difficulty and points. Run buttons type the starting commands for you. Next unlocks once the flag is captured.
The most common problem in class is typing before clicking inside the terminal. Say it twice.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It practises the capture routine with zero pressure.
orientation.txt in the home folder explains the game: how to read a mission's instructions (cd into the folder, cat README.txt), what a flag looks like, how to submit it, what the replies mean, and where hints live. Its last line is the warm-up flag.
It is optional and untimed: worth 50 bonus points, and the sidebar has a Skip warm-up button. The clock only starts once a team moves on to Mission 1.
Copying the flag is the real lesson: highlight it with the mouse, paste with Ctrl+V or a right-click, and include CYBA{ and the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so nobody is left behind.
Missions 1 and 2 are guided ('We do'): the class tells the mentor what to type and everyone captures together. The clock is running, but everyone moves at the same pace.
Missions 3 to 10 are a race ('You do'): teams solve on their own. Show the brief slide, ask the questions, then let them go. Reveal each walkthrough once most teams have the flag, or when the room is stuck.
Mentors walk the room during the race: point at hints, ask questions, don't type for students.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Leave it up for a moment and let students read the names.
Notice the order: the commands appear in the same order we learned them in Part 2.
Suggested pacing: the warm-up together in 3 minutes, missions 1 and 2 together in 12, then the race for missions 3 to 10. Most teams reach Mission 8 or 9 in 35 minutes; the Endgame is for the fastest. Stop the race on time: points and times are already recorded.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Make your move   [Easy, 100 points, We do, about 6 minutes]
Show this slide first. Read the brief out loud, then ask the three questions BEFORE anyone types. Take one answer per question; do not confirm or correct yet.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Make your move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Let the cat out of the bag   [Easy, 100 points, We do, about 6 minutes]
Show this slide first. Read the brief out loud, then ask the three questions BEFORE anyone types. Take one answer per question; do not confirm or correct yet.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Let the cat out of the bag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Now you see me   [Easy, 100 points, You do, about 4 minutes]
Show this slide first. Read the brief out loud, then ask the three questions BEFORE anyone types. Take one answer per question; do not confirm or correct yet.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Now you see 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Needle in the tree   [Medium, 200 points, You do, about 6 minutes]
Show this slide first. Read the brief out loud, then ask the three questions BEFORE anyone types. Take one answer per question; do not confirm or correct yet.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Needle in the tree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Search party   [Medium, 200 points, You do, about 6 minutes]
Show this slide first. Read the brief out loud, then ask the three questions BEFORE anyone types. Take one answer per question; do not confirm or correct yet.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Search party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Odd one out   [Medium, 200 points, You do, about 5 minutes]
Show this slide first. Read the brief out loud, then ask the three questions BEFORE anyone types. Take one answer per question; do not confirm or correct yet.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Odd one out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Permission denied   [Medium, 200 points, You do, about 5 minutes]
Show this slide first. Read the brief out loud, then ask the three questions BEFORE anyone types. Take one answer per question; do not confirm or correct yet.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Permission denied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Decoder ring   [Hard, 400 points, You do, about 5 minutes]
Show this slide first. Read the brief out loud, then ask the three questions BEFORE anyone types. Take one answer per question; do not confirm or correct yet.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Decoder ring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Layer cake   [Hard, 400 points, You do, about 5 minutes]
Show this slide first. Read the brief out loud, then ask the three questions BEFORE anyone types. Take one answer per question; do not confirm or correct yet.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Layer cake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Endgame   [Very Hard, 800 points, You do, about 10 minutes]
Show this slide first. Read the brief out loud, then ask the three questions BEFORE anyone types. Take one answer per question; do not confirm or correct yet.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Endgame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the answer is a number or a name, and teams compare out loud. Perfect for teams that finish the race early.
Answers:
Count the haystack: find archive -type f | wc -l  gives 81 files; -type d gives 26 folders. Same on every computer.
Who failed most?: grep LOGIN_FAIL access.log | cut -d' ' -f2 | sort | uniq -c | sort -n | tail -3. Different on every computer; ties happen.
Head count: cut -d' ' -f2 access.log | sort -u | wc -l gives 11 (ten users plus the intruder).
Swap secrets: echo meet at the gym | base64, write it on paper, swap with a neighbour, decode with echo ... | base64 -d.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tool the class used today.
Ask students to count the stamps they earned. Anyone with ten or more did a full beginner Linux lab in one session.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using these commands at work.</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9585-0458-C5F3-AB5A-E7060340F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7871-AF8A-427A-4BEF-F1B0B0779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0C716-2065-26F6-DF26-420EB16F3390}"/>
              </a:ext>
            </a:extLst>
          </p:cNvPr>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a:extLst>
              <a:ext uri="{FF2B5EF4-FFF2-40B4-BE49-F238E27FC236}">
                <a16:creationId xmlns:a16="http://schemas.microsoft.com/office/drawing/2014/main" id="{6CFABCE4-4202-4FBF-2D9C-06C3093F76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11738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Linux CTF is our own page, hosted free on GitLab Pages. When it loads, it starts a small but real Linux computer inside the tab.
How: a program called v86 pretends to be a PC, using a browser feature called WebAssembly. That pretend PC boots a real Linux kernel, and a toolkit called BusyBox provides the commands.
Some school and work browsers switch WebAssembly off. Then the page starts lite mode instead: a simulated shell with the same ten missions and the same commands. Students barely notice the difference.
Everything runs on the student's own device. Every page load hides ten new random flags (plus the warm-up), which is why reloading resets your progress.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(Command-line essentials), so every device is booted for the Try it pills. Give students two or three minutes. Mentors walk the room.
WRITE YOUR GITLAB PAGES ADDRESS IN THE BOX before presenting (click the dashed box and type). A QR code or short link on the board also helps.
Boot takes about 10 seconds on a laptop; Chromebooks can take longer. The status in the top right corner says 'Ready in N s' when it is done.
Most important rule: do not reload the page. A reload builds a brand-new computer with new flags, and resets the clock and points.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click in the terminal and type three commands: whoami, pwd and ls. Show it on the projector at the same time.
This is practice: the competition clock does not start until Mission 1, so nothing here counts against anyone.
whoami answers 'player'. pwd shows the home folder. ls shows README.txt, orientation.txt and the ten mission folders.
Do not move on until every student has a prompt and sees the ten missions. Thumbs up when you do.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are random on every page load and the CTF keeps only fingerprints, so there is no list of flags: play each mission yourself before class.
Fixed side-quest answers: Count the haystack is 81 files and 26 folders; Head count is 11.</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outside the page: the school web filter, or the GitLab Pages visibility setting. Test on a student device, on the school network, beforehand.
Plan B if most devices can't load it: drive the CTF on the projector from a device that works, and run the whole competition as 'We do', with teams racing to call out the next command on paper.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Warm-up 2 builds speed. Optional, untimed, worth 50 bonus points.</a:t>
            </a:r>
          </a:p>
          <a:p/>
          <a:p>
            <a:r>
              <a:t>Four drills, one skill each. Tab: in ~/speed/tab, cat dri then Tab completes the long name. Up arrow: run again five times within 15 seconds; the up arrow brings the command back. Ctrl+C: run runaway, which prints until you press Ctrl+C. Copy and paste the Linux way: in ~/speed/paste, cat code.txt, then HIGHLIGHT the code with the mouse or trackpad (that copies it) and MIDDLE-CLICK to paste it after 'pasteit ' (right-click also pastes). No Ctrl+C/Ctrl+V: selecting is copying, the middle button pastes.</a:t>
            </a:r>
          </a:p>
          <a:p/>
          <a:p>
            <a:r>
              <a:t>Each drill prints a 4-character piece. Assemble them in order into CYBA{speed-...} and submit, pasting each piece the same way. Pieces here are examples; hint 11 is free.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www.explainshell.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hyperlink" Target="https://ctf-test-584641.gitlab.io/"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marL="0" indent="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marL="0" indent="0">
              <a:buNone/>
            </a:pPr>
            <a:r>
              <a:rPr lang="en-US" sz="2800" dirty="0">
                <a:solidFill>
                  <a:srgbClr val="B8C4D9"/>
                </a:solidFill>
                <a:latin typeface="Calibri" pitchFamily="34" charset="0"/>
                <a:ea typeface="Calibri" pitchFamily="34" charset="-122"/>
                <a:cs typeface="Calibri" pitchFamily="34" charset="-120"/>
              </a:rPr>
              <a:t>Linux CTF: learn the command line,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txBody>
          <a:bodyPr/>
          <a:lstStyle/>
          <a:p>
            <a:endParaRPr lang="en-US"/>
          </a:p>
        </p:txBody>
      </p:sp>
      <p:sp>
        <p:nvSpPr>
          <p:cNvPr id="8" name="Text 5"/>
          <p:cNvSpPr txBox="1"/>
          <p:nvPr/>
        </p:nvSpPr>
        <p:spPr>
          <a:xfrm>
            <a:off x="548640" y="3794760"/>
            <a:ext cx="2743200" cy="347472"/>
          </a:xfrm>
          <a:prstGeom prst="rect">
            <a:avLst/>
          </a:prstGeom>
          <a:noFill/>
          <a:ln/>
        </p:spPr>
        <p:txBody>
          <a:bodyPr wrap="square" lIns="0" tIns="0" rIns="0" bIns="0" rtlCol="0" anchor="ctr"/>
          <a:lstStyle/>
          <a:p>
            <a:pPr marL="0" indent="0" algn="ctr">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CTF Foundation: Command line</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txBody>
          <a:bodyPr/>
          <a:lstStyle/>
          <a:p>
            <a:endParaRPr lang="en-US"/>
          </a:p>
        </p:txBody>
      </p:sp>
      <p:sp>
        <p:nvSpPr>
          <p:cNvPr id="11" name="Text 8"/>
          <p:cNvSpPr txBox="1"/>
          <p:nvPr/>
        </p:nvSpPr>
        <p:spPr>
          <a:xfrm>
            <a:off x="54864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txBody>
          <a:bodyPr/>
          <a:lstStyle/>
          <a:p>
            <a:endParaRPr lang="en-US"/>
          </a:p>
        </p:txBody>
      </p:sp>
      <p:sp>
        <p:nvSpPr>
          <p:cNvPr id="13" name="Text 10"/>
          <p:cNvSpPr txBox="1"/>
          <p:nvPr/>
        </p:nvSpPr>
        <p:spPr>
          <a:xfrm>
            <a:off x="1104595"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txBody>
          <a:bodyPr/>
          <a:lstStyle/>
          <a:p>
            <a:endParaRPr lang="en-US"/>
          </a:p>
        </p:txBody>
      </p:sp>
      <p:sp>
        <p:nvSpPr>
          <p:cNvPr id="15" name="Text 12"/>
          <p:cNvSpPr txBox="1"/>
          <p:nvPr/>
        </p:nvSpPr>
        <p:spPr>
          <a:xfrm>
            <a:off x="166055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txBody>
          <a:bodyPr/>
          <a:lstStyle/>
          <a:p>
            <a:endParaRPr lang="en-US"/>
          </a:p>
        </p:txBody>
      </p:sp>
      <p:sp>
        <p:nvSpPr>
          <p:cNvPr id="17" name="Text 14"/>
          <p:cNvSpPr txBox="1"/>
          <p:nvPr/>
        </p:nvSpPr>
        <p:spPr>
          <a:xfrm>
            <a:off x="221650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txBody>
          <a:bodyPr/>
          <a:lstStyle/>
          <a:p>
            <a:endParaRPr lang="en-US"/>
          </a:p>
        </p:txBody>
      </p:sp>
      <p:sp>
        <p:nvSpPr>
          <p:cNvPr id="19" name="Text 16"/>
          <p:cNvSpPr txBox="1"/>
          <p:nvPr/>
        </p:nvSpPr>
        <p:spPr>
          <a:xfrm>
            <a:off x="277246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txBody>
          <a:bodyPr/>
          <a:lstStyle/>
          <a:p>
            <a:endParaRPr lang="en-US"/>
          </a:p>
        </p:txBody>
      </p:sp>
      <p:sp>
        <p:nvSpPr>
          <p:cNvPr id="21" name="Text 18"/>
          <p:cNvSpPr txBox="1"/>
          <p:nvPr/>
        </p:nvSpPr>
        <p:spPr>
          <a:xfrm>
            <a:off x="332841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txBody>
          <a:bodyPr/>
          <a:lstStyle/>
          <a:p>
            <a:endParaRPr lang="en-US"/>
          </a:p>
        </p:txBody>
      </p:sp>
      <p:sp>
        <p:nvSpPr>
          <p:cNvPr id="23" name="Text 20"/>
          <p:cNvSpPr txBox="1"/>
          <p:nvPr/>
        </p:nvSpPr>
        <p:spPr>
          <a:xfrm>
            <a:off x="388437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txBody>
          <a:bodyPr/>
          <a:lstStyle/>
          <a:p>
            <a:endParaRPr lang="en-US"/>
          </a:p>
        </p:txBody>
      </p:sp>
      <p:sp>
        <p:nvSpPr>
          <p:cNvPr id="25" name="Text 22"/>
          <p:cNvSpPr txBox="1"/>
          <p:nvPr/>
        </p:nvSpPr>
        <p:spPr>
          <a:xfrm>
            <a:off x="444032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txBody>
          <a:bodyPr/>
          <a:lstStyle/>
          <a:p>
            <a:endParaRPr lang="en-US"/>
          </a:p>
        </p:txBody>
      </p:sp>
      <p:sp>
        <p:nvSpPr>
          <p:cNvPr id="27" name="Text 24"/>
          <p:cNvSpPr txBox="1"/>
          <p:nvPr/>
        </p:nvSpPr>
        <p:spPr>
          <a:xfrm>
            <a:off x="4996282"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txBody>
          <a:bodyPr/>
          <a:lstStyle/>
          <a:p>
            <a:endParaRPr lang="en-US"/>
          </a:p>
        </p:txBody>
      </p:sp>
      <p:sp>
        <p:nvSpPr>
          <p:cNvPr id="29" name="Text 26"/>
          <p:cNvSpPr txBox="1"/>
          <p:nvPr/>
        </p:nvSpPr>
        <p:spPr>
          <a:xfrm>
            <a:off x="5552237"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txBody>
          <a:bodyPr/>
          <a:lstStyle/>
          <a:p>
            <a:endParaRPr lang="en-US"/>
          </a:p>
        </p:txBody>
      </p:sp>
      <p:sp>
        <p:nvSpPr>
          <p:cNvPr id="31" name="Shape 28"/>
          <p:cNvSpPr/>
          <p:nvPr/>
        </p:nvSpPr>
        <p:spPr>
          <a:xfrm>
            <a:off x="6903720" y="1280160"/>
            <a:ext cx="128016" cy="128016"/>
          </a:xfrm>
          <a:prstGeom prst="ellipse">
            <a:avLst/>
          </a:prstGeom>
          <a:solidFill>
            <a:srgbClr val="E5534B"/>
          </a:solidFill>
          <a:ln/>
        </p:spPr>
        <p:txBody>
          <a:bodyPr/>
          <a:lstStyle/>
          <a:p>
            <a:endParaRPr lang="en-US"/>
          </a:p>
        </p:txBody>
      </p:sp>
      <p:sp>
        <p:nvSpPr>
          <p:cNvPr id="32" name="Shape 29"/>
          <p:cNvSpPr/>
          <p:nvPr/>
        </p:nvSpPr>
        <p:spPr>
          <a:xfrm>
            <a:off x="7123176" y="1280160"/>
            <a:ext cx="128016" cy="128016"/>
          </a:xfrm>
          <a:prstGeom prst="ellipse">
            <a:avLst/>
          </a:prstGeom>
          <a:solidFill>
            <a:srgbClr val="F5A623"/>
          </a:solidFill>
          <a:ln/>
        </p:spPr>
        <p:txBody>
          <a:bodyPr/>
          <a:lstStyle/>
          <a:p>
            <a:endParaRPr lang="en-US"/>
          </a:p>
        </p:txBody>
      </p:sp>
      <p:sp>
        <p:nvSpPr>
          <p:cNvPr id="33" name="Shape 30"/>
          <p:cNvSpPr/>
          <p:nvPr/>
        </p:nvSpPr>
        <p:spPr>
          <a:xfrm>
            <a:off x="7342632" y="1280160"/>
            <a:ext cx="128016" cy="128016"/>
          </a:xfrm>
          <a:prstGeom prst="ellipse">
            <a:avLst/>
          </a:prstGeom>
          <a:solidFill>
            <a:srgbClr val="46D39A"/>
          </a:solidFill>
          <a:ln/>
        </p:spPr>
        <p:txBody>
          <a:bodyPr/>
          <a:lstStyle/>
          <a:p>
            <a:endParaRPr lang="en-US"/>
          </a:p>
        </p:txBody>
      </p:sp>
      <p:sp>
        <p:nvSpPr>
          <p:cNvPr id="34" name="Text 31"/>
          <p:cNvSpPr txBox="1"/>
          <p:nvPr/>
        </p:nvSpPr>
        <p:spPr>
          <a:xfrm>
            <a:off x="6995160" y="1691640"/>
            <a:ext cx="4389120" cy="3749040"/>
          </a:xfrm>
          <a:prstGeom prst="rect">
            <a:avLst/>
          </a:prstGeom>
          <a:noFill/>
          <a:ln/>
        </p:spPr>
        <p:txBody>
          <a:bodyPr wrap="square" lIns="0" tIns="0" rIns="0" bIns="0" rtlCol="0" anchor="t"/>
          <a:lstStyle/>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whoami</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player</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ls skills/</a:t>
            </a:r>
            <a:endParaRPr lang="en-US" sz="1800" dirty="0"/>
          </a:p>
          <a:p>
            <a:pPr marL="0" indent="0">
              <a:spcAft>
                <a:spcPts val="300"/>
              </a:spcAft>
              <a:buNone/>
            </a:pPr>
            <a:r>
              <a:rPr lang="en-US" sz="1800" dirty="0">
                <a:solidFill>
                  <a:srgbClr val="7F8FAD"/>
                </a:solidFill>
                <a:latin typeface="Courier New" pitchFamily="34" charset="0"/>
                <a:ea typeface="Courier New" pitchFamily="34" charset="-122"/>
                <a:cs typeface="Courier New" pitchFamily="34" charset="-120"/>
              </a:rPr>
              <a:t>(empty, for now)</a:t>
            </a:r>
            <a:endParaRPr lang="en-US" sz="1800" dirty="0"/>
          </a:p>
          <a:p>
            <a:pPr marL="0" indent="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./start-ctf</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10 flags hidden, plus 2 warm-ups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clock starts when you type</a:t>
            </a:r>
            <a:endParaRPr lang="en-US" sz="1800" dirty="0"/>
          </a:p>
          <a:p>
            <a:pPr marL="0" indent="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txBody>
          <a:bodyPr/>
          <a:lstStyle/>
          <a:p>
            <a:endParaRPr lang="en-US"/>
          </a:p>
        </p:txBody>
      </p:sp>
      <p:sp>
        <p:nvSpPr>
          <p:cNvPr id="7" name="Text 4"/>
          <p:cNvSpPr txBox="1"/>
          <p:nvPr/>
        </p:nvSpPr>
        <p:spPr>
          <a:xfrm>
            <a:off x="777240" y="1737360"/>
            <a:ext cx="1737360" cy="1051560"/>
          </a:xfrm>
          <a:prstGeom prst="rect">
            <a:avLst/>
          </a:prstGeom>
          <a:noFill/>
          <a:ln/>
        </p:spPr>
        <p:txBody>
          <a:bodyPr wrap="square" lIns="0" tIns="0" rIns="0" bIns="0" rtlCol="0" anchor="ctr"/>
          <a:lstStyle/>
          <a:p>
            <a:pPr marL="0" indent="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Linux 101</a:t>
            </a:r>
            <a:endParaRPr lang="en-US" sz="2100" dirty="0"/>
          </a:p>
        </p:txBody>
      </p:sp>
      <p:sp>
        <p:nvSpPr>
          <p:cNvPr id="10" name="Text 7"/>
          <p:cNvSpPr txBox="1"/>
          <p:nvPr/>
        </p:nvSpPr>
        <p:spPr>
          <a:xfrm>
            <a:off x="777240"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Where Linux came from, why it is everywhere, and why we type.</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txBody>
          <a:bodyPr/>
          <a:lstStyle/>
          <a:p>
            <a:endParaRPr lang="en-US"/>
          </a:p>
        </p:txBody>
      </p:sp>
      <p:sp>
        <p:nvSpPr>
          <p:cNvPr id="12" name="Text 9"/>
          <p:cNvSpPr txBox="1"/>
          <p:nvPr/>
        </p:nvSpPr>
        <p:spPr>
          <a:xfrm>
            <a:off x="3584448" y="1737360"/>
            <a:ext cx="1737360" cy="1051560"/>
          </a:xfrm>
          <a:prstGeom prst="rect">
            <a:avLst/>
          </a:prstGeom>
          <a:noFill/>
          <a:ln/>
        </p:spPr>
        <p:txBody>
          <a:bodyPr wrap="square" lIns="0" tIns="0" rIns="0" bIns="0" rtlCol="0" anchor="ctr"/>
          <a:lstStyle/>
          <a:p>
            <a:pPr marL="0" indent="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a:t>
            </a:r>
            <a:endParaRPr lang="en-US" sz="2100" dirty="0"/>
          </a:p>
        </p:txBody>
      </p:sp>
      <p:sp>
        <p:nvSpPr>
          <p:cNvPr id="15" name="Text 12"/>
          <p:cNvSpPr txBox="1"/>
          <p:nvPr/>
        </p:nvSpPr>
        <p:spPr>
          <a:xfrm>
            <a:off x="3584448"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Open the CTF, then a dozen commands in the order the missions use them.</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txBody>
          <a:bodyPr/>
          <a:lstStyle/>
          <a:p>
            <a:endParaRPr lang="en-US"/>
          </a:p>
        </p:txBody>
      </p:sp>
      <p:sp>
        <p:nvSpPr>
          <p:cNvPr id="17" name="Text 14"/>
          <p:cNvSpPr txBox="1"/>
          <p:nvPr/>
        </p:nvSpPr>
        <p:spPr>
          <a:xfrm>
            <a:off x="6391656" y="1737360"/>
            <a:ext cx="1737360" cy="1051560"/>
          </a:xfrm>
          <a:prstGeom prst="rect">
            <a:avLst/>
          </a:prstGeom>
          <a:noFill/>
          <a:ln/>
        </p:spPr>
        <p:txBody>
          <a:bodyPr wrap="square" lIns="0" tIns="0" rIns="0" bIns="0" rtlCol="0" anchor="ctr"/>
          <a:lstStyle/>
          <a:p>
            <a:pPr marL="0" indent="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Ten flags,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txBody>
          <a:bodyPr/>
          <a:lstStyle/>
          <a:p>
            <a:endParaRPr lang="en-US"/>
          </a:p>
        </p:txBody>
      </p:sp>
      <p:sp>
        <p:nvSpPr>
          <p:cNvPr id="22" name="Text 19"/>
          <p:cNvSpPr txBox="1"/>
          <p:nvPr/>
        </p:nvSpPr>
        <p:spPr>
          <a:xfrm>
            <a:off x="9198864" y="1737360"/>
            <a:ext cx="1737360" cy="1051560"/>
          </a:xfrm>
          <a:prstGeom prst="rect">
            <a:avLst/>
          </a:prstGeom>
          <a:noFill/>
          <a:ln/>
        </p:spPr>
        <p:txBody>
          <a:bodyPr wrap="square" lIns="0" tIns="0" rIns="0" bIns="0" rtlCol="0" anchor="ctr"/>
          <a:lstStyle/>
          <a:p>
            <a:pPr marL="0" indent="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How it stays fair,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txBody>
          <a:bodyPr/>
          <a:lstStyle/>
          <a:p>
            <a:endParaRPr lang="en-US"/>
          </a:p>
        </p:txBody>
      </p:sp>
      <p:sp>
        <p:nvSpPr>
          <p:cNvPr id="27" name="Text 24"/>
          <p:cNvSpPr txBox="1"/>
          <p:nvPr/>
        </p:nvSpPr>
        <p:spPr>
          <a:xfrm>
            <a:off x="822960" y="5349240"/>
            <a:ext cx="10545775" cy="6858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The deal: </a:t>
            </a:r>
            <a:r>
              <a:rPr lang="en-US" sz="1700" dirty="0">
                <a:solidFill>
                  <a:srgbClr val="12213A"/>
                </a:solidFill>
                <a:latin typeface="Calibri" pitchFamily="34" charset="0"/>
                <a:ea typeface="Calibri" pitchFamily="34" charset="-122"/>
                <a:cs typeface="Calibri" pitchFamily="34" charset="-120"/>
              </a:rPr>
              <a:t>nobody is expected to know any of this already. Typing the wrong thing is how everyone learns it.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1"/>
                                        </p:tgtEl>
                                        <p:attrNameLst>
                                          <p:attrName>style.opacity</p:attrName>
                                        </p:attrNameLst>
                                      </p:cBhvr>
                                      <p:to>
                                        <p:strVal val="0.25"/>
                                      </p:to>
                                    </p:set>
                                    <p:animEffect filter="image" prLst="opacity: 0.25">
                                      <p:cBhvr rctx="IE">
                                        <p:cTn id="7" dur="1" fill="hold"/>
                                        <p:tgtEl>
                                          <p:spTgt spid="11"/>
                                        </p:tgtEl>
                                      </p:cBhvr>
                                    </p:animEffect>
                                  </p:childTnLst>
                                </p:cTn>
                              </p:par>
                              <p:par>
                                <p:cTn id="8" presetID="9" presetClass="emph" presetSubtype="0" fill="hold" grpId="0" nodeType="withEffect">
                                  <p:stCondLst>
                                    <p:cond delay="0"/>
                                  </p:stCondLst>
                                  <p:childTnLst>
                                    <p:set>
                                      <p:cBhvr>
                                        <p:cTn id="9" dur="1" fill="hold"/>
                                        <p:tgtEl>
                                          <p:spTgt spid="12"/>
                                        </p:tgtEl>
                                        <p:attrNameLst>
                                          <p:attrName>style.opacity</p:attrName>
                                        </p:attrNameLst>
                                      </p:cBhvr>
                                      <p:to>
                                        <p:strVal val="0.25"/>
                                      </p:to>
                                    </p:set>
                                    <p:animEffect filter="image" prLst="opacity: 0.25">
                                      <p:cBhvr rctx="IE">
                                        <p:cTn id="10" dur="1" fill="hold"/>
                                        <p:tgtEl>
                                          <p:spTgt spid="12"/>
                                        </p:tgtEl>
                                      </p:cBhvr>
                                    </p:animEffect>
                                  </p:childTnLst>
                                </p:cTn>
                              </p:par>
                              <p:par>
                                <p:cTn id="11" presetID="9" presetClass="emph" presetSubtype="0" fill="hold" grpId="0" nodeType="withEffect">
                                  <p:stCondLst>
                                    <p:cond delay="0"/>
                                  </p:stCondLst>
                                  <p:childTnLst>
                                    <p:set>
                                      <p:cBhvr>
                                        <p:cTn id="12" dur="1" fill="hold"/>
                                        <p:tgtEl>
                                          <p:spTgt spid="13"/>
                                        </p:tgtEl>
                                        <p:attrNameLst>
                                          <p:attrName>style.opacity</p:attrName>
                                        </p:attrNameLst>
                                      </p:cBhvr>
                                      <p:to>
                                        <p:strVal val="0.25"/>
                                      </p:to>
                                    </p:set>
                                    <p:animEffect filter="image" prLst="opacity: 0.25">
                                      <p:cBhvr rctx="IE">
                                        <p:cTn id="13" dur="1" fill="hold"/>
                                        <p:tgtEl>
                                          <p:spTgt spid="13"/>
                                        </p:tgtEl>
                                      </p:cBhvr>
                                    </p:animEffect>
                                  </p:childTnLst>
                                </p:cTn>
                              </p:par>
                              <p:par>
                                <p:cTn id="14" presetID="9" presetClass="emph" presetSubtype="0" fill="hold" grpId="0" nodeType="withEffect">
                                  <p:stCondLst>
                                    <p:cond delay="0"/>
                                  </p:stCondLst>
                                  <p:childTnLst>
                                    <p:set>
                                      <p:cBhvr>
                                        <p:cTn id="15" dur="1" fill="hold"/>
                                        <p:tgtEl>
                                          <p:spTgt spid="14"/>
                                        </p:tgtEl>
                                        <p:attrNameLst>
                                          <p:attrName>style.opacity</p:attrName>
                                        </p:attrNameLst>
                                      </p:cBhvr>
                                      <p:to>
                                        <p:strVal val="0.25"/>
                                      </p:to>
                                    </p:set>
                                    <p:animEffect filter="image" prLst="opacity: 0.25">
                                      <p:cBhvr rctx="IE">
                                        <p:cTn id="16" dur="1" fill="hold"/>
                                        <p:tgtEl>
                                          <p:spTgt spid="14"/>
                                        </p:tgtEl>
                                      </p:cBhvr>
                                    </p:animEffect>
                                  </p:childTnLst>
                                </p:cTn>
                              </p:par>
                              <p:par>
                                <p:cTn id="17" presetID="9" presetClass="emph" presetSubtype="0" fill="hold" grpId="0" nodeType="withEffect">
                                  <p:stCondLst>
                                    <p:cond delay="0"/>
                                  </p:stCondLst>
                                  <p:childTnLst>
                                    <p:set>
                                      <p:cBhvr>
                                        <p:cTn id="18" dur="1" fill="hold"/>
                                        <p:tgtEl>
                                          <p:spTgt spid="15"/>
                                        </p:tgtEl>
                                        <p:attrNameLst>
                                          <p:attrName>style.opacity</p:attrName>
                                        </p:attrNameLst>
                                      </p:cBhvr>
                                      <p:to>
                                        <p:strVal val="0.25"/>
                                      </p:to>
                                    </p:set>
                                    <p:animEffect filter="image" prLst="opacity: 0.25">
                                      <p:cBhvr rctx="IE">
                                        <p:cTn id="19" dur="1" fill="hold"/>
                                        <p:tgtEl>
                                          <p:spTgt spid="15"/>
                                        </p:tgtEl>
                                      </p:cBhvr>
                                    </p:animEffect>
                                  </p:childTnLst>
                                </p:cTn>
                              </p:par>
                              <p:par>
                                <p:cTn id="20" presetID="9" presetClass="emph" presetSubtype="0" fill="hold" grpId="0" nodeType="withEffect">
                                  <p:stCondLst>
                                    <p:cond delay="0"/>
                                  </p:stCondLst>
                                  <p:childTnLst>
                                    <p:set>
                                      <p:cBhvr>
                                        <p:cTn id="21" dur="1" fill="hold"/>
                                        <p:tgtEl>
                                          <p:spTgt spid="16"/>
                                        </p:tgtEl>
                                        <p:attrNameLst>
                                          <p:attrName>style.opacity</p:attrName>
                                        </p:attrNameLst>
                                      </p:cBhvr>
                                      <p:to>
                                        <p:strVal val="0.25"/>
                                      </p:to>
                                    </p:set>
                                    <p:animEffect filter="image" prLst="opacity: 0.25">
                                      <p:cBhvr rctx="IE">
                                        <p:cTn id="22" dur="1" fill="hold"/>
                                        <p:tgtEl>
                                          <p:spTgt spid="16"/>
                                        </p:tgtEl>
                                      </p:cBhvr>
                                    </p:animEffect>
                                  </p:childTnLst>
                                </p:cTn>
                              </p:par>
                              <p:par>
                                <p:cTn id="23" presetID="9" presetClass="emph" presetSubtype="0" fill="hold" grpId="0" nodeType="withEffect">
                                  <p:stCondLst>
                                    <p:cond delay="0"/>
                                  </p:stCondLst>
                                  <p:childTnLst>
                                    <p:set>
                                      <p:cBhvr>
                                        <p:cTn id="24" dur="1" fill="hold"/>
                                        <p:tgtEl>
                                          <p:spTgt spid="17"/>
                                        </p:tgtEl>
                                        <p:attrNameLst>
                                          <p:attrName>style.opacity</p:attrName>
                                        </p:attrNameLst>
                                      </p:cBhvr>
                                      <p:to>
                                        <p:strVal val="0.25"/>
                                      </p:to>
                                    </p:set>
                                    <p:animEffect filter="image" prLst="opacity: 0.25">
                                      <p:cBhvr rctx="IE">
                                        <p:cTn id="25" dur="1" fill="hold"/>
                                        <p:tgtEl>
                                          <p:spTgt spid="17"/>
                                        </p:tgtEl>
                                      </p:cBhvr>
                                    </p:animEffect>
                                  </p:childTnLst>
                                </p:cTn>
                              </p:par>
                              <p:par>
                                <p:cTn id="26" presetID="9" presetClass="emph" presetSubtype="0" fill="hold" grpId="0" nodeType="withEffect">
                                  <p:stCondLst>
                                    <p:cond delay="0"/>
                                  </p:stCondLst>
                                  <p:childTnLst>
                                    <p:set>
                                      <p:cBhvr>
                                        <p:cTn id="27" dur="1" fill="hold"/>
                                        <p:tgtEl>
                                          <p:spTgt spid="18"/>
                                        </p:tgtEl>
                                        <p:attrNameLst>
                                          <p:attrName>style.opacity</p:attrName>
                                        </p:attrNameLst>
                                      </p:cBhvr>
                                      <p:to>
                                        <p:strVal val="0.25"/>
                                      </p:to>
                                    </p:set>
                                    <p:animEffect filter="image" prLst="opacity: 0.25">
                                      <p:cBhvr rctx="IE">
                                        <p:cTn id="28" dur="1" fill="hold"/>
                                        <p:tgtEl>
                                          <p:spTgt spid="18"/>
                                        </p:tgtEl>
                                      </p:cBhvr>
                                    </p:animEffect>
                                  </p:childTnLst>
                                </p:cTn>
                              </p:par>
                              <p:par>
                                <p:cTn id="29" presetID="9" presetClass="emph" presetSubtype="0" fill="hold" grpId="0" nodeType="withEffect">
                                  <p:stCondLst>
                                    <p:cond delay="0"/>
                                  </p:stCondLst>
                                  <p:childTnLst>
                                    <p:set>
                                      <p:cBhvr>
                                        <p:cTn id="30" dur="1" fill="hold"/>
                                        <p:tgtEl>
                                          <p:spTgt spid="19"/>
                                        </p:tgtEl>
                                        <p:attrNameLst>
                                          <p:attrName>style.opacity</p:attrName>
                                        </p:attrNameLst>
                                      </p:cBhvr>
                                      <p:to>
                                        <p:strVal val="0.25"/>
                                      </p:to>
                                    </p:set>
                                    <p:animEffect filter="image" prLst="opacity: 0.25">
                                      <p:cBhvr rctx="IE">
                                        <p:cTn id="31" dur="1" fill="hold"/>
                                        <p:tgtEl>
                                          <p:spTgt spid="19"/>
                                        </p:tgtEl>
                                      </p:cBhvr>
                                    </p:animEffect>
                                  </p:childTnLst>
                                </p:cTn>
                              </p:par>
                              <p:par>
                                <p:cTn id="32" presetID="9" presetClass="emph" presetSubtype="0" fill="hold" grpId="0" nodeType="withEffect">
                                  <p:stCondLst>
                                    <p:cond delay="0"/>
                                  </p:stCondLst>
                                  <p:childTnLst>
                                    <p:set>
                                      <p:cBhvr>
                                        <p:cTn id="33" dur="1" fill="hold"/>
                                        <p:tgtEl>
                                          <p:spTgt spid="20"/>
                                        </p:tgtEl>
                                        <p:attrNameLst>
                                          <p:attrName>style.opacity</p:attrName>
                                        </p:attrNameLst>
                                      </p:cBhvr>
                                      <p:to>
                                        <p:strVal val="0.25"/>
                                      </p:to>
                                    </p:set>
                                    <p:animEffect filter="image" prLst="opacity: 0.25">
                                      <p:cBhvr rctx="IE">
                                        <p:cTn id="34" dur="1" fill="hold"/>
                                        <p:tgtEl>
                                          <p:spTgt spid="20"/>
                                        </p:tgtEl>
                                      </p:cBhvr>
                                    </p:animEffect>
                                  </p:childTnLst>
                                </p:cTn>
                              </p:par>
                              <p:par>
                                <p:cTn id="35" presetID="9" presetClass="emph" presetSubtype="0" fill="hold" grpId="0" nodeType="withEffect">
                                  <p:stCondLst>
                                    <p:cond delay="0"/>
                                  </p:stCondLst>
                                  <p:childTnLst>
                                    <p:set>
                                      <p:cBhvr>
                                        <p:cTn id="36" dur="1" fill="hold"/>
                                        <p:tgtEl>
                                          <p:spTgt spid="21"/>
                                        </p:tgtEl>
                                        <p:attrNameLst>
                                          <p:attrName>style.opacity</p:attrName>
                                        </p:attrNameLst>
                                      </p:cBhvr>
                                      <p:to>
                                        <p:strVal val="0.25"/>
                                      </p:to>
                                    </p:set>
                                    <p:animEffect filter="image" prLst="opacity: 0.25">
                                      <p:cBhvr rctx="IE">
                                        <p:cTn id="37" dur="1" fill="hold"/>
                                        <p:tgtEl>
                                          <p:spTgt spid="21"/>
                                        </p:tgtEl>
                                      </p:cBhvr>
                                    </p:animEffect>
                                  </p:childTnLst>
                                </p:cTn>
                              </p:par>
                              <p:par>
                                <p:cTn id="38" presetID="9" presetClass="emph" presetSubtype="0" fill="hold" grpId="0" nodeType="withEffect">
                                  <p:stCondLst>
                                    <p:cond delay="0"/>
                                  </p:stCondLst>
                                  <p:childTnLst>
                                    <p:set>
                                      <p:cBhvr>
                                        <p:cTn id="39" dur="1" fill="hold"/>
                                        <p:tgtEl>
                                          <p:spTgt spid="22"/>
                                        </p:tgtEl>
                                        <p:attrNameLst>
                                          <p:attrName>style.opacity</p:attrName>
                                        </p:attrNameLst>
                                      </p:cBhvr>
                                      <p:to>
                                        <p:strVal val="0.25"/>
                                      </p:to>
                                    </p:set>
                                    <p:animEffect filter="image" prLst="opacity: 0.25">
                                      <p:cBhvr rctx="IE">
                                        <p:cTn id="40" dur="1" fill="hold"/>
                                        <p:tgtEl>
                                          <p:spTgt spid="22"/>
                                        </p:tgtEl>
                                      </p:cBhvr>
                                    </p:animEffect>
                                  </p:childTnLst>
                                </p:cTn>
                              </p:par>
                              <p:par>
                                <p:cTn id="41" presetID="9" presetClass="emph" presetSubtype="0" fill="hold" grpId="0" nodeType="withEffect">
                                  <p:stCondLst>
                                    <p:cond delay="0"/>
                                  </p:stCondLst>
                                  <p:childTnLst>
                                    <p:set>
                                      <p:cBhvr>
                                        <p:cTn id="42" dur="1" fill="hold"/>
                                        <p:tgtEl>
                                          <p:spTgt spid="23"/>
                                        </p:tgtEl>
                                        <p:attrNameLst>
                                          <p:attrName>style.opacity</p:attrName>
                                        </p:attrNameLst>
                                      </p:cBhvr>
                                      <p:to>
                                        <p:strVal val="0.25"/>
                                      </p:to>
                                    </p:set>
                                    <p:animEffect filter="image" prLst="opacity: 0.25">
                                      <p:cBhvr rctx="IE">
                                        <p:cTn id="43" dur="1" fill="hold"/>
                                        <p:tgtEl>
                                          <p:spTgt spid="23"/>
                                        </p:tgtEl>
                                      </p:cBhvr>
                                    </p:animEffect>
                                  </p:childTnLst>
                                </p:cTn>
                              </p:par>
                              <p:par>
                                <p:cTn id="44" presetID="9" presetClass="emph" presetSubtype="0" fill="hold" grpId="0" nodeType="withEffect">
                                  <p:stCondLst>
                                    <p:cond delay="0"/>
                                  </p:stCondLst>
                                  <p:childTnLst>
                                    <p:set>
                                      <p:cBhvr>
                                        <p:cTn id="45" dur="1" fill="hold"/>
                                        <p:tgtEl>
                                          <p:spTgt spid="24"/>
                                        </p:tgtEl>
                                        <p:attrNameLst>
                                          <p:attrName>style.opacity</p:attrName>
                                        </p:attrNameLst>
                                      </p:cBhvr>
                                      <p:to>
                                        <p:strVal val="0.25"/>
                                      </p:to>
                                    </p:set>
                                    <p:animEffect filter="image" prLst="opacity: 0.25">
                                      <p:cBhvr rctx="IE">
                                        <p:cTn id="46" dur="1" fill="hold"/>
                                        <p:tgtEl>
                                          <p:spTgt spid="24"/>
                                        </p:tgtEl>
                                      </p:cBhvr>
                                    </p:animEffect>
                                  </p:childTnLst>
                                </p:cTn>
                              </p:par>
                              <p:par>
                                <p:cTn id="47" presetID="9" presetClass="emph" presetSubtype="0" fill="hold" grpId="0" nodeType="withEffect">
                                  <p:stCondLst>
                                    <p:cond delay="0"/>
                                  </p:stCondLst>
                                  <p:childTnLst>
                                    <p:set>
                                      <p:cBhvr>
                                        <p:cTn id="48" dur="1" fill="hold"/>
                                        <p:tgtEl>
                                          <p:spTgt spid="25"/>
                                        </p:tgtEl>
                                        <p:attrNameLst>
                                          <p:attrName>style.opacity</p:attrName>
                                        </p:attrNameLst>
                                      </p:cBhvr>
                                      <p:to>
                                        <p:strVal val="0.25"/>
                                      </p:to>
                                    </p:set>
                                    <p:animEffect filter="image" prLst="opacity: 0.25">
                                      <p:cBhvr rctx="IE">
                                        <p:cTn id="49" dur="1" fill="hold"/>
                                        <p:tgtEl>
                                          <p:spTgt spid="25"/>
                                        </p:tgtEl>
                                      </p:cBhvr>
                                    </p:animEffect>
                                  </p:childTnLst>
                                </p:cTn>
                              </p:par>
                              <p:par>
                                <p:cTn id="50" presetID="9" presetClass="emph" presetSubtype="0" fill="hold" grpId="0" nodeType="withEffect">
                                  <p:stCondLst>
                                    <p:cond delay="0"/>
                                  </p:stCondLst>
                                  <p:childTnLst>
                                    <p:set>
                                      <p:cBhvr>
                                        <p:cTn id="51" dur="1" fill="hold"/>
                                        <p:tgtEl>
                                          <p:spTgt spid="26"/>
                                        </p:tgtEl>
                                        <p:attrNameLst>
                                          <p:attrName>style.opacity</p:attrName>
                                        </p:attrNameLst>
                                      </p:cBhvr>
                                      <p:to>
                                        <p:strVal val="0.25"/>
                                      </p:to>
                                    </p:set>
                                    <p:animEffect filter="image" prLst="opacity: 0.25">
                                      <p:cBhvr rctx="IE">
                                        <p:cTn id="52" dur="1" fill="hold"/>
                                        <p:tgtEl>
                                          <p:spTgt spid="26"/>
                                        </p:tgtEl>
                                      </p:cBhvr>
                                    </p:animEffect>
                                  </p:childTnLst>
                                </p:cTn>
                              </p:par>
                              <p:par>
                                <p:cTn id="53" presetID="9" presetClass="emph" presetSubtype="0" fill="hold" grpId="0" nodeType="withEffect">
                                  <p:stCondLst>
                                    <p:cond delay="0"/>
                                  </p:stCondLst>
                                  <p:childTnLst>
                                    <p:set>
                                      <p:cBhvr>
                                        <p:cTn id="54" dur="1" fill="hold"/>
                                        <p:tgtEl>
                                          <p:spTgt spid="27"/>
                                        </p:tgtEl>
                                        <p:attrNameLst>
                                          <p:attrName>style.opacity</p:attrName>
                                        </p:attrNameLst>
                                      </p:cBhvr>
                                      <p:to>
                                        <p:strVal val="0.25"/>
                                      </p:to>
                                    </p:set>
                                    <p:animEffect filter="image" prLst="opacity: 0.25">
                                      <p:cBhvr rctx="IE">
                                        <p:cTn id="55" dur="1" fill="hold"/>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mph" presetSubtype="0" fill="hold" grpId="0" nodeType="clickEffect">
                                  <p:stCondLst>
                                    <p:cond delay="0"/>
                                  </p:stCondLst>
                                  <p:childTnLst>
                                    <p:set>
                                      <p:cBhvr>
                                        <p:cTn id="59" dur="400" fill="hold"/>
                                        <p:tgtEl>
                                          <p:spTgt spid="11"/>
                                        </p:tgtEl>
                                        <p:attrNameLst>
                                          <p:attrName>style.opacity</p:attrName>
                                        </p:attrNameLst>
                                      </p:cBhvr>
                                      <p:to>
                                        <p:strVal val="1"/>
                                      </p:to>
                                    </p:set>
                                    <p:animEffect filter="image" prLst="opacity: 1">
                                      <p:cBhvr rctx="IE">
                                        <p:cTn id="60" dur="400" fill="hold"/>
                                        <p:tgtEl>
                                          <p:spTgt spid="11"/>
                                        </p:tgtEl>
                                      </p:cBhvr>
                                    </p:animEffect>
                                  </p:childTnLst>
                                </p:cTn>
                              </p:par>
                              <p:par>
                                <p:cTn id="61" presetID="9" presetClass="emph" presetSubtype="0" fill="hold" grpId="0" nodeType="withEffect">
                                  <p:stCondLst>
                                    <p:cond delay="0"/>
                                  </p:stCondLst>
                                  <p:childTnLst>
                                    <p:set>
                                      <p:cBhvr>
                                        <p:cTn id="62" dur="400" fill="hold"/>
                                        <p:tgtEl>
                                          <p:spTgt spid="12"/>
                                        </p:tgtEl>
                                        <p:attrNameLst>
                                          <p:attrName>style.opacity</p:attrName>
                                        </p:attrNameLst>
                                      </p:cBhvr>
                                      <p:to>
                                        <p:strVal val="1"/>
                                      </p:to>
                                    </p:set>
                                    <p:animEffect filter="image" prLst="opacity: 1">
                                      <p:cBhvr rctx="IE">
                                        <p:cTn id="63" dur="400" fill="hold"/>
                                        <p:tgtEl>
                                          <p:spTgt spid="12"/>
                                        </p:tgtEl>
                                      </p:cBhvr>
                                    </p:animEffect>
                                  </p:childTnLst>
                                </p:cTn>
                              </p:par>
                              <p:par>
                                <p:cTn id="64" presetID="9" presetClass="emph" presetSubtype="0" fill="hold" grpId="0" nodeType="withEffect">
                                  <p:stCondLst>
                                    <p:cond delay="0"/>
                                  </p:stCondLst>
                                  <p:childTnLst>
                                    <p:set>
                                      <p:cBhvr>
                                        <p:cTn id="65" dur="400" fill="hold"/>
                                        <p:tgtEl>
                                          <p:spTgt spid="13"/>
                                        </p:tgtEl>
                                        <p:attrNameLst>
                                          <p:attrName>style.opacity</p:attrName>
                                        </p:attrNameLst>
                                      </p:cBhvr>
                                      <p:to>
                                        <p:strVal val="1"/>
                                      </p:to>
                                    </p:set>
                                    <p:animEffect filter="image" prLst="opacity: 1">
                                      <p:cBhvr rctx="IE">
                                        <p:cTn id="66" dur="400" fill="hold"/>
                                        <p:tgtEl>
                                          <p:spTgt spid="13"/>
                                        </p:tgtEl>
                                      </p:cBhvr>
                                    </p:animEffect>
                                  </p:childTnLst>
                                </p:cTn>
                              </p:par>
                              <p:par>
                                <p:cTn id="67" presetID="9" presetClass="emph" presetSubtype="0" fill="hold" grpId="0" nodeType="withEffect">
                                  <p:stCondLst>
                                    <p:cond delay="0"/>
                                  </p:stCondLst>
                                  <p:childTnLst>
                                    <p:set>
                                      <p:cBhvr>
                                        <p:cTn id="68" dur="400" fill="hold"/>
                                        <p:tgtEl>
                                          <p:spTgt spid="14"/>
                                        </p:tgtEl>
                                        <p:attrNameLst>
                                          <p:attrName>style.opacity</p:attrName>
                                        </p:attrNameLst>
                                      </p:cBhvr>
                                      <p:to>
                                        <p:strVal val="1"/>
                                      </p:to>
                                    </p:set>
                                    <p:animEffect filter="image" prLst="opacity: 1">
                                      <p:cBhvr rctx="IE">
                                        <p:cTn id="69" dur="400" fill="hold"/>
                                        <p:tgtEl>
                                          <p:spTgt spid="14"/>
                                        </p:tgtEl>
                                      </p:cBhvr>
                                    </p:animEffect>
                                  </p:childTnLst>
                                </p:cTn>
                              </p:par>
                              <p:par>
                                <p:cTn id="70" presetID="9" presetClass="emph" presetSubtype="0" fill="hold" grpId="0" nodeType="withEffect">
                                  <p:stCondLst>
                                    <p:cond delay="0"/>
                                  </p:stCondLst>
                                  <p:childTnLst>
                                    <p:set>
                                      <p:cBhvr>
                                        <p:cTn id="71" dur="400" fill="hold"/>
                                        <p:tgtEl>
                                          <p:spTgt spid="15"/>
                                        </p:tgtEl>
                                        <p:attrNameLst>
                                          <p:attrName>style.opacity</p:attrName>
                                        </p:attrNameLst>
                                      </p:cBhvr>
                                      <p:to>
                                        <p:strVal val="1"/>
                                      </p:to>
                                    </p:set>
                                    <p:animEffect filter="image" prLst="opacity: 1">
                                      <p:cBhvr rctx="IE">
                                        <p:cTn id="72" dur="400" fill="hold"/>
                                        <p:tgtEl>
                                          <p:spTgt spid="15"/>
                                        </p:tgtEl>
                                      </p:cBhvr>
                                    </p:animEffect>
                                  </p:childTnLst>
                                </p:cTn>
                              </p:par>
                              <p:par>
                                <p:cTn id="73" presetID="9" presetClass="emph" presetSubtype="0" fill="hold" grpId="0" nodeType="withEffect">
                                  <p:stCondLst>
                                    <p:cond delay="0"/>
                                  </p:stCondLst>
                                  <p:childTnLst>
                                    <p:set>
                                      <p:cBhvr>
                                        <p:cTn id="74" dur="400" fill="hold"/>
                                        <p:tgtEl>
                                          <p:spTgt spid="6"/>
                                        </p:tgtEl>
                                        <p:attrNameLst>
                                          <p:attrName>style.opacity</p:attrName>
                                        </p:attrNameLst>
                                      </p:cBhvr>
                                      <p:to>
                                        <p:strVal val="0.25"/>
                                      </p:to>
                                    </p:set>
                                    <p:animEffect filter="image" prLst="opacity: 0.25">
                                      <p:cBhvr rctx="IE">
                                        <p:cTn id="75" dur="400" fill="hold"/>
                                        <p:tgtEl>
                                          <p:spTgt spid="6"/>
                                        </p:tgtEl>
                                      </p:cBhvr>
                                    </p:animEffect>
                                  </p:childTnLst>
                                </p:cTn>
                              </p:par>
                              <p:par>
                                <p:cTn id="76" presetID="9" presetClass="emph" presetSubtype="0" fill="hold" grpId="0" nodeType="withEffect">
                                  <p:stCondLst>
                                    <p:cond delay="0"/>
                                  </p:stCondLst>
                                  <p:childTnLst>
                                    <p:set>
                                      <p:cBhvr>
                                        <p:cTn id="77" dur="400" fill="hold"/>
                                        <p:tgtEl>
                                          <p:spTgt spid="7"/>
                                        </p:tgtEl>
                                        <p:attrNameLst>
                                          <p:attrName>style.opacity</p:attrName>
                                        </p:attrNameLst>
                                      </p:cBhvr>
                                      <p:to>
                                        <p:strVal val="0.25"/>
                                      </p:to>
                                    </p:set>
                                    <p:animEffect filter="image" prLst="opacity: 0.25">
                                      <p:cBhvr rctx="IE">
                                        <p:cTn id="78" dur="400" fill="hold"/>
                                        <p:tgtEl>
                                          <p:spTgt spid="7"/>
                                        </p:tgtEl>
                                      </p:cBhvr>
                                    </p:animEffect>
                                  </p:childTnLst>
                                </p:cTn>
                              </p:par>
                              <p:par>
                                <p:cTn id="79" presetID="9" presetClass="emph" presetSubtype="0" fill="hold" grpId="0" nodeType="withEffect">
                                  <p:stCondLst>
                                    <p:cond delay="0"/>
                                  </p:stCondLst>
                                  <p:childTnLst>
                                    <p:set>
                                      <p:cBhvr>
                                        <p:cTn id="80" dur="400" fill="hold"/>
                                        <p:tgtEl>
                                          <p:spTgt spid="8"/>
                                        </p:tgtEl>
                                        <p:attrNameLst>
                                          <p:attrName>style.opacity</p:attrName>
                                        </p:attrNameLst>
                                      </p:cBhvr>
                                      <p:to>
                                        <p:strVal val="0.25"/>
                                      </p:to>
                                    </p:set>
                                    <p:animEffect filter="image" prLst="opacity: 0.25">
                                      <p:cBhvr rctx="IE">
                                        <p:cTn id="81" dur="400" fill="hold"/>
                                        <p:tgtEl>
                                          <p:spTgt spid="8"/>
                                        </p:tgtEl>
                                      </p:cBhvr>
                                    </p:animEffect>
                                  </p:childTnLst>
                                </p:cTn>
                              </p:par>
                              <p:par>
                                <p:cTn id="82" presetID="9" presetClass="emph" presetSubtype="0" fill="hold" grpId="0" nodeType="withEffect">
                                  <p:stCondLst>
                                    <p:cond delay="0"/>
                                  </p:stCondLst>
                                  <p:childTnLst>
                                    <p:set>
                                      <p:cBhvr>
                                        <p:cTn id="83" dur="400" fill="hold"/>
                                        <p:tgtEl>
                                          <p:spTgt spid="9"/>
                                        </p:tgtEl>
                                        <p:attrNameLst>
                                          <p:attrName>style.opacity</p:attrName>
                                        </p:attrNameLst>
                                      </p:cBhvr>
                                      <p:to>
                                        <p:strVal val="0.25"/>
                                      </p:to>
                                    </p:set>
                                    <p:animEffect filter="image" prLst="opacity: 0.25">
                                      <p:cBhvr rctx="IE">
                                        <p:cTn id="84" dur="400" fill="hold"/>
                                        <p:tgtEl>
                                          <p:spTgt spid="9"/>
                                        </p:tgtEl>
                                      </p:cBhvr>
                                    </p:animEffect>
                                  </p:childTnLst>
                                </p:cTn>
                              </p:par>
                              <p:par>
                                <p:cTn id="85" presetID="9" presetClass="emph" presetSubtype="0" fill="hold" grpId="0" nodeType="withEffect">
                                  <p:stCondLst>
                                    <p:cond delay="0"/>
                                  </p:stCondLst>
                                  <p:childTnLst>
                                    <p:set>
                                      <p:cBhvr>
                                        <p:cTn id="86" dur="400" fill="hold"/>
                                        <p:tgtEl>
                                          <p:spTgt spid="10"/>
                                        </p:tgtEl>
                                        <p:attrNameLst>
                                          <p:attrName>style.opacity</p:attrName>
                                        </p:attrNameLst>
                                      </p:cBhvr>
                                      <p:to>
                                        <p:strVal val="0.25"/>
                                      </p:to>
                                    </p:set>
                                    <p:animEffect filter="image" prLst="opacity: 0.25">
                                      <p:cBhvr rctx="IE">
                                        <p:cTn id="87" dur="400" fill="hold"/>
                                        <p:tgtEl>
                                          <p:spTgt spid="10"/>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mph" presetSubtype="0" fill="hold" grpId="0" nodeType="clickEffect">
                                  <p:stCondLst>
                                    <p:cond delay="0"/>
                                  </p:stCondLst>
                                  <p:childTnLst>
                                    <p:set>
                                      <p:cBhvr>
                                        <p:cTn id="91" dur="400" fill="hold"/>
                                        <p:tgtEl>
                                          <p:spTgt spid="16"/>
                                        </p:tgtEl>
                                        <p:attrNameLst>
                                          <p:attrName>style.opacity</p:attrName>
                                        </p:attrNameLst>
                                      </p:cBhvr>
                                      <p:to>
                                        <p:strVal val="1"/>
                                      </p:to>
                                    </p:set>
                                    <p:animEffect filter="image" prLst="opacity: 1">
                                      <p:cBhvr rctx="IE">
                                        <p:cTn id="92" dur="400" fill="hold"/>
                                        <p:tgtEl>
                                          <p:spTgt spid="16"/>
                                        </p:tgtEl>
                                      </p:cBhvr>
                                    </p:animEffect>
                                  </p:childTnLst>
                                </p:cTn>
                              </p:par>
                              <p:par>
                                <p:cTn id="93" presetID="9" presetClass="emph" presetSubtype="0" fill="hold" grpId="0" nodeType="withEffect">
                                  <p:stCondLst>
                                    <p:cond delay="0"/>
                                  </p:stCondLst>
                                  <p:childTnLst>
                                    <p:set>
                                      <p:cBhvr>
                                        <p:cTn id="94" dur="400" fill="hold"/>
                                        <p:tgtEl>
                                          <p:spTgt spid="17"/>
                                        </p:tgtEl>
                                        <p:attrNameLst>
                                          <p:attrName>style.opacity</p:attrName>
                                        </p:attrNameLst>
                                      </p:cBhvr>
                                      <p:to>
                                        <p:strVal val="1"/>
                                      </p:to>
                                    </p:set>
                                    <p:animEffect filter="image" prLst="opacity: 1">
                                      <p:cBhvr rctx="IE">
                                        <p:cTn id="95" dur="400" fill="hold"/>
                                        <p:tgtEl>
                                          <p:spTgt spid="17"/>
                                        </p:tgtEl>
                                      </p:cBhvr>
                                    </p:animEffect>
                                  </p:childTnLst>
                                </p:cTn>
                              </p:par>
                              <p:par>
                                <p:cTn id="96" presetID="9" presetClass="emph" presetSubtype="0" fill="hold" grpId="0" nodeType="withEffect">
                                  <p:stCondLst>
                                    <p:cond delay="0"/>
                                  </p:stCondLst>
                                  <p:childTnLst>
                                    <p:set>
                                      <p:cBhvr>
                                        <p:cTn id="97" dur="400" fill="hold"/>
                                        <p:tgtEl>
                                          <p:spTgt spid="18"/>
                                        </p:tgtEl>
                                        <p:attrNameLst>
                                          <p:attrName>style.opacity</p:attrName>
                                        </p:attrNameLst>
                                      </p:cBhvr>
                                      <p:to>
                                        <p:strVal val="1"/>
                                      </p:to>
                                    </p:set>
                                    <p:animEffect filter="image" prLst="opacity: 1">
                                      <p:cBhvr rctx="IE">
                                        <p:cTn id="98" dur="400" fill="hold"/>
                                        <p:tgtEl>
                                          <p:spTgt spid="18"/>
                                        </p:tgtEl>
                                      </p:cBhvr>
                                    </p:animEffect>
                                  </p:childTnLst>
                                </p:cTn>
                              </p:par>
                              <p:par>
                                <p:cTn id="99" presetID="9" presetClass="emph" presetSubtype="0" fill="hold" grpId="0" nodeType="withEffect">
                                  <p:stCondLst>
                                    <p:cond delay="0"/>
                                  </p:stCondLst>
                                  <p:childTnLst>
                                    <p:set>
                                      <p:cBhvr>
                                        <p:cTn id="100" dur="400" fill="hold"/>
                                        <p:tgtEl>
                                          <p:spTgt spid="19"/>
                                        </p:tgtEl>
                                        <p:attrNameLst>
                                          <p:attrName>style.opacity</p:attrName>
                                        </p:attrNameLst>
                                      </p:cBhvr>
                                      <p:to>
                                        <p:strVal val="1"/>
                                      </p:to>
                                    </p:set>
                                    <p:animEffect filter="image" prLst="opacity: 1">
                                      <p:cBhvr rctx="IE">
                                        <p:cTn id="101" dur="400" fill="hold"/>
                                        <p:tgtEl>
                                          <p:spTgt spid="19"/>
                                        </p:tgtEl>
                                      </p:cBhvr>
                                    </p:animEffect>
                                  </p:childTnLst>
                                </p:cTn>
                              </p:par>
                              <p:par>
                                <p:cTn id="102" presetID="9" presetClass="emph" presetSubtype="0" fill="hold" grpId="0" nodeType="withEffect">
                                  <p:stCondLst>
                                    <p:cond delay="0"/>
                                  </p:stCondLst>
                                  <p:childTnLst>
                                    <p:set>
                                      <p:cBhvr>
                                        <p:cTn id="103" dur="400" fill="hold"/>
                                        <p:tgtEl>
                                          <p:spTgt spid="20"/>
                                        </p:tgtEl>
                                        <p:attrNameLst>
                                          <p:attrName>style.opacity</p:attrName>
                                        </p:attrNameLst>
                                      </p:cBhvr>
                                      <p:to>
                                        <p:strVal val="1"/>
                                      </p:to>
                                    </p:set>
                                    <p:animEffect filter="image" prLst="opacity: 1">
                                      <p:cBhvr rctx="IE">
                                        <p:cTn id="104" dur="400" fill="hold"/>
                                        <p:tgtEl>
                                          <p:spTgt spid="20"/>
                                        </p:tgtEl>
                                      </p:cBhvr>
                                    </p:animEffect>
                                  </p:childTnLst>
                                </p:cTn>
                              </p:par>
                              <p:par>
                                <p:cTn id="105" presetID="9" presetClass="emph" presetSubtype="0" fill="hold" grpId="0" nodeType="withEffect">
                                  <p:stCondLst>
                                    <p:cond delay="0"/>
                                  </p:stCondLst>
                                  <p:childTnLst>
                                    <p:set>
                                      <p:cBhvr>
                                        <p:cTn id="106" dur="400" fill="hold"/>
                                        <p:tgtEl>
                                          <p:spTgt spid="11"/>
                                        </p:tgtEl>
                                        <p:attrNameLst>
                                          <p:attrName>style.opacity</p:attrName>
                                        </p:attrNameLst>
                                      </p:cBhvr>
                                      <p:to>
                                        <p:strVal val="0.25"/>
                                      </p:to>
                                    </p:set>
                                    <p:animEffect filter="image" prLst="opacity: 0.25">
                                      <p:cBhvr rctx="IE">
                                        <p:cTn id="107" dur="400" fill="hold"/>
                                        <p:tgtEl>
                                          <p:spTgt spid="11"/>
                                        </p:tgtEl>
                                      </p:cBhvr>
                                    </p:animEffect>
                                  </p:childTnLst>
                                </p:cTn>
                              </p:par>
                              <p:par>
                                <p:cTn id="108" presetID="9" presetClass="emph" presetSubtype="0" fill="hold" grpId="0" nodeType="withEffect">
                                  <p:stCondLst>
                                    <p:cond delay="0"/>
                                  </p:stCondLst>
                                  <p:childTnLst>
                                    <p:set>
                                      <p:cBhvr>
                                        <p:cTn id="109" dur="400" fill="hold"/>
                                        <p:tgtEl>
                                          <p:spTgt spid="12"/>
                                        </p:tgtEl>
                                        <p:attrNameLst>
                                          <p:attrName>style.opacity</p:attrName>
                                        </p:attrNameLst>
                                      </p:cBhvr>
                                      <p:to>
                                        <p:strVal val="0.25"/>
                                      </p:to>
                                    </p:set>
                                    <p:animEffect filter="image" prLst="opacity: 0.25">
                                      <p:cBhvr rctx="IE">
                                        <p:cTn id="110" dur="400" fill="hold"/>
                                        <p:tgtEl>
                                          <p:spTgt spid="12"/>
                                        </p:tgtEl>
                                      </p:cBhvr>
                                    </p:animEffect>
                                  </p:childTnLst>
                                </p:cTn>
                              </p:par>
                              <p:par>
                                <p:cTn id="111" presetID="9" presetClass="emph" presetSubtype="0" fill="hold" grpId="0" nodeType="withEffect">
                                  <p:stCondLst>
                                    <p:cond delay="0"/>
                                  </p:stCondLst>
                                  <p:childTnLst>
                                    <p:set>
                                      <p:cBhvr>
                                        <p:cTn id="112" dur="400" fill="hold"/>
                                        <p:tgtEl>
                                          <p:spTgt spid="13"/>
                                        </p:tgtEl>
                                        <p:attrNameLst>
                                          <p:attrName>style.opacity</p:attrName>
                                        </p:attrNameLst>
                                      </p:cBhvr>
                                      <p:to>
                                        <p:strVal val="0.25"/>
                                      </p:to>
                                    </p:set>
                                    <p:animEffect filter="image" prLst="opacity: 0.25">
                                      <p:cBhvr rctx="IE">
                                        <p:cTn id="113" dur="400" fill="hold"/>
                                        <p:tgtEl>
                                          <p:spTgt spid="13"/>
                                        </p:tgtEl>
                                      </p:cBhvr>
                                    </p:animEffect>
                                  </p:childTnLst>
                                </p:cTn>
                              </p:par>
                              <p:par>
                                <p:cTn id="114" presetID="9" presetClass="emph" presetSubtype="0" fill="hold" grpId="0" nodeType="withEffect">
                                  <p:stCondLst>
                                    <p:cond delay="0"/>
                                  </p:stCondLst>
                                  <p:childTnLst>
                                    <p:set>
                                      <p:cBhvr>
                                        <p:cTn id="115" dur="400" fill="hold"/>
                                        <p:tgtEl>
                                          <p:spTgt spid="14"/>
                                        </p:tgtEl>
                                        <p:attrNameLst>
                                          <p:attrName>style.opacity</p:attrName>
                                        </p:attrNameLst>
                                      </p:cBhvr>
                                      <p:to>
                                        <p:strVal val="0.25"/>
                                      </p:to>
                                    </p:set>
                                    <p:animEffect filter="image" prLst="opacity: 0.25">
                                      <p:cBhvr rctx="IE">
                                        <p:cTn id="116" dur="400" fill="hold"/>
                                        <p:tgtEl>
                                          <p:spTgt spid="14"/>
                                        </p:tgtEl>
                                      </p:cBhvr>
                                    </p:animEffect>
                                  </p:childTnLst>
                                </p:cTn>
                              </p:par>
                              <p:par>
                                <p:cTn id="117" presetID="9" presetClass="emph" presetSubtype="0" fill="hold" grpId="0" nodeType="withEffect">
                                  <p:stCondLst>
                                    <p:cond delay="0"/>
                                  </p:stCondLst>
                                  <p:childTnLst>
                                    <p:set>
                                      <p:cBhvr>
                                        <p:cTn id="118" dur="400" fill="hold"/>
                                        <p:tgtEl>
                                          <p:spTgt spid="15"/>
                                        </p:tgtEl>
                                        <p:attrNameLst>
                                          <p:attrName>style.opacity</p:attrName>
                                        </p:attrNameLst>
                                      </p:cBhvr>
                                      <p:to>
                                        <p:strVal val="0.25"/>
                                      </p:to>
                                    </p:set>
                                    <p:animEffect filter="image" prLst="opacity: 0.25">
                                      <p:cBhvr rctx="IE">
                                        <p:cTn id="119" dur="400" fill="hold"/>
                                        <p:tgtEl>
                                          <p:spTgt spid="15"/>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mph" presetSubtype="0" fill="hold" grpId="0" nodeType="clickEffect">
                                  <p:stCondLst>
                                    <p:cond delay="0"/>
                                  </p:stCondLst>
                                  <p:childTnLst>
                                    <p:set>
                                      <p:cBhvr>
                                        <p:cTn id="123" dur="400" fill="hold"/>
                                        <p:tgtEl>
                                          <p:spTgt spid="21"/>
                                        </p:tgtEl>
                                        <p:attrNameLst>
                                          <p:attrName>style.opacity</p:attrName>
                                        </p:attrNameLst>
                                      </p:cBhvr>
                                      <p:to>
                                        <p:strVal val="1"/>
                                      </p:to>
                                    </p:set>
                                    <p:animEffect filter="image" prLst="opacity: 1">
                                      <p:cBhvr rctx="IE">
                                        <p:cTn id="124" dur="400" fill="hold"/>
                                        <p:tgtEl>
                                          <p:spTgt spid="21"/>
                                        </p:tgtEl>
                                      </p:cBhvr>
                                    </p:animEffect>
                                  </p:childTnLst>
                                </p:cTn>
                              </p:par>
                              <p:par>
                                <p:cTn id="125" presetID="9" presetClass="emph" presetSubtype="0" fill="hold" grpId="0" nodeType="withEffect">
                                  <p:stCondLst>
                                    <p:cond delay="0"/>
                                  </p:stCondLst>
                                  <p:childTnLst>
                                    <p:set>
                                      <p:cBhvr>
                                        <p:cTn id="126" dur="400" fill="hold"/>
                                        <p:tgtEl>
                                          <p:spTgt spid="22"/>
                                        </p:tgtEl>
                                        <p:attrNameLst>
                                          <p:attrName>style.opacity</p:attrName>
                                        </p:attrNameLst>
                                      </p:cBhvr>
                                      <p:to>
                                        <p:strVal val="1"/>
                                      </p:to>
                                    </p:set>
                                    <p:animEffect filter="image" prLst="opacity: 1">
                                      <p:cBhvr rctx="IE">
                                        <p:cTn id="127" dur="400" fill="hold"/>
                                        <p:tgtEl>
                                          <p:spTgt spid="22"/>
                                        </p:tgtEl>
                                      </p:cBhvr>
                                    </p:animEffect>
                                  </p:childTnLst>
                                </p:cTn>
                              </p:par>
                              <p:par>
                                <p:cTn id="128" presetID="9" presetClass="emph" presetSubtype="0" fill="hold" grpId="0" nodeType="withEffect">
                                  <p:stCondLst>
                                    <p:cond delay="0"/>
                                  </p:stCondLst>
                                  <p:childTnLst>
                                    <p:set>
                                      <p:cBhvr>
                                        <p:cTn id="129" dur="400" fill="hold"/>
                                        <p:tgtEl>
                                          <p:spTgt spid="23"/>
                                        </p:tgtEl>
                                        <p:attrNameLst>
                                          <p:attrName>style.opacity</p:attrName>
                                        </p:attrNameLst>
                                      </p:cBhvr>
                                      <p:to>
                                        <p:strVal val="1"/>
                                      </p:to>
                                    </p:set>
                                    <p:animEffect filter="image" prLst="opacity: 1">
                                      <p:cBhvr rctx="IE">
                                        <p:cTn id="130" dur="400" fill="hold"/>
                                        <p:tgtEl>
                                          <p:spTgt spid="23"/>
                                        </p:tgtEl>
                                      </p:cBhvr>
                                    </p:animEffect>
                                  </p:childTnLst>
                                </p:cTn>
                              </p:par>
                              <p:par>
                                <p:cTn id="131" presetID="9" presetClass="emph" presetSubtype="0" fill="hold" grpId="0" nodeType="withEffect">
                                  <p:stCondLst>
                                    <p:cond delay="0"/>
                                  </p:stCondLst>
                                  <p:childTnLst>
                                    <p:set>
                                      <p:cBhvr>
                                        <p:cTn id="132" dur="400" fill="hold"/>
                                        <p:tgtEl>
                                          <p:spTgt spid="24"/>
                                        </p:tgtEl>
                                        <p:attrNameLst>
                                          <p:attrName>style.opacity</p:attrName>
                                        </p:attrNameLst>
                                      </p:cBhvr>
                                      <p:to>
                                        <p:strVal val="1"/>
                                      </p:to>
                                    </p:set>
                                    <p:animEffect filter="image" prLst="opacity: 1">
                                      <p:cBhvr rctx="IE">
                                        <p:cTn id="133" dur="400" fill="hold"/>
                                        <p:tgtEl>
                                          <p:spTgt spid="24"/>
                                        </p:tgtEl>
                                      </p:cBhvr>
                                    </p:animEffect>
                                  </p:childTnLst>
                                </p:cTn>
                              </p:par>
                              <p:par>
                                <p:cTn id="134" presetID="9" presetClass="emph" presetSubtype="0" fill="hold" grpId="0" nodeType="withEffect">
                                  <p:stCondLst>
                                    <p:cond delay="0"/>
                                  </p:stCondLst>
                                  <p:childTnLst>
                                    <p:set>
                                      <p:cBhvr>
                                        <p:cTn id="135" dur="400" fill="hold"/>
                                        <p:tgtEl>
                                          <p:spTgt spid="25"/>
                                        </p:tgtEl>
                                        <p:attrNameLst>
                                          <p:attrName>style.opacity</p:attrName>
                                        </p:attrNameLst>
                                      </p:cBhvr>
                                      <p:to>
                                        <p:strVal val="1"/>
                                      </p:to>
                                    </p:set>
                                    <p:animEffect filter="image" prLst="opacity: 1">
                                      <p:cBhvr rctx="IE">
                                        <p:cTn id="136" dur="400" fill="hold"/>
                                        <p:tgtEl>
                                          <p:spTgt spid="25"/>
                                        </p:tgtEl>
                                      </p:cBhvr>
                                    </p:animEffect>
                                  </p:childTnLst>
                                </p:cTn>
                              </p:par>
                              <p:par>
                                <p:cTn id="137" presetID="9" presetClass="emph" presetSubtype="0" fill="hold" grpId="0" nodeType="withEffect">
                                  <p:stCondLst>
                                    <p:cond delay="0"/>
                                  </p:stCondLst>
                                  <p:childTnLst>
                                    <p:set>
                                      <p:cBhvr>
                                        <p:cTn id="138" dur="400" fill="hold"/>
                                        <p:tgtEl>
                                          <p:spTgt spid="16"/>
                                        </p:tgtEl>
                                        <p:attrNameLst>
                                          <p:attrName>style.opacity</p:attrName>
                                        </p:attrNameLst>
                                      </p:cBhvr>
                                      <p:to>
                                        <p:strVal val="0.25"/>
                                      </p:to>
                                    </p:set>
                                    <p:animEffect filter="image" prLst="opacity: 0.25">
                                      <p:cBhvr rctx="IE">
                                        <p:cTn id="139" dur="400" fill="hold"/>
                                        <p:tgtEl>
                                          <p:spTgt spid="16"/>
                                        </p:tgtEl>
                                      </p:cBhvr>
                                    </p:animEffect>
                                  </p:childTnLst>
                                </p:cTn>
                              </p:par>
                              <p:par>
                                <p:cTn id="140" presetID="9" presetClass="emph" presetSubtype="0" fill="hold" grpId="0" nodeType="withEffect">
                                  <p:stCondLst>
                                    <p:cond delay="0"/>
                                  </p:stCondLst>
                                  <p:childTnLst>
                                    <p:set>
                                      <p:cBhvr>
                                        <p:cTn id="141" dur="400" fill="hold"/>
                                        <p:tgtEl>
                                          <p:spTgt spid="17"/>
                                        </p:tgtEl>
                                        <p:attrNameLst>
                                          <p:attrName>style.opacity</p:attrName>
                                        </p:attrNameLst>
                                      </p:cBhvr>
                                      <p:to>
                                        <p:strVal val="0.25"/>
                                      </p:to>
                                    </p:set>
                                    <p:animEffect filter="image" prLst="opacity: 0.25">
                                      <p:cBhvr rctx="IE">
                                        <p:cTn id="142" dur="400" fill="hold"/>
                                        <p:tgtEl>
                                          <p:spTgt spid="17"/>
                                        </p:tgtEl>
                                      </p:cBhvr>
                                    </p:animEffect>
                                  </p:childTnLst>
                                </p:cTn>
                              </p:par>
                              <p:par>
                                <p:cTn id="143" presetID="9" presetClass="emph" presetSubtype="0" fill="hold" grpId="0" nodeType="withEffect">
                                  <p:stCondLst>
                                    <p:cond delay="0"/>
                                  </p:stCondLst>
                                  <p:childTnLst>
                                    <p:set>
                                      <p:cBhvr>
                                        <p:cTn id="144" dur="400" fill="hold"/>
                                        <p:tgtEl>
                                          <p:spTgt spid="18"/>
                                        </p:tgtEl>
                                        <p:attrNameLst>
                                          <p:attrName>style.opacity</p:attrName>
                                        </p:attrNameLst>
                                      </p:cBhvr>
                                      <p:to>
                                        <p:strVal val="0.25"/>
                                      </p:to>
                                    </p:set>
                                    <p:animEffect filter="image" prLst="opacity: 0.25">
                                      <p:cBhvr rctx="IE">
                                        <p:cTn id="145" dur="400" fill="hold"/>
                                        <p:tgtEl>
                                          <p:spTgt spid="18"/>
                                        </p:tgtEl>
                                      </p:cBhvr>
                                    </p:animEffect>
                                  </p:childTnLst>
                                </p:cTn>
                              </p:par>
                              <p:par>
                                <p:cTn id="146" presetID="9" presetClass="emph" presetSubtype="0" fill="hold" grpId="0" nodeType="withEffect">
                                  <p:stCondLst>
                                    <p:cond delay="0"/>
                                  </p:stCondLst>
                                  <p:childTnLst>
                                    <p:set>
                                      <p:cBhvr>
                                        <p:cTn id="147" dur="400" fill="hold"/>
                                        <p:tgtEl>
                                          <p:spTgt spid="19"/>
                                        </p:tgtEl>
                                        <p:attrNameLst>
                                          <p:attrName>style.opacity</p:attrName>
                                        </p:attrNameLst>
                                      </p:cBhvr>
                                      <p:to>
                                        <p:strVal val="0.25"/>
                                      </p:to>
                                    </p:set>
                                    <p:animEffect filter="image" prLst="opacity: 0.25">
                                      <p:cBhvr rctx="IE">
                                        <p:cTn id="148" dur="400" fill="hold"/>
                                        <p:tgtEl>
                                          <p:spTgt spid="19"/>
                                        </p:tgtEl>
                                      </p:cBhvr>
                                    </p:animEffect>
                                  </p:childTnLst>
                                </p:cTn>
                              </p:par>
                              <p:par>
                                <p:cTn id="149" presetID="9" presetClass="emph" presetSubtype="0" fill="hold" grpId="0" nodeType="withEffect">
                                  <p:stCondLst>
                                    <p:cond delay="0"/>
                                  </p:stCondLst>
                                  <p:childTnLst>
                                    <p:set>
                                      <p:cBhvr>
                                        <p:cTn id="150" dur="400" fill="hold"/>
                                        <p:tgtEl>
                                          <p:spTgt spid="20"/>
                                        </p:tgtEl>
                                        <p:attrNameLst>
                                          <p:attrName>style.opacity</p:attrName>
                                        </p:attrNameLst>
                                      </p:cBhvr>
                                      <p:to>
                                        <p:strVal val="0.25"/>
                                      </p:to>
                                    </p:set>
                                    <p:animEffect filter="image" prLst="opacity: 0.25">
                                      <p:cBhvr rctx="IE">
                                        <p:cTn id="151" dur="400" fill="hold"/>
                                        <p:tgtEl>
                                          <p:spTgt spid="20"/>
                                        </p:tgtEl>
                                      </p:cBhvr>
                                    </p:animEffect>
                                  </p:childTnLst>
                                </p:cTn>
                              </p:par>
                            </p:childTnLst>
                          </p:cTn>
                        </p:par>
                      </p:childTnLst>
                    </p:cTn>
                  </p:par>
                  <p:par>
                    <p:cTn id="152" fill="hold">
                      <p:stCondLst>
                        <p:cond delay="indefinite"/>
                      </p:stCondLst>
                      <p:childTnLst>
                        <p:par>
                          <p:cTn id="153" fill="hold">
                            <p:stCondLst>
                              <p:cond delay="0"/>
                            </p:stCondLst>
                            <p:childTnLst>
                              <p:par>
                                <p:cTn id="154" presetID="9" presetClass="emph" presetSubtype="0" fill="hold" grpId="0" nodeType="clickEffect">
                                  <p:stCondLst>
                                    <p:cond delay="0"/>
                                  </p:stCondLst>
                                  <p:childTnLst>
                                    <p:set>
                                      <p:cBhvr>
                                        <p:cTn id="155" dur="400" fill="hold"/>
                                        <p:tgtEl>
                                          <p:spTgt spid="26"/>
                                        </p:tgtEl>
                                        <p:attrNameLst>
                                          <p:attrName>style.opacity</p:attrName>
                                        </p:attrNameLst>
                                      </p:cBhvr>
                                      <p:to>
                                        <p:strVal val="1"/>
                                      </p:to>
                                    </p:set>
                                    <p:animEffect filter="image" prLst="opacity: 1">
                                      <p:cBhvr rctx="IE">
                                        <p:cTn id="156" dur="400" fill="hold"/>
                                        <p:tgtEl>
                                          <p:spTgt spid="26"/>
                                        </p:tgtEl>
                                      </p:cBhvr>
                                    </p:animEffect>
                                  </p:childTnLst>
                                </p:cTn>
                              </p:par>
                              <p:par>
                                <p:cTn id="157" presetID="9" presetClass="emph" presetSubtype="0" fill="hold" grpId="0" nodeType="withEffect">
                                  <p:stCondLst>
                                    <p:cond delay="0"/>
                                  </p:stCondLst>
                                  <p:childTnLst>
                                    <p:set>
                                      <p:cBhvr>
                                        <p:cTn id="158" dur="400" fill="hold"/>
                                        <p:tgtEl>
                                          <p:spTgt spid="27"/>
                                        </p:tgtEl>
                                        <p:attrNameLst>
                                          <p:attrName>style.opacity</p:attrName>
                                        </p:attrNameLst>
                                      </p:cBhvr>
                                      <p:to>
                                        <p:strVal val="1"/>
                                      </p:to>
                                    </p:set>
                                    <p:animEffect filter="image" prLst="opacity: 1">
                                      <p:cBhvr rctx="IE">
                                        <p:cTn id="159" dur="400" fill="hold"/>
                                        <p:tgtEl>
                                          <p:spTgt spid="27"/>
                                        </p:tgtEl>
                                      </p:cBhvr>
                                    </p:animEffect>
                                  </p:childTnLst>
                                </p:cTn>
                              </p:par>
                              <p:par>
                                <p:cTn id="160" presetID="9" presetClass="emph" presetSubtype="0" fill="hold" grpId="0" nodeType="withEffect">
                                  <p:stCondLst>
                                    <p:cond delay="0"/>
                                  </p:stCondLst>
                                  <p:childTnLst>
                                    <p:set>
                                      <p:cBhvr>
                                        <p:cTn id="161" dur="400" fill="hold"/>
                                        <p:tgtEl>
                                          <p:spTgt spid="21"/>
                                        </p:tgtEl>
                                        <p:attrNameLst>
                                          <p:attrName>style.opacity</p:attrName>
                                        </p:attrNameLst>
                                      </p:cBhvr>
                                      <p:to>
                                        <p:strVal val="0.25"/>
                                      </p:to>
                                    </p:set>
                                    <p:animEffect filter="image" prLst="opacity: 0.25">
                                      <p:cBhvr rctx="IE">
                                        <p:cTn id="162" dur="400" fill="hold"/>
                                        <p:tgtEl>
                                          <p:spTgt spid="21"/>
                                        </p:tgtEl>
                                      </p:cBhvr>
                                    </p:animEffect>
                                  </p:childTnLst>
                                </p:cTn>
                              </p:par>
                              <p:par>
                                <p:cTn id="163" presetID="9" presetClass="emph" presetSubtype="0" fill="hold" grpId="0" nodeType="withEffect">
                                  <p:stCondLst>
                                    <p:cond delay="0"/>
                                  </p:stCondLst>
                                  <p:childTnLst>
                                    <p:set>
                                      <p:cBhvr>
                                        <p:cTn id="164" dur="400" fill="hold"/>
                                        <p:tgtEl>
                                          <p:spTgt spid="22"/>
                                        </p:tgtEl>
                                        <p:attrNameLst>
                                          <p:attrName>style.opacity</p:attrName>
                                        </p:attrNameLst>
                                      </p:cBhvr>
                                      <p:to>
                                        <p:strVal val="0.25"/>
                                      </p:to>
                                    </p:set>
                                    <p:animEffect filter="image" prLst="opacity: 0.25">
                                      <p:cBhvr rctx="IE">
                                        <p:cTn id="165" dur="400" fill="hold"/>
                                        <p:tgtEl>
                                          <p:spTgt spid="22"/>
                                        </p:tgtEl>
                                      </p:cBhvr>
                                    </p:animEffect>
                                  </p:childTnLst>
                                </p:cTn>
                              </p:par>
                              <p:par>
                                <p:cTn id="166" presetID="9" presetClass="emph" presetSubtype="0" fill="hold" grpId="0" nodeType="withEffect">
                                  <p:stCondLst>
                                    <p:cond delay="0"/>
                                  </p:stCondLst>
                                  <p:childTnLst>
                                    <p:set>
                                      <p:cBhvr>
                                        <p:cTn id="167" dur="400" fill="hold"/>
                                        <p:tgtEl>
                                          <p:spTgt spid="23"/>
                                        </p:tgtEl>
                                        <p:attrNameLst>
                                          <p:attrName>style.opacity</p:attrName>
                                        </p:attrNameLst>
                                      </p:cBhvr>
                                      <p:to>
                                        <p:strVal val="0.25"/>
                                      </p:to>
                                    </p:set>
                                    <p:animEffect filter="image" prLst="opacity: 0.25">
                                      <p:cBhvr rctx="IE">
                                        <p:cTn id="168" dur="400" fill="hold"/>
                                        <p:tgtEl>
                                          <p:spTgt spid="23"/>
                                        </p:tgtEl>
                                      </p:cBhvr>
                                    </p:animEffect>
                                  </p:childTnLst>
                                </p:cTn>
                              </p:par>
                              <p:par>
                                <p:cTn id="169" presetID="9" presetClass="emph" presetSubtype="0" fill="hold" grpId="0" nodeType="withEffect">
                                  <p:stCondLst>
                                    <p:cond delay="0"/>
                                  </p:stCondLst>
                                  <p:childTnLst>
                                    <p:set>
                                      <p:cBhvr>
                                        <p:cTn id="170" dur="400" fill="hold"/>
                                        <p:tgtEl>
                                          <p:spTgt spid="24"/>
                                        </p:tgtEl>
                                        <p:attrNameLst>
                                          <p:attrName>style.opacity</p:attrName>
                                        </p:attrNameLst>
                                      </p:cBhvr>
                                      <p:to>
                                        <p:strVal val="0.25"/>
                                      </p:to>
                                    </p:set>
                                    <p:animEffect filter="image" prLst="opacity: 0.25">
                                      <p:cBhvr rctx="IE">
                                        <p:cTn id="171" dur="400" fill="hold"/>
                                        <p:tgtEl>
                                          <p:spTgt spid="24"/>
                                        </p:tgtEl>
                                      </p:cBhvr>
                                    </p:animEffect>
                                  </p:childTnLst>
                                </p:cTn>
                              </p:par>
                              <p:par>
                                <p:cTn id="172" presetID="9" presetClass="emph" presetSubtype="0" fill="hold" grpId="0" nodeType="withEffect">
                                  <p:stCondLst>
                                    <p:cond delay="0"/>
                                  </p:stCondLst>
                                  <p:childTnLst>
                                    <p:set>
                                      <p:cBhvr>
                                        <p:cTn id="173" dur="400" fill="hold"/>
                                        <p:tgtEl>
                                          <p:spTgt spid="25"/>
                                        </p:tgtEl>
                                        <p:attrNameLst>
                                          <p:attrName>style.opacity</p:attrName>
                                        </p:attrNameLst>
                                      </p:cBhvr>
                                      <p:to>
                                        <p:strVal val="0.25"/>
                                      </p:to>
                                    </p:set>
                                    <p:animEffect filter="image" prLst="opacity: 0.25">
                                      <p:cBhvr rctx="IE">
                                        <p:cTn id="174" dur="40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is a capture the flag?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7" name="Text 4"/>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4000" b="1" dirty="0">
                <a:solidFill>
                  <a:srgbClr val="7FB2FF"/>
                </a:solidFill>
                <a:latin typeface="Courier New" pitchFamily="34" charset="0"/>
                <a:ea typeface="Courier New" pitchFamily="34" charset="-122"/>
                <a:cs typeface="Courier New" pitchFamily="34" charset="-120"/>
              </a:rPr>
              <a:t>CYBA</a:t>
            </a:r>
            <a:r>
              <a:rPr lang="en-US" sz="4000" b="1" dirty="0">
                <a:solidFill>
                  <a:srgbClr val="F5A623"/>
                </a:solidFill>
                <a:latin typeface="Courier New" pitchFamily="34" charset="0"/>
                <a:ea typeface="Courier New" pitchFamily="34" charset="-122"/>
                <a:cs typeface="Courier New" pitchFamily="34" charset="-120"/>
              </a:rPr>
              <a:t>{</a:t>
            </a:r>
            <a:r>
              <a:rPr lang="en-US" sz="4000" b="1" dirty="0">
                <a:solidFill>
                  <a:srgbClr val="46D39A"/>
                </a:solidFill>
                <a:latin typeface="Courier New" pitchFamily="34" charset="0"/>
                <a:ea typeface="Courier New" pitchFamily="34" charset="-122"/>
                <a:cs typeface="Courier New" pitchFamily="34" charset="-120"/>
              </a:rPr>
              <a:t>moves-4c8c640b</a:t>
            </a: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8" name="Shape 5"/>
          <p:cNvSpPr/>
          <p:nvPr/>
        </p:nvSpPr>
        <p:spPr>
          <a:xfrm>
            <a:off x="548640" y="3154680"/>
            <a:ext cx="3566160" cy="1508760"/>
          </a:xfrm>
          <a:prstGeom prst="roundRect">
            <a:avLst>
              <a:gd name="adj" fmla="val 6061"/>
            </a:avLst>
          </a:prstGeom>
          <a:solidFill>
            <a:srgbClr val="F1F5FB"/>
          </a:solidFill>
          <a:ln/>
        </p:spPr>
        <p:txBody>
          <a:bodyPr/>
          <a:lstStyle/>
          <a:p>
            <a:endParaRPr lang="en-US"/>
          </a:p>
        </p:txBody>
      </p:sp>
      <p:sp>
        <p:nvSpPr>
          <p:cNvPr id="9" name="Text 6"/>
          <p:cNvSpPr txBox="1"/>
          <p:nvPr/>
        </p:nvSpPr>
        <p:spPr>
          <a:xfrm>
            <a:off x="777240" y="3291840"/>
            <a:ext cx="3108960" cy="365760"/>
          </a:xfrm>
          <a:prstGeom prst="rect">
            <a:avLst/>
          </a:prstGeom>
          <a:noFill/>
          <a:ln/>
        </p:spPr>
        <p:txBody>
          <a:bodyPr wrap="square" lIns="0" tIns="0" rIns="0" bIns="0" rtlCol="0" anchor="t"/>
          <a:lstStyle/>
          <a:p>
            <a:pPr marL="0" indent="0">
              <a:buNone/>
            </a:pPr>
            <a:r>
              <a:rPr lang="en-US" sz="1900" b="1" dirty="0">
                <a:solidFill>
                  <a:srgbClr val="2459D8"/>
                </a:solidFill>
                <a:latin typeface="Courier New" pitchFamily="34" charset="0"/>
                <a:ea typeface="Courier New" pitchFamily="34" charset="-122"/>
                <a:cs typeface="Courier New" pitchFamily="34" charset="-120"/>
              </a:rPr>
              <a:t>CYBA</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Always the same start</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 flag today begins with CYBA.</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txBody>
          <a:bodyPr/>
          <a:lstStyle/>
          <a:p>
            <a:endParaRPr lang="en-US"/>
          </a:p>
        </p:txBody>
      </p:sp>
      <p:sp>
        <p:nvSpPr>
          <p:cNvPr id="13" name="Text 10"/>
          <p:cNvSpPr txBox="1"/>
          <p:nvPr/>
        </p:nvSpPr>
        <p:spPr>
          <a:xfrm>
            <a:off x="4535424" y="3291840"/>
            <a:ext cx="3108960" cy="365760"/>
          </a:xfrm>
          <a:prstGeom prst="rect">
            <a:avLst/>
          </a:prstGeom>
          <a:noFill/>
          <a:ln/>
        </p:spPr>
        <p:txBody>
          <a:bodyPr wrap="square" lIns="0" tIns="0" rIns="0" bIns="0" rtlCol="0" anchor="t"/>
          <a:lstStyle/>
          <a:p>
            <a:pPr marL="0" indent="0">
              <a:buNone/>
            </a:pPr>
            <a:r>
              <a:rPr lang="en-US" sz="1900" b="1" dirty="0">
                <a:solidFill>
                  <a:srgbClr val="C07A00"/>
                </a:solidFill>
                <a:latin typeface="Courier New" pitchFamily="34" charset="0"/>
                <a:ea typeface="Courier New" pitchFamily="34" charset="-122"/>
                <a:cs typeface="Courier New" pitchFamily="34" charset="-120"/>
              </a:rPr>
              <a:t>{   }</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wrapper</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Curly braces mark where the secret begins and ends.</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txBody>
          <a:bodyPr/>
          <a:lstStyle/>
          <a:p>
            <a:endParaRPr lang="en-US"/>
          </a:p>
        </p:txBody>
      </p:sp>
      <p:sp>
        <p:nvSpPr>
          <p:cNvPr id="17" name="Text 14"/>
          <p:cNvSpPr txBox="1"/>
          <p:nvPr/>
        </p:nvSpPr>
        <p:spPr>
          <a:xfrm>
            <a:off x="8293608" y="3291840"/>
            <a:ext cx="3108960" cy="365760"/>
          </a:xfrm>
          <a:prstGeom prst="rect">
            <a:avLst/>
          </a:prstGeom>
          <a:noFill/>
          <a:ln/>
        </p:spPr>
        <p:txBody>
          <a:bodyPr wrap="square" lIns="0" tIns="0" rIns="0" bIns="0" rtlCol="0" anchor="t"/>
          <a:lstStyle/>
          <a:p>
            <a:pPr marL="0" indent="0">
              <a:buNone/>
            </a:pPr>
            <a:r>
              <a:rPr lang="en-US" sz="1900" b="1" dirty="0">
                <a:solidFill>
                  <a:srgbClr val="17875A"/>
                </a:solidFill>
                <a:latin typeface="Courier New" pitchFamily="34" charset="0"/>
                <a:ea typeface="Courier New" pitchFamily="34" charset="-122"/>
                <a:cs typeface="Courier New" pitchFamily="34" charset="-120"/>
              </a:rPr>
              <a:t>moves-4c8c640b</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secret</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A word, a dash, 8 random characters. New on every computer.</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txBody>
          <a:bodyPr/>
          <a:lstStyle/>
          <a:p>
            <a:endParaRPr lang="en-US"/>
          </a:p>
        </p:txBody>
      </p:sp>
      <p:sp>
        <p:nvSpPr>
          <p:cNvPr id="21" name="Text 18"/>
          <p:cNvSpPr txBox="1"/>
          <p:nvPr/>
        </p:nvSpPr>
        <p:spPr>
          <a:xfrm>
            <a:off x="548640"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mission</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txBody>
          <a:bodyPr/>
          <a:lstStyle/>
          <a:p>
            <a:endParaRPr lang="en-US"/>
          </a:p>
        </p:txBody>
      </p:sp>
      <p:sp>
        <p:nvSpPr>
          <p:cNvPr id="24" name="Text 21"/>
          <p:cNvSpPr txBox="1"/>
          <p:nvPr/>
        </p:nvSpPr>
        <p:spPr>
          <a:xfrm>
            <a:off x="3355848"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Find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flag</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txBody>
          <a:bodyPr/>
          <a:lstStyle/>
          <a:p>
            <a:endParaRPr lang="en-US"/>
          </a:p>
        </p:txBody>
      </p:sp>
      <p:sp>
        <p:nvSpPr>
          <p:cNvPr id="27" name="Text 24"/>
          <p:cNvSpPr txBox="1"/>
          <p:nvPr/>
        </p:nvSpPr>
        <p:spPr>
          <a:xfrm>
            <a:off x="6163056"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whole thing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txBody>
          <a:bodyPr/>
          <a:lstStyle/>
          <a:p>
            <a:endParaRPr lang="en-US"/>
          </a:p>
        </p:txBody>
      </p:sp>
      <p:sp>
        <p:nvSpPr>
          <p:cNvPr id="30" name="Text 27"/>
          <p:cNvSpPr txBox="1"/>
          <p:nvPr/>
        </p:nvSpPr>
        <p:spPr>
          <a:xfrm>
            <a:off x="8970264"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Linux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The origin story</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uname -s   # Linux</a:t>
            </a:r>
            <a:endParaRPr lang="en-US" sz="2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 brief history of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731520" y="2121408"/>
            <a:ext cx="10728655" cy="54864"/>
          </a:xfrm>
          <a:prstGeom prst="rect">
            <a:avLst/>
          </a:prstGeom>
          <a:solidFill>
            <a:srgbClr val="D6DEEA"/>
          </a:solidFill>
          <a:ln/>
        </p:spPr>
        <p:txBody>
          <a:bodyPr/>
          <a:lstStyle/>
          <a:p>
            <a:endParaRPr lang="en-US"/>
          </a:p>
        </p:txBody>
      </p:sp>
      <p:sp>
        <p:nvSpPr>
          <p:cNvPr id="7" name="Shape 4"/>
          <p:cNvSpPr/>
          <p:nvPr/>
        </p:nvSpPr>
        <p:spPr>
          <a:xfrm>
            <a:off x="676656" y="1828800"/>
            <a:ext cx="1463040" cy="640080"/>
          </a:xfrm>
          <a:prstGeom prst="roundRect">
            <a:avLst>
              <a:gd name="adj" fmla="val 17143"/>
            </a:avLst>
          </a:prstGeom>
          <a:solidFill>
            <a:srgbClr val="2A9FD6"/>
          </a:solidFill>
          <a:ln/>
        </p:spPr>
        <p:txBody>
          <a:bodyPr/>
          <a:lstStyle/>
          <a:p>
            <a:endParaRPr lang="en-US"/>
          </a:p>
        </p:txBody>
      </p:sp>
      <p:sp>
        <p:nvSpPr>
          <p:cNvPr id="8" name="Text 5"/>
          <p:cNvSpPr txBox="1"/>
          <p:nvPr/>
        </p:nvSpPr>
        <p:spPr>
          <a:xfrm>
            <a:off x="67665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1969</a:t>
            </a:r>
            <a:endParaRPr lang="en-US" sz="2400" dirty="0"/>
          </a:p>
        </p:txBody>
      </p:sp>
      <p:sp>
        <p:nvSpPr>
          <p:cNvPr id="9" name="Shape 6"/>
          <p:cNvSpPr/>
          <p:nvPr/>
        </p:nvSpPr>
        <p:spPr>
          <a:xfrm>
            <a:off x="548640" y="2743200"/>
            <a:ext cx="1719072" cy="3017520"/>
          </a:xfrm>
          <a:prstGeom prst="roundRect">
            <a:avLst>
              <a:gd name="adj" fmla="val 5319"/>
            </a:avLst>
          </a:prstGeom>
          <a:solidFill>
            <a:srgbClr val="F1F5FB"/>
          </a:solidFill>
          <a:ln/>
        </p:spPr>
        <p:txBody>
          <a:bodyPr/>
          <a:lstStyle/>
          <a:p>
            <a:endParaRPr lang="en-US"/>
          </a:p>
        </p:txBody>
      </p:sp>
      <p:sp>
        <p:nvSpPr>
          <p:cNvPr id="10" name="Text 7"/>
          <p:cNvSpPr txBox="1"/>
          <p:nvPr/>
        </p:nvSpPr>
        <p:spPr>
          <a:xfrm>
            <a:off x="713232" y="2880360"/>
            <a:ext cx="1463040" cy="548640"/>
          </a:xfrm>
          <a:prstGeom prst="rect">
            <a:avLst/>
          </a:prstGeom>
          <a:noFill/>
          <a:ln/>
        </p:spPr>
        <p:txBody>
          <a:bodyPr wrap="square" lIns="0" tIns="0" rIns="0" bIns="0" rtlCol="0" anchor="t"/>
          <a:lstStyle/>
          <a:p>
            <a:pPr marL="0" indent="0">
              <a:buNone/>
            </a:pPr>
            <a:r>
              <a:rPr lang="en-US" sz="1800" b="1" dirty="0">
                <a:solidFill>
                  <a:srgbClr val="2A9FD6"/>
                </a:solidFill>
                <a:latin typeface="Arial" pitchFamily="34" charset="0"/>
                <a:ea typeface="Arial" pitchFamily="34" charset="-122"/>
                <a:cs typeface="Arial" pitchFamily="34" charset="-120"/>
              </a:rPr>
              <a:t>Unix is born</a:t>
            </a:r>
            <a:endParaRPr lang="en-US" sz="1800" dirty="0"/>
          </a:p>
        </p:txBody>
      </p:sp>
      <p:sp>
        <p:nvSpPr>
          <p:cNvPr id="11" name="Text 8"/>
          <p:cNvSpPr txBox="1"/>
          <p:nvPr/>
        </p:nvSpPr>
        <p:spPr>
          <a:xfrm>
            <a:off x="71323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Thompson and Ritchie build Unix at Bell Labs: small tools, files and a shell.</a:t>
            </a:r>
            <a:endParaRPr lang="en-US" sz="1450" dirty="0"/>
          </a:p>
        </p:txBody>
      </p:sp>
      <p:sp>
        <p:nvSpPr>
          <p:cNvPr id="12" name="Shape 9"/>
          <p:cNvSpPr/>
          <p:nvPr/>
        </p:nvSpPr>
        <p:spPr>
          <a:xfrm>
            <a:off x="2542032" y="1828800"/>
            <a:ext cx="1463040" cy="640080"/>
          </a:xfrm>
          <a:prstGeom prst="roundRect">
            <a:avLst>
              <a:gd name="adj" fmla="val 17143"/>
            </a:avLst>
          </a:prstGeom>
          <a:solidFill>
            <a:srgbClr val="2459D8"/>
          </a:solidFill>
          <a:ln/>
        </p:spPr>
        <p:txBody>
          <a:bodyPr/>
          <a:lstStyle/>
          <a:p>
            <a:endParaRPr lang="en-US"/>
          </a:p>
        </p:txBody>
      </p:sp>
      <p:sp>
        <p:nvSpPr>
          <p:cNvPr id="13" name="Text 10"/>
          <p:cNvSpPr txBox="1"/>
          <p:nvPr/>
        </p:nvSpPr>
        <p:spPr>
          <a:xfrm>
            <a:off x="2542032"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1983</a:t>
            </a:r>
            <a:endParaRPr lang="en-US" sz="2400" dirty="0"/>
          </a:p>
        </p:txBody>
      </p:sp>
      <p:sp>
        <p:nvSpPr>
          <p:cNvPr id="14" name="Shape 11"/>
          <p:cNvSpPr/>
          <p:nvPr/>
        </p:nvSpPr>
        <p:spPr>
          <a:xfrm>
            <a:off x="2414016" y="2743200"/>
            <a:ext cx="1719072" cy="3017520"/>
          </a:xfrm>
          <a:prstGeom prst="roundRect">
            <a:avLst>
              <a:gd name="adj" fmla="val 5319"/>
            </a:avLst>
          </a:prstGeom>
          <a:solidFill>
            <a:srgbClr val="F1F5FB"/>
          </a:solidFill>
          <a:ln/>
        </p:spPr>
        <p:txBody>
          <a:bodyPr/>
          <a:lstStyle/>
          <a:p>
            <a:endParaRPr lang="en-US"/>
          </a:p>
        </p:txBody>
      </p:sp>
      <p:sp>
        <p:nvSpPr>
          <p:cNvPr id="15" name="Text 12"/>
          <p:cNvSpPr txBox="1"/>
          <p:nvPr/>
        </p:nvSpPr>
        <p:spPr>
          <a:xfrm>
            <a:off x="2578608" y="2880360"/>
            <a:ext cx="1463040" cy="548640"/>
          </a:xfrm>
          <a:prstGeom prst="rect">
            <a:avLst/>
          </a:prstGeom>
          <a:noFill/>
          <a:ln/>
        </p:spPr>
        <p:txBody>
          <a:bodyPr wrap="square" lIns="0" tIns="0" rIns="0" bIns="0" rtlCol="0" anchor="t"/>
          <a:lstStyle/>
          <a:p>
            <a:pPr marL="0" indent="0">
              <a:buNone/>
            </a:pPr>
            <a:r>
              <a:rPr lang="en-US" sz="1800" b="1" dirty="0">
                <a:solidFill>
                  <a:srgbClr val="2459D8"/>
                </a:solidFill>
                <a:latin typeface="Arial" pitchFamily="34" charset="0"/>
                <a:ea typeface="Arial" pitchFamily="34" charset="-122"/>
                <a:cs typeface="Arial" pitchFamily="34" charset="-120"/>
              </a:rPr>
              <a:t>GNU begins</a:t>
            </a:r>
            <a:endParaRPr lang="en-US" sz="1800" dirty="0"/>
          </a:p>
        </p:txBody>
      </p:sp>
      <p:sp>
        <p:nvSpPr>
          <p:cNvPr id="16" name="Text 13"/>
          <p:cNvSpPr txBox="1"/>
          <p:nvPr/>
        </p:nvSpPr>
        <p:spPr>
          <a:xfrm>
            <a:off x="2578608"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Stallman starts building a free, Unix-like system and its tools.</a:t>
            </a:r>
            <a:endParaRPr lang="en-US" sz="1450" dirty="0"/>
          </a:p>
        </p:txBody>
      </p:sp>
      <p:sp>
        <p:nvSpPr>
          <p:cNvPr id="17" name="Shape 14"/>
          <p:cNvSpPr/>
          <p:nvPr/>
        </p:nvSpPr>
        <p:spPr>
          <a:xfrm>
            <a:off x="4407408" y="1828800"/>
            <a:ext cx="1463040" cy="640080"/>
          </a:xfrm>
          <a:prstGeom prst="roundRect">
            <a:avLst>
              <a:gd name="adj" fmla="val 17143"/>
            </a:avLst>
          </a:prstGeom>
          <a:solidFill>
            <a:srgbClr val="17875A"/>
          </a:solidFill>
          <a:ln/>
        </p:spPr>
        <p:txBody>
          <a:bodyPr/>
          <a:lstStyle/>
          <a:p>
            <a:endParaRPr lang="en-US"/>
          </a:p>
        </p:txBody>
      </p:sp>
      <p:sp>
        <p:nvSpPr>
          <p:cNvPr id="18" name="Text 15"/>
          <p:cNvSpPr txBox="1"/>
          <p:nvPr/>
        </p:nvSpPr>
        <p:spPr>
          <a:xfrm>
            <a:off x="4407408"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1991</a:t>
            </a:r>
            <a:endParaRPr lang="en-US" sz="2400" dirty="0"/>
          </a:p>
        </p:txBody>
      </p:sp>
      <p:sp>
        <p:nvSpPr>
          <p:cNvPr id="19" name="Shape 16"/>
          <p:cNvSpPr/>
          <p:nvPr/>
        </p:nvSpPr>
        <p:spPr>
          <a:xfrm>
            <a:off x="4279392" y="2743200"/>
            <a:ext cx="1719072" cy="3017520"/>
          </a:xfrm>
          <a:prstGeom prst="roundRect">
            <a:avLst>
              <a:gd name="adj" fmla="val 5319"/>
            </a:avLst>
          </a:prstGeom>
          <a:solidFill>
            <a:srgbClr val="F1F5FB"/>
          </a:solidFill>
          <a:ln/>
        </p:spPr>
        <p:txBody>
          <a:bodyPr/>
          <a:lstStyle/>
          <a:p>
            <a:endParaRPr lang="en-US"/>
          </a:p>
        </p:txBody>
      </p:sp>
      <p:sp>
        <p:nvSpPr>
          <p:cNvPr id="20" name="Text 17"/>
          <p:cNvSpPr txBox="1"/>
          <p:nvPr/>
        </p:nvSpPr>
        <p:spPr>
          <a:xfrm>
            <a:off x="4443984" y="2880360"/>
            <a:ext cx="1463040" cy="548640"/>
          </a:xfrm>
          <a:prstGeom prst="rect">
            <a:avLst/>
          </a:prstGeom>
          <a:noFill/>
          <a:ln/>
        </p:spPr>
        <p:txBody>
          <a:bodyPr wrap="square" lIns="0" tIns="0" rIns="0" bIns="0" rtlCol="0" anchor="t"/>
          <a:lstStyle/>
          <a:p>
            <a:pPr marL="0" indent="0">
              <a:buNone/>
            </a:pPr>
            <a:r>
              <a:rPr lang="en-US" sz="1800" b="1" dirty="0">
                <a:solidFill>
                  <a:srgbClr val="17875A"/>
                </a:solidFill>
                <a:latin typeface="Arial" pitchFamily="34" charset="0"/>
                <a:ea typeface="Arial" pitchFamily="34" charset="-122"/>
                <a:cs typeface="Arial" pitchFamily="34" charset="-120"/>
              </a:rPr>
              <a:t>Linux</a:t>
            </a:r>
            <a:endParaRPr lang="en-US" sz="1800" dirty="0"/>
          </a:p>
        </p:txBody>
      </p:sp>
      <p:sp>
        <p:nvSpPr>
          <p:cNvPr id="21" name="Text 18"/>
          <p:cNvSpPr txBox="1"/>
          <p:nvPr/>
        </p:nvSpPr>
        <p:spPr>
          <a:xfrm>
            <a:off x="4443984"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Linus Torvalds, a 21-year-old student, posts a 'hobby' kernel.</a:t>
            </a:r>
            <a:endParaRPr lang="en-US" sz="1450" dirty="0"/>
          </a:p>
        </p:txBody>
      </p:sp>
      <p:sp>
        <p:nvSpPr>
          <p:cNvPr id="22" name="Shape 19"/>
          <p:cNvSpPr/>
          <p:nvPr/>
        </p:nvSpPr>
        <p:spPr>
          <a:xfrm>
            <a:off x="6272784" y="1828800"/>
            <a:ext cx="1463040" cy="640080"/>
          </a:xfrm>
          <a:prstGeom prst="roundRect">
            <a:avLst>
              <a:gd name="adj" fmla="val 17143"/>
            </a:avLst>
          </a:prstGeom>
          <a:solidFill>
            <a:srgbClr val="7448D4"/>
          </a:solidFill>
          <a:ln/>
        </p:spPr>
        <p:txBody>
          <a:bodyPr/>
          <a:lstStyle/>
          <a:p>
            <a:endParaRPr lang="en-US"/>
          </a:p>
        </p:txBody>
      </p:sp>
      <p:sp>
        <p:nvSpPr>
          <p:cNvPr id="23" name="Text 20"/>
          <p:cNvSpPr txBox="1"/>
          <p:nvPr/>
        </p:nvSpPr>
        <p:spPr>
          <a:xfrm>
            <a:off x="6272784"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2008</a:t>
            </a:r>
            <a:endParaRPr lang="en-US" sz="2400" dirty="0"/>
          </a:p>
        </p:txBody>
      </p:sp>
      <p:sp>
        <p:nvSpPr>
          <p:cNvPr id="24" name="Shape 21"/>
          <p:cNvSpPr/>
          <p:nvPr/>
        </p:nvSpPr>
        <p:spPr>
          <a:xfrm>
            <a:off x="6144768" y="2743200"/>
            <a:ext cx="1719072" cy="3017520"/>
          </a:xfrm>
          <a:prstGeom prst="roundRect">
            <a:avLst>
              <a:gd name="adj" fmla="val 5319"/>
            </a:avLst>
          </a:prstGeom>
          <a:solidFill>
            <a:srgbClr val="F1F5FB"/>
          </a:solidFill>
          <a:ln/>
        </p:spPr>
        <p:txBody>
          <a:bodyPr/>
          <a:lstStyle/>
          <a:p>
            <a:endParaRPr lang="en-US"/>
          </a:p>
        </p:txBody>
      </p:sp>
      <p:sp>
        <p:nvSpPr>
          <p:cNvPr id="25" name="Text 22"/>
          <p:cNvSpPr txBox="1"/>
          <p:nvPr/>
        </p:nvSpPr>
        <p:spPr>
          <a:xfrm>
            <a:off x="6309360" y="2880360"/>
            <a:ext cx="1463040" cy="548640"/>
          </a:xfrm>
          <a:prstGeom prst="rect">
            <a:avLst/>
          </a:prstGeom>
          <a:noFill/>
          <a:ln/>
        </p:spPr>
        <p:txBody>
          <a:bodyPr wrap="square" lIns="0" tIns="0" rIns="0" bIns="0" rtlCol="0" anchor="t"/>
          <a:lstStyle/>
          <a:p>
            <a:pPr marL="0" indent="0">
              <a:buNone/>
            </a:pPr>
            <a:r>
              <a:rPr lang="en-US" sz="1800" b="1" dirty="0">
                <a:solidFill>
                  <a:srgbClr val="7448D4"/>
                </a:solidFill>
                <a:latin typeface="Arial" pitchFamily="34" charset="0"/>
                <a:ea typeface="Arial" pitchFamily="34" charset="-122"/>
                <a:cs typeface="Arial" pitchFamily="34" charset="-120"/>
              </a:rPr>
              <a:t>Android</a:t>
            </a:r>
            <a:endParaRPr lang="en-US" sz="1800" dirty="0"/>
          </a:p>
        </p:txBody>
      </p:sp>
      <p:sp>
        <p:nvSpPr>
          <p:cNvPr id="26" name="Text 23"/>
          <p:cNvSpPr txBox="1"/>
          <p:nvPr/>
        </p:nvSpPr>
        <p:spPr>
          <a:xfrm>
            <a:off x="6309360"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first Android phone ships, built on the Linux kernel.</a:t>
            </a:r>
            <a:endParaRPr lang="en-US" sz="1450" dirty="0"/>
          </a:p>
        </p:txBody>
      </p:sp>
      <p:sp>
        <p:nvSpPr>
          <p:cNvPr id="27" name="Shape 24"/>
          <p:cNvSpPr/>
          <p:nvPr/>
        </p:nvSpPr>
        <p:spPr>
          <a:xfrm>
            <a:off x="8138160" y="1828800"/>
            <a:ext cx="1463040" cy="640080"/>
          </a:xfrm>
          <a:prstGeom prst="roundRect">
            <a:avLst>
              <a:gd name="adj" fmla="val 17143"/>
            </a:avLst>
          </a:prstGeom>
          <a:solidFill>
            <a:srgbClr val="D1416B"/>
          </a:solidFill>
          <a:ln/>
        </p:spPr>
        <p:txBody>
          <a:bodyPr/>
          <a:lstStyle/>
          <a:p>
            <a:endParaRPr lang="en-US"/>
          </a:p>
        </p:txBody>
      </p:sp>
      <p:sp>
        <p:nvSpPr>
          <p:cNvPr id="28" name="Text 25"/>
          <p:cNvSpPr txBox="1"/>
          <p:nvPr/>
        </p:nvSpPr>
        <p:spPr>
          <a:xfrm>
            <a:off x="8138160"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2017</a:t>
            </a:r>
            <a:endParaRPr lang="en-US" sz="2400" dirty="0"/>
          </a:p>
        </p:txBody>
      </p:sp>
      <p:sp>
        <p:nvSpPr>
          <p:cNvPr id="29" name="Shape 26"/>
          <p:cNvSpPr/>
          <p:nvPr/>
        </p:nvSpPr>
        <p:spPr>
          <a:xfrm>
            <a:off x="8010144" y="2743200"/>
            <a:ext cx="1719072" cy="3017520"/>
          </a:xfrm>
          <a:prstGeom prst="roundRect">
            <a:avLst>
              <a:gd name="adj" fmla="val 5319"/>
            </a:avLst>
          </a:prstGeom>
          <a:solidFill>
            <a:srgbClr val="F1F5FB"/>
          </a:solidFill>
          <a:ln/>
        </p:spPr>
        <p:txBody>
          <a:bodyPr/>
          <a:lstStyle/>
          <a:p>
            <a:endParaRPr lang="en-US"/>
          </a:p>
        </p:txBody>
      </p:sp>
      <p:sp>
        <p:nvSpPr>
          <p:cNvPr id="30" name="Text 27"/>
          <p:cNvSpPr txBox="1"/>
          <p:nvPr/>
        </p:nvSpPr>
        <p:spPr>
          <a:xfrm>
            <a:off x="8174736" y="2880360"/>
            <a:ext cx="1463040" cy="548640"/>
          </a:xfrm>
          <a:prstGeom prst="rect">
            <a:avLst/>
          </a:prstGeom>
          <a:noFill/>
          <a:ln/>
        </p:spPr>
        <p:txBody>
          <a:bodyPr wrap="square" lIns="0" tIns="0" rIns="0" bIns="0" rtlCol="0" anchor="t"/>
          <a:lstStyle/>
          <a:p>
            <a:pPr marL="0" indent="0">
              <a:buNone/>
            </a:pPr>
            <a:r>
              <a:rPr lang="en-US" sz="1800" b="1" dirty="0">
                <a:solidFill>
                  <a:srgbClr val="D1416B"/>
                </a:solidFill>
                <a:latin typeface="Arial" pitchFamily="34" charset="0"/>
                <a:ea typeface="Arial" pitchFamily="34" charset="-122"/>
                <a:cs typeface="Arial" pitchFamily="34" charset="-120"/>
              </a:rPr>
              <a:t>500 / 500</a:t>
            </a:r>
            <a:endParaRPr lang="en-US" sz="1800" dirty="0"/>
          </a:p>
        </p:txBody>
      </p:sp>
      <p:sp>
        <p:nvSpPr>
          <p:cNvPr id="31" name="Text 28"/>
          <p:cNvSpPr txBox="1"/>
          <p:nvPr/>
        </p:nvSpPr>
        <p:spPr>
          <a:xfrm>
            <a:off x="8174736"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one of the world's top 500 supercomputers runs Linux.</a:t>
            </a:r>
            <a:endParaRPr lang="en-US" sz="1450" dirty="0"/>
          </a:p>
        </p:txBody>
      </p:sp>
      <p:sp>
        <p:nvSpPr>
          <p:cNvPr id="32" name="Shape 29"/>
          <p:cNvSpPr/>
          <p:nvPr/>
        </p:nvSpPr>
        <p:spPr>
          <a:xfrm>
            <a:off x="10003536" y="1828800"/>
            <a:ext cx="1463040" cy="640080"/>
          </a:xfrm>
          <a:prstGeom prst="roundRect">
            <a:avLst>
              <a:gd name="adj" fmla="val 17143"/>
            </a:avLst>
          </a:prstGeom>
          <a:solidFill>
            <a:srgbClr val="E8820C"/>
          </a:solidFill>
          <a:ln/>
        </p:spPr>
        <p:txBody>
          <a:bodyPr/>
          <a:lstStyle/>
          <a:p>
            <a:endParaRPr lang="en-US"/>
          </a:p>
        </p:txBody>
      </p:sp>
      <p:sp>
        <p:nvSpPr>
          <p:cNvPr id="33" name="Text 30"/>
          <p:cNvSpPr txBox="1"/>
          <p:nvPr/>
        </p:nvSpPr>
        <p:spPr>
          <a:xfrm>
            <a:off x="1000353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Today</a:t>
            </a:r>
            <a:endParaRPr lang="en-US" sz="2400" dirty="0"/>
          </a:p>
        </p:txBody>
      </p:sp>
      <p:sp>
        <p:nvSpPr>
          <p:cNvPr id="34" name="Shape 31"/>
          <p:cNvSpPr/>
          <p:nvPr/>
        </p:nvSpPr>
        <p:spPr>
          <a:xfrm>
            <a:off x="9875520" y="2743200"/>
            <a:ext cx="1719072" cy="3017520"/>
          </a:xfrm>
          <a:prstGeom prst="roundRect">
            <a:avLst>
              <a:gd name="adj" fmla="val 5319"/>
            </a:avLst>
          </a:prstGeom>
          <a:solidFill>
            <a:srgbClr val="F1F5FB"/>
          </a:solidFill>
          <a:ln/>
        </p:spPr>
        <p:txBody>
          <a:bodyPr/>
          <a:lstStyle/>
          <a:p>
            <a:endParaRPr lang="en-US"/>
          </a:p>
        </p:txBody>
      </p:sp>
      <p:sp>
        <p:nvSpPr>
          <p:cNvPr id="35" name="Text 32"/>
          <p:cNvSpPr txBox="1"/>
          <p:nvPr/>
        </p:nvSpPr>
        <p:spPr>
          <a:xfrm>
            <a:off x="10040112" y="2880360"/>
            <a:ext cx="1463040" cy="548640"/>
          </a:xfrm>
          <a:prstGeom prst="rect">
            <a:avLst/>
          </a:prstGeom>
          <a:noFill/>
          <a:ln/>
        </p:spPr>
        <p:txBody>
          <a:bodyPr wrap="square" lIns="0" tIns="0" rIns="0" bIns="0" rtlCol="0" anchor="t"/>
          <a:lstStyle/>
          <a:p>
            <a:pPr marL="0" indent="0">
              <a:buNone/>
            </a:pPr>
            <a:r>
              <a:rPr lang="en-US" sz="1800" b="1" dirty="0">
                <a:solidFill>
                  <a:srgbClr val="E8820C"/>
                </a:solidFill>
                <a:latin typeface="Arial" pitchFamily="34" charset="0"/>
                <a:ea typeface="Arial" pitchFamily="34" charset="-122"/>
                <a:cs typeface="Arial" pitchFamily="34" charset="-120"/>
              </a:rPr>
              <a:t>Everywhere</a:t>
            </a:r>
            <a:endParaRPr lang="en-US" sz="1800" dirty="0"/>
          </a:p>
        </p:txBody>
      </p:sp>
      <p:sp>
        <p:nvSpPr>
          <p:cNvPr id="36" name="Text 33"/>
          <p:cNvSpPr txBox="1"/>
          <p:nvPr/>
        </p:nvSpPr>
        <p:spPr>
          <a:xfrm>
            <a:off x="1004011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Phones, servers, the cloud, TVs, cars and game consoles.</a:t>
            </a:r>
            <a:endParaRPr lang="en-US" sz="1450" dirty="0"/>
          </a:p>
        </p:txBody>
      </p:sp>
      <p:sp>
        <p:nvSpPr>
          <p:cNvPr id="37" name="Text 34"/>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400" b="1" dirty="0">
                <a:solidFill>
                  <a:srgbClr val="12213A"/>
                </a:solidFill>
                <a:latin typeface="Calibri" pitchFamily="34" charset="0"/>
                <a:ea typeface="Calibri" pitchFamily="34" charset="-122"/>
                <a:cs typeface="Calibri" pitchFamily="34" charset="-120"/>
              </a:rPr>
              <a:t>Linux </a:t>
            </a:r>
            <a:r>
              <a:rPr lang="en-US" sz="1400" dirty="0">
                <a:solidFill>
                  <a:srgbClr val="12213A"/>
                </a:solidFill>
                <a:latin typeface="Calibri" pitchFamily="34" charset="0"/>
                <a:ea typeface="Calibri" pitchFamily="34" charset="-122"/>
                <a:cs typeface="Calibri" pitchFamily="34" charset="-120"/>
              </a:rPr>
              <a:t>is the kernel, the core. A </a:t>
            </a:r>
            <a:r>
              <a:rPr lang="en-US" sz="1400" b="1" dirty="0">
                <a:solidFill>
                  <a:srgbClr val="12213A"/>
                </a:solidFill>
                <a:latin typeface="Calibri" pitchFamily="34" charset="0"/>
                <a:ea typeface="Calibri" pitchFamily="34" charset="-122"/>
                <a:cs typeface="Calibri" pitchFamily="34" charset="-120"/>
              </a:rPr>
              <a:t>distribution </a:t>
            </a:r>
            <a:r>
              <a:rPr lang="en-US" sz="1400" dirty="0">
                <a:solidFill>
                  <a:srgbClr val="12213A"/>
                </a:solidFill>
                <a:latin typeface="Calibri" pitchFamily="34" charset="0"/>
                <a:ea typeface="Calibri" pitchFamily="34" charset="-122"/>
                <a:cs typeface="Calibri" pitchFamily="34" charset="-120"/>
              </a:rPr>
              <a:t>(Ubuntu, Debian, Kali) is Linux plus tools, ready to use.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9" presetClass="emph" presetSubtype="0" fill="hold" grpId="0" nodeType="withEffect">
                                  <p:stCondLst>
                                    <p:cond delay="0"/>
                                  </p:stCondLst>
                                  <p:childTnLst>
                                    <p:set>
                                      <p:cBhvr>
                                        <p:cTn id="21" dur="400" fill="hold"/>
                                        <p:tgtEl>
                                          <p:spTgt spid="7"/>
                                        </p:tgtEl>
                                        <p:attrNameLst>
                                          <p:attrName>style.opacity</p:attrName>
                                        </p:attrNameLst>
                                      </p:cBhvr>
                                      <p:to>
                                        <p:strVal val="0.25"/>
                                      </p:to>
                                    </p:set>
                                    <p:animEffect filter="image" prLst="opacity: 0.25">
                                      <p:cBhvr rctx="IE">
                                        <p:cTn id="22" dur="400" fill="hold"/>
                                        <p:tgtEl>
                                          <p:spTgt spid="7"/>
                                        </p:tgtEl>
                                      </p:cBhvr>
                                    </p:animEffect>
                                  </p:childTnLst>
                                </p:cTn>
                              </p:par>
                              <p:par>
                                <p:cTn id="23" presetID="9" presetClass="emph" presetSubtype="0" fill="hold" grpId="0" nodeType="withEffect">
                                  <p:stCondLst>
                                    <p:cond delay="0"/>
                                  </p:stCondLst>
                                  <p:childTnLst>
                                    <p:set>
                                      <p:cBhvr>
                                        <p:cTn id="24" dur="400" fill="hold"/>
                                        <p:tgtEl>
                                          <p:spTgt spid="8"/>
                                        </p:tgtEl>
                                        <p:attrNameLst>
                                          <p:attrName>style.opacity</p:attrName>
                                        </p:attrNameLst>
                                      </p:cBhvr>
                                      <p:to>
                                        <p:strVal val="0.25"/>
                                      </p:to>
                                    </p:set>
                                    <p:animEffect filter="image" prLst="opacity: 0.25">
                                      <p:cBhvr rctx="IE">
                                        <p:cTn id="25" dur="400" fill="hold"/>
                                        <p:tgtEl>
                                          <p:spTgt spid="8"/>
                                        </p:tgtEl>
                                      </p:cBhvr>
                                    </p:animEffect>
                                  </p:childTnLst>
                                </p:cTn>
                              </p:par>
                              <p:par>
                                <p:cTn id="26" presetID="9" presetClass="emph" presetSubtype="0" fill="hold" grpId="0" nodeType="withEffect">
                                  <p:stCondLst>
                                    <p:cond delay="0"/>
                                  </p:stCondLst>
                                  <p:childTnLst>
                                    <p:set>
                                      <p:cBhvr>
                                        <p:cTn id="27" dur="400" fill="hold"/>
                                        <p:tgtEl>
                                          <p:spTgt spid="9"/>
                                        </p:tgtEl>
                                        <p:attrNameLst>
                                          <p:attrName>style.opacity</p:attrName>
                                        </p:attrNameLst>
                                      </p:cBhvr>
                                      <p:to>
                                        <p:strVal val="0.25"/>
                                      </p:to>
                                    </p:set>
                                    <p:animEffect filter="image" prLst="opacity: 0.25">
                                      <p:cBhvr rctx="IE">
                                        <p:cTn id="28" dur="400" fill="hold"/>
                                        <p:tgtEl>
                                          <p:spTgt spid="9"/>
                                        </p:tgtEl>
                                      </p:cBhvr>
                                    </p:animEffect>
                                  </p:childTnLst>
                                </p:cTn>
                              </p:par>
                              <p:par>
                                <p:cTn id="29" presetID="9" presetClass="emph" presetSubtype="0" fill="hold" grpId="0" nodeType="withEffect">
                                  <p:stCondLst>
                                    <p:cond delay="0"/>
                                  </p:stCondLst>
                                  <p:childTnLst>
                                    <p:set>
                                      <p:cBhvr>
                                        <p:cTn id="30" dur="400" fill="hold"/>
                                        <p:tgtEl>
                                          <p:spTgt spid="10"/>
                                        </p:tgtEl>
                                        <p:attrNameLst>
                                          <p:attrName>style.opacity</p:attrName>
                                        </p:attrNameLst>
                                      </p:cBhvr>
                                      <p:to>
                                        <p:strVal val="0.25"/>
                                      </p:to>
                                    </p:set>
                                    <p:animEffect filter="image" prLst="opacity: 0.25">
                                      <p:cBhvr rctx="IE">
                                        <p:cTn id="31" dur="400" fill="hold"/>
                                        <p:tgtEl>
                                          <p:spTgt spid="10"/>
                                        </p:tgtEl>
                                      </p:cBhvr>
                                    </p:animEffect>
                                  </p:childTnLst>
                                </p:cTn>
                              </p:par>
                              <p:par>
                                <p:cTn id="32" presetID="9" presetClass="emph" presetSubtype="0" fill="hold" grpId="0" nodeType="withEffect">
                                  <p:stCondLst>
                                    <p:cond delay="0"/>
                                  </p:stCondLst>
                                  <p:childTnLst>
                                    <p:set>
                                      <p:cBhvr>
                                        <p:cTn id="33" dur="400" fill="hold"/>
                                        <p:tgtEl>
                                          <p:spTgt spid="11"/>
                                        </p:tgtEl>
                                        <p:attrNameLst>
                                          <p:attrName>style.opacity</p:attrName>
                                        </p:attrNameLst>
                                      </p:cBhvr>
                                      <p:to>
                                        <p:strVal val="0.25"/>
                                      </p:to>
                                    </p:set>
                                    <p:animEffect filter="image" prLst="opacity: 0.25">
                                      <p:cBhvr rctx="IE">
                                        <p:cTn id="34" dur="400" fill="hold"/>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9" presetClass="emph" presetSubtype="0" fill="hold" grpId="0" nodeType="withEffect">
                                  <p:stCondLst>
                                    <p:cond delay="0"/>
                                  </p:stCondLst>
                                  <p:childTnLst>
                                    <p:set>
                                      <p:cBhvr>
                                        <p:cTn id="53" dur="400" fill="hold"/>
                                        <p:tgtEl>
                                          <p:spTgt spid="12"/>
                                        </p:tgtEl>
                                        <p:attrNameLst>
                                          <p:attrName>style.opacity</p:attrName>
                                        </p:attrNameLst>
                                      </p:cBhvr>
                                      <p:to>
                                        <p:strVal val="0.25"/>
                                      </p:to>
                                    </p:set>
                                    <p:animEffect filter="image" prLst="opacity: 0.25">
                                      <p:cBhvr rctx="IE">
                                        <p:cTn id="54" dur="400" fill="hold"/>
                                        <p:tgtEl>
                                          <p:spTgt spid="12"/>
                                        </p:tgtEl>
                                      </p:cBhvr>
                                    </p:animEffect>
                                  </p:childTnLst>
                                </p:cTn>
                              </p:par>
                              <p:par>
                                <p:cTn id="55" presetID="9" presetClass="emph" presetSubtype="0" fill="hold" grpId="0" nodeType="withEffect">
                                  <p:stCondLst>
                                    <p:cond delay="0"/>
                                  </p:stCondLst>
                                  <p:childTnLst>
                                    <p:set>
                                      <p:cBhvr>
                                        <p:cTn id="56" dur="400" fill="hold"/>
                                        <p:tgtEl>
                                          <p:spTgt spid="13"/>
                                        </p:tgtEl>
                                        <p:attrNameLst>
                                          <p:attrName>style.opacity</p:attrName>
                                        </p:attrNameLst>
                                      </p:cBhvr>
                                      <p:to>
                                        <p:strVal val="0.25"/>
                                      </p:to>
                                    </p:set>
                                    <p:animEffect filter="image" prLst="opacity: 0.25">
                                      <p:cBhvr rctx="IE">
                                        <p:cTn id="57" dur="400" fill="hold"/>
                                        <p:tgtEl>
                                          <p:spTgt spid="13"/>
                                        </p:tgtEl>
                                      </p:cBhvr>
                                    </p:animEffect>
                                  </p:childTnLst>
                                </p:cTn>
                              </p:par>
                              <p:par>
                                <p:cTn id="58" presetID="9" presetClass="emph" presetSubtype="0" fill="hold" grpId="0" nodeType="withEffect">
                                  <p:stCondLst>
                                    <p:cond delay="0"/>
                                  </p:stCondLst>
                                  <p:childTnLst>
                                    <p:set>
                                      <p:cBhvr>
                                        <p:cTn id="59" dur="400" fill="hold"/>
                                        <p:tgtEl>
                                          <p:spTgt spid="14"/>
                                        </p:tgtEl>
                                        <p:attrNameLst>
                                          <p:attrName>style.opacity</p:attrName>
                                        </p:attrNameLst>
                                      </p:cBhvr>
                                      <p:to>
                                        <p:strVal val="0.25"/>
                                      </p:to>
                                    </p:set>
                                    <p:animEffect filter="image" prLst="opacity: 0.25">
                                      <p:cBhvr rctx="IE">
                                        <p:cTn id="60" dur="400" fill="hold"/>
                                        <p:tgtEl>
                                          <p:spTgt spid="14"/>
                                        </p:tgtEl>
                                      </p:cBhvr>
                                    </p:animEffect>
                                  </p:childTnLst>
                                </p:cTn>
                              </p:par>
                              <p:par>
                                <p:cTn id="61" presetID="9" presetClass="emph" presetSubtype="0" fill="hold" grpId="0" nodeType="withEffect">
                                  <p:stCondLst>
                                    <p:cond delay="0"/>
                                  </p:stCondLst>
                                  <p:childTnLst>
                                    <p:set>
                                      <p:cBhvr>
                                        <p:cTn id="62" dur="400" fill="hold"/>
                                        <p:tgtEl>
                                          <p:spTgt spid="15"/>
                                        </p:tgtEl>
                                        <p:attrNameLst>
                                          <p:attrName>style.opacity</p:attrName>
                                        </p:attrNameLst>
                                      </p:cBhvr>
                                      <p:to>
                                        <p:strVal val="0.25"/>
                                      </p:to>
                                    </p:set>
                                    <p:animEffect filter="image" prLst="opacity: 0.25">
                                      <p:cBhvr rctx="IE">
                                        <p:cTn id="63" dur="400" fill="hold"/>
                                        <p:tgtEl>
                                          <p:spTgt spid="15"/>
                                        </p:tgtEl>
                                      </p:cBhvr>
                                    </p:animEffect>
                                  </p:childTnLst>
                                </p:cTn>
                              </p:par>
                              <p:par>
                                <p:cTn id="64" presetID="9" presetClass="emph" presetSubtype="0" fill="hold" grpId="0" nodeType="withEffect">
                                  <p:stCondLst>
                                    <p:cond delay="0"/>
                                  </p:stCondLst>
                                  <p:childTnLst>
                                    <p:set>
                                      <p:cBhvr>
                                        <p:cTn id="65" dur="400" fill="hold"/>
                                        <p:tgtEl>
                                          <p:spTgt spid="16"/>
                                        </p:tgtEl>
                                        <p:attrNameLst>
                                          <p:attrName>style.opacity</p:attrName>
                                        </p:attrNameLst>
                                      </p:cBhvr>
                                      <p:to>
                                        <p:strVal val="0.25"/>
                                      </p:to>
                                    </p:set>
                                    <p:animEffect filter="image" prLst="opacity: 0.25">
                                      <p:cBhvr rctx="IE">
                                        <p:cTn id="66" dur="400" fill="hold"/>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4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4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4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4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400"/>
                                        <p:tgtEl>
                                          <p:spTgt spid="26"/>
                                        </p:tgtEl>
                                      </p:cBhvr>
                                    </p:animEffect>
                                  </p:childTnLst>
                                </p:cTn>
                              </p:par>
                              <p:par>
                                <p:cTn id="84" presetID="9" presetClass="emph" presetSubtype="0" fill="hold" grpId="0" nodeType="withEffect">
                                  <p:stCondLst>
                                    <p:cond delay="0"/>
                                  </p:stCondLst>
                                  <p:childTnLst>
                                    <p:set>
                                      <p:cBhvr>
                                        <p:cTn id="85" dur="400" fill="hold"/>
                                        <p:tgtEl>
                                          <p:spTgt spid="17"/>
                                        </p:tgtEl>
                                        <p:attrNameLst>
                                          <p:attrName>style.opacity</p:attrName>
                                        </p:attrNameLst>
                                      </p:cBhvr>
                                      <p:to>
                                        <p:strVal val="0.25"/>
                                      </p:to>
                                    </p:set>
                                    <p:animEffect filter="image" prLst="opacity: 0.25">
                                      <p:cBhvr rctx="IE">
                                        <p:cTn id="86" dur="400" fill="hold"/>
                                        <p:tgtEl>
                                          <p:spTgt spid="17"/>
                                        </p:tgtEl>
                                      </p:cBhvr>
                                    </p:animEffect>
                                  </p:childTnLst>
                                </p:cTn>
                              </p:par>
                              <p:par>
                                <p:cTn id="87" presetID="9" presetClass="emph" presetSubtype="0" fill="hold" grpId="0" nodeType="withEffect">
                                  <p:stCondLst>
                                    <p:cond delay="0"/>
                                  </p:stCondLst>
                                  <p:childTnLst>
                                    <p:set>
                                      <p:cBhvr>
                                        <p:cTn id="88" dur="400" fill="hold"/>
                                        <p:tgtEl>
                                          <p:spTgt spid="18"/>
                                        </p:tgtEl>
                                        <p:attrNameLst>
                                          <p:attrName>style.opacity</p:attrName>
                                        </p:attrNameLst>
                                      </p:cBhvr>
                                      <p:to>
                                        <p:strVal val="0.25"/>
                                      </p:to>
                                    </p:set>
                                    <p:animEffect filter="image" prLst="opacity: 0.25">
                                      <p:cBhvr rctx="IE">
                                        <p:cTn id="89" dur="400" fill="hold"/>
                                        <p:tgtEl>
                                          <p:spTgt spid="18"/>
                                        </p:tgtEl>
                                      </p:cBhvr>
                                    </p:animEffect>
                                  </p:childTnLst>
                                </p:cTn>
                              </p:par>
                              <p:par>
                                <p:cTn id="90" presetID="9" presetClass="emph" presetSubtype="0" fill="hold" grpId="0" nodeType="withEffect">
                                  <p:stCondLst>
                                    <p:cond delay="0"/>
                                  </p:stCondLst>
                                  <p:childTnLst>
                                    <p:set>
                                      <p:cBhvr>
                                        <p:cTn id="91" dur="400" fill="hold"/>
                                        <p:tgtEl>
                                          <p:spTgt spid="19"/>
                                        </p:tgtEl>
                                        <p:attrNameLst>
                                          <p:attrName>style.opacity</p:attrName>
                                        </p:attrNameLst>
                                      </p:cBhvr>
                                      <p:to>
                                        <p:strVal val="0.25"/>
                                      </p:to>
                                    </p:set>
                                    <p:animEffect filter="image" prLst="opacity: 0.25">
                                      <p:cBhvr rctx="IE">
                                        <p:cTn id="92" dur="400" fill="hold"/>
                                        <p:tgtEl>
                                          <p:spTgt spid="19"/>
                                        </p:tgtEl>
                                      </p:cBhvr>
                                    </p:animEffect>
                                  </p:childTnLst>
                                </p:cTn>
                              </p:par>
                              <p:par>
                                <p:cTn id="93" presetID="9" presetClass="emph" presetSubtype="0" fill="hold" grpId="0" nodeType="withEffect">
                                  <p:stCondLst>
                                    <p:cond delay="0"/>
                                  </p:stCondLst>
                                  <p:childTnLst>
                                    <p:set>
                                      <p:cBhvr>
                                        <p:cTn id="94" dur="400" fill="hold"/>
                                        <p:tgtEl>
                                          <p:spTgt spid="20"/>
                                        </p:tgtEl>
                                        <p:attrNameLst>
                                          <p:attrName>style.opacity</p:attrName>
                                        </p:attrNameLst>
                                      </p:cBhvr>
                                      <p:to>
                                        <p:strVal val="0.25"/>
                                      </p:to>
                                    </p:set>
                                    <p:animEffect filter="image" prLst="opacity: 0.25">
                                      <p:cBhvr rctx="IE">
                                        <p:cTn id="95" dur="400" fill="hold"/>
                                        <p:tgtEl>
                                          <p:spTgt spid="20"/>
                                        </p:tgtEl>
                                      </p:cBhvr>
                                    </p:animEffect>
                                  </p:childTnLst>
                                </p:cTn>
                              </p:par>
                              <p:par>
                                <p:cTn id="96" presetID="9" presetClass="emph" presetSubtype="0" fill="hold" grpId="0" nodeType="withEffect">
                                  <p:stCondLst>
                                    <p:cond delay="0"/>
                                  </p:stCondLst>
                                  <p:childTnLst>
                                    <p:set>
                                      <p:cBhvr>
                                        <p:cTn id="97" dur="400" fill="hold"/>
                                        <p:tgtEl>
                                          <p:spTgt spid="21"/>
                                        </p:tgtEl>
                                        <p:attrNameLst>
                                          <p:attrName>style.opacity</p:attrName>
                                        </p:attrNameLst>
                                      </p:cBhvr>
                                      <p:to>
                                        <p:strVal val="0.25"/>
                                      </p:to>
                                    </p:set>
                                    <p:animEffect filter="image" prLst="opacity: 0.25">
                                      <p:cBhvr rctx="IE">
                                        <p:cTn id="98" dur="400" fill="hold"/>
                                        <p:tgtEl>
                                          <p:spTgt spid="21"/>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400"/>
                                        <p:tgtEl>
                                          <p:spTgt spid="2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400"/>
                                        <p:tgtEl>
                                          <p:spTgt spid="2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400"/>
                                        <p:tgtEl>
                                          <p:spTgt spid="2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400"/>
                                        <p:tgtEl>
                                          <p:spTgt spid="3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400"/>
                                        <p:tgtEl>
                                          <p:spTgt spid="31"/>
                                        </p:tgtEl>
                                      </p:cBhvr>
                                    </p:animEffect>
                                  </p:childTnLst>
                                </p:cTn>
                              </p:par>
                              <p:par>
                                <p:cTn id="116" presetID="9" presetClass="emph" presetSubtype="0" fill="hold" grpId="0" nodeType="withEffect">
                                  <p:stCondLst>
                                    <p:cond delay="0"/>
                                  </p:stCondLst>
                                  <p:childTnLst>
                                    <p:set>
                                      <p:cBhvr>
                                        <p:cTn id="117" dur="400" fill="hold"/>
                                        <p:tgtEl>
                                          <p:spTgt spid="22"/>
                                        </p:tgtEl>
                                        <p:attrNameLst>
                                          <p:attrName>style.opacity</p:attrName>
                                        </p:attrNameLst>
                                      </p:cBhvr>
                                      <p:to>
                                        <p:strVal val="0.25"/>
                                      </p:to>
                                    </p:set>
                                    <p:animEffect filter="image" prLst="opacity: 0.25">
                                      <p:cBhvr rctx="IE">
                                        <p:cTn id="118" dur="400" fill="hold"/>
                                        <p:tgtEl>
                                          <p:spTgt spid="22"/>
                                        </p:tgtEl>
                                      </p:cBhvr>
                                    </p:animEffect>
                                  </p:childTnLst>
                                </p:cTn>
                              </p:par>
                              <p:par>
                                <p:cTn id="119" presetID="9" presetClass="emph" presetSubtype="0" fill="hold" grpId="0" nodeType="withEffect">
                                  <p:stCondLst>
                                    <p:cond delay="0"/>
                                  </p:stCondLst>
                                  <p:childTnLst>
                                    <p:set>
                                      <p:cBhvr>
                                        <p:cTn id="120" dur="400" fill="hold"/>
                                        <p:tgtEl>
                                          <p:spTgt spid="23"/>
                                        </p:tgtEl>
                                        <p:attrNameLst>
                                          <p:attrName>style.opacity</p:attrName>
                                        </p:attrNameLst>
                                      </p:cBhvr>
                                      <p:to>
                                        <p:strVal val="0.25"/>
                                      </p:to>
                                    </p:set>
                                    <p:animEffect filter="image" prLst="opacity: 0.25">
                                      <p:cBhvr rctx="IE">
                                        <p:cTn id="121" dur="400" fill="hold"/>
                                        <p:tgtEl>
                                          <p:spTgt spid="23"/>
                                        </p:tgtEl>
                                      </p:cBhvr>
                                    </p:animEffect>
                                  </p:childTnLst>
                                </p:cTn>
                              </p:par>
                              <p:par>
                                <p:cTn id="122" presetID="9" presetClass="emph" presetSubtype="0" fill="hold" grpId="0" nodeType="withEffect">
                                  <p:stCondLst>
                                    <p:cond delay="0"/>
                                  </p:stCondLst>
                                  <p:childTnLst>
                                    <p:set>
                                      <p:cBhvr>
                                        <p:cTn id="123" dur="400" fill="hold"/>
                                        <p:tgtEl>
                                          <p:spTgt spid="24"/>
                                        </p:tgtEl>
                                        <p:attrNameLst>
                                          <p:attrName>style.opacity</p:attrName>
                                        </p:attrNameLst>
                                      </p:cBhvr>
                                      <p:to>
                                        <p:strVal val="0.25"/>
                                      </p:to>
                                    </p:set>
                                    <p:animEffect filter="image" prLst="opacity: 0.25">
                                      <p:cBhvr rctx="IE">
                                        <p:cTn id="124" dur="400" fill="hold"/>
                                        <p:tgtEl>
                                          <p:spTgt spid="24"/>
                                        </p:tgtEl>
                                      </p:cBhvr>
                                    </p:animEffect>
                                  </p:childTnLst>
                                </p:cTn>
                              </p:par>
                              <p:par>
                                <p:cTn id="125" presetID="9" presetClass="emph" presetSubtype="0" fill="hold" grpId="0" nodeType="withEffect">
                                  <p:stCondLst>
                                    <p:cond delay="0"/>
                                  </p:stCondLst>
                                  <p:childTnLst>
                                    <p:set>
                                      <p:cBhvr>
                                        <p:cTn id="126" dur="400" fill="hold"/>
                                        <p:tgtEl>
                                          <p:spTgt spid="25"/>
                                        </p:tgtEl>
                                        <p:attrNameLst>
                                          <p:attrName>style.opacity</p:attrName>
                                        </p:attrNameLst>
                                      </p:cBhvr>
                                      <p:to>
                                        <p:strVal val="0.25"/>
                                      </p:to>
                                    </p:set>
                                    <p:animEffect filter="image" prLst="opacity: 0.25">
                                      <p:cBhvr rctx="IE">
                                        <p:cTn id="127" dur="400" fill="hold"/>
                                        <p:tgtEl>
                                          <p:spTgt spid="25"/>
                                        </p:tgtEl>
                                      </p:cBhvr>
                                    </p:animEffect>
                                  </p:childTnLst>
                                </p:cTn>
                              </p:par>
                              <p:par>
                                <p:cTn id="128" presetID="9" presetClass="emph" presetSubtype="0" fill="hold" grpId="0" nodeType="withEffect">
                                  <p:stCondLst>
                                    <p:cond delay="0"/>
                                  </p:stCondLst>
                                  <p:childTnLst>
                                    <p:set>
                                      <p:cBhvr>
                                        <p:cTn id="129" dur="400" fill="hold"/>
                                        <p:tgtEl>
                                          <p:spTgt spid="26"/>
                                        </p:tgtEl>
                                        <p:attrNameLst>
                                          <p:attrName>style.opacity</p:attrName>
                                        </p:attrNameLst>
                                      </p:cBhvr>
                                      <p:to>
                                        <p:strVal val="0.25"/>
                                      </p:to>
                                    </p:set>
                                    <p:animEffect filter="image" prLst="opacity: 0.25">
                                      <p:cBhvr rctx="IE">
                                        <p:cTn id="130" dur="400" fill="hold"/>
                                        <p:tgtEl>
                                          <p:spTgt spid="26"/>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400"/>
                                        <p:tgtEl>
                                          <p:spTgt spid="3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400"/>
                                        <p:tgtEl>
                                          <p:spTgt spid="33"/>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400"/>
                                        <p:tgtEl>
                                          <p:spTgt spid="34"/>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400"/>
                                        <p:tgtEl>
                                          <p:spTgt spid="35"/>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400"/>
                                        <p:tgtEl>
                                          <p:spTgt spid="36"/>
                                        </p:tgtEl>
                                      </p:cBhvr>
                                    </p:animEffect>
                                  </p:childTnLst>
                                </p:cTn>
                              </p:par>
                              <p:par>
                                <p:cTn id="148" presetID="9" presetClass="emph" presetSubtype="0" fill="hold" grpId="0" nodeType="withEffect">
                                  <p:stCondLst>
                                    <p:cond delay="0"/>
                                  </p:stCondLst>
                                  <p:childTnLst>
                                    <p:set>
                                      <p:cBhvr>
                                        <p:cTn id="149" dur="400" fill="hold"/>
                                        <p:tgtEl>
                                          <p:spTgt spid="27"/>
                                        </p:tgtEl>
                                        <p:attrNameLst>
                                          <p:attrName>style.opacity</p:attrName>
                                        </p:attrNameLst>
                                      </p:cBhvr>
                                      <p:to>
                                        <p:strVal val="0.25"/>
                                      </p:to>
                                    </p:set>
                                    <p:animEffect filter="image" prLst="opacity: 0.25">
                                      <p:cBhvr rctx="IE">
                                        <p:cTn id="150" dur="400" fill="hold"/>
                                        <p:tgtEl>
                                          <p:spTgt spid="27"/>
                                        </p:tgtEl>
                                      </p:cBhvr>
                                    </p:animEffect>
                                  </p:childTnLst>
                                </p:cTn>
                              </p:par>
                              <p:par>
                                <p:cTn id="151" presetID="9" presetClass="emph" presetSubtype="0" fill="hold" grpId="0" nodeType="withEffect">
                                  <p:stCondLst>
                                    <p:cond delay="0"/>
                                  </p:stCondLst>
                                  <p:childTnLst>
                                    <p:set>
                                      <p:cBhvr>
                                        <p:cTn id="152" dur="400" fill="hold"/>
                                        <p:tgtEl>
                                          <p:spTgt spid="28"/>
                                        </p:tgtEl>
                                        <p:attrNameLst>
                                          <p:attrName>style.opacity</p:attrName>
                                        </p:attrNameLst>
                                      </p:cBhvr>
                                      <p:to>
                                        <p:strVal val="0.25"/>
                                      </p:to>
                                    </p:set>
                                    <p:animEffect filter="image" prLst="opacity: 0.25">
                                      <p:cBhvr rctx="IE">
                                        <p:cTn id="153" dur="400" fill="hold"/>
                                        <p:tgtEl>
                                          <p:spTgt spid="28"/>
                                        </p:tgtEl>
                                      </p:cBhvr>
                                    </p:animEffect>
                                  </p:childTnLst>
                                </p:cTn>
                              </p:par>
                              <p:par>
                                <p:cTn id="154" presetID="9" presetClass="emph" presetSubtype="0" fill="hold" grpId="0" nodeType="withEffect">
                                  <p:stCondLst>
                                    <p:cond delay="0"/>
                                  </p:stCondLst>
                                  <p:childTnLst>
                                    <p:set>
                                      <p:cBhvr>
                                        <p:cTn id="155" dur="400" fill="hold"/>
                                        <p:tgtEl>
                                          <p:spTgt spid="29"/>
                                        </p:tgtEl>
                                        <p:attrNameLst>
                                          <p:attrName>style.opacity</p:attrName>
                                        </p:attrNameLst>
                                      </p:cBhvr>
                                      <p:to>
                                        <p:strVal val="0.25"/>
                                      </p:to>
                                    </p:set>
                                    <p:animEffect filter="image" prLst="opacity: 0.25">
                                      <p:cBhvr rctx="IE">
                                        <p:cTn id="156" dur="400" fill="hold"/>
                                        <p:tgtEl>
                                          <p:spTgt spid="29"/>
                                        </p:tgtEl>
                                      </p:cBhvr>
                                    </p:animEffect>
                                  </p:childTnLst>
                                </p:cTn>
                              </p:par>
                              <p:par>
                                <p:cTn id="157" presetID="9" presetClass="emph" presetSubtype="0" fill="hold" grpId="0" nodeType="withEffect">
                                  <p:stCondLst>
                                    <p:cond delay="0"/>
                                  </p:stCondLst>
                                  <p:childTnLst>
                                    <p:set>
                                      <p:cBhvr>
                                        <p:cTn id="158" dur="400" fill="hold"/>
                                        <p:tgtEl>
                                          <p:spTgt spid="30"/>
                                        </p:tgtEl>
                                        <p:attrNameLst>
                                          <p:attrName>style.opacity</p:attrName>
                                        </p:attrNameLst>
                                      </p:cBhvr>
                                      <p:to>
                                        <p:strVal val="0.25"/>
                                      </p:to>
                                    </p:set>
                                    <p:animEffect filter="image" prLst="opacity: 0.25">
                                      <p:cBhvr rctx="IE">
                                        <p:cTn id="159" dur="400" fill="hold"/>
                                        <p:tgtEl>
                                          <p:spTgt spid="30"/>
                                        </p:tgtEl>
                                      </p:cBhvr>
                                    </p:animEffect>
                                  </p:childTnLst>
                                </p:cTn>
                              </p:par>
                              <p:par>
                                <p:cTn id="160" presetID="9" presetClass="emph" presetSubtype="0" fill="hold" grpId="0" nodeType="withEffect">
                                  <p:stCondLst>
                                    <p:cond delay="0"/>
                                  </p:stCondLst>
                                  <p:childTnLst>
                                    <p:set>
                                      <p:cBhvr>
                                        <p:cTn id="161" dur="400" fill="hold"/>
                                        <p:tgtEl>
                                          <p:spTgt spid="31"/>
                                        </p:tgtEl>
                                        <p:attrNameLst>
                                          <p:attrName>style.opacity</p:attrName>
                                        </p:attrNameLst>
                                      </p:cBhvr>
                                      <p:to>
                                        <p:strVal val="0.25"/>
                                      </p:to>
                                    </p:set>
                                    <p:animEffect filter="image" prLst="opacity: 0.25">
                                      <p:cBhvr rctx="IE">
                                        <p:cTn id="162" dur="400" fill="hold"/>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Why developers and security pros live in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54480"/>
            <a:ext cx="3931920" cy="2011680"/>
          </a:xfrm>
          <a:prstGeom prst="roundRect">
            <a:avLst>
              <a:gd name="adj" fmla="val 4545"/>
            </a:avLst>
          </a:prstGeom>
          <a:solidFill>
            <a:srgbClr val="0E1726"/>
          </a:solidFill>
          <a:ln/>
        </p:spPr>
        <p:txBody>
          <a:bodyPr/>
          <a:lstStyle/>
          <a:p>
            <a:endParaRPr lang="en-US"/>
          </a:p>
        </p:txBody>
      </p:sp>
      <p:sp>
        <p:nvSpPr>
          <p:cNvPr id="7" name="Text 4"/>
          <p:cNvSpPr txBox="1"/>
          <p:nvPr/>
        </p:nvSpPr>
        <p:spPr>
          <a:xfrm>
            <a:off x="868680" y="1691640"/>
            <a:ext cx="3291840" cy="822960"/>
          </a:xfrm>
          <a:prstGeom prst="rect">
            <a:avLst/>
          </a:prstGeom>
          <a:noFill/>
          <a:ln/>
        </p:spPr>
        <p:txBody>
          <a:bodyPr wrap="square" lIns="0" tIns="0" rIns="0" bIns="0" rtlCol="0" anchor="ctr"/>
          <a:lstStyle/>
          <a:p>
            <a:pPr marL="0" indent="0">
              <a:buNone/>
            </a:pPr>
            <a:r>
              <a:rPr lang="en-US" sz="4400" b="1" dirty="0">
                <a:solidFill>
                  <a:srgbClr val="46D39A"/>
                </a:solidFill>
                <a:latin typeface="Arial" pitchFamily="34" charset="0"/>
                <a:ea typeface="Arial" pitchFamily="34" charset="-122"/>
                <a:cs typeface="Arial" pitchFamily="34" charset="-120"/>
              </a:rPr>
              <a:t>500 / 500</a:t>
            </a:r>
            <a:endParaRPr lang="en-US" sz="4400" dirty="0"/>
          </a:p>
        </p:txBody>
      </p:sp>
      <p:sp>
        <p:nvSpPr>
          <p:cNvPr id="8" name="Text 5"/>
          <p:cNvSpPr txBox="1"/>
          <p:nvPr/>
        </p:nvSpPr>
        <p:spPr>
          <a:xfrm>
            <a:off x="868680" y="256032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the world's fastest supercomputers run Linux (TOP500, since 2017).</a:t>
            </a:r>
            <a:endParaRPr lang="en-US" sz="1500" dirty="0"/>
          </a:p>
        </p:txBody>
      </p:sp>
      <p:sp>
        <p:nvSpPr>
          <p:cNvPr id="9" name="Shape 6"/>
          <p:cNvSpPr/>
          <p:nvPr/>
        </p:nvSpPr>
        <p:spPr>
          <a:xfrm>
            <a:off x="548640" y="3749040"/>
            <a:ext cx="3931920" cy="2011680"/>
          </a:xfrm>
          <a:prstGeom prst="roundRect">
            <a:avLst>
              <a:gd name="adj" fmla="val 4545"/>
            </a:avLst>
          </a:prstGeom>
          <a:solidFill>
            <a:srgbClr val="0E1726"/>
          </a:solidFill>
          <a:ln/>
        </p:spPr>
        <p:txBody>
          <a:bodyPr/>
          <a:lstStyle/>
          <a:p>
            <a:endParaRPr lang="en-US"/>
          </a:p>
        </p:txBody>
      </p:sp>
      <p:sp>
        <p:nvSpPr>
          <p:cNvPr id="10" name="Text 7"/>
          <p:cNvSpPr txBox="1"/>
          <p:nvPr/>
        </p:nvSpPr>
        <p:spPr>
          <a:xfrm>
            <a:off x="868680" y="3886200"/>
            <a:ext cx="3291840" cy="822960"/>
          </a:xfrm>
          <a:prstGeom prst="rect">
            <a:avLst/>
          </a:prstGeom>
          <a:noFill/>
          <a:ln/>
        </p:spPr>
        <p:txBody>
          <a:bodyPr wrap="square" lIns="0" tIns="0" rIns="0" bIns="0" rtlCol="0" anchor="ctr"/>
          <a:lstStyle/>
          <a:p>
            <a:pPr marL="0" indent="0">
              <a:buNone/>
            </a:pPr>
            <a:r>
              <a:rPr lang="en-US" sz="4400" b="1" dirty="0">
                <a:solidFill>
                  <a:srgbClr val="F5A623"/>
                </a:solidFill>
                <a:latin typeface="Arial" pitchFamily="34" charset="0"/>
                <a:ea typeface="Arial" pitchFamily="34" charset="-122"/>
                <a:cs typeface="Arial" pitchFamily="34" charset="-120"/>
              </a:rPr>
              <a:t>28%</a:t>
            </a:r>
            <a:endParaRPr lang="en-US" sz="4400" dirty="0"/>
          </a:p>
        </p:txBody>
      </p:sp>
      <p:sp>
        <p:nvSpPr>
          <p:cNvPr id="11" name="Text 8"/>
          <p:cNvSpPr txBox="1"/>
          <p:nvPr/>
        </p:nvSpPr>
        <p:spPr>
          <a:xfrm>
            <a:off x="868680" y="475488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developers use Ubuntu, just one Linux, for personal work (Stack Overflow 2025 survey).</a:t>
            </a:r>
            <a:endParaRPr lang="en-US" sz="1500" dirty="0"/>
          </a:p>
        </p:txBody>
      </p:sp>
      <p:sp>
        <p:nvSpPr>
          <p:cNvPr id="12" name="Shape 9"/>
          <p:cNvSpPr/>
          <p:nvPr/>
        </p:nvSpPr>
        <p:spPr>
          <a:xfrm>
            <a:off x="5029200" y="1600200"/>
            <a:ext cx="822960" cy="822960"/>
          </a:xfrm>
          <a:prstGeom prst="ellipse">
            <a:avLst/>
          </a:prstGeom>
          <a:solidFill>
            <a:srgbClr val="2459D8"/>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234940" y="1805940"/>
            <a:ext cx="411480" cy="411480"/>
          </a:xfrm>
          <a:prstGeom prst="rect">
            <a:avLst/>
          </a:prstGeom>
        </p:spPr>
      </p:pic>
      <p:sp>
        <p:nvSpPr>
          <p:cNvPr id="14" name="Text 10"/>
          <p:cNvSpPr txBox="1"/>
          <p:nvPr/>
        </p:nvSpPr>
        <p:spPr>
          <a:xfrm>
            <a:off x="6126480" y="158191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Developers</a:t>
            </a:r>
            <a:endParaRPr lang="en-US" sz="2200" dirty="0"/>
          </a:p>
        </p:txBody>
      </p:sp>
      <p:sp>
        <p:nvSpPr>
          <p:cNvPr id="15" name="Text 11"/>
          <p:cNvSpPr txBox="1"/>
          <p:nvPr/>
        </p:nvSpPr>
        <p:spPr>
          <a:xfrm>
            <a:off x="6126480" y="201168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Servers, the cloud and containers run Linux, so code is built, tested and shipped there. Git was written for the Linux kernel.</a:t>
            </a:r>
            <a:endParaRPr lang="en-US" sz="1600" dirty="0"/>
          </a:p>
        </p:txBody>
      </p:sp>
      <p:sp>
        <p:nvSpPr>
          <p:cNvPr id="16" name="Shape 12"/>
          <p:cNvSpPr/>
          <p:nvPr/>
        </p:nvSpPr>
        <p:spPr>
          <a:xfrm>
            <a:off x="5029200" y="3017520"/>
            <a:ext cx="822960" cy="822960"/>
          </a:xfrm>
          <a:prstGeom prst="ellipse">
            <a:avLst/>
          </a:prstGeom>
          <a:solidFill>
            <a:srgbClr val="D1416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234940" y="3223260"/>
            <a:ext cx="411480" cy="411480"/>
          </a:xfrm>
          <a:prstGeom prst="rect">
            <a:avLst/>
          </a:prstGeom>
        </p:spPr>
      </p:pic>
      <p:sp>
        <p:nvSpPr>
          <p:cNvPr id="18" name="Text 13"/>
          <p:cNvSpPr txBox="1"/>
          <p:nvPr/>
        </p:nvSpPr>
        <p:spPr>
          <a:xfrm>
            <a:off x="6126480" y="299923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Security analysts</a:t>
            </a:r>
            <a:endParaRPr lang="en-US" sz="2200" dirty="0"/>
          </a:p>
        </p:txBody>
      </p:sp>
      <p:sp>
        <p:nvSpPr>
          <p:cNvPr id="19" name="Text 14"/>
          <p:cNvSpPr txBox="1"/>
          <p:nvPr/>
        </p:nvSpPr>
        <p:spPr>
          <a:xfrm>
            <a:off x="6126480" y="342900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Logs, servers and investigations live on Linux. Most security tools are made for it first.</a:t>
            </a:r>
            <a:endParaRPr lang="en-US" sz="1600" dirty="0"/>
          </a:p>
        </p:txBody>
      </p:sp>
      <p:sp>
        <p:nvSpPr>
          <p:cNvPr id="20" name="Shape 15"/>
          <p:cNvSpPr/>
          <p:nvPr/>
        </p:nvSpPr>
        <p:spPr>
          <a:xfrm>
            <a:off x="5029200" y="4434840"/>
            <a:ext cx="822960" cy="822960"/>
          </a:xfrm>
          <a:prstGeom prst="ellipse">
            <a:avLst/>
          </a:prstGeom>
          <a:solidFill>
            <a:srgbClr val="7448D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234940" y="4640580"/>
            <a:ext cx="411480" cy="411480"/>
          </a:xfrm>
          <a:prstGeom prst="rect">
            <a:avLst/>
          </a:prstGeom>
        </p:spPr>
      </p:pic>
      <p:sp>
        <p:nvSpPr>
          <p:cNvPr id="22" name="Text 16"/>
          <p:cNvSpPr txBox="1"/>
          <p:nvPr/>
        </p:nvSpPr>
        <p:spPr>
          <a:xfrm>
            <a:off x="6126480" y="441655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Ethical hackers</a:t>
            </a:r>
            <a:endParaRPr lang="en-US" sz="2200" dirty="0"/>
          </a:p>
        </p:txBody>
      </p:sp>
      <p:sp>
        <p:nvSpPr>
          <p:cNvPr id="23" name="Text 17"/>
          <p:cNvSpPr txBox="1"/>
          <p:nvPr/>
        </p:nvSpPr>
        <p:spPr>
          <a:xfrm>
            <a:off x="6126480" y="484632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Kali Linux ships with hundreds of testing tools. CTFs like today's are played on Linux.</a:t>
            </a:r>
            <a:endParaRPr lang="en-US" sz="16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It's in your pocket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554480"/>
            <a:ext cx="3931920" cy="4206240"/>
          </a:xfrm>
          <a:prstGeom prst="roundRect">
            <a:avLst>
              <a:gd name="adj" fmla="val 2326"/>
            </a:avLst>
          </a:prstGeom>
          <a:solidFill>
            <a:srgbClr val="0E1726"/>
          </a:solidFill>
          <a:ln/>
        </p:spPr>
        <p:txBody>
          <a:bodyPr/>
          <a:lstStyle/>
          <a:p>
            <a:endParaRPr lang="en-US"/>
          </a:p>
        </p:txBody>
      </p:sp>
      <p:sp>
        <p:nvSpPr>
          <p:cNvPr id="7" name="Text 4"/>
          <p:cNvSpPr txBox="1"/>
          <p:nvPr/>
        </p:nvSpPr>
        <p:spPr>
          <a:xfrm>
            <a:off x="868680" y="1828800"/>
            <a:ext cx="3291840" cy="1188720"/>
          </a:xfrm>
          <a:prstGeom prst="rect">
            <a:avLst/>
          </a:prstGeom>
          <a:noFill/>
          <a:ln/>
        </p:spPr>
        <p:txBody>
          <a:bodyPr wrap="square" lIns="0" tIns="0" rIns="0" bIns="0" rtlCol="0" anchor="ctr"/>
          <a:lstStyle/>
          <a:p>
            <a:pPr marL="0" indent="0">
              <a:buNone/>
            </a:pPr>
            <a:r>
              <a:rPr lang="en-US" sz="7200" b="1" dirty="0">
                <a:solidFill>
                  <a:srgbClr val="46D39A"/>
                </a:solidFill>
                <a:latin typeface="Arial" pitchFamily="34" charset="0"/>
                <a:ea typeface="Arial" pitchFamily="34" charset="-122"/>
                <a:cs typeface="Arial" pitchFamily="34" charset="-120"/>
              </a:rPr>
              <a:t>69%</a:t>
            </a:r>
            <a:endParaRPr lang="en-US" sz="7200" dirty="0"/>
          </a:p>
        </p:txBody>
      </p:sp>
      <p:sp>
        <p:nvSpPr>
          <p:cNvPr id="8" name="Text 5"/>
          <p:cNvSpPr txBox="1"/>
          <p:nvPr/>
        </p:nvSpPr>
        <p:spPr>
          <a:xfrm>
            <a:off x="868680" y="3108960"/>
            <a:ext cx="3291840" cy="109728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of the world's phones run Android, which is built on the Linux kernel.</a:t>
            </a:r>
            <a:endParaRPr lang="en-US" sz="2000" dirty="0"/>
          </a:p>
        </p:txBody>
      </p:sp>
      <p:sp>
        <p:nvSpPr>
          <p:cNvPr id="9" name="Text 6"/>
          <p:cNvSpPr txBox="1"/>
          <p:nvPr/>
        </p:nvSpPr>
        <p:spPr>
          <a:xfrm>
            <a:off x="868680" y="5120640"/>
            <a:ext cx="3291840" cy="457200"/>
          </a:xfrm>
          <a:prstGeom prst="rect">
            <a:avLst/>
          </a:prstGeom>
          <a:noFill/>
          <a:ln/>
        </p:spPr>
        <p:txBody>
          <a:bodyPr wrap="square" lIns="0" tIns="0" rIns="0" bIns="0" rtlCol="0" anchor="t"/>
          <a:lstStyle/>
          <a:p>
            <a:pPr marL="0" indent="0">
              <a:buNone/>
            </a:pPr>
            <a:r>
              <a:rPr lang="en-US" sz="1200" dirty="0">
                <a:solidFill>
                  <a:srgbClr val="7F8FAD"/>
                </a:solidFill>
                <a:latin typeface="Calibri" pitchFamily="34" charset="0"/>
                <a:ea typeface="Calibri" pitchFamily="34" charset="-122"/>
                <a:cs typeface="Calibri" pitchFamily="34" charset="-120"/>
              </a:rPr>
              <a:t>StatCounter, worldwide mobile OS share, September 2026</a:t>
            </a:r>
            <a:endParaRPr lang="en-US" sz="1200" dirty="0"/>
          </a:p>
        </p:txBody>
      </p:sp>
      <p:sp>
        <p:nvSpPr>
          <p:cNvPr id="10" name="Shape 7"/>
          <p:cNvSpPr/>
          <p:nvPr/>
        </p:nvSpPr>
        <p:spPr>
          <a:xfrm>
            <a:off x="4846320" y="1600200"/>
            <a:ext cx="1600200" cy="1645920"/>
          </a:xfrm>
          <a:prstGeom prst="roundRect">
            <a:avLst>
              <a:gd name="adj" fmla="val 5714"/>
            </a:avLst>
          </a:prstGeom>
          <a:solidFill>
            <a:srgbClr val="F1F5FB"/>
          </a:solidFill>
          <a:ln/>
        </p:spPr>
        <p:txBody>
          <a:bodyPr/>
          <a:lstStyle/>
          <a:p>
            <a:endParaRPr lang="en-US"/>
          </a:p>
        </p:txBody>
      </p:sp>
      <p:sp>
        <p:nvSpPr>
          <p:cNvPr id="11" name="Shape 8"/>
          <p:cNvSpPr/>
          <p:nvPr/>
        </p:nvSpPr>
        <p:spPr>
          <a:xfrm>
            <a:off x="5276088" y="1801368"/>
            <a:ext cx="731520" cy="731520"/>
          </a:xfrm>
          <a:prstGeom prst="ellipse">
            <a:avLst/>
          </a:prstGeom>
          <a:solidFill>
            <a:srgbClr val="7448D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5458968" y="1984248"/>
            <a:ext cx="365760" cy="365760"/>
          </a:xfrm>
          <a:prstGeom prst="rect">
            <a:avLst/>
          </a:prstGeom>
        </p:spPr>
      </p:pic>
      <p:sp>
        <p:nvSpPr>
          <p:cNvPr id="13" name="Text 9"/>
          <p:cNvSpPr txBox="1"/>
          <p:nvPr/>
        </p:nvSpPr>
        <p:spPr>
          <a:xfrm>
            <a:off x="489204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Android phones</a:t>
            </a:r>
            <a:endParaRPr lang="en-US" sz="1400" dirty="0"/>
          </a:p>
        </p:txBody>
      </p:sp>
      <p:sp>
        <p:nvSpPr>
          <p:cNvPr id="14" name="Shape 10"/>
          <p:cNvSpPr/>
          <p:nvPr/>
        </p:nvSpPr>
        <p:spPr>
          <a:xfrm>
            <a:off x="6583680" y="1600200"/>
            <a:ext cx="1600200" cy="1645920"/>
          </a:xfrm>
          <a:prstGeom prst="roundRect">
            <a:avLst>
              <a:gd name="adj" fmla="val 5714"/>
            </a:avLst>
          </a:prstGeom>
          <a:solidFill>
            <a:srgbClr val="F1F5FB"/>
          </a:solidFill>
          <a:ln/>
        </p:spPr>
        <p:txBody>
          <a:bodyPr/>
          <a:lstStyle/>
          <a:p>
            <a:endParaRPr lang="en-US"/>
          </a:p>
        </p:txBody>
      </p:sp>
      <p:sp>
        <p:nvSpPr>
          <p:cNvPr id="15" name="Shape 11"/>
          <p:cNvSpPr/>
          <p:nvPr/>
        </p:nvSpPr>
        <p:spPr>
          <a:xfrm>
            <a:off x="7013448" y="1801368"/>
            <a:ext cx="731520" cy="731520"/>
          </a:xfrm>
          <a:prstGeom prst="ellipse">
            <a:avLst/>
          </a:prstGeom>
          <a:solidFill>
            <a:srgbClr val="2459D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196328" y="1984248"/>
            <a:ext cx="365760" cy="365760"/>
          </a:xfrm>
          <a:prstGeom prst="rect">
            <a:avLst/>
          </a:prstGeom>
        </p:spPr>
      </p:pic>
      <p:sp>
        <p:nvSpPr>
          <p:cNvPr id="17" name="Text 12"/>
          <p:cNvSpPr txBox="1"/>
          <p:nvPr/>
        </p:nvSpPr>
        <p:spPr>
          <a:xfrm>
            <a:off x="662940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Chromebooks</a:t>
            </a:r>
            <a:endParaRPr lang="en-US" sz="1400" dirty="0"/>
          </a:p>
        </p:txBody>
      </p:sp>
      <p:sp>
        <p:nvSpPr>
          <p:cNvPr id="18" name="Shape 13"/>
          <p:cNvSpPr/>
          <p:nvPr/>
        </p:nvSpPr>
        <p:spPr>
          <a:xfrm>
            <a:off x="8321040" y="1600200"/>
            <a:ext cx="1600200" cy="1645920"/>
          </a:xfrm>
          <a:prstGeom prst="roundRect">
            <a:avLst>
              <a:gd name="adj" fmla="val 5714"/>
            </a:avLst>
          </a:prstGeom>
          <a:solidFill>
            <a:srgbClr val="F1F5FB"/>
          </a:solidFill>
          <a:ln/>
        </p:spPr>
        <p:txBody>
          <a:bodyPr/>
          <a:lstStyle/>
          <a:p>
            <a:endParaRPr lang="en-US"/>
          </a:p>
        </p:txBody>
      </p:sp>
      <p:sp>
        <p:nvSpPr>
          <p:cNvPr id="19" name="Shape 14"/>
          <p:cNvSpPr/>
          <p:nvPr/>
        </p:nvSpPr>
        <p:spPr>
          <a:xfrm>
            <a:off x="8750808" y="1801368"/>
            <a:ext cx="731520" cy="731520"/>
          </a:xfrm>
          <a:prstGeom prst="ellipse">
            <a:avLst/>
          </a:prstGeom>
          <a:solidFill>
            <a:srgbClr val="D1416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933688" y="1984248"/>
            <a:ext cx="365760" cy="365760"/>
          </a:xfrm>
          <a:prstGeom prst="rect">
            <a:avLst/>
          </a:prstGeom>
        </p:spPr>
      </p:pic>
      <p:sp>
        <p:nvSpPr>
          <p:cNvPr id="21" name="Text 15"/>
          <p:cNvSpPr txBox="1"/>
          <p:nvPr/>
        </p:nvSpPr>
        <p:spPr>
          <a:xfrm>
            <a:off x="836676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Smart TVs</a:t>
            </a:r>
            <a:endParaRPr lang="en-US" sz="1400" dirty="0"/>
          </a:p>
        </p:txBody>
      </p:sp>
      <p:sp>
        <p:nvSpPr>
          <p:cNvPr id="22" name="Shape 16"/>
          <p:cNvSpPr/>
          <p:nvPr/>
        </p:nvSpPr>
        <p:spPr>
          <a:xfrm>
            <a:off x="10058400" y="1600200"/>
            <a:ext cx="1600200" cy="1645920"/>
          </a:xfrm>
          <a:prstGeom prst="roundRect">
            <a:avLst>
              <a:gd name="adj" fmla="val 5714"/>
            </a:avLst>
          </a:prstGeom>
          <a:solidFill>
            <a:srgbClr val="F1F5FB"/>
          </a:solidFill>
          <a:ln/>
        </p:spPr>
        <p:txBody>
          <a:bodyPr/>
          <a:lstStyle/>
          <a:p>
            <a:endParaRPr lang="en-US"/>
          </a:p>
        </p:txBody>
      </p:sp>
      <p:sp>
        <p:nvSpPr>
          <p:cNvPr id="23" name="Shape 17"/>
          <p:cNvSpPr/>
          <p:nvPr/>
        </p:nvSpPr>
        <p:spPr>
          <a:xfrm>
            <a:off x="10488168" y="1801368"/>
            <a:ext cx="731520" cy="731520"/>
          </a:xfrm>
          <a:prstGeom prst="ellipse">
            <a:avLst/>
          </a:prstGeom>
          <a:solidFill>
            <a:srgbClr val="2A9FD6"/>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671048" y="1984248"/>
            <a:ext cx="365760" cy="365760"/>
          </a:xfrm>
          <a:prstGeom prst="rect">
            <a:avLst/>
          </a:prstGeom>
        </p:spPr>
      </p:pic>
      <p:sp>
        <p:nvSpPr>
          <p:cNvPr id="25" name="Text 18"/>
          <p:cNvSpPr txBox="1"/>
          <p:nvPr/>
        </p:nvSpPr>
        <p:spPr>
          <a:xfrm>
            <a:off x="1010412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Wi-Fi routers</a:t>
            </a:r>
            <a:endParaRPr lang="en-US" sz="1400" dirty="0"/>
          </a:p>
        </p:txBody>
      </p:sp>
      <p:sp>
        <p:nvSpPr>
          <p:cNvPr id="26" name="Shape 19"/>
          <p:cNvSpPr/>
          <p:nvPr/>
        </p:nvSpPr>
        <p:spPr>
          <a:xfrm>
            <a:off x="4846320" y="3429000"/>
            <a:ext cx="1600200" cy="1645920"/>
          </a:xfrm>
          <a:prstGeom prst="roundRect">
            <a:avLst>
              <a:gd name="adj" fmla="val 5714"/>
            </a:avLst>
          </a:prstGeom>
          <a:solidFill>
            <a:srgbClr val="F1F5FB"/>
          </a:solidFill>
          <a:ln/>
        </p:spPr>
        <p:txBody>
          <a:bodyPr/>
          <a:lstStyle/>
          <a:p>
            <a:endParaRPr lang="en-US"/>
          </a:p>
        </p:txBody>
      </p:sp>
      <p:sp>
        <p:nvSpPr>
          <p:cNvPr id="27" name="Shape 20"/>
          <p:cNvSpPr/>
          <p:nvPr/>
        </p:nvSpPr>
        <p:spPr>
          <a:xfrm>
            <a:off x="5276088" y="3630168"/>
            <a:ext cx="731520" cy="731520"/>
          </a:xfrm>
          <a:prstGeom prst="ellipse">
            <a:avLst/>
          </a:prstGeom>
          <a:solidFill>
            <a:srgbClr val="E8820C"/>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5458968" y="3813048"/>
            <a:ext cx="365760" cy="365760"/>
          </a:xfrm>
          <a:prstGeom prst="rect">
            <a:avLst/>
          </a:prstGeom>
        </p:spPr>
      </p:pic>
      <p:sp>
        <p:nvSpPr>
          <p:cNvPr id="29" name="Text 21"/>
          <p:cNvSpPr txBox="1"/>
          <p:nvPr/>
        </p:nvSpPr>
        <p:spPr>
          <a:xfrm>
            <a:off x="489204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Car dashboards</a:t>
            </a:r>
            <a:endParaRPr lang="en-US" sz="1400" dirty="0"/>
          </a:p>
        </p:txBody>
      </p:sp>
      <p:sp>
        <p:nvSpPr>
          <p:cNvPr id="30" name="Shape 22"/>
          <p:cNvSpPr/>
          <p:nvPr/>
        </p:nvSpPr>
        <p:spPr>
          <a:xfrm>
            <a:off x="6583680" y="3429000"/>
            <a:ext cx="1600200" cy="1645920"/>
          </a:xfrm>
          <a:prstGeom prst="roundRect">
            <a:avLst>
              <a:gd name="adj" fmla="val 5714"/>
            </a:avLst>
          </a:prstGeom>
          <a:solidFill>
            <a:srgbClr val="F1F5FB"/>
          </a:solidFill>
          <a:ln/>
        </p:spPr>
        <p:txBody>
          <a:bodyPr/>
          <a:lstStyle/>
          <a:p>
            <a:endParaRPr lang="en-US"/>
          </a:p>
        </p:txBody>
      </p:sp>
      <p:sp>
        <p:nvSpPr>
          <p:cNvPr id="31" name="Shape 23"/>
          <p:cNvSpPr/>
          <p:nvPr/>
        </p:nvSpPr>
        <p:spPr>
          <a:xfrm>
            <a:off x="7013448" y="3630168"/>
            <a:ext cx="731520" cy="731520"/>
          </a:xfrm>
          <a:prstGeom prst="ellipse">
            <a:avLst/>
          </a:prstGeom>
          <a:solidFill>
            <a:srgbClr val="0F9488"/>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7196328" y="3813048"/>
            <a:ext cx="365760" cy="365760"/>
          </a:xfrm>
          <a:prstGeom prst="rect">
            <a:avLst/>
          </a:prstGeom>
        </p:spPr>
      </p:pic>
      <p:sp>
        <p:nvSpPr>
          <p:cNvPr id="33" name="Text 24"/>
          <p:cNvSpPr txBox="1"/>
          <p:nvPr/>
        </p:nvSpPr>
        <p:spPr>
          <a:xfrm>
            <a:off x="662940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Steam Deck</a:t>
            </a:r>
            <a:endParaRPr lang="en-US" sz="1400" dirty="0"/>
          </a:p>
        </p:txBody>
      </p:sp>
      <p:sp>
        <p:nvSpPr>
          <p:cNvPr id="34" name="Shape 25"/>
          <p:cNvSpPr/>
          <p:nvPr/>
        </p:nvSpPr>
        <p:spPr>
          <a:xfrm>
            <a:off x="8321040" y="3429000"/>
            <a:ext cx="1600200" cy="1645920"/>
          </a:xfrm>
          <a:prstGeom prst="roundRect">
            <a:avLst>
              <a:gd name="adj" fmla="val 5714"/>
            </a:avLst>
          </a:prstGeom>
          <a:solidFill>
            <a:srgbClr val="F1F5FB"/>
          </a:solidFill>
          <a:ln/>
        </p:spPr>
        <p:txBody>
          <a:bodyPr/>
          <a:lstStyle/>
          <a:p>
            <a:endParaRPr lang="en-US"/>
          </a:p>
        </p:txBody>
      </p:sp>
      <p:sp>
        <p:nvSpPr>
          <p:cNvPr id="35" name="Shape 26"/>
          <p:cNvSpPr/>
          <p:nvPr/>
        </p:nvSpPr>
        <p:spPr>
          <a:xfrm>
            <a:off x="8750808" y="3630168"/>
            <a:ext cx="731520" cy="731520"/>
          </a:xfrm>
          <a:prstGeom prst="ellipse">
            <a:avLst/>
          </a:prstGeom>
          <a:solidFill>
            <a:srgbClr val="5B6EE1"/>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8933688" y="3813048"/>
            <a:ext cx="365760" cy="365760"/>
          </a:xfrm>
          <a:prstGeom prst="rect">
            <a:avLst/>
          </a:prstGeom>
        </p:spPr>
      </p:pic>
      <p:sp>
        <p:nvSpPr>
          <p:cNvPr id="37" name="Text 27"/>
          <p:cNvSpPr txBox="1"/>
          <p:nvPr/>
        </p:nvSpPr>
        <p:spPr>
          <a:xfrm>
            <a:off x="836676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The cloud</a:t>
            </a:r>
            <a:endParaRPr lang="en-US" sz="1400" dirty="0"/>
          </a:p>
        </p:txBody>
      </p:sp>
      <p:sp>
        <p:nvSpPr>
          <p:cNvPr id="38" name="Shape 28"/>
          <p:cNvSpPr/>
          <p:nvPr/>
        </p:nvSpPr>
        <p:spPr>
          <a:xfrm>
            <a:off x="10058400" y="3429000"/>
            <a:ext cx="1600200" cy="1645920"/>
          </a:xfrm>
          <a:prstGeom prst="roundRect">
            <a:avLst>
              <a:gd name="adj" fmla="val 5714"/>
            </a:avLst>
          </a:prstGeom>
          <a:solidFill>
            <a:srgbClr val="F1F5FB"/>
          </a:solidFill>
          <a:ln/>
        </p:spPr>
        <p:txBody>
          <a:bodyPr/>
          <a:lstStyle/>
          <a:p>
            <a:endParaRPr lang="en-US"/>
          </a:p>
        </p:txBody>
      </p:sp>
      <p:sp>
        <p:nvSpPr>
          <p:cNvPr id="39" name="Shape 29"/>
          <p:cNvSpPr/>
          <p:nvPr/>
        </p:nvSpPr>
        <p:spPr>
          <a:xfrm>
            <a:off x="10488168" y="3630168"/>
            <a:ext cx="731520" cy="731520"/>
          </a:xfrm>
          <a:prstGeom prst="ellipse">
            <a:avLst/>
          </a:prstGeom>
          <a:solidFill>
            <a:srgbClr val="17875A"/>
          </a:solidFill>
          <a:ln/>
        </p:spPr>
        <p:txBody>
          <a:bodyPr/>
          <a:lstStyle/>
          <a:p>
            <a:endParaRPr lang="en-US"/>
          </a:p>
        </p:txBody>
      </p:sp>
      <p:pic>
        <p:nvPicPr>
          <p:cNvPr id="40" name="Image 7" descr="preencoded.png"/>
          <p:cNvPicPr>
            <a:picLocks noChangeAspect="1"/>
          </p:cNvPicPr>
          <p:nvPr/>
        </p:nvPicPr>
        <p:blipFill>
          <a:blip r:embed="rId10"/>
          <a:stretch>
            <a:fillRect/>
          </a:stretch>
        </p:blipFill>
        <p:spPr>
          <a:xfrm>
            <a:off x="10671048" y="3813048"/>
            <a:ext cx="365760" cy="365760"/>
          </a:xfrm>
          <a:prstGeom prst="rect">
            <a:avLst/>
          </a:prstGeom>
        </p:spPr>
      </p:pic>
      <p:sp>
        <p:nvSpPr>
          <p:cNvPr id="41" name="Text 30"/>
          <p:cNvSpPr txBox="1"/>
          <p:nvPr/>
        </p:nvSpPr>
        <p:spPr>
          <a:xfrm>
            <a:off x="1010412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Web servers</a:t>
            </a:r>
            <a:endParaRPr lang="en-US" sz="1400" dirty="0"/>
          </a:p>
        </p:txBody>
      </p:sp>
      <p:sp>
        <p:nvSpPr>
          <p:cNvPr id="42" name="Shape 31"/>
          <p:cNvSpPr/>
          <p:nvPr/>
        </p:nvSpPr>
        <p:spPr>
          <a:xfrm>
            <a:off x="4846320" y="5349240"/>
            <a:ext cx="6812280" cy="548640"/>
          </a:xfrm>
          <a:prstGeom prst="roundRect">
            <a:avLst>
              <a:gd name="adj" fmla="val 16667"/>
            </a:avLst>
          </a:prstGeom>
          <a:solidFill>
            <a:srgbClr val="E2F5EC"/>
          </a:solidFill>
          <a:ln/>
        </p:spPr>
        <p:txBody>
          <a:bodyPr/>
          <a:lstStyle/>
          <a:p>
            <a:endParaRPr lang="en-US"/>
          </a:p>
        </p:txBody>
      </p:sp>
      <p:sp>
        <p:nvSpPr>
          <p:cNvPr id="43" name="Text 32"/>
          <p:cNvSpPr txBox="1"/>
          <p:nvPr/>
        </p:nvSpPr>
        <p:spPr>
          <a:xfrm>
            <a:off x="5074920" y="5349240"/>
            <a:ext cx="640080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On a Chromebook right now? You are already using Linux.</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par>
                          <p:cTn id="17" fill="hold">
                            <p:stCondLst>
                              <p:cond delay="250"/>
                            </p:stCondLst>
                            <p:childTnLst>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par>
                          <p:cTn id="30" fill="hold">
                            <p:stCondLst>
                              <p:cond delay="500"/>
                            </p:stCondLst>
                            <p:childTnLst>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par>
                          <p:cTn id="43" fill="hold">
                            <p:stCondLst>
                              <p:cond delay="750"/>
                            </p:stCondLst>
                            <p:childTnLst>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childTnLst>
                          </p:cTn>
                        </p:par>
                        <p:par>
                          <p:cTn id="56" fill="hold">
                            <p:stCondLst>
                              <p:cond delay="1000"/>
                            </p:stCondLst>
                            <p:childTnLst>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childTnLst>
                          </p:cTn>
                        </p:par>
                        <p:par>
                          <p:cTn id="69" fill="hold">
                            <p:stCondLst>
                              <p:cond delay="1250"/>
                            </p:stCondLst>
                            <p:childTnLst>
                              <p:par>
                                <p:cTn id="70" presetID="10"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00"/>
                                        <p:tgtEl>
                                          <p:spTgt spid="3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childTnLst>
                          </p:cTn>
                        </p:par>
                        <p:par>
                          <p:cTn id="82" fill="hold">
                            <p:stCondLst>
                              <p:cond delay="1500"/>
                            </p:stCondLst>
                            <p:childTnLst>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childTnLst>
                          </p:cTn>
                        </p:par>
                        <p:par>
                          <p:cTn id="95" fill="hold">
                            <p:stCondLst>
                              <p:cond delay="1750"/>
                            </p:stCondLst>
                            <p:childTnLst>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childTnLst>
                          </p:cTn>
                        </p:par>
                        <p:par>
                          <p:cTn id="108" fill="hold">
                            <p:stCondLst>
                              <p:cond delay="2000"/>
                            </p:stCondLst>
                            <p:childTnLst>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Terminal, shell, kernel: who does what?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508760"/>
            <a:ext cx="6035040" cy="749808"/>
          </a:xfrm>
          <a:prstGeom prst="roundRect">
            <a:avLst>
              <a:gd name="adj" fmla="val 12195"/>
            </a:avLst>
          </a:prstGeom>
          <a:solidFill>
            <a:srgbClr val="E4EAF3"/>
          </a:solidFill>
          <a:ln/>
        </p:spPr>
        <p:txBody>
          <a:bodyPr/>
          <a:lstStyle/>
          <a:p>
            <a:endParaRPr lang="en-US"/>
          </a:p>
        </p:txBody>
      </p:sp>
      <p:sp>
        <p:nvSpPr>
          <p:cNvPr id="7" name="Text 4"/>
          <p:cNvSpPr txBox="1"/>
          <p:nvPr/>
        </p:nvSpPr>
        <p:spPr>
          <a:xfrm>
            <a:off x="777240" y="1508760"/>
            <a:ext cx="5669280" cy="749808"/>
          </a:xfrm>
          <a:prstGeom prst="rect">
            <a:avLst/>
          </a:prstGeom>
          <a:noFill/>
          <a:ln/>
        </p:spPr>
        <p:txBody>
          <a:bodyPr wrap="square" lIns="0" tIns="0" rIns="0" bIns="0" rtlCol="0" anchor="ctr"/>
          <a:lstStyle/>
          <a:p>
            <a:pPr marL="0" indent="0">
              <a:buNone/>
            </a:pPr>
            <a:r>
              <a:rPr lang="en-US" sz="2000" b="1" dirty="0">
                <a:solidFill>
                  <a:srgbClr val="12213A"/>
                </a:solidFill>
                <a:latin typeface="Calibri" pitchFamily="34" charset="0"/>
                <a:ea typeface="Calibri" pitchFamily="34" charset="-122"/>
                <a:cs typeface="Calibri" pitchFamily="34" charset="-120"/>
              </a:rPr>
              <a:t>You   </a:t>
            </a:r>
            <a:r>
              <a:rPr lang="en-US" sz="1350" dirty="0">
                <a:solidFill>
                  <a:srgbClr val="12213A"/>
                </a:solidFill>
                <a:latin typeface="Calibri" pitchFamily="34" charset="0"/>
                <a:ea typeface="Calibri" pitchFamily="34" charset="-122"/>
                <a:cs typeface="Calibri" pitchFamily="34" charset="-120"/>
              </a:rPr>
              <a:t>type a command and press Enter</a:t>
            </a:r>
            <a:endParaRPr lang="en-US" sz="2000" dirty="0"/>
          </a:p>
        </p:txBody>
      </p:sp>
      <p:sp>
        <p:nvSpPr>
          <p:cNvPr id="8" name="Shape 5"/>
          <p:cNvSpPr/>
          <p:nvPr/>
        </p:nvSpPr>
        <p:spPr>
          <a:xfrm>
            <a:off x="777240" y="2404872"/>
            <a:ext cx="5577840" cy="749808"/>
          </a:xfrm>
          <a:prstGeom prst="roundRect">
            <a:avLst>
              <a:gd name="adj" fmla="val 12195"/>
            </a:avLst>
          </a:prstGeom>
          <a:solidFill>
            <a:srgbClr val="2A9FD6"/>
          </a:solidFill>
          <a:ln/>
        </p:spPr>
        <p:txBody>
          <a:bodyPr/>
          <a:lstStyle/>
          <a:p>
            <a:endParaRPr lang="en-US"/>
          </a:p>
        </p:txBody>
      </p:sp>
      <p:sp>
        <p:nvSpPr>
          <p:cNvPr id="9" name="Text 6"/>
          <p:cNvSpPr txBox="1"/>
          <p:nvPr/>
        </p:nvSpPr>
        <p:spPr>
          <a:xfrm>
            <a:off x="1005840" y="2404872"/>
            <a:ext cx="52120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Terminal   </a:t>
            </a:r>
            <a:r>
              <a:rPr lang="en-US" sz="1350" dirty="0">
                <a:solidFill>
                  <a:srgbClr val="FFFFFF"/>
                </a:solidFill>
                <a:latin typeface="Calibri" pitchFamily="34" charset="0"/>
                <a:ea typeface="Calibri" pitchFamily="34" charset="-122"/>
                <a:cs typeface="Calibri" pitchFamily="34" charset="-120"/>
              </a:rPr>
              <a:t>the window: shows text, sends your keystrokes</a:t>
            </a:r>
            <a:endParaRPr lang="en-US" sz="2000" dirty="0"/>
          </a:p>
        </p:txBody>
      </p:sp>
      <p:sp>
        <p:nvSpPr>
          <p:cNvPr id="10" name="Shape 7"/>
          <p:cNvSpPr/>
          <p:nvPr/>
        </p:nvSpPr>
        <p:spPr>
          <a:xfrm>
            <a:off x="1005840" y="3300984"/>
            <a:ext cx="5120640" cy="749808"/>
          </a:xfrm>
          <a:prstGeom prst="roundRect">
            <a:avLst>
              <a:gd name="adj" fmla="val 12195"/>
            </a:avLst>
          </a:prstGeom>
          <a:solidFill>
            <a:srgbClr val="2459D8"/>
          </a:solidFill>
          <a:ln/>
        </p:spPr>
        <p:txBody>
          <a:bodyPr/>
          <a:lstStyle/>
          <a:p>
            <a:endParaRPr lang="en-US"/>
          </a:p>
        </p:txBody>
      </p:sp>
      <p:sp>
        <p:nvSpPr>
          <p:cNvPr id="11" name="Text 8"/>
          <p:cNvSpPr txBox="1"/>
          <p:nvPr/>
        </p:nvSpPr>
        <p:spPr>
          <a:xfrm>
            <a:off x="1234440" y="3300984"/>
            <a:ext cx="47548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Shell   </a:t>
            </a:r>
            <a:r>
              <a:rPr lang="en-US" sz="1350" dirty="0">
                <a:solidFill>
                  <a:srgbClr val="FFFFFF"/>
                </a:solidFill>
                <a:latin typeface="Calibri" pitchFamily="34" charset="0"/>
                <a:ea typeface="Calibri" pitchFamily="34" charset="-122"/>
                <a:cs typeface="Calibri" pitchFamily="34" charset="-120"/>
              </a:rPr>
              <a:t>reads the command and runs it: sh, bash, zsh</a:t>
            </a:r>
            <a:endParaRPr lang="en-US" sz="2000" dirty="0"/>
          </a:p>
        </p:txBody>
      </p:sp>
      <p:sp>
        <p:nvSpPr>
          <p:cNvPr id="12" name="Shape 9"/>
          <p:cNvSpPr/>
          <p:nvPr/>
        </p:nvSpPr>
        <p:spPr>
          <a:xfrm>
            <a:off x="1234440" y="4197096"/>
            <a:ext cx="4663440" cy="749808"/>
          </a:xfrm>
          <a:prstGeom prst="roundRect">
            <a:avLst>
              <a:gd name="adj" fmla="val 12195"/>
            </a:avLst>
          </a:prstGeom>
          <a:solidFill>
            <a:srgbClr val="17875A"/>
          </a:solidFill>
          <a:ln/>
        </p:spPr>
        <p:txBody>
          <a:bodyPr/>
          <a:lstStyle/>
          <a:p>
            <a:endParaRPr lang="en-US"/>
          </a:p>
        </p:txBody>
      </p:sp>
      <p:sp>
        <p:nvSpPr>
          <p:cNvPr id="13" name="Text 10"/>
          <p:cNvSpPr txBox="1"/>
          <p:nvPr/>
        </p:nvSpPr>
        <p:spPr>
          <a:xfrm>
            <a:off x="1463040" y="4197096"/>
            <a:ext cx="42976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Kernel   </a:t>
            </a:r>
            <a:r>
              <a:rPr lang="en-US" sz="1350" dirty="0">
                <a:solidFill>
                  <a:srgbClr val="FFFFFF"/>
                </a:solidFill>
                <a:latin typeface="Calibri" pitchFamily="34" charset="0"/>
                <a:ea typeface="Calibri" pitchFamily="34" charset="-122"/>
                <a:cs typeface="Calibri" pitchFamily="34" charset="-120"/>
              </a:rPr>
              <a:t>Linux itself: runs programs, talks to hardware</a:t>
            </a:r>
            <a:endParaRPr lang="en-US" sz="2000" dirty="0"/>
          </a:p>
        </p:txBody>
      </p:sp>
      <p:sp>
        <p:nvSpPr>
          <p:cNvPr id="14" name="Shape 11"/>
          <p:cNvSpPr/>
          <p:nvPr/>
        </p:nvSpPr>
        <p:spPr>
          <a:xfrm>
            <a:off x="1463040" y="5093208"/>
            <a:ext cx="4206240" cy="749808"/>
          </a:xfrm>
          <a:prstGeom prst="roundRect">
            <a:avLst>
              <a:gd name="adj" fmla="val 12195"/>
            </a:avLst>
          </a:prstGeom>
          <a:solidFill>
            <a:srgbClr val="56657E"/>
          </a:solidFill>
          <a:ln/>
        </p:spPr>
        <p:txBody>
          <a:bodyPr/>
          <a:lstStyle/>
          <a:p>
            <a:endParaRPr lang="en-US"/>
          </a:p>
        </p:txBody>
      </p:sp>
      <p:sp>
        <p:nvSpPr>
          <p:cNvPr id="15" name="Text 12"/>
          <p:cNvSpPr txBox="1"/>
          <p:nvPr/>
        </p:nvSpPr>
        <p:spPr>
          <a:xfrm>
            <a:off x="1691640" y="5093208"/>
            <a:ext cx="38404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Hardware   </a:t>
            </a:r>
            <a:r>
              <a:rPr lang="en-US" sz="1350" dirty="0">
                <a:solidFill>
                  <a:srgbClr val="FFFFFF"/>
                </a:solidFill>
                <a:latin typeface="Calibri" pitchFamily="34" charset="0"/>
                <a:ea typeface="Calibri" pitchFamily="34" charset="-122"/>
                <a:cs typeface="Calibri" pitchFamily="34" charset="-120"/>
              </a:rPr>
              <a:t>CPU, memory, disk, network</a:t>
            </a:r>
            <a:endParaRPr lang="en-US" sz="2000" dirty="0"/>
          </a:p>
        </p:txBody>
      </p:sp>
      <p:sp>
        <p:nvSpPr>
          <p:cNvPr id="16" name="Shape 13"/>
          <p:cNvSpPr/>
          <p:nvPr/>
        </p:nvSpPr>
        <p:spPr>
          <a:xfrm>
            <a:off x="6903720" y="1508760"/>
            <a:ext cx="4736592" cy="2651760"/>
          </a:xfrm>
          <a:prstGeom prst="roundRect">
            <a:avLst>
              <a:gd name="adj" fmla="val 344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7104888" y="1664208"/>
            <a:ext cx="118872" cy="118872"/>
          </a:xfrm>
          <a:prstGeom prst="ellipse">
            <a:avLst/>
          </a:prstGeom>
          <a:solidFill>
            <a:srgbClr val="E5534B"/>
          </a:solidFill>
          <a:ln/>
        </p:spPr>
        <p:txBody>
          <a:bodyPr/>
          <a:lstStyle/>
          <a:p>
            <a:endParaRPr lang="en-US"/>
          </a:p>
        </p:txBody>
      </p:sp>
      <p:sp>
        <p:nvSpPr>
          <p:cNvPr id="18" name="Shape 15"/>
          <p:cNvSpPr/>
          <p:nvPr/>
        </p:nvSpPr>
        <p:spPr>
          <a:xfrm>
            <a:off x="7306056" y="1664208"/>
            <a:ext cx="118872" cy="118872"/>
          </a:xfrm>
          <a:prstGeom prst="ellipse">
            <a:avLst/>
          </a:prstGeom>
          <a:solidFill>
            <a:srgbClr val="F5A623"/>
          </a:solidFill>
          <a:ln/>
        </p:spPr>
        <p:txBody>
          <a:bodyPr/>
          <a:lstStyle/>
          <a:p>
            <a:endParaRPr lang="en-US"/>
          </a:p>
        </p:txBody>
      </p:sp>
      <p:sp>
        <p:nvSpPr>
          <p:cNvPr id="19" name="Shape 16"/>
          <p:cNvSpPr/>
          <p:nvPr/>
        </p:nvSpPr>
        <p:spPr>
          <a:xfrm>
            <a:off x="7507224" y="1664208"/>
            <a:ext cx="118872" cy="118872"/>
          </a:xfrm>
          <a:prstGeom prst="ellipse">
            <a:avLst/>
          </a:prstGeom>
          <a:solidFill>
            <a:srgbClr val="46D39A"/>
          </a:solidFill>
          <a:ln/>
        </p:spPr>
        <p:txBody>
          <a:bodyPr/>
          <a:lstStyle/>
          <a:p>
            <a:endParaRPr lang="en-US"/>
          </a:p>
        </p:txBody>
      </p:sp>
      <p:sp>
        <p:nvSpPr>
          <p:cNvPr id="20" name="Text 17"/>
          <p:cNvSpPr txBox="1"/>
          <p:nvPr/>
        </p:nvSpPr>
        <p:spPr>
          <a:xfrm>
            <a:off x="7818120" y="1581912"/>
            <a:ext cx="290779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terminal window</a:t>
            </a:r>
            <a:endParaRPr lang="en-US" sz="1000" dirty="0"/>
          </a:p>
        </p:txBody>
      </p:sp>
      <p:sp>
        <p:nvSpPr>
          <p:cNvPr id="21" name="Text 18"/>
          <p:cNvSpPr txBox="1"/>
          <p:nvPr/>
        </p:nvSpPr>
        <p:spPr>
          <a:xfrm>
            <a:off x="7178040" y="1965960"/>
            <a:ext cx="4187952" cy="205740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echo $0</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shell's name</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uname -s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Linux</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kernel's name</a:t>
            </a:r>
            <a:endParaRPr lang="en-US" sz="1600" dirty="0"/>
          </a:p>
        </p:txBody>
      </p:sp>
      <p:sp>
        <p:nvSpPr>
          <p:cNvPr id="22" name="Shape 19"/>
          <p:cNvSpPr/>
          <p:nvPr/>
        </p:nvSpPr>
        <p:spPr>
          <a:xfrm>
            <a:off x="6903720" y="4343400"/>
            <a:ext cx="4736592" cy="1554480"/>
          </a:xfrm>
          <a:prstGeom prst="roundRect">
            <a:avLst>
              <a:gd name="adj" fmla="val 5882"/>
            </a:avLst>
          </a:prstGeom>
          <a:solidFill>
            <a:srgbClr val="F1F5FB"/>
          </a:solidFill>
          <a:ln/>
        </p:spPr>
        <p:txBody>
          <a:bodyPr/>
          <a:lstStyle/>
          <a:p>
            <a:endParaRPr lang="en-US"/>
          </a:p>
        </p:txBody>
      </p:sp>
      <p:sp>
        <p:nvSpPr>
          <p:cNvPr id="23" name="Text 20"/>
          <p:cNvSpPr txBox="1"/>
          <p:nvPr/>
        </p:nvSpPr>
        <p:spPr>
          <a:xfrm>
            <a:off x="7132320" y="4434840"/>
            <a:ext cx="4389120" cy="1371600"/>
          </a:xfrm>
          <a:prstGeom prst="rect">
            <a:avLst/>
          </a:prstGeom>
          <a:noFill/>
          <a:ln/>
        </p:spPr>
        <p:txBody>
          <a:bodyPr wrap="square" lIns="0" tIns="0" rIns="0" bIns="0" rtlCol="0" anchor="ctr"/>
          <a:lstStyle/>
          <a:p>
            <a:pPr marL="0" indent="0">
              <a:buNone/>
            </a:pPr>
            <a:r>
              <a:rPr lang="en-US" sz="1600" b="1" dirty="0">
                <a:solidFill>
                  <a:srgbClr val="2459D8"/>
                </a:solidFill>
                <a:latin typeface="Calibri" pitchFamily="34" charset="0"/>
                <a:ea typeface="Calibri" pitchFamily="34" charset="-122"/>
                <a:cs typeface="Calibri" pitchFamily="34" charset="-120"/>
              </a:rPr>
              <a:t>CLI </a:t>
            </a:r>
            <a:r>
              <a:rPr lang="en-US" sz="1600" dirty="0">
                <a:solidFill>
                  <a:srgbClr val="12213A"/>
                </a:solidFill>
                <a:latin typeface="Calibri" pitchFamily="34" charset="0"/>
                <a:ea typeface="Calibri" pitchFamily="34" charset="-122"/>
                <a:cs typeface="Calibri" pitchFamily="34" charset="-120"/>
              </a:rPr>
              <a:t>command-line interface: you type.</a:t>
            </a:r>
            <a:endParaRPr lang="en-US" sz="1600" dirty="0"/>
          </a:p>
          <a:p>
            <a:pPr marL="0" indent="0">
              <a:buNone/>
            </a:pPr>
            <a:r>
              <a:rPr lang="en-US" sz="1600" b="1" dirty="0">
                <a:solidFill>
                  <a:srgbClr val="D1416B"/>
                </a:solidFill>
                <a:latin typeface="Calibri" pitchFamily="34" charset="0"/>
                <a:ea typeface="Calibri" pitchFamily="34" charset="-122"/>
                <a:cs typeface="Calibri" pitchFamily="34" charset="-120"/>
              </a:rPr>
              <a:t>GUI </a:t>
            </a:r>
            <a:r>
              <a:rPr lang="en-US" sz="1600" dirty="0">
                <a:solidFill>
                  <a:srgbClr val="12213A"/>
                </a:solidFill>
                <a:latin typeface="Calibri" pitchFamily="34" charset="0"/>
                <a:ea typeface="Calibri" pitchFamily="34" charset="-122"/>
                <a:cs typeface="Calibri" pitchFamily="34" charset="-120"/>
              </a:rPr>
              <a:t>graphical user interface: you point and click.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8"/>
                                        </p:tgtEl>
                                        <p:attrNameLst>
                                          <p:attrName>style.opacity</p:attrName>
                                        </p:attrNameLst>
                                      </p:cBhvr>
                                      <p:to>
                                        <p:strVal val="0.25"/>
                                      </p:to>
                                    </p:set>
                                    <p:animEffect filter="image" prLst="opacity: 0.25">
                                      <p:cBhvr rctx="IE">
                                        <p:cTn id="7" dur="1" fill="hold"/>
                                        <p:tgtEl>
                                          <p:spTgt spid="8"/>
                                        </p:tgtEl>
                                      </p:cBhvr>
                                    </p:animEffect>
                                  </p:childTnLst>
                                </p:cTn>
                              </p:par>
                              <p:par>
                                <p:cTn id="8" presetID="9" presetClass="emph" presetSubtype="0" fill="hold" grpId="0" nodeType="withEffect">
                                  <p:stCondLst>
                                    <p:cond delay="0"/>
                                  </p:stCondLst>
                                  <p:childTnLst>
                                    <p:set>
                                      <p:cBhvr>
                                        <p:cTn id="9" dur="1" fill="hold"/>
                                        <p:tgtEl>
                                          <p:spTgt spid="9"/>
                                        </p:tgtEl>
                                        <p:attrNameLst>
                                          <p:attrName>style.opacity</p:attrName>
                                        </p:attrNameLst>
                                      </p:cBhvr>
                                      <p:to>
                                        <p:strVal val="0.25"/>
                                      </p:to>
                                    </p:set>
                                    <p:animEffect filter="image" prLst="opacity: 0.25">
                                      <p:cBhvr rctx="IE">
                                        <p:cTn id="10" dur="1" fill="hold"/>
                                        <p:tgtEl>
                                          <p:spTgt spid="9"/>
                                        </p:tgtEl>
                                      </p:cBhvr>
                                    </p:animEffect>
                                  </p:childTnLst>
                                </p:cTn>
                              </p:par>
                              <p:par>
                                <p:cTn id="11" presetID="9" presetClass="emph" presetSubtype="0" fill="hold" grpId="0" nodeType="withEffect">
                                  <p:stCondLst>
                                    <p:cond delay="0"/>
                                  </p:stCondLst>
                                  <p:childTnLst>
                                    <p:set>
                                      <p:cBhvr>
                                        <p:cTn id="12" dur="1" fill="hold"/>
                                        <p:tgtEl>
                                          <p:spTgt spid="10"/>
                                        </p:tgtEl>
                                        <p:attrNameLst>
                                          <p:attrName>style.opacity</p:attrName>
                                        </p:attrNameLst>
                                      </p:cBhvr>
                                      <p:to>
                                        <p:strVal val="0.25"/>
                                      </p:to>
                                    </p:set>
                                    <p:animEffect filter="image" prLst="opacity: 0.25">
                                      <p:cBhvr rctx="IE">
                                        <p:cTn id="13" dur="1" fill="hold"/>
                                        <p:tgtEl>
                                          <p:spTgt spid="10"/>
                                        </p:tgtEl>
                                      </p:cBhvr>
                                    </p:animEffect>
                                  </p:childTnLst>
                                </p:cTn>
                              </p:par>
                              <p:par>
                                <p:cTn id="14" presetID="9" presetClass="emph" presetSubtype="0" fill="hold" grpId="0" nodeType="withEffect">
                                  <p:stCondLst>
                                    <p:cond delay="0"/>
                                  </p:stCondLst>
                                  <p:childTnLst>
                                    <p:set>
                                      <p:cBhvr>
                                        <p:cTn id="15" dur="1" fill="hold"/>
                                        <p:tgtEl>
                                          <p:spTgt spid="11"/>
                                        </p:tgtEl>
                                        <p:attrNameLst>
                                          <p:attrName>style.opacity</p:attrName>
                                        </p:attrNameLst>
                                      </p:cBhvr>
                                      <p:to>
                                        <p:strVal val="0.25"/>
                                      </p:to>
                                    </p:set>
                                    <p:animEffect filter="image" prLst="opacity: 0.25">
                                      <p:cBhvr rctx="IE">
                                        <p:cTn id="16" dur="1" fill="hold"/>
                                        <p:tgtEl>
                                          <p:spTgt spid="11"/>
                                        </p:tgtEl>
                                      </p:cBhvr>
                                    </p:animEffect>
                                  </p:childTnLst>
                                </p:cTn>
                              </p:par>
                              <p:par>
                                <p:cTn id="17" presetID="9" presetClass="emph" presetSubtype="0" fill="hold" grpId="0" nodeType="withEffect">
                                  <p:stCondLst>
                                    <p:cond delay="0"/>
                                  </p:stCondLst>
                                  <p:childTnLst>
                                    <p:set>
                                      <p:cBhvr>
                                        <p:cTn id="18" dur="1" fill="hold"/>
                                        <p:tgtEl>
                                          <p:spTgt spid="12"/>
                                        </p:tgtEl>
                                        <p:attrNameLst>
                                          <p:attrName>style.opacity</p:attrName>
                                        </p:attrNameLst>
                                      </p:cBhvr>
                                      <p:to>
                                        <p:strVal val="0.25"/>
                                      </p:to>
                                    </p:set>
                                    <p:animEffect filter="image" prLst="opacity: 0.25">
                                      <p:cBhvr rctx="IE">
                                        <p:cTn id="19" dur="1" fill="hold"/>
                                        <p:tgtEl>
                                          <p:spTgt spid="12"/>
                                        </p:tgtEl>
                                      </p:cBhvr>
                                    </p:animEffect>
                                  </p:childTnLst>
                                </p:cTn>
                              </p:par>
                              <p:par>
                                <p:cTn id="20" presetID="9" presetClass="emph" presetSubtype="0" fill="hold" grpId="0" nodeType="withEffect">
                                  <p:stCondLst>
                                    <p:cond delay="0"/>
                                  </p:stCondLst>
                                  <p:childTnLst>
                                    <p:set>
                                      <p:cBhvr>
                                        <p:cTn id="21" dur="1" fill="hold"/>
                                        <p:tgtEl>
                                          <p:spTgt spid="13"/>
                                        </p:tgtEl>
                                        <p:attrNameLst>
                                          <p:attrName>style.opacity</p:attrName>
                                        </p:attrNameLst>
                                      </p:cBhvr>
                                      <p:to>
                                        <p:strVal val="0.25"/>
                                      </p:to>
                                    </p:set>
                                    <p:animEffect filter="image" prLst="opacity: 0.25">
                                      <p:cBhvr rctx="IE">
                                        <p:cTn id="22" dur="1" fill="hold"/>
                                        <p:tgtEl>
                                          <p:spTgt spid="13"/>
                                        </p:tgtEl>
                                      </p:cBhvr>
                                    </p:animEffect>
                                  </p:childTnLst>
                                </p:cTn>
                              </p:par>
                              <p:par>
                                <p:cTn id="23" presetID="9" presetClass="emph" presetSubtype="0" fill="hold" grpId="0" nodeType="withEffect">
                                  <p:stCondLst>
                                    <p:cond delay="0"/>
                                  </p:stCondLst>
                                  <p:childTnLst>
                                    <p:set>
                                      <p:cBhvr>
                                        <p:cTn id="24" dur="1" fill="hold"/>
                                        <p:tgtEl>
                                          <p:spTgt spid="14"/>
                                        </p:tgtEl>
                                        <p:attrNameLst>
                                          <p:attrName>style.opacity</p:attrName>
                                        </p:attrNameLst>
                                      </p:cBhvr>
                                      <p:to>
                                        <p:strVal val="0.25"/>
                                      </p:to>
                                    </p:set>
                                    <p:animEffect filter="image" prLst="opacity: 0.25">
                                      <p:cBhvr rctx="IE">
                                        <p:cTn id="25" dur="1" fill="hold"/>
                                        <p:tgtEl>
                                          <p:spTgt spid="14"/>
                                        </p:tgtEl>
                                      </p:cBhvr>
                                    </p:animEffect>
                                  </p:childTnLst>
                                </p:cTn>
                              </p:par>
                              <p:par>
                                <p:cTn id="26" presetID="9" presetClass="emph" presetSubtype="0" fill="hold" grpId="0" nodeType="withEffect">
                                  <p:stCondLst>
                                    <p:cond delay="0"/>
                                  </p:stCondLst>
                                  <p:childTnLst>
                                    <p:set>
                                      <p:cBhvr>
                                        <p:cTn id="27" dur="1" fill="hold"/>
                                        <p:tgtEl>
                                          <p:spTgt spid="15"/>
                                        </p:tgtEl>
                                        <p:attrNameLst>
                                          <p:attrName>style.opacity</p:attrName>
                                        </p:attrNameLst>
                                      </p:cBhvr>
                                      <p:to>
                                        <p:strVal val="0.25"/>
                                      </p:to>
                                    </p:set>
                                    <p:animEffect filter="image" prLst="opacity: 0.25">
                                      <p:cBhvr rctx="IE">
                                        <p:cTn id="28" dur="1" fill="hold"/>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fill="hold" grpId="0" nodeType="clickEffect">
                                  <p:stCondLst>
                                    <p:cond delay="0"/>
                                  </p:stCondLst>
                                  <p:childTnLst>
                                    <p:set>
                                      <p:cBhvr>
                                        <p:cTn id="32" dur="400" fill="hold"/>
                                        <p:tgtEl>
                                          <p:spTgt spid="8"/>
                                        </p:tgtEl>
                                        <p:attrNameLst>
                                          <p:attrName>style.opacity</p:attrName>
                                        </p:attrNameLst>
                                      </p:cBhvr>
                                      <p:to>
                                        <p:strVal val="1"/>
                                      </p:to>
                                    </p:set>
                                    <p:animEffect filter="image" prLst="opacity: 1">
                                      <p:cBhvr rctx="IE">
                                        <p:cTn id="33" dur="400" fill="hold"/>
                                        <p:tgtEl>
                                          <p:spTgt spid="8"/>
                                        </p:tgtEl>
                                      </p:cBhvr>
                                    </p:animEffect>
                                  </p:childTnLst>
                                </p:cTn>
                              </p:par>
                              <p:par>
                                <p:cTn id="34" presetID="9" presetClass="emph" presetSubtype="0" fill="hold" grpId="0" nodeType="withEffect">
                                  <p:stCondLst>
                                    <p:cond delay="0"/>
                                  </p:stCondLst>
                                  <p:childTnLst>
                                    <p:set>
                                      <p:cBhvr>
                                        <p:cTn id="35" dur="400" fill="hold"/>
                                        <p:tgtEl>
                                          <p:spTgt spid="9"/>
                                        </p:tgtEl>
                                        <p:attrNameLst>
                                          <p:attrName>style.opacity</p:attrName>
                                        </p:attrNameLst>
                                      </p:cBhvr>
                                      <p:to>
                                        <p:strVal val="1"/>
                                      </p:to>
                                    </p:set>
                                    <p:animEffect filter="image" prLst="opacity: 1">
                                      <p:cBhvr rctx="IE">
                                        <p:cTn id="36" dur="400" fill="hold"/>
                                        <p:tgtEl>
                                          <p:spTgt spid="9"/>
                                        </p:tgtEl>
                                      </p:cBhvr>
                                    </p:animEffect>
                                  </p:childTnLst>
                                </p:cTn>
                              </p:par>
                              <p:par>
                                <p:cTn id="37" presetID="9" presetClass="emph" presetSubtype="0" fill="hold" grpId="0" nodeType="withEffect">
                                  <p:stCondLst>
                                    <p:cond delay="0"/>
                                  </p:stCondLst>
                                  <p:childTnLst>
                                    <p:set>
                                      <p:cBhvr>
                                        <p:cTn id="38" dur="400" fill="hold"/>
                                        <p:tgtEl>
                                          <p:spTgt spid="6"/>
                                        </p:tgtEl>
                                        <p:attrNameLst>
                                          <p:attrName>style.opacity</p:attrName>
                                        </p:attrNameLst>
                                      </p:cBhvr>
                                      <p:to>
                                        <p:strVal val="0.25"/>
                                      </p:to>
                                    </p:set>
                                    <p:animEffect filter="image" prLst="opacity: 0.25">
                                      <p:cBhvr rctx="IE">
                                        <p:cTn id="39" dur="400" fill="hold"/>
                                        <p:tgtEl>
                                          <p:spTgt spid="6"/>
                                        </p:tgtEl>
                                      </p:cBhvr>
                                    </p:animEffect>
                                  </p:childTnLst>
                                </p:cTn>
                              </p:par>
                              <p:par>
                                <p:cTn id="40" presetID="9" presetClass="emph" presetSubtype="0" fill="hold" grpId="0" nodeType="withEffect">
                                  <p:stCondLst>
                                    <p:cond delay="0"/>
                                  </p:stCondLst>
                                  <p:childTnLst>
                                    <p:set>
                                      <p:cBhvr>
                                        <p:cTn id="41" dur="400" fill="hold"/>
                                        <p:tgtEl>
                                          <p:spTgt spid="7"/>
                                        </p:tgtEl>
                                        <p:attrNameLst>
                                          <p:attrName>style.opacity</p:attrName>
                                        </p:attrNameLst>
                                      </p:cBhvr>
                                      <p:to>
                                        <p:strVal val="0.25"/>
                                      </p:to>
                                    </p:set>
                                    <p:animEffect filter="image" prLst="opacity: 0.25">
                                      <p:cBhvr rctx="IE">
                                        <p:cTn id="42" dur="400" fill="hold"/>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mph" presetSubtype="0" fill="hold" grpId="0" nodeType="clickEffect">
                                  <p:stCondLst>
                                    <p:cond delay="0"/>
                                  </p:stCondLst>
                                  <p:childTnLst>
                                    <p:set>
                                      <p:cBhvr>
                                        <p:cTn id="46" dur="400" fill="hold"/>
                                        <p:tgtEl>
                                          <p:spTgt spid="10"/>
                                        </p:tgtEl>
                                        <p:attrNameLst>
                                          <p:attrName>style.opacity</p:attrName>
                                        </p:attrNameLst>
                                      </p:cBhvr>
                                      <p:to>
                                        <p:strVal val="1"/>
                                      </p:to>
                                    </p:set>
                                    <p:animEffect filter="image" prLst="opacity: 1">
                                      <p:cBhvr rctx="IE">
                                        <p:cTn id="47" dur="400" fill="hold"/>
                                        <p:tgtEl>
                                          <p:spTgt spid="10"/>
                                        </p:tgtEl>
                                      </p:cBhvr>
                                    </p:animEffect>
                                  </p:childTnLst>
                                </p:cTn>
                              </p:par>
                              <p:par>
                                <p:cTn id="48" presetID="9" presetClass="emph" presetSubtype="0" fill="hold" grpId="0" nodeType="withEffect">
                                  <p:stCondLst>
                                    <p:cond delay="0"/>
                                  </p:stCondLst>
                                  <p:childTnLst>
                                    <p:set>
                                      <p:cBhvr>
                                        <p:cTn id="49" dur="400" fill="hold"/>
                                        <p:tgtEl>
                                          <p:spTgt spid="11"/>
                                        </p:tgtEl>
                                        <p:attrNameLst>
                                          <p:attrName>style.opacity</p:attrName>
                                        </p:attrNameLst>
                                      </p:cBhvr>
                                      <p:to>
                                        <p:strVal val="1"/>
                                      </p:to>
                                    </p:set>
                                    <p:animEffect filter="image" prLst="opacity: 1">
                                      <p:cBhvr rctx="IE">
                                        <p:cTn id="50" dur="400" fill="hold"/>
                                        <p:tgtEl>
                                          <p:spTgt spid="11"/>
                                        </p:tgtEl>
                                      </p:cBhvr>
                                    </p:animEffect>
                                  </p:childTnLst>
                                </p:cTn>
                              </p:par>
                              <p:par>
                                <p:cTn id="51" presetID="9" presetClass="emph" presetSubtype="0" fill="hold" grpId="0" nodeType="withEffect">
                                  <p:stCondLst>
                                    <p:cond delay="0"/>
                                  </p:stCondLst>
                                  <p:childTnLst>
                                    <p:set>
                                      <p:cBhvr>
                                        <p:cTn id="52" dur="400" fill="hold"/>
                                        <p:tgtEl>
                                          <p:spTgt spid="8"/>
                                        </p:tgtEl>
                                        <p:attrNameLst>
                                          <p:attrName>style.opacity</p:attrName>
                                        </p:attrNameLst>
                                      </p:cBhvr>
                                      <p:to>
                                        <p:strVal val="0.25"/>
                                      </p:to>
                                    </p:set>
                                    <p:animEffect filter="image" prLst="opacity: 0.25">
                                      <p:cBhvr rctx="IE">
                                        <p:cTn id="53" dur="400" fill="hold"/>
                                        <p:tgtEl>
                                          <p:spTgt spid="8"/>
                                        </p:tgtEl>
                                      </p:cBhvr>
                                    </p:animEffect>
                                  </p:childTnLst>
                                </p:cTn>
                              </p:par>
                              <p:par>
                                <p:cTn id="54" presetID="9" presetClass="emph" presetSubtype="0" fill="hold" grpId="0" nodeType="withEffect">
                                  <p:stCondLst>
                                    <p:cond delay="0"/>
                                  </p:stCondLst>
                                  <p:childTnLst>
                                    <p:set>
                                      <p:cBhvr>
                                        <p:cTn id="55" dur="400" fill="hold"/>
                                        <p:tgtEl>
                                          <p:spTgt spid="9"/>
                                        </p:tgtEl>
                                        <p:attrNameLst>
                                          <p:attrName>style.opacity</p:attrName>
                                        </p:attrNameLst>
                                      </p:cBhvr>
                                      <p:to>
                                        <p:strVal val="0.25"/>
                                      </p:to>
                                    </p:set>
                                    <p:animEffect filter="image" prLst="opacity: 0.25">
                                      <p:cBhvr rctx="IE">
                                        <p:cTn id="56" dur="400" fill="hold"/>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mph" presetSubtype="0" fill="hold" grpId="0" nodeType="clickEffect">
                                  <p:stCondLst>
                                    <p:cond delay="0"/>
                                  </p:stCondLst>
                                  <p:childTnLst>
                                    <p:set>
                                      <p:cBhvr>
                                        <p:cTn id="60" dur="400" fill="hold"/>
                                        <p:tgtEl>
                                          <p:spTgt spid="12"/>
                                        </p:tgtEl>
                                        <p:attrNameLst>
                                          <p:attrName>style.opacity</p:attrName>
                                        </p:attrNameLst>
                                      </p:cBhvr>
                                      <p:to>
                                        <p:strVal val="1"/>
                                      </p:to>
                                    </p:set>
                                    <p:animEffect filter="image" prLst="opacity: 1">
                                      <p:cBhvr rctx="IE">
                                        <p:cTn id="61" dur="400" fill="hold"/>
                                        <p:tgtEl>
                                          <p:spTgt spid="12"/>
                                        </p:tgtEl>
                                      </p:cBhvr>
                                    </p:animEffect>
                                  </p:childTnLst>
                                </p:cTn>
                              </p:par>
                              <p:par>
                                <p:cTn id="62" presetID="9" presetClass="emph" presetSubtype="0" fill="hold" grpId="0" nodeType="withEffect">
                                  <p:stCondLst>
                                    <p:cond delay="0"/>
                                  </p:stCondLst>
                                  <p:childTnLst>
                                    <p:set>
                                      <p:cBhvr>
                                        <p:cTn id="63" dur="400" fill="hold"/>
                                        <p:tgtEl>
                                          <p:spTgt spid="13"/>
                                        </p:tgtEl>
                                        <p:attrNameLst>
                                          <p:attrName>style.opacity</p:attrName>
                                        </p:attrNameLst>
                                      </p:cBhvr>
                                      <p:to>
                                        <p:strVal val="1"/>
                                      </p:to>
                                    </p:set>
                                    <p:animEffect filter="image" prLst="opacity: 1">
                                      <p:cBhvr rctx="IE">
                                        <p:cTn id="64" dur="400" fill="hold"/>
                                        <p:tgtEl>
                                          <p:spTgt spid="13"/>
                                        </p:tgtEl>
                                      </p:cBhvr>
                                    </p:animEffect>
                                  </p:childTnLst>
                                </p:cTn>
                              </p:par>
                              <p:par>
                                <p:cTn id="65" presetID="9" presetClass="emph" presetSubtype="0" fill="hold" grpId="0" nodeType="withEffect">
                                  <p:stCondLst>
                                    <p:cond delay="0"/>
                                  </p:stCondLst>
                                  <p:childTnLst>
                                    <p:set>
                                      <p:cBhvr>
                                        <p:cTn id="66" dur="400" fill="hold"/>
                                        <p:tgtEl>
                                          <p:spTgt spid="10"/>
                                        </p:tgtEl>
                                        <p:attrNameLst>
                                          <p:attrName>style.opacity</p:attrName>
                                        </p:attrNameLst>
                                      </p:cBhvr>
                                      <p:to>
                                        <p:strVal val="0.25"/>
                                      </p:to>
                                    </p:set>
                                    <p:animEffect filter="image" prLst="opacity: 0.25">
                                      <p:cBhvr rctx="IE">
                                        <p:cTn id="67" dur="400" fill="hold"/>
                                        <p:tgtEl>
                                          <p:spTgt spid="10"/>
                                        </p:tgtEl>
                                      </p:cBhvr>
                                    </p:animEffect>
                                  </p:childTnLst>
                                </p:cTn>
                              </p:par>
                              <p:par>
                                <p:cTn id="68" presetID="9" presetClass="emph" presetSubtype="0" fill="hold" grpId="0" nodeType="withEffect">
                                  <p:stCondLst>
                                    <p:cond delay="0"/>
                                  </p:stCondLst>
                                  <p:childTnLst>
                                    <p:set>
                                      <p:cBhvr>
                                        <p:cTn id="69" dur="400" fill="hold"/>
                                        <p:tgtEl>
                                          <p:spTgt spid="11"/>
                                        </p:tgtEl>
                                        <p:attrNameLst>
                                          <p:attrName>style.opacity</p:attrName>
                                        </p:attrNameLst>
                                      </p:cBhvr>
                                      <p:to>
                                        <p:strVal val="0.25"/>
                                      </p:to>
                                    </p:set>
                                    <p:animEffect filter="image" prLst="opacity: 0.25">
                                      <p:cBhvr rctx="IE">
                                        <p:cTn id="70" dur="400" fill="hold"/>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mph" presetSubtype="0" fill="hold" grpId="0" nodeType="clickEffect">
                                  <p:stCondLst>
                                    <p:cond delay="0"/>
                                  </p:stCondLst>
                                  <p:childTnLst>
                                    <p:set>
                                      <p:cBhvr>
                                        <p:cTn id="74" dur="400" fill="hold"/>
                                        <p:tgtEl>
                                          <p:spTgt spid="14"/>
                                        </p:tgtEl>
                                        <p:attrNameLst>
                                          <p:attrName>style.opacity</p:attrName>
                                        </p:attrNameLst>
                                      </p:cBhvr>
                                      <p:to>
                                        <p:strVal val="1"/>
                                      </p:to>
                                    </p:set>
                                    <p:animEffect filter="image" prLst="opacity: 1">
                                      <p:cBhvr rctx="IE">
                                        <p:cTn id="75" dur="400" fill="hold"/>
                                        <p:tgtEl>
                                          <p:spTgt spid="14"/>
                                        </p:tgtEl>
                                      </p:cBhvr>
                                    </p:animEffect>
                                  </p:childTnLst>
                                </p:cTn>
                              </p:par>
                              <p:par>
                                <p:cTn id="76" presetID="9" presetClass="emph" presetSubtype="0" fill="hold" grpId="0" nodeType="withEffect">
                                  <p:stCondLst>
                                    <p:cond delay="0"/>
                                  </p:stCondLst>
                                  <p:childTnLst>
                                    <p:set>
                                      <p:cBhvr>
                                        <p:cTn id="77" dur="400" fill="hold"/>
                                        <p:tgtEl>
                                          <p:spTgt spid="15"/>
                                        </p:tgtEl>
                                        <p:attrNameLst>
                                          <p:attrName>style.opacity</p:attrName>
                                        </p:attrNameLst>
                                      </p:cBhvr>
                                      <p:to>
                                        <p:strVal val="1"/>
                                      </p:to>
                                    </p:set>
                                    <p:animEffect filter="image" prLst="opacity: 1">
                                      <p:cBhvr rctx="IE">
                                        <p:cTn id="78" dur="400" fill="hold"/>
                                        <p:tgtEl>
                                          <p:spTgt spid="15"/>
                                        </p:tgtEl>
                                      </p:cBhvr>
                                    </p:animEffect>
                                  </p:childTnLst>
                                </p:cTn>
                              </p:par>
                              <p:par>
                                <p:cTn id="79" presetID="9" presetClass="emph" presetSubtype="0" fill="hold" grpId="0" nodeType="withEffect">
                                  <p:stCondLst>
                                    <p:cond delay="0"/>
                                  </p:stCondLst>
                                  <p:childTnLst>
                                    <p:set>
                                      <p:cBhvr>
                                        <p:cTn id="80" dur="400" fill="hold"/>
                                        <p:tgtEl>
                                          <p:spTgt spid="12"/>
                                        </p:tgtEl>
                                        <p:attrNameLst>
                                          <p:attrName>style.opacity</p:attrName>
                                        </p:attrNameLst>
                                      </p:cBhvr>
                                      <p:to>
                                        <p:strVal val="0.25"/>
                                      </p:to>
                                    </p:set>
                                    <p:animEffect filter="image" prLst="opacity: 0.25">
                                      <p:cBhvr rctx="IE">
                                        <p:cTn id="81" dur="400" fill="hold"/>
                                        <p:tgtEl>
                                          <p:spTgt spid="12"/>
                                        </p:tgtEl>
                                      </p:cBhvr>
                                    </p:animEffect>
                                  </p:childTnLst>
                                </p:cTn>
                              </p:par>
                              <p:par>
                                <p:cTn id="82" presetID="9" presetClass="emph" presetSubtype="0" fill="hold" grpId="0" nodeType="withEffect">
                                  <p:stCondLst>
                                    <p:cond delay="0"/>
                                  </p:stCondLst>
                                  <p:childTnLst>
                                    <p:set>
                                      <p:cBhvr>
                                        <p:cTn id="83" dur="400" fill="hold"/>
                                        <p:tgtEl>
                                          <p:spTgt spid="13"/>
                                        </p:tgtEl>
                                        <p:attrNameLst>
                                          <p:attrName>style.opacity</p:attrName>
                                        </p:attrNameLst>
                                      </p:cBhvr>
                                      <p:to>
                                        <p:strVal val="0.25"/>
                                      </p:to>
                                    </p:set>
                                    <p:animEffect filter="image" prLst="opacity: 0.25">
                                      <p:cBhvr rctx="IE">
                                        <p:cTn id="84" dur="400" fill="hold"/>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terminal</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70408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7" name="Shape 4"/>
          <p:cNvSpPr/>
          <p:nvPr/>
        </p:nvSpPr>
        <p:spPr>
          <a:xfrm>
            <a:off x="749808" y="1618488"/>
            <a:ext cx="118872" cy="118872"/>
          </a:xfrm>
          <a:prstGeom prst="ellipse">
            <a:avLst/>
          </a:prstGeom>
          <a:solidFill>
            <a:srgbClr val="E5534B"/>
          </a:solidFill>
          <a:ln/>
        </p:spPr>
        <p:txBody>
          <a:bodyPr/>
          <a:lstStyle/>
          <a:p>
            <a:endParaRPr lang="en-US"/>
          </a:p>
        </p:txBody>
      </p:sp>
      <p:sp>
        <p:nvSpPr>
          <p:cNvPr id="8" name="Shape 5"/>
          <p:cNvSpPr/>
          <p:nvPr/>
        </p:nvSpPr>
        <p:spPr>
          <a:xfrm>
            <a:off x="950976" y="1618488"/>
            <a:ext cx="118872" cy="118872"/>
          </a:xfrm>
          <a:prstGeom prst="ellipse">
            <a:avLst/>
          </a:prstGeom>
          <a:solidFill>
            <a:srgbClr val="F5A623"/>
          </a:solidFill>
          <a:ln/>
        </p:spPr>
        <p:txBody>
          <a:bodyPr/>
          <a:lstStyle/>
          <a:p>
            <a:endParaRPr lang="en-US"/>
          </a:p>
        </p:txBody>
      </p:sp>
      <p:sp>
        <p:nvSpPr>
          <p:cNvPr id="9" name="Shape 6"/>
          <p:cNvSpPr/>
          <p:nvPr/>
        </p:nvSpPr>
        <p:spPr>
          <a:xfrm>
            <a:off x="1152144" y="1618488"/>
            <a:ext cx="118872" cy="118872"/>
          </a:xfrm>
          <a:prstGeom prst="ellipse">
            <a:avLst/>
          </a:prstGeom>
          <a:solidFill>
            <a:srgbClr val="46D39A"/>
          </a:solidFill>
          <a:ln/>
        </p:spPr>
        <p:txBody>
          <a:bodyPr/>
          <a:lstStyle/>
          <a:p>
            <a:endParaRPr lang="en-US"/>
          </a:p>
        </p:txBody>
      </p:sp>
      <p:sp>
        <p:nvSpPr>
          <p:cNvPr id="10" name="Text 7"/>
          <p:cNvSpPr txBox="1"/>
          <p:nvPr/>
        </p:nvSpPr>
        <p:spPr>
          <a:xfrm>
            <a:off x="1463040" y="1536192"/>
            <a:ext cx="52120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CyberQuest Linux CTF terminal</a:t>
            </a:r>
            <a:endParaRPr lang="en-US" sz="1000" dirty="0"/>
          </a:p>
        </p:txBody>
      </p:sp>
      <p:sp>
        <p:nvSpPr>
          <p:cNvPr id="11" name="Text 8"/>
          <p:cNvSpPr txBox="1"/>
          <p:nvPr/>
        </p:nvSpPr>
        <p:spPr>
          <a:xfrm>
            <a:off x="914400" y="2240280"/>
            <a:ext cx="198120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2" name="Text 9"/>
          <p:cNvSpPr txBox="1"/>
          <p:nvPr/>
        </p:nvSpPr>
        <p:spPr>
          <a:xfrm>
            <a:off x="2727960" y="224028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3" name="Text 10"/>
          <p:cNvSpPr txBox="1"/>
          <p:nvPr/>
        </p:nvSpPr>
        <p:spPr>
          <a:xfrm>
            <a:off x="2987040" y="2240280"/>
            <a:ext cx="662940" cy="411480"/>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pwd</a:t>
            </a:r>
            <a:endParaRPr lang="en-US" sz="1700" dirty="0"/>
          </a:p>
        </p:txBody>
      </p:sp>
      <p:sp>
        <p:nvSpPr>
          <p:cNvPr id="14" name="Text 11"/>
          <p:cNvSpPr txBox="1"/>
          <p:nvPr/>
        </p:nvSpPr>
        <p:spPr>
          <a:xfrm>
            <a:off x="3634740" y="2240280"/>
            <a:ext cx="2606040" cy="411480"/>
          </a:xfrm>
          <a:prstGeom prst="rect">
            <a:avLst/>
          </a:prstGeom>
          <a:noFill/>
          <a:ln/>
        </p:spPr>
        <p:txBody>
          <a:bodyPr wrap="square" lIns="0" tIns="0" rIns="0" bIns="0" rtlCol="0" anchor="ctr"/>
          <a:lstStyle/>
          <a:p>
            <a:pPr marL="0" indent="0">
              <a:buNone/>
            </a:pPr>
            <a:r>
              <a:rPr lang="en-US" sz="1700" dirty="0">
                <a:solidFill>
                  <a:srgbClr val="7F8FAD"/>
                </a:solidFill>
                <a:latin typeface="Courier New" pitchFamily="34" charset="0"/>
                <a:ea typeface="Courier New" pitchFamily="34" charset="-122"/>
                <a:cs typeface="Courier New" pitchFamily="34" charset="-120"/>
              </a:rPr>
              <a:t># then press Enter</a:t>
            </a:r>
            <a:endParaRPr lang="en-US" sz="1700" dirty="0"/>
          </a:p>
        </p:txBody>
      </p:sp>
      <p:sp>
        <p:nvSpPr>
          <p:cNvPr id="15" name="Text 12"/>
          <p:cNvSpPr txBox="1"/>
          <p:nvPr/>
        </p:nvSpPr>
        <p:spPr>
          <a:xfrm>
            <a:off x="914400" y="3246120"/>
            <a:ext cx="1828800" cy="411480"/>
          </a:xfrm>
          <a:prstGeom prst="rect">
            <a:avLst/>
          </a:prstGeom>
          <a:noFill/>
          <a:ln/>
        </p:spPr>
        <p:txBody>
          <a:bodyPr wrap="square" lIns="0" tIns="0" rIns="0" bIns="0" rtlCol="0" anchor="ctr"/>
          <a:lstStyle/>
          <a:p>
            <a:pPr marL="0" indent="0">
              <a:buNone/>
            </a:pPr>
            <a:r>
              <a:rPr lang="en-US" sz="1700" dirty="0">
                <a:solidFill>
                  <a:srgbClr val="B8C4D9"/>
                </a:solidFill>
                <a:latin typeface="Courier New" pitchFamily="34" charset="0"/>
                <a:ea typeface="Courier New" pitchFamily="34" charset="-122"/>
                <a:cs typeface="Courier New" pitchFamily="34" charset="-120"/>
              </a:rPr>
              <a:t>/home/player</a:t>
            </a:r>
            <a:endParaRPr lang="en-US" sz="1700" dirty="0"/>
          </a:p>
        </p:txBody>
      </p:sp>
      <p:sp>
        <p:nvSpPr>
          <p:cNvPr id="16" name="Text 13"/>
          <p:cNvSpPr txBox="1"/>
          <p:nvPr/>
        </p:nvSpPr>
        <p:spPr>
          <a:xfrm>
            <a:off x="914400" y="4251960"/>
            <a:ext cx="208788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7" name="Text 14"/>
          <p:cNvSpPr txBox="1"/>
          <p:nvPr/>
        </p:nvSpPr>
        <p:spPr>
          <a:xfrm>
            <a:off x="2727960" y="425196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8" name="Shape 15"/>
          <p:cNvSpPr/>
          <p:nvPr/>
        </p:nvSpPr>
        <p:spPr>
          <a:xfrm>
            <a:off x="2987040" y="4297680"/>
            <a:ext cx="116586" cy="329184"/>
          </a:xfrm>
          <a:prstGeom prst="rect">
            <a:avLst/>
          </a:prstGeom>
          <a:solidFill>
            <a:srgbClr val="B8C4D9"/>
          </a:solidFill>
          <a:ln/>
        </p:spPr>
        <p:txBody>
          <a:bodyPr/>
          <a:lstStyle/>
          <a:p>
            <a:endParaRPr lang="en-US"/>
          </a:p>
        </p:txBody>
      </p:sp>
      <p:sp>
        <p:nvSpPr>
          <p:cNvPr id="19" name="Shape 16"/>
          <p:cNvSpPr/>
          <p:nvPr/>
        </p:nvSpPr>
        <p:spPr>
          <a:xfrm>
            <a:off x="850392" y="2221992"/>
            <a:ext cx="2025396" cy="448056"/>
          </a:xfrm>
          <a:prstGeom prst="roundRect">
            <a:avLst>
              <a:gd name="adj" fmla="val 12245"/>
            </a:avLst>
          </a:prstGeom>
          <a:ln w="25400">
            <a:solidFill>
              <a:srgbClr val="46D39A"/>
            </a:solidFill>
            <a:prstDash val="solid"/>
          </a:ln>
        </p:spPr>
        <p:txBody>
          <a:bodyPr/>
          <a:lstStyle/>
          <a:p>
            <a:endParaRPr lang="en-US"/>
          </a:p>
        </p:txBody>
      </p:sp>
      <p:sp>
        <p:nvSpPr>
          <p:cNvPr id="20" name="Shape 17"/>
          <p:cNvSpPr/>
          <p:nvPr/>
        </p:nvSpPr>
        <p:spPr>
          <a:xfrm>
            <a:off x="2709672" y="2221992"/>
            <a:ext cx="166116" cy="448056"/>
          </a:xfrm>
          <a:prstGeom prst="roundRect">
            <a:avLst>
              <a:gd name="adj" fmla="val 33028"/>
            </a:avLst>
          </a:prstGeom>
          <a:ln w="25400">
            <a:solidFill>
              <a:srgbClr val="F5A623"/>
            </a:solidFill>
            <a:prstDash val="solid"/>
          </a:ln>
        </p:spPr>
        <p:txBody>
          <a:bodyPr/>
          <a:lstStyle/>
          <a:p>
            <a:endParaRPr lang="en-US"/>
          </a:p>
        </p:txBody>
      </p:sp>
      <p:sp>
        <p:nvSpPr>
          <p:cNvPr id="21" name="Shape 18"/>
          <p:cNvSpPr/>
          <p:nvPr/>
        </p:nvSpPr>
        <p:spPr>
          <a:xfrm>
            <a:off x="2923032" y="2221992"/>
            <a:ext cx="516636" cy="448056"/>
          </a:xfrm>
          <a:prstGeom prst="roundRect">
            <a:avLst>
              <a:gd name="adj" fmla="val 12245"/>
            </a:avLst>
          </a:prstGeom>
          <a:ln w="25400">
            <a:solidFill>
              <a:srgbClr val="7FB2FF"/>
            </a:solidFill>
            <a:prstDash val="solid"/>
          </a:ln>
        </p:spPr>
        <p:txBody>
          <a:bodyPr/>
          <a:lstStyle/>
          <a:p>
            <a:endParaRPr lang="en-US"/>
          </a:p>
        </p:txBody>
      </p:sp>
      <p:sp>
        <p:nvSpPr>
          <p:cNvPr id="22" name="Shape 19"/>
          <p:cNvSpPr/>
          <p:nvPr/>
        </p:nvSpPr>
        <p:spPr>
          <a:xfrm>
            <a:off x="850392" y="3227832"/>
            <a:ext cx="1682496" cy="448056"/>
          </a:xfrm>
          <a:prstGeom prst="roundRect">
            <a:avLst>
              <a:gd name="adj" fmla="val 12245"/>
            </a:avLst>
          </a:prstGeom>
          <a:ln w="25400">
            <a:solidFill>
              <a:srgbClr val="C9A7FF"/>
            </a:solidFill>
            <a:prstDash val="solid"/>
          </a:ln>
        </p:spPr>
        <p:txBody>
          <a:bodyPr/>
          <a:lstStyle/>
          <a:p>
            <a:endParaRPr lang="en-US"/>
          </a:p>
        </p:txBody>
      </p:sp>
      <p:sp>
        <p:nvSpPr>
          <p:cNvPr id="23" name="Shape 20"/>
          <p:cNvSpPr/>
          <p:nvPr/>
        </p:nvSpPr>
        <p:spPr>
          <a:xfrm>
            <a:off x="2963405" y="4233672"/>
            <a:ext cx="166116" cy="448056"/>
          </a:xfrm>
          <a:prstGeom prst="roundRect">
            <a:avLst>
              <a:gd name="adj" fmla="val 33028"/>
            </a:avLst>
          </a:prstGeom>
          <a:ln w="25400">
            <a:solidFill>
              <a:srgbClr val="FF8FB1"/>
            </a:solidFill>
            <a:prstDash val="solid"/>
          </a:ln>
        </p:spPr>
        <p:txBody>
          <a:bodyPr/>
          <a:lstStyle/>
          <a:p>
            <a:endParaRPr lang="en-US"/>
          </a:p>
        </p:txBody>
      </p:sp>
      <p:sp>
        <p:nvSpPr>
          <p:cNvPr id="24" name="Shape 21"/>
          <p:cNvSpPr/>
          <p:nvPr/>
        </p:nvSpPr>
        <p:spPr>
          <a:xfrm>
            <a:off x="7086600" y="1572768"/>
            <a:ext cx="329184" cy="329184"/>
          </a:xfrm>
          <a:prstGeom prst="ellipse">
            <a:avLst/>
          </a:prstGeom>
          <a:solidFill>
            <a:srgbClr val="FFFFFF"/>
          </a:solidFill>
          <a:ln/>
        </p:spPr>
        <p:txBody>
          <a:bodyPr/>
          <a:lstStyle/>
          <a:p>
            <a:endParaRPr lang="en-US"/>
          </a:p>
        </p:txBody>
      </p:sp>
      <p:sp>
        <p:nvSpPr>
          <p:cNvPr id="25" name="Text 22"/>
          <p:cNvSpPr txBox="1"/>
          <p:nvPr/>
        </p:nvSpPr>
        <p:spPr>
          <a:xfrm>
            <a:off x="7086600" y="1572768"/>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1</a:t>
            </a:r>
            <a:endParaRPr lang="en-US" sz="1300" dirty="0"/>
          </a:p>
        </p:txBody>
      </p:sp>
      <p:sp>
        <p:nvSpPr>
          <p:cNvPr id="26" name="Shape 23"/>
          <p:cNvSpPr/>
          <p:nvPr/>
        </p:nvSpPr>
        <p:spPr>
          <a:xfrm>
            <a:off x="804672" y="1819656"/>
            <a:ext cx="329184" cy="329184"/>
          </a:xfrm>
          <a:prstGeom prst="ellipse">
            <a:avLst/>
          </a:prstGeom>
          <a:solidFill>
            <a:srgbClr val="46D39A"/>
          </a:solidFill>
          <a:ln/>
        </p:spPr>
        <p:txBody>
          <a:bodyPr/>
          <a:lstStyle/>
          <a:p>
            <a:endParaRPr lang="en-US"/>
          </a:p>
        </p:txBody>
      </p:sp>
      <p:sp>
        <p:nvSpPr>
          <p:cNvPr id="27" name="Text 24"/>
          <p:cNvSpPr txBox="1"/>
          <p:nvPr/>
        </p:nvSpPr>
        <p:spPr>
          <a:xfrm>
            <a:off x="804672"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2</a:t>
            </a:r>
            <a:endParaRPr lang="en-US" sz="1300" dirty="0"/>
          </a:p>
        </p:txBody>
      </p:sp>
      <p:sp>
        <p:nvSpPr>
          <p:cNvPr id="28" name="Shape 25"/>
          <p:cNvSpPr/>
          <p:nvPr/>
        </p:nvSpPr>
        <p:spPr>
          <a:xfrm>
            <a:off x="2636520" y="1819656"/>
            <a:ext cx="329184" cy="329184"/>
          </a:xfrm>
          <a:prstGeom prst="ellipse">
            <a:avLst/>
          </a:prstGeom>
          <a:solidFill>
            <a:srgbClr val="F5A623"/>
          </a:solidFill>
          <a:ln/>
        </p:spPr>
        <p:txBody>
          <a:bodyPr/>
          <a:lstStyle/>
          <a:p>
            <a:endParaRPr lang="en-US"/>
          </a:p>
        </p:txBody>
      </p:sp>
      <p:sp>
        <p:nvSpPr>
          <p:cNvPr id="29" name="Text 26"/>
          <p:cNvSpPr txBox="1"/>
          <p:nvPr/>
        </p:nvSpPr>
        <p:spPr>
          <a:xfrm>
            <a:off x="2636520"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3</a:t>
            </a:r>
            <a:endParaRPr lang="en-US" sz="1300" dirty="0"/>
          </a:p>
        </p:txBody>
      </p:sp>
      <p:sp>
        <p:nvSpPr>
          <p:cNvPr id="30" name="Shape 27"/>
          <p:cNvSpPr/>
          <p:nvPr/>
        </p:nvSpPr>
        <p:spPr>
          <a:xfrm>
            <a:off x="3096768" y="1819656"/>
            <a:ext cx="329184" cy="329184"/>
          </a:xfrm>
          <a:prstGeom prst="ellipse">
            <a:avLst/>
          </a:prstGeom>
          <a:solidFill>
            <a:srgbClr val="7FB2FF"/>
          </a:solidFill>
          <a:ln/>
        </p:spPr>
        <p:txBody>
          <a:bodyPr/>
          <a:lstStyle/>
          <a:p>
            <a:endParaRPr lang="en-US"/>
          </a:p>
        </p:txBody>
      </p:sp>
      <p:sp>
        <p:nvSpPr>
          <p:cNvPr id="31" name="Text 28"/>
          <p:cNvSpPr txBox="1"/>
          <p:nvPr/>
        </p:nvSpPr>
        <p:spPr>
          <a:xfrm>
            <a:off x="3096768"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4</a:t>
            </a:r>
            <a:endParaRPr lang="en-US" sz="1300" dirty="0"/>
          </a:p>
        </p:txBody>
      </p:sp>
      <p:sp>
        <p:nvSpPr>
          <p:cNvPr id="32" name="Shape 29"/>
          <p:cNvSpPr/>
          <p:nvPr/>
        </p:nvSpPr>
        <p:spPr>
          <a:xfrm>
            <a:off x="804672" y="2825496"/>
            <a:ext cx="329184" cy="329184"/>
          </a:xfrm>
          <a:prstGeom prst="ellipse">
            <a:avLst/>
          </a:prstGeom>
          <a:solidFill>
            <a:srgbClr val="C9A7FF"/>
          </a:solidFill>
          <a:ln/>
        </p:spPr>
        <p:txBody>
          <a:bodyPr/>
          <a:lstStyle/>
          <a:p>
            <a:endParaRPr lang="en-US"/>
          </a:p>
        </p:txBody>
      </p:sp>
      <p:sp>
        <p:nvSpPr>
          <p:cNvPr id="33" name="Text 30"/>
          <p:cNvSpPr txBox="1"/>
          <p:nvPr/>
        </p:nvSpPr>
        <p:spPr>
          <a:xfrm>
            <a:off x="804672" y="282549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5</a:t>
            </a:r>
            <a:endParaRPr lang="en-US" sz="1300" dirty="0"/>
          </a:p>
        </p:txBody>
      </p:sp>
      <p:sp>
        <p:nvSpPr>
          <p:cNvPr id="34" name="Shape 31"/>
          <p:cNvSpPr/>
          <p:nvPr/>
        </p:nvSpPr>
        <p:spPr>
          <a:xfrm>
            <a:off x="2895600" y="3831336"/>
            <a:ext cx="329184" cy="329184"/>
          </a:xfrm>
          <a:prstGeom prst="ellipse">
            <a:avLst/>
          </a:prstGeom>
          <a:solidFill>
            <a:srgbClr val="FF8FB1"/>
          </a:solidFill>
          <a:ln/>
        </p:spPr>
        <p:txBody>
          <a:bodyPr/>
          <a:lstStyle/>
          <a:p>
            <a:endParaRPr lang="en-US"/>
          </a:p>
        </p:txBody>
      </p:sp>
      <p:sp>
        <p:nvSpPr>
          <p:cNvPr id="35" name="Text 32"/>
          <p:cNvSpPr txBox="1"/>
          <p:nvPr/>
        </p:nvSpPr>
        <p:spPr>
          <a:xfrm>
            <a:off x="2895600" y="383133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6</a:t>
            </a:r>
            <a:endParaRPr lang="en-US" sz="1300" dirty="0"/>
          </a:p>
        </p:txBody>
      </p:sp>
      <p:sp>
        <p:nvSpPr>
          <p:cNvPr id="36" name="Shape 33"/>
          <p:cNvSpPr/>
          <p:nvPr/>
        </p:nvSpPr>
        <p:spPr>
          <a:xfrm>
            <a:off x="7863840" y="1481328"/>
            <a:ext cx="347472" cy="347472"/>
          </a:xfrm>
          <a:prstGeom prst="ellipse">
            <a:avLst/>
          </a:prstGeom>
          <a:solidFill>
            <a:srgbClr val="8B98AD"/>
          </a:solidFill>
          <a:ln/>
        </p:spPr>
        <p:txBody>
          <a:bodyPr/>
          <a:lstStyle/>
          <a:p>
            <a:endParaRPr lang="en-US"/>
          </a:p>
        </p:txBody>
      </p:sp>
      <p:sp>
        <p:nvSpPr>
          <p:cNvPr id="37" name="Text 34"/>
          <p:cNvSpPr txBox="1"/>
          <p:nvPr/>
        </p:nvSpPr>
        <p:spPr>
          <a:xfrm>
            <a:off x="7863840" y="14813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8" name="Text 35"/>
          <p:cNvSpPr txBox="1"/>
          <p:nvPr/>
        </p:nvSpPr>
        <p:spPr>
          <a:xfrm>
            <a:off x="8366760" y="14447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terminal</a:t>
            </a:r>
            <a:endParaRPr lang="en-US" sz="1700" dirty="0"/>
          </a:p>
        </p:txBody>
      </p:sp>
      <p:sp>
        <p:nvSpPr>
          <p:cNvPr id="39" name="Text 36"/>
          <p:cNvSpPr txBox="1"/>
          <p:nvPr/>
        </p:nvSpPr>
        <p:spPr>
          <a:xfrm>
            <a:off x="8366760" y="17647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black window. You type, and the computer answers in text.</a:t>
            </a:r>
            <a:endParaRPr lang="en-US" sz="1300" dirty="0"/>
          </a:p>
        </p:txBody>
      </p:sp>
      <p:sp>
        <p:nvSpPr>
          <p:cNvPr id="40" name="Shape 37"/>
          <p:cNvSpPr/>
          <p:nvPr/>
        </p:nvSpPr>
        <p:spPr>
          <a:xfrm>
            <a:off x="7863840" y="2258568"/>
            <a:ext cx="347472" cy="347472"/>
          </a:xfrm>
          <a:prstGeom prst="ellipse">
            <a:avLst/>
          </a:prstGeom>
          <a:solidFill>
            <a:srgbClr val="17875A"/>
          </a:solidFill>
          <a:ln/>
        </p:spPr>
        <p:txBody>
          <a:bodyPr/>
          <a:lstStyle/>
          <a:p>
            <a:endParaRPr lang="en-US"/>
          </a:p>
        </p:txBody>
      </p:sp>
      <p:sp>
        <p:nvSpPr>
          <p:cNvPr id="41" name="Text 38"/>
          <p:cNvSpPr txBox="1"/>
          <p:nvPr/>
        </p:nvSpPr>
        <p:spPr>
          <a:xfrm>
            <a:off x="7863840" y="2258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2" name="Text 39"/>
          <p:cNvSpPr txBox="1"/>
          <p:nvPr/>
        </p:nvSpPr>
        <p:spPr>
          <a:xfrm>
            <a:off x="8366760" y="222199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a:t>
            </a:r>
            <a:endParaRPr lang="en-US" sz="1700" dirty="0"/>
          </a:p>
        </p:txBody>
      </p:sp>
      <p:sp>
        <p:nvSpPr>
          <p:cNvPr id="43" name="Text 40"/>
          <p:cNvSpPr txBox="1"/>
          <p:nvPr/>
        </p:nvSpPr>
        <p:spPr>
          <a:xfrm>
            <a:off x="8366760" y="254203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player@quest:~ shows who you are, which computer, which folder.</a:t>
            </a:r>
            <a:endParaRPr lang="en-US" sz="1300" dirty="0"/>
          </a:p>
        </p:txBody>
      </p:sp>
      <p:sp>
        <p:nvSpPr>
          <p:cNvPr id="44" name="Shape 41"/>
          <p:cNvSpPr/>
          <p:nvPr/>
        </p:nvSpPr>
        <p:spPr>
          <a:xfrm>
            <a:off x="7863840" y="3035808"/>
            <a:ext cx="347472" cy="347472"/>
          </a:xfrm>
          <a:prstGeom prst="ellipse">
            <a:avLst/>
          </a:prstGeom>
          <a:solidFill>
            <a:srgbClr val="C07A00"/>
          </a:solidFill>
          <a:ln/>
        </p:spPr>
        <p:txBody>
          <a:bodyPr/>
          <a:lstStyle/>
          <a:p>
            <a:endParaRPr lang="en-US"/>
          </a:p>
        </p:txBody>
      </p:sp>
      <p:sp>
        <p:nvSpPr>
          <p:cNvPr id="45" name="Text 42"/>
          <p:cNvSpPr txBox="1"/>
          <p:nvPr/>
        </p:nvSpPr>
        <p:spPr>
          <a:xfrm>
            <a:off x="7863840" y="3035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6" name="Text 43"/>
          <p:cNvSpPr txBox="1"/>
          <p:nvPr/>
        </p:nvSpPr>
        <p:spPr>
          <a:xfrm>
            <a:off x="8366760" y="299923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 character</a:t>
            </a:r>
            <a:endParaRPr lang="en-US" sz="1700" dirty="0"/>
          </a:p>
        </p:txBody>
      </p:sp>
      <p:sp>
        <p:nvSpPr>
          <p:cNvPr id="47" name="Text 44"/>
          <p:cNvSpPr txBox="1"/>
          <p:nvPr/>
        </p:nvSpPr>
        <p:spPr>
          <a:xfrm>
            <a:off x="8366760" y="331927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 means 'ready, your turn'. Never type it yourself.</a:t>
            </a:r>
            <a:endParaRPr lang="en-US" sz="1300" dirty="0"/>
          </a:p>
        </p:txBody>
      </p:sp>
      <p:sp>
        <p:nvSpPr>
          <p:cNvPr id="48" name="Shape 45"/>
          <p:cNvSpPr/>
          <p:nvPr/>
        </p:nvSpPr>
        <p:spPr>
          <a:xfrm>
            <a:off x="7863840" y="3813048"/>
            <a:ext cx="347472" cy="347472"/>
          </a:xfrm>
          <a:prstGeom prst="ellipse">
            <a:avLst/>
          </a:prstGeom>
          <a:solidFill>
            <a:srgbClr val="2459D8"/>
          </a:solidFill>
          <a:ln/>
        </p:spPr>
        <p:txBody>
          <a:bodyPr/>
          <a:lstStyle/>
          <a:p>
            <a:endParaRPr lang="en-US"/>
          </a:p>
        </p:txBody>
      </p:sp>
      <p:sp>
        <p:nvSpPr>
          <p:cNvPr id="49" name="Text 46"/>
          <p:cNvSpPr txBox="1"/>
          <p:nvPr/>
        </p:nvSpPr>
        <p:spPr>
          <a:xfrm>
            <a:off x="7863840" y="38130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0" name="Text 47"/>
          <p:cNvSpPr txBox="1"/>
          <p:nvPr/>
        </p:nvSpPr>
        <p:spPr>
          <a:xfrm>
            <a:off x="8366760" y="377647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command</a:t>
            </a:r>
            <a:endParaRPr lang="en-US" sz="1700" dirty="0"/>
          </a:p>
        </p:txBody>
      </p:sp>
      <p:sp>
        <p:nvSpPr>
          <p:cNvPr id="51" name="Text 48"/>
          <p:cNvSpPr txBox="1"/>
          <p:nvPr/>
        </p:nvSpPr>
        <p:spPr>
          <a:xfrm>
            <a:off x="8366760" y="409651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you type after the $. Then press Enter.</a:t>
            </a:r>
            <a:endParaRPr lang="en-US" sz="1300" dirty="0"/>
          </a:p>
        </p:txBody>
      </p:sp>
      <p:sp>
        <p:nvSpPr>
          <p:cNvPr id="52" name="Shape 49"/>
          <p:cNvSpPr/>
          <p:nvPr/>
        </p:nvSpPr>
        <p:spPr>
          <a:xfrm>
            <a:off x="7863840" y="4590288"/>
            <a:ext cx="347472" cy="347472"/>
          </a:xfrm>
          <a:prstGeom prst="ellipse">
            <a:avLst/>
          </a:prstGeom>
          <a:solidFill>
            <a:srgbClr val="7448D4"/>
          </a:solidFill>
          <a:ln/>
        </p:spPr>
        <p:txBody>
          <a:bodyPr/>
          <a:lstStyle/>
          <a:p>
            <a:endParaRPr lang="en-US"/>
          </a:p>
        </p:txBody>
      </p:sp>
      <p:sp>
        <p:nvSpPr>
          <p:cNvPr id="53" name="Text 50"/>
          <p:cNvSpPr txBox="1"/>
          <p:nvPr/>
        </p:nvSpPr>
        <p:spPr>
          <a:xfrm>
            <a:off x="7863840" y="45902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4" name="Text 51"/>
          <p:cNvSpPr txBox="1"/>
          <p:nvPr/>
        </p:nvSpPr>
        <p:spPr>
          <a:xfrm>
            <a:off x="8366760" y="455371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output</a:t>
            </a:r>
            <a:endParaRPr lang="en-US" sz="1700" dirty="0"/>
          </a:p>
        </p:txBody>
      </p:sp>
      <p:sp>
        <p:nvSpPr>
          <p:cNvPr id="55" name="Text 52"/>
          <p:cNvSpPr txBox="1"/>
          <p:nvPr/>
        </p:nvSpPr>
        <p:spPr>
          <a:xfrm>
            <a:off x="8366760" y="487375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computer's answer, printed underneath.</a:t>
            </a:r>
            <a:endParaRPr lang="en-US" sz="1300" dirty="0"/>
          </a:p>
        </p:txBody>
      </p:sp>
      <p:sp>
        <p:nvSpPr>
          <p:cNvPr id="56" name="Shape 53"/>
          <p:cNvSpPr/>
          <p:nvPr/>
        </p:nvSpPr>
        <p:spPr>
          <a:xfrm>
            <a:off x="7863840" y="5367528"/>
            <a:ext cx="347472" cy="347472"/>
          </a:xfrm>
          <a:prstGeom prst="ellipse">
            <a:avLst/>
          </a:prstGeom>
          <a:solidFill>
            <a:srgbClr val="D1416B"/>
          </a:solidFill>
          <a:ln/>
        </p:spPr>
        <p:txBody>
          <a:bodyPr/>
          <a:lstStyle/>
          <a:p>
            <a:endParaRPr lang="en-US"/>
          </a:p>
        </p:txBody>
      </p:sp>
      <p:sp>
        <p:nvSpPr>
          <p:cNvPr id="57" name="Text 54"/>
          <p:cNvSpPr txBox="1"/>
          <p:nvPr/>
        </p:nvSpPr>
        <p:spPr>
          <a:xfrm>
            <a:off x="7863840" y="53675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8" name="Text 55"/>
          <p:cNvSpPr txBox="1"/>
          <p:nvPr/>
        </p:nvSpPr>
        <p:spPr>
          <a:xfrm>
            <a:off x="8366760" y="53309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A new prompt</a:t>
            </a:r>
            <a:endParaRPr lang="en-US" sz="1700" dirty="0"/>
          </a:p>
        </p:txBody>
      </p:sp>
      <p:sp>
        <p:nvSpPr>
          <p:cNvPr id="59" name="Text 56"/>
          <p:cNvSpPr txBox="1"/>
          <p:nvPr/>
        </p:nvSpPr>
        <p:spPr>
          <a:xfrm>
            <a:off x="8366760" y="56509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fresh $ and a blinking cursor: your turn again.</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4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4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4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00"/>
                                        <p:tgtEl>
                                          <p:spTgt spid="4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400"/>
                                        <p:tgtEl>
                                          <p:spTgt spid="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400"/>
                                        <p:tgtEl>
                                          <p:spTgt spid="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400"/>
                                        <p:tgtEl>
                                          <p:spTgt spid="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fade">
                                      <p:cBhvr>
                                        <p:cTn id="73" dur="400"/>
                                        <p:tgtEl>
                                          <p:spTgt spid="4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400"/>
                                        <p:tgtEl>
                                          <p:spTgt spid="4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fade">
                                      <p:cBhvr>
                                        <p:cTn id="79" dur="400"/>
                                        <p:tgtEl>
                                          <p:spTgt spid="5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400"/>
                                        <p:tgtEl>
                                          <p:spTgt spid="5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fade">
                                      <p:cBhvr>
                                        <p:cTn id="96" dur="400"/>
                                        <p:tgtEl>
                                          <p:spTgt spid="5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fade">
                                      <p:cBhvr>
                                        <p:cTn id="99" dur="400"/>
                                        <p:tgtEl>
                                          <p:spTgt spid="5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fade">
                                      <p:cBhvr>
                                        <p:cTn id="102" dur="400"/>
                                        <p:tgtEl>
                                          <p:spTgt spid="5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animEffect transition="in" filter="fade">
                                      <p:cBhvr>
                                        <p:cTn id="105" dur="400"/>
                                        <p:tgtEl>
                                          <p:spTgt spid="5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fade">
                                      <p:cBhvr>
                                        <p:cTn id="108" dur="400"/>
                                        <p:tgtEl>
                                          <p:spTgt spid="3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400"/>
                                        <p:tgtEl>
                                          <p:spTgt spid="3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400"/>
                                        <p:tgtEl>
                                          <p:spTgt spid="22"/>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6"/>
                                        </p:tgtEl>
                                        <p:attrNameLst>
                                          <p:attrName>style.visibility</p:attrName>
                                        </p:attrNameLst>
                                      </p:cBhvr>
                                      <p:to>
                                        <p:strVal val="visible"/>
                                      </p:to>
                                    </p:set>
                                    <p:animEffect transition="in" filter="fade">
                                      <p:cBhvr>
                                        <p:cTn id="119" dur="400"/>
                                        <p:tgtEl>
                                          <p:spTgt spid="5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7"/>
                                        </p:tgtEl>
                                        <p:attrNameLst>
                                          <p:attrName>style.visibility</p:attrName>
                                        </p:attrNameLst>
                                      </p:cBhvr>
                                      <p:to>
                                        <p:strVal val="visible"/>
                                      </p:to>
                                    </p:set>
                                    <p:animEffect transition="in" filter="fade">
                                      <p:cBhvr>
                                        <p:cTn id="122" dur="400"/>
                                        <p:tgtEl>
                                          <p:spTgt spid="5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8"/>
                                        </p:tgtEl>
                                        <p:attrNameLst>
                                          <p:attrName>style.visibility</p:attrName>
                                        </p:attrNameLst>
                                      </p:cBhvr>
                                      <p:to>
                                        <p:strVal val="visible"/>
                                      </p:to>
                                    </p:set>
                                    <p:animEffect transition="in" filter="fade">
                                      <p:cBhvr>
                                        <p:cTn id="125" dur="400"/>
                                        <p:tgtEl>
                                          <p:spTgt spid="58"/>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9"/>
                                        </p:tgtEl>
                                        <p:attrNameLst>
                                          <p:attrName>style.visibility</p:attrName>
                                        </p:attrNameLst>
                                      </p:cBhvr>
                                      <p:to>
                                        <p:strVal val="visible"/>
                                      </p:to>
                                    </p:set>
                                    <p:animEffect transition="in" filter="fade">
                                      <p:cBhvr>
                                        <p:cTn id="128" dur="400"/>
                                        <p:tgtEl>
                                          <p:spTgt spid="5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400"/>
                                        <p:tgtEl>
                                          <p:spTgt spid="3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400"/>
                                        <p:tgtEl>
                                          <p:spTgt spid="3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3"/>
                                        </p:tgtEl>
                                        <p:attrNameLst>
                                          <p:attrName>style.visibility</p:attrName>
                                        </p:attrNameLst>
                                      </p:cBhvr>
                                      <p:to>
                                        <p:strVal val="visible"/>
                                      </p:to>
                                    </p:set>
                                    <p:animEffect transition="in" filter="fade">
                                      <p:cBhvr>
                                        <p:cTn id="13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CLI vs GUI</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3566160" y="1463040"/>
            <a:ext cx="3977640" cy="548640"/>
          </a:xfrm>
          <a:prstGeom prst="roundRect">
            <a:avLst>
              <a:gd name="adj" fmla="val 13333"/>
            </a:avLst>
          </a:prstGeom>
          <a:solidFill>
            <a:srgbClr val="D1416B"/>
          </a:solidFill>
          <a:ln/>
        </p:spPr>
        <p:txBody>
          <a:bodyPr/>
          <a:lstStyle/>
          <a:p>
            <a:endParaRPr lang="en-US"/>
          </a:p>
        </p:txBody>
      </p:sp>
      <p:sp>
        <p:nvSpPr>
          <p:cNvPr id="7" name="Text 4"/>
          <p:cNvSpPr txBox="1"/>
          <p:nvPr/>
        </p:nvSpPr>
        <p:spPr>
          <a:xfrm>
            <a:off x="3566160" y="1463040"/>
            <a:ext cx="3977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GUI: point and click</a:t>
            </a:r>
            <a:endParaRPr lang="en-US" sz="1800" dirty="0"/>
          </a:p>
        </p:txBody>
      </p:sp>
      <p:sp>
        <p:nvSpPr>
          <p:cNvPr id="8" name="Shape 5"/>
          <p:cNvSpPr/>
          <p:nvPr/>
        </p:nvSpPr>
        <p:spPr>
          <a:xfrm>
            <a:off x="7635240" y="1463040"/>
            <a:ext cx="4005072" cy="548640"/>
          </a:xfrm>
          <a:prstGeom prst="roundRect">
            <a:avLst>
              <a:gd name="adj" fmla="val 13333"/>
            </a:avLst>
          </a:prstGeom>
          <a:solidFill>
            <a:srgbClr val="2459D8"/>
          </a:solidFill>
          <a:ln/>
        </p:spPr>
        <p:txBody>
          <a:bodyPr/>
          <a:lstStyle/>
          <a:p>
            <a:endParaRPr lang="en-US"/>
          </a:p>
        </p:txBody>
      </p:sp>
      <p:sp>
        <p:nvSpPr>
          <p:cNvPr id="9" name="Text 6"/>
          <p:cNvSpPr txBox="1"/>
          <p:nvPr/>
        </p:nvSpPr>
        <p:spPr>
          <a:xfrm>
            <a:off x="7635240" y="1463040"/>
            <a:ext cx="400507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CLI: type commands</a:t>
            </a:r>
            <a:endParaRPr lang="en-US" sz="1800" dirty="0"/>
          </a:p>
        </p:txBody>
      </p:sp>
      <p:sp>
        <p:nvSpPr>
          <p:cNvPr id="10" name="Shape 7"/>
          <p:cNvSpPr/>
          <p:nvPr/>
        </p:nvSpPr>
        <p:spPr>
          <a:xfrm>
            <a:off x="548640" y="2121408"/>
            <a:ext cx="11094415" cy="566928"/>
          </a:xfrm>
          <a:prstGeom prst="rect">
            <a:avLst/>
          </a:prstGeom>
          <a:solidFill>
            <a:srgbClr val="F1F5FB"/>
          </a:solidFill>
          <a:ln/>
        </p:spPr>
        <p:txBody>
          <a:bodyPr/>
          <a:lstStyle/>
          <a:p>
            <a:endParaRPr lang="en-US"/>
          </a:p>
        </p:txBody>
      </p:sp>
      <p:sp>
        <p:nvSpPr>
          <p:cNvPr id="11" name="Text 8"/>
          <p:cNvSpPr txBox="1"/>
          <p:nvPr/>
        </p:nvSpPr>
        <p:spPr>
          <a:xfrm>
            <a:off x="685800" y="21214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Learning it</a:t>
            </a:r>
            <a:endParaRPr lang="en-US" sz="1500" dirty="0"/>
          </a:p>
        </p:txBody>
      </p:sp>
      <p:sp>
        <p:nvSpPr>
          <p:cNvPr id="12" name="Text 9"/>
          <p:cNvSpPr txBox="1"/>
          <p:nvPr/>
        </p:nvSpPr>
        <p:spPr>
          <a:xfrm>
            <a:off x="3703320" y="21214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Easy to discover: look around and click</a:t>
            </a:r>
            <a:endParaRPr lang="en-US" sz="1500" dirty="0"/>
          </a:p>
        </p:txBody>
      </p:sp>
      <p:sp>
        <p:nvSpPr>
          <p:cNvPr id="13" name="Text 10"/>
          <p:cNvSpPr txBox="1"/>
          <p:nvPr/>
        </p:nvSpPr>
        <p:spPr>
          <a:xfrm>
            <a:off x="7772400" y="2121408"/>
            <a:ext cx="3822192"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Learn the words first, then you are fast</a:t>
            </a:r>
            <a:endParaRPr lang="en-US" sz="1500" dirty="0"/>
          </a:p>
        </p:txBody>
      </p:sp>
      <p:sp>
        <p:nvSpPr>
          <p:cNvPr id="14" name="Shape 11"/>
          <p:cNvSpPr/>
          <p:nvPr/>
        </p:nvSpPr>
        <p:spPr>
          <a:xfrm>
            <a:off x="548640" y="2761488"/>
            <a:ext cx="11094415" cy="566928"/>
          </a:xfrm>
          <a:prstGeom prst="rect">
            <a:avLst/>
          </a:prstGeom>
          <a:solidFill>
            <a:srgbClr val="FFFFFF"/>
          </a:solidFill>
          <a:ln/>
        </p:spPr>
        <p:txBody>
          <a:bodyPr/>
          <a:lstStyle/>
          <a:p>
            <a:endParaRPr lang="en-US"/>
          </a:p>
        </p:txBody>
      </p:sp>
      <p:sp>
        <p:nvSpPr>
          <p:cNvPr id="15" name="Text 12"/>
          <p:cNvSpPr txBox="1"/>
          <p:nvPr/>
        </p:nvSpPr>
        <p:spPr>
          <a:xfrm>
            <a:off x="685800" y="276148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Rename 500 files</a:t>
            </a:r>
            <a:endParaRPr lang="en-US" sz="1500" dirty="0"/>
          </a:p>
        </p:txBody>
      </p:sp>
      <p:sp>
        <p:nvSpPr>
          <p:cNvPr id="16" name="Text 13"/>
          <p:cNvSpPr txBox="1"/>
          <p:nvPr/>
        </p:nvSpPr>
        <p:spPr>
          <a:xfrm>
            <a:off x="3703320" y="276148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500 right-clicks</a:t>
            </a:r>
            <a:endParaRPr lang="en-US" sz="1500" dirty="0"/>
          </a:p>
        </p:txBody>
      </p:sp>
      <p:sp>
        <p:nvSpPr>
          <p:cNvPr id="17" name="Text 14"/>
          <p:cNvSpPr txBox="1"/>
          <p:nvPr/>
        </p:nvSpPr>
        <p:spPr>
          <a:xfrm>
            <a:off x="7772400" y="276148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One line</a:t>
            </a:r>
            <a:endParaRPr lang="en-US" sz="1500" dirty="0"/>
          </a:p>
        </p:txBody>
      </p:sp>
      <p:sp>
        <p:nvSpPr>
          <p:cNvPr id="18" name="Shape 15"/>
          <p:cNvSpPr/>
          <p:nvPr/>
        </p:nvSpPr>
        <p:spPr>
          <a:xfrm>
            <a:off x="548640" y="3401568"/>
            <a:ext cx="11094415" cy="566928"/>
          </a:xfrm>
          <a:prstGeom prst="rect">
            <a:avLst/>
          </a:prstGeom>
          <a:solidFill>
            <a:srgbClr val="F1F5FB"/>
          </a:solidFill>
          <a:ln/>
        </p:spPr>
        <p:txBody>
          <a:bodyPr/>
          <a:lstStyle/>
          <a:p>
            <a:endParaRPr lang="en-US"/>
          </a:p>
        </p:txBody>
      </p:sp>
      <p:sp>
        <p:nvSpPr>
          <p:cNvPr id="19" name="Text 16"/>
          <p:cNvSpPr txBox="1"/>
          <p:nvPr/>
        </p:nvSpPr>
        <p:spPr>
          <a:xfrm>
            <a:off x="685800" y="340156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Find one line in a huge log</a:t>
            </a:r>
            <a:endParaRPr lang="en-US" sz="1500" dirty="0"/>
          </a:p>
        </p:txBody>
      </p:sp>
      <p:sp>
        <p:nvSpPr>
          <p:cNvPr id="20" name="Text 17"/>
          <p:cNvSpPr txBox="1"/>
          <p:nvPr/>
        </p:nvSpPr>
        <p:spPr>
          <a:xfrm>
            <a:off x="3703320" y="340156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Scroll, squint, Ctrl+F</a:t>
            </a:r>
            <a:endParaRPr lang="en-US" sz="1500" dirty="0"/>
          </a:p>
        </p:txBody>
      </p:sp>
      <p:sp>
        <p:nvSpPr>
          <p:cNvPr id="21" name="Text 18"/>
          <p:cNvSpPr txBox="1"/>
          <p:nvPr/>
        </p:nvSpPr>
        <p:spPr>
          <a:xfrm>
            <a:off x="7772400" y="340156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grep finds it in a blink</a:t>
            </a:r>
            <a:endParaRPr lang="en-US" sz="1500" dirty="0"/>
          </a:p>
        </p:txBody>
      </p:sp>
      <p:sp>
        <p:nvSpPr>
          <p:cNvPr id="22" name="Shape 19"/>
          <p:cNvSpPr/>
          <p:nvPr/>
        </p:nvSpPr>
        <p:spPr>
          <a:xfrm>
            <a:off x="548640" y="4041648"/>
            <a:ext cx="11094415" cy="566928"/>
          </a:xfrm>
          <a:prstGeom prst="rect">
            <a:avLst/>
          </a:prstGeom>
          <a:solidFill>
            <a:srgbClr val="FFFFFF"/>
          </a:solidFill>
          <a:ln/>
        </p:spPr>
        <p:txBody>
          <a:bodyPr/>
          <a:lstStyle/>
          <a:p>
            <a:endParaRPr lang="en-US"/>
          </a:p>
        </p:txBody>
      </p:sp>
      <p:sp>
        <p:nvSpPr>
          <p:cNvPr id="23" name="Text 20"/>
          <p:cNvSpPr txBox="1"/>
          <p:nvPr/>
        </p:nvSpPr>
        <p:spPr>
          <a:xfrm>
            <a:off x="685800" y="404164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Repeat yesterday's work</a:t>
            </a:r>
            <a:endParaRPr lang="en-US" sz="1500" dirty="0"/>
          </a:p>
        </p:txBody>
      </p:sp>
      <p:sp>
        <p:nvSpPr>
          <p:cNvPr id="24" name="Text 21"/>
          <p:cNvSpPr txBox="1"/>
          <p:nvPr/>
        </p:nvSpPr>
        <p:spPr>
          <a:xfrm>
            <a:off x="3703320" y="404164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Remember every click</a:t>
            </a:r>
            <a:endParaRPr lang="en-US" sz="1500" dirty="0"/>
          </a:p>
        </p:txBody>
      </p:sp>
      <p:sp>
        <p:nvSpPr>
          <p:cNvPr id="25" name="Text 22"/>
          <p:cNvSpPr txBox="1"/>
          <p:nvPr/>
        </p:nvSpPr>
        <p:spPr>
          <a:xfrm>
            <a:off x="7772400" y="404164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Press the Up arrow, or run the script</a:t>
            </a:r>
            <a:endParaRPr lang="en-US" sz="1500" dirty="0"/>
          </a:p>
        </p:txBody>
      </p:sp>
      <p:sp>
        <p:nvSpPr>
          <p:cNvPr id="26" name="Shape 23"/>
          <p:cNvSpPr/>
          <p:nvPr/>
        </p:nvSpPr>
        <p:spPr>
          <a:xfrm>
            <a:off x="548640" y="4681728"/>
            <a:ext cx="11094415" cy="566928"/>
          </a:xfrm>
          <a:prstGeom prst="rect">
            <a:avLst/>
          </a:prstGeom>
          <a:solidFill>
            <a:srgbClr val="F1F5FB"/>
          </a:solidFill>
          <a:ln/>
        </p:spPr>
        <p:txBody>
          <a:bodyPr/>
          <a:lstStyle/>
          <a:p>
            <a:endParaRPr lang="en-US"/>
          </a:p>
        </p:txBody>
      </p:sp>
      <p:sp>
        <p:nvSpPr>
          <p:cNvPr id="27" name="Text 24"/>
          <p:cNvSpPr txBox="1"/>
          <p:nvPr/>
        </p:nvSpPr>
        <p:spPr>
          <a:xfrm>
            <a:off x="685800" y="468172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A server 1,000 miles away</a:t>
            </a:r>
            <a:endParaRPr lang="en-US" sz="1500" dirty="0"/>
          </a:p>
        </p:txBody>
      </p:sp>
      <p:sp>
        <p:nvSpPr>
          <p:cNvPr id="28" name="Text 25"/>
          <p:cNvSpPr txBox="1"/>
          <p:nvPr/>
        </p:nvSpPr>
        <p:spPr>
          <a:xfrm>
            <a:off x="3703320" y="468172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Needs a remote desktop and a fast link</a:t>
            </a:r>
            <a:endParaRPr lang="en-US" sz="1500" dirty="0"/>
          </a:p>
        </p:txBody>
      </p:sp>
      <p:sp>
        <p:nvSpPr>
          <p:cNvPr id="29" name="Text 26"/>
          <p:cNvSpPr txBox="1"/>
          <p:nvPr/>
        </p:nvSpPr>
        <p:spPr>
          <a:xfrm>
            <a:off x="7772400" y="468172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Works over a slow text connection</a:t>
            </a:r>
            <a:endParaRPr lang="en-US" sz="1500" dirty="0"/>
          </a:p>
        </p:txBody>
      </p:sp>
      <p:sp>
        <p:nvSpPr>
          <p:cNvPr id="30" name="Shape 27"/>
          <p:cNvSpPr/>
          <p:nvPr/>
        </p:nvSpPr>
        <p:spPr>
          <a:xfrm>
            <a:off x="548640" y="5321808"/>
            <a:ext cx="11094415" cy="566928"/>
          </a:xfrm>
          <a:prstGeom prst="rect">
            <a:avLst/>
          </a:prstGeom>
          <a:solidFill>
            <a:srgbClr val="FFFFFF"/>
          </a:solidFill>
          <a:ln/>
        </p:spPr>
        <p:txBody>
          <a:bodyPr/>
          <a:lstStyle/>
          <a:p>
            <a:endParaRPr lang="en-US"/>
          </a:p>
        </p:txBody>
      </p:sp>
      <p:sp>
        <p:nvSpPr>
          <p:cNvPr id="31" name="Text 28"/>
          <p:cNvSpPr txBox="1"/>
          <p:nvPr/>
        </p:nvSpPr>
        <p:spPr>
          <a:xfrm>
            <a:off x="685800" y="53218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Show someone how you did it</a:t>
            </a:r>
            <a:endParaRPr lang="en-US" sz="1500" dirty="0"/>
          </a:p>
        </p:txBody>
      </p:sp>
      <p:sp>
        <p:nvSpPr>
          <p:cNvPr id="32" name="Text 29"/>
          <p:cNvSpPr txBox="1"/>
          <p:nvPr/>
        </p:nvSpPr>
        <p:spPr>
          <a:xfrm>
            <a:off x="3703320" y="53218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Screenshots and arrows</a:t>
            </a:r>
            <a:endParaRPr lang="en-US" sz="1500" dirty="0"/>
          </a:p>
        </p:txBody>
      </p:sp>
      <p:sp>
        <p:nvSpPr>
          <p:cNvPr id="33" name="Text 30"/>
          <p:cNvSpPr txBox="1"/>
          <p:nvPr/>
        </p:nvSpPr>
        <p:spPr>
          <a:xfrm>
            <a:off x="7772400" y="532180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Paste the command</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4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Speed: nothing beats the command line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508760"/>
            <a:ext cx="3566160" cy="3520440"/>
          </a:xfrm>
          <a:prstGeom prst="roundRect">
            <a:avLst>
              <a:gd name="adj" fmla="val 2597"/>
            </a:avLst>
          </a:prstGeom>
          <a:solidFill>
            <a:srgbClr val="F1F5FB"/>
          </a:solidFill>
          <a:ln/>
        </p:spPr>
        <p:txBody>
          <a:bodyPr/>
          <a:lstStyle/>
          <a:p>
            <a:endParaRPr lang="en-US"/>
          </a:p>
        </p:txBody>
      </p:sp>
      <p:sp>
        <p:nvSpPr>
          <p:cNvPr id="7" name="Shape 4"/>
          <p:cNvSpPr/>
          <p:nvPr/>
        </p:nvSpPr>
        <p:spPr>
          <a:xfrm>
            <a:off x="548640" y="1508760"/>
            <a:ext cx="3566160" cy="91440"/>
          </a:xfrm>
          <a:prstGeom prst="rect">
            <a:avLst/>
          </a:prstGeom>
          <a:solidFill>
            <a:srgbClr val="2459D8"/>
          </a:solidFill>
          <a:ln/>
        </p:spPr>
        <p:txBody>
          <a:bodyPr/>
          <a:lstStyle/>
          <a:p>
            <a:endParaRPr lang="en-US"/>
          </a:p>
        </p:txBody>
      </p:sp>
      <p:sp>
        <p:nvSpPr>
          <p:cNvPr id="8" name="Text 5"/>
          <p:cNvSpPr txBox="1"/>
          <p:nvPr/>
        </p:nvSpPr>
        <p:spPr>
          <a:xfrm>
            <a:off x="822960"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Rename 500 photos</a:t>
            </a:r>
            <a:endParaRPr lang="en-US" sz="1900" dirty="0"/>
          </a:p>
        </p:txBody>
      </p:sp>
      <p:sp>
        <p:nvSpPr>
          <p:cNvPr id="9" name="Text 6"/>
          <p:cNvSpPr txBox="1"/>
          <p:nvPr/>
        </p:nvSpPr>
        <p:spPr>
          <a:xfrm>
            <a:off x="822960"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0" name="Text 7"/>
          <p:cNvSpPr txBox="1"/>
          <p:nvPr/>
        </p:nvSpPr>
        <p:spPr>
          <a:xfrm>
            <a:off x="822960"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~25 min  </a:t>
            </a:r>
            <a:r>
              <a:rPr lang="en-US" sz="1300" dirty="0">
                <a:solidFill>
                  <a:srgbClr val="56657E"/>
                </a:solidFill>
                <a:latin typeface="Arial" pitchFamily="34" charset="0"/>
                <a:ea typeface="Arial" pitchFamily="34" charset="-122"/>
                <a:cs typeface="Arial" pitchFamily="34" charset="-120"/>
              </a:rPr>
              <a:t>of clicking</a:t>
            </a:r>
            <a:endParaRPr lang="en-US" sz="2600" dirty="0"/>
          </a:p>
        </p:txBody>
      </p:sp>
      <p:sp>
        <p:nvSpPr>
          <p:cNvPr id="11" name="Text 8"/>
          <p:cNvSpPr txBox="1"/>
          <p:nvPr/>
        </p:nvSpPr>
        <p:spPr>
          <a:xfrm>
            <a:off x="822960"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2" name="Text 9"/>
          <p:cNvSpPr txBox="1"/>
          <p:nvPr/>
        </p:nvSpPr>
        <p:spPr>
          <a:xfrm>
            <a:off x="822960"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line</a:t>
            </a:r>
            <a:endParaRPr lang="en-US" sz="2600" dirty="0"/>
          </a:p>
        </p:txBody>
      </p:sp>
      <p:sp>
        <p:nvSpPr>
          <p:cNvPr id="13" name="Shape 10"/>
          <p:cNvSpPr/>
          <p:nvPr/>
        </p:nvSpPr>
        <p:spPr>
          <a:xfrm>
            <a:off x="822960" y="4114800"/>
            <a:ext cx="3017520" cy="685800"/>
          </a:xfrm>
          <a:prstGeom prst="roundRect">
            <a:avLst>
              <a:gd name="adj" fmla="val 10667"/>
            </a:avLst>
          </a:prstGeom>
          <a:solidFill>
            <a:srgbClr val="0E1726"/>
          </a:solidFill>
          <a:ln/>
        </p:spPr>
        <p:txBody>
          <a:bodyPr/>
          <a:lstStyle/>
          <a:p>
            <a:endParaRPr lang="en-US"/>
          </a:p>
        </p:txBody>
      </p:sp>
      <p:sp>
        <p:nvSpPr>
          <p:cNvPr id="14" name="Text 11"/>
          <p:cNvSpPr txBox="1"/>
          <p:nvPr/>
        </p:nvSpPr>
        <p:spPr>
          <a:xfrm>
            <a:off x="914400"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f in *.jpg; do mv "$f" "trip-$f"; done</a:t>
            </a:r>
            <a:endParaRPr lang="en-US" sz="1100" dirty="0"/>
          </a:p>
        </p:txBody>
      </p:sp>
      <p:sp>
        <p:nvSpPr>
          <p:cNvPr id="15" name="Shape 12"/>
          <p:cNvSpPr/>
          <p:nvPr/>
        </p:nvSpPr>
        <p:spPr>
          <a:xfrm>
            <a:off x="4306824" y="1508760"/>
            <a:ext cx="3566160" cy="3520440"/>
          </a:xfrm>
          <a:prstGeom prst="roundRect">
            <a:avLst>
              <a:gd name="adj" fmla="val 2597"/>
            </a:avLst>
          </a:prstGeom>
          <a:solidFill>
            <a:srgbClr val="F1F5FB"/>
          </a:solidFill>
          <a:ln/>
        </p:spPr>
        <p:txBody>
          <a:bodyPr/>
          <a:lstStyle/>
          <a:p>
            <a:endParaRPr lang="en-US"/>
          </a:p>
        </p:txBody>
      </p:sp>
      <p:sp>
        <p:nvSpPr>
          <p:cNvPr id="16" name="Shape 13"/>
          <p:cNvSpPr/>
          <p:nvPr/>
        </p:nvSpPr>
        <p:spPr>
          <a:xfrm>
            <a:off x="4306824" y="1508760"/>
            <a:ext cx="3566160" cy="91440"/>
          </a:xfrm>
          <a:prstGeom prst="rect">
            <a:avLst/>
          </a:prstGeom>
          <a:solidFill>
            <a:srgbClr val="7448D4"/>
          </a:solidFill>
          <a:ln/>
        </p:spPr>
        <p:txBody>
          <a:bodyPr/>
          <a:lstStyle/>
          <a:p>
            <a:endParaRPr lang="en-US"/>
          </a:p>
        </p:txBody>
      </p:sp>
      <p:sp>
        <p:nvSpPr>
          <p:cNvPr id="17" name="Text 14"/>
          <p:cNvSpPr txBox="1"/>
          <p:nvPr/>
        </p:nvSpPr>
        <p:spPr>
          <a:xfrm>
            <a:off x="4581144"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Find one line in 12,000</a:t>
            </a:r>
            <a:endParaRPr lang="en-US" sz="1900" dirty="0"/>
          </a:p>
        </p:txBody>
      </p:sp>
      <p:sp>
        <p:nvSpPr>
          <p:cNvPr id="18" name="Text 15"/>
          <p:cNvSpPr txBox="1"/>
          <p:nvPr/>
        </p:nvSpPr>
        <p:spPr>
          <a:xfrm>
            <a:off x="4581144"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9" name="Text 16"/>
          <p:cNvSpPr txBox="1"/>
          <p:nvPr/>
        </p:nvSpPr>
        <p:spPr>
          <a:xfrm>
            <a:off x="4581144"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minutes  </a:t>
            </a:r>
            <a:r>
              <a:rPr lang="en-US" sz="1300" dirty="0">
                <a:solidFill>
                  <a:srgbClr val="56657E"/>
                </a:solidFill>
                <a:latin typeface="Arial" pitchFamily="34" charset="0"/>
                <a:ea typeface="Arial" pitchFamily="34" charset="-122"/>
                <a:cs typeface="Arial" pitchFamily="34" charset="-120"/>
              </a:rPr>
              <a:t>of scrolling and squinting</a:t>
            </a:r>
            <a:endParaRPr lang="en-US" sz="2600" dirty="0"/>
          </a:p>
        </p:txBody>
      </p:sp>
      <p:sp>
        <p:nvSpPr>
          <p:cNvPr id="20" name="Text 17"/>
          <p:cNvSpPr txBox="1"/>
          <p:nvPr/>
        </p:nvSpPr>
        <p:spPr>
          <a:xfrm>
            <a:off x="4581144"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21" name="Text 18"/>
          <p:cNvSpPr txBox="1"/>
          <p:nvPr/>
        </p:nvSpPr>
        <p:spPr>
          <a:xfrm>
            <a:off x="4581144"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&lt; 1 sec</a:t>
            </a:r>
            <a:endParaRPr lang="en-US" sz="2600" dirty="0"/>
          </a:p>
        </p:txBody>
      </p:sp>
      <p:sp>
        <p:nvSpPr>
          <p:cNvPr id="22" name="Shape 19"/>
          <p:cNvSpPr/>
          <p:nvPr/>
        </p:nvSpPr>
        <p:spPr>
          <a:xfrm>
            <a:off x="4581144" y="4114800"/>
            <a:ext cx="3017520" cy="685800"/>
          </a:xfrm>
          <a:prstGeom prst="roundRect">
            <a:avLst>
              <a:gd name="adj" fmla="val 10667"/>
            </a:avLst>
          </a:prstGeom>
          <a:solidFill>
            <a:srgbClr val="0E1726"/>
          </a:solidFill>
          <a:ln/>
        </p:spPr>
        <p:txBody>
          <a:bodyPr/>
          <a:lstStyle/>
          <a:p>
            <a:endParaRPr lang="en-US"/>
          </a:p>
        </p:txBody>
      </p:sp>
      <p:sp>
        <p:nvSpPr>
          <p:cNvPr id="23" name="Text 20"/>
          <p:cNvSpPr txBox="1"/>
          <p:nvPr/>
        </p:nvSpPr>
        <p:spPr>
          <a:xfrm>
            <a:off x="4672584"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red_panda access.log</a:t>
            </a:r>
            <a:endParaRPr lang="en-US" sz="1100" dirty="0"/>
          </a:p>
        </p:txBody>
      </p:sp>
      <p:sp>
        <p:nvSpPr>
          <p:cNvPr id="24" name="Shape 21"/>
          <p:cNvSpPr/>
          <p:nvPr/>
        </p:nvSpPr>
        <p:spPr>
          <a:xfrm>
            <a:off x="8065008" y="1508760"/>
            <a:ext cx="3566160" cy="3520440"/>
          </a:xfrm>
          <a:prstGeom prst="roundRect">
            <a:avLst>
              <a:gd name="adj" fmla="val 2597"/>
            </a:avLst>
          </a:prstGeom>
          <a:solidFill>
            <a:srgbClr val="F1F5FB"/>
          </a:solidFill>
          <a:ln/>
        </p:spPr>
        <p:txBody>
          <a:bodyPr/>
          <a:lstStyle/>
          <a:p>
            <a:endParaRPr lang="en-US"/>
          </a:p>
        </p:txBody>
      </p:sp>
      <p:sp>
        <p:nvSpPr>
          <p:cNvPr id="25" name="Shape 22"/>
          <p:cNvSpPr/>
          <p:nvPr/>
        </p:nvSpPr>
        <p:spPr>
          <a:xfrm>
            <a:off x="8065008" y="1508760"/>
            <a:ext cx="3566160" cy="91440"/>
          </a:xfrm>
          <a:prstGeom prst="rect">
            <a:avLst/>
          </a:prstGeom>
          <a:solidFill>
            <a:srgbClr val="D1416B"/>
          </a:solidFill>
          <a:ln/>
        </p:spPr>
        <p:txBody>
          <a:bodyPr/>
          <a:lstStyle/>
          <a:p>
            <a:endParaRPr lang="en-US"/>
          </a:p>
        </p:txBody>
      </p:sp>
      <p:sp>
        <p:nvSpPr>
          <p:cNvPr id="26" name="Text 23"/>
          <p:cNvSpPr txBox="1"/>
          <p:nvPr/>
        </p:nvSpPr>
        <p:spPr>
          <a:xfrm>
            <a:off x="8339328"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Do it on 100 servers</a:t>
            </a:r>
            <a:endParaRPr lang="en-US" sz="1900" dirty="0"/>
          </a:p>
        </p:txBody>
      </p:sp>
      <p:sp>
        <p:nvSpPr>
          <p:cNvPr id="27" name="Text 24"/>
          <p:cNvSpPr txBox="1"/>
          <p:nvPr/>
        </p:nvSpPr>
        <p:spPr>
          <a:xfrm>
            <a:off x="8339328"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28" name="Text 25"/>
          <p:cNvSpPr txBox="1"/>
          <p:nvPr/>
        </p:nvSpPr>
        <p:spPr>
          <a:xfrm>
            <a:off x="8339328"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hours  </a:t>
            </a:r>
            <a:r>
              <a:rPr lang="en-US" sz="1300" dirty="0">
                <a:solidFill>
                  <a:srgbClr val="56657E"/>
                </a:solidFill>
                <a:latin typeface="Arial" pitchFamily="34" charset="0"/>
                <a:ea typeface="Arial" pitchFamily="34" charset="-122"/>
                <a:cs typeface="Arial" pitchFamily="34" charset="-120"/>
              </a:rPr>
              <a:t>of remote desktops</a:t>
            </a:r>
            <a:endParaRPr lang="en-US" sz="2600" dirty="0"/>
          </a:p>
        </p:txBody>
      </p:sp>
      <p:sp>
        <p:nvSpPr>
          <p:cNvPr id="29" name="Text 26"/>
          <p:cNvSpPr txBox="1"/>
          <p:nvPr/>
        </p:nvSpPr>
        <p:spPr>
          <a:xfrm>
            <a:off x="8339328"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30" name="Text 27"/>
          <p:cNvSpPr txBox="1"/>
          <p:nvPr/>
        </p:nvSpPr>
        <p:spPr>
          <a:xfrm>
            <a:off x="8339328"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loop</a:t>
            </a:r>
            <a:endParaRPr lang="en-US" sz="2600" dirty="0"/>
          </a:p>
        </p:txBody>
      </p:sp>
      <p:sp>
        <p:nvSpPr>
          <p:cNvPr id="31" name="Shape 28"/>
          <p:cNvSpPr/>
          <p:nvPr/>
        </p:nvSpPr>
        <p:spPr>
          <a:xfrm>
            <a:off x="8339328" y="4114800"/>
            <a:ext cx="3017520" cy="685800"/>
          </a:xfrm>
          <a:prstGeom prst="roundRect">
            <a:avLst>
              <a:gd name="adj" fmla="val 10667"/>
            </a:avLst>
          </a:prstGeom>
          <a:solidFill>
            <a:srgbClr val="0E1726"/>
          </a:solidFill>
          <a:ln/>
        </p:spPr>
        <p:txBody>
          <a:bodyPr/>
          <a:lstStyle/>
          <a:p>
            <a:endParaRPr lang="en-US"/>
          </a:p>
        </p:txBody>
      </p:sp>
      <p:sp>
        <p:nvSpPr>
          <p:cNvPr id="32" name="Text 29"/>
          <p:cNvSpPr txBox="1"/>
          <p:nvPr/>
        </p:nvSpPr>
        <p:spPr>
          <a:xfrm>
            <a:off x="8430768"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h in $(cat servers); do ssh $h uptime; done</a:t>
            </a:r>
            <a:endParaRPr lang="en-US" sz="1100" dirty="0"/>
          </a:p>
        </p:txBody>
      </p:sp>
      <p:sp>
        <p:nvSpPr>
          <p:cNvPr id="33" name="Shape 30"/>
          <p:cNvSpPr/>
          <p:nvPr/>
        </p:nvSpPr>
        <p:spPr>
          <a:xfrm>
            <a:off x="548640" y="5257800"/>
            <a:ext cx="11094415" cy="685800"/>
          </a:xfrm>
          <a:prstGeom prst="roundRect">
            <a:avLst>
              <a:gd name="adj" fmla="val 13333"/>
            </a:avLst>
          </a:prstGeom>
          <a:solidFill>
            <a:srgbClr val="0E1726"/>
          </a:solidFill>
          <a:ln/>
        </p:spPr>
        <p:txBody>
          <a:bodyPr/>
          <a:lstStyle/>
          <a:p>
            <a:endParaRPr lang="en-US"/>
          </a:p>
        </p:txBody>
      </p:sp>
      <p:sp>
        <p:nvSpPr>
          <p:cNvPr id="34" name="Text 31"/>
          <p:cNvSpPr txBox="1"/>
          <p:nvPr/>
        </p:nvSpPr>
        <p:spPr>
          <a:xfrm>
            <a:off x="868680" y="5257800"/>
            <a:ext cx="10454335" cy="685800"/>
          </a:xfrm>
          <a:prstGeom prst="rect">
            <a:avLst/>
          </a:prstGeom>
          <a:noFill/>
          <a:ln/>
        </p:spPr>
        <p:txBody>
          <a:bodyPr wrap="square" lIns="0" tIns="0" rIns="0" bIns="0" rtlCol="0" anchor="ctr"/>
          <a:lstStyle/>
          <a:p>
            <a:pPr marL="0" indent="0">
              <a:buNone/>
            </a:pPr>
            <a:r>
              <a:rPr lang="en-US" sz="1900" b="1" dirty="0">
                <a:solidFill>
                  <a:srgbClr val="46D39A"/>
                </a:solidFill>
                <a:latin typeface="Courier New" pitchFamily="34" charset="0"/>
                <a:ea typeface="Courier New" pitchFamily="34" charset="-122"/>
                <a:cs typeface="Courier New" pitchFamily="34" charset="-120"/>
              </a:rPr>
              <a:t>$ </a:t>
            </a:r>
            <a:r>
              <a:rPr lang="en-US" sz="1900" b="1" dirty="0">
                <a:solidFill>
                  <a:srgbClr val="FFFFFF"/>
                </a:solidFill>
                <a:latin typeface="Courier New" pitchFamily="34" charset="0"/>
                <a:ea typeface="Courier New" pitchFamily="34" charset="-122"/>
                <a:cs typeface="Courier New" pitchFamily="34" charset="-120"/>
              </a:rPr>
              <a:t>Repeated, big or remote work? The command line is unmatched.</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marL="0" indent="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Command-line essentials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Open the CTF, then four big ideas and a dozen commands. Each idea powers a mission, and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man linux   # the manual, in 25 minutes</a:t>
            </a:r>
            <a:endParaRPr lang="en-US" sz="2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Every command is a conversation</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73</a:t>
            </a:r>
            <a:endParaRPr lang="en-US" sz="1000" dirty="0"/>
          </a:p>
        </p:txBody>
      </p:sp>
      <p:sp>
        <p:nvSpPr>
          <p:cNvPr id="6" name="Shape 3"/>
          <p:cNvSpPr/>
          <p:nvPr/>
        </p:nvSpPr>
        <p:spPr>
          <a:xfrm>
            <a:off x="548640" y="1508760"/>
            <a:ext cx="2514600" cy="2148840"/>
          </a:xfrm>
          <a:prstGeom prst="roundRect">
            <a:avLst>
              <a:gd name="adj" fmla="val 4255"/>
            </a:avLst>
          </a:prstGeom>
          <a:solidFill>
            <a:srgbClr val="F1F5FB"/>
          </a:solidFill>
          <a:ln/>
        </p:spPr>
        <p:txBody>
          <a:bodyPr/>
          <a:lstStyle/>
          <a:p>
            <a:endParaRPr lang="en-US"/>
          </a:p>
        </p:txBody>
      </p:sp>
      <p:sp>
        <p:nvSpPr>
          <p:cNvPr id="7" name="Text 4"/>
          <p:cNvSpPr txBox="1"/>
          <p:nvPr/>
        </p:nvSpPr>
        <p:spPr>
          <a:xfrm>
            <a:off x="822960" y="1645920"/>
            <a:ext cx="914400" cy="731520"/>
          </a:xfrm>
          <a:prstGeom prst="rect">
            <a:avLst/>
          </a:prstGeom>
          <a:noFill/>
          <a:ln/>
        </p:spPr>
        <p:txBody>
          <a:bodyPr wrap="square" lIns="0" tIns="0" rIns="0" bIns="0" rtlCol="0" anchor="ctr"/>
          <a:lstStyle/>
          <a:p>
            <a:pPr marL="0" indent="0">
              <a:buNone/>
            </a:pPr>
            <a:r>
              <a:rPr lang="en-US" sz="4400" b="1" dirty="0">
                <a:solidFill>
                  <a:srgbClr val="2A9FD6"/>
                </a:solidFill>
                <a:latin typeface="Arial" pitchFamily="34" charset="0"/>
                <a:ea typeface="Arial" pitchFamily="34" charset="-122"/>
                <a:cs typeface="Arial" pitchFamily="34" charset="-120"/>
              </a:rPr>
              <a:t>1</a:t>
            </a:r>
            <a:endParaRPr lang="en-US" sz="4400" dirty="0"/>
          </a:p>
        </p:txBody>
      </p:sp>
      <p:sp>
        <p:nvSpPr>
          <p:cNvPr id="8" name="Text 5"/>
          <p:cNvSpPr txBox="1"/>
          <p:nvPr/>
        </p:nvSpPr>
        <p:spPr>
          <a:xfrm>
            <a:off x="822960"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Prompt appears</a:t>
            </a:r>
            <a:endParaRPr lang="en-US" sz="2000" dirty="0"/>
          </a:p>
        </p:txBody>
      </p:sp>
      <p:sp>
        <p:nvSpPr>
          <p:cNvPr id="9" name="Text 6"/>
          <p:cNvSpPr txBox="1"/>
          <p:nvPr/>
        </p:nvSpPr>
        <p:spPr>
          <a:xfrm>
            <a:off x="822960"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 computer says: your turn.</a:t>
            </a:r>
            <a:endParaRPr lang="en-US" sz="1500" dirty="0"/>
          </a:p>
        </p:txBody>
      </p:sp>
      <p:sp>
        <p:nvSpPr>
          <p:cNvPr id="10" name="Text 7"/>
          <p:cNvSpPr txBox="1"/>
          <p:nvPr/>
        </p:nvSpPr>
        <p:spPr>
          <a:xfrm>
            <a:off x="3063240"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1" name="Shape 8"/>
          <p:cNvSpPr/>
          <p:nvPr/>
        </p:nvSpPr>
        <p:spPr>
          <a:xfrm>
            <a:off x="3355848" y="1508760"/>
            <a:ext cx="2514600" cy="2148840"/>
          </a:xfrm>
          <a:prstGeom prst="roundRect">
            <a:avLst>
              <a:gd name="adj" fmla="val 4255"/>
            </a:avLst>
          </a:prstGeom>
          <a:solidFill>
            <a:srgbClr val="F1F5FB"/>
          </a:solidFill>
          <a:ln/>
        </p:spPr>
        <p:txBody>
          <a:bodyPr/>
          <a:lstStyle/>
          <a:p>
            <a:endParaRPr lang="en-US"/>
          </a:p>
        </p:txBody>
      </p:sp>
      <p:sp>
        <p:nvSpPr>
          <p:cNvPr id="12" name="Text 9"/>
          <p:cNvSpPr txBox="1"/>
          <p:nvPr/>
        </p:nvSpPr>
        <p:spPr>
          <a:xfrm>
            <a:off x="3630168" y="1645920"/>
            <a:ext cx="914400" cy="731520"/>
          </a:xfrm>
          <a:prstGeom prst="rect">
            <a:avLst/>
          </a:prstGeom>
          <a:noFill/>
          <a:ln/>
        </p:spPr>
        <p:txBody>
          <a:bodyPr wrap="square" lIns="0" tIns="0" rIns="0" bIns="0" rtlCol="0" anchor="ctr"/>
          <a:lstStyle/>
          <a:p>
            <a:pPr marL="0" indent="0">
              <a:buNone/>
            </a:pPr>
            <a:r>
              <a:rPr lang="en-US" sz="4400" b="1" dirty="0">
                <a:solidFill>
                  <a:srgbClr val="2459D8"/>
                </a:solidFill>
                <a:latin typeface="Arial" pitchFamily="34" charset="0"/>
                <a:ea typeface="Arial" pitchFamily="34" charset="-122"/>
                <a:cs typeface="Arial" pitchFamily="34" charset="-120"/>
              </a:rPr>
              <a:t>2</a:t>
            </a:r>
            <a:endParaRPr lang="en-US" sz="4400" dirty="0"/>
          </a:p>
        </p:txBody>
      </p:sp>
      <p:sp>
        <p:nvSpPr>
          <p:cNvPr id="13" name="Text 10"/>
          <p:cNvSpPr txBox="1"/>
          <p:nvPr/>
        </p:nvSpPr>
        <p:spPr>
          <a:xfrm>
            <a:off x="3630168"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type</a:t>
            </a:r>
            <a:endParaRPr lang="en-US" sz="2000" dirty="0"/>
          </a:p>
        </p:txBody>
      </p:sp>
      <p:sp>
        <p:nvSpPr>
          <p:cNvPr id="14" name="Text 11"/>
          <p:cNvSpPr txBox="1"/>
          <p:nvPr/>
        </p:nvSpPr>
        <p:spPr>
          <a:xfrm>
            <a:off x="3630168"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Letters appear after the $. Nothing runs yet.</a:t>
            </a:r>
            <a:endParaRPr lang="en-US" sz="1500" dirty="0"/>
          </a:p>
        </p:txBody>
      </p:sp>
      <p:sp>
        <p:nvSpPr>
          <p:cNvPr id="15" name="Text 12"/>
          <p:cNvSpPr txBox="1"/>
          <p:nvPr/>
        </p:nvSpPr>
        <p:spPr>
          <a:xfrm>
            <a:off x="5870448"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6" name="Shape 13"/>
          <p:cNvSpPr/>
          <p:nvPr/>
        </p:nvSpPr>
        <p:spPr>
          <a:xfrm>
            <a:off x="6163056" y="1508760"/>
            <a:ext cx="2514600" cy="2148840"/>
          </a:xfrm>
          <a:prstGeom prst="roundRect">
            <a:avLst>
              <a:gd name="adj" fmla="val 4255"/>
            </a:avLst>
          </a:prstGeom>
          <a:solidFill>
            <a:srgbClr val="F1F5FB"/>
          </a:solidFill>
          <a:ln/>
        </p:spPr>
        <p:txBody>
          <a:bodyPr/>
          <a:lstStyle/>
          <a:p>
            <a:endParaRPr lang="en-US"/>
          </a:p>
        </p:txBody>
      </p:sp>
      <p:sp>
        <p:nvSpPr>
          <p:cNvPr id="17" name="Text 14"/>
          <p:cNvSpPr txBox="1"/>
          <p:nvPr/>
        </p:nvSpPr>
        <p:spPr>
          <a:xfrm>
            <a:off x="6437376" y="1645920"/>
            <a:ext cx="914400" cy="731520"/>
          </a:xfrm>
          <a:prstGeom prst="rect">
            <a:avLst/>
          </a:prstGeom>
          <a:noFill/>
          <a:ln/>
        </p:spPr>
        <p:txBody>
          <a:bodyPr wrap="square" lIns="0" tIns="0" rIns="0" bIns="0" rtlCol="0" anchor="ctr"/>
          <a:lstStyle/>
          <a:p>
            <a:pPr marL="0" indent="0">
              <a:buNone/>
            </a:pPr>
            <a:r>
              <a:rPr lang="en-US" sz="4400" b="1" dirty="0">
                <a:solidFill>
                  <a:srgbClr val="7448D4"/>
                </a:solidFill>
                <a:latin typeface="Arial" pitchFamily="34" charset="0"/>
                <a:ea typeface="Arial" pitchFamily="34" charset="-122"/>
                <a:cs typeface="Arial" pitchFamily="34" charset="-120"/>
              </a:rPr>
              <a:t>3</a:t>
            </a:r>
            <a:endParaRPr lang="en-US" sz="4400" dirty="0"/>
          </a:p>
        </p:txBody>
      </p:sp>
      <p:sp>
        <p:nvSpPr>
          <p:cNvPr id="18" name="Text 15"/>
          <p:cNvSpPr txBox="1"/>
          <p:nvPr/>
        </p:nvSpPr>
        <p:spPr>
          <a:xfrm>
            <a:off x="6437376"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press Enter</a:t>
            </a:r>
            <a:endParaRPr lang="en-US" sz="2000" dirty="0"/>
          </a:p>
        </p:txBody>
      </p:sp>
      <p:sp>
        <p:nvSpPr>
          <p:cNvPr id="19" name="Text 16"/>
          <p:cNvSpPr txBox="1"/>
          <p:nvPr/>
        </p:nvSpPr>
        <p:spPr>
          <a:xfrm>
            <a:off x="6437376"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Now the computer runs the command.</a:t>
            </a:r>
            <a:endParaRPr lang="en-US" sz="1500" dirty="0"/>
          </a:p>
        </p:txBody>
      </p:sp>
      <p:sp>
        <p:nvSpPr>
          <p:cNvPr id="20" name="Text 17"/>
          <p:cNvSpPr txBox="1"/>
          <p:nvPr/>
        </p:nvSpPr>
        <p:spPr>
          <a:xfrm>
            <a:off x="8677656"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1" name="Shape 18"/>
          <p:cNvSpPr/>
          <p:nvPr/>
        </p:nvSpPr>
        <p:spPr>
          <a:xfrm>
            <a:off x="8970264" y="1508760"/>
            <a:ext cx="2514600" cy="2148840"/>
          </a:xfrm>
          <a:prstGeom prst="roundRect">
            <a:avLst>
              <a:gd name="adj" fmla="val 4255"/>
            </a:avLst>
          </a:prstGeom>
          <a:solidFill>
            <a:srgbClr val="F1F5FB"/>
          </a:solidFill>
          <a:ln/>
        </p:spPr>
        <p:txBody>
          <a:bodyPr/>
          <a:lstStyle/>
          <a:p>
            <a:endParaRPr lang="en-US"/>
          </a:p>
        </p:txBody>
      </p:sp>
      <p:sp>
        <p:nvSpPr>
          <p:cNvPr id="22" name="Text 19"/>
          <p:cNvSpPr txBox="1"/>
          <p:nvPr/>
        </p:nvSpPr>
        <p:spPr>
          <a:xfrm>
            <a:off x="9244584" y="1645920"/>
            <a:ext cx="914400" cy="731520"/>
          </a:xfrm>
          <a:prstGeom prst="rect">
            <a:avLst/>
          </a:prstGeom>
          <a:noFill/>
          <a:ln/>
        </p:spPr>
        <p:txBody>
          <a:bodyPr wrap="square" lIns="0" tIns="0" rIns="0" bIns="0" rtlCol="0" anchor="ctr"/>
          <a:lstStyle/>
          <a:p>
            <a:pPr marL="0" indent="0">
              <a:buNone/>
            </a:pPr>
            <a:r>
              <a:rPr lang="en-US" sz="4400" b="1" dirty="0">
                <a:solidFill>
                  <a:srgbClr val="D1416B"/>
                </a:solidFill>
                <a:latin typeface="Arial" pitchFamily="34" charset="0"/>
                <a:ea typeface="Arial" pitchFamily="34" charset="-122"/>
                <a:cs typeface="Arial" pitchFamily="34" charset="-120"/>
              </a:rPr>
              <a:t>4</a:t>
            </a:r>
            <a:endParaRPr lang="en-US" sz="4400" dirty="0"/>
          </a:p>
        </p:txBody>
      </p:sp>
      <p:sp>
        <p:nvSpPr>
          <p:cNvPr id="23" name="Text 20"/>
          <p:cNvSpPr txBox="1"/>
          <p:nvPr/>
        </p:nvSpPr>
        <p:spPr>
          <a:xfrm>
            <a:off x="9244584"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Output appears</a:t>
            </a:r>
            <a:endParaRPr lang="en-US" sz="2000" dirty="0"/>
          </a:p>
        </p:txBody>
      </p:sp>
      <p:sp>
        <p:nvSpPr>
          <p:cNvPr id="24" name="Text 21"/>
          <p:cNvSpPr txBox="1"/>
          <p:nvPr/>
        </p:nvSpPr>
        <p:spPr>
          <a:xfrm>
            <a:off x="9244584"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Then a new prompt, and back to step 1.</a:t>
            </a:r>
            <a:endParaRPr lang="en-US" sz="1500" dirty="0"/>
          </a:p>
        </p:txBody>
      </p:sp>
      <p:sp>
        <p:nvSpPr>
          <p:cNvPr id="25" name="Text 22"/>
          <p:cNvSpPr txBox="1"/>
          <p:nvPr/>
        </p:nvSpPr>
        <p:spPr>
          <a:xfrm>
            <a:off x="11484864"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548640"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749808" y="4087368"/>
            <a:ext cx="118872" cy="118872"/>
          </a:xfrm>
          <a:prstGeom prst="ellipse">
            <a:avLst/>
          </a:prstGeom>
          <a:solidFill>
            <a:srgbClr val="E5534B"/>
          </a:solidFill>
          <a:ln/>
        </p:spPr>
        <p:txBody>
          <a:bodyPr/>
          <a:lstStyle/>
          <a:p>
            <a:endParaRPr lang="en-US"/>
          </a:p>
        </p:txBody>
      </p:sp>
      <p:sp>
        <p:nvSpPr>
          <p:cNvPr id="28" name="Shape 25"/>
          <p:cNvSpPr/>
          <p:nvPr/>
        </p:nvSpPr>
        <p:spPr>
          <a:xfrm>
            <a:off x="950976" y="4087368"/>
            <a:ext cx="118872" cy="118872"/>
          </a:xfrm>
          <a:prstGeom prst="ellipse">
            <a:avLst/>
          </a:prstGeom>
          <a:solidFill>
            <a:srgbClr val="F5A623"/>
          </a:solidFill>
          <a:ln/>
        </p:spPr>
        <p:txBody>
          <a:bodyPr/>
          <a:lstStyle/>
          <a:p>
            <a:endParaRPr lang="en-US"/>
          </a:p>
        </p:txBody>
      </p:sp>
      <p:sp>
        <p:nvSpPr>
          <p:cNvPr id="29" name="Shape 26"/>
          <p:cNvSpPr/>
          <p:nvPr/>
        </p:nvSpPr>
        <p:spPr>
          <a:xfrm>
            <a:off x="1152144" y="4087368"/>
            <a:ext cx="118872" cy="118872"/>
          </a:xfrm>
          <a:prstGeom prst="ellipse">
            <a:avLst/>
          </a:prstGeom>
          <a:solidFill>
            <a:srgbClr val="46D39A"/>
          </a:solidFill>
          <a:ln/>
        </p:spPr>
        <p:txBody>
          <a:bodyPr/>
          <a:lstStyle/>
          <a:p>
            <a:endParaRPr lang="en-US"/>
          </a:p>
        </p:txBody>
      </p:sp>
      <p:sp>
        <p:nvSpPr>
          <p:cNvPr id="30" name="Text 27"/>
          <p:cNvSpPr txBox="1"/>
          <p:nvPr/>
        </p:nvSpPr>
        <p:spPr>
          <a:xfrm>
            <a:off x="1463040"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no output? that's normal</a:t>
            </a:r>
            <a:endParaRPr lang="en-US" sz="1000" dirty="0"/>
          </a:p>
        </p:txBody>
      </p:sp>
      <p:sp>
        <p:nvSpPr>
          <p:cNvPr id="31" name="Text 28"/>
          <p:cNvSpPr txBox="1"/>
          <p:nvPr/>
        </p:nvSpPr>
        <p:spPr>
          <a:xfrm>
            <a:off x="822960"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a:t>
            </a:r>
            <a:endParaRPr lang="en-US" sz="1600" dirty="0"/>
          </a:p>
        </p:txBody>
      </p:sp>
      <p:sp>
        <p:nvSpPr>
          <p:cNvPr id="32" name="Shape 29"/>
          <p:cNvSpPr/>
          <p:nvPr/>
        </p:nvSpPr>
        <p:spPr>
          <a:xfrm>
            <a:off x="6199632"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3" name="Shape 30"/>
          <p:cNvSpPr/>
          <p:nvPr/>
        </p:nvSpPr>
        <p:spPr>
          <a:xfrm>
            <a:off x="6400800" y="4087368"/>
            <a:ext cx="118872" cy="118872"/>
          </a:xfrm>
          <a:prstGeom prst="ellipse">
            <a:avLst/>
          </a:prstGeom>
          <a:solidFill>
            <a:srgbClr val="E5534B"/>
          </a:solidFill>
          <a:ln/>
        </p:spPr>
        <p:txBody>
          <a:bodyPr/>
          <a:lstStyle/>
          <a:p>
            <a:endParaRPr lang="en-US"/>
          </a:p>
        </p:txBody>
      </p:sp>
      <p:sp>
        <p:nvSpPr>
          <p:cNvPr id="34" name="Shape 31"/>
          <p:cNvSpPr/>
          <p:nvPr/>
        </p:nvSpPr>
        <p:spPr>
          <a:xfrm>
            <a:off x="6601968" y="4087368"/>
            <a:ext cx="118872" cy="118872"/>
          </a:xfrm>
          <a:prstGeom prst="ellipse">
            <a:avLst/>
          </a:prstGeom>
          <a:solidFill>
            <a:srgbClr val="F5A623"/>
          </a:solidFill>
          <a:ln/>
        </p:spPr>
        <p:txBody>
          <a:bodyPr/>
          <a:lstStyle/>
          <a:p>
            <a:endParaRPr lang="en-US"/>
          </a:p>
        </p:txBody>
      </p:sp>
      <p:sp>
        <p:nvSpPr>
          <p:cNvPr id="35" name="Shape 32"/>
          <p:cNvSpPr/>
          <p:nvPr/>
        </p:nvSpPr>
        <p:spPr>
          <a:xfrm>
            <a:off x="6803136" y="4087368"/>
            <a:ext cx="118872" cy="118872"/>
          </a:xfrm>
          <a:prstGeom prst="ellipse">
            <a:avLst/>
          </a:prstGeom>
          <a:solidFill>
            <a:srgbClr val="46D39A"/>
          </a:solidFill>
          <a:ln/>
        </p:spPr>
        <p:txBody>
          <a:bodyPr/>
          <a:lstStyle/>
          <a:p>
            <a:endParaRPr lang="en-US"/>
          </a:p>
        </p:txBody>
      </p:sp>
      <p:sp>
        <p:nvSpPr>
          <p:cNvPr id="36" name="Text 33"/>
          <p:cNvSpPr txBox="1"/>
          <p:nvPr/>
        </p:nvSpPr>
        <p:spPr>
          <a:xfrm>
            <a:off x="7114032"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errors are output too: read them</a:t>
            </a:r>
            <a:endParaRPr lang="en-US" sz="1000" dirty="0"/>
          </a:p>
        </p:txBody>
      </p:sp>
      <p:sp>
        <p:nvSpPr>
          <p:cNvPr id="37" name="Text 34"/>
          <p:cNvSpPr txBox="1"/>
          <p:nvPr/>
        </p:nvSpPr>
        <p:spPr>
          <a:xfrm>
            <a:off x="6473952"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 LS: not found</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 /nope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ls: /nope: No such file or directory</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Four big ideas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508760"/>
            <a:ext cx="2624328" cy="4434840"/>
          </a:xfrm>
          <a:prstGeom prst="roundRect">
            <a:avLst>
              <a:gd name="adj" fmla="val 3484"/>
            </a:avLst>
          </a:prstGeom>
          <a:solidFill>
            <a:srgbClr val="F1F5FB"/>
          </a:solidFill>
          <a:ln/>
        </p:spPr>
        <p:txBody>
          <a:bodyPr/>
          <a:lstStyle/>
          <a:p>
            <a:endParaRPr lang="en-US"/>
          </a:p>
        </p:txBody>
      </p:sp>
      <p:sp>
        <p:nvSpPr>
          <p:cNvPr id="7" name="Shape 4"/>
          <p:cNvSpPr/>
          <p:nvPr/>
        </p:nvSpPr>
        <p:spPr>
          <a:xfrm>
            <a:off x="548640" y="1508760"/>
            <a:ext cx="2624328" cy="109728"/>
          </a:xfrm>
          <a:prstGeom prst="rect">
            <a:avLst/>
          </a:prstGeom>
          <a:solidFill>
            <a:srgbClr val="17875A"/>
          </a:solidFill>
          <a:ln/>
        </p:spPr>
        <p:txBody>
          <a:bodyPr/>
          <a:lstStyle/>
          <a:p>
            <a:endParaRPr lang="en-US"/>
          </a:p>
        </p:txBody>
      </p:sp>
      <p:sp>
        <p:nvSpPr>
          <p:cNvPr id="8" name="Shape 5"/>
          <p:cNvSpPr/>
          <p:nvPr/>
        </p:nvSpPr>
        <p:spPr>
          <a:xfrm>
            <a:off x="777240" y="1810512"/>
            <a:ext cx="640080" cy="640080"/>
          </a:xfrm>
          <a:prstGeom prst="ellipse">
            <a:avLst/>
          </a:prstGeom>
          <a:solidFill>
            <a:srgbClr val="17875A"/>
          </a:solidFill>
          <a:ln/>
        </p:spPr>
        <p:txBody>
          <a:bodyPr/>
          <a:lstStyle/>
          <a:p>
            <a:endParaRPr lang="en-US"/>
          </a:p>
        </p:txBody>
      </p:sp>
      <p:sp>
        <p:nvSpPr>
          <p:cNvPr id="9" name="Text 6"/>
          <p:cNvSpPr txBox="1"/>
          <p:nvPr/>
        </p:nvSpPr>
        <p:spPr>
          <a:xfrm>
            <a:off x="777240"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777240"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The file system</a:t>
            </a:r>
            <a:endParaRPr lang="en-US" sz="2100" dirty="0"/>
          </a:p>
        </p:txBody>
      </p:sp>
      <p:sp>
        <p:nvSpPr>
          <p:cNvPr id="11" name="Text 8"/>
          <p:cNvSpPr txBox="1"/>
          <p:nvPr/>
        </p:nvSpPr>
        <p:spPr>
          <a:xfrm>
            <a:off x="777240"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Everything is a file or a folder. Point at them with paths, then move around or look inside.</a:t>
            </a:r>
            <a:endParaRPr lang="en-US" sz="1450" dirty="0"/>
          </a:p>
        </p:txBody>
      </p:sp>
      <p:sp>
        <p:nvSpPr>
          <p:cNvPr id="12" name="Text 9"/>
          <p:cNvSpPr txBox="1"/>
          <p:nvPr/>
        </p:nvSpPr>
        <p:spPr>
          <a:xfrm>
            <a:off x="777240"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pwd  cd  ls  cat  chmod</a:t>
            </a:r>
            <a:endParaRPr lang="en-US" sz="1300" dirty="0"/>
          </a:p>
        </p:txBody>
      </p:sp>
      <p:sp>
        <p:nvSpPr>
          <p:cNvPr id="13" name="Shape 10"/>
          <p:cNvSpPr/>
          <p:nvPr/>
        </p:nvSpPr>
        <p:spPr>
          <a:xfrm>
            <a:off x="3355848" y="1508760"/>
            <a:ext cx="2624328" cy="4434840"/>
          </a:xfrm>
          <a:prstGeom prst="roundRect">
            <a:avLst>
              <a:gd name="adj" fmla="val 3484"/>
            </a:avLst>
          </a:prstGeom>
          <a:solidFill>
            <a:srgbClr val="F1F5FB"/>
          </a:solidFill>
          <a:ln/>
        </p:spPr>
        <p:txBody>
          <a:bodyPr/>
          <a:lstStyle/>
          <a:p>
            <a:endParaRPr lang="en-US"/>
          </a:p>
        </p:txBody>
      </p:sp>
      <p:sp>
        <p:nvSpPr>
          <p:cNvPr id="14" name="Shape 11"/>
          <p:cNvSpPr/>
          <p:nvPr/>
        </p:nvSpPr>
        <p:spPr>
          <a:xfrm>
            <a:off x="3355848" y="1508760"/>
            <a:ext cx="2624328" cy="109728"/>
          </a:xfrm>
          <a:prstGeom prst="rect">
            <a:avLst/>
          </a:prstGeom>
          <a:solidFill>
            <a:srgbClr val="2A9FD6"/>
          </a:solidFill>
          <a:ln/>
        </p:spPr>
        <p:txBody>
          <a:bodyPr/>
          <a:lstStyle/>
          <a:p>
            <a:endParaRPr lang="en-US"/>
          </a:p>
        </p:txBody>
      </p:sp>
      <p:sp>
        <p:nvSpPr>
          <p:cNvPr id="15" name="Shape 12"/>
          <p:cNvSpPr/>
          <p:nvPr/>
        </p:nvSpPr>
        <p:spPr>
          <a:xfrm>
            <a:off x="3584448" y="1810512"/>
            <a:ext cx="640080" cy="640080"/>
          </a:xfrm>
          <a:prstGeom prst="ellipse">
            <a:avLst/>
          </a:prstGeom>
          <a:solidFill>
            <a:srgbClr val="2A9FD6"/>
          </a:solidFill>
          <a:ln/>
        </p:spPr>
        <p:txBody>
          <a:bodyPr/>
          <a:lstStyle/>
          <a:p>
            <a:endParaRPr lang="en-US"/>
          </a:p>
        </p:txBody>
      </p:sp>
      <p:sp>
        <p:nvSpPr>
          <p:cNvPr id="16" name="Text 13"/>
          <p:cNvSpPr txBox="1"/>
          <p:nvPr/>
        </p:nvSpPr>
        <p:spPr>
          <a:xfrm>
            <a:off x="3584448"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3584448"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Learning any command</a:t>
            </a:r>
            <a:endParaRPr lang="en-US" sz="2100" dirty="0"/>
          </a:p>
        </p:txBody>
      </p:sp>
      <p:sp>
        <p:nvSpPr>
          <p:cNvPr id="18" name="Text 15"/>
          <p:cNvSpPr txBox="1"/>
          <p:nvPr/>
        </p:nvSpPr>
        <p:spPr>
          <a:xfrm>
            <a:off x="3584448"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has the same shape, and every command can explain itself.</a:t>
            </a:r>
            <a:endParaRPr lang="en-US" sz="1450" dirty="0"/>
          </a:p>
        </p:txBody>
      </p:sp>
      <p:sp>
        <p:nvSpPr>
          <p:cNvPr id="19" name="Text 16"/>
          <p:cNvSpPr txBox="1"/>
          <p:nvPr/>
        </p:nvSpPr>
        <p:spPr>
          <a:xfrm>
            <a:off x="3584448"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--help  Tab</a:t>
            </a:r>
            <a:endParaRPr lang="en-US" sz="1300" dirty="0"/>
          </a:p>
        </p:txBody>
      </p:sp>
      <p:sp>
        <p:nvSpPr>
          <p:cNvPr id="20" name="Shape 17"/>
          <p:cNvSpPr/>
          <p:nvPr/>
        </p:nvSpPr>
        <p:spPr>
          <a:xfrm>
            <a:off x="6163056" y="1508760"/>
            <a:ext cx="2624328" cy="4434840"/>
          </a:xfrm>
          <a:prstGeom prst="roundRect">
            <a:avLst>
              <a:gd name="adj" fmla="val 3484"/>
            </a:avLst>
          </a:prstGeom>
          <a:solidFill>
            <a:srgbClr val="F1F5FB"/>
          </a:solidFill>
          <a:ln/>
        </p:spPr>
        <p:txBody>
          <a:bodyPr/>
          <a:lstStyle/>
          <a:p>
            <a:endParaRPr lang="en-US"/>
          </a:p>
        </p:txBody>
      </p:sp>
      <p:sp>
        <p:nvSpPr>
          <p:cNvPr id="21" name="Shape 18"/>
          <p:cNvSpPr/>
          <p:nvPr/>
        </p:nvSpPr>
        <p:spPr>
          <a:xfrm>
            <a:off x="6163056" y="1508760"/>
            <a:ext cx="2624328" cy="109728"/>
          </a:xfrm>
          <a:prstGeom prst="rect">
            <a:avLst/>
          </a:prstGeom>
          <a:solidFill>
            <a:srgbClr val="7448D4"/>
          </a:solidFill>
          <a:ln/>
        </p:spPr>
        <p:txBody>
          <a:bodyPr/>
          <a:lstStyle/>
          <a:p>
            <a:endParaRPr lang="en-US"/>
          </a:p>
        </p:txBody>
      </p:sp>
      <p:sp>
        <p:nvSpPr>
          <p:cNvPr id="22" name="Shape 19"/>
          <p:cNvSpPr/>
          <p:nvPr/>
        </p:nvSpPr>
        <p:spPr>
          <a:xfrm>
            <a:off x="6391656" y="1810512"/>
            <a:ext cx="640080" cy="640080"/>
          </a:xfrm>
          <a:prstGeom prst="ellipse">
            <a:avLst/>
          </a:prstGeom>
          <a:solidFill>
            <a:srgbClr val="7448D4"/>
          </a:solidFill>
          <a:ln/>
        </p:spPr>
        <p:txBody>
          <a:bodyPr/>
          <a:lstStyle/>
          <a:p>
            <a:endParaRPr lang="en-US"/>
          </a:p>
        </p:txBody>
      </p:sp>
      <p:sp>
        <p:nvSpPr>
          <p:cNvPr id="23" name="Text 20"/>
          <p:cNvSpPr txBox="1"/>
          <p:nvPr/>
        </p:nvSpPr>
        <p:spPr>
          <a:xfrm>
            <a:off x="6391656"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4" name="Text 21"/>
          <p:cNvSpPr txBox="1"/>
          <p:nvPr/>
        </p:nvSpPr>
        <p:spPr>
          <a:xfrm>
            <a:off x="6391656"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Searching</a:t>
            </a:r>
            <a:endParaRPr lang="en-US" sz="2100" dirty="0"/>
          </a:p>
        </p:txBody>
      </p:sp>
      <p:sp>
        <p:nvSpPr>
          <p:cNvPr id="25" name="Text 22"/>
          <p:cNvSpPr txBox="1"/>
          <p:nvPr/>
        </p:nvSpPr>
        <p:spPr>
          <a:xfrm>
            <a:off x="6391656"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Too much to read by hand? Search by name or inside files, and chain tools together.</a:t>
            </a:r>
            <a:endParaRPr lang="en-US" sz="1450" dirty="0"/>
          </a:p>
        </p:txBody>
      </p:sp>
      <p:sp>
        <p:nvSpPr>
          <p:cNvPr id="26" name="Text 23"/>
          <p:cNvSpPr txBox="1"/>
          <p:nvPr/>
        </p:nvSpPr>
        <p:spPr>
          <a:xfrm>
            <a:off x="6391656"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grep  |  sort  uniq</a:t>
            </a:r>
            <a:endParaRPr lang="en-US" sz="1300" dirty="0"/>
          </a:p>
        </p:txBody>
      </p:sp>
      <p:sp>
        <p:nvSpPr>
          <p:cNvPr id="27" name="Shape 24"/>
          <p:cNvSpPr/>
          <p:nvPr/>
        </p:nvSpPr>
        <p:spPr>
          <a:xfrm>
            <a:off x="8970264" y="1508760"/>
            <a:ext cx="2624328" cy="4434840"/>
          </a:xfrm>
          <a:prstGeom prst="roundRect">
            <a:avLst>
              <a:gd name="adj" fmla="val 3484"/>
            </a:avLst>
          </a:prstGeom>
          <a:solidFill>
            <a:srgbClr val="F1F5FB"/>
          </a:solidFill>
          <a:ln/>
        </p:spPr>
        <p:txBody>
          <a:bodyPr/>
          <a:lstStyle/>
          <a:p>
            <a:endParaRPr lang="en-US"/>
          </a:p>
        </p:txBody>
      </p:sp>
      <p:sp>
        <p:nvSpPr>
          <p:cNvPr id="28" name="Shape 25"/>
          <p:cNvSpPr/>
          <p:nvPr/>
        </p:nvSpPr>
        <p:spPr>
          <a:xfrm>
            <a:off x="8970264" y="1508760"/>
            <a:ext cx="2624328" cy="109728"/>
          </a:xfrm>
          <a:prstGeom prst="rect">
            <a:avLst/>
          </a:prstGeom>
          <a:solidFill>
            <a:srgbClr val="E8820C"/>
          </a:solidFill>
          <a:ln/>
        </p:spPr>
        <p:txBody>
          <a:bodyPr/>
          <a:lstStyle/>
          <a:p>
            <a:endParaRPr lang="en-US"/>
          </a:p>
        </p:txBody>
      </p:sp>
      <p:sp>
        <p:nvSpPr>
          <p:cNvPr id="29" name="Shape 26"/>
          <p:cNvSpPr/>
          <p:nvPr/>
        </p:nvSpPr>
        <p:spPr>
          <a:xfrm>
            <a:off x="9198864" y="1810512"/>
            <a:ext cx="640080" cy="640080"/>
          </a:xfrm>
          <a:prstGeom prst="ellipse">
            <a:avLst/>
          </a:prstGeom>
          <a:solidFill>
            <a:srgbClr val="E8820C"/>
          </a:solidFill>
          <a:ln/>
        </p:spPr>
        <p:txBody>
          <a:bodyPr/>
          <a:lstStyle/>
          <a:p>
            <a:endParaRPr lang="en-US"/>
          </a:p>
        </p:txBody>
      </p:sp>
      <p:sp>
        <p:nvSpPr>
          <p:cNvPr id="30" name="Text 27"/>
          <p:cNvSpPr txBox="1"/>
          <p:nvPr/>
        </p:nvSpPr>
        <p:spPr>
          <a:xfrm>
            <a:off x="9198864"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31" name="Text 28"/>
          <p:cNvSpPr txBox="1"/>
          <p:nvPr/>
        </p:nvSpPr>
        <p:spPr>
          <a:xfrm>
            <a:off x="9198864"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Data and secrets</a:t>
            </a:r>
            <a:endParaRPr lang="en-US" sz="2100" dirty="0"/>
          </a:p>
        </p:txBody>
      </p:sp>
      <p:sp>
        <p:nvSpPr>
          <p:cNvPr id="32" name="Text 29"/>
          <p:cNvSpPr txBox="1"/>
          <p:nvPr/>
        </p:nvSpPr>
        <p:spPr>
          <a:xfrm>
            <a:off x="9198864"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Some text only looks secret. Encoding is not encryption.</a:t>
            </a:r>
            <a:endParaRPr lang="en-US" sz="1450" dirty="0"/>
          </a:p>
        </p:txBody>
      </p:sp>
      <p:sp>
        <p:nvSpPr>
          <p:cNvPr id="33" name="Text 30"/>
          <p:cNvSpPr txBox="1"/>
          <p:nvPr/>
        </p:nvSpPr>
        <p:spPr>
          <a:xfrm>
            <a:off x="9198864"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base64</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3"/>
                                        </p:tgtEl>
                                        <p:attrNameLst>
                                          <p:attrName>style.opacity</p:attrName>
                                        </p:attrNameLst>
                                      </p:cBhvr>
                                      <p:to>
                                        <p:strVal val="0.25"/>
                                      </p:to>
                                    </p:set>
                                    <p:animEffect filter="image" prLst="opacity: 0.25">
                                      <p:cBhvr rctx="IE">
                                        <p:cTn id="7" dur="1" fill="hold"/>
                                        <p:tgtEl>
                                          <p:spTgt spid="13"/>
                                        </p:tgtEl>
                                      </p:cBhvr>
                                    </p:animEffect>
                                  </p:childTnLst>
                                </p:cTn>
                              </p:par>
                              <p:par>
                                <p:cTn id="8" presetID="9" presetClass="emph" presetSubtype="0" fill="hold" grpId="0" nodeType="withEffect">
                                  <p:stCondLst>
                                    <p:cond delay="0"/>
                                  </p:stCondLst>
                                  <p:childTnLst>
                                    <p:set>
                                      <p:cBhvr>
                                        <p:cTn id="9" dur="1" fill="hold"/>
                                        <p:tgtEl>
                                          <p:spTgt spid="14"/>
                                        </p:tgtEl>
                                        <p:attrNameLst>
                                          <p:attrName>style.opacity</p:attrName>
                                        </p:attrNameLst>
                                      </p:cBhvr>
                                      <p:to>
                                        <p:strVal val="0.25"/>
                                      </p:to>
                                    </p:set>
                                    <p:animEffect filter="image" prLst="opacity: 0.25">
                                      <p:cBhvr rctx="IE">
                                        <p:cTn id="10" dur="1" fill="hold"/>
                                        <p:tgtEl>
                                          <p:spTgt spid="14"/>
                                        </p:tgtEl>
                                      </p:cBhvr>
                                    </p:animEffect>
                                  </p:childTnLst>
                                </p:cTn>
                              </p:par>
                              <p:par>
                                <p:cTn id="11" presetID="9" presetClass="emph" presetSubtype="0" fill="hold" grpId="0" nodeType="withEffect">
                                  <p:stCondLst>
                                    <p:cond delay="0"/>
                                  </p:stCondLst>
                                  <p:childTnLst>
                                    <p:set>
                                      <p:cBhvr>
                                        <p:cTn id="12" dur="1" fill="hold"/>
                                        <p:tgtEl>
                                          <p:spTgt spid="15"/>
                                        </p:tgtEl>
                                        <p:attrNameLst>
                                          <p:attrName>style.opacity</p:attrName>
                                        </p:attrNameLst>
                                      </p:cBhvr>
                                      <p:to>
                                        <p:strVal val="0.25"/>
                                      </p:to>
                                    </p:set>
                                    <p:animEffect filter="image" prLst="opacity: 0.25">
                                      <p:cBhvr rctx="IE">
                                        <p:cTn id="13" dur="1" fill="hold"/>
                                        <p:tgtEl>
                                          <p:spTgt spid="15"/>
                                        </p:tgtEl>
                                      </p:cBhvr>
                                    </p:animEffect>
                                  </p:childTnLst>
                                </p:cTn>
                              </p:par>
                              <p:par>
                                <p:cTn id="14" presetID="9" presetClass="emph" presetSubtype="0" fill="hold" grpId="0" nodeType="withEffect">
                                  <p:stCondLst>
                                    <p:cond delay="0"/>
                                  </p:stCondLst>
                                  <p:childTnLst>
                                    <p:set>
                                      <p:cBhvr>
                                        <p:cTn id="15" dur="1" fill="hold"/>
                                        <p:tgtEl>
                                          <p:spTgt spid="16"/>
                                        </p:tgtEl>
                                        <p:attrNameLst>
                                          <p:attrName>style.opacity</p:attrName>
                                        </p:attrNameLst>
                                      </p:cBhvr>
                                      <p:to>
                                        <p:strVal val="0.25"/>
                                      </p:to>
                                    </p:set>
                                    <p:animEffect filter="image" prLst="opacity: 0.25">
                                      <p:cBhvr rctx="IE">
                                        <p:cTn id="16" dur="1" fill="hold"/>
                                        <p:tgtEl>
                                          <p:spTgt spid="16"/>
                                        </p:tgtEl>
                                      </p:cBhvr>
                                    </p:animEffect>
                                  </p:childTnLst>
                                </p:cTn>
                              </p:par>
                              <p:par>
                                <p:cTn id="17" presetID="9" presetClass="emph" presetSubtype="0" fill="hold" grpId="0" nodeType="withEffect">
                                  <p:stCondLst>
                                    <p:cond delay="0"/>
                                  </p:stCondLst>
                                  <p:childTnLst>
                                    <p:set>
                                      <p:cBhvr>
                                        <p:cTn id="18" dur="1" fill="hold"/>
                                        <p:tgtEl>
                                          <p:spTgt spid="17"/>
                                        </p:tgtEl>
                                        <p:attrNameLst>
                                          <p:attrName>style.opacity</p:attrName>
                                        </p:attrNameLst>
                                      </p:cBhvr>
                                      <p:to>
                                        <p:strVal val="0.25"/>
                                      </p:to>
                                    </p:set>
                                    <p:animEffect filter="image" prLst="opacity: 0.25">
                                      <p:cBhvr rctx="IE">
                                        <p:cTn id="19" dur="1" fill="hold"/>
                                        <p:tgtEl>
                                          <p:spTgt spid="17"/>
                                        </p:tgtEl>
                                      </p:cBhvr>
                                    </p:animEffect>
                                  </p:childTnLst>
                                </p:cTn>
                              </p:par>
                              <p:par>
                                <p:cTn id="20" presetID="9" presetClass="emph" presetSubtype="0" fill="hold" grpId="0" nodeType="withEffect">
                                  <p:stCondLst>
                                    <p:cond delay="0"/>
                                  </p:stCondLst>
                                  <p:childTnLst>
                                    <p:set>
                                      <p:cBhvr>
                                        <p:cTn id="21" dur="1" fill="hold"/>
                                        <p:tgtEl>
                                          <p:spTgt spid="18"/>
                                        </p:tgtEl>
                                        <p:attrNameLst>
                                          <p:attrName>style.opacity</p:attrName>
                                        </p:attrNameLst>
                                      </p:cBhvr>
                                      <p:to>
                                        <p:strVal val="0.25"/>
                                      </p:to>
                                    </p:set>
                                    <p:animEffect filter="image" prLst="opacity: 0.25">
                                      <p:cBhvr rctx="IE">
                                        <p:cTn id="22" dur="1" fill="hold"/>
                                        <p:tgtEl>
                                          <p:spTgt spid="18"/>
                                        </p:tgtEl>
                                      </p:cBhvr>
                                    </p:animEffect>
                                  </p:childTnLst>
                                </p:cTn>
                              </p:par>
                              <p:par>
                                <p:cTn id="23" presetID="9" presetClass="emph" presetSubtype="0" fill="hold" grpId="0" nodeType="withEffect">
                                  <p:stCondLst>
                                    <p:cond delay="0"/>
                                  </p:stCondLst>
                                  <p:childTnLst>
                                    <p:set>
                                      <p:cBhvr>
                                        <p:cTn id="24" dur="1" fill="hold"/>
                                        <p:tgtEl>
                                          <p:spTgt spid="19"/>
                                        </p:tgtEl>
                                        <p:attrNameLst>
                                          <p:attrName>style.opacity</p:attrName>
                                        </p:attrNameLst>
                                      </p:cBhvr>
                                      <p:to>
                                        <p:strVal val="0.25"/>
                                      </p:to>
                                    </p:set>
                                    <p:animEffect filter="image" prLst="opacity: 0.25">
                                      <p:cBhvr rctx="IE">
                                        <p:cTn id="25" dur="1" fill="hold"/>
                                        <p:tgtEl>
                                          <p:spTgt spid="19"/>
                                        </p:tgtEl>
                                      </p:cBhvr>
                                    </p:animEffect>
                                  </p:childTnLst>
                                </p:cTn>
                              </p:par>
                              <p:par>
                                <p:cTn id="26" presetID="9" presetClass="emph" presetSubtype="0" fill="hold" grpId="0" nodeType="withEffect">
                                  <p:stCondLst>
                                    <p:cond delay="0"/>
                                  </p:stCondLst>
                                  <p:childTnLst>
                                    <p:set>
                                      <p:cBhvr>
                                        <p:cTn id="27" dur="1" fill="hold"/>
                                        <p:tgtEl>
                                          <p:spTgt spid="20"/>
                                        </p:tgtEl>
                                        <p:attrNameLst>
                                          <p:attrName>style.opacity</p:attrName>
                                        </p:attrNameLst>
                                      </p:cBhvr>
                                      <p:to>
                                        <p:strVal val="0.25"/>
                                      </p:to>
                                    </p:set>
                                    <p:animEffect filter="image" prLst="opacity: 0.25">
                                      <p:cBhvr rctx="IE">
                                        <p:cTn id="28" dur="1" fill="hold"/>
                                        <p:tgtEl>
                                          <p:spTgt spid="20"/>
                                        </p:tgtEl>
                                      </p:cBhvr>
                                    </p:animEffect>
                                  </p:childTnLst>
                                </p:cTn>
                              </p:par>
                              <p:par>
                                <p:cTn id="29" presetID="9" presetClass="emph" presetSubtype="0" fill="hold" grpId="0" nodeType="withEffect">
                                  <p:stCondLst>
                                    <p:cond delay="0"/>
                                  </p:stCondLst>
                                  <p:childTnLst>
                                    <p:set>
                                      <p:cBhvr>
                                        <p:cTn id="30" dur="1" fill="hold"/>
                                        <p:tgtEl>
                                          <p:spTgt spid="21"/>
                                        </p:tgtEl>
                                        <p:attrNameLst>
                                          <p:attrName>style.opacity</p:attrName>
                                        </p:attrNameLst>
                                      </p:cBhvr>
                                      <p:to>
                                        <p:strVal val="0.25"/>
                                      </p:to>
                                    </p:set>
                                    <p:animEffect filter="image" prLst="opacity: 0.25">
                                      <p:cBhvr rctx="IE">
                                        <p:cTn id="31" dur="1" fill="hold"/>
                                        <p:tgtEl>
                                          <p:spTgt spid="21"/>
                                        </p:tgtEl>
                                      </p:cBhvr>
                                    </p:animEffect>
                                  </p:childTnLst>
                                </p:cTn>
                              </p:par>
                              <p:par>
                                <p:cTn id="32" presetID="9" presetClass="emph" presetSubtype="0" fill="hold" grpId="0" nodeType="withEffect">
                                  <p:stCondLst>
                                    <p:cond delay="0"/>
                                  </p:stCondLst>
                                  <p:childTnLst>
                                    <p:set>
                                      <p:cBhvr>
                                        <p:cTn id="33" dur="1" fill="hold"/>
                                        <p:tgtEl>
                                          <p:spTgt spid="22"/>
                                        </p:tgtEl>
                                        <p:attrNameLst>
                                          <p:attrName>style.opacity</p:attrName>
                                        </p:attrNameLst>
                                      </p:cBhvr>
                                      <p:to>
                                        <p:strVal val="0.25"/>
                                      </p:to>
                                    </p:set>
                                    <p:animEffect filter="image" prLst="opacity: 0.25">
                                      <p:cBhvr rctx="IE">
                                        <p:cTn id="34" dur="1" fill="hold"/>
                                        <p:tgtEl>
                                          <p:spTgt spid="22"/>
                                        </p:tgtEl>
                                      </p:cBhvr>
                                    </p:animEffect>
                                  </p:childTnLst>
                                </p:cTn>
                              </p:par>
                              <p:par>
                                <p:cTn id="35" presetID="9" presetClass="emph" presetSubtype="0" fill="hold" grpId="0" nodeType="withEffect">
                                  <p:stCondLst>
                                    <p:cond delay="0"/>
                                  </p:stCondLst>
                                  <p:childTnLst>
                                    <p:set>
                                      <p:cBhvr>
                                        <p:cTn id="36" dur="1" fill="hold"/>
                                        <p:tgtEl>
                                          <p:spTgt spid="23"/>
                                        </p:tgtEl>
                                        <p:attrNameLst>
                                          <p:attrName>style.opacity</p:attrName>
                                        </p:attrNameLst>
                                      </p:cBhvr>
                                      <p:to>
                                        <p:strVal val="0.25"/>
                                      </p:to>
                                    </p:set>
                                    <p:animEffect filter="image" prLst="opacity: 0.25">
                                      <p:cBhvr rctx="IE">
                                        <p:cTn id="37" dur="1" fill="hold"/>
                                        <p:tgtEl>
                                          <p:spTgt spid="23"/>
                                        </p:tgtEl>
                                      </p:cBhvr>
                                    </p:animEffect>
                                  </p:childTnLst>
                                </p:cTn>
                              </p:par>
                              <p:par>
                                <p:cTn id="38" presetID="9" presetClass="emph" presetSubtype="0" fill="hold" grpId="0" nodeType="withEffect">
                                  <p:stCondLst>
                                    <p:cond delay="0"/>
                                  </p:stCondLst>
                                  <p:childTnLst>
                                    <p:set>
                                      <p:cBhvr>
                                        <p:cTn id="39" dur="1" fill="hold"/>
                                        <p:tgtEl>
                                          <p:spTgt spid="24"/>
                                        </p:tgtEl>
                                        <p:attrNameLst>
                                          <p:attrName>style.opacity</p:attrName>
                                        </p:attrNameLst>
                                      </p:cBhvr>
                                      <p:to>
                                        <p:strVal val="0.25"/>
                                      </p:to>
                                    </p:set>
                                    <p:animEffect filter="image" prLst="opacity: 0.25">
                                      <p:cBhvr rctx="IE">
                                        <p:cTn id="40" dur="1" fill="hold"/>
                                        <p:tgtEl>
                                          <p:spTgt spid="24"/>
                                        </p:tgtEl>
                                      </p:cBhvr>
                                    </p:animEffect>
                                  </p:childTnLst>
                                </p:cTn>
                              </p:par>
                              <p:par>
                                <p:cTn id="41" presetID="9" presetClass="emph" presetSubtype="0" fill="hold" grpId="0" nodeType="withEffect">
                                  <p:stCondLst>
                                    <p:cond delay="0"/>
                                  </p:stCondLst>
                                  <p:childTnLst>
                                    <p:set>
                                      <p:cBhvr>
                                        <p:cTn id="42" dur="1" fill="hold"/>
                                        <p:tgtEl>
                                          <p:spTgt spid="25"/>
                                        </p:tgtEl>
                                        <p:attrNameLst>
                                          <p:attrName>style.opacity</p:attrName>
                                        </p:attrNameLst>
                                      </p:cBhvr>
                                      <p:to>
                                        <p:strVal val="0.25"/>
                                      </p:to>
                                    </p:set>
                                    <p:animEffect filter="image" prLst="opacity: 0.25">
                                      <p:cBhvr rctx="IE">
                                        <p:cTn id="43" dur="1" fill="hold"/>
                                        <p:tgtEl>
                                          <p:spTgt spid="25"/>
                                        </p:tgtEl>
                                      </p:cBhvr>
                                    </p:animEffect>
                                  </p:childTnLst>
                                </p:cTn>
                              </p:par>
                              <p:par>
                                <p:cTn id="44" presetID="9" presetClass="emph" presetSubtype="0" fill="hold" grpId="0" nodeType="withEffect">
                                  <p:stCondLst>
                                    <p:cond delay="0"/>
                                  </p:stCondLst>
                                  <p:childTnLst>
                                    <p:set>
                                      <p:cBhvr>
                                        <p:cTn id="45" dur="1" fill="hold"/>
                                        <p:tgtEl>
                                          <p:spTgt spid="26"/>
                                        </p:tgtEl>
                                        <p:attrNameLst>
                                          <p:attrName>style.opacity</p:attrName>
                                        </p:attrNameLst>
                                      </p:cBhvr>
                                      <p:to>
                                        <p:strVal val="0.25"/>
                                      </p:to>
                                    </p:set>
                                    <p:animEffect filter="image" prLst="opacity: 0.25">
                                      <p:cBhvr rctx="IE">
                                        <p:cTn id="46" dur="1" fill="hold"/>
                                        <p:tgtEl>
                                          <p:spTgt spid="26"/>
                                        </p:tgtEl>
                                      </p:cBhvr>
                                    </p:animEffect>
                                  </p:childTnLst>
                                </p:cTn>
                              </p:par>
                              <p:par>
                                <p:cTn id="47" presetID="9" presetClass="emph" presetSubtype="0" fill="hold" grpId="0" nodeType="withEffect">
                                  <p:stCondLst>
                                    <p:cond delay="0"/>
                                  </p:stCondLst>
                                  <p:childTnLst>
                                    <p:set>
                                      <p:cBhvr>
                                        <p:cTn id="48" dur="1" fill="hold"/>
                                        <p:tgtEl>
                                          <p:spTgt spid="27"/>
                                        </p:tgtEl>
                                        <p:attrNameLst>
                                          <p:attrName>style.opacity</p:attrName>
                                        </p:attrNameLst>
                                      </p:cBhvr>
                                      <p:to>
                                        <p:strVal val="0.25"/>
                                      </p:to>
                                    </p:set>
                                    <p:animEffect filter="image" prLst="opacity: 0.25">
                                      <p:cBhvr rctx="IE">
                                        <p:cTn id="49" dur="1" fill="hold"/>
                                        <p:tgtEl>
                                          <p:spTgt spid="27"/>
                                        </p:tgtEl>
                                      </p:cBhvr>
                                    </p:animEffect>
                                  </p:childTnLst>
                                </p:cTn>
                              </p:par>
                              <p:par>
                                <p:cTn id="50" presetID="9" presetClass="emph" presetSubtype="0" fill="hold" grpId="0" nodeType="withEffect">
                                  <p:stCondLst>
                                    <p:cond delay="0"/>
                                  </p:stCondLst>
                                  <p:childTnLst>
                                    <p:set>
                                      <p:cBhvr>
                                        <p:cTn id="51" dur="1" fill="hold"/>
                                        <p:tgtEl>
                                          <p:spTgt spid="28"/>
                                        </p:tgtEl>
                                        <p:attrNameLst>
                                          <p:attrName>style.opacity</p:attrName>
                                        </p:attrNameLst>
                                      </p:cBhvr>
                                      <p:to>
                                        <p:strVal val="0.25"/>
                                      </p:to>
                                    </p:set>
                                    <p:animEffect filter="image" prLst="opacity: 0.25">
                                      <p:cBhvr rctx="IE">
                                        <p:cTn id="52" dur="1" fill="hold"/>
                                        <p:tgtEl>
                                          <p:spTgt spid="28"/>
                                        </p:tgtEl>
                                      </p:cBhvr>
                                    </p:animEffect>
                                  </p:childTnLst>
                                </p:cTn>
                              </p:par>
                              <p:par>
                                <p:cTn id="53" presetID="9" presetClass="emph" presetSubtype="0" fill="hold" grpId="0" nodeType="withEffect">
                                  <p:stCondLst>
                                    <p:cond delay="0"/>
                                  </p:stCondLst>
                                  <p:childTnLst>
                                    <p:set>
                                      <p:cBhvr>
                                        <p:cTn id="54" dur="1" fill="hold"/>
                                        <p:tgtEl>
                                          <p:spTgt spid="29"/>
                                        </p:tgtEl>
                                        <p:attrNameLst>
                                          <p:attrName>style.opacity</p:attrName>
                                        </p:attrNameLst>
                                      </p:cBhvr>
                                      <p:to>
                                        <p:strVal val="0.25"/>
                                      </p:to>
                                    </p:set>
                                    <p:animEffect filter="image" prLst="opacity: 0.25">
                                      <p:cBhvr rctx="IE">
                                        <p:cTn id="55" dur="1" fill="hold"/>
                                        <p:tgtEl>
                                          <p:spTgt spid="29"/>
                                        </p:tgtEl>
                                      </p:cBhvr>
                                    </p:animEffect>
                                  </p:childTnLst>
                                </p:cTn>
                              </p:par>
                              <p:par>
                                <p:cTn id="56" presetID="9" presetClass="emph" presetSubtype="0" fill="hold" grpId="0" nodeType="withEffect">
                                  <p:stCondLst>
                                    <p:cond delay="0"/>
                                  </p:stCondLst>
                                  <p:childTnLst>
                                    <p:set>
                                      <p:cBhvr>
                                        <p:cTn id="57" dur="1" fill="hold"/>
                                        <p:tgtEl>
                                          <p:spTgt spid="30"/>
                                        </p:tgtEl>
                                        <p:attrNameLst>
                                          <p:attrName>style.opacity</p:attrName>
                                        </p:attrNameLst>
                                      </p:cBhvr>
                                      <p:to>
                                        <p:strVal val="0.25"/>
                                      </p:to>
                                    </p:set>
                                    <p:animEffect filter="image" prLst="opacity: 0.25">
                                      <p:cBhvr rctx="IE">
                                        <p:cTn id="58" dur="1" fill="hold"/>
                                        <p:tgtEl>
                                          <p:spTgt spid="30"/>
                                        </p:tgtEl>
                                      </p:cBhvr>
                                    </p:animEffect>
                                  </p:childTnLst>
                                </p:cTn>
                              </p:par>
                              <p:par>
                                <p:cTn id="59" presetID="9" presetClass="emph" presetSubtype="0" fill="hold" grpId="0" nodeType="withEffect">
                                  <p:stCondLst>
                                    <p:cond delay="0"/>
                                  </p:stCondLst>
                                  <p:childTnLst>
                                    <p:set>
                                      <p:cBhvr>
                                        <p:cTn id="60" dur="1" fill="hold"/>
                                        <p:tgtEl>
                                          <p:spTgt spid="31"/>
                                        </p:tgtEl>
                                        <p:attrNameLst>
                                          <p:attrName>style.opacity</p:attrName>
                                        </p:attrNameLst>
                                      </p:cBhvr>
                                      <p:to>
                                        <p:strVal val="0.25"/>
                                      </p:to>
                                    </p:set>
                                    <p:animEffect filter="image" prLst="opacity: 0.25">
                                      <p:cBhvr rctx="IE">
                                        <p:cTn id="61" dur="1" fill="hold"/>
                                        <p:tgtEl>
                                          <p:spTgt spid="31"/>
                                        </p:tgtEl>
                                      </p:cBhvr>
                                    </p:animEffect>
                                  </p:childTnLst>
                                </p:cTn>
                              </p:par>
                              <p:par>
                                <p:cTn id="62" presetID="9" presetClass="emph" presetSubtype="0" fill="hold" grpId="0" nodeType="withEffect">
                                  <p:stCondLst>
                                    <p:cond delay="0"/>
                                  </p:stCondLst>
                                  <p:childTnLst>
                                    <p:set>
                                      <p:cBhvr>
                                        <p:cTn id="63" dur="1" fill="hold"/>
                                        <p:tgtEl>
                                          <p:spTgt spid="32"/>
                                        </p:tgtEl>
                                        <p:attrNameLst>
                                          <p:attrName>style.opacity</p:attrName>
                                        </p:attrNameLst>
                                      </p:cBhvr>
                                      <p:to>
                                        <p:strVal val="0.25"/>
                                      </p:to>
                                    </p:set>
                                    <p:animEffect filter="image" prLst="opacity: 0.25">
                                      <p:cBhvr rctx="IE">
                                        <p:cTn id="64" dur="1" fill="hold"/>
                                        <p:tgtEl>
                                          <p:spTgt spid="32"/>
                                        </p:tgtEl>
                                      </p:cBhvr>
                                    </p:animEffect>
                                  </p:childTnLst>
                                </p:cTn>
                              </p:par>
                              <p:par>
                                <p:cTn id="65" presetID="9" presetClass="emph" presetSubtype="0" fill="hold" grpId="0" nodeType="withEffect">
                                  <p:stCondLst>
                                    <p:cond delay="0"/>
                                  </p:stCondLst>
                                  <p:childTnLst>
                                    <p:set>
                                      <p:cBhvr>
                                        <p:cTn id="66" dur="1" fill="hold"/>
                                        <p:tgtEl>
                                          <p:spTgt spid="33"/>
                                        </p:tgtEl>
                                        <p:attrNameLst>
                                          <p:attrName>style.opacity</p:attrName>
                                        </p:attrNameLst>
                                      </p:cBhvr>
                                      <p:to>
                                        <p:strVal val="0.25"/>
                                      </p:to>
                                    </p:set>
                                    <p:animEffect filter="image" prLst="opacity: 0.25">
                                      <p:cBhvr rctx="IE">
                                        <p:cTn id="67" dur="1" fill="hold"/>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mph" presetSubtype="0" fill="hold" grpId="0" nodeType="clickEffect">
                                  <p:stCondLst>
                                    <p:cond delay="0"/>
                                  </p:stCondLst>
                                  <p:childTnLst>
                                    <p:set>
                                      <p:cBhvr>
                                        <p:cTn id="71" dur="400" fill="hold"/>
                                        <p:tgtEl>
                                          <p:spTgt spid="13"/>
                                        </p:tgtEl>
                                        <p:attrNameLst>
                                          <p:attrName>style.opacity</p:attrName>
                                        </p:attrNameLst>
                                      </p:cBhvr>
                                      <p:to>
                                        <p:strVal val="1"/>
                                      </p:to>
                                    </p:set>
                                    <p:animEffect filter="image" prLst="opacity: 1">
                                      <p:cBhvr rctx="IE">
                                        <p:cTn id="72" dur="400" fill="hold"/>
                                        <p:tgtEl>
                                          <p:spTgt spid="13"/>
                                        </p:tgtEl>
                                      </p:cBhvr>
                                    </p:animEffect>
                                  </p:childTnLst>
                                </p:cTn>
                              </p:par>
                              <p:par>
                                <p:cTn id="73" presetID="9" presetClass="emph" presetSubtype="0" fill="hold" grpId="0" nodeType="withEffect">
                                  <p:stCondLst>
                                    <p:cond delay="0"/>
                                  </p:stCondLst>
                                  <p:childTnLst>
                                    <p:set>
                                      <p:cBhvr>
                                        <p:cTn id="74" dur="400" fill="hold"/>
                                        <p:tgtEl>
                                          <p:spTgt spid="14"/>
                                        </p:tgtEl>
                                        <p:attrNameLst>
                                          <p:attrName>style.opacity</p:attrName>
                                        </p:attrNameLst>
                                      </p:cBhvr>
                                      <p:to>
                                        <p:strVal val="1"/>
                                      </p:to>
                                    </p:set>
                                    <p:animEffect filter="image" prLst="opacity: 1">
                                      <p:cBhvr rctx="IE">
                                        <p:cTn id="75" dur="400" fill="hold"/>
                                        <p:tgtEl>
                                          <p:spTgt spid="14"/>
                                        </p:tgtEl>
                                      </p:cBhvr>
                                    </p:animEffect>
                                  </p:childTnLst>
                                </p:cTn>
                              </p:par>
                              <p:par>
                                <p:cTn id="76" presetID="9" presetClass="emph" presetSubtype="0" fill="hold" grpId="0" nodeType="withEffect">
                                  <p:stCondLst>
                                    <p:cond delay="0"/>
                                  </p:stCondLst>
                                  <p:childTnLst>
                                    <p:set>
                                      <p:cBhvr>
                                        <p:cTn id="77" dur="400" fill="hold"/>
                                        <p:tgtEl>
                                          <p:spTgt spid="15"/>
                                        </p:tgtEl>
                                        <p:attrNameLst>
                                          <p:attrName>style.opacity</p:attrName>
                                        </p:attrNameLst>
                                      </p:cBhvr>
                                      <p:to>
                                        <p:strVal val="1"/>
                                      </p:to>
                                    </p:set>
                                    <p:animEffect filter="image" prLst="opacity: 1">
                                      <p:cBhvr rctx="IE">
                                        <p:cTn id="78" dur="400" fill="hold"/>
                                        <p:tgtEl>
                                          <p:spTgt spid="15"/>
                                        </p:tgtEl>
                                      </p:cBhvr>
                                    </p:animEffect>
                                  </p:childTnLst>
                                </p:cTn>
                              </p:par>
                              <p:par>
                                <p:cTn id="79" presetID="9" presetClass="emph" presetSubtype="0" fill="hold" grpId="0" nodeType="withEffect">
                                  <p:stCondLst>
                                    <p:cond delay="0"/>
                                  </p:stCondLst>
                                  <p:childTnLst>
                                    <p:set>
                                      <p:cBhvr>
                                        <p:cTn id="80" dur="400" fill="hold"/>
                                        <p:tgtEl>
                                          <p:spTgt spid="16"/>
                                        </p:tgtEl>
                                        <p:attrNameLst>
                                          <p:attrName>style.opacity</p:attrName>
                                        </p:attrNameLst>
                                      </p:cBhvr>
                                      <p:to>
                                        <p:strVal val="1"/>
                                      </p:to>
                                    </p:set>
                                    <p:animEffect filter="image" prLst="opacity: 1">
                                      <p:cBhvr rctx="IE">
                                        <p:cTn id="81" dur="400" fill="hold"/>
                                        <p:tgtEl>
                                          <p:spTgt spid="16"/>
                                        </p:tgtEl>
                                      </p:cBhvr>
                                    </p:animEffect>
                                  </p:childTnLst>
                                </p:cTn>
                              </p:par>
                              <p:par>
                                <p:cTn id="82" presetID="9" presetClass="emph" presetSubtype="0" fill="hold" grpId="0" nodeType="withEffect">
                                  <p:stCondLst>
                                    <p:cond delay="0"/>
                                  </p:stCondLst>
                                  <p:childTnLst>
                                    <p:set>
                                      <p:cBhvr>
                                        <p:cTn id="83" dur="400" fill="hold"/>
                                        <p:tgtEl>
                                          <p:spTgt spid="17"/>
                                        </p:tgtEl>
                                        <p:attrNameLst>
                                          <p:attrName>style.opacity</p:attrName>
                                        </p:attrNameLst>
                                      </p:cBhvr>
                                      <p:to>
                                        <p:strVal val="1"/>
                                      </p:to>
                                    </p:set>
                                    <p:animEffect filter="image" prLst="opacity: 1">
                                      <p:cBhvr rctx="IE">
                                        <p:cTn id="84" dur="400" fill="hold"/>
                                        <p:tgtEl>
                                          <p:spTgt spid="17"/>
                                        </p:tgtEl>
                                      </p:cBhvr>
                                    </p:animEffect>
                                  </p:childTnLst>
                                </p:cTn>
                              </p:par>
                              <p:par>
                                <p:cTn id="85" presetID="9" presetClass="emph" presetSubtype="0" fill="hold" grpId="0" nodeType="withEffect">
                                  <p:stCondLst>
                                    <p:cond delay="0"/>
                                  </p:stCondLst>
                                  <p:childTnLst>
                                    <p:set>
                                      <p:cBhvr>
                                        <p:cTn id="86" dur="400" fill="hold"/>
                                        <p:tgtEl>
                                          <p:spTgt spid="18"/>
                                        </p:tgtEl>
                                        <p:attrNameLst>
                                          <p:attrName>style.opacity</p:attrName>
                                        </p:attrNameLst>
                                      </p:cBhvr>
                                      <p:to>
                                        <p:strVal val="1"/>
                                      </p:to>
                                    </p:set>
                                    <p:animEffect filter="image" prLst="opacity: 1">
                                      <p:cBhvr rctx="IE">
                                        <p:cTn id="87" dur="400" fill="hold"/>
                                        <p:tgtEl>
                                          <p:spTgt spid="18"/>
                                        </p:tgtEl>
                                      </p:cBhvr>
                                    </p:animEffect>
                                  </p:childTnLst>
                                </p:cTn>
                              </p:par>
                              <p:par>
                                <p:cTn id="88" presetID="9" presetClass="emph" presetSubtype="0" fill="hold" grpId="0" nodeType="withEffect">
                                  <p:stCondLst>
                                    <p:cond delay="0"/>
                                  </p:stCondLst>
                                  <p:childTnLst>
                                    <p:set>
                                      <p:cBhvr>
                                        <p:cTn id="89" dur="400" fill="hold"/>
                                        <p:tgtEl>
                                          <p:spTgt spid="19"/>
                                        </p:tgtEl>
                                        <p:attrNameLst>
                                          <p:attrName>style.opacity</p:attrName>
                                        </p:attrNameLst>
                                      </p:cBhvr>
                                      <p:to>
                                        <p:strVal val="1"/>
                                      </p:to>
                                    </p:set>
                                    <p:animEffect filter="image" prLst="opacity: 1">
                                      <p:cBhvr rctx="IE">
                                        <p:cTn id="90" dur="400" fill="hold"/>
                                        <p:tgtEl>
                                          <p:spTgt spid="19"/>
                                        </p:tgtEl>
                                      </p:cBhvr>
                                    </p:animEffect>
                                  </p:childTnLst>
                                </p:cTn>
                              </p:par>
                              <p:par>
                                <p:cTn id="91" presetID="9" presetClass="emph" presetSubtype="0" fill="hold" grpId="0" nodeType="withEffect">
                                  <p:stCondLst>
                                    <p:cond delay="0"/>
                                  </p:stCondLst>
                                  <p:childTnLst>
                                    <p:set>
                                      <p:cBhvr>
                                        <p:cTn id="92" dur="400" fill="hold"/>
                                        <p:tgtEl>
                                          <p:spTgt spid="6"/>
                                        </p:tgtEl>
                                        <p:attrNameLst>
                                          <p:attrName>style.opacity</p:attrName>
                                        </p:attrNameLst>
                                      </p:cBhvr>
                                      <p:to>
                                        <p:strVal val="0.25"/>
                                      </p:to>
                                    </p:set>
                                    <p:animEffect filter="image" prLst="opacity: 0.25">
                                      <p:cBhvr rctx="IE">
                                        <p:cTn id="93" dur="400" fill="hold"/>
                                        <p:tgtEl>
                                          <p:spTgt spid="6"/>
                                        </p:tgtEl>
                                      </p:cBhvr>
                                    </p:animEffect>
                                  </p:childTnLst>
                                </p:cTn>
                              </p:par>
                              <p:par>
                                <p:cTn id="94" presetID="9" presetClass="emph" presetSubtype="0" fill="hold" grpId="0" nodeType="withEffect">
                                  <p:stCondLst>
                                    <p:cond delay="0"/>
                                  </p:stCondLst>
                                  <p:childTnLst>
                                    <p:set>
                                      <p:cBhvr>
                                        <p:cTn id="95" dur="400" fill="hold"/>
                                        <p:tgtEl>
                                          <p:spTgt spid="7"/>
                                        </p:tgtEl>
                                        <p:attrNameLst>
                                          <p:attrName>style.opacity</p:attrName>
                                        </p:attrNameLst>
                                      </p:cBhvr>
                                      <p:to>
                                        <p:strVal val="0.25"/>
                                      </p:to>
                                    </p:set>
                                    <p:animEffect filter="image" prLst="opacity: 0.25">
                                      <p:cBhvr rctx="IE">
                                        <p:cTn id="96" dur="400" fill="hold"/>
                                        <p:tgtEl>
                                          <p:spTgt spid="7"/>
                                        </p:tgtEl>
                                      </p:cBhvr>
                                    </p:animEffect>
                                  </p:childTnLst>
                                </p:cTn>
                              </p:par>
                              <p:par>
                                <p:cTn id="97" presetID="9" presetClass="emph" presetSubtype="0" fill="hold" grpId="0" nodeType="withEffect">
                                  <p:stCondLst>
                                    <p:cond delay="0"/>
                                  </p:stCondLst>
                                  <p:childTnLst>
                                    <p:set>
                                      <p:cBhvr>
                                        <p:cTn id="98" dur="400" fill="hold"/>
                                        <p:tgtEl>
                                          <p:spTgt spid="8"/>
                                        </p:tgtEl>
                                        <p:attrNameLst>
                                          <p:attrName>style.opacity</p:attrName>
                                        </p:attrNameLst>
                                      </p:cBhvr>
                                      <p:to>
                                        <p:strVal val="0.25"/>
                                      </p:to>
                                    </p:set>
                                    <p:animEffect filter="image" prLst="opacity: 0.25">
                                      <p:cBhvr rctx="IE">
                                        <p:cTn id="99" dur="400" fill="hold"/>
                                        <p:tgtEl>
                                          <p:spTgt spid="8"/>
                                        </p:tgtEl>
                                      </p:cBhvr>
                                    </p:animEffect>
                                  </p:childTnLst>
                                </p:cTn>
                              </p:par>
                              <p:par>
                                <p:cTn id="100" presetID="9" presetClass="emph" presetSubtype="0" fill="hold" grpId="0" nodeType="withEffect">
                                  <p:stCondLst>
                                    <p:cond delay="0"/>
                                  </p:stCondLst>
                                  <p:childTnLst>
                                    <p:set>
                                      <p:cBhvr>
                                        <p:cTn id="101" dur="400" fill="hold"/>
                                        <p:tgtEl>
                                          <p:spTgt spid="9"/>
                                        </p:tgtEl>
                                        <p:attrNameLst>
                                          <p:attrName>style.opacity</p:attrName>
                                        </p:attrNameLst>
                                      </p:cBhvr>
                                      <p:to>
                                        <p:strVal val="0.25"/>
                                      </p:to>
                                    </p:set>
                                    <p:animEffect filter="image" prLst="opacity: 0.25">
                                      <p:cBhvr rctx="IE">
                                        <p:cTn id="102" dur="400" fill="hold"/>
                                        <p:tgtEl>
                                          <p:spTgt spid="9"/>
                                        </p:tgtEl>
                                      </p:cBhvr>
                                    </p:animEffect>
                                  </p:childTnLst>
                                </p:cTn>
                              </p:par>
                              <p:par>
                                <p:cTn id="103" presetID="9" presetClass="emph" presetSubtype="0" fill="hold" grpId="0" nodeType="withEffect">
                                  <p:stCondLst>
                                    <p:cond delay="0"/>
                                  </p:stCondLst>
                                  <p:childTnLst>
                                    <p:set>
                                      <p:cBhvr>
                                        <p:cTn id="104" dur="400" fill="hold"/>
                                        <p:tgtEl>
                                          <p:spTgt spid="10"/>
                                        </p:tgtEl>
                                        <p:attrNameLst>
                                          <p:attrName>style.opacity</p:attrName>
                                        </p:attrNameLst>
                                      </p:cBhvr>
                                      <p:to>
                                        <p:strVal val="0.25"/>
                                      </p:to>
                                    </p:set>
                                    <p:animEffect filter="image" prLst="opacity: 0.25">
                                      <p:cBhvr rctx="IE">
                                        <p:cTn id="105" dur="400" fill="hold"/>
                                        <p:tgtEl>
                                          <p:spTgt spid="10"/>
                                        </p:tgtEl>
                                      </p:cBhvr>
                                    </p:animEffect>
                                  </p:childTnLst>
                                </p:cTn>
                              </p:par>
                              <p:par>
                                <p:cTn id="106" presetID="9" presetClass="emph" presetSubtype="0" fill="hold" grpId="0" nodeType="withEffect">
                                  <p:stCondLst>
                                    <p:cond delay="0"/>
                                  </p:stCondLst>
                                  <p:childTnLst>
                                    <p:set>
                                      <p:cBhvr>
                                        <p:cTn id="107" dur="400" fill="hold"/>
                                        <p:tgtEl>
                                          <p:spTgt spid="11"/>
                                        </p:tgtEl>
                                        <p:attrNameLst>
                                          <p:attrName>style.opacity</p:attrName>
                                        </p:attrNameLst>
                                      </p:cBhvr>
                                      <p:to>
                                        <p:strVal val="0.25"/>
                                      </p:to>
                                    </p:set>
                                    <p:animEffect filter="image" prLst="opacity: 0.25">
                                      <p:cBhvr rctx="IE">
                                        <p:cTn id="108" dur="400" fill="hold"/>
                                        <p:tgtEl>
                                          <p:spTgt spid="11"/>
                                        </p:tgtEl>
                                      </p:cBhvr>
                                    </p:animEffect>
                                  </p:childTnLst>
                                </p:cTn>
                              </p:par>
                              <p:par>
                                <p:cTn id="109" presetID="9" presetClass="emph" presetSubtype="0" fill="hold" grpId="0" nodeType="withEffect">
                                  <p:stCondLst>
                                    <p:cond delay="0"/>
                                  </p:stCondLst>
                                  <p:childTnLst>
                                    <p:set>
                                      <p:cBhvr>
                                        <p:cTn id="110" dur="400" fill="hold"/>
                                        <p:tgtEl>
                                          <p:spTgt spid="12"/>
                                        </p:tgtEl>
                                        <p:attrNameLst>
                                          <p:attrName>style.opacity</p:attrName>
                                        </p:attrNameLst>
                                      </p:cBhvr>
                                      <p:to>
                                        <p:strVal val="0.25"/>
                                      </p:to>
                                    </p:set>
                                    <p:animEffect filter="image" prLst="opacity: 0.25">
                                      <p:cBhvr rctx="IE">
                                        <p:cTn id="111" dur="400" fill="hold"/>
                                        <p:tgtEl>
                                          <p:spTgt spid="12"/>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mph" presetSubtype="0" fill="hold" grpId="0" nodeType="clickEffect">
                                  <p:stCondLst>
                                    <p:cond delay="0"/>
                                  </p:stCondLst>
                                  <p:childTnLst>
                                    <p:set>
                                      <p:cBhvr>
                                        <p:cTn id="115" dur="400" fill="hold"/>
                                        <p:tgtEl>
                                          <p:spTgt spid="20"/>
                                        </p:tgtEl>
                                        <p:attrNameLst>
                                          <p:attrName>style.opacity</p:attrName>
                                        </p:attrNameLst>
                                      </p:cBhvr>
                                      <p:to>
                                        <p:strVal val="1"/>
                                      </p:to>
                                    </p:set>
                                    <p:animEffect filter="image" prLst="opacity: 1">
                                      <p:cBhvr rctx="IE">
                                        <p:cTn id="116" dur="400" fill="hold"/>
                                        <p:tgtEl>
                                          <p:spTgt spid="20"/>
                                        </p:tgtEl>
                                      </p:cBhvr>
                                    </p:animEffect>
                                  </p:childTnLst>
                                </p:cTn>
                              </p:par>
                              <p:par>
                                <p:cTn id="117" presetID="9" presetClass="emph" presetSubtype="0" fill="hold" grpId="0" nodeType="withEffect">
                                  <p:stCondLst>
                                    <p:cond delay="0"/>
                                  </p:stCondLst>
                                  <p:childTnLst>
                                    <p:set>
                                      <p:cBhvr>
                                        <p:cTn id="118" dur="400" fill="hold"/>
                                        <p:tgtEl>
                                          <p:spTgt spid="21"/>
                                        </p:tgtEl>
                                        <p:attrNameLst>
                                          <p:attrName>style.opacity</p:attrName>
                                        </p:attrNameLst>
                                      </p:cBhvr>
                                      <p:to>
                                        <p:strVal val="1"/>
                                      </p:to>
                                    </p:set>
                                    <p:animEffect filter="image" prLst="opacity: 1">
                                      <p:cBhvr rctx="IE">
                                        <p:cTn id="119" dur="400" fill="hold"/>
                                        <p:tgtEl>
                                          <p:spTgt spid="21"/>
                                        </p:tgtEl>
                                      </p:cBhvr>
                                    </p:animEffect>
                                  </p:childTnLst>
                                </p:cTn>
                              </p:par>
                              <p:par>
                                <p:cTn id="120" presetID="9" presetClass="emph" presetSubtype="0" fill="hold" grpId="0" nodeType="withEffect">
                                  <p:stCondLst>
                                    <p:cond delay="0"/>
                                  </p:stCondLst>
                                  <p:childTnLst>
                                    <p:set>
                                      <p:cBhvr>
                                        <p:cTn id="121" dur="400" fill="hold"/>
                                        <p:tgtEl>
                                          <p:spTgt spid="22"/>
                                        </p:tgtEl>
                                        <p:attrNameLst>
                                          <p:attrName>style.opacity</p:attrName>
                                        </p:attrNameLst>
                                      </p:cBhvr>
                                      <p:to>
                                        <p:strVal val="1"/>
                                      </p:to>
                                    </p:set>
                                    <p:animEffect filter="image" prLst="opacity: 1">
                                      <p:cBhvr rctx="IE">
                                        <p:cTn id="122" dur="400" fill="hold"/>
                                        <p:tgtEl>
                                          <p:spTgt spid="22"/>
                                        </p:tgtEl>
                                      </p:cBhvr>
                                    </p:animEffect>
                                  </p:childTnLst>
                                </p:cTn>
                              </p:par>
                              <p:par>
                                <p:cTn id="123" presetID="9" presetClass="emph" presetSubtype="0" fill="hold" grpId="0" nodeType="withEffect">
                                  <p:stCondLst>
                                    <p:cond delay="0"/>
                                  </p:stCondLst>
                                  <p:childTnLst>
                                    <p:set>
                                      <p:cBhvr>
                                        <p:cTn id="124" dur="400" fill="hold"/>
                                        <p:tgtEl>
                                          <p:spTgt spid="23"/>
                                        </p:tgtEl>
                                        <p:attrNameLst>
                                          <p:attrName>style.opacity</p:attrName>
                                        </p:attrNameLst>
                                      </p:cBhvr>
                                      <p:to>
                                        <p:strVal val="1"/>
                                      </p:to>
                                    </p:set>
                                    <p:animEffect filter="image" prLst="opacity: 1">
                                      <p:cBhvr rctx="IE">
                                        <p:cTn id="125" dur="400" fill="hold"/>
                                        <p:tgtEl>
                                          <p:spTgt spid="23"/>
                                        </p:tgtEl>
                                      </p:cBhvr>
                                    </p:animEffect>
                                  </p:childTnLst>
                                </p:cTn>
                              </p:par>
                              <p:par>
                                <p:cTn id="126" presetID="9" presetClass="emph" presetSubtype="0" fill="hold" grpId="0" nodeType="withEffect">
                                  <p:stCondLst>
                                    <p:cond delay="0"/>
                                  </p:stCondLst>
                                  <p:childTnLst>
                                    <p:set>
                                      <p:cBhvr>
                                        <p:cTn id="127" dur="400" fill="hold"/>
                                        <p:tgtEl>
                                          <p:spTgt spid="24"/>
                                        </p:tgtEl>
                                        <p:attrNameLst>
                                          <p:attrName>style.opacity</p:attrName>
                                        </p:attrNameLst>
                                      </p:cBhvr>
                                      <p:to>
                                        <p:strVal val="1"/>
                                      </p:to>
                                    </p:set>
                                    <p:animEffect filter="image" prLst="opacity: 1">
                                      <p:cBhvr rctx="IE">
                                        <p:cTn id="128" dur="400" fill="hold"/>
                                        <p:tgtEl>
                                          <p:spTgt spid="24"/>
                                        </p:tgtEl>
                                      </p:cBhvr>
                                    </p:animEffect>
                                  </p:childTnLst>
                                </p:cTn>
                              </p:par>
                              <p:par>
                                <p:cTn id="129" presetID="9" presetClass="emph" presetSubtype="0" fill="hold" grpId="0" nodeType="withEffect">
                                  <p:stCondLst>
                                    <p:cond delay="0"/>
                                  </p:stCondLst>
                                  <p:childTnLst>
                                    <p:set>
                                      <p:cBhvr>
                                        <p:cTn id="130" dur="400" fill="hold"/>
                                        <p:tgtEl>
                                          <p:spTgt spid="25"/>
                                        </p:tgtEl>
                                        <p:attrNameLst>
                                          <p:attrName>style.opacity</p:attrName>
                                        </p:attrNameLst>
                                      </p:cBhvr>
                                      <p:to>
                                        <p:strVal val="1"/>
                                      </p:to>
                                    </p:set>
                                    <p:animEffect filter="image" prLst="opacity: 1">
                                      <p:cBhvr rctx="IE">
                                        <p:cTn id="131" dur="400" fill="hold"/>
                                        <p:tgtEl>
                                          <p:spTgt spid="25"/>
                                        </p:tgtEl>
                                      </p:cBhvr>
                                    </p:animEffect>
                                  </p:childTnLst>
                                </p:cTn>
                              </p:par>
                              <p:par>
                                <p:cTn id="132" presetID="9" presetClass="emph" presetSubtype="0" fill="hold" grpId="0" nodeType="withEffect">
                                  <p:stCondLst>
                                    <p:cond delay="0"/>
                                  </p:stCondLst>
                                  <p:childTnLst>
                                    <p:set>
                                      <p:cBhvr>
                                        <p:cTn id="133" dur="400" fill="hold"/>
                                        <p:tgtEl>
                                          <p:spTgt spid="26"/>
                                        </p:tgtEl>
                                        <p:attrNameLst>
                                          <p:attrName>style.opacity</p:attrName>
                                        </p:attrNameLst>
                                      </p:cBhvr>
                                      <p:to>
                                        <p:strVal val="1"/>
                                      </p:to>
                                    </p:set>
                                    <p:animEffect filter="image" prLst="opacity: 1">
                                      <p:cBhvr rctx="IE">
                                        <p:cTn id="134" dur="400" fill="hold"/>
                                        <p:tgtEl>
                                          <p:spTgt spid="26"/>
                                        </p:tgtEl>
                                      </p:cBhvr>
                                    </p:animEffect>
                                  </p:childTnLst>
                                </p:cTn>
                              </p:par>
                              <p:par>
                                <p:cTn id="135" presetID="9" presetClass="emph" presetSubtype="0" fill="hold" grpId="0" nodeType="withEffect">
                                  <p:stCondLst>
                                    <p:cond delay="0"/>
                                  </p:stCondLst>
                                  <p:childTnLst>
                                    <p:set>
                                      <p:cBhvr>
                                        <p:cTn id="136" dur="400" fill="hold"/>
                                        <p:tgtEl>
                                          <p:spTgt spid="13"/>
                                        </p:tgtEl>
                                        <p:attrNameLst>
                                          <p:attrName>style.opacity</p:attrName>
                                        </p:attrNameLst>
                                      </p:cBhvr>
                                      <p:to>
                                        <p:strVal val="0.25"/>
                                      </p:to>
                                    </p:set>
                                    <p:animEffect filter="image" prLst="opacity: 0.25">
                                      <p:cBhvr rctx="IE">
                                        <p:cTn id="137" dur="400" fill="hold"/>
                                        <p:tgtEl>
                                          <p:spTgt spid="13"/>
                                        </p:tgtEl>
                                      </p:cBhvr>
                                    </p:animEffect>
                                  </p:childTnLst>
                                </p:cTn>
                              </p:par>
                              <p:par>
                                <p:cTn id="138" presetID="9" presetClass="emph" presetSubtype="0" fill="hold" grpId="0" nodeType="withEffect">
                                  <p:stCondLst>
                                    <p:cond delay="0"/>
                                  </p:stCondLst>
                                  <p:childTnLst>
                                    <p:set>
                                      <p:cBhvr>
                                        <p:cTn id="139" dur="400" fill="hold"/>
                                        <p:tgtEl>
                                          <p:spTgt spid="14"/>
                                        </p:tgtEl>
                                        <p:attrNameLst>
                                          <p:attrName>style.opacity</p:attrName>
                                        </p:attrNameLst>
                                      </p:cBhvr>
                                      <p:to>
                                        <p:strVal val="0.25"/>
                                      </p:to>
                                    </p:set>
                                    <p:animEffect filter="image" prLst="opacity: 0.25">
                                      <p:cBhvr rctx="IE">
                                        <p:cTn id="140" dur="400" fill="hold"/>
                                        <p:tgtEl>
                                          <p:spTgt spid="14"/>
                                        </p:tgtEl>
                                      </p:cBhvr>
                                    </p:animEffect>
                                  </p:childTnLst>
                                </p:cTn>
                              </p:par>
                              <p:par>
                                <p:cTn id="141" presetID="9" presetClass="emph" presetSubtype="0" fill="hold" grpId="0" nodeType="withEffect">
                                  <p:stCondLst>
                                    <p:cond delay="0"/>
                                  </p:stCondLst>
                                  <p:childTnLst>
                                    <p:set>
                                      <p:cBhvr>
                                        <p:cTn id="142" dur="400" fill="hold"/>
                                        <p:tgtEl>
                                          <p:spTgt spid="15"/>
                                        </p:tgtEl>
                                        <p:attrNameLst>
                                          <p:attrName>style.opacity</p:attrName>
                                        </p:attrNameLst>
                                      </p:cBhvr>
                                      <p:to>
                                        <p:strVal val="0.25"/>
                                      </p:to>
                                    </p:set>
                                    <p:animEffect filter="image" prLst="opacity: 0.25">
                                      <p:cBhvr rctx="IE">
                                        <p:cTn id="143" dur="400" fill="hold"/>
                                        <p:tgtEl>
                                          <p:spTgt spid="15"/>
                                        </p:tgtEl>
                                      </p:cBhvr>
                                    </p:animEffect>
                                  </p:childTnLst>
                                </p:cTn>
                              </p:par>
                              <p:par>
                                <p:cTn id="144" presetID="9" presetClass="emph" presetSubtype="0" fill="hold" grpId="0" nodeType="withEffect">
                                  <p:stCondLst>
                                    <p:cond delay="0"/>
                                  </p:stCondLst>
                                  <p:childTnLst>
                                    <p:set>
                                      <p:cBhvr>
                                        <p:cTn id="145" dur="400" fill="hold"/>
                                        <p:tgtEl>
                                          <p:spTgt spid="16"/>
                                        </p:tgtEl>
                                        <p:attrNameLst>
                                          <p:attrName>style.opacity</p:attrName>
                                        </p:attrNameLst>
                                      </p:cBhvr>
                                      <p:to>
                                        <p:strVal val="0.25"/>
                                      </p:to>
                                    </p:set>
                                    <p:animEffect filter="image" prLst="opacity: 0.25">
                                      <p:cBhvr rctx="IE">
                                        <p:cTn id="146" dur="400" fill="hold"/>
                                        <p:tgtEl>
                                          <p:spTgt spid="16"/>
                                        </p:tgtEl>
                                      </p:cBhvr>
                                    </p:animEffect>
                                  </p:childTnLst>
                                </p:cTn>
                              </p:par>
                              <p:par>
                                <p:cTn id="147" presetID="9" presetClass="emph" presetSubtype="0" fill="hold" grpId="0" nodeType="withEffect">
                                  <p:stCondLst>
                                    <p:cond delay="0"/>
                                  </p:stCondLst>
                                  <p:childTnLst>
                                    <p:set>
                                      <p:cBhvr>
                                        <p:cTn id="148" dur="400" fill="hold"/>
                                        <p:tgtEl>
                                          <p:spTgt spid="17"/>
                                        </p:tgtEl>
                                        <p:attrNameLst>
                                          <p:attrName>style.opacity</p:attrName>
                                        </p:attrNameLst>
                                      </p:cBhvr>
                                      <p:to>
                                        <p:strVal val="0.25"/>
                                      </p:to>
                                    </p:set>
                                    <p:animEffect filter="image" prLst="opacity: 0.25">
                                      <p:cBhvr rctx="IE">
                                        <p:cTn id="149" dur="400" fill="hold"/>
                                        <p:tgtEl>
                                          <p:spTgt spid="17"/>
                                        </p:tgtEl>
                                      </p:cBhvr>
                                    </p:animEffect>
                                  </p:childTnLst>
                                </p:cTn>
                              </p:par>
                              <p:par>
                                <p:cTn id="150" presetID="9" presetClass="emph" presetSubtype="0" fill="hold" grpId="0" nodeType="withEffect">
                                  <p:stCondLst>
                                    <p:cond delay="0"/>
                                  </p:stCondLst>
                                  <p:childTnLst>
                                    <p:set>
                                      <p:cBhvr>
                                        <p:cTn id="151" dur="400" fill="hold"/>
                                        <p:tgtEl>
                                          <p:spTgt spid="18"/>
                                        </p:tgtEl>
                                        <p:attrNameLst>
                                          <p:attrName>style.opacity</p:attrName>
                                        </p:attrNameLst>
                                      </p:cBhvr>
                                      <p:to>
                                        <p:strVal val="0.25"/>
                                      </p:to>
                                    </p:set>
                                    <p:animEffect filter="image" prLst="opacity: 0.25">
                                      <p:cBhvr rctx="IE">
                                        <p:cTn id="152" dur="400" fill="hold"/>
                                        <p:tgtEl>
                                          <p:spTgt spid="18"/>
                                        </p:tgtEl>
                                      </p:cBhvr>
                                    </p:animEffect>
                                  </p:childTnLst>
                                </p:cTn>
                              </p:par>
                              <p:par>
                                <p:cTn id="153" presetID="9" presetClass="emph" presetSubtype="0" fill="hold" grpId="0" nodeType="withEffect">
                                  <p:stCondLst>
                                    <p:cond delay="0"/>
                                  </p:stCondLst>
                                  <p:childTnLst>
                                    <p:set>
                                      <p:cBhvr>
                                        <p:cTn id="154" dur="400" fill="hold"/>
                                        <p:tgtEl>
                                          <p:spTgt spid="19"/>
                                        </p:tgtEl>
                                        <p:attrNameLst>
                                          <p:attrName>style.opacity</p:attrName>
                                        </p:attrNameLst>
                                      </p:cBhvr>
                                      <p:to>
                                        <p:strVal val="0.25"/>
                                      </p:to>
                                    </p:set>
                                    <p:animEffect filter="image" prLst="opacity: 0.25">
                                      <p:cBhvr rctx="IE">
                                        <p:cTn id="155" dur="400" fill="hold"/>
                                        <p:tgtEl>
                                          <p:spTgt spid="19"/>
                                        </p:tgtEl>
                                      </p:cBhvr>
                                    </p:animEffect>
                                  </p:childTnLst>
                                </p:cTn>
                              </p:par>
                            </p:childTnLst>
                          </p:cTn>
                        </p:par>
                      </p:childTnLst>
                    </p:cTn>
                  </p:par>
                  <p:par>
                    <p:cTn id="156" fill="hold">
                      <p:stCondLst>
                        <p:cond delay="indefinite"/>
                      </p:stCondLst>
                      <p:childTnLst>
                        <p:par>
                          <p:cTn id="157" fill="hold">
                            <p:stCondLst>
                              <p:cond delay="0"/>
                            </p:stCondLst>
                            <p:childTnLst>
                              <p:par>
                                <p:cTn id="158" presetID="9" presetClass="emph" presetSubtype="0" fill="hold" grpId="0" nodeType="clickEffect">
                                  <p:stCondLst>
                                    <p:cond delay="0"/>
                                  </p:stCondLst>
                                  <p:childTnLst>
                                    <p:set>
                                      <p:cBhvr>
                                        <p:cTn id="159" dur="400" fill="hold"/>
                                        <p:tgtEl>
                                          <p:spTgt spid="27"/>
                                        </p:tgtEl>
                                        <p:attrNameLst>
                                          <p:attrName>style.opacity</p:attrName>
                                        </p:attrNameLst>
                                      </p:cBhvr>
                                      <p:to>
                                        <p:strVal val="1"/>
                                      </p:to>
                                    </p:set>
                                    <p:animEffect filter="image" prLst="opacity: 1">
                                      <p:cBhvr rctx="IE">
                                        <p:cTn id="160" dur="400" fill="hold"/>
                                        <p:tgtEl>
                                          <p:spTgt spid="27"/>
                                        </p:tgtEl>
                                      </p:cBhvr>
                                    </p:animEffect>
                                  </p:childTnLst>
                                </p:cTn>
                              </p:par>
                              <p:par>
                                <p:cTn id="161" presetID="9" presetClass="emph" presetSubtype="0" fill="hold" grpId="0" nodeType="withEffect">
                                  <p:stCondLst>
                                    <p:cond delay="0"/>
                                  </p:stCondLst>
                                  <p:childTnLst>
                                    <p:set>
                                      <p:cBhvr>
                                        <p:cTn id="162" dur="400" fill="hold"/>
                                        <p:tgtEl>
                                          <p:spTgt spid="28"/>
                                        </p:tgtEl>
                                        <p:attrNameLst>
                                          <p:attrName>style.opacity</p:attrName>
                                        </p:attrNameLst>
                                      </p:cBhvr>
                                      <p:to>
                                        <p:strVal val="1"/>
                                      </p:to>
                                    </p:set>
                                    <p:animEffect filter="image" prLst="opacity: 1">
                                      <p:cBhvr rctx="IE">
                                        <p:cTn id="163" dur="400" fill="hold"/>
                                        <p:tgtEl>
                                          <p:spTgt spid="28"/>
                                        </p:tgtEl>
                                      </p:cBhvr>
                                    </p:animEffect>
                                  </p:childTnLst>
                                </p:cTn>
                              </p:par>
                              <p:par>
                                <p:cTn id="164" presetID="9" presetClass="emph" presetSubtype="0" fill="hold" grpId="0" nodeType="withEffect">
                                  <p:stCondLst>
                                    <p:cond delay="0"/>
                                  </p:stCondLst>
                                  <p:childTnLst>
                                    <p:set>
                                      <p:cBhvr>
                                        <p:cTn id="165" dur="400" fill="hold"/>
                                        <p:tgtEl>
                                          <p:spTgt spid="29"/>
                                        </p:tgtEl>
                                        <p:attrNameLst>
                                          <p:attrName>style.opacity</p:attrName>
                                        </p:attrNameLst>
                                      </p:cBhvr>
                                      <p:to>
                                        <p:strVal val="1"/>
                                      </p:to>
                                    </p:set>
                                    <p:animEffect filter="image" prLst="opacity: 1">
                                      <p:cBhvr rctx="IE">
                                        <p:cTn id="166" dur="400" fill="hold"/>
                                        <p:tgtEl>
                                          <p:spTgt spid="29"/>
                                        </p:tgtEl>
                                      </p:cBhvr>
                                    </p:animEffect>
                                  </p:childTnLst>
                                </p:cTn>
                              </p:par>
                              <p:par>
                                <p:cTn id="167" presetID="9" presetClass="emph" presetSubtype="0" fill="hold" grpId="0" nodeType="withEffect">
                                  <p:stCondLst>
                                    <p:cond delay="0"/>
                                  </p:stCondLst>
                                  <p:childTnLst>
                                    <p:set>
                                      <p:cBhvr>
                                        <p:cTn id="168" dur="400" fill="hold"/>
                                        <p:tgtEl>
                                          <p:spTgt spid="30"/>
                                        </p:tgtEl>
                                        <p:attrNameLst>
                                          <p:attrName>style.opacity</p:attrName>
                                        </p:attrNameLst>
                                      </p:cBhvr>
                                      <p:to>
                                        <p:strVal val="1"/>
                                      </p:to>
                                    </p:set>
                                    <p:animEffect filter="image" prLst="opacity: 1">
                                      <p:cBhvr rctx="IE">
                                        <p:cTn id="169" dur="400" fill="hold"/>
                                        <p:tgtEl>
                                          <p:spTgt spid="30"/>
                                        </p:tgtEl>
                                      </p:cBhvr>
                                    </p:animEffect>
                                  </p:childTnLst>
                                </p:cTn>
                              </p:par>
                              <p:par>
                                <p:cTn id="170" presetID="9" presetClass="emph" presetSubtype="0" fill="hold" grpId="0" nodeType="withEffect">
                                  <p:stCondLst>
                                    <p:cond delay="0"/>
                                  </p:stCondLst>
                                  <p:childTnLst>
                                    <p:set>
                                      <p:cBhvr>
                                        <p:cTn id="171" dur="400" fill="hold"/>
                                        <p:tgtEl>
                                          <p:spTgt spid="31"/>
                                        </p:tgtEl>
                                        <p:attrNameLst>
                                          <p:attrName>style.opacity</p:attrName>
                                        </p:attrNameLst>
                                      </p:cBhvr>
                                      <p:to>
                                        <p:strVal val="1"/>
                                      </p:to>
                                    </p:set>
                                    <p:animEffect filter="image" prLst="opacity: 1">
                                      <p:cBhvr rctx="IE">
                                        <p:cTn id="172" dur="400" fill="hold"/>
                                        <p:tgtEl>
                                          <p:spTgt spid="31"/>
                                        </p:tgtEl>
                                      </p:cBhvr>
                                    </p:animEffect>
                                  </p:childTnLst>
                                </p:cTn>
                              </p:par>
                              <p:par>
                                <p:cTn id="173" presetID="9" presetClass="emph" presetSubtype="0" fill="hold" grpId="0" nodeType="withEffect">
                                  <p:stCondLst>
                                    <p:cond delay="0"/>
                                  </p:stCondLst>
                                  <p:childTnLst>
                                    <p:set>
                                      <p:cBhvr>
                                        <p:cTn id="174" dur="400" fill="hold"/>
                                        <p:tgtEl>
                                          <p:spTgt spid="32"/>
                                        </p:tgtEl>
                                        <p:attrNameLst>
                                          <p:attrName>style.opacity</p:attrName>
                                        </p:attrNameLst>
                                      </p:cBhvr>
                                      <p:to>
                                        <p:strVal val="1"/>
                                      </p:to>
                                    </p:set>
                                    <p:animEffect filter="image" prLst="opacity: 1">
                                      <p:cBhvr rctx="IE">
                                        <p:cTn id="175" dur="400" fill="hold"/>
                                        <p:tgtEl>
                                          <p:spTgt spid="32"/>
                                        </p:tgtEl>
                                      </p:cBhvr>
                                    </p:animEffect>
                                  </p:childTnLst>
                                </p:cTn>
                              </p:par>
                              <p:par>
                                <p:cTn id="176" presetID="9" presetClass="emph" presetSubtype="0" fill="hold" grpId="0" nodeType="withEffect">
                                  <p:stCondLst>
                                    <p:cond delay="0"/>
                                  </p:stCondLst>
                                  <p:childTnLst>
                                    <p:set>
                                      <p:cBhvr>
                                        <p:cTn id="177" dur="400" fill="hold"/>
                                        <p:tgtEl>
                                          <p:spTgt spid="33"/>
                                        </p:tgtEl>
                                        <p:attrNameLst>
                                          <p:attrName>style.opacity</p:attrName>
                                        </p:attrNameLst>
                                      </p:cBhvr>
                                      <p:to>
                                        <p:strVal val="1"/>
                                      </p:to>
                                    </p:set>
                                    <p:animEffect filter="image" prLst="opacity: 1">
                                      <p:cBhvr rctx="IE">
                                        <p:cTn id="178" dur="400" fill="hold"/>
                                        <p:tgtEl>
                                          <p:spTgt spid="33"/>
                                        </p:tgtEl>
                                      </p:cBhvr>
                                    </p:animEffect>
                                  </p:childTnLst>
                                </p:cTn>
                              </p:par>
                              <p:par>
                                <p:cTn id="179" presetID="9" presetClass="emph" presetSubtype="0" fill="hold" grpId="0" nodeType="withEffect">
                                  <p:stCondLst>
                                    <p:cond delay="0"/>
                                  </p:stCondLst>
                                  <p:childTnLst>
                                    <p:set>
                                      <p:cBhvr>
                                        <p:cTn id="180" dur="400" fill="hold"/>
                                        <p:tgtEl>
                                          <p:spTgt spid="20"/>
                                        </p:tgtEl>
                                        <p:attrNameLst>
                                          <p:attrName>style.opacity</p:attrName>
                                        </p:attrNameLst>
                                      </p:cBhvr>
                                      <p:to>
                                        <p:strVal val="0.25"/>
                                      </p:to>
                                    </p:set>
                                    <p:animEffect filter="image" prLst="opacity: 0.25">
                                      <p:cBhvr rctx="IE">
                                        <p:cTn id="181" dur="400" fill="hold"/>
                                        <p:tgtEl>
                                          <p:spTgt spid="20"/>
                                        </p:tgtEl>
                                      </p:cBhvr>
                                    </p:animEffect>
                                  </p:childTnLst>
                                </p:cTn>
                              </p:par>
                              <p:par>
                                <p:cTn id="182" presetID="9" presetClass="emph" presetSubtype="0" fill="hold" grpId="0" nodeType="withEffect">
                                  <p:stCondLst>
                                    <p:cond delay="0"/>
                                  </p:stCondLst>
                                  <p:childTnLst>
                                    <p:set>
                                      <p:cBhvr>
                                        <p:cTn id="183" dur="400" fill="hold"/>
                                        <p:tgtEl>
                                          <p:spTgt spid="21"/>
                                        </p:tgtEl>
                                        <p:attrNameLst>
                                          <p:attrName>style.opacity</p:attrName>
                                        </p:attrNameLst>
                                      </p:cBhvr>
                                      <p:to>
                                        <p:strVal val="0.25"/>
                                      </p:to>
                                    </p:set>
                                    <p:animEffect filter="image" prLst="opacity: 0.25">
                                      <p:cBhvr rctx="IE">
                                        <p:cTn id="184" dur="400" fill="hold"/>
                                        <p:tgtEl>
                                          <p:spTgt spid="21"/>
                                        </p:tgtEl>
                                      </p:cBhvr>
                                    </p:animEffect>
                                  </p:childTnLst>
                                </p:cTn>
                              </p:par>
                              <p:par>
                                <p:cTn id="185" presetID="9" presetClass="emph" presetSubtype="0" fill="hold" grpId="0" nodeType="withEffect">
                                  <p:stCondLst>
                                    <p:cond delay="0"/>
                                  </p:stCondLst>
                                  <p:childTnLst>
                                    <p:set>
                                      <p:cBhvr>
                                        <p:cTn id="186" dur="400" fill="hold"/>
                                        <p:tgtEl>
                                          <p:spTgt spid="22"/>
                                        </p:tgtEl>
                                        <p:attrNameLst>
                                          <p:attrName>style.opacity</p:attrName>
                                        </p:attrNameLst>
                                      </p:cBhvr>
                                      <p:to>
                                        <p:strVal val="0.25"/>
                                      </p:to>
                                    </p:set>
                                    <p:animEffect filter="image" prLst="opacity: 0.25">
                                      <p:cBhvr rctx="IE">
                                        <p:cTn id="187" dur="400" fill="hold"/>
                                        <p:tgtEl>
                                          <p:spTgt spid="22"/>
                                        </p:tgtEl>
                                      </p:cBhvr>
                                    </p:animEffect>
                                  </p:childTnLst>
                                </p:cTn>
                              </p:par>
                              <p:par>
                                <p:cTn id="188" presetID="9" presetClass="emph" presetSubtype="0" fill="hold" grpId="0" nodeType="withEffect">
                                  <p:stCondLst>
                                    <p:cond delay="0"/>
                                  </p:stCondLst>
                                  <p:childTnLst>
                                    <p:set>
                                      <p:cBhvr>
                                        <p:cTn id="189" dur="400" fill="hold"/>
                                        <p:tgtEl>
                                          <p:spTgt spid="23"/>
                                        </p:tgtEl>
                                        <p:attrNameLst>
                                          <p:attrName>style.opacity</p:attrName>
                                        </p:attrNameLst>
                                      </p:cBhvr>
                                      <p:to>
                                        <p:strVal val="0.25"/>
                                      </p:to>
                                    </p:set>
                                    <p:animEffect filter="image" prLst="opacity: 0.25">
                                      <p:cBhvr rctx="IE">
                                        <p:cTn id="190" dur="400" fill="hold"/>
                                        <p:tgtEl>
                                          <p:spTgt spid="23"/>
                                        </p:tgtEl>
                                      </p:cBhvr>
                                    </p:animEffect>
                                  </p:childTnLst>
                                </p:cTn>
                              </p:par>
                              <p:par>
                                <p:cTn id="191" presetID="9" presetClass="emph" presetSubtype="0" fill="hold" grpId="0" nodeType="withEffect">
                                  <p:stCondLst>
                                    <p:cond delay="0"/>
                                  </p:stCondLst>
                                  <p:childTnLst>
                                    <p:set>
                                      <p:cBhvr>
                                        <p:cTn id="192" dur="400" fill="hold"/>
                                        <p:tgtEl>
                                          <p:spTgt spid="24"/>
                                        </p:tgtEl>
                                        <p:attrNameLst>
                                          <p:attrName>style.opacity</p:attrName>
                                        </p:attrNameLst>
                                      </p:cBhvr>
                                      <p:to>
                                        <p:strVal val="0.25"/>
                                      </p:to>
                                    </p:set>
                                    <p:animEffect filter="image" prLst="opacity: 0.25">
                                      <p:cBhvr rctx="IE">
                                        <p:cTn id="193" dur="400" fill="hold"/>
                                        <p:tgtEl>
                                          <p:spTgt spid="24"/>
                                        </p:tgtEl>
                                      </p:cBhvr>
                                    </p:animEffect>
                                  </p:childTnLst>
                                </p:cTn>
                              </p:par>
                              <p:par>
                                <p:cTn id="194" presetID="9" presetClass="emph" presetSubtype="0" fill="hold" grpId="0" nodeType="withEffect">
                                  <p:stCondLst>
                                    <p:cond delay="0"/>
                                  </p:stCondLst>
                                  <p:childTnLst>
                                    <p:set>
                                      <p:cBhvr>
                                        <p:cTn id="195" dur="400" fill="hold"/>
                                        <p:tgtEl>
                                          <p:spTgt spid="25"/>
                                        </p:tgtEl>
                                        <p:attrNameLst>
                                          <p:attrName>style.opacity</p:attrName>
                                        </p:attrNameLst>
                                      </p:cBhvr>
                                      <p:to>
                                        <p:strVal val="0.25"/>
                                      </p:to>
                                    </p:set>
                                    <p:animEffect filter="image" prLst="opacity: 0.25">
                                      <p:cBhvr rctx="IE">
                                        <p:cTn id="196" dur="400" fill="hold"/>
                                        <p:tgtEl>
                                          <p:spTgt spid="25"/>
                                        </p:tgtEl>
                                      </p:cBhvr>
                                    </p:animEffect>
                                  </p:childTnLst>
                                </p:cTn>
                              </p:par>
                              <p:par>
                                <p:cTn id="197" presetID="9" presetClass="emph" presetSubtype="0" fill="hold" grpId="0" nodeType="withEffect">
                                  <p:stCondLst>
                                    <p:cond delay="0"/>
                                  </p:stCondLst>
                                  <p:childTnLst>
                                    <p:set>
                                      <p:cBhvr>
                                        <p:cTn id="198" dur="400" fill="hold"/>
                                        <p:tgtEl>
                                          <p:spTgt spid="26"/>
                                        </p:tgtEl>
                                        <p:attrNameLst>
                                          <p:attrName>style.opacity</p:attrName>
                                        </p:attrNameLst>
                                      </p:cBhvr>
                                      <p:to>
                                        <p:strVal val="0.25"/>
                                      </p:to>
                                    </p:set>
                                    <p:animEffect filter="image" prLst="opacity: 0.25">
                                      <p:cBhvr rctx="IE">
                                        <p:cTn id="199" dur="40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5" name="Shape 2"/>
          <p:cNvSpPr/>
          <p:nvPr/>
        </p:nvSpPr>
        <p:spPr>
          <a:xfrm>
            <a:off x="0" y="0"/>
            <a:ext cx="256032" cy="6858000"/>
          </a:xfrm>
          <a:prstGeom prst="rect">
            <a:avLst/>
          </a:prstGeom>
          <a:solidFill>
            <a:srgbClr val="17875A"/>
          </a:solidFill>
          <a:ln/>
        </p:spPr>
        <p:txBody>
          <a:bodyPr/>
          <a:lstStyle/>
          <a:p>
            <a:endParaRPr lang="en-US"/>
          </a:p>
        </p:txBody>
      </p:sp>
      <p:sp>
        <p:nvSpPr>
          <p:cNvPr id="6" name="Shape 3"/>
          <p:cNvSpPr/>
          <p:nvPr/>
        </p:nvSpPr>
        <p:spPr>
          <a:xfrm>
            <a:off x="640080" y="685800"/>
            <a:ext cx="1188720" cy="1188720"/>
          </a:xfrm>
          <a:prstGeom prst="ellipse">
            <a:avLst/>
          </a:prstGeom>
          <a:solidFill>
            <a:srgbClr val="17875A"/>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1</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1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The file system</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Everything is a </a:t>
            </a:r>
            <a:r>
              <a:rPr lang="en-US" sz="2500" b="1" dirty="0">
                <a:solidFill>
                  <a:srgbClr val="12213A"/>
                </a:solidFill>
                <a:latin typeface="Calibri" pitchFamily="34" charset="0"/>
                <a:ea typeface="Calibri" pitchFamily="34" charset="-122"/>
                <a:cs typeface="Calibri" pitchFamily="34" charset="-120"/>
              </a:rPr>
              <a:t>file</a:t>
            </a:r>
            <a:r>
              <a:rPr lang="en-US" sz="2500" dirty="0">
                <a:solidFill>
                  <a:srgbClr val="12213A"/>
                </a:solidFill>
                <a:latin typeface="Calibri" pitchFamily="34" charset="0"/>
                <a:ea typeface="Calibri" pitchFamily="34" charset="-122"/>
                <a:cs typeface="Calibri" pitchFamily="34" charset="-120"/>
              </a:rPr>
              <a:t> or a </a:t>
            </a:r>
            <a:r>
              <a:rPr lang="en-US" sz="2500" b="1" dirty="0">
                <a:solidFill>
                  <a:srgbClr val="12213A"/>
                </a:solidFill>
                <a:latin typeface="Calibri" pitchFamily="34" charset="0"/>
                <a:ea typeface="Calibri" pitchFamily="34" charset="-122"/>
                <a:cs typeface="Calibri" pitchFamily="34" charset="-120"/>
              </a:rPr>
              <a:t>folder</a:t>
            </a:r>
            <a:r>
              <a:rPr lang="en-US" sz="2500" dirty="0">
                <a:solidFill>
                  <a:srgbClr val="12213A"/>
                </a:solidFill>
                <a:latin typeface="Calibri" pitchFamily="34" charset="0"/>
                <a:ea typeface="Calibri" pitchFamily="34" charset="-122"/>
                <a:cs typeface="Calibri" pitchFamily="34" charset="-120"/>
              </a:rPr>
              <a:t>. You point at them with a </a:t>
            </a:r>
            <a:r>
              <a:rPr lang="en-US" sz="2500" b="1" dirty="0">
                <a:solidFill>
                  <a:srgbClr val="12213A"/>
                </a:solidFill>
                <a:latin typeface="Calibri" pitchFamily="34" charset="0"/>
                <a:ea typeface="Calibri" pitchFamily="34" charset="-122"/>
                <a:cs typeface="Calibri" pitchFamily="34" charset="-120"/>
              </a:rPr>
              <a:t>path</a:t>
            </a:r>
            <a:r>
              <a:rPr lang="en-US" sz="2500" dirty="0">
                <a:solidFill>
                  <a:srgbClr val="12213A"/>
                </a:solidFill>
                <a:latin typeface="Calibri" pitchFamily="34" charset="0"/>
                <a:ea typeface="Calibri" pitchFamily="34" charset="-122"/>
                <a:cs typeface="Calibri" pitchFamily="34" charset="-120"/>
              </a:rPr>
              <a:t>, then move to them or look inside them.</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Point</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  ~  .  ..</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 path is the address of a file or folder.</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Move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pwd  cd</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Find out where you are, and go somewhere else.</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Look</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cat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ls looks inside folders. cat looks inside files.</a:t>
            </a:r>
            <a:endParaRPr lang="en-US" sz="14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Files and folders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508760"/>
            <a:ext cx="5394960" cy="2057400"/>
          </a:xfrm>
          <a:prstGeom prst="roundRect">
            <a:avLst>
              <a:gd name="adj" fmla="val 4444"/>
            </a:avLst>
          </a:prstGeom>
          <a:solidFill>
            <a:srgbClr val="F1F5FB"/>
          </a:solidFill>
          <a:ln/>
        </p:spPr>
        <p:txBody>
          <a:bodyPr/>
          <a:lstStyle/>
          <a:p>
            <a:endParaRPr lang="en-US"/>
          </a:p>
        </p:txBody>
      </p:sp>
      <p:sp>
        <p:nvSpPr>
          <p:cNvPr id="11" name="Shape 8"/>
          <p:cNvSpPr/>
          <p:nvPr/>
        </p:nvSpPr>
        <p:spPr>
          <a:xfrm>
            <a:off x="548640" y="1508760"/>
            <a:ext cx="109728" cy="2057400"/>
          </a:xfrm>
          <a:prstGeom prst="rect">
            <a:avLst/>
          </a:prstGeom>
          <a:solidFill>
            <a:srgbClr val="2459D8"/>
          </a:solidFill>
          <a:ln/>
        </p:spPr>
        <p:txBody>
          <a:bodyPr/>
          <a:lstStyle/>
          <a:p>
            <a:endParaRPr lang="en-US"/>
          </a:p>
        </p:txBody>
      </p:sp>
      <p:sp>
        <p:nvSpPr>
          <p:cNvPr id="12" name="Text 9"/>
          <p:cNvSpPr txBox="1"/>
          <p:nvPr/>
        </p:nvSpPr>
        <p:spPr>
          <a:xfrm>
            <a:off x="868680" y="164592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Folder</a:t>
            </a:r>
            <a:r>
              <a:rPr lang="en-US" sz="1400" dirty="0">
                <a:solidFill>
                  <a:srgbClr val="56657E"/>
                </a:solidFill>
                <a:latin typeface="Arial" pitchFamily="34" charset="0"/>
                <a:ea typeface="Arial" pitchFamily="34" charset="-122"/>
                <a:cs typeface="Arial" pitchFamily="34" charset="-120"/>
              </a:rPr>
              <a:t>   a.k.a. directory</a:t>
            </a:r>
            <a:endParaRPr lang="en-US" sz="1600" dirty="0"/>
          </a:p>
        </p:txBody>
      </p:sp>
      <p:sp>
        <p:nvSpPr>
          <p:cNvPr id="13" name="Text 10"/>
          <p:cNvSpPr txBox="1"/>
          <p:nvPr/>
        </p:nvSpPr>
        <p:spPr>
          <a:xfrm>
            <a:off x="868680" y="219456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files and other folders. Look inside with ls. Step into it with cd.</a:t>
            </a:r>
            <a:endParaRPr lang="en-US" sz="1600" dirty="0"/>
          </a:p>
        </p:txBody>
      </p:sp>
      <p:sp>
        <p:nvSpPr>
          <p:cNvPr id="14" name="Text 11"/>
          <p:cNvSpPr txBox="1"/>
          <p:nvPr/>
        </p:nvSpPr>
        <p:spPr>
          <a:xfrm>
            <a:off x="868680" y="2971800"/>
            <a:ext cx="4937760" cy="41148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ls shows it in blue  ·  ls -l starts with d</a:t>
            </a:r>
            <a:endParaRPr lang="en-US" sz="1250" dirty="0"/>
          </a:p>
        </p:txBody>
      </p:sp>
      <p:sp>
        <p:nvSpPr>
          <p:cNvPr id="15" name="Shape 12"/>
          <p:cNvSpPr/>
          <p:nvPr/>
        </p:nvSpPr>
        <p:spPr>
          <a:xfrm>
            <a:off x="548640" y="3749040"/>
            <a:ext cx="5394960" cy="2057400"/>
          </a:xfrm>
          <a:prstGeom prst="roundRect">
            <a:avLst>
              <a:gd name="adj" fmla="val 4444"/>
            </a:avLst>
          </a:prstGeom>
          <a:solidFill>
            <a:srgbClr val="F1F5FB"/>
          </a:solidFill>
          <a:ln/>
        </p:spPr>
        <p:txBody>
          <a:bodyPr/>
          <a:lstStyle/>
          <a:p>
            <a:endParaRPr lang="en-US"/>
          </a:p>
        </p:txBody>
      </p:sp>
      <p:sp>
        <p:nvSpPr>
          <p:cNvPr id="16" name="Shape 13"/>
          <p:cNvSpPr/>
          <p:nvPr/>
        </p:nvSpPr>
        <p:spPr>
          <a:xfrm>
            <a:off x="548640" y="3749040"/>
            <a:ext cx="109728" cy="2057400"/>
          </a:xfrm>
          <a:prstGeom prst="rect">
            <a:avLst/>
          </a:prstGeom>
          <a:solidFill>
            <a:srgbClr val="D1416B"/>
          </a:solidFill>
          <a:ln/>
        </p:spPr>
        <p:txBody>
          <a:bodyPr/>
          <a:lstStyle/>
          <a:p>
            <a:endParaRPr lang="en-US"/>
          </a:p>
        </p:txBody>
      </p:sp>
      <p:sp>
        <p:nvSpPr>
          <p:cNvPr id="17" name="Text 14"/>
          <p:cNvSpPr txBox="1"/>
          <p:nvPr/>
        </p:nvSpPr>
        <p:spPr>
          <a:xfrm>
            <a:off x="868680" y="388620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File</a:t>
            </a:r>
            <a:endParaRPr lang="en-US" sz="1600" dirty="0"/>
          </a:p>
        </p:txBody>
      </p:sp>
      <p:sp>
        <p:nvSpPr>
          <p:cNvPr id="18" name="Text 15"/>
          <p:cNvSpPr txBox="1"/>
          <p:nvPr/>
        </p:nvSpPr>
        <p:spPr>
          <a:xfrm>
            <a:off x="868680" y="443484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data: text, a picture, a program. Look inside with cat. You can't cd into it.</a:t>
            </a:r>
            <a:endParaRPr lang="en-US" sz="1600" dirty="0"/>
          </a:p>
        </p:txBody>
      </p:sp>
      <p:sp>
        <p:nvSpPr>
          <p:cNvPr id="19" name="Text 16"/>
          <p:cNvSpPr txBox="1"/>
          <p:nvPr/>
        </p:nvSpPr>
        <p:spPr>
          <a:xfrm>
            <a:off x="868680" y="5212080"/>
            <a:ext cx="4937760" cy="411480"/>
          </a:xfrm>
          <a:prstGeom prst="rect">
            <a:avLst/>
          </a:prstGeom>
          <a:noFill/>
          <a:ln/>
        </p:spPr>
        <p:txBody>
          <a:bodyPr wrap="square" lIns="0" tIns="0" rIns="0" bIns="0" rtlCol="0" anchor="t"/>
          <a:lstStyle/>
          <a:p>
            <a:pPr marL="0" indent="0">
              <a:buNone/>
            </a:pPr>
            <a:r>
              <a:rPr lang="en-US" sz="1250" b="1" dirty="0">
                <a:solidFill>
                  <a:srgbClr val="D1416B"/>
                </a:solidFill>
                <a:latin typeface="Courier New" pitchFamily="34" charset="0"/>
                <a:ea typeface="Courier New" pitchFamily="34" charset="-122"/>
                <a:cs typeface="Courier New" pitchFamily="34" charset="-120"/>
              </a:rPr>
              <a:t>ls shows it in white  ·  ls -l starts with -</a:t>
            </a:r>
            <a:endParaRPr lang="en-US" sz="1250" dirty="0"/>
          </a:p>
        </p:txBody>
      </p:sp>
      <p:sp>
        <p:nvSpPr>
          <p:cNvPr id="20" name="Shape 17"/>
          <p:cNvSpPr/>
          <p:nvPr/>
        </p:nvSpPr>
        <p:spPr>
          <a:xfrm>
            <a:off x="5074920" y="1645920"/>
            <a:ext cx="640080" cy="640080"/>
          </a:xfrm>
          <a:prstGeom prst="ellipse">
            <a:avLst/>
          </a:prstGeom>
          <a:solidFill>
            <a:srgbClr val="2459D8"/>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5234940" y="1805940"/>
            <a:ext cx="320040" cy="320040"/>
          </a:xfrm>
          <a:prstGeom prst="rect">
            <a:avLst/>
          </a:prstGeom>
        </p:spPr>
      </p:pic>
      <p:sp>
        <p:nvSpPr>
          <p:cNvPr id="22" name="Shape 18"/>
          <p:cNvSpPr/>
          <p:nvPr/>
        </p:nvSpPr>
        <p:spPr>
          <a:xfrm>
            <a:off x="5074920" y="3886200"/>
            <a:ext cx="640080" cy="640080"/>
          </a:xfrm>
          <a:prstGeom prst="ellipse">
            <a:avLst/>
          </a:prstGeom>
          <a:solidFill>
            <a:srgbClr val="D1416B"/>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5234940" y="4046220"/>
            <a:ext cx="320040" cy="320040"/>
          </a:xfrm>
          <a:prstGeom prst="rect">
            <a:avLst/>
          </a:prstGeom>
        </p:spPr>
      </p:pic>
      <p:sp>
        <p:nvSpPr>
          <p:cNvPr id="24" name="Shape 19"/>
          <p:cNvSpPr/>
          <p:nvPr/>
        </p:nvSpPr>
        <p:spPr>
          <a:xfrm>
            <a:off x="6263640" y="1463040"/>
            <a:ext cx="537667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0"/>
          <p:cNvSpPr/>
          <p:nvPr/>
        </p:nvSpPr>
        <p:spPr>
          <a:xfrm>
            <a:off x="6464808" y="1618488"/>
            <a:ext cx="118872" cy="118872"/>
          </a:xfrm>
          <a:prstGeom prst="ellipse">
            <a:avLst/>
          </a:prstGeom>
          <a:solidFill>
            <a:srgbClr val="E5534B"/>
          </a:solidFill>
          <a:ln/>
        </p:spPr>
        <p:txBody>
          <a:bodyPr/>
          <a:lstStyle/>
          <a:p>
            <a:endParaRPr lang="en-US"/>
          </a:p>
        </p:txBody>
      </p:sp>
      <p:sp>
        <p:nvSpPr>
          <p:cNvPr id="26" name="Shape 21"/>
          <p:cNvSpPr/>
          <p:nvPr/>
        </p:nvSpPr>
        <p:spPr>
          <a:xfrm>
            <a:off x="6665976" y="1618488"/>
            <a:ext cx="118872" cy="118872"/>
          </a:xfrm>
          <a:prstGeom prst="ellipse">
            <a:avLst/>
          </a:prstGeom>
          <a:solidFill>
            <a:srgbClr val="F5A623"/>
          </a:solidFill>
          <a:ln/>
        </p:spPr>
        <p:txBody>
          <a:bodyPr/>
          <a:lstStyle/>
          <a:p>
            <a:endParaRPr lang="en-US"/>
          </a:p>
        </p:txBody>
      </p:sp>
      <p:sp>
        <p:nvSpPr>
          <p:cNvPr id="27" name="Shape 22"/>
          <p:cNvSpPr/>
          <p:nvPr/>
        </p:nvSpPr>
        <p:spPr>
          <a:xfrm>
            <a:off x="6867144" y="1618488"/>
            <a:ext cx="118872" cy="118872"/>
          </a:xfrm>
          <a:prstGeom prst="ellipse">
            <a:avLst/>
          </a:prstGeom>
          <a:solidFill>
            <a:srgbClr val="46D39A"/>
          </a:solidFill>
          <a:ln/>
        </p:spPr>
        <p:txBody>
          <a:bodyPr/>
          <a:lstStyle/>
          <a:p>
            <a:endParaRPr lang="en-US"/>
          </a:p>
        </p:txBody>
      </p:sp>
      <p:sp>
        <p:nvSpPr>
          <p:cNvPr id="28" name="Text 23"/>
          <p:cNvSpPr txBox="1"/>
          <p:nvPr/>
        </p:nvSpPr>
        <p:spPr>
          <a:xfrm>
            <a:off x="6537960" y="1920240"/>
            <a:ext cx="4828032" cy="384048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mission1  mission2  ...  mission10</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drwxr-xr-x  2 player ... mission1</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d at the start: a directory (folder)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root  ...  /etc/passwd</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 = a plain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-sh: cd: can't cd to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Not a directory</a:t>
            </a:r>
            <a:endParaRPr lang="en-US" sz="14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Pointing at things: paths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/home/player   ls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508760"/>
            <a:ext cx="11094415" cy="1143000"/>
          </a:xfrm>
          <a:prstGeom prst="roundRect">
            <a:avLst>
              <a:gd name="adj" fmla="val 8000"/>
            </a:avLst>
          </a:prstGeom>
          <a:solidFill>
            <a:srgbClr val="0E1726"/>
          </a:solidFill>
          <a:ln/>
        </p:spPr>
        <p:txBody>
          <a:bodyPr/>
          <a:lstStyle/>
          <a:p>
            <a:endParaRPr lang="en-US"/>
          </a:p>
        </p:txBody>
      </p:sp>
      <p:sp>
        <p:nvSpPr>
          <p:cNvPr id="11" name="Text 8"/>
          <p:cNvSpPr txBox="1"/>
          <p:nvPr/>
        </p:nvSpPr>
        <p:spPr>
          <a:xfrm>
            <a:off x="548640" y="1508760"/>
            <a:ext cx="11094415" cy="1143000"/>
          </a:xfrm>
          <a:prstGeom prst="rect">
            <a:avLst/>
          </a:prstGeom>
          <a:noFill/>
          <a:ln/>
        </p:spPr>
        <p:txBody>
          <a:bodyPr wrap="square" lIns="0" tIns="0" rIns="0" bIns="0" rtlCol="0" anchor="ctr"/>
          <a:lstStyle/>
          <a:p>
            <a:pPr marL="0" indent="0" algn="ctr">
              <a:buNone/>
            </a:pP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7FB2FF"/>
                </a:solidFill>
                <a:latin typeface="Courier New" pitchFamily="34" charset="0"/>
                <a:ea typeface="Courier New" pitchFamily="34" charset="-122"/>
                <a:cs typeface="Courier New" pitchFamily="34" charset="-120"/>
              </a:rPr>
              <a:t>home</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46D39A"/>
                </a:solidFill>
                <a:latin typeface="Courier New" pitchFamily="34" charset="0"/>
                <a:ea typeface="Courier New" pitchFamily="34" charset="-122"/>
                <a:cs typeface="Courier New" pitchFamily="34" charset="-120"/>
              </a:rPr>
              <a:t>player</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C9A7FF"/>
                </a:solidFill>
                <a:latin typeface="Courier New" pitchFamily="34" charset="0"/>
                <a:ea typeface="Courier New" pitchFamily="34" charset="-122"/>
                <a:cs typeface="Courier New" pitchFamily="34" charset="-120"/>
              </a:rPr>
              <a:t>mission1</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FF8FB1"/>
                </a:solidFill>
                <a:latin typeface="Courier New" pitchFamily="34" charset="0"/>
                <a:ea typeface="Courier New" pitchFamily="34" charset="-122"/>
                <a:cs typeface="Courier New" pitchFamily="34" charset="-120"/>
              </a:rPr>
              <a:t>town</a:t>
            </a:r>
            <a:endParaRPr lang="en-US" sz="3800" dirty="0"/>
          </a:p>
        </p:txBody>
      </p:sp>
      <p:sp>
        <p:nvSpPr>
          <p:cNvPr id="12" name="Text 9"/>
          <p:cNvSpPr txBox="1"/>
          <p:nvPr/>
        </p:nvSpPr>
        <p:spPr>
          <a:xfrm>
            <a:off x="548640" y="2724912"/>
            <a:ext cx="11094415" cy="320040"/>
          </a:xfrm>
          <a:prstGeom prst="rect">
            <a:avLst/>
          </a:prstGeom>
          <a:noFill/>
          <a:ln/>
        </p:spPr>
        <p:txBody>
          <a:bodyPr wrap="square" lIns="0" tIns="0" rIns="0" bIns="0" rtlCol="0" anchor="t"/>
          <a:lstStyle/>
          <a:p>
            <a:pPr marL="0" indent="0" algn="ctr">
              <a:buNone/>
            </a:pPr>
            <a:r>
              <a:rPr lang="en-US" sz="1400" dirty="0">
                <a:solidFill>
                  <a:srgbClr val="56657E"/>
                </a:solidFill>
                <a:latin typeface="Calibri" pitchFamily="34" charset="0"/>
                <a:ea typeface="Calibri" pitchFamily="34" charset="-122"/>
                <a:cs typeface="Calibri" pitchFamily="34" charset="-120"/>
              </a:rPr>
              <a:t>Each name is a folder inside the one before it. The slashes join them.</a:t>
            </a:r>
            <a:endParaRPr lang="en-US" sz="1400" dirty="0"/>
          </a:p>
        </p:txBody>
      </p:sp>
      <p:sp>
        <p:nvSpPr>
          <p:cNvPr id="13" name="Shape 10"/>
          <p:cNvSpPr/>
          <p:nvPr/>
        </p:nvSpPr>
        <p:spPr>
          <a:xfrm>
            <a:off x="548640" y="3200400"/>
            <a:ext cx="2624328" cy="1051560"/>
          </a:xfrm>
          <a:prstGeom prst="roundRect">
            <a:avLst>
              <a:gd name="adj" fmla="val 8696"/>
            </a:avLst>
          </a:prstGeom>
          <a:solidFill>
            <a:srgbClr val="F1F5FB"/>
          </a:solidFill>
          <a:ln/>
        </p:spPr>
        <p:txBody>
          <a:bodyPr/>
          <a:lstStyle/>
          <a:p>
            <a:endParaRPr lang="en-US"/>
          </a:p>
        </p:txBody>
      </p:sp>
      <p:sp>
        <p:nvSpPr>
          <p:cNvPr id="14" name="Text 11"/>
          <p:cNvSpPr txBox="1"/>
          <p:nvPr/>
        </p:nvSpPr>
        <p:spPr>
          <a:xfrm>
            <a:off x="777240" y="3291840"/>
            <a:ext cx="822960" cy="868680"/>
          </a:xfrm>
          <a:prstGeom prst="rect">
            <a:avLst/>
          </a:prstGeom>
          <a:noFill/>
          <a:ln/>
        </p:spPr>
        <p:txBody>
          <a:bodyPr wrap="square" lIns="0" tIns="0" rIns="0" bIns="0" rtlCol="0" anchor="ctr"/>
          <a:lstStyle/>
          <a:p>
            <a:pPr marL="0" indent="0">
              <a:buNone/>
            </a:pPr>
            <a:r>
              <a:rPr lang="en-US" sz="3200" b="1" dirty="0">
                <a:solidFill>
                  <a:srgbClr val="2A9FD6"/>
                </a:solidFill>
                <a:latin typeface="Courier New" pitchFamily="34" charset="0"/>
                <a:ea typeface="Courier New" pitchFamily="34" charset="-122"/>
                <a:cs typeface="Courier New" pitchFamily="34" charset="-120"/>
              </a:rPr>
              <a:t>/</a:t>
            </a:r>
            <a:endParaRPr lang="en-US" sz="3200" dirty="0"/>
          </a:p>
        </p:txBody>
      </p:sp>
      <p:sp>
        <p:nvSpPr>
          <p:cNvPr id="15" name="Text 12"/>
          <p:cNvSpPr txBox="1"/>
          <p:nvPr/>
        </p:nvSpPr>
        <p:spPr>
          <a:xfrm>
            <a:off x="1600200"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the root: top of the tree</a:t>
            </a:r>
            <a:endParaRPr lang="en-US" sz="1450" dirty="0"/>
          </a:p>
        </p:txBody>
      </p:sp>
      <p:sp>
        <p:nvSpPr>
          <p:cNvPr id="16" name="Shape 13"/>
          <p:cNvSpPr/>
          <p:nvPr/>
        </p:nvSpPr>
        <p:spPr>
          <a:xfrm>
            <a:off x="3355848" y="3200400"/>
            <a:ext cx="2624328" cy="1051560"/>
          </a:xfrm>
          <a:prstGeom prst="roundRect">
            <a:avLst>
              <a:gd name="adj" fmla="val 8696"/>
            </a:avLst>
          </a:prstGeom>
          <a:solidFill>
            <a:srgbClr val="F1F5FB"/>
          </a:solidFill>
          <a:ln/>
        </p:spPr>
        <p:txBody>
          <a:bodyPr/>
          <a:lstStyle/>
          <a:p>
            <a:endParaRPr lang="en-US"/>
          </a:p>
        </p:txBody>
      </p:sp>
      <p:sp>
        <p:nvSpPr>
          <p:cNvPr id="17" name="Text 14"/>
          <p:cNvSpPr txBox="1"/>
          <p:nvPr/>
        </p:nvSpPr>
        <p:spPr>
          <a:xfrm>
            <a:off x="3584448" y="3291840"/>
            <a:ext cx="822960" cy="868680"/>
          </a:xfrm>
          <a:prstGeom prst="rect">
            <a:avLst/>
          </a:prstGeom>
          <a:noFill/>
          <a:ln/>
        </p:spPr>
        <p:txBody>
          <a:bodyPr wrap="square" lIns="0" tIns="0" rIns="0" bIns="0" rtlCol="0" anchor="ctr"/>
          <a:lstStyle/>
          <a:p>
            <a:pPr marL="0" indent="0">
              <a:buNone/>
            </a:pPr>
            <a:r>
              <a:rPr lang="en-US" sz="3200" b="1" dirty="0">
                <a:solidFill>
                  <a:srgbClr val="2459D8"/>
                </a:solidFill>
                <a:latin typeface="Courier New" pitchFamily="34" charset="0"/>
                <a:ea typeface="Courier New" pitchFamily="34" charset="-122"/>
                <a:cs typeface="Courier New" pitchFamily="34" charset="-120"/>
              </a:rPr>
              <a:t>~</a:t>
            </a:r>
            <a:endParaRPr lang="en-US" sz="3200" dirty="0"/>
          </a:p>
        </p:txBody>
      </p:sp>
      <p:sp>
        <p:nvSpPr>
          <p:cNvPr id="18" name="Text 15"/>
          <p:cNvSpPr txBox="1"/>
          <p:nvPr/>
        </p:nvSpPr>
        <p:spPr>
          <a:xfrm>
            <a:off x="4407408"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your home: /home/player</a:t>
            </a:r>
            <a:endParaRPr lang="en-US" sz="1450" dirty="0"/>
          </a:p>
        </p:txBody>
      </p:sp>
      <p:sp>
        <p:nvSpPr>
          <p:cNvPr id="19" name="Shape 16"/>
          <p:cNvSpPr/>
          <p:nvPr/>
        </p:nvSpPr>
        <p:spPr>
          <a:xfrm>
            <a:off x="6163056" y="3200400"/>
            <a:ext cx="2624328" cy="1051560"/>
          </a:xfrm>
          <a:prstGeom prst="roundRect">
            <a:avLst>
              <a:gd name="adj" fmla="val 8696"/>
            </a:avLst>
          </a:prstGeom>
          <a:solidFill>
            <a:srgbClr val="F1F5FB"/>
          </a:solidFill>
          <a:ln/>
        </p:spPr>
        <p:txBody>
          <a:bodyPr/>
          <a:lstStyle/>
          <a:p>
            <a:endParaRPr lang="en-US"/>
          </a:p>
        </p:txBody>
      </p:sp>
      <p:sp>
        <p:nvSpPr>
          <p:cNvPr id="20" name="Text 17"/>
          <p:cNvSpPr txBox="1"/>
          <p:nvPr/>
        </p:nvSpPr>
        <p:spPr>
          <a:xfrm>
            <a:off x="6391656" y="3291840"/>
            <a:ext cx="822960" cy="868680"/>
          </a:xfrm>
          <a:prstGeom prst="rect">
            <a:avLst/>
          </a:prstGeom>
          <a:noFill/>
          <a:ln/>
        </p:spPr>
        <p:txBody>
          <a:bodyPr wrap="square" lIns="0" tIns="0" rIns="0" bIns="0" rtlCol="0" anchor="ctr"/>
          <a:lstStyle/>
          <a:p>
            <a:pPr marL="0" indent="0">
              <a:buNone/>
            </a:pPr>
            <a:r>
              <a:rPr lang="en-US" sz="3200" b="1" dirty="0">
                <a:solidFill>
                  <a:srgbClr val="7448D4"/>
                </a:solidFill>
                <a:latin typeface="Courier New" pitchFamily="34" charset="0"/>
                <a:ea typeface="Courier New" pitchFamily="34" charset="-122"/>
                <a:cs typeface="Courier New" pitchFamily="34" charset="-120"/>
              </a:rPr>
              <a:t>.</a:t>
            </a:r>
            <a:endParaRPr lang="en-US" sz="3200" dirty="0"/>
          </a:p>
        </p:txBody>
      </p:sp>
      <p:sp>
        <p:nvSpPr>
          <p:cNvPr id="21" name="Text 18"/>
          <p:cNvSpPr txBox="1"/>
          <p:nvPr/>
        </p:nvSpPr>
        <p:spPr>
          <a:xfrm>
            <a:off x="7214616"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right here</a:t>
            </a:r>
            <a:endParaRPr lang="en-US" sz="1450" dirty="0"/>
          </a:p>
        </p:txBody>
      </p:sp>
      <p:sp>
        <p:nvSpPr>
          <p:cNvPr id="22" name="Shape 19"/>
          <p:cNvSpPr/>
          <p:nvPr/>
        </p:nvSpPr>
        <p:spPr>
          <a:xfrm>
            <a:off x="8970264" y="3200400"/>
            <a:ext cx="2624328" cy="1051560"/>
          </a:xfrm>
          <a:prstGeom prst="roundRect">
            <a:avLst>
              <a:gd name="adj" fmla="val 8696"/>
            </a:avLst>
          </a:prstGeom>
          <a:solidFill>
            <a:srgbClr val="F1F5FB"/>
          </a:solidFill>
          <a:ln/>
        </p:spPr>
        <p:txBody>
          <a:bodyPr/>
          <a:lstStyle/>
          <a:p>
            <a:endParaRPr lang="en-US"/>
          </a:p>
        </p:txBody>
      </p:sp>
      <p:sp>
        <p:nvSpPr>
          <p:cNvPr id="23" name="Text 20"/>
          <p:cNvSpPr txBox="1"/>
          <p:nvPr/>
        </p:nvSpPr>
        <p:spPr>
          <a:xfrm>
            <a:off x="9198864" y="3291840"/>
            <a:ext cx="822960" cy="868680"/>
          </a:xfrm>
          <a:prstGeom prst="rect">
            <a:avLst/>
          </a:prstGeom>
          <a:noFill/>
          <a:ln/>
        </p:spPr>
        <p:txBody>
          <a:bodyPr wrap="square" lIns="0" tIns="0" rIns="0" bIns="0" rtlCol="0" anchor="ctr"/>
          <a:lstStyle/>
          <a:p>
            <a:pPr marL="0" indent="0">
              <a:buNone/>
            </a:pPr>
            <a:r>
              <a:rPr lang="en-US" sz="3200" b="1" dirty="0">
                <a:solidFill>
                  <a:srgbClr val="D1416B"/>
                </a:solidFill>
                <a:latin typeface="Courier New" pitchFamily="34" charset="0"/>
                <a:ea typeface="Courier New" pitchFamily="34" charset="-122"/>
                <a:cs typeface="Courier New" pitchFamily="34" charset="-120"/>
              </a:rPr>
              <a:t>..</a:t>
            </a:r>
            <a:endParaRPr lang="en-US" sz="3200" dirty="0"/>
          </a:p>
        </p:txBody>
      </p:sp>
      <p:sp>
        <p:nvSpPr>
          <p:cNvPr id="24" name="Text 21"/>
          <p:cNvSpPr txBox="1"/>
          <p:nvPr/>
        </p:nvSpPr>
        <p:spPr>
          <a:xfrm>
            <a:off x="10021824"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one level up</a:t>
            </a:r>
            <a:endParaRPr lang="en-US" sz="1450" dirty="0"/>
          </a:p>
        </p:txBody>
      </p:sp>
      <p:sp>
        <p:nvSpPr>
          <p:cNvPr id="25" name="Shape 22"/>
          <p:cNvSpPr/>
          <p:nvPr/>
        </p:nvSpPr>
        <p:spPr>
          <a:xfrm>
            <a:off x="548640" y="4480560"/>
            <a:ext cx="3566160" cy="1417320"/>
          </a:xfrm>
          <a:prstGeom prst="roundRect">
            <a:avLst>
              <a:gd name="adj" fmla="val 6452"/>
            </a:avLst>
          </a:prstGeom>
          <a:solidFill>
            <a:srgbClr val="F1F5FB"/>
          </a:solidFill>
          <a:ln/>
        </p:spPr>
        <p:txBody>
          <a:bodyPr/>
          <a:lstStyle/>
          <a:p>
            <a:endParaRPr lang="en-US"/>
          </a:p>
        </p:txBody>
      </p:sp>
      <p:sp>
        <p:nvSpPr>
          <p:cNvPr id="26" name="Text 23"/>
          <p:cNvSpPr txBox="1"/>
          <p:nvPr/>
        </p:nvSpPr>
        <p:spPr>
          <a:xfrm>
            <a:off x="777240"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Absolute</a:t>
            </a:r>
            <a:endParaRPr lang="en-US" sz="1600" dirty="0"/>
          </a:p>
        </p:txBody>
      </p:sp>
      <p:sp>
        <p:nvSpPr>
          <p:cNvPr id="27" name="Text 24"/>
          <p:cNvSpPr txBox="1"/>
          <p:nvPr/>
        </p:nvSpPr>
        <p:spPr>
          <a:xfrm>
            <a:off x="777240"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/home/player/mission1/town</a:t>
            </a:r>
            <a:endParaRPr lang="en-US" sz="1250" dirty="0"/>
          </a:p>
        </p:txBody>
      </p:sp>
      <p:sp>
        <p:nvSpPr>
          <p:cNvPr id="28" name="Text 25"/>
          <p:cNvSpPr txBox="1"/>
          <p:nvPr/>
        </p:nvSpPr>
        <p:spPr>
          <a:xfrm>
            <a:off x="777240"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29" name="Shape 26"/>
          <p:cNvSpPr/>
          <p:nvPr/>
        </p:nvSpPr>
        <p:spPr>
          <a:xfrm>
            <a:off x="4306824" y="4480560"/>
            <a:ext cx="3566160" cy="1417320"/>
          </a:xfrm>
          <a:prstGeom prst="roundRect">
            <a:avLst>
              <a:gd name="adj" fmla="val 6452"/>
            </a:avLst>
          </a:prstGeom>
          <a:solidFill>
            <a:srgbClr val="F1F5FB"/>
          </a:solidFill>
          <a:ln/>
        </p:spPr>
        <p:txBody>
          <a:bodyPr/>
          <a:lstStyle/>
          <a:p>
            <a:endParaRPr lang="en-US"/>
          </a:p>
        </p:txBody>
      </p:sp>
      <p:sp>
        <p:nvSpPr>
          <p:cNvPr id="30" name="Text 27"/>
          <p:cNvSpPr txBox="1"/>
          <p:nvPr/>
        </p:nvSpPr>
        <p:spPr>
          <a:xfrm>
            <a:off x="4535424"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Relative</a:t>
            </a:r>
            <a:endParaRPr lang="en-US" sz="1600" dirty="0"/>
          </a:p>
        </p:txBody>
      </p:sp>
      <p:sp>
        <p:nvSpPr>
          <p:cNvPr id="31" name="Text 28"/>
          <p:cNvSpPr txBox="1"/>
          <p:nvPr/>
        </p:nvSpPr>
        <p:spPr>
          <a:xfrm>
            <a:off x="4535424"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2" name="Text 29"/>
          <p:cNvSpPr txBox="1"/>
          <p:nvPr/>
        </p:nvSpPr>
        <p:spPr>
          <a:xfrm>
            <a:off x="4535424"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where you are (here: home).</a:t>
            </a:r>
            <a:endParaRPr lang="en-US" sz="1300" dirty="0"/>
          </a:p>
        </p:txBody>
      </p:sp>
      <p:sp>
        <p:nvSpPr>
          <p:cNvPr id="33" name="Shape 30"/>
          <p:cNvSpPr/>
          <p:nvPr/>
        </p:nvSpPr>
        <p:spPr>
          <a:xfrm>
            <a:off x="8065008" y="4480560"/>
            <a:ext cx="3566160" cy="1417320"/>
          </a:xfrm>
          <a:prstGeom prst="roundRect">
            <a:avLst>
              <a:gd name="adj" fmla="val 6452"/>
            </a:avLst>
          </a:prstGeom>
          <a:solidFill>
            <a:srgbClr val="F1F5FB"/>
          </a:solidFill>
          <a:ln/>
        </p:spPr>
        <p:txBody>
          <a:bodyPr/>
          <a:lstStyle/>
          <a:p>
            <a:endParaRPr lang="en-US"/>
          </a:p>
        </p:txBody>
      </p:sp>
      <p:sp>
        <p:nvSpPr>
          <p:cNvPr id="34" name="Text 31"/>
          <p:cNvSpPr txBox="1"/>
          <p:nvPr/>
        </p:nvSpPr>
        <p:spPr>
          <a:xfrm>
            <a:off x="8293608"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From home</a:t>
            </a:r>
            <a:endParaRPr lang="en-US" sz="1600" dirty="0"/>
          </a:p>
        </p:txBody>
      </p:sp>
      <p:sp>
        <p:nvSpPr>
          <p:cNvPr id="35" name="Text 32"/>
          <p:cNvSpPr txBox="1"/>
          <p:nvPr/>
        </p:nvSpPr>
        <p:spPr>
          <a:xfrm>
            <a:off x="8293608"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6" name="Text 33"/>
          <p:cNvSpPr txBox="1"/>
          <p:nvPr/>
        </p:nvSpPr>
        <p:spPr>
          <a:xfrm>
            <a:off x="8293608"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Moving around: pwd and cd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/etc   cd ..   cd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flipH="1">
            <a:off x="1234440" y="1920240"/>
            <a:ext cx="1417320" cy="411480"/>
          </a:xfrm>
          <a:prstGeom prst="line">
            <a:avLst/>
          </a:prstGeom>
          <a:noFill/>
          <a:ln w="19050">
            <a:solidFill>
              <a:srgbClr val="9AA8BF"/>
            </a:solidFill>
            <a:prstDash val="solid"/>
          </a:ln>
        </p:spPr>
        <p:txBody>
          <a:bodyPr/>
          <a:lstStyle/>
          <a:p>
            <a:endParaRPr lang="en-US"/>
          </a:p>
        </p:txBody>
      </p:sp>
      <p:sp>
        <p:nvSpPr>
          <p:cNvPr id="11" name="Shape 8"/>
          <p:cNvSpPr/>
          <p:nvPr/>
        </p:nvSpPr>
        <p:spPr>
          <a:xfrm>
            <a:off x="2651760" y="1920240"/>
            <a:ext cx="0" cy="411480"/>
          </a:xfrm>
          <a:prstGeom prst="line">
            <a:avLst/>
          </a:prstGeom>
          <a:noFill/>
          <a:ln w="19050">
            <a:solidFill>
              <a:srgbClr val="9AA8BF"/>
            </a:solidFill>
            <a:prstDash val="solid"/>
          </a:ln>
        </p:spPr>
        <p:txBody>
          <a:bodyPr/>
          <a:lstStyle/>
          <a:p>
            <a:endParaRPr lang="en-US"/>
          </a:p>
        </p:txBody>
      </p:sp>
      <p:sp>
        <p:nvSpPr>
          <p:cNvPr id="12" name="Shape 9"/>
          <p:cNvSpPr/>
          <p:nvPr/>
        </p:nvSpPr>
        <p:spPr>
          <a:xfrm>
            <a:off x="2651760" y="1920240"/>
            <a:ext cx="1417320" cy="411480"/>
          </a:xfrm>
          <a:prstGeom prst="line">
            <a:avLst/>
          </a:prstGeom>
          <a:noFill/>
          <a:ln w="19050">
            <a:solidFill>
              <a:srgbClr val="9AA8BF"/>
            </a:solidFill>
            <a:prstDash val="solid"/>
          </a:ln>
        </p:spPr>
        <p:txBody>
          <a:bodyPr/>
          <a:lstStyle/>
          <a:p>
            <a:endParaRPr lang="en-US"/>
          </a:p>
        </p:txBody>
      </p:sp>
      <p:sp>
        <p:nvSpPr>
          <p:cNvPr id="13" name="Shape 10"/>
          <p:cNvSpPr/>
          <p:nvPr/>
        </p:nvSpPr>
        <p:spPr>
          <a:xfrm>
            <a:off x="2651760" y="2743200"/>
            <a:ext cx="0" cy="320040"/>
          </a:xfrm>
          <a:prstGeom prst="line">
            <a:avLst/>
          </a:prstGeom>
          <a:noFill/>
          <a:ln w="19050">
            <a:solidFill>
              <a:srgbClr val="9AA8BF"/>
            </a:solidFill>
            <a:prstDash val="solid"/>
          </a:ln>
        </p:spPr>
        <p:txBody>
          <a:bodyPr/>
          <a:lstStyle/>
          <a:p>
            <a:endParaRPr lang="en-US"/>
          </a:p>
        </p:txBody>
      </p:sp>
      <p:sp>
        <p:nvSpPr>
          <p:cNvPr id="14" name="Shape 11"/>
          <p:cNvSpPr/>
          <p:nvPr/>
        </p:nvSpPr>
        <p:spPr>
          <a:xfrm>
            <a:off x="2651760" y="3474720"/>
            <a:ext cx="0" cy="320040"/>
          </a:xfrm>
          <a:prstGeom prst="line">
            <a:avLst/>
          </a:prstGeom>
          <a:noFill/>
          <a:ln w="19050">
            <a:solidFill>
              <a:srgbClr val="9AA8BF"/>
            </a:solidFill>
            <a:prstDash val="solid"/>
          </a:ln>
        </p:spPr>
        <p:txBody>
          <a:bodyPr/>
          <a:lstStyle/>
          <a:p>
            <a:endParaRPr lang="en-US"/>
          </a:p>
        </p:txBody>
      </p:sp>
      <p:sp>
        <p:nvSpPr>
          <p:cNvPr id="15" name="Shape 12"/>
          <p:cNvSpPr/>
          <p:nvPr/>
        </p:nvSpPr>
        <p:spPr>
          <a:xfrm>
            <a:off x="2286000" y="1508760"/>
            <a:ext cx="731520" cy="420624"/>
          </a:xfrm>
          <a:prstGeom prst="roundRect">
            <a:avLst>
              <a:gd name="adj" fmla="val 17391"/>
            </a:avLst>
          </a:prstGeom>
          <a:solidFill>
            <a:srgbClr val="0E1726"/>
          </a:solidFill>
          <a:ln/>
        </p:spPr>
        <p:txBody>
          <a:bodyPr/>
          <a:lstStyle/>
          <a:p>
            <a:endParaRPr lang="en-US"/>
          </a:p>
        </p:txBody>
      </p:sp>
      <p:sp>
        <p:nvSpPr>
          <p:cNvPr id="16" name="Text 13"/>
          <p:cNvSpPr txBox="1"/>
          <p:nvPr/>
        </p:nvSpPr>
        <p:spPr>
          <a:xfrm>
            <a:off x="2286000" y="1508760"/>
            <a:ext cx="73152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7" name="Shape 14"/>
          <p:cNvSpPr/>
          <p:nvPr/>
        </p:nvSpPr>
        <p:spPr>
          <a:xfrm>
            <a:off x="685800" y="2331720"/>
            <a:ext cx="1097280" cy="420624"/>
          </a:xfrm>
          <a:prstGeom prst="roundRect">
            <a:avLst>
              <a:gd name="adj" fmla="val 17391"/>
            </a:avLst>
          </a:prstGeom>
          <a:solidFill>
            <a:srgbClr val="F1F5FB"/>
          </a:solidFill>
          <a:ln/>
        </p:spPr>
        <p:txBody>
          <a:bodyPr/>
          <a:lstStyle/>
          <a:p>
            <a:endParaRPr lang="en-US"/>
          </a:p>
        </p:txBody>
      </p:sp>
      <p:sp>
        <p:nvSpPr>
          <p:cNvPr id="18" name="Text 15"/>
          <p:cNvSpPr txBox="1"/>
          <p:nvPr/>
        </p:nvSpPr>
        <p:spPr>
          <a:xfrm>
            <a:off x="68580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etc</a:t>
            </a:r>
            <a:endParaRPr lang="en-US" sz="1400" dirty="0"/>
          </a:p>
        </p:txBody>
      </p:sp>
      <p:sp>
        <p:nvSpPr>
          <p:cNvPr id="19" name="Shape 16"/>
          <p:cNvSpPr/>
          <p:nvPr/>
        </p:nvSpPr>
        <p:spPr>
          <a:xfrm>
            <a:off x="2103120" y="2331720"/>
            <a:ext cx="1097280" cy="420624"/>
          </a:xfrm>
          <a:prstGeom prst="roundRect">
            <a:avLst>
              <a:gd name="adj" fmla="val 17391"/>
            </a:avLst>
          </a:prstGeom>
          <a:solidFill>
            <a:srgbClr val="F1F5FB"/>
          </a:solidFill>
          <a:ln/>
        </p:spPr>
        <p:txBody>
          <a:bodyPr/>
          <a:lstStyle/>
          <a:p>
            <a:endParaRPr lang="en-US"/>
          </a:p>
        </p:txBody>
      </p:sp>
      <p:sp>
        <p:nvSpPr>
          <p:cNvPr id="20" name="Text 17"/>
          <p:cNvSpPr txBox="1"/>
          <p:nvPr/>
        </p:nvSpPr>
        <p:spPr>
          <a:xfrm>
            <a:off x="210312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home</a:t>
            </a:r>
            <a:endParaRPr lang="en-US" sz="1400" dirty="0"/>
          </a:p>
        </p:txBody>
      </p:sp>
      <p:sp>
        <p:nvSpPr>
          <p:cNvPr id="21" name="Shape 18"/>
          <p:cNvSpPr/>
          <p:nvPr/>
        </p:nvSpPr>
        <p:spPr>
          <a:xfrm>
            <a:off x="3520440" y="2331720"/>
            <a:ext cx="1097280" cy="420624"/>
          </a:xfrm>
          <a:prstGeom prst="roundRect">
            <a:avLst>
              <a:gd name="adj" fmla="val 17391"/>
            </a:avLst>
          </a:prstGeom>
          <a:solidFill>
            <a:srgbClr val="F1F5FB"/>
          </a:solidFill>
          <a:ln/>
        </p:spPr>
        <p:txBody>
          <a:bodyPr/>
          <a:lstStyle/>
          <a:p>
            <a:endParaRPr lang="en-US"/>
          </a:p>
        </p:txBody>
      </p:sp>
      <p:sp>
        <p:nvSpPr>
          <p:cNvPr id="22" name="Text 19"/>
          <p:cNvSpPr txBox="1"/>
          <p:nvPr/>
        </p:nvSpPr>
        <p:spPr>
          <a:xfrm>
            <a:off x="352044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tmp</a:t>
            </a:r>
            <a:endParaRPr lang="en-US" sz="1400" dirty="0"/>
          </a:p>
        </p:txBody>
      </p:sp>
      <p:sp>
        <p:nvSpPr>
          <p:cNvPr id="23" name="Shape 20"/>
          <p:cNvSpPr/>
          <p:nvPr/>
        </p:nvSpPr>
        <p:spPr>
          <a:xfrm>
            <a:off x="1874520" y="3063240"/>
            <a:ext cx="1554480" cy="420624"/>
          </a:xfrm>
          <a:prstGeom prst="roundRect">
            <a:avLst>
              <a:gd name="adj" fmla="val 17391"/>
            </a:avLst>
          </a:prstGeom>
          <a:solidFill>
            <a:srgbClr val="F5A623"/>
          </a:solidFill>
          <a:ln/>
        </p:spPr>
        <p:txBody>
          <a:bodyPr/>
          <a:lstStyle/>
          <a:p>
            <a:endParaRPr lang="en-US"/>
          </a:p>
        </p:txBody>
      </p:sp>
      <p:sp>
        <p:nvSpPr>
          <p:cNvPr id="24" name="Text 21"/>
          <p:cNvSpPr txBox="1"/>
          <p:nvPr/>
        </p:nvSpPr>
        <p:spPr>
          <a:xfrm>
            <a:off x="1874520" y="3063240"/>
            <a:ext cx="15544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player   ~</a:t>
            </a:r>
            <a:endParaRPr lang="en-US" sz="1400" dirty="0"/>
          </a:p>
        </p:txBody>
      </p:sp>
      <p:sp>
        <p:nvSpPr>
          <p:cNvPr id="25" name="Shape 22"/>
          <p:cNvSpPr/>
          <p:nvPr/>
        </p:nvSpPr>
        <p:spPr>
          <a:xfrm>
            <a:off x="1965960" y="3794760"/>
            <a:ext cx="1371600" cy="420624"/>
          </a:xfrm>
          <a:prstGeom prst="roundRect">
            <a:avLst>
              <a:gd name="adj" fmla="val 17391"/>
            </a:avLst>
          </a:prstGeom>
          <a:solidFill>
            <a:srgbClr val="17875A"/>
          </a:solidFill>
          <a:ln/>
        </p:spPr>
        <p:txBody>
          <a:bodyPr/>
          <a:lstStyle/>
          <a:p>
            <a:endParaRPr lang="en-US"/>
          </a:p>
        </p:txBody>
      </p:sp>
      <p:sp>
        <p:nvSpPr>
          <p:cNvPr id="26" name="Text 23"/>
          <p:cNvSpPr txBox="1"/>
          <p:nvPr/>
        </p:nvSpPr>
        <p:spPr>
          <a:xfrm>
            <a:off x="1965960" y="3794760"/>
            <a:ext cx="137160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mission1</a:t>
            </a:r>
            <a:endParaRPr lang="en-US" sz="1400" dirty="0"/>
          </a:p>
        </p:txBody>
      </p:sp>
      <p:sp>
        <p:nvSpPr>
          <p:cNvPr id="27" name="Text 24"/>
          <p:cNvSpPr txBox="1"/>
          <p:nvPr/>
        </p:nvSpPr>
        <p:spPr>
          <a:xfrm>
            <a:off x="2757369" y="3401568"/>
            <a:ext cx="2011680" cy="457200"/>
          </a:xfrm>
          <a:prstGeom prst="rect">
            <a:avLst/>
          </a:prstGeom>
          <a:noFill/>
          <a:ln/>
        </p:spPr>
        <p:txBody>
          <a:bodyPr wrap="square" lIns="0" tIns="0" rIns="0" bIns="0" rtlCol="0" anchor="ctr"/>
          <a:lstStyle/>
          <a:p>
            <a:pPr marL="0" indent="0">
              <a:buNone/>
            </a:pPr>
            <a:r>
              <a:rPr lang="en-US" sz="1100" b="1" dirty="0">
                <a:solidFill>
                  <a:srgbClr val="56657E"/>
                </a:solidFill>
                <a:latin typeface="Courier New" pitchFamily="34" charset="0"/>
                <a:ea typeface="Courier New" pitchFamily="34" charset="-122"/>
                <a:cs typeface="Courier New" pitchFamily="34" charset="-120"/>
              </a:rPr>
              <a:t>↓ cd mission1</a:t>
            </a:r>
            <a:endParaRPr lang="en-US" sz="1100" dirty="0"/>
          </a:p>
          <a:p>
            <a:pPr marL="0" indent="0">
              <a:buNone/>
            </a:pPr>
            <a:r>
              <a:rPr lang="en-US" sz="1100" b="1" dirty="0">
                <a:solidFill>
                  <a:srgbClr val="56657E"/>
                </a:solidFill>
                <a:latin typeface="Courier New" pitchFamily="34" charset="0"/>
                <a:ea typeface="Courier New" pitchFamily="34" charset="-122"/>
                <a:cs typeface="Courier New" pitchFamily="34" charset="-120"/>
              </a:rPr>
              <a:t>↑ cd ..</a:t>
            </a:r>
            <a:endParaRPr lang="en-US" sz="1100" dirty="0"/>
          </a:p>
        </p:txBody>
      </p:sp>
      <p:sp>
        <p:nvSpPr>
          <p:cNvPr id="28" name="Shape 25"/>
          <p:cNvSpPr/>
          <p:nvPr/>
        </p:nvSpPr>
        <p:spPr>
          <a:xfrm>
            <a:off x="548640" y="4673090"/>
            <a:ext cx="1600200" cy="365760"/>
          </a:xfrm>
          <a:prstGeom prst="roundRect">
            <a:avLst>
              <a:gd name="adj" fmla="val 20000"/>
            </a:avLst>
          </a:prstGeom>
          <a:solidFill>
            <a:srgbClr val="0E1726"/>
          </a:solidFill>
          <a:ln/>
        </p:spPr>
        <p:txBody>
          <a:bodyPr/>
          <a:lstStyle/>
          <a:p>
            <a:endParaRPr lang="en-US"/>
          </a:p>
        </p:txBody>
      </p:sp>
      <p:sp>
        <p:nvSpPr>
          <p:cNvPr id="29" name="Text 26"/>
          <p:cNvSpPr txBox="1"/>
          <p:nvPr/>
        </p:nvSpPr>
        <p:spPr>
          <a:xfrm>
            <a:off x="54864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pwd</a:t>
            </a:r>
            <a:endParaRPr lang="en-US" sz="1400" dirty="0"/>
          </a:p>
        </p:txBody>
      </p:sp>
      <p:sp>
        <p:nvSpPr>
          <p:cNvPr id="30" name="Text 27"/>
          <p:cNvSpPr txBox="1"/>
          <p:nvPr/>
        </p:nvSpPr>
        <p:spPr>
          <a:xfrm>
            <a:off x="54864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where am I?</a:t>
            </a:r>
            <a:endParaRPr lang="en-US" sz="1200" dirty="0"/>
          </a:p>
        </p:txBody>
      </p:sp>
      <p:sp>
        <p:nvSpPr>
          <p:cNvPr id="31" name="Shape 28"/>
          <p:cNvSpPr/>
          <p:nvPr/>
        </p:nvSpPr>
        <p:spPr>
          <a:xfrm>
            <a:off x="2286000" y="4673090"/>
            <a:ext cx="1600200" cy="365760"/>
          </a:xfrm>
          <a:prstGeom prst="roundRect">
            <a:avLst>
              <a:gd name="adj" fmla="val 20000"/>
            </a:avLst>
          </a:prstGeom>
          <a:solidFill>
            <a:srgbClr val="0E1726"/>
          </a:solidFill>
          <a:ln/>
        </p:spPr>
        <p:txBody>
          <a:bodyPr/>
          <a:lstStyle/>
          <a:p>
            <a:endParaRPr lang="en-US"/>
          </a:p>
        </p:txBody>
      </p:sp>
      <p:sp>
        <p:nvSpPr>
          <p:cNvPr id="32" name="Text 29"/>
          <p:cNvSpPr txBox="1"/>
          <p:nvPr/>
        </p:nvSpPr>
        <p:spPr>
          <a:xfrm>
            <a:off x="228600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p:txBody>
      </p:sp>
      <p:sp>
        <p:nvSpPr>
          <p:cNvPr id="33" name="Text 30"/>
          <p:cNvSpPr txBox="1"/>
          <p:nvPr/>
        </p:nvSpPr>
        <p:spPr>
          <a:xfrm>
            <a:off x="228600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what's here?</a:t>
            </a:r>
            <a:endParaRPr lang="en-US" sz="1200" dirty="0"/>
          </a:p>
        </p:txBody>
      </p:sp>
      <p:sp>
        <p:nvSpPr>
          <p:cNvPr id="34" name="Shape 31"/>
          <p:cNvSpPr/>
          <p:nvPr/>
        </p:nvSpPr>
        <p:spPr>
          <a:xfrm>
            <a:off x="4023360" y="4673090"/>
            <a:ext cx="1600200" cy="365760"/>
          </a:xfrm>
          <a:prstGeom prst="roundRect">
            <a:avLst>
              <a:gd name="adj" fmla="val 20000"/>
            </a:avLst>
          </a:prstGeom>
          <a:solidFill>
            <a:srgbClr val="0E1726"/>
          </a:solidFill>
          <a:ln/>
        </p:spPr>
        <p:txBody>
          <a:bodyPr/>
          <a:lstStyle/>
          <a:p>
            <a:endParaRPr lang="en-US"/>
          </a:p>
        </p:txBody>
      </p:sp>
      <p:sp>
        <p:nvSpPr>
          <p:cNvPr id="35" name="Text 32"/>
          <p:cNvSpPr txBox="1"/>
          <p:nvPr/>
        </p:nvSpPr>
        <p:spPr>
          <a:xfrm>
            <a:off x="402336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NAME</a:t>
            </a:r>
            <a:endParaRPr lang="en-US" sz="1400" dirty="0"/>
          </a:p>
        </p:txBody>
      </p:sp>
      <p:sp>
        <p:nvSpPr>
          <p:cNvPr id="36" name="Text 33"/>
          <p:cNvSpPr txBox="1"/>
          <p:nvPr/>
        </p:nvSpPr>
        <p:spPr>
          <a:xfrm>
            <a:off x="402336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in</a:t>
            </a:r>
            <a:endParaRPr lang="en-US" sz="1200" dirty="0"/>
          </a:p>
        </p:txBody>
      </p:sp>
      <p:sp>
        <p:nvSpPr>
          <p:cNvPr id="37" name="Shape 34"/>
          <p:cNvSpPr/>
          <p:nvPr/>
        </p:nvSpPr>
        <p:spPr>
          <a:xfrm>
            <a:off x="548640" y="5386322"/>
            <a:ext cx="1600200" cy="365760"/>
          </a:xfrm>
          <a:prstGeom prst="roundRect">
            <a:avLst>
              <a:gd name="adj" fmla="val 20000"/>
            </a:avLst>
          </a:prstGeom>
          <a:solidFill>
            <a:srgbClr val="0E1726"/>
          </a:solidFill>
          <a:ln/>
        </p:spPr>
        <p:txBody>
          <a:bodyPr/>
          <a:lstStyle/>
          <a:p>
            <a:endParaRPr lang="en-US"/>
          </a:p>
        </p:txBody>
      </p:sp>
      <p:sp>
        <p:nvSpPr>
          <p:cNvPr id="38" name="Text 35"/>
          <p:cNvSpPr txBox="1"/>
          <p:nvPr/>
        </p:nvSpPr>
        <p:spPr>
          <a:xfrm>
            <a:off x="54864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39" name="Text 36"/>
          <p:cNvSpPr txBox="1"/>
          <p:nvPr/>
        </p:nvSpPr>
        <p:spPr>
          <a:xfrm>
            <a:off x="54864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up</a:t>
            </a:r>
            <a:endParaRPr lang="en-US" sz="1200" dirty="0"/>
          </a:p>
        </p:txBody>
      </p:sp>
      <p:sp>
        <p:nvSpPr>
          <p:cNvPr id="40" name="Shape 37"/>
          <p:cNvSpPr/>
          <p:nvPr/>
        </p:nvSpPr>
        <p:spPr>
          <a:xfrm>
            <a:off x="2286000" y="5386322"/>
            <a:ext cx="1600200" cy="365760"/>
          </a:xfrm>
          <a:prstGeom prst="roundRect">
            <a:avLst>
              <a:gd name="adj" fmla="val 20000"/>
            </a:avLst>
          </a:prstGeom>
          <a:solidFill>
            <a:srgbClr val="0E1726"/>
          </a:solidFill>
          <a:ln/>
        </p:spPr>
        <p:txBody>
          <a:bodyPr/>
          <a:lstStyle/>
          <a:p>
            <a:endParaRPr lang="en-US"/>
          </a:p>
        </p:txBody>
      </p:sp>
      <p:sp>
        <p:nvSpPr>
          <p:cNvPr id="41" name="Text 38"/>
          <p:cNvSpPr txBox="1"/>
          <p:nvPr/>
        </p:nvSpPr>
        <p:spPr>
          <a:xfrm>
            <a:off x="228600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42" name="Text 39"/>
          <p:cNvSpPr txBox="1"/>
          <p:nvPr/>
        </p:nvSpPr>
        <p:spPr>
          <a:xfrm>
            <a:off x="228600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home</a:t>
            </a:r>
            <a:endParaRPr lang="en-US" sz="1200" dirty="0"/>
          </a:p>
        </p:txBody>
      </p:sp>
      <p:sp>
        <p:nvSpPr>
          <p:cNvPr id="43" name="Shape 40"/>
          <p:cNvSpPr/>
          <p:nvPr/>
        </p:nvSpPr>
        <p:spPr>
          <a:xfrm>
            <a:off x="5669280" y="1463040"/>
            <a:ext cx="594360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44" name="Shape 41"/>
          <p:cNvSpPr/>
          <p:nvPr/>
        </p:nvSpPr>
        <p:spPr>
          <a:xfrm>
            <a:off x="5870448" y="1618488"/>
            <a:ext cx="118872" cy="118872"/>
          </a:xfrm>
          <a:prstGeom prst="ellipse">
            <a:avLst/>
          </a:prstGeom>
          <a:solidFill>
            <a:srgbClr val="E5534B"/>
          </a:solidFill>
          <a:ln/>
        </p:spPr>
        <p:txBody>
          <a:bodyPr/>
          <a:lstStyle/>
          <a:p>
            <a:endParaRPr lang="en-US"/>
          </a:p>
        </p:txBody>
      </p:sp>
      <p:sp>
        <p:nvSpPr>
          <p:cNvPr id="45" name="Shape 42"/>
          <p:cNvSpPr/>
          <p:nvPr/>
        </p:nvSpPr>
        <p:spPr>
          <a:xfrm>
            <a:off x="6071616" y="1618488"/>
            <a:ext cx="118872" cy="118872"/>
          </a:xfrm>
          <a:prstGeom prst="ellipse">
            <a:avLst/>
          </a:prstGeom>
          <a:solidFill>
            <a:srgbClr val="F5A623"/>
          </a:solidFill>
          <a:ln/>
        </p:spPr>
        <p:txBody>
          <a:bodyPr/>
          <a:lstStyle/>
          <a:p>
            <a:endParaRPr lang="en-US"/>
          </a:p>
        </p:txBody>
      </p:sp>
      <p:sp>
        <p:nvSpPr>
          <p:cNvPr id="46" name="Shape 43"/>
          <p:cNvSpPr/>
          <p:nvPr/>
        </p:nvSpPr>
        <p:spPr>
          <a:xfrm>
            <a:off x="6272784" y="1618488"/>
            <a:ext cx="118872" cy="118872"/>
          </a:xfrm>
          <a:prstGeom prst="ellipse">
            <a:avLst/>
          </a:prstGeom>
          <a:solidFill>
            <a:srgbClr val="46D39A"/>
          </a:solidFill>
          <a:ln/>
        </p:spPr>
        <p:txBody>
          <a:bodyPr/>
          <a:lstStyle/>
          <a:p>
            <a:endParaRPr lang="en-US"/>
          </a:p>
        </p:txBody>
      </p:sp>
      <p:sp>
        <p:nvSpPr>
          <p:cNvPr id="47" name="Text 44"/>
          <p:cNvSpPr txBox="1"/>
          <p:nvPr/>
        </p:nvSpPr>
        <p:spPr>
          <a:xfrm>
            <a:off x="5943600" y="1920240"/>
            <a:ext cx="539496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/home/player</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up one level</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home again</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a:t>
            </a:r>
            <a:r>
              <a:rPr lang="en-US" sz="1500" dirty="0">
                <a:solidFill>
                  <a:srgbClr val="7F8FAD"/>
                </a:solidFill>
                <a:latin typeface="Courier New" pitchFamily="34" charset="0"/>
                <a:ea typeface="Courier New" pitchFamily="34" charset="-122"/>
                <a:cs typeface="Courier New" pitchFamily="34" charset="-120"/>
              </a:rPr>
              <a:t>   # folders show in blue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folders: 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645920"/>
            <a:ext cx="173736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12" name="Text 9"/>
          <p:cNvSpPr txBox="1"/>
          <p:nvPr/>
        </p:nvSpPr>
        <p:spPr>
          <a:xfrm>
            <a:off x="2514600" y="164592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what is in this folder?</a:t>
            </a:r>
            <a:endParaRPr lang="en-US" sz="1700" dirty="0"/>
          </a:p>
        </p:txBody>
      </p:sp>
      <p:sp>
        <p:nvSpPr>
          <p:cNvPr id="13" name="Shape 10"/>
          <p:cNvSpPr/>
          <p:nvPr/>
        </p:nvSpPr>
        <p:spPr>
          <a:xfrm>
            <a:off x="548640" y="2423160"/>
            <a:ext cx="173736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PATH</a:t>
            </a:r>
            <a:endParaRPr lang="en-US" sz="1500" dirty="0"/>
          </a:p>
        </p:txBody>
      </p:sp>
      <p:sp>
        <p:nvSpPr>
          <p:cNvPr id="15" name="Text 12"/>
          <p:cNvSpPr txBox="1"/>
          <p:nvPr/>
        </p:nvSpPr>
        <p:spPr>
          <a:xfrm>
            <a:off x="2514600" y="242316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look somewhere else, without moving</a:t>
            </a:r>
            <a:endParaRPr lang="en-US" sz="1700" dirty="0"/>
          </a:p>
        </p:txBody>
      </p:sp>
      <p:sp>
        <p:nvSpPr>
          <p:cNvPr id="16" name="Shape 13"/>
          <p:cNvSpPr/>
          <p:nvPr/>
        </p:nvSpPr>
        <p:spPr>
          <a:xfrm>
            <a:off x="548640" y="3200400"/>
            <a:ext cx="173736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-a</a:t>
            </a:r>
            <a:endParaRPr lang="en-US" sz="1500" dirty="0"/>
          </a:p>
        </p:txBody>
      </p:sp>
      <p:sp>
        <p:nvSpPr>
          <p:cNvPr id="18" name="Text 15"/>
          <p:cNvSpPr txBox="1"/>
          <p:nvPr/>
        </p:nvSpPr>
        <p:spPr>
          <a:xfrm>
            <a:off x="2514600" y="320040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all, including hidden dot files</a:t>
            </a:r>
            <a:endParaRPr lang="en-US" sz="1700" dirty="0"/>
          </a:p>
        </p:txBody>
      </p:sp>
      <p:sp>
        <p:nvSpPr>
          <p:cNvPr id="19" name="Shape 16"/>
          <p:cNvSpPr/>
          <p:nvPr/>
        </p:nvSpPr>
        <p:spPr>
          <a:xfrm>
            <a:off x="548640" y="3977640"/>
            <a:ext cx="173736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21" name="Text 18"/>
          <p:cNvSpPr txBox="1"/>
          <p:nvPr/>
        </p:nvSpPr>
        <p:spPr>
          <a:xfrm>
            <a:off x="2514600" y="397764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long: type, permissions, owner, size</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Hidden is not secret. </a:t>
            </a:r>
            <a:r>
              <a:rPr lang="en-US" sz="1700" dirty="0">
                <a:solidFill>
                  <a:srgbClr val="12213A"/>
                </a:solidFill>
                <a:latin typeface="Calibri" pitchFamily="34" charset="0"/>
                <a:ea typeface="Calibri" pitchFamily="34" charset="-122"/>
                <a:cs typeface="Calibri" pitchFamily="34" charset="-120"/>
              </a:rPr>
              <a:t>A dot at the start of a name just tells ls to skip it.</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names starting with a dot are hidden</a:t>
            </a:r>
            <a:endParaRPr lang="en-US" sz="1000" dirty="0"/>
          </a:p>
        </p:txBody>
      </p:sp>
      <p:sp>
        <p:nvSpPr>
          <p:cNvPr id="29" name="Text 26"/>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 ~</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  .profile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/home</a:t>
            </a:r>
            <a:r>
              <a:rPr lang="en-US" sz="1500" dirty="0">
                <a:solidFill>
                  <a:srgbClr val="7F8FAD"/>
                </a:solidFill>
                <a:latin typeface="Courier New" pitchFamily="34" charset="0"/>
                <a:ea typeface="Courier New" pitchFamily="34" charset="-122"/>
                <a:cs typeface="Courier New" pitchFamily="34" charset="-120"/>
              </a:rPr>
              <a:t>   # look without moving</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a:t>
            </a:r>
            <a:endParaRPr lang="en-US" sz="15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files: 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cat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print the whole file</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head -3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the first 3 lines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the lines</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less 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scroll through it (q quits)</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Stuck inside less? </a:t>
            </a:r>
            <a:r>
              <a:rPr lang="en-US" sz="1700" dirty="0">
                <a:solidFill>
                  <a:srgbClr val="12213A"/>
                </a:solidFill>
                <a:latin typeface="Calibri" pitchFamily="34" charset="0"/>
                <a:ea typeface="Calibri" pitchFamily="34" charset="-122"/>
                <a:cs typeface="Calibri" pitchFamily="34" charset="-120"/>
              </a:rPr>
              <a:t>Press q. Stuck anywhere else? Press Ctrl+C.</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cat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player:x:1000:1000:player:</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/home/player:/bin/sh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-l /etc/passwd</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2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head -1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Who can do what: ls -l and chmod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show permissions</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+x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add execute (run)</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-w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take away write</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run a script in this folder</a:t>
            </a:r>
            <a:endParaRPr lang="en-US" sz="1700" dirty="0"/>
          </a:p>
        </p:txBody>
      </p:sp>
      <p:sp>
        <p:nvSpPr>
          <p:cNvPr id="22" name="Shape 19"/>
          <p:cNvSpPr/>
          <p:nvPr/>
        </p:nvSpPr>
        <p:spPr>
          <a:xfrm>
            <a:off x="548640" y="4846320"/>
            <a:ext cx="5394960" cy="1097280"/>
          </a:xfrm>
          <a:prstGeom prst="roundRect">
            <a:avLst>
              <a:gd name="adj" fmla="val 8333"/>
            </a:avLst>
          </a:prstGeom>
          <a:solidFill>
            <a:srgbClr val="F1F5FB"/>
          </a:solidFill>
          <a:ln/>
        </p:spPr>
        <p:txBody>
          <a:bodyPr/>
          <a:lstStyle/>
          <a:p>
            <a:endParaRPr lang="en-US"/>
          </a:p>
        </p:txBody>
      </p:sp>
      <p:sp>
        <p:nvSpPr>
          <p:cNvPr id="23" name="Text 20"/>
          <p:cNvSpPr txBox="1"/>
          <p:nvPr/>
        </p:nvSpPr>
        <p:spPr>
          <a:xfrm>
            <a:off x="822960" y="4919472"/>
            <a:ext cx="2926080" cy="457200"/>
          </a:xfrm>
          <a:prstGeom prst="rect">
            <a:avLst/>
          </a:prstGeom>
          <a:noFill/>
          <a:ln/>
        </p:spPr>
        <p:txBody>
          <a:bodyPr wrap="square" lIns="0" tIns="0" rIns="0" bIns="0" rtlCol="0" anchor="t"/>
          <a:lstStyle/>
          <a:p>
            <a:pPr marL="0" indent="0">
              <a:buNone/>
            </a:pPr>
            <a:r>
              <a:rPr lang="en-US" sz="2200" b="1" dirty="0">
                <a:solidFill>
                  <a:srgbClr val="12213A"/>
                </a:solidFill>
                <a:latin typeface="Courier New" pitchFamily="34" charset="0"/>
                <a:ea typeface="Courier New" pitchFamily="34" charset="-122"/>
                <a:cs typeface="Courier New" pitchFamily="34" charset="-120"/>
              </a:rPr>
              <a:t>-  rwx  r-x  r-x</a:t>
            </a:r>
            <a:endParaRPr lang="en-US" sz="2200" dirty="0"/>
          </a:p>
        </p:txBody>
      </p:sp>
      <p:sp>
        <p:nvSpPr>
          <p:cNvPr id="24" name="Text 21"/>
          <p:cNvSpPr txBox="1"/>
          <p:nvPr/>
        </p:nvSpPr>
        <p:spPr>
          <a:xfrm>
            <a:off x="822960" y="5376672"/>
            <a:ext cx="3291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type      owner           group          everyone</a:t>
            </a:r>
            <a:endParaRPr lang="en-US" sz="1300" dirty="0"/>
          </a:p>
        </p:txBody>
      </p:sp>
      <p:sp>
        <p:nvSpPr>
          <p:cNvPr id="25" name="Text 22"/>
          <p:cNvSpPr txBox="1"/>
          <p:nvPr/>
        </p:nvSpPr>
        <p:spPr>
          <a:xfrm>
            <a:off x="3840480" y="4919472"/>
            <a:ext cx="2011680" cy="822960"/>
          </a:xfrm>
          <a:prstGeom prst="rect">
            <a:avLst/>
          </a:prstGeom>
          <a:noFill/>
          <a:ln/>
        </p:spPr>
        <p:txBody>
          <a:bodyPr wrap="square" lIns="0" tIns="0" rIns="0" bIns="0" rtlCol="0" anchor="ctr"/>
          <a:lstStyle/>
          <a:p>
            <a:pPr marL="0" indent="0">
              <a:buNone/>
            </a:pPr>
            <a:r>
              <a:rPr lang="en-US" sz="1400" b="1" dirty="0">
                <a:solidFill>
                  <a:srgbClr val="17875A"/>
                </a:solidFill>
                <a:latin typeface="Calibri" pitchFamily="34" charset="0"/>
                <a:ea typeface="Calibri" pitchFamily="34" charset="-122"/>
                <a:cs typeface="Calibri" pitchFamily="34" charset="-120"/>
              </a:rPr>
              <a:t>r read  ·  w write  ·  x run</a:t>
            </a:r>
            <a:endParaRPr lang="en-US" sz="1400" dirty="0"/>
          </a:p>
        </p:txBody>
      </p:sp>
      <p:sp>
        <p:nvSpPr>
          <p:cNvPr id="26" name="Shape 23"/>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6601968" y="1618488"/>
            <a:ext cx="118872" cy="118872"/>
          </a:xfrm>
          <a:prstGeom prst="ellipse">
            <a:avLst/>
          </a:prstGeom>
          <a:solidFill>
            <a:srgbClr val="E5534B"/>
          </a:solidFill>
          <a:ln/>
        </p:spPr>
        <p:txBody>
          <a:bodyPr/>
          <a:lstStyle/>
          <a:p>
            <a:endParaRPr lang="en-US"/>
          </a:p>
        </p:txBody>
      </p:sp>
      <p:sp>
        <p:nvSpPr>
          <p:cNvPr id="28" name="Shape 25"/>
          <p:cNvSpPr/>
          <p:nvPr/>
        </p:nvSpPr>
        <p:spPr>
          <a:xfrm>
            <a:off x="6803136" y="1618488"/>
            <a:ext cx="118872" cy="118872"/>
          </a:xfrm>
          <a:prstGeom prst="ellipse">
            <a:avLst/>
          </a:prstGeom>
          <a:solidFill>
            <a:srgbClr val="F5A623"/>
          </a:solidFill>
          <a:ln/>
        </p:spPr>
        <p:txBody>
          <a:bodyPr/>
          <a:lstStyle/>
          <a:p>
            <a:endParaRPr lang="en-US"/>
          </a:p>
        </p:txBody>
      </p:sp>
      <p:sp>
        <p:nvSpPr>
          <p:cNvPr id="29" name="Shape 26"/>
          <p:cNvSpPr/>
          <p:nvPr/>
        </p:nvSpPr>
        <p:spPr>
          <a:xfrm>
            <a:off x="7004304" y="1618488"/>
            <a:ext cx="118872" cy="118872"/>
          </a:xfrm>
          <a:prstGeom prst="ellipse">
            <a:avLst/>
          </a:prstGeom>
          <a:solidFill>
            <a:srgbClr val="46D39A"/>
          </a:solidFill>
          <a:ln/>
        </p:spPr>
        <p:txBody>
          <a:bodyPr/>
          <a:lstStyle/>
          <a:p>
            <a:endParaRPr lang="en-US"/>
          </a:p>
        </p:txBody>
      </p:sp>
      <p:sp>
        <p:nvSpPr>
          <p:cNvPr id="30" name="Text 27"/>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permissions</a:t>
            </a:r>
            <a:endParaRPr lang="en-US" sz="1000" dirty="0"/>
          </a:p>
        </p:txBody>
      </p:sp>
      <p:sp>
        <p:nvSpPr>
          <p:cNvPr id="31" name="Text 28"/>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echo 'echo hello' &gt;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-sh: ./hi.sh: Permission denied</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-rw-r--r--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chmod +x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-rwxr-xr-x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hello</a:t>
            </a:r>
            <a:endParaRPr lang="en-US" sz="15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22</a:t>
            </a:r>
            <a:endParaRPr lang="en-US" sz="1000" dirty="0"/>
          </a:p>
        </p:txBody>
      </p:sp>
      <p:sp>
        <p:nvSpPr>
          <p:cNvPr id="5" name="Shape 2"/>
          <p:cNvSpPr/>
          <p:nvPr/>
        </p:nvSpPr>
        <p:spPr>
          <a:xfrm>
            <a:off x="0" y="0"/>
            <a:ext cx="256032" cy="6858000"/>
          </a:xfrm>
          <a:prstGeom prst="rect">
            <a:avLst/>
          </a:prstGeom>
          <a:solidFill>
            <a:srgbClr val="2A9FD6"/>
          </a:solidFill>
          <a:ln/>
        </p:spPr>
        <p:txBody>
          <a:bodyPr/>
          <a:lstStyle/>
          <a:p>
            <a:endParaRPr lang="en-US"/>
          </a:p>
        </p:txBody>
      </p:sp>
      <p:sp>
        <p:nvSpPr>
          <p:cNvPr id="6" name="Shape 3"/>
          <p:cNvSpPr/>
          <p:nvPr/>
        </p:nvSpPr>
        <p:spPr>
          <a:xfrm>
            <a:off x="640080" y="685800"/>
            <a:ext cx="1188720" cy="1188720"/>
          </a:xfrm>
          <a:prstGeom prst="ellipse">
            <a:avLst/>
          </a:prstGeom>
          <a:solidFill>
            <a:srgbClr val="2A9FD6"/>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2</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2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Learning any command</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b="1" dirty="0">
                <a:solidFill>
                  <a:srgbClr val="12213A"/>
                </a:solidFill>
                <a:latin typeface="Calibri" pitchFamily="34" charset="0"/>
                <a:ea typeface="Calibri" pitchFamily="34" charset="-122"/>
                <a:cs typeface="Calibri" pitchFamily="34" charset="-120"/>
              </a:rPr>
              <a:t>Every command </a:t>
            </a:r>
            <a:r>
              <a:rPr lang="en-US" sz="2500" dirty="0">
                <a:solidFill>
                  <a:srgbClr val="12213A"/>
                </a:solidFill>
                <a:latin typeface="Calibri" pitchFamily="34" charset="0"/>
                <a:ea typeface="Calibri" pitchFamily="34" charset="-122"/>
                <a:cs typeface="Calibri" pitchFamily="34" charset="-120"/>
              </a:rPr>
              <a:t>has the same shape, and every command </a:t>
            </a:r>
            <a:r>
              <a:rPr lang="en-US" sz="2500" b="1" dirty="0">
                <a:solidFill>
                  <a:srgbClr val="12213A"/>
                </a:solidFill>
                <a:latin typeface="Calibri" pitchFamily="34" charset="0"/>
                <a:ea typeface="Calibri" pitchFamily="34" charset="-122"/>
                <a:cs typeface="Calibri" pitchFamily="34" charset="-120"/>
              </a:rPr>
              <a:t>can explain itself</a:t>
            </a:r>
            <a:r>
              <a:rPr lang="en-US" sz="2500" dirty="0">
                <a:solidFill>
                  <a:srgbClr val="12213A"/>
                </a:solidFill>
                <a:latin typeface="Calibri" pitchFamily="34" charset="0"/>
                <a:ea typeface="Calibri" pitchFamily="34" charset="-122"/>
                <a:cs typeface="Calibri" pitchFamily="34" charset="-120"/>
              </a:rPr>
              <a:t>. Nobody memorises them all.</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Shape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cmd -opt path</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What to do, how to do it, and what to do it to.</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Ask</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--help  man</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explains itself. man has the full manual.</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Speed up</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Tab  ↑  Ctrl+C</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Type less, fix faster.</a:t>
            </a:r>
            <a:endParaRPr lang="en-US" sz="14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shape of a command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/home</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23</a:t>
            </a:r>
            <a:endParaRPr lang="en-US" sz="1000" dirty="0"/>
          </a:p>
        </p:txBody>
      </p:sp>
      <p:sp>
        <p:nvSpPr>
          <p:cNvPr id="10" name="Shape 7"/>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11" name="Text 8"/>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3600" b="1" dirty="0">
                <a:solidFill>
                  <a:srgbClr val="46D39A"/>
                </a:solidFill>
                <a:latin typeface="Courier New" pitchFamily="34" charset="0"/>
                <a:ea typeface="Courier New" pitchFamily="34" charset="-122"/>
                <a:cs typeface="Courier New" pitchFamily="34" charset="-120"/>
              </a:rPr>
              <a:t>player</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7FB2FF"/>
                </a:solidFill>
                <a:latin typeface="Courier New" pitchFamily="34" charset="0"/>
                <a:ea typeface="Courier New" pitchFamily="34" charset="-122"/>
                <a:cs typeface="Courier New" pitchFamily="34" charset="-120"/>
              </a:rPr>
              <a:t>quest</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F5A623"/>
                </a:solidFill>
                <a:latin typeface="Courier New" pitchFamily="34" charset="0"/>
                <a:ea typeface="Courier New" pitchFamily="34" charset="-122"/>
                <a:cs typeface="Courier New" pitchFamily="34" charset="-120"/>
              </a:rPr>
              <a:t>~</a:t>
            </a:r>
            <a:r>
              <a:rPr lang="en-US" sz="3600" b="1" dirty="0">
                <a:solidFill>
                  <a:srgbClr val="B8C4D9"/>
                </a:solidFill>
                <a:latin typeface="Courier New" pitchFamily="34" charset="0"/>
                <a:ea typeface="Courier New" pitchFamily="34" charset="-122"/>
                <a:cs typeface="Courier New" pitchFamily="34" charset="-120"/>
              </a:rPr>
              <a:t>$ </a:t>
            </a:r>
            <a:r>
              <a:rPr lang="en-US" sz="3600" b="1" dirty="0">
                <a:solidFill>
                  <a:srgbClr val="FFFFFF"/>
                </a:solidFill>
                <a:latin typeface="Courier New" pitchFamily="34" charset="0"/>
                <a:ea typeface="Courier New" pitchFamily="34" charset="-122"/>
                <a:cs typeface="Courier New" pitchFamily="34" charset="-120"/>
              </a:rPr>
              <a:t>ls</a:t>
            </a:r>
            <a:r>
              <a:rPr lang="en-US" sz="3600" b="1" dirty="0">
                <a:solidFill>
                  <a:srgbClr val="FF8FB1"/>
                </a:solidFill>
                <a:latin typeface="Courier New" pitchFamily="34" charset="0"/>
                <a:ea typeface="Courier New" pitchFamily="34" charset="-122"/>
                <a:cs typeface="Courier New" pitchFamily="34" charset="-120"/>
              </a:rPr>
              <a:t> -l</a:t>
            </a:r>
            <a:r>
              <a:rPr lang="en-US" sz="3600" b="1" dirty="0">
                <a:solidFill>
                  <a:srgbClr val="7EE0D2"/>
                </a:solidFill>
                <a:latin typeface="Courier New" pitchFamily="34" charset="0"/>
                <a:ea typeface="Courier New" pitchFamily="34" charset="-122"/>
                <a:cs typeface="Courier New" pitchFamily="34" charset="-120"/>
              </a:rPr>
              <a:t> /home</a:t>
            </a:r>
            <a:endParaRPr lang="en-US" sz="3600" dirty="0"/>
          </a:p>
        </p:txBody>
      </p:sp>
      <p:sp>
        <p:nvSpPr>
          <p:cNvPr id="12" name="Shape 9"/>
          <p:cNvSpPr/>
          <p:nvPr/>
        </p:nvSpPr>
        <p:spPr>
          <a:xfrm>
            <a:off x="548640" y="3246120"/>
            <a:ext cx="3566160" cy="1188720"/>
          </a:xfrm>
          <a:prstGeom prst="roundRect">
            <a:avLst>
              <a:gd name="adj" fmla="val 7692"/>
            </a:avLst>
          </a:prstGeom>
          <a:solidFill>
            <a:srgbClr val="F1F5FB"/>
          </a:solidFill>
          <a:ln/>
        </p:spPr>
        <p:txBody>
          <a:bodyPr/>
          <a:lstStyle/>
          <a:p>
            <a:endParaRPr lang="en-US"/>
          </a:p>
        </p:txBody>
      </p:sp>
      <p:sp>
        <p:nvSpPr>
          <p:cNvPr id="13" name="Text 10"/>
          <p:cNvSpPr txBox="1"/>
          <p:nvPr/>
        </p:nvSpPr>
        <p:spPr>
          <a:xfrm>
            <a:off x="777240" y="3383280"/>
            <a:ext cx="3108960" cy="365760"/>
          </a:xfrm>
          <a:prstGeom prst="rect">
            <a:avLst/>
          </a:prstGeom>
          <a:noFill/>
          <a:ln/>
        </p:spPr>
        <p:txBody>
          <a:bodyPr wrap="square" lIns="0" tIns="0" rIns="0" bIns="0" rtlCol="0" anchor="t"/>
          <a:lstStyle/>
          <a:p>
            <a:pPr marL="0" indent="0">
              <a:buNone/>
            </a:pPr>
            <a:r>
              <a:rPr lang="en-US" sz="2000" b="1" dirty="0">
                <a:solidFill>
                  <a:srgbClr val="17875A"/>
                </a:solidFill>
                <a:latin typeface="Courier New" pitchFamily="34" charset="0"/>
                <a:ea typeface="Courier New" pitchFamily="34" charset="-122"/>
                <a:cs typeface="Courier New" pitchFamily="34" charset="-120"/>
              </a:rPr>
              <a:t>player</a:t>
            </a:r>
            <a:endParaRPr lang="en-US" sz="2000" dirty="0"/>
          </a:p>
        </p:txBody>
      </p:sp>
      <p:sp>
        <p:nvSpPr>
          <p:cNvPr id="14" name="Text 11"/>
          <p:cNvSpPr txBox="1"/>
          <p:nvPr/>
        </p:nvSpPr>
        <p:spPr>
          <a:xfrm>
            <a:off x="777240"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Who you are: </a:t>
            </a:r>
            <a:r>
              <a:rPr lang="en-US" sz="1500" dirty="0">
                <a:solidFill>
                  <a:srgbClr val="12213A"/>
                </a:solidFill>
                <a:latin typeface="Calibri" pitchFamily="34" charset="0"/>
                <a:ea typeface="Calibri" pitchFamily="34" charset="-122"/>
                <a:cs typeface="Calibri" pitchFamily="34" charset="-120"/>
              </a:rPr>
              <a:t>the account inside your computer</a:t>
            </a:r>
            <a:endParaRPr lang="en-US" sz="1500" dirty="0"/>
          </a:p>
        </p:txBody>
      </p:sp>
      <p:sp>
        <p:nvSpPr>
          <p:cNvPr id="15" name="Shape 12"/>
          <p:cNvSpPr/>
          <p:nvPr/>
        </p:nvSpPr>
        <p:spPr>
          <a:xfrm>
            <a:off x="4306824" y="3246120"/>
            <a:ext cx="3566160" cy="1188720"/>
          </a:xfrm>
          <a:prstGeom prst="roundRect">
            <a:avLst>
              <a:gd name="adj" fmla="val 7692"/>
            </a:avLst>
          </a:prstGeom>
          <a:solidFill>
            <a:srgbClr val="F1F5FB"/>
          </a:solidFill>
          <a:ln/>
        </p:spPr>
        <p:txBody>
          <a:bodyPr/>
          <a:lstStyle/>
          <a:p>
            <a:endParaRPr lang="en-US"/>
          </a:p>
        </p:txBody>
      </p:sp>
      <p:sp>
        <p:nvSpPr>
          <p:cNvPr id="16" name="Text 13"/>
          <p:cNvSpPr txBox="1"/>
          <p:nvPr/>
        </p:nvSpPr>
        <p:spPr>
          <a:xfrm>
            <a:off x="4535424" y="3383280"/>
            <a:ext cx="3108960" cy="365760"/>
          </a:xfrm>
          <a:prstGeom prst="rect">
            <a:avLst/>
          </a:prstGeom>
          <a:noFill/>
          <a:ln/>
        </p:spPr>
        <p:txBody>
          <a:bodyPr wrap="square" lIns="0" tIns="0" rIns="0" bIns="0" rtlCol="0" anchor="t"/>
          <a:lstStyle/>
          <a:p>
            <a:pPr marL="0" indent="0">
              <a:buNone/>
            </a:pPr>
            <a:r>
              <a:rPr lang="en-US" sz="2000" b="1" dirty="0">
                <a:solidFill>
                  <a:srgbClr val="2459D8"/>
                </a:solidFill>
                <a:latin typeface="Courier New" pitchFamily="34" charset="0"/>
                <a:ea typeface="Courier New" pitchFamily="34" charset="-122"/>
                <a:cs typeface="Courier New" pitchFamily="34" charset="-120"/>
              </a:rPr>
              <a:t>quest</a:t>
            </a:r>
            <a:endParaRPr lang="en-US" sz="2000" dirty="0"/>
          </a:p>
        </p:txBody>
      </p:sp>
      <p:sp>
        <p:nvSpPr>
          <p:cNvPr id="17" name="Text 14"/>
          <p:cNvSpPr txBox="1"/>
          <p:nvPr/>
        </p:nvSpPr>
        <p:spPr>
          <a:xfrm>
            <a:off x="4535424"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Which computer: </a:t>
            </a:r>
            <a:r>
              <a:rPr lang="en-US" sz="1500" dirty="0">
                <a:solidFill>
                  <a:srgbClr val="12213A"/>
                </a:solidFill>
                <a:latin typeface="Calibri" pitchFamily="34" charset="0"/>
                <a:ea typeface="Calibri" pitchFamily="34" charset="-122"/>
                <a:cs typeface="Calibri" pitchFamily="34" charset="-120"/>
              </a:rPr>
              <a:t>the Linux running in your tab</a:t>
            </a:r>
            <a:endParaRPr lang="en-US" sz="1500" dirty="0"/>
          </a:p>
        </p:txBody>
      </p:sp>
      <p:sp>
        <p:nvSpPr>
          <p:cNvPr id="18" name="Shape 15"/>
          <p:cNvSpPr/>
          <p:nvPr/>
        </p:nvSpPr>
        <p:spPr>
          <a:xfrm>
            <a:off x="8065008" y="3246120"/>
            <a:ext cx="3566160" cy="1188720"/>
          </a:xfrm>
          <a:prstGeom prst="roundRect">
            <a:avLst>
              <a:gd name="adj" fmla="val 7692"/>
            </a:avLst>
          </a:prstGeom>
          <a:solidFill>
            <a:srgbClr val="F1F5FB"/>
          </a:solidFill>
          <a:ln/>
        </p:spPr>
        <p:txBody>
          <a:bodyPr/>
          <a:lstStyle/>
          <a:p>
            <a:endParaRPr lang="en-US"/>
          </a:p>
        </p:txBody>
      </p:sp>
      <p:sp>
        <p:nvSpPr>
          <p:cNvPr id="19" name="Text 16"/>
          <p:cNvSpPr txBox="1"/>
          <p:nvPr/>
        </p:nvSpPr>
        <p:spPr>
          <a:xfrm>
            <a:off x="8293608" y="3383280"/>
            <a:ext cx="3108960" cy="365760"/>
          </a:xfrm>
          <a:prstGeom prst="rect">
            <a:avLst/>
          </a:prstGeom>
          <a:noFill/>
          <a:ln/>
        </p:spPr>
        <p:txBody>
          <a:bodyPr wrap="square" lIns="0" tIns="0" rIns="0" bIns="0" rtlCol="0" anchor="t"/>
          <a:lstStyle/>
          <a:p>
            <a:pPr marL="0" indent="0">
              <a:buNone/>
            </a:pPr>
            <a:r>
              <a:rPr lang="en-US" sz="2000" b="1" dirty="0">
                <a:solidFill>
                  <a:srgbClr val="C07A00"/>
                </a:solidFill>
                <a:latin typeface="Courier New" pitchFamily="34" charset="0"/>
                <a:ea typeface="Courier New" pitchFamily="34" charset="-122"/>
                <a:cs typeface="Courier New" pitchFamily="34" charset="-120"/>
              </a:rPr>
              <a:t>~</a:t>
            </a:r>
            <a:endParaRPr lang="en-US" sz="2000" dirty="0"/>
          </a:p>
        </p:txBody>
      </p:sp>
      <p:sp>
        <p:nvSpPr>
          <p:cNvPr id="20" name="Text 17"/>
          <p:cNvSpPr txBox="1"/>
          <p:nvPr/>
        </p:nvSpPr>
        <p:spPr>
          <a:xfrm>
            <a:off x="8293608"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Where you are: </a:t>
            </a:r>
            <a:r>
              <a:rPr lang="en-US" sz="1500" dirty="0">
                <a:solidFill>
                  <a:srgbClr val="12213A"/>
                </a:solidFill>
                <a:latin typeface="Calibri" pitchFamily="34" charset="0"/>
                <a:ea typeface="Calibri" pitchFamily="34" charset="-122"/>
                <a:cs typeface="Calibri" pitchFamily="34" charset="-120"/>
              </a:rPr>
              <a:t>~ means your home folder</a:t>
            </a:r>
            <a:endParaRPr lang="en-US" sz="1500" dirty="0"/>
          </a:p>
        </p:txBody>
      </p:sp>
      <p:sp>
        <p:nvSpPr>
          <p:cNvPr id="21" name="Shape 18"/>
          <p:cNvSpPr/>
          <p:nvPr/>
        </p:nvSpPr>
        <p:spPr>
          <a:xfrm>
            <a:off x="548640" y="4663440"/>
            <a:ext cx="3566160" cy="1188720"/>
          </a:xfrm>
          <a:prstGeom prst="roundRect">
            <a:avLst>
              <a:gd name="adj" fmla="val 7692"/>
            </a:avLst>
          </a:prstGeom>
          <a:solidFill>
            <a:srgbClr val="F1F5FB"/>
          </a:solidFill>
          <a:ln/>
        </p:spPr>
        <p:txBody>
          <a:bodyPr/>
          <a:lstStyle/>
          <a:p>
            <a:endParaRPr lang="en-US"/>
          </a:p>
        </p:txBody>
      </p:sp>
      <p:sp>
        <p:nvSpPr>
          <p:cNvPr id="22" name="Text 19"/>
          <p:cNvSpPr txBox="1"/>
          <p:nvPr/>
        </p:nvSpPr>
        <p:spPr>
          <a:xfrm>
            <a:off x="777240" y="4800600"/>
            <a:ext cx="3108960" cy="365760"/>
          </a:xfrm>
          <a:prstGeom prst="rect">
            <a:avLst/>
          </a:prstGeom>
          <a:noFill/>
          <a:ln/>
        </p:spPr>
        <p:txBody>
          <a:bodyPr wrap="square" lIns="0" tIns="0" rIns="0" bIns="0" rtlCol="0" anchor="t"/>
          <a:lstStyle/>
          <a:p>
            <a:pPr marL="0" indent="0">
              <a:buNone/>
            </a:pPr>
            <a:r>
              <a:rPr lang="en-US" sz="2000" b="1" dirty="0">
                <a:solidFill>
                  <a:srgbClr val="12213A"/>
                </a:solidFill>
                <a:latin typeface="Courier New" pitchFamily="34" charset="0"/>
                <a:ea typeface="Courier New" pitchFamily="34" charset="-122"/>
                <a:cs typeface="Courier New" pitchFamily="34" charset="-120"/>
              </a:rPr>
              <a:t>ls</a:t>
            </a:r>
            <a:endParaRPr lang="en-US" sz="2000" dirty="0"/>
          </a:p>
        </p:txBody>
      </p:sp>
      <p:sp>
        <p:nvSpPr>
          <p:cNvPr id="23" name="Text 20"/>
          <p:cNvSpPr txBox="1"/>
          <p:nvPr/>
        </p:nvSpPr>
        <p:spPr>
          <a:xfrm>
            <a:off x="777240"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The command: </a:t>
            </a:r>
            <a:r>
              <a:rPr lang="en-US" sz="1500" dirty="0">
                <a:solidFill>
                  <a:srgbClr val="12213A"/>
                </a:solidFill>
                <a:latin typeface="Calibri" pitchFamily="34" charset="0"/>
                <a:ea typeface="Calibri" pitchFamily="34" charset="-122"/>
                <a:cs typeface="Calibri" pitchFamily="34" charset="-120"/>
              </a:rPr>
              <a:t>what to do: list files</a:t>
            </a:r>
            <a:endParaRPr lang="en-US" sz="1500" dirty="0"/>
          </a:p>
        </p:txBody>
      </p:sp>
      <p:sp>
        <p:nvSpPr>
          <p:cNvPr id="24" name="Shape 21"/>
          <p:cNvSpPr/>
          <p:nvPr/>
        </p:nvSpPr>
        <p:spPr>
          <a:xfrm>
            <a:off x="4306824" y="4663440"/>
            <a:ext cx="3566160" cy="1188720"/>
          </a:xfrm>
          <a:prstGeom prst="roundRect">
            <a:avLst>
              <a:gd name="adj" fmla="val 7692"/>
            </a:avLst>
          </a:prstGeom>
          <a:solidFill>
            <a:srgbClr val="F1F5FB"/>
          </a:solidFill>
          <a:ln/>
        </p:spPr>
        <p:txBody>
          <a:bodyPr/>
          <a:lstStyle/>
          <a:p>
            <a:endParaRPr lang="en-US"/>
          </a:p>
        </p:txBody>
      </p:sp>
      <p:sp>
        <p:nvSpPr>
          <p:cNvPr id="25" name="Text 22"/>
          <p:cNvSpPr txBox="1"/>
          <p:nvPr/>
        </p:nvSpPr>
        <p:spPr>
          <a:xfrm>
            <a:off x="4535424" y="4800600"/>
            <a:ext cx="3108960" cy="365760"/>
          </a:xfrm>
          <a:prstGeom prst="rect">
            <a:avLst/>
          </a:prstGeom>
          <a:noFill/>
          <a:ln/>
        </p:spPr>
        <p:txBody>
          <a:bodyPr wrap="square" lIns="0" tIns="0" rIns="0" bIns="0" rtlCol="0" anchor="t"/>
          <a:lstStyle/>
          <a:p>
            <a:pPr marL="0" indent="0">
              <a:buNone/>
            </a:pPr>
            <a:r>
              <a:rPr lang="en-US" sz="2000" b="1" dirty="0">
                <a:solidFill>
                  <a:srgbClr val="C2356A"/>
                </a:solidFill>
                <a:latin typeface="Courier New" pitchFamily="34" charset="0"/>
                <a:ea typeface="Courier New" pitchFamily="34" charset="-122"/>
                <a:cs typeface="Courier New" pitchFamily="34" charset="-120"/>
              </a:rPr>
              <a:t>-l</a:t>
            </a:r>
            <a:endParaRPr lang="en-US" sz="2000" dirty="0"/>
          </a:p>
        </p:txBody>
      </p:sp>
      <p:sp>
        <p:nvSpPr>
          <p:cNvPr id="26" name="Text 23"/>
          <p:cNvSpPr txBox="1"/>
          <p:nvPr/>
        </p:nvSpPr>
        <p:spPr>
          <a:xfrm>
            <a:off x="4535424"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option: </a:t>
            </a:r>
            <a:r>
              <a:rPr lang="en-US" sz="1500" dirty="0">
                <a:solidFill>
                  <a:srgbClr val="12213A"/>
                </a:solidFill>
                <a:latin typeface="Calibri" pitchFamily="34" charset="0"/>
                <a:ea typeface="Calibri" pitchFamily="34" charset="-122"/>
                <a:cs typeface="Calibri" pitchFamily="34" charset="-120"/>
              </a:rPr>
              <a:t>how to do it: the long format</a:t>
            </a:r>
            <a:endParaRPr lang="en-US" sz="1500" dirty="0"/>
          </a:p>
        </p:txBody>
      </p:sp>
      <p:sp>
        <p:nvSpPr>
          <p:cNvPr id="27" name="Shape 24"/>
          <p:cNvSpPr/>
          <p:nvPr/>
        </p:nvSpPr>
        <p:spPr>
          <a:xfrm>
            <a:off x="8065008" y="4663440"/>
            <a:ext cx="3566160" cy="1188720"/>
          </a:xfrm>
          <a:prstGeom prst="roundRect">
            <a:avLst>
              <a:gd name="adj" fmla="val 7692"/>
            </a:avLst>
          </a:prstGeom>
          <a:solidFill>
            <a:srgbClr val="F1F5FB"/>
          </a:solidFill>
          <a:ln/>
        </p:spPr>
        <p:txBody>
          <a:bodyPr/>
          <a:lstStyle/>
          <a:p>
            <a:endParaRPr lang="en-US"/>
          </a:p>
        </p:txBody>
      </p:sp>
      <p:sp>
        <p:nvSpPr>
          <p:cNvPr id="28" name="Text 25"/>
          <p:cNvSpPr txBox="1"/>
          <p:nvPr/>
        </p:nvSpPr>
        <p:spPr>
          <a:xfrm>
            <a:off x="8293608" y="4800600"/>
            <a:ext cx="3108960" cy="365760"/>
          </a:xfrm>
          <a:prstGeom prst="rect">
            <a:avLst/>
          </a:prstGeom>
          <a:noFill/>
          <a:ln/>
        </p:spPr>
        <p:txBody>
          <a:bodyPr wrap="square" lIns="0" tIns="0" rIns="0" bIns="0" rtlCol="0" anchor="t"/>
          <a:lstStyle/>
          <a:p>
            <a:pPr marL="0" indent="0">
              <a:buNone/>
            </a:pPr>
            <a:r>
              <a:rPr lang="en-US" sz="2000" b="1" dirty="0">
                <a:solidFill>
                  <a:srgbClr val="0E8C7A"/>
                </a:solidFill>
                <a:latin typeface="Courier New" pitchFamily="34" charset="0"/>
                <a:ea typeface="Courier New" pitchFamily="34" charset="-122"/>
                <a:cs typeface="Courier New" pitchFamily="34" charset="-120"/>
              </a:rPr>
              <a:t>/home</a:t>
            </a:r>
            <a:endParaRPr lang="en-US" sz="2000" dirty="0"/>
          </a:p>
        </p:txBody>
      </p:sp>
      <p:sp>
        <p:nvSpPr>
          <p:cNvPr id="29" name="Text 26"/>
          <p:cNvSpPr txBox="1"/>
          <p:nvPr/>
        </p:nvSpPr>
        <p:spPr>
          <a:xfrm>
            <a:off x="8293608"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argument: </a:t>
            </a:r>
            <a:r>
              <a:rPr lang="en-US" sz="1500" dirty="0">
                <a:solidFill>
                  <a:srgbClr val="12213A"/>
                </a:solidFill>
                <a:latin typeface="Calibri" pitchFamily="34" charset="0"/>
                <a:ea typeface="Calibri" pitchFamily="34" charset="-122"/>
                <a:cs typeface="Calibri" pitchFamily="34" charset="-120"/>
              </a:rPr>
              <a:t>what to do it to</a:t>
            </a:r>
            <a:endParaRPr lang="en-US" sz="15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Ask any command for --help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wc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10" name="Shape 7"/>
          <p:cNvSpPr/>
          <p:nvPr/>
        </p:nvSpPr>
        <p:spPr>
          <a:xfrm>
            <a:off x="548640" y="1463040"/>
            <a:ext cx="64922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46634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the command explains itself</a:t>
            </a:r>
            <a:endParaRPr lang="en-US" sz="1000" dirty="0"/>
          </a:p>
        </p:txBody>
      </p:sp>
      <p:sp>
        <p:nvSpPr>
          <p:cNvPr id="15" name="Text 12"/>
          <p:cNvSpPr txBox="1"/>
          <p:nvPr/>
        </p:nvSpPr>
        <p:spPr>
          <a:xfrm>
            <a:off x="822960" y="1920240"/>
            <a:ext cx="594360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--help</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Usage: wc [-cmlwL] [FILE]...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Count lines, words, and bytes for FILEs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-c      Count bytes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-m      Count characters</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-l      Count newlines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-w      Count words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-L      Print longest line length</a:t>
            </a:r>
            <a:endParaRPr lang="en-US" sz="1500" dirty="0"/>
          </a:p>
        </p:txBody>
      </p:sp>
      <p:sp>
        <p:nvSpPr>
          <p:cNvPr id="16" name="Shape 13"/>
          <p:cNvSpPr/>
          <p:nvPr/>
        </p:nvSpPr>
        <p:spPr>
          <a:xfrm>
            <a:off x="7315200" y="1463040"/>
            <a:ext cx="4325112" cy="1325880"/>
          </a:xfrm>
          <a:prstGeom prst="roundRect">
            <a:avLst>
              <a:gd name="adj" fmla="val 6897"/>
            </a:avLst>
          </a:prstGeom>
          <a:solidFill>
            <a:srgbClr val="F1F5FB"/>
          </a:solidFill>
          <a:ln/>
        </p:spPr>
        <p:txBody>
          <a:bodyPr/>
          <a:lstStyle/>
          <a:p>
            <a:endParaRPr lang="en-US"/>
          </a:p>
        </p:txBody>
      </p:sp>
      <p:sp>
        <p:nvSpPr>
          <p:cNvPr id="17" name="Shape 14"/>
          <p:cNvSpPr/>
          <p:nvPr/>
        </p:nvSpPr>
        <p:spPr>
          <a:xfrm>
            <a:off x="7315200" y="1463040"/>
            <a:ext cx="109728" cy="1325880"/>
          </a:xfrm>
          <a:prstGeom prst="rect">
            <a:avLst/>
          </a:prstGeom>
          <a:solidFill>
            <a:srgbClr val="2459D8"/>
          </a:solidFill>
          <a:ln/>
        </p:spPr>
        <p:txBody>
          <a:bodyPr/>
          <a:lstStyle/>
          <a:p>
            <a:endParaRPr lang="en-US"/>
          </a:p>
        </p:txBody>
      </p:sp>
      <p:sp>
        <p:nvSpPr>
          <p:cNvPr id="18" name="Text 15"/>
          <p:cNvSpPr txBox="1"/>
          <p:nvPr/>
        </p:nvSpPr>
        <p:spPr>
          <a:xfrm>
            <a:off x="7635240" y="160020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Usage line</a:t>
            </a:r>
            <a:endParaRPr lang="en-US" sz="1800" dirty="0"/>
          </a:p>
        </p:txBody>
      </p:sp>
      <p:sp>
        <p:nvSpPr>
          <p:cNvPr id="19" name="Text 16"/>
          <p:cNvSpPr txBox="1"/>
          <p:nvPr/>
        </p:nvSpPr>
        <p:spPr>
          <a:xfrm>
            <a:off x="7635240" y="199339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shape of the command. [ ] means optional. FILE... means one or more files.</a:t>
            </a:r>
            <a:endParaRPr lang="en-US" sz="1400" dirty="0"/>
          </a:p>
        </p:txBody>
      </p:sp>
      <p:sp>
        <p:nvSpPr>
          <p:cNvPr id="20" name="Shape 17"/>
          <p:cNvSpPr/>
          <p:nvPr/>
        </p:nvSpPr>
        <p:spPr>
          <a:xfrm>
            <a:off x="7315200" y="2971800"/>
            <a:ext cx="4325112" cy="1325880"/>
          </a:xfrm>
          <a:prstGeom prst="roundRect">
            <a:avLst>
              <a:gd name="adj" fmla="val 6897"/>
            </a:avLst>
          </a:prstGeom>
          <a:solidFill>
            <a:srgbClr val="F1F5FB"/>
          </a:solidFill>
          <a:ln/>
        </p:spPr>
        <p:txBody>
          <a:bodyPr/>
          <a:lstStyle/>
          <a:p>
            <a:endParaRPr lang="en-US"/>
          </a:p>
        </p:txBody>
      </p:sp>
      <p:sp>
        <p:nvSpPr>
          <p:cNvPr id="21" name="Shape 18"/>
          <p:cNvSpPr/>
          <p:nvPr/>
        </p:nvSpPr>
        <p:spPr>
          <a:xfrm>
            <a:off x="7315200" y="2971800"/>
            <a:ext cx="109728" cy="1325880"/>
          </a:xfrm>
          <a:prstGeom prst="rect">
            <a:avLst/>
          </a:prstGeom>
          <a:solidFill>
            <a:srgbClr val="7448D4"/>
          </a:solidFill>
          <a:ln/>
        </p:spPr>
        <p:txBody>
          <a:bodyPr/>
          <a:lstStyle/>
          <a:p>
            <a:endParaRPr lang="en-US"/>
          </a:p>
        </p:txBody>
      </p:sp>
      <p:sp>
        <p:nvSpPr>
          <p:cNvPr id="22" name="Text 19"/>
          <p:cNvSpPr txBox="1"/>
          <p:nvPr/>
        </p:nvSpPr>
        <p:spPr>
          <a:xfrm>
            <a:off x="7635240" y="310896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Option list</a:t>
            </a:r>
            <a:endParaRPr lang="en-US" sz="1800" dirty="0"/>
          </a:p>
        </p:txBody>
      </p:sp>
      <p:sp>
        <p:nvSpPr>
          <p:cNvPr id="23" name="Text 20"/>
          <p:cNvSpPr txBox="1"/>
          <p:nvPr/>
        </p:nvSpPr>
        <p:spPr>
          <a:xfrm>
            <a:off x="7635240" y="350215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option per line, with what it does. Pick the one that matches your goal.</a:t>
            </a:r>
            <a:endParaRPr lang="en-US" sz="1400" dirty="0"/>
          </a:p>
        </p:txBody>
      </p:sp>
      <p:sp>
        <p:nvSpPr>
          <p:cNvPr id="24" name="Shape 21"/>
          <p:cNvSpPr/>
          <p:nvPr/>
        </p:nvSpPr>
        <p:spPr>
          <a:xfrm>
            <a:off x="7315200" y="4480560"/>
            <a:ext cx="4325112" cy="1325880"/>
          </a:xfrm>
          <a:prstGeom prst="roundRect">
            <a:avLst>
              <a:gd name="adj" fmla="val 6897"/>
            </a:avLst>
          </a:prstGeom>
          <a:solidFill>
            <a:srgbClr val="F1F5FB"/>
          </a:solidFill>
          <a:ln/>
        </p:spPr>
        <p:txBody>
          <a:bodyPr/>
          <a:lstStyle/>
          <a:p>
            <a:endParaRPr lang="en-US"/>
          </a:p>
        </p:txBody>
      </p:sp>
      <p:sp>
        <p:nvSpPr>
          <p:cNvPr id="25" name="Shape 22"/>
          <p:cNvSpPr/>
          <p:nvPr/>
        </p:nvSpPr>
        <p:spPr>
          <a:xfrm>
            <a:off x="7315200" y="4480560"/>
            <a:ext cx="109728" cy="1325880"/>
          </a:xfrm>
          <a:prstGeom prst="rect">
            <a:avLst/>
          </a:prstGeom>
          <a:solidFill>
            <a:srgbClr val="2A9FD6"/>
          </a:solidFill>
          <a:ln/>
        </p:spPr>
        <p:txBody>
          <a:bodyPr/>
          <a:lstStyle/>
          <a:p>
            <a:endParaRPr lang="en-US"/>
          </a:p>
        </p:txBody>
      </p:sp>
      <p:sp>
        <p:nvSpPr>
          <p:cNvPr id="26" name="Text 23"/>
          <p:cNvSpPr txBox="1"/>
          <p:nvPr/>
        </p:nvSpPr>
        <p:spPr>
          <a:xfrm>
            <a:off x="7635240" y="461772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Then try it</a:t>
            </a:r>
            <a:endParaRPr lang="en-US" sz="1800" dirty="0"/>
          </a:p>
        </p:txBody>
      </p:sp>
      <p:sp>
        <p:nvSpPr>
          <p:cNvPr id="27" name="Text 24"/>
          <p:cNvSpPr txBox="1"/>
          <p:nvPr/>
        </p:nvSpPr>
        <p:spPr>
          <a:xfrm>
            <a:off x="7635240" y="501091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Put the option between the command and the file:  wc -l file</a:t>
            </a:r>
            <a:endParaRPr lang="en-US" sz="14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fontScale="92500" lnSpcReduction="20000"/>
          </a:bodyPr>
          <a:lstStyle/>
          <a:p>
            <a:pPr marL="0" indent="0">
              <a:buNone/>
            </a:pPr>
            <a:r>
              <a:rPr lang="en-US" sz="3200" b="1" dirty="0">
                <a:solidFill>
                  <a:srgbClr val="12213A"/>
                </a:solidFill>
                <a:latin typeface="Arial" pitchFamily="34" charset="0"/>
                <a:ea typeface="Arial" pitchFamily="34" charset="-122"/>
                <a:cs typeface="Arial" pitchFamily="34" charset="-120"/>
              </a:rPr>
              <a:t>Go deeper: man, and finding new commands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10" name="Shape 7"/>
          <p:cNvSpPr/>
          <p:nvPr/>
        </p:nvSpPr>
        <p:spPr>
          <a:xfrm>
            <a:off x="548640" y="1463040"/>
            <a:ext cx="5989320" cy="1005840"/>
          </a:xfrm>
          <a:prstGeom prst="roundRect">
            <a:avLst>
              <a:gd name="adj" fmla="val 9091"/>
            </a:avLst>
          </a:prstGeom>
          <a:solidFill>
            <a:srgbClr val="F1F5FB"/>
          </a:solidFill>
          <a:ln/>
        </p:spPr>
        <p:txBody>
          <a:bodyPr/>
          <a:lstStyle/>
          <a:p>
            <a:endParaRPr lang="en-US"/>
          </a:p>
        </p:txBody>
      </p:sp>
      <p:sp>
        <p:nvSpPr>
          <p:cNvPr id="11" name="Shape 8"/>
          <p:cNvSpPr/>
          <p:nvPr/>
        </p:nvSpPr>
        <p:spPr>
          <a:xfrm>
            <a:off x="548640" y="1463040"/>
            <a:ext cx="91440" cy="1005840"/>
          </a:xfrm>
          <a:prstGeom prst="rect">
            <a:avLst/>
          </a:prstGeom>
          <a:solidFill>
            <a:srgbClr val="2459D8"/>
          </a:solidFill>
          <a:ln/>
        </p:spPr>
        <p:txBody>
          <a:bodyPr/>
          <a:lstStyle/>
          <a:p>
            <a:endParaRPr lang="en-US"/>
          </a:p>
        </p:txBody>
      </p:sp>
      <p:sp>
        <p:nvSpPr>
          <p:cNvPr id="12" name="Text 9"/>
          <p:cNvSpPr txBox="1"/>
          <p:nvPr/>
        </p:nvSpPr>
        <p:spPr>
          <a:xfrm>
            <a:off x="822960" y="1536192"/>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Read the manual</a:t>
            </a:r>
            <a:endParaRPr lang="en-US" sz="1700" dirty="0"/>
          </a:p>
        </p:txBody>
      </p:sp>
      <p:sp>
        <p:nvSpPr>
          <p:cNvPr id="13" name="Shape 10"/>
          <p:cNvSpPr/>
          <p:nvPr/>
        </p:nvSpPr>
        <p:spPr>
          <a:xfrm>
            <a:off x="3977640" y="1554480"/>
            <a:ext cx="2377440" cy="384048"/>
          </a:xfrm>
          <a:prstGeom prst="roundRect">
            <a:avLst>
              <a:gd name="adj" fmla="val 14286"/>
            </a:avLst>
          </a:prstGeom>
          <a:solidFill>
            <a:srgbClr val="0E1726"/>
          </a:solidFill>
          <a:ln/>
        </p:spPr>
        <p:txBody>
          <a:bodyPr/>
          <a:lstStyle/>
          <a:p>
            <a:endParaRPr lang="en-US"/>
          </a:p>
        </p:txBody>
      </p:sp>
      <p:sp>
        <p:nvSpPr>
          <p:cNvPr id="14" name="Text 11"/>
          <p:cNvSpPr txBox="1"/>
          <p:nvPr/>
        </p:nvSpPr>
        <p:spPr>
          <a:xfrm>
            <a:off x="3977640" y="155448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man grep</a:t>
            </a:r>
            <a:endParaRPr lang="en-US" sz="1300" dirty="0"/>
          </a:p>
        </p:txBody>
      </p:sp>
      <p:sp>
        <p:nvSpPr>
          <p:cNvPr id="15" name="Text 12"/>
          <p:cNvSpPr txBox="1"/>
          <p:nvPr/>
        </p:nvSpPr>
        <p:spPr>
          <a:xfrm>
            <a:off x="822960" y="1965960"/>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option and examples. Arrows to move, / to search, q to quit.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16" name="Shape 13"/>
          <p:cNvSpPr/>
          <p:nvPr/>
        </p:nvSpPr>
        <p:spPr>
          <a:xfrm>
            <a:off x="548640" y="2578608"/>
            <a:ext cx="5989320" cy="1005840"/>
          </a:xfrm>
          <a:prstGeom prst="roundRect">
            <a:avLst>
              <a:gd name="adj" fmla="val 9091"/>
            </a:avLst>
          </a:prstGeom>
          <a:solidFill>
            <a:srgbClr val="F1F5FB"/>
          </a:solidFill>
          <a:ln/>
        </p:spPr>
        <p:txBody>
          <a:bodyPr/>
          <a:lstStyle/>
          <a:p>
            <a:endParaRPr lang="en-US"/>
          </a:p>
        </p:txBody>
      </p:sp>
      <p:sp>
        <p:nvSpPr>
          <p:cNvPr id="17" name="Shape 14"/>
          <p:cNvSpPr/>
          <p:nvPr/>
        </p:nvSpPr>
        <p:spPr>
          <a:xfrm>
            <a:off x="548640" y="2578608"/>
            <a:ext cx="91440" cy="1005840"/>
          </a:xfrm>
          <a:prstGeom prst="rect">
            <a:avLst/>
          </a:prstGeom>
          <a:solidFill>
            <a:srgbClr val="7448D4"/>
          </a:solidFill>
          <a:ln/>
        </p:spPr>
        <p:txBody>
          <a:bodyPr/>
          <a:lstStyle/>
          <a:p>
            <a:endParaRPr lang="en-US"/>
          </a:p>
        </p:txBody>
      </p:sp>
      <p:sp>
        <p:nvSpPr>
          <p:cNvPr id="18" name="Text 15"/>
          <p:cNvSpPr txBox="1"/>
          <p:nvPr/>
        </p:nvSpPr>
        <p:spPr>
          <a:xfrm>
            <a:off x="822960" y="2651760"/>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Search by the job</a:t>
            </a:r>
            <a:endParaRPr lang="en-US" sz="1700" dirty="0"/>
          </a:p>
        </p:txBody>
      </p:sp>
      <p:sp>
        <p:nvSpPr>
          <p:cNvPr id="19" name="Shape 16"/>
          <p:cNvSpPr/>
          <p:nvPr/>
        </p:nvSpPr>
        <p:spPr>
          <a:xfrm>
            <a:off x="3977640" y="2670048"/>
            <a:ext cx="2377440" cy="384048"/>
          </a:xfrm>
          <a:prstGeom prst="roundRect">
            <a:avLst>
              <a:gd name="adj" fmla="val 14286"/>
            </a:avLst>
          </a:prstGeom>
          <a:solidFill>
            <a:srgbClr val="0E1726"/>
          </a:solidFill>
          <a:ln/>
        </p:spPr>
        <p:txBody>
          <a:bodyPr/>
          <a:lstStyle/>
          <a:p>
            <a:endParaRPr lang="en-US"/>
          </a:p>
        </p:txBody>
      </p:sp>
      <p:sp>
        <p:nvSpPr>
          <p:cNvPr id="20" name="Text 17"/>
          <p:cNvSpPr txBox="1"/>
          <p:nvPr/>
        </p:nvSpPr>
        <p:spPr>
          <a:xfrm>
            <a:off x="3977640" y="2670048"/>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apropos rename</a:t>
            </a:r>
            <a:endParaRPr lang="en-US" sz="1300" dirty="0"/>
          </a:p>
        </p:txBody>
      </p:sp>
      <p:sp>
        <p:nvSpPr>
          <p:cNvPr id="21" name="Text 18"/>
          <p:cNvSpPr txBox="1"/>
          <p:nvPr/>
        </p:nvSpPr>
        <p:spPr>
          <a:xfrm>
            <a:off x="822960" y="3081528"/>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Don't know the name? Search what commands do. Same as man -k.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2" name="Shape 19"/>
          <p:cNvSpPr/>
          <p:nvPr/>
        </p:nvSpPr>
        <p:spPr>
          <a:xfrm>
            <a:off x="548640" y="3694176"/>
            <a:ext cx="5989320" cy="1005840"/>
          </a:xfrm>
          <a:prstGeom prst="roundRect">
            <a:avLst>
              <a:gd name="adj" fmla="val 9091"/>
            </a:avLst>
          </a:prstGeom>
          <a:solidFill>
            <a:srgbClr val="F1F5FB"/>
          </a:solidFill>
          <a:ln/>
        </p:spPr>
        <p:txBody>
          <a:bodyPr/>
          <a:lstStyle/>
          <a:p>
            <a:endParaRPr lang="en-US"/>
          </a:p>
        </p:txBody>
      </p:sp>
      <p:sp>
        <p:nvSpPr>
          <p:cNvPr id="23" name="Shape 20"/>
          <p:cNvSpPr/>
          <p:nvPr/>
        </p:nvSpPr>
        <p:spPr>
          <a:xfrm>
            <a:off x="548640" y="3694176"/>
            <a:ext cx="91440" cy="1005840"/>
          </a:xfrm>
          <a:prstGeom prst="rect">
            <a:avLst/>
          </a:prstGeom>
          <a:solidFill>
            <a:srgbClr val="D1416B"/>
          </a:solidFill>
          <a:ln/>
        </p:spPr>
        <p:txBody>
          <a:bodyPr/>
          <a:lstStyle/>
          <a:p>
            <a:endParaRPr lang="en-US"/>
          </a:p>
        </p:txBody>
      </p:sp>
      <p:sp>
        <p:nvSpPr>
          <p:cNvPr id="24" name="Text 21"/>
          <p:cNvSpPr txBox="1"/>
          <p:nvPr/>
        </p:nvSpPr>
        <p:spPr>
          <a:xfrm>
            <a:off x="822960" y="3767328"/>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One line or a few examples</a:t>
            </a:r>
            <a:endParaRPr lang="en-US" sz="1700" dirty="0"/>
          </a:p>
        </p:txBody>
      </p:sp>
      <p:sp>
        <p:nvSpPr>
          <p:cNvPr id="25" name="Shape 22"/>
          <p:cNvSpPr/>
          <p:nvPr/>
        </p:nvSpPr>
        <p:spPr>
          <a:xfrm>
            <a:off x="3977640" y="3785616"/>
            <a:ext cx="2377440" cy="384048"/>
          </a:xfrm>
          <a:prstGeom prst="roundRect">
            <a:avLst>
              <a:gd name="adj" fmla="val 14286"/>
            </a:avLst>
          </a:prstGeom>
          <a:solidFill>
            <a:srgbClr val="0E1726"/>
          </a:solidFill>
          <a:ln/>
        </p:spPr>
        <p:txBody>
          <a:bodyPr/>
          <a:lstStyle/>
          <a:p>
            <a:endParaRPr lang="en-US"/>
          </a:p>
        </p:txBody>
      </p:sp>
      <p:sp>
        <p:nvSpPr>
          <p:cNvPr id="26" name="Text 23"/>
          <p:cNvSpPr txBox="1"/>
          <p:nvPr/>
        </p:nvSpPr>
        <p:spPr>
          <a:xfrm>
            <a:off x="3977640" y="3785616"/>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whatis ls   tldr tar</a:t>
            </a:r>
            <a:endParaRPr lang="en-US" sz="1300" dirty="0"/>
          </a:p>
        </p:txBody>
      </p:sp>
      <p:sp>
        <p:nvSpPr>
          <p:cNvPr id="27" name="Text 24"/>
          <p:cNvSpPr txBox="1"/>
          <p:nvPr/>
        </p:nvSpPr>
        <p:spPr>
          <a:xfrm>
            <a:off x="822960" y="4197096"/>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one-line summary, or the most useful examples.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8" name="Shape 25"/>
          <p:cNvSpPr/>
          <p:nvPr/>
        </p:nvSpPr>
        <p:spPr>
          <a:xfrm>
            <a:off x="548640" y="4809744"/>
            <a:ext cx="5989320" cy="1005840"/>
          </a:xfrm>
          <a:prstGeom prst="roundRect">
            <a:avLst>
              <a:gd name="adj" fmla="val 9091"/>
            </a:avLst>
          </a:prstGeom>
          <a:solidFill>
            <a:srgbClr val="F1F5FB"/>
          </a:solidFill>
          <a:ln/>
        </p:spPr>
        <p:txBody>
          <a:bodyPr/>
          <a:lstStyle/>
          <a:p>
            <a:endParaRPr lang="en-US"/>
          </a:p>
        </p:txBody>
      </p:sp>
      <p:sp>
        <p:nvSpPr>
          <p:cNvPr id="29" name="Shape 26"/>
          <p:cNvSpPr/>
          <p:nvPr/>
        </p:nvSpPr>
        <p:spPr>
          <a:xfrm>
            <a:off x="548640" y="4809744"/>
            <a:ext cx="91440" cy="1005840"/>
          </a:xfrm>
          <a:prstGeom prst="rect">
            <a:avLst/>
          </a:prstGeom>
          <a:solidFill>
            <a:srgbClr val="17875A"/>
          </a:solidFill>
          <a:ln/>
        </p:spPr>
        <p:txBody>
          <a:bodyPr/>
          <a:lstStyle/>
          <a:p>
            <a:endParaRPr lang="en-US"/>
          </a:p>
        </p:txBody>
      </p:sp>
      <p:sp>
        <p:nvSpPr>
          <p:cNvPr id="30" name="Text 27"/>
          <p:cNvSpPr txBox="1"/>
          <p:nvPr/>
        </p:nvSpPr>
        <p:spPr>
          <a:xfrm>
            <a:off x="822960" y="4882896"/>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See everything you have</a:t>
            </a:r>
            <a:endParaRPr lang="en-US" sz="1700" dirty="0"/>
          </a:p>
        </p:txBody>
      </p:sp>
      <p:sp>
        <p:nvSpPr>
          <p:cNvPr id="31" name="Shape 28"/>
          <p:cNvSpPr/>
          <p:nvPr/>
        </p:nvSpPr>
        <p:spPr>
          <a:xfrm>
            <a:off x="3977640" y="4901184"/>
            <a:ext cx="2377440" cy="384048"/>
          </a:xfrm>
          <a:prstGeom prst="roundRect">
            <a:avLst>
              <a:gd name="adj" fmla="val 14286"/>
            </a:avLst>
          </a:prstGeom>
          <a:solidFill>
            <a:srgbClr val="0E1726"/>
          </a:solidFill>
          <a:ln/>
        </p:spPr>
        <p:txBody>
          <a:bodyPr/>
          <a:lstStyle/>
          <a:p>
            <a:endParaRPr lang="en-US"/>
          </a:p>
        </p:txBody>
      </p:sp>
      <p:sp>
        <p:nvSpPr>
          <p:cNvPr id="32" name="Text 29"/>
          <p:cNvSpPr txBox="1"/>
          <p:nvPr/>
        </p:nvSpPr>
        <p:spPr>
          <a:xfrm>
            <a:off x="3977640" y="4901184"/>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ls /bin</a:t>
            </a:r>
            <a:endParaRPr lang="en-US" sz="1300" dirty="0"/>
          </a:p>
        </p:txBody>
      </p:sp>
      <p:sp>
        <p:nvSpPr>
          <p:cNvPr id="33" name="Text 30"/>
          <p:cNvSpPr txBox="1"/>
          <p:nvPr/>
        </p:nvSpPr>
        <p:spPr>
          <a:xfrm>
            <a:off x="822960" y="5312664"/>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command on this computer. In the CTF too.  </a:t>
            </a:r>
            <a:r>
              <a:rPr lang="en-US" sz="1300" b="1" dirty="0">
                <a:solidFill>
                  <a:srgbClr val="17875A"/>
                </a:solidFill>
                <a:latin typeface="Calibri" pitchFamily="34" charset="0"/>
                <a:ea typeface="Calibri" pitchFamily="34" charset="-122"/>
                <a:cs typeface="Calibri" pitchFamily="34" charset="-120"/>
              </a:rPr>
              <a:t>works in the CTF</a:t>
            </a:r>
            <a:endParaRPr lang="en-US" sz="1300" dirty="0"/>
          </a:p>
        </p:txBody>
      </p:sp>
      <p:sp>
        <p:nvSpPr>
          <p:cNvPr id="34" name="Shape 31"/>
          <p:cNvSpPr/>
          <p:nvPr/>
        </p:nvSpPr>
        <p:spPr>
          <a:xfrm>
            <a:off x="6766560" y="1463040"/>
            <a:ext cx="487375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5" name="Shape 32"/>
          <p:cNvSpPr/>
          <p:nvPr/>
        </p:nvSpPr>
        <p:spPr>
          <a:xfrm>
            <a:off x="6967728" y="1618488"/>
            <a:ext cx="118872" cy="118872"/>
          </a:xfrm>
          <a:prstGeom prst="ellipse">
            <a:avLst/>
          </a:prstGeom>
          <a:solidFill>
            <a:srgbClr val="E5534B"/>
          </a:solidFill>
          <a:ln/>
        </p:spPr>
        <p:txBody>
          <a:bodyPr/>
          <a:lstStyle/>
          <a:p>
            <a:endParaRPr lang="en-US"/>
          </a:p>
        </p:txBody>
      </p:sp>
      <p:sp>
        <p:nvSpPr>
          <p:cNvPr id="36" name="Shape 33"/>
          <p:cNvSpPr/>
          <p:nvPr/>
        </p:nvSpPr>
        <p:spPr>
          <a:xfrm>
            <a:off x="7168896" y="1618488"/>
            <a:ext cx="118872" cy="118872"/>
          </a:xfrm>
          <a:prstGeom prst="ellipse">
            <a:avLst/>
          </a:prstGeom>
          <a:solidFill>
            <a:srgbClr val="F5A623"/>
          </a:solidFill>
          <a:ln/>
        </p:spPr>
        <p:txBody>
          <a:bodyPr/>
          <a:lstStyle/>
          <a:p>
            <a:endParaRPr lang="en-US"/>
          </a:p>
        </p:txBody>
      </p:sp>
      <p:sp>
        <p:nvSpPr>
          <p:cNvPr id="37" name="Shape 34"/>
          <p:cNvSpPr/>
          <p:nvPr/>
        </p:nvSpPr>
        <p:spPr>
          <a:xfrm>
            <a:off x="7370064" y="1618488"/>
            <a:ext cx="118872" cy="118872"/>
          </a:xfrm>
          <a:prstGeom prst="ellipse">
            <a:avLst/>
          </a:prstGeom>
          <a:solidFill>
            <a:srgbClr val="46D39A"/>
          </a:solidFill>
          <a:ln/>
        </p:spPr>
        <p:txBody>
          <a:bodyPr/>
          <a:lstStyle/>
          <a:p>
            <a:endParaRPr lang="en-US"/>
          </a:p>
        </p:txBody>
      </p:sp>
      <p:sp>
        <p:nvSpPr>
          <p:cNvPr id="38" name="Text 35"/>
          <p:cNvSpPr txBox="1"/>
          <p:nvPr/>
        </p:nvSpPr>
        <p:spPr>
          <a:xfrm>
            <a:off x="7680960" y="1536192"/>
            <a:ext cx="304495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discovering commands</a:t>
            </a:r>
            <a:endParaRPr lang="en-US" sz="1000" dirty="0"/>
          </a:p>
        </p:txBody>
      </p:sp>
      <p:sp>
        <p:nvSpPr>
          <p:cNvPr id="39" name="Text 36"/>
          <p:cNvSpPr txBox="1"/>
          <p:nvPr/>
        </p:nvSpPr>
        <p:spPr>
          <a:xfrm>
            <a:off x="7040880" y="1920240"/>
            <a:ext cx="4325112" cy="384048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on a full Linux machine or a Mac:</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apropos rename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mv (1)        - move (rename) files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rename (1)    - rename multiple files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man mv</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press q to quit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in the CTF:</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wc -l</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hundreds of commands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grep sum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md5sum  sha1sum  sha256sum ...</a:t>
            </a:r>
            <a:endParaRPr lang="en-US" sz="1400" dirty="0"/>
          </a:p>
        </p:txBody>
      </p:sp>
      <p:sp>
        <p:nvSpPr>
          <p:cNvPr id="40" name="Text 37"/>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300" b="1" dirty="0">
                <a:solidFill>
                  <a:srgbClr val="56657E"/>
                </a:solidFill>
                <a:latin typeface="Calibri" pitchFamily="34" charset="0"/>
                <a:ea typeface="Calibri" pitchFamily="34" charset="-122"/>
                <a:cs typeface="Calibri" pitchFamily="34" charset="-120"/>
              </a:rPr>
              <a:t>Online: </a:t>
            </a:r>
            <a:r>
              <a:rPr lang="en-US" sz="1300" dirty="0">
                <a:solidFill>
                  <a:srgbClr val="56657E"/>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http://www.explainshell.com</a:t>
            </a:r>
            <a:r>
              <a:rPr lang="en-US" sz="1300" dirty="0">
                <a:solidFill>
                  <a:srgbClr val="56657E"/>
                </a:solidFill>
                <a:latin typeface="Calibri" pitchFamily="34" charset="0"/>
                <a:ea typeface="Calibri" pitchFamily="34" charset="-122"/>
                <a:cs typeface="Calibri" pitchFamily="34" charset="-120"/>
              </a:rPr>
              <a:t> explains any command line, part by part. tldr.sh has short examples.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6"/>
                                        </p:tgtEl>
                                        <p:attrNameLst>
                                          <p:attrName>style.opacity</p:attrName>
                                        </p:attrNameLst>
                                      </p:cBhvr>
                                      <p:to>
                                        <p:strVal val="0.25"/>
                                      </p:to>
                                    </p:set>
                                    <p:animEffect filter="image" prLst="opacity: 0.25">
                                      <p:cBhvr rctx="IE">
                                        <p:cTn id="7" dur="1" fill="hold"/>
                                        <p:tgtEl>
                                          <p:spTgt spid="16"/>
                                        </p:tgtEl>
                                      </p:cBhvr>
                                    </p:animEffect>
                                  </p:childTnLst>
                                </p:cTn>
                              </p:par>
                              <p:par>
                                <p:cTn id="8" presetID="9" presetClass="emph" presetSubtype="0" fill="hold" grpId="0" nodeType="withEffect">
                                  <p:stCondLst>
                                    <p:cond delay="0"/>
                                  </p:stCondLst>
                                  <p:childTnLst>
                                    <p:set>
                                      <p:cBhvr>
                                        <p:cTn id="9" dur="1" fill="hold"/>
                                        <p:tgtEl>
                                          <p:spTgt spid="17"/>
                                        </p:tgtEl>
                                        <p:attrNameLst>
                                          <p:attrName>style.opacity</p:attrName>
                                        </p:attrNameLst>
                                      </p:cBhvr>
                                      <p:to>
                                        <p:strVal val="0.25"/>
                                      </p:to>
                                    </p:set>
                                    <p:animEffect filter="image" prLst="opacity: 0.25">
                                      <p:cBhvr rctx="IE">
                                        <p:cTn id="10" dur="1" fill="hold"/>
                                        <p:tgtEl>
                                          <p:spTgt spid="17"/>
                                        </p:tgtEl>
                                      </p:cBhvr>
                                    </p:animEffect>
                                  </p:childTnLst>
                                </p:cTn>
                              </p:par>
                              <p:par>
                                <p:cTn id="11" presetID="9" presetClass="emph" presetSubtype="0" fill="hold" grpId="0" nodeType="withEffect">
                                  <p:stCondLst>
                                    <p:cond delay="0"/>
                                  </p:stCondLst>
                                  <p:childTnLst>
                                    <p:set>
                                      <p:cBhvr>
                                        <p:cTn id="12" dur="1" fill="hold"/>
                                        <p:tgtEl>
                                          <p:spTgt spid="18"/>
                                        </p:tgtEl>
                                        <p:attrNameLst>
                                          <p:attrName>style.opacity</p:attrName>
                                        </p:attrNameLst>
                                      </p:cBhvr>
                                      <p:to>
                                        <p:strVal val="0.25"/>
                                      </p:to>
                                    </p:set>
                                    <p:animEffect filter="image" prLst="opacity: 0.25">
                                      <p:cBhvr rctx="IE">
                                        <p:cTn id="13" dur="1" fill="hold"/>
                                        <p:tgtEl>
                                          <p:spTgt spid="18"/>
                                        </p:tgtEl>
                                      </p:cBhvr>
                                    </p:animEffect>
                                  </p:childTnLst>
                                </p:cTn>
                              </p:par>
                              <p:par>
                                <p:cTn id="14" presetID="9" presetClass="emph" presetSubtype="0" fill="hold" grpId="0" nodeType="withEffect">
                                  <p:stCondLst>
                                    <p:cond delay="0"/>
                                  </p:stCondLst>
                                  <p:childTnLst>
                                    <p:set>
                                      <p:cBhvr>
                                        <p:cTn id="15" dur="1" fill="hold"/>
                                        <p:tgtEl>
                                          <p:spTgt spid="19"/>
                                        </p:tgtEl>
                                        <p:attrNameLst>
                                          <p:attrName>style.opacity</p:attrName>
                                        </p:attrNameLst>
                                      </p:cBhvr>
                                      <p:to>
                                        <p:strVal val="0.25"/>
                                      </p:to>
                                    </p:set>
                                    <p:animEffect filter="image" prLst="opacity: 0.25">
                                      <p:cBhvr rctx="IE">
                                        <p:cTn id="16" dur="1" fill="hold"/>
                                        <p:tgtEl>
                                          <p:spTgt spid="19"/>
                                        </p:tgtEl>
                                      </p:cBhvr>
                                    </p:animEffect>
                                  </p:childTnLst>
                                </p:cTn>
                              </p:par>
                              <p:par>
                                <p:cTn id="17" presetID="9" presetClass="emph" presetSubtype="0" fill="hold" grpId="0" nodeType="withEffect">
                                  <p:stCondLst>
                                    <p:cond delay="0"/>
                                  </p:stCondLst>
                                  <p:childTnLst>
                                    <p:set>
                                      <p:cBhvr>
                                        <p:cTn id="18" dur="1" fill="hold"/>
                                        <p:tgtEl>
                                          <p:spTgt spid="20"/>
                                        </p:tgtEl>
                                        <p:attrNameLst>
                                          <p:attrName>style.opacity</p:attrName>
                                        </p:attrNameLst>
                                      </p:cBhvr>
                                      <p:to>
                                        <p:strVal val="0.25"/>
                                      </p:to>
                                    </p:set>
                                    <p:animEffect filter="image" prLst="opacity: 0.25">
                                      <p:cBhvr rctx="IE">
                                        <p:cTn id="19" dur="1" fill="hold"/>
                                        <p:tgtEl>
                                          <p:spTgt spid="20"/>
                                        </p:tgtEl>
                                      </p:cBhvr>
                                    </p:animEffect>
                                  </p:childTnLst>
                                </p:cTn>
                              </p:par>
                              <p:par>
                                <p:cTn id="20" presetID="9" presetClass="emph" presetSubtype="0" fill="hold" grpId="0" nodeType="withEffect">
                                  <p:stCondLst>
                                    <p:cond delay="0"/>
                                  </p:stCondLst>
                                  <p:childTnLst>
                                    <p:set>
                                      <p:cBhvr>
                                        <p:cTn id="21" dur="1" fill="hold"/>
                                        <p:tgtEl>
                                          <p:spTgt spid="21"/>
                                        </p:tgtEl>
                                        <p:attrNameLst>
                                          <p:attrName>style.opacity</p:attrName>
                                        </p:attrNameLst>
                                      </p:cBhvr>
                                      <p:to>
                                        <p:strVal val="0.25"/>
                                      </p:to>
                                    </p:set>
                                    <p:animEffect filter="image" prLst="opacity: 0.25">
                                      <p:cBhvr rctx="IE">
                                        <p:cTn id="22" dur="1" fill="hold"/>
                                        <p:tgtEl>
                                          <p:spTgt spid="21"/>
                                        </p:tgtEl>
                                      </p:cBhvr>
                                    </p:animEffect>
                                  </p:childTnLst>
                                </p:cTn>
                              </p:par>
                              <p:par>
                                <p:cTn id="23" presetID="9" presetClass="emph" presetSubtype="0" fill="hold" grpId="0" nodeType="withEffect">
                                  <p:stCondLst>
                                    <p:cond delay="0"/>
                                  </p:stCondLst>
                                  <p:childTnLst>
                                    <p:set>
                                      <p:cBhvr>
                                        <p:cTn id="24" dur="1" fill="hold"/>
                                        <p:tgtEl>
                                          <p:spTgt spid="22"/>
                                        </p:tgtEl>
                                        <p:attrNameLst>
                                          <p:attrName>style.opacity</p:attrName>
                                        </p:attrNameLst>
                                      </p:cBhvr>
                                      <p:to>
                                        <p:strVal val="0.25"/>
                                      </p:to>
                                    </p:set>
                                    <p:animEffect filter="image" prLst="opacity: 0.25">
                                      <p:cBhvr rctx="IE">
                                        <p:cTn id="25" dur="1" fill="hold"/>
                                        <p:tgtEl>
                                          <p:spTgt spid="22"/>
                                        </p:tgtEl>
                                      </p:cBhvr>
                                    </p:animEffect>
                                  </p:childTnLst>
                                </p:cTn>
                              </p:par>
                              <p:par>
                                <p:cTn id="26" presetID="9" presetClass="emph" presetSubtype="0" fill="hold" grpId="0" nodeType="withEffect">
                                  <p:stCondLst>
                                    <p:cond delay="0"/>
                                  </p:stCondLst>
                                  <p:childTnLst>
                                    <p:set>
                                      <p:cBhvr>
                                        <p:cTn id="27" dur="1" fill="hold"/>
                                        <p:tgtEl>
                                          <p:spTgt spid="23"/>
                                        </p:tgtEl>
                                        <p:attrNameLst>
                                          <p:attrName>style.opacity</p:attrName>
                                        </p:attrNameLst>
                                      </p:cBhvr>
                                      <p:to>
                                        <p:strVal val="0.25"/>
                                      </p:to>
                                    </p:set>
                                    <p:animEffect filter="image" prLst="opacity: 0.25">
                                      <p:cBhvr rctx="IE">
                                        <p:cTn id="28" dur="1" fill="hold"/>
                                        <p:tgtEl>
                                          <p:spTgt spid="23"/>
                                        </p:tgtEl>
                                      </p:cBhvr>
                                    </p:animEffect>
                                  </p:childTnLst>
                                </p:cTn>
                              </p:par>
                              <p:par>
                                <p:cTn id="29" presetID="9" presetClass="emph" presetSubtype="0" fill="hold" grpId="0" nodeType="withEffect">
                                  <p:stCondLst>
                                    <p:cond delay="0"/>
                                  </p:stCondLst>
                                  <p:childTnLst>
                                    <p:set>
                                      <p:cBhvr>
                                        <p:cTn id="30" dur="1" fill="hold"/>
                                        <p:tgtEl>
                                          <p:spTgt spid="24"/>
                                        </p:tgtEl>
                                        <p:attrNameLst>
                                          <p:attrName>style.opacity</p:attrName>
                                        </p:attrNameLst>
                                      </p:cBhvr>
                                      <p:to>
                                        <p:strVal val="0.25"/>
                                      </p:to>
                                    </p:set>
                                    <p:animEffect filter="image" prLst="opacity: 0.25">
                                      <p:cBhvr rctx="IE">
                                        <p:cTn id="31" dur="1" fill="hold"/>
                                        <p:tgtEl>
                                          <p:spTgt spid="24"/>
                                        </p:tgtEl>
                                      </p:cBhvr>
                                    </p:animEffect>
                                  </p:childTnLst>
                                </p:cTn>
                              </p:par>
                              <p:par>
                                <p:cTn id="32" presetID="9" presetClass="emph" presetSubtype="0" fill="hold" grpId="0" nodeType="withEffect">
                                  <p:stCondLst>
                                    <p:cond delay="0"/>
                                  </p:stCondLst>
                                  <p:childTnLst>
                                    <p:set>
                                      <p:cBhvr>
                                        <p:cTn id="33" dur="1" fill="hold"/>
                                        <p:tgtEl>
                                          <p:spTgt spid="25"/>
                                        </p:tgtEl>
                                        <p:attrNameLst>
                                          <p:attrName>style.opacity</p:attrName>
                                        </p:attrNameLst>
                                      </p:cBhvr>
                                      <p:to>
                                        <p:strVal val="0.25"/>
                                      </p:to>
                                    </p:set>
                                    <p:animEffect filter="image" prLst="opacity: 0.25">
                                      <p:cBhvr rctx="IE">
                                        <p:cTn id="34" dur="1" fill="hold"/>
                                        <p:tgtEl>
                                          <p:spTgt spid="25"/>
                                        </p:tgtEl>
                                      </p:cBhvr>
                                    </p:animEffect>
                                  </p:childTnLst>
                                </p:cTn>
                              </p:par>
                              <p:par>
                                <p:cTn id="35" presetID="9" presetClass="emph" presetSubtype="0" fill="hold" grpId="0" nodeType="withEffect">
                                  <p:stCondLst>
                                    <p:cond delay="0"/>
                                  </p:stCondLst>
                                  <p:childTnLst>
                                    <p:set>
                                      <p:cBhvr>
                                        <p:cTn id="36" dur="1" fill="hold"/>
                                        <p:tgtEl>
                                          <p:spTgt spid="26"/>
                                        </p:tgtEl>
                                        <p:attrNameLst>
                                          <p:attrName>style.opacity</p:attrName>
                                        </p:attrNameLst>
                                      </p:cBhvr>
                                      <p:to>
                                        <p:strVal val="0.25"/>
                                      </p:to>
                                    </p:set>
                                    <p:animEffect filter="image" prLst="opacity: 0.25">
                                      <p:cBhvr rctx="IE">
                                        <p:cTn id="37" dur="1" fill="hold"/>
                                        <p:tgtEl>
                                          <p:spTgt spid="26"/>
                                        </p:tgtEl>
                                      </p:cBhvr>
                                    </p:animEffect>
                                  </p:childTnLst>
                                </p:cTn>
                              </p:par>
                              <p:par>
                                <p:cTn id="38" presetID="9" presetClass="emph" presetSubtype="0" fill="hold" grpId="0" nodeType="withEffect">
                                  <p:stCondLst>
                                    <p:cond delay="0"/>
                                  </p:stCondLst>
                                  <p:childTnLst>
                                    <p:set>
                                      <p:cBhvr>
                                        <p:cTn id="39" dur="1" fill="hold"/>
                                        <p:tgtEl>
                                          <p:spTgt spid="27"/>
                                        </p:tgtEl>
                                        <p:attrNameLst>
                                          <p:attrName>style.opacity</p:attrName>
                                        </p:attrNameLst>
                                      </p:cBhvr>
                                      <p:to>
                                        <p:strVal val="0.25"/>
                                      </p:to>
                                    </p:set>
                                    <p:animEffect filter="image" prLst="opacity: 0.25">
                                      <p:cBhvr rctx="IE">
                                        <p:cTn id="40" dur="1" fill="hold"/>
                                        <p:tgtEl>
                                          <p:spTgt spid="27"/>
                                        </p:tgtEl>
                                      </p:cBhvr>
                                    </p:animEffect>
                                  </p:childTnLst>
                                </p:cTn>
                              </p:par>
                              <p:par>
                                <p:cTn id="41" presetID="9" presetClass="emph" presetSubtype="0" fill="hold" grpId="0" nodeType="withEffect">
                                  <p:stCondLst>
                                    <p:cond delay="0"/>
                                  </p:stCondLst>
                                  <p:childTnLst>
                                    <p:set>
                                      <p:cBhvr>
                                        <p:cTn id="42" dur="1" fill="hold"/>
                                        <p:tgtEl>
                                          <p:spTgt spid="28"/>
                                        </p:tgtEl>
                                        <p:attrNameLst>
                                          <p:attrName>style.opacity</p:attrName>
                                        </p:attrNameLst>
                                      </p:cBhvr>
                                      <p:to>
                                        <p:strVal val="0.25"/>
                                      </p:to>
                                    </p:set>
                                    <p:animEffect filter="image" prLst="opacity: 0.25">
                                      <p:cBhvr rctx="IE">
                                        <p:cTn id="43" dur="1" fill="hold"/>
                                        <p:tgtEl>
                                          <p:spTgt spid="28"/>
                                        </p:tgtEl>
                                      </p:cBhvr>
                                    </p:animEffect>
                                  </p:childTnLst>
                                </p:cTn>
                              </p:par>
                              <p:par>
                                <p:cTn id="44" presetID="9" presetClass="emph" presetSubtype="0" fill="hold" grpId="0" nodeType="withEffect">
                                  <p:stCondLst>
                                    <p:cond delay="0"/>
                                  </p:stCondLst>
                                  <p:childTnLst>
                                    <p:set>
                                      <p:cBhvr>
                                        <p:cTn id="45" dur="1" fill="hold"/>
                                        <p:tgtEl>
                                          <p:spTgt spid="29"/>
                                        </p:tgtEl>
                                        <p:attrNameLst>
                                          <p:attrName>style.opacity</p:attrName>
                                        </p:attrNameLst>
                                      </p:cBhvr>
                                      <p:to>
                                        <p:strVal val="0.25"/>
                                      </p:to>
                                    </p:set>
                                    <p:animEffect filter="image" prLst="opacity: 0.25">
                                      <p:cBhvr rctx="IE">
                                        <p:cTn id="46" dur="1" fill="hold"/>
                                        <p:tgtEl>
                                          <p:spTgt spid="29"/>
                                        </p:tgtEl>
                                      </p:cBhvr>
                                    </p:animEffect>
                                  </p:childTnLst>
                                </p:cTn>
                              </p:par>
                              <p:par>
                                <p:cTn id="47" presetID="9" presetClass="emph" presetSubtype="0" fill="hold" grpId="0" nodeType="withEffect">
                                  <p:stCondLst>
                                    <p:cond delay="0"/>
                                  </p:stCondLst>
                                  <p:childTnLst>
                                    <p:set>
                                      <p:cBhvr>
                                        <p:cTn id="48" dur="1" fill="hold"/>
                                        <p:tgtEl>
                                          <p:spTgt spid="30"/>
                                        </p:tgtEl>
                                        <p:attrNameLst>
                                          <p:attrName>style.opacity</p:attrName>
                                        </p:attrNameLst>
                                      </p:cBhvr>
                                      <p:to>
                                        <p:strVal val="0.25"/>
                                      </p:to>
                                    </p:set>
                                    <p:animEffect filter="image" prLst="opacity: 0.25">
                                      <p:cBhvr rctx="IE">
                                        <p:cTn id="49" dur="1" fill="hold"/>
                                        <p:tgtEl>
                                          <p:spTgt spid="30"/>
                                        </p:tgtEl>
                                      </p:cBhvr>
                                    </p:animEffect>
                                  </p:childTnLst>
                                </p:cTn>
                              </p:par>
                              <p:par>
                                <p:cTn id="50" presetID="9" presetClass="emph" presetSubtype="0" fill="hold" grpId="0" nodeType="withEffect">
                                  <p:stCondLst>
                                    <p:cond delay="0"/>
                                  </p:stCondLst>
                                  <p:childTnLst>
                                    <p:set>
                                      <p:cBhvr>
                                        <p:cTn id="51" dur="1" fill="hold"/>
                                        <p:tgtEl>
                                          <p:spTgt spid="31"/>
                                        </p:tgtEl>
                                        <p:attrNameLst>
                                          <p:attrName>style.opacity</p:attrName>
                                        </p:attrNameLst>
                                      </p:cBhvr>
                                      <p:to>
                                        <p:strVal val="0.25"/>
                                      </p:to>
                                    </p:set>
                                    <p:animEffect filter="image" prLst="opacity: 0.25">
                                      <p:cBhvr rctx="IE">
                                        <p:cTn id="52" dur="1" fill="hold"/>
                                        <p:tgtEl>
                                          <p:spTgt spid="31"/>
                                        </p:tgtEl>
                                      </p:cBhvr>
                                    </p:animEffect>
                                  </p:childTnLst>
                                </p:cTn>
                              </p:par>
                              <p:par>
                                <p:cTn id="53" presetID="9" presetClass="emph" presetSubtype="0" fill="hold" grpId="0" nodeType="withEffect">
                                  <p:stCondLst>
                                    <p:cond delay="0"/>
                                  </p:stCondLst>
                                  <p:childTnLst>
                                    <p:set>
                                      <p:cBhvr>
                                        <p:cTn id="54" dur="1" fill="hold"/>
                                        <p:tgtEl>
                                          <p:spTgt spid="32"/>
                                        </p:tgtEl>
                                        <p:attrNameLst>
                                          <p:attrName>style.opacity</p:attrName>
                                        </p:attrNameLst>
                                      </p:cBhvr>
                                      <p:to>
                                        <p:strVal val="0.25"/>
                                      </p:to>
                                    </p:set>
                                    <p:animEffect filter="image" prLst="opacity: 0.25">
                                      <p:cBhvr rctx="IE">
                                        <p:cTn id="55" dur="1" fill="hold"/>
                                        <p:tgtEl>
                                          <p:spTgt spid="32"/>
                                        </p:tgtEl>
                                      </p:cBhvr>
                                    </p:animEffect>
                                  </p:childTnLst>
                                </p:cTn>
                              </p:par>
                              <p:par>
                                <p:cTn id="56" presetID="9" presetClass="emph" presetSubtype="0" fill="hold" grpId="0" nodeType="withEffect">
                                  <p:stCondLst>
                                    <p:cond delay="0"/>
                                  </p:stCondLst>
                                  <p:childTnLst>
                                    <p:set>
                                      <p:cBhvr>
                                        <p:cTn id="57" dur="1" fill="hold"/>
                                        <p:tgtEl>
                                          <p:spTgt spid="33"/>
                                        </p:tgtEl>
                                        <p:attrNameLst>
                                          <p:attrName>style.opacity</p:attrName>
                                        </p:attrNameLst>
                                      </p:cBhvr>
                                      <p:to>
                                        <p:strVal val="0.25"/>
                                      </p:to>
                                    </p:set>
                                    <p:animEffect filter="image" prLst="opacity: 0.25">
                                      <p:cBhvr rctx="IE">
                                        <p:cTn id="58" dur="1" fill="hold"/>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mph" presetSubtype="0" fill="hold" grpId="0" nodeType="clickEffect">
                                  <p:stCondLst>
                                    <p:cond delay="0"/>
                                  </p:stCondLst>
                                  <p:childTnLst>
                                    <p:set>
                                      <p:cBhvr>
                                        <p:cTn id="62" dur="400" fill="hold"/>
                                        <p:tgtEl>
                                          <p:spTgt spid="16"/>
                                        </p:tgtEl>
                                        <p:attrNameLst>
                                          <p:attrName>style.opacity</p:attrName>
                                        </p:attrNameLst>
                                      </p:cBhvr>
                                      <p:to>
                                        <p:strVal val="1"/>
                                      </p:to>
                                    </p:set>
                                    <p:animEffect filter="image" prLst="opacity: 1">
                                      <p:cBhvr rctx="IE">
                                        <p:cTn id="63" dur="400" fill="hold"/>
                                        <p:tgtEl>
                                          <p:spTgt spid="16"/>
                                        </p:tgtEl>
                                      </p:cBhvr>
                                    </p:animEffect>
                                  </p:childTnLst>
                                </p:cTn>
                              </p:par>
                              <p:par>
                                <p:cTn id="64" presetID="9" presetClass="emph" presetSubtype="0" fill="hold" grpId="0" nodeType="withEffect">
                                  <p:stCondLst>
                                    <p:cond delay="0"/>
                                  </p:stCondLst>
                                  <p:childTnLst>
                                    <p:set>
                                      <p:cBhvr>
                                        <p:cTn id="65" dur="400" fill="hold"/>
                                        <p:tgtEl>
                                          <p:spTgt spid="17"/>
                                        </p:tgtEl>
                                        <p:attrNameLst>
                                          <p:attrName>style.opacity</p:attrName>
                                        </p:attrNameLst>
                                      </p:cBhvr>
                                      <p:to>
                                        <p:strVal val="1"/>
                                      </p:to>
                                    </p:set>
                                    <p:animEffect filter="image" prLst="opacity: 1">
                                      <p:cBhvr rctx="IE">
                                        <p:cTn id="66" dur="400" fill="hold"/>
                                        <p:tgtEl>
                                          <p:spTgt spid="17"/>
                                        </p:tgtEl>
                                      </p:cBhvr>
                                    </p:animEffect>
                                  </p:childTnLst>
                                </p:cTn>
                              </p:par>
                              <p:par>
                                <p:cTn id="67" presetID="9" presetClass="emph" presetSubtype="0" fill="hold" grpId="0" nodeType="withEffect">
                                  <p:stCondLst>
                                    <p:cond delay="0"/>
                                  </p:stCondLst>
                                  <p:childTnLst>
                                    <p:set>
                                      <p:cBhvr>
                                        <p:cTn id="68" dur="400" fill="hold"/>
                                        <p:tgtEl>
                                          <p:spTgt spid="18"/>
                                        </p:tgtEl>
                                        <p:attrNameLst>
                                          <p:attrName>style.opacity</p:attrName>
                                        </p:attrNameLst>
                                      </p:cBhvr>
                                      <p:to>
                                        <p:strVal val="1"/>
                                      </p:to>
                                    </p:set>
                                    <p:animEffect filter="image" prLst="opacity: 1">
                                      <p:cBhvr rctx="IE">
                                        <p:cTn id="69" dur="400" fill="hold"/>
                                        <p:tgtEl>
                                          <p:spTgt spid="18"/>
                                        </p:tgtEl>
                                      </p:cBhvr>
                                    </p:animEffect>
                                  </p:childTnLst>
                                </p:cTn>
                              </p:par>
                              <p:par>
                                <p:cTn id="70" presetID="9" presetClass="emph" presetSubtype="0" fill="hold" grpId="0" nodeType="withEffect">
                                  <p:stCondLst>
                                    <p:cond delay="0"/>
                                  </p:stCondLst>
                                  <p:childTnLst>
                                    <p:set>
                                      <p:cBhvr>
                                        <p:cTn id="71" dur="400" fill="hold"/>
                                        <p:tgtEl>
                                          <p:spTgt spid="19"/>
                                        </p:tgtEl>
                                        <p:attrNameLst>
                                          <p:attrName>style.opacity</p:attrName>
                                        </p:attrNameLst>
                                      </p:cBhvr>
                                      <p:to>
                                        <p:strVal val="1"/>
                                      </p:to>
                                    </p:set>
                                    <p:animEffect filter="image" prLst="opacity: 1">
                                      <p:cBhvr rctx="IE">
                                        <p:cTn id="72" dur="400" fill="hold"/>
                                        <p:tgtEl>
                                          <p:spTgt spid="19"/>
                                        </p:tgtEl>
                                      </p:cBhvr>
                                    </p:animEffect>
                                  </p:childTnLst>
                                </p:cTn>
                              </p:par>
                              <p:par>
                                <p:cTn id="73" presetID="9" presetClass="emph" presetSubtype="0" fill="hold" grpId="0" nodeType="withEffect">
                                  <p:stCondLst>
                                    <p:cond delay="0"/>
                                  </p:stCondLst>
                                  <p:childTnLst>
                                    <p:set>
                                      <p:cBhvr>
                                        <p:cTn id="74" dur="400" fill="hold"/>
                                        <p:tgtEl>
                                          <p:spTgt spid="20"/>
                                        </p:tgtEl>
                                        <p:attrNameLst>
                                          <p:attrName>style.opacity</p:attrName>
                                        </p:attrNameLst>
                                      </p:cBhvr>
                                      <p:to>
                                        <p:strVal val="1"/>
                                      </p:to>
                                    </p:set>
                                    <p:animEffect filter="image" prLst="opacity: 1">
                                      <p:cBhvr rctx="IE">
                                        <p:cTn id="75" dur="400" fill="hold"/>
                                        <p:tgtEl>
                                          <p:spTgt spid="20"/>
                                        </p:tgtEl>
                                      </p:cBhvr>
                                    </p:animEffect>
                                  </p:childTnLst>
                                </p:cTn>
                              </p:par>
                              <p:par>
                                <p:cTn id="76" presetID="9" presetClass="emph" presetSubtype="0" fill="hold" grpId="0" nodeType="withEffect">
                                  <p:stCondLst>
                                    <p:cond delay="0"/>
                                  </p:stCondLst>
                                  <p:childTnLst>
                                    <p:set>
                                      <p:cBhvr>
                                        <p:cTn id="77" dur="400" fill="hold"/>
                                        <p:tgtEl>
                                          <p:spTgt spid="21"/>
                                        </p:tgtEl>
                                        <p:attrNameLst>
                                          <p:attrName>style.opacity</p:attrName>
                                        </p:attrNameLst>
                                      </p:cBhvr>
                                      <p:to>
                                        <p:strVal val="1"/>
                                      </p:to>
                                    </p:set>
                                    <p:animEffect filter="image" prLst="opacity: 1">
                                      <p:cBhvr rctx="IE">
                                        <p:cTn id="78" dur="400" fill="hold"/>
                                        <p:tgtEl>
                                          <p:spTgt spid="21"/>
                                        </p:tgtEl>
                                      </p:cBhvr>
                                    </p:animEffect>
                                  </p:childTnLst>
                                </p:cTn>
                              </p:par>
                              <p:par>
                                <p:cTn id="79" presetID="9" presetClass="emph" presetSubtype="0" fill="hold" grpId="0" nodeType="withEffect">
                                  <p:stCondLst>
                                    <p:cond delay="0"/>
                                  </p:stCondLst>
                                  <p:childTnLst>
                                    <p:set>
                                      <p:cBhvr>
                                        <p:cTn id="80" dur="400" fill="hold"/>
                                        <p:tgtEl>
                                          <p:spTgt spid="10"/>
                                        </p:tgtEl>
                                        <p:attrNameLst>
                                          <p:attrName>style.opacity</p:attrName>
                                        </p:attrNameLst>
                                      </p:cBhvr>
                                      <p:to>
                                        <p:strVal val="0.25"/>
                                      </p:to>
                                    </p:set>
                                    <p:animEffect filter="image" prLst="opacity: 0.25">
                                      <p:cBhvr rctx="IE">
                                        <p:cTn id="81" dur="400" fill="hold"/>
                                        <p:tgtEl>
                                          <p:spTgt spid="10"/>
                                        </p:tgtEl>
                                      </p:cBhvr>
                                    </p:animEffect>
                                  </p:childTnLst>
                                </p:cTn>
                              </p:par>
                              <p:par>
                                <p:cTn id="82" presetID="9" presetClass="emph" presetSubtype="0" fill="hold" grpId="0" nodeType="withEffect">
                                  <p:stCondLst>
                                    <p:cond delay="0"/>
                                  </p:stCondLst>
                                  <p:childTnLst>
                                    <p:set>
                                      <p:cBhvr>
                                        <p:cTn id="83" dur="400" fill="hold"/>
                                        <p:tgtEl>
                                          <p:spTgt spid="11"/>
                                        </p:tgtEl>
                                        <p:attrNameLst>
                                          <p:attrName>style.opacity</p:attrName>
                                        </p:attrNameLst>
                                      </p:cBhvr>
                                      <p:to>
                                        <p:strVal val="0.25"/>
                                      </p:to>
                                    </p:set>
                                    <p:animEffect filter="image" prLst="opacity: 0.25">
                                      <p:cBhvr rctx="IE">
                                        <p:cTn id="84" dur="400" fill="hold"/>
                                        <p:tgtEl>
                                          <p:spTgt spid="11"/>
                                        </p:tgtEl>
                                      </p:cBhvr>
                                    </p:animEffect>
                                  </p:childTnLst>
                                </p:cTn>
                              </p:par>
                              <p:par>
                                <p:cTn id="85" presetID="9" presetClass="emph" presetSubtype="0" fill="hold" grpId="0" nodeType="withEffect">
                                  <p:stCondLst>
                                    <p:cond delay="0"/>
                                  </p:stCondLst>
                                  <p:childTnLst>
                                    <p:set>
                                      <p:cBhvr>
                                        <p:cTn id="86" dur="400" fill="hold"/>
                                        <p:tgtEl>
                                          <p:spTgt spid="12"/>
                                        </p:tgtEl>
                                        <p:attrNameLst>
                                          <p:attrName>style.opacity</p:attrName>
                                        </p:attrNameLst>
                                      </p:cBhvr>
                                      <p:to>
                                        <p:strVal val="0.25"/>
                                      </p:to>
                                    </p:set>
                                    <p:animEffect filter="image" prLst="opacity: 0.25">
                                      <p:cBhvr rctx="IE">
                                        <p:cTn id="87" dur="400" fill="hold"/>
                                        <p:tgtEl>
                                          <p:spTgt spid="12"/>
                                        </p:tgtEl>
                                      </p:cBhvr>
                                    </p:animEffect>
                                  </p:childTnLst>
                                </p:cTn>
                              </p:par>
                              <p:par>
                                <p:cTn id="88" presetID="9" presetClass="emph" presetSubtype="0" fill="hold" grpId="0" nodeType="withEffect">
                                  <p:stCondLst>
                                    <p:cond delay="0"/>
                                  </p:stCondLst>
                                  <p:childTnLst>
                                    <p:set>
                                      <p:cBhvr>
                                        <p:cTn id="89" dur="400" fill="hold"/>
                                        <p:tgtEl>
                                          <p:spTgt spid="13"/>
                                        </p:tgtEl>
                                        <p:attrNameLst>
                                          <p:attrName>style.opacity</p:attrName>
                                        </p:attrNameLst>
                                      </p:cBhvr>
                                      <p:to>
                                        <p:strVal val="0.25"/>
                                      </p:to>
                                    </p:set>
                                    <p:animEffect filter="image" prLst="opacity: 0.25">
                                      <p:cBhvr rctx="IE">
                                        <p:cTn id="90" dur="400" fill="hold"/>
                                        <p:tgtEl>
                                          <p:spTgt spid="13"/>
                                        </p:tgtEl>
                                      </p:cBhvr>
                                    </p:animEffect>
                                  </p:childTnLst>
                                </p:cTn>
                              </p:par>
                              <p:par>
                                <p:cTn id="91" presetID="9" presetClass="emph" presetSubtype="0" fill="hold" grpId="0" nodeType="withEffect">
                                  <p:stCondLst>
                                    <p:cond delay="0"/>
                                  </p:stCondLst>
                                  <p:childTnLst>
                                    <p:set>
                                      <p:cBhvr>
                                        <p:cTn id="92" dur="400" fill="hold"/>
                                        <p:tgtEl>
                                          <p:spTgt spid="14"/>
                                        </p:tgtEl>
                                        <p:attrNameLst>
                                          <p:attrName>style.opacity</p:attrName>
                                        </p:attrNameLst>
                                      </p:cBhvr>
                                      <p:to>
                                        <p:strVal val="0.25"/>
                                      </p:to>
                                    </p:set>
                                    <p:animEffect filter="image" prLst="opacity: 0.25">
                                      <p:cBhvr rctx="IE">
                                        <p:cTn id="93" dur="400" fill="hold"/>
                                        <p:tgtEl>
                                          <p:spTgt spid="14"/>
                                        </p:tgtEl>
                                      </p:cBhvr>
                                    </p:animEffect>
                                  </p:childTnLst>
                                </p:cTn>
                              </p:par>
                              <p:par>
                                <p:cTn id="94" presetID="9" presetClass="emph" presetSubtype="0" fill="hold" grpId="0" nodeType="withEffect">
                                  <p:stCondLst>
                                    <p:cond delay="0"/>
                                  </p:stCondLst>
                                  <p:childTnLst>
                                    <p:set>
                                      <p:cBhvr>
                                        <p:cTn id="95" dur="400" fill="hold"/>
                                        <p:tgtEl>
                                          <p:spTgt spid="15"/>
                                        </p:tgtEl>
                                        <p:attrNameLst>
                                          <p:attrName>style.opacity</p:attrName>
                                        </p:attrNameLst>
                                      </p:cBhvr>
                                      <p:to>
                                        <p:strVal val="0.25"/>
                                      </p:to>
                                    </p:set>
                                    <p:animEffect filter="image" prLst="opacity: 0.25">
                                      <p:cBhvr rctx="IE">
                                        <p:cTn id="96" dur="400" fill="hold"/>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mph" presetSubtype="0" fill="hold" grpId="0" nodeType="clickEffect">
                                  <p:stCondLst>
                                    <p:cond delay="0"/>
                                  </p:stCondLst>
                                  <p:childTnLst>
                                    <p:set>
                                      <p:cBhvr>
                                        <p:cTn id="100" dur="400" fill="hold"/>
                                        <p:tgtEl>
                                          <p:spTgt spid="22"/>
                                        </p:tgtEl>
                                        <p:attrNameLst>
                                          <p:attrName>style.opacity</p:attrName>
                                        </p:attrNameLst>
                                      </p:cBhvr>
                                      <p:to>
                                        <p:strVal val="1"/>
                                      </p:to>
                                    </p:set>
                                    <p:animEffect filter="image" prLst="opacity: 1">
                                      <p:cBhvr rctx="IE">
                                        <p:cTn id="101" dur="400" fill="hold"/>
                                        <p:tgtEl>
                                          <p:spTgt spid="22"/>
                                        </p:tgtEl>
                                      </p:cBhvr>
                                    </p:animEffect>
                                  </p:childTnLst>
                                </p:cTn>
                              </p:par>
                              <p:par>
                                <p:cTn id="102" presetID="9" presetClass="emph" presetSubtype="0" fill="hold" grpId="0" nodeType="withEffect">
                                  <p:stCondLst>
                                    <p:cond delay="0"/>
                                  </p:stCondLst>
                                  <p:childTnLst>
                                    <p:set>
                                      <p:cBhvr>
                                        <p:cTn id="103" dur="400" fill="hold"/>
                                        <p:tgtEl>
                                          <p:spTgt spid="23"/>
                                        </p:tgtEl>
                                        <p:attrNameLst>
                                          <p:attrName>style.opacity</p:attrName>
                                        </p:attrNameLst>
                                      </p:cBhvr>
                                      <p:to>
                                        <p:strVal val="1"/>
                                      </p:to>
                                    </p:set>
                                    <p:animEffect filter="image" prLst="opacity: 1">
                                      <p:cBhvr rctx="IE">
                                        <p:cTn id="104" dur="400" fill="hold"/>
                                        <p:tgtEl>
                                          <p:spTgt spid="23"/>
                                        </p:tgtEl>
                                      </p:cBhvr>
                                    </p:animEffect>
                                  </p:childTnLst>
                                </p:cTn>
                              </p:par>
                              <p:par>
                                <p:cTn id="105" presetID="9" presetClass="emph" presetSubtype="0" fill="hold" grpId="0" nodeType="withEffect">
                                  <p:stCondLst>
                                    <p:cond delay="0"/>
                                  </p:stCondLst>
                                  <p:childTnLst>
                                    <p:set>
                                      <p:cBhvr>
                                        <p:cTn id="106" dur="400" fill="hold"/>
                                        <p:tgtEl>
                                          <p:spTgt spid="24"/>
                                        </p:tgtEl>
                                        <p:attrNameLst>
                                          <p:attrName>style.opacity</p:attrName>
                                        </p:attrNameLst>
                                      </p:cBhvr>
                                      <p:to>
                                        <p:strVal val="1"/>
                                      </p:to>
                                    </p:set>
                                    <p:animEffect filter="image" prLst="opacity: 1">
                                      <p:cBhvr rctx="IE">
                                        <p:cTn id="107" dur="400" fill="hold"/>
                                        <p:tgtEl>
                                          <p:spTgt spid="24"/>
                                        </p:tgtEl>
                                      </p:cBhvr>
                                    </p:animEffect>
                                  </p:childTnLst>
                                </p:cTn>
                              </p:par>
                              <p:par>
                                <p:cTn id="108" presetID="9" presetClass="emph" presetSubtype="0" fill="hold" grpId="0" nodeType="withEffect">
                                  <p:stCondLst>
                                    <p:cond delay="0"/>
                                  </p:stCondLst>
                                  <p:childTnLst>
                                    <p:set>
                                      <p:cBhvr>
                                        <p:cTn id="109" dur="400" fill="hold"/>
                                        <p:tgtEl>
                                          <p:spTgt spid="25"/>
                                        </p:tgtEl>
                                        <p:attrNameLst>
                                          <p:attrName>style.opacity</p:attrName>
                                        </p:attrNameLst>
                                      </p:cBhvr>
                                      <p:to>
                                        <p:strVal val="1"/>
                                      </p:to>
                                    </p:set>
                                    <p:animEffect filter="image" prLst="opacity: 1">
                                      <p:cBhvr rctx="IE">
                                        <p:cTn id="110" dur="400" fill="hold"/>
                                        <p:tgtEl>
                                          <p:spTgt spid="25"/>
                                        </p:tgtEl>
                                      </p:cBhvr>
                                    </p:animEffect>
                                  </p:childTnLst>
                                </p:cTn>
                              </p:par>
                              <p:par>
                                <p:cTn id="111" presetID="9" presetClass="emph" presetSubtype="0" fill="hold" grpId="0" nodeType="withEffect">
                                  <p:stCondLst>
                                    <p:cond delay="0"/>
                                  </p:stCondLst>
                                  <p:childTnLst>
                                    <p:set>
                                      <p:cBhvr>
                                        <p:cTn id="112" dur="400" fill="hold"/>
                                        <p:tgtEl>
                                          <p:spTgt spid="26"/>
                                        </p:tgtEl>
                                        <p:attrNameLst>
                                          <p:attrName>style.opacity</p:attrName>
                                        </p:attrNameLst>
                                      </p:cBhvr>
                                      <p:to>
                                        <p:strVal val="1"/>
                                      </p:to>
                                    </p:set>
                                    <p:animEffect filter="image" prLst="opacity: 1">
                                      <p:cBhvr rctx="IE">
                                        <p:cTn id="113" dur="400" fill="hold"/>
                                        <p:tgtEl>
                                          <p:spTgt spid="26"/>
                                        </p:tgtEl>
                                      </p:cBhvr>
                                    </p:animEffect>
                                  </p:childTnLst>
                                </p:cTn>
                              </p:par>
                              <p:par>
                                <p:cTn id="114" presetID="9" presetClass="emph" presetSubtype="0" fill="hold" grpId="0" nodeType="withEffect">
                                  <p:stCondLst>
                                    <p:cond delay="0"/>
                                  </p:stCondLst>
                                  <p:childTnLst>
                                    <p:set>
                                      <p:cBhvr>
                                        <p:cTn id="115" dur="400" fill="hold"/>
                                        <p:tgtEl>
                                          <p:spTgt spid="27"/>
                                        </p:tgtEl>
                                        <p:attrNameLst>
                                          <p:attrName>style.opacity</p:attrName>
                                        </p:attrNameLst>
                                      </p:cBhvr>
                                      <p:to>
                                        <p:strVal val="1"/>
                                      </p:to>
                                    </p:set>
                                    <p:animEffect filter="image" prLst="opacity: 1">
                                      <p:cBhvr rctx="IE">
                                        <p:cTn id="116" dur="400" fill="hold"/>
                                        <p:tgtEl>
                                          <p:spTgt spid="27"/>
                                        </p:tgtEl>
                                      </p:cBhvr>
                                    </p:animEffect>
                                  </p:childTnLst>
                                </p:cTn>
                              </p:par>
                              <p:par>
                                <p:cTn id="117" presetID="9" presetClass="emph" presetSubtype="0" fill="hold" grpId="0" nodeType="withEffect">
                                  <p:stCondLst>
                                    <p:cond delay="0"/>
                                  </p:stCondLst>
                                  <p:childTnLst>
                                    <p:set>
                                      <p:cBhvr>
                                        <p:cTn id="118" dur="400" fill="hold"/>
                                        <p:tgtEl>
                                          <p:spTgt spid="16"/>
                                        </p:tgtEl>
                                        <p:attrNameLst>
                                          <p:attrName>style.opacity</p:attrName>
                                        </p:attrNameLst>
                                      </p:cBhvr>
                                      <p:to>
                                        <p:strVal val="0.25"/>
                                      </p:to>
                                    </p:set>
                                    <p:animEffect filter="image" prLst="opacity: 0.25">
                                      <p:cBhvr rctx="IE">
                                        <p:cTn id="119" dur="400" fill="hold"/>
                                        <p:tgtEl>
                                          <p:spTgt spid="16"/>
                                        </p:tgtEl>
                                      </p:cBhvr>
                                    </p:animEffect>
                                  </p:childTnLst>
                                </p:cTn>
                              </p:par>
                              <p:par>
                                <p:cTn id="120" presetID="9" presetClass="emph" presetSubtype="0" fill="hold" grpId="0" nodeType="withEffect">
                                  <p:stCondLst>
                                    <p:cond delay="0"/>
                                  </p:stCondLst>
                                  <p:childTnLst>
                                    <p:set>
                                      <p:cBhvr>
                                        <p:cTn id="121" dur="400" fill="hold"/>
                                        <p:tgtEl>
                                          <p:spTgt spid="17"/>
                                        </p:tgtEl>
                                        <p:attrNameLst>
                                          <p:attrName>style.opacity</p:attrName>
                                        </p:attrNameLst>
                                      </p:cBhvr>
                                      <p:to>
                                        <p:strVal val="0.25"/>
                                      </p:to>
                                    </p:set>
                                    <p:animEffect filter="image" prLst="opacity: 0.25">
                                      <p:cBhvr rctx="IE">
                                        <p:cTn id="122" dur="400" fill="hold"/>
                                        <p:tgtEl>
                                          <p:spTgt spid="17"/>
                                        </p:tgtEl>
                                      </p:cBhvr>
                                    </p:animEffect>
                                  </p:childTnLst>
                                </p:cTn>
                              </p:par>
                              <p:par>
                                <p:cTn id="123" presetID="9" presetClass="emph" presetSubtype="0" fill="hold" grpId="0" nodeType="withEffect">
                                  <p:stCondLst>
                                    <p:cond delay="0"/>
                                  </p:stCondLst>
                                  <p:childTnLst>
                                    <p:set>
                                      <p:cBhvr>
                                        <p:cTn id="124" dur="400" fill="hold"/>
                                        <p:tgtEl>
                                          <p:spTgt spid="18"/>
                                        </p:tgtEl>
                                        <p:attrNameLst>
                                          <p:attrName>style.opacity</p:attrName>
                                        </p:attrNameLst>
                                      </p:cBhvr>
                                      <p:to>
                                        <p:strVal val="0.25"/>
                                      </p:to>
                                    </p:set>
                                    <p:animEffect filter="image" prLst="opacity: 0.25">
                                      <p:cBhvr rctx="IE">
                                        <p:cTn id="125" dur="400" fill="hold"/>
                                        <p:tgtEl>
                                          <p:spTgt spid="18"/>
                                        </p:tgtEl>
                                      </p:cBhvr>
                                    </p:animEffect>
                                  </p:childTnLst>
                                </p:cTn>
                              </p:par>
                              <p:par>
                                <p:cTn id="126" presetID="9" presetClass="emph" presetSubtype="0" fill="hold" grpId="0" nodeType="withEffect">
                                  <p:stCondLst>
                                    <p:cond delay="0"/>
                                  </p:stCondLst>
                                  <p:childTnLst>
                                    <p:set>
                                      <p:cBhvr>
                                        <p:cTn id="127" dur="400" fill="hold"/>
                                        <p:tgtEl>
                                          <p:spTgt spid="19"/>
                                        </p:tgtEl>
                                        <p:attrNameLst>
                                          <p:attrName>style.opacity</p:attrName>
                                        </p:attrNameLst>
                                      </p:cBhvr>
                                      <p:to>
                                        <p:strVal val="0.25"/>
                                      </p:to>
                                    </p:set>
                                    <p:animEffect filter="image" prLst="opacity: 0.25">
                                      <p:cBhvr rctx="IE">
                                        <p:cTn id="128" dur="400" fill="hold"/>
                                        <p:tgtEl>
                                          <p:spTgt spid="19"/>
                                        </p:tgtEl>
                                      </p:cBhvr>
                                    </p:animEffect>
                                  </p:childTnLst>
                                </p:cTn>
                              </p:par>
                              <p:par>
                                <p:cTn id="129" presetID="9" presetClass="emph" presetSubtype="0" fill="hold" grpId="0" nodeType="withEffect">
                                  <p:stCondLst>
                                    <p:cond delay="0"/>
                                  </p:stCondLst>
                                  <p:childTnLst>
                                    <p:set>
                                      <p:cBhvr>
                                        <p:cTn id="130" dur="400" fill="hold"/>
                                        <p:tgtEl>
                                          <p:spTgt spid="20"/>
                                        </p:tgtEl>
                                        <p:attrNameLst>
                                          <p:attrName>style.opacity</p:attrName>
                                        </p:attrNameLst>
                                      </p:cBhvr>
                                      <p:to>
                                        <p:strVal val="0.25"/>
                                      </p:to>
                                    </p:set>
                                    <p:animEffect filter="image" prLst="opacity: 0.25">
                                      <p:cBhvr rctx="IE">
                                        <p:cTn id="131" dur="400" fill="hold"/>
                                        <p:tgtEl>
                                          <p:spTgt spid="20"/>
                                        </p:tgtEl>
                                      </p:cBhvr>
                                    </p:animEffect>
                                  </p:childTnLst>
                                </p:cTn>
                              </p:par>
                              <p:par>
                                <p:cTn id="132" presetID="9" presetClass="emph" presetSubtype="0" fill="hold" grpId="0" nodeType="withEffect">
                                  <p:stCondLst>
                                    <p:cond delay="0"/>
                                  </p:stCondLst>
                                  <p:childTnLst>
                                    <p:set>
                                      <p:cBhvr>
                                        <p:cTn id="133" dur="400" fill="hold"/>
                                        <p:tgtEl>
                                          <p:spTgt spid="21"/>
                                        </p:tgtEl>
                                        <p:attrNameLst>
                                          <p:attrName>style.opacity</p:attrName>
                                        </p:attrNameLst>
                                      </p:cBhvr>
                                      <p:to>
                                        <p:strVal val="0.25"/>
                                      </p:to>
                                    </p:set>
                                    <p:animEffect filter="image" prLst="opacity: 0.25">
                                      <p:cBhvr rctx="IE">
                                        <p:cTn id="134" dur="400" fill="hold"/>
                                        <p:tgtEl>
                                          <p:spTgt spid="21"/>
                                        </p:tgtEl>
                                      </p:cBhvr>
                                    </p:animEffect>
                                  </p:childTnLst>
                                </p:cTn>
                              </p:par>
                            </p:childTnLst>
                          </p:cTn>
                        </p:par>
                      </p:childTnLst>
                    </p:cTn>
                  </p:par>
                  <p:par>
                    <p:cTn id="135" fill="hold">
                      <p:stCondLst>
                        <p:cond delay="indefinite"/>
                      </p:stCondLst>
                      <p:childTnLst>
                        <p:par>
                          <p:cTn id="136" fill="hold">
                            <p:stCondLst>
                              <p:cond delay="0"/>
                            </p:stCondLst>
                            <p:childTnLst>
                              <p:par>
                                <p:cTn id="137" presetID="9" presetClass="emph" presetSubtype="0" fill="hold" grpId="0" nodeType="clickEffect">
                                  <p:stCondLst>
                                    <p:cond delay="0"/>
                                  </p:stCondLst>
                                  <p:childTnLst>
                                    <p:set>
                                      <p:cBhvr>
                                        <p:cTn id="138" dur="400" fill="hold"/>
                                        <p:tgtEl>
                                          <p:spTgt spid="28"/>
                                        </p:tgtEl>
                                        <p:attrNameLst>
                                          <p:attrName>style.opacity</p:attrName>
                                        </p:attrNameLst>
                                      </p:cBhvr>
                                      <p:to>
                                        <p:strVal val="1"/>
                                      </p:to>
                                    </p:set>
                                    <p:animEffect filter="image" prLst="opacity: 1">
                                      <p:cBhvr rctx="IE">
                                        <p:cTn id="139" dur="400" fill="hold"/>
                                        <p:tgtEl>
                                          <p:spTgt spid="28"/>
                                        </p:tgtEl>
                                      </p:cBhvr>
                                    </p:animEffect>
                                  </p:childTnLst>
                                </p:cTn>
                              </p:par>
                              <p:par>
                                <p:cTn id="140" presetID="9" presetClass="emph" presetSubtype="0" fill="hold" grpId="0" nodeType="withEffect">
                                  <p:stCondLst>
                                    <p:cond delay="0"/>
                                  </p:stCondLst>
                                  <p:childTnLst>
                                    <p:set>
                                      <p:cBhvr>
                                        <p:cTn id="141" dur="400" fill="hold"/>
                                        <p:tgtEl>
                                          <p:spTgt spid="29"/>
                                        </p:tgtEl>
                                        <p:attrNameLst>
                                          <p:attrName>style.opacity</p:attrName>
                                        </p:attrNameLst>
                                      </p:cBhvr>
                                      <p:to>
                                        <p:strVal val="1"/>
                                      </p:to>
                                    </p:set>
                                    <p:animEffect filter="image" prLst="opacity: 1">
                                      <p:cBhvr rctx="IE">
                                        <p:cTn id="142" dur="400" fill="hold"/>
                                        <p:tgtEl>
                                          <p:spTgt spid="29"/>
                                        </p:tgtEl>
                                      </p:cBhvr>
                                    </p:animEffect>
                                  </p:childTnLst>
                                </p:cTn>
                              </p:par>
                              <p:par>
                                <p:cTn id="143" presetID="9" presetClass="emph" presetSubtype="0" fill="hold" grpId="0" nodeType="withEffect">
                                  <p:stCondLst>
                                    <p:cond delay="0"/>
                                  </p:stCondLst>
                                  <p:childTnLst>
                                    <p:set>
                                      <p:cBhvr>
                                        <p:cTn id="144" dur="400" fill="hold"/>
                                        <p:tgtEl>
                                          <p:spTgt spid="30"/>
                                        </p:tgtEl>
                                        <p:attrNameLst>
                                          <p:attrName>style.opacity</p:attrName>
                                        </p:attrNameLst>
                                      </p:cBhvr>
                                      <p:to>
                                        <p:strVal val="1"/>
                                      </p:to>
                                    </p:set>
                                    <p:animEffect filter="image" prLst="opacity: 1">
                                      <p:cBhvr rctx="IE">
                                        <p:cTn id="145" dur="400" fill="hold"/>
                                        <p:tgtEl>
                                          <p:spTgt spid="30"/>
                                        </p:tgtEl>
                                      </p:cBhvr>
                                    </p:animEffect>
                                  </p:childTnLst>
                                </p:cTn>
                              </p:par>
                              <p:par>
                                <p:cTn id="146" presetID="9" presetClass="emph" presetSubtype="0" fill="hold" grpId="0" nodeType="withEffect">
                                  <p:stCondLst>
                                    <p:cond delay="0"/>
                                  </p:stCondLst>
                                  <p:childTnLst>
                                    <p:set>
                                      <p:cBhvr>
                                        <p:cTn id="147" dur="400" fill="hold"/>
                                        <p:tgtEl>
                                          <p:spTgt spid="31"/>
                                        </p:tgtEl>
                                        <p:attrNameLst>
                                          <p:attrName>style.opacity</p:attrName>
                                        </p:attrNameLst>
                                      </p:cBhvr>
                                      <p:to>
                                        <p:strVal val="1"/>
                                      </p:to>
                                    </p:set>
                                    <p:animEffect filter="image" prLst="opacity: 1">
                                      <p:cBhvr rctx="IE">
                                        <p:cTn id="148" dur="400" fill="hold"/>
                                        <p:tgtEl>
                                          <p:spTgt spid="31"/>
                                        </p:tgtEl>
                                      </p:cBhvr>
                                    </p:animEffect>
                                  </p:childTnLst>
                                </p:cTn>
                              </p:par>
                              <p:par>
                                <p:cTn id="149" presetID="9" presetClass="emph" presetSubtype="0" fill="hold" grpId="0" nodeType="withEffect">
                                  <p:stCondLst>
                                    <p:cond delay="0"/>
                                  </p:stCondLst>
                                  <p:childTnLst>
                                    <p:set>
                                      <p:cBhvr>
                                        <p:cTn id="150" dur="400" fill="hold"/>
                                        <p:tgtEl>
                                          <p:spTgt spid="32"/>
                                        </p:tgtEl>
                                        <p:attrNameLst>
                                          <p:attrName>style.opacity</p:attrName>
                                        </p:attrNameLst>
                                      </p:cBhvr>
                                      <p:to>
                                        <p:strVal val="1"/>
                                      </p:to>
                                    </p:set>
                                    <p:animEffect filter="image" prLst="opacity: 1">
                                      <p:cBhvr rctx="IE">
                                        <p:cTn id="151" dur="400" fill="hold"/>
                                        <p:tgtEl>
                                          <p:spTgt spid="32"/>
                                        </p:tgtEl>
                                      </p:cBhvr>
                                    </p:animEffect>
                                  </p:childTnLst>
                                </p:cTn>
                              </p:par>
                              <p:par>
                                <p:cTn id="152" presetID="9" presetClass="emph" presetSubtype="0" fill="hold" grpId="0" nodeType="withEffect">
                                  <p:stCondLst>
                                    <p:cond delay="0"/>
                                  </p:stCondLst>
                                  <p:childTnLst>
                                    <p:set>
                                      <p:cBhvr>
                                        <p:cTn id="153" dur="400" fill="hold"/>
                                        <p:tgtEl>
                                          <p:spTgt spid="33"/>
                                        </p:tgtEl>
                                        <p:attrNameLst>
                                          <p:attrName>style.opacity</p:attrName>
                                        </p:attrNameLst>
                                      </p:cBhvr>
                                      <p:to>
                                        <p:strVal val="1"/>
                                      </p:to>
                                    </p:set>
                                    <p:animEffect filter="image" prLst="opacity: 1">
                                      <p:cBhvr rctx="IE">
                                        <p:cTn id="154" dur="400" fill="hold"/>
                                        <p:tgtEl>
                                          <p:spTgt spid="33"/>
                                        </p:tgtEl>
                                      </p:cBhvr>
                                    </p:animEffect>
                                  </p:childTnLst>
                                </p:cTn>
                              </p:par>
                              <p:par>
                                <p:cTn id="155" presetID="9" presetClass="emph" presetSubtype="0" fill="hold" grpId="0" nodeType="withEffect">
                                  <p:stCondLst>
                                    <p:cond delay="0"/>
                                  </p:stCondLst>
                                  <p:childTnLst>
                                    <p:set>
                                      <p:cBhvr>
                                        <p:cTn id="156" dur="400" fill="hold"/>
                                        <p:tgtEl>
                                          <p:spTgt spid="22"/>
                                        </p:tgtEl>
                                        <p:attrNameLst>
                                          <p:attrName>style.opacity</p:attrName>
                                        </p:attrNameLst>
                                      </p:cBhvr>
                                      <p:to>
                                        <p:strVal val="0.25"/>
                                      </p:to>
                                    </p:set>
                                    <p:animEffect filter="image" prLst="opacity: 0.25">
                                      <p:cBhvr rctx="IE">
                                        <p:cTn id="157" dur="400" fill="hold"/>
                                        <p:tgtEl>
                                          <p:spTgt spid="22"/>
                                        </p:tgtEl>
                                      </p:cBhvr>
                                    </p:animEffect>
                                  </p:childTnLst>
                                </p:cTn>
                              </p:par>
                              <p:par>
                                <p:cTn id="158" presetID="9" presetClass="emph" presetSubtype="0" fill="hold" grpId="0" nodeType="withEffect">
                                  <p:stCondLst>
                                    <p:cond delay="0"/>
                                  </p:stCondLst>
                                  <p:childTnLst>
                                    <p:set>
                                      <p:cBhvr>
                                        <p:cTn id="159" dur="400" fill="hold"/>
                                        <p:tgtEl>
                                          <p:spTgt spid="23"/>
                                        </p:tgtEl>
                                        <p:attrNameLst>
                                          <p:attrName>style.opacity</p:attrName>
                                        </p:attrNameLst>
                                      </p:cBhvr>
                                      <p:to>
                                        <p:strVal val="0.25"/>
                                      </p:to>
                                    </p:set>
                                    <p:animEffect filter="image" prLst="opacity: 0.25">
                                      <p:cBhvr rctx="IE">
                                        <p:cTn id="160" dur="400" fill="hold"/>
                                        <p:tgtEl>
                                          <p:spTgt spid="23"/>
                                        </p:tgtEl>
                                      </p:cBhvr>
                                    </p:animEffect>
                                  </p:childTnLst>
                                </p:cTn>
                              </p:par>
                              <p:par>
                                <p:cTn id="161" presetID="9" presetClass="emph" presetSubtype="0" fill="hold" grpId="0" nodeType="withEffect">
                                  <p:stCondLst>
                                    <p:cond delay="0"/>
                                  </p:stCondLst>
                                  <p:childTnLst>
                                    <p:set>
                                      <p:cBhvr>
                                        <p:cTn id="162" dur="400" fill="hold"/>
                                        <p:tgtEl>
                                          <p:spTgt spid="24"/>
                                        </p:tgtEl>
                                        <p:attrNameLst>
                                          <p:attrName>style.opacity</p:attrName>
                                        </p:attrNameLst>
                                      </p:cBhvr>
                                      <p:to>
                                        <p:strVal val="0.25"/>
                                      </p:to>
                                    </p:set>
                                    <p:animEffect filter="image" prLst="opacity: 0.25">
                                      <p:cBhvr rctx="IE">
                                        <p:cTn id="163" dur="400" fill="hold"/>
                                        <p:tgtEl>
                                          <p:spTgt spid="24"/>
                                        </p:tgtEl>
                                      </p:cBhvr>
                                    </p:animEffect>
                                  </p:childTnLst>
                                </p:cTn>
                              </p:par>
                              <p:par>
                                <p:cTn id="164" presetID="9" presetClass="emph" presetSubtype="0" fill="hold" grpId="0" nodeType="withEffect">
                                  <p:stCondLst>
                                    <p:cond delay="0"/>
                                  </p:stCondLst>
                                  <p:childTnLst>
                                    <p:set>
                                      <p:cBhvr>
                                        <p:cTn id="165" dur="400" fill="hold"/>
                                        <p:tgtEl>
                                          <p:spTgt spid="25"/>
                                        </p:tgtEl>
                                        <p:attrNameLst>
                                          <p:attrName>style.opacity</p:attrName>
                                        </p:attrNameLst>
                                      </p:cBhvr>
                                      <p:to>
                                        <p:strVal val="0.25"/>
                                      </p:to>
                                    </p:set>
                                    <p:animEffect filter="image" prLst="opacity: 0.25">
                                      <p:cBhvr rctx="IE">
                                        <p:cTn id="166" dur="400" fill="hold"/>
                                        <p:tgtEl>
                                          <p:spTgt spid="25"/>
                                        </p:tgtEl>
                                      </p:cBhvr>
                                    </p:animEffect>
                                  </p:childTnLst>
                                </p:cTn>
                              </p:par>
                              <p:par>
                                <p:cTn id="167" presetID="9" presetClass="emph" presetSubtype="0" fill="hold" grpId="0" nodeType="withEffect">
                                  <p:stCondLst>
                                    <p:cond delay="0"/>
                                  </p:stCondLst>
                                  <p:childTnLst>
                                    <p:set>
                                      <p:cBhvr>
                                        <p:cTn id="168" dur="400" fill="hold"/>
                                        <p:tgtEl>
                                          <p:spTgt spid="26"/>
                                        </p:tgtEl>
                                        <p:attrNameLst>
                                          <p:attrName>style.opacity</p:attrName>
                                        </p:attrNameLst>
                                      </p:cBhvr>
                                      <p:to>
                                        <p:strVal val="0.25"/>
                                      </p:to>
                                    </p:set>
                                    <p:animEffect filter="image" prLst="opacity: 0.25">
                                      <p:cBhvr rctx="IE">
                                        <p:cTn id="169" dur="400" fill="hold"/>
                                        <p:tgtEl>
                                          <p:spTgt spid="26"/>
                                        </p:tgtEl>
                                      </p:cBhvr>
                                    </p:animEffect>
                                  </p:childTnLst>
                                </p:cTn>
                              </p:par>
                              <p:par>
                                <p:cTn id="170" presetID="9" presetClass="emph" presetSubtype="0" fill="hold" grpId="0" nodeType="withEffect">
                                  <p:stCondLst>
                                    <p:cond delay="0"/>
                                  </p:stCondLst>
                                  <p:childTnLst>
                                    <p:set>
                                      <p:cBhvr>
                                        <p:cTn id="171" dur="400" fill="hold"/>
                                        <p:tgtEl>
                                          <p:spTgt spid="27"/>
                                        </p:tgtEl>
                                        <p:attrNameLst>
                                          <p:attrName>style.opacity</p:attrName>
                                        </p:attrNameLst>
                                      </p:cBhvr>
                                      <p:to>
                                        <p:strVal val="0.25"/>
                                      </p:to>
                                    </p:set>
                                    <p:animEffect filter="image" prLst="opacity: 0.25">
                                      <p:cBhvr rctx="IE">
                                        <p:cTn id="172" dur="400" fill="hold"/>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Type less, fix faster</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miss&lt;Tab&gt;&lt;Tab&gt;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10" name="Shape 7"/>
          <p:cNvSpPr/>
          <p:nvPr/>
        </p:nvSpPr>
        <p:spPr>
          <a:xfrm>
            <a:off x="548640" y="1463040"/>
            <a:ext cx="5486400" cy="3291840"/>
          </a:xfrm>
          <a:prstGeom prst="roundRect">
            <a:avLst>
              <a:gd name="adj" fmla="val 277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365760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Tab finishes names for you</a:t>
            </a:r>
            <a:endParaRPr lang="en-US" sz="1000" dirty="0"/>
          </a:p>
        </p:txBody>
      </p:sp>
      <p:sp>
        <p:nvSpPr>
          <p:cNvPr id="15" name="Text 12"/>
          <p:cNvSpPr txBox="1"/>
          <p:nvPr/>
        </p:nvSpPr>
        <p:spPr>
          <a:xfrm>
            <a:off x="822960" y="1920240"/>
            <a:ext cx="4937760" cy="2697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a:t>
            </a:r>
            <a:r>
              <a:rPr lang="en-US" sz="1500" dirty="0">
                <a:solidFill>
                  <a:srgbClr val="7F8FAD"/>
                </a:solidFill>
                <a:latin typeface="Courier New" pitchFamily="34" charset="0"/>
                <a:ea typeface="Courier New" pitchFamily="34" charset="-122"/>
                <a:cs typeface="Courier New" pitchFamily="34" charset="-120"/>
              </a:rPr>
              <a:t>   # 10 matches, so it stops</a:t>
            </a:r>
            <a:endParaRPr lang="en-US" sz="1500" dirty="0"/>
          </a:p>
          <a:p>
            <a:pPr marL="0" indent="0">
              <a:spcAft>
                <a:spcPts val="200"/>
              </a:spcAft>
              <a:buNone/>
            </a:pPr>
            <a:r>
              <a:rPr lang="en-US" sz="1500" dirty="0">
                <a:solidFill>
                  <a:srgbClr val="7F8FAD"/>
                </a:solidFill>
                <a:latin typeface="Courier New" pitchFamily="34" charset="0"/>
                <a:ea typeface="Courier New" pitchFamily="34" charset="-122"/>
                <a:cs typeface="Courier New" pitchFamily="34" charset="-120"/>
              </a:rPr>
              <a:t># press Tab twice to list them</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mission4/archive/</a:t>
            </a:r>
            <a:endParaRPr lang="en-US" sz="1500" dirty="0"/>
          </a:p>
        </p:txBody>
      </p:sp>
      <p:sp>
        <p:nvSpPr>
          <p:cNvPr id="16" name="Shape 13"/>
          <p:cNvSpPr/>
          <p:nvPr/>
        </p:nvSpPr>
        <p:spPr>
          <a:xfrm>
            <a:off x="6355080" y="1463040"/>
            <a:ext cx="1737360" cy="685800"/>
          </a:xfrm>
          <a:prstGeom prst="roundRect">
            <a:avLst>
              <a:gd name="adj" fmla="val 13333"/>
            </a:avLst>
          </a:prstGeom>
          <a:solidFill>
            <a:srgbClr val="FFFFFF"/>
          </a:solidFill>
          <a:ln w="31750">
            <a:solidFill>
              <a:srgbClr val="2A9FD6"/>
            </a:solidFill>
            <a:prstDash val="solid"/>
          </a:ln>
        </p:spPr>
        <p:txBody>
          <a:bodyPr/>
          <a:lstStyle/>
          <a:p>
            <a:endParaRPr lang="en-US"/>
          </a:p>
        </p:txBody>
      </p:sp>
      <p:sp>
        <p:nvSpPr>
          <p:cNvPr id="17" name="Text 14"/>
          <p:cNvSpPr txBox="1"/>
          <p:nvPr/>
        </p:nvSpPr>
        <p:spPr>
          <a:xfrm>
            <a:off x="6355080" y="1463040"/>
            <a:ext cx="1737360" cy="685800"/>
          </a:xfrm>
          <a:prstGeom prst="rect">
            <a:avLst/>
          </a:prstGeom>
          <a:noFill/>
          <a:ln/>
        </p:spPr>
        <p:txBody>
          <a:bodyPr wrap="square" lIns="0" tIns="0" rIns="0" bIns="0" rtlCol="0" anchor="ctr"/>
          <a:lstStyle/>
          <a:p>
            <a:pPr marL="0" indent="0" algn="ctr">
              <a:buNone/>
            </a:pPr>
            <a:r>
              <a:rPr lang="en-US" sz="1700" b="1" dirty="0">
                <a:solidFill>
                  <a:srgbClr val="2A9FD6"/>
                </a:solidFill>
                <a:latin typeface="Courier New" pitchFamily="34" charset="0"/>
                <a:ea typeface="Courier New" pitchFamily="34" charset="-122"/>
                <a:cs typeface="Courier New" pitchFamily="34" charset="-120"/>
              </a:rPr>
              <a:t>Tab</a:t>
            </a:r>
            <a:endParaRPr lang="en-US" sz="1700" dirty="0"/>
          </a:p>
        </p:txBody>
      </p:sp>
      <p:sp>
        <p:nvSpPr>
          <p:cNvPr id="18" name="Text 15"/>
          <p:cNvSpPr txBox="1"/>
          <p:nvPr/>
        </p:nvSpPr>
        <p:spPr>
          <a:xfrm>
            <a:off x="8275320" y="1463040"/>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finish a name or path</a:t>
            </a:r>
            <a:endParaRPr lang="en-US" sz="1800" dirty="0"/>
          </a:p>
        </p:txBody>
      </p:sp>
      <p:sp>
        <p:nvSpPr>
          <p:cNvPr id="19" name="Shape 16"/>
          <p:cNvSpPr/>
          <p:nvPr/>
        </p:nvSpPr>
        <p:spPr>
          <a:xfrm>
            <a:off x="6355080" y="2304288"/>
            <a:ext cx="1737360" cy="685800"/>
          </a:xfrm>
          <a:prstGeom prst="roundRect">
            <a:avLst>
              <a:gd name="adj" fmla="val 13333"/>
            </a:avLst>
          </a:prstGeom>
          <a:solidFill>
            <a:srgbClr val="FFFFFF"/>
          </a:solidFill>
          <a:ln w="31750">
            <a:solidFill>
              <a:srgbClr val="2459D8"/>
            </a:solidFill>
            <a:prstDash val="solid"/>
          </a:ln>
        </p:spPr>
        <p:txBody>
          <a:bodyPr/>
          <a:lstStyle/>
          <a:p>
            <a:endParaRPr lang="en-US"/>
          </a:p>
        </p:txBody>
      </p:sp>
      <p:sp>
        <p:nvSpPr>
          <p:cNvPr id="20" name="Text 17"/>
          <p:cNvSpPr txBox="1"/>
          <p:nvPr/>
        </p:nvSpPr>
        <p:spPr>
          <a:xfrm>
            <a:off x="6355080" y="2304288"/>
            <a:ext cx="1737360" cy="685800"/>
          </a:xfrm>
          <a:prstGeom prst="rect">
            <a:avLst/>
          </a:prstGeom>
          <a:noFill/>
          <a:ln/>
        </p:spPr>
        <p:txBody>
          <a:bodyPr wrap="square" lIns="0" tIns="0" rIns="0" bIns="0" rtlCol="0" anchor="ctr"/>
          <a:lstStyle/>
          <a:p>
            <a:pPr marL="0" indent="0" algn="ctr">
              <a:buNone/>
            </a:pPr>
            <a:r>
              <a:rPr lang="en-US" sz="1700" b="1" dirty="0">
                <a:solidFill>
                  <a:srgbClr val="2459D8"/>
                </a:solidFill>
                <a:latin typeface="Courier New" pitchFamily="34" charset="0"/>
                <a:ea typeface="Courier New" pitchFamily="34" charset="-122"/>
                <a:cs typeface="Courier New" pitchFamily="34" charset="-120"/>
              </a:rPr>
              <a:t>Up arrow</a:t>
            </a:r>
            <a:endParaRPr lang="en-US" sz="1700" dirty="0"/>
          </a:p>
        </p:txBody>
      </p:sp>
      <p:sp>
        <p:nvSpPr>
          <p:cNvPr id="21" name="Text 18"/>
          <p:cNvSpPr txBox="1"/>
          <p:nvPr/>
        </p:nvSpPr>
        <p:spPr>
          <a:xfrm>
            <a:off x="8275320" y="2304288"/>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bring back the last command</a:t>
            </a:r>
            <a:endParaRPr lang="en-US" sz="1800" dirty="0"/>
          </a:p>
        </p:txBody>
      </p:sp>
      <p:sp>
        <p:nvSpPr>
          <p:cNvPr id="22" name="Shape 19"/>
          <p:cNvSpPr/>
          <p:nvPr/>
        </p:nvSpPr>
        <p:spPr>
          <a:xfrm>
            <a:off x="6355080" y="3145536"/>
            <a:ext cx="1737360" cy="685800"/>
          </a:xfrm>
          <a:prstGeom prst="roundRect">
            <a:avLst>
              <a:gd name="adj" fmla="val 13333"/>
            </a:avLst>
          </a:prstGeom>
          <a:solidFill>
            <a:srgbClr val="FFFFFF"/>
          </a:solidFill>
          <a:ln w="31750">
            <a:solidFill>
              <a:srgbClr val="D1416B"/>
            </a:solidFill>
            <a:prstDash val="solid"/>
          </a:ln>
        </p:spPr>
        <p:txBody>
          <a:bodyPr/>
          <a:lstStyle/>
          <a:p>
            <a:endParaRPr lang="en-US"/>
          </a:p>
        </p:txBody>
      </p:sp>
      <p:sp>
        <p:nvSpPr>
          <p:cNvPr id="23" name="Text 20"/>
          <p:cNvSpPr txBox="1"/>
          <p:nvPr/>
        </p:nvSpPr>
        <p:spPr>
          <a:xfrm>
            <a:off x="6355080" y="3145536"/>
            <a:ext cx="1737360" cy="685800"/>
          </a:xfrm>
          <a:prstGeom prst="rect">
            <a:avLst/>
          </a:prstGeom>
          <a:noFill/>
          <a:ln/>
        </p:spPr>
        <p:txBody>
          <a:bodyPr wrap="square" lIns="0" tIns="0" rIns="0" bIns="0" rtlCol="0" anchor="ctr"/>
          <a:lstStyle/>
          <a:p>
            <a:pPr marL="0" indent="0" algn="ctr">
              <a:buNone/>
            </a:pPr>
            <a:r>
              <a:rPr lang="en-US" sz="1700" b="1" dirty="0">
                <a:solidFill>
                  <a:srgbClr val="D1416B"/>
                </a:solidFill>
                <a:latin typeface="Courier New" pitchFamily="34" charset="0"/>
                <a:ea typeface="Courier New" pitchFamily="34" charset="-122"/>
                <a:cs typeface="Courier New" pitchFamily="34" charset="-120"/>
              </a:rPr>
              <a:t>Ctrl+C</a:t>
            </a:r>
            <a:endParaRPr lang="en-US" sz="1700" dirty="0"/>
          </a:p>
        </p:txBody>
      </p:sp>
      <p:sp>
        <p:nvSpPr>
          <p:cNvPr id="24" name="Text 21"/>
          <p:cNvSpPr txBox="1"/>
          <p:nvPr/>
        </p:nvSpPr>
        <p:spPr>
          <a:xfrm>
            <a:off x="8275320" y="3145536"/>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stop what is running</a:t>
            </a:r>
            <a:endParaRPr lang="en-US" sz="1800" dirty="0"/>
          </a:p>
        </p:txBody>
      </p:sp>
      <p:sp>
        <p:nvSpPr>
          <p:cNvPr id="25" name="Shape 22"/>
          <p:cNvSpPr/>
          <p:nvPr/>
        </p:nvSpPr>
        <p:spPr>
          <a:xfrm>
            <a:off x="6355080" y="3986784"/>
            <a:ext cx="1737360" cy="685800"/>
          </a:xfrm>
          <a:prstGeom prst="roundRect">
            <a:avLst>
              <a:gd name="adj" fmla="val 13333"/>
            </a:avLst>
          </a:prstGeom>
          <a:solidFill>
            <a:srgbClr val="FFFFFF"/>
          </a:solidFill>
          <a:ln w="31750">
            <a:solidFill>
              <a:srgbClr val="7448D4"/>
            </a:solidFill>
            <a:prstDash val="solid"/>
          </a:ln>
        </p:spPr>
        <p:txBody>
          <a:bodyPr/>
          <a:lstStyle/>
          <a:p>
            <a:endParaRPr lang="en-US"/>
          </a:p>
        </p:txBody>
      </p:sp>
      <p:sp>
        <p:nvSpPr>
          <p:cNvPr id="26" name="Text 23"/>
          <p:cNvSpPr txBox="1"/>
          <p:nvPr/>
        </p:nvSpPr>
        <p:spPr>
          <a:xfrm>
            <a:off x="6355080" y="3986784"/>
            <a:ext cx="1737360" cy="685800"/>
          </a:xfrm>
          <a:prstGeom prst="rect">
            <a:avLst/>
          </a:prstGeom>
          <a:noFill/>
          <a:ln/>
        </p:spPr>
        <p:txBody>
          <a:bodyPr wrap="square" lIns="0" tIns="0" rIns="0" bIns="0" rtlCol="0" anchor="ctr"/>
          <a:lstStyle/>
          <a:p>
            <a:pPr marL="0" indent="0" algn="ctr">
              <a:buNone/>
            </a:pPr>
            <a:r>
              <a:rPr lang="en-US" sz="1700" b="1" dirty="0">
                <a:solidFill>
                  <a:srgbClr val="7448D4"/>
                </a:solidFill>
                <a:latin typeface="Courier New" pitchFamily="34" charset="0"/>
                <a:ea typeface="Courier New" pitchFamily="34" charset="-122"/>
                <a:cs typeface="Courier New" pitchFamily="34" charset="-120"/>
              </a:rPr>
              <a:t>clear</a:t>
            </a:r>
            <a:endParaRPr lang="en-US" sz="1700" dirty="0"/>
          </a:p>
        </p:txBody>
      </p:sp>
      <p:sp>
        <p:nvSpPr>
          <p:cNvPr id="27" name="Text 24"/>
          <p:cNvSpPr txBox="1"/>
          <p:nvPr/>
        </p:nvSpPr>
        <p:spPr>
          <a:xfrm>
            <a:off x="8275320" y="3986784"/>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wipe the screen</a:t>
            </a:r>
            <a:endParaRPr lang="en-US" sz="1800" dirty="0"/>
          </a:p>
        </p:txBody>
      </p:sp>
      <p:sp>
        <p:nvSpPr>
          <p:cNvPr id="28" name="Shape 25"/>
          <p:cNvSpPr/>
          <p:nvPr/>
        </p:nvSpPr>
        <p:spPr>
          <a:xfrm>
            <a:off x="548640" y="4983480"/>
            <a:ext cx="11094415" cy="914400"/>
          </a:xfrm>
          <a:prstGeom prst="roundRect">
            <a:avLst>
              <a:gd name="adj" fmla="val 10000"/>
            </a:avLst>
          </a:prstGeom>
          <a:solidFill>
            <a:srgbClr val="F1F5FB"/>
          </a:solidFill>
          <a:ln/>
        </p:spPr>
        <p:txBody>
          <a:bodyPr/>
          <a:lstStyle/>
          <a:p>
            <a:endParaRPr lang="en-US"/>
          </a:p>
        </p:txBody>
      </p:sp>
      <p:sp>
        <p:nvSpPr>
          <p:cNvPr id="29" name="Shape 26"/>
          <p:cNvSpPr/>
          <p:nvPr/>
        </p:nvSpPr>
        <p:spPr>
          <a:xfrm>
            <a:off x="777240" y="5120640"/>
            <a:ext cx="640080" cy="640080"/>
          </a:xfrm>
          <a:prstGeom prst="ellipse">
            <a:avLst/>
          </a:prstGeom>
          <a:solidFill>
            <a:srgbClr val="2459D8"/>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280660"/>
            <a:ext cx="320040" cy="320040"/>
          </a:xfrm>
          <a:prstGeom prst="rect">
            <a:avLst/>
          </a:prstGeom>
        </p:spPr>
      </p:pic>
      <p:sp>
        <p:nvSpPr>
          <p:cNvPr id="31" name="Text 27"/>
          <p:cNvSpPr txBox="1"/>
          <p:nvPr/>
        </p:nvSpPr>
        <p:spPr>
          <a:xfrm>
            <a:off x="1645920" y="4983480"/>
            <a:ext cx="9692640" cy="9144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In a race, Tab is speed. </a:t>
            </a:r>
            <a:r>
              <a:rPr lang="en-US" sz="1700" dirty="0">
                <a:solidFill>
                  <a:srgbClr val="12213A"/>
                </a:solidFill>
                <a:latin typeface="Calibri" pitchFamily="34" charset="0"/>
                <a:ea typeface="Calibri" pitchFamily="34" charset="-122"/>
                <a:cs typeface="Calibri" pitchFamily="34" charset="-120"/>
              </a:rPr>
              <a:t>Long paths like archive/charlie/bin-x7q2/k3d9fa.gem take seconds with Tab and a minute without it.</a:t>
            </a:r>
            <a:endParaRPr lang="en-US" sz="17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5" name="Shape 2"/>
          <p:cNvSpPr/>
          <p:nvPr/>
        </p:nvSpPr>
        <p:spPr>
          <a:xfrm>
            <a:off x="0" y="0"/>
            <a:ext cx="256032" cy="6858000"/>
          </a:xfrm>
          <a:prstGeom prst="rect">
            <a:avLst/>
          </a:prstGeom>
          <a:solidFill>
            <a:srgbClr val="7448D4"/>
          </a:solidFill>
          <a:ln/>
        </p:spPr>
        <p:txBody>
          <a:bodyPr/>
          <a:lstStyle/>
          <a:p>
            <a:endParaRPr lang="en-US"/>
          </a:p>
        </p:txBody>
      </p:sp>
      <p:sp>
        <p:nvSpPr>
          <p:cNvPr id="6" name="Shape 3"/>
          <p:cNvSpPr/>
          <p:nvPr/>
        </p:nvSpPr>
        <p:spPr>
          <a:xfrm>
            <a:off x="640080" y="685800"/>
            <a:ext cx="1188720" cy="1188720"/>
          </a:xfrm>
          <a:prstGeom prst="ellipse">
            <a:avLst/>
          </a:prstGeom>
          <a:solidFill>
            <a:srgbClr val="7448D4"/>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3</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3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Searching</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When there is too much to read by hand, let the computer search: by name, or inside files.</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By name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find</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Search the whole folder tree for a name.</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Inside files</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Print only the lines that contain your word.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Chain</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Feed one command's output into the next.</a:t>
            </a:r>
            <a:endParaRPr lang="en-US" sz="14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Finding files with find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/etc -name "p*"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10" name="Shape 7"/>
          <p:cNvSpPr/>
          <p:nvPr/>
        </p:nvSpPr>
        <p:spPr>
          <a:xfrm>
            <a:off x="548640" y="1645920"/>
            <a:ext cx="1188720" cy="685800"/>
          </a:xfrm>
          <a:prstGeom prst="roundRect">
            <a:avLst>
              <a:gd name="adj" fmla="val 10667"/>
            </a:avLst>
          </a:prstGeom>
          <a:solidFill>
            <a:srgbClr val="12213A"/>
          </a:solidFill>
          <a:ln/>
        </p:spPr>
        <p:txBody>
          <a:bodyPr/>
          <a:lstStyle/>
          <a:p>
            <a:endParaRPr lang="en-US"/>
          </a:p>
        </p:txBody>
      </p:sp>
      <p:sp>
        <p:nvSpPr>
          <p:cNvPr id="11" name="Text 8"/>
          <p:cNvSpPr txBox="1"/>
          <p:nvPr/>
        </p:nvSpPr>
        <p:spPr>
          <a:xfrm>
            <a:off x="548640" y="1645920"/>
            <a:ext cx="11887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find</a:t>
            </a:r>
            <a:endParaRPr lang="en-US" sz="1700" dirty="0"/>
          </a:p>
        </p:txBody>
      </p:sp>
      <p:sp>
        <p:nvSpPr>
          <p:cNvPr id="12" name="Text 9"/>
          <p:cNvSpPr txBox="1"/>
          <p:nvPr/>
        </p:nvSpPr>
        <p:spPr>
          <a:xfrm>
            <a:off x="548640" y="2423160"/>
            <a:ext cx="11887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command</a:t>
            </a:r>
            <a:endParaRPr lang="en-US" sz="1300" dirty="0"/>
          </a:p>
        </p:txBody>
      </p:sp>
      <p:sp>
        <p:nvSpPr>
          <p:cNvPr id="13" name="Shape 10"/>
          <p:cNvSpPr/>
          <p:nvPr/>
        </p:nvSpPr>
        <p:spPr>
          <a:xfrm>
            <a:off x="1847088" y="1645920"/>
            <a:ext cx="1645920" cy="685800"/>
          </a:xfrm>
          <a:prstGeom prst="roundRect">
            <a:avLst>
              <a:gd name="adj" fmla="val 10667"/>
            </a:avLst>
          </a:prstGeom>
          <a:solidFill>
            <a:srgbClr val="2459D8"/>
          </a:solidFill>
          <a:ln/>
        </p:spPr>
        <p:txBody>
          <a:bodyPr/>
          <a:lstStyle/>
          <a:p>
            <a:endParaRPr lang="en-US"/>
          </a:p>
        </p:txBody>
      </p:sp>
      <p:sp>
        <p:nvSpPr>
          <p:cNvPr id="14" name="Text 11"/>
          <p:cNvSpPr txBox="1"/>
          <p:nvPr/>
        </p:nvSpPr>
        <p:spPr>
          <a:xfrm>
            <a:off x="1847088" y="1645920"/>
            <a:ext cx="16459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/etc</a:t>
            </a:r>
            <a:endParaRPr lang="en-US" sz="1700" dirty="0"/>
          </a:p>
        </p:txBody>
      </p:sp>
      <p:sp>
        <p:nvSpPr>
          <p:cNvPr id="15" name="Text 12"/>
          <p:cNvSpPr txBox="1"/>
          <p:nvPr/>
        </p:nvSpPr>
        <p:spPr>
          <a:xfrm>
            <a:off x="1847088" y="2423160"/>
            <a:ext cx="16459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to start looking</a:t>
            </a:r>
            <a:endParaRPr lang="en-US" sz="1300" dirty="0"/>
          </a:p>
        </p:txBody>
      </p:sp>
      <p:sp>
        <p:nvSpPr>
          <p:cNvPr id="16" name="Shape 13"/>
          <p:cNvSpPr/>
          <p:nvPr/>
        </p:nvSpPr>
        <p:spPr>
          <a:xfrm>
            <a:off x="3602736" y="1645920"/>
            <a:ext cx="2834640" cy="685800"/>
          </a:xfrm>
          <a:prstGeom prst="roundRect">
            <a:avLst>
              <a:gd name="adj" fmla="val 10667"/>
            </a:avLst>
          </a:prstGeom>
          <a:solidFill>
            <a:srgbClr val="7448D4"/>
          </a:solidFill>
          <a:ln/>
        </p:spPr>
        <p:txBody>
          <a:bodyPr/>
          <a:lstStyle/>
          <a:p>
            <a:endParaRPr lang="en-US"/>
          </a:p>
        </p:txBody>
      </p:sp>
      <p:sp>
        <p:nvSpPr>
          <p:cNvPr id="17" name="Text 14"/>
          <p:cNvSpPr txBox="1"/>
          <p:nvPr/>
        </p:nvSpPr>
        <p:spPr>
          <a:xfrm>
            <a:off x="3602736" y="1645920"/>
            <a:ext cx="28346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-name "p*"</a:t>
            </a:r>
            <a:endParaRPr lang="en-US" sz="1700" dirty="0"/>
          </a:p>
        </p:txBody>
      </p:sp>
      <p:sp>
        <p:nvSpPr>
          <p:cNvPr id="18" name="Text 15"/>
          <p:cNvSpPr txBox="1"/>
          <p:nvPr/>
        </p:nvSpPr>
        <p:spPr>
          <a:xfrm>
            <a:off x="3602736" y="2423160"/>
            <a:ext cx="283464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to match: any name starting with p</a:t>
            </a:r>
            <a:endParaRPr lang="en-US" sz="1300" dirty="0"/>
          </a:p>
        </p:txBody>
      </p:sp>
      <p:sp>
        <p:nvSpPr>
          <p:cNvPr id="19" name="Shape 16"/>
          <p:cNvSpPr/>
          <p:nvPr/>
        </p:nvSpPr>
        <p:spPr>
          <a:xfrm>
            <a:off x="548640" y="3611880"/>
            <a:ext cx="28346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61188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passwd</a:t>
            </a:r>
            <a:endParaRPr lang="en-US" sz="1500" dirty="0"/>
          </a:p>
        </p:txBody>
      </p:sp>
      <p:sp>
        <p:nvSpPr>
          <p:cNvPr id="21" name="Text 18"/>
          <p:cNvSpPr txBox="1"/>
          <p:nvPr/>
        </p:nvSpPr>
        <p:spPr>
          <a:xfrm>
            <a:off x="3611880" y="361188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one exact name</a:t>
            </a:r>
            <a:endParaRPr lang="en-US" sz="1700" dirty="0"/>
          </a:p>
        </p:txBody>
      </p:sp>
      <p:sp>
        <p:nvSpPr>
          <p:cNvPr id="22" name="Shape 19"/>
          <p:cNvSpPr/>
          <p:nvPr/>
        </p:nvSpPr>
        <p:spPr>
          <a:xfrm>
            <a:off x="548640" y="4251960"/>
            <a:ext cx="2834640" cy="457200"/>
          </a:xfrm>
          <a:prstGeom prst="roundRect">
            <a:avLst>
              <a:gd name="adj" fmla="val 16000"/>
            </a:avLst>
          </a:prstGeom>
          <a:solidFill>
            <a:srgbClr val="0E1726"/>
          </a:solidFill>
          <a:ln/>
        </p:spPr>
        <p:txBody>
          <a:bodyPr/>
          <a:lstStyle/>
          <a:p>
            <a:endParaRPr lang="en-US"/>
          </a:p>
        </p:txBody>
      </p:sp>
      <p:sp>
        <p:nvSpPr>
          <p:cNvPr id="23" name="Text 20"/>
          <p:cNvSpPr txBox="1"/>
          <p:nvPr/>
        </p:nvSpPr>
        <p:spPr>
          <a:xfrm>
            <a:off x="548640" y="425196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"*.txt"</a:t>
            </a:r>
            <a:endParaRPr lang="en-US" sz="1500" dirty="0"/>
          </a:p>
        </p:txBody>
      </p:sp>
      <p:sp>
        <p:nvSpPr>
          <p:cNvPr id="24" name="Text 21"/>
          <p:cNvSpPr txBox="1"/>
          <p:nvPr/>
        </p:nvSpPr>
        <p:spPr>
          <a:xfrm>
            <a:off x="3611880" y="42519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a pattern</a:t>
            </a:r>
            <a:endParaRPr lang="en-US" sz="1700" dirty="0"/>
          </a:p>
        </p:txBody>
      </p:sp>
      <p:sp>
        <p:nvSpPr>
          <p:cNvPr id="25" name="Shape 22"/>
          <p:cNvSpPr/>
          <p:nvPr/>
        </p:nvSpPr>
        <p:spPr>
          <a:xfrm>
            <a:off x="548640" y="4892040"/>
            <a:ext cx="2834640" cy="457200"/>
          </a:xfrm>
          <a:prstGeom prst="roundRect">
            <a:avLst>
              <a:gd name="adj" fmla="val 16000"/>
            </a:avLst>
          </a:prstGeom>
          <a:solidFill>
            <a:srgbClr val="0E1726"/>
          </a:solidFill>
          <a:ln/>
        </p:spPr>
        <p:txBody>
          <a:bodyPr/>
          <a:lstStyle/>
          <a:p>
            <a:endParaRPr lang="en-US"/>
          </a:p>
        </p:txBody>
      </p:sp>
      <p:sp>
        <p:nvSpPr>
          <p:cNvPr id="26" name="Text 23"/>
          <p:cNvSpPr txBox="1"/>
          <p:nvPr/>
        </p:nvSpPr>
        <p:spPr>
          <a:xfrm>
            <a:off x="548640" y="489204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-type d</a:t>
            </a:r>
            <a:endParaRPr lang="en-US" sz="1500" dirty="0"/>
          </a:p>
        </p:txBody>
      </p:sp>
      <p:sp>
        <p:nvSpPr>
          <p:cNvPr id="27" name="Text 24"/>
          <p:cNvSpPr txBox="1"/>
          <p:nvPr/>
        </p:nvSpPr>
        <p:spPr>
          <a:xfrm>
            <a:off x="3611880" y="48920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folders (f for files)</a:t>
            </a:r>
            <a:endParaRPr lang="en-US" sz="1700" dirty="0"/>
          </a:p>
        </p:txBody>
      </p:sp>
      <p:sp>
        <p:nvSpPr>
          <p:cNvPr id="28" name="Shape 25"/>
          <p:cNvSpPr/>
          <p:nvPr/>
        </p:nvSpPr>
        <p:spPr>
          <a:xfrm>
            <a:off x="6675120" y="1463040"/>
            <a:ext cx="493776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9" name="Shape 26"/>
          <p:cNvSpPr/>
          <p:nvPr/>
        </p:nvSpPr>
        <p:spPr>
          <a:xfrm>
            <a:off x="6876288" y="1618488"/>
            <a:ext cx="118872" cy="118872"/>
          </a:xfrm>
          <a:prstGeom prst="ellipse">
            <a:avLst/>
          </a:prstGeom>
          <a:solidFill>
            <a:srgbClr val="E5534B"/>
          </a:solidFill>
          <a:ln/>
        </p:spPr>
        <p:txBody>
          <a:bodyPr/>
          <a:lstStyle/>
          <a:p>
            <a:endParaRPr lang="en-US"/>
          </a:p>
        </p:txBody>
      </p:sp>
      <p:sp>
        <p:nvSpPr>
          <p:cNvPr id="30" name="Shape 27"/>
          <p:cNvSpPr/>
          <p:nvPr/>
        </p:nvSpPr>
        <p:spPr>
          <a:xfrm>
            <a:off x="7077456" y="1618488"/>
            <a:ext cx="118872" cy="118872"/>
          </a:xfrm>
          <a:prstGeom prst="ellipse">
            <a:avLst/>
          </a:prstGeom>
          <a:solidFill>
            <a:srgbClr val="F5A623"/>
          </a:solidFill>
          <a:ln/>
        </p:spPr>
        <p:txBody>
          <a:bodyPr/>
          <a:lstStyle/>
          <a:p>
            <a:endParaRPr lang="en-US"/>
          </a:p>
        </p:txBody>
      </p:sp>
      <p:sp>
        <p:nvSpPr>
          <p:cNvPr id="31" name="Shape 28"/>
          <p:cNvSpPr/>
          <p:nvPr/>
        </p:nvSpPr>
        <p:spPr>
          <a:xfrm>
            <a:off x="7278624" y="1618488"/>
            <a:ext cx="118872" cy="118872"/>
          </a:xfrm>
          <a:prstGeom prst="ellipse">
            <a:avLst/>
          </a:prstGeom>
          <a:solidFill>
            <a:srgbClr val="46D39A"/>
          </a:solidFill>
          <a:ln/>
        </p:spPr>
        <p:txBody>
          <a:bodyPr/>
          <a:lstStyle/>
          <a:p>
            <a:endParaRPr lang="en-US"/>
          </a:p>
        </p:txBody>
      </p:sp>
      <p:sp>
        <p:nvSpPr>
          <p:cNvPr id="32" name="Text 29"/>
          <p:cNvSpPr txBox="1"/>
          <p:nvPr/>
        </p:nvSpPr>
        <p:spPr>
          <a:xfrm>
            <a:off x="6949440" y="1920240"/>
            <a:ext cx="4389120" cy="384048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-name "p*"</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/etc/passwd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/etc/profile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 </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-type 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/etc/quest</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Searching inside files: grep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grep player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10" name="Shape 7"/>
          <p:cNvSpPr/>
          <p:nvPr/>
        </p:nvSpPr>
        <p:spPr>
          <a:xfrm>
            <a:off x="548640" y="1463040"/>
            <a:ext cx="11094415" cy="2514600"/>
          </a:xfrm>
          <a:prstGeom prst="roundRect">
            <a:avLst>
              <a:gd name="adj" fmla="val 3636"/>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822960" y="1920240"/>
            <a:ext cx="10545775" cy="1920240"/>
          </a:xfrm>
          <a:prstGeom prst="rect">
            <a:avLst/>
          </a:prstGeom>
          <a:noFill/>
          <a:ln/>
        </p:spPr>
        <p:txBody>
          <a:bodyPr wrap="square" lIns="0" tIns="0" rIns="0" bIns="0" rtlCol="0" anchor="t"/>
          <a:lstStyle/>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player /etc/passwd</a:t>
            </a:r>
            <a:r>
              <a:rPr lang="en-US" sz="1700" dirty="0">
                <a:solidFill>
                  <a:srgbClr val="7F8FAD"/>
                </a:solidFill>
                <a:latin typeface="Courier New" pitchFamily="34" charset="0"/>
                <a:ea typeface="Courier New" pitchFamily="34" charset="-122"/>
                <a:cs typeface="Courier New" pitchFamily="34" charset="-120"/>
              </a:rPr>
              <a:t>   # search one file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player:x:1000:1000:player:/home/player:/bin/sh</a:t>
            </a:r>
            <a:endParaRPr lang="en-US" sz="1700" dirty="0"/>
          </a:p>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-r PS1 /etc</a:t>
            </a:r>
            <a:r>
              <a:rPr lang="en-US" sz="1700" dirty="0">
                <a:solidFill>
                  <a:srgbClr val="7F8FAD"/>
                </a:solidFill>
                <a:latin typeface="Courier New" pitchFamily="34" charset="0"/>
                <a:ea typeface="Courier New" pitchFamily="34" charset="-122"/>
                <a:cs typeface="Courier New" pitchFamily="34" charset="-120"/>
              </a:rPr>
              <a:t>   # search every file below here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/etc/profile:export PS1='...'</a:t>
            </a:r>
            <a:endParaRPr lang="en-US" sz="1700" dirty="0"/>
          </a:p>
        </p:txBody>
      </p:sp>
      <p:sp>
        <p:nvSpPr>
          <p:cNvPr id="15" name="Shape 12"/>
          <p:cNvSpPr/>
          <p:nvPr/>
        </p:nvSpPr>
        <p:spPr>
          <a:xfrm>
            <a:off x="548640" y="4343400"/>
            <a:ext cx="3566160" cy="1554480"/>
          </a:xfrm>
          <a:prstGeom prst="roundRect">
            <a:avLst>
              <a:gd name="adj" fmla="val 5882"/>
            </a:avLst>
          </a:prstGeom>
          <a:solidFill>
            <a:srgbClr val="F1F5FB"/>
          </a:solidFill>
          <a:ln/>
        </p:spPr>
        <p:txBody>
          <a:bodyPr/>
          <a:lstStyle/>
          <a:p>
            <a:endParaRPr lang="en-US"/>
          </a:p>
        </p:txBody>
      </p:sp>
      <p:sp>
        <p:nvSpPr>
          <p:cNvPr id="16" name="Text 13"/>
          <p:cNvSpPr txBox="1"/>
          <p:nvPr/>
        </p:nvSpPr>
        <p:spPr>
          <a:xfrm>
            <a:off x="777240"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word file</a:t>
            </a:r>
            <a:endParaRPr lang="en-US" sz="1600" dirty="0"/>
          </a:p>
        </p:txBody>
      </p:sp>
      <p:sp>
        <p:nvSpPr>
          <p:cNvPr id="17" name="Text 14"/>
          <p:cNvSpPr txBox="1"/>
          <p:nvPr/>
        </p:nvSpPr>
        <p:spPr>
          <a:xfrm>
            <a:off x="777240"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print the lines that contain the word</a:t>
            </a:r>
            <a:endParaRPr lang="en-US" sz="1600" dirty="0"/>
          </a:p>
        </p:txBody>
      </p:sp>
      <p:sp>
        <p:nvSpPr>
          <p:cNvPr id="18" name="Shape 15"/>
          <p:cNvSpPr/>
          <p:nvPr/>
        </p:nvSpPr>
        <p:spPr>
          <a:xfrm>
            <a:off x="4306824" y="4343400"/>
            <a:ext cx="3566160" cy="1554480"/>
          </a:xfrm>
          <a:prstGeom prst="roundRect">
            <a:avLst>
              <a:gd name="adj" fmla="val 5882"/>
            </a:avLst>
          </a:prstGeom>
          <a:solidFill>
            <a:srgbClr val="F1F5FB"/>
          </a:solidFill>
          <a:ln/>
        </p:spPr>
        <p:txBody>
          <a:bodyPr/>
          <a:lstStyle/>
          <a:p>
            <a:endParaRPr lang="en-US"/>
          </a:p>
        </p:txBody>
      </p:sp>
      <p:sp>
        <p:nvSpPr>
          <p:cNvPr id="19" name="Text 16"/>
          <p:cNvSpPr txBox="1"/>
          <p:nvPr/>
        </p:nvSpPr>
        <p:spPr>
          <a:xfrm>
            <a:off x="4535424"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-r word /etc</a:t>
            </a:r>
            <a:endParaRPr lang="en-US" sz="1600" dirty="0"/>
          </a:p>
        </p:txBody>
      </p:sp>
      <p:sp>
        <p:nvSpPr>
          <p:cNvPr id="20" name="Text 17"/>
          <p:cNvSpPr txBox="1"/>
          <p:nvPr/>
        </p:nvSpPr>
        <p:spPr>
          <a:xfrm>
            <a:off x="4535424"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 every file in every folder below</a:t>
            </a:r>
            <a:endParaRPr lang="en-US" sz="1600" dirty="0"/>
          </a:p>
        </p:txBody>
      </p:sp>
      <p:sp>
        <p:nvSpPr>
          <p:cNvPr id="21" name="Shape 18"/>
          <p:cNvSpPr/>
          <p:nvPr/>
        </p:nvSpPr>
        <p:spPr>
          <a:xfrm>
            <a:off x="8065008" y="4343400"/>
            <a:ext cx="3566160" cy="1554480"/>
          </a:xfrm>
          <a:prstGeom prst="roundRect">
            <a:avLst>
              <a:gd name="adj" fmla="val 5882"/>
            </a:avLst>
          </a:prstGeom>
          <a:solidFill>
            <a:srgbClr val="F1F5FB"/>
          </a:solidFill>
          <a:ln/>
        </p:spPr>
        <p:txBody>
          <a:bodyPr/>
          <a:lstStyle/>
          <a:p>
            <a:endParaRPr lang="en-US"/>
          </a:p>
        </p:txBody>
      </p:sp>
      <p:sp>
        <p:nvSpPr>
          <p:cNvPr id="22" name="Text 19"/>
          <p:cNvSpPr txBox="1"/>
          <p:nvPr/>
        </p:nvSpPr>
        <p:spPr>
          <a:xfrm>
            <a:off x="8293608"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-c word file</a:t>
            </a:r>
            <a:endParaRPr lang="en-US" sz="1600" dirty="0"/>
          </a:p>
        </p:txBody>
      </p:sp>
      <p:sp>
        <p:nvSpPr>
          <p:cNvPr id="23" name="Text 20"/>
          <p:cNvSpPr txBox="1"/>
          <p:nvPr/>
        </p:nvSpPr>
        <p:spPr>
          <a:xfrm>
            <a:off x="8293608"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just count the matching lines</a:t>
            </a:r>
            <a:endParaRPr lang="en-US" sz="16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Pipes: chain small tools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grep sh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10" name="Shape 7"/>
          <p:cNvSpPr/>
          <p:nvPr/>
        </p:nvSpPr>
        <p:spPr>
          <a:xfrm>
            <a:off x="548640" y="1463040"/>
            <a:ext cx="11094415" cy="777240"/>
          </a:xfrm>
          <a:prstGeom prst="roundRect">
            <a:avLst>
              <a:gd name="adj" fmla="val 11765"/>
            </a:avLst>
          </a:prstGeom>
          <a:solidFill>
            <a:srgbClr val="0E1726"/>
          </a:solidFill>
          <a:ln/>
        </p:spPr>
        <p:txBody>
          <a:bodyPr/>
          <a:lstStyle/>
          <a:p>
            <a:endParaRPr lang="en-US"/>
          </a:p>
        </p:txBody>
      </p:sp>
      <p:sp>
        <p:nvSpPr>
          <p:cNvPr id="11" name="Text 8"/>
          <p:cNvSpPr txBox="1"/>
          <p:nvPr/>
        </p:nvSpPr>
        <p:spPr>
          <a:xfrm>
            <a:off x="868680" y="1463040"/>
            <a:ext cx="10454335" cy="777240"/>
          </a:xfrm>
          <a:prstGeom prst="rect">
            <a:avLst/>
          </a:prstGeom>
          <a:noFill/>
          <a:ln/>
        </p:spPr>
        <p:txBody>
          <a:bodyPr wrap="square" lIns="0" tIns="0" rIns="0" bIns="0" rtlCol="0" anchor="ctr"/>
          <a:lstStyle/>
          <a:p>
            <a:pPr marL="0" indent="0">
              <a:buNone/>
            </a:pPr>
            <a:r>
              <a:rPr lang="en-US" sz="2400" b="1" dirty="0">
                <a:solidFill>
                  <a:srgbClr val="46D39A"/>
                </a:solidFill>
                <a:latin typeface="Courier New" pitchFamily="34" charset="0"/>
                <a:ea typeface="Courier New" pitchFamily="34" charset="-122"/>
                <a:cs typeface="Courier New" pitchFamily="34" charset="-120"/>
              </a:rPr>
              <a:t>$ </a:t>
            </a:r>
            <a:r>
              <a:rPr lang="en-US" sz="2400" b="1" dirty="0">
                <a:solidFill>
                  <a:srgbClr val="FFFFFF"/>
                </a:solidFill>
                <a:latin typeface="Courier New" pitchFamily="34" charset="0"/>
                <a:ea typeface="Courier New" pitchFamily="34" charset="-122"/>
                <a:cs typeface="Courier New" pitchFamily="34" charset="-120"/>
              </a:rPr>
              <a:t>ls /bin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grep sh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wc -l</a:t>
            </a:r>
            <a:endParaRPr lang="en-US" sz="2400" dirty="0"/>
          </a:p>
        </p:txBody>
      </p:sp>
      <p:sp>
        <p:nvSpPr>
          <p:cNvPr id="12" name="Shape 9"/>
          <p:cNvSpPr/>
          <p:nvPr/>
        </p:nvSpPr>
        <p:spPr>
          <a:xfrm>
            <a:off x="548640" y="2606040"/>
            <a:ext cx="2834640" cy="3291840"/>
          </a:xfrm>
          <a:prstGeom prst="roundRect">
            <a:avLst>
              <a:gd name="adj" fmla="val 3226"/>
            </a:avLst>
          </a:prstGeom>
          <a:solidFill>
            <a:srgbClr val="F1F5FB"/>
          </a:solidFill>
          <a:ln/>
        </p:spPr>
        <p:txBody>
          <a:bodyPr/>
          <a:lstStyle/>
          <a:p>
            <a:endParaRPr lang="en-US"/>
          </a:p>
        </p:txBody>
      </p:sp>
      <p:sp>
        <p:nvSpPr>
          <p:cNvPr id="13" name="Shape 10"/>
          <p:cNvSpPr/>
          <p:nvPr/>
        </p:nvSpPr>
        <p:spPr>
          <a:xfrm>
            <a:off x="731520" y="2788920"/>
            <a:ext cx="2468880" cy="457200"/>
          </a:xfrm>
          <a:prstGeom prst="roundRect">
            <a:avLst>
              <a:gd name="adj" fmla="val 16000"/>
            </a:avLst>
          </a:prstGeom>
          <a:solidFill>
            <a:srgbClr val="56657E"/>
          </a:solidFill>
          <a:ln/>
        </p:spPr>
        <p:txBody>
          <a:bodyPr/>
          <a:lstStyle/>
          <a:p>
            <a:endParaRPr lang="en-US"/>
          </a:p>
        </p:txBody>
      </p:sp>
      <p:sp>
        <p:nvSpPr>
          <p:cNvPr id="14" name="Text 11"/>
          <p:cNvSpPr txBox="1"/>
          <p:nvPr/>
        </p:nvSpPr>
        <p:spPr>
          <a:xfrm>
            <a:off x="731520"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/bin</a:t>
            </a:r>
            <a:endParaRPr lang="en-US" sz="1500" dirty="0"/>
          </a:p>
        </p:txBody>
      </p:sp>
      <p:sp>
        <p:nvSpPr>
          <p:cNvPr id="15" name="Text 12"/>
          <p:cNvSpPr txBox="1"/>
          <p:nvPr/>
        </p:nvSpPr>
        <p:spPr>
          <a:xfrm>
            <a:off x="731520"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list every command</a:t>
            </a:r>
            <a:endParaRPr lang="en-US" sz="1300" dirty="0"/>
          </a:p>
        </p:txBody>
      </p:sp>
      <p:sp>
        <p:nvSpPr>
          <p:cNvPr id="16" name="Text 13"/>
          <p:cNvSpPr txBox="1"/>
          <p:nvPr/>
        </p:nvSpPr>
        <p:spPr>
          <a:xfrm>
            <a:off x="731520"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acpid</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adjtimex</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zcat</a:t>
            </a:r>
            <a:endParaRPr lang="en-US" sz="1500" dirty="0"/>
          </a:p>
        </p:txBody>
      </p:sp>
      <p:sp>
        <p:nvSpPr>
          <p:cNvPr id="17" name="Text 14"/>
          <p:cNvSpPr txBox="1"/>
          <p:nvPr/>
        </p:nvSpPr>
        <p:spPr>
          <a:xfrm>
            <a:off x="3383280"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3712464" y="2606040"/>
            <a:ext cx="2834640" cy="3291840"/>
          </a:xfrm>
          <a:prstGeom prst="roundRect">
            <a:avLst>
              <a:gd name="adj" fmla="val 3226"/>
            </a:avLst>
          </a:prstGeom>
          <a:solidFill>
            <a:srgbClr val="F1F5FB"/>
          </a:solidFill>
          <a:ln/>
        </p:spPr>
        <p:txBody>
          <a:bodyPr/>
          <a:lstStyle/>
          <a:p>
            <a:endParaRPr lang="en-US"/>
          </a:p>
        </p:txBody>
      </p:sp>
      <p:sp>
        <p:nvSpPr>
          <p:cNvPr id="19" name="Shape 16"/>
          <p:cNvSpPr/>
          <p:nvPr/>
        </p:nvSpPr>
        <p:spPr>
          <a:xfrm>
            <a:off x="3895344" y="2788920"/>
            <a:ext cx="2468880" cy="457200"/>
          </a:xfrm>
          <a:prstGeom prst="roundRect">
            <a:avLst>
              <a:gd name="adj" fmla="val 16000"/>
            </a:avLst>
          </a:prstGeom>
          <a:solidFill>
            <a:srgbClr val="2459D8"/>
          </a:solidFill>
          <a:ln/>
        </p:spPr>
        <p:txBody>
          <a:bodyPr/>
          <a:lstStyle/>
          <a:p>
            <a:endParaRPr lang="en-US"/>
          </a:p>
        </p:txBody>
      </p:sp>
      <p:sp>
        <p:nvSpPr>
          <p:cNvPr id="20" name="Text 17"/>
          <p:cNvSpPr txBox="1"/>
          <p:nvPr/>
        </p:nvSpPr>
        <p:spPr>
          <a:xfrm>
            <a:off x="3895344"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 sh</a:t>
            </a:r>
            <a:endParaRPr lang="en-US" sz="1500" dirty="0"/>
          </a:p>
        </p:txBody>
      </p:sp>
      <p:sp>
        <p:nvSpPr>
          <p:cNvPr id="21" name="Text 18"/>
          <p:cNvSpPr txBox="1"/>
          <p:nvPr/>
        </p:nvSpPr>
        <p:spPr>
          <a:xfrm>
            <a:off x="3895344"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keep names containing sh</a:t>
            </a:r>
            <a:endParaRPr lang="en-US" sz="1300" dirty="0"/>
          </a:p>
        </p:txBody>
      </p:sp>
      <p:sp>
        <p:nvSpPr>
          <p:cNvPr id="22" name="Text 19"/>
          <p:cNvSpPr txBox="1"/>
          <p:nvPr/>
        </p:nvSpPr>
        <p:spPr>
          <a:xfrm>
            <a:off x="3895344"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sha1sum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sha256sum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unshare</a:t>
            </a:r>
            <a:endParaRPr lang="en-US" sz="1500" dirty="0"/>
          </a:p>
        </p:txBody>
      </p:sp>
      <p:sp>
        <p:nvSpPr>
          <p:cNvPr id="23" name="Text 20"/>
          <p:cNvSpPr txBox="1"/>
          <p:nvPr/>
        </p:nvSpPr>
        <p:spPr>
          <a:xfrm>
            <a:off x="6547104"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4" name="Shape 21"/>
          <p:cNvSpPr/>
          <p:nvPr/>
        </p:nvSpPr>
        <p:spPr>
          <a:xfrm>
            <a:off x="6876288" y="2606040"/>
            <a:ext cx="2514600" cy="3291840"/>
          </a:xfrm>
          <a:prstGeom prst="roundRect">
            <a:avLst>
              <a:gd name="adj" fmla="val 3636"/>
            </a:avLst>
          </a:prstGeom>
          <a:solidFill>
            <a:srgbClr val="F1F5FB"/>
          </a:solidFill>
          <a:ln/>
        </p:spPr>
        <p:txBody>
          <a:bodyPr/>
          <a:lstStyle/>
          <a:p>
            <a:endParaRPr lang="en-US"/>
          </a:p>
        </p:txBody>
      </p:sp>
      <p:sp>
        <p:nvSpPr>
          <p:cNvPr id="25" name="Shape 22"/>
          <p:cNvSpPr/>
          <p:nvPr/>
        </p:nvSpPr>
        <p:spPr>
          <a:xfrm>
            <a:off x="7059168" y="2788920"/>
            <a:ext cx="2148840" cy="457200"/>
          </a:xfrm>
          <a:prstGeom prst="roundRect">
            <a:avLst>
              <a:gd name="adj" fmla="val 16000"/>
            </a:avLst>
          </a:prstGeom>
          <a:solidFill>
            <a:srgbClr val="7448D4"/>
          </a:solidFill>
          <a:ln/>
        </p:spPr>
        <p:txBody>
          <a:bodyPr/>
          <a:lstStyle/>
          <a:p>
            <a:endParaRPr lang="en-US"/>
          </a:p>
        </p:txBody>
      </p:sp>
      <p:sp>
        <p:nvSpPr>
          <p:cNvPr id="26" name="Text 23"/>
          <p:cNvSpPr txBox="1"/>
          <p:nvPr/>
        </p:nvSpPr>
        <p:spPr>
          <a:xfrm>
            <a:off x="7059168" y="2788920"/>
            <a:ext cx="21488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a:t>
            </a:r>
            <a:endParaRPr lang="en-US" sz="1500" dirty="0"/>
          </a:p>
        </p:txBody>
      </p:sp>
      <p:sp>
        <p:nvSpPr>
          <p:cNvPr id="27" name="Text 24"/>
          <p:cNvSpPr txBox="1"/>
          <p:nvPr/>
        </p:nvSpPr>
        <p:spPr>
          <a:xfrm>
            <a:off x="7059168" y="3337560"/>
            <a:ext cx="2148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count the lines</a:t>
            </a:r>
            <a:endParaRPr lang="en-US" sz="1300" dirty="0"/>
          </a:p>
        </p:txBody>
      </p:sp>
      <p:sp>
        <p:nvSpPr>
          <p:cNvPr id="28" name="Text 25"/>
          <p:cNvSpPr txBox="1"/>
          <p:nvPr/>
        </p:nvSpPr>
        <p:spPr>
          <a:xfrm>
            <a:off x="7059168" y="3794760"/>
            <a:ext cx="214884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a:t>
            </a:r>
            <a:endParaRPr lang="en-US" sz="1500" dirty="0"/>
          </a:p>
        </p:txBody>
      </p:sp>
      <p:sp>
        <p:nvSpPr>
          <p:cNvPr id="29" name="Text 26"/>
          <p:cNvSpPr txBox="1"/>
          <p:nvPr/>
        </p:nvSpPr>
        <p:spPr>
          <a:xfrm>
            <a:off x="9390888"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30" name="Shape 27"/>
          <p:cNvSpPr/>
          <p:nvPr/>
        </p:nvSpPr>
        <p:spPr>
          <a:xfrm>
            <a:off x="9720072" y="2606040"/>
            <a:ext cx="1920240" cy="3291840"/>
          </a:xfrm>
          <a:prstGeom prst="roundRect">
            <a:avLst>
              <a:gd name="adj" fmla="val 4762"/>
            </a:avLst>
          </a:prstGeom>
          <a:solidFill>
            <a:srgbClr val="F1F5FB"/>
          </a:solidFill>
          <a:ln/>
        </p:spPr>
        <p:txBody>
          <a:bodyPr/>
          <a:lstStyle/>
          <a:p>
            <a:endParaRPr lang="en-US"/>
          </a:p>
        </p:txBody>
      </p:sp>
      <p:sp>
        <p:nvSpPr>
          <p:cNvPr id="31" name="Shape 28"/>
          <p:cNvSpPr/>
          <p:nvPr/>
        </p:nvSpPr>
        <p:spPr>
          <a:xfrm>
            <a:off x="9902952" y="2788920"/>
            <a:ext cx="1554480" cy="457200"/>
          </a:xfrm>
          <a:prstGeom prst="roundRect">
            <a:avLst>
              <a:gd name="adj" fmla="val 16000"/>
            </a:avLst>
          </a:prstGeom>
          <a:solidFill>
            <a:srgbClr val="D1416B"/>
          </a:solidFill>
          <a:ln/>
        </p:spPr>
        <p:txBody>
          <a:bodyPr/>
          <a:lstStyle/>
          <a:p>
            <a:endParaRPr lang="en-US"/>
          </a:p>
        </p:txBody>
      </p:sp>
      <p:sp>
        <p:nvSpPr>
          <p:cNvPr id="32" name="Text 29"/>
          <p:cNvSpPr txBox="1"/>
          <p:nvPr/>
        </p:nvSpPr>
        <p:spPr>
          <a:xfrm>
            <a:off x="9902952" y="2788920"/>
            <a:ext cx="15544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answer</a:t>
            </a:r>
            <a:endParaRPr lang="en-US" sz="1500" dirty="0"/>
          </a:p>
        </p:txBody>
      </p:sp>
      <p:sp>
        <p:nvSpPr>
          <p:cNvPr id="33" name="Text 30"/>
          <p:cNvSpPr txBox="1"/>
          <p:nvPr/>
        </p:nvSpPr>
        <p:spPr>
          <a:xfrm>
            <a:off x="9902952" y="3337560"/>
            <a:ext cx="15544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one number</a:t>
            </a:r>
            <a:endParaRPr lang="en-US" sz="1300" dirty="0"/>
          </a:p>
        </p:txBody>
      </p:sp>
      <p:sp>
        <p:nvSpPr>
          <p:cNvPr id="34" name="Text 31"/>
          <p:cNvSpPr txBox="1"/>
          <p:nvPr/>
        </p:nvSpPr>
        <p:spPr>
          <a:xfrm>
            <a:off x="9902952" y="3794760"/>
            <a:ext cx="155448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 commands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00"/>
                                        <p:tgtEl>
                                          <p:spTgt spid="2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Sort and count: sort, uniq, cut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sort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put lines in order</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-c</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neighbouring repeats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-u</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lines with no twin</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cut -d: -f1</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keep field 1 (split at :)</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600" b="1" dirty="0">
                <a:solidFill>
                  <a:srgbClr val="12213A"/>
                </a:solidFill>
                <a:latin typeface="Calibri" pitchFamily="34" charset="0"/>
                <a:ea typeface="Calibri" pitchFamily="34" charset="-122"/>
                <a:cs typeface="Calibri" pitchFamily="34" charset="-120"/>
              </a:rPr>
              <a:t>Rule of thumb: </a:t>
            </a:r>
            <a:r>
              <a:rPr lang="en-US" sz="1600" dirty="0">
                <a:solidFill>
                  <a:srgbClr val="12213A"/>
                </a:solidFill>
                <a:latin typeface="Calibri" pitchFamily="34" charset="0"/>
                <a:ea typeface="Calibri" pitchFamily="34" charset="-122"/>
                <a:cs typeface="Calibri" pitchFamily="34" charset="-120"/>
              </a:rPr>
              <a:t>sort first, then uniq. uniq only compares lines that sit next to each other.</a:t>
            </a:r>
            <a:endParaRPr lang="en-US" sz="1600" dirty="0"/>
          </a:p>
        </p:txBody>
      </p:sp>
      <p:sp>
        <p:nvSpPr>
          <p:cNvPr id="24" name="Shape 21"/>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sort and uniq</a:t>
            </a:r>
            <a:endParaRPr lang="en-US" sz="1000" dirty="0"/>
          </a:p>
        </p:txBody>
      </p:sp>
      <p:sp>
        <p:nvSpPr>
          <p:cNvPr id="29" name="Text 26"/>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an example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snacks.txt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pear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-c</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2 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3 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1 pear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-u</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pear</a:t>
            </a:r>
            <a:endParaRPr lang="en-US" sz="14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0" y="0"/>
            <a:ext cx="256032" cy="6858000"/>
          </a:xfrm>
          <a:prstGeom prst="rect">
            <a:avLst/>
          </a:prstGeom>
          <a:solidFill>
            <a:srgbClr val="E8820C"/>
          </a:solidFill>
          <a:ln/>
        </p:spPr>
        <p:txBody>
          <a:bodyPr/>
          <a:lstStyle/>
          <a:p>
            <a:endParaRPr lang="en-US"/>
          </a:p>
        </p:txBody>
      </p:sp>
      <p:sp>
        <p:nvSpPr>
          <p:cNvPr id="6" name="Shape 3"/>
          <p:cNvSpPr/>
          <p:nvPr/>
        </p:nvSpPr>
        <p:spPr>
          <a:xfrm>
            <a:off x="640080" y="685800"/>
            <a:ext cx="1188720" cy="1188720"/>
          </a:xfrm>
          <a:prstGeom prst="ellipse">
            <a:avLst/>
          </a:prstGeom>
          <a:solidFill>
            <a:srgbClr val="E8820C"/>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4</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4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Data and secrets</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Some text only looks secret. Encoding changes how data looks; only encryption needs a key.</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Encode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Rewrite any data as plain letters and digits.</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Decode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base64 --help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Anyone can undo it. No key needed.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Encrypt</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 secret key</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real way to keep something secret.</a:t>
            </a:r>
            <a:endParaRPr lang="en-US" sz="14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Encoding is not encryption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echo hello | base64</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10" name="Shape 7"/>
          <p:cNvSpPr/>
          <p:nvPr/>
        </p:nvSpPr>
        <p:spPr>
          <a:xfrm>
            <a:off x="548640" y="1554480"/>
            <a:ext cx="3291840" cy="2011680"/>
          </a:xfrm>
          <a:prstGeom prst="roundRect">
            <a:avLst>
              <a:gd name="adj" fmla="val 4545"/>
            </a:avLst>
          </a:prstGeom>
          <a:solidFill>
            <a:srgbClr val="F1F5FB"/>
          </a:solidFill>
          <a:ln/>
        </p:spPr>
        <p:txBody>
          <a:bodyPr/>
          <a:lstStyle/>
          <a:p>
            <a:endParaRPr lang="en-US"/>
          </a:p>
        </p:txBody>
      </p:sp>
      <p:sp>
        <p:nvSpPr>
          <p:cNvPr id="11" name="Text 8"/>
          <p:cNvSpPr txBox="1"/>
          <p:nvPr/>
        </p:nvSpPr>
        <p:spPr>
          <a:xfrm>
            <a:off x="822960" y="1737360"/>
            <a:ext cx="2743200" cy="411480"/>
          </a:xfrm>
          <a:prstGeom prst="rect">
            <a:avLst/>
          </a:prstGeom>
          <a:noFill/>
          <a:ln/>
        </p:spPr>
        <p:txBody>
          <a:bodyPr wrap="square" lIns="0" tIns="0" rIns="0" bIns="0" rtlCol="0" anchor="t"/>
          <a:lstStyle/>
          <a:p>
            <a:pPr marL="0" indent="0">
              <a:buNone/>
            </a:pPr>
            <a:r>
              <a:rPr lang="en-US" sz="2200" b="1" dirty="0">
                <a:solidFill>
                  <a:srgbClr val="2459D8"/>
                </a:solidFill>
                <a:latin typeface="Arial" pitchFamily="34" charset="0"/>
                <a:ea typeface="Arial" pitchFamily="34" charset="-122"/>
                <a:cs typeface="Arial" pitchFamily="34" charset="-120"/>
              </a:rPr>
              <a:t>Encoding</a:t>
            </a:r>
            <a:endParaRPr lang="en-US" sz="2200" dirty="0"/>
          </a:p>
        </p:txBody>
      </p:sp>
      <p:sp>
        <p:nvSpPr>
          <p:cNvPr id="12" name="Text 9"/>
          <p:cNvSpPr txBox="1"/>
          <p:nvPr/>
        </p:nvSpPr>
        <p:spPr>
          <a:xfrm>
            <a:off x="822960" y="224028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different way to write the same data. No secret. Anyone can undo it.</a:t>
            </a:r>
            <a:endParaRPr lang="en-US" sz="1600" dirty="0"/>
          </a:p>
        </p:txBody>
      </p:sp>
      <p:sp>
        <p:nvSpPr>
          <p:cNvPr id="13" name="Shape 10"/>
          <p:cNvSpPr/>
          <p:nvPr/>
        </p:nvSpPr>
        <p:spPr>
          <a:xfrm>
            <a:off x="548640" y="3794760"/>
            <a:ext cx="3291840" cy="2103120"/>
          </a:xfrm>
          <a:prstGeom prst="roundRect">
            <a:avLst>
              <a:gd name="adj" fmla="val 4348"/>
            </a:avLst>
          </a:prstGeom>
          <a:solidFill>
            <a:srgbClr val="F1F5FB"/>
          </a:solidFill>
          <a:ln/>
        </p:spPr>
        <p:txBody>
          <a:bodyPr/>
          <a:lstStyle/>
          <a:p>
            <a:endParaRPr lang="en-US"/>
          </a:p>
        </p:txBody>
      </p:sp>
      <p:sp>
        <p:nvSpPr>
          <p:cNvPr id="14" name="Text 11"/>
          <p:cNvSpPr txBox="1"/>
          <p:nvPr/>
        </p:nvSpPr>
        <p:spPr>
          <a:xfrm>
            <a:off x="822960" y="3977640"/>
            <a:ext cx="2743200" cy="411480"/>
          </a:xfrm>
          <a:prstGeom prst="rect">
            <a:avLst/>
          </a:prstGeom>
          <a:noFill/>
          <a:ln/>
        </p:spPr>
        <p:txBody>
          <a:bodyPr wrap="square" lIns="0" tIns="0" rIns="0" bIns="0" rtlCol="0" anchor="t"/>
          <a:lstStyle/>
          <a:p>
            <a:pPr marL="0" indent="0">
              <a:buNone/>
            </a:pPr>
            <a:r>
              <a:rPr lang="en-US" sz="2200" b="1" dirty="0">
                <a:solidFill>
                  <a:srgbClr val="D1416B"/>
                </a:solidFill>
                <a:latin typeface="Arial" pitchFamily="34" charset="0"/>
                <a:ea typeface="Arial" pitchFamily="34" charset="-122"/>
                <a:cs typeface="Arial" pitchFamily="34" charset="-120"/>
              </a:rPr>
              <a:t>Encryption</a:t>
            </a:r>
            <a:endParaRPr lang="en-US" sz="2200" dirty="0"/>
          </a:p>
        </p:txBody>
      </p:sp>
      <p:sp>
        <p:nvSpPr>
          <p:cNvPr id="15" name="Text 12"/>
          <p:cNvSpPr txBox="1"/>
          <p:nvPr/>
        </p:nvSpPr>
        <p:spPr>
          <a:xfrm>
            <a:off x="822960" y="448056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Scrambled with a secret key. Without the key, you cannot read it.</a:t>
            </a:r>
            <a:endParaRPr lang="en-US" sz="1600" dirty="0"/>
          </a:p>
        </p:txBody>
      </p:sp>
      <p:sp>
        <p:nvSpPr>
          <p:cNvPr id="16" name="Shape 13"/>
          <p:cNvSpPr/>
          <p:nvPr/>
        </p:nvSpPr>
        <p:spPr>
          <a:xfrm>
            <a:off x="4206240" y="1463040"/>
            <a:ext cx="74066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4407408" y="1618488"/>
            <a:ext cx="118872" cy="118872"/>
          </a:xfrm>
          <a:prstGeom prst="ellipse">
            <a:avLst/>
          </a:prstGeom>
          <a:solidFill>
            <a:srgbClr val="E5534B"/>
          </a:solidFill>
          <a:ln/>
        </p:spPr>
        <p:txBody>
          <a:bodyPr/>
          <a:lstStyle/>
          <a:p>
            <a:endParaRPr lang="en-US"/>
          </a:p>
        </p:txBody>
      </p:sp>
      <p:sp>
        <p:nvSpPr>
          <p:cNvPr id="18" name="Shape 15"/>
          <p:cNvSpPr/>
          <p:nvPr/>
        </p:nvSpPr>
        <p:spPr>
          <a:xfrm>
            <a:off x="4608576" y="1618488"/>
            <a:ext cx="118872" cy="118872"/>
          </a:xfrm>
          <a:prstGeom prst="ellipse">
            <a:avLst/>
          </a:prstGeom>
          <a:solidFill>
            <a:srgbClr val="F5A623"/>
          </a:solidFill>
          <a:ln/>
        </p:spPr>
        <p:txBody>
          <a:bodyPr/>
          <a:lstStyle/>
          <a:p>
            <a:endParaRPr lang="en-US"/>
          </a:p>
        </p:txBody>
      </p:sp>
      <p:sp>
        <p:nvSpPr>
          <p:cNvPr id="19" name="Shape 16"/>
          <p:cNvSpPr/>
          <p:nvPr/>
        </p:nvSpPr>
        <p:spPr>
          <a:xfrm>
            <a:off x="4809744" y="1618488"/>
            <a:ext cx="118872" cy="118872"/>
          </a:xfrm>
          <a:prstGeom prst="ellipse">
            <a:avLst/>
          </a:prstGeom>
          <a:solidFill>
            <a:srgbClr val="46D39A"/>
          </a:solidFill>
          <a:ln/>
        </p:spPr>
        <p:txBody>
          <a:bodyPr/>
          <a:lstStyle/>
          <a:p>
            <a:endParaRPr lang="en-US"/>
          </a:p>
        </p:txBody>
      </p:sp>
      <p:sp>
        <p:nvSpPr>
          <p:cNvPr id="20" name="Text 17"/>
          <p:cNvSpPr txBox="1"/>
          <p:nvPr/>
        </p:nvSpPr>
        <p:spPr>
          <a:xfrm>
            <a:off x="4480560" y="1920240"/>
            <a:ext cx="6858000" cy="384048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echo hello | base64</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aGVsbG8K</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and back again? which option decodes?</a:t>
            </a:r>
            <a:endParaRPr lang="en-US" sz="1800" dirty="0"/>
          </a:p>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base64 --help</a:t>
            </a:r>
            <a:r>
              <a:rPr lang="en-US" sz="1800" dirty="0">
                <a:solidFill>
                  <a:srgbClr val="7F8FAD"/>
                </a:solidFill>
                <a:latin typeface="Courier New" pitchFamily="34" charset="0"/>
                <a:ea typeface="Courier New" pitchFamily="34" charset="-122"/>
                <a:cs typeface="Courier New" pitchFamily="34" charset="-120"/>
              </a:rPr>
              <a:t>   # you know what to do</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that's Mission 8.</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hint 1</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10" name="Shape 7"/>
          <p:cNvSpPr/>
          <p:nvPr/>
        </p:nvSpPr>
        <p:spPr>
          <a:xfrm>
            <a:off x="548640" y="1554480"/>
            <a:ext cx="3566160" cy="2011680"/>
          </a:xfrm>
          <a:prstGeom prst="roundRect">
            <a:avLst>
              <a:gd name="adj" fmla="val 4545"/>
            </a:avLst>
          </a:prstGeom>
          <a:solidFill>
            <a:srgbClr val="F1F5FB"/>
          </a:solidFill>
          <a:ln/>
        </p:spPr>
        <p:txBody>
          <a:bodyPr/>
          <a:lstStyle/>
          <a:p>
            <a:endParaRPr lang="en-US"/>
          </a:p>
        </p:txBody>
      </p:sp>
      <p:sp>
        <p:nvSpPr>
          <p:cNvPr id="11" name="Shape 8"/>
          <p:cNvSpPr/>
          <p:nvPr/>
        </p:nvSpPr>
        <p:spPr>
          <a:xfrm>
            <a:off x="822960" y="1828800"/>
            <a:ext cx="640080" cy="640080"/>
          </a:xfrm>
          <a:prstGeom prst="ellipse">
            <a:avLst/>
          </a:prstGeom>
          <a:solidFill>
            <a:srgbClr val="F5A623"/>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982980" y="1988820"/>
            <a:ext cx="320040" cy="320040"/>
          </a:xfrm>
          <a:prstGeom prst="rect">
            <a:avLst/>
          </a:prstGeom>
        </p:spPr>
      </p:pic>
      <p:sp>
        <p:nvSpPr>
          <p:cNvPr id="13" name="Text 9"/>
          <p:cNvSpPr txBox="1"/>
          <p:nvPr/>
        </p:nvSpPr>
        <p:spPr>
          <a:xfrm>
            <a:off x="1645920"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hint 1</a:t>
            </a:r>
            <a:endParaRPr lang="en-US" sz="2000" dirty="0"/>
          </a:p>
        </p:txBody>
      </p:sp>
      <p:sp>
        <p:nvSpPr>
          <p:cNvPr id="14" name="Text 10"/>
          <p:cNvSpPr txBox="1"/>
          <p:nvPr/>
        </p:nvSpPr>
        <p:spPr>
          <a:xfrm>
            <a:off x="822960"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hint N shows the price; hint N --show buys it. 5% of the mission each.</a:t>
            </a:r>
            <a:endParaRPr lang="en-US" sz="1600" dirty="0"/>
          </a:p>
        </p:txBody>
      </p:sp>
      <p:sp>
        <p:nvSpPr>
          <p:cNvPr id="15" name="Shape 11"/>
          <p:cNvSpPr/>
          <p:nvPr/>
        </p:nvSpPr>
        <p:spPr>
          <a:xfrm>
            <a:off x="4306824" y="1554480"/>
            <a:ext cx="3566160" cy="2011680"/>
          </a:xfrm>
          <a:prstGeom prst="roundRect">
            <a:avLst>
              <a:gd name="adj" fmla="val 4545"/>
            </a:avLst>
          </a:prstGeom>
          <a:solidFill>
            <a:srgbClr val="F1F5FB"/>
          </a:solidFill>
          <a:ln/>
        </p:spPr>
        <p:txBody>
          <a:bodyPr/>
          <a:lstStyle/>
          <a:p>
            <a:endParaRPr lang="en-US"/>
          </a:p>
        </p:txBody>
      </p:sp>
      <p:sp>
        <p:nvSpPr>
          <p:cNvPr id="16" name="Shape 12"/>
          <p:cNvSpPr/>
          <p:nvPr/>
        </p:nvSpPr>
        <p:spPr>
          <a:xfrm>
            <a:off x="4581144" y="1828800"/>
            <a:ext cx="640080" cy="640080"/>
          </a:xfrm>
          <a:prstGeom prst="ellipse">
            <a:avLst/>
          </a:prstGeom>
          <a:solidFill>
            <a:srgbClr val="2459D8"/>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741164" y="1988820"/>
            <a:ext cx="320040" cy="320040"/>
          </a:xfrm>
          <a:prstGeom prst="rect">
            <a:avLst/>
          </a:prstGeom>
        </p:spPr>
      </p:pic>
      <p:sp>
        <p:nvSpPr>
          <p:cNvPr id="18" name="Text 13"/>
          <p:cNvSpPr txBox="1"/>
          <p:nvPr/>
        </p:nvSpPr>
        <p:spPr>
          <a:xfrm>
            <a:off x="5404104"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--help</a:t>
            </a:r>
            <a:endParaRPr lang="en-US" sz="2000" dirty="0"/>
          </a:p>
        </p:txBody>
      </p:sp>
      <p:sp>
        <p:nvSpPr>
          <p:cNvPr id="19" name="Text 14"/>
          <p:cNvSpPr txBox="1"/>
          <p:nvPr/>
        </p:nvSpPr>
        <p:spPr>
          <a:xfrm>
            <a:off x="4581144"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Any command explains itself. Read the option list.</a:t>
            </a:r>
            <a:endParaRPr lang="en-US" sz="1600" dirty="0"/>
          </a:p>
        </p:txBody>
      </p:sp>
      <p:sp>
        <p:nvSpPr>
          <p:cNvPr id="20" name="Shape 15"/>
          <p:cNvSpPr/>
          <p:nvPr/>
        </p:nvSpPr>
        <p:spPr>
          <a:xfrm>
            <a:off x="8065008" y="1554480"/>
            <a:ext cx="3566160" cy="2011680"/>
          </a:xfrm>
          <a:prstGeom prst="roundRect">
            <a:avLst>
              <a:gd name="adj" fmla="val 4545"/>
            </a:avLst>
          </a:prstGeom>
          <a:solidFill>
            <a:srgbClr val="F1F5FB"/>
          </a:solidFill>
          <a:ln/>
        </p:spPr>
        <p:txBody>
          <a:bodyPr/>
          <a:lstStyle/>
          <a:p>
            <a:endParaRPr lang="en-US"/>
          </a:p>
        </p:txBody>
      </p:sp>
      <p:sp>
        <p:nvSpPr>
          <p:cNvPr id="21" name="Shape 16"/>
          <p:cNvSpPr/>
          <p:nvPr/>
        </p:nvSpPr>
        <p:spPr>
          <a:xfrm>
            <a:off x="8339328" y="1828800"/>
            <a:ext cx="640080" cy="640080"/>
          </a:xfrm>
          <a:prstGeom prst="ellipse">
            <a:avLst/>
          </a:prstGeom>
          <a:solidFill>
            <a:srgbClr val="2A9FD6"/>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499348" y="1988820"/>
            <a:ext cx="320040" cy="320040"/>
          </a:xfrm>
          <a:prstGeom prst="rect">
            <a:avLst/>
          </a:prstGeom>
        </p:spPr>
      </p:pic>
      <p:sp>
        <p:nvSpPr>
          <p:cNvPr id="23" name="Text 17"/>
          <p:cNvSpPr txBox="1"/>
          <p:nvPr/>
        </p:nvSpPr>
        <p:spPr>
          <a:xfrm>
            <a:off x="9162288"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Tab</a:t>
            </a:r>
            <a:endParaRPr lang="en-US" sz="2000" dirty="0"/>
          </a:p>
        </p:txBody>
      </p:sp>
      <p:sp>
        <p:nvSpPr>
          <p:cNvPr id="24" name="Text 18"/>
          <p:cNvSpPr txBox="1"/>
          <p:nvPr/>
        </p:nvSpPr>
        <p:spPr>
          <a:xfrm>
            <a:off x="8339328"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Finishes file names for you</a:t>
            </a:r>
            <a:endParaRPr lang="en-US" sz="1600" dirty="0"/>
          </a:p>
        </p:txBody>
      </p:sp>
      <p:sp>
        <p:nvSpPr>
          <p:cNvPr id="25" name="Shape 19"/>
          <p:cNvSpPr/>
          <p:nvPr/>
        </p:nvSpPr>
        <p:spPr>
          <a:xfrm>
            <a:off x="548640" y="3794760"/>
            <a:ext cx="3566160" cy="2011680"/>
          </a:xfrm>
          <a:prstGeom prst="roundRect">
            <a:avLst>
              <a:gd name="adj" fmla="val 4545"/>
            </a:avLst>
          </a:prstGeom>
          <a:solidFill>
            <a:srgbClr val="F1F5FB"/>
          </a:solidFill>
          <a:ln/>
        </p:spPr>
        <p:txBody>
          <a:bodyPr/>
          <a:lstStyle/>
          <a:p>
            <a:endParaRPr lang="en-US"/>
          </a:p>
        </p:txBody>
      </p:sp>
      <p:sp>
        <p:nvSpPr>
          <p:cNvPr id="26" name="Shape 20"/>
          <p:cNvSpPr/>
          <p:nvPr/>
        </p:nvSpPr>
        <p:spPr>
          <a:xfrm>
            <a:off x="822960" y="4069080"/>
            <a:ext cx="640080" cy="640080"/>
          </a:xfrm>
          <a:prstGeom prst="ellipse">
            <a:avLst/>
          </a:prstGeom>
          <a:solidFill>
            <a:srgbClr val="7448D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28" name="Text 21"/>
          <p:cNvSpPr txBox="1"/>
          <p:nvPr/>
        </p:nvSpPr>
        <p:spPr>
          <a:xfrm>
            <a:off x="1645920"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Up arrow</a:t>
            </a:r>
            <a:endParaRPr lang="en-US" sz="2000" dirty="0"/>
          </a:p>
        </p:txBody>
      </p:sp>
      <p:sp>
        <p:nvSpPr>
          <p:cNvPr id="29" name="Text 22"/>
          <p:cNvSpPr txBox="1"/>
          <p:nvPr/>
        </p:nvSpPr>
        <p:spPr>
          <a:xfrm>
            <a:off x="822960"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Brings back your last command</a:t>
            </a:r>
            <a:endParaRPr lang="en-US" sz="1600" dirty="0"/>
          </a:p>
        </p:txBody>
      </p:sp>
      <p:sp>
        <p:nvSpPr>
          <p:cNvPr id="30" name="Shape 23"/>
          <p:cNvSpPr/>
          <p:nvPr/>
        </p:nvSpPr>
        <p:spPr>
          <a:xfrm>
            <a:off x="4306824" y="3794760"/>
            <a:ext cx="3566160" cy="2011680"/>
          </a:xfrm>
          <a:prstGeom prst="roundRect">
            <a:avLst>
              <a:gd name="adj" fmla="val 4545"/>
            </a:avLst>
          </a:prstGeom>
          <a:solidFill>
            <a:srgbClr val="F1F5FB"/>
          </a:solidFill>
          <a:ln/>
        </p:spPr>
        <p:txBody>
          <a:bodyPr/>
          <a:lstStyle/>
          <a:p>
            <a:endParaRPr lang="en-US"/>
          </a:p>
        </p:txBody>
      </p:sp>
      <p:sp>
        <p:nvSpPr>
          <p:cNvPr id="31" name="Shape 24"/>
          <p:cNvSpPr/>
          <p:nvPr/>
        </p:nvSpPr>
        <p:spPr>
          <a:xfrm>
            <a:off x="4581144" y="4069080"/>
            <a:ext cx="640080" cy="640080"/>
          </a:xfrm>
          <a:prstGeom prst="ellipse">
            <a:avLst/>
          </a:prstGeom>
          <a:solidFill>
            <a:srgbClr val="D1416B"/>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41164" y="4229100"/>
            <a:ext cx="320040" cy="320040"/>
          </a:xfrm>
          <a:prstGeom prst="rect">
            <a:avLst/>
          </a:prstGeom>
        </p:spPr>
      </p:pic>
      <p:sp>
        <p:nvSpPr>
          <p:cNvPr id="33" name="Text 25"/>
          <p:cNvSpPr txBox="1"/>
          <p:nvPr/>
        </p:nvSpPr>
        <p:spPr>
          <a:xfrm>
            <a:off x="5404104"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Ctrl+C</a:t>
            </a:r>
            <a:endParaRPr lang="en-US" sz="2000" dirty="0"/>
          </a:p>
        </p:txBody>
      </p:sp>
      <p:sp>
        <p:nvSpPr>
          <p:cNvPr id="34" name="Text 26"/>
          <p:cNvSpPr txBox="1"/>
          <p:nvPr/>
        </p:nvSpPr>
        <p:spPr>
          <a:xfrm>
            <a:off x="4581144"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Stops whatever is running</a:t>
            </a:r>
            <a:endParaRPr lang="en-US" sz="1600" dirty="0"/>
          </a:p>
        </p:txBody>
      </p:sp>
      <p:sp>
        <p:nvSpPr>
          <p:cNvPr id="35" name="Shape 27"/>
          <p:cNvSpPr/>
          <p:nvPr/>
        </p:nvSpPr>
        <p:spPr>
          <a:xfrm>
            <a:off x="8065008" y="3794760"/>
            <a:ext cx="3566160" cy="2011680"/>
          </a:xfrm>
          <a:prstGeom prst="roundRect">
            <a:avLst>
              <a:gd name="adj" fmla="val 4545"/>
            </a:avLst>
          </a:prstGeom>
          <a:solidFill>
            <a:srgbClr val="F1F5FB"/>
          </a:solidFill>
          <a:ln/>
        </p:spPr>
        <p:txBody>
          <a:bodyPr/>
          <a:lstStyle/>
          <a:p>
            <a:endParaRPr lang="en-US"/>
          </a:p>
        </p:txBody>
      </p:sp>
      <p:sp>
        <p:nvSpPr>
          <p:cNvPr id="36" name="Shape 28"/>
          <p:cNvSpPr/>
          <p:nvPr/>
        </p:nvSpPr>
        <p:spPr>
          <a:xfrm>
            <a:off x="8339328" y="4069080"/>
            <a:ext cx="640080" cy="640080"/>
          </a:xfrm>
          <a:prstGeom prst="ellipse">
            <a:avLst/>
          </a:prstGeom>
          <a:solidFill>
            <a:srgbClr val="17875A"/>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8499348" y="4229100"/>
            <a:ext cx="320040" cy="320040"/>
          </a:xfrm>
          <a:prstGeom prst="rect">
            <a:avLst/>
          </a:prstGeom>
        </p:spPr>
      </p:pic>
      <p:sp>
        <p:nvSpPr>
          <p:cNvPr id="38" name="Text 29"/>
          <p:cNvSpPr txBox="1"/>
          <p:nvPr/>
        </p:nvSpPr>
        <p:spPr>
          <a:xfrm>
            <a:off x="9162288"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Arial" pitchFamily="34" charset="0"/>
                <a:ea typeface="Arial" pitchFamily="34" charset="-122"/>
                <a:cs typeface="Arial" pitchFamily="34" charset="-120"/>
              </a:rPr>
              <a:t>Read the error</a:t>
            </a:r>
            <a:endParaRPr lang="en-US" sz="2000" dirty="0"/>
          </a:p>
        </p:txBody>
      </p:sp>
      <p:sp>
        <p:nvSpPr>
          <p:cNvPr id="39" name="Text 30"/>
          <p:cNvSpPr txBox="1"/>
          <p:nvPr/>
        </p:nvSpPr>
        <p:spPr>
          <a:xfrm>
            <a:off x="8339328"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Permission denied is a clue, not a failure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5"/>
                                        </p:tgtEl>
                                        <p:attrNameLst>
                                          <p:attrName>style.opacity</p:attrName>
                                        </p:attrNameLst>
                                      </p:cBhvr>
                                      <p:to>
                                        <p:strVal val="0.25"/>
                                      </p:to>
                                    </p:set>
                                    <p:animEffect filter="image" prLst="opacity: 0.25">
                                      <p:cBhvr rctx="IE">
                                        <p:cTn id="7" dur="1" fill="hold"/>
                                        <p:tgtEl>
                                          <p:spTgt spid="15"/>
                                        </p:tgtEl>
                                      </p:cBhvr>
                                    </p:animEffect>
                                  </p:childTnLst>
                                </p:cTn>
                              </p:par>
                              <p:par>
                                <p:cTn id="8" presetID="9" presetClass="emph" presetSubtype="0" fill="hold" grpId="0" nodeType="withEffect">
                                  <p:stCondLst>
                                    <p:cond delay="0"/>
                                  </p:stCondLst>
                                  <p:childTnLst>
                                    <p:set>
                                      <p:cBhvr>
                                        <p:cTn id="9" dur="1" fill="hold"/>
                                        <p:tgtEl>
                                          <p:spTgt spid="16"/>
                                        </p:tgtEl>
                                        <p:attrNameLst>
                                          <p:attrName>style.opacity</p:attrName>
                                        </p:attrNameLst>
                                      </p:cBhvr>
                                      <p:to>
                                        <p:strVal val="0.25"/>
                                      </p:to>
                                    </p:set>
                                    <p:animEffect filter="image" prLst="opacity: 0.25">
                                      <p:cBhvr rctx="IE">
                                        <p:cTn id="10" dur="1" fill="hold"/>
                                        <p:tgtEl>
                                          <p:spTgt spid="16"/>
                                        </p:tgtEl>
                                      </p:cBhvr>
                                    </p:animEffect>
                                  </p:childTnLst>
                                </p:cTn>
                              </p:par>
                              <p:par>
                                <p:cTn id="11" presetID="9" presetClass="emph" presetSubtype="0" fill="hold" nodeType="withEffect">
                                  <p:stCondLst>
                                    <p:cond delay="0"/>
                                  </p:stCondLst>
                                  <p:childTnLst>
                                    <p:set>
                                      <p:cBhvr>
                                        <p:cTn id="12" dur="1" fill="hold"/>
                                        <p:tgtEl>
                                          <p:spTgt spid="17"/>
                                        </p:tgtEl>
                                        <p:attrNameLst>
                                          <p:attrName>style.opacity</p:attrName>
                                        </p:attrNameLst>
                                      </p:cBhvr>
                                      <p:to>
                                        <p:strVal val="0.25"/>
                                      </p:to>
                                    </p:set>
                                    <p:animEffect filter="image" prLst="opacity: 0.25">
                                      <p:cBhvr rctx="IE">
                                        <p:cTn id="13" dur="1" fill="hold"/>
                                        <p:tgtEl>
                                          <p:spTgt spid="17"/>
                                        </p:tgtEl>
                                      </p:cBhvr>
                                    </p:animEffect>
                                  </p:childTnLst>
                                </p:cTn>
                              </p:par>
                              <p:par>
                                <p:cTn id="14" presetID="9" presetClass="emph" presetSubtype="0" fill="hold" grpId="0" nodeType="withEffect">
                                  <p:stCondLst>
                                    <p:cond delay="0"/>
                                  </p:stCondLst>
                                  <p:childTnLst>
                                    <p:set>
                                      <p:cBhvr>
                                        <p:cTn id="15" dur="1" fill="hold"/>
                                        <p:tgtEl>
                                          <p:spTgt spid="18"/>
                                        </p:tgtEl>
                                        <p:attrNameLst>
                                          <p:attrName>style.opacity</p:attrName>
                                        </p:attrNameLst>
                                      </p:cBhvr>
                                      <p:to>
                                        <p:strVal val="0.25"/>
                                      </p:to>
                                    </p:set>
                                    <p:animEffect filter="image" prLst="opacity: 0.25">
                                      <p:cBhvr rctx="IE">
                                        <p:cTn id="16" dur="1" fill="hold"/>
                                        <p:tgtEl>
                                          <p:spTgt spid="18"/>
                                        </p:tgtEl>
                                      </p:cBhvr>
                                    </p:animEffect>
                                  </p:childTnLst>
                                </p:cTn>
                              </p:par>
                              <p:par>
                                <p:cTn id="17" presetID="9" presetClass="emph" presetSubtype="0" fill="hold" grpId="0" nodeType="withEffect">
                                  <p:stCondLst>
                                    <p:cond delay="0"/>
                                  </p:stCondLst>
                                  <p:childTnLst>
                                    <p:set>
                                      <p:cBhvr>
                                        <p:cTn id="18" dur="1" fill="hold"/>
                                        <p:tgtEl>
                                          <p:spTgt spid="19"/>
                                        </p:tgtEl>
                                        <p:attrNameLst>
                                          <p:attrName>style.opacity</p:attrName>
                                        </p:attrNameLst>
                                      </p:cBhvr>
                                      <p:to>
                                        <p:strVal val="0.25"/>
                                      </p:to>
                                    </p:set>
                                    <p:animEffect filter="image" prLst="opacity: 0.25">
                                      <p:cBhvr rctx="IE">
                                        <p:cTn id="19" dur="1" fill="hold"/>
                                        <p:tgtEl>
                                          <p:spTgt spid="19"/>
                                        </p:tgtEl>
                                      </p:cBhvr>
                                    </p:animEffect>
                                  </p:childTnLst>
                                </p:cTn>
                              </p:par>
                              <p:par>
                                <p:cTn id="20" presetID="9" presetClass="emph" presetSubtype="0" fill="hold" grpId="0" nodeType="withEffect">
                                  <p:stCondLst>
                                    <p:cond delay="0"/>
                                  </p:stCondLst>
                                  <p:childTnLst>
                                    <p:set>
                                      <p:cBhvr>
                                        <p:cTn id="21" dur="1" fill="hold"/>
                                        <p:tgtEl>
                                          <p:spTgt spid="20"/>
                                        </p:tgtEl>
                                        <p:attrNameLst>
                                          <p:attrName>style.opacity</p:attrName>
                                        </p:attrNameLst>
                                      </p:cBhvr>
                                      <p:to>
                                        <p:strVal val="0.25"/>
                                      </p:to>
                                    </p:set>
                                    <p:animEffect filter="image" prLst="opacity: 0.25">
                                      <p:cBhvr rctx="IE">
                                        <p:cTn id="22" dur="1" fill="hold"/>
                                        <p:tgtEl>
                                          <p:spTgt spid="20"/>
                                        </p:tgtEl>
                                      </p:cBhvr>
                                    </p:animEffect>
                                  </p:childTnLst>
                                </p:cTn>
                              </p:par>
                              <p:par>
                                <p:cTn id="23" presetID="9" presetClass="emph" presetSubtype="0" fill="hold" grpId="0" nodeType="withEffect">
                                  <p:stCondLst>
                                    <p:cond delay="0"/>
                                  </p:stCondLst>
                                  <p:childTnLst>
                                    <p:set>
                                      <p:cBhvr>
                                        <p:cTn id="24" dur="1" fill="hold"/>
                                        <p:tgtEl>
                                          <p:spTgt spid="21"/>
                                        </p:tgtEl>
                                        <p:attrNameLst>
                                          <p:attrName>style.opacity</p:attrName>
                                        </p:attrNameLst>
                                      </p:cBhvr>
                                      <p:to>
                                        <p:strVal val="0.25"/>
                                      </p:to>
                                    </p:set>
                                    <p:animEffect filter="image" prLst="opacity: 0.25">
                                      <p:cBhvr rctx="IE">
                                        <p:cTn id="25" dur="1" fill="hold"/>
                                        <p:tgtEl>
                                          <p:spTgt spid="21"/>
                                        </p:tgtEl>
                                      </p:cBhvr>
                                    </p:animEffect>
                                  </p:childTnLst>
                                </p:cTn>
                              </p:par>
                              <p:par>
                                <p:cTn id="26" presetID="9" presetClass="emph" presetSubtype="0" fill="hold" nodeType="withEffect">
                                  <p:stCondLst>
                                    <p:cond delay="0"/>
                                  </p:stCondLst>
                                  <p:childTnLst>
                                    <p:set>
                                      <p:cBhvr>
                                        <p:cTn id="27" dur="1" fill="hold"/>
                                        <p:tgtEl>
                                          <p:spTgt spid="22"/>
                                        </p:tgtEl>
                                        <p:attrNameLst>
                                          <p:attrName>style.opacity</p:attrName>
                                        </p:attrNameLst>
                                      </p:cBhvr>
                                      <p:to>
                                        <p:strVal val="0.25"/>
                                      </p:to>
                                    </p:set>
                                    <p:animEffect filter="image" prLst="opacity: 0.25">
                                      <p:cBhvr rctx="IE">
                                        <p:cTn id="28" dur="1" fill="hold"/>
                                        <p:tgtEl>
                                          <p:spTgt spid="22"/>
                                        </p:tgtEl>
                                      </p:cBhvr>
                                    </p:animEffect>
                                  </p:childTnLst>
                                </p:cTn>
                              </p:par>
                              <p:par>
                                <p:cTn id="29" presetID="9" presetClass="emph" presetSubtype="0" fill="hold" grpId="0" nodeType="withEffect">
                                  <p:stCondLst>
                                    <p:cond delay="0"/>
                                  </p:stCondLst>
                                  <p:childTnLst>
                                    <p:set>
                                      <p:cBhvr>
                                        <p:cTn id="30" dur="1" fill="hold"/>
                                        <p:tgtEl>
                                          <p:spTgt spid="23"/>
                                        </p:tgtEl>
                                        <p:attrNameLst>
                                          <p:attrName>style.opacity</p:attrName>
                                        </p:attrNameLst>
                                      </p:cBhvr>
                                      <p:to>
                                        <p:strVal val="0.25"/>
                                      </p:to>
                                    </p:set>
                                    <p:animEffect filter="image" prLst="opacity: 0.25">
                                      <p:cBhvr rctx="IE">
                                        <p:cTn id="31" dur="1" fill="hold"/>
                                        <p:tgtEl>
                                          <p:spTgt spid="23"/>
                                        </p:tgtEl>
                                      </p:cBhvr>
                                    </p:animEffect>
                                  </p:childTnLst>
                                </p:cTn>
                              </p:par>
                              <p:par>
                                <p:cTn id="32" presetID="9" presetClass="emph" presetSubtype="0" fill="hold" grpId="0" nodeType="withEffect">
                                  <p:stCondLst>
                                    <p:cond delay="0"/>
                                  </p:stCondLst>
                                  <p:childTnLst>
                                    <p:set>
                                      <p:cBhvr>
                                        <p:cTn id="33" dur="1" fill="hold"/>
                                        <p:tgtEl>
                                          <p:spTgt spid="24"/>
                                        </p:tgtEl>
                                        <p:attrNameLst>
                                          <p:attrName>style.opacity</p:attrName>
                                        </p:attrNameLst>
                                      </p:cBhvr>
                                      <p:to>
                                        <p:strVal val="0.25"/>
                                      </p:to>
                                    </p:set>
                                    <p:animEffect filter="image" prLst="opacity: 0.25">
                                      <p:cBhvr rctx="IE">
                                        <p:cTn id="34" dur="1" fill="hold"/>
                                        <p:tgtEl>
                                          <p:spTgt spid="24"/>
                                        </p:tgtEl>
                                      </p:cBhvr>
                                    </p:animEffect>
                                  </p:childTnLst>
                                </p:cTn>
                              </p:par>
                              <p:par>
                                <p:cTn id="35" presetID="9" presetClass="emph" presetSubtype="0" fill="hold" grpId="0" nodeType="withEffect">
                                  <p:stCondLst>
                                    <p:cond delay="0"/>
                                  </p:stCondLst>
                                  <p:childTnLst>
                                    <p:set>
                                      <p:cBhvr>
                                        <p:cTn id="36" dur="1" fill="hold"/>
                                        <p:tgtEl>
                                          <p:spTgt spid="25"/>
                                        </p:tgtEl>
                                        <p:attrNameLst>
                                          <p:attrName>style.opacity</p:attrName>
                                        </p:attrNameLst>
                                      </p:cBhvr>
                                      <p:to>
                                        <p:strVal val="0.25"/>
                                      </p:to>
                                    </p:set>
                                    <p:animEffect filter="image" prLst="opacity: 0.25">
                                      <p:cBhvr rctx="IE">
                                        <p:cTn id="37" dur="1" fill="hold"/>
                                        <p:tgtEl>
                                          <p:spTgt spid="25"/>
                                        </p:tgtEl>
                                      </p:cBhvr>
                                    </p:animEffect>
                                  </p:childTnLst>
                                </p:cTn>
                              </p:par>
                              <p:par>
                                <p:cTn id="38" presetID="9" presetClass="emph" presetSubtype="0" fill="hold" grpId="0" nodeType="withEffect">
                                  <p:stCondLst>
                                    <p:cond delay="0"/>
                                  </p:stCondLst>
                                  <p:childTnLst>
                                    <p:set>
                                      <p:cBhvr>
                                        <p:cTn id="39" dur="1" fill="hold"/>
                                        <p:tgtEl>
                                          <p:spTgt spid="26"/>
                                        </p:tgtEl>
                                        <p:attrNameLst>
                                          <p:attrName>style.opacity</p:attrName>
                                        </p:attrNameLst>
                                      </p:cBhvr>
                                      <p:to>
                                        <p:strVal val="0.25"/>
                                      </p:to>
                                    </p:set>
                                    <p:animEffect filter="image" prLst="opacity: 0.25">
                                      <p:cBhvr rctx="IE">
                                        <p:cTn id="40" dur="1" fill="hold"/>
                                        <p:tgtEl>
                                          <p:spTgt spid="26"/>
                                        </p:tgtEl>
                                      </p:cBhvr>
                                    </p:animEffect>
                                  </p:childTnLst>
                                </p:cTn>
                              </p:par>
                              <p:par>
                                <p:cTn id="41" presetID="9" presetClass="emph" presetSubtype="0" fill="hold" nodeType="withEffect">
                                  <p:stCondLst>
                                    <p:cond delay="0"/>
                                  </p:stCondLst>
                                  <p:childTnLst>
                                    <p:set>
                                      <p:cBhvr>
                                        <p:cTn id="42" dur="1" fill="hold"/>
                                        <p:tgtEl>
                                          <p:spTgt spid="27"/>
                                        </p:tgtEl>
                                        <p:attrNameLst>
                                          <p:attrName>style.opacity</p:attrName>
                                        </p:attrNameLst>
                                      </p:cBhvr>
                                      <p:to>
                                        <p:strVal val="0.25"/>
                                      </p:to>
                                    </p:set>
                                    <p:animEffect filter="image" prLst="opacity: 0.25">
                                      <p:cBhvr rctx="IE">
                                        <p:cTn id="43" dur="1" fill="hold"/>
                                        <p:tgtEl>
                                          <p:spTgt spid="27"/>
                                        </p:tgtEl>
                                      </p:cBhvr>
                                    </p:animEffect>
                                  </p:childTnLst>
                                </p:cTn>
                              </p:par>
                              <p:par>
                                <p:cTn id="44" presetID="9" presetClass="emph" presetSubtype="0" fill="hold" grpId="0" nodeType="withEffect">
                                  <p:stCondLst>
                                    <p:cond delay="0"/>
                                  </p:stCondLst>
                                  <p:childTnLst>
                                    <p:set>
                                      <p:cBhvr>
                                        <p:cTn id="45" dur="1" fill="hold"/>
                                        <p:tgtEl>
                                          <p:spTgt spid="28"/>
                                        </p:tgtEl>
                                        <p:attrNameLst>
                                          <p:attrName>style.opacity</p:attrName>
                                        </p:attrNameLst>
                                      </p:cBhvr>
                                      <p:to>
                                        <p:strVal val="0.25"/>
                                      </p:to>
                                    </p:set>
                                    <p:animEffect filter="image" prLst="opacity: 0.25">
                                      <p:cBhvr rctx="IE">
                                        <p:cTn id="46" dur="1" fill="hold"/>
                                        <p:tgtEl>
                                          <p:spTgt spid="28"/>
                                        </p:tgtEl>
                                      </p:cBhvr>
                                    </p:animEffect>
                                  </p:childTnLst>
                                </p:cTn>
                              </p:par>
                              <p:par>
                                <p:cTn id="47" presetID="9" presetClass="emph" presetSubtype="0" fill="hold" grpId="0" nodeType="withEffect">
                                  <p:stCondLst>
                                    <p:cond delay="0"/>
                                  </p:stCondLst>
                                  <p:childTnLst>
                                    <p:set>
                                      <p:cBhvr>
                                        <p:cTn id="48" dur="1" fill="hold"/>
                                        <p:tgtEl>
                                          <p:spTgt spid="29"/>
                                        </p:tgtEl>
                                        <p:attrNameLst>
                                          <p:attrName>style.opacity</p:attrName>
                                        </p:attrNameLst>
                                      </p:cBhvr>
                                      <p:to>
                                        <p:strVal val="0.25"/>
                                      </p:to>
                                    </p:set>
                                    <p:animEffect filter="image" prLst="opacity: 0.25">
                                      <p:cBhvr rctx="IE">
                                        <p:cTn id="49" dur="1" fill="hold"/>
                                        <p:tgtEl>
                                          <p:spTgt spid="29"/>
                                        </p:tgtEl>
                                      </p:cBhvr>
                                    </p:animEffect>
                                  </p:childTnLst>
                                </p:cTn>
                              </p:par>
                              <p:par>
                                <p:cTn id="50" presetID="9" presetClass="emph" presetSubtype="0" fill="hold" grpId="0" nodeType="withEffect">
                                  <p:stCondLst>
                                    <p:cond delay="0"/>
                                  </p:stCondLst>
                                  <p:childTnLst>
                                    <p:set>
                                      <p:cBhvr>
                                        <p:cTn id="51" dur="1" fill="hold"/>
                                        <p:tgtEl>
                                          <p:spTgt spid="30"/>
                                        </p:tgtEl>
                                        <p:attrNameLst>
                                          <p:attrName>style.opacity</p:attrName>
                                        </p:attrNameLst>
                                      </p:cBhvr>
                                      <p:to>
                                        <p:strVal val="0.25"/>
                                      </p:to>
                                    </p:set>
                                    <p:animEffect filter="image" prLst="opacity: 0.25">
                                      <p:cBhvr rctx="IE">
                                        <p:cTn id="52" dur="1" fill="hold"/>
                                        <p:tgtEl>
                                          <p:spTgt spid="30"/>
                                        </p:tgtEl>
                                      </p:cBhvr>
                                    </p:animEffect>
                                  </p:childTnLst>
                                </p:cTn>
                              </p:par>
                              <p:par>
                                <p:cTn id="53" presetID="9" presetClass="emph" presetSubtype="0" fill="hold" grpId="0" nodeType="withEffect">
                                  <p:stCondLst>
                                    <p:cond delay="0"/>
                                  </p:stCondLst>
                                  <p:childTnLst>
                                    <p:set>
                                      <p:cBhvr>
                                        <p:cTn id="54" dur="1" fill="hold"/>
                                        <p:tgtEl>
                                          <p:spTgt spid="31"/>
                                        </p:tgtEl>
                                        <p:attrNameLst>
                                          <p:attrName>style.opacity</p:attrName>
                                        </p:attrNameLst>
                                      </p:cBhvr>
                                      <p:to>
                                        <p:strVal val="0.25"/>
                                      </p:to>
                                    </p:set>
                                    <p:animEffect filter="image" prLst="opacity: 0.25">
                                      <p:cBhvr rctx="IE">
                                        <p:cTn id="55" dur="1" fill="hold"/>
                                        <p:tgtEl>
                                          <p:spTgt spid="31"/>
                                        </p:tgtEl>
                                      </p:cBhvr>
                                    </p:animEffect>
                                  </p:childTnLst>
                                </p:cTn>
                              </p:par>
                              <p:par>
                                <p:cTn id="56" presetID="9" presetClass="emph" presetSubtype="0" fill="hold" nodeType="withEffect">
                                  <p:stCondLst>
                                    <p:cond delay="0"/>
                                  </p:stCondLst>
                                  <p:childTnLst>
                                    <p:set>
                                      <p:cBhvr>
                                        <p:cTn id="57" dur="1" fill="hold"/>
                                        <p:tgtEl>
                                          <p:spTgt spid="32"/>
                                        </p:tgtEl>
                                        <p:attrNameLst>
                                          <p:attrName>style.opacity</p:attrName>
                                        </p:attrNameLst>
                                      </p:cBhvr>
                                      <p:to>
                                        <p:strVal val="0.25"/>
                                      </p:to>
                                    </p:set>
                                    <p:animEffect filter="image" prLst="opacity: 0.25">
                                      <p:cBhvr rctx="IE">
                                        <p:cTn id="58" dur="1" fill="hold"/>
                                        <p:tgtEl>
                                          <p:spTgt spid="32"/>
                                        </p:tgtEl>
                                      </p:cBhvr>
                                    </p:animEffect>
                                  </p:childTnLst>
                                </p:cTn>
                              </p:par>
                              <p:par>
                                <p:cTn id="59" presetID="9" presetClass="emph" presetSubtype="0" fill="hold" grpId="0" nodeType="withEffect">
                                  <p:stCondLst>
                                    <p:cond delay="0"/>
                                  </p:stCondLst>
                                  <p:childTnLst>
                                    <p:set>
                                      <p:cBhvr>
                                        <p:cTn id="60" dur="1" fill="hold"/>
                                        <p:tgtEl>
                                          <p:spTgt spid="33"/>
                                        </p:tgtEl>
                                        <p:attrNameLst>
                                          <p:attrName>style.opacity</p:attrName>
                                        </p:attrNameLst>
                                      </p:cBhvr>
                                      <p:to>
                                        <p:strVal val="0.25"/>
                                      </p:to>
                                    </p:set>
                                    <p:animEffect filter="image" prLst="opacity: 0.25">
                                      <p:cBhvr rctx="IE">
                                        <p:cTn id="61" dur="1" fill="hold"/>
                                        <p:tgtEl>
                                          <p:spTgt spid="33"/>
                                        </p:tgtEl>
                                      </p:cBhvr>
                                    </p:animEffect>
                                  </p:childTnLst>
                                </p:cTn>
                              </p:par>
                              <p:par>
                                <p:cTn id="62" presetID="9" presetClass="emph" presetSubtype="0" fill="hold" grpId="0" nodeType="withEffect">
                                  <p:stCondLst>
                                    <p:cond delay="0"/>
                                  </p:stCondLst>
                                  <p:childTnLst>
                                    <p:set>
                                      <p:cBhvr>
                                        <p:cTn id="63" dur="1" fill="hold"/>
                                        <p:tgtEl>
                                          <p:spTgt spid="34"/>
                                        </p:tgtEl>
                                        <p:attrNameLst>
                                          <p:attrName>style.opacity</p:attrName>
                                        </p:attrNameLst>
                                      </p:cBhvr>
                                      <p:to>
                                        <p:strVal val="0.25"/>
                                      </p:to>
                                    </p:set>
                                    <p:animEffect filter="image" prLst="opacity: 0.25">
                                      <p:cBhvr rctx="IE">
                                        <p:cTn id="64" dur="1" fill="hold"/>
                                        <p:tgtEl>
                                          <p:spTgt spid="34"/>
                                        </p:tgtEl>
                                      </p:cBhvr>
                                    </p:animEffect>
                                  </p:childTnLst>
                                </p:cTn>
                              </p:par>
                              <p:par>
                                <p:cTn id="65" presetID="9" presetClass="emph" presetSubtype="0" fill="hold" grpId="0" nodeType="withEffect">
                                  <p:stCondLst>
                                    <p:cond delay="0"/>
                                  </p:stCondLst>
                                  <p:childTnLst>
                                    <p:set>
                                      <p:cBhvr>
                                        <p:cTn id="66" dur="1" fill="hold"/>
                                        <p:tgtEl>
                                          <p:spTgt spid="35"/>
                                        </p:tgtEl>
                                        <p:attrNameLst>
                                          <p:attrName>style.opacity</p:attrName>
                                        </p:attrNameLst>
                                      </p:cBhvr>
                                      <p:to>
                                        <p:strVal val="0.25"/>
                                      </p:to>
                                    </p:set>
                                    <p:animEffect filter="image" prLst="opacity: 0.25">
                                      <p:cBhvr rctx="IE">
                                        <p:cTn id="67" dur="1" fill="hold"/>
                                        <p:tgtEl>
                                          <p:spTgt spid="35"/>
                                        </p:tgtEl>
                                      </p:cBhvr>
                                    </p:animEffect>
                                  </p:childTnLst>
                                </p:cTn>
                              </p:par>
                              <p:par>
                                <p:cTn id="68" presetID="9" presetClass="emph" presetSubtype="0" fill="hold" grpId="0" nodeType="withEffect">
                                  <p:stCondLst>
                                    <p:cond delay="0"/>
                                  </p:stCondLst>
                                  <p:childTnLst>
                                    <p:set>
                                      <p:cBhvr>
                                        <p:cTn id="69" dur="1" fill="hold"/>
                                        <p:tgtEl>
                                          <p:spTgt spid="36"/>
                                        </p:tgtEl>
                                        <p:attrNameLst>
                                          <p:attrName>style.opacity</p:attrName>
                                        </p:attrNameLst>
                                      </p:cBhvr>
                                      <p:to>
                                        <p:strVal val="0.25"/>
                                      </p:to>
                                    </p:set>
                                    <p:animEffect filter="image" prLst="opacity: 0.25">
                                      <p:cBhvr rctx="IE">
                                        <p:cTn id="70" dur="1" fill="hold"/>
                                        <p:tgtEl>
                                          <p:spTgt spid="36"/>
                                        </p:tgtEl>
                                      </p:cBhvr>
                                    </p:animEffect>
                                  </p:childTnLst>
                                </p:cTn>
                              </p:par>
                              <p:par>
                                <p:cTn id="71" presetID="9" presetClass="emph" presetSubtype="0" fill="hold" nodeType="withEffect">
                                  <p:stCondLst>
                                    <p:cond delay="0"/>
                                  </p:stCondLst>
                                  <p:childTnLst>
                                    <p:set>
                                      <p:cBhvr>
                                        <p:cTn id="72" dur="1" fill="hold"/>
                                        <p:tgtEl>
                                          <p:spTgt spid="37"/>
                                        </p:tgtEl>
                                        <p:attrNameLst>
                                          <p:attrName>style.opacity</p:attrName>
                                        </p:attrNameLst>
                                      </p:cBhvr>
                                      <p:to>
                                        <p:strVal val="0.25"/>
                                      </p:to>
                                    </p:set>
                                    <p:animEffect filter="image" prLst="opacity: 0.25">
                                      <p:cBhvr rctx="IE">
                                        <p:cTn id="73" dur="1" fill="hold"/>
                                        <p:tgtEl>
                                          <p:spTgt spid="37"/>
                                        </p:tgtEl>
                                      </p:cBhvr>
                                    </p:animEffect>
                                  </p:childTnLst>
                                </p:cTn>
                              </p:par>
                              <p:par>
                                <p:cTn id="74" presetID="9" presetClass="emph" presetSubtype="0" fill="hold" grpId="0" nodeType="withEffect">
                                  <p:stCondLst>
                                    <p:cond delay="0"/>
                                  </p:stCondLst>
                                  <p:childTnLst>
                                    <p:set>
                                      <p:cBhvr>
                                        <p:cTn id="75" dur="1" fill="hold"/>
                                        <p:tgtEl>
                                          <p:spTgt spid="38"/>
                                        </p:tgtEl>
                                        <p:attrNameLst>
                                          <p:attrName>style.opacity</p:attrName>
                                        </p:attrNameLst>
                                      </p:cBhvr>
                                      <p:to>
                                        <p:strVal val="0.25"/>
                                      </p:to>
                                    </p:set>
                                    <p:animEffect filter="image" prLst="opacity: 0.25">
                                      <p:cBhvr rctx="IE">
                                        <p:cTn id="76" dur="1" fill="hold"/>
                                        <p:tgtEl>
                                          <p:spTgt spid="38"/>
                                        </p:tgtEl>
                                      </p:cBhvr>
                                    </p:animEffect>
                                  </p:childTnLst>
                                </p:cTn>
                              </p:par>
                              <p:par>
                                <p:cTn id="77" presetID="9" presetClass="emph" presetSubtype="0" fill="hold" grpId="0" nodeType="withEffect">
                                  <p:stCondLst>
                                    <p:cond delay="0"/>
                                  </p:stCondLst>
                                  <p:childTnLst>
                                    <p:set>
                                      <p:cBhvr>
                                        <p:cTn id="78" dur="1" fill="hold"/>
                                        <p:tgtEl>
                                          <p:spTgt spid="39"/>
                                        </p:tgtEl>
                                        <p:attrNameLst>
                                          <p:attrName>style.opacity</p:attrName>
                                        </p:attrNameLst>
                                      </p:cBhvr>
                                      <p:to>
                                        <p:strVal val="0.25"/>
                                      </p:to>
                                    </p:set>
                                    <p:animEffect filter="image" prLst="opacity: 0.25">
                                      <p:cBhvr rctx="IE">
                                        <p:cTn id="79" dur="1" fill="hold"/>
                                        <p:tgtEl>
                                          <p:spTgt spid="3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mph" presetSubtype="0" fill="hold" grpId="0" nodeType="clickEffect">
                                  <p:stCondLst>
                                    <p:cond delay="0"/>
                                  </p:stCondLst>
                                  <p:childTnLst>
                                    <p:set>
                                      <p:cBhvr>
                                        <p:cTn id="83" dur="400" fill="hold"/>
                                        <p:tgtEl>
                                          <p:spTgt spid="15"/>
                                        </p:tgtEl>
                                        <p:attrNameLst>
                                          <p:attrName>style.opacity</p:attrName>
                                        </p:attrNameLst>
                                      </p:cBhvr>
                                      <p:to>
                                        <p:strVal val="1"/>
                                      </p:to>
                                    </p:set>
                                    <p:animEffect filter="image" prLst="opacity: 1">
                                      <p:cBhvr rctx="IE">
                                        <p:cTn id="84" dur="400" fill="hold"/>
                                        <p:tgtEl>
                                          <p:spTgt spid="15"/>
                                        </p:tgtEl>
                                      </p:cBhvr>
                                    </p:animEffect>
                                  </p:childTnLst>
                                </p:cTn>
                              </p:par>
                              <p:par>
                                <p:cTn id="85" presetID="9" presetClass="emph" presetSubtype="0" fill="hold" grpId="0" nodeType="withEffect">
                                  <p:stCondLst>
                                    <p:cond delay="0"/>
                                  </p:stCondLst>
                                  <p:childTnLst>
                                    <p:set>
                                      <p:cBhvr>
                                        <p:cTn id="86" dur="400" fill="hold"/>
                                        <p:tgtEl>
                                          <p:spTgt spid="16"/>
                                        </p:tgtEl>
                                        <p:attrNameLst>
                                          <p:attrName>style.opacity</p:attrName>
                                        </p:attrNameLst>
                                      </p:cBhvr>
                                      <p:to>
                                        <p:strVal val="1"/>
                                      </p:to>
                                    </p:set>
                                    <p:animEffect filter="image" prLst="opacity: 1">
                                      <p:cBhvr rctx="IE">
                                        <p:cTn id="87" dur="400" fill="hold"/>
                                        <p:tgtEl>
                                          <p:spTgt spid="16"/>
                                        </p:tgtEl>
                                      </p:cBhvr>
                                    </p:animEffect>
                                  </p:childTnLst>
                                </p:cTn>
                              </p:par>
                              <p:par>
                                <p:cTn id="88" presetID="9" presetClass="emph" presetSubtype="0" fill="hold" nodeType="withEffect">
                                  <p:stCondLst>
                                    <p:cond delay="0"/>
                                  </p:stCondLst>
                                  <p:childTnLst>
                                    <p:set>
                                      <p:cBhvr>
                                        <p:cTn id="89" dur="400" fill="hold"/>
                                        <p:tgtEl>
                                          <p:spTgt spid="17"/>
                                        </p:tgtEl>
                                        <p:attrNameLst>
                                          <p:attrName>style.opacity</p:attrName>
                                        </p:attrNameLst>
                                      </p:cBhvr>
                                      <p:to>
                                        <p:strVal val="1"/>
                                      </p:to>
                                    </p:set>
                                    <p:animEffect filter="image" prLst="opacity: 1">
                                      <p:cBhvr rctx="IE">
                                        <p:cTn id="90" dur="400" fill="hold"/>
                                        <p:tgtEl>
                                          <p:spTgt spid="17"/>
                                        </p:tgtEl>
                                      </p:cBhvr>
                                    </p:animEffect>
                                  </p:childTnLst>
                                </p:cTn>
                              </p:par>
                              <p:par>
                                <p:cTn id="91" presetID="9" presetClass="emph" presetSubtype="0" fill="hold" grpId="0" nodeType="withEffect">
                                  <p:stCondLst>
                                    <p:cond delay="0"/>
                                  </p:stCondLst>
                                  <p:childTnLst>
                                    <p:set>
                                      <p:cBhvr>
                                        <p:cTn id="92" dur="400" fill="hold"/>
                                        <p:tgtEl>
                                          <p:spTgt spid="18"/>
                                        </p:tgtEl>
                                        <p:attrNameLst>
                                          <p:attrName>style.opacity</p:attrName>
                                        </p:attrNameLst>
                                      </p:cBhvr>
                                      <p:to>
                                        <p:strVal val="1"/>
                                      </p:to>
                                    </p:set>
                                    <p:animEffect filter="image" prLst="opacity: 1">
                                      <p:cBhvr rctx="IE">
                                        <p:cTn id="93" dur="400" fill="hold"/>
                                        <p:tgtEl>
                                          <p:spTgt spid="18"/>
                                        </p:tgtEl>
                                      </p:cBhvr>
                                    </p:animEffect>
                                  </p:childTnLst>
                                </p:cTn>
                              </p:par>
                              <p:par>
                                <p:cTn id="94" presetID="9" presetClass="emph" presetSubtype="0" fill="hold" grpId="0" nodeType="withEffect">
                                  <p:stCondLst>
                                    <p:cond delay="0"/>
                                  </p:stCondLst>
                                  <p:childTnLst>
                                    <p:set>
                                      <p:cBhvr>
                                        <p:cTn id="95" dur="400" fill="hold"/>
                                        <p:tgtEl>
                                          <p:spTgt spid="19"/>
                                        </p:tgtEl>
                                        <p:attrNameLst>
                                          <p:attrName>style.opacity</p:attrName>
                                        </p:attrNameLst>
                                      </p:cBhvr>
                                      <p:to>
                                        <p:strVal val="1"/>
                                      </p:to>
                                    </p:set>
                                    <p:animEffect filter="image" prLst="opacity: 1">
                                      <p:cBhvr rctx="IE">
                                        <p:cTn id="96" dur="400" fill="hold"/>
                                        <p:tgtEl>
                                          <p:spTgt spid="19"/>
                                        </p:tgtEl>
                                      </p:cBhvr>
                                    </p:animEffect>
                                  </p:childTnLst>
                                </p:cTn>
                              </p:par>
                              <p:par>
                                <p:cTn id="97" presetID="9" presetClass="emph" presetSubtype="0" fill="hold" grpId="0" nodeType="withEffect">
                                  <p:stCondLst>
                                    <p:cond delay="0"/>
                                  </p:stCondLst>
                                  <p:childTnLst>
                                    <p:set>
                                      <p:cBhvr>
                                        <p:cTn id="98" dur="400" fill="hold"/>
                                        <p:tgtEl>
                                          <p:spTgt spid="10"/>
                                        </p:tgtEl>
                                        <p:attrNameLst>
                                          <p:attrName>style.opacity</p:attrName>
                                        </p:attrNameLst>
                                      </p:cBhvr>
                                      <p:to>
                                        <p:strVal val="0.25"/>
                                      </p:to>
                                    </p:set>
                                    <p:animEffect filter="image" prLst="opacity: 0.25">
                                      <p:cBhvr rctx="IE">
                                        <p:cTn id="99" dur="400" fill="hold"/>
                                        <p:tgtEl>
                                          <p:spTgt spid="10"/>
                                        </p:tgtEl>
                                      </p:cBhvr>
                                    </p:animEffect>
                                  </p:childTnLst>
                                </p:cTn>
                              </p:par>
                              <p:par>
                                <p:cTn id="100" presetID="9" presetClass="emph" presetSubtype="0" fill="hold" grpId="0" nodeType="withEffect">
                                  <p:stCondLst>
                                    <p:cond delay="0"/>
                                  </p:stCondLst>
                                  <p:childTnLst>
                                    <p:set>
                                      <p:cBhvr>
                                        <p:cTn id="101" dur="400" fill="hold"/>
                                        <p:tgtEl>
                                          <p:spTgt spid="11"/>
                                        </p:tgtEl>
                                        <p:attrNameLst>
                                          <p:attrName>style.opacity</p:attrName>
                                        </p:attrNameLst>
                                      </p:cBhvr>
                                      <p:to>
                                        <p:strVal val="0.25"/>
                                      </p:to>
                                    </p:set>
                                    <p:animEffect filter="image" prLst="opacity: 0.25">
                                      <p:cBhvr rctx="IE">
                                        <p:cTn id="102" dur="400" fill="hold"/>
                                        <p:tgtEl>
                                          <p:spTgt spid="11"/>
                                        </p:tgtEl>
                                      </p:cBhvr>
                                    </p:animEffect>
                                  </p:childTnLst>
                                </p:cTn>
                              </p:par>
                              <p:par>
                                <p:cTn id="103" presetID="9" presetClass="emph" presetSubtype="0" fill="hold" nodeType="withEffect">
                                  <p:stCondLst>
                                    <p:cond delay="0"/>
                                  </p:stCondLst>
                                  <p:childTnLst>
                                    <p:set>
                                      <p:cBhvr>
                                        <p:cTn id="104" dur="400" fill="hold"/>
                                        <p:tgtEl>
                                          <p:spTgt spid="12"/>
                                        </p:tgtEl>
                                        <p:attrNameLst>
                                          <p:attrName>style.opacity</p:attrName>
                                        </p:attrNameLst>
                                      </p:cBhvr>
                                      <p:to>
                                        <p:strVal val="0.25"/>
                                      </p:to>
                                    </p:set>
                                    <p:animEffect filter="image" prLst="opacity: 0.25">
                                      <p:cBhvr rctx="IE">
                                        <p:cTn id="105" dur="400" fill="hold"/>
                                        <p:tgtEl>
                                          <p:spTgt spid="12"/>
                                        </p:tgtEl>
                                      </p:cBhvr>
                                    </p:animEffect>
                                  </p:childTnLst>
                                </p:cTn>
                              </p:par>
                              <p:par>
                                <p:cTn id="106" presetID="9" presetClass="emph" presetSubtype="0" fill="hold" grpId="0" nodeType="withEffect">
                                  <p:stCondLst>
                                    <p:cond delay="0"/>
                                  </p:stCondLst>
                                  <p:childTnLst>
                                    <p:set>
                                      <p:cBhvr>
                                        <p:cTn id="107" dur="400" fill="hold"/>
                                        <p:tgtEl>
                                          <p:spTgt spid="13"/>
                                        </p:tgtEl>
                                        <p:attrNameLst>
                                          <p:attrName>style.opacity</p:attrName>
                                        </p:attrNameLst>
                                      </p:cBhvr>
                                      <p:to>
                                        <p:strVal val="0.25"/>
                                      </p:to>
                                    </p:set>
                                    <p:animEffect filter="image" prLst="opacity: 0.25">
                                      <p:cBhvr rctx="IE">
                                        <p:cTn id="108" dur="400" fill="hold"/>
                                        <p:tgtEl>
                                          <p:spTgt spid="13"/>
                                        </p:tgtEl>
                                      </p:cBhvr>
                                    </p:animEffect>
                                  </p:childTnLst>
                                </p:cTn>
                              </p:par>
                              <p:par>
                                <p:cTn id="109" presetID="9" presetClass="emph" presetSubtype="0" fill="hold" grpId="0" nodeType="withEffect">
                                  <p:stCondLst>
                                    <p:cond delay="0"/>
                                  </p:stCondLst>
                                  <p:childTnLst>
                                    <p:set>
                                      <p:cBhvr>
                                        <p:cTn id="110" dur="400" fill="hold"/>
                                        <p:tgtEl>
                                          <p:spTgt spid="14"/>
                                        </p:tgtEl>
                                        <p:attrNameLst>
                                          <p:attrName>style.opacity</p:attrName>
                                        </p:attrNameLst>
                                      </p:cBhvr>
                                      <p:to>
                                        <p:strVal val="0.25"/>
                                      </p:to>
                                    </p:set>
                                    <p:animEffect filter="image" prLst="opacity: 0.25">
                                      <p:cBhvr rctx="IE">
                                        <p:cTn id="111" dur="400" fill="hold"/>
                                        <p:tgtEl>
                                          <p:spTgt spid="14"/>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mph" presetSubtype="0" fill="hold" grpId="0" nodeType="clickEffect">
                                  <p:stCondLst>
                                    <p:cond delay="0"/>
                                  </p:stCondLst>
                                  <p:childTnLst>
                                    <p:set>
                                      <p:cBhvr>
                                        <p:cTn id="115" dur="400" fill="hold"/>
                                        <p:tgtEl>
                                          <p:spTgt spid="20"/>
                                        </p:tgtEl>
                                        <p:attrNameLst>
                                          <p:attrName>style.opacity</p:attrName>
                                        </p:attrNameLst>
                                      </p:cBhvr>
                                      <p:to>
                                        <p:strVal val="1"/>
                                      </p:to>
                                    </p:set>
                                    <p:animEffect filter="image" prLst="opacity: 1">
                                      <p:cBhvr rctx="IE">
                                        <p:cTn id="116" dur="400" fill="hold"/>
                                        <p:tgtEl>
                                          <p:spTgt spid="20"/>
                                        </p:tgtEl>
                                      </p:cBhvr>
                                    </p:animEffect>
                                  </p:childTnLst>
                                </p:cTn>
                              </p:par>
                              <p:par>
                                <p:cTn id="117" presetID="9" presetClass="emph" presetSubtype="0" fill="hold" grpId="0" nodeType="withEffect">
                                  <p:stCondLst>
                                    <p:cond delay="0"/>
                                  </p:stCondLst>
                                  <p:childTnLst>
                                    <p:set>
                                      <p:cBhvr>
                                        <p:cTn id="118" dur="400" fill="hold"/>
                                        <p:tgtEl>
                                          <p:spTgt spid="21"/>
                                        </p:tgtEl>
                                        <p:attrNameLst>
                                          <p:attrName>style.opacity</p:attrName>
                                        </p:attrNameLst>
                                      </p:cBhvr>
                                      <p:to>
                                        <p:strVal val="1"/>
                                      </p:to>
                                    </p:set>
                                    <p:animEffect filter="image" prLst="opacity: 1">
                                      <p:cBhvr rctx="IE">
                                        <p:cTn id="119" dur="400" fill="hold"/>
                                        <p:tgtEl>
                                          <p:spTgt spid="21"/>
                                        </p:tgtEl>
                                      </p:cBhvr>
                                    </p:animEffect>
                                  </p:childTnLst>
                                </p:cTn>
                              </p:par>
                              <p:par>
                                <p:cTn id="120" presetID="9" presetClass="emph" presetSubtype="0" fill="hold" nodeType="withEffect">
                                  <p:stCondLst>
                                    <p:cond delay="0"/>
                                  </p:stCondLst>
                                  <p:childTnLst>
                                    <p:set>
                                      <p:cBhvr>
                                        <p:cTn id="121" dur="400" fill="hold"/>
                                        <p:tgtEl>
                                          <p:spTgt spid="22"/>
                                        </p:tgtEl>
                                        <p:attrNameLst>
                                          <p:attrName>style.opacity</p:attrName>
                                        </p:attrNameLst>
                                      </p:cBhvr>
                                      <p:to>
                                        <p:strVal val="1"/>
                                      </p:to>
                                    </p:set>
                                    <p:animEffect filter="image" prLst="opacity: 1">
                                      <p:cBhvr rctx="IE">
                                        <p:cTn id="122" dur="400" fill="hold"/>
                                        <p:tgtEl>
                                          <p:spTgt spid="22"/>
                                        </p:tgtEl>
                                      </p:cBhvr>
                                    </p:animEffect>
                                  </p:childTnLst>
                                </p:cTn>
                              </p:par>
                              <p:par>
                                <p:cTn id="123" presetID="9" presetClass="emph" presetSubtype="0" fill="hold" grpId="0" nodeType="withEffect">
                                  <p:stCondLst>
                                    <p:cond delay="0"/>
                                  </p:stCondLst>
                                  <p:childTnLst>
                                    <p:set>
                                      <p:cBhvr>
                                        <p:cTn id="124" dur="400" fill="hold"/>
                                        <p:tgtEl>
                                          <p:spTgt spid="23"/>
                                        </p:tgtEl>
                                        <p:attrNameLst>
                                          <p:attrName>style.opacity</p:attrName>
                                        </p:attrNameLst>
                                      </p:cBhvr>
                                      <p:to>
                                        <p:strVal val="1"/>
                                      </p:to>
                                    </p:set>
                                    <p:animEffect filter="image" prLst="opacity: 1">
                                      <p:cBhvr rctx="IE">
                                        <p:cTn id="125" dur="400" fill="hold"/>
                                        <p:tgtEl>
                                          <p:spTgt spid="23"/>
                                        </p:tgtEl>
                                      </p:cBhvr>
                                    </p:animEffect>
                                  </p:childTnLst>
                                </p:cTn>
                              </p:par>
                              <p:par>
                                <p:cTn id="126" presetID="9" presetClass="emph" presetSubtype="0" fill="hold" grpId="0" nodeType="withEffect">
                                  <p:stCondLst>
                                    <p:cond delay="0"/>
                                  </p:stCondLst>
                                  <p:childTnLst>
                                    <p:set>
                                      <p:cBhvr>
                                        <p:cTn id="127" dur="400" fill="hold"/>
                                        <p:tgtEl>
                                          <p:spTgt spid="24"/>
                                        </p:tgtEl>
                                        <p:attrNameLst>
                                          <p:attrName>style.opacity</p:attrName>
                                        </p:attrNameLst>
                                      </p:cBhvr>
                                      <p:to>
                                        <p:strVal val="1"/>
                                      </p:to>
                                    </p:set>
                                    <p:animEffect filter="image" prLst="opacity: 1">
                                      <p:cBhvr rctx="IE">
                                        <p:cTn id="128" dur="400" fill="hold"/>
                                        <p:tgtEl>
                                          <p:spTgt spid="24"/>
                                        </p:tgtEl>
                                      </p:cBhvr>
                                    </p:animEffect>
                                  </p:childTnLst>
                                </p:cTn>
                              </p:par>
                              <p:par>
                                <p:cTn id="129" presetID="9" presetClass="emph" presetSubtype="0" fill="hold" grpId="0" nodeType="withEffect">
                                  <p:stCondLst>
                                    <p:cond delay="0"/>
                                  </p:stCondLst>
                                  <p:childTnLst>
                                    <p:set>
                                      <p:cBhvr>
                                        <p:cTn id="130" dur="400" fill="hold"/>
                                        <p:tgtEl>
                                          <p:spTgt spid="15"/>
                                        </p:tgtEl>
                                        <p:attrNameLst>
                                          <p:attrName>style.opacity</p:attrName>
                                        </p:attrNameLst>
                                      </p:cBhvr>
                                      <p:to>
                                        <p:strVal val="0.25"/>
                                      </p:to>
                                    </p:set>
                                    <p:animEffect filter="image" prLst="opacity: 0.25">
                                      <p:cBhvr rctx="IE">
                                        <p:cTn id="131" dur="400" fill="hold"/>
                                        <p:tgtEl>
                                          <p:spTgt spid="15"/>
                                        </p:tgtEl>
                                      </p:cBhvr>
                                    </p:animEffect>
                                  </p:childTnLst>
                                </p:cTn>
                              </p:par>
                              <p:par>
                                <p:cTn id="132" presetID="9" presetClass="emph" presetSubtype="0" fill="hold" grpId="0" nodeType="withEffect">
                                  <p:stCondLst>
                                    <p:cond delay="0"/>
                                  </p:stCondLst>
                                  <p:childTnLst>
                                    <p:set>
                                      <p:cBhvr>
                                        <p:cTn id="133" dur="400" fill="hold"/>
                                        <p:tgtEl>
                                          <p:spTgt spid="16"/>
                                        </p:tgtEl>
                                        <p:attrNameLst>
                                          <p:attrName>style.opacity</p:attrName>
                                        </p:attrNameLst>
                                      </p:cBhvr>
                                      <p:to>
                                        <p:strVal val="0.25"/>
                                      </p:to>
                                    </p:set>
                                    <p:animEffect filter="image" prLst="opacity: 0.25">
                                      <p:cBhvr rctx="IE">
                                        <p:cTn id="134" dur="400" fill="hold"/>
                                        <p:tgtEl>
                                          <p:spTgt spid="16"/>
                                        </p:tgtEl>
                                      </p:cBhvr>
                                    </p:animEffect>
                                  </p:childTnLst>
                                </p:cTn>
                              </p:par>
                              <p:par>
                                <p:cTn id="135" presetID="9" presetClass="emph" presetSubtype="0" fill="hold" nodeType="withEffect">
                                  <p:stCondLst>
                                    <p:cond delay="0"/>
                                  </p:stCondLst>
                                  <p:childTnLst>
                                    <p:set>
                                      <p:cBhvr>
                                        <p:cTn id="136" dur="400" fill="hold"/>
                                        <p:tgtEl>
                                          <p:spTgt spid="17"/>
                                        </p:tgtEl>
                                        <p:attrNameLst>
                                          <p:attrName>style.opacity</p:attrName>
                                        </p:attrNameLst>
                                      </p:cBhvr>
                                      <p:to>
                                        <p:strVal val="0.25"/>
                                      </p:to>
                                    </p:set>
                                    <p:animEffect filter="image" prLst="opacity: 0.25">
                                      <p:cBhvr rctx="IE">
                                        <p:cTn id="137" dur="400" fill="hold"/>
                                        <p:tgtEl>
                                          <p:spTgt spid="17"/>
                                        </p:tgtEl>
                                      </p:cBhvr>
                                    </p:animEffect>
                                  </p:childTnLst>
                                </p:cTn>
                              </p:par>
                              <p:par>
                                <p:cTn id="138" presetID="9" presetClass="emph" presetSubtype="0" fill="hold" grpId="0" nodeType="withEffect">
                                  <p:stCondLst>
                                    <p:cond delay="0"/>
                                  </p:stCondLst>
                                  <p:childTnLst>
                                    <p:set>
                                      <p:cBhvr>
                                        <p:cTn id="139" dur="400" fill="hold"/>
                                        <p:tgtEl>
                                          <p:spTgt spid="18"/>
                                        </p:tgtEl>
                                        <p:attrNameLst>
                                          <p:attrName>style.opacity</p:attrName>
                                        </p:attrNameLst>
                                      </p:cBhvr>
                                      <p:to>
                                        <p:strVal val="0.25"/>
                                      </p:to>
                                    </p:set>
                                    <p:animEffect filter="image" prLst="opacity: 0.25">
                                      <p:cBhvr rctx="IE">
                                        <p:cTn id="140" dur="400" fill="hold"/>
                                        <p:tgtEl>
                                          <p:spTgt spid="18"/>
                                        </p:tgtEl>
                                      </p:cBhvr>
                                    </p:animEffect>
                                  </p:childTnLst>
                                </p:cTn>
                              </p:par>
                              <p:par>
                                <p:cTn id="141" presetID="9" presetClass="emph" presetSubtype="0" fill="hold" grpId="0" nodeType="withEffect">
                                  <p:stCondLst>
                                    <p:cond delay="0"/>
                                  </p:stCondLst>
                                  <p:childTnLst>
                                    <p:set>
                                      <p:cBhvr>
                                        <p:cTn id="142" dur="400" fill="hold"/>
                                        <p:tgtEl>
                                          <p:spTgt spid="19"/>
                                        </p:tgtEl>
                                        <p:attrNameLst>
                                          <p:attrName>style.opacity</p:attrName>
                                        </p:attrNameLst>
                                      </p:cBhvr>
                                      <p:to>
                                        <p:strVal val="0.25"/>
                                      </p:to>
                                    </p:set>
                                    <p:animEffect filter="image" prLst="opacity: 0.25">
                                      <p:cBhvr rctx="IE">
                                        <p:cTn id="143" dur="400" fill="hold"/>
                                        <p:tgtEl>
                                          <p:spTgt spid="19"/>
                                        </p:tgtEl>
                                      </p:cBhvr>
                                    </p:animEffect>
                                  </p:childTnLst>
                                </p:cTn>
                              </p:par>
                            </p:childTnLst>
                          </p:cTn>
                        </p:par>
                      </p:childTnLst>
                    </p:cTn>
                  </p:par>
                  <p:par>
                    <p:cTn id="144" fill="hold">
                      <p:stCondLst>
                        <p:cond delay="indefinite"/>
                      </p:stCondLst>
                      <p:childTnLst>
                        <p:par>
                          <p:cTn id="145" fill="hold">
                            <p:stCondLst>
                              <p:cond delay="0"/>
                            </p:stCondLst>
                            <p:childTnLst>
                              <p:par>
                                <p:cTn id="146" presetID="9" presetClass="emph" presetSubtype="0" fill="hold" grpId="0" nodeType="clickEffect">
                                  <p:stCondLst>
                                    <p:cond delay="0"/>
                                  </p:stCondLst>
                                  <p:childTnLst>
                                    <p:set>
                                      <p:cBhvr>
                                        <p:cTn id="147" dur="400" fill="hold"/>
                                        <p:tgtEl>
                                          <p:spTgt spid="25"/>
                                        </p:tgtEl>
                                        <p:attrNameLst>
                                          <p:attrName>style.opacity</p:attrName>
                                        </p:attrNameLst>
                                      </p:cBhvr>
                                      <p:to>
                                        <p:strVal val="1"/>
                                      </p:to>
                                    </p:set>
                                    <p:animEffect filter="image" prLst="opacity: 1">
                                      <p:cBhvr rctx="IE">
                                        <p:cTn id="148" dur="400" fill="hold"/>
                                        <p:tgtEl>
                                          <p:spTgt spid="25"/>
                                        </p:tgtEl>
                                      </p:cBhvr>
                                    </p:animEffect>
                                  </p:childTnLst>
                                </p:cTn>
                              </p:par>
                              <p:par>
                                <p:cTn id="149" presetID="9" presetClass="emph" presetSubtype="0" fill="hold" grpId="0" nodeType="withEffect">
                                  <p:stCondLst>
                                    <p:cond delay="0"/>
                                  </p:stCondLst>
                                  <p:childTnLst>
                                    <p:set>
                                      <p:cBhvr>
                                        <p:cTn id="150" dur="400" fill="hold"/>
                                        <p:tgtEl>
                                          <p:spTgt spid="26"/>
                                        </p:tgtEl>
                                        <p:attrNameLst>
                                          <p:attrName>style.opacity</p:attrName>
                                        </p:attrNameLst>
                                      </p:cBhvr>
                                      <p:to>
                                        <p:strVal val="1"/>
                                      </p:to>
                                    </p:set>
                                    <p:animEffect filter="image" prLst="opacity: 1">
                                      <p:cBhvr rctx="IE">
                                        <p:cTn id="151" dur="400" fill="hold"/>
                                        <p:tgtEl>
                                          <p:spTgt spid="26"/>
                                        </p:tgtEl>
                                      </p:cBhvr>
                                    </p:animEffect>
                                  </p:childTnLst>
                                </p:cTn>
                              </p:par>
                              <p:par>
                                <p:cTn id="152" presetID="9" presetClass="emph" presetSubtype="0" fill="hold" nodeType="withEffect">
                                  <p:stCondLst>
                                    <p:cond delay="0"/>
                                  </p:stCondLst>
                                  <p:childTnLst>
                                    <p:set>
                                      <p:cBhvr>
                                        <p:cTn id="153" dur="400" fill="hold"/>
                                        <p:tgtEl>
                                          <p:spTgt spid="27"/>
                                        </p:tgtEl>
                                        <p:attrNameLst>
                                          <p:attrName>style.opacity</p:attrName>
                                        </p:attrNameLst>
                                      </p:cBhvr>
                                      <p:to>
                                        <p:strVal val="1"/>
                                      </p:to>
                                    </p:set>
                                    <p:animEffect filter="image" prLst="opacity: 1">
                                      <p:cBhvr rctx="IE">
                                        <p:cTn id="154" dur="400" fill="hold"/>
                                        <p:tgtEl>
                                          <p:spTgt spid="27"/>
                                        </p:tgtEl>
                                      </p:cBhvr>
                                    </p:animEffect>
                                  </p:childTnLst>
                                </p:cTn>
                              </p:par>
                              <p:par>
                                <p:cTn id="155" presetID="9" presetClass="emph" presetSubtype="0" fill="hold" grpId="0" nodeType="withEffect">
                                  <p:stCondLst>
                                    <p:cond delay="0"/>
                                  </p:stCondLst>
                                  <p:childTnLst>
                                    <p:set>
                                      <p:cBhvr>
                                        <p:cTn id="156" dur="400" fill="hold"/>
                                        <p:tgtEl>
                                          <p:spTgt spid="28"/>
                                        </p:tgtEl>
                                        <p:attrNameLst>
                                          <p:attrName>style.opacity</p:attrName>
                                        </p:attrNameLst>
                                      </p:cBhvr>
                                      <p:to>
                                        <p:strVal val="1"/>
                                      </p:to>
                                    </p:set>
                                    <p:animEffect filter="image" prLst="opacity: 1">
                                      <p:cBhvr rctx="IE">
                                        <p:cTn id="157" dur="400" fill="hold"/>
                                        <p:tgtEl>
                                          <p:spTgt spid="28"/>
                                        </p:tgtEl>
                                      </p:cBhvr>
                                    </p:animEffect>
                                  </p:childTnLst>
                                </p:cTn>
                              </p:par>
                              <p:par>
                                <p:cTn id="158" presetID="9" presetClass="emph" presetSubtype="0" fill="hold" grpId="0" nodeType="withEffect">
                                  <p:stCondLst>
                                    <p:cond delay="0"/>
                                  </p:stCondLst>
                                  <p:childTnLst>
                                    <p:set>
                                      <p:cBhvr>
                                        <p:cTn id="159" dur="400" fill="hold"/>
                                        <p:tgtEl>
                                          <p:spTgt spid="29"/>
                                        </p:tgtEl>
                                        <p:attrNameLst>
                                          <p:attrName>style.opacity</p:attrName>
                                        </p:attrNameLst>
                                      </p:cBhvr>
                                      <p:to>
                                        <p:strVal val="1"/>
                                      </p:to>
                                    </p:set>
                                    <p:animEffect filter="image" prLst="opacity: 1">
                                      <p:cBhvr rctx="IE">
                                        <p:cTn id="160" dur="400" fill="hold"/>
                                        <p:tgtEl>
                                          <p:spTgt spid="29"/>
                                        </p:tgtEl>
                                      </p:cBhvr>
                                    </p:animEffect>
                                  </p:childTnLst>
                                </p:cTn>
                              </p:par>
                              <p:par>
                                <p:cTn id="161" presetID="9" presetClass="emph" presetSubtype="0" fill="hold" grpId="0" nodeType="withEffect">
                                  <p:stCondLst>
                                    <p:cond delay="0"/>
                                  </p:stCondLst>
                                  <p:childTnLst>
                                    <p:set>
                                      <p:cBhvr>
                                        <p:cTn id="162" dur="400" fill="hold"/>
                                        <p:tgtEl>
                                          <p:spTgt spid="20"/>
                                        </p:tgtEl>
                                        <p:attrNameLst>
                                          <p:attrName>style.opacity</p:attrName>
                                        </p:attrNameLst>
                                      </p:cBhvr>
                                      <p:to>
                                        <p:strVal val="0.25"/>
                                      </p:to>
                                    </p:set>
                                    <p:animEffect filter="image" prLst="opacity: 0.25">
                                      <p:cBhvr rctx="IE">
                                        <p:cTn id="163" dur="400" fill="hold"/>
                                        <p:tgtEl>
                                          <p:spTgt spid="20"/>
                                        </p:tgtEl>
                                      </p:cBhvr>
                                    </p:animEffect>
                                  </p:childTnLst>
                                </p:cTn>
                              </p:par>
                              <p:par>
                                <p:cTn id="164" presetID="9" presetClass="emph" presetSubtype="0" fill="hold" grpId="0" nodeType="withEffect">
                                  <p:stCondLst>
                                    <p:cond delay="0"/>
                                  </p:stCondLst>
                                  <p:childTnLst>
                                    <p:set>
                                      <p:cBhvr>
                                        <p:cTn id="165" dur="400" fill="hold"/>
                                        <p:tgtEl>
                                          <p:spTgt spid="21"/>
                                        </p:tgtEl>
                                        <p:attrNameLst>
                                          <p:attrName>style.opacity</p:attrName>
                                        </p:attrNameLst>
                                      </p:cBhvr>
                                      <p:to>
                                        <p:strVal val="0.25"/>
                                      </p:to>
                                    </p:set>
                                    <p:animEffect filter="image" prLst="opacity: 0.25">
                                      <p:cBhvr rctx="IE">
                                        <p:cTn id="166" dur="400" fill="hold"/>
                                        <p:tgtEl>
                                          <p:spTgt spid="21"/>
                                        </p:tgtEl>
                                      </p:cBhvr>
                                    </p:animEffect>
                                  </p:childTnLst>
                                </p:cTn>
                              </p:par>
                              <p:par>
                                <p:cTn id="167" presetID="9" presetClass="emph" presetSubtype="0" fill="hold" nodeType="withEffect">
                                  <p:stCondLst>
                                    <p:cond delay="0"/>
                                  </p:stCondLst>
                                  <p:childTnLst>
                                    <p:set>
                                      <p:cBhvr>
                                        <p:cTn id="168" dur="400" fill="hold"/>
                                        <p:tgtEl>
                                          <p:spTgt spid="22"/>
                                        </p:tgtEl>
                                        <p:attrNameLst>
                                          <p:attrName>style.opacity</p:attrName>
                                        </p:attrNameLst>
                                      </p:cBhvr>
                                      <p:to>
                                        <p:strVal val="0.25"/>
                                      </p:to>
                                    </p:set>
                                    <p:animEffect filter="image" prLst="opacity: 0.25">
                                      <p:cBhvr rctx="IE">
                                        <p:cTn id="169" dur="400" fill="hold"/>
                                        <p:tgtEl>
                                          <p:spTgt spid="22"/>
                                        </p:tgtEl>
                                      </p:cBhvr>
                                    </p:animEffect>
                                  </p:childTnLst>
                                </p:cTn>
                              </p:par>
                              <p:par>
                                <p:cTn id="170" presetID="9" presetClass="emph" presetSubtype="0" fill="hold" grpId="0" nodeType="withEffect">
                                  <p:stCondLst>
                                    <p:cond delay="0"/>
                                  </p:stCondLst>
                                  <p:childTnLst>
                                    <p:set>
                                      <p:cBhvr>
                                        <p:cTn id="171" dur="400" fill="hold"/>
                                        <p:tgtEl>
                                          <p:spTgt spid="23"/>
                                        </p:tgtEl>
                                        <p:attrNameLst>
                                          <p:attrName>style.opacity</p:attrName>
                                        </p:attrNameLst>
                                      </p:cBhvr>
                                      <p:to>
                                        <p:strVal val="0.25"/>
                                      </p:to>
                                    </p:set>
                                    <p:animEffect filter="image" prLst="opacity: 0.25">
                                      <p:cBhvr rctx="IE">
                                        <p:cTn id="172" dur="400" fill="hold"/>
                                        <p:tgtEl>
                                          <p:spTgt spid="23"/>
                                        </p:tgtEl>
                                      </p:cBhvr>
                                    </p:animEffect>
                                  </p:childTnLst>
                                </p:cTn>
                              </p:par>
                              <p:par>
                                <p:cTn id="173" presetID="9" presetClass="emph" presetSubtype="0" fill="hold" grpId="0" nodeType="withEffect">
                                  <p:stCondLst>
                                    <p:cond delay="0"/>
                                  </p:stCondLst>
                                  <p:childTnLst>
                                    <p:set>
                                      <p:cBhvr>
                                        <p:cTn id="174" dur="400" fill="hold"/>
                                        <p:tgtEl>
                                          <p:spTgt spid="24"/>
                                        </p:tgtEl>
                                        <p:attrNameLst>
                                          <p:attrName>style.opacity</p:attrName>
                                        </p:attrNameLst>
                                      </p:cBhvr>
                                      <p:to>
                                        <p:strVal val="0.25"/>
                                      </p:to>
                                    </p:set>
                                    <p:animEffect filter="image" prLst="opacity: 0.25">
                                      <p:cBhvr rctx="IE">
                                        <p:cTn id="175" dur="400" fill="hold"/>
                                        <p:tgtEl>
                                          <p:spTgt spid="24"/>
                                        </p:tgtEl>
                                      </p:cBhvr>
                                    </p:animEffect>
                                  </p:childTnLst>
                                </p:cTn>
                              </p:par>
                            </p:childTnLst>
                          </p:cTn>
                        </p:par>
                      </p:childTnLst>
                    </p:cTn>
                  </p:par>
                  <p:par>
                    <p:cTn id="176" fill="hold">
                      <p:stCondLst>
                        <p:cond delay="indefinite"/>
                      </p:stCondLst>
                      <p:childTnLst>
                        <p:par>
                          <p:cTn id="177" fill="hold">
                            <p:stCondLst>
                              <p:cond delay="0"/>
                            </p:stCondLst>
                            <p:childTnLst>
                              <p:par>
                                <p:cTn id="178" presetID="9" presetClass="emph" presetSubtype="0" fill="hold" grpId="0" nodeType="clickEffect">
                                  <p:stCondLst>
                                    <p:cond delay="0"/>
                                  </p:stCondLst>
                                  <p:childTnLst>
                                    <p:set>
                                      <p:cBhvr>
                                        <p:cTn id="179" dur="400" fill="hold"/>
                                        <p:tgtEl>
                                          <p:spTgt spid="30"/>
                                        </p:tgtEl>
                                        <p:attrNameLst>
                                          <p:attrName>style.opacity</p:attrName>
                                        </p:attrNameLst>
                                      </p:cBhvr>
                                      <p:to>
                                        <p:strVal val="1"/>
                                      </p:to>
                                    </p:set>
                                    <p:animEffect filter="image" prLst="opacity: 1">
                                      <p:cBhvr rctx="IE">
                                        <p:cTn id="180" dur="400" fill="hold"/>
                                        <p:tgtEl>
                                          <p:spTgt spid="30"/>
                                        </p:tgtEl>
                                      </p:cBhvr>
                                    </p:animEffect>
                                  </p:childTnLst>
                                </p:cTn>
                              </p:par>
                              <p:par>
                                <p:cTn id="181" presetID="9" presetClass="emph" presetSubtype="0" fill="hold" grpId="0" nodeType="withEffect">
                                  <p:stCondLst>
                                    <p:cond delay="0"/>
                                  </p:stCondLst>
                                  <p:childTnLst>
                                    <p:set>
                                      <p:cBhvr>
                                        <p:cTn id="182" dur="400" fill="hold"/>
                                        <p:tgtEl>
                                          <p:spTgt spid="31"/>
                                        </p:tgtEl>
                                        <p:attrNameLst>
                                          <p:attrName>style.opacity</p:attrName>
                                        </p:attrNameLst>
                                      </p:cBhvr>
                                      <p:to>
                                        <p:strVal val="1"/>
                                      </p:to>
                                    </p:set>
                                    <p:animEffect filter="image" prLst="opacity: 1">
                                      <p:cBhvr rctx="IE">
                                        <p:cTn id="183" dur="400" fill="hold"/>
                                        <p:tgtEl>
                                          <p:spTgt spid="31"/>
                                        </p:tgtEl>
                                      </p:cBhvr>
                                    </p:animEffect>
                                  </p:childTnLst>
                                </p:cTn>
                              </p:par>
                              <p:par>
                                <p:cTn id="184" presetID="9" presetClass="emph" presetSubtype="0" fill="hold" nodeType="withEffect">
                                  <p:stCondLst>
                                    <p:cond delay="0"/>
                                  </p:stCondLst>
                                  <p:childTnLst>
                                    <p:set>
                                      <p:cBhvr>
                                        <p:cTn id="185" dur="400" fill="hold"/>
                                        <p:tgtEl>
                                          <p:spTgt spid="32"/>
                                        </p:tgtEl>
                                        <p:attrNameLst>
                                          <p:attrName>style.opacity</p:attrName>
                                        </p:attrNameLst>
                                      </p:cBhvr>
                                      <p:to>
                                        <p:strVal val="1"/>
                                      </p:to>
                                    </p:set>
                                    <p:animEffect filter="image" prLst="opacity: 1">
                                      <p:cBhvr rctx="IE">
                                        <p:cTn id="186" dur="400" fill="hold"/>
                                        <p:tgtEl>
                                          <p:spTgt spid="32"/>
                                        </p:tgtEl>
                                      </p:cBhvr>
                                    </p:animEffect>
                                  </p:childTnLst>
                                </p:cTn>
                              </p:par>
                              <p:par>
                                <p:cTn id="187" presetID="9" presetClass="emph" presetSubtype="0" fill="hold" grpId="0" nodeType="withEffect">
                                  <p:stCondLst>
                                    <p:cond delay="0"/>
                                  </p:stCondLst>
                                  <p:childTnLst>
                                    <p:set>
                                      <p:cBhvr>
                                        <p:cTn id="188" dur="400" fill="hold"/>
                                        <p:tgtEl>
                                          <p:spTgt spid="33"/>
                                        </p:tgtEl>
                                        <p:attrNameLst>
                                          <p:attrName>style.opacity</p:attrName>
                                        </p:attrNameLst>
                                      </p:cBhvr>
                                      <p:to>
                                        <p:strVal val="1"/>
                                      </p:to>
                                    </p:set>
                                    <p:animEffect filter="image" prLst="opacity: 1">
                                      <p:cBhvr rctx="IE">
                                        <p:cTn id="189" dur="400" fill="hold"/>
                                        <p:tgtEl>
                                          <p:spTgt spid="33"/>
                                        </p:tgtEl>
                                      </p:cBhvr>
                                    </p:animEffect>
                                  </p:childTnLst>
                                </p:cTn>
                              </p:par>
                              <p:par>
                                <p:cTn id="190" presetID="9" presetClass="emph" presetSubtype="0" fill="hold" grpId="0" nodeType="withEffect">
                                  <p:stCondLst>
                                    <p:cond delay="0"/>
                                  </p:stCondLst>
                                  <p:childTnLst>
                                    <p:set>
                                      <p:cBhvr>
                                        <p:cTn id="191" dur="400" fill="hold"/>
                                        <p:tgtEl>
                                          <p:spTgt spid="34"/>
                                        </p:tgtEl>
                                        <p:attrNameLst>
                                          <p:attrName>style.opacity</p:attrName>
                                        </p:attrNameLst>
                                      </p:cBhvr>
                                      <p:to>
                                        <p:strVal val="1"/>
                                      </p:to>
                                    </p:set>
                                    <p:animEffect filter="image" prLst="opacity: 1">
                                      <p:cBhvr rctx="IE">
                                        <p:cTn id="192" dur="400" fill="hold"/>
                                        <p:tgtEl>
                                          <p:spTgt spid="34"/>
                                        </p:tgtEl>
                                      </p:cBhvr>
                                    </p:animEffect>
                                  </p:childTnLst>
                                </p:cTn>
                              </p:par>
                              <p:par>
                                <p:cTn id="193" presetID="9" presetClass="emph" presetSubtype="0" fill="hold" grpId="0" nodeType="withEffect">
                                  <p:stCondLst>
                                    <p:cond delay="0"/>
                                  </p:stCondLst>
                                  <p:childTnLst>
                                    <p:set>
                                      <p:cBhvr>
                                        <p:cTn id="194" dur="400" fill="hold"/>
                                        <p:tgtEl>
                                          <p:spTgt spid="25"/>
                                        </p:tgtEl>
                                        <p:attrNameLst>
                                          <p:attrName>style.opacity</p:attrName>
                                        </p:attrNameLst>
                                      </p:cBhvr>
                                      <p:to>
                                        <p:strVal val="0.25"/>
                                      </p:to>
                                    </p:set>
                                    <p:animEffect filter="image" prLst="opacity: 0.25">
                                      <p:cBhvr rctx="IE">
                                        <p:cTn id="195" dur="400" fill="hold"/>
                                        <p:tgtEl>
                                          <p:spTgt spid="25"/>
                                        </p:tgtEl>
                                      </p:cBhvr>
                                    </p:animEffect>
                                  </p:childTnLst>
                                </p:cTn>
                              </p:par>
                              <p:par>
                                <p:cTn id="196" presetID="9" presetClass="emph" presetSubtype="0" fill="hold" grpId="0" nodeType="withEffect">
                                  <p:stCondLst>
                                    <p:cond delay="0"/>
                                  </p:stCondLst>
                                  <p:childTnLst>
                                    <p:set>
                                      <p:cBhvr>
                                        <p:cTn id="197" dur="400" fill="hold"/>
                                        <p:tgtEl>
                                          <p:spTgt spid="26"/>
                                        </p:tgtEl>
                                        <p:attrNameLst>
                                          <p:attrName>style.opacity</p:attrName>
                                        </p:attrNameLst>
                                      </p:cBhvr>
                                      <p:to>
                                        <p:strVal val="0.25"/>
                                      </p:to>
                                    </p:set>
                                    <p:animEffect filter="image" prLst="opacity: 0.25">
                                      <p:cBhvr rctx="IE">
                                        <p:cTn id="198" dur="400" fill="hold"/>
                                        <p:tgtEl>
                                          <p:spTgt spid="26"/>
                                        </p:tgtEl>
                                      </p:cBhvr>
                                    </p:animEffect>
                                  </p:childTnLst>
                                </p:cTn>
                              </p:par>
                              <p:par>
                                <p:cTn id="199" presetID="9" presetClass="emph" presetSubtype="0" fill="hold" nodeType="withEffect">
                                  <p:stCondLst>
                                    <p:cond delay="0"/>
                                  </p:stCondLst>
                                  <p:childTnLst>
                                    <p:set>
                                      <p:cBhvr>
                                        <p:cTn id="200" dur="400" fill="hold"/>
                                        <p:tgtEl>
                                          <p:spTgt spid="27"/>
                                        </p:tgtEl>
                                        <p:attrNameLst>
                                          <p:attrName>style.opacity</p:attrName>
                                        </p:attrNameLst>
                                      </p:cBhvr>
                                      <p:to>
                                        <p:strVal val="0.25"/>
                                      </p:to>
                                    </p:set>
                                    <p:animEffect filter="image" prLst="opacity: 0.25">
                                      <p:cBhvr rctx="IE">
                                        <p:cTn id="201" dur="400" fill="hold"/>
                                        <p:tgtEl>
                                          <p:spTgt spid="27"/>
                                        </p:tgtEl>
                                      </p:cBhvr>
                                    </p:animEffect>
                                  </p:childTnLst>
                                </p:cTn>
                              </p:par>
                              <p:par>
                                <p:cTn id="202" presetID="9" presetClass="emph" presetSubtype="0" fill="hold" grpId="0" nodeType="withEffect">
                                  <p:stCondLst>
                                    <p:cond delay="0"/>
                                  </p:stCondLst>
                                  <p:childTnLst>
                                    <p:set>
                                      <p:cBhvr>
                                        <p:cTn id="203" dur="400" fill="hold"/>
                                        <p:tgtEl>
                                          <p:spTgt spid="28"/>
                                        </p:tgtEl>
                                        <p:attrNameLst>
                                          <p:attrName>style.opacity</p:attrName>
                                        </p:attrNameLst>
                                      </p:cBhvr>
                                      <p:to>
                                        <p:strVal val="0.25"/>
                                      </p:to>
                                    </p:set>
                                    <p:animEffect filter="image" prLst="opacity: 0.25">
                                      <p:cBhvr rctx="IE">
                                        <p:cTn id="204" dur="400" fill="hold"/>
                                        <p:tgtEl>
                                          <p:spTgt spid="28"/>
                                        </p:tgtEl>
                                      </p:cBhvr>
                                    </p:animEffect>
                                  </p:childTnLst>
                                </p:cTn>
                              </p:par>
                              <p:par>
                                <p:cTn id="205" presetID="9" presetClass="emph" presetSubtype="0" fill="hold" grpId="0" nodeType="withEffect">
                                  <p:stCondLst>
                                    <p:cond delay="0"/>
                                  </p:stCondLst>
                                  <p:childTnLst>
                                    <p:set>
                                      <p:cBhvr>
                                        <p:cTn id="206" dur="400" fill="hold"/>
                                        <p:tgtEl>
                                          <p:spTgt spid="29"/>
                                        </p:tgtEl>
                                        <p:attrNameLst>
                                          <p:attrName>style.opacity</p:attrName>
                                        </p:attrNameLst>
                                      </p:cBhvr>
                                      <p:to>
                                        <p:strVal val="0.25"/>
                                      </p:to>
                                    </p:set>
                                    <p:animEffect filter="image" prLst="opacity: 0.25">
                                      <p:cBhvr rctx="IE">
                                        <p:cTn id="207" dur="400" fill="hold"/>
                                        <p:tgtEl>
                                          <p:spTgt spid="29"/>
                                        </p:tgtEl>
                                      </p:cBhvr>
                                    </p:animEffect>
                                  </p:childTnLst>
                                </p:cTn>
                              </p:par>
                            </p:childTnLst>
                          </p:cTn>
                        </p:par>
                      </p:childTnLst>
                    </p:cTn>
                  </p:par>
                  <p:par>
                    <p:cTn id="208" fill="hold">
                      <p:stCondLst>
                        <p:cond delay="indefinite"/>
                      </p:stCondLst>
                      <p:childTnLst>
                        <p:par>
                          <p:cTn id="209" fill="hold">
                            <p:stCondLst>
                              <p:cond delay="0"/>
                            </p:stCondLst>
                            <p:childTnLst>
                              <p:par>
                                <p:cTn id="210" presetID="9" presetClass="emph" presetSubtype="0" fill="hold" grpId="0" nodeType="clickEffect">
                                  <p:stCondLst>
                                    <p:cond delay="0"/>
                                  </p:stCondLst>
                                  <p:childTnLst>
                                    <p:set>
                                      <p:cBhvr>
                                        <p:cTn id="211" dur="400" fill="hold"/>
                                        <p:tgtEl>
                                          <p:spTgt spid="35"/>
                                        </p:tgtEl>
                                        <p:attrNameLst>
                                          <p:attrName>style.opacity</p:attrName>
                                        </p:attrNameLst>
                                      </p:cBhvr>
                                      <p:to>
                                        <p:strVal val="1"/>
                                      </p:to>
                                    </p:set>
                                    <p:animEffect filter="image" prLst="opacity: 1">
                                      <p:cBhvr rctx="IE">
                                        <p:cTn id="212" dur="400" fill="hold"/>
                                        <p:tgtEl>
                                          <p:spTgt spid="35"/>
                                        </p:tgtEl>
                                      </p:cBhvr>
                                    </p:animEffect>
                                  </p:childTnLst>
                                </p:cTn>
                              </p:par>
                              <p:par>
                                <p:cTn id="213" presetID="9" presetClass="emph" presetSubtype="0" fill="hold" grpId="0" nodeType="withEffect">
                                  <p:stCondLst>
                                    <p:cond delay="0"/>
                                  </p:stCondLst>
                                  <p:childTnLst>
                                    <p:set>
                                      <p:cBhvr>
                                        <p:cTn id="214" dur="400" fill="hold"/>
                                        <p:tgtEl>
                                          <p:spTgt spid="36"/>
                                        </p:tgtEl>
                                        <p:attrNameLst>
                                          <p:attrName>style.opacity</p:attrName>
                                        </p:attrNameLst>
                                      </p:cBhvr>
                                      <p:to>
                                        <p:strVal val="1"/>
                                      </p:to>
                                    </p:set>
                                    <p:animEffect filter="image" prLst="opacity: 1">
                                      <p:cBhvr rctx="IE">
                                        <p:cTn id="215" dur="400" fill="hold"/>
                                        <p:tgtEl>
                                          <p:spTgt spid="36"/>
                                        </p:tgtEl>
                                      </p:cBhvr>
                                    </p:animEffect>
                                  </p:childTnLst>
                                </p:cTn>
                              </p:par>
                              <p:par>
                                <p:cTn id="216" presetID="9" presetClass="emph" presetSubtype="0" fill="hold" nodeType="withEffect">
                                  <p:stCondLst>
                                    <p:cond delay="0"/>
                                  </p:stCondLst>
                                  <p:childTnLst>
                                    <p:set>
                                      <p:cBhvr>
                                        <p:cTn id="217" dur="400" fill="hold"/>
                                        <p:tgtEl>
                                          <p:spTgt spid="37"/>
                                        </p:tgtEl>
                                        <p:attrNameLst>
                                          <p:attrName>style.opacity</p:attrName>
                                        </p:attrNameLst>
                                      </p:cBhvr>
                                      <p:to>
                                        <p:strVal val="1"/>
                                      </p:to>
                                    </p:set>
                                    <p:animEffect filter="image" prLst="opacity: 1">
                                      <p:cBhvr rctx="IE">
                                        <p:cTn id="218" dur="400" fill="hold"/>
                                        <p:tgtEl>
                                          <p:spTgt spid="37"/>
                                        </p:tgtEl>
                                      </p:cBhvr>
                                    </p:animEffect>
                                  </p:childTnLst>
                                </p:cTn>
                              </p:par>
                              <p:par>
                                <p:cTn id="219" presetID="9" presetClass="emph" presetSubtype="0" fill="hold" grpId="0" nodeType="withEffect">
                                  <p:stCondLst>
                                    <p:cond delay="0"/>
                                  </p:stCondLst>
                                  <p:childTnLst>
                                    <p:set>
                                      <p:cBhvr>
                                        <p:cTn id="220" dur="400" fill="hold"/>
                                        <p:tgtEl>
                                          <p:spTgt spid="38"/>
                                        </p:tgtEl>
                                        <p:attrNameLst>
                                          <p:attrName>style.opacity</p:attrName>
                                        </p:attrNameLst>
                                      </p:cBhvr>
                                      <p:to>
                                        <p:strVal val="1"/>
                                      </p:to>
                                    </p:set>
                                    <p:animEffect filter="image" prLst="opacity: 1">
                                      <p:cBhvr rctx="IE">
                                        <p:cTn id="221" dur="400" fill="hold"/>
                                        <p:tgtEl>
                                          <p:spTgt spid="38"/>
                                        </p:tgtEl>
                                      </p:cBhvr>
                                    </p:animEffect>
                                  </p:childTnLst>
                                </p:cTn>
                              </p:par>
                              <p:par>
                                <p:cTn id="222" presetID="9" presetClass="emph" presetSubtype="0" fill="hold" grpId="0" nodeType="withEffect">
                                  <p:stCondLst>
                                    <p:cond delay="0"/>
                                  </p:stCondLst>
                                  <p:childTnLst>
                                    <p:set>
                                      <p:cBhvr>
                                        <p:cTn id="223" dur="400" fill="hold"/>
                                        <p:tgtEl>
                                          <p:spTgt spid="39"/>
                                        </p:tgtEl>
                                        <p:attrNameLst>
                                          <p:attrName>style.opacity</p:attrName>
                                        </p:attrNameLst>
                                      </p:cBhvr>
                                      <p:to>
                                        <p:strVal val="1"/>
                                      </p:to>
                                    </p:set>
                                    <p:animEffect filter="image" prLst="opacity: 1">
                                      <p:cBhvr rctx="IE">
                                        <p:cTn id="224" dur="400" fill="hold"/>
                                        <p:tgtEl>
                                          <p:spTgt spid="39"/>
                                        </p:tgtEl>
                                      </p:cBhvr>
                                    </p:animEffect>
                                  </p:childTnLst>
                                </p:cTn>
                              </p:par>
                              <p:par>
                                <p:cTn id="225" presetID="9" presetClass="emph" presetSubtype="0" fill="hold" grpId="0" nodeType="withEffect">
                                  <p:stCondLst>
                                    <p:cond delay="0"/>
                                  </p:stCondLst>
                                  <p:childTnLst>
                                    <p:set>
                                      <p:cBhvr>
                                        <p:cTn id="226" dur="400" fill="hold"/>
                                        <p:tgtEl>
                                          <p:spTgt spid="30"/>
                                        </p:tgtEl>
                                        <p:attrNameLst>
                                          <p:attrName>style.opacity</p:attrName>
                                        </p:attrNameLst>
                                      </p:cBhvr>
                                      <p:to>
                                        <p:strVal val="0.25"/>
                                      </p:to>
                                    </p:set>
                                    <p:animEffect filter="image" prLst="opacity: 0.25">
                                      <p:cBhvr rctx="IE">
                                        <p:cTn id="227" dur="400" fill="hold"/>
                                        <p:tgtEl>
                                          <p:spTgt spid="30"/>
                                        </p:tgtEl>
                                      </p:cBhvr>
                                    </p:animEffect>
                                  </p:childTnLst>
                                </p:cTn>
                              </p:par>
                              <p:par>
                                <p:cTn id="228" presetID="9" presetClass="emph" presetSubtype="0" fill="hold" grpId="0" nodeType="withEffect">
                                  <p:stCondLst>
                                    <p:cond delay="0"/>
                                  </p:stCondLst>
                                  <p:childTnLst>
                                    <p:set>
                                      <p:cBhvr>
                                        <p:cTn id="229" dur="400" fill="hold"/>
                                        <p:tgtEl>
                                          <p:spTgt spid="31"/>
                                        </p:tgtEl>
                                        <p:attrNameLst>
                                          <p:attrName>style.opacity</p:attrName>
                                        </p:attrNameLst>
                                      </p:cBhvr>
                                      <p:to>
                                        <p:strVal val="0.25"/>
                                      </p:to>
                                    </p:set>
                                    <p:animEffect filter="image" prLst="opacity: 0.25">
                                      <p:cBhvr rctx="IE">
                                        <p:cTn id="230" dur="400" fill="hold"/>
                                        <p:tgtEl>
                                          <p:spTgt spid="31"/>
                                        </p:tgtEl>
                                      </p:cBhvr>
                                    </p:animEffect>
                                  </p:childTnLst>
                                </p:cTn>
                              </p:par>
                              <p:par>
                                <p:cTn id="231" presetID="9" presetClass="emph" presetSubtype="0" fill="hold" nodeType="withEffect">
                                  <p:stCondLst>
                                    <p:cond delay="0"/>
                                  </p:stCondLst>
                                  <p:childTnLst>
                                    <p:set>
                                      <p:cBhvr>
                                        <p:cTn id="232" dur="400" fill="hold"/>
                                        <p:tgtEl>
                                          <p:spTgt spid="32"/>
                                        </p:tgtEl>
                                        <p:attrNameLst>
                                          <p:attrName>style.opacity</p:attrName>
                                        </p:attrNameLst>
                                      </p:cBhvr>
                                      <p:to>
                                        <p:strVal val="0.25"/>
                                      </p:to>
                                    </p:set>
                                    <p:animEffect filter="image" prLst="opacity: 0.25">
                                      <p:cBhvr rctx="IE">
                                        <p:cTn id="233" dur="400" fill="hold"/>
                                        <p:tgtEl>
                                          <p:spTgt spid="32"/>
                                        </p:tgtEl>
                                      </p:cBhvr>
                                    </p:animEffect>
                                  </p:childTnLst>
                                </p:cTn>
                              </p:par>
                              <p:par>
                                <p:cTn id="234" presetID="9" presetClass="emph" presetSubtype="0" fill="hold" grpId="0" nodeType="withEffect">
                                  <p:stCondLst>
                                    <p:cond delay="0"/>
                                  </p:stCondLst>
                                  <p:childTnLst>
                                    <p:set>
                                      <p:cBhvr>
                                        <p:cTn id="235" dur="400" fill="hold"/>
                                        <p:tgtEl>
                                          <p:spTgt spid="33"/>
                                        </p:tgtEl>
                                        <p:attrNameLst>
                                          <p:attrName>style.opacity</p:attrName>
                                        </p:attrNameLst>
                                      </p:cBhvr>
                                      <p:to>
                                        <p:strVal val="0.25"/>
                                      </p:to>
                                    </p:set>
                                    <p:animEffect filter="image" prLst="opacity: 0.25">
                                      <p:cBhvr rctx="IE">
                                        <p:cTn id="236" dur="400" fill="hold"/>
                                        <p:tgtEl>
                                          <p:spTgt spid="33"/>
                                        </p:tgtEl>
                                      </p:cBhvr>
                                    </p:animEffect>
                                  </p:childTnLst>
                                </p:cTn>
                              </p:par>
                              <p:par>
                                <p:cTn id="237" presetID="9" presetClass="emph" presetSubtype="0" fill="hold" grpId="0" nodeType="withEffect">
                                  <p:stCondLst>
                                    <p:cond delay="0"/>
                                  </p:stCondLst>
                                  <p:childTnLst>
                                    <p:set>
                                      <p:cBhvr>
                                        <p:cTn id="238" dur="400" fill="hold"/>
                                        <p:tgtEl>
                                          <p:spTgt spid="34"/>
                                        </p:tgtEl>
                                        <p:attrNameLst>
                                          <p:attrName>style.opacity</p:attrName>
                                        </p:attrNameLst>
                                      </p:cBhvr>
                                      <p:to>
                                        <p:strVal val="0.25"/>
                                      </p:to>
                                    </p:set>
                                    <p:animEffect filter="image" prLst="opacity: 0.25">
                                      <p:cBhvr rctx="IE">
                                        <p:cTn id="239" dur="400" fill="hold"/>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toolbox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6" name="Shape 3"/>
          <p:cNvSpPr/>
          <p:nvPr/>
        </p:nvSpPr>
        <p:spPr>
          <a:xfrm>
            <a:off x="548640" y="1463040"/>
            <a:ext cx="2331720" cy="960120"/>
          </a:xfrm>
          <a:prstGeom prst="roundRect">
            <a:avLst>
              <a:gd name="adj" fmla="val 9524"/>
            </a:avLst>
          </a:prstGeom>
          <a:solidFill>
            <a:srgbClr val="17875A"/>
          </a:solidFill>
          <a:ln/>
        </p:spPr>
        <p:txBody>
          <a:bodyPr/>
          <a:lstStyle/>
          <a:p>
            <a:endParaRPr lang="en-US"/>
          </a:p>
        </p:txBody>
      </p:sp>
      <p:sp>
        <p:nvSpPr>
          <p:cNvPr id="7" name="Text 4"/>
          <p:cNvSpPr txBox="1"/>
          <p:nvPr/>
        </p:nvSpPr>
        <p:spPr>
          <a:xfrm>
            <a:off x="685800" y="146304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1  </a:t>
            </a:r>
            <a:r>
              <a:rPr lang="en-US" sz="1400" b="1" dirty="0">
                <a:solidFill>
                  <a:srgbClr val="FFFFFF"/>
                </a:solidFill>
                <a:latin typeface="Arial" pitchFamily="34" charset="0"/>
                <a:ea typeface="Arial" pitchFamily="34" charset="-122"/>
                <a:cs typeface="Arial" pitchFamily="34" charset="-120"/>
              </a:rPr>
              <a:t>The file system</a:t>
            </a:r>
            <a:endParaRPr lang="en-US" sz="2000" dirty="0"/>
          </a:p>
        </p:txBody>
      </p:sp>
      <p:sp>
        <p:nvSpPr>
          <p:cNvPr id="8" name="Shape 5"/>
          <p:cNvSpPr/>
          <p:nvPr/>
        </p:nvSpPr>
        <p:spPr>
          <a:xfrm>
            <a:off x="3017520" y="1463040"/>
            <a:ext cx="2011680" cy="960120"/>
          </a:xfrm>
          <a:prstGeom prst="roundRect">
            <a:avLst>
              <a:gd name="adj" fmla="val 9524"/>
            </a:avLst>
          </a:prstGeom>
          <a:solidFill>
            <a:srgbClr val="F1F5FB"/>
          </a:solidFill>
          <a:ln/>
        </p:spPr>
        <p:txBody>
          <a:bodyPr/>
          <a:lstStyle/>
          <a:p>
            <a:endParaRPr lang="en-US"/>
          </a:p>
        </p:txBody>
      </p:sp>
      <p:sp>
        <p:nvSpPr>
          <p:cNvPr id="9" name="Text 6"/>
          <p:cNvSpPr txBox="1"/>
          <p:nvPr/>
        </p:nvSpPr>
        <p:spPr>
          <a:xfrm>
            <a:off x="3154680"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pwd  cd  cd ..</a:t>
            </a:r>
            <a:endParaRPr lang="en-US" sz="1500" dirty="0"/>
          </a:p>
        </p:txBody>
      </p:sp>
      <p:sp>
        <p:nvSpPr>
          <p:cNvPr id="10" name="Text 7"/>
          <p:cNvSpPr txBox="1"/>
          <p:nvPr/>
        </p:nvSpPr>
        <p:spPr>
          <a:xfrm>
            <a:off x="3154680"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am I? move</a:t>
            </a:r>
            <a:endParaRPr lang="en-US" sz="1300" dirty="0"/>
          </a:p>
        </p:txBody>
      </p:sp>
      <p:sp>
        <p:nvSpPr>
          <p:cNvPr id="11" name="Shape 8"/>
          <p:cNvSpPr/>
          <p:nvPr/>
        </p:nvSpPr>
        <p:spPr>
          <a:xfrm>
            <a:off x="5193792" y="1463040"/>
            <a:ext cx="2011680" cy="960120"/>
          </a:xfrm>
          <a:prstGeom prst="roundRect">
            <a:avLst>
              <a:gd name="adj" fmla="val 9524"/>
            </a:avLst>
          </a:prstGeom>
          <a:solidFill>
            <a:srgbClr val="F1F5FB"/>
          </a:solidFill>
          <a:ln/>
        </p:spPr>
        <p:txBody>
          <a:bodyPr/>
          <a:lstStyle/>
          <a:p>
            <a:endParaRPr lang="en-US"/>
          </a:p>
        </p:txBody>
      </p:sp>
      <p:sp>
        <p:nvSpPr>
          <p:cNvPr id="12" name="Text 9"/>
          <p:cNvSpPr txBox="1"/>
          <p:nvPr/>
        </p:nvSpPr>
        <p:spPr>
          <a:xfrm>
            <a:off x="5330952"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ls -a</a:t>
            </a:r>
            <a:endParaRPr lang="en-US" sz="1500" dirty="0"/>
          </a:p>
        </p:txBody>
      </p:sp>
      <p:sp>
        <p:nvSpPr>
          <p:cNvPr id="13" name="Text 10"/>
          <p:cNvSpPr txBox="1"/>
          <p:nvPr/>
        </p:nvSpPr>
        <p:spPr>
          <a:xfrm>
            <a:off x="5330952"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folders</a:t>
            </a:r>
            <a:endParaRPr lang="en-US" sz="1300" dirty="0"/>
          </a:p>
        </p:txBody>
      </p:sp>
      <p:sp>
        <p:nvSpPr>
          <p:cNvPr id="14" name="Shape 11"/>
          <p:cNvSpPr/>
          <p:nvPr/>
        </p:nvSpPr>
        <p:spPr>
          <a:xfrm>
            <a:off x="7370064" y="1463040"/>
            <a:ext cx="2011680" cy="960120"/>
          </a:xfrm>
          <a:prstGeom prst="roundRect">
            <a:avLst>
              <a:gd name="adj" fmla="val 9524"/>
            </a:avLst>
          </a:prstGeom>
          <a:solidFill>
            <a:srgbClr val="F1F5FB"/>
          </a:solidFill>
          <a:ln/>
        </p:spPr>
        <p:txBody>
          <a:bodyPr/>
          <a:lstStyle/>
          <a:p>
            <a:endParaRPr lang="en-US"/>
          </a:p>
        </p:txBody>
      </p:sp>
      <p:sp>
        <p:nvSpPr>
          <p:cNvPr id="15" name="Text 12"/>
          <p:cNvSpPr txBox="1"/>
          <p:nvPr/>
        </p:nvSpPr>
        <p:spPr>
          <a:xfrm>
            <a:off x="7507224"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cat</a:t>
            </a:r>
            <a:endParaRPr lang="en-US" sz="1500" dirty="0"/>
          </a:p>
        </p:txBody>
      </p:sp>
      <p:sp>
        <p:nvSpPr>
          <p:cNvPr id="16" name="Text 13"/>
          <p:cNvSpPr txBox="1"/>
          <p:nvPr/>
        </p:nvSpPr>
        <p:spPr>
          <a:xfrm>
            <a:off x="7507224"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files</a:t>
            </a:r>
            <a:endParaRPr lang="en-US" sz="1300" dirty="0"/>
          </a:p>
        </p:txBody>
      </p:sp>
      <p:sp>
        <p:nvSpPr>
          <p:cNvPr id="17" name="Shape 14"/>
          <p:cNvSpPr/>
          <p:nvPr/>
        </p:nvSpPr>
        <p:spPr>
          <a:xfrm>
            <a:off x="9546336" y="1463040"/>
            <a:ext cx="2011680" cy="960120"/>
          </a:xfrm>
          <a:prstGeom prst="roundRect">
            <a:avLst>
              <a:gd name="adj" fmla="val 9524"/>
            </a:avLst>
          </a:prstGeom>
          <a:solidFill>
            <a:srgbClr val="F1F5FB"/>
          </a:solidFill>
          <a:ln/>
        </p:spPr>
        <p:txBody>
          <a:bodyPr/>
          <a:lstStyle/>
          <a:p>
            <a:endParaRPr lang="en-US"/>
          </a:p>
        </p:txBody>
      </p:sp>
      <p:sp>
        <p:nvSpPr>
          <p:cNvPr id="18" name="Text 15"/>
          <p:cNvSpPr txBox="1"/>
          <p:nvPr/>
        </p:nvSpPr>
        <p:spPr>
          <a:xfrm>
            <a:off x="9683496"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  chmod</a:t>
            </a:r>
            <a:endParaRPr lang="en-US" sz="1500" dirty="0"/>
          </a:p>
        </p:txBody>
      </p:sp>
      <p:sp>
        <p:nvSpPr>
          <p:cNvPr id="19" name="Text 16"/>
          <p:cNvSpPr txBox="1"/>
          <p:nvPr/>
        </p:nvSpPr>
        <p:spPr>
          <a:xfrm>
            <a:off x="9683496"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permissions</a:t>
            </a:r>
            <a:endParaRPr lang="en-US" sz="1300" dirty="0"/>
          </a:p>
        </p:txBody>
      </p:sp>
      <p:sp>
        <p:nvSpPr>
          <p:cNvPr id="20" name="Shape 17"/>
          <p:cNvSpPr/>
          <p:nvPr/>
        </p:nvSpPr>
        <p:spPr>
          <a:xfrm>
            <a:off x="548640" y="2560320"/>
            <a:ext cx="2331720" cy="960120"/>
          </a:xfrm>
          <a:prstGeom prst="roundRect">
            <a:avLst>
              <a:gd name="adj" fmla="val 9524"/>
            </a:avLst>
          </a:prstGeom>
          <a:solidFill>
            <a:srgbClr val="2A9FD6"/>
          </a:solidFill>
          <a:ln/>
        </p:spPr>
        <p:txBody>
          <a:bodyPr/>
          <a:lstStyle/>
          <a:p>
            <a:endParaRPr lang="en-US"/>
          </a:p>
        </p:txBody>
      </p:sp>
      <p:sp>
        <p:nvSpPr>
          <p:cNvPr id="21" name="Text 18"/>
          <p:cNvSpPr txBox="1"/>
          <p:nvPr/>
        </p:nvSpPr>
        <p:spPr>
          <a:xfrm>
            <a:off x="685800" y="256032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2  </a:t>
            </a:r>
            <a:r>
              <a:rPr lang="en-US" sz="1400" b="1" dirty="0">
                <a:solidFill>
                  <a:srgbClr val="FFFFFF"/>
                </a:solidFill>
                <a:latin typeface="Arial" pitchFamily="34" charset="0"/>
                <a:ea typeface="Arial" pitchFamily="34" charset="-122"/>
                <a:cs typeface="Arial" pitchFamily="34" charset="-120"/>
              </a:rPr>
              <a:t>Learning any command</a:t>
            </a:r>
            <a:endParaRPr lang="en-US" sz="2000" dirty="0"/>
          </a:p>
        </p:txBody>
      </p:sp>
      <p:sp>
        <p:nvSpPr>
          <p:cNvPr id="22" name="Shape 19"/>
          <p:cNvSpPr/>
          <p:nvPr/>
        </p:nvSpPr>
        <p:spPr>
          <a:xfrm>
            <a:off x="3017520" y="2560320"/>
            <a:ext cx="2011680" cy="960120"/>
          </a:xfrm>
          <a:prstGeom prst="roundRect">
            <a:avLst>
              <a:gd name="adj" fmla="val 9524"/>
            </a:avLst>
          </a:prstGeom>
          <a:solidFill>
            <a:srgbClr val="F1F5FB"/>
          </a:solidFill>
          <a:ln/>
        </p:spPr>
        <p:txBody>
          <a:bodyPr/>
          <a:lstStyle/>
          <a:p>
            <a:endParaRPr lang="en-US"/>
          </a:p>
        </p:txBody>
      </p:sp>
      <p:sp>
        <p:nvSpPr>
          <p:cNvPr id="23" name="Text 20"/>
          <p:cNvSpPr txBox="1"/>
          <p:nvPr/>
        </p:nvSpPr>
        <p:spPr>
          <a:xfrm>
            <a:off x="3154680"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--help</a:t>
            </a:r>
            <a:endParaRPr lang="en-US" sz="1500" dirty="0"/>
          </a:p>
        </p:txBody>
      </p:sp>
      <p:sp>
        <p:nvSpPr>
          <p:cNvPr id="24" name="Text 21"/>
          <p:cNvSpPr txBox="1"/>
          <p:nvPr/>
        </p:nvSpPr>
        <p:spPr>
          <a:xfrm>
            <a:off x="3154680"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learn any command</a:t>
            </a:r>
            <a:endParaRPr lang="en-US" sz="1300" dirty="0"/>
          </a:p>
        </p:txBody>
      </p:sp>
      <p:sp>
        <p:nvSpPr>
          <p:cNvPr id="25" name="Shape 22"/>
          <p:cNvSpPr/>
          <p:nvPr/>
        </p:nvSpPr>
        <p:spPr>
          <a:xfrm>
            <a:off x="5193792" y="2560320"/>
            <a:ext cx="2011680" cy="960120"/>
          </a:xfrm>
          <a:prstGeom prst="roundRect">
            <a:avLst>
              <a:gd name="adj" fmla="val 9524"/>
            </a:avLst>
          </a:prstGeom>
          <a:solidFill>
            <a:srgbClr val="F1F5FB"/>
          </a:solidFill>
          <a:ln/>
        </p:spPr>
        <p:txBody>
          <a:bodyPr/>
          <a:lstStyle/>
          <a:p>
            <a:endParaRPr lang="en-US"/>
          </a:p>
        </p:txBody>
      </p:sp>
      <p:sp>
        <p:nvSpPr>
          <p:cNvPr id="26" name="Text 23"/>
          <p:cNvSpPr txBox="1"/>
          <p:nvPr/>
        </p:nvSpPr>
        <p:spPr>
          <a:xfrm>
            <a:off x="5330952"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man  apropos</a:t>
            </a:r>
            <a:endParaRPr lang="en-US" sz="1500" dirty="0"/>
          </a:p>
        </p:txBody>
      </p:sp>
      <p:sp>
        <p:nvSpPr>
          <p:cNvPr id="27" name="Text 24"/>
          <p:cNvSpPr txBox="1"/>
          <p:nvPr/>
        </p:nvSpPr>
        <p:spPr>
          <a:xfrm>
            <a:off x="5330952"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manual; find by job</a:t>
            </a:r>
            <a:endParaRPr lang="en-US" sz="1300" dirty="0"/>
          </a:p>
        </p:txBody>
      </p:sp>
      <p:sp>
        <p:nvSpPr>
          <p:cNvPr id="28" name="Shape 25"/>
          <p:cNvSpPr/>
          <p:nvPr/>
        </p:nvSpPr>
        <p:spPr>
          <a:xfrm>
            <a:off x="7370064" y="2560320"/>
            <a:ext cx="2011680" cy="960120"/>
          </a:xfrm>
          <a:prstGeom prst="roundRect">
            <a:avLst>
              <a:gd name="adj" fmla="val 9524"/>
            </a:avLst>
          </a:prstGeom>
          <a:solidFill>
            <a:srgbClr val="F1F5FB"/>
          </a:solidFill>
          <a:ln/>
        </p:spPr>
        <p:txBody>
          <a:bodyPr/>
          <a:lstStyle/>
          <a:p>
            <a:endParaRPr lang="en-US"/>
          </a:p>
        </p:txBody>
      </p:sp>
      <p:sp>
        <p:nvSpPr>
          <p:cNvPr id="29" name="Text 26"/>
          <p:cNvSpPr txBox="1"/>
          <p:nvPr/>
        </p:nvSpPr>
        <p:spPr>
          <a:xfrm>
            <a:off x="7507224"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Tab</a:t>
            </a:r>
            <a:endParaRPr lang="en-US" sz="1500" dirty="0"/>
          </a:p>
        </p:txBody>
      </p:sp>
      <p:sp>
        <p:nvSpPr>
          <p:cNvPr id="30" name="Text 27"/>
          <p:cNvSpPr txBox="1"/>
          <p:nvPr/>
        </p:nvSpPr>
        <p:spPr>
          <a:xfrm>
            <a:off x="7507224"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finish names</a:t>
            </a:r>
            <a:endParaRPr lang="en-US" sz="1300" dirty="0"/>
          </a:p>
        </p:txBody>
      </p:sp>
      <p:sp>
        <p:nvSpPr>
          <p:cNvPr id="31" name="Shape 28"/>
          <p:cNvSpPr/>
          <p:nvPr/>
        </p:nvSpPr>
        <p:spPr>
          <a:xfrm>
            <a:off x="548640" y="3657600"/>
            <a:ext cx="2331720" cy="960120"/>
          </a:xfrm>
          <a:prstGeom prst="roundRect">
            <a:avLst>
              <a:gd name="adj" fmla="val 9524"/>
            </a:avLst>
          </a:prstGeom>
          <a:solidFill>
            <a:srgbClr val="7448D4"/>
          </a:solidFill>
          <a:ln/>
        </p:spPr>
        <p:txBody>
          <a:bodyPr/>
          <a:lstStyle/>
          <a:p>
            <a:endParaRPr lang="en-US"/>
          </a:p>
        </p:txBody>
      </p:sp>
      <p:sp>
        <p:nvSpPr>
          <p:cNvPr id="32" name="Text 29"/>
          <p:cNvSpPr txBox="1"/>
          <p:nvPr/>
        </p:nvSpPr>
        <p:spPr>
          <a:xfrm>
            <a:off x="685800" y="365760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3  </a:t>
            </a:r>
            <a:r>
              <a:rPr lang="en-US" sz="1400" b="1" dirty="0">
                <a:solidFill>
                  <a:srgbClr val="FFFFFF"/>
                </a:solidFill>
                <a:latin typeface="Arial" pitchFamily="34" charset="0"/>
                <a:ea typeface="Arial" pitchFamily="34" charset="-122"/>
                <a:cs typeface="Arial" pitchFamily="34" charset="-120"/>
              </a:rPr>
              <a:t>Searching</a:t>
            </a:r>
            <a:endParaRPr lang="en-US" sz="2000" dirty="0"/>
          </a:p>
        </p:txBody>
      </p:sp>
      <p:sp>
        <p:nvSpPr>
          <p:cNvPr id="33" name="Shape 30"/>
          <p:cNvSpPr/>
          <p:nvPr/>
        </p:nvSpPr>
        <p:spPr>
          <a:xfrm>
            <a:off x="3017520" y="3657600"/>
            <a:ext cx="2011680" cy="960120"/>
          </a:xfrm>
          <a:prstGeom prst="roundRect">
            <a:avLst>
              <a:gd name="adj" fmla="val 9524"/>
            </a:avLst>
          </a:prstGeom>
          <a:solidFill>
            <a:srgbClr val="F1F5FB"/>
          </a:solidFill>
          <a:ln/>
        </p:spPr>
        <p:txBody>
          <a:bodyPr/>
          <a:lstStyle/>
          <a:p>
            <a:endParaRPr lang="en-US"/>
          </a:p>
        </p:txBody>
      </p:sp>
      <p:sp>
        <p:nvSpPr>
          <p:cNvPr id="34" name="Text 31"/>
          <p:cNvSpPr txBox="1"/>
          <p:nvPr/>
        </p:nvSpPr>
        <p:spPr>
          <a:xfrm>
            <a:off x="3154680"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find</a:t>
            </a:r>
            <a:endParaRPr lang="en-US" sz="1500" dirty="0"/>
          </a:p>
        </p:txBody>
      </p:sp>
      <p:sp>
        <p:nvSpPr>
          <p:cNvPr id="35" name="Text 32"/>
          <p:cNvSpPr txBox="1"/>
          <p:nvPr/>
        </p:nvSpPr>
        <p:spPr>
          <a:xfrm>
            <a:off x="3154680"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by name</a:t>
            </a:r>
            <a:endParaRPr lang="en-US" sz="1300" dirty="0"/>
          </a:p>
        </p:txBody>
      </p:sp>
      <p:sp>
        <p:nvSpPr>
          <p:cNvPr id="36" name="Shape 33"/>
          <p:cNvSpPr/>
          <p:nvPr/>
        </p:nvSpPr>
        <p:spPr>
          <a:xfrm>
            <a:off x="5193792" y="3657600"/>
            <a:ext cx="2011680" cy="960120"/>
          </a:xfrm>
          <a:prstGeom prst="roundRect">
            <a:avLst>
              <a:gd name="adj" fmla="val 9524"/>
            </a:avLst>
          </a:prstGeom>
          <a:solidFill>
            <a:srgbClr val="F1F5FB"/>
          </a:solidFill>
          <a:ln/>
        </p:spPr>
        <p:txBody>
          <a:bodyPr/>
          <a:lstStyle/>
          <a:p>
            <a:endParaRPr lang="en-US"/>
          </a:p>
        </p:txBody>
      </p:sp>
      <p:sp>
        <p:nvSpPr>
          <p:cNvPr id="37" name="Text 34"/>
          <p:cNvSpPr txBox="1"/>
          <p:nvPr/>
        </p:nvSpPr>
        <p:spPr>
          <a:xfrm>
            <a:off x="5330952"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grep</a:t>
            </a:r>
            <a:endParaRPr lang="en-US" sz="1500" dirty="0"/>
          </a:p>
        </p:txBody>
      </p:sp>
      <p:sp>
        <p:nvSpPr>
          <p:cNvPr id="38" name="Text 35"/>
          <p:cNvSpPr txBox="1"/>
          <p:nvPr/>
        </p:nvSpPr>
        <p:spPr>
          <a:xfrm>
            <a:off x="5330952"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inside</a:t>
            </a:r>
            <a:endParaRPr lang="en-US" sz="1300" dirty="0"/>
          </a:p>
        </p:txBody>
      </p:sp>
      <p:sp>
        <p:nvSpPr>
          <p:cNvPr id="39" name="Shape 36"/>
          <p:cNvSpPr/>
          <p:nvPr/>
        </p:nvSpPr>
        <p:spPr>
          <a:xfrm>
            <a:off x="7370064" y="3657600"/>
            <a:ext cx="2011680" cy="960120"/>
          </a:xfrm>
          <a:prstGeom prst="roundRect">
            <a:avLst>
              <a:gd name="adj" fmla="val 9524"/>
            </a:avLst>
          </a:prstGeom>
          <a:solidFill>
            <a:srgbClr val="F1F5FB"/>
          </a:solidFill>
          <a:ln/>
        </p:spPr>
        <p:txBody>
          <a:bodyPr/>
          <a:lstStyle/>
          <a:p>
            <a:endParaRPr lang="en-US"/>
          </a:p>
        </p:txBody>
      </p:sp>
      <p:sp>
        <p:nvSpPr>
          <p:cNvPr id="40" name="Text 37"/>
          <p:cNvSpPr txBox="1"/>
          <p:nvPr/>
        </p:nvSpPr>
        <p:spPr>
          <a:xfrm>
            <a:off x="7507224"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head  wc  |</a:t>
            </a:r>
            <a:endParaRPr lang="en-US" sz="1500" dirty="0"/>
          </a:p>
        </p:txBody>
      </p:sp>
      <p:sp>
        <p:nvSpPr>
          <p:cNvPr id="41" name="Text 38"/>
          <p:cNvSpPr txBox="1"/>
          <p:nvPr/>
        </p:nvSpPr>
        <p:spPr>
          <a:xfrm>
            <a:off x="7507224"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peek, count, chain</a:t>
            </a:r>
            <a:endParaRPr lang="en-US" sz="1300" dirty="0"/>
          </a:p>
        </p:txBody>
      </p:sp>
      <p:sp>
        <p:nvSpPr>
          <p:cNvPr id="42" name="Shape 39"/>
          <p:cNvSpPr/>
          <p:nvPr/>
        </p:nvSpPr>
        <p:spPr>
          <a:xfrm>
            <a:off x="9546336" y="3657600"/>
            <a:ext cx="2011680" cy="960120"/>
          </a:xfrm>
          <a:prstGeom prst="roundRect">
            <a:avLst>
              <a:gd name="adj" fmla="val 9524"/>
            </a:avLst>
          </a:prstGeom>
          <a:solidFill>
            <a:srgbClr val="F1F5FB"/>
          </a:solidFill>
          <a:ln/>
        </p:spPr>
        <p:txBody>
          <a:bodyPr/>
          <a:lstStyle/>
          <a:p>
            <a:endParaRPr lang="en-US"/>
          </a:p>
        </p:txBody>
      </p:sp>
      <p:sp>
        <p:nvSpPr>
          <p:cNvPr id="43" name="Text 40"/>
          <p:cNvSpPr txBox="1"/>
          <p:nvPr/>
        </p:nvSpPr>
        <p:spPr>
          <a:xfrm>
            <a:off x="9683496"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sort  uniq  cut</a:t>
            </a:r>
            <a:endParaRPr lang="en-US" sz="1500" dirty="0"/>
          </a:p>
        </p:txBody>
      </p:sp>
      <p:sp>
        <p:nvSpPr>
          <p:cNvPr id="44" name="Text 41"/>
          <p:cNvSpPr txBox="1"/>
          <p:nvPr/>
        </p:nvSpPr>
        <p:spPr>
          <a:xfrm>
            <a:off x="9683496"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sort, count, slice</a:t>
            </a:r>
            <a:endParaRPr lang="en-US" sz="1300" dirty="0"/>
          </a:p>
        </p:txBody>
      </p:sp>
      <p:sp>
        <p:nvSpPr>
          <p:cNvPr id="45" name="Shape 42"/>
          <p:cNvSpPr/>
          <p:nvPr/>
        </p:nvSpPr>
        <p:spPr>
          <a:xfrm>
            <a:off x="548640" y="4754880"/>
            <a:ext cx="2331720" cy="960120"/>
          </a:xfrm>
          <a:prstGeom prst="roundRect">
            <a:avLst>
              <a:gd name="adj" fmla="val 9524"/>
            </a:avLst>
          </a:prstGeom>
          <a:solidFill>
            <a:srgbClr val="E8820C"/>
          </a:solidFill>
          <a:ln/>
        </p:spPr>
        <p:txBody>
          <a:bodyPr/>
          <a:lstStyle/>
          <a:p>
            <a:endParaRPr lang="en-US"/>
          </a:p>
        </p:txBody>
      </p:sp>
      <p:sp>
        <p:nvSpPr>
          <p:cNvPr id="46" name="Text 43"/>
          <p:cNvSpPr txBox="1"/>
          <p:nvPr/>
        </p:nvSpPr>
        <p:spPr>
          <a:xfrm>
            <a:off x="685800" y="475488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4  </a:t>
            </a:r>
            <a:r>
              <a:rPr lang="en-US" sz="1400" b="1" dirty="0">
                <a:solidFill>
                  <a:srgbClr val="FFFFFF"/>
                </a:solidFill>
                <a:latin typeface="Arial" pitchFamily="34" charset="0"/>
                <a:ea typeface="Arial" pitchFamily="34" charset="-122"/>
                <a:cs typeface="Arial" pitchFamily="34" charset="-120"/>
              </a:rPr>
              <a:t>Data and secrets</a:t>
            </a:r>
            <a:endParaRPr lang="en-US" sz="2000" dirty="0"/>
          </a:p>
        </p:txBody>
      </p:sp>
      <p:sp>
        <p:nvSpPr>
          <p:cNvPr id="47" name="Shape 44"/>
          <p:cNvSpPr/>
          <p:nvPr/>
        </p:nvSpPr>
        <p:spPr>
          <a:xfrm>
            <a:off x="3017520" y="4754880"/>
            <a:ext cx="2011680" cy="960120"/>
          </a:xfrm>
          <a:prstGeom prst="roundRect">
            <a:avLst>
              <a:gd name="adj" fmla="val 9524"/>
            </a:avLst>
          </a:prstGeom>
          <a:solidFill>
            <a:srgbClr val="F1F5FB"/>
          </a:solidFill>
          <a:ln/>
        </p:spPr>
        <p:txBody>
          <a:bodyPr/>
          <a:lstStyle/>
          <a:p>
            <a:endParaRPr lang="en-US"/>
          </a:p>
        </p:txBody>
      </p:sp>
      <p:sp>
        <p:nvSpPr>
          <p:cNvPr id="48" name="Text 45"/>
          <p:cNvSpPr txBox="1"/>
          <p:nvPr/>
        </p:nvSpPr>
        <p:spPr>
          <a:xfrm>
            <a:off x="3154680"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base64 -d</a:t>
            </a:r>
            <a:endParaRPr lang="en-US" sz="1500" dirty="0"/>
          </a:p>
        </p:txBody>
      </p:sp>
      <p:sp>
        <p:nvSpPr>
          <p:cNvPr id="49" name="Text 46"/>
          <p:cNvSpPr txBox="1"/>
          <p:nvPr/>
        </p:nvSpPr>
        <p:spPr>
          <a:xfrm>
            <a:off x="3154680"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decode</a:t>
            </a:r>
            <a:endParaRPr lang="en-US" sz="1300" dirty="0"/>
          </a:p>
        </p:txBody>
      </p:sp>
      <p:sp>
        <p:nvSpPr>
          <p:cNvPr id="50" name="Shape 47"/>
          <p:cNvSpPr/>
          <p:nvPr/>
        </p:nvSpPr>
        <p:spPr>
          <a:xfrm>
            <a:off x="5193792" y="4754880"/>
            <a:ext cx="2011680" cy="960120"/>
          </a:xfrm>
          <a:prstGeom prst="roundRect">
            <a:avLst>
              <a:gd name="adj" fmla="val 9524"/>
            </a:avLst>
          </a:prstGeom>
          <a:solidFill>
            <a:srgbClr val="F1F5FB"/>
          </a:solidFill>
          <a:ln/>
        </p:spPr>
        <p:txBody>
          <a:bodyPr/>
          <a:lstStyle/>
          <a:p>
            <a:endParaRPr lang="en-US"/>
          </a:p>
        </p:txBody>
      </p:sp>
      <p:sp>
        <p:nvSpPr>
          <p:cNvPr id="51" name="Text 48"/>
          <p:cNvSpPr txBox="1"/>
          <p:nvPr/>
        </p:nvSpPr>
        <p:spPr>
          <a:xfrm>
            <a:off x="5330952"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 base64 -d</a:t>
            </a:r>
            <a:endParaRPr lang="en-US" sz="1500" dirty="0"/>
          </a:p>
        </p:txBody>
      </p:sp>
      <p:sp>
        <p:nvSpPr>
          <p:cNvPr id="52" name="Text 49"/>
          <p:cNvSpPr txBox="1"/>
          <p:nvPr/>
        </p:nvSpPr>
        <p:spPr>
          <a:xfrm>
            <a:off x="5330952"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peel more layers</a:t>
            </a:r>
            <a:endParaRPr lang="en-US" sz="13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36</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Capture as many flags as fast as you can.</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./capture --all   # 10 flags, 2,700 points</a:t>
            </a:r>
            <a:endParaRPr lang="en-US" sz="20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txBody>
          <a:bodyPr/>
          <a:lstStyle/>
          <a:p>
            <a:endParaRPr lang="en-US"/>
          </a:p>
        </p:txBody>
      </p:sp>
      <p:sp>
        <p:nvSpPr>
          <p:cNvPr id="7" name="Text 4"/>
          <p:cNvSpPr txBox="1"/>
          <p:nvPr/>
        </p:nvSpPr>
        <p:spPr>
          <a:xfrm>
            <a:off x="548640" y="1600200"/>
            <a:ext cx="2624328" cy="868680"/>
          </a:xfrm>
          <a:prstGeom prst="rect">
            <a:avLst/>
          </a:prstGeom>
          <a:noFill/>
          <a:ln/>
        </p:spPr>
        <p:txBody>
          <a:bodyPr wrap="square" lIns="0" tIns="0" rIns="0" bIns="0" rtlCol="0" anchor="ctr"/>
          <a:lstStyle/>
          <a:p>
            <a:pPr marL="0" indent="0" algn="ctr">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marL="0" indent="0" algn="ctr">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txBody>
          <a:bodyPr/>
          <a:lstStyle/>
          <a:p>
            <a:endParaRPr lang="en-US"/>
          </a:p>
        </p:txBody>
      </p:sp>
      <p:sp>
        <p:nvSpPr>
          <p:cNvPr id="11" name="Text 8"/>
          <p:cNvSpPr txBox="1"/>
          <p:nvPr/>
        </p:nvSpPr>
        <p:spPr>
          <a:xfrm>
            <a:off x="3355848" y="1600200"/>
            <a:ext cx="2624328" cy="868680"/>
          </a:xfrm>
          <a:prstGeom prst="rect">
            <a:avLst/>
          </a:prstGeom>
          <a:noFill/>
          <a:ln/>
        </p:spPr>
        <p:txBody>
          <a:bodyPr wrap="square" lIns="0" tIns="0" rIns="0" bIns="0" rtlCol="0" anchor="ctr"/>
          <a:lstStyle/>
          <a:p>
            <a:pPr marL="0" indent="0" algn="ctr">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marL="0" indent="0" algn="ctr">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txBody>
          <a:bodyPr/>
          <a:lstStyle/>
          <a:p>
            <a:endParaRPr lang="en-US"/>
          </a:p>
        </p:txBody>
      </p:sp>
      <p:sp>
        <p:nvSpPr>
          <p:cNvPr id="15" name="Text 12"/>
          <p:cNvSpPr txBox="1"/>
          <p:nvPr/>
        </p:nvSpPr>
        <p:spPr>
          <a:xfrm>
            <a:off x="6163056" y="1600200"/>
            <a:ext cx="2624328" cy="868680"/>
          </a:xfrm>
          <a:prstGeom prst="rect">
            <a:avLst/>
          </a:prstGeom>
          <a:noFill/>
          <a:ln/>
        </p:spPr>
        <p:txBody>
          <a:bodyPr wrap="square" lIns="0" tIns="0" rIns="0" bIns="0" rtlCol="0" anchor="ctr"/>
          <a:lstStyle/>
          <a:p>
            <a:pPr marL="0" indent="0" algn="ctr">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marL="0" indent="0" algn="ctr">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txBody>
          <a:bodyPr/>
          <a:lstStyle/>
          <a:p>
            <a:endParaRPr lang="en-US"/>
          </a:p>
        </p:txBody>
      </p:sp>
      <p:sp>
        <p:nvSpPr>
          <p:cNvPr id="19" name="Text 16"/>
          <p:cNvSpPr txBox="1"/>
          <p:nvPr/>
        </p:nvSpPr>
        <p:spPr>
          <a:xfrm>
            <a:off x="8970264" y="1600200"/>
            <a:ext cx="2624328" cy="868680"/>
          </a:xfrm>
          <a:prstGeom prst="rect">
            <a:avLst/>
          </a:prstGeom>
          <a:noFill/>
          <a:ln/>
        </p:spPr>
        <p:txBody>
          <a:bodyPr wrap="square" lIns="0" tIns="0" rIns="0" bIns="0" rtlCol="0" anchor="ctr"/>
          <a:lstStyle/>
          <a:p>
            <a:pPr marL="0" indent="0" algn="ctr">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marL="0" indent="0" algn="ctr">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marL="0" indent="0" algn="ctr">
              <a:buNone/>
            </a:pPr>
            <a:r>
              <a:rPr lang="en-US" sz="1300" dirty="0">
                <a:solidFill>
                  <a:srgbClr val="F3C6D4"/>
                </a:solidFill>
                <a:latin typeface="Calibri" pitchFamily="34" charset="0"/>
                <a:ea typeface="Calibri" pitchFamily="34" charset="-122"/>
                <a:cs typeface="Calibri" pitchFamily="34" charset="-120"/>
              </a:rPr>
              <a:t>Mission 10: Endgame</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txBody>
          <a:bodyPr/>
          <a:lstStyle/>
          <a:p>
            <a:endParaRPr lang="en-US"/>
          </a:p>
        </p:txBody>
      </p:sp>
      <p:sp>
        <p:nvSpPr>
          <p:cNvPr id="23" name="Shape 20"/>
          <p:cNvSpPr/>
          <p:nvPr/>
        </p:nvSpPr>
        <p:spPr>
          <a:xfrm>
            <a:off x="822960" y="3794760"/>
            <a:ext cx="685800" cy="685800"/>
          </a:xfrm>
          <a:prstGeom prst="ellipse">
            <a:avLst/>
          </a:prstGeom>
          <a:solidFill>
            <a:srgbClr val="2459D8"/>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txBody>
          <a:bodyPr/>
          <a:lstStyle/>
          <a:p>
            <a:endParaRPr lang="en-US"/>
          </a:p>
        </p:txBody>
      </p:sp>
      <p:sp>
        <p:nvSpPr>
          <p:cNvPr id="28" name="Shape 24"/>
          <p:cNvSpPr/>
          <p:nvPr/>
        </p:nvSpPr>
        <p:spPr>
          <a:xfrm>
            <a:off x="4581144" y="3794760"/>
            <a:ext cx="685800" cy="685800"/>
          </a:xfrm>
          <a:prstGeom prst="ellipse">
            <a:avLst/>
          </a:prstGeom>
          <a:solidFill>
            <a:srgbClr val="F5A623"/>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txBody>
          <a:bodyPr/>
          <a:lstStyle/>
          <a:p>
            <a:endParaRPr lang="en-US"/>
          </a:p>
        </p:txBody>
      </p:sp>
      <p:sp>
        <p:nvSpPr>
          <p:cNvPr id="33" name="Shape 28"/>
          <p:cNvSpPr/>
          <p:nvPr/>
        </p:nvSpPr>
        <p:spPr>
          <a:xfrm>
            <a:off x="8339328" y="3794760"/>
            <a:ext cx="685800" cy="685800"/>
          </a:xfrm>
          <a:prstGeom prst="ellipse">
            <a:avLst/>
          </a:prstGeom>
          <a:solidFill>
            <a:srgbClr val="17875A"/>
          </a:solidFill>
          <a:ln/>
        </p:spPr>
        <p:txBody>
          <a:bodyPr/>
          <a:lstStyle/>
          <a:p>
            <a:endParaRPr lang="en-US"/>
          </a:p>
        </p:txBody>
      </p:sp>
      <p:pic>
        <p:nvPicPr>
          <p:cNvPr id="34" name="Image 2" descr="preencoded.png"/>
          <p:cNvPicPr>
            <a:picLocks noChangeAspect="1"/>
          </p:cNvPicPr>
          <p:nvPr/>
        </p:nvPicPr>
        <p:blipFill>
          <a:blip r:embed="rId5"/>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capture routine, every single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txBody>
          <a:bodyPr/>
          <a:lstStyle/>
          <a:p>
            <a:endParaRPr lang="en-US"/>
          </a:p>
        </p:txBody>
      </p:sp>
      <p:sp>
        <p:nvSpPr>
          <p:cNvPr id="7" name="Shape 4"/>
          <p:cNvSpPr/>
          <p:nvPr/>
        </p:nvSpPr>
        <p:spPr>
          <a:xfrm>
            <a:off x="1097280" y="1828800"/>
            <a:ext cx="914400" cy="91440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Read</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sidebar, or cat README.txt.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txBody>
          <a:bodyPr/>
          <a:lstStyle/>
          <a:p>
            <a:endParaRPr lang="en-US"/>
          </a:p>
        </p:txBody>
      </p:sp>
      <p:sp>
        <p:nvSpPr>
          <p:cNvPr id="13" name="Shape 9"/>
          <p:cNvSpPr/>
          <p:nvPr/>
        </p:nvSpPr>
        <p:spPr>
          <a:xfrm>
            <a:off x="3364992" y="1828800"/>
            <a:ext cx="914400" cy="914400"/>
          </a:xfrm>
          <a:prstGeom prst="ellipse">
            <a:avLst/>
          </a:prstGeom>
          <a:solidFill>
            <a:srgbClr val="2459D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Go</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into the mission folder: Copy, then paste.</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txBody>
          <a:bodyPr/>
          <a:lstStyle/>
          <a:p>
            <a:endParaRPr lang="en-US"/>
          </a:p>
        </p:txBody>
      </p:sp>
      <p:sp>
        <p:nvSpPr>
          <p:cNvPr id="19" name="Shape 14"/>
          <p:cNvSpPr/>
          <p:nvPr/>
        </p:nvSpPr>
        <p:spPr>
          <a:xfrm>
            <a:off x="5632704" y="1828800"/>
            <a:ext cx="914400" cy="914400"/>
          </a:xfrm>
          <a:prstGeom prst="ellipse">
            <a:avLst/>
          </a:prstGeom>
          <a:solidFill>
            <a:srgbClr val="7448D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Hunt</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with the tool that fits the clue.</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txBody>
          <a:bodyPr/>
          <a:lstStyle/>
          <a:p>
            <a:endParaRPr lang="en-US"/>
          </a:p>
        </p:txBody>
      </p:sp>
      <p:sp>
        <p:nvSpPr>
          <p:cNvPr id="25" name="Shape 19"/>
          <p:cNvSpPr/>
          <p:nvPr/>
        </p:nvSpPr>
        <p:spPr>
          <a:xfrm>
            <a:off x="7900416" y="1828800"/>
            <a:ext cx="914400" cy="914400"/>
          </a:xfrm>
          <a:prstGeom prst="ellipse">
            <a:avLst/>
          </a:prstGeom>
          <a:solidFill>
            <a:srgbClr val="D1416B"/>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Copy</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whole flag,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txBody>
          <a:bodyPr/>
          <a:lstStyle/>
          <a:p>
            <a:endParaRPr lang="en-US"/>
          </a:p>
        </p:txBody>
      </p:sp>
      <p:sp>
        <p:nvSpPr>
          <p:cNvPr id="31" name="Shape 24"/>
          <p:cNvSpPr/>
          <p:nvPr/>
        </p:nvSpPr>
        <p:spPr>
          <a:xfrm>
            <a:off x="10168128" y="1828800"/>
            <a:ext cx="914400" cy="914400"/>
          </a:xfrm>
          <a:prstGeom prst="ellipse">
            <a:avLst/>
          </a:prstGeom>
          <a:solidFill>
            <a:srgbClr val="17875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type submit, paste, Enter. Points!</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6" name="Shape 28"/>
          <p:cNvSpPr/>
          <p:nvPr/>
        </p:nvSpPr>
        <p:spPr>
          <a:xfrm>
            <a:off x="749808" y="5184648"/>
            <a:ext cx="118872" cy="118872"/>
          </a:xfrm>
          <a:prstGeom prst="ellipse">
            <a:avLst/>
          </a:prstGeom>
          <a:solidFill>
            <a:srgbClr val="E5534B"/>
          </a:solidFill>
          <a:ln/>
        </p:spPr>
        <p:txBody>
          <a:bodyPr/>
          <a:lstStyle/>
          <a:p>
            <a:endParaRPr lang="en-US"/>
          </a:p>
        </p:txBody>
      </p:sp>
      <p:sp>
        <p:nvSpPr>
          <p:cNvPr id="37" name="Shape 29"/>
          <p:cNvSpPr/>
          <p:nvPr/>
        </p:nvSpPr>
        <p:spPr>
          <a:xfrm>
            <a:off x="950976" y="5184648"/>
            <a:ext cx="118872" cy="118872"/>
          </a:xfrm>
          <a:prstGeom prst="ellipse">
            <a:avLst/>
          </a:prstGeom>
          <a:solidFill>
            <a:srgbClr val="F5A623"/>
          </a:solidFill>
          <a:ln/>
        </p:spPr>
        <p:txBody>
          <a:bodyPr/>
          <a:lstStyle/>
          <a:p>
            <a:endParaRPr lang="en-US"/>
          </a:p>
        </p:txBody>
      </p:sp>
      <p:sp>
        <p:nvSpPr>
          <p:cNvPr id="38" name="Shape 30"/>
          <p:cNvSpPr/>
          <p:nvPr/>
        </p:nvSpPr>
        <p:spPr>
          <a:xfrm>
            <a:off x="1152144" y="5184648"/>
            <a:ext cx="118872" cy="118872"/>
          </a:xfrm>
          <a:prstGeom prst="ellipse">
            <a:avLst/>
          </a:prstGeom>
          <a:solidFill>
            <a:srgbClr val="46D39A"/>
          </a:solidFill>
          <a:ln/>
        </p:spPr>
        <p:txBody>
          <a:bodyPr/>
          <a:lstStyle/>
          <a:p>
            <a:endParaRPr lang="en-US"/>
          </a:p>
        </p:txBody>
      </p:sp>
      <p:sp>
        <p:nvSpPr>
          <p:cNvPr id="39" name="Text 31"/>
          <p:cNvSpPr txBox="1"/>
          <p:nvPr/>
        </p:nvSpPr>
        <p:spPr>
          <a:xfrm>
            <a:off x="822960" y="5486400"/>
            <a:ext cx="10545775" cy="32004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submit CYBA{moves-4c8c640b}</a:t>
            </a: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00"/>
                                        <p:tgtEl>
                                          <p:spTgt spid="3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40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40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40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400"/>
                                        <p:tgtEl>
                                          <p:spTgt spid="3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competition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blurRad="127000" dist="38100" dir="5400000" algn="bl" rotWithShape="0">
              <a:srgbClr val="12213A">
                <a:alpha val="15000"/>
              </a:srgbClr>
            </a:outerShdw>
          </a:effectLst>
        </p:spPr>
        <p:txBody>
          <a:bodyPr/>
          <a:lstStyle/>
          <a:p>
            <a:endParaRPr lang="en-US"/>
          </a:p>
        </p:txBody>
      </p:sp>
      <p:pic>
        <p:nvPicPr>
          <p:cNvPr id="7" name="Image 0" descr="/home/claude/cyberquest-ctf/slides/img/page.png"/>
          <p:cNvPicPr>
            <a:picLocks noChangeAspect="1"/>
          </p:cNvPicPr>
          <p:nvPr/>
        </p:nvPicPr>
        <p:blipFill>
          <a:blip r:embed="rId3"/>
          <a:stretch>
            <a:fillRect/>
          </a:stretch>
        </p:blipFill>
        <p:spPr>
          <a:xfrm>
            <a:off x="548640" y="1508760"/>
            <a:ext cx="6583680" cy="3872484"/>
          </a:xfrm>
          <a:prstGeom prst="rect">
            <a:avLst/>
          </a:prstGeom>
        </p:spPr>
      </p:pic>
      <p:sp>
        <p:nvSpPr>
          <p:cNvPr id="8" name="Shape 4"/>
          <p:cNvSpPr/>
          <p:nvPr/>
        </p:nvSpPr>
        <p:spPr>
          <a:xfrm>
            <a:off x="2239204" y="1437222"/>
            <a:ext cx="365760" cy="365760"/>
          </a:xfrm>
          <a:prstGeom prst="ellipse">
            <a:avLst/>
          </a:prstGeom>
          <a:solidFill>
            <a:srgbClr val="2A9FD6"/>
          </a:solidFill>
          <a:ln w="25400">
            <a:solidFill>
              <a:srgbClr val="FFFFFF"/>
            </a:solidFill>
            <a:prstDash val="solid"/>
          </a:ln>
        </p:spPr>
        <p:txBody>
          <a:bodyPr/>
          <a:lstStyle/>
          <a:p>
            <a:endParaRPr lang="en-US"/>
          </a:p>
        </p:txBody>
      </p:sp>
      <p:sp>
        <p:nvSpPr>
          <p:cNvPr id="9" name="Text 5"/>
          <p:cNvSpPr txBox="1"/>
          <p:nvPr/>
        </p:nvSpPr>
        <p:spPr>
          <a:xfrm>
            <a:off x="2239204" y="14372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722607" y="1814815"/>
            <a:ext cx="365760" cy="365760"/>
          </a:xfrm>
          <a:prstGeom prst="ellipse">
            <a:avLst/>
          </a:prstGeom>
          <a:solidFill>
            <a:srgbClr val="F5A623"/>
          </a:solidFill>
          <a:ln w="25400">
            <a:solidFill>
              <a:srgbClr val="FFFFFF"/>
            </a:solidFill>
            <a:prstDash val="solid"/>
          </a:ln>
        </p:spPr>
        <p:txBody>
          <a:bodyPr/>
          <a:lstStyle/>
          <a:p>
            <a:endParaRPr lang="en-US"/>
          </a:p>
        </p:txBody>
      </p:sp>
      <p:sp>
        <p:nvSpPr>
          <p:cNvPr id="11" name="Text 7"/>
          <p:cNvSpPr txBox="1"/>
          <p:nvPr/>
        </p:nvSpPr>
        <p:spPr>
          <a:xfrm>
            <a:off x="4722607"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477794" y="1814815"/>
            <a:ext cx="365760" cy="365760"/>
          </a:xfrm>
          <a:prstGeom prst="ellipse">
            <a:avLst/>
          </a:prstGeom>
          <a:solidFill>
            <a:srgbClr val="2459D8"/>
          </a:solidFill>
          <a:ln w="25400">
            <a:solidFill>
              <a:srgbClr val="FFFFFF"/>
            </a:solidFill>
            <a:prstDash val="solid"/>
          </a:ln>
        </p:spPr>
        <p:txBody>
          <a:bodyPr/>
          <a:lstStyle/>
          <a:p>
            <a:endParaRPr lang="en-US"/>
          </a:p>
        </p:txBody>
      </p:sp>
      <p:sp>
        <p:nvSpPr>
          <p:cNvPr id="13" name="Text 9"/>
          <p:cNvSpPr txBox="1"/>
          <p:nvPr/>
        </p:nvSpPr>
        <p:spPr>
          <a:xfrm>
            <a:off x="5477794"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293838" y="2090749"/>
            <a:ext cx="365760" cy="365760"/>
          </a:xfrm>
          <a:prstGeom prst="ellipse">
            <a:avLst/>
          </a:prstGeom>
          <a:solidFill>
            <a:srgbClr val="17875A"/>
          </a:solidFill>
          <a:ln w="25400">
            <a:solidFill>
              <a:srgbClr val="FFFFFF"/>
            </a:solidFill>
            <a:prstDash val="solid"/>
          </a:ln>
        </p:spPr>
        <p:txBody>
          <a:bodyPr/>
          <a:lstStyle/>
          <a:p>
            <a:endParaRPr lang="en-US"/>
          </a:p>
        </p:txBody>
      </p:sp>
      <p:sp>
        <p:nvSpPr>
          <p:cNvPr id="15" name="Text 11"/>
          <p:cNvSpPr txBox="1"/>
          <p:nvPr/>
        </p:nvSpPr>
        <p:spPr>
          <a:xfrm>
            <a:off x="5293838" y="20907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700477" y="2657139"/>
            <a:ext cx="365760" cy="365760"/>
          </a:xfrm>
          <a:prstGeom prst="ellipse">
            <a:avLst/>
          </a:prstGeom>
          <a:solidFill>
            <a:srgbClr val="D1416B"/>
          </a:solidFill>
          <a:ln w="25400">
            <a:solidFill>
              <a:srgbClr val="FFFFFF"/>
            </a:solidFill>
            <a:prstDash val="solid"/>
          </a:ln>
        </p:spPr>
        <p:txBody>
          <a:bodyPr/>
          <a:lstStyle/>
          <a:p>
            <a:endParaRPr lang="en-US"/>
          </a:p>
        </p:txBody>
      </p:sp>
      <p:sp>
        <p:nvSpPr>
          <p:cNvPr id="17" name="Text 13"/>
          <p:cNvSpPr txBox="1"/>
          <p:nvPr/>
        </p:nvSpPr>
        <p:spPr>
          <a:xfrm>
            <a:off x="5700477" y="265713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txBody>
          <a:bodyPr/>
          <a:lstStyle/>
          <a:p>
            <a:endParaRPr lang="en-US"/>
          </a:p>
        </p:txBody>
      </p:sp>
      <p:sp>
        <p:nvSpPr>
          <p:cNvPr id="19" name="Text 15"/>
          <p:cNvSpPr txBox="1"/>
          <p:nvPr/>
        </p:nvSpPr>
        <p:spPr>
          <a:xfrm>
            <a:off x="6533119" y="36204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359075"/>
            <a:ext cx="365760" cy="365760"/>
          </a:xfrm>
          <a:prstGeom prst="ellipse">
            <a:avLst/>
          </a:prstGeom>
          <a:solidFill>
            <a:srgbClr val="56657E"/>
          </a:solidFill>
          <a:ln w="25400">
            <a:solidFill>
              <a:srgbClr val="FFFFFF"/>
            </a:solidFill>
            <a:prstDash val="solid"/>
          </a:ln>
        </p:spPr>
        <p:txBody>
          <a:bodyPr/>
          <a:lstStyle/>
          <a:p>
            <a:endParaRPr lang="en-US"/>
          </a:p>
        </p:txBody>
      </p:sp>
      <p:sp>
        <p:nvSpPr>
          <p:cNvPr id="21" name="Text 17"/>
          <p:cNvSpPr txBox="1"/>
          <p:nvPr/>
        </p:nvSpPr>
        <p:spPr>
          <a:xfrm>
            <a:off x="2447365" y="335907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txBody>
          <a:bodyPr/>
          <a:lstStyle/>
          <a:p>
            <a:endParaRPr lang="en-US"/>
          </a:p>
        </p:txBody>
      </p:sp>
      <p:sp>
        <p:nvSpPr>
          <p:cNvPr id="23" name="Text 19"/>
          <p:cNvSpPr txBox="1"/>
          <p:nvPr/>
        </p:nvSpPr>
        <p:spPr>
          <a:xfrm>
            <a:off x="6470187" y="4985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marL="0" indent="0">
              <a:buNone/>
            </a:pPr>
            <a:r>
              <a:rPr lang="en-US" sz="1200" dirty="0">
                <a:solidFill>
                  <a:srgbClr val="56657E"/>
                </a:solidFill>
                <a:latin typeface="Calibri" pitchFamily="34" charset="0"/>
                <a:ea typeface="Calibri" pitchFamily="34" charset="-122"/>
                <a:cs typeface="Calibri" pitchFamily="34" charset="-120"/>
              </a:rPr>
              <a:t>Mid-game: warm-up and missions 1 and 2 captured, mission 3 open.</a:t>
            </a:r>
            <a:endParaRPr lang="en-US" sz="1200" dirty="0"/>
          </a:p>
        </p:txBody>
      </p:sp>
      <p:sp>
        <p:nvSpPr>
          <p:cNvPr id="25" name="Shape 21"/>
          <p:cNvSpPr/>
          <p:nvPr/>
        </p:nvSpPr>
        <p:spPr>
          <a:xfrm>
            <a:off x="7406640" y="1527048"/>
            <a:ext cx="329184" cy="329184"/>
          </a:xfrm>
          <a:prstGeom prst="ellipse">
            <a:avLst/>
          </a:prstGeom>
          <a:solidFill>
            <a:srgbClr val="2A9FD6"/>
          </a:solidFill>
          <a:ln/>
        </p:spPr>
        <p:txBody>
          <a:bodyPr/>
          <a:lstStyle/>
          <a:p>
            <a:endParaRPr lang="en-US"/>
          </a:p>
        </p:txBody>
      </p:sp>
      <p:sp>
        <p:nvSpPr>
          <p:cNvPr id="26" name="Text 22"/>
          <p:cNvSpPr txBox="1"/>
          <p:nvPr/>
        </p:nvSpPr>
        <p:spPr>
          <a:xfrm>
            <a:off x="7406640" y="15270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Progress track  </a:t>
            </a: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txBody>
          <a:bodyPr/>
          <a:lstStyle/>
          <a:p>
            <a:endParaRPr lang="en-US"/>
          </a:p>
        </p:txBody>
      </p:sp>
      <p:sp>
        <p:nvSpPr>
          <p:cNvPr id="29" name="Text 25"/>
          <p:cNvSpPr txBox="1"/>
          <p:nvPr/>
        </p:nvSpPr>
        <p:spPr>
          <a:xfrm>
            <a:off x="7406640" y="20756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Points  </a:t>
            </a:r>
            <a:r>
              <a:rPr lang="en-US" sz="1300" dirty="0">
                <a:solidFill>
                  <a:srgbClr val="56657E"/>
                </a:solidFill>
                <a:latin typeface="Calibri" pitchFamily="34" charset="0"/>
                <a:ea typeface="Calibri" pitchFamily="34" charset="-122"/>
                <a:cs typeface="Calibri" pitchFamily="34" charset="-120"/>
              </a:rPr>
              <a:t>Your score, out of 2,800 with both warm-ups.</a:t>
            </a:r>
            <a:endParaRPr lang="en-US" sz="1600" dirty="0"/>
          </a:p>
        </p:txBody>
      </p:sp>
      <p:sp>
        <p:nvSpPr>
          <p:cNvPr id="31" name="Shape 27"/>
          <p:cNvSpPr/>
          <p:nvPr/>
        </p:nvSpPr>
        <p:spPr>
          <a:xfrm>
            <a:off x="7406640" y="2624328"/>
            <a:ext cx="329184" cy="329184"/>
          </a:xfrm>
          <a:prstGeom prst="ellipse">
            <a:avLst/>
          </a:prstGeom>
          <a:solidFill>
            <a:srgbClr val="2459D8"/>
          </a:solidFill>
          <a:ln/>
        </p:spPr>
        <p:txBody>
          <a:bodyPr/>
          <a:lstStyle/>
          <a:p>
            <a:endParaRPr lang="en-US"/>
          </a:p>
        </p:txBody>
      </p:sp>
      <p:sp>
        <p:nvSpPr>
          <p:cNvPr id="32" name="Text 28"/>
          <p:cNvSpPr txBox="1"/>
          <p:nvPr/>
        </p:nvSpPr>
        <p:spPr>
          <a:xfrm>
            <a:off x="7406640" y="2624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Clock  </a:t>
            </a: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txBody>
          <a:bodyPr/>
          <a:lstStyle/>
          <a:p>
            <a:endParaRPr lang="en-US"/>
          </a:p>
        </p:txBody>
      </p:sp>
      <p:sp>
        <p:nvSpPr>
          <p:cNvPr id="35" name="Text 31"/>
          <p:cNvSpPr txBox="1"/>
          <p:nvPr/>
        </p:nvSpPr>
        <p:spPr>
          <a:xfrm>
            <a:off x="7406640" y="31729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Stepper  </a:t>
            </a:r>
            <a:r>
              <a:rPr lang="en-US" sz="1300" dirty="0">
                <a:solidFill>
                  <a:srgbClr val="56657E"/>
                </a:solidFill>
                <a:latin typeface="Calibri" pitchFamily="34" charset="0"/>
                <a:ea typeface="Calibri" pitchFamily="34" charset="-122"/>
                <a:cs typeface="Calibri" pitchFamily="34" charset="-120"/>
              </a:rPr>
              <a:t>W1 and W2 are the warm-ups; a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txBody>
          <a:bodyPr/>
          <a:lstStyle/>
          <a:p>
            <a:endParaRPr lang="en-US"/>
          </a:p>
        </p:txBody>
      </p:sp>
      <p:sp>
        <p:nvSpPr>
          <p:cNvPr id="38" name="Text 34"/>
          <p:cNvSpPr txBox="1"/>
          <p:nvPr/>
        </p:nvSpPr>
        <p:spPr>
          <a:xfrm>
            <a:off x="7406640" y="3721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Level and points  </a:t>
            </a: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txBody>
          <a:bodyPr/>
          <a:lstStyle/>
          <a:p>
            <a:endParaRPr lang="en-US"/>
          </a:p>
        </p:txBody>
      </p:sp>
      <p:sp>
        <p:nvSpPr>
          <p:cNvPr id="41" name="Text 37"/>
          <p:cNvSpPr txBox="1"/>
          <p:nvPr/>
        </p:nvSpPr>
        <p:spPr>
          <a:xfrm>
            <a:off x="7406640" y="42702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Copy buttons  </a:t>
            </a: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txBody>
          <a:bodyPr/>
          <a:lstStyle/>
          <a:p>
            <a:endParaRPr lang="en-US"/>
          </a:p>
        </p:txBody>
      </p:sp>
      <p:sp>
        <p:nvSpPr>
          <p:cNvPr id="44" name="Text 40"/>
          <p:cNvSpPr txBox="1"/>
          <p:nvPr/>
        </p:nvSpPr>
        <p:spPr>
          <a:xfrm>
            <a:off x="7406640" y="4818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Terminal  </a:t>
            </a: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txBody>
          <a:bodyPr/>
          <a:lstStyle/>
          <a:p>
            <a:endParaRPr lang="en-US"/>
          </a:p>
        </p:txBody>
      </p:sp>
      <p:sp>
        <p:nvSpPr>
          <p:cNvPr id="47" name="Text 43"/>
          <p:cNvSpPr txBox="1"/>
          <p:nvPr/>
        </p:nvSpPr>
        <p:spPr>
          <a:xfrm>
            <a:off x="7406640" y="5367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Next mission  </a:t>
            </a: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28"/>
                                        </p:tgtEl>
                                        <p:attrNameLst>
                                          <p:attrName>style.opacity</p:attrName>
                                        </p:attrNameLst>
                                      </p:cBhvr>
                                      <p:to>
                                        <p:strVal val="0.25"/>
                                      </p:to>
                                    </p:set>
                                    <p:animEffect filter="image" prLst="opacity: 0.25">
                                      <p:cBhvr rctx="IE">
                                        <p:cTn id="7" dur="1" fill="hold"/>
                                        <p:tgtEl>
                                          <p:spTgt spid="28"/>
                                        </p:tgtEl>
                                      </p:cBhvr>
                                    </p:animEffect>
                                  </p:childTnLst>
                                </p:cTn>
                              </p:par>
                              <p:par>
                                <p:cTn id="8" presetID="9" presetClass="emph" presetSubtype="0" fill="hold" grpId="0" nodeType="withEffect">
                                  <p:stCondLst>
                                    <p:cond delay="0"/>
                                  </p:stCondLst>
                                  <p:childTnLst>
                                    <p:set>
                                      <p:cBhvr>
                                        <p:cTn id="9" dur="1" fill="hold"/>
                                        <p:tgtEl>
                                          <p:spTgt spid="29"/>
                                        </p:tgtEl>
                                        <p:attrNameLst>
                                          <p:attrName>style.opacity</p:attrName>
                                        </p:attrNameLst>
                                      </p:cBhvr>
                                      <p:to>
                                        <p:strVal val="0.25"/>
                                      </p:to>
                                    </p:set>
                                    <p:animEffect filter="image" prLst="opacity: 0.25">
                                      <p:cBhvr rctx="IE">
                                        <p:cTn id="10" dur="1" fill="hold"/>
                                        <p:tgtEl>
                                          <p:spTgt spid="29"/>
                                        </p:tgtEl>
                                      </p:cBhvr>
                                    </p:animEffect>
                                  </p:childTnLst>
                                </p:cTn>
                              </p:par>
                              <p:par>
                                <p:cTn id="11" presetID="9" presetClass="emph" presetSubtype="0" fill="hold" grpId="0" nodeType="withEffect">
                                  <p:stCondLst>
                                    <p:cond delay="0"/>
                                  </p:stCondLst>
                                  <p:childTnLst>
                                    <p:set>
                                      <p:cBhvr>
                                        <p:cTn id="12" dur="1" fill="hold"/>
                                        <p:tgtEl>
                                          <p:spTgt spid="30"/>
                                        </p:tgtEl>
                                        <p:attrNameLst>
                                          <p:attrName>style.opacity</p:attrName>
                                        </p:attrNameLst>
                                      </p:cBhvr>
                                      <p:to>
                                        <p:strVal val="0.25"/>
                                      </p:to>
                                    </p:set>
                                    <p:animEffect filter="image" prLst="opacity: 0.25">
                                      <p:cBhvr rctx="IE">
                                        <p:cTn id="13" dur="1" fill="hold"/>
                                        <p:tgtEl>
                                          <p:spTgt spid="30"/>
                                        </p:tgtEl>
                                      </p:cBhvr>
                                    </p:animEffect>
                                  </p:childTnLst>
                                </p:cTn>
                              </p:par>
                              <p:par>
                                <p:cTn id="14" presetID="9" presetClass="emph" presetSubtype="0" fill="hold" grpId="0" nodeType="withEffect">
                                  <p:stCondLst>
                                    <p:cond delay="0"/>
                                  </p:stCondLst>
                                  <p:childTnLst>
                                    <p:set>
                                      <p:cBhvr>
                                        <p:cTn id="15" dur="1" fill="hold"/>
                                        <p:tgtEl>
                                          <p:spTgt spid="31"/>
                                        </p:tgtEl>
                                        <p:attrNameLst>
                                          <p:attrName>style.opacity</p:attrName>
                                        </p:attrNameLst>
                                      </p:cBhvr>
                                      <p:to>
                                        <p:strVal val="0.25"/>
                                      </p:to>
                                    </p:set>
                                    <p:animEffect filter="image" prLst="opacity: 0.25">
                                      <p:cBhvr rctx="IE">
                                        <p:cTn id="16" dur="1" fill="hold"/>
                                        <p:tgtEl>
                                          <p:spTgt spid="31"/>
                                        </p:tgtEl>
                                      </p:cBhvr>
                                    </p:animEffect>
                                  </p:childTnLst>
                                </p:cTn>
                              </p:par>
                              <p:par>
                                <p:cTn id="17" presetID="9" presetClass="emph" presetSubtype="0" fill="hold" grpId="0" nodeType="withEffect">
                                  <p:stCondLst>
                                    <p:cond delay="0"/>
                                  </p:stCondLst>
                                  <p:childTnLst>
                                    <p:set>
                                      <p:cBhvr>
                                        <p:cTn id="18" dur="1" fill="hold"/>
                                        <p:tgtEl>
                                          <p:spTgt spid="32"/>
                                        </p:tgtEl>
                                        <p:attrNameLst>
                                          <p:attrName>style.opacity</p:attrName>
                                        </p:attrNameLst>
                                      </p:cBhvr>
                                      <p:to>
                                        <p:strVal val="0.25"/>
                                      </p:to>
                                    </p:set>
                                    <p:animEffect filter="image" prLst="opacity: 0.25">
                                      <p:cBhvr rctx="IE">
                                        <p:cTn id="19" dur="1" fill="hold"/>
                                        <p:tgtEl>
                                          <p:spTgt spid="32"/>
                                        </p:tgtEl>
                                      </p:cBhvr>
                                    </p:animEffect>
                                  </p:childTnLst>
                                </p:cTn>
                              </p:par>
                              <p:par>
                                <p:cTn id="20" presetID="9" presetClass="emph" presetSubtype="0" fill="hold" grpId="0" nodeType="withEffect">
                                  <p:stCondLst>
                                    <p:cond delay="0"/>
                                  </p:stCondLst>
                                  <p:childTnLst>
                                    <p:set>
                                      <p:cBhvr>
                                        <p:cTn id="21" dur="1" fill="hold"/>
                                        <p:tgtEl>
                                          <p:spTgt spid="33"/>
                                        </p:tgtEl>
                                        <p:attrNameLst>
                                          <p:attrName>style.opacity</p:attrName>
                                        </p:attrNameLst>
                                      </p:cBhvr>
                                      <p:to>
                                        <p:strVal val="0.25"/>
                                      </p:to>
                                    </p:set>
                                    <p:animEffect filter="image" prLst="opacity: 0.25">
                                      <p:cBhvr rctx="IE">
                                        <p:cTn id="22" dur="1" fill="hold"/>
                                        <p:tgtEl>
                                          <p:spTgt spid="33"/>
                                        </p:tgtEl>
                                      </p:cBhvr>
                                    </p:animEffect>
                                  </p:childTnLst>
                                </p:cTn>
                              </p:par>
                              <p:par>
                                <p:cTn id="23" presetID="9" presetClass="emph" presetSubtype="0" fill="hold" grpId="0" nodeType="withEffect">
                                  <p:stCondLst>
                                    <p:cond delay="0"/>
                                  </p:stCondLst>
                                  <p:childTnLst>
                                    <p:set>
                                      <p:cBhvr>
                                        <p:cTn id="24" dur="1" fill="hold"/>
                                        <p:tgtEl>
                                          <p:spTgt spid="34"/>
                                        </p:tgtEl>
                                        <p:attrNameLst>
                                          <p:attrName>style.opacity</p:attrName>
                                        </p:attrNameLst>
                                      </p:cBhvr>
                                      <p:to>
                                        <p:strVal val="0.25"/>
                                      </p:to>
                                    </p:set>
                                    <p:animEffect filter="image" prLst="opacity: 0.25">
                                      <p:cBhvr rctx="IE">
                                        <p:cTn id="25" dur="1" fill="hold"/>
                                        <p:tgtEl>
                                          <p:spTgt spid="34"/>
                                        </p:tgtEl>
                                      </p:cBhvr>
                                    </p:animEffect>
                                  </p:childTnLst>
                                </p:cTn>
                              </p:par>
                              <p:par>
                                <p:cTn id="26" presetID="9" presetClass="emph" presetSubtype="0" fill="hold" grpId="0" nodeType="withEffect">
                                  <p:stCondLst>
                                    <p:cond delay="0"/>
                                  </p:stCondLst>
                                  <p:childTnLst>
                                    <p:set>
                                      <p:cBhvr>
                                        <p:cTn id="27" dur="1" fill="hold"/>
                                        <p:tgtEl>
                                          <p:spTgt spid="35"/>
                                        </p:tgtEl>
                                        <p:attrNameLst>
                                          <p:attrName>style.opacity</p:attrName>
                                        </p:attrNameLst>
                                      </p:cBhvr>
                                      <p:to>
                                        <p:strVal val="0.25"/>
                                      </p:to>
                                    </p:set>
                                    <p:animEffect filter="image" prLst="opacity: 0.25">
                                      <p:cBhvr rctx="IE">
                                        <p:cTn id="28" dur="1" fill="hold"/>
                                        <p:tgtEl>
                                          <p:spTgt spid="35"/>
                                        </p:tgtEl>
                                      </p:cBhvr>
                                    </p:animEffect>
                                  </p:childTnLst>
                                </p:cTn>
                              </p:par>
                              <p:par>
                                <p:cTn id="29" presetID="9" presetClass="emph" presetSubtype="0" fill="hold" grpId="0" nodeType="withEffect">
                                  <p:stCondLst>
                                    <p:cond delay="0"/>
                                  </p:stCondLst>
                                  <p:childTnLst>
                                    <p:set>
                                      <p:cBhvr>
                                        <p:cTn id="30" dur="1" fill="hold"/>
                                        <p:tgtEl>
                                          <p:spTgt spid="36"/>
                                        </p:tgtEl>
                                        <p:attrNameLst>
                                          <p:attrName>style.opacity</p:attrName>
                                        </p:attrNameLst>
                                      </p:cBhvr>
                                      <p:to>
                                        <p:strVal val="0.25"/>
                                      </p:to>
                                    </p:set>
                                    <p:animEffect filter="image" prLst="opacity: 0.25">
                                      <p:cBhvr rctx="IE">
                                        <p:cTn id="31" dur="1" fill="hold"/>
                                        <p:tgtEl>
                                          <p:spTgt spid="36"/>
                                        </p:tgtEl>
                                      </p:cBhvr>
                                    </p:animEffect>
                                  </p:childTnLst>
                                </p:cTn>
                              </p:par>
                              <p:par>
                                <p:cTn id="32" presetID="9" presetClass="emph" presetSubtype="0" fill="hold" grpId="0" nodeType="withEffect">
                                  <p:stCondLst>
                                    <p:cond delay="0"/>
                                  </p:stCondLst>
                                  <p:childTnLst>
                                    <p:set>
                                      <p:cBhvr>
                                        <p:cTn id="33" dur="1" fill="hold"/>
                                        <p:tgtEl>
                                          <p:spTgt spid="37"/>
                                        </p:tgtEl>
                                        <p:attrNameLst>
                                          <p:attrName>style.opacity</p:attrName>
                                        </p:attrNameLst>
                                      </p:cBhvr>
                                      <p:to>
                                        <p:strVal val="0.25"/>
                                      </p:to>
                                    </p:set>
                                    <p:animEffect filter="image" prLst="opacity: 0.25">
                                      <p:cBhvr rctx="IE">
                                        <p:cTn id="34" dur="1" fill="hold"/>
                                        <p:tgtEl>
                                          <p:spTgt spid="37"/>
                                        </p:tgtEl>
                                      </p:cBhvr>
                                    </p:animEffect>
                                  </p:childTnLst>
                                </p:cTn>
                              </p:par>
                              <p:par>
                                <p:cTn id="35" presetID="9" presetClass="emph" presetSubtype="0" fill="hold" grpId="0" nodeType="withEffect">
                                  <p:stCondLst>
                                    <p:cond delay="0"/>
                                  </p:stCondLst>
                                  <p:childTnLst>
                                    <p:set>
                                      <p:cBhvr>
                                        <p:cTn id="36" dur="1" fill="hold"/>
                                        <p:tgtEl>
                                          <p:spTgt spid="38"/>
                                        </p:tgtEl>
                                        <p:attrNameLst>
                                          <p:attrName>style.opacity</p:attrName>
                                        </p:attrNameLst>
                                      </p:cBhvr>
                                      <p:to>
                                        <p:strVal val="0.25"/>
                                      </p:to>
                                    </p:set>
                                    <p:animEffect filter="image" prLst="opacity: 0.25">
                                      <p:cBhvr rctx="IE">
                                        <p:cTn id="37" dur="1" fill="hold"/>
                                        <p:tgtEl>
                                          <p:spTgt spid="38"/>
                                        </p:tgtEl>
                                      </p:cBhvr>
                                    </p:animEffect>
                                  </p:childTnLst>
                                </p:cTn>
                              </p:par>
                              <p:par>
                                <p:cTn id="38" presetID="9" presetClass="emph" presetSubtype="0" fill="hold" grpId="0" nodeType="withEffect">
                                  <p:stCondLst>
                                    <p:cond delay="0"/>
                                  </p:stCondLst>
                                  <p:childTnLst>
                                    <p:set>
                                      <p:cBhvr>
                                        <p:cTn id="39" dur="1" fill="hold"/>
                                        <p:tgtEl>
                                          <p:spTgt spid="39"/>
                                        </p:tgtEl>
                                        <p:attrNameLst>
                                          <p:attrName>style.opacity</p:attrName>
                                        </p:attrNameLst>
                                      </p:cBhvr>
                                      <p:to>
                                        <p:strVal val="0.25"/>
                                      </p:to>
                                    </p:set>
                                    <p:animEffect filter="image" prLst="opacity: 0.25">
                                      <p:cBhvr rctx="IE">
                                        <p:cTn id="40" dur="1" fill="hold"/>
                                        <p:tgtEl>
                                          <p:spTgt spid="39"/>
                                        </p:tgtEl>
                                      </p:cBhvr>
                                    </p:animEffect>
                                  </p:childTnLst>
                                </p:cTn>
                              </p:par>
                              <p:par>
                                <p:cTn id="41" presetID="9" presetClass="emph" presetSubtype="0" fill="hold" grpId="0" nodeType="withEffect">
                                  <p:stCondLst>
                                    <p:cond delay="0"/>
                                  </p:stCondLst>
                                  <p:childTnLst>
                                    <p:set>
                                      <p:cBhvr>
                                        <p:cTn id="42" dur="1" fill="hold"/>
                                        <p:tgtEl>
                                          <p:spTgt spid="40"/>
                                        </p:tgtEl>
                                        <p:attrNameLst>
                                          <p:attrName>style.opacity</p:attrName>
                                        </p:attrNameLst>
                                      </p:cBhvr>
                                      <p:to>
                                        <p:strVal val="0.25"/>
                                      </p:to>
                                    </p:set>
                                    <p:animEffect filter="image" prLst="opacity: 0.25">
                                      <p:cBhvr rctx="IE">
                                        <p:cTn id="43" dur="1" fill="hold"/>
                                        <p:tgtEl>
                                          <p:spTgt spid="40"/>
                                        </p:tgtEl>
                                      </p:cBhvr>
                                    </p:animEffect>
                                  </p:childTnLst>
                                </p:cTn>
                              </p:par>
                              <p:par>
                                <p:cTn id="44" presetID="9" presetClass="emph" presetSubtype="0" fill="hold" grpId="0" nodeType="withEffect">
                                  <p:stCondLst>
                                    <p:cond delay="0"/>
                                  </p:stCondLst>
                                  <p:childTnLst>
                                    <p:set>
                                      <p:cBhvr>
                                        <p:cTn id="45" dur="1" fill="hold"/>
                                        <p:tgtEl>
                                          <p:spTgt spid="41"/>
                                        </p:tgtEl>
                                        <p:attrNameLst>
                                          <p:attrName>style.opacity</p:attrName>
                                        </p:attrNameLst>
                                      </p:cBhvr>
                                      <p:to>
                                        <p:strVal val="0.25"/>
                                      </p:to>
                                    </p:set>
                                    <p:animEffect filter="image" prLst="opacity: 0.25">
                                      <p:cBhvr rctx="IE">
                                        <p:cTn id="46" dur="1" fill="hold"/>
                                        <p:tgtEl>
                                          <p:spTgt spid="41"/>
                                        </p:tgtEl>
                                      </p:cBhvr>
                                    </p:animEffect>
                                  </p:childTnLst>
                                </p:cTn>
                              </p:par>
                              <p:par>
                                <p:cTn id="47" presetID="9" presetClass="emph" presetSubtype="0" fill="hold" grpId="0" nodeType="withEffect">
                                  <p:stCondLst>
                                    <p:cond delay="0"/>
                                  </p:stCondLst>
                                  <p:childTnLst>
                                    <p:set>
                                      <p:cBhvr>
                                        <p:cTn id="48" dur="1" fill="hold"/>
                                        <p:tgtEl>
                                          <p:spTgt spid="42"/>
                                        </p:tgtEl>
                                        <p:attrNameLst>
                                          <p:attrName>style.opacity</p:attrName>
                                        </p:attrNameLst>
                                      </p:cBhvr>
                                      <p:to>
                                        <p:strVal val="0.25"/>
                                      </p:to>
                                    </p:set>
                                    <p:animEffect filter="image" prLst="opacity: 0.25">
                                      <p:cBhvr rctx="IE">
                                        <p:cTn id="49" dur="1" fill="hold"/>
                                        <p:tgtEl>
                                          <p:spTgt spid="42"/>
                                        </p:tgtEl>
                                      </p:cBhvr>
                                    </p:animEffect>
                                  </p:childTnLst>
                                </p:cTn>
                              </p:par>
                              <p:par>
                                <p:cTn id="50" presetID="9" presetClass="emph" presetSubtype="0" fill="hold" grpId="0" nodeType="withEffect">
                                  <p:stCondLst>
                                    <p:cond delay="0"/>
                                  </p:stCondLst>
                                  <p:childTnLst>
                                    <p:set>
                                      <p:cBhvr>
                                        <p:cTn id="51" dur="1" fill="hold"/>
                                        <p:tgtEl>
                                          <p:spTgt spid="43"/>
                                        </p:tgtEl>
                                        <p:attrNameLst>
                                          <p:attrName>style.opacity</p:attrName>
                                        </p:attrNameLst>
                                      </p:cBhvr>
                                      <p:to>
                                        <p:strVal val="0.25"/>
                                      </p:to>
                                    </p:set>
                                    <p:animEffect filter="image" prLst="opacity: 0.25">
                                      <p:cBhvr rctx="IE">
                                        <p:cTn id="52" dur="1" fill="hold"/>
                                        <p:tgtEl>
                                          <p:spTgt spid="43"/>
                                        </p:tgtEl>
                                      </p:cBhvr>
                                    </p:animEffect>
                                  </p:childTnLst>
                                </p:cTn>
                              </p:par>
                              <p:par>
                                <p:cTn id="53" presetID="9" presetClass="emph" presetSubtype="0" fill="hold" grpId="0" nodeType="withEffect">
                                  <p:stCondLst>
                                    <p:cond delay="0"/>
                                  </p:stCondLst>
                                  <p:childTnLst>
                                    <p:set>
                                      <p:cBhvr>
                                        <p:cTn id="54" dur="1" fill="hold"/>
                                        <p:tgtEl>
                                          <p:spTgt spid="44"/>
                                        </p:tgtEl>
                                        <p:attrNameLst>
                                          <p:attrName>style.opacity</p:attrName>
                                        </p:attrNameLst>
                                      </p:cBhvr>
                                      <p:to>
                                        <p:strVal val="0.25"/>
                                      </p:to>
                                    </p:set>
                                    <p:animEffect filter="image" prLst="opacity: 0.25">
                                      <p:cBhvr rctx="IE">
                                        <p:cTn id="55" dur="1" fill="hold"/>
                                        <p:tgtEl>
                                          <p:spTgt spid="44"/>
                                        </p:tgtEl>
                                      </p:cBhvr>
                                    </p:animEffect>
                                  </p:childTnLst>
                                </p:cTn>
                              </p:par>
                              <p:par>
                                <p:cTn id="56" presetID="9" presetClass="emph" presetSubtype="0" fill="hold" grpId="0" nodeType="withEffect">
                                  <p:stCondLst>
                                    <p:cond delay="0"/>
                                  </p:stCondLst>
                                  <p:childTnLst>
                                    <p:set>
                                      <p:cBhvr>
                                        <p:cTn id="57" dur="1" fill="hold"/>
                                        <p:tgtEl>
                                          <p:spTgt spid="45"/>
                                        </p:tgtEl>
                                        <p:attrNameLst>
                                          <p:attrName>style.opacity</p:attrName>
                                        </p:attrNameLst>
                                      </p:cBhvr>
                                      <p:to>
                                        <p:strVal val="0.25"/>
                                      </p:to>
                                    </p:set>
                                    <p:animEffect filter="image" prLst="opacity: 0.25">
                                      <p:cBhvr rctx="IE">
                                        <p:cTn id="58" dur="1" fill="hold"/>
                                        <p:tgtEl>
                                          <p:spTgt spid="45"/>
                                        </p:tgtEl>
                                      </p:cBhvr>
                                    </p:animEffect>
                                  </p:childTnLst>
                                </p:cTn>
                              </p:par>
                              <p:par>
                                <p:cTn id="59" presetID="9" presetClass="emph" presetSubtype="0" fill="hold" grpId="0" nodeType="withEffect">
                                  <p:stCondLst>
                                    <p:cond delay="0"/>
                                  </p:stCondLst>
                                  <p:childTnLst>
                                    <p:set>
                                      <p:cBhvr>
                                        <p:cTn id="60" dur="1" fill="hold"/>
                                        <p:tgtEl>
                                          <p:spTgt spid="46"/>
                                        </p:tgtEl>
                                        <p:attrNameLst>
                                          <p:attrName>style.opacity</p:attrName>
                                        </p:attrNameLst>
                                      </p:cBhvr>
                                      <p:to>
                                        <p:strVal val="0.25"/>
                                      </p:to>
                                    </p:set>
                                    <p:animEffect filter="image" prLst="opacity: 0.25">
                                      <p:cBhvr rctx="IE">
                                        <p:cTn id="61" dur="1" fill="hold"/>
                                        <p:tgtEl>
                                          <p:spTgt spid="46"/>
                                        </p:tgtEl>
                                      </p:cBhvr>
                                    </p:animEffect>
                                  </p:childTnLst>
                                </p:cTn>
                              </p:par>
                              <p:par>
                                <p:cTn id="62" presetID="9" presetClass="emph" presetSubtype="0" fill="hold" grpId="0" nodeType="withEffect">
                                  <p:stCondLst>
                                    <p:cond delay="0"/>
                                  </p:stCondLst>
                                  <p:childTnLst>
                                    <p:set>
                                      <p:cBhvr>
                                        <p:cTn id="63" dur="1" fill="hold"/>
                                        <p:tgtEl>
                                          <p:spTgt spid="47"/>
                                        </p:tgtEl>
                                        <p:attrNameLst>
                                          <p:attrName>style.opacity</p:attrName>
                                        </p:attrNameLst>
                                      </p:cBhvr>
                                      <p:to>
                                        <p:strVal val="0.25"/>
                                      </p:to>
                                    </p:set>
                                    <p:animEffect filter="image" prLst="opacity: 0.25">
                                      <p:cBhvr rctx="IE">
                                        <p:cTn id="64" dur="1" fill="hold"/>
                                        <p:tgtEl>
                                          <p:spTgt spid="47"/>
                                        </p:tgtEl>
                                      </p:cBhvr>
                                    </p:animEffect>
                                  </p:childTnLst>
                                </p:cTn>
                              </p:par>
                              <p:par>
                                <p:cTn id="65" presetID="9" presetClass="emph" presetSubtype="0" fill="hold" grpId="0" nodeType="withEffect">
                                  <p:stCondLst>
                                    <p:cond delay="0"/>
                                  </p:stCondLst>
                                  <p:childTnLst>
                                    <p:set>
                                      <p:cBhvr>
                                        <p:cTn id="66" dur="1" fill="hold"/>
                                        <p:tgtEl>
                                          <p:spTgt spid="48"/>
                                        </p:tgtEl>
                                        <p:attrNameLst>
                                          <p:attrName>style.opacity</p:attrName>
                                        </p:attrNameLst>
                                      </p:cBhvr>
                                      <p:to>
                                        <p:strVal val="0.25"/>
                                      </p:to>
                                    </p:set>
                                    <p:animEffect filter="image" prLst="opacity: 0.25">
                                      <p:cBhvr rctx="IE">
                                        <p:cTn id="67" dur="1" fill="hold"/>
                                        <p:tgtEl>
                                          <p:spTgt spid="4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mph" presetSubtype="0" fill="hold" grpId="0" nodeType="clickEffect">
                                  <p:stCondLst>
                                    <p:cond delay="0"/>
                                  </p:stCondLst>
                                  <p:childTnLst>
                                    <p:set>
                                      <p:cBhvr>
                                        <p:cTn id="71" dur="400" fill="hold"/>
                                        <p:tgtEl>
                                          <p:spTgt spid="28"/>
                                        </p:tgtEl>
                                        <p:attrNameLst>
                                          <p:attrName>style.opacity</p:attrName>
                                        </p:attrNameLst>
                                      </p:cBhvr>
                                      <p:to>
                                        <p:strVal val="1"/>
                                      </p:to>
                                    </p:set>
                                    <p:animEffect filter="image" prLst="opacity: 1">
                                      <p:cBhvr rctx="IE">
                                        <p:cTn id="72" dur="400" fill="hold"/>
                                        <p:tgtEl>
                                          <p:spTgt spid="28"/>
                                        </p:tgtEl>
                                      </p:cBhvr>
                                    </p:animEffect>
                                  </p:childTnLst>
                                </p:cTn>
                              </p:par>
                              <p:par>
                                <p:cTn id="73" presetID="9" presetClass="emph" presetSubtype="0" fill="hold" grpId="0" nodeType="withEffect">
                                  <p:stCondLst>
                                    <p:cond delay="0"/>
                                  </p:stCondLst>
                                  <p:childTnLst>
                                    <p:set>
                                      <p:cBhvr>
                                        <p:cTn id="74" dur="400" fill="hold"/>
                                        <p:tgtEl>
                                          <p:spTgt spid="29"/>
                                        </p:tgtEl>
                                        <p:attrNameLst>
                                          <p:attrName>style.opacity</p:attrName>
                                        </p:attrNameLst>
                                      </p:cBhvr>
                                      <p:to>
                                        <p:strVal val="1"/>
                                      </p:to>
                                    </p:set>
                                    <p:animEffect filter="image" prLst="opacity: 1">
                                      <p:cBhvr rctx="IE">
                                        <p:cTn id="75" dur="400" fill="hold"/>
                                        <p:tgtEl>
                                          <p:spTgt spid="29"/>
                                        </p:tgtEl>
                                      </p:cBhvr>
                                    </p:animEffect>
                                  </p:childTnLst>
                                </p:cTn>
                              </p:par>
                              <p:par>
                                <p:cTn id="76" presetID="9" presetClass="emph" presetSubtype="0" fill="hold" grpId="0" nodeType="withEffect">
                                  <p:stCondLst>
                                    <p:cond delay="0"/>
                                  </p:stCondLst>
                                  <p:childTnLst>
                                    <p:set>
                                      <p:cBhvr>
                                        <p:cTn id="77" dur="400" fill="hold"/>
                                        <p:tgtEl>
                                          <p:spTgt spid="30"/>
                                        </p:tgtEl>
                                        <p:attrNameLst>
                                          <p:attrName>style.opacity</p:attrName>
                                        </p:attrNameLst>
                                      </p:cBhvr>
                                      <p:to>
                                        <p:strVal val="1"/>
                                      </p:to>
                                    </p:set>
                                    <p:animEffect filter="image" prLst="opacity: 1">
                                      <p:cBhvr rctx="IE">
                                        <p:cTn id="78" dur="400" fill="hold"/>
                                        <p:tgtEl>
                                          <p:spTgt spid="30"/>
                                        </p:tgtEl>
                                      </p:cBhvr>
                                    </p:animEffect>
                                  </p:childTnLst>
                                </p:cTn>
                              </p:par>
                              <p:par>
                                <p:cTn id="79" presetID="9" presetClass="emph" presetSubtype="0" fill="hold" grpId="0" nodeType="withEffect">
                                  <p:stCondLst>
                                    <p:cond delay="0"/>
                                  </p:stCondLst>
                                  <p:childTnLst>
                                    <p:set>
                                      <p:cBhvr>
                                        <p:cTn id="80" dur="400" fill="hold"/>
                                        <p:tgtEl>
                                          <p:spTgt spid="25"/>
                                        </p:tgtEl>
                                        <p:attrNameLst>
                                          <p:attrName>style.opacity</p:attrName>
                                        </p:attrNameLst>
                                      </p:cBhvr>
                                      <p:to>
                                        <p:strVal val="0.25"/>
                                      </p:to>
                                    </p:set>
                                    <p:animEffect filter="image" prLst="opacity: 0.25">
                                      <p:cBhvr rctx="IE">
                                        <p:cTn id="81" dur="400" fill="hold"/>
                                        <p:tgtEl>
                                          <p:spTgt spid="25"/>
                                        </p:tgtEl>
                                      </p:cBhvr>
                                    </p:animEffect>
                                  </p:childTnLst>
                                </p:cTn>
                              </p:par>
                              <p:par>
                                <p:cTn id="82" presetID="9" presetClass="emph" presetSubtype="0" fill="hold" grpId="0" nodeType="withEffect">
                                  <p:stCondLst>
                                    <p:cond delay="0"/>
                                  </p:stCondLst>
                                  <p:childTnLst>
                                    <p:set>
                                      <p:cBhvr>
                                        <p:cTn id="83" dur="400" fill="hold"/>
                                        <p:tgtEl>
                                          <p:spTgt spid="26"/>
                                        </p:tgtEl>
                                        <p:attrNameLst>
                                          <p:attrName>style.opacity</p:attrName>
                                        </p:attrNameLst>
                                      </p:cBhvr>
                                      <p:to>
                                        <p:strVal val="0.25"/>
                                      </p:to>
                                    </p:set>
                                    <p:animEffect filter="image" prLst="opacity: 0.25">
                                      <p:cBhvr rctx="IE">
                                        <p:cTn id="84" dur="400" fill="hold"/>
                                        <p:tgtEl>
                                          <p:spTgt spid="26"/>
                                        </p:tgtEl>
                                      </p:cBhvr>
                                    </p:animEffect>
                                  </p:childTnLst>
                                </p:cTn>
                              </p:par>
                              <p:par>
                                <p:cTn id="85" presetID="9" presetClass="emph" presetSubtype="0" fill="hold" grpId="0" nodeType="withEffect">
                                  <p:stCondLst>
                                    <p:cond delay="0"/>
                                  </p:stCondLst>
                                  <p:childTnLst>
                                    <p:set>
                                      <p:cBhvr>
                                        <p:cTn id="86" dur="400" fill="hold"/>
                                        <p:tgtEl>
                                          <p:spTgt spid="27"/>
                                        </p:tgtEl>
                                        <p:attrNameLst>
                                          <p:attrName>style.opacity</p:attrName>
                                        </p:attrNameLst>
                                      </p:cBhvr>
                                      <p:to>
                                        <p:strVal val="0.25"/>
                                      </p:to>
                                    </p:set>
                                    <p:animEffect filter="image" prLst="opacity: 0.25">
                                      <p:cBhvr rctx="IE">
                                        <p:cTn id="87" dur="400" fill="hold"/>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mph" presetSubtype="0" fill="hold" grpId="0" nodeType="clickEffect">
                                  <p:stCondLst>
                                    <p:cond delay="0"/>
                                  </p:stCondLst>
                                  <p:childTnLst>
                                    <p:set>
                                      <p:cBhvr>
                                        <p:cTn id="91" dur="400" fill="hold"/>
                                        <p:tgtEl>
                                          <p:spTgt spid="31"/>
                                        </p:tgtEl>
                                        <p:attrNameLst>
                                          <p:attrName>style.opacity</p:attrName>
                                        </p:attrNameLst>
                                      </p:cBhvr>
                                      <p:to>
                                        <p:strVal val="1"/>
                                      </p:to>
                                    </p:set>
                                    <p:animEffect filter="image" prLst="opacity: 1">
                                      <p:cBhvr rctx="IE">
                                        <p:cTn id="92" dur="400" fill="hold"/>
                                        <p:tgtEl>
                                          <p:spTgt spid="31"/>
                                        </p:tgtEl>
                                      </p:cBhvr>
                                    </p:animEffect>
                                  </p:childTnLst>
                                </p:cTn>
                              </p:par>
                              <p:par>
                                <p:cTn id="93" presetID="9" presetClass="emph" presetSubtype="0" fill="hold" grpId="0" nodeType="withEffect">
                                  <p:stCondLst>
                                    <p:cond delay="0"/>
                                  </p:stCondLst>
                                  <p:childTnLst>
                                    <p:set>
                                      <p:cBhvr>
                                        <p:cTn id="94" dur="400" fill="hold"/>
                                        <p:tgtEl>
                                          <p:spTgt spid="32"/>
                                        </p:tgtEl>
                                        <p:attrNameLst>
                                          <p:attrName>style.opacity</p:attrName>
                                        </p:attrNameLst>
                                      </p:cBhvr>
                                      <p:to>
                                        <p:strVal val="1"/>
                                      </p:to>
                                    </p:set>
                                    <p:animEffect filter="image" prLst="opacity: 1">
                                      <p:cBhvr rctx="IE">
                                        <p:cTn id="95" dur="400" fill="hold"/>
                                        <p:tgtEl>
                                          <p:spTgt spid="32"/>
                                        </p:tgtEl>
                                      </p:cBhvr>
                                    </p:animEffect>
                                  </p:childTnLst>
                                </p:cTn>
                              </p:par>
                              <p:par>
                                <p:cTn id="96" presetID="9" presetClass="emph" presetSubtype="0" fill="hold" grpId="0" nodeType="withEffect">
                                  <p:stCondLst>
                                    <p:cond delay="0"/>
                                  </p:stCondLst>
                                  <p:childTnLst>
                                    <p:set>
                                      <p:cBhvr>
                                        <p:cTn id="97" dur="400" fill="hold"/>
                                        <p:tgtEl>
                                          <p:spTgt spid="33"/>
                                        </p:tgtEl>
                                        <p:attrNameLst>
                                          <p:attrName>style.opacity</p:attrName>
                                        </p:attrNameLst>
                                      </p:cBhvr>
                                      <p:to>
                                        <p:strVal val="1"/>
                                      </p:to>
                                    </p:set>
                                    <p:animEffect filter="image" prLst="opacity: 1">
                                      <p:cBhvr rctx="IE">
                                        <p:cTn id="98" dur="400" fill="hold"/>
                                        <p:tgtEl>
                                          <p:spTgt spid="33"/>
                                        </p:tgtEl>
                                      </p:cBhvr>
                                    </p:animEffect>
                                  </p:childTnLst>
                                </p:cTn>
                              </p:par>
                              <p:par>
                                <p:cTn id="99" presetID="9" presetClass="emph" presetSubtype="0" fill="hold" grpId="0" nodeType="withEffect">
                                  <p:stCondLst>
                                    <p:cond delay="0"/>
                                  </p:stCondLst>
                                  <p:childTnLst>
                                    <p:set>
                                      <p:cBhvr>
                                        <p:cTn id="100" dur="400" fill="hold"/>
                                        <p:tgtEl>
                                          <p:spTgt spid="28"/>
                                        </p:tgtEl>
                                        <p:attrNameLst>
                                          <p:attrName>style.opacity</p:attrName>
                                        </p:attrNameLst>
                                      </p:cBhvr>
                                      <p:to>
                                        <p:strVal val="0.25"/>
                                      </p:to>
                                    </p:set>
                                    <p:animEffect filter="image" prLst="opacity: 0.25">
                                      <p:cBhvr rctx="IE">
                                        <p:cTn id="101" dur="400" fill="hold"/>
                                        <p:tgtEl>
                                          <p:spTgt spid="28"/>
                                        </p:tgtEl>
                                      </p:cBhvr>
                                    </p:animEffect>
                                  </p:childTnLst>
                                </p:cTn>
                              </p:par>
                              <p:par>
                                <p:cTn id="102" presetID="9" presetClass="emph" presetSubtype="0" fill="hold" grpId="0" nodeType="withEffect">
                                  <p:stCondLst>
                                    <p:cond delay="0"/>
                                  </p:stCondLst>
                                  <p:childTnLst>
                                    <p:set>
                                      <p:cBhvr>
                                        <p:cTn id="103" dur="400" fill="hold"/>
                                        <p:tgtEl>
                                          <p:spTgt spid="29"/>
                                        </p:tgtEl>
                                        <p:attrNameLst>
                                          <p:attrName>style.opacity</p:attrName>
                                        </p:attrNameLst>
                                      </p:cBhvr>
                                      <p:to>
                                        <p:strVal val="0.25"/>
                                      </p:to>
                                    </p:set>
                                    <p:animEffect filter="image" prLst="opacity: 0.25">
                                      <p:cBhvr rctx="IE">
                                        <p:cTn id="104" dur="400" fill="hold"/>
                                        <p:tgtEl>
                                          <p:spTgt spid="29"/>
                                        </p:tgtEl>
                                      </p:cBhvr>
                                    </p:animEffect>
                                  </p:childTnLst>
                                </p:cTn>
                              </p:par>
                              <p:par>
                                <p:cTn id="105" presetID="9" presetClass="emph" presetSubtype="0" fill="hold" grpId="0" nodeType="withEffect">
                                  <p:stCondLst>
                                    <p:cond delay="0"/>
                                  </p:stCondLst>
                                  <p:childTnLst>
                                    <p:set>
                                      <p:cBhvr>
                                        <p:cTn id="106" dur="400" fill="hold"/>
                                        <p:tgtEl>
                                          <p:spTgt spid="30"/>
                                        </p:tgtEl>
                                        <p:attrNameLst>
                                          <p:attrName>style.opacity</p:attrName>
                                        </p:attrNameLst>
                                      </p:cBhvr>
                                      <p:to>
                                        <p:strVal val="0.25"/>
                                      </p:to>
                                    </p:set>
                                    <p:animEffect filter="image" prLst="opacity: 0.25">
                                      <p:cBhvr rctx="IE">
                                        <p:cTn id="107" dur="400" fill="hold"/>
                                        <p:tgtEl>
                                          <p:spTgt spid="30"/>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mph" presetSubtype="0" fill="hold" grpId="0" nodeType="clickEffect">
                                  <p:stCondLst>
                                    <p:cond delay="0"/>
                                  </p:stCondLst>
                                  <p:childTnLst>
                                    <p:set>
                                      <p:cBhvr>
                                        <p:cTn id="111" dur="400" fill="hold"/>
                                        <p:tgtEl>
                                          <p:spTgt spid="34"/>
                                        </p:tgtEl>
                                        <p:attrNameLst>
                                          <p:attrName>style.opacity</p:attrName>
                                        </p:attrNameLst>
                                      </p:cBhvr>
                                      <p:to>
                                        <p:strVal val="1"/>
                                      </p:to>
                                    </p:set>
                                    <p:animEffect filter="image" prLst="opacity: 1">
                                      <p:cBhvr rctx="IE">
                                        <p:cTn id="112" dur="400" fill="hold"/>
                                        <p:tgtEl>
                                          <p:spTgt spid="34"/>
                                        </p:tgtEl>
                                      </p:cBhvr>
                                    </p:animEffect>
                                  </p:childTnLst>
                                </p:cTn>
                              </p:par>
                              <p:par>
                                <p:cTn id="113" presetID="9" presetClass="emph" presetSubtype="0" fill="hold" grpId="0" nodeType="withEffect">
                                  <p:stCondLst>
                                    <p:cond delay="0"/>
                                  </p:stCondLst>
                                  <p:childTnLst>
                                    <p:set>
                                      <p:cBhvr>
                                        <p:cTn id="114" dur="400" fill="hold"/>
                                        <p:tgtEl>
                                          <p:spTgt spid="35"/>
                                        </p:tgtEl>
                                        <p:attrNameLst>
                                          <p:attrName>style.opacity</p:attrName>
                                        </p:attrNameLst>
                                      </p:cBhvr>
                                      <p:to>
                                        <p:strVal val="1"/>
                                      </p:to>
                                    </p:set>
                                    <p:animEffect filter="image" prLst="opacity: 1">
                                      <p:cBhvr rctx="IE">
                                        <p:cTn id="115" dur="400" fill="hold"/>
                                        <p:tgtEl>
                                          <p:spTgt spid="35"/>
                                        </p:tgtEl>
                                      </p:cBhvr>
                                    </p:animEffect>
                                  </p:childTnLst>
                                </p:cTn>
                              </p:par>
                              <p:par>
                                <p:cTn id="116" presetID="9" presetClass="emph" presetSubtype="0" fill="hold" grpId="0" nodeType="withEffect">
                                  <p:stCondLst>
                                    <p:cond delay="0"/>
                                  </p:stCondLst>
                                  <p:childTnLst>
                                    <p:set>
                                      <p:cBhvr>
                                        <p:cTn id="117" dur="400" fill="hold"/>
                                        <p:tgtEl>
                                          <p:spTgt spid="36"/>
                                        </p:tgtEl>
                                        <p:attrNameLst>
                                          <p:attrName>style.opacity</p:attrName>
                                        </p:attrNameLst>
                                      </p:cBhvr>
                                      <p:to>
                                        <p:strVal val="1"/>
                                      </p:to>
                                    </p:set>
                                    <p:animEffect filter="image" prLst="opacity: 1">
                                      <p:cBhvr rctx="IE">
                                        <p:cTn id="118" dur="400" fill="hold"/>
                                        <p:tgtEl>
                                          <p:spTgt spid="36"/>
                                        </p:tgtEl>
                                      </p:cBhvr>
                                    </p:animEffect>
                                  </p:childTnLst>
                                </p:cTn>
                              </p:par>
                              <p:par>
                                <p:cTn id="119" presetID="9" presetClass="emph" presetSubtype="0" fill="hold" grpId="0" nodeType="withEffect">
                                  <p:stCondLst>
                                    <p:cond delay="0"/>
                                  </p:stCondLst>
                                  <p:childTnLst>
                                    <p:set>
                                      <p:cBhvr>
                                        <p:cTn id="120" dur="400" fill="hold"/>
                                        <p:tgtEl>
                                          <p:spTgt spid="31"/>
                                        </p:tgtEl>
                                        <p:attrNameLst>
                                          <p:attrName>style.opacity</p:attrName>
                                        </p:attrNameLst>
                                      </p:cBhvr>
                                      <p:to>
                                        <p:strVal val="0.25"/>
                                      </p:to>
                                    </p:set>
                                    <p:animEffect filter="image" prLst="opacity: 0.25">
                                      <p:cBhvr rctx="IE">
                                        <p:cTn id="121" dur="400" fill="hold"/>
                                        <p:tgtEl>
                                          <p:spTgt spid="31"/>
                                        </p:tgtEl>
                                      </p:cBhvr>
                                    </p:animEffect>
                                  </p:childTnLst>
                                </p:cTn>
                              </p:par>
                              <p:par>
                                <p:cTn id="122" presetID="9" presetClass="emph" presetSubtype="0" fill="hold" grpId="0" nodeType="withEffect">
                                  <p:stCondLst>
                                    <p:cond delay="0"/>
                                  </p:stCondLst>
                                  <p:childTnLst>
                                    <p:set>
                                      <p:cBhvr>
                                        <p:cTn id="123" dur="400" fill="hold"/>
                                        <p:tgtEl>
                                          <p:spTgt spid="32"/>
                                        </p:tgtEl>
                                        <p:attrNameLst>
                                          <p:attrName>style.opacity</p:attrName>
                                        </p:attrNameLst>
                                      </p:cBhvr>
                                      <p:to>
                                        <p:strVal val="0.25"/>
                                      </p:to>
                                    </p:set>
                                    <p:animEffect filter="image" prLst="opacity: 0.25">
                                      <p:cBhvr rctx="IE">
                                        <p:cTn id="124" dur="400" fill="hold"/>
                                        <p:tgtEl>
                                          <p:spTgt spid="32"/>
                                        </p:tgtEl>
                                      </p:cBhvr>
                                    </p:animEffect>
                                  </p:childTnLst>
                                </p:cTn>
                              </p:par>
                              <p:par>
                                <p:cTn id="125" presetID="9" presetClass="emph" presetSubtype="0" fill="hold" grpId="0" nodeType="withEffect">
                                  <p:stCondLst>
                                    <p:cond delay="0"/>
                                  </p:stCondLst>
                                  <p:childTnLst>
                                    <p:set>
                                      <p:cBhvr>
                                        <p:cTn id="126" dur="400" fill="hold"/>
                                        <p:tgtEl>
                                          <p:spTgt spid="33"/>
                                        </p:tgtEl>
                                        <p:attrNameLst>
                                          <p:attrName>style.opacity</p:attrName>
                                        </p:attrNameLst>
                                      </p:cBhvr>
                                      <p:to>
                                        <p:strVal val="0.25"/>
                                      </p:to>
                                    </p:set>
                                    <p:animEffect filter="image" prLst="opacity: 0.25">
                                      <p:cBhvr rctx="IE">
                                        <p:cTn id="127" dur="400" fill="hold"/>
                                        <p:tgtEl>
                                          <p:spTgt spid="33"/>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mph" presetSubtype="0" fill="hold" grpId="0" nodeType="clickEffect">
                                  <p:stCondLst>
                                    <p:cond delay="0"/>
                                  </p:stCondLst>
                                  <p:childTnLst>
                                    <p:set>
                                      <p:cBhvr>
                                        <p:cTn id="131" dur="400" fill="hold"/>
                                        <p:tgtEl>
                                          <p:spTgt spid="37"/>
                                        </p:tgtEl>
                                        <p:attrNameLst>
                                          <p:attrName>style.opacity</p:attrName>
                                        </p:attrNameLst>
                                      </p:cBhvr>
                                      <p:to>
                                        <p:strVal val="1"/>
                                      </p:to>
                                    </p:set>
                                    <p:animEffect filter="image" prLst="opacity: 1">
                                      <p:cBhvr rctx="IE">
                                        <p:cTn id="132" dur="400" fill="hold"/>
                                        <p:tgtEl>
                                          <p:spTgt spid="37"/>
                                        </p:tgtEl>
                                      </p:cBhvr>
                                    </p:animEffect>
                                  </p:childTnLst>
                                </p:cTn>
                              </p:par>
                              <p:par>
                                <p:cTn id="133" presetID="9" presetClass="emph" presetSubtype="0" fill="hold" grpId="0" nodeType="withEffect">
                                  <p:stCondLst>
                                    <p:cond delay="0"/>
                                  </p:stCondLst>
                                  <p:childTnLst>
                                    <p:set>
                                      <p:cBhvr>
                                        <p:cTn id="134" dur="400" fill="hold"/>
                                        <p:tgtEl>
                                          <p:spTgt spid="38"/>
                                        </p:tgtEl>
                                        <p:attrNameLst>
                                          <p:attrName>style.opacity</p:attrName>
                                        </p:attrNameLst>
                                      </p:cBhvr>
                                      <p:to>
                                        <p:strVal val="1"/>
                                      </p:to>
                                    </p:set>
                                    <p:animEffect filter="image" prLst="opacity: 1">
                                      <p:cBhvr rctx="IE">
                                        <p:cTn id="135" dur="400" fill="hold"/>
                                        <p:tgtEl>
                                          <p:spTgt spid="38"/>
                                        </p:tgtEl>
                                      </p:cBhvr>
                                    </p:animEffect>
                                  </p:childTnLst>
                                </p:cTn>
                              </p:par>
                              <p:par>
                                <p:cTn id="136" presetID="9" presetClass="emph" presetSubtype="0" fill="hold" grpId="0" nodeType="withEffect">
                                  <p:stCondLst>
                                    <p:cond delay="0"/>
                                  </p:stCondLst>
                                  <p:childTnLst>
                                    <p:set>
                                      <p:cBhvr>
                                        <p:cTn id="137" dur="400" fill="hold"/>
                                        <p:tgtEl>
                                          <p:spTgt spid="39"/>
                                        </p:tgtEl>
                                        <p:attrNameLst>
                                          <p:attrName>style.opacity</p:attrName>
                                        </p:attrNameLst>
                                      </p:cBhvr>
                                      <p:to>
                                        <p:strVal val="1"/>
                                      </p:to>
                                    </p:set>
                                    <p:animEffect filter="image" prLst="opacity: 1">
                                      <p:cBhvr rctx="IE">
                                        <p:cTn id="138" dur="400" fill="hold"/>
                                        <p:tgtEl>
                                          <p:spTgt spid="39"/>
                                        </p:tgtEl>
                                      </p:cBhvr>
                                    </p:animEffect>
                                  </p:childTnLst>
                                </p:cTn>
                              </p:par>
                              <p:par>
                                <p:cTn id="139" presetID="9" presetClass="emph" presetSubtype="0" fill="hold" grpId="0" nodeType="withEffect">
                                  <p:stCondLst>
                                    <p:cond delay="0"/>
                                  </p:stCondLst>
                                  <p:childTnLst>
                                    <p:set>
                                      <p:cBhvr>
                                        <p:cTn id="140" dur="400" fill="hold"/>
                                        <p:tgtEl>
                                          <p:spTgt spid="34"/>
                                        </p:tgtEl>
                                        <p:attrNameLst>
                                          <p:attrName>style.opacity</p:attrName>
                                        </p:attrNameLst>
                                      </p:cBhvr>
                                      <p:to>
                                        <p:strVal val="0.25"/>
                                      </p:to>
                                    </p:set>
                                    <p:animEffect filter="image" prLst="opacity: 0.25">
                                      <p:cBhvr rctx="IE">
                                        <p:cTn id="141" dur="400" fill="hold"/>
                                        <p:tgtEl>
                                          <p:spTgt spid="34"/>
                                        </p:tgtEl>
                                      </p:cBhvr>
                                    </p:animEffect>
                                  </p:childTnLst>
                                </p:cTn>
                              </p:par>
                              <p:par>
                                <p:cTn id="142" presetID="9" presetClass="emph" presetSubtype="0" fill="hold" grpId="0" nodeType="withEffect">
                                  <p:stCondLst>
                                    <p:cond delay="0"/>
                                  </p:stCondLst>
                                  <p:childTnLst>
                                    <p:set>
                                      <p:cBhvr>
                                        <p:cTn id="143" dur="400" fill="hold"/>
                                        <p:tgtEl>
                                          <p:spTgt spid="35"/>
                                        </p:tgtEl>
                                        <p:attrNameLst>
                                          <p:attrName>style.opacity</p:attrName>
                                        </p:attrNameLst>
                                      </p:cBhvr>
                                      <p:to>
                                        <p:strVal val="0.25"/>
                                      </p:to>
                                    </p:set>
                                    <p:animEffect filter="image" prLst="opacity: 0.25">
                                      <p:cBhvr rctx="IE">
                                        <p:cTn id="144" dur="400" fill="hold"/>
                                        <p:tgtEl>
                                          <p:spTgt spid="35"/>
                                        </p:tgtEl>
                                      </p:cBhvr>
                                    </p:animEffect>
                                  </p:childTnLst>
                                </p:cTn>
                              </p:par>
                              <p:par>
                                <p:cTn id="145" presetID="9" presetClass="emph" presetSubtype="0" fill="hold" grpId="0" nodeType="withEffect">
                                  <p:stCondLst>
                                    <p:cond delay="0"/>
                                  </p:stCondLst>
                                  <p:childTnLst>
                                    <p:set>
                                      <p:cBhvr>
                                        <p:cTn id="146" dur="400" fill="hold"/>
                                        <p:tgtEl>
                                          <p:spTgt spid="36"/>
                                        </p:tgtEl>
                                        <p:attrNameLst>
                                          <p:attrName>style.opacity</p:attrName>
                                        </p:attrNameLst>
                                      </p:cBhvr>
                                      <p:to>
                                        <p:strVal val="0.25"/>
                                      </p:to>
                                    </p:set>
                                    <p:animEffect filter="image" prLst="opacity: 0.25">
                                      <p:cBhvr rctx="IE">
                                        <p:cTn id="147" dur="400" fill="hold"/>
                                        <p:tgtEl>
                                          <p:spTgt spid="36"/>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mph" presetSubtype="0" fill="hold" grpId="0" nodeType="clickEffect">
                                  <p:stCondLst>
                                    <p:cond delay="0"/>
                                  </p:stCondLst>
                                  <p:childTnLst>
                                    <p:set>
                                      <p:cBhvr>
                                        <p:cTn id="151" dur="400" fill="hold"/>
                                        <p:tgtEl>
                                          <p:spTgt spid="40"/>
                                        </p:tgtEl>
                                        <p:attrNameLst>
                                          <p:attrName>style.opacity</p:attrName>
                                        </p:attrNameLst>
                                      </p:cBhvr>
                                      <p:to>
                                        <p:strVal val="1"/>
                                      </p:to>
                                    </p:set>
                                    <p:animEffect filter="image" prLst="opacity: 1">
                                      <p:cBhvr rctx="IE">
                                        <p:cTn id="152" dur="400" fill="hold"/>
                                        <p:tgtEl>
                                          <p:spTgt spid="40"/>
                                        </p:tgtEl>
                                      </p:cBhvr>
                                    </p:animEffect>
                                  </p:childTnLst>
                                </p:cTn>
                              </p:par>
                              <p:par>
                                <p:cTn id="153" presetID="9" presetClass="emph" presetSubtype="0" fill="hold" grpId="0" nodeType="withEffect">
                                  <p:stCondLst>
                                    <p:cond delay="0"/>
                                  </p:stCondLst>
                                  <p:childTnLst>
                                    <p:set>
                                      <p:cBhvr>
                                        <p:cTn id="154" dur="400" fill="hold"/>
                                        <p:tgtEl>
                                          <p:spTgt spid="41"/>
                                        </p:tgtEl>
                                        <p:attrNameLst>
                                          <p:attrName>style.opacity</p:attrName>
                                        </p:attrNameLst>
                                      </p:cBhvr>
                                      <p:to>
                                        <p:strVal val="1"/>
                                      </p:to>
                                    </p:set>
                                    <p:animEffect filter="image" prLst="opacity: 1">
                                      <p:cBhvr rctx="IE">
                                        <p:cTn id="155" dur="400" fill="hold"/>
                                        <p:tgtEl>
                                          <p:spTgt spid="41"/>
                                        </p:tgtEl>
                                      </p:cBhvr>
                                    </p:animEffect>
                                  </p:childTnLst>
                                </p:cTn>
                              </p:par>
                              <p:par>
                                <p:cTn id="156" presetID="9" presetClass="emph" presetSubtype="0" fill="hold" grpId="0" nodeType="withEffect">
                                  <p:stCondLst>
                                    <p:cond delay="0"/>
                                  </p:stCondLst>
                                  <p:childTnLst>
                                    <p:set>
                                      <p:cBhvr>
                                        <p:cTn id="157" dur="400" fill="hold"/>
                                        <p:tgtEl>
                                          <p:spTgt spid="42"/>
                                        </p:tgtEl>
                                        <p:attrNameLst>
                                          <p:attrName>style.opacity</p:attrName>
                                        </p:attrNameLst>
                                      </p:cBhvr>
                                      <p:to>
                                        <p:strVal val="1"/>
                                      </p:to>
                                    </p:set>
                                    <p:animEffect filter="image" prLst="opacity: 1">
                                      <p:cBhvr rctx="IE">
                                        <p:cTn id="158" dur="400" fill="hold"/>
                                        <p:tgtEl>
                                          <p:spTgt spid="42"/>
                                        </p:tgtEl>
                                      </p:cBhvr>
                                    </p:animEffect>
                                  </p:childTnLst>
                                </p:cTn>
                              </p:par>
                              <p:par>
                                <p:cTn id="159" presetID="9" presetClass="emph" presetSubtype="0" fill="hold" grpId="0" nodeType="withEffect">
                                  <p:stCondLst>
                                    <p:cond delay="0"/>
                                  </p:stCondLst>
                                  <p:childTnLst>
                                    <p:set>
                                      <p:cBhvr>
                                        <p:cTn id="160" dur="400" fill="hold"/>
                                        <p:tgtEl>
                                          <p:spTgt spid="37"/>
                                        </p:tgtEl>
                                        <p:attrNameLst>
                                          <p:attrName>style.opacity</p:attrName>
                                        </p:attrNameLst>
                                      </p:cBhvr>
                                      <p:to>
                                        <p:strVal val="0.25"/>
                                      </p:to>
                                    </p:set>
                                    <p:animEffect filter="image" prLst="opacity: 0.25">
                                      <p:cBhvr rctx="IE">
                                        <p:cTn id="161" dur="400" fill="hold"/>
                                        <p:tgtEl>
                                          <p:spTgt spid="37"/>
                                        </p:tgtEl>
                                      </p:cBhvr>
                                    </p:animEffect>
                                  </p:childTnLst>
                                </p:cTn>
                              </p:par>
                              <p:par>
                                <p:cTn id="162" presetID="9" presetClass="emph" presetSubtype="0" fill="hold" grpId="0" nodeType="withEffect">
                                  <p:stCondLst>
                                    <p:cond delay="0"/>
                                  </p:stCondLst>
                                  <p:childTnLst>
                                    <p:set>
                                      <p:cBhvr>
                                        <p:cTn id="163" dur="400" fill="hold"/>
                                        <p:tgtEl>
                                          <p:spTgt spid="38"/>
                                        </p:tgtEl>
                                        <p:attrNameLst>
                                          <p:attrName>style.opacity</p:attrName>
                                        </p:attrNameLst>
                                      </p:cBhvr>
                                      <p:to>
                                        <p:strVal val="0.25"/>
                                      </p:to>
                                    </p:set>
                                    <p:animEffect filter="image" prLst="opacity: 0.25">
                                      <p:cBhvr rctx="IE">
                                        <p:cTn id="164" dur="400" fill="hold"/>
                                        <p:tgtEl>
                                          <p:spTgt spid="38"/>
                                        </p:tgtEl>
                                      </p:cBhvr>
                                    </p:animEffect>
                                  </p:childTnLst>
                                </p:cTn>
                              </p:par>
                              <p:par>
                                <p:cTn id="165" presetID="9" presetClass="emph" presetSubtype="0" fill="hold" grpId="0" nodeType="withEffect">
                                  <p:stCondLst>
                                    <p:cond delay="0"/>
                                  </p:stCondLst>
                                  <p:childTnLst>
                                    <p:set>
                                      <p:cBhvr>
                                        <p:cTn id="166" dur="400" fill="hold"/>
                                        <p:tgtEl>
                                          <p:spTgt spid="39"/>
                                        </p:tgtEl>
                                        <p:attrNameLst>
                                          <p:attrName>style.opacity</p:attrName>
                                        </p:attrNameLst>
                                      </p:cBhvr>
                                      <p:to>
                                        <p:strVal val="0.25"/>
                                      </p:to>
                                    </p:set>
                                    <p:animEffect filter="image" prLst="opacity: 0.25">
                                      <p:cBhvr rctx="IE">
                                        <p:cTn id="167" dur="400" fill="hold"/>
                                        <p:tgtEl>
                                          <p:spTgt spid="39"/>
                                        </p:tgtEl>
                                      </p:cBhvr>
                                    </p:animEffect>
                                  </p:childTnLst>
                                </p:cTn>
                              </p:par>
                            </p:childTnLst>
                          </p:cTn>
                        </p:par>
                      </p:childTnLst>
                    </p:cTn>
                  </p:par>
                  <p:par>
                    <p:cTn id="168" fill="hold">
                      <p:stCondLst>
                        <p:cond delay="indefinite"/>
                      </p:stCondLst>
                      <p:childTnLst>
                        <p:par>
                          <p:cTn id="169" fill="hold">
                            <p:stCondLst>
                              <p:cond delay="0"/>
                            </p:stCondLst>
                            <p:childTnLst>
                              <p:par>
                                <p:cTn id="170" presetID="9" presetClass="emph" presetSubtype="0" fill="hold" grpId="0" nodeType="clickEffect">
                                  <p:stCondLst>
                                    <p:cond delay="0"/>
                                  </p:stCondLst>
                                  <p:childTnLst>
                                    <p:set>
                                      <p:cBhvr>
                                        <p:cTn id="171" dur="400" fill="hold"/>
                                        <p:tgtEl>
                                          <p:spTgt spid="43"/>
                                        </p:tgtEl>
                                        <p:attrNameLst>
                                          <p:attrName>style.opacity</p:attrName>
                                        </p:attrNameLst>
                                      </p:cBhvr>
                                      <p:to>
                                        <p:strVal val="1"/>
                                      </p:to>
                                    </p:set>
                                    <p:animEffect filter="image" prLst="opacity: 1">
                                      <p:cBhvr rctx="IE">
                                        <p:cTn id="172" dur="400" fill="hold"/>
                                        <p:tgtEl>
                                          <p:spTgt spid="43"/>
                                        </p:tgtEl>
                                      </p:cBhvr>
                                    </p:animEffect>
                                  </p:childTnLst>
                                </p:cTn>
                              </p:par>
                              <p:par>
                                <p:cTn id="173" presetID="9" presetClass="emph" presetSubtype="0" fill="hold" grpId="0" nodeType="withEffect">
                                  <p:stCondLst>
                                    <p:cond delay="0"/>
                                  </p:stCondLst>
                                  <p:childTnLst>
                                    <p:set>
                                      <p:cBhvr>
                                        <p:cTn id="174" dur="400" fill="hold"/>
                                        <p:tgtEl>
                                          <p:spTgt spid="44"/>
                                        </p:tgtEl>
                                        <p:attrNameLst>
                                          <p:attrName>style.opacity</p:attrName>
                                        </p:attrNameLst>
                                      </p:cBhvr>
                                      <p:to>
                                        <p:strVal val="1"/>
                                      </p:to>
                                    </p:set>
                                    <p:animEffect filter="image" prLst="opacity: 1">
                                      <p:cBhvr rctx="IE">
                                        <p:cTn id="175" dur="400" fill="hold"/>
                                        <p:tgtEl>
                                          <p:spTgt spid="44"/>
                                        </p:tgtEl>
                                      </p:cBhvr>
                                    </p:animEffect>
                                  </p:childTnLst>
                                </p:cTn>
                              </p:par>
                              <p:par>
                                <p:cTn id="176" presetID="9" presetClass="emph" presetSubtype="0" fill="hold" grpId="0" nodeType="withEffect">
                                  <p:stCondLst>
                                    <p:cond delay="0"/>
                                  </p:stCondLst>
                                  <p:childTnLst>
                                    <p:set>
                                      <p:cBhvr>
                                        <p:cTn id="177" dur="400" fill="hold"/>
                                        <p:tgtEl>
                                          <p:spTgt spid="45"/>
                                        </p:tgtEl>
                                        <p:attrNameLst>
                                          <p:attrName>style.opacity</p:attrName>
                                        </p:attrNameLst>
                                      </p:cBhvr>
                                      <p:to>
                                        <p:strVal val="1"/>
                                      </p:to>
                                    </p:set>
                                    <p:animEffect filter="image" prLst="opacity: 1">
                                      <p:cBhvr rctx="IE">
                                        <p:cTn id="178" dur="400" fill="hold"/>
                                        <p:tgtEl>
                                          <p:spTgt spid="45"/>
                                        </p:tgtEl>
                                      </p:cBhvr>
                                    </p:animEffect>
                                  </p:childTnLst>
                                </p:cTn>
                              </p:par>
                              <p:par>
                                <p:cTn id="179" presetID="9" presetClass="emph" presetSubtype="0" fill="hold" grpId="0" nodeType="withEffect">
                                  <p:stCondLst>
                                    <p:cond delay="0"/>
                                  </p:stCondLst>
                                  <p:childTnLst>
                                    <p:set>
                                      <p:cBhvr>
                                        <p:cTn id="180" dur="400" fill="hold"/>
                                        <p:tgtEl>
                                          <p:spTgt spid="40"/>
                                        </p:tgtEl>
                                        <p:attrNameLst>
                                          <p:attrName>style.opacity</p:attrName>
                                        </p:attrNameLst>
                                      </p:cBhvr>
                                      <p:to>
                                        <p:strVal val="0.25"/>
                                      </p:to>
                                    </p:set>
                                    <p:animEffect filter="image" prLst="opacity: 0.25">
                                      <p:cBhvr rctx="IE">
                                        <p:cTn id="181" dur="400" fill="hold"/>
                                        <p:tgtEl>
                                          <p:spTgt spid="40"/>
                                        </p:tgtEl>
                                      </p:cBhvr>
                                    </p:animEffect>
                                  </p:childTnLst>
                                </p:cTn>
                              </p:par>
                              <p:par>
                                <p:cTn id="182" presetID="9" presetClass="emph" presetSubtype="0" fill="hold" grpId="0" nodeType="withEffect">
                                  <p:stCondLst>
                                    <p:cond delay="0"/>
                                  </p:stCondLst>
                                  <p:childTnLst>
                                    <p:set>
                                      <p:cBhvr>
                                        <p:cTn id="183" dur="400" fill="hold"/>
                                        <p:tgtEl>
                                          <p:spTgt spid="41"/>
                                        </p:tgtEl>
                                        <p:attrNameLst>
                                          <p:attrName>style.opacity</p:attrName>
                                        </p:attrNameLst>
                                      </p:cBhvr>
                                      <p:to>
                                        <p:strVal val="0.25"/>
                                      </p:to>
                                    </p:set>
                                    <p:animEffect filter="image" prLst="opacity: 0.25">
                                      <p:cBhvr rctx="IE">
                                        <p:cTn id="184" dur="400" fill="hold"/>
                                        <p:tgtEl>
                                          <p:spTgt spid="41"/>
                                        </p:tgtEl>
                                      </p:cBhvr>
                                    </p:animEffect>
                                  </p:childTnLst>
                                </p:cTn>
                              </p:par>
                              <p:par>
                                <p:cTn id="185" presetID="9" presetClass="emph" presetSubtype="0" fill="hold" grpId="0" nodeType="withEffect">
                                  <p:stCondLst>
                                    <p:cond delay="0"/>
                                  </p:stCondLst>
                                  <p:childTnLst>
                                    <p:set>
                                      <p:cBhvr>
                                        <p:cTn id="186" dur="400" fill="hold"/>
                                        <p:tgtEl>
                                          <p:spTgt spid="42"/>
                                        </p:tgtEl>
                                        <p:attrNameLst>
                                          <p:attrName>style.opacity</p:attrName>
                                        </p:attrNameLst>
                                      </p:cBhvr>
                                      <p:to>
                                        <p:strVal val="0.25"/>
                                      </p:to>
                                    </p:set>
                                    <p:animEffect filter="image" prLst="opacity: 0.25">
                                      <p:cBhvr rctx="IE">
                                        <p:cTn id="187" dur="400" fill="hold"/>
                                        <p:tgtEl>
                                          <p:spTgt spid="42"/>
                                        </p:tgtEl>
                                      </p:cBhvr>
                                    </p:animEffect>
                                  </p:childTnLst>
                                </p:cTn>
                              </p:par>
                            </p:childTnLst>
                          </p:cTn>
                        </p:par>
                      </p:childTnLst>
                    </p:cTn>
                  </p:par>
                  <p:par>
                    <p:cTn id="188" fill="hold">
                      <p:stCondLst>
                        <p:cond delay="indefinite"/>
                      </p:stCondLst>
                      <p:childTnLst>
                        <p:par>
                          <p:cTn id="189" fill="hold">
                            <p:stCondLst>
                              <p:cond delay="0"/>
                            </p:stCondLst>
                            <p:childTnLst>
                              <p:par>
                                <p:cTn id="190" presetID="9" presetClass="emph" presetSubtype="0" fill="hold" grpId="0" nodeType="clickEffect">
                                  <p:stCondLst>
                                    <p:cond delay="0"/>
                                  </p:stCondLst>
                                  <p:childTnLst>
                                    <p:set>
                                      <p:cBhvr>
                                        <p:cTn id="191" dur="400" fill="hold"/>
                                        <p:tgtEl>
                                          <p:spTgt spid="46"/>
                                        </p:tgtEl>
                                        <p:attrNameLst>
                                          <p:attrName>style.opacity</p:attrName>
                                        </p:attrNameLst>
                                      </p:cBhvr>
                                      <p:to>
                                        <p:strVal val="1"/>
                                      </p:to>
                                    </p:set>
                                    <p:animEffect filter="image" prLst="opacity: 1">
                                      <p:cBhvr rctx="IE">
                                        <p:cTn id="192" dur="400" fill="hold"/>
                                        <p:tgtEl>
                                          <p:spTgt spid="46"/>
                                        </p:tgtEl>
                                      </p:cBhvr>
                                    </p:animEffect>
                                  </p:childTnLst>
                                </p:cTn>
                              </p:par>
                              <p:par>
                                <p:cTn id="193" presetID="9" presetClass="emph" presetSubtype="0" fill="hold" grpId="0" nodeType="withEffect">
                                  <p:stCondLst>
                                    <p:cond delay="0"/>
                                  </p:stCondLst>
                                  <p:childTnLst>
                                    <p:set>
                                      <p:cBhvr>
                                        <p:cTn id="194" dur="400" fill="hold"/>
                                        <p:tgtEl>
                                          <p:spTgt spid="47"/>
                                        </p:tgtEl>
                                        <p:attrNameLst>
                                          <p:attrName>style.opacity</p:attrName>
                                        </p:attrNameLst>
                                      </p:cBhvr>
                                      <p:to>
                                        <p:strVal val="1"/>
                                      </p:to>
                                    </p:set>
                                    <p:animEffect filter="image" prLst="opacity: 1">
                                      <p:cBhvr rctx="IE">
                                        <p:cTn id="195" dur="400" fill="hold"/>
                                        <p:tgtEl>
                                          <p:spTgt spid="47"/>
                                        </p:tgtEl>
                                      </p:cBhvr>
                                    </p:animEffect>
                                  </p:childTnLst>
                                </p:cTn>
                              </p:par>
                              <p:par>
                                <p:cTn id="196" presetID="9" presetClass="emph" presetSubtype="0" fill="hold" grpId="0" nodeType="withEffect">
                                  <p:stCondLst>
                                    <p:cond delay="0"/>
                                  </p:stCondLst>
                                  <p:childTnLst>
                                    <p:set>
                                      <p:cBhvr>
                                        <p:cTn id="197" dur="400" fill="hold"/>
                                        <p:tgtEl>
                                          <p:spTgt spid="48"/>
                                        </p:tgtEl>
                                        <p:attrNameLst>
                                          <p:attrName>style.opacity</p:attrName>
                                        </p:attrNameLst>
                                      </p:cBhvr>
                                      <p:to>
                                        <p:strVal val="1"/>
                                      </p:to>
                                    </p:set>
                                    <p:animEffect filter="image" prLst="opacity: 1">
                                      <p:cBhvr rctx="IE">
                                        <p:cTn id="198" dur="400" fill="hold"/>
                                        <p:tgtEl>
                                          <p:spTgt spid="48"/>
                                        </p:tgtEl>
                                      </p:cBhvr>
                                    </p:animEffect>
                                  </p:childTnLst>
                                </p:cTn>
                              </p:par>
                              <p:par>
                                <p:cTn id="199" presetID="9" presetClass="emph" presetSubtype="0" fill="hold" grpId="0" nodeType="withEffect">
                                  <p:stCondLst>
                                    <p:cond delay="0"/>
                                  </p:stCondLst>
                                  <p:childTnLst>
                                    <p:set>
                                      <p:cBhvr>
                                        <p:cTn id="200" dur="400" fill="hold"/>
                                        <p:tgtEl>
                                          <p:spTgt spid="43"/>
                                        </p:tgtEl>
                                        <p:attrNameLst>
                                          <p:attrName>style.opacity</p:attrName>
                                        </p:attrNameLst>
                                      </p:cBhvr>
                                      <p:to>
                                        <p:strVal val="0.25"/>
                                      </p:to>
                                    </p:set>
                                    <p:animEffect filter="image" prLst="opacity: 0.25">
                                      <p:cBhvr rctx="IE">
                                        <p:cTn id="201" dur="400" fill="hold"/>
                                        <p:tgtEl>
                                          <p:spTgt spid="43"/>
                                        </p:tgtEl>
                                      </p:cBhvr>
                                    </p:animEffect>
                                  </p:childTnLst>
                                </p:cTn>
                              </p:par>
                              <p:par>
                                <p:cTn id="202" presetID="9" presetClass="emph" presetSubtype="0" fill="hold" grpId="0" nodeType="withEffect">
                                  <p:stCondLst>
                                    <p:cond delay="0"/>
                                  </p:stCondLst>
                                  <p:childTnLst>
                                    <p:set>
                                      <p:cBhvr>
                                        <p:cTn id="203" dur="400" fill="hold"/>
                                        <p:tgtEl>
                                          <p:spTgt spid="44"/>
                                        </p:tgtEl>
                                        <p:attrNameLst>
                                          <p:attrName>style.opacity</p:attrName>
                                        </p:attrNameLst>
                                      </p:cBhvr>
                                      <p:to>
                                        <p:strVal val="0.25"/>
                                      </p:to>
                                    </p:set>
                                    <p:animEffect filter="image" prLst="opacity: 0.25">
                                      <p:cBhvr rctx="IE">
                                        <p:cTn id="204" dur="400" fill="hold"/>
                                        <p:tgtEl>
                                          <p:spTgt spid="44"/>
                                        </p:tgtEl>
                                      </p:cBhvr>
                                    </p:animEffect>
                                  </p:childTnLst>
                                </p:cTn>
                              </p:par>
                              <p:par>
                                <p:cTn id="205" presetID="9" presetClass="emph" presetSubtype="0" fill="hold" grpId="0" nodeType="withEffect">
                                  <p:stCondLst>
                                    <p:cond delay="0"/>
                                  </p:stCondLst>
                                  <p:childTnLst>
                                    <p:set>
                                      <p:cBhvr>
                                        <p:cTn id="206" dur="400" fill="hold"/>
                                        <p:tgtEl>
                                          <p:spTgt spid="45"/>
                                        </p:tgtEl>
                                        <p:attrNameLst>
                                          <p:attrName>style.opacity</p:attrName>
                                        </p:attrNameLst>
                                      </p:cBhvr>
                                      <p:to>
                                        <p:strVal val="0.25"/>
                                      </p:to>
                                    </p:set>
                                    <p:animEffect filter="image" prLst="opacity: 0.25">
                                      <p:cBhvr rctx="IE">
                                        <p:cTn id="207" dur="400" fill="hold"/>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Warm-up 1: the orientation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The warm-up flag is on its last line.</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Highlight it, then  submit  and paste.</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+50 bonus. Or skip to Warm-up 2.</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orientation.txt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CTF Orientation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1. Read a mission's instructions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cd ~/mission1   then   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3. Submit the flag</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submit CYBA{word-1a2b3c4d}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Warm-up flag:</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CYBA{warmup-...}</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CYBA{warmup-...}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+50 points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Warm-up 2: speed drills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~/speed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Tab: in  tab/  type  cat dri  then press Tab.</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Up arrow: run  again  5 times in 15 seconds.</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Ctrl+C: run  runaway , then stop it.</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Mouse: select the code, middle-click to paste it.</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148" b="1" dirty="0">
                <a:solidFill>
                  <a:srgbClr val="46D39A"/>
                </a:solidFill>
                <a:latin typeface="Courier New" pitchFamily="34" charset="0"/>
                <a:ea typeface="Courier New" pitchFamily="34" charset="-122"/>
                <a:cs typeface="Courier New" pitchFamily="34" charset="-120"/>
              </a:rPr>
              <a:t>$ </a:t>
            </a:r>
            <a:r>
              <a:rPr lang="en-US" sz="1148" b="1" dirty="0">
                <a:solidFill>
                  <a:srgbClr val="FFFFFF"/>
                </a:solidFill>
                <a:latin typeface="Courier New" pitchFamily="34" charset="0"/>
                <a:ea typeface="Courier New" pitchFamily="34" charset="-122"/>
                <a:cs typeface="Courier New" pitchFamily="34" charset="-120"/>
              </a:rPr>
              <a:t>cat dri&lt;Tab&gt;</a:t>
            </a:r>
            <a:endParaRPr lang="en-US" sz="1400" dirty="0"/>
          </a:p>
          <a:p>
            <a:pPr marL="0" indent="0">
              <a:spcAft>
                <a:spcPts val="200"/>
              </a:spcAft>
              <a:buNone/>
            </a:pPr>
            <a:r>
              <a:rPr lang="en-US" sz="1148" b="1" dirty="0">
                <a:solidFill>
                  <a:srgbClr val="F5A623"/>
                </a:solidFill>
                <a:latin typeface="Courier New" pitchFamily="34" charset="0"/>
                <a:ea typeface="Courier New" pitchFamily="34" charset="-122"/>
                <a:cs typeface="Courier New" pitchFamily="34" charset="-120"/>
              </a:rPr>
              <a:t>Piece 1: 3c9e</a:t>
            </a:r>
            <a:endParaRPr lang="en-US" sz="1400" dirty="0"/>
          </a:p>
          <a:p>
            <a:pPr marL="0" indent="0">
              <a:spcAft>
                <a:spcPts val="200"/>
              </a:spcAft>
              <a:buNone/>
            </a:pPr>
            <a:r>
              <a:rPr lang="en-US" sz="1148" b="1" dirty="0">
                <a:solidFill>
                  <a:srgbClr val="46D39A"/>
                </a:solidFill>
                <a:latin typeface="Courier New" pitchFamily="34" charset="0"/>
                <a:ea typeface="Courier New" pitchFamily="34" charset="-122"/>
                <a:cs typeface="Courier New" pitchFamily="34" charset="-120"/>
              </a:rPr>
              <a:t>$ </a:t>
            </a:r>
            <a:r>
              <a:rPr lang="en-US" sz="1148" b="1" dirty="0">
                <a:solidFill>
                  <a:srgbClr val="FFFFFF"/>
                </a:solidFill>
                <a:latin typeface="Courier New" pitchFamily="34" charset="0"/>
                <a:ea typeface="Courier New" pitchFamily="34" charset="-122"/>
                <a:cs typeface="Courier New" pitchFamily="34" charset="-120"/>
              </a:rPr>
              <a:t>again   # up arrow x4, Enter</a:t>
            </a:r>
            <a:endParaRPr lang="en-US" sz="1400" dirty="0"/>
          </a:p>
          <a:p>
            <a:pPr marL="0" indent="0">
              <a:spcAft>
                <a:spcPts val="200"/>
              </a:spcAft>
              <a:buNone/>
            </a:pPr>
            <a:r>
              <a:rPr lang="en-US" sz="1148" b="1" dirty="0">
                <a:solidFill>
                  <a:srgbClr val="F5A623"/>
                </a:solidFill>
                <a:latin typeface="Courier New" pitchFamily="34" charset="0"/>
                <a:ea typeface="Courier New" pitchFamily="34" charset="-122"/>
                <a:cs typeface="Courier New" pitchFamily="34" charset="-120"/>
              </a:rPr>
              <a:t>Piece 2: b730</a:t>
            </a:r>
            <a:endParaRPr lang="en-US" sz="1400" dirty="0"/>
          </a:p>
          <a:p>
            <a:pPr marL="0" indent="0">
              <a:spcAft>
                <a:spcPts val="200"/>
              </a:spcAft>
              <a:buNone/>
            </a:pPr>
            <a:r>
              <a:rPr lang="en-US" sz="1148" b="1" dirty="0">
                <a:solidFill>
                  <a:srgbClr val="46D39A"/>
                </a:solidFill>
                <a:latin typeface="Courier New" pitchFamily="34" charset="0"/>
                <a:ea typeface="Courier New" pitchFamily="34" charset="-122"/>
                <a:cs typeface="Courier New" pitchFamily="34" charset="-120"/>
              </a:rPr>
              <a:t>$ </a:t>
            </a:r>
            <a:r>
              <a:rPr lang="en-US" sz="1148" b="1" dirty="0">
                <a:solidFill>
                  <a:srgbClr val="FFFFFF"/>
                </a:solidFill>
                <a:latin typeface="Courier New" pitchFamily="34" charset="0"/>
                <a:ea typeface="Courier New" pitchFamily="34" charset="-122"/>
                <a:cs typeface="Courier New" pitchFamily="34" charset="-120"/>
              </a:rPr>
              <a:t>runaway   # then Ctrl+C</a:t>
            </a:r>
            <a:endParaRPr lang="en-US" sz="1400" dirty="0"/>
          </a:p>
          <a:p>
            <a:pPr marL="0" indent="0">
              <a:spcAft>
                <a:spcPts val="200"/>
              </a:spcAft>
              <a:buNone/>
            </a:pPr>
            <a:r>
              <a:rPr lang="en-US" sz="1148" b="1" dirty="0">
                <a:solidFill>
                  <a:srgbClr val="F5A623"/>
                </a:solidFill>
                <a:latin typeface="Courier New" pitchFamily="34" charset="0"/>
                <a:ea typeface="Courier New" pitchFamily="34" charset="-122"/>
                <a:cs typeface="Courier New" pitchFamily="34" charset="-120"/>
              </a:rPr>
              <a:t>Piece 3: d88c</a:t>
            </a:r>
            <a:endParaRPr lang="en-US" sz="1400" dirty="0"/>
          </a:p>
          <a:p>
            <a:pPr marL="0" indent="0">
              <a:spcAft>
                <a:spcPts val="200"/>
              </a:spcAft>
              <a:buNone/>
            </a:pPr>
            <a:r>
              <a:rPr lang="en-US" sz="1148" b="1" dirty="0">
                <a:solidFill>
                  <a:srgbClr val="46D39A"/>
                </a:solidFill>
                <a:latin typeface="Courier New" pitchFamily="34" charset="0"/>
                <a:ea typeface="Courier New" pitchFamily="34" charset="-122"/>
                <a:cs typeface="Courier New" pitchFamily="34" charset="-120"/>
              </a:rPr>
              <a:t>$ </a:t>
            </a:r>
            <a:r>
              <a:rPr lang="en-US" sz="1148" b="1" dirty="0">
                <a:solidFill>
                  <a:srgbClr val="FFFFFF"/>
                </a:solidFill>
                <a:latin typeface="Courier New" pitchFamily="34" charset="0"/>
                <a:ea typeface="Courier New" pitchFamily="34" charset="-122"/>
                <a:cs typeface="Courier New" pitchFamily="34" charset="-120"/>
              </a:rPr>
              <a:t>cat ~/speed/paste/code.txt</a:t>
            </a:r>
            <a:endParaRPr lang="en-US" sz="1400" dirty="0"/>
          </a:p>
          <a:p>
            <a:pPr marL="0" indent="0">
              <a:spcAft>
                <a:spcPts val="200"/>
              </a:spcAft>
              <a:buNone/>
            </a:pPr>
            <a:r>
              <a:rPr lang="en-US" sz="1148" b="1" dirty="0">
                <a:solidFill>
                  <a:srgbClr val="F5A623"/>
                </a:solidFill>
                <a:latin typeface="Courier New" pitchFamily="34" charset="0"/>
                <a:ea typeface="Courier New" pitchFamily="34" charset="-122"/>
                <a:cs typeface="Courier New" pitchFamily="34" charset="-120"/>
              </a:rPr>
              <a:t>CODE: f804f7b7cc59</a:t>
            </a:r>
            <a:endParaRPr lang="en-US" sz="1400" dirty="0"/>
          </a:p>
          <a:p>
            <a:pPr marL="0" indent="0">
              <a:spcAft>
                <a:spcPts val="200"/>
              </a:spcAft>
              <a:buNone/>
            </a:pPr>
            <a:r>
              <a:rPr lang="en-US" sz="1148" b="1" dirty="0">
                <a:solidFill>
                  <a:srgbClr val="46D39A"/>
                </a:solidFill>
                <a:latin typeface="Courier New" pitchFamily="34" charset="0"/>
                <a:ea typeface="Courier New" pitchFamily="34" charset="-122"/>
                <a:cs typeface="Courier New" pitchFamily="34" charset="-120"/>
              </a:rPr>
              <a:t>$ </a:t>
            </a:r>
            <a:r>
              <a:rPr lang="en-US" sz="1148" b="1" dirty="0">
                <a:solidFill>
                  <a:srgbClr val="FFFFFF"/>
                </a:solidFill>
                <a:latin typeface="Courier New" pitchFamily="34" charset="0"/>
                <a:ea typeface="Courier New" pitchFamily="34" charset="-122"/>
                <a:cs typeface="Courier New" pitchFamily="34" charset="-120"/>
              </a:rPr>
              <a:t>pasteit &lt;select + middle-click&gt;</a:t>
            </a:r>
            <a:endParaRPr lang="en-US" sz="1400" dirty="0"/>
          </a:p>
          <a:p>
            <a:pPr marL="0" indent="0">
              <a:spcAft>
                <a:spcPts val="200"/>
              </a:spcAft>
              <a:buNone/>
            </a:pPr>
            <a:r>
              <a:rPr lang="en-US" sz="1148" b="1" dirty="0">
                <a:solidFill>
                  <a:srgbClr val="F5A623"/>
                </a:solidFill>
                <a:latin typeface="Courier New" pitchFamily="34" charset="0"/>
                <a:ea typeface="Courier New" pitchFamily="34" charset="-122"/>
                <a:cs typeface="Courier New" pitchFamily="34" charset="-120"/>
              </a:rPr>
              <a:t>Piece 4: 4a1c</a:t>
            </a:r>
            <a:endParaRPr lang="en-US" sz="1400" dirty="0"/>
          </a:p>
          <a:p>
            <a:pPr marL="0" indent="0">
              <a:spcAft>
                <a:spcPts val="200"/>
              </a:spcAft>
              <a:buNone/>
            </a:pPr>
            <a:r>
              <a:rPr lang="en-US" sz="1148" b="1" dirty="0">
                <a:solidFill>
                  <a:srgbClr val="46D39A"/>
                </a:solidFill>
                <a:latin typeface="Courier New" pitchFamily="34" charset="0"/>
                <a:ea typeface="Courier New" pitchFamily="34" charset="-122"/>
                <a:cs typeface="Courier New" pitchFamily="34" charset="-120"/>
              </a:rPr>
              <a:t>$ </a:t>
            </a:r>
            <a:r>
              <a:rPr lang="en-US" sz="1148" b="1" dirty="0">
                <a:solidFill>
                  <a:srgbClr val="FFFFFF"/>
                </a:solidFill>
                <a:latin typeface="Courier New" pitchFamily="34" charset="0"/>
                <a:ea typeface="Courier New" pitchFamily="34" charset="-122"/>
                <a:cs typeface="Courier New" pitchFamily="34" charset="-120"/>
              </a:rPr>
              <a:t>submit CYBA{speed-...}</a:t>
            </a:r>
            <a:endParaRPr lang="en-US" sz="1400" dirty="0"/>
          </a:p>
          <a:p>
            <a:pPr marL="0" indent="0">
              <a:spcAft>
                <a:spcPts val="200"/>
              </a:spcAft>
              <a:buNone/>
            </a:pPr>
            <a:r>
              <a:rPr lang="en-US" sz="1148" b="1" dirty="0">
                <a:solidFill>
                  <a:srgbClr val="F5A623"/>
                </a:solidFill>
                <a:latin typeface="Courier New" pitchFamily="34" charset="0"/>
                <a:ea typeface="Courier New" pitchFamily="34" charset="-122"/>
                <a:cs typeface="Courier New" pitchFamily="34" charset="-120"/>
              </a:rPr>
              <a:t>Correct! +50 points</a:t>
            </a:r>
            <a:endParaRPr lang="en-US" sz="14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txBody>
          <a:bodyPr/>
          <a:lstStyle/>
          <a:p>
            <a:endParaRPr lang="en-US"/>
          </a:p>
        </p:txBody>
      </p:sp>
      <p:sp>
        <p:nvSpPr>
          <p:cNvPr id="7" name="Text 4"/>
          <p:cNvSpPr txBox="1"/>
          <p:nvPr/>
        </p:nvSpPr>
        <p:spPr>
          <a:xfrm>
            <a:off x="914400"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txBody>
          <a:bodyPr/>
          <a:lstStyle/>
          <a:p>
            <a:endParaRPr lang="en-US"/>
          </a:p>
        </p:txBody>
      </p:sp>
      <p:sp>
        <p:nvSpPr>
          <p:cNvPr id="12" name="Text 9"/>
          <p:cNvSpPr txBox="1"/>
          <p:nvPr/>
        </p:nvSpPr>
        <p:spPr>
          <a:xfrm>
            <a:off x="6556248"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The race. Teams solve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txBody>
          <a:bodyPr/>
          <a:lstStyle/>
          <a:p>
            <a:endParaRPr lang="en-US"/>
          </a:p>
        </p:txBody>
      </p:sp>
      <p:sp>
        <p:nvSpPr>
          <p:cNvPr id="17" name="Text 14"/>
          <p:cNvSpPr txBox="1"/>
          <p:nvPr/>
        </p:nvSpPr>
        <p:spPr>
          <a:xfrm>
            <a:off x="731520" y="4846320"/>
            <a:ext cx="1828800" cy="411480"/>
          </a:xfrm>
          <a:prstGeom prst="rect">
            <a:avLst/>
          </a:prstGeom>
          <a:noFill/>
          <a:ln/>
        </p:spPr>
        <p:txBody>
          <a:bodyPr wrap="square" lIns="0" tIns="0" rIns="0" bIns="0" rtlCol="0" anchor="t"/>
          <a:lstStyle/>
          <a:p>
            <a:pPr marL="0" indent="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txBody>
          <a:bodyPr/>
          <a:lstStyle/>
          <a:p>
            <a:endParaRPr lang="en-US"/>
          </a:p>
        </p:txBody>
      </p:sp>
      <p:sp>
        <p:nvSpPr>
          <p:cNvPr id="20" name="Text 17"/>
          <p:cNvSpPr txBox="1"/>
          <p:nvPr/>
        </p:nvSpPr>
        <p:spPr>
          <a:xfrm>
            <a:off x="2999232" y="4846320"/>
            <a:ext cx="1828800" cy="411480"/>
          </a:xfrm>
          <a:prstGeom prst="rect">
            <a:avLst/>
          </a:prstGeom>
          <a:noFill/>
          <a:ln/>
        </p:spPr>
        <p:txBody>
          <a:bodyPr wrap="square" lIns="0" tIns="0" rIns="0" bIns="0" rtlCol="0" anchor="t"/>
          <a:lstStyle/>
          <a:p>
            <a:pPr marL="0" indent="0">
              <a:buNone/>
            </a:pPr>
            <a:r>
              <a:rPr lang="en-US" sz="1900" b="1" dirty="0">
                <a:solidFill>
                  <a:srgbClr val="2A9FD6"/>
                </a:solidFill>
                <a:latin typeface="Arial" pitchFamily="34" charset="0"/>
                <a:ea typeface="Arial" pitchFamily="34" charset="-122"/>
                <a:cs typeface="Arial" pitchFamily="34" charset="-120"/>
              </a:rPr>
              <a:t>Predict</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txBody>
          <a:bodyPr/>
          <a:lstStyle/>
          <a:p>
            <a:endParaRPr lang="en-US"/>
          </a:p>
        </p:txBody>
      </p:sp>
      <p:sp>
        <p:nvSpPr>
          <p:cNvPr id="23" name="Text 20"/>
          <p:cNvSpPr txBox="1"/>
          <p:nvPr/>
        </p:nvSpPr>
        <p:spPr>
          <a:xfrm>
            <a:off x="5266944" y="4846320"/>
            <a:ext cx="1828800" cy="411480"/>
          </a:xfrm>
          <a:prstGeom prst="rect">
            <a:avLst/>
          </a:prstGeom>
          <a:noFill/>
          <a:ln/>
        </p:spPr>
        <p:txBody>
          <a:bodyPr wrap="square" lIns="0" tIns="0" rIns="0" bIns="0" rtlCol="0" anchor="t"/>
          <a:lstStyle/>
          <a:p>
            <a:pPr marL="0" indent="0">
              <a:buNone/>
            </a:pPr>
            <a:r>
              <a:rPr lang="en-US" sz="1900" b="1" dirty="0">
                <a:solidFill>
                  <a:srgbClr val="2459D8"/>
                </a:solidFill>
                <a:latin typeface="Arial" pitchFamily="34" charset="0"/>
                <a:ea typeface="Arial" pitchFamily="34" charset="-122"/>
                <a:cs typeface="Arial" pitchFamily="34" charset="-120"/>
              </a:rPr>
              <a:t>Type</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command at a time</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txBody>
          <a:bodyPr/>
          <a:lstStyle/>
          <a:p>
            <a:endParaRPr lang="en-US"/>
          </a:p>
        </p:txBody>
      </p:sp>
      <p:sp>
        <p:nvSpPr>
          <p:cNvPr id="26" name="Text 23"/>
          <p:cNvSpPr txBox="1"/>
          <p:nvPr/>
        </p:nvSpPr>
        <p:spPr>
          <a:xfrm>
            <a:off x="7534656" y="4846320"/>
            <a:ext cx="1828800" cy="411480"/>
          </a:xfrm>
          <a:prstGeom prst="rect">
            <a:avLst/>
          </a:prstGeom>
          <a:noFill/>
          <a:ln/>
        </p:spPr>
        <p:txBody>
          <a:bodyPr wrap="square" lIns="0" tIns="0" rIns="0" bIns="0" rtlCol="0" anchor="t"/>
          <a:lstStyle/>
          <a:p>
            <a:pPr marL="0" indent="0">
              <a:buNone/>
            </a:pPr>
            <a:r>
              <a:rPr lang="en-US" sz="1900" b="1" dirty="0">
                <a:solidFill>
                  <a:srgbClr val="7448D4"/>
                </a:solidFill>
                <a:latin typeface="Arial" pitchFamily="34" charset="0"/>
                <a:ea typeface="Arial" pitchFamily="34" charset="-122"/>
                <a:cs typeface="Arial" pitchFamily="34" charset="-120"/>
              </a:rPr>
              <a:t>Capture</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everyone submits</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txBody>
          <a:bodyPr/>
          <a:lstStyle/>
          <a:p>
            <a:endParaRPr lang="en-US"/>
          </a:p>
        </p:txBody>
      </p:sp>
      <p:sp>
        <p:nvSpPr>
          <p:cNvPr id="29" name="Text 26"/>
          <p:cNvSpPr txBox="1"/>
          <p:nvPr/>
        </p:nvSpPr>
        <p:spPr>
          <a:xfrm>
            <a:off x="9802368" y="4846320"/>
            <a:ext cx="1828800" cy="411480"/>
          </a:xfrm>
          <a:prstGeom prst="rect">
            <a:avLst/>
          </a:prstGeom>
          <a:noFill/>
          <a:ln/>
        </p:spPr>
        <p:txBody>
          <a:bodyPr wrap="square" lIns="0" tIns="0" rIns="0" bIns="0" rtlCol="0" anchor="t"/>
          <a:lstStyle/>
          <a:p>
            <a:pPr marL="0" indent="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trail: ten missions,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txBody>
          <a:bodyPr/>
          <a:lstStyle/>
          <a:p>
            <a:endParaRPr lang="en-US"/>
          </a:p>
        </p:txBody>
      </p:sp>
      <p:sp>
        <p:nvSpPr>
          <p:cNvPr id="7" name="Shape 4"/>
          <p:cNvSpPr/>
          <p:nvPr/>
        </p:nvSpPr>
        <p:spPr>
          <a:xfrm>
            <a:off x="548640" y="1463040"/>
            <a:ext cx="2103120" cy="91440"/>
          </a:xfrm>
          <a:prstGeom prst="rect">
            <a:avLst/>
          </a:prstGeom>
          <a:solidFill>
            <a:srgbClr val="17875A"/>
          </a:solidFill>
          <a:ln/>
        </p:spPr>
        <p:txBody>
          <a:bodyPr/>
          <a:lstStyle/>
          <a:p>
            <a:endParaRPr lang="en-US"/>
          </a:p>
        </p:txBody>
      </p:sp>
      <p:sp>
        <p:nvSpPr>
          <p:cNvPr id="8" name="Shape 5"/>
          <p:cNvSpPr/>
          <p:nvPr/>
        </p:nvSpPr>
        <p:spPr>
          <a:xfrm>
            <a:off x="713232" y="1719072"/>
            <a:ext cx="502920" cy="502920"/>
          </a:xfrm>
          <a:prstGeom prst="ellipse">
            <a:avLst/>
          </a:prstGeom>
          <a:solidFill>
            <a:srgbClr val="17875A"/>
          </a:solidFill>
          <a:ln/>
        </p:spPr>
        <p:txBody>
          <a:bodyPr/>
          <a:lstStyle/>
          <a:p>
            <a:endParaRPr lang="en-US"/>
          </a:p>
        </p:txBody>
      </p:sp>
      <p:sp>
        <p:nvSpPr>
          <p:cNvPr id="9" name="Text 6"/>
          <p:cNvSpPr txBox="1"/>
          <p:nvPr/>
        </p:nvSpPr>
        <p:spPr>
          <a:xfrm>
            <a:off x="71323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Make your move</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txBody>
          <a:bodyPr/>
          <a:lstStyle/>
          <a:p>
            <a:endParaRPr lang="en-US"/>
          </a:p>
        </p:txBody>
      </p:sp>
      <p:sp>
        <p:nvSpPr>
          <p:cNvPr id="13" name="Text 10"/>
          <p:cNvSpPr txBox="1"/>
          <p:nvPr/>
        </p:nvSpPr>
        <p:spPr>
          <a:xfrm>
            <a:off x="71323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pwd  ls  cd  cd ..</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txBody>
          <a:bodyPr/>
          <a:lstStyle/>
          <a:p>
            <a:endParaRPr lang="en-US"/>
          </a:p>
        </p:txBody>
      </p:sp>
      <p:sp>
        <p:nvSpPr>
          <p:cNvPr id="16" name="Shape 13"/>
          <p:cNvSpPr/>
          <p:nvPr/>
        </p:nvSpPr>
        <p:spPr>
          <a:xfrm>
            <a:off x="2788920" y="1463040"/>
            <a:ext cx="2103120" cy="91440"/>
          </a:xfrm>
          <a:prstGeom prst="rect">
            <a:avLst/>
          </a:prstGeom>
          <a:solidFill>
            <a:srgbClr val="2A9FD6"/>
          </a:solidFill>
          <a:ln/>
        </p:spPr>
        <p:txBody>
          <a:bodyPr/>
          <a:lstStyle/>
          <a:p>
            <a:endParaRPr lang="en-US"/>
          </a:p>
        </p:txBody>
      </p:sp>
      <p:sp>
        <p:nvSpPr>
          <p:cNvPr id="17" name="Shape 14"/>
          <p:cNvSpPr/>
          <p:nvPr/>
        </p:nvSpPr>
        <p:spPr>
          <a:xfrm>
            <a:off x="2953512" y="1719072"/>
            <a:ext cx="502920" cy="502920"/>
          </a:xfrm>
          <a:prstGeom prst="ellipse">
            <a:avLst/>
          </a:prstGeom>
          <a:solidFill>
            <a:srgbClr val="2A9FD6"/>
          </a:solidFill>
          <a:ln/>
        </p:spPr>
        <p:txBody>
          <a:bodyPr/>
          <a:lstStyle/>
          <a:p>
            <a:endParaRPr lang="en-US"/>
          </a:p>
        </p:txBody>
      </p:sp>
      <p:sp>
        <p:nvSpPr>
          <p:cNvPr id="18" name="Text 15"/>
          <p:cNvSpPr txBox="1"/>
          <p:nvPr/>
        </p:nvSpPr>
        <p:spPr>
          <a:xfrm>
            <a:off x="295351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Let the cat out of the bag</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txBody>
          <a:bodyPr/>
          <a:lstStyle/>
          <a:p>
            <a:endParaRPr lang="en-US"/>
          </a:p>
        </p:txBody>
      </p:sp>
      <p:sp>
        <p:nvSpPr>
          <p:cNvPr id="22" name="Text 19"/>
          <p:cNvSpPr txBox="1"/>
          <p:nvPr/>
        </p:nvSpPr>
        <p:spPr>
          <a:xfrm>
            <a:off x="295351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cat  --help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txBody>
          <a:bodyPr/>
          <a:lstStyle/>
          <a:p>
            <a:endParaRPr lang="en-US"/>
          </a:p>
        </p:txBody>
      </p:sp>
      <p:sp>
        <p:nvSpPr>
          <p:cNvPr id="25" name="Shape 22"/>
          <p:cNvSpPr/>
          <p:nvPr/>
        </p:nvSpPr>
        <p:spPr>
          <a:xfrm>
            <a:off x="5029200" y="1463040"/>
            <a:ext cx="2103120" cy="91440"/>
          </a:xfrm>
          <a:prstGeom prst="rect">
            <a:avLst/>
          </a:prstGeom>
          <a:solidFill>
            <a:srgbClr val="2459D8"/>
          </a:solidFill>
          <a:ln/>
        </p:spPr>
        <p:txBody>
          <a:bodyPr/>
          <a:lstStyle/>
          <a:p>
            <a:endParaRPr lang="en-US"/>
          </a:p>
        </p:txBody>
      </p:sp>
      <p:sp>
        <p:nvSpPr>
          <p:cNvPr id="26" name="Shape 23"/>
          <p:cNvSpPr/>
          <p:nvPr/>
        </p:nvSpPr>
        <p:spPr>
          <a:xfrm>
            <a:off x="5193792" y="1719072"/>
            <a:ext cx="502920" cy="502920"/>
          </a:xfrm>
          <a:prstGeom prst="ellipse">
            <a:avLst/>
          </a:prstGeom>
          <a:solidFill>
            <a:srgbClr val="2459D8"/>
          </a:solidFill>
          <a:ln/>
        </p:spPr>
        <p:txBody>
          <a:bodyPr/>
          <a:lstStyle/>
          <a:p>
            <a:endParaRPr lang="en-US"/>
          </a:p>
        </p:txBody>
      </p:sp>
      <p:sp>
        <p:nvSpPr>
          <p:cNvPr id="27" name="Text 24"/>
          <p:cNvSpPr txBox="1"/>
          <p:nvPr/>
        </p:nvSpPr>
        <p:spPr>
          <a:xfrm>
            <a:off x="519379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Now you see me</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txBody>
          <a:bodyPr/>
          <a:lstStyle/>
          <a:p>
            <a:endParaRPr lang="en-US"/>
          </a:p>
        </p:txBody>
      </p:sp>
      <p:sp>
        <p:nvSpPr>
          <p:cNvPr id="31" name="Text 28"/>
          <p:cNvSpPr txBox="1"/>
          <p:nvPr/>
        </p:nvSpPr>
        <p:spPr>
          <a:xfrm>
            <a:off x="519379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-a</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txBody>
          <a:bodyPr/>
          <a:lstStyle/>
          <a:p>
            <a:endParaRPr lang="en-US"/>
          </a:p>
        </p:txBody>
      </p:sp>
      <p:sp>
        <p:nvSpPr>
          <p:cNvPr id="34" name="Shape 31"/>
          <p:cNvSpPr/>
          <p:nvPr/>
        </p:nvSpPr>
        <p:spPr>
          <a:xfrm>
            <a:off x="7269480" y="1463040"/>
            <a:ext cx="2103120" cy="91440"/>
          </a:xfrm>
          <a:prstGeom prst="rect">
            <a:avLst/>
          </a:prstGeom>
          <a:solidFill>
            <a:srgbClr val="7448D4"/>
          </a:solidFill>
          <a:ln/>
        </p:spPr>
        <p:txBody>
          <a:bodyPr/>
          <a:lstStyle/>
          <a:p>
            <a:endParaRPr lang="en-US"/>
          </a:p>
        </p:txBody>
      </p:sp>
      <p:sp>
        <p:nvSpPr>
          <p:cNvPr id="35" name="Shape 32"/>
          <p:cNvSpPr/>
          <p:nvPr/>
        </p:nvSpPr>
        <p:spPr>
          <a:xfrm>
            <a:off x="7434072" y="1719072"/>
            <a:ext cx="502920" cy="502920"/>
          </a:xfrm>
          <a:prstGeom prst="ellipse">
            <a:avLst/>
          </a:prstGeom>
          <a:solidFill>
            <a:srgbClr val="7448D4"/>
          </a:solidFill>
          <a:ln/>
        </p:spPr>
        <p:txBody>
          <a:bodyPr/>
          <a:lstStyle/>
          <a:p>
            <a:endParaRPr lang="en-US"/>
          </a:p>
        </p:txBody>
      </p:sp>
      <p:sp>
        <p:nvSpPr>
          <p:cNvPr id="36" name="Text 33"/>
          <p:cNvSpPr txBox="1"/>
          <p:nvPr/>
        </p:nvSpPr>
        <p:spPr>
          <a:xfrm>
            <a:off x="743407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Needle in the tree</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txBody>
          <a:bodyPr/>
          <a:lstStyle/>
          <a:p>
            <a:endParaRPr lang="en-US"/>
          </a:p>
        </p:txBody>
      </p:sp>
      <p:sp>
        <p:nvSpPr>
          <p:cNvPr id="40" name="Text 37"/>
          <p:cNvSpPr txBox="1"/>
          <p:nvPr/>
        </p:nvSpPr>
        <p:spPr>
          <a:xfrm>
            <a:off x="743407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-name</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txBody>
          <a:bodyPr/>
          <a:lstStyle/>
          <a:p>
            <a:endParaRPr lang="en-US"/>
          </a:p>
        </p:txBody>
      </p:sp>
      <p:sp>
        <p:nvSpPr>
          <p:cNvPr id="43" name="Shape 40"/>
          <p:cNvSpPr/>
          <p:nvPr/>
        </p:nvSpPr>
        <p:spPr>
          <a:xfrm>
            <a:off x="9509760" y="1463040"/>
            <a:ext cx="2103120" cy="91440"/>
          </a:xfrm>
          <a:prstGeom prst="rect">
            <a:avLst/>
          </a:prstGeom>
          <a:solidFill>
            <a:srgbClr val="D1416B"/>
          </a:solidFill>
          <a:ln/>
        </p:spPr>
        <p:txBody>
          <a:bodyPr/>
          <a:lstStyle/>
          <a:p>
            <a:endParaRPr lang="en-US"/>
          </a:p>
        </p:txBody>
      </p:sp>
      <p:sp>
        <p:nvSpPr>
          <p:cNvPr id="44" name="Shape 41"/>
          <p:cNvSpPr/>
          <p:nvPr/>
        </p:nvSpPr>
        <p:spPr>
          <a:xfrm>
            <a:off x="9674352" y="1719072"/>
            <a:ext cx="502920" cy="502920"/>
          </a:xfrm>
          <a:prstGeom prst="ellipse">
            <a:avLst/>
          </a:prstGeom>
          <a:solidFill>
            <a:srgbClr val="D1416B"/>
          </a:solidFill>
          <a:ln/>
        </p:spPr>
        <p:txBody>
          <a:bodyPr/>
          <a:lstStyle/>
          <a:p>
            <a:endParaRPr lang="en-US"/>
          </a:p>
        </p:txBody>
      </p:sp>
      <p:sp>
        <p:nvSpPr>
          <p:cNvPr id="45" name="Text 42"/>
          <p:cNvSpPr txBox="1"/>
          <p:nvPr/>
        </p:nvSpPr>
        <p:spPr>
          <a:xfrm>
            <a:off x="967435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Search party</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txBody>
          <a:bodyPr/>
          <a:lstStyle/>
          <a:p>
            <a:endParaRPr lang="en-US"/>
          </a:p>
        </p:txBody>
      </p:sp>
      <p:sp>
        <p:nvSpPr>
          <p:cNvPr id="49" name="Text 46"/>
          <p:cNvSpPr txBox="1"/>
          <p:nvPr/>
        </p:nvSpPr>
        <p:spPr>
          <a:xfrm>
            <a:off x="967435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grep</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txBody>
          <a:bodyPr/>
          <a:lstStyle/>
          <a:p>
            <a:endParaRPr lang="en-US"/>
          </a:p>
        </p:txBody>
      </p:sp>
      <p:sp>
        <p:nvSpPr>
          <p:cNvPr id="52" name="Shape 49"/>
          <p:cNvSpPr/>
          <p:nvPr/>
        </p:nvSpPr>
        <p:spPr>
          <a:xfrm>
            <a:off x="548640" y="3703320"/>
            <a:ext cx="2103120" cy="91440"/>
          </a:xfrm>
          <a:prstGeom prst="rect">
            <a:avLst/>
          </a:prstGeom>
          <a:solidFill>
            <a:srgbClr val="E8820C"/>
          </a:solidFill>
          <a:ln/>
        </p:spPr>
        <p:txBody>
          <a:bodyPr/>
          <a:lstStyle/>
          <a:p>
            <a:endParaRPr lang="en-US"/>
          </a:p>
        </p:txBody>
      </p:sp>
      <p:sp>
        <p:nvSpPr>
          <p:cNvPr id="53" name="Shape 50"/>
          <p:cNvSpPr/>
          <p:nvPr/>
        </p:nvSpPr>
        <p:spPr>
          <a:xfrm>
            <a:off x="713232" y="3959352"/>
            <a:ext cx="502920" cy="502920"/>
          </a:xfrm>
          <a:prstGeom prst="ellipse">
            <a:avLst/>
          </a:prstGeom>
          <a:solidFill>
            <a:srgbClr val="E8820C"/>
          </a:solidFill>
          <a:ln/>
        </p:spPr>
        <p:txBody>
          <a:bodyPr/>
          <a:lstStyle/>
          <a:p>
            <a:endParaRPr lang="en-US"/>
          </a:p>
        </p:txBody>
      </p:sp>
      <p:sp>
        <p:nvSpPr>
          <p:cNvPr id="54" name="Text 51"/>
          <p:cNvSpPr txBox="1"/>
          <p:nvPr/>
        </p:nvSpPr>
        <p:spPr>
          <a:xfrm>
            <a:off x="71323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Odd one out</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txBody>
          <a:bodyPr/>
          <a:lstStyle/>
          <a:p>
            <a:endParaRPr lang="en-US"/>
          </a:p>
        </p:txBody>
      </p:sp>
      <p:sp>
        <p:nvSpPr>
          <p:cNvPr id="58" name="Text 55"/>
          <p:cNvSpPr txBox="1"/>
          <p:nvPr/>
        </p:nvSpPr>
        <p:spPr>
          <a:xfrm>
            <a:off x="71323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sort  uniq  |</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txBody>
          <a:bodyPr/>
          <a:lstStyle/>
          <a:p>
            <a:endParaRPr lang="en-US"/>
          </a:p>
        </p:txBody>
      </p:sp>
      <p:sp>
        <p:nvSpPr>
          <p:cNvPr id="61" name="Shape 58"/>
          <p:cNvSpPr/>
          <p:nvPr/>
        </p:nvSpPr>
        <p:spPr>
          <a:xfrm>
            <a:off x="2788920" y="3703320"/>
            <a:ext cx="2103120" cy="91440"/>
          </a:xfrm>
          <a:prstGeom prst="rect">
            <a:avLst/>
          </a:prstGeom>
          <a:solidFill>
            <a:srgbClr val="C9A227"/>
          </a:solidFill>
          <a:ln/>
        </p:spPr>
        <p:txBody>
          <a:bodyPr/>
          <a:lstStyle/>
          <a:p>
            <a:endParaRPr lang="en-US"/>
          </a:p>
        </p:txBody>
      </p:sp>
      <p:sp>
        <p:nvSpPr>
          <p:cNvPr id="62" name="Shape 59"/>
          <p:cNvSpPr/>
          <p:nvPr/>
        </p:nvSpPr>
        <p:spPr>
          <a:xfrm>
            <a:off x="2953512" y="3959352"/>
            <a:ext cx="502920" cy="502920"/>
          </a:xfrm>
          <a:prstGeom prst="ellipse">
            <a:avLst/>
          </a:prstGeom>
          <a:solidFill>
            <a:srgbClr val="C9A227"/>
          </a:solidFill>
          <a:ln/>
        </p:spPr>
        <p:txBody>
          <a:bodyPr/>
          <a:lstStyle/>
          <a:p>
            <a:endParaRPr lang="en-US"/>
          </a:p>
        </p:txBody>
      </p:sp>
      <p:sp>
        <p:nvSpPr>
          <p:cNvPr id="63" name="Text 60"/>
          <p:cNvSpPr txBox="1"/>
          <p:nvPr/>
        </p:nvSpPr>
        <p:spPr>
          <a:xfrm>
            <a:off x="295351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Permission denied</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txBody>
          <a:bodyPr/>
          <a:lstStyle/>
          <a:p>
            <a:endParaRPr lang="en-US"/>
          </a:p>
        </p:txBody>
      </p:sp>
      <p:sp>
        <p:nvSpPr>
          <p:cNvPr id="67" name="Text 64"/>
          <p:cNvSpPr txBox="1"/>
          <p:nvPr/>
        </p:nvSpPr>
        <p:spPr>
          <a:xfrm>
            <a:off x="295351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-l  chmod +x</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txBody>
          <a:bodyPr/>
          <a:lstStyle/>
          <a:p>
            <a:endParaRPr lang="en-US"/>
          </a:p>
        </p:txBody>
      </p:sp>
      <p:sp>
        <p:nvSpPr>
          <p:cNvPr id="70" name="Shape 67"/>
          <p:cNvSpPr/>
          <p:nvPr/>
        </p:nvSpPr>
        <p:spPr>
          <a:xfrm>
            <a:off x="5029200" y="3703320"/>
            <a:ext cx="2103120" cy="91440"/>
          </a:xfrm>
          <a:prstGeom prst="rect">
            <a:avLst/>
          </a:prstGeom>
          <a:solidFill>
            <a:srgbClr val="0F9488"/>
          </a:solidFill>
          <a:ln/>
        </p:spPr>
        <p:txBody>
          <a:bodyPr/>
          <a:lstStyle/>
          <a:p>
            <a:endParaRPr lang="en-US"/>
          </a:p>
        </p:txBody>
      </p:sp>
      <p:sp>
        <p:nvSpPr>
          <p:cNvPr id="71" name="Shape 68"/>
          <p:cNvSpPr/>
          <p:nvPr/>
        </p:nvSpPr>
        <p:spPr>
          <a:xfrm>
            <a:off x="5193792" y="3959352"/>
            <a:ext cx="502920" cy="502920"/>
          </a:xfrm>
          <a:prstGeom prst="ellipse">
            <a:avLst/>
          </a:prstGeom>
          <a:solidFill>
            <a:srgbClr val="0F9488"/>
          </a:solidFill>
          <a:ln/>
        </p:spPr>
        <p:txBody>
          <a:bodyPr/>
          <a:lstStyle/>
          <a:p>
            <a:endParaRPr lang="en-US"/>
          </a:p>
        </p:txBody>
      </p:sp>
      <p:sp>
        <p:nvSpPr>
          <p:cNvPr id="72" name="Text 69"/>
          <p:cNvSpPr txBox="1"/>
          <p:nvPr/>
        </p:nvSpPr>
        <p:spPr>
          <a:xfrm>
            <a:off x="519379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Decoder ring</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txBody>
          <a:bodyPr/>
          <a:lstStyle/>
          <a:p>
            <a:endParaRPr lang="en-US"/>
          </a:p>
        </p:txBody>
      </p:sp>
      <p:sp>
        <p:nvSpPr>
          <p:cNvPr id="76" name="Text 73"/>
          <p:cNvSpPr txBox="1"/>
          <p:nvPr/>
        </p:nvSpPr>
        <p:spPr>
          <a:xfrm>
            <a:off x="519379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txBody>
          <a:bodyPr/>
          <a:lstStyle/>
          <a:p>
            <a:endParaRPr lang="en-US"/>
          </a:p>
        </p:txBody>
      </p:sp>
      <p:sp>
        <p:nvSpPr>
          <p:cNvPr id="79" name="Shape 76"/>
          <p:cNvSpPr/>
          <p:nvPr/>
        </p:nvSpPr>
        <p:spPr>
          <a:xfrm>
            <a:off x="7269480" y="3703320"/>
            <a:ext cx="2103120" cy="91440"/>
          </a:xfrm>
          <a:prstGeom prst="rect">
            <a:avLst/>
          </a:prstGeom>
          <a:solidFill>
            <a:srgbClr val="5B6EE1"/>
          </a:solidFill>
          <a:ln/>
        </p:spPr>
        <p:txBody>
          <a:bodyPr/>
          <a:lstStyle/>
          <a:p>
            <a:endParaRPr lang="en-US"/>
          </a:p>
        </p:txBody>
      </p:sp>
      <p:sp>
        <p:nvSpPr>
          <p:cNvPr id="80" name="Shape 77"/>
          <p:cNvSpPr/>
          <p:nvPr/>
        </p:nvSpPr>
        <p:spPr>
          <a:xfrm>
            <a:off x="7434072" y="3959352"/>
            <a:ext cx="502920" cy="502920"/>
          </a:xfrm>
          <a:prstGeom prst="ellipse">
            <a:avLst/>
          </a:prstGeom>
          <a:solidFill>
            <a:srgbClr val="5B6EE1"/>
          </a:solidFill>
          <a:ln/>
        </p:spPr>
        <p:txBody>
          <a:bodyPr/>
          <a:lstStyle/>
          <a:p>
            <a:endParaRPr lang="en-US"/>
          </a:p>
        </p:txBody>
      </p:sp>
      <p:sp>
        <p:nvSpPr>
          <p:cNvPr id="81" name="Text 78"/>
          <p:cNvSpPr txBox="1"/>
          <p:nvPr/>
        </p:nvSpPr>
        <p:spPr>
          <a:xfrm>
            <a:off x="743407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Layer cake</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txBody>
          <a:bodyPr/>
          <a:lstStyle/>
          <a:p>
            <a:endParaRPr lang="en-US"/>
          </a:p>
        </p:txBody>
      </p:sp>
      <p:sp>
        <p:nvSpPr>
          <p:cNvPr id="85" name="Text 82"/>
          <p:cNvSpPr txBox="1"/>
          <p:nvPr/>
        </p:nvSpPr>
        <p:spPr>
          <a:xfrm>
            <a:off x="743407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 | base64 -d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txBody>
          <a:bodyPr/>
          <a:lstStyle/>
          <a:p>
            <a:endParaRPr lang="en-US"/>
          </a:p>
        </p:txBody>
      </p:sp>
      <p:sp>
        <p:nvSpPr>
          <p:cNvPr id="88" name="Shape 85"/>
          <p:cNvSpPr/>
          <p:nvPr/>
        </p:nvSpPr>
        <p:spPr>
          <a:xfrm>
            <a:off x="9509760" y="3703320"/>
            <a:ext cx="2103120" cy="91440"/>
          </a:xfrm>
          <a:prstGeom prst="rect">
            <a:avLst/>
          </a:prstGeom>
          <a:solidFill>
            <a:srgbClr val="B4233F"/>
          </a:solidFill>
          <a:ln/>
        </p:spPr>
        <p:txBody>
          <a:bodyPr/>
          <a:lstStyle/>
          <a:p>
            <a:endParaRPr lang="en-US"/>
          </a:p>
        </p:txBody>
      </p:sp>
      <p:sp>
        <p:nvSpPr>
          <p:cNvPr id="89" name="Shape 86"/>
          <p:cNvSpPr/>
          <p:nvPr/>
        </p:nvSpPr>
        <p:spPr>
          <a:xfrm>
            <a:off x="9674352" y="3959352"/>
            <a:ext cx="502920" cy="502920"/>
          </a:xfrm>
          <a:prstGeom prst="ellipse">
            <a:avLst/>
          </a:prstGeom>
          <a:solidFill>
            <a:srgbClr val="B4233F"/>
          </a:solidFill>
          <a:ln/>
        </p:spPr>
        <p:txBody>
          <a:bodyPr/>
          <a:lstStyle/>
          <a:p>
            <a:endParaRPr lang="en-US"/>
          </a:p>
        </p:txBody>
      </p:sp>
      <p:sp>
        <p:nvSpPr>
          <p:cNvPr id="90" name="Text 87"/>
          <p:cNvSpPr txBox="1"/>
          <p:nvPr/>
        </p:nvSpPr>
        <p:spPr>
          <a:xfrm>
            <a:off x="967435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Endgame</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txBody>
          <a:bodyPr/>
          <a:lstStyle/>
          <a:p>
            <a:endParaRPr lang="en-US"/>
          </a:p>
        </p:txBody>
      </p:sp>
      <p:sp>
        <p:nvSpPr>
          <p:cNvPr id="94" name="Text 91"/>
          <p:cNvSpPr txBox="1"/>
          <p:nvPr/>
        </p:nvSpPr>
        <p:spPr>
          <a:xfrm>
            <a:off x="9674352" y="5093208"/>
            <a:ext cx="1783080" cy="347472"/>
          </a:xfrm>
          <a:prstGeom prst="rect">
            <a:avLst/>
          </a:prstGeom>
          <a:noFill/>
          <a:ln/>
        </p:spPr>
        <p:txBody>
          <a:bodyPr wrap="square" lIns="0" tIns="0" rIns="0" bIns="0" rtlCol="0" anchor="ctr"/>
          <a:lstStyle/>
          <a:p>
            <a:pPr marL="0" indent="0" algn="ctr">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grep  cut  base64  chmod</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Plus two warm-ups (orientation, speed drills): optional, untimed, +50 bonus each.</a:t>
            </a:r>
            <a:endParaRPr lang="en-US" sz="13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10" name="Text 7"/>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Make your move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 flag waits at the end of a trail of folders. Nothing needs opening: the file names are signposts. Read them with ls, follow them with cd.</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~/mission1/town</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pwd  ls  cd  cd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command shows where you are right now?</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 sign says 'dead end, go back up'. What do we type?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which names are folders and which are signs?</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Make your move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~/mission1/town</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library  market  park  sign--go-into-the-library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dead-end--go-back-up-and-try-the-park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gazebo  go-into-the-gazebo-then-the-crate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gazebo/crate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CYBA{moves-...}  you-made-it--the-flag-is-the-file-name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CYBA{moves-...}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+100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read the signposts: the names of the files in each folder.</a:t>
            </a:r>
            <a:endParaRPr lang="en-US" sz="1400" dirty="0"/>
          </a:p>
        </p:txBody>
      </p:sp>
      <p:sp>
        <p:nvSpPr>
          <p:cNvPr id="40" name="Shape 37"/>
          <p:cNvSpPr/>
          <p:nvPr/>
        </p:nvSpPr>
        <p:spPr>
          <a:xfrm>
            <a:off x="7543800" y="2980944"/>
            <a:ext cx="457200" cy="457200"/>
          </a:xfrm>
          <a:prstGeom prst="ellipse">
            <a:avLst/>
          </a:prstGeom>
          <a:solidFill>
            <a:srgbClr val="17875A"/>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cd followed them, and cd .. backed out of the dead end.</a:t>
            </a:r>
            <a:endParaRPr lang="en-US" sz="1400" dirty="0"/>
          </a:p>
        </p:txBody>
      </p:sp>
      <p:sp>
        <p:nvSpPr>
          <p:cNvPr id="43" name="Shape 40"/>
          <p:cNvSpPr/>
          <p:nvPr/>
        </p:nvSpPr>
        <p:spPr>
          <a:xfrm>
            <a:off x="7543800" y="3767328"/>
            <a:ext cx="457200" cy="457200"/>
          </a:xfrm>
          <a:prstGeom prst="ellipse">
            <a:avLst/>
          </a:prstGeom>
          <a:solidFill>
            <a:srgbClr val="17875A"/>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last folder's file is named after the flag. No cat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land on unfamiliar servers and have to find their way around by typing.</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17875A"/>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From the crate folder, how many  cd ..  get you back to ~/mission1? Check with pwd.</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6">
            <a:extLst>
              <a:ext uri="{FF2B5EF4-FFF2-40B4-BE49-F238E27FC236}">
                <a16:creationId xmlns:a16="http://schemas.microsoft.com/office/drawing/2014/main" id="{145B524F-32A2-AFF3-CE26-8CD326969B62}"/>
              </a:ext>
            </a:extLst>
          </p:cNvPr>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53" name="Text 7">
            <a:extLst>
              <a:ext uri="{FF2B5EF4-FFF2-40B4-BE49-F238E27FC236}">
                <a16:creationId xmlns:a16="http://schemas.microsoft.com/office/drawing/2014/main" id="{35740F8C-B5A9-4603-EC45-435021C2DD25}"/>
              </a:ext>
            </a:extLst>
          </p:cNvPr>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5" name="Shape 8">
            <a:extLst>
              <a:ext uri="{FF2B5EF4-FFF2-40B4-BE49-F238E27FC236}">
                <a16:creationId xmlns:a16="http://schemas.microsoft.com/office/drawing/2014/main" id="{A034B787-E144-6EC5-121A-8A46260E81F4}"/>
              </a:ext>
            </a:extLst>
          </p:cNvPr>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57" name="Text 9">
            <a:extLst>
              <a:ext uri="{FF2B5EF4-FFF2-40B4-BE49-F238E27FC236}">
                <a16:creationId xmlns:a16="http://schemas.microsoft.com/office/drawing/2014/main" id="{E224A2B6-CE66-5C09-156A-73DF32B885A2}"/>
              </a:ext>
            </a:extLst>
          </p:cNvPr>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12" name="Text 9"/>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Let the cat out of the bag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bag.txt has 100 lines and every one looks like a flag. README.txt names the one real line. Counting by hand is how mistakes happen: make cat number the lines.</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~/mission2</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cat  --help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read README.txt?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could we find out what options cat has?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the lines are numbered, how do we find ours fast?</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Let the cat out of the bag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README.txt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The cat is hiding in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Every line in the bag looks like a flag,</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but only line 63 is real.</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--help</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Usage: cat [-nbvteA] [FILE]...</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-n      Number output lines</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62  meow CYBA{cat-1f0c2a9e}</a:t>
            </a:r>
            <a:endParaRPr lang="en-US" sz="1250" dirty="0"/>
          </a:p>
          <a:p>
            <a:pPr marL="0" indent="0">
              <a:spcAft>
                <a:spcPts val="200"/>
              </a:spcAft>
              <a:buNone/>
            </a:pPr>
            <a:r>
              <a:rPr lang="en-US" sz="1250" b="1" dirty="0">
                <a:solidFill>
                  <a:srgbClr val="F5A623"/>
                </a:solidFill>
                <a:latin typeface="Courier New" pitchFamily="34" charset="0"/>
                <a:ea typeface="Courier New" pitchFamily="34" charset="-122"/>
                <a:cs typeface="Courier New" pitchFamily="34" charset="-120"/>
              </a:rPr>
              <a:t>    63  meow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64  meow CYBA{cat-77b3d4c1}</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submit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+100 points</a:t>
            </a:r>
            <a:endParaRPr lang="en-US" sz="12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printed README.txt, which named the real line.</a:t>
            </a:r>
            <a:endParaRPr lang="en-US" sz="1400" dirty="0"/>
          </a:p>
        </p:txBody>
      </p:sp>
      <p:sp>
        <p:nvSpPr>
          <p:cNvPr id="40" name="Shape 37"/>
          <p:cNvSpPr/>
          <p:nvPr/>
        </p:nvSpPr>
        <p:spPr>
          <a:xfrm>
            <a:off x="7543800" y="2980944"/>
            <a:ext cx="457200" cy="457200"/>
          </a:xfrm>
          <a:prstGeom prst="ellipse">
            <a:avLst/>
          </a:prstGeom>
          <a:solidFill>
            <a:srgbClr val="2A9FD6"/>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--help listed its options; -n numbers the lines.</a:t>
            </a:r>
            <a:endParaRPr lang="en-US" sz="1400" dirty="0"/>
          </a:p>
        </p:txBody>
      </p:sp>
      <p:sp>
        <p:nvSpPr>
          <p:cNvPr id="43" name="Shape 40"/>
          <p:cNvSpPr/>
          <p:nvPr/>
        </p:nvSpPr>
        <p:spPr>
          <a:xfrm>
            <a:off x="7543800" y="3767328"/>
            <a:ext cx="457200" cy="457200"/>
          </a:xfrm>
          <a:prstGeom prst="ellipse">
            <a:avLst/>
          </a:prstGeom>
          <a:solidFill>
            <a:srgbClr val="2A9FD6"/>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-n bag.txt put a number on every line, so line 63 was easy to spot.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Engineers learn new tools every week. Reading --help is how they do it.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A9FD6"/>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cat --help  again. What does -b do differently from -n?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8">
            <a:extLst>
              <a:ext uri="{FF2B5EF4-FFF2-40B4-BE49-F238E27FC236}">
                <a16:creationId xmlns:a16="http://schemas.microsoft.com/office/drawing/2014/main" id="{A636CFBD-866B-7426-F068-759FED06865F}"/>
              </a:ext>
            </a:extLst>
          </p:cNvPr>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53" name="Text 9">
            <a:extLst>
              <a:ext uri="{FF2B5EF4-FFF2-40B4-BE49-F238E27FC236}">
                <a16:creationId xmlns:a16="http://schemas.microsoft.com/office/drawing/2014/main" id="{88A30673-B897-50D2-C772-CF31194745C8}"/>
              </a:ext>
            </a:extLst>
          </p:cNvPr>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55" name="Shape 10">
            <a:extLst>
              <a:ext uri="{FF2B5EF4-FFF2-40B4-BE49-F238E27FC236}">
                <a16:creationId xmlns:a16="http://schemas.microsoft.com/office/drawing/2014/main" id="{AAEAC1B7-64CA-DB63-7223-C52DBFC58F21}"/>
              </a:ext>
            </a:extLst>
          </p:cNvPr>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57" name="Text 11">
            <a:extLst>
              <a:ext uri="{FF2B5EF4-FFF2-40B4-BE49-F238E27FC236}">
                <a16:creationId xmlns:a16="http://schemas.microsoft.com/office/drawing/2014/main" id="{53765B69-8714-D581-DC42-DA4801B4BA38}"/>
              </a:ext>
            </a:extLst>
          </p:cNvPr>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14" name="Text 11"/>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Now you see 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There is a flag in this folder, but plain ls will not show it. Files whose names start with a dot are hidden. One hidden file is a decoy.</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~/mission3</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-a</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did we learn about names that start with a dot?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ls option shows them?</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tell the real file from the decoy?</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Now you see 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~/mission3</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  .old-n0mp  .stash  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.old-n0mp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Close, but this hidden file is a decoy.</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.stash</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You found the hidden file.</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CYBA{hidden-...}</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CYBA{hidden-...}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+100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Plain ls skipped every name that starts with a dot.</a:t>
            </a:r>
            <a:endParaRPr lang="en-US" sz="1400" dirty="0"/>
          </a:p>
        </p:txBody>
      </p:sp>
      <p:sp>
        <p:nvSpPr>
          <p:cNvPr id="40" name="Shape 37"/>
          <p:cNvSpPr/>
          <p:nvPr/>
        </p:nvSpPr>
        <p:spPr>
          <a:xfrm>
            <a:off x="7543800" y="2980944"/>
            <a:ext cx="457200" cy="457200"/>
          </a:xfrm>
          <a:prstGeom prst="ellipse">
            <a:avLst/>
          </a:prstGeom>
          <a:solidFill>
            <a:srgbClr val="2459D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-a showed them all, decoy included.</a:t>
            </a:r>
            <a:endParaRPr lang="en-US" sz="1400" dirty="0"/>
          </a:p>
        </p:txBody>
      </p:sp>
      <p:sp>
        <p:nvSpPr>
          <p:cNvPr id="43" name="Shape 40"/>
          <p:cNvSpPr/>
          <p:nvPr/>
        </p:nvSpPr>
        <p:spPr>
          <a:xfrm>
            <a:off x="7543800" y="3767328"/>
            <a:ext cx="457200" cy="457200"/>
          </a:xfrm>
          <a:prstGeom prst="ellipse">
            <a:avLst/>
          </a:prstGeom>
          <a:solidFill>
            <a:srgbClr val="2459D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each one until the real flag appeared.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On a suspicious machine, ls -a is one of the first commands an investigator runs.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459D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-a ~  . Which hidden file lives in your home folder?</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0">
            <a:extLst>
              <a:ext uri="{FF2B5EF4-FFF2-40B4-BE49-F238E27FC236}">
                <a16:creationId xmlns:a16="http://schemas.microsoft.com/office/drawing/2014/main" id="{BB20D67E-3E9C-DEDE-2ED0-43FE24B744C8}"/>
              </a:ext>
            </a:extLst>
          </p:cNvPr>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53" name="Text 11">
            <a:extLst>
              <a:ext uri="{FF2B5EF4-FFF2-40B4-BE49-F238E27FC236}">
                <a16:creationId xmlns:a16="http://schemas.microsoft.com/office/drawing/2014/main" id="{BF05A3AD-683E-FBBE-8664-7D4904FC04E8}"/>
              </a:ext>
            </a:extLst>
          </p:cNvPr>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55" name="Shape 12">
            <a:extLst>
              <a:ext uri="{FF2B5EF4-FFF2-40B4-BE49-F238E27FC236}">
                <a16:creationId xmlns:a16="http://schemas.microsoft.com/office/drawing/2014/main" id="{BAA70BAD-DE3E-1074-2365-2CDE859DA850}"/>
              </a:ext>
            </a:extLst>
          </p:cNvPr>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57" name="Text 13">
            <a:extLst>
              <a:ext uri="{FF2B5EF4-FFF2-40B4-BE49-F238E27FC236}">
                <a16:creationId xmlns:a16="http://schemas.microsoft.com/office/drawing/2014/main" id="{4B6EF097-AC1D-9E95-C299-A25AF4848DB0}"/>
              </a:ext>
            </a:extLst>
          </p:cNvPr>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16" name="Text 13"/>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Needle in the tree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archive folder holds about 80 files in 20 folders. One file has the ending named in README.txt, and it holds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-name</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Opening 20 folders by hand would take ages. Which tool searches for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star in  "*.gem"  mean?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find prints a path, how do we read that file?</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Needle in the tree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~/mission4</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Somewhere in archive/ is ONE file ending in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It holds the flag.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find archive -name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archive/charlie/bin-x7q2/k3d9fa.gem</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archive/charlie/bin-x7q2/k3d9fa.gem</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CYBA{finder-...}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CYBA{finder-...}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+200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README.txt turned 'some file' into a pattern: any name ending in .gem.</a:t>
            </a:r>
            <a:endParaRPr lang="en-US" sz="1400" dirty="0"/>
          </a:p>
        </p:txBody>
      </p:sp>
      <p:sp>
        <p:nvSpPr>
          <p:cNvPr id="40" name="Shape 37"/>
          <p:cNvSpPr/>
          <p:nvPr/>
        </p:nvSpPr>
        <p:spPr>
          <a:xfrm>
            <a:off x="7543800" y="2980944"/>
            <a:ext cx="457200" cy="457200"/>
          </a:xfrm>
          <a:prstGeom prst="ellipse">
            <a:avLst/>
          </a:prstGeom>
          <a:solidFill>
            <a:srgbClr val="7448D4"/>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searched every folder below archive in one go.</a:t>
            </a:r>
            <a:endParaRPr lang="en-US" sz="1400" dirty="0"/>
          </a:p>
        </p:txBody>
      </p:sp>
      <p:sp>
        <p:nvSpPr>
          <p:cNvPr id="43" name="Shape 40"/>
          <p:cNvSpPr/>
          <p:nvPr/>
        </p:nvSpPr>
        <p:spPr>
          <a:xfrm>
            <a:off x="7543800" y="3767328"/>
            <a:ext cx="457200" cy="457200"/>
          </a:xfrm>
          <a:prstGeom prst="ellipse">
            <a:avLst/>
          </a:prstGeom>
          <a:solidFill>
            <a:srgbClr val="7448D4"/>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the file at the exact path find printed.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search whole servers for key and password files that should not be there.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7448D4"/>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Type the cat command again, but press Tab after each few letters of the path.</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2">
            <a:extLst>
              <a:ext uri="{FF2B5EF4-FFF2-40B4-BE49-F238E27FC236}">
                <a16:creationId xmlns:a16="http://schemas.microsoft.com/office/drawing/2014/main" id="{491E0673-B5CD-660B-6AA7-0667A13D3972}"/>
              </a:ext>
            </a:extLst>
          </p:cNvPr>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53" name="Text 13">
            <a:extLst>
              <a:ext uri="{FF2B5EF4-FFF2-40B4-BE49-F238E27FC236}">
                <a16:creationId xmlns:a16="http://schemas.microsoft.com/office/drawing/2014/main" id="{34BF36EA-DF03-F57D-6DEA-C5317CBFCB6D}"/>
              </a:ext>
            </a:extLst>
          </p:cNvPr>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5" name="Shape 14">
            <a:extLst>
              <a:ext uri="{FF2B5EF4-FFF2-40B4-BE49-F238E27FC236}">
                <a16:creationId xmlns:a16="http://schemas.microsoft.com/office/drawing/2014/main" id="{64454EDB-EFDF-504D-82F5-8E777651399B}"/>
              </a:ext>
            </a:extLst>
          </p:cNvPr>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57" name="Text 15">
            <a:extLst>
              <a:ext uri="{FF2B5EF4-FFF2-40B4-BE49-F238E27FC236}">
                <a16:creationId xmlns:a16="http://schemas.microsoft.com/office/drawing/2014/main" id="{2535BBA1-BD60-AB2F-9579-29E5AF16D0F7}"/>
              </a:ext>
            </a:extLst>
          </p:cNvPr>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50</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18" name="Text 15"/>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Search party</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An intruder logged in once. Their line is buried in access.log, which has 12,000 lines. The token on that line is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~/mission5</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grep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happens if we just cat a 12,000-line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find searches file names. What searches inside a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word should we search for?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51</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Search party</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~/mission5</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An intruder logged in ONCE as:  red_panda</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12000 access.log</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-2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08:00:00 user=erin action=LOGOUT token=1cca26ec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08:00:01 user=ivan action=LOGIN_FAIL token=5bb550e1</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grep red_panda access.log</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10:47:13 user=red_panda action=LOGIN_OK token=CYBA{grep-...}</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CYBA{grep-...}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wc -l proved the log is far too long to read.</a:t>
            </a:r>
            <a:endParaRPr lang="en-US" sz="1400" dirty="0"/>
          </a:p>
        </p:txBody>
      </p:sp>
      <p:sp>
        <p:nvSpPr>
          <p:cNvPr id="40" name="Shape 37"/>
          <p:cNvSpPr/>
          <p:nvPr/>
        </p:nvSpPr>
        <p:spPr>
          <a:xfrm>
            <a:off x="7543800" y="2980944"/>
            <a:ext cx="457200" cy="457200"/>
          </a:xfrm>
          <a:prstGeom prst="ellipse">
            <a:avLst/>
          </a:prstGeom>
          <a:solidFill>
            <a:srgbClr val="D1416B"/>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head showed the shape of one line: time, user, action, token.</a:t>
            </a:r>
            <a:endParaRPr lang="en-US" sz="1400" dirty="0"/>
          </a:p>
        </p:txBody>
      </p:sp>
      <p:sp>
        <p:nvSpPr>
          <p:cNvPr id="43" name="Shape 40"/>
          <p:cNvSpPr/>
          <p:nvPr/>
        </p:nvSpPr>
        <p:spPr>
          <a:xfrm>
            <a:off x="7543800" y="3767328"/>
            <a:ext cx="457200" cy="457200"/>
          </a:xfrm>
          <a:prstGeom prst="ellipse">
            <a:avLst/>
          </a:prstGeom>
          <a:solidFill>
            <a:srgbClr val="D1416B"/>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kept only the intruder's line. The token is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Security analysts search millions of log lines for one name or address every day.</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D1416B"/>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grep -c LOGIN_OK access.log  . What does -c change?</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4">
            <a:extLst>
              <a:ext uri="{FF2B5EF4-FFF2-40B4-BE49-F238E27FC236}">
                <a16:creationId xmlns:a16="http://schemas.microsoft.com/office/drawing/2014/main" id="{816CB778-A535-FFF4-AF95-B35ED1B41FDF}"/>
              </a:ext>
            </a:extLst>
          </p:cNvPr>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53" name="Text 15">
            <a:extLst>
              <a:ext uri="{FF2B5EF4-FFF2-40B4-BE49-F238E27FC236}">
                <a16:creationId xmlns:a16="http://schemas.microsoft.com/office/drawing/2014/main" id="{B673CC4C-B115-956C-CDB9-223D623AC0B1}"/>
              </a:ext>
            </a:extLst>
          </p:cNvPr>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5" name="Shape 16">
            <a:extLst>
              <a:ext uri="{FF2B5EF4-FFF2-40B4-BE49-F238E27FC236}">
                <a16:creationId xmlns:a16="http://schemas.microsoft.com/office/drawing/2014/main" id="{9300BBBD-F22D-C7F4-F1C1-85F037745DD2}"/>
              </a:ext>
            </a:extLst>
          </p:cNvPr>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57" name="Text 17">
            <a:extLst>
              <a:ext uri="{FF2B5EF4-FFF2-40B4-BE49-F238E27FC236}">
                <a16:creationId xmlns:a16="http://schemas.microsoft.com/office/drawing/2014/main" id="{D47DE1AC-6CAD-3658-9799-B1DEE5ED6467}"/>
              </a:ext>
            </a:extLst>
          </p:cNvPr>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20" name="Text 17"/>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Odd one out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codes.txt holds about 900 flags. Every fake one appears at least twice; the real one appears exactly once. Sort the lines so twins sit together, then keep the loner.</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~/mission6</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sort  uniq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Why would sorting help us spot duplicates?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 symbol do with two commands?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uniq option keeps only the lines with no twin?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Odd one out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-3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CYBA{odd-b27d44a0}</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906 codes.txt</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uniq --help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        -u      Only print unique lines</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sort codes.txt | uniq -u</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CYBA{odd-...}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CYBA{odd-...}</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sort put identical lines next to each other.</a:t>
            </a:r>
            <a:endParaRPr lang="en-US" sz="1400" dirty="0"/>
          </a:p>
        </p:txBody>
      </p:sp>
      <p:sp>
        <p:nvSpPr>
          <p:cNvPr id="40" name="Shape 37"/>
          <p:cNvSpPr/>
          <p:nvPr/>
        </p:nvSpPr>
        <p:spPr>
          <a:xfrm>
            <a:off x="7543800" y="2980944"/>
            <a:ext cx="457200" cy="457200"/>
          </a:xfrm>
          <a:prstGeom prst="ellipse">
            <a:avLst/>
          </a:prstGeom>
          <a:solidFill>
            <a:srgbClr val="E8820C"/>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uniq -u kept only the lines that appear exactly once.</a:t>
            </a:r>
            <a:endParaRPr lang="en-US" sz="1400" dirty="0"/>
          </a:p>
        </p:txBody>
      </p:sp>
      <p:sp>
        <p:nvSpPr>
          <p:cNvPr id="43" name="Shape 40"/>
          <p:cNvSpPr/>
          <p:nvPr/>
        </p:nvSpPr>
        <p:spPr>
          <a:xfrm>
            <a:off x="7543800" y="3767328"/>
            <a:ext cx="457200" cy="457200"/>
          </a:xfrm>
          <a:prstGeom prst="ellipse">
            <a:avLst/>
          </a:prstGeom>
          <a:solidFill>
            <a:srgbClr val="E8820C"/>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pipe fed sort's output straight into uniq: no extra file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Analysts run sort | uniq -c on logs every day to find the one odd event among millions.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E8820C"/>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sort codes.txt | uniq -c | sort -n | head -3  . What does the first column mean?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6">
            <a:extLst>
              <a:ext uri="{FF2B5EF4-FFF2-40B4-BE49-F238E27FC236}">
                <a16:creationId xmlns:a16="http://schemas.microsoft.com/office/drawing/2014/main" id="{75CDB8DF-57BC-F2D6-C3EB-27DAEE9588CF}"/>
              </a:ext>
            </a:extLst>
          </p:cNvPr>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53" name="Text 17">
            <a:extLst>
              <a:ext uri="{FF2B5EF4-FFF2-40B4-BE49-F238E27FC236}">
                <a16:creationId xmlns:a16="http://schemas.microsoft.com/office/drawing/2014/main" id="{04A73B66-C5C8-4185-F939-37297CD2A4D2}"/>
              </a:ext>
            </a:extLst>
          </p:cNvPr>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5" name="Shape 18">
            <a:extLst>
              <a:ext uri="{FF2B5EF4-FFF2-40B4-BE49-F238E27FC236}">
                <a16:creationId xmlns:a16="http://schemas.microsoft.com/office/drawing/2014/main" id="{5A9BAE34-F58C-F877-B17B-5D9AAE6925C7}"/>
              </a:ext>
            </a:extLst>
          </p:cNvPr>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57" name="Text 19">
            <a:extLst>
              <a:ext uri="{FF2B5EF4-FFF2-40B4-BE49-F238E27FC236}">
                <a16:creationId xmlns:a16="http://schemas.microsoft.com/office/drawing/2014/main" id="{264CE5D4-A2EF-8B39-90E0-A087D56DE865}"/>
              </a:ext>
            </a:extLst>
          </p:cNvPr>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22" name="Text 19"/>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Permission denied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flag is behind a locked door: unlock.sh, a script. Run it and Linux refuses. ls -l shows the file's permissions, and you own the file, so you can change them.</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~/mission7</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-l  chmod +x</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is 'Permission denied' telling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-rw-r--r--  which letter would mean 'can run'?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add that permission?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Permission denied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-sh: ./unlock.sh: Permission denied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chmod +x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-rwxr-xr-x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Access granted.</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CYBA{exec-...}</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CYBA{exec-...}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-l showed r and w, but no x: readable, not runnable.</a:t>
            </a:r>
            <a:endParaRPr lang="en-US" sz="1400" dirty="0"/>
          </a:p>
        </p:txBody>
      </p:sp>
      <p:sp>
        <p:nvSpPr>
          <p:cNvPr id="40" name="Shape 37"/>
          <p:cNvSpPr/>
          <p:nvPr/>
        </p:nvSpPr>
        <p:spPr>
          <a:xfrm>
            <a:off x="7543800" y="2980944"/>
            <a:ext cx="457200" cy="457200"/>
          </a:xfrm>
          <a:prstGeom prst="ellipse">
            <a:avLst/>
          </a:prstGeom>
          <a:solidFill>
            <a:srgbClr val="C9A227"/>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added the execute permission.</a:t>
            </a:r>
            <a:endParaRPr lang="en-US" sz="1400" dirty="0"/>
          </a:p>
        </p:txBody>
      </p:sp>
      <p:sp>
        <p:nvSpPr>
          <p:cNvPr id="43" name="Shape 40"/>
          <p:cNvSpPr/>
          <p:nvPr/>
        </p:nvSpPr>
        <p:spPr>
          <a:xfrm>
            <a:off x="7543800" y="3767328"/>
            <a:ext cx="457200" cy="457200"/>
          </a:xfrm>
          <a:prstGeom prst="ellipse">
            <a:avLst/>
          </a:prstGeom>
          <a:solidFill>
            <a:srgbClr val="C9A227"/>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./unlock.sh ran the script from this folder, and it printed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Admins fix 'Permission denied' every week; attackers hunt for files whose permissions are too loose.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-l /etc/quest  . Who owns those files? Can you chmod them?</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8">
            <a:extLst>
              <a:ext uri="{FF2B5EF4-FFF2-40B4-BE49-F238E27FC236}">
                <a16:creationId xmlns:a16="http://schemas.microsoft.com/office/drawing/2014/main" id="{3C5E8D99-02A5-F212-1EDE-31A09D60D96F}"/>
              </a:ext>
            </a:extLst>
          </p:cNvPr>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53" name="Text 19">
            <a:extLst>
              <a:ext uri="{FF2B5EF4-FFF2-40B4-BE49-F238E27FC236}">
                <a16:creationId xmlns:a16="http://schemas.microsoft.com/office/drawing/2014/main" id="{21597AD1-A710-F836-0813-E37938F7A11A}"/>
              </a:ext>
            </a:extLst>
          </p:cNvPr>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55" name="Shape 20">
            <a:extLst>
              <a:ext uri="{FF2B5EF4-FFF2-40B4-BE49-F238E27FC236}">
                <a16:creationId xmlns:a16="http://schemas.microsoft.com/office/drawing/2014/main" id="{7DACED8D-527E-77A4-67AD-2C2C273E3CB9}"/>
              </a:ext>
            </a:extLst>
          </p:cNvPr>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57" name="Text 21">
            <a:extLst>
              <a:ext uri="{FF2B5EF4-FFF2-40B4-BE49-F238E27FC236}">
                <a16:creationId xmlns:a16="http://schemas.microsoft.com/office/drawing/2014/main" id="{399FB438-B29C-C62D-6D50-D27DBEB8C290}"/>
              </a:ext>
            </a:extLst>
          </p:cNvPr>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24" name="Text 21"/>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Decoder ring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message.b64 looks like gibberish. It is not encrypted, only encoded. No password needed, just the right option.</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~/mission8</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Upper case, lower case, digits and an = at the end. Which encoding looks like that?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Encoded or encrypted: what is the difference?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find the option that decodes?</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Decoder ring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~/mission8</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RGVjb2RlZCEgRW5jb2RpbmcgaXMgbm90IGVuY3J5cHRpb24u...</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ZTJhNGZ9Cg==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base64 --help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Usage: base64 [-d] [-w COL] [FILE]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-d      Decode data</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base64 -d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Decoded! Encoding is not encryption.</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CYBA{decoded-...}</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CYBA{decoded-...}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+400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letters, digits and trailing = gave base64 away.</a:t>
            </a:r>
            <a:endParaRPr lang="en-US" sz="1400" dirty="0"/>
          </a:p>
        </p:txBody>
      </p:sp>
      <p:sp>
        <p:nvSpPr>
          <p:cNvPr id="40" name="Shape 37"/>
          <p:cNvSpPr/>
          <p:nvPr/>
        </p:nvSpPr>
        <p:spPr>
          <a:xfrm>
            <a:off x="7543800" y="2980944"/>
            <a:ext cx="457200" cy="457200"/>
          </a:xfrm>
          <a:prstGeom prst="ellipse">
            <a:avLst/>
          </a:prstGeom>
          <a:solidFill>
            <a:srgbClr val="0F948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--help showed that -d means decode.</a:t>
            </a:r>
            <a:endParaRPr lang="en-US" sz="1400" dirty="0"/>
          </a:p>
        </p:txBody>
      </p:sp>
      <p:sp>
        <p:nvSpPr>
          <p:cNvPr id="43" name="Shape 40"/>
          <p:cNvSpPr/>
          <p:nvPr/>
        </p:nvSpPr>
        <p:spPr>
          <a:xfrm>
            <a:off x="7543800" y="3767328"/>
            <a:ext cx="457200" cy="457200"/>
          </a:xfrm>
          <a:prstGeom prst="ellipse">
            <a:avLst/>
          </a:prstGeom>
          <a:solidFill>
            <a:srgbClr val="0F948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No key was needed, because encoding is not encryption.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Attackers hide commands in base64 hoping nobody looks. Analysts decode first.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0F948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Encode your first name with  echo NAME | base64  . Can a neighbour decode it?</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0">
            <a:extLst>
              <a:ext uri="{FF2B5EF4-FFF2-40B4-BE49-F238E27FC236}">
                <a16:creationId xmlns:a16="http://schemas.microsoft.com/office/drawing/2014/main" id="{C6579E7B-4724-3BDE-A0F8-2B00EEFD7DA6}"/>
              </a:ext>
            </a:extLst>
          </p:cNvPr>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53" name="Text 21">
            <a:extLst>
              <a:ext uri="{FF2B5EF4-FFF2-40B4-BE49-F238E27FC236}">
                <a16:creationId xmlns:a16="http://schemas.microsoft.com/office/drawing/2014/main" id="{E2436670-9A4E-75ED-8C9D-97AC071ED996}"/>
              </a:ext>
            </a:extLst>
          </p:cNvPr>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5" name="Shape 22">
            <a:extLst>
              <a:ext uri="{FF2B5EF4-FFF2-40B4-BE49-F238E27FC236}">
                <a16:creationId xmlns:a16="http://schemas.microsoft.com/office/drawing/2014/main" id="{0C38CE68-70B4-7989-DF3B-AB49CBBC5EF9}"/>
              </a:ext>
            </a:extLst>
          </p:cNvPr>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57" name="Text 23">
            <a:extLst>
              <a:ext uri="{FF2B5EF4-FFF2-40B4-BE49-F238E27FC236}">
                <a16:creationId xmlns:a16="http://schemas.microsoft.com/office/drawing/2014/main" id="{80AA79B7-2010-4F18-5212-35A957F028F3}"/>
              </a:ext>
            </a:extLst>
          </p:cNvPr>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26" name="Text 23"/>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Layer cake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cake.b64 was base64-encoded, then encoded again, and again: four to six layers, and nobody wrote down how many. Peel them with one pipeline.</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~/mission9</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 | 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After one decode it still looks like base64. Now what?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one base64 -d feed the next one?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we reached the last layer?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59</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Layer cake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Vm0wd2QyUXlVWGxWV0d4V1YwZDRWMVl3WkRSWFJteFZVMjA1...</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Vm0weE5HSXlTWGxUV0doVVlteHdUMVpzVW5O...</a:t>
            </a:r>
            <a:endParaRPr lang="en-US" sz="1150" dirty="0"/>
          </a:p>
          <a:p>
            <a:pPr marL="0" indent="0">
              <a:spcAft>
                <a:spcPts val="200"/>
              </a:spcAft>
              <a:buNone/>
            </a:pPr>
            <a:r>
              <a:rPr lang="en-US" sz="1150" dirty="0">
                <a:solidFill>
                  <a:srgbClr val="7F8FAD"/>
                </a:solidFill>
                <a:latin typeface="Courier New" pitchFamily="34" charset="0"/>
                <a:ea typeface="Courier New" pitchFamily="34" charset="-122"/>
                <a:cs typeface="Courier New" pitchFamily="34" charset="-120"/>
              </a:rPr>
              <a:t># Up arrow, add one more | base64 -d, repeat</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 | base64 -d \</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    | base64 -d | base64 -d</a:t>
            </a:r>
            <a:endParaRPr lang="en-US" sz="1150" dirty="0"/>
          </a:p>
          <a:p>
            <a:pPr marL="0" indent="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CYBA{layers-...}</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submit CYBA{layers-...}</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Correct! +400 points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Each base64 -d removed one layer.</a:t>
            </a:r>
            <a:endParaRPr lang="en-US" sz="1400" dirty="0"/>
          </a:p>
        </p:txBody>
      </p:sp>
      <p:sp>
        <p:nvSpPr>
          <p:cNvPr id="40" name="Shape 37"/>
          <p:cNvSpPr/>
          <p:nvPr/>
        </p:nvSpPr>
        <p:spPr>
          <a:xfrm>
            <a:off x="7543800" y="2980944"/>
            <a:ext cx="457200" cy="457200"/>
          </a:xfrm>
          <a:prstGeom prst="ellipse">
            <a:avLst/>
          </a:prstGeom>
          <a:solidFill>
            <a:srgbClr val="5B6EE1"/>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Pipes stacked the decodes: Up arrow plus one more  | base64 -d  was the whole workflow.</a:t>
            </a:r>
            <a:endParaRPr lang="en-US" sz="1400" dirty="0"/>
          </a:p>
        </p:txBody>
      </p:sp>
      <p:sp>
        <p:nvSpPr>
          <p:cNvPr id="43" name="Shape 40"/>
          <p:cNvSpPr/>
          <p:nvPr/>
        </p:nvSpPr>
        <p:spPr>
          <a:xfrm>
            <a:off x="7543800" y="3767328"/>
            <a:ext cx="457200" cy="457200"/>
          </a:xfrm>
          <a:prstGeom prst="ellipse">
            <a:avLst/>
          </a:prstGeom>
          <a:solidFill>
            <a:srgbClr val="5B6EE1"/>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When the output read 'Flag:', no layers were left.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Malware often wraps its payload in several layers of encoding. Analysts peel them one at a time.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5B6EE1"/>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Make your own:  echo hi | base64 | base64 | base64  . Swap with a team and peel theirs.</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2">
            <a:extLst>
              <a:ext uri="{FF2B5EF4-FFF2-40B4-BE49-F238E27FC236}">
                <a16:creationId xmlns:a16="http://schemas.microsoft.com/office/drawing/2014/main" id="{E6D69089-D22F-7A81-D955-53455DCCAD2C}"/>
              </a:ext>
            </a:extLst>
          </p:cNvPr>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53" name="Text 23">
            <a:extLst>
              <a:ext uri="{FF2B5EF4-FFF2-40B4-BE49-F238E27FC236}">
                <a16:creationId xmlns:a16="http://schemas.microsoft.com/office/drawing/2014/main" id="{37E733A7-2F11-0C29-F64F-ECBEBDB210EC}"/>
              </a:ext>
            </a:extLst>
          </p:cNvPr>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55" name="Shape 24">
            <a:extLst>
              <a:ext uri="{FF2B5EF4-FFF2-40B4-BE49-F238E27FC236}">
                <a16:creationId xmlns:a16="http://schemas.microsoft.com/office/drawing/2014/main" id="{23939D62-0E0D-EB24-8E7B-5EA2CF6E667C}"/>
              </a:ext>
            </a:extLst>
          </p:cNvPr>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57" name="Text 25">
            <a:extLst>
              <a:ext uri="{FF2B5EF4-FFF2-40B4-BE49-F238E27FC236}">
                <a16:creationId xmlns:a16="http://schemas.microsoft.com/office/drawing/2014/main" id="{FD144DA1-D5F2-F0E8-FEB6-0746930585D4}"/>
              </a:ext>
            </a:extLst>
          </p:cNvPr>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60</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txBody>
          <a:bodyPr/>
          <a:lstStyle/>
          <a:p>
            <a:endParaRPr lang="en-US"/>
          </a:p>
        </p:txBody>
      </p:sp>
      <p:sp>
        <p:nvSpPr>
          <p:cNvPr id="28" name="Text 25"/>
          <p:cNvSpPr txBox="1"/>
          <p:nvPr/>
        </p:nvSpPr>
        <p:spPr>
          <a:xfrm>
            <a:off x="11218774"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Endgame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final boss. The flag is split into three pieces, each hidden a different way: a hidden file in a folder tree, a base64 token in a log, and a locked script. Assemble CYBA{piece1-piece2-piece3}.</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grep  cut  base64  chmod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earlier mission taught the skill for each piece?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we pull just the token out of one log line?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which order do the pieces go?</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61</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Endgame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cd ~/mission10</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Piece README.txt</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  Piece 2: glitch logged in once in auth.log ...</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find vault -name ".*" -type f</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vault/south/rack-ml4/.stash   (+ 3 decoys)</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cat vault/south/rack-ml4/.stash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1: 244e32</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glitch auth.log | cut -d= -f4 | base64 -d</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2: a7fdd6</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chmod +x unlock.sh &amp;&amp; ./unlock.sh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3: 917b9b</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submit CYBA{244e32-a7fdd6-917b9b}</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Correct! +800 points</a:t>
            </a:r>
            <a:endParaRPr lang="en-US" sz="11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listed every hidden file in vault; cat told the real piece from the decoys.</a:t>
            </a:r>
            <a:endParaRPr lang="en-US" sz="1400" dirty="0"/>
          </a:p>
        </p:txBody>
      </p:sp>
      <p:sp>
        <p:nvSpPr>
          <p:cNvPr id="40" name="Shape 37"/>
          <p:cNvSpPr/>
          <p:nvPr/>
        </p:nvSpPr>
        <p:spPr>
          <a:xfrm>
            <a:off x="7543800" y="2980944"/>
            <a:ext cx="457200" cy="457200"/>
          </a:xfrm>
          <a:prstGeom prst="ellipse">
            <a:avLst/>
          </a:prstGeom>
          <a:solidFill>
            <a:srgbClr val="B4233F"/>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found the intruder's line, cut kept field 4 (the token) and base64 -d decoded it.</a:t>
            </a:r>
            <a:endParaRPr lang="en-US" sz="1400" dirty="0"/>
          </a:p>
        </p:txBody>
      </p:sp>
      <p:sp>
        <p:nvSpPr>
          <p:cNvPr id="43" name="Shape 40"/>
          <p:cNvSpPr/>
          <p:nvPr/>
        </p:nvSpPr>
        <p:spPr>
          <a:xfrm>
            <a:off x="7543800" y="3767328"/>
            <a:ext cx="457200" cy="457200"/>
          </a:xfrm>
          <a:prstGeom prst="ellipse">
            <a:avLst/>
          </a:prstGeom>
          <a:solidFill>
            <a:srgbClr val="B4233F"/>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unlocked the script, which printed piece 3.</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Real incidents are never one trick: responders chain search, logs and decoding to rebuild what happened.</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B4233F"/>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When the last flag lands the clock stops. What was your total, and which mission had your biggest Took?</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62</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txBody>
          <a:bodyPr/>
          <a:lstStyle/>
          <a:p>
            <a:endParaRPr lang="en-US"/>
          </a:p>
        </p:txBody>
      </p:sp>
      <p:sp>
        <p:nvSpPr>
          <p:cNvPr id="7" name="Text 4"/>
          <p:cNvSpPr txBox="1"/>
          <p:nvPr/>
        </p:nvSpPr>
        <p:spPr>
          <a:xfrm>
            <a:off x="868680"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Count the haystack</a:t>
            </a:r>
            <a:endParaRPr lang="en-US" sz="2200" dirty="0"/>
          </a:p>
        </p:txBody>
      </p:sp>
      <p:sp>
        <p:nvSpPr>
          <p:cNvPr id="8" name="Text 5"/>
          <p:cNvSpPr txBox="1"/>
          <p:nvPr/>
        </p:nvSpPr>
        <p:spPr>
          <a:xfrm>
            <a:off x="4206240"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files did find search through? How many folders?</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find archive -type f | wc -l</a:t>
            </a:r>
            <a:endParaRPr lang="en-US" sz="1400" dirty="0"/>
          </a:p>
        </p:txBody>
      </p:sp>
      <p:sp>
        <p:nvSpPr>
          <p:cNvPr id="11" name="Shape 8"/>
          <p:cNvSpPr/>
          <p:nvPr/>
        </p:nvSpPr>
        <p:spPr>
          <a:xfrm>
            <a:off x="6190488" y="1508760"/>
            <a:ext cx="5449824" cy="2057400"/>
          </a:xfrm>
          <a:prstGeom prst="roundRect">
            <a:avLst>
              <a:gd name="adj" fmla="val 5333"/>
            </a:avLst>
          </a:prstGeom>
          <a:solidFill>
            <a:srgbClr val="0E1726"/>
          </a:solidFill>
          <a:ln/>
        </p:spPr>
        <p:txBody>
          <a:bodyPr/>
          <a:lstStyle/>
          <a:p>
            <a:endParaRPr lang="en-US"/>
          </a:p>
        </p:txBody>
      </p:sp>
      <p:sp>
        <p:nvSpPr>
          <p:cNvPr id="12" name="Text 9"/>
          <p:cNvSpPr txBox="1"/>
          <p:nvPr/>
        </p:nvSpPr>
        <p:spPr>
          <a:xfrm>
            <a:off x="6510528"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Who failed most?</a:t>
            </a:r>
            <a:endParaRPr lang="en-US" sz="2200" dirty="0"/>
          </a:p>
        </p:txBody>
      </p:sp>
      <p:sp>
        <p:nvSpPr>
          <p:cNvPr id="13" name="Text 10"/>
          <p:cNvSpPr txBox="1"/>
          <p:nvPr/>
        </p:nvSpPr>
        <p:spPr>
          <a:xfrm>
            <a:off x="9848088"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Which user has the most LOGIN_FAIL lines? Build it one pipe at a time.</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grep · cut · sort · uniq -c</a:t>
            </a:r>
            <a:endParaRPr lang="en-US" sz="1400" dirty="0"/>
          </a:p>
        </p:txBody>
      </p:sp>
      <p:sp>
        <p:nvSpPr>
          <p:cNvPr id="16" name="Shape 13"/>
          <p:cNvSpPr/>
          <p:nvPr/>
        </p:nvSpPr>
        <p:spPr>
          <a:xfrm>
            <a:off x="548640" y="3749040"/>
            <a:ext cx="5449824" cy="2057400"/>
          </a:xfrm>
          <a:prstGeom prst="roundRect">
            <a:avLst>
              <a:gd name="adj" fmla="val 5333"/>
            </a:avLst>
          </a:prstGeom>
          <a:solidFill>
            <a:srgbClr val="0E1726"/>
          </a:solidFill>
          <a:ln/>
        </p:spPr>
        <p:txBody>
          <a:bodyPr/>
          <a:lstStyle/>
          <a:p>
            <a:endParaRPr lang="en-US"/>
          </a:p>
        </p:txBody>
      </p:sp>
      <p:sp>
        <p:nvSpPr>
          <p:cNvPr id="17" name="Text 14"/>
          <p:cNvSpPr txBox="1"/>
          <p:nvPr/>
        </p:nvSpPr>
        <p:spPr>
          <a:xfrm>
            <a:off x="868680"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Head count</a:t>
            </a:r>
            <a:endParaRPr lang="en-US" sz="2200" dirty="0"/>
          </a:p>
        </p:txBody>
      </p:sp>
      <p:sp>
        <p:nvSpPr>
          <p:cNvPr id="18" name="Text 15"/>
          <p:cNvSpPr txBox="1"/>
          <p:nvPr/>
        </p:nvSpPr>
        <p:spPr>
          <a:xfrm>
            <a:off x="4206240"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different user names appear in access.log?</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cut -d' ' -f2 · sort -u · wc -l</a:t>
            </a:r>
            <a:endParaRPr lang="en-US" sz="1400" dirty="0"/>
          </a:p>
        </p:txBody>
      </p:sp>
      <p:sp>
        <p:nvSpPr>
          <p:cNvPr id="21" name="Shape 18"/>
          <p:cNvSpPr/>
          <p:nvPr/>
        </p:nvSpPr>
        <p:spPr>
          <a:xfrm>
            <a:off x="6190488" y="3749040"/>
            <a:ext cx="5449824" cy="2057400"/>
          </a:xfrm>
          <a:prstGeom prst="roundRect">
            <a:avLst>
              <a:gd name="adj" fmla="val 5333"/>
            </a:avLst>
          </a:prstGeom>
          <a:solidFill>
            <a:srgbClr val="0E1726"/>
          </a:solidFill>
          <a:ln/>
        </p:spPr>
        <p:txBody>
          <a:bodyPr/>
          <a:lstStyle/>
          <a:p>
            <a:endParaRPr lang="en-US"/>
          </a:p>
        </p:txBody>
      </p:sp>
      <p:sp>
        <p:nvSpPr>
          <p:cNvPr id="22" name="Text 19"/>
          <p:cNvSpPr txBox="1"/>
          <p:nvPr/>
        </p:nvSpPr>
        <p:spPr>
          <a:xfrm>
            <a:off x="6510528"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Swap secrets</a:t>
            </a:r>
            <a:endParaRPr lang="en-US" sz="2200" dirty="0"/>
          </a:p>
        </p:txBody>
      </p:sp>
      <p:sp>
        <p:nvSpPr>
          <p:cNvPr id="23" name="Text 20"/>
          <p:cNvSpPr txBox="1"/>
          <p:nvPr/>
        </p:nvSpPr>
        <p:spPr>
          <a:xfrm>
            <a:off x="9848088"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Encode a message, write it on paper, swap with the next team, decode theirs.</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echo ... | base64</a:t>
            </a:r>
            <a:endParaRPr lang="en-US" sz="1400" dirty="0"/>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64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How the game stays fair,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echo "$(whoami) leveled up"</a:t>
            </a:r>
            <a:endParaRPr lang="en-US" sz="2000" dirty="0"/>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67</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7" name="Text 4"/>
          <p:cNvSpPr txBox="1"/>
          <p:nvPr/>
        </p:nvSpPr>
        <p:spPr>
          <a:xfrm>
            <a:off x="548640"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pwd</a:t>
            </a:r>
            <a:endParaRPr lang="en-US" sz="20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0" name="Text 7"/>
          <p:cNvSpPr txBox="1"/>
          <p:nvPr/>
        </p:nvSpPr>
        <p:spPr>
          <a:xfrm>
            <a:off x="2414016"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ls</a:t>
            </a:r>
            <a:endParaRPr lang="en-US" sz="20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3" name="Text 10"/>
          <p:cNvSpPr txBox="1"/>
          <p:nvPr/>
        </p:nvSpPr>
        <p:spPr>
          <a:xfrm>
            <a:off x="4279392"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cd  cd ..</a:t>
            </a:r>
            <a:endParaRPr lang="en-US" sz="20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6" name="Text 13"/>
          <p:cNvSpPr txBox="1"/>
          <p:nvPr/>
        </p:nvSpPr>
        <p:spPr>
          <a:xfrm>
            <a:off x="6144768"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cat</a:t>
            </a:r>
            <a:endParaRPr lang="en-US" sz="20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9" name="Text 16"/>
          <p:cNvSpPr txBox="1"/>
          <p:nvPr/>
        </p:nvSpPr>
        <p:spPr>
          <a:xfrm>
            <a:off x="8010144"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--help</a:t>
            </a:r>
            <a:endParaRPr lang="en-US" sz="20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2" name="Text 19"/>
          <p:cNvSpPr txBox="1"/>
          <p:nvPr/>
        </p:nvSpPr>
        <p:spPr>
          <a:xfrm>
            <a:off x="9875520" y="169164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ls -a</a:t>
            </a:r>
            <a:endParaRPr lang="en-US" sz="20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5" name="Text 22"/>
          <p:cNvSpPr txBox="1"/>
          <p:nvPr/>
        </p:nvSpPr>
        <p:spPr>
          <a:xfrm>
            <a:off x="548640" y="315468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Tab</a:t>
            </a:r>
            <a:endParaRPr lang="en-US" sz="20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txBody>
          <a:bodyPr/>
          <a:lstStyle/>
          <a:p>
            <a:endParaRPr lang="en-US"/>
          </a:p>
        </p:txBody>
      </p:sp>
      <p:sp>
        <p:nvSpPr>
          <p:cNvPr id="28" name="Text 25"/>
          <p:cNvSpPr txBox="1"/>
          <p:nvPr/>
        </p:nvSpPr>
        <p:spPr>
          <a:xfrm>
            <a:off x="2414016" y="3154680"/>
            <a:ext cx="1719072" cy="548640"/>
          </a:xfrm>
          <a:prstGeom prst="rect">
            <a:avLst/>
          </a:prstGeom>
          <a:noFill/>
          <a:ln/>
        </p:spPr>
        <p:txBody>
          <a:bodyPr wrap="square" lIns="0" tIns="0" rIns="0" bIns="0" rtlCol="0" anchor="ctr"/>
          <a:lstStyle/>
          <a:p>
            <a:pPr marL="0" indent="0" algn="ctr">
              <a:buNone/>
            </a:pPr>
            <a:r>
              <a:rPr lang="en-US" sz="2000" b="1" dirty="0">
                <a:solidFill>
                  <a:srgbClr val="7448D4"/>
                </a:solidFill>
                <a:latin typeface="Courier New" pitchFamily="34" charset="0"/>
                <a:ea typeface="Courier New" pitchFamily="34" charset="-122"/>
                <a:cs typeface="Courier New" pitchFamily="34" charset="-120"/>
              </a:rPr>
              <a:t>find</a:t>
            </a:r>
            <a:endParaRPr lang="en-US" sz="20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1" name="Text 28"/>
          <p:cNvSpPr txBox="1"/>
          <p:nvPr/>
        </p:nvSpPr>
        <p:spPr>
          <a:xfrm>
            <a:off x="4279392" y="3154680"/>
            <a:ext cx="1719072" cy="548640"/>
          </a:xfrm>
          <a:prstGeom prst="rect">
            <a:avLst/>
          </a:prstGeom>
          <a:noFill/>
          <a:ln/>
        </p:spPr>
        <p:txBody>
          <a:bodyPr wrap="square" lIns="0" tIns="0" rIns="0" bIns="0" rtlCol="0" anchor="ctr"/>
          <a:lstStyle/>
          <a:p>
            <a:pPr marL="0" indent="0" algn="ctr">
              <a:buNone/>
            </a:pPr>
            <a:r>
              <a:rPr lang="en-US" sz="2000" b="1" dirty="0">
                <a:solidFill>
                  <a:srgbClr val="D1416B"/>
                </a:solidFill>
                <a:latin typeface="Courier New" pitchFamily="34" charset="0"/>
                <a:ea typeface="Courier New" pitchFamily="34" charset="-122"/>
                <a:cs typeface="Courier New" pitchFamily="34" charset="-120"/>
              </a:rPr>
              <a:t>grep</a:t>
            </a:r>
            <a:endParaRPr lang="en-US" sz="20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4" name="Text 31"/>
          <p:cNvSpPr txBox="1"/>
          <p:nvPr/>
        </p:nvSpPr>
        <p:spPr>
          <a:xfrm>
            <a:off x="6144768" y="3154680"/>
            <a:ext cx="1719072" cy="548640"/>
          </a:xfrm>
          <a:prstGeom prst="rect">
            <a:avLst/>
          </a:prstGeom>
          <a:noFill/>
          <a:ln/>
        </p:spPr>
        <p:txBody>
          <a:bodyPr wrap="square" lIns="0" tIns="0" rIns="0" bIns="0" rtlCol="0" anchor="ctr"/>
          <a:lstStyle/>
          <a:p>
            <a:pPr marL="0" indent="0" algn="ctr">
              <a:buNone/>
            </a:pPr>
            <a:r>
              <a:rPr lang="en-US" sz="1400" b="1" dirty="0">
                <a:solidFill>
                  <a:srgbClr val="D1416B"/>
                </a:solidFill>
                <a:latin typeface="Courier New" pitchFamily="34" charset="0"/>
                <a:ea typeface="Courier New" pitchFamily="34" charset="-122"/>
                <a:cs typeface="Courier New" pitchFamily="34" charset="-120"/>
              </a:rPr>
              <a:t>head  wc -l</a:t>
            </a:r>
            <a:endParaRPr lang="en-US" sz="14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37" name="Text 34"/>
          <p:cNvSpPr txBox="1"/>
          <p:nvPr/>
        </p:nvSpPr>
        <p:spPr>
          <a:xfrm>
            <a:off x="8010144" y="3154680"/>
            <a:ext cx="1719072" cy="548640"/>
          </a:xfrm>
          <a:prstGeom prst="rect">
            <a:avLst/>
          </a:prstGeom>
          <a:noFill/>
          <a:ln/>
        </p:spPr>
        <p:txBody>
          <a:bodyPr wrap="square" lIns="0" tIns="0" rIns="0" bIns="0" rtlCol="0" anchor="ctr"/>
          <a:lstStyle/>
          <a:p>
            <a:pPr marL="0" indent="0" algn="ctr">
              <a:buNone/>
            </a:pPr>
            <a:r>
              <a:rPr lang="en-US" sz="2000" b="1" dirty="0">
                <a:solidFill>
                  <a:srgbClr val="E8820C"/>
                </a:solidFill>
                <a:latin typeface="Courier New" pitchFamily="34" charset="0"/>
                <a:ea typeface="Courier New" pitchFamily="34" charset="-122"/>
                <a:cs typeface="Courier New" pitchFamily="34" charset="-120"/>
              </a:rPr>
              <a:t>|</a:t>
            </a:r>
            <a:endParaRPr lang="en-US" sz="20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40" name="Text 37"/>
          <p:cNvSpPr txBox="1"/>
          <p:nvPr/>
        </p:nvSpPr>
        <p:spPr>
          <a:xfrm>
            <a:off x="9875520" y="3154680"/>
            <a:ext cx="1719072" cy="548640"/>
          </a:xfrm>
          <a:prstGeom prst="rect">
            <a:avLst/>
          </a:prstGeom>
          <a:noFill/>
          <a:ln/>
        </p:spPr>
        <p:txBody>
          <a:bodyPr wrap="square" lIns="0" tIns="0" rIns="0" bIns="0" rtlCol="0" anchor="ctr"/>
          <a:lstStyle/>
          <a:p>
            <a:pPr marL="0" indent="0" algn="ctr">
              <a:buNone/>
            </a:pPr>
            <a:r>
              <a:rPr lang="en-US" sz="1400" b="1" dirty="0">
                <a:solidFill>
                  <a:srgbClr val="E8820C"/>
                </a:solidFill>
                <a:latin typeface="Courier New" pitchFamily="34" charset="0"/>
                <a:ea typeface="Courier New" pitchFamily="34" charset="-122"/>
                <a:cs typeface="Courier New" pitchFamily="34" charset="-120"/>
              </a:rPr>
              <a:t>sort  uniq</a:t>
            </a:r>
            <a:endParaRPr lang="en-US" sz="14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3" name="Text 40"/>
          <p:cNvSpPr txBox="1"/>
          <p:nvPr/>
        </p:nvSpPr>
        <p:spPr>
          <a:xfrm>
            <a:off x="548640"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ls -l</a:t>
            </a:r>
            <a:endParaRPr lang="en-US" sz="20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6" name="Text 43"/>
          <p:cNvSpPr txBox="1"/>
          <p:nvPr/>
        </p:nvSpPr>
        <p:spPr>
          <a:xfrm>
            <a:off x="2414016"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chmod +x</a:t>
            </a:r>
            <a:endParaRPr lang="en-US" sz="20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0F9488"/>
            </a:solidFill>
            <a:prstDash val="dash"/>
          </a:ln>
        </p:spPr>
        <p:txBody>
          <a:bodyPr/>
          <a:lstStyle/>
          <a:p>
            <a:endParaRPr lang="en-US"/>
          </a:p>
        </p:txBody>
      </p:sp>
      <p:sp>
        <p:nvSpPr>
          <p:cNvPr id="49" name="Text 46"/>
          <p:cNvSpPr txBox="1"/>
          <p:nvPr/>
        </p:nvSpPr>
        <p:spPr>
          <a:xfrm>
            <a:off x="4279392" y="4617720"/>
            <a:ext cx="1719072" cy="548640"/>
          </a:xfrm>
          <a:prstGeom prst="rect">
            <a:avLst/>
          </a:prstGeom>
          <a:noFill/>
          <a:ln/>
        </p:spPr>
        <p:txBody>
          <a:bodyPr wrap="square" lIns="0" tIns="0" rIns="0" bIns="0" rtlCol="0" anchor="ctr"/>
          <a:lstStyle/>
          <a:p>
            <a:pPr marL="0" indent="0" algn="ctr">
              <a:buNone/>
            </a:pPr>
            <a:r>
              <a:rPr lang="en-US" sz="2000" b="1" dirty="0">
                <a:solidFill>
                  <a:srgbClr val="0F9488"/>
                </a:solidFill>
                <a:latin typeface="Courier New" pitchFamily="34" charset="0"/>
                <a:ea typeface="Courier New" pitchFamily="34" charset="-122"/>
                <a:cs typeface="Courier New" pitchFamily="34" charset="-120"/>
              </a:rPr>
              <a:t>base64 -d</a:t>
            </a:r>
            <a:endParaRPr lang="en-US" sz="20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5B6EE1"/>
            </a:solidFill>
            <a:prstDash val="dash"/>
          </a:ln>
        </p:spPr>
        <p:txBody>
          <a:bodyPr/>
          <a:lstStyle/>
          <a:p>
            <a:endParaRPr lang="en-US"/>
          </a:p>
        </p:txBody>
      </p:sp>
      <p:sp>
        <p:nvSpPr>
          <p:cNvPr id="52" name="Text 49"/>
          <p:cNvSpPr txBox="1"/>
          <p:nvPr/>
        </p:nvSpPr>
        <p:spPr>
          <a:xfrm>
            <a:off x="6144768" y="4617720"/>
            <a:ext cx="1719072" cy="548640"/>
          </a:xfrm>
          <a:prstGeom prst="rect">
            <a:avLst/>
          </a:prstGeom>
          <a:noFill/>
          <a:ln/>
        </p:spPr>
        <p:txBody>
          <a:bodyPr wrap="square" lIns="0" tIns="0" rIns="0" bIns="0" rtlCol="0" anchor="ctr"/>
          <a:lstStyle/>
          <a:p>
            <a:pPr marL="0" indent="0" algn="ctr">
              <a:buNone/>
            </a:pPr>
            <a:r>
              <a:rPr lang="en-US" sz="1400" b="1" dirty="0">
                <a:solidFill>
                  <a:srgbClr val="5B6EE1"/>
                </a:solidFill>
                <a:latin typeface="Courier New" pitchFamily="34" charset="0"/>
                <a:ea typeface="Courier New" pitchFamily="34" charset="-122"/>
                <a:cs typeface="Courier New" pitchFamily="34" charset="-120"/>
              </a:rPr>
              <a:t>| base64 -d</a:t>
            </a:r>
            <a:endParaRPr lang="en-US" sz="14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B4233F"/>
            </a:solidFill>
            <a:prstDash val="dash"/>
          </a:ln>
        </p:spPr>
        <p:txBody>
          <a:bodyPr/>
          <a:lstStyle/>
          <a:p>
            <a:endParaRPr lang="en-US"/>
          </a:p>
        </p:txBody>
      </p:sp>
      <p:sp>
        <p:nvSpPr>
          <p:cNvPr id="55" name="Text 52"/>
          <p:cNvSpPr txBox="1"/>
          <p:nvPr/>
        </p:nvSpPr>
        <p:spPr>
          <a:xfrm>
            <a:off x="8010144" y="4617720"/>
            <a:ext cx="1719072" cy="548640"/>
          </a:xfrm>
          <a:prstGeom prst="rect">
            <a:avLst/>
          </a:prstGeom>
          <a:noFill/>
          <a:ln/>
        </p:spPr>
        <p:txBody>
          <a:bodyPr wrap="square" lIns="0" tIns="0" rIns="0" bIns="0" rtlCol="0" anchor="ctr"/>
          <a:lstStyle/>
          <a:p>
            <a:pPr marL="0" indent="0" algn="ctr">
              <a:buNone/>
            </a:pPr>
            <a:r>
              <a:rPr lang="en-US" sz="2000" b="1" dirty="0">
                <a:solidFill>
                  <a:srgbClr val="B4233F"/>
                </a:solidFill>
                <a:latin typeface="Courier New" pitchFamily="34" charset="0"/>
                <a:ea typeface="Courier New" pitchFamily="34" charset="-122"/>
                <a:cs typeface="Courier New" pitchFamily="34" charset="-120"/>
              </a:rPr>
              <a:t>cut</a:t>
            </a:r>
            <a:endParaRPr lang="en-US" sz="20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txBody>
          <a:bodyPr/>
          <a:lstStyle/>
          <a:p>
            <a:endParaRPr lang="en-US"/>
          </a:p>
        </p:txBody>
      </p:sp>
      <p:sp>
        <p:nvSpPr>
          <p:cNvPr id="58" name="Text 55"/>
          <p:cNvSpPr txBox="1"/>
          <p:nvPr/>
        </p:nvSpPr>
        <p:spPr>
          <a:xfrm>
            <a:off x="9875520" y="4617720"/>
            <a:ext cx="1719072" cy="548640"/>
          </a:xfrm>
          <a:prstGeom prst="rect">
            <a:avLst/>
          </a:prstGeom>
          <a:noFill/>
          <a:ln/>
        </p:spPr>
        <p:txBody>
          <a:bodyPr wrap="square" lIns="0" tIns="0" rIns="0" bIns="0" rtlCol="0" anchor="ctr"/>
          <a:lstStyle/>
          <a:p>
            <a:pPr marL="0" indent="0" algn="ctr">
              <a:buNone/>
            </a:pPr>
            <a:r>
              <a:rPr lang="en-US" sz="2000" b="1" dirty="0">
                <a:solidFill>
                  <a:srgbClr val="56657E"/>
                </a:solidFill>
                <a:latin typeface="Courier New" pitchFamily="34" charset="0"/>
                <a:ea typeface="Courier New" pitchFamily="34" charset="-122"/>
                <a:cs typeface="Courier New" pitchFamily="34" charset="-120"/>
              </a:rPr>
              <a:t>sha256sum</a:t>
            </a:r>
            <a:endParaRPr lang="en-US" sz="20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Debrief</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Eighteen tools, used on a real Linux system, in one session.</a:t>
            </a:r>
            <a:endParaRPr lang="en-US" sz="1500" dirty="0"/>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68</a:t>
            </a:r>
            <a:endParaRPr lang="en-US" sz="1000" dirty="0"/>
          </a:p>
        </p:txBody>
      </p:sp>
      <p:sp>
        <p:nvSpPr>
          <p:cNvPr id="6" name="Shape 3"/>
          <p:cNvSpPr/>
          <p:nvPr/>
        </p:nvSpPr>
        <p:spPr>
          <a:xfrm>
            <a:off x="548640" y="1554480"/>
            <a:ext cx="731520" cy="731520"/>
          </a:xfrm>
          <a:prstGeom prst="ellipse">
            <a:avLst/>
          </a:prstGeom>
          <a:solidFill>
            <a:srgbClr val="17875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cd, ls and ls -a</a:t>
            </a:r>
            <a:endParaRPr lang="en-US" sz="1800" dirty="0"/>
          </a:p>
        </p:txBody>
      </p:sp>
      <p:sp>
        <p:nvSpPr>
          <p:cNvPr id="9" name="Text 5"/>
          <p:cNvSpPr txBox="1"/>
          <p:nvPr/>
        </p:nvSpPr>
        <p:spPr>
          <a:xfrm>
            <a:off x="1508760" y="193852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Finding your way around an unfamiliar server, hidden files included</a:t>
            </a:r>
            <a:endParaRPr lang="en-US" sz="1600" dirty="0"/>
          </a:p>
        </p:txBody>
      </p:sp>
      <p:sp>
        <p:nvSpPr>
          <p:cNvPr id="10" name="Shape 6"/>
          <p:cNvSpPr/>
          <p:nvPr/>
        </p:nvSpPr>
        <p:spPr>
          <a:xfrm>
            <a:off x="548640" y="2651760"/>
            <a:ext cx="731520" cy="731520"/>
          </a:xfrm>
          <a:prstGeom prst="ellipse">
            <a:avLst/>
          </a:prstGeom>
          <a:solidFill>
            <a:srgbClr val="7448D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find and grep</a:t>
            </a:r>
            <a:endParaRPr lang="en-US" sz="1800" dirty="0"/>
          </a:p>
        </p:txBody>
      </p:sp>
      <p:sp>
        <p:nvSpPr>
          <p:cNvPr id="13" name="Text 8"/>
          <p:cNvSpPr txBox="1"/>
          <p:nvPr/>
        </p:nvSpPr>
        <p:spPr>
          <a:xfrm>
            <a:off x="1508760" y="303580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Searching servers and logs for the one line that shows an intruder</a:t>
            </a:r>
            <a:endParaRPr lang="en-US" sz="1600" dirty="0"/>
          </a:p>
        </p:txBody>
      </p:sp>
      <p:sp>
        <p:nvSpPr>
          <p:cNvPr id="14" name="Shape 9"/>
          <p:cNvSpPr/>
          <p:nvPr/>
        </p:nvSpPr>
        <p:spPr>
          <a:xfrm>
            <a:off x="548640" y="3749040"/>
            <a:ext cx="731520" cy="731520"/>
          </a:xfrm>
          <a:prstGeom prst="ellipse">
            <a:avLst/>
          </a:prstGeom>
          <a:solidFill>
            <a:srgbClr val="2A9FD6"/>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--help</a:t>
            </a:r>
            <a:endParaRPr lang="en-US" sz="1800" dirty="0"/>
          </a:p>
        </p:txBody>
      </p:sp>
      <p:sp>
        <p:nvSpPr>
          <p:cNvPr id="17" name="Text 11"/>
          <p:cNvSpPr txBox="1"/>
          <p:nvPr/>
        </p:nvSpPr>
        <p:spPr>
          <a:xfrm>
            <a:off x="1508760" y="413308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Learning a new tool in minutes, without anyone teaching you</a:t>
            </a:r>
            <a:endParaRPr lang="en-US" sz="1600" dirty="0"/>
          </a:p>
        </p:txBody>
      </p:sp>
      <p:sp>
        <p:nvSpPr>
          <p:cNvPr id="18" name="Shape 12"/>
          <p:cNvSpPr/>
          <p:nvPr/>
        </p:nvSpPr>
        <p:spPr>
          <a:xfrm>
            <a:off x="548640" y="4846320"/>
            <a:ext cx="731520" cy="731520"/>
          </a:xfrm>
          <a:prstGeom prst="ellipse">
            <a:avLst/>
          </a:prstGeom>
          <a:solidFill>
            <a:srgbClr val="D1416B"/>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base64 -d and sha256sum</a:t>
            </a:r>
            <a:endParaRPr lang="en-US" sz="1800" dirty="0"/>
          </a:p>
        </p:txBody>
      </p:sp>
      <p:sp>
        <p:nvSpPr>
          <p:cNvPr id="21" name="Text 14"/>
          <p:cNvSpPr txBox="1"/>
          <p:nvPr/>
        </p:nvSpPr>
        <p:spPr>
          <a:xfrm>
            <a:off x="1508760" y="523036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Decoding hidden text and checking fingerprints</a:t>
            </a:r>
            <a:endParaRPr lang="en-US" sz="1600" dirty="0"/>
          </a:p>
        </p:txBody>
      </p:sp>
      <p:sp>
        <p:nvSpPr>
          <p:cNvPr id="22" name="Shape 15"/>
          <p:cNvSpPr/>
          <p:nvPr/>
        </p:nvSpPr>
        <p:spPr>
          <a:xfrm>
            <a:off x="7406640" y="1554480"/>
            <a:ext cx="4233672" cy="4343400"/>
          </a:xfrm>
          <a:prstGeom prst="roundRect">
            <a:avLst>
              <a:gd name="adj" fmla="val 2160"/>
            </a:avLst>
          </a:prstGeom>
          <a:solidFill>
            <a:srgbClr val="F1F5FB"/>
          </a:solidFill>
          <a:ln/>
        </p:spPr>
        <p:txBody>
          <a:bodyPr/>
          <a:lstStyle/>
          <a:p>
            <a:endParaRPr lang="en-US"/>
          </a:p>
        </p:txBody>
      </p:sp>
      <p:sp>
        <p:nvSpPr>
          <p:cNvPr id="23" name="Text 16"/>
          <p:cNvSpPr txBox="1"/>
          <p:nvPr/>
        </p:nvSpPr>
        <p:spPr>
          <a:xfrm>
            <a:off x="7726680" y="1783080"/>
            <a:ext cx="36576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command will you remember next week?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If you defended the server in mission 5, how would you catch the intruder sooner?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something 'hidden' that wasn't really secret?</a:t>
            </a:r>
            <a:endParaRPr lang="en-US" sz="1600" dirty="0"/>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a:extLst>
            <a:ext uri="{FF2B5EF4-FFF2-40B4-BE49-F238E27FC236}">
              <a16:creationId xmlns:a16="http://schemas.microsoft.com/office/drawing/2014/main" id="{9BE73CF3-EA0D-6AD6-A1A9-C0D576A1F5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05C3A8-9EE9-2C70-29BF-74369C24B2E5}"/>
              </a:ext>
            </a:extLst>
          </p:cNvPr>
          <p:cNvSpPr txBox="1"/>
          <p:nvPr/>
        </p:nvSpPr>
        <p:spPr>
          <a:xfrm>
            <a:off x="548640" y="640080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CyberQuest Academy  ·  CTF Foundation: Command 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1BC1D91-376C-995B-4CEA-D3D86F554171}"/>
              </a:ext>
            </a:extLst>
          </p:cNvPr>
          <p:cNvSpPr txBox="1"/>
          <p:nvPr/>
        </p:nvSpPr>
        <p:spPr>
          <a:xfrm>
            <a:off x="10728655" y="640080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64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a:extLst>
              <a:ext uri="{FF2B5EF4-FFF2-40B4-BE49-F238E27FC236}">
                <a16:creationId xmlns:a16="http://schemas.microsoft.com/office/drawing/2014/main" id="{87C80D79-4B25-10A6-5324-82E872EADEC4}"/>
              </a:ext>
            </a:extLst>
          </p:cNvPr>
          <p:cNvSpPr txBox="1"/>
          <p:nvPr/>
        </p:nvSpPr>
        <p:spPr>
          <a:xfrm>
            <a:off x="548640" y="822960"/>
            <a:ext cx="2926080" cy="3291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0" b="1" i="0" u="none" strike="noStrike" kern="1200" cap="none" spc="0" normalizeH="0" baseline="0" noProof="0" dirty="0">
                <a:ln>
                  <a:noFill/>
                </a:ln>
                <a:solidFill>
                  <a:srgbClr val="D1416B"/>
                </a:solidFill>
                <a:effectLst/>
                <a:uLnTx/>
                <a:uFillTx/>
                <a:latin typeface="Arial" pitchFamily="34" charset="0"/>
                <a:ea typeface="Arial" pitchFamily="34" charset="-122"/>
                <a:cs typeface="Arial" pitchFamily="34" charset="-120"/>
              </a:rPr>
              <a:t>5</a:t>
            </a:r>
            <a:endParaRPr kumimoji="0" lang="en-US" sz="2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05B6D62-D9AB-C437-943C-2F724A2F3E6C}"/>
              </a:ext>
            </a:extLst>
          </p:cNvPr>
          <p:cNvSpPr txBox="1"/>
          <p:nvPr/>
        </p:nvSpPr>
        <p:spPr>
          <a:xfrm>
            <a:off x="3931920" y="1874520"/>
            <a:ext cx="768096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Appendix</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89A1FEB-357E-77CD-3C73-41B8064EDABA}"/>
              </a:ext>
            </a:extLst>
          </p:cNvPr>
          <p:cNvSpPr txBox="1"/>
          <p:nvPr/>
        </p:nvSpPr>
        <p:spPr>
          <a:xfrm>
            <a:off x="3931920" y="3337560"/>
            <a:ext cx="749808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B8C4D9"/>
                </a:solidFill>
                <a:effectLst/>
                <a:uLnTx/>
                <a:uFillTx/>
                <a:latin typeface="Calibri" pitchFamily="34" charset="0"/>
                <a:ea typeface="Calibri" pitchFamily="34" charset="-122"/>
                <a:cs typeface="Calibri" pitchFamily="34" charset="-120"/>
              </a:rPr>
              <a:t>Mentor Need to know Info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6871F311-82CB-1EB3-5C95-89B9D0294918}"/>
              </a:ext>
            </a:extLst>
          </p:cNvPr>
          <p:cNvSpPr/>
          <p:nvPr/>
        </p:nvSpPr>
        <p:spPr>
          <a:xfrm>
            <a:off x="548640" y="4892040"/>
            <a:ext cx="11094415" cy="822960"/>
          </a:xfrm>
          <a:prstGeom prst="roundRect">
            <a:avLst>
              <a:gd name="adj" fmla="val 11111"/>
            </a:avLst>
          </a:prstGeom>
          <a:solidFill>
            <a:srgbClr val="1622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67E013E5-574A-2BB0-AA19-16834D29899E}"/>
              </a:ext>
            </a:extLst>
          </p:cNvPr>
          <p:cNvSpPr txBox="1"/>
          <p:nvPr/>
        </p:nvSpPr>
        <p:spPr>
          <a:xfrm>
            <a:off x="868680" y="4892040"/>
            <a:ext cx="104543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6D39A"/>
                </a:solidFill>
                <a:effectLst/>
                <a:uLnTx/>
                <a:uFillTx/>
                <a:latin typeface="Courier New" pitchFamily="34" charset="0"/>
                <a:ea typeface="Courier New" pitchFamily="34" charset="-122"/>
                <a:cs typeface="Courier New" pitchFamily="34" charset="-120"/>
              </a:rPr>
              <a:t>$ </a:t>
            </a:r>
            <a:r>
              <a:rPr kumimoji="0" lang="en-US" sz="2000" b="1"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echo "$(whoami) leveled up"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865966"/>
      </p:ext>
    </p:extLst>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how the page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71</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txBody>
          <a:bodyPr/>
          <a:lstStyle/>
          <a:p>
            <a:endParaRPr lang="en-US"/>
          </a:p>
        </p:txBody>
      </p:sp>
      <p:sp>
        <p:nvSpPr>
          <p:cNvPr id="7" name="Shape 4"/>
          <p:cNvSpPr/>
          <p:nvPr/>
        </p:nvSpPr>
        <p:spPr>
          <a:xfrm>
            <a:off x="822960" y="1783080"/>
            <a:ext cx="868680" cy="86868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Linux shell with standard commands, running in your tab.</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txBody>
          <a:bodyPr/>
          <a:lstStyle/>
          <a:p>
            <a:endParaRPr lang="en-US"/>
          </a:p>
        </p:txBody>
      </p:sp>
      <p:sp>
        <p:nvSpPr>
          <p:cNvPr id="12" name="Shape 8"/>
          <p:cNvSpPr/>
          <p:nvPr/>
        </p:nvSpPr>
        <p:spPr>
          <a:xfrm>
            <a:off x="4581144" y="1783080"/>
            <a:ext cx="868680" cy="868680"/>
          </a:xfrm>
          <a:prstGeom prst="ellipse">
            <a:avLst/>
          </a:prstGeom>
          <a:solidFill>
            <a:srgbClr val="7448D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Ten missions</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2,700 points, easiest first. New random flags on every page load.</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txBody>
          <a:bodyPr/>
          <a:lstStyle/>
          <a:p>
            <a:endParaRPr lang="en-US"/>
          </a:p>
        </p:txBody>
      </p:sp>
      <p:sp>
        <p:nvSpPr>
          <p:cNvPr id="17" name="Shape 12"/>
          <p:cNvSpPr/>
          <p:nvPr/>
        </p:nvSpPr>
        <p:spPr>
          <a:xfrm>
            <a:off x="8339328" y="1783080"/>
            <a:ext cx="868680" cy="868680"/>
          </a:xfrm>
          <a:prstGeom prst="ellipse">
            <a:avLst/>
          </a:prstGeom>
          <a:solidFill>
            <a:srgbClr val="D1416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One link. No accounts. Works on Chromebooks, laptops and desktops.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marL="0" indent="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txBody>
          <a:bodyPr/>
          <a:lstStyle/>
          <a:p>
            <a:endParaRPr lang="en-US"/>
          </a:p>
        </p:txBody>
      </p:sp>
      <p:sp>
        <p:nvSpPr>
          <p:cNvPr id="23" name="Text 17"/>
          <p:cNvSpPr txBox="1"/>
          <p:nvPr/>
        </p:nvSpPr>
        <p:spPr>
          <a:xfrm>
            <a:off x="548640" y="5303520"/>
            <a:ext cx="1499616" cy="347472"/>
          </a:xfrm>
          <a:prstGeom prst="rect">
            <a:avLst/>
          </a:prstGeom>
          <a:noFill/>
          <a:ln/>
        </p:spPr>
        <p:txBody>
          <a:bodyPr wrap="square" lIns="0" tIns="0" rIns="0" bIns="0" rtlCol="0" anchor="ctr"/>
          <a:lstStyle/>
          <a:p>
            <a:pPr marL="0" indent="0" algn="ctr">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txBody>
          <a:bodyPr/>
          <a:lstStyle/>
          <a:p>
            <a:endParaRPr lang="en-US"/>
          </a:p>
        </p:txBody>
      </p:sp>
      <p:sp>
        <p:nvSpPr>
          <p:cNvPr id="26" name="Text 20"/>
          <p:cNvSpPr txBox="1"/>
          <p:nvPr/>
        </p:nvSpPr>
        <p:spPr>
          <a:xfrm>
            <a:off x="2212848" y="5303520"/>
            <a:ext cx="254203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499616" cy="347472"/>
          </a:xfrm>
          <a:prstGeom prst="roundRect">
            <a:avLst>
              <a:gd name="adj" fmla="val 50000"/>
            </a:avLst>
          </a:prstGeom>
          <a:solidFill>
            <a:srgbClr val="7448D4"/>
          </a:solidFill>
          <a:ln/>
        </p:spPr>
        <p:txBody>
          <a:bodyPr/>
          <a:lstStyle/>
          <a:p>
            <a:endParaRPr lang="en-US"/>
          </a:p>
        </p:txBody>
      </p:sp>
      <p:sp>
        <p:nvSpPr>
          <p:cNvPr id="29" name="Text 23"/>
          <p:cNvSpPr txBox="1"/>
          <p:nvPr/>
        </p:nvSpPr>
        <p:spPr>
          <a:xfrm>
            <a:off x="4919472" y="5303520"/>
            <a:ext cx="1499616"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Linux kernel</a:t>
            </a:r>
            <a:endParaRPr lang="en-US" sz="1250" dirty="0"/>
          </a:p>
        </p:txBody>
      </p:sp>
      <p:sp>
        <p:nvSpPr>
          <p:cNvPr id="30" name="Text 24"/>
          <p:cNvSpPr txBox="1"/>
          <p:nvPr/>
        </p:nvSpPr>
        <p:spPr>
          <a:xfrm>
            <a:off x="641908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583680" y="5303520"/>
            <a:ext cx="1847088" cy="347472"/>
          </a:xfrm>
          <a:prstGeom prst="roundRect">
            <a:avLst>
              <a:gd name="adj" fmla="val 50000"/>
            </a:avLst>
          </a:prstGeom>
          <a:solidFill>
            <a:srgbClr val="D1416B"/>
          </a:solidFill>
          <a:ln/>
        </p:spPr>
        <p:txBody>
          <a:bodyPr/>
          <a:lstStyle/>
          <a:p>
            <a:endParaRPr lang="en-US"/>
          </a:p>
        </p:txBody>
      </p:sp>
      <p:sp>
        <p:nvSpPr>
          <p:cNvPr id="32" name="Text 26"/>
          <p:cNvSpPr txBox="1"/>
          <p:nvPr/>
        </p:nvSpPr>
        <p:spPr>
          <a:xfrm>
            <a:off x="6583680" y="5303520"/>
            <a:ext cx="1847088"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BusyBox commands</a:t>
            </a:r>
            <a:endParaRPr lang="en-US" sz="1250" dirty="0"/>
          </a:p>
        </p:txBody>
      </p:sp>
      <p:sp>
        <p:nvSpPr>
          <p:cNvPr id="33" name="Text 27"/>
          <p:cNvSpPr txBox="1"/>
          <p:nvPr/>
        </p:nvSpPr>
        <p:spPr>
          <a:xfrm>
            <a:off x="843076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8595360" y="5303520"/>
            <a:ext cx="1847088" cy="347472"/>
          </a:xfrm>
          <a:prstGeom prst="roundRect">
            <a:avLst>
              <a:gd name="adj" fmla="val 50000"/>
            </a:avLst>
          </a:prstGeom>
          <a:solidFill>
            <a:srgbClr val="F5A623"/>
          </a:solidFill>
          <a:ln/>
        </p:spPr>
        <p:txBody>
          <a:bodyPr/>
          <a:lstStyle/>
          <a:p>
            <a:endParaRPr lang="en-US"/>
          </a:p>
        </p:txBody>
      </p:sp>
      <p:sp>
        <p:nvSpPr>
          <p:cNvPr id="35" name="Text 29"/>
          <p:cNvSpPr txBox="1"/>
          <p:nvPr/>
        </p:nvSpPr>
        <p:spPr>
          <a:xfrm>
            <a:off x="8595360" y="5303520"/>
            <a:ext cx="1847088" cy="347472"/>
          </a:xfrm>
          <a:prstGeom prst="rect">
            <a:avLst/>
          </a:prstGeom>
          <a:noFill/>
          <a:ln/>
        </p:spPr>
        <p:txBody>
          <a:bodyPr wrap="square" lIns="0" tIns="0" rIns="0" bIns="0" rtlCol="0" anchor="ctr"/>
          <a:lstStyle/>
          <a:p>
            <a:pPr marL="0" indent="0" algn="ctr">
              <a:buNone/>
            </a:pPr>
            <a:r>
              <a:rPr lang="en-US" sz="1250" b="1" dirty="0">
                <a:solidFill>
                  <a:srgbClr val="12213A"/>
                </a:solidFill>
                <a:latin typeface="Calibri" pitchFamily="34" charset="0"/>
                <a:ea typeface="Calibri" pitchFamily="34" charset="-122"/>
                <a:cs typeface="Calibri" pitchFamily="34" charset="-120"/>
              </a:rPr>
              <a:t>Your 10 missions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No WebAssembly? The page switches to lite mode: a simulated shell with the same missions.</a:t>
            </a:r>
            <a:endParaRPr lang="en-US" sz="1300" dirty="0"/>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open the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72</a:t>
            </a:r>
            <a:endParaRPr lang="en-US" sz="1000" dirty="0"/>
          </a:p>
        </p:txBody>
      </p:sp>
      <p:sp>
        <p:nvSpPr>
          <p:cNvPr id="6" name="Shape 3"/>
          <p:cNvSpPr/>
          <p:nvPr/>
        </p:nvSpPr>
        <p:spPr>
          <a:xfrm>
            <a:off x="548640" y="1691640"/>
            <a:ext cx="457200" cy="457200"/>
          </a:xfrm>
          <a:prstGeom prst="ellipse">
            <a:avLst/>
          </a:prstGeom>
          <a:solidFill>
            <a:srgbClr val="2459D8"/>
          </a:solidFill>
          <a:ln/>
        </p:spPr>
        <p:txBody>
          <a:bodyPr/>
          <a:lstStyle/>
          <a:p>
            <a:endParaRPr lang="en-US"/>
          </a:p>
        </p:txBody>
      </p:sp>
      <p:sp>
        <p:nvSpPr>
          <p:cNvPr id="7" name="Text 4"/>
          <p:cNvSpPr txBox="1"/>
          <p:nvPr/>
        </p:nvSpPr>
        <p:spPr>
          <a:xfrm>
            <a:off x="548640" y="1691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Open Chrome </a:t>
            </a: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txBody>
          <a:bodyPr/>
          <a:lstStyle/>
          <a:p>
            <a:endParaRPr lang="en-US"/>
          </a:p>
        </p:txBody>
      </p:sp>
      <p:sp>
        <p:nvSpPr>
          <p:cNvPr id="10" name="Text 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Watch it boot. </a:t>
            </a: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txBody>
          <a:bodyPr/>
          <a:lstStyle/>
          <a:p>
            <a:endParaRPr lang="en-US"/>
          </a:p>
        </p:txBody>
      </p:sp>
      <p:sp>
        <p:nvSpPr>
          <p:cNvPr id="13" name="Text 10"/>
          <p:cNvSpPr txBox="1"/>
          <p:nvPr/>
        </p:nvSpPr>
        <p:spPr>
          <a:xfrm>
            <a:off x="548640" y="3703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Click inside the black terminal. </a:t>
            </a: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txBody>
          <a:bodyPr/>
          <a:lstStyle/>
          <a:p>
            <a:endParaRPr lang="en-US"/>
          </a:p>
        </p:txBody>
      </p:sp>
      <p:sp>
        <p:nvSpPr>
          <p:cNvPr id="16" name="Text 13"/>
          <p:cNvSpPr txBox="1"/>
          <p:nvPr/>
        </p:nvSpPr>
        <p:spPr>
          <a:xfrm>
            <a:off x="548640" y="4709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Never reload the page. </a:t>
            </a: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txBody>
          <a:bodyPr/>
          <a:lstStyle/>
          <a:p>
            <a:endParaRPr lang="en-US"/>
          </a:p>
        </p:txBody>
      </p:sp>
      <p:sp>
        <p:nvSpPr>
          <p:cNvPr id="19" name="Text 16"/>
          <p:cNvSpPr txBox="1"/>
          <p:nvPr/>
        </p:nvSpPr>
        <p:spPr>
          <a:xfrm>
            <a:off x="7040880" y="1737360"/>
            <a:ext cx="4599432" cy="365760"/>
          </a:xfrm>
          <a:prstGeom prst="rect">
            <a:avLst/>
          </a:prstGeom>
          <a:noFill/>
          <a:ln/>
        </p:spPr>
        <p:txBody>
          <a:bodyPr wrap="square" lIns="0" tIns="0" rIns="0" bIns="0" rtlCol="0" anchor="ctr"/>
          <a:lstStyle/>
          <a:p>
            <a:pPr marL="0" indent="0" algn="ctr">
              <a:buNone/>
            </a:pPr>
            <a:r>
              <a:rPr lang="en-US" sz="1600" dirty="0">
                <a:solidFill>
                  <a:srgbClr val="B8C4D9"/>
                </a:solidFill>
                <a:latin typeface="Calibri" pitchFamily="34" charset="0"/>
                <a:ea typeface="Calibri" pitchFamily="34" charset="-122"/>
                <a:cs typeface="Calibri" pitchFamily="34" charset="-120"/>
              </a:rPr>
              <a:t>CTF address</a:t>
            </a:r>
            <a:endParaRPr lang="en-US" sz="1600" dirty="0"/>
          </a:p>
        </p:txBody>
      </p:sp>
      <p:grpSp>
        <p:nvGrpSpPr>
          <p:cNvPr id="27" name="Group 26">
            <a:extLst>
              <a:ext uri="{FF2B5EF4-FFF2-40B4-BE49-F238E27FC236}">
                <a16:creationId xmlns:a16="http://schemas.microsoft.com/office/drawing/2014/main" id="{82CEF6DE-788A-A71E-A2A7-81C3EB2B492D}"/>
              </a:ext>
            </a:extLst>
          </p:cNvPr>
          <p:cNvGrpSpPr/>
          <p:nvPr/>
        </p:nvGrpSpPr>
        <p:grpSpPr>
          <a:xfrm>
            <a:off x="7406640" y="2331720"/>
            <a:ext cx="3867912" cy="1371600"/>
            <a:chOff x="7406640" y="2331720"/>
            <a:chExt cx="3867912" cy="1371600"/>
          </a:xfrm>
        </p:grpSpPr>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txBody>
            <a:bodyPr/>
            <a:lstStyle/>
            <a:p>
              <a:endParaRPr lang="en-US"/>
            </a:p>
          </p:txBody>
        </p:sp>
        <p:sp>
          <p:nvSpPr>
            <p:cNvPr id="21" name="Text 18"/>
            <p:cNvSpPr txBox="1"/>
            <p:nvPr/>
          </p:nvSpPr>
          <p:spPr>
            <a:xfrm>
              <a:off x="7406640" y="2331720"/>
              <a:ext cx="3867912" cy="1371600"/>
            </a:xfrm>
            <a:prstGeom prst="rect">
              <a:avLst/>
            </a:prstGeom>
            <a:noFill/>
            <a:ln/>
          </p:spPr>
          <p:txBody>
            <a:bodyPr wrap="square" lIns="0" tIns="0" rIns="0" bIns="0" rtlCol="0" anchor="ctr"/>
            <a:lstStyle/>
            <a:p>
              <a:pPr marL="0" indent="0" algn="ctr">
                <a:buNone/>
              </a:pPr>
              <a:r>
                <a:rPr lang="en-US" sz="2000" b="1" dirty="0">
                  <a:solidFill>
                    <a:srgbClr val="F5A623"/>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your-group.gitlab.io/...</a:t>
              </a:r>
              <a:endParaRPr lang="en-US" sz="2000" dirty="0">
                <a:solidFill>
                  <a:srgbClr val="F5A623"/>
                </a:solidFill>
              </a:endParaRPr>
            </a:p>
          </p:txBody>
        </p:sp>
      </p:grpSp>
      <p:sp>
        <p:nvSpPr>
          <p:cNvPr id="22" name="Text 19"/>
          <p:cNvSpPr txBox="1"/>
          <p:nvPr/>
        </p:nvSpPr>
        <p:spPr>
          <a:xfrm>
            <a:off x="7040880" y="3840480"/>
            <a:ext cx="4599432" cy="365760"/>
          </a:xfrm>
          <a:prstGeom prst="rect">
            <a:avLst/>
          </a:prstGeom>
          <a:noFill/>
          <a:ln/>
        </p:spPr>
        <p:txBody>
          <a:bodyPr wrap="square" lIns="0" tIns="0" rIns="0" bIns="0" rtlCol="0" anchor="ctr"/>
          <a:lstStyle/>
          <a:p>
            <a:pPr marL="0" indent="0" algn="ctr">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txBody>
          <a:bodyPr/>
          <a:lstStyle/>
          <a:p>
            <a:endParaRPr lang="en-US"/>
          </a:p>
        </p:txBody>
      </p:sp>
      <p:sp>
        <p:nvSpPr>
          <p:cNvPr id="24" name="Text 21"/>
          <p:cNvSpPr txBox="1"/>
          <p:nvPr/>
        </p:nvSpPr>
        <p:spPr>
          <a:xfrm>
            <a:off x="7315200" y="4709160"/>
            <a:ext cx="4114800" cy="118872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Don't type yet! </a:t>
            </a:r>
            <a:r>
              <a:rPr lang="en-US" sz="1500" dirty="0">
                <a:solidFill>
                  <a:srgbClr val="12213A"/>
                </a:solidFill>
                <a:latin typeface="Calibri" pitchFamily="34" charset="0"/>
                <a:ea typeface="Calibri" pitchFamily="34" charset="-122"/>
                <a:cs typeface="Calibri" pitchFamily="34" charset="-120"/>
              </a:rPr>
              <a:t>The clock waits for Mission 1. The warm-ups are untimed, so explore freely.</a:t>
            </a:r>
            <a:endParaRPr lang="en-US" sz="1500" dirty="0"/>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your first three commands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74</a:t>
            </a:r>
            <a:endParaRPr lang="en-US" sz="1000" dirty="0"/>
          </a:p>
        </p:txBody>
      </p:sp>
      <p:sp>
        <p:nvSpPr>
          <p:cNvPr id="6" name="Shape 3"/>
          <p:cNvSpPr/>
          <p:nvPr/>
        </p:nvSpPr>
        <p:spPr>
          <a:xfrm>
            <a:off x="548640" y="1645920"/>
            <a:ext cx="457200" cy="457200"/>
          </a:xfrm>
          <a:prstGeom prst="ellipse">
            <a:avLst/>
          </a:prstGeom>
          <a:solidFill>
            <a:srgbClr val="2459D8"/>
          </a:solidFill>
          <a:ln/>
        </p:spPr>
        <p:txBody>
          <a:bodyPr/>
          <a:lstStyle/>
          <a:p>
            <a:endParaRPr lang="en-US"/>
          </a:p>
        </p:txBody>
      </p:sp>
      <p:sp>
        <p:nvSpPr>
          <p:cNvPr id="7" name="Text 4"/>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1848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Click inside the terminal </a:t>
            </a:r>
            <a:r>
              <a:rPr lang="en-US" sz="1700" dirty="0">
                <a:solidFill>
                  <a:srgbClr val="12213A"/>
                </a:solidFill>
                <a:latin typeface="Calibri" pitchFamily="34" charset="0"/>
                <a:ea typeface="Calibri" pitchFamily="34" charset="-122"/>
                <a:cs typeface="Calibri" pitchFamily="34" charset="-120"/>
              </a:rPr>
              <a:t>so your typing goes there.</a:t>
            </a:r>
            <a:endParaRPr lang="en-US" sz="1700" dirty="0"/>
          </a:p>
        </p:txBody>
      </p:sp>
      <p:sp>
        <p:nvSpPr>
          <p:cNvPr id="9" name="Shape 6"/>
          <p:cNvSpPr/>
          <p:nvPr/>
        </p:nvSpPr>
        <p:spPr>
          <a:xfrm>
            <a:off x="548640" y="2606040"/>
            <a:ext cx="457200" cy="457200"/>
          </a:xfrm>
          <a:prstGeom prst="ellipse">
            <a:avLst/>
          </a:prstGeom>
          <a:solidFill>
            <a:srgbClr val="2459D8"/>
          </a:solidFill>
          <a:ln/>
        </p:spPr>
        <p:txBody>
          <a:bodyPr/>
          <a:lstStyle/>
          <a:p>
            <a:endParaRPr lang="en-US"/>
          </a:p>
        </p:txBody>
      </p:sp>
      <p:sp>
        <p:nvSpPr>
          <p:cNvPr id="10" name="Text 7"/>
          <p:cNvSpPr txBox="1"/>
          <p:nvPr/>
        </p:nvSpPr>
        <p:spPr>
          <a:xfrm>
            <a:off x="54864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57860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a command, press Enter. </a:t>
            </a:r>
            <a:r>
              <a:rPr lang="en-US" sz="1700" dirty="0">
                <a:solidFill>
                  <a:srgbClr val="12213A"/>
                </a:solidFill>
                <a:latin typeface="Calibri" pitchFamily="34" charset="0"/>
                <a:ea typeface="Calibri" pitchFamily="34" charset="-122"/>
                <a:cs typeface="Calibri" pitchFamily="34" charset="-120"/>
              </a:rPr>
              <a:t>Nothing happens until you press Enter.</a:t>
            </a:r>
            <a:endParaRPr lang="en-US" sz="1700" dirty="0"/>
          </a:p>
        </p:txBody>
      </p:sp>
      <p:sp>
        <p:nvSpPr>
          <p:cNvPr id="12" name="Shape 9"/>
          <p:cNvSpPr/>
          <p:nvPr/>
        </p:nvSpPr>
        <p:spPr>
          <a:xfrm>
            <a:off x="548640" y="3566160"/>
            <a:ext cx="457200" cy="457200"/>
          </a:xfrm>
          <a:prstGeom prst="ellipse">
            <a:avLst/>
          </a:prstGeom>
          <a:solidFill>
            <a:srgbClr val="2459D8"/>
          </a:solidFill>
          <a:ln/>
        </p:spPr>
        <p:txBody>
          <a:bodyPr/>
          <a:lstStyle/>
          <a:p>
            <a:endParaRPr lang="en-US"/>
          </a:p>
        </p:txBody>
      </p:sp>
      <p:sp>
        <p:nvSpPr>
          <p:cNvPr id="13" name="Text 10"/>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53872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the three commands </a:t>
            </a:r>
            <a:r>
              <a:rPr lang="en-US" sz="1700" dirty="0">
                <a:solidFill>
                  <a:srgbClr val="12213A"/>
                </a:solidFill>
                <a:latin typeface="Calibri" pitchFamily="34" charset="0"/>
                <a:ea typeface="Calibri" pitchFamily="34" charset="-122"/>
                <a:cs typeface="Calibri" pitchFamily="34" charset="-120"/>
              </a:rPr>
              <a:t>on the right, one at a time.</a:t>
            </a:r>
            <a:endParaRPr lang="en-US" sz="1700" dirty="0"/>
          </a:p>
        </p:txBody>
      </p:sp>
      <p:sp>
        <p:nvSpPr>
          <p:cNvPr id="15" name="Shape 12"/>
          <p:cNvSpPr/>
          <p:nvPr/>
        </p:nvSpPr>
        <p:spPr>
          <a:xfrm>
            <a:off x="548640" y="4526280"/>
            <a:ext cx="457200" cy="457200"/>
          </a:xfrm>
          <a:prstGeom prst="ellipse">
            <a:avLst/>
          </a:prstGeom>
          <a:solidFill>
            <a:srgbClr val="2459D8"/>
          </a:solidFill>
          <a:ln/>
        </p:spPr>
        <p:txBody>
          <a:bodyPr/>
          <a:lstStyle/>
          <a:p>
            <a:endParaRPr lang="en-US"/>
          </a:p>
        </p:txBody>
      </p:sp>
      <p:sp>
        <p:nvSpPr>
          <p:cNvPr id="16" name="Text 13"/>
          <p:cNvSpPr txBox="1"/>
          <p:nvPr/>
        </p:nvSpPr>
        <p:spPr>
          <a:xfrm>
            <a:off x="548640" y="4526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49884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Leave the missions alone </a:t>
            </a:r>
            <a:r>
              <a:rPr lang="en-US" sz="1700" dirty="0">
                <a:solidFill>
                  <a:srgbClr val="12213A"/>
                </a:solidFill>
                <a:latin typeface="Calibri" pitchFamily="34" charset="0"/>
                <a:ea typeface="Calibri" pitchFamily="34" charset="-122"/>
                <a:cs typeface="Calibri" pitchFamily="34" charset="-120"/>
              </a:rPr>
              <a:t>for now. The competition comes later.</a:t>
            </a:r>
            <a:endParaRPr lang="en-US" sz="1700" dirty="0"/>
          </a:p>
        </p:txBody>
      </p:sp>
      <p:sp>
        <p:nvSpPr>
          <p:cNvPr id="18" name="Shape 15"/>
          <p:cNvSpPr/>
          <p:nvPr/>
        </p:nvSpPr>
        <p:spPr>
          <a:xfrm>
            <a:off x="548640" y="5486400"/>
            <a:ext cx="5120640" cy="548640"/>
          </a:xfrm>
          <a:prstGeom prst="roundRect">
            <a:avLst>
              <a:gd name="adj" fmla="val 16667"/>
            </a:avLst>
          </a:prstGeom>
          <a:solidFill>
            <a:srgbClr val="E2F5EC"/>
          </a:solidFill>
          <a:ln/>
        </p:spPr>
        <p:txBody>
          <a:bodyPr/>
          <a:lstStyle/>
          <a:p>
            <a:endParaRPr lang="en-US"/>
          </a:p>
        </p:txBody>
      </p:sp>
      <p:sp>
        <p:nvSpPr>
          <p:cNvPr id="19" name="Text 16"/>
          <p:cNvSpPr txBox="1"/>
          <p:nvPr/>
        </p:nvSpPr>
        <p:spPr>
          <a:xfrm>
            <a:off x="822960" y="548640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Thumbs up when you see mission1 to mission10.</a:t>
            </a:r>
            <a:endParaRPr lang="en-US" sz="1600" dirty="0"/>
          </a:p>
        </p:txBody>
      </p:sp>
      <p:sp>
        <p:nvSpPr>
          <p:cNvPr id="20" name="Shape 17"/>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1" name="Shape 18"/>
          <p:cNvSpPr/>
          <p:nvPr/>
        </p:nvSpPr>
        <p:spPr>
          <a:xfrm>
            <a:off x="6327648" y="1618488"/>
            <a:ext cx="118872" cy="118872"/>
          </a:xfrm>
          <a:prstGeom prst="ellipse">
            <a:avLst/>
          </a:prstGeom>
          <a:solidFill>
            <a:srgbClr val="E5534B"/>
          </a:solidFill>
          <a:ln/>
        </p:spPr>
        <p:txBody>
          <a:bodyPr/>
          <a:lstStyle/>
          <a:p>
            <a:endParaRPr lang="en-US"/>
          </a:p>
        </p:txBody>
      </p:sp>
      <p:sp>
        <p:nvSpPr>
          <p:cNvPr id="22" name="Shape 19"/>
          <p:cNvSpPr/>
          <p:nvPr/>
        </p:nvSpPr>
        <p:spPr>
          <a:xfrm>
            <a:off x="6528816" y="1618488"/>
            <a:ext cx="118872" cy="118872"/>
          </a:xfrm>
          <a:prstGeom prst="ellipse">
            <a:avLst/>
          </a:prstGeom>
          <a:solidFill>
            <a:srgbClr val="F5A623"/>
          </a:solidFill>
          <a:ln/>
        </p:spPr>
        <p:txBody>
          <a:bodyPr/>
          <a:lstStyle/>
          <a:p>
            <a:endParaRPr lang="en-US"/>
          </a:p>
        </p:txBody>
      </p:sp>
      <p:sp>
        <p:nvSpPr>
          <p:cNvPr id="23" name="Shape 20"/>
          <p:cNvSpPr/>
          <p:nvPr/>
        </p:nvSpPr>
        <p:spPr>
          <a:xfrm>
            <a:off x="6729984" y="1618488"/>
            <a:ext cx="118872" cy="118872"/>
          </a:xfrm>
          <a:prstGeom prst="ellipse">
            <a:avLst/>
          </a:prstGeom>
          <a:solidFill>
            <a:srgbClr val="46D39A"/>
          </a:solidFill>
          <a:ln/>
        </p:spPr>
        <p:txBody>
          <a:bodyPr/>
          <a:lstStyle/>
          <a:p>
            <a:endParaRPr lang="en-US"/>
          </a:p>
        </p:txBody>
      </p:sp>
      <p:sp>
        <p:nvSpPr>
          <p:cNvPr id="24" name="Text 21"/>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your own Linux computer</a:t>
            </a:r>
            <a:endParaRPr lang="en-US" sz="1000" dirty="0"/>
          </a:p>
        </p:txBody>
      </p:sp>
      <p:sp>
        <p:nvSpPr>
          <p:cNvPr id="25" name="Text 22"/>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whoami</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/home/player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README.txt  mission10  mission4  mission7</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mission1    mission2   mission5  mission8</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orientation.txt  ...  mission9</a:t>
            </a:r>
            <a:endParaRPr lang="en-US" sz="1600" dirty="0"/>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75</a:t>
            </a:r>
            <a:endParaRPr lang="en-US" sz="1000" dirty="0"/>
          </a:p>
        </p:txBody>
      </p:sp>
      <p:sp>
        <p:nvSpPr>
          <p:cNvPr id="6" name="Shape 3"/>
          <p:cNvSpPr/>
          <p:nvPr/>
        </p:nvSpPr>
        <p:spPr>
          <a:xfrm>
            <a:off x="548640" y="1325880"/>
            <a:ext cx="11094415" cy="301752"/>
          </a:xfrm>
          <a:prstGeom prst="rect">
            <a:avLst/>
          </a:prstGeom>
          <a:solidFill>
            <a:srgbClr val="F1F5FB"/>
          </a:solidFill>
          <a:ln/>
        </p:spPr>
        <p:txBody>
          <a:bodyPr/>
          <a:lstStyle/>
          <a:p>
            <a:endParaRPr lang="en-US"/>
          </a:p>
        </p:txBody>
      </p:sp>
      <p:sp>
        <p:nvSpPr>
          <p:cNvPr id="7" name="Shape 4"/>
          <p:cNvSpPr/>
          <p:nvPr/>
        </p:nvSpPr>
        <p:spPr>
          <a:xfrm>
            <a:off x="658368" y="1362456"/>
            <a:ext cx="228600" cy="228600"/>
          </a:xfrm>
          <a:prstGeom prst="ellipse">
            <a:avLst/>
          </a:prstGeom>
          <a:solidFill>
            <a:srgbClr val="56657E"/>
          </a:solidFill>
          <a:ln/>
        </p:spPr>
        <p:txBody>
          <a:bodyPr/>
          <a:lstStyle/>
          <a:p>
            <a:endParaRPr lang="en-US"/>
          </a:p>
        </p:txBody>
      </p:sp>
      <p:sp>
        <p:nvSpPr>
          <p:cNvPr id="8" name="Text 5"/>
          <p:cNvSpPr txBox="1"/>
          <p:nvPr/>
        </p:nvSpPr>
        <p:spPr>
          <a:xfrm>
            <a:off x="658368" y="136245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383280" y="132588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1000" dirty="0"/>
          </a:p>
        </p:txBody>
      </p:sp>
      <p:sp>
        <p:nvSpPr>
          <p:cNvPr id="11" name="Text 8"/>
          <p:cNvSpPr txBox="1"/>
          <p:nvPr/>
        </p:nvSpPr>
        <p:spPr>
          <a:xfrm>
            <a:off x="10241280" y="132588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27632"/>
            <a:ext cx="11094415" cy="301752"/>
          </a:xfrm>
          <a:prstGeom prst="rect">
            <a:avLst/>
          </a:prstGeom>
          <a:solidFill>
            <a:srgbClr val="FFFFFF"/>
          </a:solidFill>
          <a:ln/>
        </p:spPr>
        <p:txBody>
          <a:bodyPr/>
          <a:lstStyle/>
          <a:p>
            <a:endParaRPr lang="en-US"/>
          </a:p>
        </p:txBody>
      </p:sp>
      <p:sp>
        <p:nvSpPr>
          <p:cNvPr id="13" name="Shape 10"/>
          <p:cNvSpPr/>
          <p:nvPr/>
        </p:nvSpPr>
        <p:spPr>
          <a:xfrm>
            <a:off x="658368" y="1664208"/>
            <a:ext cx="228600" cy="228600"/>
          </a:xfrm>
          <a:prstGeom prst="ellipse">
            <a:avLst/>
          </a:prstGeom>
          <a:solidFill>
            <a:srgbClr val="17875A"/>
          </a:solidFill>
          <a:ln/>
        </p:spPr>
        <p:txBody>
          <a:bodyPr/>
          <a:lstStyle/>
          <a:p>
            <a:endParaRPr lang="en-US"/>
          </a:p>
        </p:txBody>
      </p:sp>
      <p:sp>
        <p:nvSpPr>
          <p:cNvPr id="14" name="Text 11"/>
          <p:cNvSpPr txBox="1"/>
          <p:nvPr/>
        </p:nvSpPr>
        <p:spPr>
          <a:xfrm>
            <a:off x="658368" y="166420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2763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Make your move</a:t>
            </a:r>
            <a:endParaRPr lang="en-US" sz="1200" dirty="0"/>
          </a:p>
        </p:txBody>
      </p:sp>
      <p:sp>
        <p:nvSpPr>
          <p:cNvPr id="16" name="Text 13"/>
          <p:cNvSpPr txBox="1"/>
          <p:nvPr/>
        </p:nvSpPr>
        <p:spPr>
          <a:xfrm>
            <a:off x="3383280" y="162763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cd town; ls; cd &lt;sign&gt;; cd ..; cd &lt;right place&gt;; cd &lt;a&gt;/&lt;b&gt;; ls</a:t>
            </a:r>
            <a:endParaRPr lang="en-US" sz="1000" dirty="0"/>
          </a:p>
        </p:txBody>
      </p:sp>
      <p:sp>
        <p:nvSpPr>
          <p:cNvPr id="17" name="Text 14"/>
          <p:cNvSpPr txBox="1"/>
          <p:nvPr/>
        </p:nvSpPr>
        <p:spPr>
          <a:xfrm>
            <a:off x="10241280" y="162763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29384"/>
            <a:ext cx="11094415" cy="301752"/>
          </a:xfrm>
          <a:prstGeom prst="rect">
            <a:avLst/>
          </a:prstGeom>
          <a:solidFill>
            <a:srgbClr val="F1F5FB"/>
          </a:solidFill>
          <a:ln/>
        </p:spPr>
        <p:txBody>
          <a:bodyPr/>
          <a:lstStyle/>
          <a:p>
            <a:endParaRPr lang="en-US"/>
          </a:p>
        </p:txBody>
      </p:sp>
      <p:sp>
        <p:nvSpPr>
          <p:cNvPr id="19" name="Shape 16"/>
          <p:cNvSpPr/>
          <p:nvPr/>
        </p:nvSpPr>
        <p:spPr>
          <a:xfrm>
            <a:off x="658368" y="1965960"/>
            <a:ext cx="228600" cy="228600"/>
          </a:xfrm>
          <a:prstGeom prst="ellipse">
            <a:avLst/>
          </a:prstGeom>
          <a:solidFill>
            <a:srgbClr val="2A9FD6"/>
          </a:solidFill>
          <a:ln/>
        </p:spPr>
        <p:txBody>
          <a:bodyPr/>
          <a:lstStyle/>
          <a:p>
            <a:endParaRPr lang="en-US"/>
          </a:p>
        </p:txBody>
      </p:sp>
      <p:sp>
        <p:nvSpPr>
          <p:cNvPr id="20" name="Text 17"/>
          <p:cNvSpPr txBox="1"/>
          <p:nvPr/>
        </p:nvSpPr>
        <p:spPr>
          <a:xfrm>
            <a:off x="658368" y="196596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2938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Let the cat out of the bag</a:t>
            </a:r>
            <a:endParaRPr lang="en-US" sz="1200" dirty="0"/>
          </a:p>
        </p:txBody>
      </p:sp>
      <p:sp>
        <p:nvSpPr>
          <p:cNvPr id="22" name="Text 19"/>
          <p:cNvSpPr txBox="1"/>
          <p:nvPr/>
        </p:nvSpPr>
        <p:spPr>
          <a:xfrm>
            <a:off x="3383280" y="192938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cat --help;  cat -n bag.txt</a:t>
            </a:r>
            <a:endParaRPr lang="en-US" sz="1000" dirty="0"/>
          </a:p>
        </p:txBody>
      </p:sp>
      <p:sp>
        <p:nvSpPr>
          <p:cNvPr id="23" name="Text 20"/>
          <p:cNvSpPr txBox="1"/>
          <p:nvPr/>
        </p:nvSpPr>
        <p:spPr>
          <a:xfrm>
            <a:off x="10241280" y="192938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231136"/>
            <a:ext cx="11094415" cy="301752"/>
          </a:xfrm>
          <a:prstGeom prst="rect">
            <a:avLst/>
          </a:prstGeom>
          <a:solidFill>
            <a:srgbClr val="FFFFFF"/>
          </a:solidFill>
          <a:ln/>
        </p:spPr>
        <p:txBody>
          <a:bodyPr/>
          <a:lstStyle/>
          <a:p>
            <a:endParaRPr lang="en-US"/>
          </a:p>
        </p:txBody>
      </p:sp>
      <p:sp>
        <p:nvSpPr>
          <p:cNvPr id="25" name="Shape 22"/>
          <p:cNvSpPr/>
          <p:nvPr/>
        </p:nvSpPr>
        <p:spPr>
          <a:xfrm>
            <a:off x="658368" y="2267712"/>
            <a:ext cx="228600" cy="228600"/>
          </a:xfrm>
          <a:prstGeom prst="ellipse">
            <a:avLst/>
          </a:prstGeom>
          <a:solidFill>
            <a:srgbClr val="2459D8"/>
          </a:solidFill>
          <a:ln/>
        </p:spPr>
        <p:txBody>
          <a:bodyPr/>
          <a:lstStyle/>
          <a:p>
            <a:endParaRPr lang="en-US"/>
          </a:p>
        </p:txBody>
      </p:sp>
      <p:sp>
        <p:nvSpPr>
          <p:cNvPr id="26" name="Text 23"/>
          <p:cNvSpPr txBox="1"/>
          <p:nvPr/>
        </p:nvSpPr>
        <p:spPr>
          <a:xfrm>
            <a:off x="658368" y="226771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23113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Now you see me</a:t>
            </a:r>
            <a:endParaRPr lang="en-US" sz="1200" dirty="0"/>
          </a:p>
        </p:txBody>
      </p:sp>
      <p:sp>
        <p:nvSpPr>
          <p:cNvPr id="28" name="Text 25"/>
          <p:cNvSpPr txBox="1"/>
          <p:nvPr/>
        </p:nvSpPr>
        <p:spPr>
          <a:xfrm>
            <a:off x="3383280" y="223113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ls -a;  cat the dot file that is not .old-...</a:t>
            </a:r>
            <a:endParaRPr lang="en-US" sz="1000" dirty="0"/>
          </a:p>
        </p:txBody>
      </p:sp>
      <p:sp>
        <p:nvSpPr>
          <p:cNvPr id="29" name="Text 26"/>
          <p:cNvSpPr txBox="1"/>
          <p:nvPr/>
        </p:nvSpPr>
        <p:spPr>
          <a:xfrm>
            <a:off x="10241280" y="223113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532888"/>
            <a:ext cx="11094415" cy="301752"/>
          </a:xfrm>
          <a:prstGeom prst="rect">
            <a:avLst/>
          </a:prstGeom>
          <a:solidFill>
            <a:srgbClr val="F1F5FB"/>
          </a:solidFill>
          <a:ln/>
        </p:spPr>
        <p:txBody>
          <a:bodyPr/>
          <a:lstStyle/>
          <a:p>
            <a:endParaRPr lang="en-US"/>
          </a:p>
        </p:txBody>
      </p:sp>
      <p:sp>
        <p:nvSpPr>
          <p:cNvPr id="31" name="Shape 28"/>
          <p:cNvSpPr/>
          <p:nvPr/>
        </p:nvSpPr>
        <p:spPr>
          <a:xfrm>
            <a:off x="658368" y="2569464"/>
            <a:ext cx="228600" cy="228600"/>
          </a:xfrm>
          <a:prstGeom prst="ellipse">
            <a:avLst/>
          </a:prstGeom>
          <a:solidFill>
            <a:srgbClr val="7448D4"/>
          </a:solidFill>
          <a:ln/>
        </p:spPr>
        <p:txBody>
          <a:bodyPr/>
          <a:lstStyle/>
          <a:p>
            <a:endParaRPr lang="en-US"/>
          </a:p>
        </p:txBody>
      </p:sp>
      <p:sp>
        <p:nvSpPr>
          <p:cNvPr id="32" name="Text 29"/>
          <p:cNvSpPr txBox="1"/>
          <p:nvPr/>
        </p:nvSpPr>
        <p:spPr>
          <a:xfrm>
            <a:off x="658368" y="256946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53288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Needle in the tree</a:t>
            </a:r>
            <a:endParaRPr lang="en-US" sz="1200" dirty="0"/>
          </a:p>
        </p:txBody>
      </p:sp>
      <p:sp>
        <p:nvSpPr>
          <p:cNvPr id="34" name="Text 31"/>
          <p:cNvSpPr txBox="1"/>
          <p:nvPr/>
        </p:nvSpPr>
        <p:spPr>
          <a:xfrm>
            <a:off x="3383280" y="253288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find archive -name "*.&lt;ending&gt;";  cat &lt;path&gt;</a:t>
            </a:r>
            <a:endParaRPr lang="en-US" sz="1000" dirty="0"/>
          </a:p>
        </p:txBody>
      </p:sp>
      <p:sp>
        <p:nvSpPr>
          <p:cNvPr id="35" name="Text 32"/>
          <p:cNvSpPr txBox="1"/>
          <p:nvPr/>
        </p:nvSpPr>
        <p:spPr>
          <a:xfrm>
            <a:off x="10241280" y="253288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834640"/>
            <a:ext cx="11094415" cy="301752"/>
          </a:xfrm>
          <a:prstGeom prst="rect">
            <a:avLst/>
          </a:prstGeom>
          <a:solidFill>
            <a:srgbClr val="FFFFFF"/>
          </a:solidFill>
          <a:ln/>
        </p:spPr>
        <p:txBody>
          <a:bodyPr/>
          <a:lstStyle/>
          <a:p>
            <a:endParaRPr lang="en-US"/>
          </a:p>
        </p:txBody>
      </p:sp>
      <p:sp>
        <p:nvSpPr>
          <p:cNvPr id="37" name="Shape 34"/>
          <p:cNvSpPr/>
          <p:nvPr/>
        </p:nvSpPr>
        <p:spPr>
          <a:xfrm>
            <a:off x="658368" y="2871216"/>
            <a:ext cx="228600" cy="228600"/>
          </a:xfrm>
          <a:prstGeom prst="ellipse">
            <a:avLst/>
          </a:prstGeom>
          <a:solidFill>
            <a:srgbClr val="D1416B"/>
          </a:solidFill>
          <a:ln/>
        </p:spPr>
        <p:txBody>
          <a:bodyPr/>
          <a:lstStyle/>
          <a:p>
            <a:endParaRPr lang="en-US"/>
          </a:p>
        </p:txBody>
      </p:sp>
      <p:sp>
        <p:nvSpPr>
          <p:cNvPr id="38" name="Text 35"/>
          <p:cNvSpPr txBox="1"/>
          <p:nvPr/>
        </p:nvSpPr>
        <p:spPr>
          <a:xfrm>
            <a:off x="658368" y="287121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83464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Search party</a:t>
            </a:r>
            <a:endParaRPr lang="en-US" sz="1200" dirty="0"/>
          </a:p>
        </p:txBody>
      </p:sp>
      <p:sp>
        <p:nvSpPr>
          <p:cNvPr id="40" name="Text 37"/>
          <p:cNvSpPr txBox="1"/>
          <p:nvPr/>
        </p:nvSpPr>
        <p:spPr>
          <a:xfrm>
            <a:off x="3383280" y="283464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grep &lt;name&gt; access.log</a:t>
            </a:r>
            <a:endParaRPr lang="en-US" sz="1000" dirty="0"/>
          </a:p>
        </p:txBody>
      </p:sp>
      <p:sp>
        <p:nvSpPr>
          <p:cNvPr id="41" name="Text 38"/>
          <p:cNvSpPr txBox="1"/>
          <p:nvPr/>
        </p:nvSpPr>
        <p:spPr>
          <a:xfrm>
            <a:off x="10241280" y="283464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136392"/>
            <a:ext cx="11094415" cy="301752"/>
          </a:xfrm>
          <a:prstGeom prst="rect">
            <a:avLst/>
          </a:prstGeom>
          <a:solidFill>
            <a:srgbClr val="F1F5FB"/>
          </a:solidFill>
          <a:ln/>
        </p:spPr>
        <p:txBody>
          <a:bodyPr/>
          <a:lstStyle/>
          <a:p>
            <a:endParaRPr lang="en-US"/>
          </a:p>
        </p:txBody>
      </p:sp>
      <p:sp>
        <p:nvSpPr>
          <p:cNvPr id="43" name="Shape 40"/>
          <p:cNvSpPr/>
          <p:nvPr/>
        </p:nvSpPr>
        <p:spPr>
          <a:xfrm>
            <a:off x="658368" y="3172968"/>
            <a:ext cx="228600" cy="228600"/>
          </a:xfrm>
          <a:prstGeom prst="ellipse">
            <a:avLst/>
          </a:prstGeom>
          <a:solidFill>
            <a:srgbClr val="E8820C"/>
          </a:solidFill>
          <a:ln/>
        </p:spPr>
        <p:txBody>
          <a:bodyPr/>
          <a:lstStyle/>
          <a:p>
            <a:endParaRPr lang="en-US"/>
          </a:p>
        </p:txBody>
      </p:sp>
      <p:sp>
        <p:nvSpPr>
          <p:cNvPr id="44" name="Text 41"/>
          <p:cNvSpPr txBox="1"/>
          <p:nvPr/>
        </p:nvSpPr>
        <p:spPr>
          <a:xfrm>
            <a:off x="658368" y="317296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13639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Odd one out</a:t>
            </a:r>
            <a:endParaRPr lang="en-US" sz="1200" dirty="0"/>
          </a:p>
        </p:txBody>
      </p:sp>
      <p:sp>
        <p:nvSpPr>
          <p:cNvPr id="46" name="Text 43"/>
          <p:cNvSpPr txBox="1"/>
          <p:nvPr/>
        </p:nvSpPr>
        <p:spPr>
          <a:xfrm>
            <a:off x="3383280" y="313639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sort codes.txt | uniq -u</a:t>
            </a:r>
            <a:endParaRPr lang="en-US" sz="1000" dirty="0"/>
          </a:p>
        </p:txBody>
      </p:sp>
      <p:sp>
        <p:nvSpPr>
          <p:cNvPr id="47" name="Text 44"/>
          <p:cNvSpPr txBox="1"/>
          <p:nvPr/>
        </p:nvSpPr>
        <p:spPr>
          <a:xfrm>
            <a:off x="10241280" y="313639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438144"/>
            <a:ext cx="11094415" cy="301752"/>
          </a:xfrm>
          <a:prstGeom prst="rect">
            <a:avLst/>
          </a:prstGeom>
          <a:solidFill>
            <a:srgbClr val="FFFFFF"/>
          </a:solidFill>
          <a:ln/>
        </p:spPr>
        <p:txBody>
          <a:bodyPr/>
          <a:lstStyle/>
          <a:p>
            <a:endParaRPr lang="en-US"/>
          </a:p>
        </p:txBody>
      </p:sp>
      <p:sp>
        <p:nvSpPr>
          <p:cNvPr id="49" name="Shape 46"/>
          <p:cNvSpPr/>
          <p:nvPr/>
        </p:nvSpPr>
        <p:spPr>
          <a:xfrm>
            <a:off x="658368" y="3474720"/>
            <a:ext cx="228600" cy="228600"/>
          </a:xfrm>
          <a:prstGeom prst="ellipse">
            <a:avLst/>
          </a:prstGeom>
          <a:solidFill>
            <a:srgbClr val="C9A227"/>
          </a:solidFill>
          <a:ln/>
        </p:spPr>
        <p:txBody>
          <a:bodyPr/>
          <a:lstStyle/>
          <a:p>
            <a:endParaRPr lang="en-US"/>
          </a:p>
        </p:txBody>
      </p:sp>
      <p:sp>
        <p:nvSpPr>
          <p:cNvPr id="50" name="Text 47"/>
          <p:cNvSpPr txBox="1"/>
          <p:nvPr/>
        </p:nvSpPr>
        <p:spPr>
          <a:xfrm>
            <a:off x="658368" y="347472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43814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Permission denied</a:t>
            </a:r>
            <a:endParaRPr lang="en-US" sz="1200" dirty="0"/>
          </a:p>
        </p:txBody>
      </p:sp>
      <p:sp>
        <p:nvSpPr>
          <p:cNvPr id="52" name="Text 49"/>
          <p:cNvSpPr txBox="1"/>
          <p:nvPr/>
        </p:nvSpPr>
        <p:spPr>
          <a:xfrm>
            <a:off x="3383280" y="343814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chmod +x unlock.sh;  ./unlock.sh</a:t>
            </a:r>
            <a:endParaRPr lang="en-US" sz="1000" dirty="0"/>
          </a:p>
        </p:txBody>
      </p:sp>
      <p:sp>
        <p:nvSpPr>
          <p:cNvPr id="53" name="Text 50"/>
          <p:cNvSpPr txBox="1"/>
          <p:nvPr/>
        </p:nvSpPr>
        <p:spPr>
          <a:xfrm>
            <a:off x="10241280" y="343814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739896"/>
            <a:ext cx="11094415" cy="301752"/>
          </a:xfrm>
          <a:prstGeom prst="rect">
            <a:avLst/>
          </a:prstGeom>
          <a:solidFill>
            <a:srgbClr val="F1F5FB"/>
          </a:solidFill>
          <a:ln/>
        </p:spPr>
        <p:txBody>
          <a:bodyPr/>
          <a:lstStyle/>
          <a:p>
            <a:endParaRPr lang="en-US"/>
          </a:p>
        </p:txBody>
      </p:sp>
      <p:sp>
        <p:nvSpPr>
          <p:cNvPr id="55" name="Shape 52"/>
          <p:cNvSpPr/>
          <p:nvPr/>
        </p:nvSpPr>
        <p:spPr>
          <a:xfrm>
            <a:off x="658368" y="3776472"/>
            <a:ext cx="228600" cy="228600"/>
          </a:xfrm>
          <a:prstGeom prst="ellipse">
            <a:avLst/>
          </a:prstGeom>
          <a:solidFill>
            <a:srgbClr val="0F9488"/>
          </a:solidFill>
          <a:ln/>
        </p:spPr>
        <p:txBody>
          <a:bodyPr/>
          <a:lstStyle/>
          <a:p>
            <a:endParaRPr lang="en-US"/>
          </a:p>
        </p:txBody>
      </p:sp>
      <p:sp>
        <p:nvSpPr>
          <p:cNvPr id="56" name="Text 53"/>
          <p:cNvSpPr txBox="1"/>
          <p:nvPr/>
        </p:nvSpPr>
        <p:spPr>
          <a:xfrm>
            <a:off x="658368" y="377647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73989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Decoder ring</a:t>
            </a:r>
            <a:endParaRPr lang="en-US" sz="1200" dirty="0"/>
          </a:p>
        </p:txBody>
      </p:sp>
      <p:sp>
        <p:nvSpPr>
          <p:cNvPr id="58" name="Text 55"/>
          <p:cNvSpPr txBox="1"/>
          <p:nvPr/>
        </p:nvSpPr>
        <p:spPr>
          <a:xfrm>
            <a:off x="3383280" y="373989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message.b64</a:t>
            </a:r>
            <a:endParaRPr lang="en-US" sz="1000" dirty="0"/>
          </a:p>
        </p:txBody>
      </p:sp>
      <p:sp>
        <p:nvSpPr>
          <p:cNvPr id="59" name="Text 56"/>
          <p:cNvSpPr txBox="1"/>
          <p:nvPr/>
        </p:nvSpPr>
        <p:spPr>
          <a:xfrm>
            <a:off x="10241280" y="373989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041648"/>
            <a:ext cx="11094415" cy="301752"/>
          </a:xfrm>
          <a:prstGeom prst="rect">
            <a:avLst/>
          </a:prstGeom>
          <a:solidFill>
            <a:srgbClr val="FFFFFF"/>
          </a:solidFill>
          <a:ln/>
        </p:spPr>
        <p:txBody>
          <a:bodyPr/>
          <a:lstStyle/>
          <a:p>
            <a:endParaRPr lang="en-US"/>
          </a:p>
        </p:txBody>
      </p:sp>
      <p:sp>
        <p:nvSpPr>
          <p:cNvPr id="61" name="Shape 58"/>
          <p:cNvSpPr/>
          <p:nvPr/>
        </p:nvSpPr>
        <p:spPr>
          <a:xfrm>
            <a:off x="658368" y="4078224"/>
            <a:ext cx="228600" cy="228600"/>
          </a:xfrm>
          <a:prstGeom prst="ellipse">
            <a:avLst/>
          </a:prstGeom>
          <a:solidFill>
            <a:srgbClr val="5B6EE1"/>
          </a:solidFill>
          <a:ln/>
        </p:spPr>
        <p:txBody>
          <a:bodyPr/>
          <a:lstStyle/>
          <a:p>
            <a:endParaRPr lang="en-US"/>
          </a:p>
        </p:txBody>
      </p:sp>
      <p:sp>
        <p:nvSpPr>
          <p:cNvPr id="62" name="Text 59"/>
          <p:cNvSpPr txBox="1"/>
          <p:nvPr/>
        </p:nvSpPr>
        <p:spPr>
          <a:xfrm>
            <a:off x="658368" y="407822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04164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Layer cake</a:t>
            </a:r>
            <a:endParaRPr lang="en-US" sz="1200" dirty="0"/>
          </a:p>
        </p:txBody>
      </p:sp>
      <p:sp>
        <p:nvSpPr>
          <p:cNvPr id="64" name="Text 61"/>
          <p:cNvSpPr txBox="1"/>
          <p:nvPr/>
        </p:nvSpPr>
        <p:spPr>
          <a:xfrm>
            <a:off x="3383280" y="404164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cake.b64 | base64 -d | ...  (4 to 6 times)</a:t>
            </a:r>
            <a:endParaRPr lang="en-US" sz="1000" dirty="0"/>
          </a:p>
        </p:txBody>
      </p:sp>
      <p:sp>
        <p:nvSpPr>
          <p:cNvPr id="65" name="Text 62"/>
          <p:cNvSpPr txBox="1"/>
          <p:nvPr/>
        </p:nvSpPr>
        <p:spPr>
          <a:xfrm>
            <a:off x="10241280" y="404164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343400"/>
            <a:ext cx="11094415" cy="301752"/>
          </a:xfrm>
          <a:prstGeom prst="rect">
            <a:avLst/>
          </a:prstGeom>
          <a:solidFill>
            <a:srgbClr val="F1F5FB"/>
          </a:solidFill>
          <a:ln/>
        </p:spPr>
        <p:txBody>
          <a:bodyPr/>
          <a:lstStyle/>
          <a:p>
            <a:endParaRPr lang="en-US"/>
          </a:p>
        </p:txBody>
      </p:sp>
      <p:sp>
        <p:nvSpPr>
          <p:cNvPr id="67" name="Shape 64"/>
          <p:cNvSpPr/>
          <p:nvPr/>
        </p:nvSpPr>
        <p:spPr>
          <a:xfrm>
            <a:off x="658368" y="4379976"/>
            <a:ext cx="228600" cy="228600"/>
          </a:xfrm>
          <a:prstGeom prst="ellipse">
            <a:avLst/>
          </a:prstGeom>
          <a:solidFill>
            <a:srgbClr val="B4233F"/>
          </a:solidFill>
          <a:ln/>
        </p:spPr>
        <p:txBody>
          <a:bodyPr/>
          <a:lstStyle/>
          <a:p>
            <a:endParaRPr lang="en-US"/>
          </a:p>
        </p:txBody>
      </p:sp>
      <p:sp>
        <p:nvSpPr>
          <p:cNvPr id="68" name="Text 65"/>
          <p:cNvSpPr txBox="1"/>
          <p:nvPr/>
        </p:nvSpPr>
        <p:spPr>
          <a:xfrm>
            <a:off x="658368" y="437997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34340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Endgame</a:t>
            </a:r>
            <a:endParaRPr lang="en-US" sz="1200" dirty="0"/>
          </a:p>
        </p:txBody>
      </p:sp>
      <p:sp>
        <p:nvSpPr>
          <p:cNvPr id="70" name="Text 67"/>
          <p:cNvSpPr txBox="1"/>
          <p:nvPr/>
        </p:nvSpPr>
        <p:spPr>
          <a:xfrm>
            <a:off x="3383280" y="434340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vault -name ".*";  grep NAME auth.log | cut -d= -f4 | base64 -d;  chmod +x unlock.sh</a:t>
            </a:r>
            <a:endParaRPr lang="en-US" sz="1000" dirty="0"/>
          </a:p>
        </p:txBody>
      </p:sp>
      <p:sp>
        <p:nvSpPr>
          <p:cNvPr id="71" name="Text 68"/>
          <p:cNvSpPr txBox="1"/>
          <p:nvPr/>
        </p:nvSpPr>
        <p:spPr>
          <a:xfrm>
            <a:off x="10241280" y="434340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645152"/>
            <a:ext cx="11094415" cy="301752"/>
          </a:xfrm>
          <a:prstGeom prst="rect">
            <a:avLst/>
          </a:prstGeom>
          <a:solidFill>
            <a:srgbClr val="FFFFFF"/>
          </a:solidFill>
          <a:ln/>
        </p:spPr>
        <p:txBody>
          <a:bodyPr/>
          <a:lstStyle/>
          <a:p>
            <a:endParaRPr lang="en-US"/>
          </a:p>
        </p:txBody>
      </p:sp>
      <p:sp>
        <p:nvSpPr>
          <p:cNvPr id="73" name="Shape 70"/>
          <p:cNvSpPr/>
          <p:nvPr/>
        </p:nvSpPr>
        <p:spPr>
          <a:xfrm>
            <a:off x="658368" y="4681728"/>
            <a:ext cx="228600" cy="228600"/>
          </a:xfrm>
          <a:prstGeom prst="ellipse">
            <a:avLst/>
          </a:prstGeom>
          <a:solidFill>
            <a:srgbClr val="56657E"/>
          </a:solidFill>
          <a:ln/>
        </p:spPr>
        <p:txBody>
          <a:bodyPr/>
          <a:lstStyle/>
          <a:p>
            <a:endParaRPr lang="en-US"/>
          </a:p>
        </p:txBody>
      </p:sp>
      <p:sp>
        <p:nvSpPr>
          <p:cNvPr id="74" name="Text 71"/>
          <p:cNvSpPr txBox="1"/>
          <p:nvPr/>
        </p:nvSpPr>
        <p:spPr>
          <a:xfrm>
            <a:off x="658368" y="468172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64515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Count the haystack</a:t>
            </a:r>
            <a:endParaRPr lang="en-US" sz="1200" dirty="0"/>
          </a:p>
        </p:txBody>
      </p:sp>
      <p:sp>
        <p:nvSpPr>
          <p:cNvPr id="76" name="Text 73"/>
          <p:cNvSpPr txBox="1"/>
          <p:nvPr/>
        </p:nvSpPr>
        <p:spPr>
          <a:xfrm>
            <a:off x="3383280" y="464515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archive -type f | wc -l  (81);  -type d  (26)</a:t>
            </a:r>
            <a:endParaRPr lang="en-US" sz="1000" dirty="0"/>
          </a:p>
        </p:txBody>
      </p:sp>
      <p:sp>
        <p:nvSpPr>
          <p:cNvPr id="77" name="Text 74"/>
          <p:cNvSpPr txBox="1"/>
          <p:nvPr/>
        </p:nvSpPr>
        <p:spPr>
          <a:xfrm>
            <a:off x="10241280" y="464515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4946904"/>
            <a:ext cx="11094415" cy="301752"/>
          </a:xfrm>
          <a:prstGeom prst="rect">
            <a:avLst/>
          </a:prstGeom>
          <a:solidFill>
            <a:srgbClr val="F1F5FB"/>
          </a:solidFill>
          <a:ln/>
        </p:spPr>
        <p:txBody>
          <a:bodyPr/>
          <a:lstStyle/>
          <a:p>
            <a:endParaRPr lang="en-US"/>
          </a:p>
        </p:txBody>
      </p:sp>
      <p:sp>
        <p:nvSpPr>
          <p:cNvPr id="79" name="Shape 76"/>
          <p:cNvSpPr/>
          <p:nvPr/>
        </p:nvSpPr>
        <p:spPr>
          <a:xfrm>
            <a:off x="658368" y="4983480"/>
            <a:ext cx="228600" cy="228600"/>
          </a:xfrm>
          <a:prstGeom prst="ellipse">
            <a:avLst/>
          </a:prstGeom>
          <a:solidFill>
            <a:srgbClr val="56657E"/>
          </a:solidFill>
          <a:ln/>
        </p:spPr>
        <p:txBody>
          <a:bodyPr/>
          <a:lstStyle/>
          <a:p>
            <a:endParaRPr lang="en-US"/>
          </a:p>
        </p:txBody>
      </p:sp>
      <p:sp>
        <p:nvSpPr>
          <p:cNvPr id="80" name="Text 77"/>
          <p:cNvSpPr txBox="1"/>
          <p:nvPr/>
        </p:nvSpPr>
        <p:spPr>
          <a:xfrm>
            <a:off x="658368" y="498348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494690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Who failed most?</a:t>
            </a:r>
            <a:endParaRPr lang="en-US" sz="1200" dirty="0"/>
          </a:p>
        </p:txBody>
      </p:sp>
      <p:sp>
        <p:nvSpPr>
          <p:cNvPr id="82" name="Text 79"/>
          <p:cNvSpPr txBox="1"/>
          <p:nvPr/>
        </p:nvSpPr>
        <p:spPr>
          <a:xfrm>
            <a:off x="3383280" y="494690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grep LOGIN_FAIL access.log | cut -d' ' -f2 | sort | uniq -c | sort -n</a:t>
            </a:r>
            <a:endParaRPr lang="en-US" sz="1000" dirty="0"/>
          </a:p>
        </p:txBody>
      </p:sp>
      <p:sp>
        <p:nvSpPr>
          <p:cNvPr id="83" name="Text 80"/>
          <p:cNvSpPr txBox="1"/>
          <p:nvPr/>
        </p:nvSpPr>
        <p:spPr>
          <a:xfrm>
            <a:off x="10241280" y="494690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4" name="Shape 81"/>
          <p:cNvSpPr/>
          <p:nvPr/>
        </p:nvSpPr>
        <p:spPr>
          <a:xfrm>
            <a:off x="548640" y="5248656"/>
            <a:ext cx="11094415" cy="301752"/>
          </a:xfrm>
          <a:prstGeom prst="rect">
            <a:avLst/>
          </a:prstGeom>
          <a:solidFill>
            <a:srgbClr val="FFFFFF"/>
          </a:solidFill>
          <a:ln/>
        </p:spPr>
        <p:txBody>
          <a:bodyPr/>
          <a:lstStyle/>
          <a:p>
            <a:endParaRPr lang="en-US"/>
          </a:p>
        </p:txBody>
      </p:sp>
      <p:sp>
        <p:nvSpPr>
          <p:cNvPr id="85" name="Shape 82"/>
          <p:cNvSpPr/>
          <p:nvPr/>
        </p:nvSpPr>
        <p:spPr>
          <a:xfrm>
            <a:off x="658368" y="5285232"/>
            <a:ext cx="228600" cy="228600"/>
          </a:xfrm>
          <a:prstGeom prst="ellipse">
            <a:avLst/>
          </a:prstGeom>
          <a:solidFill>
            <a:srgbClr val="56657E"/>
          </a:solidFill>
          <a:ln/>
        </p:spPr>
        <p:txBody>
          <a:bodyPr/>
          <a:lstStyle/>
          <a:p>
            <a:endParaRPr lang="en-US"/>
          </a:p>
        </p:txBody>
      </p:sp>
      <p:sp>
        <p:nvSpPr>
          <p:cNvPr id="86" name="Text 83"/>
          <p:cNvSpPr txBox="1"/>
          <p:nvPr/>
        </p:nvSpPr>
        <p:spPr>
          <a:xfrm>
            <a:off x="658368" y="528523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7" name="Text 84"/>
          <p:cNvSpPr txBox="1"/>
          <p:nvPr/>
        </p:nvSpPr>
        <p:spPr>
          <a:xfrm>
            <a:off x="1005840" y="524865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Head count</a:t>
            </a:r>
            <a:endParaRPr lang="en-US" sz="1200" dirty="0"/>
          </a:p>
        </p:txBody>
      </p:sp>
      <p:sp>
        <p:nvSpPr>
          <p:cNvPr id="88" name="Text 85"/>
          <p:cNvSpPr txBox="1"/>
          <p:nvPr/>
        </p:nvSpPr>
        <p:spPr>
          <a:xfrm>
            <a:off x="3383280" y="524865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cut -d' ' -f2 access.log | sort -u | wc -l  (11)</a:t>
            </a:r>
            <a:endParaRPr lang="en-US" sz="1000" dirty="0"/>
          </a:p>
        </p:txBody>
      </p:sp>
      <p:sp>
        <p:nvSpPr>
          <p:cNvPr id="89" name="Text 86"/>
          <p:cNvSpPr txBox="1"/>
          <p:nvPr/>
        </p:nvSpPr>
        <p:spPr>
          <a:xfrm>
            <a:off x="10241280" y="524865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90" name="Shape 87"/>
          <p:cNvSpPr/>
          <p:nvPr/>
        </p:nvSpPr>
        <p:spPr>
          <a:xfrm>
            <a:off x="548640" y="5550408"/>
            <a:ext cx="11094415" cy="301752"/>
          </a:xfrm>
          <a:prstGeom prst="rect">
            <a:avLst/>
          </a:prstGeom>
          <a:solidFill>
            <a:srgbClr val="F1F5FB"/>
          </a:solidFill>
          <a:ln/>
        </p:spPr>
        <p:txBody>
          <a:bodyPr/>
          <a:lstStyle/>
          <a:p>
            <a:endParaRPr lang="en-US"/>
          </a:p>
        </p:txBody>
      </p:sp>
      <p:sp>
        <p:nvSpPr>
          <p:cNvPr id="91" name="Shape 88"/>
          <p:cNvSpPr/>
          <p:nvPr/>
        </p:nvSpPr>
        <p:spPr>
          <a:xfrm>
            <a:off x="658368" y="5586984"/>
            <a:ext cx="228600" cy="228600"/>
          </a:xfrm>
          <a:prstGeom prst="ellipse">
            <a:avLst/>
          </a:prstGeom>
          <a:solidFill>
            <a:srgbClr val="56657E"/>
          </a:solidFill>
          <a:ln/>
        </p:spPr>
        <p:txBody>
          <a:bodyPr/>
          <a:lstStyle/>
          <a:p>
            <a:endParaRPr lang="en-US"/>
          </a:p>
        </p:txBody>
      </p:sp>
      <p:sp>
        <p:nvSpPr>
          <p:cNvPr id="92" name="Text 89"/>
          <p:cNvSpPr txBox="1"/>
          <p:nvPr/>
        </p:nvSpPr>
        <p:spPr>
          <a:xfrm>
            <a:off x="658368" y="558698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93" name="Text 90"/>
          <p:cNvSpPr txBox="1"/>
          <p:nvPr/>
        </p:nvSpPr>
        <p:spPr>
          <a:xfrm>
            <a:off x="1005840" y="555040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Swap secrets</a:t>
            </a:r>
            <a:endParaRPr lang="en-US" sz="1200" dirty="0"/>
          </a:p>
        </p:txBody>
      </p:sp>
      <p:sp>
        <p:nvSpPr>
          <p:cNvPr id="94" name="Text 91"/>
          <p:cNvSpPr txBox="1"/>
          <p:nvPr/>
        </p:nvSpPr>
        <p:spPr>
          <a:xfrm>
            <a:off x="3383280" y="555040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echo &lt;text&gt; | base64;   echo &lt;code&gt; | base64 -d</a:t>
            </a:r>
            <a:endParaRPr lang="en-US" sz="1000" dirty="0"/>
          </a:p>
        </p:txBody>
      </p:sp>
      <p:sp>
        <p:nvSpPr>
          <p:cNvPr id="95" name="Text 92"/>
          <p:cNvSpPr txBox="1"/>
          <p:nvPr/>
        </p:nvSpPr>
        <p:spPr>
          <a:xfrm>
            <a:off x="10241280" y="555040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76</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txBody>
          <a:bodyPr/>
          <a:lstStyle/>
          <a:p>
            <a:endParaRPr lang="en-US"/>
          </a:p>
        </p:txBody>
      </p:sp>
      <p:sp>
        <p:nvSpPr>
          <p:cNvPr id="7" name="Text 4"/>
          <p:cNvSpPr txBox="1"/>
          <p:nvPr/>
        </p:nvSpPr>
        <p:spPr>
          <a:xfrm>
            <a:off x="777240"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asks for a GitLab sign-in</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Pages visibility is not public. Settings &gt; General &gt; Visibility &gt; Pages: Everyone.</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txBody>
          <a:bodyPr/>
          <a:lstStyle/>
          <a:p>
            <a:endParaRPr lang="en-US"/>
          </a:p>
        </p:txBody>
      </p:sp>
      <p:sp>
        <p:nvSpPr>
          <p:cNvPr id="10" name="Text 7"/>
          <p:cNvSpPr txBox="1"/>
          <p:nvPr/>
        </p:nvSpPr>
        <p:spPr>
          <a:xfrm>
            <a:off x="6419088"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will not load at all</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The web filter is blocking *.gitlab.io. Ask IT to allow your Pages address.</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txBody>
          <a:bodyPr/>
          <a:lstStyle/>
          <a:p>
            <a:endParaRPr lang="en-US"/>
          </a:p>
        </p:txBody>
      </p:sp>
      <p:sp>
        <p:nvSpPr>
          <p:cNvPr id="13" name="Text 10"/>
          <p:cNvSpPr txBox="1"/>
          <p:nvPr/>
        </p:nvSpPr>
        <p:spPr>
          <a:xfrm>
            <a:off x="777240"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Status says 'Ready (lite mode)'</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That browser blocks WebAssembly. Lite mode has the same missions: carry on.</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txBody>
          <a:bodyPr/>
          <a:lstStyle/>
          <a:p>
            <a:endParaRPr lang="en-US"/>
          </a:p>
        </p:txBody>
      </p:sp>
      <p:sp>
        <p:nvSpPr>
          <p:cNvPr id="16" name="Text 13"/>
          <p:cNvSpPr txBox="1"/>
          <p:nvPr/>
        </p:nvSpPr>
        <p:spPr>
          <a:xfrm>
            <a:off x="6419088"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Typing does nothing</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Click inside the black terminal first.</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txBody>
          <a:bodyPr/>
          <a:lstStyle/>
          <a:p>
            <a:endParaRPr lang="en-US"/>
          </a:p>
        </p:txBody>
      </p:sp>
      <p:sp>
        <p:nvSpPr>
          <p:cNvPr id="19" name="Text 16"/>
          <p:cNvSpPr txBox="1"/>
          <p:nvPr/>
        </p:nvSpPr>
        <p:spPr>
          <a:xfrm>
            <a:off x="777240"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Copy the whole flag, CYBA{ to }, with no extra spaces. Flags from another computer never work.</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txBody>
          <a:bodyPr/>
          <a:lstStyle/>
          <a:p>
            <a:endParaRPr lang="en-US"/>
          </a:p>
        </p:txBody>
      </p:sp>
      <p:sp>
        <p:nvSpPr>
          <p:cNvPr id="22" name="Text 19"/>
          <p:cNvSpPr txBox="1"/>
          <p:nvPr/>
        </p:nvSpPr>
        <p:spPr>
          <a:xfrm>
            <a:off x="6419088"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New computer, new flags, points and clock reset. The second run is fast.</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txBody>
          <a:bodyPr/>
          <a:lstStyle/>
          <a:p>
            <a:endParaRPr lang="en-US"/>
          </a:p>
        </p:txBody>
      </p:sp>
      <p:sp>
        <p:nvSpPr>
          <p:cNvPr id="25" name="Text 22"/>
          <p:cNvSpPr txBox="1"/>
          <p:nvPr/>
        </p:nvSpPr>
        <p:spPr>
          <a:xfrm>
            <a:off x="777240"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Screen flooded with text, or stuck</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Ctrl+C stops a command. q quits less. clear wipes the screen.</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txBody>
          <a:bodyPr/>
          <a:lstStyle/>
          <a:p>
            <a:endParaRPr lang="en-US"/>
          </a:p>
        </p:txBody>
      </p:sp>
      <p:sp>
        <p:nvSpPr>
          <p:cNvPr id="28" name="Text 25"/>
          <p:cNvSpPr txBox="1"/>
          <p:nvPr/>
        </p:nvSpPr>
        <p:spPr>
          <a:xfrm>
            <a:off x="6419088"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clock didn't start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It waits during the warm-ups. It starts at the first keystroke in Mission 1, or once both warm-ups are captured.</a:t>
            </a:r>
            <a:endParaRPr lang="en-US" sz="12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18141</Words>
  <Application>Microsoft Office PowerPoint</Application>
  <PresentationFormat>Widescreen</PresentationFormat>
  <Paragraphs>1938</Paragraphs>
  <Slides>72</Slides>
  <Notes>72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Linux CTF: learn the command line, then compete</dc:title>
  <dc:subject>PptxGenJS Presentation</dc:subject>
  <dc:creator>CyberQuest Academy</dc:creator>
  <cp:lastModifiedBy>Pullen, Marquise Neshawntay</cp:lastModifiedBy>
  <cp:revision>3</cp:revision>
  <dcterms:created xsi:type="dcterms:W3CDTF">2026-10-09T03:12:26Z</dcterms:created>
  <dcterms:modified xsi:type="dcterms:W3CDTF">2026-10-09T04:23:47Z</dcterms:modified>
</cp:coreProperties>
</file>