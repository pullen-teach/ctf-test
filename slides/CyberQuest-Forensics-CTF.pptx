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6ddab2-e6f7-3623-092a-e5440213bb4b}">
          <p14:sldIdLst>
            <p14:sldId id="256"/>
            <p14:sldId id="257"/>
            <p14:sldId id="258"/>
          </p14:sldIdLst>
        </p14:section>
        <p14:section name="Part 1 · Forensics fundamentals" id="{87f3dc7c-4696-d8b5-e7a7-cf8d0204a4c5}">
          <p14:sldIdLst>
            <p14:sldId id="259"/>
            <p14:sldId id="260"/>
            <p14:sldId id="261"/>
            <p14:sldId id="262"/>
            <p14:sldId id="263"/>
            <p14:sldId id="264"/>
            <p14:sldId id="265"/>
          </p14:sldIdLst>
        </p14:section>
        <p14:section name="Part 2 · Investigator's toolkit" id="{dd347cfc-76b6-8b28-08c7-b1781b552c5d}">
          <p14:sldIdLst>
            <p14:sldId id="266"/>
            <p14:sldId id="267"/>
            <p14:sldId id="268"/>
            <p14:sldId id="269"/>
            <p14:sldId id="270"/>
            <p14:sldId id="271"/>
            <p14:sldId id="272"/>
            <p14:sldId id="273"/>
            <p14:sldId id="274"/>
            <p14:sldId id="275"/>
            <p14:sldId id="276"/>
            <p14:sldId id="277"/>
          </p14:sldIdLst>
        </p14:section>
        <p14:section name="Part 3 · Rules and warm-up" id="{88c89096-226c-6023-5816-ed0fdc60dcea}">
          <p14:sldIdLst>
            <p14:sldId id="278"/>
            <p14:sldId id="279"/>
            <p14:sldId id="280"/>
            <p14:sldId id="281"/>
            <p14:sldId id="282"/>
            <p14:sldId id="283"/>
          </p14:sldIdLst>
        </p14:section>
        <p14:section name="Missions 1–2 · Together" id="{8f1fd03e-24db-2a72-f1e4-686986cac540}">
          <p14:sldIdLst>
            <p14:sldId id="284"/>
            <p14:sldId id="285"/>
            <p14:sldId id="286"/>
            <p14:sldId id="287"/>
          </p14:sldIdLst>
        </p14:section>
        <p14:section name="Missions 3–10 · The race" id="{ed7f68d2-d547-64b8-b6af-6231d03dd5ea}">
          <p14:sldIdLst>
            <p14:sldId id="288"/>
            <p14:sldId id="289"/>
            <p14:sldId id="290"/>
            <p14:sldId id="291"/>
            <p14:sldId id="292"/>
            <p14:sldId id="293"/>
            <p14:sldId id="294"/>
            <p14:sldId id="295"/>
            <p14:sldId id="296"/>
            <p14:sldId id="297"/>
            <p14:sldId id="298"/>
            <p14:sldId id="299"/>
            <p14:sldId id="300"/>
            <p14:sldId id="301"/>
            <p14:sldId id="302"/>
            <p14:sldId id="303"/>
          </p14:sldIdLst>
        </p14:section>
        <p14:section name="Part 3 · After the race" id="{9e1c7326-369e-879c-53a7-ca60178ab784}">
          <p14:sldIdLst>
            <p14:sldId id="304"/>
            <p14:sldId id="305"/>
          </p14:sldIdLst>
        </p14:section>
        <p14:section name="Part 4 · Debrief" id="{7e6ac9c2-c511-7a41-4c04-a342055e610a}">
          <p14:sldIdLst>
            <p14:sldId id="306"/>
            <p14:sldId id="307"/>
            <p14:sldId id="308"/>
            <p14:sldId id="309"/>
            <p14:sldId id="310"/>
          </p14:sldIdLst>
        </p14:section>
        <p14:section name="Mentor appendix" id="{394e595f-d0b3-4c51-5237-d390a00a8849}">
          <p14:sldIdLst>
            <p14:sldId id="311"/>
            <p14:sldId id="312"/>
            <p14:sldId id="313"/>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a time you had to figure out what happened on a computer.
Promise: 'In the next 90 minutes you will learn how investigators read digital evidence, then solve a break-in for 2,700 points against the clock.'
Before class: the Forensics CTF link is written on the 'Open the CTF' slide in the appendix, and you have watched it reach 'Ready' on a student Chromebook on the school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so students know the competition is coming and the theory is short.
Timing for 90 minutes: opening 3 min, Part 1 Forensics fundamentals 10 min, Part 2 the investigator's toolkit 25 min (open the Forensics CTF at the start: see the mentor appendix), Part 3 compete 42 min, Part 4 debrief 10 min.
Students who played the Linux or Crypto CTF will recognise the page and several tools (grep, cut, sort, base64, xxd). Nobody needs to have played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In a forensics CTF, every flag is hidden in evidence: a log, a file that lies about its type, an archive, a picture, a memory dump.
Read the flag anatomy out loud. Every flag starts with CYBA and has its secret between curly braces.
Stress permission: investigating evidence you were given is the job. Snooping on systems that aren't yours is a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Ask: 'If someone broke into your phone, how would you know? What would they leave behind?' Collect answers: those are the clues forensics looks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forensics answers four questions after an incident: what happened, when, how, and who (or at least from where).
Walk the five steps. Preserve: make a copy and fingerprint it, so nobody can say the evidence changed. Collect: logs, disks, memory, network data. Examine: pull out what matters. Analyze: build a timeline and connect the dots. Report: explain it so a manager, a lawyer or a court can follow.
Today students do mostly Examine and Analyze. Mission 7 is a taste of Preserve: comparing fingerprints.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write things down constantly. Every login, every web request, every file change leaves a trace.
Walk the six cards; each one is a mission today. Ask: 'Which of these would an intruder try to delete?' (The logs! That's why real systems copy logs somewhere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questions; students will ask them in every mission.
When? ls -l shows the last-modified time. What is it really? The first bytes, the magic number, say the real type, whatever the name says. Has it changed? A SHA-256 hash is a fingerprint: change one byte and the hash changes completely.
The hash is also how investigators prove evidence wasn't altered: hash it when you collect it, hash it again in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habits that separate an investigation from poking around.
Work on copies, never the original. Hash the evidence first. Write down every step (your notes are part of the report). Question everything: a file name, a log line, even a timestamp can be faked.
In the CTF, the 'notes' habit pays off: teams that write down the IP, the user and the file name solve Mission 10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CYBERQUEST competition has seven categories: Reverse Engineering, Web, PWN, Education &amp; Awareness, Forensics, OSINT and Crypto. Its skills page also stresses command-line navigation and SSH.
Forensics is today, and its listed key concepts are all here: file formats and signatures (Missions 3, 4, 10), metadata (Mission 2), steganography (Mission 6), network traffic (Mission 9) and hex (xxd). Its listed tools: strings (today), plus exiftool, binwalk, steghide and Wireshark (on the pro-tools slide).
Be honest about the rest: Web and PWN need other tools and other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the middle of a game: warm-up and three flags captured, Mission 4 (Russian dolls) open, with the layers being unpacked in the terminal.
Walk the eight parts. It is the same page as the Linux and Crypto CTFs. '← All CTFs' goes back to the home page (it starts a new game, so don't click it mid-race).
The most common problem in class is typing before clicking inside the terminal.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Open the Forensics CTF now (mentor appendix: 'Open the CTF'), so every device is booted for the Try it pills.
Demo every command live on the projector. Then give the room 30 seconds to type the green Try it command themselves.
None of the Try it commands touch the mission folders, so nothing gets spoiled.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 -l lists files in long form: permissions, owner, size, and the last-modified time.
Point at the time column. Files changed recently show a time; old files show a year instead.
ls -lt sorts newest first: a quick timeline. Mission 1 needs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files (pictures, programs, memory dumps) are mostly bytes that aren't letters, so cat shows garbage and can even scramble the terminal.
strings prints only runs of 4 or more readable characters. Metadata fields (camera, software, author, comments), file paths and messages leak out.
The pro tool for metadata is exiftool, which lists every field neatly. On the competition's Kali Linux, try exiftool photo.jpg.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file's extension is just part of its name; anyone can rename a file. The first few bytes, the magic number, say what the file really is.
filetype is a helper in this CTF that works like Linux's file command: it reads the magic number and names the type. You can see the bytes yourself with head -c 4 | xxd.
Learn three: ff d8 ff is JPEG, 1f 8b is gzip, 25 50 44 46 is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 bundles many files into one. gzip squeezes a file smaller. A .tar.gz is both: a bundle, then squeezed.
tar -xzf unpacks a .tar.gz; tar -xf unpacks a plain tar; zcat prints what's inside a gzip file. tar -tf lists without unpacking.
The habit for Mission 4: unpack one layer, ask filetype what you got,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are text, one event per line, so the Linux tools from the Linux CTF are an investigator's best friends.
The counting pipeline: grep the lines you care about, cut out one field, sort them so repeats sit together, uniq -c counts each, sort -n puts the biggest last.
Build it one stage at a time, and look at the output after each step. This pipeline solves Missions 5 and 10 and is the same idea as Splunk or Wireshark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Cryptography scrambles a message. Steganography hides that there is a message at all.
The simplest trick: append data after the end of a picture. Picture viewers stop at the end marker (ff d9 for JPEG), so the picture looks normal, but the bytes are still in the file.
Real stego can also hide data in the pixels themselves; tools like steghide, zsteg and binwalk find it. Today: strings and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SHA-256 hash is a fingerprint of a file. Change one byte and the hash changes completely.
Defenders record the hashes of important programs while the system is clean (a manifest). Later, sha256sum -c re-hashes every file in the list and reports OK or FAILED.
This is what file-integrity tools like Tripwire and AIDE do, and it's how investigators prove evidence wasn't altered.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in, an intruder wants to come back. Persistence means leaving something that runs again on its own. A favourite on Linux: a cron job.
A crontab line is five time fields (minute, hour, day of month, month, day of week) and a command. */10 in the minute field means every 10 minutes.
Look for commands in odd places: hidden folders (names starting with a dot), /tmp, a user's home. ls -a shows hidden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packet capture (a .pcap file) records the network traffic itself. Wireshark shows it as one line per packet: number, time, source, destination, protocol, length and a summary. capture.txt is that list view, exported as text.
Mission 9's host smuggled data out in tiny pieces, each with a sequence number. To rebuild it: keep those packets, cut down to the parameters, sort by seq, keep the hex, join it, decode. In Wireshark you'd filter on the URL and follow the stream.
tr -d '\n' deletes newlines, joining lines together. xxd -r -p turns hex into text (the Crypto CTF's Mission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routine as every CTF.
1. --help is free. 2. Ask the three file questions: when, what is it really, has it changed? 3. Build pipelines one step at a time. 4. hint N costs 5% of that mission's points, charged once per hint; harder missions have several hints, each more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to photograph. Every tool, which mission it powers.
All of these are standard Linux tools except filetype, a tiny helper in this CTF that does what the real file command does. On a full Linux system (Kali, Ubuntu) you'd type file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If students played around while learning, have everyone reload now for a fresh computer, zero points and a clean clock. This is the ONE time a reload is welcome.
Put the CTF on one half of the projector and these slides on the other, or switch between them.
Each mission has two slides: the brief (show it, read it, ask the three questions) and the walkthrough (reveal it after the class has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come from difficulty, on CyberQuest's scale: Easy 100, Medium 200, Hard 400, Very Hard 800. The ten missions are worth 2,700, plus 50 bonus points for the optional warm-up. Mission 10, Case closed, is the one Very Hard.
The clock counts UP. It waits during the warm-up, starts with Mission 1, and stops when you capture the last flag.
Ranking: most points wins; on a tie, the faster time wins. Hints cost 5% of the mission's points each, charged once. Wrong flags cost nothing: encourage trying.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same for every mission. Drill it now so that the only new thing in each round is the evidence.
Say it together: Read. Survey. Ask. Extract. Submit.
Ask is the forensics-specific step: when did it change, what is it really, has it changed? Write down anything you find (IPs, users, times): Mission 10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before the clock matters.
orientation.txt in the home folder explains the game: how to read a mission's instructions, what a flag looks like, how to submit it, what the replies mean, how hints work, and a list of the forensics toolkit. Its last line is the warm-up flag.
Optional and untimed: worth 50 bonus points, and the sidebar has a Skip warm-up button. The clock only starts with Mission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Missions 1 and 2 are guided ('We do'): the class tells the mentor what to type and everyone captures together.
Missions 3 to 10 are a race ('You do'): show the brief slide, ask the questions, then let teams go. Reveal each walkthrough once most teams have the flag, or when the room is stuck.
Mentors walk the room: point at the three file questions and --help, ask questions, don't type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whole competition. Notice the order follows the toolkit from Part 2: single files first, then archives, logs and traffic, then the whole case.
Suggested pacing: the warm-up together in 3 minutes, missions 1 and 2 together in 8, then the race. Most teams reach Mission 8 or 9 in 35 minutes; Case closed is for the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Case file   [Easy, 100 points, We do, about 5 minutes]
Show this slide first. Read the brief out loud, then ask the three questions BEFORE anyone types. Take one answer per question; do not confirm or correct yet.
The time is random every load (between 02:00 and 05:59). The decoy files all changed during office hours.
If a student greps for CYBA they find ten flags: good moment to say 'evidence needs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Case file
Guided mission: solve it live with the class calling out commands, then use this slide to recap.
The slide never shows a real flag: every computer has its own evidence and flags, so students still have to run the commands themselves.
Ask one student to explain the three steps in their own words. Offer the stretch question to anyone who finished early.
The time is random every load (between 02:00 and 05:59). The decoy files all changed during office hours.
If a student greps for CYBA they find ten flags: good moment to say 'evidence needs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Say cheese   [Easy, 100 points, We do, about 4 minutes]
Show this slide first. Read the brief out loud, then ask the three questions BEFORE anyone types. Take one answer per question; do not confirm or correct yet.
On a full Linux system, exiftool photo.jpg lists metadata neatly. This tiny Linux doesn't have it, so strings does the job.
Good discussion: what metadata is in the photos on your phone? (Usually time, phone model, and often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Say cheese
Guided mission: solve it live with the class calling out commands, then use this slide to recap.
The slide never shows a real flag: every computer has its own evidence and flags, so students still have to run the commands themselves.
Ask one student to explain the three steps in their own words. Offer the stretch question to anyone who finished early.
On a full Linux system, exiftool photo.jpg lists metadata neatly. This tiny Linux doesn't have it, so strings does the job.
Good discussion: what metadata is in the photos on your phone? (Usually time, phone model, and often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Wrong label   [Easy, 100 points, You do, about 4 minutes]
Show this slide first. Read the brief out loud, then ask the three questions BEFORE anyone types. Take one answer per question; do not confirm or correct yet.
filetype is a small helper that works like the real 'file' command (which this tiny Linux doesn't have). Both read the magic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Wrong label
Race mission: reveal this slide only after most teams have the flag, or when the room is stuck.
The slide never shows a real flag: every computer has its own evidence and flags, so students still have to run the commands themselves.
Ask one student to explain the three steps in their own words. Offer the stretch question to anyone who finished early.
filetype is a small helper that works like the real 'file' command (which this tiny Linux doesn't have). Both read the magic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Russian dolls   [Medium, 200 points, You do, about 5 minutes]
Show this slide first. Read the brief out loud, then ask the three questions BEFORE anyone types. Take one answer per question; do not confirm or correct yet.
tar bundles files; gzip compresses. .tar.gz is both. -x extract, -z gzip, -f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Russian dolls
Race mission: reveal this slide only after most teams have the flag, or when the room is stuck.
The slide never shows a real flag: every computer has its own evidence and flags, so students still have to run the commands themselves.
Ask one student to explain the three steps in their own words. Offer the stretch question to anyone who finished early.
tar bundles files; gzip compresses. .tar.gz is both. -x extract, -z gzip, -f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Log detective   [Medium, 200 points, You do, about 5 minutes]
Show this slide first. Read the brief out loud, then ask the three questions BEFORE anyone types. Take one answer per question; do not confirm or correct yet.
All IP addresses are from the reserved documentation ranges (192.0.2.x, 198.51.100.x, 203.0.113.x), so they belong to nobody.
Build the pipe one stage at a time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Log detective
Race mission: reveal this slide only after most teams have the flag, or when the room is stuck.
The slide never shows a real flag: every computer has its own evidence and flags, so students still have to run the commands themselves.
Ask one student to explain the three steps in their own words. Offer the stretch question to anyone who finished early.
All IP addresses are from the reserved documentation ranges (192.0.2.x, 198.51.100.x, 203.0.113.x), so they belong to nobody.
Build the pipe one stage at a time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Hidden tail   [Medium, 200 points, You do, about 4 minutes]
Show this slide first. Read the brief out loud, then ask the three questions BEFORE anyone types. Take one answer per question; do not confirm or correct yet.
This is the simplest steganography: appending. Real stego can also hide data inside the pixels, which needs special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Hidden tail
Race mission: reveal this slide only after most teams have the flag, or when the room is stuck.
The slide never shows a real flag: every computer has its own evidence and flags, so students still have to run the commands themselves.
Ask one student to explain the three steps in their own words. Offer the stretch question to anyone who finished early.
This is the simplest steganography: appending. Real stego can also hide data inside the pixels, which needs special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Tampered   [Medium, 200 points, You do, about 5 minutes]
Show this slide first. Read the brief out loud, then ask the three questions BEFORE anyone types. Take one answer per question; do not confirm or correct yet.
Every program carries a decoy flag, so the hash comparison is the only way to know which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Tampered
Race mission: reveal this slide only after most teams have the flag, or when the room is stuck.
The slide never shows a real flag: every computer has its own evidence and flags, so students still have to run the commands themselves.
Ask one student to explain the three steps in their own words. Offer the stretch question to anyone who finished early.
Every program carries a decoy flag, so the hash comparison is the only way to know which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Persistence   [Hard, 400 points, You do, about 6 minutes]
Show this slide first. Read the brief out loud, then ask the three questions BEFORE anyone types. Take one answer per question; do not confirm or correct yet.
The script is inert: it only sets a variable and exits. Nothing in this CTF runs anything harmful.
Cron fields: minute, hour, day of month, month, day of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Persistence
Race mission: reveal this slide only after most teams have the flag, or when the room is stuck.
The slide never shows a real flag: every computer has its own evidence and flags, so students still have to run the commands themselves.
Ask one student to explain the three steps in their own words. Offer the stretch question to anyone who finished early.
The script is inert: it only sets a variable and exits. Nothing in this CTF runs anything harmful.
Cron fields: minute, hour, day of month, month, day of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Leaked in pieces   [Hard, 400 points, You do, about 6 minutes]
Show this slide first. Read the brief out loud, then ask the three questions BEFORE anyone types. Take one answer per question; do not confirm or correct yet.
Build the pipeline one stage at a time on the projector. Each stage's output should make sense before adding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Leaked in pieces
Race mission: reveal this slide only after most teams have the flag, or when the room is stuck.
The slide never shows a real flag: every computer has its own evidence and flags, so students still have to run the commands themselves.
Ask one student to explain the three steps in their own words. Offer the stretch question to anyone who finished early.
Build the pipeline one stage at a time on the projector. Each stage's output should make sense before adding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Case closed   [Very Hard, 800 points, You do, about 8 minutes]
Show this slide first. Read the brief out loud, then ask the three questions BEFORE anyone types. Take one answer per question; do not confirm or correct yet.
The user, the file and the IP change every load. If teams are stuck, point them back at Missions 5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Case closed
Race mission: reveal this slide only after most teams have the flag, or when the room is stuck.
The slide never shows a real flag: every computer has its own evidence and flags, so students still have to run the commands themselves.
Ask one student to explain the three steps in their own words. Offer the stretch question to anyone who finished early.
The user, the file and the IP change every load. If teams are stuck, point them back at Missions 5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teams compare answers out loud.
Who did they try?: grep &lt;attacker IP&gt; ~/mission5/auth.log | cut -d' ' -f6 | sort | uniq -c. Usually admin, root, test, guest, oracle: the classic guesses. Talk about why default usernames matter.
Timeline: write the attack as a timeline from Missions 1, 5, 8 and 9 (times are in the logs and ls -l). Compare with the next team.
Magic hunt: run filetype on everything in ~/mission10/homes/*/* and count each type.
Cron decoder: what do 0 2 * * * and 30 3 * * 0 mean in ~/mission8/cron/root? (2:00 every day; 3:30 every Sunday.)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last flag lands, the clock stops and the sidebar turns into the finish screen.
Points per mission and the total. 'Took' is how long each flag took since the previous one: the biggest Took shows which kind of evidence slowed you down. 'Time' is the clock reading at each submit.
Replay quest builds a brand-new computer with new evidence and new flags. Can you beat your time?
The times in this screenshot are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with the best case notes.
Fun closer: have everyone type the command on this slide. $(whoami) drops their username into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today used small, standard command-line tools. Professionals use bigger tools that do the same jobs at scale. Name them so students recognise them at the competition and in job ads. Most come pre-installed on Kali Linux.
The competition's own tool list for Forensics is Wireshark, binwalk, exiftool, strings and steghide. All five are on this slide.
Autopsy: a free forensics workbench with timelines. ExifTool: reads photo and document metadata. binwalk: finds files hidden inside other files. steghide and zsteg: steganography. Volatility: memory analysis. Wireshark: network traffic. Splunk and the ELK stack: search millions of log lines. Tripwire and AIDE: file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an investigation skill the class used today.
Ask students to count the stamps they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tracking down what happened on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students can do tomorrow, for free.
CyberQuest Academy is where the next challenges live: fill in the link. The Forensics CTF works at home on any computer; every replay has new evidence and new flags. Wireshark is free: download it at home and look at your own network traffic (only your own).
Thank the class and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The Forensics CTF lives in the same GitLab project as the Linux and Crypto CTFs, in public/forensics/. It reuses the same emulator and page code; only the missions, one helper tool and the Linux image differ.
Real-Linux mode boots v86 with forensics.cpio.gz: BusyBox plus the filetype helper in /bin. Every boot generates random flags and fresh evidence: file times, the attacker's IP and user, which photo lies, which program is tampered. Only SHA-256 hashes of the flags are kept, so there is no answer file. All IP addresses come from the reserved documentation ranges, and the 'persistence' script does nothing.
Lite mode (no WebAssembly) is a JavaScript simulated shell with the same missions and tools.
Rebuild after editing missions: python3 guest-forensics/make-lite.py, python3 guest-forensics/make-forensics.py, python3 guest-forensics/make-banner.py, then sh guest-forensics/build.sh.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so every device is booted for the Try it pills.
WRITE YOUR ADDRESS IN THE BOX before presenting. It is your GitLab Pages address with /forensics/ on the end, or pick Forensics CTF on the home page.
Most important rule: do not reload the page. A reload builds a new computer with new evidence and flags, and resets the clock and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and evidence are random on every page load and the CTF keeps only fingerprints, so there is no list of flags: play each mission yourself before class.
In lite mode $(...) is not supported: type values (IPs, file names)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the same as the Linux CTF: the school web filter, Pages visibility, or typing before clicking the terminal. The forensics-specific ones are below.
Plan B if most devices can't load it: drive the CTF on the projector and run the competition as 'We do', with teams racing to call out the next command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slideLayout" Target="../slideLayouts/slideLayout1.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1</a:t>
            </a:r>
            <a:endParaRPr lang="en-US" sz="1000" dirty="0"/>
          </a:p>
        </p:txBody>
      </p:sp>
      <p:sp>
        <p:nvSpPr>
          <p:cNvPr id="5" name="Text 2"/>
          <p:cNvSpPr txBox="1"/>
          <p:nvPr/>
        </p:nvSpPr>
        <p:spPr>
          <a:xfrm>
            <a:off x="548640" y="1234440"/>
            <a:ext cx="6035040" cy="1188720"/>
          </a:xfrm>
          <a:prstGeom prst="rect">
            <a:avLst/>
          </a:prstGeom>
          <a:noFill/>
          <a:ln/>
        </p:spPr>
        <p:txBody>
          <a:bodyPr wrap="square" lIns="0" tIns="0" rIns="0" bIns="0" rtlCol="0" anchor="ctr"/>
          <a:lstStyle/>
          <a:p>
            <a:pPr indent="0" marL="0">
              <a:buNone/>
            </a:pPr>
            <a:r>
              <a:rPr lang="en-US" sz="7200" b="1" dirty="0">
                <a:solidFill>
                  <a:srgbClr val="FFFFFF"/>
                </a:solidFill>
                <a:latin typeface="Arial" pitchFamily="34" charset="0"/>
                <a:ea typeface="Arial" pitchFamily="34" charset="-122"/>
                <a:cs typeface="Arial" pitchFamily="34" charset="-120"/>
              </a:rPr>
              <a:t>CyberQuest</a:t>
            </a:r>
            <a:endParaRPr lang="en-US" sz="7200" dirty="0"/>
          </a:p>
        </p:txBody>
      </p:sp>
      <p:sp>
        <p:nvSpPr>
          <p:cNvPr id="6" name="Text 3"/>
          <p:cNvSpPr txBox="1"/>
          <p:nvPr/>
        </p:nvSpPr>
        <p:spPr>
          <a:xfrm>
            <a:off x="548640" y="2514600"/>
            <a:ext cx="5760720" cy="1005840"/>
          </a:xfrm>
          <a:prstGeom prst="rect">
            <a:avLst/>
          </a:prstGeom>
          <a:noFill/>
          <a:ln/>
        </p:spPr>
        <p:txBody>
          <a:bodyPr wrap="square" lIns="0" tIns="0" rIns="0" bIns="0" rtlCol="0" anchor="ctr"/>
          <a:lstStyle/>
          <a:p>
            <a:pPr indent="0" marL="0">
              <a:buNone/>
            </a:pPr>
            <a:r>
              <a:rPr lang="en-US" sz="2800" dirty="0">
                <a:solidFill>
                  <a:srgbClr val="B8C4D9"/>
                </a:solidFill>
                <a:latin typeface="Calibri" pitchFamily="34" charset="0"/>
                <a:ea typeface="Calibri" pitchFamily="34" charset="-122"/>
                <a:cs typeface="Calibri" pitchFamily="34" charset="-120"/>
              </a:rPr>
              <a:t>Forensics CTF: read the evidence, then compete.</a:t>
            </a:r>
            <a:endParaRPr lang="en-US" sz="2800" dirty="0"/>
          </a:p>
        </p:txBody>
      </p:sp>
      <p:sp>
        <p:nvSpPr>
          <p:cNvPr id="7" name="Shape 4"/>
          <p:cNvSpPr/>
          <p:nvPr/>
        </p:nvSpPr>
        <p:spPr>
          <a:xfrm>
            <a:off x="548640" y="3794760"/>
            <a:ext cx="2743200" cy="347472"/>
          </a:xfrm>
          <a:prstGeom prst="roundRect">
            <a:avLst>
              <a:gd name="adj" fmla="val 50000"/>
            </a:avLst>
          </a:prstGeom>
          <a:solidFill>
            <a:srgbClr val="F5A623"/>
          </a:solidFill>
          <a:ln/>
        </p:spPr>
      </p:sp>
      <p:sp>
        <p:nvSpPr>
          <p:cNvPr id="8" name="Text 5"/>
          <p:cNvSpPr txBox="1"/>
          <p:nvPr/>
        </p:nvSpPr>
        <p:spPr>
          <a:xfrm>
            <a:off x="548640" y="3794760"/>
            <a:ext cx="2743200" cy="347472"/>
          </a:xfrm>
          <a:prstGeom prst="rect">
            <a:avLst/>
          </a:prstGeom>
          <a:noFill/>
          <a:ln/>
        </p:spPr>
        <p:txBody>
          <a:bodyPr wrap="square" lIns="0" tIns="0" rIns="0" bIns="0" rtlCol="0" anchor="ctr"/>
          <a:lstStyle/>
          <a:p>
            <a:pPr algn="ctr" indent="0" marL="0">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9" name="Text 6"/>
          <p:cNvSpPr txBox="1"/>
          <p:nvPr/>
        </p:nvSpPr>
        <p:spPr>
          <a:xfrm>
            <a:off x="548640" y="4434840"/>
            <a:ext cx="54864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CyberQuest Academy mentorship session</a:t>
            </a:r>
            <a:endParaRPr lang="en-US" sz="1700" dirty="0"/>
          </a:p>
        </p:txBody>
      </p:sp>
      <p:sp>
        <p:nvSpPr>
          <p:cNvPr id="10" name="Shape 7"/>
          <p:cNvSpPr/>
          <p:nvPr/>
        </p:nvSpPr>
        <p:spPr>
          <a:xfrm>
            <a:off x="548640" y="5349240"/>
            <a:ext cx="482803" cy="292608"/>
          </a:xfrm>
          <a:prstGeom prst="roundRect">
            <a:avLst>
              <a:gd name="adj" fmla="val 18750"/>
            </a:avLst>
          </a:prstGeom>
          <a:solidFill>
            <a:srgbClr val="17875A"/>
          </a:solidFill>
          <a:ln/>
        </p:spPr>
      </p:sp>
      <p:sp>
        <p:nvSpPr>
          <p:cNvPr id="11" name="Text 8"/>
          <p:cNvSpPr txBox="1"/>
          <p:nvPr/>
        </p:nvSpPr>
        <p:spPr>
          <a:xfrm>
            <a:off x="548640"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2" name="Shape 9"/>
          <p:cNvSpPr/>
          <p:nvPr/>
        </p:nvSpPr>
        <p:spPr>
          <a:xfrm>
            <a:off x="1104595" y="5349240"/>
            <a:ext cx="482803" cy="292608"/>
          </a:xfrm>
          <a:prstGeom prst="roundRect">
            <a:avLst>
              <a:gd name="adj" fmla="val 18750"/>
            </a:avLst>
          </a:prstGeom>
          <a:solidFill>
            <a:srgbClr val="2A9FD6"/>
          </a:solidFill>
          <a:ln/>
        </p:spPr>
      </p:sp>
      <p:sp>
        <p:nvSpPr>
          <p:cNvPr id="13" name="Text 10"/>
          <p:cNvSpPr txBox="1"/>
          <p:nvPr/>
        </p:nvSpPr>
        <p:spPr>
          <a:xfrm>
            <a:off x="1104595"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4" name="Shape 11"/>
          <p:cNvSpPr/>
          <p:nvPr/>
        </p:nvSpPr>
        <p:spPr>
          <a:xfrm>
            <a:off x="1660550" y="5349240"/>
            <a:ext cx="482803" cy="292608"/>
          </a:xfrm>
          <a:prstGeom prst="roundRect">
            <a:avLst>
              <a:gd name="adj" fmla="val 18750"/>
            </a:avLst>
          </a:prstGeom>
          <a:solidFill>
            <a:srgbClr val="2459D8"/>
          </a:solidFill>
          <a:ln/>
        </p:spPr>
      </p:sp>
      <p:sp>
        <p:nvSpPr>
          <p:cNvPr id="15" name="Text 12"/>
          <p:cNvSpPr txBox="1"/>
          <p:nvPr/>
        </p:nvSpPr>
        <p:spPr>
          <a:xfrm>
            <a:off x="1660550"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6" name="Shape 13"/>
          <p:cNvSpPr/>
          <p:nvPr/>
        </p:nvSpPr>
        <p:spPr>
          <a:xfrm>
            <a:off x="2216506" y="5349240"/>
            <a:ext cx="482803" cy="292608"/>
          </a:xfrm>
          <a:prstGeom prst="roundRect">
            <a:avLst>
              <a:gd name="adj" fmla="val 18750"/>
            </a:avLst>
          </a:prstGeom>
          <a:solidFill>
            <a:srgbClr val="7448D4"/>
          </a:solidFill>
          <a:ln/>
        </p:spPr>
      </p:sp>
      <p:sp>
        <p:nvSpPr>
          <p:cNvPr id="17" name="Text 14"/>
          <p:cNvSpPr txBox="1"/>
          <p:nvPr/>
        </p:nvSpPr>
        <p:spPr>
          <a:xfrm>
            <a:off x="2216506"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Shape 15"/>
          <p:cNvSpPr/>
          <p:nvPr/>
        </p:nvSpPr>
        <p:spPr>
          <a:xfrm>
            <a:off x="2772461" y="5349240"/>
            <a:ext cx="482803" cy="292608"/>
          </a:xfrm>
          <a:prstGeom prst="roundRect">
            <a:avLst>
              <a:gd name="adj" fmla="val 18750"/>
            </a:avLst>
          </a:prstGeom>
          <a:solidFill>
            <a:srgbClr val="D1416B"/>
          </a:solidFill>
          <a:ln/>
        </p:spPr>
      </p:sp>
      <p:sp>
        <p:nvSpPr>
          <p:cNvPr id="19" name="Text 16"/>
          <p:cNvSpPr txBox="1"/>
          <p:nvPr/>
        </p:nvSpPr>
        <p:spPr>
          <a:xfrm>
            <a:off x="2772461"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Shape 17"/>
          <p:cNvSpPr/>
          <p:nvPr/>
        </p:nvSpPr>
        <p:spPr>
          <a:xfrm>
            <a:off x="3328416" y="5349240"/>
            <a:ext cx="482803" cy="292608"/>
          </a:xfrm>
          <a:prstGeom prst="roundRect">
            <a:avLst>
              <a:gd name="adj" fmla="val 18750"/>
            </a:avLst>
          </a:prstGeom>
          <a:solidFill>
            <a:srgbClr val="E8820C"/>
          </a:solidFill>
          <a:ln/>
        </p:spPr>
      </p:sp>
      <p:sp>
        <p:nvSpPr>
          <p:cNvPr id="21" name="Text 18"/>
          <p:cNvSpPr txBox="1"/>
          <p:nvPr/>
        </p:nvSpPr>
        <p:spPr>
          <a:xfrm>
            <a:off x="3328416"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2" name="Shape 19"/>
          <p:cNvSpPr/>
          <p:nvPr/>
        </p:nvSpPr>
        <p:spPr>
          <a:xfrm>
            <a:off x="3884371" y="5349240"/>
            <a:ext cx="482803" cy="292608"/>
          </a:xfrm>
          <a:prstGeom prst="roundRect">
            <a:avLst>
              <a:gd name="adj" fmla="val 18750"/>
            </a:avLst>
          </a:prstGeom>
          <a:solidFill>
            <a:srgbClr val="C9A227"/>
          </a:solidFill>
          <a:ln/>
        </p:spPr>
      </p:sp>
      <p:sp>
        <p:nvSpPr>
          <p:cNvPr id="23" name="Text 20"/>
          <p:cNvSpPr txBox="1"/>
          <p:nvPr/>
        </p:nvSpPr>
        <p:spPr>
          <a:xfrm>
            <a:off x="3884371"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4" name="Shape 21"/>
          <p:cNvSpPr/>
          <p:nvPr/>
        </p:nvSpPr>
        <p:spPr>
          <a:xfrm>
            <a:off x="4440326" y="5349240"/>
            <a:ext cx="482803" cy="292608"/>
          </a:xfrm>
          <a:prstGeom prst="roundRect">
            <a:avLst>
              <a:gd name="adj" fmla="val 18750"/>
            </a:avLst>
          </a:prstGeom>
          <a:solidFill>
            <a:srgbClr val="0F9488"/>
          </a:solidFill>
          <a:ln/>
        </p:spPr>
      </p:sp>
      <p:sp>
        <p:nvSpPr>
          <p:cNvPr id="25" name="Text 22"/>
          <p:cNvSpPr txBox="1"/>
          <p:nvPr/>
        </p:nvSpPr>
        <p:spPr>
          <a:xfrm>
            <a:off x="4440326"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6" name="Shape 23"/>
          <p:cNvSpPr/>
          <p:nvPr/>
        </p:nvSpPr>
        <p:spPr>
          <a:xfrm>
            <a:off x="4996282" y="5349240"/>
            <a:ext cx="482803" cy="292608"/>
          </a:xfrm>
          <a:prstGeom prst="roundRect">
            <a:avLst>
              <a:gd name="adj" fmla="val 18750"/>
            </a:avLst>
          </a:prstGeom>
          <a:solidFill>
            <a:srgbClr val="5B6EE1"/>
          </a:solidFill>
          <a:ln/>
        </p:spPr>
      </p:sp>
      <p:sp>
        <p:nvSpPr>
          <p:cNvPr id="27" name="Text 24"/>
          <p:cNvSpPr txBox="1"/>
          <p:nvPr/>
        </p:nvSpPr>
        <p:spPr>
          <a:xfrm>
            <a:off x="4996282"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8" name="Shape 25"/>
          <p:cNvSpPr/>
          <p:nvPr/>
        </p:nvSpPr>
        <p:spPr>
          <a:xfrm>
            <a:off x="5552237" y="5349240"/>
            <a:ext cx="482803" cy="292608"/>
          </a:xfrm>
          <a:prstGeom prst="roundRect">
            <a:avLst>
              <a:gd name="adj" fmla="val 18750"/>
            </a:avLst>
          </a:prstGeom>
          <a:solidFill>
            <a:srgbClr val="B4233F"/>
          </a:solidFill>
          <a:ln/>
        </p:spPr>
      </p:sp>
      <p:sp>
        <p:nvSpPr>
          <p:cNvPr id="29" name="Text 26"/>
          <p:cNvSpPr txBox="1"/>
          <p:nvPr/>
        </p:nvSpPr>
        <p:spPr>
          <a:xfrm>
            <a:off x="5552237"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30" name="Shape 27"/>
          <p:cNvSpPr/>
          <p:nvPr/>
        </p:nvSpPr>
        <p:spPr>
          <a:xfrm>
            <a:off x="6675120" y="1097280"/>
            <a:ext cx="4965192" cy="4526280"/>
          </a:xfrm>
          <a:prstGeom prst="roundRect">
            <a:avLst>
              <a:gd name="adj" fmla="val 2424"/>
            </a:avLst>
          </a:prstGeom>
          <a:solidFill>
            <a:srgbClr val="162238"/>
          </a:solidFill>
          <a:ln w="12700">
            <a:solidFill>
              <a:srgbClr val="2B3B5C"/>
            </a:solidFill>
            <a:prstDash val="solid"/>
          </a:ln>
        </p:spPr>
      </p:sp>
      <p:sp>
        <p:nvSpPr>
          <p:cNvPr id="31" name="Shape 28"/>
          <p:cNvSpPr/>
          <p:nvPr/>
        </p:nvSpPr>
        <p:spPr>
          <a:xfrm>
            <a:off x="6903720" y="1280160"/>
            <a:ext cx="128016" cy="128016"/>
          </a:xfrm>
          <a:prstGeom prst="ellipse">
            <a:avLst/>
          </a:prstGeom>
          <a:solidFill>
            <a:srgbClr val="E5534B"/>
          </a:solidFill>
          <a:ln/>
        </p:spPr>
      </p:sp>
      <p:sp>
        <p:nvSpPr>
          <p:cNvPr id="32" name="Shape 29"/>
          <p:cNvSpPr/>
          <p:nvPr/>
        </p:nvSpPr>
        <p:spPr>
          <a:xfrm>
            <a:off x="7123176" y="1280160"/>
            <a:ext cx="128016" cy="128016"/>
          </a:xfrm>
          <a:prstGeom prst="ellipse">
            <a:avLst/>
          </a:prstGeom>
          <a:solidFill>
            <a:srgbClr val="F5A623"/>
          </a:solidFill>
          <a:ln/>
        </p:spPr>
      </p:sp>
      <p:sp>
        <p:nvSpPr>
          <p:cNvPr id="33" name="Shape 30"/>
          <p:cNvSpPr/>
          <p:nvPr/>
        </p:nvSpPr>
        <p:spPr>
          <a:xfrm>
            <a:off x="7342632" y="1280160"/>
            <a:ext cx="128016" cy="128016"/>
          </a:xfrm>
          <a:prstGeom prst="ellipse">
            <a:avLst/>
          </a:prstGeom>
          <a:solidFill>
            <a:srgbClr val="46D39A"/>
          </a:solidFill>
          <a:ln/>
        </p:spPr>
      </p:sp>
      <p:sp>
        <p:nvSpPr>
          <p:cNvPr id="34" name="Text 31"/>
          <p:cNvSpPr txBox="1"/>
          <p:nvPr/>
        </p:nvSpPr>
        <p:spPr>
          <a:xfrm>
            <a:off x="6995160" y="1691640"/>
            <a:ext cx="4389120" cy="3749040"/>
          </a:xfrm>
          <a:prstGeom prst="rect">
            <a:avLst/>
          </a:prstGeom>
          <a:noFill/>
          <a:ln/>
        </p:spPr>
        <p:txBody>
          <a:bodyPr wrap="square" lIns="0" tIns="0" rIns="0" bIns="0" rtlCol="0" anchor="t"/>
          <a:lstStyle/>
          <a:p>
            <a:pPr indent="0" marL="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300"/>
              </a:spcAft>
              <a:buNone/>
            </a:pPr>
            <a:r>
              <a:rPr lang="en-US" sz="1800" b="1" dirty="0">
                <a:solidFill>
                  <a:srgbClr val="FFFFFF"/>
                </a:solidFill>
                <a:latin typeface="Courier New" pitchFamily="34" charset="0"/>
                <a:ea typeface="Courier New" pitchFamily="34" charset="-122"/>
                <a:cs typeface="Courier New" pitchFamily="34" charset="-120"/>
              </a:rPr>
              <a:t>cat incident.txt</a:t>
            </a:r>
            <a:endParaRPr lang="en-US" sz="1800" dirty="0"/>
          </a:p>
          <a:p>
            <a:pPr indent="0" marL="0">
              <a:spcAft>
                <a:spcPts val="300"/>
              </a:spcAft>
              <a:buNone/>
            </a:pPr>
            <a:r>
              <a:rPr lang="en-US" sz="1800" dirty="0">
                <a:solidFill>
                  <a:srgbClr val="B8C4D9"/>
                </a:solidFill>
                <a:latin typeface="Courier New" pitchFamily="34" charset="0"/>
                <a:ea typeface="Courier New" pitchFamily="34" charset="-122"/>
                <a:cs typeface="Courier New" pitchFamily="34" charset="-120"/>
              </a:rPr>
              <a:t>Server breached overnight.</a:t>
            </a:r>
            <a:endParaRPr lang="en-US" sz="1800" dirty="0"/>
          </a:p>
          <a:p>
            <a:pPr indent="0" marL="0">
              <a:spcAft>
                <a:spcPts val="300"/>
              </a:spcAft>
              <a:buNone/>
            </a:pPr>
            <a:r>
              <a:rPr lang="en-US" sz="1800" dirty="0">
                <a:solidFill>
                  <a:srgbClr val="B8C4D9"/>
                </a:solidFill>
                <a:latin typeface="Courier New" pitchFamily="34" charset="0"/>
                <a:ea typeface="Courier New" pitchFamily="34" charset="-122"/>
                <a:cs typeface="Courier New" pitchFamily="34" charset="-120"/>
              </a:rPr>
              <a:t>Logs, files and images kept.</a:t>
            </a:r>
            <a:endParaRPr lang="en-US" sz="1800" dirty="0"/>
          </a:p>
          <a:p>
            <a:pPr indent="0" marL="0">
              <a:spcAft>
                <a:spcPts val="300"/>
              </a:spcAft>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indent="0" marL="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300"/>
              </a:spcAft>
              <a:buNone/>
            </a:pPr>
            <a:r>
              <a:rPr lang="en-US" sz="1800" b="1" dirty="0">
                <a:solidFill>
                  <a:srgbClr val="FFFFFF"/>
                </a:solidFill>
                <a:latin typeface="Courier New" pitchFamily="34" charset="0"/>
                <a:ea typeface="Courier New" pitchFamily="34" charset="-122"/>
                <a:cs typeface="Courier New" pitchFamily="34" charset="-120"/>
              </a:rPr>
              <a:t>./start-investigation</a:t>
            </a:r>
            <a:endParaRPr lang="en-US" sz="1800" dirty="0"/>
          </a:p>
          <a:p>
            <a:pPr indent="0" marL="0">
              <a:spcAft>
                <a:spcPts val="300"/>
              </a:spcAft>
              <a:buNone/>
            </a:pPr>
            <a:r>
              <a:rPr lang="en-US" sz="1800" dirty="0">
                <a:solidFill>
                  <a:srgbClr val="B8C4D9"/>
                </a:solidFill>
                <a:latin typeface="Courier New" pitchFamily="34" charset="0"/>
                <a:ea typeface="Courier New" pitchFamily="34" charset="-122"/>
                <a:cs typeface="Courier New" pitchFamily="34" charset="-120"/>
              </a:rPr>
              <a:t>10 clues, plus a warm-up</a:t>
            </a:r>
            <a:endParaRPr lang="en-US" sz="1800" dirty="0"/>
          </a:p>
          <a:p>
            <a:pPr indent="0" marL="0">
              <a:spcAft>
                <a:spcPts val="300"/>
              </a:spcAft>
              <a:buNone/>
            </a:pPr>
            <a:r>
              <a:rPr lang="en-US" sz="1800" dirty="0">
                <a:solidFill>
                  <a:srgbClr val="B8C4D9"/>
                </a:solidFill>
                <a:latin typeface="Courier New" pitchFamily="34" charset="0"/>
                <a:ea typeface="Courier New" pitchFamily="34" charset="-122"/>
                <a:cs typeface="Courier New" pitchFamily="34" charset="-120"/>
              </a:rPr>
              <a:t>2,700 points up for grabs</a:t>
            </a:r>
            <a:endParaRPr lang="en-US" sz="1800" dirty="0"/>
          </a:p>
          <a:p>
            <a:pPr indent="0" marL="0">
              <a:spcAft>
                <a:spcPts val="300"/>
              </a:spcAft>
              <a:buNone/>
            </a:pPr>
            <a:r>
              <a:rPr lang="en-US" sz="1800" b="1" dirty="0">
                <a:solidFill>
                  <a:srgbClr val="F5A623"/>
                </a:solidFill>
                <a:latin typeface="Courier New" pitchFamily="34" charset="0"/>
                <a:ea typeface="Courier New" pitchFamily="34" charset="-122"/>
                <a:cs typeface="Courier New" pitchFamily="34" charset="-120"/>
              </a:rPr>
              <a:t>Good luck, detective.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Today's mission, in four parts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554480"/>
            <a:ext cx="2624328" cy="3566160"/>
          </a:xfrm>
          <a:prstGeom prst="roundRect">
            <a:avLst>
              <a:gd name="adj" fmla="val 3484"/>
            </a:avLst>
          </a:prstGeom>
          <a:solidFill>
            <a:srgbClr val="F1F5FB"/>
          </a:solidFill>
          <a:ln/>
        </p:spPr>
      </p:sp>
      <p:sp>
        <p:nvSpPr>
          <p:cNvPr id="7" name="Text 4"/>
          <p:cNvSpPr txBox="1"/>
          <p:nvPr/>
        </p:nvSpPr>
        <p:spPr>
          <a:xfrm>
            <a:off x="777240" y="1737360"/>
            <a:ext cx="1737360" cy="1051560"/>
          </a:xfrm>
          <a:prstGeom prst="rect">
            <a:avLst/>
          </a:prstGeom>
          <a:noFill/>
          <a:ln/>
        </p:spPr>
        <p:txBody>
          <a:bodyPr wrap="square" lIns="0" tIns="0" rIns="0" bIns="0" rtlCol="0" anchor="ctr"/>
          <a:lstStyle/>
          <a:p>
            <a:pPr indent="0" marL="0">
              <a:buNone/>
            </a:pPr>
            <a:r>
              <a:rPr lang="en-US" sz="5800" b="1" dirty="0">
                <a:solidFill>
                  <a:srgbClr val="17875A"/>
                </a:solidFill>
                <a:latin typeface="Arial" pitchFamily="34" charset="0"/>
                <a:ea typeface="Arial" pitchFamily="34" charset="-122"/>
                <a:cs typeface="Arial" pitchFamily="34" charset="-120"/>
              </a:rPr>
              <a:t>10</a:t>
            </a:r>
            <a:endParaRPr lang="en-US" sz="5800" dirty="0"/>
          </a:p>
        </p:txBody>
      </p:sp>
      <p:sp>
        <p:nvSpPr>
          <p:cNvPr id="8" name="Text 5"/>
          <p:cNvSpPr txBox="1"/>
          <p:nvPr/>
        </p:nvSpPr>
        <p:spPr>
          <a:xfrm>
            <a:off x="777240" y="2788920"/>
            <a:ext cx="1737360" cy="3200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9" name="Text 6"/>
          <p:cNvSpPr txBox="1"/>
          <p:nvPr/>
        </p:nvSpPr>
        <p:spPr>
          <a:xfrm>
            <a:off x="777240" y="3246120"/>
            <a:ext cx="2194560" cy="457200"/>
          </a:xfrm>
          <a:prstGeom prst="rect">
            <a:avLst/>
          </a:prstGeom>
          <a:noFill/>
          <a:ln/>
        </p:spPr>
        <p:txBody>
          <a:bodyPr wrap="square" lIns="0" tIns="0" rIns="0" bIns="0" rtlCol="0" anchor="t"/>
          <a:lstStyle/>
          <a:p>
            <a:pPr indent="0" marL="0">
              <a:buNone/>
            </a:pPr>
            <a:r>
              <a:rPr lang="en-US" sz="2100" b="1" dirty="0">
                <a:solidFill>
                  <a:srgbClr val="12213A"/>
                </a:solidFill>
                <a:latin typeface="Arial" pitchFamily="34" charset="0"/>
                <a:ea typeface="Arial" pitchFamily="34" charset="-122"/>
                <a:cs typeface="Arial" pitchFamily="34" charset="-120"/>
              </a:rPr>
              <a:t>Forensics 101</a:t>
            </a:r>
            <a:endParaRPr lang="en-US" sz="2100" dirty="0"/>
          </a:p>
        </p:txBody>
      </p:sp>
      <p:sp>
        <p:nvSpPr>
          <p:cNvPr id="10" name="Text 7"/>
          <p:cNvSpPr txBox="1"/>
          <p:nvPr/>
        </p:nvSpPr>
        <p:spPr>
          <a:xfrm>
            <a:off x="777240" y="3749040"/>
            <a:ext cx="2194560" cy="128016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What investigators do, and where evidence hides.</a:t>
            </a:r>
            <a:endParaRPr lang="en-US" sz="1450" dirty="0"/>
          </a:p>
        </p:txBody>
      </p:sp>
      <p:sp>
        <p:nvSpPr>
          <p:cNvPr id="11" name="Shape 8"/>
          <p:cNvSpPr/>
          <p:nvPr/>
        </p:nvSpPr>
        <p:spPr>
          <a:xfrm>
            <a:off x="3355848" y="1554480"/>
            <a:ext cx="2624328" cy="3566160"/>
          </a:xfrm>
          <a:prstGeom prst="roundRect">
            <a:avLst>
              <a:gd name="adj" fmla="val 3484"/>
            </a:avLst>
          </a:prstGeom>
          <a:solidFill>
            <a:srgbClr val="F1F5FB"/>
          </a:solidFill>
          <a:ln/>
        </p:spPr>
      </p:sp>
      <p:sp>
        <p:nvSpPr>
          <p:cNvPr id="12" name="Text 9"/>
          <p:cNvSpPr txBox="1"/>
          <p:nvPr/>
        </p:nvSpPr>
        <p:spPr>
          <a:xfrm>
            <a:off x="3584448" y="1737360"/>
            <a:ext cx="1737360" cy="1051560"/>
          </a:xfrm>
          <a:prstGeom prst="rect">
            <a:avLst/>
          </a:prstGeom>
          <a:noFill/>
          <a:ln/>
        </p:spPr>
        <p:txBody>
          <a:bodyPr wrap="square" lIns="0" tIns="0" rIns="0" bIns="0" rtlCol="0" anchor="ctr"/>
          <a:lstStyle/>
          <a:p>
            <a:pPr indent="0" marL="0">
              <a:buNone/>
            </a:pPr>
            <a:r>
              <a:rPr lang="en-US" sz="5800" b="1" dirty="0">
                <a:solidFill>
                  <a:srgbClr val="2459D8"/>
                </a:solidFill>
                <a:latin typeface="Arial" pitchFamily="34" charset="0"/>
                <a:ea typeface="Arial" pitchFamily="34" charset="-122"/>
                <a:cs typeface="Arial" pitchFamily="34" charset="-120"/>
              </a:rPr>
              <a:t>25</a:t>
            </a:r>
            <a:endParaRPr lang="en-US" sz="5800" dirty="0"/>
          </a:p>
        </p:txBody>
      </p:sp>
      <p:sp>
        <p:nvSpPr>
          <p:cNvPr id="13" name="Text 10"/>
          <p:cNvSpPr txBox="1"/>
          <p:nvPr/>
        </p:nvSpPr>
        <p:spPr>
          <a:xfrm>
            <a:off x="3584448" y="2788920"/>
            <a:ext cx="1737360" cy="3200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4" name="Text 11"/>
          <p:cNvSpPr txBox="1"/>
          <p:nvPr/>
        </p:nvSpPr>
        <p:spPr>
          <a:xfrm>
            <a:off x="3584448" y="3246120"/>
            <a:ext cx="2194560" cy="457200"/>
          </a:xfrm>
          <a:prstGeom prst="rect">
            <a:avLst/>
          </a:prstGeom>
          <a:noFill/>
          <a:ln/>
        </p:spPr>
        <p:txBody>
          <a:bodyPr wrap="square" lIns="0" tIns="0" rIns="0" bIns="0" rtlCol="0" anchor="t"/>
          <a:lstStyle/>
          <a:p>
            <a:pPr indent="0" marL="0">
              <a:buNone/>
            </a:pPr>
            <a:r>
              <a:rPr lang="en-US" sz="2100" b="1" dirty="0">
                <a:solidFill>
                  <a:srgbClr val="12213A"/>
                </a:solidFill>
                <a:latin typeface="Arial" pitchFamily="34" charset="0"/>
                <a:ea typeface="Arial" pitchFamily="34" charset="-122"/>
                <a:cs typeface="Arial" pitchFamily="34" charset="-120"/>
              </a:rPr>
              <a:t>Toolkit</a:t>
            </a:r>
            <a:endParaRPr lang="en-US" sz="2100" dirty="0"/>
          </a:p>
        </p:txBody>
      </p:sp>
      <p:sp>
        <p:nvSpPr>
          <p:cNvPr id="15" name="Text 12"/>
          <p:cNvSpPr txBox="1"/>
          <p:nvPr/>
        </p:nvSpPr>
        <p:spPr>
          <a:xfrm>
            <a:off x="3584448" y="3749040"/>
            <a:ext cx="2194560" cy="128016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Open the CTF, then one tool per kind of evidence, in mission order.</a:t>
            </a:r>
            <a:endParaRPr lang="en-US" sz="1450" dirty="0"/>
          </a:p>
        </p:txBody>
      </p:sp>
      <p:sp>
        <p:nvSpPr>
          <p:cNvPr id="16" name="Shape 13"/>
          <p:cNvSpPr/>
          <p:nvPr/>
        </p:nvSpPr>
        <p:spPr>
          <a:xfrm>
            <a:off x="6163056" y="1554480"/>
            <a:ext cx="2624328" cy="3566160"/>
          </a:xfrm>
          <a:prstGeom prst="roundRect">
            <a:avLst>
              <a:gd name="adj" fmla="val 3484"/>
            </a:avLst>
          </a:prstGeom>
          <a:solidFill>
            <a:srgbClr val="F1F5FB"/>
          </a:solidFill>
          <a:ln/>
        </p:spPr>
      </p:sp>
      <p:sp>
        <p:nvSpPr>
          <p:cNvPr id="17" name="Text 14"/>
          <p:cNvSpPr txBox="1"/>
          <p:nvPr/>
        </p:nvSpPr>
        <p:spPr>
          <a:xfrm>
            <a:off x="6391656" y="1737360"/>
            <a:ext cx="1737360" cy="1051560"/>
          </a:xfrm>
          <a:prstGeom prst="rect">
            <a:avLst/>
          </a:prstGeom>
          <a:noFill/>
          <a:ln/>
        </p:spPr>
        <p:txBody>
          <a:bodyPr wrap="square" lIns="0" tIns="0" rIns="0" bIns="0" rtlCol="0" anchor="ctr"/>
          <a:lstStyle/>
          <a:p>
            <a:pPr indent="0" marL="0">
              <a:buNone/>
            </a:pPr>
            <a:r>
              <a:rPr lang="en-US" sz="5800" b="1" dirty="0">
                <a:solidFill>
                  <a:srgbClr val="7448D4"/>
                </a:solidFill>
                <a:latin typeface="Arial" pitchFamily="34" charset="0"/>
                <a:ea typeface="Arial" pitchFamily="34" charset="-122"/>
                <a:cs typeface="Arial" pitchFamily="34" charset="-120"/>
              </a:rPr>
              <a:t>42</a:t>
            </a:r>
            <a:endParaRPr lang="en-US" sz="5800" dirty="0"/>
          </a:p>
        </p:txBody>
      </p:sp>
      <p:sp>
        <p:nvSpPr>
          <p:cNvPr id="18" name="Text 15"/>
          <p:cNvSpPr txBox="1"/>
          <p:nvPr/>
        </p:nvSpPr>
        <p:spPr>
          <a:xfrm>
            <a:off x="6391656" y="2788920"/>
            <a:ext cx="1737360" cy="3200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9" name="Text 16"/>
          <p:cNvSpPr txBox="1"/>
          <p:nvPr/>
        </p:nvSpPr>
        <p:spPr>
          <a:xfrm>
            <a:off x="6391656" y="3246120"/>
            <a:ext cx="2194560" cy="457200"/>
          </a:xfrm>
          <a:prstGeom prst="rect">
            <a:avLst/>
          </a:prstGeom>
          <a:noFill/>
          <a:ln/>
        </p:spPr>
        <p:txBody>
          <a:bodyPr wrap="square" lIns="0" tIns="0" rIns="0" bIns="0" rtlCol="0" anchor="t"/>
          <a:lstStyle/>
          <a:p>
            <a:pPr indent="0" marL="0">
              <a:buNone/>
            </a:pPr>
            <a:r>
              <a:rPr lang="en-US" sz="2100" b="1" dirty="0">
                <a:solidFill>
                  <a:srgbClr val="12213A"/>
                </a:solidFill>
                <a:latin typeface="Arial" pitchFamily="34" charset="0"/>
                <a:ea typeface="Arial" pitchFamily="34" charset="-122"/>
                <a:cs typeface="Arial" pitchFamily="34" charset="-120"/>
              </a:rPr>
              <a:t>Compete</a:t>
            </a:r>
            <a:endParaRPr lang="en-US" sz="2100" dirty="0"/>
          </a:p>
        </p:txBody>
      </p:sp>
      <p:sp>
        <p:nvSpPr>
          <p:cNvPr id="20" name="Text 17"/>
          <p:cNvSpPr txBox="1"/>
          <p:nvPr/>
        </p:nvSpPr>
        <p:spPr>
          <a:xfrm>
            <a:off x="6391656" y="3749040"/>
            <a:ext cx="2194560" cy="128016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Ten clues, 2,700 points, one clock. Easiest first.</a:t>
            </a:r>
            <a:endParaRPr lang="en-US" sz="1450" dirty="0"/>
          </a:p>
        </p:txBody>
      </p:sp>
      <p:sp>
        <p:nvSpPr>
          <p:cNvPr id="21" name="Shape 18"/>
          <p:cNvSpPr/>
          <p:nvPr/>
        </p:nvSpPr>
        <p:spPr>
          <a:xfrm>
            <a:off x="8970264" y="1554480"/>
            <a:ext cx="2624328" cy="3566160"/>
          </a:xfrm>
          <a:prstGeom prst="roundRect">
            <a:avLst>
              <a:gd name="adj" fmla="val 3484"/>
            </a:avLst>
          </a:prstGeom>
          <a:solidFill>
            <a:srgbClr val="F1F5FB"/>
          </a:solidFill>
          <a:ln/>
        </p:spPr>
      </p:sp>
      <p:sp>
        <p:nvSpPr>
          <p:cNvPr id="22" name="Text 19"/>
          <p:cNvSpPr txBox="1"/>
          <p:nvPr/>
        </p:nvSpPr>
        <p:spPr>
          <a:xfrm>
            <a:off x="9198864" y="1737360"/>
            <a:ext cx="1737360" cy="1051560"/>
          </a:xfrm>
          <a:prstGeom prst="rect">
            <a:avLst/>
          </a:prstGeom>
          <a:noFill/>
          <a:ln/>
        </p:spPr>
        <p:txBody>
          <a:bodyPr wrap="square" lIns="0" tIns="0" rIns="0" bIns="0" rtlCol="0" anchor="ctr"/>
          <a:lstStyle/>
          <a:p>
            <a:pPr indent="0" marL="0">
              <a:buNone/>
            </a:pPr>
            <a:r>
              <a:rPr lang="en-US" sz="5800" b="1" dirty="0">
                <a:solidFill>
                  <a:srgbClr val="D1416B"/>
                </a:solidFill>
                <a:latin typeface="Arial" pitchFamily="34" charset="0"/>
                <a:ea typeface="Arial" pitchFamily="34" charset="-122"/>
                <a:cs typeface="Arial" pitchFamily="34" charset="-120"/>
              </a:rPr>
              <a:t>10</a:t>
            </a:r>
            <a:endParaRPr lang="en-US" sz="5800" dirty="0"/>
          </a:p>
        </p:txBody>
      </p:sp>
      <p:sp>
        <p:nvSpPr>
          <p:cNvPr id="23" name="Text 20"/>
          <p:cNvSpPr txBox="1"/>
          <p:nvPr/>
        </p:nvSpPr>
        <p:spPr>
          <a:xfrm>
            <a:off x="9198864" y="2788920"/>
            <a:ext cx="1737360" cy="3200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24" name="Text 21"/>
          <p:cNvSpPr txBox="1"/>
          <p:nvPr/>
        </p:nvSpPr>
        <p:spPr>
          <a:xfrm>
            <a:off x="9198864" y="3246120"/>
            <a:ext cx="2194560" cy="457200"/>
          </a:xfrm>
          <a:prstGeom prst="rect">
            <a:avLst/>
          </a:prstGeom>
          <a:noFill/>
          <a:ln/>
        </p:spPr>
        <p:txBody>
          <a:bodyPr wrap="square" lIns="0" tIns="0" rIns="0" bIns="0" rtlCol="0" anchor="t"/>
          <a:lstStyle/>
          <a:p>
            <a:pPr indent="0" marL="0">
              <a:buNone/>
            </a:pPr>
            <a:r>
              <a:rPr lang="en-US" sz="2100" b="1" dirty="0">
                <a:solidFill>
                  <a:srgbClr val="12213A"/>
                </a:solidFill>
                <a:latin typeface="Arial" pitchFamily="34" charset="0"/>
                <a:ea typeface="Arial" pitchFamily="34" charset="-122"/>
                <a:cs typeface="Arial" pitchFamily="34" charset="-120"/>
              </a:rPr>
              <a:t>Debrief</a:t>
            </a:r>
            <a:endParaRPr lang="en-US" sz="2100" dirty="0"/>
          </a:p>
        </p:txBody>
      </p:sp>
      <p:sp>
        <p:nvSpPr>
          <p:cNvPr id="25" name="Text 22"/>
          <p:cNvSpPr txBox="1"/>
          <p:nvPr/>
        </p:nvSpPr>
        <p:spPr>
          <a:xfrm>
            <a:off x="9198864" y="3749040"/>
            <a:ext cx="2194560" cy="128016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Pro tools, the real competition, and where this leads.</a:t>
            </a:r>
            <a:endParaRPr lang="en-US" sz="1450" dirty="0"/>
          </a:p>
        </p:txBody>
      </p:sp>
      <p:sp>
        <p:nvSpPr>
          <p:cNvPr id="26" name="Shape 23"/>
          <p:cNvSpPr/>
          <p:nvPr/>
        </p:nvSpPr>
        <p:spPr>
          <a:xfrm>
            <a:off x="548640" y="5349240"/>
            <a:ext cx="11094415" cy="685800"/>
          </a:xfrm>
          <a:prstGeom prst="roundRect">
            <a:avLst>
              <a:gd name="adj" fmla="val 13333"/>
            </a:avLst>
          </a:prstGeom>
          <a:solidFill>
            <a:srgbClr val="FFF4DC"/>
          </a:solidFill>
          <a:ln/>
        </p:spPr>
      </p:sp>
      <p:sp>
        <p:nvSpPr>
          <p:cNvPr id="27" name="Text 24"/>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The deal: </a:t>
            </a:r>
            <a:pPr indent="0" marL="0">
              <a:buNone/>
            </a:pPr>
            <a:r>
              <a:rPr lang="en-US" sz="1700" dirty="0">
                <a:solidFill>
                  <a:srgbClr val="12213A"/>
                </a:solidFill>
                <a:latin typeface="Calibri" pitchFamily="34" charset="0"/>
                <a:ea typeface="Calibri" pitchFamily="34" charset="-122"/>
                <a:cs typeface="Calibri" pitchFamily="34" charset="-120"/>
              </a:rPr>
              <a:t>every clue can be found with a short command and a good question. Investigators ask before they type.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is a forensics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508760"/>
            <a:ext cx="11094415" cy="1371600"/>
          </a:xfrm>
          <a:prstGeom prst="roundRect">
            <a:avLst>
              <a:gd name="adj" fmla="val 6667"/>
            </a:avLst>
          </a:prstGeom>
          <a:solidFill>
            <a:srgbClr val="0E1726"/>
          </a:solidFill>
          <a:ln/>
        </p:spPr>
      </p:sp>
      <p:sp>
        <p:nvSpPr>
          <p:cNvPr id="7" name="Text 4"/>
          <p:cNvSpPr txBox="1"/>
          <p:nvPr/>
        </p:nvSpPr>
        <p:spPr>
          <a:xfrm>
            <a:off x="548640" y="1508760"/>
            <a:ext cx="11094415" cy="1371600"/>
          </a:xfrm>
          <a:prstGeom prst="rect">
            <a:avLst/>
          </a:prstGeom>
          <a:noFill/>
          <a:ln/>
        </p:spPr>
        <p:txBody>
          <a:bodyPr wrap="square" lIns="0" tIns="0" rIns="0" bIns="0" rtlCol="0" anchor="ctr"/>
          <a:lstStyle/>
          <a:p>
            <a:pPr algn="ctr" indent="0" marL="0">
              <a:buNone/>
            </a:pPr>
            <a:r>
              <a:rPr lang="en-US" sz="4000" b="1" dirty="0">
                <a:solidFill>
                  <a:srgbClr val="7FB2FF"/>
                </a:solidFill>
                <a:latin typeface="Courier New" pitchFamily="34" charset="0"/>
                <a:ea typeface="Courier New" pitchFamily="34" charset="-122"/>
                <a:cs typeface="Courier New" pitchFamily="34" charset="-120"/>
              </a:rPr>
              <a:t>CYBA</a:t>
            </a:r>
            <a:pPr algn="ctr" indent="0" marL="0">
              <a:buNone/>
            </a:pPr>
            <a:r>
              <a:rPr lang="en-US" sz="4000" b="1" dirty="0">
                <a:solidFill>
                  <a:srgbClr val="F5A623"/>
                </a:solidFill>
                <a:latin typeface="Courier New" pitchFamily="34" charset="0"/>
                <a:ea typeface="Courier New" pitchFamily="34" charset="-122"/>
                <a:cs typeface="Courier New" pitchFamily="34" charset="-120"/>
              </a:rPr>
              <a:t>{</a:t>
            </a:r>
            <a:pPr algn="ctr" indent="0" marL="0">
              <a:buNone/>
            </a:pPr>
            <a:r>
              <a:rPr lang="en-US" sz="4000" b="1" dirty="0">
                <a:solidFill>
                  <a:srgbClr val="46D39A"/>
                </a:solidFill>
                <a:latin typeface="Courier New" pitchFamily="34" charset="0"/>
                <a:ea typeface="Courier New" pitchFamily="34" charset="-122"/>
                <a:cs typeface="Courier New" pitchFamily="34" charset="-120"/>
              </a:rPr>
              <a:t>case-4c8c640b</a:t>
            </a:r>
            <a:pPr algn="ctr" indent="0" marL="0">
              <a:buNone/>
            </a:pPr>
            <a:r>
              <a:rPr lang="en-US" sz="4000" b="1" dirty="0">
                <a:solidFill>
                  <a:srgbClr val="F5A623"/>
                </a:solidFill>
                <a:latin typeface="Courier New" pitchFamily="34" charset="0"/>
                <a:ea typeface="Courier New" pitchFamily="34" charset="-122"/>
                <a:cs typeface="Courier New" pitchFamily="34" charset="-120"/>
              </a:rPr>
              <a:t>}</a:t>
            </a:r>
            <a:endParaRPr lang="en-US" sz="4000" dirty="0"/>
          </a:p>
        </p:txBody>
      </p:sp>
      <p:sp>
        <p:nvSpPr>
          <p:cNvPr id="8" name="Shape 5"/>
          <p:cNvSpPr/>
          <p:nvPr/>
        </p:nvSpPr>
        <p:spPr>
          <a:xfrm>
            <a:off x="548640" y="3154680"/>
            <a:ext cx="3566160" cy="1508760"/>
          </a:xfrm>
          <a:prstGeom prst="roundRect">
            <a:avLst>
              <a:gd name="adj" fmla="val 6061"/>
            </a:avLst>
          </a:prstGeom>
          <a:solidFill>
            <a:srgbClr val="F1F5FB"/>
          </a:solidFill>
          <a:ln/>
        </p:spPr>
      </p:sp>
      <p:sp>
        <p:nvSpPr>
          <p:cNvPr id="9" name="Text 6"/>
          <p:cNvSpPr txBox="1"/>
          <p:nvPr/>
        </p:nvSpPr>
        <p:spPr>
          <a:xfrm>
            <a:off x="777240" y="3291840"/>
            <a:ext cx="3108960" cy="365760"/>
          </a:xfrm>
          <a:prstGeom prst="rect">
            <a:avLst/>
          </a:prstGeom>
          <a:noFill/>
          <a:ln/>
        </p:spPr>
        <p:txBody>
          <a:bodyPr wrap="square" lIns="0" tIns="0" rIns="0" bIns="0" rtlCol="0" anchor="t"/>
          <a:lstStyle/>
          <a:p>
            <a:pPr indent="0" marL="0">
              <a:buNone/>
            </a:pPr>
            <a:r>
              <a:rPr lang="en-US" sz="1900" b="1" dirty="0">
                <a:solidFill>
                  <a:srgbClr val="C07A00"/>
                </a:solidFill>
                <a:latin typeface="Courier New" pitchFamily="34" charset="0"/>
                <a:ea typeface="Courier New" pitchFamily="34" charset="-122"/>
                <a:cs typeface="Courier New" pitchFamily="34" charset="-120"/>
              </a:rPr>
              <a:t>Evidence</a:t>
            </a:r>
            <a:endParaRPr lang="en-US" sz="1900" dirty="0"/>
          </a:p>
        </p:txBody>
      </p:sp>
      <p:sp>
        <p:nvSpPr>
          <p:cNvPr id="10" name="Text 7"/>
          <p:cNvSpPr txBox="1"/>
          <p:nvPr/>
        </p:nvSpPr>
        <p:spPr>
          <a:xfrm>
            <a:off x="777240"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What you're given</a:t>
            </a:r>
            <a:endParaRPr lang="en-US" sz="1600" dirty="0"/>
          </a:p>
        </p:txBody>
      </p:sp>
      <p:sp>
        <p:nvSpPr>
          <p:cNvPr id="11" name="Text 8"/>
          <p:cNvSpPr txBox="1"/>
          <p:nvPr/>
        </p:nvSpPr>
        <p:spPr>
          <a:xfrm>
            <a:off x="777240"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Logs, files, images, archives and a memory dump.</a:t>
            </a:r>
            <a:endParaRPr lang="en-US" sz="1400" dirty="0"/>
          </a:p>
        </p:txBody>
      </p:sp>
      <p:sp>
        <p:nvSpPr>
          <p:cNvPr id="12" name="Shape 9"/>
          <p:cNvSpPr/>
          <p:nvPr/>
        </p:nvSpPr>
        <p:spPr>
          <a:xfrm>
            <a:off x="4306824" y="3154680"/>
            <a:ext cx="3566160" cy="1508760"/>
          </a:xfrm>
          <a:prstGeom prst="roundRect">
            <a:avLst>
              <a:gd name="adj" fmla="val 6061"/>
            </a:avLst>
          </a:prstGeom>
          <a:solidFill>
            <a:srgbClr val="F1F5FB"/>
          </a:solidFill>
          <a:ln/>
        </p:spPr>
      </p:sp>
      <p:sp>
        <p:nvSpPr>
          <p:cNvPr id="13" name="Text 10"/>
          <p:cNvSpPr txBox="1"/>
          <p:nvPr/>
        </p:nvSpPr>
        <p:spPr>
          <a:xfrm>
            <a:off x="4535424" y="3291840"/>
            <a:ext cx="3108960" cy="365760"/>
          </a:xfrm>
          <a:prstGeom prst="rect">
            <a:avLst/>
          </a:prstGeom>
          <a:noFill/>
          <a:ln/>
        </p:spPr>
        <p:txBody>
          <a:bodyPr wrap="square" lIns="0" tIns="0" rIns="0" bIns="0" rtlCol="0" anchor="t"/>
          <a:lstStyle/>
          <a:p>
            <a:pPr indent="0" marL="0">
              <a:buNone/>
            </a:pPr>
            <a:r>
              <a:rPr lang="en-US" sz="1900" b="1" dirty="0">
                <a:solidFill>
                  <a:srgbClr val="2459D8"/>
                </a:solidFill>
                <a:latin typeface="Courier New" pitchFamily="34" charset="0"/>
                <a:ea typeface="Courier New" pitchFamily="34" charset="-122"/>
                <a:cs typeface="Courier New" pitchFamily="34" charset="-120"/>
              </a:rPr>
              <a:t>Investigate</a:t>
            </a:r>
            <a:endParaRPr lang="en-US" sz="1900" dirty="0"/>
          </a:p>
        </p:txBody>
      </p:sp>
      <p:sp>
        <p:nvSpPr>
          <p:cNvPr id="14" name="Text 11"/>
          <p:cNvSpPr txBox="1"/>
          <p:nvPr/>
        </p:nvSpPr>
        <p:spPr>
          <a:xfrm>
            <a:off x="4535424"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Your job</a:t>
            </a:r>
            <a:endParaRPr lang="en-US" sz="1600" dirty="0"/>
          </a:p>
        </p:txBody>
      </p:sp>
      <p:sp>
        <p:nvSpPr>
          <p:cNvPr id="15" name="Text 12"/>
          <p:cNvSpPr txBox="1"/>
          <p:nvPr/>
        </p:nvSpPr>
        <p:spPr>
          <a:xfrm>
            <a:off x="4535424"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Ask what happened, then find the proof.</a:t>
            </a:r>
            <a:endParaRPr lang="en-US" sz="1400" dirty="0"/>
          </a:p>
        </p:txBody>
      </p:sp>
      <p:sp>
        <p:nvSpPr>
          <p:cNvPr id="16" name="Shape 13"/>
          <p:cNvSpPr/>
          <p:nvPr/>
        </p:nvSpPr>
        <p:spPr>
          <a:xfrm>
            <a:off x="8065008" y="3154680"/>
            <a:ext cx="3566160" cy="1508760"/>
          </a:xfrm>
          <a:prstGeom prst="roundRect">
            <a:avLst>
              <a:gd name="adj" fmla="val 6061"/>
            </a:avLst>
          </a:prstGeom>
          <a:solidFill>
            <a:srgbClr val="F1F5FB"/>
          </a:solidFill>
          <a:ln/>
        </p:spPr>
      </p:sp>
      <p:sp>
        <p:nvSpPr>
          <p:cNvPr id="17" name="Text 14"/>
          <p:cNvSpPr txBox="1"/>
          <p:nvPr/>
        </p:nvSpPr>
        <p:spPr>
          <a:xfrm>
            <a:off x="8293608" y="3291840"/>
            <a:ext cx="3108960" cy="365760"/>
          </a:xfrm>
          <a:prstGeom prst="rect">
            <a:avLst/>
          </a:prstGeom>
          <a:noFill/>
          <a:ln/>
        </p:spPr>
        <p:txBody>
          <a:bodyPr wrap="square" lIns="0" tIns="0" rIns="0" bIns="0" rtlCol="0" anchor="t"/>
          <a:lstStyle/>
          <a:p>
            <a:pPr indent="0" marL="0">
              <a:buNone/>
            </a:pPr>
            <a:r>
              <a:rPr lang="en-US" sz="1900" b="1" dirty="0">
                <a:solidFill>
                  <a:srgbClr val="17875A"/>
                </a:solidFill>
                <a:latin typeface="Courier New" pitchFamily="34" charset="0"/>
                <a:ea typeface="Courier New" pitchFamily="34" charset="-122"/>
                <a:cs typeface="Courier New" pitchFamily="34" charset="-120"/>
              </a:rPr>
              <a:t>CYBA{...}</a:t>
            </a:r>
            <a:endParaRPr lang="en-US" sz="1900" dirty="0"/>
          </a:p>
        </p:txBody>
      </p:sp>
      <p:sp>
        <p:nvSpPr>
          <p:cNvPr id="18" name="Text 15"/>
          <p:cNvSpPr txBox="1"/>
          <p:nvPr/>
        </p:nvSpPr>
        <p:spPr>
          <a:xfrm>
            <a:off x="8293608"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The proof</a:t>
            </a:r>
            <a:endParaRPr lang="en-US" sz="1600" dirty="0"/>
          </a:p>
        </p:txBody>
      </p:sp>
      <p:sp>
        <p:nvSpPr>
          <p:cNvPr id="19" name="Text 16"/>
          <p:cNvSpPr txBox="1"/>
          <p:nvPr/>
        </p:nvSpPr>
        <p:spPr>
          <a:xfrm>
            <a:off x="8293608"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Each flag is a clue you dug out of the evidence.</a:t>
            </a:r>
            <a:endParaRPr lang="en-US" sz="1400" dirty="0"/>
          </a:p>
        </p:txBody>
      </p:sp>
      <p:sp>
        <p:nvSpPr>
          <p:cNvPr id="20" name="Shape 17"/>
          <p:cNvSpPr/>
          <p:nvPr/>
        </p:nvSpPr>
        <p:spPr>
          <a:xfrm>
            <a:off x="548640" y="4983480"/>
            <a:ext cx="2377440" cy="914400"/>
          </a:xfrm>
          <a:prstGeom prst="roundRect">
            <a:avLst>
              <a:gd name="adj" fmla="val 10000"/>
            </a:avLst>
          </a:prstGeom>
          <a:solidFill>
            <a:srgbClr val="2A9FD6"/>
          </a:solidFill>
          <a:ln/>
        </p:spPr>
      </p:sp>
      <p:sp>
        <p:nvSpPr>
          <p:cNvPr id="21" name="Text 18"/>
          <p:cNvSpPr txBox="1"/>
          <p:nvPr/>
        </p:nvSpPr>
        <p:spPr>
          <a:xfrm>
            <a:off x="548640"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Read</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case</a:t>
            </a:r>
            <a:endParaRPr lang="en-US" sz="2000" dirty="0"/>
          </a:p>
        </p:txBody>
      </p:sp>
      <p:sp>
        <p:nvSpPr>
          <p:cNvPr id="22" name="Text 19"/>
          <p:cNvSpPr txBox="1"/>
          <p:nvPr/>
        </p:nvSpPr>
        <p:spPr>
          <a:xfrm>
            <a:off x="2926080"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3" name="Shape 20"/>
          <p:cNvSpPr/>
          <p:nvPr/>
        </p:nvSpPr>
        <p:spPr>
          <a:xfrm>
            <a:off x="3355848" y="4983480"/>
            <a:ext cx="2377440" cy="914400"/>
          </a:xfrm>
          <a:prstGeom prst="roundRect">
            <a:avLst>
              <a:gd name="adj" fmla="val 10000"/>
            </a:avLst>
          </a:prstGeom>
          <a:solidFill>
            <a:srgbClr val="2459D8"/>
          </a:solidFill>
          <a:ln/>
        </p:spPr>
      </p:sp>
      <p:sp>
        <p:nvSpPr>
          <p:cNvPr id="24" name="Text 21"/>
          <p:cNvSpPr txBox="1"/>
          <p:nvPr/>
        </p:nvSpPr>
        <p:spPr>
          <a:xfrm>
            <a:off x="3355848"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evidence</a:t>
            </a:r>
            <a:endParaRPr lang="en-US" sz="2000" dirty="0"/>
          </a:p>
        </p:txBody>
      </p:sp>
      <p:sp>
        <p:nvSpPr>
          <p:cNvPr id="25" name="Text 22"/>
          <p:cNvSpPr txBox="1"/>
          <p:nvPr/>
        </p:nvSpPr>
        <p:spPr>
          <a:xfrm>
            <a:off x="5733288"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6" name="Shape 23"/>
          <p:cNvSpPr/>
          <p:nvPr/>
        </p:nvSpPr>
        <p:spPr>
          <a:xfrm>
            <a:off x="6163056" y="4983480"/>
            <a:ext cx="2377440" cy="914400"/>
          </a:xfrm>
          <a:prstGeom prst="roundRect">
            <a:avLst>
              <a:gd name="adj" fmla="val 10000"/>
            </a:avLst>
          </a:prstGeom>
          <a:solidFill>
            <a:srgbClr val="7448D4"/>
          </a:solidFill>
          <a:ln/>
        </p:spPr>
      </p:sp>
      <p:sp>
        <p:nvSpPr>
          <p:cNvPr id="27" name="Text 24"/>
          <p:cNvSpPr txBox="1"/>
          <p:nvPr/>
        </p:nvSpPr>
        <p:spPr>
          <a:xfrm>
            <a:off x="6163056"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whole flag</a:t>
            </a:r>
            <a:endParaRPr lang="en-US" sz="2000" dirty="0"/>
          </a:p>
        </p:txBody>
      </p:sp>
      <p:sp>
        <p:nvSpPr>
          <p:cNvPr id="28" name="Text 25"/>
          <p:cNvSpPr txBox="1"/>
          <p:nvPr/>
        </p:nvSpPr>
        <p:spPr>
          <a:xfrm>
            <a:off x="8540496"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9" name="Shape 26"/>
          <p:cNvSpPr/>
          <p:nvPr/>
        </p:nvSpPr>
        <p:spPr>
          <a:xfrm>
            <a:off x="8970264" y="4983480"/>
            <a:ext cx="2377440" cy="914400"/>
          </a:xfrm>
          <a:prstGeom prst="roundRect">
            <a:avLst>
              <a:gd name="adj" fmla="val 10000"/>
            </a:avLst>
          </a:prstGeom>
          <a:solidFill>
            <a:srgbClr val="D1416B"/>
          </a:solidFill>
          <a:ln/>
        </p:spPr>
      </p:sp>
      <p:sp>
        <p:nvSpPr>
          <p:cNvPr id="30" name="Text 27"/>
          <p:cNvSpPr txBox="1"/>
          <p:nvPr/>
        </p:nvSpPr>
        <p:spPr>
          <a:xfrm>
            <a:off x="8970264"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indent="0" marL="0">
              <a:buNone/>
            </a:pPr>
            <a:r>
              <a:rPr lang="en-US" sz="25000" b="1" dirty="0">
                <a:solidFill>
                  <a:srgbClr val="17875A"/>
                </a:solidFill>
                <a:latin typeface="Arial" pitchFamily="34" charset="0"/>
                <a:ea typeface="Arial" pitchFamily="34" charset="-122"/>
                <a:cs typeface="Arial" pitchFamily="34" charset="-120"/>
              </a:rPr>
              <a:t>1</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indent="0" marL="0">
              <a:buNone/>
            </a:pPr>
            <a:r>
              <a:rPr lang="en-US" sz="1600" dirty="0">
                <a:solidFill>
                  <a:srgbClr val="7F8FAD"/>
                </a:solidFill>
                <a:latin typeface="Courier New" pitchFamily="34" charset="0"/>
                <a:ea typeface="Courier New" pitchFamily="34" charset="-122"/>
                <a:cs typeface="Courier New" pitchFamily="34" charset="-120"/>
              </a:rPr>
              <a:t>Part 1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Forensics fundamentals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What investigators do, where evidence hides, and why you never trust a file's name.</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sp>
      <p:sp>
        <p:nvSpPr>
          <p:cNvPr id="10" name="Text 7"/>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ls -l --full-time evidence/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digital investigators do</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48640" y="1600200"/>
            <a:ext cx="2011680" cy="3200400"/>
          </a:xfrm>
          <a:prstGeom prst="roundRect">
            <a:avLst>
              <a:gd name="adj" fmla="val 4545"/>
            </a:avLst>
          </a:prstGeom>
          <a:solidFill>
            <a:srgbClr val="F1F5FB"/>
          </a:solidFill>
          <a:ln/>
        </p:spPr>
      </p:sp>
      <p:sp>
        <p:nvSpPr>
          <p:cNvPr id="7" name="Shape 4"/>
          <p:cNvSpPr/>
          <p:nvPr/>
        </p:nvSpPr>
        <p:spPr>
          <a:xfrm>
            <a:off x="1097280" y="1828800"/>
            <a:ext cx="914400" cy="914400"/>
          </a:xfrm>
          <a:prstGeom prst="ellipse">
            <a:avLst/>
          </a:prstGeom>
          <a:solidFill>
            <a:srgbClr val="17875A"/>
          </a:solidFill>
          <a:ln/>
        </p:spPr>
      </p:sp>
      <p:pic>
        <p:nvPicPr>
          <p:cNvPr id="8" name="Image 0" descr="preencoded.png">    </p:cNvPr>
          <p:cNvPicPr>
            <a:picLocks noChangeAspect="1"/>
          </p:cNvPicPr>
          <p:nvPr/>
        </p:nvPicPr>
        <p:blipFill>
          <a:blip r:embed="rId1"/>
          <a:stretch>
            <a:fillRect/>
          </a:stretch>
        </p:blipFill>
        <p:spPr>
          <a:xfrm>
            <a:off x="1325880" y="2057400"/>
            <a:ext cx="457200" cy="457200"/>
          </a:xfrm>
          <a:prstGeom prst="rect">
            <a:avLst/>
          </a:prstGeom>
        </p:spPr>
      </p:pic>
      <p:sp>
        <p:nvSpPr>
          <p:cNvPr id="9" name="Text 5"/>
          <p:cNvSpPr txBox="1"/>
          <p:nvPr/>
        </p:nvSpPr>
        <p:spPr>
          <a:xfrm>
            <a:off x="685800" y="2971800"/>
            <a:ext cx="17373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Arial" pitchFamily="34" charset="0"/>
                <a:ea typeface="Arial" pitchFamily="34" charset="-122"/>
                <a:cs typeface="Arial" pitchFamily="34" charset="-120"/>
              </a:rPr>
              <a:t>Preserve</a:t>
            </a:r>
            <a:endParaRPr lang="en-US" sz="2200" dirty="0"/>
          </a:p>
        </p:txBody>
      </p:sp>
      <p:sp>
        <p:nvSpPr>
          <p:cNvPr id="10" name="Text 6"/>
          <p:cNvSpPr txBox="1"/>
          <p:nvPr/>
        </p:nvSpPr>
        <p:spPr>
          <a:xfrm>
            <a:off x="731520"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Copy the evidence and fingerprint it (hash).</a:t>
            </a:r>
            <a:endParaRPr lang="en-US" sz="1500" dirty="0"/>
          </a:p>
        </p:txBody>
      </p:sp>
      <p:sp>
        <p:nvSpPr>
          <p:cNvPr id="11" name="Text 7"/>
          <p:cNvSpPr txBox="1"/>
          <p:nvPr/>
        </p:nvSpPr>
        <p:spPr>
          <a:xfrm>
            <a:off x="2560320"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8"/>
          <p:cNvSpPr/>
          <p:nvPr/>
        </p:nvSpPr>
        <p:spPr>
          <a:xfrm>
            <a:off x="2816352" y="1600200"/>
            <a:ext cx="2011680" cy="3200400"/>
          </a:xfrm>
          <a:prstGeom prst="roundRect">
            <a:avLst>
              <a:gd name="adj" fmla="val 4545"/>
            </a:avLst>
          </a:prstGeom>
          <a:solidFill>
            <a:srgbClr val="F1F5FB"/>
          </a:solidFill>
          <a:ln/>
        </p:spPr>
      </p:sp>
      <p:sp>
        <p:nvSpPr>
          <p:cNvPr id="13" name="Shape 9"/>
          <p:cNvSpPr/>
          <p:nvPr/>
        </p:nvSpPr>
        <p:spPr>
          <a:xfrm>
            <a:off x="3364992" y="1828800"/>
            <a:ext cx="914400" cy="914400"/>
          </a:xfrm>
          <a:prstGeom prst="ellipse">
            <a:avLst/>
          </a:prstGeom>
          <a:solidFill>
            <a:srgbClr val="2A9FD6"/>
          </a:solidFill>
          <a:ln/>
        </p:spPr>
      </p:sp>
      <p:pic>
        <p:nvPicPr>
          <p:cNvPr id="14" name="Image 1" descr="preencoded.png">    </p:cNvPr>
          <p:cNvPicPr>
            <a:picLocks noChangeAspect="1"/>
          </p:cNvPicPr>
          <p:nvPr/>
        </p:nvPicPr>
        <p:blipFill>
          <a:blip r:embed="rId2"/>
          <a:stretch>
            <a:fillRect/>
          </a:stretch>
        </p:blipFill>
        <p:spPr>
          <a:xfrm>
            <a:off x="3593592" y="2057400"/>
            <a:ext cx="457200" cy="457200"/>
          </a:xfrm>
          <a:prstGeom prst="rect">
            <a:avLst/>
          </a:prstGeom>
        </p:spPr>
      </p:pic>
      <p:sp>
        <p:nvSpPr>
          <p:cNvPr id="15" name="Text 10"/>
          <p:cNvSpPr txBox="1"/>
          <p:nvPr/>
        </p:nvSpPr>
        <p:spPr>
          <a:xfrm>
            <a:off x="2953512" y="2971800"/>
            <a:ext cx="17373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Arial" pitchFamily="34" charset="0"/>
                <a:ea typeface="Arial" pitchFamily="34" charset="-122"/>
                <a:cs typeface="Arial" pitchFamily="34" charset="-120"/>
              </a:rPr>
              <a:t>Collect</a:t>
            </a:r>
            <a:endParaRPr lang="en-US" sz="2200" dirty="0"/>
          </a:p>
        </p:txBody>
      </p:sp>
      <p:sp>
        <p:nvSpPr>
          <p:cNvPr id="16" name="Text 11"/>
          <p:cNvSpPr txBox="1"/>
          <p:nvPr/>
        </p:nvSpPr>
        <p:spPr>
          <a:xfrm>
            <a:off x="2999232"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Logs, files, images, memory, traffic.</a:t>
            </a:r>
            <a:endParaRPr lang="en-US" sz="1500" dirty="0"/>
          </a:p>
        </p:txBody>
      </p:sp>
      <p:sp>
        <p:nvSpPr>
          <p:cNvPr id="17" name="Text 12"/>
          <p:cNvSpPr txBox="1"/>
          <p:nvPr/>
        </p:nvSpPr>
        <p:spPr>
          <a:xfrm>
            <a:off x="4828032"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8" name="Shape 13"/>
          <p:cNvSpPr/>
          <p:nvPr/>
        </p:nvSpPr>
        <p:spPr>
          <a:xfrm>
            <a:off x="5084064" y="1600200"/>
            <a:ext cx="2011680" cy="3200400"/>
          </a:xfrm>
          <a:prstGeom prst="roundRect">
            <a:avLst>
              <a:gd name="adj" fmla="val 4545"/>
            </a:avLst>
          </a:prstGeom>
          <a:solidFill>
            <a:srgbClr val="F1F5FB"/>
          </a:solidFill>
          <a:ln/>
        </p:spPr>
      </p:sp>
      <p:sp>
        <p:nvSpPr>
          <p:cNvPr id="19" name="Shape 14"/>
          <p:cNvSpPr/>
          <p:nvPr/>
        </p:nvSpPr>
        <p:spPr>
          <a:xfrm>
            <a:off x="5632704" y="1828800"/>
            <a:ext cx="914400" cy="914400"/>
          </a:xfrm>
          <a:prstGeom prst="ellipse">
            <a:avLst/>
          </a:prstGeom>
          <a:solidFill>
            <a:srgbClr val="2459D8"/>
          </a:solidFill>
          <a:ln/>
        </p:spPr>
      </p:sp>
      <p:pic>
        <p:nvPicPr>
          <p:cNvPr id="20" name="Image 2" descr="preencoded.png">    </p:cNvPr>
          <p:cNvPicPr>
            <a:picLocks noChangeAspect="1"/>
          </p:cNvPicPr>
          <p:nvPr/>
        </p:nvPicPr>
        <p:blipFill>
          <a:blip r:embed="rId3"/>
          <a:stretch>
            <a:fillRect/>
          </a:stretch>
        </p:blipFill>
        <p:spPr>
          <a:xfrm>
            <a:off x="5861304" y="2057400"/>
            <a:ext cx="457200" cy="457200"/>
          </a:xfrm>
          <a:prstGeom prst="rect">
            <a:avLst/>
          </a:prstGeom>
        </p:spPr>
      </p:pic>
      <p:sp>
        <p:nvSpPr>
          <p:cNvPr id="21" name="Text 15"/>
          <p:cNvSpPr txBox="1"/>
          <p:nvPr/>
        </p:nvSpPr>
        <p:spPr>
          <a:xfrm>
            <a:off x="5221224" y="2971800"/>
            <a:ext cx="17373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Arial" pitchFamily="34" charset="0"/>
                <a:ea typeface="Arial" pitchFamily="34" charset="-122"/>
                <a:cs typeface="Arial" pitchFamily="34" charset="-120"/>
              </a:rPr>
              <a:t>Examine</a:t>
            </a:r>
            <a:endParaRPr lang="en-US" sz="2200" dirty="0"/>
          </a:p>
        </p:txBody>
      </p:sp>
      <p:sp>
        <p:nvSpPr>
          <p:cNvPr id="22" name="Text 16"/>
          <p:cNvSpPr txBox="1"/>
          <p:nvPr/>
        </p:nvSpPr>
        <p:spPr>
          <a:xfrm>
            <a:off x="5266944"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Pull out the readable, the hidden, the odd.</a:t>
            </a:r>
            <a:endParaRPr lang="en-US" sz="1500" dirty="0"/>
          </a:p>
        </p:txBody>
      </p:sp>
      <p:sp>
        <p:nvSpPr>
          <p:cNvPr id="23" name="Text 17"/>
          <p:cNvSpPr txBox="1"/>
          <p:nvPr/>
        </p:nvSpPr>
        <p:spPr>
          <a:xfrm>
            <a:off x="7095744"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18"/>
          <p:cNvSpPr/>
          <p:nvPr/>
        </p:nvSpPr>
        <p:spPr>
          <a:xfrm>
            <a:off x="7351776" y="1600200"/>
            <a:ext cx="2011680" cy="3200400"/>
          </a:xfrm>
          <a:prstGeom prst="roundRect">
            <a:avLst>
              <a:gd name="adj" fmla="val 4545"/>
            </a:avLst>
          </a:prstGeom>
          <a:solidFill>
            <a:srgbClr val="F1F5FB"/>
          </a:solidFill>
          <a:ln/>
        </p:spPr>
      </p:sp>
      <p:sp>
        <p:nvSpPr>
          <p:cNvPr id="25" name="Shape 19"/>
          <p:cNvSpPr/>
          <p:nvPr/>
        </p:nvSpPr>
        <p:spPr>
          <a:xfrm>
            <a:off x="7900416" y="1828800"/>
            <a:ext cx="914400" cy="914400"/>
          </a:xfrm>
          <a:prstGeom prst="ellipse">
            <a:avLst/>
          </a:prstGeom>
          <a:solidFill>
            <a:srgbClr val="7448D4"/>
          </a:solidFill>
          <a:ln/>
        </p:spPr>
      </p:sp>
      <p:pic>
        <p:nvPicPr>
          <p:cNvPr id="26" name="Image 3" descr="preencoded.png">    </p:cNvPr>
          <p:cNvPicPr>
            <a:picLocks noChangeAspect="1"/>
          </p:cNvPicPr>
          <p:nvPr/>
        </p:nvPicPr>
        <p:blipFill>
          <a:blip r:embed="rId4"/>
          <a:stretch>
            <a:fillRect/>
          </a:stretch>
        </p:blipFill>
        <p:spPr>
          <a:xfrm>
            <a:off x="8129016" y="2057400"/>
            <a:ext cx="457200" cy="457200"/>
          </a:xfrm>
          <a:prstGeom prst="rect">
            <a:avLst/>
          </a:prstGeom>
        </p:spPr>
      </p:pic>
      <p:sp>
        <p:nvSpPr>
          <p:cNvPr id="27" name="Text 20"/>
          <p:cNvSpPr txBox="1"/>
          <p:nvPr/>
        </p:nvSpPr>
        <p:spPr>
          <a:xfrm>
            <a:off x="7488936" y="2971800"/>
            <a:ext cx="17373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Arial" pitchFamily="34" charset="0"/>
                <a:ea typeface="Arial" pitchFamily="34" charset="-122"/>
                <a:cs typeface="Arial" pitchFamily="34" charset="-120"/>
              </a:rPr>
              <a:t>Analyze</a:t>
            </a:r>
            <a:endParaRPr lang="en-US" sz="2200" dirty="0"/>
          </a:p>
        </p:txBody>
      </p:sp>
      <p:sp>
        <p:nvSpPr>
          <p:cNvPr id="28" name="Text 21"/>
          <p:cNvSpPr txBox="1"/>
          <p:nvPr/>
        </p:nvSpPr>
        <p:spPr>
          <a:xfrm>
            <a:off x="7534656"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Build a timeline. Connect the dots.</a:t>
            </a:r>
            <a:endParaRPr lang="en-US" sz="1500" dirty="0"/>
          </a:p>
        </p:txBody>
      </p:sp>
      <p:sp>
        <p:nvSpPr>
          <p:cNvPr id="29" name="Text 22"/>
          <p:cNvSpPr txBox="1"/>
          <p:nvPr/>
        </p:nvSpPr>
        <p:spPr>
          <a:xfrm>
            <a:off x="9363456"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3"/>
          <p:cNvSpPr/>
          <p:nvPr/>
        </p:nvSpPr>
        <p:spPr>
          <a:xfrm>
            <a:off x="9619488" y="1600200"/>
            <a:ext cx="2011680" cy="3200400"/>
          </a:xfrm>
          <a:prstGeom prst="roundRect">
            <a:avLst>
              <a:gd name="adj" fmla="val 4545"/>
            </a:avLst>
          </a:prstGeom>
          <a:solidFill>
            <a:srgbClr val="F1F5FB"/>
          </a:solidFill>
          <a:ln/>
        </p:spPr>
      </p:sp>
      <p:sp>
        <p:nvSpPr>
          <p:cNvPr id="31" name="Shape 24"/>
          <p:cNvSpPr/>
          <p:nvPr/>
        </p:nvSpPr>
        <p:spPr>
          <a:xfrm>
            <a:off x="10168128" y="1828800"/>
            <a:ext cx="914400" cy="914400"/>
          </a:xfrm>
          <a:prstGeom prst="ellipse">
            <a:avLst/>
          </a:prstGeom>
          <a:solidFill>
            <a:srgbClr val="D1416B"/>
          </a:solidFill>
          <a:ln/>
        </p:spPr>
      </p:sp>
      <p:pic>
        <p:nvPicPr>
          <p:cNvPr id="32" name="Image 4" descr="preencoded.png">    </p:cNvPr>
          <p:cNvPicPr>
            <a:picLocks noChangeAspect="1"/>
          </p:cNvPicPr>
          <p:nvPr/>
        </p:nvPicPr>
        <p:blipFill>
          <a:blip r:embed="rId5"/>
          <a:stretch>
            <a:fillRect/>
          </a:stretch>
        </p:blipFill>
        <p:spPr>
          <a:xfrm>
            <a:off x="10396728" y="2057400"/>
            <a:ext cx="457200" cy="457200"/>
          </a:xfrm>
          <a:prstGeom prst="rect">
            <a:avLst/>
          </a:prstGeom>
        </p:spPr>
      </p:pic>
      <p:sp>
        <p:nvSpPr>
          <p:cNvPr id="33" name="Text 25"/>
          <p:cNvSpPr txBox="1"/>
          <p:nvPr/>
        </p:nvSpPr>
        <p:spPr>
          <a:xfrm>
            <a:off x="9756648" y="2971800"/>
            <a:ext cx="17373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Arial" pitchFamily="34" charset="0"/>
                <a:ea typeface="Arial" pitchFamily="34" charset="-122"/>
                <a:cs typeface="Arial" pitchFamily="34" charset="-120"/>
              </a:rPr>
              <a:t>Report</a:t>
            </a:r>
            <a:endParaRPr lang="en-US" sz="2200" dirty="0"/>
          </a:p>
        </p:txBody>
      </p:sp>
      <p:sp>
        <p:nvSpPr>
          <p:cNvPr id="34" name="Text 26"/>
          <p:cNvSpPr txBox="1"/>
          <p:nvPr/>
        </p:nvSpPr>
        <p:spPr>
          <a:xfrm>
            <a:off x="9802368"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Explain what happened, with proof.</a:t>
            </a:r>
            <a:endParaRPr lang="en-US" sz="1500" dirty="0"/>
          </a:p>
        </p:txBody>
      </p:sp>
      <p:sp>
        <p:nvSpPr>
          <p:cNvPr id="35" name="Shape 27"/>
          <p:cNvSpPr/>
          <p:nvPr/>
        </p:nvSpPr>
        <p:spPr>
          <a:xfrm>
            <a:off x="548640" y="5120640"/>
            <a:ext cx="11094415" cy="822960"/>
          </a:xfrm>
          <a:prstGeom prst="roundRect">
            <a:avLst>
              <a:gd name="adj" fmla="val 11111"/>
            </a:avLst>
          </a:prstGeom>
          <a:solidFill>
            <a:srgbClr val="FFF4DC"/>
          </a:solidFill>
          <a:ln/>
        </p:spPr>
      </p:sp>
      <p:sp>
        <p:nvSpPr>
          <p:cNvPr id="36" name="Text 28"/>
          <p:cNvSpPr txBox="1"/>
          <p:nvPr/>
        </p:nvSpPr>
        <p:spPr>
          <a:xfrm>
            <a:off x="822960" y="5120640"/>
            <a:ext cx="10545775" cy="82296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Four questions: </a:t>
            </a:r>
            <a:pPr indent="0" marL="0">
              <a:buNone/>
            </a:pPr>
            <a:r>
              <a:rPr lang="en-US" sz="1700" dirty="0">
                <a:solidFill>
                  <a:srgbClr val="12213A"/>
                </a:solidFill>
                <a:latin typeface="Calibri" pitchFamily="34" charset="0"/>
                <a:ea typeface="Calibri" pitchFamily="34" charset="-122"/>
                <a:cs typeface="Calibri" pitchFamily="34" charset="-120"/>
              </a:rPr>
              <a:t>What happened? When? How? From where? Every mission today answers one of them.</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Evidence is everywhere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48640" y="1508760"/>
            <a:ext cx="3566160" cy="2057400"/>
          </a:xfrm>
          <a:prstGeom prst="roundRect">
            <a:avLst>
              <a:gd name="adj" fmla="val 4444"/>
            </a:avLst>
          </a:prstGeom>
          <a:solidFill>
            <a:srgbClr val="F1F5FB"/>
          </a:solidFill>
          <a:ln/>
        </p:spPr>
      </p:sp>
      <p:sp>
        <p:nvSpPr>
          <p:cNvPr id="7" name="Shape 4"/>
          <p:cNvSpPr/>
          <p:nvPr/>
        </p:nvSpPr>
        <p:spPr>
          <a:xfrm>
            <a:off x="822960" y="1783080"/>
            <a:ext cx="731520" cy="731520"/>
          </a:xfrm>
          <a:prstGeom prst="ellipse">
            <a:avLst/>
          </a:prstGeom>
          <a:solidFill>
            <a:srgbClr val="17875A"/>
          </a:solidFill>
          <a:ln/>
        </p:spPr>
      </p:sp>
      <p:pic>
        <p:nvPicPr>
          <p:cNvPr id="8" name="Image 0"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9" name="Text 5"/>
          <p:cNvSpPr txBox="1"/>
          <p:nvPr/>
        </p:nvSpPr>
        <p:spPr>
          <a:xfrm>
            <a:off x="1737360" y="1783080"/>
            <a:ext cx="2194560" cy="45720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File times</a:t>
            </a:r>
            <a:endParaRPr lang="en-US" sz="2000" dirty="0"/>
          </a:p>
        </p:txBody>
      </p:sp>
      <p:sp>
        <p:nvSpPr>
          <p:cNvPr id="10" name="Text 6"/>
          <p:cNvSpPr txBox="1"/>
          <p:nvPr/>
        </p:nvSpPr>
        <p:spPr>
          <a:xfrm>
            <a:off x="1737360" y="2221992"/>
            <a:ext cx="2194560" cy="320040"/>
          </a:xfrm>
          <a:prstGeom prst="rect">
            <a:avLst/>
          </a:prstGeom>
          <a:noFill/>
          <a:ln/>
        </p:spPr>
        <p:txBody>
          <a:bodyPr wrap="square" lIns="0" tIns="0" rIns="0" bIns="0" rtlCol="0" anchor="t"/>
          <a:lstStyle/>
          <a:p>
            <a:pPr indent="0" marL="0">
              <a:buNone/>
            </a:pPr>
            <a:r>
              <a:rPr lang="en-US" sz="1300" b="1" dirty="0">
                <a:solidFill>
                  <a:srgbClr val="17875A"/>
                </a:solidFill>
                <a:latin typeface="Calibri" pitchFamily="34" charset="0"/>
                <a:ea typeface="Calibri" pitchFamily="34" charset="-122"/>
                <a:cs typeface="Calibri" pitchFamily="34" charset="-120"/>
              </a:rPr>
              <a:t>Mission 1</a:t>
            </a:r>
            <a:endParaRPr lang="en-US" sz="1300" dirty="0"/>
          </a:p>
        </p:txBody>
      </p:sp>
      <p:sp>
        <p:nvSpPr>
          <p:cNvPr id="11" name="Text 7"/>
          <p:cNvSpPr txBox="1"/>
          <p:nvPr/>
        </p:nvSpPr>
        <p:spPr>
          <a:xfrm>
            <a:off x="822960" y="2697480"/>
            <a:ext cx="3063240" cy="7772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Every file remembers when it last changed.</a:t>
            </a:r>
            <a:endParaRPr lang="en-US" sz="1500" dirty="0"/>
          </a:p>
        </p:txBody>
      </p:sp>
      <p:sp>
        <p:nvSpPr>
          <p:cNvPr id="12" name="Shape 8"/>
          <p:cNvSpPr/>
          <p:nvPr/>
        </p:nvSpPr>
        <p:spPr>
          <a:xfrm>
            <a:off x="4306824" y="1508760"/>
            <a:ext cx="3566160" cy="2057400"/>
          </a:xfrm>
          <a:prstGeom prst="roundRect">
            <a:avLst>
              <a:gd name="adj" fmla="val 4444"/>
            </a:avLst>
          </a:prstGeom>
          <a:solidFill>
            <a:srgbClr val="F1F5FB"/>
          </a:solidFill>
          <a:ln/>
        </p:spPr>
      </p:sp>
      <p:sp>
        <p:nvSpPr>
          <p:cNvPr id="13" name="Shape 9"/>
          <p:cNvSpPr/>
          <p:nvPr/>
        </p:nvSpPr>
        <p:spPr>
          <a:xfrm>
            <a:off x="4581144" y="1783080"/>
            <a:ext cx="731520" cy="731520"/>
          </a:xfrm>
          <a:prstGeom prst="ellipse">
            <a:avLst/>
          </a:prstGeom>
          <a:solidFill>
            <a:srgbClr val="2A9FD6"/>
          </a:solidFill>
          <a:ln/>
        </p:spPr>
      </p:sp>
      <p:pic>
        <p:nvPicPr>
          <p:cNvPr id="14" name="Image 1" descr="preencoded.png">    </p:cNvPr>
          <p:cNvPicPr>
            <a:picLocks noChangeAspect="1"/>
          </p:cNvPicPr>
          <p:nvPr/>
        </p:nvPicPr>
        <p:blipFill>
          <a:blip r:embed="rId2"/>
          <a:stretch>
            <a:fillRect/>
          </a:stretch>
        </p:blipFill>
        <p:spPr>
          <a:xfrm>
            <a:off x="4764024" y="1965960"/>
            <a:ext cx="365760" cy="365760"/>
          </a:xfrm>
          <a:prstGeom prst="rect">
            <a:avLst/>
          </a:prstGeom>
        </p:spPr>
      </p:pic>
      <p:sp>
        <p:nvSpPr>
          <p:cNvPr id="15" name="Text 10"/>
          <p:cNvSpPr txBox="1"/>
          <p:nvPr/>
        </p:nvSpPr>
        <p:spPr>
          <a:xfrm>
            <a:off x="5495544" y="1783080"/>
            <a:ext cx="2194560" cy="45720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Metadata</a:t>
            </a:r>
            <a:endParaRPr lang="en-US" sz="2000" dirty="0"/>
          </a:p>
        </p:txBody>
      </p:sp>
      <p:sp>
        <p:nvSpPr>
          <p:cNvPr id="16" name="Text 11"/>
          <p:cNvSpPr txBox="1"/>
          <p:nvPr/>
        </p:nvSpPr>
        <p:spPr>
          <a:xfrm>
            <a:off x="5495544" y="2221992"/>
            <a:ext cx="2194560" cy="320040"/>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Mission 2</a:t>
            </a:r>
            <a:endParaRPr lang="en-US" sz="1300" dirty="0"/>
          </a:p>
        </p:txBody>
      </p:sp>
      <p:sp>
        <p:nvSpPr>
          <p:cNvPr id="17" name="Text 12"/>
          <p:cNvSpPr txBox="1"/>
          <p:nvPr/>
        </p:nvSpPr>
        <p:spPr>
          <a:xfrm>
            <a:off x="4581144" y="2697480"/>
            <a:ext cx="3063240" cy="7772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Photos and documents carry hidden fields.</a:t>
            </a:r>
            <a:endParaRPr lang="en-US" sz="1500" dirty="0"/>
          </a:p>
        </p:txBody>
      </p:sp>
      <p:sp>
        <p:nvSpPr>
          <p:cNvPr id="18" name="Shape 13"/>
          <p:cNvSpPr/>
          <p:nvPr/>
        </p:nvSpPr>
        <p:spPr>
          <a:xfrm>
            <a:off x="8065008" y="1508760"/>
            <a:ext cx="3566160" cy="2057400"/>
          </a:xfrm>
          <a:prstGeom prst="roundRect">
            <a:avLst>
              <a:gd name="adj" fmla="val 4444"/>
            </a:avLst>
          </a:prstGeom>
          <a:solidFill>
            <a:srgbClr val="F1F5FB"/>
          </a:solidFill>
          <a:ln/>
        </p:spPr>
      </p:sp>
      <p:sp>
        <p:nvSpPr>
          <p:cNvPr id="19" name="Shape 14"/>
          <p:cNvSpPr/>
          <p:nvPr/>
        </p:nvSpPr>
        <p:spPr>
          <a:xfrm>
            <a:off x="8339328" y="1783080"/>
            <a:ext cx="731520" cy="731520"/>
          </a:xfrm>
          <a:prstGeom prst="ellipse">
            <a:avLst/>
          </a:prstGeom>
          <a:solidFill>
            <a:srgbClr val="2459D8"/>
          </a:solidFill>
          <a:ln/>
        </p:spPr>
      </p:sp>
      <p:pic>
        <p:nvPicPr>
          <p:cNvPr id="20" name="Image 2" descr="preencoded.png">    </p:cNvPr>
          <p:cNvPicPr>
            <a:picLocks noChangeAspect="1"/>
          </p:cNvPicPr>
          <p:nvPr/>
        </p:nvPicPr>
        <p:blipFill>
          <a:blip r:embed="rId3"/>
          <a:stretch>
            <a:fillRect/>
          </a:stretch>
        </p:blipFill>
        <p:spPr>
          <a:xfrm>
            <a:off x="8522208" y="1965960"/>
            <a:ext cx="365760" cy="365760"/>
          </a:xfrm>
          <a:prstGeom prst="rect">
            <a:avLst/>
          </a:prstGeom>
        </p:spPr>
      </p:pic>
      <p:sp>
        <p:nvSpPr>
          <p:cNvPr id="21" name="Text 15"/>
          <p:cNvSpPr txBox="1"/>
          <p:nvPr/>
        </p:nvSpPr>
        <p:spPr>
          <a:xfrm>
            <a:off x="9253728" y="1783080"/>
            <a:ext cx="2194560" cy="45720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Files and images</a:t>
            </a:r>
            <a:endParaRPr lang="en-US" sz="2000" dirty="0"/>
          </a:p>
        </p:txBody>
      </p:sp>
      <p:sp>
        <p:nvSpPr>
          <p:cNvPr id="22" name="Text 16"/>
          <p:cNvSpPr txBox="1"/>
          <p:nvPr/>
        </p:nvSpPr>
        <p:spPr>
          <a:xfrm>
            <a:off x="9253728" y="2221992"/>
            <a:ext cx="2194560" cy="320040"/>
          </a:xfrm>
          <a:prstGeom prst="rect">
            <a:avLst/>
          </a:prstGeom>
          <a:noFill/>
          <a:ln/>
        </p:spPr>
        <p:txBody>
          <a:bodyPr wrap="square" lIns="0" tIns="0" rIns="0" bIns="0" rtlCol="0" anchor="t"/>
          <a:lstStyle/>
          <a:p>
            <a:pPr indent="0" marL="0">
              <a:buNone/>
            </a:pPr>
            <a:r>
              <a:rPr lang="en-US" sz="1300" b="1" dirty="0">
                <a:solidFill>
                  <a:srgbClr val="2459D8"/>
                </a:solidFill>
                <a:latin typeface="Calibri" pitchFamily="34" charset="0"/>
                <a:ea typeface="Calibri" pitchFamily="34" charset="-122"/>
                <a:cs typeface="Calibri" pitchFamily="34" charset="-120"/>
              </a:rPr>
              <a:t>Missions 3, 6</a:t>
            </a:r>
            <a:endParaRPr lang="en-US" sz="1300" dirty="0"/>
          </a:p>
        </p:txBody>
      </p:sp>
      <p:sp>
        <p:nvSpPr>
          <p:cNvPr id="23" name="Text 17"/>
          <p:cNvSpPr txBox="1"/>
          <p:nvPr/>
        </p:nvSpPr>
        <p:spPr>
          <a:xfrm>
            <a:off x="8339328" y="2697480"/>
            <a:ext cx="3063240" cy="7772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Names can lie; first bytes can't. Data can hide inside.</a:t>
            </a:r>
            <a:endParaRPr lang="en-US" sz="1500" dirty="0"/>
          </a:p>
        </p:txBody>
      </p:sp>
      <p:sp>
        <p:nvSpPr>
          <p:cNvPr id="24" name="Shape 18"/>
          <p:cNvSpPr/>
          <p:nvPr/>
        </p:nvSpPr>
        <p:spPr>
          <a:xfrm>
            <a:off x="548640" y="3749040"/>
            <a:ext cx="3566160" cy="2057400"/>
          </a:xfrm>
          <a:prstGeom prst="roundRect">
            <a:avLst>
              <a:gd name="adj" fmla="val 4444"/>
            </a:avLst>
          </a:prstGeom>
          <a:solidFill>
            <a:srgbClr val="F1F5FB"/>
          </a:solidFill>
          <a:ln/>
        </p:spPr>
      </p:sp>
      <p:sp>
        <p:nvSpPr>
          <p:cNvPr id="25" name="Shape 19"/>
          <p:cNvSpPr/>
          <p:nvPr/>
        </p:nvSpPr>
        <p:spPr>
          <a:xfrm>
            <a:off x="822960" y="4023360"/>
            <a:ext cx="731520" cy="731520"/>
          </a:xfrm>
          <a:prstGeom prst="ellipse">
            <a:avLst/>
          </a:prstGeom>
          <a:solidFill>
            <a:srgbClr val="7448D4"/>
          </a:solidFill>
          <a:ln/>
        </p:spPr>
      </p:sp>
      <p:pic>
        <p:nvPicPr>
          <p:cNvPr id="26" name="Image 3" descr="preencoded.png">    </p:cNvPr>
          <p:cNvPicPr>
            <a:picLocks noChangeAspect="1"/>
          </p:cNvPicPr>
          <p:nvPr/>
        </p:nvPicPr>
        <p:blipFill>
          <a:blip r:embed="rId4"/>
          <a:stretch>
            <a:fillRect/>
          </a:stretch>
        </p:blipFill>
        <p:spPr>
          <a:xfrm>
            <a:off x="1005840" y="4206240"/>
            <a:ext cx="365760" cy="365760"/>
          </a:xfrm>
          <a:prstGeom prst="rect">
            <a:avLst/>
          </a:prstGeom>
        </p:spPr>
      </p:pic>
      <p:sp>
        <p:nvSpPr>
          <p:cNvPr id="27" name="Text 20"/>
          <p:cNvSpPr txBox="1"/>
          <p:nvPr/>
        </p:nvSpPr>
        <p:spPr>
          <a:xfrm>
            <a:off x="1737360" y="4023360"/>
            <a:ext cx="2194560" cy="45720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Archives</a:t>
            </a:r>
            <a:endParaRPr lang="en-US" sz="2000" dirty="0"/>
          </a:p>
        </p:txBody>
      </p:sp>
      <p:sp>
        <p:nvSpPr>
          <p:cNvPr id="28" name="Text 21"/>
          <p:cNvSpPr txBox="1"/>
          <p:nvPr/>
        </p:nvSpPr>
        <p:spPr>
          <a:xfrm>
            <a:off x="1737360" y="4462272"/>
            <a:ext cx="2194560" cy="320040"/>
          </a:xfrm>
          <a:prstGeom prst="rect">
            <a:avLst/>
          </a:prstGeom>
          <a:noFill/>
          <a:ln/>
        </p:spPr>
        <p:txBody>
          <a:bodyPr wrap="square" lIns="0" tIns="0" rIns="0" bIns="0" rtlCol="0" anchor="t"/>
          <a:lstStyle/>
          <a:p>
            <a:pPr indent="0" marL="0">
              <a:buNone/>
            </a:pPr>
            <a:r>
              <a:rPr lang="en-US" sz="1300" b="1" dirty="0">
                <a:solidFill>
                  <a:srgbClr val="7448D4"/>
                </a:solidFill>
                <a:latin typeface="Calibri" pitchFamily="34" charset="0"/>
                <a:ea typeface="Calibri" pitchFamily="34" charset="-122"/>
                <a:cs typeface="Calibri" pitchFamily="34" charset="-120"/>
              </a:rPr>
              <a:t>Mission 4</a:t>
            </a:r>
            <a:endParaRPr lang="en-US" sz="1300" dirty="0"/>
          </a:p>
        </p:txBody>
      </p:sp>
      <p:sp>
        <p:nvSpPr>
          <p:cNvPr id="29" name="Text 22"/>
          <p:cNvSpPr txBox="1"/>
          <p:nvPr/>
        </p:nvSpPr>
        <p:spPr>
          <a:xfrm>
            <a:off x="822960" y="4937760"/>
            <a:ext cx="3063240" cy="7772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Evidence arrives packed, layers inside layers.</a:t>
            </a:r>
            <a:endParaRPr lang="en-US" sz="1500" dirty="0"/>
          </a:p>
        </p:txBody>
      </p:sp>
      <p:sp>
        <p:nvSpPr>
          <p:cNvPr id="30" name="Shape 23"/>
          <p:cNvSpPr/>
          <p:nvPr/>
        </p:nvSpPr>
        <p:spPr>
          <a:xfrm>
            <a:off x="4306824" y="3749040"/>
            <a:ext cx="3566160" cy="2057400"/>
          </a:xfrm>
          <a:prstGeom prst="roundRect">
            <a:avLst>
              <a:gd name="adj" fmla="val 4444"/>
            </a:avLst>
          </a:prstGeom>
          <a:solidFill>
            <a:srgbClr val="F1F5FB"/>
          </a:solidFill>
          <a:ln/>
        </p:spPr>
      </p:sp>
      <p:sp>
        <p:nvSpPr>
          <p:cNvPr id="31" name="Shape 24"/>
          <p:cNvSpPr/>
          <p:nvPr/>
        </p:nvSpPr>
        <p:spPr>
          <a:xfrm>
            <a:off x="4581144" y="4023360"/>
            <a:ext cx="731520" cy="731520"/>
          </a:xfrm>
          <a:prstGeom prst="ellipse">
            <a:avLst/>
          </a:prstGeom>
          <a:solidFill>
            <a:srgbClr val="D1416B"/>
          </a:solidFill>
          <a:ln/>
        </p:spPr>
      </p:sp>
      <p:pic>
        <p:nvPicPr>
          <p:cNvPr id="32" name="Image 4" descr="preencoded.png">    </p:cNvPr>
          <p:cNvPicPr>
            <a:picLocks noChangeAspect="1"/>
          </p:cNvPicPr>
          <p:nvPr/>
        </p:nvPicPr>
        <p:blipFill>
          <a:blip r:embed="rId5"/>
          <a:stretch>
            <a:fillRect/>
          </a:stretch>
        </p:blipFill>
        <p:spPr>
          <a:xfrm>
            <a:off x="4764024" y="4206240"/>
            <a:ext cx="365760" cy="365760"/>
          </a:xfrm>
          <a:prstGeom prst="rect">
            <a:avLst/>
          </a:prstGeom>
        </p:spPr>
      </p:pic>
      <p:sp>
        <p:nvSpPr>
          <p:cNvPr id="33" name="Text 25"/>
          <p:cNvSpPr txBox="1"/>
          <p:nvPr/>
        </p:nvSpPr>
        <p:spPr>
          <a:xfrm>
            <a:off x="5495544" y="4023360"/>
            <a:ext cx="2194560" cy="45720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Logs and traffic</a:t>
            </a:r>
            <a:endParaRPr lang="en-US" sz="2000" dirty="0"/>
          </a:p>
        </p:txBody>
      </p:sp>
      <p:sp>
        <p:nvSpPr>
          <p:cNvPr id="34" name="Text 26"/>
          <p:cNvSpPr txBox="1"/>
          <p:nvPr/>
        </p:nvSpPr>
        <p:spPr>
          <a:xfrm>
            <a:off x="5495544" y="4462272"/>
            <a:ext cx="2194560" cy="320040"/>
          </a:xfrm>
          <a:prstGeom prst="rect">
            <a:avLst/>
          </a:prstGeom>
          <a:noFill/>
          <a:ln/>
        </p:spPr>
        <p:txBody>
          <a:bodyPr wrap="square" lIns="0" tIns="0" rIns="0" bIns="0" rtlCol="0" anchor="t"/>
          <a:lstStyle/>
          <a:p>
            <a:pPr indent="0" marL="0">
              <a:buNone/>
            </a:pPr>
            <a:r>
              <a:rPr lang="en-US" sz="1300" b="1" dirty="0">
                <a:solidFill>
                  <a:srgbClr val="D1416B"/>
                </a:solidFill>
                <a:latin typeface="Calibri" pitchFamily="34" charset="0"/>
                <a:ea typeface="Calibri" pitchFamily="34" charset="-122"/>
                <a:cs typeface="Calibri" pitchFamily="34" charset="-120"/>
              </a:rPr>
              <a:t>Missions 5, 9</a:t>
            </a:r>
            <a:endParaRPr lang="en-US" sz="1300" dirty="0"/>
          </a:p>
        </p:txBody>
      </p:sp>
      <p:sp>
        <p:nvSpPr>
          <p:cNvPr id="35" name="Text 27"/>
          <p:cNvSpPr txBox="1"/>
          <p:nvPr/>
        </p:nvSpPr>
        <p:spPr>
          <a:xfrm>
            <a:off x="4581144" y="4937760"/>
            <a:ext cx="3063240" cy="7772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Every login and every packet leaves a line.</a:t>
            </a:r>
            <a:endParaRPr lang="en-US" sz="1500" dirty="0"/>
          </a:p>
        </p:txBody>
      </p:sp>
      <p:sp>
        <p:nvSpPr>
          <p:cNvPr id="36" name="Shape 28"/>
          <p:cNvSpPr/>
          <p:nvPr/>
        </p:nvSpPr>
        <p:spPr>
          <a:xfrm>
            <a:off x="8065008" y="3749040"/>
            <a:ext cx="3566160" cy="2057400"/>
          </a:xfrm>
          <a:prstGeom prst="roundRect">
            <a:avLst>
              <a:gd name="adj" fmla="val 4444"/>
            </a:avLst>
          </a:prstGeom>
          <a:solidFill>
            <a:srgbClr val="F1F5FB"/>
          </a:solidFill>
          <a:ln/>
        </p:spPr>
      </p:sp>
      <p:sp>
        <p:nvSpPr>
          <p:cNvPr id="37" name="Shape 29"/>
          <p:cNvSpPr/>
          <p:nvPr/>
        </p:nvSpPr>
        <p:spPr>
          <a:xfrm>
            <a:off x="8339328" y="4023360"/>
            <a:ext cx="731520" cy="731520"/>
          </a:xfrm>
          <a:prstGeom prst="ellipse">
            <a:avLst/>
          </a:prstGeom>
          <a:solidFill>
            <a:srgbClr val="E8820C"/>
          </a:solidFill>
          <a:ln/>
        </p:spPr>
      </p:sp>
      <p:pic>
        <p:nvPicPr>
          <p:cNvPr id="38" name="Image 5" descr="preencoded.png">    </p:cNvPr>
          <p:cNvPicPr>
            <a:picLocks noChangeAspect="1"/>
          </p:cNvPicPr>
          <p:nvPr/>
        </p:nvPicPr>
        <p:blipFill>
          <a:blip r:embed="rId6"/>
          <a:stretch>
            <a:fillRect/>
          </a:stretch>
        </p:blipFill>
        <p:spPr>
          <a:xfrm>
            <a:off x="8522208" y="4206240"/>
            <a:ext cx="365760" cy="365760"/>
          </a:xfrm>
          <a:prstGeom prst="rect">
            <a:avLst/>
          </a:prstGeom>
        </p:spPr>
      </p:pic>
      <p:sp>
        <p:nvSpPr>
          <p:cNvPr id="39" name="Text 30"/>
          <p:cNvSpPr txBox="1"/>
          <p:nvPr/>
        </p:nvSpPr>
        <p:spPr>
          <a:xfrm>
            <a:off x="9253728" y="4023360"/>
            <a:ext cx="2194560" cy="45720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System settings</a:t>
            </a:r>
            <a:endParaRPr lang="en-US" sz="2000" dirty="0"/>
          </a:p>
        </p:txBody>
      </p:sp>
      <p:sp>
        <p:nvSpPr>
          <p:cNvPr id="40" name="Text 31"/>
          <p:cNvSpPr txBox="1"/>
          <p:nvPr/>
        </p:nvSpPr>
        <p:spPr>
          <a:xfrm>
            <a:off x="9253728" y="4462272"/>
            <a:ext cx="2194560" cy="320040"/>
          </a:xfrm>
          <a:prstGeom prst="rect">
            <a:avLst/>
          </a:prstGeom>
          <a:noFill/>
          <a:ln/>
        </p:spPr>
        <p:txBody>
          <a:bodyPr wrap="square" lIns="0" tIns="0" rIns="0" bIns="0" rtlCol="0" anchor="t"/>
          <a:lstStyle/>
          <a:p>
            <a:pPr indent="0" marL="0">
              <a:buNone/>
            </a:pPr>
            <a:r>
              <a:rPr lang="en-US" sz="1300" b="1" dirty="0">
                <a:solidFill>
                  <a:srgbClr val="E8820C"/>
                </a:solidFill>
                <a:latin typeface="Calibri" pitchFamily="34" charset="0"/>
                <a:ea typeface="Calibri" pitchFamily="34" charset="-122"/>
                <a:cs typeface="Calibri" pitchFamily="34" charset="-120"/>
              </a:rPr>
              <a:t>Missions 7, 8</a:t>
            </a:r>
            <a:endParaRPr lang="en-US" sz="1300" dirty="0"/>
          </a:p>
        </p:txBody>
      </p:sp>
      <p:sp>
        <p:nvSpPr>
          <p:cNvPr id="41" name="Text 32"/>
          <p:cNvSpPr txBox="1"/>
          <p:nvPr/>
        </p:nvSpPr>
        <p:spPr>
          <a:xfrm>
            <a:off x="8339328" y="4937760"/>
            <a:ext cx="3063240" cy="7772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Scheduled tasks and programs that changed.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Three questions for any file</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filetype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7</a:t>
            </a:r>
            <a:endParaRPr lang="en-US" sz="1000" dirty="0"/>
          </a:p>
        </p:txBody>
      </p:sp>
      <p:sp>
        <p:nvSpPr>
          <p:cNvPr id="10" name="Shape 7"/>
          <p:cNvSpPr/>
          <p:nvPr/>
        </p:nvSpPr>
        <p:spPr>
          <a:xfrm>
            <a:off x="548640" y="1508760"/>
            <a:ext cx="3566160" cy="4434840"/>
          </a:xfrm>
          <a:prstGeom prst="roundRect">
            <a:avLst>
              <a:gd name="adj" fmla="val 2564"/>
            </a:avLst>
          </a:prstGeom>
          <a:solidFill>
            <a:srgbClr val="F1F5FB"/>
          </a:solidFill>
          <a:ln/>
        </p:spPr>
      </p:sp>
      <p:sp>
        <p:nvSpPr>
          <p:cNvPr id="11" name="Shape 8"/>
          <p:cNvSpPr/>
          <p:nvPr/>
        </p:nvSpPr>
        <p:spPr>
          <a:xfrm>
            <a:off x="548640" y="1508760"/>
            <a:ext cx="3566160" cy="109728"/>
          </a:xfrm>
          <a:prstGeom prst="rect">
            <a:avLst/>
          </a:prstGeom>
          <a:solidFill>
            <a:srgbClr val="17875A"/>
          </a:solidFill>
          <a:ln/>
        </p:spPr>
      </p:sp>
      <p:sp>
        <p:nvSpPr>
          <p:cNvPr id="12" name="Text 9"/>
          <p:cNvSpPr txBox="1"/>
          <p:nvPr/>
        </p:nvSpPr>
        <p:spPr>
          <a:xfrm>
            <a:off x="822960" y="1783080"/>
            <a:ext cx="3017520" cy="548640"/>
          </a:xfrm>
          <a:prstGeom prst="rect">
            <a:avLst/>
          </a:prstGeom>
          <a:noFill/>
          <a:ln/>
        </p:spPr>
        <p:txBody>
          <a:bodyPr wrap="square" lIns="0" tIns="0" rIns="0" bIns="0" rtlCol="0" anchor="t"/>
          <a:lstStyle/>
          <a:p>
            <a:pPr indent="0" marL="0">
              <a:buNone/>
            </a:pPr>
            <a:r>
              <a:rPr lang="en-US" sz="2600" b="1" dirty="0">
                <a:solidFill>
                  <a:srgbClr val="17875A"/>
                </a:solidFill>
                <a:latin typeface="Arial" pitchFamily="34" charset="0"/>
                <a:ea typeface="Arial" pitchFamily="34" charset="-122"/>
                <a:cs typeface="Arial" pitchFamily="34" charset="-120"/>
              </a:rPr>
              <a:t>When?</a:t>
            </a:r>
            <a:endParaRPr lang="en-US" sz="2600" dirty="0"/>
          </a:p>
        </p:txBody>
      </p:sp>
      <p:sp>
        <p:nvSpPr>
          <p:cNvPr id="13" name="Text 10"/>
          <p:cNvSpPr txBox="1"/>
          <p:nvPr/>
        </p:nvSpPr>
        <p:spPr>
          <a:xfrm>
            <a:off x="822960" y="2377440"/>
            <a:ext cx="3017520" cy="4114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Last-modified time</a:t>
            </a:r>
            <a:endParaRPr lang="en-US" sz="1700" dirty="0"/>
          </a:p>
        </p:txBody>
      </p:sp>
      <p:sp>
        <p:nvSpPr>
          <p:cNvPr id="14" name="Shape 11"/>
          <p:cNvSpPr/>
          <p:nvPr/>
        </p:nvSpPr>
        <p:spPr>
          <a:xfrm>
            <a:off x="822960" y="2971800"/>
            <a:ext cx="3017520" cy="502920"/>
          </a:xfrm>
          <a:prstGeom prst="roundRect">
            <a:avLst>
              <a:gd name="adj" fmla="val 14545"/>
            </a:avLst>
          </a:prstGeom>
          <a:solidFill>
            <a:srgbClr val="0E1726"/>
          </a:solidFill>
          <a:ln/>
        </p:spPr>
      </p:sp>
      <p:sp>
        <p:nvSpPr>
          <p:cNvPr id="15" name="Text 12"/>
          <p:cNvSpPr txBox="1"/>
          <p:nvPr/>
        </p:nvSpPr>
        <p:spPr>
          <a:xfrm>
            <a:off x="822960" y="2971800"/>
            <a:ext cx="3017520" cy="502920"/>
          </a:xfrm>
          <a:prstGeom prst="rect">
            <a:avLst/>
          </a:prstGeom>
          <a:noFill/>
          <a:ln/>
        </p:spPr>
        <p:txBody>
          <a:bodyPr wrap="square" lIns="0" tIns="0" rIns="0" bIns="0" rtlCol="0" anchor="ctr">
            <a:normAutofit/>
          </a:bodyPr>
          <a:lstStyle/>
          <a:p>
            <a:pPr algn="ctr" indent="0" marL="0">
              <a:buNone/>
            </a:pPr>
            <a:r>
              <a:rPr lang="en-US" sz="1400" b="1" dirty="0">
                <a:solidFill>
                  <a:srgbClr val="46D39A"/>
                </a:solidFill>
                <a:latin typeface="Courier New" pitchFamily="34" charset="0"/>
                <a:ea typeface="Courier New" pitchFamily="34" charset="-122"/>
                <a:cs typeface="Courier New" pitchFamily="34" charset="-120"/>
              </a:rPr>
              <a:t>ls -l</a:t>
            </a:r>
            <a:endParaRPr lang="en-US" sz="1400" dirty="0"/>
          </a:p>
        </p:txBody>
      </p:sp>
      <p:sp>
        <p:nvSpPr>
          <p:cNvPr id="16" name="Text 13"/>
          <p:cNvSpPr txBox="1"/>
          <p:nvPr/>
        </p:nvSpPr>
        <p:spPr>
          <a:xfrm>
            <a:off x="822960" y="3749040"/>
            <a:ext cx="3063240" cy="91440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-rw-r--r-- ... Oct  8 02:53 memo.txt</a:t>
            </a:r>
            <a:endParaRPr lang="en-US" sz="1300" dirty="0"/>
          </a:p>
        </p:txBody>
      </p:sp>
      <p:sp>
        <p:nvSpPr>
          <p:cNvPr id="17" name="Shape 14"/>
          <p:cNvSpPr/>
          <p:nvPr/>
        </p:nvSpPr>
        <p:spPr>
          <a:xfrm>
            <a:off x="4306824" y="1508760"/>
            <a:ext cx="3566160" cy="4434840"/>
          </a:xfrm>
          <a:prstGeom prst="roundRect">
            <a:avLst>
              <a:gd name="adj" fmla="val 2564"/>
            </a:avLst>
          </a:prstGeom>
          <a:solidFill>
            <a:srgbClr val="F1F5FB"/>
          </a:solidFill>
          <a:ln/>
        </p:spPr>
      </p:sp>
      <p:sp>
        <p:nvSpPr>
          <p:cNvPr id="18" name="Shape 15"/>
          <p:cNvSpPr/>
          <p:nvPr/>
        </p:nvSpPr>
        <p:spPr>
          <a:xfrm>
            <a:off x="4306824" y="1508760"/>
            <a:ext cx="3566160" cy="109728"/>
          </a:xfrm>
          <a:prstGeom prst="rect">
            <a:avLst/>
          </a:prstGeom>
          <a:solidFill>
            <a:srgbClr val="2459D8"/>
          </a:solidFill>
          <a:ln/>
        </p:spPr>
      </p:sp>
      <p:sp>
        <p:nvSpPr>
          <p:cNvPr id="19" name="Text 16"/>
          <p:cNvSpPr txBox="1"/>
          <p:nvPr/>
        </p:nvSpPr>
        <p:spPr>
          <a:xfrm>
            <a:off x="4581144" y="1783080"/>
            <a:ext cx="3017520" cy="548640"/>
          </a:xfrm>
          <a:prstGeom prst="rect">
            <a:avLst/>
          </a:prstGeom>
          <a:noFill/>
          <a:ln/>
        </p:spPr>
        <p:txBody>
          <a:bodyPr wrap="square" lIns="0" tIns="0" rIns="0" bIns="0" rtlCol="0" anchor="t"/>
          <a:lstStyle/>
          <a:p>
            <a:pPr indent="0" marL="0">
              <a:buNone/>
            </a:pPr>
            <a:r>
              <a:rPr lang="en-US" sz="2600" b="1" dirty="0">
                <a:solidFill>
                  <a:srgbClr val="2459D8"/>
                </a:solidFill>
                <a:latin typeface="Arial" pitchFamily="34" charset="0"/>
                <a:ea typeface="Arial" pitchFamily="34" charset="-122"/>
                <a:cs typeface="Arial" pitchFamily="34" charset="-120"/>
              </a:rPr>
              <a:t>What is it really?</a:t>
            </a:r>
            <a:endParaRPr lang="en-US" sz="2600" dirty="0"/>
          </a:p>
        </p:txBody>
      </p:sp>
      <p:sp>
        <p:nvSpPr>
          <p:cNvPr id="20" name="Text 17"/>
          <p:cNvSpPr txBox="1"/>
          <p:nvPr/>
        </p:nvSpPr>
        <p:spPr>
          <a:xfrm>
            <a:off x="4581144" y="2377440"/>
            <a:ext cx="3017520" cy="4114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The magic number</a:t>
            </a:r>
            <a:endParaRPr lang="en-US" sz="1700" dirty="0"/>
          </a:p>
        </p:txBody>
      </p:sp>
      <p:sp>
        <p:nvSpPr>
          <p:cNvPr id="21" name="Shape 18"/>
          <p:cNvSpPr/>
          <p:nvPr/>
        </p:nvSpPr>
        <p:spPr>
          <a:xfrm>
            <a:off x="4581144" y="2971800"/>
            <a:ext cx="3017520" cy="502920"/>
          </a:xfrm>
          <a:prstGeom prst="roundRect">
            <a:avLst>
              <a:gd name="adj" fmla="val 14545"/>
            </a:avLst>
          </a:prstGeom>
          <a:solidFill>
            <a:srgbClr val="0E1726"/>
          </a:solidFill>
          <a:ln/>
        </p:spPr>
      </p:sp>
      <p:sp>
        <p:nvSpPr>
          <p:cNvPr id="22" name="Text 19"/>
          <p:cNvSpPr txBox="1"/>
          <p:nvPr/>
        </p:nvSpPr>
        <p:spPr>
          <a:xfrm>
            <a:off x="4581144" y="2971800"/>
            <a:ext cx="3017520" cy="502920"/>
          </a:xfrm>
          <a:prstGeom prst="rect">
            <a:avLst/>
          </a:prstGeom>
          <a:noFill/>
          <a:ln/>
        </p:spPr>
        <p:txBody>
          <a:bodyPr wrap="square" lIns="0" tIns="0" rIns="0" bIns="0" rtlCol="0" anchor="ctr">
            <a:normAutofit/>
          </a:bodyPr>
          <a:lstStyle/>
          <a:p>
            <a:pPr algn="ctr" indent="0" marL="0">
              <a:buNone/>
            </a:pPr>
            <a:r>
              <a:rPr lang="en-US" sz="1400" b="1" dirty="0">
                <a:solidFill>
                  <a:srgbClr val="46D39A"/>
                </a:solidFill>
                <a:latin typeface="Courier New" pitchFamily="34" charset="0"/>
                <a:ea typeface="Courier New" pitchFamily="34" charset="-122"/>
                <a:cs typeface="Courier New" pitchFamily="34" charset="-120"/>
              </a:rPr>
              <a:t>filetype  ·  head -c 4 | xxd</a:t>
            </a:r>
            <a:endParaRPr lang="en-US" sz="1400" dirty="0"/>
          </a:p>
        </p:txBody>
      </p:sp>
      <p:sp>
        <p:nvSpPr>
          <p:cNvPr id="23" name="Text 20"/>
          <p:cNvSpPr txBox="1"/>
          <p:nvPr/>
        </p:nvSpPr>
        <p:spPr>
          <a:xfrm>
            <a:off x="4581144" y="3749040"/>
            <a:ext cx="3063240" cy="91440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ff d8 ff = JPEG    1f 8b = gzip</a:t>
            </a:r>
            <a:endParaRPr lang="en-US" sz="1300" dirty="0"/>
          </a:p>
        </p:txBody>
      </p:sp>
      <p:sp>
        <p:nvSpPr>
          <p:cNvPr id="24" name="Shape 21"/>
          <p:cNvSpPr/>
          <p:nvPr/>
        </p:nvSpPr>
        <p:spPr>
          <a:xfrm>
            <a:off x="8065008" y="1508760"/>
            <a:ext cx="3566160" cy="4434840"/>
          </a:xfrm>
          <a:prstGeom prst="roundRect">
            <a:avLst>
              <a:gd name="adj" fmla="val 2564"/>
            </a:avLst>
          </a:prstGeom>
          <a:solidFill>
            <a:srgbClr val="F1F5FB"/>
          </a:solidFill>
          <a:ln/>
        </p:spPr>
      </p:sp>
      <p:sp>
        <p:nvSpPr>
          <p:cNvPr id="25" name="Shape 22"/>
          <p:cNvSpPr/>
          <p:nvPr/>
        </p:nvSpPr>
        <p:spPr>
          <a:xfrm>
            <a:off x="8065008" y="1508760"/>
            <a:ext cx="3566160" cy="109728"/>
          </a:xfrm>
          <a:prstGeom prst="rect">
            <a:avLst/>
          </a:prstGeom>
          <a:solidFill>
            <a:srgbClr val="D1416B"/>
          </a:solidFill>
          <a:ln/>
        </p:spPr>
      </p:sp>
      <p:sp>
        <p:nvSpPr>
          <p:cNvPr id="26" name="Text 23"/>
          <p:cNvSpPr txBox="1"/>
          <p:nvPr/>
        </p:nvSpPr>
        <p:spPr>
          <a:xfrm>
            <a:off x="8339328" y="1783080"/>
            <a:ext cx="3017520" cy="548640"/>
          </a:xfrm>
          <a:prstGeom prst="rect">
            <a:avLst/>
          </a:prstGeom>
          <a:noFill/>
          <a:ln/>
        </p:spPr>
        <p:txBody>
          <a:bodyPr wrap="square" lIns="0" tIns="0" rIns="0" bIns="0" rtlCol="0" anchor="t"/>
          <a:lstStyle/>
          <a:p>
            <a:pPr indent="0" marL="0">
              <a:buNone/>
            </a:pPr>
            <a:r>
              <a:rPr lang="en-US" sz="2600" b="1" dirty="0">
                <a:solidFill>
                  <a:srgbClr val="D1416B"/>
                </a:solidFill>
                <a:latin typeface="Arial" pitchFamily="34" charset="0"/>
                <a:ea typeface="Arial" pitchFamily="34" charset="-122"/>
                <a:cs typeface="Arial" pitchFamily="34" charset="-120"/>
              </a:rPr>
              <a:t>Has it changed?</a:t>
            </a:r>
            <a:endParaRPr lang="en-US" sz="2600" dirty="0"/>
          </a:p>
        </p:txBody>
      </p:sp>
      <p:sp>
        <p:nvSpPr>
          <p:cNvPr id="27" name="Text 24"/>
          <p:cNvSpPr txBox="1"/>
          <p:nvPr/>
        </p:nvSpPr>
        <p:spPr>
          <a:xfrm>
            <a:off x="8339328" y="2377440"/>
            <a:ext cx="3017520" cy="4114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A fingerprint</a:t>
            </a:r>
            <a:endParaRPr lang="en-US" sz="1700" dirty="0"/>
          </a:p>
        </p:txBody>
      </p:sp>
      <p:sp>
        <p:nvSpPr>
          <p:cNvPr id="28" name="Shape 25"/>
          <p:cNvSpPr/>
          <p:nvPr/>
        </p:nvSpPr>
        <p:spPr>
          <a:xfrm>
            <a:off x="8339328" y="2971800"/>
            <a:ext cx="3017520" cy="502920"/>
          </a:xfrm>
          <a:prstGeom prst="roundRect">
            <a:avLst>
              <a:gd name="adj" fmla="val 14545"/>
            </a:avLst>
          </a:prstGeom>
          <a:solidFill>
            <a:srgbClr val="0E1726"/>
          </a:solidFill>
          <a:ln/>
        </p:spPr>
      </p:sp>
      <p:sp>
        <p:nvSpPr>
          <p:cNvPr id="29" name="Text 26"/>
          <p:cNvSpPr txBox="1"/>
          <p:nvPr/>
        </p:nvSpPr>
        <p:spPr>
          <a:xfrm>
            <a:off x="8339328" y="2971800"/>
            <a:ext cx="3017520" cy="502920"/>
          </a:xfrm>
          <a:prstGeom prst="rect">
            <a:avLst/>
          </a:prstGeom>
          <a:noFill/>
          <a:ln/>
        </p:spPr>
        <p:txBody>
          <a:bodyPr wrap="square" lIns="0" tIns="0" rIns="0" bIns="0" rtlCol="0" anchor="ctr">
            <a:normAutofit/>
          </a:bodyPr>
          <a:lstStyle/>
          <a:p>
            <a:pPr algn="ctr" indent="0" marL="0">
              <a:buNone/>
            </a:pPr>
            <a:r>
              <a:rPr lang="en-US" sz="1400" b="1" dirty="0">
                <a:solidFill>
                  <a:srgbClr val="46D39A"/>
                </a:solidFill>
                <a:latin typeface="Courier New" pitchFamily="34" charset="0"/>
                <a:ea typeface="Courier New" pitchFamily="34" charset="-122"/>
                <a:cs typeface="Courier New" pitchFamily="34" charset="-120"/>
              </a:rPr>
              <a:t>sha256sum</a:t>
            </a:r>
            <a:endParaRPr lang="en-US" sz="1400" dirty="0"/>
          </a:p>
        </p:txBody>
      </p:sp>
      <p:sp>
        <p:nvSpPr>
          <p:cNvPr id="30" name="Text 27"/>
          <p:cNvSpPr txBox="1"/>
          <p:nvPr/>
        </p:nvSpPr>
        <p:spPr>
          <a:xfrm>
            <a:off x="8339328" y="3749040"/>
            <a:ext cx="3063240" cy="91440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1 byte changed = whole hash changes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investigators work</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645920"/>
            <a:ext cx="457200" cy="457200"/>
          </a:xfrm>
          <a:prstGeom prst="ellipse">
            <a:avLst/>
          </a:prstGeom>
          <a:solidFill>
            <a:srgbClr val="2459D8"/>
          </a:solidFill>
          <a:ln/>
        </p:spPr>
      </p:sp>
      <p:sp>
        <p:nvSpPr>
          <p:cNvPr id="7" name="Text 4"/>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18488"/>
            <a:ext cx="5212080" cy="96012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Work on a copy. </a:t>
            </a:r>
            <a:pPr indent="0" marL="0">
              <a:buNone/>
            </a:pPr>
            <a:r>
              <a:rPr lang="en-US" sz="1800" dirty="0">
                <a:solidFill>
                  <a:srgbClr val="12213A"/>
                </a:solidFill>
                <a:latin typeface="Calibri" pitchFamily="34" charset="0"/>
                <a:ea typeface="Calibri" pitchFamily="34" charset="-122"/>
                <a:cs typeface="Calibri" pitchFamily="34" charset="-120"/>
              </a:rPr>
              <a:t>The original stays untouched, so nobody can say you changed it.</a:t>
            </a:r>
            <a:endParaRPr lang="en-US" sz="1800" dirty="0"/>
          </a:p>
        </p:txBody>
      </p:sp>
      <p:sp>
        <p:nvSpPr>
          <p:cNvPr id="9" name="Shape 6"/>
          <p:cNvSpPr/>
          <p:nvPr/>
        </p:nvSpPr>
        <p:spPr>
          <a:xfrm>
            <a:off x="548640" y="2697480"/>
            <a:ext cx="457200" cy="457200"/>
          </a:xfrm>
          <a:prstGeom prst="ellipse">
            <a:avLst/>
          </a:prstGeom>
          <a:solidFill>
            <a:srgbClr val="2459D8"/>
          </a:solidFill>
          <a:ln/>
        </p:spPr>
      </p:sp>
      <p:sp>
        <p:nvSpPr>
          <p:cNvPr id="10" name="Text 7"/>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670048"/>
            <a:ext cx="5212080" cy="96012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Fingerprint it first. </a:t>
            </a:r>
            <a:pPr indent="0" marL="0">
              <a:buNone/>
            </a:pPr>
            <a:r>
              <a:rPr lang="en-US" sz="1800" dirty="0">
                <a:solidFill>
                  <a:srgbClr val="12213A"/>
                </a:solidFill>
                <a:latin typeface="Calibri" pitchFamily="34" charset="0"/>
                <a:ea typeface="Calibri" pitchFamily="34" charset="-122"/>
                <a:cs typeface="Calibri" pitchFamily="34" charset="-120"/>
              </a:rPr>
              <a:t>A hash taken now proves later that nothing changed.</a:t>
            </a:r>
            <a:endParaRPr lang="en-US" sz="1800" dirty="0"/>
          </a:p>
        </p:txBody>
      </p:sp>
      <p:sp>
        <p:nvSpPr>
          <p:cNvPr id="12" name="Shape 9"/>
          <p:cNvSpPr/>
          <p:nvPr/>
        </p:nvSpPr>
        <p:spPr>
          <a:xfrm>
            <a:off x="548640" y="3749040"/>
            <a:ext cx="457200" cy="457200"/>
          </a:xfrm>
          <a:prstGeom prst="ellipse">
            <a:avLst/>
          </a:prstGeom>
          <a:solidFill>
            <a:srgbClr val="2459D8"/>
          </a:solidFill>
          <a:ln/>
        </p:spPr>
      </p:sp>
      <p:sp>
        <p:nvSpPr>
          <p:cNvPr id="13" name="Text 10"/>
          <p:cNvSpPr txBox="1"/>
          <p:nvPr/>
        </p:nvSpPr>
        <p:spPr>
          <a:xfrm>
            <a:off x="548640" y="3749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721608"/>
            <a:ext cx="5212080" cy="96012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Write down every step. </a:t>
            </a:r>
            <a:pPr indent="0" marL="0">
              <a:buNone/>
            </a:pPr>
            <a:r>
              <a:rPr lang="en-US" sz="1800" dirty="0">
                <a:solidFill>
                  <a:srgbClr val="12213A"/>
                </a:solidFill>
                <a:latin typeface="Calibri" pitchFamily="34" charset="0"/>
                <a:ea typeface="Calibri" pitchFamily="34" charset="-122"/>
                <a:cs typeface="Calibri" pitchFamily="34" charset="-120"/>
              </a:rPr>
              <a:t>Your notes become the report. Note IPs, users, times.</a:t>
            </a:r>
            <a:endParaRPr lang="en-US" sz="1800" dirty="0"/>
          </a:p>
        </p:txBody>
      </p:sp>
      <p:sp>
        <p:nvSpPr>
          <p:cNvPr id="15" name="Shape 12"/>
          <p:cNvSpPr/>
          <p:nvPr/>
        </p:nvSpPr>
        <p:spPr>
          <a:xfrm>
            <a:off x="548640" y="4800600"/>
            <a:ext cx="457200" cy="457200"/>
          </a:xfrm>
          <a:prstGeom prst="ellipse">
            <a:avLst/>
          </a:prstGeom>
          <a:solidFill>
            <a:srgbClr val="2459D8"/>
          </a:solidFill>
          <a:ln/>
        </p:spPr>
      </p:sp>
      <p:sp>
        <p:nvSpPr>
          <p:cNvPr id="16" name="Text 13"/>
          <p:cNvSpPr txBox="1"/>
          <p:nvPr/>
        </p:nvSpPr>
        <p:spPr>
          <a:xfrm>
            <a:off x="548640" y="4800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773168"/>
            <a:ext cx="5212080" cy="96012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Trust nothing. </a:t>
            </a:r>
            <a:pPr indent="0" marL="0">
              <a:buNone/>
            </a:pPr>
            <a:r>
              <a:rPr lang="en-US" sz="1800" dirty="0">
                <a:solidFill>
                  <a:srgbClr val="12213A"/>
                </a:solidFill>
                <a:latin typeface="Calibri" pitchFamily="34" charset="0"/>
                <a:ea typeface="Calibri" pitchFamily="34" charset="-122"/>
                <a:cs typeface="Calibri" pitchFamily="34" charset="-120"/>
              </a:rPr>
              <a:t>Names, extensions and even timestamps can be faked.</a:t>
            </a:r>
            <a:endParaRPr lang="en-US" sz="1800" dirty="0"/>
          </a:p>
        </p:txBody>
      </p:sp>
      <p:sp>
        <p:nvSpPr>
          <p:cNvPr id="18" name="Shape 15"/>
          <p:cNvSpPr/>
          <p:nvPr/>
        </p:nvSpPr>
        <p:spPr>
          <a:xfrm>
            <a:off x="6675120" y="1463040"/>
            <a:ext cx="4965192" cy="4526280"/>
          </a:xfrm>
          <a:prstGeom prst="roundRect">
            <a:avLst>
              <a:gd name="adj" fmla="val 2020"/>
            </a:avLst>
          </a:prstGeom>
          <a:solidFill>
            <a:srgbClr val="0E1726"/>
          </a:solidFill>
          <a:ln/>
          <a:effectLst>
            <a:outerShdw sx="100000" sy="100000" kx="0" ky="0" algn="bl" rotWithShape="0" blurRad="127000" dist="38100" dir="5400000">
              <a:srgbClr val="12213A">
                <a:alpha val="22000"/>
              </a:srgbClr>
            </a:outerShdw>
          </a:effectLst>
        </p:spPr>
      </p:sp>
      <p:sp>
        <p:nvSpPr>
          <p:cNvPr id="19" name="Shape 16"/>
          <p:cNvSpPr/>
          <p:nvPr/>
        </p:nvSpPr>
        <p:spPr>
          <a:xfrm>
            <a:off x="6876288" y="1618488"/>
            <a:ext cx="118872" cy="118872"/>
          </a:xfrm>
          <a:prstGeom prst="ellipse">
            <a:avLst/>
          </a:prstGeom>
          <a:solidFill>
            <a:srgbClr val="E5534B"/>
          </a:solidFill>
          <a:ln/>
        </p:spPr>
      </p:sp>
      <p:sp>
        <p:nvSpPr>
          <p:cNvPr id="20" name="Shape 17"/>
          <p:cNvSpPr/>
          <p:nvPr/>
        </p:nvSpPr>
        <p:spPr>
          <a:xfrm>
            <a:off x="7077456" y="1618488"/>
            <a:ext cx="118872" cy="118872"/>
          </a:xfrm>
          <a:prstGeom prst="ellipse">
            <a:avLst/>
          </a:prstGeom>
          <a:solidFill>
            <a:srgbClr val="F5A623"/>
          </a:solidFill>
          <a:ln/>
        </p:spPr>
      </p:sp>
      <p:sp>
        <p:nvSpPr>
          <p:cNvPr id="21" name="Shape 18"/>
          <p:cNvSpPr/>
          <p:nvPr/>
        </p:nvSpPr>
        <p:spPr>
          <a:xfrm>
            <a:off x="7278624" y="1618488"/>
            <a:ext cx="118872" cy="118872"/>
          </a:xfrm>
          <a:prstGeom prst="ellipse">
            <a:avLst/>
          </a:prstGeom>
          <a:solidFill>
            <a:srgbClr val="46D39A"/>
          </a:solidFill>
          <a:ln/>
        </p:spPr>
      </p:sp>
      <p:sp>
        <p:nvSpPr>
          <p:cNvPr id="22" name="Text 19"/>
          <p:cNvSpPr txBox="1"/>
          <p:nvPr/>
        </p:nvSpPr>
        <p:spPr>
          <a:xfrm>
            <a:off x="7589520" y="1536192"/>
            <a:ext cx="313639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notes.txt</a:t>
            </a:r>
            <a:endParaRPr lang="en-US" sz="1000" dirty="0"/>
          </a:p>
        </p:txBody>
      </p:sp>
      <p:sp>
        <p:nvSpPr>
          <p:cNvPr id="23" name="Text 20"/>
          <p:cNvSpPr txBox="1"/>
          <p:nvPr/>
        </p:nvSpPr>
        <p:spPr>
          <a:xfrm>
            <a:off x="6949440" y="1920240"/>
            <a:ext cx="4416552" cy="3931920"/>
          </a:xfrm>
          <a:prstGeom prst="rect">
            <a:avLst/>
          </a:prstGeom>
          <a:noFill/>
          <a:ln/>
        </p:spPr>
        <p:txBody>
          <a:bodyPr wrap="square" lIns="0" tIns="0" rIns="0" bIns="0" rtlCol="0" anchor="t"/>
          <a:lstStyle/>
          <a:p>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case notes, 08 Oct</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02:04  Failed logins start</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from 203.0.113.66</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02:26  Accepted: user ava</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02:53  memo.txt changed</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03:01  pixel.gif requests</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with hex chunks</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Next:  check cron for</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persistence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you'll see at the competition</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463040"/>
            <a:ext cx="5449824" cy="1005840"/>
          </a:xfrm>
          <a:prstGeom prst="roundRect">
            <a:avLst>
              <a:gd name="adj" fmla="val 9091"/>
            </a:avLst>
          </a:prstGeom>
          <a:solidFill>
            <a:srgbClr val="F1F5FB"/>
          </a:solidFill>
          <a:ln/>
        </p:spPr>
      </p:sp>
      <p:sp>
        <p:nvSpPr>
          <p:cNvPr id="7" name="Shape 4"/>
          <p:cNvSpPr/>
          <p:nvPr/>
        </p:nvSpPr>
        <p:spPr>
          <a:xfrm>
            <a:off x="548640" y="1463040"/>
            <a:ext cx="109728" cy="1005840"/>
          </a:xfrm>
          <a:prstGeom prst="rect">
            <a:avLst/>
          </a:prstGeom>
          <a:solidFill>
            <a:srgbClr val="17875A"/>
          </a:solidFill>
          <a:ln/>
        </p:spPr>
      </p:sp>
      <p:sp>
        <p:nvSpPr>
          <p:cNvPr id="8" name="Text 5"/>
          <p:cNvSpPr txBox="1"/>
          <p:nvPr/>
        </p:nvSpPr>
        <p:spPr>
          <a:xfrm>
            <a:off x="868680" y="1554480"/>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Forensics</a:t>
            </a:r>
            <a:endParaRPr lang="en-US" sz="1800" dirty="0"/>
          </a:p>
        </p:txBody>
      </p:sp>
      <p:sp>
        <p:nvSpPr>
          <p:cNvPr id="9" name="Text 6"/>
          <p:cNvSpPr txBox="1"/>
          <p:nvPr/>
        </p:nvSpPr>
        <p:spPr>
          <a:xfrm>
            <a:off x="868680" y="1965960"/>
            <a:ext cx="4846320" cy="411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Today: signatures, metadata, stego, logs, packets</a:t>
            </a:r>
            <a:endParaRPr lang="en-US" sz="1400" dirty="0"/>
          </a:p>
        </p:txBody>
      </p:sp>
      <p:sp>
        <p:nvSpPr>
          <p:cNvPr id="10" name="Shape 7"/>
          <p:cNvSpPr/>
          <p:nvPr/>
        </p:nvSpPr>
        <p:spPr>
          <a:xfrm>
            <a:off x="4434840" y="1591056"/>
            <a:ext cx="1371600" cy="347472"/>
          </a:xfrm>
          <a:prstGeom prst="roundRect">
            <a:avLst>
              <a:gd name="adj" fmla="val 50000"/>
            </a:avLst>
          </a:prstGeom>
          <a:solidFill>
            <a:srgbClr val="E2F5EC"/>
          </a:solidFill>
          <a:ln/>
        </p:spPr>
      </p:sp>
      <p:sp>
        <p:nvSpPr>
          <p:cNvPr id="11" name="Text 8"/>
          <p:cNvSpPr txBox="1"/>
          <p:nvPr/>
        </p:nvSpPr>
        <p:spPr>
          <a:xfrm>
            <a:off x="4434840" y="1591056"/>
            <a:ext cx="1371600" cy="347472"/>
          </a:xfrm>
          <a:prstGeom prst="rect">
            <a:avLst/>
          </a:prstGeom>
          <a:noFill/>
          <a:ln/>
        </p:spPr>
        <p:txBody>
          <a:bodyPr wrap="square" lIns="0" tIns="0" rIns="0" bIns="0" rtlCol="0" anchor="ctr"/>
          <a:lstStyle/>
          <a:p>
            <a:pPr algn="ctr" indent="0" marL="0">
              <a:buNone/>
            </a:pPr>
            <a:r>
              <a:rPr lang="en-US" sz="1150" b="1" dirty="0">
                <a:solidFill>
                  <a:srgbClr val="12704B"/>
                </a:solidFill>
                <a:latin typeface="Calibri" pitchFamily="34" charset="0"/>
                <a:ea typeface="Calibri" pitchFamily="34" charset="-122"/>
                <a:cs typeface="Calibri" pitchFamily="34" charset="-120"/>
              </a:rPr>
              <a:t>practised</a:t>
            </a:r>
            <a:endParaRPr lang="en-US" sz="1150" dirty="0"/>
          </a:p>
        </p:txBody>
      </p:sp>
      <p:sp>
        <p:nvSpPr>
          <p:cNvPr id="12" name="Shape 9"/>
          <p:cNvSpPr/>
          <p:nvPr/>
        </p:nvSpPr>
        <p:spPr>
          <a:xfrm>
            <a:off x="6190488" y="1463040"/>
            <a:ext cx="5449824" cy="1005840"/>
          </a:xfrm>
          <a:prstGeom prst="roundRect">
            <a:avLst>
              <a:gd name="adj" fmla="val 9091"/>
            </a:avLst>
          </a:prstGeom>
          <a:solidFill>
            <a:srgbClr val="F1F5FB"/>
          </a:solidFill>
          <a:ln/>
        </p:spPr>
      </p:sp>
      <p:sp>
        <p:nvSpPr>
          <p:cNvPr id="13" name="Shape 10"/>
          <p:cNvSpPr/>
          <p:nvPr/>
        </p:nvSpPr>
        <p:spPr>
          <a:xfrm>
            <a:off x="6190488" y="1463040"/>
            <a:ext cx="109728" cy="1005840"/>
          </a:xfrm>
          <a:prstGeom prst="rect">
            <a:avLst/>
          </a:prstGeom>
          <a:solidFill>
            <a:srgbClr val="17875A"/>
          </a:solidFill>
          <a:ln/>
        </p:spPr>
      </p:sp>
      <p:sp>
        <p:nvSpPr>
          <p:cNvPr id="14" name="Text 11"/>
          <p:cNvSpPr txBox="1"/>
          <p:nvPr/>
        </p:nvSpPr>
        <p:spPr>
          <a:xfrm>
            <a:off x="6510528" y="1554480"/>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Crypto</a:t>
            </a:r>
            <a:endParaRPr lang="en-US" sz="1800" dirty="0"/>
          </a:p>
        </p:txBody>
      </p:sp>
      <p:sp>
        <p:nvSpPr>
          <p:cNvPr id="15" name="Text 12"/>
          <p:cNvSpPr txBox="1"/>
          <p:nvPr/>
        </p:nvSpPr>
        <p:spPr>
          <a:xfrm>
            <a:off x="6510528" y="1965960"/>
            <a:ext cx="4846320" cy="411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The Crypto CTF: encodings, ciphers, hashes</a:t>
            </a:r>
            <a:endParaRPr lang="en-US" sz="1400" dirty="0"/>
          </a:p>
        </p:txBody>
      </p:sp>
      <p:sp>
        <p:nvSpPr>
          <p:cNvPr id="16" name="Shape 13"/>
          <p:cNvSpPr/>
          <p:nvPr/>
        </p:nvSpPr>
        <p:spPr>
          <a:xfrm>
            <a:off x="10076688" y="1591056"/>
            <a:ext cx="1371600" cy="347472"/>
          </a:xfrm>
          <a:prstGeom prst="roundRect">
            <a:avLst>
              <a:gd name="adj" fmla="val 50000"/>
            </a:avLst>
          </a:prstGeom>
          <a:solidFill>
            <a:srgbClr val="E2F5EC"/>
          </a:solidFill>
          <a:ln/>
        </p:spPr>
      </p:sp>
      <p:sp>
        <p:nvSpPr>
          <p:cNvPr id="17" name="Text 14"/>
          <p:cNvSpPr txBox="1"/>
          <p:nvPr/>
        </p:nvSpPr>
        <p:spPr>
          <a:xfrm>
            <a:off x="10076688" y="1591056"/>
            <a:ext cx="1371600" cy="347472"/>
          </a:xfrm>
          <a:prstGeom prst="rect">
            <a:avLst/>
          </a:prstGeom>
          <a:noFill/>
          <a:ln/>
        </p:spPr>
        <p:txBody>
          <a:bodyPr wrap="square" lIns="0" tIns="0" rIns="0" bIns="0" rtlCol="0" anchor="ctr"/>
          <a:lstStyle/>
          <a:p>
            <a:pPr algn="ctr" indent="0" marL="0">
              <a:buNone/>
            </a:pPr>
            <a:r>
              <a:rPr lang="en-US" sz="1150" b="1" dirty="0">
                <a:solidFill>
                  <a:srgbClr val="12704B"/>
                </a:solidFill>
                <a:latin typeface="Calibri" pitchFamily="34" charset="0"/>
                <a:ea typeface="Calibri" pitchFamily="34" charset="-122"/>
                <a:cs typeface="Calibri" pitchFamily="34" charset="-120"/>
              </a:rPr>
              <a:t>practised</a:t>
            </a:r>
            <a:endParaRPr lang="en-US" sz="1150" dirty="0"/>
          </a:p>
        </p:txBody>
      </p:sp>
      <p:sp>
        <p:nvSpPr>
          <p:cNvPr id="18" name="Shape 15"/>
          <p:cNvSpPr/>
          <p:nvPr/>
        </p:nvSpPr>
        <p:spPr>
          <a:xfrm>
            <a:off x="548640" y="2596896"/>
            <a:ext cx="5449824" cy="1005840"/>
          </a:xfrm>
          <a:prstGeom prst="roundRect">
            <a:avLst>
              <a:gd name="adj" fmla="val 9091"/>
            </a:avLst>
          </a:prstGeom>
          <a:solidFill>
            <a:srgbClr val="F1F5FB"/>
          </a:solidFill>
          <a:ln/>
        </p:spPr>
      </p:sp>
      <p:sp>
        <p:nvSpPr>
          <p:cNvPr id="19" name="Shape 16"/>
          <p:cNvSpPr/>
          <p:nvPr/>
        </p:nvSpPr>
        <p:spPr>
          <a:xfrm>
            <a:off x="548640" y="2596896"/>
            <a:ext cx="109728" cy="1005840"/>
          </a:xfrm>
          <a:prstGeom prst="rect">
            <a:avLst/>
          </a:prstGeom>
          <a:solidFill>
            <a:srgbClr val="F5A623"/>
          </a:solidFill>
          <a:ln/>
        </p:spPr>
      </p:sp>
      <p:sp>
        <p:nvSpPr>
          <p:cNvPr id="20" name="Text 17"/>
          <p:cNvSpPr txBox="1"/>
          <p:nvPr/>
        </p:nvSpPr>
        <p:spPr>
          <a:xfrm>
            <a:off x="868680" y="2688336"/>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Reverse engineering</a:t>
            </a:r>
            <a:endParaRPr lang="en-US" sz="1800" dirty="0"/>
          </a:p>
        </p:txBody>
      </p:sp>
      <p:sp>
        <p:nvSpPr>
          <p:cNvPr id="21" name="Text 18"/>
          <p:cNvSpPr txBox="1"/>
          <p:nvPr/>
        </p:nvSpPr>
        <p:spPr>
          <a:xfrm>
            <a:off x="868680" y="3099816"/>
            <a:ext cx="4846320" cy="411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strings, xxd and file signatures are step one</a:t>
            </a:r>
            <a:endParaRPr lang="en-US" sz="1400" dirty="0"/>
          </a:p>
        </p:txBody>
      </p:sp>
      <p:sp>
        <p:nvSpPr>
          <p:cNvPr id="22" name="Shape 19"/>
          <p:cNvSpPr/>
          <p:nvPr/>
        </p:nvSpPr>
        <p:spPr>
          <a:xfrm>
            <a:off x="4434840" y="2724912"/>
            <a:ext cx="1371600" cy="347472"/>
          </a:xfrm>
          <a:prstGeom prst="roundRect">
            <a:avLst>
              <a:gd name="adj" fmla="val 50000"/>
            </a:avLst>
          </a:prstGeom>
          <a:solidFill>
            <a:srgbClr val="FFF4DE"/>
          </a:solidFill>
          <a:ln/>
        </p:spPr>
      </p:sp>
      <p:sp>
        <p:nvSpPr>
          <p:cNvPr id="23" name="Text 20"/>
          <p:cNvSpPr txBox="1"/>
          <p:nvPr/>
        </p:nvSpPr>
        <p:spPr>
          <a:xfrm>
            <a:off x="4434840" y="2724912"/>
            <a:ext cx="1371600" cy="347472"/>
          </a:xfrm>
          <a:prstGeom prst="rect">
            <a:avLst/>
          </a:prstGeom>
          <a:noFill/>
          <a:ln/>
        </p:spPr>
        <p:txBody>
          <a:bodyPr wrap="square" lIns="0" tIns="0" rIns="0" bIns="0" rtlCol="0" anchor="ctr"/>
          <a:lstStyle/>
          <a:p>
            <a:pPr algn="ctr" indent="0" marL="0">
              <a:buNone/>
            </a:pPr>
            <a:r>
              <a:rPr lang="en-US" sz="1150" b="1" dirty="0">
                <a:solidFill>
                  <a:srgbClr val="9A5B00"/>
                </a:solidFill>
                <a:latin typeface="Calibri" pitchFamily="34" charset="0"/>
                <a:ea typeface="Calibri" pitchFamily="34" charset="-122"/>
                <a:cs typeface="Calibri" pitchFamily="34" charset="-120"/>
              </a:rPr>
              <a:t>first steps</a:t>
            </a:r>
            <a:endParaRPr lang="en-US" sz="1150" dirty="0"/>
          </a:p>
        </p:txBody>
      </p:sp>
      <p:sp>
        <p:nvSpPr>
          <p:cNvPr id="24" name="Shape 21"/>
          <p:cNvSpPr/>
          <p:nvPr/>
        </p:nvSpPr>
        <p:spPr>
          <a:xfrm>
            <a:off x="6190488" y="2596896"/>
            <a:ext cx="5449824" cy="1005840"/>
          </a:xfrm>
          <a:prstGeom prst="roundRect">
            <a:avLst>
              <a:gd name="adj" fmla="val 9091"/>
            </a:avLst>
          </a:prstGeom>
          <a:solidFill>
            <a:srgbClr val="F1F5FB"/>
          </a:solidFill>
          <a:ln/>
        </p:spPr>
      </p:sp>
      <p:sp>
        <p:nvSpPr>
          <p:cNvPr id="25" name="Shape 22"/>
          <p:cNvSpPr/>
          <p:nvPr/>
        </p:nvSpPr>
        <p:spPr>
          <a:xfrm>
            <a:off x="6190488" y="2596896"/>
            <a:ext cx="109728" cy="1005840"/>
          </a:xfrm>
          <a:prstGeom prst="rect">
            <a:avLst/>
          </a:prstGeom>
          <a:solidFill>
            <a:srgbClr val="56657E"/>
          </a:solidFill>
          <a:ln/>
        </p:spPr>
      </p:sp>
      <p:sp>
        <p:nvSpPr>
          <p:cNvPr id="26" name="Text 23"/>
          <p:cNvSpPr txBox="1"/>
          <p:nvPr/>
        </p:nvSpPr>
        <p:spPr>
          <a:xfrm>
            <a:off x="6510528" y="2688336"/>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Web</a:t>
            </a:r>
            <a:endParaRPr lang="en-US" sz="1800" dirty="0"/>
          </a:p>
        </p:txBody>
      </p:sp>
      <p:sp>
        <p:nvSpPr>
          <p:cNvPr id="27" name="Text 24"/>
          <p:cNvSpPr txBox="1"/>
          <p:nvPr/>
        </p:nvSpPr>
        <p:spPr>
          <a:xfrm>
            <a:off x="6510528" y="3099816"/>
            <a:ext cx="4846320" cy="411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Coming: the Web CTF (OWASP Top 10)</a:t>
            </a:r>
            <a:endParaRPr lang="en-US" sz="1400" dirty="0"/>
          </a:p>
        </p:txBody>
      </p:sp>
      <p:sp>
        <p:nvSpPr>
          <p:cNvPr id="28" name="Shape 25"/>
          <p:cNvSpPr/>
          <p:nvPr/>
        </p:nvSpPr>
        <p:spPr>
          <a:xfrm>
            <a:off x="10076688" y="2724912"/>
            <a:ext cx="1371600" cy="347472"/>
          </a:xfrm>
          <a:prstGeom prst="roundRect">
            <a:avLst>
              <a:gd name="adj" fmla="val 50000"/>
            </a:avLst>
          </a:prstGeom>
          <a:solidFill>
            <a:srgbClr val="E4EAF3"/>
          </a:solidFill>
          <a:ln/>
        </p:spPr>
      </p:sp>
      <p:sp>
        <p:nvSpPr>
          <p:cNvPr id="29" name="Text 26"/>
          <p:cNvSpPr txBox="1"/>
          <p:nvPr/>
        </p:nvSpPr>
        <p:spPr>
          <a:xfrm>
            <a:off x="10076688" y="2724912"/>
            <a:ext cx="1371600" cy="347472"/>
          </a:xfrm>
          <a:prstGeom prst="rect">
            <a:avLst/>
          </a:prstGeom>
          <a:noFill/>
          <a:ln/>
        </p:spPr>
        <p:txBody>
          <a:bodyPr wrap="square" lIns="0" tIns="0" rIns="0" bIns="0" rtlCol="0" anchor="ctr"/>
          <a:lstStyle/>
          <a:p>
            <a:pPr algn="ctr" indent="0" marL="0">
              <a:buNone/>
            </a:pPr>
            <a:r>
              <a:rPr lang="en-US" sz="1150" b="1" dirty="0">
                <a:solidFill>
                  <a:srgbClr val="56657E"/>
                </a:solidFill>
                <a:latin typeface="Calibri" pitchFamily="34" charset="0"/>
                <a:ea typeface="Calibri" pitchFamily="34" charset="-122"/>
                <a:cs typeface="Calibri" pitchFamily="34" charset="-120"/>
              </a:rPr>
              <a:t>later</a:t>
            </a:r>
            <a:endParaRPr lang="en-US" sz="1150" dirty="0"/>
          </a:p>
        </p:txBody>
      </p:sp>
      <p:sp>
        <p:nvSpPr>
          <p:cNvPr id="30" name="Shape 27"/>
          <p:cNvSpPr/>
          <p:nvPr/>
        </p:nvSpPr>
        <p:spPr>
          <a:xfrm>
            <a:off x="548640" y="3730752"/>
            <a:ext cx="5449824" cy="1005840"/>
          </a:xfrm>
          <a:prstGeom prst="roundRect">
            <a:avLst>
              <a:gd name="adj" fmla="val 9091"/>
            </a:avLst>
          </a:prstGeom>
          <a:solidFill>
            <a:srgbClr val="F1F5FB"/>
          </a:solidFill>
          <a:ln/>
        </p:spPr>
      </p:sp>
      <p:sp>
        <p:nvSpPr>
          <p:cNvPr id="31" name="Shape 28"/>
          <p:cNvSpPr/>
          <p:nvPr/>
        </p:nvSpPr>
        <p:spPr>
          <a:xfrm>
            <a:off x="548640" y="3730752"/>
            <a:ext cx="109728" cy="1005840"/>
          </a:xfrm>
          <a:prstGeom prst="rect">
            <a:avLst/>
          </a:prstGeom>
          <a:solidFill>
            <a:srgbClr val="F5A623"/>
          </a:solidFill>
          <a:ln/>
        </p:spPr>
      </p:sp>
      <p:sp>
        <p:nvSpPr>
          <p:cNvPr id="32" name="Text 29"/>
          <p:cNvSpPr txBox="1"/>
          <p:nvPr/>
        </p:nvSpPr>
        <p:spPr>
          <a:xfrm>
            <a:off x="868680" y="3822192"/>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Education &amp; Awareness</a:t>
            </a:r>
            <a:endParaRPr lang="en-US" sz="1800" dirty="0"/>
          </a:p>
        </p:txBody>
      </p:sp>
      <p:sp>
        <p:nvSpPr>
          <p:cNvPr id="33" name="Text 30"/>
          <p:cNvSpPr txBox="1"/>
          <p:nvPr/>
        </p:nvSpPr>
        <p:spPr>
          <a:xfrm>
            <a:off x="868680" y="4233672"/>
            <a:ext cx="4846320" cy="411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Trivia: phishing, passwords, cyber ethics</a:t>
            </a:r>
            <a:endParaRPr lang="en-US" sz="1400" dirty="0"/>
          </a:p>
        </p:txBody>
      </p:sp>
      <p:sp>
        <p:nvSpPr>
          <p:cNvPr id="34" name="Shape 31"/>
          <p:cNvSpPr/>
          <p:nvPr/>
        </p:nvSpPr>
        <p:spPr>
          <a:xfrm>
            <a:off x="4434840" y="3858768"/>
            <a:ext cx="1371600" cy="347472"/>
          </a:xfrm>
          <a:prstGeom prst="roundRect">
            <a:avLst>
              <a:gd name="adj" fmla="val 50000"/>
            </a:avLst>
          </a:prstGeom>
          <a:solidFill>
            <a:srgbClr val="FFF4DE"/>
          </a:solidFill>
          <a:ln/>
        </p:spPr>
      </p:sp>
      <p:sp>
        <p:nvSpPr>
          <p:cNvPr id="35" name="Text 32"/>
          <p:cNvSpPr txBox="1"/>
          <p:nvPr/>
        </p:nvSpPr>
        <p:spPr>
          <a:xfrm>
            <a:off x="4434840" y="3858768"/>
            <a:ext cx="1371600" cy="347472"/>
          </a:xfrm>
          <a:prstGeom prst="rect">
            <a:avLst/>
          </a:prstGeom>
          <a:noFill/>
          <a:ln/>
        </p:spPr>
        <p:txBody>
          <a:bodyPr wrap="square" lIns="0" tIns="0" rIns="0" bIns="0" rtlCol="0" anchor="ctr"/>
          <a:lstStyle/>
          <a:p>
            <a:pPr algn="ctr" indent="0" marL="0">
              <a:buNone/>
            </a:pPr>
            <a:r>
              <a:rPr lang="en-US" sz="1150" b="1" dirty="0">
                <a:solidFill>
                  <a:srgbClr val="9A5B00"/>
                </a:solidFill>
                <a:latin typeface="Calibri" pitchFamily="34" charset="0"/>
                <a:ea typeface="Calibri" pitchFamily="34" charset="-122"/>
                <a:cs typeface="Calibri" pitchFamily="34" charset="-120"/>
              </a:rPr>
              <a:t>first steps</a:t>
            </a:r>
            <a:endParaRPr lang="en-US" sz="1150" dirty="0"/>
          </a:p>
        </p:txBody>
      </p:sp>
      <p:sp>
        <p:nvSpPr>
          <p:cNvPr id="36" name="Shape 33"/>
          <p:cNvSpPr/>
          <p:nvPr/>
        </p:nvSpPr>
        <p:spPr>
          <a:xfrm>
            <a:off x="6190488" y="3730752"/>
            <a:ext cx="5449824" cy="1005840"/>
          </a:xfrm>
          <a:prstGeom prst="roundRect">
            <a:avLst>
              <a:gd name="adj" fmla="val 9091"/>
            </a:avLst>
          </a:prstGeom>
          <a:solidFill>
            <a:srgbClr val="F1F5FB"/>
          </a:solidFill>
          <a:ln/>
        </p:spPr>
      </p:sp>
      <p:sp>
        <p:nvSpPr>
          <p:cNvPr id="37" name="Shape 34"/>
          <p:cNvSpPr/>
          <p:nvPr/>
        </p:nvSpPr>
        <p:spPr>
          <a:xfrm>
            <a:off x="6190488" y="3730752"/>
            <a:ext cx="109728" cy="1005840"/>
          </a:xfrm>
          <a:prstGeom prst="rect">
            <a:avLst/>
          </a:prstGeom>
          <a:solidFill>
            <a:srgbClr val="F5A623"/>
          </a:solidFill>
          <a:ln/>
        </p:spPr>
      </p:sp>
      <p:sp>
        <p:nvSpPr>
          <p:cNvPr id="38" name="Text 35"/>
          <p:cNvSpPr txBox="1"/>
          <p:nvPr/>
        </p:nvSpPr>
        <p:spPr>
          <a:xfrm>
            <a:off x="6510528" y="3822192"/>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PWN</a:t>
            </a:r>
            <a:endParaRPr lang="en-US" sz="1800" dirty="0"/>
          </a:p>
        </p:txBody>
      </p:sp>
      <p:sp>
        <p:nvSpPr>
          <p:cNvPr id="39" name="Text 36"/>
          <p:cNvSpPr txBox="1"/>
          <p:nvPr/>
        </p:nvSpPr>
        <p:spPr>
          <a:xfrm>
            <a:off x="6510528" y="4233672"/>
            <a:ext cx="4846320" cy="411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Linux permissions (Linux CTF) are the start</a:t>
            </a:r>
            <a:endParaRPr lang="en-US" sz="1400" dirty="0"/>
          </a:p>
        </p:txBody>
      </p:sp>
      <p:sp>
        <p:nvSpPr>
          <p:cNvPr id="40" name="Shape 37"/>
          <p:cNvSpPr/>
          <p:nvPr/>
        </p:nvSpPr>
        <p:spPr>
          <a:xfrm>
            <a:off x="10076688" y="3858768"/>
            <a:ext cx="1371600" cy="347472"/>
          </a:xfrm>
          <a:prstGeom prst="roundRect">
            <a:avLst>
              <a:gd name="adj" fmla="val 50000"/>
            </a:avLst>
          </a:prstGeom>
          <a:solidFill>
            <a:srgbClr val="FFF4DE"/>
          </a:solidFill>
          <a:ln/>
        </p:spPr>
      </p:sp>
      <p:sp>
        <p:nvSpPr>
          <p:cNvPr id="41" name="Text 38"/>
          <p:cNvSpPr txBox="1"/>
          <p:nvPr/>
        </p:nvSpPr>
        <p:spPr>
          <a:xfrm>
            <a:off x="10076688" y="3858768"/>
            <a:ext cx="1371600" cy="347472"/>
          </a:xfrm>
          <a:prstGeom prst="rect">
            <a:avLst/>
          </a:prstGeom>
          <a:noFill/>
          <a:ln/>
        </p:spPr>
        <p:txBody>
          <a:bodyPr wrap="square" lIns="0" tIns="0" rIns="0" bIns="0" rtlCol="0" anchor="ctr"/>
          <a:lstStyle/>
          <a:p>
            <a:pPr algn="ctr" indent="0" marL="0">
              <a:buNone/>
            </a:pPr>
            <a:r>
              <a:rPr lang="en-US" sz="1150" b="1" dirty="0">
                <a:solidFill>
                  <a:srgbClr val="9A5B00"/>
                </a:solidFill>
                <a:latin typeface="Calibri" pitchFamily="34" charset="0"/>
                <a:ea typeface="Calibri" pitchFamily="34" charset="-122"/>
                <a:cs typeface="Calibri" pitchFamily="34" charset="-120"/>
              </a:rPr>
              <a:t>first steps</a:t>
            </a:r>
            <a:endParaRPr lang="en-US" sz="1150" dirty="0"/>
          </a:p>
        </p:txBody>
      </p:sp>
      <p:sp>
        <p:nvSpPr>
          <p:cNvPr id="42" name="Shape 39"/>
          <p:cNvSpPr/>
          <p:nvPr/>
        </p:nvSpPr>
        <p:spPr>
          <a:xfrm>
            <a:off x="548640" y="4864608"/>
            <a:ext cx="5449824" cy="1005840"/>
          </a:xfrm>
          <a:prstGeom prst="roundRect">
            <a:avLst>
              <a:gd name="adj" fmla="val 9091"/>
            </a:avLst>
          </a:prstGeom>
          <a:solidFill>
            <a:srgbClr val="F1F5FB"/>
          </a:solidFill>
          <a:ln/>
        </p:spPr>
      </p:sp>
      <p:sp>
        <p:nvSpPr>
          <p:cNvPr id="43" name="Shape 40"/>
          <p:cNvSpPr/>
          <p:nvPr/>
        </p:nvSpPr>
        <p:spPr>
          <a:xfrm>
            <a:off x="548640" y="4864608"/>
            <a:ext cx="109728" cy="1005840"/>
          </a:xfrm>
          <a:prstGeom prst="rect">
            <a:avLst/>
          </a:prstGeom>
          <a:solidFill>
            <a:srgbClr val="F5A623"/>
          </a:solidFill>
          <a:ln/>
        </p:spPr>
      </p:sp>
      <p:sp>
        <p:nvSpPr>
          <p:cNvPr id="44" name="Text 41"/>
          <p:cNvSpPr txBox="1"/>
          <p:nvPr/>
        </p:nvSpPr>
        <p:spPr>
          <a:xfrm>
            <a:off x="868680" y="4956048"/>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OSINT</a:t>
            </a:r>
            <a:endParaRPr lang="en-US" sz="1800" dirty="0"/>
          </a:p>
        </p:txBody>
      </p:sp>
      <p:sp>
        <p:nvSpPr>
          <p:cNvPr id="45" name="Text 42"/>
          <p:cNvSpPr txBox="1"/>
          <p:nvPr/>
        </p:nvSpPr>
        <p:spPr>
          <a:xfrm>
            <a:off x="868680" y="5367528"/>
            <a:ext cx="4846320" cy="411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Metadata (Mission 2) is part of it</a:t>
            </a:r>
            <a:endParaRPr lang="en-US" sz="1400" dirty="0"/>
          </a:p>
        </p:txBody>
      </p:sp>
      <p:sp>
        <p:nvSpPr>
          <p:cNvPr id="46" name="Shape 43"/>
          <p:cNvSpPr/>
          <p:nvPr/>
        </p:nvSpPr>
        <p:spPr>
          <a:xfrm>
            <a:off x="4434840" y="4992624"/>
            <a:ext cx="1371600" cy="347472"/>
          </a:xfrm>
          <a:prstGeom prst="roundRect">
            <a:avLst>
              <a:gd name="adj" fmla="val 50000"/>
            </a:avLst>
          </a:prstGeom>
          <a:solidFill>
            <a:srgbClr val="FFF4DE"/>
          </a:solidFill>
          <a:ln/>
        </p:spPr>
      </p:sp>
      <p:sp>
        <p:nvSpPr>
          <p:cNvPr id="47" name="Text 44"/>
          <p:cNvSpPr txBox="1"/>
          <p:nvPr/>
        </p:nvSpPr>
        <p:spPr>
          <a:xfrm>
            <a:off x="4434840" y="4992624"/>
            <a:ext cx="1371600" cy="347472"/>
          </a:xfrm>
          <a:prstGeom prst="rect">
            <a:avLst/>
          </a:prstGeom>
          <a:noFill/>
          <a:ln/>
        </p:spPr>
        <p:txBody>
          <a:bodyPr wrap="square" lIns="0" tIns="0" rIns="0" bIns="0" rtlCol="0" anchor="ctr"/>
          <a:lstStyle/>
          <a:p>
            <a:pPr algn="ctr" indent="0" marL="0">
              <a:buNone/>
            </a:pPr>
            <a:r>
              <a:rPr lang="en-US" sz="1150" b="1" dirty="0">
                <a:solidFill>
                  <a:srgbClr val="9A5B00"/>
                </a:solidFill>
                <a:latin typeface="Calibri" pitchFamily="34" charset="0"/>
                <a:ea typeface="Calibri" pitchFamily="34" charset="-122"/>
                <a:cs typeface="Calibri" pitchFamily="34" charset="-120"/>
              </a:rPr>
              <a:t>first steps</a:t>
            </a:r>
            <a:endParaRPr lang="en-US" sz="1150" dirty="0"/>
          </a:p>
        </p:txBody>
      </p:sp>
      <p:sp>
        <p:nvSpPr>
          <p:cNvPr id="48" name="Shape 45"/>
          <p:cNvSpPr/>
          <p:nvPr/>
        </p:nvSpPr>
        <p:spPr>
          <a:xfrm>
            <a:off x="6190488" y="4864608"/>
            <a:ext cx="5449824" cy="1005840"/>
          </a:xfrm>
          <a:prstGeom prst="roundRect">
            <a:avLst>
              <a:gd name="adj" fmla="val 9091"/>
            </a:avLst>
          </a:prstGeom>
          <a:solidFill>
            <a:srgbClr val="F1F5FB"/>
          </a:solidFill>
          <a:ln/>
        </p:spPr>
      </p:sp>
      <p:sp>
        <p:nvSpPr>
          <p:cNvPr id="49" name="Shape 46"/>
          <p:cNvSpPr/>
          <p:nvPr/>
        </p:nvSpPr>
        <p:spPr>
          <a:xfrm>
            <a:off x="6190488" y="4864608"/>
            <a:ext cx="109728" cy="1005840"/>
          </a:xfrm>
          <a:prstGeom prst="rect">
            <a:avLst/>
          </a:prstGeom>
          <a:solidFill>
            <a:srgbClr val="17875A"/>
          </a:solidFill>
          <a:ln/>
        </p:spPr>
      </p:sp>
      <p:sp>
        <p:nvSpPr>
          <p:cNvPr id="50" name="Text 47"/>
          <p:cNvSpPr txBox="1"/>
          <p:nvPr/>
        </p:nvSpPr>
        <p:spPr>
          <a:xfrm>
            <a:off x="6510528" y="4956048"/>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Command line + SSH</a:t>
            </a:r>
            <a:endParaRPr lang="en-US" sz="1800" dirty="0"/>
          </a:p>
        </p:txBody>
      </p:sp>
      <p:sp>
        <p:nvSpPr>
          <p:cNvPr id="51" name="Text 48"/>
          <p:cNvSpPr txBox="1"/>
          <p:nvPr/>
        </p:nvSpPr>
        <p:spPr>
          <a:xfrm>
            <a:off x="6510528" y="5367528"/>
            <a:ext cx="4846320" cy="411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The Linux CTF, and every command today</a:t>
            </a:r>
            <a:endParaRPr lang="en-US" sz="1400" dirty="0"/>
          </a:p>
        </p:txBody>
      </p:sp>
      <p:sp>
        <p:nvSpPr>
          <p:cNvPr id="52" name="Shape 49"/>
          <p:cNvSpPr/>
          <p:nvPr/>
        </p:nvSpPr>
        <p:spPr>
          <a:xfrm>
            <a:off x="10076688" y="4992624"/>
            <a:ext cx="1371600" cy="347472"/>
          </a:xfrm>
          <a:prstGeom prst="roundRect">
            <a:avLst>
              <a:gd name="adj" fmla="val 50000"/>
            </a:avLst>
          </a:prstGeom>
          <a:solidFill>
            <a:srgbClr val="E2F5EC"/>
          </a:solidFill>
          <a:ln/>
        </p:spPr>
      </p:sp>
      <p:sp>
        <p:nvSpPr>
          <p:cNvPr id="53" name="Text 50"/>
          <p:cNvSpPr txBox="1"/>
          <p:nvPr/>
        </p:nvSpPr>
        <p:spPr>
          <a:xfrm>
            <a:off x="10076688" y="4992624"/>
            <a:ext cx="1371600" cy="347472"/>
          </a:xfrm>
          <a:prstGeom prst="rect">
            <a:avLst/>
          </a:prstGeom>
          <a:noFill/>
          <a:ln/>
        </p:spPr>
        <p:txBody>
          <a:bodyPr wrap="square" lIns="0" tIns="0" rIns="0" bIns="0" rtlCol="0" anchor="ctr"/>
          <a:lstStyle/>
          <a:p>
            <a:pPr algn="ctr" indent="0" marL="0">
              <a:buNone/>
            </a:pPr>
            <a:r>
              <a:rPr lang="en-US" sz="1150" b="1" dirty="0">
                <a:solidFill>
                  <a:srgbClr val="12704B"/>
                </a:solidFill>
                <a:latin typeface="Calibri" pitchFamily="34" charset="0"/>
                <a:ea typeface="Calibri" pitchFamily="34" charset="-122"/>
                <a:cs typeface="Calibri" pitchFamily="34" charset="-120"/>
              </a:rPr>
              <a:t>practised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Anatomy of the Forensics CTF page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02920" y="1463040"/>
            <a:ext cx="6675120" cy="3968496"/>
          </a:xfrm>
          <a:prstGeom prst="roundRect">
            <a:avLst>
              <a:gd name="adj" fmla="val 1382"/>
            </a:avLst>
          </a:prstGeom>
          <a:solidFill>
            <a:srgbClr val="FFFFFF"/>
          </a:solidFill>
          <a:ln w="19050">
            <a:solidFill>
              <a:srgbClr val="D6DEEA"/>
            </a:solidFill>
            <a:prstDash val="solid"/>
          </a:ln>
          <a:effectLst>
            <a:outerShdw sx="100000" sy="100000" kx="0" ky="0" algn="bl" rotWithShape="0" blurRad="127000" dist="38100" dir="5400000">
              <a:srgbClr val="12213A">
                <a:alpha val="15000"/>
              </a:srgbClr>
            </a:outerShdw>
          </a:effectLst>
        </p:spPr>
      </p:sp>
      <p:pic>
        <p:nvPicPr>
          <p:cNvPr id="7" name="Image 0" descr="/home/claude/cyberquest-ctf/slides/img-forensics/page.png">    </p:cNvPr>
          <p:cNvPicPr>
            <a:picLocks noChangeAspect="1"/>
          </p:cNvPicPr>
          <p:nvPr/>
        </p:nvPicPr>
        <p:blipFill>
          <a:blip r:embed="rId1"/>
          <a:stretch>
            <a:fillRect/>
          </a:stretch>
        </p:blipFill>
        <p:spPr>
          <a:xfrm>
            <a:off x="548640" y="1508760"/>
            <a:ext cx="6583680" cy="3872484"/>
          </a:xfrm>
          <a:prstGeom prst="rect">
            <a:avLst/>
          </a:prstGeom>
        </p:spPr>
      </p:pic>
      <p:sp>
        <p:nvSpPr>
          <p:cNvPr id="8" name="Shape 4"/>
          <p:cNvSpPr/>
          <p:nvPr/>
        </p:nvSpPr>
        <p:spPr>
          <a:xfrm>
            <a:off x="2384432" y="1437222"/>
            <a:ext cx="365760" cy="365760"/>
          </a:xfrm>
          <a:prstGeom prst="ellipse">
            <a:avLst/>
          </a:prstGeom>
          <a:solidFill>
            <a:srgbClr val="2A9FD6"/>
          </a:solidFill>
          <a:ln w="25400">
            <a:solidFill>
              <a:srgbClr val="FFFFFF"/>
            </a:solidFill>
            <a:prstDash val="solid"/>
          </a:ln>
        </p:spPr>
      </p:sp>
      <p:sp>
        <p:nvSpPr>
          <p:cNvPr id="9" name="Text 5"/>
          <p:cNvSpPr txBox="1"/>
          <p:nvPr/>
        </p:nvSpPr>
        <p:spPr>
          <a:xfrm>
            <a:off x="2384432" y="143722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Shape 6"/>
          <p:cNvSpPr/>
          <p:nvPr/>
        </p:nvSpPr>
        <p:spPr>
          <a:xfrm>
            <a:off x="4954972" y="1814815"/>
            <a:ext cx="365760" cy="365760"/>
          </a:xfrm>
          <a:prstGeom prst="ellipse">
            <a:avLst/>
          </a:prstGeom>
          <a:solidFill>
            <a:srgbClr val="F5A623"/>
          </a:solidFill>
          <a:ln w="25400">
            <a:solidFill>
              <a:srgbClr val="FFFFFF"/>
            </a:solidFill>
            <a:prstDash val="solid"/>
          </a:ln>
        </p:spPr>
      </p:sp>
      <p:sp>
        <p:nvSpPr>
          <p:cNvPr id="11" name="Text 7"/>
          <p:cNvSpPr txBox="1"/>
          <p:nvPr/>
        </p:nvSpPr>
        <p:spPr>
          <a:xfrm>
            <a:off x="4954972" y="181481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8"/>
          <p:cNvSpPr/>
          <p:nvPr/>
        </p:nvSpPr>
        <p:spPr>
          <a:xfrm>
            <a:off x="5710159" y="1814815"/>
            <a:ext cx="365760" cy="365760"/>
          </a:xfrm>
          <a:prstGeom prst="ellipse">
            <a:avLst/>
          </a:prstGeom>
          <a:solidFill>
            <a:srgbClr val="2459D8"/>
          </a:solidFill>
          <a:ln w="25400">
            <a:solidFill>
              <a:srgbClr val="FFFFFF"/>
            </a:solidFill>
            <a:prstDash val="solid"/>
          </a:ln>
        </p:spPr>
      </p:sp>
      <p:sp>
        <p:nvSpPr>
          <p:cNvPr id="13" name="Text 9"/>
          <p:cNvSpPr txBox="1"/>
          <p:nvPr/>
        </p:nvSpPr>
        <p:spPr>
          <a:xfrm>
            <a:off x="5710159" y="181481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Shape 10"/>
          <p:cNvSpPr/>
          <p:nvPr/>
        </p:nvSpPr>
        <p:spPr>
          <a:xfrm>
            <a:off x="5497158" y="2090749"/>
            <a:ext cx="365760" cy="365760"/>
          </a:xfrm>
          <a:prstGeom prst="ellipse">
            <a:avLst/>
          </a:prstGeom>
          <a:solidFill>
            <a:srgbClr val="17875A"/>
          </a:solidFill>
          <a:ln w="25400">
            <a:solidFill>
              <a:srgbClr val="FFFFFF"/>
            </a:solidFill>
            <a:prstDash val="solid"/>
          </a:ln>
        </p:spPr>
      </p:sp>
      <p:sp>
        <p:nvSpPr>
          <p:cNvPr id="15" name="Text 11"/>
          <p:cNvSpPr txBox="1"/>
          <p:nvPr/>
        </p:nvSpPr>
        <p:spPr>
          <a:xfrm>
            <a:off x="5497158" y="2090749"/>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Shape 12"/>
          <p:cNvSpPr/>
          <p:nvPr/>
        </p:nvSpPr>
        <p:spPr>
          <a:xfrm>
            <a:off x="5574613" y="2657139"/>
            <a:ext cx="365760" cy="365760"/>
          </a:xfrm>
          <a:prstGeom prst="ellipse">
            <a:avLst/>
          </a:prstGeom>
          <a:solidFill>
            <a:srgbClr val="D1416B"/>
          </a:solidFill>
          <a:ln w="25400">
            <a:solidFill>
              <a:srgbClr val="FFFFFF"/>
            </a:solidFill>
            <a:prstDash val="solid"/>
          </a:ln>
        </p:spPr>
      </p:sp>
      <p:sp>
        <p:nvSpPr>
          <p:cNvPr id="17" name="Text 13"/>
          <p:cNvSpPr txBox="1"/>
          <p:nvPr/>
        </p:nvSpPr>
        <p:spPr>
          <a:xfrm>
            <a:off x="5574613" y="2657139"/>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8" name="Shape 14"/>
          <p:cNvSpPr/>
          <p:nvPr/>
        </p:nvSpPr>
        <p:spPr>
          <a:xfrm>
            <a:off x="6533119" y="3620486"/>
            <a:ext cx="365760" cy="365760"/>
          </a:xfrm>
          <a:prstGeom prst="ellipse">
            <a:avLst/>
          </a:prstGeom>
          <a:solidFill>
            <a:srgbClr val="7448D4"/>
          </a:solidFill>
          <a:ln w="25400">
            <a:solidFill>
              <a:srgbClr val="FFFFFF"/>
            </a:solidFill>
            <a:prstDash val="solid"/>
          </a:ln>
        </p:spPr>
      </p:sp>
      <p:sp>
        <p:nvSpPr>
          <p:cNvPr id="19" name="Text 15"/>
          <p:cNvSpPr txBox="1"/>
          <p:nvPr/>
        </p:nvSpPr>
        <p:spPr>
          <a:xfrm>
            <a:off x="6533119" y="362048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0" name="Shape 16"/>
          <p:cNvSpPr/>
          <p:nvPr/>
        </p:nvSpPr>
        <p:spPr>
          <a:xfrm>
            <a:off x="2447365" y="3843169"/>
            <a:ext cx="365760" cy="365760"/>
          </a:xfrm>
          <a:prstGeom prst="ellipse">
            <a:avLst/>
          </a:prstGeom>
          <a:solidFill>
            <a:srgbClr val="56657E"/>
          </a:solidFill>
          <a:ln w="25400">
            <a:solidFill>
              <a:srgbClr val="FFFFFF"/>
            </a:solidFill>
            <a:prstDash val="solid"/>
          </a:ln>
        </p:spPr>
      </p:sp>
      <p:sp>
        <p:nvSpPr>
          <p:cNvPr id="21" name="Text 17"/>
          <p:cNvSpPr txBox="1"/>
          <p:nvPr/>
        </p:nvSpPr>
        <p:spPr>
          <a:xfrm>
            <a:off x="2447365" y="3843169"/>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2" name="Shape 18"/>
          <p:cNvSpPr/>
          <p:nvPr/>
        </p:nvSpPr>
        <p:spPr>
          <a:xfrm>
            <a:off x="6470187" y="4985632"/>
            <a:ext cx="365760" cy="365760"/>
          </a:xfrm>
          <a:prstGeom prst="ellipse">
            <a:avLst/>
          </a:prstGeom>
          <a:solidFill>
            <a:srgbClr val="2459D8"/>
          </a:solidFill>
          <a:ln w="25400">
            <a:solidFill>
              <a:srgbClr val="FFFFFF"/>
            </a:solidFill>
            <a:prstDash val="solid"/>
          </a:ln>
        </p:spPr>
      </p:sp>
      <p:sp>
        <p:nvSpPr>
          <p:cNvPr id="23" name="Text 19"/>
          <p:cNvSpPr txBox="1"/>
          <p:nvPr/>
        </p:nvSpPr>
        <p:spPr>
          <a:xfrm>
            <a:off x="6470187" y="4985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4" name="Text 20"/>
          <p:cNvSpPr txBox="1"/>
          <p:nvPr/>
        </p:nvSpPr>
        <p:spPr>
          <a:xfrm>
            <a:off x="548640" y="5577840"/>
            <a:ext cx="640080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Mid-game: warm-up and missions 1 to 3 captured, Mission 4 open.</a:t>
            </a:r>
            <a:endParaRPr lang="en-US" sz="1200" dirty="0"/>
          </a:p>
        </p:txBody>
      </p:sp>
      <p:sp>
        <p:nvSpPr>
          <p:cNvPr id="25" name="Shape 21"/>
          <p:cNvSpPr/>
          <p:nvPr/>
        </p:nvSpPr>
        <p:spPr>
          <a:xfrm>
            <a:off x="7406640" y="1527048"/>
            <a:ext cx="329184" cy="329184"/>
          </a:xfrm>
          <a:prstGeom prst="ellipse">
            <a:avLst/>
          </a:prstGeom>
          <a:solidFill>
            <a:srgbClr val="2A9FD6"/>
          </a:solidFill>
          <a:ln/>
        </p:spPr>
      </p:sp>
      <p:sp>
        <p:nvSpPr>
          <p:cNvPr id="26" name="Text 22"/>
          <p:cNvSpPr txBox="1"/>
          <p:nvPr/>
        </p:nvSpPr>
        <p:spPr>
          <a:xfrm>
            <a:off x="7406640" y="15270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3"/>
          <p:cNvSpPr txBox="1"/>
          <p:nvPr/>
        </p:nvSpPr>
        <p:spPr>
          <a:xfrm>
            <a:off x="7863840" y="148132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Progress track  </a:t>
            </a:r>
            <a:pPr indent="0" marL="0">
              <a:buNone/>
            </a:pPr>
            <a:r>
              <a:rPr lang="en-US" sz="1300" dirty="0">
                <a:solidFill>
                  <a:srgbClr val="56657E"/>
                </a:solidFill>
                <a:latin typeface="Calibri" pitchFamily="34" charset="0"/>
                <a:ea typeface="Calibri" pitchFamily="34" charset="-122"/>
                <a:cs typeface="Calibri" pitchFamily="34" charset="-120"/>
              </a:rPr>
              <a:t>One coloured bar lights up per flag.</a:t>
            </a:r>
            <a:endParaRPr lang="en-US" sz="1600" dirty="0"/>
          </a:p>
        </p:txBody>
      </p:sp>
      <p:sp>
        <p:nvSpPr>
          <p:cNvPr id="28" name="Shape 24"/>
          <p:cNvSpPr/>
          <p:nvPr/>
        </p:nvSpPr>
        <p:spPr>
          <a:xfrm>
            <a:off x="7406640" y="2075688"/>
            <a:ext cx="329184" cy="329184"/>
          </a:xfrm>
          <a:prstGeom prst="ellipse">
            <a:avLst/>
          </a:prstGeom>
          <a:solidFill>
            <a:srgbClr val="F5A623"/>
          </a:solidFill>
          <a:ln/>
        </p:spPr>
      </p:sp>
      <p:sp>
        <p:nvSpPr>
          <p:cNvPr id="29" name="Text 25"/>
          <p:cNvSpPr txBox="1"/>
          <p:nvPr/>
        </p:nvSpPr>
        <p:spPr>
          <a:xfrm>
            <a:off x="7406640" y="2075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0" name="Text 26"/>
          <p:cNvSpPr txBox="1"/>
          <p:nvPr/>
        </p:nvSpPr>
        <p:spPr>
          <a:xfrm>
            <a:off x="7863840" y="202996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Points  </a:t>
            </a:r>
            <a:pPr indent="0" marL="0">
              <a:buNone/>
            </a:pPr>
            <a:r>
              <a:rPr lang="en-US" sz="1300" dirty="0">
                <a:solidFill>
                  <a:srgbClr val="56657E"/>
                </a:solidFill>
                <a:latin typeface="Calibri" pitchFamily="34" charset="0"/>
                <a:ea typeface="Calibri" pitchFamily="34" charset="-122"/>
                <a:cs typeface="Calibri" pitchFamily="34" charset="-120"/>
              </a:rPr>
              <a:t>Your score, out of 2,750 with the warm-up.</a:t>
            </a:r>
            <a:endParaRPr lang="en-US" sz="1600" dirty="0"/>
          </a:p>
        </p:txBody>
      </p:sp>
      <p:sp>
        <p:nvSpPr>
          <p:cNvPr id="31" name="Shape 27"/>
          <p:cNvSpPr/>
          <p:nvPr/>
        </p:nvSpPr>
        <p:spPr>
          <a:xfrm>
            <a:off x="7406640" y="2624328"/>
            <a:ext cx="329184" cy="329184"/>
          </a:xfrm>
          <a:prstGeom prst="ellipse">
            <a:avLst/>
          </a:prstGeom>
          <a:solidFill>
            <a:srgbClr val="2459D8"/>
          </a:solidFill>
          <a:ln/>
        </p:spPr>
      </p:sp>
      <p:sp>
        <p:nvSpPr>
          <p:cNvPr id="32" name="Text 28"/>
          <p:cNvSpPr txBox="1"/>
          <p:nvPr/>
        </p:nvSpPr>
        <p:spPr>
          <a:xfrm>
            <a:off x="7406640" y="2624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29"/>
          <p:cNvSpPr txBox="1"/>
          <p:nvPr/>
        </p:nvSpPr>
        <p:spPr>
          <a:xfrm>
            <a:off x="7863840" y="257860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Clock  </a:t>
            </a:r>
            <a:pPr indent="0" marL="0">
              <a:buNone/>
            </a:pPr>
            <a:r>
              <a:rPr lang="en-US" sz="1300" dirty="0">
                <a:solidFill>
                  <a:srgbClr val="56657E"/>
                </a:solidFill>
                <a:latin typeface="Calibri" pitchFamily="34" charset="0"/>
                <a:ea typeface="Calibri" pitchFamily="34" charset="-122"/>
                <a:cs typeface="Calibri" pitchFamily="34" charset="-120"/>
              </a:rPr>
              <a:t>Starts at Mission 1 and counts up.</a:t>
            </a:r>
            <a:endParaRPr lang="en-US" sz="1600" dirty="0"/>
          </a:p>
        </p:txBody>
      </p:sp>
      <p:sp>
        <p:nvSpPr>
          <p:cNvPr id="34" name="Shape 30"/>
          <p:cNvSpPr/>
          <p:nvPr/>
        </p:nvSpPr>
        <p:spPr>
          <a:xfrm>
            <a:off x="7406640" y="3172968"/>
            <a:ext cx="329184" cy="329184"/>
          </a:xfrm>
          <a:prstGeom prst="ellipse">
            <a:avLst/>
          </a:prstGeom>
          <a:solidFill>
            <a:srgbClr val="17875A"/>
          </a:solidFill>
          <a:ln/>
        </p:spPr>
      </p:sp>
      <p:sp>
        <p:nvSpPr>
          <p:cNvPr id="35" name="Text 31"/>
          <p:cNvSpPr txBox="1"/>
          <p:nvPr/>
        </p:nvSpPr>
        <p:spPr>
          <a:xfrm>
            <a:off x="7406640" y="31729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6" name="Text 32"/>
          <p:cNvSpPr txBox="1"/>
          <p:nvPr/>
        </p:nvSpPr>
        <p:spPr>
          <a:xfrm>
            <a:off x="7863840" y="312724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Stepper  </a:t>
            </a:r>
            <a:pPr indent="0" marL="0">
              <a:buNone/>
            </a:pPr>
            <a:r>
              <a:rPr lang="en-US" sz="1300" dirty="0">
                <a:solidFill>
                  <a:srgbClr val="56657E"/>
                </a:solidFill>
                <a:latin typeface="Calibri" pitchFamily="34" charset="0"/>
                <a:ea typeface="Calibri" pitchFamily="34" charset="-122"/>
                <a:cs typeface="Calibri" pitchFamily="34" charset="-120"/>
              </a:rPr>
              <a:t>0 is the warm-up; a green check per flag.</a:t>
            </a:r>
            <a:endParaRPr lang="en-US" sz="1600" dirty="0"/>
          </a:p>
        </p:txBody>
      </p:sp>
      <p:sp>
        <p:nvSpPr>
          <p:cNvPr id="37" name="Shape 33"/>
          <p:cNvSpPr/>
          <p:nvPr/>
        </p:nvSpPr>
        <p:spPr>
          <a:xfrm>
            <a:off x="7406640" y="3721608"/>
            <a:ext cx="329184" cy="329184"/>
          </a:xfrm>
          <a:prstGeom prst="ellipse">
            <a:avLst/>
          </a:prstGeom>
          <a:solidFill>
            <a:srgbClr val="D1416B"/>
          </a:solidFill>
          <a:ln/>
        </p:spPr>
      </p:sp>
      <p:sp>
        <p:nvSpPr>
          <p:cNvPr id="38" name="Text 34"/>
          <p:cNvSpPr txBox="1"/>
          <p:nvPr/>
        </p:nvSpPr>
        <p:spPr>
          <a:xfrm>
            <a:off x="7406640" y="3721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9" name="Text 35"/>
          <p:cNvSpPr txBox="1"/>
          <p:nvPr/>
        </p:nvSpPr>
        <p:spPr>
          <a:xfrm>
            <a:off x="7863840" y="367588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Level and points  </a:t>
            </a:r>
            <a:pPr indent="0" marL="0">
              <a:buNone/>
            </a:pP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40" name="Shape 36"/>
          <p:cNvSpPr/>
          <p:nvPr/>
        </p:nvSpPr>
        <p:spPr>
          <a:xfrm>
            <a:off x="7406640" y="4270248"/>
            <a:ext cx="329184" cy="329184"/>
          </a:xfrm>
          <a:prstGeom prst="ellipse">
            <a:avLst/>
          </a:prstGeom>
          <a:solidFill>
            <a:srgbClr val="7448D4"/>
          </a:solidFill>
          <a:ln/>
        </p:spPr>
      </p:sp>
      <p:sp>
        <p:nvSpPr>
          <p:cNvPr id="41" name="Text 37"/>
          <p:cNvSpPr txBox="1"/>
          <p:nvPr/>
        </p:nvSpPr>
        <p:spPr>
          <a:xfrm>
            <a:off x="7406640" y="4270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2" name="Text 38"/>
          <p:cNvSpPr txBox="1"/>
          <p:nvPr/>
        </p:nvSpPr>
        <p:spPr>
          <a:xfrm>
            <a:off x="7863840" y="422452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Copy buttons  </a:t>
            </a:r>
            <a:pPr indent="0" marL="0">
              <a:buNone/>
            </a:pPr>
            <a:r>
              <a:rPr lang="en-US" sz="1300" dirty="0">
                <a:solidFill>
                  <a:srgbClr val="56657E"/>
                </a:solidFill>
                <a:latin typeface="Calibri" pitchFamily="34" charset="0"/>
                <a:ea typeface="Calibri" pitchFamily="34" charset="-122"/>
                <a:cs typeface="Calibri" pitchFamily="34" charset="-120"/>
              </a:rPr>
              <a:t>Copy a starting command, then paste it.</a:t>
            </a:r>
            <a:endParaRPr lang="en-US" sz="1600" dirty="0"/>
          </a:p>
        </p:txBody>
      </p:sp>
      <p:sp>
        <p:nvSpPr>
          <p:cNvPr id="43" name="Shape 39"/>
          <p:cNvSpPr/>
          <p:nvPr/>
        </p:nvSpPr>
        <p:spPr>
          <a:xfrm>
            <a:off x="7406640" y="4818888"/>
            <a:ext cx="329184" cy="329184"/>
          </a:xfrm>
          <a:prstGeom prst="ellipse">
            <a:avLst/>
          </a:prstGeom>
          <a:solidFill>
            <a:srgbClr val="56657E"/>
          </a:solidFill>
          <a:ln/>
        </p:spPr>
      </p:sp>
      <p:sp>
        <p:nvSpPr>
          <p:cNvPr id="44" name="Text 40"/>
          <p:cNvSpPr txBox="1"/>
          <p:nvPr/>
        </p:nvSpPr>
        <p:spPr>
          <a:xfrm>
            <a:off x="7406640" y="4818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5" name="Text 41"/>
          <p:cNvSpPr txBox="1"/>
          <p:nvPr/>
        </p:nvSpPr>
        <p:spPr>
          <a:xfrm>
            <a:off x="7863840" y="477316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Terminal  </a:t>
            </a:r>
            <a:pPr indent="0" marL="0">
              <a:buNone/>
            </a:pPr>
            <a:r>
              <a:rPr lang="en-US" sz="1300" dirty="0">
                <a:solidFill>
                  <a:srgbClr val="56657E"/>
                </a:solidFill>
                <a:latin typeface="Calibri" pitchFamily="34" charset="0"/>
                <a:ea typeface="Calibri" pitchFamily="34" charset="-122"/>
                <a:cs typeface="Calibri" pitchFamily="34" charset="-120"/>
              </a:rPr>
              <a:t>Click inside it before you type.</a:t>
            </a:r>
            <a:endParaRPr lang="en-US" sz="1600" dirty="0"/>
          </a:p>
        </p:txBody>
      </p:sp>
      <p:sp>
        <p:nvSpPr>
          <p:cNvPr id="46" name="Shape 42"/>
          <p:cNvSpPr/>
          <p:nvPr/>
        </p:nvSpPr>
        <p:spPr>
          <a:xfrm>
            <a:off x="7406640" y="5367528"/>
            <a:ext cx="329184" cy="329184"/>
          </a:xfrm>
          <a:prstGeom prst="ellipse">
            <a:avLst/>
          </a:prstGeom>
          <a:solidFill>
            <a:srgbClr val="2459D8"/>
          </a:solidFill>
          <a:ln/>
        </p:spPr>
      </p:sp>
      <p:sp>
        <p:nvSpPr>
          <p:cNvPr id="47" name="Text 43"/>
          <p:cNvSpPr txBox="1"/>
          <p:nvPr/>
        </p:nvSpPr>
        <p:spPr>
          <a:xfrm>
            <a:off x="7406640" y="5367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8" name="Text 44"/>
          <p:cNvSpPr txBox="1"/>
          <p:nvPr/>
        </p:nvSpPr>
        <p:spPr>
          <a:xfrm>
            <a:off x="7863840" y="532180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Next mission  </a:t>
            </a:r>
            <a:pPr indent="0" marL="0">
              <a:buNone/>
            </a:pPr>
            <a:r>
              <a:rPr lang="en-US" sz="1300" dirty="0">
                <a:solidFill>
                  <a:srgbClr val="56657E"/>
                </a:solidFill>
                <a:latin typeface="Calibri" pitchFamily="34" charset="0"/>
                <a:ea typeface="Calibri" pitchFamily="34" charset="-122"/>
                <a:cs typeface="Calibri" pitchFamily="34" charset="-120"/>
              </a:rPr>
              <a:t>Unlocks when the flag is captured.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11</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indent="0" marL="0">
              <a:buNone/>
            </a:pPr>
            <a:r>
              <a:rPr lang="en-US" sz="25000" b="1" dirty="0">
                <a:solidFill>
                  <a:srgbClr val="2459D8"/>
                </a:solidFill>
                <a:latin typeface="Arial" pitchFamily="34" charset="0"/>
                <a:ea typeface="Arial" pitchFamily="34" charset="-122"/>
                <a:cs typeface="Arial" pitchFamily="34" charset="-120"/>
              </a:rPr>
              <a:t>2</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indent="0" marL="0">
              <a:buNone/>
            </a:pPr>
            <a:r>
              <a:rPr lang="en-US" sz="1600" dirty="0">
                <a:solidFill>
                  <a:srgbClr val="7F8FAD"/>
                </a:solidFill>
                <a:latin typeface="Courier New" pitchFamily="34" charset="0"/>
                <a:ea typeface="Courier New" pitchFamily="34" charset="-122"/>
                <a:cs typeface="Courier New" pitchFamily="34" charset="-120"/>
              </a:rPr>
              <a:t>Part 2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The investigator's toolkit</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Open the Forensics CTF, then one tool per kind of evidence, in the order the missions need them. Every slide has a Try it.</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sp>
      <p:sp>
        <p:nvSpPr>
          <p:cNvPr id="10" name="Text 7"/>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strings --help   # every tool explains itself</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When? File times with ls -l</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-l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12</a:t>
            </a:r>
            <a:endParaRPr lang="en-US" sz="1000" dirty="0"/>
          </a:p>
        </p:txBody>
      </p:sp>
      <p:sp>
        <p:nvSpPr>
          <p:cNvPr id="10" name="Shape 7"/>
          <p:cNvSpPr/>
          <p:nvPr/>
        </p:nvSpPr>
        <p:spPr>
          <a:xfrm>
            <a:off x="548640" y="109728"/>
            <a:ext cx="1357884" cy="274320"/>
          </a:xfrm>
          <a:prstGeom prst="roundRect">
            <a:avLst>
              <a:gd name="adj" fmla="val 50000"/>
            </a:avLst>
          </a:prstGeom>
          <a:solidFill>
            <a:srgbClr val="17875A"/>
          </a:solidFill>
          <a:ln/>
        </p:spPr>
      </p:sp>
      <p:sp>
        <p:nvSpPr>
          <p:cNvPr id="11" name="Text 8"/>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1</a:t>
            </a:r>
            <a:endParaRPr lang="en-US" sz="1100" dirty="0"/>
          </a:p>
        </p:txBody>
      </p:sp>
      <p:sp>
        <p:nvSpPr>
          <p:cNvPr id="12" name="Shape 9"/>
          <p:cNvSpPr/>
          <p:nvPr/>
        </p:nvSpPr>
        <p:spPr>
          <a:xfrm>
            <a:off x="548640" y="1600200"/>
            <a:ext cx="2194560" cy="457200"/>
          </a:xfrm>
          <a:prstGeom prst="roundRect">
            <a:avLst>
              <a:gd name="adj" fmla="val 16000"/>
            </a:avLst>
          </a:prstGeom>
          <a:solidFill>
            <a:srgbClr val="0E1726"/>
          </a:solidFill>
          <a:ln/>
        </p:spPr>
      </p:sp>
      <p:sp>
        <p:nvSpPr>
          <p:cNvPr id="13" name="Text 10"/>
          <p:cNvSpPr txBox="1"/>
          <p:nvPr/>
        </p:nvSpPr>
        <p:spPr>
          <a:xfrm>
            <a:off x="548640" y="160020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14" name="Text 11"/>
          <p:cNvSpPr txBox="1"/>
          <p:nvPr/>
        </p:nvSpPr>
        <p:spPr>
          <a:xfrm>
            <a:off x="2971800" y="160020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long listing, with times</a:t>
            </a:r>
            <a:endParaRPr lang="en-US" sz="1700" dirty="0"/>
          </a:p>
        </p:txBody>
      </p:sp>
      <p:sp>
        <p:nvSpPr>
          <p:cNvPr id="15" name="Shape 12"/>
          <p:cNvSpPr/>
          <p:nvPr/>
        </p:nvSpPr>
        <p:spPr>
          <a:xfrm>
            <a:off x="548640" y="2194560"/>
            <a:ext cx="2194560" cy="457200"/>
          </a:xfrm>
          <a:prstGeom prst="roundRect">
            <a:avLst>
              <a:gd name="adj" fmla="val 16000"/>
            </a:avLst>
          </a:prstGeom>
          <a:solidFill>
            <a:srgbClr val="0E1726"/>
          </a:solidFill>
          <a:ln/>
        </p:spPr>
      </p:sp>
      <p:sp>
        <p:nvSpPr>
          <p:cNvPr id="16" name="Text 13"/>
          <p:cNvSpPr txBox="1"/>
          <p:nvPr/>
        </p:nvSpPr>
        <p:spPr>
          <a:xfrm>
            <a:off x="548640" y="219456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-lt</a:t>
            </a:r>
            <a:endParaRPr lang="en-US" sz="1500" dirty="0"/>
          </a:p>
        </p:txBody>
      </p:sp>
      <p:sp>
        <p:nvSpPr>
          <p:cNvPr id="17" name="Text 14"/>
          <p:cNvSpPr txBox="1"/>
          <p:nvPr/>
        </p:nvSpPr>
        <p:spPr>
          <a:xfrm>
            <a:off x="2971800" y="219456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newest first: a timeline</a:t>
            </a:r>
            <a:endParaRPr lang="en-US" sz="1700" dirty="0"/>
          </a:p>
        </p:txBody>
      </p:sp>
      <p:sp>
        <p:nvSpPr>
          <p:cNvPr id="18" name="Shape 15"/>
          <p:cNvSpPr/>
          <p:nvPr/>
        </p:nvSpPr>
        <p:spPr>
          <a:xfrm>
            <a:off x="548640" y="2788920"/>
            <a:ext cx="2194560" cy="457200"/>
          </a:xfrm>
          <a:prstGeom prst="roundRect">
            <a:avLst>
              <a:gd name="adj" fmla="val 16000"/>
            </a:avLst>
          </a:prstGeom>
          <a:solidFill>
            <a:srgbClr val="0E1726"/>
          </a:solidFill>
          <a:ln/>
        </p:spPr>
      </p:sp>
      <p:sp>
        <p:nvSpPr>
          <p:cNvPr id="19" name="Text 16"/>
          <p:cNvSpPr txBox="1"/>
          <p:nvPr/>
        </p:nvSpPr>
        <p:spPr>
          <a:xfrm>
            <a:off x="548640" y="278892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 grep 02:53</a:t>
            </a:r>
            <a:endParaRPr lang="en-US" sz="1500" dirty="0"/>
          </a:p>
        </p:txBody>
      </p:sp>
      <p:sp>
        <p:nvSpPr>
          <p:cNvPr id="20" name="Text 17"/>
          <p:cNvSpPr txBox="1"/>
          <p:nvPr/>
        </p:nvSpPr>
        <p:spPr>
          <a:xfrm>
            <a:off x="2971800" y="278892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keep the lines with that time</a:t>
            </a:r>
            <a:endParaRPr lang="en-US" sz="1700" dirty="0"/>
          </a:p>
        </p:txBody>
      </p:sp>
      <p:sp>
        <p:nvSpPr>
          <p:cNvPr id="21" name="Shape 18"/>
          <p:cNvSpPr/>
          <p:nvPr/>
        </p:nvSpPr>
        <p:spPr>
          <a:xfrm>
            <a:off x="548640" y="3566160"/>
            <a:ext cx="5669280" cy="2377440"/>
          </a:xfrm>
          <a:prstGeom prst="roundRect">
            <a:avLst>
              <a:gd name="adj" fmla="val 3846"/>
            </a:avLst>
          </a:prstGeom>
          <a:solidFill>
            <a:srgbClr val="FFF4DC"/>
          </a:solidFill>
          <a:ln/>
        </p:spPr>
      </p:sp>
      <p:sp>
        <p:nvSpPr>
          <p:cNvPr id="22" name="Text 19"/>
          <p:cNvSpPr txBox="1"/>
          <p:nvPr/>
        </p:nvSpPr>
        <p:spPr>
          <a:xfrm>
            <a:off x="822960" y="3703320"/>
            <a:ext cx="5120640" cy="36576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Reading a long listing</a:t>
            </a:r>
            <a:endParaRPr lang="en-US" sz="1700" dirty="0"/>
          </a:p>
        </p:txBody>
      </p:sp>
      <p:sp>
        <p:nvSpPr>
          <p:cNvPr id="23" name="Shape 20"/>
          <p:cNvSpPr/>
          <p:nvPr/>
        </p:nvSpPr>
        <p:spPr>
          <a:xfrm>
            <a:off x="822960" y="4206240"/>
            <a:ext cx="457200" cy="457200"/>
          </a:xfrm>
          <a:prstGeom prst="ellipse">
            <a:avLst/>
          </a:prstGeom>
          <a:solidFill>
            <a:srgbClr val="17875A"/>
          </a:solidFill>
          <a:ln/>
        </p:spPr>
      </p:sp>
      <p:sp>
        <p:nvSpPr>
          <p:cNvPr id="24" name="Text 21"/>
          <p:cNvSpPr txBox="1"/>
          <p:nvPr/>
        </p:nvSpPr>
        <p:spPr>
          <a:xfrm>
            <a:off x="822960" y="4206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5" name="Text 22"/>
          <p:cNvSpPr txBox="1"/>
          <p:nvPr/>
        </p:nvSpPr>
        <p:spPr>
          <a:xfrm>
            <a:off x="1463040" y="4178808"/>
            <a:ext cx="4480560" cy="457200"/>
          </a:xfrm>
          <a:prstGeom prst="rect">
            <a:avLst/>
          </a:prstGeom>
          <a:noFill/>
          <a:ln/>
        </p:spPr>
        <p:txBody>
          <a:bodyPr wrap="square" lIns="0" tIns="0" rIns="0" bIns="0" rtlCol="0" anchor="t"/>
          <a:lstStyle/>
          <a:p>
            <a:pPr indent="0" marL="0">
              <a:buNone/>
            </a:pPr>
            <a:r>
              <a:rPr lang="en-US" sz="1500" dirty="0">
                <a:solidFill>
                  <a:srgbClr val="12213A"/>
                </a:solidFill>
                <a:latin typeface="Calibri" pitchFamily="34" charset="0"/>
                <a:ea typeface="Calibri" pitchFamily="34" charset="-122"/>
                <a:cs typeface="Calibri" pitchFamily="34" charset="-120"/>
              </a:rPr>
              <a:t>Permissions and owner: who can touch it.</a:t>
            </a:r>
            <a:endParaRPr lang="en-US" sz="1500" dirty="0"/>
          </a:p>
        </p:txBody>
      </p:sp>
      <p:sp>
        <p:nvSpPr>
          <p:cNvPr id="26" name="Shape 23"/>
          <p:cNvSpPr/>
          <p:nvPr/>
        </p:nvSpPr>
        <p:spPr>
          <a:xfrm>
            <a:off x="822960" y="4754880"/>
            <a:ext cx="457200" cy="457200"/>
          </a:xfrm>
          <a:prstGeom prst="ellipse">
            <a:avLst/>
          </a:prstGeom>
          <a:solidFill>
            <a:srgbClr val="17875A"/>
          </a:solidFill>
          <a:ln/>
        </p:spPr>
      </p:sp>
      <p:sp>
        <p:nvSpPr>
          <p:cNvPr id="27" name="Text 24"/>
          <p:cNvSpPr txBox="1"/>
          <p:nvPr/>
        </p:nvSpPr>
        <p:spPr>
          <a:xfrm>
            <a:off x="822960" y="4754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8" name="Text 25"/>
          <p:cNvSpPr txBox="1"/>
          <p:nvPr/>
        </p:nvSpPr>
        <p:spPr>
          <a:xfrm>
            <a:off x="1463040" y="4727448"/>
            <a:ext cx="4480560" cy="457200"/>
          </a:xfrm>
          <a:prstGeom prst="rect">
            <a:avLst/>
          </a:prstGeom>
          <a:noFill/>
          <a:ln/>
        </p:spPr>
        <p:txBody>
          <a:bodyPr wrap="square" lIns="0" tIns="0" rIns="0" bIns="0" rtlCol="0" anchor="t"/>
          <a:lstStyle/>
          <a:p>
            <a:pPr indent="0" marL="0">
              <a:buNone/>
            </a:pPr>
            <a:r>
              <a:rPr lang="en-US" sz="1500" dirty="0">
                <a:solidFill>
                  <a:srgbClr val="12213A"/>
                </a:solidFill>
                <a:latin typeface="Calibri" pitchFamily="34" charset="0"/>
                <a:ea typeface="Calibri" pitchFamily="34" charset="-122"/>
                <a:cs typeface="Calibri" pitchFamily="34" charset="-120"/>
              </a:rPr>
              <a:t>Size in bytes.</a:t>
            </a:r>
            <a:endParaRPr lang="en-US" sz="1500" dirty="0"/>
          </a:p>
        </p:txBody>
      </p:sp>
      <p:sp>
        <p:nvSpPr>
          <p:cNvPr id="29" name="Shape 26"/>
          <p:cNvSpPr/>
          <p:nvPr/>
        </p:nvSpPr>
        <p:spPr>
          <a:xfrm>
            <a:off x="822960" y="5303520"/>
            <a:ext cx="457200" cy="457200"/>
          </a:xfrm>
          <a:prstGeom prst="ellipse">
            <a:avLst/>
          </a:prstGeom>
          <a:solidFill>
            <a:srgbClr val="17875A"/>
          </a:solidFill>
          <a:ln/>
        </p:spPr>
      </p:sp>
      <p:sp>
        <p:nvSpPr>
          <p:cNvPr id="30" name="Text 27"/>
          <p:cNvSpPr txBox="1"/>
          <p:nvPr/>
        </p:nvSpPr>
        <p:spPr>
          <a:xfrm>
            <a:off x="822960" y="5303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1" name="Text 28"/>
          <p:cNvSpPr txBox="1"/>
          <p:nvPr/>
        </p:nvSpPr>
        <p:spPr>
          <a:xfrm>
            <a:off x="1463040" y="5276088"/>
            <a:ext cx="4480560" cy="457200"/>
          </a:xfrm>
          <a:prstGeom prst="rect">
            <a:avLst/>
          </a:prstGeom>
          <a:noFill/>
          <a:ln/>
        </p:spPr>
        <p:txBody>
          <a:bodyPr wrap="square" lIns="0" tIns="0" rIns="0" bIns="0" rtlCol="0" anchor="t"/>
          <a:lstStyle/>
          <a:p>
            <a:pPr indent="0" marL="0">
              <a:buNone/>
            </a:pPr>
            <a:r>
              <a:rPr lang="en-US" sz="1500" dirty="0">
                <a:solidFill>
                  <a:srgbClr val="12213A"/>
                </a:solidFill>
                <a:latin typeface="Calibri" pitchFamily="34" charset="0"/>
                <a:ea typeface="Calibri" pitchFamily="34" charset="-122"/>
                <a:cs typeface="Calibri" pitchFamily="34" charset="-120"/>
              </a:rPr>
              <a:t>Last-modified date and time: when.</a:t>
            </a:r>
            <a:endParaRPr lang="en-US" sz="1500" dirty="0"/>
          </a:p>
        </p:txBody>
      </p:sp>
      <p:sp>
        <p:nvSpPr>
          <p:cNvPr id="32" name="Shape 29"/>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33" name="Shape 30"/>
          <p:cNvSpPr/>
          <p:nvPr/>
        </p:nvSpPr>
        <p:spPr>
          <a:xfrm>
            <a:off x="6784848" y="1618488"/>
            <a:ext cx="118872" cy="118872"/>
          </a:xfrm>
          <a:prstGeom prst="ellipse">
            <a:avLst/>
          </a:prstGeom>
          <a:solidFill>
            <a:srgbClr val="E5534B"/>
          </a:solidFill>
          <a:ln/>
        </p:spPr>
      </p:sp>
      <p:sp>
        <p:nvSpPr>
          <p:cNvPr id="34" name="Shape 31"/>
          <p:cNvSpPr/>
          <p:nvPr/>
        </p:nvSpPr>
        <p:spPr>
          <a:xfrm>
            <a:off x="6986016" y="1618488"/>
            <a:ext cx="118872" cy="118872"/>
          </a:xfrm>
          <a:prstGeom prst="ellipse">
            <a:avLst/>
          </a:prstGeom>
          <a:solidFill>
            <a:srgbClr val="F5A623"/>
          </a:solidFill>
          <a:ln/>
        </p:spPr>
      </p:sp>
      <p:sp>
        <p:nvSpPr>
          <p:cNvPr id="35" name="Shape 32"/>
          <p:cNvSpPr/>
          <p:nvPr/>
        </p:nvSpPr>
        <p:spPr>
          <a:xfrm>
            <a:off x="7187184" y="1618488"/>
            <a:ext cx="118872" cy="118872"/>
          </a:xfrm>
          <a:prstGeom prst="ellipse">
            <a:avLst/>
          </a:prstGeom>
          <a:solidFill>
            <a:srgbClr val="46D39A"/>
          </a:solidFill>
          <a:ln/>
        </p:spPr>
      </p:sp>
      <p:sp>
        <p:nvSpPr>
          <p:cNvPr id="36" name="Text 33"/>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7" name="Text 34"/>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ls -l</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-rw-r--r-- 1 player player 515</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Oct  8 09:12 report.txt</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-rw-r--r-- 1 player player  47</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      Oct  8 02:53 memo.txt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-rw-r--r-- 1 player player 210</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Oct  8 14:40 todo.txt</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02:53? Nobody works then.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Metadata and readable text: strings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strings ~/README.txt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13</a:t>
            </a:r>
            <a:endParaRPr lang="en-US" sz="1000" dirty="0"/>
          </a:p>
        </p:txBody>
      </p:sp>
      <p:sp>
        <p:nvSpPr>
          <p:cNvPr id="10" name="Shape 7"/>
          <p:cNvSpPr/>
          <p:nvPr/>
        </p:nvSpPr>
        <p:spPr>
          <a:xfrm>
            <a:off x="548640" y="109728"/>
            <a:ext cx="2139696" cy="274320"/>
          </a:xfrm>
          <a:prstGeom prst="roundRect">
            <a:avLst>
              <a:gd name="adj" fmla="val 50000"/>
            </a:avLst>
          </a:prstGeom>
          <a:solidFill>
            <a:srgbClr val="2A9FD6"/>
          </a:solidFill>
          <a:ln/>
        </p:spPr>
      </p:sp>
      <p:sp>
        <p:nvSpPr>
          <p:cNvPr id="11" name="Text 8"/>
          <p:cNvSpPr txBox="1"/>
          <p:nvPr/>
        </p:nvSpPr>
        <p:spPr>
          <a:xfrm>
            <a:off x="548640" y="109728"/>
            <a:ext cx="21396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2 &amp; 6 &amp; 7</a:t>
            </a:r>
            <a:endParaRPr lang="en-US" sz="1100" dirty="0"/>
          </a:p>
        </p:txBody>
      </p:sp>
      <p:sp>
        <p:nvSpPr>
          <p:cNvPr id="12" name="Shape 9"/>
          <p:cNvSpPr/>
          <p:nvPr/>
        </p:nvSpPr>
        <p:spPr>
          <a:xfrm>
            <a:off x="548640" y="1600200"/>
            <a:ext cx="2377440" cy="457200"/>
          </a:xfrm>
          <a:prstGeom prst="roundRect">
            <a:avLst>
              <a:gd name="adj" fmla="val 16000"/>
            </a:avLst>
          </a:prstGeom>
          <a:solidFill>
            <a:srgbClr val="0E1726"/>
          </a:solidFill>
          <a:ln/>
        </p:spPr>
      </p:sp>
      <p:sp>
        <p:nvSpPr>
          <p:cNvPr id="13" name="Text 10"/>
          <p:cNvSpPr txBox="1"/>
          <p:nvPr/>
        </p:nvSpPr>
        <p:spPr>
          <a:xfrm>
            <a:off x="548640" y="160020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strings FILE</a:t>
            </a:r>
            <a:endParaRPr lang="en-US" sz="1500" dirty="0"/>
          </a:p>
        </p:txBody>
      </p:sp>
      <p:sp>
        <p:nvSpPr>
          <p:cNvPr id="14" name="Text 11"/>
          <p:cNvSpPr txBox="1"/>
          <p:nvPr/>
        </p:nvSpPr>
        <p:spPr>
          <a:xfrm>
            <a:off x="3154680" y="160020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print the readable text</a:t>
            </a:r>
            <a:endParaRPr lang="en-US" sz="1700" dirty="0"/>
          </a:p>
        </p:txBody>
      </p:sp>
      <p:sp>
        <p:nvSpPr>
          <p:cNvPr id="15" name="Shape 12"/>
          <p:cNvSpPr/>
          <p:nvPr/>
        </p:nvSpPr>
        <p:spPr>
          <a:xfrm>
            <a:off x="548640" y="2194560"/>
            <a:ext cx="2377440" cy="457200"/>
          </a:xfrm>
          <a:prstGeom prst="roundRect">
            <a:avLst>
              <a:gd name="adj" fmla="val 16000"/>
            </a:avLst>
          </a:prstGeom>
          <a:solidFill>
            <a:srgbClr val="0E1726"/>
          </a:solidFill>
          <a:ln/>
        </p:spPr>
      </p:sp>
      <p:sp>
        <p:nvSpPr>
          <p:cNvPr id="16" name="Text 13"/>
          <p:cNvSpPr txBox="1"/>
          <p:nvPr/>
        </p:nvSpPr>
        <p:spPr>
          <a:xfrm>
            <a:off x="548640" y="219456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 grep CYBA</a:t>
            </a:r>
            <a:endParaRPr lang="en-US" sz="1500" dirty="0"/>
          </a:p>
        </p:txBody>
      </p:sp>
      <p:sp>
        <p:nvSpPr>
          <p:cNvPr id="17" name="Text 14"/>
          <p:cNvSpPr txBox="1"/>
          <p:nvPr/>
        </p:nvSpPr>
        <p:spPr>
          <a:xfrm>
            <a:off x="3154680" y="219456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search inside it</a:t>
            </a:r>
            <a:endParaRPr lang="en-US" sz="1700" dirty="0"/>
          </a:p>
        </p:txBody>
      </p:sp>
      <p:sp>
        <p:nvSpPr>
          <p:cNvPr id="18" name="Shape 15"/>
          <p:cNvSpPr/>
          <p:nvPr/>
        </p:nvSpPr>
        <p:spPr>
          <a:xfrm>
            <a:off x="548640" y="2788920"/>
            <a:ext cx="2377440" cy="457200"/>
          </a:xfrm>
          <a:prstGeom prst="roundRect">
            <a:avLst>
              <a:gd name="adj" fmla="val 16000"/>
            </a:avLst>
          </a:prstGeom>
          <a:solidFill>
            <a:srgbClr val="0E1726"/>
          </a:solidFill>
          <a:ln/>
        </p:spPr>
      </p:sp>
      <p:sp>
        <p:nvSpPr>
          <p:cNvPr id="19" name="Text 16"/>
          <p:cNvSpPr txBox="1"/>
          <p:nvPr/>
        </p:nvSpPr>
        <p:spPr>
          <a:xfrm>
            <a:off x="548640" y="278892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 tail -1</a:t>
            </a:r>
            <a:endParaRPr lang="en-US" sz="1500" dirty="0"/>
          </a:p>
        </p:txBody>
      </p:sp>
      <p:sp>
        <p:nvSpPr>
          <p:cNvPr id="20" name="Text 17"/>
          <p:cNvSpPr txBox="1"/>
          <p:nvPr/>
        </p:nvSpPr>
        <p:spPr>
          <a:xfrm>
            <a:off x="3154680" y="278892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just the last readable line</a:t>
            </a:r>
            <a:endParaRPr lang="en-US" sz="1700" dirty="0"/>
          </a:p>
        </p:txBody>
      </p:sp>
      <p:sp>
        <p:nvSpPr>
          <p:cNvPr id="21" name="Shape 18"/>
          <p:cNvSpPr/>
          <p:nvPr/>
        </p:nvSpPr>
        <p:spPr>
          <a:xfrm>
            <a:off x="548640" y="3566160"/>
            <a:ext cx="5669280" cy="2377440"/>
          </a:xfrm>
          <a:prstGeom prst="roundRect">
            <a:avLst>
              <a:gd name="adj" fmla="val 3846"/>
            </a:avLst>
          </a:prstGeom>
          <a:solidFill>
            <a:srgbClr val="FFF4DC"/>
          </a:solidFill>
          <a:ln/>
        </p:spPr>
      </p:sp>
      <p:sp>
        <p:nvSpPr>
          <p:cNvPr id="22" name="Text 19"/>
          <p:cNvSpPr txBox="1"/>
          <p:nvPr/>
        </p:nvSpPr>
        <p:spPr>
          <a:xfrm>
            <a:off x="822960" y="3657600"/>
            <a:ext cx="5120640" cy="2194560"/>
          </a:xfrm>
          <a:prstGeom prst="rect">
            <a:avLst/>
          </a:prstGeom>
          <a:noFill/>
          <a:ln/>
        </p:spPr>
        <p:txBody>
          <a:bodyPr wrap="square" lIns="0" tIns="0" rIns="0" bIns="0" rtlCol="0" anchor="ctr"/>
          <a:lstStyle/>
          <a:p>
            <a:pPr indent="0" marL="0">
              <a:buNone/>
            </a:pPr>
            <a:r>
              <a:rPr lang="en-US" sz="1600" b="1" dirty="0">
                <a:solidFill>
                  <a:srgbClr val="12213A"/>
                </a:solidFill>
                <a:latin typeface="Calibri" pitchFamily="34" charset="0"/>
                <a:ea typeface="Calibri" pitchFamily="34" charset="-122"/>
                <a:cs typeface="Calibri" pitchFamily="34" charset="-120"/>
              </a:rPr>
              <a:t>Don't cat a binary. </a:t>
            </a:r>
            <a:pPr indent="0" marL="0">
              <a:buNone/>
            </a:pPr>
            <a:r>
              <a:rPr lang="en-US" sz="1600" dirty="0">
                <a:solidFill>
                  <a:srgbClr val="12213A"/>
                </a:solidFill>
                <a:latin typeface="Calibri" pitchFamily="34" charset="0"/>
                <a:ea typeface="Calibri" pitchFamily="34" charset="-122"/>
                <a:cs typeface="Calibri" pitchFamily="34" charset="-120"/>
              </a:rPr>
              <a:t>It prints garbage and can confuse the terminal. If that happens, type </a:t>
            </a:r>
            <a:pPr indent="0" marL="0">
              <a:buNone/>
            </a:pPr>
            <a:r>
              <a:rPr lang="en-US" sz="1600" b="1" dirty="0">
                <a:solidFill>
                  <a:srgbClr val="12213A"/>
                </a:solidFill>
                <a:latin typeface="Courier New" pitchFamily="34" charset="0"/>
                <a:ea typeface="Courier New" pitchFamily="34" charset="-122"/>
                <a:cs typeface="Courier New" pitchFamily="34" charset="-120"/>
              </a:rPr>
              <a:t>reset</a:t>
            </a:r>
            <a:pPr indent="0" marL="0">
              <a:buNone/>
            </a:pPr>
            <a:r>
              <a:rPr lang="en-US" sz="1600" dirty="0">
                <a:solidFill>
                  <a:srgbClr val="12213A"/>
                </a:solidFill>
                <a:latin typeface="Calibri" pitchFamily="34" charset="0"/>
                <a:ea typeface="Calibri" pitchFamily="34" charset="-122"/>
                <a:cs typeface="Calibri" pitchFamily="34" charset="-120"/>
              </a:rPr>
              <a:t> or </a:t>
            </a:r>
            <a:pPr indent="0" marL="0">
              <a:buNone/>
            </a:pPr>
            <a:r>
              <a:rPr lang="en-US" sz="1600" b="1" dirty="0">
                <a:solidFill>
                  <a:srgbClr val="12213A"/>
                </a:solidFill>
                <a:latin typeface="Courier New" pitchFamily="34" charset="0"/>
                <a:ea typeface="Courier New" pitchFamily="34" charset="-122"/>
                <a:cs typeface="Courier New" pitchFamily="34" charset="-120"/>
              </a:rPr>
              <a:t>clear</a:t>
            </a:r>
            <a:pPr indent="0" marL="0">
              <a:buNone/>
            </a:pPr>
            <a:r>
              <a:rPr lang="en-US" sz="1600" dirty="0">
                <a:solidFill>
                  <a:srgbClr val="12213A"/>
                </a:solidFill>
                <a:latin typeface="Calibri" pitchFamily="34" charset="0"/>
                <a:ea typeface="Calibri" pitchFamily="34" charset="-122"/>
                <a:cs typeface="Calibri" pitchFamily="34" charset="-120"/>
              </a:rPr>
              <a:t>.</a:t>
            </a:r>
            <a:endParaRPr lang="en-US" sz="1600" dirty="0"/>
          </a:p>
        </p:txBody>
      </p:sp>
      <p:sp>
        <p:nvSpPr>
          <p:cNvPr id="23" name="Shape 20"/>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4" name="Shape 21"/>
          <p:cNvSpPr/>
          <p:nvPr/>
        </p:nvSpPr>
        <p:spPr>
          <a:xfrm>
            <a:off x="6784848" y="1618488"/>
            <a:ext cx="118872" cy="118872"/>
          </a:xfrm>
          <a:prstGeom prst="ellipse">
            <a:avLst/>
          </a:prstGeom>
          <a:solidFill>
            <a:srgbClr val="E5534B"/>
          </a:solidFill>
          <a:ln/>
        </p:spPr>
      </p:sp>
      <p:sp>
        <p:nvSpPr>
          <p:cNvPr id="25" name="Shape 22"/>
          <p:cNvSpPr/>
          <p:nvPr/>
        </p:nvSpPr>
        <p:spPr>
          <a:xfrm>
            <a:off x="6986016" y="1618488"/>
            <a:ext cx="118872" cy="118872"/>
          </a:xfrm>
          <a:prstGeom prst="ellipse">
            <a:avLst/>
          </a:prstGeom>
          <a:solidFill>
            <a:srgbClr val="F5A623"/>
          </a:solidFill>
          <a:ln/>
        </p:spPr>
      </p:sp>
      <p:sp>
        <p:nvSpPr>
          <p:cNvPr id="26" name="Shape 23"/>
          <p:cNvSpPr/>
          <p:nvPr/>
        </p:nvSpPr>
        <p:spPr>
          <a:xfrm>
            <a:off x="7187184" y="1618488"/>
            <a:ext cx="118872" cy="118872"/>
          </a:xfrm>
          <a:prstGeom prst="ellipse">
            <a:avLst/>
          </a:prstGeom>
          <a:solidFill>
            <a:srgbClr val="46D39A"/>
          </a:solidFill>
          <a:ln/>
        </p:spPr>
      </p:sp>
      <p:sp>
        <p:nvSpPr>
          <p:cNvPr id="27" name="Text 24"/>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8" name="Text 25"/>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cat photo.jpg</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ÿØÿà JFIF çÄ ... garbage</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strings photo.jpg | head -5</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JFIF</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Camera: QuestCam X100</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Software: PhotoFix 2.1</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Author: night-shift</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exiftool shows these neatly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is it really? Magic bytes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filetype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14</a:t>
            </a:r>
            <a:endParaRPr lang="en-US" sz="1000" dirty="0"/>
          </a:p>
        </p:txBody>
      </p:sp>
      <p:sp>
        <p:nvSpPr>
          <p:cNvPr id="10" name="Shape 7"/>
          <p:cNvSpPr/>
          <p:nvPr/>
        </p:nvSpPr>
        <p:spPr>
          <a:xfrm>
            <a:off x="548640" y="109728"/>
            <a:ext cx="2226564" cy="274320"/>
          </a:xfrm>
          <a:prstGeom prst="roundRect">
            <a:avLst>
              <a:gd name="adj" fmla="val 50000"/>
            </a:avLst>
          </a:prstGeom>
          <a:solidFill>
            <a:srgbClr val="2459D8"/>
          </a:solidFill>
          <a:ln/>
        </p:spPr>
      </p:sp>
      <p:sp>
        <p:nvSpPr>
          <p:cNvPr id="11" name="Text 8"/>
          <p:cNvSpPr txBox="1"/>
          <p:nvPr/>
        </p:nvSpPr>
        <p:spPr>
          <a:xfrm>
            <a:off x="548640" y="109728"/>
            <a:ext cx="22265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3 &amp; 4 &amp; 10</a:t>
            </a:r>
            <a:endParaRPr lang="en-US" sz="1100" dirty="0"/>
          </a:p>
        </p:txBody>
      </p:sp>
      <p:sp>
        <p:nvSpPr>
          <p:cNvPr id="12" name="Shape 9"/>
          <p:cNvSpPr/>
          <p:nvPr/>
        </p:nvSpPr>
        <p:spPr>
          <a:xfrm>
            <a:off x="548640" y="1600200"/>
            <a:ext cx="2743200" cy="822960"/>
          </a:xfrm>
          <a:prstGeom prst="roundRect">
            <a:avLst>
              <a:gd name="adj" fmla="val 11111"/>
            </a:avLst>
          </a:prstGeom>
          <a:solidFill>
            <a:srgbClr val="F1F5FB"/>
          </a:solidFill>
          <a:ln/>
        </p:spPr>
      </p:sp>
      <p:sp>
        <p:nvSpPr>
          <p:cNvPr id="13" name="Text 10"/>
          <p:cNvSpPr txBox="1"/>
          <p:nvPr/>
        </p:nvSpPr>
        <p:spPr>
          <a:xfrm>
            <a:off x="731520" y="1600200"/>
            <a:ext cx="1463040" cy="822960"/>
          </a:xfrm>
          <a:prstGeom prst="rect">
            <a:avLst/>
          </a:prstGeom>
          <a:noFill/>
          <a:ln/>
        </p:spPr>
        <p:txBody>
          <a:bodyPr wrap="square" lIns="0" tIns="0" rIns="0" bIns="0" rtlCol="0" anchor="ctr"/>
          <a:lstStyle/>
          <a:p>
            <a:pPr indent="0" marL="0">
              <a:buNone/>
            </a:pPr>
            <a:r>
              <a:rPr lang="en-US" sz="1400" b="1" dirty="0">
                <a:solidFill>
                  <a:srgbClr val="2459D8"/>
                </a:solidFill>
                <a:latin typeface="Courier New" pitchFamily="34" charset="0"/>
                <a:ea typeface="Courier New" pitchFamily="34" charset="-122"/>
                <a:cs typeface="Courier New" pitchFamily="34" charset="-120"/>
              </a:rPr>
              <a:t>ff d8 ff</a:t>
            </a:r>
            <a:endParaRPr lang="en-US" sz="1400" dirty="0"/>
          </a:p>
        </p:txBody>
      </p:sp>
      <p:sp>
        <p:nvSpPr>
          <p:cNvPr id="14" name="Text 11"/>
          <p:cNvSpPr txBox="1"/>
          <p:nvPr/>
        </p:nvSpPr>
        <p:spPr>
          <a:xfrm>
            <a:off x="2148840" y="1600200"/>
            <a:ext cx="1097280" cy="822960"/>
          </a:xfrm>
          <a:prstGeom prst="rect">
            <a:avLst/>
          </a:prstGeom>
          <a:noFill/>
          <a:ln/>
        </p:spPr>
        <p:txBody>
          <a:bodyPr wrap="square" lIns="0" tIns="0" rIns="0" bIns="0" rtlCol="0" anchor="ctr"/>
          <a:lstStyle/>
          <a:p>
            <a:pPr indent="0" marL="0">
              <a:buNone/>
            </a:pPr>
            <a:r>
              <a:rPr lang="en-US" sz="1300" dirty="0">
                <a:solidFill>
                  <a:srgbClr val="56657E"/>
                </a:solidFill>
                <a:latin typeface="Calibri" pitchFamily="34" charset="0"/>
                <a:ea typeface="Calibri" pitchFamily="34" charset="-122"/>
                <a:cs typeface="Calibri" pitchFamily="34" charset="-120"/>
              </a:rPr>
              <a:t>JPEG image</a:t>
            </a:r>
            <a:endParaRPr lang="en-US" sz="1300" dirty="0"/>
          </a:p>
        </p:txBody>
      </p:sp>
      <p:sp>
        <p:nvSpPr>
          <p:cNvPr id="15" name="Shape 12"/>
          <p:cNvSpPr/>
          <p:nvPr/>
        </p:nvSpPr>
        <p:spPr>
          <a:xfrm>
            <a:off x="3429000" y="1600200"/>
            <a:ext cx="2743200" cy="822960"/>
          </a:xfrm>
          <a:prstGeom prst="roundRect">
            <a:avLst>
              <a:gd name="adj" fmla="val 11111"/>
            </a:avLst>
          </a:prstGeom>
          <a:solidFill>
            <a:srgbClr val="F1F5FB"/>
          </a:solidFill>
          <a:ln/>
        </p:spPr>
      </p:sp>
      <p:sp>
        <p:nvSpPr>
          <p:cNvPr id="16" name="Text 13"/>
          <p:cNvSpPr txBox="1"/>
          <p:nvPr/>
        </p:nvSpPr>
        <p:spPr>
          <a:xfrm>
            <a:off x="3611880" y="1600200"/>
            <a:ext cx="1463040" cy="822960"/>
          </a:xfrm>
          <a:prstGeom prst="rect">
            <a:avLst/>
          </a:prstGeom>
          <a:noFill/>
          <a:ln/>
        </p:spPr>
        <p:txBody>
          <a:bodyPr wrap="square" lIns="0" tIns="0" rIns="0" bIns="0" rtlCol="0" anchor="ctr"/>
          <a:lstStyle/>
          <a:p>
            <a:pPr indent="0" marL="0">
              <a:buNone/>
            </a:pPr>
            <a:r>
              <a:rPr lang="en-US" sz="1400" b="1" dirty="0">
                <a:solidFill>
                  <a:srgbClr val="2459D8"/>
                </a:solidFill>
                <a:latin typeface="Courier New" pitchFamily="34" charset="0"/>
                <a:ea typeface="Courier New" pitchFamily="34" charset="-122"/>
                <a:cs typeface="Courier New" pitchFamily="34" charset="-120"/>
              </a:rPr>
              <a:t>89 50 4e 47</a:t>
            </a:r>
            <a:endParaRPr lang="en-US" sz="1400" dirty="0"/>
          </a:p>
        </p:txBody>
      </p:sp>
      <p:sp>
        <p:nvSpPr>
          <p:cNvPr id="17" name="Text 14"/>
          <p:cNvSpPr txBox="1"/>
          <p:nvPr/>
        </p:nvSpPr>
        <p:spPr>
          <a:xfrm>
            <a:off x="5029200" y="1600200"/>
            <a:ext cx="1097280" cy="822960"/>
          </a:xfrm>
          <a:prstGeom prst="rect">
            <a:avLst/>
          </a:prstGeom>
          <a:noFill/>
          <a:ln/>
        </p:spPr>
        <p:txBody>
          <a:bodyPr wrap="square" lIns="0" tIns="0" rIns="0" bIns="0" rtlCol="0" anchor="ctr"/>
          <a:lstStyle/>
          <a:p>
            <a:pPr indent="0" marL="0">
              <a:buNone/>
            </a:pPr>
            <a:r>
              <a:rPr lang="en-US" sz="1300" dirty="0">
                <a:solidFill>
                  <a:srgbClr val="56657E"/>
                </a:solidFill>
                <a:latin typeface="Calibri" pitchFamily="34" charset="0"/>
                <a:ea typeface="Calibri" pitchFamily="34" charset="-122"/>
                <a:cs typeface="Calibri" pitchFamily="34" charset="-120"/>
              </a:rPr>
              <a:t>PNG image (.PNG)</a:t>
            </a:r>
            <a:endParaRPr lang="en-US" sz="1300" dirty="0"/>
          </a:p>
        </p:txBody>
      </p:sp>
      <p:sp>
        <p:nvSpPr>
          <p:cNvPr id="18" name="Shape 15"/>
          <p:cNvSpPr/>
          <p:nvPr/>
        </p:nvSpPr>
        <p:spPr>
          <a:xfrm>
            <a:off x="548640" y="2560320"/>
            <a:ext cx="2743200" cy="822960"/>
          </a:xfrm>
          <a:prstGeom prst="roundRect">
            <a:avLst>
              <a:gd name="adj" fmla="val 11111"/>
            </a:avLst>
          </a:prstGeom>
          <a:solidFill>
            <a:srgbClr val="F1F5FB"/>
          </a:solidFill>
          <a:ln/>
        </p:spPr>
      </p:sp>
      <p:sp>
        <p:nvSpPr>
          <p:cNvPr id="19" name="Text 16"/>
          <p:cNvSpPr txBox="1"/>
          <p:nvPr/>
        </p:nvSpPr>
        <p:spPr>
          <a:xfrm>
            <a:off x="731520" y="2560320"/>
            <a:ext cx="1463040" cy="822960"/>
          </a:xfrm>
          <a:prstGeom prst="rect">
            <a:avLst/>
          </a:prstGeom>
          <a:noFill/>
          <a:ln/>
        </p:spPr>
        <p:txBody>
          <a:bodyPr wrap="square" lIns="0" tIns="0" rIns="0" bIns="0" rtlCol="0" anchor="ctr"/>
          <a:lstStyle/>
          <a:p>
            <a:pPr indent="0" marL="0">
              <a:buNone/>
            </a:pPr>
            <a:r>
              <a:rPr lang="en-US" sz="1400" b="1" dirty="0">
                <a:solidFill>
                  <a:srgbClr val="2459D8"/>
                </a:solidFill>
                <a:latin typeface="Courier New" pitchFamily="34" charset="0"/>
                <a:ea typeface="Courier New" pitchFamily="34" charset="-122"/>
                <a:cs typeface="Courier New" pitchFamily="34" charset="-120"/>
              </a:rPr>
              <a:t>1f 8b</a:t>
            </a:r>
            <a:endParaRPr lang="en-US" sz="1400" dirty="0"/>
          </a:p>
        </p:txBody>
      </p:sp>
      <p:sp>
        <p:nvSpPr>
          <p:cNvPr id="20" name="Text 17"/>
          <p:cNvSpPr txBox="1"/>
          <p:nvPr/>
        </p:nvSpPr>
        <p:spPr>
          <a:xfrm>
            <a:off x="2148840" y="2560320"/>
            <a:ext cx="1097280" cy="822960"/>
          </a:xfrm>
          <a:prstGeom prst="rect">
            <a:avLst/>
          </a:prstGeom>
          <a:noFill/>
          <a:ln/>
        </p:spPr>
        <p:txBody>
          <a:bodyPr wrap="square" lIns="0" tIns="0" rIns="0" bIns="0" rtlCol="0" anchor="ctr"/>
          <a:lstStyle/>
          <a:p>
            <a:pPr indent="0" marL="0">
              <a:buNone/>
            </a:pPr>
            <a:r>
              <a:rPr lang="en-US" sz="1300" dirty="0">
                <a:solidFill>
                  <a:srgbClr val="56657E"/>
                </a:solidFill>
                <a:latin typeface="Calibri" pitchFamily="34" charset="0"/>
                <a:ea typeface="Calibri" pitchFamily="34" charset="-122"/>
                <a:cs typeface="Calibri" pitchFamily="34" charset="-120"/>
              </a:rPr>
              <a:t>gzip compressed</a:t>
            </a:r>
            <a:endParaRPr lang="en-US" sz="1300" dirty="0"/>
          </a:p>
        </p:txBody>
      </p:sp>
      <p:sp>
        <p:nvSpPr>
          <p:cNvPr id="21" name="Shape 18"/>
          <p:cNvSpPr/>
          <p:nvPr/>
        </p:nvSpPr>
        <p:spPr>
          <a:xfrm>
            <a:off x="3429000" y="2560320"/>
            <a:ext cx="2743200" cy="822960"/>
          </a:xfrm>
          <a:prstGeom prst="roundRect">
            <a:avLst>
              <a:gd name="adj" fmla="val 11111"/>
            </a:avLst>
          </a:prstGeom>
          <a:solidFill>
            <a:srgbClr val="F1F5FB"/>
          </a:solidFill>
          <a:ln/>
        </p:spPr>
      </p:sp>
      <p:sp>
        <p:nvSpPr>
          <p:cNvPr id="22" name="Text 19"/>
          <p:cNvSpPr txBox="1"/>
          <p:nvPr/>
        </p:nvSpPr>
        <p:spPr>
          <a:xfrm>
            <a:off x="3611880" y="2560320"/>
            <a:ext cx="1463040" cy="822960"/>
          </a:xfrm>
          <a:prstGeom prst="rect">
            <a:avLst/>
          </a:prstGeom>
          <a:noFill/>
          <a:ln/>
        </p:spPr>
        <p:txBody>
          <a:bodyPr wrap="square" lIns="0" tIns="0" rIns="0" bIns="0" rtlCol="0" anchor="ctr"/>
          <a:lstStyle/>
          <a:p>
            <a:pPr indent="0" marL="0">
              <a:buNone/>
            </a:pPr>
            <a:r>
              <a:rPr lang="en-US" sz="1400" b="1" dirty="0">
                <a:solidFill>
                  <a:srgbClr val="2459D8"/>
                </a:solidFill>
                <a:latin typeface="Courier New" pitchFamily="34" charset="0"/>
                <a:ea typeface="Courier New" pitchFamily="34" charset="-122"/>
                <a:cs typeface="Courier New" pitchFamily="34" charset="-120"/>
              </a:rPr>
              <a:t>25 50 44 46</a:t>
            </a:r>
            <a:endParaRPr lang="en-US" sz="1400" dirty="0"/>
          </a:p>
        </p:txBody>
      </p:sp>
      <p:sp>
        <p:nvSpPr>
          <p:cNvPr id="23" name="Text 20"/>
          <p:cNvSpPr txBox="1"/>
          <p:nvPr/>
        </p:nvSpPr>
        <p:spPr>
          <a:xfrm>
            <a:off x="5029200" y="2560320"/>
            <a:ext cx="1097280" cy="822960"/>
          </a:xfrm>
          <a:prstGeom prst="rect">
            <a:avLst/>
          </a:prstGeom>
          <a:noFill/>
          <a:ln/>
        </p:spPr>
        <p:txBody>
          <a:bodyPr wrap="square" lIns="0" tIns="0" rIns="0" bIns="0" rtlCol="0" anchor="ctr"/>
          <a:lstStyle/>
          <a:p>
            <a:pPr indent="0" marL="0">
              <a:buNone/>
            </a:pPr>
            <a:r>
              <a:rPr lang="en-US" sz="1300" dirty="0">
                <a:solidFill>
                  <a:srgbClr val="56657E"/>
                </a:solidFill>
                <a:latin typeface="Calibri" pitchFamily="34" charset="0"/>
                <a:ea typeface="Calibri" pitchFamily="34" charset="-122"/>
                <a:cs typeface="Calibri" pitchFamily="34" charset="-120"/>
              </a:rPr>
              <a:t>PDF (%PDF)</a:t>
            </a:r>
            <a:endParaRPr lang="en-US" sz="1300" dirty="0"/>
          </a:p>
        </p:txBody>
      </p:sp>
      <p:sp>
        <p:nvSpPr>
          <p:cNvPr id="24" name="Shape 21"/>
          <p:cNvSpPr/>
          <p:nvPr/>
        </p:nvSpPr>
        <p:spPr>
          <a:xfrm>
            <a:off x="548640" y="3520440"/>
            <a:ext cx="2743200" cy="822960"/>
          </a:xfrm>
          <a:prstGeom prst="roundRect">
            <a:avLst>
              <a:gd name="adj" fmla="val 11111"/>
            </a:avLst>
          </a:prstGeom>
          <a:solidFill>
            <a:srgbClr val="F1F5FB"/>
          </a:solidFill>
          <a:ln/>
        </p:spPr>
      </p:sp>
      <p:sp>
        <p:nvSpPr>
          <p:cNvPr id="25" name="Text 22"/>
          <p:cNvSpPr txBox="1"/>
          <p:nvPr/>
        </p:nvSpPr>
        <p:spPr>
          <a:xfrm>
            <a:off x="731520" y="3520440"/>
            <a:ext cx="1463040" cy="822960"/>
          </a:xfrm>
          <a:prstGeom prst="rect">
            <a:avLst/>
          </a:prstGeom>
          <a:noFill/>
          <a:ln/>
        </p:spPr>
        <p:txBody>
          <a:bodyPr wrap="square" lIns="0" tIns="0" rIns="0" bIns="0" rtlCol="0" anchor="ctr"/>
          <a:lstStyle/>
          <a:p>
            <a:pPr indent="0" marL="0">
              <a:buNone/>
            </a:pPr>
            <a:r>
              <a:rPr lang="en-US" sz="1400" b="1" dirty="0">
                <a:solidFill>
                  <a:srgbClr val="2459D8"/>
                </a:solidFill>
                <a:latin typeface="Courier New" pitchFamily="34" charset="0"/>
                <a:ea typeface="Courier New" pitchFamily="34" charset="-122"/>
                <a:cs typeface="Courier New" pitchFamily="34" charset="-120"/>
              </a:rPr>
              <a:t>50 4b 03 04</a:t>
            </a:r>
            <a:endParaRPr lang="en-US" sz="1400" dirty="0"/>
          </a:p>
        </p:txBody>
      </p:sp>
      <p:sp>
        <p:nvSpPr>
          <p:cNvPr id="26" name="Text 23"/>
          <p:cNvSpPr txBox="1"/>
          <p:nvPr/>
        </p:nvSpPr>
        <p:spPr>
          <a:xfrm>
            <a:off x="2148840" y="3520440"/>
            <a:ext cx="1097280" cy="822960"/>
          </a:xfrm>
          <a:prstGeom prst="rect">
            <a:avLst/>
          </a:prstGeom>
          <a:noFill/>
          <a:ln/>
        </p:spPr>
        <p:txBody>
          <a:bodyPr wrap="square" lIns="0" tIns="0" rIns="0" bIns="0" rtlCol="0" anchor="ctr"/>
          <a:lstStyle/>
          <a:p>
            <a:pPr indent="0" marL="0">
              <a:buNone/>
            </a:pPr>
            <a:r>
              <a:rPr lang="en-US" sz="1300" dirty="0">
                <a:solidFill>
                  <a:srgbClr val="56657E"/>
                </a:solidFill>
                <a:latin typeface="Calibri" pitchFamily="34" charset="0"/>
                <a:ea typeface="Calibri" pitchFamily="34" charset="-122"/>
                <a:cs typeface="Calibri" pitchFamily="34" charset="-120"/>
              </a:rPr>
              <a:t>zip (PK)</a:t>
            </a:r>
            <a:endParaRPr lang="en-US" sz="1300" dirty="0"/>
          </a:p>
        </p:txBody>
      </p:sp>
      <p:sp>
        <p:nvSpPr>
          <p:cNvPr id="27" name="Shape 24"/>
          <p:cNvSpPr/>
          <p:nvPr/>
        </p:nvSpPr>
        <p:spPr>
          <a:xfrm>
            <a:off x="3429000" y="3520440"/>
            <a:ext cx="2743200" cy="822960"/>
          </a:xfrm>
          <a:prstGeom prst="roundRect">
            <a:avLst>
              <a:gd name="adj" fmla="val 11111"/>
            </a:avLst>
          </a:prstGeom>
          <a:solidFill>
            <a:srgbClr val="F1F5FB"/>
          </a:solidFill>
          <a:ln/>
        </p:spPr>
      </p:sp>
      <p:sp>
        <p:nvSpPr>
          <p:cNvPr id="28" name="Text 25"/>
          <p:cNvSpPr txBox="1"/>
          <p:nvPr/>
        </p:nvSpPr>
        <p:spPr>
          <a:xfrm>
            <a:off x="3611880" y="3520440"/>
            <a:ext cx="1463040" cy="822960"/>
          </a:xfrm>
          <a:prstGeom prst="rect">
            <a:avLst/>
          </a:prstGeom>
          <a:noFill/>
          <a:ln/>
        </p:spPr>
        <p:txBody>
          <a:bodyPr wrap="square" lIns="0" tIns="0" rIns="0" bIns="0" rtlCol="0" anchor="ctr"/>
          <a:lstStyle/>
          <a:p>
            <a:pPr indent="0" marL="0">
              <a:buNone/>
            </a:pPr>
            <a:r>
              <a:rPr lang="en-US" sz="1400" b="1" dirty="0">
                <a:solidFill>
                  <a:srgbClr val="2459D8"/>
                </a:solidFill>
                <a:latin typeface="Courier New" pitchFamily="34" charset="0"/>
                <a:ea typeface="Courier New" pitchFamily="34" charset="-122"/>
                <a:cs typeface="Courier New" pitchFamily="34" charset="-120"/>
              </a:rPr>
              <a:t>ustar @ 257</a:t>
            </a:r>
            <a:endParaRPr lang="en-US" sz="1400" dirty="0"/>
          </a:p>
        </p:txBody>
      </p:sp>
      <p:sp>
        <p:nvSpPr>
          <p:cNvPr id="29" name="Text 26"/>
          <p:cNvSpPr txBox="1"/>
          <p:nvPr/>
        </p:nvSpPr>
        <p:spPr>
          <a:xfrm>
            <a:off x="5029200" y="3520440"/>
            <a:ext cx="1097280" cy="822960"/>
          </a:xfrm>
          <a:prstGeom prst="rect">
            <a:avLst/>
          </a:prstGeom>
          <a:noFill/>
          <a:ln/>
        </p:spPr>
        <p:txBody>
          <a:bodyPr wrap="square" lIns="0" tIns="0" rIns="0" bIns="0" rtlCol="0" anchor="ctr"/>
          <a:lstStyle/>
          <a:p>
            <a:pPr indent="0" marL="0">
              <a:buNone/>
            </a:pPr>
            <a:r>
              <a:rPr lang="en-US" sz="1300" dirty="0">
                <a:solidFill>
                  <a:srgbClr val="56657E"/>
                </a:solidFill>
                <a:latin typeface="Calibri" pitchFamily="34" charset="0"/>
                <a:ea typeface="Calibri" pitchFamily="34" charset="-122"/>
                <a:cs typeface="Calibri" pitchFamily="34" charset="-120"/>
              </a:rPr>
              <a:t>tar archive</a:t>
            </a:r>
            <a:endParaRPr lang="en-US" sz="1300" dirty="0"/>
          </a:p>
        </p:txBody>
      </p:sp>
      <p:sp>
        <p:nvSpPr>
          <p:cNvPr id="30" name="Shape 27"/>
          <p:cNvSpPr/>
          <p:nvPr/>
        </p:nvSpPr>
        <p:spPr>
          <a:xfrm>
            <a:off x="548640" y="4617720"/>
            <a:ext cx="2377440" cy="457200"/>
          </a:xfrm>
          <a:prstGeom prst="roundRect">
            <a:avLst>
              <a:gd name="adj" fmla="val 16000"/>
            </a:avLst>
          </a:prstGeom>
          <a:solidFill>
            <a:srgbClr val="0E1726"/>
          </a:solidFill>
          <a:ln/>
        </p:spPr>
      </p:sp>
      <p:sp>
        <p:nvSpPr>
          <p:cNvPr id="31" name="Text 28"/>
          <p:cNvSpPr txBox="1"/>
          <p:nvPr/>
        </p:nvSpPr>
        <p:spPr>
          <a:xfrm>
            <a:off x="548640" y="461772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filetype FILE</a:t>
            </a:r>
            <a:endParaRPr lang="en-US" sz="1500" dirty="0"/>
          </a:p>
        </p:txBody>
      </p:sp>
      <p:sp>
        <p:nvSpPr>
          <p:cNvPr id="32" name="Text 29"/>
          <p:cNvSpPr txBox="1"/>
          <p:nvPr/>
        </p:nvSpPr>
        <p:spPr>
          <a:xfrm>
            <a:off x="3154680" y="461772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name the real type</a:t>
            </a:r>
            <a:endParaRPr lang="en-US" sz="1700" dirty="0"/>
          </a:p>
        </p:txBody>
      </p:sp>
      <p:sp>
        <p:nvSpPr>
          <p:cNvPr id="33" name="Shape 30"/>
          <p:cNvSpPr/>
          <p:nvPr/>
        </p:nvSpPr>
        <p:spPr>
          <a:xfrm>
            <a:off x="548640" y="5212080"/>
            <a:ext cx="2377440" cy="457200"/>
          </a:xfrm>
          <a:prstGeom prst="roundRect">
            <a:avLst>
              <a:gd name="adj" fmla="val 16000"/>
            </a:avLst>
          </a:prstGeom>
          <a:solidFill>
            <a:srgbClr val="0E1726"/>
          </a:solidFill>
          <a:ln/>
        </p:spPr>
      </p:sp>
      <p:sp>
        <p:nvSpPr>
          <p:cNvPr id="34" name="Text 31"/>
          <p:cNvSpPr txBox="1"/>
          <p:nvPr/>
        </p:nvSpPr>
        <p:spPr>
          <a:xfrm>
            <a:off x="548640" y="521208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head -c 4 FILE | xxd</a:t>
            </a:r>
            <a:endParaRPr lang="en-US" sz="1500" dirty="0"/>
          </a:p>
        </p:txBody>
      </p:sp>
      <p:sp>
        <p:nvSpPr>
          <p:cNvPr id="35" name="Text 32"/>
          <p:cNvSpPr txBox="1"/>
          <p:nvPr/>
        </p:nvSpPr>
        <p:spPr>
          <a:xfrm>
            <a:off x="3154680" y="521208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see the bytes yourself</a:t>
            </a:r>
            <a:endParaRPr lang="en-US" sz="1700" dirty="0"/>
          </a:p>
        </p:txBody>
      </p:sp>
      <p:sp>
        <p:nvSpPr>
          <p:cNvPr id="36" name="Shape 33"/>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37" name="Shape 34"/>
          <p:cNvSpPr/>
          <p:nvPr/>
        </p:nvSpPr>
        <p:spPr>
          <a:xfrm>
            <a:off x="6784848" y="1618488"/>
            <a:ext cx="118872" cy="118872"/>
          </a:xfrm>
          <a:prstGeom prst="ellipse">
            <a:avLst/>
          </a:prstGeom>
          <a:solidFill>
            <a:srgbClr val="E5534B"/>
          </a:solidFill>
          <a:ln/>
        </p:spPr>
      </p:sp>
      <p:sp>
        <p:nvSpPr>
          <p:cNvPr id="38" name="Shape 35"/>
          <p:cNvSpPr/>
          <p:nvPr/>
        </p:nvSpPr>
        <p:spPr>
          <a:xfrm>
            <a:off x="6986016" y="1618488"/>
            <a:ext cx="118872" cy="118872"/>
          </a:xfrm>
          <a:prstGeom prst="ellipse">
            <a:avLst/>
          </a:prstGeom>
          <a:solidFill>
            <a:srgbClr val="F5A623"/>
          </a:solidFill>
          <a:ln/>
        </p:spPr>
      </p:sp>
      <p:sp>
        <p:nvSpPr>
          <p:cNvPr id="39" name="Shape 36"/>
          <p:cNvSpPr/>
          <p:nvPr/>
        </p:nvSpPr>
        <p:spPr>
          <a:xfrm>
            <a:off x="7187184" y="1618488"/>
            <a:ext cx="118872" cy="118872"/>
          </a:xfrm>
          <a:prstGeom prst="ellipse">
            <a:avLst/>
          </a:prstGeom>
          <a:solidFill>
            <a:srgbClr val="46D39A"/>
          </a:solidFill>
          <a:ln/>
        </p:spPr>
      </p:sp>
      <p:sp>
        <p:nvSpPr>
          <p:cNvPr id="40" name="Text 37"/>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41" name="Text 38"/>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filetype photos/*</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IMG_1041.jpg: JPEG image data</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IMG_1042.jpg: gzip compressed data</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head -c 4 IMG_1041.jpg | xxd</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00000000: ffd8 ffe0   ....</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head -c 4 IMG_1042.jpg | xxd</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00000000: 1f8b 0800   ....</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Unwrapping archives: tar and zcat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tar --help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15</a:t>
            </a:r>
            <a:endParaRPr lang="en-US" sz="1000" dirty="0"/>
          </a:p>
        </p:txBody>
      </p:sp>
      <p:sp>
        <p:nvSpPr>
          <p:cNvPr id="10" name="Shape 7"/>
          <p:cNvSpPr/>
          <p:nvPr/>
        </p:nvSpPr>
        <p:spPr>
          <a:xfrm>
            <a:off x="548640" y="109728"/>
            <a:ext cx="1879092" cy="274320"/>
          </a:xfrm>
          <a:prstGeom prst="roundRect">
            <a:avLst>
              <a:gd name="adj" fmla="val 50000"/>
            </a:avLst>
          </a:prstGeom>
          <a:solidFill>
            <a:srgbClr val="7448D4"/>
          </a:solidFill>
          <a:ln/>
        </p:spPr>
      </p:sp>
      <p:sp>
        <p:nvSpPr>
          <p:cNvPr id="11" name="Text 8"/>
          <p:cNvSpPr txBox="1"/>
          <p:nvPr/>
        </p:nvSpPr>
        <p:spPr>
          <a:xfrm>
            <a:off x="548640" y="109728"/>
            <a:ext cx="18790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4 &amp; 10</a:t>
            </a:r>
            <a:endParaRPr lang="en-US" sz="1100" dirty="0"/>
          </a:p>
        </p:txBody>
      </p:sp>
      <p:sp>
        <p:nvSpPr>
          <p:cNvPr id="12" name="Shape 9"/>
          <p:cNvSpPr/>
          <p:nvPr/>
        </p:nvSpPr>
        <p:spPr>
          <a:xfrm>
            <a:off x="548640" y="1600200"/>
            <a:ext cx="2377440" cy="457200"/>
          </a:xfrm>
          <a:prstGeom prst="roundRect">
            <a:avLst>
              <a:gd name="adj" fmla="val 16000"/>
            </a:avLst>
          </a:prstGeom>
          <a:solidFill>
            <a:srgbClr val="0E1726"/>
          </a:solidFill>
          <a:ln/>
        </p:spPr>
      </p:sp>
      <p:sp>
        <p:nvSpPr>
          <p:cNvPr id="13" name="Text 10"/>
          <p:cNvSpPr txBox="1"/>
          <p:nvPr/>
        </p:nvSpPr>
        <p:spPr>
          <a:xfrm>
            <a:off x="548640" y="160020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tar -xzf F.tar.gz</a:t>
            </a:r>
            <a:endParaRPr lang="en-US" sz="1500" dirty="0"/>
          </a:p>
        </p:txBody>
      </p:sp>
      <p:sp>
        <p:nvSpPr>
          <p:cNvPr id="14" name="Text 11"/>
          <p:cNvSpPr txBox="1"/>
          <p:nvPr/>
        </p:nvSpPr>
        <p:spPr>
          <a:xfrm>
            <a:off x="3154680" y="160020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unpack a squeezed bundle</a:t>
            </a:r>
            <a:endParaRPr lang="en-US" sz="1700" dirty="0"/>
          </a:p>
        </p:txBody>
      </p:sp>
      <p:sp>
        <p:nvSpPr>
          <p:cNvPr id="15" name="Shape 12"/>
          <p:cNvSpPr/>
          <p:nvPr/>
        </p:nvSpPr>
        <p:spPr>
          <a:xfrm>
            <a:off x="548640" y="2194560"/>
            <a:ext cx="2377440" cy="457200"/>
          </a:xfrm>
          <a:prstGeom prst="roundRect">
            <a:avLst>
              <a:gd name="adj" fmla="val 16000"/>
            </a:avLst>
          </a:prstGeom>
          <a:solidFill>
            <a:srgbClr val="0E1726"/>
          </a:solidFill>
          <a:ln/>
        </p:spPr>
      </p:sp>
      <p:sp>
        <p:nvSpPr>
          <p:cNvPr id="16" name="Text 13"/>
          <p:cNvSpPr txBox="1"/>
          <p:nvPr/>
        </p:nvSpPr>
        <p:spPr>
          <a:xfrm>
            <a:off x="548640" y="219456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tar -xf F</a:t>
            </a:r>
            <a:endParaRPr lang="en-US" sz="1500" dirty="0"/>
          </a:p>
        </p:txBody>
      </p:sp>
      <p:sp>
        <p:nvSpPr>
          <p:cNvPr id="17" name="Text 14"/>
          <p:cNvSpPr txBox="1"/>
          <p:nvPr/>
        </p:nvSpPr>
        <p:spPr>
          <a:xfrm>
            <a:off x="3154680" y="219456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unpack a plain bundle</a:t>
            </a:r>
            <a:endParaRPr lang="en-US" sz="1700" dirty="0"/>
          </a:p>
        </p:txBody>
      </p:sp>
      <p:sp>
        <p:nvSpPr>
          <p:cNvPr id="18" name="Shape 15"/>
          <p:cNvSpPr/>
          <p:nvPr/>
        </p:nvSpPr>
        <p:spPr>
          <a:xfrm>
            <a:off x="548640" y="2788920"/>
            <a:ext cx="2377440" cy="457200"/>
          </a:xfrm>
          <a:prstGeom prst="roundRect">
            <a:avLst>
              <a:gd name="adj" fmla="val 16000"/>
            </a:avLst>
          </a:prstGeom>
          <a:solidFill>
            <a:srgbClr val="0E1726"/>
          </a:solidFill>
          <a:ln/>
        </p:spPr>
      </p:sp>
      <p:sp>
        <p:nvSpPr>
          <p:cNvPr id="19" name="Text 16"/>
          <p:cNvSpPr txBox="1"/>
          <p:nvPr/>
        </p:nvSpPr>
        <p:spPr>
          <a:xfrm>
            <a:off x="548640" y="278892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tar -tf F</a:t>
            </a:r>
            <a:endParaRPr lang="en-US" sz="1500" dirty="0"/>
          </a:p>
        </p:txBody>
      </p:sp>
      <p:sp>
        <p:nvSpPr>
          <p:cNvPr id="20" name="Text 17"/>
          <p:cNvSpPr txBox="1"/>
          <p:nvPr/>
        </p:nvSpPr>
        <p:spPr>
          <a:xfrm>
            <a:off x="3154680" y="278892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list what's inside</a:t>
            </a:r>
            <a:endParaRPr lang="en-US" sz="1700" dirty="0"/>
          </a:p>
        </p:txBody>
      </p:sp>
      <p:sp>
        <p:nvSpPr>
          <p:cNvPr id="21" name="Shape 18"/>
          <p:cNvSpPr/>
          <p:nvPr/>
        </p:nvSpPr>
        <p:spPr>
          <a:xfrm>
            <a:off x="548640" y="3383280"/>
            <a:ext cx="2377440" cy="457200"/>
          </a:xfrm>
          <a:prstGeom prst="roundRect">
            <a:avLst>
              <a:gd name="adj" fmla="val 16000"/>
            </a:avLst>
          </a:prstGeom>
          <a:solidFill>
            <a:srgbClr val="0E1726"/>
          </a:solidFill>
          <a:ln/>
        </p:spPr>
      </p:sp>
      <p:sp>
        <p:nvSpPr>
          <p:cNvPr id="22" name="Text 19"/>
          <p:cNvSpPr txBox="1"/>
          <p:nvPr/>
        </p:nvSpPr>
        <p:spPr>
          <a:xfrm>
            <a:off x="548640" y="338328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zcat F</a:t>
            </a:r>
            <a:endParaRPr lang="en-US" sz="1500" dirty="0"/>
          </a:p>
        </p:txBody>
      </p:sp>
      <p:sp>
        <p:nvSpPr>
          <p:cNvPr id="23" name="Text 20"/>
          <p:cNvSpPr txBox="1"/>
          <p:nvPr/>
        </p:nvSpPr>
        <p:spPr>
          <a:xfrm>
            <a:off x="3154680" y="338328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print a gzip file's contents</a:t>
            </a:r>
            <a:endParaRPr lang="en-US" sz="1700" dirty="0"/>
          </a:p>
        </p:txBody>
      </p:sp>
      <p:sp>
        <p:nvSpPr>
          <p:cNvPr id="24" name="Shape 21"/>
          <p:cNvSpPr/>
          <p:nvPr/>
        </p:nvSpPr>
        <p:spPr>
          <a:xfrm>
            <a:off x="548640" y="4343400"/>
            <a:ext cx="1298448" cy="914400"/>
          </a:xfrm>
          <a:prstGeom prst="roundRect">
            <a:avLst>
              <a:gd name="adj" fmla="val 10000"/>
            </a:avLst>
          </a:prstGeom>
          <a:solidFill>
            <a:srgbClr val="7448D4"/>
          </a:solidFill>
          <a:ln/>
        </p:spPr>
      </p:sp>
      <p:sp>
        <p:nvSpPr>
          <p:cNvPr id="25" name="Text 22"/>
          <p:cNvSpPr txBox="1"/>
          <p:nvPr/>
        </p:nvSpPr>
        <p:spPr>
          <a:xfrm>
            <a:off x="548640" y="4343400"/>
            <a:ext cx="1298448"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evidence.tar.gz</a:t>
            </a:r>
            <a:endParaRPr lang="en-US" sz="1100" dirty="0"/>
          </a:p>
        </p:txBody>
      </p:sp>
      <p:sp>
        <p:nvSpPr>
          <p:cNvPr id="26" name="Shape 23"/>
          <p:cNvSpPr/>
          <p:nvPr/>
        </p:nvSpPr>
        <p:spPr>
          <a:xfrm>
            <a:off x="1993392" y="4343400"/>
            <a:ext cx="1298448" cy="914400"/>
          </a:xfrm>
          <a:prstGeom prst="roundRect">
            <a:avLst>
              <a:gd name="adj" fmla="val 10000"/>
            </a:avLst>
          </a:prstGeom>
          <a:solidFill>
            <a:srgbClr val="D1416B"/>
          </a:solidFill>
          <a:ln/>
        </p:spPr>
      </p:sp>
      <p:sp>
        <p:nvSpPr>
          <p:cNvPr id="27" name="Text 24"/>
          <p:cNvSpPr txBox="1"/>
          <p:nvPr/>
        </p:nvSpPr>
        <p:spPr>
          <a:xfrm>
            <a:off x="1993392" y="4343400"/>
            <a:ext cx="1298448"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box (tar)</a:t>
            </a:r>
            <a:endParaRPr lang="en-US" sz="1100" dirty="0"/>
          </a:p>
        </p:txBody>
      </p:sp>
      <p:sp>
        <p:nvSpPr>
          <p:cNvPr id="28" name="Shape 25"/>
          <p:cNvSpPr/>
          <p:nvPr/>
        </p:nvSpPr>
        <p:spPr>
          <a:xfrm>
            <a:off x="3438144" y="4343400"/>
            <a:ext cx="1298448" cy="914400"/>
          </a:xfrm>
          <a:prstGeom prst="roundRect">
            <a:avLst>
              <a:gd name="adj" fmla="val 10000"/>
            </a:avLst>
          </a:prstGeom>
          <a:solidFill>
            <a:srgbClr val="E8820C"/>
          </a:solidFill>
          <a:ln/>
        </p:spPr>
      </p:sp>
      <p:sp>
        <p:nvSpPr>
          <p:cNvPr id="29" name="Text 26"/>
          <p:cNvSpPr txBox="1"/>
          <p:nvPr/>
        </p:nvSpPr>
        <p:spPr>
          <a:xfrm>
            <a:off x="3438144" y="4343400"/>
            <a:ext cx="1298448"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inner (gzip)</a:t>
            </a:r>
            <a:endParaRPr lang="en-US" sz="1100" dirty="0"/>
          </a:p>
        </p:txBody>
      </p:sp>
      <p:sp>
        <p:nvSpPr>
          <p:cNvPr id="30" name="Shape 27"/>
          <p:cNvSpPr/>
          <p:nvPr/>
        </p:nvSpPr>
        <p:spPr>
          <a:xfrm>
            <a:off x="4882896" y="4343400"/>
            <a:ext cx="1298448" cy="914400"/>
          </a:xfrm>
          <a:prstGeom prst="roundRect">
            <a:avLst>
              <a:gd name="adj" fmla="val 10000"/>
            </a:avLst>
          </a:prstGeom>
          <a:solidFill>
            <a:srgbClr val="17875A"/>
          </a:solidFill>
          <a:ln/>
        </p:spPr>
      </p:sp>
      <p:sp>
        <p:nvSpPr>
          <p:cNvPr id="31" name="Text 28"/>
          <p:cNvSpPr txBox="1"/>
          <p:nvPr/>
        </p:nvSpPr>
        <p:spPr>
          <a:xfrm>
            <a:off x="4882896" y="4343400"/>
            <a:ext cx="1298448"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flag</a:t>
            </a:r>
            <a:endParaRPr lang="en-US" sz="1100" dirty="0"/>
          </a:p>
        </p:txBody>
      </p:sp>
      <p:sp>
        <p:nvSpPr>
          <p:cNvPr id="32" name="Text 29"/>
          <p:cNvSpPr txBox="1"/>
          <p:nvPr/>
        </p:nvSpPr>
        <p:spPr>
          <a:xfrm>
            <a:off x="548640" y="5440680"/>
            <a:ext cx="566928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x: extract   t: list   z: gzip   f: the file</a:t>
            </a:r>
            <a:endParaRPr lang="en-US" sz="1300" dirty="0"/>
          </a:p>
        </p:txBody>
      </p:sp>
      <p:sp>
        <p:nvSpPr>
          <p:cNvPr id="33" name="Shape 30"/>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34" name="Shape 31"/>
          <p:cNvSpPr/>
          <p:nvPr/>
        </p:nvSpPr>
        <p:spPr>
          <a:xfrm>
            <a:off x="6784848" y="1618488"/>
            <a:ext cx="118872" cy="118872"/>
          </a:xfrm>
          <a:prstGeom prst="ellipse">
            <a:avLst/>
          </a:prstGeom>
          <a:solidFill>
            <a:srgbClr val="E5534B"/>
          </a:solidFill>
          <a:ln/>
        </p:spPr>
      </p:sp>
      <p:sp>
        <p:nvSpPr>
          <p:cNvPr id="35" name="Shape 32"/>
          <p:cNvSpPr/>
          <p:nvPr/>
        </p:nvSpPr>
        <p:spPr>
          <a:xfrm>
            <a:off x="6986016" y="1618488"/>
            <a:ext cx="118872" cy="118872"/>
          </a:xfrm>
          <a:prstGeom prst="ellipse">
            <a:avLst/>
          </a:prstGeom>
          <a:solidFill>
            <a:srgbClr val="F5A623"/>
          </a:solidFill>
          <a:ln/>
        </p:spPr>
      </p:sp>
      <p:sp>
        <p:nvSpPr>
          <p:cNvPr id="36" name="Shape 33"/>
          <p:cNvSpPr/>
          <p:nvPr/>
        </p:nvSpPr>
        <p:spPr>
          <a:xfrm>
            <a:off x="7187184" y="1618488"/>
            <a:ext cx="118872" cy="118872"/>
          </a:xfrm>
          <a:prstGeom prst="ellipse">
            <a:avLst/>
          </a:prstGeom>
          <a:solidFill>
            <a:srgbClr val="46D39A"/>
          </a:solidFill>
          <a:ln/>
        </p:spPr>
      </p:sp>
      <p:sp>
        <p:nvSpPr>
          <p:cNvPr id="37" name="Text 34"/>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8" name="Text 35"/>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tar -tzf evidence.tar.gz</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box</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tar -xzf evidence.tar.gz</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filetype box</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box: POSIX tar archive</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tar -xf box</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filetype inner</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inner: gzip compressed data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Reading logs: grep, cut, sort, uniq -c</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cut -d: -f1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16</a:t>
            </a:r>
            <a:endParaRPr lang="en-US" sz="1000" dirty="0"/>
          </a:p>
        </p:txBody>
      </p:sp>
      <p:sp>
        <p:nvSpPr>
          <p:cNvPr id="10" name="Shape 7"/>
          <p:cNvSpPr/>
          <p:nvPr/>
        </p:nvSpPr>
        <p:spPr>
          <a:xfrm>
            <a:off x="548640" y="109728"/>
            <a:ext cx="2226564" cy="274320"/>
          </a:xfrm>
          <a:prstGeom prst="roundRect">
            <a:avLst>
              <a:gd name="adj" fmla="val 50000"/>
            </a:avLst>
          </a:prstGeom>
          <a:solidFill>
            <a:srgbClr val="D1416B"/>
          </a:solidFill>
          <a:ln/>
        </p:spPr>
      </p:sp>
      <p:sp>
        <p:nvSpPr>
          <p:cNvPr id="11" name="Text 8"/>
          <p:cNvSpPr txBox="1"/>
          <p:nvPr/>
        </p:nvSpPr>
        <p:spPr>
          <a:xfrm>
            <a:off x="548640" y="109728"/>
            <a:ext cx="22265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5 &amp; 9 &amp; 10</a:t>
            </a:r>
            <a:endParaRPr lang="en-US" sz="1100" dirty="0"/>
          </a:p>
        </p:txBody>
      </p:sp>
      <p:sp>
        <p:nvSpPr>
          <p:cNvPr id="12" name="Shape 9"/>
          <p:cNvSpPr/>
          <p:nvPr/>
        </p:nvSpPr>
        <p:spPr>
          <a:xfrm>
            <a:off x="548640" y="1600200"/>
            <a:ext cx="2057400" cy="1143000"/>
          </a:xfrm>
          <a:prstGeom prst="roundRect">
            <a:avLst>
              <a:gd name="adj" fmla="val 8000"/>
            </a:avLst>
          </a:prstGeom>
          <a:solidFill>
            <a:srgbClr val="2A9FD6"/>
          </a:solidFill>
          <a:ln/>
        </p:spPr>
      </p:sp>
      <p:sp>
        <p:nvSpPr>
          <p:cNvPr id="13" name="Text 10"/>
          <p:cNvSpPr txBox="1"/>
          <p:nvPr/>
        </p:nvSpPr>
        <p:spPr>
          <a:xfrm>
            <a:off x="548640" y="1600200"/>
            <a:ext cx="2057400"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grep Failed</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keep the failures</a:t>
            </a:r>
            <a:endParaRPr lang="en-US" sz="1400" dirty="0"/>
          </a:p>
        </p:txBody>
      </p:sp>
      <p:sp>
        <p:nvSpPr>
          <p:cNvPr id="14" name="Text 11"/>
          <p:cNvSpPr txBox="1"/>
          <p:nvPr/>
        </p:nvSpPr>
        <p:spPr>
          <a:xfrm>
            <a:off x="2606040" y="1600200"/>
            <a:ext cx="210312" cy="11430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a:t>
            </a:r>
            <a:endParaRPr lang="en-US" sz="2400" dirty="0"/>
          </a:p>
        </p:txBody>
      </p:sp>
      <p:sp>
        <p:nvSpPr>
          <p:cNvPr id="15" name="Shape 12"/>
          <p:cNvSpPr/>
          <p:nvPr/>
        </p:nvSpPr>
        <p:spPr>
          <a:xfrm>
            <a:off x="2816352" y="1600200"/>
            <a:ext cx="2057400" cy="1143000"/>
          </a:xfrm>
          <a:prstGeom prst="roundRect">
            <a:avLst>
              <a:gd name="adj" fmla="val 8000"/>
            </a:avLst>
          </a:prstGeom>
          <a:solidFill>
            <a:srgbClr val="2459D8"/>
          </a:solidFill>
          <a:ln/>
        </p:spPr>
      </p:sp>
      <p:sp>
        <p:nvSpPr>
          <p:cNvPr id="16" name="Text 13"/>
          <p:cNvSpPr txBox="1"/>
          <p:nvPr/>
        </p:nvSpPr>
        <p:spPr>
          <a:xfrm>
            <a:off x="2816352" y="1600200"/>
            <a:ext cx="2057400"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cut -d' ' -f8</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keep field 8: the IP</a:t>
            </a:r>
            <a:endParaRPr lang="en-US" sz="1400" dirty="0"/>
          </a:p>
        </p:txBody>
      </p:sp>
      <p:sp>
        <p:nvSpPr>
          <p:cNvPr id="17" name="Text 14"/>
          <p:cNvSpPr txBox="1"/>
          <p:nvPr/>
        </p:nvSpPr>
        <p:spPr>
          <a:xfrm>
            <a:off x="4873752" y="1600200"/>
            <a:ext cx="210312" cy="11430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a:t>
            </a:r>
            <a:endParaRPr lang="en-US" sz="2400" dirty="0"/>
          </a:p>
        </p:txBody>
      </p:sp>
      <p:sp>
        <p:nvSpPr>
          <p:cNvPr id="18" name="Shape 15"/>
          <p:cNvSpPr/>
          <p:nvPr/>
        </p:nvSpPr>
        <p:spPr>
          <a:xfrm>
            <a:off x="5084064" y="1600200"/>
            <a:ext cx="2057400" cy="1143000"/>
          </a:xfrm>
          <a:prstGeom prst="roundRect">
            <a:avLst>
              <a:gd name="adj" fmla="val 8000"/>
            </a:avLst>
          </a:prstGeom>
          <a:solidFill>
            <a:srgbClr val="7448D4"/>
          </a:solidFill>
          <a:ln/>
        </p:spPr>
      </p:sp>
      <p:sp>
        <p:nvSpPr>
          <p:cNvPr id="19" name="Text 16"/>
          <p:cNvSpPr txBox="1"/>
          <p:nvPr/>
        </p:nvSpPr>
        <p:spPr>
          <a:xfrm>
            <a:off x="5084064" y="1600200"/>
            <a:ext cx="2057400"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sort</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line up repeats</a:t>
            </a:r>
            <a:endParaRPr lang="en-US" sz="1400" dirty="0"/>
          </a:p>
        </p:txBody>
      </p:sp>
      <p:sp>
        <p:nvSpPr>
          <p:cNvPr id="20" name="Text 17"/>
          <p:cNvSpPr txBox="1"/>
          <p:nvPr/>
        </p:nvSpPr>
        <p:spPr>
          <a:xfrm>
            <a:off x="7141464" y="1600200"/>
            <a:ext cx="210312" cy="11430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a:t>
            </a:r>
            <a:endParaRPr lang="en-US" sz="2400" dirty="0"/>
          </a:p>
        </p:txBody>
      </p:sp>
      <p:sp>
        <p:nvSpPr>
          <p:cNvPr id="21" name="Shape 18"/>
          <p:cNvSpPr/>
          <p:nvPr/>
        </p:nvSpPr>
        <p:spPr>
          <a:xfrm>
            <a:off x="7351776" y="1600200"/>
            <a:ext cx="2057400" cy="1143000"/>
          </a:xfrm>
          <a:prstGeom prst="roundRect">
            <a:avLst>
              <a:gd name="adj" fmla="val 8000"/>
            </a:avLst>
          </a:prstGeom>
          <a:solidFill>
            <a:srgbClr val="D1416B"/>
          </a:solidFill>
          <a:ln/>
        </p:spPr>
      </p:sp>
      <p:sp>
        <p:nvSpPr>
          <p:cNvPr id="22" name="Text 19"/>
          <p:cNvSpPr txBox="1"/>
          <p:nvPr/>
        </p:nvSpPr>
        <p:spPr>
          <a:xfrm>
            <a:off x="7351776" y="1600200"/>
            <a:ext cx="2057400"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uniq -c</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count each one</a:t>
            </a:r>
            <a:endParaRPr lang="en-US" sz="1400" dirty="0"/>
          </a:p>
        </p:txBody>
      </p:sp>
      <p:sp>
        <p:nvSpPr>
          <p:cNvPr id="23" name="Text 20"/>
          <p:cNvSpPr txBox="1"/>
          <p:nvPr/>
        </p:nvSpPr>
        <p:spPr>
          <a:xfrm>
            <a:off x="9409176" y="1600200"/>
            <a:ext cx="210312" cy="11430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a:t>
            </a:r>
            <a:endParaRPr lang="en-US" sz="2400" dirty="0"/>
          </a:p>
        </p:txBody>
      </p:sp>
      <p:sp>
        <p:nvSpPr>
          <p:cNvPr id="24" name="Shape 21"/>
          <p:cNvSpPr/>
          <p:nvPr/>
        </p:nvSpPr>
        <p:spPr>
          <a:xfrm>
            <a:off x="9619488" y="1600200"/>
            <a:ext cx="2057400" cy="1143000"/>
          </a:xfrm>
          <a:prstGeom prst="roundRect">
            <a:avLst>
              <a:gd name="adj" fmla="val 8000"/>
            </a:avLst>
          </a:prstGeom>
          <a:solidFill>
            <a:srgbClr val="E8820C"/>
          </a:solidFill>
          <a:ln/>
        </p:spPr>
      </p:sp>
      <p:sp>
        <p:nvSpPr>
          <p:cNvPr id="25" name="Text 22"/>
          <p:cNvSpPr txBox="1"/>
          <p:nvPr/>
        </p:nvSpPr>
        <p:spPr>
          <a:xfrm>
            <a:off x="9619488" y="1600200"/>
            <a:ext cx="2057400"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sort -n | tail</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biggest last</a:t>
            </a:r>
            <a:endParaRPr lang="en-US" sz="1400" dirty="0"/>
          </a:p>
        </p:txBody>
      </p:sp>
      <p:sp>
        <p:nvSpPr>
          <p:cNvPr id="26" name="Shape 23"/>
          <p:cNvSpPr/>
          <p:nvPr/>
        </p:nvSpPr>
        <p:spPr>
          <a:xfrm>
            <a:off x="548640" y="3063240"/>
            <a:ext cx="11094415" cy="2880360"/>
          </a:xfrm>
          <a:prstGeom prst="roundRect">
            <a:avLst>
              <a:gd name="adj" fmla="val 3175"/>
            </a:avLst>
          </a:prstGeom>
          <a:solidFill>
            <a:srgbClr val="0E1726"/>
          </a:solidFill>
          <a:ln/>
          <a:effectLst>
            <a:outerShdw sx="100000" sy="100000" kx="0" ky="0" algn="bl" rotWithShape="0" blurRad="127000" dist="38100" dir="5400000">
              <a:srgbClr val="12213A">
                <a:alpha val="22000"/>
              </a:srgbClr>
            </a:outerShdw>
          </a:effectLst>
        </p:spPr>
      </p:sp>
      <p:sp>
        <p:nvSpPr>
          <p:cNvPr id="27" name="Shape 24"/>
          <p:cNvSpPr/>
          <p:nvPr/>
        </p:nvSpPr>
        <p:spPr>
          <a:xfrm>
            <a:off x="749808" y="3218688"/>
            <a:ext cx="118872" cy="118872"/>
          </a:xfrm>
          <a:prstGeom prst="ellipse">
            <a:avLst/>
          </a:prstGeom>
          <a:solidFill>
            <a:srgbClr val="E5534B"/>
          </a:solidFill>
          <a:ln/>
        </p:spPr>
      </p:sp>
      <p:sp>
        <p:nvSpPr>
          <p:cNvPr id="28" name="Shape 25"/>
          <p:cNvSpPr/>
          <p:nvPr/>
        </p:nvSpPr>
        <p:spPr>
          <a:xfrm>
            <a:off x="950976" y="3218688"/>
            <a:ext cx="118872" cy="118872"/>
          </a:xfrm>
          <a:prstGeom prst="ellipse">
            <a:avLst/>
          </a:prstGeom>
          <a:solidFill>
            <a:srgbClr val="F5A623"/>
          </a:solidFill>
          <a:ln/>
        </p:spPr>
      </p:sp>
      <p:sp>
        <p:nvSpPr>
          <p:cNvPr id="29" name="Shape 26"/>
          <p:cNvSpPr/>
          <p:nvPr/>
        </p:nvSpPr>
        <p:spPr>
          <a:xfrm>
            <a:off x="1152144" y="3218688"/>
            <a:ext cx="118872" cy="118872"/>
          </a:xfrm>
          <a:prstGeom prst="ellipse">
            <a:avLst/>
          </a:prstGeom>
          <a:solidFill>
            <a:srgbClr val="46D39A"/>
          </a:solidFill>
          <a:ln/>
        </p:spPr>
      </p:sp>
      <p:sp>
        <p:nvSpPr>
          <p:cNvPr id="30" name="Text 27"/>
          <p:cNvSpPr txBox="1"/>
          <p:nvPr/>
        </p:nvSpPr>
        <p:spPr>
          <a:xfrm>
            <a:off x="1463040" y="3136392"/>
            <a:ext cx="9265615"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1" name="Text 28"/>
          <p:cNvSpPr txBox="1"/>
          <p:nvPr/>
        </p:nvSpPr>
        <p:spPr>
          <a:xfrm>
            <a:off x="822960" y="3520440"/>
            <a:ext cx="10545775" cy="22860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head -1 auth.log</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2026-10-08T02:04:39 sshd: Failed password for guest from 203.0.113.66</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field 1             2     3      4        5   6     7    8</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grep Failed auth.log | cut -d' ' -f8 | sort | uniq -c | sort -n | tail -2</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7 192.0.2.24</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     40 203.0.113.66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Hidden in plain sight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xxd ~/README.txt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17</a:t>
            </a:r>
            <a:endParaRPr lang="en-US" sz="1000" dirty="0"/>
          </a:p>
        </p:txBody>
      </p:sp>
      <p:sp>
        <p:nvSpPr>
          <p:cNvPr id="10" name="Shape 7"/>
          <p:cNvSpPr/>
          <p:nvPr/>
        </p:nvSpPr>
        <p:spPr>
          <a:xfrm>
            <a:off x="548640" y="109728"/>
            <a:ext cx="1357884" cy="274320"/>
          </a:xfrm>
          <a:prstGeom prst="roundRect">
            <a:avLst>
              <a:gd name="adj" fmla="val 50000"/>
            </a:avLst>
          </a:prstGeom>
          <a:solidFill>
            <a:srgbClr val="E8820C"/>
          </a:solidFill>
          <a:ln/>
        </p:spPr>
      </p:sp>
      <p:sp>
        <p:nvSpPr>
          <p:cNvPr id="11" name="Text 8"/>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6</a:t>
            </a:r>
            <a:endParaRPr lang="en-US" sz="1100" dirty="0"/>
          </a:p>
        </p:txBody>
      </p:sp>
      <p:sp>
        <p:nvSpPr>
          <p:cNvPr id="12" name="Shape 9"/>
          <p:cNvSpPr/>
          <p:nvPr/>
        </p:nvSpPr>
        <p:spPr>
          <a:xfrm>
            <a:off x="548640" y="1645920"/>
            <a:ext cx="3840480" cy="1188720"/>
          </a:xfrm>
          <a:prstGeom prst="roundRect">
            <a:avLst>
              <a:gd name="adj" fmla="val 6154"/>
            </a:avLst>
          </a:prstGeom>
          <a:solidFill>
            <a:srgbClr val="2459D8"/>
          </a:solidFill>
          <a:ln/>
        </p:spPr>
      </p:sp>
      <p:sp>
        <p:nvSpPr>
          <p:cNvPr id="13" name="Text 10"/>
          <p:cNvSpPr txBox="1"/>
          <p:nvPr/>
        </p:nvSpPr>
        <p:spPr>
          <a:xfrm>
            <a:off x="548640" y="1645920"/>
            <a:ext cx="38404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ff d8 ff ...</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the picture</a:t>
            </a:r>
            <a:endParaRPr lang="en-US" sz="1600" dirty="0"/>
          </a:p>
        </p:txBody>
      </p:sp>
      <p:sp>
        <p:nvSpPr>
          <p:cNvPr id="14" name="Shape 11"/>
          <p:cNvSpPr/>
          <p:nvPr/>
        </p:nvSpPr>
        <p:spPr>
          <a:xfrm>
            <a:off x="4480560" y="1645920"/>
            <a:ext cx="548640" cy="1188720"/>
          </a:xfrm>
          <a:prstGeom prst="roundRect">
            <a:avLst>
              <a:gd name="adj" fmla="val 13333"/>
            </a:avLst>
          </a:prstGeom>
          <a:solidFill>
            <a:srgbClr val="12213A"/>
          </a:solidFill>
          <a:ln/>
        </p:spPr>
      </p:sp>
      <p:sp>
        <p:nvSpPr>
          <p:cNvPr id="15" name="Text 12"/>
          <p:cNvSpPr txBox="1"/>
          <p:nvPr/>
        </p:nvSpPr>
        <p:spPr>
          <a:xfrm>
            <a:off x="4480560" y="1645920"/>
            <a:ext cx="548640" cy="118872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ff d9</a:t>
            </a:r>
            <a:endParaRPr lang="en-US" sz="1100" dirty="0"/>
          </a:p>
        </p:txBody>
      </p:sp>
      <p:sp>
        <p:nvSpPr>
          <p:cNvPr id="16" name="Shape 13"/>
          <p:cNvSpPr/>
          <p:nvPr/>
        </p:nvSpPr>
        <p:spPr>
          <a:xfrm>
            <a:off x="5120640" y="1645920"/>
            <a:ext cx="1097280" cy="1188720"/>
          </a:xfrm>
          <a:prstGeom prst="roundRect">
            <a:avLst>
              <a:gd name="adj" fmla="val 6667"/>
            </a:avLst>
          </a:prstGeom>
          <a:solidFill>
            <a:srgbClr val="F5A623"/>
          </a:solidFill>
          <a:ln/>
        </p:spPr>
      </p:sp>
      <p:sp>
        <p:nvSpPr>
          <p:cNvPr id="17" name="Text 14"/>
          <p:cNvSpPr txBox="1"/>
          <p:nvPr/>
        </p:nvSpPr>
        <p:spPr>
          <a:xfrm>
            <a:off x="5120640" y="1645920"/>
            <a:ext cx="1097280" cy="1188720"/>
          </a:xfrm>
          <a:prstGeom prst="rect">
            <a:avLst/>
          </a:prstGeom>
          <a:noFill/>
          <a:ln/>
        </p:spPr>
        <p:txBody>
          <a:bodyPr wrap="square" lIns="0" tIns="0" rIns="0" bIns="0" rtlCol="0" anchor="ctr"/>
          <a:lstStyle/>
          <a:p>
            <a:pPr algn="ctr" indent="0" marL="0">
              <a:buNone/>
            </a:pPr>
            <a:r>
              <a:rPr lang="en-US" sz="1400" b="1" dirty="0">
                <a:solidFill>
                  <a:srgbClr val="12213A"/>
                </a:solidFill>
                <a:latin typeface="Calibri" pitchFamily="34" charset="0"/>
                <a:ea typeface="Calibri" pitchFamily="34" charset="-122"/>
                <a:cs typeface="Calibri" pitchFamily="34" charset="-120"/>
              </a:rPr>
              <a:t>hidden</a:t>
            </a:r>
            <a:endParaRPr lang="en-US" sz="1400" dirty="0"/>
          </a:p>
        </p:txBody>
      </p:sp>
      <p:sp>
        <p:nvSpPr>
          <p:cNvPr id="18" name="Text 15"/>
          <p:cNvSpPr txBox="1"/>
          <p:nvPr/>
        </p:nvSpPr>
        <p:spPr>
          <a:xfrm>
            <a:off x="548640" y="2926080"/>
            <a:ext cx="566928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Viewers stop at the end marker. The hidden part never shows.</a:t>
            </a:r>
            <a:endParaRPr lang="en-US" sz="1300" dirty="0"/>
          </a:p>
        </p:txBody>
      </p:sp>
      <p:sp>
        <p:nvSpPr>
          <p:cNvPr id="19" name="Shape 16"/>
          <p:cNvSpPr/>
          <p:nvPr/>
        </p:nvSpPr>
        <p:spPr>
          <a:xfrm>
            <a:off x="548640" y="3520440"/>
            <a:ext cx="2377440" cy="457200"/>
          </a:xfrm>
          <a:prstGeom prst="roundRect">
            <a:avLst>
              <a:gd name="adj" fmla="val 16000"/>
            </a:avLst>
          </a:prstGeom>
          <a:solidFill>
            <a:srgbClr val="0E1726"/>
          </a:solidFill>
          <a:ln/>
        </p:spPr>
      </p:sp>
      <p:sp>
        <p:nvSpPr>
          <p:cNvPr id="20" name="Text 17"/>
          <p:cNvSpPr txBox="1"/>
          <p:nvPr/>
        </p:nvSpPr>
        <p:spPr>
          <a:xfrm>
            <a:off x="548640" y="352044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strings F | tail -2</a:t>
            </a:r>
            <a:endParaRPr lang="en-US" sz="1500" dirty="0"/>
          </a:p>
        </p:txBody>
      </p:sp>
      <p:sp>
        <p:nvSpPr>
          <p:cNvPr id="21" name="Text 18"/>
          <p:cNvSpPr txBox="1"/>
          <p:nvPr/>
        </p:nvSpPr>
        <p:spPr>
          <a:xfrm>
            <a:off x="3154680" y="352044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readable text near the end</a:t>
            </a:r>
            <a:endParaRPr lang="en-US" sz="1700" dirty="0"/>
          </a:p>
        </p:txBody>
      </p:sp>
      <p:sp>
        <p:nvSpPr>
          <p:cNvPr id="22" name="Shape 19"/>
          <p:cNvSpPr/>
          <p:nvPr/>
        </p:nvSpPr>
        <p:spPr>
          <a:xfrm>
            <a:off x="548640" y="4114800"/>
            <a:ext cx="2377440" cy="457200"/>
          </a:xfrm>
          <a:prstGeom prst="roundRect">
            <a:avLst>
              <a:gd name="adj" fmla="val 16000"/>
            </a:avLst>
          </a:prstGeom>
          <a:solidFill>
            <a:srgbClr val="0E1726"/>
          </a:solidFill>
          <a:ln/>
        </p:spPr>
      </p:sp>
      <p:sp>
        <p:nvSpPr>
          <p:cNvPr id="23" name="Text 20"/>
          <p:cNvSpPr txBox="1"/>
          <p:nvPr/>
        </p:nvSpPr>
        <p:spPr>
          <a:xfrm>
            <a:off x="548640" y="411480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tail -c 120 F | xxd</a:t>
            </a:r>
            <a:endParaRPr lang="en-US" sz="1500" dirty="0"/>
          </a:p>
        </p:txBody>
      </p:sp>
      <p:sp>
        <p:nvSpPr>
          <p:cNvPr id="24" name="Text 21"/>
          <p:cNvSpPr txBox="1"/>
          <p:nvPr/>
        </p:nvSpPr>
        <p:spPr>
          <a:xfrm>
            <a:off x="3154680" y="411480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the last bytes, in hex</a:t>
            </a:r>
            <a:endParaRPr lang="en-US" sz="1700" dirty="0"/>
          </a:p>
        </p:txBody>
      </p:sp>
      <p:sp>
        <p:nvSpPr>
          <p:cNvPr id="25" name="Shape 22"/>
          <p:cNvSpPr/>
          <p:nvPr/>
        </p:nvSpPr>
        <p:spPr>
          <a:xfrm>
            <a:off x="548640" y="4846320"/>
            <a:ext cx="5669280" cy="1097280"/>
          </a:xfrm>
          <a:prstGeom prst="roundRect">
            <a:avLst>
              <a:gd name="adj" fmla="val 8333"/>
            </a:avLst>
          </a:prstGeom>
          <a:solidFill>
            <a:srgbClr val="FFF4DC"/>
          </a:solidFill>
          <a:ln/>
        </p:spPr>
      </p:sp>
      <p:sp>
        <p:nvSpPr>
          <p:cNvPr id="26" name="Text 23"/>
          <p:cNvSpPr txBox="1"/>
          <p:nvPr/>
        </p:nvSpPr>
        <p:spPr>
          <a:xfrm>
            <a:off x="822960" y="4846320"/>
            <a:ext cx="5120640" cy="109728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Crypto vs stego: </a:t>
            </a:r>
            <a:pPr indent="0" marL="0">
              <a:buNone/>
            </a:pPr>
            <a:r>
              <a:rPr lang="en-US" sz="1500" dirty="0">
                <a:solidFill>
                  <a:srgbClr val="12213A"/>
                </a:solidFill>
                <a:latin typeface="Calibri" pitchFamily="34" charset="0"/>
                <a:ea typeface="Calibri" pitchFamily="34" charset="-122"/>
                <a:cs typeface="Calibri" pitchFamily="34" charset="-120"/>
              </a:rPr>
              <a:t>crypto hides what a message says. Stego hides that it exists. CTFs love combining them.</a:t>
            </a:r>
            <a:endParaRPr lang="en-US" sz="1500" dirty="0"/>
          </a:p>
        </p:txBody>
      </p:sp>
      <p:sp>
        <p:nvSpPr>
          <p:cNvPr id="27" name="Shape 24"/>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8" name="Shape 25"/>
          <p:cNvSpPr/>
          <p:nvPr/>
        </p:nvSpPr>
        <p:spPr>
          <a:xfrm>
            <a:off x="6784848" y="1618488"/>
            <a:ext cx="118872" cy="118872"/>
          </a:xfrm>
          <a:prstGeom prst="ellipse">
            <a:avLst/>
          </a:prstGeom>
          <a:solidFill>
            <a:srgbClr val="E5534B"/>
          </a:solidFill>
          <a:ln/>
        </p:spPr>
      </p:sp>
      <p:sp>
        <p:nvSpPr>
          <p:cNvPr id="29" name="Shape 26"/>
          <p:cNvSpPr/>
          <p:nvPr/>
        </p:nvSpPr>
        <p:spPr>
          <a:xfrm>
            <a:off x="6986016" y="1618488"/>
            <a:ext cx="118872" cy="118872"/>
          </a:xfrm>
          <a:prstGeom prst="ellipse">
            <a:avLst/>
          </a:prstGeom>
          <a:solidFill>
            <a:srgbClr val="F5A623"/>
          </a:solidFill>
          <a:ln/>
        </p:spPr>
      </p:sp>
      <p:sp>
        <p:nvSpPr>
          <p:cNvPr id="30" name="Shape 27"/>
          <p:cNvSpPr/>
          <p:nvPr/>
        </p:nvSpPr>
        <p:spPr>
          <a:xfrm>
            <a:off x="7187184" y="1618488"/>
            <a:ext cx="118872" cy="118872"/>
          </a:xfrm>
          <a:prstGeom prst="ellipse">
            <a:avLst/>
          </a:prstGeom>
          <a:solidFill>
            <a:srgbClr val="46D39A"/>
          </a:solidFill>
          <a:ln/>
        </p:spPr>
      </p:sp>
      <p:sp>
        <p:nvSpPr>
          <p:cNvPr id="31" name="Text 28"/>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2" name="Text 29"/>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filetype cat.jpg</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cat.jpg: JPEG image data</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strings cat.jpg | tail -2</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JFIF</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SGlkZGVuIGFmdGVyIHRo...==</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letters, digits, =  ...</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looks like base64!</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Has it changed? Fingerprints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sha256sum ~/README.txt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18</a:t>
            </a:r>
            <a:endParaRPr lang="en-US" sz="1000" dirty="0"/>
          </a:p>
        </p:txBody>
      </p:sp>
      <p:sp>
        <p:nvSpPr>
          <p:cNvPr id="10" name="Shape 7"/>
          <p:cNvSpPr/>
          <p:nvPr/>
        </p:nvSpPr>
        <p:spPr>
          <a:xfrm>
            <a:off x="548640" y="109728"/>
            <a:ext cx="1357884" cy="274320"/>
          </a:xfrm>
          <a:prstGeom prst="roundRect">
            <a:avLst>
              <a:gd name="adj" fmla="val 50000"/>
            </a:avLst>
          </a:prstGeom>
          <a:solidFill>
            <a:srgbClr val="C9A227"/>
          </a:solidFill>
          <a:ln/>
        </p:spPr>
      </p:sp>
      <p:sp>
        <p:nvSpPr>
          <p:cNvPr id="11" name="Text 8"/>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7</a:t>
            </a:r>
            <a:endParaRPr lang="en-US" sz="1100" dirty="0"/>
          </a:p>
        </p:txBody>
      </p:sp>
      <p:sp>
        <p:nvSpPr>
          <p:cNvPr id="12" name="Shape 9"/>
          <p:cNvSpPr/>
          <p:nvPr/>
        </p:nvSpPr>
        <p:spPr>
          <a:xfrm>
            <a:off x="548640" y="1600200"/>
            <a:ext cx="2377440" cy="457200"/>
          </a:xfrm>
          <a:prstGeom prst="roundRect">
            <a:avLst>
              <a:gd name="adj" fmla="val 16000"/>
            </a:avLst>
          </a:prstGeom>
          <a:solidFill>
            <a:srgbClr val="0E1726"/>
          </a:solidFill>
          <a:ln/>
        </p:spPr>
      </p:sp>
      <p:sp>
        <p:nvSpPr>
          <p:cNvPr id="13" name="Text 10"/>
          <p:cNvSpPr txBox="1"/>
          <p:nvPr/>
        </p:nvSpPr>
        <p:spPr>
          <a:xfrm>
            <a:off x="548640" y="160020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sha256sum FILE</a:t>
            </a:r>
            <a:endParaRPr lang="en-US" sz="1500" dirty="0"/>
          </a:p>
        </p:txBody>
      </p:sp>
      <p:sp>
        <p:nvSpPr>
          <p:cNvPr id="14" name="Text 11"/>
          <p:cNvSpPr txBox="1"/>
          <p:nvPr/>
        </p:nvSpPr>
        <p:spPr>
          <a:xfrm>
            <a:off x="3154680" y="160020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fingerprint a file</a:t>
            </a:r>
            <a:endParaRPr lang="en-US" sz="1700" dirty="0"/>
          </a:p>
        </p:txBody>
      </p:sp>
      <p:sp>
        <p:nvSpPr>
          <p:cNvPr id="15" name="Shape 12"/>
          <p:cNvSpPr/>
          <p:nvPr/>
        </p:nvSpPr>
        <p:spPr>
          <a:xfrm>
            <a:off x="548640" y="2194560"/>
            <a:ext cx="2377440" cy="457200"/>
          </a:xfrm>
          <a:prstGeom prst="roundRect">
            <a:avLst>
              <a:gd name="adj" fmla="val 16000"/>
            </a:avLst>
          </a:prstGeom>
          <a:solidFill>
            <a:srgbClr val="0E1726"/>
          </a:solidFill>
          <a:ln/>
        </p:spPr>
      </p:sp>
      <p:sp>
        <p:nvSpPr>
          <p:cNvPr id="16" name="Text 13"/>
          <p:cNvSpPr txBox="1"/>
          <p:nvPr/>
        </p:nvSpPr>
        <p:spPr>
          <a:xfrm>
            <a:off x="548640" y="219456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sha256sum -c LIST</a:t>
            </a:r>
            <a:endParaRPr lang="en-US" sz="1500" dirty="0"/>
          </a:p>
        </p:txBody>
      </p:sp>
      <p:sp>
        <p:nvSpPr>
          <p:cNvPr id="17" name="Text 14"/>
          <p:cNvSpPr txBox="1"/>
          <p:nvPr/>
        </p:nvSpPr>
        <p:spPr>
          <a:xfrm>
            <a:off x="3154680" y="219456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check every file in a list</a:t>
            </a:r>
            <a:endParaRPr lang="en-US" sz="1700" dirty="0"/>
          </a:p>
        </p:txBody>
      </p:sp>
      <p:sp>
        <p:nvSpPr>
          <p:cNvPr id="18" name="Shape 15"/>
          <p:cNvSpPr/>
          <p:nvPr/>
        </p:nvSpPr>
        <p:spPr>
          <a:xfrm>
            <a:off x="548640" y="2788920"/>
            <a:ext cx="2377440" cy="457200"/>
          </a:xfrm>
          <a:prstGeom prst="roundRect">
            <a:avLst>
              <a:gd name="adj" fmla="val 16000"/>
            </a:avLst>
          </a:prstGeom>
          <a:solidFill>
            <a:srgbClr val="0E1726"/>
          </a:solidFill>
          <a:ln/>
        </p:spPr>
      </p:sp>
      <p:sp>
        <p:nvSpPr>
          <p:cNvPr id="19" name="Text 16"/>
          <p:cNvSpPr txBox="1"/>
          <p:nvPr/>
        </p:nvSpPr>
        <p:spPr>
          <a:xfrm>
            <a:off x="548640" y="278892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 grep FAILED</a:t>
            </a:r>
            <a:endParaRPr lang="en-US" sz="1500" dirty="0"/>
          </a:p>
        </p:txBody>
      </p:sp>
      <p:sp>
        <p:nvSpPr>
          <p:cNvPr id="20" name="Text 17"/>
          <p:cNvSpPr txBox="1"/>
          <p:nvPr/>
        </p:nvSpPr>
        <p:spPr>
          <a:xfrm>
            <a:off x="3154680" y="278892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show only the changed ones</a:t>
            </a:r>
            <a:endParaRPr lang="en-US" sz="1700" dirty="0"/>
          </a:p>
        </p:txBody>
      </p:sp>
      <p:sp>
        <p:nvSpPr>
          <p:cNvPr id="21" name="Shape 18"/>
          <p:cNvSpPr/>
          <p:nvPr/>
        </p:nvSpPr>
        <p:spPr>
          <a:xfrm>
            <a:off x="548640" y="3566160"/>
            <a:ext cx="5669280" cy="2377440"/>
          </a:xfrm>
          <a:prstGeom prst="roundRect">
            <a:avLst>
              <a:gd name="adj" fmla="val 3846"/>
            </a:avLst>
          </a:prstGeom>
          <a:solidFill>
            <a:srgbClr val="FFF4DC"/>
          </a:solidFill>
          <a:ln/>
        </p:spPr>
      </p:sp>
      <p:sp>
        <p:nvSpPr>
          <p:cNvPr id="22" name="Text 19"/>
          <p:cNvSpPr txBox="1"/>
          <p:nvPr/>
        </p:nvSpPr>
        <p:spPr>
          <a:xfrm>
            <a:off x="822960" y="3703320"/>
            <a:ext cx="5120640" cy="36576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A manifest line</a:t>
            </a:r>
            <a:endParaRPr lang="en-US" sz="1700" dirty="0"/>
          </a:p>
        </p:txBody>
      </p:sp>
      <p:sp>
        <p:nvSpPr>
          <p:cNvPr id="23" name="Text 20"/>
          <p:cNvSpPr txBox="1"/>
          <p:nvPr/>
        </p:nvSpPr>
        <p:spPr>
          <a:xfrm>
            <a:off x="822960" y="4160520"/>
            <a:ext cx="5120640" cy="365760"/>
          </a:xfrm>
          <a:prstGeom prst="rect">
            <a:avLst/>
          </a:prstGeom>
          <a:noFill/>
          <a:ln/>
        </p:spPr>
        <p:txBody>
          <a:bodyPr wrap="square" lIns="0" tIns="0" rIns="0" bIns="0" rtlCol="0" anchor="t"/>
          <a:lstStyle/>
          <a:p>
            <a:pPr indent="0" marL="0">
              <a:buNone/>
            </a:pPr>
            <a:r>
              <a:rPr lang="en-US" sz="1500" b="1" dirty="0">
                <a:solidFill>
                  <a:srgbClr val="12213A"/>
                </a:solidFill>
                <a:latin typeface="Courier New" pitchFamily="34" charset="0"/>
                <a:ea typeface="Courier New" pitchFamily="34" charset="-122"/>
                <a:cs typeface="Courier New" pitchFamily="34" charset="-120"/>
              </a:rPr>
              <a:t>9c1f04e2a7...  bin/backup</a:t>
            </a:r>
            <a:endParaRPr lang="en-US" sz="1500" dirty="0"/>
          </a:p>
        </p:txBody>
      </p:sp>
      <p:sp>
        <p:nvSpPr>
          <p:cNvPr id="24" name="Text 21"/>
          <p:cNvSpPr txBox="1"/>
          <p:nvPr/>
        </p:nvSpPr>
        <p:spPr>
          <a:xfrm>
            <a:off x="822960" y="4617720"/>
            <a:ext cx="5120640" cy="109728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The fingerprint, two spaces, then the file. Taken when the server was clean.</a:t>
            </a:r>
            <a:endParaRPr lang="en-US" sz="1500" dirty="0"/>
          </a:p>
        </p:txBody>
      </p:sp>
      <p:sp>
        <p:nvSpPr>
          <p:cNvPr id="25" name="Shape 22"/>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6" name="Shape 23"/>
          <p:cNvSpPr/>
          <p:nvPr/>
        </p:nvSpPr>
        <p:spPr>
          <a:xfrm>
            <a:off x="6784848" y="1618488"/>
            <a:ext cx="118872" cy="118872"/>
          </a:xfrm>
          <a:prstGeom prst="ellipse">
            <a:avLst/>
          </a:prstGeom>
          <a:solidFill>
            <a:srgbClr val="E5534B"/>
          </a:solidFill>
          <a:ln/>
        </p:spPr>
      </p:sp>
      <p:sp>
        <p:nvSpPr>
          <p:cNvPr id="27" name="Shape 24"/>
          <p:cNvSpPr/>
          <p:nvPr/>
        </p:nvSpPr>
        <p:spPr>
          <a:xfrm>
            <a:off x="6986016" y="1618488"/>
            <a:ext cx="118872" cy="118872"/>
          </a:xfrm>
          <a:prstGeom prst="ellipse">
            <a:avLst/>
          </a:prstGeom>
          <a:solidFill>
            <a:srgbClr val="F5A623"/>
          </a:solidFill>
          <a:ln/>
        </p:spPr>
      </p:sp>
      <p:sp>
        <p:nvSpPr>
          <p:cNvPr id="28" name="Shape 25"/>
          <p:cNvSpPr/>
          <p:nvPr/>
        </p:nvSpPr>
        <p:spPr>
          <a:xfrm>
            <a:off x="7187184" y="1618488"/>
            <a:ext cx="118872" cy="118872"/>
          </a:xfrm>
          <a:prstGeom prst="ellipse">
            <a:avLst/>
          </a:prstGeom>
          <a:solidFill>
            <a:srgbClr val="46D39A"/>
          </a:solidFill>
          <a:ln/>
        </p:spPr>
      </p:sp>
      <p:sp>
        <p:nvSpPr>
          <p:cNvPr id="29" name="Text 26"/>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0" name="Text 27"/>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sha256sum -c manifest.sha256</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bin/backup: OK</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bin/cleanup: OK</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bin/diskcheck: FAILED</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bin/logrotate: OK</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WARNING: 1 of 10 computed</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checksums did NOT match</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intruders come back: cron jobs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-a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19</a:t>
            </a:r>
            <a:endParaRPr lang="en-US" sz="1000" dirty="0"/>
          </a:p>
        </p:txBody>
      </p:sp>
      <p:sp>
        <p:nvSpPr>
          <p:cNvPr id="10" name="Shape 7"/>
          <p:cNvSpPr/>
          <p:nvPr/>
        </p:nvSpPr>
        <p:spPr>
          <a:xfrm>
            <a:off x="548640" y="109728"/>
            <a:ext cx="1357884" cy="274320"/>
          </a:xfrm>
          <a:prstGeom prst="roundRect">
            <a:avLst>
              <a:gd name="adj" fmla="val 50000"/>
            </a:avLst>
          </a:prstGeom>
          <a:solidFill>
            <a:srgbClr val="0F9488"/>
          </a:solidFill>
          <a:ln/>
        </p:spPr>
      </p:sp>
      <p:sp>
        <p:nvSpPr>
          <p:cNvPr id="11" name="Text 8"/>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8</a:t>
            </a:r>
            <a:endParaRPr lang="en-US" sz="1100" dirty="0"/>
          </a:p>
        </p:txBody>
      </p:sp>
      <p:sp>
        <p:nvSpPr>
          <p:cNvPr id="12" name="Shape 9"/>
          <p:cNvSpPr/>
          <p:nvPr/>
        </p:nvSpPr>
        <p:spPr>
          <a:xfrm>
            <a:off x="548640" y="1600200"/>
            <a:ext cx="1051560" cy="1325880"/>
          </a:xfrm>
          <a:prstGeom prst="roundRect">
            <a:avLst>
              <a:gd name="adj" fmla="val 8696"/>
            </a:avLst>
          </a:prstGeom>
          <a:solidFill>
            <a:srgbClr val="F1F5FB"/>
          </a:solidFill>
          <a:ln/>
        </p:spPr>
      </p:sp>
      <p:sp>
        <p:nvSpPr>
          <p:cNvPr id="13" name="Text 10"/>
          <p:cNvSpPr txBox="1"/>
          <p:nvPr/>
        </p:nvSpPr>
        <p:spPr>
          <a:xfrm>
            <a:off x="548640" y="1691640"/>
            <a:ext cx="1051560" cy="457200"/>
          </a:xfrm>
          <a:prstGeom prst="rect">
            <a:avLst/>
          </a:prstGeom>
          <a:noFill/>
          <a:ln/>
        </p:spPr>
        <p:txBody>
          <a:bodyPr wrap="square" lIns="0" tIns="0" rIns="0" bIns="0" rtlCol="0" anchor="t"/>
          <a:lstStyle/>
          <a:p>
            <a:pPr algn="ctr" indent="0" marL="0">
              <a:buNone/>
            </a:pPr>
            <a:r>
              <a:rPr lang="en-US" sz="2000" b="1" dirty="0">
                <a:solidFill>
                  <a:srgbClr val="5B6EE1"/>
                </a:solidFill>
                <a:latin typeface="Courier New" pitchFamily="34" charset="0"/>
                <a:ea typeface="Courier New" pitchFamily="34" charset="-122"/>
                <a:cs typeface="Courier New" pitchFamily="34" charset="-120"/>
              </a:rPr>
              <a:t>*/10</a:t>
            </a:r>
            <a:endParaRPr lang="en-US" sz="2000" dirty="0"/>
          </a:p>
        </p:txBody>
      </p:sp>
      <p:sp>
        <p:nvSpPr>
          <p:cNvPr id="14" name="Text 11"/>
          <p:cNvSpPr txBox="1"/>
          <p:nvPr/>
        </p:nvSpPr>
        <p:spPr>
          <a:xfrm>
            <a:off x="548640" y="2194560"/>
            <a:ext cx="1051560" cy="320040"/>
          </a:xfrm>
          <a:prstGeom prst="rect">
            <a:avLst/>
          </a:prstGeom>
          <a:noFill/>
          <a:ln/>
        </p:spPr>
        <p:txBody>
          <a:bodyPr wrap="square" lIns="0" tIns="0" rIns="0" bIns="0" rtlCol="0" anchor="t"/>
          <a:lstStyle/>
          <a:p>
            <a:pPr algn="ctr" indent="0" marL="0">
              <a:buNone/>
            </a:pPr>
            <a:r>
              <a:rPr lang="en-US" sz="1200" b="1" dirty="0">
                <a:solidFill>
                  <a:srgbClr val="12213A"/>
                </a:solidFill>
                <a:latin typeface="Calibri" pitchFamily="34" charset="0"/>
                <a:ea typeface="Calibri" pitchFamily="34" charset="-122"/>
                <a:cs typeface="Calibri" pitchFamily="34" charset="-120"/>
              </a:rPr>
              <a:t>minute</a:t>
            </a:r>
            <a:endParaRPr lang="en-US" sz="1200" dirty="0"/>
          </a:p>
        </p:txBody>
      </p:sp>
      <p:sp>
        <p:nvSpPr>
          <p:cNvPr id="15" name="Text 12"/>
          <p:cNvSpPr txBox="1"/>
          <p:nvPr/>
        </p:nvSpPr>
        <p:spPr>
          <a:xfrm>
            <a:off x="548640" y="2514600"/>
            <a:ext cx="1051560" cy="320040"/>
          </a:xfrm>
          <a:prstGeom prst="rect">
            <a:avLst/>
          </a:prstGeom>
          <a:noFill/>
          <a:ln/>
        </p:spPr>
        <p:txBody>
          <a:bodyPr wrap="square" lIns="0" tIns="0" rIns="0" bIns="0" rtlCol="0" anchor="t"/>
          <a:lstStyle/>
          <a:p>
            <a:pPr algn="ctr" indent="0" marL="0">
              <a:buNone/>
            </a:pPr>
            <a:r>
              <a:rPr lang="en-US" sz="1100" dirty="0">
                <a:solidFill>
                  <a:srgbClr val="56657E"/>
                </a:solidFill>
                <a:latin typeface="Calibri" pitchFamily="34" charset="0"/>
                <a:ea typeface="Calibri" pitchFamily="34" charset="-122"/>
                <a:cs typeface="Calibri" pitchFamily="34" charset="-120"/>
              </a:rPr>
              <a:t>every 10</a:t>
            </a:r>
            <a:endParaRPr lang="en-US" sz="1100" dirty="0"/>
          </a:p>
        </p:txBody>
      </p:sp>
      <p:sp>
        <p:nvSpPr>
          <p:cNvPr id="16" name="Shape 13"/>
          <p:cNvSpPr/>
          <p:nvPr/>
        </p:nvSpPr>
        <p:spPr>
          <a:xfrm>
            <a:off x="1691640" y="1600200"/>
            <a:ext cx="1051560" cy="1325880"/>
          </a:xfrm>
          <a:prstGeom prst="roundRect">
            <a:avLst>
              <a:gd name="adj" fmla="val 8696"/>
            </a:avLst>
          </a:prstGeom>
          <a:solidFill>
            <a:srgbClr val="F1F5FB"/>
          </a:solidFill>
          <a:ln/>
        </p:spPr>
      </p:sp>
      <p:sp>
        <p:nvSpPr>
          <p:cNvPr id="17" name="Text 14"/>
          <p:cNvSpPr txBox="1"/>
          <p:nvPr/>
        </p:nvSpPr>
        <p:spPr>
          <a:xfrm>
            <a:off x="1691640" y="1691640"/>
            <a:ext cx="1051560" cy="457200"/>
          </a:xfrm>
          <a:prstGeom prst="rect">
            <a:avLst/>
          </a:prstGeom>
          <a:noFill/>
          <a:ln/>
        </p:spPr>
        <p:txBody>
          <a:bodyPr wrap="square" lIns="0" tIns="0" rIns="0" bIns="0" rtlCol="0" anchor="t"/>
          <a:lstStyle/>
          <a:p>
            <a:pPr algn="ctr" indent="0" marL="0">
              <a:buNone/>
            </a:pPr>
            <a:r>
              <a:rPr lang="en-US" sz="2000" b="1" dirty="0">
                <a:solidFill>
                  <a:srgbClr val="5B6EE1"/>
                </a:solidFill>
                <a:latin typeface="Courier New" pitchFamily="34" charset="0"/>
                <a:ea typeface="Courier New" pitchFamily="34" charset="-122"/>
                <a:cs typeface="Courier New" pitchFamily="34" charset="-120"/>
              </a:rPr>
              <a:t>*</a:t>
            </a:r>
            <a:endParaRPr lang="en-US" sz="2000" dirty="0"/>
          </a:p>
        </p:txBody>
      </p:sp>
      <p:sp>
        <p:nvSpPr>
          <p:cNvPr id="18" name="Text 15"/>
          <p:cNvSpPr txBox="1"/>
          <p:nvPr/>
        </p:nvSpPr>
        <p:spPr>
          <a:xfrm>
            <a:off x="1691640" y="2194560"/>
            <a:ext cx="1051560" cy="320040"/>
          </a:xfrm>
          <a:prstGeom prst="rect">
            <a:avLst/>
          </a:prstGeom>
          <a:noFill/>
          <a:ln/>
        </p:spPr>
        <p:txBody>
          <a:bodyPr wrap="square" lIns="0" tIns="0" rIns="0" bIns="0" rtlCol="0" anchor="t"/>
          <a:lstStyle/>
          <a:p>
            <a:pPr algn="ctr" indent="0" marL="0">
              <a:buNone/>
            </a:pPr>
            <a:r>
              <a:rPr lang="en-US" sz="1200" b="1" dirty="0">
                <a:solidFill>
                  <a:srgbClr val="12213A"/>
                </a:solidFill>
                <a:latin typeface="Calibri" pitchFamily="34" charset="0"/>
                <a:ea typeface="Calibri" pitchFamily="34" charset="-122"/>
                <a:cs typeface="Calibri" pitchFamily="34" charset="-120"/>
              </a:rPr>
              <a:t>hour</a:t>
            </a:r>
            <a:endParaRPr lang="en-US" sz="1200" dirty="0"/>
          </a:p>
        </p:txBody>
      </p:sp>
      <p:sp>
        <p:nvSpPr>
          <p:cNvPr id="19" name="Text 16"/>
          <p:cNvSpPr txBox="1"/>
          <p:nvPr/>
        </p:nvSpPr>
        <p:spPr>
          <a:xfrm>
            <a:off x="1691640" y="2514600"/>
            <a:ext cx="1051560" cy="320040"/>
          </a:xfrm>
          <a:prstGeom prst="rect">
            <a:avLst/>
          </a:prstGeom>
          <a:noFill/>
          <a:ln/>
        </p:spPr>
        <p:txBody>
          <a:bodyPr wrap="square" lIns="0" tIns="0" rIns="0" bIns="0" rtlCol="0" anchor="t"/>
          <a:lstStyle/>
          <a:p>
            <a:pPr algn="ctr" indent="0" marL="0">
              <a:buNone/>
            </a:pPr>
            <a:r>
              <a:rPr lang="en-US" sz="1100" dirty="0">
                <a:solidFill>
                  <a:srgbClr val="56657E"/>
                </a:solidFill>
                <a:latin typeface="Calibri" pitchFamily="34" charset="0"/>
                <a:ea typeface="Calibri" pitchFamily="34" charset="-122"/>
                <a:cs typeface="Calibri" pitchFamily="34" charset="-120"/>
              </a:rPr>
              <a:t>every</a:t>
            </a:r>
            <a:endParaRPr lang="en-US" sz="1100" dirty="0"/>
          </a:p>
        </p:txBody>
      </p:sp>
      <p:sp>
        <p:nvSpPr>
          <p:cNvPr id="20" name="Shape 17"/>
          <p:cNvSpPr/>
          <p:nvPr/>
        </p:nvSpPr>
        <p:spPr>
          <a:xfrm>
            <a:off x="2834640" y="1600200"/>
            <a:ext cx="1051560" cy="1325880"/>
          </a:xfrm>
          <a:prstGeom prst="roundRect">
            <a:avLst>
              <a:gd name="adj" fmla="val 8696"/>
            </a:avLst>
          </a:prstGeom>
          <a:solidFill>
            <a:srgbClr val="F1F5FB"/>
          </a:solidFill>
          <a:ln/>
        </p:spPr>
      </p:sp>
      <p:sp>
        <p:nvSpPr>
          <p:cNvPr id="21" name="Text 18"/>
          <p:cNvSpPr txBox="1"/>
          <p:nvPr/>
        </p:nvSpPr>
        <p:spPr>
          <a:xfrm>
            <a:off x="2834640" y="1691640"/>
            <a:ext cx="1051560" cy="457200"/>
          </a:xfrm>
          <a:prstGeom prst="rect">
            <a:avLst/>
          </a:prstGeom>
          <a:noFill/>
          <a:ln/>
        </p:spPr>
        <p:txBody>
          <a:bodyPr wrap="square" lIns="0" tIns="0" rIns="0" bIns="0" rtlCol="0" anchor="t"/>
          <a:lstStyle/>
          <a:p>
            <a:pPr algn="ctr" indent="0" marL="0">
              <a:buNone/>
            </a:pPr>
            <a:r>
              <a:rPr lang="en-US" sz="2000" b="1" dirty="0">
                <a:solidFill>
                  <a:srgbClr val="5B6EE1"/>
                </a:solidFill>
                <a:latin typeface="Courier New" pitchFamily="34" charset="0"/>
                <a:ea typeface="Courier New" pitchFamily="34" charset="-122"/>
                <a:cs typeface="Courier New" pitchFamily="34" charset="-120"/>
              </a:rPr>
              <a:t>*</a:t>
            </a:r>
            <a:endParaRPr lang="en-US" sz="2000" dirty="0"/>
          </a:p>
        </p:txBody>
      </p:sp>
      <p:sp>
        <p:nvSpPr>
          <p:cNvPr id="22" name="Text 19"/>
          <p:cNvSpPr txBox="1"/>
          <p:nvPr/>
        </p:nvSpPr>
        <p:spPr>
          <a:xfrm>
            <a:off x="2834640" y="2194560"/>
            <a:ext cx="1051560" cy="320040"/>
          </a:xfrm>
          <a:prstGeom prst="rect">
            <a:avLst/>
          </a:prstGeom>
          <a:noFill/>
          <a:ln/>
        </p:spPr>
        <p:txBody>
          <a:bodyPr wrap="square" lIns="0" tIns="0" rIns="0" bIns="0" rtlCol="0" anchor="t"/>
          <a:lstStyle/>
          <a:p>
            <a:pPr algn="ctr" indent="0" marL="0">
              <a:buNone/>
            </a:pPr>
            <a:r>
              <a:rPr lang="en-US" sz="1200" b="1" dirty="0">
                <a:solidFill>
                  <a:srgbClr val="12213A"/>
                </a:solidFill>
                <a:latin typeface="Calibri" pitchFamily="34" charset="0"/>
                <a:ea typeface="Calibri" pitchFamily="34" charset="-122"/>
                <a:cs typeface="Calibri" pitchFamily="34" charset="-120"/>
              </a:rPr>
              <a:t>day</a:t>
            </a:r>
            <a:endParaRPr lang="en-US" sz="1200" dirty="0"/>
          </a:p>
        </p:txBody>
      </p:sp>
      <p:sp>
        <p:nvSpPr>
          <p:cNvPr id="23" name="Text 20"/>
          <p:cNvSpPr txBox="1"/>
          <p:nvPr/>
        </p:nvSpPr>
        <p:spPr>
          <a:xfrm>
            <a:off x="2834640" y="2514600"/>
            <a:ext cx="1051560" cy="320040"/>
          </a:xfrm>
          <a:prstGeom prst="rect">
            <a:avLst/>
          </a:prstGeom>
          <a:noFill/>
          <a:ln/>
        </p:spPr>
        <p:txBody>
          <a:bodyPr wrap="square" lIns="0" tIns="0" rIns="0" bIns="0" rtlCol="0" anchor="t"/>
          <a:lstStyle/>
          <a:p>
            <a:pPr algn="ctr" indent="0" marL="0">
              <a:buNone/>
            </a:pPr>
            <a:r>
              <a:rPr lang="en-US" sz="1100" dirty="0">
                <a:solidFill>
                  <a:srgbClr val="56657E"/>
                </a:solidFill>
                <a:latin typeface="Calibri" pitchFamily="34" charset="0"/>
                <a:ea typeface="Calibri" pitchFamily="34" charset="-122"/>
                <a:cs typeface="Calibri" pitchFamily="34" charset="-120"/>
              </a:rPr>
              <a:t>every</a:t>
            </a:r>
            <a:endParaRPr lang="en-US" sz="1100" dirty="0"/>
          </a:p>
        </p:txBody>
      </p:sp>
      <p:sp>
        <p:nvSpPr>
          <p:cNvPr id="24" name="Shape 21"/>
          <p:cNvSpPr/>
          <p:nvPr/>
        </p:nvSpPr>
        <p:spPr>
          <a:xfrm>
            <a:off x="3977640" y="1600200"/>
            <a:ext cx="1051560" cy="1325880"/>
          </a:xfrm>
          <a:prstGeom prst="roundRect">
            <a:avLst>
              <a:gd name="adj" fmla="val 8696"/>
            </a:avLst>
          </a:prstGeom>
          <a:solidFill>
            <a:srgbClr val="F1F5FB"/>
          </a:solidFill>
          <a:ln/>
        </p:spPr>
      </p:sp>
      <p:sp>
        <p:nvSpPr>
          <p:cNvPr id="25" name="Text 22"/>
          <p:cNvSpPr txBox="1"/>
          <p:nvPr/>
        </p:nvSpPr>
        <p:spPr>
          <a:xfrm>
            <a:off x="3977640" y="1691640"/>
            <a:ext cx="1051560" cy="457200"/>
          </a:xfrm>
          <a:prstGeom prst="rect">
            <a:avLst/>
          </a:prstGeom>
          <a:noFill/>
          <a:ln/>
        </p:spPr>
        <p:txBody>
          <a:bodyPr wrap="square" lIns="0" tIns="0" rIns="0" bIns="0" rtlCol="0" anchor="t"/>
          <a:lstStyle/>
          <a:p>
            <a:pPr algn="ctr" indent="0" marL="0">
              <a:buNone/>
            </a:pPr>
            <a:r>
              <a:rPr lang="en-US" sz="2000" b="1" dirty="0">
                <a:solidFill>
                  <a:srgbClr val="5B6EE1"/>
                </a:solidFill>
                <a:latin typeface="Courier New" pitchFamily="34" charset="0"/>
                <a:ea typeface="Courier New" pitchFamily="34" charset="-122"/>
                <a:cs typeface="Courier New" pitchFamily="34" charset="-120"/>
              </a:rPr>
              <a:t>*</a:t>
            </a:r>
            <a:endParaRPr lang="en-US" sz="2000" dirty="0"/>
          </a:p>
        </p:txBody>
      </p:sp>
      <p:sp>
        <p:nvSpPr>
          <p:cNvPr id="26" name="Text 23"/>
          <p:cNvSpPr txBox="1"/>
          <p:nvPr/>
        </p:nvSpPr>
        <p:spPr>
          <a:xfrm>
            <a:off x="3977640" y="2194560"/>
            <a:ext cx="1051560" cy="320040"/>
          </a:xfrm>
          <a:prstGeom prst="rect">
            <a:avLst/>
          </a:prstGeom>
          <a:noFill/>
          <a:ln/>
        </p:spPr>
        <p:txBody>
          <a:bodyPr wrap="square" lIns="0" tIns="0" rIns="0" bIns="0" rtlCol="0" anchor="t"/>
          <a:lstStyle/>
          <a:p>
            <a:pPr algn="ctr" indent="0" marL="0">
              <a:buNone/>
            </a:pPr>
            <a:r>
              <a:rPr lang="en-US" sz="1200" b="1" dirty="0">
                <a:solidFill>
                  <a:srgbClr val="12213A"/>
                </a:solidFill>
                <a:latin typeface="Calibri" pitchFamily="34" charset="0"/>
                <a:ea typeface="Calibri" pitchFamily="34" charset="-122"/>
                <a:cs typeface="Calibri" pitchFamily="34" charset="-120"/>
              </a:rPr>
              <a:t>month</a:t>
            </a:r>
            <a:endParaRPr lang="en-US" sz="1200" dirty="0"/>
          </a:p>
        </p:txBody>
      </p:sp>
      <p:sp>
        <p:nvSpPr>
          <p:cNvPr id="27" name="Text 24"/>
          <p:cNvSpPr txBox="1"/>
          <p:nvPr/>
        </p:nvSpPr>
        <p:spPr>
          <a:xfrm>
            <a:off x="3977640" y="2514600"/>
            <a:ext cx="1051560" cy="320040"/>
          </a:xfrm>
          <a:prstGeom prst="rect">
            <a:avLst/>
          </a:prstGeom>
          <a:noFill/>
          <a:ln/>
        </p:spPr>
        <p:txBody>
          <a:bodyPr wrap="square" lIns="0" tIns="0" rIns="0" bIns="0" rtlCol="0" anchor="t"/>
          <a:lstStyle/>
          <a:p>
            <a:pPr algn="ctr" indent="0" marL="0">
              <a:buNone/>
            </a:pPr>
            <a:r>
              <a:rPr lang="en-US" sz="1100" dirty="0">
                <a:solidFill>
                  <a:srgbClr val="56657E"/>
                </a:solidFill>
                <a:latin typeface="Calibri" pitchFamily="34" charset="0"/>
                <a:ea typeface="Calibri" pitchFamily="34" charset="-122"/>
                <a:cs typeface="Calibri" pitchFamily="34" charset="-120"/>
              </a:rPr>
              <a:t>every</a:t>
            </a:r>
            <a:endParaRPr lang="en-US" sz="1100" dirty="0"/>
          </a:p>
        </p:txBody>
      </p:sp>
      <p:sp>
        <p:nvSpPr>
          <p:cNvPr id="28" name="Shape 25"/>
          <p:cNvSpPr/>
          <p:nvPr/>
        </p:nvSpPr>
        <p:spPr>
          <a:xfrm>
            <a:off x="5120640" y="1600200"/>
            <a:ext cx="1051560" cy="1325880"/>
          </a:xfrm>
          <a:prstGeom prst="roundRect">
            <a:avLst>
              <a:gd name="adj" fmla="val 8696"/>
            </a:avLst>
          </a:prstGeom>
          <a:solidFill>
            <a:srgbClr val="F1F5FB"/>
          </a:solidFill>
          <a:ln/>
        </p:spPr>
      </p:sp>
      <p:sp>
        <p:nvSpPr>
          <p:cNvPr id="29" name="Text 26"/>
          <p:cNvSpPr txBox="1"/>
          <p:nvPr/>
        </p:nvSpPr>
        <p:spPr>
          <a:xfrm>
            <a:off x="5120640" y="1691640"/>
            <a:ext cx="1051560" cy="457200"/>
          </a:xfrm>
          <a:prstGeom prst="rect">
            <a:avLst/>
          </a:prstGeom>
          <a:noFill/>
          <a:ln/>
        </p:spPr>
        <p:txBody>
          <a:bodyPr wrap="square" lIns="0" tIns="0" rIns="0" bIns="0" rtlCol="0" anchor="t"/>
          <a:lstStyle/>
          <a:p>
            <a:pPr algn="ctr" indent="0" marL="0">
              <a:buNone/>
            </a:pPr>
            <a:r>
              <a:rPr lang="en-US" sz="2000" b="1" dirty="0">
                <a:solidFill>
                  <a:srgbClr val="5B6EE1"/>
                </a:solidFill>
                <a:latin typeface="Courier New" pitchFamily="34" charset="0"/>
                <a:ea typeface="Courier New" pitchFamily="34" charset="-122"/>
                <a:cs typeface="Courier New" pitchFamily="34" charset="-120"/>
              </a:rPr>
              <a:t>*</a:t>
            </a:r>
            <a:endParaRPr lang="en-US" sz="2000" dirty="0"/>
          </a:p>
        </p:txBody>
      </p:sp>
      <p:sp>
        <p:nvSpPr>
          <p:cNvPr id="30" name="Text 27"/>
          <p:cNvSpPr txBox="1"/>
          <p:nvPr/>
        </p:nvSpPr>
        <p:spPr>
          <a:xfrm>
            <a:off x="5120640" y="2194560"/>
            <a:ext cx="1051560" cy="320040"/>
          </a:xfrm>
          <a:prstGeom prst="rect">
            <a:avLst/>
          </a:prstGeom>
          <a:noFill/>
          <a:ln/>
        </p:spPr>
        <p:txBody>
          <a:bodyPr wrap="square" lIns="0" tIns="0" rIns="0" bIns="0" rtlCol="0" anchor="t"/>
          <a:lstStyle/>
          <a:p>
            <a:pPr algn="ctr" indent="0" marL="0">
              <a:buNone/>
            </a:pPr>
            <a:r>
              <a:rPr lang="en-US" sz="1200" b="1" dirty="0">
                <a:solidFill>
                  <a:srgbClr val="12213A"/>
                </a:solidFill>
                <a:latin typeface="Calibri" pitchFamily="34" charset="0"/>
                <a:ea typeface="Calibri" pitchFamily="34" charset="-122"/>
                <a:cs typeface="Calibri" pitchFamily="34" charset="-120"/>
              </a:rPr>
              <a:t>weekday</a:t>
            </a:r>
            <a:endParaRPr lang="en-US" sz="1200" dirty="0"/>
          </a:p>
        </p:txBody>
      </p:sp>
      <p:sp>
        <p:nvSpPr>
          <p:cNvPr id="31" name="Text 28"/>
          <p:cNvSpPr txBox="1"/>
          <p:nvPr/>
        </p:nvSpPr>
        <p:spPr>
          <a:xfrm>
            <a:off x="5120640" y="2514600"/>
            <a:ext cx="1051560" cy="320040"/>
          </a:xfrm>
          <a:prstGeom prst="rect">
            <a:avLst/>
          </a:prstGeom>
          <a:noFill/>
          <a:ln/>
        </p:spPr>
        <p:txBody>
          <a:bodyPr wrap="square" lIns="0" tIns="0" rIns="0" bIns="0" rtlCol="0" anchor="t"/>
          <a:lstStyle/>
          <a:p>
            <a:pPr algn="ctr" indent="0" marL="0">
              <a:buNone/>
            </a:pPr>
            <a:r>
              <a:rPr lang="en-US" sz="1100" dirty="0">
                <a:solidFill>
                  <a:srgbClr val="56657E"/>
                </a:solidFill>
                <a:latin typeface="Calibri" pitchFamily="34" charset="0"/>
                <a:ea typeface="Calibri" pitchFamily="34" charset="-122"/>
                <a:cs typeface="Calibri" pitchFamily="34" charset="-120"/>
              </a:rPr>
              <a:t>every</a:t>
            </a:r>
            <a:endParaRPr lang="en-US" sz="1100" dirty="0"/>
          </a:p>
        </p:txBody>
      </p:sp>
      <p:sp>
        <p:nvSpPr>
          <p:cNvPr id="32" name="Shape 29"/>
          <p:cNvSpPr/>
          <p:nvPr/>
        </p:nvSpPr>
        <p:spPr>
          <a:xfrm>
            <a:off x="548640" y="3063240"/>
            <a:ext cx="5669280" cy="548640"/>
          </a:xfrm>
          <a:prstGeom prst="roundRect">
            <a:avLst>
              <a:gd name="adj" fmla="val 13333"/>
            </a:avLst>
          </a:prstGeom>
          <a:solidFill>
            <a:srgbClr val="0E1726"/>
          </a:solidFill>
          <a:ln/>
        </p:spPr>
      </p:sp>
      <p:sp>
        <p:nvSpPr>
          <p:cNvPr id="33" name="Text 30"/>
          <p:cNvSpPr txBox="1"/>
          <p:nvPr/>
        </p:nvSpPr>
        <p:spPr>
          <a:xfrm>
            <a:off x="731520" y="3063240"/>
            <a:ext cx="5394960" cy="548640"/>
          </a:xfrm>
          <a:prstGeom prst="rect">
            <a:avLst/>
          </a:prstGeom>
          <a:noFill/>
          <a:ln/>
        </p:spPr>
        <p:txBody>
          <a:bodyPr wrap="square" lIns="0" tIns="0" rIns="0" bIns="0" rtlCol="0" anchor="ctr"/>
          <a:lstStyle/>
          <a:p>
            <a:pPr indent="0" marL="0">
              <a:buNone/>
            </a:pPr>
            <a:r>
              <a:rPr lang="en-US" sz="1300" b="1" dirty="0">
                <a:solidFill>
                  <a:srgbClr val="F5A623"/>
                </a:solidFill>
                <a:latin typeface="Courier New" pitchFamily="34" charset="0"/>
                <a:ea typeface="Courier New" pitchFamily="34" charset="-122"/>
                <a:cs typeface="Courier New" pitchFamily="34" charset="-120"/>
              </a:rPr>
              <a:t>/home/player/.../.cache/.sys-update.sh</a:t>
            </a:r>
            <a:endParaRPr lang="en-US" sz="1300" dirty="0"/>
          </a:p>
        </p:txBody>
      </p:sp>
      <p:sp>
        <p:nvSpPr>
          <p:cNvPr id="34" name="Text 31"/>
          <p:cNvSpPr txBox="1"/>
          <p:nvPr/>
        </p:nvSpPr>
        <p:spPr>
          <a:xfrm>
            <a:off x="548640" y="3657600"/>
            <a:ext cx="566928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...then the command it runs. A hidden folder? Suspicious.</a:t>
            </a:r>
            <a:endParaRPr lang="en-US" sz="1300" dirty="0"/>
          </a:p>
        </p:txBody>
      </p:sp>
      <p:sp>
        <p:nvSpPr>
          <p:cNvPr id="35" name="Shape 32"/>
          <p:cNvSpPr/>
          <p:nvPr/>
        </p:nvSpPr>
        <p:spPr>
          <a:xfrm>
            <a:off x="548640" y="4206240"/>
            <a:ext cx="2377440" cy="457200"/>
          </a:xfrm>
          <a:prstGeom prst="roundRect">
            <a:avLst>
              <a:gd name="adj" fmla="val 16000"/>
            </a:avLst>
          </a:prstGeom>
          <a:solidFill>
            <a:srgbClr val="0E1726"/>
          </a:solidFill>
          <a:ln/>
        </p:spPr>
      </p:sp>
      <p:sp>
        <p:nvSpPr>
          <p:cNvPr id="36" name="Text 33"/>
          <p:cNvSpPr txBox="1"/>
          <p:nvPr/>
        </p:nvSpPr>
        <p:spPr>
          <a:xfrm>
            <a:off x="548640" y="420624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cat cron/*</a:t>
            </a:r>
            <a:endParaRPr lang="en-US" sz="1500" dirty="0"/>
          </a:p>
        </p:txBody>
      </p:sp>
      <p:sp>
        <p:nvSpPr>
          <p:cNvPr id="37" name="Text 34"/>
          <p:cNvSpPr txBox="1"/>
          <p:nvPr/>
        </p:nvSpPr>
        <p:spPr>
          <a:xfrm>
            <a:off x="3154680" y="420624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read every crontab</a:t>
            </a:r>
            <a:endParaRPr lang="en-US" sz="1700" dirty="0"/>
          </a:p>
        </p:txBody>
      </p:sp>
      <p:sp>
        <p:nvSpPr>
          <p:cNvPr id="38" name="Shape 35"/>
          <p:cNvSpPr/>
          <p:nvPr/>
        </p:nvSpPr>
        <p:spPr>
          <a:xfrm>
            <a:off x="548640" y="4800600"/>
            <a:ext cx="2377440" cy="457200"/>
          </a:xfrm>
          <a:prstGeom prst="roundRect">
            <a:avLst>
              <a:gd name="adj" fmla="val 16000"/>
            </a:avLst>
          </a:prstGeom>
          <a:solidFill>
            <a:srgbClr val="0E1726"/>
          </a:solidFill>
          <a:ln/>
        </p:spPr>
      </p:sp>
      <p:sp>
        <p:nvSpPr>
          <p:cNvPr id="39" name="Text 36"/>
          <p:cNvSpPr txBox="1"/>
          <p:nvPr/>
        </p:nvSpPr>
        <p:spPr>
          <a:xfrm>
            <a:off x="548640" y="480060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-a DIR</a:t>
            </a:r>
            <a:endParaRPr lang="en-US" sz="1500" dirty="0"/>
          </a:p>
        </p:txBody>
      </p:sp>
      <p:sp>
        <p:nvSpPr>
          <p:cNvPr id="40" name="Text 37"/>
          <p:cNvSpPr txBox="1"/>
          <p:nvPr/>
        </p:nvSpPr>
        <p:spPr>
          <a:xfrm>
            <a:off x="3154680" y="480060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show hidden (dot) files</a:t>
            </a:r>
            <a:endParaRPr lang="en-US" sz="1700" dirty="0"/>
          </a:p>
        </p:txBody>
      </p:sp>
      <p:sp>
        <p:nvSpPr>
          <p:cNvPr id="41" name="Shape 38"/>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42" name="Shape 39"/>
          <p:cNvSpPr/>
          <p:nvPr/>
        </p:nvSpPr>
        <p:spPr>
          <a:xfrm>
            <a:off x="6784848" y="1618488"/>
            <a:ext cx="118872" cy="118872"/>
          </a:xfrm>
          <a:prstGeom prst="ellipse">
            <a:avLst/>
          </a:prstGeom>
          <a:solidFill>
            <a:srgbClr val="E5534B"/>
          </a:solidFill>
          <a:ln/>
        </p:spPr>
      </p:sp>
      <p:sp>
        <p:nvSpPr>
          <p:cNvPr id="43" name="Shape 40"/>
          <p:cNvSpPr/>
          <p:nvPr/>
        </p:nvSpPr>
        <p:spPr>
          <a:xfrm>
            <a:off x="6986016" y="1618488"/>
            <a:ext cx="118872" cy="118872"/>
          </a:xfrm>
          <a:prstGeom prst="ellipse">
            <a:avLst/>
          </a:prstGeom>
          <a:solidFill>
            <a:srgbClr val="F5A623"/>
          </a:solidFill>
          <a:ln/>
        </p:spPr>
      </p:sp>
      <p:sp>
        <p:nvSpPr>
          <p:cNvPr id="44" name="Shape 41"/>
          <p:cNvSpPr/>
          <p:nvPr/>
        </p:nvSpPr>
        <p:spPr>
          <a:xfrm>
            <a:off x="7187184" y="1618488"/>
            <a:ext cx="118872" cy="118872"/>
          </a:xfrm>
          <a:prstGeom prst="ellipse">
            <a:avLst/>
          </a:prstGeom>
          <a:solidFill>
            <a:srgbClr val="46D39A"/>
          </a:solidFill>
          <a:ln/>
        </p:spPr>
      </p:sp>
      <p:sp>
        <p:nvSpPr>
          <p:cNvPr id="45" name="Text 42"/>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46" name="Text 43"/>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cat cron/*</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0 2 * * * /usr/local/bin/backup.sh</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30 3 * * 0 /usr/sbin/logrotate</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*/10 * * * * .../.sys-update.sh</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15 12 * * * /home/noah/bin/sync</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which line doesn't belong?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Reading a packet capture</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48690a | xxd -r -p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20</a:t>
            </a:r>
            <a:endParaRPr lang="en-US" sz="1000" dirty="0"/>
          </a:p>
        </p:txBody>
      </p:sp>
      <p:sp>
        <p:nvSpPr>
          <p:cNvPr id="10" name="Shape 7"/>
          <p:cNvSpPr/>
          <p:nvPr/>
        </p:nvSpPr>
        <p:spPr>
          <a:xfrm>
            <a:off x="548640" y="109728"/>
            <a:ext cx="1357884" cy="274320"/>
          </a:xfrm>
          <a:prstGeom prst="roundRect">
            <a:avLst>
              <a:gd name="adj" fmla="val 50000"/>
            </a:avLst>
          </a:prstGeom>
          <a:solidFill>
            <a:srgbClr val="5B6EE1"/>
          </a:solidFill>
          <a:ln/>
        </p:spPr>
      </p:sp>
      <p:sp>
        <p:nvSpPr>
          <p:cNvPr id="11" name="Text 8"/>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9</a:t>
            </a:r>
            <a:endParaRPr lang="en-US" sz="1100" dirty="0"/>
          </a:p>
        </p:txBody>
      </p:sp>
      <p:sp>
        <p:nvSpPr>
          <p:cNvPr id="12" name="Shape 9"/>
          <p:cNvSpPr/>
          <p:nvPr/>
        </p:nvSpPr>
        <p:spPr>
          <a:xfrm>
            <a:off x="548640" y="1508760"/>
            <a:ext cx="11094415" cy="1143000"/>
          </a:xfrm>
          <a:prstGeom prst="roundRect">
            <a:avLst>
              <a:gd name="adj" fmla="val 8000"/>
            </a:avLst>
          </a:prstGeom>
          <a:solidFill>
            <a:srgbClr val="0E1726"/>
          </a:solidFill>
          <a:ln/>
          <a:effectLst>
            <a:outerShdw sx="100000" sy="100000" kx="0" ky="0" algn="bl" rotWithShape="0" blurRad="127000" dist="38100" dir="5400000">
              <a:srgbClr val="12213A">
                <a:alpha val="22000"/>
              </a:srgbClr>
            </a:outerShdw>
          </a:effectLst>
        </p:spPr>
      </p:sp>
      <p:sp>
        <p:nvSpPr>
          <p:cNvPr id="13" name="Shape 10"/>
          <p:cNvSpPr/>
          <p:nvPr/>
        </p:nvSpPr>
        <p:spPr>
          <a:xfrm>
            <a:off x="749808" y="1664208"/>
            <a:ext cx="118872" cy="118872"/>
          </a:xfrm>
          <a:prstGeom prst="ellipse">
            <a:avLst/>
          </a:prstGeom>
          <a:solidFill>
            <a:srgbClr val="E5534B"/>
          </a:solidFill>
          <a:ln/>
        </p:spPr>
      </p:sp>
      <p:sp>
        <p:nvSpPr>
          <p:cNvPr id="14" name="Shape 11"/>
          <p:cNvSpPr/>
          <p:nvPr/>
        </p:nvSpPr>
        <p:spPr>
          <a:xfrm>
            <a:off x="950976" y="1664208"/>
            <a:ext cx="118872" cy="118872"/>
          </a:xfrm>
          <a:prstGeom prst="ellipse">
            <a:avLst/>
          </a:prstGeom>
          <a:solidFill>
            <a:srgbClr val="F5A623"/>
          </a:solidFill>
          <a:ln/>
        </p:spPr>
      </p:sp>
      <p:sp>
        <p:nvSpPr>
          <p:cNvPr id="15" name="Shape 12"/>
          <p:cNvSpPr/>
          <p:nvPr/>
        </p:nvSpPr>
        <p:spPr>
          <a:xfrm>
            <a:off x="1152144" y="1664208"/>
            <a:ext cx="118872" cy="118872"/>
          </a:xfrm>
          <a:prstGeom prst="ellipse">
            <a:avLst/>
          </a:prstGeom>
          <a:solidFill>
            <a:srgbClr val="46D39A"/>
          </a:solidFill>
          <a:ln/>
        </p:spPr>
      </p:sp>
      <p:sp>
        <p:nvSpPr>
          <p:cNvPr id="16" name="Text 13"/>
          <p:cNvSpPr txBox="1"/>
          <p:nvPr/>
        </p:nvSpPr>
        <p:spPr>
          <a:xfrm>
            <a:off x="1463040" y="1581912"/>
            <a:ext cx="9265615"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capture.txt (Wireshark list view)</a:t>
            </a:r>
            <a:endParaRPr lang="en-US" sz="1000" dirty="0"/>
          </a:p>
        </p:txBody>
      </p:sp>
      <p:sp>
        <p:nvSpPr>
          <p:cNvPr id="17" name="Text 14"/>
          <p:cNvSpPr txBox="1"/>
          <p:nvPr/>
        </p:nvSpPr>
        <p:spPr>
          <a:xfrm>
            <a:off x="822960" y="1965960"/>
            <a:ext cx="10545775" cy="548640"/>
          </a:xfrm>
          <a:prstGeom prst="rect">
            <a:avLst/>
          </a:prstGeom>
          <a:noFill/>
          <a:ln/>
        </p:spPr>
        <p:txBody>
          <a:bodyPr wrap="square" lIns="0" tIns="0" rIns="0" bIns="0" rtlCol="0" anchor="t"/>
          <a:lstStyle/>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   91 221.089240 203.0.113.66  192.0.2.80  HTTP  412 GET /pixel.gif?seq=03&amp;d=6c65642e HTTP/1.1</a:t>
            </a:r>
            <a:endParaRPr lang="en-US" sz="1300" dirty="0"/>
          </a:p>
          <a:p>
            <a:pPr indent="0" marL="0">
              <a:spcAft>
                <a:spcPts val="200"/>
              </a:spcAft>
              <a:buNone/>
            </a:pPr>
            <a:r>
              <a:rPr lang="en-US" sz="1300" dirty="0">
                <a:solidFill>
                  <a:srgbClr val="7F8FAD"/>
                </a:solidFill>
                <a:latin typeface="Courier New" pitchFamily="34" charset="0"/>
                <a:ea typeface="Courier New" pitchFamily="34" charset="-122"/>
                <a:cs typeface="Courier New" pitchFamily="34" charset="-120"/>
              </a:rPr>
              <a:t>#  No.  time      source        destination protocol  info: the request and its ?parameters</a:t>
            </a:r>
            <a:endParaRPr lang="en-US" sz="1300" dirty="0"/>
          </a:p>
        </p:txBody>
      </p:sp>
      <p:sp>
        <p:nvSpPr>
          <p:cNvPr id="18" name="Shape 15"/>
          <p:cNvSpPr/>
          <p:nvPr/>
        </p:nvSpPr>
        <p:spPr>
          <a:xfrm>
            <a:off x="548640" y="2880360"/>
            <a:ext cx="3566160" cy="1325880"/>
          </a:xfrm>
          <a:prstGeom prst="roundRect">
            <a:avLst>
              <a:gd name="adj" fmla="val 6897"/>
            </a:avLst>
          </a:prstGeom>
          <a:solidFill>
            <a:srgbClr val="F1F5FB"/>
          </a:solidFill>
          <a:ln/>
        </p:spPr>
      </p:sp>
      <p:sp>
        <p:nvSpPr>
          <p:cNvPr id="19" name="Shape 16"/>
          <p:cNvSpPr/>
          <p:nvPr/>
        </p:nvSpPr>
        <p:spPr>
          <a:xfrm>
            <a:off x="731520" y="3063240"/>
            <a:ext cx="411480" cy="411480"/>
          </a:xfrm>
          <a:prstGeom prst="ellipse">
            <a:avLst/>
          </a:prstGeom>
          <a:solidFill>
            <a:srgbClr val="2459D8"/>
          </a:solidFill>
          <a:ln/>
        </p:spPr>
      </p:sp>
      <p:sp>
        <p:nvSpPr>
          <p:cNvPr id="20" name="Text 17"/>
          <p:cNvSpPr txBox="1"/>
          <p:nvPr/>
        </p:nvSpPr>
        <p:spPr>
          <a:xfrm>
            <a:off x="731520" y="3063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1" name="Text 18"/>
          <p:cNvSpPr txBox="1"/>
          <p:nvPr/>
        </p:nvSpPr>
        <p:spPr>
          <a:xfrm>
            <a:off x="1325880" y="3017520"/>
            <a:ext cx="2697480" cy="45720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grep seq=</a:t>
            </a:r>
            <a:endParaRPr lang="en-US" sz="1500" dirty="0"/>
          </a:p>
        </p:txBody>
      </p:sp>
      <p:sp>
        <p:nvSpPr>
          <p:cNvPr id="22" name="Text 19"/>
          <p:cNvSpPr txBox="1"/>
          <p:nvPr/>
        </p:nvSpPr>
        <p:spPr>
          <a:xfrm>
            <a:off x="1325880" y="3520440"/>
            <a:ext cx="2697480" cy="45720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that host's packets</a:t>
            </a:r>
            <a:endParaRPr lang="en-US" sz="1400" dirty="0"/>
          </a:p>
        </p:txBody>
      </p:sp>
      <p:sp>
        <p:nvSpPr>
          <p:cNvPr id="23" name="Shape 20"/>
          <p:cNvSpPr/>
          <p:nvPr/>
        </p:nvSpPr>
        <p:spPr>
          <a:xfrm>
            <a:off x="4306824" y="2880360"/>
            <a:ext cx="3566160" cy="1325880"/>
          </a:xfrm>
          <a:prstGeom prst="roundRect">
            <a:avLst>
              <a:gd name="adj" fmla="val 6897"/>
            </a:avLst>
          </a:prstGeom>
          <a:solidFill>
            <a:srgbClr val="F1F5FB"/>
          </a:solidFill>
          <a:ln/>
        </p:spPr>
      </p:sp>
      <p:sp>
        <p:nvSpPr>
          <p:cNvPr id="24" name="Shape 21"/>
          <p:cNvSpPr/>
          <p:nvPr/>
        </p:nvSpPr>
        <p:spPr>
          <a:xfrm>
            <a:off x="4489704" y="3063240"/>
            <a:ext cx="411480" cy="411480"/>
          </a:xfrm>
          <a:prstGeom prst="ellipse">
            <a:avLst/>
          </a:prstGeom>
          <a:solidFill>
            <a:srgbClr val="7448D4"/>
          </a:solidFill>
          <a:ln/>
        </p:spPr>
      </p:sp>
      <p:sp>
        <p:nvSpPr>
          <p:cNvPr id="25" name="Text 22"/>
          <p:cNvSpPr txBox="1"/>
          <p:nvPr/>
        </p:nvSpPr>
        <p:spPr>
          <a:xfrm>
            <a:off x="4489704" y="3063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6" name="Text 23"/>
          <p:cNvSpPr txBox="1"/>
          <p:nvPr/>
        </p:nvSpPr>
        <p:spPr>
          <a:xfrm>
            <a:off x="5084064" y="3017520"/>
            <a:ext cx="2697480" cy="45720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cut ... -f2</a:t>
            </a:r>
            <a:endParaRPr lang="en-US" sz="1500" dirty="0"/>
          </a:p>
        </p:txBody>
      </p:sp>
      <p:sp>
        <p:nvSpPr>
          <p:cNvPr id="27" name="Text 24"/>
          <p:cNvSpPr txBox="1"/>
          <p:nvPr/>
        </p:nvSpPr>
        <p:spPr>
          <a:xfrm>
            <a:off x="5084064" y="3520440"/>
            <a:ext cx="2697480" cy="45720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keep the ? part</a:t>
            </a:r>
            <a:endParaRPr lang="en-US" sz="1400" dirty="0"/>
          </a:p>
        </p:txBody>
      </p:sp>
      <p:sp>
        <p:nvSpPr>
          <p:cNvPr id="28" name="Shape 25"/>
          <p:cNvSpPr/>
          <p:nvPr/>
        </p:nvSpPr>
        <p:spPr>
          <a:xfrm>
            <a:off x="8065008" y="2880360"/>
            <a:ext cx="3566160" cy="1325880"/>
          </a:xfrm>
          <a:prstGeom prst="roundRect">
            <a:avLst>
              <a:gd name="adj" fmla="val 6897"/>
            </a:avLst>
          </a:prstGeom>
          <a:solidFill>
            <a:srgbClr val="F1F5FB"/>
          </a:solidFill>
          <a:ln/>
        </p:spPr>
      </p:sp>
      <p:sp>
        <p:nvSpPr>
          <p:cNvPr id="29" name="Shape 26"/>
          <p:cNvSpPr/>
          <p:nvPr/>
        </p:nvSpPr>
        <p:spPr>
          <a:xfrm>
            <a:off x="8247888" y="3063240"/>
            <a:ext cx="411480" cy="411480"/>
          </a:xfrm>
          <a:prstGeom prst="ellipse">
            <a:avLst/>
          </a:prstGeom>
          <a:solidFill>
            <a:srgbClr val="D1416B"/>
          </a:solidFill>
          <a:ln/>
        </p:spPr>
      </p:sp>
      <p:sp>
        <p:nvSpPr>
          <p:cNvPr id="30" name="Text 27"/>
          <p:cNvSpPr txBox="1"/>
          <p:nvPr/>
        </p:nvSpPr>
        <p:spPr>
          <a:xfrm>
            <a:off x="8247888" y="3063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1" name="Text 28"/>
          <p:cNvSpPr txBox="1"/>
          <p:nvPr/>
        </p:nvSpPr>
        <p:spPr>
          <a:xfrm>
            <a:off x="8842248" y="3017520"/>
            <a:ext cx="2697480" cy="45720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sort</a:t>
            </a:r>
            <a:endParaRPr lang="en-US" sz="1500" dirty="0"/>
          </a:p>
        </p:txBody>
      </p:sp>
      <p:sp>
        <p:nvSpPr>
          <p:cNvPr id="32" name="Text 29"/>
          <p:cNvSpPr txBox="1"/>
          <p:nvPr/>
        </p:nvSpPr>
        <p:spPr>
          <a:xfrm>
            <a:off x="8842248" y="3520440"/>
            <a:ext cx="2697480" cy="45720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pieces in order</a:t>
            </a:r>
            <a:endParaRPr lang="en-US" sz="1400" dirty="0"/>
          </a:p>
        </p:txBody>
      </p:sp>
      <p:sp>
        <p:nvSpPr>
          <p:cNvPr id="33" name="Shape 30"/>
          <p:cNvSpPr/>
          <p:nvPr/>
        </p:nvSpPr>
        <p:spPr>
          <a:xfrm>
            <a:off x="548640" y="4389120"/>
            <a:ext cx="3566160" cy="1325880"/>
          </a:xfrm>
          <a:prstGeom prst="roundRect">
            <a:avLst>
              <a:gd name="adj" fmla="val 6897"/>
            </a:avLst>
          </a:prstGeom>
          <a:solidFill>
            <a:srgbClr val="F1F5FB"/>
          </a:solidFill>
          <a:ln/>
        </p:spPr>
      </p:sp>
      <p:sp>
        <p:nvSpPr>
          <p:cNvPr id="34" name="Shape 31"/>
          <p:cNvSpPr/>
          <p:nvPr/>
        </p:nvSpPr>
        <p:spPr>
          <a:xfrm>
            <a:off x="731520" y="4572000"/>
            <a:ext cx="411480" cy="411480"/>
          </a:xfrm>
          <a:prstGeom prst="ellipse">
            <a:avLst/>
          </a:prstGeom>
          <a:solidFill>
            <a:srgbClr val="E8820C"/>
          </a:solidFill>
          <a:ln/>
        </p:spPr>
      </p:sp>
      <p:sp>
        <p:nvSpPr>
          <p:cNvPr id="35" name="Text 32"/>
          <p:cNvSpPr txBox="1"/>
          <p:nvPr/>
        </p:nvSpPr>
        <p:spPr>
          <a:xfrm>
            <a:off x="731520" y="4572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6" name="Text 33"/>
          <p:cNvSpPr txBox="1"/>
          <p:nvPr/>
        </p:nvSpPr>
        <p:spPr>
          <a:xfrm>
            <a:off x="1325880" y="4526280"/>
            <a:ext cx="2697480" cy="45720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cut -d'=' -f3</a:t>
            </a:r>
            <a:endParaRPr lang="en-US" sz="1500" dirty="0"/>
          </a:p>
        </p:txBody>
      </p:sp>
      <p:sp>
        <p:nvSpPr>
          <p:cNvPr id="37" name="Text 34"/>
          <p:cNvSpPr txBox="1"/>
          <p:nvPr/>
        </p:nvSpPr>
        <p:spPr>
          <a:xfrm>
            <a:off x="1325880" y="5029200"/>
            <a:ext cx="2697480" cy="45720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just the hex</a:t>
            </a:r>
            <a:endParaRPr lang="en-US" sz="1400" dirty="0"/>
          </a:p>
        </p:txBody>
      </p:sp>
      <p:sp>
        <p:nvSpPr>
          <p:cNvPr id="38" name="Shape 35"/>
          <p:cNvSpPr/>
          <p:nvPr/>
        </p:nvSpPr>
        <p:spPr>
          <a:xfrm>
            <a:off x="4306824" y="4389120"/>
            <a:ext cx="3566160" cy="1325880"/>
          </a:xfrm>
          <a:prstGeom prst="roundRect">
            <a:avLst>
              <a:gd name="adj" fmla="val 6897"/>
            </a:avLst>
          </a:prstGeom>
          <a:solidFill>
            <a:srgbClr val="F1F5FB"/>
          </a:solidFill>
          <a:ln/>
        </p:spPr>
      </p:sp>
      <p:sp>
        <p:nvSpPr>
          <p:cNvPr id="39" name="Shape 36"/>
          <p:cNvSpPr/>
          <p:nvPr/>
        </p:nvSpPr>
        <p:spPr>
          <a:xfrm>
            <a:off x="4489704" y="4572000"/>
            <a:ext cx="411480" cy="411480"/>
          </a:xfrm>
          <a:prstGeom prst="ellipse">
            <a:avLst/>
          </a:prstGeom>
          <a:solidFill>
            <a:srgbClr val="C9A227"/>
          </a:solidFill>
          <a:ln/>
        </p:spPr>
      </p:sp>
      <p:sp>
        <p:nvSpPr>
          <p:cNvPr id="40" name="Text 37"/>
          <p:cNvSpPr txBox="1"/>
          <p:nvPr/>
        </p:nvSpPr>
        <p:spPr>
          <a:xfrm>
            <a:off x="4489704" y="4572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41" name="Text 38"/>
          <p:cNvSpPr txBox="1"/>
          <p:nvPr/>
        </p:nvSpPr>
        <p:spPr>
          <a:xfrm>
            <a:off x="5084064" y="4526280"/>
            <a:ext cx="2697480" cy="45720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tr -d '\n'</a:t>
            </a:r>
            <a:endParaRPr lang="en-US" sz="1500" dirty="0"/>
          </a:p>
        </p:txBody>
      </p:sp>
      <p:sp>
        <p:nvSpPr>
          <p:cNvPr id="42" name="Text 39"/>
          <p:cNvSpPr txBox="1"/>
          <p:nvPr/>
        </p:nvSpPr>
        <p:spPr>
          <a:xfrm>
            <a:off x="5084064" y="5029200"/>
            <a:ext cx="2697480" cy="45720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join the lines</a:t>
            </a:r>
            <a:endParaRPr lang="en-US" sz="1400" dirty="0"/>
          </a:p>
        </p:txBody>
      </p:sp>
      <p:sp>
        <p:nvSpPr>
          <p:cNvPr id="43" name="Shape 40"/>
          <p:cNvSpPr/>
          <p:nvPr/>
        </p:nvSpPr>
        <p:spPr>
          <a:xfrm>
            <a:off x="8065008" y="4389120"/>
            <a:ext cx="3566160" cy="1325880"/>
          </a:xfrm>
          <a:prstGeom prst="roundRect">
            <a:avLst>
              <a:gd name="adj" fmla="val 6897"/>
            </a:avLst>
          </a:prstGeom>
          <a:solidFill>
            <a:srgbClr val="F1F5FB"/>
          </a:solidFill>
          <a:ln/>
        </p:spPr>
      </p:sp>
      <p:sp>
        <p:nvSpPr>
          <p:cNvPr id="44" name="Shape 41"/>
          <p:cNvSpPr/>
          <p:nvPr/>
        </p:nvSpPr>
        <p:spPr>
          <a:xfrm>
            <a:off x="8247888" y="4572000"/>
            <a:ext cx="411480" cy="411480"/>
          </a:xfrm>
          <a:prstGeom prst="ellipse">
            <a:avLst/>
          </a:prstGeom>
          <a:solidFill>
            <a:srgbClr val="0F9488"/>
          </a:solidFill>
          <a:ln/>
        </p:spPr>
      </p:sp>
      <p:sp>
        <p:nvSpPr>
          <p:cNvPr id="45" name="Text 42"/>
          <p:cNvSpPr txBox="1"/>
          <p:nvPr/>
        </p:nvSpPr>
        <p:spPr>
          <a:xfrm>
            <a:off x="8247888" y="4572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6" name="Text 43"/>
          <p:cNvSpPr txBox="1"/>
          <p:nvPr/>
        </p:nvSpPr>
        <p:spPr>
          <a:xfrm>
            <a:off x="8842248" y="4526280"/>
            <a:ext cx="2697480" cy="45720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xxd -r -p</a:t>
            </a:r>
            <a:endParaRPr lang="en-US" sz="1500" dirty="0"/>
          </a:p>
        </p:txBody>
      </p:sp>
      <p:sp>
        <p:nvSpPr>
          <p:cNvPr id="47" name="Text 44"/>
          <p:cNvSpPr txBox="1"/>
          <p:nvPr/>
        </p:nvSpPr>
        <p:spPr>
          <a:xfrm>
            <a:off x="8842248" y="5029200"/>
            <a:ext cx="2697480" cy="45720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hex to text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filetype --help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21</a:t>
            </a:r>
            <a:endParaRPr lang="en-US" sz="1000" dirty="0"/>
          </a:p>
        </p:txBody>
      </p:sp>
      <p:sp>
        <p:nvSpPr>
          <p:cNvPr id="10" name="Shape 7"/>
          <p:cNvSpPr/>
          <p:nvPr/>
        </p:nvSpPr>
        <p:spPr>
          <a:xfrm>
            <a:off x="548640" y="1645920"/>
            <a:ext cx="457200" cy="457200"/>
          </a:xfrm>
          <a:prstGeom prst="ellipse">
            <a:avLst/>
          </a:prstGeom>
          <a:solidFill>
            <a:srgbClr val="2459D8"/>
          </a:solidFill>
          <a:ln/>
        </p:spPr>
      </p:sp>
      <p:sp>
        <p:nvSpPr>
          <p:cNvPr id="11" name="Text 8"/>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Read --help. </a:t>
            </a:r>
            <a:pPr indent="0" marL="0">
              <a:buNone/>
            </a:pPr>
            <a:r>
              <a:rPr lang="en-US" sz="1700" dirty="0">
                <a:solidFill>
                  <a:srgbClr val="12213A"/>
                </a:solidFill>
                <a:latin typeface="Calibri" pitchFamily="34" charset="0"/>
                <a:ea typeface="Calibri" pitchFamily="34" charset="-122"/>
                <a:cs typeface="Calibri" pitchFamily="34" charset="-120"/>
              </a:rPr>
              <a:t>Free. Every tool explains itself, even filetype.</a:t>
            </a:r>
            <a:endParaRPr lang="en-US" sz="1700" dirty="0"/>
          </a:p>
        </p:txBody>
      </p:sp>
      <p:sp>
        <p:nvSpPr>
          <p:cNvPr id="13" name="Shape 10"/>
          <p:cNvSpPr/>
          <p:nvPr/>
        </p:nvSpPr>
        <p:spPr>
          <a:xfrm>
            <a:off x="548640" y="2606040"/>
            <a:ext cx="457200" cy="457200"/>
          </a:xfrm>
          <a:prstGeom prst="ellipse">
            <a:avLst/>
          </a:prstGeom>
          <a:solidFill>
            <a:srgbClr val="2459D8"/>
          </a:solidFill>
          <a:ln/>
        </p:spPr>
      </p:sp>
      <p:sp>
        <p:nvSpPr>
          <p:cNvPr id="14" name="Text 11"/>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7860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Ask the three questions. </a:t>
            </a:r>
            <a:pPr indent="0" marL="0">
              <a:buNone/>
            </a:pPr>
            <a:r>
              <a:rPr lang="en-US" sz="1700" dirty="0">
                <a:solidFill>
                  <a:srgbClr val="12213A"/>
                </a:solidFill>
                <a:latin typeface="Calibri" pitchFamily="34" charset="0"/>
                <a:ea typeface="Calibri" pitchFamily="34" charset="-122"/>
                <a:cs typeface="Calibri" pitchFamily="34" charset="-120"/>
              </a:rPr>
              <a:t>When? What is it really? Has it changed?</a:t>
            </a:r>
            <a:endParaRPr lang="en-US" sz="1700" dirty="0"/>
          </a:p>
        </p:txBody>
      </p:sp>
      <p:sp>
        <p:nvSpPr>
          <p:cNvPr id="16" name="Shape 13"/>
          <p:cNvSpPr/>
          <p:nvPr/>
        </p:nvSpPr>
        <p:spPr>
          <a:xfrm>
            <a:off x="548640" y="3566160"/>
            <a:ext cx="457200" cy="457200"/>
          </a:xfrm>
          <a:prstGeom prst="ellipse">
            <a:avLst/>
          </a:prstGeom>
          <a:solidFill>
            <a:srgbClr val="2459D8"/>
          </a:solidFill>
          <a:ln/>
        </p:spPr>
      </p:sp>
      <p:sp>
        <p:nvSpPr>
          <p:cNvPr id="17" name="Text 1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53872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Build one step at a time. </a:t>
            </a:r>
            <a:pPr indent="0" marL="0">
              <a:buNone/>
            </a:pPr>
            <a:r>
              <a:rPr lang="en-US" sz="1700" dirty="0">
                <a:solidFill>
                  <a:srgbClr val="12213A"/>
                </a:solidFill>
                <a:latin typeface="Calibri" pitchFamily="34" charset="0"/>
                <a:ea typeface="Calibri" pitchFamily="34" charset="-122"/>
                <a:cs typeface="Calibri" pitchFamily="34" charset="-120"/>
              </a:rPr>
              <a:t>Look at the output before adding the next pipe.</a:t>
            </a:r>
            <a:endParaRPr lang="en-US" sz="1700" dirty="0"/>
          </a:p>
        </p:txBody>
      </p:sp>
      <p:sp>
        <p:nvSpPr>
          <p:cNvPr id="19" name="Shape 16"/>
          <p:cNvSpPr/>
          <p:nvPr/>
        </p:nvSpPr>
        <p:spPr>
          <a:xfrm>
            <a:off x="548640" y="4526280"/>
            <a:ext cx="457200" cy="457200"/>
          </a:xfrm>
          <a:prstGeom prst="ellipse">
            <a:avLst/>
          </a:prstGeom>
          <a:solidFill>
            <a:srgbClr val="2459D8"/>
          </a:solidFill>
          <a:ln/>
        </p:spPr>
      </p:sp>
      <p:sp>
        <p:nvSpPr>
          <p:cNvPr id="20" name="Text 17"/>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49884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Buy a hint. </a:t>
            </a:r>
            <a:pPr indent="0" marL="0">
              <a:buNone/>
            </a:pPr>
            <a:r>
              <a:rPr lang="en-US" sz="1700" dirty="0">
                <a:solidFill>
                  <a:srgbClr val="12213A"/>
                </a:solidFill>
                <a:latin typeface="Calibri" pitchFamily="34" charset="0"/>
                <a:ea typeface="Calibri" pitchFamily="34" charset="-122"/>
                <a:cs typeface="Calibri" pitchFamily="34" charset="-120"/>
              </a:rPr>
              <a:t>hint N shows the price. 5% of the mission, charged once.</a:t>
            </a:r>
            <a:endParaRPr lang="en-US" sz="1700" dirty="0"/>
          </a:p>
        </p:txBody>
      </p:sp>
      <p:sp>
        <p:nvSpPr>
          <p:cNvPr id="22" name="Shape 19"/>
          <p:cNvSpPr/>
          <p:nvPr/>
        </p:nvSpPr>
        <p:spPr>
          <a:xfrm>
            <a:off x="6492240" y="1463040"/>
            <a:ext cx="514807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3" name="Shape 20"/>
          <p:cNvSpPr/>
          <p:nvPr/>
        </p:nvSpPr>
        <p:spPr>
          <a:xfrm>
            <a:off x="6693408" y="1618488"/>
            <a:ext cx="118872" cy="118872"/>
          </a:xfrm>
          <a:prstGeom prst="ellipse">
            <a:avLst/>
          </a:prstGeom>
          <a:solidFill>
            <a:srgbClr val="E5534B"/>
          </a:solidFill>
          <a:ln/>
        </p:spPr>
      </p:sp>
      <p:sp>
        <p:nvSpPr>
          <p:cNvPr id="24" name="Shape 21"/>
          <p:cNvSpPr/>
          <p:nvPr/>
        </p:nvSpPr>
        <p:spPr>
          <a:xfrm>
            <a:off x="6894576" y="1618488"/>
            <a:ext cx="118872" cy="118872"/>
          </a:xfrm>
          <a:prstGeom prst="ellipse">
            <a:avLst/>
          </a:prstGeom>
          <a:solidFill>
            <a:srgbClr val="F5A623"/>
          </a:solidFill>
          <a:ln/>
        </p:spPr>
      </p:sp>
      <p:sp>
        <p:nvSpPr>
          <p:cNvPr id="25" name="Shape 22"/>
          <p:cNvSpPr/>
          <p:nvPr/>
        </p:nvSpPr>
        <p:spPr>
          <a:xfrm>
            <a:off x="7095744" y="1618488"/>
            <a:ext cx="118872" cy="118872"/>
          </a:xfrm>
          <a:prstGeom prst="ellipse">
            <a:avLst/>
          </a:prstGeom>
          <a:solidFill>
            <a:srgbClr val="46D39A"/>
          </a:solidFill>
          <a:ln/>
        </p:spPr>
      </p:sp>
      <p:sp>
        <p:nvSpPr>
          <p:cNvPr id="26" name="Text 23"/>
          <p:cNvSpPr txBox="1"/>
          <p:nvPr/>
        </p:nvSpPr>
        <p:spPr>
          <a:xfrm>
            <a:off x="7406640" y="1536192"/>
            <a:ext cx="331927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7" name="Text 24"/>
          <p:cNvSpPr txBox="1"/>
          <p:nvPr/>
        </p:nvSpPr>
        <p:spPr>
          <a:xfrm>
            <a:off x="6766560" y="1920240"/>
            <a:ext cx="459943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hint 5</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Hint 1 of 2 costs 10 points (5% of 200),</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charged once.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To see it, type:  hint 5 --show</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hint 5 --show</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Hint 1 of 2: The IP address is</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field 8 ...</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-10 points on the scoreboard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investigator's toolkit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22</a:t>
            </a:r>
            <a:endParaRPr lang="en-US" sz="1000" dirty="0"/>
          </a:p>
        </p:txBody>
      </p:sp>
      <p:sp>
        <p:nvSpPr>
          <p:cNvPr id="6" name="Shape 3"/>
          <p:cNvSpPr/>
          <p:nvPr/>
        </p:nvSpPr>
        <p:spPr>
          <a:xfrm>
            <a:off x="548640" y="1463040"/>
            <a:ext cx="5449824" cy="777240"/>
          </a:xfrm>
          <a:prstGeom prst="roundRect">
            <a:avLst>
              <a:gd name="adj" fmla="val 11765"/>
            </a:avLst>
          </a:prstGeom>
          <a:solidFill>
            <a:srgbClr val="F1F5FB"/>
          </a:solidFill>
          <a:ln/>
        </p:spPr>
      </p:sp>
      <p:sp>
        <p:nvSpPr>
          <p:cNvPr id="7" name="Shape 4"/>
          <p:cNvSpPr/>
          <p:nvPr/>
        </p:nvSpPr>
        <p:spPr>
          <a:xfrm>
            <a:off x="713232" y="1627632"/>
            <a:ext cx="457200" cy="457200"/>
          </a:xfrm>
          <a:prstGeom prst="ellipse">
            <a:avLst/>
          </a:prstGeom>
          <a:solidFill>
            <a:srgbClr val="17875A"/>
          </a:solidFill>
          <a:ln/>
        </p:spPr>
      </p:sp>
      <p:sp>
        <p:nvSpPr>
          <p:cNvPr id="8" name="Text 5"/>
          <p:cNvSpPr txBox="1"/>
          <p:nvPr/>
        </p:nvSpPr>
        <p:spPr>
          <a:xfrm>
            <a:off x="713232" y="1627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txBox="1"/>
          <p:nvPr/>
        </p:nvSpPr>
        <p:spPr>
          <a:xfrm>
            <a:off x="1371600" y="1463040"/>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ls -l</a:t>
            </a:r>
            <a:endParaRPr lang="en-US" sz="1400" dirty="0"/>
          </a:p>
        </p:txBody>
      </p:sp>
      <p:sp>
        <p:nvSpPr>
          <p:cNvPr id="10" name="Text 7"/>
          <p:cNvSpPr txBox="1"/>
          <p:nvPr/>
        </p:nvSpPr>
        <p:spPr>
          <a:xfrm>
            <a:off x="3840480" y="1463040"/>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when did it change?</a:t>
            </a:r>
            <a:endParaRPr lang="en-US" sz="1400" dirty="0"/>
          </a:p>
        </p:txBody>
      </p:sp>
      <p:sp>
        <p:nvSpPr>
          <p:cNvPr id="11" name="Shape 8"/>
          <p:cNvSpPr/>
          <p:nvPr/>
        </p:nvSpPr>
        <p:spPr>
          <a:xfrm>
            <a:off x="6190488" y="1463040"/>
            <a:ext cx="5449824" cy="777240"/>
          </a:xfrm>
          <a:prstGeom prst="roundRect">
            <a:avLst>
              <a:gd name="adj" fmla="val 11765"/>
            </a:avLst>
          </a:prstGeom>
          <a:solidFill>
            <a:srgbClr val="F1F5FB"/>
          </a:solidFill>
          <a:ln/>
        </p:spPr>
      </p:sp>
      <p:sp>
        <p:nvSpPr>
          <p:cNvPr id="12" name="Shape 9"/>
          <p:cNvSpPr/>
          <p:nvPr/>
        </p:nvSpPr>
        <p:spPr>
          <a:xfrm>
            <a:off x="6355080" y="1627632"/>
            <a:ext cx="457200" cy="457200"/>
          </a:xfrm>
          <a:prstGeom prst="ellipse">
            <a:avLst/>
          </a:prstGeom>
          <a:solidFill>
            <a:srgbClr val="2A9FD6"/>
          </a:solidFill>
          <a:ln/>
        </p:spPr>
      </p:sp>
      <p:sp>
        <p:nvSpPr>
          <p:cNvPr id="13" name="Text 10"/>
          <p:cNvSpPr txBox="1"/>
          <p:nvPr/>
        </p:nvSpPr>
        <p:spPr>
          <a:xfrm>
            <a:off x="6355080" y="1627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7013448" y="1463040"/>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strings</a:t>
            </a:r>
            <a:endParaRPr lang="en-US" sz="1400" dirty="0"/>
          </a:p>
        </p:txBody>
      </p:sp>
      <p:sp>
        <p:nvSpPr>
          <p:cNvPr id="15" name="Text 12"/>
          <p:cNvSpPr txBox="1"/>
          <p:nvPr/>
        </p:nvSpPr>
        <p:spPr>
          <a:xfrm>
            <a:off x="9482328" y="1463040"/>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metadata in any file</a:t>
            </a:r>
            <a:endParaRPr lang="en-US" sz="1400" dirty="0"/>
          </a:p>
        </p:txBody>
      </p:sp>
      <p:sp>
        <p:nvSpPr>
          <p:cNvPr id="16" name="Shape 13"/>
          <p:cNvSpPr/>
          <p:nvPr/>
        </p:nvSpPr>
        <p:spPr>
          <a:xfrm>
            <a:off x="548640" y="2359152"/>
            <a:ext cx="5449824" cy="777240"/>
          </a:xfrm>
          <a:prstGeom prst="roundRect">
            <a:avLst>
              <a:gd name="adj" fmla="val 11765"/>
            </a:avLst>
          </a:prstGeom>
          <a:solidFill>
            <a:srgbClr val="F1F5FB"/>
          </a:solidFill>
          <a:ln/>
        </p:spPr>
      </p:sp>
      <p:sp>
        <p:nvSpPr>
          <p:cNvPr id="17" name="Shape 14"/>
          <p:cNvSpPr/>
          <p:nvPr/>
        </p:nvSpPr>
        <p:spPr>
          <a:xfrm>
            <a:off x="713232" y="2523744"/>
            <a:ext cx="457200" cy="457200"/>
          </a:xfrm>
          <a:prstGeom prst="ellipse">
            <a:avLst/>
          </a:prstGeom>
          <a:solidFill>
            <a:srgbClr val="2459D8"/>
          </a:solidFill>
          <a:ln/>
        </p:spPr>
      </p:sp>
      <p:sp>
        <p:nvSpPr>
          <p:cNvPr id="18" name="Text 15"/>
          <p:cNvSpPr txBox="1"/>
          <p:nvPr/>
        </p:nvSpPr>
        <p:spPr>
          <a:xfrm>
            <a:off x="713232" y="2523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6"/>
          <p:cNvSpPr txBox="1"/>
          <p:nvPr/>
        </p:nvSpPr>
        <p:spPr>
          <a:xfrm>
            <a:off x="1371600" y="2359152"/>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filetype</a:t>
            </a:r>
            <a:endParaRPr lang="en-US" sz="1400" dirty="0"/>
          </a:p>
        </p:txBody>
      </p:sp>
      <p:sp>
        <p:nvSpPr>
          <p:cNvPr id="20" name="Text 17"/>
          <p:cNvSpPr txBox="1"/>
          <p:nvPr/>
        </p:nvSpPr>
        <p:spPr>
          <a:xfrm>
            <a:off x="3840480" y="2359152"/>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what is it really?</a:t>
            </a:r>
            <a:endParaRPr lang="en-US" sz="1400" dirty="0"/>
          </a:p>
        </p:txBody>
      </p:sp>
      <p:sp>
        <p:nvSpPr>
          <p:cNvPr id="21" name="Shape 18"/>
          <p:cNvSpPr/>
          <p:nvPr/>
        </p:nvSpPr>
        <p:spPr>
          <a:xfrm>
            <a:off x="6190488" y="2359152"/>
            <a:ext cx="5449824" cy="777240"/>
          </a:xfrm>
          <a:prstGeom prst="roundRect">
            <a:avLst>
              <a:gd name="adj" fmla="val 11765"/>
            </a:avLst>
          </a:prstGeom>
          <a:solidFill>
            <a:srgbClr val="F1F5FB"/>
          </a:solidFill>
          <a:ln/>
        </p:spPr>
      </p:sp>
      <p:sp>
        <p:nvSpPr>
          <p:cNvPr id="22" name="Shape 19"/>
          <p:cNvSpPr/>
          <p:nvPr/>
        </p:nvSpPr>
        <p:spPr>
          <a:xfrm>
            <a:off x="6355080" y="2523744"/>
            <a:ext cx="457200" cy="457200"/>
          </a:xfrm>
          <a:prstGeom prst="ellipse">
            <a:avLst/>
          </a:prstGeom>
          <a:solidFill>
            <a:srgbClr val="7448D4"/>
          </a:solidFill>
          <a:ln/>
        </p:spPr>
      </p:sp>
      <p:sp>
        <p:nvSpPr>
          <p:cNvPr id="23" name="Text 20"/>
          <p:cNvSpPr txBox="1"/>
          <p:nvPr/>
        </p:nvSpPr>
        <p:spPr>
          <a:xfrm>
            <a:off x="6355080" y="2523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txBox="1"/>
          <p:nvPr/>
        </p:nvSpPr>
        <p:spPr>
          <a:xfrm>
            <a:off x="7013448" y="2359152"/>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tar  zcat</a:t>
            </a:r>
            <a:endParaRPr lang="en-US" sz="1400" dirty="0"/>
          </a:p>
        </p:txBody>
      </p:sp>
      <p:sp>
        <p:nvSpPr>
          <p:cNvPr id="25" name="Text 22"/>
          <p:cNvSpPr txBox="1"/>
          <p:nvPr/>
        </p:nvSpPr>
        <p:spPr>
          <a:xfrm>
            <a:off x="9482328" y="2359152"/>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unwrap the layers</a:t>
            </a:r>
            <a:endParaRPr lang="en-US" sz="1400" dirty="0"/>
          </a:p>
        </p:txBody>
      </p:sp>
      <p:sp>
        <p:nvSpPr>
          <p:cNvPr id="26" name="Shape 23"/>
          <p:cNvSpPr/>
          <p:nvPr/>
        </p:nvSpPr>
        <p:spPr>
          <a:xfrm>
            <a:off x="548640" y="3255264"/>
            <a:ext cx="5449824" cy="777240"/>
          </a:xfrm>
          <a:prstGeom prst="roundRect">
            <a:avLst>
              <a:gd name="adj" fmla="val 11765"/>
            </a:avLst>
          </a:prstGeom>
          <a:solidFill>
            <a:srgbClr val="F1F5FB"/>
          </a:solidFill>
          <a:ln/>
        </p:spPr>
      </p:sp>
      <p:sp>
        <p:nvSpPr>
          <p:cNvPr id="27" name="Shape 24"/>
          <p:cNvSpPr/>
          <p:nvPr/>
        </p:nvSpPr>
        <p:spPr>
          <a:xfrm>
            <a:off x="713232" y="3419856"/>
            <a:ext cx="457200" cy="457200"/>
          </a:xfrm>
          <a:prstGeom prst="ellipse">
            <a:avLst/>
          </a:prstGeom>
          <a:solidFill>
            <a:srgbClr val="D1416B"/>
          </a:solidFill>
          <a:ln/>
        </p:spPr>
      </p:sp>
      <p:sp>
        <p:nvSpPr>
          <p:cNvPr id="28" name="Text 25"/>
          <p:cNvSpPr txBox="1"/>
          <p:nvPr/>
        </p:nvSpPr>
        <p:spPr>
          <a:xfrm>
            <a:off x="713232" y="34198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6"/>
          <p:cNvSpPr txBox="1"/>
          <p:nvPr/>
        </p:nvSpPr>
        <p:spPr>
          <a:xfrm>
            <a:off x="1371600" y="3255264"/>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grep | cut | uniq -c</a:t>
            </a:r>
            <a:endParaRPr lang="en-US" sz="1400" dirty="0"/>
          </a:p>
        </p:txBody>
      </p:sp>
      <p:sp>
        <p:nvSpPr>
          <p:cNvPr id="30" name="Text 27"/>
          <p:cNvSpPr txBox="1"/>
          <p:nvPr/>
        </p:nvSpPr>
        <p:spPr>
          <a:xfrm>
            <a:off x="3840480" y="3255264"/>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count events in logs</a:t>
            </a:r>
            <a:endParaRPr lang="en-US" sz="1400" dirty="0"/>
          </a:p>
        </p:txBody>
      </p:sp>
      <p:sp>
        <p:nvSpPr>
          <p:cNvPr id="31" name="Shape 28"/>
          <p:cNvSpPr/>
          <p:nvPr/>
        </p:nvSpPr>
        <p:spPr>
          <a:xfrm>
            <a:off x="6190488" y="3255264"/>
            <a:ext cx="5449824" cy="777240"/>
          </a:xfrm>
          <a:prstGeom prst="roundRect">
            <a:avLst>
              <a:gd name="adj" fmla="val 11765"/>
            </a:avLst>
          </a:prstGeom>
          <a:solidFill>
            <a:srgbClr val="F1F5FB"/>
          </a:solidFill>
          <a:ln/>
        </p:spPr>
      </p:sp>
      <p:sp>
        <p:nvSpPr>
          <p:cNvPr id="32" name="Shape 29"/>
          <p:cNvSpPr/>
          <p:nvPr/>
        </p:nvSpPr>
        <p:spPr>
          <a:xfrm>
            <a:off x="6355080" y="3419856"/>
            <a:ext cx="457200" cy="457200"/>
          </a:xfrm>
          <a:prstGeom prst="ellipse">
            <a:avLst/>
          </a:prstGeom>
          <a:solidFill>
            <a:srgbClr val="E8820C"/>
          </a:solidFill>
          <a:ln/>
        </p:spPr>
      </p:sp>
      <p:sp>
        <p:nvSpPr>
          <p:cNvPr id="33" name="Text 30"/>
          <p:cNvSpPr txBox="1"/>
          <p:nvPr/>
        </p:nvSpPr>
        <p:spPr>
          <a:xfrm>
            <a:off x="6355080" y="34198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4" name="Text 31"/>
          <p:cNvSpPr txBox="1"/>
          <p:nvPr/>
        </p:nvSpPr>
        <p:spPr>
          <a:xfrm>
            <a:off x="7013448" y="3255264"/>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strings | tail</a:t>
            </a:r>
            <a:endParaRPr lang="en-US" sz="1400" dirty="0"/>
          </a:p>
        </p:txBody>
      </p:sp>
      <p:sp>
        <p:nvSpPr>
          <p:cNvPr id="35" name="Text 32"/>
          <p:cNvSpPr txBox="1"/>
          <p:nvPr/>
        </p:nvSpPr>
        <p:spPr>
          <a:xfrm>
            <a:off x="9482328" y="3255264"/>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find what's appended</a:t>
            </a:r>
            <a:endParaRPr lang="en-US" sz="1400" dirty="0"/>
          </a:p>
        </p:txBody>
      </p:sp>
      <p:sp>
        <p:nvSpPr>
          <p:cNvPr id="36" name="Shape 33"/>
          <p:cNvSpPr/>
          <p:nvPr/>
        </p:nvSpPr>
        <p:spPr>
          <a:xfrm>
            <a:off x="548640" y="4151376"/>
            <a:ext cx="5449824" cy="777240"/>
          </a:xfrm>
          <a:prstGeom prst="roundRect">
            <a:avLst>
              <a:gd name="adj" fmla="val 11765"/>
            </a:avLst>
          </a:prstGeom>
          <a:solidFill>
            <a:srgbClr val="F1F5FB"/>
          </a:solidFill>
          <a:ln/>
        </p:spPr>
      </p:sp>
      <p:sp>
        <p:nvSpPr>
          <p:cNvPr id="37" name="Shape 34"/>
          <p:cNvSpPr/>
          <p:nvPr/>
        </p:nvSpPr>
        <p:spPr>
          <a:xfrm>
            <a:off x="713232" y="4315968"/>
            <a:ext cx="457200" cy="457200"/>
          </a:xfrm>
          <a:prstGeom prst="ellipse">
            <a:avLst/>
          </a:prstGeom>
          <a:solidFill>
            <a:srgbClr val="C9A227"/>
          </a:solidFill>
          <a:ln/>
        </p:spPr>
      </p:sp>
      <p:sp>
        <p:nvSpPr>
          <p:cNvPr id="38" name="Text 35"/>
          <p:cNvSpPr txBox="1"/>
          <p:nvPr/>
        </p:nvSpPr>
        <p:spPr>
          <a:xfrm>
            <a:off x="713232" y="4315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9" name="Text 36"/>
          <p:cNvSpPr txBox="1"/>
          <p:nvPr/>
        </p:nvSpPr>
        <p:spPr>
          <a:xfrm>
            <a:off x="1371600" y="4151376"/>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sha256sum -c</a:t>
            </a:r>
            <a:endParaRPr lang="en-US" sz="1400" dirty="0"/>
          </a:p>
        </p:txBody>
      </p:sp>
      <p:sp>
        <p:nvSpPr>
          <p:cNvPr id="40" name="Text 37"/>
          <p:cNvSpPr txBox="1"/>
          <p:nvPr/>
        </p:nvSpPr>
        <p:spPr>
          <a:xfrm>
            <a:off x="3840480" y="4151376"/>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has it changed?</a:t>
            </a:r>
            <a:endParaRPr lang="en-US" sz="1400" dirty="0"/>
          </a:p>
        </p:txBody>
      </p:sp>
      <p:sp>
        <p:nvSpPr>
          <p:cNvPr id="41" name="Shape 38"/>
          <p:cNvSpPr/>
          <p:nvPr/>
        </p:nvSpPr>
        <p:spPr>
          <a:xfrm>
            <a:off x="6190488" y="4151376"/>
            <a:ext cx="5449824" cy="777240"/>
          </a:xfrm>
          <a:prstGeom prst="roundRect">
            <a:avLst>
              <a:gd name="adj" fmla="val 11765"/>
            </a:avLst>
          </a:prstGeom>
          <a:solidFill>
            <a:srgbClr val="F1F5FB"/>
          </a:solidFill>
          <a:ln/>
        </p:spPr>
      </p:sp>
      <p:sp>
        <p:nvSpPr>
          <p:cNvPr id="42" name="Shape 39"/>
          <p:cNvSpPr/>
          <p:nvPr/>
        </p:nvSpPr>
        <p:spPr>
          <a:xfrm>
            <a:off x="6355080" y="4315968"/>
            <a:ext cx="457200" cy="457200"/>
          </a:xfrm>
          <a:prstGeom prst="ellipse">
            <a:avLst/>
          </a:prstGeom>
          <a:solidFill>
            <a:srgbClr val="0F9488"/>
          </a:solidFill>
          <a:ln/>
        </p:spPr>
      </p:sp>
      <p:sp>
        <p:nvSpPr>
          <p:cNvPr id="43" name="Text 40"/>
          <p:cNvSpPr txBox="1"/>
          <p:nvPr/>
        </p:nvSpPr>
        <p:spPr>
          <a:xfrm>
            <a:off x="6355080" y="4315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44" name="Text 41"/>
          <p:cNvSpPr txBox="1"/>
          <p:nvPr/>
        </p:nvSpPr>
        <p:spPr>
          <a:xfrm>
            <a:off x="7013448" y="4151376"/>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cat cron/*  ls -a</a:t>
            </a:r>
            <a:endParaRPr lang="en-US" sz="1400" dirty="0"/>
          </a:p>
        </p:txBody>
      </p:sp>
      <p:sp>
        <p:nvSpPr>
          <p:cNvPr id="45" name="Text 42"/>
          <p:cNvSpPr txBox="1"/>
          <p:nvPr/>
        </p:nvSpPr>
        <p:spPr>
          <a:xfrm>
            <a:off x="9482328" y="4151376"/>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find persistence</a:t>
            </a:r>
            <a:endParaRPr lang="en-US" sz="1400" dirty="0"/>
          </a:p>
        </p:txBody>
      </p:sp>
      <p:sp>
        <p:nvSpPr>
          <p:cNvPr id="46" name="Shape 43"/>
          <p:cNvSpPr/>
          <p:nvPr/>
        </p:nvSpPr>
        <p:spPr>
          <a:xfrm>
            <a:off x="548640" y="5047488"/>
            <a:ext cx="5449824" cy="777240"/>
          </a:xfrm>
          <a:prstGeom prst="roundRect">
            <a:avLst>
              <a:gd name="adj" fmla="val 11765"/>
            </a:avLst>
          </a:prstGeom>
          <a:solidFill>
            <a:srgbClr val="F1F5FB"/>
          </a:solidFill>
          <a:ln/>
        </p:spPr>
      </p:sp>
      <p:sp>
        <p:nvSpPr>
          <p:cNvPr id="47" name="Shape 44"/>
          <p:cNvSpPr/>
          <p:nvPr/>
        </p:nvSpPr>
        <p:spPr>
          <a:xfrm>
            <a:off x="713232" y="5212080"/>
            <a:ext cx="457200" cy="457200"/>
          </a:xfrm>
          <a:prstGeom prst="ellipse">
            <a:avLst/>
          </a:prstGeom>
          <a:solidFill>
            <a:srgbClr val="5B6EE1"/>
          </a:solidFill>
          <a:ln/>
        </p:spPr>
      </p:sp>
      <p:sp>
        <p:nvSpPr>
          <p:cNvPr id="48" name="Text 45"/>
          <p:cNvSpPr txBox="1"/>
          <p:nvPr/>
        </p:nvSpPr>
        <p:spPr>
          <a:xfrm>
            <a:off x="713232" y="5212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49" name="Text 46"/>
          <p:cNvSpPr txBox="1"/>
          <p:nvPr/>
        </p:nvSpPr>
        <p:spPr>
          <a:xfrm>
            <a:off x="1371600" y="5047488"/>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sort | tr | xxd -r</a:t>
            </a:r>
            <a:endParaRPr lang="en-US" sz="1400" dirty="0"/>
          </a:p>
        </p:txBody>
      </p:sp>
      <p:sp>
        <p:nvSpPr>
          <p:cNvPr id="50" name="Text 47"/>
          <p:cNvSpPr txBox="1"/>
          <p:nvPr/>
        </p:nvSpPr>
        <p:spPr>
          <a:xfrm>
            <a:off x="3840480" y="5047488"/>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rebuild the pieces</a:t>
            </a:r>
            <a:endParaRPr lang="en-US" sz="1400" dirty="0"/>
          </a:p>
        </p:txBody>
      </p:sp>
      <p:sp>
        <p:nvSpPr>
          <p:cNvPr id="51" name="Shape 48"/>
          <p:cNvSpPr/>
          <p:nvPr/>
        </p:nvSpPr>
        <p:spPr>
          <a:xfrm>
            <a:off x="6190488" y="5047488"/>
            <a:ext cx="5449824" cy="777240"/>
          </a:xfrm>
          <a:prstGeom prst="roundRect">
            <a:avLst>
              <a:gd name="adj" fmla="val 11765"/>
            </a:avLst>
          </a:prstGeom>
          <a:solidFill>
            <a:srgbClr val="F1F5FB"/>
          </a:solidFill>
          <a:ln/>
        </p:spPr>
      </p:sp>
      <p:sp>
        <p:nvSpPr>
          <p:cNvPr id="52" name="Shape 49"/>
          <p:cNvSpPr/>
          <p:nvPr/>
        </p:nvSpPr>
        <p:spPr>
          <a:xfrm>
            <a:off x="6355080" y="5212080"/>
            <a:ext cx="457200" cy="457200"/>
          </a:xfrm>
          <a:prstGeom prst="ellipse">
            <a:avLst/>
          </a:prstGeom>
          <a:solidFill>
            <a:srgbClr val="B4233F"/>
          </a:solidFill>
          <a:ln/>
        </p:spPr>
      </p:sp>
      <p:sp>
        <p:nvSpPr>
          <p:cNvPr id="53" name="Text 50"/>
          <p:cNvSpPr txBox="1"/>
          <p:nvPr/>
        </p:nvSpPr>
        <p:spPr>
          <a:xfrm>
            <a:off x="6355080" y="5212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54" name="Text 51"/>
          <p:cNvSpPr txBox="1"/>
          <p:nvPr/>
        </p:nvSpPr>
        <p:spPr>
          <a:xfrm>
            <a:off x="7013448" y="5047488"/>
            <a:ext cx="2468880" cy="777240"/>
          </a:xfrm>
          <a:prstGeom prst="rect">
            <a:avLst/>
          </a:prstGeom>
          <a:noFill/>
          <a:ln/>
        </p:spPr>
        <p:txBody>
          <a:bodyPr wrap="square" lIns="0" tIns="0" rIns="0" bIns="0" rtlCol="0" anchor="ctr">
            <a:normAutofit/>
          </a:bodyPr>
          <a:lstStyle/>
          <a:p>
            <a:pPr indent="0" marL="0">
              <a:buNone/>
            </a:pPr>
            <a:r>
              <a:rPr lang="en-US" sz="1400" b="1" dirty="0">
                <a:solidFill>
                  <a:srgbClr val="12213A"/>
                </a:solidFill>
                <a:latin typeface="Courier New" pitchFamily="34" charset="0"/>
                <a:ea typeface="Courier New" pitchFamily="34" charset="-122"/>
                <a:cs typeface="Courier New" pitchFamily="34" charset="-120"/>
              </a:rPr>
              <a:t>all of the above</a:t>
            </a:r>
            <a:endParaRPr lang="en-US" sz="1400" dirty="0"/>
          </a:p>
        </p:txBody>
      </p:sp>
      <p:sp>
        <p:nvSpPr>
          <p:cNvPr id="55" name="Text 52"/>
          <p:cNvSpPr txBox="1"/>
          <p:nvPr/>
        </p:nvSpPr>
        <p:spPr>
          <a:xfrm>
            <a:off x="9482328" y="5047488"/>
            <a:ext cx="205740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close the case</a:t>
            </a:r>
            <a:endParaRPr lang="en-US" sz="1400" dirty="0"/>
          </a:p>
        </p:txBody>
      </p:sp>
      <p:sp>
        <p:nvSpPr>
          <p:cNvPr id="56" name="Text 5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400" b="1" dirty="0">
                <a:solidFill>
                  <a:srgbClr val="12213A"/>
                </a:solidFill>
                <a:latin typeface="Calibri" pitchFamily="34" charset="0"/>
                <a:ea typeface="Calibri" pitchFamily="34" charset="-122"/>
                <a:cs typeface="Calibri" pitchFamily="34" charset="-120"/>
              </a:rPr>
              <a:t>Stuck on any of them?  TOOL --help</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23</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indent="0" marL="0">
              <a:buNone/>
            </a:pPr>
            <a:r>
              <a:rPr lang="en-US" sz="25000" b="1" dirty="0">
                <a:solidFill>
                  <a:srgbClr val="7448D4"/>
                </a:solidFill>
                <a:latin typeface="Arial" pitchFamily="34" charset="0"/>
                <a:ea typeface="Arial" pitchFamily="34" charset="-122"/>
                <a:cs typeface="Arial" pitchFamily="34" charset="-120"/>
              </a:rPr>
              <a:t>3</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indent="0" marL="0">
              <a:buNone/>
            </a:pPr>
            <a:r>
              <a:rPr lang="en-US" sz="1600" dirty="0">
                <a:solidFill>
                  <a:srgbClr val="7F8FAD"/>
                </a:solidFill>
                <a:latin typeface="Courier New" pitchFamily="34" charset="0"/>
                <a:ea typeface="Courier New" pitchFamily="34" charset="-122"/>
                <a:cs typeface="Courier New" pitchFamily="34" charset="-120"/>
              </a:rPr>
              <a:t>Part 3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The competition</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A warm-up, ten clues, 2,700 points, one clock. Missions 1 and 2 we solve together. Then teams race.</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sp>
      <p:sp>
        <p:nvSpPr>
          <p:cNvPr id="10" name="Text 7"/>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./investigate --all   # 10 flags, 2,700 points</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scoring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24</a:t>
            </a:r>
            <a:endParaRPr lang="en-US" sz="1000" dirty="0"/>
          </a:p>
        </p:txBody>
      </p:sp>
      <p:sp>
        <p:nvSpPr>
          <p:cNvPr id="6" name="Shape 3"/>
          <p:cNvSpPr/>
          <p:nvPr/>
        </p:nvSpPr>
        <p:spPr>
          <a:xfrm>
            <a:off x="548640" y="1508760"/>
            <a:ext cx="2624328" cy="1828800"/>
          </a:xfrm>
          <a:prstGeom prst="roundRect">
            <a:avLst>
              <a:gd name="adj" fmla="val 6000"/>
            </a:avLst>
          </a:prstGeom>
          <a:solidFill>
            <a:srgbClr val="E2F5EC"/>
          </a:solidFill>
          <a:ln/>
        </p:spPr>
      </p:sp>
      <p:sp>
        <p:nvSpPr>
          <p:cNvPr id="7" name="Text 4"/>
          <p:cNvSpPr txBox="1"/>
          <p:nvPr/>
        </p:nvSpPr>
        <p:spPr>
          <a:xfrm>
            <a:off x="548640" y="1600200"/>
            <a:ext cx="2624328" cy="868680"/>
          </a:xfrm>
          <a:prstGeom prst="rect">
            <a:avLst/>
          </a:prstGeom>
          <a:noFill/>
          <a:ln/>
        </p:spPr>
        <p:txBody>
          <a:bodyPr wrap="square" lIns="0" tIns="0" rIns="0" bIns="0" rtlCol="0" anchor="ctr"/>
          <a:lstStyle/>
          <a:p>
            <a:pPr algn="ctr" indent="0" marL="0">
              <a:buNone/>
            </a:pPr>
            <a:r>
              <a:rPr lang="en-US" sz="4800" b="1" dirty="0">
                <a:solidFill>
                  <a:srgbClr val="12704B"/>
                </a:solidFill>
                <a:latin typeface="Arial" pitchFamily="34" charset="0"/>
                <a:ea typeface="Arial" pitchFamily="34" charset="-122"/>
                <a:cs typeface="Arial" pitchFamily="34" charset="-120"/>
              </a:rPr>
              <a:t>100</a:t>
            </a:r>
            <a:endParaRPr lang="en-US" sz="4800" dirty="0"/>
          </a:p>
        </p:txBody>
      </p:sp>
      <p:sp>
        <p:nvSpPr>
          <p:cNvPr id="8" name="Text 5"/>
          <p:cNvSpPr txBox="1"/>
          <p:nvPr/>
        </p:nvSpPr>
        <p:spPr>
          <a:xfrm>
            <a:off x="548640" y="2468880"/>
            <a:ext cx="2624328" cy="320040"/>
          </a:xfrm>
          <a:prstGeom prst="rect">
            <a:avLst/>
          </a:prstGeom>
          <a:noFill/>
          <a:ln/>
        </p:spPr>
        <p:txBody>
          <a:bodyPr wrap="square" lIns="0" tIns="0" rIns="0" bIns="0" rtlCol="0" anchor="ctr"/>
          <a:lstStyle/>
          <a:p>
            <a:pPr algn="ctr" indent="0" marL="0">
              <a:buNone/>
            </a:pPr>
            <a:r>
              <a:rPr lang="en-US" sz="1400" b="1" dirty="0">
                <a:solidFill>
                  <a:srgbClr val="12704B"/>
                </a:solidFill>
                <a:latin typeface="Calibri" pitchFamily="34" charset="0"/>
                <a:ea typeface="Calibri" pitchFamily="34" charset="-122"/>
                <a:cs typeface="Calibri" pitchFamily="34" charset="-120"/>
              </a:rPr>
              <a:t>EASY  ·  points</a:t>
            </a:r>
            <a:endParaRPr lang="en-US" sz="1400" dirty="0"/>
          </a:p>
        </p:txBody>
      </p:sp>
      <p:sp>
        <p:nvSpPr>
          <p:cNvPr id="9" name="Text 6"/>
          <p:cNvSpPr txBox="1"/>
          <p:nvPr/>
        </p:nvSpPr>
        <p:spPr>
          <a:xfrm>
            <a:off x="548640" y="2834640"/>
            <a:ext cx="2624328" cy="320040"/>
          </a:xfrm>
          <a:prstGeom prst="rect">
            <a:avLst/>
          </a:prstGeom>
          <a:noFill/>
          <a:ln/>
        </p:spPr>
        <p:txBody>
          <a:bodyPr wrap="square" lIns="0" tIns="0" rIns="0" bIns="0" rtlCol="0" anchor="ctr"/>
          <a:lstStyle/>
          <a:p>
            <a:pPr algn="ctr" indent="0" marL="0">
              <a:buNone/>
            </a:pPr>
            <a:r>
              <a:rPr lang="en-US" sz="1300" dirty="0">
                <a:solidFill>
                  <a:srgbClr val="56657E"/>
                </a:solidFill>
                <a:latin typeface="Calibri" pitchFamily="34" charset="0"/>
                <a:ea typeface="Calibri" pitchFamily="34" charset="-122"/>
                <a:cs typeface="Calibri" pitchFamily="34" charset="-120"/>
              </a:rPr>
              <a:t>Missions 1, 2, 3</a:t>
            </a:r>
            <a:endParaRPr lang="en-US" sz="1300" dirty="0"/>
          </a:p>
        </p:txBody>
      </p:sp>
      <p:sp>
        <p:nvSpPr>
          <p:cNvPr id="10" name="Shape 7"/>
          <p:cNvSpPr/>
          <p:nvPr/>
        </p:nvSpPr>
        <p:spPr>
          <a:xfrm>
            <a:off x="3355848" y="1508760"/>
            <a:ext cx="2624328" cy="1828800"/>
          </a:xfrm>
          <a:prstGeom prst="roundRect">
            <a:avLst>
              <a:gd name="adj" fmla="val 6000"/>
            </a:avLst>
          </a:prstGeom>
          <a:solidFill>
            <a:srgbClr val="FFF4DE"/>
          </a:solidFill>
          <a:ln/>
        </p:spPr>
      </p:sp>
      <p:sp>
        <p:nvSpPr>
          <p:cNvPr id="11" name="Text 8"/>
          <p:cNvSpPr txBox="1"/>
          <p:nvPr/>
        </p:nvSpPr>
        <p:spPr>
          <a:xfrm>
            <a:off x="3355848" y="1600200"/>
            <a:ext cx="2624328" cy="868680"/>
          </a:xfrm>
          <a:prstGeom prst="rect">
            <a:avLst/>
          </a:prstGeom>
          <a:noFill/>
          <a:ln/>
        </p:spPr>
        <p:txBody>
          <a:bodyPr wrap="square" lIns="0" tIns="0" rIns="0" bIns="0" rtlCol="0" anchor="ctr"/>
          <a:lstStyle/>
          <a:p>
            <a:pPr algn="ctr" indent="0" marL="0">
              <a:buNone/>
            </a:pPr>
            <a:r>
              <a:rPr lang="en-US" sz="4800" b="1" dirty="0">
                <a:solidFill>
                  <a:srgbClr val="9A5B00"/>
                </a:solidFill>
                <a:latin typeface="Arial" pitchFamily="34" charset="0"/>
                <a:ea typeface="Arial" pitchFamily="34" charset="-122"/>
                <a:cs typeface="Arial" pitchFamily="34" charset="-120"/>
              </a:rPr>
              <a:t>200</a:t>
            </a:r>
            <a:endParaRPr lang="en-US" sz="4800" dirty="0"/>
          </a:p>
        </p:txBody>
      </p:sp>
      <p:sp>
        <p:nvSpPr>
          <p:cNvPr id="12" name="Text 9"/>
          <p:cNvSpPr txBox="1"/>
          <p:nvPr/>
        </p:nvSpPr>
        <p:spPr>
          <a:xfrm>
            <a:off x="3355848" y="2468880"/>
            <a:ext cx="2624328" cy="320040"/>
          </a:xfrm>
          <a:prstGeom prst="rect">
            <a:avLst/>
          </a:prstGeom>
          <a:noFill/>
          <a:ln/>
        </p:spPr>
        <p:txBody>
          <a:bodyPr wrap="square" lIns="0" tIns="0" rIns="0" bIns="0" rtlCol="0" anchor="ctr"/>
          <a:lstStyle/>
          <a:p>
            <a:pPr algn="ctr" indent="0" marL="0">
              <a:buNone/>
            </a:pPr>
            <a:r>
              <a:rPr lang="en-US" sz="1400" b="1" dirty="0">
                <a:solidFill>
                  <a:srgbClr val="9A5B00"/>
                </a:solidFill>
                <a:latin typeface="Calibri" pitchFamily="34" charset="0"/>
                <a:ea typeface="Calibri" pitchFamily="34" charset="-122"/>
                <a:cs typeface="Calibri" pitchFamily="34" charset="-120"/>
              </a:rPr>
              <a:t>MEDIUM  ·  points</a:t>
            </a:r>
            <a:endParaRPr lang="en-US" sz="1400" dirty="0"/>
          </a:p>
        </p:txBody>
      </p:sp>
      <p:sp>
        <p:nvSpPr>
          <p:cNvPr id="13" name="Text 10"/>
          <p:cNvSpPr txBox="1"/>
          <p:nvPr/>
        </p:nvSpPr>
        <p:spPr>
          <a:xfrm>
            <a:off x="3355848" y="2834640"/>
            <a:ext cx="2624328" cy="320040"/>
          </a:xfrm>
          <a:prstGeom prst="rect">
            <a:avLst/>
          </a:prstGeom>
          <a:noFill/>
          <a:ln/>
        </p:spPr>
        <p:txBody>
          <a:bodyPr wrap="square" lIns="0" tIns="0" rIns="0" bIns="0" rtlCol="0" anchor="ctr"/>
          <a:lstStyle/>
          <a:p>
            <a:pPr algn="ctr" indent="0" marL="0">
              <a:buNone/>
            </a:pPr>
            <a:r>
              <a:rPr lang="en-US" sz="1300" dirty="0">
                <a:solidFill>
                  <a:srgbClr val="56657E"/>
                </a:solidFill>
                <a:latin typeface="Calibri" pitchFamily="34" charset="0"/>
                <a:ea typeface="Calibri" pitchFamily="34" charset="-122"/>
                <a:cs typeface="Calibri" pitchFamily="34" charset="-120"/>
              </a:rPr>
              <a:t>Missions 4 to 7</a:t>
            </a:r>
            <a:endParaRPr lang="en-US" sz="1300" dirty="0"/>
          </a:p>
        </p:txBody>
      </p:sp>
      <p:sp>
        <p:nvSpPr>
          <p:cNvPr id="14" name="Shape 11"/>
          <p:cNvSpPr/>
          <p:nvPr/>
        </p:nvSpPr>
        <p:spPr>
          <a:xfrm>
            <a:off x="6163056" y="1508760"/>
            <a:ext cx="2624328" cy="1828800"/>
          </a:xfrm>
          <a:prstGeom prst="roundRect">
            <a:avLst>
              <a:gd name="adj" fmla="val 6000"/>
            </a:avLst>
          </a:prstGeom>
          <a:solidFill>
            <a:srgbClr val="FDE8EC"/>
          </a:solidFill>
          <a:ln/>
        </p:spPr>
      </p:sp>
      <p:sp>
        <p:nvSpPr>
          <p:cNvPr id="15" name="Text 12"/>
          <p:cNvSpPr txBox="1"/>
          <p:nvPr/>
        </p:nvSpPr>
        <p:spPr>
          <a:xfrm>
            <a:off x="6163056" y="1600200"/>
            <a:ext cx="2624328" cy="868680"/>
          </a:xfrm>
          <a:prstGeom prst="rect">
            <a:avLst/>
          </a:prstGeom>
          <a:noFill/>
          <a:ln/>
        </p:spPr>
        <p:txBody>
          <a:bodyPr wrap="square" lIns="0" tIns="0" rIns="0" bIns="0" rtlCol="0" anchor="ctr"/>
          <a:lstStyle/>
          <a:p>
            <a:pPr algn="ctr" indent="0" marL="0">
              <a:buNone/>
            </a:pPr>
            <a:r>
              <a:rPr lang="en-US" sz="4800" b="1" dirty="0">
                <a:solidFill>
                  <a:srgbClr val="B4233F"/>
                </a:solidFill>
                <a:latin typeface="Arial" pitchFamily="34" charset="0"/>
                <a:ea typeface="Arial" pitchFamily="34" charset="-122"/>
                <a:cs typeface="Arial" pitchFamily="34" charset="-120"/>
              </a:rPr>
              <a:t>400</a:t>
            </a:r>
            <a:endParaRPr lang="en-US" sz="4800" dirty="0"/>
          </a:p>
        </p:txBody>
      </p:sp>
      <p:sp>
        <p:nvSpPr>
          <p:cNvPr id="16" name="Text 13"/>
          <p:cNvSpPr txBox="1"/>
          <p:nvPr/>
        </p:nvSpPr>
        <p:spPr>
          <a:xfrm>
            <a:off x="6163056" y="2468880"/>
            <a:ext cx="2624328" cy="320040"/>
          </a:xfrm>
          <a:prstGeom prst="rect">
            <a:avLst/>
          </a:prstGeom>
          <a:noFill/>
          <a:ln/>
        </p:spPr>
        <p:txBody>
          <a:bodyPr wrap="square" lIns="0" tIns="0" rIns="0" bIns="0" rtlCol="0" anchor="ctr"/>
          <a:lstStyle/>
          <a:p>
            <a:pPr algn="ctr" indent="0" marL="0">
              <a:buNone/>
            </a:pPr>
            <a:r>
              <a:rPr lang="en-US" sz="1400" b="1" dirty="0">
                <a:solidFill>
                  <a:srgbClr val="B4233F"/>
                </a:solidFill>
                <a:latin typeface="Calibri" pitchFamily="34" charset="0"/>
                <a:ea typeface="Calibri" pitchFamily="34" charset="-122"/>
                <a:cs typeface="Calibri" pitchFamily="34" charset="-120"/>
              </a:rPr>
              <a:t>HARD  ·  points</a:t>
            </a:r>
            <a:endParaRPr lang="en-US" sz="1400" dirty="0"/>
          </a:p>
        </p:txBody>
      </p:sp>
      <p:sp>
        <p:nvSpPr>
          <p:cNvPr id="17" name="Text 14"/>
          <p:cNvSpPr txBox="1"/>
          <p:nvPr/>
        </p:nvSpPr>
        <p:spPr>
          <a:xfrm>
            <a:off x="6163056" y="2834640"/>
            <a:ext cx="2624328" cy="320040"/>
          </a:xfrm>
          <a:prstGeom prst="rect">
            <a:avLst/>
          </a:prstGeom>
          <a:noFill/>
          <a:ln/>
        </p:spPr>
        <p:txBody>
          <a:bodyPr wrap="square" lIns="0" tIns="0" rIns="0" bIns="0" rtlCol="0" anchor="ctr"/>
          <a:lstStyle/>
          <a:p>
            <a:pPr algn="ctr" indent="0" marL="0">
              <a:buNone/>
            </a:pPr>
            <a:r>
              <a:rPr lang="en-US" sz="1300" dirty="0">
                <a:solidFill>
                  <a:srgbClr val="56657E"/>
                </a:solidFill>
                <a:latin typeface="Calibri" pitchFamily="34" charset="0"/>
                <a:ea typeface="Calibri" pitchFamily="34" charset="-122"/>
                <a:cs typeface="Calibri" pitchFamily="34" charset="-120"/>
              </a:rPr>
              <a:t>Missions 8, 9</a:t>
            </a:r>
            <a:endParaRPr lang="en-US" sz="1300" dirty="0"/>
          </a:p>
        </p:txBody>
      </p:sp>
      <p:sp>
        <p:nvSpPr>
          <p:cNvPr id="18" name="Shape 15"/>
          <p:cNvSpPr/>
          <p:nvPr/>
        </p:nvSpPr>
        <p:spPr>
          <a:xfrm>
            <a:off x="8970264" y="1508760"/>
            <a:ext cx="2624328" cy="1828800"/>
          </a:xfrm>
          <a:prstGeom prst="roundRect">
            <a:avLst>
              <a:gd name="adj" fmla="val 6000"/>
            </a:avLst>
          </a:prstGeom>
          <a:solidFill>
            <a:srgbClr val="2A1430"/>
          </a:solidFill>
          <a:ln/>
        </p:spPr>
      </p:sp>
      <p:sp>
        <p:nvSpPr>
          <p:cNvPr id="19" name="Text 16"/>
          <p:cNvSpPr txBox="1"/>
          <p:nvPr/>
        </p:nvSpPr>
        <p:spPr>
          <a:xfrm>
            <a:off x="8970264" y="1600200"/>
            <a:ext cx="2624328" cy="868680"/>
          </a:xfrm>
          <a:prstGeom prst="rect">
            <a:avLst/>
          </a:prstGeom>
          <a:noFill/>
          <a:ln/>
        </p:spPr>
        <p:txBody>
          <a:bodyPr wrap="square" lIns="0" tIns="0" rIns="0" bIns="0" rtlCol="0" anchor="ctr"/>
          <a:lstStyle/>
          <a:p>
            <a:pPr algn="ctr" indent="0" marL="0">
              <a:buNone/>
            </a:pPr>
            <a:r>
              <a:rPr lang="en-US" sz="4800" b="1" dirty="0">
                <a:solidFill>
                  <a:srgbClr val="FF8FB1"/>
                </a:solidFill>
                <a:latin typeface="Arial" pitchFamily="34" charset="0"/>
                <a:ea typeface="Arial" pitchFamily="34" charset="-122"/>
                <a:cs typeface="Arial" pitchFamily="34" charset="-120"/>
              </a:rPr>
              <a:t>800</a:t>
            </a:r>
            <a:endParaRPr lang="en-US" sz="4800" dirty="0"/>
          </a:p>
        </p:txBody>
      </p:sp>
      <p:sp>
        <p:nvSpPr>
          <p:cNvPr id="20" name="Text 17"/>
          <p:cNvSpPr txBox="1"/>
          <p:nvPr/>
        </p:nvSpPr>
        <p:spPr>
          <a:xfrm>
            <a:off x="8970264" y="2468880"/>
            <a:ext cx="2624328" cy="320040"/>
          </a:xfrm>
          <a:prstGeom prst="rect">
            <a:avLst/>
          </a:prstGeom>
          <a:noFill/>
          <a:ln/>
        </p:spPr>
        <p:txBody>
          <a:bodyPr wrap="square" lIns="0" tIns="0" rIns="0" bIns="0" rtlCol="0" anchor="ctr"/>
          <a:lstStyle/>
          <a:p>
            <a:pPr algn="ctr" indent="0" marL="0">
              <a:buNone/>
            </a:pPr>
            <a:r>
              <a:rPr lang="en-US" sz="1400" b="1" dirty="0">
                <a:solidFill>
                  <a:srgbClr val="FF8FB1"/>
                </a:solidFill>
                <a:latin typeface="Calibri" pitchFamily="34" charset="0"/>
                <a:ea typeface="Calibri" pitchFamily="34" charset="-122"/>
                <a:cs typeface="Calibri" pitchFamily="34" charset="-120"/>
              </a:rPr>
              <a:t>VERY HARD  ·  points</a:t>
            </a:r>
            <a:endParaRPr lang="en-US" sz="1400" dirty="0"/>
          </a:p>
        </p:txBody>
      </p:sp>
      <p:sp>
        <p:nvSpPr>
          <p:cNvPr id="21" name="Text 18"/>
          <p:cNvSpPr txBox="1"/>
          <p:nvPr/>
        </p:nvSpPr>
        <p:spPr>
          <a:xfrm>
            <a:off x="8970264" y="2834640"/>
            <a:ext cx="2624328" cy="320040"/>
          </a:xfrm>
          <a:prstGeom prst="rect">
            <a:avLst/>
          </a:prstGeom>
          <a:noFill/>
          <a:ln/>
        </p:spPr>
        <p:txBody>
          <a:bodyPr wrap="square" lIns="0" tIns="0" rIns="0" bIns="0" rtlCol="0" anchor="ctr"/>
          <a:lstStyle/>
          <a:p>
            <a:pPr algn="ctr" indent="0" marL="0">
              <a:buNone/>
            </a:pPr>
            <a:r>
              <a:rPr lang="en-US" sz="1300" dirty="0">
                <a:solidFill>
                  <a:srgbClr val="F3C6D4"/>
                </a:solidFill>
                <a:latin typeface="Calibri" pitchFamily="34" charset="0"/>
                <a:ea typeface="Calibri" pitchFamily="34" charset="-122"/>
                <a:cs typeface="Calibri" pitchFamily="34" charset="-120"/>
              </a:rPr>
              <a:t>Mission 10: Case closed</a:t>
            </a:r>
            <a:endParaRPr lang="en-US" sz="1300" dirty="0"/>
          </a:p>
        </p:txBody>
      </p:sp>
      <p:sp>
        <p:nvSpPr>
          <p:cNvPr id="22" name="Shape 19"/>
          <p:cNvSpPr/>
          <p:nvPr/>
        </p:nvSpPr>
        <p:spPr>
          <a:xfrm>
            <a:off x="548640" y="3611880"/>
            <a:ext cx="3566160" cy="2286000"/>
          </a:xfrm>
          <a:prstGeom prst="roundRect">
            <a:avLst>
              <a:gd name="adj" fmla="val 4000"/>
            </a:avLst>
          </a:prstGeom>
          <a:solidFill>
            <a:srgbClr val="F1F5FB"/>
          </a:solidFill>
          <a:ln/>
        </p:spPr>
      </p:sp>
      <p:sp>
        <p:nvSpPr>
          <p:cNvPr id="23" name="Shape 20"/>
          <p:cNvSpPr/>
          <p:nvPr/>
        </p:nvSpPr>
        <p:spPr>
          <a:xfrm>
            <a:off x="822960" y="3794760"/>
            <a:ext cx="685800" cy="685800"/>
          </a:xfrm>
          <a:prstGeom prst="ellipse">
            <a:avLst/>
          </a:prstGeom>
          <a:solidFill>
            <a:srgbClr val="2459D8"/>
          </a:solidFill>
          <a:ln/>
        </p:spPr>
      </p:sp>
      <p:pic>
        <p:nvPicPr>
          <p:cNvPr id="24" name="Image 0" descr="preencoded.png">    </p:cNvPr>
          <p:cNvPicPr>
            <a:picLocks noChangeAspect="1"/>
          </p:cNvPicPr>
          <p:nvPr/>
        </p:nvPicPr>
        <p:blipFill>
          <a:blip r:embed="rId1"/>
          <a:stretch>
            <a:fillRect/>
          </a:stretch>
        </p:blipFill>
        <p:spPr>
          <a:xfrm>
            <a:off x="994410" y="3966210"/>
            <a:ext cx="342900" cy="342900"/>
          </a:xfrm>
          <a:prstGeom prst="rect">
            <a:avLst/>
          </a:prstGeom>
        </p:spPr>
      </p:pic>
      <p:sp>
        <p:nvSpPr>
          <p:cNvPr id="25" name="Text 21"/>
          <p:cNvSpPr txBox="1"/>
          <p:nvPr/>
        </p:nvSpPr>
        <p:spPr>
          <a:xfrm>
            <a:off x="1691640" y="3840480"/>
            <a:ext cx="2331720" cy="594360"/>
          </a:xfrm>
          <a:prstGeom prst="rect">
            <a:avLst/>
          </a:prstGeom>
          <a:noFill/>
          <a:ln/>
        </p:spPr>
        <p:txBody>
          <a:bodyPr wrap="square" lIns="0" tIns="0" rIns="0" bIns="0" rtlCol="0" anchor="ctr"/>
          <a:lstStyle/>
          <a:p>
            <a:pPr indent="0" marL="0">
              <a:buNone/>
            </a:pPr>
            <a:r>
              <a:rPr lang="en-US" sz="1900" b="1" dirty="0">
                <a:solidFill>
                  <a:srgbClr val="12213A"/>
                </a:solidFill>
                <a:latin typeface="Calibri" pitchFamily="34" charset="0"/>
                <a:ea typeface="Calibri" pitchFamily="34" charset="-122"/>
                <a:cs typeface="Calibri" pitchFamily="34" charset="-120"/>
              </a:rPr>
              <a:t>The clock counts up</a:t>
            </a:r>
            <a:endParaRPr lang="en-US" sz="1900" dirty="0"/>
          </a:p>
        </p:txBody>
      </p:sp>
      <p:sp>
        <p:nvSpPr>
          <p:cNvPr id="26" name="Text 22"/>
          <p:cNvSpPr txBox="1"/>
          <p:nvPr/>
        </p:nvSpPr>
        <p:spPr>
          <a:xfrm>
            <a:off x="822960" y="4663440"/>
            <a:ext cx="3063240" cy="109728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It starts with Mission 1 and stops at your last flag. Nobody is cut off.</a:t>
            </a:r>
            <a:endParaRPr lang="en-US" sz="1500" dirty="0"/>
          </a:p>
        </p:txBody>
      </p:sp>
      <p:sp>
        <p:nvSpPr>
          <p:cNvPr id="27" name="Shape 23"/>
          <p:cNvSpPr/>
          <p:nvPr/>
        </p:nvSpPr>
        <p:spPr>
          <a:xfrm>
            <a:off x="4306824" y="3611880"/>
            <a:ext cx="3566160" cy="2286000"/>
          </a:xfrm>
          <a:prstGeom prst="roundRect">
            <a:avLst>
              <a:gd name="adj" fmla="val 4000"/>
            </a:avLst>
          </a:prstGeom>
          <a:solidFill>
            <a:srgbClr val="F1F5FB"/>
          </a:solidFill>
          <a:ln/>
        </p:spPr>
      </p:sp>
      <p:sp>
        <p:nvSpPr>
          <p:cNvPr id="28" name="Shape 24"/>
          <p:cNvSpPr/>
          <p:nvPr/>
        </p:nvSpPr>
        <p:spPr>
          <a:xfrm>
            <a:off x="4581144" y="3794760"/>
            <a:ext cx="685800" cy="685800"/>
          </a:xfrm>
          <a:prstGeom prst="ellipse">
            <a:avLst/>
          </a:prstGeom>
          <a:solidFill>
            <a:srgbClr val="F5A623"/>
          </a:solidFill>
          <a:ln/>
        </p:spPr>
      </p:sp>
      <p:pic>
        <p:nvPicPr>
          <p:cNvPr id="29" name="Image 1" descr="preencoded.png">    </p:cNvPr>
          <p:cNvPicPr>
            <a:picLocks noChangeAspect="1"/>
          </p:cNvPicPr>
          <p:nvPr/>
        </p:nvPicPr>
        <p:blipFill>
          <a:blip r:embed="rId2"/>
          <a:stretch>
            <a:fillRect/>
          </a:stretch>
        </p:blipFill>
        <p:spPr>
          <a:xfrm>
            <a:off x="4752594" y="3966210"/>
            <a:ext cx="342900" cy="342900"/>
          </a:xfrm>
          <a:prstGeom prst="rect">
            <a:avLst/>
          </a:prstGeom>
        </p:spPr>
      </p:pic>
      <p:sp>
        <p:nvSpPr>
          <p:cNvPr id="30" name="Text 25"/>
          <p:cNvSpPr txBox="1"/>
          <p:nvPr/>
        </p:nvSpPr>
        <p:spPr>
          <a:xfrm>
            <a:off x="5449824" y="3840480"/>
            <a:ext cx="2331720" cy="594360"/>
          </a:xfrm>
          <a:prstGeom prst="rect">
            <a:avLst/>
          </a:prstGeom>
          <a:noFill/>
          <a:ln/>
        </p:spPr>
        <p:txBody>
          <a:bodyPr wrap="square" lIns="0" tIns="0" rIns="0" bIns="0" rtlCol="0" anchor="ctr"/>
          <a:lstStyle/>
          <a:p>
            <a:pPr indent="0" marL="0">
              <a:buNone/>
            </a:pPr>
            <a:r>
              <a:rPr lang="en-US" sz="1900" b="1" dirty="0">
                <a:solidFill>
                  <a:srgbClr val="12213A"/>
                </a:solidFill>
                <a:latin typeface="Calibri" pitchFamily="34" charset="0"/>
                <a:ea typeface="Calibri" pitchFamily="34" charset="-122"/>
                <a:cs typeface="Calibri" pitchFamily="34" charset="-120"/>
              </a:rPr>
              <a:t>Most points wins</a:t>
            </a:r>
            <a:endParaRPr lang="en-US" sz="1900" dirty="0"/>
          </a:p>
        </p:txBody>
      </p:sp>
      <p:sp>
        <p:nvSpPr>
          <p:cNvPr id="31" name="Text 26"/>
          <p:cNvSpPr txBox="1"/>
          <p:nvPr/>
        </p:nvSpPr>
        <p:spPr>
          <a:xfrm>
            <a:off x="4581144" y="4663440"/>
            <a:ext cx="3063240" cy="109728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Tie on points? The faster time wins.</a:t>
            </a:r>
            <a:endParaRPr lang="en-US" sz="1500" dirty="0"/>
          </a:p>
        </p:txBody>
      </p:sp>
      <p:sp>
        <p:nvSpPr>
          <p:cNvPr id="32" name="Shape 27"/>
          <p:cNvSpPr/>
          <p:nvPr/>
        </p:nvSpPr>
        <p:spPr>
          <a:xfrm>
            <a:off x="8065008" y="3611880"/>
            <a:ext cx="3566160" cy="2286000"/>
          </a:xfrm>
          <a:prstGeom prst="roundRect">
            <a:avLst>
              <a:gd name="adj" fmla="val 4000"/>
            </a:avLst>
          </a:prstGeom>
          <a:solidFill>
            <a:srgbClr val="F1F5FB"/>
          </a:solidFill>
          <a:ln/>
        </p:spPr>
      </p:sp>
      <p:sp>
        <p:nvSpPr>
          <p:cNvPr id="33" name="Shape 28"/>
          <p:cNvSpPr/>
          <p:nvPr/>
        </p:nvSpPr>
        <p:spPr>
          <a:xfrm>
            <a:off x="8339328" y="3794760"/>
            <a:ext cx="685800" cy="685800"/>
          </a:xfrm>
          <a:prstGeom prst="ellipse">
            <a:avLst/>
          </a:prstGeom>
          <a:solidFill>
            <a:srgbClr val="17875A"/>
          </a:solidFill>
          <a:ln/>
        </p:spPr>
      </p:sp>
      <p:pic>
        <p:nvPicPr>
          <p:cNvPr id="34" name="Image 2" descr="preencoded.png">    </p:cNvPr>
          <p:cNvPicPr>
            <a:picLocks noChangeAspect="1"/>
          </p:cNvPicPr>
          <p:nvPr/>
        </p:nvPicPr>
        <p:blipFill>
          <a:blip r:embed="rId3"/>
          <a:stretch>
            <a:fillRect/>
          </a:stretch>
        </p:blipFill>
        <p:spPr>
          <a:xfrm>
            <a:off x="8510778" y="3966210"/>
            <a:ext cx="342900" cy="342900"/>
          </a:xfrm>
          <a:prstGeom prst="rect">
            <a:avLst/>
          </a:prstGeom>
        </p:spPr>
      </p:pic>
      <p:sp>
        <p:nvSpPr>
          <p:cNvPr id="35" name="Text 29"/>
          <p:cNvSpPr txBox="1"/>
          <p:nvPr/>
        </p:nvSpPr>
        <p:spPr>
          <a:xfrm>
            <a:off x="9208008" y="3840480"/>
            <a:ext cx="2331720" cy="594360"/>
          </a:xfrm>
          <a:prstGeom prst="rect">
            <a:avLst/>
          </a:prstGeom>
          <a:noFill/>
          <a:ln/>
        </p:spPr>
        <p:txBody>
          <a:bodyPr wrap="square" lIns="0" tIns="0" rIns="0" bIns="0" rtlCol="0" anchor="ctr"/>
          <a:lstStyle/>
          <a:p>
            <a:pPr indent="0" marL="0">
              <a:buNone/>
            </a:pPr>
            <a:r>
              <a:rPr lang="en-US" sz="1900" b="1" dirty="0">
                <a:solidFill>
                  <a:srgbClr val="12213A"/>
                </a:solidFill>
                <a:latin typeface="Calibri" pitchFamily="34" charset="0"/>
                <a:ea typeface="Calibri" pitchFamily="34" charset="-122"/>
                <a:cs typeface="Calibri" pitchFamily="34" charset="-120"/>
              </a:rPr>
              <a:t>Hints cost 5%</a:t>
            </a:r>
            <a:endParaRPr lang="en-US" sz="1900" dirty="0"/>
          </a:p>
        </p:txBody>
      </p:sp>
      <p:sp>
        <p:nvSpPr>
          <p:cNvPr id="36" name="Text 30"/>
          <p:cNvSpPr txBox="1"/>
          <p:nvPr/>
        </p:nvSpPr>
        <p:spPr>
          <a:xfrm>
            <a:off x="8339328" y="4663440"/>
            <a:ext cx="3063240" cy="109728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Of that mission's points, per hint, charged once. Wrong flags cost nothing.</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investigator's routine, every time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25</a:t>
            </a:r>
            <a:endParaRPr lang="en-US" sz="1000" dirty="0"/>
          </a:p>
        </p:txBody>
      </p:sp>
      <p:sp>
        <p:nvSpPr>
          <p:cNvPr id="6" name="Shape 3"/>
          <p:cNvSpPr/>
          <p:nvPr/>
        </p:nvSpPr>
        <p:spPr>
          <a:xfrm>
            <a:off x="548640" y="1600200"/>
            <a:ext cx="2011680" cy="3200400"/>
          </a:xfrm>
          <a:prstGeom prst="roundRect">
            <a:avLst>
              <a:gd name="adj" fmla="val 4545"/>
            </a:avLst>
          </a:prstGeom>
          <a:solidFill>
            <a:srgbClr val="F1F5FB"/>
          </a:solidFill>
          <a:ln/>
        </p:spPr>
      </p:sp>
      <p:sp>
        <p:nvSpPr>
          <p:cNvPr id="7" name="Shape 4"/>
          <p:cNvSpPr/>
          <p:nvPr/>
        </p:nvSpPr>
        <p:spPr>
          <a:xfrm>
            <a:off x="1097280" y="1828800"/>
            <a:ext cx="914400" cy="914400"/>
          </a:xfrm>
          <a:prstGeom prst="ellipse">
            <a:avLst/>
          </a:prstGeom>
          <a:solidFill>
            <a:srgbClr val="2A9FD6"/>
          </a:solidFill>
          <a:ln/>
        </p:spPr>
      </p:sp>
      <p:pic>
        <p:nvPicPr>
          <p:cNvPr id="8" name="Image 0" descr="preencoded.png">    </p:cNvPr>
          <p:cNvPicPr>
            <a:picLocks noChangeAspect="1"/>
          </p:cNvPicPr>
          <p:nvPr/>
        </p:nvPicPr>
        <p:blipFill>
          <a:blip r:embed="rId1"/>
          <a:stretch>
            <a:fillRect/>
          </a:stretch>
        </p:blipFill>
        <p:spPr>
          <a:xfrm>
            <a:off x="1325880" y="2057400"/>
            <a:ext cx="457200" cy="457200"/>
          </a:xfrm>
          <a:prstGeom prst="rect">
            <a:avLst/>
          </a:prstGeom>
        </p:spPr>
      </p:pic>
      <p:sp>
        <p:nvSpPr>
          <p:cNvPr id="9" name="Text 5"/>
          <p:cNvSpPr txBox="1"/>
          <p:nvPr/>
        </p:nvSpPr>
        <p:spPr>
          <a:xfrm>
            <a:off x="685800"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Read</a:t>
            </a:r>
            <a:endParaRPr lang="en-US" sz="2400" dirty="0"/>
          </a:p>
        </p:txBody>
      </p:sp>
      <p:sp>
        <p:nvSpPr>
          <p:cNvPr id="10" name="Text 6"/>
          <p:cNvSpPr txBox="1"/>
          <p:nvPr/>
        </p:nvSpPr>
        <p:spPr>
          <a:xfrm>
            <a:off x="731520"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the case: cat README.txt.</a:t>
            </a:r>
            <a:endParaRPr lang="en-US" sz="1500" dirty="0"/>
          </a:p>
        </p:txBody>
      </p:sp>
      <p:sp>
        <p:nvSpPr>
          <p:cNvPr id="11" name="Text 7"/>
          <p:cNvSpPr txBox="1"/>
          <p:nvPr/>
        </p:nvSpPr>
        <p:spPr>
          <a:xfrm>
            <a:off x="2560320"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8"/>
          <p:cNvSpPr/>
          <p:nvPr/>
        </p:nvSpPr>
        <p:spPr>
          <a:xfrm>
            <a:off x="2816352" y="1600200"/>
            <a:ext cx="2011680" cy="3200400"/>
          </a:xfrm>
          <a:prstGeom prst="roundRect">
            <a:avLst>
              <a:gd name="adj" fmla="val 4545"/>
            </a:avLst>
          </a:prstGeom>
          <a:solidFill>
            <a:srgbClr val="F1F5FB"/>
          </a:solidFill>
          <a:ln/>
        </p:spPr>
      </p:sp>
      <p:sp>
        <p:nvSpPr>
          <p:cNvPr id="13" name="Shape 9"/>
          <p:cNvSpPr/>
          <p:nvPr/>
        </p:nvSpPr>
        <p:spPr>
          <a:xfrm>
            <a:off x="3364992" y="1828800"/>
            <a:ext cx="914400" cy="914400"/>
          </a:xfrm>
          <a:prstGeom prst="ellipse">
            <a:avLst/>
          </a:prstGeom>
          <a:solidFill>
            <a:srgbClr val="2459D8"/>
          </a:solidFill>
          <a:ln/>
        </p:spPr>
      </p:sp>
      <p:pic>
        <p:nvPicPr>
          <p:cNvPr id="14" name="Image 1" descr="preencoded.png">    </p:cNvPr>
          <p:cNvPicPr>
            <a:picLocks noChangeAspect="1"/>
          </p:cNvPicPr>
          <p:nvPr/>
        </p:nvPicPr>
        <p:blipFill>
          <a:blip r:embed="rId2"/>
          <a:stretch>
            <a:fillRect/>
          </a:stretch>
        </p:blipFill>
        <p:spPr>
          <a:xfrm>
            <a:off x="3593592" y="2057400"/>
            <a:ext cx="457200" cy="457200"/>
          </a:xfrm>
          <a:prstGeom prst="rect">
            <a:avLst/>
          </a:prstGeom>
        </p:spPr>
      </p:pic>
      <p:sp>
        <p:nvSpPr>
          <p:cNvPr id="15" name="Text 10"/>
          <p:cNvSpPr txBox="1"/>
          <p:nvPr/>
        </p:nvSpPr>
        <p:spPr>
          <a:xfrm>
            <a:off x="2953512"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Survey</a:t>
            </a:r>
            <a:endParaRPr lang="en-US" sz="2400" dirty="0"/>
          </a:p>
        </p:txBody>
      </p:sp>
      <p:sp>
        <p:nvSpPr>
          <p:cNvPr id="16" name="Text 11"/>
          <p:cNvSpPr txBox="1"/>
          <p:nvPr/>
        </p:nvSpPr>
        <p:spPr>
          <a:xfrm>
            <a:off x="2999232"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ls -l, filetype: what's here?</a:t>
            </a:r>
            <a:endParaRPr lang="en-US" sz="1500" dirty="0"/>
          </a:p>
        </p:txBody>
      </p:sp>
      <p:sp>
        <p:nvSpPr>
          <p:cNvPr id="17" name="Text 12"/>
          <p:cNvSpPr txBox="1"/>
          <p:nvPr/>
        </p:nvSpPr>
        <p:spPr>
          <a:xfrm>
            <a:off x="4828032"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8" name="Shape 13"/>
          <p:cNvSpPr/>
          <p:nvPr/>
        </p:nvSpPr>
        <p:spPr>
          <a:xfrm>
            <a:off x="5084064" y="1600200"/>
            <a:ext cx="2011680" cy="3200400"/>
          </a:xfrm>
          <a:prstGeom prst="roundRect">
            <a:avLst>
              <a:gd name="adj" fmla="val 4545"/>
            </a:avLst>
          </a:prstGeom>
          <a:solidFill>
            <a:srgbClr val="F1F5FB"/>
          </a:solidFill>
          <a:ln/>
        </p:spPr>
      </p:sp>
      <p:sp>
        <p:nvSpPr>
          <p:cNvPr id="19" name="Shape 14"/>
          <p:cNvSpPr/>
          <p:nvPr/>
        </p:nvSpPr>
        <p:spPr>
          <a:xfrm>
            <a:off x="5632704" y="1828800"/>
            <a:ext cx="914400" cy="914400"/>
          </a:xfrm>
          <a:prstGeom prst="ellipse">
            <a:avLst/>
          </a:prstGeom>
          <a:solidFill>
            <a:srgbClr val="7448D4"/>
          </a:solidFill>
          <a:ln/>
        </p:spPr>
      </p:sp>
      <p:pic>
        <p:nvPicPr>
          <p:cNvPr id="20" name="Image 2" descr="preencoded.png">    </p:cNvPr>
          <p:cNvPicPr>
            <a:picLocks noChangeAspect="1"/>
          </p:cNvPicPr>
          <p:nvPr/>
        </p:nvPicPr>
        <p:blipFill>
          <a:blip r:embed="rId3"/>
          <a:stretch>
            <a:fillRect/>
          </a:stretch>
        </p:blipFill>
        <p:spPr>
          <a:xfrm>
            <a:off x="5861304" y="2057400"/>
            <a:ext cx="457200" cy="457200"/>
          </a:xfrm>
          <a:prstGeom prst="rect">
            <a:avLst/>
          </a:prstGeom>
        </p:spPr>
      </p:pic>
      <p:sp>
        <p:nvSpPr>
          <p:cNvPr id="21" name="Text 15"/>
          <p:cNvSpPr txBox="1"/>
          <p:nvPr/>
        </p:nvSpPr>
        <p:spPr>
          <a:xfrm>
            <a:off x="5221224"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Ask</a:t>
            </a:r>
            <a:endParaRPr lang="en-US" sz="2400" dirty="0"/>
          </a:p>
        </p:txBody>
      </p:sp>
      <p:sp>
        <p:nvSpPr>
          <p:cNvPr id="22" name="Text 16"/>
          <p:cNvSpPr txBox="1"/>
          <p:nvPr/>
        </p:nvSpPr>
        <p:spPr>
          <a:xfrm>
            <a:off x="5266944"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when? what is it? changed?</a:t>
            </a:r>
            <a:endParaRPr lang="en-US" sz="1500" dirty="0"/>
          </a:p>
        </p:txBody>
      </p:sp>
      <p:sp>
        <p:nvSpPr>
          <p:cNvPr id="23" name="Text 17"/>
          <p:cNvSpPr txBox="1"/>
          <p:nvPr/>
        </p:nvSpPr>
        <p:spPr>
          <a:xfrm>
            <a:off x="7095744"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18"/>
          <p:cNvSpPr/>
          <p:nvPr/>
        </p:nvSpPr>
        <p:spPr>
          <a:xfrm>
            <a:off x="7351776" y="1600200"/>
            <a:ext cx="2011680" cy="3200400"/>
          </a:xfrm>
          <a:prstGeom prst="roundRect">
            <a:avLst>
              <a:gd name="adj" fmla="val 4545"/>
            </a:avLst>
          </a:prstGeom>
          <a:solidFill>
            <a:srgbClr val="F1F5FB"/>
          </a:solidFill>
          <a:ln/>
        </p:spPr>
      </p:sp>
      <p:sp>
        <p:nvSpPr>
          <p:cNvPr id="25" name="Shape 19"/>
          <p:cNvSpPr/>
          <p:nvPr/>
        </p:nvSpPr>
        <p:spPr>
          <a:xfrm>
            <a:off x="7900416" y="1828800"/>
            <a:ext cx="914400" cy="914400"/>
          </a:xfrm>
          <a:prstGeom prst="ellipse">
            <a:avLst/>
          </a:prstGeom>
          <a:solidFill>
            <a:srgbClr val="D1416B"/>
          </a:solidFill>
          <a:ln/>
        </p:spPr>
      </p:sp>
      <p:pic>
        <p:nvPicPr>
          <p:cNvPr id="26" name="Image 3" descr="preencoded.png">    </p:cNvPr>
          <p:cNvPicPr>
            <a:picLocks noChangeAspect="1"/>
          </p:cNvPicPr>
          <p:nvPr/>
        </p:nvPicPr>
        <p:blipFill>
          <a:blip r:embed="rId4"/>
          <a:stretch>
            <a:fillRect/>
          </a:stretch>
        </p:blipFill>
        <p:spPr>
          <a:xfrm>
            <a:off x="8129016" y="2057400"/>
            <a:ext cx="457200" cy="457200"/>
          </a:xfrm>
          <a:prstGeom prst="rect">
            <a:avLst/>
          </a:prstGeom>
        </p:spPr>
      </p:pic>
      <p:sp>
        <p:nvSpPr>
          <p:cNvPr id="27" name="Text 20"/>
          <p:cNvSpPr txBox="1"/>
          <p:nvPr/>
        </p:nvSpPr>
        <p:spPr>
          <a:xfrm>
            <a:off x="7488936"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Extract</a:t>
            </a:r>
            <a:endParaRPr lang="en-US" sz="2400" dirty="0"/>
          </a:p>
        </p:txBody>
      </p:sp>
      <p:sp>
        <p:nvSpPr>
          <p:cNvPr id="28" name="Text 21"/>
          <p:cNvSpPr txBox="1"/>
          <p:nvPr/>
        </p:nvSpPr>
        <p:spPr>
          <a:xfrm>
            <a:off x="7534656"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pull out the clue: CYBA{ to }.</a:t>
            </a:r>
            <a:endParaRPr lang="en-US" sz="1500" dirty="0"/>
          </a:p>
        </p:txBody>
      </p:sp>
      <p:sp>
        <p:nvSpPr>
          <p:cNvPr id="29" name="Text 22"/>
          <p:cNvSpPr txBox="1"/>
          <p:nvPr/>
        </p:nvSpPr>
        <p:spPr>
          <a:xfrm>
            <a:off x="9363456"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3"/>
          <p:cNvSpPr/>
          <p:nvPr/>
        </p:nvSpPr>
        <p:spPr>
          <a:xfrm>
            <a:off x="9619488" y="1600200"/>
            <a:ext cx="2011680" cy="3200400"/>
          </a:xfrm>
          <a:prstGeom prst="roundRect">
            <a:avLst>
              <a:gd name="adj" fmla="val 4545"/>
            </a:avLst>
          </a:prstGeom>
          <a:solidFill>
            <a:srgbClr val="F1F5FB"/>
          </a:solidFill>
          <a:ln/>
        </p:spPr>
      </p:sp>
      <p:sp>
        <p:nvSpPr>
          <p:cNvPr id="31" name="Shape 24"/>
          <p:cNvSpPr/>
          <p:nvPr/>
        </p:nvSpPr>
        <p:spPr>
          <a:xfrm>
            <a:off x="10168128" y="1828800"/>
            <a:ext cx="914400" cy="914400"/>
          </a:xfrm>
          <a:prstGeom prst="ellipse">
            <a:avLst/>
          </a:prstGeom>
          <a:solidFill>
            <a:srgbClr val="17875A"/>
          </a:solidFill>
          <a:ln/>
        </p:spPr>
      </p:sp>
      <p:pic>
        <p:nvPicPr>
          <p:cNvPr id="32" name="Image 4" descr="preencoded.png">    </p:cNvPr>
          <p:cNvPicPr>
            <a:picLocks noChangeAspect="1"/>
          </p:cNvPicPr>
          <p:nvPr/>
        </p:nvPicPr>
        <p:blipFill>
          <a:blip r:embed="rId5"/>
          <a:stretch>
            <a:fillRect/>
          </a:stretch>
        </p:blipFill>
        <p:spPr>
          <a:xfrm>
            <a:off x="10396728" y="2057400"/>
            <a:ext cx="457200" cy="457200"/>
          </a:xfrm>
          <a:prstGeom prst="rect">
            <a:avLst/>
          </a:prstGeom>
        </p:spPr>
      </p:pic>
      <p:sp>
        <p:nvSpPr>
          <p:cNvPr id="33" name="Text 25"/>
          <p:cNvSpPr txBox="1"/>
          <p:nvPr/>
        </p:nvSpPr>
        <p:spPr>
          <a:xfrm>
            <a:off x="9756648"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Submit</a:t>
            </a:r>
            <a:endParaRPr lang="en-US" sz="2400" dirty="0"/>
          </a:p>
        </p:txBody>
      </p:sp>
      <p:sp>
        <p:nvSpPr>
          <p:cNvPr id="34" name="Text 26"/>
          <p:cNvSpPr txBox="1"/>
          <p:nvPr/>
        </p:nvSpPr>
        <p:spPr>
          <a:xfrm>
            <a:off x="9802368"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type submit, paste, Enter.</a:t>
            </a:r>
            <a:endParaRPr lang="en-US" sz="1500" dirty="0"/>
          </a:p>
        </p:txBody>
      </p:sp>
      <p:sp>
        <p:nvSpPr>
          <p:cNvPr id="35" name="Shape 27"/>
          <p:cNvSpPr/>
          <p:nvPr/>
        </p:nvSpPr>
        <p:spPr>
          <a:xfrm>
            <a:off x="548640" y="5029200"/>
            <a:ext cx="11094415" cy="914400"/>
          </a:xfrm>
          <a:prstGeom prst="roundRect">
            <a:avLst>
              <a:gd name="adj" fmla="val 10000"/>
            </a:avLst>
          </a:prstGeom>
          <a:solidFill>
            <a:srgbClr val="0E1726"/>
          </a:solidFill>
          <a:ln/>
          <a:effectLst>
            <a:outerShdw sx="100000" sy="100000" kx="0" ky="0" algn="bl" rotWithShape="0" blurRad="127000" dist="38100" dir="5400000">
              <a:srgbClr val="12213A">
                <a:alpha val="22000"/>
              </a:srgbClr>
            </a:outerShdw>
          </a:effectLst>
        </p:spPr>
      </p:sp>
      <p:sp>
        <p:nvSpPr>
          <p:cNvPr id="36" name="Shape 28"/>
          <p:cNvSpPr/>
          <p:nvPr/>
        </p:nvSpPr>
        <p:spPr>
          <a:xfrm>
            <a:off x="749808" y="5184648"/>
            <a:ext cx="118872" cy="118872"/>
          </a:xfrm>
          <a:prstGeom prst="ellipse">
            <a:avLst/>
          </a:prstGeom>
          <a:solidFill>
            <a:srgbClr val="E5534B"/>
          </a:solidFill>
          <a:ln/>
        </p:spPr>
      </p:sp>
      <p:sp>
        <p:nvSpPr>
          <p:cNvPr id="37" name="Shape 29"/>
          <p:cNvSpPr/>
          <p:nvPr/>
        </p:nvSpPr>
        <p:spPr>
          <a:xfrm>
            <a:off x="950976" y="5184648"/>
            <a:ext cx="118872" cy="118872"/>
          </a:xfrm>
          <a:prstGeom prst="ellipse">
            <a:avLst/>
          </a:prstGeom>
          <a:solidFill>
            <a:srgbClr val="F5A623"/>
          </a:solidFill>
          <a:ln/>
        </p:spPr>
      </p:sp>
      <p:sp>
        <p:nvSpPr>
          <p:cNvPr id="38" name="Shape 30"/>
          <p:cNvSpPr/>
          <p:nvPr/>
        </p:nvSpPr>
        <p:spPr>
          <a:xfrm>
            <a:off x="1152144" y="5184648"/>
            <a:ext cx="118872" cy="118872"/>
          </a:xfrm>
          <a:prstGeom prst="ellipse">
            <a:avLst/>
          </a:prstGeom>
          <a:solidFill>
            <a:srgbClr val="46D39A"/>
          </a:solidFill>
          <a:ln/>
        </p:spPr>
      </p:sp>
      <p:sp>
        <p:nvSpPr>
          <p:cNvPr id="39" name="Text 31"/>
          <p:cNvSpPr txBox="1"/>
          <p:nvPr/>
        </p:nvSpPr>
        <p:spPr>
          <a:xfrm>
            <a:off x="822960" y="5486400"/>
            <a:ext cx="10545775" cy="320040"/>
          </a:xfrm>
          <a:prstGeom prst="rect">
            <a:avLst/>
          </a:prstGeom>
          <a:noFill/>
          <a:ln/>
        </p:spPr>
        <p:txBody>
          <a:bodyPr wrap="square" lIns="0" tIns="0" rIns="0" bIns="0" rtlCol="0" anchor="t"/>
          <a:lstStyle/>
          <a:p>
            <a:pPr indent="0" marL="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800" b="1" dirty="0">
                <a:solidFill>
                  <a:srgbClr val="FFFFFF"/>
                </a:solidFill>
                <a:latin typeface="Courier New" pitchFamily="34" charset="0"/>
                <a:ea typeface="Courier New" pitchFamily="34" charset="-122"/>
                <a:cs typeface="Courier New" pitchFamily="34" charset="-120"/>
              </a:rPr>
              <a:t>submit CYBA{case-3c9e01f7}</a:t>
            </a:r>
            <a:pPr indent="0" marL="0">
              <a:spcAft>
                <a:spcPts val="200"/>
              </a:spcAft>
              <a:buNone/>
            </a:pPr>
            <a:r>
              <a:rPr lang="en-US" sz="1800" dirty="0">
                <a:solidFill>
                  <a:srgbClr val="7F8FAD"/>
                </a:solidFill>
                <a:latin typeface="Courier New" pitchFamily="34" charset="0"/>
                <a:ea typeface="Courier New" pitchFamily="34" charset="-122"/>
                <a:cs typeface="Courier New" pitchFamily="34" charset="-120"/>
              </a:rPr>
              <a:t>   # Correct! +100 points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Mission 0: the warm-up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cat orientation.txt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26</a:t>
            </a:r>
            <a:endParaRPr lang="en-US" sz="1000" dirty="0"/>
          </a:p>
        </p:txBody>
      </p:sp>
      <p:sp>
        <p:nvSpPr>
          <p:cNvPr id="10" name="Shape 7"/>
          <p:cNvSpPr/>
          <p:nvPr/>
        </p:nvSpPr>
        <p:spPr>
          <a:xfrm>
            <a:off x="548640" y="1645920"/>
            <a:ext cx="457200" cy="457200"/>
          </a:xfrm>
          <a:prstGeom prst="ellipse">
            <a:avLst/>
          </a:prstGeom>
          <a:solidFill>
            <a:srgbClr val="17875A"/>
          </a:solidFill>
          <a:ln/>
        </p:spPr>
      </p:sp>
      <p:sp>
        <p:nvSpPr>
          <p:cNvPr id="11" name="Text 8"/>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indent="0" marL="0">
              <a:buNone/>
            </a:pPr>
            <a:r>
              <a:rPr lang="en-US" sz="1800" dirty="0">
                <a:solidFill>
                  <a:srgbClr val="12213A"/>
                </a:solidFill>
                <a:latin typeface="Calibri" pitchFamily="34" charset="0"/>
                <a:ea typeface="Calibri" pitchFamily="34" charset="-122"/>
                <a:cs typeface="Calibri" pitchFamily="34" charset="-120"/>
              </a:rPr>
              <a:t>Type  cat orientation.txt  and read it.</a:t>
            </a:r>
            <a:endParaRPr lang="en-US" sz="1800" dirty="0"/>
          </a:p>
        </p:txBody>
      </p:sp>
      <p:sp>
        <p:nvSpPr>
          <p:cNvPr id="13" name="Shape 10"/>
          <p:cNvSpPr/>
          <p:nvPr/>
        </p:nvSpPr>
        <p:spPr>
          <a:xfrm>
            <a:off x="548640" y="2560320"/>
            <a:ext cx="457200" cy="457200"/>
          </a:xfrm>
          <a:prstGeom prst="ellipse">
            <a:avLst/>
          </a:prstGeom>
          <a:solidFill>
            <a:srgbClr val="17875A"/>
          </a:solidFill>
          <a:ln/>
        </p:spPr>
      </p:sp>
      <p:sp>
        <p:nvSpPr>
          <p:cNvPr id="14" name="Text 11"/>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indent="0" marL="0">
              <a:buNone/>
            </a:pPr>
            <a:r>
              <a:rPr lang="en-US" sz="1800" dirty="0">
                <a:solidFill>
                  <a:srgbClr val="12213A"/>
                </a:solidFill>
                <a:latin typeface="Calibri" pitchFamily="34" charset="0"/>
                <a:ea typeface="Calibri" pitchFamily="34" charset="-122"/>
                <a:cs typeface="Calibri" pitchFamily="34" charset="-120"/>
              </a:rPr>
              <a:t>Find 'Your forensics toolkit': the tools for today.</a:t>
            </a:r>
            <a:endParaRPr lang="en-US" sz="1800" dirty="0"/>
          </a:p>
        </p:txBody>
      </p:sp>
      <p:sp>
        <p:nvSpPr>
          <p:cNvPr id="16" name="Shape 13"/>
          <p:cNvSpPr/>
          <p:nvPr/>
        </p:nvSpPr>
        <p:spPr>
          <a:xfrm>
            <a:off x="548640" y="3474720"/>
            <a:ext cx="457200" cy="457200"/>
          </a:xfrm>
          <a:prstGeom prst="ellipse">
            <a:avLst/>
          </a:prstGeom>
          <a:solidFill>
            <a:srgbClr val="17875A"/>
          </a:solidFill>
          <a:ln/>
        </p:spPr>
      </p:sp>
      <p:sp>
        <p:nvSpPr>
          <p:cNvPr id="17" name="Text 14"/>
          <p:cNvSpPr txBox="1"/>
          <p:nvPr/>
        </p:nvSpPr>
        <p:spPr>
          <a:xfrm>
            <a:off x="548640" y="3474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indent="0" marL="0">
              <a:buNone/>
            </a:pPr>
            <a:r>
              <a:rPr lang="en-US" sz="1800" dirty="0">
                <a:solidFill>
                  <a:srgbClr val="12213A"/>
                </a:solidFill>
                <a:latin typeface="Calibri" pitchFamily="34" charset="0"/>
                <a:ea typeface="Calibri" pitchFamily="34" charset="-122"/>
                <a:cs typeface="Calibri" pitchFamily="34" charset="-120"/>
              </a:rPr>
              <a:t>The warm-up flag is on its last line. Submit it.</a:t>
            </a:r>
            <a:endParaRPr lang="en-US" sz="1800" dirty="0"/>
          </a:p>
        </p:txBody>
      </p:sp>
      <p:sp>
        <p:nvSpPr>
          <p:cNvPr id="19" name="Shape 16"/>
          <p:cNvSpPr/>
          <p:nvPr/>
        </p:nvSpPr>
        <p:spPr>
          <a:xfrm>
            <a:off x="548640" y="4389120"/>
            <a:ext cx="457200" cy="457200"/>
          </a:xfrm>
          <a:prstGeom prst="ellipse">
            <a:avLst/>
          </a:prstGeom>
          <a:solidFill>
            <a:srgbClr val="17875A"/>
          </a:solidFill>
          <a:ln/>
        </p:spPr>
      </p:sp>
      <p:sp>
        <p:nvSpPr>
          <p:cNvPr id="20" name="Text 17"/>
          <p:cNvSpPr txBox="1"/>
          <p:nvPr/>
        </p:nvSpPr>
        <p:spPr>
          <a:xfrm>
            <a:off x="548640" y="4389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indent="0" marL="0">
              <a:buNone/>
            </a:pPr>
            <a:r>
              <a:rPr lang="en-US" sz="1800" dirty="0">
                <a:solidFill>
                  <a:srgbClr val="12213A"/>
                </a:solidFill>
                <a:latin typeface="Calibri" pitchFamily="34" charset="0"/>
                <a:ea typeface="Calibri" pitchFamily="34" charset="-122"/>
                <a:cs typeface="Calibri" pitchFamily="34" charset="-120"/>
              </a:rPr>
              <a:t>+50 bonus. Or press Skip warm-up.</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sp>
      <p:sp>
        <p:nvSpPr>
          <p:cNvPr id="23" name="Text 20"/>
          <p:cNvSpPr txBox="1"/>
          <p:nvPr/>
        </p:nvSpPr>
        <p:spPr>
          <a:xfrm>
            <a:off x="822960" y="5440680"/>
            <a:ext cx="4754880" cy="548640"/>
          </a:xfrm>
          <a:prstGeom prst="rect">
            <a:avLst/>
          </a:prstGeom>
          <a:noFill/>
          <a:ln/>
        </p:spPr>
        <p:txBody>
          <a:bodyPr wrap="square" lIns="0" tIns="0" rIns="0" bIns="0" rtlCol="0" anchor="ctr"/>
          <a:lstStyle/>
          <a:p>
            <a:pPr indent="0" marL="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sx="100000" sy="100000" kx="0" ky="0" algn="bl" rotWithShape="0" blurRad="127000" dist="38100" dir="5400000">
              <a:srgbClr val="12213A">
                <a:alpha val="22000"/>
              </a:srgbClr>
            </a:outerShdw>
          </a:effectLst>
        </p:spPr>
      </p:sp>
      <p:sp>
        <p:nvSpPr>
          <p:cNvPr id="25" name="Shape 22"/>
          <p:cNvSpPr/>
          <p:nvPr/>
        </p:nvSpPr>
        <p:spPr>
          <a:xfrm>
            <a:off x="6327648" y="1618488"/>
            <a:ext cx="118872" cy="118872"/>
          </a:xfrm>
          <a:prstGeom prst="ellipse">
            <a:avLst/>
          </a:prstGeom>
          <a:solidFill>
            <a:srgbClr val="E5534B"/>
          </a:solidFill>
          <a:ln/>
        </p:spPr>
      </p:sp>
      <p:sp>
        <p:nvSpPr>
          <p:cNvPr id="26" name="Shape 23"/>
          <p:cNvSpPr/>
          <p:nvPr/>
        </p:nvSpPr>
        <p:spPr>
          <a:xfrm>
            <a:off x="6528816" y="1618488"/>
            <a:ext cx="118872" cy="118872"/>
          </a:xfrm>
          <a:prstGeom prst="ellipse">
            <a:avLst/>
          </a:prstGeom>
          <a:solidFill>
            <a:srgbClr val="F5A623"/>
          </a:solidFill>
          <a:ln/>
        </p:spPr>
      </p:sp>
      <p:sp>
        <p:nvSpPr>
          <p:cNvPr id="27" name="Shape 24"/>
          <p:cNvSpPr/>
          <p:nvPr/>
        </p:nvSpPr>
        <p:spPr>
          <a:xfrm>
            <a:off x="6729984" y="1618488"/>
            <a:ext cx="118872" cy="118872"/>
          </a:xfrm>
          <a:prstGeom prst="ellipse">
            <a:avLst/>
          </a:prstGeom>
          <a:solidFill>
            <a:srgbClr val="46D39A"/>
          </a:solidFill>
          <a:ln/>
        </p:spPr>
      </p:sp>
      <p:sp>
        <p:nvSpPr>
          <p:cNvPr id="28" name="Text 25"/>
          <p:cNvSpPr txBox="1"/>
          <p:nvPr/>
        </p:nvSpPr>
        <p:spPr>
          <a:xfrm>
            <a:off x="7040880" y="1536192"/>
            <a:ext cx="36850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cat orientation.txt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CTF Orientation</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Your forensics toolkit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ls -l  strings  xxd  tar  zcat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sha256sum -c  grep  cut  sort  uniq -c</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filetype: a helper for this CTF</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Warm-up flag:</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CYBA{warmup-...}</a:t>
            </a:r>
            <a:endParaRPr lang="en-US" sz="1350" dirty="0"/>
          </a:p>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submit CYBA{warmup-...}</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Correct! +50 points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the competition runs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27</a:t>
            </a:r>
            <a:endParaRPr lang="en-US" sz="1000" dirty="0"/>
          </a:p>
        </p:txBody>
      </p:sp>
      <p:sp>
        <p:nvSpPr>
          <p:cNvPr id="6" name="Shape 3"/>
          <p:cNvSpPr/>
          <p:nvPr/>
        </p:nvSpPr>
        <p:spPr>
          <a:xfrm>
            <a:off x="548640" y="1554480"/>
            <a:ext cx="5449824" cy="2926080"/>
          </a:xfrm>
          <a:prstGeom prst="roundRect">
            <a:avLst>
              <a:gd name="adj" fmla="val 4375"/>
            </a:avLst>
          </a:prstGeom>
          <a:solidFill>
            <a:srgbClr val="2459D8"/>
          </a:solidFill>
          <a:ln/>
        </p:spPr>
      </p:sp>
      <p:sp>
        <p:nvSpPr>
          <p:cNvPr id="7" name="Text 4"/>
          <p:cNvSpPr txBox="1"/>
          <p:nvPr/>
        </p:nvSpPr>
        <p:spPr>
          <a:xfrm>
            <a:off x="914400" y="1737360"/>
            <a:ext cx="3657600" cy="457200"/>
          </a:xfrm>
          <a:prstGeom prst="rect">
            <a:avLst/>
          </a:prstGeom>
          <a:noFill/>
          <a:ln/>
        </p:spPr>
        <p:txBody>
          <a:bodyPr wrap="square" lIns="0" tIns="0" rIns="0" bIns="0" rtlCol="0" anchor="ctr"/>
          <a:lstStyle/>
          <a:p>
            <a:pPr indent="0" marL="0">
              <a:buNone/>
            </a:pPr>
            <a:r>
              <a:rPr lang="en-US" sz="1800" b="1" dirty="0">
                <a:solidFill>
                  <a:srgbClr val="E8EEFF"/>
                </a:solidFill>
                <a:latin typeface="Calibri" pitchFamily="34" charset="0"/>
                <a:ea typeface="Calibri" pitchFamily="34" charset="-122"/>
                <a:cs typeface="Calibri" pitchFamily="34" charset="-120"/>
              </a:rPr>
              <a:t>Missions 1–2</a:t>
            </a:r>
            <a:endParaRPr lang="en-US" sz="1800" dirty="0"/>
          </a:p>
        </p:txBody>
      </p:sp>
      <p:sp>
        <p:nvSpPr>
          <p:cNvPr id="8" name="Text 5"/>
          <p:cNvSpPr txBox="1"/>
          <p:nvPr/>
        </p:nvSpPr>
        <p:spPr>
          <a:xfrm>
            <a:off x="914400" y="2194560"/>
            <a:ext cx="36576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We do</a:t>
            </a:r>
            <a:endParaRPr lang="en-US" sz="4400" dirty="0"/>
          </a:p>
        </p:txBody>
      </p:sp>
      <p:sp>
        <p:nvSpPr>
          <p:cNvPr id="9" name="Text 6"/>
          <p:cNvSpPr txBox="1"/>
          <p:nvPr/>
        </p:nvSpPr>
        <p:spPr>
          <a:xfrm>
            <a:off x="914400" y="3063240"/>
            <a:ext cx="466344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Guided. The class calls out each command; the mentor types; everyone captures together.</a:t>
            </a:r>
            <a:endParaRPr lang="en-US" sz="1600" dirty="0"/>
          </a:p>
        </p:txBody>
      </p:sp>
      <p:sp>
        <p:nvSpPr>
          <p:cNvPr id="10" name="Text 7"/>
          <p:cNvSpPr txBox="1"/>
          <p:nvPr/>
        </p:nvSpPr>
        <p:spPr>
          <a:xfrm>
            <a:off x="4206240" y="1737360"/>
            <a:ext cx="1463040" cy="457200"/>
          </a:xfrm>
          <a:prstGeom prst="rect">
            <a:avLst/>
          </a:prstGeom>
          <a:noFill/>
          <a:ln/>
        </p:spPr>
        <p:txBody>
          <a:bodyPr wrap="square" lIns="0" tIns="0" rIns="0" bIns="0" rtlCol="0" anchor="ctr"/>
          <a:lstStyle/>
          <a:p>
            <a:pPr algn="r" indent="0" marL="0">
              <a:buNone/>
            </a:pPr>
            <a:r>
              <a:rPr lang="en-US" sz="1800" b="1" dirty="0">
                <a:solidFill>
                  <a:srgbClr val="FFFFFF"/>
                </a:solidFill>
                <a:latin typeface="Courier New" pitchFamily="34" charset="0"/>
                <a:ea typeface="Courier New" pitchFamily="34" charset="-122"/>
                <a:cs typeface="Courier New" pitchFamily="34" charset="-120"/>
              </a:rPr>
              <a:t>200 pts</a:t>
            </a:r>
            <a:endParaRPr lang="en-US" sz="1800" dirty="0"/>
          </a:p>
        </p:txBody>
      </p:sp>
      <p:sp>
        <p:nvSpPr>
          <p:cNvPr id="11" name="Shape 8"/>
          <p:cNvSpPr/>
          <p:nvPr/>
        </p:nvSpPr>
        <p:spPr>
          <a:xfrm>
            <a:off x="6190488" y="1554480"/>
            <a:ext cx="5449824" cy="2926080"/>
          </a:xfrm>
          <a:prstGeom prst="roundRect">
            <a:avLst>
              <a:gd name="adj" fmla="val 4375"/>
            </a:avLst>
          </a:prstGeom>
          <a:solidFill>
            <a:srgbClr val="17875A"/>
          </a:solidFill>
          <a:ln/>
        </p:spPr>
      </p:sp>
      <p:sp>
        <p:nvSpPr>
          <p:cNvPr id="12" name="Text 9"/>
          <p:cNvSpPr txBox="1"/>
          <p:nvPr/>
        </p:nvSpPr>
        <p:spPr>
          <a:xfrm>
            <a:off x="6556248" y="1737360"/>
            <a:ext cx="3657600" cy="457200"/>
          </a:xfrm>
          <a:prstGeom prst="rect">
            <a:avLst/>
          </a:prstGeom>
          <a:noFill/>
          <a:ln/>
        </p:spPr>
        <p:txBody>
          <a:bodyPr wrap="square" lIns="0" tIns="0" rIns="0" bIns="0" rtlCol="0" anchor="ctr"/>
          <a:lstStyle/>
          <a:p>
            <a:pPr indent="0" marL="0">
              <a:buNone/>
            </a:pPr>
            <a:r>
              <a:rPr lang="en-US" sz="1800" b="1" dirty="0">
                <a:solidFill>
                  <a:srgbClr val="E8EEFF"/>
                </a:solidFill>
                <a:latin typeface="Calibri" pitchFamily="34" charset="0"/>
                <a:ea typeface="Calibri" pitchFamily="34" charset="-122"/>
                <a:cs typeface="Calibri" pitchFamily="34" charset="-120"/>
              </a:rPr>
              <a:t>Missions 3–10</a:t>
            </a:r>
            <a:endParaRPr lang="en-US" sz="1800" dirty="0"/>
          </a:p>
        </p:txBody>
      </p:sp>
      <p:sp>
        <p:nvSpPr>
          <p:cNvPr id="13" name="Text 10"/>
          <p:cNvSpPr txBox="1"/>
          <p:nvPr/>
        </p:nvSpPr>
        <p:spPr>
          <a:xfrm>
            <a:off x="6556248" y="2194560"/>
            <a:ext cx="36576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You do</a:t>
            </a:r>
            <a:endParaRPr lang="en-US" sz="4400" dirty="0"/>
          </a:p>
        </p:txBody>
      </p:sp>
      <p:sp>
        <p:nvSpPr>
          <p:cNvPr id="14" name="Text 11"/>
          <p:cNvSpPr txBox="1"/>
          <p:nvPr/>
        </p:nvSpPr>
        <p:spPr>
          <a:xfrm>
            <a:off x="6556248" y="3063240"/>
            <a:ext cx="466344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The race. Teams investigate on their own clock. The walkthrough comes after most teams have it.</a:t>
            </a:r>
            <a:endParaRPr lang="en-US" sz="1600" dirty="0"/>
          </a:p>
        </p:txBody>
      </p:sp>
      <p:sp>
        <p:nvSpPr>
          <p:cNvPr id="15" name="Text 12"/>
          <p:cNvSpPr txBox="1"/>
          <p:nvPr/>
        </p:nvSpPr>
        <p:spPr>
          <a:xfrm>
            <a:off x="9848088" y="1737360"/>
            <a:ext cx="1463040" cy="457200"/>
          </a:xfrm>
          <a:prstGeom prst="rect">
            <a:avLst/>
          </a:prstGeom>
          <a:noFill/>
          <a:ln/>
        </p:spPr>
        <p:txBody>
          <a:bodyPr wrap="square" lIns="0" tIns="0" rIns="0" bIns="0" rtlCol="0" anchor="ctr"/>
          <a:lstStyle/>
          <a:p>
            <a:pPr algn="r" indent="0" marL="0">
              <a:buNone/>
            </a:pPr>
            <a:r>
              <a:rPr lang="en-US" sz="1800" b="1" dirty="0">
                <a:solidFill>
                  <a:srgbClr val="FFFFFF"/>
                </a:solidFill>
                <a:latin typeface="Courier New" pitchFamily="34" charset="0"/>
                <a:ea typeface="Courier New" pitchFamily="34" charset="-122"/>
                <a:cs typeface="Courier New" pitchFamily="34" charset="-120"/>
              </a:rPr>
              <a:t>2,500 pts</a:t>
            </a:r>
            <a:endParaRPr lang="en-US" sz="1800" dirty="0"/>
          </a:p>
        </p:txBody>
      </p:sp>
      <p:sp>
        <p:nvSpPr>
          <p:cNvPr id="16" name="Shape 13"/>
          <p:cNvSpPr/>
          <p:nvPr/>
        </p:nvSpPr>
        <p:spPr>
          <a:xfrm>
            <a:off x="548640" y="4754880"/>
            <a:ext cx="2084832" cy="1143000"/>
          </a:xfrm>
          <a:prstGeom prst="roundRect">
            <a:avLst>
              <a:gd name="adj" fmla="val 8000"/>
            </a:avLst>
          </a:prstGeom>
          <a:solidFill>
            <a:srgbClr val="F1F5FB"/>
          </a:solidFill>
          <a:ln/>
        </p:spPr>
      </p:sp>
      <p:sp>
        <p:nvSpPr>
          <p:cNvPr id="17" name="Text 14"/>
          <p:cNvSpPr txBox="1"/>
          <p:nvPr/>
        </p:nvSpPr>
        <p:spPr>
          <a:xfrm>
            <a:off x="731520" y="4846320"/>
            <a:ext cx="1828800" cy="411480"/>
          </a:xfrm>
          <a:prstGeom prst="rect">
            <a:avLst/>
          </a:prstGeom>
          <a:noFill/>
          <a:ln/>
        </p:spPr>
        <p:txBody>
          <a:bodyPr wrap="square" lIns="0" tIns="0" rIns="0" bIns="0" rtlCol="0" anchor="t"/>
          <a:lstStyle/>
          <a:p>
            <a:pPr indent="0" marL="0">
              <a:buNone/>
            </a:pPr>
            <a:r>
              <a:rPr lang="en-US" sz="1900" b="1" dirty="0">
                <a:solidFill>
                  <a:srgbClr val="17875A"/>
                </a:solidFill>
                <a:latin typeface="Arial" pitchFamily="34" charset="0"/>
                <a:ea typeface="Arial" pitchFamily="34" charset="-122"/>
                <a:cs typeface="Arial" pitchFamily="34" charset="-120"/>
              </a:rPr>
              <a:t>Read</a:t>
            </a:r>
            <a:endParaRPr lang="en-US" sz="1900" dirty="0"/>
          </a:p>
        </p:txBody>
      </p:sp>
      <p:sp>
        <p:nvSpPr>
          <p:cNvPr id="18" name="Text 15"/>
          <p:cNvSpPr txBox="1"/>
          <p:nvPr/>
        </p:nvSpPr>
        <p:spPr>
          <a:xfrm>
            <a:off x="731520"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the brief out loud</a:t>
            </a:r>
            <a:endParaRPr lang="en-US" sz="1400" dirty="0"/>
          </a:p>
        </p:txBody>
      </p:sp>
      <p:sp>
        <p:nvSpPr>
          <p:cNvPr id="19" name="Shape 16"/>
          <p:cNvSpPr/>
          <p:nvPr/>
        </p:nvSpPr>
        <p:spPr>
          <a:xfrm>
            <a:off x="2816352" y="4754880"/>
            <a:ext cx="2084832" cy="1143000"/>
          </a:xfrm>
          <a:prstGeom prst="roundRect">
            <a:avLst>
              <a:gd name="adj" fmla="val 8000"/>
            </a:avLst>
          </a:prstGeom>
          <a:solidFill>
            <a:srgbClr val="F1F5FB"/>
          </a:solidFill>
          <a:ln/>
        </p:spPr>
      </p:sp>
      <p:sp>
        <p:nvSpPr>
          <p:cNvPr id="20" name="Text 17"/>
          <p:cNvSpPr txBox="1"/>
          <p:nvPr/>
        </p:nvSpPr>
        <p:spPr>
          <a:xfrm>
            <a:off x="2999232" y="4846320"/>
            <a:ext cx="1828800" cy="411480"/>
          </a:xfrm>
          <a:prstGeom prst="rect">
            <a:avLst/>
          </a:prstGeom>
          <a:noFill/>
          <a:ln/>
        </p:spPr>
        <p:txBody>
          <a:bodyPr wrap="square" lIns="0" tIns="0" rIns="0" bIns="0" rtlCol="0" anchor="t"/>
          <a:lstStyle/>
          <a:p>
            <a:pPr indent="0" marL="0">
              <a:buNone/>
            </a:pPr>
            <a:r>
              <a:rPr lang="en-US" sz="1900" b="1" dirty="0">
                <a:solidFill>
                  <a:srgbClr val="2A9FD6"/>
                </a:solidFill>
                <a:latin typeface="Arial" pitchFamily="34" charset="0"/>
                <a:ea typeface="Arial" pitchFamily="34" charset="-122"/>
                <a:cs typeface="Arial" pitchFamily="34" charset="-120"/>
              </a:rPr>
              <a:t>Ask</a:t>
            </a:r>
            <a:endParaRPr lang="en-US" sz="1900" dirty="0"/>
          </a:p>
        </p:txBody>
      </p:sp>
      <p:sp>
        <p:nvSpPr>
          <p:cNvPr id="21" name="Text 18"/>
          <p:cNvSpPr txBox="1"/>
          <p:nvPr/>
        </p:nvSpPr>
        <p:spPr>
          <a:xfrm>
            <a:off x="2999232"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the three questions</a:t>
            </a:r>
            <a:endParaRPr lang="en-US" sz="1400" dirty="0"/>
          </a:p>
        </p:txBody>
      </p:sp>
      <p:sp>
        <p:nvSpPr>
          <p:cNvPr id="22" name="Shape 19"/>
          <p:cNvSpPr/>
          <p:nvPr/>
        </p:nvSpPr>
        <p:spPr>
          <a:xfrm>
            <a:off x="5084064" y="4754880"/>
            <a:ext cx="2084832" cy="1143000"/>
          </a:xfrm>
          <a:prstGeom prst="roundRect">
            <a:avLst>
              <a:gd name="adj" fmla="val 8000"/>
            </a:avLst>
          </a:prstGeom>
          <a:solidFill>
            <a:srgbClr val="F1F5FB"/>
          </a:solidFill>
          <a:ln/>
        </p:spPr>
      </p:sp>
      <p:sp>
        <p:nvSpPr>
          <p:cNvPr id="23" name="Text 20"/>
          <p:cNvSpPr txBox="1"/>
          <p:nvPr/>
        </p:nvSpPr>
        <p:spPr>
          <a:xfrm>
            <a:off x="5266944" y="4846320"/>
            <a:ext cx="1828800" cy="411480"/>
          </a:xfrm>
          <a:prstGeom prst="rect">
            <a:avLst/>
          </a:prstGeom>
          <a:noFill/>
          <a:ln/>
        </p:spPr>
        <p:txBody>
          <a:bodyPr wrap="square" lIns="0" tIns="0" rIns="0" bIns="0" rtlCol="0" anchor="t"/>
          <a:lstStyle/>
          <a:p>
            <a:pPr indent="0" marL="0">
              <a:buNone/>
            </a:pPr>
            <a:r>
              <a:rPr lang="en-US" sz="1900" b="1" dirty="0">
                <a:solidFill>
                  <a:srgbClr val="2459D8"/>
                </a:solidFill>
                <a:latin typeface="Arial" pitchFamily="34" charset="0"/>
                <a:ea typeface="Arial" pitchFamily="34" charset="-122"/>
                <a:cs typeface="Arial" pitchFamily="34" charset="-120"/>
              </a:rPr>
              <a:t>Predict</a:t>
            </a:r>
            <a:endParaRPr lang="en-US" sz="1900" dirty="0"/>
          </a:p>
        </p:txBody>
      </p:sp>
      <p:sp>
        <p:nvSpPr>
          <p:cNvPr id="24" name="Text 21"/>
          <p:cNvSpPr txBox="1"/>
          <p:nvPr/>
        </p:nvSpPr>
        <p:spPr>
          <a:xfrm>
            <a:off x="5266944"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which tool, what output</a:t>
            </a:r>
            <a:endParaRPr lang="en-US" sz="1400" dirty="0"/>
          </a:p>
        </p:txBody>
      </p:sp>
      <p:sp>
        <p:nvSpPr>
          <p:cNvPr id="25" name="Shape 22"/>
          <p:cNvSpPr/>
          <p:nvPr/>
        </p:nvSpPr>
        <p:spPr>
          <a:xfrm>
            <a:off x="7351776" y="4754880"/>
            <a:ext cx="2084832" cy="1143000"/>
          </a:xfrm>
          <a:prstGeom prst="roundRect">
            <a:avLst>
              <a:gd name="adj" fmla="val 8000"/>
            </a:avLst>
          </a:prstGeom>
          <a:solidFill>
            <a:srgbClr val="F1F5FB"/>
          </a:solidFill>
          <a:ln/>
        </p:spPr>
      </p:sp>
      <p:sp>
        <p:nvSpPr>
          <p:cNvPr id="26" name="Text 23"/>
          <p:cNvSpPr txBox="1"/>
          <p:nvPr/>
        </p:nvSpPr>
        <p:spPr>
          <a:xfrm>
            <a:off x="7534656" y="4846320"/>
            <a:ext cx="1828800" cy="411480"/>
          </a:xfrm>
          <a:prstGeom prst="rect">
            <a:avLst/>
          </a:prstGeom>
          <a:noFill/>
          <a:ln/>
        </p:spPr>
        <p:txBody>
          <a:bodyPr wrap="square" lIns="0" tIns="0" rIns="0" bIns="0" rtlCol="0" anchor="t"/>
          <a:lstStyle/>
          <a:p>
            <a:pPr indent="0" marL="0">
              <a:buNone/>
            </a:pPr>
            <a:r>
              <a:rPr lang="en-US" sz="1900" b="1" dirty="0">
                <a:solidFill>
                  <a:srgbClr val="7448D4"/>
                </a:solidFill>
                <a:latin typeface="Arial" pitchFamily="34" charset="0"/>
                <a:ea typeface="Arial" pitchFamily="34" charset="-122"/>
                <a:cs typeface="Arial" pitchFamily="34" charset="-120"/>
              </a:rPr>
              <a:t>Extract</a:t>
            </a:r>
            <a:endParaRPr lang="en-US" sz="1900" dirty="0"/>
          </a:p>
        </p:txBody>
      </p:sp>
      <p:sp>
        <p:nvSpPr>
          <p:cNvPr id="27" name="Text 24"/>
          <p:cNvSpPr txBox="1"/>
          <p:nvPr/>
        </p:nvSpPr>
        <p:spPr>
          <a:xfrm>
            <a:off x="7534656"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one step at a time</a:t>
            </a:r>
            <a:endParaRPr lang="en-US" sz="1400" dirty="0"/>
          </a:p>
        </p:txBody>
      </p:sp>
      <p:sp>
        <p:nvSpPr>
          <p:cNvPr id="28" name="Shape 25"/>
          <p:cNvSpPr/>
          <p:nvPr/>
        </p:nvSpPr>
        <p:spPr>
          <a:xfrm>
            <a:off x="9619488" y="4754880"/>
            <a:ext cx="2084832" cy="1143000"/>
          </a:xfrm>
          <a:prstGeom prst="roundRect">
            <a:avLst>
              <a:gd name="adj" fmla="val 8000"/>
            </a:avLst>
          </a:prstGeom>
          <a:solidFill>
            <a:srgbClr val="F1F5FB"/>
          </a:solidFill>
          <a:ln/>
        </p:spPr>
      </p:sp>
      <p:sp>
        <p:nvSpPr>
          <p:cNvPr id="29" name="Text 26"/>
          <p:cNvSpPr txBox="1"/>
          <p:nvPr/>
        </p:nvSpPr>
        <p:spPr>
          <a:xfrm>
            <a:off x="9802368" y="4846320"/>
            <a:ext cx="1828800" cy="411480"/>
          </a:xfrm>
          <a:prstGeom prst="rect">
            <a:avLst/>
          </a:prstGeom>
          <a:noFill/>
          <a:ln/>
        </p:spPr>
        <p:txBody>
          <a:bodyPr wrap="square" lIns="0" tIns="0" rIns="0" bIns="0" rtlCol="0" anchor="t"/>
          <a:lstStyle/>
          <a:p>
            <a:pPr indent="0" marL="0">
              <a:buNone/>
            </a:pPr>
            <a:r>
              <a:rPr lang="en-US" sz="1900" b="1" dirty="0">
                <a:solidFill>
                  <a:srgbClr val="D1416B"/>
                </a:solidFill>
                <a:latin typeface="Arial" pitchFamily="34" charset="0"/>
                <a:ea typeface="Arial" pitchFamily="34" charset="-122"/>
                <a:cs typeface="Arial" pitchFamily="34" charset="-120"/>
              </a:rPr>
              <a:t>Explain</a:t>
            </a:r>
            <a:endParaRPr lang="en-US" sz="1900" dirty="0"/>
          </a:p>
        </p:txBody>
      </p:sp>
      <p:sp>
        <p:nvSpPr>
          <p:cNvPr id="30" name="Text 27"/>
          <p:cNvSpPr txBox="1"/>
          <p:nvPr/>
        </p:nvSpPr>
        <p:spPr>
          <a:xfrm>
            <a:off x="9802368"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in plain words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trail: ten clues, 2,700 points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28</a:t>
            </a:r>
            <a:endParaRPr lang="en-US" sz="1000" dirty="0"/>
          </a:p>
        </p:txBody>
      </p:sp>
      <p:sp>
        <p:nvSpPr>
          <p:cNvPr id="6" name="Shape 3"/>
          <p:cNvSpPr/>
          <p:nvPr/>
        </p:nvSpPr>
        <p:spPr>
          <a:xfrm>
            <a:off x="548640" y="1463040"/>
            <a:ext cx="2103120" cy="2103120"/>
          </a:xfrm>
          <a:prstGeom prst="roundRect">
            <a:avLst>
              <a:gd name="adj" fmla="val 4348"/>
            </a:avLst>
          </a:prstGeom>
          <a:solidFill>
            <a:srgbClr val="F1F5FB"/>
          </a:solidFill>
          <a:ln/>
        </p:spPr>
      </p:sp>
      <p:sp>
        <p:nvSpPr>
          <p:cNvPr id="7" name="Shape 4"/>
          <p:cNvSpPr/>
          <p:nvPr/>
        </p:nvSpPr>
        <p:spPr>
          <a:xfrm>
            <a:off x="548640" y="1463040"/>
            <a:ext cx="2103120" cy="91440"/>
          </a:xfrm>
          <a:prstGeom prst="rect">
            <a:avLst/>
          </a:prstGeom>
          <a:solidFill>
            <a:srgbClr val="17875A"/>
          </a:solidFill>
          <a:ln/>
        </p:spPr>
      </p:sp>
      <p:sp>
        <p:nvSpPr>
          <p:cNvPr id="8" name="Shape 5"/>
          <p:cNvSpPr/>
          <p:nvPr/>
        </p:nvSpPr>
        <p:spPr>
          <a:xfrm>
            <a:off x="713232" y="1719072"/>
            <a:ext cx="502920" cy="502920"/>
          </a:xfrm>
          <a:prstGeom prst="ellipse">
            <a:avLst/>
          </a:prstGeom>
          <a:solidFill>
            <a:srgbClr val="17875A"/>
          </a:solidFill>
          <a:ln/>
        </p:spPr>
      </p:sp>
      <p:sp>
        <p:nvSpPr>
          <p:cNvPr id="9" name="Text 6"/>
          <p:cNvSpPr txBox="1"/>
          <p:nvPr/>
        </p:nvSpPr>
        <p:spPr>
          <a:xfrm>
            <a:off x="71323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0" name="Text 7"/>
          <p:cNvSpPr txBox="1"/>
          <p:nvPr/>
        </p:nvSpPr>
        <p:spPr>
          <a:xfrm>
            <a:off x="1325880" y="1719072"/>
            <a:ext cx="1188720" cy="502920"/>
          </a:xfrm>
          <a:prstGeom prst="rect">
            <a:avLst/>
          </a:prstGeom>
          <a:noFill/>
          <a:ln/>
        </p:spPr>
        <p:txBody>
          <a:bodyPr wrap="square" lIns="0" tIns="0" rIns="0" bIns="0" rtlCol="0" anchor="ctr"/>
          <a:lstStyle/>
          <a:p>
            <a:pPr algn="r" indent="0" marL="0">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1" name="Text 8"/>
          <p:cNvSpPr txBox="1"/>
          <p:nvPr/>
        </p:nvSpPr>
        <p:spPr>
          <a:xfrm>
            <a:off x="71323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Case file</a:t>
            </a:r>
            <a:endParaRPr lang="en-US" sz="1500" dirty="0"/>
          </a:p>
        </p:txBody>
      </p:sp>
      <p:sp>
        <p:nvSpPr>
          <p:cNvPr id="12" name="Shape 9"/>
          <p:cNvSpPr/>
          <p:nvPr/>
        </p:nvSpPr>
        <p:spPr>
          <a:xfrm>
            <a:off x="713232" y="2852928"/>
            <a:ext cx="1783080" cy="347472"/>
          </a:xfrm>
          <a:prstGeom prst="roundRect">
            <a:avLst>
              <a:gd name="adj" fmla="val 50000"/>
            </a:avLst>
          </a:prstGeom>
          <a:solidFill>
            <a:srgbClr val="E2F5EC"/>
          </a:solidFill>
          <a:ln/>
        </p:spPr>
      </p:sp>
      <p:sp>
        <p:nvSpPr>
          <p:cNvPr id="13" name="Text 10"/>
          <p:cNvSpPr txBox="1"/>
          <p:nvPr/>
        </p:nvSpPr>
        <p:spPr>
          <a:xfrm>
            <a:off x="71323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4" name="Text 11"/>
          <p:cNvSpPr txBox="1"/>
          <p:nvPr/>
        </p:nvSpPr>
        <p:spPr>
          <a:xfrm>
            <a:off x="71323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ls -l  cat</a:t>
            </a:r>
            <a:endParaRPr lang="en-US" sz="1000" dirty="0"/>
          </a:p>
        </p:txBody>
      </p:sp>
      <p:sp>
        <p:nvSpPr>
          <p:cNvPr id="15" name="Shape 12"/>
          <p:cNvSpPr/>
          <p:nvPr/>
        </p:nvSpPr>
        <p:spPr>
          <a:xfrm>
            <a:off x="2788920" y="1463040"/>
            <a:ext cx="2103120" cy="2103120"/>
          </a:xfrm>
          <a:prstGeom prst="roundRect">
            <a:avLst>
              <a:gd name="adj" fmla="val 4348"/>
            </a:avLst>
          </a:prstGeom>
          <a:solidFill>
            <a:srgbClr val="F1F5FB"/>
          </a:solidFill>
          <a:ln/>
        </p:spPr>
      </p:sp>
      <p:sp>
        <p:nvSpPr>
          <p:cNvPr id="16" name="Shape 13"/>
          <p:cNvSpPr/>
          <p:nvPr/>
        </p:nvSpPr>
        <p:spPr>
          <a:xfrm>
            <a:off x="2788920" y="1463040"/>
            <a:ext cx="2103120" cy="91440"/>
          </a:xfrm>
          <a:prstGeom prst="rect">
            <a:avLst/>
          </a:prstGeom>
          <a:solidFill>
            <a:srgbClr val="2A9FD6"/>
          </a:solidFill>
          <a:ln/>
        </p:spPr>
      </p:sp>
      <p:sp>
        <p:nvSpPr>
          <p:cNvPr id="17" name="Shape 14"/>
          <p:cNvSpPr/>
          <p:nvPr/>
        </p:nvSpPr>
        <p:spPr>
          <a:xfrm>
            <a:off x="2953512" y="1719072"/>
            <a:ext cx="502920" cy="502920"/>
          </a:xfrm>
          <a:prstGeom prst="ellipse">
            <a:avLst/>
          </a:prstGeom>
          <a:solidFill>
            <a:srgbClr val="2A9FD6"/>
          </a:solidFill>
          <a:ln/>
        </p:spPr>
      </p:sp>
      <p:sp>
        <p:nvSpPr>
          <p:cNvPr id="18" name="Text 15"/>
          <p:cNvSpPr txBox="1"/>
          <p:nvPr/>
        </p:nvSpPr>
        <p:spPr>
          <a:xfrm>
            <a:off x="295351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9" name="Text 16"/>
          <p:cNvSpPr txBox="1"/>
          <p:nvPr/>
        </p:nvSpPr>
        <p:spPr>
          <a:xfrm>
            <a:off x="3566160" y="1719072"/>
            <a:ext cx="1188720" cy="502920"/>
          </a:xfrm>
          <a:prstGeom prst="rect">
            <a:avLst/>
          </a:prstGeom>
          <a:noFill/>
          <a:ln/>
        </p:spPr>
        <p:txBody>
          <a:bodyPr wrap="square" lIns="0" tIns="0" rIns="0" bIns="0" rtlCol="0" anchor="ctr"/>
          <a:lstStyle/>
          <a:p>
            <a:pPr algn="r" indent="0" marL="0">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20" name="Text 17"/>
          <p:cNvSpPr txBox="1"/>
          <p:nvPr/>
        </p:nvSpPr>
        <p:spPr>
          <a:xfrm>
            <a:off x="295351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Say cheese</a:t>
            </a:r>
            <a:endParaRPr lang="en-US" sz="1500" dirty="0"/>
          </a:p>
        </p:txBody>
      </p:sp>
      <p:sp>
        <p:nvSpPr>
          <p:cNvPr id="21" name="Shape 18"/>
          <p:cNvSpPr/>
          <p:nvPr/>
        </p:nvSpPr>
        <p:spPr>
          <a:xfrm>
            <a:off x="2953512" y="2852928"/>
            <a:ext cx="1783080" cy="347472"/>
          </a:xfrm>
          <a:prstGeom prst="roundRect">
            <a:avLst>
              <a:gd name="adj" fmla="val 50000"/>
            </a:avLst>
          </a:prstGeom>
          <a:solidFill>
            <a:srgbClr val="E2F5EC"/>
          </a:solidFill>
          <a:ln/>
        </p:spPr>
      </p:sp>
      <p:sp>
        <p:nvSpPr>
          <p:cNvPr id="22" name="Text 19"/>
          <p:cNvSpPr txBox="1"/>
          <p:nvPr/>
        </p:nvSpPr>
        <p:spPr>
          <a:xfrm>
            <a:off x="295351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3" name="Text 20"/>
          <p:cNvSpPr txBox="1"/>
          <p:nvPr/>
        </p:nvSpPr>
        <p:spPr>
          <a:xfrm>
            <a:off x="295351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strings  |  grep</a:t>
            </a:r>
            <a:endParaRPr lang="en-US" sz="1000" dirty="0"/>
          </a:p>
        </p:txBody>
      </p:sp>
      <p:sp>
        <p:nvSpPr>
          <p:cNvPr id="24" name="Shape 21"/>
          <p:cNvSpPr/>
          <p:nvPr/>
        </p:nvSpPr>
        <p:spPr>
          <a:xfrm>
            <a:off x="5029200" y="1463040"/>
            <a:ext cx="2103120" cy="2103120"/>
          </a:xfrm>
          <a:prstGeom prst="roundRect">
            <a:avLst>
              <a:gd name="adj" fmla="val 4348"/>
            </a:avLst>
          </a:prstGeom>
          <a:solidFill>
            <a:srgbClr val="F1F5FB"/>
          </a:solidFill>
          <a:ln/>
        </p:spPr>
      </p:sp>
      <p:sp>
        <p:nvSpPr>
          <p:cNvPr id="25" name="Shape 22"/>
          <p:cNvSpPr/>
          <p:nvPr/>
        </p:nvSpPr>
        <p:spPr>
          <a:xfrm>
            <a:off x="5029200" y="1463040"/>
            <a:ext cx="2103120" cy="91440"/>
          </a:xfrm>
          <a:prstGeom prst="rect">
            <a:avLst/>
          </a:prstGeom>
          <a:solidFill>
            <a:srgbClr val="2459D8"/>
          </a:solidFill>
          <a:ln/>
        </p:spPr>
      </p:sp>
      <p:sp>
        <p:nvSpPr>
          <p:cNvPr id="26" name="Shape 23"/>
          <p:cNvSpPr/>
          <p:nvPr/>
        </p:nvSpPr>
        <p:spPr>
          <a:xfrm>
            <a:off x="5193792" y="1719072"/>
            <a:ext cx="502920" cy="502920"/>
          </a:xfrm>
          <a:prstGeom prst="ellipse">
            <a:avLst/>
          </a:prstGeom>
          <a:solidFill>
            <a:srgbClr val="2459D8"/>
          </a:solidFill>
          <a:ln/>
        </p:spPr>
      </p:sp>
      <p:sp>
        <p:nvSpPr>
          <p:cNvPr id="27" name="Text 24"/>
          <p:cNvSpPr txBox="1"/>
          <p:nvPr/>
        </p:nvSpPr>
        <p:spPr>
          <a:xfrm>
            <a:off x="519379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8" name="Text 25"/>
          <p:cNvSpPr txBox="1"/>
          <p:nvPr/>
        </p:nvSpPr>
        <p:spPr>
          <a:xfrm>
            <a:off x="580644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9" name="Text 26"/>
          <p:cNvSpPr txBox="1"/>
          <p:nvPr/>
        </p:nvSpPr>
        <p:spPr>
          <a:xfrm>
            <a:off x="519379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Wrong label</a:t>
            </a:r>
            <a:endParaRPr lang="en-US" sz="1500" dirty="0"/>
          </a:p>
        </p:txBody>
      </p:sp>
      <p:sp>
        <p:nvSpPr>
          <p:cNvPr id="30" name="Shape 27"/>
          <p:cNvSpPr/>
          <p:nvPr/>
        </p:nvSpPr>
        <p:spPr>
          <a:xfrm>
            <a:off x="5193792" y="2852928"/>
            <a:ext cx="1783080" cy="347472"/>
          </a:xfrm>
          <a:prstGeom prst="roundRect">
            <a:avLst>
              <a:gd name="adj" fmla="val 50000"/>
            </a:avLst>
          </a:prstGeom>
          <a:solidFill>
            <a:srgbClr val="E2F5EC"/>
          </a:solidFill>
          <a:ln/>
        </p:spPr>
      </p:sp>
      <p:sp>
        <p:nvSpPr>
          <p:cNvPr id="31" name="Text 28"/>
          <p:cNvSpPr txBox="1"/>
          <p:nvPr/>
        </p:nvSpPr>
        <p:spPr>
          <a:xfrm>
            <a:off x="519379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2" name="Text 29"/>
          <p:cNvSpPr txBox="1"/>
          <p:nvPr/>
        </p:nvSpPr>
        <p:spPr>
          <a:xfrm>
            <a:off x="519379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filetype  zcat</a:t>
            </a:r>
            <a:endParaRPr lang="en-US" sz="1000" dirty="0"/>
          </a:p>
        </p:txBody>
      </p:sp>
      <p:sp>
        <p:nvSpPr>
          <p:cNvPr id="33" name="Shape 30"/>
          <p:cNvSpPr/>
          <p:nvPr/>
        </p:nvSpPr>
        <p:spPr>
          <a:xfrm>
            <a:off x="7269480" y="1463040"/>
            <a:ext cx="2103120" cy="2103120"/>
          </a:xfrm>
          <a:prstGeom prst="roundRect">
            <a:avLst>
              <a:gd name="adj" fmla="val 4348"/>
            </a:avLst>
          </a:prstGeom>
          <a:solidFill>
            <a:srgbClr val="F1F5FB"/>
          </a:solidFill>
          <a:ln/>
        </p:spPr>
      </p:sp>
      <p:sp>
        <p:nvSpPr>
          <p:cNvPr id="34" name="Shape 31"/>
          <p:cNvSpPr/>
          <p:nvPr/>
        </p:nvSpPr>
        <p:spPr>
          <a:xfrm>
            <a:off x="7269480" y="1463040"/>
            <a:ext cx="2103120" cy="91440"/>
          </a:xfrm>
          <a:prstGeom prst="rect">
            <a:avLst/>
          </a:prstGeom>
          <a:solidFill>
            <a:srgbClr val="7448D4"/>
          </a:solidFill>
          <a:ln/>
        </p:spPr>
      </p:sp>
      <p:sp>
        <p:nvSpPr>
          <p:cNvPr id="35" name="Shape 32"/>
          <p:cNvSpPr/>
          <p:nvPr/>
        </p:nvSpPr>
        <p:spPr>
          <a:xfrm>
            <a:off x="7434072" y="1719072"/>
            <a:ext cx="502920" cy="502920"/>
          </a:xfrm>
          <a:prstGeom prst="ellipse">
            <a:avLst/>
          </a:prstGeom>
          <a:solidFill>
            <a:srgbClr val="7448D4"/>
          </a:solidFill>
          <a:ln/>
        </p:spPr>
      </p:sp>
      <p:sp>
        <p:nvSpPr>
          <p:cNvPr id="36" name="Text 33"/>
          <p:cNvSpPr txBox="1"/>
          <p:nvPr/>
        </p:nvSpPr>
        <p:spPr>
          <a:xfrm>
            <a:off x="743407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7" name="Text 34"/>
          <p:cNvSpPr txBox="1"/>
          <p:nvPr/>
        </p:nvSpPr>
        <p:spPr>
          <a:xfrm>
            <a:off x="804672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8" name="Text 35"/>
          <p:cNvSpPr txBox="1"/>
          <p:nvPr/>
        </p:nvSpPr>
        <p:spPr>
          <a:xfrm>
            <a:off x="743407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Russian dolls</a:t>
            </a:r>
            <a:endParaRPr lang="en-US" sz="1500" dirty="0"/>
          </a:p>
        </p:txBody>
      </p:sp>
      <p:sp>
        <p:nvSpPr>
          <p:cNvPr id="39" name="Shape 36"/>
          <p:cNvSpPr/>
          <p:nvPr/>
        </p:nvSpPr>
        <p:spPr>
          <a:xfrm>
            <a:off x="7434072" y="2852928"/>
            <a:ext cx="1783080" cy="347472"/>
          </a:xfrm>
          <a:prstGeom prst="roundRect">
            <a:avLst>
              <a:gd name="adj" fmla="val 50000"/>
            </a:avLst>
          </a:prstGeom>
          <a:solidFill>
            <a:srgbClr val="FFF4DE"/>
          </a:solidFill>
          <a:ln/>
        </p:spPr>
      </p:sp>
      <p:sp>
        <p:nvSpPr>
          <p:cNvPr id="40" name="Text 37"/>
          <p:cNvSpPr txBox="1"/>
          <p:nvPr/>
        </p:nvSpPr>
        <p:spPr>
          <a:xfrm>
            <a:off x="7434072" y="285292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1" name="Text 38"/>
          <p:cNvSpPr txBox="1"/>
          <p:nvPr/>
        </p:nvSpPr>
        <p:spPr>
          <a:xfrm>
            <a:off x="743407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tar  filetype  zcat</a:t>
            </a:r>
            <a:endParaRPr lang="en-US" sz="1000" dirty="0"/>
          </a:p>
        </p:txBody>
      </p:sp>
      <p:sp>
        <p:nvSpPr>
          <p:cNvPr id="42" name="Shape 39"/>
          <p:cNvSpPr/>
          <p:nvPr/>
        </p:nvSpPr>
        <p:spPr>
          <a:xfrm>
            <a:off x="9509760" y="1463040"/>
            <a:ext cx="2103120" cy="2103120"/>
          </a:xfrm>
          <a:prstGeom prst="roundRect">
            <a:avLst>
              <a:gd name="adj" fmla="val 4348"/>
            </a:avLst>
          </a:prstGeom>
          <a:solidFill>
            <a:srgbClr val="F1F5FB"/>
          </a:solidFill>
          <a:ln/>
        </p:spPr>
      </p:sp>
      <p:sp>
        <p:nvSpPr>
          <p:cNvPr id="43" name="Shape 40"/>
          <p:cNvSpPr/>
          <p:nvPr/>
        </p:nvSpPr>
        <p:spPr>
          <a:xfrm>
            <a:off x="9509760" y="1463040"/>
            <a:ext cx="2103120" cy="91440"/>
          </a:xfrm>
          <a:prstGeom prst="rect">
            <a:avLst/>
          </a:prstGeom>
          <a:solidFill>
            <a:srgbClr val="D1416B"/>
          </a:solidFill>
          <a:ln/>
        </p:spPr>
      </p:sp>
      <p:sp>
        <p:nvSpPr>
          <p:cNvPr id="44" name="Shape 41"/>
          <p:cNvSpPr/>
          <p:nvPr/>
        </p:nvSpPr>
        <p:spPr>
          <a:xfrm>
            <a:off x="9674352" y="1719072"/>
            <a:ext cx="502920" cy="502920"/>
          </a:xfrm>
          <a:prstGeom prst="ellipse">
            <a:avLst/>
          </a:prstGeom>
          <a:solidFill>
            <a:srgbClr val="D1416B"/>
          </a:solidFill>
          <a:ln/>
        </p:spPr>
      </p:sp>
      <p:sp>
        <p:nvSpPr>
          <p:cNvPr id="45" name="Text 42"/>
          <p:cNvSpPr txBox="1"/>
          <p:nvPr/>
        </p:nvSpPr>
        <p:spPr>
          <a:xfrm>
            <a:off x="967435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6" name="Text 43"/>
          <p:cNvSpPr txBox="1"/>
          <p:nvPr/>
        </p:nvSpPr>
        <p:spPr>
          <a:xfrm>
            <a:off x="1028700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7" name="Text 44"/>
          <p:cNvSpPr txBox="1"/>
          <p:nvPr/>
        </p:nvSpPr>
        <p:spPr>
          <a:xfrm>
            <a:off x="967435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Log detective</a:t>
            </a:r>
            <a:endParaRPr lang="en-US" sz="1500" dirty="0"/>
          </a:p>
        </p:txBody>
      </p:sp>
      <p:sp>
        <p:nvSpPr>
          <p:cNvPr id="48" name="Shape 45"/>
          <p:cNvSpPr/>
          <p:nvPr/>
        </p:nvSpPr>
        <p:spPr>
          <a:xfrm>
            <a:off x="9674352" y="2852928"/>
            <a:ext cx="1783080" cy="347472"/>
          </a:xfrm>
          <a:prstGeom prst="roundRect">
            <a:avLst>
              <a:gd name="adj" fmla="val 50000"/>
            </a:avLst>
          </a:prstGeom>
          <a:solidFill>
            <a:srgbClr val="FFF4DE"/>
          </a:solidFill>
          <a:ln/>
        </p:spPr>
      </p:sp>
      <p:sp>
        <p:nvSpPr>
          <p:cNvPr id="49" name="Text 46"/>
          <p:cNvSpPr txBox="1"/>
          <p:nvPr/>
        </p:nvSpPr>
        <p:spPr>
          <a:xfrm>
            <a:off x="9674352" y="285292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0" name="Text 47"/>
          <p:cNvSpPr txBox="1"/>
          <p:nvPr/>
        </p:nvSpPr>
        <p:spPr>
          <a:xfrm>
            <a:off x="967435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grep  cut  sort  uniq -c</a:t>
            </a:r>
            <a:endParaRPr lang="en-US" sz="1000" dirty="0"/>
          </a:p>
        </p:txBody>
      </p:sp>
      <p:sp>
        <p:nvSpPr>
          <p:cNvPr id="51" name="Shape 48"/>
          <p:cNvSpPr/>
          <p:nvPr/>
        </p:nvSpPr>
        <p:spPr>
          <a:xfrm>
            <a:off x="548640" y="3703320"/>
            <a:ext cx="2103120" cy="2103120"/>
          </a:xfrm>
          <a:prstGeom prst="roundRect">
            <a:avLst>
              <a:gd name="adj" fmla="val 4348"/>
            </a:avLst>
          </a:prstGeom>
          <a:solidFill>
            <a:srgbClr val="F1F5FB"/>
          </a:solidFill>
          <a:ln/>
        </p:spPr>
      </p:sp>
      <p:sp>
        <p:nvSpPr>
          <p:cNvPr id="52" name="Shape 49"/>
          <p:cNvSpPr/>
          <p:nvPr/>
        </p:nvSpPr>
        <p:spPr>
          <a:xfrm>
            <a:off x="548640" y="3703320"/>
            <a:ext cx="2103120" cy="91440"/>
          </a:xfrm>
          <a:prstGeom prst="rect">
            <a:avLst/>
          </a:prstGeom>
          <a:solidFill>
            <a:srgbClr val="E8820C"/>
          </a:solidFill>
          <a:ln/>
        </p:spPr>
      </p:sp>
      <p:sp>
        <p:nvSpPr>
          <p:cNvPr id="53" name="Shape 50"/>
          <p:cNvSpPr/>
          <p:nvPr/>
        </p:nvSpPr>
        <p:spPr>
          <a:xfrm>
            <a:off x="713232" y="3959352"/>
            <a:ext cx="502920" cy="502920"/>
          </a:xfrm>
          <a:prstGeom prst="ellipse">
            <a:avLst/>
          </a:prstGeom>
          <a:solidFill>
            <a:srgbClr val="E8820C"/>
          </a:solidFill>
          <a:ln/>
        </p:spPr>
      </p:sp>
      <p:sp>
        <p:nvSpPr>
          <p:cNvPr id="54" name="Text 51"/>
          <p:cNvSpPr txBox="1"/>
          <p:nvPr/>
        </p:nvSpPr>
        <p:spPr>
          <a:xfrm>
            <a:off x="71323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5" name="Text 52"/>
          <p:cNvSpPr txBox="1"/>
          <p:nvPr/>
        </p:nvSpPr>
        <p:spPr>
          <a:xfrm>
            <a:off x="132588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6" name="Text 53"/>
          <p:cNvSpPr txBox="1"/>
          <p:nvPr/>
        </p:nvSpPr>
        <p:spPr>
          <a:xfrm>
            <a:off x="71323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Hidden tail</a:t>
            </a:r>
            <a:endParaRPr lang="en-US" sz="1500" dirty="0"/>
          </a:p>
        </p:txBody>
      </p:sp>
      <p:sp>
        <p:nvSpPr>
          <p:cNvPr id="57" name="Shape 54"/>
          <p:cNvSpPr/>
          <p:nvPr/>
        </p:nvSpPr>
        <p:spPr>
          <a:xfrm>
            <a:off x="713232" y="5093208"/>
            <a:ext cx="1783080" cy="347472"/>
          </a:xfrm>
          <a:prstGeom prst="roundRect">
            <a:avLst>
              <a:gd name="adj" fmla="val 50000"/>
            </a:avLst>
          </a:prstGeom>
          <a:solidFill>
            <a:srgbClr val="FFF4DE"/>
          </a:solidFill>
          <a:ln/>
        </p:spPr>
      </p:sp>
      <p:sp>
        <p:nvSpPr>
          <p:cNvPr id="58" name="Text 55"/>
          <p:cNvSpPr txBox="1"/>
          <p:nvPr/>
        </p:nvSpPr>
        <p:spPr>
          <a:xfrm>
            <a:off x="713232" y="509320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9" name="Text 56"/>
          <p:cNvSpPr txBox="1"/>
          <p:nvPr/>
        </p:nvSpPr>
        <p:spPr>
          <a:xfrm>
            <a:off x="71323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strings  tail  base64 -d</a:t>
            </a:r>
            <a:endParaRPr lang="en-US" sz="1000" dirty="0"/>
          </a:p>
        </p:txBody>
      </p:sp>
      <p:sp>
        <p:nvSpPr>
          <p:cNvPr id="60" name="Shape 57"/>
          <p:cNvSpPr/>
          <p:nvPr/>
        </p:nvSpPr>
        <p:spPr>
          <a:xfrm>
            <a:off x="2788920" y="3703320"/>
            <a:ext cx="2103120" cy="2103120"/>
          </a:xfrm>
          <a:prstGeom prst="roundRect">
            <a:avLst>
              <a:gd name="adj" fmla="val 4348"/>
            </a:avLst>
          </a:prstGeom>
          <a:solidFill>
            <a:srgbClr val="F1F5FB"/>
          </a:solidFill>
          <a:ln/>
        </p:spPr>
      </p:sp>
      <p:sp>
        <p:nvSpPr>
          <p:cNvPr id="61" name="Shape 58"/>
          <p:cNvSpPr/>
          <p:nvPr/>
        </p:nvSpPr>
        <p:spPr>
          <a:xfrm>
            <a:off x="2788920" y="3703320"/>
            <a:ext cx="2103120" cy="91440"/>
          </a:xfrm>
          <a:prstGeom prst="rect">
            <a:avLst/>
          </a:prstGeom>
          <a:solidFill>
            <a:srgbClr val="C9A227"/>
          </a:solidFill>
          <a:ln/>
        </p:spPr>
      </p:sp>
      <p:sp>
        <p:nvSpPr>
          <p:cNvPr id="62" name="Shape 59"/>
          <p:cNvSpPr/>
          <p:nvPr/>
        </p:nvSpPr>
        <p:spPr>
          <a:xfrm>
            <a:off x="2953512" y="3959352"/>
            <a:ext cx="502920" cy="502920"/>
          </a:xfrm>
          <a:prstGeom prst="ellipse">
            <a:avLst/>
          </a:prstGeom>
          <a:solidFill>
            <a:srgbClr val="C9A227"/>
          </a:solidFill>
          <a:ln/>
        </p:spPr>
      </p:sp>
      <p:sp>
        <p:nvSpPr>
          <p:cNvPr id="63" name="Text 60"/>
          <p:cNvSpPr txBox="1"/>
          <p:nvPr/>
        </p:nvSpPr>
        <p:spPr>
          <a:xfrm>
            <a:off x="295351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4" name="Text 61"/>
          <p:cNvSpPr txBox="1"/>
          <p:nvPr/>
        </p:nvSpPr>
        <p:spPr>
          <a:xfrm>
            <a:off x="356616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5" name="Text 62"/>
          <p:cNvSpPr txBox="1"/>
          <p:nvPr/>
        </p:nvSpPr>
        <p:spPr>
          <a:xfrm>
            <a:off x="295351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Tampered</a:t>
            </a:r>
            <a:endParaRPr lang="en-US" sz="1500" dirty="0"/>
          </a:p>
        </p:txBody>
      </p:sp>
      <p:sp>
        <p:nvSpPr>
          <p:cNvPr id="66" name="Shape 63"/>
          <p:cNvSpPr/>
          <p:nvPr/>
        </p:nvSpPr>
        <p:spPr>
          <a:xfrm>
            <a:off x="2953512" y="5093208"/>
            <a:ext cx="1783080" cy="347472"/>
          </a:xfrm>
          <a:prstGeom prst="roundRect">
            <a:avLst>
              <a:gd name="adj" fmla="val 50000"/>
            </a:avLst>
          </a:prstGeom>
          <a:solidFill>
            <a:srgbClr val="FFF4DE"/>
          </a:solidFill>
          <a:ln/>
        </p:spPr>
      </p:sp>
      <p:sp>
        <p:nvSpPr>
          <p:cNvPr id="67" name="Text 64"/>
          <p:cNvSpPr txBox="1"/>
          <p:nvPr/>
        </p:nvSpPr>
        <p:spPr>
          <a:xfrm>
            <a:off x="2953512" y="509320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8" name="Text 65"/>
          <p:cNvSpPr txBox="1"/>
          <p:nvPr/>
        </p:nvSpPr>
        <p:spPr>
          <a:xfrm>
            <a:off x="295351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sha256sum -c  strings</a:t>
            </a:r>
            <a:endParaRPr lang="en-US" sz="1000" dirty="0"/>
          </a:p>
        </p:txBody>
      </p:sp>
      <p:sp>
        <p:nvSpPr>
          <p:cNvPr id="69" name="Shape 66"/>
          <p:cNvSpPr/>
          <p:nvPr/>
        </p:nvSpPr>
        <p:spPr>
          <a:xfrm>
            <a:off x="5029200" y="3703320"/>
            <a:ext cx="2103120" cy="2103120"/>
          </a:xfrm>
          <a:prstGeom prst="roundRect">
            <a:avLst>
              <a:gd name="adj" fmla="val 4348"/>
            </a:avLst>
          </a:prstGeom>
          <a:solidFill>
            <a:srgbClr val="F1F5FB"/>
          </a:solidFill>
          <a:ln/>
        </p:spPr>
      </p:sp>
      <p:sp>
        <p:nvSpPr>
          <p:cNvPr id="70" name="Shape 67"/>
          <p:cNvSpPr/>
          <p:nvPr/>
        </p:nvSpPr>
        <p:spPr>
          <a:xfrm>
            <a:off x="5029200" y="3703320"/>
            <a:ext cx="2103120" cy="91440"/>
          </a:xfrm>
          <a:prstGeom prst="rect">
            <a:avLst/>
          </a:prstGeom>
          <a:solidFill>
            <a:srgbClr val="0F9488"/>
          </a:solidFill>
          <a:ln/>
        </p:spPr>
      </p:sp>
      <p:sp>
        <p:nvSpPr>
          <p:cNvPr id="71" name="Shape 68"/>
          <p:cNvSpPr/>
          <p:nvPr/>
        </p:nvSpPr>
        <p:spPr>
          <a:xfrm>
            <a:off x="5193792" y="3959352"/>
            <a:ext cx="502920" cy="502920"/>
          </a:xfrm>
          <a:prstGeom prst="ellipse">
            <a:avLst/>
          </a:prstGeom>
          <a:solidFill>
            <a:srgbClr val="0F9488"/>
          </a:solidFill>
          <a:ln/>
        </p:spPr>
      </p:sp>
      <p:sp>
        <p:nvSpPr>
          <p:cNvPr id="72" name="Text 69"/>
          <p:cNvSpPr txBox="1"/>
          <p:nvPr/>
        </p:nvSpPr>
        <p:spPr>
          <a:xfrm>
            <a:off x="519379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3" name="Text 70"/>
          <p:cNvSpPr txBox="1"/>
          <p:nvPr/>
        </p:nvSpPr>
        <p:spPr>
          <a:xfrm>
            <a:off x="580644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4" name="Text 71"/>
          <p:cNvSpPr txBox="1"/>
          <p:nvPr/>
        </p:nvSpPr>
        <p:spPr>
          <a:xfrm>
            <a:off x="519379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Persistence</a:t>
            </a:r>
            <a:endParaRPr lang="en-US" sz="1500" dirty="0"/>
          </a:p>
        </p:txBody>
      </p:sp>
      <p:sp>
        <p:nvSpPr>
          <p:cNvPr id="75" name="Shape 72"/>
          <p:cNvSpPr/>
          <p:nvPr/>
        </p:nvSpPr>
        <p:spPr>
          <a:xfrm>
            <a:off x="5193792" y="5093208"/>
            <a:ext cx="1783080" cy="347472"/>
          </a:xfrm>
          <a:prstGeom prst="roundRect">
            <a:avLst>
              <a:gd name="adj" fmla="val 50000"/>
            </a:avLst>
          </a:prstGeom>
          <a:solidFill>
            <a:srgbClr val="FDE8EC"/>
          </a:solidFill>
          <a:ln/>
        </p:spPr>
      </p:sp>
      <p:sp>
        <p:nvSpPr>
          <p:cNvPr id="76" name="Text 73"/>
          <p:cNvSpPr txBox="1"/>
          <p:nvPr/>
        </p:nvSpPr>
        <p:spPr>
          <a:xfrm>
            <a:off x="5193792" y="5093208"/>
            <a:ext cx="1783080" cy="347472"/>
          </a:xfrm>
          <a:prstGeom prst="rect">
            <a:avLst/>
          </a:prstGeom>
          <a:noFill/>
          <a:ln/>
        </p:spPr>
        <p:txBody>
          <a:bodyPr wrap="square" lIns="0" tIns="0" rIns="0" bIns="0" rtlCol="0" anchor="ctr"/>
          <a:lstStyle/>
          <a:p>
            <a:pPr algn="ctr" indent="0" marL="0">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7" name="Text 74"/>
          <p:cNvSpPr txBox="1"/>
          <p:nvPr/>
        </p:nvSpPr>
        <p:spPr>
          <a:xfrm>
            <a:off x="519379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cat  ls -a  base64 -d</a:t>
            </a:r>
            <a:endParaRPr lang="en-US" sz="1000" dirty="0"/>
          </a:p>
        </p:txBody>
      </p:sp>
      <p:sp>
        <p:nvSpPr>
          <p:cNvPr id="78" name="Shape 75"/>
          <p:cNvSpPr/>
          <p:nvPr/>
        </p:nvSpPr>
        <p:spPr>
          <a:xfrm>
            <a:off x="7269480" y="3703320"/>
            <a:ext cx="2103120" cy="2103120"/>
          </a:xfrm>
          <a:prstGeom prst="roundRect">
            <a:avLst>
              <a:gd name="adj" fmla="val 4348"/>
            </a:avLst>
          </a:prstGeom>
          <a:solidFill>
            <a:srgbClr val="F1F5FB"/>
          </a:solidFill>
          <a:ln/>
        </p:spPr>
      </p:sp>
      <p:sp>
        <p:nvSpPr>
          <p:cNvPr id="79" name="Shape 76"/>
          <p:cNvSpPr/>
          <p:nvPr/>
        </p:nvSpPr>
        <p:spPr>
          <a:xfrm>
            <a:off x="7269480" y="3703320"/>
            <a:ext cx="2103120" cy="91440"/>
          </a:xfrm>
          <a:prstGeom prst="rect">
            <a:avLst/>
          </a:prstGeom>
          <a:solidFill>
            <a:srgbClr val="5B6EE1"/>
          </a:solidFill>
          <a:ln/>
        </p:spPr>
      </p:sp>
      <p:sp>
        <p:nvSpPr>
          <p:cNvPr id="80" name="Shape 77"/>
          <p:cNvSpPr/>
          <p:nvPr/>
        </p:nvSpPr>
        <p:spPr>
          <a:xfrm>
            <a:off x="7434072" y="3959352"/>
            <a:ext cx="502920" cy="502920"/>
          </a:xfrm>
          <a:prstGeom prst="ellipse">
            <a:avLst/>
          </a:prstGeom>
          <a:solidFill>
            <a:srgbClr val="5B6EE1"/>
          </a:solidFill>
          <a:ln/>
        </p:spPr>
      </p:sp>
      <p:sp>
        <p:nvSpPr>
          <p:cNvPr id="81" name="Text 78"/>
          <p:cNvSpPr txBox="1"/>
          <p:nvPr/>
        </p:nvSpPr>
        <p:spPr>
          <a:xfrm>
            <a:off x="743407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2" name="Text 79"/>
          <p:cNvSpPr txBox="1"/>
          <p:nvPr/>
        </p:nvSpPr>
        <p:spPr>
          <a:xfrm>
            <a:off x="804672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3" name="Text 80"/>
          <p:cNvSpPr txBox="1"/>
          <p:nvPr/>
        </p:nvSpPr>
        <p:spPr>
          <a:xfrm>
            <a:off x="743407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Leaked in pieces</a:t>
            </a:r>
            <a:endParaRPr lang="en-US" sz="1500" dirty="0"/>
          </a:p>
        </p:txBody>
      </p:sp>
      <p:sp>
        <p:nvSpPr>
          <p:cNvPr id="84" name="Shape 81"/>
          <p:cNvSpPr/>
          <p:nvPr/>
        </p:nvSpPr>
        <p:spPr>
          <a:xfrm>
            <a:off x="7434072" y="5093208"/>
            <a:ext cx="1783080" cy="347472"/>
          </a:xfrm>
          <a:prstGeom prst="roundRect">
            <a:avLst>
              <a:gd name="adj" fmla="val 50000"/>
            </a:avLst>
          </a:prstGeom>
          <a:solidFill>
            <a:srgbClr val="FDE8EC"/>
          </a:solidFill>
          <a:ln/>
        </p:spPr>
      </p:sp>
      <p:sp>
        <p:nvSpPr>
          <p:cNvPr id="85" name="Text 82"/>
          <p:cNvSpPr txBox="1"/>
          <p:nvPr/>
        </p:nvSpPr>
        <p:spPr>
          <a:xfrm>
            <a:off x="7434072" y="5093208"/>
            <a:ext cx="1783080" cy="347472"/>
          </a:xfrm>
          <a:prstGeom prst="rect">
            <a:avLst/>
          </a:prstGeom>
          <a:noFill/>
          <a:ln/>
        </p:spPr>
        <p:txBody>
          <a:bodyPr wrap="square" lIns="0" tIns="0" rIns="0" bIns="0" rtlCol="0" anchor="ctr"/>
          <a:lstStyle/>
          <a:p>
            <a:pPr algn="ctr" indent="0" marL="0">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6" name="Text 83"/>
          <p:cNvSpPr txBox="1"/>
          <p:nvPr/>
        </p:nvSpPr>
        <p:spPr>
          <a:xfrm>
            <a:off x="743407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grep · cut · sort · xxd</a:t>
            </a:r>
            <a:endParaRPr lang="en-US" sz="1000" dirty="0"/>
          </a:p>
        </p:txBody>
      </p:sp>
      <p:sp>
        <p:nvSpPr>
          <p:cNvPr id="87" name="Shape 84"/>
          <p:cNvSpPr/>
          <p:nvPr/>
        </p:nvSpPr>
        <p:spPr>
          <a:xfrm>
            <a:off x="9509760" y="3703320"/>
            <a:ext cx="2103120" cy="2103120"/>
          </a:xfrm>
          <a:prstGeom prst="roundRect">
            <a:avLst>
              <a:gd name="adj" fmla="val 4348"/>
            </a:avLst>
          </a:prstGeom>
          <a:solidFill>
            <a:srgbClr val="F1F5FB"/>
          </a:solidFill>
          <a:ln/>
        </p:spPr>
      </p:sp>
      <p:sp>
        <p:nvSpPr>
          <p:cNvPr id="88" name="Shape 85"/>
          <p:cNvSpPr/>
          <p:nvPr/>
        </p:nvSpPr>
        <p:spPr>
          <a:xfrm>
            <a:off x="9509760" y="3703320"/>
            <a:ext cx="2103120" cy="91440"/>
          </a:xfrm>
          <a:prstGeom prst="rect">
            <a:avLst/>
          </a:prstGeom>
          <a:solidFill>
            <a:srgbClr val="B4233F"/>
          </a:solidFill>
          <a:ln/>
        </p:spPr>
      </p:sp>
      <p:sp>
        <p:nvSpPr>
          <p:cNvPr id="89" name="Shape 86"/>
          <p:cNvSpPr/>
          <p:nvPr/>
        </p:nvSpPr>
        <p:spPr>
          <a:xfrm>
            <a:off x="9674352" y="3959352"/>
            <a:ext cx="502920" cy="502920"/>
          </a:xfrm>
          <a:prstGeom prst="ellipse">
            <a:avLst/>
          </a:prstGeom>
          <a:solidFill>
            <a:srgbClr val="B4233F"/>
          </a:solidFill>
          <a:ln/>
        </p:spPr>
      </p:sp>
      <p:sp>
        <p:nvSpPr>
          <p:cNvPr id="90" name="Text 87"/>
          <p:cNvSpPr txBox="1"/>
          <p:nvPr/>
        </p:nvSpPr>
        <p:spPr>
          <a:xfrm>
            <a:off x="967435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91" name="Text 88"/>
          <p:cNvSpPr txBox="1"/>
          <p:nvPr/>
        </p:nvSpPr>
        <p:spPr>
          <a:xfrm>
            <a:off x="1028700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2" name="Text 89"/>
          <p:cNvSpPr txBox="1"/>
          <p:nvPr/>
        </p:nvSpPr>
        <p:spPr>
          <a:xfrm>
            <a:off x="967435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Case closed</a:t>
            </a:r>
            <a:endParaRPr lang="en-US" sz="1500" dirty="0"/>
          </a:p>
        </p:txBody>
      </p:sp>
      <p:sp>
        <p:nvSpPr>
          <p:cNvPr id="93" name="Shape 90"/>
          <p:cNvSpPr/>
          <p:nvPr/>
        </p:nvSpPr>
        <p:spPr>
          <a:xfrm>
            <a:off x="9674352" y="5093208"/>
            <a:ext cx="1783080" cy="347472"/>
          </a:xfrm>
          <a:prstGeom prst="roundRect">
            <a:avLst>
              <a:gd name="adj" fmla="val 50000"/>
            </a:avLst>
          </a:prstGeom>
          <a:solidFill>
            <a:srgbClr val="2A1430"/>
          </a:solidFill>
          <a:ln/>
        </p:spPr>
      </p:sp>
      <p:sp>
        <p:nvSpPr>
          <p:cNvPr id="94" name="Text 91"/>
          <p:cNvSpPr txBox="1"/>
          <p:nvPr/>
        </p:nvSpPr>
        <p:spPr>
          <a:xfrm>
            <a:off x="9674352" y="5093208"/>
            <a:ext cx="1783080" cy="347472"/>
          </a:xfrm>
          <a:prstGeom prst="rect">
            <a:avLst/>
          </a:prstGeom>
          <a:noFill/>
          <a:ln/>
        </p:spPr>
        <p:txBody>
          <a:bodyPr wrap="square" lIns="0" tIns="0" rIns="0" bIns="0" rtlCol="0" anchor="ctr"/>
          <a:lstStyle/>
          <a:p>
            <a:pPr algn="ctr" indent="0" marL="0">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5" name="Text 92"/>
          <p:cNvSpPr txBox="1"/>
          <p:nvPr/>
        </p:nvSpPr>
        <p:spPr>
          <a:xfrm>
            <a:off x="967435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grep · filetype · zcat</a:t>
            </a:r>
            <a:endParaRPr lang="en-US" sz="1000" dirty="0"/>
          </a:p>
        </p:txBody>
      </p:sp>
      <p:sp>
        <p:nvSpPr>
          <p:cNvPr id="96" name="Text 9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Plus Mission 0, the warm-up: optional, untimed, +50 bonus.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29</a:t>
            </a:r>
            <a:endParaRPr lang="en-US" sz="1000" dirty="0"/>
          </a:p>
        </p:txBody>
      </p:sp>
      <p:sp>
        <p:nvSpPr>
          <p:cNvPr id="5" name="Shape 2"/>
          <p:cNvSpPr/>
          <p:nvPr/>
        </p:nvSpPr>
        <p:spPr>
          <a:xfrm>
            <a:off x="548640" y="438912"/>
            <a:ext cx="1828800" cy="347472"/>
          </a:xfrm>
          <a:prstGeom prst="roundRect">
            <a:avLst>
              <a:gd name="adj" fmla="val 50000"/>
            </a:avLst>
          </a:prstGeom>
          <a:solidFill>
            <a:srgbClr val="17875A"/>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20624"/>
            <a:ext cx="421538" cy="402336"/>
          </a:xfrm>
          <a:prstGeom prst="roundRect">
            <a:avLst>
              <a:gd name="adj" fmla="val 13636"/>
            </a:avLst>
          </a:prstGeom>
          <a:solidFill>
            <a:srgbClr val="17875A"/>
          </a:solidFill>
          <a:ln/>
        </p:spPr>
      </p:sp>
      <p:sp>
        <p:nvSpPr>
          <p:cNvPr id="10" name="Text 7"/>
          <p:cNvSpPr txBox="1"/>
          <p:nvPr/>
        </p:nvSpPr>
        <p:spPr>
          <a:xfrm>
            <a:off x="676656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7261250" y="475488"/>
            <a:ext cx="421538" cy="292608"/>
          </a:xfrm>
          <a:prstGeom prst="roundRect">
            <a:avLst>
              <a:gd name="adj" fmla="val 18750"/>
            </a:avLst>
          </a:prstGeom>
          <a:solidFill>
            <a:srgbClr val="E4EAF3"/>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E4EAF3"/>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Case file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Ten files, ten flags. The break-in happened at one exact minute last night, and only the file changed at that minute holds the real flag.</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~/mission1/evidence/</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ls -l  cat</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Where does README.txt say the break-in time is?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ls option shows when a file was last changed?</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do we check only one line of a long listing?</a:t>
            </a:r>
            <a:endParaRPr lang="en-US" sz="1500" dirty="0"/>
          </a:p>
        </p:txBody>
      </p:sp>
      <p:sp>
        <p:nvSpPr>
          <p:cNvPr id="41" name="Shape 38"/>
          <p:cNvSpPr/>
          <p:nvPr/>
        </p:nvSpPr>
        <p:spPr>
          <a:xfrm>
            <a:off x="7269480" y="4892040"/>
            <a:ext cx="4370832" cy="1051560"/>
          </a:xfrm>
          <a:prstGeom prst="roundRect">
            <a:avLst>
              <a:gd name="adj" fmla="val 8696"/>
            </a:avLst>
          </a:prstGeom>
          <a:solidFill>
            <a:srgbClr val="2459D8"/>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30</a:t>
            </a:r>
            <a:endParaRPr lang="en-US" sz="1000" dirty="0"/>
          </a:p>
        </p:txBody>
      </p:sp>
      <p:sp>
        <p:nvSpPr>
          <p:cNvPr id="5" name="Shape 2"/>
          <p:cNvSpPr/>
          <p:nvPr/>
        </p:nvSpPr>
        <p:spPr>
          <a:xfrm>
            <a:off x="548640" y="438912"/>
            <a:ext cx="2103120" cy="347472"/>
          </a:xfrm>
          <a:prstGeom prst="roundRect">
            <a:avLst>
              <a:gd name="adj" fmla="val 50000"/>
            </a:avLst>
          </a:prstGeom>
          <a:solidFill>
            <a:srgbClr val="17875A"/>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sp>
      <p:sp>
        <p:nvSpPr>
          <p:cNvPr id="12" name="Text 9"/>
          <p:cNvSpPr txBox="1"/>
          <p:nvPr/>
        </p:nvSpPr>
        <p:spPr>
          <a:xfrm>
            <a:off x="726125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Case file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~/mission1</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head -1 README.txt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The break-in happened at 02:53 last night.</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ls -l evidence</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-rw-r--r-- 1 player player 47 Oct  8 17:15 backup.log</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-rw-r--r-- 1 player player 47 Oct  8 13:46 budget.csv</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-rw-r--r-- 1 player player 47 Oct  8 02:53 memo.txt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cat evidence/memo.txt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Last edited during the break-in.</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Flag: CYBA{case-...}</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17875A"/>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README.txt gave this game's break-in minute.</a:t>
            </a:r>
            <a:endParaRPr lang="en-US" sz="1400" dirty="0"/>
          </a:p>
        </p:txBody>
      </p:sp>
      <p:sp>
        <p:nvSpPr>
          <p:cNvPr id="40" name="Shape 37"/>
          <p:cNvSpPr/>
          <p:nvPr/>
        </p:nvSpPr>
        <p:spPr>
          <a:xfrm>
            <a:off x="7543800" y="2980944"/>
            <a:ext cx="457200" cy="457200"/>
          </a:xfrm>
          <a:prstGeom prst="ellipse">
            <a:avLst/>
          </a:prstGeom>
          <a:solidFill>
            <a:srgbClr val="17875A"/>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ls -l showed every file's last-modified time.</a:t>
            </a:r>
            <a:endParaRPr lang="en-US" sz="1400" dirty="0"/>
          </a:p>
        </p:txBody>
      </p:sp>
      <p:sp>
        <p:nvSpPr>
          <p:cNvPr id="43" name="Shape 40"/>
          <p:cNvSpPr/>
          <p:nvPr/>
        </p:nvSpPr>
        <p:spPr>
          <a:xfrm>
            <a:off x="7543800" y="3767328"/>
            <a:ext cx="457200" cy="457200"/>
          </a:xfrm>
          <a:prstGeom prst="ellipse">
            <a:avLst/>
          </a:prstGeom>
          <a:solidFill>
            <a:srgbClr val="17875A"/>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One file changed in the middle of the night: that's the evidence.</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Investigators build a timeline from file times. It tells them what the intruder touched, and when.</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17875A"/>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Sort the files by time with  ls -lt evidence. Which file changed most recently?</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31</a:t>
            </a:r>
            <a:endParaRPr lang="en-US" sz="1000" dirty="0"/>
          </a:p>
        </p:txBody>
      </p:sp>
      <p:sp>
        <p:nvSpPr>
          <p:cNvPr id="5" name="Shape 2"/>
          <p:cNvSpPr/>
          <p:nvPr/>
        </p:nvSpPr>
        <p:spPr>
          <a:xfrm>
            <a:off x="548640" y="438912"/>
            <a:ext cx="1828800" cy="347472"/>
          </a:xfrm>
          <a:prstGeom prst="roundRect">
            <a:avLst>
              <a:gd name="adj" fmla="val 50000"/>
            </a:avLst>
          </a:prstGeom>
          <a:solidFill>
            <a:srgbClr val="2A9FD6"/>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sp>
      <p:sp>
        <p:nvSpPr>
          <p:cNvPr id="12" name="Text 9"/>
          <p:cNvSpPr txBox="1"/>
          <p:nvPr/>
        </p:nvSpPr>
        <p:spPr>
          <a:xfrm>
            <a:off x="726125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Say cheese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An ordinary-looking photo. But pictures carry hidden fields (camera, software, time, author, comments) that viewers never show. Read them.</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~/mission2/photo.jpg</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strings  |  grep</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is metadata?</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Why would metadata matter to an investigator?</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tool pulls readable text out of any file?</a:t>
            </a:r>
            <a:endParaRPr lang="en-US" sz="1500" dirty="0"/>
          </a:p>
        </p:txBody>
      </p:sp>
      <p:sp>
        <p:nvSpPr>
          <p:cNvPr id="41" name="Shape 38"/>
          <p:cNvSpPr/>
          <p:nvPr/>
        </p:nvSpPr>
        <p:spPr>
          <a:xfrm>
            <a:off x="7269480" y="4892040"/>
            <a:ext cx="4370832" cy="1051560"/>
          </a:xfrm>
          <a:prstGeom prst="roundRect">
            <a:avLst>
              <a:gd name="adj" fmla="val 8696"/>
            </a:avLst>
          </a:prstGeom>
          <a:solidFill>
            <a:srgbClr val="2459D8"/>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32</a:t>
            </a:r>
            <a:endParaRPr lang="en-US" sz="1000" dirty="0"/>
          </a:p>
        </p:txBody>
      </p:sp>
      <p:sp>
        <p:nvSpPr>
          <p:cNvPr id="5" name="Shape 2"/>
          <p:cNvSpPr/>
          <p:nvPr/>
        </p:nvSpPr>
        <p:spPr>
          <a:xfrm>
            <a:off x="548640" y="438912"/>
            <a:ext cx="2103120" cy="347472"/>
          </a:xfrm>
          <a:prstGeom prst="roundRect">
            <a:avLst>
              <a:gd name="adj" fmla="val 50000"/>
            </a:avLst>
          </a:prstGeom>
          <a:solidFill>
            <a:srgbClr val="2A9FD6"/>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sp>
      <p:sp>
        <p:nvSpPr>
          <p:cNvPr id="14" name="Text 11"/>
          <p:cNvSpPr txBox="1"/>
          <p:nvPr/>
        </p:nvSpPr>
        <p:spPr>
          <a:xfrm>
            <a:off x="775594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Say cheese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cd ~/mission2</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filetype photo.jpg</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photo.jpg: JPEG image data</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strings photo.jpg | head -6</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JFIF</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Camera: QuestCam X100</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Software: PhotoFix 2.1</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Taken: 2026-10-08 02:41</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Author: night-shift</a:t>
            </a:r>
            <a:endParaRPr lang="en-US" sz="1250" dirty="0"/>
          </a:p>
          <a:p>
            <a:pPr indent="0" marL="0">
              <a:spcAft>
                <a:spcPts val="200"/>
              </a:spcAft>
              <a:buNone/>
            </a:pPr>
            <a:r>
              <a:rPr lang="en-US" sz="1250" b="1" dirty="0">
                <a:solidFill>
                  <a:srgbClr val="F5A623"/>
                </a:solidFill>
                <a:latin typeface="Courier New" pitchFamily="34" charset="0"/>
                <a:ea typeface="Courier New" pitchFamily="34" charset="-122"/>
                <a:cs typeface="Courier New" pitchFamily="34" charset="-120"/>
              </a:rPr>
              <a:t>Comment: CYBA{meta-...}</a:t>
            </a:r>
            <a:endParaRPr lang="en-US" sz="12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A9FD6"/>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photo is a real JPEG; viewers only show the picture.</a:t>
            </a:r>
            <a:endParaRPr lang="en-US" sz="1400" dirty="0"/>
          </a:p>
        </p:txBody>
      </p:sp>
      <p:sp>
        <p:nvSpPr>
          <p:cNvPr id="40" name="Shape 37"/>
          <p:cNvSpPr/>
          <p:nvPr/>
        </p:nvSpPr>
        <p:spPr>
          <a:xfrm>
            <a:off x="7543800" y="2980944"/>
            <a:ext cx="457200" cy="457200"/>
          </a:xfrm>
          <a:prstGeom prst="ellipse">
            <a:avLst/>
          </a:prstGeom>
          <a:solidFill>
            <a:srgbClr val="2A9FD6"/>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Its metadata fields sit in the file as plain text.</a:t>
            </a:r>
            <a:endParaRPr lang="en-US" sz="1400" dirty="0"/>
          </a:p>
        </p:txBody>
      </p:sp>
      <p:sp>
        <p:nvSpPr>
          <p:cNvPr id="43" name="Shape 40"/>
          <p:cNvSpPr/>
          <p:nvPr/>
        </p:nvSpPr>
        <p:spPr>
          <a:xfrm>
            <a:off x="7543800" y="3767328"/>
            <a:ext cx="457200" cy="457200"/>
          </a:xfrm>
          <a:prstGeom prst="ellipse">
            <a:avLst/>
          </a:prstGeom>
          <a:solidFill>
            <a:srgbClr val="2A9FD6"/>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strings printed them, including the Comment.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Metadata has exposed real people: camera serial numbers, edit software, even GPS location. exiftool reads it all.</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2A9FD6"/>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See the fields in hex:  head -c 120 photo.jpg | xxd</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33</a:t>
            </a:r>
            <a:endParaRPr lang="en-US" sz="1000" dirty="0"/>
          </a:p>
        </p:txBody>
      </p:sp>
      <p:sp>
        <p:nvSpPr>
          <p:cNvPr id="5" name="Shape 2"/>
          <p:cNvSpPr/>
          <p:nvPr/>
        </p:nvSpPr>
        <p:spPr>
          <a:xfrm>
            <a:off x="548640" y="438912"/>
            <a:ext cx="1828800" cy="347472"/>
          </a:xfrm>
          <a:prstGeom prst="roundRect">
            <a:avLst>
              <a:gd name="adj" fmla="val 50000"/>
            </a:avLst>
          </a:prstGeom>
          <a:solidFill>
            <a:srgbClr val="2459D8"/>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sp>
      <p:sp>
        <p:nvSpPr>
          <p:cNvPr id="14" name="Text 11"/>
          <p:cNvSpPr txBox="1"/>
          <p:nvPr/>
        </p:nvSpPr>
        <p:spPr>
          <a:xfrm>
            <a:off x="775594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Wrong label</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Eight holiday photos. One of them isn't a photo at all. Its name lies; its first bytes don't.</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~/mission3/photos/</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filetype  zcat</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Can anyone rename a file to .jpg?</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Where does a file say what it really is?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Once we know it's gzip, which tool opens it?</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34</a:t>
            </a:r>
            <a:endParaRPr lang="en-US" sz="1000" dirty="0"/>
          </a:p>
        </p:txBody>
      </p:sp>
      <p:sp>
        <p:nvSpPr>
          <p:cNvPr id="5" name="Shape 2"/>
          <p:cNvSpPr/>
          <p:nvPr/>
        </p:nvSpPr>
        <p:spPr>
          <a:xfrm>
            <a:off x="548640" y="438912"/>
            <a:ext cx="2103120" cy="347472"/>
          </a:xfrm>
          <a:prstGeom prst="roundRect">
            <a:avLst>
              <a:gd name="adj" fmla="val 50000"/>
            </a:avLst>
          </a:prstGeom>
          <a:solidFill>
            <a:srgbClr val="2459D8"/>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sp>
      <p:sp>
        <p:nvSpPr>
          <p:cNvPr id="16" name="Text 13"/>
          <p:cNvSpPr txBox="1"/>
          <p:nvPr/>
        </p:nvSpPr>
        <p:spPr>
          <a:xfrm>
            <a:off x="825063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Wrong label</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cd ~/mission3</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filetype photos/*</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photos/IMG_1041.jpg: JPEG image data</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photos/IMG_1042.jpg: gzip compressed data</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photos/IMG_1043.jpg: JPEG image data</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zcat photos/IMG_1042.jpg</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This was never a photo.</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CYBA{label-...}</a:t>
            </a:r>
            <a:endParaRPr lang="en-US" sz="13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459D8"/>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filetype read the first bytes (the magic number) of each file.</a:t>
            </a:r>
            <a:endParaRPr lang="en-US" sz="1400" dirty="0"/>
          </a:p>
        </p:txBody>
      </p:sp>
      <p:sp>
        <p:nvSpPr>
          <p:cNvPr id="40" name="Shape 37"/>
          <p:cNvSpPr/>
          <p:nvPr/>
        </p:nvSpPr>
        <p:spPr>
          <a:xfrm>
            <a:off x="7543800" y="2980944"/>
            <a:ext cx="457200" cy="457200"/>
          </a:xfrm>
          <a:prstGeom prst="ellipse">
            <a:avLst/>
          </a:prstGeom>
          <a:solidFill>
            <a:srgbClr val="2459D8"/>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One 'photo' started with 1f 8b: gzip, not JPEG.</a:t>
            </a:r>
            <a:endParaRPr lang="en-US" sz="1400" dirty="0"/>
          </a:p>
        </p:txBody>
      </p:sp>
      <p:sp>
        <p:nvSpPr>
          <p:cNvPr id="43" name="Shape 40"/>
          <p:cNvSpPr/>
          <p:nvPr/>
        </p:nvSpPr>
        <p:spPr>
          <a:xfrm>
            <a:off x="7543800" y="3767328"/>
            <a:ext cx="457200" cy="457200"/>
          </a:xfrm>
          <a:prstGeom prst="ellipse">
            <a:avLst/>
          </a:prstGeom>
          <a:solidFill>
            <a:srgbClr val="2459D8"/>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zcat decompressed it, whatever its name said.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Attackers rename files to slip past filters. Analysts trust magic bytes, not extensions.</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2459D8"/>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See the magic bytes yourself:  head -c 4 photos/IMG_1041.jpg | xxd</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35</a:t>
            </a:r>
            <a:endParaRPr lang="en-US" sz="1000" dirty="0"/>
          </a:p>
        </p:txBody>
      </p:sp>
      <p:sp>
        <p:nvSpPr>
          <p:cNvPr id="5" name="Shape 2"/>
          <p:cNvSpPr/>
          <p:nvPr/>
        </p:nvSpPr>
        <p:spPr>
          <a:xfrm>
            <a:off x="548640" y="438912"/>
            <a:ext cx="1828800" cy="347472"/>
          </a:xfrm>
          <a:prstGeom prst="roundRect">
            <a:avLst>
              <a:gd name="adj" fmla="val 50000"/>
            </a:avLst>
          </a:prstGeom>
          <a:solidFill>
            <a:srgbClr val="7448D4"/>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sp>
      <p:sp>
        <p:nvSpPr>
          <p:cNvPr id="16" name="Text 13"/>
          <p:cNvSpPr txBox="1"/>
          <p:nvPr/>
        </p:nvSpPr>
        <p:spPr>
          <a:xfrm>
            <a:off x="825063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Russian dolls</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The evidence arrived packed: an archive inside an archive inside a compressed file. The inner layers have no file extensions to help.</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~/mission4/evidence.tar.gz</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tar  filetype  zcat</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What's the difference between tar and gzip?</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After unpacking a layer, how do we know what we got?</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command opens each kind of layer?</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36</a:t>
            </a:r>
            <a:endParaRPr lang="en-US" sz="1000" dirty="0"/>
          </a:p>
        </p:txBody>
      </p:sp>
      <p:sp>
        <p:nvSpPr>
          <p:cNvPr id="5" name="Shape 2"/>
          <p:cNvSpPr/>
          <p:nvPr/>
        </p:nvSpPr>
        <p:spPr>
          <a:xfrm>
            <a:off x="548640" y="438912"/>
            <a:ext cx="2103120" cy="347472"/>
          </a:xfrm>
          <a:prstGeom prst="roundRect">
            <a:avLst>
              <a:gd name="adj" fmla="val 50000"/>
            </a:avLst>
          </a:prstGeom>
          <a:solidFill>
            <a:srgbClr val="7448D4"/>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sp>
      <p:sp>
        <p:nvSpPr>
          <p:cNvPr id="18" name="Text 15"/>
          <p:cNvSpPr txBox="1"/>
          <p:nvPr/>
        </p:nvSpPr>
        <p:spPr>
          <a:xfrm>
            <a:off x="874532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Russian dolls</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cd ~/mission4</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tar -xzf evidence.tar.gz</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filetype box</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box: POSIX tar archive</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tar -xf box</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filetype inner</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inner: gzip compressed data</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zcat inner</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You reached the smallest doll.</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CYBA{dolls-...}</a:t>
            </a:r>
            <a:endParaRPr lang="en-US" sz="13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7448D4"/>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tar -xzf unzipped and unpacked the outer layer.</a:t>
            </a:r>
            <a:endParaRPr lang="en-US" sz="1400" dirty="0"/>
          </a:p>
        </p:txBody>
      </p:sp>
      <p:sp>
        <p:nvSpPr>
          <p:cNvPr id="40" name="Shape 37"/>
          <p:cNvSpPr/>
          <p:nvPr/>
        </p:nvSpPr>
        <p:spPr>
          <a:xfrm>
            <a:off x="7543800" y="2980944"/>
            <a:ext cx="457200" cy="457200"/>
          </a:xfrm>
          <a:prstGeom prst="ellipse">
            <a:avLst/>
          </a:prstGeom>
          <a:solidFill>
            <a:srgbClr val="7448D4"/>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filetype named each new file: a tar, then a gzip.</a:t>
            </a:r>
            <a:endParaRPr lang="en-US" sz="1400" dirty="0"/>
          </a:p>
        </p:txBody>
      </p:sp>
      <p:sp>
        <p:nvSpPr>
          <p:cNvPr id="43" name="Shape 40"/>
          <p:cNvSpPr/>
          <p:nvPr/>
        </p:nvSpPr>
        <p:spPr>
          <a:xfrm>
            <a:off x="7543800" y="3767328"/>
            <a:ext cx="457200" cy="457200"/>
          </a:xfrm>
          <a:prstGeom prst="ellipse">
            <a:avLst/>
          </a:prstGeom>
          <a:solidFill>
            <a:srgbClr val="7448D4"/>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Repeat until there's nothing left to unwrap.</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Malware and stolen data often travel in nested archives. Unpack, identify, repeat.</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7448D4"/>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List an archive without unpacking it:  tar -tzf evidence.tar.gz</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37</a:t>
            </a:r>
            <a:endParaRPr lang="en-US" sz="1000" dirty="0"/>
          </a:p>
        </p:txBody>
      </p:sp>
      <p:sp>
        <p:nvSpPr>
          <p:cNvPr id="5" name="Shape 2"/>
          <p:cNvSpPr/>
          <p:nvPr/>
        </p:nvSpPr>
        <p:spPr>
          <a:xfrm>
            <a:off x="548640" y="438912"/>
            <a:ext cx="1828800" cy="347472"/>
          </a:xfrm>
          <a:prstGeom prst="roundRect">
            <a:avLst>
              <a:gd name="adj" fmla="val 50000"/>
            </a:avLst>
          </a:prstGeom>
          <a:solidFill>
            <a:srgbClr val="D1416B"/>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sp>
      <p:sp>
        <p:nvSpPr>
          <p:cNvPr id="18" name="Text 15"/>
          <p:cNvSpPr txBox="1"/>
          <p:nvPr/>
        </p:nvSpPr>
        <p:spPr>
          <a:xfrm>
            <a:off x="874532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Log detective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Hundreds of login attempts. Someone guessed passwords over and over, then got in. Find the attacker's IP address, then its one successful login.</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~/mission5/auth.log</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grep  cut  sort  uniq -c</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does a password-guessing attack look like in a log?</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field is the IP address?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do we count lines per IP?</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38</a:t>
            </a:r>
            <a:endParaRPr lang="en-US" sz="1000" dirty="0"/>
          </a:p>
        </p:txBody>
      </p:sp>
      <p:sp>
        <p:nvSpPr>
          <p:cNvPr id="5" name="Shape 2"/>
          <p:cNvSpPr/>
          <p:nvPr/>
        </p:nvSpPr>
        <p:spPr>
          <a:xfrm>
            <a:off x="548640" y="438912"/>
            <a:ext cx="2103120" cy="347472"/>
          </a:xfrm>
          <a:prstGeom prst="roundRect">
            <a:avLst>
              <a:gd name="adj" fmla="val 50000"/>
            </a:avLst>
          </a:prstGeom>
          <a:solidFill>
            <a:srgbClr val="D1416B"/>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sp>
      <p:sp>
        <p:nvSpPr>
          <p:cNvPr id="20" name="Text 17"/>
          <p:cNvSpPr txBox="1"/>
          <p:nvPr/>
        </p:nvSpPr>
        <p:spPr>
          <a:xfrm>
            <a:off x="924001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Log detective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cd ~/mission5</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head -2 auth.log</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2026-10-08T02:04:39 sshd: Failed password for guest from 203.0.113.66</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grep Failed auth.log | cut -d' ' -f8 | sort | uniq -c | sort -n | tail -2</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      7 192.0.2.24</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     40 203.0.113.66</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grep Accepted auth.log | grep 203.0.113.66</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 Accepted password for ava from 203.0.113.66 ticket=CYBA{log-...}</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D1416B"/>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grep kept the Failed lines; cut kept field 8, the IP.</a:t>
            </a:r>
            <a:endParaRPr lang="en-US" sz="1400" dirty="0"/>
          </a:p>
        </p:txBody>
      </p:sp>
      <p:sp>
        <p:nvSpPr>
          <p:cNvPr id="40" name="Shape 37"/>
          <p:cNvSpPr/>
          <p:nvPr/>
        </p:nvSpPr>
        <p:spPr>
          <a:xfrm>
            <a:off x="7543800" y="2980944"/>
            <a:ext cx="457200" cy="457200"/>
          </a:xfrm>
          <a:prstGeom prst="ellipse">
            <a:avLst/>
          </a:prstGeom>
          <a:solidFill>
            <a:srgbClr val="D1416B"/>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sort | uniq -c counted each IP; sort -n put the biggest last.</a:t>
            </a:r>
            <a:endParaRPr lang="en-US" sz="1400" dirty="0"/>
          </a:p>
        </p:txBody>
      </p:sp>
      <p:sp>
        <p:nvSpPr>
          <p:cNvPr id="43" name="Shape 40"/>
          <p:cNvSpPr/>
          <p:nvPr/>
        </p:nvSpPr>
        <p:spPr>
          <a:xfrm>
            <a:off x="7543800" y="3767328"/>
            <a:ext cx="457200" cy="457200"/>
          </a:xfrm>
          <a:prstGeom prst="ellipse">
            <a:avLst/>
          </a:prstGeom>
          <a:solidFill>
            <a:srgbClr val="D1416B"/>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busiest IP's Accepted line was the break-in.</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This is a brute-force login attack. Analysts spot it exactly this way, and block the IP.</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D1416B"/>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Which usernames did the attacker try?  grep 203.0.113.66 auth.log | cut -d' ' -f6 | sort | uniq -c</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39</a:t>
            </a:r>
            <a:endParaRPr lang="en-US" sz="1000" dirty="0"/>
          </a:p>
        </p:txBody>
      </p:sp>
      <p:sp>
        <p:nvSpPr>
          <p:cNvPr id="5" name="Shape 2"/>
          <p:cNvSpPr/>
          <p:nvPr/>
        </p:nvSpPr>
        <p:spPr>
          <a:xfrm>
            <a:off x="548640" y="438912"/>
            <a:ext cx="1828800" cy="347472"/>
          </a:xfrm>
          <a:prstGeom prst="roundRect">
            <a:avLst>
              <a:gd name="adj" fmla="val 50000"/>
            </a:avLst>
          </a:prstGeom>
          <a:solidFill>
            <a:srgbClr val="E8820C"/>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sp>
      <p:sp>
        <p:nvSpPr>
          <p:cNvPr id="20" name="Text 17"/>
          <p:cNvSpPr txBox="1"/>
          <p:nvPr/>
        </p:nvSpPr>
        <p:spPr>
          <a:xfrm>
            <a:off x="924001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Hidden tail</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A cat picture that opens normally. But someone hid a message after the picture's end marker, where viewers never look. Steganography.</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~/mission6/cat.jpg</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strings  tail  base64 -d</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Why doesn't a picture viewer show the extra data?</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Where in the file would appended data be?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The message looks scrambled. What encoding has letters, digits and = at the end?</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40</a:t>
            </a:r>
            <a:endParaRPr lang="en-US" sz="1000" dirty="0"/>
          </a:p>
        </p:txBody>
      </p:sp>
      <p:sp>
        <p:nvSpPr>
          <p:cNvPr id="5" name="Shape 2"/>
          <p:cNvSpPr/>
          <p:nvPr/>
        </p:nvSpPr>
        <p:spPr>
          <a:xfrm>
            <a:off x="548640" y="438912"/>
            <a:ext cx="2103120" cy="347472"/>
          </a:xfrm>
          <a:prstGeom prst="roundRect">
            <a:avLst>
              <a:gd name="adj" fmla="val 50000"/>
            </a:avLst>
          </a:prstGeom>
          <a:solidFill>
            <a:srgbClr val="E8820C"/>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sp>
      <p:sp>
        <p:nvSpPr>
          <p:cNvPr id="22" name="Text 19"/>
          <p:cNvSpPr txBox="1"/>
          <p:nvPr/>
        </p:nvSpPr>
        <p:spPr>
          <a:xfrm>
            <a:off x="973470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Hidden tail</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cd ~/mission6</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filetype cat.jpg</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cat.jpg: JPEG image data</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strings cat.jpg | tail -2</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JFIF</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SGlkZGVuIGFmdGVyIHRoZSBwaWN0dXJlLgpGbGFn...==</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strings cat.jpg | tail -1 | base64 -d</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Hidden after the picture.</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CYBA{tail-...}</a:t>
            </a:r>
            <a:endParaRPr lang="en-US" sz="13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E8820C"/>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picture is real; viewers stop at its end marker (ff d9).</a:t>
            </a:r>
            <a:endParaRPr lang="en-US" sz="1400" dirty="0"/>
          </a:p>
        </p:txBody>
      </p:sp>
      <p:sp>
        <p:nvSpPr>
          <p:cNvPr id="40" name="Shape 37"/>
          <p:cNvSpPr/>
          <p:nvPr/>
        </p:nvSpPr>
        <p:spPr>
          <a:xfrm>
            <a:off x="7543800" y="2980944"/>
            <a:ext cx="457200" cy="457200"/>
          </a:xfrm>
          <a:prstGeom prst="ellipse">
            <a:avLst/>
          </a:prstGeom>
          <a:solidFill>
            <a:srgbClr val="E8820C"/>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strings found readable text after it: the last line.</a:t>
            </a:r>
            <a:endParaRPr lang="en-US" sz="1400" dirty="0"/>
          </a:p>
        </p:txBody>
      </p:sp>
      <p:sp>
        <p:nvSpPr>
          <p:cNvPr id="43" name="Shape 40"/>
          <p:cNvSpPr/>
          <p:nvPr/>
        </p:nvSpPr>
        <p:spPr>
          <a:xfrm>
            <a:off x="7543800" y="3767328"/>
            <a:ext cx="457200" cy="457200"/>
          </a:xfrm>
          <a:prstGeom prst="ellipse">
            <a:avLst/>
          </a:prstGeom>
          <a:solidFill>
            <a:srgbClr val="E8820C"/>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It was base64, so base64 -d revealed it (Crypto CTF skills!).</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Steganography hides data inside innocent files. Tools like binwalk and steghide find and extract it.</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E8820C"/>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See the end of the picture in hex:  tail -c 120 cat.jpg | xxd</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41</a:t>
            </a:r>
            <a:endParaRPr lang="en-US" sz="1000" dirty="0"/>
          </a:p>
        </p:txBody>
      </p:sp>
      <p:sp>
        <p:nvSpPr>
          <p:cNvPr id="5" name="Shape 2"/>
          <p:cNvSpPr/>
          <p:nvPr/>
        </p:nvSpPr>
        <p:spPr>
          <a:xfrm>
            <a:off x="548640" y="438912"/>
            <a:ext cx="1828800" cy="347472"/>
          </a:xfrm>
          <a:prstGeom prst="roundRect">
            <a:avLst>
              <a:gd name="adj" fmla="val 50000"/>
            </a:avLst>
          </a:prstGeom>
          <a:solidFill>
            <a:srgbClr val="C9A227"/>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sp>
      <p:sp>
        <p:nvSpPr>
          <p:cNvPr id="22" name="Text 19"/>
          <p:cNvSpPr txBox="1"/>
          <p:nvPr/>
        </p:nvSpPr>
        <p:spPr>
          <a:xfrm>
            <a:off x="973470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Tampered</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Ten programs and a list of their fingerprints, taken when the server was clean. One program has been changed since. Find it.</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~/mission7/bin/  manifest.sha256</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sha256sum -c  strings</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happens to a hash if one byte changes?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can sha256sum check a whole list at once?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Every program has a flag inside. Which one is real?</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42</a:t>
            </a:r>
            <a:endParaRPr lang="en-US" sz="1000" dirty="0"/>
          </a:p>
        </p:txBody>
      </p:sp>
      <p:sp>
        <p:nvSpPr>
          <p:cNvPr id="5" name="Shape 2"/>
          <p:cNvSpPr/>
          <p:nvPr/>
        </p:nvSpPr>
        <p:spPr>
          <a:xfrm>
            <a:off x="548640" y="438912"/>
            <a:ext cx="2103120" cy="347472"/>
          </a:xfrm>
          <a:prstGeom prst="roundRect">
            <a:avLst>
              <a:gd name="adj" fmla="val 50000"/>
            </a:avLst>
          </a:prstGeom>
          <a:solidFill>
            <a:srgbClr val="C9A227"/>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sp>
      <p:sp>
        <p:nvSpPr>
          <p:cNvPr id="24" name="Text 21"/>
          <p:cNvSpPr txBox="1"/>
          <p:nvPr/>
        </p:nvSpPr>
        <p:spPr>
          <a:xfrm>
            <a:off x="1022939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Tampered</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~/mission7</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sha256sum -c manifest.sha256</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bin/backup: OK</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bin/cleanup: OK</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bin/diskcheck: FAILED</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bin/logrotate: OK</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sha256sum: WARNING: 1 of 10 computed checksums did NOT match</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strings bin/diskcheck | grep CYBA</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CYBA{tamper-...}</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C9A227"/>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manifest held each program's known-good SHA-256.</a:t>
            </a:r>
            <a:endParaRPr lang="en-US" sz="1400" dirty="0"/>
          </a:p>
        </p:txBody>
      </p:sp>
      <p:sp>
        <p:nvSpPr>
          <p:cNvPr id="40" name="Shape 37"/>
          <p:cNvSpPr/>
          <p:nvPr/>
        </p:nvSpPr>
        <p:spPr>
          <a:xfrm>
            <a:off x="7543800" y="2980944"/>
            <a:ext cx="457200" cy="457200"/>
          </a:xfrm>
          <a:prstGeom prst="ellipse">
            <a:avLst/>
          </a:prstGeom>
          <a:solidFill>
            <a:srgbClr val="C9A227"/>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sha256sum -c re-hashed every file and compared.</a:t>
            </a:r>
            <a:endParaRPr lang="en-US" sz="1400" dirty="0"/>
          </a:p>
        </p:txBody>
      </p:sp>
      <p:sp>
        <p:nvSpPr>
          <p:cNvPr id="43" name="Shape 40"/>
          <p:cNvSpPr/>
          <p:nvPr/>
        </p:nvSpPr>
        <p:spPr>
          <a:xfrm>
            <a:off x="7543800" y="3767328"/>
            <a:ext cx="457200" cy="457200"/>
          </a:xfrm>
          <a:prstGeom prst="ellipse">
            <a:avLst/>
          </a:prstGeom>
          <a:solidFill>
            <a:srgbClr val="C9A227"/>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one that FAILED was tampered; its flag is the real one.</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File integrity monitoring (Tripwire, AIDE) does exactly this to catch backdoored system programs.</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C9A227"/>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Why does grep -r CYBA bin/ not solve this mission?</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43</a:t>
            </a:r>
            <a:endParaRPr lang="en-US" sz="1000" dirty="0"/>
          </a:p>
        </p:txBody>
      </p:sp>
      <p:sp>
        <p:nvSpPr>
          <p:cNvPr id="5" name="Shape 2"/>
          <p:cNvSpPr/>
          <p:nvPr/>
        </p:nvSpPr>
        <p:spPr>
          <a:xfrm>
            <a:off x="548640" y="438912"/>
            <a:ext cx="1828800" cy="347472"/>
          </a:xfrm>
          <a:prstGeom prst="roundRect">
            <a:avLst>
              <a:gd name="adj" fmla="val 50000"/>
            </a:avLst>
          </a:prstGeom>
          <a:solidFill>
            <a:srgbClr val="0F9488"/>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sp>
      <p:sp>
        <p:nvSpPr>
          <p:cNvPr id="24" name="Text 21"/>
          <p:cNvSpPr txBox="1"/>
          <p:nvPr/>
        </p:nvSpPr>
        <p:spPr>
          <a:xfrm>
            <a:off x="1022939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Persistence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Intruders want to come back. One of these crontabs runs a script that doesn't belong. Find it, read it, decode what it carries.</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~/mission8/cron/  var/</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cat  ls -a  base64 -d</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is a cron job?</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makes a file 'hidden' in Linux?</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The script's payload is scrambled. Which decoder fits?</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6</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44</a:t>
            </a:r>
            <a:endParaRPr lang="en-US" sz="1000" dirty="0"/>
          </a:p>
        </p:txBody>
      </p:sp>
      <p:sp>
        <p:nvSpPr>
          <p:cNvPr id="5" name="Shape 2"/>
          <p:cNvSpPr/>
          <p:nvPr/>
        </p:nvSpPr>
        <p:spPr>
          <a:xfrm>
            <a:off x="548640" y="438912"/>
            <a:ext cx="2103120" cy="347472"/>
          </a:xfrm>
          <a:prstGeom prst="roundRect">
            <a:avLst>
              <a:gd name="adj" fmla="val 50000"/>
            </a:avLst>
          </a:prstGeom>
          <a:solidFill>
            <a:srgbClr val="0F9488"/>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sp>
      <p:sp>
        <p:nvSpPr>
          <p:cNvPr id="26" name="Text 23"/>
          <p:cNvSpPr txBox="1"/>
          <p:nvPr/>
        </p:nvSpPr>
        <p:spPr>
          <a:xfrm>
            <a:off x="1072408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Persistence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cd ~/mission8</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cat cron/*</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0 2 * * * /usr/local/bin/backup.sh</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*/10 * * * * /home/player/mission8/var/.cache/.sys-update.sh</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ls -a var/.cache</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  ..  .sys-update.sh</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cat var/.cache/.sys-update.sh</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PAYLOAD="UGVyc2lzdGVuY2UgZm91bmQu..."</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echo UGVyc2lz... | base64 -d</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CYBA{cron-...}</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0F9488"/>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One cron line ran a script every 10 minutes from a hidden folder.</a:t>
            </a:r>
            <a:endParaRPr lang="en-US" sz="1400" dirty="0"/>
          </a:p>
        </p:txBody>
      </p:sp>
      <p:sp>
        <p:nvSpPr>
          <p:cNvPr id="40" name="Shape 37"/>
          <p:cNvSpPr/>
          <p:nvPr/>
        </p:nvSpPr>
        <p:spPr>
          <a:xfrm>
            <a:off x="7543800" y="2980944"/>
            <a:ext cx="457200" cy="457200"/>
          </a:xfrm>
          <a:prstGeom prst="ellipse">
            <a:avLst/>
          </a:prstGeom>
          <a:solidFill>
            <a:srgbClr val="0F9488"/>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ls -a found the hidden script; cat showed its base64 payload.</a:t>
            </a:r>
            <a:endParaRPr lang="en-US" sz="1400" dirty="0"/>
          </a:p>
        </p:txBody>
      </p:sp>
      <p:sp>
        <p:nvSpPr>
          <p:cNvPr id="43" name="Shape 40"/>
          <p:cNvSpPr/>
          <p:nvPr/>
        </p:nvSpPr>
        <p:spPr>
          <a:xfrm>
            <a:off x="7543800" y="3767328"/>
            <a:ext cx="457200" cy="457200"/>
          </a:xfrm>
          <a:prstGeom prst="ellipse">
            <a:avLst/>
          </a:prstGeom>
          <a:solidFill>
            <a:srgbClr val="0F9488"/>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base64 -d revealed what it carried.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Persistence (cron jobs, startup scripts, services) is one of the first things responders hunt after a break-in.</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0F9488"/>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Read the schedule: what does */10 * * * * mean? And 0 2 * * *?</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45</a:t>
            </a:r>
            <a:endParaRPr lang="en-US" sz="1000" dirty="0"/>
          </a:p>
        </p:txBody>
      </p:sp>
      <p:sp>
        <p:nvSpPr>
          <p:cNvPr id="5" name="Shape 2"/>
          <p:cNvSpPr/>
          <p:nvPr/>
        </p:nvSpPr>
        <p:spPr>
          <a:xfrm>
            <a:off x="548640" y="438912"/>
            <a:ext cx="1828800" cy="347472"/>
          </a:xfrm>
          <a:prstGeom prst="roundRect">
            <a:avLst>
              <a:gd name="adj" fmla="val 50000"/>
            </a:avLst>
          </a:prstGeom>
          <a:solidFill>
            <a:srgbClr val="5B6EE1"/>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sp>
      <p:sp>
        <p:nvSpPr>
          <p:cNvPr id="26" name="Text 23"/>
          <p:cNvSpPr txBox="1"/>
          <p:nvPr/>
        </p:nvSpPr>
        <p:spPr>
          <a:xfrm>
            <a:off x="1072408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Leaked in pieces</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A packet capture, listed the way Wireshark shows it. One host kept requesting /pixel.gif with a seq number and a chunk of hex. Put the chunks in order and decode them.</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~/mission9/capture.txt</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grep · cut · sort · xxd</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do we keep only the suspicious requests?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The chunks arrived out of order. How do we fix that?</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Hex again: which tool turns it back into text?</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6</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46</a:t>
            </a:r>
            <a:endParaRPr lang="en-US" sz="1000" dirty="0"/>
          </a:p>
        </p:txBody>
      </p:sp>
      <p:sp>
        <p:nvSpPr>
          <p:cNvPr id="5" name="Shape 2"/>
          <p:cNvSpPr/>
          <p:nvPr/>
        </p:nvSpPr>
        <p:spPr>
          <a:xfrm>
            <a:off x="548640" y="438912"/>
            <a:ext cx="2103120" cy="347472"/>
          </a:xfrm>
          <a:prstGeom prst="roundRect">
            <a:avLst>
              <a:gd name="adj" fmla="val 50000"/>
            </a:avLst>
          </a:prstGeom>
          <a:solidFill>
            <a:srgbClr val="5B6EE1"/>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sp>
      <p:sp>
        <p:nvSpPr>
          <p:cNvPr id="28" name="Text 25"/>
          <p:cNvSpPr txBox="1"/>
          <p:nvPr/>
        </p:nvSpPr>
        <p:spPr>
          <a:xfrm>
            <a:off x="11218774"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Leaked in pieces</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cd ~/mission9</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grep seq= capture.txt | head -2</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 90 218.2 203.0.113.66 192.0.2.80 HTTP 412 GET /pixel.gif?seq=07&amp;d=70696563</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 91 221.0 203.0.113.66 192.0.2.80 HTTP 412 GET /pixel.gif?seq=03&amp;d=6c65642e</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grep seq= capture.txt | cut -d'?' -f2 | cut -d' ' -f1 \</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  | sort | cut -d'=' -f3 | tr -d '\n' | xxd -r -p</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Reassembled.</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CYBA{pieces-...}</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5B6EE1"/>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grep kept one host's packets; two cuts kept seq=..&amp;d=...</a:t>
            </a:r>
            <a:endParaRPr lang="en-US" sz="1400" dirty="0"/>
          </a:p>
        </p:txBody>
      </p:sp>
      <p:sp>
        <p:nvSpPr>
          <p:cNvPr id="40" name="Shape 37"/>
          <p:cNvSpPr/>
          <p:nvPr/>
        </p:nvSpPr>
        <p:spPr>
          <a:xfrm>
            <a:off x="7543800" y="2980944"/>
            <a:ext cx="457200" cy="457200"/>
          </a:xfrm>
          <a:prstGeom prst="ellipse">
            <a:avLst/>
          </a:prstGeom>
          <a:solidFill>
            <a:srgbClr val="5B6EE1"/>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sort put them in seq order; cut kept the hex; tr joined it.</a:t>
            </a:r>
            <a:endParaRPr lang="en-US" sz="1400" dirty="0"/>
          </a:p>
        </p:txBody>
      </p:sp>
      <p:sp>
        <p:nvSpPr>
          <p:cNvPr id="43" name="Shape 40"/>
          <p:cNvSpPr/>
          <p:nvPr/>
        </p:nvSpPr>
        <p:spPr>
          <a:xfrm>
            <a:off x="7543800" y="3767328"/>
            <a:ext cx="457200" cy="457200"/>
          </a:xfrm>
          <a:prstGeom prst="ellipse">
            <a:avLst/>
          </a:prstGeom>
          <a:solidFill>
            <a:srgbClr val="5B6EE1"/>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xxd -r -p turned the hex back into the stolen text.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Data theft often hides in ordinary-looking traffic, split into small pieces. Wireshark's 'Follow stream' does this reassembly for you.</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5B6EE1"/>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How many pieces were there? How many bytes per piece?</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47</a:t>
            </a:r>
            <a:endParaRPr lang="en-US" sz="1000" dirty="0"/>
          </a:p>
        </p:txBody>
      </p:sp>
      <p:sp>
        <p:nvSpPr>
          <p:cNvPr id="5" name="Shape 2"/>
          <p:cNvSpPr/>
          <p:nvPr/>
        </p:nvSpPr>
        <p:spPr>
          <a:xfrm>
            <a:off x="548640" y="438912"/>
            <a:ext cx="1828800" cy="347472"/>
          </a:xfrm>
          <a:prstGeom prst="roundRect">
            <a:avLst>
              <a:gd name="adj" fmla="val 50000"/>
            </a:avLst>
          </a:prstGeom>
          <a:solidFill>
            <a:srgbClr val="B4233F"/>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2A1430"/>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sp>
      <p:sp>
        <p:nvSpPr>
          <p:cNvPr id="28" name="Text 25"/>
          <p:cNvSpPr txBox="1"/>
          <p:nvPr/>
        </p:nvSpPr>
        <p:spPr>
          <a:xfrm>
            <a:off x="11218774"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Case closed</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Everything at once. Find whose account was broken into, find the file in their folder whose label lies, unpack it and decode what's inside.</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~/mission10/auth.log  homes/</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grep · filetype · zcat</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mission taught us to find the attacker in auth.log?</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one taught us to spot a file whose label lies?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layers might be inside?</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8</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48</a:t>
            </a:r>
            <a:endParaRPr lang="en-US" sz="1000" dirty="0"/>
          </a:p>
        </p:txBody>
      </p:sp>
      <p:sp>
        <p:nvSpPr>
          <p:cNvPr id="5" name="Shape 2"/>
          <p:cNvSpPr/>
          <p:nvPr/>
        </p:nvSpPr>
        <p:spPr>
          <a:xfrm>
            <a:off x="548640" y="438912"/>
            <a:ext cx="2103120" cy="347472"/>
          </a:xfrm>
          <a:prstGeom prst="roundRect">
            <a:avLst>
              <a:gd name="adj" fmla="val 50000"/>
            </a:avLst>
          </a:prstGeom>
          <a:solidFill>
            <a:srgbClr val="B4233F"/>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2A1430"/>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B4233F"/>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Case closed</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cd ~/mission10</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grep Failed auth.log | cut -d' ' -f8 | sort | uniq -c | sort -n | tail -1</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     38 198.51.100.201</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grep Accepted auth.log | grep 198.51.100.201 | cut -d' ' -f6</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liam</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filetype homes/liam/*</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homes/liam/notes.txt: gzip compressed data</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zcat homes/liam/notes.txt | base64 -d</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Case closed.</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CYBA{closed-...}</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B4233F"/>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Counting Failed lines found the attacker; Accepted named the user.</a:t>
            </a:r>
            <a:endParaRPr lang="en-US" sz="1400" dirty="0"/>
          </a:p>
        </p:txBody>
      </p:sp>
      <p:sp>
        <p:nvSpPr>
          <p:cNvPr id="40" name="Shape 37"/>
          <p:cNvSpPr/>
          <p:nvPr/>
        </p:nvSpPr>
        <p:spPr>
          <a:xfrm>
            <a:off x="7543800" y="2980944"/>
            <a:ext cx="457200" cy="457200"/>
          </a:xfrm>
          <a:prstGeom prst="ellipse">
            <a:avLst/>
          </a:prstGeom>
          <a:solidFill>
            <a:srgbClr val="B4233F"/>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filetype found the file in their folder that wasn't what it claimed.</a:t>
            </a:r>
            <a:endParaRPr lang="en-US" sz="1400" dirty="0"/>
          </a:p>
        </p:txBody>
      </p:sp>
      <p:sp>
        <p:nvSpPr>
          <p:cNvPr id="43" name="Shape 40"/>
          <p:cNvSpPr/>
          <p:nvPr/>
        </p:nvSpPr>
        <p:spPr>
          <a:xfrm>
            <a:off x="7543800" y="3767328"/>
            <a:ext cx="457200" cy="457200"/>
          </a:xfrm>
          <a:prstGeom prst="ellipse">
            <a:avLst/>
          </a:prstGeom>
          <a:solidFill>
            <a:srgbClr val="B4233F"/>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zcat, then base64 -d, opened the stolen evidence.</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A real investigation is exactly this chain: logs lead to an account, the account leads to files, files lead to proof.</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B4233F"/>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Write the whole case as three sentences: who, how, what was taken.</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Times, names, IPs and flags change on every computer.</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Side quests: for teams that finish early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49</a:t>
            </a:r>
            <a:endParaRPr lang="en-US" sz="1000" dirty="0"/>
          </a:p>
        </p:txBody>
      </p:sp>
      <p:sp>
        <p:nvSpPr>
          <p:cNvPr id="6" name="Shape 3"/>
          <p:cNvSpPr/>
          <p:nvPr/>
        </p:nvSpPr>
        <p:spPr>
          <a:xfrm>
            <a:off x="548640" y="1508760"/>
            <a:ext cx="5449824" cy="2057400"/>
          </a:xfrm>
          <a:prstGeom prst="roundRect">
            <a:avLst>
              <a:gd name="adj" fmla="val 5333"/>
            </a:avLst>
          </a:prstGeom>
          <a:solidFill>
            <a:srgbClr val="0E1726"/>
          </a:solidFill>
          <a:ln/>
        </p:spPr>
      </p:sp>
      <p:sp>
        <p:nvSpPr>
          <p:cNvPr id="7" name="Text 4"/>
          <p:cNvSpPr txBox="1"/>
          <p:nvPr/>
        </p:nvSpPr>
        <p:spPr>
          <a:xfrm>
            <a:off x="868680" y="1691640"/>
            <a:ext cx="32918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Who did they try?</a:t>
            </a:r>
            <a:endParaRPr lang="en-US" sz="2200" dirty="0"/>
          </a:p>
        </p:txBody>
      </p:sp>
      <p:sp>
        <p:nvSpPr>
          <p:cNvPr id="8" name="Text 5"/>
          <p:cNvSpPr txBox="1"/>
          <p:nvPr/>
        </p:nvSpPr>
        <p:spPr>
          <a:xfrm>
            <a:off x="3840480" y="1737360"/>
            <a:ext cx="192024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9" name="Text 6"/>
          <p:cNvSpPr txBox="1"/>
          <p:nvPr/>
        </p:nvSpPr>
        <p:spPr>
          <a:xfrm>
            <a:off x="868680" y="224028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Which usernames did the attacker guess? Why those?</a:t>
            </a:r>
            <a:endParaRPr lang="en-US" sz="1600" dirty="0"/>
          </a:p>
        </p:txBody>
      </p:sp>
      <p:sp>
        <p:nvSpPr>
          <p:cNvPr id="10" name="Text 7"/>
          <p:cNvSpPr txBox="1"/>
          <p:nvPr/>
        </p:nvSpPr>
        <p:spPr>
          <a:xfrm>
            <a:off x="868680" y="3044952"/>
            <a:ext cx="4846320" cy="365760"/>
          </a:xfrm>
          <a:prstGeom prst="rect">
            <a:avLst/>
          </a:prstGeom>
          <a:noFill/>
          <a:ln/>
        </p:spPr>
        <p:txBody>
          <a:bodyPr wrap="square" lIns="0" tIns="0" rIns="0" bIns="0" rtlCol="0" anchor="ctr">
            <a:normAutofit/>
          </a:bodyPr>
          <a:lstStyle/>
          <a:p>
            <a:pPr indent="0" marL="0">
              <a:buNone/>
            </a:pPr>
            <a:r>
              <a:rPr lang="en-US" sz="1250" b="1" dirty="0">
                <a:solidFill>
                  <a:srgbClr val="46D39A"/>
                </a:solidFill>
                <a:latin typeface="Courier New" pitchFamily="34" charset="0"/>
                <a:ea typeface="Courier New" pitchFamily="34" charset="-122"/>
                <a:cs typeface="Courier New" pitchFamily="34" charset="-120"/>
              </a:rPr>
              <a:t>$ </a:t>
            </a:r>
            <a:pPr indent="0" marL="0">
              <a:buNone/>
            </a:pPr>
            <a:r>
              <a:rPr lang="en-US" sz="1250" b="1" dirty="0">
                <a:solidFill>
                  <a:srgbClr val="F5A623"/>
                </a:solidFill>
                <a:latin typeface="Courier New" pitchFamily="34" charset="0"/>
                <a:ea typeface="Courier New" pitchFamily="34" charset="-122"/>
                <a:cs typeface="Courier New" pitchFamily="34" charset="-120"/>
              </a:rPr>
              <a:t>grep IP auth.log | cut -d' ' -f6</a:t>
            </a:r>
            <a:endParaRPr lang="en-US" sz="1250" dirty="0"/>
          </a:p>
        </p:txBody>
      </p:sp>
      <p:sp>
        <p:nvSpPr>
          <p:cNvPr id="11" name="Shape 8"/>
          <p:cNvSpPr/>
          <p:nvPr/>
        </p:nvSpPr>
        <p:spPr>
          <a:xfrm>
            <a:off x="6190488" y="1508760"/>
            <a:ext cx="5449824" cy="2057400"/>
          </a:xfrm>
          <a:prstGeom prst="roundRect">
            <a:avLst>
              <a:gd name="adj" fmla="val 5333"/>
            </a:avLst>
          </a:prstGeom>
          <a:solidFill>
            <a:srgbClr val="0E1726"/>
          </a:solidFill>
          <a:ln/>
        </p:spPr>
      </p:sp>
      <p:sp>
        <p:nvSpPr>
          <p:cNvPr id="12" name="Text 9"/>
          <p:cNvSpPr txBox="1"/>
          <p:nvPr/>
        </p:nvSpPr>
        <p:spPr>
          <a:xfrm>
            <a:off x="6510528" y="1691640"/>
            <a:ext cx="32918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Timeline</a:t>
            </a:r>
            <a:endParaRPr lang="en-US" sz="2200" dirty="0"/>
          </a:p>
        </p:txBody>
      </p:sp>
      <p:sp>
        <p:nvSpPr>
          <p:cNvPr id="13" name="Text 10"/>
          <p:cNvSpPr txBox="1"/>
          <p:nvPr/>
        </p:nvSpPr>
        <p:spPr>
          <a:xfrm>
            <a:off x="9482328" y="1737360"/>
            <a:ext cx="192024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missions 1, 5, 8, 9</a:t>
            </a:r>
            <a:endParaRPr lang="en-US" sz="1200" dirty="0"/>
          </a:p>
        </p:txBody>
      </p:sp>
      <p:sp>
        <p:nvSpPr>
          <p:cNvPr id="14" name="Text 11"/>
          <p:cNvSpPr txBox="1"/>
          <p:nvPr/>
        </p:nvSpPr>
        <p:spPr>
          <a:xfrm>
            <a:off x="6510528" y="224028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Put the night in order: login, file change, data leaving.</a:t>
            </a:r>
            <a:endParaRPr lang="en-US" sz="1600" dirty="0"/>
          </a:p>
        </p:txBody>
      </p:sp>
      <p:sp>
        <p:nvSpPr>
          <p:cNvPr id="15" name="Text 12"/>
          <p:cNvSpPr txBox="1"/>
          <p:nvPr/>
        </p:nvSpPr>
        <p:spPr>
          <a:xfrm>
            <a:off x="6510528" y="3044952"/>
            <a:ext cx="4846320" cy="365760"/>
          </a:xfrm>
          <a:prstGeom prst="rect">
            <a:avLst/>
          </a:prstGeom>
          <a:noFill/>
          <a:ln/>
        </p:spPr>
        <p:txBody>
          <a:bodyPr wrap="square" lIns="0" tIns="0" rIns="0" bIns="0" rtlCol="0" anchor="ctr">
            <a:normAutofit/>
          </a:bodyPr>
          <a:lstStyle/>
          <a:p>
            <a:pPr indent="0" marL="0">
              <a:buNone/>
            </a:pPr>
            <a:r>
              <a:rPr lang="en-US" sz="1250" b="1" dirty="0">
                <a:solidFill>
                  <a:srgbClr val="46D39A"/>
                </a:solidFill>
                <a:latin typeface="Courier New" pitchFamily="34" charset="0"/>
                <a:ea typeface="Courier New" pitchFamily="34" charset="-122"/>
                <a:cs typeface="Courier New" pitchFamily="34" charset="-120"/>
              </a:rPr>
              <a:t>$ </a:t>
            </a:r>
            <a:pPr indent="0" marL="0">
              <a:buNone/>
            </a:pPr>
            <a:r>
              <a:rPr lang="en-US" sz="1250" b="1" dirty="0">
                <a:solidFill>
                  <a:srgbClr val="F5A623"/>
                </a:solidFill>
                <a:latin typeface="Courier New" pitchFamily="34" charset="0"/>
                <a:ea typeface="Courier New" pitchFamily="34" charset="-122"/>
                <a:cs typeface="Courier New" pitchFamily="34" charset="-120"/>
              </a:rPr>
              <a:t>ls -l · grep · head</a:t>
            </a:r>
            <a:endParaRPr lang="en-US" sz="1250" dirty="0"/>
          </a:p>
        </p:txBody>
      </p:sp>
      <p:sp>
        <p:nvSpPr>
          <p:cNvPr id="16" name="Shape 13"/>
          <p:cNvSpPr/>
          <p:nvPr/>
        </p:nvSpPr>
        <p:spPr>
          <a:xfrm>
            <a:off x="548640" y="3749040"/>
            <a:ext cx="5449824" cy="2057400"/>
          </a:xfrm>
          <a:prstGeom prst="roundRect">
            <a:avLst>
              <a:gd name="adj" fmla="val 5333"/>
            </a:avLst>
          </a:prstGeom>
          <a:solidFill>
            <a:srgbClr val="0E1726"/>
          </a:solidFill>
          <a:ln/>
        </p:spPr>
      </p:sp>
      <p:sp>
        <p:nvSpPr>
          <p:cNvPr id="17" name="Text 14"/>
          <p:cNvSpPr txBox="1"/>
          <p:nvPr/>
        </p:nvSpPr>
        <p:spPr>
          <a:xfrm>
            <a:off x="868680" y="3931920"/>
            <a:ext cx="32918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Magic hunt</a:t>
            </a:r>
            <a:endParaRPr lang="en-US" sz="2200" dirty="0"/>
          </a:p>
        </p:txBody>
      </p:sp>
      <p:sp>
        <p:nvSpPr>
          <p:cNvPr id="18" name="Text 15"/>
          <p:cNvSpPr txBox="1"/>
          <p:nvPr/>
        </p:nvSpPr>
        <p:spPr>
          <a:xfrm>
            <a:off x="3840480" y="3977640"/>
            <a:ext cx="192024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~/mission10</a:t>
            </a:r>
            <a:endParaRPr lang="en-US" sz="1200" dirty="0"/>
          </a:p>
        </p:txBody>
      </p:sp>
      <p:sp>
        <p:nvSpPr>
          <p:cNvPr id="19" name="Text 16"/>
          <p:cNvSpPr txBox="1"/>
          <p:nvPr/>
        </p:nvSpPr>
        <p:spPr>
          <a:xfrm>
            <a:off x="868680" y="448056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How many files of each real type are in homes/?</a:t>
            </a:r>
            <a:endParaRPr lang="en-US" sz="1600" dirty="0"/>
          </a:p>
        </p:txBody>
      </p:sp>
      <p:sp>
        <p:nvSpPr>
          <p:cNvPr id="20" name="Text 17"/>
          <p:cNvSpPr txBox="1"/>
          <p:nvPr/>
        </p:nvSpPr>
        <p:spPr>
          <a:xfrm>
            <a:off x="868680" y="5285232"/>
            <a:ext cx="4846320" cy="365760"/>
          </a:xfrm>
          <a:prstGeom prst="rect">
            <a:avLst/>
          </a:prstGeom>
          <a:noFill/>
          <a:ln/>
        </p:spPr>
        <p:txBody>
          <a:bodyPr wrap="square" lIns="0" tIns="0" rIns="0" bIns="0" rtlCol="0" anchor="ctr">
            <a:normAutofit/>
          </a:bodyPr>
          <a:lstStyle/>
          <a:p>
            <a:pPr indent="0" marL="0">
              <a:buNone/>
            </a:pPr>
            <a:r>
              <a:rPr lang="en-US" sz="1250" b="1" dirty="0">
                <a:solidFill>
                  <a:srgbClr val="46D39A"/>
                </a:solidFill>
                <a:latin typeface="Courier New" pitchFamily="34" charset="0"/>
                <a:ea typeface="Courier New" pitchFamily="34" charset="-122"/>
                <a:cs typeface="Courier New" pitchFamily="34" charset="-120"/>
              </a:rPr>
              <a:t>$ </a:t>
            </a:r>
            <a:pPr indent="0" marL="0">
              <a:buNone/>
            </a:pPr>
            <a:r>
              <a:rPr lang="en-US" sz="1250" b="1" dirty="0">
                <a:solidFill>
                  <a:srgbClr val="F5A623"/>
                </a:solidFill>
                <a:latin typeface="Courier New" pitchFamily="34" charset="0"/>
                <a:ea typeface="Courier New" pitchFamily="34" charset="-122"/>
                <a:cs typeface="Courier New" pitchFamily="34" charset="-120"/>
              </a:rPr>
              <a:t>filetype homes/*/* | cut -d: -f2</a:t>
            </a:r>
            <a:endParaRPr lang="en-US" sz="1250" dirty="0"/>
          </a:p>
        </p:txBody>
      </p:sp>
      <p:sp>
        <p:nvSpPr>
          <p:cNvPr id="21" name="Shape 18"/>
          <p:cNvSpPr/>
          <p:nvPr/>
        </p:nvSpPr>
        <p:spPr>
          <a:xfrm>
            <a:off x="6190488" y="3749040"/>
            <a:ext cx="5449824" cy="2057400"/>
          </a:xfrm>
          <a:prstGeom prst="roundRect">
            <a:avLst>
              <a:gd name="adj" fmla="val 5333"/>
            </a:avLst>
          </a:prstGeom>
          <a:solidFill>
            <a:srgbClr val="0E1726"/>
          </a:solidFill>
          <a:ln/>
        </p:spPr>
      </p:sp>
      <p:sp>
        <p:nvSpPr>
          <p:cNvPr id="22" name="Text 19"/>
          <p:cNvSpPr txBox="1"/>
          <p:nvPr/>
        </p:nvSpPr>
        <p:spPr>
          <a:xfrm>
            <a:off x="6510528" y="3931920"/>
            <a:ext cx="32918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Cron decoder</a:t>
            </a:r>
            <a:endParaRPr lang="en-US" sz="2200" dirty="0"/>
          </a:p>
        </p:txBody>
      </p:sp>
      <p:sp>
        <p:nvSpPr>
          <p:cNvPr id="23" name="Text 20"/>
          <p:cNvSpPr txBox="1"/>
          <p:nvPr/>
        </p:nvSpPr>
        <p:spPr>
          <a:xfrm>
            <a:off x="9482328" y="3977640"/>
            <a:ext cx="192024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~/mission8</a:t>
            </a:r>
            <a:endParaRPr lang="en-US" sz="1200" dirty="0"/>
          </a:p>
        </p:txBody>
      </p:sp>
      <p:sp>
        <p:nvSpPr>
          <p:cNvPr id="24" name="Text 21"/>
          <p:cNvSpPr txBox="1"/>
          <p:nvPr/>
        </p:nvSpPr>
        <p:spPr>
          <a:xfrm>
            <a:off x="6510528" y="448056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Translate every schedule in cron/root into plain English.</a:t>
            </a:r>
            <a:endParaRPr lang="en-US" sz="1600" dirty="0"/>
          </a:p>
        </p:txBody>
      </p:sp>
      <p:sp>
        <p:nvSpPr>
          <p:cNvPr id="25" name="Text 22"/>
          <p:cNvSpPr txBox="1"/>
          <p:nvPr/>
        </p:nvSpPr>
        <p:spPr>
          <a:xfrm>
            <a:off x="6510528" y="5285232"/>
            <a:ext cx="4846320" cy="365760"/>
          </a:xfrm>
          <a:prstGeom prst="rect">
            <a:avLst/>
          </a:prstGeom>
          <a:noFill/>
          <a:ln/>
        </p:spPr>
        <p:txBody>
          <a:bodyPr wrap="square" lIns="0" tIns="0" rIns="0" bIns="0" rtlCol="0" anchor="ctr">
            <a:normAutofit/>
          </a:bodyPr>
          <a:lstStyle/>
          <a:p>
            <a:pPr indent="0" marL="0">
              <a:buNone/>
            </a:pPr>
            <a:r>
              <a:rPr lang="en-US" sz="1250" b="1" dirty="0">
                <a:solidFill>
                  <a:srgbClr val="46D39A"/>
                </a:solidFill>
                <a:latin typeface="Courier New" pitchFamily="34" charset="0"/>
                <a:ea typeface="Courier New" pitchFamily="34" charset="-122"/>
                <a:cs typeface="Courier New" pitchFamily="34" charset="-120"/>
              </a:rPr>
              <a:t>$ </a:t>
            </a:r>
            <a:pPr indent="0" marL="0">
              <a:buNone/>
            </a:pPr>
            <a:r>
              <a:rPr lang="en-US" sz="1250" b="1" dirty="0">
                <a:solidFill>
                  <a:srgbClr val="F5A623"/>
                </a:solidFill>
                <a:latin typeface="Courier New" pitchFamily="34" charset="0"/>
                <a:ea typeface="Courier New" pitchFamily="34" charset="-122"/>
                <a:cs typeface="Courier New" pitchFamily="34" charset="-120"/>
              </a:rPr>
              <a:t>cat cron/root</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Read your scorecard</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50</a:t>
            </a:r>
            <a:endParaRPr lang="en-US" sz="1000" dirty="0"/>
          </a:p>
        </p:txBody>
      </p:sp>
      <p:sp>
        <p:nvSpPr>
          <p:cNvPr id="6" name="Shape 3"/>
          <p:cNvSpPr/>
          <p:nvPr/>
        </p:nvSpPr>
        <p:spPr>
          <a:xfrm>
            <a:off x="777240" y="1417320"/>
            <a:ext cx="2834640" cy="4133088"/>
          </a:xfrm>
          <a:prstGeom prst="roundRect">
            <a:avLst>
              <a:gd name="adj" fmla="val 1935"/>
            </a:avLst>
          </a:prstGeom>
          <a:solidFill>
            <a:srgbClr val="FFFFFF"/>
          </a:solidFill>
          <a:ln w="19050">
            <a:solidFill>
              <a:srgbClr val="D6DEEA"/>
            </a:solidFill>
            <a:prstDash val="solid"/>
          </a:ln>
          <a:effectLst>
            <a:outerShdw sx="100000" sy="100000" kx="0" ky="0" algn="bl" rotWithShape="0" blurRad="127000" dist="38100" dir="5400000">
              <a:srgbClr val="12213A">
                <a:alpha val="15000"/>
              </a:srgbClr>
            </a:outerShdw>
          </a:effectLst>
        </p:spPr>
      </p:sp>
      <p:pic>
        <p:nvPicPr>
          <p:cNvPr id="7" name="Image 0" descr="/home/claude/cyberquest-ctf/slides/img-forensics/sidebar-finish.png">    </p:cNvPr>
          <p:cNvPicPr>
            <a:picLocks noChangeAspect="1"/>
          </p:cNvPicPr>
          <p:nvPr/>
        </p:nvPicPr>
        <p:blipFill>
          <a:blip r:embed="rId1"/>
          <a:stretch>
            <a:fillRect/>
          </a:stretch>
        </p:blipFill>
        <p:spPr>
          <a:xfrm>
            <a:off x="822960" y="1463040"/>
            <a:ext cx="2743200" cy="4029075"/>
          </a:xfrm>
          <a:prstGeom prst="rect">
            <a:avLst/>
          </a:prstGeom>
        </p:spPr>
      </p:pic>
      <p:sp>
        <p:nvSpPr>
          <p:cNvPr id="8" name="Shape 4"/>
          <p:cNvSpPr/>
          <p:nvPr/>
        </p:nvSpPr>
        <p:spPr>
          <a:xfrm>
            <a:off x="4206240" y="1508760"/>
            <a:ext cx="7434072" cy="960120"/>
          </a:xfrm>
          <a:prstGeom prst="roundRect">
            <a:avLst>
              <a:gd name="adj" fmla="val 9524"/>
            </a:avLst>
          </a:prstGeom>
          <a:solidFill>
            <a:srgbClr val="F1F5FB"/>
          </a:solidFill>
          <a:ln/>
        </p:spPr>
      </p:sp>
      <p:sp>
        <p:nvSpPr>
          <p:cNvPr id="9" name="Shape 5"/>
          <p:cNvSpPr/>
          <p:nvPr/>
        </p:nvSpPr>
        <p:spPr>
          <a:xfrm>
            <a:off x="4206240" y="1508760"/>
            <a:ext cx="109728" cy="960120"/>
          </a:xfrm>
          <a:prstGeom prst="rect">
            <a:avLst/>
          </a:prstGeom>
          <a:solidFill>
            <a:srgbClr val="F5A623"/>
          </a:solidFill>
          <a:ln/>
        </p:spPr>
      </p:sp>
      <p:sp>
        <p:nvSpPr>
          <p:cNvPr id="10" name="Text 6"/>
          <p:cNvSpPr txBox="1"/>
          <p:nvPr/>
        </p:nvSpPr>
        <p:spPr>
          <a:xfrm>
            <a:off x="4526280" y="1618488"/>
            <a:ext cx="2011680" cy="731520"/>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Points</a:t>
            </a:r>
            <a:endParaRPr lang="en-US" sz="2000" dirty="0"/>
          </a:p>
        </p:txBody>
      </p:sp>
      <p:sp>
        <p:nvSpPr>
          <p:cNvPr id="11" name="Text 7"/>
          <p:cNvSpPr txBox="1"/>
          <p:nvPr/>
        </p:nvSpPr>
        <p:spPr>
          <a:xfrm>
            <a:off x="6492240" y="1618488"/>
            <a:ext cx="4937760" cy="731520"/>
          </a:xfrm>
          <a:prstGeom prst="rect">
            <a:avLst/>
          </a:prstGeom>
          <a:noFill/>
          <a:ln/>
        </p:spPr>
        <p:txBody>
          <a:bodyPr wrap="square" lIns="0" tIns="0" rIns="0" bIns="0" rtlCol="0" anchor="ctr"/>
          <a:lstStyle/>
          <a:p>
            <a:pPr indent="0" marL="0">
              <a:buNone/>
            </a:pPr>
            <a:r>
              <a:rPr lang="en-US" sz="1600" dirty="0">
                <a:solidFill>
                  <a:srgbClr val="56657E"/>
                </a:solidFill>
                <a:latin typeface="Calibri" pitchFamily="34" charset="0"/>
                <a:ea typeface="Calibri" pitchFamily="34" charset="-122"/>
                <a:cs typeface="Calibri" pitchFamily="34" charset="-120"/>
              </a:rPr>
              <a:t>2,700 for all ten flags, 2,750 with the warm-up.</a:t>
            </a:r>
            <a:endParaRPr lang="en-US" sz="1600" dirty="0"/>
          </a:p>
        </p:txBody>
      </p:sp>
      <p:sp>
        <p:nvSpPr>
          <p:cNvPr id="12" name="Shape 8"/>
          <p:cNvSpPr/>
          <p:nvPr/>
        </p:nvSpPr>
        <p:spPr>
          <a:xfrm>
            <a:off x="4206240" y="2606040"/>
            <a:ext cx="7434072" cy="960120"/>
          </a:xfrm>
          <a:prstGeom prst="roundRect">
            <a:avLst>
              <a:gd name="adj" fmla="val 9524"/>
            </a:avLst>
          </a:prstGeom>
          <a:solidFill>
            <a:srgbClr val="F1F5FB"/>
          </a:solidFill>
          <a:ln/>
        </p:spPr>
      </p:sp>
      <p:sp>
        <p:nvSpPr>
          <p:cNvPr id="13" name="Shape 9"/>
          <p:cNvSpPr/>
          <p:nvPr/>
        </p:nvSpPr>
        <p:spPr>
          <a:xfrm>
            <a:off x="4206240" y="2606040"/>
            <a:ext cx="109728" cy="960120"/>
          </a:xfrm>
          <a:prstGeom prst="rect">
            <a:avLst/>
          </a:prstGeom>
          <a:solidFill>
            <a:srgbClr val="2459D8"/>
          </a:solidFill>
          <a:ln/>
        </p:spPr>
      </p:sp>
      <p:sp>
        <p:nvSpPr>
          <p:cNvPr id="14" name="Text 10"/>
          <p:cNvSpPr txBox="1"/>
          <p:nvPr/>
        </p:nvSpPr>
        <p:spPr>
          <a:xfrm>
            <a:off x="4526280" y="2715768"/>
            <a:ext cx="2011680" cy="731520"/>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Took</a:t>
            </a:r>
            <a:endParaRPr lang="en-US" sz="2000" dirty="0"/>
          </a:p>
        </p:txBody>
      </p:sp>
      <p:sp>
        <p:nvSpPr>
          <p:cNvPr id="15" name="Text 11"/>
          <p:cNvSpPr txBox="1"/>
          <p:nvPr/>
        </p:nvSpPr>
        <p:spPr>
          <a:xfrm>
            <a:off x="6492240" y="2715768"/>
            <a:ext cx="4937760" cy="731520"/>
          </a:xfrm>
          <a:prstGeom prst="rect">
            <a:avLst/>
          </a:prstGeom>
          <a:noFill/>
          <a:ln/>
        </p:spPr>
        <p:txBody>
          <a:bodyPr wrap="square" lIns="0" tIns="0" rIns="0" bIns="0" rtlCol="0" anchor="ctr"/>
          <a:lstStyle/>
          <a:p>
            <a:pPr indent="0" marL="0">
              <a:buNone/>
            </a:pPr>
            <a:r>
              <a:rPr lang="en-US" sz="1600" dirty="0">
                <a:solidFill>
                  <a:srgbClr val="56657E"/>
                </a:solidFill>
                <a:latin typeface="Calibri" pitchFamily="34" charset="0"/>
                <a:ea typeface="Calibri" pitchFamily="34" charset="-122"/>
                <a:cs typeface="Calibri" pitchFamily="34" charset="-120"/>
              </a:rPr>
              <a:t>Time since your previous flag. Your biggest Took is the skill to practise.</a:t>
            </a:r>
            <a:endParaRPr lang="en-US" sz="1600" dirty="0"/>
          </a:p>
        </p:txBody>
      </p:sp>
      <p:sp>
        <p:nvSpPr>
          <p:cNvPr id="16" name="Shape 12"/>
          <p:cNvSpPr/>
          <p:nvPr/>
        </p:nvSpPr>
        <p:spPr>
          <a:xfrm>
            <a:off x="4206240" y="3703320"/>
            <a:ext cx="7434072" cy="960120"/>
          </a:xfrm>
          <a:prstGeom prst="roundRect">
            <a:avLst>
              <a:gd name="adj" fmla="val 9524"/>
            </a:avLst>
          </a:prstGeom>
          <a:solidFill>
            <a:srgbClr val="F1F5FB"/>
          </a:solidFill>
          <a:ln/>
        </p:spPr>
      </p:sp>
      <p:sp>
        <p:nvSpPr>
          <p:cNvPr id="17" name="Shape 13"/>
          <p:cNvSpPr/>
          <p:nvPr/>
        </p:nvSpPr>
        <p:spPr>
          <a:xfrm>
            <a:off x="4206240" y="3703320"/>
            <a:ext cx="109728" cy="960120"/>
          </a:xfrm>
          <a:prstGeom prst="rect">
            <a:avLst/>
          </a:prstGeom>
          <a:solidFill>
            <a:srgbClr val="7448D4"/>
          </a:solidFill>
          <a:ln/>
        </p:spPr>
      </p:sp>
      <p:sp>
        <p:nvSpPr>
          <p:cNvPr id="18" name="Text 14"/>
          <p:cNvSpPr txBox="1"/>
          <p:nvPr/>
        </p:nvSpPr>
        <p:spPr>
          <a:xfrm>
            <a:off x="4526280" y="3813048"/>
            <a:ext cx="2011680" cy="731520"/>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Time</a:t>
            </a:r>
            <a:endParaRPr lang="en-US" sz="2000" dirty="0"/>
          </a:p>
        </p:txBody>
      </p:sp>
      <p:sp>
        <p:nvSpPr>
          <p:cNvPr id="19" name="Text 15"/>
          <p:cNvSpPr txBox="1"/>
          <p:nvPr/>
        </p:nvSpPr>
        <p:spPr>
          <a:xfrm>
            <a:off x="6492240" y="3813048"/>
            <a:ext cx="4937760" cy="731520"/>
          </a:xfrm>
          <a:prstGeom prst="rect">
            <a:avLst/>
          </a:prstGeom>
          <a:noFill/>
          <a:ln/>
        </p:spPr>
        <p:txBody>
          <a:bodyPr wrap="square" lIns="0" tIns="0" rIns="0" bIns="0" rtlCol="0" anchor="ctr"/>
          <a:lstStyle/>
          <a:p>
            <a:pPr indent="0" marL="0">
              <a:buNone/>
            </a:pPr>
            <a:r>
              <a:rPr lang="en-US" sz="1600" dirty="0">
                <a:solidFill>
                  <a:srgbClr val="56657E"/>
                </a:solidFill>
                <a:latin typeface="Calibri" pitchFamily="34" charset="0"/>
                <a:ea typeface="Calibri" pitchFamily="34" charset="-122"/>
                <a:cs typeface="Calibri" pitchFamily="34" charset="-120"/>
              </a:rPr>
              <a:t>The clock when you submitted each flag.</a:t>
            </a:r>
            <a:endParaRPr lang="en-US" sz="1600" dirty="0"/>
          </a:p>
        </p:txBody>
      </p:sp>
      <p:sp>
        <p:nvSpPr>
          <p:cNvPr id="20" name="Shape 16"/>
          <p:cNvSpPr/>
          <p:nvPr/>
        </p:nvSpPr>
        <p:spPr>
          <a:xfrm>
            <a:off x="4206240" y="4800600"/>
            <a:ext cx="7434072" cy="960120"/>
          </a:xfrm>
          <a:prstGeom prst="roundRect">
            <a:avLst>
              <a:gd name="adj" fmla="val 9524"/>
            </a:avLst>
          </a:prstGeom>
          <a:solidFill>
            <a:srgbClr val="F1F5FB"/>
          </a:solidFill>
          <a:ln/>
        </p:spPr>
      </p:sp>
      <p:sp>
        <p:nvSpPr>
          <p:cNvPr id="21" name="Shape 17"/>
          <p:cNvSpPr/>
          <p:nvPr/>
        </p:nvSpPr>
        <p:spPr>
          <a:xfrm>
            <a:off x="4206240" y="4800600"/>
            <a:ext cx="109728" cy="960120"/>
          </a:xfrm>
          <a:prstGeom prst="rect">
            <a:avLst/>
          </a:prstGeom>
          <a:solidFill>
            <a:srgbClr val="17875A"/>
          </a:solidFill>
          <a:ln/>
        </p:spPr>
      </p:sp>
      <p:sp>
        <p:nvSpPr>
          <p:cNvPr id="22" name="Text 18"/>
          <p:cNvSpPr txBox="1"/>
          <p:nvPr/>
        </p:nvSpPr>
        <p:spPr>
          <a:xfrm>
            <a:off x="4526280" y="4910328"/>
            <a:ext cx="2011680" cy="731520"/>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Replay quest</a:t>
            </a:r>
            <a:endParaRPr lang="en-US" sz="2000" dirty="0"/>
          </a:p>
        </p:txBody>
      </p:sp>
      <p:sp>
        <p:nvSpPr>
          <p:cNvPr id="23" name="Text 19"/>
          <p:cNvSpPr txBox="1"/>
          <p:nvPr/>
        </p:nvSpPr>
        <p:spPr>
          <a:xfrm>
            <a:off x="6492240" y="4910328"/>
            <a:ext cx="4937760" cy="731520"/>
          </a:xfrm>
          <a:prstGeom prst="rect">
            <a:avLst/>
          </a:prstGeom>
          <a:noFill/>
          <a:ln/>
        </p:spPr>
        <p:txBody>
          <a:bodyPr wrap="square" lIns="0" tIns="0" rIns="0" bIns="0" rtlCol="0" anchor="ctr"/>
          <a:lstStyle/>
          <a:p>
            <a:pPr indent="0" marL="0">
              <a:buNone/>
            </a:pPr>
            <a:r>
              <a:rPr lang="en-US" sz="1600" dirty="0">
                <a:solidFill>
                  <a:srgbClr val="56657E"/>
                </a:solidFill>
                <a:latin typeface="Calibri" pitchFamily="34" charset="0"/>
                <a:ea typeface="Calibri" pitchFamily="34" charset="-122"/>
                <a:cs typeface="Calibri" pitchFamily="34" charset="-120"/>
              </a:rPr>
              <a:t>New evidence, new flags, a fresh clock. Beat your time.</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Forensics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51</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indent="0" marL="0">
              <a:buNone/>
            </a:pPr>
            <a:r>
              <a:rPr lang="en-US" sz="25000" b="1" dirty="0">
                <a:solidFill>
                  <a:srgbClr val="D1416B"/>
                </a:solidFill>
                <a:latin typeface="Arial" pitchFamily="34" charset="0"/>
                <a:ea typeface="Arial" pitchFamily="34" charset="-122"/>
                <a:cs typeface="Arial" pitchFamily="34" charset="-120"/>
              </a:rPr>
              <a:t>4</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indent="0" marL="0">
              <a:buNone/>
            </a:pPr>
            <a:r>
              <a:rPr lang="en-US" sz="1600" dirty="0">
                <a:solidFill>
                  <a:srgbClr val="7F8FAD"/>
                </a:solidFill>
                <a:latin typeface="Courier New" pitchFamily="34" charset="0"/>
                <a:ea typeface="Courier New" pitchFamily="34" charset="-122"/>
                <a:cs typeface="Courier New" pitchFamily="34" charset="-120"/>
              </a:rPr>
              <a:t>Part 4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Debrief</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The tools professionals use, what you just did, who gets paid to do it, and how to keep going.</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sp>
      <p:sp>
        <p:nvSpPr>
          <p:cNvPr id="10" name="Text 7"/>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echo "case closed by $(whoami)"</a:t>
            </a:r>
            <a:endParaRPr 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Today's tools, and the pro versions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52</a:t>
            </a:r>
            <a:endParaRPr lang="en-US" sz="1000" dirty="0"/>
          </a:p>
        </p:txBody>
      </p:sp>
      <p:sp>
        <p:nvSpPr>
          <p:cNvPr id="6" name="Shape 3"/>
          <p:cNvSpPr/>
          <p:nvPr/>
        </p:nvSpPr>
        <p:spPr>
          <a:xfrm>
            <a:off x="548640" y="1463040"/>
            <a:ext cx="5449824" cy="987552"/>
          </a:xfrm>
          <a:prstGeom prst="roundRect">
            <a:avLst>
              <a:gd name="adj" fmla="val 9259"/>
            </a:avLst>
          </a:prstGeom>
          <a:solidFill>
            <a:srgbClr val="F1F5FB"/>
          </a:solidFill>
          <a:ln/>
        </p:spPr>
      </p:sp>
      <p:sp>
        <p:nvSpPr>
          <p:cNvPr id="7" name="Text 4"/>
          <p:cNvSpPr txBox="1"/>
          <p:nvPr/>
        </p:nvSpPr>
        <p:spPr>
          <a:xfrm>
            <a:off x="777240" y="1554480"/>
            <a:ext cx="2103120" cy="457200"/>
          </a:xfrm>
          <a:prstGeom prst="rect">
            <a:avLst/>
          </a:prstGeom>
          <a:noFill/>
          <a:ln/>
        </p:spPr>
        <p:txBody>
          <a:bodyPr wrap="square" lIns="0" tIns="0" rIns="0" bIns="0" rtlCol="0" anchor="t"/>
          <a:lstStyle/>
          <a:p>
            <a:pPr indent="0" marL="0">
              <a:buNone/>
            </a:pPr>
            <a:r>
              <a:rPr lang="en-US" sz="1600" b="1" dirty="0">
                <a:solidFill>
                  <a:srgbClr val="2A9FD6"/>
                </a:solidFill>
                <a:latin typeface="Courier New" pitchFamily="34" charset="0"/>
                <a:ea typeface="Courier New" pitchFamily="34" charset="-122"/>
                <a:cs typeface="Courier New" pitchFamily="34" charset="-120"/>
              </a:rPr>
              <a:t>ls -l</a:t>
            </a:r>
            <a:endParaRPr lang="en-US" sz="1600" dirty="0"/>
          </a:p>
        </p:txBody>
      </p:sp>
      <p:sp>
        <p:nvSpPr>
          <p:cNvPr id="8" name="Text 5"/>
          <p:cNvSpPr txBox="1"/>
          <p:nvPr/>
        </p:nvSpPr>
        <p:spPr>
          <a:xfrm>
            <a:off x="777240" y="2011680"/>
            <a:ext cx="210312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9" name="Text 6"/>
          <p:cNvSpPr txBox="1"/>
          <p:nvPr/>
        </p:nvSpPr>
        <p:spPr>
          <a:xfrm>
            <a:off x="2788920" y="1463040"/>
            <a:ext cx="365760" cy="987552"/>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10" name="Text 7"/>
          <p:cNvSpPr txBox="1"/>
          <p:nvPr/>
        </p:nvSpPr>
        <p:spPr>
          <a:xfrm>
            <a:off x="3200400" y="1463040"/>
            <a:ext cx="2697480" cy="987552"/>
          </a:xfrm>
          <a:prstGeom prst="rect">
            <a:avLst/>
          </a:prstGeom>
          <a:noFill/>
          <a:ln/>
        </p:spPr>
        <p:txBody>
          <a:bodyPr wrap="square" lIns="0" tIns="0" rIns="0" bIns="0" rtlCol="0" anchor="ctr"/>
          <a:lstStyle/>
          <a:p>
            <a:pPr indent="0" marL="0">
              <a:buNone/>
            </a:pPr>
            <a:r>
              <a:rPr lang="en-US" sz="1450" b="1" dirty="0">
                <a:solidFill>
                  <a:srgbClr val="12213A"/>
                </a:solidFill>
                <a:latin typeface="Calibri" pitchFamily="34" charset="0"/>
                <a:ea typeface="Calibri" pitchFamily="34" charset="-122"/>
                <a:cs typeface="Calibri" pitchFamily="34" charset="-120"/>
              </a:rPr>
              <a:t>Autopsy timelines</a:t>
            </a:r>
            <a:endParaRPr lang="en-US" sz="1450" dirty="0"/>
          </a:p>
        </p:txBody>
      </p:sp>
      <p:sp>
        <p:nvSpPr>
          <p:cNvPr id="11" name="Shape 8"/>
          <p:cNvSpPr/>
          <p:nvPr/>
        </p:nvSpPr>
        <p:spPr>
          <a:xfrm>
            <a:off x="6190488" y="1463040"/>
            <a:ext cx="5449824" cy="987552"/>
          </a:xfrm>
          <a:prstGeom prst="roundRect">
            <a:avLst>
              <a:gd name="adj" fmla="val 9259"/>
            </a:avLst>
          </a:prstGeom>
          <a:solidFill>
            <a:srgbClr val="F1F5FB"/>
          </a:solidFill>
          <a:ln/>
        </p:spPr>
      </p:sp>
      <p:sp>
        <p:nvSpPr>
          <p:cNvPr id="12" name="Text 9"/>
          <p:cNvSpPr txBox="1"/>
          <p:nvPr/>
        </p:nvSpPr>
        <p:spPr>
          <a:xfrm>
            <a:off x="6419088" y="1554480"/>
            <a:ext cx="2103120" cy="457200"/>
          </a:xfrm>
          <a:prstGeom prst="rect">
            <a:avLst/>
          </a:prstGeom>
          <a:noFill/>
          <a:ln/>
        </p:spPr>
        <p:txBody>
          <a:bodyPr wrap="square" lIns="0" tIns="0" rIns="0" bIns="0" rtlCol="0" anchor="t"/>
          <a:lstStyle/>
          <a:p>
            <a:pPr indent="0" marL="0">
              <a:buNone/>
            </a:pPr>
            <a:r>
              <a:rPr lang="en-US" sz="1600" b="1" dirty="0">
                <a:solidFill>
                  <a:srgbClr val="2459D8"/>
                </a:solidFill>
                <a:latin typeface="Courier New" pitchFamily="34" charset="0"/>
                <a:ea typeface="Courier New" pitchFamily="34" charset="-122"/>
                <a:cs typeface="Courier New" pitchFamily="34" charset="-120"/>
              </a:rPr>
              <a:t>strings</a:t>
            </a:r>
            <a:endParaRPr lang="en-US" sz="1600" dirty="0"/>
          </a:p>
        </p:txBody>
      </p:sp>
      <p:sp>
        <p:nvSpPr>
          <p:cNvPr id="13" name="Text 10"/>
          <p:cNvSpPr txBox="1"/>
          <p:nvPr/>
        </p:nvSpPr>
        <p:spPr>
          <a:xfrm>
            <a:off x="6419088" y="2011680"/>
            <a:ext cx="210312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4" name="Text 11"/>
          <p:cNvSpPr txBox="1"/>
          <p:nvPr/>
        </p:nvSpPr>
        <p:spPr>
          <a:xfrm>
            <a:off x="8430768" y="1463040"/>
            <a:ext cx="365760" cy="987552"/>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15" name="Text 12"/>
          <p:cNvSpPr txBox="1"/>
          <p:nvPr/>
        </p:nvSpPr>
        <p:spPr>
          <a:xfrm>
            <a:off x="8842248" y="1463040"/>
            <a:ext cx="2697480" cy="987552"/>
          </a:xfrm>
          <a:prstGeom prst="rect">
            <a:avLst/>
          </a:prstGeom>
          <a:noFill/>
          <a:ln/>
        </p:spPr>
        <p:txBody>
          <a:bodyPr wrap="square" lIns="0" tIns="0" rIns="0" bIns="0" rtlCol="0" anchor="ctr"/>
          <a:lstStyle/>
          <a:p>
            <a:pPr indent="0" marL="0">
              <a:buNone/>
            </a:pPr>
            <a:r>
              <a:rPr lang="en-US" sz="1450" b="1" dirty="0">
                <a:solidFill>
                  <a:srgbClr val="12213A"/>
                </a:solidFill>
                <a:latin typeface="Calibri" pitchFamily="34" charset="0"/>
                <a:ea typeface="Calibri" pitchFamily="34" charset="-122"/>
                <a:cs typeface="Calibri" pitchFamily="34" charset="-120"/>
              </a:rPr>
              <a:t>exiftool (metadata)</a:t>
            </a:r>
            <a:endParaRPr lang="en-US" sz="1450" dirty="0"/>
          </a:p>
        </p:txBody>
      </p:sp>
      <p:sp>
        <p:nvSpPr>
          <p:cNvPr id="16" name="Shape 13"/>
          <p:cNvSpPr/>
          <p:nvPr/>
        </p:nvSpPr>
        <p:spPr>
          <a:xfrm>
            <a:off x="548640" y="2578608"/>
            <a:ext cx="5449824" cy="987552"/>
          </a:xfrm>
          <a:prstGeom prst="roundRect">
            <a:avLst>
              <a:gd name="adj" fmla="val 9259"/>
            </a:avLst>
          </a:prstGeom>
          <a:solidFill>
            <a:srgbClr val="F1F5FB"/>
          </a:solidFill>
          <a:ln/>
        </p:spPr>
      </p:sp>
      <p:sp>
        <p:nvSpPr>
          <p:cNvPr id="17" name="Text 14"/>
          <p:cNvSpPr txBox="1"/>
          <p:nvPr/>
        </p:nvSpPr>
        <p:spPr>
          <a:xfrm>
            <a:off x="777240" y="2670048"/>
            <a:ext cx="2103120" cy="457200"/>
          </a:xfrm>
          <a:prstGeom prst="rect">
            <a:avLst/>
          </a:prstGeom>
          <a:noFill/>
          <a:ln/>
        </p:spPr>
        <p:txBody>
          <a:bodyPr wrap="square" lIns="0" tIns="0" rIns="0" bIns="0" rtlCol="0" anchor="t"/>
          <a:lstStyle/>
          <a:p>
            <a:pPr indent="0" marL="0">
              <a:buNone/>
            </a:pPr>
            <a:r>
              <a:rPr lang="en-US" sz="1600" b="1" dirty="0">
                <a:solidFill>
                  <a:srgbClr val="7448D4"/>
                </a:solidFill>
                <a:latin typeface="Courier New" pitchFamily="34" charset="0"/>
                <a:ea typeface="Courier New" pitchFamily="34" charset="-122"/>
                <a:cs typeface="Courier New" pitchFamily="34" charset="-120"/>
              </a:rPr>
              <a:t>filetype</a:t>
            </a:r>
            <a:endParaRPr lang="en-US" sz="1600" dirty="0"/>
          </a:p>
        </p:txBody>
      </p:sp>
      <p:sp>
        <p:nvSpPr>
          <p:cNvPr id="18" name="Text 15"/>
          <p:cNvSpPr txBox="1"/>
          <p:nvPr/>
        </p:nvSpPr>
        <p:spPr>
          <a:xfrm>
            <a:off x="777240" y="3127248"/>
            <a:ext cx="210312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19" name="Text 16"/>
          <p:cNvSpPr txBox="1"/>
          <p:nvPr/>
        </p:nvSpPr>
        <p:spPr>
          <a:xfrm>
            <a:off x="2788920" y="2578608"/>
            <a:ext cx="365760" cy="987552"/>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20" name="Text 17"/>
          <p:cNvSpPr txBox="1"/>
          <p:nvPr/>
        </p:nvSpPr>
        <p:spPr>
          <a:xfrm>
            <a:off x="3200400" y="2578608"/>
            <a:ext cx="2697480" cy="987552"/>
          </a:xfrm>
          <a:prstGeom prst="rect">
            <a:avLst/>
          </a:prstGeom>
          <a:noFill/>
          <a:ln/>
        </p:spPr>
        <p:txBody>
          <a:bodyPr wrap="square" lIns="0" tIns="0" rIns="0" bIns="0" rtlCol="0" anchor="ctr"/>
          <a:lstStyle/>
          <a:p>
            <a:pPr indent="0" marL="0">
              <a:buNone/>
            </a:pPr>
            <a:r>
              <a:rPr lang="en-US" sz="1450" b="1" dirty="0">
                <a:solidFill>
                  <a:srgbClr val="12213A"/>
                </a:solidFill>
                <a:latin typeface="Calibri" pitchFamily="34" charset="0"/>
                <a:ea typeface="Calibri" pitchFamily="34" charset="-122"/>
                <a:cs typeface="Calibri" pitchFamily="34" charset="-120"/>
              </a:rPr>
              <a:t>file, binwalk</a:t>
            </a:r>
            <a:endParaRPr lang="en-US" sz="1450" dirty="0"/>
          </a:p>
        </p:txBody>
      </p:sp>
      <p:sp>
        <p:nvSpPr>
          <p:cNvPr id="21" name="Shape 18"/>
          <p:cNvSpPr/>
          <p:nvPr/>
        </p:nvSpPr>
        <p:spPr>
          <a:xfrm>
            <a:off x="6190488" y="2578608"/>
            <a:ext cx="5449824" cy="987552"/>
          </a:xfrm>
          <a:prstGeom prst="roundRect">
            <a:avLst>
              <a:gd name="adj" fmla="val 9259"/>
            </a:avLst>
          </a:prstGeom>
          <a:solidFill>
            <a:srgbClr val="F1F5FB"/>
          </a:solidFill>
          <a:ln/>
        </p:spPr>
      </p:sp>
      <p:sp>
        <p:nvSpPr>
          <p:cNvPr id="22" name="Text 19"/>
          <p:cNvSpPr txBox="1"/>
          <p:nvPr/>
        </p:nvSpPr>
        <p:spPr>
          <a:xfrm>
            <a:off x="6419088" y="2670048"/>
            <a:ext cx="2103120" cy="457200"/>
          </a:xfrm>
          <a:prstGeom prst="rect">
            <a:avLst/>
          </a:prstGeom>
          <a:noFill/>
          <a:ln/>
        </p:spPr>
        <p:txBody>
          <a:bodyPr wrap="square" lIns="0" tIns="0" rIns="0" bIns="0" rtlCol="0" anchor="t"/>
          <a:lstStyle/>
          <a:p>
            <a:pPr indent="0" marL="0">
              <a:buNone/>
            </a:pPr>
            <a:r>
              <a:rPr lang="en-US" sz="1600" b="1" dirty="0">
                <a:solidFill>
                  <a:srgbClr val="D1416B"/>
                </a:solidFill>
                <a:latin typeface="Courier New" pitchFamily="34" charset="0"/>
                <a:ea typeface="Courier New" pitchFamily="34" charset="-122"/>
                <a:cs typeface="Courier New" pitchFamily="34" charset="-120"/>
              </a:rPr>
              <a:t>tar  zcat</a:t>
            </a:r>
            <a:endParaRPr lang="en-US" sz="1600" dirty="0"/>
          </a:p>
        </p:txBody>
      </p:sp>
      <p:sp>
        <p:nvSpPr>
          <p:cNvPr id="23" name="Text 20"/>
          <p:cNvSpPr txBox="1"/>
          <p:nvPr/>
        </p:nvSpPr>
        <p:spPr>
          <a:xfrm>
            <a:off x="6419088" y="3127248"/>
            <a:ext cx="210312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24" name="Text 21"/>
          <p:cNvSpPr txBox="1"/>
          <p:nvPr/>
        </p:nvSpPr>
        <p:spPr>
          <a:xfrm>
            <a:off x="8430768" y="2578608"/>
            <a:ext cx="365760" cy="987552"/>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25" name="Text 22"/>
          <p:cNvSpPr txBox="1"/>
          <p:nvPr/>
        </p:nvSpPr>
        <p:spPr>
          <a:xfrm>
            <a:off x="8842248" y="2578608"/>
            <a:ext cx="2697480" cy="987552"/>
          </a:xfrm>
          <a:prstGeom prst="rect">
            <a:avLst/>
          </a:prstGeom>
          <a:noFill/>
          <a:ln/>
        </p:spPr>
        <p:txBody>
          <a:bodyPr wrap="square" lIns="0" tIns="0" rIns="0" bIns="0" rtlCol="0" anchor="ctr"/>
          <a:lstStyle/>
          <a:p>
            <a:pPr indent="0" marL="0">
              <a:buNone/>
            </a:pPr>
            <a:r>
              <a:rPr lang="en-US" sz="1450" b="1" dirty="0">
                <a:solidFill>
                  <a:srgbClr val="12213A"/>
                </a:solidFill>
                <a:latin typeface="Calibri" pitchFamily="34" charset="0"/>
                <a:ea typeface="Calibri" pitchFamily="34" charset="-122"/>
                <a:cs typeface="Calibri" pitchFamily="34" charset="-120"/>
              </a:rPr>
              <a:t>7-Zip, binwalk -e</a:t>
            </a:r>
            <a:endParaRPr lang="en-US" sz="1450" dirty="0"/>
          </a:p>
        </p:txBody>
      </p:sp>
      <p:sp>
        <p:nvSpPr>
          <p:cNvPr id="26" name="Shape 23"/>
          <p:cNvSpPr/>
          <p:nvPr/>
        </p:nvSpPr>
        <p:spPr>
          <a:xfrm>
            <a:off x="548640" y="3694176"/>
            <a:ext cx="5449824" cy="987552"/>
          </a:xfrm>
          <a:prstGeom prst="roundRect">
            <a:avLst>
              <a:gd name="adj" fmla="val 9259"/>
            </a:avLst>
          </a:prstGeom>
          <a:solidFill>
            <a:srgbClr val="F1F5FB"/>
          </a:solidFill>
          <a:ln/>
        </p:spPr>
      </p:sp>
      <p:sp>
        <p:nvSpPr>
          <p:cNvPr id="27" name="Text 24"/>
          <p:cNvSpPr txBox="1"/>
          <p:nvPr/>
        </p:nvSpPr>
        <p:spPr>
          <a:xfrm>
            <a:off x="777240" y="3785616"/>
            <a:ext cx="2103120" cy="457200"/>
          </a:xfrm>
          <a:prstGeom prst="rect">
            <a:avLst/>
          </a:prstGeom>
          <a:noFill/>
          <a:ln/>
        </p:spPr>
        <p:txBody>
          <a:bodyPr wrap="square" lIns="0" tIns="0" rIns="0" bIns="0" rtlCol="0" anchor="t"/>
          <a:lstStyle/>
          <a:p>
            <a:pPr indent="0" marL="0">
              <a:buNone/>
            </a:pPr>
            <a:r>
              <a:rPr lang="en-US" sz="1600" b="1" dirty="0">
                <a:solidFill>
                  <a:srgbClr val="E8820C"/>
                </a:solidFill>
                <a:latin typeface="Courier New" pitchFamily="34" charset="0"/>
                <a:ea typeface="Courier New" pitchFamily="34" charset="-122"/>
                <a:cs typeface="Courier New" pitchFamily="34" charset="-120"/>
              </a:rPr>
              <a:t>grep | uniq -c</a:t>
            </a:r>
            <a:endParaRPr lang="en-US" sz="1600" dirty="0"/>
          </a:p>
        </p:txBody>
      </p:sp>
      <p:sp>
        <p:nvSpPr>
          <p:cNvPr id="28" name="Text 25"/>
          <p:cNvSpPr txBox="1"/>
          <p:nvPr/>
        </p:nvSpPr>
        <p:spPr>
          <a:xfrm>
            <a:off x="777240" y="4242816"/>
            <a:ext cx="210312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Missions 5, 9</a:t>
            </a:r>
            <a:endParaRPr lang="en-US" sz="1200" dirty="0"/>
          </a:p>
        </p:txBody>
      </p:sp>
      <p:sp>
        <p:nvSpPr>
          <p:cNvPr id="29" name="Text 26"/>
          <p:cNvSpPr txBox="1"/>
          <p:nvPr/>
        </p:nvSpPr>
        <p:spPr>
          <a:xfrm>
            <a:off x="2788920" y="3694176"/>
            <a:ext cx="365760" cy="987552"/>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30" name="Text 27"/>
          <p:cNvSpPr txBox="1"/>
          <p:nvPr/>
        </p:nvSpPr>
        <p:spPr>
          <a:xfrm>
            <a:off x="3200400" y="3694176"/>
            <a:ext cx="2697480" cy="987552"/>
          </a:xfrm>
          <a:prstGeom prst="rect">
            <a:avLst/>
          </a:prstGeom>
          <a:noFill/>
          <a:ln/>
        </p:spPr>
        <p:txBody>
          <a:bodyPr wrap="square" lIns="0" tIns="0" rIns="0" bIns="0" rtlCol="0" anchor="ctr"/>
          <a:lstStyle/>
          <a:p>
            <a:pPr indent="0" marL="0">
              <a:buNone/>
            </a:pPr>
            <a:r>
              <a:rPr lang="en-US" sz="1450" b="1" dirty="0">
                <a:solidFill>
                  <a:srgbClr val="12213A"/>
                </a:solidFill>
                <a:latin typeface="Calibri" pitchFamily="34" charset="0"/>
                <a:ea typeface="Calibri" pitchFamily="34" charset="-122"/>
                <a:cs typeface="Calibri" pitchFamily="34" charset="-120"/>
              </a:rPr>
              <a:t>Wireshark, Splunk</a:t>
            </a:r>
            <a:endParaRPr lang="en-US" sz="1450" dirty="0"/>
          </a:p>
        </p:txBody>
      </p:sp>
      <p:sp>
        <p:nvSpPr>
          <p:cNvPr id="31" name="Shape 28"/>
          <p:cNvSpPr/>
          <p:nvPr/>
        </p:nvSpPr>
        <p:spPr>
          <a:xfrm>
            <a:off x="6190488" y="3694176"/>
            <a:ext cx="5449824" cy="987552"/>
          </a:xfrm>
          <a:prstGeom prst="roundRect">
            <a:avLst>
              <a:gd name="adj" fmla="val 9259"/>
            </a:avLst>
          </a:prstGeom>
          <a:solidFill>
            <a:srgbClr val="F1F5FB"/>
          </a:solidFill>
          <a:ln/>
        </p:spPr>
      </p:sp>
      <p:sp>
        <p:nvSpPr>
          <p:cNvPr id="32" name="Text 29"/>
          <p:cNvSpPr txBox="1"/>
          <p:nvPr/>
        </p:nvSpPr>
        <p:spPr>
          <a:xfrm>
            <a:off x="6419088" y="3785616"/>
            <a:ext cx="2103120" cy="457200"/>
          </a:xfrm>
          <a:prstGeom prst="rect">
            <a:avLst/>
          </a:prstGeom>
          <a:noFill/>
          <a:ln/>
        </p:spPr>
        <p:txBody>
          <a:bodyPr wrap="square" lIns="0" tIns="0" rIns="0" bIns="0" rtlCol="0" anchor="t"/>
          <a:lstStyle/>
          <a:p>
            <a:pPr indent="0" marL="0">
              <a:buNone/>
            </a:pPr>
            <a:r>
              <a:rPr lang="en-US" sz="1600" b="1" dirty="0">
                <a:solidFill>
                  <a:srgbClr val="C9A227"/>
                </a:solidFill>
                <a:latin typeface="Courier New" pitchFamily="34" charset="0"/>
                <a:ea typeface="Courier New" pitchFamily="34" charset="-122"/>
                <a:cs typeface="Courier New" pitchFamily="34" charset="-120"/>
              </a:rPr>
              <a:t>strings | tail</a:t>
            </a:r>
            <a:endParaRPr lang="en-US" sz="1600" dirty="0"/>
          </a:p>
        </p:txBody>
      </p:sp>
      <p:sp>
        <p:nvSpPr>
          <p:cNvPr id="33" name="Text 30"/>
          <p:cNvSpPr txBox="1"/>
          <p:nvPr/>
        </p:nvSpPr>
        <p:spPr>
          <a:xfrm>
            <a:off x="6419088" y="4242816"/>
            <a:ext cx="210312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4" name="Text 31"/>
          <p:cNvSpPr txBox="1"/>
          <p:nvPr/>
        </p:nvSpPr>
        <p:spPr>
          <a:xfrm>
            <a:off x="8430768" y="3694176"/>
            <a:ext cx="365760" cy="987552"/>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35" name="Text 32"/>
          <p:cNvSpPr txBox="1"/>
          <p:nvPr/>
        </p:nvSpPr>
        <p:spPr>
          <a:xfrm>
            <a:off x="8842248" y="3694176"/>
            <a:ext cx="2697480" cy="987552"/>
          </a:xfrm>
          <a:prstGeom prst="rect">
            <a:avLst/>
          </a:prstGeom>
          <a:noFill/>
          <a:ln/>
        </p:spPr>
        <p:txBody>
          <a:bodyPr wrap="square" lIns="0" tIns="0" rIns="0" bIns="0" rtlCol="0" anchor="ctr"/>
          <a:lstStyle/>
          <a:p>
            <a:pPr indent="0" marL="0">
              <a:buNone/>
            </a:pPr>
            <a:r>
              <a:rPr lang="en-US" sz="1450" b="1" dirty="0">
                <a:solidFill>
                  <a:srgbClr val="12213A"/>
                </a:solidFill>
                <a:latin typeface="Calibri" pitchFamily="34" charset="0"/>
                <a:ea typeface="Calibri" pitchFamily="34" charset="-122"/>
                <a:cs typeface="Calibri" pitchFamily="34" charset="-120"/>
              </a:rPr>
              <a:t>binwalk, steghide</a:t>
            </a:r>
            <a:endParaRPr lang="en-US" sz="1450" dirty="0"/>
          </a:p>
        </p:txBody>
      </p:sp>
      <p:sp>
        <p:nvSpPr>
          <p:cNvPr id="36" name="Shape 33"/>
          <p:cNvSpPr/>
          <p:nvPr/>
        </p:nvSpPr>
        <p:spPr>
          <a:xfrm>
            <a:off x="548640" y="4809744"/>
            <a:ext cx="5449824" cy="987552"/>
          </a:xfrm>
          <a:prstGeom prst="roundRect">
            <a:avLst>
              <a:gd name="adj" fmla="val 9259"/>
            </a:avLst>
          </a:prstGeom>
          <a:solidFill>
            <a:srgbClr val="F1F5FB"/>
          </a:solidFill>
          <a:ln/>
        </p:spPr>
      </p:sp>
      <p:sp>
        <p:nvSpPr>
          <p:cNvPr id="37" name="Text 34"/>
          <p:cNvSpPr txBox="1"/>
          <p:nvPr/>
        </p:nvSpPr>
        <p:spPr>
          <a:xfrm>
            <a:off x="777240" y="4901184"/>
            <a:ext cx="2103120" cy="457200"/>
          </a:xfrm>
          <a:prstGeom prst="rect">
            <a:avLst/>
          </a:prstGeom>
          <a:noFill/>
          <a:ln/>
        </p:spPr>
        <p:txBody>
          <a:bodyPr wrap="square" lIns="0" tIns="0" rIns="0" bIns="0" rtlCol="0" anchor="t"/>
          <a:lstStyle/>
          <a:p>
            <a:pPr indent="0" marL="0">
              <a:buNone/>
            </a:pPr>
            <a:r>
              <a:rPr lang="en-US" sz="1600" b="1" dirty="0">
                <a:solidFill>
                  <a:srgbClr val="0F9488"/>
                </a:solidFill>
                <a:latin typeface="Courier New" pitchFamily="34" charset="0"/>
                <a:ea typeface="Courier New" pitchFamily="34" charset="-122"/>
                <a:cs typeface="Courier New" pitchFamily="34" charset="-120"/>
              </a:rPr>
              <a:t>sha256sum -c</a:t>
            </a:r>
            <a:endParaRPr lang="en-US" sz="1600" dirty="0"/>
          </a:p>
        </p:txBody>
      </p:sp>
      <p:sp>
        <p:nvSpPr>
          <p:cNvPr id="38" name="Text 35"/>
          <p:cNvSpPr txBox="1"/>
          <p:nvPr/>
        </p:nvSpPr>
        <p:spPr>
          <a:xfrm>
            <a:off x="777240" y="5358384"/>
            <a:ext cx="210312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39" name="Text 36"/>
          <p:cNvSpPr txBox="1"/>
          <p:nvPr/>
        </p:nvSpPr>
        <p:spPr>
          <a:xfrm>
            <a:off x="2788920" y="4809744"/>
            <a:ext cx="365760" cy="987552"/>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40" name="Text 37"/>
          <p:cNvSpPr txBox="1"/>
          <p:nvPr/>
        </p:nvSpPr>
        <p:spPr>
          <a:xfrm>
            <a:off x="3200400" y="4809744"/>
            <a:ext cx="2697480" cy="987552"/>
          </a:xfrm>
          <a:prstGeom prst="rect">
            <a:avLst/>
          </a:prstGeom>
          <a:noFill/>
          <a:ln/>
        </p:spPr>
        <p:txBody>
          <a:bodyPr wrap="square" lIns="0" tIns="0" rIns="0" bIns="0" rtlCol="0" anchor="ctr"/>
          <a:lstStyle/>
          <a:p>
            <a:pPr indent="0" marL="0">
              <a:buNone/>
            </a:pPr>
            <a:r>
              <a:rPr lang="en-US" sz="1450" b="1" dirty="0">
                <a:solidFill>
                  <a:srgbClr val="12213A"/>
                </a:solidFill>
                <a:latin typeface="Calibri" pitchFamily="34" charset="0"/>
                <a:ea typeface="Calibri" pitchFamily="34" charset="-122"/>
                <a:cs typeface="Calibri" pitchFamily="34" charset="-120"/>
              </a:rPr>
              <a:t>Tripwire, AIDE</a:t>
            </a:r>
            <a:endParaRPr lang="en-US" sz="1450" dirty="0"/>
          </a:p>
        </p:txBody>
      </p:sp>
      <p:sp>
        <p:nvSpPr>
          <p:cNvPr id="41" name="Shape 38"/>
          <p:cNvSpPr/>
          <p:nvPr/>
        </p:nvSpPr>
        <p:spPr>
          <a:xfrm>
            <a:off x="6190488" y="4809744"/>
            <a:ext cx="5449824" cy="987552"/>
          </a:xfrm>
          <a:prstGeom prst="roundRect">
            <a:avLst>
              <a:gd name="adj" fmla="val 9259"/>
            </a:avLst>
          </a:prstGeom>
          <a:solidFill>
            <a:srgbClr val="F1F5FB"/>
          </a:solidFill>
          <a:ln/>
        </p:spPr>
      </p:sp>
      <p:sp>
        <p:nvSpPr>
          <p:cNvPr id="42" name="Text 39"/>
          <p:cNvSpPr txBox="1"/>
          <p:nvPr/>
        </p:nvSpPr>
        <p:spPr>
          <a:xfrm>
            <a:off x="6419088" y="4901184"/>
            <a:ext cx="2103120" cy="457200"/>
          </a:xfrm>
          <a:prstGeom prst="rect">
            <a:avLst/>
          </a:prstGeom>
          <a:noFill/>
          <a:ln/>
        </p:spPr>
        <p:txBody>
          <a:bodyPr wrap="square" lIns="0" tIns="0" rIns="0" bIns="0" rtlCol="0" anchor="t"/>
          <a:lstStyle/>
          <a:p>
            <a:pPr indent="0" marL="0">
              <a:buNone/>
            </a:pPr>
            <a:r>
              <a:rPr lang="en-US" sz="1600" b="1" dirty="0">
                <a:solidFill>
                  <a:srgbClr val="5B6EE1"/>
                </a:solidFill>
                <a:latin typeface="Courier New" pitchFamily="34" charset="0"/>
                <a:ea typeface="Courier New" pitchFamily="34" charset="-122"/>
                <a:cs typeface="Courier New" pitchFamily="34" charset="-120"/>
              </a:rPr>
              <a:t>cat cron/*</a:t>
            </a:r>
            <a:endParaRPr lang="en-US" sz="1600" dirty="0"/>
          </a:p>
        </p:txBody>
      </p:sp>
      <p:sp>
        <p:nvSpPr>
          <p:cNvPr id="43" name="Text 40"/>
          <p:cNvSpPr txBox="1"/>
          <p:nvPr/>
        </p:nvSpPr>
        <p:spPr>
          <a:xfrm>
            <a:off x="6419088" y="5358384"/>
            <a:ext cx="210312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44" name="Text 41"/>
          <p:cNvSpPr txBox="1"/>
          <p:nvPr/>
        </p:nvSpPr>
        <p:spPr>
          <a:xfrm>
            <a:off x="8430768" y="4809744"/>
            <a:ext cx="365760" cy="987552"/>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45" name="Text 42"/>
          <p:cNvSpPr txBox="1"/>
          <p:nvPr/>
        </p:nvSpPr>
        <p:spPr>
          <a:xfrm>
            <a:off x="8842248" y="4809744"/>
            <a:ext cx="2697480" cy="987552"/>
          </a:xfrm>
          <a:prstGeom prst="rect">
            <a:avLst/>
          </a:prstGeom>
          <a:noFill/>
          <a:ln/>
        </p:spPr>
        <p:txBody>
          <a:bodyPr wrap="square" lIns="0" tIns="0" rIns="0" bIns="0" rtlCol="0" anchor="ctr"/>
          <a:lstStyle/>
          <a:p>
            <a:pPr indent="0" marL="0">
              <a:buNone/>
            </a:pPr>
            <a:r>
              <a:rPr lang="en-US" sz="1450" b="1" dirty="0">
                <a:solidFill>
                  <a:srgbClr val="12213A"/>
                </a:solidFill>
                <a:latin typeface="Calibri" pitchFamily="34" charset="0"/>
                <a:ea typeface="Calibri" pitchFamily="34" charset="-122"/>
                <a:cs typeface="Calibri" pitchFamily="34" charset="-120"/>
              </a:rPr>
              <a:t>osquery, Autoruns (Windows)</a:t>
            </a:r>
            <a:endParaRPr lang="en-US" sz="14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53</a:t>
            </a:r>
            <a:endParaRPr lang="en-US" sz="1000" dirty="0"/>
          </a:p>
        </p:txBody>
      </p:sp>
      <p:sp>
        <p:nvSpPr>
          <p:cNvPr id="6" name="Shape 3"/>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sp>
      <p:sp>
        <p:nvSpPr>
          <p:cNvPr id="7" name="Text 4"/>
          <p:cNvSpPr txBox="1"/>
          <p:nvPr/>
        </p:nvSpPr>
        <p:spPr>
          <a:xfrm>
            <a:off x="594360" y="1691640"/>
            <a:ext cx="1627632" cy="548640"/>
          </a:xfrm>
          <a:prstGeom prst="rect">
            <a:avLst/>
          </a:prstGeom>
          <a:noFill/>
          <a:ln/>
        </p:spPr>
        <p:txBody>
          <a:bodyPr wrap="square" lIns="0" tIns="0" rIns="0" bIns="0" rtlCol="0" anchor="ctr"/>
          <a:lstStyle/>
          <a:p>
            <a:pPr algn="ctr" indent="0" marL="0">
              <a:buNone/>
            </a:pPr>
            <a:r>
              <a:rPr lang="en-US" sz="1800" b="1" dirty="0">
                <a:solidFill>
                  <a:srgbClr val="17875A"/>
                </a:solidFill>
                <a:latin typeface="Courier New" pitchFamily="34" charset="0"/>
                <a:ea typeface="Courier New" pitchFamily="34" charset="-122"/>
                <a:cs typeface="Courier New" pitchFamily="34" charset="-120"/>
              </a:rPr>
              <a:t>ls -l</a:t>
            </a:r>
            <a:endParaRPr lang="en-US" sz="1800" dirty="0"/>
          </a:p>
        </p:txBody>
      </p:sp>
      <p:sp>
        <p:nvSpPr>
          <p:cNvPr id="8" name="Text 5"/>
          <p:cNvSpPr txBox="1"/>
          <p:nvPr/>
        </p:nvSpPr>
        <p:spPr>
          <a:xfrm>
            <a:off x="548640"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9" name="Shape 6"/>
          <p:cNvSpPr/>
          <p:nvPr/>
        </p:nvSpPr>
        <p:spPr>
          <a:xfrm>
            <a:off x="2414016" y="1508760"/>
            <a:ext cx="1719072" cy="1298448"/>
          </a:xfrm>
          <a:prstGeom prst="roundRect">
            <a:avLst>
              <a:gd name="adj" fmla="val 8451"/>
            </a:avLst>
          </a:prstGeom>
          <a:solidFill>
            <a:srgbClr val="FFFFFF"/>
          </a:solidFill>
          <a:ln w="31750">
            <a:solidFill>
              <a:srgbClr val="17875A"/>
            </a:solidFill>
            <a:prstDash val="dash"/>
          </a:ln>
        </p:spPr>
      </p:sp>
      <p:sp>
        <p:nvSpPr>
          <p:cNvPr id="10" name="Text 7"/>
          <p:cNvSpPr txBox="1"/>
          <p:nvPr/>
        </p:nvSpPr>
        <p:spPr>
          <a:xfrm>
            <a:off x="2459736" y="1691640"/>
            <a:ext cx="1627632" cy="548640"/>
          </a:xfrm>
          <a:prstGeom prst="rect">
            <a:avLst/>
          </a:prstGeom>
          <a:noFill/>
          <a:ln/>
        </p:spPr>
        <p:txBody>
          <a:bodyPr wrap="square" lIns="0" tIns="0" rIns="0" bIns="0" rtlCol="0" anchor="ctr"/>
          <a:lstStyle/>
          <a:p>
            <a:pPr algn="ctr" indent="0" marL="0">
              <a:buNone/>
            </a:pPr>
            <a:r>
              <a:rPr lang="en-US" sz="1800" b="1" dirty="0">
                <a:solidFill>
                  <a:srgbClr val="17875A"/>
                </a:solidFill>
                <a:latin typeface="Courier New" pitchFamily="34" charset="0"/>
                <a:ea typeface="Courier New" pitchFamily="34" charset="-122"/>
                <a:cs typeface="Courier New" pitchFamily="34" charset="-120"/>
              </a:rPr>
              <a:t>timeline</a:t>
            </a:r>
            <a:endParaRPr lang="en-US" sz="1800" dirty="0"/>
          </a:p>
        </p:txBody>
      </p:sp>
      <p:sp>
        <p:nvSpPr>
          <p:cNvPr id="11" name="Text 8"/>
          <p:cNvSpPr txBox="1"/>
          <p:nvPr/>
        </p:nvSpPr>
        <p:spPr>
          <a:xfrm>
            <a:off x="2414016"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2" name="Shape 9"/>
          <p:cNvSpPr/>
          <p:nvPr/>
        </p:nvSpPr>
        <p:spPr>
          <a:xfrm>
            <a:off x="4279392" y="1508760"/>
            <a:ext cx="1719072" cy="1298448"/>
          </a:xfrm>
          <a:prstGeom prst="roundRect">
            <a:avLst>
              <a:gd name="adj" fmla="val 8451"/>
            </a:avLst>
          </a:prstGeom>
          <a:solidFill>
            <a:srgbClr val="FFFFFF"/>
          </a:solidFill>
          <a:ln w="31750">
            <a:solidFill>
              <a:srgbClr val="2A9FD6"/>
            </a:solidFill>
            <a:prstDash val="dash"/>
          </a:ln>
        </p:spPr>
      </p:sp>
      <p:sp>
        <p:nvSpPr>
          <p:cNvPr id="13" name="Text 10"/>
          <p:cNvSpPr txBox="1"/>
          <p:nvPr/>
        </p:nvSpPr>
        <p:spPr>
          <a:xfrm>
            <a:off x="4325112" y="1691640"/>
            <a:ext cx="1627632" cy="548640"/>
          </a:xfrm>
          <a:prstGeom prst="rect">
            <a:avLst/>
          </a:prstGeom>
          <a:noFill/>
          <a:ln/>
        </p:spPr>
        <p:txBody>
          <a:bodyPr wrap="square" lIns="0" tIns="0" rIns="0" bIns="0" rtlCol="0" anchor="ctr"/>
          <a:lstStyle/>
          <a:p>
            <a:pPr algn="ctr" indent="0" marL="0">
              <a:buNone/>
            </a:pPr>
            <a:r>
              <a:rPr lang="en-US" sz="1800" b="1" dirty="0">
                <a:solidFill>
                  <a:srgbClr val="2A9FD6"/>
                </a:solidFill>
                <a:latin typeface="Courier New" pitchFamily="34" charset="0"/>
                <a:ea typeface="Courier New" pitchFamily="34" charset="-122"/>
                <a:cs typeface="Courier New" pitchFamily="34" charset="-120"/>
              </a:rPr>
              <a:t>metadata</a:t>
            </a:r>
            <a:endParaRPr lang="en-US" sz="1800" dirty="0"/>
          </a:p>
        </p:txBody>
      </p:sp>
      <p:sp>
        <p:nvSpPr>
          <p:cNvPr id="14" name="Text 11"/>
          <p:cNvSpPr txBox="1"/>
          <p:nvPr/>
        </p:nvSpPr>
        <p:spPr>
          <a:xfrm>
            <a:off x="4279392"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5" name="Shape 12"/>
          <p:cNvSpPr/>
          <p:nvPr/>
        </p:nvSpPr>
        <p:spPr>
          <a:xfrm>
            <a:off x="6144768" y="1508760"/>
            <a:ext cx="1719072" cy="1298448"/>
          </a:xfrm>
          <a:prstGeom prst="roundRect">
            <a:avLst>
              <a:gd name="adj" fmla="val 8451"/>
            </a:avLst>
          </a:prstGeom>
          <a:solidFill>
            <a:srgbClr val="FFFFFF"/>
          </a:solidFill>
          <a:ln w="31750">
            <a:solidFill>
              <a:srgbClr val="2A9FD6"/>
            </a:solidFill>
            <a:prstDash val="dash"/>
          </a:ln>
        </p:spPr>
      </p:sp>
      <p:sp>
        <p:nvSpPr>
          <p:cNvPr id="16" name="Text 13"/>
          <p:cNvSpPr txBox="1"/>
          <p:nvPr/>
        </p:nvSpPr>
        <p:spPr>
          <a:xfrm>
            <a:off x="6190488" y="1691640"/>
            <a:ext cx="1627632" cy="548640"/>
          </a:xfrm>
          <a:prstGeom prst="rect">
            <a:avLst/>
          </a:prstGeom>
          <a:noFill/>
          <a:ln/>
        </p:spPr>
        <p:txBody>
          <a:bodyPr wrap="square" lIns="0" tIns="0" rIns="0" bIns="0" rtlCol="0" anchor="ctr"/>
          <a:lstStyle/>
          <a:p>
            <a:pPr algn="ctr" indent="0" marL="0">
              <a:buNone/>
            </a:pPr>
            <a:r>
              <a:rPr lang="en-US" sz="1800" b="1" dirty="0">
                <a:solidFill>
                  <a:srgbClr val="2A9FD6"/>
                </a:solidFill>
                <a:latin typeface="Courier New" pitchFamily="34" charset="0"/>
                <a:ea typeface="Courier New" pitchFamily="34" charset="-122"/>
                <a:cs typeface="Courier New" pitchFamily="34" charset="-120"/>
              </a:rPr>
              <a:t>strings</a:t>
            </a:r>
            <a:endParaRPr lang="en-US" sz="1800" dirty="0"/>
          </a:p>
        </p:txBody>
      </p:sp>
      <p:sp>
        <p:nvSpPr>
          <p:cNvPr id="17" name="Text 14"/>
          <p:cNvSpPr txBox="1"/>
          <p:nvPr/>
        </p:nvSpPr>
        <p:spPr>
          <a:xfrm>
            <a:off x="6144768"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8" name="Shape 15"/>
          <p:cNvSpPr/>
          <p:nvPr/>
        </p:nvSpPr>
        <p:spPr>
          <a:xfrm>
            <a:off x="8010144" y="1508760"/>
            <a:ext cx="1719072" cy="1298448"/>
          </a:xfrm>
          <a:prstGeom prst="roundRect">
            <a:avLst>
              <a:gd name="adj" fmla="val 8451"/>
            </a:avLst>
          </a:prstGeom>
          <a:solidFill>
            <a:srgbClr val="FFFFFF"/>
          </a:solidFill>
          <a:ln w="31750">
            <a:solidFill>
              <a:srgbClr val="2459D8"/>
            </a:solidFill>
            <a:prstDash val="dash"/>
          </a:ln>
        </p:spPr>
      </p:sp>
      <p:sp>
        <p:nvSpPr>
          <p:cNvPr id="19" name="Text 16"/>
          <p:cNvSpPr txBox="1"/>
          <p:nvPr/>
        </p:nvSpPr>
        <p:spPr>
          <a:xfrm>
            <a:off x="8055864" y="1691640"/>
            <a:ext cx="1627632" cy="548640"/>
          </a:xfrm>
          <a:prstGeom prst="rect">
            <a:avLst/>
          </a:prstGeom>
          <a:noFill/>
          <a:ln/>
        </p:spPr>
        <p:txBody>
          <a:bodyPr wrap="square" lIns="0" tIns="0" rIns="0" bIns="0" rtlCol="0" anchor="ctr"/>
          <a:lstStyle/>
          <a:p>
            <a:pPr algn="ctr" indent="0" marL="0">
              <a:buNone/>
            </a:pPr>
            <a:r>
              <a:rPr lang="en-US" sz="1300" b="1" dirty="0">
                <a:solidFill>
                  <a:srgbClr val="2459D8"/>
                </a:solidFill>
                <a:latin typeface="Courier New" pitchFamily="34" charset="0"/>
                <a:ea typeface="Courier New" pitchFamily="34" charset="-122"/>
                <a:cs typeface="Courier New" pitchFamily="34" charset="-120"/>
              </a:rPr>
              <a:t>magic bytes</a:t>
            </a:r>
            <a:endParaRPr lang="en-US" sz="1300" dirty="0"/>
          </a:p>
        </p:txBody>
      </p:sp>
      <p:sp>
        <p:nvSpPr>
          <p:cNvPr id="20" name="Text 17"/>
          <p:cNvSpPr txBox="1"/>
          <p:nvPr/>
        </p:nvSpPr>
        <p:spPr>
          <a:xfrm>
            <a:off x="8010144"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1" name="Shape 18"/>
          <p:cNvSpPr/>
          <p:nvPr/>
        </p:nvSpPr>
        <p:spPr>
          <a:xfrm>
            <a:off x="9875520" y="1508760"/>
            <a:ext cx="1719072" cy="1298448"/>
          </a:xfrm>
          <a:prstGeom prst="roundRect">
            <a:avLst>
              <a:gd name="adj" fmla="val 8451"/>
            </a:avLst>
          </a:prstGeom>
          <a:solidFill>
            <a:srgbClr val="FFFFFF"/>
          </a:solidFill>
          <a:ln w="31750">
            <a:solidFill>
              <a:srgbClr val="2459D8"/>
            </a:solidFill>
            <a:prstDash val="dash"/>
          </a:ln>
        </p:spPr>
      </p:sp>
      <p:sp>
        <p:nvSpPr>
          <p:cNvPr id="22" name="Text 19"/>
          <p:cNvSpPr txBox="1"/>
          <p:nvPr/>
        </p:nvSpPr>
        <p:spPr>
          <a:xfrm>
            <a:off x="9921240" y="1691640"/>
            <a:ext cx="1627632" cy="548640"/>
          </a:xfrm>
          <a:prstGeom prst="rect">
            <a:avLst/>
          </a:prstGeom>
          <a:noFill/>
          <a:ln/>
        </p:spPr>
        <p:txBody>
          <a:bodyPr wrap="square" lIns="0" tIns="0" rIns="0" bIns="0" rtlCol="0" anchor="ctr"/>
          <a:lstStyle/>
          <a:p>
            <a:pPr algn="ctr" indent="0" marL="0">
              <a:buNone/>
            </a:pPr>
            <a:r>
              <a:rPr lang="en-US" sz="1800" b="1" dirty="0">
                <a:solidFill>
                  <a:srgbClr val="2459D8"/>
                </a:solidFill>
                <a:latin typeface="Courier New" pitchFamily="34" charset="0"/>
                <a:ea typeface="Courier New" pitchFamily="34" charset="-122"/>
                <a:cs typeface="Courier New" pitchFamily="34" charset="-120"/>
              </a:rPr>
              <a:t>zcat</a:t>
            </a:r>
            <a:endParaRPr lang="en-US" sz="1800" dirty="0"/>
          </a:p>
        </p:txBody>
      </p:sp>
      <p:sp>
        <p:nvSpPr>
          <p:cNvPr id="23" name="Text 20"/>
          <p:cNvSpPr txBox="1"/>
          <p:nvPr/>
        </p:nvSpPr>
        <p:spPr>
          <a:xfrm>
            <a:off x="9875520"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4" name="Shape 21"/>
          <p:cNvSpPr/>
          <p:nvPr/>
        </p:nvSpPr>
        <p:spPr>
          <a:xfrm>
            <a:off x="548640" y="2971800"/>
            <a:ext cx="1719072" cy="1298448"/>
          </a:xfrm>
          <a:prstGeom prst="roundRect">
            <a:avLst>
              <a:gd name="adj" fmla="val 8451"/>
            </a:avLst>
          </a:prstGeom>
          <a:solidFill>
            <a:srgbClr val="FFFFFF"/>
          </a:solidFill>
          <a:ln w="31750">
            <a:solidFill>
              <a:srgbClr val="7448D4"/>
            </a:solidFill>
            <a:prstDash val="dash"/>
          </a:ln>
        </p:spPr>
      </p:sp>
      <p:sp>
        <p:nvSpPr>
          <p:cNvPr id="25" name="Text 22"/>
          <p:cNvSpPr txBox="1"/>
          <p:nvPr/>
        </p:nvSpPr>
        <p:spPr>
          <a:xfrm>
            <a:off x="594360" y="3154680"/>
            <a:ext cx="1627632" cy="548640"/>
          </a:xfrm>
          <a:prstGeom prst="rect">
            <a:avLst/>
          </a:prstGeom>
          <a:noFill/>
          <a:ln/>
        </p:spPr>
        <p:txBody>
          <a:bodyPr wrap="square" lIns="0" tIns="0" rIns="0" bIns="0" rtlCol="0" anchor="ctr"/>
          <a:lstStyle/>
          <a:p>
            <a:pPr algn="ctr" indent="0" marL="0">
              <a:buNone/>
            </a:pPr>
            <a:r>
              <a:rPr lang="en-US" sz="1800" b="1" dirty="0">
                <a:solidFill>
                  <a:srgbClr val="7448D4"/>
                </a:solidFill>
                <a:latin typeface="Courier New" pitchFamily="34" charset="0"/>
                <a:ea typeface="Courier New" pitchFamily="34" charset="-122"/>
                <a:cs typeface="Courier New" pitchFamily="34" charset="-120"/>
              </a:rPr>
              <a:t>tar -x</a:t>
            </a:r>
            <a:endParaRPr lang="en-US" sz="1800" dirty="0"/>
          </a:p>
        </p:txBody>
      </p:sp>
      <p:sp>
        <p:nvSpPr>
          <p:cNvPr id="26" name="Text 23"/>
          <p:cNvSpPr txBox="1"/>
          <p:nvPr/>
        </p:nvSpPr>
        <p:spPr>
          <a:xfrm>
            <a:off x="548640"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27" name="Shape 24"/>
          <p:cNvSpPr/>
          <p:nvPr/>
        </p:nvSpPr>
        <p:spPr>
          <a:xfrm>
            <a:off x="2414016" y="2971800"/>
            <a:ext cx="1719072" cy="1298448"/>
          </a:xfrm>
          <a:prstGeom prst="roundRect">
            <a:avLst>
              <a:gd name="adj" fmla="val 8451"/>
            </a:avLst>
          </a:prstGeom>
          <a:solidFill>
            <a:srgbClr val="FFFFFF"/>
          </a:solidFill>
          <a:ln w="31750">
            <a:solidFill>
              <a:srgbClr val="D1416B"/>
            </a:solidFill>
            <a:prstDash val="dash"/>
          </a:ln>
        </p:spPr>
      </p:sp>
      <p:sp>
        <p:nvSpPr>
          <p:cNvPr id="28" name="Text 25"/>
          <p:cNvSpPr txBox="1"/>
          <p:nvPr/>
        </p:nvSpPr>
        <p:spPr>
          <a:xfrm>
            <a:off x="2459736" y="3154680"/>
            <a:ext cx="1627632" cy="548640"/>
          </a:xfrm>
          <a:prstGeom prst="rect">
            <a:avLst/>
          </a:prstGeom>
          <a:noFill/>
          <a:ln/>
        </p:spPr>
        <p:txBody>
          <a:bodyPr wrap="square" lIns="0" tIns="0" rIns="0" bIns="0" rtlCol="0" anchor="ctr"/>
          <a:lstStyle/>
          <a:p>
            <a:pPr algn="ctr" indent="0" marL="0">
              <a:buNone/>
            </a:pPr>
            <a:r>
              <a:rPr lang="en-US" sz="1800" b="1" dirty="0">
                <a:solidFill>
                  <a:srgbClr val="D1416B"/>
                </a:solidFill>
                <a:latin typeface="Courier New" pitchFamily="34" charset="0"/>
                <a:ea typeface="Courier New" pitchFamily="34" charset="-122"/>
                <a:cs typeface="Courier New" pitchFamily="34" charset="-120"/>
              </a:rPr>
              <a:t>cut</a:t>
            </a:r>
            <a:endParaRPr lang="en-US" sz="1800" dirty="0"/>
          </a:p>
        </p:txBody>
      </p:sp>
      <p:sp>
        <p:nvSpPr>
          <p:cNvPr id="29" name="Text 26"/>
          <p:cNvSpPr txBox="1"/>
          <p:nvPr/>
        </p:nvSpPr>
        <p:spPr>
          <a:xfrm>
            <a:off x="2414016"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0" name="Shape 27"/>
          <p:cNvSpPr/>
          <p:nvPr/>
        </p:nvSpPr>
        <p:spPr>
          <a:xfrm>
            <a:off x="4279392" y="2971800"/>
            <a:ext cx="1719072" cy="1298448"/>
          </a:xfrm>
          <a:prstGeom prst="roundRect">
            <a:avLst>
              <a:gd name="adj" fmla="val 8451"/>
            </a:avLst>
          </a:prstGeom>
          <a:solidFill>
            <a:srgbClr val="FFFFFF"/>
          </a:solidFill>
          <a:ln w="31750">
            <a:solidFill>
              <a:srgbClr val="D1416B"/>
            </a:solidFill>
            <a:prstDash val="dash"/>
          </a:ln>
        </p:spPr>
      </p:sp>
      <p:sp>
        <p:nvSpPr>
          <p:cNvPr id="31" name="Text 28"/>
          <p:cNvSpPr txBox="1"/>
          <p:nvPr/>
        </p:nvSpPr>
        <p:spPr>
          <a:xfrm>
            <a:off x="4325112" y="3154680"/>
            <a:ext cx="1627632" cy="548640"/>
          </a:xfrm>
          <a:prstGeom prst="rect">
            <a:avLst/>
          </a:prstGeom>
          <a:noFill/>
          <a:ln/>
        </p:spPr>
        <p:txBody>
          <a:bodyPr wrap="square" lIns="0" tIns="0" rIns="0" bIns="0" rtlCol="0" anchor="ctr"/>
          <a:lstStyle/>
          <a:p>
            <a:pPr algn="ctr" indent="0" marL="0">
              <a:buNone/>
            </a:pPr>
            <a:r>
              <a:rPr lang="en-US" sz="1800" b="1" dirty="0">
                <a:solidFill>
                  <a:srgbClr val="D1416B"/>
                </a:solidFill>
                <a:latin typeface="Courier New" pitchFamily="34" charset="0"/>
                <a:ea typeface="Courier New" pitchFamily="34" charset="-122"/>
                <a:cs typeface="Courier New" pitchFamily="34" charset="-120"/>
              </a:rPr>
              <a:t>uniq -c</a:t>
            </a:r>
            <a:endParaRPr lang="en-US" sz="1800" dirty="0"/>
          </a:p>
        </p:txBody>
      </p:sp>
      <p:sp>
        <p:nvSpPr>
          <p:cNvPr id="32" name="Text 29"/>
          <p:cNvSpPr txBox="1"/>
          <p:nvPr/>
        </p:nvSpPr>
        <p:spPr>
          <a:xfrm>
            <a:off x="4279392"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3" name="Shape 30"/>
          <p:cNvSpPr/>
          <p:nvPr/>
        </p:nvSpPr>
        <p:spPr>
          <a:xfrm>
            <a:off x="6144768" y="2971800"/>
            <a:ext cx="1719072" cy="1298448"/>
          </a:xfrm>
          <a:prstGeom prst="roundRect">
            <a:avLst>
              <a:gd name="adj" fmla="val 8451"/>
            </a:avLst>
          </a:prstGeom>
          <a:solidFill>
            <a:srgbClr val="FFFFFF"/>
          </a:solidFill>
          <a:ln w="31750">
            <a:solidFill>
              <a:srgbClr val="E8820C"/>
            </a:solidFill>
            <a:prstDash val="dash"/>
          </a:ln>
        </p:spPr>
      </p:sp>
      <p:sp>
        <p:nvSpPr>
          <p:cNvPr id="34" name="Text 31"/>
          <p:cNvSpPr txBox="1"/>
          <p:nvPr/>
        </p:nvSpPr>
        <p:spPr>
          <a:xfrm>
            <a:off x="6190488" y="3154680"/>
            <a:ext cx="1627632" cy="548640"/>
          </a:xfrm>
          <a:prstGeom prst="rect">
            <a:avLst/>
          </a:prstGeom>
          <a:noFill/>
          <a:ln/>
        </p:spPr>
        <p:txBody>
          <a:bodyPr wrap="square" lIns="0" tIns="0" rIns="0" bIns="0" rtlCol="0" anchor="ctr"/>
          <a:lstStyle/>
          <a:p>
            <a:pPr algn="ctr" indent="0" marL="0">
              <a:buNone/>
            </a:pPr>
            <a:r>
              <a:rPr lang="en-US" sz="1800" b="1" dirty="0">
                <a:solidFill>
                  <a:srgbClr val="E8820C"/>
                </a:solidFill>
                <a:latin typeface="Courier New" pitchFamily="34" charset="0"/>
                <a:ea typeface="Courier New" pitchFamily="34" charset="-122"/>
                <a:cs typeface="Courier New" pitchFamily="34" charset="-120"/>
              </a:rPr>
              <a:t>stego</a:t>
            </a:r>
            <a:endParaRPr lang="en-US" sz="1800" dirty="0"/>
          </a:p>
        </p:txBody>
      </p:sp>
      <p:sp>
        <p:nvSpPr>
          <p:cNvPr id="35" name="Text 32"/>
          <p:cNvSpPr txBox="1"/>
          <p:nvPr/>
        </p:nvSpPr>
        <p:spPr>
          <a:xfrm>
            <a:off x="6144768"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6" name="Shape 33"/>
          <p:cNvSpPr/>
          <p:nvPr/>
        </p:nvSpPr>
        <p:spPr>
          <a:xfrm>
            <a:off x="8010144" y="2971800"/>
            <a:ext cx="1719072" cy="1298448"/>
          </a:xfrm>
          <a:prstGeom prst="roundRect">
            <a:avLst>
              <a:gd name="adj" fmla="val 8451"/>
            </a:avLst>
          </a:prstGeom>
          <a:solidFill>
            <a:srgbClr val="FFFFFF"/>
          </a:solidFill>
          <a:ln w="31750">
            <a:solidFill>
              <a:srgbClr val="E8820C"/>
            </a:solidFill>
            <a:prstDash val="dash"/>
          </a:ln>
        </p:spPr>
      </p:sp>
      <p:sp>
        <p:nvSpPr>
          <p:cNvPr id="37" name="Text 34"/>
          <p:cNvSpPr txBox="1"/>
          <p:nvPr/>
        </p:nvSpPr>
        <p:spPr>
          <a:xfrm>
            <a:off x="8055864" y="3154680"/>
            <a:ext cx="1627632" cy="548640"/>
          </a:xfrm>
          <a:prstGeom prst="rect">
            <a:avLst/>
          </a:prstGeom>
          <a:noFill/>
          <a:ln/>
        </p:spPr>
        <p:txBody>
          <a:bodyPr wrap="square" lIns="0" tIns="0" rIns="0" bIns="0" rtlCol="0" anchor="ctr"/>
          <a:lstStyle/>
          <a:p>
            <a:pPr algn="ctr" indent="0" marL="0">
              <a:buNone/>
            </a:pPr>
            <a:r>
              <a:rPr lang="en-US" sz="1800" b="1" dirty="0">
                <a:solidFill>
                  <a:srgbClr val="E8820C"/>
                </a:solidFill>
                <a:latin typeface="Courier New" pitchFamily="34" charset="0"/>
                <a:ea typeface="Courier New" pitchFamily="34" charset="-122"/>
                <a:cs typeface="Courier New" pitchFamily="34" charset="-120"/>
              </a:rPr>
              <a:t>base64 -d</a:t>
            </a:r>
            <a:endParaRPr lang="en-US" sz="1800" dirty="0"/>
          </a:p>
        </p:txBody>
      </p:sp>
      <p:sp>
        <p:nvSpPr>
          <p:cNvPr id="38" name="Text 35"/>
          <p:cNvSpPr txBox="1"/>
          <p:nvPr/>
        </p:nvSpPr>
        <p:spPr>
          <a:xfrm>
            <a:off x="8010144"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9" name="Shape 36"/>
          <p:cNvSpPr/>
          <p:nvPr/>
        </p:nvSpPr>
        <p:spPr>
          <a:xfrm>
            <a:off x="9875520" y="2971800"/>
            <a:ext cx="1719072" cy="1298448"/>
          </a:xfrm>
          <a:prstGeom prst="roundRect">
            <a:avLst>
              <a:gd name="adj" fmla="val 8451"/>
            </a:avLst>
          </a:prstGeom>
          <a:solidFill>
            <a:srgbClr val="FFFFFF"/>
          </a:solidFill>
          <a:ln w="31750">
            <a:solidFill>
              <a:srgbClr val="C9A227"/>
            </a:solidFill>
            <a:prstDash val="dash"/>
          </a:ln>
        </p:spPr>
      </p:sp>
      <p:sp>
        <p:nvSpPr>
          <p:cNvPr id="40" name="Text 37"/>
          <p:cNvSpPr txBox="1"/>
          <p:nvPr/>
        </p:nvSpPr>
        <p:spPr>
          <a:xfrm>
            <a:off x="9921240" y="3154680"/>
            <a:ext cx="1627632" cy="548640"/>
          </a:xfrm>
          <a:prstGeom prst="rect">
            <a:avLst/>
          </a:prstGeom>
          <a:noFill/>
          <a:ln/>
        </p:spPr>
        <p:txBody>
          <a:bodyPr wrap="square" lIns="0" tIns="0" rIns="0" bIns="0" rtlCol="0" anchor="ctr"/>
          <a:lstStyle/>
          <a:p>
            <a:pPr algn="ctr" indent="0" marL="0">
              <a:buNone/>
            </a:pPr>
            <a:r>
              <a:rPr lang="en-US" sz="1300" b="1" dirty="0">
                <a:solidFill>
                  <a:srgbClr val="C9A227"/>
                </a:solidFill>
                <a:latin typeface="Courier New" pitchFamily="34" charset="0"/>
                <a:ea typeface="Courier New" pitchFamily="34" charset="-122"/>
                <a:cs typeface="Courier New" pitchFamily="34" charset="-120"/>
              </a:rPr>
              <a:t>sha256sum -c</a:t>
            </a:r>
            <a:endParaRPr lang="en-US" sz="1300" dirty="0"/>
          </a:p>
        </p:txBody>
      </p:sp>
      <p:sp>
        <p:nvSpPr>
          <p:cNvPr id="41" name="Text 38"/>
          <p:cNvSpPr txBox="1"/>
          <p:nvPr/>
        </p:nvSpPr>
        <p:spPr>
          <a:xfrm>
            <a:off x="9875520"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2" name="Shape 39"/>
          <p:cNvSpPr/>
          <p:nvPr/>
        </p:nvSpPr>
        <p:spPr>
          <a:xfrm>
            <a:off x="548640" y="4434840"/>
            <a:ext cx="1719072" cy="1298448"/>
          </a:xfrm>
          <a:prstGeom prst="roundRect">
            <a:avLst>
              <a:gd name="adj" fmla="val 8451"/>
            </a:avLst>
          </a:prstGeom>
          <a:solidFill>
            <a:srgbClr val="FFFFFF"/>
          </a:solidFill>
          <a:ln w="31750">
            <a:solidFill>
              <a:srgbClr val="0F9488"/>
            </a:solidFill>
            <a:prstDash val="dash"/>
          </a:ln>
        </p:spPr>
      </p:sp>
      <p:sp>
        <p:nvSpPr>
          <p:cNvPr id="43" name="Text 40"/>
          <p:cNvSpPr txBox="1"/>
          <p:nvPr/>
        </p:nvSpPr>
        <p:spPr>
          <a:xfrm>
            <a:off x="594360" y="4617720"/>
            <a:ext cx="1627632" cy="548640"/>
          </a:xfrm>
          <a:prstGeom prst="rect">
            <a:avLst/>
          </a:prstGeom>
          <a:noFill/>
          <a:ln/>
        </p:spPr>
        <p:txBody>
          <a:bodyPr wrap="square" lIns="0" tIns="0" rIns="0" bIns="0" rtlCol="0" anchor="ctr"/>
          <a:lstStyle/>
          <a:p>
            <a:pPr algn="ctr" indent="0" marL="0">
              <a:buNone/>
            </a:pPr>
            <a:r>
              <a:rPr lang="en-US" sz="1800" b="1" dirty="0">
                <a:solidFill>
                  <a:srgbClr val="0F9488"/>
                </a:solidFill>
                <a:latin typeface="Courier New" pitchFamily="34" charset="0"/>
                <a:ea typeface="Courier New" pitchFamily="34" charset="-122"/>
                <a:cs typeface="Courier New" pitchFamily="34" charset="-120"/>
              </a:rPr>
              <a:t>cron</a:t>
            </a:r>
            <a:endParaRPr lang="en-US" sz="1800" dirty="0"/>
          </a:p>
        </p:txBody>
      </p:sp>
      <p:sp>
        <p:nvSpPr>
          <p:cNvPr id="44" name="Text 41"/>
          <p:cNvSpPr txBox="1"/>
          <p:nvPr/>
        </p:nvSpPr>
        <p:spPr>
          <a:xfrm>
            <a:off x="548640"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45" name="Shape 42"/>
          <p:cNvSpPr/>
          <p:nvPr/>
        </p:nvSpPr>
        <p:spPr>
          <a:xfrm>
            <a:off x="2414016" y="4434840"/>
            <a:ext cx="1719072" cy="1298448"/>
          </a:xfrm>
          <a:prstGeom prst="roundRect">
            <a:avLst>
              <a:gd name="adj" fmla="val 8451"/>
            </a:avLst>
          </a:prstGeom>
          <a:solidFill>
            <a:srgbClr val="FFFFFF"/>
          </a:solidFill>
          <a:ln w="31750">
            <a:solidFill>
              <a:srgbClr val="0F9488"/>
            </a:solidFill>
            <a:prstDash val="dash"/>
          </a:ln>
        </p:spPr>
      </p:sp>
      <p:sp>
        <p:nvSpPr>
          <p:cNvPr id="46" name="Text 43"/>
          <p:cNvSpPr txBox="1"/>
          <p:nvPr/>
        </p:nvSpPr>
        <p:spPr>
          <a:xfrm>
            <a:off x="2459736" y="4617720"/>
            <a:ext cx="1627632" cy="548640"/>
          </a:xfrm>
          <a:prstGeom prst="rect">
            <a:avLst/>
          </a:prstGeom>
          <a:noFill/>
          <a:ln/>
        </p:spPr>
        <p:txBody>
          <a:bodyPr wrap="square" lIns="0" tIns="0" rIns="0" bIns="0" rtlCol="0" anchor="ctr"/>
          <a:lstStyle/>
          <a:p>
            <a:pPr algn="ctr" indent="0" marL="0">
              <a:buNone/>
            </a:pPr>
            <a:r>
              <a:rPr lang="en-US" sz="1800" b="1" dirty="0">
                <a:solidFill>
                  <a:srgbClr val="0F9488"/>
                </a:solidFill>
                <a:latin typeface="Courier New" pitchFamily="34" charset="0"/>
                <a:ea typeface="Courier New" pitchFamily="34" charset="-122"/>
                <a:cs typeface="Courier New" pitchFamily="34" charset="-120"/>
              </a:rPr>
              <a:t>ls -a</a:t>
            </a:r>
            <a:endParaRPr lang="en-US" sz="1800" dirty="0"/>
          </a:p>
        </p:txBody>
      </p:sp>
      <p:sp>
        <p:nvSpPr>
          <p:cNvPr id="47" name="Text 44"/>
          <p:cNvSpPr txBox="1"/>
          <p:nvPr/>
        </p:nvSpPr>
        <p:spPr>
          <a:xfrm>
            <a:off x="2414016"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48" name="Shape 45"/>
          <p:cNvSpPr/>
          <p:nvPr/>
        </p:nvSpPr>
        <p:spPr>
          <a:xfrm>
            <a:off x="4279392" y="4434840"/>
            <a:ext cx="1719072" cy="1298448"/>
          </a:xfrm>
          <a:prstGeom prst="roundRect">
            <a:avLst>
              <a:gd name="adj" fmla="val 8451"/>
            </a:avLst>
          </a:prstGeom>
          <a:solidFill>
            <a:srgbClr val="FFFFFF"/>
          </a:solidFill>
          <a:ln w="31750">
            <a:solidFill>
              <a:srgbClr val="5B6EE1"/>
            </a:solidFill>
            <a:prstDash val="dash"/>
          </a:ln>
        </p:spPr>
      </p:sp>
      <p:sp>
        <p:nvSpPr>
          <p:cNvPr id="49" name="Text 46"/>
          <p:cNvSpPr txBox="1"/>
          <p:nvPr/>
        </p:nvSpPr>
        <p:spPr>
          <a:xfrm>
            <a:off x="4325112" y="4617720"/>
            <a:ext cx="1627632" cy="548640"/>
          </a:xfrm>
          <a:prstGeom prst="rect">
            <a:avLst/>
          </a:prstGeom>
          <a:noFill/>
          <a:ln/>
        </p:spPr>
        <p:txBody>
          <a:bodyPr wrap="square" lIns="0" tIns="0" rIns="0" bIns="0" rtlCol="0" anchor="ctr"/>
          <a:lstStyle/>
          <a:p>
            <a:pPr algn="ctr" indent="0" marL="0">
              <a:buNone/>
            </a:pPr>
            <a:r>
              <a:rPr lang="en-US" sz="1300" b="1" dirty="0">
                <a:solidFill>
                  <a:srgbClr val="5B6EE1"/>
                </a:solidFill>
                <a:latin typeface="Courier New" pitchFamily="34" charset="0"/>
                <a:ea typeface="Courier New" pitchFamily="34" charset="-122"/>
                <a:cs typeface="Courier New" pitchFamily="34" charset="-120"/>
              </a:rPr>
              <a:t>packet list</a:t>
            </a:r>
            <a:endParaRPr lang="en-US" sz="1300" dirty="0"/>
          </a:p>
        </p:txBody>
      </p:sp>
      <p:sp>
        <p:nvSpPr>
          <p:cNvPr id="50" name="Text 47"/>
          <p:cNvSpPr txBox="1"/>
          <p:nvPr/>
        </p:nvSpPr>
        <p:spPr>
          <a:xfrm>
            <a:off x="4279392"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51" name="Shape 48"/>
          <p:cNvSpPr/>
          <p:nvPr/>
        </p:nvSpPr>
        <p:spPr>
          <a:xfrm>
            <a:off x="6144768" y="4434840"/>
            <a:ext cx="1719072" cy="1298448"/>
          </a:xfrm>
          <a:prstGeom prst="roundRect">
            <a:avLst>
              <a:gd name="adj" fmla="val 8451"/>
            </a:avLst>
          </a:prstGeom>
          <a:solidFill>
            <a:srgbClr val="FFFFFF"/>
          </a:solidFill>
          <a:ln w="31750">
            <a:solidFill>
              <a:srgbClr val="B4233F"/>
            </a:solidFill>
            <a:prstDash val="dash"/>
          </a:ln>
        </p:spPr>
      </p:sp>
      <p:sp>
        <p:nvSpPr>
          <p:cNvPr id="52" name="Text 49"/>
          <p:cNvSpPr txBox="1"/>
          <p:nvPr/>
        </p:nvSpPr>
        <p:spPr>
          <a:xfrm>
            <a:off x="6190488" y="4617720"/>
            <a:ext cx="1627632" cy="548640"/>
          </a:xfrm>
          <a:prstGeom prst="rect">
            <a:avLst/>
          </a:prstGeom>
          <a:noFill/>
          <a:ln/>
        </p:spPr>
        <p:txBody>
          <a:bodyPr wrap="square" lIns="0" tIns="0" rIns="0" bIns="0" rtlCol="0" anchor="ctr"/>
          <a:lstStyle/>
          <a:p>
            <a:pPr algn="ctr" indent="0" marL="0">
              <a:buNone/>
            </a:pPr>
            <a:r>
              <a:rPr lang="en-US" sz="1300" b="1" dirty="0">
                <a:solidFill>
                  <a:srgbClr val="B4233F"/>
                </a:solidFill>
                <a:latin typeface="Courier New" pitchFamily="34" charset="0"/>
                <a:ea typeface="Courier New" pitchFamily="34" charset="-122"/>
                <a:cs typeface="Courier New" pitchFamily="34" charset="-120"/>
              </a:rPr>
              <a:t>case notes</a:t>
            </a:r>
            <a:endParaRPr lang="en-US" sz="1300" dirty="0"/>
          </a:p>
        </p:txBody>
      </p:sp>
      <p:sp>
        <p:nvSpPr>
          <p:cNvPr id="53" name="Text 50"/>
          <p:cNvSpPr txBox="1"/>
          <p:nvPr/>
        </p:nvSpPr>
        <p:spPr>
          <a:xfrm>
            <a:off x="6144768"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4" name="Shape 51"/>
          <p:cNvSpPr/>
          <p:nvPr/>
        </p:nvSpPr>
        <p:spPr>
          <a:xfrm>
            <a:off x="8010144" y="4434840"/>
            <a:ext cx="1719072" cy="1298448"/>
          </a:xfrm>
          <a:prstGeom prst="roundRect">
            <a:avLst>
              <a:gd name="adj" fmla="val 8451"/>
            </a:avLst>
          </a:prstGeom>
          <a:solidFill>
            <a:srgbClr val="FFFFFF"/>
          </a:solidFill>
          <a:ln w="31750">
            <a:solidFill>
              <a:srgbClr val="56657E"/>
            </a:solidFill>
            <a:prstDash val="dash"/>
          </a:ln>
        </p:spPr>
      </p:sp>
      <p:sp>
        <p:nvSpPr>
          <p:cNvPr id="55" name="Text 52"/>
          <p:cNvSpPr txBox="1"/>
          <p:nvPr/>
        </p:nvSpPr>
        <p:spPr>
          <a:xfrm>
            <a:off x="8055864" y="4617720"/>
            <a:ext cx="1627632" cy="54864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--help</a:t>
            </a:r>
            <a:endParaRPr lang="en-US" sz="1800" dirty="0"/>
          </a:p>
        </p:txBody>
      </p:sp>
      <p:sp>
        <p:nvSpPr>
          <p:cNvPr id="56" name="Text 53"/>
          <p:cNvSpPr txBox="1"/>
          <p:nvPr/>
        </p:nvSpPr>
        <p:spPr>
          <a:xfrm>
            <a:off x="8010144"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Every mission</a:t>
            </a:r>
            <a:endParaRPr lang="en-US" sz="1200" dirty="0"/>
          </a:p>
        </p:txBody>
      </p:sp>
      <p:sp>
        <p:nvSpPr>
          <p:cNvPr id="57" name="Shape 54"/>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sp>
      <p:sp>
        <p:nvSpPr>
          <p:cNvPr id="58" name="Text 55"/>
          <p:cNvSpPr txBox="1"/>
          <p:nvPr/>
        </p:nvSpPr>
        <p:spPr>
          <a:xfrm>
            <a:off x="9921240" y="4617720"/>
            <a:ext cx="1627632" cy="548640"/>
          </a:xfrm>
          <a:prstGeom prst="rect">
            <a:avLst/>
          </a:prstGeom>
          <a:noFill/>
          <a:ln/>
        </p:spPr>
        <p:txBody>
          <a:bodyPr wrap="square" lIns="0" tIns="0" rIns="0" bIns="0" rtlCol="0" anchor="ctr"/>
          <a:lstStyle/>
          <a:p>
            <a:pPr algn="ctr" indent="0" marL="0">
              <a:buNone/>
            </a:pPr>
            <a:r>
              <a:rPr lang="en-US" sz="1300" b="1" dirty="0">
                <a:solidFill>
                  <a:srgbClr val="56657E"/>
                </a:solidFill>
                <a:latin typeface="Courier New" pitchFamily="34" charset="0"/>
                <a:ea typeface="Courier New" pitchFamily="34" charset="-122"/>
                <a:cs typeface="Courier New" pitchFamily="34" charset="-120"/>
              </a:rPr>
              <a:t>chain of evidence</a:t>
            </a:r>
            <a:endParaRPr lang="en-US" sz="1300" dirty="0"/>
          </a:p>
        </p:txBody>
      </p:sp>
      <p:sp>
        <p:nvSpPr>
          <p:cNvPr id="59" name="Text 56"/>
          <p:cNvSpPr txBox="1"/>
          <p:nvPr/>
        </p:nvSpPr>
        <p:spPr>
          <a:xfrm>
            <a:off x="9875520"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Every mission</a:t>
            </a:r>
            <a:endParaRPr lang="en-US" sz="1200" dirty="0"/>
          </a:p>
        </p:txBody>
      </p:sp>
      <p:sp>
        <p:nvSpPr>
          <p:cNvPr id="60" name="Text 57"/>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Eighteen investigation skills, used on a real Linux system, in one session.</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54</a:t>
            </a:r>
            <a:endParaRPr lang="en-US" sz="1000" dirty="0"/>
          </a:p>
        </p:txBody>
      </p:sp>
      <p:sp>
        <p:nvSpPr>
          <p:cNvPr id="6" name="Shape 3"/>
          <p:cNvSpPr/>
          <p:nvPr/>
        </p:nvSpPr>
        <p:spPr>
          <a:xfrm>
            <a:off x="548640" y="1554480"/>
            <a:ext cx="731520" cy="731520"/>
          </a:xfrm>
          <a:prstGeom prst="ellipse">
            <a:avLst/>
          </a:prstGeom>
          <a:solidFill>
            <a:srgbClr val="D1416B"/>
          </a:solidFill>
          <a:ln/>
        </p:spPr>
      </p:sp>
      <p:pic>
        <p:nvPicPr>
          <p:cNvPr id="7" name="Image 0" descr="preencoded.png">    </p:cNvPr>
          <p:cNvPicPr>
            <a:picLocks noChangeAspect="1"/>
          </p:cNvPicPr>
          <p:nvPr/>
        </p:nvPicPr>
        <p:blipFill>
          <a:blip r:embed="rId1"/>
          <a:stretch>
            <a:fillRect/>
          </a:stretch>
        </p:blipFill>
        <p:spPr>
          <a:xfrm>
            <a:off x="731520" y="1737360"/>
            <a:ext cx="365760" cy="365760"/>
          </a:xfrm>
          <a:prstGeom prst="rect">
            <a:avLst/>
          </a:prstGeom>
        </p:spPr>
      </p:pic>
      <p:sp>
        <p:nvSpPr>
          <p:cNvPr id="8" name="Text 4"/>
          <p:cNvSpPr txBox="1"/>
          <p:nvPr/>
        </p:nvSpPr>
        <p:spPr>
          <a:xfrm>
            <a:off x="1508760" y="155448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Read the logs</a:t>
            </a:r>
            <a:endParaRPr lang="en-US" sz="1800" dirty="0"/>
          </a:p>
        </p:txBody>
      </p:sp>
      <p:sp>
        <p:nvSpPr>
          <p:cNvPr id="9" name="Text 5"/>
          <p:cNvSpPr txBox="1"/>
          <p:nvPr/>
        </p:nvSpPr>
        <p:spPr>
          <a:xfrm>
            <a:off x="1508760" y="193852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SOC analysts spot brute-force logins and odd traffic all day</a:t>
            </a:r>
            <a:endParaRPr lang="en-US" sz="1500" dirty="0"/>
          </a:p>
        </p:txBody>
      </p:sp>
      <p:sp>
        <p:nvSpPr>
          <p:cNvPr id="10" name="Shape 6"/>
          <p:cNvSpPr/>
          <p:nvPr/>
        </p:nvSpPr>
        <p:spPr>
          <a:xfrm>
            <a:off x="548640" y="2651760"/>
            <a:ext cx="731520" cy="731520"/>
          </a:xfrm>
          <a:prstGeom prst="ellipse">
            <a:avLst/>
          </a:prstGeom>
          <a:solidFill>
            <a:srgbClr val="2459D8"/>
          </a:solidFill>
          <a:ln/>
        </p:spPr>
      </p:sp>
      <p:pic>
        <p:nvPicPr>
          <p:cNvPr id="11" name="Image 1" descr="preencoded.png">    </p:cNvPr>
          <p:cNvPicPr>
            <a:picLocks noChangeAspect="1"/>
          </p:cNvPicPr>
          <p:nvPr/>
        </p:nvPicPr>
        <p:blipFill>
          <a:blip r:embed="rId2"/>
          <a:stretch>
            <a:fillRect/>
          </a:stretch>
        </p:blipFill>
        <p:spPr>
          <a:xfrm>
            <a:off x="731520" y="2834640"/>
            <a:ext cx="365760" cy="365760"/>
          </a:xfrm>
          <a:prstGeom prst="rect">
            <a:avLst/>
          </a:prstGeom>
        </p:spPr>
      </p:pic>
      <p:sp>
        <p:nvSpPr>
          <p:cNvPr id="12" name="Text 7"/>
          <p:cNvSpPr txBox="1"/>
          <p:nvPr/>
        </p:nvSpPr>
        <p:spPr>
          <a:xfrm>
            <a:off x="1508760" y="265176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Examine the files</a:t>
            </a:r>
            <a:endParaRPr lang="en-US" sz="1800" dirty="0"/>
          </a:p>
        </p:txBody>
      </p:sp>
      <p:sp>
        <p:nvSpPr>
          <p:cNvPr id="13" name="Text 8"/>
          <p:cNvSpPr txBox="1"/>
          <p:nvPr/>
        </p:nvSpPr>
        <p:spPr>
          <a:xfrm>
            <a:off x="1508760" y="303580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Forensic examiners recover hidden, renamed and deleted evidence</a:t>
            </a:r>
            <a:endParaRPr lang="en-US" sz="1500" dirty="0"/>
          </a:p>
        </p:txBody>
      </p:sp>
      <p:sp>
        <p:nvSpPr>
          <p:cNvPr id="14" name="Shape 9"/>
          <p:cNvSpPr/>
          <p:nvPr/>
        </p:nvSpPr>
        <p:spPr>
          <a:xfrm>
            <a:off x="548640" y="3749040"/>
            <a:ext cx="731520" cy="731520"/>
          </a:xfrm>
          <a:prstGeom prst="ellipse">
            <a:avLst/>
          </a:prstGeom>
          <a:solidFill>
            <a:srgbClr val="C9A227"/>
          </a:solidFill>
          <a:ln/>
        </p:spPr>
      </p:sp>
      <p:pic>
        <p:nvPicPr>
          <p:cNvPr id="15" name="Image 2" descr="preencoded.png">    </p:cNvPr>
          <p:cNvPicPr>
            <a:picLocks noChangeAspect="1"/>
          </p:cNvPicPr>
          <p:nvPr/>
        </p:nvPicPr>
        <p:blipFill>
          <a:blip r:embed="rId3"/>
          <a:stretch>
            <a:fillRect/>
          </a:stretch>
        </p:blipFill>
        <p:spPr>
          <a:xfrm>
            <a:off x="731520" y="3931920"/>
            <a:ext cx="365760" cy="365760"/>
          </a:xfrm>
          <a:prstGeom prst="rect">
            <a:avLst/>
          </a:prstGeom>
        </p:spPr>
      </p:pic>
      <p:sp>
        <p:nvSpPr>
          <p:cNvPr id="16" name="Text 10"/>
          <p:cNvSpPr txBox="1"/>
          <p:nvPr/>
        </p:nvSpPr>
        <p:spPr>
          <a:xfrm>
            <a:off x="1508760" y="374904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Prove what changed</a:t>
            </a:r>
            <a:endParaRPr lang="en-US" sz="1800" dirty="0"/>
          </a:p>
        </p:txBody>
      </p:sp>
      <p:sp>
        <p:nvSpPr>
          <p:cNvPr id="17" name="Text 11"/>
          <p:cNvSpPr txBox="1"/>
          <p:nvPr/>
        </p:nvSpPr>
        <p:spPr>
          <a:xfrm>
            <a:off x="1508760" y="413308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Incident responders compare fingerprints and hunt persistence</a:t>
            </a:r>
            <a:endParaRPr lang="en-US" sz="1500" dirty="0"/>
          </a:p>
        </p:txBody>
      </p:sp>
      <p:sp>
        <p:nvSpPr>
          <p:cNvPr id="18" name="Shape 12"/>
          <p:cNvSpPr/>
          <p:nvPr/>
        </p:nvSpPr>
        <p:spPr>
          <a:xfrm>
            <a:off x="548640" y="4846320"/>
            <a:ext cx="731520" cy="731520"/>
          </a:xfrm>
          <a:prstGeom prst="ellipse">
            <a:avLst/>
          </a:prstGeom>
          <a:solidFill>
            <a:srgbClr val="17875A"/>
          </a:solidFill>
          <a:ln/>
        </p:spPr>
      </p:sp>
      <p:pic>
        <p:nvPicPr>
          <p:cNvPr id="19" name="Image 3" descr="preencoded.png">    </p:cNvPr>
          <p:cNvPicPr>
            <a:picLocks noChangeAspect="1"/>
          </p:cNvPicPr>
          <p:nvPr/>
        </p:nvPicPr>
        <p:blipFill>
          <a:blip r:embed="rId4"/>
          <a:stretch>
            <a:fillRect/>
          </a:stretch>
        </p:blipFill>
        <p:spPr>
          <a:xfrm>
            <a:off x="731520" y="5029200"/>
            <a:ext cx="365760" cy="365760"/>
          </a:xfrm>
          <a:prstGeom prst="rect">
            <a:avLst/>
          </a:prstGeom>
        </p:spPr>
      </p:pic>
      <p:sp>
        <p:nvSpPr>
          <p:cNvPr id="20" name="Text 13"/>
          <p:cNvSpPr txBox="1"/>
          <p:nvPr/>
        </p:nvSpPr>
        <p:spPr>
          <a:xfrm>
            <a:off x="1508760" y="484632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Tell the story</a:t>
            </a:r>
            <a:endParaRPr lang="en-US" sz="1800" dirty="0"/>
          </a:p>
        </p:txBody>
      </p:sp>
      <p:sp>
        <p:nvSpPr>
          <p:cNvPr id="21" name="Text 14"/>
          <p:cNvSpPr txBox="1"/>
          <p:nvPr/>
        </p:nvSpPr>
        <p:spPr>
          <a:xfrm>
            <a:off x="1508760" y="523036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Every investigation ends in a report someone else can follow</a:t>
            </a:r>
            <a:endParaRPr lang="en-US" sz="1500" dirty="0"/>
          </a:p>
        </p:txBody>
      </p:sp>
      <p:sp>
        <p:nvSpPr>
          <p:cNvPr id="22" name="Shape 15"/>
          <p:cNvSpPr/>
          <p:nvPr/>
        </p:nvSpPr>
        <p:spPr>
          <a:xfrm>
            <a:off x="7406640" y="1554480"/>
            <a:ext cx="4233672" cy="4343400"/>
          </a:xfrm>
          <a:prstGeom prst="roundRect">
            <a:avLst>
              <a:gd name="adj" fmla="val 2160"/>
            </a:avLst>
          </a:prstGeom>
          <a:solidFill>
            <a:srgbClr val="F1F5FB"/>
          </a:solidFill>
          <a:ln/>
        </p:spPr>
      </p:sp>
      <p:sp>
        <p:nvSpPr>
          <p:cNvPr id="23" name="Text 16"/>
          <p:cNvSpPr txBox="1"/>
          <p:nvPr/>
        </p:nvSpPr>
        <p:spPr>
          <a:xfrm>
            <a:off x="7726680" y="1783080"/>
            <a:ext cx="36576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4" name="Text 17"/>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had your biggest Took time?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What would you check first after a break-in?</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What metadata might your own photos give away?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How would you stop the Mission 5 attack next time?</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Keep climbing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55</a:t>
            </a:r>
            <a:endParaRPr lang="en-US" sz="1000" dirty="0"/>
          </a:p>
        </p:txBody>
      </p:sp>
      <p:sp>
        <p:nvSpPr>
          <p:cNvPr id="6" name="Shape 3"/>
          <p:cNvSpPr/>
          <p:nvPr/>
        </p:nvSpPr>
        <p:spPr>
          <a:xfrm>
            <a:off x="548640" y="1554480"/>
            <a:ext cx="3566160" cy="3017520"/>
          </a:xfrm>
          <a:prstGeom prst="roundRect">
            <a:avLst>
              <a:gd name="adj" fmla="val 3030"/>
            </a:avLst>
          </a:prstGeom>
          <a:solidFill>
            <a:srgbClr val="F1F5FB"/>
          </a:solidFill>
          <a:ln/>
        </p:spPr>
      </p:sp>
      <p:sp>
        <p:nvSpPr>
          <p:cNvPr id="7" name="Text 4"/>
          <p:cNvSpPr txBox="1"/>
          <p:nvPr/>
        </p:nvSpPr>
        <p:spPr>
          <a:xfrm>
            <a:off x="822960" y="1783080"/>
            <a:ext cx="3108960" cy="457200"/>
          </a:xfrm>
          <a:prstGeom prst="rect">
            <a:avLst/>
          </a:prstGeom>
          <a:noFill/>
          <a:ln/>
        </p:spPr>
        <p:txBody>
          <a:bodyPr wrap="square" lIns="0" tIns="0" rIns="0" bIns="0" rtlCol="0" anchor="t"/>
          <a:lstStyle/>
          <a:p>
            <a:pPr indent="0" marL="0">
              <a:buNone/>
            </a:pPr>
            <a:r>
              <a:rPr lang="en-US" sz="2000" b="1" dirty="0">
                <a:solidFill>
                  <a:srgbClr val="2459D8"/>
                </a:solidFill>
                <a:latin typeface="Arial" pitchFamily="34" charset="0"/>
                <a:ea typeface="Arial" pitchFamily="34" charset="-122"/>
                <a:cs typeface="Arial" pitchFamily="34" charset="-120"/>
              </a:rPr>
              <a:t>Next: CyberQuest</a:t>
            </a:r>
            <a:endParaRPr lang="en-US" sz="2000" dirty="0"/>
          </a:p>
        </p:txBody>
      </p:sp>
      <p:sp>
        <p:nvSpPr>
          <p:cNvPr id="8" name="Text 5"/>
          <p:cNvSpPr txBox="1"/>
          <p:nvPr/>
        </p:nvSpPr>
        <p:spPr>
          <a:xfrm>
            <a:off x="822960"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[CyberQuest Academy link]</a:t>
            </a:r>
            <a:endParaRPr lang="en-US" sz="1300" dirty="0"/>
          </a:p>
        </p:txBody>
      </p:sp>
      <p:sp>
        <p:nvSpPr>
          <p:cNvPr id="9" name="Text 6"/>
          <p:cNvSpPr txBox="1"/>
          <p:nvPr/>
        </p:nvSpPr>
        <p:spPr>
          <a:xfrm>
            <a:off x="822960"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More CTFs, live scoreboards and harder missions are waiting for you there.</a:t>
            </a:r>
            <a:endParaRPr lang="en-US" sz="1600" dirty="0"/>
          </a:p>
        </p:txBody>
      </p:sp>
      <p:sp>
        <p:nvSpPr>
          <p:cNvPr id="10" name="Shape 7"/>
          <p:cNvSpPr/>
          <p:nvPr/>
        </p:nvSpPr>
        <p:spPr>
          <a:xfrm>
            <a:off x="4306824" y="1554480"/>
            <a:ext cx="3566160" cy="3017520"/>
          </a:xfrm>
          <a:prstGeom prst="roundRect">
            <a:avLst>
              <a:gd name="adj" fmla="val 3030"/>
            </a:avLst>
          </a:prstGeom>
          <a:solidFill>
            <a:srgbClr val="F1F5FB"/>
          </a:solidFill>
          <a:ln/>
        </p:spPr>
      </p:sp>
      <p:sp>
        <p:nvSpPr>
          <p:cNvPr id="11" name="Text 8"/>
          <p:cNvSpPr txBox="1"/>
          <p:nvPr/>
        </p:nvSpPr>
        <p:spPr>
          <a:xfrm>
            <a:off x="4581144" y="1783080"/>
            <a:ext cx="3108960" cy="457200"/>
          </a:xfrm>
          <a:prstGeom prst="rect">
            <a:avLst/>
          </a:prstGeom>
          <a:noFill/>
          <a:ln/>
        </p:spPr>
        <p:txBody>
          <a:bodyPr wrap="square" lIns="0" tIns="0" rIns="0" bIns="0" rtlCol="0" anchor="t"/>
          <a:lstStyle/>
          <a:p>
            <a:pPr indent="0" marL="0">
              <a:buNone/>
            </a:pPr>
            <a:r>
              <a:rPr lang="en-US" sz="2000" b="1" dirty="0">
                <a:solidFill>
                  <a:srgbClr val="7448D4"/>
                </a:solidFill>
                <a:latin typeface="Arial" pitchFamily="34" charset="0"/>
                <a:ea typeface="Arial" pitchFamily="34" charset="-122"/>
                <a:cs typeface="Arial" pitchFamily="34" charset="-120"/>
              </a:rPr>
              <a:t>Replay the CTF</a:t>
            </a:r>
            <a:endParaRPr lang="en-US" sz="2000" dirty="0"/>
          </a:p>
        </p:txBody>
      </p:sp>
      <p:sp>
        <p:nvSpPr>
          <p:cNvPr id="12" name="Text 9"/>
          <p:cNvSpPr txBox="1"/>
          <p:nvPr/>
        </p:nvSpPr>
        <p:spPr>
          <a:xfrm>
            <a:off x="4581144"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[your CTF link]/forensics/</a:t>
            </a:r>
            <a:endParaRPr lang="en-US" sz="1300" dirty="0"/>
          </a:p>
        </p:txBody>
      </p:sp>
      <p:sp>
        <p:nvSpPr>
          <p:cNvPr id="13" name="Text 10"/>
          <p:cNvSpPr txBox="1"/>
          <p:nvPr/>
        </p:nvSpPr>
        <p:spPr>
          <a:xfrm>
            <a:off x="4581144"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Works at home. New evidence and flags on every replay. Beat your time.</a:t>
            </a:r>
            <a:endParaRPr lang="en-US" sz="1600" dirty="0"/>
          </a:p>
        </p:txBody>
      </p:sp>
      <p:sp>
        <p:nvSpPr>
          <p:cNvPr id="14" name="Shape 11"/>
          <p:cNvSpPr/>
          <p:nvPr/>
        </p:nvSpPr>
        <p:spPr>
          <a:xfrm>
            <a:off x="8065008" y="1554480"/>
            <a:ext cx="3566160" cy="3017520"/>
          </a:xfrm>
          <a:prstGeom prst="roundRect">
            <a:avLst>
              <a:gd name="adj" fmla="val 3030"/>
            </a:avLst>
          </a:prstGeom>
          <a:solidFill>
            <a:srgbClr val="F1F5FB"/>
          </a:solidFill>
          <a:ln/>
        </p:spPr>
      </p:sp>
      <p:sp>
        <p:nvSpPr>
          <p:cNvPr id="15" name="Text 12"/>
          <p:cNvSpPr txBox="1"/>
          <p:nvPr/>
        </p:nvSpPr>
        <p:spPr>
          <a:xfrm>
            <a:off x="8339328" y="1783080"/>
            <a:ext cx="3108960" cy="457200"/>
          </a:xfrm>
          <a:prstGeom prst="rect">
            <a:avLst/>
          </a:prstGeom>
          <a:noFill/>
          <a:ln/>
        </p:spPr>
        <p:txBody>
          <a:bodyPr wrap="square" lIns="0" tIns="0" rIns="0" bIns="0" rtlCol="0" anchor="t"/>
          <a:lstStyle/>
          <a:p>
            <a:pPr indent="0" marL="0">
              <a:buNone/>
            </a:pPr>
            <a:r>
              <a:rPr lang="en-US" sz="2000" b="1" dirty="0">
                <a:solidFill>
                  <a:srgbClr val="D1416B"/>
                </a:solidFill>
                <a:latin typeface="Arial" pitchFamily="34" charset="0"/>
                <a:ea typeface="Arial" pitchFamily="34" charset="-122"/>
                <a:cs typeface="Arial" pitchFamily="34" charset="-120"/>
              </a:rPr>
              <a:t>Try Wireshark</a:t>
            </a:r>
            <a:endParaRPr lang="en-US" sz="2000" dirty="0"/>
          </a:p>
        </p:txBody>
      </p:sp>
      <p:sp>
        <p:nvSpPr>
          <p:cNvPr id="16" name="Text 13"/>
          <p:cNvSpPr txBox="1"/>
          <p:nvPr/>
        </p:nvSpPr>
        <p:spPr>
          <a:xfrm>
            <a:off x="8339328"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wireshark.org</a:t>
            </a:r>
            <a:endParaRPr lang="en-US" sz="1300" dirty="0"/>
          </a:p>
        </p:txBody>
      </p:sp>
      <p:sp>
        <p:nvSpPr>
          <p:cNvPr id="17" name="Text 14"/>
          <p:cNvSpPr txBox="1"/>
          <p:nvPr/>
        </p:nvSpPr>
        <p:spPr>
          <a:xfrm>
            <a:off x="8339328"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Free. Watch your own computer's traffic and spot the DNS and HTTPS packets.</a:t>
            </a:r>
            <a:endParaRPr lang="en-US" sz="1600" dirty="0"/>
          </a:p>
        </p:txBody>
      </p:sp>
      <p:sp>
        <p:nvSpPr>
          <p:cNvPr id="18" name="Shape 15"/>
          <p:cNvSpPr/>
          <p:nvPr/>
        </p:nvSpPr>
        <p:spPr>
          <a:xfrm>
            <a:off x="548640" y="4846320"/>
            <a:ext cx="11094415" cy="1051560"/>
          </a:xfrm>
          <a:prstGeom prst="roundRect">
            <a:avLst>
              <a:gd name="adj" fmla="val 8696"/>
            </a:avLst>
          </a:prstGeom>
          <a:solidFill>
            <a:srgbClr val="0E1726"/>
          </a:solidFill>
          <a:ln/>
          <a:effectLst>
            <a:outerShdw sx="100000" sy="100000" kx="0" ky="0" algn="bl" rotWithShape="0" blurRad="127000" dist="38100" dir="5400000">
              <a:srgbClr val="12213A">
                <a:alpha val="22000"/>
              </a:srgbClr>
            </a:outerShdw>
          </a:effectLst>
        </p:spPr>
      </p:sp>
      <p:sp>
        <p:nvSpPr>
          <p:cNvPr id="19" name="Shape 16"/>
          <p:cNvSpPr/>
          <p:nvPr/>
        </p:nvSpPr>
        <p:spPr>
          <a:xfrm>
            <a:off x="749808" y="5001768"/>
            <a:ext cx="118872" cy="118872"/>
          </a:xfrm>
          <a:prstGeom prst="ellipse">
            <a:avLst/>
          </a:prstGeom>
          <a:solidFill>
            <a:srgbClr val="E5534B"/>
          </a:solidFill>
          <a:ln/>
        </p:spPr>
      </p:sp>
      <p:sp>
        <p:nvSpPr>
          <p:cNvPr id="20" name="Shape 17"/>
          <p:cNvSpPr/>
          <p:nvPr/>
        </p:nvSpPr>
        <p:spPr>
          <a:xfrm>
            <a:off x="950976" y="5001768"/>
            <a:ext cx="118872" cy="118872"/>
          </a:xfrm>
          <a:prstGeom prst="ellipse">
            <a:avLst/>
          </a:prstGeom>
          <a:solidFill>
            <a:srgbClr val="F5A623"/>
          </a:solidFill>
          <a:ln/>
        </p:spPr>
      </p:sp>
      <p:sp>
        <p:nvSpPr>
          <p:cNvPr id="21" name="Shape 18"/>
          <p:cNvSpPr/>
          <p:nvPr/>
        </p:nvSpPr>
        <p:spPr>
          <a:xfrm>
            <a:off x="1152144" y="5001768"/>
            <a:ext cx="118872" cy="118872"/>
          </a:xfrm>
          <a:prstGeom prst="ellipse">
            <a:avLst/>
          </a:prstGeom>
          <a:solidFill>
            <a:srgbClr val="46D39A"/>
          </a:solidFill>
          <a:ln/>
        </p:spPr>
      </p:sp>
      <p:sp>
        <p:nvSpPr>
          <p:cNvPr id="22" name="Text 19"/>
          <p:cNvSpPr txBox="1"/>
          <p:nvPr/>
        </p:nvSpPr>
        <p:spPr>
          <a:xfrm>
            <a:off x="822960" y="5303520"/>
            <a:ext cx="10545775" cy="457200"/>
          </a:xfrm>
          <a:prstGeom prst="rect">
            <a:avLst/>
          </a:prstGeom>
          <a:noFill/>
          <a:ln/>
        </p:spPr>
        <p:txBody>
          <a:bodyPr wrap="square" lIns="0" tIns="0" rIns="0" bIns="0" rtlCol="0" anchor="t"/>
          <a:lstStyle/>
          <a:p>
            <a:pPr indent="0" marL="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700" b="1" dirty="0">
                <a:solidFill>
                  <a:srgbClr val="FFFFFF"/>
                </a:solidFill>
                <a:latin typeface="Courier New" pitchFamily="34" charset="0"/>
                <a:ea typeface="Courier New" pitchFamily="34" charset="-122"/>
                <a:cs typeface="Courier New" pitchFamily="34" charset="-120"/>
              </a:rPr>
              <a:t>echo "Case closed. Thanks for playing."</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how the Forensics CTF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56</a:t>
            </a:r>
            <a:endParaRPr lang="en-US" sz="1000" dirty="0"/>
          </a:p>
        </p:txBody>
      </p:sp>
      <p:sp>
        <p:nvSpPr>
          <p:cNvPr id="6" name="Shape 3"/>
          <p:cNvSpPr/>
          <p:nvPr/>
        </p:nvSpPr>
        <p:spPr>
          <a:xfrm>
            <a:off x="548640" y="1554480"/>
            <a:ext cx="3566160" cy="3063240"/>
          </a:xfrm>
          <a:prstGeom prst="roundRect">
            <a:avLst>
              <a:gd name="adj" fmla="val 2985"/>
            </a:avLst>
          </a:prstGeom>
          <a:solidFill>
            <a:srgbClr val="F1F5FB"/>
          </a:solidFill>
          <a:ln/>
        </p:spPr>
      </p:sp>
      <p:sp>
        <p:nvSpPr>
          <p:cNvPr id="7" name="Shape 4"/>
          <p:cNvSpPr/>
          <p:nvPr/>
        </p:nvSpPr>
        <p:spPr>
          <a:xfrm>
            <a:off x="822960" y="1783080"/>
            <a:ext cx="868680" cy="868680"/>
          </a:xfrm>
          <a:prstGeom prst="ellipse">
            <a:avLst/>
          </a:prstGeom>
          <a:solidFill>
            <a:srgbClr val="2A9FD6"/>
          </a:solidFill>
          <a:ln/>
        </p:spPr>
      </p:sp>
      <p:pic>
        <p:nvPicPr>
          <p:cNvPr id="8" name="Image 0" descr="preencoded.png">    </p:cNvPr>
          <p:cNvPicPr>
            <a:picLocks noChangeAspect="1"/>
          </p:cNvPicPr>
          <p:nvPr/>
        </p:nvPicPr>
        <p:blipFill>
          <a:blip r:embed="rId1"/>
          <a:stretch>
            <a:fillRect/>
          </a:stretch>
        </p:blipFill>
        <p:spPr>
          <a:xfrm>
            <a:off x="1040130" y="2000250"/>
            <a:ext cx="434340" cy="434340"/>
          </a:xfrm>
          <a:prstGeom prst="rect">
            <a:avLst/>
          </a:prstGeom>
        </p:spPr>
      </p:pic>
      <p:sp>
        <p:nvSpPr>
          <p:cNvPr id="9" name="Text 5"/>
          <p:cNvSpPr txBox="1"/>
          <p:nvPr/>
        </p:nvSpPr>
        <p:spPr>
          <a:xfrm>
            <a:off x="822960"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A real terminal</a:t>
            </a:r>
            <a:endParaRPr lang="en-US" sz="2200" dirty="0"/>
          </a:p>
        </p:txBody>
      </p:sp>
      <p:sp>
        <p:nvSpPr>
          <p:cNvPr id="10" name="Text 6"/>
          <p:cNvSpPr txBox="1"/>
          <p:nvPr/>
        </p:nvSpPr>
        <p:spPr>
          <a:xfrm>
            <a:off x="822960"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Linux in the browser, with standard forensics tools.</a:t>
            </a:r>
            <a:endParaRPr lang="en-US" sz="1600" dirty="0"/>
          </a:p>
        </p:txBody>
      </p:sp>
      <p:sp>
        <p:nvSpPr>
          <p:cNvPr id="11" name="Shape 7"/>
          <p:cNvSpPr/>
          <p:nvPr/>
        </p:nvSpPr>
        <p:spPr>
          <a:xfrm>
            <a:off x="4306824" y="1554480"/>
            <a:ext cx="3566160" cy="3063240"/>
          </a:xfrm>
          <a:prstGeom prst="roundRect">
            <a:avLst>
              <a:gd name="adj" fmla="val 2985"/>
            </a:avLst>
          </a:prstGeom>
          <a:solidFill>
            <a:srgbClr val="F1F5FB"/>
          </a:solidFill>
          <a:ln/>
        </p:spPr>
      </p:sp>
      <p:sp>
        <p:nvSpPr>
          <p:cNvPr id="12" name="Shape 8"/>
          <p:cNvSpPr/>
          <p:nvPr/>
        </p:nvSpPr>
        <p:spPr>
          <a:xfrm>
            <a:off x="4581144" y="1783080"/>
            <a:ext cx="868680" cy="868680"/>
          </a:xfrm>
          <a:prstGeom prst="ellipse">
            <a:avLst/>
          </a:prstGeom>
          <a:solidFill>
            <a:srgbClr val="7448D4"/>
          </a:solidFill>
          <a:ln/>
        </p:spPr>
      </p:sp>
      <p:pic>
        <p:nvPicPr>
          <p:cNvPr id="13" name="Image 1" descr="preencoded.png">    </p:cNvPr>
          <p:cNvPicPr>
            <a:picLocks noChangeAspect="1"/>
          </p:cNvPicPr>
          <p:nvPr/>
        </p:nvPicPr>
        <p:blipFill>
          <a:blip r:embed="rId2"/>
          <a:stretch>
            <a:fillRect/>
          </a:stretch>
        </p:blipFill>
        <p:spPr>
          <a:xfrm>
            <a:off x="4798314" y="2000250"/>
            <a:ext cx="434340" cy="434340"/>
          </a:xfrm>
          <a:prstGeom prst="rect">
            <a:avLst/>
          </a:prstGeom>
        </p:spPr>
      </p:pic>
      <p:sp>
        <p:nvSpPr>
          <p:cNvPr id="14" name="Text 9"/>
          <p:cNvSpPr txBox="1"/>
          <p:nvPr/>
        </p:nvSpPr>
        <p:spPr>
          <a:xfrm>
            <a:off x="4581144"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Fresh evidence</a:t>
            </a:r>
            <a:endParaRPr lang="en-US" sz="2200" dirty="0"/>
          </a:p>
        </p:txBody>
      </p:sp>
      <p:sp>
        <p:nvSpPr>
          <p:cNvPr id="15" name="Text 10"/>
          <p:cNvSpPr txBox="1"/>
          <p:nvPr/>
        </p:nvSpPr>
        <p:spPr>
          <a:xfrm>
            <a:off x="4581144"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Random times, IPs, users, files and flags. No answer file.</a:t>
            </a:r>
            <a:endParaRPr lang="en-US" sz="1600" dirty="0"/>
          </a:p>
        </p:txBody>
      </p:sp>
      <p:sp>
        <p:nvSpPr>
          <p:cNvPr id="16" name="Shape 11"/>
          <p:cNvSpPr/>
          <p:nvPr/>
        </p:nvSpPr>
        <p:spPr>
          <a:xfrm>
            <a:off x="8065008" y="1554480"/>
            <a:ext cx="3566160" cy="3063240"/>
          </a:xfrm>
          <a:prstGeom prst="roundRect">
            <a:avLst>
              <a:gd name="adj" fmla="val 2985"/>
            </a:avLst>
          </a:prstGeom>
          <a:solidFill>
            <a:srgbClr val="F1F5FB"/>
          </a:solidFill>
          <a:ln/>
        </p:spPr>
      </p:sp>
      <p:sp>
        <p:nvSpPr>
          <p:cNvPr id="17" name="Shape 12"/>
          <p:cNvSpPr/>
          <p:nvPr/>
        </p:nvSpPr>
        <p:spPr>
          <a:xfrm>
            <a:off x="8339328" y="1783080"/>
            <a:ext cx="868680" cy="868680"/>
          </a:xfrm>
          <a:prstGeom prst="ellipse">
            <a:avLst/>
          </a:prstGeom>
          <a:solidFill>
            <a:srgbClr val="D1416B"/>
          </a:solidFill>
          <a:ln/>
        </p:spPr>
      </p:sp>
      <p:pic>
        <p:nvPicPr>
          <p:cNvPr id="18" name="Image 2" descr="preencoded.png">    </p:cNvPr>
          <p:cNvPicPr>
            <a:picLocks noChangeAspect="1"/>
          </p:cNvPicPr>
          <p:nvPr/>
        </p:nvPicPr>
        <p:blipFill>
          <a:blip r:embed="rId3"/>
          <a:stretch>
            <a:fillRect/>
          </a:stretch>
        </p:blipFill>
        <p:spPr>
          <a:xfrm>
            <a:off x="8556498" y="2000250"/>
            <a:ext cx="434340" cy="434340"/>
          </a:xfrm>
          <a:prstGeom prst="rect">
            <a:avLst/>
          </a:prstGeom>
        </p:spPr>
      </p:pic>
      <p:sp>
        <p:nvSpPr>
          <p:cNvPr id="19" name="Text 13"/>
          <p:cNvSpPr txBox="1"/>
          <p:nvPr/>
        </p:nvSpPr>
        <p:spPr>
          <a:xfrm>
            <a:off x="8339328"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20" name="Text 14"/>
          <p:cNvSpPr txBox="1"/>
          <p:nvPr/>
        </p:nvSpPr>
        <p:spPr>
          <a:xfrm>
            <a:off x="8339328"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One link: your Pages address + /forensics/. No accounts.</a:t>
            </a:r>
            <a:endParaRPr lang="en-US" sz="1600" dirty="0"/>
          </a:p>
        </p:txBody>
      </p:sp>
      <p:sp>
        <p:nvSpPr>
          <p:cNvPr id="21" name="Text 15"/>
          <p:cNvSpPr txBox="1"/>
          <p:nvPr/>
        </p:nvSpPr>
        <p:spPr>
          <a:xfrm>
            <a:off x="548640" y="4892040"/>
            <a:ext cx="2743200" cy="320040"/>
          </a:xfrm>
          <a:prstGeom prst="rect">
            <a:avLst/>
          </a:prstGeom>
          <a:noFill/>
          <a:ln/>
        </p:spPr>
        <p:txBody>
          <a:bodyPr wrap="square" lIns="0" tIns="0" rIns="0" bIns="0" rtlCol="0" anchor="t"/>
          <a:lstStyle/>
          <a:p>
            <a:pPr indent="0" marL="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2" name="Shape 16"/>
          <p:cNvSpPr/>
          <p:nvPr/>
        </p:nvSpPr>
        <p:spPr>
          <a:xfrm>
            <a:off x="548640" y="5303520"/>
            <a:ext cx="1499616" cy="347472"/>
          </a:xfrm>
          <a:prstGeom prst="roundRect">
            <a:avLst>
              <a:gd name="adj" fmla="val 50000"/>
            </a:avLst>
          </a:prstGeom>
          <a:solidFill>
            <a:srgbClr val="E4EAF3"/>
          </a:solidFill>
          <a:ln/>
        </p:spPr>
      </p:sp>
      <p:sp>
        <p:nvSpPr>
          <p:cNvPr id="23" name="Text 17"/>
          <p:cNvSpPr txBox="1"/>
          <p:nvPr/>
        </p:nvSpPr>
        <p:spPr>
          <a:xfrm>
            <a:off x="548640" y="5303520"/>
            <a:ext cx="1499616" cy="347472"/>
          </a:xfrm>
          <a:prstGeom prst="rect">
            <a:avLst/>
          </a:prstGeom>
          <a:noFill/>
          <a:ln/>
        </p:spPr>
        <p:txBody>
          <a:bodyPr wrap="square" lIns="0" tIns="0" rIns="0" bIns="0" rtlCol="0" anchor="ctr"/>
          <a:lstStyle/>
          <a:p>
            <a:pPr algn="ctr" indent="0" marL="0">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4" name="Text 18"/>
          <p:cNvSpPr txBox="1"/>
          <p:nvPr/>
        </p:nvSpPr>
        <p:spPr>
          <a:xfrm>
            <a:off x="2048256"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5" name="Shape 19"/>
          <p:cNvSpPr/>
          <p:nvPr/>
        </p:nvSpPr>
        <p:spPr>
          <a:xfrm>
            <a:off x="2212848" y="5303520"/>
            <a:ext cx="2542032" cy="347472"/>
          </a:xfrm>
          <a:prstGeom prst="roundRect">
            <a:avLst>
              <a:gd name="adj" fmla="val 50000"/>
            </a:avLst>
          </a:prstGeom>
          <a:solidFill>
            <a:srgbClr val="2459D8"/>
          </a:solidFill>
          <a:ln/>
        </p:spPr>
      </p:sp>
      <p:sp>
        <p:nvSpPr>
          <p:cNvPr id="26" name="Text 20"/>
          <p:cNvSpPr txBox="1"/>
          <p:nvPr/>
        </p:nvSpPr>
        <p:spPr>
          <a:xfrm>
            <a:off x="2212848" y="5303520"/>
            <a:ext cx="254203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v86: a PC in WebAssembly</a:t>
            </a:r>
            <a:endParaRPr lang="en-US" sz="1250" dirty="0"/>
          </a:p>
        </p:txBody>
      </p:sp>
      <p:sp>
        <p:nvSpPr>
          <p:cNvPr id="27" name="Text 21"/>
          <p:cNvSpPr txBox="1"/>
          <p:nvPr/>
        </p:nvSpPr>
        <p:spPr>
          <a:xfrm>
            <a:off x="4754880"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8" name="Shape 22"/>
          <p:cNvSpPr/>
          <p:nvPr/>
        </p:nvSpPr>
        <p:spPr>
          <a:xfrm>
            <a:off x="4919472" y="5303520"/>
            <a:ext cx="1760220" cy="347472"/>
          </a:xfrm>
          <a:prstGeom prst="roundRect">
            <a:avLst>
              <a:gd name="adj" fmla="val 50000"/>
            </a:avLst>
          </a:prstGeom>
          <a:solidFill>
            <a:srgbClr val="7448D4"/>
          </a:solidFill>
          <a:ln/>
        </p:spPr>
      </p:sp>
      <p:sp>
        <p:nvSpPr>
          <p:cNvPr id="29" name="Text 23"/>
          <p:cNvSpPr txBox="1"/>
          <p:nvPr/>
        </p:nvSpPr>
        <p:spPr>
          <a:xfrm>
            <a:off x="4919472" y="5303520"/>
            <a:ext cx="1760220"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Linux + BusyBox</a:t>
            </a:r>
            <a:endParaRPr lang="en-US" sz="1250" dirty="0"/>
          </a:p>
        </p:txBody>
      </p:sp>
      <p:sp>
        <p:nvSpPr>
          <p:cNvPr id="30" name="Text 24"/>
          <p:cNvSpPr txBox="1"/>
          <p:nvPr/>
        </p:nvSpPr>
        <p:spPr>
          <a:xfrm>
            <a:off x="6679692"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1" name="Shape 25"/>
          <p:cNvSpPr/>
          <p:nvPr/>
        </p:nvSpPr>
        <p:spPr>
          <a:xfrm>
            <a:off x="6844284" y="5303520"/>
            <a:ext cx="1760220" cy="347472"/>
          </a:xfrm>
          <a:prstGeom prst="roundRect">
            <a:avLst>
              <a:gd name="adj" fmla="val 50000"/>
            </a:avLst>
          </a:prstGeom>
          <a:solidFill>
            <a:srgbClr val="D1416B"/>
          </a:solidFill>
          <a:ln/>
        </p:spPr>
      </p:sp>
      <p:sp>
        <p:nvSpPr>
          <p:cNvPr id="32" name="Text 26"/>
          <p:cNvSpPr txBox="1"/>
          <p:nvPr/>
        </p:nvSpPr>
        <p:spPr>
          <a:xfrm>
            <a:off x="6844284" y="5303520"/>
            <a:ext cx="1760220"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filetype helper</a:t>
            </a:r>
            <a:endParaRPr lang="en-US" sz="1250" dirty="0"/>
          </a:p>
        </p:txBody>
      </p:sp>
      <p:sp>
        <p:nvSpPr>
          <p:cNvPr id="33" name="Text 27"/>
          <p:cNvSpPr txBox="1"/>
          <p:nvPr/>
        </p:nvSpPr>
        <p:spPr>
          <a:xfrm>
            <a:off x="8604504"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4" name="Shape 28"/>
          <p:cNvSpPr/>
          <p:nvPr/>
        </p:nvSpPr>
        <p:spPr>
          <a:xfrm>
            <a:off x="8769096" y="5303520"/>
            <a:ext cx="1586484" cy="347472"/>
          </a:xfrm>
          <a:prstGeom prst="roundRect">
            <a:avLst>
              <a:gd name="adj" fmla="val 50000"/>
            </a:avLst>
          </a:prstGeom>
          <a:solidFill>
            <a:srgbClr val="F5A623"/>
          </a:solidFill>
          <a:ln/>
        </p:spPr>
      </p:sp>
      <p:sp>
        <p:nvSpPr>
          <p:cNvPr id="35" name="Text 29"/>
          <p:cNvSpPr txBox="1"/>
          <p:nvPr/>
        </p:nvSpPr>
        <p:spPr>
          <a:xfrm>
            <a:off x="8769096" y="5303520"/>
            <a:ext cx="1586484" cy="347472"/>
          </a:xfrm>
          <a:prstGeom prst="rect">
            <a:avLst/>
          </a:prstGeom>
          <a:noFill/>
          <a:ln/>
        </p:spPr>
        <p:txBody>
          <a:bodyPr wrap="square" lIns="0" tIns="0" rIns="0" bIns="0" rtlCol="0" anchor="ctr"/>
          <a:lstStyle/>
          <a:p>
            <a:pPr algn="ctr" indent="0" marL="0">
              <a:buNone/>
            </a:pPr>
            <a:r>
              <a:rPr lang="en-US" sz="1250" b="1" dirty="0">
                <a:solidFill>
                  <a:srgbClr val="12213A"/>
                </a:solidFill>
                <a:latin typeface="Calibri" pitchFamily="34" charset="0"/>
                <a:ea typeface="Calibri" pitchFamily="34" charset="-122"/>
                <a:cs typeface="Calibri" pitchFamily="34" charset="-120"/>
              </a:rPr>
              <a:t>Your 10 clues</a:t>
            </a:r>
            <a:endParaRPr lang="en-US" sz="1250" dirty="0"/>
          </a:p>
        </p:txBody>
      </p:sp>
      <p:sp>
        <p:nvSpPr>
          <p:cNvPr id="36" name="Text 30"/>
          <p:cNvSpPr txBox="1"/>
          <p:nvPr/>
        </p:nvSpPr>
        <p:spPr>
          <a:xfrm>
            <a:off x="548640" y="5852160"/>
            <a:ext cx="1051560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Source: public/forensics/ (page) and guest-forensics/ (missions, tools, Linux image).</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open the Forensics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57</a:t>
            </a:r>
            <a:endParaRPr lang="en-US" sz="1000" dirty="0"/>
          </a:p>
        </p:txBody>
      </p:sp>
      <p:sp>
        <p:nvSpPr>
          <p:cNvPr id="6" name="Shape 3"/>
          <p:cNvSpPr/>
          <p:nvPr/>
        </p:nvSpPr>
        <p:spPr>
          <a:xfrm>
            <a:off x="548640" y="1691640"/>
            <a:ext cx="457200" cy="457200"/>
          </a:xfrm>
          <a:prstGeom prst="ellipse">
            <a:avLst/>
          </a:prstGeom>
          <a:solidFill>
            <a:srgbClr val="2459D8"/>
          </a:solidFill>
          <a:ln/>
        </p:spPr>
      </p:sp>
      <p:sp>
        <p:nvSpPr>
          <p:cNvPr id="7" name="Text 4"/>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6420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Open Chrome </a:t>
            </a:r>
            <a:pPr indent="0" marL="0">
              <a:buNone/>
            </a:pP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9" name="Shape 6"/>
          <p:cNvSpPr/>
          <p:nvPr/>
        </p:nvSpPr>
        <p:spPr>
          <a:xfrm>
            <a:off x="548640" y="2697480"/>
            <a:ext cx="457200" cy="457200"/>
          </a:xfrm>
          <a:prstGeom prst="ellipse">
            <a:avLst/>
          </a:prstGeom>
          <a:solidFill>
            <a:srgbClr val="2459D8"/>
          </a:solidFill>
          <a:ln/>
        </p:spPr>
      </p:sp>
      <p:sp>
        <p:nvSpPr>
          <p:cNvPr id="10" name="Text 7"/>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67004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Watch it boot. </a:t>
            </a:r>
            <a:pPr indent="0" marL="0">
              <a:buNone/>
            </a:pPr>
            <a:r>
              <a:rPr lang="en-US" sz="1800" dirty="0">
                <a:solidFill>
                  <a:srgbClr val="12213A"/>
                </a:solidFill>
                <a:latin typeface="Calibri" pitchFamily="34" charset="0"/>
                <a:ea typeface="Calibri" pitchFamily="34" charset="-122"/>
                <a:cs typeface="Calibri" pitchFamily="34" charset="-120"/>
              </a:rPr>
              <a:t>The status says 'Ready' when Linux is up.</a:t>
            </a:r>
            <a:endParaRPr lang="en-US" sz="1800" dirty="0"/>
          </a:p>
        </p:txBody>
      </p:sp>
      <p:sp>
        <p:nvSpPr>
          <p:cNvPr id="12" name="Shape 9"/>
          <p:cNvSpPr/>
          <p:nvPr/>
        </p:nvSpPr>
        <p:spPr>
          <a:xfrm>
            <a:off x="548640" y="3703320"/>
            <a:ext cx="457200" cy="457200"/>
          </a:xfrm>
          <a:prstGeom prst="ellipse">
            <a:avLst/>
          </a:prstGeom>
          <a:solidFill>
            <a:srgbClr val="2459D8"/>
          </a:solidFill>
          <a:ln/>
        </p:spPr>
      </p:sp>
      <p:sp>
        <p:nvSpPr>
          <p:cNvPr id="13" name="Text 10"/>
          <p:cNvSpPr txBox="1"/>
          <p:nvPr/>
        </p:nvSpPr>
        <p:spPr>
          <a:xfrm>
            <a:off x="548640" y="3703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67588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Click inside the black terminal. </a:t>
            </a:r>
            <a:pPr indent="0" marL="0">
              <a:buNone/>
            </a:pPr>
            <a:r>
              <a:rPr lang="en-US" sz="1800" dirty="0">
                <a:solidFill>
                  <a:srgbClr val="12213A"/>
                </a:solidFill>
                <a:latin typeface="Calibri" pitchFamily="34" charset="0"/>
                <a:ea typeface="Calibri" pitchFamily="34" charset="-122"/>
                <a:cs typeface="Calibri" pitchFamily="34" charset="-120"/>
              </a:rPr>
              <a:t>A cursor should blink.</a:t>
            </a:r>
            <a:endParaRPr lang="en-US" sz="1800" dirty="0"/>
          </a:p>
        </p:txBody>
      </p:sp>
      <p:sp>
        <p:nvSpPr>
          <p:cNvPr id="15" name="Shape 12"/>
          <p:cNvSpPr/>
          <p:nvPr/>
        </p:nvSpPr>
        <p:spPr>
          <a:xfrm>
            <a:off x="548640" y="4709160"/>
            <a:ext cx="457200" cy="457200"/>
          </a:xfrm>
          <a:prstGeom prst="ellipse">
            <a:avLst/>
          </a:prstGeom>
          <a:solidFill>
            <a:srgbClr val="2459D8"/>
          </a:solidFill>
          <a:ln/>
        </p:spPr>
      </p:sp>
      <p:sp>
        <p:nvSpPr>
          <p:cNvPr id="16" name="Text 13"/>
          <p:cNvSpPr txBox="1"/>
          <p:nvPr/>
        </p:nvSpPr>
        <p:spPr>
          <a:xfrm>
            <a:off x="548640" y="4709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68172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Never reload the page. </a:t>
            </a:r>
            <a:pPr indent="0" marL="0">
              <a:buNone/>
            </a:pP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8" name="Shape 15"/>
          <p:cNvSpPr/>
          <p:nvPr/>
        </p:nvSpPr>
        <p:spPr>
          <a:xfrm>
            <a:off x="7040880" y="1554480"/>
            <a:ext cx="4599432" cy="2926080"/>
          </a:xfrm>
          <a:prstGeom prst="roundRect">
            <a:avLst>
              <a:gd name="adj" fmla="val 3750"/>
            </a:avLst>
          </a:prstGeom>
          <a:solidFill>
            <a:srgbClr val="0E1726"/>
          </a:solidFill>
          <a:ln/>
        </p:spPr>
      </p:sp>
      <p:sp>
        <p:nvSpPr>
          <p:cNvPr id="19" name="Text 16"/>
          <p:cNvSpPr txBox="1"/>
          <p:nvPr/>
        </p:nvSpPr>
        <p:spPr>
          <a:xfrm>
            <a:off x="7040880" y="1737360"/>
            <a:ext cx="4599432" cy="365760"/>
          </a:xfrm>
          <a:prstGeom prst="rect">
            <a:avLst/>
          </a:prstGeom>
          <a:noFill/>
          <a:ln/>
        </p:spPr>
        <p:txBody>
          <a:bodyPr wrap="square" lIns="0" tIns="0" rIns="0" bIns="0" rtlCol="0" anchor="ctr"/>
          <a:lstStyle/>
          <a:p>
            <a:pPr algn="ctr" indent="0" marL="0">
              <a:buNone/>
            </a:pPr>
            <a:r>
              <a:rPr lang="en-US" sz="1600" dirty="0">
                <a:solidFill>
                  <a:srgbClr val="B8C4D9"/>
                </a:solidFill>
                <a:latin typeface="Calibri" pitchFamily="34" charset="0"/>
                <a:ea typeface="Calibri" pitchFamily="34" charset="-122"/>
                <a:cs typeface="Calibri" pitchFamily="34" charset="-120"/>
              </a:rPr>
              <a:t>Forensics CTF address</a:t>
            </a:r>
            <a:endParaRPr lang="en-US" sz="1600" dirty="0"/>
          </a:p>
        </p:txBody>
      </p:sp>
      <p:sp>
        <p:nvSpPr>
          <p:cNvPr id="20" name="Shape 17"/>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sp>
      <p:sp>
        <p:nvSpPr>
          <p:cNvPr id="21" name="Text 18"/>
          <p:cNvSpPr txBox="1"/>
          <p:nvPr/>
        </p:nvSpPr>
        <p:spPr>
          <a:xfrm>
            <a:off x="7406640" y="2331720"/>
            <a:ext cx="3867912" cy="1371600"/>
          </a:xfrm>
          <a:prstGeom prst="rect">
            <a:avLst/>
          </a:prstGeom>
          <a:noFill/>
          <a:ln/>
        </p:spPr>
        <p:txBody>
          <a:bodyPr wrap="square" lIns="0" tIns="0" rIns="0" bIns="0" rtlCol="0" anchor="ctr"/>
          <a:lstStyle/>
          <a:p>
            <a:pPr algn="ctr" indent="0" marL="0">
              <a:buNone/>
            </a:pPr>
            <a:r>
              <a:rPr lang="en-US" sz="1700" b="1" dirty="0">
                <a:solidFill>
                  <a:srgbClr val="F5A623"/>
                </a:solidFill>
                <a:latin typeface="Courier New" pitchFamily="34" charset="0"/>
                <a:ea typeface="Courier New" pitchFamily="34" charset="-122"/>
                <a:cs typeface="Courier New" pitchFamily="34" charset="-120"/>
              </a:rPr>
              <a:t>your-group.gitlab.io/.../forensics/</a:t>
            </a:r>
            <a:endParaRPr lang="en-US" sz="1700" dirty="0"/>
          </a:p>
        </p:txBody>
      </p:sp>
      <p:sp>
        <p:nvSpPr>
          <p:cNvPr id="22" name="Text 19"/>
          <p:cNvSpPr txBox="1"/>
          <p:nvPr/>
        </p:nvSpPr>
        <p:spPr>
          <a:xfrm>
            <a:off x="7040880" y="3840480"/>
            <a:ext cx="4599432" cy="365760"/>
          </a:xfrm>
          <a:prstGeom prst="rect">
            <a:avLst/>
          </a:prstGeom>
          <a:noFill/>
          <a:ln/>
        </p:spPr>
        <p:txBody>
          <a:bodyPr wrap="square" lIns="0" tIns="0" rIns="0" bIns="0" rtlCol="0" anchor="ctr"/>
          <a:lstStyle/>
          <a:p>
            <a:pPr algn="ctr" indent="0" marL="0">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3" name="Shape 20"/>
          <p:cNvSpPr/>
          <p:nvPr/>
        </p:nvSpPr>
        <p:spPr>
          <a:xfrm>
            <a:off x="7040880" y="4709160"/>
            <a:ext cx="4599432" cy="1188720"/>
          </a:xfrm>
          <a:prstGeom prst="roundRect">
            <a:avLst>
              <a:gd name="adj" fmla="val 7692"/>
            </a:avLst>
          </a:prstGeom>
          <a:solidFill>
            <a:srgbClr val="FFF4DC"/>
          </a:solidFill>
          <a:ln/>
        </p:spPr>
      </p:sp>
      <p:sp>
        <p:nvSpPr>
          <p:cNvPr id="24" name="Text 21"/>
          <p:cNvSpPr txBox="1"/>
          <p:nvPr/>
        </p:nvSpPr>
        <p:spPr>
          <a:xfrm>
            <a:off x="7315200" y="4709160"/>
            <a:ext cx="4114800" cy="118872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Don't start yet! </a:t>
            </a:r>
            <a:pPr indent="0" marL="0">
              <a:buNone/>
            </a:pPr>
            <a:r>
              <a:rPr lang="en-US" sz="1500" dirty="0">
                <a:solidFill>
                  <a:srgbClr val="12213A"/>
                </a:solidFill>
                <a:latin typeface="Calibri" pitchFamily="34" charset="0"/>
                <a:ea typeface="Calibri" pitchFamily="34" charset="-122"/>
                <a:cs typeface="Calibri" pitchFamily="34" charset="-120"/>
              </a:rPr>
              <a:t>The clock waits for Mission 1. The warm-up is untimed, so explore freely.</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58</a:t>
            </a:r>
            <a:endParaRPr lang="en-US" sz="1000" dirty="0"/>
          </a:p>
        </p:txBody>
      </p:sp>
      <p:sp>
        <p:nvSpPr>
          <p:cNvPr id="6" name="Shape 3"/>
          <p:cNvSpPr/>
          <p:nvPr/>
        </p:nvSpPr>
        <p:spPr>
          <a:xfrm>
            <a:off x="548640" y="1325880"/>
            <a:ext cx="11094415" cy="329184"/>
          </a:xfrm>
          <a:prstGeom prst="rect">
            <a:avLst/>
          </a:prstGeom>
          <a:solidFill>
            <a:srgbClr val="F1F5FB"/>
          </a:solidFill>
          <a:ln/>
        </p:spPr>
      </p:sp>
      <p:sp>
        <p:nvSpPr>
          <p:cNvPr id="7" name="Shape 4"/>
          <p:cNvSpPr/>
          <p:nvPr/>
        </p:nvSpPr>
        <p:spPr>
          <a:xfrm>
            <a:off x="658368" y="1376172"/>
            <a:ext cx="228600" cy="228600"/>
          </a:xfrm>
          <a:prstGeom prst="ellipse">
            <a:avLst/>
          </a:prstGeom>
          <a:solidFill>
            <a:srgbClr val="56657E"/>
          </a:solidFill>
          <a:ln/>
        </p:spPr>
      </p:sp>
      <p:sp>
        <p:nvSpPr>
          <p:cNvPr id="8" name="Text 5"/>
          <p:cNvSpPr txBox="1"/>
          <p:nvPr/>
        </p:nvSpPr>
        <p:spPr>
          <a:xfrm>
            <a:off x="658368" y="137617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a:t>
            </a:r>
            <a:endParaRPr lang="en-US" sz="900" dirty="0"/>
          </a:p>
        </p:txBody>
      </p:sp>
      <p:sp>
        <p:nvSpPr>
          <p:cNvPr id="9" name="Text 6"/>
          <p:cNvSpPr txBox="1"/>
          <p:nvPr/>
        </p:nvSpPr>
        <p:spPr>
          <a:xfrm>
            <a:off x="1005840" y="132588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Warm-up</a:t>
            </a:r>
            <a:endParaRPr lang="en-US" sz="1200" dirty="0"/>
          </a:p>
        </p:txBody>
      </p:sp>
      <p:sp>
        <p:nvSpPr>
          <p:cNvPr id="10" name="Text 7"/>
          <p:cNvSpPr txBox="1"/>
          <p:nvPr/>
        </p:nvSpPr>
        <p:spPr>
          <a:xfrm>
            <a:off x="3200400" y="132588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cat orientation.txt;  submit the flag on its last line</a:t>
            </a:r>
            <a:endParaRPr lang="en-US" sz="950" dirty="0"/>
          </a:p>
        </p:txBody>
      </p:sp>
      <p:sp>
        <p:nvSpPr>
          <p:cNvPr id="11" name="Text 8"/>
          <p:cNvSpPr txBox="1"/>
          <p:nvPr/>
        </p:nvSpPr>
        <p:spPr>
          <a:xfrm>
            <a:off x="10241280" y="132588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Bonus · 50</a:t>
            </a:r>
            <a:endParaRPr lang="en-US" sz="1100" dirty="0"/>
          </a:p>
        </p:txBody>
      </p:sp>
      <p:sp>
        <p:nvSpPr>
          <p:cNvPr id="12" name="Shape 9"/>
          <p:cNvSpPr/>
          <p:nvPr/>
        </p:nvSpPr>
        <p:spPr>
          <a:xfrm>
            <a:off x="548640" y="1655064"/>
            <a:ext cx="11094415" cy="329184"/>
          </a:xfrm>
          <a:prstGeom prst="rect">
            <a:avLst/>
          </a:prstGeom>
          <a:solidFill>
            <a:srgbClr val="FFFFFF"/>
          </a:solidFill>
          <a:ln/>
        </p:spPr>
      </p:sp>
      <p:sp>
        <p:nvSpPr>
          <p:cNvPr id="13" name="Shape 10"/>
          <p:cNvSpPr/>
          <p:nvPr/>
        </p:nvSpPr>
        <p:spPr>
          <a:xfrm>
            <a:off x="658368" y="1705356"/>
            <a:ext cx="228600" cy="228600"/>
          </a:xfrm>
          <a:prstGeom prst="ellipse">
            <a:avLst/>
          </a:prstGeom>
          <a:solidFill>
            <a:srgbClr val="17875A"/>
          </a:solidFill>
          <a:ln/>
        </p:spPr>
      </p:sp>
      <p:sp>
        <p:nvSpPr>
          <p:cNvPr id="14" name="Text 11"/>
          <p:cNvSpPr txBox="1"/>
          <p:nvPr/>
        </p:nvSpPr>
        <p:spPr>
          <a:xfrm>
            <a:off x="658368" y="170535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2"/>
          <p:cNvSpPr txBox="1"/>
          <p:nvPr/>
        </p:nvSpPr>
        <p:spPr>
          <a:xfrm>
            <a:off x="1005840" y="165506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Case file</a:t>
            </a:r>
            <a:endParaRPr lang="en-US" sz="1200" dirty="0"/>
          </a:p>
        </p:txBody>
      </p:sp>
      <p:sp>
        <p:nvSpPr>
          <p:cNvPr id="16" name="Text 13"/>
          <p:cNvSpPr txBox="1"/>
          <p:nvPr/>
        </p:nvSpPr>
        <p:spPr>
          <a:xfrm>
            <a:off x="3200400" y="165506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~/mission1; ls -l evidence  (match the README time);  cat evidence/&lt;file&gt;</a:t>
            </a:r>
            <a:endParaRPr lang="en-US" sz="950" dirty="0"/>
          </a:p>
        </p:txBody>
      </p:sp>
      <p:sp>
        <p:nvSpPr>
          <p:cNvPr id="17" name="Text 14"/>
          <p:cNvSpPr txBox="1"/>
          <p:nvPr/>
        </p:nvSpPr>
        <p:spPr>
          <a:xfrm>
            <a:off x="10241280" y="165506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8" name="Shape 15"/>
          <p:cNvSpPr/>
          <p:nvPr/>
        </p:nvSpPr>
        <p:spPr>
          <a:xfrm>
            <a:off x="548640" y="1984248"/>
            <a:ext cx="11094415" cy="329184"/>
          </a:xfrm>
          <a:prstGeom prst="rect">
            <a:avLst/>
          </a:prstGeom>
          <a:solidFill>
            <a:srgbClr val="F1F5FB"/>
          </a:solidFill>
          <a:ln/>
        </p:spPr>
      </p:sp>
      <p:sp>
        <p:nvSpPr>
          <p:cNvPr id="19" name="Shape 16"/>
          <p:cNvSpPr/>
          <p:nvPr/>
        </p:nvSpPr>
        <p:spPr>
          <a:xfrm>
            <a:off x="658368" y="2034540"/>
            <a:ext cx="228600" cy="228600"/>
          </a:xfrm>
          <a:prstGeom prst="ellipse">
            <a:avLst/>
          </a:prstGeom>
          <a:solidFill>
            <a:srgbClr val="2A9FD6"/>
          </a:solidFill>
          <a:ln/>
        </p:spPr>
      </p:sp>
      <p:sp>
        <p:nvSpPr>
          <p:cNvPr id="20" name="Text 17"/>
          <p:cNvSpPr txBox="1"/>
          <p:nvPr/>
        </p:nvSpPr>
        <p:spPr>
          <a:xfrm>
            <a:off x="658368" y="203454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1" name="Text 18"/>
          <p:cNvSpPr txBox="1"/>
          <p:nvPr/>
        </p:nvSpPr>
        <p:spPr>
          <a:xfrm>
            <a:off x="1005840" y="1984248"/>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Say cheese</a:t>
            </a:r>
            <a:endParaRPr lang="en-US" sz="1200" dirty="0"/>
          </a:p>
        </p:txBody>
      </p:sp>
      <p:sp>
        <p:nvSpPr>
          <p:cNvPr id="22" name="Text 19"/>
          <p:cNvSpPr txBox="1"/>
          <p:nvPr/>
        </p:nvSpPr>
        <p:spPr>
          <a:xfrm>
            <a:off x="3200400" y="1984248"/>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strings ~/mission2/photo.jpg | grep Comment</a:t>
            </a:r>
            <a:endParaRPr lang="en-US" sz="950" dirty="0"/>
          </a:p>
        </p:txBody>
      </p:sp>
      <p:sp>
        <p:nvSpPr>
          <p:cNvPr id="23" name="Text 20"/>
          <p:cNvSpPr txBox="1"/>
          <p:nvPr/>
        </p:nvSpPr>
        <p:spPr>
          <a:xfrm>
            <a:off x="10241280" y="1984248"/>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4" name="Shape 21"/>
          <p:cNvSpPr/>
          <p:nvPr/>
        </p:nvSpPr>
        <p:spPr>
          <a:xfrm>
            <a:off x="548640" y="2313432"/>
            <a:ext cx="11094415" cy="329184"/>
          </a:xfrm>
          <a:prstGeom prst="rect">
            <a:avLst/>
          </a:prstGeom>
          <a:solidFill>
            <a:srgbClr val="FFFFFF"/>
          </a:solidFill>
          <a:ln/>
        </p:spPr>
      </p:sp>
      <p:sp>
        <p:nvSpPr>
          <p:cNvPr id="25" name="Shape 22"/>
          <p:cNvSpPr/>
          <p:nvPr/>
        </p:nvSpPr>
        <p:spPr>
          <a:xfrm>
            <a:off x="658368" y="2363724"/>
            <a:ext cx="228600" cy="228600"/>
          </a:xfrm>
          <a:prstGeom prst="ellipse">
            <a:avLst/>
          </a:prstGeom>
          <a:solidFill>
            <a:srgbClr val="2459D8"/>
          </a:solidFill>
          <a:ln/>
        </p:spPr>
      </p:sp>
      <p:sp>
        <p:nvSpPr>
          <p:cNvPr id="26" name="Text 23"/>
          <p:cNvSpPr txBox="1"/>
          <p:nvPr/>
        </p:nvSpPr>
        <p:spPr>
          <a:xfrm>
            <a:off x="658368" y="236372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7" name="Text 24"/>
          <p:cNvSpPr txBox="1"/>
          <p:nvPr/>
        </p:nvSpPr>
        <p:spPr>
          <a:xfrm>
            <a:off x="1005840" y="2313432"/>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Wrong label</a:t>
            </a:r>
            <a:endParaRPr lang="en-US" sz="1200" dirty="0"/>
          </a:p>
        </p:txBody>
      </p:sp>
      <p:sp>
        <p:nvSpPr>
          <p:cNvPr id="28" name="Text 25"/>
          <p:cNvSpPr txBox="1"/>
          <p:nvPr/>
        </p:nvSpPr>
        <p:spPr>
          <a:xfrm>
            <a:off x="3200400" y="2313432"/>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~/mission3; filetype photos/*;  zcat photos/&lt;the gzip one&gt;</a:t>
            </a:r>
            <a:endParaRPr lang="en-US" sz="950" dirty="0"/>
          </a:p>
        </p:txBody>
      </p:sp>
      <p:sp>
        <p:nvSpPr>
          <p:cNvPr id="29" name="Text 26"/>
          <p:cNvSpPr txBox="1"/>
          <p:nvPr/>
        </p:nvSpPr>
        <p:spPr>
          <a:xfrm>
            <a:off x="10241280" y="2313432"/>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30" name="Shape 27"/>
          <p:cNvSpPr/>
          <p:nvPr/>
        </p:nvSpPr>
        <p:spPr>
          <a:xfrm>
            <a:off x="548640" y="2642616"/>
            <a:ext cx="11094415" cy="329184"/>
          </a:xfrm>
          <a:prstGeom prst="rect">
            <a:avLst/>
          </a:prstGeom>
          <a:solidFill>
            <a:srgbClr val="F1F5FB"/>
          </a:solidFill>
          <a:ln/>
        </p:spPr>
      </p:sp>
      <p:sp>
        <p:nvSpPr>
          <p:cNvPr id="31" name="Shape 28"/>
          <p:cNvSpPr/>
          <p:nvPr/>
        </p:nvSpPr>
        <p:spPr>
          <a:xfrm>
            <a:off x="658368" y="2692908"/>
            <a:ext cx="228600" cy="228600"/>
          </a:xfrm>
          <a:prstGeom prst="ellipse">
            <a:avLst/>
          </a:prstGeom>
          <a:solidFill>
            <a:srgbClr val="7448D4"/>
          </a:solidFill>
          <a:ln/>
        </p:spPr>
      </p:sp>
      <p:sp>
        <p:nvSpPr>
          <p:cNvPr id="32" name="Text 29"/>
          <p:cNvSpPr txBox="1"/>
          <p:nvPr/>
        </p:nvSpPr>
        <p:spPr>
          <a:xfrm>
            <a:off x="658368" y="269290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3" name="Text 30"/>
          <p:cNvSpPr txBox="1"/>
          <p:nvPr/>
        </p:nvSpPr>
        <p:spPr>
          <a:xfrm>
            <a:off x="1005840" y="2642616"/>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Russian dolls</a:t>
            </a:r>
            <a:endParaRPr lang="en-US" sz="1200" dirty="0"/>
          </a:p>
        </p:txBody>
      </p:sp>
      <p:sp>
        <p:nvSpPr>
          <p:cNvPr id="34" name="Text 31"/>
          <p:cNvSpPr txBox="1"/>
          <p:nvPr/>
        </p:nvSpPr>
        <p:spPr>
          <a:xfrm>
            <a:off x="3200400" y="2642616"/>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~/mission4; tar -xzf evidence.tar.gz; tar -xf box; zcat inner</a:t>
            </a:r>
            <a:endParaRPr lang="en-US" sz="950" dirty="0"/>
          </a:p>
        </p:txBody>
      </p:sp>
      <p:sp>
        <p:nvSpPr>
          <p:cNvPr id="35" name="Text 32"/>
          <p:cNvSpPr txBox="1"/>
          <p:nvPr/>
        </p:nvSpPr>
        <p:spPr>
          <a:xfrm>
            <a:off x="10241280" y="2642616"/>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6" name="Shape 33"/>
          <p:cNvSpPr/>
          <p:nvPr/>
        </p:nvSpPr>
        <p:spPr>
          <a:xfrm>
            <a:off x="548640" y="2971800"/>
            <a:ext cx="11094415" cy="329184"/>
          </a:xfrm>
          <a:prstGeom prst="rect">
            <a:avLst/>
          </a:prstGeom>
          <a:solidFill>
            <a:srgbClr val="FFFFFF"/>
          </a:solidFill>
          <a:ln/>
        </p:spPr>
      </p:sp>
      <p:sp>
        <p:nvSpPr>
          <p:cNvPr id="37" name="Shape 34"/>
          <p:cNvSpPr/>
          <p:nvPr/>
        </p:nvSpPr>
        <p:spPr>
          <a:xfrm>
            <a:off x="658368" y="3022092"/>
            <a:ext cx="228600" cy="228600"/>
          </a:xfrm>
          <a:prstGeom prst="ellipse">
            <a:avLst/>
          </a:prstGeom>
          <a:solidFill>
            <a:srgbClr val="D1416B"/>
          </a:solidFill>
          <a:ln/>
        </p:spPr>
      </p:sp>
      <p:sp>
        <p:nvSpPr>
          <p:cNvPr id="38" name="Text 35"/>
          <p:cNvSpPr txBox="1"/>
          <p:nvPr/>
        </p:nvSpPr>
        <p:spPr>
          <a:xfrm>
            <a:off x="658368" y="302209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9" name="Text 36"/>
          <p:cNvSpPr txBox="1"/>
          <p:nvPr/>
        </p:nvSpPr>
        <p:spPr>
          <a:xfrm>
            <a:off x="1005840" y="297180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Log detective</a:t>
            </a:r>
            <a:endParaRPr lang="en-US" sz="1200" dirty="0"/>
          </a:p>
        </p:txBody>
      </p:sp>
      <p:sp>
        <p:nvSpPr>
          <p:cNvPr id="40" name="Text 37"/>
          <p:cNvSpPr txBox="1"/>
          <p:nvPr/>
        </p:nvSpPr>
        <p:spPr>
          <a:xfrm>
            <a:off x="3200400" y="297180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count Failed per IP (cut -f8 | sort | uniq -c);  grep Accepted auth.log | grep &lt;IP&gt;</a:t>
            </a:r>
            <a:endParaRPr lang="en-US" sz="950" dirty="0"/>
          </a:p>
        </p:txBody>
      </p:sp>
      <p:sp>
        <p:nvSpPr>
          <p:cNvPr id="41" name="Text 38"/>
          <p:cNvSpPr txBox="1"/>
          <p:nvPr/>
        </p:nvSpPr>
        <p:spPr>
          <a:xfrm>
            <a:off x="10241280" y="297180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2" name="Shape 39"/>
          <p:cNvSpPr/>
          <p:nvPr/>
        </p:nvSpPr>
        <p:spPr>
          <a:xfrm>
            <a:off x="548640" y="3300984"/>
            <a:ext cx="11094415" cy="329184"/>
          </a:xfrm>
          <a:prstGeom prst="rect">
            <a:avLst/>
          </a:prstGeom>
          <a:solidFill>
            <a:srgbClr val="F1F5FB"/>
          </a:solidFill>
          <a:ln/>
        </p:spPr>
      </p:sp>
      <p:sp>
        <p:nvSpPr>
          <p:cNvPr id="43" name="Shape 40"/>
          <p:cNvSpPr/>
          <p:nvPr/>
        </p:nvSpPr>
        <p:spPr>
          <a:xfrm>
            <a:off x="658368" y="3351276"/>
            <a:ext cx="228600" cy="228600"/>
          </a:xfrm>
          <a:prstGeom prst="ellipse">
            <a:avLst/>
          </a:prstGeom>
          <a:solidFill>
            <a:srgbClr val="E8820C"/>
          </a:solidFill>
          <a:ln/>
        </p:spPr>
      </p:sp>
      <p:sp>
        <p:nvSpPr>
          <p:cNvPr id="44" name="Text 41"/>
          <p:cNvSpPr txBox="1"/>
          <p:nvPr/>
        </p:nvSpPr>
        <p:spPr>
          <a:xfrm>
            <a:off x="658368" y="335127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5" name="Text 42"/>
          <p:cNvSpPr txBox="1"/>
          <p:nvPr/>
        </p:nvSpPr>
        <p:spPr>
          <a:xfrm>
            <a:off x="1005840" y="330098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Hidden tail</a:t>
            </a:r>
            <a:endParaRPr lang="en-US" sz="1200" dirty="0"/>
          </a:p>
        </p:txBody>
      </p:sp>
      <p:sp>
        <p:nvSpPr>
          <p:cNvPr id="46" name="Text 43"/>
          <p:cNvSpPr txBox="1"/>
          <p:nvPr/>
        </p:nvSpPr>
        <p:spPr>
          <a:xfrm>
            <a:off x="3200400" y="330098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strings ~/mission6/cat.jpg | tail -1 | base64 -d</a:t>
            </a:r>
            <a:endParaRPr lang="en-US" sz="950" dirty="0"/>
          </a:p>
        </p:txBody>
      </p:sp>
      <p:sp>
        <p:nvSpPr>
          <p:cNvPr id="47" name="Text 44"/>
          <p:cNvSpPr txBox="1"/>
          <p:nvPr/>
        </p:nvSpPr>
        <p:spPr>
          <a:xfrm>
            <a:off x="10241280" y="330098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8" name="Shape 45"/>
          <p:cNvSpPr/>
          <p:nvPr/>
        </p:nvSpPr>
        <p:spPr>
          <a:xfrm>
            <a:off x="548640" y="3630168"/>
            <a:ext cx="11094415" cy="329184"/>
          </a:xfrm>
          <a:prstGeom prst="rect">
            <a:avLst/>
          </a:prstGeom>
          <a:solidFill>
            <a:srgbClr val="FFFFFF"/>
          </a:solidFill>
          <a:ln/>
        </p:spPr>
      </p:sp>
      <p:sp>
        <p:nvSpPr>
          <p:cNvPr id="49" name="Shape 46"/>
          <p:cNvSpPr/>
          <p:nvPr/>
        </p:nvSpPr>
        <p:spPr>
          <a:xfrm>
            <a:off x="658368" y="3680460"/>
            <a:ext cx="228600" cy="228600"/>
          </a:xfrm>
          <a:prstGeom prst="ellipse">
            <a:avLst/>
          </a:prstGeom>
          <a:solidFill>
            <a:srgbClr val="C9A227"/>
          </a:solidFill>
          <a:ln/>
        </p:spPr>
      </p:sp>
      <p:sp>
        <p:nvSpPr>
          <p:cNvPr id="50" name="Text 47"/>
          <p:cNvSpPr txBox="1"/>
          <p:nvPr/>
        </p:nvSpPr>
        <p:spPr>
          <a:xfrm>
            <a:off x="658368" y="368046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51" name="Text 48"/>
          <p:cNvSpPr txBox="1"/>
          <p:nvPr/>
        </p:nvSpPr>
        <p:spPr>
          <a:xfrm>
            <a:off x="1005840" y="3630168"/>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Tampered</a:t>
            </a:r>
            <a:endParaRPr lang="en-US" sz="1200" dirty="0"/>
          </a:p>
        </p:txBody>
      </p:sp>
      <p:sp>
        <p:nvSpPr>
          <p:cNvPr id="52" name="Text 49"/>
          <p:cNvSpPr txBox="1"/>
          <p:nvPr/>
        </p:nvSpPr>
        <p:spPr>
          <a:xfrm>
            <a:off x="3200400" y="3630168"/>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~/mission7; sha256sum -c manifest.sha256 | grep FAILED;  strings bin/&lt;file&gt; | grep CYBA</a:t>
            </a:r>
            <a:endParaRPr lang="en-US" sz="950" dirty="0"/>
          </a:p>
        </p:txBody>
      </p:sp>
      <p:sp>
        <p:nvSpPr>
          <p:cNvPr id="53" name="Text 50"/>
          <p:cNvSpPr txBox="1"/>
          <p:nvPr/>
        </p:nvSpPr>
        <p:spPr>
          <a:xfrm>
            <a:off x="10241280" y="3630168"/>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54" name="Shape 51"/>
          <p:cNvSpPr/>
          <p:nvPr/>
        </p:nvSpPr>
        <p:spPr>
          <a:xfrm>
            <a:off x="548640" y="3959352"/>
            <a:ext cx="11094415" cy="329184"/>
          </a:xfrm>
          <a:prstGeom prst="rect">
            <a:avLst/>
          </a:prstGeom>
          <a:solidFill>
            <a:srgbClr val="F1F5FB"/>
          </a:solidFill>
          <a:ln/>
        </p:spPr>
      </p:sp>
      <p:sp>
        <p:nvSpPr>
          <p:cNvPr id="55" name="Shape 52"/>
          <p:cNvSpPr/>
          <p:nvPr/>
        </p:nvSpPr>
        <p:spPr>
          <a:xfrm>
            <a:off x="658368" y="4009644"/>
            <a:ext cx="228600" cy="228600"/>
          </a:xfrm>
          <a:prstGeom prst="ellipse">
            <a:avLst/>
          </a:prstGeom>
          <a:solidFill>
            <a:srgbClr val="0F9488"/>
          </a:solidFill>
          <a:ln/>
        </p:spPr>
      </p:sp>
      <p:sp>
        <p:nvSpPr>
          <p:cNvPr id="56" name="Text 53"/>
          <p:cNvSpPr txBox="1"/>
          <p:nvPr/>
        </p:nvSpPr>
        <p:spPr>
          <a:xfrm>
            <a:off x="658368" y="400964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57" name="Text 54"/>
          <p:cNvSpPr txBox="1"/>
          <p:nvPr/>
        </p:nvSpPr>
        <p:spPr>
          <a:xfrm>
            <a:off x="1005840" y="3959352"/>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Persistence</a:t>
            </a:r>
            <a:endParaRPr lang="en-US" sz="1200" dirty="0"/>
          </a:p>
        </p:txBody>
      </p:sp>
      <p:sp>
        <p:nvSpPr>
          <p:cNvPr id="58" name="Text 55"/>
          <p:cNvSpPr txBox="1"/>
          <p:nvPr/>
        </p:nvSpPr>
        <p:spPr>
          <a:xfrm>
            <a:off x="3200400" y="3959352"/>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cat cron/*;  cat var/.cache/.sys-update.sh;  echo &lt;PAYLOAD&gt; | base64 -d</a:t>
            </a:r>
            <a:endParaRPr lang="en-US" sz="950" dirty="0"/>
          </a:p>
        </p:txBody>
      </p:sp>
      <p:sp>
        <p:nvSpPr>
          <p:cNvPr id="59" name="Text 56"/>
          <p:cNvSpPr txBox="1"/>
          <p:nvPr/>
        </p:nvSpPr>
        <p:spPr>
          <a:xfrm>
            <a:off x="10241280" y="3959352"/>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0" name="Shape 57"/>
          <p:cNvSpPr/>
          <p:nvPr/>
        </p:nvSpPr>
        <p:spPr>
          <a:xfrm>
            <a:off x="548640" y="4288536"/>
            <a:ext cx="11094415" cy="329184"/>
          </a:xfrm>
          <a:prstGeom prst="rect">
            <a:avLst/>
          </a:prstGeom>
          <a:solidFill>
            <a:srgbClr val="FFFFFF"/>
          </a:solidFill>
          <a:ln/>
        </p:spPr>
      </p:sp>
      <p:sp>
        <p:nvSpPr>
          <p:cNvPr id="61" name="Shape 58"/>
          <p:cNvSpPr/>
          <p:nvPr/>
        </p:nvSpPr>
        <p:spPr>
          <a:xfrm>
            <a:off x="658368" y="4338828"/>
            <a:ext cx="228600" cy="228600"/>
          </a:xfrm>
          <a:prstGeom prst="ellipse">
            <a:avLst/>
          </a:prstGeom>
          <a:solidFill>
            <a:srgbClr val="5B6EE1"/>
          </a:solidFill>
          <a:ln/>
        </p:spPr>
      </p:sp>
      <p:sp>
        <p:nvSpPr>
          <p:cNvPr id="62" name="Text 59"/>
          <p:cNvSpPr txBox="1"/>
          <p:nvPr/>
        </p:nvSpPr>
        <p:spPr>
          <a:xfrm>
            <a:off x="658368" y="433882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63" name="Text 60"/>
          <p:cNvSpPr txBox="1"/>
          <p:nvPr/>
        </p:nvSpPr>
        <p:spPr>
          <a:xfrm>
            <a:off x="1005840" y="4288536"/>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Leaked in pieces</a:t>
            </a:r>
            <a:endParaRPr lang="en-US" sz="1200" dirty="0"/>
          </a:p>
        </p:txBody>
      </p:sp>
      <p:sp>
        <p:nvSpPr>
          <p:cNvPr id="64" name="Text 61"/>
          <p:cNvSpPr txBox="1"/>
          <p:nvPr/>
        </p:nvSpPr>
        <p:spPr>
          <a:xfrm>
            <a:off x="3200400" y="4288536"/>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grep seq= capture.txt | cut -d'?' -f2 | cut -d' ' -f1 | sort | cut -d= -f3 | tr -d '\n' | xxd -r -p</a:t>
            </a:r>
            <a:endParaRPr lang="en-US" sz="950" dirty="0"/>
          </a:p>
        </p:txBody>
      </p:sp>
      <p:sp>
        <p:nvSpPr>
          <p:cNvPr id="65" name="Text 62"/>
          <p:cNvSpPr txBox="1"/>
          <p:nvPr/>
        </p:nvSpPr>
        <p:spPr>
          <a:xfrm>
            <a:off x="10241280" y="4288536"/>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6" name="Shape 63"/>
          <p:cNvSpPr/>
          <p:nvPr/>
        </p:nvSpPr>
        <p:spPr>
          <a:xfrm>
            <a:off x="548640" y="4617720"/>
            <a:ext cx="11094415" cy="329184"/>
          </a:xfrm>
          <a:prstGeom prst="rect">
            <a:avLst/>
          </a:prstGeom>
          <a:solidFill>
            <a:srgbClr val="F1F5FB"/>
          </a:solidFill>
          <a:ln/>
        </p:spPr>
      </p:sp>
      <p:sp>
        <p:nvSpPr>
          <p:cNvPr id="67" name="Shape 64"/>
          <p:cNvSpPr/>
          <p:nvPr/>
        </p:nvSpPr>
        <p:spPr>
          <a:xfrm>
            <a:off x="658368" y="4668012"/>
            <a:ext cx="228600" cy="228600"/>
          </a:xfrm>
          <a:prstGeom prst="ellipse">
            <a:avLst/>
          </a:prstGeom>
          <a:solidFill>
            <a:srgbClr val="B4233F"/>
          </a:solidFill>
          <a:ln/>
        </p:spPr>
      </p:sp>
      <p:sp>
        <p:nvSpPr>
          <p:cNvPr id="68" name="Text 65"/>
          <p:cNvSpPr txBox="1"/>
          <p:nvPr/>
        </p:nvSpPr>
        <p:spPr>
          <a:xfrm>
            <a:off x="658368" y="466801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9" name="Text 66"/>
          <p:cNvSpPr txBox="1"/>
          <p:nvPr/>
        </p:nvSpPr>
        <p:spPr>
          <a:xfrm>
            <a:off x="1005840" y="461772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Case closed</a:t>
            </a:r>
            <a:endParaRPr lang="en-US" sz="1200" dirty="0"/>
          </a:p>
        </p:txBody>
      </p:sp>
      <p:sp>
        <p:nvSpPr>
          <p:cNvPr id="70" name="Text 67"/>
          <p:cNvSpPr txBox="1"/>
          <p:nvPr/>
        </p:nvSpPr>
        <p:spPr>
          <a:xfrm>
            <a:off x="3200400" y="461772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attacker IP as M5; Accepted line field 6 = user;  filetype homes/&lt;user&gt;/*;  zcat &lt;file&gt; | base64 -d</a:t>
            </a:r>
            <a:endParaRPr lang="en-US" sz="950" dirty="0"/>
          </a:p>
        </p:txBody>
      </p:sp>
      <p:sp>
        <p:nvSpPr>
          <p:cNvPr id="71" name="Text 68"/>
          <p:cNvSpPr txBox="1"/>
          <p:nvPr/>
        </p:nvSpPr>
        <p:spPr>
          <a:xfrm>
            <a:off x="10241280" y="461772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72" name="Shape 69"/>
          <p:cNvSpPr/>
          <p:nvPr/>
        </p:nvSpPr>
        <p:spPr>
          <a:xfrm>
            <a:off x="548640" y="4946904"/>
            <a:ext cx="11094415" cy="329184"/>
          </a:xfrm>
          <a:prstGeom prst="rect">
            <a:avLst/>
          </a:prstGeom>
          <a:solidFill>
            <a:srgbClr val="FFFFFF"/>
          </a:solidFill>
          <a:ln/>
        </p:spPr>
      </p:sp>
      <p:sp>
        <p:nvSpPr>
          <p:cNvPr id="73" name="Shape 70"/>
          <p:cNvSpPr/>
          <p:nvPr/>
        </p:nvSpPr>
        <p:spPr>
          <a:xfrm>
            <a:off x="658368" y="4997196"/>
            <a:ext cx="228600" cy="228600"/>
          </a:xfrm>
          <a:prstGeom prst="ellipse">
            <a:avLst/>
          </a:prstGeom>
          <a:solidFill>
            <a:srgbClr val="56657E"/>
          </a:solidFill>
          <a:ln/>
        </p:spPr>
      </p:sp>
      <p:sp>
        <p:nvSpPr>
          <p:cNvPr id="74" name="Text 71"/>
          <p:cNvSpPr txBox="1"/>
          <p:nvPr/>
        </p:nvSpPr>
        <p:spPr>
          <a:xfrm>
            <a:off x="658368" y="499719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5" name="Text 72"/>
          <p:cNvSpPr txBox="1"/>
          <p:nvPr/>
        </p:nvSpPr>
        <p:spPr>
          <a:xfrm>
            <a:off x="1005840" y="494690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Who did they try?</a:t>
            </a:r>
            <a:endParaRPr lang="en-US" sz="1200" dirty="0"/>
          </a:p>
        </p:txBody>
      </p:sp>
      <p:sp>
        <p:nvSpPr>
          <p:cNvPr id="76" name="Text 73"/>
          <p:cNvSpPr txBox="1"/>
          <p:nvPr/>
        </p:nvSpPr>
        <p:spPr>
          <a:xfrm>
            <a:off x="3200400" y="494690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grep &lt;IP&gt; ~/mission5/auth.log | cut -d' ' -f6 | sort | uniq -c</a:t>
            </a:r>
            <a:endParaRPr lang="en-US" sz="950" dirty="0"/>
          </a:p>
        </p:txBody>
      </p:sp>
      <p:sp>
        <p:nvSpPr>
          <p:cNvPr id="77" name="Text 74"/>
          <p:cNvSpPr txBox="1"/>
          <p:nvPr/>
        </p:nvSpPr>
        <p:spPr>
          <a:xfrm>
            <a:off x="10241280" y="494690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8" name="Shape 75"/>
          <p:cNvSpPr/>
          <p:nvPr/>
        </p:nvSpPr>
        <p:spPr>
          <a:xfrm>
            <a:off x="548640" y="5276088"/>
            <a:ext cx="11094415" cy="329184"/>
          </a:xfrm>
          <a:prstGeom prst="rect">
            <a:avLst/>
          </a:prstGeom>
          <a:solidFill>
            <a:srgbClr val="F1F5FB"/>
          </a:solidFill>
          <a:ln/>
        </p:spPr>
      </p:sp>
      <p:sp>
        <p:nvSpPr>
          <p:cNvPr id="79" name="Shape 76"/>
          <p:cNvSpPr/>
          <p:nvPr/>
        </p:nvSpPr>
        <p:spPr>
          <a:xfrm>
            <a:off x="658368" y="5326380"/>
            <a:ext cx="228600" cy="228600"/>
          </a:xfrm>
          <a:prstGeom prst="ellipse">
            <a:avLst/>
          </a:prstGeom>
          <a:solidFill>
            <a:srgbClr val="56657E"/>
          </a:solidFill>
          <a:ln/>
        </p:spPr>
      </p:sp>
      <p:sp>
        <p:nvSpPr>
          <p:cNvPr id="80" name="Text 77"/>
          <p:cNvSpPr txBox="1"/>
          <p:nvPr/>
        </p:nvSpPr>
        <p:spPr>
          <a:xfrm>
            <a:off x="658368" y="532638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1" name="Text 78"/>
          <p:cNvSpPr txBox="1"/>
          <p:nvPr/>
        </p:nvSpPr>
        <p:spPr>
          <a:xfrm>
            <a:off x="1005840" y="5276088"/>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Cron decoder</a:t>
            </a:r>
            <a:endParaRPr lang="en-US" sz="1200" dirty="0"/>
          </a:p>
        </p:txBody>
      </p:sp>
      <p:sp>
        <p:nvSpPr>
          <p:cNvPr id="82" name="Text 79"/>
          <p:cNvSpPr txBox="1"/>
          <p:nvPr/>
        </p:nvSpPr>
        <p:spPr>
          <a:xfrm>
            <a:off x="3200400" y="5276088"/>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0 2 * * * = 02:00 daily;  30 3 * * 0 = 03:30 Sundays</a:t>
            </a:r>
            <a:endParaRPr lang="en-US" sz="950" dirty="0"/>
          </a:p>
        </p:txBody>
      </p:sp>
      <p:sp>
        <p:nvSpPr>
          <p:cNvPr id="83" name="Text 80"/>
          <p:cNvSpPr txBox="1"/>
          <p:nvPr/>
        </p:nvSpPr>
        <p:spPr>
          <a:xfrm>
            <a:off x="10241280" y="5276088"/>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Forensics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59</a:t>
            </a:r>
            <a:endParaRPr lang="en-US" sz="1000" dirty="0"/>
          </a:p>
        </p:txBody>
      </p:sp>
      <p:sp>
        <p:nvSpPr>
          <p:cNvPr id="6" name="Shape 3"/>
          <p:cNvSpPr/>
          <p:nvPr/>
        </p:nvSpPr>
        <p:spPr>
          <a:xfrm>
            <a:off x="548640" y="1463040"/>
            <a:ext cx="5449824" cy="1005840"/>
          </a:xfrm>
          <a:prstGeom prst="roundRect">
            <a:avLst>
              <a:gd name="adj" fmla="val 9091"/>
            </a:avLst>
          </a:prstGeom>
          <a:solidFill>
            <a:srgbClr val="F1F5FB"/>
          </a:solidFill>
          <a:ln/>
        </p:spPr>
      </p:sp>
      <p:sp>
        <p:nvSpPr>
          <p:cNvPr id="7" name="Text 4"/>
          <p:cNvSpPr txBox="1"/>
          <p:nvPr/>
        </p:nvSpPr>
        <p:spPr>
          <a:xfrm>
            <a:off x="777240" y="1554480"/>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The terminal filled with garbage</a:t>
            </a:r>
            <a:endParaRPr lang="en-US" sz="1450" dirty="0"/>
          </a:p>
        </p:txBody>
      </p:sp>
      <p:sp>
        <p:nvSpPr>
          <p:cNvPr id="8" name="Text 5"/>
          <p:cNvSpPr txBox="1"/>
          <p:nvPr/>
        </p:nvSpPr>
        <p:spPr>
          <a:xfrm>
            <a:off x="777240" y="1874520"/>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Someone ran cat on a binary file. Type reset (or clear), then use strings instead.</a:t>
            </a:r>
            <a:endParaRPr lang="en-US" sz="1250" dirty="0"/>
          </a:p>
        </p:txBody>
      </p:sp>
      <p:sp>
        <p:nvSpPr>
          <p:cNvPr id="9" name="Shape 6"/>
          <p:cNvSpPr/>
          <p:nvPr/>
        </p:nvSpPr>
        <p:spPr>
          <a:xfrm>
            <a:off x="6190488" y="1463040"/>
            <a:ext cx="5449824" cy="1005840"/>
          </a:xfrm>
          <a:prstGeom prst="roundRect">
            <a:avLst>
              <a:gd name="adj" fmla="val 9091"/>
            </a:avLst>
          </a:prstGeom>
          <a:solidFill>
            <a:srgbClr val="F1F5FB"/>
          </a:solidFill>
          <a:ln/>
        </p:spPr>
      </p:sp>
      <p:sp>
        <p:nvSpPr>
          <p:cNvPr id="10" name="Text 7"/>
          <p:cNvSpPr txBox="1"/>
          <p:nvPr/>
        </p:nvSpPr>
        <p:spPr>
          <a:xfrm>
            <a:off x="6419088" y="1554480"/>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tar: can't open / invalid magic</a:t>
            </a:r>
            <a:endParaRPr lang="en-US" sz="1450" dirty="0"/>
          </a:p>
        </p:txBody>
      </p:sp>
      <p:sp>
        <p:nvSpPr>
          <p:cNvPr id="11" name="Text 8"/>
          <p:cNvSpPr txBox="1"/>
          <p:nvPr/>
        </p:nvSpPr>
        <p:spPr>
          <a:xfrm>
            <a:off x="6419088" y="1874520"/>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Check the name with ls, and the type with filetype. A plain tar needs -xf; a .tar.gz needs -xzf.</a:t>
            </a:r>
            <a:endParaRPr lang="en-US" sz="1250" dirty="0"/>
          </a:p>
        </p:txBody>
      </p:sp>
      <p:sp>
        <p:nvSpPr>
          <p:cNvPr id="12" name="Shape 9"/>
          <p:cNvSpPr/>
          <p:nvPr/>
        </p:nvSpPr>
        <p:spPr>
          <a:xfrm>
            <a:off x="548640" y="2596896"/>
            <a:ext cx="5449824" cy="1005840"/>
          </a:xfrm>
          <a:prstGeom prst="roundRect">
            <a:avLst>
              <a:gd name="adj" fmla="val 9091"/>
            </a:avLst>
          </a:prstGeom>
          <a:solidFill>
            <a:srgbClr val="F1F5FB"/>
          </a:solidFill>
          <a:ln/>
        </p:spPr>
      </p:sp>
      <p:sp>
        <p:nvSpPr>
          <p:cNvPr id="13" name="Text 10"/>
          <p:cNvSpPr txBox="1"/>
          <p:nvPr/>
        </p:nvSpPr>
        <p:spPr>
          <a:xfrm>
            <a:off x="777240" y="2688336"/>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zcat: invalid magic</a:t>
            </a:r>
            <a:endParaRPr lang="en-US" sz="1450" dirty="0"/>
          </a:p>
        </p:txBody>
      </p:sp>
      <p:sp>
        <p:nvSpPr>
          <p:cNvPr id="14" name="Text 11"/>
          <p:cNvSpPr txBox="1"/>
          <p:nvPr/>
        </p:nvSpPr>
        <p:spPr>
          <a:xfrm>
            <a:off x="777240" y="3008376"/>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That file isn't gzip. Run filetype on it first.</a:t>
            </a:r>
            <a:endParaRPr lang="en-US" sz="1250" dirty="0"/>
          </a:p>
        </p:txBody>
      </p:sp>
      <p:sp>
        <p:nvSpPr>
          <p:cNvPr id="15" name="Shape 12"/>
          <p:cNvSpPr/>
          <p:nvPr/>
        </p:nvSpPr>
        <p:spPr>
          <a:xfrm>
            <a:off x="6190488" y="2596896"/>
            <a:ext cx="5449824" cy="1005840"/>
          </a:xfrm>
          <a:prstGeom prst="roundRect">
            <a:avLst>
              <a:gd name="adj" fmla="val 9091"/>
            </a:avLst>
          </a:prstGeom>
          <a:solidFill>
            <a:srgbClr val="F1F5FB"/>
          </a:solidFill>
          <a:ln/>
        </p:spPr>
      </p:sp>
      <p:sp>
        <p:nvSpPr>
          <p:cNvPr id="16" name="Text 13"/>
          <p:cNvSpPr txBox="1"/>
          <p:nvPr/>
        </p:nvSpPr>
        <p:spPr>
          <a:xfrm>
            <a:off x="6419088" y="2688336"/>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Mission 1: no file at that time</a:t>
            </a:r>
            <a:endParaRPr lang="en-US" sz="1450" dirty="0"/>
          </a:p>
        </p:txBody>
      </p:sp>
      <p:sp>
        <p:nvSpPr>
          <p:cNvPr id="17" name="Text 14"/>
          <p:cNvSpPr txBox="1"/>
          <p:nvPr/>
        </p:nvSpPr>
        <p:spPr>
          <a:xfrm>
            <a:off x="6419088" y="3008376"/>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Use the time on the first line of README.txt in mission1, and ls -l evidence (not ls).</a:t>
            </a:r>
            <a:endParaRPr lang="en-US" sz="1250" dirty="0"/>
          </a:p>
        </p:txBody>
      </p:sp>
      <p:sp>
        <p:nvSpPr>
          <p:cNvPr id="18" name="Shape 15"/>
          <p:cNvSpPr/>
          <p:nvPr/>
        </p:nvSpPr>
        <p:spPr>
          <a:xfrm>
            <a:off x="548640" y="3730752"/>
            <a:ext cx="5449824" cy="1005840"/>
          </a:xfrm>
          <a:prstGeom prst="roundRect">
            <a:avLst>
              <a:gd name="adj" fmla="val 9091"/>
            </a:avLst>
          </a:prstGeom>
          <a:solidFill>
            <a:srgbClr val="F1F5FB"/>
          </a:solidFill>
          <a:ln/>
        </p:spPr>
      </p:sp>
      <p:sp>
        <p:nvSpPr>
          <p:cNvPr id="19" name="Text 16"/>
          <p:cNvSpPr txBox="1"/>
          <p:nvPr/>
        </p:nvSpPr>
        <p:spPr>
          <a:xfrm>
            <a:off x="777240" y="3822192"/>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The cut pipeline prints nothing</a:t>
            </a:r>
            <a:endParaRPr lang="en-US" sz="1450" dirty="0"/>
          </a:p>
        </p:txBody>
      </p:sp>
      <p:sp>
        <p:nvSpPr>
          <p:cNvPr id="20" name="Text 17"/>
          <p:cNvSpPr txBox="1"/>
          <p:nvPr/>
        </p:nvSpPr>
        <p:spPr>
          <a:xfrm>
            <a:off x="777240" y="4142232"/>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Build it one step at a time. Quote the delimiter: cut -d' ' -f8 and cut -d'?' -f2.</a:t>
            </a:r>
            <a:endParaRPr lang="en-US" sz="1250" dirty="0"/>
          </a:p>
        </p:txBody>
      </p:sp>
      <p:sp>
        <p:nvSpPr>
          <p:cNvPr id="21" name="Shape 18"/>
          <p:cNvSpPr/>
          <p:nvPr/>
        </p:nvSpPr>
        <p:spPr>
          <a:xfrm>
            <a:off x="6190488" y="3730752"/>
            <a:ext cx="5449824" cy="1005840"/>
          </a:xfrm>
          <a:prstGeom prst="roundRect">
            <a:avLst>
              <a:gd name="adj" fmla="val 9091"/>
            </a:avLst>
          </a:prstGeom>
          <a:solidFill>
            <a:srgbClr val="F1F5FB"/>
          </a:solidFill>
          <a:ln/>
        </p:spPr>
      </p:sp>
      <p:sp>
        <p:nvSpPr>
          <p:cNvPr id="22" name="Text 19"/>
          <p:cNvSpPr txBox="1"/>
          <p:nvPr/>
        </p:nvSpPr>
        <p:spPr>
          <a:xfrm>
            <a:off x="6419088" y="3822192"/>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 doesn't work</a:t>
            </a:r>
            <a:endParaRPr lang="en-US" sz="1450" dirty="0"/>
          </a:p>
        </p:txBody>
      </p:sp>
      <p:sp>
        <p:nvSpPr>
          <p:cNvPr id="23" name="Text 20"/>
          <p:cNvSpPr txBox="1"/>
          <p:nvPr/>
        </p:nvSpPr>
        <p:spPr>
          <a:xfrm>
            <a:off x="6419088" y="4142232"/>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Lite mode has no $(...). Type the IP or file name by hand.</a:t>
            </a:r>
            <a:endParaRPr lang="en-US" sz="1250" dirty="0"/>
          </a:p>
        </p:txBody>
      </p:sp>
      <p:sp>
        <p:nvSpPr>
          <p:cNvPr id="24" name="Shape 21"/>
          <p:cNvSpPr/>
          <p:nvPr/>
        </p:nvSpPr>
        <p:spPr>
          <a:xfrm>
            <a:off x="548640" y="4864608"/>
            <a:ext cx="5449824" cy="1005840"/>
          </a:xfrm>
          <a:prstGeom prst="roundRect">
            <a:avLst>
              <a:gd name="adj" fmla="val 9091"/>
            </a:avLst>
          </a:prstGeom>
          <a:solidFill>
            <a:srgbClr val="F1F5FB"/>
          </a:solidFill>
          <a:ln/>
        </p:spPr>
      </p:sp>
      <p:sp>
        <p:nvSpPr>
          <p:cNvPr id="25" name="Text 22"/>
          <p:cNvSpPr txBox="1"/>
          <p:nvPr/>
        </p:nvSpPr>
        <p:spPr>
          <a:xfrm>
            <a:off x="777240" y="4956048"/>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26" name="Text 23"/>
          <p:cNvSpPr txBox="1"/>
          <p:nvPr/>
        </p:nvSpPr>
        <p:spPr>
          <a:xfrm>
            <a:off x="777240" y="5276088"/>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Copy the whole flag, CYBA{ to }. Decoy flags exist: Missions 1, 5 and 7 need the right one.</a:t>
            </a:r>
            <a:endParaRPr lang="en-US" sz="1250" dirty="0"/>
          </a:p>
        </p:txBody>
      </p:sp>
      <p:sp>
        <p:nvSpPr>
          <p:cNvPr id="27" name="Shape 24"/>
          <p:cNvSpPr/>
          <p:nvPr/>
        </p:nvSpPr>
        <p:spPr>
          <a:xfrm>
            <a:off x="6190488" y="4864608"/>
            <a:ext cx="5449824" cy="1005840"/>
          </a:xfrm>
          <a:prstGeom prst="roundRect">
            <a:avLst>
              <a:gd name="adj" fmla="val 9091"/>
            </a:avLst>
          </a:prstGeom>
          <a:solidFill>
            <a:srgbClr val="F1F5FB"/>
          </a:solidFill>
          <a:ln/>
        </p:spPr>
      </p:sp>
      <p:sp>
        <p:nvSpPr>
          <p:cNvPr id="28" name="Text 25"/>
          <p:cNvSpPr txBox="1"/>
          <p:nvPr/>
        </p:nvSpPr>
        <p:spPr>
          <a:xfrm>
            <a:off x="6419088" y="4956048"/>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Page was reloaded by accident</a:t>
            </a:r>
            <a:endParaRPr lang="en-US" sz="1450" dirty="0"/>
          </a:p>
        </p:txBody>
      </p:sp>
      <p:sp>
        <p:nvSpPr>
          <p:cNvPr id="29" name="Text 26"/>
          <p:cNvSpPr txBox="1"/>
          <p:nvPr/>
        </p:nvSpPr>
        <p:spPr>
          <a:xfrm>
            <a:off x="6419088" y="5276088"/>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New evidence, new flags; points and clock reset. The second run is fast.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Forensics CTF: read the evidence, then compete</dc:title>
  <dc:subject>PptxGenJS Presentation</dc:subject>
  <dc:creator>CyberQuest Academy</dc:creator>
  <cp:lastModifiedBy>CyberQuest Academy</cp:lastModifiedBy>
  <cp:revision>1</cp:revision>
  <dcterms:created xsi:type="dcterms:W3CDTF">2026-10-09T11:43:31Z</dcterms:created>
  <dcterms:modified xsi:type="dcterms:W3CDTF">2026-10-09T11:43:31Z</dcterms:modified>
</cp:coreProperties>
</file>