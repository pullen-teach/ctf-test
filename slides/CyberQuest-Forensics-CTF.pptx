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170db7-ceb0-e1b0-4bd9-b4fe1d59b24e}">
          <p14:sldIdLst>
            <p14:sldId id="257"/>
            <p14:sldId id="258"/>
            <p14:sldId id="259"/>
          </p14:sldIdLst>
        </p14:section>
        <p14:section name="Default-1" id="{963f65ca-aaf3-b1d2-a8ed-9caa1587dc5d}">
          <p14:sldIdLst>
            <p14:sldId id="256"/>
          </p14:sldIdLst>
        </p14:section>
        <p14:section name="Part 1 · Forensics fundamentals" id="{bbe51e86-421b-0f1b-aa71-229bee92c04a}">
          <p14:sldIdLst>
            <p14:sldId id="261"/>
            <p14:sldId id="262"/>
            <p14:sldId id="263"/>
            <p14:sldId id="264"/>
            <p14:sldId id="265"/>
          </p14:sldIdLst>
        </p14:section>
        <p14:section name="Default-2" id="{af5364dc-6231-f3a3-a5f2-7ff631eac073}">
          <p14:sldIdLst>
            <p14:sldId id="260"/>
          </p14:sldIdLst>
        </p14:section>
        <p14:section name="Part 2 · Investigator's toolkit" id="{b28cd047-475e-b442-96ff-dda50d451ce7}">
          <p14:sldIdLst>
            <p14:sldId id="267"/>
            <p14:sldId id="268"/>
            <p14:sldId id="269"/>
            <p14:sldId id="270"/>
            <p14:sldId id="271"/>
            <p14:sldId id="272"/>
            <p14:sldId id="273"/>
            <p14:sldId id="274"/>
            <p14:sldId id="275"/>
            <p14:sldId id="276"/>
            <p14:sldId id="277"/>
          </p14:sldIdLst>
        </p14:section>
        <p14:section name="Default-3" id="{c3ab9227-b307-d227-8ca6-81cfb8cec572}">
          <p14:sldIdLst>
            <p14:sldId id="266"/>
          </p14:sldIdLst>
        </p14:section>
        <p14:section name="Part 3 · Capture a flag" id="{cc2c35fb-4509-f5d2-20c5-7d73b864674e}">
          <p14:sldIdLst>
            <p14:sldId id="279"/>
            <p14:sldId id="280"/>
            <p14:sldId id="281"/>
          </p14:sldIdLst>
        </p14:section>
        <p14:section name="Default-4" id="{7b777864-416c-df7b-1eb7-e685a0322123}">
          <p14:sldIdLst>
            <p14:sldId id="278"/>
          </p14:sldIdLst>
        </p14:section>
        <p14:section name="Guided application" id="{37d88a39-938b-c729-9525-ca14b53b68bb}">
          <p14:sldIdLst>
            <p14:sldId id="282"/>
            <p14:sldId id="283"/>
            <p14:sldId id="284"/>
            <p14:sldId id="285"/>
          </p14:sldIdLst>
        </p14:section>
        <p14:section name="Independent application" id="{77a9af64-86f6-9914-0f29-cc938cd23ec6}">
          <p14:sldIdLst>
            <p14:sldId id="286"/>
          </p14:sldIdLst>
        </p14:section>
        <p14:section name="Part 3 · Wrapping up" id="{a30b6ac6-5d00-9d2b-79dd-896441591564}">
          <p14:sldIdLst>
            <p14:sldId id="287"/>
          </p14:sldIdLst>
        </p14:section>
        <p14:section name="Part 4 · Reflection" id="{d117a2f9-9cf4-5be4-8b60-3291aa49fa77}">
          <p14:sldIdLst>
            <p14:sldId id="289"/>
            <p14:sldId id="290"/>
            <p14:sldId id="291"/>
            <p14:sldId id="292"/>
          </p14:sldIdLst>
        </p14:section>
        <p14:section name="Default-5" id="{f2a664d7-2472-9878-7dad-28c73f762977}">
          <p14:sldIdLst>
            <p14:sldId id="288"/>
          </p14:sldIdLst>
        </p14:section>
        <p14:section name="Mentor appendix" id="{f75bc438-54a4-dd5d-79aa-fcc3beb1e5ae}">
          <p14:sldIdLst>
            <p14:sldId id="293"/>
            <p14:sldId id="294"/>
            <p14:sldId id="295"/>
            <p14:sldId id="296"/>
            <p14:sldId id="297"/>
            <p14:sldId id="298"/>
          </p14:sldIdLst>
        </p14:section>
        <p14:section name="Mentor appendix · Mission bank" id="{a1382cf8-37d8-2f9c-9533-9ddd6c913446}">
          <p14:sldIdLst>
            <p14:sldId id="299"/>
            <p14:sldId id="300"/>
            <p14:sldId id="301"/>
            <p14:sldId id="302"/>
            <p14:sldId id="303"/>
            <p14:sldId id="304"/>
            <p14:sldId id="305"/>
            <p14:sldId id="306"/>
            <p14:sldId id="307"/>
            <p14:sldId id="308"/>
            <p14:sldId id="309"/>
            <p14:sldId id="310"/>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and introduce the mentors: name, what you do, and one sentence on a time you had to figure out what happened on a computer.
Promise: 'In this session you will learn how investigators read digital evidence, and crack a case the way security pros do.'
Before class: the Forensics CTF link is written on the 'Open the CTF' slide in the appendix, and you have watched it reach 'Ready' on a student Chromebook on the school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up front. This is a focused, mentor-led session, not a race to crack every clue. The goal is that students understand how investigators think - and most of all, how a CTF actually works: read the case, spot what the evidence is, try a tool, read the output, adjust, capture a flag.
Say it plainly: 'You will NOT crack every clue today, and that is fine. We want you to understand the process and feel confident starting a case on your own.'
The arc below is the shape of the session: short theory, one flag found together, then you start one yourself, then we reflect.
The deal: every clue can be found with a short command and a good question. Asking before you type is how everyone learns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capture the flag, or CTF, is a puzzle competition for security skills. In a forensics CTF, every flag is hidden in evidence: a log, a file that lies about its type, an archive, a picture, a memory dump.
Read the flag anatomy out loud. Every flag starts with CYBA and has its secret between curly braces.
Stress permission: investigating evidence you were given is the job. Snooping on systems that aren't yours is a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idea in the session. Every CTF challenge - and a lot of real security work - runs this same loop. Say it out loud, and point back to it every time the room gets stuck.
The key move is the middle of the loop: you TRY a tool, CHECK what came back, and ADJUST. Nobody is expected to know the answer up front. Reading the output and adjusting IS the skill. For forensics, 'Observe the clues' is where you ask: is this a log, a file lying about its type, an archive, a picture, a dump?
Capturing the flag is just where the loop ends. The habit of read, try, check, adjust is what students should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Ask: 'If someone broke into your phone, how would you know? What would they leave behind?' Collect answers: those are the clues forensics looks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forensics answers four questions after an incident: what happened, when, how, and who (or at least from where).
Walk the five steps. Preserve: make a copy and fingerprint it, so nobody can say the evidence changed. Collect: logs, disks, memory, network data. Examine: pull out what matters. Analyze: build a timeline and connect the dots. Report: explain it so a manager, a lawyer or a court can follow.
Today students do mostly Examine and Analyze. Mission 7 is a taste of Preserve: comparing fingerprints.
Four questions: What happened? When? How? From where? Every mission today answers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Computers write things down constantly. Every login, every web request, every file change leaves a trace.
Walk the six cards; each one is a mission today. Ask: 'Which of these would an intruder try to delete?' (The logs! That's why real systems copy logs somewhere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these three questions; students will ask them in every mission.
When? ls -l shows the last-modified time. What is it really? The first bytes, the magic number, say the real type, whatever the name says. Has it changed? A SHA-256 hash is a fingerprint: change one byte and the hash changes completely.
The hash is also how investigators prove evidence wasn't altered: hash it when you collect it, hash it again in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habits that separate an investigation from poking around.
Work on copies, never the original. Hash the evidence first. Write down every step (your notes are part of the report). Question everything: a file name, a log line, even a timestamp can be faked.
In the CTF, the 'notes' habit pays off: teams that write down the IP, the user and the file name solve Mission 10 much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CYBERQUEST competition has seven categories: Reverse Engineering, Web, PWN, Education &amp; Awareness, Forensics, OSINT and Crypto. Its skills page also stresses command-line navigation and SSH.
Forensics is today, and its listed key concepts are all here: file formats and signatures (Missions 3, 4, 10), metadata (Mission 2), steganography (Mission 6), network traffic (Mission 9) and hex (xxd). Its listed tools: strings (today), plus exiftool, binwalk, steghide and Wireshark (on the pro-tools slide).
Be honest about the rest: Web and PWN need other tools and other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Open the Forensics CTF now (mentor appendix: 'Open the CTF'), so every device is booted for the Try it pills.
Demo every command live on the projector. Then give the room 30 seconds to type the green Try it command themselves.
None of the Try it commands touch the mission folders, so nothing gets spoiled.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 -l lists files in long form: permissions, owner, size, and the last-modified time.
Point at the time column. Files changed recently show a time; old files show a year instead.
ls -lt sorts newest first: a quick timeline. Mission 1 needs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Binary files (pictures, programs, memory dumps) are mostly bytes that aren't letters, so cat shows garbage and can even scramble the terminal.
strings prints only runs of 4 or more readable characters. Metadata fields (camera, software, author, comments), file paths and messages leak out.
The pro tool for metadata is exiftool, which lists every field neatly. On the competition's Kali Linux, try exiftool photo.jpg.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file's extension is just part of its name; anyone can rename a file. The first few bytes, the magic number, say what the file really is.
filetype is a helper in this CTF that works like Linux's file command: it reads the magic number and names the type. You can see the bytes yourself with head -c 4 | xxd.
Learn three: ff d8 ff is JPEG, 1f 8b is gzip, 25 50 44 46 is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 bundles many files into one. gzip squeezes a file smaller. A .tar.gz is both: a bundle, then squeezed.
tar -xzf unpacks a .tar.gz; tar -xf unpacks a plain tar; zcat prints what's inside a gzip file. tar -tf lists without unpacking.
The habit for Mission 4: unpack one layer, ask filetype what you got,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Logs are text, one event per line, so the Linux tools from the Linux CTF are an investigator's best friends.
The counting pipeline: grep the lines you care about, cut out one field, sort them so repeats sit together, uniq -c counts each, sort -n puts the biggest last.
Build it one stage at a time, and look at the output after each step. This pipeline solves Missions 5 and 10 and is the same idea as Splunk or Wireshark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Cryptography scrambles a message. Steganography hides that there is a message at all.
The simplest trick: append data after the end of a picture. Picture viewers stop at the end marker (ff d9 for JPEG), so the picture looks normal, but the bytes are still in the file.
Real stego can also hide data in the pixels themselves; tools like steghide, zsteg and binwalk find it. Today: strings and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SHA-256 hash is a fingerprint of a file. Change one byte and the hash changes completely.
Defenders record the hashes of important programs while the system is clean (a manifest). Later, sha256sum -c re-hashes every file in the list and reports OK or FAILED.
This is what file-integrity tools like Tripwire and AIDE do, and it's how investigators prove evidence wasn't altered.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in, an intruder wants to come back. Persistence means leaving something that runs again on its own. A favourite on Linux: a cron job.
A crontab line is five time fields (minute, hour, day of month, month, day of week) and a command. */10 in the minute field means every 10 minutes.
Look for commands in odd places: hidden folders (names starting with a dot), /tmp, a user's home. ls -a shows hidden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packet capture (a .pcap file) records the network traffic itself. Wireshark shows it as one line per packet: number, time, source, destination, protocol, length and a summary. capture.txt is that list view, exported as text.
Mission 9's host smuggled data out in tiny pieces, each with a sequence number. To rebuild it: keep those packets, cut down to the parameters, sort by seq, keep the hex, join it, decode. In Wireshark you'd filter on the URL and follow the stream.
tr -d '\n' deletes newlines, joining lines together. xxd -r -p turns hex into text (the Crypto CTF's Mission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routine as every CTF.
1. --help is free. 2. Ask the three file questions: when, what is it really, has it changed? 3. Build pipelines one step at a time. 4. hint N costs 5% of that mission's points, charged once per hint; harder missions have several hints, each more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to photograph. Every tool, which mission it powers.
All of these are standard Linux tools except filetype, a tiny helper in this CTF that does what the real file command does. On a full Linux system (Kali, Ubuntu) you'd type file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This is the heart of the session: students doing it, not watching. Crack Mission 1 together, then hand the keyboard over.
Put the CTF on one half of the projector and these slides on the other, or switch between them.
Each mission has two slides: the brief (show it, read it, ask the three questions) and the walkthrough (reveal it after the class has tried). You will not get through all ten, and that is by design - pick the ones that fit your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the same for every mission. Drill it now so that the only new thing in each round is the evidence.
Say it together: Read. Survey. Ask. Extract. Submit.
Ask is the forensics-specific step: when did it change, what is it really, has it changed? Write down anything you find (IPs, users, times): Mission 10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teaching loop so the room knows what to expect, and why you keep pausing to ask questions. This is the mentor's rhythm for the guided case and for every tool demo.
Predict is the step people skip. Always ask 'what do you think this will do?' BEFORE running it. A wrong prediction corrected by real output sticks far better than being handed the answer.
Explain closes the loop: a student puts what happened in their own words. If they can explain it, they own it.
Watch for:
- Ask before you tell - a question beats an answer every time.
- Always get a prediction before running a tool.
- Let a student explain it back; that's how you know it landed.
- Guide and connect to real work. Don't type for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what is available. Leave it up for a moment and let students read the names - but set the expectation: this is a menu, not a to-do list. In one session, you crack the guided one together and students start one or two on their own.
Notice the order follows the toolkit from Part 2: single files first, then archives, logs and traffic, then the whole case. An early clue uses a tool we just practiced.
Do not frame this as a race to the end. Mission 1 is a great start for everyone; where each student goes next is up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1 OF 10: Case file   [Easy, 100 points, We do]
Show this slide first. Read the brief out loud, then ask the three questions BEFORE anyone types. Take one answer per question; do not confirm or correct yet - predicting, then checking, is where the learning happens.
The time is random every load (between 02:00 and 05:59). The decoy files all changed during office hours.
If a student greps for CYBA they find ten flags: good moment to say 'evidence needs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1 OF 10: Case file
Guided mission: solve it live with the class calling out commands, then use this slide to recap.
The slide never shows a real flag: every computer has its own evidence and flags, so students still have to run the commands themselves.
Ask one student to explain the three steps in their own words. Offer the stretch question to anyone who finished early.
The time is random every load (between 02:00 and 05:59). The decoy files all changed during office hours.
If a student greps for CYBA they find ten flags: good moment to say 'evidence needs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2 OF 10: Say cheese   [Easy, 100 points, We do]
Show this slide first. Read the brief out loud, then ask the three questions BEFORE anyone types. Take one answer per question; do not confirm or correct yet - predicting, then checking, is where the learning happens.
On a full Linux system, exiftool photo.jpg lists metadata neatly. This tiny Linux doesn't have it, so strings does the job.
Good discussion: what metadata is in the photos on your phone? (Usually time, phone model, and often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2 OF 10: Say cheese
Guided mission: solve it live with the class calling out commands, then use this slide to recap.
The slide never shows a real flag: every computer has its own evidence and flags, so students still have to run the commands themselves.
Ask one student to explain the three steps in their own words. Offer the stretch question to anyone who finished early.
On a full Linux system, exiftool photo.jpg lists metadata neatly. This tiny Linux doesn't have it, so strings does the job.
Good discussion: what metadata is in the photos on your phone? (Usually time, phone model, and often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session. Point students at the CTF and let them start a case on their OWN. Say clearly: you do NOT have to finish, and you do NOT have to do them in order. Pick one that looks interesting and run the loop: read, observe, try, check, adjust.
Walk the room. Ask questions instead of answering them: 'What is the evidence telling you?' 'What did the output say?' 'What would you try next?' Resist typing for students.
The remaining clues (3-10) are in the mentor appendix as a bank: pull one up if the room wants a nudge, or leave them for self-study. Finishing them is not the goal - confidence starting one is.
Mentor: one case cracked, understood, and explained back beats ten rushed. Celebrate the process, not the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flags and no points: teams compare answers out loud.
Who did they try?: grep &lt;attacker IP&gt; ~/mission5/auth.log | cut -d' ' -f6 | sort | uniq -c. Usually admin, root, test, guest, oracle: the classic guesses. Talk about why default usernames matter.
Timeline: write the attack as a timeline from Missions 1, 5, 8 and 9 (times are in the logs and ls -l). Compare with the next team.
Magic hunt: run filetype on everything in ~/mission10/homes/*/* and count each type.
Cron decoder: what do 0 2 * * * and 30 3 * * 0 mean in ~/mission8/cron/root? (2:00 every day; 3:30 every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Applaud the fastest teams, and also the team with the best case notes.
Fun closer: have everyone type the command on this slide. $(whoami) drops their username into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today used small, standard command-line tools. Professionals use bigger tools that do the same jobs at scale. Name them so students recognise them at the competition and in job ads. Most come pre-installed on Kali Linux.
The competition's own tool list for Forensics is Wireshark, binwalk, exiftool, strings and steghide. All five are on this slide.
Autopsy: a free forensics workbench with timelines. ExifTool: reads photo and document metadata. binwalk: finds files hidden inside other files. steghide and zsteg: steganography. Volatility: memory analysis. Wireshark: network traffic. Splunk and the ELK stack: search millions of log lines. Tripwire and AIDE: file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visual receipt for the session, in mission order. Each stamp is an investigation skill the class used today.
Ask students to count the stamps they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the missions to real work. Ask the questions on the right and let students answer before you do.
Mentors: share one real story (unclassified and non-sensitive) of tracking down what happened on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what students can do tomorrow, for free.
CyberQuest Academy is where the next challenges live: fill in the link. The Forensics CTF works at home on any computer; every replay has new evidence and new flags. Wireshark is free: download it at home and look at your own network traffic (only your own).
Thank the class and the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Mentor appendix: reference for whoever runs the room — the page layout, how flags work under the hood, how to open the CTF, the answer key, and fixes for the usual snags. Not student-facing.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screenshot from the middle of a game: the first three flags captured, Mission 4 (Russian dolls) open, with the layers being unpacked in the terminal.
Walk the eight parts. It is the same page as the Linux and Crypto CTFs. '← All CTFs' goes back to the home page (it starts a new game, so don't click it mid-race).
The most common problem in class is typing before clicking inside the terminal. Say it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MENTOR READING. The Forensics CTF lives in the same GitLab project as the Linux and Crypto CTFs, in public/forensics/. It reuses the same emulator and page code; only the missions, one helper tool and the Linux image differ.
Real-Linux mode boots v86 with forensics.cpio.gz: BusyBox plus the filetype helper in /bin. Every boot generates random flags and fresh evidence: file times, the attacker's IP and user, which photo lies, which program is tampered. Only SHA-256 hashes of the flags are kept, so there is no answer file. All IP addresses come from the reserved documentation ranges, and the 'persistence' script does nothing.
Lite mode (no WebAssembly) is a JavaScript simulated shell with the same missions and tools.
Rebuild after editing missions: python3 guest-forensics/make-lite.py, python3 guest-forensics/make-forensics.py, python3 guest-forensics/make-banner.py, then sh guest-forensics/build.sh.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MENTOR READING: run this with students right before Part 2, so every device is booted for the Try it pills.
WRITE YOUR ADDRESS IN THE BOX before presenting. It is your GitLab Pages address with /forensics/ on the end, or pick Forensics CTF on the home page.
Most important rule: do not reload the page. A reload builds a new computer with new evidence and flags, and resets the clock and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MENTORS. Hide this slide when presenting.
Flags and evidence are random on every page load and the CTF keeps only fingerprints, so there is no list of flags: play each mission yourself before class.
In lite mode $(...) is not supported: type values (IPs, file names)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MENTORS. Hide this slide when presenting.
Most problems are the same as the Linux CTF: the school web filter, Pages visibility, or typing before clicking the terminal. The forensics-specific ones are below.
Plan B if most devices can't load it: drive the CTF on the projector and run the competition as 'We do', with teams racing to call out the next command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bank, not a checklist. Missions 1 and 2 are the guided example in the main deck; these eight are here for independent work and self-study.
Pull one up when a student wants a nudge on a case they chose, or share the deck afterward. In a one-hour session you will not show most of these live - and that's the point.
Each mission has a brief (the clue and three questions) and a walkthrough (one correct path). Flags differ on every computer, so walkthroughs are safe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3 OF 10: Wrong label   [Easy, 100 points, You do]
Show this slide first. Read the brief out loud, then ask the three questions BEFORE anyone types. Take one answer per question; do not confirm or correct yet - predicting, then checking, is where the learning happens.
filetype is a small helper that works like the real 'file' command (which this tiny Linux doesn't have). Both read the magic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3 OF 10: Wrong label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filetype is a small helper that works like the real 'file' command (which this tiny Linux doesn't have). Both read the magic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4 OF 10: Russian dolls   [Medium, 200 points, You do]
Show this slide first. Read the brief out loud, then ask the three questions BEFORE anyone types. Take one answer per question; do not confirm or correct yet - predicting, then checking, is where the learning happens.
tar bundles files; gzip compresses. .tar.gz is both. -x extract, -z gzip, -f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4 OF 10: Russian dolls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tar bundles files; gzip compresses. .tar.gz is both. -x extract, -z gzip, -f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5 OF 10: Log detective   [Medium, 200 points, You do]
Show this slide first. Read the brief out loud, then ask the three questions BEFORE anyone types. Take one answer per question; do not confirm or correct yet - predicting, then checking, is where the learning happens.
All IP addresses are from the reserved documentation ranges (192.0.2.x, 198.51.100.x, 203.0.113.x), so they belong to nobody.
Build the pipe one stage at a time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5 OF 10: Log detective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All IP addresses are from the reserved documentation ranges (192.0.2.x, 198.51.100.x, 203.0.113.x), so they belong to nobody.
Build the pipe one stage at a time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6 OF 10: Hidden tail   [Medium, 200 points, You do]
Show this slide first. Read the brief out loud, then ask the three questions BEFORE anyone types. Take one answer per question; do not confirm or correct yet - predicting, then checking, is where the learning happens.
This is the simplest steganography: appending. Real stego can also hide data inside the pixels, which needs special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6 OF 10: Hidden tail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This is the simplest steganography: appending. Real stego can also hide data inside the pixels, which needs special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7 OF 10: Tampered   [Medium, 200 points, You do]
Show this slide first. Read the brief out loud, then ask the three questions BEFORE anyone types. Take one answer per question; do not confirm or correct yet - predicting, then checking, is where the learning happens.
Every program carries a decoy flag, so the hash comparison is the only way to know which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7 OF 10: Tampered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Every program carries a decoy flag, so the hash comparison is the only way to know which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8 OF 10: Persistence   [Hard, 400 points, You do]
Show this slide first. Read the brief out loud, then ask the three questions BEFORE anyone types. Take one answer per question; do not confirm or correct yet - predicting, then checking, is where the learning happens.
The script is inert: it only sets a variable and exits. Nothing in this CTF runs anything harmful.
Cron fields: minute, hour, day of month, month, day of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8 OF 10: Persistence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The script is inert: it only sets a variable and exits. Nothing in this CTF runs anything harmful.
Cron fields: minute, hour, day of month, month, day of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9 OF 10: Leaked in pieces   [Hard, 400 points, You do]
Show this slide first. Read the brief out loud, then ask the three questions BEFORE anyone types. Take one answer per question; do not confirm or correct yet - predicting, then checking, is where the learning happens.
Build the pipeline one stage at a time on the projector. Each stage's output should make sense before adding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9 OF 10: Leaked in pieces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Build the pipeline one stage at a time on the projector. Each stage's output should make sense before adding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10 OF 10: Case closed   [Very Hard, 800 points, You do]
Show this slide first. Read the brief out loud, then ask the three questions BEFORE anyone types. Take one answer per question; do not confirm or correct yet - predicting, then checking, is where the learning happens.
The user, the file and the IP change every load. If teams are stuck, point them back at Missions 5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10 OF 10: Case closed
Independent mission: reveal this slide only after students have tried, or when the room is stuck. Not everyone needs to reach it - one cracked case is a win.
The slide never shows a real flag: every computer has its own evidence and flags, so students still have to run the commands themselves.
Ask one student to explain the three steps in their own words. Offer the stretch question to anyone who finished early.
The user, the file and the IP change every load. If teams are stuck, point them back at Missions 5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LIGH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6583680" cy="1280160"/>
          </a:xfrm>
          <a:prstGeom prst="rect">
            <a:avLst/>
          </a:prstGeom>
          <a:noFill/>
          <a:ln/>
        </p:spPr>
        <p:txBody>
          <a:bodyPr wrap="square" lIns="0" tIns="0" rIns="0" bIns="0" rtlCol="0" anchor="ctr"/>
          <a:lstStyle/>
          <a:p>
            <a:pPr indent="0" marL="0">
              <a:buNone/>
            </a:pPr>
            <a:r>
              <a:rPr lang="en-US" sz="8400" b="1" dirty="0">
                <a:solidFill>
                  <a:srgbClr val="FFFFFF"/>
                </a:solidFill>
                <a:latin typeface="Arial" pitchFamily="34" charset="0"/>
                <a:ea typeface="Arial" pitchFamily="34" charset="-122"/>
                <a:cs typeface="Arial" pitchFamily="34" charset="-120"/>
              </a:rPr>
              <a:t>CyberQuest</a:t>
            </a:r>
            <a:endParaRPr lang="en-US" sz="8400" dirty="0"/>
          </a:p>
        </p:txBody>
      </p:sp>
      <p:sp>
        <p:nvSpPr>
          <p:cNvPr id="3" name="Text 1"/>
          <p:cNvSpPr txBox="1"/>
          <p:nvPr/>
        </p:nvSpPr>
        <p:spPr>
          <a:xfrm>
            <a:off x="548640" y="2788920"/>
            <a:ext cx="6126480" cy="1188720"/>
          </a:xfrm>
          <a:prstGeom prst="rect">
            <a:avLst/>
          </a:prstGeom>
          <a:noFill/>
          <a:ln/>
        </p:spPr>
        <p:txBody>
          <a:bodyPr wrap="square" lIns="0" tIns="0" rIns="0" bIns="0" rtlCol="0" anchor="ctr"/>
          <a:lstStyle/>
          <a:p>
            <a:pPr indent="0" marL="0">
              <a:buNone/>
            </a:pPr>
            <a:r>
              <a:rPr lang="en-US" sz="2600" dirty="0">
                <a:solidFill>
                  <a:srgbClr val="E8EEFF"/>
                </a:solidFill>
                <a:latin typeface="Calibri" pitchFamily="34" charset="0"/>
                <a:ea typeface="Calibri" pitchFamily="34" charset="-122"/>
                <a:cs typeface="Calibri" pitchFamily="34" charset="-120"/>
              </a:rPr>
              <a:t>Forensics CTF: read the evidence.</a:t>
            </a:r>
            <a:endParaRPr lang="en-US" sz="2600" dirty="0"/>
          </a:p>
          <a:p>
            <a:pPr indent="0" marL="0">
              <a:buNone/>
            </a:pPr>
            <a:r>
              <a:rPr lang="en-US" sz="2600" dirty="0">
                <a:solidFill>
                  <a:srgbClr val="E8EEFF"/>
                </a:solidFill>
                <a:latin typeface="Calibri" pitchFamily="34" charset="0"/>
                <a:ea typeface="Calibri" pitchFamily="34" charset="-122"/>
                <a:cs typeface="Calibri" pitchFamily="34" charset="-120"/>
              </a:rPr>
              <a:t>Learn how, then compete.</a:t>
            </a:r>
            <a:endParaRPr lang="en-US" sz="2600" dirty="0"/>
          </a:p>
        </p:txBody>
      </p:sp>
      <p:sp>
        <p:nvSpPr>
          <p:cNvPr id="4" name="Shape 2"/>
          <p:cNvSpPr/>
          <p:nvPr/>
        </p:nvSpPr>
        <p:spPr>
          <a:xfrm>
            <a:off x="548640" y="4160520"/>
            <a:ext cx="2743200" cy="347472"/>
          </a:xfrm>
          <a:prstGeom prst="roundRect">
            <a:avLst>
              <a:gd name="adj" fmla="val 50000"/>
            </a:avLst>
          </a:prstGeom>
          <a:solidFill>
            <a:srgbClr val="F5A623"/>
          </a:solidFill>
          <a:ln/>
        </p:spPr>
      </p:sp>
      <p:sp>
        <p:nvSpPr>
          <p:cNvPr id="5" name="Text 3"/>
          <p:cNvSpPr txBox="1"/>
          <p:nvPr/>
        </p:nvSpPr>
        <p:spPr>
          <a:xfrm>
            <a:off x="548640" y="4160520"/>
            <a:ext cx="2743200" cy="347472"/>
          </a:xfrm>
          <a:prstGeom prst="rect">
            <a:avLst/>
          </a:prstGeom>
          <a:noFill/>
          <a:ln/>
        </p:spPr>
        <p:txBody>
          <a:bodyPr wrap="square" lIns="0" tIns="0" rIns="0" bIns="0" rtlCol="0" anchor="ctr"/>
          <a:lstStyle/>
          <a:p>
            <a:pPr algn="ctr" indent="0" marL="0">
              <a:buNone/>
            </a:pPr>
            <a:r>
              <a:rPr lang="en-US" sz="1500" b="1" dirty="0">
                <a:solidFill>
                  <a:srgbClr val="12213A"/>
                </a:solidFill>
                <a:latin typeface="Calibri" pitchFamily="34" charset="0"/>
                <a:ea typeface="Calibri" pitchFamily="34" charset="-122"/>
                <a:cs typeface="Calibri" pitchFamily="34" charset="-120"/>
              </a:rPr>
              <a:t>simulated CTF competition</a:t>
            </a:r>
            <a:endParaRPr lang="en-US" sz="1500" dirty="0"/>
          </a:p>
        </p:txBody>
      </p:sp>
      <p:sp>
        <p:nvSpPr>
          <p:cNvPr id="6" name="Text 4"/>
          <p:cNvSpPr txBox="1"/>
          <p:nvPr/>
        </p:nvSpPr>
        <p:spPr>
          <a:xfrm>
            <a:off x="548640" y="4681728"/>
            <a:ext cx="594360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CyberQuest Academy mentorship session</a:t>
            </a:r>
            <a:endParaRPr lang="en-US" sz="1800" dirty="0"/>
          </a:p>
        </p:txBody>
      </p:sp>
      <p:sp>
        <p:nvSpPr>
          <p:cNvPr id="8" name="Text 5"/>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7F8FAD"/>
                </a:solidFill>
                <a:latin typeface="Calibri" pitchFamily="34" charset="0"/>
                <a:ea typeface="Calibri" pitchFamily="34" charset="-122"/>
                <a:cs typeface="Calibri" pitchFamily="34" charset="-120"/>
              </a:rPr>
              <a:t>Forensics CTF   ·   1 / 60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How today works</a:t>
            </a:r>
            <a:endParaRPr lang="en-US" sz="3200" dirty="0"/>
          </a:p>
        </p:txBody>
      </p:sp>
      <p:sp>
        <p:nvSpPr>
          <p:cNvPr id="4" name="Shape 1"/>
          <p:cNvSpPr/>
          <p:nvPr/>
        </p:nvSpPr>
        <p:spPr>
          <a:xfrm>
            <a:off x="548640" y="1627632"/>
            <a:ext cx="3611880" cy="1810512"/>
          </a:xfrm>
          <a:prstGeom prst="roundRect">
            <a:avLst>
              <a:gd name="adj" fmla="val 6061"/>
            </a:avLst>
          </a:prstGeom>
          <a:solidFill>
            <a:srgbClr val="E8F3EF"/>
          </a:solidFill>
          <a:ln w="12700">
            <a:solidFill>
              <a:srgbClr val="B5D9CA"/>
            </a:solidFill>
            <a:prstDash val="solid"/>
          </a:ln>
        </p:spPr>
      </p:sp>
      <p:sp>
        <p:nvSpPr>
          <p:cNvPr id="5" name="Shape 2"/>
          <p:cNvSpPr/>
          <p:nvPr/>
        </p:nvSpPr>
        <p:spPr>
          <a:xfrm>
            <a:off x="822960" y="1901952"/>
            <a:ext cx="512064" cy="512064"/>
          </a:xfrm>
          <a:prstGeom prst="ellipse">
            <a:avLst/>
          </a:prstGeom>
          <a:solidFill>
            <a:srgbClr val="17875A"/>
          </a:solidFill>
          <a:ln/>
        </p:spPr>
      </p:sp>
      <p:sp>
        <p:nvSpPr>
          <p:cNvPr id="6" name="Text 3"/>
          <p:cNvSpPr txBox="1"/>
          <p:nvPr/>
        </p:nvSpPr>
        <p:spPr>
          <a:xfrm>
            <a:off x="822960" y="190195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4"/>
          <p:cNvSpPr txBox="1"/>
          <p:nvPr/>
        </p:nvSpPr>
        <p:spPr>
          <a:xfrm>
            <a:off x="1463040" y="1901952"/>
            <a:ext cx="2286000" cy="512064"/>
          </a:xfrm>
          <a:prstGeom prst="rect">
            <a:avLst/>
          </a:prstGeom>
          <a:noFill/>
          <a:ln/>
        </p:spPr>
        <p:txBody>
          <a:bodyPr wrap="square" lIns="0" tIns="0" rIns="0" bIns="0" rtlCol="0" anchor="ctr"/>
          <a:lstStyle/>
          <a:p>
            <a:pPr indent="0" marL="0">
              <a:buNone/>
            </a:pPr>
            <a:r>
              <a:rPr lang="en-US" sz="2100" b="1" dirty="0">
                <a:solidFill>
                  <a:srgbClr val="17875A"/>
                </a:solidFill>
                <a:latin typeface="Arial" pitchFamily="34" charset="0"/>
                <a:ea typeface="Arial" pitchFamily="34" charset="-122"/>
                <a:cs typeface="Arial" pitchFamily="34" charset="-120"/>
              </a:rPr>
              <a:t>Concept</a:t>
            </a:r>
            <a:endParaRPr lang="en-US" sz="2100" dirty="0"/>
          </a:p>
        </p:txBody>
      </p:sp>
      <p:sp>
        <p:nvSpPr>
          <p:cNvPr id="8" name="Text 5"/>
          <p:cNvSpPr txBox="1"/>
          <p:nvPr/>
        </p:nvSpPr>
        <p:spPr>
          <a:xfrm>
            <a:off x="841248" y="2542032"/>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What a forensics CTF is, and why evidence matters.</a:t>
            </a:r>
            <a:endParaRPr lang="en-US" sz="1450" dirty="0"/>
          </a:p>
        </p:txBody>
      </p:sp>
      <p:sp>
        <p:nvSpPr>
          <p:cNvPr id="9" name="Shape 6"/>
          <p:cNvSpPr/>
          <p:nvPr/>
        </p:nvSpPr>
        <p:spPr>
          <a:xfrm>
            <a:off x="3136392" y="2468880"/>
            <a:ext cx="841248" cy="841248"/>
          </a:xfrm>
          <a:prstGeom prst="ellipse">
            <a:avLst/>
          </a:prstGeom>
          <a:solidFill>
            <a:srgbClr val="D1E7DE"/>
          </a:solidFill>
          <a:ln/>
        </p:spPr>
      </p:sp>
      <p:pic>
        <p:nvPicPr>
          <p:cNvPr id="10" name="Image 0" descr="preencoded.png">    </p:cNvPr>
          <p:cNvPicPr>
            <a:picLocks noChangeAspect="1"/>
          </p:cNvPicPr>
          <p:nvPr/>
        </p:nvPicPr>
        <p:blipFill>
          <a:blip r:embed="rId1"/>
          <a:stretch>
            <a:fillRect/>
          </a:stretch>
        </p:blipFill>
        <p:spPr>
          <a:xfrm>
            <a:off x="3363529" y="2696017"/>
            <a:ext cx="386974" cy="386974"/>
          </a:xfrm>
          <a:prstGeom prst="rect">
            <a:avLst/>
          </a:prstGeom>
        </p:spPr>
      </p:pic>
      <p:sp>
        <p:nvSpPr>
          <p:cNvPr id="11" name="Shape 7"/>
          <p:cNvSpPr/>
          <p:nvPr/>
        </p:nvSpPr>
        <p:spPr>
          <a:xfrm>
            <a:off x="4178808" y="2532888"/>
            <a:ext cx="182880" cy="0"/>
          </a:xfrm>
          <a:prstGeom prst="line">
            <a:avLst/>
          </a:prstGeom>
          <a:noFill/>
          <a:ln w="25400">
            <a:solidFill>
              <a:srgbClr val="9AA7BD"/>
            </a:solidFill>
            <a:prstDash val="solid"/>
            <a:tailEnd type="triangle"/>
          </a:ln>
        </p:spPr>
      </p:sp>
      <p:sp>
        <p:nvSpPr>
          <p:cNvPr id="12" name="Shape 8"/>
          <p:cNvSpPr/>
          <p:nvPr/>
        </p:nvSpPr>
        <p:spPr>
          <a:xfrm>
            <a:off x="4379976" y="1627632"/>
            <a:ext cx="3611880" cy="1810512"/>
          </a:xfrm>
          <a:prstGeom prst="roundRect">
            <a:avLst>
              <a:gd name="adj" fmla="val 6061"/>
            </a:avLst>
          </a:prstGeom>
          <a:solidFill>
            <a:srgbClr val="EAF5FB"/>
          </a:solidFill>
          <a:ln w="12700">
            <a:solidFill>
              <a:srgbClr val="BBE0F2"/>
            </a:solidFill>
            <a:prstDash val="solid"/>
          </a:ln>
        </p:spPr>
      </p:sp>
      <p:sp>
        <p:nvSpPr>
          <p:cNvPr id="13" name="Shape 9"/>
          <p:cNvSpPr/>
          <p:nvPr/>
        </p:nvSpPr>
        <p:spPr>
          <a:xfrm>
            <a:off x="4654296" y="1901952"/>
            <a:ext cx="512064" cy="512064"/>
          </a:xfrm>
          <a:prstGeom prst="ellipse">
            <a:avLst/>
          </a:prstGeom>
          <a:solidFill>
            <a:srgbClr val="2A9FD6"/>
          </a:solidFill>
          <a:ln/>
        </p:spPr>
      </p:sp>
      <p:sp>
        <p:nvSpPr>
          <p:cNvPr id="14" name="Text 10"/>
          <p:cNvSpPr txBox="1"/>
          <p:nvPr/>
        </p:nvSpPr>
        <p:spPr>
          <a:xfrm>
            <a:off x="4654296" y="190195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5294376" y="1901952"/>
            <a:ext cx="2286000" cy="512064"/>
          </a:xfrm>
          <a:prstGeom prst="rect">
            <a:avLst/>
          </a:prstGeom>
          <a:noFill/>
          <a:ln/>
        </p:spPr>
        <p:txBody>
          <a:bodyPr wrap="square" lIns="0" tIns="0" rIns="0" bIns="0" rtlCol="0" anchor="ctr"/>
          <a:lstStyle/>
          <a:p>
            <a:pPr indent="0" marL="0">
              <a:buNone/>
            </a:pPr>
            <a:r>
              <a:rPr lang="en-US" sz="2100" b="1" dirty="0">
                <a:solidFill>
                  <a:srgbClr val="2A9FD6"/>
                </a:solidFill>
                <a:latin typeface="Arial" pitchFamily="34" charset="0"/>
                <a:ea typeface="Arial" pitchFamily="34" charset="-122"/>
                <a:cs typeface="Arial" pitchFamily="34" charset="-120"/>
              </a:rPr>
              <a:t>Mental model</a:t>
            </a:r>
            <a:endParaRPr lang="en-US" sz="2100" dirty="0"/>
          </a:p>
        </p:txBody>
      </p:sp>
      <p:sp>
        <p:nvSpPr>
          <p:cNvPr id="16" name="Text 12"/>
          <p:cNvSpPr txBox="1"/>
          <p:nvPr/>
        </p:nvSpPr>
        <p:spPr>
          <a:xfrm>
            <a:off x="4672584" y="2542032"/>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How investigators think: question, then prove.</a:t>
            </a:r>
            <a:endParaRPr lang="en-US" sz="1450" dirty="0"/>
          </a:p>
        </p:txBody>
      </p:sp>
      <p:sp>
        <p:nvSpPr>
          <p:cNvPr id="17" name="Shape 13"/>
          <p:cNvSpPr/>
          <p:nvPr/>
        </p:nvSpPr>
        <p:spPr>
          <a:xfrm>
            <a:off x="6967728" y="2468880"/>
            <a:ext cx="841248" cy="841248"/>
          </a:xfrm>
          <a:prstGeom prst="ellipse">
            <a:avLst/>
          </a:prstGeom>
          <a:solidFill>
            <a:srgbClr val="D4ECF7"/>
          </a:solidFill>
          <a:ln/>
        </p:spPr>
      </p:sp>
      <p:pic>
        <p:nvPicPr>
          <p:cNvPr id="18" name="Image 1" descr="preencoded.png">    </p:cNvPr>
          <p:cNvPicPr>
            <a:picLocks noChangeAspect="1"/>
          </p:cNvPicPr>
          <p:nvPr/>
        </p:nvPicPr>
        <p:blipFill>
          <a:blip r:embed="rId2"/>
          <a:stretch>
            <a:fillRect/>
          </a:stretch>
        </p:blipFill>
        <p:spPr>
          <a:xfrm>
            <a:off x="7194865" y="2696017"/>
            <a:ext cx="386974" cy="386974"/>
          </a:xfrm>
          <a:prstGeom prst="rect">
            <a:avLst/>
          </a:prstGeom>
        </p:spPr>
      </p:pic>
      <p:sp>
        <p:nvSpPr>
          <p:cNvPr id="19" name="Shape 14"/>
          <p:cNvSpPr/>
          <p:nvPr/>
        </p:nvSpPr>
        <p:spPr>
          <a:xfrm>
            <a:off x="8010144" y="2532888"/>
            <a:ext cx="182880" cy="0"/>
          </a:xfrm>
          <a:prstGeom prst="line">
            <a:avLst/>
          </a:prstGeom>
          <a:noFill/>
          <a:ln w="25400">
            <a:solidFill>
              <a:srgbClr val="9AA7BD"/>
            </a:solidFill>
            <a:prstDash val="solid"/>
            <a:tailEnd type="triangle"/>
          </a:ln>
        </p:spPr>
      </p:sp>
      <p:sp>
        <p:nvSpPr>
          <p:cNvPr id="20" name="Shape 15"/>
          <p:cNvSpPr/>
          <p:nvPr/>
        </p:nvSpPr>
        <p:spPr>
          <a:xfrm>
            <a:off x="8211312" y="1627632"/>
            <a:ext cx="3611880" cy="1810512"/>
          </a:xfrm>
          <a:prstGeom prst="roundRect">
            <a:avLst>
              <a:gd name="adj" fmla="val 6061"/>
            </a:avLst>
          </a:prstGeom>
          <a:solidFill>
            <a:srgbClr val="E9EEFB"/>
          </a:solidFill>
          <a:ln w="12700">
            <a:solidFill>
              <a:srgbClr val="B9CAF3"/>
            </a:solidFill>
            <a:prstDash val="solid"/>
          </a:ln>
        </p:spPr>
      </p:sp>
      <p:sp>
        <p:nvSpPr>
          <p:cNvPr id="21" name="Shape 16"/>
          <p:cNvSpPr/>
          <p:nvPr/>
        </p:nvSpPr>
        <p:spPr>
          <a:xfrm>
            <a:off x="8485632" y="1901952"/>
            <a:ext cx="512064" cy="512064"/>
          </a:xfrm>
          <a:prstGeom prst="ellipse">
            <a:avLst/>
          </a:prstGeom>
          <a:solidFill>
            <a:srgbClr val="2459D8"/>
          </a:solidFill>
          <a:ln/>
        </p:spPr>
      </p:sp>
      <p:sp>
        <p:nvSpPr>
          <p:cNvPr id="22" name="Text 17"/>
          <p:cNvSpPr txBox="1"/>
          <p:nvPr/>
        </p:nvSpPr>
        <p:spPr>
          <a:xfrm>
            <a:off x="8485632" y="190195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18"/>
          <p:cNvSpPr txBox="1"/>
          <p:nvPr/>
        </p:nvSpPr>
        <p:spPr>
          <a:xfrm>
            <a:off x="9125712" y="1901952"/>
            <a:ext cx="2286000" cy="512064"/>
          </a:xfrm>
          <a:prstGeom prst="rect">
            <a:avLst/>
          </a:prstGeom>
          <a:noFill/>
          <a:ln/>
        </p:spPr>
        <p:txBody>
          <a:bodyPr wrap="square" lIns="0" tIns="0" rIns="0" bIns="0" rtlCol="0" anchor="ctr"/>
          <a:lstStyle/>
          <a:p>
            <a:pPr indent="0" marL="0">
              <a:buNone/>
            </a:pPr>
            <a:r>
              <a:rPr lang="en-US" sz="2100" b="1" dirty="0">
                <a:solidFill>
                  <a:srgbClr val="2459D8"/>
                </a:solidFill>
                <a:latin typeface="Arial" pitchFamily="34" charset="0"/>
                <a:ea typeface="Arial" pitchFamily="34" charset="-122"/>
                <a:cs typeface="Arial" pitchFamily="34" charset="-120"/>
              </a:rPr>
              <a:t>Tools</a:t>
            </a:r>
            <a:endParaRPr lang="en-US" sz="2100" dirty="0"/>
          </a:p>
        </p:txBody>
      </p:sp>
      <p:sp>
        <p:nvSpPr>
          <p:cNvPr id="24" name="Text 19"/>
          <p:cNvSpPr txBox="1"/>
          <p:nvPr/>
        </p:nvSpPr>
        <p:spPr>
          <a:xfrm>
            <a:off x="8503920" y="2542032"/>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A handful of tools - one per kind of evidence.</a:t>
            </a:r>
            <a:endParaRPr lang="en-US" sz="1450" dirty="0"/>
          </a:p>
        </p:txBody>
      </p:sp>
      <p:sp>
        <p:nvSpPr>
          <p:cNvPr id="25" name="Shape 20"/>
          <p:cNvSpPr/>
          <p:nvPr/>
        </p:nvSpPr>
        <p:spPr>
          <a:xfrm>
            <a:off x="10799064" y="2468880"/>
            <a:ext cx="841248" cy="841248"/>
          </a:xfrm>
          <a:prstGeom prst="ellipse">
            <a:avLst/>
          </a:prstGeom>
          <a:solidFill>
            <a:srgbClr val="D3DEF7"/>
          </a:solidFill>
          <a:ln/>
        </p:spPr>
      </p:sp>
      <p:pic>
        <p:nvPicPr>
          <p:cNvPr id="26" name="Image 2" descr="preencoded.png">    </p:cNvPr>
          <p:cNvPicPr>
            <a:picLocks noChangeAspect="1"/>
          </p:cNvPicPr>
          <p:nvPr/>
        </p:nvPicPr>
        <p:blipFill>
          <a:blip r:embed="rId3"/>
          <a:stretch>
            <a:fillRect/>
          </a:stretch>
        </p:blipFill>
        <p:spPr>
          <a:xfrm>
            <a:off x="11026201" y="2696017"/>
            <a:ext cx="386974" cy="386974"/>
          </a:xfrm>
          <a:prstGeom prst="rect">
            <a:avLst/>
          </a:prstGeom>
        </p:spPr>
      </p:pic>
      <p:sp>
        <p:nvSpPr>
          <p:cNvPr id="27" name="Shape 21"/>
          <p:cNvSpPr/>
          <p:nvPr/>
        </p:nvSpPr>
        <p:spPr>
          <a:xfrm>
            <a:off x="548640" y="3621024"/>
            <a:ext cx="3611880" cy="1810512"/>
          </a:xfrm>
          <a:prstGeom prst="roundRect">
            <a:avLst>
              <a:gd name="adj" fmla="val 6061"/>
            </a:avLst>
          </a:prstGeom>
          <a:solidFill>
            <a:srgbClr val="F1EDFB"/>
          </a:solidFill>
          <a:ln w="12700">
            <a:solidFill>
              <a:srgbClr val="D3C4F1"/>
            </a:solidFill>
            <a:prstDash val="solid"/>
          </a:ln>
        </p:spPr>
      </p:sp>
      <p:sp>
        <p:nvSpPr>
          <p:cNvPr id="28" name="Shape 22"/>
          <p:cNvSpPr/>
          <p:nvPr/>
        </p:nvSpPr>
        <p:spPr>
          <a:xfrm>
            <a:off x="822960" y="3895344"/>
            <a:ext cx="512064" cy="512064"/>
          </a:xfrm>
          <a:prstGeom prst="ellipse">
            <a:avLst/>
          </a:prstGeom>
          <a:solidFill>
            <a:srgbClr val="7448D4"/>
          </a:solidFill>
          <a:ln/>
        </p:spPr>
      </p:sp>
      <p:sp>
        <p:nvSpPr>
          <p:cNvPr id="29" name="Text 23"/>
          <p:cNvSpPr txBox="1"/>
          <p:nvPr/>
        </p:nvSpPr>
        <p:spPr>
          <a:xfrm>
            <a:off x="822960" y="389534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30" name="Text 24"/>
          <p:cNvSpPr txBox="1"/>
          <p:nvPr/>
        </p:nvSpPr>
        <p:spPr>
          <a:xfrm>
            <a:off x="1463040" y="3895344"/>
            <a:ext cx="2286000" cy="512064"/>
          </a:xfrm>
          <a:prstGeom prst="rect">
            <a:avLst/>
          </a:prstGeom>
          <a:noFill/>
          <a:ln/>
        </p:spPr>
        <p:txBody>
          <a:bodyPr wrap="square" lIns="0" tIns="0" rIns="0" bIns="0" rtlCol="0" anchor="ctr"/>
          <a:lstStyle/>
          <a:p>
            <a:pPr indent="0" marL="0">
              <a:buNone/>
            </a:pPr>
            <a:r>
              <a:rPr lang="en-US" sz="2100" b="1" dirty="0">
                <a:solidFill>
                  <a:srgbClr val="7448D4"/>
                </a:solidFill>
                <a:latin typeface="Arial" pitchFamily="34" charset="0"/>
                <a:ea typeface="Arial" pitchFamily="34" charset="-122"/>
                <a:cs typeface="Arial" pitchFamily="34" charset="-120"/>
              </a:rPr>
              <a:t>Guided</a:t>
            </a:r>
            <a:endParaRPr lang="en-US" sz="2100" dirty="0"/>
          </a:p>
        </p:txBody>
      </p:sp>
      <p:sp>
        <p:nvSpPr>
          <p:cNvPr id="31" name="Text 25"/>
          <p:cNvSpPr txBox="1"/>
          <p:nvPr/>
        </p:nvSpPr>
        <p:spPr>
          <a:xfrm>
            <a:off x="841248" y="4535424"/>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We crack a case together, step by step.</a:t>
            </a:r>
            <a:endParaRPr lang="en-US" sz="1450" dirty="0"/>
          </a:p>
        </p:txBody>
      </p:sp>
      <p:sp>
        <p:nvSpPr>
          <p:cNvPr id="32" name="Shape 26"/>
          <p:cNvSpPr/>
          <p:nvPr/>
        </p:nvSpPr>
        <p:spPr>
          <a:xfrm>
            <a:off x="3136392" y="4462272"/>
            <a:ext cx="841248" cy="841248"/>
          </a:xfrm>
          <a:prstGeom prst="ellipse">
            <a:avLst/>
          </a:prstGeom>
          <a:solidFill>
            <a:srgbClr val="E3DAF6"/>
          </a:solidFill>
          <a:ln/>
        </p:spPr>
      </p:sp>
      <p:pic>
        <p:nvPicPr>
          <p:cNvPr id="33" name="Image 3" descr="preencoded.png">    </p:cNvPr>
          <p:cNvPicPr>
            <a:picLocks noChangeAspect="1"/>
          </p:cNvPicPr>
          <p:nvPr/>
        </p:nvPicPr>
        <p:blipFill>
          <a:blip r:embed="rId4"/>
          <a:stretch>
            <a:fillRect/>
          </a:stretch>
        </p:blipFill>
        <p:spPr>
          <a:xfrm>
            <a:off x="3363529" y="4689409"/>
            <a:ext cx="386974" cy="386974"/>
          </a:xfrm>
          <a:prstGeom prst="rect">
            <a:avLst/>
          </a:prstGeom>
        </p:spPr>
      </p:pic>
      <p:sp>
        <p:nvSpPr>
          <p:cNvPr id="34" name="Shape 27"/>
          <p:cNvSpPr/>
          <p:nvPr/>
        </p:nvSpPr>
        <p:spPr>
          <a:xfrm>
            <a:off x="4178808" y="4526280"/>
            <a:ext cx="182880" cy="0"/>
          </a:xfrm>
          <a:prstGeom prst="line">
            <a:avLst/>
          </a:prstGeom>
          <a:noFill/>
          <a:ln w="25400">
            <a:solidFill>
              <a:srgbClr val="9AA7BD"/>
            </a:solidFill>
            <a:prstDash val="solid"/>
            <a:tailEnd type="triangle"/>
          </a:ln>
        </p:spPr>
      </p:sp>
      <p:sp>
        <p:nvSpPr>
          <p:cNvPr id="35" name="Shape 28"/>
          <p:cNvSpPr/>
          <p:nvPr/>
        </p:nvSpPr>
        <p:spPr>
          <a:xfrm>
            <a:off x="4379976" y="3621024"/>
            <a:ext cx="3611880" cy="1810512"/>
          </a:xfrm>
          <a:prstGeom prst="roundRect">
            <a:avLst>
              <a:gd name="adj" fmla="val 6061"/>
            </a:avLst>
          </a:prstGeom>
          <a:solidFill>
            <a:srgbClr val="FAECF0"/>
          </a:solidFill>
          <a:ln w="12700">
            <a:solidFill>
              <a:srgbClr val="F0C2D0"/>
            </a:solidFill>
            <a:prstDash val="solid"/>
          </a:ln>
        </p:spPr>
      </p:sp>
      <p:sp>
        <p:nvSpPr>
          <p:cNvPr id="36" name="Shape 29"/>
          <p:cNvSpPr/>
          <p:nvPr/>
        </p:nvSpPr>
        <p:spPr>
          <a:xfrm>
            <a:off x="4654296" y="3895344"/>
            <a:ext cx="512064" cy="512064"/>
          </a:xfrm>
          <a:prstGeom prst="ellipse">
            <a:avLst/>
          </a:prstGeom>
          <a:solidFill>
            <a:srgbClr val="D1416B"/>
          </a:solidFill>
          <a:ln/>
        </p:spPr>
      </p:sp>
      <p:sp>
        <p:nvSpPr>
          <p:cNvPr id="37" name="Text 30"/>
          <p:cNvSpPr txBox="1"/>
          <p:nvPr/>
        </p:nvSpPr>
        <p:spPr>
          <a:xfrm>
            <a:off x="4654296" y="389534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8" name="Text 31"/>
          <p:cNvSpPr txBox="1"/>
          <p:nvPr/>
        </p:nvSpPr>
        <p:spPr>
          <a:xfrm>
            <a:off x="5294376" y="3895344"/>
            <a:ext cx="2286000" cy="512064"/>
          </a:xfrm>
          <a:prstGeom prst="rect">
            <a:avLst/>
          </a:prstGeom>
          <a:noFill/>
          <a:ln/>
        </p:spPr>
        <p:txBody>
          <a:bodyPr wrap="square" lIns="0" tIns="0" rIns="0" bIns="0" rtlCol="0" anchor="ctr"/>
          <a:lstStyle/>
          <a:p>
            <a:pPr indent="0" marL="0">
              <a:buNone/>
            </a:pPr>
            <a:r>
              <a:rPr lang="en-US" sz="2100" b="1" dirty="0">
                <a:solidFill>
                  <a:srgbClr val="D1416B"/>
                </a:solidFill>
                <a:latin typeface="Arial" pitchFamily="34" charset="0"/>
                <a:ea typeface="Arial" pitchFamily="34" charset="-122"/>
                <a:cs typeface="Arial" pitchFamily="34" charset="-120"/>
              </a:rPr>
              <a:t>Independent</a:t>
            </a:r>
            <a:endParaRPr lang="en-US" sz="2100" dirty="0"/>
          </a:p>
        </p:txBody>
      </p:sp>
      <p:sp>
        <p:nvSpPr>
          <p:cNvPr id="39" name="Text 32"/>
          <p:cNvSpPr txBox="1"/>
          <p:nvPr/>
        </p:nvSpPr>
        <p:spPr>
          <a:xfrm>
            <a:off x="4672584" y="4535424"/>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You start a case yourself. Finishing is optional.</a:t>
            </a:r>
            <a:endParaRPr lang="en-US" sz="1450" dirty="0"/>
          </a:p>
        </p:txBody>
      </p:sp>
      <p:sp>
        <p:nvSpPr>
          <p:cNvPr id="40" name="Shape 33"/>
          <p:cNvSpPr/>
          <p:nvPr/>
        </p:nvSpPr>
        <p:spPr>
          <a:xfrm>
            <a:off x="6967728" y="4462272"/>
            <a:ext cx="841248" cy="841248"/>
          </a:xfrm>
          <a:prstGeom prst="ellipse">
            <a:avLst/>
          </a:prstGeom>
          <a:solidFill>
            <a:srgbClr val="F6D9E1"/>
          </a:solidFill>
          <a:ln/>
        </p:spPr>
      </p:sp>
      <p:pic>
        <p:nvPicPr>
          <p:cNvPr id="41" name="Image 4" descr="preencoded.png">    </p:cNvPr>
          <p:cNvPicPr>
            <a:picLocks noChangeAspect="1"/>
          </p:cNvPicPr>
          <p:nvPr/>
        </p:nvPicPr>
        <p:blipFill>
          <a:blip r:embed="rId5"/>
          <a:stretch>
            <a:fillRect/>
          </a:stretch>
        </p:blipFill>
        <p:spPr>
          <a:xfrm>
            <a:off x="7194865" y="4689409"/>
            <a:ext cx="386974" cy="386974"/>
          </a:xfrm>
          <a:prstGeom prst="rect">
            <a:avLst/>
          </a:prstGeom>
        </p:spPr>
      </p:pic>
      <p:sp>
        <p:nvSpPr>
          <p:cNvPr id="42" name="Shape 34"/>
          <p:cNvSpPr/>
          <p:nvPr/>
        </p:nvSpPr>
        <p:spPr>
          <a:xfrm>
            <a:off x="8010144" y="4526280"/>
            <a:ext cx="182880" cy="0"/>
          </a:xfrm>
          <a:prstGeom prst="line">
            <a:avLst/>
          </a:prstGeom>
          <a:noFill/>
          <a:ln w="25400">
            <a:solidFill>
              <a:srgbClr val="9AA7BD"/>
            </a:solidFill>
            <a:prstDash val="solid"/>
            <a:tailEnd type="triangle"/>
          </a:ln>
        </p:spPr>
      </p:sp>
      <p:sp>
        <p:nvSpPr>
          <p:cNvPr id="43" name="Shape 35"/>
          <p:cNvSpPr/>
          <p:nvPr/>
        </p:nvSpPr>
        <p:spPr>
          <a:xfrm>
            <a:off x="8211312" y="3621024"/>
            <a:ext cx="3611880" cy="1810512"/>
          </a:xfrm>
          <a:prstGeom prst="roundRect">
            <a:avLst>
              <a:gd name="adj" fmla="val 6061"/>
            </a:avLst>
          </a:prstGeom>
          <a:solidFill>
            <a:srgbClr val="E8F3EF"/>
          </a:solidFill>
          <a:ln w="12700">
            <a:solidFill>
              <a:srgbClr val="B5D9CA"/>
            </a:solidFill>
            <a:prstDash val="solid"/>
          </a:ln>
        </p:spPr>
      </p:sp>
      <p:sp>
        <p:nvSpPr>
          <p:cNvPr id="44" name="Shape 36"/>
          <p:cNvSpPr/>
          <p:nvPr/>
        </p:nvSpPr>
        <p:spPr>
          <a:xfrm>
            <a:off x="8485632" y="3895344"/>
            <a:ext cx="512064" cy="512064"/>
          </a:xfrm>
          <a:prstGeom prst="ellipse">
            <a:avLst/>
          </a:prstGeom>
          <a:solidFill>
            <a:srgbClr val="17875A"/>
          </a:solidFill>
          <a:ln/>
        </p:spPr>
      </p:sp>
      <p:sp>
        <p:nvSpPr>
          <p:cNvPr id="45" name="Text 37"/>
          <p:cNvSpPr txBox="1"/>
          <p:nvPr/>
        </p:nvSpPr>
        <p:spPr>
          <a:xfrm>
            <a:off x="8485632" y="389534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46" name="Text 38"/>
          <p:cNvSpPr txBox="1"/>
          <p:nvPr/>
        </p:nvSpPr>
        <p:spPr>
          <a:xfrm>
            <a:off x="9125712" y="3895344"/>
            <a:ext cx="2286000" cy="512064"/>
          </a:xfrm>
          <a:prstGeom prst="rect">
            <a:avLst/>
          </a:prstGeom>
          <a:noFill/>
          <a:ln/>
        </p:spPr>
        <p:txBody>
          <a:bodyPr wrap="square" lIns="0" tIns="0" rIns="0" bIns="0" rtlCol="0" anchor="ctr"/>
          <a:lstStyle/>
          <a:p>
            <a:pPr indent="0" marL="0">
              <a:buNone/>
            </a:pPr>
            <a:r>
              <a:rPr lang="en-US" sz="2100" b="1" dirty="0">
                <a:solidFill>
                  <a:srgbClr val="17875A"/>
                </a:solidFill>
                <a:latin typeface="Arial" pitchFamily="34" charset="0"/>
                <a:ea typeface="Arial" pitchFamily="34" charset="-122"/>
                <a:cs typeface="Arial" pitchFamily="34" charset="-120"/>
              </a:rPr>
              <a:t>Reflection</a:t>
            </a:r>
            <a:endParaRPr lang="en-US" sz="2100" dirty="0"/>
          </a:p>
        </p:txBody>
      </p:sp>
      <p:sp>
        <p:nvSpPr>
          <p:cNvPr id="47" name="Text 39"/>
          <p:cNvSpPr txBox="1"/>
          <p:nvPr/>
        </p:nvSpPr>
        <p:spPr>
          <a:xfrm>
            <a:off x="8503920" y="4535424"/>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Why it worked, and where this leads.</a:t>
            </a:r>
            <a:endParaRPr lang="en-US" sz="1450" dirty="0"/>
          </a:p>
        </p:txBody>
      </p:sp>
      <p:sp>
        <p:nvSpPr>
          <p:cNvPr id="48" name="Shape 40"/>
          <p:cNvSpPr/>
          <p:nvPr/>
        </p:nvSpPr>
        <p:spPr>
          <a:xfrm>
            <a:off x="10799064" y="4462272"/>
            <a:ext cx="841248" cy="841248"/>
          </a:xfrm>
          <a:prstGeom prst="ellipse">
            <a:avLst/>
          </a:prstGeom>
          <a:solidFill>
            <a:srgbClr val="D1E7DE"/>
          </a:solidFill>
          <a:ln/>
        </p:spPr>
      </p:sp>
      <p:pic>
        <p:nvPicPr>
          <p:cNvPr id="49" name="Image 5" descr="preencoded.png">    </p:cNvPr>
          <p:cNvPicPr>
            <a:picLocks noChangeAspect="1"/>
          </p:cNvPicPr>
          <p:nvPr/>
        </p:nvPicPr>
        <p:blipFill>
          <a:blip r:embed="rId6"/>
          <a:stretch>
            <a:fillRect/>
          </a:stretch>
        </p:blipFill>
        <p:spPr>
          <a:xfrm>
            <a:off x="11026201" y="4689409"/>
            <a:ext cx="386974" cy="386974"/>
          </a:xfrm>
          <a:prstGeom prst="rect">
            <a:avLst/>
          </a:prstGeom>
        </p:spPr>
      </p:pic>
      <p:sp>
        <p:nvSpPr>
          <p:cNvPr id="50" name="Text 4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 / 60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is a forensics CTF?</a:t>
            </a:r>
            <a:endParaRPr lang="en-US" sz="3200" dirty="0"/>
          </a:p>
        </p:txBody>
      </p:sp>
      <p:sp>
        <p:nvSpPr>
          <p:cNvPr id="4" name="Shape 1"/>
          <p:cNvSpPr/>
          <p:nvPr/>
        </p:nvSpPr>
        <p:spPr>
          <a:xfrm>
            <a:off x="548640" y="1508760"/>
            <a:ext cx="11094415" cy="1371600"/>
          </a:xfrm>
          <a:prstGeom prst="roundRect">
            <a:avLst>
              <a:gd name="adj" fmla="val 6667"/>
            </a:avLst>
          </a:prstGeom>
          <a:solidFill>
            <a:srgbClr val="0E1726"/>
          </a:solidFill>
          <a:ln/>
        </p:spPr>
      </p:sp>
      <p:sp>
        <p:nvSpPr>
          <p:cNvPr id="5" name="Text 2"/>
          <p:cNvSpPr txBox="1"/>
          <p:nvPr/>
        </p:nvSpPr>
        <p:spPr>
          <a:xfrm>
            <a:off x="548640" y="1508760"/>
            <a:ext cx="11094415" cy="1371600"/>
          </a:xfrm>
          <a:prstGeom prst="rect">
            <a:avLst/>
          </a:prstGeom>
          <a:noFill/>
          <a:ln/>
        </p:spPr>
        <p:txBody>
          <a:bodyPr wrap="square" lIns="0" tIns="0" rIns="0" bIns="0" rtlCol="0" anchor="ctr"/>
          <a:lstStyle/>
          <a:p>
            <a:pPr algn="ctr" indent="0" marL="0">
              <a:buNone/>
            </a:pPr>
            <a:r>
              <a:rPr lang="en-US" sz="4000" b="1" dirty="0">
                <a:solidFill>
                  <a:srgbClr val="7FB2FF"/>
                </a:solidFill>
                <a:latin typeface="Courier New" pitchFamily="34" charset="0"/>
                <a:ea typeface="Courier New" pitchFamily="34" charset="-122"/>
                <a:cs typeface="Courier New" pitchFamily="34" charset="-120"/>
              </a:rPr>
              <a:t>CYBA</a:t>
            </a:r>
            <a:pPr algn="ctr" indent="0" marL="0">
              <a:buNone/>
            </a:pPr>
            <a:r>
              <a:rPr lang="en-US" sz="4000" b="1" dirty="0">
                <a:solidFill>
                  <a:srgbClr val="F5A623"/>
                </a:solidFill>
                <a:latin typeface="Courier New" pitchFamily="34" charset="0"/>
                <a:ea typeface="Courier New" pitchFamily="34" charset="-122"/>
                <a:cs typeface="Courier New" pitchFamily="34" charset="-120"/>
              </a:rPr>
              <a:t>{</a:t>
            </a:r>
            <a:pPr algn="ctr" indent="0" marL="0">
              <a:buNone/>
            </a:pPr>
            <a:r>
              <a:rPr lang="en-US" sz="4000" b="1" dirty="0">
                <a:solidFill>
                  <a:srgbClr val="46D39A"/>
                </a:solidFill>
                <a:latin typeface="Courier New" pitchFamily="34" charset="0"/>
                <a:ea typeface="Courier New" pitchFamily="34" charset="-122"/>
                <a:cs typeface="Courier New" pitchFamily="34" charset="-120"/>
              </a:rPr>
              <a:t>case-4c8c640b</a:t>
            </a:r>
            <a:pPr algn="ctr" indent="0" marL="0">
              <a:buNone/>
            </a:pPr>
            <a:r>
              <a:rPr lang="en-US" sz="4000" b="1" dirty="0">
                <a:solidFill>
                  <a:srgbClr val="F5A623"/>
                </a:solidFill>
                <a:latin typeface="Courier New" pitchFamily="34" charset="0"/>
                <a:ea typeface="Courier New" pitchFamily="34" charset="-122"/>
                <a:cs typeface="Courier New" pitchFamily="34" charset="-120"/>
              </a:rPr>
              <a:t>}</a:t>
            </a:r>
            <a:endParaRPr lang="en-US" sz="4000" dirty="0"/>
          </a:p>
        </p:txBody>
      </p:sp>
      <p:sp>
        <p:nvSpPr>
          <p:cNvPr id="6" name="Shape 3"/>
          <p:cNvSpPr/>
          <p:nvPr/>
        </p:nvSpPr>
        <p:spPr>
          <a:xfrm>
            <a:off x="548640" y="3154680"/>
            <a:ext cx="3566160" cy="1508760"/>
          </a:xfrm>
          <a:prstGeom prst="roundRect">
            <a:avLst>
              <a:gd name="adj" fmla="val 6061"/>
            </a:avLst>
          </a:prstGeom>
          <a:solidFill>
            <a:srgbClr val="F1F5FB"/>
          </a:solidFill>
          <a:ln/>
        </p:spPr>
      </p:sp>
      <p:sp>
        <p:nvSpPr>
          <p:cNvPr id="7" name="Text 4"/>
          <p:cNvSpPr txBox="1"/>
          <p:nvPr/>
        </p:nvSpPr>
        <p:spPr>
          <a:xfrm>
            <a:off x="777240" y="3291840"/>
            <a:ext cx="3108960" cy="365760"/>
          </a:xfrm>
          <a:prstGeom prst="rect">
            <a:avLst/>
          </a:prstGeom>
          <a:noFill/>
          <a:ln/>
        </p:spPr>
        <p:txBody>
          <a:bodyPr wrap="square" lIns="0" tIns="0" rIns="0" bIns="0" rtlCol="0" anchor="t"/>
          <a:lstStyle/>
          <a:p>
            <a:pPr indent="0" marL="0">
              <a:buNone/>
            </a:pPr>
            <a:r>
              <a:rPr lang="en-US" sz="1900" b="1" dirty="0">
                <a:solidFill>
                  <a:srgbClr val="C07A00"/>
                </a:solidFill>
                <a:latin typeface="Courier New" pitchFamily="34" charset="0"/>
                <a:ea typeface="Courier New" pitchFamily="34" charset="-122"/>
                <a:cs typeface="Courier New" pitchFamily="34" charset="-120"/>
              </a:rPr>
              <a:t>Evidence</a:t>
            </a:r>
            <a:endParaRPr lang="en-US" sz="1900" dirty="0"/>
          </a:p>
        </p:txBody>
      </p:sp>
      <p:sp>
        <p:nvSpPr>
          <p:cNvPr id="8" name="Text 5"/>
          <p:cNvSpPr txBox="1"/>
          <p:nvPr/>
        </p:nvSpPr>
        <p:spPr>
          <a:xfrm>
            <a:off x="777240" y="3703320"/>
            <a:ext cx="3108960" cy="320040"/>
          </a:xfrm>
          <a:prstGeom prst="rect">
            <a:avLst/>
          </a:prstGeom>
          <a:noFill/>
          <a:ln/>
        </p:spPr>
        <p:txBody>
          <a:bodyPr wrap="square" lIns="0" tIns="0" rIns="0" bIns="0" rtlCol="0" anchor="t"/>
          <a:lstStyle/>
          <a:p>
            <a:pPr indent="0" marL="0">
              <a:buNone/>
            </a:pPr>
            <a:r>
              <a:rPr lang="en-US" sz="1600" b="1" dirty="0">
                <a:solidFill>
                  <a:srgbClr val="12213A"/>
                </a:solidFill>
                <a:latin typeface="Calibri" pitchFamily="34" charset="0"/>
                <a:ea typeface="Calibri" pitchFamily="34" charset="-122"/>
                <a:cs typeface="Calibri" pitchFamily="34" charset="-120"/>
              </a:rPr>
              <a:t>What you're given</a:t>
            </a:r>
            <a:endParaRPr lang="en-US" sz="1600" dirty="0"/>
          </a:p>
        </p:txBody>
      </p:sp>
      <p:sp>
        <p:nvSpPr>
          <p:cNvPr id="9" name="Text 6"/>
          <p:cNvSpPr txBox="1"/>
          <p:nvPr/>
        </p:nvSpPr>
        <p:spPr>
          <a:xfrm>
            <a:off x="777240" y="4041648"/>
            <a:ext cx="3154680" cy="54864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Logs, files, images, archives and a memory dump.</a:t>
            </a:r>
            <a:endParaRPr lang="en-US" sz="1400" dirty="0"/>
          </a:p>
        </p:txBody>
      </p:sp>
      <p:sp>
        <p:nvSpPr>
          <p:cNvPr id="10" name="Shape 7"/>
          <p:cNvSpPr/>
          <p:nvPr/>
        </p:nvSpPr>
        <p:spPr>
          <a:xfrm>
            <a:off x="4306824" y="3154680"/>
            <a:ext cx="3566160" cy="1508760"/>
          </a:xfrm>
          <a:prstGeom prst="roundRect">
            <a:avLst>
              <a:gd name="adj" fmla="val 6061"/>
            </a:avLst>
          </a:prstGeom>
          <a:solidFill>
            <a:srgbClr val="F1F5FB"/>
          </a:solidFill>
          <a:ln/>
        </p:spPr>
      </p:sp>
      <p:sp>
        <p:nvSpPr>
          <p:cNvPr id="11" name="Text 8"/>
          <p:cNvSpPr txBox="1"/>
          <p:nvPr/>
        </p:nvSpPr>
        <p:spPr>
          <a:xfrm>
            <a:off x="4535424" y="3291840"/>
            <a:ext cx="3108960" cy="365760"/>
          </a:xfrm>
          <a:prstGeom prst="rect">
            <a:avLst/>
          </a:prstGeom>
          <a:noFill/>
          <a:ln/>
        </p:spPr>
        <p:txBody>
          <a:bodyPr wrap="square" lIns="0" tIns="0" rIns="0" bIns="0" rtlCol="0" anchor="t"/>
          <a:lstStyle/>
          <a:p>
            <a:pPr indent="0" marL="0">
              <a:buNone/>
            </a:pPr>
            <a:r>
              <a:rPr lang="en-US" sz="1900" b="1" dirty="0">
                <a:solidFill>
                  <a:srgbClr val="2459D8"/>
                </a:solidFill>
                <a:latin typeface="Courier New" pitchFamily="34" charset="0"/>
                <a:ea typeface="Courier New" pitchFamily="34" charset="-122"/>
                <a:cs typeface="Courier New" pitchFamily="34" charset="-120"/>
              </a:rPr>
              <a:t>Investigate</a:t>
            </a:r>
            <a:endParaRPr lang="en-US" sz="1900" dirty="0"/>
          </a:p>
        </p:txBody>
      </p:sp>
      <p:sp>
        <p:nvSpPr>
          <p:cNvPr id="12" name="Text 9"/>
          <p:cNvSpPr txBox="1"/>
          <p:nvPr/>
        </p:nvSpPr>
        <p:spPr>
          <a:xfrm>
            <a:off x="4535424" y="3703320"/>
            <a:ext cx="3108960" cy="320040"/>
          </a:xfrm>
          <a:prstGeom prst="rect">
            <a:avLst/>
          </a:prstGeom>
          <a:noFill/>
          <a:ln/>
        </p:spPr>
        <p:txBody>
          <a:bodyPr wrap="square" lIns="0" tIns="0" rIns="0" bIns="0" rtlCol="0" anchor="t"/>
          <a:lstStyle/>
          <a:p>
            <a:pPr indent="0" marL="0">
              <a:buNone/>
            </a:pPr>
            <a:r>
              <a:rPr lang="en-US" sz="1600" b="1" dirty="0">
                <a:solidFill>
                  <a:srgbClr val="12213A"/>
                </a:solidFill>
                <a:latin typeface="Calibri" pitchFamily="34" charset="0"/>
                <a:ea typeface="Calibri" pitchFamily="34" charset="-122"/>
                <a:cs typeface="Calibri" pitchFamily="34" charset="-120"/>
              </a:rPr>
              <a:t>Your job</a:t>
            </a:r>
            <a:endParaRPr lang="en-US" sz="1600" dirty="0"/>
          </a:p>
        </p:txBody>
      </p:sp>
      <p:sp>
        <p:nvSpPr>
          <p:cNvPr id="13" name="Text 10"/>
          <p:cNvSpPr txBox="1"/>
          <p:nvPr/>
        </p:nvSpPr>
        <p:spPr>
          <a:xfrm>
            <a:off x="4535424" y="4041648"/>
            <a:ext cx="3154680" cy="54864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Ask what happened, then find the proof.</a:t>
            </a:r>
            <a:endParaRPr lang="en-US" sz="1400" dirty="0"/>
          </a:p>
        </p:txBody>
      </p:sp>
      <p:sp>
        <p:nvSpPr>
          <p:cNvPr id="14" name="Shape 11"/>
          <p:cNvSpPr/>
          <p:nvPr/>
        </p:nvSpPr>
        <p:spPr>
          <a:xfrm>
            <a:off x="8065008" y="3154680"/>
            <a:ext cx="3566160" cy="1508760"/>
          </a:xfrm>
          <a:prstGeom prst="roundRect">
            <a:avLst>
              <a:gd name="adj" fmla="val 6061"/>
            </a:avLst>
          </a:prstGeom>
          <a:solidFill>
            <a:srgbClr val="F1F5FB"/>
          </a:solidFill>
          <a:ln/>
        </p:spPr>
      </p:sp>
      <p:sp>
        <p:nvSpPr>
          <p:cNvPr id="15" name="Text 12"/>
          <p:cNvSpPr txBox="1"/>
          <p:nvPr/>
        </p:nvSpPr>
        <p:spPr>
          <a:xfrm>
            <a:off x="8293608" y="3291840"/>
            <a:ext cx="3108960" cy="365760"/>
          </a:xfrm>
          <a:prstGeom prst="rect">
            <a:avLst/>
          </a:prstGeom>
          <a:noFill/>
          <a:ln/>
        </p:spPr>
        <p:txBody>
          <a:bodyPr wrap="square" lIns="0" tIns="0" rIns="0" bIns="0" rtlCol="0" anchor="t"/>
          <a:lstStyle/>
          <a:p>
            <a:pPr indent="0" marL="0">
              <a:buNone/>
            </a:pPr>
            <a:r>
              <a:rPr lang="en-US" sz="1900" b="1" dirty="0">
                <a:solidFill>
                  <a:srgbClr val="17875A"/>
                </a:solidFill>
                <a:latin typeface="Courier New" pitchFamily="34" charset="0"/>
                <a:ea typeface="Courier New" pitchFamily="34" charset="-122"/>
                <a:cs typeface="Courier New" pitchFamily="34" charset="-120"/>
              </a:rPr>
              <a:t>CYBA{...}</a:t>
            </a:r>
            <a:endParaRPr lang="en-US" sz="1900" dirty="0"/>
          </a:p>
        </p:txBody>
      </p:sp>
      <p:sp>
        <p:nvSpPr>
          <p:cNvPr id="16" name="Text 13"/>
          <p:cNvSpPr txBox="1"/>
          <p:nvPr/>
        </p:nvSpPr>
        <p:spPr>
          <a:xfrm>
            <a:off x="8293608" y="3703320"/>
            <a:ext cx="3108960" cy="320040"/>
          </a:xfrm>
          <a:prstGeom prst="rect">
            <a:avLst/>
          </a:prstGeom>
          <a:noFill/>
          <a:ln/>
        </p:spPr>
        <p:txBody>
          <a:bodyPr wrap="square" lIns="0" tIns="0" rIns="0" bIns="0" rtlCol="0" anchor="t"/>
          <a:lstStyle/>
          <a:p>
            <a:pPr indent="0" marL="0">
              <a:buNone/>
            </a:pPr>
            <a:r>
              <a:rPr lang="en-US" sz="1600" b="1" dirty="0">
                <a:solidFill>
                  <a:srgbClr val="12213A"/>
                </a:solidFill>
                <a:latin typeface="Calibri" pitchFamily="34" charset="0"/>
                <a:ea typeface="Calibri" pitchFamily="34" charset="-122"/>
                <a:cs typeface="Calibri" pitchFamily="34" charset="-120"/>
              </a:rPr>
              <a:t>The proof</a:t>
            </a:r>
            <a:endParaRPr lang="en-US" sz="1600" dirty="0"/>
          </a:p>
        </p:txBody>
      </p:sp>
      <p:sp>
        <p:nvSpPr>
          <p:cNvPr id="17" name="Text 14"/>
          <p:cNvSpPr txBox="1"/>
          <p:nvPr/>
        </p:nvSpPr>
        <p:spPr>
          <a:xfrm>
            <a:off x="8293608" y="4041648"/>
            <a:ext cx="3154680" cy="54864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Each flag is a clue you dug out of the evidence.</a:t>
            </a:r>
            <a:endParaRPr lang="en-US" sz="1400" dirty="0"/>
          </a:p>
        </p:txBody>
      </p:sp>
      <p:sp>
        <p:nvSpPr>
          <p:cNvPr id="18" name="Shape 15"/>
          <p:cNvSpPr/>
          <p:nvPr/>
        </p:nvSpPr>
        <p:spPr>
          <a:xfrm>
            <a:off x="548640" y="4983480"/>
            <a:ext cx="2377440" cy="914400"/>
          </a:xfrm>
          <a:prstGeom prst="roundRect">
            <a:avLst>
              <a:gd name="adj" fmla="val 10000"/>
            </a:avLst>
          </a:prstGeom>
          <a:solidFill>
            <a:srgbClr val="2A9FD6"/>
          </a:solidFill>
          <a:ln/>
        </p:spPr>
      </p:sp>
      <p:sp>
        <p:nvSpPr>
          <p:cNvPr id="19" name="Text 16"/>
          <p:cNvSpPr txBox="1"/>
          <p:nvPr/>
        </p:nvSpPr>
        <p:spPr>
          <a:xfrm>
            <a:off x="548640"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Read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the case</a:t>
            </a:r>
            <a:endParaRPr lang="en-US" sz="2000" dirty="0"/>
          </a:p>
        </p:txBody>
      </p:sp>
      <p:sp>
        <p:nvSpPr>
          <p:cNvPr id="20" name="Text 17"/>
          <p:cNvSpPr txBox="1"/>
          <p:nvPr/>
        </p:nvSpPr>
        <p:spPr>
          <a:xfrm>
            <a:off x="2926080" y="4983480"/>
            <a:ext cx="429768" cy="9144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1" name="Shape 18"/>
          <p:cNvSpPr/>
          <p:nvPr/>
        </p:nvSpPr>
        <p:spPr>
          <a:xfrm>
            <a:off x="3355848" y="4983480"/>
            <a:ext cx="2377440" cy="914400"/>
          </a:xfrm>
          <a:prstGeom prst="roundRect">
            <a:avLst>
              <a:gd name="adj" fmla="val 10000"/>
            </a:avLst>
          </a:prstGeom>
          <a:solidFill>
            <a:srgbClr val="2459D8"/>
          </a:solidFill>
          <a:ln/>
        </p:spPr>
      </p:sp>
      <p:sp>
        <p:nvSpPr>
          <p:cNvPr id="22" name="Text 19"/>
          <p:cNvSpPr txBox="1"/>
          <p:nvPr/>
        </p:nvSpPr>
        <p:spPr>
          <a:xfrm>
            <a:off x="3355848"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Investigate</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the evidence</a:t>
            </a:r>
            <a:endParaRPr lang="en-US" sz="2000" dirty="0"/>
          </a:p>
        </p:txBody>
      </p:sp>
      <p:sp>
        <p:nvSpPr>
          <p:cNvPr id="23" name="Text 20"/>
          <p:cNvSpPr txBox="1"/>
          <p:nvPr/>
        </p:nvSpPr>
        <p:spPr>
          <a:xfrm>
            <a:off x="5733288" y="4983480"/>
            <a:ext cx="429768" cy="9144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4" name="Shape 21"/>
          <p:cNvSpPr/>
          <p:nvPr/>
        </p:nvSpPr>
        <p:spPr>
          <a:xfrm>
            <a:off x="6163056" y="4983480"/>
            <a:ext cx="2377440" cy="914400"/>
          </a:xfrm>
          <a:prstGeom prst="roundRect">
            <a:avLst>
              <a:gd name="adj" fmla="val 10000"/>
            </a:avLst>
          </a:prstGeom>
          <a:solidFill>
            <a:srgbClr val="7448D4"/>
          </a:solidFill>
          <a:ln/>
        </p:spPr>
      </p:sp>
      <p:sp>
        <p:nvSpPr>
          <p:cNvPr id="25" name="Text 22"/>
          <p:cNvSpPr txBox="1"/>
          <p:nvPr/>
        </p:nvSpPr>
        <p:spPr>
          <a:xfrm>
            <a:off x="6163056"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Submit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the whole flag</a:t>
            </a:r>
            <a:endParaRPr lang="en-US" sz="2000" dirty="0"/>
          </a:p>
        </p:txBody>
      </p:sp>
      <p:sp>
        <p:nvSpPr>
          <p:cNvPr id="26" name="Text 23"/>
          <p:cNvSpPr txBox="1"/>
          <p:nvPr/>
        </p:nvSpPr>
        <p:spPr>
          <a:xfrm>
            <a:off x="8540496" y="4983480"/>
            <a:ext cx="429768" cy="9144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7" name="Shape 24"/>
          <p:cNvSpPr/>
          <p:nvPr/>
        </p:nvSpPr>
        <p:spPr>
          <a:xfrm>
            <a:off x="8970264" y="4983480"/>
            <a:ext cx="2377440" cy="914400"/>
          </a:xfrm>
          <a:prstGeom prst="roundRect">
            <a:avLst>
              <a:gd name="adj" fmla="val 10000"/>
            </a:avLst>
          </a:prstGeom>
          <a:solidFill>
            <a:srgbClr val="D1416B"/>
          </a:solidFill>
          <a:ln/>
        </p:spPr>
      </p:sp>
      <p:sp>
        <p:nvSpPr>
          <p:cNvPr id="28" name="Text 25"/>
          <p:cNvSpPr txBox="1"/>
          <p:nvPr/>
        </p:nvSpPr>
        <p:spPr>
          <a:xfrm>
            <a:off x="8970264"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Score</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points on the board</a:t>
            </a:r>
            <a:endParaRPr lang="en-US" sz="2000" dirty="0"/>
          </a:p>
        </p:txBody>
      </p:sp>
      <p:sp>
        <p:nvSpPr>
          <p:cNvPr id="29" name="Text 2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 / 60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The flow of every challenge</a:t>
            </a:r>
            <a:endParaRPr lang="en-US" sz="3200" dirty="0"/>
          </a:p>
        </p:txBody>
      </p:sp>
      <p:sp>
        <p:nvSpPr>
          <p:cNvPr id="4" name="Shape 1"/>
          <p:cNvSpPr/>
          <p:nvPr/>
        </p:nvSpPr>
        <p:spPr>
          <a:xfrm>
            <a:off x="548640" y="1508760"/>
            <a:ext cx="2606040" cy="2011680"/>
          </a:xfrm>
          <a:prstGeom prst="roundRect">
            <a:avLst>
              <a:gd name="adj" fmla="val 4545"/>
            </a:avLst>
          </a:prstGeom>
          <a:solidFill>
            <a:srgbClr val="F1F5FB"/>
          </a:solidFill>
          <a:ln/>
        </p:spPr>
      </p:sp>
      <p:sp>
        <p:nvSpPr>
          <p:cNvPr id="5" name="Shape 2"/>
          <p:cNvSpPr/>
          <p:nvPr/>
        </p:nvSpPr>
        <p:spPr>
          <a:xfrm>
            <a:off x="1417320" y="1737360"/>
            <a:ext cx="822960" cy="822960"/>
          </a:xfrm>
          <a:prstGeom prst="ellipse">
            <a:avLst/>
          </a:prstGeom>
          <a:solidFill>
            <a:srgbClr val="17875A"/>
          </a:solidFill>
          <a:ln/>
        </p:spPr>
      </p:sp>
      <p:pic>
        <p:nvPicPr>
          <p:cNvPr id="6" name="Image 0" descr="preencoded.png">    </p:cNvPr>
          <p:cNvPicPr>
            <a:picLocks noChangeAspect="1"/>
          </p:cNvPicPr>
          <p:nvPr/>
        </p:nvPicPr>
        <p:blipFill>
          <a:blip r:embed="rId1"/>
          <a:stretch>
            <a:fillRect/>
          </a:stretch>
        </p:blipFill>
        <p:spPr>
          <a:xfrm>
            <a:off x="1623060" y="1943100"/>
            <a:ext cx="411480" cy="411480"/>
          </a:xfrm>
          <a:prstGeom prst="rect">
            <a:avLst/>
          </a:prstGeom>
        </p:spPr>
      </p:pic>
      <p:sp>
        <p:nvSpPr>
          <p:cNvPr id="7" name="Text 3"/>
          <p:cNvSpPr txBox="1"/>
          <p:nvPr/>
        </p:nvSpPr>
        <p:spPr>
          <a:xfrm>
            <a:off x="685800"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Read</a:t>
            </a:r>
            <a:endParaRPr lang="en-US" sz="2000" dirty="0"/>
          </a:p>
        </p:txBody>
      </p:sp>
      <p:sp>
        <p:nvSpPr>
          <p:cNvPr id="8" name="Text 4"/>
          <p:cNvSpPr txBox="1"/>
          <p:nvPr/>
        </p:nvSpPr>
        <p:spPr>
          <a:xfrm>
            <a:off x="685800"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case</a:t>
            </a:r>
            <a:endParaRPr lang="en-US" sz="1400" dirty="0"/>
          </a:p>
        </p:txBody>
      </p:sp>
      <p:sp>
        <p:nvSpPr>
          <p:cNvPr id="9" name="Text 5"/>
          <p:cNvSpPr txBox="1"/>
          <p:nvPr/>
        </p:nvSpPr>
        <p:spPr>
          <a:xfrm>
            <a:off x="3154680" y="201168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10" name="Shape 6"/>
          <p:cNvSpPr/>
          <p:nvPr/>
        </p:nvSpPr>
        <p:spPr>
          <a:xfrm>
            <a:off x="3364992" y="1508760"/>
            <a:ext cx="2606040" cy="2011680"/>
          </a:xfrm>
          <a:prstGeom prst="roundRect">
            <a:avLst>
              <a:gd name="adj" fmla="val 4545"/>
            </a:avLst>
          </a:prstGeom>
          <a:solidFill>
            <a:srgbClr val="F1F5FB"/>
          </a:solidFill>
          <a:ln/>
        </p:spPr>
      </p:sp>
      <p:sp>
        <p:nvSpPr>
          <p:cNvPr id="11" name="Shape 7"/>
          <p:cNvSpPr/>
          <p:nvPr/>
        </p:nvSpPr>
        <p:spPr>
          <a:xfrm>
            <a:off x="4233672" y="1737360"/>
            <a:ext cx="822960" cy="822960"/>
          </a:xfrm>
          <a:prstGeom prst="ellipse">
            <a:avLst/>
          </a:prstGeom>
          <a:solidFill>
            <a:srgbClr val="2A9FD6"/>
          </a:solidFill>
          <a:ln/>
        </p:spPr>
      </p:sp>
      <p:pic>
        <p:nvPicPr>
          <p:cNvPr id="12" name="Image 1" descr="preencoded.png">    </p:cNvPr>
          <p:cNvPicPr>
            <a:picLocks noChangeAspect="1"/>
          </p:cNvPicPr>
          <p:nvPr/>
        </p:nvPicPr>
        <p:blipFill>
          <a:blip r:embed="rId2"/>
          <a:stretch>
            <a:fillRect/>
          </a:stretch>
        </p:blipFill>
        <p:spPr>
          <a:xfrm>
            <a:off x="4439412" y="1943100"/>
            <a:ext cx="411480" cy="411480"/>
          </a:xfrm>
          <a:prstGeom prst="rect">
            <a:avLst/>
          </a:prstGeom>
        </p:spPr>
      </p:pic>
      <p:sp>
        <p:nvSpPr>
          <p:cNvPr id="13" name="Text 8"/>
          <p:cNvSpPr txBox="1"/>
          <p:nvPr/>
        </p:nvSpPr>
        <p:spPr>
          <a:xfrm>
            <a:off x="3502152"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Observe</a:t>
            </a:r>
            <a:endParaRPr lang="en-US" sz="2000" dirty="0"/>
          </a:p>
        </p:txBody>
      </p:sp>
      <p:sp>
        <p:nvSpPr>
          <p:cNvPr id="14" name="Text 9"/>
          <p:cNvSpPr txBox="1"/>
          <p:nvPr/>
        </p:nvSpPr>
        <p:spPr>
          <a:xfrm>
            <a:off x="3502152"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clues</a:t>
            </a:r>
            <a:endParaRPr lang="en-US" sz="1400" dirty="0"/>
          </a:p>
        </p:txBody>
      </p:sp>
      <p:sp>
        <p:nvSpPr>
          <p:cNvPr id="15" name="Text 10"/>
          <p:cNvSpPr txBox="1"/>
          <p:nvPr/>
        </p:nvSpPr>
        <p:spPr>
          <a:xfrm>
            <a:off x="5971032" y="201168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16" name="Shape 11"/>
          <p:cNvSpPr/>
          <p:nvPr/>
        </p:nvSpPr>
        <p:spPr>
          <a:xfrm>
            <a:off x="6181344" y="1508760"/>
            <a:ext cx="2606040" cy="2011680"/>
          </a:xfrm>
          <a:prstGeom prst="roundRect">
            <a:avLst>
              <a:gd name="adj" fmla="val 4545"/>
            </a:avLst>
          </a:prstGeom>
          <a:solidFill>
            <a:srgbClr val="F1F5FB"/>
          </a:solidFill>
          <a:ln/>
        </p:spPr>
      </p:sp>
      <p:sp>
        <p:nvSpPr>
          <p:cNvPr id="17" name="Shape 12"/>
          <p:cNvSpPr/>
          <p:nvPr/>
        </p:nvSpPr>
        <p:spPr>
          <a:xfrm>
            <a:off x="7050024" y="1737360"/>
            <a:ext cx="822960" cy="822960"/>
          </a:xfrm>
          <a:prstGeom prst="ellipse">
            <a:avLst/>
          </a:prstGeom>
          <a:solidFill>
            <a:srgbClr val="2459D8"/>
          </a:solidFill>
          <a:ln/>
        </p:spPr>
      </p:sp>
      <p:pic>
        <p:nvPicPr>
          <p:cNvPr id="18" name="Image 2" descr="preencoded.png">    </p:cNvPr>
          <p:cNvPicPr>
            <a:picLocks noChangeAspect="1"/>
          </p:cNvPicPr>
          <p:nvPr/>
        </p:nvPicPr>
        <p:blipFill>
          <a:blip r:embed="rId3"/>
          <a:stretch>
            <a:fillRect/>
          </a:stretch>
        </p:blipFill>
        <p:spPr>
          <a:xfrm>
            <a:off x="7255764" y="1943100"/>
            <a:ext cx="411480" cy="411480"/>
          </a:xfrm>
          <a:prstGeom prst="rect">
            <a:avLst/>
          </a:prstGeom>
        </p:spPr>
      </p:pic>
      <p:sp>
        <p:nvSpPr>
          <p:cNvPr id="19" name="Text 13"/>
          <p:cNvSpPr txBox="1"/>
          <p:nvPr/>
        </p:nvSpPr>
        <p:spPr>
          <a:xfrm>
            <a:off x="6318504"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Choose</a:t>
            </a:r>
            <a:endParaRPr lang="en-US" sz="2000" dirty="0"/>
          </a:p>
        </p:txBody>
      </p:sp>
      <p:sp>
        <p:nvSpPr>
          <p:cNvPr id="20" name="Text 14"/>
          <p:cNvSpPr txBox="1"/>
          <p:nvPr/>
        </p:nvSpPr>
        <p:spPr>
          <a:xfrm>
            <a:off x="6318504"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a tool</a:t>
            </a:r>
            <a:endParaRPr lang="en-US" sz="1400" dirty="0"/>
          </a:p>
        </p:txBody>
      </p:sp>
      <p:sp>
        <p:nvSpPr>
          <p:cNvPr id="21" name="Text 15"/>
          <p:cNvSpPr txBox="1"/>
          <p:nvPr/>
        </p:nvSpPr>
        <p:spPr>
          <a:xfrm>
            <a:off x="8787384" y="201168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22" name="Shape 16"/>
          <p:cNvSpPr/>
          <p:nvPr/>
        </p:nvSpPr>
        <p:spPr>
          <a:xfrm>
            <a:off x="8997696" y="1508760"/>
            <a:ext cx="2606040" cy="2011680"/>
          </a:xfrm>
          <a:prstGeom prst="roundRect">
            <a:avLst>
              <a:gd name="adj" fmla="val 4545"/>
            </a:avLst>
          </a:prstGeom>
          <a:solidFill>
            <a:srgbClr val="F1F5FB"/>
          </a:solidFill>
          <a:ln/>
        </p:spPr>
      </p:sp>
      <p:sp>
        <p:nvSpPr>
          <p:cNvPr id="23" name="Shape 17"/>
          <p:cNvSpPr/>
          <p:nvPr/>
        </p:nvSpPr>
        <p:spPr>
          <a:xfrm>
            <a:off x="9866376" y="1737360"/>
            <a:ext cx="822960" cy="822960"/>
          </a:xfrm>
          <a:prstGeom prst="ellipse">
            <a:avLst/>
          </a:prstGeom>
          <a:solidFill>
            <a:srgbClr val="7448D4"/>
          </a:solidFill>
          <a:ln/>
        </p:spPr>
      </p:sp>
      <p:pic>
        <p:nvPicPr>
          <p:cNvPr id="24" name="Image 3" descr="preencoded.png">    </p:cNvPr>
          <p:cNvPicPr>
            <a:picLocks noChangeAspect="1"/>
          </p:cNvPicPr>
          <p:nvPr/>
        </p:nvPicPr>
        <p:blipFill>
          <a:blip r:embed="rId4"/>
          <a:stretch>
            <a:fillRect/>
          </a:stretch>
        </p:blipFill>
        <p:spPr>
          <a:xfrm>
            <a:off x="10072116" y="1943100"/>
            <a:ext cx="411480" cy="411480"/>
          </a:xfrm>
          <a:prstGeom prst="rect">
            <a:avLst/>
          </a:prstGeom>
        </p:spPr>
      </p:pic>
      <p:sp>
        <p:nvSpPr>
          <p:cNvPr id="25" name="Text 18"/>
          <p:cNvSpPr txBox="1"/>
          <p:nvPr/>
        </p:nvSpPr>
        <p:spPr>
          <a:xfrm>
            <a:off x="9134856"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Try</a:t>
            </a:r>
            <a:endParaRPr lang="en-US" sz="2000" dirty="0"/>
          </a:p>
        </p:txBody>
      </p:sp>
      <p:sp>
        <p:nvSpPr>
          <p:cNvPr id="26" name="Text 19"/>
          <p:cNvSpPr txBox="1"/>
          <p:nvPr/>
        </p:nvSpPr>
        <p:spPr>
          <a:xfrm>
            <a:off x="9134856"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a command</a:t>
            </a:r>
            <a:endParaRPr lang="en-US" sz="1400" dirty="0"/>
          </a:p>
        </p:txBody>
      </p:sp>
      <p:sp>
        <p:nvSpPr>
          <p:cNvPr id="27" name="Shape 20"/>
          <p:cNvSpPr/>
          <p:nvPr/>
        </p:nvSpPr>
        <p:spPr>
          <a:xfrm>
            <a:off x="548640" y="3749040"/>
            <a:ext cx="2606040" cy="2011680"/>
          </a:xfrm>
          <a:prstGeom prst="roundRect">
            <a:avLst>
              <a:gd name="adj" fmla="val 4545"/>
            </a:avLst>
          </a:prstGeom>
          <a:solidFill>
            <a:srgbClr val="F1F5FB"/>
          </a:solidFill>
          <a:ln/>
        </p:spPr>
      </p:sp>
      <p:sp>
        <p:nvSpPr>
          <p:cNvPr id="28" name="Shape 21"/>
          <p:cNvSpPr/>
          <p:nvPr/>
        </p:nvSpPr>
        <p:spPr>
          <a:xfrm>
            <a:off x="1417320" y="3977640"/>
            <a:ext cx="822960" cy="822960"/>
          </a:xfrm>
          <a:prstGeom prst="ellipse">
            <a:avLst/>
          </a:prstGeom>
          <a:solidFill>
            <a:srgbClr val="D1416B"/>
          </a:solidFill>
          <a:ln/>
        </p:spPr>
      </p:sp>
      <p:pic>
        <p:nvPicPr>
          <p:cNvPr id="29" name="Image 4" descr="preencoded.png">    </p:cNvPr>
          <p:cNvPicPr>
            <a:picLocks noChangeAspect="1"/>
          </p:cNvPicPr>
          <p:nvPr/>
        </p:nvPicPr>
        <p:blipFill>
          <a:blip r:embed="rId5"/>
          <a:stretch>
            <a:fillRect/>
          </a:stretch>
        </p:blipFill>
        <p:spPr>
          <a:xfrm>
            <a:off x="1623060" y="4183380"/>
            <a:ext cx="411480" cy="411480"/>
          </a:xfrm>
          <a:prstGeom prst="rect">
            <a:avLst/>
          </a:prstGeom>
        </p:spPr>
      </p:pic>
      <p:sp>
        <p:nvSpPr>
          <p:cNvPr id="30" name="Text 22"/>
          <p:cNvSpPr txBox="1"/>
          <p:nvPr/>
        </p:nvSpPr>
        <p:spPr>
          <a:xfrm>
            <a:off x="685800"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Check</a:t>
            </a:r>
            <a:endParaRPr lang="en-US" sz="2000" dirty="0"/>
          </a:p>
        </p:txBody>
      </p:sp>
      <p:sp>
        <p:nvSpPr>
          <p:cNvPr id="31" name="Text 23"/>
          <p:cNvSpPr txBox="1"/>
          <p:nvPr/>
        </p:nvSpPr>
        <p:spPr>
          <a:xfrm>
            <a:off x="685800"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output</a:t>
            </a:r>
            <a:endParaRPr lang="en-US" sz="1400" dirty="0"/>
          </a:p>
        </p:txBody>
      </p:sp>
      <p:sp>
        <p:nvSpPr>
          <p:cNvPr id="32" name="Text 24"/>
          <p:cNvSpPr txBox="1"/>
          <p:nvPr/>
        </p:nvSpPr>
        <p:spPr>
          <a:xfrm>
            <a:off x="3154680" y="425196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33" name="Shape 25"/>
          <p:cNvSpPr/>
          <p:nvPr/>
        </p:nvSpPr>
        <p:spPr>
          <a:xfrm>
            <a:off x="3364992" y="3749040"/>
            <a:ext cx="2606040" cy="2011680"/>
          </a:xfrm>
          <a:prstGeom prst="roundRect">
            <a:avLst>
              <a:gd name="adj" fmla="val 4545"/>
            </a:avLst>
          </a:prstGeom>
          <a:solidFill>
            <a:srgbClr val="F1F5FB"/>
          </a:solidFill>
          <a:ln/>
        </p:spPr>
      </p:sp>
      <p:sp>
        <p:nvSpPr>
          <p:cNvPr id="34" name="Shape 26"/>
          <p:cNvSpPr/>
          <p:nvPr/>
        </p:nvSpPr>
        <p:spPr>
          <a:xfrm>
            <a:off x="4233672" y="3977640"/>
            <a:ext cx="822960" cy="822960"/>
          </a:xfrm>
          <a:prstGeom prst="ellipse">
            <a:avLst/>
          </a:prstGeom>
          <a:solidFill>
            <a:srgbClr val="E8820C"/>
          </a:solidFill>
          <a:ln/>
        </p:spPr>
      </p:sp>
      <p:pic>
        <p:nvPicPr>
          <p:cNvPr id="35" name="Image 5" descr="preencoded.png">    </p:cNvPr>
          <p:cNvPicPr>
            <a:picLocks noChangeAspect="1"/>
          </p:cNvPicPr>
          <p:nvPr/>
        </p:nvPicPr>
        <p:blipFill>
          <a:blip r:embed="rId6"/>
          <a:stretch>
            <a:fillRect/>
          </a:stretch>
        </p:blipFill>
        <p:spPr>
          <a:xfrm>
            <a:off x="4439412" y="4183380"/>
            <a:ext cx="411480" cy="411480"/>
          </a:xfrm>
          <a:prstGeom prst="rect">
            <a:avLst/>
          </a:prstGeom>
        </p:spPr>
      </p:pic>
      <p:sp>
        <p:nvSpPr>
          <p:cNvPr id="36" name="Text 27"/>
          <p:cNvSpPr txBox="1"/>
          <p:nvPr/>
        </p:nvSpPr>
        <p:spPr>
          <a:xfrm>
            <a:off x="3502152"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Adjust</a:t>
            </a:r>
            <a:endParaRPr lang="en-US" sz="2000" dirty="0"/>
          </a:p>
        </p:txBody>
      </p:sp>
      <p:sp>
        <p:nvSpPr>
          <p:cNvPr id="37" name="Text 28"/>
          <p:cNvSpPr txBox="1"/>
          <p:nvPr/>
        </p:nvSpPr>
        <p:spPr>
          <a:xfrm>
            <a:off x="3502152"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if needed</a:t>
            </a:r>
            <a:endParaRPr lang="en-US" sz="1400" dirty="0"/>
          </a:p>
        </p:txBody>
      </p:sp>
      <p:sp>
        <p:nvSpPr>
          <p:cNvPr id="38" name="Text 29"/>
          <p:cNvSpPr txBox="1"/>
          <p:nvPr/>
        </p:nvSpPr>
        <p:spPr>
          <a:xfrm>
            <a:off x="5971032" y="425196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39" name="Shape 30"/>
          <p:cNvSpPr/>
          <p:nvPr/>
        </p:nvSpPr>
        <p:spPr>
          <a:xfrm>
            <a:off x="6181344" y="3749040"/>
            <a:ext cx="2606040" cy="2011680"/>
          </a:xfrm>
          <a:prstGeom prst="roundRect">
            <a:avLst>
              <a:gd name="adj" fmla="val 4545"/>
            </a:avLst>
          </a:prstGeom>
          <a:solidFill>
            <a:srgbClr val="F1F5FB"/>
          </a:solidFill>
          <a:ln/>
        </p:spPr>
      </p:sp>
      <p:sp>
        <p:nvSpPr>
          <p:cNvPr id="40" name="Shape 31"/>
          <p:cNvSpPr/>
          <p:nvPr/>
        </p:nvSpPr>
        <p:spPr>
          <a:xfrm>
            <a:off x="7050024" y="3977640"/>
            <a:ext cx="822960" cy="822960"/>
          </a:xfrm>
          <a:prstGeom prst="ellipse">
            <a:avLst/>
          </a:prstGeom>
          <a:solidFill>
            <a:srgbClr val="17875A"/>
          </a:solidFill>
          <a:ln/>
        </p:spPr>
      </p:sp>
      <p:pic>
        <p:nvPicPr>
          <p:cNvPr id="41" name="Image 6" descr="preencoded.png">    </p:cNvPr>
          <p:cNvPicPr>
            <a:picLocks noChangeAspect="1"/>
          </p:cNvPicPr>
          <p:nvPr/>
        </p:nvPicPr>
        <p:blipFill>
          <a:blip r:embed="rId7"/>
          <a:stretch>
            <a:fillRect/>
          </a:stretch>
        </p:blipFill>
        <p:spPr>
          <a:xfrm>
            <a:off x="7255764" y="4183380"/>
            <a:ext cx="411480" cy="411480"/>
          </a:xfrm>
          <a:prstGeom prst="rect">
            <a:avLst/>
          </a:prstGeom>
        </p:spPr>
      </p:pic>
      <p:sp>
        <p:nvSpPr>
          <p:cNvPr id="42" name="Text 32"/>
          <p:cNvSpPr txBox="1"/>
          <p:nvPr/>
        </p:nvSpPr>
        <p:spPr>
          <a:xfrm>
            <a:off x="6318504"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Capture</a:t>
            </a:r>
            <a:endParaRPr lang="en-US" sz="2000" dirty="0"/>
          </a:p>
        </p:txBody>
      </p:sp>
      <p:sp>
        <p:nvSpPr>
          <p:cNvPr id="43" name="Text 33"/>
          <p:cNvSpPr txBox="1"/>
          <p:nvPr/>
        </p:nvSpPr>
        <p:spPr>
          <a:xfrm>
            <a:off x="6318504"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flag</a:t>
            </a:r>
            <a:endParaRPr lang="en-US" sz="1400" dirty="0"/>
          </a:p>
        </p:txBody>
      </p:sp>
      <p:sp>
        <p:nvSpPr>
          <p:cNvPr id="44" name="Text 34"/>
          <p:cNvSpPr txBox="1"/>
          <p:nvPr/>
        </p:nvSpPr>
        <p:spPr>
          <a:xfrm>
            <a:off x="8787384" y="425196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45" name="Shape 35"/>
          <p:cNvSpPr/>
          <p:nvPr/>
        </p:nvSpPr>
        <p:spPr>
          <a:xfrm>
            <a:off x="8997696" y="3749040"/>
            <a:ext cx="2606040" cy="2011680"/>
          </a:xfrm>
          <a:prstGeom prst="roundRect">
            <a:avLst>
              <a:gd name="adj" fmla="val 4545"/>
            </a:avLst>
          </a:prstGeom>
          <a:solidFill>
            <a:srgbClr val="F1F5FB"/>
          </a:solidFill>
          <a:ln/>
        </p:spPr>
      </p:sp>
      <p:sp>
        <p:nvSpPr>
          <p:cNvPr id="46" name="Shape 36"/>
          <p:cNvSpPr/>
          <p:nvPr/>
        </p:nvSpPr>
        <p:spPr>
          <a:xfrm>
            <a:off x="9866376" y="3977640"/>
            <a:ext cx="822960" cy="822960"/>
          </a:xfrm>
          <a:prstGeom prst="ellipse">
            <a:avLst/>
          </a:prstGeom>
          <a:solidFill>
            <a:srgbClr val="2A9FD6"/>
          </a:solidFill>
          <a:ln/>
        </p:spPr>
      </p:sp>
      <p:pic>
        <p:nvPicPr>
          <p:cNvPr id="47" name="Image 7" descr="preencoded.png">    </p:cNvPr>
          <p:cNvPicPr>
            <a:picLocks noChangeAspect="1"/>
          </p:cNvPicPr>
          <p:nvPr/>
        </p:nvPicPr>
        <p:blipFill>
          <a:blip r:embed="rId8"/>
          <a:stretch>
            <a:fillRect/>
          </a:stretch>
        </p:blipFill>
        <p:spPr>
          <a:xfrm>
            <a:off x="10072116" y="4183380"/>
            <a:ext cx="411480" cy="411480"/>
          </a:xfrm>
          <a:prstGeom prst="rect">
            <a:avLst/>
          </a:prstGeom>
        </p:spPr>
      </p:pic>
      <p:sp>
        <p:nvSpPr>
          <p:cNvPr id="48" name="Text 37"/>
          <p:cNvSpPr txBox="1"/>
          <p:nvPr/>
        </p:nvSpPr>
        <p:spPr>
          <a:xfrm>
            <a:off x="9134856"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Submit</a:t>
            </a:r>
            <a:endParaRPr lang="en-US" sz="2000" dirty="0"/>
          </a:p>
        </p:txBody>
      </p:sp>
      <p:sp>
        <p:nvSpPr>
          <p:cNvPr id="49" name="Text 38"/>
          <p:cNvSpPr txBox="1"/>
          <p:nvPr/>
        </p:nvSpPr>
        <p:spPr>
          <a:xfrm>
            <a:off x="9134856"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&amp; reflect</a:t>
            </a:r>
            <a:endParaRPr lang="en-US" sz="1400" dirty="0"/>
          </a:p>
        </p:txBody>
      </p:sp>
      <p:sp>
        <p:nvSpPr>
          <p:cNvPr id="50" name="Text 39"/>
          <p:cNvSpPr txBox="1"/>
          <p:nvPr/>
        </p:nvSpPr>
        <p:spPr>
          <a:xfrm>
            <a:off x="548640" y="6053328"/>
            <a:ext cx="11094415" cy="320040"/>
          </a:xfrm>
          <a:prstGeom prst="rect">
            <a:avLst/>
          </a:prstGeom>
          <a:noFill/>
          <a:ln/>
        </p:spPr>
        <p:txBody>
          <a:bodyPr wrap="square" lIns="0" tIns="0" rIns="0" bIns="0" rtlCol="0" anchor="t"/>
          <a:lstStyle/>
          <a:p>
            <a:pPr algn="ctr" indent="0" marL="0">
              <a:buNone/>
            </a:pPr>
            <a:r>
              <a:rPr lang="en-US" sz="1300" dirty="0">
                <a:solidFill>
                  <a:srgbClr val="56657E"/>
                </a:solidFill>
                <a:latin typeface="Calibri" pitchFamily="34" charset="0"/>
                <a:ea typeface="Calibri" pitchFamily="34" charset="-122"/>
                <a:cs typeface="Calibri" pitchFamily="34" charset="-120"/>
              </a:rPr>
              <a:t>read -&gt; try -&gt; check -&gt; adjust is the loop. Capturing the flag is just where it ends.</a:t>
            </a:r>
            <a:endParaRPr lang="en-US" sz="1300" dirty="0"/>
          </a:p>
        </p:txBody>
      </p:sp>
      <p:sp>
        <p:nvSpPr>
          <p:cNvPr id="51" name="Text 4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 / 60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17875A"/>
                </a:solidFill>
                <a:latin typeface="Arial" pitchFamily="34" charset="0"/>
                <a:ea typeface="Arial" pitchFamily="34" charset="-122"/>
                <a:cs typeface="Arial" pitchFamily="34" charset="-120"/>
              </a:rPr>
              <a:t>1</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Forensics fundamentals</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ls -l --full-time evidence/</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 / 60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digital investigators do</a:t>
            </a:r>
            <a:endParaRPr lang="en-US" sz="3200" dirty="0"/>
          </a:p>
        </p:txBody>
      </p:sp>
      <p:sp>
        <p:nvSpPr>
          <p:cNvPr id="4" name="Shape 1"/>
          <p:cNvSpPr/>
          <p:nvPr/>
        </p:nvSpPr>
        <p:spPr>
          <a:xfrm>
            <a:off x="548640" y="1600200"/>
            <a:ext cx="2011680" cy="3200400"/>
          </a:xfrm>
          <a:prstGeom prst="roundRect">
            <a:avLst>
              <a:gd name="adj" fmla="val 4545"/>
            </a:avLst>
          </a:prstGeom>
          <a:solidFill>
            <a:srgbClr val="F1F5FB"/>
          </a:solidFill>
          <a:ln/>
        </p:spPr>
      </p:sp>
      <p:sp>
        <p:nvSpPr>
          <p:cNvPr id="5" name="Shape 2"/>
          <p:cNvSpPr/>
          <p:nvPr/>
        </p:nvSpPr>
        <p:spPr>
          <a:xfrm>
            <a:off x="1097280" y="1828800"/>
            <a:ext cx="914400" cy="914400"/>
          </a:xfrm>
          <a:prstGeom prst="ellipse">
            <a:avLst/>
          </a:prstGeom>
          <a:solidFill>
            <a:srgbClr val="17875A"/>
          </a:solidFill>
          <a:ln/>
        </p:spPr>
      </p:sp>
      <p:pic>
        <p:nvPicPr>
          <p:cNvPr id="6" name="Image 0" descr="preencoded.png">    </p:cNvPr>
          <p:cNvPicPr>
            <a:picLocks noChangeAspect="1"/>
          </p:cNvPicPr>
          <p:nvPr/>
        </p:nvPicPr>
        <p:blipFill>
          <a:blip r:embed="rId1"/>
          <a:stretch>
            <a:fillRect/>
          </a:stretch>
        </p:blipFill>
        <p:spPr>
          <a:xfrm>
            <a:off x="1325880" y="2057400"/>
            <a:ext cx="457200" cy="457200"/>
          </a:xfrm>
          <a:prstGeom prst="rect">
            <a:avLst/>
          </a:prstGeom>
        </p:spPr>
      </p:pic>
      <p:sp>
        <p:nvSpPr>
          <p:cNvPr id="7" name="Text 3"/>
          <p:cNvSpPr txBox="1"/>
          <p:nvPr/>
        </p:nvSpPr>
        <p:spPr>
          <a:xfrm>
            <a:off x="685800" y="2971800"/>
            <a:ext cx="17373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Arial" pitchFamily="34" charset="0"/>
                <a:ea typeface="Arial" pitchFamily="34" charset="-122"/>
                <a:cs typeface="Arial" pitchFamily="34" charset="-120"/>
              </a:rPr>
              <a:t>Preserve</a:t>
            </a:r>
            <a:endParaRPr lang="en-US" sz="2200" dirty="0"/>
          </a:p>
        </p:txBody>
      </p:sp>
      <p:sp>
        <p:nvSpPr>
          <p:cNvPr id="8" name="Text 4"/>
          <p:cNvSpPr txBox="1"/>
          <p:nvPr/>
        </p:nvSpPr>
        <p:spPr>
          <a:xfrm>
            <a:off x="731520"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Copy the evidence and fingerprint it (hash).</a:t>
            </a:r>
            <a:endParaRPr lang="en-US" sz="1500" dirty="0"/>
          </a:p>
        </p:txBody>
      </p:sp>
      <p:sp>
        <p:nvSpPr>
          <p:cNvPr id="9" name="Text 5"/>
          <p:cNvSpPr txBox="1"/>
          <p:nvPr/>
        </p:nvSpPr>
        <p:spPr>
          <a:xfrm>
            <a:off x="2560320"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0" name="Shape 6"/>
          <p:cNvSpPr/>
          <p:nvPr/>
        </p:nvSpPr>
        <p:spPr>
          <a:xfrm>
            <a:off x="2816352" y="1600200"/>
            <a:ext cx="2011680" cy="3200400"/>
          </a:xfrm>
          <a:prstGeom prst="roundRect">
            <a:avLst>
              <a:gd name="adj" fmla="val 4545"/>
            </a:avLst>
          </a:prstGeom>
          <a:solidFill>
            <a:srgbClr val="F1F5FB"/>
          </a:solidFill>
          <a:ln/>
        </p:spPr>
      </p:sp>
      <p:sp>
        <p:nvSpPr>
          <p:cNvPr id="11" name="Shape 7"/>
          <p:cNvSpPr/>
          <p:nvPr/>
        </p:nvSpPr>
        <p:spPr>
          <a:xfrm>
            <a:off x="3364992" y="1828800"/>
            <a:ext cx="914400" cy="914400"/>
          </a:xfrm>
          <a:prstGeom prst="ellipse">
            <a:avLst/>
          </a:prstGeom>
          <a:solidFill>
            <a:srgbClr val="2A9FD6"/>
          </a:solidFill>
          <a:ln/>
        </p:spPr>
      </p:sp>
      <p:pic>
        <p:nvPicPr>
          <p:cNvPr id="12" name="Image 1" descr="preencoded.png">    </p:cNvPr>
          <p:cNvPicPr>
            <a:picLocks noChangeAspect="1"/>
          </p:cNvPicPr>
          <p:nvPr/>
        </p:nvPicPr>
        <p:blipFill>
          <a:blip r:embed="rId2"/>
          <a:stretch>
            <a:fillRect/>
          </a:stretch>
        </p:blipFill>
        <p:spPr>
          <a:xfrm>
            <a:off x="3593592" y="2057400"/>
            <a:ext cx="457200" cy="457200"/>
          </a:xfrm>
          <a:prstGeom prst="rect">
            <a:avLst/>
          </a:prstGeom>
        </p:spPr>
      </p:pic>
      <p:sp>
        <p:nvSpPr>
          <p:cNvPr id="13" name="Text 8"/>
          <p:cNvSpPr txBox="1"/>
          <p:nvPr/>
        </p:nvSpPr>
        <p:spPr>
          <a:xfrm>
            <a:off x="2953512" y="2971800"/>
            <a:ext cx="17373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Arial" pitchFamily="34" charset="0"/>
                <a:ea typeface="Arial" pitchFamily="34" charset="-122"/>
                <a:cs typeface="Arial" pitchFamily="34" charset="-120"/>
              </a:rPr>
              <a:t>Collect</a:t>
            </a:r>
            <a:endParaRPr lang="en-US" sz="2200" dirty="0"/>
          </a:p>
        </p:txBody>
      </p:sp>
      <p:sp>
        <p:nvSpPr>
          <p:cNvPr id="14" name="Text 9"/>
          <p:cNvSpPr txBox="1"/>
          <p:nvPr/>
        </p:nvSpPr>
        <p:spPr>
          <a:xfrm>
            <a:off x="2999232"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Logs, files, images, memory, traffic.</a:t>
            </a:r>
            <a:endParaRPr lang="en-US" sz="1500" dirty="0"/>
          </a:p>
        </p:txBody>
      </p:sp>
      <p:sp>
        <p:nvSpPr>
          <p:cNvPr id="15" name="Text 10"/>
          <p:cNvSpPr txBox="1"/>
          <p:nvPr/>
        </p:nvSpPr>
        <p:spPr>
          <a:xfrm>
            <a:off x="4828032"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6" name="Shape 11"/>
          <p:cNvSpPr/>
          <p:nvPr/>
        </p:nvSpPr>
        <p:spPr>
          <a:xfrm>
            <a:off x="5084064" y="1600200"/>
            <a:ext cx="2011680" cy="3200400"/>
          </a:xfrm>
          <a:prstGeom prst="roundRect">
            <a:avLst>
              <a:gd name="adj" fmla="val 4545"/>
            </a:avLst>
          </a:prstGeom>
          <a:solidFill>
            <a:srgbClr val="F1F5FB"/>
          </a:solidFill>
          <a:ln/>
        </p:spPr>
      </p:sp>
      <p:sp>
        <p:nvSpPr>
          <p:cNvPr id="17" name="Shape 12"/>
          <p:cNvSpPr/>
          <p:nvPr/>
        </p:nvSpPr>
        <p:spPr>
          <a:xfrm>
            <a:off x="5632704" y="1828800"/>
            <a:ext cx="914400" cy="914400"/>
          </a:xfrm>
          <a:prstGeom prst="ellipse">
            <a:avLst/>
          </a:prstGeom>
          <a:solidFill>
            <a:srgbClr val="2459D8"/>
          </a:solidFill>
          <a:ln/>
        </p:spPr>
      </p:sp>
      <p:pic>
        <p:nvPicPr>
          <p:cNvPr id="18" name="Image 2" descr="preencoded.png">    </p:cNvPr>
          <p:cNvPicPr>
            <a:picLocks noChangeAspect="1"/>
          </p:cNvPicPr>
          <p:nvPr/>
        </p:nvPicPr>
        <p:blipFill>
          <a:blip r:embed="rId3"/>
          <a:stretch>
            <a:fillRect/>
          </a:stretch>
        </p:blipFill>
        <p:spPr>
          <a:xfrm>
            <a:off x="5861304" y="2057400"/>
            <a:ext cx="457200" cy="457200"/>
          </a:xfrm>
          <a:prstGeom prst="rect">
            <a:avLst/>
          </a:prstGeom>
        </p:spPr>
      </p:pic>
      <p:sp>
        <p:nvSpPr>
          <p:cNvPr id="19" name="Text 13"/>
          <p:cNvSpPr txBox="1"/>
          <p:nvPr/>
        </p:nvSpPr>
        <p:spPr>
          <a:xfrm>
            <a:off x="5221224" y="2971800"/>
            <a:ext cx="17373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Arial" pitchFamily="34" charset="0"/>
                <a:ea typeface="Arial" pitchFamily="34" charset="-122"/>
                <a:cs typeface="Arial" pitchFamily="34" charset="-120"/>
              </a:rPr>
              <a:t>Examine</a:t>
            </a:r>
            <a:endParaRPr lang="en-US" sz="2200" dirty="0"/>
          </a:p>
        </p:txBody>
      </p:sp>
      <p:sp>
        <p:nvSpPr>
          <p:cNvPr id="20" name="Text 14"/>
          <p:cNvSpPr txBox="1"/>
          <p:nvPr/>
        </p:nvSpPr>
        <p:spPr>
          <a:xfrm>
            <a:off x="5266944"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Pull out the readable, the hidden, the odd.</a:t>
            </a:r>
            <a:endParaRPr lang="en-US" sz="1500" dirty="0"/>
          </a:p>
        </p:txBody>
      </p:sp>
      <p:sp>
        <p:nvSpPr>
          <p:cNvPr id="21" name="Text 15"/>
          <p:cNvSpPr txBox="1"/>
          <p:nvPr/>
        </p:nvSpPr>
        <p:spPr>
          <a:xfrm>
            <a:off x="7095744"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2" name="Shape 16"/>
          <p:cNvSpPr/>
          <p:nvPr/>
        </p:nvSpPr>
        <p:spPr>
          <a:xfrm>
            <a:off x="7351776" y="1600200"/>
            <a:ext cx="2011680" cy="3200400"/>
          </a:xfrm>
          <a:prstGeom prst="roundRect">
            <a:avLst>
              <a:gd name="adj" fmla="val 4545"/>
            </a:avLst>
          </a:prstGeom>
          <a:solidFill>
            <a:srgbClr val="F1F5FB"/>
          </a:solidFill>
          <a:ln/>
        </p:spPr>
      </p:sp>
      <p:sp>
        <p:nvSpPr>
          <p:cNvPr id="23" name="Shape 17"/>
          <p:cNvSpPr/>
          <p:nvPr/>
        </p:nvSpPr>
        <p:spPr>
          <a:xfrm>
            <a:off x="7900416" y="1828800"/>
            <a:ext cx="914400" cy="914400"/>
          </a:xfrm>
          <a:prstGeom prst="ellipse">
            <a:avLst/>
          </a:prstGeom>
          <a:solidFill>
            <a:srgbClr val="7448D4"/>
          </a:solidFill>
          <a:ln/>
        </p:spPr>
      </p:sp>
      <p:pic>
        <p:nvPicPr>
          <p:cNvPr id="24" name="Image 3" descr="preencoded.png">    </p:cNvPr>
          <p:cNvPicPr>
            <a:picLocks noChangeAspect="1"/>
          </p:cNvPicPr>
          <p:nvPr/>
        </p:nvPicPr>
        <p:blipFill>
          <a:blip r:embed="rId4"/>
          <a:stretch>
            <a:fillRect/>
          </a:stretch>
        </p:blipFill>
        <p:spPr>
          <a:xfrm>
            <a:off x="8129016" y="2057400"/>
            <a:ext cx="457200" cy="457200"/>
          </a:xfrm>
          <a:prstGeom prst="rect">
            <a:avLst/>
          </a:prstGeom>
        </p:spPr>
      </p:pic>
      <p:sp>
        <p:nvSpPr>
          <p:cNvPr id="25" name="Text 18"/>
          <p:cNvSpPr txBox="1"/>
          <p:nvPr/>
        </p:nvSpPr>
        <p:spPr>
          <a:xfrm>
            <a:off x="7488936" y="2971800"/>
            <a:ext cx="17373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Arial" pitchFamily="34" charset="0"/>
                <a:ea typeface="Arial" pitchFamily="34" charset="-122"/>
                <a:cs typeface="Arial" pitchFamily="34" charset="-120"/>
              </a:rPr>
              <a:t>Analyze</a:t>
            </a:r>
            <a:endParaRPr lang="en-US" sz="2200" dirty="0"/>
          </a:p>
        </p:txBody>
      </p:sp>
      <p:sp>
        <p:nvSpPr>
          <p:cNvPr id="26" name="Text 19"/>
          <p:cNvSpPr txBox="1"/>
          <p:nvPr/>
        </p:nvSpPr>
        <p:spPr>
          <a:xfrm>
            <a:off x="7534656"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Build a timeline. Connect the dots.</a:t>
            </a:r>
            <a:endParaRPr lang="en-US" sz="1500" dirty="0"/>
          </a:p>
        </p:txBody>
      </p:sp>
      <p:sp>
        <p:nvSpPr>
          <p:cNvPr id="27" name="Text 20"/>
          <p:cNvSpPr txBox="1"/>
          <p:nvPr/>
        </p:nvSpPr>
        <p:spPr>
          <a:xfrm>
            <a:off x="9363456"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8" name="Shape 21"/>
          <p:cNvSpPr/>
          <p:nvPr/>
        </p:nvSpPr>
        <p:spPr>
          <a:xfrm>
            <a:off x="9619488" y="1600200"/>
            <a:ext cx="2011680" cy="3200400"/>
          </a:xfrm>
          <a:prstGeom prst="roundRect">
            <a:avLst>
              <a:gd name="adj" fmla="val 4545"/>
            </a:avLst>
          </a:prstGeom>
          <a:solidFill>
            <a:srgbClr val="F1F5FB"/>
          </a:solidFill>
          <a:ln/>
        </p:spPr>
      </p:sp>
      <p:sp>
        <p:nvSpPr>
          <p:cNvPr id="29" name="Shape 22"/>
          <p:cNvSpPr/>
          <p:nvPr/>
        </p:nvSpPr>
        <p:spPr>
          <a:xfrm>
            <a:off x="10168128" y="1828800"/>
            <a:ext cx="914400" cy="914400"/>
          </a:xfrm>
          <a:prstGeom prst="ellipse">
            <a:avLst/>
          </a:prstGeom>
          <a:solidFill>
            <a:srgbClr val="D1416B"/>
          </a:solidFill>
          <a:ln/>
        </p:spPr>
      </p:sp>
      <p:pic>
        <p:nvPicPr>
          <p:cNvPr id="30" name="Image 4" descr="preencoded.png">    </p:cNvPr>
          <p:cNvPicPr>
            <a:picLocks noChangeAspect="1"/>
          </p:cNvPicPr>
          <p:nvPr/>
        </p:nvPicPr>
        <p:blipFill>
          <a:blip r:embed="rId5"/>
          <a:stretch>
            <a:fillRect/>
          </a:stretch>
        </p:blipFill>
        <p:spPr>
          <a:xfrm>
            <a:off x="10396728" y="2057400"/>
            <a:ext cx="457200" cy="457200"/>
          </a:xfrm>
          <a:prstGeom prst="rect">
            <a:avLst/>
          </a:prstGeom>
        </p:spPr>
      </p:pic>
      <p:sp>
        <p:nvSpPr>
          <p:cNvPr id="31" name="Text 23"/>
          <p:cNvSpPr txBox="1"/>
          <p:nvPr/>
        </p:nvSpPr>
        <p:spPr>
          <a:xfrm>
            <a:off x="9756648" y="2971800"/>
            <a:ext cx="17373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Arial" pitchFamily="34" charset="0"/>
                <a:ea typeface="Arial" pitchFamily="34" charset="-122"/>
                <a:cs typeface="Arial" pitchFamily="34" charset="-120"/>
              </a:rPr>
              <a:t>Report</a:t>
            </a:r>
            <a:endParaRPr lang="en-US" sz="2200" dirty="0"/>
          </a:p>
        </p:txBody>
      </p:sp>
      <p:sp>
        <p:nvSpPr>
          <p:cNvPr id="32" name="Text 24"/>
          <p:cNvSpPr txBox="1"/>
          <p:nvPr/>
        </p:nvSpPr>
        <p:spPr>
          <a:xfrm>
            <a:off x="9802368"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Explain what happened, with proof.</a:t>
            </a:r>
            <a:endParaRPr lang="en-US" sz="1500" dirty="0"/>
          </a:p>
        </p:txBody>
      </p:sp>
      <p:sp>
        <p:nvSpPr>
          <p:cNvPr id="33" name="Text 25"/>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6 / 60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Evidence is everywhere</a:t>
            </a:r>
            <a:endParaRPr lang="en-US" sz="3200" dirty="0"/>
          </a:p>
        </p:txBody>
      </p:sp>
      <p:sp>
        <p:nvSpPr>
          <p:cNvPr id="4" name="Shape 1"/>
          <p:cNvSpPr/>
          <p:nvPr/>
        </p:nvSpPr>
        <p:spPr>
          <a:xfrm>
            <a:off x="548640" y="1508760"/>
            <a:ext cx="3566160" cy="2057400"/>
          </a:xfrm>
          <a:prstGeom prst="roundRect">
            <a:avLst>
              <a:gd name="adj" fmla="val 4444"/>
            </a:avLst>
          </a:prstGeom>
          <a:solidFill>
            <a:srgbClr val="F1F5FB"/>
          </a:solidFill>
          <a:ln/>
        </p:spPr>
      </p:sp>
      <p:sp>
        <p:nvSpPr>
          <p:cNvPr id="5" name="Shape 2"/>
          <p:cNvSpPr/>
          <p:nvPr/>
        </p:nvSpPr>
        <p:spPr>
          <a:xfrm>
            <a:off x="822960" y="1783080"/>
            <a:ext cx="731520" cy="731520"/>
          </a:xfrm>
          <a:prstGeom prst="ellipse">
            <a:avLst/>
          </a:prstGeom>
          <a:solidFill>
            <a:srgbClr val="17875A"/>
          </a:solidFill>
          <a:ln/>
        </p:spPr>
      </p:sp>
      <p:pic>
        <p:nvPicPr>
          <p:cNvPr id="6" name="Image 0" descr="preencoded.png">    </p:cNvPr>
          <p:cNvPicPr>
            <a:picLocks noChangeAspect="1"/>
          </p:cNvPicPr>
          <p:nvPr/>
        </p:nvPicPr>
        <p:blipFill>
          <a:blip r:embed="rId1"/>
          <a:stretch>
            <a:fillRect/>
          </a:stretch>
        </p:blipFill>
        <p:spPr>
          <a:xfrm>
            <a:off x="1005840" y="1965960"/>
            <a:ext cx="365760" cy="365760"/>
          </a:xfrm>
          <a:prstGeom prst="rect">
            <a:avLst/>
          </a:prstGeom>
        </p:spPr>
      </p:pic>
      <p:sp>
        <p:nvSpPr>
          <p:cNvPr id="7" name="Text 3"/>
          <p:cNvSpPr txBox="1"/>
          <p:nvPr/>
        </p:nvSpPr>
        <p:spPr>
          <a:xfrm>
            <a:off x="1737360" y="1783080"/>
            <a:ext cx="2194560" cy="457200"/>
          </a:xfrm>
          <a:prstGeom prst="rect">
            <a:avLst/>
          </a:prstGeom>
          <a:noFill/>
          <a:ln/>
        </p:spPr>
        <p:txBody>
          <a:bodyPr wrap="square" lIns="0" tIns="0" rIns="0" bIns="0" rtlCol="0" anchor="ctr"/>
          <a:lstStyle/>
          <a:p>
            <a:pPr indent="0" marL="0">
              <a:buNone/>
            </a:pPr>
            <a:r>
              <a:rPr lang="en-US" sz="2000" b="1" dirty="0">
                <a:solidFill>
                  <a:srgbClr val="12213A"/>
                </a:solidFill>
                <a:latin typeface="Arial" pitchFamily="34" charset="0"/>
                <a:ea typeface="Arial" pitchFamily="34" charset="-122"/>
                <a:cs typeface="Arial" pitchFamily="34" charset="-120"/>
              </a:rPr>
              <a:t>File times</a:t>
            </a:r>
            <a:endParaRPr lang="en-US" sz="2000" dirty="0"/>
          </a:p>
        </p:txBody>
      </p:sp>
      <p:sp>
        <p:nvSpPr>
          <p:cNvPr id="8" name="Text 4"/>
          <p:cNvSpPr txBox="1"/>
          <p:nvPr/>
        </p:nvSpPr>
        <p:spPr>
          <a:xfrm>
            <a:off x="1737360" y="2221992"/>
            <a:ext cx="2194560" cy="320040"/>
          </a:xfrm>
          <a:prstGeom prst="rect">
            <a:avLst/>
          </a:prstGeom>
          <a:noFill/>
          <a:ln/>
        </p:spPr>
        <p:txBody>
          <a:bodyPr wrap="square" lIns="0" tIns="0" rIns="0" bIns="0" rtlCol="0" anchor="t"/>
          <a:lstStyle/>
          <a:p>
            <a:pPr indent="0" marL="0">
              <a:buNone/>
            </a:pPr>
            <a:r>
              <a:rPr lang="en-US" sz="1300" b="1" dirty="0">
                <a:solidFill>
                  <a:srgbClr val="17875A"/>
                </a:solidFill>
                <a:latin typeface="Calibri" pitchFamily="34" charset="0"/>
                <a:ea typeface="Calibri" pitchFamily="34" charset="-122"/>
                <a:cs typeface="Calibri" pitchFamily="34" charset="-120"/>
              </a:rPr>
              <a:t>Mission 1</a:t>
            </a:r>
            <a:endParaRPr lang="en-US" sz="1300" dirty="0"/>
          </a:p>
        </p:txBody>
      </p:sp>
      <p:sp>
        <p:nvSpPr>
          <p:cNvPr id="9" name="Text 5"/>
          <p:cNvSpPr txBox="1"/>
          <p:nvPr/>
        </p:nvSpPr>
        <p:spPr>
          <a:xfrm>
            <a:off x="822960" y="2697480"/>
            <a:ext cx="3063240" cy="7772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Every file remembers when it last changed.</a:t>
            </a:r>
            <a:endParaRPr lang="en-US" sz="1500" dirty="0"/>
          </a:p>
        </p:txBody>
      </p:sp>
      <p:sp>
        <p:nvSpPr>
          <p:cNvPr id="10" name="Shape 6"/>
          <p:cNvSpPr/>
          <p:nvPr/>
        </p:nvSpPr>
        <p:spPr>
          <a:xfrm>
            <a:off x="4306824" y="1508760"/>
            <a:ext cx="3566160" cy="2057400"/>
          </a:xfrm>
          <a:prstGeom prst="roundRect">
            <a:avLst>
              <a:gd name="adj" fmla="val 4444"/>
            </a:avLst>
          </a:prstGeom>
          <a:solidFill>
            <a:srgbClr val="F1F5FB"/>
          </a:solidFill>
          <a:ln/>
        </p:spPr>
      </p:sp>
      <p:sp>
        <p:nvSpPr>
          <p:cNvPr id="11" name="Shape 7"/>
          <p:cNvSpPr/>
          <p:nvPr/>
        </p:nvSpPr>
        <p:spPr>
          <a:xfrm>
            <a:off x="4581144" y="1783080"/>
            <a:ext cx="731520" cy="731520"/>
          </a:xfrm>
          <a:prstGeom prst="ellipse">
            <a:avLst/>
          </a:prstGeom>
          <a:solidFill>
            <a:srgbClr val="2A9FD6"/>
          </a:solidFill>
          <a:ln/>
        </p:spPr>
      </p:sp>
      <p:pic>
        <p:nvPicPr>
          <p:cNvPr id="12" name="Image 1" descr="preencoded.png">    </p:cNvPr>
          <p:cNvPicPr>
            <a:picLocks noChangeAspect="1"/>
          </p:cNvPicPr>
          <p:nvPr/>
        </p:nvPicPr>
        <p:blipFill>
          <a:blip r:embed="rId2"/>
          <a:stretch>
            <a:fillRect/>
          </a:stretch>
        </p:blipFill>
        <p:spPr>
          <a:xfrm>
            <a:off x="4764024" y="1965960"/>
            <a:ext cx="365760" cy="365760"/>
          </a:xfrm>
          <a:prstGeom prst="rect">
            <a:avLst/>
          </a:prstGeom>
        </p:spPr>
      </p:pic>
      <p:sp>
        <p:nvSpPr>
          <p:cNvPr id="13" name="Text 8"/>
          <p:cNvSpPr txBox="1"/>
          <p:nvPr/>
        </p:nvSpPr>
        <p:spPr>
          <a:xfrm>
            <a:off x="5495544" y="1783080"/>
            <a:ext cx="2194560" cy="457200"/>
          </a:xfrm>
          <a:prstGeom prst="rect">
            <a:avLst/>
          </a:prstGeom>
          <a:noFill/>
          <a:ln/>
        </p:spPr>
        <p:txBody>
          <a:bodyPr wrap="square" lIns="0" tIns="0" rIns="0" bIns="0" rtlCol="0" anchor="ctr"/>
          <a:lstStyle/>
          <a:p>
            <a:pPr indent="0" marL="0">
              <a:buNone/>
            </a:pPr>
            <a:r>
              <a:rPr lang="en-US" sz="2000" b="1" dirty="0">
                <a:solidFill>
                  <a:srgbClr val="12213A"/>
                </a:solidFill>
                <a:latin typeface="Arial" pitchFamily="34" charset="0"/>
                <a:ea typeface="Arial" pitchFamily="34" charset="-122"/>
                <a:cs typeface="Arial" pitchFamily="34" charset="-120"/>
              </a:rPr>
              <a:t>Metadata</a:t>
            </a:r>
            <a:endParaRPr lang="en-US" sz="2000" dirty="0"/>
          </a:p>
        </p:txBody>
      </p:sp>
      <p:sp>
        <p:nvSpPr>
          <p:cNvPr id="14" name="Text 9"/>
          <p:cNvSpPr txBox="1"/>
          <p:nvPr/>
        </p:nvSpPr>
        <p:spPr>
          <a:xfrm>
            <a:off x="5495544" y="2221992"/>
            <a:ext cx="2194560" cy="320040"/>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Mission 2</a:t>
            </a:r>
            <a:endParaRPr lang="en-US" sz="1300" dirty="0"/>
          </a:p>
        </p:txBody>
      </p:sp>
      <p:sp>
        <p:nvSpPr>
          <p:cNvPr id="15" name="Text 10"/>
          <p:cNvSpPr txBox="1"/>
          <p:nvPr/>
        </p:nvSpPr>
        <p:spPr>
          <a:xfrm>
            <a:off x="4581144" y="2697480"/>
            <a:ext cx="3063240" cy="7772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Photos and documents carry hidden fields.</a:t>
            </a:r>
            <a:endParaRPr lang="en-US" sz="1500" dirty="0"/>
          </a:p>
        </p:txBody>
      </p:sp>
      <p:sp>
        <p:nvSpPr>
          <p:cNvPr id="16" name="Shape 11"/>
          <p:cNvSpPr/>
          <p:nvPr/>
        </p:nvSpPr>
        <p:spPr>
          <a:xfrm>
            <a:off x="8065008" y="1508760"/>
            <a:ext cx="3566160" cy="2057400"/>
          </a:xfrm>
          <a:prstGeom prst="roundRect">
            <a:avLst>
              <a:gd name="adj" fmla="val 4444"/>
            </a:avLst>
          </a:prstGeom>
          <a:solidFill>
            <a:srgbClr val="F1F5FB"/>
          </a:solidFill>
          <a:ln/>
        </p:spPr>
      </p:sp>
      <p:sp>
        <p:nvSpPr>
          <p:cNvPr id="17" name="Shape 12"/>
          <p:cNvSpPr/>
          <p:nvPr/>
        </p:nvSpPr>
        <p:spPr>
          <a:xfrm>
            <a:off x="8339328" y="1783080"/>
            <a:ext cx="731520" cy="731520"/>
          </a:xfrm>
          <a:prstGeom prst="ellipse">
            <a:avLst/>
          </a:prstGeom>
          <a:solidFill>
            <a:srgbClr val="2459D8"/>
          </a:solidFill>
          <a:ln/>
        </p:spPr>
      </p:sp>
      <p:pic>
        <p:nvPicPr>
          <p:cNvPr id="18" name="Image 2" descr="preencoded.png">    </p:cNvPr>
          <p:cNvPicPr>
            <a:picLocks noChangeAspect="1"/>
          </p:cNvPicPr>
          <p:nvPr/>
        </p:nvPicPr>
        <p:blipFill>
          <a:blip r:embed="rId3"/>
          <a:stretch>
            <a:fillRect/>
          </a:stretch>
        </p:blipFill>
        <p:spPr>
          <a:xfrm>
            <a:off x="8522208" y="1965960"/>
            <a:ext cx="365760" cy="365760"/>
          </a:xfrm>
          <a:prstGeom prst="rect">
            <a:avLst/>
          </a:prstGeom>
        </p:spPr>
      </p:pic>
      <p:sp>
        <p:nvSpPr>
          <p:cNvPr id="19" name="Text 13"/>
          <p:cNvSpPr txBox="1"/>
          <p:nvPr/>
        </p:nvSpPr>
        <p:spPr>
          <a:xfrm>
            <a:off x="9253728" y="1783080"/>
            <a:ext cx="2194560" cy="457200"/>
          </a:xfrm>
          <a:prstGeom prst="rect">
            <a:avLst/>
          </a:prstGeom>
          <a:noFill/>
          <a:ln/>
        </p:spPr>
        <p:txBody>
          <a:bodyPr wrap="square" lIns="0" tIns="0" rIns="0" bIns="0" rtlCol="0" anchor="ctr"/>
          <a:lstStyle/>
          <a:p>
            <a:pPr indent="0" marL="0">
              <a:buNone/>
            </a:pPr>
            <a:r>
              <a:rPr lang="en-US" sz="2000" b="1" dirty="0">
                <a:solidFill>
                  <a:srgbClr val="12213A"/>
                </a:solidFill>
                <a:latin typeface="Arial" pitchFamily="34" charset="0"/>
                <a:ea typeface="Arial" pitchFamily="34" charset="-122"/>
                <a:cs typeface="Arial" pitchFamily="34" charset="-120"/>
              </a:rPr>
              <a:t>Files and images</a:t>
            </a:r>
            <a:endParaRPr lang="en-US" sz="2000" dirty="0"/>
          </a:p>
        </p:txBody>
      </p:sp>
      <p:sp>
        <p:nvSpPr>
          <p:cNvPr id="20" name="Text 14"/>
          <p:cNvSpPr txBox="1"/>
          <p:nvPr/>
        </p:nvSpPr>
        <p:spPr>
          <a:xfrm>
            <a:off x="9253728" y="2221992"/>
            <a:ext cx="2194560" cy="320040"/>
          </a:xfrm>
          <a:prstGeom prst="rect">
            <a:avLst/>
          </a:prstGeom>
          <a:noFill/>
          <a:ln/>
        </p:spPr>
        <p:txBody>
          <a:bodyPr wrap="square" lIns="0" tIns="0" rIns="0" bIns="0" rtlCol="0" anchor="t"/>
          <a:lstStyle/>
          <a:p>
            <a:pPr indent="0" marL="0">
              <a:buNone/>
            </a:pPr>
            <a:r>
              <a:rPr lang="en-US" sz="1300" b="1" dirty="0">
                <a:solidFill>
                  <a:srgbClr val="2459D8"/>
                </a:solidFill>
                <a:latin typeface="Calibri" pitchFamily="34" charset="0"/>
                <a:ea typeface="Calibri" pitchFamily="34" charset="-122"/>
                <a:cs typeface="Calibri" pitchFamily="34" charset="-120"/>
              </a:rPr>
              <a:t>Missions 3, 6</a:t>
            </a:r>
            <a:endParaRPr lang="en-US" sz="1300" dirty="0"/>
          </a:p>
        </p:txBody>
      </p:sp>
      <p:sp>
        <p:nvSpPr>
          <p:cNvPr id="21" name="Text 15"/>
          <p:cNvSpPr txBox="1"/>
          <p:nvPr/>
        </p:nvSpPr>
        <p:spPr>
          <a:xfrm>
            <a:off x="8339328" y="2697480"/>
            <a:ext cx="3063240" cy="7772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Names can lie; first bytes can't. Data can hide inside.</a:t>
            </a:r>
            <a:endParaRPr lang="en-US" sz="1500" dirty="0"/>
          </a:p>
        </p:txBody>
      </p:sp>
      <p:sp>
        <p:nvSpPr>
          <p:cNvPr id="22" name="Shape 16"/>
          <p:cNvSpPr/>
          <p:nvPr/>
        </p:nvSpPr>
        <p:spPr>
          <a:xfrm>
            <a:off x="548640" y="3749040"/>
            <a:ext cx="3566160" cy="2057400"/>
          </a:xfrm>
          <a:prstGeom prst="roundRect">
            <a:avLst>
              <a:gd name="adj" fmla="val 4444"/>
            </a:avLst>
          </a:prstGeom>
          <a:solidFill>
            <a:srgbClr val="F1F5FB"/>
          </a:solidFill>
          <a:ln/>
        </p:spPr>
      </p:sp>
      <p:sp>
        <p:nvSpPr>
          <p:cNvPr id="23" name="Shape 17"/>
          <p:cNvSpPr/>
          <p:nvPr/>
        </p:nvSpPr>
        <p:spPr>
          <a:xfrm>
            <a:off x="822960" y="4023360"/>
            <a:ext cx="731520" cy="731520"/>
          </a:xfrm>
          <a:prstGeom prst="ellipse">
            <a:avLst/>
          </a:prstGeom>
          <a:solidFill>
            <a:srgbClr val="7448D4"/>
          </a:solidFill>
          <a:ln/>
        </p:spPr>
      </p:sp>
      <p:pic>
        <p:nvPicPr>
          <p:cNvPr id="24" name="Image 3" descr="preencoded.png">    </p:cNvPr>
          <p:cNvPicPr>
            <a:picLocks noChangeAspect="1"/>
          </p:cNvPicPr>
          <p:nvPr/>
        </p:nvPicPr>
        <p:blipFill>
          <a:blip r:embed="rId4"/>
          <a:stretch>
            <a:fillRect/>
          </a:stretch>
        </p:blipFill>
        <p:spPr>
          <a:xfrm>
            <a:off x="1005840" y="4206240"/>
            <a:ext cx="365760" cy="365760"/>
          </a:xfrm>
          <a:prstGeom prst="rect">
            <a:avLst/>
          </a:prstGeom>
        </p:spPr>
      </p:pic>
      <p:sp>
        <p:nvSpPr>
          <p:cNvPr id="25" name="Text 18"/>
          <p:cNvSpPr txBox="1"/>
          <p:nvPr/>
        </p:nvSpPr>
        <p:spPr>
          <a:xfrm>
            <a:off x="1737360" y="4023360"/>
            <a:ext cx="2194560" cy="457200"/>
          </a:xfrm>
          <a:prstGeom prst="rect">
            <a:avLst/>
          </a:prstGeom>
          <a:noFill/>
          <a:ln/>
        </p:spPr>
        <p:txBody>
          <a:bodyPr wrap="square" lIns="0" tIns="0" rIns="0" bIns="0" rtlCol="0" anchor="ctr"/>
          <a:lstStyle/>
          <a:p>
            <a:pPr indent="0" marL="0">
              <a:buNone/>
            </a:pPr>
            <a:r>
              <a:rPr lang="en-US" sz="2000" b="1" dirty="0">
                <a:solidFill>
                  <a:srgbClr val="12213A"/>
                </a:solidFill>
                <a:latin typeface="Arial" pitchFamily="34" charset="0"/>
                <a:ea typeface="Arial" pitchFamily="34" charset="-122"/>
                <a:cs typeface="Arial" pitchFamily="34" charset="-120"/>
              </a:rPr>
              <a:t>Archives</a:t>
            </a:r>
            <a:endParaRPr lang="en-US" sz="2000" dirty="0"/>
          </a:p>
        </p:txBody>
      </p:sp>
      <p:sp>
        <p:nvSpPr>
          <p:cNvPr id="26" name="Text 19"/>
          <p:cNvSpPr txBox="1"/>
          <p:nvPr/>
        </p:nvSpPr>
        <p:spPr>
          <a:xfrm>
            <a:off x="1737360" y="4462272"/>
            <a:ext cx="2194560" cy="320040"/>
          </a:xfrm>
          <a:prstGeom prst="rect">
            <a:avLst/>
          </a:prstGeom>
          <a:noFill/>
          <a:ln/>
        </p:spPr>
        <p:txBody>
          <a:bodyPr wrap="square" lIns="0" tIns="0" rIns="0" bIns="0" rtlCol="0" anchor="t"/>
          <a:lstStyle/>
          <a:p>
            <a:pPr indent="0" marL="0">
              <a:buNone/>
            </a:pPr>
            <a:r>
              <a:rPr lang="en-US" sz="1300" b="1" dirty="0">
                <a:solidFill>
                  <a:srgbClr val="7448D4"/>
                </a:solidFill>
                <a:latin typeface="Calibri" pitchFamily="34" charset="0"/>
                <a:ea typeface="Calibri" pitchFamily="34" charset="-122"/>
                <a:cs typeface="Calibri" pitchFamily="34" charset="-120"/>
              </a:rPr>
              <a:t>Mission 4</a:t>
            </a:r>
            <a:endParaRPr lang="en-US" sz="1300" dirty="0"/>
          </a:p>
        </p:txBody>
      </p:sp>
      <p:sp>
        <p:nvSpPr>
          <p:cNvPr id="27" name="Text 20"/>
          <p:cNvSpPr txBox="1"/>
          <p:nvPr/>
        </p:nvSpPr>
        <p:spPr>
          <a:xfrm>
            <a:off x="822960" y="4937760"/>
            <a:ext cx="3063240" cy="7772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Evidence arrives packed, layers inside layers.</a:t>
            </a:r>
            <a:endParaRPr lang="en-US" sz="1500" dirty="0"/>
          </a:p>
        </p:txBody>
      </p:sp>
      <p:sp>
        <p:nvSpPr>
          <p:cNvPr id="28" name="Shape 21"/>
          <p:cNvSpPr/>
          <p:nvPr/>
        </p:nvSpPr>
        <p:spPr>
          <a:xfrm>
            <a:off x="4306824" y="3749040"/>
            <a:ext cx="3566160" cy="2057400"/>
          </a:xfrm>
          <a:prstGeom prst="roundRect">
            <a:avLst>
              <a:gd name="adj" fmla="val 4444"/>
            </a:avLst>
          </a:prstGeom>
          <a:solidFill>
            <a:srgbClr val="F1F5FB"/>
          </a:solidFill>
          <a:ln/>
        </p:spPr>
      </p:sp>
      <p:sp>
        <p:nvSpPr>
          <p:cNvPr id="29" name="Shape 22"/>
          <p:cNvSpPr/>
          <p:nvPr/>
        </p:nvSpPr>
        <p:spPr>
          <a:xfrm>
            <a:off x="4581144" y="4023360"/>
            <a:ext cx="731520" cy="731520"/>
          </a:xfrm>
          <a:prstGeom prst="ellipse">
            <a:avLst/>
          </a:prstGeom>
          <a:solidFill>
            <a:srgbClr val="D1416B"/>
          </a:solidFill>
          <a:ln/>
        </p:spPr>
      </p:sp>
      <p:pic>
        <p:nvPicPr>
          <p:cNvPr id="30" name="Image 4" descr="preencoded.png">    </p:cNvPr>
          <p:cNvPicPr>
            <a:picLocks noChangeAspect="1"/>
          </p:cNvPicPr>
          <p:nvPr/>
        </p:nvPicPr>
        <p:blipFill>
          <a:blip r:embed="rId5"/>
          <a:stretch>
            <a:fillRect/>
          </a:stretch>
        </p:blipFill>
        <p:spPr>
          <a:xfrm>
            <a:off x="4764024" y="4206240"/>
            <a:ext cx="365760" cy="365760"/>
          </a:xfrm>
          <a:prstGeom prst="rect">
            <a:avLst/>
          </a:prstGeom>
        </p:spPr>
      </p:pic>
      <p:sp>
        <p:nvSpPr>
          <p:cNvPr id="31" name="Text 23"/>
          <p:cNvSpPr txBox="1"/>
          <p:nvPr/>
        </p:nvSpPr>
        <p:spPr>
          <a:xfrm>
            <a:off x="5495544" y="4023360"/>
            <a:ext cx="2194560" cy="457200"/>
          </a:xfrm>
          <a:prstGeom prst="rect">
            <a:avLst/>
          </a:prstGeom>
          <a:noFill/>
          <a:ln/>
        </p:spPr>
        <p:txBody>
          <a:bodyPr wrap="square" lIns="0" tIns="0" rIns="0" bIns="0" rtlCol="0" anchor="ctr"/>
          <a:lstStyle/>
          <a:p>
            <a:pPr indent="0" marL="0">
              <a:buNone/>
            </a:pPr>
            <a:r>
              <a:rPr lang="en-US" sz="2000" b="1" dirty="0">
                <a:solidFill>
                  <a:srgbClr val="12213A"/>
                </a:solidFill>
                <a:latin typeface="Arial" pitchFamily="34" charset="0"/>
                <a:ea typeface="Arial" pitchFamily="34" charset="-122"/>
                <a:cs typeface="Arial" pitchFamily="34" charset="-120"/>
              </a:rPr>
              <a:t>Logs and traffic</a:t>
            </a:r>
            <a:endParaRPr lang="en-US" sz="2000" dirty="0"/>
          </a:p>
        </p:txBody>
      </p:sp>
      <p:sp>
        <p:nvSpPr>
          <p:cNvPr id="32" name="Text 24"/>
          <p:cNvSpPr txBox="1"/>
          <p:nvPr/>
        </p:nvSpPr>
        <p:spPr>
          <a:xfrm>
            <a:off x="5495544" y="4462272"/>
            <a:ext cx="2194560" cy="320040"/>
          </a:xfrm>
          <a:prstGeom prst="rect">
            <a:avLst/>
          </a:prstGeom>
          <a:noFill/>
          <a:ln/>
        </p:spPr>
        <p:txBody>
          <a:bodyPr wrap="square" lIns="0" tIns="0" rIns="0" bIns="0" rtlCol="0" anchor="t"/>
          <a:lstStyle/>
          <a:p>
            <a:pPr indent="0" marL="0">
              <a:buNone/>
            </a:pPr>
            <a:r>
              <a:rPr lang="en-US" sz="1300" b="1" dirty="0">
                <a:solidFill>
                  <a:srgbClr val="D1416B"/>
                </a:solidFill>
                <a:latin typeface="Calibri" pitchFamily="34" charset="0"/>
                <a:ea typeface="Calibri" pitchFamily="34" charset="-122"/>
                <a:cs typeface="Calibri" pitchFamily="34" charset="-120"/>
              </a:rPr>
              <a:t>Missions 5, 9</a:t>
            </a:r>
            <a:endParaRPr lang="en-US" sz="1300" dirty="0"/>
          </a:p>
        </p:txBody>
      </p:sp>
      <p:sp>
        <p:nvSpPr>
          <p:cNvPr id="33" name="Text 25"/>
          <p:cNvSpPr txBox="1"/>
          <p:nvPr/>
        </p:nvSpPr>
        <p:spPr>
          <a:xfrm>
            <a:off x="4581144" y="4937760"/>
            <a:ext cx="3063240" cy="7772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Every login and every packet leaves a line.</a:t>
            </a:r>
            <a:endParaRPr lang="en-US" sz="1500" dirty="0"/>
          </a:p>
        </p:txBody>
      </p:sp>
      <p:sp>
        <p:nvSpPr>
          <p:cNvPr id="34" name="Shape 26"/>
          <p:cNvSpPr/>
          <p:nvPr/>
        </p:nvSpPr>
        <p:spPr>
          <a:xfrm>
            <a:off x="8065008" y="3749040"/>
            <a:ext cx="3566160" cy="2057400"/>
          </a:xfrm>
          <a:prstGeom prst="roundRect">
            <a:avLst>
              <a:gd name="adj" fmla="val 4444"/>
            </a:avLst>
          </a:prstGeom>
          <a:solidFill>
            <a:srgbClr val="F1F5FB"/>
          </a:solidFill>
          <a:ln/>
        </p:spPr>
      </p:sp>
      <p:sp>
        <p:nvSpPr>
          <p:cNvPr id="35" name="Shape 27"/>
          <p:cNvSpPr/>
          <p:nvPr/>
        </p:nvSpPr>
        <p:spPr>
          <a:xfrm>
            <a:off x="8339328" y="4023360"/>
            <a:ext cx="731520" cy="731520"/>
          </a:xfrm>
          <a:prstGeom prst="ellipse">
            <a:avLst/>
          </a:prstGeom>
          <a:solidFill>
            <a:srgbClr val="E8820C"/>
          </a:solidFill>
          <a:ln/>
        </p:spPr>
      </p:sp>
      <p:pic>
        <p:nvPicPr>
          <p:cNvPr id="36" name="Image 5" descr="preencoded.png">    </p:cNvPr>
          <p:cNvPicPr>
            <a:picLocks noChangeAspect="1"/>
          </p:cNvPicPr>
          <p:nvPr/>
        </p:nvPicPr>
        <p:blipFill>
          <a:blip r:embed="rId6"/>
          <a:stretch>
            <a:fillRect/>
          </a:stretch>
        </p:blipFill>
        <p:spPr>
          <a:xfrm>
            <a:off x="8522208" y="4206240"/>
            <a:ext cx="365760" cy="365760"/>
          </a:xfrm>
          <a:prstGeom prst="rect">
            <a:avLst/>
          </a:prstGeom>
        </p:spPr>
      </p:pic>
      <p:sp>
        <p:nvSpPr>
          <p:cNvPr id="37" name="Text 28"/>
          <p:cNvSpPr txBox="1"/>
          <p:nvPr/>
        </p:nvSpPr>
        <p:spPr>
          <a:xfrm>
            <a:off x="9253728" y="4023360"/>
            <a:ext cx="2194560" cy="457200"/>
          </a:xfrm>
          <a:prstGeom prst="rect">
            <a:avLst/>
          </a:prstGeom>
          <a:noFill/>
          <a:ln/>
        </p:spPr>
        <p:txBody>
          <a:bodyPr wrap="square" lIns="0" tIns="0" rIns="0" bIns="0" rtlCol="0" anchor="ctr"/>
          <a:lstStyle/>
          <a:p>
            <a:pPr indent="0" marL="0">
              <a:buNone/>
            </a:pPr>
            <a:r>
              <a:rPr lang="en-US" sz="2000" b="1" dirty="0">
                <a:solidFill>
                  <a:srgbClr val="12213A"/>
                </a:solidFill>
                <a:latin typeface="Arial" pitchFamily="34" charset="0"/>
                <a:ea typeface="Arial" pitchFamily="34" charset="-122"/>
                <a:cs typeface="Arial" pitchFamily="34" charset="-120"/>
              </a:rPr>
              <a:t>System settings</a:t>
            </a:r>
            <a:endParaRPr lang="en-US" sz="2000" dirty="0"/>
          </a:p>
        </p:txBody>
      </p:sp>
      <p:sp>
        <p:nvSpPr>
          <p:cNvPr id="38" name="Text 29"/>
          <p:cNvSpPr txBox="1"/>
          <p:nvPr/>
        </p:nvSpPr>
        <p:spPr>
          <a:xfrm>
            <a:off x="9253728" y="4462272"/>
            <a:ext cx="2194560" cy="320040"/>
          </a:xfrm>
          <a:prstGeom prst="rect">
            <a:avLst/>
          </a:prstGeom>
          <a:noFill/>
          <a:ln/>
        </p:spPr>
        <p:txBody>
          <a:bodyPr wrap="square" lIns="0" tIns="0" rIns="0" bIns="0" rtlCol="0" anchor="t"/>
          <a:lstStyle/>
          <a:p>
            <a:pPr indent="0" marL="0">
              <a:buNone/>
            </a:pPr>
            <a:r>
              <a:rPr lang="en-US" sz="1300" b="1" dirty="0">
                <a:solidFill>
                  <a:srgbClr val="E8820C"/>
                </a:solidFill>
                <a:latin typeface="Calibri" pitchFamily="34" charset="0"/>
                <a:ea typeface="Calibri" pitchFamily="34" charset="-122"/>
                <a:cs typeface="Calibri" pitchFamily="34" charset="-120"/>
              </a:rPr>
              <a:t>Missions 7, 8</a:t>
            </a:r>
            <a:endParaRPr lang="en-US" sz="1300" dirty="0"/>
          </a:p>
        </p:txBody>
      </p:sp>
      <p:sp>
        <p:nvSpPr>
          <p:cNvPr id="39" name="Text 30"/>
          <p:cNvSpPr txBox="1"/>
          <p:nvPr/>
        </p:nvSpPr>
        <p:spPr>
          <a:xfrm>
            <a:off x="8339328" y="4937760"/>
            <a:ext cx="3063240" cy="7772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Scheduled tasks and programs that changed.</a:t>
            </a:r>
            <a:endParaRPr lang="en-US" sz="1500" dirty="0"/>
          </a:p>
        </p:txBody>
      </p:sp>
      <p:sp>
        <p:nvSpPr>
          <p:cNvPr id="40" name="Text 3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7 / 60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Three questions for any file</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filetype ~/*</a:t>
            </a:r>
            <a:endParaRPr lang="en-US" sz="1300" dirty="0"/>
          </a:p>
        </p:txBody>
      </p:sp>
      <p:sp>
        <p:nvSpPr>
          <p:cNvPr id="8" name="Shape 5"/>
          <p:cNvSpPr/>
          <p:nvPr/>
        </p:nvSpPr>
        <p:spPr>
          <a:xfrm>
            <a:off x="548640" y="1508760"/>
            <a:ext cx="3566160" cy="4434840"/>
          </a:xfrm>
          <a:prstGeom prst="roundRect">
            <a:avLst>
              <a:gd name="adj" fmla="val 2564"/>
            </a:avLst>
          </a:prstGeom>
          <a:solidFill>
            <a:srgbClr val="F1F5FB"/>
          </a:solidFill>
          <a:ln/>
        </p:spPr>
      </p:sp>
      <p:sp>
        <p:nvSpPr>
          <p:cNvPr id="9" name="Shape 6"/>
          <p:cNvSpPr/>
          <p:nvPr/>
        </p:nvSpPr>
        <p:spPr>
          <a:xfrm>
            <a:off x="548640" y="1508760"/>
            <a:ext cx="3566160" cy="109728"/>
          </a:xfrm>
          <a:prstGeom prst="rect">
            <a:avLst/>
          </a:prstGeom>
          <a:solidFill>
            <a:srgbClr val="17875A"/>
          </a:solidFill>
          <a:ln/>
        </p:spPr>
      </p:sp>
      <p:sp>
        <p:nvSpPr>
          <p:cNvPr id="10" name="Text 7"/>
          <p:cNvSpPr txBox="1"/>
          <p:nvPr/>
        </p:nvSpPr>
        <p:spPr>
          <a:xfrm>
            <a:off x="822960" y="1783080"/>
            <a:ext cx="3017520" cy="548640"/>
          </a:xfrm>
          <a:prstGeom prst="rect">
            <a:avLst/>
          </a:prstGeom>
          <a:noFill/>
          <a:ln/>
        </p:spPr>
        <p:txBody>
          <a:bodyPr wrap="square" lIns="0" tIns="0" rIns="0" bIns="0" rtlCol="0" anchor="t"/>
          <a:lstStyle/>
          <a:p>
            <a:pPr indent="0" marL="0">
              <a:buNone/>
            </a:pPr>
            <a:r>
              <a:rPr lang="en-US" sz="2600" b="1" dirty="0">
                <a:solidFill>
                  <a:srgbClr val="17875A"/>
                </a:solidFill>
                <a:latin typeface="Arial" pitchFamily="34" charset="0"/>
                <a:ea typeface="Arial" pitchFamily="34" charset="-122"/>
                <a:cs typeface="Arial" pitchFamily="34" charset="-120"/>
              </a:rPr>
              <a:t>When?</a:t>
            </a:r>
            <a:endParaRPr lang="en-US" sz="2600" dirty="0"/>
          </a:p>
        </p:txBody>
      </p:sp>
      <p:sp>
        <p:nvSpPr>
          <p:cNvPr id="11" name="Text 8"/>
          <p:cNvSpPr txBox="1"/>
          <p:nvPr/>
        </p:nvSpPr>
        <p:spPr>
          <a:xfrm>
            <a:off x="822960" y="2377440"/>
            <a:ext cx="3017520" cy="4114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Last-modified time</a:t>
            </a:r>
            <a:endParaRPr lang="en-US" sz="1700" dirty="0"/>
          </a:p>
        </p:txBody>
      </p:sp>
      <p:sp>
        <p:nvSpPr>
          <p:cNvPr id="12" name="Shape 9"/>
          <p:cNvSpPr/>
          <p:nvPr/>
        </p:nvSpPr>
        <p:spPr>
          <a:xfrm>
            <a:off x="822960" y="2971800"/>
            <a:ext cx="3017520" cy="502920"/>
          </a:xfrm>
          <a:prstGeom prst="roundRect">
            <a:avLst>
              <a:gd name="adj" fmla="val 14545"/>
            </a:avLst>
          </a:prstGeom>
          <a:solidFill>
            <a:srgbClr val="0E1726"/>
          </a:solidFill>
          <a:ln/>
        </p:spPr>
      </p:sp>
      <p:sp>
        <p:nvSpPr>
          <p:cNvPr id="13" name="Text 10"/>
          <p:cNvSpPr txBox="1"/>
          <p:nvPr/>
        </p:nvSpPr>
        <p:spPr>
          <a:xfrm>
            <a:off x="822960" y="2971800"/>
            <a:ext cx="3017520" cy="502920"/>
          </a:xfrm>
          <a:prstGeom prst="rect">
            <a:avLst/>
          </a:prstGeom>
          <a:noFill/>
          <a:ln/>
        </p:spPr>
        <p:txBody>
          <a:bodyPr wrap="square" lIns="0" tIns="0" rIns="0" bIns="0" rtlCol="0" anchor="ctr">
            <a:normAutofit/>
          </a:bodyPr>
          <a:lstStyle/>
          <a:p>
            <a:pPr algn="ctr" indent="0" marL="0">
              <a:buNone/>
            </a:pPr>
            <a:r>
              <a:rPr lang="en-US" sz="1400" b="1" dirty="0">
                <a:solidFill>
                  <a:srgbClr val="46D39A"/>
                </a:solidFill>
                <a:latin typeface="Courier New" pitchFamily="34" charset="0"/>
                <a:ea typeface="Courier New" pitchFamily="34" charset="-122"/>
                <a:cs typeface="Courier New" pitchFamily="34" charset="-120"/>
              </a:rPr>
              <a:t>ls -l</a:t>
            </a:r>
            <a:endParaRPr lang="en-US" sz="1400" dirty="0"/>
          </a:p>
        </p:txBody>
      </p:sp>
      <p:sp>
        <p:nvSpPr>
          <p:cNvPr id="14" name="Text 11"/>
          <p:cNvSpPr txBox="1"/>
          <p:nvPr/>
        </p:nvSpPr>
        <p:spPr>
          <a:xfrm>
            <a:off x="822960" y="3749040"/>
            <a:ext cx="3063240" cy="91440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-rw-r--r-- ... Oct  8 02:53 memo.txt</a:t>
            </a:r>
            <a:endParaRPr lang="en-US" sz="1300" dirty="0"/>
          </a:p>
        </p:txBody>
      </p:sp>
      <p:sp>
        <p:nvSpPr>
          <p:cNvPr id="15" name="Shape 12"/>
          <p:cNvSpPr/>
          <p:nvPr/>
        </p:nvSpPr>
        <p:spPr>
          <a:xfrm>
            <a:off x="4306824" y="1508760"/>
            <a:ext cx="3566160" cy="4434840"/>
          </a:xfrm>
          <a:prstGeom prst="roundRect">
            <a:avLst>
              <a:gd name="adj" fmla="val 2564"/>
            </a:avLst>
          </a:prstGeom>
          <a:solidFill>
            <a:srgbClr val="F1F5FB"/>
          </a:solidFill>
          <a:ln/>
        </p:spPr>
      </p:sp>
      <p:sp>
        <p:nvSpPr>
          <p:cNvPr id="16" name="Shape 13"/>
          <p:cNvSpPr/>
          <p:nvPr/>
        </p:nvSpPr>
        <p:spPr>
          <a:xfrm>
            <a:off x="4306824" y="1508760"/>
            <a:ext cx="3566160" cy="109728"/>
          </a:xfrm>
          <a:prstGeom prst="rect">
            <a:avLst/>
          </a:prstGeom>
          <a:solidFill>
            <a:srgbClr val="2459D8"/>
          </a:solidFill>
          <a:ln/>
        </p:spPr>
      </p:sp>
      <p:sp>
        <p:nvSpPr>
          <p:cNvPr id="17" name="Text 14"/>
          <p:cNvSpPr txBox="1"/>
          <p:nvPr/>
        </p:nvSpPr>
        <p:spPr>
          <a:xfrm>
            <a:off x="4581144" y="1783080"/>
            <a:ext cx="3017520" cy="548640"/>
          </a:xfrm>
          <a:prstGeom prst="rect">
            <a:avLst/>
          </a:prstGeom>
          <a:noFill/>
          <a:ln/>
        </p:spPr>
        <p:txBody>
          <a:bodyPr wrap="square" lIns="0" tIns="0" rIns="0" bIns="0" rtlCol="0" anchor="t"/>
          <a:lstStyle/>
          <a:p>
            <a:pPr indent="0" marL="0">
              <a:buNone/>
            </a:pPr>
            <a:r>
              <a:rPr lang="en-US" sz="2600" b="1" dirty="0">
                <a:solidFill>
                  <a:srgbClr val="2459D8"/>
                </a:solidFill>
                <a:latin typeface="Arial" pitchFamily="34" charset="0"/>
                <a:ea typeface="Arial" pitchFamily="34" charset="-122"/>
                <a:cs typeface="Arial" pitchFamily="34" charset="-120"/>
              </a:rPr>
              <a:t>What is it really?</a:t>
            </a:r>
            <a:endParaRPr lang="en-US" sz="2600" dirty="0"/>
          </a:p>
        </p:txBody>
      </p:sp>
      <p:sp>
        <p:nvSpPr>
          <p:cNvPr id="18" name="Text 15"/>
          <p:cNvSpPr txBox="1"/>
          <p:nvPr/>
        </p:nvSpPr>
        <p:spPr>
          <a:xfrm>
            <a:off x="4581144" y="2377440"/>
            <a:ext cx="3017520" cy="4114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The magic number</a:t>
            </a:r>
            <a:endParaRPr lang="en-US" sz="1700" dirty="0"/>
          </a:p>
        </p:txBody>
      </p:sp>
      <p:sp>
        <p:nvSpPr>
          <p:cNvPr id="19" name="Shape 16"/>
          <p:cNvSpPr/>
          <p:nvPr/>
        </p:nvSpPr>
        <p:spPr>
          <a:xfrm>
            <a:off x="4581144" y="2971800"/>
            <a:ext cx="3017520" cy="502920"/>
          </a:xfrm>
          <a:prstGeom prst="roundRect">
            <a:avLst>
              <a:gd name="adj" fmla="val 14545"/>
            </a:avLst>
          </a:prstGeom>
          <a:solidFill>
            <a:srgbClr val="0E1726"/>
          </a:solidFill>
          <a:ln/>
        </p:spPr>
      </p:sp>
      <p:sp>
        <p:nvSpPr>
          <p:cNvPr id="20" name="Text 17"/>
          <p:cNvSpPr txBox="1"/>
          <p:nvPr/>
        </p:nvSpPr>
        <p:spPr>
          <a:xfrm>
            <a:off x="4581144" y="2971800"/>
            <a:ext cx="3017520" cy="502920"/>
          </a:xfrm>
          <a:prstGeom prst="rect">
            <a:avLst/>
          </a:prstGeom>
          <a:noFill/>
          <a:ln/>
        </p:spPr>
        <p:txBody>
          <a:bodyPr wrap="square" lIns="0" tIns="0" rIns="0" bIns="0" rtlCol="0" anchor="ctr">
            <a:normAutofit/>
          </a:bodyPr>
          <a:lstStyle/>
          <a:p>
            <a:pPr algn="ctr" indent="0" marL="0">
              <a:buNone/>
            </a:pPr>
            <a:r>
              <a:rPr lang="en-US" sz="1400" b="1" dirty="0">
                <a:solidFill>
                  <a:srgbClr val="46D39A"/>
                </a:solidFill>
                <a:latin typeface="Courier New" pitchFamily="34" charset="0"/>
                <a:ea typeface="Courier New" pitchFamily="34" charset="-122"/>
                <a:cs typeface="Courier New" pitchFamily="34" charset="-120"/>
              </a:rPr>
              <a:t>filetype  ·  head -c 4 | xxd</a:t>
            </a:r>
            <a:endParaRPr lang="en-US" sz="1400" dirty="0"/>
          </a:p>
        </p:txBody>
      </p:sp>
      <p:sp>
        <p:nvSpPr>
          <p:cNvPr id="21" name="Text 18"/>
          <p:cNvSpPr txBox="1"/>
          <p:nvPr/>
        </p:nvSpPr>
        <p:spPr>
          <a:xfrm>
            <a:off x="4581144" y="3749040"/>
            <a:ext cx="3063240" cy="91440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ff d8 ff = JPEG    1f 8b = gzip</a:t>
            </a:r>
            <a:endParaRPr lang="en-US" sz="1300" dirty="0"/>
          </a:p>
        </p:txBody>
      </p:sp>
      <p:sp>
        <p:nvSpPr>
          <p:cNvPr id="22" name="Shape 19"/>
          <p:cNvSpPr/>
          <p:nvPr/>
        </p:nvSpPr>
        <p:spPr>
          <a:xfrm>
            <a:off x="8065008" y="1508760"/>
            <a:ext cx="3566160" cy="4434840"/>
          </a:xfrm>
          <a:prstGeom prst="roundRect">
            <a:avLst>
              <a:gd name="adj" fmla="val 2564"/>
            </a:avLst>
          </a:prstGeom>
          <a:solidFill>
            <a:srgbClr val="F1F5FB"/>
          </a:solidFill>
          <a:ln/>
        </p:spPr>
      </p:sp>
      <p:sp>
        <p:nvSpPr>
          <p:cNvPr id="23" name="Shape 20"/>
          <p:cNvSpPr/>
          <p:nvPr/>
        </p:nvSpPr>
        <p:spPr>
          <a:xfrm>
            <a:off x="8065008" y="1508760"/>
            <a:ext cx="3566160" cy="109728"/>
          </a:xfrm>
          <a:prstGeom prst="rect">
            <a:avLst/>
          </a:prstGeom>
          <a:solidFill>
            <a:srgbClr val="D1416B"/>
          </a:solidFill>
          <a:ln/>
        </p:spPr>
      </p:sp>
      <p:sp>
        <p:nvSpPr>
          <p:cNvPr id="24" name="Text 21"/>
          <p:cNvSpPr txBox="1"/>
          <p:nvPr/>
        </p:nvSpPr>
        <p:spPr>
          <a:xfrm>
            <a:off x="8339328" y="1783080"/>
            <a:ext cx="3017520" cy="548640"/>
          </a:xfrm>
          <a:prstGeom prst="rect">
            <a:avLst/>
          </a:prstGeom>
          <a:noFill/>
          <a:ln/>
        </p:spPr>
        <p:txBody>
          <a:bodyPr wrap="square" lIns="0" tIns="0" rIns="0" bIns="0" rtlCol="0" anchor="t"/>
          <a:lstStyle/>
          <a:p>
            <a:pPr indent="0" marL="0">
              <a:buNone/>
            </a:pPr>
            <a:r>
              <a:rPr lang="en-US" sz="2600" b="1" dirty="0">
                <a:solidFill>
                  <a:srgbClr val="D1416B"/>
                </a:solidFill>
                <a:latin typeface="Arial" pitchFamily="34" charset="0"/>
                <a:ea typeface="Arial" pitchFamily="34" charset="-122"/>
                <a:cs typeface="Arial" pitchFamily="34" charset="-120"/>
              </a:rPr>
              <a:t>Has it changed?</a:t>
            </a:r>
            <a:endParaRPr lang="en-US" sz="2600" dirty="0"/>
          </a:p>
        </p:txBody>
      </p:sp>
      <p:sp>
        <p:nvSpPr>
          <p:cNvPr id="25" name="Text 22"/>
          <p:cNvSpPr txBox="1"/>
          <p:nvPr/>
        </p:nvSpPr>
        <p:spPr>
          <a:xfrm>
            <a:off x="8339328" y="2377440"/>
            <a:ext cx="3017520" cy="4114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A fingerprint</a:t>
            </a:r>
            <a:endParaRPr lang="en-US" sz="1700" dirty="0"/>
          </a:p>
        </p:txBody>
      </p:sp>
      <p:sp>
        <p:nvSpPr>
          <p:cNvPr id="26" name="Shape 23"/>
          <p:cNvSpPr/>
          <p:nvPr/>
        </p:nvSpPr>
        <p:spPr>
          <a:xfrm>
            <a:off x="8339328" y="2971800"/>
            <a:ext cx="3017520" cy="502920"/>
          </a:xfrm>
          <a:prstGeom prst="roundRect">
            <a:avLst>
              <a:gd name="adj" fmla="val 14545"/>
            </a:avLst>
          </a:prstGeom>
          <a:solidFill>
            <a:srgbClr val="0E1726"/>
          </a:solidFill>
          <a:ln/>
        </p:spPr>
      </p:sp>
      <p:sp>
        <p:nvSpPr>
          <p:cNvPr id="27" name="Text 24"/>
          <p:cNvSpPr txBox="1"/>
          <p:nvPr/>
        </p:nvSpPr>
        <p:spPr>
          <a:xfrm>
            <a:off x="8339328" y="2971800"/>
            <a:ext cx="3017520" cy="502920"/>
          </a:xfrm>
          <a:prstGeom prst="rect">
            <a:avLst/>
          </a:prstGeom>
          <a:noFill/>
          <a:ln/>
        </p:spPr>
        <p:txBody>
          <a:bodyPr wrap="square" lIns="0" tIns="0" rIns="0" bIns="0" rtlCol="0" anchor="ctr">
            <a:normAutofit/>
          </a:bodyPr>
          <a:lstStyle/>
          <a:p>
            <a:pPr algn="ctr" indent="0" marL="0">
              <a:buNone/>
            </a:pPr>
            <a:r>
              <a:rPr lang="en-US" sz="1400" b="1" dirty="0">
                <a:solidFill>
                  <a:srgbClr val="46D39A"/>
                </a:solidFill>
                <a:latin typeface="Courier New" pitchFamily="34" charset="0"/>
                <a:ea typeface="Courier New" pitchFamily="34" charset="-122"/>
                <a:cs typeface="Courier New" pitchFamily="34" charset="-120"/>
              </a:rPr>
              <a:t>sha256sum</a:t>
            </a:r>
            <a:endParaRPr lang="en-US" sz="1400" dirty="0"/>
          </a:p>
        </p:txBody>
      </p:sp>
      <p:sp>
        <p:nvSpPr>
          <p:cNvPr id="28" name="Text 25"/>
          <p:cNvSpPr txBox="1"/>
          <p:nvPr/>
        </p:nvSpPr>
        <p:spPr>
          <a:xfrm>
            <a:off x="8339328" y="3749040"/>
            <a:ext cx="3063240" cy="91440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1 byte changed = whole hash changes</a:t>
            </a:r>
            <a:endParaRPr lang="en-US" sz="1300" dirty="0"/>
          </a:p>
        </p:txBody>
      </p:sp>
      <p:sp>
        <p:nvSpPr>
          <p:cNvPr id="29" name="Text 2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8 / 60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How investigators work</a:t>
            </a:r>
            <a:endParaRPr lang="en-US" sz="3200" dirty="0"/>
          </a:p>
        </p:txBody>
      </p:sp>
      <p:sp>
        <p:nvSpPr>
          <p:cNvPr id="4" name="Shape 1"/>
          <p:cNvSpPr/>
          <p:nvPr/>
        </p:nvSpPr>
        <p:spPr>
          <a:xfrm>
            <a:off x="548640" y="1645920"/>
            <a:ext cx="457200" cy="457200"/>
          </a:xfrm>
          <a:prstGeom prst="ellipse">
            <a:avLst/>
          </a:prstGeom>
          <a:solidFill>
            <a:srgbClr val="2459D8"/>
          </a:solidFill>
          <a:ln/>
        </p:spPr>
      </p:sp>
      <p:sp>
        <p:nvSpPr>
          <p:cNvPr id="5" name="Text 2"/>
          <p:cNvSpPr txBox="1"/>
          <p:nvPr/>
        </p:nvSpPr>
        <p:spPr>
          <a:xfrm>
            <a:off x="548640"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3"/>
          <p:cNvSpPr txBox="1"/>
          <p:nvPr/>
        </p:nvSpPr>
        <p:spPr>
          <a:xfrm>
            <a:off x="1188720" y="1618488"/>
            <a:ext cx="5212080" cy="96012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Work on a copy. </a:t>
            </a:r>
            <a:pPr indent="0" marL="0">
              <a:buNone/>
            </a:pPr>
            <a:r>
              <a:rPr lang="en-US" sz="1800" dirty="0">
                <a:solidFill>
                  <a:srgbClr val="12213A"/>
                </a:solidFill>
                <a:latin typeface="Calibri" pitchFamily="34" charset="0"/>
                <a:ea typeface="Calibri" pitchFamily="34" charset="-122"/>
                <a:cs typeface="Calibri" pitchFamily="34" charset="-120"/>
              </a:rPr>
              <a:t>The original stays untouched, so nobody can say you changed it.</a:t>
            </a:r>
            <a:endParaRPr lang="en-US" sz="1800" dirty="0"/>
          </a:p>
        </p:txBody>
      </p:sp>
      <p:sp>
        <p:nvSpPr>
          <p:cNvPr id="7" name="Shape 4"/>
          <p:cNvSpPr/>
          <p:nvPr/>
        </p:nvSpPr>
        <p:spPr>
          <a:xfrm>
            <a:off x="548640" y="2697480"/>
            <a:ext cx="457200" cy="457200"/>
          </a:xfrm>
          <a:prstGeom prst="ellipse">
            <a:avLst/>
          </a:prstGeom>
          <a:solidFill>
            <a:srgbClr val="2459D8"/>
          </a:solidFill>
          <a:ln/>
        </p:spPr>
      </p:sp>
      <p:sp>
        <p:nvSpPr>
          <p:cNvPr id="8" name="Text 5"/>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6"/>
          <p:cNvSpPr txBox="1"/>
          <p:nvPr/>
        </p:nvSpPr>
        <p:spPr>
          <a:xfrm>
            <a:off x="1188720" y="2670048"/>
            <a:ext cx="5212080" cy="96012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Fingerprint it first. </a:t>
            </a:r>
            <a:pPr indent="0" marL="0">
              <a:buNone/>
            </a:pPr>
            <a:r>
              <a:rPr lang="en-US" sz="1800" dirty="0">
                <a:solidFill>
                  <a:srgbClr val="12213A"/>
                </a:solidFill>
                <a:latin typeface="Calibri" pitchFamily="34" charset="0"/>
                <a:ea typeface="Calibri" pitchFamily="34" charset="-122"/>
                <a:cs typeface="Calibri" pitchFamily="34" charset="-120"/>
              </a:rPr>
              <a:t>A hash taken now proves later that nothing changed.</a:t>
            </a:r>
            <a:endParaRPr lang="en-US" sz="1800" dirty="0"/>
          </a:p>
        </p:txBody>
      </p:sp>
      <p:sp>
        <p:nvSpPr>
          <p:cNvPr id="10" name="Shape 7"/>
          <p:cNvSpPr/>
          <p:nvPr/>
        </p:nvSpPr>
        <p:spPr>
          <a:xfrm>
            <a:off x="548640" y="3749040"/>
            <a:ext cx="457200" cy="457200"/>
          </a:xfrm>
          <a:prstGeom prst="ellipse">
            <a:avLst/>
          </a:prstGeom>
          <a:solidFill>
            <a:srgbClr val="2459D8"/>
          </a:solidFill>
          <a:ln/>
        </p:spPr>
      </p:sp>
      <p:sp>
        <p:nvSpPr>
          <p:cNvPr id="11" name="Text 8"/>
          <p:cNvSpPr txBox="1"/>
          <p:nvPr/>
        </p:nvSpPr>
        <p:spPr>
          <a:xfrm>
            <a:off x="548640" y="3749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9"/>
          <p:cNvSpPr txBox="1"/>
          <p:nvPr/>
        </p:nvSpPr>
        <p:spPr>
          <a:xfrm>
            <a:off x="1188720" y="3721608"/>
            <a:ext cx="5212080" cy="96012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Write down every step. </a:t>
            </a:r>
            <a:pPr indent="0" marL="0">
              <a:buNone/>
            </a:pPr>
            <a:r>
              <a:rPr lang="en-US" sz="1800" dirty="0">
                <a:solidFill>
                  <a:srgbClr val="12213A"/>
                </a:solidFill>
                <a:latin typeface="Calibri" pitchFamily="34" charset="0"/>
                <a:ea typeface="Calibri" pitchFamily="34" charset="-122"/>
                <a:cs typeface="Calibri" pitchFamily="34" charset="-120"/>
              </a:rPr>
              <a:t>Your notes become the report. Note IPs, users, times.</a:t>
            </a:r>
            <a:endParaRPr lang="en-US" sz="1800" dirty="0"/>
          </a:p>
        </p:txBody>
      </p:sp>
      <p:sp>
        <p:nvSpPr>
          <p:cNvPr id="13" name="Shape 10"/>
          <p:cNvSpPr/>
          <p:nvPr/>
        </p:nvSpPr>
        <p:spPr>
          <a:xfrm>
            <a:off x="548640" y="4800600"/>
            <a:ext cx="457200" cy="457200"/>
          </a:xfrm>
          <a:prstGeom prst="ellipse">
            <a:avLst/>
          </a:prstGeom>
          <a:solidFill>
            <a:srgbClr val="2459D8"/>
          </a:solidFill>
          <a:ln/>
        </p:spPr>
      </p:sp>
      <p:sp>
        <p:nvSpPr>
          <p:cNvPr id="14" name="Text 11"/>
          <p:cNvSpPr txBox="1"/>
          <p:nvPr/>
        </p:nvSpPr>
        <p:spPr>
          <a:xfrm>
            <a:off x="548640" y="4800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5" name="Text 12"/>
          <p:cNvSpPr txBox="1"/>
          <p:nvPr/>
        </p:nvSpPr>
        <p:spPr>
          <a:xfrm>
            <a:off x="1188720" y="4773168"/>
            <a:ext cx="5212080" cy="96012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Trust nothing. </a:t>
            </a:r>
            <a:pPr indent="0" marL="0">
              <a:buNone/>
            </a:pPr>
            <a:r>
              <a:rPr lang="en-US" sz="1800" dirty="0">
                <a:solidFill>
                  <a:srgbClr val="12213A"/>
                </a:solidFill>
                <a:latin typeface="Calibri" pitchFamily="34" charset="0"/>
                <a:ea typeface="Calibri" pitchFamily="34" charset="-122"/>
                <a:cs typeface="Calibri" pitchFamily="34" charset="-120"/>
              </a:rPr>
              <a:t>Names, extensions and even timestamps can be faked.</a:t>
            </a:r>
            <a:endParaRPr lang="en-US" sz="1800" dirty="0"/>
          </a:p>
        </p:txBody>
      </p:sp>
      <p:sp>
        <p:nvSpPr>
          <p:cNvPr id="16" name="Shape 13"/>
          <p:cNvSpPr/>
          <p:nvPr/>
        </p:nvSpPr>
        <p:spPr>
          <a:xfrm>
            <a:off x="6675120" y="1463040"/>
            <a:ext cx="4965192" cy="4526280"/>
          </a:xfrm>
          <a:prstGeom prst="roundRect">
            <a:avLst>
              <a:gd name="adj" fmla="val 2020"/>
            </a:avLst>
          </a:prstGeom>
          <a:solidFill>
            <a:srgbClr val="0E1726"/>
          </a:solidFill>
          <a:ln/>
          <a:effectLst>
            <a:outerShdw sx="100000" sy="100000" kx="0" ky="0" algn="bl" rotWithShape="0" blurRad="127000" dist="38100" dir="5400000">
              <a:srgbClr val="12213A">
                <a:alpha val="22000"/>
              </a:srgbClr>
            </a:outerShdw>
          </a:effectLst>
        </p:spPr>
      </p:sp>
      <p:sp>
        <p:nvSpPr>
          <p:cNvPr id="17" name="Shape 14"/>
          <p:cNvSpPr/>
          <p:nvPr/>
        </p:nvSpPr>
        <p:spPr>
          <a:xfrm>
            <a:off x="6876288" y="1618488"/>
            <a:ext cx="118872" cy="118872"/>
          </a:xfrm>
          <a:prstGeom prst="ellipse">
            <a:avLst/>
          </a:prstGeom>
          <a:solidFill>
            <a:srgbClr val="E5534B"/>
          </a:solidFill>
          <a:ln/>
        </p:spPr>
      </p:sp>
      <p:sp>
        <p:nvSpPr>
          <p:cNvPr id="18" name="Shape 15"/>
          <p:cNvSpPr/>
          <p:nvPr/>
        </p:nvSpPr>
        <p:spPr>
          <a:xfrm>
            <a:off x="7077456" y="1618488"/>
            <a:ext cx="118872" cy="118872"/>
          </a:xfrm>
          <a:prstGeom prst="ellipse">
            <a:avLst/>
          </a:prstGeom>
          <a:solidFill>
            <a:srgbClr val="F5A623"/>
          </a:solidFill>
          <a:ln/>
        </p:spPr>
      </p:sp>
      <p:sp>
        <p:nvSpPr>
          <p:cNvPr id="19" name="Shape 16"/>
          <p:cNvSpPr/>
          <p:nvPr/>
        </p:nvSpPr>
        <p:spPr>
          <a:xfrm>
            <a:off x="7278624" y="1618488"/>
            <a:ext cx="118872" cy="118872"/>
          </a:xfrm>
          <a:prstGeom prst="ellipse">
            <a:avLst/>
          </a:prstGeom>
          <a:solidFill>
            <a:srgbClr val="46D39A"/>
          </a:solidFill>
          <a:ln/>
        </p:spPr>
      </p:sp>
      <p:sp>
        <p:nvSpPr>
          <p:cNvPr id="20" name="Text 17"/>
          <p:cNvSpPr txBox="1"/>
          <p:nvPr/>
        </p:nvSpPr>
        <p:spPr>
          <a:xfrm>
            <a:off x="7589520" y="1536192"/>
            <a:ext cx="313639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notes.txt</a:t>
            </a:r>
            <a:endParaRPr lang="en-US" sz="1000" dirty="0"/>
          </a:p>
        </p:txBody>
      </p:sp>
      <p:sp>
        <p:nvSpPr>
          <p:cNvPr id="21" name="Text 18"/>
          <p:cNvSpPr txBox="1"/>
          <p:nvPr/>
        </p:nvSpPr>
        <p:spPr>
          <a:xfrm>
            <a:off x="6949440" y="1920240"/>
            <a:ext cx="4416552" cy="3931920"/>
          </a:xfrm>
          <a:prstGeom prst="rect">
            <a:avLst/>
          </a:prstGeom>
          <a:noFill/>
          <a:ln/>
        </p:spPr>
        <p:txBody>
          <a:bodyPr wrap="square" lIns="0" tIns="0" rIns="0" bIns="0" rtlCol="0" anchor="t"/>
          <a:lstStyle/>
          <a:p>
            <a:pPr indent="0" marL="0">
              <a:spcAft>
                <a:spcPts val="200"/>
              </a:spcAft>
              <a:buNone/>
            </a:pPr>
            <a:r>
              <a:rPr lang="en-US" sz="1500" dirty="0">
                <a:solidFill>
                  <a:srgbClr val="7F8FAD"/>
                </a:solidFill>
                <a:latin typeface="Courier New" pitchFamily="34" charset="0"/>
                <a:ea typeface="Courier New" pitchFamily="34" charset="-122"/>
                <a:cs typeface="Courier New" pitchFamily="34" charset="-120"/>
              </a:rPr>
              <a:t># case notes, 08 Oct</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02:04  Failed logins start</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       from 203.0.113.66</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02:26  Accepted: user ava</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02:53  memo.txt changed</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03:01  pixel.gif requests</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       with hex chunks</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Next:  check cron for</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       persistence</a:t>
            </a:r>
            <a:endParaRPr lang="en-US" sz="1500" dirty="0"/>
          </a:p>
        </p:txBody>
      </p:sp>
      <p:sp>
        <p:nvSpPr>
          <p:cNvPr id="22" name="Text 1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9 / 60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you'll see at the competition</a:t>
            </a:r>
            <a:endParaRPr lang="en-US" sz="3200" dirty="0"/>
          </a:p>
        </p:txBody>
      </p:sp>
      <p:sp>
        <p:nvSpPr>
          <p:cNvPr id="4" name="Shape 1"/>
          <p:cNvSpPr/>
          <p:nvPr/>
        </p:nvSpPr>
        <p:spPr>
          <a:xfrm>
            <a:off x="548640" y="1463040"/>
            <a:ext cx="5449824" cy="1005840"/>
          </a:xfrm>
          <a:prstGeom prst="roundRect">
            <a:avLst>
              <a:gd name="adj" fmla="val 9091"/>
            </a:avLst>
          </a:prstGeom>
          <a:solidFill>
            <a:srgbClr val="F1F5FB"/>
          </a:solidFill>
          <a:ln/>
        </p:spPr>
      </p:sp>
      <p:sp>
        <p:nvSpPr>
          <p:cNvPr id="5" name="Shape 2"/>
          <p:cNvSpPr/>
          <p:nvPr/>
        </p:nvSpPr>
        <p:spPr>
          <a:xfrm>
            <a:off x="548640" y="1463040"/>
            <a:ext cx="109728" cy="1005840"/>
          </a:xfrm>
          <a:prstGeom prst="rect">
            <a:avLst/>
          </a:prstGeom>
          <a:solidFill>
            <a:srgbClr val="17875A"/>
          </a:solidFill>
          <a:ln/>
        </p:spPr>
      </p:sp>
      <p:sp>
        <p:nvSpPr>
          <p:cNvPr id="6" name="Text 3"/>
          <p:cNvSpPr txBox="1"/>
          <p:nvPr/>
        </p:nvSpPr>
        <p:spPr>
          <a:xfrm>
            <a:off x="868680" y="1554480"/>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Forensics</a:t>
            </a:r>
            <a:endParaRPr lang="en-US" sz="1800" dirty="0"/>
          </a:p>
        </p:txBody>
      </p:sp>
      <p:sp>
        <p:nvSpPr>
          <p:cNvPr id="7" name="Text 4"/>
          <p:cNvSpPr txBox="1"/>
          <p:nvPr/>
        </p:nvSpPr>
        <p:spPr>
          <a:xfrm>
            <a:off x="868680" y="1965960"/>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Today: signatures, metadata, stego, logs, packets</a:t>
            </a:r>
            <a:endParaRPr lang="en-US" sz="1400" dirty="0"/>
          </a:p>
        </p:txBody>
      </p:sp>
      <p:sp>
        <p:nvSpPr>
          <p:cNvPr id="8" name="Shape 5"/>
          <p:cNvSpPr/>
          <p:nvPr/>
        </p:nvSpPr>
        <p:spPr>
          <a:xfrm>
            <a:off x="4434840" y="1591056"/>
            <a:ext cx="1371600" cy="347472"/>
          </a:xfrm>
          <a:prstGeom prst="roundRect">
            <a:avLst>
              <a:gd name="adj" fmla="val 50000"/>
            </a:avLst>
          </a:prstGeom>
          <a:solidFill>
            <a:srgbClr val="E2F5EC"/>
          </a:solidFill>
          <a:ln/>
        </p:spPr>
      </p:sp>
      <p:sp>
        <p:nvSpPr>
          <p:cNvPr id="9" name="Text 6"/>
          <p:cNvSpPr txBox="1"/>
          <p:nvPr/>
        </p:nvSpPr>
        <p:spPr>
          <a:xfrm>
            <a:off x="4434840" y="1591056"/>
            <a:ext cx="1371600" cy="347472"/>
          </a:xfrm>
          <a:prstGeom prst="rect">
            <a:avLst/>
          </a:prstGeom>
          <a:noFill/>
          <a:ln/>
        </p:spPr>
        <p:txBody>
          <a:bodyPr wrap="square" lIns="0" tIns="0" rIns="0" bIns="0" rtlCol="0" anchor="ctr"/>
          <a:lstStyle/>
          <a:p>
            <a:pPr algn="ctr" indent="0" marL="0">
              <a:buNone/>
            </a:pPr>
            <a:r>
              <a:rPr lang="en-US" sz="1150" b="1" dirty="0">
                <a:solidFill>
                  <a:srgbClr val="12704B"/>
                </a:solidFill>
                <a:latin typeface="Calibri" pitchFamily="34" charset="0"/>
                <a:ea typeface="Calibri" pitchFamily="34" charset="-122"/>
                <a:cs typeface="Calibri" pitchFamily="34" charset="-120"/>
              </a:rPr>
              <a:t>practised</a:t>
            </a:r>
            <a:endParaRPr lang="en-US" sz="1150" dirty="0"/>
          </a:p>
        </p:txBody>
      </p:sp>
      <p:sp>
        <p:nvSpPr>
          <p:cNvPr id="10" name="Shape 7"/>
          <p:cNvSpPr/>
          <p:nvPr/>
        </p:nvSpPr>
        <p:spPr>
          <a:xfrm>
            <a:off x="6190488" y="1463040"/>
            <a:ext cx="5449824" cy="1005840"/>
          </a:xfrm>
          <a:prstGeom prst="roundRect">
            <a:avLst>
              <a:gd name="adj" fmla="val 9091"/>
            </a:avLst>
          </a:prstGeom>
          <a:solidFill>
            <a:srgbClr val="F1F5FB"/>
          </a:solidFill>
          <a:ln/>
        </p:spPr>
      </p:sp>
      <p:sp>
        <p:nvSpPr>
          <p:cNvPr id="11" name="Shape 8"/>
          <p:cNvSpPr/>
          <p:nvPr/>
        </p:nvSpPr>
        <p:spPr>
          <a:xfrm>
            <a:off x="6190488" y="1463040"/>
            <a:ext cx="109728" cy="1005840"/>
          </a:xfrm>
          <a:prstGeom prst="rect">
            <a:avLst/>
          </a:prstGeom>
          <a:solidFill>
            <a:srgbClr val="17875A"/>
          </a:solidFill>
          <a:ln/>
        </p:spPr>
      </p:sp>
      <p:sp>
        <p:nvSpPr>
          <p:cNvPr id="12" name="Text 9"/>
          <p:cNvSpPr txBox="1"/>
          <p:nvPr/>
        </p:nvSpPr>
        <p:spPr>
          <a:xfrm>
            <a:off x="6510528" y="1554480"/>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Crypto</a:t>
            </a:r>
            <a:endParaRPr lang="en-US" sz="1800" dirty="0"/>
          </a:p>
        </p:txBody>
      </p:sp>
      <p:sp>
        <p:nvSpPr>
          <p:cNvPr id="13" name="Text 10"/>
          <p:cNvSpPr txBox="1"/>
          <p:nvPr/>
        </p:nvSpPr>
        <p:spPr>
          <a:xfrm>
            <a:off x="6510528" y="1965960"/>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The Crypto CTF: encodings, ciphers, hashes</a:t>
            </a:r>
            <a:endParaRPr lang="en-US" sz="1400" dirty="0"/>
          </a:p>
        </p:txBody>
      </p:sp>
      <p:sp>
        <p:nvSpPr>
          <p:cNvPr id="14" name="Shape 11"/>
          <p:cNvSpPr/>
          <p:nvPr/>
        </p:nvSpPr>
        <p:spPr>
          <a:xfrm>
            <a:off x="10076688" y="1591056"/>
            <a:ext cx="1371600" cy="347472"/>
          </a:xfrm>
          <a:prstGeom prst="roundRect">
            <a:avLst>
              <a:gd name="adj" fmla="val 50000"/>
            </a:avLst>
          </a:prstGeom>
          <a:solidFill>
            <a:srgbClr val="E2F5EC"/>
          </a:solidFill>
          <a:ln/>
        </p:spPr>
      </p:sp>
      <p:sp>
        <p:nvSpPr>
          <p:cNvPr id="15" name="Text 12"/>
          <p:cNvSpPr txBox="1"/>
          <p:nvPr/>
        </p:nvSpPr>
        <p:spPr>
          <a:xfrm>
            <a:off x="10076688" y="1591056"/>
            <a:ext cx="1371600" cy="347472"/>
          </a:xfrm>
          <a:prstGeom prst="rect">
            <a:avLst/>
          </a:prstGeom>
          <a:noFill/>
          <a:ln/>
        </p:spPr>
        <p:txBody>
          <a:bodyPr wrap="square" lIns="0" tIns="0" rIns="0" bIns="0" rtlCol="0" anchor="ctr"/>
          <a:lstStyle/>
          <a:p>
            <a:pPr algn="ctr" indent="0" marL="0">
              <a:buNone/>
            </a:pPr>
            <a:r>
              <a:rPr lang="en-US" sz="1150" b="1" dirty="0">
                <a:solidFill>
                  <a:srgbClr val="12704B"/>
                </a:solidFill>
                <a:latin typeface="Calibri" pitchFamily="34" charset="0"/>
                <a:ea typeface="Calibri" pitchFamily="34" charset="-122"/>
                <a:cs typeface="Calibri" pitchFamily="34" charset="-120"/>
              </a:rPr>
              <a:t>practised</a:t>
            </a:r>
            <a:endParaRPr lang="en-US" sz="1150" dirty="0"/>
          </a:p>
        </p:txBody>
      </p:sp>
      <p:sp>
        <p:nvSpPr>
          <p:cNvPr id="16" name="Shape 13"/>
          <p:cNvSpPr/>
          <p:nvPr/>
        </p:nvSpPr>
        <p:spPr>
          <a:xfrm>
            <a:off x="548640" y="2596896"/>
            <a:ext cx="5449824" cy="1005840"/>
          </a:xfrm>
          <a:prstGeom prst="roundRect">
            <a:avLst>
              <a:gd name="adj" fmla="val 9091"/>
            </a:avLst>
          </a:prstGeom>
          <a:solidFill>
            <a:srgbClr val="F1F5FB"/>
          </a:solidFill>
          <a:ln/>
        </p:spPr>
      </p:sp>
      <p:sp>
        <p:nvSpPr>
          <p:cNvPr id="17" name="Shape 14"/>
          <p:cNvSpPr/>
          <p:nvPr/>
        </p:nvSpPr>
        <p:spPr>
          <a:xfrm>
            <a:off x="548640" y="2596896"/>
            <a:ext cx="109728" cy="1005840"/>
          </a:xfrm>
          <a:prstGeom prst="rect">
            <a:avLst/>
          </a:prstGeom>
          <a:solidFill>
            <a:srgbClr val="F5A623"/>
          </a:solidFill>
          <a:ln/>
        </p:spPr>
      </p:sp>
      <p:sp>
        <p:nvSpPr>
          <p:cNvPr id="18" name="Text 15"/>
          <p:cNvSpPr txBox="1"/>
          <p:nvPr/>
        </p:nvSpPr>
        <p:spPr>
          <a:xfrm>
            <a:off x="868680" y="2688336"/>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Reverse engineering</a:t>
            </a:r>
            <a:endParaRPr lang="en-US" sz="1800" dirty="0"/>
          </a:p>
        </p:txBody>
      </p:sp>
      <p:sp>
        <p:nvSpPr>
          <p:cNvPr id="19" name="Text 16"/>
          <p:cNvSpPr txBox="1"/>
          <p:nvPr/>
        </p:nvSpPr>
        <p:spPr>
          <a:xfrm>
            <a:off x="868680" y="3099816"/>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strings, xxd and file signatures are step one</a:t>
            </a:r>
            <a:endParaRPr lang="en-US" sz="1400" dirty="0"/>
          </a:p>
        </p:txBody>
      </p:sp>
      <p:sp>
        <p:nvSpPr>
          <p:cNvPr id="20" name="Shape 17"/>
          <p:cNvSpPr/>
          <p:nvPr/>
        </p:nvSpPr>
        <p:spPr>
          <a:xfrm>
            <a:off x="4434840" y="2724912"/>
            <a:ext cx="1371600" cy="347472"/>
          </a:xfrm>
          <a:prstGeom prst="roundRect">
            <a:avLst>
              <a:gd name="adj" fmla="val 50000"/>
            </a:avLst>
          </a:prstGeom>
          <a:solidFill>
            <a:srgbClr val="FFF4DE"/>
          </a:solidFill>
          <a:ln/>
        </p:spPr>
      </p:sp>
      <p:sp>
        <p:nvSpPr>
          <p:cNvPr id="21" name="Text 18"/>
          <p:cNvSpPr txBox="1"/>
          <p:nvPr/>
        </p:nvSpPr>
        <p:spPr>
          <a:xfrm>
            <a:off x="4434840" y="2724912"/>
            <a:ext cx="1371600" cy="347472"/>
          </a:xfrm>
          <a:prstGeom prst="rect">
            <a:avLst/>
          </a:prstGeom>
          <a:noFill/>
          <a:ln/>
        </p:spPr>
        <p:txBody>
          <a:bodyPr wrap="square" lIns="0" tIns="0" rIns="0" bIns="0" rtlCol="0" anchor="ctr"/>
          <a:lstStyle/>
          <a:p>
            <a:pPr algn="ctr" indent="0" marL="0">
              <a:buNone/>
            </a:pPr>
            <a:r>
              <a:rPr lang="en-US" sz="1150" b="1" dirty="0">
                <a:solidFill>
                  <a:srgbClr val="9A5B00"/>
                </a:solidFill>
                <a:latin typeface="Calibri" pitchFamily="34" charset="0"/>
                <a:ea typeface="Calibri" pitchFamily="34" charset="-122"/>
                <a:cs typeface="Calibri" pitchFamily="34" charset="-120"/>
              </a:rPr>
              <a:t>first steps</a:t>
            </a:r>
            <a:endParaRPr lang="en-US" sz="1150" dirty="0"/>
          </a:p>
        </p:txBody>
      </p:sp>
      <p:sp>
        <p:nvSpPr>
          <p:cNvPr id="22" name="Shape 19"/>
          <p:cNvSpPr/>
          <p:nvPr/>
        </p:nvSpPr>
        <p:spPr>
          <a:xfrm>
            <a:off x="6190488" y="2596896"/>
            <a:ext cx="5449824" cy="1005840"/>
          </a:xfrm>
          <a:prstGeom prst="roundRect">
            <a:avLst>
              <a:gd name="adj" fmla="val 9091"/>
            </a:avLst>
          </a:prstGeom>
          <a:solidFill>
            <a:srgbClr val="F1F5FB"/>
          </a:solidFill>
          <a:ln/>
        </p:spPr>
      </p:sp>
      <p:sp>
        <p:nvSpPr>
          <p:cNvPr id="23" name="Shape 20"/>
          <p:cNvSpPr/>
          <p:nvPr/>
        </p:nvSpPr>
        <p:spPr>
          <a:xfrm>
            <a:off x="6190488" y="2596896"/>
            <a:ext cx="109728" cy="1005840"/>
          </a:xfrm>
          <a:prstGeom prst="rect">
            <a:avLst/>
          </a:prstGeom>
          <a:solidFill>
            <a:srgbClr val="56657E"/>
          </a:solidFill>
          <a:ln/>
        </p:spPr>
      </p:sp>
      <p:sp>
        <p:nvSpPr>
          <p:cNvPr id="24" name="Text 21"/>
          <p:cNvSpPr txBox="1"/>
          <p:nvPr/>
        </p:nvSpPr>
        <p:spPr>
          <a:xfrm>
            <a:off x="6510528" y="2688336"/>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Web</a:t>
            </a:r>
            <a:endParaRPr lang="en-US" sz="1800" dirty="0"/>
          </a:p>
        </p:txBody>
      </p:sp>
      <p:sp>
        <p:nvSpPr>
          <p:cNvPr id="25" name="Text 22"/>
          <p:cNvSpPr txBox="1"/>
          <p:nvPr/>
        </p:nvSpPr>
        <p:spPr>
          <a:xfrm>
            <a:off x="6510528" y="3099816"/>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Coming: the Web CTF (OWASP Top 10)</a:t>
            </a:r>
            <a:endParaRPr lang="en-US" sz="1400" dirty="0"/>
          </a:p>
        </p:txBody>
      </p:sp>
      <p:sp>
        <p:nvSpPr>
          <p:cNvPr id="26" name="Shape 23"/>
          <p:cNvSpPr/>
          <p:nvPr/>
        </p:nvSpPr>
        <p:spPr>
          <a:xfrm>
            <a:off x="10076688" y="2724912"/>
            <a:ext cx="1371600" cy="347472"/>
          </a:xfrm>
          <a:prstGeom prst="roundRect">
            <a:avLst>
              <a:gd name="adj" fmla="val 50000"/>
            </a:avLst>
          </a:prstGeom>
          <a:solidFill>
            <a:srgbClr val="E4EAF3"/>
          </a:solidFill>
          <a:ln/>
        </p:spPr>
      </p:sp>
      <p:sp>
        <p:nvSpPr>
          <p:cNvPr id="27" name="Text 24"/>
          <p:cNvSpPr txBox="1"/>
          <p:nvPr/>
        </p:nvSpPr>
        <p:spPr>
          <a:xfrm>
            <a:off x="10076688" y="2724912"/>
            <a:ext cx="1371600" cy="347472"/>
          </a:xfrm>
          <a:prstGeom prst="rect">
            <a:avLst/>
          </a:prstGeom>
          <a:noFill/>
          <a:ln/>
        </p:spPr>
        <p:txBody>
          <a:bodyPr wrap="square" lIns="0" tIns="0" rIns="0" bIns="0" rtlCol="0" anchor="ctr"/>
          <a:lstStyle/>
          <a:p>
            <a:pPr algn="ctr" indent="0" marL="0">
              <a:buNone/>
            </a:pPr>
            <a:r>
              <a:rPr lang="en-US" sz="1150" b="1" dirty="0">
                <a:solidFill>
                  <a:srgbClr val="56657E"/>
                </a:solidFill>
                <a:latin typeface="Calibri" pitchFamily="34" charset="0"/>
                <a:ea typeface="Calibri" pitchFamily="34" charset="-122"/>
                <a:cs typeface="Calibri" pitchFamily="34" charset="-120"/>
              </a:rPr>
              <a:t>later</a:t>
            </a:r>
            <a:endParaRPr lang="en-US" sz="1150" dirty="0"/>
          </a:p>
        </p:txBody>
      </p:sp>
      <p:sp>
        <p:nvSpPr>
          <p:cNvPr id="28" name="Shape 25"/>
          <p:cNvSpPr/>
          <p:nvPr/>
        </p:nvSpPr>
        <p:spPr>
          <a:xfrm>
            <a:off x="548640" y="3730752"/>
            <a:ext cx="5449824" cy="1005840"/>
          </a:xfrm>
          <a:prstGeom prst="roundRect">
            <a:avLst>
              <a:gd name="adj" fmla="val 9091"/>
            </a:avLst>
          </a:prstGeom>
          <a:solidFill>
            <a:srgbClr val="F1F5FB"/>
          </a:solidFill>
          <a:ln/>
        </p:spPr>
      </p:sp>
      <p:sp>
        <p:nvSpPr>
          <p:cNvPr id="29" name="Shape 26"/>
          <p:cNvSpPr/>
          <p:nvPr/>
        </p:nvSpPr>
        <p:spPr>
          <a:xfrm>
            <a:off x="548640" y="3730752"/>
            <a:ext cx="109728" cy="1005840"/>
          </a:xfrm>
          <a:prstGeom prst="rect">
            <a:avLst/>
          </a:prstGeom>
          <a:solidFill>
            <a:srgbClr val="F5A623"/>
          </a:solidFill>
          <a:ln/>
        </p:spPr>
      </p:sp>
      <p:sp>
        <p:nvSpPr>
          <p:cNvPr id="30" name="Text 27"/>
          <p:cNvSpPr txBox="1"/>
          <p:nvPr/>
        </p:nvSpPr>
        <p:spPr>
          <a:xfrm>
            <a:off x="868680" y="3822192"/>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Education &amp; Awareness</a:t>
            </a:r>
            <a:endParaRPr lang="en-US" sz="1800" dirty="0"/>
          </a:p>
        </p:txBody>
      </p:sp>
      <p:sp>
        <p:nvSpPr>
          <p:cNvPr id="31" name="Text 28"/>
          <p:cNvSpPr txBox="1"/>
          <p:nvPr/>
        </p:nvSpPr>
        <p:spPr>
          <a:xfrm>
            <a:off x="868680" y="4233672"/>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Trivia: phishing, passwords, cyber ethics</a:t>
            </a:r>
            <a:endParaRPr lang="en-US" sz="1400" dirty="0"/>
          </a:p>
        </p:txBody>
      </p:sp>
      <p:sp>
        <p:nvSpPr>
          <p:cNvPr id="32" name="Shape 29"/>
          <p:cNvSpPr/>
          <p:nvPr/>
        </p:nvSpPr>
        <p:spPr>
          <a:xfrm>
            <a:off x="4434840" y="3858768"/>
            <a:ext cx="1371600" cy="347472"/>
          </a:xfrm>
          <a:prstGeom prst="roundRect">
            <a:avLst>
              <a:gd name="adj" fmla="val 50000"/>
            </a:avLst>
          </a:prstGeom>
          <a:solidFill>
            <a:srgbClr val="FFF4DE"/>
          </a:solidFill>
          <a:ln/>
        </p:spPr>
      </p:sp>
      <p:sp>
        <p:nvSpPr>
          <p:cNvPr id="33" name="Text 30"/>
          <p:cNvSpPr txBox="1"/>
          <p:nvPr/>
        </p:nvSpPr>
        <p:spPr>
          <a:xfrm>
            <a:off x="4434840" y="3858768"/>
            <a:ext cx="1371600" cy="347472"/>
          </a:xfrm>
          <a:prstGeom prst="rect">
            <a:avLst/>
          </a:prstGeom>
          <a:noFill/>
          <a:ln/>
        </p:spPr>
        <p:txBody>
          <a:bodyPr wrap="square" lIns="0" tIns="0" rIns="0" bIns="0" rtlCol="0" anchor="ctr"/>
          <a:lstStyle/>
          <a:p>
            <a:pPr algn="ctr" indent="0" marL="0">
              <a:buNone/>
            </a:pPr>
            <a:r>
              <a:rPr lang="en-US" sz="1150" b="1" dirty="0">
                <a:solidFill>
                  <a:srgbClr val="9A5B00"/>
                </a:solidFill>
                <a:latin typeface="Calibri" pitchFamily="34" charset="0"/>
                <a:ea typeface="Calibri" pitchFamily="34" charset="-122"/>
                <a:cs typeface="Calibri" pitchFamily="34" charset="-120"/>
              </a:rPr>
              <a:t>first steps</a:t>
            </a:r>
            <a:endParaRPr lang="en-US" sz="1150" dirty="0"/>
          </a:p>
        </p:txBody>
      </p:sp>
      <p:sp>
        <p:nvSpPr>
          <p:cNvPr id="34" name="Shape 31"/>
          <p:cNvSpPr/>
          <p:nvPr/>
        </p:nvSpPr>
        <p:spPr>
          <a:xfrm>
            <a:off x="6190488" y="3730752"/>
            <a:ext cx="5449824" cy="1005840"/>
          </a:xfrm>
          <a:prstGeom prst="roundRect">
            <a:avLst>
              <a:gd name="adj" fmla="val 9091"/>
            </a:avLst>
          </a:prstGeom>
          <a:solidFill>
            <a:srgbClr val="F1F5FB"/>
          </a:solidFill>
          <a:ln/>
        </p:spPr>
      </p:sp>
      <p:sp>
        <p:nvSpPr>
          <p:cNvPr id="35" name="Shape 32"/>
          <p:cNvSpPr/>
          <p:nvPr/>
        </p:nvSpPr>
        <p:spPr>
          <a:xfrm>
            <a:off x="6190488" y="3730752"/>
            <a:ext cx="109728" cy="1005840"/>
          </a:xfrm>
          <a:prstGeom prst="rect">
            <a:avLst/>
          </a:prstGeom>
          <a:solidFill>
            <a:srgbClr val="F5A623"/>
          </a:solidFill>
          <a:ln/>
        </p:spPr>
      </p:sp>
      <p:sp>
        <p:nvSpPr>
          <p:cNvPr id="36" name="Text 33"/>
          <p:cNvSpPr txBox="1"/>
          <p:nvPr/>
        </p:nvSpPr>
        <p:spPr>
          <a:xfrm>
            <a:off x="6510528" y="3822192"/>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PWN</a:t>
            </a:r>
            <a:endParaRPr lang="en-US" sz="1800" dirty="0"/>
          </a:p>
        </p:txBody>
      </p:sp>
      <p:sp>
        <p:nvSpPr>
          <p:cNvPr id="37" name="Text 34"/>
          <p:cNvSpPr txBox="1"/>
          <p:nvPr/>
        </p:nvSpPr>
        <p:spPr>
          <a:xfrm>
            <a:off x="6510528" y="4233672"/>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Linux permissions (Linux CTF) are the start</a:t>
            </a:r>
            <a:endParaRPr lang="en-US" sz="1400" dirty="0"/>
          </a:p>
        </p:txBody>
      </p:sp>
      <p:sp>
        <p:nvSpPr>
          <p:cNvPr id="38" name="Shape 35"/>
          <p:cNvSpPr/>
          <p:nvPr/>
        </p:nvSpPr>
        <p:spPr>
          <a:xfrm>
            <a:off x="10076688" y="3858768"/>
            <a:ext cx="1371600" cy="347472"/>
          </a:xfrm>
          <a:prstGeom prst="roundRect">
            <a:avLst>
              <a:gd name="adj" fmla="val 50000"/>
            </a:avLst>
          </a:prstGeom>
          <a:solidFill>
            <a:srgbClr val="FFF4DE"/>
          </a:solidFill>
          <a:ln/>
        </p:spPr>
      </p:sp>
      <p:sp>
        <p:nvSpPr>
          <p:cNvPr id="39" name="Text 36"/>
          <p:cNvSpPr txBox="1"/>
          <p:nvPr/>
        </p:nvSpPr>
        <p:spPr>
          <a:xfrm>
            <a:off x="10076688" y="3858768"/>
            <a:ext cx="1371600" cy="347472"/>
          </a:xfrm>
          <a:prstGeom prst="rect">
            <a:avLst/>
          </a:prstGeom>
          <a:noFill/>
          <a:ln/>
        </p:spPr>
        <p:txBody>
          <a:bodyPr wrap="square" lIns="0" tIns="0" rIns="0" bIns="0" rtlCol="0" anchor="ctr"/>
          <a:lstStyle/>
          <a:p>
            <a:pPr algn="ctr" indent="0" marL="0">
              <a:buNone/>
            </a:pPr>
            <a:r>
              <a:rPr lang="en-US" sz="1150" b="1" dirty="0">
                <a:solidFill>
                  <a:srgbClr val="9A5B00"/>
                </a:solidFill>
                <a:latin typeface="Calibri" pitchFamily="34" charset="0"/>
                <a:ea typeface="Calibri" pitchFamily="34" charset="-122"/>
                <a:cs typeface="Calibri" pitchFamily="34" charset="-120"/>
              </a:rPr>
              <a:t>first steps</a:t>
            </a:r>
            <a:endParaRPr lang="en-US" sz="1150" dirty="0"/>
          </a:p>
        </p:txBody>
      </p:sp>
      <p:sp>
        <p:nvSpPr>
          <p:cNvPr id="40" name="Shape 37"/>
          <p:cNvSpPr/>
          <p:nvPr/>
        </p:nvSpPr>
        <p:spPr>
          <a:xfrm>
            <a:off x="548640" y="4864608"/>
            <a:ext cx="5449824" cy="1005840"/>
          </a:xfrm>
          <a:prstGeom prst="roundRect">
            <a:avLst>
              <a:gd name="adj" fmla="val 9091"/>
            </a:avLst>
          </a:prstGeom>
          <a:solidFill>
            <a:srgbClr val="F1F5FB"/>
          </a:solidFill>
          <a:ln/>
        </p:spPr>
      </p:sp>
      <p:sp>
        <p:nvSpPr>
          <p:cNvPr id="41" name="Shape 38"/>
          <p:cNvSpPr/>
          <p:nvPr/>
        </p:nvSpPr>
        <p:spPr>
          <a:xfrm>
            <a:off x="548640" y="4864608"/>
            <a:ext cx="109728" cy="1005840"/>
          </a:xfrm>
          <a:prstGeom prst="rect">
            <a:avLst/>
          </a:prstGeom>
          <a:solidFill>
            <a:srgbClr val="F5A623"/>
          </a:solidFill>
          <a:ln/>
        </p:spPr>
      </p:sp>
      <p:sp>
        <p:nvSpPr>
          <p:cNvPr id="42" name="Text 39"/>
          <p:cNvSpPr txBox="1"/>
          <p:nvPr/>
        </p:nvSpPr>
        <p:spPr>
          <a:xfrm>
            <a:off x="868680" y="4956048"/>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OSINT</a:t>
            </a:r>
            <a:endParaRPr lang="en-US" sz="1800" dirty="0"/>
          </a:p>
        </p:txBody>
      </p:sp>
      <p:sp>
        <p:nvSpPr>
          <p:cNvPr id="43" name="Text 40"/>
          <p:cNvSpPr txBox="1"/>
          <p:nvPr/>
        </p:nvSpPr>
        <p:spPr>
          <a:xfrm>
            <a:off x="868680" y="5367528"/>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Metadata (Mission 2) is part of it</a:t>
            </a:r>
            <a:endParaRPr lang="en-US" sz="1400" dirty="0"/>
          </a:p>
        </p:txBody>
      </p:sp>
      <p:sp>
        <p:nvSpPr>
          <p:cNvPr id="44" name="Shape 41"/>
          <p:cNvSpPr/>
          <p:nvPr/>
        </p:nvSpPr>
        <p:spPr>
          <a:xfrm>
            <a:off x="4434840" y="4992624"/>
            <a:ext cx="1371600" cy="347472"/>
          </a:xfrm>
          <a:prstGeom prst="roundRect">
            <a:avLst>
              <a:gd name="adj" fmla="val 50000"/>
            </a:avLst>
          </a:prstGeom>
          <a:solidFill>
            <a:srgbClr val="FFF4DE"/>
          </a:solidFill>
          <a:ln/>
        </p:spPr>
      </p:sp>
      <p:sp>
        <p:nvSpPr>
          <p:cNvPr id="45" name="Text 42"/>
          <p:cNvSpPr txBox="1"/>
          <p:nvPr/>
        </p:nvSpPr>
        <p:spPr>
          <a:xfrm>
            <a:off x="4434840" y="4992624"/>
            <a:ext cx="1371600" cy="347472"/>
          </a:xfrm>
          <a:prstGeom prst="rect">
            <a:avLst/>
          </a:prstGeom>
          <a:noFill/>
          <a:ln/>
        </p:spPr>
        <p:txBody>
          <a:bodyPr wrap="square" lIns="0" tIns="0" rIns="0" bIns="0" rtlCol="0" anchor="ctr"/>
          <a:lstStyle/>
          <a:p>
            <a:pPr algn="ctr" indent="0" marL="0">
              <a:buNone/>
            </a:pPr>
            <a:r>
              <a:rPr lang="en-US" sz="1150" b="1" dirty="0">
                <a:solidFill>
                  <a:srgbClr val="9A5B00"/>
                </a:solidFill>
                <a:latin typeface="Calibri" pitchFamily="34" charset="0"/>
                <a:ea typeface="Calibri" pitchFamily="34" charset="-122"/>
                <a:cs typeface="Calibri" pitchFamily="34" charset="-120"/>
              </a:rPr>
              <a:t>first steps</a:t>
            </a:r>
            <a:endParaRPr lang="en-US" sz="1150" dirty="0"/>
          </a:p>
        </p:txBody>
      </p:sp>
      <p:sp>
        <p:nvSpPr>
          <p:cNvPr id="46" name="Shape 43"/>
          <p:cNvSpPr/>
          <p:nvPr/>
        </p:nvSpPr>
        <p:spPr>
          <a:xfrm>
            <a:off x="6190488" y="4864608"/>
            <a:ext cx="5449824" cy="1005840"/>
          </a:xfrm>
          <a:prstGeom prst="roundRect">
            <a:avLst>
              <a:gd name="adj" fmla="val 9091"/>
            </a:avLst>
          </a:prstGeom>
          <a:solidFill>
            <a:srgbClr val="F1F5FB"/>
          </a:solidFill>
          <a:ln/>
        </p:spPr>
      </p:sp>
      <p:sp>
        <p:nvSpPr>
          <p:cNvPr id="47" name="Shape 44"/>
          <p:cNvSpPr/>
          <p:nvPr/>
        </p:nvSpPr>
        <p:spPr>
          <a:xfrm>
            <a:off x="6190488" y="4864608"/>
            <a:ext cx="109728" cy="1005840"/>
          </a:xfrm>
          <a:prstGeom prst="rect">
            <a:avLst/>
          </a:prstGeom>
          <a:solidFill>
            <a:srgbClr val="17875A"/>
          </a:solidFill>
          <a:ln/>
        </p:spPr>
      </p:sp>
      <p:sp>
        <p:nvSpPr>
          <p:cNvPr id="48" name="Text 45"/>
          <p:cNvSpPr txBox="1"/>
          <p:nvPr/>
        </p:nvSpPr>
        <p:spPr>
          <a:xfrm>
            <a:off x="6510528" y="4956048"/>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Command line + SSH</a:t>
            </a:r>
            <a:endParaRPr lang="en-US" sz="1800" dirty="0"/>
          </a:p>
        </p:txBody>
      </p:sp>
      <p:sp>
        <p:nvSpPr>
          <p:cNvPr id="49" name="Text 46"/>
          <p:cNvSpPr txBox="1"/>
          <p:nvPr/>
        </p:nvSpPr>
        <p:spPr>
          <a:xfrm>
            <a:off x="6510528" y="5367528"/>
            <a:ext cx="4846320" cy="411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The Linux CTF, and every command today</a:t>
            </a:r>
            <a:endParaRPr lang="en-US" sz="1400" dirty="0"/>
          </a:p>
        </p:txBody>
      </p:sp>
      <p:sp>
        <p:nvSpPr>
          <p:cNvPr id="50" name="Shape 47"/>
          <p:cNvSpPr/>
          <p:nvPr/>
        </p:nvSpPr>
        <p:spPr>
          <a:xfrm>
            <a:off x="10076688" y="4992624"/>
            <a:ext cx="1371600" cy="347472"/>
          </a:xfrm>
          <a:prstGeom prst="roundRect">
            <a:avLst>
              <a:gd name="adj" fmla="val 50000"/>
            </a:avLst>
          </a:prstGeom>
          <a:solidFill>
            <a:srgbClr val="E2F5EC"/>
          </a:solidFill>
          <a:ln/>
        </p:spPr>
      </p:sp>
      <p:sp>
        <p:nvSpPr>
          <p:cNvPr id="51" name="Text 48"/>
          <p:cNvSpPr txBox="1"/>
          <p:nvPr/>
        </p:nvSpPr>
        <p:spPr>
          <a:xfrm>
            <a:off x="10076688" y="4992624"/>
            <a:ext cx="1371600" cy="347472"/>
          </a:xfrm>
          <a:prstGeom prst="rect">
            <a:avLst/>
          </a:prstGeom>
          <a:noFill/>
          <a:ln/>
        </p:spPr>
        <p:txBody>
          <a:bodyPr wrap="square" lIns="0" tIns="0" rIns="0" bIns="0" rtlCol="0" anchor="ctr"/>
          <a:lstStyle/>
          <a:p>
            <a:pPr algn="ctr" indent="0" marL="0">
              <a:buNone/>
            </a:pPr>
            <a:r>
              <a:rPr lang="en-US" sz="1150" b="1" dirty="0">
                <a:solidFill>
                  <a:srgbClr val="12704B"/>
                </a:solidFill>
                <a:latin typeface="Calibri" pitchFamily="34" charset="0"/>
                <a:ea typeface="Calibri" pitchFamily="34" charset="-122"/>
                <a:cs typeface="Calibri" pitchFamily="34" charset="-120"/>
              </a:rPr>
              <a:t>practised</a:t>
            </a:r>
            <a:endParaRPr lang="en-US" sz="1150" dirty="0"/>
          </a:p>
        </p:txBody>
      </p:sp>
      <p:sp>
        <p:nvSpPr>
          <p:cNvPr id="52" name="Text 4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10 / 60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2459D8"/>
                </a:solidFill>
                <a:latin typeface="Arial" pitchFamily="34" charset="0"/>
                <a:ea typeface="Arial" pitchFamily="34" charset="-122"/>
                <a:cs typeface="Arial" pitchFamily="34" charset="-120"/>
              </a:rPr>
              <a:t>2</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The investigator's toolkit</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strings --help   # every tool explains itself</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11 / 60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When? File times with ls -l</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ls -l ~</a:t>
            </a:r>
            <a:endParaRPr lang="en-US" sz="1300" dirty="0"/>
          </a:p>
        </p:txBody>
      </p:sp>
      <p:sp>
        <p:nvSpPr>
          <p:cNvPr id="8" name="Shape 5"/>
          <p:cNvSpPr/>
          <p:nvPr/>
        </p:nvSpPr>
        <p:spPr>
          <a:xfrm>
            <a:off x="548640" y="109728"/>
            <a:ext cx="1357884" cy="274320"/>
          </a:xfrm>
          <a:prstGeom prst="roundRect">
            <a:avLst>
              <a:gd name="adj" fmla="val 50000"/>
            </a:avLst>
          </a:prstGeom>
          <a:solidFill>
            <a:srgbClr val="17875A"/>
          </a:solidFill>
          <a:ln/>
        </p:spPr>
      </p:sp>
      <p:sp>
        <p:nvSpPr>
          <p:cNvPr id="9" name="Text 6"/>
          <p:cNvSpPr txBox="1"/>
          <p:nvPr/>
        </p:nvSpPr>
        <p:spPr>
          <a:xfrm>
            <a:off x="548640" y="109728"/>
            <a:ext cx="135788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1</a:t>
            </a:r>
            <a:endParaRPr lang="en-US" sz="1100" dirty="0"/>
          </a:p>
        </p:txBody>
      </p:sp>
      <p:sp>
        <p:nvSpPr>
          <p:cNvPr id="10" name="Shape 7"/>
          <p:cNvSpPr/>
          <p:nvPr/>
        </p:nvSpPr>
        <p:spPr>
          <a:xfrm>
            <a:off x="548640" y="1600200"/>
            <a:ext cx="2194560" cy="457200"/>
          </a:xfrm>
          <a:prstGeom prst="roundRect">
            <a:avLst>
              <a:gd name="adj" fmla="val 16000"/>
            </a:avLst>
          </a:prstGeom>
          <a:solidFill>
            <a:srgbClr val="0E1726"/>
          </a:solidFill>
          <a:ln/>
        </p:spPr>
      </p:sp>
      <p:sp>
        <p:nvSpPr>
          <p:cNvPr id="11" name="Text 8"/>
          <p:cNvSpPr txBox="1"/>
          <p:nvPr/>
        </p:nvSpPr>
        <p:spPr>
          <a:xfrm>
            <a:off x="548640" y="160020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ls -l</a:t>
            </a:r>
            <a:endParaRPr lang="en-US" sz="1500" dirty="0"/>
          </a:p>
        </p:txBody>
      </p:sp>
      <p:sp>
        <p:nvSpPr>
          <p:cNvPr id="12" name="Text 9"/>
          <p:cNvSpPr txBox="1"/>
          <p:nvPr/>
        </p:nvSpPr>
        <p:spPr>
          <a:xfrm>
            <a:off x="2971800" y="160020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long listing, with times</a:t>
            </a:r>
            <a:endParaRPr lang="en-US" sz="1700" dirty="0"/>
          </a:p>
        </p:txBody>
      </p:sp>
      <p:sp>
        <p:nvSpPr>
          <p:cNvPr id="13" name="Shape 10"/>
          <p:cNvSpPr/>
          <p:nvPr/>
        </p:nvSpPr>
        <p:spPr>
          <a:xfrm>
            <a:off x="548640" y="2194560"/>
            <a:ext cx="2194560" cy="457200"/>
          </a:xfrm>
          <a:prstGeom prst="roundRect">
            <a:avLst>
              <a:gd name="adj" fmla="val 16000"/>
            </a:avLst>
          </a:prstGeom>
          <a:solidFill>
            <a:srgbClr val="0E1726"/>
          </a:solidFill>
          <a:ln/>
        </p:spPr>
      </p:sp>
      <p:sp>
        <p:nvSpPr>
          <p:cNvPr id="14" name="Text 11"/>
          <p:cNvSpPr txBox="1"/>
          <p:nvPr/>
        </p:nvSpPr>
        <p:spPr>
          <a:xfrm>
            <a:off x="548640" y="219456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ls -lt</a:t>
            </a:r>
            <a:endParaRPr lang="en-US" sz="1500" dirty="0"/>
          </a:p>
        </p:txBody>
      </p:sp>
      <p:sp>
        <p:nvSpPr>
          <p:cNvPr id="15" name="Text 12"/>
          <p:cNvSpPr txBox="1"/>
          <p:nvPr/>
        </p:nvSpPr>
        <p:spPr>
          <a:xfrm>
            <a:off x="2971800" y="219456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newest first: a timeline</a:t>
            </a:r>
            <a:endParaRPr lang="en-US" sz="1700" dirty="0"/>
          </a:p>
        </p:txBody>
      </p:sp>
      <p:sp>
        <p:nvSpPr>
          <p:cNvPr id="16" name="Shape 13"/>
          <p:cNvSpPr/>
          <p:nvPr/>
        </p:nvSpPr>
        <p:spPr>
          <a:xfrm>
            <a:off x="548640" y="2788920"/>
            <a:ext cx="2194560" cy="457200"/>
          </a:xfrm>
          <a:prstGeom prst="roundRect">
            <a:avLst>
              <a:gd name="adj" fmla="val 16000"/>
            </a:avLst>
          </a:prstGeom>
          <a:solidFill>
            <a:srgbClr val="0E1726"/>
          </a:solidFill>
          <a:ln/>
        </p:spPr>
      </p:sp>
      <p:sp>
        <p:nvSpPr>
          <p:cNvPr id="17" name="Text 14"/>
          <p:cNvSpPr txBox="1"/>
          <p:nvPr/>
        </p:nvSpPr>
        <p:spPr>
          <a:xfrm>
            <a:off x="548640" y="278892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 grep 02:53</a:t>
            </a:r>
            <a:endParaRPr lang="en-US" sz="1500" dirty="0"/>
          </a:p>
        </p:txBody>
      </p:sp>
      <p:sp>
        <p:nvSpPr>
          <p:cNvPr id="18" name="Text 15"/>
          <p:cNvSpPr txBox="1"/>
          <p:nvPr/>
        </p:nvSpPr>
        <p:spPr>
          <a:xfrm>
            <a:off x="2971800" y="278892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keep the lines with that time</a:t>
            </a:r>
            <a:endParaRPr lang="en-US" sz="1700" dirty="0"/>
          </a:p>
        </p:txBody>
      </p:sp>
      <p:sp>
        <p:nvSpPr>
          <p:cNvPr id="19" name="Shape 16"/>
          <p:cNvSpPr/>
          <p:nvPr/>
        </p:nvSpPr>
        <p:spPr>
          <a:xfrm>
            <a:off x="548640" y="3566160"/>
            <a:ext cx="5669280" cy="2377440"/>
          </a:xfrm>
          <a:prstGeom prst="roundRect">
            <a:avLst>
              <a:gd name="adj" fmla="val 3846"/>
            </a:avLst>
          </a:prstGeom>
          <a:solidFill>
            <a:srgbClr val="FFF4DC"/>
          </a:solidFill>
          <a:ln/>
        </p:spPr>
      </p:sp>
      <p:sp>
        <p:nvSpPr>
          <p:cNvPr id="20" name="Text 17"/>
          <p:cNvSpPr txBox="1"/>
          <p:nvPr/>
        </p:nvSpPr>
        <p:spPr>
          <a:xfrm>
            <a:off x="822960" y="3703320"/>
            <a:ext cx="5120640" cy="36576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Reading a long listing</a:t>
            </a:r>
            <a:endParaRPr lang="en-US" sz="1700" dirty="0"/>
          </a:p>
        </p:txBody>
      </p:sp>
      <p:sp>
        <p:nvSpPr>
          <p:cNvPr id="21" name="Shape 18"/>
          <p:cNvSpPr/>
          <p:nvPr/>
        </p:nvSpPr>
        <p:spPr>
          <a:xfrm>
            <a:off x="822960" y="4206240"/>
            <a:ext cx="457200" cy="457200"/>
          </a:xfrm>
          <a:prstGeom prst="ellipse">
            <a:avLst/>
          </a:prstGeom>
          <a:solidFill>
            <a:srgbClr val="17875A"/>
          </a:solidFill>
          <a:ln/>
        </p:spPr>
      </p:sp>
      <p:sp>
        <p:nvSpPr>
          <p:cNvPr id="22" name="Text 19"/>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3" name="Text 20"/>
          <p:cNvSpPr txBox="1"/>
          <p:nvPr/>
        </p:nvSpPr>
        <p:spPr>
          <a:xfrm>
            <a:off x="1463040" y="4178808"/>
            <a:ext cx="4480560" cy="457200"/>
          </a:xfrm>
          <a:prstGeom prst="rect">
            <a:avLst/>
          </a:prstGeom>
          <a:noFill/>
          <a:ln/>
        </p:spPr>
        <p:txBody>
          <a:bodyPr wrap="square" lIns="0" tIns="0" rIns="0" bIns="0" rtlCol="0" anchor="t"/>
          <a:lstStyle/>
          <a:p>
            <a:pPr indent="0" marL="0">
              <a:buNone/>
            </a:pPr>
            <a:r>
              <a:rPr lang="en-US" sz="1500" dirty="0">
                <a:solidFill>
                  <a:srgbClr val="12213A"/>
                </a:solidFill>
                <a:latin typeface="Calibri" pitchFamily="34" charset="0"/>
                <a:ea typeface="Calibri" pitchFamily="34" charset="-122"/>
                <a:cs typeface="Calibri" pitchFamily="34" charset="-120"/>
              </a:rPr>
              <a:t>Permissions and owner: who can touch it.</a:t>
            </a:r>
            <a:endParaRPr lang="en-US" sz="1500" dirty="0"/>
          </a:p>
        </p:txBody>
      </p:sp>
      <p:sp>
        <p:nvSpPr>
          <p:cNvPr id="24" name="Shape 21"/>
          <p:cNvSpPr/>
          <p:nvPr/>
        </p:nvSpPr>
        <p:spPr>
          <a:xfrm>
            <a:off x="822960" y="4754880"/>
            <a:ext cx="457200" cy="457200"/>
          </a:xfrm>
          <a:prstGeom prst="ellipse">
            <a:avLst/>
          </a:prstGeom>
          <a:solidFill>
            <a:srgbClr val="17875A"/>
          </a:solidFill>
          <a:ln/>
        </p:spPr>
      </p:sp>
      <p:sp>
        <p:nvSpPr>
          <p:cNvPr id="25" name="Text 22"/>
          <p:cNvSpPr txBox="1"/>
          <p:nvPr/>
        </p:nvSpPr>
        <p:spPr>
          <a:xfrm>
            <a:off x="822960" y="4754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6" name="Text 23"/>
          <p:cNvSpPr txBox="1"/>
          <p:nvPr/>
        </p:nvSpPr>
        <p:spPr>
          <a:xfrm>
            <a:off x="1463040" y="4727448"/>
            <a:ext cx="4480560" cy="457200"/>
          </a:xfrm>
          <a:prstGeom prst="rect">
            <a:avLst/>
          </a:prstGeom>
          <a:noFill/>
          <a:ln/>
        </p:spPr>
        <p:txBody>
          <a:bodyPr wrap="square" lIns="0" tIns="0" rIns="0" bIns="0" rtlCol="0" anchor="t"/>
          <a:lstStyle/>
          <a:p>
            <a:pPr indent="0" marL="0">
              <a:buNone/>
            </a:pPr>
            <a:r>
              <a:rPr lang="en-US" sz="1500" dirty="0">
                <a:solidFill>
                  <a:srgbClr val="12213A"/>
                </a:solidFill>
                <a:latin typeface="Calibri" pitchFamily="34" charset="0"/>
                <a:ea typeface="Calibri" pitchFamily="34" charset="-122"/>
                <a:cs typeface="Calibri" pitchFamily="34" charset="-120"/>
              </a:rPr>
              <a:t>Size in bytes.</a:t>
            </a:r>
            <a:endParaRPr lang="en-US" sz="1500" dirty="0"/>
          </a:p>
        </p:txBody>
      </p:sp>
      <p:sp>
        <p:nvSpPr>
          <p:cNvPr id="27" name="Shape 24"/>
          <p:cNvSpPr/>
          <p:nvPr/>
        </p:nvSpPr>
        <p:spPr>
          <a:xfrm>
            <a:off x="822960" y="5303520"/>
            <a:ext cx="457200" cy="457200"/>
          </a:xfrm>
          <a:prstGeom prst="ellipse">
            <a:avLst/>
          </a:prstGeom>
          <a:solidFill>
            <a:srgbClr val="17875A"/>
          </a:solidFill>
          <a:ln/>
        </p:spPr>
      </p:sp>
      <p:sp>
        <p:nvSpPr>
          <p:cNvPr id="28" name="Text 25"/>
          <p:cNvSpPr txBox="1"/>
          <p:nvPr/>
        </p:nvSpPr>
        <p:spPr>
          <a:xfrm>
            <a:off x="822960" y="5303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9" name="Text 26"/>
          <p:cNvSpPr txBox="1"/>
          <p:nvPr/>
        </p:nvSpPr>
        <p:spPr>
          <a:xfrm>
            <a:off x="1463040" y="5276088"/>
            <a:ext cx="4480560" cy="457200"/>
          </a:xfrm>
          <a:prstGeom prst="rect">
            <a:avLst/>
          </a:prstGeom>
          <a:noFill/>
          <a:ln/>
        </p:spPr>
        <p:txBody>
          <a:bodyPr wrap="square" lIns="0" tIns="0" rIns="0" bIns="0" rtlCol="0" anchor="t"/>
          <a:lstStyle/>
          <a:p>
            <a:pPr indent="0" marL="0">
              <a:buNone/>
            </a:pPr>
            <a:r>
              <a:rPr lang="en-US" sz="1500" dirty="0">
                <a:solidFill>
                  <a:srgbClr val="12213A"/>
                </a:solidFill>
                <a:latin typeface="Calibri" pitchFamily="34" charset="0"/>
                <a:ea typeface="Calibri" pitchFamily="34" charset="-122"/>
                <a:cs typeface="Calibri" pitchFamily="34" charset="-120"/>
              </a:rPr>
              <a:t>Last-modified date and time: when.</a:t>
            </a:r>
            <a:endParaRPr lang="en-US" sz="1500" dirty="0"/>
          </a:p>
        </p:txBody>
      </p:sp>
      <p:sp>
        <p:nvSpPr>
          <p:cNvPr id="30" name="Shape 27"/>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31" name="Shape 28"/>
          <p:cNvSpPr/>
          <p:nvPr/>
        </p:nvSpPr>
        <p:spPr>
          <a:xfrm>
            <a:off x="6784848" y="1618488"/>
            <a:ext cx="118872" cy="118872"/>
          </a:xfrm>
          <a:prstGeom prst="ellipse">
            <a:avLst/>
          </a:prstGeom>
          <a:solidFill>
            <a:srgbClr val="E5534B"/>
          </a:solidFill>
          <a:ln/>
        </p:spPr>
      </p:sp>
      <p:sp>
        <p:nvSpPr>
          <p:cNvPr id="32" name="Shape 29"/>
          <p:cNvSpPr/>
          <p:nvPr/>
        </p:nvSpPr>
        <p:spPr>
          <a:xfrm>
            <a:off x="6986016" y="1618488"/>
            <a:ext cx="118872" cy="118872"/>
          </a:xfrm>
          <a:prstGeom prst="ellipse">
            <a:avLst/>
          </a:prstGeom>
          <a:solidFill>
            <a:srgbClr val="F5A623"/>
          </a:solidFill>
          <a:ln/>
        </p:spPr>
      </p:sp>
      <p:sp>
        <p:nvSpPr>
          <p:cNvPr id="33" name="Shape 30"/>
          <p:cNvSpPr/>
          <p:nvPr/>
        </p:nvSpPr>
        <p:spPr>
          <a:xfrm>
            <a:off x="7187184" y="1618488"/>
            <a:ext cx="118872" cy="118872"/>
          </a:xfrm>
          <a:prstGeom prst="ellipse">
            <a:avLst/>
          </a:prstGeom>
          <a:solidFill>
            <a:srgbClr val="46D39A"/>
          </a:solidFill>
          <a:ln/>
        </p:spPr>
      </p:sp>
      <p:sp>
        <p:nvSpPr>
          <p:cNvPr id="34" name="Text 31"/>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ls -l</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-rw-r--r-- 1 player player 515</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      Oct  8 09:12 report.txt</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-rw-r--r-- 1 player player  47</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      Oct  8 02:53 memo.txt</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-rw-r--r-- 1 player player 210</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      Oct  8 14:40 todo.txt</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02:53? Nobody works then.</a:t>
            </a:r>
            <a:endParaRPr lang="en-US" sz="1400" dirty="0"/>
          </a:p>
        </p:txBody>
      </p:sp>
      <p:sp>
        <p:nvSpPr>
          <p:cNvPr id="36" name="Text 3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12 / 60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Metadata and readable text: strings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strings ~/README.txt</a:t>
            </a:r>
            <a:endParaRPr lang="en-US" sz="1300" dirty="0"/>
          </a:p>
        </p:txBody>
      </p:sp>
      <p:sp>
        <p:nvSpPr>
          <p:cNvPr id="8" name="Shape 5"/>
          <p:cNvSpPr/>
          <p:nvPr/>
        </p:nvSpPr>
        <p:spPr>
          <a:xfrm>
            <a:off x="548640" y="109728"/>
            <a:ext cx="2139696" cy="274320"/>
          </a:xfrm>
          <a:prstGeom prst="roundRect">
            <a:avLst>
              <a:gd name="adj" fmla="val 50000"/>
            </a:avLst>
          </a:prstGeom>
          <a:solidFill>
            <a:srgbClr val="2A9FD6"/>
          </a:solidFill>
          <a:ln/>
        </p:spPr>
      </p:sp>
      <p:sp>
        <p:nvSpPr>
          <p:cNvPr id="9" name="Text 6"/>
          <p:cNvSpPr txBox="1"/>
          <p:nvPr/>
        </p:nvSpPr>
        <p:spPr>
          <a:xfrm>
            <a:off x="548640" y="109728"/>
            <a:ext cx="21396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2 &amp; 6 &amp; 7</a:t>
            </a:r>
            <a:endParaRPr lang="en-US" sz="1100" dirty="0"/>
          </a:p>
        </p:txBody>
      </p:sp>
      <p:sp>
        <p:nvSpPr>
          <p:cNvPr id="10" name="Shape 7"/>
          <p:cNvSpPr/>
          <p:nvPr/>
        </p:nvSpPr>
        <p:spPr>
          <a:xfrm>
            <a:off x="548640" y="1600200"/>
            <a:ext cx="2377440" cy="457200"/>
          </a:xfrm>
          <a:prstGeom prst="roundRect">
            <a:avLst>
              <a:gd name="adj" fmla="val 16000"/>
            </a:avLst>
          </a:prstGeom>
          <a:solidFill>
            <a:srgbClr val="0E1726"/>
          </a:solidFill>
          <a:ln/>
        </p:spPr>
      </p:sp>
      <p:sp>
        <p:nvSpPr>
          <p:cNvPr id="11" name="Text 8"/>
          <p:cNvSpPr txBox="1"/>
          <p:nvPr/>
        </p:nvSpPr>
        <p:spPr>
          <a:xfrm>
            <a:off x="548640" y="160020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strings FILE</a:t>
            </a:r>
            <a:endParaRPr lang="en-US" sz="1500" dirty="0"/>
          </a:p>
        </p:txBody>
      </p:sp>
      <p:sp>
        <p:nvSpPr>
          <p:cNvPr id="12" name="Text 9"/>
          <p:cNvSpPr txBox="1"/>
          <p:nvPr/>
        </p:nvSpPr>
        <p:spPr>
          <a:xfrm>
            <a:off x="3154680" y="160020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print the readable text</a:t>
            </a:r>
            <a:endParaRPr lang="en-US" sz="1700" dirty="0"/>
          </a:p>
        </p:txBody>
      </p:sp>
      <p:sp>
        <p:nvSpPr>
          <p:cNvPr id="13" name="Shape 10"/>
          <p:cNvSpPr/>
          <p:nvPr/>
        </p:nvSpPr>
        <p:spPr>
          <a:xfrm>
            <a:off x="548640" y="2194560"/>
            <a:ext cx="2377440" cy="457200"/>
          </a:xfrm>
          <a:prstGeom prst="roundRect">
            <a:avLst>
              <a:gd name="adj" fmla="val 16000"/>
            </a:avLst>
          </a:prstGeom>
          <a:solidFill>
            <a:srgbClr val="0E1726"/>
          </a:solidFill>
          <a:ln/>
        </p:spPr>
      </p:sp>
      <p:sp>
        <p:nvSpPr>
          <p:cNvPr id="14" name="Text 11"/>
          <p:cNvSpPr txBox="1"/>
          <p:nvPr/>
        </p:nvSpPr>
        <p:spPr>
          <a:xfrm>
            <a:off x="548640" y="219456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 grep CYBA</a:t>
            </a:r>
            <a:endParaRPr lang="en-US" sz="1500" dirty="0"/>
          </a:p>
        </p:txBody>
      </p:sp>
      <p:sp>
        <p:nvSpPr>
          <p:cNvPr id="15" name="Text 12"/>
          <p:cNvSpPr txBox="1"/>
          <p:nvPr/>
        </p:nvSpPr>
        <p:spPr>
          <a:xfrm>
            <a:off x="3154680" y="219456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search inside it</a:t>
            </a:r>
            <a:endParaRPr lang="en-US" sz="1700" dirty="0"/>
          </a:p>
        </p:txBody>
      </p:sp>
      <p:sp>
        <p:nvSpPr>
          <p:cNvPr id="16" name="Shape 13"/>
          <p:cNvSpPr/>
          <p:nvPr/>
        </p:nvSpPr>
        <p:spPr>
          <a:xfrm>
            <a:off x="548640" y="2788920"/>
            <a:ext cx="2377440" cy="457200"/>
          </a:xfrm>
          <a:prstGeom prst="roundRect">
            <a:avLst>
              <a:gd name="adj" fmla="val 16000"/>
            </a:avLst>
          </a:prstGeom>
          <a:solidFill>
            <a:srgbClr val="0E1726"/>
          </a:solidFill>
          <a:ln/>
        </p:spPr>
      </p:sp>
      <p:sp>
        <p:nvSpPr>
          <p:cNvPr id="17" name="Text 14"/>
          <p:cNvSpPr txBox="1"/>
          <p:nvPr/>
        </p:nvSpPr>
        <p:spPr>
          <a:xfrm>
            <a:off x="548640" y="278892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 tail -1</a:t>
            </a:r>
            <a:endParaRPr lang="en-US" sz="1500" dirty="0"/>
          </a:p>
        </p:txBody>
      </p:sp>
      <p:sp>
        <p:nvSpPr>
          <p:cNvPr id="18" name="Text 15"/>
          <p:cNvSpPr txBox="1"/>
          <p:nvPr/>
        </p:nvSpPr>
        <p:spPr>
          <a:xfrm>
            <a:off x="3154680" y="278892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just the last readable line</a:t>
            </a:r>
            <a:endParaRPr lang="en-US" sz="1700" dirty="0"/>
          </a:p>
        </p:txBody>
      </p:sp>
      <p:sp>
        <p:nvSpPr>
          <p:cNvPr id="19" name="Shape 16"/>
          <p:cNvSpPr/>
          <p:nvPr/>
        </p:nvSpPr>
        <p:spPr>
          <a:xfrm>
            <a:off x="548640" y="3566160"/>
            <a:ext cx="5669280" cy="2377440"/>
          </a:xfrm>
          <a:prstGeom prst="roundRect">
            <a:avLst>
              <a:gd name="adj" fmla="val 3846"/>
            </a:avLst>
          </a:prstGeom>
          <a:solidFill>
            <a:srgbClr val="FFF4DC"/>
          </a:solidFill>
          <a:ln/>
        </p:spPr>
      </p:sp>
      <p:sp>
        <p:nvSpPr>
          <p:cNvPr id="20" name="Text 17"/>
          <p:cNvSpPr txBox="1"/>
          <p:nvPr/>
        </p:nvSpPr>
        <p:spPr>
          <a:xfrm>
            <a:off x="822960" y="3657600"/>
            <a:ext cx="5120640" cy="2194560"/>
          </a:xfrm>
          <a:prstGeom prst="rect">
            <a:avLst/>
          </a:prstGeom>
          <a:noFill/>
          <a:ln/>
        </p:spPr>
        <p:txBody>
          <a:bodyPr wrap="square" lIns="0" tIns="0" rIns="0" bIns="0" rtlCol="0" anchor="ctr"/>
          <a:lstStyle/>
          <a:p>
            <a:pPr indent="0" marL="0">
              <a:buNone/>
            </a:pPr>
            <a:r>
              <a:rPr lang="en-US" sz="1600" b="1" dirty="0">
                <a:solidFill>
                  <a:srgbClr val="12213A"/>
                </a:solidFill>
                <a:latin typeface="Calibri" pitchFamily="34" charset="0"/>
                <a:ea typeface="Calibri" pitchFamily="34" charset="-122"/>
                <a:cs typeface="Calibri" pitchFamily="34" charset="-120"/>
              </a:rPr>
              <a:t>Don't cat a binary. </a:t>
            </a:r>
            <a:pPr indent="0" marL="0">
              <a:buNone/>
            </a:pPr>
            <a:r>
              <a:rPr lang="en-US" sz="1600" dirty="0">
                <a:solidFill>
                  <a:srgbClr val="12213A"/>
                </a:solidFill>
                <a:latin typeface="Calibri" pitchFamily="34" charset="0"/>
                <a:ea typeface="Calibri" pitchFamily="34" charset="-122"/>
                <a:cs typeface="Calibri" pitchFamily="34" charset="-120"/>
              </a:rPr>
              <a:t>It prints garbage and can confuse the terminal. If that happens, type </a:t>
            </a:r>
            <a:pPr indent="0" marL="0">
              <a:buNone/>
            </a:pPr>
            <a:r>
              <a:rPr lang="en-US" sz="1600" b="1" dirty="0">
                <a:solidFill>
                  <a:srgbClr val="12213A"/>
                </a:solidFill>
                <a:latin typeface="Courier New" pitchFamily="34" charset="0"/>
                <a:ea typeface="Courier New" pitchFamily="34" charset="-122"/>
                <a:cs typeface="Courier New" pitchFamily="34" charset="-120"/>
              </a:rPr>
              <a:t>reset</a:t>
            </a:r>
            <a:pPr indent="0" marL="0">
              <a:buNone/>
            </a:pPr>
            <a:r>
              <a:rPr lang="en-US" sz="1600" dirty="0">
                <a:solidFill>
                  <a:srgbClr val="12213A"/>
                </a:solidFill>
                <a:latin typeface="Calibri" pitchFamily="34" charset="0"/>
                <a:ea typeface="Calibri" pitchFamily="34" charset="-122"/>
                <a:cs typeface="Calibri" pitchFamily="34" charset="-120"/>
              </a:rPr>
              <a:t> or </a:t>
            </a:r>
            <a:pPr indent="0" marL="0">
              <a:buNone/>
            </a:pPr>
            <a:r>
              <a:rPr lang="en-US" sz="1600" b="1" dirty="0">
                <a:solidFill>
                  <a:srgbClr val="12213A"/>
                </a:solidFill>
                <a:latin typeface="Courier New" pitchFamily="34" charset="0"/>
                <a:ea typeface="Courier New" pitchFamily="34" charset="-122"/>
                <a:cs typeface="Courier New" pitchFamily="34" charset="-120"/>
              </a:rPr>
              <a:t>clear</a:t>
            </a:r>
            <a:pPr indent="0" marL="0">
              <a:buNone/>
            </a:pPr>
            <a:r>
              <a:rPr lang="en-US" sz="1600" dirty="0">
                <a:solidFill>
                  <a:srgbClr val="12213A"/>
                </a:solidFill>
                <a:latin typeface="Calibri" pitchFamily="34" charset="0"/>
                <a:ea typeface="Calibri" pitchFamily="34" charset="-122"/>
                <a:cs typeface="Calibri" pitchFamily="34" charset="-120"/>
              </a:rPr>
              <a:t>.</a:t>
            </a:r>
            <a:endParaRPr lang="en-US" sz="1600" dirty="0"/>
          </a:p>
        </p:txBody>
      </p:sp>
      <p:sp>
        <p:nvSpPr>
          <p:cNvPr id="21" name="Shape 18"/>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22" name="Shape 19"/>
          <p:cNvSpPr/>
          <p:nvPr/>
        </p:nvSpPr>
        <p:spPr>
          <a:xfrm>
            <a:off x="6784848" y="1618488"/>
            <a:ext cx="118872" cy="118872"/>
          </a:xfrm>
          <a:prstGeom prst="ellipse">
            <a:avLst/>
          </a:prstGeom>
          <a:solidFill>
            <a:srgbClr val="E5534B"/>
          </a:solidFill>
          <a:ln/>
        </p:spPr>
      </p:sp>
      <p:sp>
        <p:nvSpPr>
          <p:cNvPr id="23" name="Shape 20"/>
          <p:cNvSpPr/>
          <p:nvPr/>
        </p:nvSpPr>
        <p:spPr>
          <a:xfrm>
            <a:off x="6986016" y="1618488"/>
            <a:ext cx="118872" cy="118872"/>
          </a:xfrm>
          <a:prstGeom prst="ellipse">
            <a:avLst/>
          </a:prstGeom>
          <a:solidFill>
            <a:srgbClr val="F5A623"/>
          </a:solidFill>
          <a:ln/>
        </p:spPr>
      </p:sp>
      <p:sp>
        <p:nvSpPr>
          <p:cNvPr id="24" name="Shape 21"/>
          <p:cNvSpPr/>
          <p:nvPr/>
        </p:nvSpPr>
        <p:spPr>
          <a:xfrm>
            <a:off x="7187184" y="1618488"/>
            <a:ext cx="118872" cy="118872"/>
          </a:xfrm>
          <a:prstGeom prst="ellipse">
            <a:avLst/>
          </a:prstGeom>
          <a:solidFill>
            <a:srgbClr val="46D39A"/>
          </a:solidFill>
          <a:ln/>
        </p:spPr>
      </p:sp>
      <p:sp>
        <p:nvSpPr>
          <p:cNvPr id="25" name="Text 22"/>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6" name="Text 23"/>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cat photo.jpg</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ÿØÿà JFIF çÄ ... garbage</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strings photo.jpg | head -5</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JFIF</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Camera: QuestCam X100</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Software: PhotoFix 2.1</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Author: night-shift</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exiftool shows these neatly</a:t>
            </a:r>
            <a:endParaRPr lang="en-US" sz="1400" dirty="0"/>
          </a:p>
        </p:txBody>
      </p:sp>
      <p:sp>
        <p:nvSpPr>
          <p:cNvPr id="27" name="Text 2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13 / 60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is it really? Magic bytes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filetype ~/*</a:t>
            </a:r>
            <a:endParaRPr lang="en-US" sz="1300" dirty="0"/>
          </a:p>
        </p:txBody>
      </p:sp>
      <p:sp>
        <p:nvSpPr>
          <p:cNvPr id="8" name="Shape 5"/>
          <p:cNvSpPr/>
          <p:nvPr/>
        </p:nvSpPr>
        <p:spPr>
          <a:xfrm>
            <a:off x="548640" y="109728"/>
            <a:ext cx="2226564" cy="274320"/>
          </a:xfrm>
          <a:prstGeom prst="roundRect">
            <a:avLst>
              <a:gd name="adj" fmla="val 50000"/>
            </a:avLst>
          </a:prstGeom>
          <a:solidFill>
            <a:srgbClr val="2459D8"/>
          </a:solidFill>
          <a:ln/>
        </p:spPr>
      </p:sp>
      <p:sp>
        <p:nvSpPr>
          <p:cNvPr id="9" name="Text 6"/>
          <p:cNvSpPr txBox="1"/>
          <p:nvPr/>
        </p:nvSpPr>
        <p:spPr>
          <a:xfrm>
            <a:off x="548640" y="109728"/>
            <a:ext cx="222656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3 &amp; 4 &amp; 10</a:t>
            </a:r>
            <a:endParaRPr lang="en-US" sz="1100" dirty="0"/>
          </a:p>
        </p:txBody>
      </p:sp>
      <p:sp>
        <p:nvSpPr>
          <p:cNvPr id="10" name="Shape 7"/>
          <p:cNvSpPr/>
          <p:nvPr/>
        </p:nvSpPr>
        <p:spPr>
          <a:xfrm>
            <a:off x="548640" y="1600200"/>
            <a:ext cx="2743200" cy="822960"/>
          </a:xfrm>
          <a:prstGeom prst="roundRect">
            <a:avLst>
              <a:gd name="adj" fmla="val 11111"/>
            </a:avLst>
          </a:prstGeom>
          <a:solidFill>
            <a:srgbClr val="F1F5FB"/>
          </a:solidFill>
          <a:ln/>
        </p:spPr>
      </p:sp>
      <p:sp>
        <p:nvSpPr>
          <p:cNvPr id="11" name="Text 8"/>
          <p:cNvSpPr txBox="1"/>
          <p:nvPr/>
        </p:nvSpPr>
        <p:spPr>
          <a:xfrm>
            <a:off x="731520" y="1600200"/>
            <a:ext cx="1463040" cy="822960"/>
          </a:xfrm>
          <a:prstGeom prst="rect">
            <a:avLst/>
          </a:prstGeom>
          <a:noFill/>
          <a:ln/>
        </p:spPr>
        <p:txBody>
          <a:bodyPr wrap="square" lIns="0" tIns="0" rIns="0" bIns="0" rtlCol="0" anchor="ctr"/>
          <a:lstStyle/>
          <a:p>
            <a:pPr indent="0" marL="0">
              <a:buNone/>
            </a:pPr>
            <a:r>
              <a:rPr lang="en-US" sz="1400" b="1" dirty="0">
                <a:solidFill>
                  <a:srgbClr val="2459D8"/>
                </a:solidFill>
                <a:latin typeface="Courier New" pitchFamily="34" charset="0"/>
                <a:ea typeface="Courier New" pitchFamily="34" charset="-122"/>
                <a:cs typeface="Courier New" pitchFamily="34" charset="-120"/>
              </a:rPr>
              <a:t>ff d8 ff</a:t>
            </a:r>
            <a:endParaRPr lang="en-US" sz="1400" dirty="0"/>
          </a:p>
        </p:txBody>
      </p:sp>
      <p:sp>
        <p:nvSpPr>
          <p:cNvPr id="12" name="Text 9"/>
          <p:cNvSpPr txBox="1"/>
          <p:nvPr/>
        </p:nvSpPr>
        <p:spPr>
          <a:xfrm>
            <a:off x="2148840" y="1600200"/>
            <a:ext cx="1097280" cy="822960"/>
          </a:xfrm>
          <a:prstGeom prst="rect">
            <a:avLst/>
          </a:prstGeom>
          <a:noFill/>
          <a:ln/>
        </p:spPr>
        <p:txBody>
          <a:bodyPr wrap="square" lIns="0" tIns="0" rIns="0" bIns="0" rtlCol="0" anchor="ctr"/>
          <a:lstStyle/>
          <a:p>
            <a:pPr indent="0" marL="0">
              <a:buNone/>
            </a:pPr>
            <a:r>
              <a:rPr lang="en-US" sz="1300" dirty="0">
                <a:solidFill>
                  <a:srgbClr val="56657E"/>
                </a:solidFill>
                <a:latin typeface="Calibri" pitchFamily="34" charset="0"/>
                <a:ea typeface="Calibri" pitchFamily="34" charset="-122"/>
                <a:cs typeface="Calibri" pitchFamily="34" charset="-120"/>
              </a:rPr>
              <a:t>JPEG image</a:t>
            </a:r>
            <a:endParaRPr lang="en-US" sz="1300" dirty="0"/>
          </a:p>
        </p:txBody>
      </p:sp>
      <p:sp>
        <p:nvSpPr>
          <p:cNvPr id="13" name="Shape 10"/>
          <p:cNvSpPr/>
          <p:nvPr/>
        </p:nvSpPr>
        <p:spPr>
          <a:xfrm>
            <a:off x="3429000" y="1600200"/>
            <a:ext cx="2743200" cy="822960"/>
          </a:xfrm>
          <a:prstGeom prst="roundRect">
            <a:avLst>
              <a:gd name="adj" fmla="val 11111"/>
            </a:avLst>
          </a:prstGeom>
          <a:solidFill>
            <a:srgbClr val="F1F5FB"/>
          </a:solidFill>
          <a:ln/>
        </p:spPr>
      </p:sp>
      <p:sp>
        <p:nvSpPr>
          <p:cNvPr id="14" name="Text 11"/>
          <p:cNvSpPr txBox="1"/>
          <p:nvPr/>
        </p:nvSpPr>
        <p:spPr>
          <a:xfrm>
            <a:off x="3611880" y="1600200"/>
            <a:ext cx="1463040" cy="822960"/>
          </a:xfrm>
          <a:prstGeom prst="rect">
            <a:avLst/>
          </a:prstGeom>
          <a:noFill/>
          <a:ln/>
        </p:spPr>
        <p:txBody>
          <a:bodyPr wrap="square" lIns="0" tIns="0" rIns="0" bIns="0" rtlCol="0" anchor="ctr"/>
          <a:lstStyle/>
          <a:p>
            <a:pPr indent="0" marL="0">
              <a:buNone/>
            </a:pPr>
            <a:r>
              <a:rPr lang="en-US" sz="1400" b="1" dirty="0">
                <a:solidFill>
                  <a:srgbClr val="2459D8"/>
                </a:solidFill>
                <a:latin typeface="Courier New" pitchFamily="34" charset="0"/>
                <a:ea typeface="Courier New" pitchFamily="34" charset="-122"/>
                <a:cs typeface="Courier New" pitchFamily="34" charset="-120"/>
              </a:rPr>
              <a:t>89 50 4e 47</a:t>
            </a:r>
            <a:endParaRPr lang="en-US" sz="1400" dirty="0"/>
          </a:p>
        </p:txBody>
      </p:sp>
      <p:sp>
        <p:nvSpPr>
          <p:cNvPr id="15" name="Text 12"/>
          <p:cNvSpPr txBox="1"/>
          <p:nvPr/>
        </p:nvSpPr>
        <p:spPr>
          <a:xfrm>
            <a:off x="5029200" y="1600200"/>
            <a:ext cx="1097280" cy="822960"/>
          </a:xfrm>
          <a:prstGeom prst="rect">
            <a:avLst/>
          </a:prstGeom>
          <a:noFill/>
          <a:ln/>
        </p:spPr>
        <p:txBody>
          <a:bodyPr wrap="square" lIns="0" tIns="0" rIns="0" bIns="0" rtlCol="0" anchor="ctr"/>
          <a:lstStyle/>
          <a:p>
            <a:pPr indent="0" marL="0">
              <a:buNone/>
            </a:pPr>
            <a:r>
              <a:rPr lang="en-US" sz="1300" dirty="0">
                <a:solidFill>
                  <a:srgbClr val="56657E"/>
                </a:solidFill>
                <a:latin typeface="Calibri" pitchFamily="34" charset="0"/>
                <a:ea typeface="Calibri" pitchFamily="34" charset="-122"/>
                <a:cs typeface="Calibri" pitchFamily="34" charset="-120"/>
              </a:rPr>
              <a:t>PNG image (.PNG)</a:t>
            </a:r>
            <a:endParaRPr lang="en-US" sz="1300" dirty="0"/>
          </a:p>
        </p:txBody>
      </p:sp>
      <p:sp>
        <p:nvSpPr>
          <p:cNvPr id="16" name="Shape 13"/>
          <p:cNvSpPr/>
          <p:nvPr/>
        </p:nvSpPr>
        <p:spPr>
          <a:xfrm>
            <a:off x="548640" y="2560320"/>
            <a:ext cx="2743200" cy="822960"/>
          </a:xfrm>
          <a:prstGeom prst="roundRect">
            <a:avLst>
              <a:gd name="adj" fmla="val 11111"/>
            </a:avLst>
          </a:prstGeom>
          <a:solidFill>
            <a:srgbClr val="F1F5FB"/>
          </a:solidFill>
          <a:ln/>
        </p:spPr>
      </p:sp>
      <p:sp>
        <p:nvSpPr>
          <p:cNvPr id="17" name="Text 14"/>
          <p:cNvSpPr txBox="1"/>
          <p:nvPr/>
        </p:nvSpPr>
        <p:spPr>
          <a:xfrm>
            <a:off x="731520" y="2560320"/>
            <a:ext cx="1463040" cy="822960"/>
          </a:xfrm>
          <a:prstGeom prst="rect">
            <a:avLst/>
          </a:prstGeom>
          <a:noFill/>
          <a:ln/>
        </p:spPr>
        <p:txBody>
          <a:bodyPr wrap="square" lIns="0" tIns="0" rIns="0" bIns="0" rtlCol="0" anchor="ctr"/>
          <a:lstStyle/>
          <a:p>
            <a:pPr indent="0" marL="0">
              <a:buNone/>
            </a:pPr>
            <a:r>
              <a:rPr lang="en-US" sz="1400" b="1" dirty="0">
                <a:solidFill>
                  <a:srgbClr val="2459D8"/>
                </a:solidFill>
                <a:latin typeface="Courier New" pitchFamily="34" charset="0"/>
                <a:ea typeface="Courier New" pitchFamily="34" charset="-122"/>
                <a:cs typeface="Courier New" pitchFamily="34" charset="-120"/>
              </a:rPr>
              <a:t>1f 8b</a:t>
            </a:r>
            <a:endParaRPr lang="en-US" sz="1400" dirty="0"/>
          </a:p>
        </p:txBody>
      </p:sp>
      <p:sp>
        <p:nvSpPr>
          <p:cNvPr id="18" name="Text 15"/>
          <p:cNvSpPr txBox="1"/>
          <p:nvPr/>
        </p:nvSpPr>
        <p:spPr>
          <a:xfrm>
            <a:off x="2148840" y="2560320"/>
            <a:ext cx="1097280" cy="822960"/>
          </a:xfrm>
          <a:prstGeom prst="rect">
            <a:avLst/>
          </a:prstGeom>
          <a:noFill/>
          <a:ln/>
        </p:spPr>
        <p:txBody>
          <a:bodyPr wrap="square" lIns="0" tIns="0" rIns="0" bIns="0" rtlCol="0" anchor="ctr"/>
          <a:lstStyle/>
          <a:p>
            <a:pPr indent="0" marL="0">
              <a:buNone/>
            </a:pPr>
            <a:r>
              <a:rPr lang="en-US" sz="1300" dirty="0">
                <a:solidFill>
                  <a:srgbClr val="56657E"/>
                </a:solidFill>
                <a:latin typeface="Calibri" pitchFamily="34" charset="0"/>
                <a:ea typeface="Calibri" pitchFamily="34" charset="-122"/>
                <a:cs typeface="Calibri" pitchFamily="34" charset="-120"/>
              </a:rPr>
              <a:t>gzip compressed</a:t>
            </a:r>
            <a:endParaRPr lang="en-US" sz="1300" dirty="0"/>
          </a:p>
        </p:txBody>
      </p:sp>
      <p:sp>
        <p:nvSpPr>
          <p:cNvPr id="19" name="Shape 16"/>
          <p:cNvSpPr/>
          <p:nvPr/>
        </p:nvSpPr>
        <p:spPr>
          <a:xfrm>
            <a:off x="3429000" y="2560320"/>
            <a:ext cx="2743200" cy="822960"/>
          </a:xfrm>
          <a:prstGeom prst="roundRect">
            <a:avLst>
              <a:gd name="adj" fmla="val 11111"/>
            </a:avLst>
          </a:prstGeom>
          <a:solidFill>
            <a:srgbClr val="F1F5FB"/>
          </a:solidFill>
          <a:ln/>
        </p:spPr>
      </p:sp>
      <p:sp>
        <p:nvSpPr>
          <p:cNvPr id="20" name="Text 17"/>
          <p:cNvSpPr txBox="1"/>
          <p:nvPr/>
        </p:nvSpPr>
        <p:spPr>
          <a:xfrm>
            <a:off x="3611880" y="2560320"/>
            <a:ext cx="1463040" cy="822960"/>
          </a:xfrm>
          <a:prstGeom prst="rect">
            <a:avLst/>
          </a:prstGeom>
          <a:noFill/>
          <a:ln/>
        </p:spPr>
        <p:txBody>
          <a:bodyPr wrap="square" lIns="0" tIns="0" rIns="0" bIns="0" rtlCol="0" anchor="ctr"/>
          <a:lstStyle/>
          <a:p>
            <a:pPr indent="0" marL="0">
              <a:buNone/>
            </a:pPr>
            <a:r>
              <a:rPr lang="en-US" sz="1400" b="1" dirty="0">
                <a:solidFill>
                  <a:srgbClr val="2459D8"/>
                </a:solidFill>
                <a:latin typeface="Courier New" pitchFamily="34" charset="0"/>
                <a:ea typeface="Courier New" pitchFamily="34" charset="-122"/>
                <a:cs typeface="Courier New" pitchFamily="34" charset="-120"/>
              </a:rPr>
              <a:t>25 50 44 46</a:t>
            </a:r>
            <a:endParaRPr lang="en-US" sz="1400" dirty="0"/>
          </a:p>
        </p:txBody>
      </p:sp>
      <p:sp>
        <p:nvSpPr>
          <p:cNvPr id="21" name="Text 18"/>
          <p:cNvSpPr txBox="1"/>
          <p:nvPr/>
        </p:nvSpPr>
        <p:spPr>
          <a:xfrm>
            <a:off x="5029200" y="2560320"/>
            <a:ext cx="1097280" cy="822960"/>
          </a:xfrm>
          <a:prstGeom prst="rect">
            <a:avLst/>
          </a:prstGeom>
          <a:noFill/>
          <a:ln/>
        </p:spPr>
        <p:txBody>
          <a:bodyPr wrap="square" lIns="0" tIns="0" rIns="0" bIns="0" rtlCol="0" anchor="ctr"/>
          <a:lstStyle/>
          <a:p>
            <a:pPr indent="0" marL="0">
              <a:buNone/>
            </a:pPr>
            <a:r>
              <a:rPr lang="en-US" sz="1300" dirty="0">
                <a:solidFill>
                  <a:srgbClr val="56657E"/>
                </a:solidFill>
                <a:latin typeface="Calibri" pitchFamily="34" charset="0"/>
                <a:ea typeface="Calibri" pitchFamily="34" charset="-122"/>
                <a:cs typeface="Calibri" pitchFamily="34" charset="-120"/>
              </a:rPr>
              <a:t>PDF (%PDF)</a:t>
            </a:r>
            <a:endParaRPr lang="en-US" sz="1300" dirty="0"/>
          </a:p>
        </p:txBody>
      </p:sp>
      <p:sp>
        <p:nvSpPr>
          <p:cNvPr id="22" name="Shape 19"/>
          <p:cNvSpPr/>
          <p:nvPr/>
        </p:nvSpPr>
        <p:spPr>
          <a:xfrm>
            <a:off x="548640" y="3520440"/>
            <a:ext cx="2743200" cy="822960"/>
          </a:xfrm>
          <a:prstGeom prst="roundRect">
            <a:avLst>
              <a:gd name="adj" fmla="val 11111"/>
            </a:avLst>
          </a:prstGeom>
          <a:solidFill>
            <a:srgbClr val="F1F5FB"/>
          </a:solidFill>
          <a:ln/>
        </p:spPr>
      </p:sp>
      <p:sp>
        <p:nvSpPr>
          <p:cNvPr id="23" name="Text 20"/>
          <p:cNvSpPr txBox="1"/>
          <p:nvPr/>
        </p:nvSpPr>
        <p:spPr>
          <a:xfrm>
            <a:off x="731520" y="3520440"/>
            <a:ext cx="1463040" cy="822960"/>
          </a:xfrm>
          <a:prstGeom prst="rect">
            <a:avLst/>
          </a:prstGeom>
          <a:noFill/>
          <a:ln/>
        </p:spPr>
        <p:txBody>
          <a:bodyPr wrap="square" lIns="0" tIns="0" rIns="0" bIns="0" rtlCol="0" anchor="ctr"/>
          <a:lstStyle/>
          <a:p>
            <a:pPr indent="0" marL="0">
              <a:buNone/>
            </a:pPr>
            <a:r>
              <a:rPr lang="en-US" sz="1400" b="1" dirty="0">
                <a:solidFill>
                  <a:srgbClr val="2459D8"/>
                </a:solidFill>
                <a:latin typeface="Courier New" pitchFamily="34" charset="0"/>
                <a:ea typeface="Courier New" pitchFamily="34" charset="-122"/>
                <a:cs typeface="Courier New" pitchFamily="34" charset="-120"/>
              </a:rPr>
              <a:t>50 4b 03 04</a:t>
            </a:r>
            <a:endParaRPr lang="en-US" sz="1400" dirty="0"/>
          </a:p>
        </p:txBody>
      </p:sp>
      <p:sp>
        <p:nvSpPr>
          <p:cNvPr id="24" name="Text 21"/>
          <p:cNvSpPr txBox="1"/>
          <p:nvPr/>
        </p:nvSpPr>
        <p:spPr>
          <a:xfrm>
            <a:off x="2148840" y="3520440"/>
            <a:ext cx="1097280" cy="822960"/>
          </a:xfrm>
          <a:prstGeom prst="rect">
            <a:avLst/>
          </a:prstGeom>
          <a:noFill/>
          <a:ln/>
        </p:spPr>
        <p:txBody>
          <a:bodyPr wrap="square" lIns="0" tIns="0" rIns="0" bIns="0" rtlCol="0" anchor="ctr"/>
          <a:lstStyle/>
          <a:p>
            <a:pPr indent="0" marL="0">
              <a:buNone/>
            </a:pPr>
            <a:r>
              <a:rPr lang="en-US" sz="1300" dirty="0">
                <a:solidFill>
                  <a:srgbClr val="56657E"/>
                </a:solidFill>
                <a:latin typeface="Calibri" pitchFamily="34" charset="0"/>
                <a:ea typeface="Calibri" pitchFamily="34" charset="-122"/>
                <a:cs typeface="Calibri" pitchFamily="34" charset="-120"/>
              </a:rPr>
              <a:t>zip (PK)</a:t>
            </a:r>
            <a:endParaRPr lang="en-US" sz="1300" dirty="0"/>
          </a:p>
        </p:txBody>
      </p:sp>
      <p:sp>
        <p:nvSpPr>
          <p:cNvPr id="25" name="Shape 22"/>
          <p:cNvSpPr/>
          <p:nvPr/>
        </p:nvSpPr>
        <p:spPr>
          <a:xfrm>
            <a:off x="3429000" y="3520440"/>
            <a:ext cx="2743200" cy="822960"/>
          </a:xfrm>
          <a:prstGeom prst="roundRect">
            <a:avLst>
              <a:gd name="adj" fmla="val 11111"/>
            </a:avLst>
          </a:prstGeom>
          <a:solidFill>
            <a:srgbClr val="F1F5FB"/>
          </a:solidFill>
          <a:ln/>
        </p:spPr>
      </p:sp>
      <p:sp>
        <p:nvSpPr>
          <p:cNvPr id="26" name="Text 23"/>
          <p:cNvSpPr txBox="1"/>
          <p:nvPr/>
        </p:nvSpPr>
        <p:spPr>
          <a:xfrm>
            <a:off x="3611880" y="3520440"/>
            <a:ext cx="1463040" cy="822960"/>
          </a:xfrm>
          <a:prstGeom prst="rect">
            <a:avLst/>
          </a:prstGeom>
          <a:noFill/>
          <a:ln/>
        </p:spPr>
        <p:txBody>
          <a:bodyPr wrap="square" lIns="0" tIns="0" rIns="0" bIns="0" rtlCol="0" anchor="ctr"/>
          <a:lstStyle/>
          <a:p>
            <a:pPr indent="0" marL="0">
              <a:buNone/>
            </a:pPr>
            <a:r>
              <a:rPr lang="en-US" sz="1400" b="1" dirty="0">
                <a:solidFill>
                  <a:srgbClr val="2459D8"/>
                </a:solidFill>
                <a:latin typeface="Courier New" pitchFamily="34" charset="0"/>
                <a:ea typeface="Courier New" pitchFamily="34" charset="-122"/>
                <a:cs typeface="Courier New" pitchFamily="34" charset="-120"/>
              </a:rPr>
              <a:t>ustar @ 257</a:t>
            </a:r>
            <a:endParaRPr lang="en-US" sz="1400" dirty="0"/>
          </a:p>
        </p:txBody>
      </p:sp>
      <p:sp>
        <p:nvSpPr>
          <p:cNvPr id="27" name="Text 24"/>
          <p:cNvSpPr txBox="1"/>
          <p:nvPr/>
        </p:nvSpPr>
        <p:spPr>
          <a:xfrm>
            <a:off x="5029200" y="3520440"/>
            <a:ext cx="1097280" cy="822960"/>
          </a:xfrm>
          <a:prstGeom prst="rect">
            <a:avLst/>
          </a:prstGeom>
          <a:noFill/>
          <a:ln/>
        </p:spPr>
        <p:txBody>
          <a:bodyPr wrap="square" lIns="0" tIns="0" rIns="0" bIns="0" rtlCol="0" anchor="ctr"/>
          <a:lstStyle/>
          <a:p>
            <a:pPr indent="0" marL="0">
              <a:buNone/>
            </a:pPr>
            <a:r>
              <a:rPr lang="en-US" sz="1300" dirty="0">
                <a:solidFill>
                  <a:srgbClr val="56657E"/>
                </a:solidFill>
                <a:latin typeface="Calibri" pitchFamily="34" charset="0"/>
                <a:ea typeface="Calibri" pitchFamily="34" charset="-122"/>
                <a:cs typeface="Calibri" pitchFamily="34" charset="-120"/>
              </a:rPr>
              <a:t>tar archive</a:t>
            </a:r>
            <a:endParaRPr lang="en-US" sz="1300" dirty="0"/>
          </a:p>
        </p:txBody>
      </p:sp>
      <p:sp>
        <p:nvSpPr>
          <p:cNvPr id="28" name="Shape 25"/>
          <p:cNvSpPr/>
          <p:nvPr/>
        </p:nvSpPr>
        <p:spPr>
          <a:xfrm>
            <a:off x="548640" y="4617720"/>
            <a:ext cx="2377440" cy="457200"/>
          </a:xfrm>
          <a:prstGeom prst="roundRect">
            <a:avLst>
              <a:gd name="adj" fmla="val 16000"/>
            </a:avLst>
          </a:prstGeom>
          <a:solidFill>
            <a:srgbClr val="0E1726"/>
          </a:solidFill>
          <a:ln/>
        </p:spPr>
      </p:sp>
      <p:sp>
        <p:nvSpPr>
          <p:cNvPr id="29" name="Text 26"/>
          <p:cNvSpPr txBox="1"/>
          <p:nvPr/>
        </p:nvSpPr>
        <p:spPr>
          <a:xfrm>
            <a:off x="548640" y="461772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filetype FILE</a:t>
            </a:r>
            <a:endParaRPr lang="en-US" sz="1500" dirty="0"/>
          </a:p>
        </p:txBody>
      </p:sp>
      <p:sp>
        <p:nvSpPr>
          <p:cNvPr id="30" name="Text 27"/>
          <p:cNvSpPr txBox="1"/>
          <p:nvPr/>
        </p:nvSpPr>
        <p:spPr>
          <a:xfrm>
            <a:off x="3154680" y="461772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name the real type</a:t>
            </a:r>
            <a:endParaRPr lang="en-US" sz="1700" dirty="0"/>
          </a:p>
        </p:txBody>
      </p:sp>
      <p:sp>
        <p:nvSpPr>
          <p:cNvPr id="31" name="Shape 28"/>
          <p:cNvSpPr/>
          <p:nvPr/>
        </p:nvSpPr>
        <p:spPr>
          <a:xfrm>
            <a:off x="548640" y="5212080"/>
            <a:ext cx="2377440" cy="457200"/>
          </a:xfrm>
          <a:prstGeom prst="roundRect">
            <a:avLst>
              <a:gd name="adj" fmla="val 16000"/>
            </a:avLst>
          </a:prstGeom>
          <a:solidFill>
            <a:srgbClr val="0E1726"/>
          </a:solidFill>
          <a:ln/>
        </p:spPr>
      </p:sp>
      <p:sp>
        <p:nvSpPr>
          <p:cNvPr id="32" name="Text 29"/>
          <p:cNvSpPr txBox="1"/>
          <p:nvPr/>
        </p:nvSpPr>
        <p:spPr>
          <a:xfrm>
            <a:off x="548640" y="521208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head -c 4 FILE | xxd</a:t>
            </a:r>
            <a:endParaRPr lang="en-US" sz="1500" dirty="0"/>
          </a:p>
        </p:txBody>
      </p:sp>
      <p:sp>
        <p:nvSpPr>
          <p:cNvPr id="33" name="Text 30"/>
          <p:cNvSpPr txBox="1"/>
          <p:nvPr/>
        </p:nvSpPr>
        <p:spPr>
          <a:xfrm>
            <a:off x="3154680" y="521208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see the bytes yourself</a:t>
            </a:r>
            <a:endParaRPr lang="en-US" sz="1700" dirty="0"/>
          </a:p>
        </p:txBody>
      </p:sp>
      <p:sp>
        <p:nvSpPr>
          <p:cNvPr id="34" name="Shape 31"/>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35" name="Shape 32"/>
          <p:cNvSpPr/>
          <p:nvPr/>
        </p:nvSpPr>
        <p:spPr>
          <a:xfrm>
            <a:off x="6784848" y="1618488"/>
            <a:ext cx="118872" cy="118872"/>
          </a:xfrm>
          <a:prstGeom prst="ellipse">
            <a:avLst/>
          </a:prstGeom>
          <a:solidFill>
            <a:srgbClr val="E5534B"/>
          </a:solidFill>
          <a:ln/>
        </p:spPr>
      </p:sp>
      <p:sp>
        <p:nvSpPr>
          <p:cNvPr id="36" name="Shape 33"/>
          <p:cNvSpPr/>
          <p:nvPr/>
        </p:nvSpPr>
        <p:spPr>
          <a:xfrm>
            <a:off x="6986016" y="1618488"/>
            <a:ext cx="118872" cy="118872"/>
          </a:xfrm>
          <a:prstGeom prst="ellipse">
            <a:avLst/>
          </a:prstGeom>
          <a:solidFill>
            <a:srgbClr val="F5A623"/>
          </a:solidFill>
          <a:ln/>
        </p:spPr>
      </p:sp>
      <p:sp>
        <p:nvSpPr>
          <p:cNvPr id="37" name="Shape 34"/>
          <p:cNvSpPr/>
          <p:nvPr/>
        </p:nvSpPr>
        <p:spPr>
          <a:xfrm>
            <a:off x="7187184" y="1618488"/>
            <a:ext cx="118872" cy="118872"/>
          </a:xfrm>
          <a:prstGeom prst="ellipse">
            <a:avLst/>
          </a:prstGeom>
          <a:solidFill>
            <a:srgbClr val="46D39A"/>
          </a:solidFill>
          <a:ln/>
        </p:spPr>
      </p:sp>
      <p:sp>
        <p:nvSpPr>
          <p:cNvPr id="38" name="Text 35"/>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9" name="Text 36"/>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filetype photos/*</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IMG_1041.jpg: JPEG image data</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IMG_1042.jpg: gzip compressed data</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head -c 4 IMG_1041.jpg | xxd</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00000000: ffd8 ffe0   ....</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head -c 4 IMG_1042.jpg | xxd</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00000000: 1f8b 0800   ....</a:t>
            </a:r>
            <a:endParaRPr lang="en-US" sz="1400" dirty="0"/>
          </a:p>
        </p:txBody>
      </p:sp>
      <p:sp>
        <p:nvSpPr>
          <p:cNvPr id="40" name="Text 37"/>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14 / 60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Unwrapping archives: tar and zcat</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tar --help</a:t>
            </a:r>
            <a:endParaRPr lang="en-US" sz="1300" dirty="0"/>
          </a:p>
        </p:txBody>
      </p:sp>
      <p:sp>
        <p:nvSpPr>
          <p:cNvPr id="8" name="Shape 5"/>
          <p:cNvSpPr/>
          <p:nvPr/>
        </p:nvSpPr>
        <p:spPr>
          <a:xfrm>
            <a:off x="548640" y="109728"/>
            <a:ext cx="1879092" cy="274320"/>
          </a:xfrm>
          <a:prstGeom prst="roundRect">
            <a:avLst>
              <a:gd name="adj" fmla="val 50000"/>
            </a:avLst>
          </a:prstGeom>
          <a:solidFill>
            <a:srgbClr val="7448D4"/>
          </a:solidFill>
          <a:ln/>
        </p:spPr>
      </p:sp>
      <p:sp>
        <p:nvSpPr>
          <p:cNvPr id="9" name="Text 6"/>
          <p:cNvSpPr txBox="1"/>
          <p:nvPr/>
        </p:nvSpPr>
        <p:spPr>
          <a:xfrm>
            <a:off x="548640" y="109728"/>
            <a:ext cx="1879092"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4 &amp; 10</a:t>
            </a:r>
            <a:endParaRPr lang="en-US" sz="1100" dirty="0"/>
          </a:p>
        </p:txBody>
      </p:sp>
      <p:sp>
        <p:nvSpPr>
          <p:cNvPr id="10" name="Shape 7"/>
          <p:cNvSpPr/>
          <p:nvPr/>
        </p:nvSpPr>
        <p:spPr>
          <a:xfrm>
            <a:off x="548640" y="1600200"/>
            <a:ext cx="2377440" cy="457200"/>
          </a:xfrm>
          <a:prstGeom prst="roundRect">
            <a:avLst>
              <a:gd name="adj" fmla="val 16000"/>
            </a:avLst>
          </a:prstGeom>
          <a:solidFill>
            <a:srgbClr val="0E1726"/>
          </a:solidFill>
          <a:ln/>
        </p:spPr>
      </p:sp>
      <p:sp>
        <p:nvSpPr>
          <p:cNvPr id="11" name="Text 8"/>
          <p:cNvSpPr txBox="1"/>
          <p:nvPr/>
        </p:nvSpPr>
        <p:spPr>
          <a:xfrm>
            <a:off x="548640" y="160020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tar -xzf F.tar.gz</a:t>
            </a:r>
            <a:endParaRPr lang="en-US" sz="1500" dirty="0"/>
          </a:p>
        </p:txBody>
      </p:sp>
      <p:sp>
        <p:nvSpPr>
          <p:cNvPr id="12" name="Text 9"/>
          <p:cNvSpPr txBox="1"/>
          <p:nvPr/>
        </p:nvSpPr>
        <p:spPr>
          <a:xfrm>
            <a:off x="3154680" y="160020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unpack a squeezed bundle</a:t>
            </a:r>
            <a:endParaRPr lang="en-US" sz="1700" dirty="0"/>
          </a:p>
        </p:txBody>
      </p:sp>
      <p:sp>
        <p:nvSpPr>
          <p:cNvPr id="13" name="Shape 10"/>
          <p:cNvSpPr/>
          <p:nvPr/>
        </p:nvSpPr>
        <p:spPr>
          <a:xfrm>
            <a:off x="548640" y="2194560"/>
            <a:ext cx="2377440" cy="457200"/>
          </a:xfrm>
          <a:prstGeom prst="roundRect">
            <a:avLst>
              <a:gd name="adj" fmla="val 16000"/>
            </a:avLst>
          </a:prstGeom>
          <a:solidFill>
            <a:srgbClr val="0E1726"/>
          </a:solidFill>
          <a:ln/>
        </p:spPr>
      </p:sp>
      <p:sp>
        <p:nvSpPr>
          <p:cNvPr id="14" name="Text 11"/>
          <p:cNvSpPr txBox="1"/>
          <p:nvPr/>
        </p:nvSpPr>
        <p:spPr>
          <a:xfrm>
            <a:off x="548640" y="219456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tar -xf F</a:t>
            </a:r>
            <a:endParaRPr lang="en-US" sz="1500" dirty="0"/>
          </a:p>
        </p:txBody>
      </p:sp>
      <p:sp>
        <p:nvSpPr>
          <p:cNvPr id="15" name="Text 12"/>
          <p:cNvSpPr txBox="1"/>
          <p:nvPr/>
        </p:nvSpPr>
        <p:spPr>
          <a:xfrm>
            <a:off x="3154680" y="219456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unpack a plain bundle</a:t>
            </a:r>
            <a:endParaRPr lang="en-US" sz="1700" dirty="0"/>
          </a:p>
        </p:txBody>
      </p:sp>
      <p:sp>
        <p:nvSpPr>
          <p:cNvPr id="16" name="Shape 13"/>
          <p:cNvSpPr/>
          <p:nvPr/>
        </p:nvSpPr>
        <p:spPr>
          <a:xfrm>
            <a:off x="548640" y="2788920"/>
            <a:ext cx="2377440" cy="457200"/>
          </a:xfrm>
          <a:prstGeom prst="roundRect">
            <a:avLst>
              <a:gd name="adj" fmla="val 16000"/>
            </a:avLst>
          </a:prstGeom>
          <a:solidFill>
            <a:srgbClr val="0E1726"/>
          </a:solidFill>
          <a:ln/>
        </p:spPr>
      </p:sp>
      <p:sp>
        <p:nvSpPr>
          <p:cNvPr id="17" name="Text 14"/>
          <p:cNvSpPr txBox="1"/>
          <p:nvPr/>
        </p:nvSpPr>
        <p:spPr>
          <a:xfrm>
            <a:off x="548640" y="278892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tar -tf F</a:t>
            </a:r>
            <a:endParaRPr lang="en-US" sz="1500" dirty="0"/>
          </a:p>
        </p:txBody>
      </p:sp>
      <p:sp>
        <p:nvSpPr>
          <p:cNvPr id="18" name="Text 15"/>
          <p:cNvSpPr txBox="1"/>
          <p:nvPr/>
        </p:nvSpPr>
        <p:spPr>
          <a:xfrm>
            <a:off x="3154680" y="278892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list what's inside</a:t>
            </a:r>
            <a:endParaRPr lang="en-US" sz="1700" dirty="0"/>
          </a:p>
        </p:txBody>
      </p:sp>
      <p:sp>
        <p:nvSpPr>
          <p:cNvPr id="19" name="Shape 16"/>
          <p:cNvSpPr/>
          <p:nvPr/>
        </p:nvSpPr>
        <p:spPr>
          <a:xfrm>
            <a:off x="548640" y="3383280"/>
            <a:ext cx="2377440" cy="457200"/>
          </a:xfrm>
          <a:prstGeom prst="roundRect">
            <a:avLst>
              <a:gd name="adj" fmla="val 16000"/>
            </a:avLst>
          </a:prstGeom>
          <a:solidFill>
            <a:srgbClr val="0E1726"/>
          </a:solidFill>
          <a:ln/>
        </p:spPr>
      </p:sp>
      <p:sp>
        <p:nvSpPr>
          <p:cNvPr id="20" name="Text 17"/>
          <p:cNvSpPr txBox="1"/>
          <p:nvPr/>
        </p:nvSpPr>
        <p:spPr>
          <a:xfrm>
            <a:off x="548640" y="338328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zcat F</a:t>
            </a:r>
            <a:endParaRPr lang="en-US" sz="1500" dirty="0"/>
          </a:p>
        </p:txBody>
      </p:sp>
      <p:sp>
        <p:nvSpPr>
          <p:cNvPr id="21" name="Text 18"/>
          <p:cNvSpPr txBox="1"/>
          <p:nvPr/>
        </p:nvSpPr>
        <p:spPr>
          <a:xfrm>
            <a:off x="3154680" y="338328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print a gzip file's contents</a:t>
            </a:r>
            <a:endParaRPr lang="en-US" sz="1700" dirty="0"/>
          </a:p>
        </p:txBody>
      </p:sp>
      <p:sp>
        <p:nvSpPr>
          <p:cNvPr id="22" name="Shape 19"/>
          <p:cNvSpPr/>
          <p:nvPr/>
        </p:nvSpPr>
        <p:spPr>
          <a:xfrm>
            <a:off x="548640" y="4343400"/>
            <a:ext cx="1298448" cy="914400"/>
          </a:xfrm>
          <a:prstGeom prst="roundRect">
            <a:avLst>
              <a:gd name="adj" fmla="val 10000"/>
            </a:avLst>
          </a:prstGeom>
          <a:solidFill>
            <a:srgbClr val="7448D4"/>
          </a:solidFill>
          <a:ln/>
        </p:spPr>
      </p:sp>
      <p:sp>
        <p:nvSpPr>
          <p:cNvPr id="23" name="Text 20"/>
          <p:cNvSpPr txBox="1"/>
          <p:nvPr/>
        </p:nvSpPr>
        <p:spPr>
          <a:xfrm>
            <a:off x="548640" y="4343400"/>
            <a:ext cx="1298448" cy="91440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evidence.tar.gz</a:t>
            </a:r>
            <a:endParaRPr lang="en-US" sz="1100" dirty="0"/>
          </a:p>
        </p:txBody>
      </p:sp>
      <p:sp>
        <p:nvSpPr>
          <p:cNvPr id="24" name="Shape 21"/>
          <p:cNvSpPr/>
          <p:nvPr/>
        </p:nvSpPr>
        <p:spPr>
          <a:xfrm>
            <a:off x="1993392" y="4343400"/>
            <a:ext cx="1298448" cy="914400"/>
          </a:xfrm>
          <a:prstGeom prst="roundRect">
            <a:avLst>
              <a:gd name="adj" fmla="val 10000"/>
            </a:avLst>
          </a:prstGeom>
          <a:solidFill>
            <a:srgbClr val="D1416B"/>
          </a:solidFill>
          <a:ln/>
        </p:spPr>
      </p:sp>
      <p:sp>
        <p:nvSpPr>
          <p:cNvPr id="25" name="Text 22"/>
          <p:cNvSpPr txBox="1"/>
          <p:nvPr/>
        </p:nvSpPr>
        <p:spPr>
          <a:xfrm>
            <a:off x="1993392" y="4343400"/>
            <a:ext cx="1298448" cy="91440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box (tar)</a:t>
            </a:r>
            <a:endParaRPr lang="en-US" sz="1100" dirty="0"/>
          </a:p>
        </p:txBody>
      </p:sp>
      <p:sp>
        <p:nvSpPr>
          <p:cNvPr id="26" name="Shape 23"/>
          <p:cNvSpPr/>
          <p:nvPr/>
        </p:nvSpPr>
        <p:spPr>
          <a:xfrm>
            <a:off x="3438144" y="4343400"/>
            <a:ext cx="1298448" cy="914400"/>
          </a:xfrm>
          <a:prstGeom prst="roundRect">
            <a:avLst>
              <a:gd name="adj" fmla="val 10000"/>
            </a:avLst>
          </a:prstGeom>
          <a:solidFill>
            <a:srgbClr val="E8820C"/>
          </a:solidFill>
          <a:ln/>
        </p:spPr>
      </p:sp>
      <p:sp>
        <p:nvSpPr>
          <p:cNvPr id="27" name="Text 24"/>
          <p:cNvSpPr txBox="1"/>
          <p:nvPr/>
        </p:nvSpPr>
        <p:spPr>
          <a:xfrm>
            <a:off x="3438144" y="4343400"/>
            <a:ext cx="1298448" cy="91440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inner (gzip)</a:t>
            </a:r>
            <a:endParaRPr lang="en-US" sz="1100" dirty="0"/>
          </a:p>
        </p:txBody>
      </p:sp>
      <p:sp>
        <p:nvSpPr>
          <p:cNvPr id="28" name="Shape 25"/>
          <p:cNvSpPr/>
          <p:nvPr/>
        </p:nvSpPr>
        <p:spPr>
          <a:xfrm>
            <a:off x="4882896" y="4343400"/>
            <a:ext cx="1298448" cy="914400"/>
          </a:xfrm>
          <a:prstGeom prst="roundRect">
            <a:avLst>
              <a:gd name="adj" fmla="val 10000"/>
            </a:avLst>
          </a:prstGeom>
          <a:solidFill>
            <a:srgbClr val="17875A"/>
          </a:solidFill>
          <a:ln/>
        </p:spPr>
      </p:sp>
      <p:sp>
        <p:nvSpPr>
          <p:cNvPr id="29" name="Text 26"/>
          <p:cNvSpPr txBox="1"/>
          <p:nvPr/>
        </p:nvSpPr>
        <p:spPr>
          <a:xfrm>
            <a:off x="4882896" y="4343400"/>
            <a:ext cx="1298448" cy="91440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flag</a:t>
            </a:r>
            <a:endParaRPr lang="en-US" sz="1100" dirty="0"/>
          </a:p>
        </p:txBody>
      </p:sp>
      <p:sp>
        <p:nvSpPr>
          <p:cNvPr id="30" name="Text 27"/>
          <p:cNvSpPr txBox="1"/>
          <p:nvPr/>
        </p:nvSpPr>
        <p:spPr>
          <a:xfrm>
            <a:off x="548640" y="5440680"/>
            <a:ext cx="5669280" cy="36576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x: extract   t: list   z: gzip   f: the file</a:t>
            </a:r>
            <a:endParaRPr lang="en-US" sz="1300" dirty="0"/>
          </a:p>
        </p:txBody>
      </p:sp>
      <p:sp>
        <p:nvSpPr>
          <p:cNvPr id="31" name="Shape 28"/>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32" name="Shape 29"/>
          <p:cNvSpPr/>
          <p:nvPr/>
        </p:nvSpPr>
        <p:spPr>
          <a:xfrm>
            <a:off x="6784848" y="1618488"/>
            <a:ext cx="118872" cy="118872"/>
          </a:xfrm>
          <a:prstGeom prst="ellipse">
            <a:avLst/>
          </a:prstGeom>
          <a:solidFill>
            <a:srgbClr val="E5534B"/>
          </a:solidFill>
          <a:ln/>
        </p:spPr>
      </p:sp>
      <p:sp>
        <p:nvSpPr>
          <p:cNvPr id="33" name="Shape 30"/>
          <p:cNvSpPr/>
          <p:nvPr/>
        </p:nvSpPr>
        <p:spPr>
          <a:xfrm>
            <a:off x="6986016" y="1618488"/>
            <a:ext cx="118872" cy="118872"/>
          </a:xfrm>
          <a:prstGeom prst="ellipse">
            <a:avLst/>
          </a:prstGeom>
          <a:solidFill>
            <a:srgbClr val="F5A623"/>
          </a:solidFill>
          <a:ln/>
        </p:spPr>
      </p:sp>
      <p:sp>
        <p:nvSpPr>
          <p:cNvPr id="34" name="Shape 31"/>
          <p:cNvSpPr/>
          <p:nvPr/>
        </p:nvSpPr>
        <p:spPr>
          <a:xfrm>
            <a:off x="7187184" y="1618488"/>
            <a:ext cx="118872" cy="118872"/>
          </a:xfrm>
          <a:prstGeom prst="ellipse">
            <a:avLst/>
          </a:prstGeom>
          <a:solidFill>
            <a:srgbClr val="46D39A"/>
          </a:solidFill>
          <a:ln/>
        </p:spPr>
      </p:sp>
      <p:sp>
        <p:nvSpPr>
          <p:cNvPr id="35" name="Text 32"/>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6" name="Text 33"/>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tar -tzf evidence.tar.gz</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box</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tar -xzf evidence.tar.gz</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filetype box</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box: POSIX tar archive</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tar -xf box</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filetype inner</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inner: gzip compressed data</a:t>
            </a:r>
            <a:endParaRPr lang="en-US" sz="1400" dirty="0"/>
          </a:p>
        </p:txBody>
      </p:sp>
      <p:sp>
        <p:nvSpPr>
          <p:cNvPr id="37" name="Text 3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15 / 60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Reading logs: grep, cut, sort, uniq -c</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cut -d: -f1 /etc/passwd</a:t>
            </a:r>
            <a:endParaRPr lang="en-US" sz="1300" dirty="0"/>
          </a:p>
        </p:txBody>
      </p:sp>
      <p:sp>
        <p:nvSpPr>
          <p:cNvPr id="8" name="Shape 5"/>
          <p:cNvSpPr/>
          <p:nvPr/>
        </p:nvSpPr>
        <p:spPr>
          <a:xfrm>
            <a:off x="548640" y="109728"/>
            <a:ext cx="2226564" cy="274320"/>
          </a:xfrm>
          <a:prstGeom prst="roundRect">
            <a:avLst>
              <a:gd name="adj" fmla="val 50000"/>
            </a:avLst>
          </a:prstGeom>
          <a:solidFill>
            <a:srgbClr val="D1416B"/>
          </a:solidFill>
          <a:ln/>
        </p:spPr>
      </p:sp>
      <p:sp>
        <p:nvSpPr>
          <p:cNvPr id="9" name="Text 6"/>
          <p:cNvSpPr txBox="1"/>
          <p:nvPr/>
        </p:nvSpPr>
        <p:spPr>
          <a:xfrm>
            <a:off x="548640" y="109728"/>
            <a:ext cx="222656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5 &amp; 9 &amp; 10</a:t>
            </a:r>
            <a:endParaRPr lang="en-US" sz="1100" dirty="0"/>
          </a:p>
        </p:txBody>
      </p:sp>
      <p:sp>
        <p:nvSpPr>
          <p:cNvPr id="10" name="Shape 7"/>
          <p:cNvSpPr/>
          <p:nvPr/>
        </p:nvSpPr>
        <p:spPr>
          <a:xfrm>
            <a:off x="548640" y="1600200"/>
            <a:ext cx="2057400" cy="1143000"/>
          </a:xfrm>
          <a:prstGeom prst="roundRect">
            <a:avLst>
              <a:gd name="adj" fmla="val 8000"/>
            </a:avLst>
          </a:prstGeom>
          <a:solidFill>
            <a:srgbClr val="2A9FD6"/>
          </a:solidFill>
          <a:ln/>
        </p:spPr>
      </p:sp>
      <p:sp>
        <p:nvSpPr>
          <p:cNvPr id="11" name="Text 8"/>
          <p:cNvSpPr txBox="1"/>
          <p:nvPr/>
        </p:nvSpPr>
        <p:spPr>
          <a:xfrm>
            <a:off x="548640" y="1600200"/>
            <a:ext cx="2057400" cy="114300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grep Failed</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keep the failures</a:t>
            </a:r>
            <a:endParaRPr lang="en-US" sz="1400" dirty="0"/>
          </a:p>
        </p:txBody>
      </p:sp>
      <p:sp>
        <p:nvSpPr>
          <p:cNvPr id="12" name="Text 9"/>
          <p:cNvSpPr txBox="1"/>
          <p:nvPr/>
        </p:nvSpPr>
        <p:spPr>
          <a:xfrm>
            <a:off x="2606040" y="1600200"/>
            <a:ext cx="210312" cy="11430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a:t>
            </a:r>
            <a:endParaRPr lang="en-US" sz="2400" dirty="0"/>
          </a:p>
        </p:txBody>
      </p:sp>
      <p:sp>
        <p:nvSpPr>
          <p:cNvPr id="13" name="Shape 10"/>
          <p:cNvSpPr/>
          <p:nvPr/>
        </p:nvSpPr>
        <p:spPr>
          <a:xfrm>
            <a:off x="2816352" y="1600200"/>
            <a:ext cx="2057400" cy="1143000"/>
          </a:xfrm>
          <a:prstGeom prst="roundRect">
            <a:avLst>
              <a:gd name="adj" fmla="val 8000"/>
            </a:avLst>
          </a:prstGeom>
          <a:solidFill>
            <a:srgbClr val="2459D8"/>
          </a:solidFill>
          <a:ln/>
        </p:spPr>
      </p:sp>
      <p:sp>
        <p:nvSpPr>
          <p:cNvPr id="14" name="Text 11"/>
          <p:cNvSpPr txBox="1"/>
          <p:nvPr/>
        </p:nvSpPr>
        <p:spPr>
          <a:xfrm>
            <a:off x="2816352" y="1600200"/>
            <a:ext cx="2057400" cy="114300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cut -d' ' -f8</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keep field 8: the IP</a:t>
            </a:r>
            <a:endParaRPr lang="en-US" sz="1400" dirty="0"/>
          </a:p>
        </p:txBody>
      </p:sp>
      <p:sp>
        <p:nvSpPr>
          <p:cNvPr id="15" name="Text 12"/>
          <p:cNvSpPr txBox="1"/>
          <p:nvPr/>
        </p:nvSpPr>
        <p:spPr>
          <a:xfrm>
            <a:off x="4873752" y="1600200"/>
            <a:ext cx="210312" cy="11430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a:t>
            </a:r>
            <a:endParaRPr lang="en-US" sz="2400" dirty="0"/>
          </a:p>
        </p:txBody>
      </p:sp>
      <p:sp>
        <p:nvSpPr>
          <p:cNvPr id="16" name="Shape 13"/>
          <p:cNvSpPr/>
          <p:nvPr/>
        </p:nvSpPr>
        <p:spPr>
          <a:xfrm>
            <a:off x="5084064" y="1600200"/>
            <a:ext cx="2057400" cy="1143000"/>
          </a:xfrm>
          <a:prstGeom prst="roundRect">
            <a:avLst>
              <a:gd name="adj" fmla="val 8000"/>
            </a:avLst>
          </a:prstGeom>
          <a:solidFill>
            <a:srgbClr val="7448D4"/>
          </a:solidFill>
          <a:ln/>
        </p:spPr>
      </p:sp>
      <p:sp>
        <p:nvSpPr>
          <p:cNvPr id="17" name="Text 14"/>
          <p:cNvSpPr txBox="1"/>
          <p:nvPr/>
        </p:nvSpPr>
        <p:spPr>
          <a:xfrm>
            <a:off x="5084064" y="1600200"/>
            <a:ext cx="2057400" cy="114300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sort</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line up repeats</a:t>
            </a:r>
            <a:endParaRPr lang="en-US" sz="1400" dirty="0"/>
          </a:p>
        </p:txBody>
      </p:sp>
      <p:sp>
        <p:nvSpPr>
          <p:cNvPr id="18" name="Text 15"/>
          <p:cNvSpPr txBox="1"/>
          <p:nvPr/>
        </p:nvSpPr>
        <p:spPr>
          <a:xfrm>
            <a:off x="7141464" y="1600200"/>
            <a:ext cx="210312" cy="11430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a:t>
            </a:r>
            <a:endParaRPr lang="en-US" sz="2400" dirty="0"/>
          </a:p>
        </p:txBody>
      </p:sp>
      <p:sp>
        <p:nvSpPr>
          <p:cNvPr id="19" name="Shape 16"/>
          <p:cNvSpPr/>
          <p:nvPr/>
        </p:nvSpPr>
        <p:spPr>
          <a:xfrm>
            <a:off x="7351776" y="1600200"/>
            <a:ext cx="2057400" cy="1143000"/>
          </a:xfrm>
          <a:prstGeom prst="roundRect">
            <a:avLst>
              <a:gd name="adj" fmla="val 8000"/>
            </a:avLst>
          </a:prstGeom>
          <a:solidFill>
            <a:srgbClr val="D1416B"/>
          </a:solidFill>
          <a:ln/>
        </p:spPr>
      </p:sp>
      <p:sp>
        <p:nvSpPr>
          <p:cNvPr id="20" name="Text 17"/>
          <p:cNvSpPr txBox="1"/>
          <p:nvPr/>
        </p:nvSpPr>
        <p:spPr>
          <a:xfrm>
            <a:off x="7351776" y="1600200"/>
            <a:ext cx="2057400" cy="114300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uniq -c</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count each one</a:t>
            </a:r>
            <a:endParaRPr lang="en-US" sz="1400" dirty="0"/>
          </a:p>
        </p:txBody>
      </p:sp>
      <p:sp>
        <p:nvSpPr>
          <p:cNvPr id="21" name="Text 18"/>
          <p:cNvSpPr txBox="1"/>
          <p:nvPr/>
        </p:nvSpPr>
        <p:spPr>
          <a:xfrm>
            <a:off x="9409176" y="1600200"/>
            <a:ext cx="210312" cy="11430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a:t>
            </a:r>
            <a:endParaRPr lang="en-US" sz="2400" dirty="0"/>
          </a:p>
        </p:txBody>
      </p:sp>
      <p:sp>
        <p:nvSpPr>
          <p:cNvPr id="22" name="Shape 19"/>
          <p:cNvSpPr/>
          <p:nvPr/>
        </p:nvSpPr>
        <p:spPr>
          <a:xfrm>
            <a:off x="9619488" y="1600200"/>
            <a:ext cx="2057400" cy="1143000"/>
          </a:xfrm>
          <a:prstGeom prst="roundRect">
            <a:avLst>
              <a:gd name="adj" fmla="val 8000"/>
            </a:avLst>
          </a:prstGeom>
          <a:solidFill>
            <a:srgbClr val="E8820C"/>
          </a:solidFill>
          <a:ln/>
        </p:spPr>
      </p:sp>
      <p:sp>
        <p:nvSpPr>
          <p:cNvPr id="23" name="Text 20"/>
          <p:cNvSpPr txBox="1"/>
          <p:nvPr/>
        </p:nvSpPr>
        <p:spPr>
          <a:xfrm>
            <a:off x="9619488" y="1600200"/>
            <a:ext cx="2057400" cy="114300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sort -n | tail</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biggest last</a:t>
            </a:r>
            <a:endParaRPr lang="en-US" sz="1400" dirty="0"/>
          </a:p>
        </p:txBody>
      </p:sp>
      <p:sp>
        <p:nvSpPr>
          <p:cNvPr id="24" name="Shape 21"/>
          <p:cNvSpPr/>
          <p:nvPr/>
        </p:nvSpPr>
        <p:spPr>
          <a:xfrm>
            <a:off x="548640" y="3063240"/>
            <a:ext cx="11094415" cy="2880360"/>
          </a:xfrm>
          <a:prstGeom prst="roundRect">
            <a:avLst>
              <a:gd name="adj" fmla="val 3175"/>
            </a:avLst>
          </a:prstGeom>
          <a:solidFill>
            <a:srgbClr val="0E1726"/>
          </a:solidFill>
          <a:ln/>
          <a:effectLst>
            <a:outerShdw sx="100000" sy="100000" kx="0" ky="0" algn="bl" rotWithShape="0" blurRad="127000" dist="38100" dir="5400000">
              <a:srgbClr val="12213A">
                <a:alpha val="22000"/>
              </a:srgbClr>
            </a:outerShdw>
          </a:effectLst>
        </p:spPr>
      </p:sp>
      <p:sp>
        <p:nvSpPr>
          <p:cNvPr id="25" name="Shape 22"/>
          <p:cNvSpPr/>
          <p:nvPr/>
        </p:nvSpPr>
        <p:spPr>
          <a:xfrm>
            <a:off x="749808" y="3218688"/>
            <a:ext cx="118872" cy="118872"/>
          </a:xfrm>
          <a:prstGeom prst="ellipse">
            <a:avLst/>
          </a:prstGeom>
          <a:solidFill>
            <a:srgbClr val="E5534B"/>
          </a:solidFill>
          <a:ln/>
        </p:spPr>
      </p:sp>
      <p:sp>
        <p:nvSpPr>
          <p:cNvPr id="26" name="Shape 23"/>
          <p:cNvSpPr/>
          <p:nvPr/>
        </p:nvSpPr>
        <p:spPr>
          <a:xfrm>
            <a:off x="950976" y="3218688"/>
            <a:ext cx="118872" cy="118872"/>
          </a:xfrm>
          <a:prstGeom prst="ellipse">
            <a:avLst/>
          </a:prstGeom>
          <a:solidFill>
            <a:srgbClr val="F5A623"/>
          </a:solidFill>
          <a:ln/>
        </p:spPr>
      </p:sp>
      <p:sp>
        <p:nvSpPr>
          <p:cNvPr id="27" name="Shape 24"/>
          <p:cNvSpPr/>
          <p:nvPr/>
        </p:nvSpPr>
        <p:spPr>
          <a:xfrm>
            <a:off x="1152144" y="3218688"/>
            <a:ext cx="118872" cy="118872"/>
          </a:xfrm>
          <a:prstGeom prst="ellipse">
            <a:avLst/>
          </a:prstGeom>
          <a:solidFill>
            <a:srgbClr val="46D39A"/>
          </a:solidFill>
          <a:ln/>
        </p:spPr>
      </p:sp>
      <p:sp>
        <p:nvSpPr>
          <p:cNvPr id="28" name="Text 25"/>
          <p:cNvSpPr txBox="1"/>
          <p:nvPr/>
        </p:nvSpPr>
        <p:spPr>
          <a:xfrm>
            <a:off x="1463040" y="3136392"/>
            <a:ext cx="9265615"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9" name="Text 26"/>
          <p:cNvSpPr txBox="1"/>
          <p:nvPr/>
        </p:nvSpPr>
        <p:spPr>
          <a:xfrm>
            <a:off x="822960" y="3520440"/>
            <a:ext cx="10545775" cy="22860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head -1 auth.log</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2026-10-08T02:04:39 sshd: Failed password for guest from 203.0.113.66</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field 1             2     3      4        5   6     7    8</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grep Failed auth.log | cut -d' ' -f8 | sort | uniq -c | sort -n | tail -2</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      7 192.0.2.24</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     40 203.0.113.66</a:t>
            </a:r>
            <a:endParaRPr lang="en-US" sz="1400" dirty="0"/>
          </a:p>
        </p:txBody>
      </p:sp>
      <p:sp>
        <p:nvSpPr>
          <p:cNvPr id="30" name="Text 27"/>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16 / 60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Hidden in plain sight</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xxd ~/README.txt</a:t>
            </a:r>
            <a:endParaRPr lang="en-US" sz="1300" dirty="0"/>
          </a:p>
        </p:txBody>
      </p:sp>
      <p:sp>
        <p:nvSpPr>
          <p:cNvPr id="8" name="Shape 5"/>
          <p:cNvSpPr/>
          <p:nvPr/>
        </p:nvSpPr>
        <p:spPr>
          <a:xfrm>
            <a:off x="548640" y="109728"/>
            <a:ext cx="1357884" cy="274320"/>
          </a:xfrm>
          <a:prstGeom prst="roundRect">
            <a:avLst>
              <a:gd name="adj" fmla="val 50000"/>
            </a:avLst>
          </a:prstGeom>
          <a:solidFill>
            <a:srgbClr val="E8820C"/>
          </a:solidFill>
          <a:ln/>
        </p:spPr>
      </p:sp>
      <p:sp>
        <p:nvSpPr>
          <p:cNvPr id="9" name="Text 6"/>
          <p:cNvSpPr txBox="1"/>
          <p:nvPr/>
        </p:nvSpPr>
        <p:spPr>
          <a:xfrm>
            <a:off x="548640" y="109728"/>
            <a:ext cx="135788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6</a:t>
            </a:r>
            <a:endParaRPr lang="en-US" sz="1100" dirty="0"/>
          </a:p>
        </p:txBody>
      </p:sp>
      <p:sp>
        <p:nvSpPr>
          <p:cNvPr id="10" name="Shape 7"/>
          <p:cNvSpPr/>
          <p:nvPr/>
        </p:nvSpPr>
        <p:spPr>
          <a:xfrm>
            <a:off x="548640" y="1645920"/>
            <a:ext cx="3840480" cy="1188720"/>
          </a:xfrm>
          <a:prstGeom prst="roundRect">
            <a:avLst>
              <a:gd name="adj" fmla="val 6154"/>
            </a:avLst>
          </a:prstGeom>
          <a:solidFill>
            <a:srgbClr val="2459D8"/>
          </a:solidFill>
          <a:ln/>
        </p:spPr>
      </p:sp>
      <p:sp>
        <p:nvSpPr>
          <p:cNvPr id="11" name="Text 8"/>
          <p:cNvSpPr txBox="1"/>
          <p:nvPr/>
        </p:nvSpPr>
        <p:spPr>
          <a:xfrm>
            <a:off x="548640" y="1645920"/>
            <a:ext cx="3840480" cy="1188720"/>
          </a:xfrm>
          <a:prstGeom prst="rect">
            <a:avLst/>
          </a:prstGeom>
          <a:no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ff d8 ff ...</a:t>
            </a:r>
            <a:endParaRPr lang="en-US" sz="1600" dirty="0"/>
          </a:p>
          <a:p>
            <a:pPr algn="ctr" indent="0" marL="0">
              <a:buNone/>
            </a:pPr>
            <a:r>
              <a:rPr lang="en-US" sz="1600" dirty="0">
                <a:solidFill>
                  <a:srgbClr val="FFFFFF"/>
                </a:solidFill>
                <a:latin typeface="Calibri" pitchFamily="34" charset="0"/>
                <a:ea typeface="Calibri" pitchFamily="34" charset="-122"/>
                <a:cs typeface="Calibri" pitchFamily="34" charset="-120"/>
              </a:rPr>
              <a:t>the picture</a:t>
            </a:r>
            <a:endParaRPr lang="en-US" sz="1600" dirty="0"/>
          </a:p>
        </p:txBody>
      </p:sp>
      <p:sp>
        <p:nvSpPr>
          <p:cNvPr id="12" name="Shape 9"/>
          <p:cNvSpPr/>
          <p:nvPr/>
        </p:nvSpPr>
        <p:spPr>
          <a:xfrm>
            <a:off x="4480560" y="1645920"/>
            <a:ext cx="548640" cy="1188720"/>
          </a:xfrm>
          <a:prstGeom prst="roundRect">
            <a:avLst>
              <a:gd name="adj" fmla="val 13333"/>
            </a:avLst>
          </a:prstGeom>
          <a:solidFill>
            <a:srgbClr val="12213A"/>
          </a:solidFill>
          <a:ln/>
        </p:spPr>
      </p:sp>
      <p:sp>
        <p:nvSpPr>
          <p:cNvPr id="13" name="Text 10"/>
          <p:cNvSpPr txBox="1"/>
          <p:nvPr/>
        </p:nvSpPr>
        <p:spPr>
          <a:xfrm>
            <a:off x="4480560" y="1645920"/>
            <a:ext cx="548640" cy="118872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ff d9</a:t>
            </a:r>
            <a:endParaRPr lang="en-US" sz="1100" dirty="0"/>
          </a:p>
        </p:txBody>
      </p:sp>
      <p:sp>
        <p:nvSpPr>
          <p:cNvPr id="14" name="Shape 11"/>
          <p:cNvSpPr/>
          <p:nvPr/>
        </p:nvSpPr>
        <p:spPr>
          <a:xfrm>
            <a:off x="5120640" y="1645920"/>
            <a:ext cx="1097280" cy="1188720"/>
          </a:xfrm>
          <a:prstGeom prst="roundRect">
            <a:avLst>
              <a:gd name="adj" fmla="val 6667"/>
            </a:avLst>
          </a:prstGeom>
          <a:solidFill>
            <a:srgbClr val="F5A623"/>
          </a:solidFill>
          <a:ln/>
        </p:spPr>
      </p:sp>
      <p:sp>
        <p:nvSpPr>
          <p:cNvPr id="15" name="Text 12"/>
          <p:cNvSpPr txBox="1"/>
          <p:nvPr/>
        </p:nvSpPr>
        <p:spPr>
          <a:xfrm>
            <a:off x="5120640" y="1645920"/>
            <a:ext cx="1097280" cy="1188720"/>
          </a:xfrm>
          <a:prstGeom prst="rect">
            <a:avLst/>
          </a:prstGeom>
          <a:noFill/>
          <a:ln/>
        </p:spPr>
        <p:txBody>
          <a:bodyPr wrap="square" lIns="0" tIns="0" rIns="0" bIns="0" rtlCol="0" anchor="ctr"/>
          <a:lstStyle/>
          <a:p>
            <a:pPr algn="ctr" indent="0" marL="0">
              <a:buNone/>
            </a:pPr>
            <a:r>
              <a:rPr lang="en-US" sz="1400" b="1" dirty="0">
                <a:solidFill>
                  <a:srgbClr val="12213A"/>
                </a:solidFill>
                <a:latin typeface="Calibri" pitchFamily="34" charset="0"/>
                <a:ea typeface="Calibri" pitchFamily="34" charset="-122"/>
                <a:cs typeface="Calibri" pitchFamily="34" charset="-120"/>
              </a:rPr>
              <a:t>hidden</a:t>
            </a:r>
            <a:endParaRPr lang="en-US" sz="1400" dirty="0"/>
          </a:p>
        </p:txBody>
      </p:sp>
      <p:sp>
        <p:nvSpPr>
          <p:cNvPr id="16" name="Text 13"/>
          <p:cNvSpPr txBox="1"/>
          <p:nvPr/>
        </p:nvSpPr>
        <p:spPr>
          <a:xfrm>
            <a:off x="548640" y="2926080"/>
            <a:ext cx="5669280" cy="36576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Viewers stop at the end marker. The hidden part never shows.</a:t>
            </a:r>
            <a:endParaRPr lang="en-US" sz="1300" dirty="0"/>
          </a:p>
        </p:txBody>
      </p:sp>
      <p:sp>
        <p:nvSpPr>
          <p:cNvPr id="17" name="Shape 14"/>
          <p:cNvSpPr/>
          <p:nvPr/>
        </p:nvSpPr>
        <p:spPr>
          <a:xfrm>
            <a:off x="548640" y="3520440"/>
            <a:ext cx="2377440" cy="457200"/>
          </a:xfrm>
          <a:prstGeom prst="roundRect">
            <a:avLst>
              <a:gd name="adj" fmla="val 16000"/>
            </a:avLst>
          </a:prstGeom>
          <a:solidFill>
            <a:srgbClr val="0E1726"/>
          </a:solidFill>
          <a:ln/>
        </p:spPr>
      </p:sp>
      <p:sp>
        <p:nvSpPr>
          <p:cNvPr id="18" name="Text 15"/>
          <p:cNvSpPr txBox="1"/>
          <p:nvPr/>
        </p:nvSpPr>
        <p:spPr>
          <a:xfrm>
            <a:off x="548640" y="352044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strings F | tail -2</a:t>
            </a:r>
            <a:endParaRPr lang="en-US" sz="1500" dirty="0"/>
          </a:p>
        </p:txBody>
      </p:sp>
      <p:sp>
        <p:nvSpPr>
          <p:cNvPr id="19" name="Text 16"/>
          <p:cNvSpPr txBox="1"/>
          <p:nvPr/>
        </p:nvSpPr>
        <p:spPr>
          <a:xfrm>
            <a:off x="3154680" y="352044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readable text near the end</a:t>
            </a:r>
            <a:endParaRPr lang="en-US" sz="1700" dirty="0"/>
          </a:p>
        </p:txBody>
      </p:sp>
      <p:sp>
        <p:nvSpPr>
          <p:cNvPr id="20" name="Shape 17"/>
          <p:cNvSpPr/>
          <p:nvPr/>
        </p:nvSpPr>
        <p:spPr>
          <a:xfrm>
            <a:off x="548640" y="4114800"/>
            <a:ext cx="2377440" cy="457200"/>
          </a:xfrm>
          <a:prstGeom prst="roundRect">
            <a:avLst>
              <a:gd name="adj" fmla="val 16000"/>
            </a:avLst>
          </a:prstGeom>
          <a:solidFill>
            <a:srgbClr val="0E1726"/>
          </a:solidFill>
          <a:ln/>
        </p:spPr>
      </p:sp>
      <p:sp>
        <p:nvSpPr>
          <p:cNvPr id="21" name="Text 18"/>
          <p:cNvSpPr txBox="1"/>
          <p:nvPr/>
        </p:nvSpPr>
        <p:spPr>
          <a:xfrm>
            <a:off x="548640" y="411480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tail -c 120 F | xxd</a:t>
            </a:r>
            <a:endParaRPr lang="en-US" sz="1500" dirty="0"/>
          </a:p>
        </p:txBody>
      </p:sp>
      <p:sp>
        <p:nvSpPr>
          <p:cNvPr id="22" name="Text 19"/>
          <p:cNvSpPr txBox="1"/>
          <p:nvPr/>
        </p:nvSpPr>
        <p:spPr>
          <a:xfrm>
            <a:off x="3154680" y="411480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the last bytes, in hex</a:t>
            </a:r>
            <a:endParaRPr lang="en-US" sz="1700" dirty="0"/>
          </a:p>
        </p:txBody>
      </p:sp>
      <p:sp>
        <p:nvSpPr>
          <p:cNvPr id="23" name="Shape 20"/>
          <p:cNvSpPr/>
          <p:nvPr/>
        </p:nvSpPr>
        <p:spPr>
          <a:xfrm>
            <a:off x="548640" y="4846320"/>
            <a:ext cx="5669280" cy="1097280"/>
          </a:xfrm>
          <a:prstGeom prst="roundRect">
            <a:avLst>
              <a:gd name="adj" fmla="val 8333"/>
            </a:avLst>
          </a:prstGeom>
          <a:solidFill>
            <a:srgbClr val="FFF4DC"/>
          </a:solidFill>
          <a:ln/>
        </p:spPr>
      </p:sp>
      <p:sp>
        <p:nvSpPr>
          <p:cNvPr id="24" name="Text 21"/>
          <p:cNvSpPr txBox="1"/>
          <p:nvPr/>
        </p:nvSpPr>
        <p:spPr>
          <a:xfrm>
            <a:off x="822960" y="4846320"/>
            <a:ext cx="5120640" cy="109728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Crypto vs stego: </a:t>
            </a:r>
            <a:pPr indent="0" marL="0">
              <a:buNone/>
            </a:pPr>
            <a:r>
              <a:rPr lang="en-US" sz="1500" dirty="0">
                <a:solidFill>
                  <a:srgbClr val="12213A"/>
                </a:solidFill>
                <a:latin typeface="Calibri" pitchFamily="34" charset="0"/>
                <a:ea typeface="Calibri" pitchFamily="34" charset="-122"/>
                <a:cs typeface="Calibri" pitchFamily="34" charset="-120"/>
              </a:rPr>
              <a:t>crypto hides what a message says. Stego hides that it exists. CTFs love combining them.</a:t>
            </a:r>
            <a:endParaRPr lang="en-US" sz="1500" dirty="0"/>
          </a:p>
        </p:txBody>
      </p:sp>
      <p:sp>
        <p:nvSpPr>
          <p:cNvPr id="25" name="Shape 22"/>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26" name="Shape 23"/>
          <p:cNvSpPr/>
          <p:nvPr/>
        </p:nvSpPr>
        <p:spPr>
          <a:xfrm>
            <a:off x="6784848" y="1618488"/>
            <a:ext cx="118872" cy="118872"/>
          </a:xfrm>
          <a:prstGeom prst="ellipse">
            <a:avLst/>
          </a:prstGeom>
          <a:solidFill>
            <a:srgbClr val="E5534B"/>
          </a:solidFill>
          <a:ln/>
        </p:spPr>
      </p:sp>
      <p:sp>
        <p:nvSpPr>
          <p:cNvPr id="27" name="Shape 24"/>
          <p:cNvSpPr/>
          <p:nvPr/>
        </p:nvSpPr>
        <p:spPr>
          <a:xfrm>
            <a:off x="6986016" y="1618488"/>
            <a:ext cx="118872" cy="118872"/>
          </a:xfrm>
          <a:prstGeom prst="ellipse">
            <a:avLst/>
          </a:prstGeom>
          <a:solidFill>
            <a:srgbClr val="F5A623"/>
          </a:solidFill>
          <a:ln/>
        </p:spPr>
      </p:sp>
      <p:sp>
        <p:nvSpPr>
          <p:cNvPr id="28" name="Shape 25"/>
          <p:cNvSpPr/>
          <p:nvPr/>
        </p:nvSpPr>
        <p:spPr>
          <a:xfrm>
            <a:off x="7187184" y="1618488"/>
            <a:ext cx="118872" cy="118872"/>
          </a:xfrm>
          <a:prstGeom prst="ellipse">
            <a:avLst/>
          </a:prstGeom>
          <a:solidFill>
            <a:srgbClr val="46D39A"/>
          </a:solidFill>
          <a:ln/>
        </p:spPr>
      </p:sp>
      <p:sp>
        <p:nvSpPr>
          <p:cNvPr id="29" name="Text 26"/>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0" name="Text 27"/>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filetype cat.jpg</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cat.jpg: JPEG image data</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strings cat.jpg | tail -2</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JFIF</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SGlkZGVuIGFmdGVyIHRo...==</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letters, digits, =  ...</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looks like base64!</a:t>
            </a:r>
            <a:endParaRPr lang="en-US" sz="1400" dirty="0"/>
          </a:p>
        </p:txBody>
      </p:sp>
      <p:sp>
        <p:nvSpPr>
          <p:cNvPr id="31" name="Text 2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17 / 60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Has it changed? Fingerprints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sha256sum ~/README.txt</a:t>
            </a:r>
            <a:endParaRPr lang="en-US" sz="1300" dirty="0"/>
          </a:p>
        </p:txBody>
      </p:sp>
      <p:sp>
        <p:nvSpPr>
          <p:cNvPr id="8" name="Shape 5"/>
          <p:cNvSpPr/>
          <p:nvPr/>
        </p:nvSpPr>
        <p:spPr>
          <a:xfrm>
            <a:off x="548640" y="109728"/>
            <a:ext cx="1357884" cy="274320"/>
          </a:xfrm>
          <a:prstGeom prst="roundRect">
            <a:avLst>
              <a:gd name="adj" fmla="val 50000"/>
            </a:avLst>
          </a:prstGeom>
          <a:solidFill>
            <a:srgbClr val="C9A227"/>
          </a:solidFill>
          <a:ln/>
        </p:spPr>
      </p:sp>
      <p:sp>
        <p:nvSpPr>
          <p:cNvPr id="9" name="Text 6"/>
          <p:cNvSpPr txBox="1"/>
          <p:nvPr/>
        </p:nvSpPr>
        <p:spPr>
          <a:xfrm>
            <a:off x="548640" y="109728"/>
            <a:ext cx="135788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7</a:t>
            </a:r>
            <a:endParaRPr lang="en-US" sz="1100" dirty="0"/>
          </a:p>
        </p:txBody>
      </p:sp>
      <p:sp>
        <p:nvSpPr>
          <p:cNvPr id="10" name="Shape 7"/>
          <p:cNvSpPr/>
          <p:nvPr/>
        </p:nvSpPr>
        <p:spPr>
          <a:xfrm>
            <a:off x="548640" y="1600200"/>
            <a:ext cx="2377440" cy="457200"/>
          </a:xfrm>
          <a:prstGeom prst="roundRect">
            <a:avLst>
              <a:gd name="adj" fmla="val 16000"/>
            </a:avLst>
          </a:prstGeom>
          <a:solidFill>
            <a:srgbClr val="0E1726"/>
          </a:solidFill>
          <a:ln/>
        </p:spPr>
      </p:sp>
      <p:sp>
        <p:nvSpPr>
          <p:cNvPr id="11" name="Text 8"/>
          <p:cNvSpPr txBox="1"/>
          <p:nvPr/>
        </p:nvSpPr>
        <p:spPr>
          <a:xfrm>
            <a:off x="548640" y="160020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sha256sum FILE</a:t>
            </a:r>
            <a:endParaRPr lang="en-US" sz="1500" dirty="0"/>
          </a:p>
        </p:txBody>
      </p:sp>
      <p:sp>
        <p:nvSpPr>
          <p:cNvPr id="12" name="Text 9"/>
          <p:cNvSpPr txBox="1"/>
          <p:nvPr/>
        </p:nvSpPr>
        <p:spPr>
          <a:xfrm>
            <a:off x="3154680" y="160020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fingerprint a file</a:t>
            </a:r>
            <a:endParaRPr lang="en-US" sz="1700" dirty="0"/>
          </a:p>
        </p:txBody>
      </p:sp>
      <p:sp>
        <p:nvSpPr>
          <p:cNvPr id="13" name="Shape 10"/>
          <p:cNvSpPr/>
          <p:nvPr/>
        </p:nvSpPr>
        <p:spPr>
          <a:xfrm>
            <a:off x="548640" y="2194560"/>
            <a:ext cx="2377440" cy="457200"/>
          </a:xfrm>
          <a:prstGeom prst="roundRect">
            <a:avLst>
              <a:gd name="adj" fmla="val 16000"/>
            </a:avLst>
          </a:prstGeom>
          <a:solidFill>
            <a:srgbClr val="0E1726"/>
          </a:solidFill>
          <a:ln/>
        </p:spPr>
      </p:sp>
      <p:sp>
        <p:nvSpPr>
          <p:cNvPr id="14" name="Text 11"/>
          <p:cNvSpPr txBox="1"/>
          <p:nvPr/>
        </p:nvSpPr>
        <p:spPr>
          <a:xfrm>
            <a:off x="548640" y="219456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sha256sum -c LIST</a:t>
            </a:r>
            <a:endParaRPr lang="en-US" sz="1500" dirty="0"/>
          </a:p>
        </p:txBody>
      </p:sp>
      <p:sp>
        <p:nvSpPr>
          <p:cNvPr id="15" name="Text 12"/>
          <p:cNvSpPr txBox="1"/>
          <p:nvPr/>
        </p:nvSpPr>
        <p:spPr>
          <a:xfrm>
            <a:off x="3154680" y="219456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check every file in a list</a:t>
            </a:r>
            <a:endParaRPr lang="en-US" sz="1700" dirty="0"/>
          </a:p>
        </p:txBody>
      </p:sp>
      <p:sp>
        <p:nvSpPr>
          <p:cNvPr id="16" name="Shape 13"/>
          <p:cNvSpPr/>
          <p:nvPr/>
        </p:nvSpPr>
        <p:spPr>
          <a:xfrm>
            <a:off x="548640" y="2788920"/>
            <a:ext cx="2377440" cy="457200"/>
          </a:xfrm>
          <a:prstGeom prst="roundRect">
            <a:avLst>
              <a:gd name="adj" fmla="val 16000"/>
            </a:avLst>
          </a:prstGeom>
          <a:solidFill>
            <a:srgbClr val="0E1726"/>
          </a:solidFill>
          <a:ln/>
        </p:spPr>
      </p:sp>
      <p:sp>
        <p:nvSpPr>
          <p:cNvPr id="17" name="Text 14"/>
          <p:cNvSpPr txBox="1"/>
          <p:nvPr/>
        </p:nvSpPr>
        <p:spPr>
          <a:xfrm>
            <a:off x="548640" y="278892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 grep FAILED</a:t>
            </a:r>
            <a:endParaRPr lang="en-US" sz="1500" dirty="0"/>
          </a:p>
        </p:txBody>
      </p:sp>
      <p:sp>
        <p:nvSpPr>
          <p:cNvPr id="18" name="Text 15"/>
          <p:cNvSpPr txBox="1"/>
          <p:nvPr/>
        </p:nvSpPr>
        <p:spPr>
          <a:xfrm>
            <a:off x="3154680" y="278892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show only the changed ones</a:t>
            </a:r>
            <a:endParaRPr lang="en-US" sz="1700" dirty="0"/>
          </a:p>
        </p:txBody>
      </p:sp>
      <p:sp>
        <p:nvSpPr>
          <p:cNvPr id="19" name="Shape 16"/>
          <p:cNvSpPr/>
          <p:nvPr/>
        </p:nvSpPr>
        <p:spPr>
          <a:xfrm>
            <a:off x="548640" y="3566160"/>
            <a:ext cx="5669280" cy="2377440"/>
          </a:xfrm>
          <a:prstGeom prst="roundRect">
            <a:avLst>
              <a:gd name="adj" fmla="val 3846"/>
            </a:avLst>
          </a:prstGeom>
          <a:solidFill>
            <a:srgbClr val="FFF4DC"/>
          </a:solidFill>
          <a:ln/>
        </p:spPr>
      </p:sp>
      <p:sp>
        <p:nvSpPr>
          <p:cNvPr id="20" name="Text 17"/>
          <p:cNvSpPr txBox="1"/>
          <p:nvPr/>
        </p:nvSpPr>
        <p:spPr>
          <a:xfrm>
            <a:off x="822960" y="3703320"/>
            <a:ext cx="5120640" cy="36576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A manifest line</a:t>
            </a:r>
            <a:endParaRPr lang="en-US" sz="1700" dirty="0"/>
          </a:p>
        </p:txBody>
      </p:sp>
      <p:sp>
        <p:nvSpPr>
          <p:cNvPr id="21" name="Text 18"/>
          <p:cNvSpPr txBox="1"/>
          <p:nvPr/>
        </p:nvSpPr>
        <p:spPr>
          <a:xfrm>
            <a:off x="822960" y="4160520"/>
            <a:ext cx="5120640" cy="365760"/>
          </a:xfrm>
          <a:prstGeom prst="rect">
            <a:avLst/>
          </a:prstGeom>
          <a:noFill/>
          <a:ln/>
        </p:spPr>
        <p:txBody>
          <a:bodyPr wrap="square" lIns="0" tIns="0" rIns="0" bIns="0" rtlCol="0" anchor="t"/>
          <a:lstStyle/>
          <a:p>
            <a:pPr indent="0" marL="0">
              <a:buNone/>
            </a:pPr>
            <a:r>
              <a:rPr lang="en-US" sz="1500" b="1" dirty="0">
                <a:solidFill>
                  <a:srgbClr val="12213A"/>
                </a:solidFill>
                <a:latin typeface="Courier New" pitchFamily="34" charset="0"/>
                <a:ea typeface="Courier New" pitchFamily="34" charset="-122"/>
                <a:cs typeface="Courier New" pitchFamily="34" charset="-120"/>
              </a:rPr>
              <a:t>9c1f04e2a7...  bin/backup</a:t>
            </a:r>
            <a:endParaRPr lang="en-US" sz="1500" dirty="0"/>
          </a:p>
        </p:txBody>
      </p:sp>
      <p:sp>
        <p:nvSpPr>
          <p:cNvPr id="22" name="Text 19"/>
          <p:cNvSpPr txBox="1"/>
          <p:nvPr/>
        </p:nvSpPr>
        <p:spPr>
          <a:xfrm>
            <a:off x="822960" y="4617720"/>
            <a:ext cx="5120640" cy="109728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The fingerprint, two spaces, then the file. Taken when the server was clean.</a:t>
            </a:r>
            <a:endParaRPr lang="en-US" sz="1500" dirty="0"/>
          </a:p>
        </p:txBody>
      </p:sp>
      <p:sp>
        <p:nvSpPr>
          <p:cNvPr id="23" name="Shape 20"/>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24" name="Shape 21"/>
          <p:cNvSpPr/>
          <p:nvPr/>
        </p:nvSpPr>
        <p:spPr>
          <a:xfrm>
            <a:off x="6784848" y="1618488"/>
            <a:ext cx="118872" cy="118872"/>
          </a:xfrm>
          <a:prstGeom prst="ellipse">
            <a:avLst/>
          </a:prstGeom>
          <a:solidFill>
            <a:srgbClr val="E5534B"/>
          </a:solidFill>
          <a:ln/>
        </p:spPr>
      </p:sp>
      <p:sp>
        <p:nvSpPr>
          <p:cNvPr id="25" name="Shape 22"/>
          <p:cNvSpPr/>
          <p:nvPr/>
        </p:nvSpPr>
        <p:spPr>
          <a:xfrm>
            <a:off x="6986016" y="1618488"/>
            <a:ext cx="118872" cy="118872"/>
          </a:xfrm>
          <a:prstGeom prst="ellipse">
            <a:avLst/>
          </a:prstGeom>
          <a:solidFill>
            <a:srgbClr val="F5A623"/>
          </a:solidFill>
          <a:ln/>
        </p:spPr>
      </p:sp>
      <p:sp>
        <p:nvSpPr>
          <p:cNvPr id="26" name="Shape 23"/>
          <p:cNvSpPr/>
          <p:nvPr/>
        </p:nvSpPr>
        <p:spPr>
          <a:xfrm>
            <a:off x="7187184" y="1618488"/>
            <a:ext cx="118872" cy="118872"/>
          </a:xfrm>
          <a:prstGeom prst="ellipse">
            <a:avLst/>
          </a:prstGeom>
          <a:solidFill>
            <a:srgbClr val="46D39A"/>
          </a:solidFill>
          <a:ln/>
        </p:spPr>
      </p:sp>
      <p:sp>
        <p:nvSpPr>
          <p:cNvPr id="27" name="Text 24"/>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8" name="Text 25"/>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sha256sum -c manifest.sha256</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bin/backup: OK</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bin/cleanup: OK</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bin/diskcheck: FAILED</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bin/logrotate: OK</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WARNING: 1 of 10 computed</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checksums did NOT match</a:t>
            </a:r>
            <a:endParaRPr lang="en-US" sz="1400" dirty="0"/>
          </a:p>
        </p:txBody>
      </p:sp>
      <p:sp>
        <p:nvSpPr>
          <p:cNvPr id="29" name="Text 2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18 / 60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How intruders come back: cron jobs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ls -a ~</a:t>
            </a:r>
            <a:endParaRPr lang="en-US" sz="1300" dirty="0"/>
          </a:p>
        </p:txBody>
      </p:sp>
      <p:sp>
        <p:nvSpPr>
          <p:cNvPr id="8" name="Shape 5"/>
          <p:cNvSpPr/>
          <p:nvPr/>
        </p:nvSpPr>
        <p:spPr>
          <a:xfrm>
            <a:off x="548640" y="109728"/>
            <a:ext cx="1357884" cy="274320"/>
          </a:xfrm>
          <a:prstGeom prst="roundRect">
            <a:avLst>
              <a:gd name="adj" fmla="val 50000"/>
            </a:avLst>
          </a:prstGeom>
          <a:solidFill>
            <a:srgbClr val="0F9488"/>
          </a:solidFill>
          <a:ln/>
        </p:spPr>
      </p:sp>
      <p:sp>
        <p:nvSpPr>
          <p:cNvPr id="9" name="Text 6"/>
          <p:cNvSpPr txBox="1"/>
          <p:nvPr/>
        </p:nvSpPr>
        <p:spPr>
          <a:xfrm>
            <a:off x="548640" y="109728"/>
            <a:ext cx="135788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8</a:t>
            </a:r>
            <a:endParaRPr lang="en-US" sz="1100" dirty="0"/>
          </a:p>
        </p:txBody>
      </p:sp>
      <p:sp>
        <p:nvSpPr>
          <p:cNvPr id="10" name="Shape 7"/>
          <p:cNvSpPr/>
          <p:nvPr/>
        </p:nvSpPr>
        <p:spPr>
          <a:xfrm>
            <a:off x="548640" y="1600200"/>
            <a:ext cx="1051560" cy="1325880"/>
          </a:xfrm>
          <a:prstGeom prst="roundRect">
            <a:avLst>
              <a:gd name="adj" fmla="val 8696"/>
            </a:avLst>
          </a:prstGeom>
          <a:solidFill>
            <a:srgbClr val="F1F5FB"/>
          </a:solidFill>
          <a:ln/>
        </p:spPr>
      </p:sp>
      <p:sp>
        <p:nvSpPr>
          <p:cNvPr id="11" name="Text 8"/>
          <p:cNvSpPr txBox="1"/>
          <p:nvPr/>
        </p:nvSpPr>
        <p:spPr>
          <a:xfrm>
            <a:off x="548640" y="1691640"/>
            <a:ext cx="1051560" cy="457200"/>
          </a:xfrm>
          <a:prstGeom prst="rect">
            <a:avLst/>
          </a:prstGeom>
          <a:noFill/>
          <a:ln/>
        </p:spPr>
        <p:txBody>
          <a:bodyPr wrap="square" lIns="0" tIns="0" rIns="0" bIns="0" rtlCol="0" anchor="t"/>
          <a:lstStyle/>
          <a:p>
            <a:pPr algn="ctr" indent="0" marL="0">
              <a:buNone/>
            </a:pPr>
            <a:r>
              <a:rPr lang="en-US" sz="2000" b="1" dirty="0">
                <a:solidFill>
                  <a:srgbClr val="5B6EE1"/>
                </a:solidFill>
                <a:latin typeface="Courier New" pitchFamily="34" charset="0"/>
                <a:ea typeface="Courier New" pitchFamily="34" charset="-122"/>
                <a:cs typeface="Courier New" pitchFamily="34" charset="-120"/>
              </a:rPr>
              <a:t>*/10</a:t>
            </a:r>
            <a:endParaRPr lang="en-US" sz="2000" dirty="0"/>
          </a:p>
        </p:txBody>
      </p:sp>
      <p:sp>
        <p:nvSpPr>
          <p:cNvPr id="12" name="Text 9"/>
          <p:cNvSpPr txBox="1"/>
          <p:nvPr/>
        </p:nvSpPr>
        <p:spPr>
          <a:xfrm>
            <a:off x="548640" y="2194560"/>
            <a:ext cx="1051560" cy="320040"/>
          </a:xfrm>
          <a:prstGeom prst="rect">
            <a:avLst/>
          </a:prstGeom>
          <a:noFill/>
          <a:ln/>
        </p:spPr>
        <p:txBody>
          <a:bodyPr wrap="square" lIns="0" tIns="0" rIns="0" bIns="0" rtlCol="0" anchor="t"/>
          <a:lstStyle/>
          <a:p>
            <a:pPr algn="ctr" indent="0" marL="0">
              <a:buNone/>
            </a:pPr>
            <a:r>
              <a:rPr lang="en-US" sz="1200" b="1" dirty="0">
                <a:solidFill>
                  <a:srgbClr val="12213A"/>
                </a:solidFill>
                <a:latin typeface="Calibri" pitchFamily="34" charset="0"/>
                <a:ea typeface="Calibri" pitchFamily="34" charset="-122"/>
                <a:cs typeface="Calibri" pitchFamily="34" charset="-120"/>
              </a:rPr>
              <a:t>minute</a:t>
            </a:r>
            <a:endParaRPr lang="en-US" sz="1200" dirty="0"/>
          </a:p>
        </p:txBody>
      </p:sp>
      <p:sp>
        <p:nvSpPr>
          <p:cNvPr id="13" name="Text 10"/>
          <p:cNvSpPr txBox="1"/>
          <p:nvPr/>
        </p:nvSpPr>
        <p:spPr>
          <a:xfrm>
            <a:off x="548640" y="2514600"/>
            <a:ext cx="1051560" cy="320040"/>
          </a:xfrm>
          <a:prstGeom prst="rect">
            <a:avLst/>
          </a:prstGeom>
          <a:noFill/>
          <a:ln/>
        </p:spPr>
        <p:txBody>
          <a:bodyPr wrap="square" lIns="0" tIns="0" rIns="0" bIns="0" rtlCol="0" anchor="t"/>
          <a:lstStyle/>
          <a:p>
            <a:pPr algn="ctr" indent="0" marL="0">
              <a:buNone/>
            </a:pPr>
            <a:r>
              <a:rPr lang="en-US" sz="1100" dirty="0">
                <a:solidFill>
                  <a:srgbClr val="56657E"/>
                </a:solidFill>
                <a:latin typeface="Calibri" pitchFamily="34" charset="0"/>
                <a:ea typeface="Calibri" pitchFamily="34" charset="-122"/>
                <a:cs typeface="Calibri" pitchFamily="34" charset="-120"/>
              </a:rPr>
              <a:t>every 10</a:t>
            </a:r>
            <a:endParaRPr lang="en-US" sz="1100" dirty="0"/>
          </a:p>
        </p:txBody>
      </p:sp>
      <p:sp>
        <p:nvSpPr>
          <p:cNvPr id="14" name="Shape 11"/>
          <p:cNvSpPr/>
          <p:nvPr/>
        </p:nvSpPr>
        <p:spPr>
          <a:xfrm>
            <a:off x="1691640" y="1600200"/>
            <a:ext cx="1051560" cy="1325880"/>
          </a:xfrm>
          <a:prstGeom prst="roundRect">
            <a:avLst>
              <a:gd name="adj" fmla="val 8696"/>
            </a:avLst>
          </a:prstGeom>
          <a:solidFill>
            <a:srgbClr val="F1F5FB"/>
          </a:solidFill>
          <a:ln/>
        </p:spPr>
      </p:sp>
      <p:sp>
        <p:nvSpPr>
          <p:cNvPr id="15" name="Text 12"/>
          <p:cNvSpPr txBox="1"/>
          <p:nvPr/>
        </p:nvSpPr>
        <p:spPr>
          <a:xfrm>
            <a:off x="1691640" y="1691640"/>
            <a:ext cx="1051560" cy="457200"/>
          </a:xfrm>
          <a:prstGeom prst="rect">
            <a:avLst/>
          </a:prstGeom>
          <a:noFill/>
          <a:ln/>
        </p:spPr>
        <p:txBody>
          <a:bodyPr wrap="square" lIns="0" tIns="0" rIns="0" bIns="0" rtlCol="0" anchor="t"/>
          <a:lstStyle/>
          <a:p>
            <a:pPr algn="ctr" indent="0" marL="0">
              <a:buNone/>
            </a:pPr>
            <a:r>
              <a:rPr lang="en-US" sz="2000" b="1" dirty="0">
                <a:solidFill>
                  <a:srgbClr val="5B6EE1"/>
                </a:solidFill>
                <a:latin typeface="Courier New" pitchFamily="34" charset="0"/>
                <a:ea typeface="Courier New" pitchFamily="34" charset="-122"/>
                <a:cs typeface="Courier New" pitchFamily="34" charset="-120"/>
              </a:rPr>
              <a:t>*</a:t>
            </a:r>
            <a:endParaRPr lang="en-US" sz="2000" dirty="0"/>
          </a:p>
        </p:txBody>
      </p:sp>
      <p:sp>
        <p:nvSpPr>
          <p:cNvPr id="16" name="Text 13"/>
          <p:cNvSpPr txBox="1"/>
          <p:nvPr/>
        </p:nvSpPr>
        <p:spPr>
          <a:xfrm>
            <a:off x="1691640" y="2194560"/>
            <a:ext cx="1051560" cy="320040"/>
          </a:xfrm>
          <a:prstGeom prst="rect">
            <a:avLst/>
          </a:prstGeom>
          <a:noFill/>
          <a:ln/>
        </p:spPr>
        <p:txBody>
          <a:bodyPr wrap="square" lIns="0" tIns="0" rIns="0" bIns="0" rtlCol="0" anchor="t"/>
          <a:lstStyle/>
          <a:p>
            <a:pPr algn="ctr" indent="0" marL="0">
              <a:buNone/>
            </a:pPr>
            <a:r>
              <a:rPr lang="en-US" sz="1200" b="1" dirty="0">
                <a:solidFill>
                  <a:srgbClr val="12213A"/>
                </a:solidFill>
                <a:latin typeface="Calibri" pitchFamily="34" charset="0"/>
                <a:ea typeface="Calibri" pitchFamily="34" charset="-122"/>
                <a:cs typeface="Calibri" pitchFamily="34" charset="-120"/>
              </a:rPr>
              <a:t>hour</a:t>
            </a:r>
            <a:endParaRPr lang="en-US" sz="1200" dirty="0"/>
          </a:p>
        </p:txBody>
      </p:sp>
      <p:sp>
        <p:nvSpPr>
          <p:cNvPr id="17" name="Text 14"/>
          <p:cNvSpPr txBox="1"/>
          <p:nvPr/>
        </p:nvSpPr>
        <p:spPr>
          <a:xfrm>
            <a:off x="1691640" y="2514600"/>
            <a:ext cx="1051560" cy="320040"/>
          </a:xfrm>
          <a:prstGeom prst="rect">
            <a:avLst/>
          </a:prstGeom>
          <a:noFill/>
          <a:ln/>
        </p:spPr>
        <p:txBody>
          <a:bodyPr wrap="square" lIns="0" tIns="0" rIns="0" bIns="0" rtlCol="0" anchor="t"/>
          <a:lstStyle/>
          <a:p>
            <a:pPr algn="ctr" indent="0" marL="0">
              <a:buNone/>
            </a:pPr>
            <a:r>
              <a:rPr lang="en-US" sz="1100" dirty="0">
                <a:solidFill>
                  <a:srgbClr val="56657E"/>
                </a:solidFill>
                <a:latin typeface="Calibri" pitchFamily="34" charset="0"/>
                <a:ea typeface="Calibri" pitchFamily="34" charset="-122"/>
                <a:cs typeface="Calibri" pitchFamily="34" charset="-120"/>
              </a:rPr>
              <a:t>every</a:t>
            </a:r>
            <a:endParaRPr lang="en-US" sz="1100" dirty="0"/>
          </a:p>
        </p:txBody>
      </p:sp>
      <p:sp>
        <p:nvSpPr>
          <p:cNvPr id="18" name="Shape 15"/>
          <p:cNvSpPr/>
          <p:nvPr/>
        </p:nvSpPr>
        <p:spPr>
          <a:xfrm>
            <a:off x="2834640" y="1600200"/>
            <a:ext cx="1051560" cy="1325880"/>
          </a:xfrm>
          <a:prstGeom prst="roundRect">
            <a:avLst>
              <a:gd name="adj" fmla="val 8696"/>
            </a:avLst>
          </a:prstGeom>
          <a:solidFill>
            <a:srgbClr val="F1F5FB"/>
          </a:solidFill>
          <a:ln/>
        </p:spPr>
      </p:sp>
      <p:sp>
        <p:nvSpPr>
          <p:cNvPr id="19" name="Text 16"/>
          <p:cNvSpPr txBox="1"/>
          <p:nvPr/>
        </p:nvSpPr>
        <p:spPr>
          <a:xfrm>
            <a:off x="2834640" y="1691640"/>
            <a:ext cx="1051560" cy="457200"/>
          </a:xfrm>
          <a:prstGeom prst="rect">
            <a:avLst/>
          </a:prstGeom>
          <a:noFill/>
          <a:ln/>
        </p:spPr>
        <p:txBody>
          <a:bodyPr wrap="square" lIns="0" tIns="0" rIns="0" bIns="0" rtlCol="0" anchor="t"/>
          <a:lstStyle/>
          <a:p>
            <a:pPr algn="ctr" indent="0" marL="0">
              <a:buNone/>
            </a:pPr>
            <a:r>
              <a:rPr lang="en-US" sz="2000" b="1" dirty="0">
                <a:solidFill>
                  <a:srgbClr val="5B6EE1"/>
                </a:solidFill>
                <a:latin typeface="Courier New" pitchFamily="34" charset="0"/>
                <a:ea typeface="Courier New" pitchFamily="34" charset="-122"/>
                <a:cs typeface="Courier New" pitchFamily="34" charset="-120"/>
              </a:rPr>
              <a:t>*</a:t>
            </a:r>
            <a:endParaRPr lang="en-US" sz="2000" dirty="0"/>
          </a:p>
        </p:txBody>
      </p:sp>
      <p:sp>
        <p:nvSpPr>
          <p:cNvPr id="20" name="Text 17"/>
          <p:cNvSpPr txBox="1"/>
          <p:nvPr/>
        </p:nvSpPr>
        <p:spPr>
          <a:xfrm>
            <a:off x="2834640" y="2194560"/>
            <a:ext cx="1051560" cy="320040"/>
          </a:xfrm>
          <a:prstGeom prst="rect">
            <a:avLst/>
          </a:prstGeom>
          <a:noFill/>
          <a:ln/>
        </p:spPr>
        <p:txBody>
          <a:bodyPr wrap="square" lIns="0" tIns="0" rIns="0" bIns="0" rtlCol="0" anchor="t"/>
          <a:lstStyle/>
          <a:p>
            <a:pPr algn="ctr" indent="0" marL="0">
              <a:buNone/>
            </a:pPr>
            <a:r>
              <a:rPr lang="en-US" sz="1200" b="1" dirty="0">
                <a:solidFill>
                  <a:srgbClr val="12213A"/>
                </a:solidFill>
                <a:latin typeface="Calibri" pitchFamily="34" charset="0"/>
                <a:ea typeface="Calibri" pitchFamily="34" charset="-122"/>
                <a:cs typeface="Calibri" pitchFamily="34" charset="-120"/>
              </a:rPr>
              <a:t>day</a:t>
            </a:r>
            <a:endParaRPr lang="en-US" sz="1200" dirty="0"/>
          </a:p>
        </p:txBody>
      </p:sp>
      <p:sp>
        <p:nvSpPr>
          <p:cNvPr id="21" name="Text 18"/>
          <p:cNvSpPr txBox="1"/>
          <p:nvPr/>
        </p:nvSpPr>
        <p:spPr>
          <a:xfrm>
            <a:off x="2834640" y="2514600"/>
            <a:ext cx="1051560" cy="320040"/>
          </a:xfrm>
          <a:prstGeom prst="rect">
            <a:avLst/>
          </a:prstGeom>
          <a:noFill/>
          <a:ln/>
        </p:spPr>
        <p:txBody>
          <a:bodyPr wrap="square" lIns="0" tIns="0" rIns="0" bIns="0" rtlCol="0" anchor="t"/>
          <a:lstStyle/>
          <a:p>
            <a:pPr algn="ctr" indent="0" marL="0">
              <a:buNone/>
            </a:pPr>
            <a:r>
              <a:rPr lang="en-US" sz="1100" dirty="0">
                <a:solidFill>
                  <a:srgbClr val="56657E"/>
                </a:solidFill>
                <a:latin typeface="Calibri" pitchFamily="34" charset="0"/>
                <a:ea typeface="Calibri" pitchFamily="34" charset="-122"/>
                <a:cs typeface="Calibri" pitchFamily="34" charset="-120"/>
              </a:rPr>
              <a:t>every</a:t>
            </a:r>
            <a:endParaRPr lang="en-US" sz="1100" dirty="0"/>
          </a:p>
        </p:txBody>
      </p:sp>
      <p:sp>
        <p:nvSpPr>
          <p:cNvPr id="22" name="Shape 19"/>
          <p:cNvSpPr/>
          <p:nvPr/>
        </p:nvSpPr>
        <p:spPr>
          <a:xfrm>
            <a:off x="3977640" y="1600200"/>
            <a:ext cx="1051560" cy="1325880"/>
          </a:xfrm>
          <a:prstGeom prst="roundRect">
            <a:avLst>
              <a:gd name="adj" fmla="val 8696"/>
            </a:avLst>
          </a:prstGeom>
          <a:solidFill>
            <a:srgbClr val="F1F5FB"/>
          </a:solidFill>
          <a:ln/>
        </p:spPr>
      </p:sp>
      <p:sp>
        <p:nvSpPr>
          <p:cNvPr id="23" name="Text 20"/>
          <p:cNvSpPr txBox="1"/>
          <p:nvPr/>
        </p:nvSpPr>
        <p:spPr>
          <a:xfrm>
            <a:off x="3977640" y="1691640"/>
            <a:ext cx="1051560" cy="457200"/>
          </a:xfrm>
          <a:prstGeom prst="rect">
            <a:avLst/>
          </a:prstGeom>
          <a:noFill/>
          <a:ln/>
        </p:spPr>
        <p:txBody>
          <a:bodyPr wrap="square" lIns="0" tIns="0" rIns="0" bIns="0" rtlCol="0" anchor="t"/>
          <a:lstStyle/>
          <a:p>
            <a:pPr algn="ctr" indent="0" marL="0">
              <a:buNone/>
            </a:pPr>
            <a:r>
              <a:rPr lang="en-US" sz="2000" b="1" dirty="0">
                <a:solidFill>
                  <a:srgbClr val="5B6EE1"/>
                </a:solidFill>
                <a:latin typeface="Courier New" pitchFamily="34" charset="0"/>
                <a:ea typeface="Courier New" pitchFamily="34" charset="-122"/>
                <a:cs typeface="Courier New" pitchFamily="34" charset="-120"/>
              </a:rPr>
              <a:t>*</a:t>
            </a:r>
            <a:endParaRPr lang="en-US" sz="2000" dirty="0"/>
          </a:p>
        </p:txBody>
      </p:sp>
      <p:sp>
        <p:nvSpPr>
          <p:cNvPr id="24" name="Text 21"/>
          <p:cNvSpPr txBox="1"/>
          <p:nvPr/>
        </p:nvSpPr>
        <p:spPr>
          <a:xfrm>
            <a:off x="3977640" y="2194560"/>
            <a:ext cx="1051560" cy="320040"/>
          </a:xfrm>
          <a:prstGeom prst="rect">
            <a:avLst/>
          </a:prstGeom>
          <a:noFill/>
          <a:ln/>
        </p:spPr>
        <p:txBody>
          <a:bodyPr wrap="square" lIns="0" tIns="0" rIns="0" bIns="0" rtlCol="0" anchor="t"/>
          <a:lstStyle/>
          <a:p>
            <a:pPr algn="ctr" indent="0" marL="0">
              <a:buNone/>
            </a:pPr>
            <a:r>
              <a:rPr lang="en-US" sz="1200" b="1" dirty="0">
                <a:solidFill>
                  <a:srgbClr val="12213A"/>
                </a:solidFill>
                <a:latin typeface="Calibri" pitchFamily="34" charset="0"/>
                <a:ea typeface="Calibri" pitchFamily="34" charset="-122"/>
                <a:cs typeface="Calibri" pitchFamily="34" charset="-120"/>
              </a:rPr>
              <a:t>month</a:t>
            </a:r>
            <a:endParaRPr lang="en-US" sz="1200" dirty="0"/>
          </a:p>
        </p:txBody>
      </p:sp>
      <p:sp>
        <p:nvSpPr>
          <p:cNvPr id="25" name="Text 22"/>
          <p:cNvSpPr txBox="1"/>
          <p:nvPr/>
        </p:nvSpPr>
        <p:spPr>
          <a:xfrm>
            <a:off x="3977640" y="2514600"/>
            <a:ext cx="1051560" cy="320040"/>
          </a:xfrm>
          <a:prstGeom prst="rect">
            <a:avLst/>
          </a:prstGeom>
          <a:noFill/>
          <a:ln/>
        </p:spPr>
        <p:txBody>
          <a:bodyPr wrap="square" lIns="0" tIns="0" rIns="0" bIns="0" rtlCol="0" anchor="t"/>
          <a:lstStyle/>
          <a:p>
            <a:pPr algn="ctr" indent="0" marL="0">
              <a:buNone/>
            </a:pPr>
            <a:r>
              <a:rPr lang="en-US" sz="1100" dirty="0">
                <a:solidFill>
                  <a:srgbClr val="56657E"/>
                </a:solidFill>
                <a:latin typeface="Calibri" pitchFamily="34" charset="0"/>
                <a:ea typeface="Calibri" pitchFamily="34" charset="-122"/>
                <a:cs typeface="Calibri" pitchFamily="34" charset="-120"/>
              </a:rPr>
              <a:t>every</a:t>
            </a:r>
            <a:endParaRPr lang="en-US" sz="1100" dirty="0"/>
          </a:p>
        </p:txBody>
      </p:sp>
      <p:sp>
        <p:nvSpPr>
          <p:cNvPr id="26" name="Shape 23"/>
          <p:cNvSpPr/>
          <p:nvPr/>
        </p:nvSpPr>
        <p:spPr>
          <a:xfrm>
            <a:off x="5120640" y="1600200"/>
            <a:ext cx="1051560" cy="1325880"/>
          </a:xfrm>
          <a:prstGeom prst="roundRect">
            <a:avLst>
              <a:gd name="adj" fmla="val 8696"/>
            </a:avLst>
          </a:prstGeom>
          <a:solidFill>
            <a:srgbClr val="F1F5FB"/>
          </a:solidFill>
          <a:ln/>
        </p:spPr>
      </p:sp>
      <p:sp>
        <p:nvSpPr>
          <p:cNvPr id="27" name="Text 24"/>
          <p:cNvSpPr txBox="1"/>
          <p:nvPr/>
        </p:nvSpPr>
        <p:spPr>
          <a:xfrm>
            <a:off x="5120640" y="1691640"/>
            <a:ext cx="1051560" cy="457200"/>
          </a:xfrm>
          <a:prstGeom prst="rect">
            <a:avLst/>
          </a:prstGeom>
          <a:noFill/>
          <a:ln/>
        </p:spPr>
        <p:txBody>
          <a:bodyPr wrap="square" lIns="0" tIns="0" rIns="0" bIns="0" rtlCol="0" anchor="t"/>
          <a:lstStyle/>
          <a:p>
            <a:pPr algn="ctr" indent="0" marL="0">
              <a:buNone/>
            </a:pPr>
            <a:r>
              <a:rPr lang="en-US" sz="2000" b="1" dirty="0">
                <a:solidFill>
                  <a:srgbClr val="5B6EE1"/>
                </a:solidFill>
                <a:latin typeface="Courier New" pitchFamily="34" charset="0"/>
                <a:ea typeface="Courier New" pitchFamily="34" charset="-122"/>
                <a:cs typeface="Courier New" pitchFamily="34" charset="-120"/>
              </a:rPr>
              <a:t>*</a:t>
            </a:r>
            <a:endParaRPr lang="en-US" sz="2000" dirty="0"/>
          </a:p>
        </p:txBody>
      </p:sp>
      <p:sp>
        <p:nvSpPr>
          <p:cNvPr id="28" name="Text 25"/>
          <p:cNvSpPr txBox="1"/>
          <p:nvPr/>
        </p:nvSpPr>
        <p:spPr>
          <a:xfrm>
            <a:off x="5120640" y="2194560"/>
            <a:ext cx="1051560" cy="320040"/>
          </a:xfrm>
          <a:prstGeom prst="rect">
            <a:avLst/>
          </a:prstGeom>
          <a:noFill/>
          <a:ln/>
        </p:spPr>
        <p:txBody>
          <a:bodyPr wrap="square" lIns="0" tIns="0" rIns="0" bIns="0" rtlCol="0" anchor="t"/>
          <a:lstStyle/>
          <a:p>
            <a:pPr algn="ctr" indent="0" marL="0">
              <a:buNone/>
            </a:pPr>
            <a:r>
              <a:rPr lang="en-US" sz="1200" b="1" dirty="0">
                <a:solidFill>
                  <a:srgbClr val="12213A"/>
                </a:solidFill>
                <a:latin typeface="Calibri" pitchFamily="34" charset="0"/>
                <a:ea typeface="Calibri" pitchFamily="34" charset="-122"/>
                <a:cs typeface="Calibri" pitchFamily="34" charset="-120"/>
              </a:rPr>
              <a:t>weekday</a:t>
            </a:r>
            <a:endParaRPr lang="en-US" sz="1200" dirty="0"/>
          </a:p>
        </p:txBody>
      </p:sp>
      <p:sp>
        <p:nvSpPr>
          <p:cNvPr id="29" name="Text 26"/>
          <p:cNvSpPr txBox="1"/>
          <p:nvPr/>
        </p:nvSpPr>
        <p:spPr>
          <a:xfrm>
            <a:off x="5120640" y="2514600"/>
            <a:ext cx="1051560" cy="320040"/>
          </a:xfrm>
          <a:prstGeom prst="rect">
            <a:avLst/>
          </a:prstGeom>
          <a:noFill/>
          <a:ln/>
        </p:spPr>
        <p:txBody>
          <a:bodyPr wrap="square" lIns="0" tIns="0" rIns="0" bIns="0" rtlCol="0" anchor="t"/>
          <a:lstStyle/>
          <a:p>
            <a:pPr algn="ctr" indent="0" marL="0">
              <a:buNone/>
            </a:pPr>
            <a:r>
              <a:rPr lang="en-US" sz="1100" dirty="0">
                <a:solidFill>
                  <a:srgbClr val="56657E"/>
                </a:solidFill>
                <a:latin typeface="Calibri" pitchFamily="34" charset="0"/>
                <a:ea typeface="Calibri" pitchFamily="34" charset="-122"/>
                <a:cs typeface="Calibri" pitchFamily="34" charset="-120"/>
              </a:rPr>
              <a:t>every</a:t>
            </a:r>
            <a:endParaRPr lang="en-US" sz="1100" dirty="0"/>
          </a:p>
        </p:txBody>
      </p:sp>
      <p:sp>
        <p:nvSpPr>
          <p:cNvPr id="30" name="Shape 27"/>
          <p:cNvSpPr/>
          <p:nvPr/>
        </p:nvSpPr>
        <p:spPr>
          <a:xfrm>
            <a:off x="548640" y="3063240"/>
            <a:ext cx="5669280" cy="548640"/>
          </a:xfrm>
          <a:prstGeom prst="roundRect">
            <a:avLst>
              <a:gd name="adj" fmla="val 13333"/>
            </a:avLst>
          </a:prstGeom>
          <a:solidFill>
            <a:srgbClr val="0E1726"/>
          </a:solidFill>
          <a:ln/>
        </p:spPr>
      </p:sp>
      <p:sp>
        <p:nvSpPr>
          <p:cNvPr id="31" name="Text 28"/>
          <p:cNvSpPr txBox="1"/>
          <p:nvPr/>
        </p:nvSpPr>
        <p:spPr>
          <a:xfrm>
            <a:off x="731520" y="3063240"/>
            <a:ext cx="5394960" cy="548640"/>
          </a:xfrm>
          <a:prstGeom prst="rect">
            <a:avLst/>
          </a:prstGeom>
          <a:noFill/>
          <a:ln/>
        </p:spPr>
        <p:txBody>
          <a:bodyPr wrap="square" lIns="0" tIns="0" rIns="0" bIns="0" rtlCol="0" anchor="ctr"/>
          <a:lstStyle/>
          <a:p>
            <a:pPr indent="0" marL="0">
              <a:buNone/>
            </a:pPr>
            <a:r>
              <a:rPr lang="en-US" sz="1300" b="1" dirty="0">
                <a:solidFill>
                  <a:srgbClr val="F5A623"/>
                </a:solidFill>
                <a:latin typeface="Courier New" pitchFamily="34" charset="0"/>
                <a:ea typeface="Courier New" pitchFamily="34" charset="-122"/>
                <a:cs typeface="Courier New" pitchFamily="34" charset="-120"/>
              </a:rPr>
              <a:t>/home/player/.../.cache/.sys-update.sh</a:t>
            </a:r>
            <a:endParaRPr lang="en-US" sz="1300" dirty="0"/>
          </a:p>
        </p:txBody>
      </p:sp>
      <p:sp>
        <p:nvSpPr>
          <p:cNvPr id="32" name="Text 29"/>
          <p:cNvSpPr txBox="1"/>
          <p:nvPr/>
        </p:nvSpPr>
        <p:spPr>
          <a:xfrm>
            <a:off x="548640" y="3657600"/>
            <a:ext cx="5669280" cy="36576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...then the command it runs. A hidden folder? Suspicious.</a:t>
            </a:r>
            <a:endParaRPr lang="en-US" sz="1300" dirty="0"/>
          </a:p>
        </p:txBody>
      </p:sp>
      <p:sp>
        <p:nvSpPr>
          <p:cNvPr id="33" name="Shape 30"/>
          <p:cNvSpPr/>
          <p:nvPr/>
        </p:nvSpPr>
        <p:spPr>
          <a:xfrm>
            <a:off x="548640" y="4206240"/>
            <a:ext cx="2377440" cy="457200"/>
          </a:xfrm>
          <a:prstGeom prst="roundRect">
            <a:avLst>
              <a:gd name="adj" fmla="val 16000"/>
            </a:avLst>
          </a:prstGeom>
          <a:solidFill>
            <a:srgbClr val="0E1726"/>
          </a:solidFill>
          <a:ln/>
        </p:spPr>
      </p:sp>
      <p:sp>
        <p:nvSpPr>
          <p:cNvPr id="34" name="Text 31"/>
          <p:cNvSpPr txBox="1"/>
          <p:nvPr/>
        </p:nvSpPr>
        <p:spPr>
          <a:xfrm>
            <a:off x="548640" y="420624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cron/*</a:t>
            </a:r>
            <a:endParaRPr lang="en-US" sz="1500" dirty="0"/>
          </a:p>
        </p:txBody>
      </p:sp>
      <p:sp>
        <p:nvSpPr>
          <p:cNvPr id="35" name="Text 32"/>
          <p:cNvSpPr txBox="1"/>
          <p:nvPr/>
        </p:nvSpPr>
        <p:spPr>
          <a:xfrm>
            <a:off x="3154680" y="420624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read every crontab</a:t>
            </a:r>
            <a:endParaRPr lang="en-US" sz="1700" dirty="0"/>
          </a:p>
        </p:txBody>
      </p:sp>
      <p:sp>
        <p:nvSpPr>
          <p:cNvPr id="36" name="Shape 33"/>
          <p:cNvSpPr/>
          <p:nvPr/>
        </p:nvSpPr>
        <p:spPr>
          <a:xfrm>
            <a:off x="548640" y="4800600"/>
            <a:ext cx="2377440" cy="457200"/>
          </a:xfrm>
          <a:prstGeom prst="roundRect">
            <a:avLst>
              <a:gd name="adj" fmla="val 16000"/>
            </a:avLst>
          </a:prstGeom>
          <a:solidFill>
            <a:srgbClr val="0E1726"/>
          </a:solidFill>
          <a:ln/>
        </p:spPr>
      </p:sp>
      <p:sp>
        <p:nvSpPr>
          <p:cNvPr id="37" name="Text 34"/>
          <p:cNvSpPr txBox="1"/>
          <p:nvPr/>
        </p:nvSpPr>
        <p:spPr>
          <a:xfrm>
            <a:off x="548640" y="480060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ls -a DIR</a:t>
            </a:r>
            <a:endParaRPr lang="en-US" sz="1500" dirty="0"/>
          </a:p>
        </p:txBody>
      </p:sp>
      <p:sp>
        <p:nvSpPr>
          <p:cNvPr id="38" name="Text 35"/>
          <p:cNvSpPr txBox="1"/>
          <p:nvPr/>
        </p:nvSpPr>
        <p:spPr>
          <a:xfrm>
            <a:off x="3154680" y="480060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show hidden (dot) files</a:t>
            </a:r>
            <a:endParaRPr lang="en-US" sz="1700" dirty="0"/>
          </a:p>
        </p:txBody>
      </p:sp>
      <p:sp>
        <p:nvSpPr>
          <p:cNvPr id="39" name="Shape 36"/>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40" name="Shape 37"/>
          <p:cNvSpPr/>
          <p:nvPr/>
        </p:nvSpPr>
        <p:spPr>
          <a:xfrm>
            <a:off x="6784848" y="1618488"/>
            <a:ext cx="118872" cy="118872"/>
          </a:xfrm>
          <a:prstGeom prst="ellipse">
            <a:avLst/>
          </a:prstGeom>
          <a:solidFill>
            <a:srgbClr val="E5534B"/>
          </a:solidFill>
          <a:ln/>
        </p:spPr>
      </p:sp>
      <p:sp>
        <p:nvSpPr>
          <p:cNvPr id="41" name="Shape 38"/>
          <p:cNvSpPr/>
          <p:nvPr/>
        </p:nvSpPr>
        <p:spPr>
          <a:xfrm>
            <a:off x="6986016" y="1618488"/>
            <a:ext cx="118872" cy="118872"/>
          </a:xfrm>
          <a:prstGeom prst="ellipse">
            <a:avLst/>
          </a:prstGeom>
          <a:solidFill>
            <a:srgbClr val="F5A623"/>
          </a:solidFill>
          <a:ln/>
        </p:spPr>
      </p:sp>
      <p:sp>
        <p:nvSpPr>
          <p:cNvPr id="42" name="Shape 39"/>
          <p:cNvSpPr/>
          <p:nvPr/>
        </p:nvSpPr>
        <p:spPr>
          <a:xfrm>
            <a:off x="7187184" y="1618488"/>
            <a:ext cx="118872" cy="118872"/>
          </a:xfrm>
          <a:prstGeom prst="ellipse">
            <a:avLst/>
          </a:prstGeom>
          <a:solidFill>
            <a:srgbClr val="46D39A"/>
          </a:solidFill>
          <a:ln/>
        </p:spPr>
      </p:sp>
      <p:sp>
        <p:nvSpPr>
          <p:cNvPr id="43" name="Text 40"/>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44" name="Text 41"/>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cat cron/*</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0 2 * * * /usr/local/bin/backup.sh</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30 3 * * 0 /usr/sbin/logrotate</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*/10 * * * * .../.sys-update.sh</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15 12 * * * /home/noah/bin/sync</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which line doesn't belong?</a:t>
            </a:r>
            <a:endParaRPr lang="en-US" sz="1400" dirty="0"/>
          </a:p>
        </p:txBody>
      </p:sp>
      <p:sp>
        <p:nvSpPr>
          <p:cNvPr id="45" name="Text 42"/>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19 / 60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Reading a packet capture</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48690a | xxd -r -p</a:t>
            </a:r>
            <a:endParaRPr lang="en-US" sz="1300" dirty="0"/>
          </a:p>
        </p:txBody>
      </p:sp>
      <p:sp>
        <p:nvSpPr>
          <p:cNvPr id="8" name="Shape 5"/>
          <p:cNvSpPr/>
          <p:nvPr/>
        </p:nvSpPr>
        <p:spPr>
          <a:xfrm>
            <a:off x="548640" y="109728"/>
            <a:ext cx="1357884" cy="274320"/>
          </a:xfrm>
          <a:prstGeom prst="roundRect">
            <a:avLst>
              <a:gd name="adj" fmla="val 50000"/>
            </a:avLst>
          </a:prstGeom>
          <a:solidFill>
            <a:srgbClr val="5B6EE1"/>
          </a:solidFill>
          <a:ln/>
        </p:spPr>
      </p:sp>
      <p:sp>
        <p:nvSpPr>
          <p:cNvPr id="9" name="Text 6"/>
          <p:cNvSpPr txBox="1"/>
          <p:nvPr/>
        </p:nvSpPr>
        <p:spPr>
          <a:xfrm>
            <a:off x="548640" y="109728"/>
            <a:ext cx="135788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9</a:t>
            </a:r>
            <a:endParaRPr lang="en-US" sz="1100" dirty="0"/>
          </a:p>
        </p:txBody>
      </p:sp>
      <p:sp>
        <p:nvSpPr>
          <p:cNvPr id="10" name="Shape 7"/>
          <p:cNvSpPr/>
          <p:nvPr/>
        </p:nvSpPr>
        <p:spPr>
          <a:xfrm>
            <a:off x="548640" y="1508760"/>
            <a:ext cx="11094415" cy="1143000"/>
          </a:xfrm>
          <a:prstGeom prst="roundRect">
            <a:avLst>
              <a:gd name="adj" fmla="val 8000"/>
            </a:avLst>
          </a:prstGeom>
          <a:solidFill>
            <a:srgbClr val="0E1726"/>
          </a:solidFill>
          <a:ln/>
          <a:effectLst>
            <a:outerShdw sx="100000" sy="100000" kx="0" ky="0" algn="bl" rotWithShape="0" blurRad="127000" dist="38100" dir="5400000">
              <a:srgbClr val="12213A">
                <a:alpha val="22000"/>
              </a:srgbClr>
            </a:outerShdw>
          </a:effectLst>
        </p:spPr>
      </p:sp>
      <p:sp>
        <p:nvSpPr>
          <p:cNvPr id="11" name="Shape 8"/>
          <p:cNvSpPr/>
          <p:nvPr/>
        </p:nvSpPr>
        <p:spPr>
          <a:xfrm>
            <a:off x="749808" y="1664208"/>
            <a:ext cx="118872" cy="118872"/>
          </a:xfrm>
          <a:prstGeom prst="ellipse">
            <a:avLst/>
          </a:prstGeom>
          <a:solidFill>
            <a:srgbClr val="E5534B"/>
          </a:solidFill>
          <a:ln/>
        </p:spPr>
      </p:sp>
      <p:sp>
        <p:nvSpPr>
          <p:cNvPr id="12" name="Shape 9"/>
          <p:cNvSpPr/>
          <p:nvPr/>
        </p:nvSpPr>
        <p:spPr>
          <a:xfrm>
            <a:off x="950976" y="1664208"/>
            <a:ext cx="118872" cy="118872"/>
          </a:xfrm>
          <a:prstGeom prst="ellipse">
            <a:avLst/>
          </a:prstGeom>
          <a:solidFill>
            <a:srgbClr val="F5A623"/>
          </a:solidFill>
          <a:ln/>
        </p:spPr>
      </p:sp>
      <p:sp>
        <p:nvSpPr>
          <p:cNvPr id="13" name="Shape 10"/>
          <p:cNvSpPr/>
          <p:nvPr/>
        </p:nvSpPr>
        <p:spPr>
          <a:xfrm>
            <a:off x="1152144" y="1664208"/>
            <a:ext cx="118872" cy="118872"/>
          </a:xfrm>
          <a:prstGeom prst="ellipse">
            <a:avLst/>
          </a:prstGeom>
          <a:solidFill>
            <a:srgbClr val="46D39A"/>
          </a:solidFill>
          <a:ln/>
        </p:spPr>
      </p:sp>
      <p:sp>
        <p:nvSpPr>
          <p:cNvPr id="14" name="Text 11"/>
          <p:cNvSpPr txBox="1"/>
          <p:nvPr/>
        </p:nvSpPr>
        <p:spPr>
          <a:xfrm>
            <a:off x="1463040" y="1581912"/>
            <a:ext cx="9265615"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capture.txt (Wireshark list view)</a:t>
            </a:r>
            <a:endParaRPr lang="en-US" sz="1000" dirty="0"/>
          </a:p>
        </p:txBody>
      </p:sp>
      <p:sp>
        <p:nvSpPr>
          <p:cNvPr id="15" name="Text 12"/>
          <p:cNvSpPr txBox="1"/>
          <p:nvPr/>
        </p:nvSpPr>
        <p:spPr>
          <a:xfrm>
            <a:off x="822960" y="1965960"/>
            <a:ext cx="10545775" cy="548640"/>
          </a:xfrm>
          <a:prstGeom prst="rect">
            <a:avLst/>
          </a:prstGeom>
          <a:noFill/>
          <a:ln/>
        </p:spPr>
        <p:txBody>
          <a:bodyPr wrap="square" lIns="0" tIns="0" rIns="0" bIns="0" rtlCol="0" anchor="t"/>
          <a:lstStyle/>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   91 221.089240 203.0.113.66  192.0.2.80  HTTP  412 GET /pixel.gif?seq=03&amp;d=6c65642e HTTP/1.1</a:t>
            </a:r>
            <a:endParaRPr lang="en-US" sz="1300" dirty="0"/>
          </a:p>
          <a:p>
            <a:pPr indent="0" marL="0">
              <a:spcAft>
                <a:spcPts val="200"/>
              </a:spcAft>
              <a:buNone/>
            </a:pPr>
            <a:r>
              <a:rPr lang="en-US" sz="1300" dirty="0">
                <a:solidFill>
                  <a:srgbClr val="7F8FAD"/>
                </a:solidFill>
                <a:latin typeface="Courier New" pitchFamily="34" charset="0"/>
                <a:ea typeface="Courier New" pitchFamily="34" charset="-122"/>
                <a:cs typeface="Courier New" pitchFamily="34" charset="-120"/>
              </a:rPr>
              <a:t>#  No.  time      source        destination protocol  info: the request and its ?parameters</a:t>
            </a:r>
            <a:endParaRPr lang="en-US" sz="1300" dirty="0"/>
          </a:p>
        </p:txBody>
      </p:sp>
      <p:sp>
        <p:nvSpPr>
          <p:cNvPr id="16" name="Shape 13"/>
          <p:cNvSpPr/>
          <p:nvPr/>
        </p:nvSpPr>
        <p:spPr>
          <a:xfrm>
            <a:off x="548640" y="2880360"/>
            <a:ext cx="3566160" cy="1325880"/>
          </a:xfrm>
          <a:prstGeom prst="roundRect">
            <a:avLst>
              <a:gd name="adj" fmla="val 6897"/>
            </a:avLst>
          </a:prstGeom>
          <a:solidFill>
            <a:srgbClr val="F1F5FB"/>
          </a:solidFill>
          <a:ln/>
        </p:spPr>
      </p:sp>
      <p:sp>
        <p:nvSpPr>
          <p:cNvPr id="17" name="Shape 14"/>
          <p:cNvSpPr/>
          <p:nvPr/>
        </p:nvSpPr>
        <p:spPr>
          <a:xfrm>
            <a:off x="731520" y="3063240"/>
            <a:ext cx="411480" cy="411480"/>
          </a:xfrm>
          <a:prstGeom prst="ellipse">
            <a:avLst/>
          </a:prstGeom>
          <a:solidFill>
            <a:srgbClr val="2459D8"/>
          </a:solidFill>
          <a:ln/>
        </p:spPr>
      </p:sp>
      <p:sp>
        <p:nvSpPr>
          <p:cNvPr id="18" name="Text 15"/>
          <p:cNvSpPr txBox="1"/>
          <p:nvPr/>
        </p:nvSpPr>
        <p:spPr>
          <a:xfrm>
            <a:off x="731520" y="30632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9" name="Text 16"/>
          <p:cNvSpPr txBox="1"/>
          <p:nvPr/>
        </p:nvSpPr>
        <p:spPr>
          <a:xfrm>
            <a:off x="1325880" y="3017520"/>
            <a:ext cx="2697480" cy="457200"/>
          </a:xfrm>
          <a:prstGeom prst="rect">
            <a:avLst/>
          </a:prstGeom>
          <a:noFill/>
          <a:ln/>
        </p:spPr>
        <p:txBody>
          <a:bodyPr wrap="square" lIns="0" tIns="0" rIns="0" bIns="0" rtlCol="0" anchor="ctr"/>
          <a:lstStyle/>
          <a:p>
            <a:pPr indent="0" marL="0">
              <a:buNone/>
            </a:pPr>
            <a:r>
              <a:rPr lang="en-US" sz="1500" b="1" dirty="0">
                <a:solidFill>
                  <a:srgbClr val="12213A"/>
                </a:solidFill>
                <a:latin typeface="Courier New" pitchFamily="34" charset="0"/>
                <a:ea typeface="Courier New" pitchFamily="34" charset="-122"/>
                <a:cs typeface="Courier New" pitchFamily="34" charset="-120"/>
              </a:rPr>
              <a:t>grep seq=</a:t>
            </a:r>
            <a:endParaRPr lang="en-US" sz="1500" dirty="0"/>
          </a:p>
        </p:txBody>
      </p:sp>
      <p:sp>
        <p:nvSpPr>
          <p:cNvPr id="20" name="Text 17"/>
          <p:cNvSpPr txBox="1"/>
          <p:nvPr/>
        </p:nvSpPr>
        <p:spPr>
          <a:xfrm>
            <a:off x="1325880" y="3520440"/>
            <a:ext cx="2697480" cy="45720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that host's packets</a:t>
            </a:r>
            <a:endParaRPr lang="en-US" sz="1400" dirty="0"/>
          </a:p>
        </p:txBody>
      </p:sp>
      <p:sp>
        <p:nvSpPr>
          <p:cNvPr id="21" name="Shape 18"/>
          <p:cNvSpPr/>
          <p:nvPr/>
        </p:nvSpPr>
        <p:spPr>
          <a:xfrm>
            <a:off x="4306824" y="2880360"/>
            <a:ext cx="3566160" cy="1325880"/>
          </a:xfrm>
          <a:prstGeom prst="roundRect">
            <a:avLst>
              <a:gd name="adj" fmla="val 6897"/>
            </a:avLst>
          </a:prstGeom>
          <a:solidFill>
            <a:srgbClr val="F1F5FB"/>
          </a:solidFill>
          <a:ln/>
        </p:spPr>
      </p:sp>
      <p:sp>
        <p:nvSpPr>
          <p:cNvPr id="22" name="Shape 19"/>
          <p:cNvSpPr/>
          <p:nvPr/>
        </p:nvSpPr>
        <p:spPr>
          <a:xfrm>
            <a:off x="4489704" y="3063240"/>
            <a:ext cx="411480" cy="411480"/>
          </a:xfrm>
          <a:prstGeom prst="ellipse">
            <a:avLst/>
          </a:prstGeom>
          <a:solidFill>
            <a:srgbClr val="7448D4"/>
          </a:solidFill>
          <a:ln/>
        </p:spPr>
      </p:sp>
      <p:sp>
        <p:nvSpPr>
          <p:cNvPr id="23" name="Text 20"/>
          <p:cNvSpPr txBox="1"/>
          <p:nvPr/>
        </p:nvSpPr>
        <p:spPr>
          <a:xfrm>
            <a:off x="4489704" y="30632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4" name="Text 21"/>
          <p:cNvSpPr txBox="1"/>
          <p:nvPr/>
        </p:nvSpPr>
        <p:spPr>
          <a:xfrm>
            <a:off x="5084064" y="3017520"/>
            <a:ext cx="2697480" cy="457200"/>
          </a:xfrm>
          <a:prstGeom prst="rect">
            <a:avLst/>
          </a:prstGeom>
          <a:noFill/>
          <a:ln/>
        </p:spPr>
        <p:txBody>
          <a:bodyPr wrap="square" lIns="0" tIns="0" rIns="0" bIns="0" rtlCol="0" anchor="ctr"/>
          <a:lstStyle/>
          <a:p>
            <a:pPr indent="0" marL="0">
              <a:buNone/>
            </a:pPr>
            <a:r>
              <a:rPr lang="en-US" sz="1500" b="1" dirty="0">
                <a:solidFill>
                  <a:srgbClr val="12213A"/>
                </a:solidFill>
                <a:latin typeface="Courier New" pitchFamily="34" charset="0"/>
                <a:ea typeface="Courier New" pitchFamily="34" charset="-122"/>
                <a:cs typeface="Courier New" pitchFamily="34" charset="-120"/>
              </a:rPr>
              <a:t>cut ... -f2</a:t>
            </a:r>
            <a:endParaRPr lang="en-US" sz="1500" dirty="0"/>
          </a:p>
        </p:txBody>
      </p:sp>
      <p:sp>
        <p:nvSpPr>
          <p:cNvPr id="25" name="Text 22"/>
          <p:cNvSpPr txBox="1"/>
          <p:nvPr/>
        </p:nvSpPr>
        <p:spPr>
          <a:xfrm>
            <a:off x="5084064" y="3520440"/>
            <a:ext cx="2697480" cy="45720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keep the ? part</a:t>
            </a:r>
            <a:endParaRPr lang="en-US" sz="1400" dirty="0"/>
          </a:p>
        </p:txBody>
      </p:sp>
      <p:sp>
        <p:nvSpPr>
          <p:cNvPr id="26" name="Shape 23"/>
          <p:cNvSpPr/>
          <p:nvPr/>
        </p:nvSpPr>
        <p:spPr>
          <a:xfrm>
            <a:off x="8065008" y="2880360"/>
            <a:ext cx="3566160" cy="1325880"/>
          </a:xfrm>
          <a:prstGeom prst="roundRect">
            <a:avLst>
              <a:gd name="adj" fmla="val 6897"/>
            </a:avLst>
          </a:prstGeom>
          <a:solidFill>
            <a:srgbClr val="F1F5FB"/>
          </a:solidFill>
          <a:ln/>
        </p:spPr>
      </p:sp>
      <p:sp>
        <p:nvSpPr>
          <p:cNvPr id="27" name="Shape 24"/>
          <p:cNvSpPr/>
          <p:nvPr/>
        </p:nvSpPr>
        <p:spPr>
          <a:xfrm>
            <a:off x="8247888" y="3063240"/>
            <a:ext cx="411480" cy="411480"/>
          </a:xfrm>
          <a:prstGeom prst="ellipse">
            <a:avLst/>
          </a:prstGeom>
          <a:solidFill>
            <a:srgbClr val="D1416B"/>
          </a:solidFill>
          <a:ln/>
        </p:spPr>
      </p:sp>
      <p:sp>
        <p:nvSpPr>
          <p:cNvPr id="28" name="Text 25"/>
          <p:cNvSpPr txBox="1"/>
          <p:nvPr/>
        </p:nvSpPr>
        <p:spPr>
          <a:xfrm>
            <a:off x="8247888" y="30632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8842248" y="3017520"/>
            <a:ext cx="2697480" cy="457200"/>
          </a:xfrm>
          <a:prstGeom prst="rect">
            <a:avLst/>
          </a:prstGeom>
          <a:noFill/>
          <a:ln/>
        </p:spPr>
        <p:txBody>
          <a:bodyPr wrap="square" lIns="0" tIns="0" rIns="0" bIns="0" rtlCol="0" anchor="ctr"/>
          <a:lstStyle/>
          <a:p>
            <a:pPr indent="0" marL="0">
              <a:buNone/>
            </a:pPr>
            <a:r>
              <a:rPr lang="en-US" sz="1500" b="1" dirty="0">
                <a:solidFill>
                  <a:srgbClr val="12213A"/>
                </a:solidFill>
                <a:latin typeface="Courier New" pitchFamily="34" charset="0"/>
                <a:ea typeface="Courier New" pitchFamily="34" charset="-122"/>
                <a:cs typeface="Courier New" pitchFamily="34" charset="-120"/>
              </a:rPr>
              <a:t>sort</a:t>
            </a:r>
            <a:endParaRPr lang="en-US" sz="1500" dirty="0"/>
          </a:p>
        </p:txBody>
      </p:sp>
      <p:sp>
        <p:nvSpPr>
          <p:cNvPr id="30" name="Text 27"/>
          <p:cNvSpPr txBox="1"/>
          <p:nvPr/>
        </p:nvSpPr>
        <p:spPr>
          <a:xfrm>
            <a:off x="8842248" y="3520440"/>
            <a:ext cx="2697480" cy="45720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pieces in order</a:t>
            </a:r>
            <a:endParaRPr lang="en-US" sz="1400" dirty="0"/>
          </a:p>
        </p:txBody>
      </p:sp>
      <p:sp>
        <p:nvSpPr>
          <p:cNvPr id="31" name="Shape 28"/>
          <p:cNvSpPr/>
          <p:nvPr/>
        </p:nvSpPr>
        <p:spPr>
          <a:xfrm>
            <a:off x="548640" y="4389120"/>
            <a:ext cx="3566160" cy="1325880"/>
          </a:xfrm>
          <a:prstGeom prst="roundRect">
            <a:avLst>
              <a:gd name="adj" fmla="val 6897"/>
            </a:avLst>
          </a:prstGeom>
          <a:solidFill>
            <a:srgbClr val="F1F5FB"/>
          </a:solidFill>
          <a:ln/>
        </p:spPr>
      </p:sp>
      <p:sp>
        <p:nvSpPr>
          <p:cNvPr id="32" name="Shape 29"/>
          <p:cNvSpPr/>
          <p:nvPr/>
        </p:nvSpPr>
        <p:spPr>
          <a:xfrm>
            <a:off x="731520" y="4572000"/>
            <a:ext cx="411480" cy="411480"/>
          </a:xfrm>
          <a:prstGeom prst="ellipse">
            <a:avLst/>
          </a:prstGeom>
          <a:solidFill>
            <a:srgbClr val="E8820C"/>
          </a:solidFill>
          <a:ln/>
        </p:spPr>
      </p:sp>
      <p:sp>
        <p:nvSpPr>
          <p:cNvPr id="33" name="Text 30"/>
          <p:cNvSpPr txBox="1"/>
          <p:nvPr/>
        </p:nvSpPr>
        <p:spPr>
          <a:xfrm>
            <a:off x="731520" y="4572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4" name="Text 31"/>
          <p:cNvSpPr txBox="1"/>
          <p:nvPr/>
        </p:nvSpPr>
        <p:spPr>
          <a:xfrm>
            <a:off x="1325880" y="4526280"/>
            <a:ext cx="2697480" cy="457200"/>
          </a:xfrm>
          <a:prstGeom prst="rect">
            <a:avLst/>
          </a:prstGeom>
          <a:noFill/>
          <a:ln/>
        </p:spPr>
        <p:txBody>
          <a:bodyPr wrap="square" lIns="0" tIns="0" rIns="0" bIns="0" rtlCol="0" anchor="ctr"/>
          <a:lstStyle/>
          <a:p>
            <a:pPr indent="0" marL="0">
              <a:buNone/>
            </a:pPr>
            <a:r>
              <a:rPr lang="en-US" sz="1500" b="1" dirty="0">
                <a:solidFill>
                  <a:srgbClr val="12213A"/>
                </a:solidFill>
                <a:latin typeface="Courier New" pitchFamily="34" charset="0"/>
                <a:ea typeface="Courier New" pitchFamily="34" charset="-122"/>
                <a:cs typeface="Courier New" pitchFamily="34" charset="-120"/>
              </a:rPr>
              <a:t>cut -d'=' -f3</a:t>
            </a:r>
            <a:endParaRPr lang="en-US" sz="1500" dirty="0"/>
          </a:p>
        </p:txBody>
      </p:sp>
      <p:sp>
        <p:nvSpPr>
          <p:cNvPr id="35" name="Text 32"/>
          <p:cNvSpPr txBox="1"/>
          <p:nvPr/>
        </p:nvSpPr>
        <p:spPr>
          <a:xfrm>
            <a:off x="1325880" y="5029200"/>
            <a:ext cx="2697480" cy="45720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just the hex</a:t>
            </a:r>
            <a:endParaRPr lang="en-US" sz="1400" dirty="0"/>
          </a:p>
        </p:txBody>
      </p:sp>
      <p:sp>
        <p:nvSpPr>
          <p:cNvPr id="36" name="Shape 33"/>
          <p:cNvSpPr/>
          <p:nvPr/>
        </p:nvSpPr>
        <p:spPr>
          <a:xfrm>
            <a:off x="4306824" y="4389120"/>
            <a:ext cx="3566160" cy="1325880"/>
          </a:xfrm>
          <a:prstGeom prst="roundRect">
            <a:avLst>
              <a:gd name="adj" fmla="val 6897"/>
            </a:avLst>
          </a:prstGeom>
          <a:solidFill>
            <a:srgbClr val="F1F5FB"/>
          </a:solidFill>
          <a:ln/>
        </p:spPr>
      </p:sp>
      <p:sp>
        <p:nvSpPr>
          <p:cNvPr id="37" name="Shape 34"/>
          <p:cNvSpPr/>
          <p:nvPr/>
        </p:nvSpPr>
        <p:spPr>
          <a:xfrm>
            <a:off x="4489704" y="4572000"/>
            <a:ext cx="411480" cy="411480"/>
          </a:xfrm>
          <a:prstGeom prst="ellipse">
            <a:avLst/>
          </a:prstGeom>
          <a:solidFill>
            <a:srgbClr val="C9A227"/>
          </a:solidFill>
          <a:ln/>
        </p:spPr>
      </p:sp>
      <p:sp>
        <p:nvSpPr>
          <p:cNvPr id="38" name="Text 35"/>
          <p:cNvSpPr txBox="1"/>
          <p:nvPr/>
        </p:nvSpPr>
        <p:spPr>
          <a:xfrm>
            <a:off x="4489704" y="4572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9" name="Text 36"/>
          <p:cNvSpPr txBox="1"/>
          <p:nvPr/>
        </p:nvSpPr>
        <p:spPr>
          <a:xfrm>
            <a:off x="5084064" y="4526280"/>
            <a:ext cx="2697480" cy="457200"/>
          </a:xfrm>
          <a:prstGeom prst="rect">
            <a:avLst/>
          </a:prstGeom>
          <a:noFill/>
          <a:ln/>
        </p:spPr>
        <p:txBody>
          <a:bodyPr wrap="square" lIns="0" tIns="0" rIns="0" bIns="0" rtlCol="0" anchor="ctr"/>
          <a:lstStyle/>
          <a:p>
            <a:pPr indent="0" marL="0">
              <a:buNone/>
            </a:pPr>
            <a:r>
              <a:rPr lang="en-US" sz="1500" b="1" dirty="0">
                <a:solidFill>
                  <a:srgbClr val="12213A"/>
                </a:solidFill>
                <a:latin typeface="Courier New" pitchFamily="34" charset="0"/>
                <a:ea typeface="Courier New" pitchFamily="34" charset="-122"/>
                <a:cs typeface="Courier New" pitchFamily="34" charset="-120"/>
              </a:rPr>
              <a:t>tr -d '\n'</a:t>
            </a:r>
            <a:endParaRPr lang="en-US" sz="1500" dirty="0"/>
          </a:p>
        </p:txBody>
      </p:sp>
      <p:sp>
        <p:nvSpPr>
          <p:cNvPr id="40" name="Text 37"/>
          <p:cNvSpPr txBox="1"/>
          <p:nvPr/>
        </p:nvSpPr>
        <p:spPr>
          <a:xfrm>
            <a:off x="5084064" y="5029200"/>
            <a:ext cx="2697480" cy="45720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join the lines</a:t>
            </a:r>
            <a:endParaRPr lang="en-US" sz="1400" dirty="0"/>
          </a:p>
        </p:txBody>
      </p:sp>
      <p:sp>
        <p:nvSpPr>
          <p:cNvPr id="41" name="Shape 38"/>
          <p:cNvSpPr/>
          <p:nvPr/>
        </p:nvSpPr>
        <p:spPr>
          <a:xfrm>
            <a:off x="8065008" y="4389120"/>
            <a:ext cx="3566160" cy="1325880"/>
          </a:xfrm>
          <a:prstGeom prst="roundRect">
            <a:avLst>
              <a:gd name="adj" fmla="val 6897"/>
            </a:avLst>
          </a:prstGeom>
          <a:solidFill>
            <a:srgbClr val="F1F5FB"/>
          </a:solidFill>
          <a:ln/>
        </p:spPr>
      </p:sp>
      <p:sp>
        <p:nvSpPr>
          <p:cNvPr id="42" name="Shape 39"/>
          <p:cNvSpPr/>
          <p:nvPr/>
        </p:nvSpPr>
        <p:spPr>
          <a:xfrm>
            <a:off x="8247888" y="4572000"/>
            <a:ext cx="411480" cy="411480"/>
          </a:xfrm>
          <a:prstGeom prst="ellipse">
            <a:avLst/>
          </a:prstGeom>
          <a:solidFill>
            <a:srgbClr val="0F9488"/>
          </a:solidFill>
          <a:ln/>
        </p:spPr>
      </p:sp>
      <p:sp>
        <p:nvSpPr>
          <p:cNvPr id="43" name="Text 40"/>
          <p:cNvSpPr txBox="1"/>
          <p:nvPr/>
        </p:nvSpPr>
        <p:spPr>
          <a:xfrm>
            <a:off x="8247888" y="4572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44" name="Text 41"/>
          <p:cNvSpPr txBox="1"/>
          <p:nvPr/>
        </p:nvSpPr>
        <p:spPr>
          <a:xfrm>
            <a:off x="8842248" y="4526280"/>
            <a:ext cx="2697480" cy="457200"/>
          </a:xfrm>
          <a:prstGeom prst="rect">
            <a:avLst/>
          </a:prstGeom>
          <a:noFill/>
          <a:ln/>
        </p:spPr>
        <p:txBody>
          <a:bodyPr wrap="square" lIns="0" tIns="0" rIns="0" bIns="0" rtlCol="0" anchor="ctr"/>
          <a:lstStyle/>
          <a:p>
            <a:pPr indent="0" marL="0">
              <a:buNone/>
            </a:pPr>
            <a:r>
              <a:rPr lang="en-US" sz="1500" b="1" dirty="0">
                <a:solidFill>
                  <a:srgbClr val="12213A"/>
                </a:solidFill>
                <a:latin typeface="Courier New" pitchFamily="34" charset="0"/>
                <a:ea typeface="Courier New" pitchFamily="34" charset="-122"/>
                <a:cs typeface="Courier New" pitchFamily="34" charset="-120"/>
              </a:rPr>
              <a:t>xxd -r -p</a:t>
            </a:r>
            <a:endParaRPr lang="en-US" sz="1500" dirty="0"/>
          </a:p>
        </p:txBody>
      </p:sp>
      <p:sp>
        <p:nvSpPr>
          <p:cNvPr id="45" name="Text 42"/>
          <p:cNvSpPr txBox="1"/>
          <p:nvPr/>
        </p:nvSpPr>
        <p:spPr>
          <a:xfrm>
            <a:off x="8842248" y="5029200"/>
            <a:ext cx="2697480" cy="45720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hex to text</a:t>
            </a:r>
            <a:endParaRPr lang="en-US" sz="1400" dirty="0"/>
          </a:p>
        </p:txBody>
      </p:sp>
      <p:sp>
        <p:nvSpPr>
          <p:cNvPr id="46" name="Text 4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20 / 60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When you are stuck</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filetype --help</a:t>
            </a:r>
            <a:endParaRPr lang="en-US" sz="1300" dirty="0"/>
          </a:p>
        </p:txBody>
      </p:sp>
      <p:sp>
        <p:nvSpPr>
          <p:cNvPr id="8" name="Shape 5"/>
          <p:cNvSpPr/>
          <p:nvPr/>
        </p:nvSpPr>
        <p:spPr>
          <a:xfrm>
            <a:off x="548640" y="1645920"/>
            <a:ext cx="457200" cy="457200"/>
          </a:xfrm>
          <a:prstGeom prst="ellipse">
            <a:avLst/>
          </a:prstGeom>
          <a:solidFill>
            <a:srgbClr val="2459D8"/>
          </a:solidFill>
          <a:ln/>
        </p:spPr>
      </p:sp>
      <p:sp>
        <p:nvSpPr>
          <p:cNvPr id="9" name="Text 6"/>
          <p:cNvSpPr txBox="1"/>
          <p:nvPr/>
        </p:nvSpPr>
        <p:spPr>
          <a:xfrm>
            <a:off x="548640"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188720" y="161848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Read --help. </a:t>
            </a:r>
            <a:pPr indent="0" marL="0">
              <a:buNone/>
            </a:pPr>
            <a:r>
              <a:rPr lang="en-US" sz="1700" dirty="0">
                <a:solidFill>
                  <a:srgbClr val="12213A"/>
                </a:solidFill>
                <a:latin typeface="Calibri" pitchFamily="34" charset="0"/>
                <a:ea typeface="Calibri" pitchFamily="34" charset="-122"/>
                <a:cs typeface="Calibri" pitchFamily="34" charset="-120"/>
              </a:rPr>
              <a:t>Free. Every tool explains itself, even filetype.</a:t>
            </a:r>
            <a:endParaRPr lang="en-US" sz="1700" dirty="0"/>
          </a:p>
        </p:txBody>
      </p:sp>
      <p:sp>
        <p:nvSpPr>
          <p:cNvPr id="11" name="Shape 8"/>
          <p:cNvSpPr/>
          <p:nvPr/>
        </p:nvSpPr>
        <p:spPr>
          <a:xfrm>
            <a:off x="548640" y="2606040"/>
            <a:ext cx="457200" cy="457200"/>
          </a:xfrm>
          <a:prstGeom prst="ellipse">
            <a:avLst/>
          </a:prstGeom>
          <a:solidFill>
            <a:srgbClr val="2459D8"/>
          </a:solidFill>
          <a:ln/>
        </p:spPr>
      </p:sp>
      <p:sp>
        <p:nvSpPr>
          <p:cNvPr id="12" name="Text 9"/>
          <p:cNvSpPr txBox="1"/>
          <p:nvPr/>
        </p:nvSpPr>
        <p:spPr>
          <a:xfrm>
            <a:off x="548640" y="2606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1188720" y="257860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Ask the three questions. </a:t>
            </a:r>
            <a:pPr indent="0" marL="0">
              <a:buNone/>
            </a:pPr>
            <a:r>
              <a:rPr lang="en-US" sz="1700" dirty="0">
                <a:solidFill>
                  <a:srgbClr val="12213A"/>
                </a:solidFill>
                <a:latin typeface="Calibri" pitchFamily="34" charset="0"/>
                <a:ea typeface="Calibri" pitchFamily="34" charset="-122"/>
                <a:cs typeface="Calibri" pitchFamily="34" charset="-120"/>
              </a:rPr>
              <a:t>When? What is it really? Has it changed?</a:t>
            </a:r>
            <a:endParaRPr lang="en-US" sz="1700" dirty="0"/>
          </a:p>
        </p:txBody>
      </p:sp>
      <p:sp>
        <p:nvSpPr>
          <p:cNvPr id="14" name="Shape 11"/>
          <p:cNvSpPr/>
          <p:nvPr/>
        </p:nvSpPr>
        <p:spPr>
          <a:xfrm>
            <a:off x="548640" y="3566160"/>
            <a:ext cx="457200" cy="457200"/>
          </a:xfrm>
          <a:prstGeom prst="ellipse">
            <a:avLst/>
          </a:prstGeom>
          <a:solidFill>
            <a:srgbClr val="2459D8"/>
          </a:solidFill>
          <a:ln/>
        </p:spPr>
      </p:sp>
      <p:sp>
        <p:nvSpPr>
          <p:cNvPr id="15" name="Text 12"/>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3"/>
          <p:cNvSpPr txBox="1"/>
          <p:nvPr/>
        </p:nvSpPr>
        <p:spPr>
          <a:xfrm>
            <a:off x="1188720" y="353872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Build one step at a time. </a:t>
            </a:r>
            <a:pPr indent="0" marL="0">
              <a:buNone/>
            </a:pPr>
            <a:r>
              <a:rPr lang="en-US" sz="1700" dirty="0">
                <a:solidFill>
                  <a:srgbClr val="12213A"/>
                </a:solidFill>
                <a:latin typeface="Calibri" pitchFamily="34" charset="0"/>
                <a:ea typeface="Calibri" pitchFamily="34" charset="-122"/>
                <a:cs typeface="Calibri" pitchFamily="34" charset="-120"/>
              </a:rPr>
              <a:t>Look at the output before adding the next pipe.</a:t>
            </a:r>
            <a:endParaRPr lang="en-US" sz="1700" dirty="0"/>
          </a:p>
        </p:txBody>
      </p:sp>
      <p:sp>
        <p:nvSpPr>
          <p:cNvPr id="17" name="Shape 14"/>
          <p:cNvSpPr/>
          <p:nvPr/>
        </p:nvSpPr>
        <p:spPr>
          <a:xfrm>
            <a:off x="548640" y="4526280"/>
            <a:ext cx="457200" cy="457200"/>
          </a:xfrm>
          <a:prstGeom prst="ellipse">
            <a:avLst/>
          </a:prstGeom>
          <a:solidFill>
            <a:srgbClr val="2459D8"/>
          </a:solidFill>
          <a:ln/>
        </p:spPr>
      </p:sp>
      <p:sp>
        <p:nvSpPr>
          <p:cNvPr id="18" name="Text 15"/>
          <p:cNvSpPr txBox="1"/>
          <p:nvPr/>
        </p:nvSpPr>
        <p:spPr>
          <a:xfrm>
            <a:off x="548640" y="45262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1188720" y="449884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Buy a hint. </a:t>
            </a:r>
            <a:pPr indent="0" marL="0">
              <a:buNone/>
            </a:pPr>
            <a:r>
              <a:rPr lang="en-US" sz="1700" dirty="0">
                <a:solidFill>
                  <a:srgbClr val="12213A"/>
                </a:solidFill>
                <a:latin typeface="Calibri" pitchFamily="34" charset="0"/>
                <a:ea typeface="Calibri" pitchFamily="34" charset="-122"/>
                <a:cs typeface="Calibri" pitchFamily="34" charset="-120"/>
              </a:rPr>
              <a:t>hint N shows the price. 5% of the mission, charged once.</a:t>
            </a:r>
            <a:endParaRPr lang="en-US" sz="1700" dirty="0"/>
          </a:p>
        </p:txBody>
      </p:sp>
      <p:sp>
        <p:nvSpPr>
          <p:cNvPr id="20" name="Shape 17"/>
          <p:cNvSpPr/>
          <p:nvPr/>
        </p:nvSpPr>
        <p:spPr>
          <a:xfrm>
            <a:off x="6492240" y="1463040"/>
            <a:ext cx="514807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21" name="Shape 18"/>
          <p:cNvSpPr/>
          <p:nvPr/>
        </p:nvSpPr>
        <p:spPr>
          <a:xfrm>
            <a:off x="6693408" y="1618488"/>
            <a:ext cx="118872" cy="118872"/>
          </a:xfrm>
          <a:prstGeom prst="ellipse">
            <a:avLst/>
          </a:prstGeom>
          <a:solidFill>
            <a:srgbClr val="E5534B"/>
          </a:solidFill>
          <a:ln/>
        </p:spPr>
      </p:sp>
      <p:sp>
        <p:nvSpPr>
          <p:cNvPr id="22" name="Shape 19"/>
          <p:cNvSpPr/>
          <p:nvPr/>
        </p:nvSpPr>
        <p:spPr>
          <a:xfrm>
            <a:off x="6894576" y="1618488"/>
            <a:ext cx="118872" cy="118872"/>
          </a:xfrm>
          <a:prstGeom prst="ellipse">
            <a:avLst/>
          </a:prstGeom>
          <a:solidFill>
            <a:srgbClr val="F5A623"/>
          </a:solidFill>
          <a:ln/>
        </p:spPr>
      </p:sp>
      <p:sp>
        <p:nvSpPr>
          <p:cNvPr id="23" name="Shape 20"/>
          <p:cNvSpPr/>
          <p:nvPr/>
        </p:nvSpPr>
        <p:spPr>
          <a:xfrm>
            <a:off x="7095744" y="1618488"/>
            <a:ext cx="118872" cy="118872"/>
          </a:xfrm>
          <a:prstGeom prst="ellipse">
            <a:avLst/>
          </a:prstGeom>
          <a:solidFill>
            <a:srgbClr val="46D39A"/>
          </a:solidFill>
          <a:ln/>
        </p:spPr>
      </p:sp>
      <p:sp>
        <p:nvSpPr>
          <p:cNvPr id="24" name="Text 21"/>
          <p:cNvSpPr txBox="1"/>
          <p:nvPr/>
        </p:nvSpPr>
        <p:spPr>
          <a:xfrm>
            <a:off x="7406640" y="1536192"/>
            <a:ext cx="331927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5" name="Text 22"/>
          <p:cNvSpPr txBox="1"/>
          <p:nvPr/>
        </p:nvSpPr>
        <p:spPr>
          <a:xfrm>
            <a:off x="6766560" y="1920240"/>
            <a:ext cx="459943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hint 5</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Hint 1 of 2 costs 10 points (5% of 200),</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charged once.</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To see it, type:  hint 5 --show</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hint 5 --show</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Hint 1 of 2: The IP address is</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field 8 ...</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-10 points on the scoreboard</a:t>
            </a:r>
            <a:endParaRPr lang="en-US" sz="1400" dirty="0"/>
          </a:p>
        </p:txBody>
      </p:sp>
      <p:sp>
        <p:nvSpPr>
          <p:cNvPr id="26" name="Text 2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21 / 60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Your investigator's toolkit</a:t>
            </a:r>
            <a:endParaRPr lang="en-US" sz="3200" dirty="0"/>
          </a:p>
        </p:txBody>
      </p:sp>
      <p:sp>
        <p:nvSpPr>
          <p:cNvPr id="4" name="Shape 1"/>
          <p:cNvSpPr/>
          <p:nvPr/>
        </p:nvSpPr>
        <p:spPr>
          <a:xfrm>
            <a:off x="548640" y="1463040"/>
            <a:ext cx="5449824" cy="777240"/>
          </a:xfrm>
          <a:prstGeom prst="roundRect">
            <a:avLst>
              <a:gd name="adj" fmla="val 11765"/>
            </a:avLst>
          </a:prstGeom>
          <a:solidFill>
            <a:srgbClr val="F1F5FB"/>
          </a:solidFill>
          <a:ln/>
        </p:spPr>
      </p:sp>
      <p:sp>
        <p:nvSpPr>
          <p:cNvPr id="5" name="Shape 2"/>
          <p:cNvSpPr/>
          <p:nvPr/>
        </p:nvSpPr>
        <p:spPr>
          <a:xfrm>
            <a:off x="713232" y="1627632"/>
            <a:ext cx="457200" cy="457200"/>
          </a:xfrm>
          <a:prstGeom prst="ellipse">
            <a:avLst/>
          </a:prstGeom>
          <a:solidFill>
            <a:srgbClr val="17875A"/>
          </a:solidFill>
          <a:ln/>
        </p:spPr>
      </p:sp>
      <p:sp>
        <p:nvSpPr>
          <p:cNvPr id="6" name="Text 3"/>
          <p:cNvSpPr txBox="1"/>
          <p:nvPr/>
        </p:nvSpPr>
        <p:spPr>
          <a:xfrm>
            <a:off x="713232" y="162763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1371600" y="1463040"/>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ls -l</a:t>
            </a:r>
            <a:endParaRPr lang="en-US" sz="1400" dirty="0"/>
          </a:p>
        </p:txBody>
      </p:sp>
      <p:sp>
        <p:nvSpPr>
          <p:cNvPr id="8" name="Text 5"/>
          <p:cNvSpPr txBox="1"/>
          <p:nvPr/>
        </p:nvSpPr>
        <p:spPr>
          <a:xfrm>
            <a:off x="3840480" y="1463040"/>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when did it change?</a:t>
            </a:r>
            <a:endParaRPr lang="en-US" sz="1400" dirty="0"/>
          </a:p>
        </p:txBody>
      </p:sp>
      <p:sp>
        <p:nvSpPr>
          <p:cNvPr id="9" name="Shape 6"/>
          <p:cNvSpPr/>
          <p:nvPr/>
        </p:nvSpPr>
        <p:spPr>
          <a:xfrm>
            <a:off x="6190488" y="1463040"/>
            <a:ext cx="5449824" cy="777240"/>
          </a:xfrm>
          <a:prstGeom prst="roundRect">
            <a:avLst>
              <a:gd name="adj" fmla="val 11765"/>
            </a:avLst>
          </a:prstGeom>
          <a:solidFill>
            <a:srgbClr val="F1F5FB"/>
          </a:solidFill>
          <a:ln/>
        </p:spPr>
      </p:sp>
      <p:sp>
        <p:nvSpPr>
          <p:cNvPr id="10" name="Shape 7"/>
          <p:cNvSpPr/>
          <p:nvPr/>
        </p:nvSpPr>
        <p:spPr>
          <a:xfrm>
            <a:off x="6355080" y="1627632"/>
            <a:ext cx="457200" cy="457200"/>
          </a:xfrm>
          <a:prstGeom prst="ellipse">
            <a:avLst/>
          </a:prstGeom>
          <a:solidFill>
            <a:srgbClr val="2A9FD6"/>
          </a:solidFill>
          <a:ln/>
        </p:spPr>
      </p:sp>
      <p:sp>
        <p:nvSpPr>
          <p:cNvPr id="11" name="Text 8"/>
          <p:cNvSpPr txBox="1"/>
          <p:nvPr/>
        </p:nvSpPr>
        <p:spPr>
          <a:xfrm>
            <a:off x="6355080" y="162763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9"/>
          <p:cNvSpPr txBox="1"/>
          <p:nvPr/>
        </p:nvSpPr>
        <p:spPr>
          <a:xfrm>
            <a:off x="7013448" y="1463040"/>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strings</a:t>
            </a:r>
            <a:endParaRPr lang="en-US" sz="1400" dirty="0"/>
          </a:p>
        </p:txBody>
      </p:sp>
      <p:sp>
        <p:nvSpPr>
          <p:cNvPr id="13" name="Text 10"/>
          <p:cNvSpPr txBox="1"/>
          <p:nvPr/>
        </p:nvSpPr>
        <p:spPr>
          <a:xfrm>
            <a:off x="9482328" y="1463040"/>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metadata in any file</a:t>
            </a:r>
            <a:endParaRPr lang="en-US" sz="1400" dirty="0"/>
          </a:p>
        </p:txBody>
      </p:sp>
      <p:sp>
        <p:nvSpPr>
          <p:cNvPr id="14" name="Shape 11"/>
          <p:cNvSpPr/>
          <p:nvPr/>
        </p:nvSpPr>
        <p:spPr>
          <a:xfrm>
            <a:off x="548640" y="2359152"/>
            <a:ext cx="5449824" cy="777240"/>
          </a:xfrm>
          <a:prstGeom prst="roundRect">
            <a:avLst>
              <a:gd name="adj" fmla="val 11765"/>
            </a:avLst>
          </a:prstGeom>
          <a:solidFill>
            <a:srgbClr val="F1F5FB"/>
          </a:solidFill>
          <a:ln/>
        </p:spPr>
      </p:sp>
      <p:sp>
        <p:nvSpPr>
          <p:cNvPr id="15" name="Shape 12"/>
          <p:cNvSpPr/>
          <p:nvPr/>
        </p:nvSpPr>
        <p:spPr>
          <a:xfrm>
            <a:off x="713232" y="2523744"/>
            <a:ext cx="457200" cy="457200"/>
          </a:xfrm>
          <a:prstGeom prst="ellipse">
            <a:avLst/>
          </a:prstGeom>
          <a:solidFill>
            <a:srgbClr val="2459D8"/>
          </a:solidFill>
          <a:ln/>
        </p:spPr>
      </p:sp>
      <p:sp>
        <p:nvSpPr>
          <p:cNvPr id="16" name="Text 13"/>
          <p:cNvSpPr txBox="1"/>
          <p:nvPr/>
        </p:nvSpPr>
        <p:spPr>
          <a:xfrm>
            <a:off x="713232" y="25237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4"/>
          <p:cNvSpPr txBox="1"/>
          <p:nvPr/>
        </p:nvSpPr>
        <p:spPr>
          <a:xfrm>
            <a:off x="1371600" y="2359152"/>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filetype</a:t>
            </a:r>
            <a:endParaRPr lang="en-US" sz="1400" dirty="0"/>
          </a:p>
        </p:txBody>
      </p:sp>
      <p:sp>
        <p:nvSpPr>
          <p:cNvPr id="18" name="Text 15"/>
          <p:cNvSpPr txBox="1"/>
          <p:nvPr/>
        </p:nvSpPr>
        <p:spPr>
          <a:xfrm>
            <a:off x="3840480" y="2359152"/>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what is it really?</a:t>
            </a:r>
            <a:endParaRPr lang="en-US" sz="1400" dirty="0"/>
          </a:p>
        </p:txBody>
      </p:sp>
      <p:sp>
        <p:nvSpPr>
          <p:cNvPr id="19" name="Shape 16"/>
          <p:cNvSpPr/>
          <p:nvPr/>
        </p:nvSpPr>
        <p:spPr>
          <a:xfrm>
            <a:off x="6190488" y="2359152"/>
            <a:ext cx="5449824" cy="777240"/>
          </a:xfrm>
          <a:prstGeom prst="roundRect">
            <a:avLst>
              <a:gd name="adj" fmla="val 11765"/>
            </a:avLst>
          </a:prstGeom>
          <a:solidFill>
            <a:srgbClr val="F1F5FB"/>
          </a:solidFill>
          <a:ln/>
        </p:spPr>
      </p:sp>
      <p:sp>
        <p:nvSpPr>
          <p:cNvPr id="20" name="Shape 17"/>
          <p:cNvSpPr/>
          <p:nvPr/>
        </p:nvSpPr>
        <p:spPr>
          <a:xfrm>
            <a:off x="6355080" y="2523744"/>
            <a:ext cx="457200" cy="457200"/>
          </a:xfrm>
          <a:prstGeom prst="ellipse">
            <a:avLst/>
          </a:prstGeom>
          <a:solidFill>
            <a:srgbClr val="7448D4"/>
          </a:solidFill>
          <a:ln/>
        </p:spPr>
      </p:sp>
      <p:sp>
        <p:nvSpPr>
          <p:cNvPr id="21" name="Text 18"/>
          <p:cNvSpPr txBox="1"/>
          <p:nvPr/>
        </p:nvSpPr>
        <p:spPr>
          <a:xfrm>
            <a:off x="6355080" y="25237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19"/>
          <p:cNvSpPr txBox="1"/>
          <p:nvPr/>
        </p:nvSpPr>
        <p:spPr>
          <a:xfrm>
            <a:off x="7013448" y="2359152"/>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tar  zcat</a:t>
            </a:r>
            <a:endParaRPr lang="en-US" sz="1400" dirty="0"/>
          </a:p>
        </p:txBody>
      </p:sp>
      <p:sp>
        <p:nvSpPr>
          <p:cNvPr id="23" name="Text 20"/>
          <p:cNvSpPr txBox="1"/>
          <p:nvPr/>
        </p:nvSpPr>
        <p:spPr>
          <a:xfrm>
            <a:off x="9482328" y="2359152"/>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unwrap the layers</a:t>
            </a:r>
            <a:endParaRPr lang="en-US" sz="1400" dirty="0"/>
          </a:p>
        </p:txBody>
      </p:sp>
      <p:sp>
        <p:nvSpPr>
          <p:cNvPr id="24" name="Shape 21"/>
          <p:cNvSpPr/>
          <p:nvPr/>
        </p:nvSpPr>
        <p:spPr>
          <a:xfrm>
            <a:off x="548640" y="3255264"/>
            <a:ext cx="5449824" cy="777240"/>
          </a:xfrm>
          <a:prstGeom prst="roundRect">
            <a:avLst>
              <a:gd name="adj" fmla="val 11765"/>
            </a:avLst>
          </a:prstGeom>
          <a:solidFill>
            <a:srgbClr val="F1F5FB"/>
          </a:solidFill>
          <a:ln/>
        </p:spPr>
      </p:sp>
      <p:sp>
        <p:nvSpPr>
          <p:cNvPr id="25" name="Shape 22"/>
          <p:cNvSpPr/>
          <p:nvPr/>
        </p:nvSpPr>
        <p:spPr>
          <a:xfrm>
            <a:off x="713232" y="3419856"/>
            <a:ext cx="457200" cy="457200"/>
          </a:xfrm>
          <a:prstGeom prst="ellipse">
            <a:avLst/>
          </a:prstGeom>
          <a:solidFill>
            <a:srgbClr val="D1416B"/>
          </a:solidFill>
          <a:ln/>
        </p:spPr>
      </p:sp>
      <p:sp>
        <p:nvSpPr>
          <p:cNvPr id="26" name="Text 23"/>
          <p:cNvSpPr txBox="1"/>
          <p:nvPr/>
        </p:nvSpPr>
        <p:spPr>
          <a:xfrm>
            <a:off x="713232" y="341985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4"/>
          <p:cNvSpPr txBox="1"/>
          <p:nvPr/>
        </p:nvSpPr>
        <p:spPr>
          <a:xfrm>
            <a:off x="1371600" y="3255264"/>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grep | cut | uniq -c</a:t>
            </a:r>
            <a:endParaRPr lang="en-US" sz="1400" dirty="0"/>
          </a:p>
        </p:txBody>
      </p:sp>
      <p:sp>
        <p:nvSpPr>
          <p:cNvPr id="28" name="Text 25"/>
          <p:cNvSpPr txBox="1"/>
          <p:nvPr/>
        </p:nvSpPr>
        <p:spPr>
          <a:xfrm>
            <a:off x="3840480" y="3255264"/>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count events in logs</a:t>
            </a:r>
            <a:endParaRPr lang="en-US" sz="1400" dirty="0"/>
          </a:p>
        </p:txBody>
      </p:sp>
      <p:sp>
        <p:nvSpPr>
          <p:cNvPr id="29" name="Shape 26"/>
          <p:cNvSpPr/>
          <p:nvPr/>
        </p:nvSpPr>
        <p:spPr>
          <a:xfrm>
            <a:off x="6190488" y="3255264"/>
            <a:ext cx="5449824" cy="777240"/>
          </a:xfrm>
          <a:prstGeom prst="roundRect">
            <a:avLst>
              <a:gd name="adj" fmla="val 11765"/>
            </a:avLst>
          </a:prstGeom>
          <a:solidFill>
            <a:srgbClr val="F1F5FB"/>
          </a:solidFill>
          <a:ln/>
        </p:spPr>
      </p:sp>
      <p:sp>
        <p:nvSpPr>
          <p:cNvPr id="30" name="Shape 27"/>
          <p:cNvSpPr/>
          <p:nvPr/>
        </p:nvSpPr>
        <p:spPr>
          <a:xfrm>
            <a:off x="6355080" y="3419856"/>
            <a:ext cx="457200" cy="457200"/>
          </a:xfrm>
          <a:prstGeom prst="ellipse">
            <a:avLst/>
          </a:prstGeom>
          <a:solidFill>
            <a:srgbClr val="E8820C"/>
          </a:solidFill>
          <a:ln/>
        </p:spPr>
      </p:sp>
      <p:sp>
        <p:nvSpPr>
          <p:cNvPr id="31" name="Text 28"/>
          <p:cNvSpPr txBox="1"/>
          <p:nvPr/>
        </p:nvSpPr>
        <p:spPr>
          <a:xfrm>
            <a:off x="6355080" y="341985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txBox="1"/>
          <p:nvPr/>
        </p:nvSpPr>
        <p:spPr>
          <a:xfrm>
            <a:off x="7013448" y="3255264"/>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strings | tail</a:t>
            </a:r>
            <a:endParaRPr lang="en-US" sz="1400" dirty="0"/>
          </a:p>
        </p:txBody>
      </p:sp>
      <p:sp>
        <p:nvSpPr>
          <p:cNvPr id="33" name="Text 30"/>
          <p:cNvSpPr txBox="1"/>
          <p:nvPr/>
        </p:nvSpPr>
        <p:spPr>
          <a:xfrm>
            <a:off x="9482328" y="3255264"/>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find what's appended</a:t>
            </a:r>
            <a:endParaRPr lang="en-US" sz="1400" dirty="0"/>
          </a:p>
        </p:txBody>
      </p:sp>
      <p:sp>
        <p:nvSpPr>
          <p:cNvPr id="34" name="Shape 31"/>
          <p:cNvSpPr/>
          <p:nvPr/>
        </p:nvSpPr>
        <p:spPr>
          <a:xfrm>
            <a:off x="548640" y="4151376"/>
            <a:ext cx="5449824" cy="777240"/>
          </a:xfrm>
          <a:prstGeom prst="roundRect">
            <a:avLst>
              <a:gd name="adj" fmla="val 11765"/>
            </a:avLst>
          </a:prstGeom>
          <a:solidFill>
            <a:srgbClr val="F1F5FB"/>
          </a:solidFill>
          <a:ln/>
        </p:spPr>
      </p:sp>
      <p:sp>
        <p:nvSpPr>
          <p:cNvPr id="35" name="Shape 32"/>
          <p:cNvSpPr/>
          <p:nvPr/>
        </p:nvSpPr>
        <p:spPr>
          <a:xfrm>
            <a:off x="713232" y="4315968"/>
            <a:ext cx="457200" cy="457200"/>
          </a:xfrm>
          <a:prstGeom prst="ellipse">
            <a:avLst/>
          </a:prstGeom>
          <a:solidFill>
            <a:srgbClr val="C9A227"/>
          </a:solidFill>
          <a:ln/>
        </p:spPr>
      </p:sp>
      <p:sp>
        <p:nvSpPr>
          <p:cNvPr id="36" name="Text 33"/>
          <p:cNvSpPr txBox="1"/>
          <p:nvPr/>
        </p:nvSpPr>
        <p:spPr>
          <a:xfrm>
            <a:off x="713232" y="4315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a:t>
            </a:r>
            <a:endParaRPr lang="en-US" sz="1400" dirty="0"/>
          </a:p>
        </p:txBody>
      </p:sp>
      <p:sp>
        <p:nvSpPr>
          <p:cNvPr id="37" name="Text 34"/>
          <p:cNvSpPr txBox="1"/>
          <p:nvPr/>
        </p:nvSpPr>
        <p:spPr>
          <a:xfrm>
            <a:off x="1371600" y="4151376"/>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sha256sum -c</a:t>
            </a:r>
            <a:endParaRPr lang="en-US" sz="1400" dirty="0"/>
          </a:p>
        </p:txBody>
      </p:sp>
      <p:sp>
        <p:nvSpPr>
          <p:cNvPr id="38" name="Text 35"/>
          <p:cNvSpPr txBox="1"/>
          <p:nvPr/>
        </p:nvSpPr>
        <p:spPr>
          <a:xfrm>
            <a:off x="3840480" y="4151376"/>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has it changed?</a:t>
            </a:r>
            <a:endParaRPr lang="en-US" sz="1400" dirty="0"/>
          </a:p>
        </p:txBody>
      </p:sp>
      <p:sp>
        <p:nvSpPr>
          <p:cNvPr id="39" name="Shape 36"/>
          <p:cNvSpPr/>
          <p:nvPr/>
        </p:nvSpPr>
        <p:spPr>
          <a:xfrm>
            <a:off x="6190488" y="4151376"/>
            <a:ext cx="5449824" cy="777240"/>
          </a:xfrm>
          <a:prstGeom prst="roundRect">
            <a:avLst>
              <a:gd name="adj" fmla="val 11765"/>
            </a:avLst>
          </a:prstGeom>
          <a:solidFill>
            <a:srgbClr val="F1F5FB"/>
          </a:solidFill>
          <a:ln/>
        </p:spPr>
      </p:sp>
      <p:sp>
        <p:nvSpPr>
          <p:cNvPr id="40" name="Shape 37"/>
          <p:cNvSpPr/>
          <p:nvPr/>
        </p:nvSpPr>
        <p:spPr>
          <a:xfrm>
            <a:off x="6355080" y="4315968"/>
            <a:ext cx="457200" cy="457200"/>
          </a:xfrm>
          <a:prstGeom prst="ellipse">
            <a:avLst/>
          </a:prstGeom>
          <a:solidFill>
            <a:srgbClr val="0F9488"/>
          </a:solidFill>
          <a:ln/>
        </p:spPr>
      </p:sp>
      <p:sp>
        <p:nvSpPr>
          <p:cNvPr id="41" name="Text 38"/>
          <p:cNvSpPr txBox="1"/>
          <p:nvPr/>
        </p:nvSpPr>
        <p:spPr>
          <a:xfrm>
            <a:off x="6355080" y="4315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8</a:t>
            </a:r>
            <a:endParaRPr lang="en-US" sz="1400" dirty="0"/>
          </a:p>
        </p:txBody>
      </p:sp>
      <p:sp>
        <p:nvSpPr>
          <p:cNvPr id="42" name="Text 39"/>
          <p:cNvSpPr txBox="1"/>
          <p:nvPr/>
        </p:nvSpPr>
        <p:spPr>
          <a:xfrm>
            <a:off x="7013448" y="4151376"/>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cat cron/*  ls -a</a:t>
            </a:r>
            <a:endParaRPr lang="en-US" sz="1400" dirty="0"/>
          </a:p>
        </p:txBody>
      </p:sp>
      <p:sp>
        <p:nvSpPr>
          <p:cNvPr id="43" name="Text 40"/>
          <p:cNvSpPr txBox="1"/>
          <p:nvPr/>
        </p:nvSpPr>
        <p:spPr>
          <a:xfrm>
            <a:off x="9482328" y="4151376"/>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find persistence</a:t>
            </a:r>
            <a:endParaRPr lang="en-US" sz="1400" dirty="0"/>
          </a:p>
        </p:txBody>
      </p:sp>
      <p:sp>
        <p:nvSpPr>
          <p:cNvPr id="44" name="Shape 41"/>
          <p:cNvSpPr/>
          <p:nvPr/>
        </p:nvSpPr>
        <p:spPr>
          <a:xfrm>
            <a:off x="548640" y="5047488"/>
            <a:ext cx="5449824" cy="777240"/>
          </a:xfrm>
          <a:prstGeom prst="roundRect">
            <a:avLst>
              <a:gd name="adj" fmla="val 11765"/>
            </a:avLst>
          </a:prstGeom>
          <a:solidFill>
            <a:srgbClr val="F1F5FB"/>
          </a:solidFill>
          <a:ln/>
        </p:spPr>
      </p:sp>
      <p:sp>
        <p:nvSpPr>
          <p:cNvPr id="45" name="Shape 42"/>
          <p:cNvSpPr/>
          <p:nvPr/>
        </p:nvSpPr>
        <p:spPr>
          <a:xfrm>
            <a:off x="713232" y="5212080"/>
            <a:ext cx="457200" cy="457200"/>
          </a:xfrm>
          <a:prstGeom prst="ellipse">
            <a:avLst/>
          </a:prstGeom>
          <a:solidFill>
            <a:srgbClr val="5B6EE1"/>
          </a:solidFill>
          <a:ln/>
        </p:spPr>
      </p:sp>
      <p:sp>
        <p:nvSpPr>
          <p:cNvPr id="46" name="Text 43"/>
          <p:cNvSpPr txBox="1"/>
          <p:nvPr/>
        </p:nvSpPr>
        <p:spPr>
          <a:xfrm>
            <a:off x="713232" y="5212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9</a:t>
            </a:r>
            <a:endParaRPr lang="en-US" sz="1400" dirty="0"/>
          </a:p>
        </p:txBody>
      </p:sp>
      <p:sp>
        <p:nvSpPr>
          <p:cNvPr id="47" name="Text 44"/>
          <p:cNvSpPr txBox="1"/>
          <p:nvPr/>
        </p:nvSpPr>
        <p:spPr>
          <a:xfrm>
            <a:off x="1371600" y="5047488"/>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sort | tr | xxd -r</a:t>
            </a:r>
            <a:endParaRPr lang="en-US" sz="1400" dirty="0"/>
          </a:p>
        </p:txBody>
      </p:sp>
      <p:sp>
        <p:nvSpPr>
          <p:cNvPr id="48" name="Text 45"/>
          <p:cNvSpPr txBox="1"/>
          <p:nvPr/>
        </p:nvSpPr>
        <p:spPr>
          <a:xfrm>
            <a:off x="3840480" y="5047488"/>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rebuild the pieces</a:t>
            </a:r>
            <a:endParaRPr lang="en-US" sz="1400" dirty="0"/>
          </a:p>
        </p:txBody>
      </p:sp>
      <p:sp>
        <p:nvSpPr>
          <p:cNvPr id="49" name="Shape 46"/>
          <p:cNvSpPr/>
          <p:nvPr/>
        </p:nvSpPr>
        <p:spPr>
          <a:xfrm>
            <a:off x="6190488" y="5047488"/>
            <a:ext cx="5449824" cy="777240"/>
          </a:xfrm>
          <a:prstGeom prst="roundRect">
            <a:avLst>
              <a:gd name="adj" fmla="val 11765"/>
            </a:avLst>
          </a:prstGeom>
          <a:solidFill>
            <a:srgbClr val="F1F5FB"/>
          </a:solidFill>
          <a:ln/>
        </p:spPr>
      </p:sp>
      <p:sp>
        <p:nvSpPr>
          <p:cNvPr id="50" name="Shape 47"/>
          <p:cNvSpPr/>
          <p:nvPr/>
        </p:nvSpPr>
        <p:spPr>
          <a:xfrm>
            <a:off x="6355080" y="5212080"/>
            <a:ext cx="457200" cy="457200"/>
          </a:xfrm>
          <a:prstGeom prst="ellipse">
            <a:avLst/>
          </a:prstGeom>
          <a:solidFill>
            <a:srgbClr val="B4233F"/>
          </a:solidFill>
          <a:ln/>
        </p:spPr>
      </p:sp>
      <p:sp>
        <p:nvSpPr>
          <p:cNvPr id="51" name="Text 48"/>
          <p:cNvSpPr txBox="1"/>
          <p:nvPr/>
        </p:nvSpPr>
        <p:spPr>
          <a:xfrm>
            <a:off x="6355080" y="5212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52" name="Text 49"/>
          <p:cNvSpPr txBox="1"/>
          <p:nvPr/>
        </p:nvSpPr>
        <p:spPr>
          <a:xfrm>
            <a:off x="7013448" y="5047488"/>
            <a:ext cx="2468880" cy="777240"/>
          </a:xfrm>
          <a:prstGeom prst="rect">
            <a:avLst/>
          </a:prstGeom>
          <a:noFill/>
          <a:ln/>
        </p:spPr>
        <p:txBody>
          <a:bodyPr wrap="square" lIns="0" tIns="0" rIns="0" bIns="0" rtlCol="0" anchor="ctr">
            <a:normAutofit/>
          </a:bodyPr>
          <a:lstStyle/>
          <a:p>
            <a:pPr indent="0" marL="0">
              <a:buNone/>
            </a:pPr>
            <a:r>
              <a:rPr lang="en-US" sz="1400" b="1" dirty="0">
                <a:solidFill>
                  <a:srgbClr val="12213A"/>
                </a:solidFill>
                <a:latin typeface="Courier New" pitchFamily="34" charset="0"/>
                <a:ea typeface="Courier New" pitchFamily="34" charset="-122"/>
                <a:cs typeface="Courier New" pitchFamily="34" charset="-120"/>
              </a:rPr>
              <a:t>all of the above</a:t>
            </a:r>
            <a:endParaRPr lang="en-US" sz="1400" dirty="0"/>
          </a:p>
        </p:txBody>
      </p:sp>
      <p:sp>
        <p:nvSpPr>
          <p:cNvPr id="53" name="Text 50"/>
          <p:cNvSpPr txBox="1"/>
          <p:nvPr/>
        </p:nvSpPr>
        <p:spPr>
          <a:xfrm>
            <a:off x="9482328" y="5047488"/>
            <a:ext cx="2057400" cy="7772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close the case</a:t>
            </a:r>
            <a:endParaRPr lang="en-US" sz="1400" dirty="0"/>
          </a:p>
        </p:txBody>
      </p:sp>
      <p:sp>
        <p:nvSpPr>
          <p:cNvPr id="54" name="Text 51"/>
          <p:cNvSpPr txBox="1"/>
          <p:nvPr/>
        </p:nvSpPr>
        <p:spPr>
          <a:xfrm>
            <a:off x="548640" y="5989320"/>
            <a:ext cx="7315200" cy="320040"/>
          </a:xfrm>
          <a:prstGeom prst="rect">
            <a:avLst/>
          </a:prstGeom>
          <a:noFill/>
          <a:ln/>
        </p:spPr>
        <p:txBody>
          <a:bodyPr wrap="square" lIns="0" tIns="0" rIns="0" bIns="0" rtlCol="0" anchor="t"/>
          <a:lstStyle/>
          <a:p>
            <a:pPr indent="0" marL="0">
              <a:buNone/>
            </a:pPr>
            <a:r>
              <a:rPr lang="en-US" sz="1400" b="1" dirty="0">
                <a:solidFill>
                  <a:srgbClr val="12213A"/>
                </a:solidFill>
                <a:latin typeface="Calibri" pitchFamily="34" charset="0"/>
                <a:ea typeface="Calibri" pitchFamily="34" charset="-122"/>
                <a:cs typeface="Calibri" pitchFamily="34" charset="-120"/>
              </a:rPr>
              <a:t>Stuck on any of them?  TOOL --help</a:t>
            </a:r>
            <a:endParaRPr lang="en-US" sz="1400" dirty="0"/>
          </a:p>
        </p:txBody>
      </p:sp>
      <p:sp>
        <p:nvSpPr>
          <p:cNvPr id="55" name="Text 52"/>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22 / 60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7448D4"/>
                </a:solidFill>
                <a:latin typeface="Arial" pitchFamily="34" charset="0"/>
                <a:ea typeface="Arial" pitchFamily="34" charset="-122"/>
                <a:cs typeface="Arial" pitchFamily="34" charset="-120"/>
              </a:rPr>
              <a:t>3</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Capture a flag</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./investigate   # read, try, check, adjust</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23 / 60</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The investigator's routine, every time</a:t>
            </a:r>
            <a:endParaRPr lang="en-US" sz="3200" dirty="0"/>
          </a:p>
        </p:txBody>
      </p:sp>
      <p:sp>
        <p:nvSpPr>
          <p:cNvPr id="4" name="Shape 1"/>
          <p:cNvSpPr/>
          <p:nvPr/>
        </p:nvSpPr>
        <p:spPr>
          <a:xfrm>
            <a:off x="548640" y="1600200"/>
            <a:ext cx="2011680" cy="3200400"/>
          </a:xfrm>
          <a:prstGeom prst="roundRect">
            <a:avLst>
              <a:gd name="adj" fmla="val 4545"/>
            </a:avLst>
          </a:prstGeom>
          <a:solidFill>
            <a:srgbClr val="F1F5FB"/>
          </a:solidFill>
          <a:ln/>
        </p:spPr>
      </p:sp>
      <p:sp>
        <p:nvSpPr>
          <p:cNvPr id="5" name="Shape 2"/>
          <p:cNvSpPr/>
          <p:nvPr/>
        </p:nvSpPr>
        <p:spPr>
          <a:xfrm>
            <a:off x="1097280" y="1828800"/>
            <a:ext cx="914400" cy="914400"/>
          </a:xfrm>
          <a:prstGeom prst="ellipse">
            <a:avLst/>
          </a:prstGeom>
          <a:solidFill>
            <a:srgbClr val="2A9FD6"/>
          </a:solidFill>
          <a:ln/>
        </p:spPr>
      </p:sp>
      <p:pic>
        <p:nvPicPr>
          <p:cNvPr id="6" name="Image 0" descr="preencoded.png">    </p:cNvPr>
          <p:cNvPicPr>
            <a:picLocks noChangeAspect="1"/>
          </p:cNvPicPr>
          <p:nvPr/>
        </p:nvPicPr>
        <p:blipFill>
          <a:blip r:embed="rId1"/>
          <a:stretch>
            <a:fillRect/>
          </a:stretch>
        </p:blipFill>
        <p:spPr>
          <a:xfrm>
            <a:off x="1325880" y="2057400"/>
            <a:ext cx="457200" cy="457200"/>
          </a:xfrm>
          <a:prstGeom prst="rect">
            <a:avLst/>
          </a:prstGeom>
        </p:spPr>
      </p:pic>
      <p:sp>
        <p:nvSpPr>
          <p:cNvPr id="7" name="Text 3"/>
          <p:cNvSpPr txBox="1"/>
          <p:nvPr/>
        </p:nvSpPr>
        <p:spPr>
          <a:xfrm>
            <a:off x="685800"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Read</a:t>
            </a:r>
            <a:endParaRPr lang="en-US" sz="2400" dirty="0"/>
          </a:p>
        </p:txBody>
      </p:sp>
      <p:sp>
        <p:nvSpPr>
          <p:cNvPr id="8" name="Text 4"/>
          <p:cNvSpPr txBox="1"/>
          <p:nvPr/>
        </p:nvSpPr>
        <p:spPr>
          <a:xfrm>
            <a:off x="731520"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the case: cat README.txt.</a:t>
            </a:r>
            <a:endParaRPr lang="en-US" sz="1500" dirty="0"/>
          </a:p>
        </p:txBody>
      </p:sp>
      <p:sp>
        <p:nvSpPr>
          <p:cNvPr id="9" name="Text 5"/>
          <p:cNvSpPr txBox="1"/>
          <p:nvPr/>
        </p:nvSpPr>
        <p:spPr>
          <a:xfrm>
            <a:off x="2560320"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0" name="Shape 6"/>
          <p:cNvSpPr/>
          <p:nvPr/>
        </p:nvSpPr>
        <p:spPr>
          <a:xfrm>
            <a:off x="2816352" y="1600200"/>
            <a:ext cx="2011680" cy="3200400"/>
          </a:xfrm>
          <a:prstGeom prst="roundRect">
            <a:avLst>
              <a:gd name="adj" fmla="val 4545"/>
            </a:avLst>
          </a:prstGeom>
          <a:solidFill>
            <a:srgbClr val="F1F5FB"/>
          </a:solidFill>
          <a:ln/>
        </p:spPr>
      </p:sp>
      <p:sp>
        <p:nvSpPr>
          <p:cNvPr id="11" name="Shape 7"/>
          <p:cNvSpPr/>
          <p:nvPr/>
        </p:nvSpPr>
        <p:spPr>
          <a:xfrm>
            <a:off x="3364992" y="1828800"/>
            <a:ext cx="914400" cy="914400"/>
          </a:xfrm>
          <a:prstGeom prst="ellipse">
            <a:avLst/>
          </a:prstGeom>
          <a:solidFill>
            <a:srgbClr val="2459D8"/>
          </a:solidFill>
          <a:ln/>
        </p:spPr>
      </p:sp>
      <p:pic>
        <p:nvPicPr>
          <p:cNvPr id="12" name="Image 1" descr="preencoded.png">    </p:cNvPr>
          <p:cNvPicPr>
            <a:picLocks noChangeAspect="1"/>
          </p:cNvPicPr>
          <p:nvPr/>
        </p:nvPicPr>
        <p:blipFill>
          <a:blip r:embed="rId2"/>
          <a:stretch>
            <a:fillRect/>
          </a:stretch>
        </p:blipFill>
        <p:spPr>
          <a:xfrm>
            <a:off x="3593592" y="2057400"/>
            <a:ext cx="457200" cy="457200"/>
          </a:xfrm>
          <a:prstGeom prst="rect">
            <a:avLst/>
          </a:prstGeom>
        </p:spPr>
      </p:pic>
      <p:sp>
        <p:nvSpPr>
          <p:cNvPr id="13" name="Text 8"/>
          <p:cNvSpPr txBox="1"/>
          <p:nvPr/>
        </p:nvSpPr>
        <p:spPr>
          <a:xfrm>
            <a:off x="2953512"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Survey</a:t>
            </a:r>
            <a:endParaRPr lang="en-US" sz="2400" dirty="0"/>
          </a:p>
        </p:txBody>
      </p:sp>
      <p:sp>
        <p:nvSpPr>
          <p:cNvPr id="14" name="Text 9"/>
          <p:cNvSpPr txBox="1"/>
          <p:nvPr/>
        </p:nvSpPr>
        <p:spPr>
          <a:xfrm>
            <a:off x="2999232"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ls -l, filetype: what's here?</a:t>
            </a:r>
            <a:endParaRPr lang="en-US" sz="1500" dirty="0"/>
          </a:p>
        </p:txBody>
      </p:sp>
      <p:sp>
        <p:nvSpPr>
          <p:cNvPr id="15" name="Text 10"/>
          <p:cNvSpPr txBox="1"/>
          <p:nvPr/>
        </p:nvSpPr>
        <p:spPr>
          <a:xfrm>
            <a:off x="4828032"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6" name="Shape 11"/>
          <p:cNvSpPr/>
          <p:nvPr/>
        </p:nvSpPr>
        <p:spPr>
          <a:xfrm>
            <a:off x="5084064" y="1600200"/>
            <a:ext cx="2011680" cy="3200400"/>
          </a:xfrm>
          <a:prstGeom prst="roundRect">
            <a:avLst>
              <a:gd name="adj" fmla="val 4545"/>
            </a:avLst>
          </a:prstGeom>
          <a:solidFill>
            <a:srgbClr val="F1F5FB"/>
          </a:solidFill>
          <a:ln/>
        </p:spPr>
      </p:sp>
      <p:sp>
        <p:nvSpPr>
          <p:cNvPr id="17" name="Shape 12"/>
          <p:cNvSpPr/>
          <p:nvPr/>
        </p:nvSpPr>
        <p:spPr>
          <a:xfrm>
            <a:off x="5632704" y="1828800"/>
            <a:ext cx="914400" cy="914400"/>
          </a:xfrm>
          <a:prstGeom prst="ellipse">
            <a:avLst/>
          </a:prstGeom>
          <a:solidFill>
            <a:srgbClr val="7448D4"/>
          </a:solidFill>
          <a:ln/>
        </p:spPr>
      </p:sp>
      <p:pic>
        <p:nvPicPr>
          <p:cNvPr id="18" name="Image 2" descr="preencoded.png">    </p:cNvPr>
          <p:cNvPicPr>
            <a:picLocks noChangeAspect="1"/>
          </p:cNvPicPr>
          <p:nvPr/>
        </p:nvPicPr>
        <p:blipFill>
          <a:blip r:embed="rId3"/>
          <a:stretch>
            <a:fillRect/>
          </a:stretch>
        </p:blipFill>
        <p:spPr>
          <a:xfrm>
            <a:off x="5861304" y="2057400"/>
            <a:ext cx="457200" cy="457200"/>
          </a:xfrm>
          <a:prstGeom prst="rect">
            <a:avLst/>
          </a:prstGeom>
        </p:spPr>
      </p:pic>
      <p:sp>
        <p:nvSpPr>
          <p:cNvPr id="19" name="Text 13"/>
          <p:cNvSpPr txBox="1"/>
          <p:nvPr/>
        </p:nvSpPr>
        <p:spPr>
          <a:xfrm>
            <a:off x="5221224"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Ask</a:t>
            </a:r>
            <a:endParaRPr lang="en-US" sz="2400" dirty="0"/>
          </a:p>
        </p:txBody>
      </p:sp>
      <p:sp>
        <p:nvSpPr>
          <p:cNvPr id="20" name="Text 14"/>
          <p:cNvSpPr txBox="1"/>
          <p:nvPr/>
        </p:nvSpPr>
        <p:spPr>
          <a:xfrm>
            <a:off x="5266944"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when? what is it? changed?</a:t>
            </a:r>
            <a:endParaRPr lang="en-US" sz="1500" dirty="0"/>
          </a:p>
        </p:txBody>
      </p:sp>
      <p:sp>
        <p:nvSpPr>
          <p:cNvPr id="21" name="Text 15"/>
          <p:cNvSpPr txBox="1"/>
          <p:nvPr/>
        </p:nvSpPr>
        <p:spPr>
          <a:xfrm>
            <a:off x="7095744"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2" name="Shape 16"/>
          <p:cNvSpPr/>
          <p:nvPr/>
        </p:nvSpPr>
        <p:spPr>
          <a:xfrm>
            <a:off x="7351776" y="1600200"/>
            <a:ext cx="2011680" cy="3200400"/>
          </a:xfrm>
          <a:prstGeom prst="roundRect">
            <a:avLst>
              <a:gd name="adj" fmla="val 4545"/>
            </a:avLst>
          </a:prstGeom>
          <a:solidFill>
            <a:srgbClr val="F1F5FB"/>
          </a:solidFill>
          <a:ln/>
        </p:spPr>
      </p:sp>
      <p:sp>
        <p:nvSpPr>
          <p:cNvPr id="23" name="Shape 17"/>
          <p:cNvSpPr/>
          <p:nvPr/>
        </p:nvSpPr>
        <p:spPr>
          <a:xfrm>
            <a:off x="7900416" y="1828800"/>
            <a:ext cx="914400" cy="914400"/>
          </a:xfrm>
          <a:prstGeom prst="ellipse">
            <a:avLst/>
          </a:prstGeom>
          <a:solidFill>
            <a:srgbClr val="D1416B"/>
          </a:solidFill>
          <a:ln/>
        </p:spPr>
      </p:sp>
      <p:pic>
        <p:nvPicPr>
          <p:cNvPr id="24" name="Image 3" descr="preencoded.png">    </p:cNvPr>
          <p:cNvPicPr>
            <a:picLocks noChangeAspect="1"/>
          </p:cNvPicPr>
          <p:nvPr/>
        </p:nvPicPr>
        <p:blipFill>
          <a:blip r:embed="rId4"/>
          <a:stretch>
            <a:fillRect/>
          </a:stretch>
        </p:blipFill>
        <p:spPr>
          <a:xfrm>
            <a:off x="8129016" y="2057400"/>
            <a:ext cx="457200" cy="457200"/>
          </a:xfrm>
          <a:prstGeom prst="rect">
            <a:avLst/>
          </a:prstGeom>
        </p:spPr>
      </p:pic>
      <p:sp>
        <p:nvSpPr>
          <p:cNvPr id="25" name="Text 18"/>
          <p:cNvSpPr txBox="1"/>
          <p:nvPr/>
        </p:nvSpPr>
        <p:spPr>
          <a:xfrm>
            <a:off x="7488936"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Extract</a:t>
            </a:r>
            <a:endParaRPr lang="en-US" sz="2400" dirty="0"/>
          </a:p>
        </p:txBody>
      </p:sp>
      <p:sp>
        <p:nvSpPr>
          <p:cNvPr id="26" name="Text 19"/>
          <p:cNvSpPr txBox="1"/>
          <p:nvPr/>
        </p:nvSpPr>
        <p:spPr>
          <a:xfrm>
            <a:off x="7534656"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pull out the clue: CYBA{ to }.</a:t>
            </a:r>
            <a:endParaRPr lang="en-US" sz="1500" dirty="0"/>
          </a:p>
        </p:txBody>
      </p:sp>
      <p:sp>
        <p:nvSpPr>
          <p:cNvPr id="27" name="Text 20"/>
          <p:cNvSpPr txBox="1"/>
          <p:nvPr/>
        </p:nvSpPr>
        <p:spPr>
          <a:xfrm>
            <a:off x="9363456"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8" name="Shape 21"/>
          <p:cNvSpPr/>
          <p:nvPr/>
        </p:nvSpPr>
        <p:spPr>
          <a:xfrm>
            <a:off x="9619488" y="1600200"/>
            <a:ext cx="2011680" cy="3200400"/>
          </a:xfrm>
          <a:prstGeom prst="roundRect">
            <a:avLst>
              <a:gd name="adj" fmla="val 4545"/>
            </a:avLst>
          </a:prstGeom>
          <a:solidFill>
            <a:srgbClr val="F1F5FB"/>
          </a:solidFill>
          <a:ln/>
        </p:spPr>
      </p:sp>
      <p:sp>
        <p:nvSpPr>
          <p:cNvPr id="29" name="Shape 22"/>
          <p:cNvSpPr/>
          <p:nvPr/>
        </p:nvSpPr>
        <p:spPr>
          <a:xfrm>
            <a:off x="10168128" y="1828800"/>
            <a:ext cx="914400" cy="914400"/>
          </a:xfrm>
          <a:prstGeom prst="ellipse">
            <a:avLst/>
          </a:prstGeom>
          <a:solidFill>
            <a:srgbClr val="17875A"/>
          </a:solidFill>
          <a:ln/>
        </p:spPr>
      </p:sp>
      <p:pic>
        <p:nvPicPr>
          <p:cNvPr id="30" name="Image 4" descr="preencoded.png">    </p:cNvPr>
          <p:cNvPicPr>
            <a:picLocks noChangeAspect="1"/>
          </p:cNvPicPr>
          <p:nvPr/>
        </p:nvPicPr>
        <p:blipFill>
          <a:blip r:embed="rId5"/>
          <a:stretch>
            <a:fillRect/>
          </a:stretch>
        </p:blipFill>
        <p:spPr>
          <a:xfrm>
            <a:off x="10396728" y="2057400"/>
            <a:ext cx="457200" cy="457200"/>
          </a:xfrm>
          <a:prstGeom prst="rect">
            <a:avLst/>
          </a:prstGeom>
        </p:spPr>
      </p:pic>
      <p:sp>
        <p:nvSpPr>
          <p:cNvPr id="31" name="Text 23"/>
          <p:cNvSpPr txBox="1"/>
          <p:nvPr/>
        </p:nvSpPr>
        <p:spPr>
          <a:xfrm>
            <a:off x="9756648"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Submit</a:t>
            </a:r>
            <a:endParaRPr lang="en-US" sz="2400" dirty="0"/>
          </a:p>
        </p:txBody>
      </p:sp>
      <p:sp>
        <p:nvSpPr>
          <p:cNvPr id="32" name="Text 24"/>
          <p:cNvSpPr txBox="1"/>
          <p:nvPr/>
        </p:nvSpPr>
        <p:spPr>
          <a:xfrm>
            <a:off x="9802368"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type submit, paste, Enter.</a:t>
            </a:r>
            <a:endParaRPr lang="en-US" sz="1500" dirty="0"/>
          </a:p>
        </p:txBody>
      </p:sp>
      <p:sp>
        <p:nvSpPr>
          <p:cNvPr id="33" name="Shape 25"/>
          <p:cNvSpPr/>
          <p:nvPr/>
        </p:nvSpPr>
        <p:spPr>
          <a:xfrm>
            <a:off x="548640" y="5029200"/>
            <a:ext cx="11094415" cy="914400"/>
          </a:xfrm>
          <a:prstGeom prst="roundRect">
            <a:avLst>
              <a:gd name="adj" fmla="val 10000"/>
            </a:avLst>
          </a:prstGeom>
          <a:solidFill>
            <a:srgbClr val="0E1726"/>
          </a:solidFill>
          <a:ln/>
          <a:effectLst>
            <a:outerShdw sx="100000" sy="100000" kx="0" ky="0" algn="bl" rotWithShape="0" blurRad="127000" dist="38100" dir="5400000">
              <a:srgbClr val="12213A">
                <a:alpha val="22000"/>
              </a:srgbClr>
            </a:outerShdw>
          </a:effectLst>
        </p:spPr>
      </p:sp>
      <p:sp>
        <p:nvSpPr>
          <p:cNvPr id="34" name="Shape 26"/>
          <p:cNvSpPr/>
          <p:nvPr/>
        </p:nvSpPr>
        <p:spPr>
          <a:xfrm>
            <a:off x="749808" y="5184648"/>
            <a:ext cx="118872" cy="118872"/>
          </a:xfrm>
          <a:prstGeom prst="ellipse">
            <a:avLst/>
          </a:prstGeom>
          <a:solidFill>
            <a:srgbClr val="E5534B"/>
          </a:solidFill>
          <a:ln/>
        </p:spPr>
      </p:sp>
      <p:sp>
        <p:nvSpPr>
          <p:cNvPr id="35" name="Shape 27"/>
          <p:cNvSpPr/>
          <p:nvPr/>
        </p:nvSpPr>
        <p:spPr>
          <a:xfrm>
            <a:off x="950976" y="5184648"/>
            <a:ext cx="118872" cy="118872"/>
          </a:xfrm>
          <a:prstGeom prst="ellipse">
            <a:avLst/>
          </a:prstGeom>
          <a:solidFill>
            <a:srgbClr val="F5A623"/>
          </a:solidFill>
          <a:ln/>
        </p:spPr>
      </p:sp>
      <p:sp>
        <p:nvSpPr>
          <p:cNvPr id="36" name="Shape 28"/>
          <p:cNvSpPr/>
          <p:nvPr/>
        </p:nvSpPr>
        <p:spPr>
          <a:xfrm>
            <a:off x="1152144" y="5184648"/>
            <a:ext cx="118872" cy="118872"/>
          </a:xfrm>
          <a:prstGeom prst="ellipse">
            <a:avLst/>
          </a:prstGeom>
          <a:solidFill>
            <a:srgbClr val="46D39A"/>
          </a:solidFill>
          <a:ln/>
        </p:spPr>
      </p:sp>
      <p:sp>
        <p:nvSpPr>
          <p:cNvPr id="37" name="Text 29"/>
          <p:cNvSpPr txBox="1"/>
          <p:nvPr/>
        </p:nvSpPr>
        <p:spPr>
          <a:xfrm>
            <a:off x="822960" y="5486400"/>
            <a:ext cx="10545775" cy="320040"/>
          </a:xfrm>
          <a:prstGeom prst="rect">
            <a:avLst/>
          </a:prstGeom>
          <a:noFill/>
          <a:ln/>
        </p:spPr>
        <p:txBody>
          <a:bodyPr wrap="square" lIns="0" tIns="0" rIns="0" bIns="0" rtlCol="0" anchor="t"/>
          <a:lstStyle/>
          <a:p>
            <a:pPr indent="0" marL="0">
              <a:spcAft>
                <a:spcPts val="200"/>
              </a:spcAft>
              <a:buNone/>
            </a:pPr>
            <a:r>
              <a:rPr lang="en-US" sz="18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800" b="1" dirty="0">
                <a:solidFill>
                  <a:srgbClr val="FFFFFF"/>
                </a:solidFill>
                <a:latin typeface="Courier New" pitchFamily="34" charset="0"/>
                <a:ea typeface="Courier New" pitchFamily="34" charset="-122"/>
                <a:cs typeface="Courier New" pitchFamily="34" charset="-120"/>
              </a:rPr>
              <a:t>submit CYBA{case-3c9e01f7}</a:t>
            </a:r>
            <a:pPr indent="0" marL="0">
              <a:spcAft>
                <a:spcPts val="200"/>
              </a:spcAft>
              <a:buNone/>
            </a:pPr>
            <a:r>
              <a:rPr lang="en-US" sz="1800" dirty="0">
                <a:solidFill>
                  <a:srgbClr val="7F8FAD"/>
                </a:solidFill>
                <a:latin typeface="Courier New" pitchFamily="34" charset="0"/>
                <a:ea typeface="Courier New" pitchFamily="34" charset="-122"/>
                <a:cs typeface="Courier New" pitchFamily="34" charset="-120"/>
              </a:rPr>
              <a:t>   # Correct! +100 points</a:t>
            </a:r>
            <a:endParaRPr lang="en-US" sz="1800" dirty="0"/>
          </a:p>
        </p:txBody>
      </p:sp>
      <p:sp>
        <p:nvSpPr>
          <p:cNvPr id="38" name="Text 3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24 / 60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How we'll work through it</a:t>
            </a:r>
            <a:endParaRPr lang="en-US" sz="3200" dirty="0"/>
          </a:p>
        </p:txBody>
      </p:sp>
      <p:sp>
        <p:nvSpPr>
          <p:cNvPr id="4" name="Shape 1"/>
          <p:cNvSpPr/>
          <p:nvPr/>
        </p:nvSpPr>
        <p:spPr>
          <a:xfrm>
            <a:off x="548640" y="2651760"/>
            <a:ext cx="1691640" cy="2331720"/>
          </a:xfrm>
          <a:prstGeom prst="roundRect">
            <a:avLst>
              <a:gd name="adj" fmla="val 6486"/>
            </a:avLst>
          </a:prstGeom>
          <a:solidFill>
            <a:srgbClr val="17875A"/>
          </a:solidFill>
          <a:ln/>
        </p:spPr>
      </p:sp>
      <p:sp>
        <p:nvSpPr>
          <p:cNvPr id="5" name="Text 2"/>
          <p:cNvSpPr txBox="1"/>
          <p:nvPr/>
        </p:nvSpPr>
        <p:spPr>
          <a:xfrm>
            <a:off x="685800"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6" name="Text 3"/>
          <p:cNvSpPr txBox="1"/>
          <p:nvPr/>
        </p:nvSpPr>
        <p:spPr>
          <a:xfrm>
            <a:off x="640080"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Teach</a:t>
            </a:r>
            <a:endParaRPr lang="en-US" sz="2200" dirty="0"/>
          </a:p>
        </p:txBody>
      </p:sp>
      <p:sp>
        <p:nvSpPr>
          <p:cNvPr id="7" name="Text 4"/>
          <p:cNvSpPr txBox="1"/>
          <p:nvPr/>
        </p:nvSpPr>
        <p:spPr>
          <a:xfrm>
            <a:off x="640080"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name the idea</a:t>
            </a:r>
            <a:endParaRPr lang="en-US" sz="1300" dirty="0"/>
          </a:p>
        </p:txBody>
      </p:sp>
      <p:sp>
        <p:nvSpPr>
          <p:cNvPr id="8" name="Text 5"/>
          <p:cNvSpPr txBox="1"/>
          <p:nvPr/>
        </p:nvSpPr>
        <p:spPr>
          <a:xfrm>
            <a:off x="2221992"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9" name="Shape 6"/>
          <p:cNvSpPr/>
          <p:nvPr/>
        </p:nvSpPr>
        <p:spPr>
          <a:xfrm>
            <a:off x="2404872" y="2651760"/>
            <a:ext cx="1691640" cy="2331720"/>
          </a:xfrm>
          <a:prstGeom prst="roundRect">
            <a:avLst>
              <a:gd name="adj" fmla="val 6486"/>
            </a:avLst>
          </a:prstGeom>
          <a:solidFill>
            <a:srgbClr val="2A9FD6"/>
          </a:solidFill>
          <a:ln/>
        </p:spPr>
      </p:sp>
      <p:sp>
        <p:nvSpPr>
          <p:cNvPr id="10" name="Text 7"/>
          <p:cNvSpPr txBox="1"/>
          <p:nvPr/>
        </p:nvSpPr>
        <p:spPr>
          <a:xfrm>
            <a:off x="2542032"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1" name="Text 8"/>
          <p:cNvSpPr txBox="1"/>
          <p:nvPr/>
        </p:nvSpPr>
        <p:spPr>
          <a:xfrm>
            <a:off x="2496312"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Ask</a:t>
            </a:r>
            <a:endParaRPr lang="en-US" sz="2200" dirty="0"/>
          </a:p>
        </p:txBody>
      </p:sp>
      <p:sp>
        <p:nvSpPr>
          <p:cNvPr id="12" name="Text 9"/>
          <p:cNvSpPr txBox="1"/>
          <p:nvPr/>
        </p:nvSpPr>
        <p:spPr>
          <a:xfrm>
            <a:off x="2496312"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a question first</a:t>
            </a:r>
            <a:endParaRPr lang="en-US" sz="1300" dirty="0"/>
          </a:p>
        </p:txBody>
      </p:sp>
      <p:sp>
        <p:nvSpPr>
          <p:cNvPr id="13" name="Text 10"/>
          <p:cNvSpPr txBox="1"/>
          <p:nvPr/>
        </p:nvSpPr>
        <p:spPr>
          <a:xfrm>
            <a:off x="4078224"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14" name="Shape 11"/>
          <p:cNvSpPr/>
          <p:nvPr/>
        </p:nvSpPr>
        <p:spPr>
          <a:xfrm>
            <a:off x="4261104" y="2651760"/>
            <a:ext cx="1691640" cy="2331720"/>
          </a:xfrm>
          <a:prstGeom prst="roundRect">
            <a:avLst>
              <a:gd name="adj" fmla="val 6486"/>
            </a:avLst>
          </a:prstGeom>
          <a:solidFill>
            <a:srgbClr val="2459D8"/>
          </a:solidFill>
          <a:ln/>
        </p:spPr>
      </p:sp>
      <p:sp>
        <p:nvSpPr>
          <p:cNvPr id="15" name="Text 12"/>
          <p:cNvSpPr txBox="1"/>
          <p:nvPr/>
        </p:nvSpPr>
        <p:spPr>
          <a:xfrm>
            <a:off x="4398264"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6" name="Text 13"/>
          <p:cNvSpPr txBox="1"/>
          <p:nvPr/>
        </p:nvSpPr>
        <p:spPr>
          <a:xfrm>
            <a:off x="4352544"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Predict</a:t>
            </a:r>
            <a:endParaRPr lang="en-US" sz="2200" dirty="0"/>
          </a:p>
        </p:txBody>
      </p:sp>
      <p:sp>
        <p:nvSpPr>
          <p:cNvPr id="17" name="Text 14"/>
          <p:cNvSpPr txBox="1"/>
          <p:nvPr/>
        </p:nvSpPr>
        <p:spPr>
          <a:xfrm>
            <a:off x="4352544"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what will happen?</a:t>
            </a:r>
            <a:endParaRPr lang="en-US" sz="1300" dirty="0"/>
          </a:p>
        </p:txBody>
      </p:sp>
      <p:sp>
        <p:nvSpPr>
          <p:cNvPr id="18" name="Text 15"/>
          <p:cNvSpPr txBox="1"/>
          <p:nvPr/>
        </p:nvSpPr>
        <p:spPr>
          <a:xfrm>
            <a:off x="5934456"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19" name="Shape 16"/>
          <p:cNvSpPr/>
          <p:nvPr/>
        </p:nvSpPr>
        <p:spPr>
          <a:xfrm>
            <a:off x="6117336" y="2651760"/>
            <a:ext cx="1691640" cy="2331720"/>
          </a:xfrm>
          <a:prstGeom prst="roundRect">
            <a:avLst>
              <a:gd name="adj" fmla="val 6486"/>
            </a:avLst>
          </a:prstGeom>
          <a:solidFill>
            <a:srgbClr val="7448D4"/>
          </a:solidFill>
          <a:ln/>
        </p:spPr>
      </p:sp>
      <p:sp>
        <p:nvSpPr>
          <p:cNvPr id="20" name="Text 17"/>
          <p:cNvSpPr txBox="1"/>
          <p:nvPr/>
        </p:nvSpPr>
        <p:spPr>
          <a:xfrm>
            <a:off x="6254496"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1" name="Text 18"/>
          <p:cNvSpPr txBox="1"/>
          <p:nvPr/>
        </p:nvSpPr>
        <p:spPr>
          <a:xfrm>
            <a:off x="6208776"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Try</a:t>
            </a:r>
            <a:endParaRPr lang="en-US" sz="2200" dirty="0"/>
          </a:p>
        </p:txBody>
      </p:sp>
      <p:sp>
        <p:nvSpPr>
          <p:cNvPr id="22" name="Text 19"/>
          <p:cNvSpPr txBox="1"/>
          <p:nvPr/>
        </p:nvSpPr>
        <p:spPr>
          <a:xfrm>
            <a:off x="6208776"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run the command</a:t>
            </a:r>
            <a:endParaRPr lang="en-US" sz="1300" dirty="0"/>
          </a:p>
        </p:txBody>
      </p:sp>
      <p:sp>
        <p:nvSpPr>
          <p:cNvPr id="23" name="Text 20"/>
          <p:cNvSpPr txBox="1"/>
          <p:nvPr/>
        </p:nvSpPr>
        <p:spPr>
          <a:xfrm>
            <a:off x="7790688"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24" name="Shape 21"/>
          <p:cNvSpPr/>
          <p:nvPr/>
        </p:nvSpPr>
        <p:spPr>
          <a:xfrm>
            <a:off x="7973568" y="2651760"/>
            <a:ext cx="1691640" cy="2331720"/>
          </a:xfrm>
          <a:prstGeom prst="roundRect">
            <a:avLst>
              <a:gd name="adj" fmla="val 6486"/>
            </a:avLst>
          </a:prstGeom>
          <a:solidFill>
            <a:srgbClr val="D1416B"/>
          </a:solidFill>
          <a:ln/>
        </p:spPr>
      </p:sp>
      <p:sp>
        <p:nvSpPr>
          <p:cNvPr id="25" name="Text 22"/>
          <p:cNvSpPr txBox="1"/>
          <p:nvPr/>
        </p:nvSpPr>
        <p:spPr>
          <a:xfrm>
            <a:off x="8110728"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6" name="Text 23"/>
          <p:cNvSpPr txBox="1"/>
          <p:nvPr/>
        </p:nvSpPr>
        <p:spPr>
          <a:xfrm>
            <a:off x="8065008"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Explain</a:t>
            </a:r>
            <a:endParaRPr lang="en-US" sz="2200" dirty="0"/>
          </a:p>
        </p:txBody>
      </p:sp>
      <p:sp>
        <p:nvSpPr>
          <p:cNvPr id="27" name="Text 24"/>
          <p:cNvSpPr txBox="1"/>
          <p:nvPr/>
        </p:nvSpPr>
        <p:spPr>
          <a:xfrm>
            <a:off x="8065008"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in your words</a:t>
            </a:r>
            <a:endParaRPr lang="en-US" sz="1300" dirty="0"/>
          </a:p>
        </p:txBody>
      </p:sp>
      <p:sp>
        <p:nvSpPr>
          <p:cNvPr id="28" name="Text 25"/>
          <p:cNvSpPr txBox="1"/>
          <p:nvPr/>
        </p:nvSpPr>
        <p:spPr>
          <a:xfrm>
            <a:off x="9646920"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29" name="Shape 26"/>
          <p:cNvSpPr/>
          <p:nvPr/>
        </p:nvSpPr>
        <p:spPr>
          <a:xfrm>
            <a:off x="9829800" y="2651760"/>
            <a:ext cx="1691640" cy="2331720"/>
          </a:xfrm>
          <a:prstGeom prst="roundRect">
            <a:avLst>
              <a:gd name="adj" fmla="val 6486"/>
            </a:avLst>
          </a:prstGeom>
          <a:solidFill>
            <a:srgbClr val="17875A"/>
          </a:solidFill>
          <a:ln/>
        </p:spPr>
      </p:sp>
      <p:sp>
        <p:nvSpPr>
          <p:cNvPr id="30" name="Text 27"/>
          <p:cNvSpPr txBox="1"/>
          <p:nvPr/>
        </p:nvSpPr>
        <p:spPr>
          <a:xfrm>
            <a:off x="9966960"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31" name="Text 28"/>
          <p:cNvSpPr txBox="1"/>
          <p:nvPr/>
        </p:nvSpPr>
        <p:spPr>
          <a:xfrm>
            <a:off x="9921240"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Apply</a:t>
            </a:r>
            <a:endParaRPr lang="en-US" sz="2200" dirty="0"/>
          </a:p>
        </p:txBody>
      </p:sp>
      <p:sp>
        <p:nvSpPr>
          <p:cNvPr id="32" name="Text 29"/>
          <p:cNvSpPr txBox="1"/>
          <p:nvPr/>
        </p:nvSpPr>
        <p:spPr>
          <a:xfrm>
            <a:off x="9921240"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on the next one</a:t>
            </a:r>
            <a:endParaRPr lang="en-US" sz="1300" dirty="0"/>
          </a:p>
        </p:txBody>
      </p:sp>
      <p:sp>
        <p:nvSpPr>
          <p:cNvPr id="33" name="Text 3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25 / 60</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The challenges</a:t>
            </a:r>
            <a:endParaRPr lang="en-US" sz="3200" dirty="0"/>
          </a:p>
        </p:txBody>
      </p:sp>
      <p:sp>
        <p:nvSpPr>
          <p:cNvPr id="4" name="Shape 1"/>
          <p:cNvSpPr/>
          <p:nvPr/>
        </p:nvSpPr>
        <p:spPr>
          <a:xfrm>
            <a:off x="548640" y="1463040"/>
            <a:ext cx="2103120" cy="2103120"/>
          </a:xfrm>
          <a:prstGeom prst="roundRect">
            <a:avLst>
              <a:gd name="adj" fmla="val 4348"/>
            </a:avLst>
          </a:prstGeom>
          <a:solidFill>
            <a:srgbClr val="F1F5FB"/>
          </a:solidFill>
          <a:ln/>
        </p:spPr>
      </p:sp>
      <p:sp>
        <p:nvSpPr>
          <p:cNvPr id="5" name="Shape 2"/>
          <p:cNvSpPr/>
          <p:nvPr/>
        </p:nvSpPr>
        <p:spPr>
          <a:xfrm>
            <a:off x="548640" y="1463040"/>
            <a:ext cx="2103120" cy="91440"/>
          </a:xfrm>
          <a:prstGeom prst="rect">
            <a:avLst/>
          </a:prstGeom>
          <a:solidFill>
            <a:srgbClr val="17875A"/>
          </a:solidFill>
          <a:ln/>
        </p:spPr>
      </p:sp>
      <p:sp>
        <p:nvSpPr>
          <p:cNvPr id="6" name="Shape 3"/>
          <p:cNvSpPr/>
          <p:nvPr/>
        </p:nvSpPr>
        <p:spPr>
          <a:xfrm>
            <a:off x="713232" y="1719072"/>
            <a:ext cx="502920" cy="502920"/>
          </a:xfrm>
          <a:prstGeom prst="ellipse">
            <a:avLst/>
          </a:prstGeom>
          <a:solidFill>
            <a:srgbClr val="17875A"/>
          </a:solidFill>
          <a:ln/>
        </p:spPr>
      </p:sp>
      <p:sp>
        <p:nvSpPr>
          <p:cNvPr id="7" name="Text 4"/>
          <p:cNvSpPr txBox="1"/>
          <p:nvPr/>
        </p:nvSpPr>
        <p:spPr>
          <a:xfrm>
            <a:off x="71323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5"/>
          <p:cNvSpPr txBox="1"/>
          <p:nvPr/>
        </p:nvSpPr>
        <p:spPr>
          <a:xfrm>
            <a:off x="1325880" y="1719072"/>
            <a:ext cx="1188720" cy="502920"/>
          </a:xfrm>
          <a:prstGeom prst="rect">
            <a:avLst/>
          </a:prstGeom>
          <a:noFill/>
          <a:ln/>
        </p:spPr>
        <p:txBody>
          <a:bodyPr wrap="square" lIns="0" tIns="0" rIns="0" bIns="0" rtlCol="0" anchor="ctr"/>
          <a:lstStyle/>
          <a:p>
            <a:pPr algn="r" indent="0" marL="0">
              <a:buNone/>
            </a:pPr>
            <a:r>
              <a:rPr lang="en-US" sz="1200" b="1" dirty="0">
                <a:solidFill>
                  <a:srgbClr val="2459D8"/>
                </a:solidFill>
                <a:latin typeface="Calibri" pitchFamily="34" charset="0"/>
                <a:ea typeface="Calibri" pitchFamily="34" charset="-122"/>
                <a:cs typeface="Calibri" pitchFamily="34" charset="-120"/>
              </a:rPr>
              <a:t>We do</a:t>
            </a:r>
            <a:endParaRPr lang="en-US" sz="1200" dirty="0"/>
          </a:p>
        </p:txBody>
      </p:sp>
      <p:sp>
        <p:nvSpPr>
          <p:cNvPr id="9" name="Text 6"/>
          <p:cNvSpPr txBox="1"/>
          <p:nvPr/>
        </p:nvSpPr>
        <p:spPr>
          <a:xfrm>
            <a:off x="71323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Case file</a:t>
            </a:r>
            <a:endParaRPr lang="en-US" sz="1500" dirty="0"/>
          </a:p>
        </p:txBody>
      </p:sp>
      <p:sp>
        <p:nvSpPr>
          <p:cNvPr id="10" name="Shape 7"/>
          <p:cNvSpPr/>
          <p:nvPr/>
        </p:nvSpPr>
        <p:spPr>
          <a:xfrm>
            <a:off x="713232" y="2852928"/>
            <a:ext cx="1783080" cy="347472"/>
          </a:xfrm>
          <a:prstGeom prst="roundRect">
            <a:avLst>
              <a:gd name="adj" fmla="val 50000"/>
            </a:avLst>
          </a:prstGeom>
          <a:solidFill>
            <a:srgbClr val="E2F5EC"/>
          </a:solidFill>
          <a:ln/>
        </p:spPr>
      </p:sp>
      <p:sp>
        <p:nvSpPr>
          <p:cNvPr id="11" name="Text 8"/>
          <p:cNvSpPr txBox="1"/>
          <p:nvPr/>
        </p:nvSpPr>
        <p:spPr>
          <a:xfrm>
            <a:off x="713232" y="2852928"/>
            <a:ext cx="1783080" cy="347472"/>
          </a:xfrm>
          <a:prstGeom prst="rect">
            <a:avLst/>
          </a:prstGeom>
          <a:noFill/>
          <a:ln/>
        </p:spPr>
        <p:txBody>
          <a:bodyPr wrap="square" lIns="0" tIns="0" rIns="0" bIns="0" rtlCol="0" anchor="ctr"/>
          <a:lstStyle/>
          <a:p>
            <a:pPr algn="ctr" indent="0" marL="0">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12" name="Text 9"/>
          <p:cNvSpPr txBox="1"/>
          <p:nvPr/>
        </p:nvSpPr>
        <p:spPr>
          <a:xfrm>
            <a:off x="71323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ls -l  cat</a:t>
            </a:r>
            <a:endParaRPr lang="en-US" sz="1000" dirty="0"/>
          </a:p>
        </p:txBody>
      </p:sp>
      <p:sp>
        <p:nvSpPr>
          <p:cNvPr id="13" name="Shape 10"/>
          <p:cNvSpPr/>
          <p:nvPr/>
        </p:nvSpPr>
        <p:spPr>
          <a:xfrm>
            <a:off x="2788920" y="1463040"/>
            <a:ext cx="2103120" cy="2103120"/>
          </a:xfrm>
          <a:prstGeom prst="roundRect">
            <a:avLst>
              <a:gd name="adj" fmla="val 4348"/>
            </a:avLst>
          </a:prstGeom>
          <a:solidFill>
            <a:srgbClr val="F1F5FB"/>
          </a:solidFill>
          <a:ln/>
        </p:spPr>
      </p:sp>
      <p:sp>
        <p:nvSpPr>
          <p:cNvPr id="14" name="Shape 11"/>
          <p:cNvSpPr/>
          <p:nvPr/>
        </p:nvSpPr>
        <p:spPr>
          <a:xfrm>
            <a:off x="2788920" y="1463040"/>
            <a:ext cx="2103120" cy="91440"/>
          </a:xfrm>
          <a:prstGeom prst="rect">
            <a:avLst/>
          </a:prstGeom>
          <a:solidFill>
            <a:srgbClr val="2A9FD6"/>
          </a:solidFill>
          <a:ln/>
        </p:spPr>
      </p:sp>
      <p:sp>
        <p:nvSpPr>
          <p:cNvPr id="15" name="Shape 12"/>
          <p:cNvSpPr/>
          <p:nvPr/>
        </p:nvSpPr>
        <p:spPr>
          <a:xfrm>
            <a:off x="2953512" y="1719072"/>
            <a:ext cx="502920" cy="502920"/>
          </a:xfrm>
          <a:prstGeom prst="ellipse">
            <a:avLst/>
          </a:prstGeom>
          <a:solidFill>
            <a:srgbClr val="2A9FD6"/>
          </a:solidFill>
          <a:ln/>
        </p:spPr>
      </p:sp>
      <p:sp>
        <p:nvSpPr>
          <p:cNvPr id="16" name="Text 13"/>
          <p:cNvSpPr txBox="1"/>
          <p:nvPr/>
        </p:nvSpPr>
        <p:spPr>
          <a:xfrm>
            <a:off x="295351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7" name="Text 14"/>
          <p:cNvSpPr txBox="1"/>
          <p:nvPr/>
        </p:nvSpPr>
        <p:spPr>
          <a:xfrm>
            <a:off x="3566160" y="1719072"/>
            <a:ext cx="1188720" cy="502920"/>
          </a:xfrm>
          <a:prstGeom prst="rect">
            <a:avLst/>
          </a:prstGeom>
          <a:noFill/>
          <a:ln/>
        </p:spPr>
        <p:txBody>
          <a:bodyPr wrap="square" lIns="0" tIns="0" rIns="0" bIns="0" rtlCol="0" anchor="ctr"/>
          <a:lstStyle/>
          <a:p>
            <a:pPr algn="r" indent="0" marL="0">
              <a:buNone/>
            </a:pPr>
            <a:r>
              <a:rPr lang="en-US" sz="1200" b="1" dirty="0">
                <a:solidFill>
                  <a:srgbClr val="2459D8"/>
                </a:solidFill>
                <a:latin typeface="Calibri" pitchFamily="34" charset="0"/>
                <a:ea typeface="Calibri" pitchFamily="34" charset="-122"/>
                <a:cs typeface="Calibri" pitchFamily="34" charset="-120"/>
              </a:rPr>
              <a:t>We do</a:t>
            </a:r>
            <a:endParaRPr lang="en-US" sz="1200" dirty="0"/>
          </a:p>
        </p:txBody>
      </p:sp>
      <p:sp>
        <p:nvSpPr>
          <p:cNvPr id="18" name="Text 15"/>
          <p:cNvSpPr txBox="1"/>
          <p:nvPr/>
        </p:nvSpPr>
        <p:spPr>
          <a:xfrm>
            <a:off x="295351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Say cheese</a:t>
            </a:r>
            <a:endParaRPr lang="en-US" sz="1500" dirty="0"/>
          </a:p>
        </p:txBody>
      </p:sp>
      <p:sp>
        <p:nvSpPr>
          <p:cNvPr id="19" name="Shape 16"/>
          <p:cNvSpPr/>
          <p:nvPr/>
        </p:nvSpPr>
        <p:spPr>
          <a:xfrm>
            <a:off x="2953512" y="2852928"/>
            <a:ext cx="1783080" cy="347472"/>
          </a:xfrm>
          <a:prstGeom prst="roundRect">
            <a:avLst>
              <a:gd name="adj" fmla="val 50000"/>
            </a:avLst>
          </a:prstGeom>
          <a:solidFill>
            <a:srgbClr val="E2F5EC"/>
          </a:solidFill>
          <a:ln/>
        </p:spPr>
      </p:sp>
      <p:sp>
        <p:nvSpPr>
          <p:cNvPr id="20" name="Text 17"/>
          <p:cNvSpPr txBox="1"/>
          <p:nvPr/>
        </p:nvSpPr>
        <p:spPr>
          <a:xfrm>
            <a:off x="2953512" y="2852928"/>
            <a:ext cx="1783080" cy="347472"/>
          </a:xfrm>
          <a:prstGeom prst="rect">
            <a:avLst/>
          </a:prstGeom>
          <a:noFill/>
          <a:ln/>
        </p:spPr>
        <p:txBody>
          <a:bodyPr wrap="square" lIns="0" tIns="0" rIns="0" bIns="0" rtlCol="0" anchor="ctr"/>
          <a:lstStyle/>
          <a:p>
            <a:pPr algn="ctr" indent="0" marL="0">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21" name="Text 18"/>
          <p:cNvSpPr txBox="1"/>
          <p:nvPr/>
        </p:nvSpPr>
        <p:spPr>
          <a:xfrm>
            <a:off x="295351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strings  |  grep</a:t>
            </a:r>
            <a:endParaRPr lang="en-US" sz="1000" dirty="0"/>
          </a:p>
        </p:txBody>
      </p:sp>
      <p:sp>
        <p:nvSpPr>
          <p:cNvPr id="22" name="Shape 19"/>
          <p:cNvSpPr/>
          <p:nvPr/>
        </p:nvSpPr>
        <p:spPr>
          <a:xfrm>
            <a:off x="5029200" y="1463040"/>
            <a:ext cx="2103120" cy="2103120"/>
          </a:xfrm>
          <a:prstGeom prst="roundRect">
            <a:avLst>
              <a:gd name="adj" fmla="val 4348"/>
            </a:avLst>
          </a:prstGeom>
          <a:solidFill>
            <a:srgbClr val="F1F5FB"/>
          </a:solidFill>
          <a:ln/>
        </p:spPr>
      </p:sp>
      <p:sp>
        <p:nvSpPr>
          <p:cNvPr id="23" name="Shape 20"/>
          <p:cNvSpPr/>
          <p:nvPr/>
        </p:nvSpPr>
        <p:spPr>
          <a:xfrm>
            <a:off x="5029200" y="1463040"/>
            <a:ext cx="2103120" cy="91440"/>
          </a:xfrm>
          <a:prstGeom prst="rect">
            <a:avLst/>
          </a:prstGeom>
          <a:solidFill>
            <a:srgbClr val="2459D8"/>
          </a:solidFill>
          <a:ln/>
        </p:spPr>
      </p:sp>
      <p:sp>
        <p:nvSpPr>
          <p:cNvPr id="24" name="Shape 21"/>
          <p:cNvSpPr/>
          <p:nvPr/>
        </p:nvSpPr>
        <p:spPr>
          <a:xfrm>
            <a:off x="5193792" y="1719072"/>
            <a:ext cx="502920" cy="502920"/>
          </a:xfrm>
          <a:prstGeom prst="ellipse">
            <a:avLst/>
          </a:prstGeom>
          <a:solidFill>
            <a:srgbClr val="2459D8"/>
          </a:solidFill>
          <a:ln/>
        </p:spPr>
      </p:sp>
      <p:sp>
        <p:nvSpPr>
          <p:cNvPr id="25" name="Text 22"/>
          <p:cNvSpPr txBox="1"/>
          <p:nvPr/>
        </p:nvSpPr>
        <p:spPr>
          <a:xfrm>
            <a:off x="519379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6" name="Text 23"/>
          <p:cNvSpPr txBox="1"/>
          <p:nvPr/>
        </p:nvSpPr>
        <p:spPr>
          <a:xfrm>
            <a:off x="5806440" y="171907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27" name="Text 24"/>
          <p:cNvSpPr txBox="1"/>
          <p:nvPr/>
        </p:nvSpPr>
        <p:spPr>
          <a:xfrm>
            <a:off x="519379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Wrong label</a:t>
            </a:r>
            <a:endParaRPr lang="en-US" sz="1500" dirty="0"/>
          </a:p>
        </p:txBody>
      </p:sp>
      <p:sp>
        <p:nvSpPr>
          <p:cNvPr id="28" name="Shape 25"/>
          <p:cNvSpPr/>
          <p:nvPr/>
        </p:nvSpPr>
        <p:spPr>
          <a:xfrm>
            <a:off x="5193792" y="2852928"/>
            <a:ext cx="1783080" cy="347472"/>
          </a:xfrm>
          <a:prstGeom prst="roundRect">
            <a:avLst>
              <a:gd name="adj" fmla="val 50000"/>
            </a:avLst>
          </a:prstGeom>
          <a:solidFill>
            <a:srgbClr val="E2F5EC"/>
          </a:solidFill>
          <a:ln/>
        </p:spPr>
      </p:sp>
      <p:sp>
        <p:nvSpPr>
          <p:cNvPr id="29" name="Text 26"/>
          <p:cNvSpPr txBox="1"/>
          <p:nvPr/>
        </p:nvSpPr>
        <p:spPr>
          <a:xfrm>
            <a:off x="5193792" y="2852928"/>
            <a:ext cx="1783080" cy="347472"/>
          </a:xfrm>
          <a:prstGeom prst="rect">
            <a:avLst/>
          </a:prstGeom>
          <a:noFill/>
          <a:ln/>
        </p:spPr>
        <p:txBody>
          <a:bodyPr wrap="square" lIns="0" tIns="0" rIns="0" bIns="0" rtlCol="0" anchor="ctr"/>
          <a:lstStyle/>
          <a:p>
            <a:pPr algn="ctr" indent="0" marL="0">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30" name="Text 27"/>
          <p:cNvSpPr txBox="1"/>
          <p:nvPr/>
        </p:nvSpPr>
        <p:spPr>
          <a:xfrm>
            <a:off x="519379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filetype  zcat</a:t>
            </a:r>
            <a:endParaRPr lang="en-US" sz="1000" dirty="0"/>
          </a:p>
        </p:txBody>
      </p:sp>
      <p:sp>
        <p:nvSpPr>
          <p:cNvPr id="31" name="Shape 28"/>
          <p:cNvSpPr/>
          <p:nvPr/>
        </p:nvSpPr>
        <p:spPr>
          <a:xfrm>
            <a:off x="7269480" y="1463040"/>
            <a:ext cx="2103120" cy="2103120"/>
          </a:xfrm>
          <a:prstGeom prst="roundRect">
            <a:avLst>
              <a:gd name="adj" fmla="val 4348"/>
            </a:avLst>
          </a:prstGeom>
          <a:solidFill>
            <a:srgbClr val="F1F5FB"/>
          </a:solidFill>
          <a:ln/>
        </p:spPr>
      </p:sp>
      <p:sp>
        <p:nvSpPr>
          <p:cNvPr id="32" name="Shape 29"/>
          <p:cNvSpPr/>
          <p:nvPr/>
        </p:nvSpPr>
        <p:spPr>
          <a:xfrm>
            <a:off x="7269480" y="1463040"/>
            <a:ext cx="2103120" cy="91440"/>
          </a:xfrm>
          <a:prstGeom prst="rect">
            <a:avLst/>
          </a:prstGeom>
          <a:solidFill>
            <a:srgbClr val="7448D4"/>
          </a:solidFill>
          <a:ln/>
        </p:spPr>
      </p:sp>
      <p:sp>
        <p:nvSpPr>
          <p:cNvPr id="33" name="Shape 30"/>
          <p:cNvSpPr/>
          <p:nvPr/>
        </p:nvSpPr>
        <p:spPr>
          <a:xfrm>
            <a:off x="7434072" y="1719072"/>
            <a:ext cx="502920" cy="502920"/>
          </a:xfrm>
          <a:prstGeom prst="ellipse">
            <a:avLst/>
          </a:prstGeom>
          <a:solidFill>
            <a:srgbClr val="7448D4"/>
          </a:solidFill>
          <a:ln/>
        </p:spPr>
      </p:sp>
      <p:sp>
        <p:nvSpPr>
          <p:cNvPr id="34" name="Text 31"/>
          <p:cNvSpPr txBox="1"/>
          <p:nvPr/>
        </p:nvSpPr>
        <p:spPr>
          <a:xfrm>
            <a:off x="743407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5" name="Text 32"/>
          <p:cNvSpPr txBox="1"/>
          <p:nvPr/>
        </p:nvSpPr>
        <p:spPr>
          <a:xfrm>
            <a:off x="8046720" y="171907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36" name="Text 33"/>
          <p:cNvSpPr txBox="1"/>
          <p:nvPr/>
        </p:nvSpPr>
        <p:spPr>
          <a:xfrm>
            <a:off x="743407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Russian dolls</a:t>
            </a:r>
            <a:endParaRPr lang="en-US" sz="1500" dirty="0"/>
          </a:p>
        </p:txBody>
      </p:sp>
      <p:sp>
        <p:nvSpPr>
          <p:cNvPr id="37" name="Shape 34"/>
          <p:cNvSpPr/>
          <p:nvPr/>
        </p:nvSpPr>
        <p:spPr>
          <a:xfrm>
            <a:off x="7434072" y="2852928"/>
            <a:ext cx="1783080" cy="347472"/>
          </a:xfrm>
          <a:prstGeom prst="roundRect">
            <a:avLst>
              <a:gd name="adj" fmla="val 50000"/>
            </a:avLst>
          </a:prstGeom>
          <a:solidFill>
            <a:srgbClr val="FFF4DE"/>
          </a:solidFill>
          <a:ln/>
        </p:spPr>
      </p:sp>
      <p:sp>
        <p:nvSpPr>
          <p:cNvPr id="38" name="Text 35"/>
          <p:cNvSpPr txBox="1"/>
          <p:nvPr/>
        </p:nvSpPr>
        <p:spPr>
          <a:xfrm>
            <a:off x="7434072" y="285292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39" name="Text 36"/>
          <p:cNvSpPr txBox="1"/>
          <p:nvPr/>
        </p:nvSpPr>
        <p:spPr>
          <a:xfrm>
            <a:off x="743407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tar  filetype  zcat</a:t>
            </a:r>
            <a:endParaRPr lang="en-US" sz="1000" dirty="0"/>
          </a:p>
        </p:txBody>
      </p:sp>
      <p:sp>
        <p:nvSpPr>
          <p:cNvPr id="40" name="Shape 37"/>
          <p:cNvSpPr/>
          <p:nvPr/>
        </p:nvSpPr>
        <p:spPr>
          <a:xfrm>
            <a:off x="9509760" y="1463040"/>
            <a:ext cx="2103120" cy="2103120"/>
          </a:xfrm>
          <a:prstGeom prst="roundRect">
            <a:avLst>
              <a:gd name="adj" fmla="val 4348"/>
            </a:avLst>
          </a:prstGeom>
          <a:solidFill>
            <a:srgbClr val="F1F5FB"/>
          </a:solidFill>
          <a:ln/>
        </p:spPr>
      </p:sp>
      <p:sp>
        <p:nvSpPr>
          <p:cNvPr id="41" name="Shape 38"/>
          <p:cNvSpPr/>
          <p:nvPr/>
        </p:nvSpPr>
        <p:spPr>
          <a:xfrm>
            <a:off x="9509760" y="1463040"/>
            <a:ext cx="2103120" cy="91440"/>
          </a:xfrm>
          <a:prstGeom prst="rect">
            <a:avLst/>
          </a:prstGeom>
          <a:solidFill>
            <a:srgbClr val="D1416B"/>
          </a:solidFill>
          <a:ln/>
        </p:spPr>
      </p:sp>
      <p:sp>
        <p:nvSpPr>
          <p:cNvPr id="42" name="Shape 39"/>
          <p:cNvSpPr/>
          <p:nvPr/>
        </p:nvSpPr>
        <p:spPr>
          <a:xfrm>
            <a:off x="9674352" y="1719072"/>
            <a:ext cx="502920" cy="502920"/>
          </a:xfrm>
          <a:prstGeom prst="ellipse">
            <a:avLst/>
          </a:prstGeom>
          <a:solidFill>
            <a:srgbClr val="D1416B"/>
          </a:solidFill>
          <a:ln/>
        </p:spPr>
      </p:sp>
      <p:sp>
        <p:nvSpPr>
          <p:cNvPr id="43" name="Text 40"/>
          <p:cNvSpPr txBox="1"/>
          <p:nvPr/>
        </p:nvSpPr>
        <p:spPr>
          <a:xfrm>
            <a:off x="967435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4" name="Text 41"/>
          <p:cNvSpPr txBox="1"/>
          <p:nvPr/>
        </p:nvSpPr>
        <p:spPr>
          <a:xfrm>
            <a:off x="10287000" y="171907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45" name="Text 42"/>
          <p:cNvSpPr txBox="1"/>
          <p:nvPr/>
        </p:nvSpPr>
        <p:spPr>
          <a:xfrm>
            <a:off x="967435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Log detective</a:t>
            </a:r>
            <a:endParaRPr lang="en-US" sz="1500" dirty="0"/>
          </a:p>
        </p:txBody>
      </p:sp>
      <p:sp>
        <p:nvSpPr>
          <p:cNvPr id="46" name="Shape 43"/>
          <p:cNvSpPr/>
          <p:nvPr/>
        </p:nvSpPr>
        <p:spPr>
          <a:xfrm>
            <a:off x="9674352" y="2852928"/>
            <a:ext cx="1783080" cy="347472"/>
          </a:xfrm>
          <a:prstGeom prst="roundRect">
            <a:avLst>
              <a:gd name="adj" fmla="val 50000"/>
            </a:avLst>
          </a:prstGeom>
          <a:solidFill>
            <a:srgbClr val="FFF4DE"/>
          </a:solidFill>
          <a:ln/>
        </p:spPr>
      </p:sp>
      <p:sp>
        <p:nvSpPr>
          <p:cNvPr id="47" name="Text 44"/>
          <p:cNvSpPr txBox="1"/>
          <p:nvPr/>
        </p:nvSpPr>
        <p:spPr>
          <a:xfrm>
            <a:off x="9674352" y="285292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48" name="Text 45"/>
          <p:cNvSpPr txBox="1"/>
          <p:nvPr/>
        </p:nvSpPr>
        <p:spPr>
          <a:xfrm>
            <a:off x="967435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grep  cut  sort  uniq -c</a:t>
            </a:r>
            <a:endParaRPr lang="en-US" sz="1000" dirty="0"/>
          </a:p>
        </p:txBody>
      </p:sp>
      <p:sp>
        <p:nvSpPr>
          <p:cNvPr id="49" name="Shape 46"/>
          <p:cNvSpPr/>
          <p:nvPr/>
        </p:nvSpPr>
        <p:spPr>
          <a:xfrm>
            <a:off x="548640" y="3703320"/>
            <a:ext cx="2103120" cy="2103120"/>
          </a:xfrm>
          <a:prstGeom prst="roundRect">
            <a:avLst>
              <a:gd name="adj" fmla="val 4348"/>
            </a:avLst>
          </a:prstGeom>
          <a:solidFill>
            <a:srgbClr val="F1F5FB"/>
          </a:solidFill>
          <a:ln/>
        </p:spPr>
      </p:sp>
      <p:sp>
        <p:nvSpPr>
          <p:cNvPr id="50" name="Shape 47"/>
          <p:cNvSpPr/>
          <p:nvPr/>
        </p:nvSpPr>
        <p:spPr>
          <a:xfrm>
            <a:off x="548640" y="3703320"/>
            <a:ext cx="2103120" cy="91440"/>
          </a:xfrm>
          <a:prstGeom prst="rect">
            <a:avLst/>
          </a:prstGeom>
          <a:solidFill>
            <a:srgbClr val="E8820C"/>
          </a:solidFill>
          <a:ln/>
        </p:spPr>
      </p:sp>
      <p:sp>
        <p:nvSpPr>
          <p:cNvPr id="51" name="Shape 48"/>
          <p:cNvSpPr/>
          <p:nvPr/>
        </p:nvSpPr>
        <p:spPr>
          <a:xfrm>
            <a:off x="713232" y="3959352"/>
            <a:ext cx="502920" cy="502920"/>
          </a:xfrm>
          <a:prstGeom prst="ellipse">
            <a:avLst/>
          </a:prstGeom>
          <a:solidFill>
            <a:srgbClr val="E8820C"/>
          </a:solidFill>
          <a:ln/>
        </p:spPr>
      </p:sp>
      <p:sp>
        <p:nvSpPr>
          <p:cNvPr id="52" name="Text 49"/>
          <p:cNvSpPr txBox="1"/>
          <p:nvPr/>
        </p:nvSpPr>
        <p:spPr>
          <a:xfrm>
            <a:off x="71323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53" name="Text 50"/>
          <p:cNvSpPr txBox="1"/>
          <p:nvPr/>
        </p:nvSpPr>
        <p:spPr>
          <a:xfrm>
            <a:off x="132588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54" name="Text 51"/>
          <p:cNvSpPr txBox="1"/>
          <p:nvPr/>
        </p:nvSpPr>
        <p:spPr>
          <a:xfrm>
            <a:off x="71323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Hidden tail</a:t>
            </a:r>
            <a:endParaRPr lang="en-US" sz="1500" dirty="0"/>
          </a:p>
        </p:txBody>
      </p:sp>
      <p:sp>
        <p:nvSpPr>
          <p:cNvPr id="55" name="Shape 52"/>
          <p:cNvSpPr/>
          <p:nvPr/>
        </p:nvSpPr>
        <p:spPr>
          <a:xfrm>
            <a:off x="713232" y="5093208"/>
            <a:ext cx="1783080" cy="347472"/>
          </a:xfrm>
          <a:prstGeom prst="roundRect">
            <a:avLst>
              <a:gd name="adj" fmla="val 50000"/>
            </a:avLst>
          </a:prstGeom>
          <a:solidFill>
            <a:srgbClr val="FFF4DE"/>
          </a:solidFill>
          <a:ln/>
        </p:spPr>
      </p:sp>
      <p:sp>
        <p:nvSpPr>
          <p:cNvPr id="56" name="Text 53"/>
          <p:cNvSpPr txBox="1"/>
          <p:nvPr/>
        </p:nvSpPr>
        <p:spPr>
          <a:xfrm>
            <a:off x="713232" y="509320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57" name="Text 54"/>
          <p:cNvSpPr txBox="1"/>
          <p:nvPr/>
        </p:nvSpPr>
        <p:spPr>
          <a:xfrm>
            <a:off x="71323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strings  tail  base64 -d</a:t>
            </a:r>
            <a:endParaRPr lang="en-US" sz="1000" dirty="0"/>
          </a:p>
        </p:txBody>
      </p:sp>
      <p:sp>
        <p:nvSpPr>
          <p:cNvPr id="58" name="Shape 55"/>
          <p:cNvSpPr/>
          <p:nvPr/>
        </p:nvSpPr>
        <p:spPr>
          <a:xfrm>
            <a:off x="2788920" y="3703320"/>
            <a:ext cx="2103120" cy="2103120"/>
          </a:xfrm>
          <a:prstGeom prst="roundRect">
            <a:avLst>
              <a:gd name="adj" fmla="val 4348"/>
            </a:avLst>
          </a:prstGeom>
          <a:solidFill>
            <a:srgbClr val="F1F5FB"/>
          </a:solidFill>
          <a:ln/>
        </p:spPr>
      </p:sp>
      <p:sp>
        <p:nvSpPr>
          <p:cNvPr id="59" name="Shape 56"/>
          <p:cNvSpPr/>
          <p:nvPr/>
        </p:nvSpPr>
        <p:spPr>
          <a:xfrm>
            <a:off x="2788920" y="3703320"/>
            <a:ext cx="2103120" cy="91440"/>
          </a:xfrm>
          <a:prstGeom prst="rect">
            <a:avLst/>
          </a:prstGeom>
          <a:solidFill>
            <a:srgbClr val="C9A227"/>
          </a:solidFill>
          <a:ln/>
        </p:spPr>
      </p:sp>
      <p:sp>
        <p:nvSpPr>
          <p:cNvPr id="60" name="Shape 57"/>
          <p:cNvSpPr/>
          <p:nvPr/>
        </p:nvSpPr>
        <p:spPr>
          <a:xfrm>
            <a:off x="2953512" y="3959352"/>
            <a:ext cx="502920" cy="502920"/>
          </a:xfrm>
          <a:prstGeom prst="ellipse">
            <a:avLst/>
          </a:prstGeom>
          <a:solidFill>
            <a:srgbClr val="C9A227"/>
          </a:solidFill>
          <a:ln/>
        </p:spPr>
      </p:sp>
      <p:sp>
        <p:nvSpPr>
          <p:cNvPr id="61" name="Text 58"/>
          <p:cNvSpPr txBox="1"/>
          <p:nvPr/>
        </p:nvSpPr>
        <p:spPr>
          <a:xfrm>
            <a:off x="295351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62" name="Text 59"/>
          <p:cNvSpPr txBox="1"/>
          <p:nvPr/>
        </p:nvSpPr>
        <p:spPr>
          <a:xfrm>
            <a:off x="356616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63" name="Text 60"/>
          <p:cNvSpPr txBox="1"/>
          <p:nvPr/>
        </p:nvSpPr>
        <p:spPr>
          <a:xfrm>
            <a:off x="295351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Tampered</a:t>
            </a:r>
            <a:endParaRPr lang="en-US" sz="1500" dirty="0"/>
          </a:p>
        </p:txBody>
      </p:sp>
      <p:sp>
        <p:nvSpPr>
          <p:cNvPr id="64" name="Shape 61"/>
          <p:cNvSpPr/>
          <p:nvPr/>
        </p:nvSpPr>
        <p:spPr>
          <a:xfrm>
            <a:off x="2953512" y="5093208"/>
            <a:ext cx="1783080" cy="347472"/>
          </a:xfrm>
          <a:prstGeom prst="roundRect">
            <a:avLst>
              <a:gd name="adj" fmla="val 50000"/>
            </a:avLst>
          </a:prstGeom>
          <a:solidFill>
            <a:srgbClr val="FFF4DE"/>
          </a:solidFill>
          <a:ln/>
        </p:spPr>
      </p:sp>
      <p:sp>
        <p:nvSpPr>
          <p:cNvPr id="65" name="Text 62"/>
          <p:cNvSpPr txBox="1"/>
          <p:nvPr/>
        </p:nvSpPr>
        <p:spPr>
          <a:xfrm>
            <a:off x="2953512" y="509320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66" name="Text 63"/>
          <p:cNvSpPr txBox="1"/>
          <p:nvPr/>
        </p:nvSpPr>
        <p:spPr>
          <a:xfrm>
            <a:off x="295351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sha256sum -c  strings</a:t>
            </a:r>
            <a:endParaRPr lang="en-US" sz="1000" dirty="0"/>
          </a:p>
        </p:txBody>
      </p:sp>
      <p:sp>
        <p:nvSpPr>
          <p:cNvPr id="67" name="Shape 64"/>
          <p:cNvSpPr/>
          <p:nvPr/>
        </p:nvSpPr>
        <p:spPr>
          <a:xfrm>
            <a:off x="5029200" y="3703320"/>
            <a:ext cx="2103120" cy="2103120"/>
          </a:xfrm>
          <a:prstGeom prst="roundRect">
            <a:avLst>
              <a:gd name="adj" fmla="val 4348"/>
            </a:avLst>
          </a:prstGeom>
          <a:solidFill>
            <a:srgbClr val="F1F5FB"/>
          </a:solidFill>
          <a:ln/>
        </p:spPr>
      </p:sp>
      <p:sp>
        <p:nvSpPr>
          <p:cNvPr id="68" name="Shape 65"/>
          <p:cNvSpPr/>
          <p:nvPr/>
        </p:nvSpPr>
        <p:spPr>
          <a:xfrm>
            <a:off x="5029200" y="3703320"/>
            <a:ext cx="2103120" cy="91440"/>
          </a:xfrm>
          <a:prstGeom prst="rect">
            <a:avLst/>
          </a:prstGeom>
          <a:solidFill>
            <a:srgbClr val="0F9488"/>
          </a:solidFill>
          <a:ln/>
        </p:spPr>
      </p:sp>
      <p:sp>
        <p:nvSpPr>
          <p:cNvPr id="69" name="Shape 66"/>
          <p:cNvSpPr/>
          <p:nvPr/>
        </p:nvSpPr>
        <p:spPr>
          <a:xfrm>
            <a:off x="5193792" y="3959352"/>
            <a:ext cx="502920" cy="502920"/>
          </a:xfrm>
          <a:prstGeom prst="ellipse">
            <a:avLst/>
          </a:prstGeom>
          <a:solidFill>
            <a:srgbClr val="0F9488"/>
          </a:solidFill>
          <a:ln/>
        </p:spPr>
      </p:sp>
      <p:sp>
        <p:nvSpPr>
          <p:cNvPr id="70" name="Text 67"/>
          <p:cNvSpPr txBox="1"/>
          <p:nvPr/>
        </p:nvSpPr>
        <p:spPr>
          <a:xfrm>
            <a:off x="519379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71" name="Text 68"/>
          <p:cNvSpPr txBox="1"/>
          <p:nvPr/>
        </p:nvSpPr>
        <p:spPr>
          <a:xfrm>
            <a:off x="580644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72" name="Text 69"/>
          <p:cNvSpPr txBox="1"/>
          <p:nvPr/>
        </p:nvSpPr>
        <p:spPr>
          <a:xfrm>
            <a:off x="519379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Persistence</a:t>
            </a:r>
            <a:endParaRPr lang="en-US" sz="1500" dirty="0"/>
          </a:p>
        </p:txBody>
      </p:sp>
      <p:sp>
        <p:nvSpPr>
          <p:cNvPr id="73" name="Shape 70"/>
          <p:cNvSpPr/>
          <p:nvPr/>
        </p:nvSpPr>
        <p:spPr>
          <a:xfrm>
            <a:off x="5193792" y="5093208"/>
            <a:ext cx="1783080" cy="347472"/>
          </a:xfrm>
          <a:prstGeom prst="roundRect">
            <a:avLst>
              <a:gd name="adj" fmla="val 50000"/>
            </a:avLst>
          </a:prstGeom>
          <a:solidFill>
            <a:srgbClr val="FDE8EC"/>
          </a:solidFill>
          <a:ln/>
        </p:spPr>
      </p:sp>
      <p:sp>
        <p:nvSpPr>
          <p:cNvPr id="74" name="Text 71"/>
          <p:cNvSpPr txBox="1"/>
          <p:nvPr/>
        </p:nvSpPr>
        <p:spPr>
          <a:xfrm>
            <a:off x="5193792" y="5093208"/>
            <a:ext cx="1783080" cy="347472"/>
          </a:xfrm>
          <a:prstGeom prst="rect">
            <a:avLst/>
          </a:prstGeom>
          <a:noFill/>
          <a:ln/>
        </p:spPr>
        <p:txBody>
          <a:bodyPr wrap="square" lIns="0" tIns="0" rIns="0" bIns="0" rtlCol="0" anchor="ctr"/>
          <a:lstStyle/>
          <a:p>
            <a:pPr algn="ctr" indent="0" marL="0">
              <a:buNone/>
            </a:pPr>
            <a:r>
              <a:rPr lang="en-US" sz="1050" b="1" dirty="0">
                <a:solidFill>
                  <a:srgbClr val="B4233F"/>
                </a:solidFill>
                <a:latin typeface="Calibri" pitchFamily="34" charset="0"/>
                <a:ea typeface="Calibri" pitchFamily="34" charset="-122"/>
                <a:cs typeface="Calibri" pitchFamily="34" charset="-120"/>
              </a:rPr>
              <a:t>HARD  ·  400</a:t>
            </a:r>
            <a:endParaRPr lang="en-US" sz="1050" dirty="0"/>
          </a:p>
        </p:txBody>
      </p:sp>
      <p:sp>
        <p:nvSpPr>
          <p:cNvPr id="75" name="Text 72"/>
          <p:cNvSpPr txBox="1"/>
          <p:nvPr/>
        </p:nvSpPr>
        <p:spPr>
          <a:xfrm>
            <a:off x="519379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cat  ls -a  base64 -d</a:t>
            </a:r>
            <a:endParaRPr lang="en-US" sz="1000" dirty="0"/>
          </a:p>
        </p:txBody>
      </p:sp>
      <p:sp>
        <p:nvSpPr>
          <p:cNvPr id="76" name="Shape 73"/>
          <p:cNvSpPr/>
          <p:nvPr/>
        </p:nvSpPr>
        <p:spPr>
          <a:xfrm>
            <a:off x="7269480" y="3703320"/>
            <a:ext cx="2103120" cy="2103120"/>
          </a:xfrm>
          <a:prstGeom prst="roundRect">
            <a:avLst>
              <a:gd name="adj" fmla="val 4348"/>
            </a:avLst>
          </a:prstGeom>
          <a:solidFill>
            <a:srgbClr val="F1F5FB"/>
          </a:solidFill>
          <a:ln/>
        </p:spPr>
      </p:sp>
      <p:sp>
        <p:nvSpPr>
          <p:cNvPr id="77" name="Shape 74"/>
          <p:cNvSpPr/>
          <p:nvPr/>
        </p:nvSpPr>
        <p:spPr>
          <a:xfrm>
            <a:off x="7269480" y="3703320"/>
            <a:ext cx="2103120" cy="91440"/>
          </a:xfrm>
          <a:prstGeom prst="rect">
            <a:avLst/>
          </a:prstGeom>
          <a:solidFill>
            <a:srgbClr val="5B6EE1"/>
          </a:solidFill>
          <a:ln/>
        </p:spPr>
      </p:sp>
      <p:sp>
        <p:nvSpPr>
          <p:cNvPr id="78" name="Shape 75"/>
          <p:cNvSpPr/>
          <p:nvPr/>
        </p:nvSpPr>
        <p:spPr>
          <a:xfrm>
            <a:off x="7434072" y="3959352"/>
            <a:ext cx="502920" cy="502920"/>
          </a:xfrm>
          <a:prstGeom prst="ellipse">
            <a:avLst/>
          </a:prstGeom>
          <a:solidFill>
            <a:srgbClr val="5B6EE1"/>
          </a:solidFill>
          <a:ln/>
        </p:spPr>
      </p:sp>
      <p:sp>
        <p:nvSpPr>
          <p:cNvPr id="79" name="Text 76"/>
          <p:cNvSpPr txBox="1"/>
          <p:nvPr/>
        </p:nvSpPr>
        <p:spPr>
          <a:xfrm>
            <a:off x="743407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9</a:t>
            </a:r>
            <a:endParaRPr lang="en-US" sz="1700" dirty="0"/>
          </a:p>
        </p:txBody>
      </p:sp>
      <p:sp>
        <p:nvSpPr>
          <p:cNvPr id="80" name="Text 77"/>
          <p:cNvSpPr txBox="1"/>
          <p:nvPr/>
        </p:nvSpPr>
        <p:spPr>
          <a:xfrm>
            <a:off x="804672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81" name="Text 78"/>
          <p:cNvSpPr txBox="1"/>
          <p:nvPr/>
        </p:nvSpPr>
        <p:spPr>
          <a:xfrm>
            <a:off x="743407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Leaked in pieces</a:t>
            </a:r>
            <a:endParaRPr lang="en-US" sz="1500" dirty="0"/>
          </a:p>
        </p:txBody>
      </p:sp>
      <p:sp>
        <p:nvSpPr>
          <p:cNvPr id="82" name="Shape 79"/>
          <p:cNvSpPr/>
          <p:nvPr/>
        </p:nvSpPr>
        <p:spPr>
          <a:xfrm>
            <a:off x="7434072" y="5093208"/>
            <a:ext cx="1783080" cy="347472"/>
          </a:xfrm>
          <a:prstGeom prst="roundRect">
            <a:avLst>
              <a:gd name="adj" fmla="val 50000"/>
            </a:avLst>
          </a:prstGeom>
          <a:solidFill>
            <a:srgbClr val="FDE8EC"/>
          </a:solidFill>
          <a:ln/>
        </p:spPr>
      </p:sp>
      <p:sp>
        <p:nvSpPr>
          <p:cNvPr id="83" name="Text 80"/>
          <p:cNvSpPr txBox="1"/>
          <p:nvPr/>
        </p:nvSpPr>
        <p:spPr>
          <a:xfrm>
            <a:off x="7434072" y="5093208"/>
            <a:ext cx="1783080" cy="347472"/>
          </a:xfrm>
          <a:prstGeom prst="rect">
            <a:avLst/>
          </a:prstGeom>
          <a:noFill/>
          <a:ln/>
        </p:spPr>
        <p:txBody>
          <a:bodyPr wrap="square" lIns="0" tIns="0" rIns="0" bIns="0" rtlCol="0" anchor="ctr"/>
          <a:lstStyle/>
          <a:p>
            <a:pPr algn="ctr" indent="0" marL="0">
              <a:buNone/>
            </a:pPr>
            <a:r>
              <a:rPr lang="en-US" sz="1050" b="1" dirty="0">
                <a:solidFill>
                  <a:srgbClr val="B4233F"/>
                </a:solidFill>
                <a:latin typeface="Calibri" pitchFamily="34" charset="0"/>
                <a:ea typeface="Calibri" pitchFamily="34" charset="-122"/>
                <a:cs typeface="Calibri" pitchFamily="34" charset="-120"/>
              </a:rPr>
              <a:t>HARD  ·  400</a:t>
            </a:r>
            <a:endParaRPr lang="en-US" sz="1050" dirty="0"/>
          </a:p>
        </p:txBody>
      </p:sp>
      <p:sp>
        <p:nvSpPr>
          <p:cNvPr id="84" name="Text 81"/>
          <p:cNvSpPr txBox="1"/>
          <p:nvPr/>
        </p:nvSpPr>
        <p:spPr>
          <a:xfrm>
            <a:off x="743407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grep · cut · sort · xxd</a:t>
            </a:r>
            <a:endParaRPr lang="en-US" sz="1000" dirty="0"/>
          </a:p>
        </p:txBody>
      </p:sp>
      <p:sp>
        <p:nvSpPr>
          <p:cNvPr id="85" name="Shape 82"/>
          <p:cNvSpPr/>
          <p:nvPr/>
        </p:nvSpPr>
        <p:spPr>
          <a:xfrm>
            <a:off x="9509760" y="3703320"/>
            <a:ext cx="2103120" cy="2103120"/>
          </a:xfrm>
          <a:prstGeom prst="roundRect">
            <a:avLst>
              <a:gd name="adj" fmla="val 4348"/>
            </a:avLst>
          </a:prstGeom>
          <a:solidFill>
            <a:srgbClr val="F1F5FB"/>
          </a:solidFill>
          <a:ln/>
        </p:spPr>
      </p:sp>
      <p:sp>
        <p:nvSpPr>
          <p:cNvPr id="86" name="Shape 83"/>
          <p:cNvSpPr/>
          <p:nvPr/>
        </p:nvSpPr>
        <p:spPr>
          <a:xfrm>
            <a:off x="9509760" y="3703320"/>
            <a:ext cx="2103120" cy="91440"/>
          </a:xfrm>
          <a:prstGeom prst="rect">
            <a:avLst/>
          </a:prstGeom>
          <a:solidFill>
            <a:srgbClr val="B4233F"/>
          </a:solidFill>
          <a:ln/>
        </p:spPr>
      </p:sp>
      <p:sp>
        <p:nvSpPr>
          <p:cNvPr id="87" name="Shape 84"/>
          <p:cNvSpPr/>
          <p:nvPr/>
        </p:nvSpPr>
        <p:spPr>
          <a:xfrm>
            <a:off x="9674352" y="3959352"/>
            <a:ext cx="502920" cy="502920"/>
          </a:xfrm>
          <a:prstGeom prst="ellipse">
            <a:avLst/>
          </a:prstGeom>
          <a:solidFill>
            <a:srgbClr val="B4233F"/>
          </a:solidFill>
          <a:ln/>
        </p:spPr>
      </p:sp>
      <p:sp>
        <p:nvSpPr>
          <p:cNvPr id="88" name="Text 85"/>
          <p:cNvSpPr txBox="1"/>
          <p:nvPr/>
        </p:nvSpPr>
        <p:spPr>
          <a:xfrm>
            <a:off x="967435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10</a:t>
            </a:r>
            <a:endParaRPr lang="en-US" sz="1700" dirty="0"/>
          </a:p>
        </p:txBody>
      </p:sp>
      <p:sp>
        <p:nvSpPr>
          <p:cNvPr id="89" name="Text 86"/>
          <p:cNvSpPr txBox="1"/>
          <p:nvPr/>
        </p:nvSpPr>
        <p:spPr>
          <a:xfrm>
            <a:off x="1028700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90" name="Text 87"/>
          <p:cNvSpPr txBox="1"/>
          <p:nvPr/>
        </p:nvSpPr>
        <p:spPr>
          <a:xfrm>
            <a:off x="967435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Case closed</a:t>
            </a:r>
            <a:endParaRPr lang="en-US" sz="1500" dirty="0"/>
          </a:p>
        </p:txBody>
      </p:sp>
      <p:sp>
        <p:nvSpPr>
          <p:cNvPr id="91" name="Shape 88"/>
          <p:cNvSpPr/>
          <p:nvPr/>
        </p:nvSpPr>
        <p:spPr>
          <a:xfrm>
            <a:off x="9674352" y="5093208"/>
            <a:ext cx="1783080" cy="347472"/>
          </a:xfrm>
          <a:prstGeom prst="roundRect">
            <a:avLst>
              <a:gd name="adj" fmla="val 50000"/>
            </a:avLst>
          </a:prstGeom>
          <a:solidFill>
            <a:srgbClr val="2A1430"/>
          </a:solidFill>
          <a:ln/>
        </p:spPr>
      </p:sp>
      <p:sp>
        <p:nvSpPr>
          <p:cNvPr id="92" name="Text 89"/>
          <p:cNvSpPr txBox="1"/>
          <p:nvPr/>
        </p:nvSpPr>
        <p:spPr>
          <a:xfrm>
            <a:off x="9674352" y="5093208"/>
            <a:ext cx="1783080" cy="347472"/>
          </a:xfrm>
          <a:prstGeom prst="rect">
            <a:avLst/>
          </a:prstGeom>
          <a:noFill/>
          <a:ln/>
        </p:spPr>
        <p:txBody>
          <a:bodyPr wrap="square" lIns="0" tIns="0" rIns="0" bIns="0" rtlCol="0" anchor="ctr"/>
          <a:lstStyle/>
          <a:p>
            <a:pPr algn="ctr" indent="0" marL="0">
              <a:buNone/>
            </a:pPr>
            <a:r>
              <a:rPr lang="en-US" sz="1050" b="1" dirty="0">
                <a:solidFill>
                  <a:srgbClr val="FF8FB1"/>
                </a:solidFill>
                <a:latin typeface="Calibri" pitchFamily="34" charset="0"/>
                <a:ea typeface="Calibri" pitchFamily="34" charset="-122"/>
                <a:cs typeface="Calibri" pitchFamily="34" charset="-120"/>
              </a:rPr>
              <a:t>VERY HARD  ·  800</a:t>
            </a:r>
            <a:endParaRPr lang="en-US" sz="1050" dirty="0"/>
          </a:p>
        </p:txBody>
      </p:sp>
      <p:sp>
        <p:nvSpPr>
          <p:cNvPr id="93" name="Text 90"/>
          <p:cNvSpPr txBox="1"/>
          <p:nvPr/>
        </p:nvSpPr>
        <p:spPr>
          <a:xfrm>
            <a:off x="967435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grep · filetype · zcat</a:t>
            </a:r>
            <a:endParaRPr lang="en-US" sz="1000" dirty="0"/>
          </a:p>
        </p:txBody>
      </p:sp>
      <p:sp>
        <p:nvSpPr>
          <p:cNvPr id="94" name="Text 9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26 / 60</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17875A"/>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1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E2F5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20624"/>
            <a:ext cx="421538" cy="402336"/>
          </a:xfrm>
          <a:prstGeom prst="roundRect">
            <a:avLst>
              <a:gd name="adj" fmla="val 13636"/>
            </a:avLst>
          </a:prstGeom>
          <a:solidFill>
            <a:srgbClr val="17875A"/>
          </a:solidFill>
          <a:ln/>
        </p:spPr>
      </p:sp>
      <p:sp>
        <p:nvSpPr>
          <p:cNvPr id="8" name="Text 5"/>
          <p:cNvSpPr txBox="1"/>
          <p:nvPr/>
        </p:nvSpPr>
        <p:spPr>
          <a:xfrm>
            <a:off x="676656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7261250" y="475488"/>
            <a:ext cx="421538" cy="292608"/>
          </a:xfrm>
          <a:prstGeom prst="roundRect">
            <a:avLst>
              <a:gd name="adj" fmla="val 18750"/>
            </a:avLst>
          </a:prstGeom>
          <a:solidFill>
            <a:srgbClr val="E4EAF3"/>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Case file</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Ten files, ten flags. The break-in happened at one exact minute last night, and only the file changed at that minute holds the real flag.</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~/mission1/evidence/</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ls -l  cat</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Where does README.txt say the break-in time is?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ls option shows when a file was last changed?</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do we check only one line of a long listing?</a:t>
            </a:r>
            <a:endParaRPr lang="en-US" sz="1500" dirty="0"/>
          </a:p>
        </p:txBody>
      </p:sp>
      <p:sp>
        <p:nvSpPr>
          <p:cNvPr id="39" name="Shape 36"/>
          <p:cNvSpPr/>
          <p:nvPr/>
        </p:nvSpPr>
        <p:spPr>
          <a:xfrm>
            <a:off x="7269480" y="4892040"/>
            <a:ext cx="4370832" cy="1051560"/>
          </a:xfrm>
          <a:prstGeom prst="roundRect">
            <a:avLst>
              <a:gd name="adj" fmla="val 8696"/>
            </a:avLst>
          </a:prstGeom>
          <a:solidFill>
            <a:srgbClr val="2459D8"/>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We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Class calls out each command. Mentor types.</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27 / 60</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17875A"/>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1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E2F5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20624"/>
            <a:ext cx="421538" cy="402336"/>
          </a:xfrm>
          <a:prstGeom prst="roundRect">
            <a:avLst>
              <a:gd name="adj" fmla="val 13636"/>
            </a:avLst>
          </a:prstGeom>
          <a:solidFill>
            <a:srgbClr val="17875A"/>
          </a:solidFill>
          <a:ln/>
        </p:spPr>
      </p:sp>
      <p:sp>
        <p:nvSpPr>
          <p:cNvPr id="8" name="Text 5"/>
          <p:cNvSpPr txBox="1"/>
          <p:nvPr/>
        </p:nvSpPr>
        <p:spPr>
          <a:xfrm>
            <a:off x="676656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7261250" y="475488"/>
            <a:ext cx="421538" cy="292608"/>
          </a:xfrm>
          <a:prstGeom prst="roundRect">
            <a:avLst>
              <a:gd name="adj" fmla="val 18750"/>
            </a:avLst>
          </a:prstGeom>
          <a:solidFill>
            <a:srgbClr val="E4EAF3"/>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Case file</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cd ~/mission1</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head -1 README.txt</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The break-in happened at 02:53 last night.</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ls -l evidence</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-rw-r--r-- 1 player player 47 Oct  8 17:15 backup.log</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-rw-r--r-- 1 player player 47 Oct  8 13:46 budget.csv</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-rw-r--r-- 1 player player 47 Oct  8 02:53 memo.txt</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cat evidence/memo.txt</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Last edited during the break-in.</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Flag: CYBA{case-...}</a:t>
            </a:r>
            <a:endParaRPr lang="en-US" sz="12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17875A"/>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README.txt gave this game's break-in minute.</a:t>
            </a:r>
            <a:endParaRPr lang="en-US" sz="1400" dirty="0"/>
          </a:p>
        </p:txBody>
      </p:sp>
      <p:sp>
        <p:nvSpPr>
          <p:cNvPr id="38" name="Shape 35"/>
          <p:cNvSpPr/>
          <p:nvPr/>
        </p:nvSpPr>
        <p:spPr>
          <a:xfrm>
            <a:off x="7543800" y="2980944"/>
            <a:ext cx="457200" cy="457200"/>
          </a:xfrm>
          <a:prstGeom prst="ellipse">
            <a:avLst/>
          </a:prstGeom>
          <a:solidFill>
            <a:srgbClr val="17875A"/>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ls -l showed every file's last-modified time.</a:t>
            </a:r>
            <a:endParaRPr lang="en-US" sz="1400" dirty="0"/>
          </a:p>
        </p:txBody>
      </p:sp>
      <p:sp>
        <p:nvSpPr>
          <p:cNvPr id="41" name="Shape 38"/>
          <p:cNvSpPr/>
          <p:nvPr/>
        </p:nvSpPr>
        <p:spPr>
          <a:xfrm>
            <a:off x="7543800" y="3767328"/>
            <a:ext cx="457200" cy="457200"/>
          </a:xfrm>
          <a:prstGeom prst="ellipse">
            <a:avLst/>
          </a:prstGeom>
          <a:solidFill>
            <a:srgbClr val="17875A"/>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One file changed in the middle of the night: that's the evidence.</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Investigators build a timeline from file times. It tells them what the intruder touched, and when.</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17875A"/>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Sort the files by time with  ls -lt evidence. Which file changed most recently?</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28 / 60</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2A9FD6"/>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2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E2F5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20624"/>
            <a:ext cx="421538" cy="402336"/>
          </a:xfrm>
          <a:prstGeom prst="roundRect">
            <a:avLst>
              <a:gd name="adj" fmla="val 13636"/>
            </a:avLst>
          </a:prstGeom>
          <a:solidFill>
            <a:srgbClr val="2A9FD6"/>
          </a:solidFill>
          <a:ln/>
        </p:spPr>
      </p:sp>
      <p:sp>
        <p:nvSpPr>
          <p:cNvPr id="10" name="Text 7"/>
          <p:cNvSpPr txBox="1"/>
          <p:nvPr/>
        </p:nvSpPr>
        <p:spPr>
          <a:xfrm>
            <a:off x="726125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Say cheese</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An ordinary-looking photo. But pictures carry hidden fields (camera, software, time, author, comments) that viewers never show. Read them.</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~/mission2/photo.jpg</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strings  |  grep</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is metadata?</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Why would metadata matter to an investigator?</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tool pulls readable text out of any file?</a:t>
            </a:r>
            <a:endParaRPr lang="en-US" sz="1500" dirty="0"/>
          </a:p>
        </p:txBody>
      </p:sp>
      <p:sp>
        <p:nvSpPr>
          <p:cNvPr id="39" name="Shape 36"/>
          <p:cNvSpPr/>
          <p:nvPr/>
        </p:nvSpPr>
        <p:spPr>
          <a:xfrm>
            <a:off x="7269480" y="4892040"/>
            <a:ext cx="4370832" cy="1051560"/>
          </a:xfrm>
          <a:prstGeom prst="roundRect">
            <a:avLst>
              <a:gd name="adj" fmla="val 8696"/>
            </a:avLst>
          </a:prstGeom>
          <a:solidFill>
            <a:srgbClr val="2459D8"/>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We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Class calls out each command. Mentor types.</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29 / 60</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2A9FD6"/>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2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E2F5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20624"/>
            <a:ext cx="421538" cy="402336"/>
          </a:xfrm>
          <a:prstGeom prst="roundRect">
            <a:avLst>
              <a:gd name="adj" fmla="val 13636"/>
            </a:avLst>
          </a:prstGeom>
          <a:solidFill>
            <a:srgbClr val="2A9FD6"/>
          </a:solidFill>
          <a:ln/>
        </p:spPr>
      </p:sp>
      <p:sp>
        <p:nvSpPr>
          <p:cNvPr id="10" name="Text 7"/>
          <p:cNvSpPr txBox="1"/>
          <p:nvPr/>
        </p:nvSpPr>
        <p:spPr>
          <a:xfrm>
            <a:off x="726125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Say cheese</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50" b="1" dirty="0">
                <a:solidFill>
                  <a:srgbClr val="FFFFFF"/>
                </a:solidFill>
                <a:latin typeface="Courier New" pitchFamily="34" charset="0"/>
                <a:ea typeface="Courier New" pitchFamily="34" charset="-122"/>
                <a:cs typeface="Courier New" pitchFamily="34" charset="-120"/>
              </a:rPr>
              <a:t>cd ~/mission2</a:t>
            </a:r>
            <a:endParaRPr lang="en-US" sz="1250" dirty="0"/>
          </a:p>
          <a:p>
            <a:pPr indent="0" marL="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50" b="1" dirty="0">
                <a:solidFill>
                  <a:srgbClr val="FFFFFF"/>
                </a:solidFill>
                <a:latin typeface="Courier New" pitchFamily="34" charset="0"/>
                <a:ea typeface="Courier New" pitchFamily="34" charset="-122"/>
                <a:cs typeface="Courier New" pitchFamily="34" charset="-120"/>
              </a:rPr>
              <a:t>filetype photo.jpg</a:t>
            </a:r>
            <a:endParaRPr lang="en-US" sz="1250" dirty="0"/>
          </a:p>
          <a:p>
            <a:pPr indent="0" marL="0">
              <a:spcAft>
                <a:spcPts val="200"/>
              </a:spcAft>
              <a:buNone/>
            </a:pPr>
            <a:r>
              <a:rPr lang="en-US" sz="1250" dirty="0">
                <a:solidFill>
                  <a:srgbClr val="B8C4D9"/>
                </a:solidFill>
                <a:latin typeface="Courier New" pitchFamily="34" charset="0"/>
                <a:ea typeface="Courier New" pitchFamily="34" charset="-122"/>
                <a:cs typeface="Courier New" pitchFamily="34" charset="-120"/>
              </a:rPr>
              <a:t>photo.jpg: JPEG image data</a:t>
            </a:r>
            <a:endParaRPr lang="en-US" sz="1250" dirty="0"/>
          </a:p>
          <a:p>
            <a:pPr indent="0" marL="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50" b="1" dirty="0">
                <a:solidFill>
                  <a:srgbClr val="FFFFFF"/>
                </a:solidFill>
                <a:latin typeface="Courier New" pitchFamily="34" charset="0"/>
                <a:ea typeface="Courier New" pitchFamily="34" charset="-122"/>
                <a:cs typeface="Courier New" pitchFamily="34" charset="-120"/>
              </a:rPr>
              <a:t>strings photo.jpg | head -6</a:t>
            </a:r>
            <a:endParaRPr lang="en-US" sz="1250" dirty="0"/>
          </a:p>
          <a:p>
            <a:pPr indent="0" marL="0">
              <a:spcAft>
                <a:spcPts val="200"/>
              </a:spcAft>
              <a:buNone/>
            </a:pPr>
            <a:r>
              <a:rPr lang="en-US" sz="1250" dirty="0">
                <a:solidFill>
                  <a:srgbClr val="B8C4D9"/>
                </a:solidFill>
                <a:latin typeface="Courier New" pitchFamily="34" charset="0"/>
                <a:ea typeface="Courier New" pitchFamily="34" charset="-122"/>
                <a:cs typeface="Courier New" pitchFamily="34" charset="-120"/>
              </a:rPr>
              <a:t>JFIF</a:t>
            </a:r>
            <a:endParaRPr lang="en-US" sz="1250" dirty="0"/>
          </a:p>
          <a:p>
            <a:pPr indent="0" marL="0">
              <a:spcAft>
                <a:spcPts val="200"/>
              </a:spcAft>
              <a:buNone/>
            </a:pPr>
            <a:r>
              <a:rPr lang="en-US" sz="1250" dirty="0">
                <a:solidFill>
                  <a:srgbClr val="B8C4D9"/>
                </a:solidFill>
                <a:latin typeface="Courier New" pitchFamily="34" charset="0"/>
                <a:ea typeface="Courier New" pitchFamily="34" charset="-122"/>
                <a:cs typeface="Courier New" pitchFamily="34" charset="-120"/>
              </a:rPr>
              <a:t>Camera: QuestCam X100</a:t>
            </a:r>
            <a:endParaRPr lang="en-US" sz="1250" dirty="0"/>
          </a:p>
          <a:p>
            <a:pPr indent="0" marL="0">
              <a:spcAft>
                <a:spcPts val="200"/>
              </a:spcAft>
              <a:buNone/>
            </a:pPr>
            <a:r>
              <a:rPr lang="en-US" sz="1250" dirty="0">
                <a:solidFill>
                  <a:srgbClr val="B8C4D9"/>
                </a:solidFill>
                <a:latin typeface="Courier New" pitchFamily="34" charset="0"/>
                <a:ea typeface="Courier New" pitchFamily="34" charset="-122"/>
                <a:cs typeface="Courier New" pitchFamily="34" charset="-120"/>
              </a:rPr>
              <a:t>Software: PhotoFix 2.1</a:t>
            </a:r>
            <a:endParaRPr lang="en-US" sz="1250" dirty="0"/>
          </a:p>
          <a:p>
            <a:pPr indent="0" marL="0">
              <a:spcAft>
                <a:spcPts val="200"/>
              </a:spcAft>
              <a:buNone/>
            </a:pPr>
            <a:r>
              <a:rPr lang="en-US" sz="1250" dirty="0">
                <a:solidFill>
                  <a:srgbClr val="B8C4D9"/>
                </a:solidFill>
                <a:latin typeface="Courier New" pitchFamily="34" charset="0"/>
                <a:ea typeface="Courier New" pitchFamily="34" charset="-122"/>
                <a:cs typeface="Courier New" pitchFamily="34" charset="-120"/>
              </a:rPr>
              <a:t>Taken: 2026-10-08 02:41</a:t>
            </a:r>
            <a:endParaRPr lang="en-US" sz="1250" dirty="0"/>
          </a:p>
          <a:p>
            <a:pPr indent="0" marL="0">
              <a:spcAft>
                <a:spcPts val="200"/>
              </a:spcAft>
              <a:buNone/>
            </a:pPr>
            <a:r>
              <a:rPr lang="en-US" sz="1250" dirty="0">
                <a:solidFill>
                  <a:srgbClr val="B8C4D9"/>
                </a:solidFill>
                <a:latin typeface="Courier New" pitchFamily="34" charset="0"/>
                <a:ea typeface="Courier New" pitchFamily="34" charset="-122"/>
                <a:cs typeface="Courier New" pitchFamily="34" charset="-120"/>
              </a:rPr>
              <a:t>Author: night-shift</a:t>
            </a:r>
            <a:endParaRPr lang="en-US" sz="1250" dirty="0"/>
          </a:p>
          <a:p>
            <a:pPr indent="0" marL="0">
              <a:spcAft>
                <a:spcPts val="200"/>
              </a:spcAft>
              <a:buNone/>
            </a:pPr>
            <a:r>
              <a:rPr lang="en-US" sz="1250" b="1" dirty="0">
                <a:solidFill>
                  <a:srgbClr val="F5A623"/>
                </a:solidFill>
                <a:latin typeface="Courier New" pitchFamily="34" charset="0"/>
                <a:ea typeface="Courier New" pitchFamily="34" charset="-122"/>
                <a:cs typeface="Courier New" pitchFamily="34" charset="-120"/>
              </a:rPr>
              <a:t>Comment: CYBA{meta-...}</a:t>
            </a:r>
            <a:endParaRPr lang="en-US" sz="125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2A9FD6"/>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photo is a real JPEG; viewers only show the picture.</a:t>
            </a:r>
            <a:endParaRPr lang="en-US" sz="1400" dirty="0"/>
          </a:p>
        </p:txBody>
      </p:sp>
      <p:sp>
        <p:nvSpPr>
          <p:cNvPr id="38" name="Shape 35"/>
          <p:cNvSpPr/>
          <p:nvPr/>
        </p:nvSpPr>
        <p:spPr>
          <a:xfrm>
            <a:off x="7543800" y="2980944"/>
            <a:ext cx="457200" cy="457200"/>
          </a:xfrm>
          <a:prstGeom prst="ellipse">
            <a:avLst/>
          </a:prstGeom>
          <a:solidFill>
            <a:srgbClr val="2A9FD6"/>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Its metadata fields sit in the file as plain text.</a:t>
            </a:r>
            <a:endParaRPr lang="en-US" sz="1400" dirty="0"/>
          </a:p>
        </p:txBody>
      </p:sp>
      <p:sp>
        <p:nvSpPr>
          <p:cNvPr id="41" name="Shape 38"/>
          <p:cNvSpPr/>
          <p:nvPr/>
        </p:nvSpPr>
        <p:spPr>
          <a:xfrm>
            <a:off x="7543800" y="3767328"/>
            <a:ext cx="457200" cy="457200"/>
          </a:xfrm>
          <a:prstGeom prst="ellipse">
            <a:avLst/>
          </a:prstGeom>
          <a:solidFill>
            <a:srgbClr val="2A9FD6"/>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strings printed them, including the Comment.</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Metadata has exposed real people: camera serial numbers, edit software, even GPS location. exiftool reads it all.</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2A9FD6"/>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See the fields in hex:  head -c 120 photo.jpg | xxd</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30 / 60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Now you try</a:t>
            </a:r>
            <a:endParaRPr lang="en-US" sz="3200" dirty="0"/>
          </a:p>
        </p:txBody>
      </p:sp>
      <p:sp>
        <p:nvSpPr>
          <p:cNvPr id="4" name="Text 1"/>
          <p:cNvSpPr txBox="1"/>
          <p:nvPr/>
        </p:nvSpPr>
        <p:spPr>
          <a:xfrm>
            <a:off x="548640" y="1417320"/>
            <a:ext cx="11094415" cy="457200"/>
          </a:xfrm>
          <a:prstGeom prst="rect">
            <a:avLst/>
          </a:prstGeom>
          <a:noFill/>
          <a:ln/>
        </p:spPr>
        <p:txBody>
          <a:bodyPr wrap="square" lIns="0" tIns="0" rIns="0" bIns="0" rtlCol="0" anchor="t"/>
          <a:lstStyle/>
          <a:p>
            <a:pPr indent="0" marL="0">
              <a:buNone/>
            </a:pPr>
            <a:r>
              <a:rPr lang="en-US" sz="1800" dirty="0">
                <a:solidFill>
                  <a:srgbClr val="56657E"/>
                </a:solidFill>
                <a:latin typeface="Calibri" pitchFamily="34" charset="0"/>
                <a:ea typeface="Calibri" pitchFamily="34" charset="-122"/>
                <a:cs typeface="Calibri" pitchFamily="34" charset="-120"/>
              </a:rPr>
              <a:t>Pick a case and run the loop. You don't have to finish - starting is the win.</a:t>
            </a:r>
            <a:endParaRPr lang="en-US" sz="1800" dirty="0"/>
          </a:p>
        </p:txBody>
      </p:sp>
      <p:sp>
        <p:nvSpPr>
          <p:cNvPr id="5" name="Shape 2"/>
          <p:cNvSpPr/>
          <p:nvPr/>
        </p:nvSpPr>
        <p:spPr>
          <a:xfrm>
            <a:off x="548640" y="2057400"/>
            <a:ext cx="3566160" cy="1280160"/>
          </a:xfrm>
          <a:prstGeom prst="roundRect">
            <a:avLst>
              <a:gd name="adj" fmla="val 7143"/>
            </a:avLst>
          </a:prstGeom>
          <a:solidFill>
            <a:srgbClr val="F1F5FB"/>
          </a:solidFill>
          <a:ln/>
        </p:spPr>
      </p:sp>
      <p:sp>
        <p:nvSpPr>
          <p:cNvPr id="6" name="Shape 3"/>
          <p:cNvSpPr/>
          <p:nvPr/>
        </p:nvSpPr>
        <p:spPr>
          <a:xfrm>
            <a:off x="548640" y="2057400"/>
            <a:ext cx="109728" cy="1280160"/>
          </a:xfrm>
          <a:prstGeom prst="roundRect">
            <a:avLst/>
          </a:prstGeom>
          <a:solidFill>
            <a:srgbClr val="17875A"/>
          </a:solidFill>
          <a:ln/>
        </p:spPr>
      </p:sp>
      <p:sp>
        <p:nvSpPr>
          <p:cNvPr id="7" name="Text 4"/>
          <p:cNvSpPr txBox="1"/>
          <p:nvPr/>
        </p:nvSpPr>
        <p:spPr>
          <a:xfrm>
            <a:off x="868680" y="225856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Check when a file changed</a:t>
            </a:r>
            <a:endParaRPr lang="en-US" sz="1650" dirty="0"/>
          </a:p>
        </p:txBody>
      </p:sp>
      <p:sp>
        <p:nvSpPr>
          <p:cNvPr id="8" name="Shape 5"/>
          <p:cNvSpPr/>
          <p:nvPr/>
        </p:nvSpPr>
        <p:spPr>
          <a:xfrm>
            <a:off x="868680" y="2807208"/>
            <a:ext cx="2194560" cy="384048"/>
          </a:xfrm>
          <a:prstGeom prst="roundRect">
            <a:avLst>
              <a:gd name="adj" fmla="val 19048"/>
            </a:avLst>
          </a:prstGeom>
          <a:solidFill>
            <a:srgbClr val="0E1726"/>
          </a:solidFill>
          <a:ln/>
        </p:spPr>
      </p:sp>
      <p:sp>
        <p:nvSpPr>
          <p:cNvPr id="9" name="Text 6"/>
          <p:cNvSpPr txBox="1"/>
          <p:nvPr/>
        </p:nvSpPr>
        <p:spPr>
          <a:xfrm>
            <a:off x="868680" y="280720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ls -l</a:t>
            </a:r>
            <a:endParaRPr lang="en-US" sz="1250" dirty="0"/>
          </a:p>
        </p:txBody>
      </p:sp>
      <p:sp>
        <p:nvSpPr>
          <p:cNvPr id="10" name="Shape 7"/>
          <p:cNvSpPr/>
          <p:nvPr/>
        </p:nvSpPr>
        <p:spPr>
          <a:xfrm>
            <a:off x="4306824" y="2057400"/>
            <a:ext cx="3566160" cy="1280160"/>
          </a:xfrm>
          <a:prstGeom prst="roundRect">
            <a:avLst>
              <a:gd name="adj" fmla="val 7143"/>
            </a:avLst>
          </a:prstGeom>
          <a:solidFill>
            <a:srgbClr val="F1F5FB"/>
          </a:solidFill>
          <a:ln/>
        </p:spPr>
      </p:sp>
      <p:sp>
        <p:nvSpPr>
          <p:cNvPr id="11" name="Shape 8"/>
          <p:cNvSpPr/>
          <p:nvPr/>
        </p:nvSpPr>
        <p:spPr>
          <a:xfrm>
            <a:off x="4306824" y="2057400"/>
            <a:ext cx="109728" cy="1280160"/>
          </a:xfrm>
          <a:prstGeom prst="roundRect">
            <a:avLst/>
          </a:prstGeom>
          <a:solidFill>
            <a:srgbClr val="2459D8"/>
          </a:solidFill>
          <a:ln/>
        </p:spPr>
      </p:sp>
      <p:sp>
        <p:nvSpPr>
          <p:cNvPr id="12" name="Text 9"/>
          <p:cNvSpPr txBox="1"/>
          <p:nvPr/>
        </p:nvSpPr>
        <p:spPr>
          <a:xfrm>
            <a:off x="4626864" y="225856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Read text inside a file</a:t>
            </a:r>
            <a:endParaRPr lang="en-US" sz="1650" dirty="0"/>
          </a:p>
        </p:txBody>
      </p:sp>
      <p:sp>
        <p:nvSpPr>
          <p:cNvPr id="13" name="Shape 10"/>
          <p:cNvSpPr/>
          <p:nvPr/>
        </p:nvSpPr>
        <p:spPr>
          <a:xfrm>
            <a:off x="4626864" y="2807208"/>
            <a:ext cx="2194560" cy="384048"/>
          </a:xfrm>
          <a:prstGeom prst="roundRect">
            <a:avLst>
              <a:gd name="adj" fmla="val 19048"/>
            </a:avLst>
          </a:prstGeom>
          <a:solidFill>
            <a:srgbClr val="0E1726"/>
          </a:solidFill>
          <a:ln/>
        </p:spPr>
      </p:sp>
      <p:sp>
        <p:nvSpPr>
          <p:cNvPr id="14" name="Text 11"/>
          <p:cNvSpPr txBox="1"/>
          <p:nvPr/>
        </p:nvSpPr>
        <p:spPr>
          <a:xfrm>
            <a:off x="4626864" y="280720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strings</a:t>
            </a:r>
            <a:endParaRPr lang="en-US" sz="1250" dirty="0"/>
          </a:p>
        </p:txBody>
      </p:sp>
      <p:sp>
        <p:nvSpPr>
          <p:cNvPr id="15" name="Shape 12"/>
          <p:cNvSpPr/>
          <p:nvPr/>
        </p:nvSpPr>
        <p:spPr>
          <a:xfrm>
            <a:off x="8065008" y="2057400"/>
            <a:ext cx="3566160" cy="1280160"/>
          </a:xfrm>
          <a:prstGeom prst="roundRect">
            <a:avLst>
              <a:gd name="adj" fmla="val 7143"/>
            </a:avLst>
          </a:prstGeom>
          <a:solidFill>
            <a:srgbClr val="F1F5FB"/>
          </a:solidFill>
          <a:ln/>
        </p:spPr>
      </p:sp>
      <p:sp>
        <p:nvSpPr>
          <p:cNvPr id="16" name="Shape 13"/>
          <p:cNvSpPr/>
          <p:nvPr/>
        </p:nvSpPr>
        <p:spPr>
          <a:xfrm>
            <a:off x="8065008" y="2057400"/>
            <a:ext cx="109728" cy="1280160"/>
          </a:xfrm>
          <a:prstGeom prst="roundRect">
            <a:avLst/>
          </a:prstGeom>
          <a:solidFill>
            <a:srgbClr val="7448D4"/>
          </a:solidFill>
          <a:ln/>
        </p:spPr>
      </p:sp>
      <p:sp>
        <p:nvSpPr>
          <p:cNvPr id="17" name="Text 14"/>
          <p:cNvSpPr txBox="1"/>
          <p:nvPr/>
        </p:nvSpPr>
        <p:spPr>
          <a:xfrm>
            <a:off x="8385048" y="225856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Find a file's real type</a:t>
            </a:r>
            <a:endParaRPr lang="en-US" sz="1650" dirty="0"/>
          </a:p>
        </p:txBody>
      </p:sp>
      <p:sp>
        <p:nvSpPr>
          <p:cNvPr id="18" name="Shape 15"/>
          <p:cNvSpPr/>
          <p:nvPr/>
        </p:nvSpPr>
        <p:spPr>
          <a:xfrm>
            <a:off x="8385048" y="2807208"/>
            <a:ext cx="2194560" cy="384048"/>
          </a:xfrm>
          <a:prstGeom prst="roundRect">
            <a:avLst>
              <a:gd name="adj" fmla="val 19048"/>
            </a:avLst>
          </a:prstGeom>
          <a:solidFill>
            <a:srgbClr val="0E1726"/>
          </a:solidFill>
          <a:ln/>
        </p:spPr>
      </p:sp>
      <p:sp>
        <p:nvSpPr>
          <p:cNvPr id="19" name="Text 16"/>
          <p:cNvSpPr txBox="1"/>
          <p:nvPr/>
        </p:nvSpPr>
        <p:spPr>
          <a:xfrm>
            <a:off x="8385048" y="280720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filetype</a:t>
            </a:r>
            <a:endParaRPr lang="en-US" sz="1250" dirty="0"/>
          </a:p>
        </p:txBody>
      </p:sp>
      <p:sp>
        <p:nvSpPr>
          <p:cNvPr id="20" name="Shape 17"/>
          <p:cNvSpPr/>
          <p:nvPr/>
        </p:nvSpPr>
        <p:spPr>
          <a:xfrm>
            <a:off x="548640" y="3566160"/>
            <a:ext cx="3566160" cy="1280160"/>
          </a:xfrm>
          <a:prstGeom prst="roundRect">
            <a:avLst>
              <a:gd name="adj" fmla="val 7143"/>
            </a:avLst>
          </a:prstGeom>
          <a:solidFill>
            <a:srgbClr val="F1F5FB"/>
          </a:solidFill>
          <a:ln/>
        </p:spPr>
      </p:sp>
      <p:sp>
        <p:nvSpPr>
          <p:cNvPr id="21" name="Shape 18"/>
          <p:cNvSpPr/>
          <p:nvPr/>
        </p:nvSpPr>
        <p:spPr>
          <a:xfrm>
            <a:off x="548640" y="3566160"/>
            <a:ext cx="109728" cy="1280160"/>
          </a:xfrm>
          <a:prstGeom prst="roundRect">
            <a:avLst/>
          </a:prstGeom>
          <a:solidFill>
            <a:srgbClr val="D1416B"/>
          </a:solidFill>
          <a:ln/>
        </p:spPr>
      </p:sp>
      <p:sp>
        <p:nvSpPr>
          <p:cNvPr id="22" name="Text 19"/>
          <p:cNvSpPr txBox="1"/>
          <p:nvPr/>
        </p:nvSpPr>
        <p:spPr>
          <a:xfrm>
            <a:off x="868680" y="376732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Search a log for a line</a:t>
            </a:r>
            <a:endParaRPr lang="en-US" sz="1650" dirty="0"/>
          </a:p>
        </p:txBody>
      </p:sp>
      <p:sp>
        <p:nvSpPr>
          <p:cNvPr id="23" name="Shape 20"/>
          <p:cNvSpPr/>
          <p:nvPr/>
        </p:nvSpPr>
        <p:spPr>
          <a:xfrm>
            <a:off x="868680" y="4315968"/>
            <a:ext cx="2194560" cy="384048"/>
          </a:xfrm>
          <a:prstGeom prst="roundRect">
            <a:avLst>
              <a:gd name="adj" fmla="val 19048"/>
            </a:avLst>
          </a:prstGeom>
          <a:solidFill>
            <a:srgbClr val="0E1726"/>
          </a:solidFill>
          <a:ln/>
        </p:spPr>
      </p:sp>
      <p:sp>
        <p:nvSpPr>
          <p:cNvPr id="24" name="Text 21"/>
          <p:cNvSpPr txBox="1"/>
          <p:nvPr/>
        </p:nvSpPr>
        <p:spPr>
          <a:xfrm>
            <a:off x="868680" y="431596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grep</a:t>
            </a:r>
            <a:endParaRPr lang="en-US" sz="1250" dirty="0"/>
          </a:p>
        </p:txBody>
      </p:sp>
      <p:sp>
        <p:nvSpPr>
          <p:cNvPr id="25" name="Shape 22"/>
          <p:cNvSpPr/>
          <p:nvPr/>
        </p:nvSpPr>
        <p:spPr>
          <a:xfrm>
            <a:off x="4306824" y="3566160"/>
            <a:ext cx="3566160" cy="1280160"/>
          </a:xfrm>
          <a:prstGeom prst="roundRect">
            <a:avLst>
              <a:gd name="adj" fmla="val 7143"/>
            </a:avLst>
          </a:prstGeom>
          <a:solidFill>
            <a:srgbClr val="F1F5FB"/>
          </a:solidFill>
          <a:ln/>
        </p:spPr>
      </p:sp>
      <p:sp>
        <p:nvSpPr>
          <p:cNvPr id="26" name="Shape 23"/>
          <p:cNvSpPr/>
          <p:nvPr/>
        </p:nvSpPr>
        <p:spPr>
          <a:xfrm>
            <a:off x="4306824" y="3566160"/>
            <a:ext cx="109728" cy="1280160"/>
          </a:xfrm>
          <a:prstGeom prst="roundRect">
            <a:avLst/>
          </a:prstGeom>
          <a:solidFill>
            <a:srgbClr val="5B6EE1"/>
          </a:solidFill>
          <a:ln/>
        </p:spPr>
      </p:sp>
      <p:sp>
        <p:nvSpPr>
          <p:cNvPr id="27" name="Text 24"/>
          <p:cNvSpPr txBox="1"/>
          <p:nvPr/>
        </p:nvSpPr>
        <p:spPr>
          <a:xfrm>
            <a:off x="4626864" y="376732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Unpack an archive</a:t>
            </a:r>
            <a:endParaRPr lang="en-US" sz="1650" dirty="0"/>
          </a:p>
        </p:txBody>
      </p:sp>
      <p:sp>
        <p:nvSpPr>
          <p:cNvPr id="28" name="Shape 25"/>
          <p:cNvSpPr/>
          <p:nvPr/>
        </p:nvSpPr>
        <p:spPr>
          <a:xfrm>
            <a:off x="4626864" y="4315968"/>
            <a:ext cx="2194560" cy="384048"/>
          </a:xfrm>
          <a:prstGeom prst="roundRect">
            <a:avLst>
              <a:gd name="adj" fmla="val 19048"/>
            </a:avLst>
          </a:prstGeom>
          <a:solidFill>
            <a:srgbClr val="0E1726"/>
          </a:solidFill>
          <a:ln/>
        </p:spPr>
      </p:sp>
      <p:sp>
        <p:nvSpPr>
          <p:cNvPr id="29" name="Text 26"/>
          <p:cNvSpPr txBox="1"/>
          <p:nvPr/>
        </p:nvSpPr>
        <p:spPr>
          <a:xfrm>
            <a:off x="4626864" y="431596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tar  zcat</a:t>
            </a:r>
            <a:endParaRPr lang="en-US" sz="1250" dirty="0"/>
          </a:p>
        </p:txBody>
      </p:sp>
      <p:sp>
        <p:nvSpPr>
          <p:cNvPr id="30" name="Shape 27"/>
          <p:cNvSpPr/>
          <p:nvPr/>
        </p:nvSpPr>
        <p:spPr>
          <a:xfrm>
            <a:off x="8065008" y="3566160"/>
            <a:ext cx="3566160" cy="1280160"/>
          </a:xfrm>
          <a:prstGeom prst="roundRect">
            <a:avLst>
              <a:gd name="adj" fmla="val 7143"/>
            </a:avLst>
          </a:prstGeom>
          <a:solidFill>
            <a:srgbClr val="F1F5FB"/>
          </a:solidFill>
          <a:ln/>
        </p:spPr>
      </p:sp>
      <p:sp>
        <p:nvSpPr>
          <p:cNvPr id="31" name="Shape 28"/>
          <p:cNvSpPr/>
          <p:nvPr/>
        </p:nvSpPr>
        <p:spPr>
          <a:xfrm>
            <a:off x="8065008" y="3566160"/>
            <a:ext cx="109728" cy="1280160"/>
          </a:xfrm>
          <a:prstGeom prst="roundRect">
            <a:avLst/>
          </a:prstGeom>
          <a:solidFill>
            <a:srgbClr val="0F9488"/>
          </a:solidFill>
          <a:ln/>
        </p:spPr>
      </p:sp>
      <p:sp>
        <p:nvSpPr>
          <p:cNvPr id="32" name="Text 29"/>
          <p:cNvSpPr txBox="1"/>
          <p:nvPr/>
        </p:nvSpPr>
        <p:spPr>
          <a:xfrm>
            <a:off x="8385048" y="376732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Check a fingerprint</a:t>
            </a:r>
            <a:endParaRPr lang="en-US" sz="1650" dirty="0"/>
          </a:p>
        </p:txBody>
      </p:sp>
      <p:sp>
        <p:nvSpPr>
          <p:cNvPr id="33" name="Shape 30"/>
          <p:cNvSpPr/>
          <p:nvPr/>
        </p:nvSpPr>
        <p:spPr>
          <a:xfrm>
            <a:off x="8385048" y="4315968"/>
            <a:ext cx="2194560" cy="384048"/>
          </a:xfrm>
          <a:prstGeom prst="roundRect">
            <a:avLst>
              <a:gd name="adj" fmla="val 19048"/>
            </a:avLst>
          </a:prstGeom>
          <a:solidFill>
            <a:srgbClr val="0E1726"/>
          </a:solidFill>
          <a:ln/>
        </p:spPr>
      </p:sp>
      <p:sp>
        <p:nvSpPr>
          <p:cNvPr id="34" name="Text 31"/>
          <p:cNvSpPr txBox="1"/>
          <p:nvPr/>
        </p:nvSpPr>
        <p:spPr>
          <a:xfrm>
            <a:off x="8385048" y="431596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sha256sum</a:t>
            </a:r>
            <a:endParaRPr lang="en-US" sz="1250" dirty="0"/>
          </a:p>
        </p:txBody>
      </p:sp>
      <p:sp>
        <p:nvSpPr>
          <p:cNvPr id="35" name="Text 32"/>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31 / 60</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Side quests: for anyone who wants more</a:t>
            </a:r>
            <a:endParaRPr lang="en-US" sz="3200" dirty="0"/>
          </a:p>
        </p:txBody>
      </p:sp>
      <p:sp>
        <p:nvSpPr>
          <p:cNvPr id="4" name="Shape 1"/>
          <p:cNvSpPr/>
          <p:nvPr/>
        </p:nvSpPr>
        <p:spPr>
          <a:xfrm>
            <a:off x="548640" y="1508760"/>
            <a:ext cx="5449824" cy="2057400"/>
          </a:xfrm>
          <a:prstGeom prst="roundRect">
            <a:avLst>
              <a:gd name="adj" fmla="val 5333"/>
            </a:avLst>
          </a:prstGeom>
          <a:solidFill>
            <a:srgbClr val="0E1726"/>
          </a:solidFill>
          <a:ln/>
        </p:spPr>
      </p:sp>
      <p:sp>
        <p:nvSpPr>
          <p:cNvPr id="5" name="Text 2"/>
          <p:cNvSpPr txBox="1"/>
          <p:nvPr/>
        </p:nvSpPr>
        <p:spPr>
          <a:xfrm>
            <a:off x="868680" y="1691640"/>
            <a:ext cx="329184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Who did they try?</a:t>
            </a:r>
            <a:endParaRPr lang="en-US" sz="2200" dirty="0"/>
          </a:p>
        </p:txBody>
      </p:sp>
      <p:sp>
        <p:nvSpPr>
          <p:cNvPr id="6" name="Text 3"/>
          <p:cNvSpPr txBox="1"/>
          <p:nvPr/>
        </p:nvSpPr>
        <p:spPr>
          <a:xfrm>
            <a:off x="3840480" y="1737360"/>
            <a:ext cx="192024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~/mission5</a:t>
            </a:r>
            <a:endParaRPr lang="en-US" sz="1200" dirty="0"/>
          </a:p>
        </p:txBody>
      </p:sp>
      <p:sp>
        <p:nvSpPr>
          <p:cNvPr id="7" name="Text 4"/>
          <p:cNvSpPr txBox="1"/>
          <p:nvPr/>
        </p:nvSpPr>
        <p:spPr>
          <a:xfrm>
            <a:off x="868680" y="224028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Which usernames did the attacker guess? Why those?</a:t>
            </a:r>
            <a:endParaRPr lang="en-US" sz="1600" dirty="0"/>
          </a:p>
        </p:txBody>
      </p:sp>
      <p:sp>
        <p:nvSpPr>
          <p:cNvPr id="8" name="Text 5"/>
          <p:cNvSpPr txBox="1"/>
          <p:nvPr/>
        </p:nvSpPr>
        <p:spPr>
          <a:xfrm>
            <a:off x="868680" y="3044952"/>
            <a:ext cx="4846320" cy="365760"/>
          </a:xfrm>
          <a:prstGeom prst="rect">
            <a:avLst/>
          </a:prstGeom>
          <a:noFill/>
          <a:ln/>
        </p:spPr>
        <p:txBody>
          <a:bodyPr wrap="square" lIns="0" tIns="0" rIns="0" bIns="0" rtlCol="0" anchor="ctr">
            <a:normAutofit/>
          </a:bodyPr>
          <a:lstStyle/>
          <a:p>
            <a:pPr indent="0" marL="0">
              <a:buNone/>
            </a:pPr>
            <a:r>
              <a:rPr lang="en-US" sz="1250" b="1" dirty="0">
                <a:solidFill>
                  <a:srgbClr val="46D39A"/>
                </a:solidFill>
                <a:latin typeface="Courier New" pitchFamily="34" charset="0"/>
                <a:ea typeface="Courier New" pitchFamily="34" charset="-122"/>
                <a:cs typeface="Courier New" pitchFamily="34" charset="-120"/>
              </a:rPr>
              <a:t>$ </a:t>
            </a:r>
            <a:pPr indent="0" marL="0">
              <a:buNone/>
            </a:pPr>
            <a:r>
              <a:rPr lang="en-US" sz="1250" b="1" dirty="0">
                <a:solidFill>
                  <a:srgbClr val="F5A623"/>
                </a:solidFill>
                <a:latin typeface="Courier New" pitchFamily="34" charset="0"/>
                <a:ea typeface="Courier New" pitchFamily="34" charset="-122"/>
                <a:cs typeface="Courier New" pitchFamily="34" charset="-120"/>
              </a:rPr>
              <a:t>grep IP auth.log | cut -d' ' -f6</a:t>
            </a:r>
            <a:endParaRPr lang="en-US" sz="1250" dirty="0"/>
          </a:p>
        </p:txBody>
      </p:sp>
      <p:sp>
        <p:nvSpPr>
          <p:cNvPr id="9" name="Shape 6"/>
          <p:cNvSpPr/>
          <p:nvPr/>
        </p:nvSpPr>
        <p:spPr>
          <a:xfrm>
            <a:off x="6190488" y="1508760"/>
            <a:ext cx="5449824" cy="2057400"/>
          </a:xfrm>
          <a:prstGeom prst="roundRect">
            <a:avLst>
              <a:gd name="adj" fmla="val 5333"/>
            </a:avLst>
          </a:prstGeom>
          <a:solidFill>
            <a:srgbClr val="0E1726"/>
          </a:solidFill>
          <a:ln/>
        </p:spPr>
      </p:sp>
      <p:sp>
        <p:nvSpPr>
          <p:cNvPr id="10" name="Text 7"/>
          <p:cNvSpPr txBox="1"/>
          <p:nvPr/>
        </p:nvSpPr>
        <p:spPr>
          <a:xfrm>
            <a:off x="6510528" y="1691640"/>
            <a:ext cx="329184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Timeline</a:t>
            </a:r>
            <a:endParaRPr lang="en-US" sz="2200" dirty="0"/>
          </a:p>
        </p:txBody>
      </p:sp>
      <p:sp>
        <p:nvSpPr>
          <p:cNvPr id="11" name="Text 8"/>
          <p:cNvSpPr txBox="1"/>
          <p:nvPr/>
        </p:nvSpPr>
        <p:spPr>
          <a:xfrm>
            <a:off x="9482328" y="1737360"/>
            <a:ext cx="192024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missions 1, 5, 8, 9</a:t>
            </a:r>
            <a:endParaRPr lang="en-US" sz="1200" dirty="0"/>
          </a:p>
        </p:txBody>
      </p:sp>
      <p:sp>
        <p:nvSpPr>
          <p:cNvPr id="12" name="Text 9"/>
          <p:cNvSpPr txBox="1"/>
          <p:nvPr/>
        </p:nvSpPr>
        <p:spPr>
          <a:xfrm>
            <a:off x="6510528" y="224028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Put the night in order: login, file change, data leaving.</a:t>
            </a:r>
            <a:endParaRPr lang="en-US" sz="1600" dirty="0"/>
          </a:p>
        </p:txBody>
      </p:sp>
      <p:sp>
        <p:nvSpPr>
          <p:cNvPr id="13" name="Text 10"/>
          <p:cNvSpPr txBox="1"/>
          <p:nvPr/>
        </p:nvSpPr>
        <p:spPr>
          <a:xfrm>
            <a:off x="6510528" y="3044952"/>
            <a:ext cx="4846320" cy="365760"/>
          </a:xfrm>
          <a:prstGeom prst="rect">
            <a:avLst/>
          </a:prstGeom>
          <a:noFill/>
          <a:ln/>
        </p:spPr>
        <p:txBody>
          <a:bodyPr wrap="square" lIns="0" tIns="0" rIns="0" bIns="0" rtlCol="0" anchor="ctr">
            <a:normAutofit/>
          </a:bodyPr>
          <a:lstStyle/>
          <a:p>
            <a:pPr indent="0" marL="0">
              <a:buNone/>
            </a:pPr>
            <a:r>
              <a:rPr lang="en-US" sz="1250" b="1" dirty="0">
                <a:solidFill>
                  <a:srgbClr val="46D39A"/>
                </a:solidFill>
                <a:latin typeface="Courier New" pitchFamily="34" charset="0"/>
                <a:ea typeface="Courier New" pitchFamily="34" charset="-122"/>
                <a:cs typeface="Courier New" pitchFamily="34" charset="-120"/>
              </a:rPr>
              <a:t>$ </a:t>
            </a:r>
            <a:pPr indent="0" marL="0">
              <a:buNone/>
            </a:pPr>
            <a:r>
              <a:rPr lang="en-US" sz="1250" b="1" dirty="0">
                <a:solidFill>
                  <a:srgbClr val="F5A623"/>
                </a:solidFill>
                <a:latin typeface="Courier New" pitchFamily="34" charset="0"/>
                <a:ea typeface="Courier New" pitchFamily="34" charset="-122"/>
                <a:cs typeface="Courier New" pitchFamily="34" charset="-120"/>
              </a:rPr>
              <a:t>ls -l · grep · head</a:t>
            </a:r>
            <a:endParaRPr lang="en-US" sz="1250" dirty="0"/>
          </a:p>
        </p:txBody>
      </p:sp>
      <p:sp>
        <p:nvSpPr>
          <p:cNvPr id="14" name="Shape 11"/>
          <p:cNvSpPr/>
          <p:nvPr/>
        </p:nvSpPr>
        <p:spPr>
          <a:xfrm>
            <a:off x="548640" y="3749040"/>
            <a:ext cx="5449824" cy="2057400"/>
          </a:xfrm>
          <a:prstGeom prst="roundRect">
            <a:avLst>
              <a:gd name="adj" fmla="val 5333"/>
            </a:avLst>
          </a:prstGeom>
          <a:solidFill>
            <a:srgbClr val="0E1726"/>
          </a:solidFill>
          <a:ln/>
        </p:spPr>
      </p:sp>
      <p:sp>
        <p:nvSpPr>
          <p:cNvPr id="15" name="Text 12"/>
          <p:cNvSpPr txBox="1"/>
          <p:nvPr/>
        </p:nvSpPr>
        <p:spPr>
          <a:xfrm>
            <a:off x="868680" y="3931920"/>
            <a:ext cx="329184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Magic hunt</a:t>
            </a:r>
            <a:endParaRPr lang="en-US" sz="2200" dirty="0"/>
          </a:p>
        </p:txBody>
      </p:sp>
      <p:sp>
        <p:nvSpPr>
          <p:cNvPr id="16" name="Text 13"/>
          <p:cNvSpPr txBox="1"/>
          <p:nvPr/>
        </p:nvSpPr>
        <p:spPr>
          <a:xfrm>
            <a:off x="3840480" y="3977640"/>
            <a:ext cx="192024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~/mission10</a:t>
            </a:r>
            <a:endParaRPr lang="en-US" sz="1200" dirty="0"/>
          </a:p>
        </p:txBody>
      </p:sp>
      <p:sp>
        <p:nvSpPr>
          <p:cNvPr id="17" name="Text 14"/>
          <p:cNvSpPr txBox="1"/>
          <p:nvPr/>
        </p:nvSpPr>
        <p:spPr>
          <a:xfrm>
            <a:off x="868680" y="448056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How many files of each real type are in homes/?</a:t>
            </a:r>
            <a:endParaRPr lang="en-US" sz="1600" dirty="0"/>
          </a:p>
        </p:txBody>
      </p:sp>
      <p:sp>
        <p:nvSpPr>
          <p:cNvPr id="18" name="Text 15"/>
          <p:cNvSpPr txBox="1"/>
          <p:nvPr/>
        </p:nvSpPr>
        <p:spPr>
          <a:xfrm>
            <a:off x="868680" y="5285232"/>
            <a:ext cx="4846320" cy="365760"/>
          </a:xfrm>
          <a:prstGeom prst="rect">
            <a:avLst/>
          </a:prstGeom>
          <a:noFill/>
          <a:ln/>
        </p:spPr>
        <p:txBody>
          <a:bodyPr wrap="square" lIns="0" tIns="0" rIns="0" bIns="0" rtlCol="0" anchor="ctr">
            <a:normAutofit/>
          </a:bodyPr>
          <a:lstStyle/>
          <a:p>
            <a:pPr indent="0" marL="0">
              <a:buNone/>
            </a:pPr>
            <a:r>
              <a:rPr lang="en-US" sz="1250" b="1" dirty="0">
                <a:solidFill>
                  <a:srgbClr val="46D39A"/>
                </a:solidFill>
                <a:latin typeface="Courier New" pitchFamily="34" charset="0"/>
                <a:ea typeface="Courier New" pitchFamily="34" charset="-122"/>
                <a:cs typeface="Courier New" pitchFamily="34" charset="-120"/>
              </a:rPr>
              <a:t>$ </a:t>
            </a:r>
            <a:pPr indent="0" marL="0">
              <a:buNone/>
            </a:pPr>
            <a:r>
              <a:rPr lang="en-US" sz="1250" b="1" dirty="0">
                <a:solidFill>
                  <a:srgbClr val="F5A623"/>
                </a:solidFill>
                <a:latin typeface="Courier New" pitchFamily="34" charset="0"/>
                <a:ea typeface="Courier New" pitchFamily="34" charset="-122"/>
                <a:cs typeface="Courier New" pitchFamily="34" charset="-120"/>
              </a:rPr>
              <a:t>filetype homes/*/* | cut -d: -f2</a:t>
            </a:r>
            <a:endParaRPr lang="en-US" sz="1250" dirty="0"/>
          </a:p>
        </p:txBody>
      </p:sp>
      <p:sp>
        <p:nvSpPr>
          <p:cNvPr id="19" name="Shape 16"/>
          <p:cNvSpPr/>
          <p:nvPr/>
        </p:nvSpPr>
        <p:spPr>
          <a:xfrm>
            <a:off x="6190488" y="3749040"/>
            <a:ext cx="5449824" cy="2057400"/>
          </a:xfrm>
          <a:prstGeom prst="roundRect">
            <a:avLst>
              <a:gd name="adj" fmla="val 5333"/>
            </a:avLst>
          </a:prstGeom>
          <a:solidFill>
            <a:srgbClr val="0E1726"/>
          </a:solidFill>
          <a:ln/>
        </p:spPr>
      </p:sp>
      <p:sp>
        <p:nvSpPr>
          <p:cNvPr id="20" name="Text 17"/>
          <p:cNvSpPr txBox="1"/>
          <p:nvPr/>
        </p:nvSpPr>
        <p:spPr>
          <a:xfrm>
            <a:off x="6510528" y="3931920"/>
            <a:ext cx="329184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Cron decoder</a:t>
            </a:r>
            <a:endParaRPr lang="en-US" sz="2200" dirty="0"/>
          </a:p>
        </p:txBody>
      </p:sp>
      <p:sp>
        <p:nvSpPr>
          <p:cNvPr id="21" name="Text 18"/>
          <p:cNvSpPr txBox="1"/>
          <p:nvPr/>
        </p:nvSpPr>
        <p:spPr>
          <a:xfrm>
            <a:off x="9482328" y="3977640"/>
            <a:ext cx="192024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~/mission8</a:t>
            </a:r>
            <a:endParaRPr lang="en-US" sz="1200" dirty="0"/>
          </a:p>
        </p:txBody>
      </p:sp>
      <p:sp>
        <p:nvSpPr>
          <p:cNvPr id="22" name="Text 19"/>
          <p:cNvSpPr txBox="1"/>
          <p:nvPr/>
        </p:nvSpPr>
        <p:spPr>
          <a:xfrm>
            <a:off x="6510528" y="448056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Translate every schedule in cron/root into plain English.</a:t>
            </a:r>
            <a:endParaRPr lang="en-US" sz="1600" dirty="0"/>
          </a:p>
        </p:txBody>
      </p:sp>
      <p:sp>
        <p:nvSpPr>
          <p:cNvPr id="23" name="Text 20"/>
          <p:cNvSpPr txBox="1"/>
          <p:nvPr/>
        </p:nvSpPr>
        <p:spPr>
          <a:xfrm>
            <a:off x="6510528" y="5285232"/>
            <a:ext cx="4846320" cy="365760"/>
          </a:xfrm>
          <a:prstGeom prst="rect">
            <a:avLst/>
          </a:prstGeom>
          <a:noFill/>
          <a:ln/>
        </p:spPr>
        <p:txBody>
          <a:bodyPr wrap="square" lIns="0" tIns="0" rIns="0" bIns="0" rtlCol="0" anchor="ctr">
            <a:normAutofit/>
          </a:bodyPr>
          <a:lstStyle/>
          <a:p>
            <a:pPr indent="0" marL="0">
              <a:buNone/>
            </a:pPr>
            <a:r>
              <a:rPr lang="en-US" sz="1250" b="1" dirty="0">
                <a:solidFill>
                  <a:srgbClr val="46D39A"/>
                </a:solidFill>
                <a:latin typeface="Courier New" pitchFamily="34" charset="0"/>
                <a:ea typeface="Courier New" pitchFamily="34" charset="-122"/>
                <a:cs typeface="Courier New" pitchFamily="34" charset="-120"/>
              </a:rPr>
              <a:t>$ </a:t>
            </a:r>
            <a:pPr indent="0" marL="0">
              <a:buNone/>
            </a:pPr>
            <a:r>
              <a:rPr lang="en-US" sz="1250" b="1" dirty="0">
                <a:solidFill>
                  <a:srgbClr val="F5A623"/>
                </a:solidFill>
                <a:latin typeface="Courier New" pitchFamily="34" charset="0"/>
                <a:ea typeface="Courier New" pitchFamily="34" charset="-122"/>
                <a:cs typeface="Courier New" pitchFamily="34" charset="-120"/>
              </a:rPr>
              <a:t>cat cron/root</a:t>
            </a:r>
            <a:endParaRPr lang="en-US" sz="1250" dirty="0"/>
          </a:p>
        </p:txBody>
      </p:sp>
      <p:sp>
        <p:nvSpPr>
          <p:cNvPr id="24" name="Text 2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32 / 60</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D1416B"/>
                </a:solidFill>
                <a:latin typeface="Arial" pitchFamily="34" charset="0"/>
                <a:ea typeface="Arial" pitchFamily="34" charset="-122"/>
                <a:cs typeface="Arial" pitchFamily="34" charset="-120"/>
              </a:rPr>
              <a:t>4</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Reflection</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echo "case closed by $(whoami)"</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33 / 60</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Today's tools, and the pro versions</a:t>
            </a:r>
            <a:endParaRPr lang="en-US" sz="3200" dirty="0"/>
          </a:p>
        </p:txBody>
      </p:sp>
      <p:sp>
        <p:nvSpPr>
          <p:cNvPr id="4" name="Shape 1"/>
          <p:cNvSpPr/>
          <p:nvPr/>
        </p:nvSpPr>
        <p:spPr>
          <a:xfrm>
            <a:off x="548640" y="1463040"/>
            <a:ext cx="5449824" cy="987552"/>
          </a:xfrm>
          <a:prstGeom prst="roundRect">
            <a:avLst>
              <a:gd name="adj" fmla="val 9259"/>
            </a:avLst>
          </a:prstGeom>
          <a:solidFill>
            <a:srgbClr val="F1F5FB"/>
          </a:solidFill>
          <a:ln/>
        </p:spPr>
      </p:sp>
      <p:sp>
        <p:nvSpPr>
          <p:cNvPr id="5" name="Text 2"/>
          <p:cNvSpPr txBox="1"/>
          <p:nvPr/>
        </p:nvSpPr>
        <p:spPr>
          <a:xfrm>
            <a:off x="777240" y="1554480"/>
            <a:ext cx="2103120" cy="457200"/>
          </a:xfrm>
          <a:prstGeom prst="rect">
            <a:avLst/>
          </a:prstGeom>
          <a:noFill/>
          <a:ln/>
        </p:spPr>
        <p:txBody>
          <a:bodyPr wrap="square" lIns="0" tIns="0" rIns="0" bIns="0" rtlCol="0" anchor="t"/>
          <a:lstStyle/>
          <a:p>
            <a:pPr indent="0" marL="0">
              <a:buNone/>
            </a:pPr>
            <a:r>
              <a:rPr lang="en-US" sz="1600" b="1" dirty="0">
                <a:solidFill>
                  <a:srgbClr val="2A9FD6"/>
                </a:solidFill>
                <a:latin typeface="Courier New" pitchFamily="34" charset="0"/>
                <a:ea typeface="Courier New" pitchFamily="34" charset="-122"/>
                <a:cs typeface="Courier New" pitchFamily="34" charset="-120"/>
              </a:rPr>
              <a:t>ls -l</a:t>
            </a:r>
            <a:endParaRPr lang="en-US" sz="1600" dirty="0"/>
          </a:p>
        </p:txBody>
      </p:sp>
      <p:sp>
        <p:nvSpPr>
          <p:cNvPr id="6" name="Text 3"/>
          <p:cNvSpPr txBox="1"/>
          <p:nvPr/>
        </p:nvSpPr>
        <p:spPr>
          <a:xfrm>
            <a:off x="777240" y="2011680"/>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 1</a:t>
            </a:r>
            <a:endParaRPr lang="en-US" sz="1200" dirty="0"/>
          </a:p>
        </p:txBody>
      </p:sp>
      <p:sp>
        <p:nvSpPr>
          <p:cNvPr id="7" name="Text 4"/>
          <p:cNvSpPr txBox="1"/>
          <p:nvPr/>
        </p:nvSpPr>
        <p:spPr>
          <a:xfrm>
            <a:off x="2788920" y="1463040"/>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8" name="Text 5"/>
          <p:cNvSpPr txBox="1"/>
          <p:nvPr/>
        </p:nvSpPr>
        <p:spPr>
          <a:xfrm>
            <a:off x="3200400" y="1463040"/>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Autopsy timelines</a:t>
            </a:r>
            <a:endParaRPr lang="en-US" sz="1450" dirty="0"/>
          </a:p>
        </p:txBody>
      </p:sp>
      <p:sp>
        <p:nvSpPr>
          <p:cNvPr id="9" name="Shape 6"/>
          <p:cNvSpPr/>
          <p:nvPr/>
        </p:nvSpPr>
        <p:spPr>
          <a:xfrm>
            <a:off x="6190488" y="1463040"/>
            <a:ext cx="5449824" cy="987552"/>
          </a:xfrm>
          <a:prstGeom prst="roundRect">
            <a:avLst>
              <a:gd name="adj" fmla="val 9259"/>
            </a:avLst>
          </a:prstGeom>
          <a:solidFill>
            <a:srgbClr val="F1F5FB"/>
          </a:solidFill>
          <a:ln/>
        </p:spPr>
      </p:sp>
      <p:sp>
        <p:nvSpPr>
          <p:cNvPr id="10" name="Text 7"/>
          <p:cNvSpPr txBox="1"/>
          <p:nvPr/>
        </p:nvSpPr>
        <p:spPr>
          <a:xfrm>
            <a:off x="6419088" y="1554480"/>
            <a:ext cx="2103120" cy="457200"/>
          </a:xfrm>
          <a:prstGeom prst="rect">
            <a:avLst/>
          </a:prstGeom>
          <a:noFill/>
          <a:ln/>
        </p:spPr>
        <p:txBody>
          <a:bodyPr wrap="square" lIns="0" tIns="0" rIns="0" bIns="0" rtlCol="0" anchor="t"/>
          <a:lstStyle/>
          <a:p>
            <a:pPr indent="0" marL="0">
              <a:buNone/>
            </a:pPr>
            <a:r>
              <a:rPr lang="en-US" sz="1600" b="1" dirty="0">
                <a:solidFill>
                  <a:srgbClr val="2459D8"/>
                </a:solidFill>
                <a:latin typeface="Courier New" pitchFamily="34" charset="0"/>
                <a:ea typeface="Courier New" pitchFamily="34" charset="-122"/>
                <a:cs typeface="Courier New" pitchFamily="34" charset="-120"/>
              </a:rPr>
              <a:t>strings</a:t>
            </a:r>
            <a:endParaRPr lang="en-US" sz="1600" dirty="0"/>
          </a:p>
        </p:txBody>
      </p:sp>
      <p:sp>
        <p:nvSpPr>
          <p:cNvPr id="11" name="Text 8"/>
          <p:cNvSpPr txBox="1"/>
          <p:nvPr/>
        </p:nvSpPr>
        <p:spPr>
          <a:xfrm>
            <a:off x="6419088" y="2011680"/>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 2</a:t>
            </a:r>
            <a:endParaRPr lang="en-US" sz="1200" dirty="0"/>
          </a:p>
        </p:txBody>
      </p:sp>
      <p:sp>
        <p:nvSpPr>
          <p:cNvPr id="12" name="Text 9"/>
          <p:cNvSpPr txBox="1"/>
          <p:nvPr/>
        </p:nvSpPr>
        <p:spPr>
          <a:xfrm>
            <a:off x="8430768" y="1463040"/>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13" name="Text 10"/>
          <p:cNvSpPr txBox="1"/>
          <p:nvPr/>
        </p:nvSpPr>
        <p:spPr>
          <a:xfrm>
            <a:off x="8842248" y="1463040"/>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exiftool (metadata)</a:t>
            </a:r>
            <a:endParaRPr lang="en-US" sz="1450" dirty="0"/>
          </a:p>
        </p:txBody>
      </p:sp>
      <p:sp>
        <p:nvSpPr>
          <p:cNvPr id="14" name="Shape 11"/>
          <p:cNvSpPr/>
          <p:nvPr/>
        </p:nvSpPr>
        <p:spPr>
          <a:xfrm>
            <a:off x="548640" y="2578608"/>
            <a:ext cx="5449824" cy="987552"/>
          </a:xfrm>
          <a:prstGeom prst="roundRect">
            <a:avLst>
              <a:gd name="adj" fmla="val 9259"/>
            </a:avLst>
          </a:prstGeom>
          <a:solidFill>
            <a:srgbClr val="F1F5FB"/>
          </a:solidFill>
          <a:ln/>
        </p:spPr>
      </p:sp>
      <p:sp>
        <p:nvSpPr>
          <p:cNvPr id="15" name="Text 12"/>
          <p:cNvSpPr txBox="1"/>
          <p:nvPr/>
        </p:nvSpPr>
        <p:spPr>
          <a:xfrm>
            <a:off x="777240" y="2670048"/>
            <a:ext cx="2103120" cy="457200"/>
          </a:xfrm>
          <a:prstGeom prst="rect">
            <a:avLst/>
          </a:prstGeom>
          <a:noFill/>
          <a:ln/>
        </p:spPr>
        <p:txBody>
          <a:bodyPr wrap="square" lIns="0" tIns="0" rIns="0" bIns="0" rtlCol="0" anchor="t"/>
          <a:lstStyle/>
          <a:p>
            <a:pPr indent="0" marL="0">
              <a:buNone/>
            </a:pPr>
            <a:r>
              <a:rPr lang="en-US" sz="1600" b="1" dirty="0">
                <a:solidFill>
                  <a:srgbClr val="7448D4"/>
                </a:solidFill>
                <a:latin typeface="Courier New" pitchFamily="34" charset="0"/>
                <a:ea typeface="Courier New" pitchFamily="34" charset="-122"/>
                <a:cs typeface="Courier New" pitchFamily="34" charset="-120"/>
              </a:rPr>
              <a:t>filetype</a:t>
            </a:r>
            <a:endParaRPr lang="en-US" sz="1600" dirty="0"/>
          </a:p>
        </p:txBody>
      </p:sp>
      <p:sp>
        <p:nvSpPr>
          <p:cNvPr id="16" name="Text 13"/>
          <p:cNvSpPr txBox="1"/>
          <p:nvPr/>
        </p:nvSpPr>
        <p:spPr>
          <a:xfrm>
            <a:off x="777240" y="3127248"/>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 3</a:t>
            </a:r>
            <a:endParaRPr lang="en-US" sz="1200" dirty="0"/>
          </a:p>
        </p:txBody>
      </p:sp>
      <p:sp>
        <p:nvSpPr>
          <p:cNvPr id="17" name="Text 14"/>
          <p:cNvSpPr txBox="1"/>
          <p:nvPr/>
        </p:nvSpPr>
        <p:spPr>
          <a:xfrm>
            <a:off x="2788920" y="2578608"/>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18" name="Text 15"/>
          <p:cNvSpPr txBox="1"/>
          <p:nvPr/>
        </p:nvSpPr>
        <p:spPr>
          <a:xfrm>
            <a:off x="3200400" y="2578608"/>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file, binwalk</a:t>
            </a:r>
            <a:endParaRPr lang="en-US" sz="1450" dirty="0"/>
          </a:p>
        </p:txBody>
      </p:sp>
      <p:sp>
        <p:nvSpPr>
          <p:cNvPr id="19" name="Shape 16"/>
          <p:cNvSpPr/>
          <p:nvPr/>
        </p:nvSpPr>
        <p:spPr>
          <a:xfrm>
            <a:off x="6190488" y="2578608"/>
            <a:ext cx="5449824" cy="987552"/>
          </a:xfrm>
          <a:prstGeom prst="roundRect">
            <a:avLst>
              <a:gd name="adj" fmla="val 9259"/>
            </a:avLst>
          </a:prstGeom>
          <a:solidFill>
            <a:srgbClr val="F1F5FB"/>
          </a:solidFill>
          <a:ln/>
        </p:spPr>
      </p:sp>
      <p:sp>
        <p:nvSpPr>
          <p:cNvPr id="20" name="Text 17"/>
          <p:cNvSpPr txBox="1"/>
          <p:nvPr/>
        </p:nvSpPr>
        <p:spPr>
          <a:xfrm>
            <a:off x="6419088" y="2670048"/>
            <a:ext cx="2103120" cy="457200"/>
          </a:xfrm>
          <a:prstGeom prst="rect">
            <a:avLst/>
          </a:prstGeom>
          <a:noFill/>
          <a:ln/>
        </p:spPr>
        <p:txBody>
          <a:bodyPr wrap="square" lIns="0" tIns="0" rIns="0" bIns="0" rtlCol="0" anchor="t"/>
          <a:lstStyle/>
          <a:p>
            <a:pPr indent="0" marL="0">
              <a:buNone/>
            </a:pPr>
            <a:r>
              <a:rPr lang="en-US" sz="1600" b="1" dirty="0">
                <a:solidFill>
                  <a:srgbClr val="D1416B"/>
                </a:solidFill>
                <a:latin typeface="Courier New" pitchFamily="34" charset="0"/>
                <a:ea typeface="Courier New" pitchFamily="34" charset="-122"/>
                <a:cs typeface="Courier New" pitchFamily="34" charset="-120"/>
              </a:rPr>
              <a:t>tar  zcat</a:t>
            </a:r>
            <a:endParaRPr lang="en-US" sz="1600" dirty="0"/>
          </a:p>
        </p:txBody>
      </p:sp>
      <p:sp>
        <p:nvSpPr>
          <p:cNvPr id="21" name="Text 18"/>
          <p:cNvSpPr txBox="1"/>
          <p:nvPr/>
        </p:nvSpPr>
        <p:spPr>
          <a:xfrm>
            <a:off x="6419088" y="3127248"/>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 4</a:t>
            </a:r>
            <a:endParaRPr lang="en-US" sz="1200" dirty="0"/>
          </a:p>
        </p:txBody>
      </p:sp>
      <p:sp>
        <p:nvSpPr>
          <p:cNvPr id="22" name="Text 19"/>
          <p:cNvSpPr txBox="1"/>
          <p:nvPr/>
        </p:nvSpPr>
        <p:spPr>
          <a:xfrm>
            <a:off x="8430768" y="2578608"/>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23" name="Text 20"/>
          <p:cNvSpPr txBox="1"/>
          <p:nvPr/>
        </p:nvSpPr>
        <p:spPr>
          <a:xfrm>
            <a:off x="8842248" y="2578608"/>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7-Zip, binwalk -e</a:t>
            </a:r>
            <a:endParaRPr lang="en-US" sz="1450" dirty="0"/>
          </a:p>
        </p:txBody>
      </p:sp>
      <p:sp>
        <p:nvSpPr>
          <p:cNvPr id="24" name="Shape 21"/>
          <p:cNvSpPr/>
          <p:nvPr/>
        </p:nvSpPr>
        <p:spPr>
          <a:xfrm>
            <a:off x="548640" y="3694176"/>
            <a:ext cx="5449824" cy="987552"/>
          </a:xfrm>
          <a:prstGeom prst="roundRect">
            <a:avLst>
              <a:gd name="adj" fmla="val 9259"/>
            </a:avLst>
          </a:prstGeom>
          <a:solidFill>
            <a:srgbClr val="F1F5FB"/>
          </a:solidFill>
          <a:ln/>
        </p:spPr>
      </p:sp>
      <p:sp>
        <p:nvSpPr>
          <p:cNvPr id="25" name="Text 22"/>
          <p:cNvSpPr txBox="1"/>
          <p:nvPr/>
        </p:nvSpPr>
        <p:spPr>
          <a:xfrm>
            <a:off x="777240" y="3785616"/>
            <a:ext cx="2103120" cy="457200"/>
          </a:xfrm>
          <a:prstGeom prst="rect">
            <a:avLst/>
          </a:prstGeom>
          <a:noFill/>
          <a:ln/>
        </p:spPr>
        <p:txBody>
          <a:bodyPr wrap="square" lIns="0" tIns="0" rIns="0" bIns="0" rtlCol="0" anchor="t"/>
          <a:lstStyle/>
          <a:p>
            <a:pPr indent="0" marL="0">
              <a:buNone/>
            </a:pPr>
            <a:r>
              <a:rPr lang="en-US" sz="1600" b="1" dirty="0">
                <a:solidFill>
                  <a:srgbClr val="E8820C"/>
                </a:solidFill>
                <a:latin typeface="Courier New" pitchFamily="34" charset="0"/>
                <a:ea typeface="Courier New" pitchFamily="34" charset="-122"/>
                <a:cs typeface="Courier New" pitchFamily="34" charset="-120"/>
              </a:rPr>
              <a:t>grep | uniq -c</a:t>
            </a:r>
            <a:endParaRPr lang="en-US" sz="1600" dirty="0"/>
          </a:p>
        </p:txBody>
      </p:sp>
      <p:sp>
        <p:nvSpPr>
          <p:cNvPr id="26" name="Text 23"/>
          <p:cNvSpPr txBox="1"/>
          <p:nvPr/>
        </p:nvSpPr>
        <p:spPr>
          <a:xfrm>
            <a:off x="777240" y="4242816"/>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Missions 5, 9</a:t>
            </a:r>
            <a:endParaRPr lang="en-US" sz="1200" dirty="0"/>
          </a:p>
        </p:txBody>
      </p:sp>
      <p:sp>
        <p:nvSpPr>
          <p:cNvPr id="27" name="Text 24"/>
          <p:cNvSpPr txBox="1"/>
          <p:nvPr/>
        </p:nvSpPr>
        <p:spPr>
          <a:xfrm>
            <a:off x="2788920" y="3694176"/>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28" name="Text 25"/>
          <p:cNvSpPr txBox="1"/>
          <p:nvPr/>
        </p:nvSpPr>
        <p:spPr>
          <a:xfrm>
            <a:off x="3200400" y="3694176"/>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Wireshark, Splunk</a:t>
            </a:r>
            <a:endParaRPr lang="en-US" sz="1450" dirty="0"/>
          </a:p>
        </p:txBody>
      </p:sp>
      <p:sp>
        <p:nvSpPr>
          <p:cNvPr id="29" name="Shape 26"/>
          <p:cNvSpPr/>
          <p:nvPr/>
        </p:nvSpPr>
        <p:spPr>
          <a:xfrm>
            <a:off x="6190488" y="3694176"/>
            <a:ext cx="5449824" cy="987552"/>
          </a:xfrm>
          <a:prstGeom prst="roundRect">
            <a:avLst>
              <a:gd name="adj" fmla="val 9259"/>
            </a:avLst>
          </a:prstGeom>
          <a:solidFill>
            <a:srgbClr val="F1F5FB"/>
          </a:solidFill>
          <a:ln/>
        </p:spPr>
      </p:sp>
      <p:sp>
        <p:nvSpPr>
          <p:cNvPr id="30" name="Text 27"/>
          <p:cNvSpPr txBox="1"/>
          <p:nvPr/>
        </p:nvSpPr>
        <p:spPr>
          <a:xfrm>
            <a:off x="6419088" y="3785616"/>
            <a:ext cx="2103120" cy="457200"/>
          </a:xfrm>
          <a:prstGeom prst="rect">
            <a:avLst/>
          </a:prstGeom>
          <a:noFill/>
          <a:ln/>
        </p:spPr>
        <p:txBody>
          <a:bodyPr wrap="square" lIns="0" tIns="0" rIns="0" bIns="0" rtlCol="0" anchor="t"/>
          <a:lstStyle/>
          <a:p>
            <a:pPr indent="0" marL="0">
              <a:buNone/>
            </a:pPr>
            <a:r>
              <a:rPr lang="en-US" sz="1600" b="1" dirty="0">
                <a:solidFill>
                  <a:srgbClr val="C9A227"/>
                </a:solidFill>
                <a:latin typeface="Courier New" pitchFamily="34" charset="0"/>
                <a:ea typeface="Courier New" pitchFamily="34" charset="-122"/>
                <a:cs typeface="Courier New" pitchFamily="34" charset="-120"/>
              </a:rPr>
              <a:t>strings | tail</a:t>
            </a:r>
            <a:endParaRPr lang="en-US" sz="1600" dirty="0"/>
          </a:p>
        </p:txBody>
      </p:sp>
      <p:sp>
        <p:nvSpPr>
          <p:cNvPr id="31" name="Text 28"/>
          <p:cNvSpPr txBox="1"/>
          <p:nvPr/>
        </p:nvSpPr>
        <p:spPr>
          <a:xfrm>
            <a:off x="6419088" y="4242816"/>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 6</a:t>
            </a:r>
            <a:endParaRPr lang="en-US" sz="1200" dirty="0"/>
          </a:p>
        </p:txBody>
      </p:sp>
      <p:sp>
        <p:nvSpPr>
          <p:cNvPr id="32" name="Text 29"/>
          <p:cNvSpPr txBox="1"/>
          <p:nvPr/>
        </p:nvSpPr>
        <p:spPr>
          <a:xfrm>
            <a:off x="8430768" y="3694176"/>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33" name="Text 30"/>
          <p:cNvSpPr txBox="1"/>
          <p:nvPr/>
        </p:nvSpPr>
        <p:spPr>
          <a:xfrm>
            <a:off x="8842248" y="3694176"/>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binwalk, steghide</a:t>
            </a:r>
            <a:endParaRPr lang="en-US" sz="1450" dirty="0"/>
          </a:p>
        </p:txBody>
      </p:sp>
      <p:sp>
        <p:nvSpPr>
          <p:cNvPr id="34" name="Shape 31"/>
          <p:cNvSpPr/>
          <p:nvPr/>
        </p:nvSpPr>
        <p:spPr>
          <a:xfrm>
            <a:off x="548640" y="4809744"/>
            <a:ext cx="5449824" cy="987552"/>
          </a:xfrm>
          <a:prstGeom prst="roundRect">
            <a:avLst>
              <a:gd name="adj" fmla="val 9259"/>
            </a:avLst>
          </a:prstGeom>
          <a:solidFill>
            <a:srgbClr val="F1F5FB"/>
          </a:solidFill>
          <a:ln/>
        </p:spPr>
      </p:sp>
      <p:sp>
        <p:nvSpPr>
          <p:cNvPr id="35" name="Text 32"/>
          <p:cNvSpPr txBox="1"/>
          <p:nvPr/>
        </p:nvSpPr>
        <p:spPr>
          <a:xfrm>
            <a:off x="777240" y="4901184"/>
            <a:ext cx="2103120" cy="457200"/>
          </a:xfrm>
          <a:prstGeom prst="rect">
            <a:avLst/>
          </a:prstGeom>
          <a:noFill/>
          <a:ln/>
        </p:spPr>
        <p:txBody>
          <a:bodyPr wrap="square" lIns="0" tIns="0" rIns="0" bIns="0" rtlCol="0" anchor="t"/>
          <a:lstStyle/>
          <a:p>
            <a:pPr indent="0" marL="0">
              <a:buNone/>
            </a:pPr>
            <a:r>
              <a:rPr lang="en-US" sz="1600" b="1" dirty="0">
                <a:solidFill>
                  <a:srgbClr val="0F9488"/>
                </a:solidFill>
                <a:latin typeface="Courier New" pitchFamily="34" charset="0"/>
                <a:ea typeface="Courier New" pitchFamily="34" charset="-122"/>
                <a:cs typeface="Courier New" pitchFamily="34" charset="-120"/>
              </a:rPr>
              <a:t>sha256sum -c</a:t>
            </a:r>
            <a:endParaRPr lang="en-US" sz="1600" dirty="0"/>
          </a:p>
        </p:txBody>
      </p:sp>
      <p:sp>
        <p:nvSpPr>
          <p:cNvPr id="36" name="Text 33"/>
          <p:cNvSpPr txBox="1"/>
          <p:nvPr/>
        </p:nvSpPr>
        <p:spPr>
          <a:xfrm>
            <a:off x="777240" y="5358384"/>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 7</a:t>
            </a:r>
            <a:endParaRPr lang="en-US" sz="1200" dirty="0"/>
          </a:p>
        </p:txBody>
      </p:sp>
      <p:sp>
        <p:nvSpPr>
          <p:cNvPr id="37" name="Text 34"/>
          <p:cNvSpPr txBox="1"/>
          <p:nvPr/>
        </p:nvSpPr>
        <p:spPr>
          <a:xfrm>
            <a:off x="2788920" y="4809744"/>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38" name="Text 35"/>
          <p:cNvSpPr txBox="1"/>
          <p:nvPr/>
        </p:nvSpPr>
        <p:spPr>
          <a:xfrm>
            <a:off x="3200400" y="4809744"/>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Tripwire, AIDE</a:t>
            </a:r>
            <a:endParaRPr lang="en-US" sz="1450" dirty="0"/>
          </a:p>
        </p:txBody>
      </p:sp>
      <p:sp>
        <p:nvSpPr>
          <p:cNvPr id="39" name="Shape 36"/>
          <p:cNvSpPr/>
          <p:nvPr/>
        </p:nvSpPr>
        <p:spPr>
          <a:xfrm>
            <a:off x="6190488" y="4809744"/>
            <a:ext cx="5449824" cy="987552"/>
          </a:xfrm>
          <a:prstGeom prst="roundRect">
            <a:avLst>
              <a:gd name="adj" fmla="val 9259"/>
            </a:avLst>
          </a:prstGeom>
          <a:solidFill>
            <a:srgbClr val="F1F5FB"/>
          </a:solidFill>
          <a:ln/>
        </p:spPr>
      </p:sp>
      <p:sp>
        <p:nvSpPr>
          <p:cNvPr id="40" name="Text 37"/>
          <p:cNvSpPr txBox="1"/>
          <p:nvPr/>
        </p:nvSpPr>
        <p:spPr>
          <a:xfrm>
            <a:off x="6419088" y="4901184"/>
            <a:ext cx="2103120" cy="457200"/>
          </a:xfrm>
          <a:prstGeom prst="rect">
            <a:avLst/>
          </a:prstGeom>
          <a:noFill/>
          <a:ln/>
        </p:spPr>
        <p:txBody>
          <a:bodyPr wrap="square" lIns="0" tIns="0" rIns="0" bIns="0" rtlCol="0" anchor="t"/>
          <a:lstStyle/>
          <a:p>
            <a:pPr indent="0" marL="0">
              <a:buNone/>
            </a:pPr>
            <a:r>
              <a:rPr lang="en-US" sz="1600" b="1" dirty="0">
                <a:solidFill>
                  <a:srgbClr val="5B6EE1"/>
                </a:solidFill>
                <a:latin typeface="Courier New" pitchFamily="34" charset="0"/>
                <a:ea typeface="Courier New" pitchFamily="34" charset="-122"/>
                <a:cs typeface="Courier New" pitchFamily="34" charset="-120"/>
              </a:rPr>
              <a:t>cat cron/*</a:t>
            </a:r>
            <a:endParaRPr lang="en-US" sz="1600" dirty="0"/>
          </a:p>
        </p:txBody>
      </p:sp>
      <p:sp>
        <p:nvSpPr>
          <p:cNvPr id="41" name="Text 38"/>
          <p:cNvSpPr txBox="1"/>
          <p:nvPr/>
        </p:nvSpPr>
        <p:spPr>
          <a:xfrm>
            <a:off x="6419088" y="5358384"/>
            <a:ext cx="210312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Mission 8</a:t>
            </a:r>
            <a:endParaRPr lang="en-US" sz="1200" dirty="0"/>
          </a:p>
        </p:txBody>
      </p:sp>
      <p:sp>
        <p:nvSpPr>
          <p:cNvPr id="42" name="Text 39"/>
          <p:cNvSpPr txBox="1"/>
          <p:nvPr/>
        </p:nvSpPr>
        <p:spPr>
          <a:xfrm>
            <a:off x="8430768" y="4809744"/>
            <a:ext cx="365760" cy="987552"/>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43" name="Text 40"/>
          <p:cNvSpPr txBox="1"/>
          <p:nvPr/>
        </p:nvSpPr>
        <p:spPr>
          <a:xfrm>
            <a:off x="8842248" y="4809744"/>
            <a:ext cx="2697480" cy="987552"/>
          </a:xfrm>
          <a:prstGeom prst="rect">
            <a:avLst/>
          </a:prstGeom>
          <a:noFill/>
          <a:ln/>
        </p:spPr>
        <p:txBody>
          <a:bodyPr wrap="square" lIns="0" tIns="0" rIns="0" bIns="0" rtlCol="0" anchor="ctr"/>
          <a:lstStyle/>
          <a:p>
            <a:pPr indent="0" marL="0">
              <a:buNone/>
            </a:pPr>
            <a:r>
              <a:rPr lang="en-US" sz="1450" b="1" dirty="0">
                <a:solidFill>
                  <a:srgbClr val="12213A"/>
                </a:solidFill>
                <a:latin typeface="Calibri" pitchFamily="34" charset="0"/>
                <a:ea typeface="Calibri" pitchFamily="34" charset="-122"/>
                <a:cs typeface="Calibri" pitchFamily="34" charset="-120"/>
              </a:rPr>
              <a:t>osquery, Autoruns (Windows)</a:t>
            </a:r>
            <a:endParaRPr lang="en-US" sz="1450" dirty="0"/>
          </a:p>
        </p:txBody>
      </p:sp>
      <p:sp>
        <p:nvSpPr>
          <p:cNvPr id="44" name="Text 4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34 / 60</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Your skill passport</a:t>
            </a:r>
            <a:endParaRPr lang="en-US" sz="3200" dirty="0"/>
          </a:p>
        </p:txBody>
      </p:sp>
      <p:sp>
        <p:nvSpPr>
          <p:cNvPr id="4" name="Shape 1"/>
          <p:cNvSpPr/>
          <p:nvPr/>
        </p:nvSpPr>
        <p:spPr>
          <a:xfrm>
            <a:off x="548640" y="1508760"/>
            <a:ext cx="1719072" cy="1298448"/>
          </a:xfrm>
          <a:prstGeom prst="roundRect">
            <a:avLst>
              <a:gd name="adj" fmla="val 8451"/>
            </a:avLst>
          </a:prstGeom>
          <a:solidFill>
            <a:srgbClr val="FFFFFF"/>
          </a:solidFill>
          <a:ln w="31750">
            <a:solidFill>
              <a:srgbClr val="17875A"/>
            </a:solidFill>
            <a:prstDash val="dash"/>
          </a:ln>
        </p:spPr>
      </p:sp>
      <p:sp>
        <p:nvSpPr>
          <p:cNvPr id="5" name="Text 2"/>
          <p:cNvSpPr txBox="1"/>
          <p:nvPr/>
        </p:nvSpPr>
        <p:spPr>
          <a:xfrm>
            <a:off x="594360" y="1691640"/>
            <a:ext cx="1627632" cy="548640"/>
          </a:xfrm>
          <a:prstGeom prst="rect">
            <a:avLst/>
          </a:prstGeom>
          <a:noFill/>
          <a:ln/>
        </p:spPr>
        <p:txBody>
          <a:bodyPr wrap="square" lIns="0" tIns="0" rIns="0" bIns="0" rtlCol="0" anchor="ctr"/>
          <a:lstStyle/>
          <a:p>
            <a:pPr algn="ctr" indent="0" marL="0">
              <a:buNone/>
            </a:pPr>
            <a:r>
              <a:rPr lang="en-US" sz="1800" b="1" dirty="0">
                <a:solidFill>
                  <a:srgbClr val="17875A"/>
                </a:solidFill>
                <a:latin typeface="Courier New" pitchFamily="34" charset="0"/>
                <a:ea typeface="Courier New" pitchFamily="34" charset="-122"/>
                <a:cs typeface="Courier New" pitchFamily="34" charset="-120"/>
              </a:rPr>
              <a:t>ls -l</a:t>
            </a:r>
            <a:endParaRPr lang="en-US" sz="1800" dirty="0"/>
          </a:p>
        </p:txBody>
      </p:sp>
      <p:sp>
        <p:nvSpPr>
          <p:cNvPr id="6" name="Text 3"/>
          <p:cNvSpPr txBox="1"/>
          <p:nvPr/>
        </p:nvSpPr>
        <p:spPr>
          <a:xfrm>
            <a:off x="548640"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1</a:t>
            </a:r>
            <a:endParaRPr lang="en-US" sz="1200" dirty="0"/>
          </a:p>
        </p:txBody>
      </p:sp>
      <p:sp>
        <p:nvSpPr>
          <p:cNvPr id="7" name="Shape 4"/>
          <p:cNvSpPr/>
          <p:nvPr/>
        </p:nvSpPr>
        <p:spPr>
          <a:xfrm>
            <a:off x="2414016" y="1508760"/>
            <a:ext cx="1719072" cy="1298448"/>
          </a:xfrm>
          <a:prstGeom prst="roundRect">
            <a:avLst>
              <a:gd name="adj" fmla="val 8451"/>
            </a:avLst>
          </a:prstGeom>
          <a:solidFill>
            <a:srgbClr val="FFFFFF"/>
          </a:solidFill>
          <a:ln w="31750">
            <a:solidFill>
              <a:srgbClr val="17875A"/>
            </a:solidFill>
            <a:prstDash val="dash"/>
          </a:ln>
        </p:spPr>
      </p:sp>
      <p:sp>
        <p:nvSpPr>
          <p:cNvPr id="8" name="Text 5"/>
          <p:cNvSpPr txBox="1"/>
          <p:nvPr/>
        </p:nvSpPr>
        <p:spPr>
          <a:xfrm>
            <a:off x="2459736" y="1691640"/>
            <a:ext cx="1627632" cy="548640"/>
          </a:xfrm>
          <a:prstGeom prst="rect">
            <a:avLst/>
          </a:prstGeom>
          <a:noFill/>
          <a:ln/>
        </p:spPr>
        <p:txBody>
          <a:bodyPr wrap="square" lIns="0" tIns="0" rIns="0" bIns="0" rtlCol="0" anchor="ctr"/>
          <a:lstStyle/>
          <a:p>
            <a:pPr algn="ctr" indent="0" marL="0">
              <a:buNone/>
            </a:pPr>
            <a:r>
              <a:rPr lang="en-US" sz="1800" b="1" dirty="0">
                <a:solidFill>
                  <a:srgbClr val="17875A"/>
                </a:solidFill>
                <a:latin typeface="Courier New" pitchFamily="34" charset="0"/>
                <a:ea typeface="Courier New" pitchFamily="34" charset="-122"/>
                <a:cs typeface="Courier New" pitchFamily="34" charset="-120"/>
              </a:rPr>
              <a:t>timeline</a:t>
            </a:r>
            <a:endParaRPr lang="en-US" sz="1800" dirty="0"/>
          </a:p>
        </p:txBody>
      </p:sp>
      <p:sp>
        <p:nvSpPr>
          <p:cNvPr id="9" name="Text 6"/>
          <p:cNvSpPr txBox="1"/>
          <p:nvPr/>
        </p:nvSpPr>
        <p:spPr>
          <a:xfrm>
            <a:off x="2414016"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1</a:t>
            </a:r>
            <a:endParaRPr lang="en-US" sz="1200" dirty="0"/>
          </a:p>
        </p:txBody>
      </p:sp>
      <p:sp>
        <p:nvSpPr>
          <p:cNvPr id="10" name="Shape 7"/>
          <p:cNvSpPr/>
          <p:nvPr/>
        </p:nvSpPr>
        <p:spPr>
          <a:xfrm>
            <a:off x="4279392" y="1508760"/>
            <a:ext cx="1719072" cy="1298448"/>
          </a:xfrm>
          <a:prstGeom prst="roundRect">
            <a:avLst>
              <a:gd name="adj" fmla="val 8451"/>
            </a:avLst>
          </a:prstGeom>
          <a:solidFill>
            <a:srgbClr val="FFFFFF"/>
          </a:solidFill>
          <a:ln w="31750">
            <a:solidFill>
              <a:srgbClr val="2A9FD6"/>
            </a:solidFill>
            <a:prstDash val="dash"/>
          </a:ln>
        </p:spPr>
      </p:sp>
      <p:sp>
        <p:nvSpPr>
          <p:cNvPr id="11" name="Text 8"/>
          <p:cNvSpPr txBox="1"/>
          <p:nvPr/>
        </p:nvSpPr>
        <p:spPr>
          <a:xfrm>
            <a:off x="4325112" y="1691640"/>
            <a:ext cx="1627632" cy="548640"/>
          </a:xfrm>
          <a:prstGeom prst="rect">
            <a:avLst/>
          </a:prstGeom>
          <a:noFill/>
          <a:ln/>
        </p:spPr>
        <p:txBody>
          <a:bodyPr wrap="square" lIns="0" tIns="0" rIns="0" bIns="0" rtlCol="0" anchor="ctr"/>
          <a:lstStyle/>
          <a:p>
            <a:pPr algn="ctr" indent="0" marL="0">
              <a:buNone/>
            </a:pPr>
            <a:r>
              <a:rPr lang="en-US" sz="1800" b="1" dirty="0">
                <a:solidFill>
                  <a:srgbClr val="2A9FD6"/>
                </a:solidFill>
                <a:latin typeface="Courier New" pitchFamily="34" charset="0"/>
                <a:ea typeface="Courier New" pitchFamily="34" charset="-122"/>
                <a:cs typeface="Courier New" pitchFamily="34" charset="-120"/>
              </a:rPr>
              <a:t>metadata</a:t>
            </a:r>
            <a:endParaRPr lang="en-US" sz="1800" dirty="0"/>
          </a:p>
        </p:txBody>
      </p:sp>
      <p:sp>
        <p:nvSpPr>
          <p:cNvPr id="12" name="Text 9"/>
          <p:cNvSpPr txBox="1"/>
          <p:nvPr/>
        </p:nvSpPr>
        <p:spPr>
          <a:xfrm>
            <a:off x="4279392"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2</a:t>
            </a:r>
            <a:endParaRPr lang="en-US" sz="1200" dirty="0"/>
          </a:p>
        </p:txBody>
      </p:sp>
      <p:sp>
        <p:nvSpPr>
          <p:cNvPr id="13" name="Shape 10"/>
          <p:cNvSpPr/>
          <p:nvPr/>
        </p:nvSpPr>
        <p:spPr>
          <a:xfrm>
            <a:off x="6144768" y="1508760"/>
            <a:ext cx="1719072" cy="1298448"/>
          </a:xfrm>
          <a:prstGeom prst="roundRect">
            <a:avLst>
              <a:gd name="adj" fmla="val 8451"/>
            </a:avLst>
          </a:prstGeom>
          <a:solidFill>
            <a:srgbClr val="FFFFFF"/>
          </a:solidFill>
          <a:ln w="31750">
            <a:solidFill>
              <a:srgbClr val="2A9FD6"/>
            </a:solidFill>
            <a:prstDash val="dash"/>
          </a:ln>
        </p:spPr>
      </p:sp>
      <p:sp>
        <p:nvSpPr>
          <p:cNvPr id="14" name="Text 11"/>
          <p:cNvSpPr txBox="1"/>
          <p:nvPr/>
        </p:nvSpPr>
        <p:spPr>
          <a:xfrm>
            <a:off x="6190488" y="1691640"/>
            <a:ext cx="1627632" cy="548640"/>
          </a:xfrm>
          <a:prstGeom prst="rect">
            <a:avLst/>
          </a:prstGeom>
          <a:noFill/>
          <a:ln/>
        </p:spPr>
        <p:txBody>
          <a:bodyPr wrap="square" lIns="0" tIns="0" rIns="0" bIns="0" rtlCol="0" anchor="ctr"/>
          <a:lstStyle/>
          <a:p>
            <a:pPr algn="ctr" indent="0" marL="0">
              <a:buNone/>
            </a:pPr>
            <a:r>
              <a:rPr lang="en-US" sz="1800" b="1" dirty="0">
                <a:solidFill>
                  <a:srgbClr val="2A9FD6"/>
                </a:solidFill>
                <a:latin typeface="Courier New" pitchFamily="34" charset="0"/>
                <a:ea typeface="Courier New" pitchFamily="34" charset="-122"/>
                <a:cs typeface="Courier New" pitchFamily="34" charset="-120"/>
              </a:rPr>
              <a:t>strings</a:t>
            </a:r>
            <a:endParaRPr lang="en-US" sz="1800" dirty="0"/>
          </a:p>
        </p:txBody>
      </p:sp>
      <p:sp>
        <p:nvSpPr>
          <p:cNvPr id="15" name="Text 12"/>
          <p:cNvSpPr txBox="1"/>
          <p:nvPr/>
        </p:nvSpPr>
        <p:spPr>
          <a:xfrm>
            <a:off x="6144768"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2</a:t>
            </a:r>
            <a:endParaRPr lang="en-US" sz="1200" dirty="0"/>
          </a:p>
        </p:txBody>
      </p:sp>
      <p:sp>
        <p:nvSpPr>
          <p:cNvPr id="16" name="Shape 13"/>
          <p:cNvSpPr/>
          <p:nvPr/>
        </p:nvSpPr>
        <p:spPr>
          <a:xfrm>
            <a:off x="8010144" y="1508760"/>
            <a:ext cx="1719072" cy="1298448"/>
          </a:xfrm>
          <a:prstGeom prst="roundRect">
            <a:avLst>
              <a:gd name="adj" fmla="val 8451"/>
            </a:avLst>
          </a:prstGeom>
          <a:solidFill>
            <a:srgbClr val="FFFFFF"/>
          </a:solidFill>
          <a:ln w="31750">
            <a:solidFill>
              <a:srgbClr val="2459D8"/>
            </a:solidFill>
            <a:prstDash val="dash"/>
          </a:ln>
        </p:spPr>
      </p:sp>
      <p:sp>
        <p:nvSpPr>
          <p:cNvPr id="17" name="Text 14"/>
          <p:cNvSpPr txBox="1"/>
          <p:nvPr/>
        </p:nvSpPr>
        <p:spPr>
          <a:xfrm>
            <a:off x="8055864" y="1691640"/>
            <a:ext cx="1627632" cy="548640"/>
          </a:xfrm>
          <a:prstGeom prst="rect">
            <a:avLst/>
          </a:prstGeom>
          <a:noFill/>
          <a:ln/>
        </p:spPr>
        <p:txBody>
          <a:bodyPr wrap="square" lIns="0" tIns="0" rIns="0" bIns="0" rtlCol="0" anchor="ctr"/>
          <a:lstStyle/>
          <a:p>
            <a:pPr algn="ctr" indent="0" marL="0">
              <a:buNone/>
            </a:pPr>
            <a:r>
              <a:rPr lang="en-US" sz="1300" b="1" dirty="0">
                <a:solidFill>
                  <a:srgbClr val="2459D8"/>
                </a:solidFill>
                <a:latin typeface="Courier New" pitchFamily="34" charset="0"/>
                <a:ea typeface="Courier New" pitchFamily="34" charset="-122"/>
                <a:cs typeface="Courier New" pitchFamily="34" charset="-120"/>
              </a:rPr>
              <a:t>magic bytes</a:t>
            </a:r>
            <a:endParaRPr lang="en-US" sz="1300" dirty="0"/>
          </a:p>
        </p:txBody>
      </p:sp>
      <p:sp>
        <p:nvSpPr>
          <p:cNvPr id="18" name="Text 15"/>
          <p:cNvSpPr txBox="1"/>
          <p:nvPr/>
        </p:nvSpPr>
        <p:spPr>
          <a:xfrm>
            <a:off x="8010144"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3</a:t>
            </a:r>
            <a:endParaRPr lang="en-US" sz="1200" dirty="0"/>
          </a:p>
        </p:txBody>
      </p:sp>
      <p:sp>
        <p:nvSpPr>
          <p:cNvPr id="19" name="Shape 16"/>
          <p:cNvSpPr/>
          <p:nvPr/>
        </p:nvSpPr>
        <p:spPr>
          <a:xfrm>
            <a:off x="9875520" y="1508760"/>
            <a:ext cx="1719072" cy="1298448"/>
          </a:xfrm>
          <a:prstGeom prst="roundRect">
            <a:avLst>
              <a:gd name="adj" fmla="val 8451"/>
            </a:avLst>
          </a:prstGeom>
          <a:solidFill>
            <a:srgbClr val="FFFFFF"/>
          </a:solidFill>
          <a:ln w="31750">
            <a:solidFill>
              <a:srgbClr val="2459D8"/>
            </a:solidFill>
            <a:prstDash val="dash"/>
          </a:ln>
        </p:spPr>
      </p:sp>
      <p:sp>
        <p:nvSpPr>
          <p:cNvPr id="20" name="Text 17"/>
          <p:cNvSpPr txBox="1"/>
          <p:nvPr/>
        </p:nvSpPr>
        <p:spPr>
          <a:xfrm>
            <a:off x="9921240" y="1691640"/>
            <a:ext cx="1627632" cy="548640"/>
          </a:xfrm>
          <a:prstGeom prst="rect">
            <a:avLst/>
          </a:prstGeom>
          <a:noFill/>
          <a:ln/>
        </p:spPr>
        <p:txBody>
          <a:bodyPr wrap="square" lIns="0" tIns="0" rIns="0" bIns="0" rtlCol="0" anchor="ctr"/>
          <a:lstStyle/>
          <a:p>
            <a:pPr algn="ctr" indent="0" marL="0">
              <a:buNone/>
            </a:pPr>
            <a:r>
              <a:rPr lang="en-US" sz="1800" b="1" dirty="0">
                <a:solidFill>
                  <a:srgbClr val="2459D8"/>
                </a:solidFill>
                <a:latin typeface="Courier New" pitchFamily="34" charset="0"/>
                <a:ea typeface="Courier New" pitchFamily="34" charset="-122"/>
                <a:cs typeface="Courier New" pitchFamily="34" charset="-120"/>
              </a:rPr>
              <a:t>zcat</a:t>
            </a:r>
            <a:endParaRPr lang="en-US" sz="1800" dirty="0"/>
          </a:p>
        </p:txBody>
      </p:sp>
      <p:sp>
        <p:nvSpPr>
          <p:cNvPr id="21" name="Text 18"/>
          <p:cNvSpPr txBox="1"/>
          <p:nvPr/>
        </p:nvSpPr>
        <p:spPr>
          <a:xfrm>
            <a:off x="9875520"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3</a:t>
            </a:r>
            <a:endParaRPr lang="en-US" sz="1200" dirty="0"/>
          </a:p>
        </p:txBody>
      </p:sp>
      <p:sp>
        <p:nvSpPr>
          <p:cNvPr id="22" name="Shape 19"/>
          <p:cNvSpPr/>
          <p:nvPr/>
        </p:nvSpPr>
        <p:spPr>
          <a:xfrm>
            <a:off x="548640" y="2971800"/>
            <a:ext cx="1719072" cy="1298448"/>
          </a:xfrm>
          <a:prstGeom prst="roundRect">
            <a:avLst>
              <a:gd name="adj" fmla="val 8451"/>
            </a:avLst>
          </a:prstGeom>
          <a:solidFill>
            <a:srgbClr val="FFFFFF"/>
          </a:solidFill>
          <a:ln w="31750">
            <a:solidFill>
              <a:srgbClr val="7448D4"/>
            </a:solidFill>
            <a:prstDash val="dash"/>
          </a:ln>
        </p:spPr>
      </p:sp>
      <p:sp>
        <p:nvSpPr>
          <p:cNvPr id="23" name="Text 20"/>
          <p:cNvSpPr txBox="1"/>
          <p:nvPr/>
        </p:nvSpPr>
        <p:spPr>
          <a:xfrm>
            <a:off x="594360" y="3154680"/>
            <a:ext cx="1627632" cy="548640"/>
          </a:xfrm>
          <a:prstGeom prst="rect">
            <a:avLst/>
          </a:prstGeom>
          <a:noFill/>
          <a:ln/>
        </p:spPr>
        <p:txBody>
          <a:bodyPr wrap="square" lIns="0" tIns="0" rIns="0" bIns="0" rtlCol="0" anchor="ctr"/>
          <a:lstStyle/>
          <a:p>
            <a:pPr algn="ctr" indent="0" marL="0">
              <a:buNone/>
            </a:pPr>
            <a:r>
              <a:rPr lang="en-US" sz="1800" b="1" dirty="0">
                <a:solidFill>
                  <a:srgbClr val="7448D4"/>
                </a:solidFill>
                <a:latin typeface="Courier New" pitchFamily="34" charset="0"/>
                <a:ea typeface="Courier New" pitchFamily="34" charset="-122"/>
                <a:cs typeface="Courier New" pitchFamily="34" charset="-120"/>
              </a:rPr>
              <a:t>tar -x</a:t>
            </a:r>
            <a:endParaRPr lang="en-US" sz="1800" dirty="0"/>
          </a:p>
        </p:txBody>
      </p:sp>
      <p:sp>
        <p:nvSpPr>
          <p:cNvPr id="24" name="Text 21"/>
          <p:cNvSpPr txBox="1"/>
          <p:nvPr/>
        </p:nvSpPr>
        <p:spPr>
          <a:xfrm>
            <a:off x="548640"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4</a:t>
            </a:r>
            <a:endParaRPr lang="en-US" sz="1200" dirty="0"/>
          </a:p>
        </p:txBody>
      </p:sp>
      <p:sp>
        <p:nvSpPr>
          <p:cNvPr id="25" name="Shape 22"/>
          <p:cNvSpPr/>
          <p:nvPr/>
        </p:nvSpPr>
        <p:spPr>
          <a:xfrm>
            <a:off x="2414016" y="2971800"/>
            <a:ext cx="1719072" cy="1298448"/>
          </a:xfrm>
          <a:prstGeom prst="roundRect">
            <a:avLst>
              <a:gd name="adj" fmla="val 8451"/>
            </a:avLst>
          </a:prstGeom>
          <a:solidFill>
            <a:srgbClr val="FFFFFF"/>
          </a:solidFill>
          <a:ln w="31750">
            <a:solidFill>
              <a:srgbClr val="D1416B"/>
            </a:solidFill>
            <a:prstDash val="dash"/>
          </a:ln>
        </p:spPr>
      </p:sp>
      <p:sp>
        <p:nvSpPr>
          <p:cNvPr id="26" name="Text 23"/>
          <p:cNvSpPr txBox="1"/>
          <p:nvPr/>
        </p:nvSpPr>
        <p:spPr>
          <a:xfrm>
            <a:off x="2459736" y="3154680"/>
            <a:ext cx="1627632" cy="548640"/>
          </a:xfrm>
          <a:prstGeom prst="rect">
            <a:avLst/>
          </a:prstGeom>
          <a:noFill/>
          <a:ln/>
        </p:spPr>
        <p:txBody>
          <a:bodyPr wrap="square" lIns="0" tIns="0" rIns="0" bIns="0" rtlCol="0" anchor="ctr"/>
          <a:lstStyle/>
          <a:p>
            <a:pPr algn="ctr" indent="0" marL="0">
              <a:buNone/>
            </a:pPr>
            <a:r>
              <a:rPr lang="en-US" sz="1800" b="1" dirty="0">
                <a:solidFill>
                  <a:srgbClr val="D1416B"/>
                </a:solidFill>
                <a:latin typeface="Courier New" pitchFamily="34" charset="0"/>
                <a:ea typeface="Courier New" pitchFamily="34" charset="-122"/>
                <a:cs typeface="Courier New" pitchFamily="34" charset="-120"/>
              </a:rPr>
              <a:t>cut</a:t>
            </a:r>
            <a:endParaRPr lang="en-US" sz="1800" dirty="0"/>
          </a:p>
        </p:txBody>
      </p:sp>
      <p:sp>
        <p:nvSpPr>
          <p:cNvPr id="27" name="Text 24"/>
          <p:cNvSpPr txBox="1"/>
          <p:nvPr/>
        </p:nvSpPr>
        <p:spPr>
          <a:xfrm>
            <a:off x="2414016"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5</a:t>
            </a:r>
            <a:endParaRPr lang="en-US" sz="1200" dirty="0"/>
          </a:p>
        </p:txBody>
      </p:sp>
      <p:sp>
        <p:nvSpPr>
          <p:cNvPr id="28" name="Shape 25"/>
          <p:cNvSpPr/>
          <p:nvPr/>
        </p:nvSpPr>
        <p:spPr>
          <a:xfrm>
            <a:off x="4279392" y="2971800"/>
            <a:ext cx="1719072" cy="1298448"/>
          </a:xfrm>
          <a:prstGeom prst="roundRect">
            <a:avLst>
              <a:gd name="adj" fmla="val 8451"/>
            </a:avLst>
          </a:prstGeom>
          <a:solidFill>
            <a:srgbClr val="FFFFFF"/>
          </a:solidFill>
          <a:ln w="31750">
            <a:solidFill>
              <a:srgbClr val="D1416B"/>
            </a:solidFill>
            <a:prstDash val="dash"/>
          </a:ln>
        </p:spPr>
      </p:sp>
      <p:sp>
        <p:nvSpPr>
          <p:cNvPr id="29" name="Text 26"/>
          <p:cNvSpPr txBox="1"/>
          <p:nvPr/>
        </p:nvSpPr>
        <p:spPr>
          <a:xfrm>
            <a:off x="4325112" y="3154680"/>
            <a:ext cx="1627632" cy="548640"/>
          </a:xfrm>
          <a:prstGeom prst="rect">
            <a:avLst/>
          </a:prstGeom>
          <a:noFill/>
          <a:ln/>
        </p:spPr>
        <p:txBody>
          <a:bodyPr wrap="square" lIns="0" tIns="0" rIns="0" bIns="0" rtlCol="0" anchor="ctr"/>
          <a:lstStyle/>
          <a:p>
            <a:pPr algn="ctr" indent="0" marL="0">
              <a:buNone/>
            </a:pPr>
            <a:r>
              <a:rPr lang="en-US" sz="1800" b="1" dirty="0">
                <a:solidFill>
                  <a:srgbClr val="D1416B"/>
                </a:solidFill>
                <a:latin typeface="Courier New" pitchFamily="34" charset="0"/>
                <a:ea typeface="Courier New" pitchFamily="34" charset="-122"/>
                <a:cs typeface="Courier New" pitchFamily="34" charset="-120"/>
              </a:rPr>
              <a:t>uniq -c</a:t>
            </a:r>
            <a:endParaRPr lang="en-US" sz="1800" dirty="0"/>
          </a:p>
        </p:txBody>
      </p:sp>
      <p:sp>
        <p:nvSpPr>
          <p:cNvPr id="30" name="Text 27"/>
          <p:cNvSpPr txBox="1"/>
          <p:nvPr/>
        </p:nvSpPr>
        <p:spPr>
          <a:xfrm>
            <a:off x="4279392"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5</a:t>
            </a:r>
            <a:endParaRPr lang="en-US" sz="1200" dirty="0"/>
          </a:p>
        </p:txBody>
      </p:sp>
      <p:sp>
        <p:nvSpPr>
          <p:cNvPr id="31" name="Shape 28"/>
          <p:cNvSpPr/>
          <p:nvPr/>
        </p:nvSpPr>
        <p:spPr>
          <a:xfrm>
            <a:off x="6144768" y="2971800"/>
            <a:ext cx="1719072" cy="1298448"/>
          </a:xfrm>
          <a:prstGeom prst="roundRect">
            <a:avLst>
              <a:gd name="adj" fmla="val 8451"/>
            </a:avLst>
          </a:prstGeom>
          <a:solidFill>
            <a:srgbClr val="FFFFFF"/>
          </a:solidFill>
          <a:ln w="31750">
            <a:solidFill>
              <a:srgbClr val="E8820C"/>
            </a:solidFill>
            <a:prstDash val="dash"/>
          </a:ln>
        </p:spPr>
      </p:sp>
      <p:sp>
        <p:nvSpPr>
          <p:cNvPr id="32" name="Text 29"/>
          <p:cNvSpPr txBox="1"/>
          <p:nvPr/>
        </p:nvSpPr>
        <p:spPr>
          <a:xfrm>
            <a:off x="6190488" y="3154680"/>
            <a:ext cx="1627632" cy="548640"/>
          </a:xfrm>
          <a:prstGeom prst="rect">
            <a:avLst/>
          </a:prstGeom>
          <a:noFill/>
          <a:ln/>
        </p:spPr>
        <p:txBody>
          <a:bodyPr wrap="square" lIns="0" tIns="0" rIns="0" bIns="0" rtlCol="0" anchor="ctr"/>
          <a:lstStyle/>
          <a:p>
            <a:pPr algn="ctr" indent="0" marL="0">
              <a:buNone/>
            </a:pPr>
            <a:r>
              <a:rPr lang="en-US" sz="1800" b="1" dirty="0">
                <a:solidFill>
                  <a:srgbClr val="E8820C"/>
                </a:solidFill>
                <a:latin typeface="Courier New" pitchFamily="34" charset="0"/>
                <a:ea typeface="Courier New" pitchFamily="34" charset="-122"/>
                <a:cs typeface="Courier New" pitchFamily="34" charset="-120"/>
              </a:rPr>
              <a:t>stego</a:t>
            </a:r>
            <a:endParaRPr lang="en-US" sz="1800" dirty="0"/>
          </a:p>
        </p:txBody>
      </p:sp>
      <p:sp>
        <p:nvSpPr>
          <p:cNvPr id="33" name="Text 30"/>
          <p:cNvSpPr txBox="1"/>
          <p:nvPr/>
        </p:nvSpPr>
        <p:spPr>
          <a:xfrm>
            <a:off x="6144768"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6</a:t>
            </a:r>
            <a:endParaRPr lang="en-US" sz="1200" dirty="0"/>
          </a:p>
        </p:txBody>
      </p:sp>
      <p:sp>
        <p:nvSpPr>
          <p:cNvPr id="34" name="Shape 31"/>
          <p:cNvSpPr/>
          <p:nvPr/>
        </p:nvSpPr>
        <p:spPr>
          <a:xfrm>
            <a:off x="8010144" y="2971800"/>
            <a:ext cx="1719072" cy="1298448"/>
          </a:xfrm>
          <a:prstGeom prst="roundRect">
            <a:avLst>
              <a:gd name="adj" fmla="val 8451"/>
            </a:avLst>
          </a:prstGeom>
          <a:solidFill>
            <a:srgbClr val="FFFFFF"/>
          </a:solidFill>
          <a:ln w="31750">
            <a:solidFill>
              <a:srgbClr val="E8820C"/>
            </a:solidFill>
            <a:prstDash val="dash"/>
          </a:ln>
        </p:spPr>
      </p:sp>
      <p:sp>
        <p:nvSpPr>
          <p:cNvPr id="35" name="Text 32"/>
          <p:cNvSpPr txBox="1"/>
          <p:nvPr/>
        </p:nvSpPr>
        <p:spPr>
          <a:xfrm>
            <a:off x="8055864" y="3154680"/>
            <a:ext cx="1627632" cy="548640"/>
          </a:xfrm>
          <a:prstGeom prst="rect">
            <a:avLst/>
          </a:prstGeom>
          <a:noFill/>
          <a:ln/>
        </p:spPr>
        <p:txBody>
          <a:bodyPr wrap="square" lIns="0" tIns="0" rIns="0" bIns="0" rtlCol="0" anchor="ctr"/>
          <a:lstStyle/>
          <a:p>
            <a:pPr algn="ctr" indent="0" marL="0">
              <a:buNone/>
            </a:pPr>
            <a:r>
              <a:rPr lang="en-US" sz="1800" b="1" dirty="0">
                <a:solidFill>
                  <a:srgbClr val="E8820C"/>
                </a:solidFill>
                <a:latin typeface="Courier New" pitchFamily="34" charset="0"/>
                <a:ea typeface="Courier New" pitchFamily="34" charset="-122"/>
                <a:cs typeface="Courier New" pitchFamily="34" charset="-120"/>
              </a:rPr>
              <a:t>base64 -d</a:t>
            </a:r>
            <a:endParaRPr lang="en-US" sz="1800" dirty="0"/>
          </a:p>
        </p:txBody>
      </p:sp>
      <p:sp>
        <p:nvSpPr>
          <p:cNvPr id="36" name="Text 33"/>
          <p:cNvSpPr txBox="1"/>
          <p:nvPr/>
        </p:nvSpPr>
        <p:spPr>
          <a:xfrm>
            <a:off x="8010144"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6</a:t>
            </a:r>
            <a:endParaRPr lang="en-US" sz="1200" dirty="0"/>
          </a:p>
        </p:txBody>
      </p:sp>
      <p:sp>
        <p:nvSpPr>
          <p:cNvPr id="37" name="Shape 34"/>
          <p:cNvSpPr/>
          <p:nvPr/>
        </p:nvSpPr>
        <p:spPr>
          <a:xfrm>
            <a:off x="9875520" y="2971800"/>
            <a:ext cx="1719072" cy="1298448"/>
          </a:xfrm>
          <a:prstGeom prst="roundRect">
            <a:avLst>
              <a:gd name="adj" fmla="val 8451"/>
            </a:avLst>
          </a:prstGeom>
          <a:solidFill>
            <a:srgbClr val="FFFFFF"/>
          </a:solidFill>
          <a:ln w="31750">
            <a:solidFill>
              <a:srgbClr val="C9A227"/>
            </a:solidFill>
            <a:prstDash val="dash"/>
          </a:ln>
        </p:spPr>
      </p:sp>
      <p:sp>
        <p:nvSpPr>
          <p:cNvPr id="38" name="Text 35"/>
          <p:cNvSpPr txBox="1"/>
          <p:nvPr/>
        </p:nvSpPr>
        <p:spPr>
          <a:xfrm>
            <a:off x="9921240" y="3154680"/>
            <a:ext cx="1627632" cy="548640"/>
          </a:xfrm>
          <a:prstGeom prst="rect">
            <a:avLst/>
          </a:prstGeom>
          <a:noFill/>
          <a:ln/>
        </p:spPr>
        <p:txBody>
          <a:bodyPr wrap="square" lIns="0" tIns="0" rIns="0" bIns="0" rtlCol="0" anchor="ctr"/>
          <a:lstStyle/>
          <a:p>
            <a:pPr algn="ctr" indent="0" marL="0">
              <a:buNone/>
            </a:pPr>
            <a:r>
              <a:rPr lang="en-US" sz="1300" b="1" dirty="0">
                <a:solidFill>
                  <a:srgbClr val="C9A227"/>
                </a:solidFill>
                <a:latin typeface="Courier New" pitchFamily="34" charset="0"/>
                <a:ea typeface="Courier New" pitchFamily="34" charset="-122"/>
                <a:cs typeface="Courier New" pitchFamily="34" charset="-120"/>
              </a:rPr>
              <a:t>sha256sum -c</a:t>
            </a:r>
            <a:endParaRPr lang="en-US" sz="1300" dirty="0"/>
          </a:p>
        </p:txBody>
      </p:sp>
      <p:sp>
        <p:nvSpPr>
          <p:cNvPr id="39" name="Text 36"/>
          <p:cNvSpPr txBox="1"/>
          <p:nvPr/>
        </p:nvSpPr>
        <p:spPr>
          <a:xfrm>
            <a:off x="9875520"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7</a:t>
            </a:r>
            <a:endParaRPr lang="en-US" sz="1200" dirty="0"/>
          </a:p>
        </p:txBody>
      </p:sp>
      <p:sp>
        <p:nvSpPr>
          <p:cNvPr id="40" name="Shape 37"/>
          <p:cNvSpPr/>
          <p:nvPr/>
        </p:nvSpPr>
        <p:spPr>
          <a:xfrm>
            <a:off x="548640" y="4434840"/>
            <a:ext cx="1719072" cy="1298448"/>
          </a:xfrm>
          <a:prstGeom prst="roundRect">
            <a:avLst>
              <a:gd name="adj" fmla="val 8451"/>
            </a:avLst>
          </a:prstGeom>
          <a:solidFill>
            <a:srgbClr val="FFFFFF"/>
          </a:solidFill>
          <a:ln w="31750">
            <a:solidFill>
              <a:srgbClr val="0F9488"/>
            </a:solidFill>
            <a:prstDash val="dash"/>
          </a:ln>
        </p:spPr>
      </p:sp>
      <p:sp>
        <p:nvSpPr>
          <p:cNvPr id="41" name="Text 38"/>
          <p:cNvSpPr txBox="1"/>
          <p:nvPr/>
        </p:nvSpPr>
        <p:spPr>
          <a:xfrm>
            <a:off x="594360" y="4617720"/>
            <a:ext cx="1627632" cy="548640"/>
          </a:xfrm>
          <a:prstGeom prst="rect">
            <a:avLst/>
          </a:prstGeom>
          <a:noFill/>
          <a:ln/>
        </p:spPr>
        <p:txBody>
          <a:bodyPr wrap="square" lIns="0" tIns="0" rIns="0" bIns="0" rtlCol="0" anchor="ctr"/>
          <a:lstStyle/>
          <a:p>
            <a:pPr algn="ctr" indent="0" marL="0">
              <a:buNone/>
            </a:pPr>
            <a:r>
              <a:rPr lang="en-US" sz="1800" b="1" dirty="0">
                <a:solidFill>
                  <a:srgbClr val="0F9488"/>
                </a:solidFill>
                <a:latin typeface="Courier New" pitchFamily="34" charset="0"/>
                <a:ea typeface="Courier New" pitchFamily="34" charset="-122"/>
                <a:cs typeface="Courier New" pitchFamily="34" charset="-120"/>
              </a:rPr>
              <a:t>cron</a:t>
            </a:r>
            <a:endParaRPr lang="en-US" sz="1800" dirty="0"/>
          </a:p>
        </p:txBody>
      </p:sp>
      <p:sp>
        <p:nvSpPr>
          <p:cNvPr id="42" name="Text 39"/>
          <p:cNvSpPr txBox="1"/>
          <p:nvPr/>
        </p:nvSpPr>
        <p:spPr>
          <a:xfrm>
            <a:off x="548640"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8</a:t>
            </a:r>
            <a:endParaRPr lang="en-US" sz="1200" dirty="0"/>
          </a:p>
        </p:txBody>
      </p:sp>
      <p:sp>
        <p:nvSpPr>
          <p:cNvPr id="43" name="Shape 40"/>
          <p:cNvSpPr/>
          <p:nvPr/>
        </p:nvSpPr>
        <p:spPr>
          <a:xfrm>
            <a:off x="2414016" y="4434840"/>
            <a:ext cx="1719072" cy="1298448"/>
          </a:xfrm>
          <a:prstGeom prst="roundRect">
            <a:avLst>
              <a:gd name="adj" fmla="val 8451"/>
            </a:avLst>
          </a:prstGeom>
          <a:solidFill>
            <a:srgbClr val="FFFFFF"/>
          </a:solidFill>
          <a:ln w="31750">
            <a:solidFill>
              <a:srgbClr val="0F9488"/>
            </a:solidFill>
            <a:prstDash val="dash"/>
          </a:ln>
        </p:spPr>
      </p:sp>
      <p:sp>
        <p:nvSpPr>
          <p:cNvPr id="44" name="Text 41"/>
          <p:cNvSpPr txBox="1"/>
          <p:nvPr/>
        </p:nvSpPr>
        <p:spPr>
          <a:xfrm>
            <a:off x="2459736" y="4617720"/>
            <a:ext cx="1627632" cy="548640"/>
          </a:xfrm>
          <a:prstGeom prst="rect">
            <a:avLst/>
          </a:prstGeom>
          <a:noFill/>
          <a:ln/>
        </p:spPr>
        <p:txBody>
          <a:bodyPr wrap="square" lIns="0" tIns="0" rIns="0" bIns="0" rtlCol="0" anchor="ctr"/>
          <a:lstStyle/>
          <a:p>
            <a:pPr algn="ctr" indent="0" marL="0">
              <a:buNone/>
            </a:pPr>
            <a:r>
              <a:rPr lang="en-US" sz="1800" b="1" dirty="0">
                <a:solidFill>
                  <a:srgbClr val="0F9488"/>
                </a:solidFill>
                <a:latin typeface="Courier New" pitchFamily="34" charset="0"/>
                <a:ea typeface="Courier New" pitchFamily="34" charset="-122"/>
                <a:cs typeface="Courier New" pitchFamily="34" charset="-120"/>
              </a:rPr>
              <a:t>ls -a</a:t>
            </a:r>
            <a:endParaRPr lang="en-US" sz="1800" dirty="0"/>
          </a:p>
        </p:txBody>
      </p:sp>
      <p:sp>
        <p:nvSpPr>
          <p:cNvPr id="45" name="Text 42"/>
          <p:cNvSpPr txBox="1"/>
          <p:nvPr/>
        </p:nvSpPr>
        <p:spPr>
          <a:xfrm>
            <a:off x="2414016"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8</a:t>
            </a:r>
            <a:endParaRPr lang="en-US" sz="1200" dirty="0"/>
          </a:p>
        </p:txBody>
      </p:sp>
      <p:sp>
        <p:nvSpPr>
          <p:cNvPr id="46" name="Shape 43"/>
          <p:cNvSpPr/>
          <p:nvPr/>
        </p:nvSpPr>
        <p:spPr>
          <a:xfrm>
            <a:off x="4279392" y="4434840"/>
            <a:ext cx="1719072" cy="1298448"/>
          </a:xfrm>
          <a:prstGeom prst="roundRect">
            <a:avLst>
              <a:gd name="adj" fmla="val 8451"/>
            </a:avLst>
          </a:prstGeom>
          <a:solidFill>
            <a:srgbClr val="FFFFFF"/>
          </a:solidFill>
          <a:ln w="31750">
            <a:solidFill>
              <a:srgbClr val="5B6EE1"/>
            </a:solidFill>
            <a:prstDash val="dash"/>
          </a:ln>
        </p:spPr>
      </p:sp>
      <p:sp>
        <p:nvSpPr>
          <p:cNvPr id="47" name="Text 44"/>
          <p:cNvSpPr txBox="1"/>
          <p:nvPr/>
        </p:nvSpPr>
        <p:spPr>
          <a:xfrm>
            <a:off x="4325112" y="4617720"/>
            <a:ext cx="1627632" cy="548640"/>
          </a:xfrm>
          <a:prstGeom prst="rect">
            <a:avLst/>
          </a:prstGeom>
          <a:noFill/>
          <a:ln/>
        </p:spPr>
        <p:txBody>
          <a:bodyPr wrap="square" lIns="0" tIns="0" rIns="0" bIns="0" rtlCol="0" anchor="ctr"/>
          <a:lstStyle/>
          <a:p>
            <a:pPr algn="ctr" indent="0" marL="0">
              <a:buNone/>
            </a:pPr>
            <a:r>
              <a:rPr lang="en-US" sz="1300" b="1" dirty="0">
                <a:solidFill>
                  <a:srgbClr val="5B6EE1"/>
                </a:solidFill>
                <a:latin typeface="Courier New" pitchFamily="34" charset="0"/>
                <a:ea typeface="Courier New" pitchFamily="34" charset="-122"/>
                <a:cs typeface="Courier New" pitchFamily="34" charset="-120"/>
              </a:rPr>
              <a:t>packet list</a:t>
            </a:r>
            <a:endParaRPr lang="en-US" sz="1300" dirty="0"/>
          </a:p>
        </p:txBody>
      </p:sp>
      <p:sp>
        <p:nvSpPr>
          <p:cNvPr id="48" name="Text 45"/>
          <p:cNvSpPr txBox="1"/>
          <p:nvPr/>
        </p:nvSpPr>
        <p:spPr>
          <a:xfrm>
            <a:off x="4279392"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9</a:t>
            </a:r>
            <a:endParaRPr lang="en-US" sz="1200" dirty="0"/>
          </a:p>
        </p:txBody>
      </p:sp>
      <p:sp>
        <p:nvSpPr>
          <p:cNvPr id="49" name="Shape 46"/>
          <p:cNvSpPr/>
          <p:nvPr/>
        </p:nvSpPr>
        <p:spPr>
          <a:xfrm>
            <a:off x="6144768" y="4434840"/>
            <a:ext cx="1719072" cy="1298448"/>
          </a:xfrm>
          <a:prstGeom prst="roundRect">
            <a:avLst>
              <a:gd name="adj" fmla="val 8451"/>
            </a:avLst>
          </a:prstGeom>
          <a:solidFill>
            <a:srgbClr val="FFFFFF"/>
          </a:solidFill>
          <a:ln w="31750">
            <a:solidFill>
              <a:srgbClr val="B4233F"/>
            </a:solidFill>
            <a:prstDash val="dash"/>
          </a:ln>
        </p:spPr>
      </p:sp>
      <p:sp>
        <p:nvSpPr>
          <p:cNvPr id="50" name="Text 47"/>
          <p:cNvSpPr txBox="1"/>
          <p:nvPr/>
        </p:nvSpPr>
        <p:spPr>
          <a:xfrm>
            <a:off x="6190488" y="4617720"/>
            <a:ext cx="1627632" cy="548640"/>
          </a:xfrm>
          <a:prstGeom prst="rect">
            <a:avLst/>
          </a:prstGeom>
          <a:noFill/>
          <a:ln/>
        </p:spPr>
        <p:txBody>
          <a:bodyPr wrap="square" lIns="0" tIns="0" rIns="0" bIns="0" rtlCol="0" anchor="ctr"/>
          <a:lstStyle/>
          <a:p>
            <a:pPr algn="ctr" indent="0" marL="0">
              <a:buNone/>
            </a:pPr>
            <a:r>
              <a:rPr lang="en-US" sz="1300" b="1" dirty="0">
                <a:solidFill>
                  <a:srgbClr val="B4233F"/>
                </a:solidFill>
                <a:latin typeface="Courier New" pitchFamily="34" charset="0"/>
                <a:ea typeface="Courier New" pitchFamily="34" charset="-122"/>
                <a:cs typeface="Courier New" pitchFamily="34" charset="-120"/>
              </a:rPr>
              <a:t>case notes</a:t>
            </a:r>
            <a:endParaRPr lang="en-US" sz="1300" dirty="0"/>
          </a:p>
        </p:txBody>
      </p:sp>
      <p:sp>
        <p:nvSpPr>
          <p:cNvPr id="51" name="Text 48"/>
          <p:cNvSpPr txBox="1"/>
          <p:nvPr/>
        </p:nvSpPr>
        <p:spPr>
          <a:xfrm>
            <a:off x="6144768"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10</a:t>
            </a:r>
            <a:endParaRPr lang="en-US" sz="1200" dirty="0"/>
          </a:p>
        </p:txBody>
      </p:sp>
      <p:sp>
        <p:nvSpPr>
          <p:cNvPr id="52" name="Shape 49"/>
          <p:cNvSpPr/>
          <p:nvPr/>
        </p:nvSpPr>
        <p:spPr>
          <a:xfrm>
            <a:off x="8010144" y="4434840"/>
            <a:ext cx="1719072" cy="1298448"/>
          </a:xfrm>
          <a:prstGeom prst="roundRect">
            <a:avLst>
              <a:gd name="adj" fmla="val 8451"/>
            </a:avLst>
          </a:prstGeom>
          <a:solidFill>
            <a:srgbClr val="FFFFFF"/>
          </a:solidFill>
          <a:ln w="31750">
            <a:solidFill>
              <a:srgbClr val="56657E"/>
            </a:solidFill>
            <a:prstDash val="dash"/>
          </a:ln>
        </p:spPr>
      </p:sp>
      <p:sp>
        <p:nvSpPr>
          <p:cNvPr id="53" name="Text 50"/>
          <p:cNvSpPr txBox="1"/>
          <p:nvPr/>
        </p:nvSpPr>
        <p:spPr>
          <a:xfrm>
            <a:off x="8055864" y="4617720"/>
            <a:ext cx="1627632" cy="54864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--help</a:t>
            </a:r>
            <a:endParaRPr lang="en-US" sz="1800" dirty="0"/>
          </a:p>
        </p:txBody>
      </p:sp>
      <p:sp>
        <p:nvSpPr>
          <p:cNvPr id="54" name="Text 51"/>
          <p:cNvSpPr txBox="1"/>
          <p:nvPr/>
        </p:nvSpPr>
        <p:spPr>
          <a:xfrm>
            <a:off x="8010144"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Every mission</a:t>
            </a:r>
            <a:endParaRPr lang="en-US" sz="1200" dirty="0"/>
          </a:p>
        </p:txBody>
      </p:sp>
      <p:sp>
        <p:nvSpPr>
          <p:cNvPr id="55" name="Shape 52"/>
          <p:cNvSpPr/>
          <p:nvPr/>
        </p:nvSpPr>
        <p:spPr>
          <a:xfrm>
            <a:off x="9875520" y="4434840"/>
            <a:ext cx="1719072" cy="1298448"/>
          </a:xfrm>
          <a:prstGeom prst="roundRect">
            <a:avLst>
              <a:gd name="adj" fmla="val 8451"/>
            </a:avLst>
          </a:prstGeom>
          <a:solidFill>
            <a:srgbClr val="FFFFFF"/>
          </a:solidFill>
          <a:ln w="31750">
            <a:solidFill>
              <a:srgbClr val="56657E"/>
            </a:solidFill>
            <a:prstDash val="dash"/>
          </a:ln>
        </p:spPr>
      </p:sp>
      <p:sp>
        <p:nvSpPr>
          <p:cNvPr id="56" name="Text 53"/>
          <p:cNvSpPr txBox="1"/>
          <p:nvPr/>
        </p:nvSpPr>
        <p:spPr>
          <a:xfrm>
            <a:off x="9921240" y="4617720"/>
            <a:ext cx="1627632" cy="548640"/>
          </a:xfrm>
          <a:prstGeom prst="rect">
            <a:avLst/>
          </a:prstGeom>
          <a:noFill/>
          <a:ln/>
        </p:spPr>
        <p:txBody>
          <a:bodyPr wrap="square" lIns="0" tIns="0" rIns="0" bIns="0" rtlCol="0" anchor="ctr"/>
          <a:lstStyle/>
          <a:p>
            <a:pPr algn="ctr" indent="0" marL="0">
              <a:buNone/>
            </a:pPr>
            <a:r>
              <a:rPr lang="en-US" sz="1300" b="1" dirty="0">
                <a:solidFill>
                  <a:srgbClr val="56657E"/>
                </a:solidFill>
                <a:latin typeface="Courier New" pitchFamily="34" charset="0"/>
                <a:ea typeface="Courier New" pitchFamily="34" charset="-122"/>
                <a:cs typeface="Courier New" pitchFamily="34" charset="-120"/>
              </a:rPr>
              <a:t>chain of evidence</a:t>
            </a:r>
            <a:endParaRPr lang="en-US" sz="1300" dirty="0"/>
          </a:p>
        </p:txBody>
      </p:sp>
      <p:sp>
        <p:nvSpPr>
          <p:cNvPr id="57" name="Text 54"/>
          <p:cNvSpPr txBox="1"/>
          <p:nvPr/>
        </p:nvSpPr>
        <p:spPr>
          <a:xfrm>
            <a:off x="9875520"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Every mission</a:t>
            </a:r>
            <a:endParaRPr lang="en-US" sz="1200" dirty="0"/>
          </a:p>
        </p:txBody>
      </p:sp>
      <p:sp>
        <p:nvSpPr>
          <p:cNvPr id="58" name="Text 55"/>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500" b="1" dirty="0">
                <a:solidFill>
                  <a:srgbClr val="12213A"/>
                </a:solidFill>
                <a:latin typeface="Calibri" pitchFamily="34" charset="0"/>
                <a:ea typeface="Calibri" pitchFamily="34" charset="-122"/>
                <a:cs typeface="Calibri" pitchFamily="34" charset="-120"/>
              </a:rPr>
              <a:t>Eighteen investigation skills, used on a real Linux system, in one session.</a:t>
            </a:r>
            <a:endParaRPr lang="en-US" sz="1500" dirty="0"/>
          </a:p>
        </p:txBody>
      </p:sp>
      <p:sp>
        <p:nvSpPr>
          <p:cNvPr id="59" name="Text 5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35 / 60</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you just did is the job</a:t>
            </a:r>
            <a:endParaRPr lang="en-US" sz="3200" dirty="0"/>
          </a:p>
        </p:txBody>
      </p:sp>
      <p:sp>
        <p:nvSpPr>
          <p:cNvPr id="4" name="Shape 1"/>
          <p:cNvSpPr/>
          <p:nvPr/>
        </p:nvSpPr>
        <p:spPr>
          <a:xfrm>
            <a:off x="548640" y="1554480"/>
            <a:ext cx="731520" cy="731520"/>
          </a:xfrm>
          <a:prstGeom prst="ellipse">
            <a:avLst/>
          </a:prstGeom>
          <a:solidFill>
            <a:srgbClr val="D1416B"/>
          </a:solidFill>
          <a:ln/>
        </p:spPr>
      </p:sp>
      <p:pic>
        <p:nvPicPr>
          <p:cNvPr id="5" name="Image 0" descr="preencoded.png">    </p:cNvPr>
          <p:cNvPicPr>
            <a:picLocks noChangeAspect="1"/>
          </p:cNvPicPr>
          <p:nvPr/>
        </p:nvPicPr>
        <p:blipFill>
          <a:blip r:embed="rId1"/>
          <a:stretch>
            <a:fillRect/>
          </a:stretch>
        </p:blipFill>
        <p:spPr>
          <a:xfrm>
            <a:off x="731520" y="1737360"/>
            <a:ext cx="365760" cy="365760"/>
          </a:xfrm>
          <a:prstGeom prst="rect">
            <a:avLst/>
          </a:prstGeom>
        </p:spPr>
      </p:pic>
      <p:sp>
        <p:nvSpPr>
          <p:cNvPr id="6" name="Text 2"/>
          <p:cNvSpPr txBox="1"/>
          <p:nvPr/>
        </p:nvSpPr>
        <p:spPr>
          <a:xfrm>
            <a:off x="1508760" y="155448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Read the logs</a:t>
            </a:r>
            <a:endParaRPr lang="en-US" sz="1800" dirty="0"/>
          </a:p>
        </p:txBody>
      </p:sp>
      <p:sp>
        <p:nvSpPr>
          <p:cNvPr id="7" name="Text 3"/>
          <p:cNvSpPr txBox="1"/>
          <p:nvPr/>
        </p:nvSpPr>
        <p:spPr>
          <a:xfrm>
            <a:off x="1508760" y="193852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SOC analysts spot brute-force logins and odd traffic all day</a:t>
            </a:r>
            <a:endParaRPr lang="en-US" sz="1500" dirty="0"/>
          </a:p>
        </p:txBody>
      </p:sp>
      <p:sp>
        <p:nvSpPr>
          <p:cNvPr id="8" name="Shape 4"/>
          <p:cNvSpPr/>
          <p:nvPr/>
        </p:nvSpPr>
        <p:spPr>
          <a:xfrm>
            <a:off x="548640" y="2651760"/>
            <a:ext cx="731520" cy="731520"/>
          </a:xfrm>
          <a:prstGeom prst="ellipse">
            <a:avLst/>
          </a:prstGeom>
          <a:solidFill>
            <a:srgbClr val="2459D8"/>
          </a:solidFill>
          <a:ln/>
        </p:spPr>
      </p:sp>
      <p:pic>
        <p:nvPicPr>
          <p:cNvPr id="9" name="Image 1" descr="preencoded.png">    </p:cNvPr>
          <p:cNvPicPr>
            <a:picLocks noChangeAspect="1"/>
          </p:cNvPicPr>
          <p:nvPr/>
        </p:nvPicPr>
        <p:blipFill>
          <a:blip r:embed="rId2"/>
          <a:stretch>
            <a:fillRect/>
          </a:stretch>
        </p:blipFill>
        <p:spPr>
          <a:xfrm>
            <a:off x="731520" y="2834640"/>
            <a:ext cx="365760" cy="365760"/>
          </a:xfrm>
          <a:prstGeom prst="rect">
            <a:avLst/>
          </a:prstGeom>
        </p:spPr>
      </p:pic>
      <p:sp>
        <p:nvSpPr>
          <p:cNvPr id="10" name="Text 5"/>
          <p:cNvSpPr txBox="1"/>
          <p:nvPr/>
        </p:nvSpPr>
        <p:spPr>
          <a:xfrm>
            <a:off x="1508760" y="265176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Examine the files</a:t>
            </a:r>
            <a:endParaRPr lang="en-US" sz="1800" dirty="0"/>
          </a:p>
        </p:txBody>
      </p:sp>
      <p:sp>
        <p:nvSpPr>
          <p:cNvPr id="11" name="Text 6"/>
          <p:cNvSpPr txBox="1"/>
          <p:nvPr/>
        </p:nvSpPr>
        <p:spPr>
          <a:xfrm>
            <a:off x="1508760" y="303580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Forensic examiners recover hidden, renamed and deleted evidence</a:t>
            </a:r>
            <a:endParaRPr lang="en-US" sz="1500" dirty="0"/>
          </a:p>
        </p:txBody>
      </p:sp>
      <p:sp>
        <p:nvSpPr>
          <p:cNvPr id="12" name="Shape 7"/>
          <p:cNvSpPr/>
          <p:nvPr/>
        </p:nvSpPr>
        <p:spPr>
          <a:xfrm>
            <a:off x="548640" y="3749040"/>
            <a:ext cx="731520" cy="731520"/>
          </a:xfrm>
          <a:prstGeom prst="ellipse">
            <a:avLst/>
          </a:prstGeom>
          <a:solidFill>
            <a:srgbClr val="C9A227"/>
          </a:solidFill>
          <a:ln/>
        </p:spPr>
      </p:sp>
      <p:pic>
        <p:nvPicPr>
          <p:cNvPr id="13" name="Image 2" descr="preencoded.png">    </p:cNvPr>
          <p:cNvPicPr>
            <a:picLocks noChangeAspect="1"/>
          </p:cNvPicPr>
          <p:nvPr/>
        </p:nvPicPr>
        <p:blipFill>
          <a:blip r:embed="rId3"/>
          <a:stretch>
            <a:fillRect/>
          </a:stretch>
        </p:blipFill>
        <p:spPr>
          <a:xfrm>
            <a:off x="731520" y="3931920"/>
            <a:ext cx="365760" cy="365760"/>
          </a:xfrm>
          <a:prstGeom prst="rect">
            <a:avLst/>
          </a:prstGeom>
        </p:spPr>
      </p:pic>
      <p:sp>
        <p:nvSpPr>
          <p:cNvPr id="14" name="Text 8"/>
          <p:cNvSpPr txBox="1"/>
          <p:nvPr/>
        </p:nvSpPr>
        <p:spPr>
          <a:xfrm>
            <a:off x="1508760" y="374904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Prove what changed</a:t>
            </a:r>
            <a:endParaRPr lang="en-US" sz="1800" dirty="0"/>
          </a:p>
        </p:txBody>
      </p:sp>
      <p:sp>
        <p:nvSpPr>
          <p:cNvPr id="15" name="Text 9"/>
          <p:cNvSpPr txBox="1"/>
          <p:nvPr/>
        </p:nvSpPr>
        <p:spPr>
          <a:xfrm>
            <a:off x="1508760" y="413308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Incident responders compare fingerprints and hunt persistence</a:t>
            </a:r>
            <a:endParaRPr lang="en-US" sz="1500" dirty="0"/>
          </a:p>
        </p:txBody>
      </p:sp>
      <p:sp>
        <p:nvSpPr>
          <p:cNvPr id="16" name="Shape 10"/>
          <p:cNvSpPr/>
          <p:nvPr/>
        </p:nvSpPr>
        <p:spPr>
          <a:xfrm>
            <a:off x="548640" y="4846320"/>
            <a:ext cx="731520" cy="731520"/>
          </a:xfrm>
          <a:prstGeom prst="ellipse">
            <a:avLst/>
          </a:prstGeom>
          <a:solidFill>
            <a:srgbClr val="17875A"/>
          </a:solidFill>
          <a:ln/>
        </p:spPr>
      </p:sp>
      <p:pic>
        <p:nvPicPr>
          <p:cNvPr id="17" name="Image 3" descr="preencoded.png">    </p:cNvPr>
          <p:cNvPicPr>
            <a:picLocks noChangeAspect="1"/>
          </p:cNvPicPr>
          <p:nvPr/>
        </p:nvPicPr>
        <p:blipFill>
          <a:blip r:embed="rId4"/>
          <a:stretch>
            <a:fillRect/>
          </a:stretch>
        </p:blipFill>
        <p:spPr>
          <a:xfrm>
            <a:off x="731520" y="5029200"/>
            <a:ext cx="365760" cy="365760"/>
          </a:xfrm>
          <a:prstGeom prst="rect">
            <a:avLst/>
          </a:prstGeom>
        </p:spPr>
      </p:pic>
      <p:sp>
        <p:nvSpPr>
          <p:cNvPr id="18" name="Text 11"/>
          <p:cNvSpPr txBox="1"/>
          <p:nvPr/>
        </p:nvSpPr>
        <p:spPr>
          <a:xfrm>
            <a:off x="1508760" y="484632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Tell the story</a:t>
            </a:r>
            <a:endParaRPr lang="en-US" sz="1800" dirty="0"/>
          </a:p>
        </p:txBody>
      </p:sp>
      <p:sp>
        <p:nvSpPr>
          <p:cNvPr id="19" name="Text 12"/>
          <p:cNvSpPr txBox="1"/>
          <p:nvPr/>
        </p:nvSpPr>
        <p:spPr>
          <a:xfrm>
            <a:off x="1508760" y="523036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Every investigation ends in a report someone else can follow</a:t>
            </a:r>
            <a:endParaRPr lang="en-US" sz="1500" dirty="0"/>
          </a:p>
        </p:txBody>
      </p:sp>
      <p:sp>
        <p:nvSpPr>
          <p:cNvPr id="20" name="Shape 13"/>
          <p:cNvSpPr/>
          <p:nvPr/>
        </p:nvSpPr>
        <p:spPr>
          <a:xfrm>
            <a:off x="7406640" y="1554480"/>
            <a:ext cx="4233672" cy="4343400"/>
          </a:xfrm>
          <a:prstGeom prst="roundRect">
            <a:avLst>
              <a:gd name="adj" fmla="val 2160"/>
            </a:avLst>
          </a:prstGeom>
          <a:solidFill>
            <a:srgbClr val="F1F5FB"/>
          </a:solidFill>
          <a:ln/>
        </p:spPr>
      </p:sp>
      <p:sp>
        <p:nvSpPr>
          <p:cNvPr id="21" name="Text 14"/>
          <p:cNvSpPr txBox="1"/>
          <p:nvPr/>
        </p:nvSpPr>
        <p:spPr>
          <a:xfrm>
            <a:off x="7726680" y="1783080"/>
            <a:ext cx="3657600" cy="411480"/>
          </a:xfrm>
          <a:prstGeom prst="rect">
            <a:avLst/>
          </a:prstGeom>
          <a:noFill/>
          <a:ln/>
        </p:spPr>
        <p:txBody>
          <a:bodyPr wrap="square" lIns="0" tIns="0" rIns="0" bIns="0" rtlCol="0" anchor="t"/>
          <a:lstStyle/>
          <a:p>
            <a:pPr indent="0" marL="0">
              <a:buNone/>
            </a:pPr>
            <a:r>
              <a:rPr lang="en-US" sz="2000" b="1" dirty="0">
                <a:solidFill>
                  <a:srgbClr val="12213A"/>
                </a:solidFill>
                <a:latin typeface="Arial" pitchFamily="34" charset="0"/>
                <a:ea typeface="Arial" pitchFamily="34" charset="-122"/>
                <a:cs typeface="Arial" pitchFamily="34" charset="-120"/>
              </a:rPr>
              <a:t>Ask the room</a:t>
            </a:r>
            <a:endParaRPr lang="en-US" sz="2000" dirty="0"/>
          </a:p>
        </p:txBody>
      </p:sp>
      <p:sp>
        <p:nvSpPr>
          <p:cNvPr id="22" name="Text 15"/>
          <p:cNvSpPr txBox="1"/>
          <p:nvPr/>
        </p:nvSpPr>
        <p:spPr>
          <a:xfrm>
            <a:off x="7726680" y="2377440"/>
            <a:ext cx="3657600" cy="32918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Which mission had your biggest Took time? Why?</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What would you check first after a break-in?</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What metadata might your own photos give away?</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How would you stop the Mission 5 attack next time?</a:t>
            </a:r>
            <a:endParaRPr lang="en-US" sz="1600" dirty="0"/>
          </a:p>
        </p:txBody>
      </p:sp>
      <p:sp>
        <p:nvSpPr>
          <p:cNvPr id="23" name="Text 1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36 / 60</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Keep climbing</a:t>
            </a:r>
            <a:endParaRPr lang="en-US" sz="3200" dirty="0"/>
          </a:p>
        </p:txBody>
      </p:sp>
      <p:sp>
        <p:nvSpPr>
          <p:cNvPr id="4" name="Shape 1"/>
          <p:cNvSpPr/>
          <p:nvPr/>
        </p:nvSpPr>
        <p:spPr>
          <a:xfrm>
            <a:off x="548640" y="1554480"/>
            <a:ext cx="3566160" cy="3017520"/>
          </a:xfrm>
          <a:prstGeom prst="roundRect">
            <a:avLst>
              <a:gd name="adj" fmla="val 3030"/>
            </a:avLst>
          </a:prstGeom>
          <a:solidFill>
            <a:srgbClr val="F1F5FB"/>
          </a:solidFill>
          <a:ln/>
        </p:spPr>
      </p:sp>
      <p:sp>
        <p:nvSpPr>
          <p:cNvPr id="5" name="Text 2"/>
          <p:cNvSpPr txBox="1"/>
          <p:nvPr/>
        </p:nvSpPr>
        <p:spPr>
          <a:xfrm>
            <a:off x="822960" y="1783080"/>
            <a:ext cx="3108960" cy="457200"/>
          </a:xfrm>
          <a:prstGeom prst="rect">
            <a:avLst/>
          </a:prstGeom>
          <a:noFill/>
          <a:ln/>
        </p:spPr>
        <p:txBody>
          <a:bodyPr wrap="square" lIns="0" tIns="0" rIns="0" bIns="0" rtlCol="0" anchor="t"/>
          <a:lstStyle/>
          <a:p>
            <a:pPr indent="0" marL="0">
              <a:buNone/>
            </a:pPr>
            <a:r>
              <a:rPr lang="en-US" sz="2000" b="1" dirty="0">
                <a:solidFill>
                  <a:srgbClr val="2459D8"/>
                </a:solidFill>
                <a:latin typeface="Arial" pitchFamily="34" charset="0"/>
                <a:ea typeface="Arial" pitchFamily="34" charset="-122"/>
                <a:cs typeface="Arial" pitchFamily="34" charset="-120"/>
              </a:rPr>
              <a:t>Next: CyberQuest</a:t>
            </a:r>
            <a:endParaRPr lang="en-US" sz="2000" dirty="0"/>
          </a:p>
        </p:txBody>
      </p:sp>
      <p:sp>
        <p:nvSpPr>
          <p:cNvPr id="6" name="Text 3"/>
          <p:cNvSpPr txBox="1"/>
          <p:nvPr/>
        </p:nvSpPr>
        <p:spPr>
          <a:xfrm>
            <a:off x="822960" y="2331720"/>
            <a:ext cx="3108960" cy="457200"/>
          </a:xfrm>
          <a:prstGeom prst="rect">
            <a:avLst/>
          </a:prstGeom>
          <a:noFill/>
          <a:ln/>
        </p:spPr>
        <p:txBody>
          <a:bodyPr wrap="square" lIns="0" tIns="0" rIns="0" bIns="0" rtlCol="0" anchor="t"/>
          <a:lstStyle/>
          <a:p>
            <a:pPr indent="0" marL="0">
              <a:buNone/>
            </a:pPr>
            <a:r>
              <a:rPr lang="en-US" sz="1300" b="1" dirty="0">
                <a:solidFill>
                  <a:srgbClr val="12213A"/>
                </a:solidFill>
                <a:latin typeface="Courier New" pitchFamily="34" charset="0"/>
                <a:ea typeface="Courier New" pitchFamily="34" charset="-122"/>
                <a:cs typeface="Courier New" pitchFamily="34" charset="-120"/>
              </a:rPr>
              <a:t>[CyberQuest Academy link]</a:t>
            </a:r>
            <a:endParaRPr lang="en-US" sz="1300" dirty="0"/>
          </a:p>
        </p:txBody>
      </p:sp>
      <p:sp>
        <p:nvSpPr>
          <p:cNvPr id="7" name="Text 4"/>
          <p:cNvSpPr txBox="1"/>
          <p:nvPr/>
        </p:nvSpPr>
        <p:spPr>
          <a:xfrm>
            <a:off x="822960" y="2880360"/>
            <a:ext cx="3017520" cy="155448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More CTFs, live scoreboards and harder missions are waiting for you there.</a:t>
            </a:r>
            <a:endParaRPr lang="en-US" sz="1600" dirty="0"/>
          </a:p>
        </p:txBody>
      </p:sp>
      <p:sp>
        <p:nvSpPr>
          <p:cNvPr id="8" name="Shape 5"/>
          <p:cNvSpPr/>
          <p:nvPr/>
        </p:nvSpPr>
        <p:spPr>
          <a:xfrm>
            <a:off x="4306824" y="1554480"/>
            <a:ext cx="3566160" cy="3017520"/>
          </a:xfrm>
          <a:prstGeom prst="roundRect">
            <a:avLst>
              <a:gd name="adj" fmla="val 3030"/>
            </a:avLst>
          </a:prstGeom>
          <a:solidFill>
            <a:srgbClr val="F1F5FB"/>
          </a:solidFill>
          <a:ln/>
        </p:spPr>
      </p:sp>
      <p:sp>
        <p:nvSpPr>
          <p:cNvPr id="9" name="Text 6"/>
          <p:cNvSpPr txBox="1"/>
          <p:nvPr/>
        </p:nvSpPr>
        <p:spPr>
          <a:xfrm>
            <a:off x="4581144" y="1783080"/>
            <a:ext cx="3108960" cy="457200"/>
          </a:xfrm>
          <a:prstGeom prst="rect">
            <a:avLst/>
          </a:prstGeom>
          <a:noFill/>
          <a:ln/>
        </p:spPr>
        <p:txBody>
          <a:bodyPr wrap="square" lIns="0" tIns="0" rIns="0" bIns="0" rtlCol="0" anchor="t"/>
          <a:lstStyle/>
          <a:p>
            <a:pPr indent="0" marL="0">
              <a:buNone/>
            </a:pPr>
            <a:r>
              <a:rPr lang="en-US" sz="2000" b="1" dirty="0">
                <a:solidFill>
                  <a:srgbClr val="7448D4"/>
                </a:solidFill>
                <a:latin typeface="Arial" pitchFamily="34" charset="0"/>
                <a:ea typeface="Arial" pitchFamily="34" charset="-122"/>
                <a:cs typeface="Arial" pitchFamily="34" charset="-120"/>
              </a:rPr>
              <a:t>Replay the CTF</a:t>
            </a:r>
            <a:endParaRPr lang="en-US" sz="2000" dirty="0"/>
          </a:p>
        </p:txBody>
      </p:sp>
      <p:sp>
        <p:nvSpPr>
          <p:cNvPr id="10" name="Text 7"/>
          <p:cNvSpPr txBox="1"/>
          <p:nvPr/>
        </p:nvSpPr>
        <p:spPr>
          <a:xfrm>
            <a:off x="4581144" y="2331720"/>
            <a:ext cx="3108960" cy="457200"/>
          </a:xfrm>
          <a:prstGeom prst="rect">
            <a:avLst/>
          </a:prstGeom>
          <a:noFill/>
          <a:ln/>
        </p:spPr>
        <p:txBody>
          <a:bodyPr wrap="square" lIns="0" tIns="0" rIns="0" bIns="0" rtlCol="0" anchor="t"/>
          <a:lstStyle/>
          <a:p>
            <a:pPr indent="0" marL="0">
              <a:buNone/>
            </a:pPr>
            <a:r>
              <a:rPr lang="en-US" sz="1300" b="1" dirty="0">
                <a:solidFill>
                  <a:srgbClr val="12213A"/>
                </a:solidFill>
                <a:latin typeface="Courier New" pitchFamily="34" charset="0"/>
                <a:ea typeface="Courier New" pitchFamily="34" charset="-122"/>
                <a:cs typeface="Courier New" pitchFamily="34" charset="-120"/>
              </a:rPr>
              <a:t>[your CTF link]/forensics/</a:t>
            </a:r>
            <a:endParaRPr lang="en-US" sz="1300" dirty="0"/>
          </a:p>
        </p:txBody>
      </p:sp>
      <p:sp>
        <p:nvSpPr>
          <p:cNvPr id="11" name="Text 8"/>
          <p:cNvSpPr txBox="1"/>
          <p:nvPr/>
        </p:nvSpPr>
        <p:spPr>
          <a:xfrm>
            <a:off x="4581144" y="2880360"/>
            <a:ext cx="3017520" cy="155448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Works at home. New evidence and flags on every replay. Beat your time.</a:t>
            </a:r>
            <a:endParaRPr lang="en-US" sz="1600" dirty="0"/>
          </a:p>
        </p:txBody>
      </p:sp>
      <p:sp>
        <p:nvSpPr>
          <p:cNvPr id="12" name="Shape 9"/>
          <p:cNvSpPr/>
          <p:nvPr/>
        </p:nvSpPr>
        <p:spPr>
          <a:xfrm>
            <a:off x="8065008" y="1554480"/>
            <a:ext cx="3566160" cy="3017520"/>
          </a:xfrm>
          <a:prstGeom prst="roundRect">
            <a:avLst>
              <a:gd name="adj" fmla="val 3030"/>
            </a:avLst>
          </a:prstGeom>
          <a:solidFill>
            <a:srgbClr val="F1F5FB"/>
          </a:solidFill>
          <a:ln/>
        </p:spPr>
      </p:sp>
      <p:sp>
        <p:nvSpPr>
          <p:cNvPr id="13" name="Text 10"/>
          <p:cNvSpPr txBox="1"/>
          <p:nvPr/>
        </p:nvSpPr>
        <p:spPr>
          <a:xfrm>
            <a:off x="8339328" y="1783080"/>
            <a:ext cx="3108960" cy="457200"/>
          </a:xfrm>
          <a:prstGeom prst="rect">
            <a:avLst/>
          </a:prstGeom>
          <a:noFill/>
          <a:ln/>
        </p:spPr>
        <p:txBody>
          <a:bodyPr wrap="square" lIns="0" tIns="0" rIns="0" bIns="0" rtlCol="0" anchor="t"/>
          <a:lstStyle/>
          <a:p>
            <a:pPr indent="0" marL="0">
              <a:buNone/>
            </a:pPr>
            <a:r>
              <a:rPr lang="en-US" sz="2000" b="1" dirty="0">
                <a:solidFill>
                  <a:srgbClr val="D1416B"/>
                </a:solidFill>
                <a:latin typeface="Arial" pitchFamily="34" charset="0"/>
                <a:ea typeface="Arial" pitchFamily="34" charset="-122"/>
                <a:cs typeface="Arial" pitchFamily="34" charset="-120"/>
              </a:rPr>
              <a:t>Try Wireshark</a:t>
            </a:r>
            <a:endParaRPr lang="en-US" sz="2000" dirty="0"/>
          </a:p>
        </p:txBody>
      </p:sp>
      <p:sp>
        <p:nvSpPr>
          <p:cNvPr id="14" name="Text 11"/>
          <p:cNvSpPr txBox="1"/>
          <p:nvPr/>
        </p:nvSpPr>
        <p:spPr>
          <a:xfrm>
            <a:off x="8339328" y="2331720"/>
            <a:ext cx="3108960" cy="457200"/>
          </a:xfrm>
          <a:prstGeom prst="rect">
            <a:avLst/>
          </a:prstGeom>
          <a:noFill/>
          <a:ln/>
        </p:spPr>
        <p:txBody>
          <a:bodyPr wrap="square" lIns="0" tIns="0" rIns="0" bIns="0" rtlCol="0" anchor="t"/>
          <a:lstStyle/>
          <a:p>
            <a:pPr indent="0" marL="0">
              <a:buNone/>
            </a:pPr>
            <a:r>
              <a:rPr lang="en-US" sz="1300" b="1" dirty="0">
                <a:solidFill>
                  <a:srgbClr val="12213A"/>
                </a:solidFill>
                <a:latin typeface="Courier New" pitchFamily="34" charset="0"/>
                <a:ea typeface="Courier New" pitchFamily="34" charset="-122"/>
                <a:cs typeface="Courier New" pitchFamily="34" charset="-120"/>
              </a:rPr>
              <a:t>wireshark.org</a:t>
            </a:r>
            <a:endParaRPr lang="en-US" sz="1300" dirty="0"/>
          </a:p>
        </p:txBody>
      </p:sp>
      <p:sp>
        <p:nvSpPr>
          <p:cNvPr id="15" name="Text 12"/>
          <p:cNvSpPr txBox="1"/>
          <p:nvPr/>
        </p:nvSpPr>
        <p:spPr>
          <a:xfrm>
            <a:off x="8339328" y="2880360"/>
            <a:ext cx="3017520" cy="155448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Free. Watch your own computer's traffic and spot the DNS and HTTPS packets.</a:t>
            </a:r>
            <a:endParaRPr lang="en-US" sz="1600" dirty="0"/>
          </a:p>
        </p:txBody>
      </p:sp>
      <p:sp>
        <p:nvSpPr>
          <p:cNvPr id="16" name="Shape 13"/>
          <p:cNvSpPr/>
          <p:nvPr/>
        </p:nvSpPr>
        <p:spPr>
          <a:xfrm>
            <a:off x="548640" y="4846320"/>
            <a:ext cx="11094415" cy="1051560"/>
          </a:xfrm>
          <a:prstGeom prst="roundRect">
            <a:avLst>
              <a:gd name="adj" fmla="val 8696"/>
            </a:avLst>
          </a:prstGeom>
          <a:solidFill>
            <a:srgbClr val="0E1726"/>
          </a:solidFill>
          <a:ln/>
          <a:effectLst>
            <a:outerShdw sx="100000" sy="100000" kx="0" ky="0" algn="bl" rotWithShape="0" blurRad="127000" dist="38100" dir="5400000">
              <a:srgbClr val="12213A">
                <a:alpha val="22000"/>
              </a:srgbClr>
            </a:outerShdw>
          </a:effectLst>
        </p:spPr>
      </p:sp>
      <p:sp>
        <p:nvSpPr>
          <p:cNvPr id="17" name="Shape 14"/>
          <p:cNvSpPr/>
          <p:nvPr/>
        </p:nvSpPr>
        <p:spPr>
          <a:xfrm>
            <a:off x="749808" y="5001768"/>
            <a:ext cx="118872" cy="118872"/>
          </a:xfrm>
          <a:prstGeom prst="ellipse">
            <a:avLst/>
          </a:prstGeom>
          <a:solidFill>
            <a:srgbClr val="E5534B"/>
          </a:solidFill>
          <a:ln/>
        </p:spPr>
      </p:sp>
      <p:sp>
        <p:nvSpPr>
          <p:cNvPr id="18" name="Shape 15"/>
          <p:cNvSpPr/>
          <p:nvPr/>
        </p:nvSpPr>
        <p:spPr>
          <a:xfrm>
            <a:off x="950976" y="5001768"/>
            <a:ext cx="118872" cy="118872"/>
          </a:xfrm>
          <a:prstGeom prst="ellipse">
            <a:avLst/>
          </a:prstGeom>
          <a:solidFill>
            <a:srgbClr val="F5A623"/>
          </a:solidFill>
          <a:ln/>
        </p:spPr>
      </p:sp>
      <p:sp>
        <p:nvSpPr>
          <p:cNvPr id="19" name="Shape 16"/>
          <p:cNvSpPr/>
          <p:nvPr/>
        </p:nvSpPr>
        <p:spPr>
          <a:xfrm>
            <a:off x="1152144" y="5001768"/>
            <a:ext cx="118872" cy="118872"/>
          </a:xfrm>
          <a:prstGeom prst="ellipse">
            <a:avLst/>
          </a:prstGeom>
          <a:solidFill>
            <a:srgbClr val="46D39A"/>
          </a:solidFill>
          <a:ln/>
        </p:spPr>
      </p:sp>
      <p:sp>
        <p:nvSpPr>
          <p:cNvPr id="20" name="Text 17"/>
          <p:cNvSpPr txBox="1"/>
          <p:nvPr/>
        </p:nvSpPr>
        <p:spPr>
          <a:xfrm>
            <a:off x="822960" y="5303520"/>
            <a:ext cx="10545775" cy="457200"/>
          </a:xfrm>
          <a:prstGeom prst="rect">
            <a:avLst/>
          </a:prstGeom>
          <a:noFill/>
          <a:ln/>
        </p:spPr>
        <p:txBody>
          <a:bodyPr wrap="square" lIns="0" tIns="0" rIns="0" bIns="0" rtlCol="0" anchor="t"/>
          <a:lstStyle/>
          <a:p>
            <a:pPr indent="0" marL="0">
              <a:spcAft>
                <a:spcPts val="200"/>
              </a:spcAft>
              <a:buNone/>
            </a:pPr>
            <a:r>
              <a:rPr lang="en-US" sz="17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700" b="1" dirty="0">
                <a:solidFill>
                  <a:srgbClr val="FFFFFF"/>
                </a:solidFill>
                <a:latin typeface="Courier New" pitchFamily="34" charset="0"/>
                <a:ea typeface="Courier New" pitchFamily="34" charset="-122"/>
                <a:cs typeface="Courier New" pitchFamily="34" charset="-120"/>
              </a:rPr>
              <a:t>echo "Case closed. Thanks for playing."</a:t>
            </a:r>
            <a:endParaRPr lang="en-US" sz="1700" dirty="0"/>
          </a:p>
        </p:txBody>
      </p:sp>
      <p:sp>
        <p:nvSpPr>
          <p:cNvPr id="21" name="Text 1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37 / 60</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8FAD"/>
                </a:solidFill>
                <a:latin typeface="Calibri" pitchFamily="34" charset="0"/>
                <a:ea typeface="Calibri" pitchFamily="34" charset="-122"/>
                <a:cs typeface="Calibri" pitchFamily="34" charset="-120"/>
              </a:rPr>
              <a:t>Lockheed Martin CyberQuest® Academy   ·   Forensics CTF</a:t>
            </a:r>
            <a:endParaRPr lang="en-US" sz="1000" dirty="0"/>
          </a:p>
        </p:txBody>
      </p:sp>
      <p:sp>
        <p:nvSpPr>
          <p:cNvPr id="4" name="Text 1"/>
          <p:cNvSpPr txBox="1"/>
          <p:nvPr/>
        </p:nvSpPr>
        <p:spPr>
          <a:xfrm>
            <a:off x="548640" y="1371600"/>
            <a:ext cx="10058400" cy="914400"/>
          </a:xfrm>
          <a:prstGeom prst="rect">
            <a:avLst/>
          </a:prstGeom>
          <a:noFill/>
          <a:ln/>
        </p:spPr>
        <p:txBody>
          <a:bodyPr wrap="square" lIns="0" tIns="0" rIns="0" bIns="0" rtlCol="0" anchor="ctr"/>
          <a:lstStyle/>
          <a:p>
            <a:pPr indent="0" marL="0">
              <a:buNone/>
            </a:pPr>
            <a:r>
              <a:rPr lang="en-US" sz="4000" b="1" dirty="0">
                <a:solidFill>
                  <a:srgbClr val="7F8FAD"/>
                </a:solidFill>
                <a:latin typeface="Arial" pitchFamily="34" charset="0"/>
                <a:ea typeface="Arial" pitchFamily="34" charset="-122"/>
                <a:cs typeface="Arial" pitchFamily="34" charset="-120"/>
              </a:rPr>
              <a:t>Mentor</a:t>
            </a:r>
            <a:endParaRPr lang="en-US" sz="4000" dirty="0"/>
          </a:p>
        </p:txBody>
      </p:sp>
      <p:sp>
        <p:nvSpPr>
          <p:cNvPr id="5" name="Text 2"/>
          <p:cNvSpPr txBox="1"/>
          <p:nvPr/>
        </p:nvSpPr>
        <p:spPr>
          <a:xfrm>
            <a:off x="548640" y="2148840"/>
            <a:ext cx="10058400" cy="1463040"/>
          </a:xfrm>
          <a:prstGeom prst="rect">
            <a:avLst/>
          </a:prstGeom>
          <a:noFill/>
          <a:ln/>
        </p:spPr>
        <p:txBody>
          <a:bodyPr wrap="square" lIns="0" tIns="0" rIns="0" bIns="0" rtlCol="0" anchor="ctr"/>
          <a:lstStyle/>
          <a:p>
            <a:pPr indent="0" marL="0">
              <a:buNone/>
            </a:pPr>
            <a:r>
              <a:rPr lang="en-US" sz="9200" b="1" dirty="0">
                <a:solidFill>
                  <a:srgbClr val="FFFFFF"/>
                </a:solidFill>
                <a:latin typeface="Arial" pitchFamily="34" charset="0"/>
                <a:ea typeface="Arial" pitchFamily="34" charset="-122"/>
                <a:cs typeface="Arial" pitchFamily="34" charset="-120"/>
              </a:rPr>
              <a:t>Appendix</a:t>
            </a:r>
            <a:endParaRPr lang="en-US" sz="9200" dirty="0"/>
          </a:p>
        </p:txBody>
      </p:sp>
      <p:sp>
        <p:nvSpPr>
          <p:cNvPr id="6" name="Text 3"/>
          <p:cNvSpPr txBox="1"/>
          <p:nvPr/>
        </p:nvSpPr>
        <p:spPr>
          <a:xfrm>
            <a:off x="548640" y="3794760"/>
            <a:ext cx="9601200" cy="914400"/>
          </a:xfrm>
          <a:prstGeom prst="rect">
            <a:avLst/>
          </a:prstGeom>
          <a:noFill/>
          <a:ln/>
        </p:spPr>
        <p:txBody>
          <a:bodyPr wrap="square" lIns="0" tIns="0" rIns="0" bIns="0" rtlCol="0" anchor="t"/>
          <a:lstStyle/>
          <a:p>
            <a:pPr indent="0" marL="0">
              <a:buNone/>
            </a:pPr>
            <a:r>
              <a:rPr lang="en-US" sz="2200" dirty="0">
                <a:solidFill>
                  <a:srgbClr val="B8C4D9"/>
                </a:solidFill>
                <a:latin typeface="Calibri" pitchFamily="34" charset="0"/>
                <a:ea typeface="Calibri" pitchFamily="34" charset="-122"/>
                <a:cs typeface="Calibri" pitchFamily="34" charset="-120"/>
              </a:rPr>
              <a:t>The page layout, the mechanics, the answer key, and what to do when things go wrong.</a:t>
            </a:r>
            <a:endParaRPr lang="en-US" sz="2200" dirty="0"/>
          </a:p>
        </p:txBody>
      </p:sp>
      <p:sp>
        <p:nvSpPr>
          <p:cNvPr id="7" name="Shape 4"/>
          <p:cNvSpPr/>
          <p:nvPr/>
        </p:nvSpPr>
        <p:spPr>
          <a:xfrm>
            <a:off x="548640" y="4892040"/>
            <a:ext cx="11094415" cy="822960"/>
          </a:xfrm>
          <a:prstGeom prst="roundRect">
            <a:avLst>
              <a:gd name="adj" fmla="val 11111"/>
            </a:avLst>
          </a:prstGeom>
          <a:solidFill>
            <a:srgbClr val="162238"/>
          </a:solidFill>
          <a:ln/>
        </p:spPr>
      </p:sp>
      <p:sp>
        <p:nvSpPr>
          <p:cNvPr id="8" name="Text 5"/>
          <p:cNvSpPr txBox="1"/>
          <p:nvPr/>
        </p:nvSpPr>
        <p:spPr>
          <a:xfrm>
            <a:off x="868680" y="4892040"/>
            <a:ext cx="10454335" cy="822960"/>
          </a:xfrm>
          <a:prstGeom prst="rect">
            <a:avLst/>
          </a:prstGeom>
          <a:noFill/>
          <a:ln/>
        </p:spPr>
        <p:txBody>
          <a:bodyPr wrap="square" lIns="0" tIns="0" rIns="0" bIns="0" rtlCol="0" anchor="ctr"/>
          <a:lstStyle/>
          <a:p>
            <a:pPr indent="0" marL="0">
              <a:buNone/>
            </a:pPr>
            <a:r>
              <a:rPr lang="en-US" sz="2000" b="1" dirty="0">
                <a:solidFill>
                  <a:srgbClr val="46D39A"/>
                </a:solidFill>
                <a:latin typeface="Courier New" pitchFamily="34" charset="0"/>
                <a:ea typeface="Courier New" pitchFamily="34" charset="-122"/>
                <a:cs typeface="Courier New" pitchFamily="34" charset="-120"/>
              </a:rPr>
              <a:t>$ </a:t>
            </a:r>
            <a:pPr indent="0" marL="0">
              <a:buNone/>
            </a:pPr>
            <a:r>
              <a:rPr lang="en-US" sz="2000" b="1" dirty="0">
                <a:solidFill>
                  <a:srgbClr val="FFFFFF"/>
                </a:solidFill>
                <a:latin typeface="Courier New" pitchFamily="34" charset="0"/>
                <a:ea typeface="Courier New" pitchFamily="34" charset="-122"/>
                <a:cs typeface="Courier New" pitchFamily="34" charset="-120"/>
              </a:rPr>
              <a:t>man mentor   # for the person running the room</a:t>
            </a:r>
            <a:endParaRPr lang="en-US" sz="2000" dirty="0"/>
          </a:p>
        </p:txBody>
      </p:sp>
      <p:sp>
        <p:nvSpPr>
          <p:cNvPr id="9" name="Text 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7F8FAD"/>
                </a:solidFill>
                <a:latin typeface="Calibri" pitchFamily="34" charset="0"/>
                <a:ea typeface="Calibri" pitchFamily="34" charset="-122"/>
                <a:cs typeface="Calibri" pitchFamily="34" charset="-120"/>
              </a:rPr>
              <a:t>Forensics CTF   ·   38 / 60</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Anatomy of the Forensics CTF page</a:t>
            </a:r>
            <a:endParaRPr lang="en-US" sz="3200" dirty="0"/>
          </a:p>
        </p:txBody>
      </p:sp>
      <p:sp>
        <p:nvSpPr>
          <p:cNvPr id="4" name="Shape 1"/>
          <p:cNvSpPr/>
          <p:nvPr/>
        </p:nvSpPr>
        <p:spPr>
          <a:xfrm>
            <a:off x="502920" y="1463040"/>
            <a:ext cx="6675120" cy="3968496"/>
          </a:xfrm>
          <a:prstGeom prst="roundRect">
            <a:avLst>
              <a:gd name="adj" fmla="val 1382"/>
            </a:avLst>
          </a:prstGeom>
          <a:solidFill>
            <a:srgbClr val="FFFFFF"/>
          </a:solidFill>
          <a:ln w="19050">
            <a:solidFill>
              <a:srgbClr val="D6DEEA"/>
            </a:solidFill>
            <a:prstDash val="solid"/>
          </a:ln>
          <a:effectLst>
            <a:outerShdw sx="100000" sy="100000" kx="0" ky="0" algn="bl" rotWithShape="0" blurRad="127000" dist="38100" dir="5400000">
              <a:srgbClr val="12213A">
                <a:alpha val="15000"/>
              </a:srgbClr>
            </a:outerShdw>
          </a:effectLst>
        </p:spPr>
      </p:sp>
      <p:pic>
        <p:nvPicPr>
          <p:cNvPr id="5" name="Image 0" descr="/home/claude/cyberquest-ctf/slides/img-forensics/page.png">    </p:cNvPr>
          <p:cNvPicPr>
            <a:picLocks noChangeAspect="1"/>
          </p:cNvPicPr>
          <p:nvPr/>
        </p:nvPicPr>
        <p:blipFill>
          <a:blip r:embed="rId1"/>
          <a:stretch>
            <a:fillRect/>
          </a:stretch>
        </p:blipFill>
        <p:spPr>
          <a:xfrm>
            <a:off x="548640" y="1508760"/>
            <a:ext cx="6583680" cy="3872484"/>
          </a:xfrm>
          <a:prstGeom prst="rect">
            <a:avLst/>
          </a:prstGeom>
        </p:spPr>
      </p:pic>
      <p:sp>
        <p:nvSpPr>
          <p:cNvPr id="6" name="Shape 2"/>
          <p:cNvSpPr/>
          <p:nvPr/>
        </p:nvSpPr>
        <p:spPr>
          <a:xfrm>
            <a:off x="2384432" y="1437222"/>
            <a:ext cx="365760" cy="365760"/>
          </a:xfrm>
          <a:prstGeom prst="ellipse">
            <a:avLst/>
          </a:prstGeom>
          <a:solidFill>
            <a:srgbClr val="2A9FD6"/>
          </a:solidFill>
          <a:ln w="25400">
            <a:solidFill>
              <a:srgbClr val="FFFFFF"/>
            </a:solidFill>
            <a:prstDash val="solid"/>
          </a:ln>
        </p:spPr>
      </p:sp>
      <p:sp>
        <p:nvSpPr>
          <p:cNvPr id="7" name="Text 3"/>
          <p:cNvSpPr txBox="1"/>
          <p:nvPr/>
        </p:nvSpPr>
        <p:spPr>
          <a:xfrm>
            <a:off x="2384432" y="143722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Shape 4"/>
          <p:cNvSpPr/>
          <p:nvPr/>
        </p:nvSpPr>
        <p:spPr>
          <a:xfrm>
            <a:off x="4954972" y="1814815"/>
            <a:ext cx="365760" cy="365760"/>
          </a:xfrm>
          <a:prstGeom prst="ellipse">
            <a:avLst/>
          </a:prstGeom>
          <a:solidFill>
            <a:srgbClr val="F5A623"/>
          </a:solidFill>
          <a:ln w="25400">
            <a:solidFill>
              <a:srgbClr val="FFFFFF"/>
            </a:solidFill>
            <a:prstDash val="solid"/>
          </a:ln>
        </p:spPr>
      </p:sp>
      <p:sp>
        <p:nvSpPr>
          <p:cNvPr id="9" name="Text 5"/>
          <p:cNvSpPr txBox="1"/>
          <p:nvPr/>
        </p:nvSpPr>
        <p:spPr>
          <a:xfrm>
            <a:off x="4954972" y="1814815"/>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Shape 6"/>
          <p:cNvSpPr/>
          <p:nvPr/>
        </p:nvSpPr>
        <p:spPr>
          <a:xfrm>
            <a:off x="5710159" y="1814815"/>
            <a:ext cx="365760" cy="365760"/>
          </a:xfrm>
          <a:prstGeom prst="ellipse">
            <a:avLst/>
          </a:prstGeom>
          <a:solidFill>
            <a:srgbClr val="2459D8"/>
          </a:solidFill>
          <a:ln w="25400">
            <a:solidFill>
              <a:srgbClr val="FFFFFF"/>
            </a:solidFill>
            <a:prstDash val="solid"/>
          </a:ln>
        </p:spPr>
      </p:sp>
      <p:sp>
        <p:nvSpPr>
          <p:cNvPr id="11" name="Text 7"/>
          <p:cNvSpPr txBox="1"/>
          <p:nvPr/>
        </p:nvSpPr>
        <p:spPr>
          <a:xfrm>
            <a:off x="5710159" y="1814815"/>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Shape 8"/>
          <p:cNvSpPr/>
          <p:nvPr/>
        </p:nvSpPr>
        <p:spPr>
          <a:xfrm>
            <a:off x="5497158" y="2090749"/>
            <a:ext cx="365760" cy="365760"/>
          </a:xfrm>
          <a:prstGeom prst="ellipse">
            <a:avLst/>
          </a:prstGeom>
          <a:solidFill>
            <a:srgbClr val="17875A"/>
          </a:solidFill>
          <a:ln w="25400">
            <a:solidFill>
              <a:srgbClr val="FFFFFF"/>
            </a:solidFill>
            <a:prstDash val="solid"/>
          </a:ln>
        </p:spPr>
      </p:sp>
      <p:sp>
        <p:nvSpPr>
          <p:cNvPr id="13" name="Text 9"/>
          <p:cNvSpPr txBox="1"/>
          <p:nvPr/>
        </p:nvSpPr>
        <p:spPr>
          <a:xfrm>
            <a:off x="5497158" y="2090749"/>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4" name="Shape 10"/>
          <p:cNvSpPr/>
          <p:nvPr/>
        </p:nvSpPr>
        <p:spPr>
          <a:xfrm>
            <a:off x="5574613" y="2657139"/>
            <a:ext cx="365760" cy="365760"/>
          </a:xfrm>
          <a:prstGeom prst="ellipse">
            <a:avLst/>
          </a:prstGeom>
          <a:solidFill>
            <a:srgbClr val="D1416B"/>
          </a:solidFill>
          <a:ln w="25400">
            <a:solidFill>
              <a:srgbClr val="FFFFFF"/>
            </a:solidFill>
            <a:prstDash val="solid"/>
          </a:ln>
        </p:spPr>
      </p:sp>
      <p:sp>
        <p:nvSpPr>
          <p:cNvPr id="15" name="Text 11"/>
          <p:cNvSpPr txBox="1"/>
          <p:nvPr/>
        </p:nvSpPr>
        <p:spPr>
          <a:xfrm>
            <a:off x="5574613" y="2657139"/>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6" name="Shape 12"/>
          <p:cNvSpPr/>
          <p:nvPr/>
        </p:nvSpPr>
        <p:spPr>
          <a:xfrm>
            <a:off x="6533119" y="3620486"/>
            <a:ext cx="365760" cy="365760"/>
          </a:xfrm>
          <a:prstGeom prst="ellipse">
            <a:avLst/>
          </a:prstGeom>
          <a:solidFill>
            <a:srgbClr val="7448D4"/>
          </a:solidFill>
          <a:ln w="25400">
            <a:solidFill>
              <a:srgbClr val="FFFFFF"/>
            </a:solidFill>
            <a:prstDash val="solid"/>
          </a:ln>
        </p:spPr>
      </p:sp>
      <p:sp>
        <p:nvSpPr>
          <p:cNvPr id="17" name="Text 13"/>
          <p:cNvSpPr txBox="1"/>
          <p:nvPr/>
        </p:nvSpPr>
        <p:spPr>
          <a:xfrm>
            <a:off x="6533119" y="362048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18" name="Shape 14"/>
          <p:cNvSpPr/>
          <p:nvPr/>
        </p:nvSpPr>
        <p:spPr>
          <a:xfrm>
            <a:off x="2447365" y="3843169"/>
            <a:ext cx="365760" cy="365760"/>
          </a:xfrm>
          <a:prstGeom prst="ellipse">
            <a:avLst/>
          </a:prstGeom>
          <a:solidFill>
            <a:srgbClr val="56657E"/>
          </a:solidFill>
          <a:ln w="25400">
            <a:solidFill>
              <a:srgbClr val="FFFFFF"/>
            </a:solidFill>
            <a:prstDash val="solid"/>
          </a:ln>
        </p:spPr>
      </p:sp>
      <p:sp>
        <p:nvSpPr>
          <p:cNvPr id="19" name="Text 15"/>
          <p:cNvSpPr txBox="1"/>
          <p:nvPr/>
        </p:nvSpPr>
        <p:spPr>
          <a:xfrm>
            <a:off x="2447365" y="3843169"/>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0" name="Shape 16"/>
          <p:cNvSpPr/>
          <p:nvPr/>
        </p:nvSpPr>
        <p:spPr>
          <a:xfrm>
            <a:off x="6470187" y="4985632"/>
            <a:ext cx="365760" cy="365760"/>
          </a:xfrm>
          <a:prstGeom prst="ellipse">
            <a:avLst/>
          </a:prstGeom>
          <a:solidFill>
            <a:srgbClr val="2459D8"/>
          </a:solidFill>
          <a:ln w="25400">
            <a:solidFill>
              <a:srgbClr val="FFFFFF"/>
            </a:solidFill>
            <a:prstDash val="solid"/>
          </a:ln>
        </p:spPr>
      </p:sp>
      <p:sp>
        <p:nvSpPr>
          <p:cNvPr id="21" name="Text 17"/>
          <p:cNvSpPr txBox="1"/>
          <p:nvPr/>
        </p:nvSpPr>
        <p:spPr>
          <a:xfrm>
            <a:off x="6470187" y="49856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2" name="Text 18"/>
          <p:cNvSpPr txBox="1"/>
          <p:nvPr/>
        </p:nvSpPr>
        <p:spPr>
          <a:xfrm>
            <a:off x="548640" y="5577840"/>
            <a:ext cx="640080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Mid-game: missions 1 to 3 captured, Mission 4 open.</a:t>
            </a:r>
            <a:endParaRPr lang="en-US" sz="1200" dirty="0"/>
          </a:p>
        </p:txBody>
      </p:sp>
      <p:sp>
        <p:nvSpPr>
          <p:cNvPr id="23" name="Shape 19"/>
          <p:cNvSpPr/>
          <p:nvPr/>
        </p:nvSpPr>
        <p:spPr>
          <a:xfrm>
            <a:off x="7406640" y="1527048"/>
            <a:ext cx="329184" cy="329184"/>
          </a:xfrm>
          <a:prstGeom prst="ellipse">
            <a:avLst/>
          </a:prstGeom>
          <a:solidFill>
            <a:srgbClr val="2A9FD6"/>
          </a:solidFill>
          <a:ln/>
        </p:spPr>
      </p:sp>
      <p:sp>
        <p:nvSpPr>
          <p:cNvPr id="24" name="Text 20"/>
          <p:cNvSpPr txBox="1"/>
          <p:nvPr/>
        </p:nvSpPr>
        <p:spPr>
          <a:xfrm>
            <a:off x="7406640" y="15270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5" name="Text 21"/>
          <p:cNvSpPr txBox="1"/>
          <p:nvPr/>
        </p:nvSpPr>
        <p:spPr>
          <a:xfrm>
            <a:off x="7863840" y="148132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Progress track  </a:t>
            </a:r>
            <a:pPr indent="0" marL="0">
              <a:buNone/>
            </a:pPr>
            <a:r>
              <a:rPr lang="en-US" sz="1300" dirty="0">
                <a:solidFill>
                  <a:srgbClr val="56657E"/>
                </a:solidFill>
                <a:latin typeface="Calibri" pitchFamily="34" charset="0"/>
                <a:ea typeface="Calibri" pitchFamily="34" charset="-122"/>
                <a:cs typeface="Calibri" pitchFamily="34" charset="-120"/>
              </a:rPr>
              <a:t>One coloured bar lights up per flag.</a:t>
            </a:r>
            <a:endParaRPr lang="en-US" sz="1600" dirty="0"/>
          </a:p>
        </p:txBody>
      </p:sp>
      <p:sp>
        <p:nvSpPr>
          <p:cNvPr id="26" name="Shape 22"/>
          <p:cNvSpPr/>
          <p:nvPr/>
        </p:nvSpPr>
        <p:spPr>
          <a:xfrm>
            <a:off x="7406640" y="2075688"/>
            <a:ext cx="329184" cy="329184"/>
          </a:xfrm>
          <a:prstGeom prst="ellipse">
            <a:avLst/>
          </a:prstGeom>
          <a:solidFill>
            <a:srgbClr val="F5A623"/>
          </a:solidFill>
          <a:ln/>
        </p:spPr>
      </p:sp>
      <p:sp>
        <p:nvSpPr>
          <p:cNvPr id="27" name="Text 23"/>
          <p:cNvSpPr txBox="1"/>
          <p:nvPr/>
        </p:nvSpPr>
        <p:spPr>
          <a:xfrm>
            <a:off x="7406640" y="20756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8" name="Text 24"/>
          <p:cNvSpPr txBox="1"/>
          <p:nvPr/>
        </p:nvSpPr>
        <p:spPr>
          <a:xfrm>
            <a:off x="7863840" y="202996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Points  </a:t>
            </a:r>
            <a:pPr indent="0" marL="0">
              <a:buNone/>
            </a:pPr>
            <a:r>
              <a:rPr lang="en-US" sz="1300" dirty="0">
                <a:solidFill>
                  <a:srgbClr val="56657E"/>
                </a:solidFill>
                <a:latin typeface="Calibri" pitchFamily="34" charset="0"/>
                <a:ea typeface="Calibri" pitchFamily="34" charset="-122"/>
                <a:cs typeface="Calibri" pitchFamily="34" charset="-120"/>
              </a:rPr>
              <a:t>Your score, out of 2,700.</a:t>
            </a:r>
            <a:endParaRPr lang="en-US" sz="1600" dirty="0"/>
          </a:p>
        </p:txBody>
      </p:sp>
      <p:sp>
        <p:nvSpPr>
          <p:cNvPr id="29" name="Shape 25"/>
          <p:cNvSpPr/>
          <p:nvPr/>
        </p:nvSpPr>
        <p:spPr>
          <a:xfrm>
            <a:off x="7406640" y="2624328"/>
            <a:ext cx="329184" cy="329184"/>
          </a:xfrm>
          <a:prstGeom prst="ellipse">
            <a:avLst/>
          </a:prstGeom>
          <a:solidFill>
            <a:srgbClr val="2459D8"/>
          </a:solidFill>
          <a:ln/>
        </p:spPr>
      </p:sp>
      <p:sp>
        <p:nvSpPr>
          <p:cNvPr id="30" name="Text 26"/>
          <p:cNvSpPr txBox="1"/>
          <p:nvPr/>
        </p:nvSpPr>
        <p:spPr>
          <a:xfrm>
            <a:off x="7406640" y="2624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7863840" y="257860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Clock  </a:t>
            </a:r>
            <a:pPr indent="0" marL="0">
              <a:buNone/>
            </a:pPr>
            <a:r>
              <a:rPr lang="en-US" sz="1300" dirty="0">
                <a:solidFill>
                  <a:srgbClr val="56657E"/>
                </a:solidFill>
                <a:latin typeface="Calibri" pitchFamily="34" charset="0"/>
                <a:ea typeface="Calibri" pitchFamily="34" charset="-122"/>
                <a:cs typeface="Calibri" pitchFamily="34" charset="-120"/>
              </a:rPr>
              <a:t>Starts at Mission 1 and counts up.</a:t>
            </a:r>
            <a:endParaRPr lang="en-US" sz="1600" dirty="0"/>
          </a:p>
        </p:txBody>
      </p:sp>
      <p:sp>
        <p:nvSpPr>
          <p:cNvPr id="32" name="Shape 28"/>
          <p:cNvSpPr/>
          <p:nvPr/>
        </p:nvSpPr>
        <p:spPr>
          <a:xfrm>
            <a:off x="7406640" y="3172968"/>
            <a:ext cx="329184" cy="329184"/>
          </a:xfrm>
          <a:prstGeom prst="ellipse">
            <a:avLst/>
          </a:prstGeom>
          <a:solidFill>
            <a:srgbClr val="17875A"/>
          </a:solidFill>
          <a:ln/>
        </p:spPr>
      </p:sp>
      <p:sp>
        <p:nvSpPr>
          <p:cNvPr id="33" name="Text 29"/>
          <p:cNvSpPr txBox="1"/>
          <p:nvPr/>
        </p:nvSpPr>
        <p:spPr>
          <a:xfrm>
            <a:off x="7406640" y="31729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4" name="Text 30"/>
          <p:cNvSpPr txBox="1"/>
          <p:nvPr/>
        </p:nvSpPr>
        <p:spPr>
          <a:xfrm>
            <a:off x="7863840" y="312724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Stepper  </a:t>
            </a:r>
            <a:pPr indent="0" marL="0">
              <a:buNone/>
            </a:pPr>
            <a:r>
              <a:rPr lang="en-US" sz="1300" dirty="0">
                <a:solidFill>
                  <a:srgbClr val="56657E"/>
                </a:solidFill>
                <a:latin typeface="Calibri" pitchFamily="34" charset="0"/>
                <a:ea typeface="Calibri" pitchFamily="34" charset="-122"/>
                <a:cs typeface="Calibri" pitchFamily="34" charset="-120"/>
              </a:rPr>
              <a:t>A green check per captured flag.</a:t>
            </a:r>
            <a:endParaRPr lang="en-US" sz="1600" dirty="0"/>
          </a:p>
        </p:txBody>
      </p:sp>
      <p:sp>
        <p:nvSpPr>
          <p:cNvPr id="35" name="Shape 31"/>
          <p:cNvSpPr/>
          <p:nvPr/>
        </p:nvSpPr>
        <p:spPr>
          <a:xfrm>
            <a:off x="7406640" y="3721608"/>
            <a:ext cx="329184" cy="329184"/>
          </a:xfrm>
          <a:prstGeom prst="ellipse">
            <a:avLst/>
          </a:prstGeom>
          <a:solidFill>
            <a:srgbClr val="D1416B"/>
          </a:solidFill>
          <a:ln/>
        </p:spPr>
      </p:sp>
      <p:sp>
        <p:nvSpPr>
          <p:cNvPr id="36" name="Text 32"/>
          <p:cNvSpPr txBox="1"/>
          <p:nvPr/>
        </p:nvSpPr>
        <p:spPr>
          <a:xfrm>
            <a:off x="7406640" y="37216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7" name="Text 33"/>
          <p:cNvSpPr txBox="1"/>
          <p:nvPr/>
        </p:nvSpPr>
        <p:spPr>
          <a:xfrm>
            <a:off x="7863840" y="367588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Level and points  </a:t>
            </a:r>
            <a:pPr indent="0" marL="0">
              <a:buNone/>
            </a:pPr>
            <a:r>
              <a:rPr lang="en-US" sz="1300" dirty="0">
                <a:solidFill>
                  <a:srgbClr val="56657E"/>
                </a:solidFill>
                <a:latin typeface="Calibri" pitchFamily="34" charset="0"/>
                <a:ea typeface="Calibri" pitchFamily="34" charset="-122"/>
                <a:cs typeface="Calibri" pitchFamily="34" charset="-120"/>
              </a:rPr>
              <a:t>Easy 100 up to Very Hard 800.</a:t>
            </a:r>
            <a:endParaRPr lang="en-US" sz="1600" dirty="0"/>
          </a:p>
        </p:txBody>
      </p:sp>
      <p:sp>
        <p:nvSpPr>
          <p:cNvPr id="38" name="Shape 34"/>
          <p:cNvSpPr/>
          <p:nvPr/>
        </p:nvSpPr>
        <p:spPr>
          <a:xfrm>
            <a:off x="7406640" y="4270248"/>
            <a:ext cx="329184" cy="329184"/>
          </a:xfrm>
          <a:prstGeom prst="ellipse">
            <a:avLst/>
          </a:prstGeom>
          <a:solidFill>
            <a:srgbClr val="7448D4"/>
          </a:solidFill>
          <a:ln/>
        </p:spPr>
      </p:sp>
      <p:sp>
        <p:nvSpPr>
          <p:cNvPr id="39" name="Text 35"/>
          <p:cNvSpPr txBox="1"/>
          <p:nvPr/>
        </p:nvSpPr>
        <p:spPr>
          <a:xfrm>
            <a:off x="7406640" y="4270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0" name="Text 36"/>
          <p:cNvSpPr txBox="1"/>
          <p:nvPr/>
        </p:nvSpPr>
        <p:spPr>
          <a:xfrm>
            <a:off x="7863840" y="422452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Copy buttons  </a:t>
            </a:r>
            <a:pPr indent="0" marL="0">
              <a:buNone/>
            </a:pPr>
            <a:r>
              <a:rPr lang="en-US" sz="1300" dirty="0">
                <a:solidFill>
                  <a:srgbClr val="56657E"/>
                </a:solidFill>
                <a:latin typeface="Calibri" pitchFamily="34" charset="0"/>
                <a:ea typeface="Calibri" pitchFamily="34" charset="-122"/>
                <a:cs typeface="Calibri" pitchFamily="34" charset="-120"/>
              </a:rPr>
              <a:t>Copy a starting command, then paste it.</a:t>
            </a:r>
            <a:endParaRPr lang="en-US" sz="1600" dirty="0"/>
          </a:p>
        </p:txBody>
      </p:sp>
      <p:sp>
        <p:nvSpPr>
          <p:cNvPr id="41" name="Shape 37"/>
          <p:cNvSpPr/>
          <p:nvPr/>
        </p:nvSpPr>
        <p:spPr>
          <a:xfrm>
            <a:off x="7406640" y="4818888"/>
            <a:ext cx="329184" cy="329184"/>
          </a:xfrm>
          <a:prstGeom prst="ellipse">
            <a:avLst/>
          </a:prstGeom>
          <a:solidFill>
            <a:srgbClr val="56657E"/>
          </a:solidFill>
          <a:ln/>
        </p:spPr>
      </p:sp>
      <p:sp>
        <p:nvSpPr>
          <p:cNvPr id="42" name="Text 38"/>
          <p:cNvSpPr txBox="1"/>
          <p:nvPr/>
        </p:nvSpPr>
        <p:spPr>
          <a:xfrm>
            <a:off x="7406640" y="48188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43" name="Text 39"/>
          <p:cNvSpPr txBox="1"/>
          <p:nvPr/>
        </p:nvSpPr>
        <p:spPr>
          <a:xfrm>
            <a:off x="7863840" y="477316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Terminal  </a:t>
            </a:r>
            <a:pPr indent="0" marL="0">
              <a:buNone/>
            </a:pPr>
            <a:r>
              <a:rPr lang="en-US" sz="1300" dirty="0">
                <a:solidFill>
                  <a:srgbClr val="56657E"/>
                </a:solidFill>
                <a:latin typeface="Calibri" pitchFamily="34" charset="0"/>
                <a:ea typeface="Calibri" pitchFamily="34" charset="-122"/>
                <a:cs typeface="Calibri" pitchFamily="34" charset="-120"/>
              </a:rPr>
              <a:t>Click inside it before you type.</a:t>
            </a:r>
            <a:endParaRPr lang="en-US" sz="1600" dirty="0"/>
          </a:p>
        </p:txBody>
      </p:sp>
      <p:sp>
        <p:nvSpPr>
          <p:cNvPr id="44" name="Shape 40"/>
          <p:cNvSpPr/>
          <p:nvPr/>
        </p:nvSpPr>
        <p:spPr>
          <a:xfrm>
            <a:off x="7406640" y="5367528"/>
            <a:ext cx="329184" cy="329184"/>
          </a:xfrm>
          <a:prstGeom prst="ellipse">
            <a:avLst/>
          </a:prstGeom>
          <a:solidFill>
            <a:srgbClr val="2459D8"/>
          </a:solidFill>
          <a:ln/>
        </p:spPr>
      </p:sp>
      <p:sp>
        <p:nvSpPr>
          <p:cNvPr id="45" name="Text 41"/>
          <p:cNvSpPr txBox="1"/>
          <p:nvPr/>
        </p:nvSpPr>
        <p:spPr>
          <a:xfrm>
            <a:off x="7406640" y="5367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46" name="Text 42"/>
          <p:cNvSpPr txBox="1"/>
          <p:nvPr/>
        </p:nvSpPr>
        <p:spPr>
          <a:xfrm>
            <a:off x="7863840" y="532180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Next mission  </a:t>
            </a:r>
            <a:pPr indent="0" marL="0">
              <a:buNone/>
            </a:pPr>
            <a:r>
              <a:rPr lang="en-US" sz="1300" dirty="0">
                <a:solidFill>
                  <a:srgbClr val="56657E"/>
                </a:solidFill>
                <a:latin typeface="Calibri" pitchFamily="34" charset="0"/>
                <a:ea typeface="Calibri" pitchFamily="34" charset="-122"/>
                <a:cs typeface="Calibri" pitchFamily="34" charset="-120"/>
              </a:rPr>
              <a:t>Unlocks when the flag is captured.</a:t>
            </a:r>
            <a:endParaRPr lang="en-US" sz="1600" dirty="0"/>
          </a:p>
        </p:txBody>
      </p:sp>
      <p:sp>
        <p:nvSpPr>
          <p:cNvPr id="47" name="Text 4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39 / 60</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how the Forensics CTF works</a:t>
            </a:r>
            <a:endParaRPr lang="en-US" sz="3200" dirty="0"/>
          </a:p>
        </p:txBody>
      </p:sp>
      <p:sp>
        <p:nvSpPr>
          <p:cNvPr id="4" name="Shape 1"/>
          <p:cNvSpPr/>
          <p:nvPr/>
        </p:nvSpPr>
        <p:spPr>
          <a:xfrm>
            <a:off x="548640" y="1554480"/>
            <a:ext cx="3566160" cy="3063240"/>
          </a:xfrm>
          <a:prstGeom prst="roundRect">
            <a:avLst>
              <a:gd name="adj" fmla="val 2985"/>
            </a:avLst>
          </a:prstGeom>
          <a:solidFill>
            <a:srgbClr val="F1F5FB"/>
          </a:solidFill>
          <a:ln/>
        </p:spPr>
      </p:sp>
      <p:sp>
        <p:nvSpPr>
          <p:cNvPr id="5" name="Shape 2"/>
          <p:cNvSpPr/>
          <p:nvPr/>
        </p:nvSpPr>
        <p:spPr>
          <a:xfrm>
            <a:off x="822960" y="1783080"/>
            <a:ext cx="868680" cy="868680"/>
          </a:xfrm>
          <a:prstGeom prst="ellipse">
            <a:avLst/>
          </a:prstGeom>
          <a:solidFill>
            <a:srgbClr val="2A9FD6"/>
          </a:solidFill>
          <a:ln/>
        </p:spPr>
      </p:sp>
      <p:pic>
        <p:nvPicPr>
          <p:cNvPr id="6" name="Image 0" descr="preencoded.png">    </p:cNvPr>
          <p:cNvPicPr>
            <a:picLocks noChangeAspect="1"/>
          </p:cNvPicPr>
          <p:nvPr/>
        </p:nvPicPr>
        <p:blipFill>
          <a:blip r:embed="rId1"/>
          <a:stretch>
            <a:fillRect/>
          </a:stretch>
        </p:blipFill>
        <p:spPr>
          <a:xfrm>
            <a:off x="1040130" y="2000250"/>
            <a:ext cx="434340" cy="434340"/>
          </a:xfrm>
          <a:prstGeom prst="rect">
            <a:avLst/>
          </a:prstGeom>
        </p:spPr>
      </p:pic>
      <p:sp>
        <p:nvSpPr>
          <p:cNvPr id="7" name="Text 3"/>
          <p:cNvSpPr txBox="1"/>
          <p:nvPr/>
        </p:nvSpPr>
        <p:spPr>
          <a:xfrm>
            <a:off x="822960" y="2834640"/>
            <a:ext cx="3017520" cy="457200"/>
          </a:xfrm>
          <a:prstGeom prst="rect">
            <a:avLst/>
          </a:prstGeom>
          <a:noFill/>
          <a:ln/>
        </p:spPr>
        <p:txBody>
          <a:bodyPr wrap="square" lIns="0" tIns="0" rIns="0" bIns="0" rtlCol="0" anchor="t"/>
          <a:lstStyle/>
          <a:p>
            <a:pPr indent="0" marL="0">
              <a:buNone/>
            </a:pPr>
            <a:r>
              <a:rPr lang="en-US" sz="2200" b="1" dirty="0">
                <a:solidFill>
                  <a:srgbClr val="12213A"/>
                </a:solidFill>
                <a:latin typeface="Arial" pitchFamily="34" charset="0"/>
                <a:ea typeface="Arial" pitchFamily="34" charset="-122"/>
                <a:cs typeface="Arial" pitchFamily="34" charset="-120"/>
              </a:rPr>
              <a:t>A real terminal</a:t>
            </a:r>
            <a:endParaRPr lang="en-US" sz="2200" dirty="0"/>
          </a:p>
        </p:txBody>
      </p:sp>
      <p:sp>
        <p:nvSpPr>
          <p:cNvPr id="8" name="Text 4"/>
          <p:cNvSpPr txBox="1"/>
          <p:nvPr/>
        </p:nvSpPr>
        <p:spPr>
          <a:xfrm>
            <a:off x="822960" y="3337560"/>
            <a:ext cx="3017520" cy="118872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Linux in the browser, with standard forensics tools.</a:t>
            </a:r>
            <a:endParaRPr lang="en-US" sz="1600" dirty="0"/>
          </a:p>
        </p:txBody>
      </p:sp>
      <p:sp>
        <p:nvSpPr>
          <p:cNvPr id="9" name="Shape 5"/>
          <p:cNvSpPr/>
          <p:nvPr/>
        </p:nvSpPr>
        <p:spPr>
          <a:xfrm>
            <a:off x="4306824" y="1554480"/>
            <a:ext cx="3566160" cy="3063240"/>
          </a:xfrm>
          <a:prstGeom prst="roundRect">
            <a:avLst>
              <a:gd name="adj" fmla="val 2985"/>
            </a:avLst>
          </a:prstGeom>
          <a:solidFill>
            <a:srgbClr val="F1F5FB"/>
          </a:solidFill>
          <a:ln/>
        </p:spPr>
      </p:sp>
      <p:sp>
        <p:nvSpPr>
          <p:cNvPr id="10" name="Shape 6"/>
          <p:cNvSpPr/>
          <p:nvPr/>
        </p:nvSpPr>
        <p:spPr>
          <a:xfrm>
            <a:off x="4581144" y="1783080"/>
            <a:ext cx="868680" cy="868680"/>
          </a:xfrm>
          <a:prstGeom prst="ellipse">
            <a:avLst/>
          </a:prstGeom>
          <a:solidFill>
            <a:srgbClr val="7448D4"/>
          </a:solidFill>
          <a:ln/>
        </p:spPr>
      </p:sp>
      <p:pic>
        <p:nvPicPr>
          <p:cNvPr id="11" name="Image 1" descr="preencoded.png">    </p:cNvPr>
          <p:cNvPicPr>
            <a:picLocks noChangeAspect="1"/>
          </p:cNvPicPr>
          <p:nvPr/>
        </p:nvPicPr>
        <p:blipFill>
          <a:blip r:embed="rId2"/>
          <a:stretch>
            <a:fillRect/>
          </a:stretch>
        </p:blipFill>
        <p:spPr>
          <a:xfrm>
            <a:off x="4798314" y="2000250"/>
            <a:ext cx="434340" cy="434340"/>
          </a:xfrm>
          <a:prstGeom prst="rect">
            <a:avLst/>
          </a:prstGeom>
        </p:spPr>
      </p:pic>
      <p:sp>
        <p:nvSpPr>
          <p:cNvPr id="12" name="Text 7"/>
          <p:cNvSpPr txBox="1"/>
          <p:nvPr/>
        </p:nvSpPr>
        <p:spPr>
          <a:xfrm>
            <a:off x="4581144" y="2834640"/>
            <a:ext cx="3017520" cy="457200"/>
          </a:xfrm>
          <a:prstGeom prst="rect">
            <a:avLst/>
          </a:prstGeom>
          <a:noFill/>
          <a:ln/>
        </p:spPr>
        <p:txBody>
          <a:bodyPr wrap="square" lIns="0" tIns="0" rIns="0" bIns="0" rtlCol="0" anchor="t"/>
          <a:lstStyle/>
          <a:p>
            <a:pPr indent="0" marL="0">
              <a:buNone/>
            </a:pPr>
            <a:r>
              <a:rPr lang="en-US" sz="2200" b="1" dirty="0">
                <a:solidFill>
                  <a:srgbClr val="12213A"/>
                </a:solidFill>
                <a:latin typeface="Arial" pitchFamily="34" charset="0"/>
                <a:ea typeface="Arial" pitchFamily="34" charset="-122"/>
                <a:cs typeface="Arial" pitchFamily="34" charset="-120"/>
              </a:rPr>
              <a:t>Fresh evidence</a:t>
            </a:r>
            <a:endParaRPr lang="en-US" sz="2200" dirty="0"/>
          </a:p>
        </p:txBody>
      </p:sp>
      <p:sp>
        <p:nvSpPr>
          <p:cNvPr id="13" name="Text 8"/>
          <p:cNvSpPr txBox="1"/>
          <p:nvPr/>
        </p:nvSpPr>
        <p:spPr>
          <a:xfrm>
            <a:off x="4581144" y="3337560"/>
            <a:ext cx="3017520" cy="118872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Random times, IPs, users, files and flags. No answer file.</a:t>
            </a:r>
            <a:endParaRPr lang="en-US" sz="1600" dirty="0"/>
          </a:p>
        </p:txBody>
      </p:sp>
      <p:sp>
        <p:nvSpPr>
          <p:cNvPr id="14" name="Shape 9"/>
          <p:cNvSpPr/>
          <p:nvPr/>
        </p:nvSpPr>
        <p:spPr>
          <a:xfrm>
            <a:off x="8065008" y="1554480"/>
            <a:ext cx="3566160" cy="3063240"/>
          </a:xfrm>
          <a:prstGeom prst="roundRect">
            <a:avLst>
              <a:gd name="adj" fmla="val 2985"/>
            </a:avLst>
          </a:prstGeom>
          <a:solidFill>
            <a:srgbClr val="F1F5FB"/>
          </a:solidFill>
          <a:ln/>
        </p:spPr>
      </p:sp>
      <p:sp>
        <p:nvSpPr>
          <p:cNvPr id="15" name="Shape 10"/>
          <p:cNvSpPr/>
          <p:nvPr/>
        </p:nvSpPr>
        <p:spPr>
          <a:xfrm>
            <a:off x="8339328" y="1783080"/>
            <a:ext cx="868680" cy="868680"/>
          </a:xfrm>
          <a:prstGeom prst="ellipse">
            <a:avLst/>
          </a:prstGeom>
          <a:solidFill>
            <a:srgbClr val="D1416B"/>
          </a:solidFill>
          <a:ln/>
        </p:spPr>
      </p:sp>
      <p:pic>
        <p:nvPicPr>
          <p:cNvPr id="16" name="Image 2" descr="preencoded.png">    </p:cNvPr>
          <p:cNvPicPr>
            <a:picLocks noChangeAspect="1"/>
          </p:cNvPicPr>
          <p:nvPr/>
        </p:nvPicPr>
        <p:blipFill>
          <a:blip r:embed="rId3"/>
          <a:stretch>
            <a:fillRect/>
          </a:stretch>
        </p:blipFill>
        <p:spPr>
          <a:xfrm>
            <a:off x="8556498" y="2000250"/>
            <a:ext cx="434340" cy="434340"/>
          </a:xfrm>
          <a:prstGeom prst="rect">
            <a:avLst/>
          </a:prstGeom>
        </p:spPr>
      </p:pic>
      <p:sp>
        <p:nvSpPr>
          <p:cNvPr id="17" name="Text 11"/>
          <p:cNvSpPr txBox="1"/>
          <p:nvPr/>
        </p:nvSpPr>
        <p:spPr>
          <a:xfrm>
            <a:off x="8339328" y="2834640"/>
            <a:ext cx="3017520" cy="457200"/>
          </a:xfrm>
          <a:prstGeom prst="rect">
            <a:avLst/>
          </a:prstGeom>
          <a:noFill/>
          <a:ln/>
        </p:spPr>
        <p:txBody>
          <a:bodyPr wrap="square" lIns="0" tIns="0" rIns="0" bIns="0" rtlCol="0" anchor="t"/>
          <a:lstStyle/>
          <a:p>
            <a:pPr indent="0" marL="0">
              <a:buNone/>
            </a:pPr>
            <a:r>
              <a:rPr lang="en-US" sz="2200" b="1" dirty="0">
                <a:solidFill>
                  <a:srgbClr val="12213A"/>
                </a:solidFill>
                <a:latin typeface="Arial" pitchFamily="34" charset="0"/>
                <a:ea typeface="Arial" pitchFamily="34" charset="-122"/>
                <a:cs typeface="Arial" pitchFamily="34" charset="-120"/>
              </a:rPr>
              <a:t>Nothing to install</a:t>
            </a:r>
            <a:endParaRPr lang="en-US" sz="2200" dirty="0"/>
          </a:p>
        </p:txBody>
      </p:sp>
      <p:sp>
        <p:nvSpPr>
          <p:cNvPr id="18" name="Text 12"/>
          <p:cNvSpPr txBox="1"/>
          <p:nvPr/>
        </p:nvSpPr>
        <p:spPr>
          <a:xfrm>
            <a:off x="8339328" y="3337560"/>
            <a:ext cx="3017520" cy="118872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One link: your Pages address + /forensics/. No accounts.</a:t>
            </a:r>
            <a:endParaRPr lang="en-US" sz="1600" dirty="0"/>
          </a:p>
        </p:txBody>
      </p:sp>
      <p:sp>
        <p:nvSpPr>
          <p:cNvPr id="19" name="Text 13"/>
          <p:cNvSpPr txBox="1"/>
          <p:nvPr/>
        </p:nvSpPr>
        <p:spPr>
          <a:xfrm>
            <a:off x="548640" y="4892040"/>
            <a:ext cx="2743200" cy="320040"/>
          </a:xfrm>
          <a:prstGeom prst="rect">
            <a:avLst/>
          </a:prstGeom>
          <a:noFill/>
          <a:ln/>
        </p:spPr>
        <p:txBody>
          <a:bodyPr wrap="square" lIns="0" tIns="0" rIns="0" bIns="0" rtlCol="0" anchor="t"/>
          <a:lstStyle/>
          <a:p>
            <a:pPr indent="0" marL="0">
              <a:buNone/>
            </a:pPr>
            <a:r>
              <a:rPr lang="en-US" sz="1400" b="1" dirty="0">
                <a:solidFill>
                  <a:srgbClr val="56657E"/>
                </a:solidFill>
                <a:latin typeface="Calibri" pitchFamily="34" charset="0"/>
                <a:ea typeface="Calibri" pitchFamily="34" charset="-122"/>
                <a:cs typeface="Calibri" pitchFamily="34" charset="-120"/>
              </a:rPr>
              <a:t>Under the hood</a:t>
            </a:r>
            <a:endParaRPr lang="en-US" sz="1400" dirty="0"/>
          </a:p>
        </p:txBody>
      </p:sp>
      <p:sp>
        <p:nvSpPr>
          <p:cNvPr id="20" name="Shape 14"/>
          <p:cNvSpPr/>
          <p:nvPr/>
        </p:nvSpPr>
        <p:spPr>
          <a:xfrm>
            <a:off x="548640" y="5303520"/>
            <a:ext cx="1499616" cy="347472"/>
          </a:xfrm>
          <a:prstGeom prst="roundRect">
            <a:avLst>
              <a:gd name="adj" fmla="val 50000"/>
            </a:avLst>
          </a:prstGeom>
          <a:solidFill>
            <a:srgbClr val="E4EAF3"/>
          </a:solidFill>
          <a:ln/>
        </p:spPr>
      </p:sp>
      <p:sp>
        <p:nvSpPr>
          <p:cNvPr id="21" name="Text 15"/>
          <p:cNvSpPr txBox="1"/>
          <p:nvPr/>
        </p:nvSpPr>
        <p:spPr>
          <a:xfrm>
            <a:off x="548640" y="5303520"/>
            <a:ext cx="1499616" cy="347472"/>
          </a:xfrm>
          <a:prstGeom prst="rect">
            <a:avLst/>
          </a:prstGeom>
          <a:noFill/>
          <a:ln/>
        </p:spPr>
        <p:txBody>
          <a:bodyPr wrap="square" lIns="0" tIns="0" rIns="0" bIns="0" rtlCol="0" anchor="ctr"/>
          <a:lstStyle/>
          <a:p>
            <a:pPr algn="ctr" indent="0" marL="0">
              <a:buNone/>
            </a:pPr>
            <a:r>
              <a:rPr lang="en-US" sz="1250" b="1" dirty="0">
                <a:solidFill>
                  <a:srgbClr val="56657E"/>
                </a:solidFill>
                <a:latin typeface="Calibri" pitchFamily="34" charset="0"/>
                <a:ea typeface="Calibri" pitchFamily="34" charset="-122"/>
                <a:cs typeface="Calibri" pitchFamily="34" charset="-120"/>
              </a:rPr>
              <a:t>Your browser</a:t>
            </a:r>
            <a:endParaRPr lang="en-US" sz="1250" dirty="0"/>
          </a:p>
        </p:txBody>
      </p:sp>
      <p:sp>
        <p:nvSpPr>
          <p:cNvPr id="22" name="Text 16"/>
          <p:cNvSpPr txBox="1"/>
          <p:nvPr/>
        </p:nvSpPr>
        <p:spPr>
          <a:xfrm>
            <a:off x="2048256"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3" name="Shape 17"/>
          <p:cNvSpPr/>
          <p:nvPr/>
        </p:nvSpPr>
        <p:spPr>
          <a:xfrm>
            <a:off x="2212848" y="5303520"/>
            <a:ext cx="2542032" cy="347472"/>
          </a:xfrm>
          <a:prstGeom prst="roundRect">
            <a:avLst>
              <a:gd name="adj" fmla="val 50000"/>
            </a:avLst>
          </a:prstGeom>
          <a:solidFill>
            <a:srgbClr val="2459D8"/>
          </a:solidFill>
          <a:ln/>
        </p:spPr>
      </p:sp>
      <p:sp>
        <p:nvSpPr>
          <p:cNvPr id="24" name="Text 18"/>
          <p:cNvSpPr txBox="1"/>
          <p:nvPr/>
        </p:nvSpPr>
        <p:spPr>
          <a:xfrm>
            <a:off x="2212848" y="5303520"/>
            <a:ext cx="254203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v86: a PC in WebAssembly</a:t>
            </a:r>
            <a:endParaRPr lang="en-US" sz="1250" dirty="0"/>
          </a:p>
        </p:txBody>
      </p:sp>
      <p:sp>
        <p:nvSpPr>
          <p:cNvPr id="25" name="Text 19"/>
          <p:cNvSpPr txBox="1"/>
          <p:nvPr/>
        </p:nvSpPr>
        <p:spPr>
          <a:xfrm>
            <a:off x="4754880"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6" name="Shape 20"/>
          <p:cNvSpPr/>
          <p:nvPr/>
        </p:nvSpPr>
        <p:spPr>
          <a:xfrm>
            <a:off x="4919472" y="5303520"/>
            <a:ext cx="1760220" cy="347472"/>
          </a:xfrm>
          <a:prstGeom prst="roundRect">
            <a:avLst>
              <a:gd name="adj" fmla="val 50000"/>
            </a:avLst>
          </a:prstGeom>
          <a:solidFill>
            <a:srgbClr val="7448D4"/>
          </a:solidFill>
          <a:ln/>
        </p:spPr>
      </p:sp>
      <p:sp>
        <p:nvSpPr>
          <p:cNvPr id="27" name="Text 21"/>
          <p:cNvSpPr txBox="1"/>
          <p:nvPr/>
        </p:nvSpPr>
        <p:spPr>
          <a:xfrm>
            <a:off x="4919472" y="5303520"/>
            <a:ext cx="1760220"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Linux + BusyBox</a:t>
            </a:r>
            <a:endParaRPr lang="en-US" sz="1250" dirty="0"/>
          </a:p>
        </p:txBody>
      </p:sp>
      <p:sp>
        <p:nvSpPr>
          <p:cNvPr id="28" name="Text 22"/>
          <p:cNvSpPr txBox="1"/>
          <p:nvPr/>
        </p:nvSpPr>
        <p:spPr>
          <a:xfrm>
            <a:off x="6679692"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9" name="Shape 23"/>
          <p:cNvSpPr/>
          <p:nvPr/>
        </p:nvSpPr>
        <p:spPr>
          <a:xfrm>
            <a:off x="6844284" y="5303520"/>
            <a:ext cx="1760220" cy="347472"/>
          </a:xfrm>
          <a:prstGeom prst="roundRect">
            <a:avLst>
              <a:gd name="adj" fmla="val 50000"/>
            </a:avLst>
          </a:prstGeom>
          <a:solidFill>
            <a:srgbClr val="D1416B"/>
          </a:solidFill>
          <a:ln/>
        </p:spPr>
      </p:sp>
      <p:sp>
        <p:nvSpPr>
          <p:cNvPr id="30" name="Text 24"/>
          <p:cNvSpPr txBox="1"/>
          <p:nvPr/>
        </p:nvSpPr>
        <p:spPr>
          <a:xfrm>
            <a:off x="6844284" y="5303520"/>
            <a:ext cx="1760220"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filetype helper</a:t>
            </a:r>
            <a:endParaRPr lang="en-US" sz="1250" dirty="0"/>
          </a:p>
        </p:txBody>
      </p:sp>
      <p:sp>
        <p:nvSpPr>
          <p:cNvPr id="31" name="Text 25"/>
          <p:cNvSpPr txBox="1"/>
          <p:nvPr/>
        </p:nvSpPr>
        <p:spPr>
          <a:xfrm>
            <a:off x="8604504"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32" name="Shape 26"/>
          <p:cNvSpPr/>
          <p:nvPr/>
        </p:nvSpPr>
        <p:spPr>
          <a:xfrm>
            <a:off x="8769096" y="5303520"/>
            <a:ext cx="1586484" cy="347472"/>
          </a:xfrm>
          <a:prstGeom prst="roundRect">
            <a:avLst>
              <a:gd name="adj" fmla="val 50000"/>
            </a:avLst>
          </a:prstGeom>
          <a:solidFill>
            <a:srgbClr val="F5A623"/>
          </a:solidFill>
          <a:ln/>
        </p:spPr>
      </p:sp>
      <p:sp>
        <p:nvSpPr>
          <p:cNvPr id="33" name="Text 27"/>
          <p:cNvSpPr txBox="1"/>
          <p:nvPr/>
        </p:nvSpPr>
        <p:spPr>
          <a:xfrm>
            <a:off x="8769096" y="5303520"/>
            <a:ext cx="1586484" cy="347472"/>
          </a:xfrm>
          <a:prstGeom prst="rect">
            <a:avLst/>
          </a:prstGeom>
          <a:noFill/>
          <a:ln/>
        </p:spPr>
        <p:txBody>
          <a:bodyPr wrap="square" lIns="0" tIns="0" rIns="0" bIns="0" rtlCol="0" anchor="ctr"/>
          <a:lstStyle/>
          <a:p>
            <a:pPr algn="ctr" indent="0" marL="0">
              <a:buNone/>
            </a:pPr>
            <a:r>
              <a:rPr lang="en-US" sz="1250" b="1" dirty="0">
                <a:solidFill>
                  <a:srgbClr val="12213A"/>
                </a:solidFill>
                <a:latin typeface="Calibri" pitchFamily="34" charset="0"/>
                <a:ea typeface="Calibri" pitchFamily="34" charset="-122"/>
                <a:cs typeface="Calibri" pitchFamily="34" charset="-120"/>
              </a:rPr>
              <a:t>Your 10 clues</a:t>
            </a:r>
            <a:endParaRPr lang="en-US" sz="1250" dirty="0"/>
          </a:p>
        </p:txBody>
      </p:sp>
      <p:sp>
        <p:nvSpPr>
          <p:cNvPr id="34" name="Text 28"/>
          <p:cNvSpPr txBox="1"/>
          <p:nvPr/>
        </p:nvSpPr>
        <p:spPr>
          <a:xfrm>
            <a:off x="548640" y="5852160"/>
            <a:ext cx="10515600" cy="32004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Source: public/forensics/ (page) and guest-forensics/ (missions, tools, Linux image).</a:t>
            </a:r>
            <a:endParaRPr lang="en-US" sz="1300" dirty="0"/>
          </a:p>
        </p:txBody>
      </p:sp>
      <p:sp>
        <p:nvSpPr>
          <p:cNvPr id="35" name="Text 2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40 / 60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open the Forensics CTF</a:t>
            </a:r>
            <a:endParaRPr lang="en-US" sz="3200" dirty="0"/>
          </a:p>
        </p:txBody>
      </p:sp>
      <p:sp>
        <p:nvSpPr>
          <p:cNvPr id="4" name="Shape 1"/>
          <p:cNvSpPr/>
          <p:nvPr/>
        </p:nvSpPr>
        <p:spPr>
          <a:xfrm>
            <a:off x="548640" y="1691640"/>
            <a:ext cx="457200" cy="457200"/>
          </a:xfrm>
          <a:prstGeom prst="ellipse">
            <a:avLst/>
          </a:prstGeom>
          <a:solidFill>
            <a:srgbClr val="2459D8"/>
          </a:solidFill>
          <a:ln/>
        </p:spPr>
      </p:sp>
      <p:sp>
        <p:nvSpPr>
          <p:cNvPr id="5" name="Text 2"/>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3"/>
          <p:cNvSpPr txBox="1"/>
          <p:nvPr/>
        </p:nvSpPr>
        <p:spPr>
          <a:xfrm>
            <a:off x="1188720" y="166420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Open Chrome </a:t>
            </a:r>
            <a:pPr indent="0" marL="0">
              <a:buNone/>
            </a:pPr>
            <a:r>
              <a:rPr lang="en-US" sz="1800" dirty="0">
                <a:solidFill>
                  <a:srgbClr val="12213A"/>
                </a:solidFill>
                <a:latin typeface="Calibri" pitchFamily="34" charset="0"/>
                <a:ea typeface="Calibri" pitchFamily="34" charset="-122"/>
                <a:cs typeface="Calibri" pitchFamily="34" charset="-120"/>
              </a:rPr>
              <a:t>and type the address from the box on the right.</a:t>
            </a:r>
            <a:endParaRPr lang="en-US" sz="1800" dirty="0"/>
          </a:p>
        </p:txBody>
      </p:sp>
      <p:sp>
        <p:nvSpPr>
          <p:cNvPr id="7" name="Shape 4"/>
          <p:cNvSpPr/>
          <p:nvPr/>
        </p:nvSpPr>
        <p:spPr>
          <a:xfrm>
            <a:off x="548640" y="2697480"/>
            <a:ext cx="457200" cy="457200"/>
          </a:xfrm>
          <a:prstGeom prst="ellipse">
            <a:avLst/>
          </a:prstGeom>
          <a:solidFill>
            <a:srgbClr val="2459D8"/>
          </a:solidFill>
          <a:ln/>
        </p:spPr>
      </p:sp>
      <p:sp>
        <p:nvSpPr>
          <p:cNvPr id="8" name="Text 5"/>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6"/>
          <p:cNvSpPr txBox="1"/>
          <p:nvPr/>
        </p:nvSpPr>
        <p:spPr>
          <a:xfrm>
            <a:off x="1188720" y="267004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Watch it boot. </a:t>
            </a:r>
            <a:pPr indent="0" marL="0">
              <a:buNone/>
            </a:pPr>
            <a:r>
              <a:rPr lang="en-US" sz="1800" dirty="0">
                <a:solidFill>
                  <a:srgbClr val="12213A"/>
                </a:solidFill>
                <a:latin typeface="Calibri" pitchFamily="34" charset="0"/>
                <a:ea typeface="Calibri" pitchFamily="34" charset="-122"/>
                <a:cs typeface="Calibri" pitchFamily="34" charset="-120"/>
              </a:rPr>
              <a:t>The status says 'Ready' when Linux is up.</a:t>
            </a:r>
            <a:endParaRPr lang="en-US" sz="1800" dirty="0"/>
          </a:p>
        </p:txBody>
      </p:sp>
      <p:sp>
        <p:nvSpPr>
          <p:cNvPr id="10" name="Shape 7"/>
          <p:cNvSpPr/>
          <p:nvPr/>
        </p:nvSpPr>
        <p:spPr>
          <a:xfrm>
            <a:off x="548640" y="3703320"/>
            <a:ext cx="457200" cy="457200"/>
          </a:xfrm>
          <a:prstGeom prst="ellipse">
            <a:avLst/>
          </a:prstGeom>
          <a:solidFill>
            <a:srgbClr val="2459D8"/>
          </a:solidFill>
          <a:ln/>
        </p:spPr>
      </p:sp>
      <p:sp>
        <p:nvSpPr>
          <p:cNvPr id="11" name="Text 8"/>
          <p:cNvSpPr txBox="1"/>
          <p:nvPr/>
        </p:nvSpPr>
        <p:spPr>
          <a:xfrm>
            <a:off x="548640" y="3703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9"/>
          <p:cNvSpPr txBox="1"/>
          <p:nvPr/>
        </p:nvSpPr>
        <p:spPr>
          <a:xfrm>
            <a:off x="1188720" y="367588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Click inside the black terminal. </a:t>
            </a:r>
            <a:pPr indent="0" marL="0">
              <a:buNone/>
            </a:pPr>
            <a:r>
              <a:rPr lang="en-US" sz="1800" dirty="0">
                <a:solidFill>
                  <a:srgbClr val="12213A"/>
                </a:solidFill>
                <a:latin typeface="Calibri" pitchFamily="34" charset="0"/>
                <a:ea typeface="Calibri" pitchFamily="34" charset="-122"/>
                <a:cs typeface="Calibri" pitchFamily="34" charset="-120"/>
              </a:rPr>
              <a:t>A cursor should blink.</a:t>
            </a:r>
            <a:endParaRPr lang="en-US" sz="1800" dirty="0"/>
          </a:p>
        </p:txBody>
      </p:sp>
      <p:sp>
        <p:nvSpPr>
          <p:cNvPr id="13" name="Shape 10"/>
          <p:cNvSpPr/>
          <p:nvPr/>
        </p:nvSpPr>
        <p:spPr>
          <a:xfrm>
            <a:off x="548640" y="4709160"/>
            <a:ext cx="457200" cy="457200"/>
          </a:xfrm>
          <a:prstGeom prst="ellipse">
            <a:avLst/>
          </a:prstGeom>
          <a:solidFill>
            <a:srgbClr val="2459D8"/>
          </a:solidFill>
          <a:ln/>
        </p:spPr>
      </p:sp>
      <p:sp>
        <p:nvSpPr>
          <p:cNvPr id="14" name="Text 11"/>
          <p:cNvSpPr txBox="1"/>
          <p:nvPr/>
        </p:nvSpPr>
        <p:spPr>
          <a:xfrm>
            <a:off x="548640" y="4709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5" name="Text 12"/>
          <p:cNvSpPr txBox="1"/>
          <p:nvPr/>
        </p:nvSpPr>
        <p:spPr>
          <a:xfrm>
            <a:off x="1188720" y="468172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Never reload the page. </a:t>
            </a:r>
            <a:pPr indent="0" marL="0">
              <a:buNone/>
            </a:pPr>
            <a:r>
              <a:rPr lang="en-US" sz="1800" dirty="0">
                <a:solidFill>
                  <a:srgbClr val="12213A"/>
                </a:solidFill>
                <a:latin typeface="Calibri" pitchFamily="34" charset="0"/>
                <a:ea typeface="Calibri" pitchFamily="34" charset="-122"/>
                <a:cs typeface="Calibri" pitchFamily="34" charset="-120"/>
              </a:rPr>
              <a:t>Reloading means new flags, zero points and a reset clock.</a:t>
            </a:r>
            <a:endParaRPr lang="en-US" sz="1800" dirty="0"/>
          </a:p>
        </p:txBody>
      </p:sp>
      <p:sp>
        <p:nvSpPr>
          <p:cNvPr id="16" name="Shape 13"/>
          <p:cNvSpPr/>
          <p:nvPr/>
        </p:nvSpPr>
        <p:spPr>
          <a:xfrm>
            <a:off x="7040880" y="1554480"/>
            <a:ext cx="4599432" cy="2926080"/>
          </a:xfrm>
          <a:prstGeom prst="roundRect">
            <a:avLst>
              <a:gd name="adj" fmla="val 3750"/>
            </a:avLst>
          </a:prstGeom>
          <a:solidFill>
            <a:srgbClr val="0E1726"/>
          </a:solidFill>
          <a:ln/>
        </p:spPr>
      </p:sp>
      <p:sp>
        <p:nvSpPr>
          <p:cNvPr id="17" name="Text 14"/>
          <p:cNvSpPr txBox="1"/>
          <p:nvPr/>
        </p:nvSpPr>
        <p:spPr>
          <a:xfrm>
            <a:off x="7040880" y="1737360"/>
            <a:ext cx="4599432" cy="365760"/>
          </a:xfrm>
          <a:prstGeom prst="rect">
            <a:avLst/>
          </a:prstGeom>
          <a:noFill/>
          <a:ln/>
        </p:spPr>
        <p:txBody>
          <a:bodyPr wrap="square" lIns="0" tIns="0" rIns="0" bIns="0" rtlCol="0" anchor="ctr"/>
          <a:lstStyle/>
          <a:p>
            <a:pPr algn="ctr" indent="0" marL="0">
              <a:buNone/>
            </a:pPr>
            <a:r>
              <a:rPr lang="en-US" sz="1600" dirty="0">
                <a:solidFill>
                  <a:srgbClr val="B8C4D9"/>
                </a:solidFill>
                <a:latin typeface="Calibri" pitchFamily="34" charset="0"/>
                <a:ea typeface="Calibri" pitchFamily="34" charset="-122"/>
                <a:cs typeface="Calibri" pitchFamily="34" charset="-120"/>
              </a:rPr>
              <a:t>Forensics CTF address</a:t>
            </a:r>
            <a:endParaRPr lang="en-US" sz="1600" dirty="0"/>
          </a:p>
        </p:txBody>
      </p:sp>
      <p:sp>
        <p:nvSpPr>
          <p:cNvPr id="18" name="Shape 15"/>
          <p:cNvSpPr/>
          <p:nvPr/>
        </p:nvSpPr>
        <p:spPr>
          <a:xfrm>
            <a:off x="7406640" y="2331720"/>
            <a:ext cx="3867912" cy="1371600"/>
          </a:xfrm>
          <a:prstGeom prst="roundRect">
            <a:avLst>
              <a:gd name="adj" fmla="val 5333"/>
            </a:avLst>
          </a:prstGeom>
          <a:solidFill>
            <a:srgbClr val="162238"/>
          </a:solidFill>
          <a:ln w="25400">
            <a:solidFill>
              <a:srgbClr val="F5A623"/>
            </a:solidFill>
            <a:prstDash val="dash"/>
          </a:ln>
        </p:spPr>
      </p:sp>
      <p:sp>
        <p:nvSpPr>
          <p:cNvPr id="19" name="Text 16"/>
          <p:cNvSpPr txBox="1"/>
          <p:nvPr/>
        </p:nvSpPr>
        <p:spPr>
          <a:xfrm>
            <a:off x="7406640" y="2331720"/>
            <a:ext cx="3867912" cy="1371600"/>
          </a:xfrm>
          <a:prstGeom prst="rect">
            <a:avLst/>
          </a:prstGeom>
          <a:noFill/>
          <a:ln/>
        </p:spPr>
        <p:txBody>
          <a:bodyPr wrap="square" lIns="0" tIns="0" rIns="0" bIns="0" rtlCol="0" anchor="ctr"/>
          <a:lstStyle/>
          <a:p>
            <a:pPr algn="ctr" indent="0" marL="0">
              <a:buNone/>
            </a:pPr>
            <a:r>
              <a:rPr lang="en-US" sz="1700" b="1" dirty="0">
                <a:solidFill>
                  <a:srgbClr val="F5A623"/>
                </a:solidFill>
                <a:latin typeface="Courier New" pitchFamily="34" charset="0"/>
                <a:ea typeface="Courier New" pitchFamily="34" charset="-122"/>
                <a:cs typeface="Courier New" pitchFamily="34" charset="-120"/>
              </a:rPr>
              <a:t>your-group.gitlab.io/.../forensics/</a:t>
            </a:r>
            <a:endParaRPr lang="en-US" sz="1700" dirty="0"/>
          </a:p>
        </p:txBody>
      </p:sp>
      <p:sp>
        <p:nvSpPr>
          <p:cNvPr id="20" name="Text 17"/>
          <p:cNvSpPr txBox="1"/>
          <p:nvPr/>
        </p:nvSpPr>
        <p:spPr>
          <a:xfrm>
            <a:off x="7040880" y="3840480"/>
            <a:ext cx="4599432" cy="365760"/>
          </a:xfrm>
          <a:prstGeom prst="rect">
            <a:avLst/>
          </a:prstGeom>
          <a:noFill/>
          <a:ln/>
        </p:spPr>
        <p:txBody>
          <a:bodyPr wrap="square" lIns="0" tIns="0" rIns="0" bIns="0" rtlCol="0" anchor="ctr"/>
          <a:lstStyle/>
          <a:p>
            <a:pPr algn="ctr" indent="0" marL="0">
              <a:buNone/>
            </a:pPr>
            <a:r>
              <a:rPr lang="en-US" sz="1400" dirty="0">
                <a:solidFill>
                  <a:srgbClr val="7F8FAD"/>
                </a:solidFill>
                <a:latin typeface="Calibri" pitchFamily="34" charset="0"/>
                <a:ea typeface="Calibri" pitchFamily="34" charset="-122"/>
                <a:cs typeface="Calibri" pitchFamily="34" charset="-120"/>
              </a:rPr>
              <a:t>Type it exactly. One computer per pair.</a:t>
            </a:r>
            <a:endParaRPr lang="en-US" sz="1400" dirty="0"/>
          </a:p>
        </p:txBody>
      </p:sp>
      <p:sp>
        <p:nvSpPr>
          <p:cNvPr id="21" name="Shape 18"/>
          <p:cNvSpPr/>
          <p:nvPr/>
        </p:nvSpPr>
        <p:spPr>
          <a:xfrm>
            <a:off x="7040880" y="4709160"/>
            <a:ext cx="4599432" cy="1188720"/>
          </a:xfrm>
          <a:prstGeom prst="roundRect">
            <a:avLst>
              <a:gd name="adj" fmla="val 7692"/>
            </a:avLst>
          </a:prstGeom>
          <a:solidFill>
            <a:srgbClr val="FFF4DC"/>
          </a:solidFill>
          <a:ln/>
        </p:spPr>
      </p:sp>
      <p:sp>
        <p:nvSpPr>
          <p:cNvPr id="22" name="Text 19"/>
          <p:cNvSpPr txBox="1"/>
          <p:nvPr/>
        </p:nvSpPr>
        <p:spPr>
          <a:xfrm>
            <a:off x="7315200" y="4709160"/>
            <a:ext cx="4114800" cy="118872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Don't start yet! </a:t>
            </a:r>
            <a:pPr indent="0" marL="0">
              <a:buNone/>
            </a:pPr>
            <a:r>
              <a:rPr lang="en-US" sz="1500" dirty="0">
                <a:solidFill>
                  <a:srgbClr val="12213A"/>
                </a:solidFill>
                <a:latin typeface="Calibri" pitchFamily="34" charset="0"/>
                <a:ea typeface="Calibri" pitchFamily="34" charset="-122"/>
                <a:cs typeface="Calibri" pitchFamily="34" charset="-120"/>
              </a:rPr>
              <a:t>The clock starts when you open Mission 1 — explore the page freely first.</a:t>
            </a:r>
            <a:endParaRPr lang="en-US" sz="1500" dirty="0"/>
          </a:p>
        </p:txBody>
      </p:sp>
      <p:sp>
        <p:nvSpPr>
          <p:cNvPr id="23" name="Text 2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41 / 60</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answer key</a:t>
            </a:r>
            <a:endParaRPr lang="en-US" sz="3200" dirty="0"/>
          </a:p>
        </p:txBody>
      </p:sp>
      <p:sp>
        <p:nvSpPr>
          <p:cNvPr id="4" name="Shape 1"/>
          <p:cNvSpPr/>
          <p:nvPr/>
        </p:nvSpPr>
        <p:spPr>
          <a:xfrm>
            <a:off x="548640" y="1325880"/>
            <a:ext cx="11094415" cy="329184"/>
          </a:xfrm>
          <a:prstGeom prst="rect">
            <a:avLst/>
          </a:prstGeom>
          <a:solidFill>
            <a:srgbClr val="F1F5FB"/>
          </a:solidFill>
          <a:ln/>
        </p:spPr>
      </p:sp>
      <p:sp>
        <p:nvSpPr>
          <p:cNvPr id="5" name="Shape 2"/>
          <p:cNvSpPr/>
          <p:nvPr/>
        </p:nvSpPr>
        <p:spPr>
          <a:xfrm>
            <a:off x="658368" y="1376172"/>
            <a:ext cx="228600" cy="228600"/>
          </a:xfrm>
          <a:prstGeom prst="ellipse">
            <a:avLst/>
          </a:prstGeom>
          <a:solidFill>
            <a:srgbClr val="17875A"/>
          </a:solidFill>
          <a:ln/>
        </p:spPr>
      </p:sp>
      <p:sp>
        <p:nvSpPr>
          <p:cNvPr id="6" name="Text 3"/>
          <p:cNvSpPr txBox="1"/>
          <p:nvPr/>
        </p:nvSpPr>
        <p:spPr>
          <a:xfrm>
            <a:off x="658368" y="1376172"/>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7" name="Text 4"/>
          <p:cNvSpPr txBox="1"/>
          <p:nvPr/>
        </p:nvSpPr>
        <p:spPr>
          <a:xfrm>
            <a:off x="1005840" y="1325880"/>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Case file</a:t>
            </a:r>
            <a:endParaRPr lang="en-US" sz="1200" dirty="0"/>
          </a:p>
        </p:txBody>
      </p:sp>
      <p:sp>
        <p:nvSpPr>
          <p:cNvPr id="8" name="Text 5"/>
          <p:cNvSpPr txBox="1"/>
          <p:nvPr/>
        </p:nvSpPr>
        <p:spPr>
          <a:xfrm>
            <a:off x="3200400" y="1325880"/>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~/mission1; ls -l evidence  (match the README time);  cat evidence/&lt;file&gt;</a:t>
            </a:r>
            <a:endParaRPr lang="en-US" sz="950" dirty="0"/>
          </a:p>
        </p:txBody>
      </p:sp>
      <p:sp>
        <p:nvSpPr>
          <p:cNvPr id="9" name="Text 6"/>
          <p:cNvSpPr txBox="1"/>
          <p:nvPr/>
        </p:nvSpPr>
        <p:spPr>
          <a:xfrm>
            <a:off x="10241280" y="1325880"/>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10" name="Shape 7"/>
          <p:cNvSpPr/>
          <p:nvPr/>
        </p:nvSpPr>
        <p:spPr>
          <a:xfrm>
            <a:off x="548640" y="1655064"/>
            <a:ext cx="11094415" cy="329184"/>
          </a:xfrm>
          <a:prstGeom prst="rect">
            <a:avLst/>
          </a:prstGeom>
          <a:solidFill>
            <a:srgbClr val="FFFFFF"/>
          </a:solidFill>
          <a:ln/>
        </p:spPr>
      </p:sp>
      <p:sp>
        <p:nvSpPr>
          <p:cNvPr id="11" name="Shape 8"/>
          <p:cNvSpPr/>
          <p:nvPr/>
        </p:nvSpPr>
        <p:spPr>
          <a:xfrm>
            <a:off x="658368" y="1705356"/>
            <a:ext cx="228600" cy="228600"/>
          </a:xfrm>
          <a:prstGeom prst="ellipse">
            <a:avLst/>
          </a:prstGeom>
          <a:solidFill>
            <a:srgbClr val="2A9FD6"/>
          </a:solidFill>
          <a:ln/>
        </p:spPr>
      </p:sp>
      <p:sp>
        <p:nvSpPr>
          <p:cNvPr id="12" name="Text 9"/>
          <p:cNvSpPr txBox="1"/>
          <p:nvPr/>
        </p:nvSpPr>
        <p:spPr>
          <a:xfrm>
            <a:off x="658368" y="1705356"/>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3" name="Text 10"/>
          <p:cNvSpPr txBox="1"/>
          <p:nvPr/>
        </p:nvSpPr>
        <p:spPr>
          <a:xfrm>
            <a:off x="1005840" y="1655064"/>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Say cheese</a:t>
            </a:r>
            <a:endParaRPr lang="en-US" sz="1200" dirty="0"/>
          </a:p>
        </p:txBody>
      </p:sp>
      <p:sp>
        <p:nvSpPr>
          <p:cNvPr id="14" name="Text 11"/>
          <p:cNvSpPr txBox="1"/>
          <p:nvPr/>
        </p:nvSpPr>
        <p:spPr>
          <a:xfrm>
            <a:off x="3200400" y="1655064"/>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strings ~/mission2/photo.jpg | grep Comment</a:t>
            </a:r>
            <a:endParaRPr lang="en-US" sz="950" dirty="0"/>
          </a:p>
        </p:txBody>
      </p:sp>
      <p:sp>
        <p:nvSpPr>
          <p:cNvPr id="15" name="Text 12"/>
          <p:cNvSpPr txBox="1"/>
          <p:nvPr/>
        </p:nvSpPr>
        <p:spPr>
          <a:xfrm>
            <a:off x="10241280" y="1655064"/>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16" name="Shape 13"/>
          <p:cNvSpPr/>
          <p:nvPr/>
        </p:nvSpPr>
        <p:spPr>
          <a:xfrm>
            <a:off x="548640" y="1984248"/>
            <a:ext cx="11094415" cy="329184"/>
          </a:xfrm>
          <a:prstGeom prst="rect">
            <a:avLst/>
          </a:prstGeom>
          <a:solidFill>
            <a:srgbClr val="F1F5FB"/>
          </a:solidFill>
          <a:ln/>
        </p:spPr>
      </p:sp>
      <p:sp>
        <p:nvSpPr>
          <p:cNvPr id="17" name="Shape 14"/>
          <p:cNvSpPr/>
          <p:nvPr/>
        </p:nvSpPr>
        <p:spPr>
          <a:xfrm>
            <a:off x="658368" y="2034540"/>
            <a:ext cx="228600" cy="228600"/>
          </a:xfrm>
          <a:prstGeom prst="ellipse">
            <a:avLst/>
          </a:prstGeom>
          <a:solidFill>
            <a:srgbClr val="2459D8"/>
          </a:solidFill>
          <a:ln/>
        </p:spPr>
      </p:sp>
      <p:sp>
        <p:nvSpPr>
          <p:cNvPr id="18" name="Text 15"/>
          <p:cNvSpPr txBox="1"/>
          <p:nvPr/>
        </p:nvSpPr>
        <p:spPr>
          <a:xfrm>
            <a:off x="658368" y="203454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9" name="Text 16"/>
          <p:cNvSpPr txBox="1"/>
          <p:nvPr/>
        </p:nvSpPr>
        <p:spPr>
          <a:xfrm>
            <a:off x="1005840" y="1984248"/>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Wrong label</a:t>
            </a:r>
            <a:endParaRPr lang="en-US" sz="1200" dirty="0"/>
          </a:p>
        </p:txBody>
      </p:sp>
      <p:sp>
        <p:nvSpPr>
          <p:cNvPr id="20" name="Text 17"/>
          <p:cNvSpPr txBox="1"/>
          <p:nvPr/>
        </p:nvSpPr>
        <p:spPr>
          <a:xfrm>
            <a:off x="3200400" y="1984248"/>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~/mission3; filetype photos/*;  zcat photos/&lt;the gzip one&gt;</a:t>
            </a:r>
            <a:endParaRPr lang="en-US" sz="950" dirty="0"/>
          </a:p>
        </p:txBody>
      </p:sp>
      <p:sp>
        <p:nvSpPr>
          <p:cNvPr id="21" name="Text 18"/>
          <p:cNvSpPr txBox="1"/>
          <p:nvPr/>
        </p:nvSpPr>
        <p:spPr>
          <a:xfrm>
            <a:off x="10241280" y="1984248"/>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22" name="Shape 19"/>
          <p:cNvSpPr/>
          <p:nvPr/>
        </p:nvSpPr>
        <p:spPr>
          <a:xfrm>
            <a:off x="548640" y="2313432"/>
            <a:ext cx="11094415" cy="329184"/>
          </a:xfrm>
          <a:prstGeom prst="rect">
            <a:avLst/>
          </a:prstGeom>
          <a:solidFill>
            <a:srgbClr val="FFFFFF"/>
          </a:solidFill>
          <a:ln/>
        </p:spPr>
      </p:sp>
      <p:sp>
        <p:nvSpPr>
          <p:cNvPr id="23" name="Shape 20"/>
          <p:cNvSpPr/>
          <p:nvPr/>
        </p:nvSpPr>
        <p:spPr>
          <a:xfrm>
            <a:off x="658368" y="2363724"/>
            <a:ext cx="228600" cy="228600"/>
          </a:xfrm>
          <a:prstGeom prst="ellipse">
            <a:avLst/>
          </a:prstGeom>
          <a:solidFill>
            <a:srgbClr val="7448D4"/>
          </a:solidFill>
          <a:ln/>
        </p:spPr>
      </p:sp>
      <p:sp>
        <p:nvSpPr>
          <p:cNvPr id="24" name="Text 21"/>
          <p:cNvSpPr txBox="1"/>
          <p:nvPr/>
        </p:nvSpPr>
        <p:spPr>
          <a:xfrm>
            <a:off x="658368" y="2363724"/>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5" name="Text 22"/>
          <p:cNvSpPr txBox="1"/>
          <p:nvPr/>
        </p:nvSpPr>
        <p:spPr>
          <a:xfrm>
            <a:off x="1005840" y="2313432"/>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Russian dolls</a:t>
            </a:r>
            <a:endParaRPr lang="en-US" sz="1200" dirty="0"/>
          </a:p>
        </p:txBody>
      </p:sp>
      <p:sp>
        <p:nvSpPr>
          <p:cNvPr id="26" name="Text 23"/>
          <p:cNvSpPr txBox="1"/>
          <p:nvPr/>
        </p:nvSpPr>
        <p:spPr>
          <a:xfrm>
            <a:off x="3200400" y="2313432"/>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~/mission4; tar -xzf evidence.tar.gz; tar -xf box; zcat inner</a:t>
            </a:r>
            <a:endParaRPr lang="en-US" sz="950" dirty="0"/>
          </a:p>
        </p:txBody>
      </p:sp>
      <p:sp>
        <p:nvSpPr>
          <p:cNvPr id="27" name="Text 24"/>
          <p:cNvSpPr txBox="1"/>
          <p:nvPr/>
        </p:nvSpPr>
        <p:spPr>
          <a:xfrm>
            <a:off x="10241280" y="2313432"/>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28" name="Shape 25"/>
          <p:cNvSpPr/>
          <p:nvPr/>
        </p:nvSpPr>
        <p:spPr>
          <a:xfrm>
            <a:off x="548640" y="2642616"/>
            <a:ext cx="11094415" cy="329184"/>
          </a:xfrm>
          <a:prstGeom prst="rect">
            <a:avLst/>
          </a:prstGeom>
          <a:solidFill>
            <a:srgbClr val="F1F5FB"/>
          </a:solidFill>
          <a:ln/>
        </p:spPr>
      </p:sp>
      <p:sp>
        <p:nvSpPr>
          <p:cNvPr id="29" name="Shape 26"/>
          <p:cNvSpPr/>
          <p:nvPr/>
        </p:nvSpPr>
        <p:spPr>
          <a:xfrm>
            <a:off x="658368" y="2692908"/>
            <a:ext cx="228600" cy="228600"/>
          </a:xfrm>
          <a:prstGeom prst="ellipse">
            <a:avLst/>
          </a:prstGeom>
          <a:solidFill>
            <a:srgbClr val="D1416B"/>
          </a:solidFill>
          <a:ln/>
        </p:spPr>
      </p:sp>
      <p:sp>
        <p:nvSpPr>
          <p:cNvPr id="30" name="Text 27"/>
          <p:cNvSpPr txBox="1"/>
          <p:nvPr/>
        </p:nvSpPr>
        <p:spPr>
          <a:xfrm>
            <a:off x="658368" y="2692908"/>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31" name="Text 28"/>
          <p:cNvSpPr txBox="1"/>
          <p:nvPr/>
        </p:nvSpPr>
        <p:spPr>
          <a:xfrm>
            <a:off x="1005840" y="2642616"/>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Log detective</a:t>
            </a:r>
            <a:endParaRPr lang="en-US" sz="1200" dirty="0"/>
          </a:p>
        </p:txBody>
      </p:sp>
      <p:sp>
        <p:nvSpPr>
          <p:cNvPr id="32" name="Text 29"/>
          <p:cNvSpPr txBox="1"/>
          <p:nvPr/>
        </p:nvSpPr>
        <p:spPr>
          <a:xfrm>
            <a:off x="3200400" y="2642616"/>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count Failed per IP (cut -f8 | sort | uniq -c);  grep Accepted auth.log | grep &lt;IP&gt;</a:t>
            </a:r>
            <a:endParaRPr lang="en-US" sz="950" dirty="0"/>
          </a:p>
        </p:txBody>
      </p:sp>
      <p:sp>
        <p:nvSpPr>
          <p:cNvPr id="33" name="Text 30"/>
          <p:cNvSpPr txBox="1"/>
          <p:nvPr/>
        </p:nvSpPr>
        <p:spPr>
          <a:xfrm>
            <a:off x="10241280" y="2642616"/>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34" name="Shape 31"/>
          <p:cNvSpPr/>
          <p:nvPr/>
        </p:nvSpPr>
        <p:spPr>
          <a:xfrm>
            <a:off x="548640" y="2971800"/>
            <a:ext cx="11094415" cy="329184"/>
          </a:xfrm>
          <a:prstGeom prst="rect">
            <a:avLst/>
          </a:prstGeom>
          <a:solidFill>
            <a:srgbClr val="FFFFFF"/>
          </a:solidFill>
          <a:ln/>
        </p:spPr>
      </p:sp>
      <p:sp>
        <p:nvSpPr>
          <p:cNvPr id="35" name="Shape 32"/>
          <p:cNvSpPr/>
          <p:nvPr/>
        </p:nvSpPr>
        <p:spPr>
          <a:xfrm>
            <a:off x="658368" y="3022092"/>
            <a:ext cx="228600" cy="228600"/>
          </a:xfrm>
          <a:prstGeom prst="ellipse">
            <a:avLst/>
          </a:prstGeom>
          <a:solidFill>
            <a:srgbClr val="E8820C"/>
          </a:solidFill>
          <a:ln/>
        </p:spPr>
      </p:sp>
      <p:sp>
        <p:nvSpPr>
          <p:cNvPr id="36" name="Text 33"/>
          <p:cNvSpPr txBox="1"/>
          <p:nvPr/>
        </p:nvSpPr>
        <p:spPr>
          <a:xfrm>
            <a:off x="658368" y="3022092"/>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
        <p:nvSpPr>
          <p:cNvPr id="37" name="Text 34"/>
          <p:cNvSpPr txBox="1"/>
          <p:nvPr/>
        </p:nvSpPr>
        <p:spPr>
          <a:xfrm>
            <a:off x="1005840" y="2971800"/>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Hidden tail</a:t>
            </a:r>
            <a:endParaRPr lang="en-US" sz="1200" dirty="0"/>
          </a:p>
        </p:txBody>
      </p:sp>
      <p:sp>
        <p:nvSpPr>
          <p:cNvPr id="38" name="Text 35"/>
          <p:cNvSpPr txBox="1"/>
          <p:nvPr/>
        </p:nvSpPr>
        <p:spPr>
          <a:xfrm>
            <a:off x="3200400" y="2971800"/>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strings ~/mission6/cat.jpg | tail -1 | base64 -d</a:t>
            </a:r>
            <a:endParaRPr lang="en-US" sz="950" dirty="0"/>
          </a:p>
        </p:txBody>
      </p:sp>
      <p:sp>
        <p:nvSpPr>
          <p:cNvPr id="39" name="Text 36"/>
          <p:cNvSpPr txBox="1"/>
          <p:nvPr/>
        </p:nvSpPr>
        <p:spPr>
          <a:xfrm>
            <a:off x="10241280" y="2971800"/>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40" name="Shape 37"/>
          <p:cNvSpPr/>
          <p:nvPr/>
        </p:nvSpPr>
        <p:spPr>
          <a:xfrm>
            <a:off x="548640" y="3300984"/>
            <a:ext cx="11094415" cy="329184"/>
          </a:xfrm>
          <a:prstGeom prst="rect">
            <a:avLst/>
          </a:prstGeom>
          <a:solidFill>
            <a:srgbClr val="F1F5FB"/>
          </a:solidFill>
          <a:ln/>
        </p:spPr>
      </p:sp>
      <p:sp>
        <p:nvSpPr>
          <p:cNvPr id="41" name="Shape 38"/>
          <p:cNvSpPr/>
          <p:nvPr/>
        </p:nvSpPr>
        <p:spPr>
          <a:xfrm>
            <a:off x="658368" y="3351276"/>
            <a:ext cx="228600" cy="228600"/>
          </a:xfrm>
          <a:prstGeom prst="ellipse">
            <a:avLst/>
          </a:prstGeom>
          <a:solidFill>
            <a:srgbClr val="C9A227"/>
          </a:solidFill>
          <a:ln/>
        </p:spPr>
      </p:sp>
      <p:sp>
        <p:nvSpPr>
          <p:cNvPr id="42" name="Text 39"/>
          <p:cNvSpPr txBox="1"/>
          <p:nvPr/>
        </p:nvSpPr>
        <p:spPr>
          <a:xfrm>
            <a:off x="658368" y="3351276"/>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
        <p:nvSpPr>
          <p:cNvPr id="43" name="Text 40"/>
          <p:cNvSpPr txBox="1"/>
          <p:nvPr/>
        </p:nvSpPr>
        <p:spPr>
          <a:xfrm>
            <a:off x="1005840" y="3300984"/>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Tampered</a:t>
            </a:r>
            <a:endParaRPr lang="en-US" sz="1200" dirty="0"/>
          </a:p>
        </p:txBody>
      </p:sp>
      <p:sp>
        <p:nvSpPr>
          <p:cNvPr id="44" name="Text 41"/>
          <p:cNvSpPr txBox="1"/>
          <p:nvPr/>
        </p:nvSpPr>
        <p:spPr>
          <a:xfrm>
            <a:off x="3200400" y="3300984"/>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~/mission7; sha256sum -c manifest.sha256 | grep FAILED;  strings bin/&lt;file&gt; | grep CYBA</a:t>
            </a:r>
            <a:endParaRPr lang="en-US" sz="950" dirty="0"/>
          </a:p>
        </p:txBody>
      </p:sp>
      <p:sp>
        <p:nvSpPr>
          <p:cNvPr id="45" name="Text 42"/>
          <p:cNvSpPr txBox="1"/>
          <p:nvPr/>
        </p:nvSpPr>
        <p:spPr>
          <a:xfrm>
            <a:off x="10241280" y="3300984"/>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46" name="Shape 43"/>
          <p:cNvSpPr/>
          <p:nvPr/>
        </p:nvSpPr>
        <p:spPr>
          <a:xfrm>
            <a:off x="548640" y="3630168"/>
            <a:ext cx="11094415" cy="329184"/>
          </a:xfrm>
          <a:prstGeom prst="rect">
            <a:avLst/>
          </a:prstGeom>
          <a:solidFill>
            <a:srgbClr val="FFFFFF"/>
          </a:solidFill>
          <a:ln/>
        </p:spPr>
      </p:sp>
      <p:sp>
        <p:nvSpPr>
          <p:cNvPr id="47" name="Shape 44"/>
          <p:cNvSpPr/>
          <p:nvPr/>
        </p:nvSpPr>
        <p:spPr>
          <a:xfrm>
            <a:off x="658368" y="3680460"/>
            <a:ext cx="228600" cy="228600"/>
          </a:xfrm>
          <a:prstGeom prst="ellipse">
            <a:avLst/>
          </a:prstGeom>
          <a:solidFill>
            <a:srgbClr val="0F9488"/>
          </a:solidFill>
          <a:ln/>
        </p:spPr>
      </p:sp>
      <p:sp>
        <p:nvSpPr>
          <p:cNvPr id="48" name="Text 45"/>
          <p:cNvSpPr txBox="1"/>
          <p:nvPr/>
        </p:nvSpPr>
        <p:spPr>
          <a:xfrm>
            <a:off x="658368" y="368046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
        <p:nvSpPr>
          <p:cNvPr id="49" name="Text 46"/>
          <p:cNvSpPr txBox="1"/>
          <p:nvPr/>
        </p:nvSpPr>
        <p:spPr>
          <a:xfrm>
            <a:off x="1005840" y="3630168"/>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Persistence</a:t>
            </a:r>
            <a:endParaRPr lang="en-US" sz="1200" dirty="0"/>
          </a:p>
        </p:txBody>
      </p:sp>
      <p:sp>
        <p:nvSpPr>
          <p:cNvPr id="50" name="Text 47"/>
          <p:cNvSpPr txBox="1"/>
          <p:nvPr/>
        </p:nvSpPr>
        <p:spPr>
          <a:xfrm>
            <a:off x="3200400" y="3630168"/>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cat cron/*;  cat var/.cache/.sys-update.sh;  echo &lt;PAYLOAD&gt; | base64 -d</a:t>
            </a:r>
            <a:endParaRPr lang="en-US" sz="950" dirty="0"/>
          </a:p>
        </p:txBody>
      </p:sp>
      <p:sp>
        <p:nvSpPr>
          <p:cNvPr id="51" name="Text 48"/>
          <p:cNvSpPr txBox="1"/>
          <p:nvPr/>
        </p:nvSpPr>
        <p:spPr>
          <a:xfrm>
            <a:off x="10241280" y="3630168"/>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Hard · 400</a:t>
            </a:r>
            <a:endParaRPr lang="en-US" sz="1100" dirty="0"/>
          </a:p>
        </p:txBody>
      </p:sp>
      <p:sp>
        <p:nvSpPr>
          <p:cNvPr id="52" name="Shape 49"/>
          <p:cNvSpPr/>
          <p:nvPr/>
        </p:nvSpPr>
        <p:spPr>
          <a:xfrm>
            <a:off x="548640" y="3959352"/>
            <a:ext cx="11094415" cy="329184"/>
          </a:xfrm>
          <a:prstGeom prst="rect">
            <a:avLst/>
          </a:prstGeom>
          <a:solidFill>
            <a:srgbClr val="F1F5FB"/>
          </a:solidFill>
          <a:ln/>
        </p:spPr>
      </p:sp>
      <p:sp>
        <p:nvSpPr>
          <p:cNvPr id="53" name="Shape 50"/>
          <p:cNvSpPr/>
          <p:nvPr/>
        </p:nvSpPr>
        <p:spPr>
          <a:xfrm>
            <a:off x="658368" y="4009644"/>
            <a:ext cx="228600" cy="228600"/>
          </a:xfrm>
          <a:prstGeom prst="ellipse">
            <a:avLst/>
          </a:prstGeom>
          <a:solidFill>
            <a:srgbClr val="5B6EE1"/>
          </a:solidFill>
          <a:ln/>
        </p:spPr>
      </p:sp>
      <p:sp>
        <p:nvSpPr>
          <p:cNvPr id="54" name="Text 51"/>
          <p:cNvSpPr txBox="1"/>
          <p:nvPr/>
        </p:nvSpPr>
        <p:spPr>
          <a:xfrm>
            <a:off x="658368" y="4009644"/>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
        <p:nvSpPr>
          <p:cNvPr id="55" name="Text 52"/>
          <p:cNvSpPr txBox="1"/>
          <p:nvPr/>
        </p:nvSpPr>
        <p:spPr>
          <a:xfrm>
            <a:off x="1005840" y="3959352"/>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Leaked in pieces</a:t>
            </a:r>
            <a:endParaRPr lang="en-US" sz="1200" dirty="0"/>
          </a:p>
        </p:txBody>
      </p:sp>
      <p:sp>
        <p:nvSpPr>
          <p:cNvPr id="56" name="Text 53"/>
          <p:cNvSpPr txBox="1"/>
          <p:nvPr/>
        </p:nvSpPr>
        <p:spPr>
          <a:xfrm>
            <a:off x="3200400" y="3959352"/>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grep seq= capture.txt | cut -d'?' -f2 | cut -d' ' -f1 | sort | cut -d= -f3 | tr -d '\n' | xxd -r -p</a:t>
            </a:r>
            <a:endParaRPr lang="en-US" sz="950" dirty="0"/>
          </a:p>
        </p:txBody>
      </p:sp>
      <p:sp>
        <p:nvSpPr>
          <p:cNvPr id="57" name="Text 54"/>
          <p:cNvSpPr txBox="1"/>
          <p:nvPr/>
        </p:nvSpPr>
        <p:spPr>
          <a:xfrm>
            <a:off x="10241280" y="3959352"/>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Hard · 400</a:t>
            </a:r>
            <a:endParaRPr lang="en-US" sz="1100" dirty="0"/>
          </a:p>
        </p:txBody>
      </p:sp>
      <p:sp>
        <p:nvSpPr>
          <p:cNvPr id="58" name="Shape 55"/>
          <p:cNvSpPr/>
          <p:nvPr/>
        </p:nvSpPr>
        <p:spPr>
          <a:xfrm>
            <a:off x="548640" y="4288536"/>
            <a:ext cx="11094415" cy="329184"/>
          </a:xfrm>
          <a:prstGeom prst="rect">
            <a:avLst/>
          </a:prstGeom>
          <a:solidFill>
            <a:srgbClr val="FFFFFF"/>
          </a:solidFill>
          <a:ln/>
        </p:spPr>
      </p:sp>
      <p:sp>
        <p:nvSpPr>
          <p:cNvPr id="59" name="Shape 56"/>
          <p:cNvSpPr/>
          <p:nvPr/>
        </p:nvSpPr>
        <p:spPr>
          <a:xfrm>
            <a:off x="658368" y="4338828"/>
            <a:ext cx="228600" cy="228600"/>
          </a:xfrm>
          <a:prstGeom prst="ellipse">
            <a:avLst/>
          </a:prstGeom>
          <a:solidFill>
            <a:srgbClr val="B4233F"/>
          </a:solidFill>
          <a:ln/>
        </p:spPr>
      </p:sp>
      <p:sp>
        <p:nvSpPr>
          <p:cNvPr id="60" name="Text 57"/>
          <p:cNvSpPr txBox="1"/>
          <p:nvPr/>
        </p:nvSpPr>
        <p:spPr>
          <a:xfrm>
            <a:off x="658368" y="4338828"/>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
        <p:nvSpPr>
          <p:cNvPr id="61" name="Text 58"/>
          <p:cNvSpPr txBox="1"/>
          <p:nvPr/>
        </p:nvSpPr>
        <p:spPr>
          <a:xfrm>
            <a:off x="1005840" y="4288536"/>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Case closed</a:t>
            </a:r>
            <a:endParaRPr lang="en-US" sz="1200" dirty="0"/>
          </a:p>
        </p:txBody>
      </p:sp>
      <p:sp>
        <p:nvSpPr>
          <p:cNvPr id="62" name="Text 59"/>
          <p:cNvSpPr txBox="1"/>
          <p:nvPr/>
        </p:nvSpPr>
        <p:spPr>
          <a:xfrm>
            <a:off x="3200400" y="4288536"/>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attacker IP as M5; Accepted line field 6 = user;  filetype homes/&lt;user&gt;/*;  zcat &lt;file&gt; | base64 -d</a:t>
            </a:r>
            <a:endParaRPr lang="en-US" sz="950" dirty="0"/>
          </a:p>
        </p:txBody>
      </p:sp>
      <p:sp>
        <p:nvSpPr>
          <p:cNvPr id="63" name="Text 60"/>
          <p:cNvSpPr txBox="1"/>
          <p:nvPr/>
        </p:nvSpPr>
        <p:spPr>
          <a:xfrm>
            <a:off x="10241280" y="4288536"/>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Very Hard · 800</a:t>
            </a:r>
            <a:endParaRPr lang="en-US" sz="1100" dirty="0"/>
          </a:p>
        </p:txBody>
      </p:sp>
      <p:sp>
        <p:nvSpPr>
          <p:cNvPr id="64" name="Shape 61"/>
          <p:cNvSpPr/>
          <p:nvPr/>
        </p:nvSpPr>
        <p:spPr>
          <a:xfrm>
            <a:off x="548640" y="4617720"/>
            <a:ext cx="11094415" cy="329184"/>
          </a:xfrm>
          <a:prstGeom prst="rect">
            <a:avLst/>
          </a:prstGeom>
          <a:solidFill>
            <a:srgbClr val="F1F5FB"/>
          </a:solidFill>
          <a:ln/>
        </p:spPr>
      </p:sp>
      <p:sp>
        <p:nvSpPr>
          <p:cNvPr id="65" name="Shape 62"/>
          <p:cNvSpPr/>
          <p:nvPr/>
        </p:nvSpPr>
        <p:spPr>
          <a:xfrm>
            <a:off x="658368" y="4668012"/>
            <a:ext cx="228600" cy="228600"/>
          </a:xfrm>
          <a:prstGeom prst="ellipse">
            <a:avLst/>
          </a:prstGeom>
          <a:solidFill>
            <a:srgbClr val="56657E"/>
          </a:solidFill>
          <a:ln/>
        </p:spPr>
      </p:sp>
      <p:sp>
        <p:nvSpPr>
          <p:cNvPr id="66" name="Text 63"/>
          <p:cNvSpPr txBox="1"/>
          <p:nvPr/>
        </p:nvSpPr>
        <p:spPr>
          <a:xfrm>
            <a:off x="658368" y="4668012"/>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67" name="Text 64"/>
          <p:cNvSpPr txBox="1"/>
          <p:nvPr/>
        </p:nvSpPr>
        <p:spPr>
          <a:xfrm>
            <a:off x="1005840" y="4617720"/>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Who did they try?</a:t>
            </a:r>
            <a:endParaRPr lang="en-US" sz="1200" dirty="0"/>
          </a:p>
        </p:txBody>
      </p:sp>
      <p:sp>
        <p:nvSpPr>
          <p:cNvPr id="68" name="Text 65"/>
          <p:cNvSpPr txBox="1"/>
          <p:nvPr/>
        </p:nvSpPr>
        <p:spPr>
          <a:xfrm>
            <a:off x="3200400" y="4617720"/>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grep &lt;IP&gt; ~/mission5/auth.log | cut -d' ' -f6 | sort | uniq -c</a:t>
            </a:r>
            <a:endParaRPr lang="en-US" sz="950" dirty="0"/>
          </a:p>
        </p:txBody>
      </p:sp>
      <p:sp>
        <p:nvSpPr>
          <p:cNvPr id="69" name="Text 66"/>
          <p:cNvSpPr txBox="1"/>
          <p:nvPr/>
        </p:nvSpPr>
        <p:spPr>
          <a:xfrm>
            <a:off x="10241280" y="4617720"/>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
        <p:nvSpPr>
          <p:cNvPr id="70" name="Shape 67"/>
          <p:cNvSpPr/>
          <p:nvPr/>
        </p:nvSpPr>
        <p:spPr>
          <a:xfrm>
            <a:off x="548640" y="4946904"/>
            <a:ext cx="11094415" cy="329184"/>
          </a:xfrm>
          <a:prstGeom prst="rect">
            <a:avLst/>
          </a:prstGeom>
          <a:solidFill>
            <a:srgbClr val="FFFFFF"/>
          </a:solidFill>
          <a:ln/>
        </p:spPr>
      </p:sp>
      <p:sp>
        <p:nvSpPr>
          <p:cNvPr id="71" name="Shape 68"/>
          <p:cNvSpPr/>
          <p:nvPr/>
        </p:nvSpPr>
        <p:spPr>
          <a:xfrm>
            <a:off x="658368" y="4997196"/>
            <a:ext cx="228600" cy="228600"/>
          </a:xfrm>
          <a:prstGeom prst="ellipse">
            <a:avLst/>
          </a:prstGeom>
          <a:solidFill>
            <a:srgbClr val="56657E"/>
          </a:solidFill>
          <a:ln/>
        </p:spPr>
      </p:sp>
      <p:sp>
        <p:nvSpPr>
          <p:cNvPr id="72" name="Text 69"/>
          <p:cNvSpPr txBox="1"/>
          <p:nvPr/>
        </p:nvSpPr>
        <p:spPr>
          <a:xfrm>
            <a:off x="658368" y="4997196"/>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73" name="Text 70"/>
          <p:cNvSpPr txBox="1"/>
          <p:nvPr/>
        </p:nvSpPr>
        <p:spPr>
          <a:xfrm>
            <a:off x="1005840" y="4946904"/>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Cron decoder</a:t>
            </a:r>
            <a:endParaRPr lang="en-US" sz="1200" dirty="0"/>
          </a:p>
        </p:txBody>
      </p:sp>
      <p:sp>
        <p:nvSpPr>
          <p:cNvPr id="74" name="Text 71"/>
          <p:cNvSpPr txBox="1"/>
          <p:nvPr/>
        </p:nvSpPr>
        <p:spPr>
          <a:xfrm>
            <a:off x="3200400" y="4946904"/>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0 2 * * * = 02:00 daily;  30 3 * * 0 = 03:30 Sundays</a:t>
            </a:r>
            <a:endParaRPr lang="en-US" sz="950" dirty="0"/>
          </a:p>
        </p:txBody>
      </p:sp>
      <p:sp>
        <p:nvSpPr>
          <p:cNvPr id="75" name="Text 72"/>
          <p:cNvSpPr txBox="1"/>
          <p:nvPr/>
        </p:nvSpPr>
        <p:spPr>
          <a:xfrm>
            <a:off x="10241280" y="4946904"/>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
        <p:nvSpPr>
          <p:cNvPr id="76" name="Text 7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42 / 60</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when things go wrong</a:t>
            </a:r>
            <a:endParaRPr lang="en-US" sz="3200" dirty="0"/>
          </a:p>
        </p:txBody>
      </p:sp>
      <p:sp>
        <p:nvSpPr>
          <p:cNvPr id="4" name="Shape 1"/>
          <p:cNvSpPr/>
          <p:nvPr/>
        </p:nvSpPr>
        <p:spPr>
          <a:xfrm>
            <a:off x="548640" y="1463040"/>
            <a:ext cx="5449824" cy="1005840"/>
          </a:xfrm>
          <a:prstGeom prst="roundRect">
            <a:avLst>
              <a:gd name="adj" fmla="val 9091"/>
            </a:avLst>
          </a:prstGeom>
          <a:solidFill>
            <a:srgbClr val="F1F5FB"/>
          </a:solidFill>
          <a:ln/>
        </p:spPr>
      </p:sp>
      <p:sp>
        <p:nvSpPr>
          <p:cNvPr id="5" name="Text 2"/>
          <p:cNvSpPr txBox="1"/>
          <p:nvPr/>
        </p:nvSpPr>
        <p:spPr>
          <a:xfrm>
            <a:off x="777240" y="1554480"/>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The terminal filled with garbage</a:t>
            </a:r>
            <a:endParaRPr lang="en-US" sz="1450" dirty="0"/>
          </a:p>
        </p:txBody>
      </p:sp>
      <p:sp>
        <p:nvSpPr>
          <p:cNvPr id="6" name="Text 3"/>
          <p:cNvSpPr txBox="1"/>
          <p:nvPr/>
        </p:nvSpPr>
        <p:spPr>
          <a:xfrm>
            <a:off x="777240" y="1874520"/>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Someone ran cat on a binary file. Type reset (or clear), then use strings instead.</a:t>
            </a:r>
            <a:endParaRPr lang="en-US" sz="1250" dirty="0"/>
          </a:p>
        </p:txBody>
      </p:sp>
      <p:sp>
        <p:nvSpPr>
          <p:cNvPr id="7" name="Shape 4"/>
          <p:cNvSpPr/>
          <p:nvPr/>
        </p:nvSpPr>
        <p:spPr>
          <a:xfrm>
            <a:off x="6190488" y="1463040"/>
            <a:ext cx="5449824" cy="1005840"/>
          </a:xfrm>
          <a:prstGeom prst="roundRect">
            <a:avLst>
              <a:gd name="adj" fmla="val 9091"/>
            </a:avLst>
          </a:prstGeom>
          <a:solidFill>
            <a:srgbClr val="F1F5FB"/>
          </a:solidFill>
          <a:ln/>
        </p:spPr>
      </p:sp>
      <p:sp>
        <p:nvSpPr>
          <p:cNvPr id="8" name="Text 5"/>
          <p:cNvSpPr txBox="1"/>
          <p:nvPr/>
        </p:nvSpPr>
        <p:spPr>
          <a:xfrm>
            <a:off x="6419088" y="1554480"/>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tar: can't open / invalid magic</a:t>
            </a:r>
            <a:endParaRPr lang="en-US" sz="1450" dirty="0"/>
          </a:p>
        </p:txBody>
      </p:sp>
      <p:sp>
        <p:nvSpPr>
          <p:cNvPr id="9" name="Text 6"/>
          <p:cNvSpPr txBox="1"/>
          <p:nvPr/>
        </p:nvSpPr>
        <p:spPr>
          <a:xfrm>
            <a:off x="6419088" y="1874520"/>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Check the name with ls, and the type with filetype. A plain tar needs -xf; a .tar.gz needs -xzf.</a:t>
            </a:r>
            <a:endParaRPr lang="en-US" sz="1250" dirty="0"/>
          </a:p>
        </p:txBody>
      </p:sp>
      <p:sp>
        <p:nvSpPr>
          <p:cNvPr id="10" name="Shape 7"/>
          <p:cNvSpPr/>
          <p:nvPr/>
        </p:nvSpPr>
        <p:spPr>
          <a:xfrm>
            <a:off x="548640" y="2596896"/>
            <a:ext cx="5449824" cy="1005840"/>
          </a:xfrm>
          <a:prstGeom prst="roundRect">
            <a:avLst>
              <a:gd name="adj" fmla="val 9091"/>
            </a:avLst>
          </a:prstGeom>
          <a:solidFill>
            <a:srgbClr val="F1F5FB"/>
          </a:solidFill>
          <a:ln/>
        </p:spPr>
      </p:sp>
      <p:sp>
        <p:nvSpPr>
          <p:cNvPr id="11" name="Text 8"/>
          <p:cNvSpPr txBox="1"/>
          <p:nvPr/>
        </p:nvSpPr>
        <p:spPr>
          <a:xfrm>
            <a:off x="777240" y="2688336"/>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zcat: invalid magic</a:t>
            </a:r>
            <a:endParaRPr lang="en-US" sz="1450" dirty="0"/>
          </a:p>
        </p:txBody>
      </p:sp>
      <p:sp>
        <p:nvSpPr>
          <p:cNvPr id="12" name="Text 9"/>
          <p:cNvSpPr txBox="1"/>
          <p:nvPr/>
        </p:nvSpPr>
        <p:spPr>
          <a:xfrm>
            <a:off x="777240" y="3008376"/>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That file isn't gzip. Run filetype on it first.</a:t>
            </a:r>
            <a:endParaRPr lang="en-US" sz="1250" dirty="0"/>
          </a:p>
        </p:txBody>
      </p:sp>
      <p:sp>
        <p:nvSpPr>
          <p:cNvPr id="13" name="Shape 10"/>
          <p:cNvSpPr/>
          <p:nvPr/>
        </p:nvSpPr>
        <p:spPr>
          <a:xfrm>
            <a:off x="6190488" y="2596896"/>
            <a:ext cx="5449824" cy="1005840"/>
          </a:xfrm>
          <a:prstGeom prst="roundRect">
            <a:avLst>
              <a:gd name="adj" fmla="val 9091"/>
            </a:avLst>
          </a:prstGeom>
          <a:solidFill>
            <a:srgbClr val="F1F5FB"/>
          </a:solidFill>
          <a:ln/>
        </p:spPr>
      </p:sp>
      <p:sp>
        <p:nvSpPr>
          <p:cNvPr id="14" name="Text 11"/>
          <p:cNvSpPr txBox="1"/>
          <p:nvPr/>
        </p:nvSpPr>
        <p:spPr>
          <a:xfrm>
            <a:off x="6419088" y="2688336"/>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Mission 1: no file at that time</a:t>
            </a:r>
            <a:endParaRPr lang="en-US" sz="1450" dirty="0"/>
          </a:p>
        </p:txBody>
      </p:sp>
      <p:sp>
        <p:nvSpPr>
          <p:cNvPr id="15" name="Text 12"/>
          <p:cNvSpPr txBox="1"/>
          <p:nvPr/>
        </p:nvSpPr>
        <p:spPr>
          <a:xfrm>
            <a:off x="6419088" y="3008376"/>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Use the time on the first line of README.txt in mission1, and ls -l evidence (not ls).</a:t>
            </a:r>
            <a:endParaRPr lang="en-US" sz="1250" dirty="0"/>
          </a:p>
        </p:txBody>
      </p:sp>
      <p:sp>
        <p:nvSpPr>
          <p:cNvPr id="16" name="Shape 13"/>
          <p:cNvSpPr/>
          <p:nvPr/>
        </p:nvSpPr>
        <p:spPr>
          <a:xfrm>
            <a:off x="548640" y="3730752"/>
            <a:ext cx="5449824" cy="1005840"/>
          </a:xfrm>
          <a:prstGeom prst="roundRect">
            <a:avLst>
              <a:gd name="adj" fmla="val 9091"/>
            </a:avLst>
          </a:prstGeom>
          <a:solidFill>
            <a:srgbClr val="F1F5FB"/>
          </a:solidFill>
          <a:ln/>
        </p:spPr>
      </p:sp>
      <p:sp>
        <p:nvSpPr>
          <p:cNvPr id="17" name="Text 14"/>
          <p:cNvSpPr txBox="1"/>
          <p:nvPr/>
        </p:nvSpPr>
        <p:spPr>
          <a:xfrm>
            <a:off x="777240" y="3822192"/>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The cut pipeline prints nothing</a:t>
            </a:r>
            <a:endParaRPr lang="en-US" sz="1450" dirty="0"/>
          </a:p>
        </p:txBody>
      </p:sp>
      <p:sp>
        <p:nvSpPr>
          <p:cNvPr id="18" name="Text 15"/>
          <p:cNvSpPr txBox="1"/>
          <p:nvPr/>
        </p:nvSpPr>
        <p:spPr>
          <a:xfrm>
            <a:off x="777240" y="4142232"/>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Build it one step at a time. Quote the delimiter: cut -d' ' -f8 and cut -d'?' -f2.</a:t>
            </a:r>
            <a:endParaRPr lang="en-US" sz="1250" dirty="0"/>
          </a:p>
        </p:txBody>
      </p:sp>
      <p:sp>
        <p:nvSpPr>
          <p:cNvPr id="19" name="Shape 16"/>
          <p:cNvSpPr/>
          <p:nvPr/>
        </p:nvSpPr>
        <p:spPr>
          <a:xfrm>
            <a:off x="6190488" y="3730752"/>
            <a:ext cx="5449824" cy="1005840"/>
          </a:xfrm>
          <a:prstGeom prst="roundRect">
            <a:avLst>
              <a:gd name="adj" fmla="val 9091"/>
            </a:avLst>
          </a:prstGeom>
          <a:solidFill>
            <a:srgbClr val="F1F5FB"/>
          </a:solidFill>
          <a:ln/>
        </p:spPr>
      </p:sp>
      <p:sp>
        <p:nvSpPr>
          <p:cNvPr id="20" name="Text 17"/>
          <p:cNvSpPr txBox="1"/>
          <p:nvPr/>
        </p:nvSpPr>
        <p:spPr>
          <a:xfrm>
            <a:off x="6419088" y="3822192"/>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 doesn't work</a:t>
            </a:r>
            <a:endParaRPr lang="en-US" sz="1450" dirty="0"/>
          </a:p>
        </p:txBody>
      </p:sp>
      <p:sp>
        <p:nvSpPr>
          <p:cNvPr id="21" name="Text 18"/>
          <p:cNvSpPr txBox="1"/>
          <p:nvPr/>
        </p:nvSpPr>
        <p:spPr>
          <a:xfrm>
            <a:off x="6419088" y="4142232"/>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Lite mode has no $(...). Type the IP or file name by hand.</a:t>
            </a:r>
            <a:endParaRPr lang="en-US" sz="1250" dirty="0"/>
          </a:p>
        </p:txBody>
      </p:sp>
      <p:sp>
        <p:nvSpPr>
          <p:cNvPr id="22" name="Shape 19"/>
          <p:cNvSpPr/>
          <p:nvPr/>
        </p:nvSpPr>
        <p:spPr>
          <a:xfrm>
            <a:off x="548640" y="4864608"/>
            <a:ext cx="5449824" cy="1005840"/>
          </a:xfrm>
          <a:prstGeom prst="roundRect">
            <a:avLst>
              <a:gd name="adj" fmla="val 9091"/>
            </a:avLst>
          </a:prstGeom>
          <a:solidFill>
            <a:srgbClr val="F1F5FB"/>
          </a:solidFill>
          <a:ln/>
        </p:spPr>
      </p:sp>
      <p:sp>
        <p:nvSpPr>
          <p:cNvPr id="23" name="Text 20"/>
          <p:cNvSpPr txBox="1"/>
          <p:nvPr/>
        </p:nvSpPr>
        <p:spPr>
          <a:xfrm>
            <a:off x="777240" y="4956048"/>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"Incorrect flag"</a:t>
            </a:r>
            <a:endParaRPr lang="en-US" sz="1450" dirty="0"/>
          </a:p>
        </p:txBody>
      </p:sp>
      <p:sp>
        <p:nvSpPr>
          <p:cNvPr id="24" name="Text 21"/>
          <p:cNvSpPr txBox="1"/>
          <p:nvPr/>
        </p:nvSpPr>
        <p:spPr>
          <a:xfrm>
            <a:off x="777240" y="5276088"/>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Copy the whole flag, CYBA{ to }. Decoy flags exist: Missions 1, 5 and 7 need the right one.</a:t>
            </a:r>
            <a:endParaRPr lang="en-US" sz="1250" dirty="0"/>
          </a:p>
        </p:txBody>
      </p:sp>
      <p:sp>
        <p:nvSpPr>
          <p:cNvPr id="25" name="Shape 22"/>
          <p:cNvSpPr/>
          <p:nvPr/>
        </p:nvSpPr>
        <p:spPr>
          <a:xfrm>
            <a:off x="6190488" y="4864608"/>
            <a:ext cx="5449824" cy="1005840"/>
          </a:xfrm>
          <a:prstGeom prst="roundRect">
            <a:avLst>
              <a:gd name="adj" fmla="val 9091"/>
            </a:avLst>
          </a:prstGeom>
          <a:solidFill>
            <a:srgbClr val="F1F5FB"/>
          </a:solidFill>
          <a:ln/>
        </p:spPr>
      </p:sp>
      <p:sp>
        <p:nvSpPr>
          <p:cNvPr id="26" name="Text 23"/>
          <p:cNvSpPr txBox="1"/>
          <p:nvPr/>
        </p:nvSpPr>
        <p:spPr>
          <a:xfrm>
            <a:off x="6419088" y="4956048"/>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Page was reloaded by accident</a:t>
            </a:r>
            <a:endParaRPr lang="en-US" sz="1450" dirty="0"/>
          </a:p>
        </p:txBody>
      </p:sp>
      <p:sp>
        <p:nvSpPr>
          <p:cNvPr id="27" name="Text 24"/>
          <p:cNvSpPr txBox="1"/>
          <p:nvPr/>
        </p:nvSpPr>
        <p:spPr>
          <a:xfrm>
            <a:off x="6419088" y="5276088"/>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New evidence, new flags; points and clock reset. The second run is fast.</a:t>
            </a:r>
            <a:endParaRPr lang="en-US" sz="1250" dirty="0"/>
          </a:p>
        </p:txBody>
      </p:sp>
      <p:sp>
        <p:nvSpPr>
          <p:cNvPr id="28" name="Text 25"/>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43 / 60</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Mission bank: missions 3-10</a:t>
            </a:r>
            <a:endParaRPr lang="en-US" sz="3200" dirty="0"/>
          </a:p>
        </p:txBody>
      </p:sp>
      <p:sp>
        <p:nvSpPr>
          <p:cNvPr id="4" name="Text 1"/>
          <p:cNvSpPr txBox="1"/>
          <p:nvPr/>
        </p:nvSpPr>
        <p:spPr>
          <a:xfrm>
            <a:off x="548640" y="1828800"/>
            <a:ext cx="11094415" cy="548640"/>
          </a:xfrm>
          <a:prstGeom prst="rect">
            <a:avLst/>
          </a:prstGeom>
          <a:noFill/>
          <a:ln/>
        </p:spPr>
        <p:txBody>
          <a:bodyPr wrap="square" lIns="0" tIns="0" rIns="0" bIns="0" rtlCol="0" anchor="t"/>
          <a:lstStyle/>
          <a:p>
            <a:pPr indent="0" marL="0">
              <a:buNone/>
            </a:pPr>
            <a:r>
              <a:rPr lang="en-US" sz="1800" dirty="0">
                <a:solidFill>
                  <a:srgbClr val="56657E"/>
                </a:solidFill>
                <a:latin typeface="Calibri" pitchFamily="34" charset="0"/>
                <a:ea typeface="Calibri" pitchFamily="34" charset="-122"/>
                <a:cs typeface="Calibri" pitchFamily="34" charset="-120"/>
              </a:rPr>
              <a:t>Each has a brief (clue + questions) and a walkthrough (one path). Pull up whatever a student needs.</a:t>
            </a:r>
            <a:endParaRPr lang="en-US" sz="1800" dirty="0"/>
          </a:p>
        </p:txBody>
      </p:sp>
      <p:sp>
        <p:nvSpPr>
          <p:cNvPr id="5" name="Shape 2"/>
          <p:cNvSpPr/>
          <p:nvPr/>
        </p:nvSpPr>
        <p:spPr>
          <a:xfrm>
            <a:off x="548640" y="2651760"/>
            <a:ext cx="2606040" cy="1371600"/>
          </a:xfrm>
          <a:prstGeom prst="roundRect">
            <a:avLst>
              <a:gd name="adj" fmla="val 6667"/>
            </a:avLst>
          </a:prstGeom>
          <a:solidFill>
            <a:srgbClr val="F1F5FB"/>
          </a:solidFill>
          <a:ln/>
        </p:spPr>
      </p:sp>
      <p:sp>
        <p:nvSpPr>
          <p:cNvPr id="6" name="Shape 3"/>
          <p:cNvSpPr/>
          <p:nvPr/>
        </p:nvSpPr>
        <p:spPr>
          <a:xfrm>
            <a:off x="777240" y="2880360"/>
            <a:ext cx="457200" cy="457200"/>
          </a:xfrm>
          <a:prstGeom prst="ellipse">
            <a:avLst/>
          </a:prstGeom>
          <a:solidFill>
            <a:srgbClr val="2459D8"/>
          </a:solidFill>
          <a:ln/>
        </p:spPr>
      </p:sp>
      <p:sp>
        <p:nvSpPr>
          <p:cNvPr id="7" name="Text 4"/>
          <p:cNvSpPr txBox="1"/>
          <p:nvPr/>
        </p:nvSpPr>
        <p:spPr>
          <a:xfrm>
            <a:off x="777240"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8" name="Text 5"/>
          <p:cNvSpPr txBox="1"/>
          <p:nvPr/>
        </p:nvSpPr>
        <p:spPr>
          <a:xfrm>
            <a:off x="1371600"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Wrong label</a:t>
            </a:r>
            <a:endParaRPr lang="en-US" sz="1400" dirty="0"/>
          </a:p>
        </p:txBody>
      </p:sp>
      <p:sp>
        <p:nvSpPr>
          <p:cNvPr id="9" name="Shape 6"/>
          <p:cNvSpPr/>
          <p:nvPr/>
        </p:nvSpPr>
        <p:spPr>
          <a:xfrm>
            <a:off x="777240" y="3474720"/>
            <a:ext cx="1600200" cy="347472"/>
          </a:xfrm>
          <a:prstGeom prst="roundRect">
            <a:avLst>
              <a:gd name="adj" fmla="val 50000"/>
            </a:avLst>
          </a:prstGeom>
          <a:solidFill>
            <a:srgbClr val="E2F5EC"/>
          </a:solidFill>
          <a:ln/>
        </p:spPr>
      </p:sp>
      <p:sp>
        <p:nvSpPr>
          <p:cNvPr id="10" name="Text 7"/>
          <p:cNvSpPr txBox="1"/>
          <p:nvPr/>
        </p:nvSpPr>
        <p:spPr>
          <a:xfrm>
            <a:off x="777240" y="3474720"/>
            <a:ext cx="1600200" cy="347472"/>
          </a:xfrm>
          <a:prstGeom prst="rect">
            <a:avLst/>
          </a:prstGeom>
          <a:noFill/>
          <a:ln/>
        </p:spPr>
        <p:txBody>
          <a:bodyPr wrap="square" lIns="0" tIns="0" rIns="0" bIns="0" rtlCol="0" anchor="ctr"/>
          <a:lstStyle/>
          <a:p>
            <a:pPr algn="ctr" indent="0" marL="0">
              <a:buNone/>
            </a:pPr>
            <a:r>
              <a:rPr lang="en-US" sz="950" b="1" dirty="0">
                <a:solidFill>
                  <a:srgbClr val="12704B"/>
                </a:solidFill>
                <a:latin typeface="Calibri" pitchFamily="34" charset="0"/>
                <a:ea typeface="Calibri" pitchFamily="34" charset="-122"/>
                <a:cs typeface="Calibri" pitchFamily="34" charset="-120"/>
              </a:rPr>
              <a:t>EASY  ·  100</a:t>
            </a:r>
            <a:endParaRPr lang="en-US" sz="950" dirty="0"/>
          </a:p>
        </p:txBody>
      </p:sp>
      <p:sp>
        <p:nvSpPr>
          <p:cNvPr id="11" name="Text 8"/>
          <p:cNvSpPr txBox="1"/>
          <p:nvPr/>
        </p:nvSpPr>
        <p:spPr>
          <a:xfrm>
            <a:off x="2423160"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filetype  zcat</a:t>
            </a:r>
            <a:endParaRPr lang="en-US" sz="900" dirty="0"/>
          </a:p>
        </p:txBody>
      </p:sp>
      <p:sp>
        <p:nvSpPr>
          <p:cNvPr id="12" name="Shape 9"/>
          <p:cNvSpPr/>
          <p:nvPr/>
        </p:nvSpPr>
        <p:spPr>
          <a:xfrm>
            <a:off x="3364992" y="2651760"/>
            <a:ext cx="2606040" cy="1371600"/>
          </a:xfrm>
          <a:prstGeom prst="roundRect">
            <a:avLst>
              <a:gd name="adj" fmla="val 6667"/>
            </a:avLst>
          </a:prstGeom>
          <a:solidFill>
            <a:srgbClr val="F1F5FB"/>
          </a:solidFill>
          <a:ln/>
        </p:spPr>
      </p:sp>
      <p:sp>
        <p:nvSpPr>
          <p:cNvPr id="13" name="Shape 10"/>
          <p:cNvSpPr/>
          <p:nvPr/>
        </p:nvSpPr>
        <p:spPr>
          <a:xfrm>
            <a:off x="3593592" y="2880360"/>
            <a:ext cx="457200" cy="457200"/>
          </a:xfrm>
          <a:prstGeom prst="ellipse">
            <a:avLst/>
          </a:prstGeom>
          <a:solidFill>
            <a:srgbClr val="7448D4"/>
          </a:solidFill>
          <a:ln/>
        </p:spPr>
      </p:sp>
      <p:sp>
        <p:nvSpPr>
          <p:cNvPr id="14" name="Text 11"/>
          <p:cNvSpPr txBox="1"/>
          <p:nvPr/>
        </p:nvSpPr>
        <p:spPr>
          <a:xfrm>
            <a:off x="3593592"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5" name="Text 12"/>
          <p:cNvSpPr txBox="1"/>
          <p:nvPr/>
        </p:nvSpPr>
        <p:spPr>
          <a:xfrm>
            <a:off x="4187952"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Russian dolls</a:t>
            </a:r>
            <a:endParaRPr lang="en-US" sz="1400" dirty="0"/>
          </a:p>
        </p:txBody>
      </p:sp>
      <p:sp>
        <p:nvSpPr>
          <p:cNvPr id="16" name="Shape 13"/>
          <p:cNvSpPr/>
          <p:nvPr/>
        </p:nvSpPr>
        <p:spPr>
          <a:xfrm>
            <a:off x="3593592" y="3474720"/>
            <a:ext cx="1600200" cy="347472"/>
          </a:xfrm>
          <a:prstGeom prst="roundRect">
            <a:avLst>
              <a:gd name="adj" fmla="val 50000"/>
            </a:avLst>
          </a:prstGeom>
          <a:solidFill>
            <a:srgbClr val="FFF4DE"/>
          </a:solidFill>
          <a:ln/>
        </p:spPr>
      </p:sp>
      <p:sp>
        <p:nvSpPr>
          <p:cNvPr id="17" name="Text 14"/>
          <p:cNvSpPr txBox="1"/>
          <p:nvPr/>
        </p:nvSpPr>
        <p:spPr>
          <a:xfrm>
            <a:off x="3593592" y="34747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18" name="Text 15"/>
          <p:cNvSpPr txBox="1"/>
          <p:nvPr/>
        </p:nvSpPr>
        <p:spPr>
          <a:xfrm>
            <a:off x="5239512"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tar  filetype  zcat</a:t>
            </a:r>
            <a:endParaRPr lang="en-US" sz="900" dirty="0"/>
          </a:p>
        </p:txBody>
      </p:sp>
      <p:sp>
        <p:nvSpPr>
          <p:cNvPr id="19" name="Shape 16"/>
          <p:cNvSpPr/>
          <p:nvPr/>
        </p:nvSpPr>
        <p:spPr>
          <a:xfrm>
            <a:off x="6181344" y="2651760"/>
            <a:ext cx="2606040" cy="1371600"/>
          </a:xfrm>
          <a:prstGeom prst="roundRect">
            <a:avLst>
              <a:gd name="adj" fmla="val 6667"/>
            </a:avLst>
          </a:prstGeom>
          <a:solidFill>
            <a:srgbClr val="F1F5FB"/>
          </a:solidFill>
          <a:ln/>
        </p:spPr>
      </p:sp>
      <p:sp>
        <p:nvSpPr>
          <p:cNvPr id="20" name="Shape 17"/>
          <p:cNvSpPr/>
          <p:nvPr/>
        </p:nvSpPr>
        <p:spPr>
          <a:xfrm>
            <a:off x="6409944" y="2880360"/>
            <a:ext cx="457200" cy="457200"/>
          </a:xfrm>
          <a:prstGeom prst="ellipse">
            <a:avLst/>
          </a:prstGeom>
          <a:solidFill>
            <a:srgbClr val="D1416B"/>
          </a:solidFill>
          <a:ln/>
        </p:spPr>
      </p:sp>
      <p:sp>
        <p:nvSpPr>
          <p:cNvPr id="21" name="Text 18"/>
          <p:cNvSpPr txBox="1"/>
          <p:nvPr/>
        </p:nvSpPr>
        <p:spPr>
          <a:xfrm>
            <a:off x="6409944"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2" name="Text 19"/>
          <p:cNvSpPr txBox="1"/>
          <p:nvPr/>
        </p:nvSpPr>
        <p:spPr>
          <a:xfrm>
            <a:off x="7004304"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Log detective</a:t>
            </a:r>
            <a:endParaRPr lang="en-US" sz="1400" dirty="0"/>
          </a:p>
        </p:txBody>
      </p:sp>
      <p:sp>
        <p:nvSpPr>
          <p:cNvPr id="23" name="Shape 20"/>
          <p:cNvSpPr/>
          <p:nvPr/>
        </p:nvSpPr>
        <p:spPr>
          <a:xfrm>
            <a:off x="6409944" y="3474720"/>
            <a:ext cx="1600200" cy="347472"/>
          </a:xfrm>
          <a:prstGeom prst="roundRect">
            <a:avLst>
              <a:gd name="adj" fmla="val 50000"/>
            </a:avLst>
          </a:prstGeom>
          <a:solidFill>
            <a:srgbClr val="FFF4DE"/>
          </a:solidFill>
          <a:ln/>
        </p:spPr>
      </p:sp>
      <p:sp>
        <p:nvSpPr>
          <p:cNvPr id="24" name="Text 21"/>
          <p:cNvSpPr txBox="1"/>
          <p:nvPr/>
        </p:nvSpPr>
        <p:spPr>
          <a:xfrm>
            <a:off x="6409944" y="34747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25" name="Text 22"/>
          <p:cNvSpPr txBox="1"/>
          <p:nvPr/>
        </p:nvSpPr>
        <p:spPr>
          <a:xfrm>
            <a:off x="8055864"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grep  cut  sort  uniq -c</a:t>
            </a:r>
            <a:endParaRPr lang="en-US" sz="900" dirty="0"/>
          </a:p>
        </p:txBody>
      </p:sp>
      <p:sp>
        <p:nvSpPr>
          <p:cNvPr id="26" name="Shape 23"/>
          <p:cNvSpPr/>
          <p:nvPr/>
        </p:nvSpPr>
        <p:spPr>
          <a:xfrm>
            <a:off x="8997696" y="2651760"/>
            <a:ext cx="2606040" cy="1371600"/>
          </a:xfrm>
          <a:prstGeom prst="roundRect">
            <a:avLst>
              <a:gd name="adj" fmla="val 6667"/>
            </a:avLst>
          </a:prstGeom>
          <a:solidFill>
            <a:srgbClr val="F1F5FB"/>
          </a:solidFill>
          <a:ln/>
        </p:spPr>
      </p:sp>
      <p:sp>
        <p:nvSpPr>
          <p:cNvPr id="27" name="Shape 24"/>
          <p:cNvSpPr/>
          <p:nvPr/>
        </p:nvSpPr>
        <p:spPr>
          <a:xfrm>
            <a:off x="9226296" y="2880360"/>
            <a:ext cx="457200" cy="457200"/>
          </a:xfrm>
          <a:prstGeom prst="ellipse">
            <a:avLst/>
          </a:prstGeom>
          <a:solidFill>
            <a:srgbClr val="E8820C"/>
          </a:solidFill>
          <a:ln/>
        </p:spPr>
      </p:sp>
      <p:sp>
        <p:nvSpPr>
          <p:cNvPr id="28" name="Text 25"/>
          <p:cNvSpPr txBox="1"/>
          <p:nvPr/>
        </p:nvSpPr>
        <p:spPr>
          <a:xfrm>
            <a:off x="9226296"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9" name="Text 26"/>
          <p:cNvSpPr txBox="1"/>
          <p:nvPr/>
        </p:nvSpPr>
        <p:spPr>
          <a:xfrm>
            <a:off x="9820656"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Hidden tail</a:t>
            </a:r>
            <a:endParaRPr lang="en-US" sz="1400" dirty="0"/>
          </a:p>
        </p:txBody>
      </p:sp>
      <p:sp>
        <p:nvSpPr>
          <p:cNvPr id="30" name="Shape 27"/>
          <p:cNvSpPr/>
          <p:nvPr/>
        </p:nvSpPr>
        <p:spPr>
          <a:xfrm>
            <a:off x="9226296" y="3474720"/>
            <a:ext cx="1600200" cy="347472"/>
          </a:xfrm>
          <a:prstGeom prst="roundRect">
            <a:avLst>
              <a:gd name="adj" fmla="val 50000"/>
            </a:avLst>
          </a:prstGeom>
          <a:solidFill>
            <a:srgbClr val="FFF4DE"/>
          </a:solidFill>
          <a:ln/>
        </p:spPr>
      </p:sp>
      <p:sp>
        <p:nvSpPr>
          <p:cNvPr id="31" name="Text 28"/>
          <p:cNvSpPr txBox="1"/>
          <p:nvPr/>
        </p:nvSpPr>
        <p:spPr>
          <a:xfrm>
            <a:off x="9226296" y="34747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32" name="Text 29"/>
          <p:cNvSpPr txBox="1"/>
          <p:nvPr/>
        </p:nvSpPr>
        <p:spPr>
          <a:xfrm>
            <a:off x="10872216"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strings  tail  base64 -d</a:t>
            </a:r>
            <a:endParaRPr lang="en-US" sz="900" dirty="0"/>
          </a:p>
        </p:txBody>
      </p:sp>
      <p:sp>
        <p:nvSpPr>
          <p:cNvPr id="33" name="Shape 30"/>
          <p:cNvSpPr/>
          <p:nvPr/>
        </p:nvSpPr>
        <p:spPr>
          <a:xfrm>
            <a:off x="548640" y="4251960"/>
            <a:ext cx="2606040" cy="1371600"/>
          </a:xfrm>
          <a:prstGeom prst="roundRect">
            <a:avLst>
              <a:gd name="adj" fmla="val 6667"/>
            </a:avLst>
          </a:prstGeom>
          <a:solidFill>
            <a:srgbClr val="F1F5FB"/>
          </a:solidFill>
          <a:ln/>
        </p:spPr>
      </p:sp>
      <p:sp>
        <p:nvSpPr>
          <p:cNvPr id="34" name="Shape 31"/>
          <p:cNvSpPr/>
          <p:nvPr/>
        </p:nvSpPr>
        <p:spPr>
          <a:xfrm>
            <a:off x="777240" y="4480560"/>
            <a:ext cx="457200" cy="457200"/>
          </a:xfrm>
          <a:prstGeom prst="ellipse">
            <a:avLst/>
          </a:prstGeom>
          <a:solidFill>
            <a:srgbClr val="C9A227"/>
          </a:solidFill>
          <a:ln/>
        </p:spPr>
      </p:sp>
      <p:sp>
        <p:nvSpPr>
          <p:cNvPr id="35" name="Text 32"/>
          <p:cNvSpPr txBox="1"/>
          <p:nvPr/>
        </p:nvSpPr>
        <p:spPr>
          <a:xfrm>
            <a:off x="777240"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36" name="Text 33"/>
          <p:cNvSpPr txBox="1"/>
          <p:nvPr/>
        </p:nvSpPr>
        <p:spPr>
          <a:xfrm>
            <a:off x="1371600"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Tampered</a:t>
            </a:r>
            <a:endParaRPr lang="en-US" sz="1400" dirty="0"/>
          </a:p>
        </p:txBody>
      </p:sp>
      <p:sp>
        <p:nvSpPr>
          <p:cNvPr id="37" name="Shape 34"/>
          <p:cNvSpPr/>
          <p:nvPr/>
        </p:nvSpPr>
        <p:spPr>
          <a:xfrm>
            <a:off x="777240" y="5074920"/>
            <a:ext cx="1600200" cy="347472"/>
          </a:xfrm>
          <a:prstGeom prst="roundRect">
            <a:avLst>
              <a:gd name="adj" fmla="val 50000"/>
            </a:avLst>
          </a:prstGeom>
          <a:solidFill>
            <a:srgbClr val="FFF4DE"/>
          </a:solidFill>
          <a:ln/>
        </p:spPr>
      </p:sp>
      <p:sp>
        <p:nvSpPr>
          <p:cNvPr id="38" name="Text 35"/>
          <p:cNvSpPr txBox="1"/>
          <p:nvPr/>
        </p:nvSpPr>
        <p:spPr>
          <a:xfrm>
            <a:off x="777240" y="50749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39" name="Text 36"/>
          <p:cNvSpPr txBox="1"/>
          <p:nvPr/>
        </p:nvSpPr>
        <p:spPr>
          <a:xfrm>
            <a:off x="2423160"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sha256sum -c  strings</a:t>
            </a:r>
            <a:endParaRPr lang="en-US" sz="900" dirty="0"/>
          </a:p>
        </p:txBody>
      </p:sp>
      <p:sp>
        <p:nvSpPr>
          <p:cNvPr id="40" name="Shape 37"/>
          <p:cNvSpPr/>
          <p:nvPr/>
        </p:nvSpPr>
        <p:spPr>
          <a:xfrm>
            <a:off x="3364992" y="4251960"/>
            <a:ext cx="2606040" cy="1371600"/>
          </a:xfrm>
          <a:prstGeom prst="roundRect">
            <a:avLst>
              <a:gd name="adj" fmla="val 6667"/>
            </a:avLst>
          </a:prstGeom>
          <a:solidFill>
            <a:srgbClr val="F1F5FB"/>
          </a:solidFill>
          <a:ln/>
        </p:spPr>
      </p:sp>
      <p:sp>
        <p:nvSpPr>
          <p:cNvPr id="41" name="Shape 38"/>
          <p:cNvSpPr/>
          <p:nvPr/>
        </p:nvSpPr>
        <p:spPr>
          <a:xfrm>
            <a:off x="3593592" y="4480560"/>
            <a:ext cx="457200" cy="457200"/>
          </a:xfrm>
          <a:prstGeom prst="ellipse">
            <a:avLst/>
          </a:prstGeom>
          <a:solidFill>
            <a:srgbClr val="0F9488"/>
          </a:solidFill>
          <a:ln/>
        </p:spPr>
      </p:sp>
      <p:sp>
        <p:nvSpPr>
          <p:cNvPr id="42" name="Text 39"/>
          <p:cNvSpPr txBox="1"/>
          <p:nvPr/>
        </p:nvSpPr>
        <p:spPr>
          <a:xfrm>
            <a:off x="3593592"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8</a:t>
            </a:r>
            <a:endParaRPr lang="en-US" sz="1500" dirty="0"/>
          </a:p>
        </p:txBody>
      </p:sp>
      <p:sp>
        <p:nvSpPr>
          <p:cNvPr id="43" name="Text 40"/>
          <p:cNvSpPr txBox="1"/>
          <p:nvPr/>
        </p:nvSpPr>
        <p:spPr>
          <a:xfrm>
            <a:off x="4187952"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Persistence</a:t>
            </a:r>
            <a:endParaRPr lang="en-US" sz="1400" dirty="0"/>
          </a:p>
        </p:txBody>
      </p:sp>
      <p:sp>
        <p:nvSpPr>
          <p:cNvPr id="44" name="Shape 41"/>
          <p:cNvSpPr/>
          <p:nvPr/>
        </p:nvSpPr>
        <p:spPr>
          <a:xfrm>
            <a:off x="3593592" y="5074920"/>
            <a:ext cx="1600200" cy="347472"/>
          </a:xfrm>
          <a:prstGeom prst="roundRect">
            <a:avLst>
              <a:gd name="adj" fmla="val 50000"/>
            </a:avLst>
          </a:prstGeom>
          <a:solidFill>
            <a:srgbClr val="FDE8EC"/>
          </a:solidFill>
          <a:ln/>
        </p:spPr>
      </p:sp>
      <p:sp>
        <p:nvSpPr>
          <p:cNvPr id="45" name="Text 42"/>
          <p:cNvSpPr txBox="1"/>
          <p:nvPr/>
        </p:nvSpPr>
        <p:spPr>
          <a:xfrm>
            <a:off x="3593592" y="5074920"/>
            <a:ext cx="1600200" cy="347472"/>
          </a:xfrm>
          <a:prstGeom prst="rect">
            <a:avLst/>
          </a:prstGeom>
          <a:noFill/>
          <a:ln/>
        </p:spPr>
        <p:txBody>
          <a:bodyPr wrap="square" lIns="0" tIns="0" rIns="0" bIns="0" rtlCol="0" anchor="ctr"/>
          <a:lstStyle/>
          <a:p>
            <a:pPr algn="ctr" indent="0" marL="0">
              <a:buNone/>
            </a:pPr>
            <a:r>
              <a:rPr lang="en-US" sz="950" b="1" dirty="0">
                <a:solidFill>
                  <a:srgbClr val="B4233F"/>
                </a:solidFill>
                <a:latin typeface="Calibri" pitchFamily="34" charset="0"/>
                <a:ea typeface="Calibri" pitchFamily="34" charset="-122"/>
                <a:cs typeface="Calibri" pitchFamily="34" charset="-120"/>
              </a:rPr>
              <a:t>HARD  ·  400</a:t>
            </a:r>
            <a:endParaRPr lang="en-US" sz="950" dirty="0"/>
          </a:p>
        </p:txBody>
      </p:sp>
      <p:sp>
        <p:nvSpPr>
          <p:cNvPr id="46" name="Text 43"/>
          <p:cNvSpPr txBox="1"/>
          <p:nvPr/>
        </p:nvSpPr>
        <p:spPr>
          <a:xfrm>
            <a:off x="5239512"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cat  ls -a  base64 -d</a:t>
            </a:r>
            <a:endParaRPr lang="en-US" sz="900" dirty="0"/>
          </a:p>
        </p:txBody>
      </p:sp>
      <p:sp>
        <p:nvSpPr>
          <p:cNvPr id="47" name="Shape 44"/>
          <p:cNvSpPr/>
          <p:nvPr/>
        </p:nvSpPr>
        <p:spPr>
          <a:xfrm>
            <a:off x="6181344" y="4251960"/>
            <a:ext cx="2606040" cy="1371600"/>
          </a:xfrm>
          <a:prstGeom prst="roundRect">
            <a:avLst>
              <a:gd name="adj" fmla="val 6667"/>
            </a:avLst>
          </a:prstGeom>
          <a:solidFill>
            <a:srgbClr val="F1F5FB"/>
          </a:solidFill>
          <a:ln/>
        </p:spPr>
      </p:sp>
      <p:sp>
        <p:nvSpPr>
          <p:cNvPr id="48" name="Shape 45"/>
          <p:cNvSpPr/>
          <p:nvPr/>
        </p:nvSpPr>
        <p:spPr>
          <a:xfrm>
            <a:off x="6409944" y="4480560"/>
            <a:ext cx="457200" cy="457200"/>
          </a:xfrm>
          <a:prstGeom prst="ellipse">
            <a:avLst/>
          </a:prstGeom>
          <a:solidFill>
            <a:srgbClr val="5B6EE1"/>
          </a:solidFill>
          <a:ln/>
        </p:spPr>
      </p:sp>
      <p:sp>
        <p:nvSpPr>
          <p:cNvPr id="49" name="Text 46"/>
          <p:cNvSpPr txBox="1"/>
          <p:nvPr/>
        </p:nvSpPr>
        <p:spPr>
          <a:xfrm>
            <a:off x="6409944"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9</a:t>
            </a:r>
            <a:endParaRPr lang="en-US" sz="1500" dirty="0"/>
          </a:p>
        </p:txBody>
      </p:sp>
      <p:sp>
        <p:nvSpPr>
          <p:cNvPr id="50" name="Text 47"/>
          <p:cNvSpPr txBox="1"/>
          <p:nvPr/>
        </p:nvSpPr>
        <p:spPr>
          <a:xfrm>
            <a:off x="7004304"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Leaked in pieces</a:t>
            </a:r>
            <a:endParaRPr lang="en-US" sz="1400" dirty="0"/>
          </a:p>
        </p:txBody>
      </p:sp>
      <p:sp>
        <p:nvSpPr>
          <p:cNvPr id="51" name="Shape 48"/>
          <p:cNvSpPr/>
          <p:nvPr/>
        </p:nvSpPr>
        <p:spPr>
          <a:xfrm>
            <a:off x="6409944" y="5074920"/>
            <a:ext cx="1600200" cy="347472"/>
          </a:xfrm>
          <a:prstGeom prst="roundRect">
            <a:avLst>
              <a:gd name="adj" fmla="val 50000"/>
            </a:avLst>
          </a:prstGeom>
          <a:solidFill>
            <a:srgbClr val="FDE8EC"/>
          </a:solidFill>
          <a:ln/>
        </p:spPr>
      </p:sp>
      <p:sp>
        <p:nvSpPr>
          <p:cNvPr id="52" name="Text 49"/>
          <p:cNvSpPr txBox="1"/>
          <p:nvPr/>
        </p:nvSpPr>
        <p:spPr>
          <a:xfrm>
            <a:off x="6409944" y="5074920"/>
            <a:ext cx="1600200" cy="347472"/>
          </a:xfrm>
          <a:prstGeom prst="rect">
            <a:avLst/>
          </a:prstGeom>
          <a:noFill/>
          <a:ln/>
        </p:spPr>
        <p:txBody>
          <a:bodyPr wrap="square" lIns="0" tIns="0" rIns="0" bIns="0" rtlCol="0" anchor="ctr"/>
          <a:lstStyle/>
          <a:p>
            <a:pPr algn="ctr" indent="0" marL="0">
              <a:buNone/>
            </a:pPr>
            <a:r>
              <a:rPr lang="en-US" sz="950" b="1" dirty="0">
                <a:solidFill>
                  <a:srgbClr val="B4233F"/>
                </a:solidFill>
                <a:latin typeface="Calibri" pitchFamily="34" charset="0"/>
                <a:ea typeface="Calibri" pitchFamily="34" charset="-122"/>
                <a:cs typeface="Calibri" pitchFamily="34" charset="-120"/>
              </a:rPr>
              <a:t>HARD  ·  400</a:t>
            </a:r>
            <a:endParaRPr lang="en-US" sz="950" dirty="0"/>
          </a:p>
        </p:txBody>
      </p:sp>
      <p:sp>
        <p:nvSpPr>
          <p:cNvPr id="53" name="Text 50"/>
          <p:cNvSpPr txBox="1"/>
          <p:nvPr/>
        </p:nvSpPr>
        <p:spPr>
          <a:xfrm>
            <a:off x="8055864"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grep · cut · sort · xxd</a:t>
            </a:r>
            <a:endParaRPr lang="en-US" sz="900" dirty="0"/>
          </a:p>
        </p:txBody>
      </p:sp>
      <p:sp>
        <p:nvSpPr>
          <p:cNvPr id="54" name="Shape 51"/>
          <p:cNvSpPr/>
          <p:nvPr/>
        </p:nvSpPr>
        <p:spPr>
          <a:xfrm>
            <a:off x="8997696" y="4251960"/>
            <a:ext cx="2606040" cy="1371600"/>
          </a:xfrm>
          <a:prstGeom prst="roundRect">
            <a:avLst>
              <a:gd name="adj" fmla="val 6667"/>
            </a:avLst>
          </a:prstGeom>
          <a:solidFill>
            <a:srgbClr val="F1F5FB"/>
          </a:solidFill>
          <a:ln/>
        </p:spPr>
      </p:sp>
      <p:sp>
        <p:nvSpPr>
          <p:cNvPr id="55" name="Shape 52"/>
          <p:cNvSpPr/>
          <p:nvPr/>
        </p:nvSpPr>
        <p:spPr>
          <a:xfrm>
            <a:off x="9226296" y="4480560"/>
            <a:ext cx="457200" cy="457200"/>
          </a:xfrm>
          <a:prstGeom prst="ellipse">
            <a:avLst/>
          </a:prstGeom>
          <a:solidFill>
            <a:srgbClr val="B4233F"/>
          </a:solidFill>
          <a:ln/>
        </p:spPr>
      </p:sp>
      <p:sp>
        <p:nvSpPr>
          <p:cNvPr id="56" name="Text 53"/>
          <p:cNvSpPr txBox="1"/>
          <p:nvPr/>
        </p:nvSpPr>
        <p:spPr>
          <a:xfrm>
            <a:off x="9226296"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10</a:t>
            </a:r>
            <a:endParaRPr lang="en-US" sz="1500" dirty="0"/>
          </a:p>
        </p:txBody>
      </p:sp>
      <p:sp>
        <p:nvSpPr>
          <p:cNvPr id="57" name="Text 54"/>
          <p:cNvSpPr txBox="1"/>
          <p:nvPr/>
        </p:nvSpPr>
        <p:spPr>
          <a:xfrm>
            <a:off x="9820656"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Case closed</a:t>
            </a:r>
            <a:endParaRPr lang="en-US" sz="1400" dirty="0"/>
          </a:p>
        </p:txBody>
      </p:sp>
      <p:sp>
        <p:nvSpPr>
          <p:cNvPr id="58" name="Shape 55"/>
          <p:cNvSpPr/>
          <p:nvPr/>
        </p:nvSpPr>
        <p:spPr>
          <a:xfrm>
            <a:off x="9226296" y="5074920"/>
            <a:ext cx="1600200" cy="347472"/>
          </a:xfrm>
          <a:prstGeom prst="roundRect">
            <a:avLst>
              <a:gd name="adj" fmla="val 50000"/>
            </a:avLst>
          </a:prstGeom>
          <a:solidFill>
            <a:srgbClr val="2A1430"/>
          </a:solidFill>
          <a:ln/>
        </p:spPr>
      </p:sp>
      <p:sp>
        <p:nvSpPr>
          <p:cNvPr id="59" name="Text 56"/>
          <p:cNvSpPr txBox="1"/>
          <p:nvPr/>
        </p:nvSpPr>
        <p:spPr>
          <a:xfrm>
            <a:off x="9226296" y="5074920"/>
            <a:ext cx="1600200" cy="347472"/>
          </a:xfrm>
          <a:prstGeom prst="rect">
            <a:avLst/>
          </a:prstGeom>
          <a:noFill/>
          <a:ln/>
        </p:spPr>
        <p:txBody>
          <a:bodyPr wrap="square" lIns="0" tIns="0" rIns="0" bIns="0" rtlCol="0" anchor="ctr"/>
          <a:lstStyle/>
          <a:p>
            <a:pPr algn="ctr" indent="0" marL="0">
              <a:buNone/>
            </a:pPr>
            <a:r>
              <a:rPr lang="en-US" sz="950" b="1" dirty="0">
                <a:solidFill>
                  <a:srgbClr val="FF8FB1"/>
                </a:solidFill>
                <a:latin typeface="Calibri" pitchFamily="34" charset="0"/>
                <a:ea typeface="Calibri" pitchFamily="34" charset="-122"/>
                <a:cs typeface="Calibri" pitchFamily="34" charset="-120"/>
              </a:rPr>
              <a:t>VERY HARD  ·  800</a:t>
            </a:r>
            <a:endParaRPr lang="en-US" sz="950" dirty="0"/>
          </a:p>
        </p:txBody>
      </p:sp>
      <p:sp>
        <p:nvSpPr>
          <p:cNvPr id="60" name="Text 57"/>
          <p:cNvSpPr txBox="1"/>
          <p:nvPr/>
        </p:nvSpPr>
        <p:spPr>
          <a:xfrm>
            <a:off x="10872216"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grep · filetype · zcat</a:t>
            </a:r>
            <a:endParaRPr lang="en-US" sz="900" dirty="0"/>
          </a:p>
        </p:txBody>
      </p:sp>
      <p:sp>
        <p:nvSpPr>
          <p:cNvPr id="61" name="Text 5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44 / 60</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2459D8"/>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3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E2F5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20624"/>
            <a:ext cx="421538" cy="402336"/>
          </a:xfrm>
          <a:prstGeom prst="roundRect">
            <a:avLst>
              <a:gd name="adj" fmla="val 13636"/>
            </a:avLst>
          </a:prstGeom>
          <a:solidFill>
            <a:srgbClr val="2459D8"/>
          </a:solidFill>
          <a:ln/>
        </p:spPr>
      </p:sp>
      <p:sp>
        <p:nvSpPr>
          <p:cNvPr id="12" name="Text 9"/>
          <p:cNvSpPr txBox="1"/>
          <p:nvPr/>
        </p:nvSpPr>
        <p:spPr>
          <a:xfrm>
            <a:off x="775594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Wrong label</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Eight holiday photos. One of them isn't a photo at all. Its name lies; its first bytes don't.</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~/mission3/photos/</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filetype  zcat</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Can anyone rename a file to .jpg?</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Where does a file say what it really is?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Once we know it's gzip, which tool opens it?</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45 / 60</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2459D8"/>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3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E2F5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20624"/>
            <a:ext cx="421538" cy="402336"/>
          </a:xfrm>
          <a:prstGeom prst="roundRect">
            <a:avLst>
              <a:gd name="adj" fmla="val 13636"/>
            </a:avLst>
          </a:prstGeom>
          <a:solidFill>
            <a:srgbClr val="2459D8"/>
          </a:solidFill>
          <a:ln/>
        </p:spPr>
      </p:sp>
      <p:sp>
        <p:nvSpPr>
          <p:cNvPr id="12" name="Text 9"/>
          <p:cNvSpPr txBox="1"/>
          <p:nvPr/>
        </p:nvSpPr>
        <p:spPr>
          <a:xfrm>
            <a:off x="775594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Wrong label</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cd ~/mission3</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filetype photos/*</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photos/IMG_1041.jpg: JPEG image data</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photos/IMG_1042.jpg: gzip compressed data</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photos/IMG_1043.jpg: JPEG image data</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zcat photos/IMG_1042.jpg</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This was never a photo.</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Flag: CYBA{label-...}</a:t>
            </a:r>
            <a:endParaRPr lang="en-US" sz="13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2459D8"/>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filetype read the first bytes (the magic number) of each file.</a:t>
            </a:r>
            <a:endParaRPr lang="en-US" sz="1400" dirty="0"/>
          </a:p>
        </p:txBody>
      </p:sp>
      <p:sp>
        <p:nvSpPr>
          <p:cNvPr id="38" name="Shape 35"/>
          <p:cNvSpPr/>
          <p:nvPr/>
        </p:nvSpPr>
        <p:spPr>
          <a:xfrm>
            <a:off x="7543800" y="2980944"/>
            <a:ext cx="457200" cy="457200"/>
          </a:xfrm>
          <a:prstGeom prst="ellipse">
            <a:avLst/>
          </a:prstGeom>
          <a:solidFill>
            <a:srgbClr val="2459D8"/>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One 'photo' started with 1f 8b: gzip, not JPEG.</a:t>
            </a:r>
            <a:endParaRPr lang="en-US" sz="1400" dirty="0"/>
          </a:p>
        </p:txBody>
      </p:sp>
      <p:sp>
        <p:nvSpPr>
          <p:cNvPr id="41" name="Shape 38"/>
          <p:cNvSpPr/>
          <p:nvPr/>
        </p:nvSpPr>
        <p:spPr>
          <a:xfrm>
            <a:off x="7543800" y="3767328"/>
            <a:ext cx="457200" cy="457200"/>
          </a:xfrm>
          <a:prstGeom prst="ellipse">
            <a:avLst/>
          </a:prstGeom>
          <a:solidFill>
            <a:srgbClr val="2459D8"/>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zcat decompressed it, whatever its name said.</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Attackers rename files to slip past filters. Analysts trust magic bytes, not extensions.</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2459D8"/>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See the magic bytes yourself:  head -c 4 photos/IMG_1041.jpg | xxd</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46 / 60</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7448D4"/>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4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20624"/>
            <a:ext cx="421538" cy="402336"/>
          </a:xfrm>
          <a:prstGeom prst="roundRect">
            <a:avLst>
              <a:gd name="adj" fmla="val 13636"/>
            </a:avLst>
          </a:prstGeom>
          <a:solidFill>
            <a:srgbClr val="7448D4"/>
          </a:solidFill>
          <a:ln/>
        </p:spPr>
      </p:sp>
      <p:sp>
        <p:nvSpPr>
          <p:cNvPr id="14" name="Text 11"/>
          <p:cNvSpPr txBox="1"/>
          <p:nvPr/>
        </p:nvSpPr>
        <p:spPr>
          <a:xfrm>
            <a:off x="825063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Russian dolls</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The evidence arrived packed: an archive inside an archive inside a compressed file. The inner layers have no file extensions to help.</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~/mission4/evidence.tar.gz</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tar  filetype  zcat</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What's the difference between tar and gzip?</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After unpacking a layer, how do we know what we got?</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command opens each kind of layer?</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47 / 60</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7448D4"/>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4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20624"/>
            <a:ext cx="421538" cy="402336"/>
          </a:xfrm>
          <a:prstGeom prst="roundRect">
            <a:avLst>
              <a:gd name="adj" fmla="val 13636"/>
            </a:avLst>
          </a:prstGeom>
          <a:solidFill>
            <a:srgbClr val="7448D4"/>
          </a:solidFill>
          <a:ln/>
        </p:spPr>
      </p:sp>
      <p:sp>
        <p:nvSpPr>
          <p:cNvPr id="14" name="Text 11"/>
          <p:cNvSpPr txBox="1"/>
          <p:nvPr/>
        </p:nvSpPr>
        <p:spPr>
          <a:xfrm>
            <a:off x="825063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Russian dolls</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cd ~/mission4</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tar -xzf evidence.tar.gz</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filetype box</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box: POSIX tar archive</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tar -xf box</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filetype inner</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inner: gzip compressed data</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zcat inner</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You reached the smallest doll.</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Flag: CYBA{dolls-...}</a:t>
            </a:r>
            <a:endParaRPr lang="en-US" sz="13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7448D4"/>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tar -xzf unzipped and unpacked the outer layer.</a:t>
            </a:r>
            <a:endParaRPr lang="en-US" sz="1400" dirty="0"/>
          </a:p>
        </p:txBody>
      </p:sp>
      <p:sp>
        <p:nvSpPr>
          <p:cNvPr id="38" name="Shape 35"/>
          <p:cNvSpPr/>
          <p:nvPr/>
        </p:nvSpPr>
        <p:spPr>
          <a:xfrm>
            <a:off x="7543800" y="2980944"/>
            <a:ext cx="457200" cy="457200"/>
          </a:xfrm>
          <a:prstGeom prst="ellipse">
            <a:avLst/>
          </a:prstGeom>
          <a:solidFill>
            <a:srgbClr val="7448D4"/>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filetype named each new file: a tar, then a gzip.</a:t>
            </a:r>
            <a:endParaRPr lang="en-US" sz="1400" dirty="0"/>
          </a:p>
        </p:txBody>
      </p:sp>
      <p:sp>
        <p:nvSpPr>
          <p:cNvPr id="41" name="Shape 38"/>
          <p:cNvSpPr/>
          <p:nvPr/>
        </p:nvSpPr>
        <p:spPr>
          <a:xfrm>
            <a:off x="7543800" y="3767328"/>
            <a:ext cx="457200" cy="457200"/>
          </a:xfrm>
          <a:prstGeom prst="ellipse">
            <a:avLst/>
          </a:prstGeom>
          <a:solidFill>
            <a:srgbClr val="7448D4"/>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Repeat until there's nothing left to unwrap.</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Malware and stolen data often travel in nested archives. Unpack, identify, repeat.</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7448D4"/>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List an archive without unpacking it:  tar -tzf evidence.tar.gz</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48 / 60</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D1416B"/>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5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20624"/>
            <a:ext cx="421538" cy="402336"/>
          </a:xfrm>
          <a:prstGeom prst="roundRect">
            <a:avLst>
              <a:gd name="adj" fmla="val 13636"/>
            </a:avLst>
          </a:prstGeom>
          <a:solidFill>
            <a:srgbClr val="D1416B"/>
          </a:solidFill>
          <a:ln/>
        </p:spPr>
      </p:sp>
      <p:sp>
        <p:nvSpPr>
          <p:cNvPr id="16" name="Text 13"/>
          <p:cNvSpPr txBox="1"/>
          <p:nvPr/>
        </p:nvSpPr>
        <p:spPr>
          <a:xfrm>
            <a:off x="874532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Log detective</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Hundreds of login attempts. Someone guessed passwords over and over, then got in. Find the attacker's IP address, then its one successful login.</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~/mission5/auth.log</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grep  cut  sort  uniq -c</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does a password-guessing attack look like in a log?</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field is the IP address?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do we count lines per IP?</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49 / 60</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D1416B"/>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5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20624"/>
            <a:ext cx="421538" cy="402336"/>
          </a:xfrm>
          <a:prstGeom prst="roundRect">
            <a:avLst>
              <a:gd name="adj" fmla="val 13636"/>
            </a:avLst>
          </a:prstGeom>
          <a:solidFill>
            <a:srgbClr val="D1416B"/>
          </a:solidFill>
          <a:ln/>
        </p:spPr>
      </p:sp>
      <p:sp>
        <p:nvSpPr>
          <p:cNvPr id="16" name="Text 13"/>
          <p:cNvSpPr txBox="1"/>
          <p:nvPr/>
        </p:nvSpPr>
        <p:spPr>
          <a:xfrm>
            <a:off x="874532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Log detective</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cd ~/mission5</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head -2 auth.log</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2026-10-08T02:04:39 sshd: Failed password for guest from 203.0.113.66</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grep Failed auth.log | cut -d' ' -f8 | sort | uniq -c | sort -n | tail -2</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      7 192.0.2.24</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     40 203.0.113.66</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grep Accepted auth.log | grep 203.0.113.66</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 Accepted password for ava from 203.0.113.66 ticket=CYBA{log-...}</a:t>
            </a:r>
            <a:endParaRPr lang="en-US" sz="115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D1416B"/>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grep kept the Failed lines; cut kept field 8, the IP.</a:t>
            </a:r>
            <a:endParaRPr lang="en-US" sz="1400" dirty="0"/>
          </a:p>
        </p:txBody>
      </p:sp>
      <p:sp>
        <p:nvSpPr>
          <p:cNvPr id="38" name="Shape 35"/>
          <p:cNvSpPr/>
          <p:nvPr/>
        </p:nvSpPr>
        <p:spPr>
          <a:xfrm>
            <a:off x="7543800" y="2980944"/>
            <a:ext cx="457200" cy="457200"/>
          </a:xfrm>
          <a:prstGeom prst="ellipse">
            <a:avLst/>
          </a:prstGeom>
          <a:solidFill>
            <a:srgbClr val="D1416B"/>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sort | uniq -c counted each IP; sort -n put the biggest last.</a:t>
            </a:r>
            <a:endParaRPr lang="en-US" sz="1400" dirty="0"/>
          </a:p>
        </p:txBody>
      </p:sp>
      <p:sp>
        <p:nvSpPr>
          <p:cNvPr id="41" name="Shape 38"/>
          <p:cNvSpPr/>
          <p:nvPr/>
        </p:nvSpPr>
        <p:spPr>
          <a:xfrm>
            <a:off x="7543800" y="3767328"/>
            <a:ext cx="457200" cy="457200"/>
          </a:xfrm>
          <a:prstGeom prst="ellipse">
            <a:avLst/>
          </a:prstGeom>
          <a:solidFill>
            <a:srgbClr val="D1416B"/>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busiest IP's Accepted line was the break-in.</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This is a brute-force login attack. Analysts spot it exactly this way, and block the IP.</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D1416B"/>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Which usernames did the attacker try?  grep 203.0.113.66 auth.log | cut -d' ' -f6 | sort | uniq -c</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50 / 60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E8820C"/>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6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20624"/>
            <a:ext cx="421538" cy="402336"/>
          </a:xfrm>
          <a:prstGeom prst="roundRect">
            <a:avLst>
              <a:gd name="adj" fmla="val 13636"/>
            </a:avLst>
          </a:prstGeom>
          <a:solidFill>
            <a:srgbClr val="E8820C"/>
          </a:solidFill>
          <a:ln/>
        </p:spPr>
      </p:sp>
      <p:sp>
        <p:nvSpPr>
          <p:cNvPr id="18" name="Text 15"/>
          <p:cNvSpPr txBox="1"/>
          <p:nvPr/>
        </p:nvSpPr>
        <p:spPr>
          <a:xfrm>
            <a:off x="924001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Hidden tail</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A cat picture that opens normally. But someone hid a message after the picture's end marker, where viewers never look. Steganography.</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~/mission6/cat.jpg</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strings  tail  base64 -d</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Why doesn't a picture viewer show the extra data?</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Where in the file would appended data be?</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The message looks scrambled. What encoding has letters, digits and = at the end?</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51 / 60</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E8820C"/>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6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20624"/>
            <a:ext cx="421538" cy="402336"/>
          </a:xfrm>
          <a:prstGeom prst="roundRect">
            <a:avLst>
              <a:gd name="adj" fmla="val 13636"/>
            </a:avLst>
          </a:prstGeom>
          <a:solidFill>
            <a:srgbClr val="E8820C"/>
          </a:solidFill>
          <a:ln/>
        </p:spPr>
      </p:sp>
      <p:sp>
        <p:nvSpPr>
          <p:cNvPr id="18" name="Text 15"/>
          <p:cNvSpPr txBox="1"/>
          <p:nvPr/>
        </p:nvSpPr>
        <p:spPr>
          <a:xfrm>
            <a:off x="924001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Hidden tail</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cd ~/mission6</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filetype cat.jpg</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cat.jpg: JPEG image data</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strings cat.jpg | tail -2</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JFIF</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SGlkZGVuIGFmdGVyIHRoZSBwaWN0dXJlLgpGbGFn...==</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strings cat.jpg | tail -1 | base64 -d</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Hidden after the picture.</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Flag: CYBA{tail-...}</a:t>
            </a:r>
            <a:endParaRPr lang="en-US" sz="13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E8820C"/>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picture is real; viewers stop at its end marker (ff d9).</a:t>
            </a:r>
            <a:endParaRPr lang="en-US" sz="1400" dirty="0"/>
          </a:p>
        </p:txBody>
      </p:sp>
      <p:sp>
        <p:nvSpPr>
          <p:cNvPr id="38" name="Shape 35"/>
          <p:cNvSpPr/>
          <p:nvPr/>
        </p:nvSpPr>
        <p:spPr>
          <a:xfrm>
            <a:off x="7543800" y="2980944"/>
            <a:ext cx="457200" cy="457200"/>
          </a:xfrm>
          <a:prstGeom prst="ellipse">
            <a:avLst/>
          </a:prstGeom>
          <a:solidFill>
            <a:srgbClr val="E8820C"/>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strings found readable text after it: the last line.</a:t>
            </a:r>
            <a:endParaRPr lang="en-US" sz="1400" dirty="0"/>
          </a:p>
        </p:txBody>
      </p:sp>
      <p:sp>
        <p:nvSpPr>
          <p:cNvPr id="41" name="Shape 38"/>
          <p:cNvSpPr/>
          <p:nvPr/>
        </p:nvSpPr>
        <p:spPr>
          <a:xfrm>
            <a:off x="7543800" y="3767328"/>
            <a:ext cx="457200" cy="457200"/>
          </a:xfrm>
          <a:prstGeom prst="ellipse">
            <a:avLst/>
          </a:prstGeom>
          <a:solidFill>
            <a:srgbClr val="E8820C"/>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It was base64, so base64 -d revealed it (Crypto CTF skills!).</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Steganography hides data inside innocent files. Tools like binwalk and steghide find and extract it.</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E8820C"/>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See the end of the picture in hex:  tail -c 120 cat.jpg | xxd</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52 / 60</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C9A227"/>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7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20624"/>
            <a:ext cx="421538" cy="402336"/>
          </a:xfrm>
          <a:prstGeom prst="roundRect">
            <a:avLst>
              <a:gd name="adj" fmla="val 13636"/>
            </a:avLst>
          </a:prstGeom>
          <a:solidFill>
            <a:srgbClr val="C9A227"/>
          </a:solidFill>
          <a:ln/>
        </p:spPr>
      </p:sp>
      <p:sp>
        <p:nvSpPr>
          <p:cNvPr id="20" name="Text 17"/>
          <p:cNvSpPr txBox="1"/>
          <p:nvPr/>
        </p:nvSpPr>
        <p:spPr>
          <a:xfrm>
            <a:off x="973470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Tampered</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Ten programs and a list of their fingerprints, taken when the server was clean. One program has been changed since. Find it.</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~/mission7/bin/  manifest.sha256</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sha256sum -c  strings</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happens to a hash if one byte changes?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can sha256sum check a whole list at once?</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Every program has a flag inside. Which one is real?</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53 / 60</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C9A227"/>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7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20624"/>
            <a:ext cx="421538" cy="402336"/>
          </a:xfrm>
          <a:prstGeom prst="roundRect">
            <a:avLst>
              <a:gd name="adj" fmla="val 13636"/>
            </a:avLst>
          </a:prstGeom>
          <a:solidFill>
            <a:srgbClr val="C9A227"/>
          </a:solidFill>
          <a:ln/>
        </p:spPr>
      </p:sp>
      <p:sp>
        <p:nvSpPr>
          <p:cNvPr id="20" name="Text 17"/>
          <p:cNvSpPr txBox="1"/>
          <p:nvPr/>
        </p:nvSpPr>
        <p:spPr>
          <a:xfrm>
            <a:off x="973470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Tampered</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cd ~/mission7</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sha256sum -c manifest.sha256</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bin/backup: OK</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bin/cleanup: OK</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bin/diskcheck: FAILED</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bin/logrotate: OK</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sha256sum: WARNING: 1 of 10 computed checksums did NOT match</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strings bin/diskcheck | grep CYBA</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CYBA{tamper-...}</a:t>
            </a:r>
            <a:endParaRPr lang="en-US" sz="12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C9A227"/>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manifest held each program's known-good SHA-256.</a:t>
            </a:r>
            <a:endParaRPr lang="en-US" sz="1400" dirty="0"/>
          </a:p>
        </p:txBody>
      </p:sp>
      <p:sp>
        <p:nvSpPr>
          <p:cNvPr id="38" name="Shape 35"/>
          <p:cNvSpPr/>
          <p:nvPr/>
        </p:nvSpPr>
        <p:spPr>
          <a:xfrm>
            <a:off x="7543800" y="2980944"/>
            <a:ext cx="457200" cy="457200"/>
          </a:xfrm>
          <a:prstGeom prst="ellipse">
            <a:avLst/>
          </a:prstGeom>
          <a:solidFill>
            <a:srgbClr val="C9A227"/>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sha256sum -c re-hashed every file and compared.</a:t>
            </a:r>
            <a:endParaRPr lang="en-US" sz="1400" dirty="0"/>
          </a:p>
        </p:txBody>
      </p:sp>
      <p:sp>
        <p:nvSpPr>
          <p:cNvPr id="41" name="Shape 38"/>
          <p:cNvSpPr/>
          <p:nvPr/>
        </p:nvSpPr>
        <p:spPr>
          <a:xfrm>
            <a:off x="7543800" y="3767328"/>
            <a:ext cx="457200" cy="457200"/>
          </a:xfrm>
          <a:prstGeom prst="ellipse">
            <a:avLst/>
          </a:prstGeom>
          <a:solidFill>
            <a:srgbClr val="C9A227"/>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one that FAILED was tampered; its flag is the real one.</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File integrity monitoring (Tripwire, AIDE) does exactly this to catch backdoored system programs.</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C9A227"/>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Why does grep -r CYBA bin/ not solve this mission?</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54 / 60</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0F9488"/>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8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DE8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20624"/>
            <a:ext cx="421538" cy="402336"/>
          </a:xfrm>
          <a:prstGeom prst="roundRect">
            <a:avLst>
              <a:gd name="adj" fmla="val 13636"/>
            </a:avLst>
          </a:prstGeom>
          <a:solidFill>
            <a:srgbClr val="0F9488"/>
          </a:solidFill>
          <a:ln/>
        </p:spPr>
      </p:sp>
      <p:sp>
        <p:nvSpPr>
          <p:cNvPr id="22" name="Text 19"/>
          <p:cNvSpPr txBox="1"/>
          <p:nvPr/>
        </p:nvSpPr>
        <p:spPr>
          <a:xfrm>
            <a:off x="1022939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Persistence</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Intruders want to come back. One of these crontabs runs a script that doesn't belong. Find it, read it, decode what it carries.</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~/mission8/cron/  var/</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cat  ls -a  base64 -d</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+400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is a cron job?</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makes a file 'hidden' in Linux?</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The script's payload is scrambled. Which decoder fits?</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55 / 60</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0F9488"/>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8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DE8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20624"/>
            <a:ext cx="421538" cy="402336"/>
          </a:xfrm>
          <a:prstGeom prst="roundRect">
            <a:avLst>
              <a:gd name="adj" fmla="val 13636"/>
            </a:avLst>
          </a:prstGeom>
          <a:solidFill>
            <a:srgbClr val="0F9488"/>
          </a:solidFill>
          <a:ln/>
        </p:spPr>
      </p:sp>
      <p:sp>
        <p:nvSpPr>
          <p:cNvPr id="22" name="Text 19"/>
          <p:cNvSpPr txBox="1"/>
          <p:nvPr/>
        </p:nvSpPr>
        <p:spPr>
          <a:xfrm>
            <a:off x="1022939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Persistence</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cd ~/mission8</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cat cron/*</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0 2 * * * /usr/local/bin/backup.sh</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*/10 * * * * /home/player/mission8/var/.cache/.sys-update.sh</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ls -a var/.cache</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  ..  .sys-update.sh</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cat var/.cache/.sys-update.sh</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PAYLOAD="UGVyc2lzdGVuY2UgZm91bmQu..."</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echo UGVyc2lz... | base64 -d</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Flag: CYBA{cron-...}</a:t>
            </a:r>
            <a:endParaRPr lang="en-US" sz="115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0F9488"/>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One cron line ran a script every 10 minutes from a hidden folder.</a:t>
            </a:r>
            <a:endParaRPr lang="en-US" sz="1400" dirty="0"/>
          </a:p>
        </p:txBody>
      </p:sp>
      <p:sp>
        <p:nvSpPr>
          <p:cNvPr id="38" name="Shape 35"/>
          <p:cNvSpPr/>
          <p:nvPr/>
        </p:nvSpPr>
        <p:spPr>
          <a:xfrm>
            <a:off x="7543800" y="2980944"/>
            <a:ext cx="457200" cy="457200"/>
          </a:xfrm>
          <a:prstGeom prst="ellipse">
            <a:avLst/>
          </a:prstGeom>
          <a:solidFill>
            <a:srgbClr val="0F9488"/>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ls -a found the hidden script; cat showed its base64 payload.</a:t>
            </a:r>
            <a:endParaRPr lang="en-US" sz="1400" dirty="0"/>
          </a:p>
        </p:txBody>
      </p:sp>
      <p:sp>
        <p:nvSpPr>
          <p:cNvPr id="41" name="Shape 38"/>
          <p:cNvSpPr/>
          <p:nvPr/>
        </p:nvSpPr>
        <p:spPr>
          <a:xfrm>
            <a:off x="7543800" y="3767328"/>
            <a:ext cx="457200" cy="457200"/>
          </a:xfrm>
          <a:prstGeom prst="ellipse">
            <a:avLst/>
          </a:prstGeom>
          <a:solidFill>
            <a:srgbClr val="0F9488"/>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base64 -d revealed what it carried.</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Persistence (cron jobs, startup scripts, services) is one of the first things responders hunt after a break-in.</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0F9488"/>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Read the schedule: what does */10 * * * * mean? And 0 2 * * *?</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56 / 60</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5B6EE1"/>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9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DE8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20624"/>
            <a:ext cx="421538" cy="402336"/>
          </a:xfrm>
          <a:prstGeom prst="roundRect">
            <a:avLst>
              <a:gd name="adj" fmla="val 13636"/>
            </a:avLst>
          </a:prstGeom>
          <a:solidFill>
            <a:srgbClr val="5B6EE1"/>
          </a:solidFill>
          <a:ln/>
        </p:spPr>
      </p:sp>
      <p:sp>
        <p:nvSpPr>
          <p:cNvPr id="24" name="Text 21"/>
          <p:cNvSpPr txBox="1"/>
          <p:nvPr/>
        </p:nvSpPr>
        <p:spPr>
          <a:xfrm>
            <a:off x="1072408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Leaked in pieces</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A packet capture, listed the way Wireshark shows it. One host kept requesting /pixel.gif with a seq number and a chunk of hex. Put the chunks in order and decode them.</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~/mission9/capture.txt</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grep · cut · sort · xxd</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+400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do we keep only the suspicious requests?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The chunks arrived out of order. How do we fix that?</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Hex again: which tool turns it back into text?</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57 / 60</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5B6EE1"/>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9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DE8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20624"/>
            <a:ext cx="421538" cy="402336"/>
          </a:xfrm>
          <a:prstGeom prst="roundRect">
            <a:avLst>
              <a:gd name="adj" fmla="val 13636"/>
            </a:avLst>
          </a:prstGeom>
          <a:solidFill>
            <a:srgbClr val="5B6EE1"/>
          </a:solidFill>
          <a:ln/>
        </p:spPr>
      </p:sp>
      <p:sp>
        <p:nvSpPr>
          <p:cNvPr id="24" name="Text 21"/>
          <p:cNvSpPr txBox="1"/>
          <p:nvPr/>
        </p:nvSpPr>
        <p:spPr>
          <a:xfrm>
            <a:off x="1072408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Leaked in pieces</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cd ~/mission9</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grep seq= capture.txt | head -2</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 90 218.2 203.0.113.66 192.0.2.80 HTTP 412 GET /pixel.gif?seq=07&amp;d=70696563</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 91 221.0 203.0.113.66 192.0.2.80 HTTP 412 GET /pixel.gif?seq=03&amp;d=6c65642e</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grep seq= capture.txt | cut -d'?' -f2 | cut -d' ' -f1 \</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  | sort | cut -d'=' -f3 | tr -d '\n' | xxd -r -p</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Reassembled.</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Flag: CYBA{pieces-...}</a:t>
            </a:r>
            <a:endParaRPr lang="en-US" sz="115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5B6EE1"/>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grep kept one host's packets; two cuts kept seq=..&amp;d=...</a:t>
            </a:r>
            <a:endParaRPr lang="en-US" sz="1400" dirty="0"/>
          </a:p>
        </p:txBody>
      </p:sp>
      <p:sp>
        <p:nvSpPr>
          <p:cNvPr id="38" name="Shape 35"/>
          <p:cNvSpPr/>
          <p:nvPr/>
        </p:nvSpPr>
        <p:spPr>
          <a:xfrm>
            <a:off x="7543800" y="2980944"/>
            <a:ext cx="457200" cy="457200"/>
          </a:xfrm>
          <a:prstGeom prst="ellipse">
            <a:avLst/>
          </a:prstGeom>
          <a:solidFill>
            <a:srgbClr val="5B6EE1"/>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sort put them in seq order; cut kept the hex; tr joined it.</a:t>
            </a:r>
            <a:endParaRPr lang="en-US" sz="1400" dirty="0"/>
          </a:p>
        </p:txBody>
      </p:sp>
      <p:sp>
        <p:nvSpPr>
          <p:cNvPr id="41" name="Shape 38"/>
          <p:cNvSpPr/>
          <p:nvPr/>
        </p:nvSpPr>
        <p:spPr>
          <a:xfrm>
            <a:off x="7543800" y="3767328"/>
            <a:ext cx="457200" cy="457200"/>
          </a:xfrm>
          <a:prstGeom prst="ellipse">
            <a:avLst/>
          </a:prstGeom>
          <a:solidFill>
            <a:srgbClr val="5B6EE1"/>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xxd -r -p turned the hex back into the stolen text.</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Data theft often hides in ordinary-looking traffic, split into small pieces. Wireshark's 'Follow stream' does this reassembly for you.</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5B6EE1"/>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How many pieces were there? How many bytes per piece?</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58 / 60</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B4233F"/>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10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2A1430"/>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FF8FB1"/>
                </a:solidFill>
                <a:latin typeface="Calibri" pitchFamily="34" charset="0"/>
                <a:ea typeface="Calibri" pitchFamily="34" charset="-122"/>
                <a:cs typeface="Calibri" pitchFamily="34" charset="-120"/>
              </a:rPr>
              <a:t>VERY HARD  ·  800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5B6EE1"/>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20624"/>
            <a:ext cx="421538" cy="402336"/>
          </a:xfrm>
          <a:prstGeom prst="roundRect">
            <a:avLst>
              <a:gd name="adj" fmla="val 13636"/>
            </a:avLst>
          </a:prstGeom>
          <a:solidFill>
            <a:srgbClr val="B4233F"/>
          </a:solidFill>
          <a:ln/>
        </p:spPr>
      </p:sp>
      <p:sp>
        <p:nvSpPr>
          <p:cNvPr id="26" name="Text 23"/>
          <p:cNvSpPr txBox="1"/>
          <p:nvPr/>
        </p:nvSpPr>
        <p:spPr>
          <a:xfrm>
            <a:off x="11218774"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Case closed</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Everything at once. Find whose account was broken into, find the file in their folder whose label lies, unpack it and decode what's inside.</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~/mission10/auth.log  homes/</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grep · filetype · zcat</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+800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mission taught us to find the attacker in auth.log?</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one taught us to spot a file whose label lies?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layers might be inside?</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59 / 60</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B4233F"/>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10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2A1430"/>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FF8FB1"/>
                </a:solidFill>
                <a:latin typeface="Calibri" pitchFamily="34" charset="0"/>
                <a:ea typeface="Calibri" pitchFamily="34" charset="-122"/>
                <a:cs typeface="Calibri" pitchFamily="34" charset="-120"/>
              </a:rPr>
              <a:t>VERY HARD  ·  800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5B6EE1"/>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20624"/>
            <a:ext cx="421538" cy="402336"/>
          </a:xfrm>
          <a:prstGeom prst="roundRect">
            <a:avLst>
              <a:gd name="adj" fmla="val 13636"/>
            </a:avLst>
          </a:prstGeom>
          <a:solidFill>
            <a:srgbClr val="B4233F"/>
          </a:solidFill>
          <a:ln/>
        </p:spPr>
      </p:sp>
      <p:sp>
        <p:nvSpPr>
          <p:cNvPr id="26" name="Text 23"/>
          <p:cNvSpPr txBox="1"/>
          <p:nvPr/>
        </p:nvSpPr>
        <p:spPr>
          <a:xfrm>
            <a:off x="11218774"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Solving Case closed</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cd ~/mission10</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grep Failed auth.log | cut -d' ' -f8 | sort | uniq -c | sort -n | tail -1</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     38 198.51.100.201</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grep Accepted auth.log | grep 198.51.100.201 | cut -d' ' -f6</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liam</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filetype homes/liam/*</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homes/liam/notes.txt: gzip compressed data</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zcat homes/liam/notes.txt | base64 -d</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Case closed.</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Flag: CYBA{closed-...}</a:t>
            </a:r>
            <a:endParaRPr lang="en-US" sz="115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B4233F"/>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Counting Failed lines found the attacker; Accepted named the user.</a:t>
            </a:r>
            <a:endParaRPr lang="en-US" sz="1400" dirty="0"/>
          </a:p>
        </p:txBody>
      </p:sp>
      <p:sp>
        <p:nvSpPr>
          <p:cNvPr id="38" name="Shape 35"/>
          <p:cNvSpPr/>
          <p:nvPr/>
        </p:nvSpPr>
        <p:spPr>
          <a:xfrm>
            <a:off x="7543800" y="2980944"/>
            <a:ext cx="457200" cy="457200"/>
          </a:xfrm>
          <a:prstGeom prst="ellipse">
            <a:avLst/>
          </a:prstGeom>
          <a:solidFill>
            <a:srgbClr val="B4233F"/>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filetype found the file in their folder that wasn't what it claimed.</a:t>
            </a:r>
            <a:endParaRPr lang="en-US" sz="1400" dirty="0"/>
          </a:p>
        </p:txBody>
      </p:sp>
      <p:sp>
        <p:nvSpPr>
          <p:cNvPr id="41" name="Shape 38"/>
          <p:cNvSpPr/>
          <p:nvPr/>
        </p:nvSpPr>
        <p:spPr>
          <a:xfrm>
            <a:off x="7543800" y="3767328"/>
            <a:ext cx="457200" cy="457200"/>
          </a:xfrm>
          <a:prstGeom prst="ellipse">
            <a:avLst/>
          </a:prstGeom>
          <a:solidFill>
            <a:srgbClr val="B4233F"/>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zcat, then base64 -d, opened the stolen evidence.</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A real investigation is exactly this chain: logs lead to an account, the account leads to files, files lead to proof.</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B4233F"/>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Write the whole case as three sentences: who, how, what was taken.</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Times, names, IPs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Forensics CTF   ·   60 / 60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CyberQuest Forensics CTF: read the evidence, then compete</dc:title>
  <dc:subject>PptxGenJS Presentation</dc:subject>
  <dc:creator>CyberQuest Academy</dc:creator>
  <cp:lastModifiedBy>CyberQuest Academy</cp:lastModifiedBy>
  <cp:revision>1</cp:revision>
  <dcterms:created xsi:type="dcterms:W3CDTF">2026-10-10T02:24:33Z</dcterms:created>
  <dcterms:modified xsi:type="dcterms:W3CDTF">2026-10-10T02:24:33Z</dcterms:modified>
</cp:coreProperties>
</file>