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32d2b4-6764-01f8-8473-12374b4b9b95}">
          <p14:sldIdLst>
            <p14:sldId id="257"/>
            <p14:sldId id="258"/>
            <p14:sldId id="259"/>
          </p14:sldIdLst>
        </p14:section>
        <p14:section name="Default-1" id="{7f5f77a8-e30d-19e3-af7a-808f46dcd1bb}">
          <p14:sldIdLst>
            <p14:sldId id="256"/>
          </p14:sldIdLst>
        </p14:section>
        <p14:section name="Part 1 · Web fundamentals" id="{ddc6d08d-2c2c-33f9-b8f1-344b8bb4b67e}">
          <p14:sldIdLst>
            <p14:sldId id="261"/>
            <p14:sldId id="262"/>
            <p14:sldId id="263"/>
            <p14:sldId id="264"/>
            <p14:sldId id="265"/>
            <p14:sldId id="266"/>
            <p14:sldId id="267"/>
          </p14:sldIdLst>
        </p14:section>
        <p14:section name="Default-2" id="{b292ed48-9bc3-d524-c1b7-82b2f308119a}">
          <p14:sldIdLst>
            <p14:sldId id="260"/>
          </p14:sldIdLst>
        </p14:section>
        <p14:section name="Part 2 · Browser toolkit" id="{085d5795-a4c2-426a-cc52-ab0036f84e0a}">
          <p14:sldIdLst>
            <p14:sldId id="269"/>
            <p14:sldId id="270"/>
            <p14:sldId id="271"/>
            <p14:sldId id="272"/>
            <p14:sldId id="273"/>
            <p14:sldId id="274"/>
            <p14:sldId id="275"/>
            <p14:sldId id="276"/>
            <p14:sldId id="277"/>
            <p14:sldId id="278"/>
          </p14:sldIdLst>
        </p14:section>
        <p14:section name="Default-3" id="{ee11dba0-97f9-91b4-b25e-200d2fa2b4d8}">
          <p14:sldIdLst>
            <p14:sldId id="268"/>
          </p14:sldIdLst>
        </p14:section>
        <p14:section name="Part 3 · Capture a flag" id="{5897c04e-5e4e-91aa-1667-a491918b8567}">
          <p14:sldIdLst>
            <p14:sldId id="280"/>
            <p14:sldId id="281"/>
            <p14:sldId id="282"/>
          </p14:sldIdLst>
        </p14:section>
        <p14:section name="Default-4" id="{fbf39717-1bb5-af67-ebbd-c10e172f5fe1}">
          <p14:sldIdLst>
            <p14:sldId id="279"/>
          </p14:sldIdLst>
        </p14:section>
        <p14:section name="Guided application" id="{6b52e831-d399-f54e-5d45-c190b16fec22}">
          <p14:sldIdLst>
            <p14:sldId id="283"/>
            <p14:sldId id="284"/>
            <p14:sldId id="285"/>
            <p14:sldId id="286"/>
          </p14:sldIdLst>
        </p14:section>
        <p14:section name="Independent application" id="{10531fc4-b248-7a96-c75c-27cdf84a46fc}">
          <p14:sldIdLst>
            <p14:sldId id="287"/>
          </p14:sldIdLst>
        </p14:section>
        <p14:section name="Part 3 · Wrapping up" id="{2b1bce5e-3b04-a650-2834-243a93980786}">
          <p14:sldIdLst>
            <p14:sldId id="288"/>
          </p14:sldIdLst>
        </p14:section>
        <p14:section name="Part 4 · Reflection" id="{42c3ee3d-dbfa-b6f2-39d2-30d57be41125}">
          <p14:sldIdLst>
            <p14:sldId id="290"/>
            <p14:sldId id="291"/>
            <p14:sldId id="292"/>
            <p14:sldId id="293"/>
          </p14:sldIdLst>
        </p14:section>
        <p14:section name="Default-5" id="{1ecdf799-6f5b-cd6e-bc0d-fe5ff5c3fea2}">
          <p14:sldIdLst>
            <p14:sldId id="289"/>
          </p14:sldIdLst>
        </p14:section>
        <p14:section name="Mentor appendix" id="{721f8fdb-e377-9685-042f-453c1f4481d0}">
          <p14:sldIdLst>
            <p14:sldId id="294"/>
            <p14:sldId id="295"/>
            <p14:sldId id="296"/>
            <p14:sldId id="297"/>
            <p14:sldId id="298"/>
            <p14:sldId id="299"/>
          </p14:sldIdLst>
        </p14:section>
        <p14:section name="Mentor appendix · Mission bank" id="{2e363952-fd2e-9512-bf71-14cb0b43f99f}">
          <p14:sldIdLst>
            <p14:sldId id="300"/>
            <p14:sldId id="301"/>
            <p14:sldId id="302"/>
            <p14:sldId id="303"/>
            <p14:sldId id="304"/>
            <p14:sldId id="305"/>
            <p14:sldId id="306"/>
            <p14:sldId id="307"/>
            <p14:sldId id="308"/>
            <p14:sldId id="309"/>
            <p14:sldId id="310"/>
            <p14:sldId id="311"/>
            <p14:sldId id="312"/>
            <p14:sldId id="313"/>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where you meet web security at work.
Promise: 'Today you will learn how websites really work, where they go wrong, and break into a practice app the way security pros do - using only your browser.'
Before class: the Web CTF link is on the 'Open the CTF' slide in the appendix, and you have watched it load on a student Chromebook on the school network. Nothing to install; it runs in a browser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up front. This is a focused, mentor-led session, not a race to finish every challenge. The goal is that students understand how an attacker thinks about a website - and most of all, how a CTF actually works: read the challenge, look at the app, try something, read what came back, adjust, capture a flag.
Say it plainly: 'You will NOT finish every challenge today, and that is fine. We want you to understand the process and feel confident starting one on your own.'
The arc below is the shape of the session: short theory, one flag captured together, then you start one yourself, then we reflect.
The deal: no coding needed. Looking closely at a page and changing what you send back is how everyone learns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In a web CTF, every flag is hidden somewhere inside a website: in the page's source, a cookie, the URL, a token, or the way the app handles your input. Find it, pull it out, submit it.
Read the flag anatomy out loud. Every flag starts with CYBA and has its secret between curly braces. That known start tells you when you've found the real thing.
Stress permission: poking at an app you were handed in a CTF is practice. Doing it to a site you don't own is a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in the session. Every CTF challenge - and a lot of real security work - runs this same loop. Say it out loud, and point back to it every time the room gets stuck.
The key move is the middle of the loop: you TRY something, CHECK what came back, and ADJUST. Nobody is expected to know the answer up front. Reading the response and adjusting IS the skill. For web, 'Observe the clues' is where you ask: is the flag in the source, a cookie, the URL, a token, or the way my input is handled?
Capturing the flag is just where the loop ends. The habit of read, try, check, adjust is what students should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Ask: 'Who has used a website today?' Every hand. 'Everything you did went through the loop we're about to see.'
The command on screen fetches a page's raw code - exactly what you'll read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top-level definition and the vocabulary for the session. Web exploitation is finding mistakes in how a website is built and using them to make it do something it shouldn't - here, hand you a flag.
Walk the flow left to right: your browser sends a REQUEST, the server sends back a RESPONSE, the browser shows it. The catch is in the middle: the server often trusts whatever the request says. And you control the request.
Name the four words the class will hear all day: request, response, client (your browser), server (the app).
In this CTF you play the visitor who looks closer and changes the request: your job is to make the app reveal what it shouldn't.
At its heart: the browser will send whatever you tell it, and a careless server believes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 everything else rests on. Type a web address, press Enter, and your browser sends a REQUEST to a server. The server runs some code and sends back a RESPONSE: the HTML, plus headers (extra info like cookies). The browser draws the page.
Point out the parts on the right: the method (GET), the path (/?id=1), the headers (including the cookie your browser sends every time). Everything in that request is text, and every bit of it is under your control.
That is the whole opening for the attacker: the server is a stranger who only knows what your request told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mental model of the session. Every page is three layers, and each one leaks differently.
HTML is the structure and content: headings, text, forms, hidden fields - and comments. Secrets hide here (missions 1, 2).
CSS is the look: colour, layout, and what's shown or hidden. 'Hidden' is just a style, not a lock (mission 2).
JavaScript is the behaviour: it runs in YOUR browser, so you can read it and run it yourself. Any secret or check it holds is yours (missions 6, 7).
Ask: 'If the login check is JavaScript, where does it run?' In your browser - so you can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rule the whole deck leans on. There are two sides to every website: the client (your browser) and the server (the app).
Everything on the client side you control completely: the HTML, the CSS, the cookies, the JavaScript, and every request you send. You can read it and change it. So the server can never trust any of it.
Say it, write it, repeat it: NEVER TRUST THE CLIENT. Every mission today is a server that broke this rule - it believed a cookie, a URL, or a check that ran in your browser.
Analogy: the request is a form you fill in yourself. A careful office re-checks it; a careless one just stamps whatever you wrote.
The takeaway: if a decision happens in the browser, the user owns it. Security has to happen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Almost every app students use is a web app under the hood, talking to servers with the same requests and responses we just saw.
Social apps, games, banking, shopping, streaming, and the school portal all run on web technology. The skills today apply to all of them - which is exactly why web security is one of the biggest fields in the industry.
Ask: 'What's an app you used today that talks to the internet?' Almost all of them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tool slide. Everything today is done with DevTools - already built into Chrome, Edge and Firefox. Open it now on the projector: press F12 (or right-click → Inspect).
Walk the five panels. Students do not need to master them - just know which panel holds what, so they know where to look when they see the challenge.
Elements = the live page. Console = run JavaScript. Network = every request and response. Application = cookies and storage. Sources = the page's code files.
Say it: 'This is the same tool professional web developers and security testers use every day. It's free, and it's already on your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every web CTF is knowing where to look. Teach these six hiding places; students will lean on this slide all session.
In the source: an HTML comment or hidden field -&gt; View Source / Inspect.
In a cookie or storage: a value the site saved in your browser -&gt; Application.
In the URL: an id or name you can change -&gt; edit the address bar.
In robots.txt: a hidden path someone tried to keep quiet -&gt; visit it.
In the JavaScript: a function or password in the page's code -&gt; Console / Sources.
In a token: base64 or a JWT that only looks random -&gt; decode it.
Leave this slide up while students work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Open the Web CTF now (mentor appendix: 'Open the CTF'), so every device is ready for the Try it pills.
Demo every move live on the projector. Then give the room 30 seconds to try the green Try it themselves.
None of the Try it actions touch the missions, so nothing gets spoiled.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read what the page is really made of. Both reveal content the rendered page hides.
View Source (Ctrl+U) shows the raw HTML the server sent, exactly as it arrived - comments and all.
Inspect (F12 → Elements, or right-click → Inspect) shows the LIVE page: the current structure, including elements added by JavaScript and anything hidden with CSS. Right-click an element and 'Inspect' jumps straight to it.
Have students View Source on this very slide's CTF page, then open Elements and find a hidden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Elements panel is a live, editable copy of the page. Double-click text to change it; right-click a node to delete it, or to flip a style.
This is how you reveal things the page hides: find the element with display:none or a disabled button, and turn the style off or delete it. The hidden content pops into view.
Important and freeing to say: editing here only changes YOUR copy in YOUR browser. A reload throws it all away. You cannot break the real website from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cookie is a small text value the server asks your browser to keep and send back on every request. Local storage is similar, but stays in the browser. Both live in DevTools → Application.
You can read them, and you can change them. If a site decides what you can see from a cookie it handed you - role=user - you can try role=admin and reload. That's the mission 3 idea.
Tokens often live here too (mission 8). We'll decode those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address is not fixed furniture - it's input you type, so you can change it.
The query string is the part after the ?: /profile?id=1. Each name=value is a parameter. Change id=1 to id=2 and you've asked for a different record. If the server didn't check you're allowed, you get it (mission 4: IDOR).
robots.txt (at the site root) lists paths the site asks crawlers to skip. It's public, and it's a map of what someone wanted hidden. Read it, then visit the Disallowed path (mission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is a live JavaScript prompt attached to the page. Anything the page's code can do, you can type and run right now.
Call a function the page defined: getFlag(). Read a variable. Inspect document.cookie. Decode a token with atob(). It is the most powerful tool in the deck.
The lesson underneath: all this code was sent to your browser, so there are no secrets in it. If the page can compute the flag, so can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(sometimes 'Debugger') lists every code file the page loaded, including its JavaScript. You can open and read all of it.
When a page checks a password, shows or hides a button, or builds a flag in JavaScript, the logic is sitting right there to read. Mission 7's login password is one string in a .js file.
Two ways to win once you can read it: use what you learned (type the password), or skip the check entirely by calling the reveal function in the Console. Both prove the same point: client-side checks don't protect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prove who you are after login. They often LOOK like random gibberish, but most are only base64-encoded, not encrypted. No key needed to read them.
base64 turns bytes into safe letters and digits; it is reversible by anyone - exactly like the Crypto CTF. Decode with the Console's atob(), or base64 -d.
A JWT is three base64 parts split by dots: header.payload.signature. The middle part (payload) is your data - decode it and read it. The signature is what stops you forging changes, which is Mission 8's stretch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category of real web bugs, in one idea: when a site takes what you type and uses it without cleaning it, you can change what the app does.
If a search box pastes your text back into the page as HTML, typing &lt;b&gt;hi&lt;/b&gt; comes back bold - the browser ran your input instead of showing it. That's cross-site scripting (XSS). The same careless-trust idea, aimed at a database, is SQL injection.
Mission 9 is a gentle, sandboxed version. The fix is always the same: treat user input as text, never as code. Clean it, escape it, don't trust it.
Say clearly: we only do this inside the CTF. Injecting into sites you don't own is a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three-step routine as every CTF.
1. Open DevTools and look. Most flags are already in front of you: the source, a cookie, the URL, the JavaScript. Read before you touch.
2. Go back to the 'find where the flag hides' slide: which of the six places fits what you see?
3. hint N costs 5% of that mission's points, charged once per hint. Harder missions have several hints, each more direct. hint N shows the price; hint N --show buys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photograph. Every tool, and which mission it powers. All of it is built into the browser - nothing to install.
View Source, Elements, Console, Application, Sources and the address bar are standard parts of DevTools in Chrome, Edge and Firefox.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This is the heart of the session: students doing it, not watching. Capture Mission 1 together, then hand it over.
Put the CTF on one half of the projector and these slides on the other, or switch between them.
Each mission has two slides: the brief (show it, read it, ask the three questions) and the walkthrough (reveal it after the class has tried). You will not get through all ten, and that is by design - pick the ones that fit your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same for every mission. Drill it now so that the only new thing in each round is the challenge.
Say it together: Inspect. Find. Change. Check. Submit.
Check is the web-specific step: readable text starting CYBA{ means you captured it. Nothing? Wrong place or wrong change - go back to Inspect and look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teaching loop so the room knows what to expect, and why you keep pausing to ask questions. This is the mentor's rhythm for the guided flag and for every tool demo.
Predict is the step people skip. Always ask 'what do you think this will do?' BEFORE clicking. A wrong prediction corrected by the real response sticks far better than being handed the answer.
Explain closes the loop: a student puts what happened in their own words. If they can explain it, they own it.
Watch for:
- Ask before you tell - a question beats an answer every time.
- Always get a prediction before trying something.
- Let a student explain it back; that's how you know it landed.
- Guide and connect to real work. Don't drive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what is available. Leave it up for a moment and let students read the names - but set the expectation: this is a menu, not a to-do list. In one session, you capture the guided one together and students start one or two on their own.
Notice the order follows the toolkit from Part 2, and the difficulty climbs: source and cookies first, then the URL and hidden paths, then the Console and JavaScript, then tokens, injection and the final chain.
Do not frame this as a race to the end. Mission 1 is a great start for everyone; where each student goes next is up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View the source   [Easy, 100 points, We do]
Show this slide first. Read the brief out loud, then ask the three questions BEFORE anyone touches the app. Take one answer per question; do not confirm or correct yet - predicting, then checking, is where the learning happens.
The lesson of the day starts here: the browser shows a rendering, not the whole truth. Everything the page is built from was sent to your computer - and View Source and curl both reveal it.
This also bridges from the Linux CTF: the terminal path is the same curl, grep and pipes, now aimed at a web page. Show both; let students use whichever they prefer. The flag is random each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View the source
Guided mission: capture it live with the class calling out each move, then use this slide to recap.
The slide never shows a real flag: every computer has its own ids, tokens and flags, so students still have to do the steps themselves.
Ask one student to explain the three steps in their own words. Offer the stretch question to anyone who finished early.
The lesson of the day starts here: the browser shows a rendering, not the whole truth. Everything the page is built from was sent to your computer - and View Source and curl both reveal it.
This also bridges from the Linux CTF: the terminal path is the same curl, grep and pipes, now aimed at a web page. Show both; let students use whichever they prefer. The flag is random each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Hidden in plain sight   [Easy, 100 points, We do]
Show this slide first. Read the brief out loud, then ask the three questions BEFORE anyone touches the app. Take one answer per question; do not confirm or correct yet - predicting, then checking, is where the learning happens.
Reinforce Mission 1's point: the browser hides things for looks, not for security. 'display:none' is a style, not a lock.
Editing the DOM in Elements only changes the local copy; a reload undoes it. Good moment to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Hidden in plain sight
Guided mission: capture it live with the class calling out each move, then use this slide to recap.
The slide never shows a real flag: every computer has its own ids, tokens and flags, so students still have to do the steps themselves.
Ask one student to explain the three steps in their own words. Offer the stretch question to anyone who finished early.
Reinforce Mission 1's point: the browser hides things for looks, not for security. 'display:none' is a style, not a lock.
Editing the DOM in Elements only changes the local copy; a reload undoes it. Good moment to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Point students at the CTF and let them start a challenge on their OWN. Say clearly: you do NOT have to finish, and you do NOT have to do them in order. Pick one that looks interesting and run the loop: read, observe, try, check, adjust.
Walk the room. Ask questions instead of answering them: 'Where do you think the flag hides?' 'What did the response say?' 'What would you change next?' Resist driving for students.
The remaining challenges (3-10) are in the mentor appendix as a bank: pull one up if the room wants a nudge, or leave them for self-study. Finishing them is not the goal - confidence starting one is.
Mentor: one flag captured, understood, and explained back beats ten rushed. Celebrate the process, not the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teams compare answers out loud.
Comment hunt: open View Source on three real websites you use. Who finds the most interesting HTML comment a developer left behind?
Cookie census: open Application → Cookies on a site you're logged into. How many cookies is it storing on you? Can you guess what any of them do?
Token reader: find a base64 string anywhere (a token, a data URL) and decode it with atob() in the Console. What was inside?
Spot the trust: look at any form online. What stops you from changing the hidden fields before you submit? (On a careless site: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open the Console and type  console.log('nice work!')  - their first line of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takeaway: every bug today is a real category of web vulnerability, just made easy and safe. These exact mistakes show up in real apps - that's why companies pay people to find them.
Point at the OWASP connection: broken access control (missions 3, 4), security misconfiguration (mission 5), and injection (mission 9) are near the top of the real-world OWASP Top 10.
And the single fix behind almost all of them: never trust the client. Check on the server, clean every input, don't ship secrets to the browser.
Ask: 'After today, would you trust a website that checks your password in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technique the class used today.
Ask students to count the stamps they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meeting a web bug, a code review, or a security test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students can do tomorrow, for free.
CyberQuest Academy is where the next challenges live: fill in the link. The Web CTF works at home on any computer; every replay has new flags. OWASP Juice Shop is a free, legal practice app made of deliberately vulnerable pages - perfect for safe, hands-on learning.
Remind them of the rule one more time: only ever test sites you own or are given permission to test. Then thank the class and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appendix: reference for whoever runs the room - the page layout, how the challenges work under the hood, how to open the CTF, the answer key, and fixes for the usual snags. Not student-facing.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of the page, drawn here rather than a screenshot so it stays current. It is the same shell as the Linux and Crypto CTFs: a challenge panel on the left, a live browser frame on the right, and the scoreboard across the top.
Walk the eight parts. The 'Web CTF' tag is top left; the links to the other CTFs switch games (they start a new game, so don't click mid-race).
The most common snag in class is forgetting DevTools: students read the challenge, then stare at the rendered page. Say it twice - open F12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The Web CTF lives in the same GitLab project as the Linux and Crypto CTFs, in public/web/. It reuses the same page shell and scoreboard; only the challenges differ.
Each challenge is a small, self-contained page served inside the CTF. On every load the server generates random flags, random record ids (mission 4), a random hidden path (mission 5), a random login password (mission 7), and random tokens (missions 8, 10). Only SHA-256 hashes of the flags are kept, so there is no answer file.
Everything runs client-side in the browser, so there is nothing to install and no backend to host: the 'server' behaviour is simulated in the page, which is why it works from GitLab Pages on a Chromebook.
Rebuild after editing challenges: python3 guest-web/make-web.py, then guest-web/build.sh.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so every device is ready for the Try it pills.
WRITE YOUR ADDRESS IN THE BOX before presenting. It is your GitLab Pages address with /web/ on the end. The Linux and Crypto CTF pages also link to it in their headers.
Most important rule: do not reload a challenge mid-capture. A reload builds a new page with new flags and ids, and resets the clock and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ids, hidden paths, passwords and tokens are random on every page load and the CTF keeps only fingerprints, so there is no list of flags: play each mission yourself before class.
Mission 7 passwords come from a small word+number list; Mission 5 hidden path and Mission 4 target id are random each load.
Most captures are a DevTools action, not a typed command - the 'answer' column is the move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the same as the other CTFs: the school web filter, Pages visibility, or forgetting to open DevTools. The web-specific ones are below.
Plan B if most devices can't load it: drive the CTF on the projector and run the competition as 'We do', with teams racing to call out the next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bank, not a checklist. Missions 1 and 2 are the guided example in the main deck; these eight are here for independent work and self-study.
Pull one up when a student wants a nudge on a challenge they chose, or share the deck afterward. In a one-hour session you will not show most of these live - and that's the point.
Each mission has a brief (the clue and three questions) and a walkthrough (one correct path). Flags differ on every computer, so walkthroughs are safe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Check the cookies   [Easy, 100 points, You do]
Show this slide first. Read the brief out loud, then ask the three questions BEFORE anyone touches the app. Take one answer per question; do not confirm or correct yet - predicting, then checking, is where the learning happens.
First 'You do' mission. Let them explore the Application tab. The flag cookie is the capture; the role cookie is the teaching point for later.
Cookie names and the flag are random each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Check the cookies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First 'You do' mission. Let them explore the Application tab. The flag cookie is the capture; the role cookie is the teaching point for later.
Cookie names and the flag are random each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Tamper with the URL   [Medium, 200 points, You do]
Show this slide first. Read the brief out loud, then ask the three questions BEFORE anyone touches the app. Take one answer per question; do not confirm or correct yet - predicting, then checking, is where the learning happens.
The first 'change the request' mission. Make the point: the URL is input the user controls, never a lock.
Which id holds the flag is random each load; encourage trying a few.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Tamper with the URL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The first 'change the request' mission. Make the point: the URL is input the user controls, never a lock.
Which id holds the flag is random each load; encourage trying a few.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Robots and secret paths   [Medium, 200 points, You do]
Show this slide first. Read the brief out loud, then ask the three questions BEFORE anyone touches the app. Take one answer per question; do not confirm or correct yet - predicting, then checking, is where the learning happens.
The hidden folder name is random each load; students must read robots.txt, not guess.
Great place to name 'security through obscurity' and why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Robots and secret paths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The hidden folder name is random each load; students must read robots.txt, not guess.
Great place to name 'security through obscurity' and why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The console knows   [Medium, 200 points, You do]
Show this slide first. Read the brief out loud, then ask the three questions BEFORE anyone touches the app. Take one answer per question; do not confirm or correct yet - predicting, then checking, is where the learning happens.
The function name is shown in the brief / page hints and is stable enough to call. Encourage exploring the Console: it is the single most powerful tool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The console knows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The function name is shown in the brief / page hints and is stable enough to call. Encourage exploring the Console: it is the single most powerful tool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Break the lock   [Medium, 200 points, You do]
Show this slide first. Read the brief out loud, then ask the three questions BEFORE anyone touches the app. Take one answer per question; do not confirm or correct yet - predicting, then checking, is where the learning happens.
Two paths work: read the password and type it, or skip the check entirely by calling the reveal function in the Console. Either one proves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Break the lock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Two paths work: read the password and type it, or skip the check entirely by calling the reveal function in the Console. Either one proves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Decode the token   [Hard, 400 points, You do]
Show this slide first. Read the brief out loud, then ask the three questions BEFORE anyone touches the app. Take one answer per question; do not confirm or correct yet - predicting, then checking, is where the learning happens.
Callback to the Crypto CTF: base64 again. If students played that deck, let them point it out.
The console has atob() for base64 too: atob('eyJ1c2Vy...').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Decode the token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Callback to the Crypto CTF: base64 again. If students played that deck, let them point it out.
The console has atob() for base64 too: atob('eyJ1c2Vy...').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A little injection   [Hard, 400 points, You do]
Show this slide first. Read the brief out loud, then ask the three questions BEFORE anyone touches the app. Take one answer per question; do not confirm or correct yet - predicting, then checking, is where the learning happens.
Keep this gentle and conceptual: a reflected &lt;b&gt; tag is enough to show the idea. Everything is in the CTF sandbox; stress that injecting into sites you don't own is a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A little injection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Keep this gentle and conceptual: a reflected &lt;b&gt; tag is enough to show the idea. Everything is in the CTF sandbox; stress that injecting into sites you don't own is a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The full chain   [Very Hard, 800 points, You do]
Show this slide first. Read the brief out loud, then ask the three questions BEFORE anyone touches the app. Take one answer per question; do not confirm or correct yet - predicting, then checking, is where the learning happens.
The capstone: it revisits missions 5, 4 and 8. Walk it only if time allows; reaching it is a stretch goal, not the point of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The full chain
Independent mission: reveal this slide only after students have tried, or when the room is stuck. Not everyone needs to reach it - one captured flag is a win.
The slide never shows a real flag: every computer has its own ids, tokens and flags, so students still have to do the steps themselves.
Ask one student to explain the three steps in their own words. Offer the stretch question to anyone who finished early.
The capstone: it revisits missions 5, 4 and 8. Walk it only if time allows; reaching it is a stretch goal, not the point of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6583680" cy="1280160"/>
          </a:xfrm>
          <a:prstGeom prst="rect">
            <a:avLst/>
          </a:prstGeom>
          <a:noFill/>
          <a:ln/>
        </p:spPr>
        <p:txBody>
          <a:bodyPr wrap="square" lIns="0" tIns="0" rIns="0" bIns="0" rtlCol="0" anchor="ctr"/>
          <a:lstStyle/>
          <a:p>
            <a:pPr indent="0" marL="0">
              <a:buNone/>
            </a:pPr>
            <a:r>
              <a:rPr lang="en-US" sz="8400" b="1" dirty="0">
                <a:solidFill>
                  <a:srgbClr val="FFFFFF"/>
                </a:solidFill>
                <a:latin typeface="Arial" pitchFamily="34" charset="0"/>
                <a:ea typeface="Arial" pitchFamily="34" charset="-122"/>
                <a:cs typeface="Arial" pitchFamily="34" charset="-120"/>
              </a:rPr>
              <a:t>CyberQuest</a:t>
            </a:r>
            <a:endParaRPr lang="en-US" sz="8400" dirty="0"/>
          </a:p>
        </p:txBody>
      </p:sp>
      <p:sp>
        <p:nvSpPr>
          <p:cNvPr id="3" name="Text 1"/>
          <p:cNvSpPr txBox="1"/>
          <p:nvPr/>
        </p:nvSpPr>
        <p:spPr>
          <a:xfrm>
            <a:off x="548640" y="2788920"/>
            <a:ext cx="6309360" cy="1188720"/>
          </a:xfrm>
          <a:prstGeom prst="rect">
            <a:avLst/>
          </a:prstGeom>
          <a:noFill/>
          <a:ln/>
        </p:spPr>
        <p:txBody>
          <a:bodyPr wrap="square" lIns="0" tIns="0" rIns="0" bIns="0" rtlCol="0" anchor="ctr"/>
          <a:lstStyle/>
          <a:p>
            <a:pPr indent="0" marL="0">
              <a:buNone/>
            </a:pPr>
            <a:r>
              <a:rPr lang="en-US" sz="2600" dirty="0">
                <a:solidFill>
                  <a:srgbClr val="E8EEFF"/>
                </a:solidFill>
                <a:latin typeface="Calibri" pitchFamily="34" charset="0"/>
                <a:ea typeface="Calibri" pitchFamily="34" charset="-122"/>
                <a:cs typeface="Calibri" pitchFamily="34" charset="-120"/>
              </a:rPr>
              <a:t>Web CTF: break into the app.</a:t>
            </a:r>
            <a:endParaRPr lang="en-US" sz="2600" dirty="0"/>
          </a:p>
          <a:p>
            <a:pPr indent="0" marL="0">
              <a:buNone/>
            </a:pPr>
            <a:r>
              <a:rPr lang="en-US" sz="2600" dirty="0">
                <a:solidFill>
                  <a:srgbClr val="E8EEFF"/>
                </a:solidFill>
                <a:latin typeface="Calibri" pitchFamily="34" charset="0"/>
                <a:ea typeface="Calibri" pitchFamily="34" charset="-122"/>
                <a:cs typeface="Calibri" pitchFamily="34" charset="-120"/>
              </a:rPr>
              <a:t>Learn how, then compete.</a:t>
            </a:r>
            <a:endParaRPr lang="en-US" sz="2600" dirty="0"/>
          </a:p>
        </p:txBody>
      </p:sp>
      <p:sp>
        <p:nvSpPr>
          <p:cNvPr id="4" name="Shape 2"/>
          <p:cNvSpPr/>
          <p:nvPr/>
        </p:nvSpPr>
        <p:spPr>
          <a:xfrm>
            <a:off x="548640" y="4160520"/>
            <a:ext cx="2743200" cy="347472"/>
          </a:xfrm>
          <a:prstGeom prst="roundRect">
            <a:avLst>
              <a:gd name="adj" fmla="val 50000"/>
            </a:avLst>
          </a:prstGeom>
          <a:solidFill>
            <a:srgbClr val="F5A623"/>
          </a:solidFill>
          <a:ln/>
        </p:spPr>
      </p:sp>
      <p:sp>
        <p:nvSpPr>
          <p:cNvPr id="5" name="Text 3"/>
          <p:cNvSpPr txBox="1"/>
          <p:nvPr/>
        </p:nvSpPr>
        <p:spPr>
          <a:xfrm>
            <a:off x="548640" y="4160520"/>
            <a:ext cx="2743200" cy="347472"/>
          </a:xfrm>
          <a:prstGeom prst="rect">
            <a:avLst/>
          </a:prstGeom>
          <a:noFill/>
          <a:ln/>
        </p:spPr>
        <p:txBody>
          <a:bodyPr wrap="square" lIns="0" tIns="0" rIns="0" bIns="0" rtlCol="0" anchor="ctr"/>
          <a:lstStyle/>
          <a:p>
            <a:pPr algn="ctr" indent="0" marL="0">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6" name="Text 4"/>
          <p:cNvSpPr txBox="1"/>
          <p:nvPr/>
        </p:nvSpPr>
        <p:spPr>
          <a:xfrm>
            <a:off x="548640" y="4681728"/>
            <a:ext cx="59436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CyberQuest Academy mentorship session</a:t>
            </a:r>
            <a:endParaRPr lang="en-US" sz="1800" dirty="0"/>
          </a:p>
        </p:txBody>
      </p:sp>
      <p:sp>
        <p:nvSpPr>
          <p:cNvPr id="8" name="Text 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Web CTF   ·   1 / 61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today works</a:t>
            </a:r>
            <a:endParaRPr lang="en-US" sz="3200" dirty="0"/>
          </a:p>
        </p:txBody>
      </p:sp>
      <p:sp>
        <p:nvSpPr>
          <p:cNvPr id="4" name="Shape 1"/>
          <p:cNvSpPr/>
          <p:nvPr/>
        </p:nvSpPr>
        <p:spPr>
          <a:xfrm>
            <a:off x="548640" y="1627632"/>
            <a:ext cx="3611880" cy="1810512"/>
          </a:xfrm>
          <a:prstGeom prst="roundRect">
            <a:avLst>
              <a:gd name="adj" fmla="val 6061"/>
            </a:avLst>
          </a:prstGeom>
          <a:solidFill>
            <a:srgbClr val="E8F3EF"/>
          </a:solidFill>
          <a:ln w="12700">
            <a:solidFill>
              <a:srgbClr val="B5D9CA"/>
            </a:solidFill>
            <a:prstDash val="solid"/>
          </a:ln>
        </p:spPr>
      </p:sp>
      <p:sp>
        <p:nvSpPr>
          <p:cNvPr id="5" name="Shape 2"/>
          <p:cNvSpPr/>
          <p:nvPr/>
        </p:nvSpPr>
        <p:spPr>
          <a:xfrm>
            <a:off x="822960" y="1901952"/>
            <a:ext cx="512064" cy="512064"/>
          </a:xfrm>
          <a:prstGeom prst="ellipse">
            <a:avLst/>
          </a:prstGeom>
          <a:solidFill>
            <a:srgbClr val="17875A"/>
          </a:solidFill>
          <a:ln/>
        </p:spPr>
      </p:sp>
      <p:sp>
        <p:nvSpPr>
          <p:cNvPr id="6" name="Text 3"/>
          <p:cNvSpPr txBox="1"/>
          <p:nvPr/>
        </p:nvSpPr>
        <p:spPr>
          <a:xfrm>
            <a:off x="822960" y="1901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463040" y="1901952"/>
            <a:ext cx="2286000" cy="512064"/>
          </a:xfrm>
          <a:prstGeom prst="rect">
            <a:avLst/>
          </a:prstGeom>
          <a:noFill/>
          <a:ln/>
        </p:spPr>
        <p:txBody>
          <a:bodyPr wrap="square" lIns="0" tIns="0" rIns="0" bIns="0" rtlCol="0" anchor="ctr"/>
          <a:lstStyle/>
          <a:p>
            <a:pPr indent="0" marL="0">
              <a:buNone/>
            </a:pPr>
            <a:r>
              <a:rPr lang="en-US" sz="2100" b="1" dirty="0">
                <a:solidFill>
                  <a:srgbClr val="17875A"/>
                </a:solidFill>
                <a:latin typeface="Arial" pitchFamily="34" charset="0"/>
                <a:ea typeface="Arial" pitchFamily="34" charset="-122"/>
                <a:cs typeface="Arial" pitchFamily="34" charset="-120"/>
              </a:rPr>
              <a:t>Concept</a:t>
            </a:r>
            <a:endParaRPr lang="en-US" sz="2100" dirty="0"/>
          </a:p>
        </p:txBody>
      </p:sp>
      <p:sp>
        <p:nvSpPr>
          <p:cNvPr id="8" name="Text 5"/>
          <p:cNvSpPr txBox="1"/>
          <p:nvPr/>
        </p:nvSpPr>
        <p:spPr>
          <a:xfrm>
            <a:off x="841248" y="2542032"/>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What a web CTF is, and why web bugs matter.</a:t>
            </a:r>
            <a:endParaRPr lang="en-US" sz="1450" dirty="0"/>
          </a:p>
        </p:txBody>
      </p:sp>
      <p:sp>
        <p:nvSpPr>
          <p:cNvPr id="9" name="Shape 6"/>
          <p:cNvSpPr/>
          <p:nvPr/>
        </p:nvSpPr>
        <p:spPr>
          <a:xfrm>
            <a:off x="3136392" y="2468880"/>
            <a:ext cx="841248" cy="841248"/>
          </a:xfrm>
          <a:prstGeom prst="ellipse">
            <a:avLst/>
          </a:prstGeom>
          <a:solidFill>
            <a:srgbClr val="D1E7DE"/>
          </a:solidFill>
          <a:ln/>
        </p:spPr>
      </p:sp>
      <p:pic>
        <p:nvPicPr>
          <p:cNvPr id="10" name="Image 0" descr="preencoded.png">    </p:cNvPr>
          <p:cNvPicPr>
            <a:picLocks noChangeAspect="1"/>
          </p:cNvPicPr>
          <p:nvPr/>
        </p:nvPicPr>
        <p:blipFill>
          <a:blip r:embed="rId1"/>
          <a:stretch>
            <a:fillRect/>
          </a:stretch>
        </p:blipFill>
        <p:spPr>
          <a:xfrm>
            <a:off x="3363529" y="2696017"/>
            <a:ext cx="386974" cy="386974"/>
          </a:xfrm>
          <a:prstGeom prst="rect">
            <a:avLst/>
          </a:prstGeom>
        </p:spPr>
      </p:pic>
      <p:sp>
        <p:nvSpPr>
          <p:cNvPr id="11" name="Shape 7"/>
          <p:cNvSpPr/>
          <p:nvPr/>
        </p:nvSpPr>
        <p:spPr>
          <a:xfrm>
            <a:off x="4178808" y="2532888"/>
            <a:ext cx="182880" cy="18288"/>
          </a:xfrm>
          <a:prstGeom prst="line">
            <a:avLst/>
          </a:prstGeom>
          <a:noFill/>
          <a:ln w="25400">
            <a:solidFill>
              <a:srgbClr val="9AA7BD"/>
            </a:solidFill>
            <a:prstDash val="solid"/>
            <a:tailEnd type="triangle"/>
          </a:ln>
        </p:spPr>
      </p:sp>
      <p:sp>
        <p:nvSpPr>
          <p:cNvPr id="12" name="Shape 8"/>
          <p:cNvSpPr/>
          <p:nvPr/>
        </p:nvSpPr>
        <p:spPr>
          <a:xfrm>
            <a:off x="4379976" y="1627632"/>
            <a:ext cx="3611880" cy="1810512"/>
          </a:xfrm>
          <a:prstGeom prst="roundRect">
            <a:avLst>
              <a:gd name="adj" fmla="val 6061"/>
            </a:avLst>
          </a:prstGeom>
          <a:solidFill>
            <a:srgbClr val="EAF5FB"/>
          </a:solidFill>
          <a:ln w="12700">
            <a:solidFill>
              <a:srgbClr val="BBE0F2"/>
            </a:solidFill>
            <a:prstDash val="solid"/>
          </a:ln>
        </p:spPr>
      </p:sp>
      <p:sp>
        <p:nvSpPr>
          <p:cNvPr id="13" name="Shape 9"/>
          <p:cNvSpPr/>
          <p:nvPr/>
        </p:nvSpPr>
        <p:spPr>
          <a:xfrm>
            <a:off x="4654296" y="1901952"/>
            <a:ext cx="512064" cy="512064"/>
          </a:xfrm>
          <a:prstGeom prst="ellipse">
            <a:avLst/>
          </a:prstGeom>
          <a:solidFill>
            <a:srgbClr val="2A9FD6"/>
          </a:solidFill>
          <a:ln/>
        </p:spPr>
      </p:sp>
      <p:sp>
        <p:nvSpPr>
          <p:cNvPr id="14" name="Text 10"/>
          <p:cNvSpPr txBox="1"/>
          <p:nvPr/>
        </p:nvSpPr>
        <p:spPr>
          <a:xfrm>
            <a:off x="4654296" y="1901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1"/>
          <p:cNvSpPr txBox="1"/>
          <p:nvPr/>
        </p:nvSpPr>
        <p:spPr>
          <a:xfrm>
            <a:off x="5294376" y="1901952"/>
            <a:ext cx="2286000" cy="512064"/>
          </a:xfrm>
          <a:prstGeom prst="rect">
            <a:avLst/>
          </a:prstGeom>
          <a:noFill/>
          <a:ln/>
        </p:spPr>
        <p:txBody>
          <a:bodyPr wrap="square" lIns="0" tIns="0" rIns="0" bIns="0" rtlCol="0" anchor="ctr"/>
          <a:lstStyle/>
          <a:p>
            <a:pPr indent="0" marL="0">
              <a:buNone/>
            </a:pPr>
            <a:r>
              <a:rPr lang="en-US" sz="2100" b="1" dirty="0">
                <a:solidFill>
                  <a:srgbClr val="2A9FD6"/>
                </a:solidFill>
                <a:latin typeface="Arial" pitchFamily="34" charset="0"/>
                <a:ea typeface="Arial" pitchFamily="34" charset="-122"/>
                <a:cs typeface="Arial" pitchFamily="34" charset="-120"/>
              </a:rPr>
              <a:t>Mental model</a:t>
            </a:r>
            <a:endParaRPr lang="en-US" sz="2100" dirty="0"/>
          </a:p>
        </p:txBody>
      </p:sp>
      <p:sp>
        <p:nvSpPr>
          <p:cNvPr id="16" name="Text 12"/>
          <p:cNvSpPr txBox="1"/>
          <p:nvPr/>
        </p:nvSpPr>
        <p:spPr>
          <a:xfrm>
            <a:off x="4672584" y="2542032"/>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How attackers think: never trust the browser.</a:t>
            </a:r>
            <a:endParaRPr lang="en-US" sz="1450" dirty="0"/>
          </a:p>
        </p:txBody>
      </p:sp>
      <p:sp>
        <p:nvSpPr>
          <p:cNvPr id="17" name="Shape 13"/>
          <p:cNvSpPr/>
          <p:nvPr/>
        </p:nvSpPr>
        <p:spPr>
          <a:xfrm>
            <a:off x="6967728" y="2468880"/>
            <a:ext cx="841248" cy="841248"/>
          </a:xfrm>
          <a:prstGeom prst="ellipse">
            <a:avLst/>
          </a:prstGeom>
          <a:solidFill>
            <a:srgbClr val="D4ECF7"/>
          </a:solidFill>
          <a:ln/>
        </p:spPr>
      </p:sp>
      <p:pic>
        <p:nvPicPr>
          <p:cNvPr id="18" name="Image 1" descr="preencoded.png">    </p:cNvPr>
          <p:cNvPicPr>
            <a:picLocks noChangeAspect="1"/>
          </p:cNvPicPr>
          <p:nvPr/>
        </p:nvPicPr>
        <p:blipFill>
          <a:blip r:embed="rId2"/>
          <a:stretch>
            <a:fillRect/>
          </a:stretch>
        </p:blipFill>
        <p:spPr>
          <a:xfrm>
            <a:off x="7194865" y="2696017"/>
            <a:ext cx="386974" cy="386974"/>
          </a:xfrm>
          <a:prstGeom prst="rect">
            <a:avLst/>
          </a:prstGeom>
        </p:spPr>
      </p:pic>
      <p:sp>
        <p:nvSpPr>
          <p:cNvPr id="19" name="Shape 14"/>
          <p:cNvSpPr/>
          <p:nvPr/>
        </p:nvSpPr>
        <p:spPr>
          <a:xfrm>
            <a:off x="8010144" y="2532888"/>
            <a:ext cx="182880" cy="18288"/>
          </a:xfrm>
          <a:prstGeom prst="line">
            <a:avLst/>
          </a:prstGeom>
          <a:noFill/>
          <a:ln w="25400">
            <a:solidFill>
              <a:srgbClr val="9AA7BD"/>
            </a:solidFill>
            <a:prstDash val="solid"/>
            <a:tailEnd type="triangle"/>
          </a:ln>
        </p:spPr>
      </p:sp>
      <p:sp>
        <p:nvSpPr>
          <p:cNvPr id="20" name="Shape 15"/>
          <p:cNvSpPr/>
          <p:nvPr/>
        </p:nvSpPr>
        <p:spPr>
          <a:xfrm>
            <a:off x="8211312" y="1627632"/>
            <a:ext cx="3611880" cy="1810512"/>
          </a:xfrm>
          <a:prstGeom prst="roundRect">
            <a:avLst>
              <a:gd name="adj" fmla="val 6061"/>
            </a:avLst>
          </a:prstGeom>
          <a:solidFill>
            <a:srgbClr val="E9EEFB"/>
          </a:solidFill>
          <a:ln w="12700">
            <a:solidFill>
              <a:srgbClr val="B9CAF3"/>
            </a:solidFill>
            <a:prstDash val="solid"/>
          </a:ln>
        </p:spPr>
      </p:sp>
      <p:sp>
        <p:nvSpPr>
          <p:cNvPr id="21" name="Shape 16"/>
          <p:cNvSpPr/>
          <p:nvPr/>
        </p:nvSpPr>
        <p:spPr>
          <a:xfrm>
            <a:off x="8485632" y="1901952"/>
            <a:ext cx="512064" cy="512064"/>
          </a:xfrm>
          <a:prstGeom prst="ellipse">
            <a:avLst/>
          </a:prstGeom>
          <a:solidFill>
            <a:srgbClr val="2459D8"/>
          </a:solidFill>
          <a:ln/>
        </p:spPr>
      </p:sp>
      <p:sp>
        <p:nvSpPr>
          <p:cNvPr id="22" name="Text 17"/>
          <p:cNvSpPr txBox="1"/>
          <p:nvPr/>
        </p:nvSpPr>
        <p:spPr>
          <a:xfrm>
            <a:off x="8485632" y="19019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3" name="Text 18"/>
          <p:cNvSpPr txBox="1"/>
          <p:nvPr/>
        </p:nvSpPr>
        <p:spPr>
          <a:xfrm>
            <a:off x="9125712" y="1901952"/>
            <a:ext cx="2286000" cy="512064"/>
          </a:xfrm>
          <a:prstGeom prst="rect">
            <a:avLst/>
          </a:prstGeom>
          <a:noFill/>
          <a:ln/>
        </p:spPr>
        <p:txBody>
          <a:bodyPr wrap="square" lIns="0" tIns="0" rIns="0" bIns="0" rtlCol="0" anchor="ctr"/>
          <a:lstStyle/>
          <a:p>
            <a:pPr indent="0" marL="0">
              <a:buNone/>
            </a:pPr>
            <a:r>
              <a:rPr lang="en-US" sz="2100" b="1" dirty="0">
                <a:solidFill>
                  <a:srgbClr val="2459D8"/>
                </a:solidFill>
                <a:latin typeface="Arial" pitchFamily="34" charset="0"/>
                <a:ea typeface="Arial" pitchFamily="34" charset="-122"/>
                <a:cs typeface="Arial" pitchFamily="34" charset="-120"/>
              </a:rPr>
              <a:t>Tools</a:t>
            </a:r>
            <a:endParaRPr lang="en-US" sz="2100" dirty="0"/>
          </a:p>
        </p:txBody>
      </p:sp>
      <p:sp>
        <p:nvSpPr>
          <p:cNvPr id="24" name="Text 19"/>
          <p:cNvSpPr txBox="1"/>
          <p:nvPr/>
        </p:nvSpPr>
        <p:spPr>
          <a:xfrm>
            <a:off x="8503920" y="2542032"/>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The browser's own DevTools - just what a challenge needs.</a:t>
            </a:r>
            <a:endParaRPr lang="en-US" sz="1450" dirty="0"/>
          </a:p>
        </p:txBody>
      </p:sp>
      <p:sp>
        <p:nvSpPr>
          <p:cNvPr id="25" name="Shape 20"/>
          <p:cNvSpPr/>
          <p:nvPr/>
        </p:nvSpPr>
        <p:spPr>
          <a:xfrm>
            <a:off x="10799064" y="2468880"/>
            <a:ext cx="841248" cy="841248"/>
          </a:xfrm>
          <a:prstGeom prst="ellipse">
            <a:avLst/>
          </a:prstGeom>
          <a:solidFill>
            <a:srgbClr val="D3DEF7"/>
          </a:solidFill>
          <a:ln/>
        </p:spPr>
      </p:sp>
      <p:pic>
        <p:nvPicPr>
          <p:cNvPr id="26" name="Image 2" descr="preencoded.png">    </p:cNvPr>
          <p:cNvPicPr>
            <a:picLocks noChangeAspect="1"/>
          </p:cNvPicPr>
          <p:nvPr/>
        </p:nvPicPr>
        <p:blipFill>
          <a:blip r:embed="rId3"/>
          <a:stretch>
            <a:fillRect/>
          </a:stretch>
        </p:blipFill>
        <p:spPr>
          <a:xfrm>
            <a:off x="11026201" y="2696017"/>
            <a:ext cx="386974" cy="386974"/>
          </a:xfrm>
          <a:prstGeom prst="rect">
            <a:avLst/>
          </a:prstGeom>
        </p:spPr>
      </p:pic>
      <p:sp>
        <p:nvSpPr>
          <p:cNvPr id="27" name="Shape 21"/>
          <p:cNvSpPr/>
          <p:nvPr/>
        </p:nvSpPr>
        <p:spPr>
          <a:xfrm>
            <a:off x="548640" y="3621024"/>
            <a:ext cx="3611880" cy="1810512"/>
          </a:xfrm>
          <a:prstGeom prst="roundRect">
            <a:avLst>
              <a:gd name="adj" fmla="val 6061"/>
            </a:avLst>
          </a:prstGeom>
          <a:solidFill>
            <a:srgbClr val="F1EDFB"/>
          </a:solidFill>
          <a:ln w="12700">
            <a:solidFill>
              <a:srgbClr val="D3C4F1"/>
            </a:solidFill>
            <a:prstDash val="solid"/>
          </a:ln>
        </p:spPr>
      </p:sp>
      <p:sp>
        <p:nvSpPr>
          <p:cNvPr id="28" name="Shape 22"/>
          <p:cNvSpPr/>
          <p:nvPr/>
        </p:nvSpPr>
        <p:spPr>
          <a:xfrm>
            <a:off x="822960" y="3895344"/>
            <a:ext cx="512064" cy="512064"/>
          </a:xfrm>
          <a:prstGeom prst="ellipse">
            <a:avLst/>
          </a:prstGeom>
          <a:solidFill>
            <a:srgbClr val="7448D4"/>
          </a:solidFill>
          <a:ln/>
        </p:spPr>
      </p:sp>
      <p:sp>
        <p:nvSpPr>
          <p:cNvPr id="29" name="Text 23"/>
          <p:cNvSpPr txBox="1"/>
          <p:nvPr/>
        </p:nvSpPr>
        <p:spPr>
          <a:xfrm>
            <a:off x="822960" y="38953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4"/>
          <p:cNvSpPr txBox="1"/>
          <p:nvPr/>
        </p:nvSpPr>
        <p:spPr>
          <a:xfrm>
            <a:off x="1463040" y="3895344"/>
            <a:ext cx="2286000" cy="512064"/>
          </a:xfrm>
          <a:prstGeom prst="rect">
            <a:avLst/>
          </a:prstGeom>
          <a:noFill/>
          <a:ln/>
        </p:spPr>
        <p:txBody>
          <a:bodyPr wrap="square" lIns="0" tIns="0" rIns="0" bIns="0" rtlCol="0" anchor="ctr"/>
          <a:lstStyle/>
          <a:p>
            <a:pPr indent="0" marL="0">
              <a:buNone/>
            </a:pPr>
            <a:r>
              <a:rPr lang="en-US" sz="2100" b="1" dirty="0">
                <a:solidFill>
                  <a:srgbClr val="7448D4"/>
                </a:solidFill>
                <a:latin typeface="Arial" pitchFamily="34" charset="0"/>
                <a:ea typeface="Arial" pitchFamily="34" charset="-122"/>
                <a:cs typeface="Arial" pitchFamily="34" charset="-120"/>
              </a:rPr>
              <a:t>Guided</a:t>
            </a:r>
            <a:endParaRPr lang="en-US" sz="2100" dirty="0"/>
          </a:p>
        </p:txBody>
      </p:sp>
      <p:sp>
        <p:nvSpPr>
          <p:cNvPr id="31" name="Text 25"/>
          <p:cNvSpPr txBox="1"/>
          <p:nvPr/>
        </p:nvSpPr>
        <p:spPr>
          <a:xfrm>
            <a:off x="841248" y="4535424"/>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We capture a flag together, step by step.</a:t>
            </a:r>
            <a:endParaRPr lang="en-US" sz="1450" dirty="0"/>
          </a:p>
        </p:txBody>
      </p:sp>
      <p:sp>
        <p:nvSpPr>
          <p:cNvPr id="32" name="Shape 26"/>
          <p:cNvSpPr/>
          <p:nvPr/>
        </p:nvSpPr>
        <p:spPr>
          <a:xfrm>
            <a:off x="3136392" y="4462272"/>
            <a:ext cx="841248" cy="841248"/>
          </a:xfrm>
          <a:prstGeom prst="ellipse">
            <a:avLst/>
          </a:prstGeom>
          <a:solidFill>
            <a:srgbClr val="E3DAF6"/>
          </a:solidFill>
          <a:ln/>
        </p:spPr>
      </p:sp>
      <p:pic>
        <p:nvPicPr>
          <p:cNvPr id="33" name="Image 3" descr="preencoded.png">    </p:cNvPr>
          <p:cNvPicPr>
            <a:picLocks noChangeAspect="1"/>
          </p:cNvPicPr>
          <p:nvPr/>
        </p:nvPicPr>
        <p:blipFill>
          <a:blip r:embed="rId4"/>
          <a:stretch>
            <a:fillRect/>
          </a:stretch>
        </p:blipFill>
        <p:spPr>
          <a:xfrm>
            <a:off x="3363529" y="4689409"/>
            <a:ext cx="386974" cy="386974"/>
          </a:xfrm>
          <a:prstGeom prst="rect">
            <a:avLst/>
          </a:prstGeom>
        </p:spPr>
      </p:pic>
      <p:sp>
        <p:nvSpPr>
          <p:cNvPr id="34" name="Shape 27"/>
          <p:cNvSpPr/>
          <p:nvPr/>
        </p:nvSpPr>
        <p:spPr>
          <a:xfrm>
            <a:off x="4178808" y="4526280"/>
            <a:ext cx="182880" cy="18288"/>
          </a:xfrm>
          <a:prstGeom prst="line">
            <a:avLst/>
          </a:prstGeom>
          <a:noFill/>
          <a:ln w="25400">
            <a:solidFill>
              <a:srgbClr val="9AA7BD"/>
            </a:solidFill>
            <a:prstDash val="solid"/>
            <a:tailEnd type="triangle"/>
          </a:ln>
        </p:spPr>
      </p:sp>
      <p:sp>
        <p:nvSpPr>
          <p:cNvPr id="35" name="Shape 28"/>
          <p:cNvSpPr/>
          <p:nvPr/>
        </p:nvSpPr>
        <p:spPr>
          <a:xfrm>
            <a:off x="4379976" y="3621024"/>
            <a:ext cx="3611880" cy="1810512"/>
          </a:xfrm>
          <a:prstGeom prst="roundRect">
            <a:avLst>
              <a:gd name="adj" fmla="val 6061"/>
            </a:avLst>
          </a:prstGeom>
          <a:solidFill>
            <a:srgbClr val="FAECF0"/>
          </a:solidFill>
          <a:ln w="12700">
            <a:solidFill>
              <a:srgbClr val="F0C2D0"/>
            </a:solidFill>
            <a:prstDash val="solid"/>
          </a:ln>
        </p:spPr>
      </p:sp>
      <p:sp>
        <p:nvSpPr>
          <p:cNvPr id="36" name="Shape 29"/>
          <p:cNvSpPr/>
          <p:nvPr/>
        </p:nvSpPr>
        <p:spPr>
          <a:xfrm>
            <a:off x="4654296" y="3895344"/>
            <a:ext cx="512064" cy="512064"/>
          </a:xfrm>
          <a:prstGeom prst="ellipse">
            <a:avLst/>
          </a:prstGeom>
          <a:solidFill>
            <a:srgbClr val="D1416B"/>
          </a:solidFill>
          <a:ln/>
        </p:spPr>
      </p:sp>
      <p:sp>
        <p:nvSpPr>
          <p:cNvPr id="37" name="Text 30"/>
          <p:cNvSpPr txBox="1"/>
          <p:nvPr/>
        </p:nvSpPr>
        <p:spPr>
          <a:xfrm>
            <a:off x="4654296" y="38953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8" name="Text 31"/>
          <p:cNvSpPr txBox="1"/>
          <p:nvPr/>
        </p:nvSpPr>
        <p:spPr>
          <a:xfrm>
            <a:off x="5294376" y="3895344"/>
            <a:ext cx="2286000" cy="512064"/>
          </a:xfrm>
          <a:prstGeom prst="rect">
            <a:avLst/>
          </a:prstGeom>
          <a:noFill/>
          <a:ln/>
        </p:spPr>
        <p:txBody>
          <a:bodyPr wrap="square" lIns="0" tIns="0" rIns="0" bIns="0" rtlCol="0" anchor="ctr"/>
          <a:lstStyle/>
          <a:p>
            <a:pPr indent="0" marL="0">
              <a:buNone/>
            </a:pPr>
            <a:r>
              <a:rPr lang="en-US" sz="2100" b="1" dirty="0">
                <a:solidFill>
                  <a:srgbClr val="D1416B"/>
                </a:solidFill>
                <a:latin typeface="Arial" pitchFamily="34" charset="0"/>
                <a:ea typeface="Arial" pitchFamily="34" charset="-122"/>
                <a:cs typeface="Arial" pitchFamily="34" charset="-120"/>
              </a:rPr>
              <a:t>Independent</a:t>
            </a:r>
            <a:endParaRPr lang="en-US" sz="2100" dirty="0"/>
          </a:p>
        </p:txBody>
      </p:sp>
      <p:sp>
        <p:nvSpPr>
          <p:cNvPr id="39" name="Text 32"/>
          <p:cNvSpPr txBox="1"/>
          <p:nvPr/>
        </p:nvSpPr>
        <p:spPr>
          <a:xfrm>
            <a:off x="4672584" y="4535424"/>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You start a challenge yourself. Finishing is optional.</a:t>
            </a:r>
            <a:endParaRPr lang="en-US" sz="1450" dirty="0"/>
          </a:p>
        </p:txBody>
      </p:sp>
      <p:sp>
        <p:nvSpPr>
          <p:cNvPr id="40" name="Shape 33"/>
          <p:cNvSpPr/>
          <p:nvPr/>
        </p:nvSpPr>
        <p:spPr>
          <a:xfrm>
            <a:off x="6967728" y="4462272"/>
            <a:ext cx="841248" cy="841248"/>
          </a:xfrm>
          <a:prstGeom prst="ellipse">
            <a:avLst/>
          </a:prstGeom>
          <a:solidFill>
            <a:srgbClr val="F6D9E1"/>
          </a:solidFill>
          <a:ln/>
        </p:spPr>
      </p:sp>
      <p:pic>
        <p:nvPicPr>
          <p:cNvPr id="41" name="Image 4" descr="preencoded.png">    </p:cNvPr>
          <p:cNvPicPr>
            <a:picLocks noChangeAspect="1"/>
          </p:cNvPicPr>
          <p:nvPr/>
        </p:nvPicPr>
        <p:blipFill>
          <a:blip r:embed="rId5"/>
          <a:stretch>
            <a:fillRect/>
          </a:stretch>
        </p:blipFill>
        <p:spPr>
          <a:xfrm>
            <a:off x="7194865" y="4689409"/>
            <a:ext cx="386974" cy="386974"/>
          </a:xfrm>
          <a:prstGeom prst="rect">
            <a:avLst/>
          </a:prstGeom>
        </p:spPr>
      </p:pic>
      <p:sp>
        <p:nvSpPr>
          <p:cNvPr id="42" name="Shape 34"/>
          <p:cNvSpPr/>
          <p:nvPr/>
        </p:nvSpPr>
        <p:spPr>
          <a:xfrm>
            <a:off x="8010144" y="4526280"/>
            <a:ext cx="182880" cy="18288"/>
          </a:xfrm>
          <a:prstGeom prst="line">
            <a:avLst/>
          </a:prstGeom>
          <a:noFill/>
          <a:ln w="25400">
            <a:solidFill>
              <a:srgbClr val="9AA7BD"/>
            </a:solidFill>
            <a:prstDash val="solid"/>
            <a:tailEnd type="triangle"/>
          </a:ln>
        </p:spPr>
      </p:sp>
      <p:sp>
        <p:nvSpPr>
          <p:cNvPr id="43" name="Shape 35"/>
          <p:cNvSpPr/>
          <p:nvPr/>
        </p:nvSpPr>
        <p:spPr>
          <a:xfrm>
            <a:off x="8211312" y="3621024"/>
            <a:ext cx="3611880" cy="1810512"/>
          </a:xfrm>
          <a:prstGeom prst="roundRect">
            <a:avLst>
              <a:gd name="adj" fmla="val 6061"/>
            </a:avLst>
          </a:prstGeom>
          <a:solidFill>
            <a:srgbClr val="E8F3EF"/>
          </a:solidFill>
          <a:ln w="12700">
            <a:solidFill>
              <a:srgbClr val="B5D9CA"/>
            </a:solidFill>
            <a:prstDash val="solid"/>
          </a:ln>
        </p:spPr>
      </p:sp>
      <p:sp>
        <p:nvSpPr>
          <p:cNvPr id="44" name="Shape 36"/>
          <p:cNvSpPr/>
          <p:nvPr/>
        </p:nvSpPr>
        <p:spPr>
          <a:xfrm>
            <a:off x="8485632" y="3895344"/>
            <a:ext cx="512064" cy="512064"/>
          </a:xfrm>
          <a:prstGeom prst="ellipse">
            <a:avLst/>
          </a:prstGeom>
          <a:solidFill>
            <a:srgbClr val="17875A"/>
          </a:solidFill>
          <a:ln/>
        </p:spPr>
      </p:sp>
      <p:sp>
        <p:nvSpPr>
          <p:cNvPr id="45" name="Text 37"/>
          <p:cNvSpPr txBox="1"/>
          <p:nvPr/>
        </p:nvSpPr>
        <p:spPr>
          <a:xfrm>
            <a:off x="8485632" y="38953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46" name="Text 38"/>
          <p:cNvSpPr txBox="1"/>
          <p:nvPr/>
        </p:nvSpPr>
        <p:spPr>
          <a:xfrm>
            <a:off x="9125712" y="3895344"/>
            <a:ext cx="2286000" cy="512064"/>
          </a:xfrm>
          <a:prstGeom prst="rect">
            <a:avLst/>
          </a:prstGeom>
          <a:noFill/>
          <a:ln/>
        </p:spPr>
        <p:txBody>
          <a:bodyPr wrap="square" lIns="0" tIns="0" rIns="0" bIns="0" rtlCol="0" anchor="ctr"/>
          <a:lstStyle/>
          <a:p>
            <a:pPr indent="0" marL="0">
              <a:buNone/>
            </a:pPr>
            <a:r>
              <a:rPr lang="en-US" sz="2100" b="1" dirty="0">
                <a:solidFill>
                  <a:srgbClr val="17875A"/>
                </a:solidFill>
                <a:latin typeface="Arial" pitchFamily="34" charset="0"/>
                <a:ea typeface="Arial" pitchFamily="34" charset="-122"/>
                <a:cs typeface="Arial" pitchFamily="34" charset="-120"/>
              </a:rPr>
              <a:t>Reflection</a:t>
            </a:r>
            <a:endParaRPr lang="en-US" sz="2100" dirty="0"/>
          </a:p>
        </p:txBody>
      </p:sp>
      <p:sp>
        <p:nvSpPr>
          <p:cNvPr id="47" name="Text 39"/>
          <p:cNvSpPr txBox="1"/>
          <p:nvPr/>
        </p:nvSpPr>
        <p:spPr>
          <a:xfrm>
            <a:off x="8503920" y="4535424"/>
            <a:ext cx="2148840" cy="822960"/>
          </a:xfrm>
          <a:prstGeom prst="rect">
            <a:avLst/>
          </a:prstGeom>
          <a:noFill/>
          <a:ln/>
        </p:spPr>
        <p:txBody>
          <a:bodyPr wrap="square" lIns="0" tIns="0" rIns="0" bIns="0" rtlCol="0" anchor="t"/>
          <a:lstStyle/>
          <a:p>
            <a:pPr indent="0" marL="0">
              <a:buNone/>
            </a:pPr>
            <a:r>
              <a:rPr lang="en-US" sz="1450" dirty="0">
                <a:solidFill>
                  <a:srgbClr val="12213A"/>
                </a:solidFill>
                <a:latin typeface="Calibri" pitchFamily="34" charset="0"/>
                <a:ea typeface="Calibri" pitchFamily="34" charset="-122"/>
                <a:cs typeface="Calibri" pitchFamily="34" charset="-120"/>
              </a:rPr>
              <a:t>Why it worked, and where this leads.</a:t>
            </a:r>
            <a:endParaRPr lang="en-US" sz="1450" dirty="0"/>
          </a:p>
        </p:txBody>
      </p:sp>
      <p:sp>
        <p:nvSpPr>
          <p:cNvPr id="48" name="Shape 40"/>
          <p:cNvSpPr/>
          <p:nvPr/>
        </p:nvSpPr>
        <p:spPr>
          <a:xfrm>
            <a:off x="10799064" y="4462272"/>
            <a:ext cx="841248" cy="841248"/>
          </a:xfrm>
          <a:prstGeom prst="ellipse">
            <a:avLst/>
          </a:prstGeom>
          <a:solidFill>
            <a:srgbClr val="D1E7DE"/>
          </a:solidFill>
          <a:ln/>
        </p:spPr>
      </p:sp>
      <p:pic>
        <p:nvPicPr>
          <p:cNvPr id="49" name="Image 5" descr="preencoded.png">    </p:cNvPr>
          <p:cNvPicPr>
            <a:picLocks noChangeAspect="1"/>
          </p:cNvPicPr>
          <p:nvPr/>
        </p:nvPicPr>
        <p:blipFill>
          <a:blip r:embed="rId6"/>
          <a:stretch>
            <a:fillRect/>
          </a:stretch>
        </p:blipFill>
        <p:spPr>
          <a:xfrm>
            <a:off x="11026201" y="4689409"/>
            <a:ext cx="386974" cy="386974"/>
          </a:xfrm>
          <a:prstGeom prst="rect">
            <a:avLst/>
          </a:prstGeom>
        </p:spPr>
      </p:pic>
      <p:sp>
        <p:nvSpPr>
          <p:cNvPr id="50" name="Text 4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 / 61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a web CTF?</a:t>
            </a:r>
            <a:endParaRPr lang="en-US" sz="3200" dirty="0"/>
          </a:p>
        </p:txBody>
      </p:sp>
      <p:sp>
        <p:nvSpPr>
          <p:cNvPr id="4" name="Shape 1"/>
          <p:cNvSpPr/>
          <p:nvPr/>
        </p:nvSpPr>
        <p:spPr>
          <a:xfrm>
            <a:off x="548640" y="1508760"/>
            <a:ext cx="11094415" cy="1371600"/>
          </a:xfrm>
          <a:prstGeom prst="roundRect">
            <a:avLst>
              <a:gd name="adj" fmla="val 6667"/>
            </a:avLst>
          </a:prstGeom>
          <a:solidFill>
            <a:srgbClr val="0E1726"/>
          </a:solidFill>
          <a:ln/>
        </p:spPr>
      </p:sp>
      <p:sp>
        <p:nvSpPr>
          <p:cNvPr id="5" name="Text 2"/>
          <p:cNvSpPr txBox="1"/>
          <p:nvPr/>
        </p:nvSpPr>
        <p:spPr>
          <a:xfrm>
            <a:off x="548640" y="1508760"/>
            <a:ext cx="11094415" cy="1371600"/>
          </a:xfrm>
          <a:prstGeom prst="rect">
            <a:avLst/>
          </a:prstGeom>
          <a:noFill/>
          <a:ln/>
        </p:spPr>
        <p:txBody>
          <a:bodyPr wrap="square" lIns="0" tIns="0" rIns="0" bIns="0" rtlCol="0" anchor="ctr"/>
          <a:lstStyle/>
          <a:p>
            <a:pPr algn="ctr" indent="0" marL="0">
              <a:buNone/>
            </a:pPr>
            <a:r>
              <a:rPr lang="en-US" sz="2600" b="1" dirty="0">
                <a:solidFill>
                  <a:srgbClr val="7F8FAD"/>
                </a:solidFill>
                <a:latin typeface="Courier New" pitchFamily="34" charset="0"/>
                <a:ea typeface="Courier New" pitchFamily="34" charset="-122"/>
                <a:cs typeface="Courier New" pitchFamily="34" charset="-120"/>
              </a:rPr>
              <a:t>&lt;!-- </a:t>
            </a:r>
            <a:pPr algn="ctr" indent="0" marL="0">
              <a:buNone/>
            </a:pPr>
            <a:r>
              <a:rPr lang="en-US" sz="2600" b="1" dirty="0">
                <a:solidFill>
                  <a:srgbClr val="7FB2FF"/>
                </a:solidFill>
                <a:latin typeface="Courier New" pitchFamily="34" charset="0"/>
                <a:ea typeface="Courier New" pitchFamily="34" charset="-122"/>
                <a:cs typeface="Courier New" pitchFamily="34" charset="-120"/>
              </a:rPr>
              <a:t>CYBA</a:t>
            </a:r>
            <a:pPr algn="ctr" indent="0" marL="0">
              <a:buNone/>
            </a:pPr>
            <a:r>
              <a:rPr lang="en-US" sz="2600" b="1" dirty="0">
                <a:solidFill>
                  <a:srgbClr val="F5A623"/>
                </a:solidFill>
                <a:latin typeface="Courier New" pitchFamily="34" charset="0"/>
                <a:ea typeface="Courier New" pitchFamily="34" charset="-122"/>
                <a:cs typeface="Courier New" pitchFamily="34" charset="-120"/>
              </a:rPr>
              <a:t>{</a:t>
            </a:r>
            <a:pPr algn="ctr" indent="0" marL="0">
              <a:buNone/>
            </a:pPr>
            <a:r>
              <a:rPr lang="en-US" sz="2600" b="1" dirty="0">
                <a:solidFill>
                  <a:srgbClr val="46D39A"/>
                </a:solidFill>
                <a:latin typeface="Courier New" pitchFamily="34" charset="0"/>
                <a:ea typeface="Courier New" pitchFamily="34" charset="-122"/>
                <a:cs typeface="Courier New" pitchFamily="34" charset="-120"/>
              </a:rPr>
              <a:t>src-4c8c640b</a:t>
            </a:r>
            <a:pPr algn="ctr" indent="0" marL="0">
              <a:buNone/>
            </a:pPr>
            <a:r>
              <a:rPr lang="en-US" sz="2600" b="1" dirty="0">
                <a:solidFill>
                  <a:srgbClr val="F5A623"/>
                </a:solidFill>
                <a:latin typeface="Courier New" pitchFamily="34" charset="0"/>
                <a:ea typeface="Courier New" pitchFamily="34" charset="-122"/>
                <a:cs typeface="Courier New" pitchFamily="34" charset="-120"/>
              </a:rPr>
              <a:t>}</a:t>
            </a:r>
            <a:pPr algn="ctr" indent="0" marL="0">
              <a:buNone/>
            </a:pPr>
            <a:r>
              <a:rPr lang="en-US" sz="2600" b="1" dirty="0">
                <a:solidFill>
                  <a:srgbClr val="7F8FAD"/>
                </a:solidFill>
                <a:latin typeface="Courier New" pitchFamily="34" charset="0"/>
                <a:ea typeface="Courier New" pitchFamily="34" charset="-122"/>
                <a:cs typeface="Courier New" pitchFamily="34" charset="-120"/>
              </a:rPr>
              <a:t> --&gt;</a:t>
            </a:r>
            <a:endParaRPr lang="en-US" sz="2600" dirty="0"/>
          </a:p>
        </p:txBody>
      </p:sp>
      <p:sp>
        <p:nvSpPr>
          <p:cNvPr id="6" name="Shape 3"/>
          <p:cNvSpPr/>
          <p:nvPr/>
        </p:nvSpPr>
        <p:spPr>
          <a:xfrm>
            <a:off x="548640" y="3154680"/>
            <a:ext cx="3566160" cy="1508760"/>
          </a:xfrm>
          <a:prstGeom prst="roundRect">
            <a:avLst>
              <a:gd name="adj" fmla="val 6061"/>
            </a:avLst>
          </a:prstGeom>
          <a:solidFill>
            <a:srgbClr val="F1F5FB"/>
          </a:solidFill>
          <a:ln/>
        </p:spPr>
      </p:sp>
      <p:sp>
        <p:nvSpPr>
          <p:cNvPr id="7" name="Text 4"/>
          <p:cNvSpPr txBox="1"/>
          <p:nvPr/>
        </p:nvSpPr>
        <p:spPr>
          <a:xfrm>
            <a:off x="777240" y="3291840"/>
            <a:ext cx="3108960" cy="365760"/>
          </a:xfrm>
          <a:prstGeom prst="rect">
            <a:avLst/>
          </a:prstGeom>
          <a:noFill/>
          <a:ln/>
        </p:spPr>
        <p:txBody>
          <a:bodyPr wrap="square" lIns="0" tIns="0" rIns="0" bIns="0" rtlCol="0" anchor="t"/>
          <a:lstStyle/>
          <a:p>
            <a:pPr indent="0" marL="0">
              <a:buNone/>
            </a:pPr>
            <a:r>
              <a:rPr lang="en-US" sz="1800" b="1" dirty="0">
                <a:solidFill>
                  <a:srgbClr val="C07A00"/>
                </a:solidFill>
                <a:latin typeface="Arial" pitchFamily="34" charset="0"/>
                <a:ea typeface="Arial" pitchFamily="34" charset="-122"/>
                <a:cs typeface="Arial" pitchFamily="34" charset="-120"/>
              </a:rPr>
              <a:t>In the app</a:t>
            </a:r>
            <a:endParaRPr lang="en-US" sz="1800" dirty="0"/>
          </a:p>
        </p:txBody>
      </p:sp>
      <p:sp>
        <p:nvSpPr>
          <p:cNvPr id="8" name="Text 5"/>
          <p:cNvSpPr txBox="1"/>
          <p:nvPr/>
        </p:nvSpPr>
        <p:spPr>
          <a:xfrm>
            <a:off x="777240"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What you're given</a:t>
            </a:r>
            <a:endParaRPr lang="en-US" sz="1600" dirty="0"/>
          </a:p>
        </p:txBody>
      </p:sp>
      <p:sp>
        <p:nvSpPr>
          <p:cNvPr id="9" name="Text 6"/>
          <p:cNvSpPr txBox="1"/>
          <p:nvPr/>
        </p:nvSpPr>
        <p:spPr>
          <a:xfrm>
            <a:off x="777240"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A flag hidden in the page, a cookie, a URL or a token.</a:t>
            </a:r>
            <a:endParaRPr lang="en-US" sz="1400" dirty="0"/>
          </a:p>
        </p:txBody>
      </p:sp>
      <p:sp>
        <p:nvSpPr>
          <p:cNvPr id="10" name="Shape 7"/>
          <p:cNvSpPr/>
          <p:nvPr/>
        </p:nvSpPr>
        <p:spPr>
          <a:xfrm>
            <a:off x="4306824" y="3154680"/>
            <a:ext cx="3566160" cy="1508760"/>
          </a:xfrm>
          <a:prstGeom prst="roundRect">
            <a:avLst>
              <a:gd name="adj" fmla="val 6061"/>
            </a:avLst>
          </a:prstGeom>
          <a:solidFill>
            <a:srgbClr val="F1F5FB"/>
          </a:solidFill>
          <a:ln/>
        </p:spPr>
      </p:sp>
      <p:sp>
        <p:nvSpPr>
          <p:cNvPr id="11" name="Text 8"/>
          <p:cNvSpPr txBox="1"/>
          <p:nvPr/>
        </p:nvSpPr>
        <p:spPr>
          <a:xfrm>
            <a:off x="4535424" y="3291840"/>
            <a:ext cx="3108960" cy="365760"/>
          </a:xfrm>
          <a:prstGeom prst="rect">
            <a:avLst/>
          </a:prstGeom>
          <a:noFill/>
          <a:ln/>
        </p:spPr>
        <p:txBody>
          <a:bodyPr wrap="square" lIns="0" tIns="0" rIns="0" bIns="0" rtlCol="0" anchor="t"/>
          <a:lstStyle/>
          <a:p>
            <a:pPr indent="0" marL="0">
              <a:buNone/>
            </a:pPr>
            <a:r>
              <a:rPr lang="en-US" sz="1800" b="1" dirty="0">
                <a:solidFill>
                  <a:srgbClr val="2459D8"/>
                </a:solidFill>
                <a:latin typeface="Arial" pitchFamily="34" charset="0"/>
                <a:ea typeface="Arial" pitchFamily="34" charset="-122"/>
                <a:cs typeface="Arial" pitchFamily="34" charset="-120"/>
              </a:rPr>
              <a:t>Find it</a:t>
            </a:r>
            <a:endParaRPr lang="en-US" sz="1800" dirty="0"/>
          </a:p>
        </p:txBody>
      </p:sp>
      <p:sp>
        <p:nvSpPr>
          <p:cNvPr id="12" name="Text 9"/>
          <p:cNvSpPr txBox="1"/>
          <p:nvPr/>
        </p:nvSpPr>
        <p:spPr>
          <a:xfrm>
            <a:off x="4535424"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Your job</a:t>
            </a:r>
            <a:endParaRPr lang="en-US" sz="1600" dirty="0"/>
          </a:p>
        </p:txBody>
      </p:sp>
      <p:sp>
        <p:nvSpPr>
          <p:cNvPr id="13" name="Text 10"/>
          <p:cNvSpPr txBox="1"/>
          <p:nvPr/>
        </p:nvSpPr>
        <p:spPr>
          <a:xfrm>
            <a:off x="4535424"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Inspect, tamper, decode: make the app reveal it.</a:t>
            </a:r>
            <a:endParaRPr lang="en-US" sz="1400" dirty="0"/>
          </a:p>
        </p:txBody>
      </p:sp>
      <p:sp>
        <p:nvSpPr>
          <p:cNvPr id="14" name="Shape 11"/>
          <p:cNvSpPr/>
          <p:nvPr/>
        </p:nvSpPr>
        <p:spPr>
          <a:xfrm>
            <a:off x="8065008" y="3154680"/>
            <a:ext cx="3566160" cy="1508760"/>
          </a:xfrm>
          <a:prstGeom prst="roundRect">
            <a:avLst>
              <a:gd name="adj" fmla="val 6061"/>
            </a:avLst>
          </a:prstGeom>
          <a:solidFill>
            <a:srgbClr val="F1F5FB"/>
          </a:solidFill>
          <a:ln/>
        </p:spPr>
      </p:sp>
      <p:sp>
        <p:nvSpPr>
          <p:cNvPr id="15" name="Text 12"/>
          <p:cNvSpPr txBox="1"/>
          <p:nvPr/>
        </p:nvSpPr>
        <p:spPr>
          <a:xfrm>
            <a:off x="8293608" y="3291840"/>
            <a:ext cx="3108960" cy="365760"/>
          </a:xfrm>
          <a:prstGeom prst="rect">
            <a:avLst/>
          </a:prstGeom>
          <a:noFill/>
          <a:ln/>
        </p:spPr>
        <p:txBody>
          <a:bodyPr wrap="square" lIns="0" tIns="0" rIns="0" bIns="0" rtlCol="0" anchor="t"/>
          <a:lstStyle/>
          <a:p>
            <a:pPr indent="0" marL="0">
              <a:buNone/>
            </a:pPr>
            <a:r>
              <a:rPr lang="en-US" sz="1800" b="1" dirty="0">
                <a:solidFill>
                  <a:srgbClr val="17875A"/>
                </a:solidFill>
                <a:latin typeface="Arial" pitchFamily="34" charset="0"/>
                <a:ea typeface="Arial" pitchFamily="34" charset="-122"/>
                <a:cs typeface="Arial" pitchFamily="34" charset="-120"/>
              </a:rPr>
              <a:t>CYBA{...}</a:t>
            </a:r>
            <a:endParaRPr lang="en-US" sz="1800" dirty="0"/>
          </a:p>
        </p:txBody>
      </p:sp>
      <p:sp>
        <p:nvSpPr>
          <p:cNvPr id="16" name="Text 13"/>
          <p:cNvSpPr txBox="1"/>
          <p:nvPr/>
        </p:nvSpPr>
        <p:spPr>
          <a:xfrm>
            <a:off x="8293608" y="3703320"/>
            <a:ext cx="3108960" cy="32004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proof</a:t>
            </a:r>
            <a:endParaRPr lang="en-US" sz="1600" dirty="0"/>
          </a:p>
        </p:txBody>
      </p:sp>
      <p:sp>
        <p:nvSpPr>
          <p:cNvPr id="17" name="Text 14"/>
          <p:cNvSpPr txBox="1"/>
          <p:nvPr/>
        </p:nvSpPr>
        <p:spPr>
          <a:xfrm>
            <a:off x="8293608" y="4041648"/>
            <a:ext cx="315468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Readable text starting CYBA{: you captured it.</a:t>
            </a:r>
            <a:endParaRPr lang="en-US" sz="1400" dirty="0"/>
          </a:p>
        </p:txBody>
      </p:sp>
      <p:sp>
        <p:nvSpPr>
          <p:cNvPr id="18" name="Shape 15"/>
          <p:cNvSpPr/>
          <p:nvPr/>
        </p:nvSpPr>
        <p:spPr>
          <a:xfrm>
            <a:off x="548640" y="4983480"/>
            <a:ext cx="2377440" cy="914400"/>
          </a:xfrm>
          <a:prstGeom prst="roundRect">
            <a:avLst>
              <a:gd name="adj" fmla="val 10000"/>
            </a:avLst>
          </a:prstGeom>
          <a:solidFill>
            <a:srgbClr val="2A9FD6"/>
          </a:solidFill>
          <a:ln/>
        </p:spPr>
      </p:sp>
      <p:sp>
        <p:nvSpPr>
          <p:cNvPr id="19" name="Text 16"/>
          <p:cNvSpPr txBox="1"/>
          <p:nvPr/>
        </p:nvSpPr>
        <p:spPr>
          <a:xfrm>
            <a:off x="548640"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Inspect</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look closely</a:t>
            </a:r>
            <a:endParaRPr lang="en-US" sz="2000" dirty="0"/>
          </a:p>
        </p:txBody>
      </p:sp>
      <p:sp>
        <p:nvSpPr>
          <p:cNvPr id="20" name="Text 17"/>
          <p:cNvSpPr txBox="1"/>
          <p:nvPr/>
        </p:nvSpPr>
        <p:spPr>
          <a:xfrm>
            <a:off x="2926080"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1" name="Shape 18"/>
          <p:cNvSpPr/>
          <p:nvPr/>
        </p:nvSpPr>
        <p:spPr>
          <a:xfrm>
            <a:off x="3355848" y="4983480"/>
            <a:ext cx="2377440" cy="914400"/>
          </a:xfrm>
          <a:prstGeom prst="roundRect">
            <a:avLst>
              <a:gd name="adj" fmla="val 10000"/>
            </a:avLst>
          </a:prstGeom>
          <a:solidFill>
            <a:srgbClr val="2459D8"/>
          </a:solidFill>
          <a:ln/>
        </p:spPr>
      </p:sp>
      <p:sp>
        <p:nvSpPr>
          <p:cNvPr id="22" name="Text 19"/>
          <p:cNvSpPr txBox="1"/>
          <p:nvPr/>
        </p:nvSpPr>
        <p:spPr>
          <a:xfrm>
            <a:off x="3355848"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Change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request</a:t>
            </a:r>
            <a:endParaRPr lang="en-US" sz="2000" dirty="0"/>
          </a:p>
        </p:txBody>
      </p:sp>
      <p:sp>
        <p:nvSpPr>
          <p:cNvPr id="23" name="Text 20"/>
          <p:cNvSpPr txBox="1"/>
          <p:nvPr/>
        </p:nvSpPr>
        <p:spPr>
          <a:xfrm>
            <a:off x="5733288"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4" name="Shape 21"/>
          <p:cNvSpPr/>
          <p:nvPr/>
        </p:nvSpPr>
        <p:spPr>
          <a:xfrm>
            <a:off x="6163056" y="4983480"/>
            <a:ext cx="2377440" cy="914400"/>
          </a:xfrm>
          <a:prstGeom prst="roundRect">
            <a:avLst>
              <a:gd name="adj" fmla="val 10000"/>
            </a:avLst>
          </a:prstGeom>
          <a:solidFill>
            <a:srgbClr val="7448D4"/>
          </a:solidFill>
          <a:ln/>
        </p:spPr>
      </p:sp>
      <p:sp>
        <p:nvSpPr>
          <p:cNvPr id="25" name="Text 22"/>
          <p:cNvSpPr txBox="1"/>
          <p:nvPr/>
        </p:nvSpPr>
        <p:spPr>
          <a:xfrm>
            <a:off x="6163056"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the whole flag</a:t>
            </a:r>
            <a:endParaRPr lang="en-US" sz="2000" dirty="0"/>
          </a:p>
        </p:txBody>
      </p:sp>
      <p:sp>
        <p:nvSpPr>
          <p:cNvPr id="26" name="Text 23"/>
          <p:cNvSpPr txBox="1"/>
          <p:nvPr/>
        </p:nvSpPr>
        <p:spPr>
          <a:xfrm>
            <a:off x="8540496" y="4983480"/>
            <a:ext cx="429768" cy="914400"/>
          </a:xfrm>
          <a:prstGeom prst="rect">
            <a:avLst/>
          </a:prstGeom>
          <a:noFill/>
          <a:ln/>
        </p:spPr>
        <p:txBody>
          <a:bodyPr wrap="square" lIns="0" tIns="0" rIns="0" bIns="0" rtlCol="0" anchor="ctr"/>
          <a:lstStyle/>
          <a:p>
            <a:pPr algn="ctr" indent="0" marL="0">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7" name="Shape 24"/>
          <p:cNvSpPr/>
          <p:nvPr/>
        </p:nvSpPr>
        <p:spPr>
          <a:xfrm>
            <a:off x="8970264" y="4983480"/>
            <a:ext cx="2377440" cy="914400"/>
          </a:xfrm>
          <a:prstGeom prst="roundRect">
            <a:avLst>
              <a:gd name="adj" fmla="val 10000"/>
            </a:avLst>
          </a:prstGeom>
          <a:solidFill>
            <a:srgbClr val="D1416B"/>
          </a:solidFill>
          <a:ln/>
        </p:spPr>
      </p:sp>
      <p:sp>
        <p:nvSpPr>
          <p:cNvPr id="28" name="Text 25"/>
          <p:cNvSpPr txBox="1"/>
          <p:nvPr/>
        </p:nvSpPr>
        <p:spPr>
          <a:xfrm>
            <a:off x="8970264" y="4983480"/>
            <a:ext cx="237744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
        <p:nvSpPr>
          <p:cNvPr id="29" name="Text 2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 / 61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flow of every challenge</a:t>
            </a:r>
            <a:endParaRPr lang="en-US" sz="3200" dirty="0"/>
          </a:p>
        </p:txBody>
      </p:sp>
      <p:sp>
        <p:nvSpPr>
          <p:cNvPr id="4" name="Shape 1"/>
          <p:cNvSpPr/>
          <p:nvPr/>
        </p:nvSpPr>
        <p:spPr>
          <a:xfrm>
            <a:off x="548640" y="1508760"/>
            <a:ext cx="2606040" cy="2011680"/>
          </a:xfrm>
          <a:prstGeom prst="roundRect">
            <a:avLst>
              <a:gd name="adj" fmla="val 4545"/>
            </a:avLst>
          </a:prstGeom>
          <a:solidFill>
            <a:srgbClr val="F1F5FB"/>
          </a:solidFill>
          <a:ln/>
        </p:spPr>
      </p:sp>
      <p:sp>
        <p:nvSpPr>
          <p:cNvPr id="5" name="Shape 2"/>
          <p:cNvSpPr/>
          <p:nvPr/>
        </p:nvSpPr>
        <p:spPr>
          <a:xfrm>
            <a:off x="1417320" y="1737360"/>
            <a:ext cx="822960" cy="822960"/>
          </a:xfrm>
          <a:prstGeom prst="ellipse">
            <a:avLst/>
          </a:prstGeom>
          <a:solidFill>
            <a:srgbClr val="17875A"/>
          </a:solidFill>
          <a:ln/>
        </p:spPr>
      </p:sp>
      <p:pic>
        <p:nvPicPr>
          <p:cNvPr id="6" name="Image 0" descr="preencoded.png">    </p:cNvPr>
          <p:cNvPicPr>
            <a:picLocks noChangeAspect="1"/>
          </p:cNvPicPr>
          <p:nvPr/>
        </p:nvPicPr>
        <p:blipFill>
          <a:blip r:embed="rId1"/>
          <a:stretch>
            <a:fillRect/>
          </a:stretch>
        </p:blipFill>
        <p:spPr>
          <a:xfrm>
            <a:off x="1623060" y="1943100"/>
            <a:ext cx="411480" cy="411480"/>
          </a:xfrm>
          <a:prstGeom prst="rect">
            <a:avLst/>
          </a:prstGeom>
        </p:spPr>
      </p:pic>
      <p:sp>
        <p:nvSpPr>
          <p:cNvPr id="7" name="Text 3"/>
          <p:cNvSpPr txBox="1"/>
          <p:nvPr/>
        </p:nvSpPr>
        <p:spPr>
          <a:xfrm>
            <a:off x="685800"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Read</a:t>
            </a:r>
            <a:endParaRPr lang="en-US" sz="2000" dirty="0"/>
          </a:p>
        </p:txBody>
      </p:sp>
      <p:sp>
        <p:nvSpPr>
          <p:cNvPr id="8" name="Text 4"/>
          <p:cNvSpPr txBox="1"/>
          <p:nvPr/>
        </p:nvSpPr>
        <p:spPr>
          <a:xfrm>
            <a:off x="685800"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challenge</a:t>
            </a:r>
            <a:endParaRPr lang="en-US" sz="1400" dirty="0"/>
          </a:p>
        </p:txBody>
      </p:sp>
      <p:sp>
        <p:nvSpPr>
          <p:cNvPr id="9" name="Text 5"/>
          <p:cNvSpPr txBox="1"/>
          <p:nvPr/>
        </p:nvSpPr>
        <p:spPr>
          <a:xfrm>
            <a:off x="3154680" y="201168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10" name="Shape 6"/>
          <p:cNvSpPr/>
          <p:nvPr/>
        </p:nvSpPr>
        <p:spPr>
          <a:xfrm>
            <a:off x="3364992" y="1508760"/>
            <a:ext cx="2606040" cy="2011680"/>
          </a:xfrm>
          <a:prstGeom prst="roundRect">
            <a:avLst>
              <a:gd name="adj" fmla="val 4545"/>
            </a:avLst>
          </a:prstGeom>
          <a:solidFill>
            <a:srgbClr val="F1F5FB"/>
          </a:solidFill>
          <a:ln/>
        </p:spPr>
      </p:sp>
      <p:sp>
        <p:nvSpPr>
          <p:cNvPr id="11" name="Shape 7"/>
          <p:cNvSpPr/>
          <p:nvPr/>
        </p:nvSpPr>
        <p:spPr>
          <a:xfrm>
            <a:off x="4233672" y="1737360"/>
            <a:ext cx="822960" cy="822960"/>
          </a:xfrm>
          <a:prstGeom prst="ellipse">
            <a:avLst/>
          </a:prstGeom>
          <a:solidFill>
            <a:srgbClr val="2A9FD6"/>
          </a:solidFill>
          <a:ln/>
        </p:spPr>
      </p:sp>
      <p:pic>
        <p:nvPicPr>
          <p:cNvPr id="12" name="Image 1" descr="preencoded.png">    </p:cNvPr>
          <p:cNvPicPr>
            <a:picLocks noChangeAspect="1"/>
          </p:cNvPicPr>
          <p:nvPr/>
        </p:nvPicPr>
        <p:blipFill>
          <a:blip r:embed="rId2"/>
          <a:stretch>
            <a:fillRect/>
          </a:stretch>
        </p:blipFill>
        <p:spPr>
          <a:xfrm>
            <a:off x="4439412" y="1943100"/>
            <a:ext cx="411480" cy="411480"/>
          </a:xfrm>
          <a:prstGeom prst="rect">
            <a:avLst/>
          </a:prstGeom>
        </p:spPr>
      </p:pic>
      <p:sp>
        <p:nvSpPr>
          <p:cNvPr id="13" name="Text 8"/>
          <p:cNvSpPr txBox="1"/>
          <p:nvPr/>
        </p:nvSpPr>
        <p:spPr>
          <a:xfrm>
            <a:off x="3502152"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Observe</a:t>
            </a:r>
            <a:endParaRPr lang="en-US" sz="2000" dirty="0"/>
          </a:p>
        </p:txBody>
      </p:sp>
      <p:sp>
        <p:nvSpPr>
          <p:cNvPr id="14" name="Text 9"/>
          <p:cNvSpPr txBox="1"/>
          <p:nvPr/>
        </p:nvSpPr>
        <p:spPr>
          <a:xfrm>
            <a:off x="3502152"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app</a:t>
            </a:r>
            <a:endParaRPr lang="en-US" sz="1400" dirty="0"/>
          </a:p>
        </p:txBody>
      </p:sp>
      <p:sp>
        <p:nvSpPr>
          <p:cNvPr id="15" name="Text 10"/>
          <p:cNvSpPr txBox="1"/>
          <p:nvPr/>
        </p:nvSpPr>
        <p:spPr>
          <a:xfrm>
            <a:off x="5971032" y="201168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16" name="Shape 11"/>
          <p:cNvSpPr/>
          <p:nvPr/>
        </p:nvSpPr>
        <p:spPr>
          <a:xfrm>
            <a:off x="6181344" y="1508760"/>
            <a:ext cx="2606040" cy="2011680"/>
          </a:xfrm>
          <a:prstGeom prst="roundRect">
            <a:avLst>
              <a:gd name="adj" fmla="val 4545"/>
            </a:avLst>
          </a:prstGeom>
          <a:solidFill>
            <a:srgbClr val="F1F5FB"/>
          </a:solidFill>
          <a:ln/>
        </p:spPr>
      </p:sp>
      <p:sp>
        <p:nvSpPr>
          <p:cNvPr id="17" name="Shape 12"/>
          <p:cNvSpPr/>
          <p:nvPr/>
        </p:nvSpPr>
        <p:spPr>
          <a:xfrm>
            <a:off x="7050024" y="1737360"/>
            <a:ext cx="822960" cy="822960"/>
          </a:xfrm>
          <a:prstGeom prst="ellipse">
            <a:avLst/>
          </a:prstGeom>
          <a:solidFill>
            <a:srgbClr val="2459D8"/>
          </a:solidFill>
          <a:ln/>
        </p:spPr>
      </p:sp>
      <p:pic>
        <p:nvPicPr>
          <p:cNvPr id="18" name="Image 2" descr="preencoded.png">    </p:cNvPr>
          <p:cNvPicPr>
            <a:picLocks noChangeAspect="1"/>
          </p:cNvPicPr>
          <p:nvPr/>
        </p:nvPicPr>
        <p:blipFill>
          <a:blip r:embed="rId3"/>
          <a:stretch>
            <a:fillRect/>
          </a:stretch>
        </p:blipFill>
        <p:spPr>
          <a:xfrm>
            <a:off x="7255764" y="1943100"/>
            <a:ext cx="411480" cy="411480"/>
          </a:xfrm>
          <a:prstGeom prst="rect">
            <a:avLst/>
          </a:prstGeom>
        </p:spPr>
      </p:pic>
      <p:sp>
        <p:nvSpPr>
          <p:cNvPr id="19" name="Text 13"/>
          <p:cNvSpPr txBox="1"/>
          <p:nvPr/>
        </p:nvSpPr>
        <p:spPr>
          <a:xfrm>
            <a:off x="6318504"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Choose</a:t>
            </a:r>
            <a:endParaRPr lang="en-US" sz="2000" dirty="0"/>
          </a:p>
        </p:txBody>
      </p:sp>
      <p:sp>
        <p:nvSpPr>
          <p:cNvPr id="20" name="Text 14"/>
          <p:cNvSpPr txBox="1"/>
          <p:nvPr/>
        </p:nvSpPr>
        <p:spPr>
          <a:xfrm>
            <a:off x="6318504"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a tool</a:t>
            </a:r>
            <a:endParaRPr lang="en-US" sz="1400" dirty="0"/>
          </a:p>
        </p:txBody>
      </p:sp>
      <p:sp>
        <p:nvSpPr>
          <p:cNvPr id="21" name="Text 15"/>
          <p:cNvSpPr txBox="1"/>
          <p:nvPr/>
        </p:nvSpPr>
        <p:spPr>
          <a:xfrm>
            <a:off x="8787384" y="201168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22" name="Shape 16"/>
          <p:cNvSpPr/>
          <p:nvPr/>
        </p:nvSpPr>
        <p:spPr>
          <a:xfrm>
            <a:off x="8997696" y="1508760"/>
            <a:ext cx="2606040" cy="2011680"/>
          </a:xfrm>
          <a:prstGeom prst="roundRect">
            <a:avLst>
              <a:gd name="adj" fmla="val 4545"/>
            </a:avLst>
          </a:prstGeom>
          <a:solidFill>
            <a:srgbClr val="F1F5FB"/>
          </a:solidFill>
          <a:ln/>
        </p:spPr>
      </p:sp>
      <p:sp>
        <p:nvSpPr>
          <p:cNvPr id="23" name="Shape 17"/>
          <p:cNvSpPr/>
          <p:nvPr/>
        </p:nvSpPr>
        <p:spPr>
          <a:xfrm>
            <a:off x="9866376" y="1737360"/>
            <a:ext cx="822960" cy="822960"/>
          </a:xfrm>
          <a:prstGeom prst="ellipse">
            <a:avLst/>
          </a:prstGeom>
          <a:solidFill>
            <a:srgbClr val="7448D4"/>
          </a:solidFill>
          <a:ln/>
        </p:spPr>
      </p:sp>
      <p:pic>
        <p:nvPicPr>
          <p:cNvPr id="24" name="Image 3" descr="preencoded.png">    </p:cNvPr>
          <p:cNvPicPr>
            <a:picLocks noChangeAspect="1"/>
          </p:cNvPicPr>
          <p:nvPr/>
        </p:nvPicPr>
        <p:blipFill>
          <a:blip r:embed="rId4"/>
          <a:stretch>
            <a:fillRect/>
          </a:stretch>
        </p:blipFill>
        <p:spPr>
          <a:xfrm>
            <a:off x="10072116" y="1943100"/>
            <a:ext cx="411480" cy="411480"/>
          </a:xfrm>
          <a:prstGeom prst="rect">
            <a:avLst/>
          </a:prstGeom>
        </p:spPr>
      </p:pic>
      <p:sp>
        <p:nvSpPr>
          <p:cNvPr id="25" name="Text 18"/>
          <p:cNvSpPr txBox="1"/>
          <p:nvPr/>
        </p:nvSpPr>
        <p:spPr>
          <a:xfrm>
            <a:off x="9134856" y="267919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Try</a:t>
            </a:r>
            <a:endParaRPr lang="en-US" sz="2000" dirty="0"/>
          </a:p>
        </p:txBody>
      </p:sp>
      <p:sp>
        <p:nvSpPr>
          <p:cNvPr id="26" name="Text 19"/>
          <p:cNvSpPr txBox="1"/>
          <p:nvPr/>
        </p:nvSpPr>
        <p:spPr>
          <a:xfrm>
            <a:off x="9134856" y="308152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a change</a:t>
            </a:r>
            <a:endParaRPr lang="en-US" sz="1400" dirty="0"/>
          </a:p>
        </p:txBody>
      </p:sp>
      <p:sp>
        <p:nvSpPr>
          <p:cNvPr id="27" name="Shape 20"/>
          <p:cNvSpPr/>
          <p:nvPr/>
        </p:nvSpPr>
        <p:spPr>
          <a:xfrm>
            <a:off x="548640" y="3749040"/>
            <a:ext cx="2606040" cy="2011680"/>
          </a:xfrm>
          <a:prstGeom prst="roundRect">
            <a:avLst>
              <a:gd name="adj" fmla="val 4545"/>
            </a:avLst>
          </a:prstGeom>
          <a:solidFill>
            <a:srgbClr val="F1F5FB"/>
          </a:solidFill>
          <a:ln/>
        </p:spPr>
      </p:sp>
      <p:sp>
        <p:nvSpPr>
          <p:cNvPr id="28" name="Shape 21"/>
          <p:cNvSpPr/>
          <p:nvPr/>
        </p:nvSpPr>
        <p:spPr>
          <a:xfrm>
            <a:off x="1417320" y="3977640"/>
            <a:ext cx="822960" cy="822960"/>
          </a:xfrm>
          <a:prstGeom prst="ellipse">
            <a:avLst/>
          </a:prstGeom>
          <a:solidFill>
            <a:srgbClr val="D1416B"/>
          </a:solidFill>
          <a:ln/>
        </p:spPr>
      </p:sp>
      <p:pic>
        <p:nvPicPr>
          <p:cNvPr id="29" name="Image 4" descr="preencoded.png">    </p:cNvPr>
          <p:cNvPicPr>
            <a:picLocks noChangeAspect="1"/>
          </p:cNvPicPr>
          <p:nvPr/>
        </p:nvPicPr>
        <p:blipFill>
          <a:blip r:embed="rId5"/>
          <a:stretch>
            <a:fillRect/>
          </a:stretch>
        </p:blipFill>
        <p:spPr>
          <a:xfrm>
            <a:off x="1623060" y="4183380"/>
            <a:ext cx="411480" cy="411480"/>
          </a:xfrm>
          <a:prstGeom prst="rect">
            <a:avLst/>
          </a:prstGeom>
        </p:spPr>
      </p:pic>
      <p:sp>
        <p:nvSpPr>
          <p:cNvPr id="30" name="Text 22"/>
          <p:cNvSpPr txBox="1"/>
          <p:nvPr/>
        </p:nvSpPr>
        <p:spPr>
          <a:xfrm>
            <a:off x="685800"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Check</a:t>
            </a:r>
            <a:endParaRPr lang="en-US" sz="2000" dirty="0"/>
          </a:p>
        </p:txBody>
      </p:sp>
      <p:sp>
        <p:nvSpPr>
          <p:cNvPr id="31" name="Text 23"/>
          <p:cNvSpPr txBox="1"/>
          <p:nvPr/>
        </p:nvSpPr>
        <p:spPr>
          <a:xfrm>
            <a:off x="685800"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response</a:t>
            </a:r>
            <a:endParaRPr lang="en-US" sz="1400" dirty="0"/>
          </a:p>
        </p:txBody>
      </p:sp>
      <p:sp>
        <p:nvSpPr>
          <p:cNvPr id="32" name="Text 24"/>
          <p:cNvSpPr txBox="1"/>
          <p:nvPr/>
        </p:nvSpPr>
        <p:spPr>
          <a:xfrm>
            <a:off x="3154680" y="425196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33" name="Shape 25"/>
          <p:cNvSpPr/>
          <p:nvPr/>
        </p:nvSpPr>
        <p:spPr>
          <a:xfrm>
            <a:off x="3364992" y="3749040"/>
            <a:ext cx="2606040" cy="2011680"/>
          </a:xfrm>
          <a:prstGeom prst="roundRect">
            <a:avLst>
              <a:gd name="adj" fmla="val 4545"/>
            </a:avLst>
          </a:prstGeom>
          <a:solidFill>
            <a:srgbClr val="F1F5FB"/>
          </a:solidFill>
          <a:ln/>
        </p:spPr>
      </p:sp>
      <p:sp>
        <p:nvSpPr>
          <p:cNvPr id="34" name="Shape 26"/>
          <p:cNvSpPr/>
          <p:nvPr/>
        </p:nvSpPr>
        <p:spPr>
          <a:xfrm>
            <a:off x="4233672" y="3977640"/>
            <a:ext cx="822960" cy="822960"/>
          </a:xfrm>
          <a:prstGeom prst="ellipse">
            <a:avLst/>
          </a:prstGeom>
          <a:solidFill>
            <a:srgbClr val="E8820C"/>
          </a:solidFill>
          <a:ln/>
        </p:spPr>
      </p:sp>
      <p:pic>
        <p:nvPicPr>
          <p:cNvPr id="35" name="Image 5" descr="preencoded.png">    </p:cNvPr>
          <p:cNvPicPr>
            <a:picLocks noChangeAspect="1"/>
          </p:cNvPicPr>
          <p:nvPr/>
        </p:nvPicPr>
        <p:blipFill>
          <a:blip r:embed="rId6"/>
          <a:stretch>
            <a:fillRect/>
          </a:stretch>
        </p:blipFill>
        <p:spPr>
          <a:xfrm>
            <a:off x="4439412" y="4183380"/>
            <a:ext cx="411480" cy="411480"/>
          </a:xfrm>
          <a:prstGeom prst="rect">
            <a:avLst/>
          </a:prstGeom>
        </p:spPr>
      </p:pic>
      <p:sp>
        <p:nvSpPr>
          <p:cNvPr id="36" name="Text 27"/>
          <p:cNvSpPr txBox="1"/>
          <p:nvPr/>
        </p:nvSpPr>
        <p:spPr>
          <a:xfrm>
            <a:off x="3502152"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Adjust</a:t>
            </a:r>
            <a:endParaRPr lang="en-US" sz="2000" dirty="0"/>
          </a:p>
        </p:txBody>
      </p:sp>
      <p:sp>
        <p:nvSpPr>
          <p:cNvPr id="37" name="Text 28"/>
          <p:cNvSpPr txBox="1"/>
          <p:nvPr/>
        </p:nvSpPr>
        <p:spPr>
          <a:xfrm>
            <a:off x="3502152"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if needed</a:t>
            </a:r>
            <a:endParaRPr lang="en-US" sz="1400" dirty="0"/>
          </a:p>
        </p:txBody>
      </p:sp>
      <p:sp>
        <p:nvSpPr>
          <p:cNvPr id="38" name="Text 29"/>
          <p:cNvSpPr txBox="1"/>
          <p:nvPr/>
        </p:nvSpPr>
        <p:spPr>
          <a:xfrm>
            <a:off x="5971032" y="425196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39" name="Shape 30"/>
          <p:cNvSpPr/>
          <p:nvPr/>
        </p:nvSpPr>
        <p:spPr>
          <a:xfrm>
            <a:off x="6181344" y="3749040"/>
            <a:ext cx="2606040" cy="2011680"/>
          </a:xfrm>
          <a:prstGeom prst="roundRect">
            <a:avLst>
              <a:gd name="adj" fmla="val 4545"/>
            </a:avLst>
          </a:prstGeom>
          <a:solidFill>
            <a:srgbClr val="F1F5FB"/>
          </a:solidFill>
          <a:ln/>
        </p:spPr>
      </p:sp>
      <p:sp>
        <p:nvSpPr>
          <p:cNvPr id="40" name="Shape 31"/>
          <p:cNvSpPr/>
          <p:nvPr/>
        </p:nvSpPr>
        <p:spPr>
          <a:xfrm>
            <a:off x="7050024" y="3977640"/>
            <a:ext cx="822960" cy="822960"/>
          </a:xfrm>
          <a:prstGeom prst="ellipse">
            <a:avLst/>
          </a:prstGeom>
          <a:solidFill>
            <a:srgbClr val="17875A"/>
          </a:solidFill>
          <a:ln/>
        </p:spPr>
      </p:sp>
      <p:pic>
        <p:nvPicPr>
          <p:cNvPr id="41" name="Image 6" descr="preencoded.png">    </p:cNvPr>
          <p:cNvPicPr>
            <a:picLocks noChangeAspect="1"/>
          </p:cNvPicPr>
          <p:nvPr/>
        </p:nvPicPr>
        <p:blipFill>
          <a:blip r:embed="rId7"/>
          <a:stretch>
            <a:fillRect/>
          </a:stretch>
        </p:blipFill>
        <p:spPr>
          <a:xfrm>
            <a:off x="7255764" y="4183380"/>
            <a:ext cx="411480" cy="411480"/>
          </a:xfrm>
          <a:prstGeom prst="rect">
            <a:avLst/>
          </a:prstGeom>
        </p:spPr>
      </p:pic>
      <p:sp>
        <p:nvSpPr>
          <p:cNvPr id="42" name="Text 32"/>
          <p:cNvSpPr txBox="1"/>
          <p:nvPr/>
        </p:nvSpPr>
        <p:spPr>
          <a:xfrm>
            <a:off x="6318504"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Capture</a:t>
            </a:r>
            <a:endParaRPr lang="en-US" sz="2000" dirty="0"/>
          </a:p>
        </p:txBody>
      </p:sp>
      <p:sp>
        <p:nvSpPr>
          <p:cNvPr id="43" name="Text 33"/>
          <p:cNvSpPr txBox="1"/>
          <p:nvPr/>
        </p:nvSpPr>
        <p:spPr>
          <a:xfrm>
            <a:off x="6318504"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the flag</a:t>
            </a:r>
            <a:endParaRPr lang="en-US" sz="1400" dirty="0"/>
          </a:p>
        </p:txBody>
      </p:sp>
      <p:sp>
        <p:nvSpPr>
          <p:cNvPr id="44" name="Text 34"/>
          <p:cNvSpPr txBox="1"/>
          <p:nvPr/>
        </p:nvSpPr>
        <p:spPr>
          <a:xfrm>
            <a:off x="8787384" y="4251960"/>
            <a:ext cx="210312" cy="548640"/>
          </a:xfrm>
          <a:prstGeom prst="rect">
            <a:avLst/>
          </a:prstGeom>
          <a:noFill/>
          <a:ln/>
        </p:spPr>
        <p:txBody>
          <a:bodyPr wrap="square" lIns="0" tIns="0" rIns="0" bIns="0" rtlCol="0" anchor="ctr"/>
          <a:lstStyle/>
          <a:p>
            <a:pPr algn="ctr" indent="0" marL="0">
              <a:buNone/>
            </a:pPr>
            <a:r>
              <a:rPr lang="en-US" sz="2000" b="1" dirty="0">
                <a:solidFill>
                  <a:srgbClr val="56657E"/>
                </a:solidFill>
                <a:latin typeface="Courier New" pitchFamily="34" charset="0"/>
                <a:ea typeface="Courier New" pitchFamily="34" charset="-122"/>
                <a:cs typeface="Courier New" pitchFamily="34" charset="-120"/>
              </a:rPr>
              <a:t>&gt;</a:t>
            </a:r>
            <a:endParaRPr lang="en-US" sz="2000" dirty="0"/>
          </a:p>
        </p:txBody>
      </p:sp>
      <p:sp>
        <p:nvSpPr>
          <p:cNvPr id="45" name="Shape 35"/>
          <p:cNvSpPr/>
          <p:nvPr/>
        </p:nvSpPr>
        <p:spPr>
          <a:xfrm>
            <a:off x="8997696" y="3749040"/>
            <a:ext cx="2606040" cy="2011680"/>
          </a:xfrm>
          <a:prstGeom prst="roundRect">
            <a:avLst>
              <a:gd name="adj" fmla="val 4545"/>
            </a:avLst>
          </a:prstGeom>
          <a:solidFill>
            <a:srgbClr val="F1F5FB"/>
          </a:solidFill>
          <a:ln/>
        </p:spPr>
      </p:sp>
      <p:sp>
        <p:nvSpPr>
          <p:cNvPr id="46" name="Shape 36"/>
          <p:cNvSpPr/>
          <p:nvPr/>
        </p:nvSpPr>
        <p:spPr>
          <a:xfrm>
            <a:off x="9866376" y="3977640"/>
            <a:ext cx="822960" cy="822960"/>
          </a:xfrm>
          <a:prstGeom prst="ellipse">
            <a:avLst/>
          </a:prstGeom>
          <a:solidFill>
            <a:srgbClr val="2A9FD6"/>
          </a:solidFill>
          <a:ln/>
        </p:spPr>
      </p:sp>
      <p:pic>
        <p:nvPicPr>
          <p:cNvPr id="47" name="Image 7" descr="preencoded.png">    </p:cNvPr>
          <p:cNvPicPr>
            <a:picLocks noChangeAspect="1"/>
          </p:cNvPicPr>
          <p:nvPr/>
        </p:nvPicPr>
        <p:blipFill>
          <a:blip r:embed="rId8"/>
          <a:stretch>
            <a:fillRect/>
          </a:stretch>
        </p:blipFill>
        <p:spPr>
          <a:xfrm>
            <a:off x="10072116" y="4183380"/>
            <a:ext cx="411480" cy="411480"/>
          </a:xfrm>
          <a:prstGeom prst="rect">
            <a:avLst/>
          </a:prstGeom>
        </p:spPr>
      </p:pic>
      <p:sp>
        <p:nvSpPr>
          <p:cNvPr id="48" name="Text 37"/>
          <p:cNvSpPr txBox="1"/>
          <p:nvPr/>
        </p:nvSpPr>
        <p:spPr>
          <a:xfrm>
            <a:off x="9134856" y="4919472"/>
            <a:ext cx="2331720" cy="411480"/>
          </a:xfrm>
          <a:prstGeom prst="rect">
            <a:avLst/>
          </a:prstGeom>
          <a:noFill/>
          <a:ln/>
        </p:spPr>
        <p:txBody>
          <a:bodyPr wrap="square" lIns="0" tIns="0" rIns="0" bIns="0" rtlCol="0" anchor="t"/>
          <a:lstStyle/>
          <a:p>
            <a:pPr algn="ctr" indent="0" marL="0">
              <a:buNone/>
            </a:pPr>
            <a:r>
              <a:rPr lang="en-US" sz="2000" b="1" dirty="0">
                <a:solidFill>
                  <a:srgbClr val="12213A"/>
                </a:solidFill>
                <a:latin typeface="Arial" pitchFamily="34" charset="0"/>
                <a:ea typeface="Arial" pitchFamily="34" charset="-122"/>
                <a:cs typeface="Arial" pitchFamily="34" charset="-120"/>
              </a:rPr>
              <a:t>Submit</a:t>
            </a:r>
            <a:endParaRPr lang="en-US" sz="2000" dirty="0"/>
          </a:p>
        </p:txBody>
      </p:sp>
      <p:sp>
        <p:nvSpPr>
          <p:cNvPr id="49" name="Text 38"/>
          <p:cNvSpPr txBox="1"/>
          <p:nvPr/>
        </p:nvSpPr>
        <p:spPr>
          <a:xfrm>
            <a:off x="9134856" y="5321808"/>
            <a:ext cx="2331720" cy="365760"/>
          </a:xfrm>
          <a:prstGeom prst="rect">
            <a:avLst/>
          </a:prstGeom>
          <a:noFill/>
          <a:ln/>
        </p:spPr>
        <p:txBody>
          <a:bodyPr wrap="square" lIns="0" tIns="0" rIns="0" bIns="0" rtlCol="0" anchor="t"/>
          <a:lstStyle/>
          <a:p>
            <a:pPr algn="ctr" indent="0" marL="0">
              <a:buNone/>
            </a:pPr>
            <a:r>
              <a:rPr lang="en-US" sz="1400" dirty="0">
                <a:solidFill>
                  <a:srgbClr val="56657E"/>
                </a:solidFill>
                <a:latin typeface="Calibri" pitchFamily="34" charset="0"/>
                <a:ea typeface="Calibri" pitchFamily="34" charset="-122"/>
                <a:cs typeface="Calibri" pitchFamily="34" charset="-120"/>
              </a:rPr>
              <a:t>&amp; reflect</a:t>
            </a:r>
            <a:endParaRPr lang="en-US" sz="1400" dirty="0"/>
          </a:p>
        </p:txBody>
      </p:sp>
      <p:sp>
        <p:nvSpPr>
          <p:cNvPr id="50" name="Text 39"/>
          <p:cNvSpPr txBox="1"/>
          <p:nvPr/>
        </p:nvSpPr>
        <p:spPr>
          <a:xfrm>
            <a:off x="548640" y="6053328"/>
            <a:ext cx="11094415" cy="320040"/>
          </a:xfrm>
          <a:prstGeom prst="rect">
            <a:avLst/>
          </a:prstGeom>
          <a:noFill/>
          <a:ln/>
        </p:spPr>
        <p:txBody>
          <a:bodyPr wrap="square" lIns="0" tIns="0" rIns="0" bIns="0" rtlCol="0" anchor="t"/>
          <a:lstStyle/>
          <a:p>
            <a:pPr algn="ctr" indent="0" marL="0">
              <a:buNone/>
            </a:pPr>
            <a:r>
              <a:rPr lang="en-US" sz="1300" dirty="0">
                <a:solidFill>
                  <a:srgbClr val="56657E"/>
                </a:solidFill>
                <a:latin typeface="Calibri" pitchFamily="34" charset="0"/>
                <a:ea typeface="Calibri" pitchFamily="34" charset="-122"/>
                <a:cs typeface="Calibri" pitchFamily="34" charset="-120"/>
              </a:rPr>
              <a:t>read -&gt; try -&gt; check -&gt; adjust is the loop. Capturing the flag is just where it ends.</a:t>
            </a:r>
            <a:endParaRPr lang="en-US" sz="1300" dirty="0"/>
          </a:p>
        </p:txBody>
      </p:sp>
      <p:sp>
        <p:nvSpPr>
          <p:cNvPr id="51" name="Text 4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 / 61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17875A"/>
                </a:solidFill>
                <a:latin typeface="Arial" pitchFamily="34" charset="0"/>
                <a:ea typeface="Arial" pitchFamily="34" charset="-122"/>
                <a:cs typeface="Arial" pitchFamily="34" charset="-120"/>
              </a:rPr>
              <a:t>1</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Web fundamentals</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curl https://site/   # what the server really sent</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 / 61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is web exploitation?</a:t>
            </a:r>
            <a:endParaRPr lang="en-US" sz="3200" dirty="0"/>
          </a:p>
        </p:txBody>
      </p:sp>
      <p:sp>
        <p:nvSpPr>
          <p:cNvPr id="4" name="Text 1"/>
          <p:cNvSpPr txBox="1"/>
          <p:nvPr/>
        </p:nvSpPr>
        <p:spPr>
          <a:xfrm>
            <a:off x="548640" y="1371600"/>
            <a:ext cx="11094415" cy="502920"/>
          </a:xfrm>
          <a:prstGeom prst="rect">
            <a:avLst/>
          </a:prstGeom>
          <a:noFill/>
          <a:ln/>
        </p:spPr>
        <p:txBody>
          <a:bodyPr wrap="square" lIns="0" tIns="0" rIns="0" bIns="0" rtlCol="0" anchor="t"/>
          <a:lstStyle/>
          <a:p>
            <a:pPr indent="0" marL="0">
              <a:buNone/>
            </a:pPr>
            <a:r>
              <a:rPr lang="en-US" sz="1700" dirty="0">
                <a:solidFill>
                  <a:srgbClr val="56657E"/>
                </a:solidFill>
                <a:latin typeface="Calibri" pitchFamily="34" charset="0"/>
                <a:ea typeface="Calibri" pitchFamily="34" charset="-122"/>
                <a:cs typeface="Calibri" pitchFamily="34" charset="-120"/>
              </a:rPr>
              <a:t>Finding mistakes in how a website trusts you, and using them to make it do something it shouldn't. The browser sends a request; a careless server believes whatever it says.</a:t>
            </a:r>
            <a:endParaRPr lang="en-US" sz="1700" dirty="0"/>
          </a:p>
        </p:txBody>
      </p:sp>
      <p:sp>
        <p:nvSpPr>
          <p:cNvPr id="5" name="Shape 2"/>
          <p:cNvSpPr/>
          <p:nvPr/>
        </p:nvSpPr>
        <p:spPr>
          <a:xfrm>
            <a:off x="548640" y="2148840"/>
            <a:ext cx="2834640" cy="1298448"/>
          </a:xfrm>
          <a:prstGeom prst="roundRect">
            <a:avLst>
              <a:gd name="adj" fmla="val 7042"/>
            </a:avLst>
          </a:prstGeom>
          <a:solidFill>
            <a:srgbClr val="E3F1EB"/>
          </a:solidFill>
          <a:ln w="12700">
            <a:solidFill>
              <a:srgbClr val="97C9B5"/>
            </a:solidFill>
            <a:prstDash val="solid"/>
          </a:ln>
        </p:spPr>
      </p:sp>
      <p:sp>
        <p:nvSpPr>
          <p:cNvPr id="6" name="Text 3"/>
          <p:cNvSpPr txBox="1"/>
          <p:nvPr/>
        </p:nvSpPr>
        <p:spPr>
          <a:xfrm>
            <a:off x="548640" y="2276856"/>
            <a:ext cx="2834640" cy="274320"/>
          </a:xfrm>
          <a:prstGeom prst="rect">
            <a:avLst/>
          </a:prstGeom>
          <a:noFill/>
          <a:ln/>
        </p:spPr>
        <p:txBody>
          <a:bodyPr wrap="square" lIns="0" tIns="0" rIns="0" bIns="0" rtlCol="0" anchor="ctr"/>
          <a:lstStyle/>
          <a:p>
            <a:pPr algn="ctr" indent="0" marL="0">
              <a:buNone/>
            </a:pPr>
            <a:r>
              <a:rPr lang="en-US" sz="1200" b="1" dirty="0">
                <a:solidFill>
                  <a:srgbClr val="4A5B78"/>
                </a:solidFill>
                <a:latin typeface="Calibri" pitchFamily="34" charset="0"/>
                <a:ea typeface="Calibri" pitchFamily="34" charset="-122"/>
                <a:cs typeface="Calibri" pitchFamily="34" charset="-120"/>
              </a:rPr>
              <a:t>YOUR BROWSER</a:t>
            </a:r>
            <a:endParaRPr lang="en-US" sz="1200" dirty="0"/>
          </a:p>
        </p:txBody>
      </p:sp>
      <p:sp>
        <p:nvSpPr>
          <p:cNvPr id="7" name="Text 4"/>
          <p:cNvSpPr txBox="1"/>
          <p:nvPr/>
        </p:nvSpPr>
        <p:spPr>
          <a:xfrm>
            <a:off x="548640" y="2532888"/>
            <a:ext cx="2834640" cy="548640"/>
          </a:xfrm>
          <a:prstGeom prst="rect">
            <a:avLst/>
          </a:prstGeom>
          <a:noFill/>
          <a:ln/>
        </p:spPr>
        <p:txBody>
          <a:bodyPr wrap="square" lIns="0" tIns="0" rIns="0" bIns="0" rtlCol="0" anchor="ctr">
            <a:normAutofit/>
          </a:bodyP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GET /?id=1</a:t>
            </a:r>
            <a:endParaRPr lang="en-US" sz="2400" dirty="0"/>
          </a:p>
        </p:txBody>
      </p:sp>
      <p:sp>
        <p:nvSpPr>
          <p:cNvPr id="8" name="Text 5"/>
          <p:cNvSpPr txBox="1"/>
          <p:nvPr/>
        </p:nvSpPr>
        <p:spPr>
          <a:xfrm>
            <a:off x="548640" y="3081528"/>
            <a:ext cx="2834640" cy="274320"/>
          </a:xfrm>
          <a:prstGeom prst="rect">
            <a:avLst/>
          </a:prstGeom>
          <a:noFill/>
          <a:ln/>
        </p:spPr>
        <p:txBody>
          <a:bodyPr wrap="square" lIns="0" tIns="0" rIns="0" bIns="0" rtlCol="0" anchor="ctr"/>
          <a:lstStyle/>
          <a:p>
            <a:pPr algn="ctr" indent="0" marL="0">
              <a:buNone/>
            </a:pPr>
            <a:r>
              <a:rPr lang="en-US" sz="1200" dirty="0">
                <a:solidFill>
                  <a:srgbClr val="56657E"/>
                </a:solidFill>
                <a:latin typeface="Calibri" pitchFamily="34" charset="0"/>
                <a:ea typeface="Calibri" pitchFamily="34" charset="-122"/>
                <a:cs typeface="Calibri" pitchFamily="34" charset="-120"/>
              </a:rPr>
              <a:t>you send</a:t>
            </a:r>
            <a:endParaRPr lang="en-US" sz="1200" dirty="0"/>
          </a:p>
        </p:txBody>
      </p:sp>
      <p:sp>
        <p:nvSpPr>
          <p:cNvPr id="9" name="Shape 6"/>
          <p:cNvSpPr/>
          <p:nvPr/>
        </p:nvSpPr>
        <p:spPr>
          <a:xfrm>
            <a:off x="4663440" y="2148840"/>
            <a:ext cx="2834640" cy="1298448"/>
          </a:xfrm>
          <a:prstGeom prst="roundRect">
            <a:avLst>
              <a:gd name="adj" fmla="val 7042"/>
            </a:avLst>
          </a:prstGeom>
          <a:solidFill>
            <a:srgbClr val="0E1726"/>
          </a:solidFill>
          <a:ln w="12700">
            <a:solidFill>
              <a:srgbClr val="0E1726"/>
            </a:solidFill>
            <a:prstDash val="solid"/>
          </a:ln>
        </p:spPr>
      </p:sp>
      <p:sp>
        <p:nvSpPr>
          <p:cNvPr id="10" name="Text 7"/>
          <p:cNvSpPr txBox="1"/>
          <p:nvPr/>
        </p:nvSpPr>
        <p:spPr>
          <a:xfrm>
            <a:off x="4663440" y="2276856"/>
            <a:ext cx="2834640" cy="274320"/>
          </a:xfrm>
          <a:prstGeom prst="rect">
            <a:avLst/>
          </a:prstGeom>
          <a:noFill/>
          <a:ln/>
        </p:spPr>
        <p:txBody>
          <a:bodyPr wrap="square" lIns="0" tIns="0" rIns="0" bIns="0" rtlCol="0" anchor="ctr"/>
          <a:lstStyle/>
          <a:p>
            <a:pPr algn="ctr" indent="0" marL="0">
              <a:buNone/>
            </a:pPr>
            <a:r>
              <a:rPr lang="en-US" sz="1200" b="1" dirty="0">
                <a:solidFill>
                  <a:srgbClr val="7F8FAD"/>
                </a:solidFill>
                <a:latin typeface="Calibri" pitchFamily="34" charset="0"/>
                <a:ea typeface="Calibri" pitchFamily="34" charset="-122"/>
                <a:cs typeface="Calibri" pitchFamily="34" charset="-120"/>
              </a:rPr>
              <a:t>THE SERVER</a:t>
            </a:r>
            <a:endParaRPr lang="en-US" sz="1200" dirty="0"/>
          </a:p>
        </p:txBody>
      </p:sp>
      <p:sp>
        <p:nvSpPr>
          <p:cNvPr id="11" name="Text 8"/>
          <p:cNvSpPr txBox="1"/>
          <p:nvPr/>
        </p:nvSpPr>
        <p:spPr>
          <a:xfrm>
            <a:off x="4663440" y="2532888"/>
            <a:ext cx="2834640" cy="548640"/>
          </a:xfrm>
          <a:prstGeom prst="rect">
            <a:avLst/>
          </a:prstGeom>
          <a:noFill/>
          <a:ln/>
        </p:spPr>
        <p:txBody>
          <a:bodyPr wrap="square" lIns="0" tIns="0" rIns="0" bIns="0" rtlCol="0" anchor="ctr">
            <a:normAutofit/>
          </a:bodyPr>
          <a:lstStyle/>
          <a:p>
            <a:pPr algn="ctr" indent="0" marL="0">
              <a:buNone/>
            </a:pPr>
            <a:r>
              <a:rPr lang="en-US" sz="2400" b="1" dirty="0">
                <a:solidFill>
                  <a:srgbClr val="46D39A"/>
                </a:solidFill>
                <a:latin typeface="Courier New" pitchFamily="34" charset="0"/>
                <a:ea typeface="Courier New" pitchFamily="34" charset="-122"/>
                <a:cs typeface="Courier New" pitchFamily="34" charset="-120"/>
              </a:rPr>
              <a:t>trusts it</a:t>
            </a:r>
            <a:endParaRPr lang="en-US" sz="2400" dirty="0"/>
          </a:p>
        </p:txBody>
      </p:sp>
      <p:sp>
        <p:nvSpPr>
          <p:cNvPr id="12" name="Text 9"/>
          <p:cNvSpPr txBox="1"/>
          <p:nvPr/>
        </p:nvSpPr>
        <p:spPr>
          <a:xfrm>
            <a:off x="4663440" y="3081528"/>
            <a:ext cx="2834640" cy="274320"/>
          </a:xfrm>
          <a:prstGeom prst="rect">
            <a:avLst/>
          </a:prstGeom>
          <a:noFill/>
          <a:ln/>
        </p:spPr>
        <p:txBody>
          <a:bodyPr wrap="square" lIns="0" tIns="0" rIns="0" bIns="0" rtlCol="0" anchor="ctr"/>
          <a:lstStyle/>
          <a:p>
            <a:pPr algn="ctr" indent="0" marL="0">
              <a:buNone/>
            </a:pPr>
            <a:r>
              <a:rPr lang="en-US" sz="1200" dirty="0">
                <a:solidFill>
                  <a:srgbClr val="B8C4D9"/>
                </a:solidFill>
                <a:latin typeface="Calibri" pitchFamily="34" charset="0"/>
                <a:ea typeface="Calibri" pitchFamily="34" charset="-122"/>
                <a:cs typeface="Calibri" pitchFamily="34" charset="-120"/>
              </a:rPr>
              <a:t>it answers</a:t>
            </a:r>
            <a:endParaRPr lang="en-US" sz="1200" dirty="0"/>
          </a:p>
        </p:txBody>
      </p:sp>
      <p:sp>
        <p:nvSpPr>
          <p:cNvPr id="13" name="Shape 10"/>
          <p:cNvSpPr/>
          <p:nvPr/>
        </p:nvSpPr>
        <p:spPr>
          <a:xfrm>
            <a:off x="8778240" y="2148840"/>
            <a:ext cx="2834640" cy="1298448"/>
          </a:xfrm>
          <a:prstGeom prst="roundRect">
            <a:avLst>
              <a:gd name="adj" fmla="val 7042"/>
            </a:avLst>
          </a:prstGeom>
          <a:solidFill>
            <a:srgbClr val="E3F1EB"/>
          </a:solidFill>
          <a:ln w="12700">
            <a:solidFill>
              <a:srgbClr val="97C9B5"/>
            </a:solidFill>
            <a:prstDash val="solid"/>
          </a:ln>
        </p:spPr>
      </p:sp>
      <p:sp>
        <p:nvSpPr>
          <p:cNvPr id="14" name="Text 11"/>
          <p:cNvSpPr txBox="1"/>
          <p:nvPr/>
        </p:nvSpPr>
        <p:spPr>
          <a:xfrm>
            <a:off x="8778240" y="2276856"/>
            <a:ext cx="2834640" cy="274320"/>
          </a:xfrm>
          <a:prstGeom prst="rect">
            <a:avLst/>
          </a:prstGeom>
          <a:noFill/>
          <a:ln/>
        </p:spPr>
        <p:txBody>
          <a:bodyPr wrap="square" lIns="0" tIns="0" rIns="0" bIns="0" rtlCol="0" anchor="ctr"/>
          <a:lstStyle/>
          <a:p>
            <a:pPr algn="ctr" indent="0" marL="0">
              <a:buNone/>
            </a:pPr>
            <a:r>
              <a:rPr lang="en-US" sz="1200" b="1" dirty="0">
                <a:solidFill>
                  <a:srgbClr val="4A5B78"/>
                </a:solidFill>
                <a:latin typeface="Calibri" pitchFamily="34" charset="0"/>
                <a:ea typeface="Calibri" pitchFamily="34" charset="-122"/>
                <a:cs typeface="Calibri" pitchFamily="34" charset="-120"/>
              </a:rPr>
              <a:t>THE RESPONSE</a:t>
            </a:r>
            <a:endParaRPr lang="en-US" sz="1200" dirty="0"/>
          </a:p>
        </p:txBody>
      </p:sp>
      <p:sp>
        <p:nvSpPr>
          <p:cNvPr id="15" name="Text 12"/>
          <p:cNvSpPr txBox="1"/>
          <p:nvPr/>
        </p:nvSpPr>
        <p:spPr>
          <a:xfrm>
            <a:off x="8778240" y="2532888"/>
            <a:ext cx="2834640" cy="548640"/>
          </a:xfrm>
          <a:prstGeom prst="rect">
            <a:avLst/>
          </a:prstGeom>
          <a:noFill/>
          <a:ln/>
        </p:spPr>
        <p:txBody>
          <a:bodyPr wrap="square" lIns="0" tIns="0" rIns="0" bIns="0" rtlCol="0" anchor="ctr">
            <a:normAutofit/>
          </a:bodyPr>
          <a:lstStyle/>
          <a:p>
            <a:pPr algn="ctr" indent="0" marL="0">
              <a:buNone/>
            </a:pPr>
            <a:r>
              <a:rPr lang="en-US" sz="2400" b="1" dirty="0">
                <a:solidFill>
                  <a:srgbClr val="12213A"/>
                </a:solidFill>
                <a:latin typeface="Courier New" pitchFamily="34" charset="0"/>
                <a:ea typeface="Courier New" pitchFamily="34" charset="-122"/>
                <a:cs typeface="Courier New" pitchFamily="34" charset="-120"/>
              </a:rPr>
              <a:t>the page</a:t>
            </a:r>
            <a:endParaRPr lang="en-US" sz="2400" dirty="0"/>
          </a:p>
        </p:txBody>
      </p:sp>
      <p:sp>
        <p:nvSpPr>
          <p:cNvPr id="16" name="Text 13"/>
          <p:cNvSpPr txBox="1"/>
          <p:nvPr/>
        </p:nvSpPr>
        <p:spPr>
          <a:xfrm>
            <a:off x="8778240" y="3081528"/>
            <a:ext cx="2834640" cy="274320"/>
          </a:xfrm>
          <a:prstGeom prst="rect">
            <a:avLst/>
          </a:prstGeom>
          <a:noFill/>
          <a:ln/>
        </p:spPr>
        <p:txBody>
          <a:bodyPr wrap="square" lIns="0" tIns="0" rIns="0" bIns="0" rtlCol="0" anchor="ctr"/>
          <a:lstStyle/>
          <a:p>
            <a:pPr algn="ctr" indent="0" marL="0">
              <a:buNone/>
            </a:pPr>
            <a:r>
              <a:rPr lang="en-US" sz="1200" dirty="0">
                <a:solidFill>
                  <a:srgbClr val="56657E"/>
                </a:solidFill>
                <a:latin typeface="Calibri" pitchFamily="34" charset="0"/>
                <a:ea typeface="Calibri" pitchFamily="34" charset="-122"/>
                <a:cs typeface="Calibri" pitchFamily="34" charset="-120"/>
              </a:rPr>
              <a:t>you read &amp; change</a:t>
            </a:r>
            <a:endParaRPr lang="en-US" sz="1200" dirty="0"/>
          </a:p>
        </p:txBody>
      </p:sp>
      <p:sp>
        <p:nvSpPr>
          <p:cNvPr id="17" name="Shape 14"/>
          <p:cNvSpPr/>
          <p:nvPr/>
        </p:nvSpPr>
        <p:spPr>
          <a:xfrm>
            <a:off x="3456432" y="3337560"/>
            <a:ext cx="1133856" cy="18288"/>
          </a:xfrm>
          <a:prstGeom prst="line">
            <a:avLst/>
          </a:prstGeom>
          <a:noFill/>
          <a:ln w="25400">
            <a:solidFill>
              <a:srgbClr val="9AA7BD"/>
            </a:solidFill>
            <a:prstDash val="solid"/>
            <a:tailEnd type="triangle"/>
          </a:ln>
        </p:spPr>
      </p:sp>
      <p:sp>
        <p:nvSpPr>
          <p:cNvPr id="18" name="Shape 15"/>
          <p:cNvSpPr/>
          <p:nvPr/>
        </p:nvSpPr>
        <p:spPr>
          <a:xfrm>
            <a:off x="3730752" y="2258568"/>
            <a:ext cx="585216" cy="585216"/>
          </a:xfrm>
          <a:prstGeom prst="ellipse">
            <a:avLst/>
          </a:prstGeom>
          <a:solidFill>
            <a:srgbClr val="D3DEF7"/>
          </a:solidFill>
          <a:ln/>
        </p:spPr>
      </p:sp>
      <p:pic>
        <p:nvPicPr>
          <p:cNvPr id="19" name="Image 0" descr="preencoded.png">    </p:cNvPr>
          <p:cNvPicPr>
            <a:picLocks noChangeAspect="1"/>
          </p:cNvPicPr>
          <p:nvPr/>
        </p:nvPicPr>
        <p:blipFill>
          <a:blip r:embed="rId1"/>
          <a:stretch>
            <a:fillRect/>
          </a:stretch>
        </p:blipFill>
        <p:spPr>
          <a:xfrm>
            <a:off x="3888760" y="2416576"/>
            <a:ext cx="269199" cy="269199"/>
          </a:xfrm>
          <a:prstGeom prst="rect">
            <a:avLst/>
          </a:prstGeom>
        </p:spPr>
      </p:pic>
      <p:sp>
        <p:nvSpPr>
          <p:cNvPr id="20" name="Text 16"/>
          <p:cNvSpPr txBox="1"/>
          <p:nvPr/>
        </p:nvSpPr>
        <p:spPr>
          <a:xfrm>
            <a:off x="3383280" y="2898648"/>
            <a:ext cx="1280160" cy="274320"/>
          </a:xfrm>
          <a:prstGeom prst="rect">
            <a:avLst/>
          </a:prstGeom>
          <a:noFill/>
          <a:ln/>
        </p:spPr>
        <p:txBody>
          <a:bodyPr wrap="square" lIns="0" tIns="0" rIns="0" bIns="0" rtlCol="0" anchor="ctr"/>
          <a:lstStyle/>
          <a:p>
            <a:pPr algn="ctr" indent="0" marL="0">
              <a:buNone/>
            </a:pPr>
            <a:r>
              <a:rPr lang="en-US" sz="1300" b="1" dirty="0">
                <a:solidFill>
                  <a:srgbClr val="2459D8"/>
                </a:solidFill>
                <a:latin typeface="Arial" pitchFamily="34" charset="0"/>
                <a:ea typeface="Arial" pitchFamily="34" charset="-122"/>
                <a:cs typeface="Arial" pitchFamily="34" charset="-120"/>
              </a:rPr>
              <a:t>request</a:t>
            </a:r>
            <a:endParaRPr lang="en-US" sz="1300" dirty="0"/>
          </a:p>
        </p:txBody>
      </p:sp>
      <p:sp>
        <p:nvSpPr>
          <p:cNvPr id="21" name="Shape 17"/>
          <p:cNvSpPr/>
          <p:nvPr/>
        </p:nvSpPr>
        <p:spPr>
          <a:xfrm>
            <a:off x="7571232" y="3337560"/>
            <a:ext cx="1133856" cy="18288"/>
          </a:xfrm>
          <a:prstGeom prst="line">
            <a:avLst/>
          </a:prstGeom>
          <a:noFill/>
          <a:ln w="25400">
            <a:solidFill>
              <a:srgbClr val="9AA7BD"/>
            </a:solidFill>
            <a:prstDash val="solid"/>
            <a:tailEnd type="triangle"/>
          </a:ln>
        </p:spPr>
      </p:sp>
      <p:sp>
        <p:nvSpPr>
          <p:cNvPr id="22" name="Shape 18"/>
          <p:cNvSpPr/>
          <p:nvPr/>
        </p:nvSpPr>
        <p:spPr>
          <a:xfrm>
            <a:off x="7845552" y="2258568"/>
            <a:ext cx="585216" cy="585216"/>
          </a:xfrm>
          <a:prstGeom prst="ellipse">
            <a:avLst/>
          </a:prstGeom>
          <a:solidFill>
            <a:srgbClr val="D3DEF7"/>
          </a:solidFill>
          <a:ln/>
        </p:spPr>
      </p:sp>
      <p:pic>
        <p:nvPicPr>
          <p:cNvPr id="23" name="Image 1" descr="preencoded.png">    </p:cNvPr>
          <p:cNvPicPr>
            <a:picLocks noChangeAspect="1"/>
          </p:cNvPicPr>
          <p:nvPr/>
        </p:nvPicPr>
        <p:blipFill>
          <a:blip r:embed="rId2"/>
          <a:stretch>
            <a:fillRect/>
          </a:stretch>
        </p:blipFill>
        <p:spPr>
          <a:xfrm>
            <a:off x="8003560" y="2416576"/>
            <a:ext cx="269199" cy="269199"/>
          </a:xfrm>
          <a:prstGeom prst="rect">
            <a:avLst/>
          </a:prstGeom>
        </p:spPr>
      </p:pic>
      <p:sp>
        <p:nvSpPr>
          <p:cNvPr id="24" name="Text 19"/>
          <p:cNvSpPr txBox="1"/>
          <p:nvPr/>
        </p:nvSpPr>
        <p:spPr>
          <a:xfrm>
            <a:off x="7498080" y="2898648"/>
            <a:ext cx="1280160" cy="274320"/>
          </a:xfrm>
          <a:prstGeom prst="rect">
            <a:avLst/>
          </a:prstGeom>
          <a:noFill/>
          <a:ln/>
        </p:spPr>
        <p:txBody>
          <a:bodyPr wrap="square" lIns="0" tIns="0" rIns="0" bIns="0" rtlCol="0" anchor="ctr"/>
          <a:lstStyle/>
          <a:p>
            <a:pPr algn="ctr" indent="0" marL="0">
              <a:buNone/>
            </a:pPr>
            <a:r>
              <a:rPr lang="en-US" sz="1300" b="1" dirty="0">
                <a:solidFill>
                  <a:srgbClr val="2459D8"/>
                </a:solidFill>
                <a:latin typeface="Arial" pitchFamily="34" charset="0"/>
                <a:ea typeface="Arial" pitchFamily="34" charset="-122"/>
                <a:cs typeface="Arial" pitchFamily="34" charset="-120"/>
              </a:rPr>
              <a:t>response</a:t>
            </a:r>
            <a:endParaRPr lang="en-US" sz="1300" dirty="0"/>
          </a:p>
        </p:txBody>
      </p:sp>
      <p:sp>
        <p:nvSpPr>
          <p:cNvPr id="25" name="Shape 20"/>
          <p:cNvSpPr/>
          <p:nvPr/>
        </p:nvSpPr>
        <p:spPr>
          <a:xfrm>
            <a:off x="548640" y="3858768"/>
            <a:ext cx="5440680" cy="1700784"/>
          </a:xfrm>
          <a:prstGeom prst="roundRect">
            <a:avLst>
              <a:gd name="adj" fmla="val 5376"/>
            </a:avLst>
          </a:prstGeom>
          <a:solidFill>
            <a:srgbClr val="F1F5FB"/>
          </a:solidFill>
          <a:ln/>
        </p:spPr>
      </p:sp>
      <p:sp>
        <p:nvSpPr>
          <p:cNvPr id="26" name="Text 21"/>
          <p:cNvSpPr txBox="1"/>
          <p:nvPr/>
        </p:nvSpPr>
        <p:spPr>
          <a:xfrm>
            <a:off x="822960" y="3995928"/>
            <a:ext cx="4937760" cy="32004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What you'll actually do</a:t>
            </a:r>
            <a:endParaRPr lang="en-US" sz="1700" dirty="0"/>
          </a:p>
        </p:txBody>
      </p:sp>
      <p:sp>
        <p:nvSpPr>
          <p:cNvPr id="27" name="Shape 22"/>
          <p:cNvSpPr/>
          <p:nvPr/>
        </p:nvSpPr>
        <p:spPr>
          <a:xfrm>
            <a:off x="822960" y="4389120"/>
            <a:ext cx="310896" cy="310896"/>
          </a:xfrm>
          <a:prstGeom prst="ellipse">
            <a:avLst/>
          </a:prstGeom>
          <a:solidFill>
            <a:srgbClr val="D1E7DE"/>
          </a:solidFill>
          <a:ln/>
        </p:spPr>
      </p:sp>
      <p:pic>
        <p:nvPicPr>
          <p:cNvPr id="28" name="Image 2" descr="preencoded.png">    </p:cNvPr>
          <p:cNvPicPr>
            <a:picLocks noChangeAspect="1"/>
          </p:cNvPicPr>
          <p:nvPr/>
        </p:nvPicPr>
        <p:blipFill>
          <a:blip r:embed="rId3"/>
          <a:stretch>
            <a:fillRect/>
          </a:stretch>
        </p:blipFill>
        <p:spPr>
          <a:xfrm>
            <a:off x="906902" y="4473062"/>
            <a:ext cx="143012" cy="143012"/>
          </a:xfrm>
          <a:prstGeom prst="rect">
            <a:avLst/>
          </a:prstGeom>
        </p:spPr>
      </p:pic>
      <p:sp>
        <p:nvSpPr>
          <p:cNvPr id="29" name="Text 23"/>
          <p:cNvSpPr txBox="1"/>
          <p:nvPr/>
        </p:nvSpPr>
        <p:spPr>
          <a:xfrm>
            <a:off x="1243584" y="4370832"/>
            <a:ext cx="4572000" cy="347472"/>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Look closer: </a:t>
            </a:r>
            <a:pPr indent="0" marL="0">
              <a:buNone/>
            </a:pPr>
            <a:r>
              <a:rPr lang="en-US" sz="1400" dirty="0">
                <a:solidFill>
                  <a:srgbClr val="12213A"/>
                </a:solidFill>
                <a:latin typeface="Calibri" pitchFamily="34" charset="0"/>
                <a:ea typeface="Calibri" pitchFamily="34" charset="-122"/>
                <a:cs typeface="Calibri" pitchFamily="34" charset="-120"/>
              </a:rPr>
              <a:t>read the source, cookies and tokens the app sent you</a:t>
            </a:r>
            <a:endParaRPr lang="en-US" sz="1400" dirty="0"/>
          </a:p>
        </p:txBody>
      </p:sp>
      <p:sp>
        <p:nvSpPr>
          <p:cNvPr id="30" name="Shape 24"/>
          <p:cNvSpPr/>
          <p:nvPr/>
        </p:nvSpPr>
        <p:spPr>
          <a:xfrm>
            <a:off x="822960" y="4773168"/>
            <a:ext cx="310896" cy="310896"/>
          </a:xfrm>
          <a:prstGeom prst="ellipse">
            <a:avLst/>
          </a:prstGeom>
          <a:solidFill>
            <a:srgbClr val="D3DEF7"/>
          </a:solidFill>
          <a:ln/>
        </p:spPr>
      </p:sp>
      <p:pic>
        <p:nvPicPr>
          <p:cNvPr id="31" name="Image 3" descr="preencoded.png">    </p:cNvPr>
          <p:cNvPicPr>
            <a:picLocks noChangeAspect="1"/>
          </p:cNvPicPr>
          <p:nvPr/>
        </p:nvPicPr>
        <p:blipFill>
          <a:blip r:embed="rId4"/>
          <a:stretch>
            <a:fillRect/>
          </a:stretch>
        </p:blipFill>
        <p:spPr>
          <a:xfrm>
            <a:off x="906902" y="4857110"/>
            <a:ext cx="143012" cy="143012"/>
          </a:xfrm>
          <a:prstGeom prst="rect">
            <a:avLst/>
          </a:prstGeom>
        </p:spPr>
      </p:pic>
      <p:sp>
        <p:nvSpPr>
          <p:cNvPr id="32" name="Text 25"/>
          <p:cNvSpPr txBox="1"/>
          <p:nvPr/>
        </p:nvSpPr>
        <p:spPr>
          <a:xfrm>
            <a:off x="1243584" y="4754880"/>
            <a:ext cx="4572000" cy="347472"/>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Change the request: </a:t>
            </a:r>
            <a:pPr indent="0" marL="0">
              <a:buNone/>
            </a:pPr>
            <a:r>
              <a:rPr lang="en-US" sz="1400" dirty="0">
                <a:solidFill>
                  <a:srgbClr val="12213A"/>
                </a:solidFill>
                <a:latin typeface="Calibri" pitchFamily="34" charset="0"/>
                <a:ea typeface="Calibri" pitchFamily="34" charset="-122"/>
                <a:cs typeface="Calibri" pitchFamily="34" charset="-120"/>
              </a:rPr>
              <a:t>edit a URL, a cookie, or what you type in</a:t>
            </a:r>
            <a:endParaRPr lang="en-US" sz="1400" dirty="0"/>
          </a:p>
        </p:txBody>
      </p:sp>
      <p:sp>
        <p:nvSpPr>
          <p:cNvPr id="33" name="Shape 26"/>
          <p:cNvSpPr/>
          <p:nvPr/>
        </p:nvSpPr>
        <p:spPr>
          <a:xfrm>
            <a:off x="822960" y="5157216"/>
            <a:ext cx="310896" cy="310896"/>
          </a:xfrm>
          <a:prstGeom prst="ellipse">
            <a:avLst/>
          </a:prstGeom>
          <a:solidFill>
            <a:srgbClr val="F6D9E1"/>
          </a:solidFill>
          <a:ln/>
        </p:spPr>
      </p:sp>
      <p:pic>
        <p:nvPicPr>
          <p:cNvPr id="34" name="Image 4" descr="preencoded.png">    </p:cNvPr>
          <p:cNvPicPr>
            <a:picLocks noChangeAspect="1"/>
          </p:cNvPicPr>
          <p:nvPr/>
        </p:nvPicPr>
        <p:blipFill>
          <a:blip r:embed="rId5"/>
          <a:stretch>
            <a:fillRect/>
          </a:stretch>
        </p:blipFill>
        <p:spPr>
          <a:xfrm>
            <a:off x="906902" y="5241158"/>
            <a:ext cx="143012" cy="143012"/>
          </a:xfrm>
          <a:prstGeom prst="rect">
            <a:avLst/>
          </a:prstGeom>
        </p:spPr>
      </p:pic>
      <p:sp>
        <p:nvSpPr>
          <p:cNvPr id="35" name="Text 27"/>
          <p:cNvSpPr txBox="1"/>
          <p:nvPr/>
        </p:nvSpPr>
        <p:spPr>
          <a:xfrm>
            <a:off x="1243584" y="5138928"/>
            <a:ext cx="4572000" cy="347472"/>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Capture the flag: </a:t>
            </a:r>
            <a:pPr indent="0" marL="0">
              <a:buNone/>
            </a:pPr>
            <a:r>
              <a:rPr lang="en-US" sz="1400" dirty="0">
                <a:solidFill>
                  <a:srgbClr val="12213A"/>
                </a:solidFill>
                <a:latin typeface="Calibri" pitchFamily="34" charset="0"/>
                <a:ea typeface="Calibri" pitchFamily="34" charset="-122"/>
                <a:cs typeface="Calibri" pitchFamily="34" charset="-120"/>
              </a:rPr>
              <a:t>make the app reveal what it shouldn't</a:t>
            </a:r>
            <a:endParaRPr lang="en-US" sz="1400" dirty="0"/>
          </a:p>
        </p:txBody>
      </p:sp>
      <p:sp>
        <p:nvSpPr>
          <p:cNvPr id="36" name="Shape 28"/>
          <p:cNvSpPr/>
          <p:nvPr/>
        </p:nvSpPr>
        <p:spPr>
          <a:xfrm>
            <a:off x="6199632" y="3858768"/>
            <a:ext cx="5440680" cy="1700784"/>
          </a:xfrm>
          <a:prstGeom prst="roundRect">
            <a:avLst>
              <a:gd name="adj" fmla="val 5376"/>
            </a:avLst>
          </a:prstGeom>
          <a:solidFill>
            <a:srgbClr val="F1F5FB"/>
          </a:solidFill>
          <a:ln/>
        </p:spPr>
      </p:sp>
      <p:sp>
        <p:nvSpPr>
          <p:cNvPr id="37" name="Text 29"/>
          <p:cNvSpPr txBox="1"/>
          <p:nvPr/>
        </p:nvSpPr>
        <p:spPr>
          <a:xfrm>
            <a:off x="6473952" y="3995928"/>
            <a:ext cx="4937760" cy="320040"/>
          </a:xfrm>
          <a:prstGeom prst="rect">
            <a:avLst/>
          </a:prstGeom>
          <a:noFill/>
          <a:ln/>
        </p:spPr>
        <p:txBody>
          <a:bodyPr wrap="square" lIns="0" tIns="0" rIns="0" bIns="0" rtlCol="0" anchor="t"/>
          <a:lstStyle/>
          <a:p>
            <a:pPr indent="0" marL="0">
              <a:buNone/>
            </a:pPr>
            <a:r>
              <a:rPr lang="en-US" sz="1700" b="1" dirty="0">
                <a:solidFill>
                  <a:srgbClr val="12213A"/>
                </a:solidFill>
                <a:latin typeface="Arial" pitchFamily="34" charset="0"/>
                <a:ea typeface="Arial" pitchFamily="34" charset="-122"/>
                <a:cs typeface="Arial" pitchFamily="34" charset="-120"/>
              </a:rPr>
              <a:t>Where you meet the web every day</a:t>
            </a:r>
            <a:endParaRPr lang="en-US" sz="1700" dirty="0"/>
          </a:p>
        </p:txBody>
      </p:sp>
      <p:sp>
        <p:nvSpPr>
          <p:cNvPr id="38" name="Shape 30"/>
          <p:cNvSpPr/>
          <p:nvPr/>
        </p:nvSpPr>
        <p:spPr>
          <a:xfrm>
            <a:off x="6656832" y="4425696"/>
            <a:ext cx="658368" cy="658368"/>
          </a:xfrm>
          <a:prstGeom prst="ellipse">
            <a:avLst/>
          </a:prstGeom>
          <a:solidFill>
            <a:srgbClr val="D4ECF7"/>
          </a:solidFill>
          <a:ln/>
        </p:spPr>
      </p:sp>
      <p:pic>
        <p:nvPicPr>
          <p:cNvPr id="39" name="Image 5" descr="preencoded.png">    </p:cNvPr>
          <p:cNvPicPr>
            <a:picLocks noChangeAspect="1"/>
          </p:cNvPicPr>
          <p:nvPr/>
        </p:nvPicPr>
        <p:blipFill>
          <a:blip r:embed="rId6"/>
          <a:stretch>
            <a:fillRect/>
          </a:stretch>
        </p:blipFill>
        <p:spPr>
          <a:xfrm>
            <a:off x="6834591" y="4603455"/>
            <a:ext cx="302849" cy="302849"/>
          </a:xfrm>
          <a:prstGeom prst="rect">
            <a:avLst/>
          </a:prstGeom>
        </p:spPr>
      </p:pic>
      <p:sp>
        <p:nvSpPr>
          <p:cNvPr id="40" name="Text 31"/>
          <p:cNvSpPr txBox="1"/>
          <p:nvPr/>
        </p:nvSpPr>
        <p:spPr>
          <a:xfrm>
            <a:off x="6309360" y="5157216"/>
            <a:ext cx="1371600" cy="320040"/>
          </a:xfrm>
          <a:prstGeom prst="rect">
            <a:avLst/>
          </a:prstGeom>
          <a:noFill/>
          <a:ln/>
        </p:spPr>
        <p:txBody>
          <a:bodyPr wrap="square" lIns="0" tIns="0" rIns="0" bIns="0" rtlCol="0" anchor="t"/>
          <a:lstStyle/>
          <a:p>
            <a:pPr algn="ctr" indent="0" marL="0">
              <a:buNone/>
            </a:pPr>
            <a:r>
              <a:rPr lang="en-US" sz="1150" b="1" dirty="0">
                <a:solidFill>
                  <a:srgbClr val="12213A"/>
                </a:solidFill>
                <a:latin typeface="Calibri" pitchFamily="34" charset="0"/>
                <a:ea typeface="Calibri" pitchFamily="34" charset="-122"/>
                <a:cs typeface="Calibri" pitchFamily="34" charset="-120"/>
              </a:rPr>
              <a:t>Websites</a:t>
            </a:r>
            <a:endParaRPr lang="en-US" sz="1150" dirty="0"/>
          </a:p>
        </p:txBody>
      </p:sp>
      <p:sp>
        <p:nvSpPr>
          <p:cNvPr id="41" name="Shape 32"/>
          <p:cNvSpPr/>
          <p:nvPr/>
        </p:nvSpPr>
        <p:spPr>
          <a:xfrm>
            <a:off x="7991856" y="4425696"/>
            <a:ext cx="658368" cy="658368"/>
          </a:xfrm>
          <a:prstGeom prst="ellipse">
            <a:avLst/>
          </a:prstGeom>
          <a:solidFill>
            <a:srgbClr val="D3DEF7"/>
          </a:solidFill>
          <a:ln/>
        </p:spPr>
      </p:sp>
      <p:pic>
        <p:nvPicPr>
          <p:cNvPr id="42" name="Image 6" descr="preencoded.png">    </p:cNvPr>
          <p:cNvPicPr>
            <a:picLocks noChangeAspect="1"/>
          </p:cNvPicPr>
          <p:nvPr/>
        </p:nvPicPr>
        <p:blipFill>
          <a:blip r:embed="rId7"/>
          <a:stretch>
            <a:fillRect/>
          </a:stretch>
        </p:blipFill>
        <p:spPr>
          <a:xfrm>
            <a:off x="8169615" y="4603455"/>
            <a:ext cx="302849" cy="302849"/>
          </a:xfrm>
          <a:prstGeom prst="rect">
            <a:avLst/>
          </a:prstGeom>
        </p:spPr>
      </p:pic>
      <p:sp>
        <p:nvSpPr>
          <p:cNvPr id="43" name="Text 33"/>
          <p:cNvSpPr txBox="1"/>
          <p:nvPr/>
        </p:nvSpPr>
        <p:spPr>
          <a:xfrm>
            <a:off x="7644384" y="5157216"/>
            <a:ext cx="1371600" cy="320040"/>
          </a:xfrm>
          <a:prstGeom prst="rect">
            <a:avLst/>
          </a:prstGeom>
          <a:noFill/>
          <a:ln/>
        </p:spPr>
        <p:txBody>
          <a:bodyPr wrap="square" lIns="0" tIns="0" rIns="0" bIns="0" rtlCol="0" anchor="t"/>
          <a:lstStyle/>
          <a:p>
            <a:pPr algn="ctr" indent="0" marL="0">
              <a:buNone/>
            </a:pPr>
            <a:r>
              <a:rPr lang="en-US" sz="1150" b="1" dirty="0">
                <a:solidFill>
                  <a:srgbClr val="12213A"/>
                </a:solidFill>
                <a:latin typeface="Calibri" pitchFamily="34" charset="0"/>
                <a:ea typeface="Calibri" pitchFamily="34" charset="-122"/>
                <a:cs typeface="Calibri" pitchFamily="34" charset="-120"/>
              </a:rPr>
              <a:t>Phone apps</a:t>
            </a:r>
            <a:endParaRPr lang="en-US" sz="1150" dirty="0"/>
          </a:p>
        </p:txBody>
      </p:sp>
      <p:sp>
        <p:nvSpPr>
          <p:cNvPr id="44" name="Shape 34"/>
          <p:cNvSpPr/>
          <p:nvPr/>
        </p:nvSpPr>
        <p:spPr>
          <a:xfrm>
            <a:off x="9326880" y="4425696"/>
            <a:ext cx="658368" cy="658368"/>
          </a:xfrm>
          <a:prstGeom prst="ellipse">
            <a:avLst/>
          </a:prstGeom>
          <a:solidFill>
            <a:srgbClr val="E3DAF6"/>
          </a:solidFill>
          <a:ln/>
        </p:spPr>
      </p:sp>
      <p:pic>
        <p:nvPicPr>
          <p:cNvPr id="45" name="Image 7" descr="preencoded.png">    </p:cNvPr>
          <p:cNvPicPr>
            <a:picLocks noChangeAspect="1"/>
          </p:cNvPicPr>
          <p:nvPr/>
        </p:nvPicPr>
        <p:blipFill>
          <a:blip r:embed="rId8"/>
          <a:stretch>
            <a:fillRect/>
          </a:stretch>
        </p:blipFill>
        <p:spPr>
          <a:xfrm>
            <a:off x="9504639" y="4603455"/>
            <a:ext cx="302849" cy="302849"/>
          </a:xfrm>
          <a:prstGeom prst="rect">
            <a:avLst/>
          </a:prstGeom>
        </p:spPr>
      </p:pic>
      <p:sp>
        <p:nvSpPr>
          <p:cNvPr id="46" name="Text 35"/>
          <p:cNvSpPr txBox="1"/>
          <p:nvPr/>
        </p:nvSpPr>
        <p:spPr>
          <a:xfrm>
            <a:off x="8979408" y="5157216"/>
            <a:ext cx="1371600" cy="320040"/>
          </a:xfrm>
          <a:prstGeom prst="rect">
            <a:avLst/>
          </a:prstGeom>
          <a:noFill/>
          <a:ln/>
        </p:spPr>
        <p:txBody>
          <a:bodyPr wrap="square" lIns="0" tIns="0" rIns="0" bIns="0" rtlCol="0" anchor="t"/>
          <a:lstStyle/>
          <a:p>
            <a:pPr algn="ctr" indent="0" marL="0">
              <a:buNone/>
            </a:pPr>
            <a:r>
              <a:rPr lang="en-US" sz="1150" b="1" dirty="0">
                <a:solidFill>
                  <a:srgbClr val="12213A"/>
                </a:solidFill>
                <a:latin typeface="Calibri" pitchFamily="34" charset="0"/>
                <a:ea typeface="Calibri" pitchFamily="34" charset="-122"/>
                <a:cs typeface="Calibri" pitchFamily="34" charset="-120"/>
              </a:rPr>
              <a:t>Online games</a:t>
            </a:r>
            <a:endParaRPr lang="en-US" sz="1150" dirty="0"/>
          </a:p>
        </p:txBody>
      </p:sp>
      <p:sp>
        <p:nvSpPr>
          <p:cNvPr id="47" name="Shape 36"/>
          <p:cNvSpPr/>
          <p:nvPr/>
        </p:nvSpPr>
        <p:spPr>
          <a:xfrm>
            <a:off x="10661904" y="4425696"/>
            <a:ext cx="658368" cy="658368"/>
          </a:xfrm>
          <a:prstGeom prst="ellipse">
            <a:avLst/>
          </a:prstGeom>
          <a:solidFill>
            <a:srgbClr val="FAE6CE"/>
          </a:solidFill>
          <a:ln/>
        </p:spPr>
      </p:sp>
      <p:pic>
        <p:nvPicPr>
          <p:cNvPr id="48" name="Image 8" descr="preencoded.png">    </p:cNvPr>
          <p:cNvPicPr>
            <a:picLocks noChangeAspect="1"/>
          </p:cNvPicPr>
          <p:nvPr/>
        </p:nvPicPr>
        <p:blipFill>
          <a:blip r:embed="rId9"/>
          <a:stretch>
            <a:fillRect/>
          </a:stretch>
        </p:blipFill>
        <p:spPr>
          <a:xfrm>
            <a:off x="10839663" y="4603455"/>
            <a:ext cx="302849" cy="302849"/>
          </a:xfrm>
          <a:prstGeom prst="rect">
            <a:avLst/>
          </a:prstGeom>
        </p:spPr>
      </p:pic>
      <p:sp>
        <p:nvSpPr>
          <p:cNvPr id="49" name="Text 37"/>
          <p:cNvSpPr txBox="1"/>
          <p:nvPr/>
        </p:nvSpPr>
        <p:spPr>
          <a:xfrm>
            <a:off x="10314432" y="5157216"/>
            <a:ext cx="1371600" cy="320040"/>
          </a:xfrm>
          <a:prstGeom prst="rect">
            <a:avLst/>
          </a:prstGeom>
          <a:noFill/>
          <a:ln/>
        </p:spPr>
        <p:txBody>
          <a:bodyPr wrap="square" lIns="0" tIns="0" rIns="0" bIns="0" rtlCol="0" anchor="t"/>
          <a:lstStyle/>
          <a:p>
            <a:pPr algn="ctr" indent="0" marL="0">
              <a:buNone/>
            </a:pPr>
            <a:r>
              <a:rPr lang="en-US" sz="1150" b="1" dirty="0">
                <a:solidFill>
                  <a:srgbClr val="12213A"/>
                </a:solidFill>
                <a:latin typeface="Calibri" pitchFamily="34" charset="0"/>
                <a:ea typeface="Calibri" pitchFamily="34" charset="-122"/>
                <a:cs typeface="Calibri" pitchFamily="34" charset="-120"/>
              </a:rPr>
              <a:t>Shopping</a:t>
            </a:r>
            <a:endParaRPr lang="en-US" sz="1150" dirty="0"/>
          </a:p>
        </p:txBody>
      </p:sp>
      <p:sp>
        <p:nvSpPr>
          <p:cNvPr id="50" name="Text 3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6 / 61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the web works: request and response</a:t>
            </a:r>
            <a:endParaRPr lang="en-US" sz="3200" dirty="0"/>
          </a:p>
        </p:txBody>
      </p:sp>
      <p:sp>
        <p:nvSpPr>
          <p:cNvPr id="4" name="Shape 1"/>
          <p:cNvSpPr/>
          <p:nvPr/>
        </p:nvSpPr>
        <p:spPr>
          <a:xfrm>
            <a:off x="548640" y="1600200"/>
            <a:ext cx="457200" cy="457200"/>
          </a:xfrm>
          <a:prstGeom prst="ellipse">
            <a:avLst/>
          </a:prstGeom>
          <a:solidFill>
            <a:srgbClr val="2459D8"/>
          </a:solidFill>
          <a:ln/>
        </p:spPr>
      </p:sp>
      <p:sp>
        <p:nvSpPr>
          <p:cNvPr id="5" name="Text 2"/>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3"/>
          <p:cNvSpPr txBox="1"/>
          <p:nvPr/>
        </p:nvSpPr>
        <p:spPr>
          <a:xfrm>
            <a:off x="1188720" y="1572768"/>
            <a:ext cx="5029200" cy="93268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You ask. </a:t>
            </a:r>
            <a:pPr indent="0" marL="0">
              <a:buNone/>
            </a:pPr>
            <a:r>
              <a:rPr lang="en-US" sz="1600" dirty="0">
                <a:solidFill>
                  <a:srgbClr val="12213A"/>
                </a:solidFill>
                <a:latin typeface="Calibri" pitchFamily="34" charset="0"/>
                <a:ea typeface="Calibri" pitchFamily="34" charset="-122"/>
                <a:cs typeface="Calibri" pitchFamily="34" charset="-120"/>
              </a:rPr>
              <a:t>Type an address or click a link; the browser builds a request.</a:t>
            </a:r>
            <a:endParaRPr lang="en-US" sz="1600" dirty="0"/>
          </a:p>
        </p:txBody>
      </p:sp>
      <p:sp>
        <p:nvSpPr>
          <p:cNvPr id="7" name="Shape 4"/>
          <p:cNvSpPr/>
          <p:nvPr/>
        </p:nvSpPr>
        <p:spPr>
          <a:xfrm>
            <a:off x="548640" y="2624328"/>
            <a:ext cx="457200" cy="457200"/>
          </a:xfrm>
          <a:prstGeom prst="ellipse">
            <a:avLst/>
          </a:prstGeom>
          <a:solidFill>
            <a:srgbClr val="2459D8"/>
          </a:solidFill>
          <a:ln/>
        </p:spPr>
      </p:sp>
      <p:sp>
        <p:nvSpPr>
          <p:cNvPr id="8" name="Text 5"/>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6"/>
          <p:cNvSpPr txBox="1"/>
          <p:nvPr/>
        </p:nvSpPr>
        <p:spPr>
          <a:xfrm>
            <a:off x="1188720" y="2596896"/>
            <a:ext cx="5029200" cy="93268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browser sends it. </a:t>
            </a:r>
            <a:pPr indent="0" marL="0">
              <a:buNone/>
            </a:pPr>
            <a:r>
              <a:rPr lang="en-US" sz="1600" dirty="0">
                <a:solidFill>
                  <a:srgbClr val="12213A"/>
                </a:solidFill>
                <a:latin typeface="Calibri" pitchFamily="34" charset="0"/>
                <a:ea typeface="Calibri" pitchFamily="34" charset="-122"/>
                <a:cs typeface="Calibri" pitchFamily="34" charset="-120"/>
              </a:rPr>
              <a:t>Method, path, and headers (including your cookies).</a:t>
            </a:r>
            <a:endParaRPr lang="en-US" sz="1600" dirty="0"/>
          </a:p>
        </p:txBody>
      </p:sp>
      <p:sp>
        <p:nvSpPr>
          <p:cNvPr id="10" name="Shape 7"/>
          <p:cNvSpPr/>
          <p:nvPr/>
        </p:nvSpPr>
        <p:spPr>
          <a:xfrm>
            <a:off x="548640" y="3648456"/>
            <a:ext cx="457200" cy="457200"/>
          </a:xfrm>
          <a:prstGeom prst="ellipse">
            <a:avLst/>
          </a:prstGeom>
          <a:solidFill>
            <a:srgbClr val="2459D8"/>
          </a:solidFill>
          <a:ln/>
        </p:spPr>
      </p:sp>
      <p:sp>
        <p:nvSpPr>
          <p:cNvPr id="11" name="Text 8"/>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9"/>
          <p:cNvSpPr txBox="1"/>
          <p:nvPr/>
        </p:nvSpPr>
        <p:spPr>
          <a:xfrm>
            <a:off x="1188720" y="3621024"/>
            <a:ext cx="5029200" cy="93268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server answers. </a:t>
            </a:r>
            <a:pPr indent="0" marL="0">
              <a:buNone/>
            </a:pPr>
            <a:r>
              <a:rPr lang="en-US" sz="1600" dirty="0">
                <a:solidFill>
                  <a:srgbClr val="12213A"/>
                </a:solidFill>
                <a:latin typeface="Calibri" pitchFamily="34" charset="0"/>
                <a:ea typeface="Calibri" pitchFamily="34" charset="-122"/>
                <a:cs typeface="Calibri" pitchFamily="34" charset="-120"/>
              </a:rPr>
              <a:t>It runs code and sends back HTML and headers.</a:t>
            </a:r>
            <a:endParaRPr lang="en-US" sz="1600" dirty="0"/>
          </a:p>
        </p:txBody>
      </p:sp>
      <p:sp>
        <p:nvSpPr>
          <p:cNvPr id="13" name="Shape 10"/>
          <p:cNvSpPr/>
          <p:nvPr/>
        </p:nvSpPr>
        <p:spPr>
          <a:xfrm>
            <a:off x="548640" y="4672584"/>
            <a:ext cx="457200" cy="457200"/>
          </a:xfrm>
          <a:prstGeom prst="ellipse">
            <a:avLst/>
          </a:prstGeom>
          <a:solidFill>
            <a:srgbClr val="2459D8"/>
          </a:solidFill>
          <a:ln/>
        </p:spPr>
      </p:sp>
      <p:sp>
        <p:nvSpPr>
          <p:cNvPr id="14" name="Text 11"/>
          <p:cNvSpPr txBox="1"/>
          <p:nvPr/>
        </p:nvSpPr>
        <p:spPr>
          <a:xfrm>
            <a:off x="548640" y="46725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1188720" y="4645152"/>
            <a:ext cx="5029200" cy="932688"/>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The browser draws it. </a:t>
            </a:r>
            <a:pPr indent="0" marL="0">
              <a:buNone/>
            </a:pPr>
            <a:r>
              <a:rPr lang="en-US" sz="1600" dirty="0">
                <a:solidFill>
                  <a:srgbClr val="12213A"/>
                </a:solidFill>
                <a:latin typeface="Calibri" pitchFamily="34" charset="0"/>
                <a:ea typeface="Calibri" pitchFamily="34" charset="-122"/>
                <a:cs typeface="Calibri" pitchFamily="34" charset="-120"/>
              </a:rPr>
              <a:t>You see a page; you never see the code that made it.</a:t>
            </a:r>
            <a:endParaRPr lang="en-US" sz="1600" dirty="0"/>
          </a:p>
        </p:txBody>
      </p:sp>
      <p:sp>
        <p:nvSpPr>
          <p:cNvPr id="16" name="Shape 13"/>
          <p:cNvSpPr/>
          <p:nvPr/>
        </p:nvSpPr>
        <p:spPr>
          <a:xfrm>
            <a:off x="6492240" y="1463040"/>
            <a:ext cx="51480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17" name="Shape 14"/>
          <p:cNvSpPr/>
          <p:nvPr/>
        </p:nvSpPr>
        <p:spPr>
          <a:xfrm>
            <a:off x="6693408" y="1618488"/>
            <a:ext cx="118872" cy="118872"/>
          </a:xfrm>
          <a:prstGeom prst="ellipse">
            <a:avLst/>
          </a:prstGeom>
          <a:solidFill>
            <a:srgbClr val="E5534B"/>
          </a:solidFill>
          <a:ln/>
        </p:spPr>
      </p:sp>
      <p:sp>
        <p:nvSpPr>
          <p:cNvPr id="18" name="Shape 15"/>
          <p:cNvSpPr/>
          <p:nvPr/>
        </p:nvSpPr>
        <p:spPr>
          <a:xfrm>
            <a:off x="6894576" y="1618488"/>
            <a:ext cx="118872" cy="118872"/>
          </a:xfrm>
          <a:prstGeom prst="ellipse">
            <a:avLst/>
          </a:prstGeom>
          <a:solidFill>
            <a:srgbClr val="F5A623"/>
          </a:solidFill>
          <a:ln/>
        </p:spPr>
      </p:sp>
      <p:sp>
        <p:nvSpPr>
          <p:cNvPr id="19" name="Shape 16"/>
          <p:cNvSpPr/>
          <p:nvPr/>
        </p:nvSpPr>
        <p:spPr>
          <a:xfrm>
            <a:off x="7095744" y="1618488"/>
            <a:ext cx="118872" cy="118872"/>
          </a:xfrm>
          <a:prstGeom prst="ellipse">
            <a:avLst/>
          </a:prstGeom>
          <a:solidFill>
            <a:srgbClr val="46D39A"/>
          </a:solidFill>
          <a:ln/>
        </p:spPr>
      </p:sp>
      <p:sp>
        <p:nvSpPr>
          <p:cNvPr id="20" name="Text 17"/>
          <p:cNvSpPr txBox="1"/>
          <p:nvPr/>
        </p:nvSpPr>
        <p:spPr>
          <a:xfrm>
            <a:off x="7406640" y="1536192"/>
            <a:ext cx="33192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one request, one response</a:t>
            </a:r>
            <a:endParaRPr lang="en-US" sz="1000" dirty="0"/>
          </a:p>
        </p:txBody>
      </p:sp>
      <p:sp>
        <p:nvSpPr>
          <p:cNvPr id="21" name="Text 18"/>
          <p:cNvSpPr txBox="1"/>
          <p:nvPr/>
        </p:nvSpPr>
        <p:spPr>
          <a:xfrm>
            <a:off x="6766560" y="1920240"/>
            <a:ext cx="4599432" cy="3886200"/>
          </a:xfrm>
          <a:prstGeom prst="rect">
            <a:avLst/>
          </a:prstGeom>
          <a:noFill/>
          <a:ln/>
        </p:spPr>
        <p:txBody>
          <a:bodyPr wrap="square" lIns="0" tIns="0" rIns="0" bIns="0" rtlCol="0" anchor="t"/>
          <a:lstStyle/>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GET /mission4/?id=1 HTTP/1.1</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Host: web.ctf</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Cookie: role=user</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 the request: all of it is yours</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HTTP/1.1 200 OK</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Set-Cookie: session=8f2a...</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Content-Type: text/html</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&lt;html&gt;...your profile...&lt;/html&gt;</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 the response the browser draws</a:t>
            </a:r>
            <a:endParaRPr lang="en-US" sz="1350" dirty="0"/>
          </a:p>
        </p:txBody>
      </p:sp>
      <p:sp>
        <p:nvSpPr>
          <p:cNvPr id="22" name="Text 1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7 / 61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Three layers of a web page</a:t>
            </a:r>
            <a:endParaRPr lang="en-US" sz="3200" dirty="0"/>
          </a:p>
        </p:txBody>
      </p:sp>
      <p:sp>
        <p:nvSpPr>
          <p:cNvPr id="4" name="Shape 1"/>
          <p:cNvSpPr/>
          <p:nvPr/>
        </p:nvSpPr>
        <p:spPr>
          <a:xfrm>
            <a:off x="548640" y="1508760"/>
            <a:ext cx="3566160" cy="4434840"/>
          </a:xfrm>
          <a:prstGeom prst="roundRect">
            <a:avLst>
              <a:gd name="adj" fmla="val 2564"/>
            </a:avLst>
          </a:prstGeom>
          <a:solidFill>
            <a:srgbClr val="F1F5FB"/>
          </a:solidFill>
          <a:ln/>
        </p:spPr>
      </p:sp>
      <p:sp>
        <p:nvSpPr>
          <p:cNvPr id="5" name="Shape 2"/>
          <p:cNvSpPr/>
          <p:nvPr/>
        </p:nvSpPr>
        <p:spPr>
          <a:xfrm>
            <a:off x="548640" y="1508760"/>
            <a:ext cx="3566160" cy="109728"/>
          </a:xfrm>
          <a:prstGeom prst="rect">
            <a:avLst/>
          </a:prstGeom>
          <a:solidFill>
            <a:srgbClr val="17875A"/>
          </a:solidFill>
          <a:ln/>
        </p:spPr>
      </p:sp>
      <p:sp>
        <p:nvSpPr>
          <p:cNvPr id="6" name="Text 3"/>
          <p:cNvSpPr txBox="1"/>
          <p:nvPr/>
        </p:nvSpPr>
        <p:spPr>
          <a:xfrm>
            <a:off x="822960" y="1783080"/>
            <a:ext cx="3017520" cy="548640"/>
          </a:xfrm>
          <a:prstGeom prst="rect">
            <a:avLst/>
          </a:prstGeom>
          <a:noFill/>
          <a:ln/>
        </p:spPr>
        <p:txBody>
          <a:bodyPr wrap="square" lIns="0" tIns="0" rIns="0" bIns="0" rtlCol="0" anchor="t"/>
          <a:lstStyle/>
          <a:p>
            <a:pPr indent="0" marL="0">
              <a:buNone/>
            </a:pPr>
            <a:r>
              <a:rPr lang="en-US" sz="2800" b="1" dirty="0">
                <a:solidFill>
                  <a:srgbClr val="17875A"/>
                </a:solidFill>
                <a:latin typeface="Arial" pitchFamily="34" charset="0"/>
                <a:ea typeface="Arial" pitchFamily="34" charset="-122"/>
                <a:cs typeface="Arial" pitchFamily="34" charset="-120"/>
              </a:rPr>
              <a:t>HTML</a:t>
            </a:r>
            <a:endParaRPr lang="en-US" sz="2800" dirty="0"/>
          </a:p>
        </p:txBody>
      </p:sp>
      <p:sp>
        <p:nvSpPr>
          <p:cNvPr id="7" name="Text 4"/>
          <p:cNvSpPr txBox="1"/>
          <p:nvPr/>
        </p:nvSpPr>
        <p:spPr>
          <a:xfrm>
            <a:off x="822960" y="2377440"/>
            <a:ext cx="3017520" cy="91440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Structure &amp; content. Comments and hidden fields live here.</a:t>
            </a:r>
            <a:endParaRPr lang="en-US" sz="1700" dirty="0"/>
          </a:p>
        </p:txBody>
      </p:sp>
      <p:sp>
        <p:nvSpPr>
          <p:cNvPr id="8" name="Text 5"/>
          <p:cNvSpPr txBox="1"/>
          <p:nvPr/>
        </p:nvSpPr>
        <p:spPr>
          <a:xfrm>
            <a:off x="822960" y="3337560"/>
            <a:ext cx="301752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Looks like</a:t>
            </a:r>
            <a:endParaRPr lang="en-US" sz="1200" dirty="0"/>
          </a:p>
        </p:txBody>
      </p:sp>
      <p:sp>
        <p:nvSpPr>
          <p:cNvPr id="9" name="Shape 6"/>
          <p:cNvSpPr/>
          <p:nvPr/>
        </p:nvSpPr>
        <p:spPr>
          <a:xfrm>
            <a:off x="822960" y="3657600"/>
            <a:ext cx="3017520" cy="822960"/>
          </a:xfrm>
          <a:prstGeom prst="roundRect">
            <a:avLst>
              <a:gd name="adj" fmla="val 8889"/>
            </a:avLst>
          </a:prstGeom>
          <a:solidFill>
            <a:srgbClr val="0E1726"/>
          </a:solidFill>
          <a:ln/>
        </p:spPr>
      </p:sp>
      <p:sp>
        <p:nvSpPr>
          <p:cNvPr id="10" name="Text 7"/>
          <p:cNvSpPr txBox="1"/>
          <p:nvPr/>
        </p:nvSpPr>
        <p:spPr>
          <a:xfrm>
            <a:off x="960120" y="3657600"/>
            <a:ext cx="2743200" cy="822960"/>
          </a:xfrm>
          <a:prstGeom prst="rect">
            <a:avLst/>
          </a:prstGeom>
          <a:noFill/>
          <a:ln/>
        </p:spPr>
        <p:txBody>
          <a:bodyPr wrap="square" lIns="0" tIns="0" rIns="0" bIns="0" rtlCol="0" anchor="ctr">
            <a:normAutofit/>
          </a:bodyPr>
          <a:lstStyle/>
          <a:p>
            <a:pPr indent="0" marL="0">
              <a:buNone/>
            </a:pPr>
            <a:r>
              <a:rPr lang="en-US" sz="1400" b="1" dirty="0">
                <a:solidFill>
                  <a:srgbClr val="46D39A"/>
                </a:solidFill>
                <a:latin typeface="Courier New" pitchFamily="34" charset="0"/>
                <a:ea typeface="Courier New" pitchFamily="34" charset="-122"/>
                <a:cs typeface="Courier New" pitchFamily="34" charset="-120"/>
              </a:rPr>
              <a:t>&lt;!-- --&gt;  &lt;input hidden&gt;</a:t>
            </a:r>
            <a:endParaRPr lang="en-US" sz="1400" dirty="0"/>
          </a:p>
        </p:txBody>
      </p:sp>
      <p:sp>
        <p:nvSpPr>
          <p:cNvPr id="11" name="Shape 8"/>
          <p:cNvSpPr/>
          <p:nvPr/>
        </p:nvSpPr>
        <p:spPr>
          <a:xfrm>
            <a:off x="822960" y="4617720"/>
            <a:ext cx="1554480" cy="384048"/>
          </a:xfrm>
          <a:prstGeom prst="roundRect">
            <a:avLst>
              <a:gd name="adj" fmla="val 19048"/>
            </a:avLst>
          </a:prstGeom>
          <a:solidFill>
            <a:srgbClr val="D1E7DE"/>
          </a:solidFill>
          <a:ln/>
        </p:spPr>
      </p:sp>
      <p:sp>
        <p:nvSpPr>
          <p:cNvPr id="12" name="Text 9"/>
          <p:cNvSpPr txBox="1"/>
          <p:nvPr/>
        </p:nvSpPr>
        <p:spPr>
          <a:xfrm>
            <a:off x="822960" y="4617720"/>
            <a:ext cx="1554480" cy="384048"/>
          </a:xfrm>
          <a:prstGeom prst="rect">
            <a:avLst/>
          </a:prstGeom>
          <a:noFill/>
          <a:ln/>
        </p:spPr>
        <p:txBody>
          <a:bodyPr wrap="square" lIns="0" tIns="0" rIns="0" bIns="0" rtlCol="0" anchor="ctr"/>
          <a:lstStyle/>
          <a:p>
            <a:pPr algn="ctr" indent="0" marL="0">
              <a:buNone/>
            </a:pPr>
            <a:r>
              <a:rPr lang="en-US" sz="1250" b="1" dirty="0">
                <a:solidFill>
                  <a:srgbClr val="17875A"/>
                </a:solidFill>
                <a:latin typeface="Calibri" pitchFamily="34" charset="0"/>
                <a:ea typeface="Calibri" pitchFamily="34" charset="-122"/>
                <a:cs typeface="Calibri" pitchFamily="34" charset="-120"/>
              </a:rPr>
              <a:t>View Source</a:t>
            </a:r>
            <a:endParaRPr lang="en-US" sz="1250" dirty="0"/>
          </a:p>
        </p:txBody>
      </p:sp>
      <p:sp>
        <p:nvSpPr>
          <p:cNvPr id="13" name="Text 10"/>
          <p:cNvSpPr txBox="1"/>
          <p:nvPr/>
        </p:nvSpPr>
        <p:spPr>
          <a:xfrm>
            <a:off x="822960" y="5166360"/>
            <a:ext cx="301752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Missions 1, 2</a:t>
            </a:r>
            <a:endParaRPr lang="en-US" sz="1400" dirty="0"/>
          </a:p>
        </p:txBody>
      </p:sp>
      <p:sp>
        <p:nvSpPr>
          <p:cNvPr id="14" name="Shape 11"/>
          <p:cNvSpPr/>
          <p:nvPr/>
        </p:nvSpPr>
        <p:spPr>
          <a:xfrm>
            <a:off x="4306824" y="1508760"/>
            <a:ext cx="3566160" cy="4434840"/>
          </a:xfrm>
          <a:prstGeom prst="roundRect">
            <a:avLst>
              <a:gd name="adj" fmla="val 2564"/>
            </a:avLst>
          </a:prstGeom>
          <a:solidFill>
            <a:srgbClr val="F1F5FB"/>
          </a:solidFill>
          <a:ln/>
        </p:spPr>
      </p:sp>
      <p:sp>
        <p:nvSpPr>
          <p:cNvPr id="15" name="Shape 12"/>
          <p:cNvSpPr/>
          <p:nvPr/>
        </p:nvSpPr>
        <p:spPr>
          <a:xfrm>
            <a:off x="4306824" y="1508760"/>
            <a:ext cx="3566160" cy="109728"/>
          </a:xfrm>
          <a:prstGeom prst="rect">
            <a:avLst/>
          </a:prstGeom>
          <a:solidFill>
            <a:srgbClr val="7448D4"/>
          </a:solidFill>
          <a:ln/>
        </p:spPr>
      </p:sp>
      <p:sp>
        <p:nvSpPr>
          <p:cNvPr id="16" name="Text 13"/>
          <p:cNvSpPr txBox="1"/>
          <p:nvPr/>
        </p:nvSpPr>
        <p:spPr>
          <a:xfrm>
            <a:off x="4581144" y="1783080"/>
            <a:ext cx="3017520" cy="548640"/>
          </a:xfrm>
          <a:prstGeom prst="rect">
            <a:avLst/>
          </a:prstGeom>
          <a:noFill/>
          <a:ln/>
        </p:spPr>
        <p:txBody>
          <a:bodyPr wrap="square" lIns="0" tIns="0" rIns="0" bIns="0" rtlCol="0" anchor="t"/>
          <a:lstStyle/>
          <a:p>
            <a:pPr indent="0" marL="0">
              <a:buNone/>
            </a:pPr>
            <a:r>
              <a:rPr lang="en-US" sz="2800" b="1" dirty="0">
                <a:solidFill>
                  <a:srgbClr val="7448D4"/>
                </a:solidFill>
                <a:latin typeface="Arial" pitchFamily="34" charset="0"/>
                <a:ea typeface="Arial" pitchFamily="34" charset="-122"/>
                <a:cs typeface="Arial" pitchFamily="34" charset="-120"/>
              </a:rPr>
              <a:t>CSS</a:t>
            </a:r>
            <a:endParaRPr lang="en-US" sz="2800" dirty="0"/>
          </a:p>
        </p:txBody>
      </p:sp>
      <p:sp>
        <p:nvSpPr>
          <p:cNvPr id="17" name="Text 14"/>
          <p:cNvSpPr txBox="1"/>
          <p:nvPr/>
        </p:nvSpPr>
        <p:spPr>
          <a:xfrm>
            <a:off x="4581144" y="2377440"/>
            <a:ext cx="3017520" cy="91440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The look. 'Hidden' is a style, not a lock.</a:t>
            </a:r>
            <a:endParaRPr lang="en-US" sz="1700" dirty="0"/>
          </a:p>
        </p:txBody>
      </p:sp>
      <p:sp>
        <p:nvSpPr>
          <p:cNvPr id="18" name="Text 15"/>
          <p:cNvSpPr txBox="1"/>
          <p:nvPr/>
        </p:nvSpPr>
        <p:spPr>
          <a:xfrm>
            <a:off x="4581144" y="3337560"/>
            <a:ext cx="301752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Looks like</a:t>
            </a:r>
            <a:endParaRPr lang="en-US" sz="1200" dirty="0"/>
          </a:p>
        </p:txBody>
      </p:sp>
      <p:sp>
        <p:nvSpPr>
          <p:cNvPr id="19" name="Shape 16"/>
          <p:cNvSpPr/>
          <p:nvPr/>
        </p:nvSpPr>
        <p:spPr>
          <a:xfrm>
            <a:off x="4581144" y="3657600"/>
            <a:ext cx="3017520" cy="822960"/>
          </a:xfrm>
          <a:prstGeom prst="roundRect">
            <a:avLst>
              <a:gd name="adj" fmla="val 8889"/>
            </a:avLst>
          </a:prstGeom>
          <a:solidFill>
            <a:srgbClr val="0E1726"/>
          </a:solidFill>
          <a:ln/>
        </p:spPr>
      </p:sp>
      <p:sp>
        <p:nvSpPr>
          <p:cNvPr id="20" name="Text 17"/>
          <p:cNvSpPr txBox="1"/>
          <p:nvPr/>
        </p:nvSpPr>
        <p:spPr>
          <a:xfrm>
            <a:off x="4718304" y="3657600"/>
            <a:ext cx="2743200" cy="822960"/>
          </a:xfrm>
          <a:prstGeom prst="rect">
            <a:avLst/>
          </a:prstGeom>
          <a:noFill/>
          <a:ln/>
        </p:spPr>
        <p:txBody>
          <a:bodyPr wrap="square" lIns="0" tIns="0" rIns="0" bIns="0" rtlCol="0" anchor="ctr">
            <a:normAutofit/>
          </a:bodyPr>
          <a:lstStyle/>
          <a:p>
            <a:pPr indent="0" marL="0">
              <a:buNone/>
            </a:pPr>
            <a:r>
              <a:rPr lang="en-US" sz="1400" b="1" dirty="0">
                <a:solidFill>
                  <a:srgbClr val="46D39A"/>
                </a:solidFill>
                <a:latin typeface="Courier New" pitchFamily="34" charset="0"/>
                <a:ea typeface="Courier New" pitchFamily="34" charset="-122"/>
                <a:cs typeface="Courier New" pitchFamily="34" charset="-120"/>
              </a:rPr>
              <a:t>display:none</a:t>
            </a:r>
            <a:endParaRPr lang="en-US" sz="1400" dirty="0"/>
          </a:p>
        </p:txBody>
      </p:sp>
      <p:sp>
        <p:nvSpPr>
          <p:cNvPr id="21" name="Shape 18"/>
          <p:cNvSpPr/>
          <p:nvPr/>
        </p:nvSpPr>
        <p:spPr>
          <a:xfrm>
            <a:off x="4581144" y="4617720"/>
            <a:ext cx="1554480" cy="384048"/>
          </a:xfrm>
          <a:prstGeom prst="roundRect">
            <a:avLst>
              <a:gd name="adj" fmla="val 19048"/>
            </a:avLst>
          </a:prstGeom>
          <a:solidFill>
            <a:srgbClr val="E3DAF6"/>
          </a:solidFill>
          <a:ln/>
        </p:spPr>
      </p:sp>
      <p:sp>
        <p:nvSpPr>
          <p:cNvPr id="22" name="Text 19"/>
          <p:cNvSpPr txBox="1"/>
          <p:nvPr/>
        </p:nvSpPr>
        <p:spPr>
          <a:xfrm>
            <a:off x="4581144" y="4617720"/>
            <a:ext cx="1554480" cy="384048"/>
          </a:xfrm>
          <a:prstGeom prst="rect">
            <a:avLst/>
          </a:prstGeom>
          <a:noFill/>
          <a:ln/>
        </p:spPr>
        <p:txBody>
          <a:bodyPr wrap="square" lIns="0" tIns="0" rIns="0" bIns="0" rtlCol="0" anchor="ctr"/>
          <a:lstStyle/>
          <a:p>
            <a:pPr algn="ctr" indent="0" marL="0">
              <a:buNone/>
            </a:pPr>
            <a:r>
              <a:rPr lang="en-US" sz="1250" b="1" dirty="0">
                <a:solidFill>
                  <a:srgbClr val="7448D4"/>
                </a:solidFill>
                <a:latin typeface="Calibri" pitchFamily="34" charset="0"/>
                <a:ea typeface="Calibri" pitchFamily="34" charset="-122"/>
                <a:cs typeface="Calibri" pitchFamily="34" charset="-120"/>
              </a:rPr>
              <a:t>Inspect</a:t>
            </a:r>
            <a:endParaRPr lang="en-US" sz="1250" dirty="0"/>
          </a:p>
        </p:txBody>
      </p:sp>
      <p:sp>
        <p:nvSpPr>
          <p:cNvPr id="23" name="Text 20"/>
          <p:cNvSpPr txBox="1"/>
          <p:nvPr/>
        </p:nvSpPr>
        <p:spPr>
          <a:xfrm>
            <a:off x="4581144" y="5166360"/>
            <a:ext cx="301752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Mission 2</a:t>
            </a:r>
            <a:endParaRPr lang="en-US" sz="1400" dirty="0"/>
          </a:p>
        </p:txBody>
      </p:sp>
      <p:sp>
        <p:nvSpPr>
          <p:cNvPr id="24" name="Shape 21"/>
          <p:cNvSpPr/>
          <p:nvPr/>
        </p:nvSpPr>
        <p:spPr>
          <a:xfrm>
            <a:off x="8065008" y="1508760"/>
            <a:ext cx="3566160" cy="4434840"/>
          </a:xfrm>
          <a:prstGeom prst="roundRect">
            <a:avLst>
              <a:gd name="adj" fmla="val 2564"/>
            </a:avLst>
          </a:prstGeom>
          <a:solidFill>
            <a:srgbClr val="F1F5FB"/>
          </a:solidFill>
          <a:ln/>
        </p:spPr>
      </p:sp>
      <p:sp>
        <p:nvSpPr>
          <p:cNvPr id="25" name="Shape 22"/>
          <p:cNvSpPr/>
          <p:nvPr/>
        </p:nvSpPr>
        <p:spPr>
          <a:xfrm>
            <a:off x="8065008" y="1508760"/>
            <a:ext cx="3566160" cy="109728"/>
          </a:xfrm>
          <a:prstGeom prst="rect">
            <a:avLst/>
          </a:prstGeom>
          <a:solidFill>
            <a:srgbClr val="D1416B"/>
          </a:solidFill>
          <a:ln/>
        </p:spPr>
      </p:sp>
      <p:sp>
        <p:nvSpPr>
          <p:cNvPr id="26" name="Text 23"/>
          <p:cNvSpPr txBox="1"/>
          <p:nvPr/>
        </p:nvSpPr>
        <p:spPr>
          <a:xfrm>
            <a:off x="8339328" y="1783080"/>
            <a:ext cx="3017520" cy="548640"/>
          </a:xfrm>
          <a:prstGeom prst="rect">
            <a:avLst/>
          </a:prstGeom>
          <a:noFill/>
          <a:ln/>
        </p:spPr>
        <p:txBody>
          <a:bodyPr wrap="square" lIns="0" tIns="0" rIns="0" bIns="0" rtlCol="0" anchor="t"/>
          <a:lstStyle/>
          <a:p>
            <a:pPr indent="0" marL="0">
              <a:buNone/>
            </a:pPr>
            <a:r>
              <a:rPr lang="en-US" sz="2800" b="1" dirty="0">
                <a:solidFill>
                  <a:srgbClr val="D1416B"/>
                </a:solidFill>
                <a:latin typeface="Arial" pitchFamily="34" charset="0"/>
                <a:ea typeface="Arial" pitchFamily="34" charset="-122"/>
                <a:cs typeface="Arial" pitchFamily="34" charset="-120"/>
              </a:rPr>
              <a:t>JavaScript</a:t>
            </a:r>
            <a:endParaRPr lang="en-US" sz="2800" dirty="0"/>
          </a:p>
        </p:txBody>
      </p:sp>
      <p:sp>
        <p:nvSpPr>
          <p:cNvPr id="27" name="Text 24"/>
          <p:cNvSpPr txBox="1"/>
          <p:nvPr/>
        </p:nvSpPr>
        <p:spPr>
          <a:xfrm>
            <a:off x="8339328" y="2377440"/>
            <a:ext cx="3017520" cy="91440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Behaviour. Runs in YOUR browser - so you can read it.</a:t>
            </a:r>
            <a:endParaRPr lang="en-US" sz="1700" dirty="0"/>
          </a:p>
        </p:txBody>
      </p:sp>
      <p:sp>
        <p:nvSpPr>
          <p:cNvPr id="28" name="Text 25"/>
          <p:cNvSpPr txBox="1"/>
          <p:nvPr/>
        </p:nvSpPr>
        <p:spPr>
          <a:xfrm>
            <a:off x="8339328" y="3337560"/>
            <a:ext cx="3017520" cy="320040"/>
          </a:xfrm>
          <a:prstGeom prst="rect">
            <a:avLst/>
          </a:prstGeom>
          <a:noFill/>
          <a:ln/>
        </p:spPr>
        <p:txBody>
          <a:bodyPr wrap="square" lIns="0" tIns="0" rIns="0" bIns="0" rtlCol="0" anchor="t"/>
          <a:lstStyle/>
          <a:p>
            <a:pPr indent="0" marL="0">
              <a:buNone/>
            </a:pPr>
            <a:r>
              <a:rPr lang="en-US" sz="1200" b="1" dirty="0">
                <a:solidFill>
                  <a:srgbClr val="56657E"/>
                </a:solidFill>
                <a:latin typeface="Calibri" pitchFamily="34" charset="0"/>
                <a:ea typeface="Calibri" pitchFamily="34" charset="-122"/>
                <a:cs typeface="Calibri" pitchFamily="34" charset="-120"/>
              </a:rPr>
              <a:t>Looks like</a:t>
            </a:r>
            <a:endParaRPr lang="en-US" sz="1200" dirty="0"/>
          </a:p>
        </p:txBody>
      </p:sp>
      <p:sp>
        <p:nvSpPr>
          <p:cNvPr id="29" name="Shape 26"/>
          <p:cNvSpPr/>
          <p:nvPr/>
        </p:nvSpPr>
        <p:spPr>
          <a:xfrm>
            <a:off x="8339328" y="3657600"/>
            <a:ext cx="3017520" cy="822960"/>
          </a:xfrm>
          <a:prstGeom prst="roundRect">
            <a:avLst>
              <a:gd name="adj" fmla="val 8889"/>
            </a:avLst>
          </a:prstGeom>
          <a:solidFill>
            <a:srgbClr val="0E1726"/>
          </a:solidFill>
          <a:ln/>
        </p:spPr>
      </p:sp>
      <p:sp>
        <p:nvSpPr>
          <p:cNvPr id="30" name="Text 27"/>
          <p:cNvSpPr txBox="1"/>
          <p:nvPr/>
        </p:nvSpPr>
        <p:spPr>
          <a:xfrm>
            <a:off x="8476488" y="3657600"/>
            <a:ext cx="2743200" cy="822960"/>
          </a:xfrm>
          <a:prstGeom prst="rect">
            <a:avLst/>
          </a:prstGeom>
          <a:noFill/>
          <a:ln/>
        </p:spPr>
        <p:txBody>
          <a:bodyPr wrap="square" lIns="0" tIns="0" rIns="0" bIns="0" rtlCol="0" anchor="ctr">
            <a:normAutofit/>
          </a:bodyPr>
          <a:lstStyle/>
          <a:p>
            <a:pPr indent="0" marL="0">
              <a:buNone/>
            </a:pPr>
            <a:r>
              <a:rPr lang="en-US" sz="1400" b="1" dirty="0">
                <a:solidFill>
                  <a:srgbClr val="46D39A"/>
                </a:solidFill>
                <a:latin typeface="Courier New" pitchFamily="34" charset="0"/>
                <a:ea typeface="Courier New" pitchFamily="34" charset="-122"/>
                <a:cs typeface="Courier New" pitchFamily="34" charset="-120"/>
              </a:rPr>
              <a:t>getFlag()  if(pw===...)</a:t>
            </a:r>
            <a:endParaRPr lang="en-US" sz="1400" dirty="0"/>
          </a:p>
        </p:txBody>
      </p:sp>
      <p:sp>
        <p:nvSpPr>
          <p:cNvPr id="31" name="Shape 28"/>
          <p:cNvSpPr/>
          <p:nvPr/>
        </p:nvSpPr>
        <p:spPr>
          <a:xfrm>
            <a:off x="8339328" y="4617720"/>
            <a:ext cx="1554480" cy="384048"/>
          </a:xfrm>
          <a:prstGeom prst="roundRect">
            <a:avLst>
              <a:gd name="adj" fmla="val 19048"/>
            </a:avLst>
          </a:prstGeom>
          <a:solidFill>
            <a:srgbClr val="F6D9E1"/>
          </a:solidFill>
          <a:ln/>
        </p:spPr>
      </p:sp>
      <p:sp>
        <p:nvSpPr>
          <p:cNvPr id="32" name="Text 29"/>
          <p:cNvSpPr txBox="1"/>
          <p:nvPr/>
        </p:nvSpPr>
        <p:spPr>
          <a:xfrm>
            <a:off x="8339328" y="4617720"/>
            <a:ext cx="1554480" cy="384048"/>
          </a:xfrm>
          <a:prstGeom prst="rect">
            <a:avLst/>
          </a:prstGeom>
          <a:noFill/>
          <a:ln/>
        </p:spPr>
        <p:txBody>
          <a:bodyPr wrap="square" lIns="0" tIns="0" rIns="0" bIns="0" rtlCol="0" anchor="ctr"/>
          <a:lstStyle/>
          <a:p>
            <a:pPr algn="ctr" indent="0" marL="0">
              <a:buNone/>
            </a:pPr>
            <a:r>
              <a:rPr lang="en-US" sz="1250" b="1" dirty="0">
                <a:solidFill>
                  <a:srgbClr val="D1416B"/>
                </a:solidFill>
                <a:latin typeface="Calibri" pitchFamily="34" charset="0"/>
                <a:ea typeface="Calibri" pitchFamily="34" charset="-122"/>
                <a:cs typeface="Calibri" pitchFamily="34" charset="-120"/>
              </a:rPr>
              <a:t>Console</a:t>
            </a:r>
            <a:endParaRPr lang="en-US" sz="1250" dirty="0"/>
          </a:p>
        </p:txBody>
      </p:sp>
      <p:sp>
        <p:nvSpPr>
          <p:cNvPr id="33" name="Text 30"/>
          <p:cNvSpPr txBox="1"/>
          <p:nvPr/>
        </p:nvSpPr>
        <p:spPr>
          <a:xfrm>
            <a:off x="8339328" y="5166360"/>
            <a:ext cx="3017520" cy="54864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Missions 6, 7</a:t>
            </a:r>
            <a:endParaRPr lang="en-US" sz="1400" dirty="0"/>
          </a:p>
        </p:txBody>
      </p:sp>
      <p:sp>
        <p:nvSpPr>
          <p:cNvPr id="34" name="Text 3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8 / 61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Client vs server: who can you trust?</a:t>
            </a:r>
            <a:endParaRPr lang="en-US" sz="3200" dirty="0"/>
          </a:p>
        </p:txBody>
      </p:sp>
      <p:sp>
        <p:nvSpPr>
          <p:cNvPr id="4" name="Text 1"/>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700" dirty="0">
                <a:solidFill>
                  <a:srgbClr val="56657E"/>
                </a:solidFill>
                <a:latin typeface="Calibri" pitchFamily="34" charset="0"/>
                <a:ea typeface="Calibri" pitchFamily="34" charset="-122"/>
                <a:cs typeface="Calibri" pitchFamily="34" charset="-120"/>
              </a:rPr>
              <a:t>Everything in your browser, you control. So the server can never trust it. Say it out loud: never trust the client.</a:t>
            </a:r>
            <a:endParaRPr lang="en-US" sz="1700" dirty="0"/>
          </a:p>
        </p:txBody>
      </p:sp>
      <p:sp>
        <p:nvSpPr>
          <p:cNvPr id="5" name="Shape 2"/>
          <p:cNvSpPr/>
          <p:nvPr/>
        </p:nvSpPr>
        <p:spPr>
          <a:xfrm>
            <a:off x="548640" y="1965960"/>
            <a:ext cx="5029200" cy="1627632"/>
          </a:xfrm>
          <a:prstGeom prst="roundRect">
            <a:avLst>
              <a:gd name="adj" fmla="val 5618"/>
            </a:avLst>
          </a:prstGeom>
          <a:solidFill>
            <a:srgbClr val="F1F5FB"/>
          </a:solidFill>
          <a:ln/>
        </p:spPr>
      </p:sp>
      <p:sp>
        <p:nvSpPr>
          <p:cNvPr id="6" name="Shape 3"/>
          <p:cNvSpPr/>
          <p:nvPr/>
        </p:nvSpPr>
        <p:spPr>
          <a:xfrm>
            <a:off x="822960" y="2258568"/>
            <a:ext cx="822960" cy="822960"/>
          </a:xfrm>
          <a:prstGeom prst="ellipse">
            <a:avLst/>
          </a:prstGeom>
          <a:solidFill>
            <a:srgbClr val="F6D9E1"/>
          </a:solidFill>
          <a:ln/>
        </p:spPr>
      </p:sp>
      <p:pic>
        <p:nvPicPr>
          <p:cNvPr id="7" name="Image 0" descr="preencoded.png">    </p:cNvPr>
          <p:cNvPicPr>
            <a:picLocks noChangeAspect="1"/>
          </p:cNvPicPr>
          <p:nvPr/>
        </p:nvPicPr>
        <p:blipFill>
          <a:blip r:embed="rId1"/>
          <a:stretch>
            <a:fillRect/>
          </a:stretch>
        </p:blipFill>
        <p:spPr>
          <a:xfrm>
            <a:off x="1045159" y="2480767"/>
            <a:ext cx="378562" cy="378562"/>
          </a:xfrm>
          <a:prstGeom prst="rect">
            <a:avLst/>
          </a:prstGeom>
        </p:spPr>
      </p:pic>
      <p:sp>
        <p:nvSpPr>
          <p:cNvPr id="8" name="Text 4"/>
          <p:cNvSpPr txBox="1"/>
          <p:nvPr/>
        </p:nvSpPr>
        <p:spPr>
          <a:xfrm>
            <a:off x="1874520" y="2240280"/>
            <a:ext cx="3474720" cy="548640"/>
          </a:xfrm>
          <a:prstGeom prst="rect">
            <a:avLst/>
          </a:prstGeom>
          <a:noFill/>
          <a:ln/>
        </p:spPr>
        <p:txBody>
          <a:bodyPr wrap="square" lIns="0" tIns="0" rIns="0" bIns="0" rtlCol="0" anchor="ctr"/>
          <a:lstStyle/>
          <a:p>
            <a:pPr indent="0" marL="0">
              <a:buNone/>
            </a:pPr>
            <a:r>
              <a:rPr lang="en-US" sz="2100" b="1" dirty="0">
                <a:solidFill>
                  <a:srgbClr val="D1416B"/>
                </a:solidFill>
                <a:latin typeface="Arial" pitchFamily="34" charset="0"/>
                <a:ea typeface="Arial" pitchFamily="34" charset="-122"/>
                <a:cs typeface="Arial" pitchFamily="34" charset="-120"/>
              </a:rPr>
              <a:t>The client (you)</a:t>
            </a:r>
            <a:endParaRPr lang="en-US" sz="2100" dirty="0"/>
          </a:p>
        </p:txBody>
      </p:sp>
      <p:sp>
        <p:nvSpPr>
          <p:cNvPr id="9" name="Text 5"/>
          <p:cNvSpPr txBox="1"/>
          <p:nvPr/>
        </p:nvSpPr>
        <p:spPr>
          <a:xfrm>
            <a:off x="868680" y="2880360"/>
            <a:ext cx="4572000" cy="640080"/>
          </a:xfrm>
          <a:prstGeom prst="rect">
            <a:avLst/>
          </a:prstGeom>
          <a:noFill/>
          <a:ln/>
        </p:spPr>
        <p:txBody>
          <a:bodyPr wrap="square" lIns="0" tIns="0" rIns="0" bIns="0" rtlCol="0" anchor="t"/>
          <a:lstStyle/>
          <a:p>
            <a:pPr indent="0" marL="0">
              <a:buNone/>
            </a:pPr>
            <a:r>
              <a:rPr lang="en-US" sz="1350" dirty="0">
                <a:solidFill>
                  <a:srgbClr val="12213A"/>
                </a:solidFill>
                <a:latin typeface="Calibri" pitchFamily="34" charset="0"/>
                <a:ea typeface="Calibri" pitchFamily="34" charset="-122"/>
                <a:cs typeface="Calibri" pitchFamily="34" charset="-120"/>
              </a:rPr>
              <a:t>Your browser. HTML, cookies, JavaScript and every request - all of it you can read and change. None of it can be trusted.</a:t>
            </a:r>
            <a:endParaRPr lang="en-US" sz="1350" dirty="0"/>
          </a:p>
        </p:txBody>
      </p:sp>
      <p:sp>
        <p:nvSpPr>
          <p:cNvPr id="10" name="Shape 6"/>
          <p:cNvSpPr/>
          <p:nvPr/>
        </p:nvSpPr>
        <p:spPr>
          <a:xfrm>
            <a:off x="548640" y="3721608"/>
            <a:ext cx="5029200" cy="1627632"/>
          </a:xfrm>
          <a:prstGeom prst="roundRect">
            <a:avLst>
              <a:gd name="adj" fmla="val 5618"/>
            </a:avLst>
          </a:prstGeom>
          <a:solidFill>
            <a:srgbClr val="F1F5FB"/>
          </a:solidFill>
          <a:ln/>
        </p:spPr>
      </p:sp>
      <p:sp>
        <p:nvSpPr>
          <p:cNvPr id="11" name="Shape 7"/>
          <p:cNvSpPr/>
          <p:nvPr/>
        </p:nvSpPr>
        <p:spPr>
          <a:xfrm>
            <a:off x="822960" y="4014216"/>
            <a:ext cx="822960" cy="822960"/>
          </a:xfrm>
          <a:prstGeom prst="ellipse">
            <a:avLst/>
          </a:prstGeom>
          <a:solidFill>
            <a:srgbClr val="D1E7DE"/>
          </a:solidFill>
          <a:ln/>
        </p:spPr>
      </p:sp>
      <p:pic>
        <p:nvPicPr>
          <p:cNvPr id="12" name="Image 1" descr="preencoded.png">    </p:cNvPr>
          <p:cNvPicPr>
            <a:picLocks noChangeAspect="1"/>
          </p:cNvPicPr>
          <p:nvPr/>
        </p:nvPicPr>
        <p:blipFill>
          <a:blip r:embed="rId2"/>
          <a:stretch>
            <a:fillRect/>
          </a:stretch>
        </p:blipFill>
        <p:spPr>
          <a:xfrm>
            <a:off x="1045159" y="4236415"/>
            <a:ext cx="378562" cy="378562"/>
          </a:xfrm>
          <a:prstGeom prst="rect">
            <a:avLst/>
          </a:prstGeom>
        </p:spPr>
      </p:pic>
      <p:sp>
        <p:nvSpPr>
          <p:cNvPr id="13" name="Text 8"/>
          <p:cNvSpPr txBox="1"/>
          <p:nvPr/>
        </p:nvSpPr>
        <p:spPr>
          <a:xfrm>
            <a:off x="1874520" y="3995928"/>
            <a:ext cx="3474720" cy="548640"/>
          </a:xfrm>
          <a:prstGeom prst="rect">
            <a:avLst/>
          </a:prstGeom>
          <a:noFill/>
          <a:ln/>
        </p:spPr>
        <p:txBody>
          <a:bodyPr wrap="square" lIns="0" tIns="0" rIns="0" bIns="0" rtlCol="0" anchor="ctr"/>
          <a:lstStyle/>
          <a:p>
            <a:pPr indent="0" marL="0">
              <a:buNone/>
            </a:pPr>
            <a:r>
              <a:rPr lang="en-US" sz="2100" b="1" dirty="0">
                <a:solidFill>
                  <a:srgbClr val="17875A"/>
                </a:solidFill>
                <a:latin typeface="Arial" pitchFamily="34" charset="0"/>
                <a:ea typeface="Arial" pitchFamily="34" charset="-122"/>
                <a:cs typeface="Arial" pitchFamily="34" charset="-120"/>
              </a:rPr>
              <a:t>The server (the app)</a:t>
            </a:r>
            <a:endParaRPr lang="en-US" sz="2100" dirty="0"/>
          </a:p>
        </p:txBody>
      </p:sp>
      <p:sp>
        <p:nvSpPr>
          <p:cNvPr id="14" name="Text 9"/>
          <p:cNvSpPr txBox="1"/>
          <p:nvPr/>
        </p:nvSpPr>
        <p:spPr>
          <a:xfrm>
            <a:off x="868680" y="4636008"/>
            <a:ext cx="4572000" cy="640080"/>
          </a:xfrm>
          <a:prstGeom prst="rect">
            <a:avLst/>
          </a:prstGeom>
          <a:noFill/>
          <a:ln/>
        </p:spPr>
        <p:txBody>
          <a:bodyPr wrap="square" lIns="0" tIns="0" rIns="0" bIns="0" rtlCol="0" anchor="t"/>
          <a:lstStyle/>
          <a:p>
            <a:pPr indent="0" marL="0">
              <a:buNone/>
            </a:pPr>
            <a:r>
              <a:rPr lang="en-US" sz="1350" dirty="0">
                <a:solidFill>
                  <a:srgbClr val="12213A"/>
                </a:solidFill>
                <a:latin typeface="Calibri" pitchFamily="34" charset="0"/>
                <a:ea typeface="Calibri" pitchFamily="34" charset="-122"/>
                <a:cs typeface="Calibri" pitchFamily="34" charset="-120"/>
              </a:rPr>
              <a:t>The only place a real decision is safe. It must re-check everything, because the request came from a stranger.</a:t>
            </a:r>
            <a:endParaRPr lang="en-US" sz="1350" dirty="0"/>
          </a:p>
        </p:txBody>
      </p:sp>
      <p:sp>
        <p:nvSpPr>
          <p:cNvPr id="15" name="Shape 10"/>
          <p:cNvSpPr/>
          <p:nvPr/>
        </p:nvSpPr>
        <p:spPr>
          <a:xfrm>
            <a:off x="5852160" y="1965960"/>
            <a:ext cx="5788152" cy="3364992"/>
          </a:xfrm>
          <a:prstGeom prst="roundRect">
            <a:avLst>
              <a:gd name="adj" fmla="val 2717"/>
            </a:avLst>
          </a:prstGeom>
          <a:solidFill>
            <a:srgbClr val="0E1726"/>
          </a:solidFill>
          <a:ln/>
          <a:effectLst>
            <a:outerShdw sx="100000" sy="100000" kx="0" ky="0" algn="bl" rotWithShape="0" blurRad="127000" dist="38100" dir="5400000">
              <a:srgbClr val="12213A">
                <a:alpha val="22000"/>
              </a:srgbClr>
            </a:outerShdw>
          </a:effectLst>
        </p:spPr>
      </p:sp>
      <p:sp>
        <p:nvSpPr>
          <p:cNvPr id="16" name="Shape 11"/>
          <p:cNvSpPr/>
          <p:nvPr/>
        </p:nvSpPr>
        <p:spPr>
          <a:xfrm>
            <a:off x="6053328" y="2121408"/>
            <a:ext cx="118872" cy="118872"/>
          </a:xfrm>
          <a:prstGeom prst="ellipse">
            <a:avLst/>
          </a:prstGeom>
          <a:solidFill>
            <a:srgbClr val="E5534B"/>
          </a:solidFill>
          <a:ln/>
        </p:spPr>
      </p:sp>
      <p:sp>
        <p:nvSpPr>
          <p:cNvPr id="17" name="Shape 12"/>
          <p:cNvSpPr/>
          <p:nvPr/>
        </p:nvSpPr>
        <p:spPr>
          <a:xfrm>
            <a:off x="6254496" y="2121408"/>
            <a:ext cx="118872" cy="118872"/>
          </a:xfrm>
          <a:prstGeom prst="ellipse">
            <a:avLst/>
          </a:prstGeom>
          <a:solidFill>
            <a:srgbClr val="F5A623"/>
          </a:solidFill>
          <a:ln/>
        </p:spPr>
      </p:sp>
      <p:sp>
        <p:nvSpPr>
          <p:cNvPr id="18" name="Shape 13"/>
          <p:cNvSpPr/>
          <p:nvPr/>
        </p:nvSpPr>
        <p:spPr>
          <a:xfrm>
            <a:off x="6455664" y="2121408"/>
            <a:ext cx="118872" cy="118872"/>
          </a:xfrm>
          <a:prstGeom prst="ellipse">
            <a:avLst/>
          </a:prstGeom>
          <a:solidFill>
            <a:srgbClr val="46D39A"/>
          </a:solidFill>
          <a:ln/>
        </p:spPr>
      </p:sp>
      <p:sp>
        <p:nvSpPr>
          <p:cNvPr id="19" name="Text 14"/>
          <p:cNvSpPr txBox="1"/>
          <p:nvPr/>
        </p:nvSpPr>
        <p:spPr>
          <a:xfrm>
            <a:off x="6766560" y="2039112"/>
            <a:ext cx="39593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never trust the client</a:t>
            </a:r>
            <a:endParaRPr lang="en-US" sz="1000" dirty="0"/>
          </a:p>
        </p:txBody>
      </p:sp>
      <p:sp>
        <p:nvSpPr>
          <p:cNvPr id="20" name="Text 15"/>
          <p:cNvSpPr txBox="1"/>
          <p:nvPr/>
        </p:nvSpPr>
        <p:spPr>
          <a:xfrm>
            <a:off x="6126480" y="2423160"/>
            <a:ext cx="5239512" cy="2770632"/>
          </a:xfrm>
          <a:prstGeom prst="rect">
            <a:avLst/>
          </a:prstGeom>
          <a:noFill/>
          <a:ln/>
        </p:spPr>
        <p:txBody>
          <a:bodyPr wrap="square" lIns="0" tIns="0" rIns="0" bIns="0" rtlCol="0" anchor="t"/>
          <a:lstStyle/>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the browser sends whatever you set</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Cookie: role=user</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-&gt; careless server: 'ok, user'</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 Cookie: role=admin</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   -&gt; careless server: 'ok, admin!'</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a careful server decides for itself</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Cookie: role=admin</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-&gt; 'who are you really? checking...'</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-&gt; 'denied.'</a:t>
            </a:r>
            <a:endParaRPr lang="en-US" sz="1350" dirty="0"/>
          </a:p>
        </p:txBody>
      </p:sp>
      <p:sp>
        <p:nvSpPr>
          <p:cNvPr id="21" name="Text 1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9 / 61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web is everywhere</a:t>
            </a:r>
            <a:endParaRPr lang="en-US" sz="3200" dirty="0"/>
          </a:p>
        </p:txBody>
      </p:sp>
      <p:sp>
        <p:nvSpPr>
          <p:cNvPr id="4" name="Shape 1"/>
          <p:cNvSpPr/>
          <p:nvPr/>
        </p:nvSpPr>
        <p:spPr>
          <a:xfrm>
            <a:off x="548640" y="1508760"/>
            <a:ext cx="3566160" cy="2057400"/>
          </a:xfrm>
          <a:prstGeom prst="roundRect">
            <a:avLst>
              <a:gd name="adj" fmla="val 4444"/>
            </a:avLst>
          </a:prstGeom>
          <a:solidFill>
            <a:srgbClr val="F1F5FB"/>
          </a:solidFill>
          <a:ln/>
        </p:spPr>
      </p:sp>
      <p:sp>
        <p:nvSpPr>
          <p:cNvPr id="5" name="Shape 2"/>
          <p:cNvSpPr/>
          <p:nvPr/>
        </p:nvSpPr>
        <p:spPr>
          <a:xfrm>
            <a:off x="822960" y="1783080"/>
            <a:ext cx="731520" cy="731520"/>
          </a:xfrm>
          <a:prstGeom prst="ellipse">
            <a:avLst/>
          </a:prstGeom>
          <a:solidFill>
            <a:srgbClr val="2A9FD6"/>
          </a:solidFill>
          <a:ln/>
        </p:spPr>
      </p:sp>
      <p:pic>
        <p:nvPicPr>
          <p:cNvPr id="6" name="Image 0" descr="preencoded.png">    </p:cNvPr>
          <p:cNvPicPr>
            <a:picLocks noChangeAspect="1"/>
          </p:cNvPicPr>
          <p:nvPr/>
        </p:nvPicPr>
        <p:blipFill>
          <a:blip r:embed="rId1"/>
          <a:stretch>
            <a:fillRect/>
          </a:stretch>
        </p:blipFill>
        <p:spPr>
          <a:xfrm>
            <a:off x="1005840" y="1965960"/>
            <a:ext cx="365760" cy="365760"/>
          </a:xfrm>
          <a:prstGeom prst="rect">
            <a:avLst/>
          </a:prstGeom>
        </p:spPr>
      </p:pic>
      <p:sp>
        <p:nvSpPr>
          <p:cNvPr id="7" name="Text 3"/>
          <p:cNvSpPr txBox="1"/>
          <p:nvPr/>
        </p:nvSpPr>
        <p:spPr>
          <a:xfrm>
            <a:off x="1737360" y="182880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Social apps</a:t>
            </a:r>
            <a:endParaRPr lang="en-US" sz="2100" dirty="0"/>
          </a:p>
        </p:txBody>
      </p:sp>
      <p:sp>
        <p:nvSpPr>
          <p:cNvPr id="8" name="Text 4"/>
          <p:cNvSpPr txBox="1"/>
          <p:nvPr/>
        </p:nvSpPr>
        <p:spPr>
          <a:xfrm>
            <a:off x="822960" y="265176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Posts, messages and logins are web requests behind the scenes.</a:t>
            </a:r>
            <a:endParaRPr lang="en-US" sz="1500" dirty="0"/>
          </a:p>
        </p:txBody>
      </p:sp>
      <p:sp>
        <p:nvSpPr>
          <p:cNvPr id="9" name="Shape 5"/>
          <p:cNvSpPr/>
          <p:nvPr/>
        </p:nvSpPr>
        <p:spPr>
          <a:xfrm>
            <a:off x="4306824" y="1508760"/>
            <a:ext cx="3566160" cy="2057400"/>
          </a:xfrm>
          <a:prstGeom prst="roundRect">
            <a:avLst>
              <a:gd name="adj" fmla="val 4444"/>
            </a:avLst>
          </a:prstGeom>
          <a:solidFill>
            <a:srgbClr val="F1F5FB"/>
          </a:solidFill>
          <a:ln/>
        </p:spPr>
      </p:sp>
      <p:sp>
        <p:nvSpPr>
          <p:cNvPr id="10" name="Shape 6"/>
          <p:cNvSpPr/>
          <p:nvPr/>
        </p:nvSpPr>
        <p:spPr>
          <a:xfrm>
            <a:off x="4581144" y="1783080"/>
            <a:ext cx="731520" cy="731520"/>
          </a:xfrm>
          <a:prstGeom prst="ellipse">
            <a:avLst/>
          </a:prstGeom>
          <a:solidFill>
            <a:srgbClr val="2459D8"/>
          </a:solidFill>
          <a:ln/>
        </p:spPr>
      </p:sp>
      <p:pic>
        <p:nvPicPr>
          <p:cNvPr id="11" name="Image 1" descr="preencoded.png">    </p:cNvPr>
          <p:cNvPicPr>
            <a:picLocks noChangeAspect="1"/>
          </p:cNvPicPr>
          <p:nvPr/>
        </p:nvPicPr>
        <p:blipFill>
          <a:blip r:embed="rId2"/>
          <a:stretch>
            <a:fillRect/>
          </a:stretch>
        </p:blipFill>
        <p:spPr>
          <a:xfrm>
            <a:off x="4764024" y="1965960"/>
            <a:ext cx="365760" cy="365760"/>
          </a:xfrm>
          <a:prstGeom prst="rect">
            <a:avLst/>
          </a:prstGeom>
        </p:spPr>
      </p:pic>
      <p:sp>
        <p:nvSpPr>
          <p:cNvPr id="12" name="Text 7"/>
          <p:cNvSpPr txBox="1"/>
          <p:nvPr/>
        </p:nvSpPr>
        <p:spPr>
          <a:xfrm>
            <a:off x="5495544" y="182880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Online games</a:t>
            </a:r>
            <a:endParaRPr lang="en-US" sz="2100" dirty="0"/>
          </a:p>
        </p:txBody>
      </p:sp>
      <p:sp>
        <p:nvSpPr>
          <p:cNvPr id="13" name="Text 8"/>
          <p:cNvSpPr txBox="1"/>
          <p:nvPr/>
        </p:nvSpPr>
        <p:spPr>
          <a:xfrm>
            <a:off x="4581144" y="265176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Scores, matches and purchases all travel as requests.</a:t>
            </a:r>
            <a:endParaRPr lang="en-US" sz="1500" dirty="0"/>
          </a:p>
        </p:txBody>
      </p:sp>
      <p:sp>
        <p:nvSpPr>
          <p:cNvPr id="14" name="Shape 9"/>
          <p:cNvSpPr/>
          <p:nvPr/>
        </p:nvSpPr>
        <p:spPr>
          <a:xfrm>
            <a:off x="8065008" y="1508760"/>
            <a:ext cx="3566160" cy="2057400"/>
          </a:xfrm>
          <a:prstGeom prst="roundRect">
            <a:avLst>
              <a:gd name="adj" fmla="val 4444"/>
            </a:avLst>
          </a:prstGeom>
          <a:solidFill>
            <a:srgbClr val="F1F5FB"/>
          </a:solidFill>
          <a:ln/>
        </p:spPr>
      </p:sp>
      <p:sp>
        <p:nvSpPr>
          <p:cNvPr id="15" name="Shape 10"/>
          <p:cNvSpPr/>
          <p:nvPr/>
        </p:nvSpPr>
        <p:spPr>
          <a:xfrm>
            <a:off x="8339328" y="1783080"/>
            <a:ext cx="731520" cy="731520"/>
          </a:xfrm>
          <a:prstGeom prst="ellipse">
            <a:avLst/>
          </a:prstGeom>
          <a:solidFill>
            <a:srgbClr val="7448D4"/>
          </a:solidFill>
          <a:ln/>
        </p:spPr>
      </p:sp>
      <p:pic>
        <p:nvPicPr>
          <p:cNvPr id="16" name="Image 2" descr="preencoded.png">    </p:cNvPr>
          <p:cNvPicPr>
            <a:picLocks noChangeAspect="1"/>
          </p:cNvPicPr>
          <p:nvPr/>
        </p:nvPicPr>
        <p:blipFill>
          <a:blip r:embed="rId3"/>
          <a:stretch>
            <a:fillRect/>
          </a:stretch>
        </p:blipFill>
        <p:spPr>
          <a:xfrm>
            <a:off x="8522208" y="1965960"/>
            <a:ext cx="365760" cy="365760"/>
          </a:xfrm>
          <a:prstGeom prst="rect">
            <a:avLst/>
          </a:prstGeom>
        </p:spPr>
      </p:pic>
      <p:sp>
        <p:nvSpPr>
          <p:cNvPr id="17" name="Text 11"/>
          <p:cNvSpPr txBox="1"/>
          <p:nvPr/>
        </p:nvSpPr>
        <p:spPr>
          <a:xfrm>
            <a:off x="9253728" y="182880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Shopping</a:t>
            </a:r>
            <a:endParaRPr lang="en-US" sz="2100" dirty="0"/>
          </a:p>
        </p:txBody>
      </p:sp>
      <p:sp>
        <p:nvSpPr>
          <p:cNvPr id="18" name="Text 12"/>
          <p:cNvSpPr txBox="1"/>
          <p:nvPr/>
        </p:nvSpPr>
        <p:spPr>
          <a:xfrm>
            <a:off x="8339328" y="265176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Carts, prices and checkout are web pages and APIs.</a:t>
            </a:r>
            <a:endParaRPr lang="en-US" sz="1500" dirty="0"/>
          </a:p>
        </p:txBody>
      </p:sp>
      <p:sp>
        <p:nvSpPr>
          <p:cNvPr id="19" name="Shape 13"/>
          <p:cNvSpPr/>
          <p:nvPr/>
        </p:nvSpPr>
        <p:spPr>
          <a:xfrm>
            <a:off x="548640" y="3749040"/>
            <a:ext cx="3566160" cy="2057400"/>
          </a:xfrm>
          <a:prstGeom prst="roundRect">
            <a:avLst>
              <a:gd name="adj" fmla="val 4444"/>
            </a:avLst>
          </a:prstGeom>
          <a:solidFill>
            <a:srgbClr val="F1F5FB"/>
          </a:solidFill>
          <a:ln/>
        </p:spPr>
      </p:sp>
      <p:sp>
        <p:nvSpPr>
          <p:cNvPr id="20" name="Shape 14"/>
          <p:cNvSpPr/>
          <p:nvPr/>
        </p:nvSpPr>
        <p:spPr>
          <a:xfrm>
            <a:off x="822960" y="4023360"/>
            <a:ext cx="731520" cy="731520"/>
          </a:xfrm>
          <a:prstGeom prst="ellipse">
            <a:avLst/>
          </a:prstGeom>
          <a:solidFill>
            <a:srgbClr val="D1416B"/>
          </a:solidFill>
          <a:ln/>
        </p:spPr>
      </p:sp>
      <p:pic>
        <p:nvPicPr>
          <p:cNvPr id="21" name="Image 3" descr="preencoded.png">    </p:cNvPr>
          <p:cNvPicPr>
            <a:picLocks noChangeAspect="1"/>
          </p:cNvPicPr>
          <p:nvPr/>
        </p:nvPicPr>
        <p:blipFill>
          <a:blip r:embed="rId4"/>
          <a:stretch>
            <a:fillRect/>
          </a:stretch>
        </p:blipFill>
        <p:spPr>
          <a:xfrm>
            <a:off x="1005840" y="4206240"/>
            <a:ext cx="365760" cy="365760"/>
          </a:xfrm>
          <a:prstGeom prst="rect">
            <a:avLst/>
          </a:prstGeom>
        </p:spPr>
      </p:pic>
      <p:sp>
        <p:nvSpPr>
          <p:cNvPr id="22" name="Text 15"/>
          <p:cNvSpPr txBox="1"/>
          <p:nvPr/>
        </p:nvSpPr>
        <p:spPr>
          <a:xfrm>
            <a:off x="1737360" y="406908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School portal</a:t>
            </a:r>
            <a:endParaRPr lang="en-US" sz="2100" dirty="0"/>
          </a:p>
        </p:txBody>
      </p:sp>
      <p:sp>
        <p:nvSpPr>
          <p:cNvPr id="23" name="Text 16"/>
          <p:cNvSpPr txBox="1"/>
          <p:nvPr/>
        </p:nvSpPr>
        <p:spPr>
          <a:xfrm>
            <a:off x="822960" y="489204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Grades and schedules: a web app you log into.</a:t>
            </a:r>
            <a:endParaRPr lang="en-US" sz="1500" dirty="0"/>
          </a:p>
        </p:txBody>
      </p:sp>
      <p:sp>
        <p:nvSpPr>
          <p:cNvPr id="24" name="Shape 17"/>
          <p:cNvSpPr/>
          <p:nvPr/>
        </p:nvSpPr>
        <p:spPr>
          <a:xfrm>
            <a:off x="4306824" y="3749040"/>
            <a:ext cx="3566160" cy="2057400"/>
          </a:xfrm>
          <a:prstGeom prst="roundRect">
            <a:avLst>
              <a:gd name="adj" fmla="val 4444"/>
            </a:avLst>
          </a:prstGeom>
          <a:solidFill>
            <a:srgbClr val="F1F5FB"/>
          </a:solidFill>
          <a:ln/>
        </p:spPr>
      </p:sp>
      <p:sp>
        <p:nvSpPr>
          <p:cNvPr id="25" name="Shape 18"/>
          <p:cNvSpPr/>
          <p:nvPr/>
        </p:nvSpPr>
        <p:spPr>
          <a:xfrm>
            <a:off x="4581144" y="4023360"/>
            <a:ext cx="731520" cy="731520"/>
          </a:xfrm>
          <a:prstGeom prst="ellipse">
            <a:avLst/>
          </a:prstGeom>
          <a:solidFill>
            <a:srgbClr val="E8820C"/>
          </a:solidFill>
          <a:ln/>
        </p:spPr>
      </p:sp>
      <p:pic>
        <p:nvPicPr>
          <p:cNvPr id="26" name="Image 4" descr="preencoded.png">    </p:cNvPr>
          <p:cNvPicPr>
            <a:picLocks noChangeAspect="1"/>
          </p:cNvPicPr>
          <p:nvPr/>
        </p:nvPicPr>
        <p:blipFill>
          <a:blip r:embed="rId5"/>
          <a:stretch>
            <a:fillRect/>
          </a:stretch>
        </p:blipFill>
        <p:spPr>
          <a:xfrm>
            <a:off x="4764024" y="4206240"/>
            <a:ext cx="365760" cy="365760"/>
          </a:xfrm>
          <a:prstGeom prst="rect">
            <a:avLst/>
          </a:prstGeom>
        </p:spPr>
      </p:pic>
      <p:sp>
        <p:nvSpPr>
          <p:cNvPr id="27" name="Text 19"/>
          <p:cNvSpPr txBox="1"/>
          <p:nvPr/>
        </p:nvSpPr>
        <p:spPr>
          <a:xfrm>
            <a:off x="5495544" y="406908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Streaming</a:t>
            </a:r>
            <a:endParaRPr lang="en-US" sz="2100" dirty="0"/>
          </a:p>
        </p:txBody>
      </p:sp>
      <p:sp>
        <p:nvSpPr>
          <p:cNvPr id="28" name="Text 20"/>
          <p:cNvSpPr txBox="1"/>
          <p:nvPr/>
        </p:nvSpPr>
        <p:spPr>
          <a:xfrm>
            <a:off x="4581144" y="489204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Every video you pick is a request to a server.</a:t>
            </a:r>
            <a:endParaRPr lang="en-US" sz="1500" dirty="0"/>
          </a:p>
        </p:txBody>
      </p:sp>
      <p:sp>
        <p:nvSpPr>
          <p:cNvPr id="29" name="Shape 21"/>
          <p:cNvSpPr/>
          <p:nvPr/>
        </p:nvSpPr>
        <p:spPr>
          <a:xfrm>
            <a:off x="8065008" y="3749040"/>
            <a:ext cx="3566160" cy="2057400"/>
          </a:xfrm>
          <a:prstGeom prst="roundRect">
            <a:avLst>
              <a:gd name="adj" fmla="val 4444"/>
            </a:avLst>
          </a:prstGeom>
          <a:solidFill>
            <a:srgbClr val="F1F5FB"/>
          </a:solidFill>
          <a:ln/>
        </p:spPr>
      </p:sp>
      <p:sp>
        <p:nvSpPr>
          <p:cNvPr id="30" name="Shape 22"/>
          <p:cNvSpPr/>
          <p:nvPr/>
        </p:nvSpPr>
        <p:spPr>
          <a:xfrm>
            <a:off x="8339328" y="4023360"/>
            <a:ext cx="731520" cy="731520"/>
          </a:xfrm>
          <a:prstGeom prst="ellipse">
            <a:avLst/>
          </a:prstGeom>
          <a:solidFill>
            <a:srgbClr val="0F9488"/>
          </a:solidFill>
          <a:ln/>
        </p:spPr>
      </p:sp>
      <p:pic>
        <p:nvPicPr>
          <p:cNvPr id="31" name="Image 5" descr="preencoded.png">    </p:cNvPr>
          <p:cNvPicPr>
            <a:picLocks noChangeAspect="1"/>
          </p:cNvPicPr>
          <p:nvPr/>
        </p:nvPicPr>
        <p:blipFill>
          <a:blip r:embed="rId6"/>
          <a:stretch>
            <a:fillRect/>
          </a:stretch>
        </p:blipFill>
        <p:spPr>
          <a:xfrm>
            <a:off x="8522208" y="4206240"/>
            <a:ext cx="365760" cy="365760"/>
          </a:xfrm>
          <a:prstGeom prst="rect">
            <a:avLst/>
          </a:prstGeom>
        </p:spPr>
      </p:pic>
      <p:sp>
        <p:nvSpPr>
          <p:cNvPr id="32" name="Text 23"/>
          <p:cNvSpPr txBox="1"/>
          <p:nvPr/>
        </p:nvSpPr>
        <p:spPr>
          <a:xfrm>
            <a:off x="9253728" y="4069080"/>
            <a:ext cx="2194560" cy="640080"/>
          </a:xfrm>
          <a:prstGeom prst="rect">
            <a:avLst/>
          </a:prstGeom>
          <a:noFill/>
          <a:ln/>
        </p:spPr>
        <p:txBody>
          <a:bodyPr wrap="square" lIns="0" tIns="0" rIns="0" bIns="0" rtlCol="0" anchor="ctr"/>
          <a:lstStyle/>
          <a:p>
            <a:pPr indent="0" marL="0">
              <a:buNone/>
            </a:pPr>
            <a:r>
              <a:rPr lang="en-US" sz="2100" b="1" dirty="0">
                <a:solidFill>
                  <a:srgbClr val="12213A"/>
                </a:solidFill>
                <a:latin typeface="Arial" pitchFamily="34" charset="0"/>
                <a:ea typeface="Arial" pitchFamily="34" charset="-122"/>
                <a:cs typeface="Arial" pitchFamily="34" charset="-120"/>
              </a:rPr>
              <a:t>Phone apps</a:t>
            </a:r>
            <a:endParaRPr lang="en-US" sz="2100" dirty="0"/>
          </a:p>
        </p:txBody>
      </p:sp>
      <p:sp>
        <p:nvSpPr>
          <p:cNvPr id="33" name="Text 24"/>
          <p:cNvSpPr txBox="1"/>
          <p:nvPr/>
        </p:nvSpPr>
        <p:spPr>
          <a:xfrm>
            <a:off x="8339328" y="4892040"/>
            <a:ext cx="3063240" cy="82296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Most apps are a web request wrapped in an icon.</a:t>
            </a:r>
            <a:endParaRPr lang="en-US" sz="1500" dirty="0"/>
          </a:p>
        </p:txBody>
      </p:sp>
      <p:sp>
        <p:nvSpPr>
          <p:cNvPr id="34"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10 / 61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browser is a hacking toolbox</a:t>
            </a:r>
            <a:endParaRPr lang="en-US" sz="3200" dirty="0"/>
          </a:p>
        </p:txBody>
      </p:sp>
      <p:sp>
        <p:nvSpPr>
          <p:cNvPr id="4" name="Text 1"/>
          <p:cNvSpPr txBox="1"/>
          <p:nvPr/>
        </p:nvSpPr>
        <p:spPr>
          <a:xfrm>
            <a:off x="548640" y="1371600"/>
            <a:ext cx="11094415" cy="457200"/>
          </a:xfrm>
          <a:prstGeom prst="rect">
            <a:avLst/>
          </a:prstGeom>
          <a:noFill/>
          <a:ln/>
        </p:spPr>
        <p:txBody>
          <a:bodyPr wrap="square" lIns="0" tIns="0" rIns="0" bIns="0" rtlCol="0" anchor="t"/>
          <a:lstStyle/>
          <a:p>
            <a:pPr indent="0" marL="0">
              <a:buNone/>
            </a:pPr>
            <a:r>
              <a:rPr lang="en-US" sz="1700" dirty="0">
                <a:solidFill>
                  <a:srgbClr val="56657E"/>
                </a:solidFill>
                <a:latin typeface="Calibri" pitchFamily="34" charset="0"/>
                <a:ea typeface="Calibri" pitchFamily="34" charset="-122"/>
                <a:cs typeface="Calibri" pitchFamily="34" charset="-120"/>
              </a:rPr>
              <a:t>Press F12 (or right-click → Inspect). It's built into every browser - the same tool the pros use.</a:t>
            </a:r>
            <a:endParaRPr lang="en-US" sz="1700" dirty="0"/>
          </a:p>
        </p:txBody>
      </p:sp>
      <p:sp>
        <p:nvSpPr>
          <p:cNvPr id="5" name="Shape 2"/>
          <p:cNvSpPr/>
          <p:nvPr/>
        </p:nvSpPr>
        <p:spPr>
          <a:xfrm>
            <a:off x="548640" y="2011680"/>
            <a:ext cx="3566160" cy="1828800"/>
          </a:xfrm>
          <a:prstGeom prst="roundRect">
            <a:avLst>
              <a:gd name="adj" fmla="val 5000"/>
            </a:avLst>
          </a:prstGeom>
          <a:solidFill>
            <a:srgbClr val="F1F5FB"/>
          </a:solidFill>
          <a:ln/>
        </p:spPr>
      </p:sp>
      <p:sp>
        <p:nvSpPr>
          <p:cNvPr id="6" name="Shape 3"/>
          <p:cNvSpPr/>
          <p:nvPr/>
        </p:nvSpPr>
        <p:spPr>
          <a:xfrm>
            <a:off x="822960" y="2267712"/>
            <a:ext cx="658368" cy="658368"/>
          </a:xfrm>
          <a:prstGeom prst="ellipse">
            <a:avLst/>
          </a:prstGeom>
          <a:solidFill>
            <a:srgbClr val="17875A"/>
          </a:solidFill>
          <a:ln/>
        </p:spPr>
      </p:sp>
      <p:pic>
        <p:nvPicPr>
          <p:cNvPr id="7" name="Image 0" descr="preencoded.png">    </p:cNvPr>
          <p:cNvPicPr>
            <a:picLocks noChangeAspect="1"/>
          </p:cNvPicPr>
          <p:nvPr/>
        </p:nvPicPr>
        <p:blipFill>
          <a:blip r:embed="rId1"/>
          <a:stretch>
            <a:fillRect/>
          </a:stretch>
        </p:blipFill>
        <p:spPr>
          <a:xfrm>
            <a:off x="987552" y="2432304"/>
            <a:ext cx="329184" cy="329184"/>
          </a:xfrm>
          <a:prstGeom prst="rect">
            <a:avLst/>
          </a:prstGeom>
        </p:spPr>
      </p:pic>
      <p:sp>
        <p:nvSpPr>
          <p:cNvPr id="8" name="Text 4"/>
          <p:cNvSpPr txBox="1"/>
          <p:nvPr/>
        </p:nvSpPr>
        <p:spPr>
          <a:xfrm>
            <a:off x="1645920" y="2304288"/>
            <a:ext cx="2286000" cy="54864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Elements</a:t>
            </a:r>
            <a:endParaRPr lang="en-US" sz="2000" dirty="0"/>
          </a:p>
        </p:txBody>
      </p:sp>
      <p:sp>
        <p:nvSpPr>
          <p:cNvPr id="9" name="Text 5"/>
          <p:cNvSpPr txBox="1"/>
          <p:nvPr/>
        </p:nvSpPr>
        <p:spPr>
          <a:xfrm>
            <a:off x="822960" y="3035808"/>
            <a:ext cx="3063240" cy="64008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The live page - every tag, even the hidden ones. Edit it in place.</a:t>
            </a:r>
            <a:endParaRPr lang="en-US" sz="1350" dirty="0"/>
          </a:p>
        </p:txBody>
      </p:sp>
      <p:sp>
        <p:nvSpPr>
          <p:cNvPr id="10" name="Shape 6"/>
          <p:cNvSpPr/>
          <p:nvPr/>
        </p:nvSpPr>
        <p:spPr>
          <a:xfrm>
            <a:off x="3246120" y="2304288"/>
            <a:ext cx="777240" cy="310896"/>
          </a:xfrm>
          <a:prstGeom prst="roundRect">
            <a:avLst>
              <a:gd name="adj" fmla="val 50000"/>
            </a:avLst>
          </a:prstGeom>
          <a:solidFill>
            <a:srgbClr val="D1E7DE"/>
          </a:solidFill>
          <a:ln/>
        </p:spPr>
      </p:sp>
      <p:sp>
        <p:nvSpPr>
          <p:cNvPr id="11" name="Text 7"/>
          <p:cNvSpPr txBox="1"/>
          <p:nvPr/>
        </p:nvSpPr>
        <p:spPr>
          <a:xfrm>
            <a:off x="3246120" y="2304288"/>
            <a:ext cx="777240" cy="310896"/>
          </a:xfrm>
          <a:prstGeom prst="rect">
            <a:avLst/>
          </a:prstGeom>
          <a:noFill/>
          <a:ln/>
        </p:spPr>
        <p:txBody>
          <a:bodyPr wrap="square" lIns="0" tIns="0" rIns="0" bIns="0" rtlCol="0" anchor="ctr"/>
          <a:lstStyle/>
          <a:p>
            <a:pPr algn="ctr" indent="0" marL="0">
              <a:buNone/>
            </a:pPr>
            <a:r>
              <a:rPr lang="en-US" sz="1000" b="1" dirty="0">
                <a:solidFill>
                  <a:srgbClr val="17875A"/>
                </a:solidFill>
                <a:latin typeface="Calibri" pitchFamily="34" charset="0"/>
                <a:ea typeface="Calibri" pitchFamily="34" charset="-122"/>
                <a:cs typeface="Calibri" pitchFamily="34" charset="-120"/>
              </a:rPr>
              <a:t>M 1, 2</a:t>
            </a:r>
            <a:endParaRPr lang="en-US" sz="1000" dirty="0"/>
          </a:p>
        </p:txBody>
      </p:sp>
      <p:sp>
        <p:nvSpPr>
          <p:cNvPr id="12" name="Shape 8"/>
          <p:cNvSpPr/>
          <p:nvPr/>
        </p:nvSpPr>
        <p:spPr>
          <a:xfrm>
            <a:off x="4306824" y="2011680"/>
            <a:ext cx="3566160" cy="1828800"/>
          </a:xfrm>
          <a:prstGeom prst="roundRect">
            <a:avLst>
              <a:gd name="adj" fmla="val 5000"/>
            </a:avLst>
          </a:prstGeom>
          <a:solidFill>
            <a:srgbClr val="F1F5FB"/>
          </a:solidFill>
          <a:ln/>
        </p:spPr>
      </p:sp>
      <p:sp>
        <p:nvSpPr>
          <p:cNvPr id="13" name="Shape 9"/>
          <p:cNvSpPr/>
          <p:nvPr/>
        </p:nvSpPr>
        <p:spPr>
          <a:xfrm>
            <a:off x="4581144" y="2267712"/>
            <a:ext cx="658368" cy="658368"/>
          </a:xfrm>
          <a:prstGeom prst="ellipse">
            <a:avLst/>
          </a:prstGeom>
          <a:solidFill>
            <a:srgbClr val="2459D8"/>
          </a:solidFill>
          <a:ln/>
        </p:spPr>
      </p:sp>
      <p:pic>
        <p:nvPicPr>
          <p:cNvPr id="14" name="Image 1" descr="preencoded.png">    </p:cNvPr>
          <p:cNvPicPr>
            <a:picLocks noChangeAspect="1"/>
          </p:cNvPicPr>
          <p:nvPr/>
        </p:nvPicPr>
        <p:blipFill>
          <a:blip r:embed="rId2"/>
          <a:stretch>
            <a:fillRect/>
          </a:stretch>
        </p:blipFill>
        <p:spPr>
          <a:xfrm>
            <a:off x="4745736" y="2432304"/>
            <a:ext cx="329184" cy="329184"/>
          </a:xfrm>
          <a:prstGeom prst="rect">
            <a:avLst/>
          </a:prstGeom>
        </p:spPr>
      </p:pic>
      <p:sp>
        <p:nvSpPr>
          <p:cNvPr id="15" name="Text 10"/>
          <p:cNvSpPr txBox="1"/>
          <p:nvPr/>
        </p:nvSpPr>
        <p:spPr>
          <a:xfrm>
            <a:off x="5404104" y="2304288"/>
            <a:ext cx="2286000" cy="54864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Console</a:t>
            </a:r>
            <a:endParaRPr lang="en-US" sz="2000" dirty="0"/>
          </a:p>
        </p:txBody>
      </p:sp>
      <p:sp>
        <p:nvSpPr>
          <p:cNvPr id="16" name="Text 11"/>
          <p:cNvSpPr txBox="1"/>
          <p:nvPr/>
        </p:nvSpPr>
        <p:spPr>
          <a:xfrm>
            <a:off x="4581144" y="3035808"/>
            <a:ext cx="3063240" cy="64008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Run JavaScript on the page right now. Call its functions.</a:t>
            </a:r>
            <a:endParaRPr lang="en-US" sz="1350" dirty="0"/>
          </a:p>
        </p:txBody>
      </p:sp>
      <p:sp>
        <p:nvSpPr>
          <p:cNvPr id="17" name="Shape 12"/>
          <p:cNvSpPr/>
          <p:nvPr/>
        </p:nvSpPr>
        <p:spPr>
          <a:xfrm>
            <a:off x="7004304" y="2304288"/>
            <a:ext cx="777240" cy="310896"/>
          </a:xfrm>
          <a:prstGeom prst="roundRect">
            <a:avLst>
              <a:gd name="adj" fmla="val 50000"/>
            </a:avLst>
          </a:prstGeom>
          <a:solidFill>
            <a:srgbClr val="D3DEF7"/>
          </a:solidFill>
          <a:ln/>
        </p:spPr>
      </p:sp>
      <p:sp>
        <p:nvSpPr>
          <p:cNvPr id="18" name="Text 13"/>
          <p:cNvSpPr txBox="1"/>
          <p:nvPr/>
        </p:nvSpPr>
        <p:spPr>
          <a:xfrm>
            <a:off x="7004304" y="2304288"/>
            <a:ext cx="777240" cy="310896"/>
          </a:xfrm>
          <a:prstGeom prst="rect">
            <a:avLst/>
          </a:prstGeom>
          <a:noFill/>
          <a:ln/>
        </p:spPr>
        <p:txBody>
          <a:bodyPr wrap="square" lIns="0" tIns="0" rIns="0" bIns="0" rtlCol="0" anchor="ctr"/>
          <a:lstStyle/>
          <a:p>
            <a:pPr algn="ctr" indent="0" marL="0">
              <a:buNone/>
            </a:pPr>
            <a:r>
              <a:rPr lang="en-US" sz="1000" b="1" dirty="0">
                <a:solidFill>
                  <a:srgbClr val="2459D8"/>
                </a:solidFill>
                <a:latin typeface="Calibri" pitchFamily="34" charset="0"/>
                <a:ea typeface="Calibri" pitchFamily="34" charset="-122"/>
                <a:cs typeface="Calibri" pitchFamily="34" charset="-120"/>
              </a:rPr>
              <a:t>M 6, 7</a:t>
            </a:r>
            <a:endParaRPr lang="en-US" sz="1000" dirty="0"/>
          </a:p>
        </p:txBody>
      </p:sp>
      <p:sp>
        <p:nvSpPr>
          <p:cNvPr id="19" name="Shape 14"/>
          <p:cNvSpPr/>
          <p:nvPr/>
        </p:nvSpPr>
        <p:spPr>
          <a:xfrm>
            <a:off x="8065008" y="2011680"/>
            <a:ext cx="3566160" cy="1828800"/>
          </a:xfrm>
          <a:prstGeom prst="roundRect">
            <a:avLst>
              <a:gd name="adj" fmla="val 5000"/>
            </a:avLst>
          </a:prstGeom>
          <a:solidFill>
            <a:srgbClr val="F1F5FB"/>
          </a:solidFill>
          <a:ln/>
        </p:spPr>
      </p:sp>
      <p:sp>
        <p:nvSpPr>
          <p:cNvPr id="20" name="Shape 15"/>
          <p:cNvSpPr/>
          <p:nvPr/>
        </p:nvSpPr>
        <p:spPr>
          <a:xfrm>
            <a:off x="8339328" y="2267712"/>
            <a:ext cx="658368" cy="658368"/>
          </a:xfrm>
          <a:prstGeom prst="ellipse">
            <a:avLst/>
          </a:prstGeom>
          <a:solidFill>
            <a:srgbClr val="7448D4"/>
          </a:solidFill>
          <a:ln/>
        </p:spPr>
      </p:sp>
      <p:pic>
        <p:nvPicPr>
          <p:cNvPr id="21" name="Image 2" descr="preencoded.png">    </p:cNvPr>
          <p:cNvPicPr>
            <a:picLocks noChangeAspect="1"/>
          </p:cNvPicPr>
          <p:nvPr/>
        </p:nvPicPr>
        <p:blipFill>
          <a:blip r:embed="rId3"/>
          <a:stretch>
            <a:fillRect/>
          </a:stretch>
        </p:blipFill>
        <p:spPr>
          <a:xfrm>
            <a:off x="8503920" y="2432304"/>
            <a:ext cx="329184" cy="329184"/>
          </a:xfrm>
          <a:prstGeom prst="rect">
            <a:avLst/>
          </a:prstGeom>
        </p:spPr>
      </p:pic>
      <p:sp>
        <p:nvSpPr>
          <p:cNvPr id="22" name="Text 16"/>
          <p:cNvSpPr txBox="1"/>
          <p:nvPr/>
        </p:nvSpPr>
        <p:spPr>
          <a:xfrm>
            <a:off x="9162288" y="2304288"/>
            <a:ext cx="2286000" cy="54864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Network</a:t>
            </a:r>
            <a:endParaRPr lang="en-US" sz="2000" dirty="0"/>
          </a:p>
        </p:txBody>
      </p:sp>
      <p:sp>
        <p:nvSpPr>
          <p:cNvPr id="23" name="Text 17"/>
          <p:cNvSpPr txBox="1"/>
          <p:nvPr/>
        </p:nvSpPr>
        <p:spPr>
          <a:xfrm>
            <a:off x="8339328" y="3035808"/>
            <a:ext cx="3063240" cy="64008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Every request and response, with headers and data.</a:t>
            </a:r>
            <a:endParaRPr lang="en-US" sz="1350" dirty="0"/>
          </a:p>
        </p:txBody>
      </p:sp>
      <p:sp>
        <p:nvSpPr>
          <p:cNvPr id="24" name="Shape 18"/>
          <p:cNvSpPr/>
          <p:nvPr/>
        </p:nvSpPr>
        <p:spPr>
          <a:xfrm>
            <a:off x="10762488" y="2304288"/>
            <a:ext cx="777240" cy="310896"/>
          </a:xfrm>
          <a:prstGeom prst="roundRect">
            <a:avLst>
              <a:gd name="adj" fmla="val 50000"/>
            </a:avLst>
          </a:prstGeom>
          <a:solidFill>
            <a:srgbClr val="E3DAF6"/>
          </a:solidFill>
          <a:ln/>
        </p:spPr>
      </p:sp>
      <p:sp>
        <p:nvSpPr>
          <p:cNvPr id="25" name="Text 19"/>
          <p:cNvSpPr txBox="1"/>
          <p:nvPr/>
        </p:nvSpPr>
        <p:spPr>
          <a:xfrm>
            <a:off x="10762488" y="2304288"/>
            <a:ext cx="777240" cy="310896"/>
          </a:xfrm>
          <a:prstGeom prst="rect">
            <a:avLst/>
          </a:prstGeom>
          <a:noFill/>
          <a:ln/>
        </p:spPr>
        <p:txBody>
          <a:bodyPr wrap="square" lIns="0" tIns="0" rIns="0" bIns="0" rtlCol="0" anchor="ctr"/>
          <a:lstStyle/>
          <a:p>
            <a:pPr algn="ctr" indent="0" marL="0">
              <a:buNone/>
            </a:pPr>
            <a:r>
              <a:rPr lang="en-US" sz="1000" b="1" dirty="0">
                <a:solidFill>
                  <a:srgbClr val="7448D4"/>
                </a:solidFill>
                <a:latin typeface="Calibri" pitchFamily="34" charset="0"/>
                <a:ea typeface="Calibri" pitchFamily="34" charset="-122"/>
                <a:cs typeface="Calibri" pitchFamily="34" charset="-120"/>
              </a:rPr>
              <a:t>M 4, 10</a:t>
            </a:r>
            <a:endParaRPr lang="en-US" sz="1000" dirty="0"/>
          </a:p>
        </p:txBody>
      </p:sp>
      <p:sp>
        <p:nvSpPr>
          <p:cNvPr id="26" name="Shape 20"/>
          <p:cNvSpPr/>
          <p:nvPr/>
        </p:nvSpPr>
        <p:spPr>
          <a:xfrm>
            <a:off x="548640" y="4023360"/>
            <a:ext cx="3566160" cy="1828800"/>
          </a:xfrm>
          <a:prstGeom prst="roundRect">
            <a:avLst>
              <a:gd name="adj" fmla="val 5000"/>
            </a:avLst>
          </a:prstGeom>
          <a:solidFill>
            <a:srgbClr val="F1F5FB"/>
          </a:solidFill>
          <a:ln/>
        </p:spPr>
      </p:sp>
      <p:sp>
        <p:nvSpPr>
          <p:cNvPr id="27" name="Shape 21"/>
          <p:cNvSpPr/>
          <p:nvPr/>
        </p:nvSpPr>
        <p:spPr>
          <a:xfrm>
            <a:off x="822960" y="4279392"/>
            <a:ext cx="658368" cy="658368"/>
          </a:xfrm>
          <a:prstGeom prst="ellipse">
            <a:avLst/>
          </a:prstGeom>
          <a:solidFill>
            <a:srgbClr val="D1416B"/>
          </a:solidFill>
          <a:ln/>
        </p:spPr>
      </p:sp>
      <p:pic>
        <p:nvPicPr>
          <p:cNvPr id="28" name="Image 3" descr="preencoded.png">    </p:cNvPr>
          <p:cNvPicPr>
            <a:picLocks noChangeAspect="1"/>
          </p:cNvPicPr>
          <p:nvPr/>
        </p:nvPicPr>
        <p:blipFill>
          <a:blip r:embed="rId4"/>
          <a:stretch>
            <a:fillRect/>
          </a:stretch>
        </p:blipFill>
        <p:spPr>
          <a:xfrm>
            <a:off x="987552" y="4443984"/>
            <a:ext cx="329184" cy="329184"/>
          </a:xfrm>
          <a:prstGeom prst="rect">
            <a:avLst/>
          </a:prstGeom>
        </p:spPr>
      </p:pic>
      <p:sp>
        <p:nvSpPr>
          <p:cNvPr id="29" name="Text 22"/>
          <p:cNvSpPr txBox="1"/>
          <p:nvPr/>
        </p:nvSpPr>
        <p:spPr>
          <a:xfrm>
            <a:off x="1645920" y="4315968"/>
            <a:ext cx="2286000" cy="54864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Application</a:t>
            </a:r>
            <a:endParaRPr lang="en-US" sz="2000" dirty="0"/>
          </a:p>
        </p:txBody>
      </p:sp>
      <p:sp>
        <p:nvSpPr>
          <p:cNvPr id="30" name="Text 23"/>
          <p:cNvSpPr txBox="1"/>
          <p:nvPr/>
        </p:nvSpPr>
        <p:spPr>
          <a:xfrm>
            <a:off x="822960" y="5047488"/>
            <a:ext cx="3063240" cy="64008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Cookies and storage the site saved in your browser.</a:t>
            </a:r>
            <a:endParaRPr lang="en-US" sz="1350" dirty="0"/>
          </a:p>
        </p:txBody>
      </p:sp>
      <p:sp>
        <p:nvSpPr>
          <p:cNvPr id="31" name="Shape 24"/>
          <p:cNvSpPr/>
          <p:nvPr/>
        </p:nvSpPr>
        <p:spPr>
          <a:xfrm>
            <a:off x="3246120" y="4315968"/>
            <a:ext cx="777240" cy="310896"/>
          </a:xfrm>
          <a:prstGeom prst="roundRect">
            <a:avLst>
              <a:gd name="adj" fmla="val 50000"/>
            </a:avLst>
          </a:prstGeom>
          <a:solidFill>
            <a:srgbClr val="F6D9E1"/>
          </a:solidFill>
          <a:ln/>
        </p:spPr>
      </p:sp>
      <p:sp>
        <p:nvSpPr>
          <p:cNvPr id="32" name="Text 25"/>
          <p:cNvSpPr txBox="1"/>
          <p:nvPr/>
        </p:nvSpPr>
        <p:spPr>
          <a:xfrm>
            <a:off x="3246120" y="4315968"/>
            <a:ext cx="777240" cy="310896"/>
          </a:xfrm>
          <a:prstGeom prst="rect">
            <a:avLst/>
          </a:prstGeom>
          <a:noFill/>
          <a:ln/>
        </p:spPr>
        <p:txBody>
          <a:bodyPr wrap="square" lIns="0" tIns="0" rIns="0" bIns="0" rtlCol="0" anchor="ctr"/>
          <a:lstStyle/>
          <a:p>
            <a:pPr algn="ctr" indent="0" marL="0">
              <a:buNone/>
            </a:pPr>
            <a:r>
              <a:rPr lang="en-US" sz="1000" b="1" dirty="0">
                <a:solidFill>
                  <a:srgbClr val="D1416B"/>
                </a:solidFill>
                <a:latin typeface="Calibri" pitchFamily="34" charset="0"/>
                <a:ea typeface="Calibri" pitchFamily="34" charset="-122"/>
                <a:cs typeface="Calibri" pitchFamily="34" charset="-120"/>
              </a:rPr>
              <a:t>M 3, 8</a:t>
            </a:r>
            <a:endParaRPr lang="en-US" sz="1000" dirty="0"/>
          </a:p>
        </p:txBody>
      </p:sp>
      <p:sp>
        <p:nvSpPr>
          <p:cNvPr id="33" name="Shape 26"/>
          <p:cNvSpPr/>
          <p:nvPr/>
        </p:nvSpPr>
        <p:spPr>
          <a:xfrm>
            <a:off x="4306824" y="4023360"/>
            <a:ext cx="3566160" cy="1828800"/>
          </a:xfrm>
          <a:prstGeom prst="roundRect">
            <a:avLst>
              <a:gd name="adj" fmla="val 5000"/>
            </a:avLst>
          </a:prstGeom>
          <a:solidFill>
            <a:srgbClr val="F1F5FB"/>
          </a:solidFill>
          <a:ln/>
        </p:spPr>
      </p:sp>
      <p:sp>
        <p:nvSpPr>
          <p:cNvPr id="34" name="Shape 27"/>
          <p:cNvSpPr/>
          <p:nvPr/>
        </p:nvSpPr>
        <p:spPr>
          <a:xfrm>
            <a:off x="4581144" y="4279392"/>
            <a:ext cx="658368" cy="658368"/>
          </a:xfrm>
          <a:prstGeom prst="ellipse">
            <a:avLst/>
          </a:prstGeom>
          <a:solidFill>
            <a:srgbClr val="0F9488"/>
          </a:solidFill>
          <a:ln/>
        </p:spPr>
      </p:sp>
      <p:pic>
        <p:nvPicPr>
          <p:cNvPr id="35" name="Image 4" descr="preencoded.png">    </p:cNvPr>
          <p:cNvPicPr>
            <a:picLocks noChangeAspect="1"/>
          </p:cNvPicPr>
          <p:nvPr/>
        </p:nvPicPr>
        <p:blipFill>
          <a:blip r:embed="rId5"/>
          <a:stretch>
            <a:fillRect/>
          </a:stretch>
        </p:blipFill>
        <p:spPr>
          <a:xfrm>
            <a:off x="4745736" y="4443984"/>
            <a:ext cx="329184" cy="329184"/>
          </a:xfrm>
          <a:prstGeom prst="rect">
            <a:avLst/>
          </a:prstGeom>
        </p:spPr>
      </p:pic>
      <p:sp>
        <p:nvSpPr>
          <p:cNvPr id="36" name="Text 28"/>
          <p:cNvSpPr txBox="1"/>
          <p:nvPr/>
        </p:nvSpPr>
        <p:spPr>
          <a:xfrm>
            <a:off x="5404104" y="4315968"/>
            <a:ext cx="2286000" cy="548640"/>
          </a:xfrm>
          <a:prstGeom prst="rect">
            <a:avLst/>
          </a:prstGeom>
          <a:noFill/>
          <a:ln/>
        </p:spPr>
        <p:txBody>
          <a:bodyPr wrap="square" lIns="0" tIns="0" rIns="0" bIns="0" rtlCol="0" anchor="ctr"/>
          <a:lstStyle/>
          <a:p>
            <a:pPr indent="0" marL="0">
              <a:buNone/>
            </a:pPr>
            <a:r>
              <a:rPr lang="en-US" sz="2000" b="1" dirty="0">
                <a:solidFill>
                  <a:srgbClr val="12213A"/>
                </a:solidFill>
                <a:latin typeface="Arial" pitchFamily="34" charset="0"/>
                <a:ea typeface="Arial" pitchFamily="34" charset="-122"/>
                <a:cs typeface="Arial" pitchFamily="34" charset="-120"/>
              </a:rPr>
              <a:t>Sources</a:t>
            </a:r>
            <a:endParaRPr lang="en-US" sz="2000" dirty="0"/>
          </a:p>
        </p:txBody>
      </p:sp>
      <p:sp>
        <p:nvSpPr>
          <p:cNvPr id="37" name="Text 29"/>
          <p:cNvSpPr txBox="1"/>
          <p:nvPr/>
        </p:nvSpPr>
        <p:spPr>
          <a:xfrm>
            <a:off x="4581144" y="5047488"/>
            <a:ext cx="3063240" cy="64008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The page's actual code files, including its JavaScript.</a:t>
            </a:r>
            <a:endParaRPr lang="en-US" sz="1350" dirty="0"/>
          </a:p>
        </p:txBody>
      </p:sp>
      <p:sp>
        <p:nvSpPr>
          <p:cNvPr id="38" name="Shape 30"/>
          <p:cNvSpPr/>
          <p:nvPr/>
        </p:nvSpPr>
        <p:spPr>
          <a:xfrm>
            <a:off x="7004304" y="4315968"/>
            <a:ext cx="777240" cy="310896"/>
          </a:xfrm>
          <a:prstGeom prst="roundRect">
            <a:avLst>
              <a:gd name="adj" fmla="val 50000"/>
            </a:avLst>
          </a:prstGeom>
          <a:solidFill>
            <a:srgbClr val="CFEAE7"/>
          </a:solidFill>
          <a:ln/>
        </p:spPr>
      </p:sp>
      <p:sp>
        <p:nvSpPr>
          <p:cNvPr id="39" name="Text 31"/>
          <p:cNvSpPr txBox="1"/>
          <p:nvPr/>
        </p:nvSpPr>
        <p:spPr>
          <a:xfrm>
            <a:off x="7004304" y="4315968"/>
            <a:ext cx="777240" cy="310896"/>
          </a:xfrm>
          <a:prstGeom prst="rect">
            <a:avLst/>
          </a:prstGeom>
          <a:noFill/>
          <a:ln/>
        </p:spPr>
        <p:txBody>
          <a:bodyPr wrap="square" lIns="0" tIns="0" rIns="0" bIns="0" rtlCol="0" anchor="ctr"/>
          <a:lstStyle/>
          <a:p>
            <a:pPr algn="ctr" indent="0" marL="0">
              <a:buNone/>
            </a:pPr>
            <a:r>
              <a:rPr lang="en-US" sz="1000" b="1" dirty="0">
                <a:solidFill>
                  <a:srgbClr val="0F9488"/>
                </a:solidFill>
                <a:latin typeface="Calibri" pitchFamily="34" charset="0"/>
                <a:ea typeface="Calibri" pitchFamily="34" charset="-122"/>
                <a:cs typeface="Calibri" pitchFamily="34" charset="-120"/>
              </a:rPr>
              <a:t>M 7</a:t>
            </a:r>
            <a:endParaRPr lang="en-US" sz="1000" dirty="0"/>
          </a:p>
        </p:txBody>
      </p:sp>
      <p:sp>
        <p:nvSpPr>
          <p:cNvPr id="40" name="Shape 32"/>
          <p:cNvSpPr/>
          <p:nvPr/>
        </p:nvSpPr>
        <p:spPr>
          <a:xfrm>
            <a:off x="8065008" y="4023360"/>
            <a:ext cx="3575304" cy="1828800"/>
          </a:xfrm>
          <a:prstGeom prst="roundRect">
            <a:avLst>
              <a:gd name="adj" fmla="val 5000"/>
            </a:avLst>
          </a:prstGeom>
          <a:solidFill>
            <a:srgbClr val="FFF4DC"/>
          </a:solidFill>
          <a:ln/>
        </p:spPr>
      </p:sp>
      <p:sp>
        <p:nvSpPr>
          <p:cNvPr id="41" name="Text 33"/>
          <p:cNvSpPr txBox="1"/>
          <p:nvPr/>
        </p:nvSpPr>
        <p:spPr>
          <a:xfrm>
            <a:off x="8339328" y="4160520"/>
            <a:ext cx="3108960" cy="155448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The golden rule: </a:t>
            </a:r>
            <a:pPr indent="0" marL="0">
              <a:buNone/>
            </a:pPr>
            <a:r>
              <a:rPr lang="en-US" sz="1500" dirty="0">
                <a:solidFill>
                  <a:srgbClr val="12213A"/>
                </a:solidFill>
                <a:latin typeface="Calibri" pitchFamily="34" charset="0"/>
                <a:ea typeface="Calibri" pitchFamily="34" charset="-122"/>
                <a:cs typeface="Calibri" pitchFamily="34" charset="-120"/>
              </a:rPr>
              <a:t>look before you touch. Open DevTools on every challenge and read what the app already handed you.</a:t>
            </a:r>
            <a:endParaRPr lang="en-US" sz="1500" dirty="0"/>
          </a:p>
        </p:txBody>
      </p:sp>
      <p:sp>
        <p:nvSpPr>
          <p:cNvPr id="42" name="Text 3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11 / 61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First, find where the flag hides</a:t>
            </a:r>
            <a:endParaRPr lang="en-US" sz="3200" dirty="0"/>
          </a:p>
        </p:txBody>
      </p:sp>
      <p:sp>
        <p:nvSpPr>
          <p:cNvPr id="4" name="Shape 1"/>
          <p:cNvSpPr/>
          <p:nvPr/>
        </p:nvSpPr>
        <p:spPr>
          <a:xfrm>
            <a:off x="548640" y="1463040"/>
            <a:ext cx="5449824" cy="1371600"/>
          </a:xfrm>
          <a:prstGeom prst="roundRect">
            <a:avLst>
              <a:gd name="adj" fmla="val 6667"/>
            </a:avLst>
          </a:prstGeom>
          <a:solidFill>
            <a:srgbClr val="F1F5FB"/>
          </a:solidFill>
          <a:ln/>
        </p:spPr>
      </p:sp>
      <p:sp>
        <p:nvSpPr>
          <p:cNvPr id="5" name="Shape 2"/>
          <p:cNvSpPr/>
          <p:nvPr/>
        </p:nvSpPr>
        <p:spPr>
          <a:xfrm>
            <a:off x="548640" y="1463040"/>
            <a:ext cx="109728" cy="1371600"/>
          </a:xfrm>
          <a:prstGeom prst="rect">
            <a:avLst/>
          </a:prstGeom>
          <a:solidFill>
            <a:srgbClr val="17875A"/>
          </a:solidFill>
          <a:ln/>
        </p:spPr>
      </p:sp>
      <p:sp>
        <p:nvSpPr>
          <p:cNvPr id="6" name="Text 3"/>
          <p:cNvSpPr txBox="1"/>
          <p:nvPr/>
        </p:nvSpPr>
        <p:spPr>
          <a:xfrm>
            <a:off x="868680" y="1572768"/>
            <a:ext cx="2651760" cy="411480"/>
          </a:xfrm>
          <a:prstGeom prst="rect">
            <a:avLst/>
          </a:prstGeom>
          <a:noFill/>
          <a:ln/>
        </p:spPr>
        <p:txBody>
          <a:bodyPr wrap="square" lIns="0" tIns="0" rIns="0" bIns="0" rtlCol="0" anchor="t"/>
          <a:lstStyle/>
          <a:p>
            <a:pPr indent="0" marL="0">
              <a:buNone/>
            </a:pPr>
            <a:r>
              <a:rPr lang="en-US" sz="1800" b="1" dirty="0">
                <a:solidFill>
                  <a:srgbClr val="17875A"/>
                </a:solidFill>
                <a:latin typeface="Arial" pitchFamily="34" charset="0"/>
                <a:ea typeface="Arial" pitchFamily="34" charset="-122"/>
                <a:cs typeface="Arial" pitchFamily="34" charset="-120"/>
              </a:rPr>
              <a:t>In the source</a:t>
            </a:r>
            <a:endParaRPr lang="en-US" sz="1800" dirty="0"/>
          </a:p>
        </p:txBody>
      </p:sp>
      <p:sp>
        <p:nvSpPr>
          <p:cNvPr id="7" name="Shape 4"/>
          <p:cNvSpPr/>
          <p:nvPr/>
        </p:nvSpPr>
        <p:spPr>
          <a:xfrm>
            <a:off x="3520440" y="1600200"/>
            <a:ext cx="2286000" cy="384048"/>
          </a:xfrm>
          <a:prstGeom prst="roundRect">
            <a:avLst>
              <a:gd name="adj" fmla="val 14286"/>
            </a:avLst>
          </a:prstGeom>
          <a:solidFill>
            <a:srgbClr val="0E1726"/>
          </a:solidFill>
          <a:ln/>
        </p:spPr>
      </p:sp>
      <p:sp>
        <p:nvSpPr>
          <p:cNvPr id="8" name="Text 5"/>
          <p:cNvSpPr txBox="1"/>
          <p:nvPr/>
        </p:nvSpPr>
        <p:spPr>
          <a:xfrm>
            <a:off x="3520440" y="1600200"/>
            <a:ext cx="2286000" cy="384048"/>
          </a:xfrm>
          <a:prstGeom prst="rect">
            <a:avLst/>
          </a:prstGeom>
          <a:noFill/>
          <a:ln/>
        </p:spPr>
        <p:txBody>
          <a:bodyPr wrap="square" lIns="0" tIns="0" rIns="0" bIns="0" rtlCol="0" anchor="ctr">
            <a:normAutofit/>
          </a:bodyPr>
          <a:lstStyle/>
          <a:p>
            <a:pPr algn="ctr" indent="0" marL="0">
              <a:buNone/>
            </a:pPr>
            <a:r>
              <a:rPr lang="en-US" sz="1100" b="1" dirty="0">
                <a:solidFill>
                  <a:srgbClr val="46D39A"/>
                </a:solidFill>
                <a:latin typeface="Courier New" pitchFamily="34" charset="0"/>
                <a:ea typeface="Courier New" pitchFamily="34" charset="-122"/>
                <a:cs typeface="Courier New" pitchFamily="34" charset="-120"/>
              </a:rPr>
              <a:t>View Source / Inspect</a:t>
            </a:r>
            <a:endParaRPr lang="en-US" sz="1100" dirty="0"/>
          </a:p>
        </p:txBody>
      </p:sp>
      <p:sp>
        <p:nvSpPr>
          <p:cNvPr id="9" name="Text 6"/>
          <p:cNvSpPr txBox="1"/>
          <p:nvPr/>
        </p:nvSpPr>
        <p:spPr>
          <a:xfrm>
            <a:off x="868680" y="205740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&lt;!-- CYBA{...} --&gt;</a:t>
            </a:r>
            <a:endParaRPr lang="en-US" sz="1300" dirty="0"/>
          </a:p>
        </p:txBody>
      </p:sp>
      <p:sp>
        <p:nvSpPr>
          <p:cNvPr id="10" name="Text 7"/>
          <p:cNvSpPr txBox="1"/>
          <p:nvPr/>
        </p:nvSpPr>
        <p:spPr>
          <a:xfrm>
            <a:off x="868680" y="239572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Comment or hidden field</a:t>
            </a:r>
            <a:endParaRPr lang="en-US" sz="1350" dirty="0"/>
          </a:p>
        </p:txBody>
      </p:sp>
      <p:sp>
        <p:nvSpPr>
          <p:cNvPr id="11" name="Shape 8"/>
          <p:cNvSpPr/>
          <p:nvPr/>
        </p:nvSpPr>
        <p:spPr>
          <a:xfrm>
            <a:off x="6190488" y="1463040"/>
            <a:ext cx="5449824" cy="1371600"/>
          </a:xfrm>
          <a:prstGeom prst="roundRect">
            <a:avLst>
              <a:gd name="adj" fmla="val 6667"/>
            </a:avLst>
          </a:prstGeom>
          <a:solidFill>
            <a:srgbClr val="F1F5FB"/>
          </a:solidFill>
          <a:ln/>
        </p:spPr>
      </p:sp>
      <p:sp>
        <p:nvSpPr>
          <p:cNvPr id="12" name="Shape 9"/>
          <p:cNvSpPr/>
          <p:nvPr/>
        </p:nvSpPr>
        <p:spPr>
          <a:xfrm>
            <a:off x="6190488" y="1463040"/>
            <a:ext cx="109728" cy="1371600"/>
          </a:xfrm>
          <a:prstGeom prst="rect">
            <a:avLst/>
          </a:prstGeom>
          <a:solidFill>
            <a:srgbClr val="2A9FD6"/>
          </a:solidFill>
          <a:ln/>
        </p:spPr>
      </p:sp>
      <p:sp>
        <p:nvSpPr>
          <p:cNvPr id="13" name="Text 10"/>
          <p:cNvSpPr txBox="1"/>
          <p:nvPr/>
        </p:nvSpPr>
        <p:spPr>
          <a:xfrm>
            <a:off x="6510528" y="1572768"/>
            <a:ext cx="2651760" cy="411480"/>
          </a:xfrm>
          <a:prstGeom prst="rect">
            <a:avLst/>
          </a:prstGeom>
          <a:noFill/>
          <a:ln/>
        </p:spPr>
        <p:txBody>
          <a:bodyPr wrap="square" lIns="0" tIns="0" rIns="0" bIns="0" rtlCol="0" anchor="t"/>
          <a:lstStyle/>
          <a:p>
            <a:pPr indent="0" marL="0">
              <a:buNone/>
            </a:pPr>
            <a:r>
              <a:rPr lang="en-US" sz="1800" b="1" dirty="0">
                <a:solidFill>
                  <a:srgbClr val="2A9FD6"/>
                </a:solidFill>
                <a:latin typeface="Arial" pitchFamily="34" charset="0"/>
                <a:ea typeface="Arial" pitchFamily="34" charset="-122"/>
                <a:cs typeface="Arial" pitchFamily="34" charset="-120"/>
              </a:rPr>
              <a:t>In a cookie</a:t>
            </a:r>
            <a:endParaRPr lang="en-US" sz="1800" dirty="0"/>
          </a:p>
        </p:txBody>
      </p:sp>
      <p:sp>
        <p:nvSpPr>
          <p:cNvPr id="14" name="Shape 11"/>
          <p:cNvSpPr/>
          <p:nvPr/>
        </p:nvSpPr>
        <p:spPr>
          <a:xfrm>
            <a:off x="9162288" y="1600200"/>
            <a:ext cx="2286000" cy="384048"/>
          </a:xfrm>
          <a:prstGeom prst="roundRect">
            <a:avLst>
              <a:gd name="adj" fmla="val 14286"/>
            </a:avLst>
          </a:prstGeom>
          <a:solidFill>
            <a:srgbClr val="0E1726"/>
          </a:solidFill>
          <a:ln/>
        </p:spPr>
      </p:sp>
      <p:sp>
        <p:nvSpPr>
          <p:cNvPr id="15" name="Text 12"/>
          <p:cNvSpPr txBox="1"/>
          <p:nvPr/>
        </p:nvSpPr>
        <p:spPr>
          <a:xfrm>
            <a:off x="9162288" y="1600200"/>
            <a:ext cx="2286000" cy="384048"/>
          </a:xfrm>
          <a:prstGeom prst="rect">
            <a:avLst/>
          </a:prstGeom>
          <a:noFill/>
          <a:ln/>
        </p:spPr>
        <p:txBody>
          <a:bodyPr wrap="square" lIns="0" tIns="0" rIns="0" bIns="0" rtlCol="0" anchor="ctr">
            <a:normAutofit/>
          </a:bodyPr>
          <a:lstStyle/>
          <a:p>
            <a:pPr algn="ctr" indent="0" marL="0">
              <a:buNone/>
            </a:pPr>
            <a:r>
              <a:rPr lang="en-US" sz="1100" b="1" dirty="0">
                <a:solidFill>
                  <a:srgbClr val="46D39A"/>
                </a:solidFill>
                <a:latin typeface="Courier New" pitchFamily="34" charset="0"/>
                <a:ea typeface="Courier New" pitchFamily="34" charset="-122"/>
                <a:cs typeface="Courier New" pitchFamily="34" charset="-120"/>
              </a:rPr>
              <a:t>Application → Cookies</a:t>
            </a:r>
            <a:endParaRPr lang="en-US" sz="1100" dirty="0"/>
          </a:p>
        </p:txBody>
      </p:sp>
      <p:sp>
        <p:nvSpPr>
          <p:cNvPr id="16" name="Text 13"/>
          <p:cNvSpPr txBox="1"/>
          <p:nvPr/>
        </p:nvSpPr>
        <p:spPr>
          <a:xfrm>
            <a:off x="6510528" y="205740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flag=CYBA{...}</a:t>
            </a:r>
            <a:endParaRPr lang="en-US" sz="1300" dirty="0"/>
          </a:p>
        </p:txBody>
      </p:sp>
      <p:sp>
        <p:nvSpPr>
          <p:cNvPr id="17" name="Text 14"/>
          <p:cNvSpPr txBox="1"/>
          <p:nvPr/>
        </p:nvSpPr>
        <p:spPr>
          <a:xfrm>
            <a:off x="6510528" y="239572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A value saved in your browser</a:t>
            </a:r>
            <a:endParaRPr lang="en-US" sz="1350" dirty="0"/>
          </a:p>
        </p:txBody>
      </p:sp>
      <p:sp>
        <p:nvSpPr>
          <p:cNvPr id="18" name="Shape 15"/>
          <p:cNvSpPr/>
          <p:nvPr/>
        </p:nvSpPr>
        <p:spPr>
          <a:xfrm>
            <a:off x="548640" y="2971800"/>
            <a:ext cx="5449824" cy="1371600"/>
          </a:xfrm>
          <a:prstGeom prst="roundRect">
            <a:avLst>
              <a:gd name="adj" fmla="val 6667"/>
            </a:avLst>
          </a:prstGeom>
          <a:solidFill>
            <a:srgbClr val="F1F5FB"/>
          </a:solidFill>
          <a:ln/>
        </p:spPr>
      </p:sp>
      <p:sp>
        <p:nvSpPr>
          <p:cNvPr id="19" name="Shape 16"/>
          <p:cNvSpPr/>
          <p:nvPr/>
        </p:nvSpPr>
        <p:spPr>
          <a:xfrm>
            <a:off x="548640" y="2971800"/>
            <a:ext cx="109728" cy="1371600"/>
          </a:xfrm>
          <a:prstGeom prst="rect">
            <a:avLst/>
          </a:prstGeom>
          <a:solidFill>
            <a:srgbClr val="2459D8"/>
          </a:solidFill>
          <a:ln/>
        </p:spPr>
      </p:sp>
      <p:sp>
        <p:nvSpPr>
          <p:cNvPr id="20" name="Text 17"/>
          <p:cNvSpPr txBox="1"/>
          <p:nvPr/>
        </p:nvSpPr>
        <p:spPr>
          <a:xfrm>
            <a:off x="868680" y="3081528"/>
            <a:ext cx="2651760" cy="411480"/>
          </a:xfrm>
          <a:prstGeom prst="rect">
            <a:avLst/>
          </a:prstGeom>
          <a:noFill/>
          <a:ln/>
        </p:spPr>
        <p:txBody>
          <a:bodyPr wrap="square" lIns="0" tIns="0" rIns="0" bIns="0" rtlCol="0" anchor="t"/>
          <a:lstStyle/>
          <a:p>
            <a:pPr indent="0" marL="0">
              <a:buNone/>
            </a:pPr>
            <a:r>
              <a:rPr lang="en-US" sz="1800" b="1" dirty="0">
                <a:solidFill>
                  <a:srgbClr val="2459D8"/>
                </a:solidFill>
                <a:latin typeface="Arial" pitchFamily="34" charset="0"/>
                <a:ea typeface="Arial" pitchFamily="34" charset="-122"/>
                <a:cs typeface="Arial" pitchFamily="34" charset="-120"/>
              </a:rPr>
              <a:t>In the URL</a:t>
            </a:r>
            <a:endParaRPr lang="en-US" sz="1800" dirty="0"/>
          </a:p>
        </p:txBody>
      </p:sp>
      <p:sp>
        <p:nvSpPr>
          <p:cNvPr id="21" name="Shape 18"/>
          <p:cNvSpPr/>
          <p:nvPr/>
        </p:nvSpPr>
        <p:spPr>
          <a:xfrm>
            <a:off x="3520440" y="3108960"/>
            <a:ext cx="2286000" cy="384048"/>
          </a:xfrm>
          <a:prstGeom prst="roundRect">
            <a:avLst>
              <a:gd name="adj" fmla="val 14286"/>
            </a:avLst>
          </a:prstGeom>
          <a:solidFill>
            <a:srgbClr val="0E1726"/>
          </a:solidFill>
          <a:ln/>
        </p:spPr>
      </p:sp>
      <p:sp>
        <p:nvSpPr>
          <p:cNvPr id="22" name="Text 19"/>
          <p:cNvSpPr txBox="1"/>
          <p:nvPr/>
        </p:nvSpPr>
        <p:spPr>
          <a:xfrm>
            <a:off x="3520440" y="3108960"/>
            <a:ext cx="2286000" cy="384048"/>
          </a:xfrm>
          <a:prstGeom prst="rect">
            <a:avLst/>
          </a:prstGeom>
          <a:noFill/>
          <a:ln/>
        </p:spPr>
        <p:txBody>
          <a:bodyPr wrap="square" lIns="0" tIns="0" rIns="0" bIns="0" rtlCol="0" anchor="ctr">
            <a:normAutofit/>
          </a:bodyPr>
          <a:lstStyle/>
          <a:p>
            <a:pPr algn="ctr" indent="0" marL="0">
              <a:buNone/>
            </a:pPr>
            <a:r>
              <a:rPr lang="en-US" sz="1100" b="1" dirty="0">
                <a:solidFill>
                  <a:srgbClr val="46D39A"/>
                </a:solidFill>
                <a:latin typeface="Courier New" pitchFamily="34" charset="0"/>
                <a:ea typeface="Courier New" pitchFamily="34" charset="-122"/>
                <a:cs typeface="Courier New" pitchFamily="34" charset="-120"/>
              </a:rPr>
              <a:t>edit the address bar</a:t>
            </a:r>
            <a:endParaRPr lang="en-US" sz="1100" dirty="0"/>
          </a:p>
        </p:txBody>
      </p:sp>
      <p:sp>
        <p:nvSpPr>
          <p:cNvPr id="23" name="Text 20"/>
          <p:cNvSpPr txBox="1"/>
          <p:nvPr/>
        </p:nvSpPr>
        <p:spPr>
          <a:xfrm>
            <a:off x="868680" y="356616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/?id=1  -&gt;  ?id=2</a:t>
            </a:r>
            <a:endParaRPr lang="en-US" sz="1300" dirty="0"/>
          </a:p>
        </p:txBody>
      </p:sp>
      <p:sp>
        <p:nvSpPr>
          <p:cNvPr id="24" name="Text 21"/>
          <p:cNvSpPr txBox="1"/>
          <p:nvPr/>
        </p:nvSpPr>
        <p:spPr>
          <a:xfrm>
            <a:off x="868680" y="390448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An id or name you can change</a:t>
            </a:r>
            <a:endParaRPr lang="en-US" sz="1350" dirty="0"/>
          </a:p>
        </p:txBody>
      </p:sp>
      <p:sp>
        <p:nvSpPr>
          <p:cNvPr id="25" name="Shape 22"/>
          <p:cNvSpPr/>
          <p:nvPr/>
        </p:nvSpPr>
        <p:spPr>
          <a:xfrm>
            <a:off x="6190488" y="2971800"/>
            <a:ext cx="5449824" cy="1371600"/>
          </a:xfrm>
          <a:prstGeom prst="roundRect">
            <a:avLst>
              <a:gd name="adj" fmla="val 6667"/>
            </a:avLst>
          </a:prstGeom>
          <a:solidFill>
            <a:srgbClr val="F1F5FB"/>
          </a:solidFill>
          <a:ln/>
        </p:spPr>
      </p:sp>
      <p:sp>
        <p:nvSpPr>
          <p:cNvPr id="26" name="Shape 23"/>
          <p:cNvSpPr/>
          <p:nvPr/>
        </p:nvSpPr>
        <p:spPr>
          <a:xfrm>
            <a:off x="6190488" y="2971800"/>
            <a:ext cx="109728" cy="1371600"/>
          </a:xfrm>
          <a:prstGeom prst="rect">
            <a:avLst/>
          </a:prstGeom>
          <a:solidFill>
            <a:srgbClr val="E8820C"/>
          </a:solidFill>
          <a:ln/>
        </p:spPr>
      </p:sp>
      <p:sp>
        <p:nvSpPr>
          <p:cNvPr id="27" name="Text 24"/>
          <p:cNvSpPr txBox="1"/>
          <p:nvPr/>
        </p:nvSpPr>
        <p:spPr>
          <a:xfrm>
            <a:off x="6510528" y="3081528"/>
            <a:ext cx="2651760" cy="411480"/>
          </a:xfrm>
          <a:prstGeom prst="rect">
            <a:avLst/>
          </a:prstGeom>
          <a:noFill/>
          <a:ln/>
        </p:spPr>
        <p:txBody>
          <a:bodyPr wrap="square" lIns="0" tIns="0" rIns="0" bIns="0" rtlCol="0" anchor="t"/>
          <a:lstStyle/>
          <a:p>
            <a:pPr indent="0" marL="0">
              <a:buNone/>
            </a:pPr>
            <a:r>
              <a:rPr lang="en-US" sz="1800" b="1" dirty="0">
                <a:solidFill>
                  <a:srgbClr val="E8820C"/>
                </a:solidFill>
                <a:latin typeface="Arial" pitchFamily="34" charset="0"/>
                <a:ea typeface="Arial" pitchFamily="34" charset="-122"/>
                <a:cs typeface="Arial" pitchFamily="34" charset="-120"/>
              </a:rPr>
              <a:t>In robots.txt</a:t>
            </a:r>
            <a:endParaRPr lang="en-US" sz="1800" dirty="0"/>
          </a:p>
        </p:txBody>
      </p:sp>
      <p:sp>
        <p:nvSpPr>
          <p:cNvPr id="28" name="Shape 25"/>
          <p:cNvSpPr/>
          <p:nvPr/>
        </p:nvSpPr>
        <p:spPr>
          <a:xfrm>
            <a:off x="9162288" y="3108960"/>
            <a:ext cx="2286000" cy="384048"/>
          </a:xfrm>
          <a:prstGeom prst="roundRect">
            <a:avLst>
              <a:gd name="adj" fmla="val 14286"/>
            </a:avLst>
          </a:prstGeom>
          <a:solidFill>
            <a:srgbClr val="0E1726"/>
          </a:solidFill>
          <a:ln/>
        </p:spPr>
      </p:sp>
      <p:sp>
        <p:nvSpPr>
          <p:cNvPr id="29" name="Text 26"/>
          <p:cNvSpPr txBox="1"/>
          <p:nvPr/>
        </p:nvSpPr>
        <p:spPr>
          <a:xfrm>
            <a:off x="9162288" y="3108960"/>
            <a:ext cx="2286000" cy="384048"/>
          </a:xfrm>
          <a:prstGeom prst="rect">
            <a:avLst/>
          </a:prstGeom>
          <a:noFill/>
          <a:ln/>
        </p:spPr>
        <p:txBody>
          <a:bodyPr wrap="square" lIns="0" tIns="0" rIns="0" bIns="0" rtlCol="0" anchor="ctr">
            <a:normAutofit/>
          </a:bodyPr>
          <a:lstStyle/>
          <a:p>
            <a:pPr algn="ctr" indent="0" marL="0">
              <a:buNone/>
            </a:pPr>
            <a:r>
              <a:rPr lang="en-US" sz="1100" b="1" dirty="0">
                <a:solidFill>
                  <a:srgbClr val="46D39A"/>
                </a:solidFill>
                <a:latin typeface="Courier New" pitchFamily="34" charset="0"/>
                <a:ea typeface="Courier New" pitchFamily="34" charset="-122"/>
                <a:cs typeface="Courier New" pitchFamily="34" charset="-120"/>
              </a:rPr>
              <a:t>visit the path</a:t>
            </a:r>
            <a:endParaRPr lang="en-US" sz="1100" dirty="0"/>
          </a:p>
        </p:txBody>
      </p:sp>
      <p:sp>
        <p:nvSpPr>
          <p:cNvPr id="30" name="Text 27"/>
          <p:cNvSpPr txBox="1"/>
          <p:nvPr/>
        </p:nvSpPr>
        <p:spPr>
          <a:xfrm>
            <a:off x="6510528" y="356616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Disallow: /admin-7f3/</a:t>
            </a:r>
            <a:endParaRPr lang="en-US" sz="1300" dirty="0"/>
          </a:p>
        </p:txBody>
      </p:sp>
      <p:sp>
        <p:nvSpPr>
          <p:cNvPr id="31" name="Text 28"/>
          <p:cNvSpPr txBox="1"/>
          <p:nvPr/>
        </p:nvSpPr>
        <p:spPr>
          <a:xfrm>
            <a:off x="6510528" y="390448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A path someone hid</a:t>
            </a:r>
            <a:endParaRPr lang="en-US" sz="1350" dirty="0"/>
          </a:p>
        </p:txBody>
      </p:sp>
      <p:sp>
        <p:nvSpPr>
          <p:cNvPr id="32" name="Shape 29"/>
          <p:cNvSpPr/>
          <p:nvPr/>
        </p:nvSpPr>
        <p:spPr>
          <a:xfrm>
            <a:off x="548640" y="4480560"/>
            <a:ext cx="5449824" cy="1371600"/>
          </a:xfrm>
          <a:prstGeom prst="roundRect">
            <a:avLst>
              <a:gd name="adj" fmla="val 6667"/>
            </a:avLst>
          </a:prstGeom>
          <a:solidFill>
            <a:srgbClr val="F1F5FB"/>
          </a:solidFill>
          <a:ln/>
        </p:spPr>
      </p:sp>
      <p:sp>
        <p:nvSpPr>
          <p:cNvPr id="33" name="Shape 30"/>
          <p:cNvSpPr/>
          <p:nvPr/>
        </p:nvSpPr>
        <p:spPr>
          <a:xfrm>
            <a:off x="548640" y="4480560"/>
            <a:ext cx="109728" cy="1371600"/>
          </a:xfrm>
          <a:prstGeom prst="rect">
            <a:avLst/>
          </a:prstGeom>
          <a:solidFill>
            <a:srgbClr val="7448D4"/>
          </a:solidFill>
          <a:ln/>
        </p:spPr>
      </p:sp>
      <p:sp>
        <p:nvSpPr>
          <p:cNvPr id="34" name="Text 31"/>
          <p:cNvSpPr txBox="1"/>
          <p:nvPr/>
        </p:nvSpPr>
        <p:spPr>
          <a:xfrm>
            <a:off x="868680" y="4590288"/>
            <a:ext cx="2651760" cy="411480"/>
          </a:xfrm>
          <a:prstGeom prst="rect">
            <a:avLst/>
          </a:prstGeom>
          <a:noFill/>
          <a:ln/>
        </p:spPr>
        <p:txBody>
          <a:bodyPr wrap="square" lIns="0" tIns="0" rIns="0" bIns="0" rtlCol="0" anchor="t"/>
          <a:lstStyle/>
          <a:p>
            <a:pPr indent="0" marL="0">
              <a:buNone/>
            </a:pPr>
            <a:r>
              <a:rPr lang="en-US" sz="1800" b="1" dirty="0">
                <a:solidFill>
                  <a:srgbClr val="7448D4"/>
                </a:solidFill>
                <a:latin typeface="Arial" pitchFamily="34" charset="0"/>
                <a:ea typeface="Arial" pitchFamily="34" charset="-122"/>
                <a:cs typeface="Arial" pitchFamily="34" charset="-120"/>
              </a:rPr>
              <a:t>In the JavaScript</a:t>
            </a:r>
            <a:endParaRPr lang="en-US" sz="1800" dirty="0"/>
          </a:p>
        </p:txBody>
      </p:sp>
      <p:sp>
        <p:nvSpPr>
          <p:cNvPr id="35" name="Shape 32"/>
          <p:cNvSpPr/>
          <p:nvPr/>
        </p:nvSpPr>
        <p:spPr>
          <a:xfrm>
            <a:off x="3520440" y="4617720"/>
            <a:ext cx="2286000" cy="384048"/>
          </a:xfrm>
          <a:prstGeom prst="roundRect">
            <a:avLst>
              <a:gd name="adj" fmla="val 14286"/>
            </a:avLst>
          </a:prstGeom>
          <a:solidFill>
            <a:srgbClr val="0E1726"/>
          </a:solidFill>
          <a:ln/>
        </p:spPr>
      </p:sp>
      <p:sp>
        <p:nvSpPr>
          <p:cNvPr id="36" name="Text 33"/>
          <p:cNvSpPr txBox="1"/>
          <p:nvPr/>
        </p:nvSpPr>
        <p:spPr>
          <a:xfrm>
            <a:off x="3520440" y="4617720"/>
            <a:ext cx="2286000" cy="384048"/>
          </a:xfrm>
          <a:prstGeom prst="rect">
            <a:avLst/>
          </a:prstGeom>
          <a:noFill/>
          <a:ln/>
        </p:spPr>
        <p:txBody>
          <a:bodyPr wrap="square" lIns="0" tIns="0" rIns="0" bIns="0" rtlCol="0" anchor="ctr">
            <a:normAutofit/>
          </a:bodyPr>
          <a:lstStyle/>
          <a:p>
            <a:pPr algn="ctr" indent="0" marL="0">
              <a:buNone/>
            </a:pPr>
            <a:r>
              <a:rPr lang="en-US" sz="1100" b="1" dirty="0">
                <a:solidFill>
                  <a:srgbClr val="46D39A"/>
                </a:solidFill>
                <a:latin typeface="Courier New" pitchFamily="34" charset="0"/>
                <a:ea typeface="Courier New" pitchFamily="34" charset="-122"/>
                <a:cs typeface="Courier New" pitchFamily="34" charset="-120"/>
              </a:rPr>
              <a:t>Console / Sources</a:t>
            </a:r>
            <a:endParaRPr lang="en-US" sz="1100" dirty="0"/>
          </a:p>
        </p:txBody>
      </p:sp>
      <p:sp>
        <p:nvSpPr>
          <p:cNvPr id="37" name="Text 34"/>
          <p:cNvSpPr txBox="1"/>
          <p:nvPr/>
        </p:nvSpPr>
        <p:spPr>
          <a:xfrm>
            <a:off x="868680" y="507492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if (pw === '...')</a:t>
            </a:r>
            <a:endParaRPr lang="en-US" sz="1300" dirty="0"/>
          </a:p>
        </p:txBody>
      </p:sp>
      <p:sp>
        <p:nvSpPr>
          <p:cNvPr id="38" name="Text 35"/>
          <p:cNvSpPr txBox="1"/>
          <p:nvPr/>
        </p:nvSpPr>
        <p:spPr>
          <a:xfrm>
            <a:off x="868680" y="541324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A function or password in code</a:t>
            </a:r>
            <a:endParaRPr lang="en-US" sz="1350" dirty="0"/>
          </a:p>
        </p:txBody>
      </p:sp>
      <p:sp>
        <p:nvSpPr>
          <p:cNvPr id="39" name="Shape 36"/>
          <p:cNvSpPr/>
          <p:nvPr/>
        </p:nvSpPr>
        <p:spPr>
          <a:xfrm>
            <a:off x="6190488" y="4480560"/>
            <a:ext cx="5449824" cy="1371600"/>
          </a:xfrm>
          <a:prstGeom prst="roundRect">
            <a:avLst>
              <a:gd name="adj" fmla="val 6667"/>
            </a:avLst>
          </a:prstGeom>
          <a:solidFill>
            <a:srgbClr val="F1F5FB"/>
          </a:solidFill>
          <a:ln/>
        </p:spPr>
      </p:sp>
      <p:sp>
        <p:nvSpPr>
          <p:cNvPr id="40" name="Shape 37"/>
          <p:cNvSpPr/>
          <p:nvPr/>
        </p:nvSpPr>
        <p:spPr>
          <a:xfrm>
            <a:off x="6190488" y="4480560"/>
            <a:ext cx="109728" cy="1371600"/>
          </a:xfrm>
          <a:prstGeom prst="rect">
            <a:avLst/>
          </a:prstGeom>
          <a:solidFill>
            <a:srgbClr val="D1416B"/>
          </a:solidFill>
          <a:ln/>
        </p:spPr>
      </p:sp>
      <p:sp>
        <p:nvSpPr>
          <p:cNvPr id="41" name="Text 38"/>
          <p:cNvSpPr txBox="1"/>
          <p:nvPr/>
        </p:nvSpPr>
        <p:spPr>
          <a:xfrm>
            <a:off x="6510528" y="4590288"/>
            <a:ext cx="2651760" cy="411480"/>
          </a:xfrm>
          <a:prstGeom prst="rect">
            <a:avLst/>
          </a:prstGeom>
          <a:noFill/>
          <a:ln/>
        </p:spPr>
        <p:txBody>
          <a:bodyPr wrap="square" lIns="0" tIns="0" rIns="0" bIns="0" rtlCol="0" anchor="t"/>
          <a:lstStyle/>
          <a:p>
            <a:pPr indent="0" marL="0">
              <a:buNone/>
            </a:pPr>
            <a:r>
              <a:rPr lang="en-US" sz="1800" b="1" dirty="0">
                <a:solidFill>
                  <a:srgbClr val="D1416B"/>
                </a:solidFill>
                <a:latin typeface="Arial" pitchFamily="34" charset="0"/>
                <a:ea typeface="Arial" pitchFamily="34" charset="-122"/>
                <a:cs typeface="Arial" pitchFamily="34" charset="-120"/>
              </a:rPr>
              <a:t>In a token</a:t>
            </a:r>
            <a:endParaRPr lang="en-US" sz="1800" dirty="0"/>
          </a:p>
        </p:txBody>
      </p:sp>
      <p:sp>
        <p:nvSpPr>
          <p:cNvPr id="42" name="Shape 39"/>
          <p:cNvSpPr/>
          <p:nvPr/>
        </p:nvSpPr>
        <p:spPr>
          <a:xfrm>
            <a:off x="9162288" y="4617720"/>
            <a:ext cx="2286000" cy="384048"/>
          </a:xfrm>
          <a:prstGeom prst="roundRect">
            <a:avLst>
              <a:gd name="adj" fmla="val 14286"/>
            </a:avLst>
          </a:prstGeom>
          <a:solidFill>
            <a:srgbClr val="0E1726"/>
          </a:solidFill>
          <a:ln/>
        </p:spPr>
      </p:sp>
      <p:sp>
        <p:nvSpPr>
          <p:cNvPr id="43" name="Text 40"/>
          <p:cNvSpPr txBox="1"/>
          <p:nvPr/>
        </p:nvSpPr>
        <p:spPr>
          <a:xfrm>
            <a:off x="9162288" y="4617720"/>
            <a:ext cx="2286000" cy="384048"/>
          </a:xfrm>
          <a:prstGeom prst="rect">
            <a:avLst/>
          </a:prstGeom>
          <a:noFill/>
          <a:ln/>
        </p:spPr>
        <p:txBody>
          <a:bodyPr wrap="square" lIns="0" tIns="0" rIns="0" bIns="0" rtlCol="0" anchor="ctr">
            <a:normAutofit/>
          </a:bodyPr>
          <a:lstStyle/>
          <a:p>
            <a:pPr algn="ctr" indent="0" marL="0">
              <a:buNone/>
            </a:pPr>
            <a:r>
              <a:rPr lang="en-US" sz="1100" b="1" dirty="0">
                <a:solidFill>
                  <a:srgbClr val="46D39A"/>
                </a:solidFill>
                <a:latin typeface="Courier New" pitchFamily="34" charset="0"/>
                <a:ea typeface="Courier New" pitchFamily="34" charset="-122"/>
                <a:cs typeface="Courier New" pitchFamily="34" charset="-120"/>
              </a:rPr>
              <a:t>base64 -d / atob()</a:t>
            </a:r>
            <a:endParaRPr lang="en-US" sz="1100" dirty="0"/>
          </a:p>
        </p:txBody>
      </p:sp>
      <p:sp>
        <p:nvSpPr>
          <p:cNvPr id="44" name="Text 41"/>
          <p:cNvSpPr txBox="1"/>
          <p:nvPr/>
        </p:nvSpPr>
        <p:spPr>
          <a:xfrm>
            <a:off x="6510528" y="5074920"/>
            <a:ext cx="4937760" cy="320040"/>
          </a:xfrm>
          <a:prstGeom prst="rect">
            <a:avLst/>
          </a:prstGeom>
          <a:noFill/>
          <a:ln/>
        </p:spPr>
        <p:txBody>
          <a:bodyPr wrap="square" lIns="0" tIns="0" rIns="0" bIns="0" rtlCol="0" anchor="t"/>
          <a:lstStyle/>
          <a:p>
            <a:pPr indent="0" marL="0">
              <a:buNone/>
            </a:pPr>
            <a:r>
              <a:rPr lang="en-US" sz="1300" dirty="0">
                <a:solidFill>
                  <a:srgbClr val="12213A"/>
                </a:solidFill>
                <a:latin typeface="Courier New" pitchFamily="34" charset="0"/>
                <a:ea typeface="Courier New" pitchFamily="34" charset="-122"/>
                <a:cs typeface="Courier New" pitchFamily="34" charset="-120"/>
              </a:rPr>
              <a:t>eyJ1c2VyIjoi...</a:t>
            </a:r>
            <a:endParaRPr lang="en-US" sz="1300" dirty="0"/>
          </a:p>
        </p:txBody>
      </p:sp>
      <p:sp>
        <p:nvSpPr>
          <p:cNvPr id="45" name="Text 42"/>
          <p:cNvSpPr txBox="1"/>
          <p:nvPr/>
        </p:nvSpPr>
        <p:spPr>
          <a:xfrm>
            <a:off x="6510528" y="5413248"/>
            <a:ext cx="4937760" cy="320040"/>
          </a:xfrm>
          <a:prstGeom prst="rect">
            <a:avLst/>
          </a:prstGeom>
          <a:noFill/>
          <a:ln/>
        </p:spPr>
        <p:txBody>
          <a:bodyPr wrap="square" lIns="0" tIns="0" rIns="0" bIns="0" rtlCol="0" anchor="t"/>
          <a:lstStyle/>
          <a:p>
            <a:pPr indent="0" marL="0">
              <a:buNone/>
            </a:pPr>
            <a:r>
              <a:rPr lang="en-US" sz="1350" dirty="0">
                <a:solidFill>
                  <a:srgbClr val="56657E"/>
                </a:solidFill>
                <a:latin typeface="Calibri" pitchFamily="34" charset="0"/>
                <a:ea typeface="Calibri" pitchFamily="34" charset="-122"/>
                <a:cs typeface="Calibri" pitchFamily="34" charset="-120"/>
              </a:rPr>
              <a:t>base64 / JWT, only looks random</a:t>
            </a:r>
            <a:endParaRPr lang="en-US" sz="1350" dirty="0"/>
          </a:p>
        </p:txBody>
      </p:sp>
      <p:sp>
        <p:nvSpPr>
          <p:cNvPr id="46" name="Text 4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12 / 61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2459D8"/>
                </a:solidFill>
                <a:latin typeface="Arial" pitchFamily="34" charset="0"/>
                <a:ea typeface="Arial" pitchFamily="34" charset="-122"/>
                <a:cs typeface="Arial" pitchFamily="34" charset="-120"/>
              </a:rPr>
              <a:t>2</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The browser toolkit</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F12   # your browser already has everything you need</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13 / 61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See everything: View Source &amp; Inspect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Ctrl+U</a:t>
            </a:r>
            <a:endParaRPr lang="en-US" sz="1300" dirty="0"/>
          </a:p>
        </p:txBody>
      </p:sp>
      <p:sp>
        <p:nvSpPr>
          <p:cNvPr id="8" name="Shape 5"/>
          <p:cNvSpPr/>
          <p:nvPr/>
        </p:nvSpPr>
        <p:spPr>
          <a:xfrm>
            <a:off x="548640" y="109728"/>
            <a:ext cx="1792224" cy="274320"/>
          </a:xfrm>
          <a:prstGeom prst="roundRect">
            <a:avLst>
              <a:gd name="adj" fmla="val 50000"/>
            </a:avLst>
          </a:prstGeom>
          <a:solidFill>
            <a:srgbClr val="17875A"/>
          </a:solidFill>
          <a:ln/>
        </p:spPr>
      </p:sp>
      <p:sp>
        <p:nvSpPr>
          <p:cNvPr id="9" name="Text 6"/>
          <p:cNvSpPr txBox="1"/>
          <p:nvPr/>
        </p:nvSpPr>
        <p:spPr>
          <a:xfrm>
            <a:off x="548640" y="109728"/>
            <a:ext cx="179222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1 &amp; 2</a:t>
            </a:r>
            <a:endParaRPr lang="en-US" sz="1100" dirty="0"/>
          </a:p>
        </p:txBody>
      </p:sp>
      <p:sp>
        <p:nvSpPr>
          <p:cNvPr id="10" name="Shape 7"/>
          <p:cNvSpPr/>
          <p:nvPr/>
        </p:nvSpPr>
        <p:spPr>
          <a:xfrm>
            <a:off x="548640" y="1600200"/>
            <a:ext cx="1828800" cy="457200"/>
          </a:xfrm>
          <a:prstGeom prst="roundRect">
            <a:avLst>
              <a:gd name="adj" fmla="val 16000"/>
            </a:avLst>
          </a:prstGeom>
          <a:solidFill>
            <a:srgbClr val="0E1726"/>
          </a:solidFill>
          <a:ln/>
        </p:spPr>
      </p:sp>
      <p:sp>
        <p:nvSpPr>
          <p:cNvPr id="11" name="Text 8"/>
          <p:cNvSpPr txBox="1"/>
          <p:nvPr/>
        </p:nvSpPr>
        <p:spPr>
          <a:xfrm>
            <a:off x="548640" y="1600200"/>
            <a:ext cx="182880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Ctrl+U</a:t>
            </a:r>
            <a:endParaRPr lang="en-US" sz="1400" dirty="0"/>
          </a:p>
        </p:txBody>
      </p:sp>
      <p:sp>
        <p:nvSpPr>
          <p:cNvPr id="12" name="Text 9"/>
          <p:cNvSpPr txBox="1"/>
          <p:nvPr/>
        </p:nvSpPr>
        <p:spPr>
          <a:xfrm>
            <a:off x="2606040" y="1600200"/>
            <a:ext cx="361188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view the raw HTML the server sent</a:t>
            </a:r>
            <a:endParaRPr lang="en-US" sz="1700" dirty="0"/>
          </a:p>
        </p:txBody>
      </p:sp>
      <p:sp>
        <p:nvSpPr>
          <p:cNvPr id="13" name="Shape 10"/>
          <p:cNvSpPr/>
          <p:nvPr/>
        </p:nvSpPr>
        <p:spPr>
          <a:xfrm>
            <a:off x="548640" y="2194560"/>
            <a:ext cx="1828800" cy="457200"/>
          </a:xfrm>
          <a:prstGeom prst="roundRect">
            <a:avLst>
              <a:gd name="adj" fmla="val 16000"/>
            </a:avLst>
          </a:prstGeom>
          <a:solidFill>
            <a:srgbClr val="0E1726"/>
          </a:solidFill>
          <a:ln/>
        </p:spPr>
      </p:sp>
      <p:sp>
        <p:nvSpPr>
          <p:cNvPr id="14" name="Text 11"/>
          <p:cNvSpPr txBox="1"/>
          <p:nvPr/>
        </p:nvSpPr>
        <p:spPr>
          <a:xfrm>
            <a:off x="548640" y="2194560"/>
            <a:ext cx="182880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F12</a:t>
            </a:r>
            <a:endParaRPr lang="en-US" sz="1400" dirty="0"/>
          </a:p>
        </p:txBody>
      </p:sp>
      <p:sp>
        <p:nvSpPr>
          <p:cNvPr id="15" name="Text 12"/>
          <p:cNvSpPr txBox="1"/>
          <p:nvPr/>
        </p:nvSpPr>
        <p:spPr>
          <a:xfrm>
            <a:off x="2606040" y="2194560"/>
            <a:ext cx="361188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open DevTools on the Elements panel</a:t>
            </a:r>
            <a:endParaRPr lang="en-US" sz="1700" dirty="0"/>
          </a:p>
        </p:txBody>
      </p:sp>
      <p:sp>
        <p:nvSpPr>
          <p:cNvPr id="16" name="Shape 13"/>
          <p:cNvSpPr/>
          <p:nvPr/>
        </p:nvSpPr>
        <p:spPr>
          <a:xfrm>
            <a:off x="548640" y="2788920"/>
            <a:ext cx="2103120" cy="457200"/>
          </a:xfrm>
          <a:prstGeom prst="roundRect">
            <a:avLst>
              <a:gd name="adj" fmla="val 16000"/>
            </a:avLst>
          </a:prstGeom>
          <a:solidFill>
            <a:srgbClr val="0E1726"/>
          </a:solidFill>
          <a:ln/>
        </p:spPr>
      </p:sp>
      <p:sp>
        <p:nvSpPr>
          <p:cNvPr id="17" name="Text 14"/>
          <p:cNvSpPr txBox="1"/>
          <p:nvPr/>
        </p:nvSpPr>
        <p:spPr>
          <a:xfrm>
            <a:off x="548640" y="2788920"/>
            <a:ext cx="210312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right-click · Inspect</a:t>
            </a:r>
            <a:endParaRPr lang="en-US" sz="1400" dirty="0"/>
          </a:p>
        </p:txBody>
      </p:sp>
      <p:sp>
        <p:nvSpPr>
          <p:cNvPr id="18" name="Text 15"/>
          <p:cNvSpPr txBox="1"/>
          <p:nvPr/>
        </p:nvSpPr>
        <p:spPr>
          <a:xfrm>
            <a:off x="2880360" y="278892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jump to one element in the page</a:t>
            </a:r>
            <a:endParaRPr lang="en-US" sz="1700" dirty="0"/>
          </a:p>
        </p:txBody>
      </p:sp>
      <p:sp>
        <p:nvSpPr>
          <p:cNvPr id="19" name="Shape 16"/>
          <p:cNvSpPr/>
          <p:nvPr/>
        </p:nvSpPr>
        <p:spPr>
          <a:xfrm>
            <a:off x="548640" y="3566160"/>
            <a:ext cx="5669280" cy="2377440"/>
          </a:xfrm>
          <a:prstGeom prst="roundRect">
            <a:avLst>
              <a:gd name="adj" fmla="val 3846"/>
            </a:avLst>
          </a:prstGeom>
          <a:solidFill>
            <a:srgbClr val="FFF4DC"/>
          </a:solidFill>
          <a:ln/>
        </p:spPr>
      </p:sp>
      <p:sp>
        <p:nvSpPr>
          <p:cNvPr id="20" name="Text 17"/>
          <p:cNvSpPr txBox="1"/>
          <p:nvPr/>
        </p:nvSpPr>
        <p:spPr>
          <a:xfrm>
            <a:off x="822960" y="3703320"/>
            <a:ext cx="5120640" cy="210312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Source vs live page. </a:t>
            </a:r>
            <a:pPr indent="0" marL="0">
              <a:buNone/>
            </a:pPr>
            <a:r>
              <a:rPr lang="en-US" sz="1500" dirty="0">
                <a:solidFill>
                  <a:srgbClr val="12213A"/>
                </a:solidFill>
                <a:latin typeface="Calibri" pitchFamily="34" charset="0"/>
                <a:ea typeface="Calibri" pitchFamily="34" charset="-122"/>
                <a:cs typeface="Calibri" pitchFamily="34" charset="-120"/>
              </a:rPr>
              <a:t>View Source is the page as it arrived. Elements is the page as it is now - after JavaScript ran and after you've edited it. For hidden fields and comments, either one works.</a:t>
            </a:r>
            <a:endParaRPr lang="en-US" sz="1500" dirty="0"/>
          </a:p>
        </p:txBody>
      </p:sp>
      <p:sp>
        <p:nvSpPr>
          <p:cNvPr id="21" name="Shape 18"/>
          <p:cNvSpPr/>
          <p:nvPr/>
        </p:nvSpPr>
        <p:spPr>
          <a:xfrm>
            <a:off x="6309360" y="1463040"/>
            <a:ext cx="533095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2" name="Shape 19"/>
          <p:cNvSpPr/>
          <p:nvPr/>
        </p:nvSpPr>
        <p:spPr>
          <a:xfrm>
            <a:off x="6510528" y="1618488"/>
            <a:ext cx="118872" cy="118872"/>
          </a:xfrm>
          <a:prstGeom prst="ellipse">
            <a:avLst/>
          </a:prstGeom>
          <a:solidFill>
            <a:srgbClr val="E5534B"/>
          </a:solidFill>
          <a:ln/>
        </p:spPr>
      </p:sp>
      <p:sp>
        <p:nvSpPr>
          <p:cNvPr id="23" name="Shape 20"/>
          <p:cNvSpPr/>
          <p:nvPr/>
        </p:nvSpPr>
        <p:spPr>
          <a:xfrm>
            <a:off x="6711696" y="1618488"/>
            <a:ext cx="118872" cy="118872"/>
          </a:xfrm>
          <a:prstGeom prst="ellipse">
            <a:avLst/>
          </a:prstGeom>
          <a:solidFill>
            <a:srgbClr val="F5A623"/>
          </a:solidFill>
          <a:ln/>
        </p:spPr>
      </p:sp>
      <p:sp>
        <p:nvSpPr>
          <p:cNvPr id="24" name="Shape 21"/>
          <p:cNvSpPr/>
          <p:nvPr/>
        </p:nvSpPr>
        <p:spPr>
          <a:xfrm>
            <a:off x="6912864" y="1618488"/>
            <a:ext cx="118872" cy="118872"/>
          </a:xfrm>
          <a:prstGeom prst="ellipse">
            <a:avLst/>
          </a:prstGeom>
          <a:solidFill>
            <a:srgbClr val="46D39A"/>
          </a:solidFill>
          <a:ln/>
        </p:spPr>
      </p:sp>
      <p:sp>
        <p:nvSpPr>
          <p:cNvPr id="25" name="Text 22"/>
          <p:cNvSpPr txBox="1"/>
          <p:nvPr/>
        </p:nvSpPr>
        <p:spPr>
          <a:xfrm>
            <a:off x="7223760" y="1536192"/>
            <a:ext cx="35021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view-source:</a:t>
            </a:r>
            <a:endParaRPr lang="en-US" sz="1000" dirty="0"/>
          </a:p>
        </p:txBody>
      </p:sp>
      <p:sp>
        <p:nvSpPr>
          <p:cNvPr id="26" name="Text 23"/>
          <p:cNvSpPr txBox="1"/>
          <p:nvPr/>
        </p:nvSpPr>
        <p:spPr>
          <a:xfrm>
            <a:off x="6583680" y="1920240"/>
            <a:ext cx="4782312" cy="3886200"/>
          </a:xfrm>
          <a:prstGeom prst="rect">
            <a:avLst/>
          </a:prstGeom>
          <a:noFill/>
          <a:ln/>
        </p:spPr>
        <p:txBody>
          <a:bodyPr wrap="square" lIns="0" tIns="0" rIns="0" bIns="0" rtlCol="0" anchor="t"/>
          <a:lstStyle/>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Ctrl+U  (View Source)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&lt;body&gt;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&lt;h1&gt;Welcome&lt;/h1&gt;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&lt;!-- flag: CYBA{...} --&gt;</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 a comment: never shown on screen</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&lt;input type="hidden"</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value="CYBA{...}"&gt;</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 a field you can't see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&lt;/body&gt;</a:t>
            </a:r>
            <a:endParaRPr lang="en-US" sz="1400" dirty="0"/>
          </a:p>
        </p:txBody>
      </p:sp>
      <p:sp>
        <p:nvSpPr>
          <p:cNvPr id="27" name="Text 2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14 / 61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Edit the live page: Elements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F12 → double-click any text</a:t>
            </a:r>
            <a:endParaRPr lang="en-US" sz="1300" dirty="0"/>
          </a:p>
        </p:txBody>
      </p:sp>
      <p:sp>
        <p:nvSpPr>
          <p:cNvPr id="8" name="Shape 5"/>
          <p:cNvSpPr/>
          <p:nvPr/>
        </p:nvSpPr>
        <p:spPr>
          <a:xfrm>
            <a:off x="548640" y="109728"/>
            <a:ext cx="1357884" cy="274320"/>
          </a:xfrm>
          <a:prstGeom prst="roundRect">
            <a:avLst>
              <a:gd name="adj" fmla="val 50000"/>
            </a:avLst>
          </a:prstGeom>
          <a:solidFill>
            <a:srgbClr val="2A9FD6"/>
          </a:solidFill>
          <a:ln/>
        </p:spPr>
      </p:sp>
      <p:sp>
        <p:nvSpPr>
          <p:cNvPr id="9" name="Text 6"/>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2</a:t>
            </a:r>
            <a:endParaRPr lang="en-US" sz="1100" dirty="0"/>
          </a:p>
        </p:txBody>
      </p:sp>
      <p:sp>
        <p:nvSpPr>
          <p:cNvPr id="10" name="Shape 7"/>
          <p:cNvSpPr/>
          <p:nvPr/>
        </p:nvSpPr>
        <p:spPr>
          <a:xfrm>
            <a:off x="548640" y="1645920"/>
            <a:ext cx="457200" cy="457200"/>
          </a:xfrm>
          <a:prstGeom prst="ellipse">
            <a:avLst/>
          </a:prstGeom>
          <a:solidFill>
            <a:srgbClr val="7448D4"/>
          </a:solidFill>
          <a:ln/>
        </p:spPr>
      </p:sp>
      <p:sp>
        <p:nvSpPr>
          <p:cNvPr id="11" name="Text 8"/>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Find the element. </a:t>
            </a:r>
            <a:pPr indent="0" marL="0">
              <a:buNone/>
            </a:pPr>
            <a:r>
              <a:rPr lang="en-US" sz="1600" dirty="0">
                <a:solidFill>
                  <a:srgbClr val="12213A"/>
                </a:solidFill>
                <a:latin typeface="Calibri" pitchFamily="34" charset="0"/>
                <a:ea typeface="Calibri" pitchFamily="34" charset="-122"/>
                <a:cs typeface="Calibri" pitchFamily="34" charset="-120"/>
              </a:rPr>
              <a:t>Right-click → Inspect, or scroll the Elements tree.</a:t>
            </a:r>
            <a:endParaRPr lang="en-US" sz="1600" dirty="0"/>
          </a:p>
        </p:txBody>
      </p:sp>
      <p:sp>
        <p:nvSpPr>
          <p:cNvPr id="13" name="Shape 10"/>
          <p:cNvSpPr/>
          <p:nvPr/>
        </p:nvSpPr>
        <p:spPr>
          <a:xfrm>
            <a:off x="548640" y="2606040"/>
            <a:ext cx="457200" cy="457200"/>
          </a:xfrm>
          <a:prstGeom prst="ellipse">
            <a:avLst/>
          </a:prstGeom>
          <a:solidFill>
            <a:srgbClr val="7448D4"/>
          </a:solidFill>
          <a:ln/>
        </p:spPr>
      </p:sp>
      <p:sp>
        <p:nvSpPr>
          <p:cNvPr id="14" name="Text 11"/>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7860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See the hidden ones. </a:t>
            </a:r>
            <a:pPr indent="0" marL="0">
              <a:buNone/>
            </a:pPr>
            <a:r>
              <a:rPr lang="en-US" sz="1600" dirty="0">
                <a:solidFill>
                  <a:srgbClr val="12213A"/>
                </a:solidFill>
                <a:latin typeface="Calibri" pitchFamily="34" charset="0"/>
                <a:ea typeface="Calibri" pitchFamily="34" charset="-122"/>
                <a:cs typeface="Calibri" pitchFamily="34" charset="-120"/>
              </a:rPr>
              <a:t>display:none and type=hidden are still right there.</a:t>
            </a:r>
            <a:endParaRPr lang="en-US" sz="1600" dirty="0"/>
          </a:p>
        </p:txBody>
      </p:sp>
      <p:sp>
        <p:nvSpPr>
          <p:cNvPr id="16" name="Shape 13"/>
          <p:cNvSpPr/>
          <p:nvPr/>
        </p:nvSpPr>
        <p:spPr>
          <a:xfrm>
            <a:off x="548640" y="3566160"/>
            <a:ext cx="457200" cy="457200"/>
          </a:xfrm>
          <a:prstGeom prst="ellipse">
            <a:avLst/>
          </a:prstGeom>
          <a:solidFill>
            <a:srgbClr val="7448D4"/>
          </a:solidFill>
          <a:ln/>
        </p:spPr>
      </p:sp>
      <p:sp>
        <p:nvSpPr>
          <p:cNvPr id="17" name="Text 1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53872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Flip the switch. </a:t>
            </a:r>
            <a:pPr indent="0" marL="0">
              <a:buNone/>
            </a:pPr>
            <a:r>
              <a:rPr lang="en-US" sz="1600" dirty="0">
                <a:solidFill>
                  <a:srgbClr val="12213A"/>
                </a:solidFill>
                <a:latin typeface="Calibri" pitchFamily="34" charset="0"/>
                <a:ea typeface="Calibri" pitchFamily="34" charset="-122"/>
                <a:cs typeface="Calibri" pitchFamily="34" charset="-120"/>
              </a:rPr>
              <a:t>Untick a style, or delete the node that hides it.</a:t>
            </a:r>
            <a:endParaRPr lang="en-US" sz="1600" dirty="0"/>
          </a:p>
        </p:txBody>
      </p:sp>
      <p:sp>
        <p:nvSpPr>
          <p:cNvPr id="19" name="Shape 16"/>
          <p:cNvSpPr/>
          <p:nvPr/>
        </p:nvSpPr>
        <p:spPr>
          <a:xfrm>
            <a:off x="548640" y="4526280"/>
            <a:ext cx="457200" cy="457200"/>
          </a:xfrm>
          <a:prstGeom prst="ellipse">
            <a:avLst/>
          </a:prstGeom>
          <a:solidFill>
            <a:srgbClr val="7448D4"/>
          </a:solidFill>
          <a:ln/>
        </p:spPr>
      </p:sp>
      <p:sp>
        <p:nvSpPr>
          <p:cNvPr id="20" name="Text 17"/>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49884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Read the value. </a:t>
            </a:r>
            <a:pPr indent="0" marL="0">
              <a:buNone/>
            </a:pPr>
            <a:r>
              <a:rPr lang="en-US" sz="1600" dirty="0">
                <a:solidFill>
                  <a:srgbClr val="12213A"/>
                </a:solidFill>
                <a:latin typeface="Calibri" pitchFamily="34" charset="0"/>
                <a:ea typeface="Calibri" pitchFamily="34" charset="-122"/>
                <a:cs typeface="Calibri" pitchFamily="34" charset="-120"/>
              </a:rPr>
              <a:t>A hidden field's value sits in plain text in the HTML.</a:t>
            </a:r>
            <a:endParaRPr lang="en-US" sz="1600" dirty="0"/>
          </a:p>
        </p:txBody>
      </p:sp>
      <p:sp>
        <p:nvSpPr>
          <p:cNvPr id="22" name="Shape 19"/>
          <p:cNvSpPr/>
          <p:nvPr/>
        </p:nvSpPr>
        <p:spPr>
          <a:xfrm>
            <a:off x="548640" y="5577840"/>
            <a:ext cx="5669280" cy="457200"/>
          </a:xfrm>
          <a:prstGeom prst="roundRect">
            <a:avLst>
              <a:gd name="adj" fmla="val 20000"/>
            </a:avLst>
          </a:prstGeom>
          <a:solidFill>
            <a:srgbClr val="E2F5EC"/>
          </a:solidFill>
          <a:ln/>
        </p:spPr>
      </p:sp>
      <p:sp>
        <p:nvSpPr>
          <p:cNvPr id="23" name="Text 20"/>
          <p:cNvSpPr txBox="1"/>
          <p:nvPr/>
        </p:nvSpPr>
        <p:spPr>
          <a:xfrm>
            <a:off x="822960" y="5577840"/>
            <a:ext cx="5120640" cy="457200"/>
          </a:xfrm>
          <a:prstGeom prst="rect">
            <a:avLst/>
          </a:prstGeom>
          <a:noFill/>
          <a:ln/>
        </p:spPr>
        <p:txBody>
          <a:bodyPr wrap="square" lIns="0" tIns="0" rIns="0" bIns="0" rtlCol="0" anchor="ctr"/>
          <a:lstStyle/>
          <a:p>
            <a:pPr indent="0" marL="0">
              <a:buNone/>
            </a:pPr>
            <a:r>
              <a:rPr lang="en-US" sz="1400" b="1" dirty="0">
                <a:solidFill>
                  <a:srgbClr val="0F6A45"/>
                </a:solidFill>
                <a:latin typeface="Calibri" pitchFamily="34" charset="0"/>
                <a:ea typeface="Calibri" pitchFamily="34" charset="-122"/>
                <a:cs typeface="Calibri" pitchFamily="34" charset="-120"/>
              </a:rPr>
              <a:t>Editing Elements changes only your copy. A reload undoes it.</a:t>
            </a:r>
            <a:endParaRPr lang="en-US" sz="1400" dirty="0"/>
          </a:p>
        </p:txBody>
      </p:sp>
      <p:sp>
        <p:nvSpPr>
          <p:cNvPr id="24" name="Shape 21"/>
          <p:cNvSpPr/>
          <p:nvPr/>
        </p:nvSpPr>
        <p:spPr>
          <a:xfrm>
            <a:off x="6492240" y="1463040"/>
            <a:ext cx="51480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5" name="Shape 22"/>
          <p:cNvSpPr/>
          <p:nvPr/>
        </p:nvSpPr>
        <p:spPr>
          <a:xfrm>
            <a:off x="6693408" y="1618488"/>
            <a:ext cx="118872" cy="118872"/>
          </a:xfrm>
          <a:prstGeom prst="ellipse">
            <a:avLst/>
          </a:prstGeom>
          <a:solidFill>
            <a:srgbClr val="E5534B"/>
          </a:solidFill>
          <a:ln/>
        </p:spPr>
      </p:sp>
      <p:sp>
        <p:nvSpPr>
          <p:cNvPr id="26" name="Shape 23"/>
          <p:cNvSpPr/>
          <p:nvPr/>
        </p:nvSpPr>
        <p:spPr>
          <a:xfrm>
            <a:off x="6894576" y="1618488"/>
            <a:ext cx="118872" cy="118872"/>
          </a:xfrm>
          <a:prstGeom prst="ellipse">
            <a:avLst/>
          </a:prstGeom>
          <a:solidFill>
            <a:srgbClr val="F5A623"/>
          </a:solidFill>
          <a:ln/>
        </p:spPr>
      </p:sp>
      <p:sp>
        <p:nvSpPr>
          <p:cNvPr id="27" name="Shape 24"/>
          <p:cNvSpPr/>
          <p:nvPr/>
        </p:nvSpPr>
        <p:spPr>
          <a:xfrm>
            <a:off x="7095744" y="1618488"/>
            <a:ext cx="118872" cy="118872"/>
          </a:xfrm>
          <a:prstGeom prst="ellipse">
            <a:avLst/>
          </a:prstGeom>
          <a:solidFill>
            <a:srgbClr val="46D39A"/>
          </a:solidFill>
          <a:ln/>
        </p:spPr>
      </p:sp>
      <p:sp>
        <p:nvSpPr>
          <p:cNvPr id="28" name="Text 25"/>
          <p:cNvSpPr txBox="1"/>
          <p:nvPr/>
        </p:nvSpPr>
        <p:spPr>
          <a:xfrm>
            <a:off x="7406640" y="1536192"/>
            <a:ext cx="33192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the live DOM</a:t>
            </a:r>
            <a:endParaRPr lang="en-US" sz="1000" dirty="0"/>
          </a:p>
        </p:txBody>
      </p:sp>
      <p:sp>
        <p:nvSpPr>
          <p:cNvPr id="29" name="Text 26"/>
          <p:cNvSpPr txBox="1"/>
          <p:nvPr/>
        </p:nvSpPr>
        <p:spPr>
          <a:xfrm>
            <a:off x="6766560" y="1920240"/>
            <a:ext cx="4599432" cy="3886200"/>
          </a:xfrm>
          <a:prstGeom prst="rect">
            <a:avLst/>
          </a:prstGeom>
          <a:noFill/>
          <a:ln/>
        </p:spPr>
        <p:txBody>
          <a:bodyPr wrap="square" lIns="0" tIns="0" rIns="0" bIns="0" rtlCol="0" anchor="t"/>
          <a:lstStyle/>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Elements</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&lt;button disabled&gt;Secret&lt;/button&gt;</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delete 'disabled' to click it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&lt;div style="display:none"&gt;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Flag: CYBA{hidden-...}</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&lt;/div&gt;</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untick display:none to reveal it</a:t>
            </a:r>
            <a:endParaRPr lang="en-US" sz="1400" dirty="0"/>
          </a:p>
        </p:txBody>
      </p:sp>
      <p:sp>
        <p:nvSpPr>
          <p:cNvPr id="30" name="Text 27"/>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15 / 61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Cookies &amp; storage: what the site saved on you</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F12 → Application → Cookies</a:t>
            </a:r>
            <a:endParaRPr lang="en-US" sz="1300" dirty="0"/>
          </a:p>
        </p:txBody>
      </p:sp>
      <p:sp>
        <p:nvSpPr>
          <p:cNvPr id="8" name="Shape 5"/>
          <p:cNvSpPr/>
          <p:nvPr/>
        </p:nvSpPr>
        <p:spPr>
          <a:xfrm>
            <a:off x="548640" y="109728"/>
            <a:ext cx="1792224" cy="274320"/>
          </a:xfrm>
          <a:prstGeom prst="roundRect">
            <a:avLst>
              <a:gd name="adj" fmla="val 50000"/>
            </a:avLst>
          </a:prstGeom>
          <a:solidFill>
            <a:srgbClr val="2459D8"/>
          </a:solidFill>
          <a:ln/>
        </p:spPr>
      </p:sp>
      <p:sp>
        <p:nvSpPr>
          <p:cNvPr id="9" name="Text 6"/>
          <p:cNvSpPr txBox="1"/>
          <p:nvPr/>
        </p:nvSpPr>
        <p:spPr>
          <a:xfrm>
            <a:off x="548640" y="109728"/>
            <a:ext cx="179222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3 &amp; 8</a:t>
            </a:r>
            <a:endParaRPr lang="en-US" sz="1100" dirty="0"/>
          </a:p>
        </p:txBody>
      </p:sp>
      <p:sp>
        <p:nvSpPr>
          <p:cNvPr id="10" name="Shape 7"/>
          <p:cNvSpPr/>
          <p:nvPr/>
        </p:nvSpPr>
        <p:spPr>
          <a:xfrm>
            <a:off x="548640" y="1600200"/>
            <a:ext cx="2651760" cy="457200"/>
          </a:xfrm>
          <a:prstGeom prst="roundRect">
            <a:avLst>
              <a:gd name="adj" fmla="val 16000"/>
            </a:avLst>
          </a:prstGeom>
          <a:solidFill>
            <a:srgbClr val="0E1726"/>
          </a:solidFill>
          <a:ln/>
        </p:spPr>
      </p:sp>
      <p:sp>
        <p:nvSpPr>
          <p:cNvPr id="11" name="Text 8"/>
          <p:cNvSpPr txBox="1"/>
          <p:nvPr/>
        </p:nvSpPr>
        <p:spPr>
          <a:xfrm>
            <a:off x="548640" y="1600200"/>
            <a:ext cx="26517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Application → Cookies</a:t>
            </a:r>
            <a:endParaRPr lang="en-US" sz="1400" dirty="0"/>
          </a:p>
        </p:txBody>
      </p:sp>
      <p:sp>
        <p:nvSpPr>
          <p:cNvPr id="12" name="Text 9"/>
          <p:cNvSpPr txBox="1"/>
          <p:nvPr/>
        </p:nvSpPr>
        <p:spPr>
          <a:xfrm>
            <a:off x="3429000" y="160020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read &amp; edit cookies</a:t>
            </a:r>
            <a:endParaRPr lang="en-US" sz="1700" dirty="0"/>
          </a:p>
        </p:txBody>
      </p:sp>
      <p:sp>
        <p:nvSpPr>
          <p:cNvPr id="13" name="Shape 10"/>
          <p:cNvSpPr/>
          <p:nvPr/>
        </p:nvSpPr>
        <p:spPr>
          <a:xfrm>
            <a:off x="548640" y="2194560"/>
            <a:ext cx="2651760" cy="457200"/>
          </a:xfrm>
          <a:prstGeom prst="roundRect">
            <a:avLst>
              <a:gd name="adj" fmla="val 16000"/>
            </a:avLst>
          </a:prstGeom>
          <a:solidFill>
            <a:srgbClr val="0E1726"/>
          </a:solidFill>
          <a:ln/>
        </p:spPr>
      </p:sp>
      <p:sp>
        <p:nvSpPr>
          <p:cNvPr id="14" name="Text 11"/>
          <p:cNvSpPr txBox="1"/>
          <p:nvPr/>
        </p:nvSpPr>
        <p:spPr>
          <a:xfrm>
            <a:off x="548640" y="2194560"/>
            <a:ext cx="26517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Application → Storage</a:t>
            </a:r>
            <a:endParaRPr lang="en-US" sz="1400" dirty="0"/>
          </a:p>
        </p:txBody>
      </p:sp>
      <p:sp>
        <p:nvSpPr>
          <p:cNvPr id="15" name="Text 12"/>
          <p:cNvSpPr txBox="1"/>
          <p:nvPr/>
        </p:nvSpPr>
        <p:spPr>
          <a:xfrm>
            <a:off x="3429000" y="219456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local &amp; session storage</a:t>
            </a:r>
            <a:endParaRPr lang="en-US" sz="1700" dirty="0"/>
          </a:p>
        </p:txBody>
      </p:sp>
      <p:sp>
        <p:nvSpPr>
          <p:cNvPr id="16" name="Shape 13"/>
          <p:cNvSpPr/>
          <p:nvPr/>
        </p:nvSpPr>
        <p:spPr>
          <a:xfrm>
            <a:off x="548640" y="2788920"/>
            <a:ext cx="2651760" cy="457200"/>
          </a:xfrm>
          <a:prstGeom prst="roundRect">
            <a:avLst>
              <a:gd name="adj" fmla="val 16000"/>
            </a:avLst>
          </a:prstGeom>
          <a:solidFill>
            <a:srgbClr val="0E1726"/>
          </a:solidFill>
          <a:ln/>
        </p:spPr>
      </p:sp>
      <p:sp>
        <p:nvSpPr>
          <p:cNvPr id="17" name="Text 14"/>
          <p:cNvSpPr txBox="1"/>
          <p:nvPr/>
        </p:nvSpPr>
        <p:spPr>
          <a:xfrm>
            <a:off x="548640" y="2788920"/>
            <a:ext cx="26517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double-click a value</a:t>
            </a:r>
            <a:endParaRPr lang="en-US" sz="1400" dirty="0"/>
          </a:p>
        </p:txBody>
      </p:sp>
      <p:sp>
        <p:nvSpPr>
          <p:cNvPr id="18" name="Text 15"/>
          <p:cNvSpPr txBox="1"/>
          <p:nvPr/>
        </p:nvSpPr>
        <p:spPr>
          <a:xfrm>
            <a:off x="3429000" y="2788920"/>
            <a:ext cx="306324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change it, then reload</a:t>
            </a:r>
            <a:endParaRPr lang="en-US" sz="1700" dirty="0"/>
          </a:p>
        </p:txBody>
      </p:sp>
      <p:sp>
        <p:nvSpPr>
          <p:cNvPr id="19" name="Shape 16"/>
          <p:cNvSpPr/>
          <p:nvPr/>
        </p:nvSpPr>
        <p:spPr>
          <a:xfrm>
            <a:off x="548640" y="3566160"/>
            <a:ext cx="5943600" cy="2377440"/>
          </a:xfrm>
          <a:prstGeom prst="roundRect">
            <a:avLst>
              <a:gd name="adj" fmla="val 3846"/>
            </a:avLst>
          </a:prstGeom>
          <a:solidFill>
            <a:srgbClr val="FFF4DC"/>
          </a:solidFill>
          <a:ln/>
        </p:spPr>
      </p:sp>
      <p:sp>
        <p:nvSpPr>
          <p:cNvPr id="20" name="Text 17"/>
          <p:cNvSpPr txBox="1"/>
          <p:nvPr/>
        </p:nvSpPr>
        <p:spPr>
          <a:xfrm>
            <a:off x="822960" y="3703320"/>
            <a:ext cx="5394960" cy="210312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A cookie is a note you carry. </a:t>
            </a:r>
            <a:pPr indent="0" marL="0">
              <a:buNone/>
            </a:pPr>
            <a:r>
              <a:rPr lang="en-US" sz="1500" dirty="0">
                <a:solidFill>
                  <a:srgbClr val="12213A"/>
                </a:solidFill>
                <a:latin typeface="Calibri" pitchFamily="34" charset="0"/>
                <a:ea typeface="Calibri" pitchFamily="34" charset="-122"/>
                <a:cs typeface="Calibri" pitchFamily="34" charset="-120"/>
              </a:rPr>
              <a:t>The server wrote it, but it rides in your browser and you can rewrite it. A site that trusts role=admin in a cookie is trusting a note the visitor can edit - the root of broken access control.</a:t>
            </a:r>
            <a:endParaRPr lang="en-US" sz="1500" dirty="0"/>
          </a:p>
        </p:txBody>
      </p:sp>
      <p:sp>
        <p:nvSpPr>
          <p:cNvPr id="21" name="Shape 18"/>
          <p:cNvSpPr/>
          <p:nvPr/>
        </p:nvSpPr>
        <p:spPr>
          <a:xfrm>
            <a:off x="6675120" y="1463040"/>
            <a:ext cx="496519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2" name="Shape 19"/>
          <p:cNvSpPr/>
          <p:nvPr/>
        </p:nvSpPr>
        <p:spPr>
          <a:xfrm>
            <a:off x="6876288" y="1618488"/>
            <a:ext cx="118872" cy="118872"/>
          </a:xfrm>
          <a:prstGeom prst="ellipse">
            <a:avLst/>
          </a:prstGeom>
          <a:solidFill>
            <a:srgbClr val="E5534B"/>
          </a:solidFill>
          <a:ln/>
        </p:spPr>
      </p:sp>
      <p:sp>
        <p:nvSpPr>
          <p:cNvPr id="23" name="Shape 20"/>
          <p:cNvSpPr/>
          <p:nvPr/>
        </p:nvSpPr>
        <p:spPr>
          <a:xfrm>
            <a:off x="7077456" y="1618488"/>
            <a:ext cx="118872" cy="118872"/>
          </a:xfrm>
          <a:prstGeom prst="ellipse">
            <a:avLst/>
          </a:prstGeom>
          <a:solidFill>
            <a:srgbClr val="F5A623"/>
          </a:solidFill>
          <a:ln/>
        </p:spPr>
      </p:sp>
      <p:sp>
        <p:nvSpPr>
          <p:cNvPr id="24" name="Shape 21"/>
          <p:cNvSpPr/>
          <p:nvPr/>
        </p:nvSpPr>
        <p:spPr>
          <a:xfrm>
            <a:off x="7278624" y="1618488"/>
            <a:ext cx="118872" cy="118872"/>
          </a:xfrm>
          <a:prstGeom prst="ellipse">
            <a:avLst/>
          </a:prstGeom>
          <a:solidFill>
            <a:srgbClr val="46D39A"/>
          </a:solidFill>
          <a:ln/>
        </p:spPr>
      </p:sp>
      <p:sp>
        <p:nvSpPr>
          <p:cNvPr id="25" name="Text 22"/>
          <p:cNvSpPr txBox="1"/>
          <p:nvPr/>
        </p:nvSpPr>
        <p:spPr>
          <a:xfrm>
            <a:off x="7589520" y="1536192"/>
            <a:ext cx="313639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cookies</a:t>
            </a:r>
            <a:endParaRPr lang="en-US" sz="1000" dirty="0"/>
          </a:p>
        </p:txBody>
      </p:sp>
      <p:sp>
        <p:nvSpPr>
          <p:cNvPr id="26" name="Text 23"/>
          <p:cNvSpPr txBox="1"/>
          <p:nvPr/>
        </p:nvSpPr>
        <p:spPr>
          <a:xfrm>
            <a:off x="6949440" y="1920240"/>
            <a:ext cx="4416552" cy="3886200"/>
          </a:xfrm>
          <a:prstGeom prst="rect">
            <a:avLst/>
          </a:prstGeom>
          <a:noFill/>
          <a:ln/>
        </p:spPr>
        <p:txBody>
          <a:bodyPr wrap="square" lIns="0" tIns="0" rIns="0" bIns="0" rtlCol="0" anchor="t"/>
          <a:lstStyle/>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Application → Cookies</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session  8f2a9c1d...</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flag     CYBA{cookie-...}</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 the capture</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role     user</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 try: double-click -&gt; admin</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then reload the page</a:t>
            </a:r>
            <a:endParaRPr lang="en-US" sz="1350" dirty="0"/>
          </a:p>
        </p:txBody>
      </p:sp>
      <p:sp>
        <p:nvSpPr>
          <p:cNvPr id="27" name="Text 2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16 / 61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URL is input: params &amp; robots.txt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add ?id=2 to a URL</a:t>
            </a:r>
            <a:endParaRPr lang="en-US" sz="1300" dirty="0"/>
          </a:p>
        </p:txBody>
      </p:sp>
      <p:sp>
        <p:nvSpPr>
          <p:cNvPr id="8" name="Shape 5"/>
          <p:cNvSpPr/>
          <p:nvPr/>
        </p:nvSpPr>
        <p:spPr>
          <a:xfrm>
            <a:off x="548640" y="109728"/>
            <a:ext cx="1792224" cy="274320"/>
          </a:xfrm>
          <a:prstGeom prst="roundRect">
            <a:avLst>
              <a:gd name="adj" fmla="val 50000"/>
            </a:avLst>
          </a:prstGeom>
          <a:solidFill>
            <a:srgbClr val="7448D4"/>
          </a:solidFill>
          <a:ln/>
        </p:spPr>
      </p:sp>
      <p:sp>
        <p:nvSpPr>
          <p:cNvPr id="9" name="Text 6"/>
          <p:cNvSpPr txBox="1"/>
          <p:nvPr/>
        </p:nvSpPr>
        <p:spPr>
          <a:xfrm>
            <a:off x="548640" y="109728"/>
            <a:ext cx="179222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4 &amp; 5</a:t>
            </a:r>
            <a:endParaRPr lang="en-US" sz="1100" dirty="0"/>
          </a:p>
        </p:txBody>
      </p:sp>
      <p:sp>
        <p:nvSpPr>
          <p:cNvPr id="10" name="Shape 7"/>
          <p:cNvSpPr/>
          <p:nvPr/>
        </p:nvSpPr>
        <p:spPr>
          <a:xfrm>
            <a:off x="548640" y="1600200"/>
            <a:ext cx="2194560" cy="457200"/>
          </a:xfrm>
          <a:prstGeom prst="roundRect">
            <a:avLst>
              <a:gd name="adj" fmla="val 16000"/>
            </a:avLst>
          </a:prstGeom>
          <a:solidFill>
            <a:srgbClr val="0E1726"/>
          </a:solidFill>
          <a:ln/>
        </p:spPr>
      </p:sp>
      <p:sp>
        <p:nvSpPr>
          <p:cNvPr id="11" name="Text 8"/>
          <p:cNvSpPr txBox="1"/>
          <p:nvPr/>
        </p:nvSpPr>
        <p:spPr>
          <a:xfrm>
            <a:off x="548640" y="1600200"/>
            <a:ext cx="21945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?name=value</a:t>
            </a:r>
            <a:endParaRPr lang="en-US" sz="1400" dirty="0"/>
          </a:p>
        </p:txBody>
      </p:sp>
      <p:sp>
        <p:nvSpPr>
          <p:cNvPr id="12" name="Text 9"/>
          <p:cNvSpPr txBox="1"/>
          <p:nvPr/>
        </p:nvSpPr>
        <p:spPr>
          <a:xfrm>
            <a:off x="2971800" y="160020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change a query parameter</a:t>
            </a:r>
            <a:endParaRPr lang="en-US" sz="1700" dirty="0"/>
          </a:p>
        </p:txBody>
      </p:sp>
      <p:sp>
        <p:nvSpPr>
          <p:cNvPr id="13" name="Shape 10"/>
          <p:cNvSpPr/>
          <p:nvPr/>
        </p:nvSpPr>
        <p:spPr>
          <a:xfrm>
            <a:off x="548640" y="2194560"/>
            <a:ext cx="2194560" cy="457200"/>
          </a:xfrm>
          <a:prstGeom prst="roundRect">
            <a:avLst>
              <a:gd name="adj" fmla="val 16000"/>
            </a:avLst>
          </a:prstGeom>
          <a:solidFill>
            <a:srgbClr val="0E1726"/>
          </a:solidFill>
          <a:ln/>
        </p:spPr>
      </p:sp>
      <p:sp>
        <p:nvSpPr>
          <p:cNvPr id="14" name="Text 11"/>
          <p:cNvSpPr txBox="1"/>
          <p:nvPr/>
        </p:nvSpPr>
        <p:spPr>
          <a:xfrm>
            <a:off x="548640" y="2194560"/>
            <a:ext cx="21945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/robots.txt</a:t>
            </a:r>
            <a:endParaRPr lang="en-US" sz="1400" dirty="0"/>
          </a:p>
        </p:txBody>
      </p:sp>
      <p:sp>
        <p:nvSpPr>
          <p:cNvPr id="15" name="Text 12"/>
          <p:cNvSpPr txBox="1"/>
          <p:nvPr/>
        </p:nvSpPr>
        <p:spPr>
          <a:xfrm>
            <a:off x="2971800" y="219456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list the paths a site hides</a:t>
            </a:r>
            <a:endParaRPr lang="en-US" sz="1700" dirty="0"/>
          </a:p>
        </p:txBody>
      </p:sp>
      <p:sp>
        <p:nvSpPr>
          <p:cNvPr id="16" name="Shape 13"/>
          <p:cNvSpPr/>
          <p:nvPr/>
        </p:nvSpPr>
        <p:spPr>
          <a:xfrm>
            <a:off x="548640" y="2788920"/>
            <a:ext cx="2194560" cy="457200"/>
          </a:xfrm>
          <a:prstGeom prst="roundRect">
            <a:avLst>
              <a:gd name="adj" fmla="val 16000"/>
            </a:avLst>
          </a:prstGeom>
          <a:solidFill>
            <a:srgbClr val="0E1726"/>
          </a:solidFill>
          <a:ln/>
        </p:spPr>
      </p:sp>
      <p:sp>
        <p:nvSpPr>
          <p:cNvPr id="17" name="Text 14"/>
          <p:cNvSpPr txBox="1"/>
          <p:nvPr/>
        </p:nvSpPr>
        <p:spPr>
          <a:xfrm>
            <a:off x="548640" y="2788920"/>
            <a:ext cx="21945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visit the path</a:t>
            </a:r>
            <a:endParaRPr lang="en-US" sz="1400" dirty="0"/>
          </a:p>
        </p:txBody>
      </p:sp>
      <p:sp>
        <p:nvSpPr>
          <p:cNvPr id="18" name="Text 15"/>
          <p:cNvSpPr txBox="1"/>
          <p:nvPr/>
        </p:nvSpPr>
        <p:spPr>
          <a:xfrm>
            <a:off x="2971800" y="278892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there's no lock, just a request</a:t>
            </a:r>
            <a:endParaRPr lang="en-US" sz="1700" dirty="0"/>
          </a:p>
        </p:txBody>
      </p:sp>
      <p:sp>
        <p:nvSpPr>
          <p:cNvPr id="19" name="Shape 16"/>
          <p:cNvSpPr/>
          <p:nvPr/>
        </p:nvSpPr>
        <p:spPr>
          <a:xfrm>
            <a:off x="548640" y="3566160"/>
            <a:ext cx="5760720" cy="2377440"/>
          </a:xfrm>
          <a:prstGeom prst="roundRect">
            <a:avLst>
              <a:gd name="adj" fmla="val 3846"/>
            </a:avLst>
          </a:prstGeom>
          <a:solidFill>
            <a:srgbClr val="FFF4DC"/>
          </a:solidFill>
          <a:ln/>
        </p:spPr>
      </p:sp>
      <p:sp>
        <p:nvSpPr>
          <p:cNvPr id="20" name="Text 17"/>
          <p:cNvSpPr txBox="1"/>
          <p:nvPr/>
        </p:nvSpPr>
        <p:spPr>
          <a:xfrm>
            <a:off x="822960" y="3703320"/>
            <a:ext cx="5212080" cy="210312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'They won't guess it' is not security. </a:t>
            </a:r>
            <a:pPr indent="0" marL="0">
              <a:buNone/>
            </a:pPr>
            <a:r>
              <a:rPr lang="en-US" sz="1500" dirty="0">
                <a:solidFill>
                  <a:srgbClr val="12213A"/>
                </a:solidFill>
                <a:latin typeface="Calibri" pitchFamily="34" charset="0"/>
                <a:ea typeface="Calibri" pitchFamily="34" charset="-122"/>
                <a:cs typeface="Calibri" pitchFamily="34" charset="-120"/>
              </a:rPr>
              <a:t>A guessable id and a hidden-but-public path both rely on nobody looking. Real protection checks, on the server, whether you're allowed - every time.</a:t>
            </a:r>
            <a:endParaRPr lang="en-US" sz="1500" dirty="0"/>
          </a:p>
        </p:txBody>
      </p:sp>
      <p:sp>
        <p:nvSpPr>
          <p:cNvPr id="21" name="Shape 18"/>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2" name="Shape 19"/>
          <p:cNvSpPr/>
          <p:nvPr/>
        </p:nvSpPr>
        <p:spPr>
          <a:xfrm>
            <a:off x="6784848" y="1618488"/>
            <a:ext cx="118872" cy="118872"/>
          </a:xfrm>
          <a:prstGeom prst="ellipse">
            <a:avLst/>
          </a:prstGeom>
          <a:solidFill>
            <a:srgbClr val="E5534B"/>
          </a:solidFill>
          <a:ln/>
        </p:spPr>
      </p:sp>
      <p:sp>
        <p:nvSpPr>
          <p:cNvPr id="23" name="Shape 20"/>
          <p:cNvSpPr/>
          <p:nvPr/>
        </p:nvSpPr>
        <p:spPr>
          <a:xfrm>
            <a:off x="6986016" y="1618488"/>
            <a:ext cx="118872" cy="118872"/>
          </a:xfrm>
          <a:prstGeom prst="ellipse">
            <a:avLst/>
          </a:prstGeom>
          <a:solidFill>
            <a:srgbClr val="F5A623"/>
          </a:solidFill>
          <a:ln/>
        </p:spPr>
      </p:sp>
      <p:sp>
        <p:nvSpPr>
          <p:cNvPr id="24" name="Shape 21"/>
          <p:cNvSpPr/>
          <p:nvPr/>
        </p:nvSpPr>
        <p:spPr>
          <a:xfrm>
            <a:off x="7187184" y="1618488"/>
            <a:ext cx="118872" cy="118872"/>
          </a:xfrm>
          <a:prstGeom prst="ellipse">
            <a:avLst/>
          </a:prstGeom>
          <a:solidFill>
            <a:srgbClr val="46D39A"/>
          </a:solidFill>
          <a:ln/>
        </p:spPr>
      </p:sp>
      <p:sp>
        <p:nvSpPr>
          <p:cNvPr id="25" name="Text 22"/>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the address bar</a:t>
            </a:r>
            <a:endParaRPr lang="en-US" sz="1000" dirty="0"/>
          </a:p>
        </p:txBody>
      </p:sp>
      <p:sp>
        <p:nvSpPr>
          <p:cNvPr id="26" name="Text 23"/>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GET /profile?id=1</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Your profile</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GET /profile?id=2</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Someone else's profile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GET /robots.txt</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Disallow: /admin-7f3c/</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 a map of what's hidden</a:t>
            </a:r>
            <a:endParaRPr lang="en-US" sz="1400" dirty="0"/>
          </a:p>
        </p:txBody>
      </p:sp>
      <p:sp>
        <p:nvSpPr>
          <p:cNvPr id="27" name="Text 2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17 / 61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Console: run the page's JavaScript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F12 → Console, type 2+2</a:t>
            </a:r>
            <a:endParaRPr lang="en-US" sz="1300" dirty="0"/>
          </a:p>
        </p:txBody>
      </p:sp>
      <p:sp>
        <p:nvSpPr>
          <p:cNvPr id="8" name="Shape 5"/>
          <p:cNvSpPr/>
          <p:nvPr/>
        </p:nvSpPr>
        <p:spPr>
          <a:xfrm>
            <a:off x="548640" y="109728"/>
            <a:ext cx="1792224" cy="274320"/>
          </a:xfrm>
          <a:prstGeom prst="roundRect">
            <a:avLst>
              <a:gd name="adj" fmla="val 50000"/>
            </a:avLst>
          </a:prstGeom>
          <a:solidFill>
            <a:srgbClr val="E8820C"/>
          </a:solidFill>
          <a:ln/>
        </p:spPr>
      </p:sp>
      <p:sp>
        <p:nvSpPr>
          <p:cNvPr id="9" name="Text 6"/>
          <p:cNvSpPr txBox="1"/>
          <p:nvPr/>
        </p:nvSpPr>
        <p:spPr>
          <a:xfrm>
            <a:off x="548640" y="109728"/>
            <a:ext cx="179222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6 &amp; 7</a:t>
            </a:r>
            <a:endParaRPr lang="en-US" sz="1100" dirty="0"/>
          </a:p>
        </p:txBody>
      </p:sp>
      <p:sp>
        <p:nvSpPr>
          <p:cNvPr id="10" name="Shape 7"/>
          <p:cNvSpPr/>
          <p:nvPr/>
        </p:nvSpPr>
        <p:spPr>
          <a:xfrm>
            <a:off x="548640" y="1600200"/>
            <a:ext cx="2194560" cy="457200"/>
          </a:xfrm>
          <a:prstGeom prst="roundRect">
            <a:avLst>
              <a:gd name="adj" fmla="val 16000"/>
            </a:avLst>
          </a:prstGeom>
          <a:solidFill>
            <a:srgbClr val="0E1726"/>
          </a:solidFill>
          <a:ln/>
        </p:spPr>
      </p:sp>
      <p:sp>
        <p:nvSpPr>
          <p:cNvPr id="11" name="Text 8"/>
          <p:cNvSpPr txBox="1"/>
          <p:nvPr/>
        </p:nvSpPr>
        <p:spPr>
          <a:xfrm>
            <a:off x="548640" y="1600200"/>
            <a:ext cx="21945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getFlag()</a:t>
            </a:r>
            <a:endParaRPr lang="en-US" sz="1400" dirty="0"/>
          </a:p>
        </p:txBody>
      </p:sp>
      <p:sp>
        <p:nvSpPr>
          <p:cNvPr id="12" name="Text 9"/>
          <p:cNvSpPr txBox="1"/>
          <p:nvPr/>
        </p:nvSpPr>
        <p:spPr>
          <a:xfrm>
            <a:off x="2971800" y="160020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call a function the page defined</a:t>
            </a:r>
            <a:endParaRPr lang="en-US" sz="1700" dirty="0"/>
          </a:p>
        </p:txBody>
      </p:sp>
      <p:sp>
        <p:nvSpPr>
          <p:cNvPr id="13" name="Shape 10"/>
          <p:cNvSpPr/>
          <p:nvPr/>
        </p:nvSpPr>
        <p:spPr>
          <a:xfrm>
            <a:off x="548640" y="2194560"/>
            <a:ext cx="2194560" cy="457200"/>
          </a:xfrm>
          <a:prstGeom prst="roundRect">
            <a:avLst>
              <a:gd name="adj" fmla="val 16000"/>
            </a:avLst>
          </a:prstGeom>
          <a:solidFill>
            <a:srgbClr val="0E1726"/>
          </a:solidFill>
          <a:ln/>
        </p:spPr>
      </p:sp>
      <p:sp>
        <p:nvSpPr>
          <p:cNvPr id="14" name="Text 11"/>
          <p:cNvSpPr txBox="1"/>
          <p:nvPr/>
        </p:nvSpPr>
        <p:spPr>
          <a:xfrm>
            <a:off x="548640" y="2194560"/>
            <a:ext cx="21945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atob('eyJ...')</a:t>
            </a:r>
            <a:endParaRPr lang="en-US" sz="1400" dirty="0"/>
          </a:p>
        </p:txBody>
      </p:sp>
      <p:sp>
        <p:nvSpPr>
          <p:cNvPr id="15" name="Text 12"/>
          <p:cNvSpPr txBox="1"/>
          <p:nvPr/>
        </p:nvSpPr>
        <p:spPr>
          <a:xfrm>
            <a:off x="2971800" y="219456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base64-decode in the browser</a:t>
            </a:r>
            <a:endParaRPr lang="en-US" sz="1700" dirty="0"/>
          </a:p>
        </p:txBody>
      </p:sp>
      <p:sp>
        <p:nvSpPr>
          <p:cNvPr id="16" name="Shape 13"/>
          <p:cNvSpPr/>
          <p:nvPr/>
        </p:nvSpPr>
        <p:spPr>
          <a:xfrm>
            <a:off x="548640" y="2788920"/>
            <a:ext cx="2194560" cy="457200"/>
          </a:xfrm>
          <a:prstGeom prst="roundRect">
            <a:avLst>
              <a:gd name="adj" fmla="val 16000"/>
            </a:avLst>
          </a:prstGeom>
          <a:solidFill>
            <a:srgbClr val="0E1726"/>
          </a:solidFill>
          <a:ln/>
        </p:spPr>
      </p:sp>
      <p:sp>
        <p:nvSpPr>
          <p:cNvPr id="17" name="Text 14"/>
          <p:cNvSpPr txBox="1"/>
          <p:nvPr/>
        </p:nvSpPr>
        <p:spPr>
          <a:xfrm>
            <a:off x="548640" y="2788920"/>
            <a:ext cx="2194560"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document.cookie</a:t>
            </a:r>
            <a:endParaRPr lang="en-US" sz="1400" dirty="0"/>
          </a:p>
        </p:txBody>
      </p:sp>
      <p:sp>
        <p:nvSpPr>
          <p:cNvPr id="18" name="Text 15"/>
          <p:cNvSpPr txBox="1"/>
          <p:nvPr/>
        </p:nvSpPr>
        <p:spPr>
          <a:xfrm>
            <a:off x="2971800" y="2788920"/>
            <a:ext cx="3337560" cy="457200"/>
          </a:xfrm>
          <a:prstGeom prst="rect">
            <a:avLst/>
          </a:prstGeom>
          <a:noFill/>
          <a:ln/>
        </p:spPr>
        <p:txBody>
          <a:bodyPr wrap="square" lIns="0" tIns="0" rIns="0" bIns="0" rtlCol="0" anchor="ctr"/>
          <a:lstStyle/>
          <a:p>
            <a:pPr indent="0" marL="0">
              <a:buNone/>
            </a:pPr>
            <a:r>
              <a:rPr lang="en-US" sz="1700" dirty="0">
                <a:solidFill>
                  <a:srgbClr val="12213A"/>
                </a:solidFill>
                <a:latin typeface="Calibri" pitchFamily="34" charset="0"/>
                <a:ea typeface="Calibri" pitchFamily="34" charset="-122"/>
                <a:cs typeface="Calibri" pitchFamily="34" charset="-120"/>
              </a:rPr>
              <a:t>read your cookies as text</a:t>
            </a:r>
            <a:endParaRPr lang="en-US" sz="1700" dirty="0"/>
          </a:p>
        </p:txBody>
      </p:sp>
      <p:sp>
        <p:nvSpPr>
          <p:cNvPr id="19" name="Shape 16"/>
          <p:cNvSpPr/>
          <p:nvPr/>
        </p:nvSpPr>
        <p:spPr>
          <a:xfrm>
            <a:off x="548640" y="3566160"/>
            <a:ext cx="5760720" cy="2377440"/>
          </a:xfrm>
          <a:prstGeom prst="roundRect">
            <a:avLst>
              <a:gd name="adj" fmla="val 3846"/>
            </a:avLst>
          </a:prstGeom>
          <a:solidFill>
            <a:srgbClr val="FFF4DC"/>
          </a:solidFill>
          <a:ln/>
        </p:spPr>
      </p:sp>
      <p:sp>
        <p:nvSpPr>
          <p:cNvPr id="20" name="Text 17"/>
          <p:cNvSpPr txBox="1"/>
          <p:nvPr/>
        </p:nvSpPr>
        <p:spPr>
          <a:xfrm>
            <a:off x="822960" y="3703320"/>
            <a:ext cx="5212080" cy="210312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Shipped to you means readable by you. </a:t>
            </a:r>
            <a:pPr indent="0" marL="0">
              <a:buNone/>
            </a:pPr>
            <a:r>
              <a:rPr lang="en-US" sz="1500" dirty="0">
                <a:solidFill>
                  <a:srgbClr val="12213A"/>
                </a:solidFill>
                <a:latin typeface="Calibri" pitchFamily="34" charset="0"/>
                <a:ea typeface="Calibri" pitchFamily="34" charset="-122"/>
                <a:cs typeface="Calibri" pitchFamily="34" charset="-120"/>
              </a:rPr>
              <a:t>Every line of a page's JavaScript was downloaded to your browser. You can read it, run it and change it - so a secret or a password in client-side code is already yours.</a:t>
            </a:r>
            <a:endParaRPr lang="en-US" sz="1500" dirty="0"/>
          </a:p>
        </p:txBody>
      </p:sp>
      <p:sp>
        <p:nvSpPr>
          <p:cNvPr id="21" name="Shape 18"/>
          <p:cNvSpPr/>
          <p:nvPr/>
        </p:nvSpPr>
        <p:spPr>
          <a:xfrm>
            <a:off x="6583680" y="1463040"/>
            <a:ext cx="505663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2" name="Shape 19"/>
          <p:cNvSpPr/>
          <p:nvPr/>
        </p:nvSpPr>
        <p:spPr>
          <a:xfrm>
            <a:off x="6784848" y="1618488"/>
            <a:ext cx="118872" cy="118872"/>
          </a:xfrm>
          <a:prstGeom prst="ellipse">
            <a:avLst/>
          </a:prstGeom>
          <a:solidFill>
            <a:srgbClr val="E5534B"/>
          </a:solidFill>
          <a:ln/>
        </p:spPr>
      </p:sp>
      <p:sp>
        <p:nvSpPr>
          <p:cNvPr id="23" name="Shape 20"/>
          <p:cNvSpPr/>
          <p:nvPr/>
        </p:nvSpPr>
        <p:spPr>
          <a:xfrm>
            <a:off x="6986016" y="1618488"/>
            <a:ext cx="118872" cy="118872"/>
          </a:xfrm>
          <a:prstGeom prst="ellipse">
            <a:avLst/>
          </a:prstGeom>
          <a:solidFill>
            <a:srgbClr val="F5A623"/>
          </a:solidFill>
          <a:ln/>
        </p:spPr>
      </p:sp>
      <p:sp>
        <p:nvSpPr>
          <p:cNvPr id="24" name="Shape 21"/>
          <p:cNvSpPr/>
          <p:nvPr/>
        </p:nvSpPr>
        <p:spPr>
          <a:xfrm>
            <a:off x="7187184" y="1618488"/>
            <a:ext cx="118872" cy="118872"/>
          </a:xfrm>
          <a:prstGeom prst="ellipse">
            <a:avLst/>
          </a:prstGeom>
          <a:solidFill>
            <a:srgbClr val="46D39A"/>
          </a:solidFill>
          <a:ln/>
        </p:spPr>
      </p:sp>
      <p:sp>
        <p:nvSpPr>
          <p:cNvPr id="25" name="Text 22"/>
          <p:cNvSpPr txBox="1"/>
          <p:nvPr/>
        </p:nvSpPr>
        <p:spPr>
          <a:xfrm>
            <a:off x="7498080" y="1536192"/>
            <a:ext cx="322783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Console</a:t>
            </a:r>
            <a:endParaRPr lang="en-US" sz="1000" dirty="0"/>
          </a:p>
        </p:txBody>
      </p:sp>
      <p:sp>
        <p:nvSpPr>
          <p:cNvPr id="26" name="Text 23"/>
          <p:cNvSpPr txBox="1"/>
          <p:nvPr/>
        </p:nvSpPr>
        <p:spPr>
          <a:xfrm>
            <a:off x="6858000" y="1920240"/>
            <a:ext cx="4507992" cy="3886200"/>
          </a:xfrm>
          <a:prstGeom prst="rect">
            <a:avLst/>
          </a:prstGeom>
          <a:noFill/>
          <a:ln/>
        </p:spPr>
        <p:txBody>
          <a:bodyPr wrap="square" lIns="0" tIns="0" rIns="0" bIns="0" rtlCol="0" anchor="t"/>
          <a:lstStyle/>
          <a:p>
            <a:pPr indent="0" marL="0">
              <a:spcAft>
                <a:spcPts val="200"/>
              </a:spcAft>
              <a:buNone/>
            </a:pPr>
            <a:r>
              <a:rPr lang="en-US" sz="1450" dirty="0">
                <a:solidFill>
                  <a:srgbClr val="B8C4D9"/>
                </a:solidFill>
                <a:latin typeface="Courier New" pitchFamily="34" charset="0"/>
                <a:ea typeface="Courier New" pitchFamily="34" charset="-122"/>
                <a:cs typeface="Courier New" pitchFamily="34" charset="-120"/>
              </a:rPr>
              <a:t>&gt; 2 + 2</a:t>
            </a:r>
            <a:endParaRPr lang="en-US" sz="1450" dirty="0"/>
          </a:p>
          <a:p>
            <a:pPr indent="0" marL="0">
              <a:spcAft>
                <a:spcPts val="200"/>
              </a:spcAft>
              <a:buNone/>
            </a:pPr>
            <a:r>
              <a:rPr lang="en-US" sz="1450" dirty="0">
                <a:solidFill>
                  <a:srgbClr val="B8C4D9"/>
                </a:solidFill>
                <a:latin typeface="Courier New" pitchFamily="34" charset="0"/>
                <a:ea typeface="Courier New" pitchFamily="34" charset="-122"/>
                <a:cs typeface="Courier New" pitchFamily="34" charset="-120"/>
              </a:rPr>
              <a:t>4</a:t>
            </a:r>
            <a:endParaRPr lang="en-US" sz="1450" dirty="0"/>
          </a:p>
          <a:p>
            <a:pPr indent="0" marL="0">
              <a:spcAft>
                <a:spcPts val="200"/>
              </a:spcAft>
              <a:buNone/>
            </a:pPr>
            <a:r>
              <a:rPr lang="en-US" sz="1450" dirty="0">
                <a:solidFill>
                  <a:srgbClr val="B8C4D9"/>
                </a:solidFill>
                <a:latin typeface="Courier New" pitchFamily="34" charset="0"/>
                <a:ea typeface="Courier New" pitchFamily="34" charset="-122"/>
                <a:cs typeface="Courier New" pitchFamily="34" charset="-120"/>
              </a:rPr>
              <a:t>&gt; getFlag()</a:t>
            </a:r>
            <a:endParaRPr lang="en-US" sz="1450" dirty="0"/>
          </a:p>
          <a:p>
            <a:pPr indent="0" marL="0">
              <a:spcAft>
                <a:spcPts val="200"/>
              </a:spcAft>
              <a:buNone/>
            </a:pPr>
            <a:r>
              <a:rPr lang="en-US" sz="1450" b="1" dirty="0">
                <a:solidFill>
                  <a:srgbClr val="F5A623"/>
                </a:solidFill>
                <a:latin typeface="Courier New" pitchFamily="34" charset="0"/>
                <a:ea typeface="Courier New" pitchFamily="34" charset="-122"/>
                <a:cs typeface="Courier New" pitchFamily="34" charset="-120"/>
              </a:rPr>
              <a:t>'CYBA{console-...}'</a:t>
            </a:r>
            <a:endParaRPr lang="en-US" sz="1450" dirty="0"/>
          </a:p>
          <a:p>
            <a:pPr indent="0" marL="0">
              <a:spcAft>
                <a:spcPts val="200"/>
              </a:spcAft>
              <a:buNone/>
            </a:pPr>
            <a:r>
              <a:rPr lang="en-US" sz="1450" dirty="0">
                <a:solidFill>
                  <a:srgbClr val="B8C4D9"/>
                </a:solidFill>
                <a:latin typeface="Courier New" pitchFamily="34" charset="0"/>
                <a:ea typeface="Courier New" pitchFamily="34" charset="-122"/>
                <a:cs typeface="Courier New" pitchFamily="34" charset="-120"/>
              </a:rPr>
              <a:t>&gt; atob('aGkK')</a:t>
            </a:r>
            <a:endParaRPr lang="en-US" sz="1450" dirty="0"/>
          </a:p>
          <a:p>
            <a:pPr indent="0" marL="0">
              <a:spcAft>
                <a:spcPts val="200"/>
              </a:spcAft>
              <a:buNone/>
            </a:pPr>
            <a:r>
              <a:rPr lang="en-US" sz="1450" dirty="0">
                <a:solidFill>
                  <a:srgbClr val="B8C4D9"/>
                </a:solidFill>
                <a:latin typeface="Courier New" pitchFamily="34" charset="0"/>
                <a:ea typeface="Courier New" pitchFamily="34" charset="-122"/>
                <a:cs typeface="Courier New" pitchFamily="34" charset="-120"/>
              </a:rPr>
              <a:t>'hi'</a:t>
            </a:r>
            <a:endParaRPr lang="en-US" sz="1450" dirty="0"/>
          </a:p>
          <a:p>
            <a:pPr indent="0" marL="0">
              <a:spcAft>
                <a:spcPts val="200"/>
              </a:spcAft>
              <a:buNone/>
            </a:pPr>
            <a:r>
              <a:rPr lang="en-US" sz="1450" dirty="0">
                <a:solidFill>
                  <a:srgbClr val="7F8FAD"/>
                </a:solidFill>
                <a:latin typeface="Courier New" pitchFamily="34" charset="0"/>
                <a:ea typeface="Courier New" pitchFamily="34" charset="-122"/>
                <a:cs typeface="Courier New" pitchFamily="34" charset="-120"/>
              </a:rPr>
              <a:t># the page's code, in your hands</a:t>
            </a:r>
            <a:endParaRPr lang="en-US" sz="1450" dirty="0"/>
          </a:p>
        </p:txBody>
      </p:sp>
      <p:sp>
        <p:nvSpPr>
          <p:cNvPr id="27" name="Text 2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18 / 61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Read the code: the Sources panel</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F12 → Sources</a:t>
            </a:r>
            <a:endParaRPr lang="en-US" sz="1300" dirty="0"/>
          </a:p>
        </p:txBody>
      </p:sp>
      <p:sp>
        <p:nvSpPr>
          <p:cNvPr id="8" name="Shape 5"/>
          <p:cNvSpPr/>
          <p:nvPr/>
        </p:nvSpPr>
        <p:spPr>
          <a:xfrm>
            <a:off x="548640" y="109728"/>
            <a:ext cx="1357884" cy="274320"/>
          </a:xfrm>
          <a:prstGeom prst="roundRect">
            <a:avLst>
              <a:gd name="adj" fmla="val 50000"/>
            </a:avLst>
          </a:prstGeom>
          <a:solidFill>
            <a:srgbClr val="C9A227"/>
          </a:solidFill>
          <a:ln/>
        </p:spPr>
      </p:sp>
      <p:sp>
        <p:nvSpPr>
          <p:cNvPr id="9" name="Text 6"/>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7</a:t>
            </a:r>
            <a:endParaRPr lang="en-US" sz="1100" dirty="0"/>
          </a:p>
        </p:txBody>
      </p:sp>
      <p:sp>
        <p:nvSpPr>
          <p:cNvPr id="10" name="Shape 7"/>
          <p:cNvSpPr/>
          <p:nvPr/>
        </p:nvSpPr>
        <p:spPr>
          <a:xfrm>
            <a:off x="548640" y="1645920"/>
            <a:ext cx="457200" cy="457200"/>
          </a:xfrm>
          <a:prstGeom prst="ellipse">
            <a:avLst/>
          </a:prstGeom>
          <a:solidFill>
            <a:srgbClr val="0F9488"/>
          </a:solidFill>
          <a:ln/>
        </p:spPr>
      </p:sp>
      <p:sp>
        <p:nvSpPr>
          <p:cNvPr id="11" name="Text 8"/>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Open Sources. </a:t>
            </a:r>
            <a:pPr indent="0" marL="0">
              <a:buNone/>
            </a:pPr>
            <a:r>
              <a:rPr lang="en-US" sz="1600" dirty="0">
                <a:solidFill>
                  <a:srgbClr val="12213A"/>
                </a:solidFill>
                <a:latin typeface="Calibri" pitchFamily="34" charset="0"/>
                <a:ea typeface="Calibri" pitchFamily="34" charset="-122"/>
                <a:cs typeface="Calibri" pitchFamily="34" charset="-120"/>
              </a:rPr>
              <a:t>Every .js file the page loaded is listed on the left.</a:t>
            </a:r>
            <a:endParaRPr lang="en-US" sz="1600" dirty="0"/>
          </a:p>
        </p:txBody>
      </p:sp>
      <p:sp>
        <p:nvSpPr>
          <p:cNvPr id="13" name="Shape 10"/>
          <p:cNvSpPr/>
          <p:nvPr/>
        </p:nvSpPr>
        <p:spPr>
          <a:xfrm>
            <a:off x="548640" y="2606040"/>
            <a:ext cx="457200" cy="457200"/>
          </a:xfrm>
          <a:prstGeom prst="ellipse">
            <a:avLst/>
          </a:prstGeom>
          <a:solidFill>
            <a:srgbClr val="0F9488"/>
          </a:solidFill>
          <a:ln/>
        </p:spPr>
      </p:sp>
      <p:sp>
        <p:nvSpPr>
          <p:cNvPr id="14" name="Text 11"/>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7860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Find the logic. </a:t>
            </a:r>
            <a:pPr indent="0" marL="0">
              <a:buNone/>
            </a:pPr>
            <a:r>
              <a:rPr lang="en-US" sz="1600" dirty="0">
                <a:solidFill>
                  <a:srgbClr val="12213A"/>
                </a:solidFill>
                <a:latin typeface="Calibri" pitchFamily="34" charset="0"/>
                <a:ea typeface="Calibri" pitchFamily="34" charset="-122"/>
                <a:cs typeface="Calibri" pitchFamily="34" charset="-120"/>
              </a:rPr>
              <a:t>Search for the button text, 'password', or 'flag'.</a:t>
            </a:r>
            <a:endParaRPr lang="en-US" sz="1600" dirty="0"/>
          </a:p>
        </p:txBody>
      </p:sp>
      <p:sp>
        <p:nvSpPr>
          <p:cNvPr id="16" name="Shape 13"/>
          <p:cNvSpPr/>
          <p:nvPr/>
        </p:nvSpPr>
        <p:spPr>
          <a:xfrm>
            <a:off x="548640" y="3566160"/>
            <a:ext cx="457200" cy="457200"/>
          </a:xfrm>
          <a:prstGeom prst="ellipse">
            <a:avLst/>
          </a:prstGeom>
          <a:solidFill>
            <a:srgbClr val="0F9488"/>
          </a:solidFill>
          <a:ln/>
        </p:spPr>
      </p:sp>
      <p:sp>
        <p:nvSpPr>
          <p:cNvPr id="17" name="Text 14"/>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53872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Read the secret. </a:t>
            </a:r>
            <a:pPr indent="0" marL="0">
              <a:buNone/>
            </a:pPr>
            <a:r>
              <a:rPr lang="en-US" sz="1600" dirty="0">
                <a:solidFill>
                  <a:srgbClr val="12213A"/>
                </a:solidFill>
                <a:latin typeface="Calibri" pitchFamily="34" charset="0"/>
                <a:ea typeface="Calibri" pitchFamily="34" charset="-122"/>
                <a:cs typeface="Calibri" pitchFamily="34" charset="-120"/>
              </a:rPr>
              <a:t>The password or flag is a plain string in the code.</a:t>
            </a:r>
            <a:endParaRPr lang="en-US" sz="1600" dirty="0"/>
          </a:p>
        </p:txBody>
      </p:sp>
      <p:sp>
        <p:nvSpPr>
          <p:cNvPr id="19" name="Shape 16"/>
          <p:cNvSpPr/>
          <p:nvPr/>
        </p:nvSpPr>
        <p:spPr>
          <a:xfrm>
            <a:off x="548640" y="4526280"/>
            <a:ext cx="457200" cy="457200"/>
          </a:xfrm>
          <a:prstGeom prst="ellipse">
            <a:avLst/>
          </a:prstGeom>
          <a:solidFill>
            <a:srgbClr val="0F9488"/>
          </a:solidFill>
          <a:ln/>
        </p:spPr>
      </p:sp>
      <p:sp>
        <p:nvSpPr>
          <p:cNvPr id="20" name="Text 17"/>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498848"/>
            <a:ext cx="5029200" cy="86868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Or skip the check. </a:t>
            </a:r>
            <a:pPr indent="0" marL="0">
              <a:buNone/>
            </a:pPr>
            <a:r>
              <a:rPr lang="en-US" sz="1600" dirty="0">
                <a:solidFill>
                  <a:srgbClr val="12213A"/>
                </a:solidFill>
                <a:latin typeface="Calibri" pitchFamily="34" charset="0"/>
                <a:ea typeface="Calibri" pitchFamily="34" charset="-122"/>
                <a:cs typeface="Calibri" pitchFamily="34" charset="-120"/>
              </a:rPr>
              <a:t>Call the reveal function straight from the Console.</a:t>
            </a:r>
            <a:endParaRPr lang="en-US" sz="1600" dirty="0"/>
          </a:p>
        </p:txBody>
      </p:sp>
      <p:sp>
        <p:nvSpPr>
          <p:cNvPr id="22" name="Shape 19"/>
          <p:cNvSpPr/>
          <p:nvPr/>
        </p:nvSpPr>
        <p:spPr>
          <a:xfrm>
            <a:off x="6492240" y="1463040"/>
            <a:ext cx="51480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3" name="Shape 20"/>
          <p:cNvSpPr/>
          <p:nvPr/>
        </p:nvSpPr>
        <p:spPr>
          <a:xfrm>
            <a:off x="6693408" y="1618488"/>
            <a:ext cx="118872" cy="118872"/>
          </a:xfrm>
          <a:prstGeom prst="ellipse">
            <a:avLst/>
          </a:prstGeom>
          <a:solidFill>
            <a:srgbClr val="E5534B"/>
          </a:solidFill>
          <a:ln/>
        </p:spPr>
      </p:sp>
      <p:sp>
        <p:nvSpPr>
          <p:cNvPr id="24" name="Shape 21"/>
          <p:cNvSpPr/>
          <p:nvPr/>
        </p:nvSpPr>
        <p:spPr>
          <a:xfrm>
            <a:off x="6894576" y="1618488"/>
            <a:ext cx="118872" cy="118872"/>
          </a:xfrm>
          <a:prstGeom prst="ellipse">
            <a:avLst/>
          </a:prstGeom>
          <a:solidFill>
            <a:srgbClr val="F5A623"/>
          </a:solidFill>
          <a:ln/>
        </p:spPr>
      </p:sp>
      <p:sp>
        <p:nvSpPr>
          <p:cNvPr id="25" name="Shape 22"/>
          <p:cNvSpPr/>
          <p:nvPr/>
        </p:nvSpPr>
        <p:spPr>
          <a:xfrm>
            <a:off x="7095744" y="1618488"/>
            <a:ext cx="118872" cy="118872"/>
          </a:xfrm>
          <a:prstGeom prst="ellipse">
            <a:avLst/>
          </a:prstGeom>
          <a:solidFill>
            <a:srgbClr val="46D39A"/>
          </a:solidFill>
          <a:ln/>
        </p:spPr>
      </p:sp>
      <p:sp>
        <p:nvSpPr>
          <p:cNvPr id="26" name="Text 23"/>
          <p:cNvSpPr txBox="1"/>
          <p:nvPr/>
        </p:nvSpPr>
        <p:spPr>
          <a:xfrm>
            <a:off x="7406640" y="1536192"/>
            <a:ext cx="33192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app.js</a:t>
            </a:r>
            <a:endParaRPr lang="en-US" sz="1000" dirty="0"/>
          </a:p>
        </p:txBody>
      </p:sp>
      <p:sp>
        <p:nvSpPr>
          <p:cNvPr id="27" name="Text 24"/>
          <p:cNvSpPr txBox="1"/>
          <p:nvPr/>
        </p:nvSpPr>
        <p:spPr>
          <a:xfrm>
            <a:off x="6766560" y="1920240"/>
            <a:ext cx="4599432" cy="3886200"/>
          </a:xfrm>
          <a:prstGeom prst="rect">
            <a:avLst/>
          </a:prstGeom>
          <a:noFill/>
          <a:ln/>
        </p:spPr>
        <p:txBody>
          <a:bodyPr wrap="square" lIns="0" tIns="0" rIns="0" bIns="0" rtlCol="0" anchor="t"/>
          <a:lstStyle/>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Sources → app.js</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function login(pw) {</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  if (pw === 'sunfl0wer-42') {</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reveal('CYBA{login-...}')</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or, in the Console:</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&gt; reveal('x')   // skip the check</a:t>
            </a:r>
            <a:endParaRPr lang="en-US" sz="1350" dirty="0"/>
          </a:p>
        </p:txBody>
      </p:sp>
      <p:sp>
        <p:nvSpPr>
          <p:cNvPr id="28"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19 / 61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Decode tokens: base64 &amp; JWT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atob('eyJoaSI6MX0')</a:t>
            </a:r>
            <a:endParaRPr lang="en-US" sz="1300" dirty="0"/>
          </a:p>
        </p:txBody>
      </p:sp>
      <p:sp>
        <p:nvSpPr>
          <p:cNvPr id="8" name="Shape 5"/>
          <p:cNvSpPr/>
          <p:nvPr/>
        </p:nvSpPr>
        <p:spPr>
          <a:xfrm>
            <a:off x="548640" y="109728"/>
            <a:ext cx="1357884" cy="274320"/>
          </a:xfrm>
          <a:prstGeom prst="roundRect">
            <a:avLst>
              <a:gd name="adj" fmla="val 50000"/>
            </a:avLst>
          </a:prstGeom>
          <a:solidFill>
            <a:srgbClr val="0F9488"/>
          </a:solidFill>
          <a:ln/>
        </p:spPr>
      </p:sp>
      <p:sp>
        <p:nvSpPr>
          <p:cNvPr id="9" name="Text 6"/>
          <p:cNvSpPr txBox="1"/>
          <p:nvPr/>
        </p:nvSpPr>
        <p:spPr>
          <a:xfrm>
            <a:off x="548640" y="109728"/>
            <a:ext cx="13578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 8</a:t>
            </a:r>
            <a:endParaRPr lang="en-US" sz="1100" dirty="0"/>
          </a:p>
        </p:txBody>
      </p:sp>
      <p:sp>
        <p:nvSpPr>
          <p:cNvPr id="10" name="Shape 7"/>
          <p:cNvSpPr/>
          <p:nvPr/>
        </p:nvSpPr>
        <p:spPr>
          <a:xfrm>
            <a:off x="548640" y="1600200"/>
            <a:ext cx="2514600" cy="1280160"/>
          </a:xfrm>
          <a:prstGeom prst="roundRect">
            <a:avLst>
              <a:gd name="adj" fmla="val 7143"/>
            </a:avLst>
          </a:prstGeom>
          <a:solidFill>
            <a:srgbClr val="17875A"/>
          </a:solidFill>
          <a:ln/>
        </p:spPr>
      </p:sp>
      <p:sp>
        <p:nvSpPr>
          <p:cNvPr id="11" name="Text 8"/>
          <p:cNvSpPr txBox="1"/>
          <p:nvPr/>
        </p:nvSpPr>
        <p:spPr>
          <a:xfrm>
            <a:off x="548640" y="1600200"/>
            <a:ext cx="2514600" cy="128016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eyJ1c2Vy...</a:t>
            </a:r>
            <a:endParaRPr lang="en-US" sz="1500" dirty="0"/>
          </a:p>
          <a:p>
            <a:pPr algn="ctr" indent="0" marL="0">
              <a:buNone/>
            </a:pPr>
            <a:r>
              <a:rPr lang="en-US" sz="1300" dirty="0">
                <a:solidFill>
                  <a:srgbClr val="FFFFFF"/>
                </a:solidFill>
                <a:latin typeface="Calibri" pitchFamily="34" charset="0"/>
                <a:ea typeface="Calibri" pitchFamily="34" charset="-122"/>
                <a:cs typeface="Calibri" pitchFamily="34" charset="-120"/>
              </a:rPr>
              <a:t>a token - looks random</a:t>
            </a:r>
            <a:endParaRPr lang="en-US" sz="1500" dirty="0"/>
          </a:p>
        </p:txBody>
      </p:sp>
      <p:sp>
        <p:nvSpPr>
          <p:cNvPr id="12" name="Text 9"/>
          <p:cNvSpPr txBox="1"/>
          <p:nvPr/>
        </p:nvSpPr>
        <p:spPr>
          <a:xfrm>
            <a:off x="3063240" y="1600200"/>
            <a:ext cx="292608" cy="1280160"/>
          </a:xfrm>
          <a:prstGeom prst="rect">
            <a:avLst/>
          </a:prstGeom>
          <a:noFill/>
          <a:ln/>
        </p:spPr>
        <p:txBody>
          <a:bodyPr wrap="square" lIns="0" tIns="0" rIns="0" bIns="0" rtlCol="0" anchor="ctr"/>
          <a:lstStyle/>
          <a:p>
            <a:pPr algn="ctr" indent="0" marL="0">
              <a:buNone/>
            </a:pPr>
            <a:r>
              <a:rPr lang="en-US" sz="2800" b="1" dirty="0">
                <a:solidFill>
                  <a:srgbClr val="56657E"/>
                </a:solidFill>
                <a:latin typeface="Courier New" pitchFamily="34" charset="0"/>
                <a:ea typeface="Courier New" pitchFamily="34" charset="-122"/>
                <a:cs typeface="Courier New" pitchFamily="34" charset="-120"/>
              </a:rPr>
              <a:t>&gt;</a:t>
            </a:r>
            <a:endParaRPr lang="en-US" sz="2800" dirty="0"/>
          </a:p>
        </p:txBody>
      </p:sp>
      <p:sp>
        <p:nvSpPr>
          <p:cNvPr id="13" name="Shape 10"/>
          <p:cNvSpPr/>
          <p:nvPr/>
        </p:nvSpPr>
        <p:spPr>
          <a:xfrm>
            <a:off x="3355848" y="1600200"/>
            <a:ext cx="2514600" cy="1280160"/>
          </a:xfrm>
          <a:prstGeom prst="roundRect">
            <a:avLst>
              <a:gd name="adj" fmla="val 7143"/>
            </a:avLst>
          </a:prstGeom>
          <a:solidFill>
            <a:srgbClr val="2A9FD6"/>
          </a:solidFill>
          <a:ln/>
        </p:spPr>
      </p:sp>
      <p:sp>
        <p:nvSpPr>
          <p:cNvPr id="14" name="Text 11"/>
          <p:cNvSpPr txBox="1"/>
          <p:nvPr/>
        </p:nvSpPr>
        <p:spPr>
          <a:xfrm>
            <a:off x="3355848" y="1600200"/>
            <a:ext cx="2514600" cy="128016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base64 -d</a:t>
            </a:r>
            <a:endParaRPr lang="en-US" sz="1500" dirty="0"/>
          </a:p>
          <a:p>
            <a:pPr algn="ctr" indent="0" marL="0">
              <a:buNone/>
            </a:pPr>
            <a:r>
              <a:rPr lang="en-US" sz="1300" dirty="0">
                <a:solidFill>
                  <a:srgbClr val="FFFFFF"/>
                </a:solidFill>
                <a:latin typeface="Calibri" pitchFamily="34" charset="0"/>
                <a:ea typeface="Calibri" pitchFamily="34" charset="-122"/>
                <a:cs typeface="Calibri" pitchFamily="34" charset="-120"/>
              </a:rPr>
              <a:t>it's only encoded</a:t>
            </a:r>
            <a:endParaRPr lang="en-US" sz="1500" dirty="0"/>
          </a:p>
        </p:txBody>
      </p:sp>
      <p:sp>
        <p:nvSpPr>
          <p:cNvPr id="15" name="Text 12"/>
          <p:cNvSpPr txBox="1"/>
          <p:nvPr/>
        </p:nvSpPr>
        <p:spPr>
          <a:xfrm>
            <a:off x="5870448" y="1600200"/>
            <a:ext cx="292608" cy="1280160"/>
          </a:xfrm>
          <a:prstGeom prst="rect">
            <a:avLst/>
          </a:prstGeom>
          <a:noFill/>
          <a:ln/>
        </p:spPr>
        <p:txBody>
          <a:bodyPr wrap="square" lIns="0" tIns="0" rIns="0" bIns="0" rtlCol="0" anchor="ctr"/>
          <a:lstStyle/>
          <a:p>
            <a:pPr algn="ctr" indent="0" marL="0">
              <a:buNone/>
            </a:pPr>
            <a:r>
              <a:rPr lang="en-US" sz="2800" b="1" dirty="0">
                <a:solidFill>
                  <a:srgbClr val="56657E"/>
                </a:solidFill>
                <a:latin typeface="Courier New" pitchFamily="34" charset="0"/>
                <a:ea typeface="Courier New" pitchFamily="34" charset="-122"/>
                <a:cs typeface="Courier New" pitchFamily="34" charset="-120"/>
              </a:rPr>
              <a:t>&gt;</a:t>
            </a:r>
            <a:endParaRPr lang="en-US" sz="2800" dirty="0"/>
          </a:p>
        </p:txBody>
      </p:sp>
      <p:sp>
        <p:nvSpPr>
          <p:cNvPr id="16" name="Shape 13"/>
          <p:cNvSpPr/>
          <p:nvPr/>
        </p:nvSpPr>
        <p:spPr>
          <a:xfrm>
            <a:off x="6163056" y="1600200"/>
            <a:ext cx="2514600" cy="1280160"/>
          </a:xfrm>
          <a:prstGeom prst="roundRect">
            <a:avLst>
              <a:gd name="adj" fmla="val 7143"/>
            </a:avLst>
          </a:prstGeom>
          <a:solidFill>
            <a:srgbClr val="0F9488"/>
          </a:solidFill>
          <a:ln/>
        </p:spPr>
      </p:sp>
      <p:sp>
        <p:nvSpPr>
          <p:cNvPr id="17" name="Text 14"/>
          <p:cNvSpPr txBox="1"/>
          <p:nvPr/>
        </p:nvSpPr>
        <p:spPr>
          <a:xfrm>
            <a:off x="6163056" y="1600200"/>
            <a:ext cx="2514600" cy="128016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{"user":...}</a:t>
            </a:r>
            <a:endParaRPr lang="en-US" sz="1500" dirty="0"/>
          </a:p>
          <a:p>
            <a:pPr algn="ctr" indent="0" marL="0">
              <a:buNone/>
            </a:pPr>
            <a:r>
              <a:rPr lang="en-US" sz="1300" dirty="0">
                <a:solidFill>
                  <a:srgbClr val="FFFFFF"/>
                </a:solidFill>
                <a:latin typeface="Calibri" pitchFamily="34" charset="0"/>
                <a:ea typeface="Calibri" pitchFamily="34" charset="-122"/>
                <a:cs typeface="Calibri" pitchFamily="34" charset="-120"/>
              </a:rPr>
              <a:t>readable JSON</a:t>
            </a:r>
            <a:endParaRPr lang="en-US" sz="1500" dirty="0"/>
          </a:p>
        </p:txBody>
      </p:sp>
      <p:sp>
        <p:nvSpPr>
          <p:cNvPr id="18" name="Text 15"/>
          <p:cNvSpPr txBox="1"/>
          <p:nvPr/>
        </p:nvSpPr>
        <p:spPr>
          <a:xfrm>
            <a:off x="8677656" y="1600200"/>
            <a:ext cx="292608" cy="1280160"/>
          </a:xfrm>
          <a:prstGeom prst="rect">
            <a:avLst/>
          </a:prstGeom>
          <a:noFill/>
          <a:ln/>
        </p:spPr>
        <p:txBody>
          <a:bodyPr wrap="square" lIns="0" tIns="0" rIns="0" bIns="0" rtlCol="0" anchor="ctr"/>
          <a:lstStyle/>
          <a:p>
            <a:pPr algn="ctr" indent="0" marL="0">
              <a:buNone/>
            </a:pPr>
            <a:r>
              <a:rPr lang="en-US" sz="2800" b="1" dirty="0">
                <a:solidFill>
                  <a:srgbClr val="56657E"/>
                </a:solidFill>
                <a:latin typeface="Courier New" pitchFamily="34" charset="0"/>
                <a:ea typeface="Courier New" pitchFamily="34" charset="-122"/>
                <a:cs typeface="Courier New" pitchFamily="34" charset="-120"/>
              </a:rPr>
              <a:t>&gt;</a:t>
            </a:r>
            <a:endParaRPr lang="en-US" sz="2800" dirty="0"/>
          </a:p>
        </p:txBody>
      </p:sp>
      <p:sp>
        <p:nvSpPr>
          <p:cNvPr id="19" name="Shape 16"/>
          <p:cNvSpPr/>
          <p:nvPr/>
        </p:nvSpPr>
        <p:spPr>
          <a:xfrm>
            <a:off x="8970264" y="1600200"/>
            <a:ext cx="2514600" cy="1280160"/>
          </a:xfrm>
          <a:prstGeom prst="roundRect">
            <a:avLst>
              <a:gd name="adj" fmla="val 7143"/>
            </a:avLst>
          </a:prstGeom>
          <a:solidFill>
            <a:srgbClr val="17875A"/>
          </a:solidFill>
          <a:ln/>
        </p:spPr>
      </p:sp>
      <p:sp>
        <p:nvSpPr>
          <p:cNvPr id="20" name="Text 17"/>
          <p:cNvSpPr txBox="1"/>
          <p:nvPr/>
        </p:nvSpPr>
        <p:spPr>
          <a:xfrm>
            <a:off x="8970264" y="1600200"/>
            <a:ext cx="2514600" cy="128016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CYBA{...}</a:t>
            </a:r>
            <a:endParaRPr lang="en-US" sz="1500" dirty="0"/>
          </a:p>
          <a:p>
            <a:pPr algn="ctr" indent="0" marL="0">
              <a:buNone/>
            </a:pPr>
            <a:r>
              <a:rPr lang="en-US" sz="1300" dirty="0">
                <a:solidFill>
                  <a:srgbClr val="FFFFFF"/>
                </a:solidFill>
                <a:latin typeface="Calibri" pitchFamily="34" charset="0"/>
                <a:ea typeface="Calibri" pitchFamily="34" charset="-122"/>
                <a:cs typeface="Calibri" pitchFamily="34" charset="-120"/>
              </a:rPr>
              <a:t>the flag inside</a:t>
            </a:r>
            <a:endParaRPr lang="en-US" sz="1500" dirty="0"/>
          </a:p>
        </p:txBody>
      </p:sp>
      <p:sp>
        <p:nvSpPr>
          <p:cNvPr id="21" name="Shape 18"/>
          <p:cNvSpPr/>
          <p:nvPr/>
        </p:nvSpPr>
        <p:spPr>
          <a:xfrm>
            <a:off x="548640" y="3108960"/>
            <a:ext cx="5577840" cy="2743200"/>
          </a:xfrm>
          <a:prstGeom prst="roundRect">
            <a:avLst>
              <a:gd name="adj" fmla="val 3333"/>
            </a:avLst>
          </a:prstGeom>
          <a:solidFill>
            <a:srgbClr val="FFF4DC"/>
          </a:solidFill>
          <a:ln/>
        </p:spPr>
      </p:sp>
      <p:sp>
        <p:nvSpPr>
          <p:cNvPr id="22" name="Text 19"/>
          <p:cNvSpPr txBox="1"/>
          <p:nvPr/>
        </p:nvSpPr>
        <p:spPr>
          <a:xfrm>
            <a:off x="822960" y="3246120"/>
            <a:ext cx="5029200" cy="36576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A JWT has three parts</a:t>
            </a:r>
            <a:endParaRPr lang="en-US" sz="1700" dirty="0"/>
          </a:p>
        </p:txBody>
      </p:sp>
      <p:sp>
        <p:nvSpPr>
          <p:cNvPr id="23" name="Shape 20"/>
          <p:cNvSpPr/>
          <p:nvPr/>
        </p:nvSpPr>
        <p:spPr>
          <a:xfrm>
            <a:off x="822960" y="3703320"/>
            <a:ext cx="1600200" cy="548640"/>
          </a:xfrm>
          <a:prstGeom prst="roundRect">
            <a:avLst>
              <a:gd name="adj" fmla="val 13333"/>
            </a:avLst>
          </a:prstGeom>
          <a:solidFill>
            <a:srgbClr val="2A9FD6"/>
          </a:solidFill>
          <a:ln/>
        </p:spPr>
      </p:sp>
      <p:sp>
        <p:nvSpPr>
          <p:cNvPr id="24" name="Text 21"/>
          <p:cNvSpPr txBox="1"/>
          <p:nvPr/>
        </p:nvSpPr>
        <p:spPr>
          <a:xfrm>
            <a:off x="822960" y="3703320"/>
            <a:ext cx="16002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header</a:t>
            </a:r>
            <a:endParaRPr lang="en-US" sz="1400" dirty="0"/>
          </a:p>
        </p:txBody>
      </p:sp>
      <p:sp>
        <p:nvSpPr>
          <p:cNvPr id="25" name="Text 22"/>
          <p:cNvSpPr txBox="1"/>
          <p:nvPr/>
        </p:nvSpPr>
        <p:spPr>
          <a:xfrm>
            <a:off x="2606040" y="3703320"/>
            <a:ext cx="3383280" cy="54864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which algorithm</a:t>
            </a:r>
            <a:endParaRPr lang="en-US" sz="1450" dirty="0"/>
          </a:p>
        </p:txBody>
      </p:sp>
      <p:sp>
        <p:nvSpPr>
          <p:cNvPr id="26" name="Shape 23"/>
          <p:cNvSpPr/>
          <p:nvPr/>
        </p:nvSpPr>
        <p:spPr>
          <a:xfrm>
            <a:off x="822960" y="4389120"/>
            <a:ext cx="1600200" cy="548640"/>
          </a:xfrm>
          <a:prstGeom prst="roundRect">
            <a:avLst>
              <a:gd name="adj" fmla="val 13333"/>
            </a:avLst>
          </a:prstGeom>
          <a:solidFill>
            <a:srgbClr val="D1416B"/>
          </a:solidFill>
          <a:ln/>
        </p:spPr>
      </p:sp>
      <p:sp>
        <p:nvSpPr>
          <p:cNvPr id="27" name="Text 24"/>
          <p:cNvSpPr txBox="1"/>
          <p:nvPr/>
        </p:nvSpPr>
        <p:spPr>
          <a:xfrm>
            <a:off x="822960" y="4389120"/>
            <a:ext cx="16002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payload</a:t>
            </a:r>
            <a:endParaRPr lang="en-US" sz="1400" dirty="0"/>
          </a:p>
        </p:txBody>
      </p:sp>
      <p:sp>
        <p:nvSpPr>
          <p:cNvPr id="28" name="Text 25"/>
          <p:cNvSpPr txBox="1"/>
          <p:nvPr/>
        </p:nvSpPr>
        <p:spPr>
          <a:xfrm>
            <a:off x="2606040" y="4389120"/>
            <a:ext cx="3383280" cy="54864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your data - decode &amp; read this</a:t>
            </a:r>
            <a:endParaRPr lang="en-US" sz="1450" dirty="0"/>
          </a:p>
        </p:txBody>
      </p:sp>
      <p:sp>
        <p:nvSpPr>
          <p:cNvPr id="29" name="Shape 26"/>
          <p:cNvSpPr/>
          <p:nvPr/>
        </p:nvSpPr>
        <p:spPr>
          <a:xfrm>
            <a:off x="822960" y="5074920"/>
            <a:ext cx="1600200" cy="548640"/>
          </a:xfrm>
          <a:prstGeom prst="roundRect">
            <a:avLst>
              <a:gd name="adj" fmla="val 13333"/>
            </a:avLst>
          </a:prstGeom>
          <a:solidFill>
            <a:srgbClr val="17875A"/>
          </a:solidFill>
          <a:ln/>
        </p:spPr>
      </p:sp>
      <p:sp>
        <p:nvSpPr>
          <p:cNvPr id="30" name="Text 27"/>
          <p:cNvSpPr txBox="1"/>
          <p:nvPr/>
        </p:nvSpPr>
        <p:spPr>
          <a:xfrm>
            <a:off x="822960" y="5074920"/>
            <a:ext cx="16002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signature</a:t>
            </a:r>
            <a:endParaRPr lang="en-US" sz="1400" dirty="0"/>
          </a:p>
        </p:txBody>
      </p:sp>
      <p:sp>
        <p:nvSpPr>
          <p:cNvPr id="31" name="Text 28"/>
          <p:cNvSpPr txBox="1"/>
          <p:nvPr/>
        </p:nvSpPr>
        <p:spPr>
          <a:xfrm>
            <a:off x="2606040" y="5074920"/>
            <a:ext cx="3383280" cy="548640"/>
          </a:xfrm>
          <a:prstGeom prst="rect">
            <a:avLst/>
          </a:prstGeom>
          <a:noFill/>
          <a:ln/>
        </p:spPr>
        <p:txBody>
          <a:bodyPr wrap="square" lIns="0" tIns="0" rIns="0" bIns="0" rtlCol="0" anchor="ctr"/>
          <a:lstStyle/>
          <a:p>
            <a:pPr indent="0" marL="0">
              <a:buNone/>
            </a:pPr>
            <a:r>
              <a:rPr lang="en-US" sz="1450" dirty="0">
                <a:solidFill>
                  <a:srgbClr val="12213A"/>
                </a:solidFill>
                <a:latin typeface="Calibri" pitchFamily="34" charset="0"/>
                <a:ea typeface="Calibri" pitchFamily="34" charset="-122"/>
                <a:cs typeface="Calibri" pitchFamily="34" charset="-120"/>
              </a:rPr>
              <a:t>proves it wasn't changed</a:t>
            </a:r>
            <a:endParaRPr lang="en-US" sz="1450" dirty="0"/>
          </a:p>
        </p:txBody>
      </p:sp>
      <p:sp>
        <p:nvSpPr>
          <p:cNvPr id="32" name="Shape 29"/>
          <p:cNvSpPr/>
          <p:nvPr/>
        </p:nvSpPr>
        <p:spPr>
          <a:xfrm>
            <a:off x="6309360" y="3108960"/>
            <a:ext cx="5330952" cy="2743200"/>
          </a:xfrm>
          <a:prstGeom prst="roundRect">
            <a:avLst>
              <a:gd name="adj" fmla="val 3333"/>
            </a:avLst>
          </a:prstGeom>
          <a:solidFill>
            <a:srgbClr val="0E1726"/>
          </a:solidFill>
          <a:ln/>
          <a:effectLst>
            <a:outerShdw sx="100000" sy="100000" kx="0" ky="0" algn="bl" rotWithShape="0" blurRad="127000" dist="38100" dir="5400000">
              <a:srgbClr val="12213A">
                <a:alpha val="22000"/>
              </a:srgbClr>
            </a:outerShdw>
          </a:effectLst>
        </p:spPr>
      </p:sp>
      <p:sp>
        <p:nvSpPr>
          <p:cNvPr id="33" name="Shape 30"/>
          <p:cNvSpPr/>
          <p:nvPr/>
        </p:nvSpPr>
        <p:spPr>
          <a:xfrm>
            <a:off x="6510528" y="3264408"/>
            <a:ext cx="118872" cy="118872"/>
          </a:xfrm>
          <a:prstGeom prst="ellipse">
            <a:avLst/>
          </a:prstGeom>
          <a:solidFill>
            <a:srgbClr val="E5534B"/>
          </a:solidFill>
          <a:ln/>
        </p:spPr>
      </p:sp>
      <p:sp>
        <p:nvSpPr>
          <p:cNvPr id="34" name="Shape 31"/>
          <p:cNvSpPr/>
          <p:nvPr/>
        </p:nvSpPr>
        <p:spPr>
          <a:xfrm>
            <a:off x="6711696" y="3264408"/>
            <a:ext cx="118872" cy="118872"/>
          </a:xfrm>
          <a:prstGeom prst="ellipse">
            <a:avLst/>
          </a:prstGeom>
          <a:solidFill>
            <a:srgbClr val="F5A623"/>
          </a:solidFill>
          <a:ln/>
        </p:spPr>
      </p:sp>
      <p:sp>
        <p:nvSpPr>
          <p:cNvPr id="35" name="Shape 32"/>
          <p:cNvSpPr/>
          <p:nvPr/>
        </p:nvSpPr>
        <p:spPr>
          <a:xfrm>
            <a:off x="6912864" y="3264408"/>
            <a:ext cx="118872" cy="118872"/>
          </a:xfrm>
          <a:prstGeom prst="ellipse">
            <a:avLst/>
          </a:prstGeom>
          <a:solidFill>
            <a:srgbClr val="46D39A"/>
          </a:solidFill>
          <a:ln/>
        </p:spPr>
      </p:sp>
      <p:sp>
        <p:nvSpPr>
          <p:cNvPr id="36" name="Text 33"/>
          <p:cNvSpPr txBox="1"/>
          <p:nvPr/>
        </p:nvSpPr>
        <p:spPr>
          <a:xfrm>
            <a:off x="7223760" y="3182112"/>
            <a:ext cx="350215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Console</a:t>
            </a:r>
            <a:endParaRPr lang="en-US" sz="1000" dirty="0"/>
          </a:p>
        </p:txBody>
      </p:sp>
      <p:sp>
        <p:nvSpPr>
          <p:cNvPr id="37" name="Text 34"/>
          <p:cNvSpPr txBox="1"/>
          <p:nvPr/>
        </p:nvSpPr>
        <p:spPr>
          <a:xfrm>
            <a:off x="6583680" y="3566160"/>
            <a:ext cx="4782312" cy="2148840"/>
          </a:xfrm>
          <a:prstGeom prst="rect">
            <a:avLst/>
          </a:prstGeom>
          <a:noFill/>
          <a:ln/>
        </p:spPr>
        <p:txBody>
          <a:bodyPr wrap="square" lIns="0" tIns="0" rIns="0" bIns="0" rtlCol="0" anchor="t"/>
          <a:lstStyle/>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&gt; atob('eyJ1c2VyIjoiZ3Vlc3QifQ')</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{"user":"guest"}</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the middle part of a JWT</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encoding, not encryption:</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no key, anyone can read it</a:t>
            </a:r>
            <a:endParaRPr lang="en-US" sz="1350" dirty="0"/>
          </a:p>
        </p:txBody>
      </p:sp>
      <p:sp>
        <p:nvSpPr>
          <p:cNvPr id="38" name="Text 3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20 / 61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Tamper with input: injection basics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type &lt;b&gt;hi&lt;/b&gt; in a search box</a:t>
            </a:r>
            <a:endParaRPr lang="en-US" sz="1300" dirty="0"/>
          </a:p>
        </p:txBody>
      </p:sp>
      <p:sp>
        <p:nvSpPr>
          <p:cNvPr id="8" name="Shape 5"/>
          <p:cNvSpPr/>
          <p:nvPr/>
        </p:nvSpPr>
        <p:spPr>
          <a:xfrm>
            <a:off x="548640" y="109728"/>
            <a:ext cx="1879092" cy="274320"/>
          </a:xfrm>
          <a:prstGeom prst="roundRect">
            <a:avLst>
              <a:gd name="adj" fmla="val 50000"/>
            </a:avLst>
          </a:prstGeom>
          <a:solidFill>
            <a:srgbClr val="5B6EE1"/>
          </a:solidFill>
          <a:ln/>
        </p:spPr>
      </p:sp>
      <p:sp>
        <p:nvSpPr>
          <p:cNvPr id="9" name="Text 6"/>
          <p:cNvSpPr txBox="1"/>
          <p:nvPr/>
        </p:nvSpPr>
        <p:spPr>
          <a:xfrm>
            <a:off x="548640" y="109728"/>
            <a:ext cx="18790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missions 9 &amp; 10</a:t>
            </a:r>
            <a:endParaRPr lang="en-US" sz="1100" dirty="0"/>
          </a:p>
        </p:txBody>
      </p:sp>
      <p:sp>
        <p:nvSpPr>
          <p:cNvPr id="10" name="Shape 7"/>
          <p:cNvSpPr/>
          <p:nvPr/>
        </p:nvSpPr>
        <p:spPr>
          <a:xfrm>
            <a:off x="548640" y="1600200"/>
            <a:ext cx="2057400" cy="1737360"/>
          </a:xfrm>
          <a:prstGeom prst="roundRect">
            <a:avLst>
              <a:gd name="adj" fmla="val 5263"/>
            </a:avLst>
          </a:prstGeom>
          <a:solidFill>
            <a:srgbClr val="F1F5FB"/>
          </a:solidFill>
          <a:ln/>
        </p:spPr>
      </p:sp>
      <p:sp>
        <p:nvSpPr>
          <p:cNvPr id="11" name="Shape 8"/>
          <p:cNvSpPr/>
          <p:nvPr/>
        </p:nvSpPr>
        <p:spPr>
          <a:xfrm>
            <a:off x="548640" y="1600200"/>
            <a:ext cx="2057400" cy="91440"/>
          </a:xfrm>
          <a:prstGeom prst="rect">
            <a:avLst/>
          </a:prstGeom>
          <a:solidFill>
            <a:srgbClr val="2A9FD6"/>
          </a:solidFill>
          <a:ln/>
        </p:spPr>
      </p:sp>
      <p:sp>
        <p:nvSpPr>
          <p:cNvPr id="12" name="Text 9"/>
          <p:cNvSpPr txBox="1"/>
          <p:nvPr/>
        </p:nvSpPr>
        <p:spPr>
          <a:xfrm>
            <a:off x="731520" y="1783080"/>
            <a:ext cx="1737360" cy="365760"/>
          </a:xfrm>
          <a:prstGeom prst="rect">
            <a:avLst/>
          </a:prstGeom>
          <a:noFill/>
          <a:ln/>
        </p:spPr>
        <p:txBody>
          <a:bodyPr wrap="square" lIns="0" tIns="0" rIns="0" bIns="0" rtlCol="0" anchor="t"/>
          <a:lstStyle/>
          <a:p>
            <a:pPr indent="0" marL="0">
              <a:buNone/>
            </a:pPr>
            <a:r>
              <a:rPr lang="en-US" sz="1400" b="1" dirty="0">
                <a:solidFill>
                  <a:srgbClr val="2A9FD6"/>
                </a:solidFill>
                <a:latin typeface="Calibri" pitchFamily="34" charset="0"/>
                <a:ea typeface="Calibri" pitchFamily="34" charset="-122"/>
                <a:cs typeface="Calibri" pitchFamily="34" charset="-120"/>
              </a:rPr>
              <a:t>You type</a:t>
            </a:r>
            <a:endParaRPr lang="en-US" sz="1400" dirty="0"/>
          </a:p>
        </p:txBody>
      </p:sp>
      <p:sp>
        <p:nvSpPr>
          <p:cNvPr id="13" name="Text 10"/>
          <p:cNvSpPr txBox="1"/>
          <p:nvPr/>
        </p:nvSpPr>
        <p:spPr>
          <a:xfrm>
            <a:off x="731520" y="2194560"/>
            <a:ext cx="1737360" cy="457200"/>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&lt;b&gt;hi&lt;/b&gt;</a:t>
            </a:r>
            <a:endParaRPr lang="en-US" sz="1400" dirty="0"/>
          </a:p>
        </p:txBody>
      </p:sp>
      <p:sp>
        <p:nvSpPr>
          <p:cNvPr id="14" name="Text 11"/>
          <p:cNvSpPr txBox="1"/>
          <p:nvPr/>
        </p:nvSpPr>
        <p:spPr>
          <a:xfrm>
            <a:off x="731520" y="2788920"/>
            <a:ext cx="1737360" cy="45720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ordinary-looking input</a:t>
            </a:r>
            <a:endParaRPr lang="en-US" sz="1200" dirty="0"/>
          </a:p>
        </p:txBody>
      </p:sp>
      <p:sp>
        <p:nvSpPr>
          <p:cNvPr id="15" name="Shape 12"/>
          <p:cNvSpPr/>
          <p:nvPr/>
        </p:nvSpPr>
        <p:spPr>
          <a:xfrm>
            <a:off x="2743200" y="1600200"/>
            <a:ext cx="2057400" cy="1737360"/>
          </a:xfrm>
          <a:prstGeom prst="roundRect">
            <a:avLst>
              <a:gd name="adj" fmla="val 5263"/>
            </a:avLst>
          </a:prstGeom>
          <a:solidFill>
            <a:srgbClr val="F1F5FB"/>
          </a:solidFill>
          <a:ln/>
        </p:spPr>
      </p:sp>
      <p:sp>
        <p:nvSpPr>
          <p:cNvPr id="16" name="Shape 13"/>
          <p:cNvSpPr/>
          <p:nvPr/>
        </p:nvSpPr>
        <p:spPr>
          <a:xfrm>
            <a:off x="2743200" y="1600200"/>
            <a:ext cx="2057400" cy="91440"/>
          </a:xfrm>
          <a:prstGeom prst="rect">
            <a:avLst/>
          </a:prstGeom>
          <a:solidFill>
            <a:srgbClr val="D1416B"/>
          </a:solidFill>
          <a:ln/>
        </p:spPr>
      </p:sp>
      <p:sp>
        <p:nvSpPr>
          <p:cNvPr id="17" name="Text 14"/>
          <p:cNvSpPr txBox="1"/>
          <p:nvPr/>
        </p:nvSpPr>
        <p:spPr>
          <a:xfrm>
            <a:off x="2926080" y="1783080"/>
            <a:ext cx="1737360" cy="365760"/>
          </a:xfrm>
          <a:prstGeom prst="rect">
            <a:avLst/>
          </a:prstGeom>
          <a:noFill/>
          <a:ln/>
        </p:spPr>
        <p:txBody>
          <a:bodyPr wrap="square" lIns="0" tIns="0" rIns="0" bIns="0" rtlCol="0" anchor="t"/>
          <a:lstStyle/>
          <a:p>
            <a:pPr indent="0" marL="0">
              <a:buNone/>
            </a:pPr>
            <a:r>
              <a:rPr lang="en-US" sz="1400" b="1" dirty="0">
                <a:solidFill>
                  <a:srgbClr val="D1416B"/>
                </a:solidFill>
                <a:latin typeface="Calibri" pitchFamily="34" charset="0"/>
                <a:ea typeface="Calibri" pitchFamily="34" charset="-122"/>
                <a:cs typeface="Calibri" pitchFamily="34" charset="-120"/>
              </a:rPr>
              <a:t>Careless site</a:t>
            </a:r>
            <a:endParaRPr lang="en-US" sz="1400" dirty="0"/>
          </a:p>
        </p:txBody>
      </p:sp>
      <p:sp>
        <p:nvSpPr>
          <p:cNvPr id="18" name="Text 15"/>
          <p:cNvSpPr txBox="1"/>
          <p:nvPr/>
        </p:nvSpPr>
        <p:spPr>
          <a:xfrm>
            <a:off x="2926080" y="2194560"/>
            <a:ext cx="1737360" cy="457200"/>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shows: hi</a:t>
            </a:r>
            <a:endParaRPr lang="en-US" sz="1400" dirty="0"/>
          </a:p>
        </p:txBody>
      </p:sp>
      <p:sp>
        <p:nvSpPr>
          <p:cNvPr id="19" name="Text 16"/>
          <p:cNvSpPr txBox="1"/>
          <p:nvPr/>
        </p:nvSpPr>
        <p:spPr>
          <a:xfrm>
            <a:off x="2926080" y="2788920"/>
            <a:ext cx="1737360" cy="45720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ran it as HTML</a:t>
            </a:r>
            <a:endParaRPr lang="en-US" sz="1200" dirty="0"/>
          </a:p>
        </p:txBody>
      </p:sp>
      <p:sp>
        <p:nvSpPr>
          <p:cNvPr id="20" name="Shape 17"/>
          <p:cNvSpPr/>
          <p:nvPr/>
        </p:nvSpPr>
        <p:spPr>
          <a:xfrm>
            <a:off x="4937760" y="1600200"/>
            <a:ext cx="2057400" cy="1737360"/>
          </a:xfrm>
          <a:prstGeom prst="roundRect">
            <a:avLst>
              <a:gd name="adj" fmla="val 5263"/>
            </a:avLst>
          </a:prstGeom>
          <a:solidFill>
            <a:srgbClr val="F1F5FB"/>
          </a:solidFill>
          <a:ln/>
        </p:spPr>
      </p:sp>
      <p:sp>
        <p:nvSpPr>
          <p:cNvPr id="21" name="Shape 18"/>
          <p:cNvSpPr/>
          <p:nvPr/>
        </p:nvSpPr>
        <p:spPr>
          <a:xfrm>
            <a:off x="4937760" y="1600200"/>
            <a:ext cx="2057400" cy="91440"/>
          </a:xfrm>
          <a:prstGeom prst="rect">
            <a:avLst/>
          </a:prstGeom>
          <a:solidFill>
            <a:srgbClr val="B93434"/>
          </a:solidFill>
          <a:ln/>
        </p:spPr>
      </p:sp>
      <p:sp>
        <p:nvSpPr>
          <p:cNvPr id="22" name="Text 19"/>
          <p:cNvSpPr txBox="1"/>
          <p:nvPr/>
        </p:nvSpPr>
        <p:spPr>
          <a:xfrm>
            <a:off x="5120640" y="1783080"/>
            <a:ext cx="1737360" cy="365760"/>
          </a:xfrm>
          <a:prstGeom prst="rect">
            <a:avLst/>
          </a:prstGeom>
          <a:noFill/>
          <a:ln/>
        </p:spPr>
        <p:txBody>
          <a:bodyPr wrap="square" lIns="0" tIns="0" rIns="0" bIns="0" rtlCol="0" anchor="t"/>
          <a:lstStyle/>
          <a:p>
            <a:pPr indent="0" marL="0">
              <a:buNone/>
            </a:pPr>
            <a:r>
              <a:rPr lang="en-US" sz="1400" b="1" dirty="0">
                <a:solidFill>
                  <a:srgbClr val="B93434"/>
                </a:solidFill>
                <a:latin typeface="Calibri" pitchFamily="34" charset="0"/>
                <a:ea typeface="Calibri" pitchFamily="34" charset="-122"/>
                <a:cs typeface="Calibri" pitchFamily="34" charset="-120"/>
              </a:rPr>
              <a:t>The idea</a:t>
            </a:r>
            <a:endParaRPr lang="en-US" sz="1400" dirty="0"/>
          </a:p>
        </p:txBody>
      </p:sp>
      <p:sp>
        <p:nvSpPr>
          <p:cNvPr id="23" name="Text 20"/>
          <p:cNvSpPr txBox="1"/>
          <p:nvPr/>
        </p:nvSpPr>
        <p:spPr>
          <a:xfrm>
            <a:off x="5120640" y="2194560"/>
            <a:ext cx="1737360" cy="457200"/>
          </a:xfrm>
          <a:prstGeom prst="rect">
            <a:avLst/>
          </a:prstGeom>
          <a:noFill/>
          <a:ln/>
        </p:spPr>
        <p:txBody>
          <a:bodyPr wrap="square" lIns="0" tIns="0" rIns="0" bIns="0" rtlCol="0" anchor="ctr"/>
          <a:lstStyle/>
          <a:p>
            <a:pPr algn="ctr" indent="0" marL="0">
              <a:buNone/>
            </a:pPr>
            <a:r>
              <a:rPr lang="en-US" sz="1400" b="1" dirty="0">
                <a:solidFill>
                  <a:srgbClr val="12213A"/>
                </a:solidFill>
                <a:latin typeface="Courier New" pitchFamily="34" charset="0"/>
                <a:ea typeface="Courier New" pitchFamily="34" charset="-122"/>
                <a:cs typeface="Courier New" pitchFamily="34" charset="-120"/>
              </a:rPr>
              <a:t>input = code</a:t>
            </a:r>
            <a:endParaRPr lang="en-US" sz="1400" dirty="0"/>
          </a:p>
        </p:txBody>
      </p:sp>
      <p:sp>
        <p:nvSpPr>
          <p:cNvPr id="24" name="Text 21"/>
          <p:cNvSpPr txBox="1"/>
          <p:nvPr/>
        </p:nvSpPr>
        <p:spPr>
          <a:xfrm>
            <a:off x="5120640" y="2788920"/>
            <a:ext cx="1737360" cy="457200"/>
          </a:xfrm>
          <a:prstGeom prst="rect">
            <a:avLst/>
          </a:prstGeom>
          <a:noFill/>
          <a:ln/>
        </p:spPr>
        <p:txBody>
          <a:bodyPr wrap="square" lIns="0" tIns="0" rIns="0" bIns="0" rtlCol="0" anchor="t"/>
          <a:lstStyle/>
          <a:p>
            <a:pPr indent="0" marL="0">
              <a:buNone/>
            </a:pPr>
            <a:r>
              <a:rPr lang="en-US" sz="1200" dirty="0">
                <a:solidFill>
                  <a:srgbClr val="56657E"/>
                </a:solidFill>
                <a:latin typeface="Calibri" pitchFamily="34" charset="0"/>
                <a:ea typeface="Calibri" pitchFamily="34" charset="-122"/>
                <a:cs typeface="Calibri" pitchFamily="34" charset="-120"/>
              </a:rPr>
              <a:t>if it isn't cleaned</a:t>
            </a:r>
            <a:endParaRPr lang="en-US" sz="1200" dirty="0"/>
          </a:p>
        </p:txBody>
      </p:sp>
      <p:sp>
        <p:nvSpPr>
          <p:cNvPr id="25" name="Shape 22"/>
          <p:cNvSpPr/>
          <p:nvPr/>
        </p:nvSpPr>
        <p:spPr>
          <a:xfrm>
            <a:off x="548640" y="3611880"/>
            <a:ext cx="6400800" cy="2331720"/>
          </a:xfrm>
          <a:prstGeom prst="roundRect">
            <a:avLst>
              <a:gd name="adj" fmla="val 3922"/>
            </a:avLst>
          </a:prstGeom>
          <a:solidFill>
            <a:srgbClr val="FFF4DC"/>
          </a:solidFill>
          <a:ln/>
        </p:spPr>
      </p:sp>
      <p:sp>
        <p:nvSpPr>
          <p:cNvPr id="26" name="Text 23"/>
          <p:cNvSpPr txBox="1"/>
          <p:nvPr/>
        </p:nvSpPr>
        <p:spPr>
          <a:xfrm>
            <a:off x="822960" y="3749040"/>
            <a:ext cx="5852160" cy="365760"/>
          </a:xfrm>
          <a:prstGeom prst="rect">
            <a:avLst/>
          </a:prstGeom>
          <a:noFill/>
          <a:ln/>
        </p:spPr>
        <p:txBody>
          <a:bodyPr wrap="square" lIns="0" tIns="0" rIns="0" bIns="0" rtlCol="0" anchor="t"/>
          <a:lstStyle/>
          <a:p>
            <a:pPr indent="0" marL="0">
              <a:buNone/>
            </a:pPr>
            <a:r>
              <a:rPr lang="en-US" sz="1600" b="1" dirty="0">
                <a:solidFill>
                  <a:srgbClr val="12213A"/>
                </a:solidFill>
                <a:latin typeface="Calibri" pitchFamily="34" charset="0"/>
                <a:ea typeface="Calibri" pitchFamily="34" charset="-122"/>
                <a:cs typeface="Calibri" pitchFamily="34" charset="-120"/>
              </a:rPr>
              <a:t>Two faces of the same mistake</a:t>
            </a:r>
            <a:endParaRPr lang="en-US" sz="1600" dirty="0"/>
          </a:p>
        </p:txBody>
      </p:sp>
      <p:sp>
        <p:nvSpPr>
          <p:cNvPr id="27" name="Text 24"/>
          <p:cNvSpPr txBox="1"/>
          <p:nvPr/>
        </p:nvSpPr>
        <p:spPr>
          <a:xfrm>
            <a:off x="822960" y="4160520"/>
            <a:ext cx="5943600" cy="1645920"/>
          </a:xfrm>
          <a:prstGeom prst="rect">
            <a:avLst/>
          </a:prstGeom>
          <a:noFill/>
          <a:ln/>
        </p:spPr>
        <p:txBody>
          <a:bodyPr wrap="square" lIns="0" tIns="0" rIns="0" bIns="0" rtlCol="0" anchor="t"/>
          <a:lstStyle/>
          <a:p>
            <a:pPr indent="0" marL="0">
              <a:spcAft>
                <a:spcPts val="600"/>
              </a:spcAft>
              <a:buNone/>
            </a:pPr>
            <a:r>
              <a:rPr lang="en-US" sz="1500" b="1" dirty="0">
                <a:solidFill>
                  <a:srgbClr val="D1416B"/>
                </a:solidFill>
                <a:latin typeface="Calibri" pitchFamily="34" charset="0"/>
                <a:ea typeface="Calibri" pitchFamily="34" charset="-122"/>
                <a:cs typeface="Calibri" pitchFamily="34" charset="-120"/>
              </a:rPr>
              <a:t>XSS: </a:t>
            </a:r>
            <a:pPr indent="0" marL="0">
              <a:spcAft>
                <a:spcPts val="600"/>
              </a:spcAft>
              <a:buNone/>
            </a:pPr>
            <a:r>
              <a:rPr lang="en-US" sz="1500" dirty="0">
                <a:solidFill>
                  <a:srgbClr val="12213A"/>
                </a:solidFill>
                <a:latin typeface="Calibri" pitchFamily="34" charset="0"/>
                <a:ea typeface="Calibri" pitchFamily="34" charset="-122"/>
                <a:cs typeface="Calibri" pitchFamily="34" charset="-120"/>
              </a:rPr>
              <a:t>your input is run as HTML/JavaScript in the page.</a:t>
            </a:r>
            <a:endParaRPr lang="en-US" sz="1500" dirty="0"/>
          </a:p>
          <a:p>
            <a:pPr indent="0" marL="0">
              <a:spcAft>
                <a:spcPts val="600"/>
              </a:spcAft>
              <a:buNone/>
            </a:pPr>
            <a:r>
              <a:rPr lang="en-US" sz="1500" b="1" dirty="0">
                <a:solidFill>
                  <a:srgbClr val="B4233F"/>
                </a:solidFill>
                <a:latin typeface="Calibri" pitchFamily="34" charset="0"/>
                <a:ea typeface="Calibri" pitchFamily="34" charset="-122"/>
                <a:cs typeface="Calibri" pitchFamily="34" charset="-120"/>
              </a:rPr>
              <a:t>SQL injection: </a:t>
            </a:r>
            <a:pPr indent="0" marL="0">
              <a:spcAft>
                <a:spcPts val="600"/>
              </a:spcAft>
              <a:buNone/>
            </a:pPr>
            <a:r>
              <a:rPr lang="en-US" sz="1500" dirty="0">
                <a:solidFill>
                  <a:srgbClr val="12213A"/>
                </a:solidFill>
                <a:latin typeface="Calibri" pitchFamily="34" charset="0"/>
                <a:ea typeface="Calibri" pitchFamily="34" charset="-122"/>
                <a:cs typeface="Calibri" pitchFamily="34" charset="-120"/>
              </a:rPr>
              <a:t>your input is run as a database query.</a:t>
            </a:r>
            <a:endParaRPr lang="en-US" sz="1500" dirty="0"/>
          </a:p>
          <a:p>
            <a:pPr indent="0" marL="0">
              <a:spcAft>
                <a:spcPts val="600"/>
              </a:spcAft>
              <a:buNone/>
            </a:pPr>
            <a:r>
              <a:rPr lang="en-US" sz="1500" b="1" dirty="0">
                <a:solidFill>
                  <a:srgbClr val="17875A"/>
                </a:solidFill>
                <a:latin typeface="Calibri" pitchFamily="34" charset="0"/>
                <a:ea typeface="Calibri" pitchFamily="34" charset="-122"/>
                <a:cs typeface="Calibri" pitchFamily="34" charset="-120"/>
              </a:rPr>
              <a:t>The fix (both): </a:t>
            </a:r>
            <a:pPr indent="0" marL="0">
              <a:spcAft>
                <a:spcPts val="600"/>
              </a:spcAft>
              <a:buNone/>
            </a:pPr>
            <a:r>
              <a:rPr lang="en-US" sz="1500" dirty="0">
                <a:solidFill>
                  <a:srgbClr val="12213A"/>
                </a:solidFill>
                <a:latin typeface="Calibri" pitchFamily="34" charset="0"/>
                <a:ea typeface="Calibri" pitchFamily="34" charset="-122"/>
                <a:cs typeface="Calibri" pitchFamily="34" charset="-120"/>
              </a:rPr>
              <a:t>treat input as text, never as code. Clean it, escape it, don't trust it.</a:t>
            </a:r>
            <a:endParaRPr lang="en-US" sz="1500" dirty="0"/>
          </a:p>
        </p:txBody>
      </p:sp>
      <p:sp>
        <p:nvSpPr>
          <p:cNvPr id="28" name="Shape 25"/>
          <p:cNvSpPr/>
          <p:nvPr/>
        </p:nvSpPr>
        <p:spPr>
          <a:xfrm>
            <a:off x="7086600" y="1463040"/>
            <a:ext cx="455371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287768" y="1618488"/>
            <a:ext cx="118872" cy="118872"/>
          </a:xfrm>
          <a:prstGeom prst="ellipse">
            <a:avLst/>
          </a:prstGeom>
          <a:solidFill>
            <a:srgbClr val="E5534B"/>
          </a:solidFill>
          <a:ln/>
        </p:spPr>
      </p:sp>
      <p:sp>
        <p:nvSpPr>
          <p:cNvPr id="30" name="Shape 27"/>
          <p:cNvSpPr/>
          <p:nvPr/>
        </p:nvSpPr>
        <p:spPr>
          <a:xfrm>
            <a:off x="7488936" y="1618488"/>
            <a:ext cx="118872" cy="118872"/>
          </a:xfrm>
          <a:prstGeom prst="ellipse">
            <a:avLst/>
          </a:prstGeom>
          <a:solidFill>
            <a:srgbClr val="F5A623"/>
          </a:solidFill>
          <a:ln/>
        </p:spPr>
      </p:sp>
      <p:sp>
        <p:nvSpPr>
          <p:cNvPr id="31" name="Shape 28"/>
          <p:cNvSpPr/>
          <p:nvPr/>
        </p:nvSpPr>
        <p:spPr>
          <a:xfrm>
            <a:off x="7690104" y="1618488"/>
            <a:ext cx="118872" cy="118872"/>
          </a:xfrm>
          <a:prstGeom prst="ellipse">
            <a:avLst/>
          </a:prstGeom>
          <a:solidFill>
            <a:srgbClr val="46D39A"/>
          </a:solidFill>
          <a:ln/>
        </p:spPr>
      </p:sp>
      <p:sp>
        <p:nvSpPr>
          <p:cNvPr id="32" name="Text 29"/>
          <p:cNvSpPr txBox="1"/>
          <p:nvPr/>
        </p:nvSpPr>
        <p:spPr>
          <a:xfrm>
            <a:off x="8001000" y="1536192"/>
            <a:ext cx="272491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the search box</a:t>
            </a:r>
            <a:endParaRPr lang="en-US" sz="1000" dirty="0"/>
          </a:p>
        </p:txBody>
      </p:sp>
      <p:sp>
        <p:nvSpPr>
          <p:cNvPr id="33" name="Text 30"/>
          <p:cNvSpPr txBox="1"/>
          <p:nvPr/>
        </p:nvSpPr>
        <p:spPr>
          <a:xfrm>
            <a:off x="7360920" y="1920240"/>
            <a:ext cx="4005072" cy="3886200"/>
          </a:xfrm>
          <a:prstGeom prst="rect">
            <a:avLst/>
          </a:prstGeom>
          <a:noFill/>
          <a:ln/>
        </p:spPr>
        <p:txBody>
          <a:bodyPr wrap="square" lIns="0" tIns="0" rIns="0" bIns="0" rtlCol="0" anchor="t"/>
          <a:lstStyle/>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search: apple</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You searched: apple</a:t>
            </a:r>
            <a:endParaRPr lang="en-US" sz="1350" dirty="0"/>
          </a:p>
          <a:p>
            <a:pPr indent="0" marL="0">
              <a:spcAft>
                <a:spcPts val="200"/>
              </a:spcAft>
              <a:buNone/>
            </a:pPr>
            <a:r>
              <a:rPr lang="en-US" sz="13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50" b="1" dirty="0">
                <a:solidFill>
                  <a:srgbClr val="FFFFFF"/>
                </a:solidFill>
                <a:latin typeface="Courier New" pitchFamily="34" charset="0"/>
                <a:ea typeface="Courier New" pitchFamily="34" charset="-122"/>
                <a:cs typeface="Courier New" pitchFamily="34" charset="-120"/>
              </a:rPr>
              <a:t>search: &lt;b&gt;hi&lt;/b&gt;</a:t>
            </a:r>
            <a:endParaRPr lang="en-US" sz="1350" dirty="0"/>
          </a:p>
          <a:p>
            <a:pPr indent="0" marL="0">
              <a:spcAft>
                <a:spcPts val="200"/>
              </a:spcAft>
              <a:buNone/>
            </a:pPr>
            <a:r>
              <a:rPr lang="en-US" sz="1350" b="1" dirty="0">
                <a:solidFill>
                  <a:srgbClr val="F5A623"/>
                </a:solidFill>
                <a:latin typeface="Courier New" pitchFamily="34" charset="0"/>
                <a:ea typeface="Courier New" pitchFamily="34" charset="-122"/>
                <a:cs typeface="Courier New" pitchFamily="34" charset="-120"/>
              </a:rPr>
              <a:t>You searched: hi  (bold!)</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input was run,</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not shown as text</a:t>
            </a:r>
            <a:endParaRPr lang="en-US" sz="1350" dirty="0"/>
          </a:p>
          <a:p>
            <a:pPr indent="0" marL="0">
              <a:spcAft>
                <a:spcPts val="200"/>
              </a:spcAft>
              <a:buNone/>
            </a:pPr>
            <a:r>
              <a:rPr lang="en-US" sz="1350" dirty="0">
                <a:solidFill>
                  <a:srgbClr val="B8C4D9"/>
                </a:solidFill>
                <a:latin typeface="Courier New" pitchFamily="34" charset="0"/>
                <a:ea typeface="Courier New" pitchFamily="34" charset="-122"/>
                <a:cs typeface="Courier New" pitchFamily="34" charset="-120"/>
              </a:rPr>
              <a:t> </a:t>
            </a:r>
            <a:endParaRPr lang="en-US" sz="1350" dirty="0"/>
          </a:p>
          <a:p>
            <a:pPr indent="0" marL="0">
              <a:spcAft>
                <a:spcPts val="200"/>
              </a:spcAft>
              <a:buNone/>
            </a:pPr>
            <a:r>
              <a:rPr lang="en-US" sz="1350" dirty="0">
                <a:solidFill>
                  <a:srgbClr val="7F8FAD"/>
                </a:solidFill>
                <a:latin typeface="Courier New" pitchFamily="34" charset="0"/>
                <a:ea typeface="Courier New" pitchFamily="34" charset="-122"/>
                <a:cs typeface="Courier New" pitchFamily="34" charset="-120"/>
              </a:rPr>
              <a:t># only ever in the CTF.</a:t>
            </a:r>
            <a:endParaRPr lang="en-US" sz="1350" dirty="0"/>
          </a:p>
        </p:txBody>
      </p:sp>
      <p:sp>
        <p:nvSpPr>
          <p:cNvPr id="34" name="Text 3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21 / 61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sp>
      <p:sp>
        <p:nvSpPr>
          <p:cNvPr id="4" name="Shape 2"/>
          <p:cNvSpPr/>
          <p:nvPr/>
        </p:nvSpPr>
        <p:spPr>
          <a:xfrm>
            <a:off x="7985455" y="594360"/>
            <a:ext cx="868680" cy="365760"/>
          </a:xfrm>
          <a:prstGeom prst="roundRect">
            <a:avLst>
              <a:gd name="adj" fmla="val 20000"/>
            </a:avLst>
          </a:prstGeom>
          <a:solidFill>
            <a:srgbClr val="17875A"/>
          </a:solidFill>
          <a:ln/>
        </p:spPr>
      </p:sp>
      <p:sp>
        <p:nvSpPr>
          <p:cNvPr id="5" name="Text 3"/>
          <p:cNvSpPr txBox="1"/>
          <p:nvPr/>
        </p:nvSpPr>
        <p:spPr>
          <a:xfrm>
            <a:off x="7985455" y="594360"/>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indent="0" marL="0">
              <a:buNone/>
            </a:pPr>
            <a:r>
              <a:rPr lang="en-US" sz="1300" b="1" dirty="0">
                <a:solidFill>
                  <a:srgbClr val="12213A"/>
                </a:solidFill>
                <a:latin typeface="Courier New" pitchFamily="34" charset="0"/>
                <a:ea typeface="Courier New" pitchFamily="34" charset="-122"/>
                <a:cs typeface="Courier New" pitchFamily="34" charset="-120"/>
              </a:rPr>
              <a:t>F12, then look around</a:t>
            </a:r>
            <a:endParaRPr lang="en-US" sz="1300" dirty="0"/>
          </a:p>
        </p:txBody>
      </p:sp>
      <p:sp>
        <p:nvSpPr>
          <p:cNvPr id="8" name="Shape 5"/>
          <p:cNvSpPr/>
          <p:nvPr/>
        </p:nvSpPr>
        <p:spPr>
          <a:xfrm>
            <a:off x="548640" y="1645920"/>
            <a:ext cx="457200" cy="457200"/>
          </a:xfrm>
          <a:prstGeom prst="ellipse">
            <a:avLst/>
          </a:prstGeom>
          <a:solidFill>
            <a:srgbClr val="2459D8"/>
          </a:solidFill>
          <a:ln/>
        </p:spPr>
      </p:sp>
      <p:sp>
        <p:nvSpPr>
          <p:cNvPr id="9" name="Text 6"/>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188720" y="161848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Open DevTools and read. </a:t>
            </a:r>
            <a:pPr indent="0" marL="0">
              <a:buNone/>
            </a:pPr>
            <a:r>
              <a:rPr lang="en-US" sz="1700" dirty="0">
                <a:solidFill>
                  <a:srgbClr val="12213A"/>
                </a:solidFill>
                <a:latin typeface="Calibri" pitchFamily="34" charset="0"/>
                <a:ea typeface="Calibri" pitchFamily="34" charset="-122"/>
                <a:cs typeface="Calibri" pitchFamily="34" charset="-120"/>
              </a:rPr>
              <a:t>Free. The source, cookies and JS are usually enough.</a:t>
            </a:r>
            <a:endParaRPr lang="en-US" sz="1700" dirty="0"/>
          </a:p>
        </p:txBody>
      </p:sp>
      <p:sp>
        <p:nvSpPr>
          <p:cNvPr id="11" name="Shape 8"/>
          <p:cNvSpPr/>
          <p:nvPr/>
        </p:nvSpPr>
        <p:spPr>
          <a:xfrm>
            <a:off x="548640" y="2606040"/>
            <a:ext cx="457200" cy="457200"/>
          </a:xfrm>
          <a:prstGeom prst="ellipse">
            <a:avLst/>
          </a:prstGeom>
          <a:solidFill>
            <a:srgbClr val="2459D8"/>
          </a:solidFill>
          <a:ln/>
        </p:spPr>
      </p:sp>
      <p:sp>
        <p:nvSpPr>
          <p:cNvPr id="12" name="Text 9"/>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188720" y="257860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Name where it hides. </a:t>
            </a:r>
            <a:pPr indent="0" marL="0">
              <a:buNone/>
            </a:pPr>
            <a:r>
              <a:rPr lang="en-US" sz="1700" dirty="0">
                <a:solidFill>
                  <a:srgbClr val="12213A"/>
                </a:solidFill>
                <a:latin typeface="Calibri" pitchFamily="34" charset="0"/>
                <a:ea typeface="Calibri" pitchFamily="34" charset="-122"/>
                <a:cs typeface="Calibri" pitchFamily="34" charset="-120"/>
              </a:rPr>
              <a:t>Source? Cookie? URL? Token? The place names the tool.</a:t>
            </a:r>
            <a:endParaRPr lang="en-US" sz="1700" dirty="0"/>
          </a:p>
        </p:txBody>
      </p:sp>
      <p:sp>
        <p:nvSpPr>
          <p:cNvPr id="14" name="Shape 11"/>
          <p:cNvSpPr/>
          <p:nvPr/>
        </p:nvSpPr>
        <p:spPr>
          <a:xfrm>
            <a:off x="548640" y="3566160"/>
            <a:ext cx="457200" cy="457200"/>
          </a:xfrm>
          <a:prstGeom prst="ellipse">
            <a:avLst/>
          </a:prstGeom>
          <a:solidFill>
            <a:srgbClr val="2459D8"/>
          </a:solidFill>
          <a:ln/>
        </p:spPr>
      </p:sp>
      <p:sp>
        <p:nvSpPr>
          <p:cNvPr id="15" name="Text 12"/>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3"/>
          <p:cNvSpPr txBox="1"/>
          <p:nvPr/>
        </p:nvSpPr>
        <p:spPr>
          <a:xfrm>
            <a:off x="1188720" y="353872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Change one thing. </a:t>
            </a:r>
            <a:pPr indent="0" marL="0">
              <a:buNone/>
            </a:pPr>
            <a:r>
              <a:rPr lang="en-US" sz="1700" dirty="0">
                <a:solidFill>
                  <a:srgbClr val="12213A"/>
                </a:solidFill>
                <a:latin typeface="Calibri" pitchFamily="34" charset="0"/>
                <a:ea typeface="Calibri" pitchFamily="34" charset="-122"/>
                <a:cs typeface="Calibri" pitchFamily="34" charset="-120"/>
              </a:rPr>
              <a:t>Edit the URL, a cookie, or your input - then look again.</a:t>
            </a:r>
            <a:endParaRPr lang="en-US" sz="1700" dirty="0"/>
          </a:p>
        </p:txBody>
      </p:sp>
      <p:sp>
        <p:nvSpPr>
          <p:cNvPr id="17" name="Shape 14"/>
          <p:cNvSpPr/>
          <p:nvPr/>
        </p:nvSpPr>
        <p:spPr>
          <a:xfrm>
            <a:off x="548640" y="4526280"/>
            <a:ext cx="457200" cy="457200"/>
          </a:xfrm>
          <a:prstGeom prst="ellipse">
            <a:avLst/>
          </a:prstGeom>
          <a:solidFill>
            <a:srgbClr val="2459D8"/>
          </a:solidFill>
          <a:ln/>
        </p:spPr>
      </p:sp>
      <p:sp>
        <p:nvSpPr>
          <p:cNvPr id="18" name="Text 15"/>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txBox="1"/>
          <p:nvPr/>
        </p:nvSpPr>
        <p:spPr>
          <a:xfrm>
            <a:off x="1188720" y="4498848"/>
            <a:ext cx="5029200" cy="8686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Buy a hint. </a:t>
            </a:r>
            <a:pPr indent="0" marL="0">
              <a:buNone/>
            </a:pPr>
            <a:r>
              <a:rPr lang="en-US" sz="1700" dirty="0">
                <a:solidFill>
                  <a:srgbClr val="12213A"/>
                </a:solidFill>
                <a:latin typeface="Calibri" pitchFamily="34" charset="0"/>
                <a:ea typeface="Calibri" pitchFamily="34" charset="-122"/>
                <a:cs typeface="Calibri" pitchFamily="34" charset="-120"/>
              </a:rPr>
              <a:t>hint N shows the price. 5% of the mission, charged once.</a:t>
            </a:r>
            <a:endParaRPr lang="en-US" sz="1700" dirty="0"/>
          </a:p>
        </p:txBody>
      </p:sp>
      <p:sp>
        <p:nvSpPr>
          <p:cNvPr id="20" name="Shape 17"/>
          <p:cNvSpPr/>
          <p:nvPr/>
        </p:nvSpPr>
        <p:spPr>
          <a:xfrm>
            <a:off x="6492240" y="1463040"/>
            <a:ext cx="5148072" cy="4480560"/>
          </a:xfrm>
          <a:prstGeom prst="roundRect">
            <a:avLst>
              <a:gd name="adj" fmla="val 2041"/>
            </a:avLst>
          </a:prstGeom>
          <a:solidFill>
            <a:srgbClr val="0E1726"/>
          </a:solidFill>
          <a:ln/>
          <a:effectLst>
            <a:outerShdw sx="100000" sy="100000" kx="0" ky="0" algn="bl" rotWithShape="0" blurRad="127000" dist="38100" dir="5400000">
              <a:srgbClr val="12213A">
                <a:alpha val="22000"/>
              </a:srgbClr>
            </a:outerShdw>
          </a:effectLst>
        </p:spPr>
      </p:sp>
      <p:sp>
        <p:nvSpPr>
          <p:cNvPr id="21" name="Shape 18"/>
          <p:cNvSpPr/>
          <p:nvPr/>
        </p:nvSpPr>
        <p:spPr>
          <a:xfrm>
            <a:off x="6693408" y="1618488"/>
            <a:ext cx="118872" cy="118872"/>
          </a:xfrm>
          <a:prstGeom prst="ellipse">
            <a:avLst/>
          </a:prstGeom>
          <a:solidFill>
            <a:srgbClr val="E5534B"/>
          </a:solidFill>
          <a:ln/>
        </p:spPr>
      </p:sp>
      <p:sp>
        <p:nvSpPr>
          <p:cNvPr id="22" name="Shape 19"/>
          <p:cNvSpPr/>
          <p:nvPr/>
        </p:nvSpPr>
        <p:spPr>
          <a:xfrm>
            <a:off x="6894576" y="1618488"/>
            <a:ext cx="118872" cy="118872"/>
          </a:xfrm>
          <a:prstGeom prst="ellipse">
            <a:avLst/>
          </a:prstGeom>
          <a:solidFill>
            <a:srgbClr val="F5A623"/>
          </a:solidFill>
          <a:ln/>
        </p:spPr>
      </p:sp>
      <p:sp>
        <p:nvSpPr>
          <p:cNvPr id="23" name="Shape 20"/>
          <p:cNvSpPr/>
          <p:nvPr/>
        </p:nvSpPr>
        <p:spPr>
          <a:xfrm>
            <a:off x="7095744" y="1618488"/>
            <a:ext cx="118872" cy="118872"/>
          </a:xfrm>
          <a:prstGeom prst="ellipse">
            <a:avLst/>
          </a:prstGeom>
          <a:solidFill>
            <a:srgbClr val="46D39A"/>
          </a:solidFill>
          <a:ln/>
        </p:spPr>
      </p:sp>
      <p:sp>
        <p:nvSpPr>
          <p:cNvPr id="24" name="Text 21"/>
          <p:cNvSpPr txBox="1"/>
          <p:nvPr/>
        </p:nvSpPr>
        <p:spPr>
          <a:xfrm>
            <a:off x="7406640" y="1536192"/>
            <a:ext cx="3319272"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the challenge page</a:t>
            </a:r>
            <a:endParaRPr lang="en-US" sz="1000" dirty="0"/>
          </a:p>
        </p:txBody>
      </p:sp>
      <p:sp>
        <p:nvSpPr>
          <p:cNvPr id="25" name="Text 22"/>
          <p:cNvSpPr txBox="1"/>
          <p:nvPr/>
        </p:nvSpPr>
        <p:spPr>
          <a:xfrm>
            <a:off x="6766560" y="1920240"/>
            <a:ext cx="4599432" cy="3886200"/>
          </a:xfrm>
          <a:prstGeom prst="rect">
            <a:avLst/>
          </a:prstGeom>
          <a:noFill/>
          <a:ln/>
        </p:spPr>
        <p:txBody>
          <a:bodyPr wrap="square" lIns="0" tIns="0" rIns="0" bIns="0" rtlCol="0" anchor="t"/>
          <a:lstStyle/>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hint 4</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Hint 1 of 2 costs 10 points (5% of 200),</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charged once.</a:t>
            </a:r>
            <a:endParaRPr lang="en-US" sz="1400" dirty="0"/>
          </a:p>
          <a:p>
            <a:pPr indent="0" marL="0">
              <a:spcAft>
                <a:spcPts val="200"/>
              </a:spcAft>
              <a:buNone/>
            </a:pPr>
            <a:r>
              <a:rPr lang="en-US" sz="1400" dirty="0">
                <a:solidFill>
                  <a:srgbClr val="B8C4D9"/>
                </a:solidFill>
                <a:latin typeface="Courier New" pitchFamily="34" charset="0"/>
                <a:ea typeface="Courier New" pitchFamily="34" charset="-122"/>
                <a:cs typeface="Courier New" pitchFamily="34" charset="-120"/>
              </a:rPr>
              <a:t>To see it, type:  hint 4 --show</a:t>
            </a:r>
            <a:endParaRPr lang="en-US" sz="1400" dirty="0"/>
          </a:p>
          <a:p>
            <a:pPr indent="0" marL="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400" b="1" dirty="0">
                <a:solidFill>
                  <a:srgbClr val="FFFFFF"/>
                </a:solidFill>
                <a:latin typeface="Courier New" pitchFamily="34" charset="0"/>
                <a:ea typeface="Courier New" pitchFamily="34" charset="-122"/>
                <a:cs typeface="Courier New" pitchFamily="34" charset="-120"/>
              </a:rPr>
              <a:t>hint 4 --show</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Hint 1 of 2: The id in the URL is</a:t>
            </a:r>
            <a:endParaRPr lang="en-US" sz="1400" dirty="0"/>
          </a:p>
          <a:p>
            <a:pPr indent="0" marL="0">
              <a:spcAft>
                <a:spcPts val="200"/>
              </a:spcAft>
              <a:buNone/>
            </a:pPr>
            <a:r>
              <a:rPr lang="en-US" sz="1400" b="1" dirty="0">
                <a:solidFill>
                  <a:srgbClr val="F5A623"/>
                </a:solidFill>
                <a:latin typeface="Courier New" pitchFamily="34" charset="0"/>
                <a:ea typeface="Courier New" pitchFamily="34" charset="-122"/>
                <a:cs typeface="Courier New" pitchFamily="34" charset="-120"/>
              </a:rPr>
              <a:t>input. What if you change it?</a:t>
            </a:r>
            <a:endParaRPr lang="en-US" sz="1400" dirty="0"/>
          </a:p>
          <a:p>
            <a:pPr indent="0" marL="0">
              <a:spcAft>
                <a:spcPts val="200"/>
              </a:spcAft>
              <a:buNone/>
            </a:pPr>
            <a:r>
              <a:rPr lang="en-US" sz="1400" dirty="0">
                <a:solidFill>
                  <a:srgbClr val="7F8FAD"/>
                </a:solidFill>
                <a:latin typeface="Courier New" pitchFamily="34" charset="0"/>
                <a:ea typeface="Courier New" pitchFamily="34" charset="-122"/>
                <a:cs typeface="Courier New" pitchFamily="34" charset="-120"/>
              </a:rPr>
              <a:t># -10 points on the scoreboard</a:t>
            </a:r>
            <a:endParaRPr lang="en-US" sz="1400" dirty="0"/>
          </a:p>
        </p:txBody>
      </p:sp>
      <p:sp>
        <p:nvSpPr>
          <p:cNvPr id="26" name="Text 2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22 / 61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browser toolkit</a:t>
            </a:r>
            <a:endParaRPr lang="en-US" sz="3200" dirty="0"/>
          </a:p>
        </p:txBody>
      </p:sp>
      <p:sp>
        <p:nvSpPr>
          <p:cNvPr id="4" name="Shape 1"/>
          <p:cNvSpPr/>
          <p:nvPr/>
        </p:nvSpPr>
        <p:spPr>
          <a:xfrm>
            <a:off x="548640" y="1463040"/>
            <a:ext cx="5449824" cy="777240"/>
          </a:xfrm>
          <a:prstGeom prst="roundRect">
            <a:avLst>
              <a:gd name="adj" fmla="val 11765"/>
            </a:avLst>
          </a:prstGeom>
          <a:solidFill>
            <a:srgbClr val="F1F5FB"/>
          </a:solidFill>
          <a:ln/>
        </p:spPr>
      </p:sp>
      <p:sp>
        <p:nvSpPr>
          <p:cNvPr id="5" name="Shape 2"/>
          <p:cNvSpPr/>
          <p:nvPr/>
        </p:nvSpPr>
        <p:spPr>
          <a:xfrm>
            <a:off x="713232" y="1627632"/>
            <a:ext cx="457200" cy="457200"/>
          </a:xfrm>
          <a:prstGeom prst="ellipse">
            <a:avLst/>
          </a:prstGeom>
          <a:solidFill>
            <a:srgbClr val="17875A"/>
          </a:solidFill>
          <a:ln/>
        </p:spPr>
      </p:sp>
      <p:sp>
        <p:nvSpPr>
          <p:cNvPr id="6" name="Text 3"/>
          <p:cNvSpPr txBox="1"/>
          <p:nvPr/>
        </p:nvSpPr>
        <p:spPr>
          <a:xfrm>
            <a:off x="713232"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1371600" y="1463040"/>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Ctrl+U</a:t>
            </a:r>
            <a:endParaRPr lang="en-US" sz="1350" dirty="0"/>
          </a:p>
        </p:txBody>
      </p:sp>
      <p:sp>
        <p:nvSpPr>
          <p:cNvPr id="8" name="Text 5"/>
          <p:cNvSpPr txBox="1"/>
          <p:nvPr/>
        </p:nvSpPr>
        <p:spPr>
          <a:xfrm>
            <a:off x="4160520" y="1463040"/>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view the raw HTML</a:t>
            </a:r>
            <a:endParaRPr lang="en-US" sz="1400" dirty="0"/>
          </a:p>
        </p:txBody>
      </p:sp>
      <p:sp>
        <p:nvSpPr>
          <p:cNvPr id="9" name="Shape 6"/>
          <p:cNvSpPr/>
          <p:nvPr/>
        </p:nvSpPr>
        <p:spPr>
          <a:xfrm>
            <a:off x="6190488" y="1463040"/>
            <a:ext cx="5449824" cy="777240"/>
          </a:xfrm>
          <a:prstGeom prst="roundRect">
            <a:avLst>
              <a:gd name="adj" fmla="val 11765"/>
            </a:avLst>
          </a:prstGeom>
          <a:solidFill>
            <a:srgbClr val="F1F5FB"/>
          </a:solidFill>
          <a:ln/>
        </p:spPr>
      </p:sp>
      <p:sp>
        <p:nvSpPr>
          <p:cNvPr id="10" name="Shape 7"/>
          <p:cNvSpPr/>
          <p:nvPr/>
        </p:nvSpPr>
        <p:spPr>
          <a:xfrm>
            <a:off x="6355080" y="1627632"/>
            <a:ext cx="457200" cy="457200"/>
          </a:xfrm>
          <a:prstGeom prst="ellipse">
            <a:avLst/>
          </a:prstGeom>
          <a:solidFill>
            <a:srgbClr val="2A9FD6"/>
          </a:solidFill>
          <a:ln/>
        </p:spPr>
      </p:sp>
      <p:sp>
        <p:nvSpPr>
          <p:cNvPr id="11" name="Text 8"/>
          <p:cNvSpPr txBox="1"/>
          <p:nvPr/>
        </p:nvSpPr>
        <p:spPr>
          <a:xfrm>
            <a:off x="6355080" y="1627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9"/>
          <p:cNvSpPr txBox="1"/>
          <p:nvPr/>
        </p:nvSpPr>
        <p:spPr>
          <a:xfrm>
            <a:off x="7013448" y="1463040"/>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F12 → Elements</a:t>
            </a:r>
            <a:endParaRPr lang="en-US" sz="1350" dirty="0"/>
          </a:p>
        </p:txBody>
      </p:sp>
      <p:sp>
        <p:nvSpPr>
          <p:cNvPr id="13" name="Text 10"/>
          <p:cNvSpPr txBox="1"/>
          <p:nvPr/>
        </p:nvSpPr>
        <p:spPr>
          <a:xfrm>
            <a:off x="9802368" y="1463040"/>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edit the live page</a:t>
            </a:r>
            <a:endParaRPr lang="en-US" sz="1400" dirty="0"/>
          </a:p>
        </p:txBody>
      </p:sp>
      <p:sp>
        <p:nvSpPr>
          <p:cNvPr id="14" name="Shape 11"/>
          <p:cNvSpPr/>
          <p:nvPr/>
        </p:nvSpPr>
        <p:spPr>
          <a:xfrm>
            <a:off x="548640" y="2359152"/>
            <a:ext cx="5449824" cy="777240"/>
          </a:xfrm>
          <a:prstGeom prst="roundRect">
            <a:avLst>
              <a:gd name="adj" fmla="val 11765"/>
            </a:avLst>
          </a:prstGeom>
          <a:solidFill>
            <a:srgbClr val="F1F5FB"/>
          </a:solidFill>
          <a:ln/>
        </p:spPr>
      </p:sp>
      <p:sp>
        <p:nvSpPr>
          <p:cNvPr id="15" name="Shape 12"/>
          <p:cNvSpPr/>
          <p:nvPr/>
        </p:nvSpPr>
        <p:spPr>
          <a:xfrm>
            <a:off x="713232" y="2523744"/>
            <a:ext cx="457200" cy="457200"/>
          </a:xfrm>
          <a:prstGeom prst="ellipse">
            <a:avLst/>
          </a:prstGeom>
          <a:solidFill>
            <a:srgbClr val="2459D8"/>
          </a:solidFill>
          <a:ln/>
        </p:spPr>
      </p:sp>
      <p:sp>
        <p:nvSpPr>
          <p:cNvPr id="16" name="Text 13"/>
          <p:cNvSpPr txBox="1"/>
          <p:nvPr/>
        </p:nvSpPr>
        <p:spPr>
          <a:xfrm>
            <a:off x="713232" y="2523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4"/>
          <p:cNvSpPr txBox="1"/>
          <p:nvPr/>
        </p:nvSpPr>
        <p:spPr>
          <a:xfrm>
            <a:off x="1371600" y="2359152"/>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Application → Cookies</a:t>
            </a:r>
            <a:endParaRPr lang="en-US" sz="1350" dirty="0"/>
          </a:p>
        </p:txBody>
      </p:sp>
      <p:sp>
        <p:nvSpPr>
          <p:cNvPr id="18" name="Text 15"/>
          <p:cNvSpPr txBox="1"/>
          <p:nvPr/>
        </p:nvSpPr>
        <p:spPr>
          <a:xfrm>
            <a:off x="4160520" y="2359152"/>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read &amp; change cookies</a:t>
            </a:r>
            <a:endParaRPr lang="en-US" sz="1400" dirty="0"/>
          </a:p>
        </p:txBody>
      </p:sp>
      <p:sp>
        <p:nvSpPr>
          <p:cNvPr id="19" name="Shape 16"/>
          <p:cNvSpPr/>
          <p:nvPr/>
        </p:nvSpPr>
        <p:spPr>
          <a:xfrm>
            <a:off x="6190488" y="2359152"/>
            <a:ext cx="5449824" cy="777240"/>
          </a:xfrm>
          <a:prstGeom prst="roundRect">
            <a:avLst>
              <a:gd name="adj" fmla="val 11765"/>
            </a:avLst>
          </a:prstGeom>
          <a:solidFill>
            <a:srgbClr val="F1F5FB"/>
          </a:solidFill>
          <a:ln/>
        </p:spPr>
      </p:sp>
      <p:sp>
        <p:nvSpPr>
          <p:cNvPr id="20" name="Shape 17"/>
          <p:cNvSpPr/>
          <p:nvPr/>
        </p:nvSpPr>
        <p:spPr>
          <a:xfrm>
            <a:off x="6355080" y="2523744"/>
            <a:ext cx="457200" cy="457200"/>
          </a:xfrm>
          <a:prstGeom prst="ellipse">
            <a:avLst/>
          </a:prstGeom>
          <a:solidFill>
            <a:srgbClr val="7448D4"/>
          </a:solidFill>
          <a:ln/>
        </p:spPr>
      </p:sp>
      <p:sp>
        <p:nvSpPr>
          <p:cNvPr id="21" name="Text 18"/>
          <p:cNvSpPr txBox="1"/>
          <p:nvPr/>
        </p:nvSpPr>
        <p:spPr>
          <a:xfrm>
            <a:off x="6355080" y="2523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19"/>
          <p:cNvSpPr txBox="1"/>
          <p:nvPr/>
        </p:nvSpPr>
        <p:spPr>
          <a:xfrm>
            <a:off x="7013448" y="2359152"/>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edit ?id= in the URL</a:t>
            </a:r>
            <a:endParaRPr lang="en-US" sz="1350" dirty="0"/>
          </a:p>
        </p:txBody>
      </p:sp>
      <p:sp>
        <p:nvSpPr>
          <p:cNvPr id="23" name="Text 20"/>
          <p:cNvSpPr txBox="1"/>
          <p:nvPr/>
        </p:nvSpPr>
        <p:spPr>
          <a:xfrm>
            <a:off x="9802368" y="2359152"/>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ask for another record</a:t>
            </a:r>
            <a:endParaRPr lang="en-US" sz="1400" dirty="0"/>
          </a:p>
        </p:txBody>
      </p:sp>
      <p:sp>
        <p:nvSpPr>
          <p:cNvPr id="24" name="Shape 21"/>
          <p:cNvSpPr/>
          <p:nvPr/>
        </p:nvSpPr>
        <p:spPr>
          <a:xfrm>
            <a:off x="548640" y="3255264"/>
            <a:ext cx="5449824" cy="777240"/>
          </a:xfrm>
          <a:prstGeom prst="roundRect">
            <a:avLst>
              <a:gd name="adj" fmla="val 11765"/>
            </a:avLst>
          </a:prstGeom>
          <a:solidFill>
            <a:srgbClr val="F1F5FB"/>
          </a:solidFill>
          <a:ln/>
        </p:spPr>
      </p:sp>
      <p:sp>
        <p:nvSpPr>
          <p:cNvPr id="25" name="Shape 22"/>
          <p:cNvSpPr/>
          <p:nvPr/>
        </p:nvSpPr>
        <p:spPr>
          <a:xfrm>
            <a:off x="713232" y="3419856"/>
            <a:ext cx="457200" cy="457200"/>
          </a:xfrm>
          <a:prstGeom prst="ellipse">
            <a:avLst/>
          </a:prstGeom>
          <a:solidFill>
            <a:srgbClr val="D1416B"/>
          </a:solidFill>
          <a:ln/>
        </p:spPr>
      </p:sp>
      <p:sp>
        <p:nvSpPr>
          <p:cNvPr id="26" name="Text 23"/>
          <p:cNvSpPr txBox="1"/>
          <p:nvPr/>
        </p:nvSpPr>
        <p:spPr>
          <a:xfrm>
            <a:off x="713232" y="3419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4"/>
          <p:cNvSpPr txBox="1"/>
          <p:nvPr/>
        </p:nvSpPr>
        <p:spPr>
          <a:xfrm>
            <a:off x="1371600" y="3255264"/>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/robots.txt</a:t>
            </a:r>
            <a:endParaRPr lang="en-US" sz="1350" dirty="0"/>
          </a:p>
        </p:txBody>
      </p:sp>
      <p:sp>
        <p:nvSpPr>
          <p:cNvPr id="28" name="Text 25"/>
          <p:cNvSpPr txBox="1"/>
          <p:nvPr/>
        </p:nvSpPr>
        <p:spPr>
          <a:xfrm>
            <a:off x="4160520" y="3255264"/>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find hidden paths</a:t>
            </a:r>
            <a:endParaRPr lang="en-US" sz="1400" dirty="0"/>
          </a:p>
        </p:txBody>
      </p:sp>
      <p:sp>
        <p:nvSpPr>
          <p:cNvPr id="29" name="Shape 26"/>
          <p:cNvSpPr/>
          <p:nvPr/>
        </p:nvSpPr>
        <p:spPr>
          <a:xfrm>
            <a:off x="6190488" y="3255264"/>
            <a:ext cx="5449824" cy="777240"/>
          </a:xfrm>
          <a:prstGeom prst="roundRect">
            <a:avLst>
              <a:gd name="adj" fmla="val 11765"/>
            </a:avLst>
          </a:prstGeom>
          <a:solidFill>
            <a:srgbClr val="F1F5FB"/>
          </a:solidFill>
          <a:ln/>
        </p:spPr>
      </p:sp>
      <p:sp>
        <p:nvSpPr>
          <p:cNvPr id="30" name="Shape 27"/>
          <p:cNvSpPr/>
          <p:nvPr/>
        </p:nvSpPr>
        <p:spPr>
          <a:xfrm>
            <a:off x="6355080" y="3419856"/>
            <a:ext cx="457200" cy="457200"/>
          </a:xfrm>
          <a:prstGeom prst="ellipse">
            <a:avLst/>
          </a:prstGeom>
          <a:solidFill>
            <a:srgbClr val="E8820C"/>
          </a:solidFill>
          <a:ln/>
        </p:spPr>
      </p:sp>
      <p:sp>
        <p:nvSpPr>
          <p:cNvPr id="31" name="Text 28"/>
          <p:cNvSpPr txBox="1"/>
          <p:nvPr/>
        </p:nvSpPr>
        <p:spPr>
          <a:xfrm>
            <a:off x="6355080" y="3419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txBox="1"/>
          <p:nvPr/>
        </p:nvSpPr>
        <p:spPr>
          <a:xfrm>
            <a:off x="7013448" y="3255264"/>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F12 → Console</a:t>
            </a:r>
            <a:endParaRPr lang="en-US" sz="1350" dirty="0"/>
          </a:p>
        </p:txBody>
      </p:sp>
      <p:sp>
        <p:nvSpPr>
          <p:cNvPr id="33" name="Text 30"/>
          <p:cNvSpPr txBox="1"/>
          <p:nvPr/>
        </p:nvSpPr>
        <p:spPr>
          <a:xfrm>
            <a:off x="9802368" y="3255264"/>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run the page's JS</a:t>
            </a:r>
            <a:endParaRPr lang="en-US" sz="1400" dirty="0"/>
          </a:p>
        </p:txBody>
      </p:sp>
      <p:sp>
        <p:nvSpPr>
          <p:cNvPr id="34" name="Shape 31"/>
          <p:cNvSpPr/>
          <p:nvPr/>
        </p:nvSpPr>
        <p:spPr>
          <a:xfrm>
            <a:off x="548640" y="4151376"/>
            <a:ext cx="5449824" cy="777240"/>
          </a:xfrm>
          <a:prstGeom prst="roundRect">
            <a:avLst>
              <a:gd name="adj" fmla="val 11765"/>
            </a:avLst>
          </a:prstGeom>
          <a:solidFill>
            <a:srgbClr val="F1F5FB"/>
          </a:solidFill>
          <a:ln/>
        </p:spPr>
      </p:sp>
      <p:sp>
        <p:nvSpPr>
          <p:cNvPr id="35" name="Shape 32"/>
          <p:cNvSpPr/>
          <p:nvPr/>
        </p:nvSpPr>
        <p:spPr>
          <a:xfrm>
            <a:off x="713232" y="4315968"/>
            <a:ext cx="457200" cy="457200"/>
          </a:xfrm>
          <a:prstGeom prst="ellipse">
            <a:avLst/>
          </a:prstGeom>
          <a:solidFill>
            <a:srgbClr val="C9A227"/>
          </a:solidFill>
          <a:ln/>
        </p:spPr>
      </p:sp>
      <p:sp>
        <p:nvSpPr>
          <p:cNvPr id="36" name="Text 33"/>
          <p:cNvSpPr txBox="1"/>
          <p:nvPr/>
        </p:nvSpPr>
        <p:spPr>
          <a:xfrm>
            <a:off x="713232"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7" name="Text 34"/>
          <p:cNvSpPr txBox="1"/>
          <p:nvPr/>
        </p:nvSpPr>
        <p:spPr>
          <a:xfrm>
            <a:off x="1371600" y="4151376"/>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F12 → Sources</a:t>
            </a:r>
            <a:endParaRPr lang="en-US" sz="1350" dirty="0"/>
          </a:p>
        </p:txBody>
      </p:sp>
      <p:sp>
        <p:nvSpPr>
          <p:cNvPr id="38" name="Text 35"/>
          <p:cNvSpPr txBox="1"/>
          <p:nvPr/>
        </p:nvSpPr>
        <p:spPr>
          <a:xfrm>
            <a:off x="4160520" y="4151376"/>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read the page's code</a:t>
            </a:r>
            <a:endParaRPr lang="en-US" sz="1400" dirty="0"/>
          </a:p>
        </p:txBody>
      </p:sp>
      <p:sp>
        <p:nvSpPr>
          <p:cNvPr id="39" name="Shape 36"/>
          <p:cNvSpPr/>
          <p:nvPr/>
        </p:nvSpPr>
        <p:spPr>
          <a:xfrm>
            <a:off x="6190488" y="4151376"/>
            <a:ext cx="5449824" cy="777240"/>
          </a:xfrm>
          <a:prstGeom prst="roundRect">
            <a:avLst>
              <a:gd name="adj" fmla="val 11765"/>
            </a:avLst>
          </a:prstGeom>
          <a:solidFill>
            <a:srgbClr val="F1F5FB"/>
          </a:solidFill>
          <a:ln/>
        </p:spPr>
      </p:sp>
      <p:sp>
        <p:nvSpPr>
          <p:cNvPr id="40" name="Shape 37"/>
          <p:cNvSpPr/>
          <p:nvPr/>
        </p:nvSpPr>
        <p:spPr>
          <a:xfrm>
            <a:off x="6355080" y="4315968"/>
            <a:ext cx="457200" cy="457200"/>
          </a:xfrm>
          <a:prstGeom prst="ellipse">
            <a:avLst/>
          </a:prstGeom>
          <a:solidFill>
            <a:srgbClr val="0F9488"/>
          </a:solidFill>
          <a:ln/>
        </p:spPr>
      </p:sp>
      <p:sp>
        <p:nvSpPr>
          <p:cNvPr id="41" name="Text 38"/>
          <p:cNvSpPr txBox="1"/>
          <p:nvPr/>
        </p:nvSpPr>
        <p:spPr>
          <a:xfrm>
            <a:off x="6355080" y="4315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42" name="Text 39"/>
          <p:cNvSpPr txBox="1"/>
          <p:nvPr/>
        </p:nvSpPr>
        <p:spPr>
          <a:xfrm>
            <a:off x="7013448" y="4151376"/>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atob() / base64 -d</a:t>
            </a:r>
            <a:endParaRPr lang="en-US" sz="1350" dirty="0"/>
          </a:p>
        </p:txBody>
      </p:sp>
      <p:sp>
        <p:nvSpPr>
          <p:cNvPr id="43" name="Text 40"/>
          <p:cNvSpPr txBox="1"/>
          <p:nvPr/>
        </p:nvSpPr>
        <p:spPr>
          <a:xfrm>
            <a:off x="9802368" y="4151376"/>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decode a token</a:t>
            </a:r>
            <a:endParaRPr lang="en-US" sz="1400" dirty="0"/>
          </a:p>
        </p:txBody>
      </p:sp>
      <p:sp>
        <p:nvSpPr>
          <p:cNvPr id="44" name="Shape 41"/>
          <p:cNvSpPr/>
          <p:nvPr/>
        </p:nvSpPr>
        <p:spPr>
          <a:xfrm>
            <a:off x="548640" y="5047488"/>
            <a:ext cx="5449824" cy="777240"/>
          </a:xfrm>
          <a:prstGeom prst="roundRect">
            <a:avLst>
              <a:gd name="adj" fmla="val 11765"/>
            </a:avLst>
          </a:prstGeom>
          <a:solidFill>
            <a:srgbClr val="F1F5FB"/>
          </a:solidFill>
          <a:ln/>
        </p:spPr>
      </p:sp>
      <p:sp>
        <p:nvSpPr>
          <p:cNvPr id="45" name="Shape 42"/>
          <p:cNvSpPr/>
          <p:nvPr/>
        </p:nvSpPr>
        <p:spPr>
          <a:xfrm>
            <a:off x="713232" y="5212080"/>
            <a:ext cx="457200" cy="457200"/>
          </a:xfrm>
          <a:prstGeom prst="ellipse">
            <a:avLst/>
          </a:prstGeom>
          <a:solidFill>
            <a:srgbClr val="5B6EE1"/>
          </a:solidFill>
          <a:ln/>
        </p:spPr>
      </p:sp>
      <p:sp>
        <p:nvSpPr>
          <p:cNvPr id="46" name="Text 43"/>
          <p:cNvSpPr txBox="1"/>
          <p:nvPr/>
        </p:nvSpPr>
        <p:spPr>
          <a:xfrm>
            <a:off x="713232" y="5212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47" name="Text 44"/>
          <p:cNvSpPr txBox="1"/>
          <p:nvPr/>
        </p:nvSpPr>
        <p:spPr>
          <a:xfrm>
            <a:off x="1371600" y="5047488"/>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type HTML into a box</a:t>
            </a:r>
            <a:endParaRPr lang="en-US" sz="1350" dirty="0"/>
          </a:p>
        </p:txBody>
      </p:sp>
      <p:sp>
        <p:nvSpPr>
          <p:cNvPr id="48" name="Text 45"/>
          <p:cNvSpPr txBox="1"/>
          <p:nvPr/>
        </p:nvSpPr>
        <p:spPr>
          <a:xfrm>
            <a:off x="4160520" y="5047488"/>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injection basics</a:t>
            </a:r>
            <a:endParaRPr lang="en-US" sz="1400" dirty="0"/>
          </a:p>
        </p:txBody>
      </p:sp>
      <p:sp>
        <p:nvSpPr>
          <p:cNvPr id="49" name="Shape 46"/>
          <p:cNvSpPr/>
          <p:nvPr/>
        </p:nvSpPr>
        <p:spPr>
          <a:xfrm>
            <a:off x="6190488" y="5047488"/>
            <a:ext cx="5449824" cy="777240"/>
          </a:xfrm>
          <a:prstGeom prst="roundRect">
            <a:avLst>
              <a:gd name="adj" fmla="val 11765"/>
            </a:avLst>
          </a:prstGeom>
          <a:solidFill>
            <a:srgbClr val="F1F5FB"/>
          </a:solidFill>
          <a:ln/>
        </p:spPr>
      </p:sp>
      <p:sp>
        <p:nvSpPr>
          <p:cNvPr id="50" name="Shape 47"/>
          <p:cNvSpPr/>
          <p:nvPr/>
        </p:nvSpPr>
        <p:spPr>
          <a:xfrm>
            <a:off x="6355080" y="5212080"/>
            <a:ext cx="457200" cy="457200"/>
          </a:xfrm>
          <a:prstGeom prst="ellipse">
            <a:avLst/>
          </a:prstGeom>
          <a:solidFill>
            <a:srgbClr val="B4233F"/>
          </a:solidFill>
          <a:ln/>
        </p:spPr>
      </p:sp>
      <p:sp>
        <p:nvSpPr>
          <p:cNvPr id="51" name="Text 48"/>
          <p:cNvSpPr txBox="1"/>
          <p:nvPr/>
        </p:nvSpPr>
        <p:spPr>
          <a:xfrm>
            <a:off x="6355080" y="5212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52" name="Text 49"/>
          <p:cNvSpPr txBox="1"/>
          <p:nvPr/>
        </p:nvSpPr>
        <p:spPr>
          <a:xfrm>
            <a:off x="7013448" y="5047488"/>
            <a:ext cx="2743200" cy="777240"/>
          </a:xfrm>
          <a:prstGeom prst="rect">
            <a:avLst/>
          </a:prstGeom>
          <a:noFill/>
          <a:ln/>
        </p:spPr>
        <p:txBody>
          <a:bodyPr wrap="square" lIns="0" tIns="0" rIns="0" bIns="0" rtlCol="0" anchor="ctr">
            <a:normAutofit/>
          </a:bodyPr>
          <a:lstStyle/>
          <a:p>
            <a:pPr indent="0" marL="0">
              <a:buNone/>
            </a:pPr>
            <a:r>
              <a:rPr lang="en-US" sz="1350" b="1" dirty="0">
                <a:solidFill>
                  <a:srgbClr val="12213A"/>
                </a:solidFill>
                <a:latin typeface="Courier New" pitchFamily="34" charset="0"/>
                <a:ea typeface="Courier New" pitchFamily="34" charset="-122"/>
                <a:cs typeface="Courier New" pitchFamily="34" charset="-120"/>
              </a:rPr>
              <a:t>robots → id → decode</a:t>
            </a:r>
            <a:endParaRPr lang="en-US" sz="1350" dirty="0"/>
          </a:p>
        </p:txBody>
      </p:sp>
      <p:sp>
        <p:nvSpPr>
          <p:cNvPr id="53" name="Text 50"/>
          <p:cNvSpPr txBox="1"/>
          <p:nvPr/>
        </p:nvSpPr>
        <p:spPr>
          <a:xfrm>
            <a:off x="9802368" y="5047488"/>
            <a:ext cx="1737360" cy="777240"/>
          </a:xfrm>
          <a:prstGeom prst="rect">
            <a:avLst/>
          </a:prstGeom>
          <a:noFill/>
          <a:ln/>
        </p:spPr>
        <p:txBody>
          <a:bodyPr wrap="square" lIns="0" tIns="0" rIns="0" bIns="0" rtlCol="0" anchor="ctr"/>
          <a:lstStyle/>
          <a:p>
            <a:pPr indent="0" marL="0">
              <a:buNone/>
            </a:pPr>
            <a:r>
              <a:rPr lang="en-US" sz="1400" dirty="0">
                <a:solidFill>
                  <a:srgbClr val="56657E"/>
                </a:solidFill>
                <a:latin typeface="Calibri" pitchFamily="34" charset="0"/>
                <a:ea typeface="Calibri" pitchFamily="34" charset="-122"/>
                <a:cs typeface="Calibri" pitchFamily="34" charset="-120"/>
              </a:rPr>
              <a:t>chain the steps</a:t>
            </a:r>
            <a:endParaRPr lang="en-US" sz="1400" dirty="0"/>
          </a:p>
        </p:txBody>
      </p:sp>
      <p:sp>
        <p:nvSpPr>
          <p:cNvPr id="54" name="Text 5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400" b="1" dirty="0">
                <a:solidFill>
                  <a:srgbClr val="12213A"/>
                </a:solidFill>
                <a:latin typeface="Calibri" pitchFamily="34" charset="0"/>
                <a:ea typeface="Calibri" pitchFamily="34" charset="-122"/>
                <a:cs typeface="Calibri" pitchFamily="34" charset="-120"/>
              </a:rPr>
              <a:t>Everything here is in your browser (F12) - and has a terminal twin: </a:t>
            </a:r>
            <a:pPr indent="0" marL="0">
              <a:buNone/>
            </a:pPr>
            <a:r>
              <a:rPr lang="en-US" sz="1400" dirty="0">
                <a:solidFill>
                  <a:srgbClr val="56657E"/>
                </a:solidFill>
                <a:latin typeface="Calibri" pitchFamily="34" charset="0"/>
                <a:ea typeface="Calibri" pitchFamily="34" charset="-122"/>
                <a:cs typeface="Calibri" pitchFamily="34" charset="-120"/>
              </a:rPr>
              <a:t>curl fetches the page, grep and base64 do the rest.</a:t>
            </a:r>
            <a:endParaRPr lang="en-US" sz="1400" dirty="0"/>
          </a:p>
        </p:txBody>
      </p:sp>
      <p:sp>
        <p:nvSpPr>
          <p:cNvPr id="55" name="Text 52"/>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23 / 61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7448D4"/>
                </a:solidFill>
                <a:latin typeface="Arial" pitchFamily="34" charset="0"/>
                <a:ea typeface="Arial" pitchFamily="34" charset="-122"/>
                <a:cs typeface="Arial" pitchFamily="34" charset="-120"/>
              </a:rPr>
              <a:t>3</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Capture a flag</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./inspect   # read, try, check, adjust</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24 / 61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capture routine, every time</a:t>
            </a:r>
            <a:endParaRPr lang="en-US" sz="3200" dirty="0"/>
          </a:p>
        </p:txBody>
      </p:sp>
      <p:sp>
        <p:nvSpPr>
          <p:cNvPr id="4" name="Shape 1"/>
          <p:cNvSpPr/>
          <p:nvPr/>
        </p:nvSpPr>
        <p:spPr>
          <a:xfrm>
            <a:off x="548640" y="1600200"/>
            <a:ext cx="2011680" cy="3200400"/>
          </a:xfrm>
          <a:prstGeom prst="roundRect">
            <a:avLst>
              <a:gd name="adj" fmla="val 4545"/>
            </a:avLst>
          </a:prstGeom>
          <a:solidFill>
            <a:srgbClr val="F1F5FB"/>
          </a:solidFill>
          <a:ln/>
        </p:spPr>
      </p:sp>
      <p:sp>
        <p:nvSpPr>
          <p:cNvPr id="5" name="Shape 2"/>
          <p:cNvSpPr/>
          <p:nvPr/>
        </p:nvSpPr>
        <p:spPr>
          <a:xfrm>
            <a:off x="1097280" y="1828800"/>
            <a:ext cx="914400" cy="914400"/>
          </a:xfrm>
          <a:prstGeom prst="ellipse">
            <a:avLst/>
          </a:prstGeom>
          <a:solidFill>
            <a:srgbClr val="2A9FD6"/>
          </a:solidFill>
          <a:ln/>
        </p:spPr>
      </p:sp>
      <p:pic>
        <p:nvPicPr>
          <p:cNvPr id="6" name="Image 0" descr="preencoded.png">    </p:cNvPr>
          <p:cNvPicPr>
            <a:picLocks noChangeAspect="1"/>
          </p:cNvPicPr>
          <p:nvPr/>
        </p:nvPicPr>
        <p:blipFill>
          <a:blip r:embed="rId1"/>
          <a:stretch>
            <a:fillRect/>
          </a:stretch>
        </p:blipFill>
        <p:spPr>
          <a:xfrm>
            <a:off x="1325880" y="2057400"/>
            <a:ext cx="457200" cy="457200"/>
          </a:xfrm>
          <a:prstGeom prst="rect">
            <a:avLst/>
          </a:prstGeom>
        </p:spPr>
      </p:pic>
      <p:sp>
        <p:nvSpPr>
          <p:cNvPr id="7" name="Text 3"/>
          <p:cNvSpPr txBox="1"/>
          <p:nvPr/>
        </p:nvSpPr>
        <p:spPr>
          <a:xfrm>
            <a:off x="685800"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Inspect</a:t>
            </a:r>
            <a:endParaRPr lang="en-US" sz="2400" dirty="0"/>
          </a:p>
        </p:txBody>
      </p:sp>
      <p:sp>
        <p:nvSpPr>
          <p:cNvPr id="8" name="Text 4"/>
          <p:cNvSpPr txBox="1"/>
          <p:nvPr/>
        </p:nvSpPr>
        <p:spPr>
          <a:xfrm>
            <a:off x="731520"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open DevTools, look closely.</a:t>
            </a:r>
            <a:endParaRPr lang="en-US" sz="1500" dirty="0"/>
          </a:p>
        </p:txBody>
      </p:sp>
      <p:sp>
        <p:nvSpPr>
          <p:cNvPr id="9" name="Text 5"/>
          <p:cNvSpPr txBox="1"/>
          <p:nvPr/>
        </p:nvSpPr>
        <p:spPr>
          <a:xfrm>
            <a:off x="2560320"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0" name="Shape 6"/>
          <p:cNvSpPr/>
          <p:nvPr/>
        </p:nvSpPr>
        <p:spPr>
          <a:xfrm>
            <a:off x="2816352" y="1600200"/>
            <a:ext cx="2011680" cy="3200400"/>
          </a:xfrm>
          <a:prstGeom prst="roundRect">
            <a:avLst>
              <a:gd name="adj" fmla="val 4545"/>
            </a:avLst>
          </a:prstGeom>
          <a:solidFill>
            <a:srgbClr val="F1F5FB"/>
          </a:solidFill>
          <a:ln/>
        </p:spPr>
      </p:sp>
      <p:sp>
        <p:nvSpPr>
          <p:cNvPr id="11" name="Shape 7"/>
          <p:cNvSpPr/>
          <p:nvPr/>
        </p:nvSpPr>
        <p:spPr>
          <a:xfrm>
            <a:off x="3364992" y="1828800"/>
            <a:ext cx="914400" cy="914400"/>
          </a:xfrm>
          <a:prstGeom prst="ellipse">
            <a:avLst/>
          </a:prstGeom>
          <a:solidFill>
            <a:srgbClr val="2459D8"/>
          </a:solidFill>
          <a:ln/>
        </p:spPr>
      </p:sp>
      <p:pic>
        <p:nvPicPr>
          <p:cNvPr id="12" name="Image 1" descr="preencoded.png">    </p:cNvPr>
          <p:cNvPicPr>
            <a:picLocks noChangeAspect="1"/>
          </p:cNvPicPr>
          <p:nvPr/>
        </p:nvPicPr>
        <p:blipFill>
          <a:blip r:embed="rId2"/>
          <a:stretch>
            <a:fillRect/>
          </a:stretch>
        </p:blipFill>
        <p:spPr>
          <a:xfrm>
            <a:off x="3593592" y="2057400"/>
            <a:ext cx="457200" cy="457200"/>
          </a:xfrm>
          <a:prstGeom prst="rect">
            <a:avLst/>
          </a:prstGeom>
        </p:spPr>
      </p:pic>
      <p:sp>
        <p:nvSpPr>
          <p:cNvPr id="13" name="Text 8"/>
          <p:cNvSpPr txBox="1"/>
          <p:nvPr/>
        </p:nvSpPr>
        <p:spPr>
          <a:xfrm>
            <a:off x="2953512"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Find</a:t>
            </a:r>
            <a:endParaRPr lang="en-US" sz="2400" dirty="0"/>
          </a:p>
        </p:txBody>
      </p:sp>
      <p:sp>
        <p:nvSpPr>
          <p:cNvPr id="14" name="Text 9"/>
          <p:cNvSpPr txBox="1"/>
          <p:nvPr/>
        </p:nvSpPr>
        <p:spPr>
          <a:xfrm>
            <a:off x="2999232"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where does the flag hide?</a:t>
            </a:r>
            <a:endParaRPr lang="en-US" sz="1500" dirty="0"/>
          </a:p>
        </p:txBody>
      </p:sp>
      <p:sp>
        <p:nvSpPr>
          <p:cNvPr id="15" name="Text 10"/>
          <p:cNvSpPr txBox="1"/>
          <p:nvPr/>
        </p:nvSpPr>
        <p:spPr>
          <a:xfrm>
            <a:off x="4828032"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6" name="Shape 11"/>
          <p:cNvSpPr/>
          <p:nvPr/>
        </p:nvSpPr>
        <p:spPr>
          <a:xfrm>
            <a:off x="5084064" y="1600200"/>
            <a:ext cx="2011680" cy="3200400"/>
          </a:xfrm>
          <a:prstGeom prst="roundRect">
            <a:avLst>
              <a:gd name="adj" fmla="val 4545"/>
            </a:avLst>
          </a:prstGeom>
          <a:solidFill>
            <a:srgbClr val="F1F5FB"/>
          </a:solidFill>
          <a:ln/>
        </p:spPr>
      </p:sp>
      <p:sp>
        <p:nvSpPr>
          <p:cNvPr id="17" name="Shape 12"/>
          <p:cNvSpPr/>
          <p:nvPr/>
        </p:nvSpPr>
        <p:spPr>
          <a:xfrm>
            <a:off x="5632704" y="1828800"/>
            <a:ext cx="914400" cy="914400"/>
          </a:xfrm>
          <a:prstGeom prst="ellipse">
            <a:avLst/>
          </a:prstGeom>
          <a:solidFill>
            <a:srgbClr val="7448D4"/>
          </a:solidFill>
          <a:ln/>
        </p:spPr>
      </p:sp>
      <p:pic>
        <p:nvPicPr>
          <p:cNvPr id="18" name="Image 2" descr="preencoded.png">    </p:cNvPr>
          <p:cNvPicPr>
            <a:picLocks noChangeAspect="1"/>
          </p:cNvPicPr>
          <p:nvPr/>
        </p:nvPicPr>
        <p:blipFill>
          <a:blip r:embed="rId3"/>
          <a:stretch>
            <a:fillRect/>
          </a:stretch>
        </p:blipFill>
        <p:spPr>
          <a:xfrm>
            <a:off x="5861304" y="2057400"/>
            <a:ext cx="457200" cy="457200"/>
          </a:xfrm>
          <a:prstGeom prst="rect">
            <a:avLst/>
          </a:prstGeom>
        </p:spPr>
      </p:pic>
      <p:sp>
        <p:nvSpPr>
          <p:cNvPr id="19" name="Text 13"/>
          <p:cNvSpPr txBox="1"/>
          <p:nvPr/>
        </p:nvSpPr>
        <p:spPr>
          <a:xfrm>
            <a:off x="5221224"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Change</a:t>
            </a:r>
            <a:endParaRPr lang="en-US" sz="2400" dirty="0"/>
          </a:p>
        </p:txBody>
      </p:sp>
      <p:sp>
        <p:nvSpPr>
          <p:cNvPr id="20" name="Text 14"/>
          <p:cNvSpPr txBox="1"/>
          <p:nvPr/>
        </p:nvSpPr>
        <p:spPr>
          <a:xfrm>
            <a:off x="5266944"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edit the request or page.</a:t>
            </a:r>
            <a:endParaRPr lang="en-US" sz="1500" dirty="0"/>
          </a:p>
        </p:txBody>
      </p:sp>
      <p:sp>
        <p:nvSpPr>
          <p:cNvPr id="21" name="Text 15"/>
          <p:cNvSpPr txBox="1"/>
          <p:nvPr/>
        </p:nvSpPr>
        <p:spPr>
          <a:xfrm>
            <a:off x="7095744"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2" name="Shape 16"/>
          <p:cNvSpPr/>
          <p:nvPr/>
        </p:nvSpPr>
        <p:spPr>
          <a:xfrm>
            <a:off x="7351776" y="1600200"/>
            <a:ext cx="2011680" cy="3200400"/>
          </a:xfrm>
          <a:prstGeom prst="roundRect">
            <a:avLst>
              <a:gd name="adj" fmla="val 4545"/>
            </a:avLst>
          </a:prstGeom>
          <a:solidFill>
            <a:srgbClr val="F1F5FB"/>
          </a:solidFill>
          <a:ln/>
        </p:spPr>
      </p:sp>
      <p:sp>
        <p:nvSpPr>
          <p:cNvPr id="23" name="Shape 17"/>
          <p:cNvSpPr/>
          <p:nvPr/>
        </p:nvSpPr>
        <p:spPr>
          <a:xfrm>
            <a:off x="7900416" y="1828800"/>
            <a:ext cx="914400" cy="914400"/>
          </a:xfrm>
          <a:prstGeom prst="ellipse">
            <a:avLst/>
          </a:prstGeom>
          <a:solidFill>
            <a:srgbClr val="D1416B"/>
          </a:solidFill>
          <a:ln/>
        </p:spPr>
      </p:sp>
      <p:pic>
        <p:nvPicPr>
          <p:cNvPr id="24" name="Image 3" descr="preencoded.png">    </p:cNvPr>
          <p:cNvPicPr>
            <a:picLocks noChangeAspect="1"/>
          </p:cNvPicPr>
          <p:nvPr/>
        </p:nvPicPr>
        <p:blipFill>
          <a:blip r:embed="rId4"/>
          <a:stretch>
            <a:fillRect/>
          </a:stretch>
        </p:blipFill>
        <p:spPr>
          <a:xfrm>
            <a:off x="8129016" y="2057400"/>
            <a:ext cx="457200" cy="457200"/>
          </a:xfrm>
          <a:prstGeom prst="rect">
            <a:avLst/>
          </a:prstGeom>
        </p:spPr>
      </p:pic>
      <p:sp>
        <p:nvSpPr>
          <p:cNvPr id="25" name="Text 18"/>
          <p:cNvSpPr txBox="1"/>
          <p:nvPr/>
        </p:nvSpPr>
        <p:spPr>
          <a:xfrm>
            <a:off x="7488936"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Check</a:t>
            </a:r>
            <a:endParaRPr lang="en-US" sz="2400" dirty="0"/>
          </a:p>
        </p:txBody>
      </p:sp>
      <p:sp>
        <p:nvSpPr>
          <p:cNvPr id="26" name="Text 19"/>
          <p:cNvSpPr txBox="1"/>
          <p:nvPr/>
        </p:nvSpPr>
        <p:spPr>
          <a:xfrm>
            <a:off x="7534656"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readable? Starts CYBA{?</a:t>
            </a:r>
            <a:endParaRPr lang="en-US" sz="1500" dirty="0"/>
          </a:p>
        </p:txBody>
      </p:sp>
      <p:sp>
        <p:nvSpPr>
          <p:cNvPr id="27" name="Text 20"/>
          <p:cNvSpPr txBox="1"/>
          <p:nvPr/>
        </p:nvSpPr>
        <p:spPr>
          <a:xfrm>
            <a:off x="9363456" y="2011680"/>
            <a:ext cx="256032" cy="548640"/>
          </a:xfrm>
          <a:prstGeom prst="rect">
            <a:avLst/>
          </a:prstGeom>
          <a:noFill/>
          <a:ln/>
        </p:spPr>
        <p:txBody>
          <a:bodyPr wrap="square" lIns="0" tIns="0" rIns="0" bIns="0" rtlCol="0" anchor="ctr"/>
          <a:lstStyle/>
          <a:p>
            <a:pPr algn="ctr" indent="0" marL="0">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8" name="Shape 21"/>
          <p:cNvSpPr/>
          <p:nvPr/>
        </p:nvSpPr>
        <p:spPr>
          <a:xfrm>
            <a:off x="9619488" y="1600200"/>
            <a:ext cx="2011680" cy="3200400"/>
          </a:xfrm>
          <a:prstGeom prst="roundRect">
            <a:avLst>
              <a:gd name="adj" fmla="val 4545"/>
            </a:avLst>
          </a:prstGeom>
          <a:solidFill>
            <a:srgbClr val="F1F5FB"/>
          </a:solidFill>
          <a:ln/>
        </p:spPr>
      </p:sp>
      <p:sp>
        <p:nvSpPr>
          <p:cNvPr id="29" name="Shape 22"/>
          <p:cNvSpPr/>
          <p:nvPr/>
        </p:nvSpPr>
        <p:spPr>
          <a:xfrm>
            <a:off x="10168128" y="1828800"/>
            <a:ext cx="914400" cy="914400"/>
          </a:xfrm>
          <a:prstGeom prst="ellipse">
            <a:avLst/>
          </a:prstGeom>
          <a:solidFill>
            <a:srgbClr val="17875A"/>
          </a:solidFill>
          <a:ln/>
        </p:spPr>
      </p:sp>
      <p:pic>
        <p:nvPicPr>
          <p:cNvPr id="30" name="Image 4" descr="preencoded.png">    </p:cNvPr>
          <p:cNvPicPr>
            <a:picLocks noChangeAspect="1"/>
          </p:cNvPicPr>
          <p:nvPr/>
        </p:nvPicPr>
        <p:blipFill>
          <a:blip r:embed="rId5"/>
          <a:stretch>
            <a:fillRect/>
          </a:stretch>
        </p:blipFill>
        <p:spPr>
          <a:xfrm>
            <a:off x="10396728" y="2057400"/>
            <a:ext cx="457200" cy="457200"/>
          </a:xfrm>
          <a:prstGeom prst="rect">
            <a:avLst/>
          </a:prstGeom>
        </p:spPr>
      </p:pic>
      <p:sp>
        <p:nvSpPr>
          <p:cNvPr id="31" name="Text 23"/>
          <p:cNvSpPr txBox="1"/>
          <p:nvPr/>
        </p:nvSpPr>
        <p:spPr>
          <a:xfrm>
            <a:off x="9756648" y="2971800"/>
            <a:ext cx="1737360" cy="457200"/>
          </a:xfrm>
          <a:prstGeom prst="rect">
            <a:avLst/>
          </a:prstGeom>
          <a:noFill/>
          <a:ln/>
        </p:spPr>
        <p:txBody>
          <a:bodyPr wrap="square" lIns="0" tIns="0" rIns="0" bIns="0" rtlCol="0" anchor="t"/>
          <a:lstStyle/>
          <a:p>
            <a:pPr algn="ctr" indent="0" marL="0">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2" name="Text 24"/>
          <p:cNvSpPr txBox="1"/>
          <p:nvPr/>
        </p:nvSpPr>
        <p:spPr>
          <a:xfrm>
            <a:off x="9802368" y="3520440"/>
            <a:ext cx="1645920" cy="1097280"/>
          </a:xfrm>
          <a:prstGeom prst="rect">
            <a:avLst/>
          </a:prstGeom>
          <a:noFill/>
          <a:ln/>
        </p:spPr>
        <p:txBody>
          <a:bodyPr wrap="square" lIns="0" tIns="0" rIns="0" bIns="0" rtlCol="0" anchor="t"/>
          <a:lstStyle/>
          <a:p>
            <a:pPr algn="ctr" indent="0" marL="0">
              <a:buNone/>
            </a:pPr>
            <a:r>
              <a:rPr lang="en-US" sz="1500" dirty="0">
                <a:solidFill>
                  <a:srgbClr val="56657E"/>
                </a:solidFill>
                <a:latin typeface="Calibri" pitchFamily="34" charset="0"/>
                <a:ea typeface="Calibri" pitchFamily="34" charset="-122"/>
                <a:cs typeface="Calibri" pitchFamily="34" charset="-120"/>
              </a:rPr>
              <a:t>paste the whole flag, Enter.</a:t>
            </a:r>
            <a:endParaRPr lang="en-US" sz="1500" dirty="0"/>
          </a:p>
        </p:txBody>
      </p:sp>
      <p:sp>
        <p:nvSpPr>
          <p:cNvPr id="33" name="Shape 25"/>
          <p:cNvSpPr/>
          <p:nvPr/>
        </p:nvSpPr>
        <p:spPr>
          <a:xfrm>
            <a:off x="548640" y="5029200"/>
            <a:ext cx="11094415" cy="914400"/>
          </a:xfrm>
          <a:prstGeom prst="roundRect">
            <a:avLst>
              <a:gd name="adj" fmla="val 10000"/>
            </a:avLst>
          </a:prstGeom>
          <a:solidFill>
            <a:srgbClr val="0E1726"/>
          </a:solidFill>
          <a:ln/>
          <a:effectLst>
            <a:outerShdw sx="100000" sy="100000" kx="0" ky="0" algn="bl" rotWithShape="0" blurRad="127000" dist="38100" dir="5400000">
              <a:srgbClr val="12213A">
                <a:alpha val="22000"/>
              </a:srgbClr>
            </a:outerShdw>
          </a:effectLst>
        </p:spPr>
      </p:sp>
      <p:sp>
        <p:nvSpPr>
          <p:cNvPr id="34" name="Shape 26"/>
          <p:cNvSpPr/>
          <p:nvPr/>
        </p:nvSpPr>
        <p:spPr>
          <a:xfrm>
            <a:off x="749808" y="5184648"/>
            <a:ext cx="118872" cy="118872"/>
          </a:xfrm>
          <a:prstGeom prst="ellipse">
            <a:avLst/>
          </a:prstGeom>
          <a:solidFill>
            <a:srgbClr val="E5534B"/>
          </a:solidFill>
          <a:ln/>
        </p:spPr>
      </p:sp>
      <p:sp>
        <p:nvSpPr>
          <p:cNvPr id="35" name="Shape 27"/>
          <p:cNvSpPr/>
          <p:nvPr/>
        </p:nvSpPr>
        <p:spPr>
          <a:xfrm>
            <a:off x="950976" y="5184648"/>
            <a:ext cx="118872" cy="118872"/>
          </a:xfrm>
          <a:prstGeom prst="ellipse">
            <a:avLst/>
          </a:prstGeom>
          <a:solidFill>
            <a:srgbClr val="F5A623"/>
          </a:solidFill>
          <a:ln/>
        </p:spPr>
      </p:sp>
      <p:sp>
        <p:nvSpPr>
          <p:cNvPr id="36" name="Shape 28"/>
          <p:cNvSpPr/>
          <p:nvPr/>
        </p:nvSpPr>
        <p:spPr>
          <a:xfrm>
            <a:off x="1152144" y="5184648"/>
            <a:ext cx="118872" cy="118872"/>
          </a:xfrm>
          <a:prstGeom prst="ellipse">
            <a:avLst/>
          </a:prstGeom>
          <a:solidFill>
            <a:srgbClr val="46D39A"/>
          </a:solidFill>
          <a:ln/>
        </p:spPr>
      </p:sp>
      <p:sp>
        <p:nvSpPr>
          <p:cNvPr id="37" name="Text 29"/>
          <p:cNvSpPr txBox="1"/>
          <p:nvPr/>
        </p:nvSpPr>
        <p:spPr>
          <a:xfrm>
            <a:off x="822960" y="5486400"/>
            <a:ext cx="10545775" cy="320040"/>
          </a:xfrm>
          <a:prstGeom prst="rect">
            <a:avLst/>
          </a:prstGeom>
          <a:noFill/>
          <a:ln/>
        </p:spPr>
        <p:txBody>
          <a:bodyPr wrap="square" lIns="0" tIns="0" rIns="0" bIns="0" rtlCol="0" anchor="t"/>
          <a:lstStyle/>
          <a:p>
            <a:pPr indent="0" marL="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800" b="1" dirty="0">
                <a:solidFill>
                  <a:srgbClr val="FFFFFF"/>
                </a:solidFill>
                <a:latin typeface="Courier New" pitchFamily="34" charset="0"/>
                <a:ea typeface="Courier New" pitchFamily="34" charset="-122"/>
                <a:cs typeface="Courier New" pitchFamily="34" charset="-120"/>
              </a:rPr>
              <a:t>submit CYBA{src-3c9e01f7}</a:t>
            </a:r>
            <a:pPr indent="0" marL="0">
              <a:spcAft>
                <a:spcPts val="200"/>
              </a:spcAft>
              <a:buNone/>
            </a:pP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
        <p:nvSpPr>
          <p:cNvPr id="38" name="Text 3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25 / 61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How we'll work through it</a:t>
            </a:r>
            <a:endParaRPr lang="en-US" sz="3200" dirty="0"/>
          </a:p>
        </p:txBody>
      </p:sp>
      <p:sp>
        <p:nvSpPr>
          <p:cNvPr id="4" name="Shape 1"/>
          <p:cNvSpPr/>
          <p:nvPr/>
        </p:nvSpPr>
        <p:spPr>
          <a:xfrm>
            <a:off x="548640" y="2651760"/>
            <a:ext cx="1691640" cy="2331720"/>
          </a:xfrm>
          <a:prstGeom prst="roundRect">
            <a:avLst>
              <a:gd name="adj" fmla="val 6486"/>
            </a:avLst>
          </a:prstGeom>
          <a:solidFill>
            <a:srgbClr val="17875A"/>
          </a:solidFill>
          <a:ln/>
        </p:spPr>
      </p:sp>
      <p:sp>
        <p:nvSpPr>
          <p:cNvPr id="5" name="Text 2"/>
          <p:cNvSpPr txBox="1"/>
          <p:nvPr/>
        </p:nvSpPr>
        <p:spPr>
          <a:xfrm>
            <a:off x="685800"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6" name="Text 3"/>
          <p:cNvSpPr txBox="1"/>
          <p:nvPr/>
        </p:nvSpPr>
        <p:spPr>
          <a:xfrm>
            <a:off x="640080"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Teach</a:t>
            </a:r>
            <a:endParaRPr lang="en-US" sz="2200" dirty="0"/>
          </a:p>
        </p:txBody>
      </p:sp>
      <p:sp>
        <p:nvSpPr>
          <p:cNvPr id="7" name="Text 4"/>
          <p:cNvSpPr txBox="1"/>
          <p:nvPr/>
        </p:nvSpPr>
        <p:spPr>
          <a:xfrm>
            <a:off x="640080"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name the idea</a:t>
            </a:r>
            <a:endParaRPr lang="en-US" sz="1300" dirty="0"/>
          </a:p>
        </p:txBody>
      </p:sp>
      <p:sp>
        <p:nvSpPr>
          <p:cNvPr id="8" name="Text 5"/>
          <p:cNvSpPr txBox="1"/>
          <p:nvPr/>
        </p:nvSpPr>
        <p:spPr>
          <a:xfrm>
            <a:off x="2221992"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9" name="Shape 6"/>
          <p:cNvSpPr/>
          <p:nvPr/>
        </p:nvSpPr>
        <p:spPr>
          <a:xfrm>
            <a:off x="2404872" y="2651760"/>
            <a:ext cx="1691640" cy="2331720"/>
          </a:xfrm>
          <a:prstGeom prst="roundRect">
            <a:avLst>
              <a:gd name="adj" fmla="val 6486"/>
            </a:avLst>
          </a:prstGeom>
          <a:solidFill>
            <a:srgbClr val="2A9FD6"/>
          </a:solidFill>
          <a:ln/>
        </p:spPr>
      </p:sp>
      <p:sp>
        <p:nvSpPr>
          <p:cNvPr id="10" name="Text 7"/>
          <p:cNvSpPr txBox="1"/>
          <p:nvPr/>
        </p:nvSpPr>
        <p:spPr>
          <a:xfrm>
            <a:off x="2542032"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1" name="Text 8"/>
          <p:cNvSpPr txBox="1"/>
          <p:nvPr/>
        </p:nvSpPr>
        <p:spPr>
          <a:xfrm>
            <a:off x="2496312"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Ask</a:t>
            </a:r>
            <a:endParaRPr lang="en-US" sz="2200" dirty="0"/>
          </a:p>
        </p:txBody>
      </p:sp>
      <p:sp>
        <p:nvSpPr>
          <p:cNvPr id="12" name="Text 9"/>
          <p:cNvSpPr txBox="1"/>
          <p:nvPr/>
        </p:nvSpPr>
        <p:spPr>
          <a:xfrm>
            <a:off x="2496312"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a question first</a:t>
            </a:r>
            <a:endParaRPr lang="en-US" sz="1300" dirty="0"/>
          </a:p>
        </p:txBody>
      </p:sp>
      <p:sp>
        <p:nvSpPr>
          <p:cNvPr id="13" name="Text 10"/>
          <p:cNvSpPr txBox="1"/>
          <p:nvPr/>
        </p:nvSpPr>
        <p:spPr>
          <a:xfrm>
            <a:off x="4078224"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14" name="Shape 11"/>
          <p:cNvSpPr/>
          <p:nvPr/>
        </p:nvSpPr>
        <p:spPr>
          <a:xfrm>
            <a:off x="4261104" y="2651760"/>
            <a:ext cx="1691640" cy="2331720"/>
          </a:xfrm>
          <a:prstGeom prst="roundRect">
            <a:avLst>
              <a:gd name="adj" fmla="val 6486"/>
            </a:avLst>
          </a:prstGeom>
          <a:solidFill>
            <a:srgbClr val="2459D8"/>
          </a:solidFill>
          <a:ln/>
        </p:spPr>
      </p:sp>
      <p:sp>
        <p:nvSpPr>
          <p:cNvPr id="15" name="Text 12"/>
          <p:cNvSpPr txBox="1"/>
          <p:nvPr/>
        </p:nvSpPr>
        <p:spPr>
          <a:xfrm>
            <a:off x="4398264"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3"/>
          <p:cNvSpPr txBox="1"/>
          <p:nvPr/>
        </p:nvSpPr>
        <p:spPr>
          <a:xfrm>
            <a:off x="4352544"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Predict</a:t>
            </a:r>
            <a:endParaRPr lang="en-US" sz="2200" dirty="0"/>
          </a:p>
        </p:txBody>
      </p:sp>
      <p:sp>
        <p:nvSpPr>
          <p:cNvPr id="17" name="Text 14"/>
          <p:cNvSpPr txBox="1"/>
          <p:nvPr/>
        </p:nvSpPr>
        <p:spPr>
          <a:xfrm>
            <a:off x="4352544"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what will happen?</a:t>
            </a:r>
            <a:endParaRPr lang="en-US" sz="1300" dirty="0"/>
          </a:p>
        </p:txBody>
      </p:sp>
      <p:sp>
        <p:nvSpPr>
          <p:cNvPr id="18" name="Text 15"/>
          <p:cNvSpPr txBox="1"/>
          <p:nvPr/>
        </p:nvSpPr>
        <p:spPr>
          <a:xfrm>
            <a:off x="5934456"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19" name="Shape 16"/>
          <p:cNvSpPr/>
          <p:nvPr/>
        </p:nvSpPr>
        <p:spPr>
          <a:xfrm>
            <a:off x="6117336" y="2651760"/>
            <a:ext cx="1691640" cy="2331720"/>
          </a:xfrm>
          <a:prstGeom prst="roundRect">
            <a:avLst>
              <a:gd name="adj" fmla="val 6486"/>
            </a:avLst>
          </a:prstGeom>
          <a:solidFill>
            <a:srgbClr val="7448D4"/>
          </a:solidFill>
          <a:ln/>
        </p:spPr>
      </p:sp>
      <p:sp>
        <p:nvSpPr>
          <p:cNvPr id="20" name="Text 17"/>
          <p:cNvSpPr txBox="1"/>
          <p:nvPr/>
        </p:nvSpPr>
        <p:spPr>
          <a:xfrm>
            <a:off x="6254496"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1" name="Text 18"/>
          <p:cNvSpPr txBox="1"/>
          <p:nvPr/>
        </p:nvSpPr>
        <p:spPr>
          <a:xfrm>
            <a:off x="6208776"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Try</a:t>
            </a:r>
            <a:endParaRPr lang="en-US" sz="2200" dirty="0"/>
          </a:p>
        </p:txBody>
      </p:sp>
      <p:sp>
        <p:nvSpPr>
          <p:cNvPr id="22" name="Text 19"/>
          <p:cNvSpPr txBox="1"/>
          <p:nvPr/>
        </p:nvSpPr>
        <p:spPr>
          <a:xfrm>
            <a:off x="6208776"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make the change</a:t>
            </a:r>
            <a:endParaRPr lang="en-US" sz="1300" dirty="0"/>
          </a:p>
        </p:txBody>
      </p:sp>
      <p:sp>
        <p:nvSpPr>
          <p:cNvPr id="23" name="Text 20"/>
          <p:cNvSpPr txBox="1"/>
          <p:nvPr/>
        </p:nvSpPr>
        <p:spPr>
          <a:xfrm>
            <a:off x="7790688"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24" name="Shape 21"/>
          <p:cNvSpPr/>
          <p:nvPr/>
        </p:nvSpPr>
        <p:spPr>
          <a:xfrm>
            <a:off x="7973568" y="2651760"/>
            <a:ext cx="1691640" cy="2331720"/>
          </a:xfrm>
          <a:prstGeom prst="roundRect">
            <a:avLst>
              <a:gd name="adj" fmla="val 6486"/>
            </a:avLst>
          </a:prstGeom>
          <a:solidFill>
            <a:srgbClr val="D1416B"/>
          </a:solidFill>
          <a:ln/>
        </p:spPr>
      </p:sp>
      <p:sp>
        <p:nvSpPr>
          <p:cNvPr id="25" name="Text 22"/>
          <p:cNvSpPr txBox="1"/>
          <p:nvPr/>
        </p:nvSpPr>
        <p:spPr>
          <a:xfrm>
            <a:off x="8110728"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6" name="Text 23"/>
          <p:cNvSpPr txBox="1"/>
          <p:nvPr/>
        </p:nvSpPr>
        <p:spPr>
          <a:xfrm>
            <a:off x="8065008"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Explain</a:t>
            </a:r>
            <a:endParaRPr lang="en-US" sz="2200" dirty="0"/>
          </a:p>
        </p:txBody>
      </p:sp>
      <p:sp>
        <p:nvSpPr>
          <p:cNvPr id="27" name="Text 24"/>
          <p:cNvSpPr txBox="1"/>
          <p:nvPr/>
        </p:nvSpPr>
        <p:spPr>
          <a:xfrm>
            <a:off x="8065008"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in your words</a:t>
            </a:r>
            <a:endParaRPr lang="en-US" sz="1300" dirty="0"/>
          </a:p>
        </p:txBody>
      </p:sp>
      <p:sp>
        <p:nvSpPr>
          <p:cNvPr id="28" name="Text 25"/>
          <p:cNvSpPr txBox="1"/>
          <p:nvPr/>
        </p:nvSpPr>
        <p:spPr>
          <a:xfrm>
            <a:off x="9646920" y="3474720"/>
            <a:ext cx="201168" cy="731520"/>
          </a:xfrm>
          <a:prstGeom prst="rect">
            <a:avLst/>
          </a:prstGeom>
          <a:noFill/>
          <a:ln/>
        </p:spPr>
        <p:txBody>
          <a:bodyPr wrap="square" lIns="0" tIns="0" rIns="0" bIns="0" rtlCol="0" anchor="ctr"/>
          <a:lstStyle/>
          <a:p>
            <a:pPr algn="ctr" indent="0" marL="0">
              <a:buNone/>
            </a:pPr>
            <a:r>
              <a:rPr lang="en-US" sz="1800" b="1" dirty="0">
                <a:solidFill>
                  <a:srgbClr val="56657E"/>
                </a:solidFill>
                <a:latin typeface="Courier New" pitchFamily="34" charset="0"/>
                <a:ea typeface="Courier New" pitchFamily="34" charset="-122"/>
                <a:cs typeface="Courier New" pitchFamily="34" charset="-120"/>
              </a:rPr>
              <a:t>&gt;</a:t>
            </a:r>
            <a:endParaRPr lang="en-US" sz="1800" dirty="0"/>
          </a:p>
        </p:txBody>
      </p:sp>
      <p:sp>
        <p:nvSpPr>
          <p:cNvPr id="29" name="Shape 26"/>
          <p:cNvSpPr/>
          <p:nvPr/>
        </p:nvSpPr>
        <p:spPr>
          <a:xfrm>
            <a:off x="9829800" y="2651760"/>
            <a:ext cx="1691640" cy="2331720"/>
          </a:xfrm>
          <a:prstGeom prst="roundRect">
            <a:avLst>
              <a:gd name="adj" fmla="val 6486"/>
            </a:avLst>
          </a:prstGeom>
          <a:solidFill>
            <a:srgbClr val="17875A"/>
          </a:solidFill>
          <a:ln/>
        </p:spPr>
      </p:sp>
      <p:sp>
        <p:nvSpPr>
          <p:cNvPr id="30" name="Text 27"/>
          <p:cNvSpPr txBox="1"/>
          <p:nvPr/>
        </p:nvSpPr>
        <p:spPr>
          <a:xfrm>
            <a:off x="9966960" y="2788920"/>
            <a:ext cx="141732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31" name="Text 28"/>
          <p:cNvSpPr txBox="1"/>
          <p:nvPr/>
        </p:nvSpPr>
        <p:spPr>
          <a:xfrm>
            <a:off x="9921240" y="3246120"/>
            <a:ext cx="1508760" cy="7315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Apply</a:t>
            </a:r>
            <a:endParaRPr lang="en-US" sz="2200" dirty="0"/>
          </a:p>
        </p:txBody>
      </p:sp>
      <p:sp>
        <p:nvSpPr>
          <p:cNvPr id="32" name="Text 29"/>
          <p:cNvSpPr txBox="1"/>
          <p:nvPr/>
        </p:nvSpPr>
        <p:spPr>
          <a:xfrm>
            <a:off x="9921240" y="4069080"/>
            <a:ext cx="150876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on the next one</a:t>
            </a:r>
            <a:endParaRPr lang="en-US" sz="1300" dirty="0"/>
          </a:p>
        </p:txBody>
      </p:sp>
      <p:sp>
        <p:nvSpPr>
          <p:cNvPr id="33" name="Text 3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26 / 61</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The challenges</a:t>
            </a:r>
            <a:endParaRPr lang="en-US" sz="3200" dirty="0"/>
          </a:p>
        </p:txBody>
      </p:sp>
      <p:sp>
        <p:nvSpPr>
          <p:cNvPr id="4" name="Shape 1"/>
          <p:cNvSpPr/>
          <p:nvPr/>
        </p:nvSpPr>
        <p:spPr>
          <a:xfrm>
            <a:off x="548640" y="1463040"/>
            <a:ext cx="2103120" cy="2103120"/>
          </a:xfrm>
          <a:prstGeom prst="roundRect">
            <a:avLst>
              <a:gd name="adj" fmla="val 4348"/>
            </a:avLst>
          </a:prstGeom>
          <a:solidFill>
            <a:srgbClr val="F1F5FB"/>
          </a:solidFill>
          <a:ln/>
        </p:spPr>
      </p:sp>
      <p:sp>
        <p:nvSpPr>
          <p:cNvPr id="5" name="Shape 2"/>
          <p:cNvSpPr/>
          <p:nvPr/>
        </p:nvSpPr>
        <p:spPr>
          <a:xfrm>
            <a:off x="548640" y="1463040"/>
            <a:ext cx="2103120" cy="91440"/>
          </a:xfrm>
          <a:prstGeom prst="rect">
            <a:avLst/>
          </a:prstGeom>
          <a:solidFill>
            <a:srgbClr val="17875A"/>
          </a:solidFill>
          <a:ln/>
        </p:spPr>
      </p:sp>
      <p:sp>
        <p:nvSpPr>
          <p:cNvPr id="6" name="Shape 3"/>
          <p:cNvSpPr/>
          <p:nvPr/>
        </p:nvSpPr>
        <p:spPr>
          <a:xfrm>
            <a:off x="713232" y="1719072"/>
            <a:ext cx="502920" cy="502920"/>
          </a:xfrm>
          <a:prstGeom prst="ellipse">
            <a:avLst/>
          </a:prstGeom>
          <a:solidFill>
            <a:srgbClr val="17875A"/>
          </a:solidFill>
          <a:ln/>
        </p:spPr>
      </p:sp>
      <p:sp>
        <p:nvSpPr>
          <p:cNvPr id="7" name="Text 4"/>
          <p:cNvSpPr txBox="1"/>
          <p:nvPr/>
        </p:nvSpPr>
        <p:spPr>
          <a:xfrm>
            <a:off x="71323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5"/>
          <p:cNvSpPr txBox="1"/>
          <p:nvPr/>
        </p:nvSpPr>
        <p:spPr>
          <a:xfrm>
            <a:off x="132588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9" name="Text 6"/>
          <p:cNvSpPr txBox="1"/>
          <p:nvPr/>
        </p:nvSpPr>
        <p:spPr>
          <a:xfrm>
            <a:off x="71323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View the source</a:t>
            </a:r>
            <a:endParaRPr lang="en-US" sz="1500" dirty="0"/>
          </a:p>
        </p:txBody>
      </p:sp>
      <p:sp>
        <p:nvSpPr>
          <p:cNvPr id="10" name="Shape 7"/>
          <p:cNvSpPr/>
          <p:nvPr/>
        </p:nvSpPr>
        <p:spPr>
          <a:xfrm>
            <a:off x="713232" y="2852928"/>
            <a:ext cx="1783080" cy="347472"/>
          </a:xfrm>
          <a:prstGeom prst="roundRect">
            <a:avLst>
              <a:gd name="adj" fmla="val 50000"/>
            </a:avLst>
          </a:prstGeom>
          <a:solidFill>
            <a:srgbClr val="E2F5EC"/>
          </a:solidFill>
          <a:ln/>
        </p:spPr>
      </p:sp>
      <p:sp>
        <p:nvSpPr>
          <p:cNvPr id="11" name="Text 8"/>
          <p:cNvSpPr txBox="1"/>
          <p:nvPr/>
        </p:nvSpPr>
        <p:spPr>
          <a:xfrm>
            <a:off x="71323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2" name="Text 9"/>
          <p:cNvSpPr txBox="1"/>
          <p:nvPr/>
        </p:nvSpPr>
        <p:spPr>
          <a:xfrm>
            <a:off x="713232" y="324612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View Source · curl</a:t>
            </a:r>
            <a:endParaRPr lang="en-US" sz="950" dirty="0"/>
          </a:p>
        </p:txBody>
      </p:sp>
      <p:sp>
        <p:nvSpPr>
          <p:cNvPr id="13" name="Shape 10"/>
          <p:cNvSpPr/>
          <p:nvPr/>
        </p:nvSpPr>
        <p:spPr>
          <a:xfrm>
            <a:off x="2788920" y="1463040"/>
            <a:ext cx="2103120" cy="2103120"/>
          </a:xfrm>
          <a:prstGeom prst="roundRect">
            <a:avLst>
              <a:gd name="adj" fmla="val 4348"/>
            </a:avLst>
          </a:prstGeom>
          <a:solidFill>
            <a:srgbClr val="F1F5FB"/>
          </a:solidFill>
          <a:ln/>
        </p:spPr>
      </p:sp>
      <p:sp>
        <p:nvSpPr>
          <p:cNvPr id="14" name="Shape 11"/>
          <p:cNvSpPr/>
          <p:nvPr/>
        </p:nvSpPr>
        <p:spPr>
          <a:xfrm>
            <a:off x="2788920" y="1463040"/>
            <a:ext cx="2103120" cy="91440"/>
          </a:xfrm>
          <a:prstGeom prst="rect">
            <a:avLst/>
          </a:prstGeom>
          <a:solidFill>
            <a:srgbClr val="2A9FD6"/>
          </a:solidFill>
          <a:ln/>
        </p:spPr>
      </p:sp>
      <p:sp>
        <p:nvSpPr>
          <p:cNvPr id="15" name="Shape 12"/>
          <p:cNvSpPr/>
          <p:nvPr/>
        </p:nvSpPr>
        <p:spPr>
          <a:xfrm>
            <a:off x="2953512" y="1719072"/>
            <a:ext cx="502920" cy="502920"/>
          </a:xfrm>
          <a:prstGeom prst="ellipse">
            <a:avLst/>
          </a:prstGeom>
          <a:solidFill>
            <a:srgbClr val="2A9FD6"/>
          </a:solidFill>
          <a:ln/>
        </p:spPr>
      </p:sp>
      <p:sp>
        <p:nvSpPr>
          <p:cNvPr id="16" name="Text 13"/>
          <p:cNvSpPr txBox="1"/>
          <p:nvPr/>
        </p:nvSpPr>
        <p:spPr>
          <a:xfrm>
            <a:off x="295351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7" name="Text 14"/>
          <p:cNvSpPr txBox="1"/>
          <p:nvPr/>
        </p:nvSpPr>
        <p:spPr>
          <a:xfrm>
            <a:off x="3566160" y="1719072"/>
            <a:ext cx="1188720" cy="502920"/>
          </a:xfrm>
          <a:prstGeom prst="rect">
            <a:avLst/>
          </a:prstGeom>
          <a:noFill/>
          <a:ln/>
        </p:spPr>
        <p:txBody>
          <a:bodyPr wrap="square" lIns="0" tIns="0" rIns="0" bIns="0" rtlCol="0" anchor="ctr"/>
          <a:lstStyle/>
          <a:p>
            <a:pPr algn="r" indent="0" marL="0">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8" name="Text 15"/>
          <p:cNvSpPr txBox="1"/>
          <p:nvPr/>
        </p:nvSpPr>
        <p:spPr>
          <a:xfrm>
            <a:off x="295351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Hidden in plain sight</a:t>
            </a:r>
            <a:endParaRPr lang="en-US" sz="1500" dirty="0"/>
          </a:p>
        </p:txBody>
      </p:sp>
      <p:sp>
        <p:nvSpPr>
          <p:cNvPr id="19" name="Shape 16"/>
          <p:cNvSpPr/>
          <p:nvPr/>
        </p:nvSpPr>
        <p:spPr>
          <a:xfrm>
            <a:off x="2953512" y="2852928"/>
            <a:ext cx="1783080" cy="347472"/>
          </a:xfrm>
          <a:prstGeom prst="roundRect">
            <a:avLst>
              <a:gd name="adj" fmla="val 50000"/>
            </a:avLst>
          </a:prstGeom>
          <a:solidFill>
            <a:srgbClr val="E2F5EC"/>
          </a:solidFill>
          <a:ln/>
        </p:spPr>
      </p:sp>
      <p:sp>
        <p:nvSpPr>
          <p:cNvPr id="20" name="Text 17"/>
          <p:cNvSpPr txBox="1"/>
          <p:nvPr/>
        </p:nvSpPr>
        <p:spPr>
          <a:xfrm>
            <a:off x="295351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1" name="Text 18"/>
          <p:cNvSpPr txBox="1"/>
          <p:nvPr/>
        </p:nvSpPr>
        <p:spPr>
          <a:xfrm>
            <a:off x="2953512" y="324612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F12 · Inspect</a:t>
            </a:r>
            <a:endParaRPr lang="en-US" sz="950" dirty="0"/>
          </a:p>
        </p:txBody>
      </p:sp>
      <p:sp>
        <p:nvSpPr>
          <p:cNvPr id="22" name="Shape 19"/>
          <p:cNvSpPr/>
          <p:nvPr/>
        </p:nvSpPr>
        <p:spPr>
          <a:xfrm>
            <a:off x="5029200" y="1463040"/>
            <a:ext cx="2103120" cy="2103120"/>
          </a:xfrm>
          <a:prstGeom prst="roundRect">
            <a:avLst>
              <a:gd name="adj" fmla="val 4348"/>
            </a:avLst>
          </a:prstGeom>
          <a:solidFill>
            <a:srgbClr val="F1F5FB"/>
          </a:solidFill>
          <a:ln/>
        </p:spPr>
      </p:sp>
      <p:sp>
        <p:nvSpPr>
          <p:cNvPr id="23" name="Shape 20"/>
          <p:cNvSpPr/>
          <p:nvPr/>
        </p:nvSpPr>
        <p:spPr>
          <a:xfrm>
            <a:off x="5029200" y="1463040"/>
            <a:ext cx="2103120" cy="91440"/>
          </a:xfrm>
          <a:prstGeom prst="rect">
            <a:avLst/>
          </a:prstGeom>
          <a:solidFill>
            <a:srgbClr val="2459D8"/>
          </a:solidFill>
          <a:ln/>
        </p:spPr>
      </p:sp>
      <p:sp>
        <p:nvSpPr>
          <p:cNvPr id="24" name="Shape 21"/>
          <p:cNvSpPr/>
          <p:nvPr/>
        </p:nvSpPr>
        <p:spPr>
          <a:xfrm>
            <a:off x="5193792" y="1719072"/>
            <a:ext cx="502920" cy="502920"/>
          </a:xfrm>
          <a:prstGeom prst="ellipse">
            <a:avLst/>
          </a:prstGeom>
          <a:solidFill>
            <a:srgbClr val="2459D8"/>
          </a:solidFill>
          <a:ln/>
        </p:spPr>
      </p:sp>
      <p:sp>
        <p:nvSpPr>
          <p:cNvPr id="25" name="Text 22"/>
          <p:cNvSpPr txBox="1"/>
          <p:nvPr/>
        </p:nvSpPr>
        <p:spPr>
          <a:xfrm>
            <a:off x="519379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6" name="Text 23"/>
          <p:cNvSpPr txBox="1"/>
          <p:nvPr/>
        </p:nvSpPr>
        <p:spPr>
          <a:xfrm>
            <a:off x="580644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7" name="Text 24"/>
          <p:cNvSpPr txBox="1"/>
          <p:nvPr/>
        </p:nvSpPr>
        <p:spPr>
          <a:xfrm>
            <a:off x="519379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Check the cookies</a:t>
            </a:r>
            <a:endParaRPr lang="en-US" sz="1500" dirty="0"/>
          </a:p>
        </p:txBody>
      </p:sp>
      <p:sp>
        <p:nvSpPr>
          <p:cNvPr id="28" name="Shape 25"/>
          <p:cNvSpPr/>
          <p:nvPr/>
        </p:nvSpPr>
        <p:spPr>
          <a:xfrm>
            <a:off x="5193792" y="2852928"/>
            <a:ext cx="1783080" cy="347472"/>
          </a:xfrm>
          <a:prstGeom prst="roundRect">
            <a:avLst>
              <a:gd name="adj" fmla="val 50000"/>
            </a:avLst>
          </a:prstGeom>
          <a:solidFill>
            <a:srgbClr val="E2F5EC"/>
          </a:solidFill>
          <a:ln/>
        </p:spPr>
      </p:sp>
      <p:sp>
        <p:nvSpPr>
          <p:cNvPr id="29" name="Text 26"/>
          <p:cNvSpPr txBox="1"/>
          <p:nvPr/>
        </p:nvSpPr>
        <p:spPr>
          <a:xfrm>
            <a:off x="5193792" y="2852928"/>
            <a:ext cx="1783080" cy="347472"/>
          </a:xfrm>
          <a:prstGeom prst="rect">
            <a:avLst/>
          </a:prstGeom>
          <a:noFill/>
          <a:ln/>
        </p:spPr>
        <p:txBody>
          <a:bodyPr wrap="square" lIns="0" tIns="0" rIns="0" bIns="0" rtlCol="0" anchor="ctr"/>
          <a:lstStyle/>
          <a:p>
            <a:pPr algn="ctr" indent="0" marL="0">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0" name="Text 27"/>
          <p:cNvSpPr txBox="1"/>
          <p:nvPr/>
        </p:nvSpPr>
        <p:spPr>
          <a:xfrm>
            <a:off x="5193792" y="324612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Application · Cookies</a:t>
            </a:r>
            <a:endParaRPr lang="en-US" sz="950" dirty="0"/>
          </a:p>
        </p:txBody>
      </p:sp>
      <p:sp>
        <p:nvSpPr>
          <p:cNvPr id="31" name="Shape 28"/>
          <p:cNvSpPr/>
          <p:nvPr/>
        </p:nvSpPr>
        <p:spPr>
          <a:xfrm>
            <a:off x="7269480" y="1463040"/>
            <a:ext cx="2103120" cy="2103120"/>
          </a:xfrm>
          <a:prstGeom prst="roundRect">
            <a:avLst>
              <a:gd name="adj" fmla="val 4348"/>
            </a:avLst>
          </a:prstGeom>
          <a:solidFill>
            <a:srgbClr val="F1F5FB"/>
          </a:solidFill>
          <a:ln/>
        </p:spPr>
      </p:sp>
      <p:sp>
        <p:nvSpPr>
          <p:cNvPr id="32" name="Shape 29"/>
          <p:cNvSpPr/>
          <p:nvPr/>
        </p:nvSpPr>
        <p:spPr>
          <a:xfrm>
            <a:off x="7269480" y="1463040"/>
            <a:ext cx="2103120" cy="91440"/>
          </a:xfrm>
          <a:prstGeom prst="rect">
            <a:avLst/>
          </a:prstGeom>
          <a:solidFill>
            <a:srgbClr val="7448D4"/>
          </a:solidFill>
          <a:ln/>
        </p:spPr>
      </p:sp>
      <p:sp>
        <p:nvSpPr>
          <p:cNvPr id="33" name="Shape 30"/>
          <p:cNvSpPr/>
          <p:nvPr/>
        </p:nvSpPr>
        <p:spPr>
          <a:xfrm>
            <a:off x="7434072" y="1719072"/>
            <a:ext cx="502920" cy="502920"/>
          </a:xfrm>
          <a:prstGeom prst="ellipse">
            <a:avLst/>
          </a:prstGeom>
          <a:solidFill>
            <a:srgbClr val="7448D4"/>
          </a:solidFill>
          <a:ln/>
        </p:spPr>
      </p:sp>
      <p:sp>
        <p:nvSpPr>
          <p:cNvPr id="34" name="Text 31"/>
          <p:cNvSpPr txBox="1"/>
          <p:nvPr/>
        </p:nvSpPr>
        <p:spPr>
          <a:xfrm>
            <a:off x="743407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5" name="Text 32"/>
          <p:cNvSpPr txBox="1"/>
          <p:nvPr/>
        </p:nvSpPr>
        <p:spPr>
          <a:xfrm>
            <a:off x="804672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6" name="Text 33"/>
          <p:cNvSpPr txBox="1"/>
          <p:nvPr/>
        </p:nvSpPr>
        <p:spPr>
          <a:xfrm>
            <a:off x="743407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Tamper with the URL</a:t>
            </a:r>
            <a:endParaRPr lang="en-US" sz="1500" dirty="0"/>
          </a:p>
        </p:txBody>
      </p:sp>
      <p:sp>
        <p:nvSpPr>
          <p:cNvPr id="37" name="Shape 34"/>
          <p:cNvSpPr/>
          <p:nvPr/>
        </p:nvSpPr>
        <p:spPr>
          <a:xfrm>
            <a:off x="7434072" y="2852928"/>
            <a:ext cx="1783080" cy="347472"/>
          </a:xfrm>
          <a:prstGeom prst="roundRect">
            <a:avLst>
              <a:gd name="adj" fmla="val 50000"/>
            </a:avLst>
          </a:prstGeom>
          <a:solidFill>
            <a:srgbClr val="FFF4DE"/>
          </a:solidFill>
          <a:ln/>
        </p:spPr>
      </p:sp>
      <p:sp>
        <p:nvSpPr>
          <p:cNvPr id="38" name="Text 35"/>
          <p:cNvSpPr txBox="1"/>
          <p:nvPr/>
        </p:nvSpPr>
        <p:spPr>
          <a:xfrm>
            <a:off x="743407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39" name="Text 36"/>
          <p:cNvSpPr txBox="1"/>
          <p:nvPr/>
        </p:nvSpPr>
        <p:spPr>
          <a:xfrm>
            <a:off x="7434072" y="324612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?id= query param</a:t>
            </a:r>
            <a:endParaRPr lang="en-US" sz="950" dirty="0"/>
          </a:p>
        </p:txBody>
      </p:sp>
      <p:sp>
        <p:nvSpPr>
          <p:cNvPr id="40" name="Shape 37"/>
          <p:cNvSpPr/>
          <p:nvPr/>
        </p:nvSpPr>
        <p:spPr>
          <a:xfrm>
            <a:off x="9509760" y="1463040"/>
            <a:ext cx="2103120" cy="2103120"/>
          </a:xfrm>
          <a:prstGeom prst="roundRect">
            <a:avLst>
              <a:gd name="adj" fmla="val 4348"/>
            </a:avLst>
          </a:prstGeom>
          <a:solidFill>
            <a:srgbClr val="F1F5FB"/>
          </a:solidFill>
          <a:ln/>
        </p:spPr>
      </p:sp>
      <p:sp>
        <p:nvSpPr>
          <p:cNvPr id="41" name="Shape 38"/>
          <p:cNvSpPr/>
          <p:nvPr/>
        </p:nvSpPr>
        <p:spPr>
          <a:xfrm>
            <a:off x="9509760" y="1463040"/>
            <a:ext cx="2103120" cy="91440"/>
          </a:xfrm>
          <a:prstGeom prst="rect">
            <a:avLst/>
          </a:prstGeom>
          <a:solidFill>
            <a:srgbClr val="D1416B"/>
          </a:solidFill>
          <a:ln/>
        </p:spPr>
      </p:sp>
      <p:sp>
        <p:nvSpPr>
          <p:cNvPr id="42" name="Shape 39"/>
          <p:cNvSpPr/>
          <p:nvPr/>
        </p:nvSpPr>
        <p:spPr>
          <a:xfrm>
            <a:off x="9674352" y="1719072"/>
            <a:ext cx="502920" cy="502920"/>
          </a:xfrm>
          <a:prstGeom prst="ellipse">
            <a:avLst/>
          </a:prstGeom>
          <a:solidFill>
            <a:srgbClr val="D1416B"/>
          </a:solidFill>
          <a:ln/>
        </p:spPr>
      </p:sp>
      <p:sp>
        <p:nvSpPr>
          <p:cNvPr id="43" name="Text 40"/>
          <p:cNvSpPr txBox="1"/>
          <p:nvPr/>
        </p:nvSpPr>
        <p:spPr>
          <a:xfrm>
            <a:off x="9674352" y="171907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4" name="Text 41"/>
          <p:cNvSpPr txBox="1"/>
          <p:nvPr/>
        </p:nvSpPr>
        <p:spPr>
          <a:xfrm>
            <a:off x="10287000" y="171907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5" name="Text 42"/>
          <p:cNvSpPr txBox="1"/>
          <p:nvPr/>
        </p:nvSpPr>
        <p:spPr>
          <a:xfrm>
            <a:off x="9674352" y="228600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Robots and secret paths</a:t>
            </a:r>
            <a:endParaRPr lang="en-US" sz="1500" dirty="0"/>
          </a:p>
        </p:txBody>
      </p:sp>
      <p:sp>
        <p:nvSpPr>
          <p:cNvPr id="46" name="Shape 43"/>
          <p:cNvSpPr/>
          <p:nvPr/>
        </p:nvSpPr>
        <p:spPr>
          <a:xfrm>
            <a:off x="9674352" y="2852928"/>
            <a:ext cx="1783080" cy="347472"/>
          </a:xfrm>
          <a:prstGeom prst="roundRect">
            <a:avLst>
              <a:gd name="adj" fmla="val 50000"/>
            </a:avLst>
          </a:prstGeom>
          <a:solidFill>
            <a:srgbClr val="FFF4DE"/>
          </a:solidFill>
          <a:ln/>
        </p:spPr>
      </p:sp>
      <p:sp>
        <p:nvSpPr>
          <p:cNvPr id="47" name="Text 44"/>
          <p:cNvSpPr txBox="1"/>
          <p:nvPr/>
        </p:nvSpPr>
        <p:spPr>
          <a:xfrm>
            <a:off x="9674352" y="285292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8" name="Text 45"/>
          <p:cNvSpPr txBox="1"/>
          <p:nvPr/>
        </p:nvSpPr>
        <p:spPr>
          <a:xfrm>
            <a:off x="9674352" y="324612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/robots.txt</a:t>
            </a:r>
            <a:endParaRPr lang="en-US" sz="950" dirty="0"/>
          </a:p>
        </p:txBody>
      </p:sp>
      <p:sp>
        <p:nvSpPr>
          <p:cNvPr id="49" name="Shape 46"/>
          <p:cNvSpPr/>
          <p:nvPr/>
        </p:nvSpPr>
        <p:spPr>
          <a:xfrm>
            <a:off x="548640" y="3703320"/>
            <a:ext cx="2103120" cy="2103120"/>
          </a:xfrm>
          <a:prstGeom prst="roundRect">
            <a:avLst>
              <a:gd name="adj" fmla="val 4348"/>
            </a:avLst>
          </a:prstGeom>
          <a:solidFill>
            <a:srgbClr val="F1F5FB"/>
          </a:solidFill>
          <a:ln/>
        </p:spPr>
      </p:sp>
      <p:sp>
        <p:nvSpPr>
          <p:cNvPr id="50" name="Shape 47"/>
          <p:cNvSpPr/>
          <p:nvPr/>
        </p:nvSpPr>
        <p:spPr>
          <a:xfrm>
            <a:off x="548640" y="3703320"/>
            <a:ext cx="2103120" cy="91440"/>
          </a:xfrm>
          <a:prstGeom prst="rect">
            <a:avLst/>
          </a:prstGeom>
          <a:solidFill>
            <a:srgbClr val="E8820C"/>
          </a:solidFill>
          <a:ln/>
        </p:spPr>
      </p:sp>
      <p:sp>
        <p:nvSpPr>
          <p:cNvPr id="51" name="Shape 48"/>
          <p:cNvSpPr/>
          <p:nvPr/>
        </p:nvSpPr>
        <p:spPr>
          <a:xfrm>
            <a:off x="713232" y="3959352"/>
            <a:ext cx="502920" cy="502920"/>
          </a:xfrm>
          <a:prstGeom prst="ellipse">
            <a:avLst/>
          </a:prstGeom>
          <a:solidFill>
            <a:srgbClr val="E8820C"/>
          </a:solidFill>
          <a:ln/>
        </p:spPr>
      </p:sp>
      <p:sp>
        <p:nvSpPr>
          <p:cNvPr id="52" name="Text 49"/>
          <p:cNvSpPr txBox="1"/>
          <p:nvPr/>
        </p:nvSpPr>
        <p:spPr>
          <a:xfrm>
            <a:off x="71323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3" name="Text 50"/>
          <p:cNvSpPr txBox="1"/>
          <p:nvPr/>
        </p:nvSpPr>
        <p:spPr>
          <a:xfrm>
            <a:off x="132588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4" name="Text 51"/>
          <p:cNvSpPr txBox="1"/>
          <p:nvPr/>
        </p:nvSpPr>
        <p:spPr>
          <a:xfrm>
            <a:off x="71323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The console knows</a:t>
            </a:r>
            <a:endParaRPr lang="en-US" sz="1500" dirty="0"/>
          </a:p>
        </p:txBody>
      </p:sp>
      <p:sp>
        <p:nvSpPr>
          <p:cNvPr id="55" name="Shape 52"/>
          <p:cNvSpPr/>
          <p:nvPr/>
        </p:nvSpPr>
        <p:spPr>
          <a:xfrm>
            <a:off x="713232" y="5093208"/>
            <a:ext cx="1783080" cy="347472"/>
          </a:xfrm>
          <a:prstGeom prst="roundRect">
            <a:avLst>
              <a:gd name="adj" fmla="val 50000"/>
            </a:avLst>
          </a:prstGeom>
          <a:solidFill>
            <a:srgbClr val="FFF4DE"/>
          </a:solidFill>
          <a:ln/>
        </p:spPr>
      </p:sp>
      <p:sp>
        <p:nvSpPr>
          <p:cNvPr id="56" name="Text 53"/>
          <p:cNvSpPr txBox="1"/>
          <p:nvPr/>
        </p:nvSpPr>
        <p:spPr>
          <a:xfrm>
            <a:off x="71323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7" name="Text 54"/>
          <p:cNvSpPr txBox="1"/>
          <p:nvPr/>
        </p:nvSpPr>
        <p:spPr>
          <a:xfrm>
            <a:off x="713232" y="548640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F12 · Console</a:t>
            </a:r>
            <a:endParaRPr lang="en-US" sz="950" dirty="0"/>
          </a:p>
        </p:txBody>
      </p:sp>
      <p:sp>
        <p:nvSpPr>
          <p:cNvPr id="58" name="Shape 55"/>
          <p:cNvSpPr/>
          <p:nvPr/>
        </p:nvSpPr>
        <p:spPr>
          <a:xfrm>
            <a:off x="2788920" y="3703320"/>
            <a:ext cx="2103120" cy="2103120"/>
          </a:xfrm>
          <a:prstGeom prst="roundRect">
            <a:avLst>
              <a:gd name="adj" fmla="val 4348"/>
            </a:avLst>
          </a:prstGeom>
          <a:solidFill>
            <a:srgbClr val="F1F5FB"/>
          </a:solidFill>
          <a:ln/>
        </p:spPr>
      </p:sp>
      <p:sp>
        <p:nvSpPr>
          <p:cNvPr id="59" name="Shape 56"/>
          <p:cNvSpPr/>
          <p:nvPr/>
        </p:nvSpPr>
        <p:spPr>
          <a:xfrm>
            <a:off x="2788920" y="3703320"/>
            <a:ext cx="2103120" cy="91440"/>
          </a:xfrm>
          <a:prstGeom prst="rect">
            <a:avLst/>
          </a:prstGeom>
          <a:solidFill>
            <a:srgbClr val="C9A227"/>
          </a:solidFill>
          <a:ln/>
        </p:spPr>
      </p:sp>
      <p:sp>
        <p:nvSpPr>
          <p:cNvPr id="60" name="Shape 57"/>
          <p:cNvSpPr/>
          <p:nvPr/>
        </p:nvSpPr>
        <p:spPr>
          <a:xfrm>
            <a:off x="2953512" y="3959352"/>
            <a:ext cx="502920" cy="502920"/>
          </a:xfrm>
          <a:prstGeom prst="ellipse">
            <a:avLst/>
          </a:prstGeom>
          <a:solidFill>
            <a:srgbClr val="C9A227"/>
          </a:solidFill>
          <a:ln/>
        </p:spPr>
      </p:sp>
      <p:sp>
        <p:nvSpPr>
          <p:cNvPr id="61" name="Text 58"/>
          <p:cNvSpPr txBox="1"/>
          <p:nvPr/>
        </p:nvSpPr>
        <p:spPr>
          <a:xfrm>
            <a:off x="295351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2" name="Text 59"/>
          <p:cNvSpPr txBox="1"/>
          <p:nvPr/>
        </p:nvSpPr>
        <p:spPr>
          <a:xfrm>
            <a:off x="356616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3" name="Text 60"/>
          <p:cNvSpPr txBox="1"/>
          <p:nvPr/>
        </p:nvSpPr>
        <p:spPr>
          <a:xfrm>
            <a:off x="295351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Break the lock</a:t>
            </a:r>
            <a:endParaRPr lang="en-US" sz="1500" dirty="0"/>
          </a:p>
        </p:txBody>
      </p:sp>
      <p:sp>
        <p:nvSpPr>
          <p:cNvPr id="64" name="Shape 61"/>
          <p:cNvSpPr/>
          <p:nvPr/>
        </p:nvSpPr>
        <p:spPr>
          <a:xfrm>
            <a:off x="2953512" y="5093208"/>
            <a:ext cx="1783080" cy="347472"/>
          </a:xfrm>
          <a:prstGeom prst="roundRect">
            <a:avLst>
              <a:gd name="adj" fmla="val 50000"/>
            </a:avLst>
          </a:prstGeom>
          <a:solidFill>
            <a:srgbClr val="FFF4DE"/>
          </a:solidFill>
          <a:ln/>
        </p:spPr>
      </p:sp>
      <p:sp>
        <p:nvSpPr>
          <p:cNvPr id="65" name="Text 62"/>
          <p:cNvSpPr txBox="1"/>
          <p:nvPr/>
        </p:nvSpPr>
        <p:spPr>
          <a:xfrm>
            <a:off x="2953512" y="5093208"/>
            <a:ext cx="1783080" cy="347472"/>
          </a:xfrm>
          <a:prstGeom prst="rect">
            <a:avLst/>
          </a:prstGeom>
          <a:noFill/>
          <a:ln/>
        </p:spPr>
        <p:txBody>
          <a:bodyPr wrap="square" lIns="0" tIns="0" rIns="0" bIns="0" rtlCol="0" anchor="ctr"/>
          <a:lstStyle/>
          <a:p>
            <a:pPr algn="ctr" indent="0" marL="0">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6" name="Text 63"/>
          <p:cNvSpPr txBox="1"/>
          <p:nvPr/>
        </p:nvSpPr>
        <p:spPr>
          <a:xfrm>
            <a:off x="2953512" y="548640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Sources · read the JS</a:t>
            </a:r>
            <a:endParaRPr lang="en-US" sz="950" dirty="0"/>
          </a:p>
        </p:txBody>
      </p:sp>
      <p:sp>
        <p:nvSpPr>
          <p:cNvPr id="67" name="Shape 64"/>
          <p:cNvSpPr/>
          <p:nvPr/>
        </p:nvSpPr>
        <p:spPr>
          <a:xfrm>
            <a:off x="5029200" y="3703320"/>
            <a:ext cx="2103120" cy="2103120"/>
          </a:xfrm>
          <a:prstGeom prst="roundRect">
            <a:avLst>
              <a:gd name="adj" fmla="val 4348"/>
            </a:avLst>
          </a:prstGeom>
          <a:solidFill>
            <a:srgbClr val="F1F5FB"/>
          </a:solidFill>
          <a:ln/>
        </p:spPr>
      </p:sp>
      <p:sp>
        <p:nvSpPr>
          <p:cNvPr id="68" name="Shape 65"/>
          <p:cNvSpPr/>
          <p:nvPr/>
        </p:nvSpPr>
        <p:spPr>
          <a:xfrm>
            <a:off x="5029200" y="3703320"/>
            <a:ext cx="2103120" cy="91440"/>
          </a:xfrm>
          <a:prstGeom prst="rect">
            <a:avLst/>
          </a:prstGeom>
          <a:solidFill>
            <a:srgbClr val="0F9488"/>
          </a:solidFill>
          <a:ln/>
        </p:spPr>
      </p:sp>
      <p:sp>
        <p:nvSpPr>
          <p:cNvPr id="69" name="Shape 66"/>
          <p:cNvSpPr/>
          <p:nvPr/>
        </p:nvSpPr>
        <p:spPr>
          <a:xfrm>
            <a:off x="5193792" y="3959352"/>
            <a:ext cx="502920" cy="502920"/>
          </a:xfrm>
          <a:prstGeom prst="ellipse">
            <a:avLst/>
          </a:prstGeom>
          <a:solidFill>
            <a:srgbClr val="0F9488"/>
          </a:solidFill>
          <a:ln/>
        </p:spPr>
      </p:sp>
      <p:sp>
        <p:nvSpPr>
          <p:cNvPr id="70" name="Text 67"/>
          <p:cNvSpPr txBox="1"/>
          <p:nvPr/>
        </p:nvSpPr>
        <p:spPr>
          <a:xfrm>
            <a:off x="519379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1" name="Text 68"/>
          <p:cNvSpPr txBox="1"/>
          <p:nvPr/>
        </p:nvSpPr>
        <p:spPr>
          <a:xfrm>
            <a:off x="580644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2" name="Text 69"/>
          <p:cNvSpPr txBox="1"/>
          <p:nvPr/>
        </p:nvSpPr>
        <p:spPr>
          <a:xfrm>
            <a:off x="519379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Decode the token</a:t>
            </a:r>
            <a:endParaRPr lang="en-US" sz="1500" dirty="0"/>
          </a:p>
        </p:txBody>
      </p:sp>
      <p:sp>
        <p:nvSpPr>
          <p:cNvPr id="73" name="Shape 70"/>
          <p:cNvSpPr/>
          <p:nvPr/>
        </p:nvSpPr>
        <p:spPr>
          <a:xfrm>
            <a:off x="5193792" y="5093208"/>
            <a:ext cx="1783080" cy="347472"/>
          </a:xfrm>
          <a:prstGeom prst="roundRect">
            <a:avLst>
              <a:gd name="adj" fmla="val 50000"/>
            </a:avLst>
          </a:prstGeom>
          <a:solidFill>
            <a:srgbClr val="FDE8EC"/>
          </a:solidFill>
          <a:ln/>
        </p:spPr>
      </p:sp>
      <p:sp>
        <p:nvSpPr>
          <p:cNvPr id="74" name="Text 71"/>
          <p:cNvSpPr txBox="1"/>
          <p:nvPr/>
        </p:nvSpPr>
        <p:spPr>
          <a:xfrm>
            <a:off x="519379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5" name="Text 72"/>
          <p:cNvSpPr txBox="1"/>
          <p:nvPr/>
        </p:nvSpPr>
        <p:spPr>
          <a:xfrm>
            <a:off x="5193792" y="548640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base64 · JWT</a:t>
            </a:r>
            <a:endParaRPr lang="en-US" sz="950" dirty="0"/>
          </a:p>
        </p:txBody>
      </p:sp>
      <p:sp>
        <p:nvSpPr>
          <p:cNvPr id="76" name="Shape 73"/>
          <p:cNvSpPr/>
          <p:nvPr/>
        </p:nvSpPr>
        <p:spPr>
          <a:xfrm>
            <a:off x="7269480" y="3703320"/>
            <a:ext cx="2103120" cy="2103120"/>
          </a:xfrm>
          <a:prstGeom prst="roundRect">
            <a:avLst>
              <a:gd name="adj" fmla="val 4348"/>
            </a:avLst>
          </a:prstGeom>
          <a:solidFill>
            <a:srgbClr val="F1F5FB"/>
          </a:solidFill>
          <a:ln/>
        </p:spPr>
      </p:sp>
      <p:sp>
        <p:nvSpPr>
          <p:cNvPr id="77" name="Shape 74"/>
          <p:cNvSpPr/>
          <p:nvPr/>
        </p:nvSpPr>
        <p:spPr>
          <a:xfrm>
            <a:off x="7269480" y="3703320"/>
            <a:ext cx="2103120" cy="91440"/>
          </a:xfrm>
          <a:prstGeom prst="rect">
            <a:avLst/>
          </a:prstGeom>
          <a:solidFill>
            <a:srgbClr val="5B6EE1"/>
          </a:solidFill>
          <a:ln/>
        </p:spPr>
      </p:sp>
      <p:sp>
        <p:nvSpPr>
          <p:cNvPr id="78" name="Shape 75"/>
          <p:cNvSpPr/>
          <p:nvPr/>
        </p:nvSpPr>
        <p:spPr>
          <a:xfrm>
            <a:off x="7434072" y="3959352"/>
            <a:ext cx="502920" cy="502920"/>
          </a:xfrm>
          <a:prstGeom prst="ellipse">
            <a:avLst/>
          </a:prstGeom>
          <a:solidFill>
            <a:srgbClr val="5B6EE1"/>
          </a:solidFill>
          <a:ln/>
        </p:spPr>
      </p:sp>
      <p:sp>
        <p:nvSpPr>
          <p:cNvPr id="79" name="Text 76"/>
          <p:cNvSpPr txBox="1"/>
          <p:nvPr/>
        </p:nvSpPr>
        <p:spPr>
          <a:xfrm>
            <a:off x="743407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0" name="Text 77"/>
          <p:cNvSpPr txBox="1"/>
          <p:nvPr/>
        </p:nvSpPr>
        <p:spPr>
          <a:xfrm>
            <a:off x="804672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1" name="Text 78"/>
          <p:cNvSpPr txBox="1"/>
          <p:nvPr/>
        </p:nvSpPr>
        <p:spPr>
          <a:xfrm>
            <a:off x="743407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A little injection</a:t>
            </a:r>
            <a:endParaRPr lang="en-US" sz="1500" dirty="0"/>
          </a:p>
        </p:txBody>
      </p:sp>
      <p:sp>
        <p:nvSpPr>
          <p:cNvPr id="82" name="Shape 79"/>
          <p:cNvSpPr/>
          <p:nvPr/>
        </p:nvSpPr>
        <p:spPr>
          <a:xfrm>
            <a:off x="7434072" y="5093208"/>
            <a:ext cx="1783080" cy="347472"/>
          </a:xfrm>
          <a:prstGeom prst="roundRect">
            <a:avLst>
              <a:gd name="adj" fmla="val 50000"/>
            </a:avLst>
          </a:prstGeom>
          <a:solidFill>
            <a:srgbClr val="FDE8EC"/>
          </a:solidFill>
          <a:ln/>
        </p:spPr>
      </p:sp>
      <p:sp>
        <p:nvSpPr>
          <p:cNvPr id="83" name="Text 80"/>
          <p:cNvSpPr txBox="1"/>
          <p:nvPr/>
        </p:nvSpPr>
        <p:spPr>
          <a:xfrm>
            <a:off x="7434072" y="5093208"/>
            <a:ext cx="1783080" cy="347472"/>
          </a:xfrm>
          <a:prstGeom prst="rect">
            <a:avLst/>
          </a:prstGeom>
          <a:noFill/>
          <a:ln/>
        </p:spPr>
        <p:txBody>
          <a:bodyPr wrap="square" lIns="0" tIns="0" rIns="0" bIns="0" rtlCol="0" anchor="ctr"/>
          <a:lstStyle/>
          <a:p>
            <a:pPr algn="ctr" indent="0" marL="0">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4" name="Text 81"/>
          <p:cNvSpPr txBox="1"/>
          <p:nvPr/>
        </p:nvSpPr>
        <p:spPr>
          <a:xfrm>
            <a:off x="7434072" y="548640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input tampering</a:t>
            </a:r>
            <a:endParaRPr lang="en-US" sz="950" dirty="0"/>
          </a:p>
        </p:txBody>
      </p:sp>
      <p:sp>
        <p:nvSpPr>
          <p:cNvPr id="85" name="Shape 82"/>
          <p:cNvSpPr/>
          <p:nvPr/>
        </p:nvSpPr>
        <p:spPr>
          <a:xfrm>
            <a:off x="9509760" y="3703320"/>
            <a:ext cx="2103120" cy="2103120"/>
          </a:xfrm>
          <a:prstGeom prst="roundRect">
            <a:avLst>
              <a:gd name="adj" fmla="val 4348"/>
            </a:avLst>
          </a:prstGeom>
          <a:solidFill>
            <a:srgbClr val="F1F5FB"/>
          </a:solidFill>
          <a:ln/>
        </p:spPr>
      </p:sp>
      <p:sp>
        <p:nvSpPr>
          <p:cNvPr id="86" name="Shape 83"/>
          <p:cNvSpPr/>
          <p:nvPr/>
        </p:nvSpPr>
        <p:spPr>
          <a:xfrm>
            <a:off x="9509760" y="3703320"/>
            <a:ext cx="2103120" cy="91440"/>
          </a:xfrm>
          <a:prstGeom prst="rect">
            <a:avLst/>
          </a:prstGeom>
          <a:solidFill>
            <a:srgbClr val="B4233F"/>
          </a:solidFill>
          <a:ln/>
        </p:spPr>
      </p:sp>
      <p:sp>
        <p:nvSpPr>
          <p:cNvPr id="87" name="Shape 84"/>
          <p:cNvSpPr/>
          <p:nvPr/>
        </p:nvSpPr>
        <p:spPr>
          <a:xfrm>
            <a:off x="9674352" y="3959352"/>
            <a:ext cx="502920" cy="502920"/>
          </a:xfrm>
          <a:prstGeom prst="ellipse">
            <a:avLst/>
          </a:prstGeom>
          <a:solidFill>
            <a:srgbClr val="B4233F"/>
          </a:solidFill>
          <a:ln/>
        </p:spPr>
      </p:sp>
      <p:sp>
        <p:nvSpPr>
          <p:cNvPr id="88" name="Text 85"/>
          <p:cNvSpPr txBox="1"/>
          <p:nvPr/>
        </p:nvSpPr>
        <p:spPr>
          <a:xfrm>
            <a:off x="9674352" y="39593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89" name="Text 86"/>
          <p:cNvSpPr txBox="1"/>
          <p:nvPr/>
        </p:nvSpPr>
        <p:spPr>
          <a:xfrm>
            <a:off x="10287000" y="3959352"/>
            <a:ext cx="1188720" cy="502920"/>
          </a:xfrm>
          <a:prstGeom prst="rect">
            <a:avLst/>
          </a:prstGeom>
          <a:noFill/>
          <a:ln/>
        </p:spPr>
        <p:txBody>
          <a:bodyPr wrap="square" lIns="0" tIns="0" rIns="0" bIns="0" rtlCol="0" anchor="ctr"/>
          <a:lstStyle/>
          <a:p>
            <a:pPr algn="r" indent="0" marL="0">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0" name="Text 87"/>
          <p:cNvSpPr txBox="1"/>
          <p:nvPr/>
        </p:nvSpPr>
        <p:spPr>
          <a:xfrm>
            <a:off x="9674352" y="4526280"/>
            <a:ext cx="1828800" cy="54864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The full chain</a:t>
            </a:r>
            <a:endParaRPr lang="en-US" sz="1500" dirty="0"/>
          </a:p>
        </p:txBody>
      </p:sp>
      <p:sp>
        <p:nvSpPr>
          <p:cNvPr id="91" name="Shape 88"/>
          <p:cNvSpPr/>
          <p:nvPr/>
        </p:nvSpPr>
        <p:spPr>
          <a:xfrm>
            <a:off x="9674352" y="5093208"/>
            <a:ext cx="1783080" cy="347472"/>
          </a:xfrm>
          <a:prstGeom prst="roundRect">
            <a:avLst>
              <a:gd name="adj" fmla="val 50000"/>
            </a:avLst>
          </a:prstGeom>
          <a:solidFill>
            <a:srgbClr val="2A1430"/>
          </a:solidFill>
          <a:ln/>
        </p:spPr>
      </p:sp>
      <p:sp>
        <p:nvSpPr>
          <p:cNvPr id="92" name="Text 89"/>
          <p:cNvSpPr txBox="1"/>
          <p:nvPr/>
        </p:nvSpPr>
        <p:spPr>
          <a:xfrm>
            <a:off x="9674352" y="5093208"/>
            <a:ext cx="1783080" cy="347472"/>
          </a:xfrm>
          <a:prstGeom prst="rect">
            <a:avLst/>
          </a:prstGeom>
          <a:noFill/>
          <a:ln/>
        </p:spPr>
        <p:txBody>
          <a:bodyPr wrap="square" lIns="0" tIns="0" rIns="0" bIns="0" rtlCol="0" anchor="ctr"/>
          <a:lstStyle/>
          <a:p>
            <a:pPr algn="ctr" indent="0" marL="0">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3" name="Text 90"/>
          <p:cNvSpPr txBox="1"/>
          <p:nvPr/>
        </p:nvSpPr>
        <p:spPr>
          <a:xfrm>
            <a:off x="9674352" y="5486400"/>
            <a:ext cx="1828800" cy="274320"/>
          </a:xfrm>
          <a:prstGeom prst="rect">
            <a:avLst/>
          </a:prstGeom>
          <a:noFill/>
          <a:ln/>
        </p:spPr>
        <p:txBody>
          <a:bodyPr wrap="square" lIns="0" tIns="0" rIns="0" bIns="0" rtlCol="0" anchor="t">
            <a:normAutofit/>
          </a:bodyPr>
          <a:lstStyle/>
          <a:p>
            <a:pPr indent="0" marL="0">
              <a:buNone/>
            </a:pPr>
            <a:r>
              <a:rPr lang="en-US" sz="950" dirty="0">
                <a:solidFill>
                  <a:srgbClr val="56657E"/>
                </a:solidFill>
                <a:latin typeface="Courier New" pitchFamily="34" charset="0"/>
                <a:ea typeface="Courier New" pitchFamily="34" charset="-122"/>
                <a:cs typeface="Courier New" pitchFamily="34" charset="-120"/>
              </a:rPr>
              <a:t>robots · ?id= · base64</a:t>
            </a:r>
            <a:endParaRPr lang="en-US" sz="950" dirty="0"/>
          </a:p>
        </p:txBody>
      </p:sp>
      <p:sp>
        <p:nvSpPr>
          <p:cNvPr id="94" name="Text 9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27 / 61</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17875A"/>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E2F5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20624"/>
            <a:ext cx="421538" cy="402336"/>
          </a:xfrm>
          <a:prstGeom prst="roundRect">
            <a:avLst>
              <a:gd name="adj" fmla="val 13636"/>
            </a:avLst>
          </a:prstGeom>
          <a:solidFill>
            <a:srgbClr val="17875A"/>
          </a:solidFill>
          <a:ln/>
        </p:spPr>
      </p:sp>
      <p:sp>
        <p:nvSpPr>
          <p:cNvPr id="8" name="Text 5"/>
          <p:cNvSpPr txBox="1"/>
          <p:nvPr/>
        </p:nvSpPr>
        <p:spPr>
          <a:xfrm>
            <a:off x="676656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7261250" y="475488"/>
            <a:ext cx="421538" cy="292608"/>
          </a:xfrm>
          <a:prstGeom prst="roundRect">
            <a:avLst>
              <a:gd name="adj" fmla="val 18750"/>
            </a:avLst>
          </a:prstGeom>
          <a:solidFill>
            <a:srgbClr val="E4EAF3"/>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View the source</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The page looks almost empty. But the answer is written right into it, inside a comment the browser never shows on screen. Read the page's real source - in the browser, or straight from the terminal.</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   ·   View Source  (or curl)</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View Source · curl</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What's the difference between what a page shows and what it actually contains?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Two ways to see a page's raw HTML - what are they?</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in HTML can text hide without appearing on screen?</a:t>
            </a:r>
            <a:endParaRPr lang="en-US" sz="1500" dirty="0"/>
          </a:p>
        </p:txBody>
      </p:sp>
      <p:sp>
        <p:nvSpPr>
          <p:cNvPr id="39" name="Shape 36"/>
          <p:cNvSpPr/>
          <p:nvPr/>
        </p:nvSpPr>
        <p:spPr>
          <a:xfrm>
            <a:off x="7269480" y="4892040"/>
            <a:ext cx="4370832" cy="1051560"/>
          </a:xfrm>
          <a:prstGeom prst="roundRect">
            <a:avLst>
              <a:gd name="adj" fmla="val 8696"/>
            </a:avLst>
          </a:prstGeom>
          <a:solidFill>
            <a:srgbClr val="2459D8"/>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Class calls out each move. Mentor drives.</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28 / 61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17875A"/>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E2F5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20624"/>
            <a:ext cx="421538" cy="402336"/>
          </a:xfrm>
          <a:prstGeom prst="roundRect">
            <a:avLst>
              <a:gd name="adj" fmla="val 13636"/>
            </a:avLst>
          </a:prstGeom>
          <a:solidFill>
            <a:srgbClr val="17875A"/>
          </a:solidFill>
          <a:ln/>
        </p:spPr>
      </p:sp>
      <p:sp>
        <p:nvSpPr>
          <p:cNvPr id="8" name="Text 5"/>
          <p:cNvSpPr txBox="1"/>
          <p:nvPr/>
        </p:nvSpPr>
        <p:spPr>
          <a:xfrm>
            <a:off x="676656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7261250" y="475488"/>
            <a:ext cx="421538" cy="292608"/>
          </a:xfrm>
          <a:prstGeom prst="roundRect">
            <a:avLst>
              <a:gd name="adj" fmla="val 18750"/>
            </a:avLst>
          </a:prstGeom>
          <a:solidFill>
            <a:srgbClr val="E4EAF3"/>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View the source</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300" dirty="0">
                <a:solidFill>
                  <a:srgbClr val="7F8FAD"/>
                </a:solidFill>
                <a:latin typeface="Courier New" pitchFamily="34" charset="0"/>
                <a:ea typeface="Courier New" pitchFamily="34" charset="-122"/>
                <a:cs typeface="Courier New" pitchFamily="34" charset="-120"/>
              </a:rPr>
              <a:t># right-click → View Source  (Ctrl+U)</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&lt;body&gt;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  &lt;h1&gt;Nothing to see here&lt;/h1&gt;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  &lt;!-- TODO: remove before launch</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       Flag: CYBA{src-...} --&gt;</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&lt;/body&gt;</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CYBA{src-...}</a:t>
            </a:r>
            <a:endParaRPr lang="en-US" sz="130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 &gt; page.html</a:t>
            </a:r>
            <a:endParaRPr lang="en-US" sz="1150" dirty="0"/>
          </a:p>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grep -o 'CYBA{[^}]*}' page.html</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17875A"/>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page renders only what's between the visible tags.</a:t>
            </a:r>
            <a:endParaRPr lang="en-US" sz="1400" dirty="0"/>
          </a:p>
        </p:txBody>
      </p:sp>
      <p:sp>
        <p:nvSpPr>
          <p:cNvPr id="42" name="Shape 39"/>
          <p:cNvSpPr/>
          <p:nvPr/>
        </p:nvSpPr>
        <p:spPr>
          <a:xfrm>
            <a:off x="7543800" y="2980944"/>
            <a:ext cx="457200" cy="457200"/>
          </a:xfrm>
          <a:prstGeom prst="ellipse">
            <a:avLst/>
          </a:prstGeom>
          <a:solidFill>
            <a:srgbClr val="17875A"/>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View Source (or curl) showed the raw HTML the server sent.</a:t>
            </a:r>
            <a:endParaRPr lang="en-US" sz="1400" dirty="0"/>
          </a:p>
        </p:txBody>
      </p:sp>
      <p:sp>
        <p:nvSpPr>
          <p:cNvPr id="45" name="Shape 42"/>
          <p:cNvSpPr/>
          <p:nvPr/>
        </p:nvSpPr>
        <p:spPr>
          <a:xfrm>
            <a:off x="7543800" y="3767328"/>
            <a:ext cx="457200" cy="457200"/>
          </a:xfrm>
          <a:prstGeom prst="ellipse">
            <a:avLst/>
          </a:prstGeom>
          <a:solidFill>
            <a:srgbClr val="17875A"/>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flag sat in an HTML comment: invisible on screen, plain in the source.</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curl + grep is a real recon workflow too: pull a page to a file, search it for secrets, no browser needed.</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17875A"/>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Skip the file: curl -s URL | grep -o 'CYBA{[^}]*}'. Why didn't you need the browser at all?</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29 / 61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2A9FD6"/>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E2F5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20624"/>
            <a:ext cx="421538" cy="402336"/>
          </a:xfrm>
          <a:prstGeom prst="roundRect">
            <a:avLst>
              <a:gd name="adj" fmla="val 13636"/>
            </a:avLst>
          </a:prstGeom>
          <a:solidFill>
            <a:srgbClr val="2A9FD6"/>
          </a:solidFill>
          <a:ln/>
        </p:spPr>
      </p:sp>
      <p:sp>
        <p:nvSpPr>
          <p:cNvPr id="10" name="Text 7"/>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Hidden in plain sight</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There is a field you can't see and an element the page hides with CSS. Hidden is not gone. Inspect the live page and read the value.</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/mission2/   ·   F12 → Elements</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F12 · Inspect</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CSS hides an element, is the element still on the page?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DevTools panel shows the live page structure?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How could a field hold a value you never see?</a:t>
            </a:r>
            <a:endParaRPr lang="en-US" sz="1500" dirty="0"/>
          </a:p>
        </p:txBody>
      </p:sp>
      <p:sp>
        <p:nvSpPr>
          <p:cNvPr id="39" name="Shape 36"/>
          <p:cNvSpPr/>
          <p:nvPr/>
        </p:nvSpPr>
        <p:spPr>
          <a:xfrm>
            <a:off x="7269480" y="4892040"/>
            <a:ext cx="4370832" cy="1051560"/>
          </a:xfrm>
          <a:prstGeom prst="roundRect">
            <a:avLst>
              <a:gd name="adj" fmla="val 8696"/>
            </a:avLst>
          </a:prstGeom>
          <a:solidFill>
            <a:srgbClr val="2459D8"/>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Class calls out each move. Mentor drives.</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30 / 61</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2A9FD6"/>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E2F5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20624"/>
            <a:ext cx="421538" cy="402336"/>
          </a:xfrm>
          <a:prstGeom prst="roundRect">
            <a:avLst>
              <a:gd name="adj" fmla="val 13636"/>
            </a:avLst>
          </a:prstGeom>
          <a:solidFill>
            <a:srgbClr val="2A9FD6"/>
          </a:solidFill>
          <a:ln/>
        </p:spPr>
      </p:sp>
      <p:sp>
        <p:nvSpPr>
          <p:cNvPr id="10" name="Text 7"/>
          <p:cNvSpPr txBox="1"/>
          <p:nvPr/>
        </p:nvSpPr>
        <p:spPr>
          <a:xfrm>
            <a:off x="7261250"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7755941" y="475488"/>
            <a:ext cx="421538" cy="292608"/>
          </a:xfrm>
          <a:prstGeom prst="roundRect">
            <a:avLst>
              <a:gd name="adj" fmla="val 18750"/>
            </a:avLst>
          </a:prstGeom>
          <a:solidFill>
            <a:srgbClr val="E4EAF3"/>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Hidden in plain sight</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F12 → Elements</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&lt;input type="hidden"</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       name="flag"</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       value="CYBA{hidden-...}"&gt;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&lt;div style="display:none"&gt;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  secret panel</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&lt;/div&gt;</a:t>
            </a:r>
            <a:endParaRPr lang="en-US" sz="12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 | grep -o 'value="CYBA{[^"]*}"'</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2A9FD6"/>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display:none and type=hidden hide things from view, not from the page.</a:t>
            </a:r>
            <a:endParaRPr lang="en-US" sz="1400" dirty="0"/>
          </a:p>
        </p:txBody>
      </p:sp>
      <p:sp>
        <p:nvSpPr>
          <p:cNvPr id="42" name="Shape 39"/>
          <p:cNvSpPr/>
          <p:nvPr/>
        </p:nvSpPr>
        <p:spPr>
          <a:xfrm>
            <a:off x="7543800" y="2980944"/>
            <a:ext cx="457200" cy="457200"/>
          </a:xfrm>
          <a:prstGeom prst="ellipse">
            <a:avLst/>
          </a:prstGeom>
          <a:solidFill>
            <a:srgbClr val="2A9FD6"/>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Elements panel showed every node, hidden or not.</a:t>
            </a:r>
            <a:endParaRPr lang="en-US" sz="1400" dirty="0"/>
          </a:p>
        </p:txBody>
      </p:sp>
      <p:sp>
        <p:nvSpPr>
          <p:cNvPr id="45" name="Shape 42"/>
          <p:cNvSpPr/>
          <p:nvPr/>
        </p:nvSpPr>
        <p:spPr>
          <a:xfrm>
            <a:off x="7543800" y="3767328"/>
            <a:ext cx="457200" cy="457200"/>
          </a:xfrm>
          <a:prstGeom prst="ellipse">
            <a:avLst/>
          </a:prstGeom>
          <a:solidFill>
            <a:srgbClr val="2A9FD6"/>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flag was right there in an attribute.</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Hidden form fields carry prices, user IDs and roles that sites wrongly assume you can't change.</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2A9FD6"/>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In Elements, double-click a heading and edit the text. Did the real website change? (No: only your copy.)</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31 / 61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Now you try</a:t>
            </a:r>
            <a:endParaRPr lang="en-US" sz="3200" dirty="0"/>
          </a:p>
        </p:txBody>
      </p:sp>
      <p:sp>
        <p:nvSpPr>
          <p:cNvPr id="4" name="Text 1"/>
          <p:cNvSpPr txBox="1"/>
          <p:nvPr/>
        </p:nvSpPr>
        <p:spPr>
          <a:xfrm>
            <a:off x="548640" y="1417320"/>
            <a:ext cx="11094415" cy="457200"/>
          </a:xfrm>
          <a:prstGeom prst="rect">
            <a:avLst/>
          </a:prstGeom>
          <a:noFill/>
          <a:ln/>
        </p:spPr>
        <p:txBody>
          <a:bodyPr wrap="square" lIns="0" tIns="0" rIns="0" bIns="0" rtlCol="0" anchor="t"/>
          <a:lstStyle/>
          <a:p>
            <a:pPr indent="0" marL="0">
              <a:buNone/>
            </a:pPr>
            <a:r>
              <a:rPr lang="en-US" sz="1800" dirty="0">
                <a:solidFill>
                  <a:srgbClr val="56657E"/>
                </a:solidFill>
                <a:latin typeface="Calibri" pitchFamily="34" charset="0"/>
                <a:ea typeface="Calibri" pitchFamily="34" charset="-122"/>
                <a:cs typeface="Calibri" pitchFamily="34" charset="-120"/>
              </a:rPr>
              <a:t>Pick a challenge and run the loop. You don't have to finish - starting is the win.</a:t>
            </a:r>
            <a:endParaRPr lang="en-US" sz="1800" dirty="0"/>
          </a:p>
        </p:txBody>
      </p:sp>
      <p:sp>
        <p:nvSpPr>
          <p:cNvPr id="5" name="Shape 2"/>
          <p:cNvSpPr/>
          <p:nvPr/>
        </p:nvSpPr>
        <p:spPr>
          <a:xfrm>
            <a:off x="548640" y="2057400"/>
            <a:ext cx="3566160" cy="1280160"/>
          </a:xfrm>
          <a:prstGeom prst="roundRect">
            <a:avLst>
              <a:gd name="adj" fmla="val 7143"/>
            </a:avLst>
          </a:prstGeom>
          <a:solidFill>
            <a:srgbClr val="F1F5FB"/>
          </a:solidFill>
          <a:ln/>
        </p:spPr>
      </p:sp>
      <p:sp>
        <p:nvSpPr>
          <p:cNvPr id="6" name="Shape 3"/>
          <p:cNvSpPr/>
          <p:nvPr/>
        </p:nvSpPr>
        <p:spPr>
          <a:xfrm>
            <a:off x="548640" y="2057400"/>
            <a:ext cx="109728" cy="1280160"/>
          </a:xfrm>
          <a:prstGeom prst="roundRect">
            <a:avLst/>
          </a:prstGeom>
          <a:solidFill>
            <a:srgbClr val="17875A"/>
          </a:solidFill>
          <a:ln/>
        </p:spPr>
      </p:sp>
      <p:sp>
        <p:nvSpPr>
          <p:cNvPr id="7" name="Text 4"/>
          <p:cNvSpPr txBox="1"/>
          <p:nvPr/>
        </p:nvSpPr>
        <p:spPr>
          <a:xfrm>
            <a:off x="868680" y="225856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Read the page's source</a:t>
            </a:r>
            <a:endParaRPr lang="en-US" sz="1650" dirty="0"/>
          </a:p>
        </p:txBody>
      </p:sp>
      <p:sp>
        <p:nvSpPr>
          <p:cNvPr id="8" name="Shape 5"/>
          <p:cNvSpPr/>
          <p:nvPr/>
        </p:nvSpPr>
        <p:spPr>
          <a:xfrm>
            <a:off x="868680" y="2807208"/>
            <a:ext cx="2377440" cy="384048"/>
          </a:xfrm>
          <a:prstGeom prst="roundRect">
            <a:avLst>
              <a:gd name="adj" fmla="val 19048"/>
            </a:avLst>
          </a:prstGeom>
          <a:solidFill>
            <a:srgbClr val="0E1726"/>
          </a:solidFill>
          <a:ln/>
        </p:spPr>
      </p:sp>
      <p:sp>
        <p:nvSpPr>
          <p:cNvPr id="9" name="Text 6"/>
          <p:cNvSpPr txBox="1"/>
          <p:nvPr/>
        </p:nvSpPr>
        <p:spPr>
          <a:xfrm>
            <a:off x="868680" y="2807208"/>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46D39A"/>
                </a:solidFill>
                <a:latin typeface="Courier New" pitchFamily="34" charset="0"/>
                <a:ea typeface="Courier New" pitchFamily="34" charset="-122"/>
                <a:cs typeface="Courier New" pitchFamily="34" charset="-120"/>
              </a:rPr>
              <a:t>Ctrl+U</a:t>
            </a:r>
            <a:endParaRPr lang="en-US" sz="1250" dirty="0"/>
          </a:p>
        </p:txBody>
      </p:sp>
      <p:sp>
        <p:nvSpPr>
          <p:cNvPr id="10" name="Shape 7"/>
          <p:cNvSpPr/>
          <p:nvPr/>
        </p:nvSpPr>
        <p:spPr>
          <a:xfrm>
            <a:off x="4306824" y="2057400"/>
            <a:ext cx="3566160" cy="1280160"/>
          </a:xfrm>
          <a:prstGeom prst="roundRect">
            <a:avLst>
              <a:gd name="adj" fmla="val 7143"/>
            </a:avLst>
          </a:prstGeom>
          <a:solidFill>
            <a:srgbClr val="F1F5FB"/>
          </a:solidFill>
          <a:ln/>
        </p:spPr>
      </p:sp>
      <p:sp>
        <p:nvSpPr>
          <p:cNvPr id="11" name="Shape 8"/>
          <p:cNvSpPr/>
          <p:nvPr/>
        </p:nvSpPr>
        <p:spPr>
          <a:xfrm>
            <a:off x="4306824" y="2057400"/>
            <a:ext cx="109728" cy="1280160"/>
          </a:xfrm>
          <a:prstGeom prst="roundRect">
            <a:avLst/>
          </a:prstGeom>
          <a:solidFill>
            <a:srgbClr val="2459D8"/>
          </a:solidFill>
          <a:ln/>
        </p:spPr>
      </p:sp>
      <p:sp>
        <p:nvSpPr>
          <p:cNvPr id="12" name="Text 9"/>
          <p:cNvSpPr txBox="1"/>
          <p:nvPr/>
        </p:nvSpPr>
        <p:spPr>
          <a:xfrm>
            <a:off x="4626864" y="225856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Inspect a hidden element</a:t>
            </a:r>
            <a:endParaRPr lang="en-US" sz="1650" dirty="0"/>
          </a:p>
        </p:txBody>
      </p:sp>
      <p:sp>
        <p:nvSpPr>
          <p:cNvPr id="13" name="Shape 10"/>
          <p:cNvSpPr/>
          <p:nvPr/>
        </p:nvSpPr>
        <p:spPr>
          <a:xfrm>
            <a:off x="4626864" y="2807208"/>
            <a:ext cx="2377440" cy="384048"/>
          </a:xfrm>
          <a:prstGeom prst="roundRect">
            <a:avLst>
              <a:gd name="adj" fmla="val 19048"/>
            </a:avLst>
          </a:prstGeom>
          <a:solidFill>
            <a:srgbClr val="0E1726"/>
          </a:solidFill>
          <a:ln/>
        </p:spPr>
      </p:sp>
      <p:sp>
        <p:nvSpPr>
          <p:cNvPr id="14" name="Text 11"/>
          <p:cNvSpPr txBox="1"/>
          <p:nvPr/>
        </p:nvSpPr>
        <p:spPr>
          <a:xfrm>
            <a:off x="4626864" y="2807208"/>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46D39A"/>
                </a:solidFill>
                <a:latin typeface="Courier New" pitchFamily="34" charset="0"/>
                <a:ea typeface="Courier New" pitchFamily="34" charset="-122"/>
                <a:cs typeface="Courier New" pitchFamily="34" charset="-120"/>
              </a:rPr>
              <a:t>F12 → Elements</a:t>
            </a:r>
            <a:endParaRPr lang="en-US" sz="1250" dirty="0"/>
          </a:p>
        </p:txBody>
      </p:sp>
      <p:sp>
        <p:nvSpPr>
          <p:cNvPr id="15" name="Shape 12"/>
          <p:cNvSpPr/>
          <p:nvPr/>
        </p:nvSpPr>
        <p:spPr>
          <a:xfrm>
            <a:off x="8065008" y="2057400"/>
            <a:ext cx="3566160" cy="1280160"/>
          </a:xfrm>
          <a:prstGeom prst="roundRect">
            <a:avLst>
              <a:gd name="adj" fmla="val 7143"/>
            </a:avLst>
          </a:prstGeom>
          <a:solidFill>
            <a:srgbClr val="F1F5FB"/>
          </a:solidFill>
          <a:ln/>
        </p:spPr>
      </p:sp>
      <p:sp>
        <p:nvSpPr>
          <p:cNvPr id="16" name="Shape 13"/>
          <p:cNvSpPr/>
          <p:nvPr/>
        </p:nvSpPr>
        <p:spPr>
          <a:xfrm>
            <a:off x="8065008" y="2057400"/>
            <a:ext cx="109728" cy="1280160"/>
          </a:xfrm>
          <a:prstGeom prst="roundRect">
            <a:avLst/>
          </a:prstGeom>
          <a:solidFill>
            <a:srgbClr val="7448D4"/>
          </a:solidFill>
          <a:ln/>
        </p:spPr>
      </p:sp>
      <p:sp>
        <p:nvSpPr>
          <p:cNvPr id="17" name="Text 14"/>
          <p:cNvSpPr txBox="1"/>
          <p:nvPr/>
        </p:nvSpPr>
        <p:spPr>
          <a:xfrm>
            <a:off x="8385048" y="225856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Read &amp; edit a cookie</a:t>
            </a:r>
            <a:endParaRPr lang="en-US" sz="1650" dirty="0"/>
          </a:p>
        </p:txBody>
      </p:sp>
      <p:sp>
        <p:nvSpPr>
          <p:cNvPr id="18" name="Shape 15"/>
          <p:cNvSpPr/>
          <p:nvPr/>
        </p:nvSpPr>
        <p:spPr>
          <a:xfrm>
            <a:off x="8385048" y="2807208"/>
            <a:ext cx="2377440" cy="384048"/>
          </a:xfrm>
          <a:prstGeom prst="roundRect">
            <a:avLst>
              <a:gd name="adj" fmla="val 19048"/>
            </a:avLst>
          </a:prstGeom>
          <a:solidFill>
            <a:srgbClr val="0E1726"/>
          </a:solidFill>
          <a:ln/>
        </p:spPr>
      </p:sp>
      <p:sp>
        <p:nvSpPr>
          <p:cNvPr id="19" name="Text 16"/>
          <p:cNvSpPr txBox="1"/>
          <p:nvPr/>
        </p:nvSpPr>
        <p:spPr>
          <a:xfrm>
            <a:off x="8385048" y="2807208"/>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46D39A"/>
                </a:solidFill>
                <a:latin typeface="Courier New" pitchFamily="34" charset="0"/>
                <a:ea typeface="Courier New" pitchFamily="34" charset="-122"/>
                <a:cs typeface="Courier New" pitchFamily="34" charset="-120"/>
              </a:rPr>
              <a:t>Application</a:t>
            </a:r>
            <a:endParaRPr lang="en-US" sz="1250" dirty="0"/>
          </a:p>
        </p:txBody>
      </p:sp>
      <p:sp>
        <p:nvSpPr>
          <p:cNvPr id="20" name="Shape 17"/>
          <p:cNvSpPr/>
          <p:nvPr/>
        </p:nvSpPr>
        <p:spPr>
          <a:xfrm>
            <a:off x="548640" y="3566160"/>
            <a:ext cx="3566160" cy="1280160"/>
          </a:xfrm>
          <a:prstGeom prst="roundRect">
            <a:avLst>
              <a:gd name="adj" fmla="val 7143"/>
            </a:avLst>
          </a:prstGeom>
          <a:solidFill>
            <a:srgbClr val="F1F5FB"/>
          </a:solidFill>
          <a:ln/>
        </p:spPr>
      </p:sp>
      <p:sp>
        <p:nvSpPr>
          <p:cNvPr id="21" name="Shape 18"/>
          <p:cNvSpPr/>
          <p:nvPr/>
        </p:nvSpPr>
        <p:spPr>
          <a:xfrm>
            <a:off x="548640" y="3566160"/>
            <a:ext cx="109728" cy="1280160"/>
          </a:xfrm>
          <a:prstGeom prst="roundRect">
            <a:avLst/>
          </a:prstGeom>
          <a:solidFill>
            <a:srgbClr val="D1416B"/>
          </a:solidFill>
          <a:ln/>
        </p:spPr>
      </p:sp>
      <p:sp>
        <p:nvSpPr>
          <p:cNvPr id="22" name="Text 19"/>
          <p:cNvSpPr txBox="1"/>
          <p:nvPr/>
        </p:nvSpPr>
        <p:spPr>
          <a:xfrm>
            <a:off x="868680" y="376732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Change an id in the URL</a:t>
            </a:r>
            <a:endParaRPr lang="en-US" sz="1650" dirty="0"/>
          </a:p>
        </p:txBody>
      </p:sp>
      <p:sp>
        <p:nvSpPr>
          <p:cNvPr id="23" name="Shape 20"/>
          <p:cNvSpPr/>
          <p:nvPr/>
        </p:nvSpPr>
        <p:spPr>
          <a:xfrm>
            <a:off x="868680" y="4315968"/>
            <a:ext cx="2377440" cy="384048"/>
          </a:xfrm>
          <a:prstGeom prst="roundRect">
            <a:avLst>
              <a:gd name="adj" fmla="val 19048"/>
            </a:avLst>
          </a:prstGeom>
          <a:solidFill>
            <a:srgbClr val="0E1726"/>
          </a:solidFill>
          <a:ln/>
        </p:spPr>
      </p:sp>
      <p:sp>
        <p:nvSpPr>
          <p:cNvPr id="24" name="Text 21"/>
          <p:cNvSpPr txBox="1"/>
          <p:nvPr/>
        </p:nvSpPr>
        <p:spPr>
          <a:xfrm>
            <a:off x="868680" y="4315968"/>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46D39A"/>
                </a:solidFill>
                <a:latin typeface="Courier New" pitchFamily="34" charset="0"/>
                <a:ea typeface="Courier New" pitchFamily="34" charset="-122"/>
                <a:cs typeface="Courier New" pitchFamily="34" charset="-120"/>
              </a:rPr>
              <a:t>?id=2</a:t>
            </a:r>
            <a:endParaRPr lang="en-US" sz="1250" dirty="0"/>
          </a:p>
        </p:txBody>
      </p:sp>
      <p:sp>
        <p:nvSpPr>
          <p:cNvPr id="25" name="Shape 22"/>
          <p:cNvSpPr/>
          <p:nvPr/>
        </p:nvSpPr>
        <p:spPr>
          <a:xfrm>
            <a:off x="4306824" y="3566160"/>
            <a:ext cx="3566160" cy="1280160"/>
          </a:xfrm>
          <a:prstGeom prst="roundRect">
            <a:avLst>
              <a:gd name="adj" fmla="val 7143"/>
            </a:avLst>
          </a:prstGeom>
          <a:solidFill>
            <a:srgbClr val="F1F5FB"/>
          </a:solidFill>
          <a:ln/>
        </p:spPr>
      </p:sp>
      <p:sp>
        <p:nvSpPr>
          <p:cNvPr id="26" name="Shape 23"/>
          <p:cNvSpPr/>
          <p:nvPr/>
        </p:nvSpPr>
        <p:spPr>
          <a:xfrm>
            <a:off x="4306824" y="3566160"/>
            <a:ext cx="109728" cy="1280160"/>
          </a:xfrm>
          <a:prstGeom prst="roundRect">
            <a:avLst/>
          </a:prstGeom>
          <a:solidFill>
            <a:srgbClr val="5B6EE1"/>
          </a:solidFill>
          <a:ln/>
        </p:spPr>
      </p:sp>
      <p:sp>
        <p:nvSpPr>
          <p:cNvPr id="27" name="Text 24"/>
          <p:cNvSpPr txBox="1"/>
          <p:nvPr/>
        </p:nvSpPr>
        <p:spPr>
          <a:xfrm>
            <a:off x="4626864" y="376732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Run the page's JavaScript</a:t>
            </a:r>
            <a:endParaRPr lang="en-US" sz="1650" dirty="0"/>
          </a:p>
        </p:txBody>
      </p:sp>
      <p:sp>
        <p:nvSpPr>
          <p:cNvPr id="28" name="Shape 25"/>
          <p:cNvSpPr/>
          <p:nvPr/>
        </p:nvSpPr>
        <p:spPr>
          <a:xfrm>
            <a:off x="4626864" y="4315968"/>
            <a:ext cx="2377440" cy="384048"/>
          </a:xfrm>
          <a:prstGeom prst="roundRect">
            <a:avLst>
              <a:gd name="adj" fmla="val 19048"/>
            </a:avLst>
          </a:prstGeom>
          <a:solidFill>
            <a:srgbClr val="0E1726"/>
          </a:solidFill>
          <a:ln/>
        </p:spPr>
      </p:sp>
      <p:sp>
        <p:nvSpPr>
          <p:cNvPr id="29" name="Text 26"/>
          <p:cNvSpPr txBox="1"/>
          <p:nvPr/>
        </p:nvSpPr>
        <p:spPr>
          <a:xfrm>
            <a:off x="4626864" y="4315968"/>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46D39A"/>
                </a:solidFill>
                <a:latin typeface="Courier New" pitchFamily="34" charset="0"/>
                <a:ea typeface="Courier New" pitchFamily="34" charset="-122"/>
                <a:cs typeface="Courier New" pitchFamily="34" charset="-120"/>
              </a:rPr>
              <a:t>F12 → Console</a:t>
            </a:r>
            <a:endParaRPr lang="en-US" sz="1250" dirty="0"/>
          </a:p>
        </p:txBody>
      </p:sp>
      <p:sp>
        <p:nvSpPr>
          <p:cNvPr id="30" name="Shape 27"/>
          <p:cNvSpPr/>
          <p:nvPr/>
        </p:nvSpPr>
        <p:spPr>
          <a:xfrm>
            <a:off x="8065008" y="3566160"/>
            <a:ext cx="3566160" cy="1280160"/>
          </a:xfrm>
          <a:prstGeom prst="roundRect">
            <a:avLst>
              <a:gd name="adj" fmla="val 7143"/>
            </a:avLst>
          </a:prstGeom>
          <a:solidFill>
            <a:srgbClr val="F1F5FB"/>
          </a:solidFill>
          <a:ln/>
        </p:spPr>
      </p:sp>
      <p:sp>
        <p:nvSpPr>
          <p:cNvPr id="31" name="Shape 28"/>
          <p:cNvSpPr/>
          <p:nvPr/>
        </p:nvSpPr>
        <p:spPr>
          <a:xfrm>
            <a:off x="8065008" y="3566160"/>
            <a:ext cx="109728" cy="1280160"/>
          </a:xfrm>
          <a:prstGeom prst="roundRect">
            <a:avLst/>
          </a:prstGeom>
          <a:solidFill>
            <a:srgbClr val="0F9488"/>
          </a:solidFill>
          <a:ln/>
        </p:spPr>
      </p:sp>
      <p:sp>
        <p:nvSpPr>
          <p:cNvPr id="32" name="Text 29"/>
          <p:cNvSpPr txBox="1"/>
          <p:nvPr/>
        </p:nvSpPr>
        <p:spPr>
          <a:xfrm>
            <a:off x="8385048" y="3767328"/>
            <a:ext cx="3108960" cy="548640"/>
          </a:xfrm>
          <a:prstGeom prst="rect">
            <a:avLst/>
          </a:prstGeom>
          <a:noFill/>
          <a:ln/>
        </p:spPr>
        <p:txBody>
          <a:bodyPr wrap="square" lIns="0" tIns="0" rIns="0" bIns="0" rtlCol="0" anchor="t"/>
          <a:lstStyle/>
          <a:p>
            <a:pPr indent="0" marL="0">
              <a:buNone/>
            </a:pPr>
            <a:r>
              <a:rPr lang="en-US" sz="1650" b="1" dirty="0">
                <a:solidFill>
                  <a:srgbClr val="12213A"/>
                </a:solidFill>
                <a:latin typeface="Calibri" pitchFamily="34" charset="0"/>
                <a:ea typeface="Calibri" pitchFamily="34" charset="-122"/>
                <a:cs typeface="Calibri" pitchFamily="34" charset="-120"/>
              </a:rPr>
              <a:t>Decode a token</a:t>
            </a:r>
            <a:endParaRPr lang="en-US" sz="1650" dirty="0"/>
          </a:p>
        </p:txBody>
      </p:sp>
      <p:sp>
        <p:nvSpPr>
          <p:cNvPr id="33" name="Shape 30"/>
          <p:cNvSpPr/>
          <p:nvPr/>
        </p:nvSpPr>
        <p:spPr>
          <a:xfrm>
            <a:off x="8385048" y="4315968"/>
            <a:ext cx="2377440" cy="384048"/>
          </a:xfrm>
          <a:prstGeom prst="roundRect">
            <a:avLst>
              <a:gd name="adj" fmla="val 19048"/>
            </a:avLst>
          </a:prstGeom>
          <a:solidFill>
            <a:srgbClr val="0E1726"/>
          </a:solidFill>
          <a:ln/>
        </p:spPr>
      </p:sp>
      <p:sp>
        <p:nvSpPr>
          <p:cNvPr id="34" name="Text 31"/>
          <p:cNvSpPr txBox="1"/>
          <p:nvPr/>
        </p:nvSpPr>
        <p:spPr>
          <a:xfrm>
            <a:off x="8385048" y="4315968"/>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46D39A"/>
                </a:solidFill>
                <a:latin typeface="Courier New" pitchFamily="34" charset="0"/>
                <a:ea typeface="Courier New" pitchFamily="34" charset="-122"/>
                <a:cs typeface="Courier New" pitchFamily="34" charset="-120"/>
              </a:rPr>
              <a:t>atob('...')</a:t>
            </a:r>
            <a:endParaRPr lang="en-US" sz="1250" dirty="0"/>
          </a:p>
        </p:txBody>
      </p:sp>
      <p:sp>
        <p:nvSpPr>
          <p:cNvPr id="35" name="Text 32"/>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32 / 61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Side quests: for anyone who wants more</a:t>
            </a:r>
            <a:endParaRPr lang="en-US" sz="3200" dirty="0"/>
          </a:p>
        </p:txBody>
      </p:sp>
      <p:sp>
        <p:nvSpPr>
          <p:cNvPr id="4" name="Shape 1"/>
          <p:cNvSpPr/>
          <p:nvPr/>
        </p:nvSpPr>
        <p:spPr>
          <a:xfrm>
            <a:off x="548640" y="1508760"/>
            <a:ext cx="5449824" cy="2057400"/>
          </a:xfrm>
          <a:prstGeom prst="roundRect">
            <a:avLst>
              <a:gd name="adj" fmla="val 5333"/>
            </a:avLst>
          </a:prstGeom>
          <a:solidFill>
            <a:srgbClr val="0E1726"/>
          </a:solidFill>
          <a:ln/>
        </p:spPr>
      </p:sp>
      <p:sp>
        <p:nvSpPr>
          <p:cNvPr id="5" name="Text 2"/>
          <p:cNvSpPr txBox="1"/>
          <p:nvPr/>
        </p:nvSpPr>
        <p:spPr>
          <a:xfrm>
            <a:off x="868680" y="169164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Comment hunt</a:t>
            </a:r>
            <a:endParaRPr lang="en-US" sz="2200" dirty="0"/>
          </a:p>
        </p:txBody>
      </p:sp>
      <p:sp>
        <p:nvSpPr>
          <p:cNvPr id="6" name="Text 3"/>
          <p:cNvSpPr txBox="1"/>
          <p:nvPr/>
        </p:nvSpPr>
        <p:spPr>
          <a:xfrm>
            <a:off x="4206240" y="173736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any site</a:t>
            </a:r>
            <a:endParaRPr lang="en-US" sz="1200" dirty="0"/>
          </a:p>
        </p:txBody>
      </p:sp>
      <p:sp>
        <p:nvSpPr>
          <p:cNvPr id="7" name="Text 4"/>
          <p:cNvSpPr txBox="1"/>
          <p:nvPr/>
        </p:nvSpPr>
        <p:spPr>
          <a:xfrm>
            <a:off x="868680"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View Source on three sites you use. Who finds the most interesting developer comment?</a:t>
            </a:r>
            <a:endParaRPr lang="en-US" sz="1600" dirty="0"/>
          </a:p>
        </p:txBody>
      </p:sp>
      <p:sp>
        <p:nvSpPr>
          <p:cNvPr id="8" name="Text 5"/>
          <p:cNvSpPr txBox="1"/>
          <p:nvPr/>
        </p:nvSpPr>
        <p:spPr>
          <a:xfrm>
            <a:off x="868680" y="304495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&gt; </a:t>
            </a:r>
            <a:pPr indent="0" marL="0">
              <a:buNone/>
            </a:pPr>
            <a:r>
              <a:rPr lang="en-US" sz="1400" b="1" dirty="0">
                <a:solidFill>
                  <a:srgbClr val="F5A623"/>
                </a:solidFill>
                <a:latin typeface="Courier New" pitchFamily="34" charset="0"/>
                <a:ea typeface="Courier New" pitchFamily="34" charset="-122"/>
                <a:cs typeface="Courier New" pitchFamily="34" charset="-120"/>
              </a:rPr>
              <a:t>Ctrl+U  -&gt;  find &lt;!-- --&gt;</a:t>
            </a:r>
            <a:endParaRPr lang="en-US" sz="1400" dirty="0"/>
          </a:p>
        </p:txBody>
      </p:sp>
      <p:sp>
        <p:nvSpPr>
          <p:cNvPr id="9" name="Shape 6"/>
          <p:cNvSpPr/>
          <p:nvPr/>
        </p:nvSpPr>
        <p:spPr>
          <a:xfrm>
            <a:off x="6190488" y="1508760"/>
            <a:ext cx="5449824" cy="2057400"/>
          </a:xfrm>
          <a:prstGeom prst="roundRect">
            <a:avLst>
              <a:gd name="adj" fmla="val 5333"/>
            </a:avLst>
          </a:prstGeom>
          <a:solidFill>
            <a:srgbClr val="0E1726"/>
          </a:solidFill>
          <a:ln/>
        </p:spPr>
      </p:sp>
      <p:sp>
        <p:nvSpPr>
          <p:cNvPr id="10" name="Text 7"/>
          <p:cNvSpPr txBox="1"/>
          <p:nvPr/>
        </p:nvSpPr>
        <p:spPr>
          <a:xfrm>
            <a:off x="6510528" y="169164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Cookie census</a:t>
            </a:r>
            <a:endParaRPr lang="en-US" sz="2200" dirty="0"/>
          </a:p>
        </p:txBody>
      </p:sp>
      <p:sp>
        <p:nvSpPr>
          <p:cNvPr id="11" name="Text 8"/>
          <p:cNvSpPr txBox="1"/>
          <p:nvPr/>
        </p:nvSpPr>
        <p:spPr>
          <a:xfrm>
            <a:off x="9848088" y="173736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any login</a:t>
            </a:r>
            <a:endParaRPr lang="en-US" sz="1200" dirty="0"/>
          </a:p>
        </p:txBody>
      </p:sp>
      <p:sp>
        <p:nvSpPr>
          <p:cNvPr id="12" name="Text 9"/>
          <p:cNvSpPr txBox="1"/>
          <p:nvPr/>
        </p:nvSpPr>
        <p:spPr>
          <a:xfrm>
            <a:off x="6510528" y="224028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How many cookies does a site store on you? Can you guess what they do?</a:t>
            </a:r>
            <a:endParaRPr lang="en-US" sz="1600" dirty="0"/>
          </a:p>
        </p:txBody>
      </p:sp>
      <p:sp>
        <p:nvSpPr>
          <p:cNvPr id="13" name="Text 10"/>
          <p:cNvSpPr txBox="1"/>
          <p:nvPr/>
        </p:nvSpPr>
        <p:spPr>
          <a:xfrm>
            <a:off x="6510528" y="304495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&gt; </a:t>
            </a:r>
            <a:pPr indent="0" marL="0">
              <a:buNone/>
            </a:pPr>
            <a:r>
              <a:rPr lang="en-US" sz="1400" b="1" dirty="0">
                <a:solidFill>
                  <a:srgbClr val="F5A623"/>
                </a:solidFill>
                <a:latin typeface="Courier New" pitchFamily="34" charset="0"/>
                <a:ea typeface="Courier New" pitchFamily="34" charset="-122"/>
                <a:cs typeface="Courier New" pitchFamily="34" charset="-120"/>
              </a:rPr>
              <a:t>Application -&gt; Cookies</a:t>
            </a:r>
            <a:endParaRPr lang="en-US" sz="1400" dirty="0"/>
          </a:p>
        </p:txBody>
      </p:sp>
      <p:sp>
        <p:nvSpPr>
          <p:cNvPr id="14" name="Shape 11"/>
          <p:cNvSpPr/>
          <p:nvPr/>
        </p:nvSpPr>
        <p:spPr>
          <a:xfrm>
            <a:off x="548640" y="3749040"/>
            <a:ext cx="5449824" cy="2057400"/>
          </a:xfrm>
          <a:prstGeom prst="roundRect">
            <a:avLst>
              <a:gd name="adj" fmla="val 5333"/>
            </a:avLst>
          </a:prstGeom>
          <a:solidFill>
            <a:srgbClr val="0E1726"/>
          </a:solidFill>
          <a:ln/>
        </p:spPr>
      </p:sp>
      <p:sp>
        <p:nvSpPr>
          <p:cNvPr id="15" name="Text 12"/>
          <p:cNvSpPr txBox="1"/>
          <p:nvPr/>
        </p:nvSpPr>
        <p:spPr>
          <a:xfrm>
            <a:off x="868680" y="393192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Token reader</a:t>
            </a:r>
            <a:endParaRPr lang="en-US" sz="2200" dirty="0"/>
          </a:p>
        </p:txBody>
      </p:sp>
      <p:sp>
        <p:nvSpPr>
          <p:cNvPr id="16" name="Text 13"/>
          <p:cNvSpPr txBox="1"/>
          <p:nvPr/>
        </p:nvSpPr>
        <p:spPr>
          <a:xfrm>
            <a:off x="4206240" y="397764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Console</a:t>
            </a:r>
            <a:endParaRPr lang="en-US" sz="1200" dirty="0"/>
          </a:p>
        </p:txBody>
      </p:sp>
      <p:sp>
        <p:nvSpPr>
          <p:cNvPr id="17" name="Text 14"/>
          <p:cNvSpPr txBox="1"/>
          <p:nvPr/>
        </p:nvSpPr>
        <p:spPr>
          <a:xfrm>
            <a:off x="868680"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Find a base64 string and decode it. What was hidden inside?</a:t>
            </a:r>
            <a:endParaRPr lang="en-US" sz="1600" dirty="0"/>
          </a:p>
        </p:txBody>
      </p:sp>
      <p:sp>
        <p:nvSpPr>
          <p:cNvPr id="18" name="Text 15"/>
          <p:cNvSpPr txBox="1"/>
          <p:nvPr/>
        </p:nvSpPr>
        <p:spPr>
          <a:xfrm>
            <a:off x="868680" y="528523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&gt; </a:t>
            </a:r>
            <a:pPr indent="0" marL="0">
              <a:buNone/>
            </a:pPr>
            <a:r>
              <a:rPr lang="en-US" sz="1400" b="1" dirty="0">
                <a:solidFill>
                  <a:srgbClr val="F5A623"/>
                </a:solidFill>
                <a:latin typeface="Courier New" pitchFamily="34" charset="0"/>
                <a:ea typeface="Courier New" pitchFamily="34" charset="-122"/>
                <a:cs typeface="Courier New" pitchFamily="34" charset="-120"/>
              </a:rPr>
              <a:t>atob('eyJ...')</a:t>
            </a:r>
            <a:endParaRPr lang="en-US" sz="1400" dirty="0"/>
          </a:p>
        </p:txBody>
      </p:sp>
      <p:sp>
        <p:nvSpPr>
          <p:cNvPr id="19" name="Shape 16"/>
          <p:cNvSpPr/>
          <p:nvPr/>
        </p:nvSpPr>
        <p:spPr>
          <a:xfrm>
            <a:off x="6190488" y="3749040"/>
            <a:ext cx="5449824" cy="2057400"/>
          </a:xfrm>
          <a:prstGeom prst="roundRect">
            <a:avLst>
              <a:gd name="adj" fmla="val 5333"/>
            </a:avLst>
          </a:prstGeom>
          <a:solidFill>
            <a:srgbClr val="0E1726"/>
          </a:solidFill>
          <a:ln/>
        </p:spPr>
      </p:sp>
      <p:sp>
        <p:nvSpPr>
          <p:cNvPr id="20" name="Text 17"/>
          <p:cNvSpPr txBox="1"/>
          <p:nvPr/>
        </p:nvSpPr>
        <p:spPr>
          <a:xfrm>
            <a:off x="6510528" y="3931920"/>
            <a:ext cx="3474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Spot the trust</a:t>
            </a:r>
            <a:endParaRPr lang="en-US" sz="2200" dirty="0"/>
          </a:p>
        </p:txBody>
      </p:sp>
      <p:sp>
        <p:nvSpPr>
          <p:cNvPr id="21" name="Text 18"/>
          <p:cNvSpPr txBox="1"/>
          <p:nvPr/>
        </p:nvSpPr>
        <p:spPr>
          <a:xfrm>
            <a:off x="9848088" y="3977640"/>
            <a:ext cx="1554480" cy="365760"/>
          </a:xfrm>
          <a:prstGeom prst="rect">
            <a:avLst/>
          </a:prstGeom>
          <a:noFill/>
          <a:ln/>
        </p:spPr>
        <p:txBody>
          <a:bodyPr wrap="square" lIns="0" tIns="0" rIns="0" bIns="0" rtlCol="0" anchor="ctr"/>
          <a:lstStyle/>
          <a:p>
            <a:pPr algn="r" indent="0" marL="0">
              <a:buNone/>
            </a:pPr>
            <a:r>
              <a:rPr lang="en-US" sz="1200" dirty="0">
                <a:solidFill>
                  <a:srgbClr val="7F8FAD"/>
                </a:solidFill>
                <a:latin typeface="Courier New" pitchFamily="34" charset="0"/>
                <a:ea typeface="Courier New" pitchFamily="34" charset="-122"/>
                <a:cs typeface="Courier New" pitchFamily="34" charset="-120"/>
              </a:rPr>
              <a:t>any form</a:t>
            </a:r>
            <a:endParaRPr lang="en-US" sz="1200" dirty="0"/>
          </a:p>
        </p:txBody>
      </p:sp>
      <p:sp>
        <p:nvSpPr>
          <p:cNvPr id="22" name="Text 19"/>
          <p:cNvSpPr txBox="1"/>
          <p:nvPr/>
        </p:nvSpPr>
        <p:spPr>
          <a:xfrm>
            <a:off x="6510528" y="4480560"/>
            <a:ext cx="4846320" cy="777240"/>
          </a:xfrm>
          <a:prstGeom prst="rect">
            <a:avLst/>
          </a:prstGeom>
          <a:noFill/>
          <a:ln/>
        </p:spPr>
        <p:txBody>
          <a:bodyPr wrap="square" lIns="0" tIns="0" rIns="0" bIns="0" rtlCol="0" anchor="t"/>
          <a:lstStyle/>
          <a:p>
            <a:pPr indent="0" marL="0">
              <a:buNone/>
            </a:pPr>
            <a:r>
              <a:rPr lang="en-US" sz="1600" dirty="0">
                <a:solidFill>
                  <a:srgbClr val="B8C4D9"/>
                </a:solidFill>
                <a:latin typeface="Calibri" pitchFamily="34" charset="0"/>
                <a:ea typeface="Calibri" pitchFamily="34" charset="-122"/>
                <a:cs typeface="Calibri" pitchFamily="34" charset="-120"/>
              </a:rPr>
              <a:t>What stops you editing a hidden field before submitting? On a careless site: nothing.</a:t>
            </a:r>
            <a:endParaRPr lang="en-US" sz="1600" dirty="0"/>
          </a:p>
        </p:txBody>
      </p:sp>
      <p:sp>
        <p:nvSpPr>
          <p:cNvPr id="23" name="Text 20"/>
          <p:cNvSpPr txBox="1"/>
          <p:nvPr/>
        </p:nvSpPr>
        <p:spPr>
          <a:xfrm>
            <a:off x="6510528" y="5285232"/>
            <a:ext cx="4846320" cy="365760"/>
          </a:xfrm>
          <a:prstGeom prst="rect">
            <a:avLst/>
          </a:prstGeom>
          <a:noFill/>
          <a:ln/>
        </p:spPr>
        <p:txBody>
          <a:bodyPr wrap="square" lIns="0" tIns="0" rIns="0" bIns="0" rtlCol="0" anchor="ctr"/>
          <a:lstStyle/>
          <a:p>
            <a:pPr indent="0" marL="0">
              <a:buNone/>
            </a:pPr>
            <a:r>
              <a:rPr lang="en-US" sz="1400" b="1" dirty="0">
                <a:solidFill>
                  <a:srgbClr val="46D39A"/>
                </a:solidFill>
                <a:latin typeface="Courier New" pitchFamily="34" charset="0"/>
                <a:ea typeface="Courier New" pitchFamily="34" charset="-122"/>
                <a:cs typeface="Courier New" pitchFamily="34" charset="-120"/>
              </a:rPr>
              <a:t>&gt; </a:t>
            </a:r>
            <a:pPr indent="0" marL="0">
              <a:buNone/>
            </a:pPr>
            <a:r>
              <a:rPr lang="en-US" sz="1400" b="1" dirty="0">
                <a:solidFill>
                  <a:srgbClr val="F5A623"/>
                </a:solidFill>
                <a:latin typeface="Courier New" pitchFamily="34" charset="0"/>
                <a:ea typeface="Courier New" pitchFamily="34" charset="-122"/>
                <a:cs typeface="Courier New" pitchFamily="34" charset="-120"/>
              </a:rPr>
              <a:t>F12 -&gt; Elements -&gt; edit</a:t>
            </a:r>
            <a:endParaRPr lang="en-US" sz="140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33 / 61</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640080"/>
            <a:ext cx="2103120" cy="3108960"/>
          </a:xfrm>
          <a:prstGeom prst="rect">
            <a:avLst/>
          </a:prstGeom>
          <a:noFill/>
          <a:ln/>
        </p:spPr>
        <p:txBody>
          <a:bodyPr wrap="square" lIns="0" tIns="0" rIns="0" bIns="0" rtlCol="0" anchor="ctr"/>
          <a:lstStyle/>
          <a:p>
            <a:pPr indent="0" marL="0">
              <a:buNone/>
            </a:pPr>
            <a:r>
              <a:rPr lang="en-US" sz="23000" b="1" dirty="0">
                <a:solidFill>
                  <a:srgbClr val="D1416B"/>
                </a:solidFill>
                <a:latin typeface="Arial" pitchFamily="34" charset="0"/>
                <a:ea typeface="Arial" pitchFamily="34" charset="-122"/>
                <a:cs typeface="Arial" pitchFamily="34" charset="-120"/>
              </a:rPr>
              <a:t>4</a:t>
            </a:r>
            <a:endParaRPr lang="en-US" sz="23000" dirty="0"/>
          </a:p>
        </p:txBody>
      </p:sp>
      <p:sp>
        <p:nvSpPr>
          <p:cNvPr id="3" name="Text 1"/>
          <p:cNvSpPr txBox="1"/>
          <p:nvPr/>
        </p:nvSpPr>
        <p:spPr>
          <a:xfrm>
            <a:off x="2743200" y="640080"/>
            <a:ext cx="6949440" cy="3108960"/>
          </a:xfrm>
          <a:prstGeom prst="rect">
            <a:avLst/>
          </a:prstGeom>
          <a:noFill/>
          <a:ln/>
        </p:spPr>
        <p:txBody>
          <a:bodyPr wrap="square" lIns="0" tIns="0" rIns="0" bIns="0" rtlCol="0" anchor="ctr">
            <a:normAutofit/>
          </a:bodyPr>
          <a:lstStyle/>
          <a:p>
            <a:pPr indent="0" marL="0">
              <a:buNone/>
            </a:pPr>
            <a:r>
              <a:rPr lang="en-US" sz="5600" b="1" dirty="0">
                <a:solidFill>
                  <a:srgbClr val="12213A"/>
                </a:solidFill>
                <a:latin typeface="Arial" pitchFamily="34" charset="0"/>
                <a:ea typeface="Arial" pitchFamily="34" charset="-122"/>
                <a:cs typeface="Arial" pitchFamily="34" charset="-120"/>
              </a:rPr>
              <a:t>Reflection</a:t>
            </a:r>
            <a:endParaRPr lang="en-US" sz="5600" dirty="0"/>
          </a:p>
        </p:txBody>
      </p:sp>
      <p:sp>
        <p:nvSpPr>
          <p:cNvPr id="4" name="Shape 2"/>
          <p:cNvSpPr/>
          <p:nvPr/>
        </p:nvSpPr>
        <p:spPr>
          <a:xfrm>
            <a:off x="548640" y="5074920"/>
            <a:ext cx="6492240" cy="731520"/>
          </a:xfrm>
          <a:prstGeom prst="roundRect">
            <a:avLst>
              <a:gd name="adj" fmla="val 12500"/>
            </a:avLst>
          </a:prstGeom>
          <a:solidFill>
            <a:srgbClr val="0E1726"/>
          </a:solidFill>
          <a:ln/>
          <a:effectLst>
            <a:outerShdw sx="100000" sy="100000" kx="0" ky="0" algn="bl" rotWithShape="0" blurRad="101600" dist="25400" dir="5400000">
              <a:srgbClr val="6E86AE">
                <a:alpha val="35000"/>
              </a:srgbClr>
            </a:outerShdw>
          </a:effectLst>
        </p:spPr>
      </p:sp>
      <p:sp>
        <p:nvSpPr>
          <p:cNvPr id="5" name="Text 3"/>
          <p:cNvSpPr txBox="1"/>
          <p:nvPr/>
        </p:nvSpPr>
        <p:spPr>
          <a:xfrm>
            <a:off x="822960" y="5074920"/>
            <a:ext cx="6035040" cy="731520"/>
          </a:xfrm>
          <a:prstGeom prst="rect">
            <a:avLst/>
          </a:prstGeom>
          <a:noFill/>
          <a:ln/>
        </p:spPr>
        <p:txBody>
          <a:bodyPr wrap="square" lIns="0" tIns="0" rIns="0" bIns="0" rtlCol="0" anchor="ctr">
            <a:normAutofit/>
          </a:bodyPr>
          <a:lstStyle/>
          <a:p>
            <a:pPr indent="0" marL="0">
              <a:buNone/>
            </a:pPr>
            <a:r>
              <a:rPr lang="en-US" sz="1800" b="1" dirty="0">
                <a:solidFill>
                  <a:srgbClr val="46D39A"/>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latin typeface="Courier New" pitchFamily="34" charset="0"/>
                <a:ea typeface="Courier New" pitchFamily="34" charset="-122"/>
                <a:cs typeface="Courier New" pitchFamily="34" charset="-120"/>
              </a:rPr>
              <a:t>echo 'the fix is: never trust the client'</a:t>
            </a:r>
            <a:endParaRPr lang="en-US" sz="1800" dirty="0"/>
          </a:p>
        </p:txBody>
      </p:sp>
      <p:sp>
        <p:nvSpPr>
          <p:cNvPr id="7" name="Text 4"/>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34 / 61</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CTF web bugs vs the real web</a:t>
            </a:r>
            <a:endParaRPr lang="en-US" sz="3200" dirty="0"/>
          </a:p>
        </p:txBody>
      </p:sp>
      <p:sp>
        <p:nvSpPr>
          <p:cNvPr id="4" name="Shape 1"/>
          <p:cNvSpPr/>
          <p:nvPr/>
        </p:nvSpPr>
        <p:spPr>
          <a:xfrm>
            <a:off x="548640" y="1508760"/>
            <a:ext cx="5449824" cy="2286000"/>
          </a:xfrm>
          <a:prstGeom prst="roundRect">
            <a:avLst>
              <a:gd name="adj" fmla="val 4000"/>
            </a:avLst>
          </a:prstGeom>
          <a:solidFill>
            <a:srgbClr val="F1F5FB"/>
          </a:solidFill>
          <a:ln/>
        </p:spPr>
      </p:sp>
      <p:sp>
        <p:nvSpPr>
          <p:cNvPr id="5" name="Shape 2"/>
          <p:cNvSpPr/>
          <p:nvPr/>
        </p:nvSpPr>
        <p:spPr>
          <a:xfrm>
            <a:off x="548640" y="1508760"/>
            <a:ext cx="5449824" cy="109728"/>
          </a:xfrm>
          <a:prstGeom prst="rect">
            <a:avLst/>
          </a:prstGeom>
          <a:solidFill>
            <a:srgbClr val="2A9FD6"/>
          </a:solidFill>
          <a:ln/>
        </p:spPr>
      </p:sp>
      <p:sp>
        <p:nvSpPr>
          <p:cNvPr id="6" name="Text 3"/>
          <p:cNvSpPr txBox="1"/>
          <p:nvPr/>
        </p:nvSpPr>
        <p:spPr>
          <a:xfrm>
            <a:off x="868680" y="1783080"/>
            <a:ext cx="4846320" cy="457200"/>
          </a:xfrm>
          <a:prstGeom prst="rect">
            <a:avLst/>
          </a:prstGeom>
          <a:noFill/>
          <a:ln/>
        </p:spPr>
        <p:txBody>
          <a:bodyPr wrap="square" lIns="0" tIns="0" rIns="0" bIns="0" rtlCol="0" anchor="t"/>
          <a:lstStyle/>
          <a:p>
            <a:pPr indent="0" marL="0">
              <a:buNone/>
            </a:pPr>
            <a:r>
              <a:rPr lang="en-US" sz="2400" b="1" dirty="0">
                <a:solidFill>
                  <a:srgbClr val="2A9FD6"/>
                </a:solidFill>
                <a:latin typeface="Arial" pitchFamily="34" charset="0"/>
                <a:ea typeface="Arial" pitchFamily="34" charset="-122"/>
                <a:cs typeface="Arial" pitchFamily="34" charset="-120"/>
              </a:rPr>
              <a:t>Today's challenges</a:t>
            </a:r>
            <a:endParaRPr lang="en-US" sz="2400" dirty="0"/>
          </a:p>
        </p:txBody>
      </p:sp>
      <p:sp>
        <p:nvSpPr>
          <p:cNvPr id="7" name="Text 4"/>
          <p:cNvSpPr txBox="1"/>
          <p:nvPr/>
        </p:nvSpPr>
        <p:spPr>
          <a:xfrm>
            <a:off x="868680" y="2331720"/>
            <a:ext cx="4846320" cy="822960"/>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Hidden fields, cookie roles, ?id=, robots.txt, client-side logins</a:t>
            </a:r>
            <a:endParaRPr lang="en-US" sz="1400" dirty="0"/>
          </a:p>
        </p:txBody>
      </p:sp>
      <p:sp>
        <p:nvSpPr>
          <p:cNvPr id="8" name="Text 5"/>
          <p:cNvSpPr txBox="1"/>
          <p:nvPr/>
        </p:nvSpPr>
        <p:spPr>
          <a:xfrm>
            <a:off x="868680" y="3063240"/>
            <a:ext cx="4846320" cy="73152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Made easy and safe - but every one is a real bug class.</a:t>
            </a:r>
            <a:endParaRPr lang="en-US" sz="1500" dirty="0"/>
          </a:p>
        </p:txBody>
      </p:sp>
      <p:sp>
        <p:nvSpPr>
          <p:cNvPr id="9" name="Shape 6"/>
          <p:cNvSpPr/>
          <p:nvPr/>
        </p:nvSpPr>
        <p:spPr>
          <a:xfrm>
            <a:off x="6190488" y="1508760"/>
            <a:ext cx="5449824" cy="2286000"/>
          </a:xfrm>
          <a:prstGeom prst="roundRect">
            <a:avLst>
              <a:gd name="adj" fmla="val 4000"/>
            </a:avLst>
          </a:prstGeom>
          <a:solidFill>
            <a:srgbClr val="F1F5FB"/>
          </a:solidFill>
          <a:ln/>
        </p:spPr>
      </p:sp>
      <p:sp>
        <p:nvSpPr>
          <p:cNvPr id="10" name="Shape 7"/>
          <p:cNvSpPr/>
          <p:nvPr/>
        </p:nvSpPr>
        <p:spPr>
          <a:xfrm>
            <a:off x="6190488" y="1508760"/>
            <a:ext cx="5449824" cy="109728"/>
          </a:xfrm>
          <a:prstGeom prst="rect">
            <a:avLst/>
          </a:prstGeom>
          <a:solidFill>
            <a:srgbClr val="17875A"/>
          </a:solidFill>
          <a:ln/>
        </p:spPr>
      </p:sp>
      <p:sp>
        <p:nvSpPr>
          <p:cNvPr id="11" name="Text 8"/>
          <p:cNvSpPr txBox="1"/>
          <p:nvPr/>
        </p:nvSpPr>
        <p:spPr>
          <a:xfrm>
            <a:off x="6510528" y="1783080"/>
            <a:ext cx="4846320" cy="457200"/>
          </a:xfrm>
          <a:prstGeom prst="rect">
            <a:avLst/>
          </a:prstGeom>
          <a:noFill/>
          <a:ln/>
        </p:spPr>
        <p:txBody>
          <a:bodyPr wrap="square" lIns="0" tIns="0" rIns="0" bIns="0" rtlCol="0" anchor="t"/>
          <a:lstStyle/>
          <a:p>
            <a:pPr indent="0" marL="0">
              <a:buNone/>
            </a:pPr>
            <a:r>
              <a:rPr lang="en-US" sz="2400" b="1" dirty="0">
                <a:solidFill>
                  <a:srgbClr val="17875A"/>
                </a:solidFill>
                <a:latin typeface="Arial" pitchFamily="34" charset="0"/>
                <a:ea typeface="Arial" pitchFamily="34" charset="-122"/>
                <a:cs typeface="Arial" pitchFamily="34" charset="-120"/>
              </a:rPr>
              <a:t>The real web</a:t>
            </a:r>
            <a:endParaRPr lang="en-US" sz="2400" dirty="0"/>
          </a:p>
        </p:txBody>
      </p:sp>
      <p:sp>
        <p:nvSpPr>
          <p:cNvPr id="12" name="Text 9"/>
          <p:cNvSpPr txBox="1"/>
          <p:nvPr/>
        </p:nvSpPr>
        <p:spPr>
          <a:xfrm>
            <a:off x="6510528" y="2331720"/>
            <a:ext cx="4846320" cy="822960"/>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same bugs, in real apps - the OWASP Top 10</a:t>
            </a:r>
            <a:endParaRPr lang="en-US" sz="1400" dirty="0"/>
          </a:p>
        </p:txBody>
      </p:sp>
      <p:sp>
        <p:nvSpPr>
          <p:cNvPr id="13" name="Text 10"/>
          <p:cNvSpPr txBox="1"/>
          <p:nvPr/>
        </p:nvSpPr>
        <p:spPr>
          <a:xfrm>
            <a:off x="6510528" y="3063240"/>
            <a:ext cx="4846320" cy="73152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Found and fixed by security testers every day. The fix: don't trust the client.</a:t>
            </a:r>
            <a:endParaRPr lang="en-US" sz="1500" dirty="0"/>
          </a:p>
        </p:txBody>
      </p:sp>
      <p:sp>
        <p:nvSpPr>
          <p:cNvPr id="14" name="Text 11"/>
          <p:cNvSpPr txBox="1"/>
          <p:nvPr/>
        </p:nvSpPr>
        <p:spPr>
          <a:xfrm>
            <a:off x="548640" y="4069080"/>
            <a:ext cx="73152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The real bugs behind the missions</a:t>
            </a:r>
            <a:endParaRPr lang="en-US" sz="2000" dirty="0"/>
          </a:p>
        </p:txBody>
      </p:sp>
      <p:sp>
        <p:nvSpPr>
          <p:cNvPr id="15" name="Shape 12"/>
          <p:cNvSpPr/>
          <p:nvPr/>
        </p:nvSpPr>
        <p:spPr>
          <a:xfrm>
            <a:off x="548640" y="4572000"/>
            <a:ext cx="3566160" cy="1371600"/>
          </a:xfrm>
          <a:prstGeom prst="roundRect">
            <a:avLst>
              <a:gd name="adj" fmla="val 6667"/>
            </a:avLst>
          </a:prstGeom>
          <a:solidFill>
            <a:srgbClr val="FFF4DC"/>
          </a:solidFill>
          <a:ln/>
        </p:spPr>
      </p:sp>
      <p:sp>
        <p:nvSpPr>
          <p:cNvPr id="16" name="Text 13"/>
          <p:cNvSpPr txBox="1"/>
          <p:nvPr/>
        </p:nvSpPr>
        <p:spPr>
          <a:xfrm>
            <a:off x="822960" y="4681728"/>
            <a:ext cx="3108960" cy="4114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Broken access control</a:t>
            </a:r>
            <a:endParaRPr lang="en-US" sz="1700" dirty="0"/>
          </a:p>
        </p:txBody>
      </p:sp>
      <p:sp>
        <p:nvSpPr>
          <p:cNvPr id="17" name="Text 14"/>
          <p:cNvSpPr txBox="1"/>
          <p:nvPr/>
        </p:nvSpPr>
        <p:spPr>
          <a:xfrm>
            <a:off x="822960" y="5120640"/>
            <a:ext cx="3108960" cy="73152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Missions 3 &amp; 4: a cookie or a URL id, trusted.</a:t>
            </a:r>
            <a:endParaRPr lang="en-US" sz="1400" dirty="0"/>
          </a:p>
        </p:txBody>
      </p:sp>
      <p:sp>
        <p:nvSpPr>
          <p:cNvPr id="18" name="Shape 15"/>
          <p:cNvSpPr/>
          <p:nvPr/>
        </p:nvSpPr>
        <p:spPr>
          <a:xfrm>
            <a:off x="4306824" y="4572000"/>
            <a:ext cx="3566160" cy="1371600"/>
          </a:xfrm>
          <a:prstGeom prst="roundRect">
            <a:avLst>
              <a:gd name="adj" fmla="val 6667"/>
            </a:avLst>
          </a:prstGeom>
          <a:solidFill>
            <a:srgbClr val="FFF4DC"/>
          </a:solidFill>
          <a:ln/>
        </p:spPr>
      </p:sp>
      <p:sp>
        <p:nvSpPr>
          <p:cNvPr id="19" name="Text 16"/>
          <p:cNvSpPr txBox="1"/>
          <p:nvPr/>
        </p:nvSpPr>
        <p:spPr>
          <a:xfrm>
            <a:off x="4581144" y="4681728"/>
            <a:ext cx="3108960" cy="4114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Misconfiguration</a:t>
            </a:r>
            <a:endParaRPr lang="en-US" sz="1700" dirty="0"/>
          </a:p>
        </p:txBody>
      </p:sp>
      <p:sp>
        <p:nvSpPr>
          <p:cNvPr id="20" name="Text 17"/>
          <p:cNvSpPr txBox="1"/>
          <p:nvPr/>
        </p:nvSpPr>
        <p:spPr>
          <a:xfrm>
            <a:off x="4581144" y="5120640"/>
            <a:ext cx="3108960" cy="73152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Mission 5: a secret path, left findable in robots.txt.</a:t>
            </a:r>
            <a:endParaRPr lang="en-US" sz="1400" dirty="0"/>
          </a:p>
        </p:txBody>
      </p:sp>
      <p:sp>
        <p:nvSpPr>
          <p:cNvPr id="21" name="Shape 18"/>
          <p:cNvSpPr/>
          <p:nvPr/>
        </p:nvSpPr>
        <p:spPr>
          <a:xfrm>
            <a:off x="8065008" y="4572000"/>
            <a:ext cx="3566160" cy="1371600"/>
          </a:xfrm>
          <a:prstGeom prst="roundRect">
            <a:avLst>
              <a:gd name="adj" fmla="val 6667"/>
            </a:avLst>
          </a:prstGeom>
          <a:solidFill>
            <a:srgbClr val="FFF4DC"/>
          </a:solidFill>
          <a:ln/>
        </p:spPr>
      </p:sp>
      <p:sp>
        <p:nvSpPr>
          <p:cNvPr id="22" name="Text 19"/>
          <p:cNvSpPr txBox="1"/>
          <p:nvPr/>
        </p:nvSpPr>
        <p:spPr>
          <a:xfrm>
            <a:off x="8339328" y="4681728"/>
            <a:ext cx="3108960" cy="411480"/>
          </a:xfrm>
          <a:prstGeom prst="rect">
            <a:avLst/>
          </a:prstGeom>
          <a:noFill/>
          <a:ln/>
        </p:spPr>
        <p:txBody>
          <a:bodyPr wrap="square" lIns="0" tIns="0" rIns="0" bIns="0" rtlCol="0" anchor="t"/>
          <a:lstStyle/>
          <a:p>
            <a:pPr indent="0" marL="0">
              <a:buNone/>
            </a:pPr>
            <a:r>
              <a:rPr lang="en-US" sz="1700" b="1" dirty="0">
                <a:solidFill>
                  <a:srgbClr val="12213A"/>
                </a:solidFill>
                <a:latin typeface="Calibri" pitchFamily="34" charset="0"/>
                <a:ea typeface="Calibri" pitchFamily="34" charset="-122"/>
                <a:cs typeface="Calibri" pitchFamily="34" charset="-120"/>
              </a:rPr>
              <a:t>Injection</a:t>
            </a:r>
            <a:endParaRPr lang="en-US" sz="1700" dirty="0"/>
          </a:p>
        </p:txBody>
      </p:sp>
      <p:sp>
        <p:nvSpPr>
          <p:cNvPr id="23" name="Text 20"/>
          <p:cNvSpPr txBox="1"/>
          <p:nvPr/>
        </p:nvSpPr>
        <p:spPr>
          <a:xfrm>
            <a:off x="8339328" y="5120640"/>
            <a:ext cx="3108960" cy="731520"/>
          </a:xfrm>
          <a:prstGeom prst="rect">
            <a:avLst/>
          </a:prstGeom>
          <a:noFill/>
          <a:ln/>
        </p:spPr>
        <p:txBody>
          <a:bodyPr wrap="square" lIns="0" tIns="0" rIns="0" bIns="0" rtlCol="0" anchor="t"/>
          <a:lstStyle/>
          <a:p>
            <a:pPr indent="0" marL="0">
              <a:buNone/>
            </a:pPr>
            <a:r>
              <a:rPr lang="en-US" sz="1400" dirty="0">
                <a:solidFill>
                  <a:srgbClr val="56657E"/>
                </a:solidFill>
                <a:latin typeface="Calibri" pitchFamily="34" charset="0"/>
                <a:ea typeface="Calibri" pitchFamily="34" charset="-122"/>
                <a:cs typeface="Calibri" pitchFamily="34" charset="-120"/>
              </a:rPr>
              <a:t>Mission 9: user input, used without cleaning.</a:t>
            </a:r>
            <a:endParaRPr lang="en-US" sz="1400" dirty="0"/>
          </a:p>
        </p:txBody>
      </p:sp>
      <p:sp>
        <p:nvSpPr>
          <p:cNvPr id="24" name="Text 21"/>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35 / 61</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4" name="Shape 1"/>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sp>
      <p:sp>
        <p:nvSpPr>
          <p:cNvPr id="5" name="Text 2"/>
          <p:cNvSpPr txBox="1"/>
          <p:nvPr/>
        </p:nvSpPr>
        <p:spPr>
          <a:xfrm>
            <a:off x="594360" y="169164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17875A"/>
                </a:solidFill>
                <a:latin typeface="Courier New" pitchFamily="34" charset="0"/>
                <a:ea typeface="Courier New" pitchFamily="34" charset="-122"/>
                <a:cs typeface="Courier New" pitchFamily="34" charset="-120"/>
              </a:rPr>
              <a:t>View Source</a:t>
            </a:r>
            <a:endParaRPr lang="en-US" sz="1500" dirty="0"/>
          </a:p>
        </p:txBody>
      </p:sp>
      <p:sp>
        <p:nvSpPr>
          <p:cNvPr id="6" name="Text 3"/>
          <p:cNvSpPr txBox="1"/>
          <p:nvPr/>
        </p:nvSpPr>
        <p:spPr>
          <a:xfrm>
            <a:off x="548640" y="233172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7" name="Shape 4"/>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sp>
      <p:sp>
        <p:nvSpPr>
          <p:cNvPr id="8" name="Text 5"/>
          <p:cNvSpPr txBox="1"/>
          <p:nvPr/>
        </p:nvSpPr>
        <p:spPr>
          <a:xfrm>
            <a:off x="2459736" y="169164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17875A"/>
                </a:solidFill>
                <a:latin typeface="Courier New" pitchFamily="34" charset="0"/>
                <a:ea typeface="Courier New" pitchFamily="34" charset="-122"/>
                <a:cs typeface="Courier New" pitchFamily="34" charset="-120"/>
              </a:rPr>
              <a:t>HTML comments</a:t>
            </a:r>
            <a:endParaRPr lang="en-US" sz="1200" dirty="0"/>
          </a:p>
        </p:txBody>
      </p:sp>
      <p:sp>
        <p:nvSpPr>
          <p:cNvPr id="9" name="Text 6"/>
          <p:cNvSpPr txBox="1"/>
          <p:nvPr/>
        </p:nvSpPr>
        <p:spPr>
          <a:xfrm>
            <a:off x="2414016" y="233172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0" name="Shape 7"/>
          <p:cNvSpPr/>
          <p:nvPr/>
        </p:nvSpPr>
        <p:spPr>
          <a:xfrm>
            <a:off x="4279392" y="1508760"/>
            <a:ext cx="1719072" cy="1298448"/>
          </a:xfrm>
          <a:prstGeom prst="roundRect">
            <a:avLst>
              <a:gd name="adj" fmla="val 8451"/>
            </a:avLst>
          </a:prstGeom>
          <a:solidFill>
            <a:srgbClr val="FFFFFF"/>
          </a:solidFill>
          <a:ln w="31750">
            <a:solidFill>
              <a:srgbClr val="2A9FD6"/>
            </a:solidFill>
            <a:prstDash val="dash"/>
          </a:ln>
        </p:spPr>
      </p:sp>
      <p:sp>
        <p:nvSpPr>
          <p:cNvPr id="11" name="Text 8"/>
          <p:cNvSpPr txBox="1"/>
          <p:nvPr/>
        </p:nvSpPr>
        <p:spPr>
          <a:xfrm>
            <a:off x="4325112" y="169164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2A9FD6"/>
                </a:solidFill>
                <a:latin typeface="Courier New" pitchFamily="34" charset="0"/>
                <a:ea typeface="Courier New" pitchFamily="34" charset="-122"/>
                <a:cs typeface="Courier New" pitchFamily="34" charset="-120"/>
              </a:rPr>
              <a:t>Inspect</a:t>
            </a:r>
            <a:endParaRPr lang="en-US" sz="1500" dirty="0"/>
          </a:p>
        </p:txBody>
      </p:sp>
      <p:sp>
        <p:nvSpPr>
          <p:cNvPr id="12" name="Text 9"/>
          <p:cNvSpPr txBox="1"/>
          <p:nvPr/>
        </p:nvSpPr>
        <p:spPr>
          <a:xfrm>
            <a:off x="4279392" y="233172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3" name="Shape 10"/>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sp>
      <p:sp>
        <p:nvSpPr>
          <p:cNvPr id="14" name="Text 11"/>
          <p:cNvSpPr txBox="1"/>
          <p:nvPr/>
        </p:nvSpPr>
        <p:spPr>
          <a:xfrm>
            <a:off x="6190488" y="169164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2A9FD6"/>
                </a:solidFill>
                <a:latin typeface="Courier New" pitchFamily="34" charset="0"/>
                <a:ea typeface="Courier New" pitchFamily="34" charset="-122"/>
                <a:cs typeface="Courier New" pitchFamily="34" charset="-120"/>
              </a:rPr>
              <a:t>hidden fields</a:t>
            </a:r>
            <a:endParaRPr lang="en-US" sz="1200" dirty="0"/>
          </a:p>
        </p:txBody>
      </p:sp>
      <p:sp>
        <p:nvSpPr>
          <p:cNvPr id="15" name="Text 12"/>
          <p:cNvSpPr txBox="1"/>
          <p:nvPr/>
        </p:nvSpPr>
        <p:spPr>
          <a:xfrm>
            <a:off x="6144768" y="233172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6" name="Shape 13"/>
          <p:cNvSpPr/>
          <p:nvPr/>
        </p:nvSpPr>
        <p:spPr>
          <a:xfrm>
            <a:off x="8010144" y="1508760"/>
            <a:ext cx="1719072" cy="1298448"/>
          </a:xfrm>
          <a:prstGeom prst="roundRect">
            <a:avLst>
              <a:gd name="adj" fmla="val 8451"/>
            </a:avLst>
          </a:prstGeom>
          <a:solidFill>
            <a:srgbClr val="FFFFFF"/>
          </a:solidFill>
          <a:ln w="31750">
            <a:solidFill>
              <a:srgbClr val="2459D8"/>
            </a:solidFill>
            <a:prstDash val="dash"/>
          </a:ln>
        </p:spPr>
      </p:sp>
      <p:sp>
        <p:nvSpPr>
          <p:cNvPr id="17" name="Text 14"/>
          <p:cNvSpPr txBox="1"/>
          <p:nvPr/>
        </p:nvSpPr>
        <p:spPr>
          <a:xfrm>
            <a:off x="8055864" y="169164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2459D8"/>
                </a:solidFill>
                <a:latin typeface="Courier New" pitchFamily="34" charset="0"/>
                <a:ea typeface="Courier New" pitchFamily="34" charset="-122"/>
                <a:cs typeface="Courier New" pitchFamily="34" charset="-120"/>
              </a:rPr>
              <a:t>edit cookies</a:t>
            </a:r>
            <a:endParaRPr lang="en-US" sz="1200" dirty="0"/>
          </a:p>
        </p:txBody>
      </p:sp>
      <p:sp>
        <p:nvSpPr>
          <p:cNvPr id="18" name="Text 15"/>
          <p:cNvSpPr txBox="1"/>
          <p:nvPr/>
        </p:nvSpPr>
        <p:spPr>
          <a:xfrm>
            <a:off x="8010144" y="233172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19" name="Shape 16"/>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sp>
      <p:sp>
        <p:nvSpPr>
          <p:cNvPr id="20" name="Text 17"/>
          <p:cNvSpPr txBox="1"/>
          <p:nvPr/>
        </p:nvSpPr>
        <p:spPr>
          <a:xfrm>
            <a:off x="9921240" y="169164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2459D8"/>
                </a:solidFill>
                <a:latin typeface="Courier New" pitchFamily="34" charset="0"/>
                <a:ea typeface="Courier New" pitchFamily="34" charset="-122"/>
                <a:cs typeface="Courier New" pitchFamily="34" charset="-120"/>
              </a:rPr>
              <a:t>access control</a:t>
            </a:r>
            <a:endParaRPr lang="en-US" sz="1200" dirty="0"/>
          </a:p>
        </p:txBody>
      </p:sp>
      <p:sp>
        <p:nvSpPr>
          <p:cNvPr id="21" name="Text 18"/>
          <p:cNvSpPr txBox="1"/>
          <p:nvPr/>
        </p:nvSpPr>
        <p:spPr>
          <a:xfrm>
            <a:off x="9875520" y="233172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2" name="Shape 19"/>
          <p:cNvSpPr/>
          <p:nvPr/>
        </p:nvSpPr>
        <p:spPr>
          <a:xfrm>
            <a:off x="548640" y="2971800"/>
            <a:ext cx="1719072" cy="1298448"/>
          </a:xfrm>
          <a:prstGeom prst="roundRect">
            <a:avLst>
              <a:gd name="adj" fmla="val 8451"/>
            </a:avLst>
          </a:prstGeom>
          <a:solidFill>
            <a:srgbClr val="FFFFFF"/>
          </a:solidFill>
          <a:ln w="31750">
            <a:solidFill>
              <a:srgbClr val="7448D4"/>
            </a:solidFill>
            <a:prstDash val="dash"/>
          </a:ln>
        </p:spPr>
      </p:sp>
      <p:sp>
        <p:nvSpPr>
          <p:cNvPr id="23" name="Text 20"/>
          <p:cNvSpPr txBox="1"/>
          <p:nvPr/>
        </p:nvSpPr>
        <p:spPr>
          <a:xfrm>
            <a:off x="594360" y="315468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7448D4"/>
                </a:solidFill>
                <a:latin typeface="Courier New" pitchFamily="34" charset="0"/>
                <a:ea typeface="Courier New" pitchFamily="34" charset="-122"/>
                <a:cs typeface="Courier New" pitchFamily="34" charset="-120"/>
              </a:rPr>
              <a:t>URL tampering</a:t>
            </a:r>
            <a:endParaRPr lang="en-US" sz="1200" dirty="0"/>
          </a:p>
        </p:txBody>
      </p:sp>
      <p:sp>
        <p:nvSpPr>
          <p:cNvPr id="24" name="Text 21"/>
          <p:cNvSpPr txBox="1"/>
          <p:nvPr/>
        </p:nvSpPr>
        <p:spPr>
          <a:xfrm>
            <a:off x="548640" y="379476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5" name="Shape 22"/>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sp>
      <p:sp>
        <p:nvSpPr>
          <p:cNvPr id="26" name="Text 23"/>
          <p:cNvSpPr txBox="1"/>
          <p:nvPr/>
        </p:nvSpPr>
        <p:spPr>
          <a:xfrm>
            <a:off x="2459736" y="315468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7448D4"/>
                </a:solidFill>
                <a:latin typeface="Courier New" pitchFamily="34" charset="0"/>
                <a:ea typeface="Courier New" pitchFamily="34" charset="-122"/>
                <a:cs typeface="Courier New" pitchFamily="34" charset="-120"/>
              </a:rPr>
              <a:t>IDOR</a:t>
            </a:r>
            <a:endParaRPr lang="en-US" sz="1500" dirty="0"/>
          </a:p>
        </p:txBody>
      </p:sp>
      <p:sp>
        <p:nvSpPr>
          <p:cNvPr id="27" name="Text 24"/>
          <p:cNvSpPr txBox="1"/>
          <p:nvPr/>
        </p:nvSpPr>
        <p:spPr>
          <a:xfrm>
            <a:off x="2414016" y="379476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28" name="Shape 25"/>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sp>
      <p:sp>
        <p:nvSpPr>
          <p:cNvPr id="29" name="Text 26"/>
          <p:cNvSpPr txBox="1"/>
          <p:nvPr/>
        </p:nvSpPr>
        <p:spPr>
          <a:xfrm>
            <a:off x="4325112" y="315468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D1416B"/>
                </a:solidFill>
                <a:latin typeface="Courier New" pitchFamily="34" charset="0"/>
                <a:ea typeface="Courier New" pitchFamily="34" charset="-122"/>
                <a:cs typeface="Courier New" pitchFamily="34" charset="-120"/>
              </a:rPr>
              <a:t>robots.txt</a:t>
            </a:r>
            <a:endParaRPr lang="en-US" sz="1500" dirty="0"/>
          </a:p>
        </p:txBody>
      </p:sp>
      <p:sp>
        <p:nvSpPr>
          <p:cNvPr id="30" name="Text 27"/>
          <p:cNvSpPr txBox="1"/>
          <p:nvPr/>
        </p:nvSpPr>
        <p:spPr>
          <a:xfrm>
            <a:off x="4279392" y="379476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1" name="Shape 28"/>
          <p:cNvSpPr/>
          <p:nvPr/>
        </p:nvSpPr>
        <p:spPr>
          <a:xfrm>
            <a:off x="6144768" y="2971800"/>
            <a:ext cx="1719072" cy="1298448"/>
          </a:xfrm>
          <a:prstGeom prst="roundRect">
            <a:avLst>
              <a:gd name="adj" fmla="val 8451"/>
            </a:avLst>
          </a:prstGeom>
          <a:solidFill>
            <a:srgbClr val="FFFFFF"/>
          </a:solidFill>
          <a:ln w="31750">
            <a:solidFill>
              <a:srgbClr val="E8820C"/>
            </a:solidFill>
            <a:prstDash val="dash"/>
          </a:ln>
        </p:spPr>
      </p:sp>
      <p:sp>
        <p:nvSpPr>
          <p:cNvPr id="32" name="Text 29"/>
          <p:cNvSpPr txBox="1"/>
          <p:nvPr/>
        </p:nvSpPr>
        <p:spPr>
          <a:xfrm>
            <a:off x="6190488" y="315468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E8820C"/>
                </a:solidFill>
                <a:latin typeface="Courier New" pitchFamily="34" charset="0"/>
                <a:ea typeface="Courier New" pitchFamily="34" charset="-122"/>
                <a:cs typeface="Courier New" pitchFamily="34" charset="-120"/>
              </a:rPr>
              <a:t>Console</a:t>
            </a:r>
            <a:endParaRPr lang="en-US" sz="1500" dirty="0"/>
          </a:p>
        </p:txBody>
      </p:sp>
      <p:sp>
        <p:nvSpPr>
          <p:cNvPr id="33" name="Text 30"/>
          <p:cNvSpPr txBox="1"/>
          <p:nvPr/>
        </p:nvSpPr>
        <p:spPr>
          <a:xfrm>
            <a:off x="6144768" y="379476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4" name="Shape 31"/>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sp>
      <p:sp>
        <p:nvSpPr>
          <p:cNvPr id="35" name="Text 32"/>
          <p:cNvSpPr txBox="1"/>
          <p:nvPr/>
        </p:nvSpPr>
        <p:spPr>
          <a:xfrm>
            <a:off x="8055864" y="315468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E8820C"/>
                </a:solidFill>
                <a:latin typeface="Courier New" pitchFamily="34" charset="0"/>
                <a:ea typeface="Courier New" pitchFamily="34" charset="-122"/>
                <a:cs typeface="Courier New" pitchFamily="34" charset="-120"/>
              </a:rPr>
              <a:t>run page JS</a:t>
            </a:r>
            <a:endParaRPr lang="en-US" sz="1500" dirty="0"/>
          </a:p>
        </p:txBody>
      </p:sp>
      <p:sp>
        <p:nvSpPr>
          <p:cNvPr id="36" name="Text 33"/>
          <p:cNvSpPr txBox="1"/>
          <p:nvPr/>
        </p:nvSpPr>
        <p:spPr>
          <a:xfrm>
            <a:off x="8010144" y="379476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7" name="Shape 34"/>
          <p:cNvSpPr/>
          <p:nvPr/>
        </p:nvSpPr>
        <p:spPr>
          <a:xfrm>
            <a:off x="9875520" y="2971800"/>
            <a:ext cx="1719072" cy="1298448"/>
          </a:xfrm>
          <a:prstGeom prst="roundRect">
            <a:avLst>
              <a:gd name="adj" fmla="val 8451"/>
            </a:avLst>
          </a:prstGeom>
          <a:solidFill>
            <a:srgbClr val="FFFFFF"/>
          </a:solidFill>
          <a:ln w="31750">
            <a:solidFill>
              <a:srgbClr val="C9A227"/>
            </a:solidFill>
            <a:prstDash val="dash"/>
          </a:ln>
        </p:spPr>
      </p:sp>
      <p:sp>
        <p:nvSpPr>
          <p:cNvPr id="38" name="Text 35"/>
          <p:cNvSpPr txBox="1"/>
          <p:nvPr/>
        </p:nvSpPr>
        <p:spPr>
          <a:xfrm>
            <a:off x="9921240" y="315468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C9A227"/>
                </a:solidFill>
                <a:latin typeface="Courier New" pitchFamily="34" charset="0"/>
                <a:ea typeface="Courier New" pitchFamily="34" charset="-122"/>
                <a:cs typeface="Courier New" pitchFamily="34" charset="-120"/>
              </a:rPr>
              <a:t>read the JS</a:t>
            </a:r>
            <a:endParaRPr lang="en-US" sz="1500" dirty="0"/>
          </a:p>
        </p:txBody>
      </p:sp>
      <p:sp>
        <p:nvSpPr>
          <p:cNvPr id="39" name="Text 36"/>
          <p:cNvSpPr txBox="1"/>
          <p:nvPr/>
        </p:nvSpPr>
        <p:spPr>
          <a:xfrm>
            <a:off x="9875520" y="379476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0" name="Shape 37"/>
          <p:cNvSpPr/>
          <p:nvPr/>
        </p:nvSpPr>
        <p:spPr>
          <a:xfrm>
            <a:off x="548640" y="4434840"/>
            <a:ext cx="1719072" cy="1298448"/>
          </a:xfrm>
          <a:prstGeom prst="roundRect">
            <a:avLst>
              <a:gd name="adj" fmla="val 8451"/>
            </a:avLst>
          </a:prstGeom>
          <a:solidFill>
            <a:srgbClr val="FFFFFF"/>
          </a:solidFill>
          <a:ln w="31750">
            <a:solidFill>
              <a:srgbClr val="0F9488"/>
            </a:solidFill>
            <a:prstDash val="dash"/>
          </a:ln>
        </p:spPr>
      </p:sp>
      <p:sp>
        <p:nvSpPr>
          <p:cNvPr id="41" name="Text 38"/>
          <p:cNvSpPr txBox="1"/>
          <p:nvPr/>
        </p:nvSpPr>
        <p:spPr>
          <a:xfrm>
            <a:off x="594360" y="461772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0F9488"/>
                </a:solidFill>
                <a:latin typeface="Courier New" pitchFamily="34" charset="0"/>
                <a:ea typeface="Courier New" pitchFamily="34" charset="-122"/>
                <a:cs typeface="Courier New" pitchFamily="34" charset="-120"/>
              </a:rPr>
              <a:t>decode base64</a:t>
            </a:r>
            <a:endParaRPr lang="en-US" sz="1200" dirty="0"/>
          </a:p>
        </p:txBody>
      </p:sp>
      <p:sp>
        <p:nvSpPr>
          <p:cNvPr id="42" name="Text 39"/>
          <p:cNvSpPr txBox="1"/>
          <p:nvPr/>
        </p:nvSpPr>
        <p:spPr>
          <a:xfrm>
            <a:off x="548640" y="525780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3" name="Shape 40"/>
          <p:cNvSpPr/>
          <p:nvPr/>
        </p:nvSpPr>
        <p:spPr>
          <a:xfrm>
            <a:off x="2414016" y="4434840"/>
            <a:ext cx="1719072" cy="1298448"/>
          </a:xfrm>
          <a:prstGeom prst="roundRect">
            <a:avLst>
              <a:gd name="adj" fmla="val 8451"/>
            </a:avLst>
          </a:prstGeom>
          <a:solidFill>
            <a:srgbClr val="FFFFFF"/>
          </a:solidFill>
          <a:ln w="31750">
            <a:solidFill>
              <a:srgbClr val="0F9488"/>
            </a:solidFill>
            <a:prstDash val="dash"/>
          </a:ln>
        </p:spPr>
      </p:sp>
      <p:sp>
        <p:nvSpPr>
          <p:cNvPr id="44" name="Text 41"/>
          <p:cNvSpPr txBox="1"/>
          <p:nvPr/>
        </p:nvSpPr>
        <p:spPr>
          <a:xfrm>
            <a:off x="2459736" y="461772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0F9488"/>
                </a:solidFill>
                <a:latin typeface="Courier New" pitchFamily="34" charset="0"/>
                <a:ea typeface="Courier New" pitchFamily="34" charset="-122"/>
                <a:cs typeface="Courier New" pitchFamily="34" charset="-120"/>
              </a:rPr>
              <a:t>read a JWT</a:t>
            </a:r>
            <a:endParaRPr lang="en-US" sz="1500" dirty="0"/>
          </a:p>
        </p:txBody>
      </p:sp>
      <p:sp>
        <p:nvSpPr>
          <p:cNvPr id="45" name="Text 42"/>
          <p:cNvSpPr txBox="1"/>
          <p:nvPr/>
        </p:nvSpPr>
        <p:spPr>
          <a:xfrm>
            <a:off x="2414016" y="525780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46" name="Shape 43"/>
          <p:cNvSpPr/>
          <p:nvPr/>
        </p:nvSpPr>
        <p:spPr>
          <a:xfrm>
            <a:off x="4279392" y="4434840"/>
            <a:ext cx="1719072" cy="1298448"/>
          </a:xfrm>
          <a:prstGeom prst="roundRect">
            <a:avLst>
              <a:gd name="adj" fmla="val 8451"/>
            </a:avLst>
          </a:prstGeom>
          <a:solidFill>
            <a:srgbClr val="FFFFFF"/>
          </a:solidFill>
          <a:ln w="31750">
            <a:solidFill>
              <a:srgbClr val="5B6EE1"/>
            </a:solidFill>
            <a:prstDash val="dash"/>
          </a:ln>
        </p:spPr>
      </p:sp>
      <p:sp>
        <p:nvSpPr>
          <p:cNvPr id="47" name="Text 44"/>
          <p:cNvSpPr txBox="1"/>
          <p:nvPr/>
        </p:nvSpPr>
        <p:spPr>
          <a:xfrm>
            <a:off x="4325112" y="461772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5B6EE1"/>
                </a:solidFill>
                <a:latin typeface="Courier New" pitchFamily="34" charset="0"/>
                <a:ea typeface="Courier New" pitchFamily="34" charset="-122"/>
                <a:cs typeface="Courier New" pitchFamily="34" charset="-120"/>
              </a:rPr>
              <a:t>injection / XSS</a:t>
            </a:r>
            <a:endParaRPr lang="en-US" sz="1200" dirty="0"/>
          </a:p>
        </p:txBody>
      </p:sp>
      <p:sp>
        <p:nvSpPr>
          <p:cNvPr id="48" name="Text 45"/>
          <p:cNvSpPr txBox="1"/>
          <p:nvPr/>
        </p:nvSpPr>
        <p:spPr>
          <a:xfrm>
            <a:off x="4279392" y="525780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49" name="Shape 46"/>
          <p:cNvSpPr/>
          <p:nvPr/>
        </p:nvSpPr>
        <p:spPr>
          <a:xfrm>
            <a:off x="6144768" y="4434840"/>
            <a:ext cx="1719072" cy="1298448"/>
          </a:xfrm>
          <a:prstGeom prst="roundRect">
            <a:avLst>
              <a:gd name="adj" fmla="val 8451"/>
            </a:avLst>
          </a:prstGeom>
          <a:solidFill>
            <a:srgbClr val="FFFFFF"/>
          </a:solidFill>
          <a:ln w="31750">
            <a:solidFill>
              <a:srgbClr val="B4233F"/>
            </a:solidFill>
            <a:prstDash val="dash"/>
          </a:ln>
        </p:spPr>
      </p:sp>
      <p:sp>
        <p:nvSpPr>
          <p:cNvPr id="50" name="Text 47"/>
          <p:cNvSpPr txBox="1"/>
          <p:nvPr/>
        </p:nvSpPr>
        <p:spPr>
          <a:xfrm>
            <a:off x="6190488" y="461772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B4233F"/>
                </a:solidFill>
                <a:latin typeface="Courier New" pitchFamily="34" charset="0"/>
                <a:ea typeface="Courier New" pitchFamily="34" charset="-122"/>
                <a:cs typeface="Courier New" pitchFamily="34" charset="-120"/>
              </a:rPr>
              <a:t>chain the steps</a:t>
            </a:r>
            <a:endParaRPr lang="en-US" sz="1200" dirty="0"/>
          </a:p>
        </p:txBody>
      </p:sp>
      <p:sp>
        <p:nvSpPr>
          <p:cNvPr id="51" name="Text 48"/>
          <p:cNvSpPr txBox="1"/>
          <p:nvPr/>
        </p:nvSpPr>
        <p:spPr>
          <a:xfrm>
            <a:off x="6144768" y="525780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2" name="Shape 49"/>
          <p:cNvSpPr/>
          <p:nvPr/>
        </p:nvSpPr>
        <p:spPr>
          <a:xfrm>
            <a:off x="8010144" y="4434840"/>
            <a:ext cx="1719072" cy="1298448"/>
          </a:xfrm>
          <a:prstGeom prst="roundRect">
            <a:avLst>
              <a:gd name="adj" fmla="val 8451"/>
            </a:avLst>
          </a:prstGeom>
          <a:solidFill>
            <a:srgbClr val="FFFFFF"/>
          </a:solidFill>
          <a:ln w="31750">
            <a:solidFill>
              <a:srgbClr val="56657E"/>
            </a:solidFill>
            <a:prstDash val="dash"/>
          </a:ln>
        </p:spPr>
      </p:sp>
      <p:sp>
        <p:nvSpPr>
          <p:cNvPr id="53" name="Text 50"/>
          <p:cNvSpPr txBox="1"/>
          <p:nvPr/>
        </p:nvSpPr>
        <p:spPr>
          <a:xfrm>
            <a:off x="8055864" y="4617720"/>
            <a:ext cx="1627632" cy="548640"/>
          </a:xfrm>
          <a:prstGeom prst="rect">
            <a:avLst/>
          </a:prstGeom>
          <a:noFill/>
          <a:ln/>
        </p:spPr>
        <p:txBody>
          <a:bodyPr wrap="square" lIns="0" tIns="0" rIns="0" bIns="0" rtlCol="0" anchor="ctr">
            <a:normAutofit/>
          </a:bodyPr>
          <a:lstStyle/>
          <a:p>
            <a:pPr algn="ctr" indent="0" marL="0">
              <a:buNone/>
            </a:pPr>
            <a:r>
              <a:rPr lang="en-US" sz="1500" b="1" dirty="0">
                <a:solidFill>
                  <a:srgbClr val="56657E"/>
                </a:solidFill>
                <a:latin typeface="Courier New" pitchFamily="34" charset="0"/>
                <a:ea typeface="Courier New" pitchFamily="34" charset="-122"/>
                <a:cs typeface="Courier New" pitchFamily="34" charset="-120"/>
              </a:rPr>
              <a:t>DevTools</a:t>
            </a:r>
            <a:endParaRPr lang="en-US" sz="1500" dirty="0"/>
          </a:p>
        </p:txBody>
      </p:sp>
      <p:sp>
        <p:nvSpPr>
          <p:cNvPr id="54" name="Text 51"/>
          <p:cNvSpPr txBox="1"/>
          <p:nvPr/>
        </p:nvSpPr>
        <p:spPr>
          <a:xfrm>
            <a:off x="8010144" y="525780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55" name="Shape 52"/>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sp>
      <p:sp>
        <p:nvSpPr>
          <p:cNvPr id="56" name="Text 53"/>
          <p:cNvSpPr txBox="1"/>
          <p:nvPr/>
        </p:nvSpPr>
        <p:spPr>
          <a:xfrm>
            <a:off x="9921240" y="4617720"/>
            <a:ext cx="1627632" cy="548640"/>
          </a:xfrm>
          <a:prstGeom prst="rect">
            <a:avLst/>
          </a:prstGeom>
          <a:noFill/>
          <a:ln/>
        </p:spPr>
        <p:txBody>
          <a:bodyPr wrap="square" lIns="0" tIns="0" rIns="0" bIns="0" rtlCol="0" anchor="ctr">
            <a:normAutofit/>
          </a:bodyP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never trust client</a:t>
            </a:r>
            <a:endParaRPr lang="en-US" sz="1200" dirty="0"/>
          </a:p>
        </p:txBody>
      </p:sp>
      <p:sp>
        <p:nvSpPr>
          <p:cNvPr id="57" name="Text 54"/>
          <p:cNvSpPr txBox="1"/>
          <p:nvPr/>
        </p:nvSpPr>
        <p:spPr>
          <a:xfrm>
            <a:off x="9875520" y="5257800"/>
            <a:ext cx="1719072" cy="320040"/>
          </a:xfrm>
          <a:prstGeom prst="rect">
            <a:avLst/>
          </a:prstGeom>
          <a:noFill/>
          <a:ln/>
        </p:spPr>
        <p:txBody>
          <a:bodyPr wrap="square" lIns="0" tIns="0" rIns="0" bIns="0" rtlCol="0" anchor="t"/>
          <a:lstStyle/>
          <a:p>
            <a:pPr algn="ctr" indent="0" marL="0">
              <a:buNone/>
            </a:pPr>
            <a:r>
              <a:rPr lang="en-US" sz="1200" dirty="0">
                <a:solidFill>
                  <a:srgbClr val="56657E"/>
                </a:solidFill>
                <a:latin typeface="Calibri" pitchFamily="34" charset="0"/>
                <a:ea typeface="Calibri" pitchFamily="34" charset="-122"/>
                <a:cs typeface="Calibri" pitchFamily="34" charset="-120"/>
              </a:rPr>
              <a:t>Every mission</a:t>
            </a:r>
            <a:endParaRPr lang="en-US" sz="1200" dirty="0"/>
          </a:p>
        </p:txBody>
      </p:sp>
      <p:sp>
        <p:nvSpPr>
          <p:cNvPr id="58" name="Text 55"/>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500" b="1" dirty="0">
                <a:solidFill>
                  <a:srgbClr val="12213A"/>
                </a:solidFill>
                <a:latin typeface="Calibri" pitchFamily="34" charset="0"/>
                <a:ea typeface="Calibri" pitchFamily="34" charset="-122"/>
                <a:cs typeface="Calibri" pitchFamily="34" charset="-120"/>
              </a:rPr>
              <a:t>Eighteen web security skills, used in a real browser, in one session.</a:t>
            </a:r>
            <a:endParaRPr lang="en-US" sz="1500" dirty="0"/>
          </a:p>
        </p:txBody>
      </p:sp>
      <p:sp>
        <p:nvSpPr>
          <p:cNvPr id="59" name="Text 5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36 / 61</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4" name="Shape 1"/>
          <p:cNvSpPr/>
          <p:nvPr/>
        </p:nvSpPr>
        <p:spPr>
          <a:xfrm>
            <a:off x="548640" y="1554480"/>
            <a:ext cx="731520" cy="731520"/>
          </a:xfrm>
          <a:prstGeom prst="ellipse">
            <a:avLst/>
          </a:prstGeom>
          <a:solidFill>
            <a:srgbClr val="17875A"/>
          </a:solidFill>
          <a:ln/>
        </p:spPr>
      </p:sp>
      <p:pic>
        <p:nvPicPr>
          <p:cNvPr id="5" name="Image 0" descr="preencoded.png">    </p:cNvPr>
          <p:cNvPicPr>
            <a:picLocks noChangeAspect="1"/>
          </p:cNvPicPr>
          <p:nvPr/>
        </p:nvPicPr>
        <p:blipFill>
          <a:blip r:embed="rId1"/>
          <a:stretch>
            <a:fillRect/>
          </a:stretch>
        </p:blipFill>
        <p:spPr>
          <a:xfrm>
            <a:off x="731520" y="1737360"/>
            <a:ext cx="365760" cy="365760"/>
          </a:xfrm>
          <a:prstGeom prst="rect">
            <a:avLst/>
          </a:prstGeom>
        </p:spPr>
      </p:pic>
      <p:sp>
        <p:nvSpPr>
          <p:cNvPr id="6" name="Text 2"/>
          <p:cNvSpPr txBox="1"/>
          <p:nvPr/>
        </p:nvSpPr>
        <p:spPr>
          <a:xfrm>
            <a:off x="1508760" y="155448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Find the bug</a:t>
            </a:r>
            <a:endParaRPr lang="en-US" sz="1800" dirty="0"/>
          </a:p>
        </p:txBody>
      </p:sp>
      <p:sp>
        <p:nvSpPr>
          <p:cNvPr id="7" name="Text 3"/>
          <p:cNvSpPr txBox="1"/>
          <p:nvPr/>
        </p:nvSpPr>
        <p:spPr>
          <a:xfrm>
            <a:off x="1508760" y="193852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Penetration testers and bug-bounty hunters look for exactly these flaws, with permission</a:t>
            </a:r>
            <a:endParaRPr lang="en-US" sz="1500" dirty="0"/>
          </a:p>
        </p:txBody>
      </p:sp>
      <p:sp>
        <p:nvSpPr>
          <p:cNvPr id="8" name="Shape 4"/>
          <p:cNvSpPr/>
          <p:nvPr/>
        </p:nvSpPr>
        <p:spPr>
          <a:xfrm>
            <a:off x="548640" y="2651760"/>
            <a:ext cx="731520" cy="731520"/>
          </a:xfrm>
          <a:prstGeom prst="ellipse">
            <a:avLst/>
          </a:prstGeom>
          <a:solidFill>
            <a:srgbClr val="5B6EE1"/>
          </a:solidFill>
          <a:ln/>
        </p:spPr>
      </p:sp>
      <p:pic>
        <p:nvPicPr>
          <p:cNvPr id="9" name="Image 1" descr="preencoded.png">    </p:cNvPr>
          <p:cNvPicPr>
            <a:picLocks noChangeAspect="1"/>
          </p:cNvPicPr>
          <p:nvPr/>
        </p:nvPicPr>
        <p:blipFill>
          <a:blip r:embed="rId2"/>
          <a:stretch>
            <a:fillRect/>
          </a:stretch>
        </p:blipFill>
        <p:spPr>
          <a:xfrm>
            <a:off x="731520" y="2834640"/>
            <a:ext cx="365760" cy="365760"/>
          </a:xfrm>
          <a:prstGeom prst="rect">
            <a:avLst/>
          </a:prstGeom>
        </p:spPr>
      </p:pic>
      <p:sp>
        <p:nvSpPr>
          <p:cNvPr id="10" name="Text 5"/>
          <p:cNvSpPr txBox="1"/>
          <p:nvPr/>
        </p:nvSpPr>
        <p:spPr>
          <a:xfrm>
            <a:off x="1508760" y="265176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Fix the trust</a:t>
            </a:r>
            <a:endParaRPr lang="en-US" sz="1800" dirty="0"/>
          </a:p>
        </p:txBody>
      </p:sp>
      <p:sp>
        <p:nvSpPr>
          <p:cNvPr id="11" name="Text 6"/>
          <p:cNvSpPr txBox="1"/>
          <p:nvPr/>
        </p:nvSpPr>
        <p:spPr>
          <a:xfrm>
            <a:off x="1508760" y="303580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Engineers move every real check onto the server and clean all input</a:t>
            </a:r>
            <a:endParaRPr lang="en-US" sz="1500" dirty="0"/>
          </a:p>
        </p:txBody>
      </p:sp>
      <p:sp>
        <p:nvSpPr>
          <p:cNvPr id="12" name="Shape 7"/>
          <p:cNvSpPr/>
          <p:nvPr/>
        </p:nvSpPr>
        <p:spPr>
          <a:xfrm>
            <a:off x="548640" y="3749040"/>
            <a:ext cx="731520" cy="731520"/>
          </a:xfrm>
          <a:prstGeom prst="ellipse">
            <a:avLst/>
          </a:prstGeom>
          <a:solidFill>
            <a:srgbClr val="C9A227"/>
          </a:solidFill>
          <a:ln/>
        </p:spPr>
      </p:sp>
      <p:pic>
        <p:nvPicPr>
          <p:cNvPr id="13" name="Image 2" descr="preencoded.png">    </p:cNvPr>
          <p:cNvPicPr>
            <a:picLocks noChangeAspect="1"/>
          </p:cNvPicPr>
          <p:nvPr/>
        </p:nvPicPr>
        <p:blipFill>
          <a:blip r:embed="rId3"/>
          <a:stretch>
            <a:fillRect/>
          </a:stretch>
        </p:blipFill>
        <p:spPr>
          <a:xfrm>
            <a:off x="731520" y="3931920"/>
            <a:ext cx="365760" cy="365760"/>
          </a:xfrm>
          <a:prstGeom prst="rect">
            <a:avLst/>
          </a:prstGeom>
        </p:spPr>
      </p:pic>
      <p:sp>
        <p:nvSpPr>
          <p:cNvPr id="14" name="Text 8"/>
          <p:cNvSpPr txBox="1"/>
          <p:nvPr/>
        </p:nvSpPr>
        <p:spPr>
          <a:xfrm>
            <a:off x="1508760" y="374904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Review the code</a:t>
            </a:r>
            <a:endParaRPr lang="en-US" sz="1800" dirty="0"/>
          </a:p>
        </p:txBody>
      </p:sp>
      <p:sp>
        <p:nvSpPr>
          <p:cNvPr id="15" name="Text 9"/>
          <p:cNvSpPr txBox="1"/>
          <p:nvPr/>
        </p:nvSpPr>
        <p:spPr>
          <a:xfrm>
            <a:off x="1508760" y="413308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Security reviewers read source and JavaScript for leaked secrets and bad checks</a:t>
            </a:r>
            <a:endParaRPr lang="en-US" sz="1500" dirty="0"/>
          </a:p>
        </p:txBody>
      </p:sp>
      <p:sp>
        <p:nvSpPr>
          <p:cNvPr id="16" name="Shape 10"/>
          <p:cNvSpPr/>
          <p:nvPr/>
        </p:nvSpPr>
        <p:spPr>
          <a:xfrm>
            <a:off x="548640" y="4846320"/>
            <a:ext cx="731520" cy="731520"/>
          </a:xfrm>
          <a:prstGeom prst="ellipse">
            <a:avLst/>
          </a:prstGeom>
          <a:solidFill>
            <a:srgbClr val="2459D8"/>
          </a:solidFill>
          <a:ln/>
        </p:spPr>
      </p:sp>
      <p:pic>
        <p:nvPicPr>
          <p:cNvPr id="17" name="Image 3" descr="preencoded.png">    </p:cNvPr>
          <p:cNvPicPr>
            <a:picLocks noChangeAspect="1"/>
          </p:cNvPicPr>
          <p:nvPr/>
        </p:nvPicPr>
        <p:blipFill>
          <a:blip r:embed="rId4"/>
          <a:stretch>
            <a:fillRect/>
          </a:stretch>
        </p:blipFill>
        <p:spPr>
          <a:xfrm>
            <a:off x="731520" y="5029200"/>
            <a:ext cx="365760" cy="365760"/>
          </a:xfrm>
          <a:prstGeom prst="rect">
            <a:avLst/>
          </a:prstGeom>
        </p:spPr>
      </p:pic>
      <p:sp>
        <p:nvSpPr>
          <p:cNvPr id="18" name="Text 11"/>
          <p:cNvSpPr txBox="1"/>
          <p:nvPr/>
        </p:nvSpPr>
        <p:spPr>
          <a:xfrm>
            <a:off x="1508760" y="4846320"/>
            <a:ext cx="5486400" cy="36576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Build it right</a:t>
            </a:r>
            <a:endParaRPr lang="en-US" sz="1800" dirty="0"/>
          </a:p>
        </p:txBody>
      </p:sp>
      <p:sp>
        <p:nvSpPr>
          <p:cNvPr id="19" name="Text 12"/>
          <p:cNvSpPr txBox="1"/>
          <p:nvPr/>
        </p:nvSpPr>
        <p:spPr>
          <a:xfrm>
            <a:off x="1508760" y="5230368"/>
            <a:ext cx="5669280" cy="548640"/>
          </a:xfrm>
          <a:prstGeom prst="rect">
            <a:avLst/>
          </a:prstGeom>
          <a:noFill/>
          <a:ln/>
        </p:spPr>
        <p:txBody>
          <a:bodyPr wrap="square" lIns="0" tIns="0" rIns="0" bIns="0" rtlCol="0" anchor="t"/>
          <a:lstStyle/>
          <a:p>
            <a:pPr indent="0" marL="0">
              <a:buNone/>
            </a:pPr>
            <a:r>
              <a:rPr lang="en-US" sz="1500" dirty="0">
                <a:solidFill>
                  <a:srgbClr val="56657E"/>
                </a:solidFill>
                <a:latin typeface="Calibri" pitchFamily="34" charset="0"/>
                <a:ea typeface="Calibri" pitchFamily="34" charset="-122"/>
                <a:cs typeface="Calibri" pitchFamily="34" charset="-120"/>
              </a:rPr>
              <a:t>Developers ship apps that never trust the client, using tested frameworks</a:t>
            </a:r>
            <a:endParaRPr lang="en-US" sz="1500" dirty="0"/>
          </a:p>
        </p:txBody>
      </p:sp>
      <p:sp>
        <p:nvSpPr>
          <p:cNvPr id="20" name="Shape 13"/>
          <p:cNvSpPr/>
          <p:nvPr/>
        </p:nvSpPr>
        <p:spPr>
          <a:xfrm>
            <a:off x="7406640" y="1554480"/>
            <a:ext cx="4233672" cy="4343400"/>
          </a:xfrm>
          <a:prstGeom prst="roundRect">
            <a:avLst>
              <a:gd name="adj" fmla="val 2160"/>
            </a:avLst>
          </a:prstGeom>
          <a:solidFill>
            <a:srgbClr val="F1F5FB"/>
          </a:solidFill>
          <a:ln/>
        </p:spPr>
      </p:sp>
      <p:sp>
        <p:nvSpPr>
          <p:cNvPr id="21" name="Text 14"/>
          <p:cNvSpPr txBox="1"/>
          <p:nvPr/>
        </p:nvSpPr>
        <p:spPr>
          <a:xfrm>
            <a:off x="7726680" y="1783080"/>
            <a:ext cx="3657600" cy="411480"/>
          </a:xfrm>
          <a:prstGeom prst="rect">
            <a:avLst/>
          </a:prstGeom>
          <a:noFill/>
          <a:ln/>
        </p:spPr>
        <p:txBody>
          <a:bodyPr wrap="square" lIns="0" tIns="0" rIns="0" bIns="0" rtlCol="0" anchor="t"/>
          <a:lstStyle/>
          <a:p>
            <a:pPr indent="0" marL="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2" name="Text 15"/>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surprised you most?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bug was 'the server trusted me' rather than a clever trick?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Why is a password check in JavaScript a bad idea?</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a cookie or a token in real life?</a:t>
            </a:r>
            <a:endParaRPr lang="en-US" sz="1600" dirty="0"/>
          </a:p>
        </p:txBody>
      </p:sp>
      <p:sp>
        <p:nvSpPr>
          <p:cNvPr id="23" name="Text 1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37 / 61</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Keep climbing</a:t>
            </a:r>
            <a:endParaRPr lang="en-US" sz="3200" dirty="0"/>
          </a:p>
        </p:txBody>
      </p:sp>
      <p:sp>
        <p:nvSpPr>
          <p:cNvPr id="4" name="Shape 1"/>
          <p:cNvSpPr/>
          <p:nvPr/>
        </p:nvSpPr>
        <p:spPr>
          <a:xfrm>
            <a:off x="548640" y="1554480"/>
            <a:ext cx="3566160" cy="3017520"/>
          </a:xfrm>
          <a:prstGeom prst="roundRect">
            <a:avLst>
              <a:gd name="adj" fmla="val 3030"/>
            </a:avLst>
          </a:prstGeom>
          <a:solidFill>
            <a:srgbClr val="F1F5FB"/>
          </a:solidFill>
          <a:ln/>
        </p:spPr>
      </p:sp>
      <p:sp>
        <p:nvSpPr>
          <p:cNvPr id="5" name="Text 2"/>
          <p:cNvSpPr txBox="1"/>
          <p:nvPr/>
        </p:nvSpPr>
        <p:spPr>
          <a:xfrm>
            <a:off x="822960" y="1783080"/>
            <a:ext cx="3108960" cy="457200"/>
          </a:xfrm>
          <a:prstGeom prst="rect">
            <a:avLst/>
          </a:prstGeom>
          <a:noFill/>
          <a:ln/>
        </p:spPr>
        <p:txBody>
          <a:bodyPr wrap="square" lIns="0" tIns="0" rIns="0" bIns="0" rtlCol="0" anchor="t"/>
          <a:lstStyle/>
          <a:p>
            <a:pPr indent="0" marL="0">
              <a:buNone/>
            </a:pPr>
            <a:r>
              <a:rPr lang="en-US" sz="2000" b="1" dirty="0">
                <a:solidFill>
                  <a:srgbClr val="2459D8"/>
                </a:solidFill>
                <a:latin typeface="Arial" pitchFamily="34" charset="0"/>
                <a:ea typeface="Arial" pitchFamily="34" charset="-122"/>
                <a:cs typeface="Arial" pitchFamily="34" charset="-120"/>
              </a:rPr>
              <a:t>Next: CyberQuest</a:t>
            </a:r>
            <a:endParaRPr lang="en-US" sz="2000" dirty="0"/>
          </a:p>
        </p:txBody>
      </p:sp>
      <p:sp>
        <p:nvSpPr>
          <p:cNvPr id="6" name="Text 3"/>
          <p:cNvSpPr txBox="1"/>
          <p:nvPr/>
        </p:nvSpPr>
        <p:spPr>
          <a:xfrm>
            <a:off x="822960" y="2331720"/>
            <a:ext cx="3108960" cy="457200"/>
          </a:xfrm>
          <a:prstGeom prst="rect">
            <a:avLst/>
          </a:prstGeom>
          <a:noFill/>
          <a:ln/>
        </p:spPr>
        <p:txBody>
          <a:bodyPr wrap="square" lIns="0" tIns="0" rIns="0" bIns="0" rtlCol="0" anchor="t">
            <a:normAutofit/>
          </a:bodyPr>
          <a:lstStyle/>
          <a:p>
            <a:pPr indent="0" marL="0">
              <a:buNone/>
            </a:pPr>
            <a:r>
              <a:rPr lang="en-US" sz="1250" b="1" dirty="0">
                <a:solidFill>
                  <a:srgbClr val="12213A"/>
                </a:solidFill>
                <a:latin typeface="Courier New" pitchFamily="34" charset="0"/>
                <a:ea typeface="Courier New" pitchFamily="34" charset="-122"/>
                <a:cs typeface="Courier New" pitchFamily="34" charset="-120"/>
              </a:rPr>
              <a:t>[CyberQuest Academy link]</a:t>
            </a:r>
            <a:endParaRPr lang="en-US" sz="1250" dirty="0"/>
          </a:p>
        </p:txBody>
      </p:sp>
      <p:sp>
        <p:nvSpPr>
          <p:cNvPr id="7" name="Text 4"/>
          <p:cNvSpPr txBox="1"/>
          <p:nvPr/>
        </p:nvSpPr>
        <p:spPr>
          <a:xfrm>
            <a:off x="822960"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More CTFs, live scoreboards and harder missions are waiting for you there.</a:t>
            </a:r>
            <a:endParaRPr lang="en-US" sz="1600" dirty="0"/>
          </a:p>
        </p:txBody>
      </p:sp>
      <p:sp>
        <p:nvSpPr>
          <p:cNvPr id="8" name="Shape 5"/>
          <p:cNvSpPr/>
          <p:nvPr/>
        </p:nvSpPr>
        <p:spPr>
          <a:xfrm>
            <a:off x="4306824" y="1554480"/>
            <a:ext cx="3566160" cy="3017520"/>
          </a:xfrm>
          <a:prstGeom prst="roundRect">
            <a:avLst>
              <a:gd name="adj" fmla="val 3030"/>
            </a:avLst>
          </a:prstGeom>
          <a:solidFill>
            <a:srgbClr val="F1F5FB"/>
          </a:solidFill>
          <a:ln/>
        </p:spPr>
      </p:sp>
      <p:sp>
        <p:nvSpPr>
          <p:cNvPr id="9" name="Text 6"/>
          <p:cNvSpPr txBox="1"/>
          <p:nvPr/>
        </p:nvSpPr>
        <p:spPr>
          <a:xfrm>
            <a:off x="4581144" y="1783080"/>
            <a:ext cx="3108960" cy="457200"/>
          </a:xfrm>
          <a:prstGeom prst="rect">
            <a:avLst/>
          </a:prstGeom>
          <a:noFill/>
          <a:ln/>
        </p:spPr>
        <p:txBody>
          <a:bodyPr wrap="square" lIns="0" tIns="0" rIns="0" bIns="0" rtlCol="0" anchor="t"/>
          <a:lstStyle/>
          <a:p>
            <a:pPr indent="0" marL="0">
              <a:buNone/>
            </a:pPr>
            <a:r>
              <a:rPr lang="en-US" sz="2000" b="1" dirty="0">
                <a:solidFill>
                  <a:srgbClr val="7448D4"/>
                </a:solidFill>
                <a:latin typeface="Arial" pitchFamily="34" charset="0"/>
                <a:ea typeface="Arial" pitchFamily="34" charset="-122"/>
                <a:cs typeface="Arial" pitchFamily="34" charset="-120"/>
              </a:rPr>
              <a:t>Replay the Web CTF</a:t>
            </a:r>
            <a:endParaRPr lang="en-US" sz="2000" dirty="0"/>
          </a:p>
        </p:txBody>
      </p:sp>
      <p:sp>
        <p:nvSpPr>
          <p:cNvPr id="10" name="Text 7"/>
          <p:cNvSpPr txBox="1"/>
          <p:nvPr/>
        </p:nvSpPr>
        <p:spPr>
          <a:xfrm>
            <a:off x="4581144" y="2331720"/>
            <a:ext cx="3108960" cy="457200"/>
          </a:xfrm>
          <a:prstGeom prst="rect">
            <a:avLst/>
          </a:prstGeom>
          <a:noFill/>
          <a:ln/>
        </p:spPr>
        <p:txBody>
          <a:bodyPr wrap="square" lIns="0" tIns="0" rIns="0" bIns="0" rtlCol="0" anchor="t">
            <a:normAutofit/>
          </a:bodyPr>
          <a:lstStyle/>
          <a:p>
            <a:pPr indent="0" marL="0">
              <a:buNone/>
            </a:pPr>
            <a:r>
              <a:rPr lang="en-US" sz="1250" b="1" dirty="0">
                <a:solidFill>
                  <a:srgbClr val="12213A"/>
                </a:solidFill>
                <a:latin typeface="Courier New" pitchFamily="34" charset="0"/>
                <a:ea typeface="Courier New" pitchFamily="34" charset="-122"/>
                <a:cs typeface="Courier New" pitchFamily="34" charset="-120"/>
              </a:rPr>
              <a:t>[your CTF link]/web/</a:t>
            </a:r>
            <a:endParaRPr lang="en-US" sz="1250" dirty="0"/>
          </a:p>
        </p:txBody>
      </p:sp>
      <p:sp>
        <p:nvSpPr>
          <p:cNvPr id="11" name="Text 8"/>
          <p:cNvSpPr txBox="1"/>
          <p:nvPr/>
        </p:nvSpPr>
        <p:spPr>
          <a:xfrm>
            <a:off x="4581144"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Works at home. New flags on every replay. Beat your time.</a:t>
            </a:r>
            <a:endParaRPr lang="en-US" sz="1600" dirty="0"/>
          </a:p>
        </p:txBody>
      </p:sp>
      <p:sp>
        <p:nvSpPr>
          <p:cNvPr id="12" name="Shape 9"/>
          <p:cNvSpPr/>
          <p:nvPr/>
        </p:nvSpPr>
        <p:spPr>
          <a:xfrm>
            <a:off x="8065008" y="1554480"/>
            <a:ext cx="3566160" cy="3017520"/>
          </a:xfrm>
          <a:prstGeom prst="roundRect">
            <a:avLst>
              <a:gd name="adj" fmla="val 3030"/>
            </a:avLst>
          </a:prstGeom>
          <a:solidFill>
            <a:srgbClr val="F1F5FB"/>
          </a:solidFill>
          <a:ln/>
        </p:spPr>
      </p:sp>
      <p:sp>
        <p:nvSpPr>
          <p:cNvPr id="13" name="Text 10"/>
          <p:cNvSpPr txBox="1"/>
          <p:nvPr/>
        </p:nvSpPr>
        <p:spPr>
          <a:xfrm>
            <a:off x="8339328" y="1783080"/>
            <a:ext cx="3108960" cy="457200"/>
          </a:xfrm>
          <a:prstGeom prst="rect">
            <a:avLst/>
          </a:prstGeom>
          <a:noFill/>
          <a:ln/>
        </p:spPr>
        <p:txBody>
          <a:bodyPr wrap="square" lIns="0" tIns="0" rIns="0" bIns="0" rtlCol="0" anchor="t"/>
          <a:lstStyle/>
          <a:p>
            <a:pPr indent="0" marL="0">
              <a:buNone/>
            </a:pPr>
            <a:r>
              <a:rPr lang="en-US" sz="2000" b="1" dirty="0">
                <a:solidFill>
                  <a:srgbClr val="D1416B"/>
                </a:solidFill>
                <a:latin typeface="Arial" pitchFamily="34" charset="0"/>
                <a:ea typeface="Arial" pitchFamily="34" charset="-122"/>
                <a:cs typeface="Arial" pitchFamily="34" charset="-120"/>
              </a:rPr>
              <a:t>OWASP Juice Shop</a:t>
            </a:r>
            <a:endParaRPr lang="en-US" sz="2000" dirty="0"/>
          </a:p>
        </p:txBody>
      </p:sp>
      <p:sp>
        <p:nvSpPr>
          <p:cNvPr id="14" name="Text 11"/>
          <p:cNvSpPr txBox="1"/>
          <p:nvPr/>
        </p:nvSpPr>
        <p:spPr>
          <a:xfrm>
            <a:off x="8339328" y="2331720"/>
            <a:ext cx="3108960" cy="457200"/>
          </a:xfrm>
          <a:prstGeom prst="rect">
            <a:avLst/>
          </a:prstGeom>
          <a:noFill/>
          <a:ln/>
        </p:spPr>
        <p:txBody>
          <a:bodyPr wrap="square" lIns="0" tIns="0" rIns="0" bIns="0" rtlCol="0" anchor="t">
            <a:normAutofit/>
          </a:bodyPr>
          <a:lstStyle/>
          <a:p>
            <a:pPr indent="0" marL="0">
              <a:buNone/>
            </a:pPr>
            <a:r>
              <a:rPr lang="en-US" sz="1250" b="1" dirty="0">
                <a:solidFill>
                  <a:srgbClr val="12213A"/>
                </a:solidFill>
                <a:latin typeface="Courier New" pitchFamily="34" charset="0"/>
                <a:ea typeface="Courier New" pitchFamily="34" charset="-122"/>
                <a:cs typeface="Courier New" pitchFamily="34" charset="-120"/>
              </a:rPr>
              <a:t>owasp.org/www-project-juice-shop</a:t>
            </a:r>
            <a:endParaRPr lang="en-US" sz="1250" dirty="0"/>
          </a:p>
        </p:txBody>
      </p:sp>
      <p:sp>
        <p:nvSpPr>
          <p:cNvPr id="15" name="Text 12"/>
          <p:cNvSpPr txBox="1"/>
          <p:nvPr/>
        </p:nvSpPr>
        <p:spPr>
          <a:xfrm>
            <a:off x="8339328" y="2880360"/>
            <a:ext cx="3017520" cy="155448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A free, legal, deliberately broken app built just for practice.</a:t>
            </a:r>
            <a:endParaRPr lang="en-US" sz="1600" dirty="0"/>
          </a:p>
        </p:txBody>
      </p:sp>
      <p:sp>
        <p:nvSpPr>
          <p:cNvPr id="16" name="Shape 13"/>
          <p:cNvSpPr/>
          <p:nvPr/>
        </p:nvSpPr>
        <p:spPr>
          <a:xfrm>
            <a:off x="548640" y="4846320"/>
            <a:ext cx="11094415" cy="1051560"/>
          </a:xfrm>
          <a:prstGeom prst="roundRect">
            <a:avLst>
              <a:gd name="adj" fmla="val 8696"/>
            </a:avLst>
          </a:prstGeom>
          <a:solidFill>
            <a:srgbClr val="FFF4DC"/>
          </a:solidFill>
          <a:ln/>
        </p:spPr>
      </p:sp>
      <p:sp>
        <p:nvSpPr>
          <p:cNvPr id="17" name="Text 14"/>
          <p:cNvSpPr txBox="1"/>
          <p:nvPr/>
        </p:nvSpPr>
        <p:spPr>
          <a:xfrm>
            <a:off x="868680" y="4846320"/>
            <a:ext cx="10454335" cy="1051560"/>
          </a:xfrm>
          <a:prstGeom prst="rect">
            <a:avLst/>
          </a:prstGeom>
          <a:noFill/>
          <a:ln/>
        </p:spPr>
        <p:txBody>
          <a:bodyPr wrap="square" lIns="0" tIns="0" rIns="0" bIns="0" rtlCol="0" anchor="ctr"/>
          <a:lstStyle/>
          <a:p>
            <a:pPr indent="0" marL="0">
              <a:buNone/>
            </a:pPr>
            <a:r>
              <a:rPr lang="en-US" sz="1700" b="1" dirty="0">
                <a:solidFill>
                  <a:srgbClr val="12213A"/>
                </a:solidFill>
                <a:latin typeface="Calibri" pitchFamily="34" charset="0"/>
                <a:ea typeface="Calibri" pitchFamily="34" charset="-122"/>
                <a:cs typeface="Calibri" pitchFamily="34" charset="-120"/>
              </a:rPr>
              <a:t>The one rule: </a:t>
            </a:r>
            <a:pPr indent="0" marL="0">
              <a:buNone/>
            </a:pPr>
            <a:r>
              <a:rPr lang="en-US" sz="1700" dirty="0">
                <a:solidFill>
                  <a:srgbClr val="12213A"/>
                </a:solidFill>
                <a:latin typeface="Calibri" pitchFamily="34" charset="0"/>
                <a:ea typeface="Calibri" pitchFamily="34" charset="-122"/>
                <a:cs typeface="Calibri" pitchFamily="34" charset="-120"/>
              </a:rPr>
              <a:t>only ever test apps you own or have permission to test. In a CTF you have permission. Everywhere else, get it first.</a:t>
            </a:r>
            <a:endParaRPr lang="en-US" sz="1700" dirty="0"/>
          </a:p>
        </p:txBody>
      </p:sp>
      <p:sp>
        <p:nvSpPr>
          <p:cNvPr id="18" name="Text 1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38 / 61</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7F8FAD"/>
                </a:solidFill>
                <a:latin typeface="Calibri" pitchFamily="34" charset="0"/>
                <a:ea typeface="Calibri" pitchFamily="34" charset="-122"/>
                <a:cs typeface="Calibri" pitchFamily="34" charset="-120"/>
              </a:rPr>
              <a:t>Lockheed Martin CyberQuest® Academy   ·   Web CTF</a:t>
            </a:r>
            <a:endParaRPr lang="en-US" sz="1000" dirty="0"/>
          </a:p>
        </p:txBody>
      </p:sp>
      <p:sp>
        <p:nvSpPr>
          <p:cNvPr id="4" name="Text 1"/>
          <p:cNvSpPr txBox="1"/>
          <p:nvPr/>
        </p:nvSpPr>
        <p:spPr>
          <a:xfrm>
            <a:off x="548640" y="1371600"/>
            <a:ext cx="10058400" cy="914400"/>
          </a:xfrm>
          <a:prstGeom prst="rect">
            <a:avLst/>
          </a:prstGeom>
          <a:noFill/>
          <a:ln/>
        </p:spPr>
        <p:txBody>
          <a:bodyPr wrap="square" lIns="0" tIns="0" rIns="0" bIns="0" rtlCol="0" anchor="ctr"/>
          <a:lstStyle/>
          <a:p>
            <a:pPr indent="0" marL="0">
              <a:buNone/>
            </a:pPr>
            <a:r>
              <a:rPr lang="en-US" sz="4000" b="1" dirty="0">
                <a:solidFill>
                  <a:srgbClr val="7F8FAD"/>
                </a:solidFill>
                <a:latin typeface="Arial" pitchFamily="34" charset="0"/>
                <a:ea typeface="Arial" pitchFamily="34" charset="-122"/>
                <a:cs typeface="Arial" pitchFamily="34" charset="-120"/>
              </a:rPr>
              <a:t>Mentor</a:t>
            </a:r>
            <a:endParaRPr lang="en-US" sz="4000" dirty="0"/>
          </a:p>
        </p:txBody>
      </p:sp>
      <p:sp>
        <p:nvSpPr>
          <p:cNvPr id="5" name="Text 2"/>
          <p:cNvSpPr txBox="1"/>
          <p:nvPr/>
        </p:nvSpPr>
        <p:spPr>
          <a:xfrm>
            <a:off x="548640" y="2148840"/>
            <a:ext cx="10058400" cy="1463040"/>
          </a:xfrm>
          <a:prstGeom prst="rect">
            <a:avLst/>
          </a:prstGeom>
          <a:noFill/>
          <a:ln/>
        </p:spPr>
        <p:txBody>
          <a:bodyPr wrap="square" lIns="0" tIns="0" rIns="0" bIns="0" rtlCol="0" anchor="ctr"/>
          <a:lstStyle/>
          <a:p>
            <a:pPr indent="0" marL="0">
              <a:buNone/>
            </a:pPr>
            <a:r>
              <a:rPr lang="en-US" sz="9200" b="1" dirty="0">
                <a:solidFill>
                  <a:srgbClr val="FFFFFF"/>
                </a:solidFill>
                <a:latin typeface="Arial" pitchFamily="34" charset="0"/>
                <a:ea typeface="Arial" pitchFamily="34" charset="-122"/>
                <a:cs typeface="Arial" pitchFamily="34" charset="-120"/>
              </a:rPr>
              <a:t>Appendix</a:t>
            </a:r>
            <a:endParaRPr lang="en-US" sz="9200" dirty="0"/>
          </a:p>
        </p:txBody>
      </p:sp>
      <p:sp>
        <p:nvSpPr>
          <p:cNvPr id="6" name="Text 3"/>
          <p:cNvSpPr txBox="1"/>
          <p:nvPr/>
        </p:nvSpPr>
        <p:spPr>
          <a:xfrm>
            <a:off x="548640" y="3794760"/>
            <a:ext cx="9601200" cy="914400"/>
          </a:xfrm>
          <a:prstGeom prst="rect">
            <a:avLst/>
          </a:prstGeom>
          <a:noFill/>
          <a:ln/>
        </p:spPr>
        <p:txBody>
          <a:bodyPr wrap="square" lIns="0" tIns="0" rIns="0" bIns="0" rtlCol="0" anchor="t"/>
          <a:lstStyle/>
          <a:p>
            <a:pPr indent="0" marL="0">
              <a:buNone/>
            </a:pPr>
            <a:r>
              <a:rPr lang="en-US" sz="2200" dirty="0">
                <a:solidFill>
                  <a:srgbClr val="B8C4D9"/>
                </a:solidFill>
                <a:latin typeface="Calibri" pitchFamily="34" charset="0"/>
                <a:ea typeface="Calibri" pitchFamily="34" charset="-122"/>
                <a:cs typeface="Calibri" pitchFamily="34" charset="-120"/>
              </a:rPr>
              <a:t>The page layout, the mechanics, the answer key, and what to do when things go wrong.</a:t>
            </a:r>
            <a:endParaRPr lang="en-US" sz="2200" dirty="0"/>
          </a:p>
        </p:txBody>
      </p:sp>
      <p:sp>
        <p:nvSpPr>
          <p:cNvPr id="7" name="Shape 4"/>
          <p:cNvSpPr/>
          <p:nvPr/>
        </p:nvSpPr>
        <p:spPr>
          <a:xfrm>
            <a:off x="548640" y="4892040"/>
            <a:ext cx="11094415" cy="822960"/>
          </a:xfrm>
          <a:prstGeom prst="roundRect">
            <a:avLst>
              <a:gd name="adj" fmla="val 11111"/>
            </a:avLst>
          </a:prstGeom>
          <a:solidFill>
            <a:srgbClr val="162238"/>
          </a:solidFill>
          <a:ln/>
        </p:spPr>
      </p:sp>
      <p:sp>
        <p:nvSpPr>
          <p:cNvPr id="8" name="Text 5"/>
          <p:cNvSpPr txBox="1"/>
          <p:nvPr/>
        </p:nvSpPr>
        <p:spPr>
          <a:xfrm>
            <a:off x="868680" y="4892040"/>
            <a:ext cx="10454335" cy="822960"/>
          </a:xfrm>
          <a:prstGeom prst="rect">
            <a:avLst/>
          </a:prstGeom>
          <a:noFill/>
          <a:ln/>
        </p:spPr>
        <p:txBody>
          <a:bodyPr wrap="square" lIns="0" tIns="0" rIns="0" bIns="0" rtlCol="0" anchor="ctr"/>
          <a:lstStyle/>
          <a:p>
            <a:pPr indent="0" marL="0">
              <a:buNone/>
            </a:pPr>
            <a:r>
              <a:rPr lang="en-US" sz="2000" b="1" dirty="0">
                <a:solidFill>
                  <a:srgbClr val="46D39A"/>
                </a:solidFill>
                <a:latin typeface="Courier New" pitchFamily="34" charset="0"/>
                <a:ea typeface="Courier New" pitchFamily="34" charset="-122"/>
                <a:cs typeface="Courier New" pitchFamily="34" charset="-120"/>
              </a:rPr>
              <a:t>$ </a:t>
            </a:r>
            <a:pPr indent="0" marL="0">
              <a:buNone/>
            </a:pPr>
            <a:r>
              <a:rPr lang="en-US" sz="2000" b="1" dirty="0">
                <a:solidFill>
                  <a:srgbClr val="FFFFFF"/>
                </a:solidFill>
                <a:latin typeface="Courier New" pitchFamily="34" charset="0"/>
                <a:ea typeface="Courier New" pitchFamily="34" charset="-122"/>
                <a:cs typeface="Courier New" pitchFamily="34" charset="-120"/>
              </a:rPr>
              <a:t>man mentor   # for the person running the room</a:t>
            </a:r>
            <a:endParaRPr lang="en-US" sz="2000" dirty="0"/>
          </a:p>
        </p:txBody>
      </p:sp>
      <p:sp>
        <p:nvSpPr>
          <p:cNvPr id="9" name="Text 6"/>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7F8FAD"/>
                </a:solidFill>
                <a:latin typeface="Calibri" pitchFamily="34" charset="0"/>
                <a:ea typeface="Calibri" pitchFamily="34" charset="-122"/>
                <a:cs typeface="Calibri" pitchFamily="34" charset="-120"/>
              </a:rPr>
              <a:t>Web CTF   ·   39 / 61</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Anatomy of the Web CTF page</a:t>
            </a:r>
            <a:endParaRPr lang="en-US" sz="3200" dirty="0"/>
          </a:p>
        </p:txBody>
      </p:sp>
      <p:sp>
        <p:nvSpPr>
          <p:cNvPr id="4" name="Shape 1"/>
          <p:cNvSpPr/>
          <p:nvPr/>
        </p:nvSpPr>
        <p:spPr>
          <a:xfrm>
            <a:off x="502920" y="1463040"/>
            <a:ext cx="6675120" cy="4114800"/>
          </a:xfrm>
          <a:prstGeom prst="roundRect">
            <a:avLst>
              <a:gd name="adj" fmla="val 1778"/>
            </a:avLst>
          </a:prstGeom>
          <a:solidFill>
            <a:srgbClr val="FFFFFF"/>
          </a:solidFill>
          <a:ln w="19050">
            <a:solidFill>
              <a:srgbClr val="D6DEEA"/>
            </a:solidFill>
            <a:prstDash val="solid"/>
          </a:ln>
          <a:effectLst>
            <a:outerShdw sx="100000" sy="100000" kx="0" ky="0" algn="bl" rotWithShape="0" blurRad="127000" dist="38100" dir="5400000">
              <a:srgbClr val="12213A">
                <a:alpha val="15000"/>
              </a:srgbClr>
            </a:outerShdw>
          </a:effectLst>
        </p:spPr>
      </p:sp>
      <p:sp>
        <p:nvSpPr>
          <p:cNvPr id="5" name="Shape 2"/>
          <p:cNvSpPr/>
          <p:nvPr/>
        </p:nvSpPr>
        <p:spPr>
          <a:xfrm>
            <a:off x="640080" y="1600200"/>
            <a:ext cx="6400800" cy="502920"/>
          </a:xfrm>
          <a:prstGeom prst="roundRect">
            <a:avLst>
              <a:gd name="adj" fmla="val 10909"/>
            </a:avLst>
          </a:prstGeom>
          <a:solidFill>
            <a:srgbClr val="11213E"/>
          </a:solidFill>
          <a:ln/>
        </p:spPr>
      </p:sp>
      <p:sp>
        <p:nvSpPr>
          <p:cNvPr id="6" name="Text 3"/>
          <p:cNvSpPr txBox="1"/>
          <p:nvPr/>
        </p:nvSpPr>
        <p:spPr>
          <a:xfrm>
            <a:off x="777240" y="1600200"/>
            <a:ext cx="2377440" cy="5029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CyberQuest · Web CTF</a:t>
            </a:r>
            <a:endParaRPr lang="en-US" sz="1200" dirty="0"/>
          </a:p>
        </p:txBody>
      </p:sp>
      <p:sp>
        <p:nvSpPr>
          <p:cNvPr id="7" name="Text 4"/>
          <p:cNvSpPr txBox="1"/>
          <p:nvPr/>
        </p:nvSpPr>
        <p:spPr>
          <a:xfrm>
            <a:off x="4709160" y="1600200"/>
            <a:ext cx="2194560" cy="502920"/>
          </a:xfrm>
          <a:prstGeom prst="rect">
            <a:avLst/>
          </a:prstGeom>
          <a:noFill/>
          <a:ln/>
        </p:spPr>
        <p:txBody>
          <a:bodyPr wrap="square" lIns="0" tIns="0" rIns="0" bIns="0" rtlCol="0" anchor="ctr"/>
          <a:lstStyle/>
          <a:p>
            <a:pPr algn="r" indent="0" marL="0">
              <a:buNone/>
            </a:pPr>
            <a:r>
              <a:rPr lang="en-US" sz="1200" b="1" dirty="0">
                <a:solidFill>
                  <a:srgbClr val="46D39A"/>
                </a:solidFill>
                <a:latin typeface="Courier New" pitchFamily="34" charset="0"/>
                <a:ea typeface="Courier New" pitchFamily="34" charset="-122"/>
                <a:cs typeface="Courier New" pitchFamily="34" charset="-120"/>
              </a:rPr>
              <a:t>1240 pts   ·   04:12</a:t>
            </a:r>
            <a:endParaRPr lang="en-US" sz="1200" dirty="0"/>
          </a:p>
        </p:txBody>
      </p:sp>
      <p:sp>
        <p:nvSpPr>
          <p:cNvPr id="8" name="Shape 5"/>
          <p:cNvSpPr/>
          <p:nvPr/>
        </p:nvSpPr>
        <p:spPr>
          <a:xfrm>
            <a:off x="777240" y="2212848"/>
            <a:ext cx="384048" cy="146304"/>
          </a:xfrm>
          <a:prstGeom prst="roundRect">
            <a:avLst>
              <a:gd name="adj" fmla="val 25000"/>
            </a:avLst>
          </a:prstGeom>
          <a:solidFill>
            <a:srgbClr val="17875A"/>
          </a:solidFill>
          <a:ln/>
        </p:spPr>
      </p:sp>
      <p:sp>
        <p:nvSpPr>
          <p:cNvPr id="9" name="Shape 6"/>
          <p:cNvSpPr/>
          <p:nvPr/>
        </p:nvSpPr>
        <p:spPr>
          <a:xfrm>
            <a:off x="1252728" y="2212848"/>
            <a:ext cx="384048" cy="146304"/>
          </a:xfrm>
          <a:prstGeom prst="roundRect">
            <a:avLst>
              <a:gd name="adj" fmla="val 25000"/>
            </a:avLst>
          </a:prstGeom>
          <a:solidFill>
            <a:srgbClr val="2A9FD6"/>
          </a:solidFill>
          <a:ln/>
        </p:spPr>
      </p:sp>
      <p:sp>
        <p:nvSpPr>
          <p:cNvPr id="10" name="Shape 7"/>
          <p:cNvSpPr/>
          <p:nvPr/>
        </p:nvSpPr>
        <p:spPr>
          <a:xfrm>
            <a:off x="1728216" y="2212848"/>
            <a:ext cx="384048" cy="146304"/>
          </a:xfrm>
          <a:prstGeom prst="roundRect">
            <a:avLst>
              <a:gd name="adj" fmla="val 25000"/>
            </a:avLst>
          </a:prstGeom>
          <a:solidFill>
            <a:srgbClr val="2459D8"/>
          </a:solidFill>
          <a:ln/>
        </p:spPr>
      </p:sp>
      <p:sp>
        <p:nvSpPr>
          <p:cNvPr id="11" name="Shape 8"/>
          <p:cNvSpPr/>
          <p:nvPr/>
        </p:nvSpPr>
        <p:spPr>
          <a:xfrm>
            <a:off x="2203704" y="2212848"/>
            <a:ext cx="384048" cy="146304"/>
          </a:xfrm>
          <a:prstGeom prst="roundRect">
            <a:avLst>
              <a:gd name="adj" fmla="val 25000"/>
            </a:avLst>
          </a:prstGeom>
          <a:solidFill>
            <a:srgbClr val="D6DEEA"/>
          </a:solidFill>
          <a:ln/>
        </p:spPr>
      </p:sp>
      <p:sp>
        <p:nvSpPr>
          <p:cNvPr id="12" name="Shape 9"/>
          <p:cNvSpPr/>
          <p:nvPr/>
        </p:nvSpPr>
        <p:spPr>
          <a:xfrm>
            <a:off x="2679192" y="2212848"/>
            <a:ext cx="384048" cy="146304"/>
          </a:xfrm>
          <a:prstGeom prst="roundRect">
            <a:avLst>
              <a:gd name="adj" fmla="val 25000"/>
            </a:avLst>
          </a:prstGeom>
          <a:solidFill>
            <a:srgbClr val="D6DEEA"/>
          </a:solidFill>
          <a:ln/>
        </p:spPr>
      </p:sp>
      <p:sp>
        <p:nvSpPr>
          <p:cNvPr id="13" name="Shape 10"/>
          <p:cNvSpPr/>
          <p:nvPr/>
        </p:nvSpPr>
        <p:spPr>
          <a:xfrm>
            <a:off x="3154680" y="2212848"/>
            <a:ext cx="384048" cy="146304"/>
          </a:xfrm>
          <a:prstGeom prst="roundRect">
            <a:avLst>
              <a:gd name="adj" fmla="val 25000"/>
            </a:avLst>
          </a:prstGeom>
          <a:solidFill>
            <a:srgbClr val="D6DEEA"/>
          </a:solidFill>
          <a:ln/>
        </p:spPr>
      </p:sp>
      <p:sp>
        <p:nvSpPr>
          <p:cNvPr id="14" name="Shape 11"/>
          <p:cNvSpPr/>
          <p:nvPr/>
        </p:nvSpPr>
        <p:spPr>
          <a:xfrm>
            <a:off x="3630168" y="2212848"/>
            <a:ext cx="384048" cy="146304"/>
          </a:xfrm>
          <a:prstGeom prst="roundRect">
            <a:avLst>
              <a:gd name="adj" fmla="val 25000"/>
            </a:avLst>
          </a:prstGeom>
          <a:solidFill>
            <a:srgbClr val="D6DEEA"/>
          </a:solidFill>
          <a:ln/>
        </p:spPr>
      </p:sp>
      <p:sp>
        <p:nvSpPr>
          <p:cNvPr id="15" name="Shape 12"/>
          <p:cNvSpPr/>
          <p:nvPr/>
        </p:nvSpPr>
        <p:spPr>
          <a:xfrm>
            <a:off x="4105656" y="2212848"/>
            <a:ext cx="384048" cy="146304"/>
          </a:xfrm>
          <a:prstGeom prst="roundRect">
            <a:avLst>
              <a:gd name="adj" fmla="val 25000"/>
            </a:avLst>
          </a:prstGeom>
          <a:solidFill>
            <a:srgbClr val="D6DEEA"/>
          </a:solidFill>
          <a:ln/>
        </p:spPr>
      </p:sp>
      <p:sp>
        <p:nvSpPr>
          <p:cNvPr id="16" name="Shape 13"/>
          <p:cNvSpPr/>
          <p:nvPr/>
        </p:nvSpPr>
        <p:spPr>
          <a:xfrm>
            <a:off x="4581144" y="2212848"/>
            <a:ext cx="384048" cy="146304"/>
          </a:xfrm>
          <a:prstGeom prst="roundRect">
            <a:avLst>
              <a:gd name="adj" fmla="val 25000"/>
            </a:avLst>
          </a:prstGeom>
          <a:solidFill>
            <a:srgbClr val="D6DEEA"/>
          </a:solidFill>
          <a:ln/>
        </p:spPr>
      </p:sp>
      <p:sp>
        <p:nvSpPr>
          <p:cNvPr id="17" name="Shape 14"/>
          <p:cNvSpPr/>
          <p:nvPr/>
        </p:nvSpPr>
        <p:spPr>
          <a:xfrm>
            <a:off x="5056632" y="2212848"/>
            <a:ext cx="384048" cy="146304"/>
          </a:xfrm>
          <a:prstGeom prst="roundRect">
            <a:avLst>
              <a:gd name="adj" fmla="val 25000"/>
            </a:avLst>
          </a:prstGeom>
          <a:solidFill>
            <a:srgbClr val="D6DEEA"/>
          </a:solidFill>
          <a:ln/>
        </p:spPr>
      </p:sp>
      <p:sp>
        <p:nvSpPr>
          <p:cNvPr id="18" name="Shape 15"/>
          <p:cNvSpPr/>
          <p:nvPr/>
        </p:nvSpPr>
        <p:spPr>
          <a:xfrm>
            <a:off x="777240" y="2514600"/>
            <a:ext cx="2743200" cy="2788920"/>
          </a:xfrm>
          <a:prstGeom prst="roundRect">
            <a:avLst>
              <a:gd name="adj" fmla="val 2000"/>
            </a:avLst>
          </a:prstGeom>
          <a:solidFill>
            <a:srgbClr val="F1F5FB"/>
          </a:solidFill>
          <a:ln/>
        </p:spPr>
      </p:sp>
      <p:sp>
        <p:nvSpPr>
          <p:cNvPr id="19" name="Text 16"/>
          <p:cNvSpPr txBox="1"/>
          <p:nvPr/>
        </p:nvSpPr>
        <p:spPr>
          <a:xfrm>
            <a:off x="914400" y="2651760"/>
            <a:ext cx="2468880" cy="457200"/>
          </a:xfrm>
          <a:prstGeom prst="rect">
            <a:avLst/>
          </a:prstGeom>
          <a:noFill/>
          <a:ln/>
        </p:spPr>
        <p:txBody>
          <a:bodyPr wrap="square" lIns="0" tIns="0" rIns="0" bIns="0" rtlCol="0" anchor="t"/>
          <a:lstStyle/>
          <a:p>
            <a:pPr indent="0" marL="0">
              <a:buNone/>
            </a:pPr>
            <a:r>
              <a:rPr lang="en-US" sz="1100" b="1" dirty="0">
                <a:solidFill>
                  <a:srgbClr val="12213A"/>
                </a:solidFill>
                <a:latin typeface="Arial" pitchFamily="34" charset="0"/>
                <a:ea typeface="Arial" pitchFamily="34" charset="-122"/>
                <a:cs typeface="Arial" pitchFamily="34" charset="-120"/>
              </a:rPr>
              <a:t>Mission 4 · Tamper with the URL</a:t>
            </a:r>
            <a:endParaRPr lang="en-US" sz="1100" dirty="0"/>
          </a:p>
        </p:txBody>
      </p:sp>
      <p:sp>
        <p:nvSpPr>
          <p:cNvPr id="20" name="Text 17"/>
          <p:cNvSpPr txBox="1"/>
          <p:nvPr/>
        </p:nvSpPr>
        <p:spPr>
          <a:xfrm>
            <a:off x="914400" y="3154680"/>
            <a:ext cx="2468880" cy="731520"/>
          </a:xfrm>
          <a:prstGeom prst="rect">
            <a:avLst/>
          </a:prstGeom>
          <a:noFill/>
          <a:ln/>
        </p:spPr>
        <p:txBody>
          <a:bodyPr wrap="square" lIns="0" tIns="0" rIns="0" bIns="0" rtlCol="0" anchor="ctr"/>
          <a:lstStyle/>
          <a:p>
            <a:pPr indent="0" marL="0">
              <a:buNone/>
            </a:pPr>
            <a:r>
              <a:rPr lang="en-US" sz="1000" dirty="0">
                <a:solidFill>
                  <a:srgbClr val="56657E"/>
                </a:solidFill>
                <a:latin typeface="Calibri" pitchFamily="34" charset="0"/>
                <a:ea typeface="Calibri" pitchFamily="34" charset="-122"/>
                <a:cs typeface="Calibri" pitchFamily="34" charset="-120"/>
              </a:rPr>
              <a:t>You can see record ?id=1.</a:t>
            </a:r>
            <a:endParaRPr lang="en-US" sz="1000" dirty="0"/>
          </a:p>
          <a:p>
            <a:pPr indent="0" marL="0">
              <a:buNone/>
            </a:pPr>
            <a:r>
              <a:rPr lang="en-US" sz="1000" dirty="0">
                <a:solidFill>
                  <a:srgbClr val="56657E"/>
                </a:solidFill>
                <a:latin typeface="Calibri" pitchFamily="34" charset="0"/>
                <a:ea typeface="Calibri" pitchFamily="34" charset="-122"/>
                <a:cs typeface="Calibri" pitchFamily="34" charset="-120"/>
              </a:rPr>
              <a:t>The flag is on another.</a:t>
            </a:r>
            <a:endParaRPr lang="en-US" sz="1000" dirty="0"/>
          </a:p>
        </p:txBody>
      </p:sp>
      <p:sp>
        <p:nvSpPr>
          <p:cNvPr id="21" name="Shape 18"/>
          <p:cNvSpPr/>
          <p:nvPr/>
        </p:nvSpPr>
        <p:spPr>
          <a:xfrm>
            <a:off x="914400" y="3977640"/>
            <a:ext cx="1371600" cy="320040"/>
          </a:xfrm>
          <a:prstGeom prst="roundRect">
            <a:avLst>
              <a:gd name="adj" fmla="val 14286"/>
            </a:avLst>
          </a:prstGeom>
          <a:solidFill>
            <a:srgbClr val="F5A623"/>
          </a:solidFill>
          <a:ln/>
        </p:spPr>
      </p:sp>
      <p:sp>
        <p:nvSpPr>
          <p:cNvPr id="22" name="Text 19"/>
          <p:cNvSpPr txBox="1"/>
          <p:nvPr/>
        </p:nvSpPr>
        <p:spPr>
          <a:xfrm>
            <a:off x="914400" y="3977640"/>
            <a:ext cx="1371600" cy="320040"/>
          </a:xfrm>
          <a:prstGeom prst="rect">
            <a:avLst/>
          </a:prstGeom>
          <a:noFill/>
          <a:ln/>
        </p:spPr>
        <p:txBody>
          <a:bodyPr wrap="square" lIns="0" tIns="0" rIns="0" bIns="0" rtlCol="0" anchor="ctr"/>
          <a:lstStyle/>
          <a:p>
            <a:pPr algn="ctr" indent="0" marL="0">
              <a:buNone/>
            </a:pPr>
            <a:r>
              <a:rPr lang="en-US" sz="900" b="1" dirty="0">
                <a:solidFill>
                  <a:srgbClr val="12213A"/>
                </a:solidFill>
                <a:latin typeface="Calibri" pitchFamily="34" charset="0"/>
                <a:ea typeface="Calibri" pitchFamily="34" charset="-122"/>
                <a:cs typeface="Calibri" pitchFamily="34" charset="-120"/>
              </a:rPr>
              <a:t>Easy · 100</a:t>
            </a:r>
            <a:endParaRPr lang="en-US" sz="900" dirty="0"/>
          </a:p>
        </p:txBody>
      </p:sp>
      <p:sp>
        <p:nvSpPr>
          <p:cNvPr id="23" name="Shape 20"/>
          <p:cNvSpPr/>
          <p:nvPr/>
        </p:nvSpPr>
        <p:spPr>
          <a:xfrm>
            <a:off x="914400" y="4434840"/>
            <a:ext cx="2468880" cy="411480"/>
          </a:xfrm>
          <a:prstGeom prst="roundRect">
            <a:avLst>
              <a:gd name="adj" fmla="val 11111"/>
            </a:avLst>
          </a:prstGeom>
          <a:solidFill>
            <a:srgbClr val="0E1726"/>
          </a:solidFill>
          <a:ln/>
        </p:spPr>
      </p:sp>
      <p:sp>
        <p:nvSpPr>
          <p:cNvPr id="24" name="Text 21"/>
          <p:cNvSpPr txBox="1"/>
          <p:nvPr/>
        </p:nvSpPr>
        <p:spPr>
          <a:xfrm>
            <a:off x="1051560" y="4434840"/>
            <a:ext cx="2286000" cy="411480"/>
          </a:xfrm>
          <a:prstGeom prst="rect">
            <a:avLst/>
          </a:prstGeom>
          <a:noFill/>
          <a:ln/>
        </p:spPr>
        <p:txBody>
          <a:bodyPr wrap="square" lIns="0" tIns="0" rIns="0" bIns="0" rtlCol="0" anchor="ctr"/>
          <a:lstStyle/>
          <a:p>
            <a:pPr indent="0" marL="0">
              <a:buNone/>
            </a:pPr>
            <a:r>
              <a:rPr lang="en-US" sz="1000" b="1" dirty="0">
                <a:solidFill>
                  <a:srgbClr val="46D39A"/>
                </a:solidFill>
                <a:latin typeface="Courier New" pitchFamily="34" charset="0"/>
                <a:ea typeface="Courier New" pitchFamily="34" charset="-122"/>
                <a:cs typeface="Courier New" pitchFamily="34" charset="-120"/>
              </a:rPr>
              <a:t>submit CYBA{...}</a:t>
            </a:r>
            <a:endParaRPr lang="en-US" sz="1000" dirty="0"/>
          </a:p>
        </p:txBody>
      </p:sp>
      <p:sp>
        <p:nvSpPr>
          <p:cNvPr id="25" name="Shape 22"/>
          <p:cNvSpPr/>
          <p:nvPr/>
        </p:nvSpPr>
        <p:spPr>
          <a:xfrm>
            <a:off x="3703320" y="2514600"/>
            <a:ext cx="3200400" cy="365760"/>
          </a:xfrm>
          <a:prstGeom prst="roundRect">
            <a:avLst>
              <a:gd name="adj" fmla="val 12500"/>
            </a:avLst>
          </a:prstGeom>
          <a:solidFill>
            <a:srgbClr val="E4EAF3"/>
          </a:solidFill>
          <a:ln/>
        </p:spPr>
      </p:sp>
      <p:sp>
        <p:nvSpPr>
          <p:cNvPr id="26" name="Text 23"/>
          <p:cNvSpPr txBox="1"/>
          <p:nvPr/>
        </p:nvSpPr>
        <p:spPr>
          <a:xfrm>
            <a:off x="3840480" y="2514600"/>
            <a:ext cx="2926080" cy="365760"/>
          </a:xfrm>
          <a:prstGeom prst="rect">
            <a:avLst/>
          </a:prstGeom>
          <a:noFill/>
          <a:ln/>
        </p:spPr>
        <p:txBody>
          <a:bodyPr wrap="square" lIns="0" tIns="0" rIns="0" bIns="0" rtlCol="0" anchor="ctr"/>
          <a:lstStyle/>
          <a:p>
            <a:pPr indent="0" marL="0">
              <a:buNone/>
            </a:pPr>
            <a:r>
              <a:rPr lang="en-US" sz="1000" dirty="0">
                <a:solidFill>
                  <a:srgbClr val="12213A"/>
                </a:solidFill>
                <a:latin typeface="Courier New" pitchFamily="34" charset="0"/>
                <a:ea typeface="Courier New" pitchFamily="34" charset="-122"/>
                <a:cs typeface="Courier New" pitchFamily="34" charset="-120"/>
              </a:rPr>
              <a:t>web.ctf/mission4/?id=1</a:t>
            </a:r>
            <a:endParaRPr lang="en-US" sz="1000" dirty="0"/>
          </a:p>
        </p:txBody>
      </p:sp>
      <p:sp>
        <p:nvSpPr>
          <p:cNvPr id="27" name="Shape 24"/>
          <p:cNvSpPr/>
          <p:nvPr/>
        </p:nvSpPr>
        <p:spPr>
          <a:xfrm>
            <a:off x="3703320" y="2971800"/>
            <a:ext cx="3200400" cy="1188720"/>
          </a:xfrm>
          <a:prstGeom prst="roundRect">
            <a:avLst>
              <a:gd name="adj" fmla="val 3846"/>
            </a:avLst>
          </a:prstGeom>
          <a:solidFill>
            <a:srgbClr val="FFFFFF"/>
          </a:solidFill>
          <a:ln w="12700">
            <a:solidFill>
              <a:srgbClr val="D6DEEA"/>
            </a:solidFill>
            <a:prstDash val="solid"/>
          </a:ln>
        </p:spPr>
      </p:sp>
      <p:sp>
        <p:nvSpPr>
          <p:cNvPr id="28" name="Text 25"/>
          <p:cNvSpPr txBox="1"/>
          <p:nvPr/>
        </p:nvSpPr>
        <p:spPr>
          <a:xfrm>
            <a:off x="3840480" y="3108960"/>
            <a:ext cx="2926080" cy="82296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Your profile (guest)</a:t>
            </a:r>
            <a:endParaRPr lang="en-US" sz="1100" dirty="0"/>
          </a:p>
        </p:txBody>
      </p:sp>
      <p:sp>
        <p:nvSpPr>
          <p:cNvPr id="29" name="Shape 26"/>
          <p:cNvSpPr/>
          <p:nvPr/>
        </p:nvSpPr>
        <p:spPr>
          <a:xfrm>
            <a:off x="3703320" y="4251960"/>
            <a:ext cx="3200400" cy="1143000"/>
          </a:xfrm>
          <a:prstGeom prst="roundRect">
            <a:avLst>
              <a:gd name="adj" fmla="val 4000"/>
            </a:avLst>
          </a:prstGeom>
          <a:solidFill>
            <a:srgbClr val="0E1726"/>
          </a:solidFill>
          <a:ln/>
        </p:spPr>
      </p:sp>
      <p:sp>
        <p:nvSpPr>
          <p:cNvPr id="30" name="Text 27"/>
          <p:cNvSpPr txBox="1"/>
          <p:nvPr/>
        </p:nvSpPr>
        <p:spPr>
          <a:xfrm>
            <a:off x="3840480" y="4315968"/>
            <a:ext cx="2926080" cy="274320"/>
          </a:xfrm>
          <a:prstGeom prst="rect">
            <a:avLst/>
          </a:prstGeom>
          <a:noFill/>
          <a:ln/>
        </p:spPr>
        <p:txBody>
          <a:bodyPr wrap="square" lIns="0" tIns="0" rIns="0" bIns="0" rtlCol="0" anchor="ctr"/>
          <a:lstStyle/>
          <a:p>
            <a:pPr indent="0" marL="0">
              <a:buNone/>
            </a:pPr>
            <a:r>
              <a:rPr lang="en-US" sz="900" dirty="0">
                <a:solidFill>
                  <a:srgbClr val="7F8FAD"/>
                </a:solidFill>
                <a:latin typeface="Courier New" pitchFamily="34" charset="0"/>
                <a:ea typeface="Courier New" pitchFamily="34" charset="-122"/>
                <a:cs typeface="Courier New" pitchFamily="34" charset="-120"/>
              </a:rPr>
              <a:t>DevTools</a:t>
            </a:r>
            <a:endParaRPr lang="en-US" sz="900" dirty="0"/>
          </a:p>
        </p:txBody>
      </p:sp>
      <p:sp>
        <p:nvSpPr>
          <p:cNvPr id="31" name="Text 28"/>
          <p:cNvSpPr txBox="1"/>
          <p:nvPr/>
        </p:nvSpPr>
        <p:spPr>
          <a:xfrm>
            <a:off x="3840480" y="4590288"/>
            <a:ext cx="2926080" cy="685800"/>
          </a:xfrm>
          <a:prstGeom prst="rect">
            <a:avLst/>
          </a:prstGeom>
          <a:noFill/>
          <a:ln/>
        </p:spPr>
        <p:txBody>
          <a:bodyPr wrap="square" lIns="0" tIns="0" rIns="0" bIns="0" rtlCol="0" anchor="t"/>
          <a:lstStyle/>
          <a:p>
            <a:pPr indent="0" marL="0">
              <a:buNone/>
            </a:pPr>
            <a:r>
              <a:rPr lang="en-US" sz="1000" b="1" dirty="0">
                <a:solidFill>
                  <a:srgbClr val="46D39A"/>
                </a:solidFill>
                <a:latin typeface="Courier New" pitchFamily="34" charset="0"/>
                <a:ea typeface="Courier New" pitchFamily="34" charset="-122"/>
                <a:cs typeface="Courier New" pitchFamily="34" charset="-120"/>
              </a:rPr>
              <a:t>&gt; </a:t>
            </a:r>
            <a:pPr indent="0" marL="0">
              <a:buNone/>
            </a:pPr>
            <a:r>
              <a:rPr lang="en-US" sz="1000" b="1" dirty="0">
                <a:solidFill>
                  <a:srgbClr val="FFFFFF"/>
                </a:solidFill>
                <a:latin typeface="Courier New" pitchFamily="34" charset="0"/>
                <a:ea typeface="Courier New" pitchFamily="34" charset="-122"/>
                <a:cs typeface="Courier New" pitchFamily="34" charset="-120"/>
              </a:rPr>
              <a:t>document.cookie</a:t>
            </a:r>
            <a:endParaRPr lang="en-US" sz="1000" dirty="0"/>
          </a:p>
        </p:txBody>
      </p:sp>
      <p:sp>
        <p:nvSpPr>
          <p:cNvPr id="32" name="Shape 29"/>
          <p:cNvSpPr/>
          <p:nvPr/>
        </p:nvSpPr>
        <p:spPr>
          <a:xfrm>
            <a:off x="1719072" y="1691640"/>
            <a:ext cx="310896" cy="310896"/>
          </a:xfrm>
          <a:prstGeom prst="ellipse">
            <a:avLst/>
          </a:prstGeom>
          <a:solidFill>
            <a:srgbClr val="2A9FD6"/>
          </a:solidFill>
          <a:ln w="25400">
            <a:solidFill>
              <a:srgbClr val="FFFFFF"/>
            </a:solidFill>
            <a:prstDash val="solid"/>
          </a:ln>
        </p:spPr>
      </p:sp>
      <p:sp>
        <p:nvSpPr>
          <p:cNvPr id="33" name="Text 30"/>
          <p:cNvSpPr txBox="1"/>
          <p:nvPr/>
        </p:nvSpPr>
        <p:spPr>
          <a:xfrm>
            <a:off x="1719072" y="1691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4" name="Shape 31"/>
          <p:cNvSpPr/>
          <p:nvPr/>
        </p:nvSpPr>
        <p:spPr>
          <a:xfrm>
            <a:off x="5650992" y="1691640"/>
            <a:ext cx="310896" cy="310896"/>
          </a:xfrm>
          <a:prstGeom prst="ellipse">
            <a:avLst/>
          </a:prstGeom>
          <a:solidFill>
            <a:srgbClr val="F5A623"/>
          </a:solidFill>
          <a:ln w="25400">
            <a:solidFill>
              <a:srgbClr val="FFFFFF"/>
            </a:solidFill>
            <a:prstDash val="solid"/>
          </a:ln>
        </p:spPr>
      </p:sp>
      <p:sp>
        <p:nvSpPr>
          <p:cNvPr id="35" name="Text 32"/>
          <p:cNvSpPr txBox="1"/>
          <p:nvPr/>
        </p:nvSpPr>
        <p:spPr>
          <a:xfrm>
            <a:off x="5650992" y="1691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6" name="Shape 33"/>
          <p:cNvSpPr/>
          <p:nvPr/>
        </p:nvSpPr>
        <p:spPr>
          <a:xfrm>
            <a:off x="850392" y="2130552"/>
            <a:ext cx="310896" cy="310896"/>
          </a:xfrm>
          <a:prstGeom prst="ellipse">
            <a:avLst/>
          </a:prstGeom>
          <a:solidFill>
            <a:srgbClr val="17875A"/>
          </a:solidFill>
          <a:ln w="25400">
            <a:solidFill>
              <a:srgbClr val="FFFFFF"/>
            </a:solidFill>
            <a:prstDash val="solid"/>
          </a:ln>
        </p:spPr>
      </p:sp>
      <p:sp>
        <p:nvSpPr>
          <p:cNvPr id="37" name="Text 34"/>
          <p:cNvSpPr txBox="1"/>
          <p:nvPr/>
        </p:nvSpPr>
        <p:spPr>
          <a:xfrm>
            <a:off x="850392" y="21305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8" name="Shape 35"/>
          <p:cNvSpPr/>
          <p:nvPr/>
        </p:nvSpPr>
        <p:spPr>
          <a:xfrm>
            <a:off x="1810512" y="2679192"/>
            <a:ext cx="310896" cy="310896"/>
          </a:xfrm>
          <a:prstGeom prst="ellipse">
            <a:avLst/>
          </a:prstGeom>
          <a:solidFill>
            <a:srgbClr val="2459D8"/>
          </a:solidFill>
          <a:ln w="25400">
            <a:solidFill>
              <a:srgbClr val="FFFFFF"/>
            </a:solidFill>
            <a:prstDash val="solid"/>
          </a:ln>
        </p:spPr>
      </p:sp>
      <p:sp>
        <p:nvSpPr>
          <p:cNvPr id="39" name="Text 36"/>
          <p:cNvSpPr txBox="1"/>
          <p:nvPr/>
        </p:nvSpPr>
        <p:spPr>
          <a:xfrm>
            <a:off x="1810512" y="2679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0" name="Shape 37"/>
          <p:cNvSpPr/>
          <p:nvPr/>
        </p:nvSpPr>
        <p:spPr>
          <a:xfrm>
            <a:off x="1444752" y="3977640"/>
            <a:ext cx="310896" cy="310896"/>
          </a:xfrm>
          <a:prstGeom prst="ellipse">
            <a:avLst/>
          </a:prstGeom>
          <a:solidFill>
            <a:srgbClr val="D1416B"/>
          </a:solidFill>
          <a:ln w="25400">
            <a:solidFill>
              <a:srgbClr val="FFFFFF"/>
            </a:solidFill>
            <a:prstDash val="solid"/>
          </a:ln>
        </p:spPr>
      </p:sp>
      <p:sp>
        <p:nvSpPr>
          <p:cNvPr id="41" name="Text 38"/>
          <p:cNvSpPr txBox="1"/>
          <p:nvPr/>
        </p:nvSpPr>
        <p:spPr>
          <a:xfrm>
            <a:off x="1444752" y="3977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42" name="Shape 39"/>
          <p:cNvSpPr/>
          <p:nvPr/>
        </p:nvSpPr>
        <p:spPr>
          <a:xfrm>
            <a:off x="2176272" y="4480560"/>
            <a:ext cx="310896" cy="310896"/>
          </a:xfrm>
          <a:prstGeom prst="ellipse">
            <a:avLst/>
          </a:prstGeom>
          <a:solidFill>
            <a:srgbClr val="7448D4"/>
          </a:solidFill>
          <a:ln w="25400">
            <a:solidFill>
              <a:srgbClr val="FFFFFF"/>
            </a:solidFill>
            <a:prstDash val="solid"/>
          </a:ln>
        </p:spPr>
      </p:sp>
      <p:sp>
        <p:nvSpPr>
          <p:cNvPr id="43" name="Text 40"/>
          <p:cNvSpPr txBox="1"/>
          <p:nvPr/>
        </p:nvSpPr>
        <p:spPr>
          <a:xfrm>
            <a:off x="2176272" y="44805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4" name="Shape 41"/>
          <p:cNvSpPr/>
          <p:nvPr/>
        </p:nvSpPr>
        <p:spPr>
          <a:xfrm>
            <a:off x="5102352" y="2542032"/>
            <a:ext cx="310896" cy="310896"/>
          </a:xfrm>
          <a:prstGeom prst="ellipse">
            <a:avLst/>
          </a:prstGeom>
          <a:solidFill>
            <a:srgbClr val="2459D8"/>
          </a:solidFill>
          <a:ln w="25400">
            <a:solidFill>
              <a:srgbClr val="FFFFFF"/>
            </a:solidFill>
            <a:prstDash val="solid"/>
          </a:ln>
        </p:spPr>
      </p:sp>
      <p:sp>
        <p:nvSpPr>
          <p:cNvPr id="45" name="Text 42"/>
          <p:cNvSpPr txBox="1"/>
          <p:nvPr/>
        </p:nvSpPr>
        <p:spPr>
          <a:xfrm>
            <a:off x="5102352" y="2542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6" name="Shape 43"/>
          <p:cNvSpPr/>
          <p:nvPr/>
        </p:nvSpPr>
        <p:spPr>
          <a:xfrm>
            <a:off x="5102352" y="4599432"/>
            <a:ext cx="310896" cy="310896"/>
          </a:xfrm>
          <a:prstGeom prst="ellipse">
            <a:avLst/>
          </a:prstGeom>
          <a:solidFill>
            <a:srgbClr val="56657E"/>
          </a:solidFill>
          <a:ln w="25400">
            <a:solidFill>
              <a:srgbClr val="FFFFFF"/>
            </a:solidFill>
            <a:prstDash val="solid"/>
          </a:ln>
        </p:spPr>
      </p:sp>
      <p:sp>
        <p:nvSpPr>
          <p:cNvPr id="47" name="Text 44"/>
          <p:cNvSpPr txBox="1"/>
          <p:nvPr/>
        </p:nvSpPr>
        <p:spPr>
          <a:xfrm>
            <a:off x="5102352" y="45994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5"/>
          <p:cNvSpPr txBox="1"/>
          <p:nvPr/>
        </p:nvSpPr>
        <p:spPr>
          <a:xfrm>
            <a:off x="548640" y="5669280"/>
            <a:ext cx="640080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A drawn map - the live page may differ slightly.</a:t>
            </a:r>
            <a:endParaRPr lang="en-US" sz="1100" dirty="0"/>
          </a:p>
        </p:txBody>
      </p:sp>
      <p:sp>
        <p:nvSpPr>
          <p:cNvPr id="49" name="Shape 46"/>
          <p:cNvSpPr/>
          <p:nvPr/>
        </p:nvSpPr>
        <p:spPr>
          <a:xfrm>
            <a:off x="7406640" y="1527048"/>
            <a:ext cx="329184" cy="329184"/>
          </a:xfrm>
          <a:prstGeom prst="ellipse">
            <a:avLst/>
          </a:prstGeom>
          <a:solidFill>
            <a:srgbClr val="2A9FD6"/>
          </a:solidFill>
          <a:ln/>
        </p:spPr>
      </p:sp>
      <p:sp>
        <p:nvSpPr>
          <p:cNvPr id="50" name="Text 47"/>
          <p:cNvSpPr txBox="1"/>
          <p:nvPr/>
        </p:nvSpPr>
        <p:spPr>
          <a:xfrm>
            <a:off x="7406640" y="1527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1" name="Text 48"/>
          <p:cNvSpPr txBox="1"/>
          <p:nvPr/>
        </p:nvSpPr>
        <p:spPr>
          <a:xfrm>
            <a:off x="7863840" y="14813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Game tag  </a:t>
            </a:r>
            <a:pPr indent="0" marL="0">
              <a:buNone/>
            </a:pPr>
            <a:r>
              <a:rPr lang="en-US" sz="1300" dirty="0">
                <a:solidFill>
                  <a:srgbClr val="56657E"/>
                </a:solidFill>
                <a:latin typeface="Calibri" pitchFamily="34" charset="0"/>
                <a:ea typeface="Calibri" pitchFamily="34" charset="-122"/>
                <a:cs typeface="Calibri" pitchFamily="34" charset="-120"/>
              </a:rPr>
              <a:t>Web CTF; links switch games.</a:t>
            </a:r>
            <a:endParaRPr lang="en-US" sz="1600" dirty="0"/>
          </a:p>
        </p:txBody>
      </p:sp>
      <p:sp>
        <p:nvSpPr>
          <p:cNvPr id="52" name="Shape 49"/>
          <p:cNvSpPr/>
          <p:nvPr/>
        </p:nvSpPr>
        <p:spPr>
          <a:xfrm>
            <a:off x="7406640" y="2075688"/>
            <a:ext cx="329184" cy="329184"/>
          </a:xfrm>
          <a:prstGeom prst="ellipse">
            <a:avLst/>
          </a:prstGeom>
          <a:solidFill>
            <a:srgbClr val="F5A623"/>
          </a:solidFill>
          <a:ln/>
        </p:spPr>
      </p:sp>
      <p:sp>
        <p:nvSpPr>
          <p:cNvPr id="53" name="Text 50"/>
          <p:cNvSpPr txBox="1"/>
          <p:nvPr/>
        </p:nvSpPr>
        <p:spPr>
          <a:xfrm>
            <a:off x="7406640" y="20756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54" name="Text 51"/>
          <p:cNvSpPr txBox="1"/>
          <p:nvPr/>
        </p:nvSpPr>
        <p:spPr>
          <a:xfrm>
            <a:off x="7863840" y="20299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Points  </a:t>
            </a:r>
            <a:pPr indent="0" marL="0">
              <a:buNone/>
            </a:pPr>
            <a:r>
              <a:rPr lang="en-US" sz="1300" dirty="0">
                <a:solidFill>
                  <a:srgbClr val="56657E"/>
                </a:solidFill>
                <a:latin typeface="Calibri" pitchFamily="34" charset="0"/>
                <a:ea typeface="Calibri" pitchFamily="34" charset="-122"/>
                <a:cs typeface="Calibri" pitchFamily="34" charset="-120"/>
              </a:rPr>
              <a:t>Your score; adds up per flag.</a:t>
            </a:r>
            <a:endParaRPr lang="en-US" sz="1600" dirty="0"/>
          </a:p>
        </p:txBody>
      </p:sp>
      <p:sp>
        <p:nvSpPr>
          <p:cNvPr id="55" name="Shape 52"/>
          <p:cNvSpPr/>
          <p:nvPr/>
        </p:nvSpPr>
        <p:spPr>
          <a:xfrm>
            <a:off x="7406640" y="2624328"/>
            <a:ext cx="329184" cy="329184"/>
          </a:xfrm>
          <a:prstGeom prst="ellipse">
            <a:avLst/>
          </a:prstGeom>
          <a:solidFill>
            <a:srgbClr val="17875A"/>
          </a:solidFill>
          <a:ln/>
        </p:spPr>
      </p:sp>
      <p:sp>
        <p:nvSpPr>
          <p:cNvPr id="56" name="Text 53"/>
          <p:cNvSpPr txBox="1"/>
          <p:nvPr/>
        </p:nvSpPr>
        <p:spPr>
          <a:xfrm>
            <a:off x="7406640" y="2624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7" name="Text 54"/>
          <p:cNvSpPr txBox="1"/>
          <p:nvPr/>
        </p:nvSpPr>
        <p:spPr>
          <a:xfrm>
            <a:off x="7863840" y="25786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Progress track  </a:t>
            </a:r>
            <a:pPr indent="0" marL="0">
              <a:buNone/>
            </a:pPr>
            <a:r>
              <a:rPr lang="en-US" sz="1300" dirty="0">
                <a:solidFill>
                  <a:srgbClr val="56657E"/>
                </a:solidFill>
                <a:latin typeface="Calibri" pitchFamily="34" charset="0"/>
                <a:ea typeface="Calibri" pitchFamily="34" charset="-122"/>
                <a:cs typeface="Calibri" pitchFamily="34" charset="-120"/>
              </a:rPr>
              <a:t>One bar lights up per flag.</a:t>
            </a:r>
            <a:endParaRPr lang="en-US" sz="1600" dirty="0"/>
          </a:p>
        </p:txBody>
      </p:sp>
      <p:sp>
        <p:nvSpPr>
          <p:cNvPr id="58" name="Shape 55"/>
          <p:cNvSpPr/>
          <p:nvPr/>
        </p:nvSpPr>
        <p:spPr>
          <a:xfrm>
            <a:off x="7406640" y="3172968"/>
            <a:ext cx="329184" cy="329184"/>
          </a:xfrm>
          <a:prstGeom prst="ellipse">
            <a:avLst/>
          </a:prstGeom>
          <a:solidFill>
            <a:srgbClr val="2459D8"/>
          </a:solidFill>
          <a:ln/>
        </p:spPr>
      </p:sp>
      <p:sp>
        <p:nvSpPr>
          <p:cNvPr id="59" name="Text 56"/>
          <p:cNvSpPr txBox="1"/>
          <p:nvPr/>
        </p:nvSpPr>
        <p:spPr>
          <a:xfrm>
            <a:off x="7406640" y="31729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0" name="Text 57"/>
          <p:cNvSpPr txBox="1"/>
          <p:nvPr/>
        </p:nvSpPr>
        <p:spPr>
          <a:xfrm>
            <a:off x="7863840" y="312724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Challenge panel  </a:t>
            </a:r>
            <a:pPr indent="0" marL="0">
              <a:buNone/>
            </a:pPr>
            <a:r>
              <a:rPr lang="en-US" sz="1300" dirty="0">
                <a:solidFill>
                  <a:srgbClr val="56657E"/>
                </a:solidFill>
                <a:latin typeface="Calibri" pitchFamily="34" charset="0"/>
                <a:ea typeface="Calibri" pitchFamily="34" charset="-122"/>
                <a:cs typeface="Calibri" pitchFamily="34" charset="-120"/>
              </a:rPr>
              <a:t>The brief, level and submit box.</a:t>
            </a:r>
            <a:endParaRPr lang="en-US" sz="1600" dirty="0"/>
          </a:p>
        </p:txBody>
      </p:sp>
      <p:sp>
        <p:nvSpPr>
          <p:cNvPr id="61" name="Shape 58"/>
          <p:cNvSpPr/>
          <p:nvPr/>
        </p:nvSpPr>
        <p:spPr>
          <a:xfrm>
            <a:off x="7406640" y="3721608"/>
            <a:ext cx="329184" cy="329184"/>
          </a:xfrm>
          <a:prstGeom prst="ellipse">
            <a:avLst/>
          </a:prstGeom>
          <a:solidFill>
            <a:srgbClr val="D1416B"/>
          </a:solidFill>
          <a:ln/>
        </p:spPr>
      </p:sp>
      <p:sp>
        <p:nvSpPr>
          <p:cNvPr id="62" name="Text 59"/>
          <p:cNvSpPr txBox="1"/>
          <p:nvPr/>
        </p:nvSpPr>
        <p:spPr>
          <a:xfrm>
            <a:off x="7406640" y="3721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63" name="Text 60"/>
          <p:cNvSpPr txBox="1"/>
          <p:nvPr/>
        </p:nvSpPr>
        <p:spPr>
          <a:xfrm>
            <a:off x="7863840" y="367588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Level &amp; points  </a:t>
            </a:r>
            <a:pPr indent="0" marL="0">
              <a:buNone/>
            </a:pP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64" name="Shape 61"/>
          <p:cNvSpPr/>
          <p:nvPr/>
        </p:nvSpPr>
        <p:spPr>
          <a:xfrm>
            <a:off x="7406640" y="4270248"/>
            <a:ext cx="329184" cy="329184"/>
          </a:xfrm>
          <a:prstGeom prst="ellipse">
            <a:avLst/>
          </a:prstGeom>
          <a:solidFill>
            <a:srgbClr val="7448D4"/>
          </a:solidFill>
          <a:ln/>
        </p:spPr>
      </p:sp>
      <p:sp>
        <p:nvSpPr>
          <p:cNvPr id="65" name="Text 62"/>
          <p:cNvSpPr txBox="1"/>
          <p:nvPr/>
        </p:nvSpPr>
        <p:spPr>
          <a:xfrm>
            <a:off x="7406640" y="4270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66" name="Text 63"/>
          <p:cNvSpPr txBox="1"/>
          <p:nvPr/>
        </p:nvSpPr>
        <p:spPr>
          <a:xfrm>
            <a:off x="7863840" y="422452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Submit  </a:t>
            </a:r>
            <a:pPr indent="0" marL="0">
              <a:buNone/>
            </a:pPr>
            <a:r>
              <a:rPr lang="en-US" sz="1300" dirty="0">
                <a:solidFill>
                  <a:srgbClr val="56657E"/>
                </a:solidFill>
                <a:latin typeface="Calibri" pitchFamily="34" charset="0"/>
                <a:ea typeface="Calibri" pitchFamily="34" charset="-122"/>
                <a:cs typeface="Calibri" pitchFamily="34" charset="-120"/>
              </a:rPr>
              <a:t>Paste the whole flag here.</a:t>
            </a:r>
            <a:endParaRPr lang="en-US" sz="1600" dirty="0"/>
          </a:p>
        </p:txBody>
      </p:sp>
      <p:sp>
        <p:nvSpPr>
          <p:cNvPr id="67" name="Shape 64"/>
          <p:cNvSpPr/>
          <p:nvPr/>
        </p:nvSpPr>
        <p:spPr>
          <a:xfrm>
            <a:off x="7406640" y="4818888"/>
            <a:ext cx="329184" cy="329184"/>
          </a:xfrm>
          <a:prstGeom prst="ellipse">
            <a:avLst/>
          </a:prstGeom>
          <a:solidFill>
            <a:srgbClr val="2459D8"/>
          </a:solidFill>
          <a:ln/>
        </p:spPr>
      </p:sp>
      <p:sp>
        <p:nvSpPr>
          <p:cNvPr id="68" name="Text 65"/>
          <p:cNvSpPr txBox="1"/>
          <p:nvPr/>
        </p:nvSpPr>
        <p:spPr>
          <a:xfrm>
            <a:off x="7406640" y="4818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69" name="Text 66"/>
          <p:cNvSpPr txBox="1"/>
          <p:nvPr/>
        </p:nvSpPr>
        <p:spPr>
          <a:xfrm>
            <a:off x="7863840" y="477316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Address bar  </a:t>
            </a:r>
            <a:pPr indent="0" marL="0">
              <a:buNone/>
            </a:pPr>
            <a:r>
              <a:rPr lang="en-US" sz="1300" dirty="0">
                <a:solidFill>
                  <a:srgbClr val="56657E"/>
                </a:solidFill>
                <a:latin typeface="Calibri" pitchFamily="34" charset="0"/>
                <a:ea typeface="Calibri" pitchFamily="34" charset="-122"/>
                <a:cs typeface="Calibri" pitchFamily="34" charset="-120"/>
              </a:rPr>
              <a:t>The URL - editable input.</a:t>
            </a:r>
            <a:endParaRPr lang="en-US" sz="1600" dirty="0"/>
          </a:p>
        </p:txBody>
      </p:sp>
      <p:sp>
        <p:nvSpPr>
          <p:cNvPr id="70" name="Shape 67"/>
          <p:cNvSpPr/>
          <p:nvPr/>
        </p:nvSpPr>
        <p:spPr>
          <a:xfrm>
            <a:off x="7406640" y="5367528"/>
            <a:ext cx="329184" cy="329184"/>
          </a:xfrm>
          <a:prstGeom prst="ellipse">
            <a:avLst/>
          </a:prstGeom>
          <a:solidFill>
            <a:srgbClr val="56657E"/>
          </a:solidFill>
          <a:ln/>
        </p:spPr>
      </p:sp>
      <p:sp>
        <p:nvSpPr>
          <p:cNvPr id="71" name="Text 68"/>
          <p:cNvSpPr txBox="1"/>
          <p:nvPr/>
        </p:nvSpPr>
        <p:spPr>
          <a:xfrm>
            <a:off x="7406640" y="5367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72" name="Text 69"/>
          <p:cNvSpPr txBox="1"/>
          <p:nvPr/>
        </p:nvSpPr>
        <p:spPr>
          <a:xfrm>
            <a:off x="7863840" y="5321808"/>
            <a:ext cx="3794760" cy="45720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DevTools  </a:t>
            </a:r>
            <a:pPr indent="0" marL="0">
              <a:buNone/>
            </a:pPr>
            <a:r>
              <a:rPr lang="en-US" sz="1300" dirty="0">
                <a:solidFill>
                  <a:srgbClr val="56657E"/>
                </a:solidFill>
                <a:latin typeface="Calibri" pitchFamily="34" charset="0"/>
                <a:ea typeface="Calibri" pitchFamily="34" charset="-122"/>
                <a:cs typeface="Calibri" pitchFamily="34" charset="-120"/>
              </a:rPr>
              <a:t>F12: your main tool.</a:t>
            </a:r>
            <a:endParaRPr lang="en-US" sz="1600" dirty="0"/>
          </a:p>
        </p:txBody>
      </p:sp>
      <p:sp>
        <p:nvSpPr>
          <p:cNvPr id="73" name="Text 7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40 / 61</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how the Web CTF works</a:t>
            </a:r>
            <a:endParaRPr lang="en-US" sz="3200" dirty="0"/>
          </a:p>
        </p:txBody>
      </p:sp>
      <p:sp>
        <p:nvSpPr>
          <p:cNvPr id="4" name="Shape 1"/>
          <p:cNvSpPr/>
          <p:nvPr/>
        </p:nvSpPr>
        <p:spPr>
          <a:xfrm>
            <a:off x="548640" y="1554480"/>
            <a:ext cx="3566160" cy="3063240"/>
          </a:xfrm>
          <a:prstGeom prst="roundRect">
            <a:avLst>
              <a:gd name="adj" fmla="val 2985"/>
            </a:avLst>
          </a:prstGeom>
          <a:solidFill>
            <a:srgbClr val="F1F5FB"/>
          </a:solidFill>
          <a:ln/>
        </p:spPr>
      </p:sp>
      <p:sp>
        <p:nvSpPr>
          <p:cNvPr id="5" name="Shape 2"/>
          <p:cNvSpPr/>
          <p:nvPr/>
        </p:nvSpPr>
        <p:spPr>
          <a:xfrm>
            <a:off x="822960" y="1783080"/>
            <a:ext cx="868680" cy="868680"/>
          </a:xfrm>
          <a:prstGeom prst="ellipse">
            <a:avLst/>
          </a:prstGeom>
          <a:solidFill>
            <a:srgbClr val="2A9FD6"/>
          </a:solidFill>
          <a:ln/>
        </p:spPr>
      </p:sp>
      <p:pic>
        <p:nvPicPr>
          <p:cNvPr id="6" name="Image 0" descr="preencoded.png">    </p:cNvPr>
          <p:cNvPicPr>
            <a:picLocks noChangeAspect="1"/>
          </p:cNvPicPr>
          <p:nvPr/>
        </p:nvPicPr>
        <p:blipFill>
          <a:blip r:embed="rId1"/>
          <a:stretch>
            <a:fillRect/>
          </a:stretch>
        </p:blipFill>
        <p:spPr>
          <a:xfrm>
            <a:off x="1040130" y="2000250"/>
            <a:ext cx="434340" cy="434340"/>
          </a:xfrm>
          <a:prstGeom prst="rect">
            <a:avLst/>
          </a:prstGeom>
        </p:spPr>
      </p:pic>
      <p:sp>
        <p:nvSpPr>
          <p:cNvPr id="7" name="Text 3"/>
          <p:cNvSpPr txBox="1"/>
          <p:nvPr/>
        </p:nvSpPr>
        <p:spPr>
          <a:xfrm>
            <a:off x="822960"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A real browser</a:t>
            </a:r>
            <a:endParaRPr lang="en-US" sz="2200" dirty="0"/>
          </a:p>
        </p:txBody>
      </p:sp>
      <p:sp>
        <p:nvSpPr>
          <p:cNvPr id="8" name="Text 4"/>
          <p:cNvSpPr txBox="1"/>
          <p:nvPr/>
        </p:nvSpPr>
        <p:spPr>
          <a:xfrm>
            <a:off x="822960"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DevTools is the whole toolkit: nothing extra to install.</a:t>
            </a:r>
            <a:endParaRPr lang="en-US" sz="1600" dirty="0"/>
          </a:p>
        </p:txBody>
      </p:sp>
      <p:sp>
        <p:nvSpPr>
          <p:cNvPr id="9" name="Shape 5"/>
          <p:cNvSpPr/>
          <p:nvPr/>
        </p:nvSpPr>
        <p:spPr>
          <a:xfrm>
            <a:off x="4306824" y="1554480"/>
            <a:ext cx="3566160" cy="3063240"/>
          </a:xfrm>
          <a:prstGeom prst="roundRect">
            <a:avLst>
              <a:gd name="adj" fmla="val 2985"/>
            </a:avLst>
          </a:prstGeom>
          <a:solidFill>
            <a:srgbClr val="F1F5FB"/>
          </a:solidFill>
          <a:ln/>
        </p:spPr>
      </p:sp>
      <p:sp>
        <p:nvSpPr>
          <p:cNvPr id="10" name="Shape 6"/>
          <p:cNvSpPr/>
          <p:nvPr/>
        </p:nvSpPr>
        <p:spPr>
          <a:xfrm>
            <a:off x="4581144" y="1783080"/>
            <a:ext cx="868680" cy="868680"/>
          </a:xfrm>
          <a:prstGeom prst="ellipse">
            <a:avLst/>
          </a:prstGeom>
          <a:solidFill>
            <a:srgbClr val="7448D4"/>
          </a:solidFill>
          <a:ln/>
        </p:spPr>
      </p:sp>
      <p:pic>
        <p:nvPicPr>
          <p:cNvPr id="11" name="Image 1" descr="preencoded.png">    </p:cNvPr>
          <p:cNvPicPr>
            <a:picLocks noChangeAspect="1"/>
          </p:cNvPicPr>
          <p:nvPr/>
        </p:nvPicPr>
        <p:blipFill>
          <a:blip r:embed="rId2"/>
          <a:stretch>
            <a:fillRect/>
          </a:stretch>
        </p:blipFill>
        <p:spPr>
          <a:xfrm>
            <a:off x="4798314" y="2000250"/>
            <a:ext cx="434340" cy="434340"/>
          </a:xfrm>
          <a:prstGeom prst="rect">
            <a:avLst/>
          </a:prstGeom>
        </p:spPr>
      </p:pic>
      <p:sp>
        <p:nvSpPr>
          <p:cNvPr id="12" name="Text 7"/>
          <p:cNvSpPr txBox="1"/>
          <p:nvPr/>
        </p:nvSpPr>
        <p:spPr>
          <a:xfrm>
            <a:off x="4581144"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New flags every load</a:t>
            </a:r>
            <a:endParaRPr lang="en-US" sz="2200" dirty="0"/>
          </a:p>
        </p:txBody>
      </p:sp>
      <p:sp>
        <p:nvSpPr>
          <p:cNvPr id="13" name="Text 8"/>
          <p:cNvSpPr txBox="1"/>
          <p:nvPr/>
        </p:nvSpPr>
        <p:spPr>
          <a:xfrm>
            <a:off x="4581144"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Random flags, ids, paths, passwords and tokens. No answer file.</a:t>
            </a:r>
            <a:endParaRPr lang="en-US" sz="1600" dirty="0"/>
          </a:p>
        </p:txBody>
      </p:sp>
      <p:sp>
        <p:nvSpPr>
          <p:cNvPr id="14" name="Shape 9"/>
          <p:cNvSpPr/>
          <p:nvPr/>
        </p:nvSpPr>
        <p:spPr>
          <a:xfrm>
            <a:off x="8065008" y="1554480"/>
            <a:ext cx="3566160" cy="3063240"/>
          </a:xfrm>
          <a:prstGeom prst="roundRect">
            <a:avLst>
              <a:gd name="adj" fmla="val 2985"/>
            </a:avLst>
          </a:prstGeom>
          <a:solidFill>
            <a:srgbClr val="F1F5FB"/>
          </a:solidFill>
          <a:ln/>
        </p:spPr>
      </p:sp>
      <p:sp>
        <p:nvSpPr>
          <p:cNvPr id="15" name="Shape 10"/>
          <p:cNvSpPr/>
          <p:nvPr/>
        </p:nvSpPr>
        <p:spPr>
          <a:xfrm>
            <a:off x="8339328" y="1783080"/>
            <a:ext cx="868680" cy="868680"/>
          </a:xfrm>
          <a:prstGeom prst="ellipse">
            <a:avLst/>
          </a:prstGeom>
          <a:solidFill>
            <a:srgbClr val="D1416B"/>
          </a:solidFill>
          <a:ln/>
        </p:spPr>
      </p:sp>
      <p:pic>
        <p:nvPicPr>
          <p:cNvPr id="16" name="Image 2" descr="preencoded.png">    </p:cNvPr>
          <p:cNvPicPr>
            <a:picLocks noChangeAspect="1"/>
          </p:cNvPicPr>
          <p:nvPr/>
        </p:nvPicPr>
        <p:blipFill>
          <a:blip r:embed="rId3"/>
          <a:stretch>
            <a:fillRect/>
          </a:stretch>
        </p:blipFill>
        <p:spPr>
          <a:xfrm>
            <a:off x="8556498" y="2000250"/>
            <a:ext cx="434340" cy="434340"/>
          </a:xfrm>
          <a:prstGeom prst="rect">
            <a:avLst/>
          </a:prstGeom>
        </p:spPr>
      </p:pic>
      <p:sp>
        <p:nvSpPr>
          <p:cNvPr id="17" name="Text 11"/>
          <p:cNvSpPr txBox="1"/>
          <p:nvPr/>
        </p:nvSpPr>
        <p:spPr>
          <a:xfrm>
            <a:off x="8339328" y="2834640"/>
            <a:ext cx="3017520" cy="457200"/>
          </a:xfrm>
          <a:prstGeom prst="rect">
            <a:avLst/>
          </a:prstGeom>
          <a:noFill/>
          <a:ln/>
        </p:spPr>
        <p:txBody>
          <a:bodyPr wrap="square" lIns="0" tIns="0" rIns="0" bIns="0" rtlCol="0" anchor="t"/>
          <a:lstStyle/>
          <a:p>
            <a:pPr indent="0" marL="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18" name="Text 12"/>
          <p:cNvSpPr txBox="1"/>
          <p:nvPr/>
        </p:nvSpPr>
        <p:spPr>
          <a:xfrm>
            <a:off x="8339328" y="3337560"/>
            <a:ext cx="3017520" cy="1188720"/>
          </a:xfrm>
          <a:prstGeom prst="rect">
            <a:avLst/>
          </a:prstGeom>
          <a:noFill/>
          <a:ln/>
        </p:spPr>
        <p:txBody>
          <a:bodyPr wrap="square" lIns="0" tIns="0" rIns="0" bIns="0" rtlCol="0" anchor="t"/>
          <a:lstStyle/>
          <a:p>
            <a:pPr indent="0" marL="0">
              <a:buNone/>
            </a:pPr>
            <a:r>
              <a:rPr lang="en-US" sz="1600" dirty="0">
                <a:solidFill>
                  <a:srgbClr val="56657E"/>
                </a:solidFill>
                <a:latin typeface="Calibri" pitchFamily="34" charset="0"/>
                <a:ea typeface="Calibri" pitchFamily="34" charset="-122"/>
                <a:cs typeface="Calibri" pitchFamily="34" charset="-120"/>
              </a:rPr>
              <a:t>One link: your Pages address + /web/. No accounts.</a:t>
            </a:r>
            <a:endParaRPr lang="en-US" sz="1600" dirty="0"/>
          </a:p>
        </p:txBody>
      </p:sp>
      <p:sp>
        <p:nvSpPr>
          <p:cNvPr id="19" name="Text 13"/>
          <p:cNvSpPr txBox="1"/>
          <p:nvPr/>
        </p:nvSpPr>
        <p:spPr>
          <a:xfrm>
            <a:off x="548640" y="4892040"/>
            <a:ext cx="2743200" cy="320040"/>
          </a:xfrm>
          <a:prstGeom prst="rect">
            <a:avLst/>
          </a:prstGeom>
          <a:noFill/>
          <a:ln/>
        </p:spPr>
        <p:txBody>
          <a:bodyPr wrap="square" lIns="0" tIns="0" rIns="0" bIns="0" rtlCol="0" anchor="t"/>
          <a:lstStyle/>
          <a:p>
            <a:pPr indent="0" marL="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0" name="Shape 14"/>
          <p:cNvSpPr/>
          <p:nvPr/>
        </p:nvSpPr>
        <p:spPr>
          <a:xfrm>
            <a:off x="548640" y="5303520"/>
            <a:ext cx="1499616" cy="347472"/>
          </a:xfrm>
          <a:prstGeom prst="roundRect">
            <a:avLst>
              <a:gd name="adj" fmla="val 50000"/>
            </a:avLst>
          </a:prstGeom>
          <a:solidFill>
            <a:srgbClr val="E4EAF3"/>
          </a:solidFill>
          <a:ln/>
        </p:spPr>
      </p:sp>
      <p:sp>
        <p:nvSpPr>
          <p:cNvPr id="21" name="Text 15"/>
          <p:cNvSpPr txBox="1"/>
          <p:nvPr/>
        </p:nvSpPr>
        <p:spPr>
          <a:xfrm>
            <a:off x="548640" y="5303520"/>
            <a:ext cx="1499616" cy="347472"/>
          </a:xfrm>
          <a:prstGeom prst="rect">
            <a:avLst/>
          </a:prstGeom>
          <a:noFill/>
          <a:ln/>
        </p:spPr>
        <p:txBody>
          <a:bodyPr wrap="square" lIns="0" tIns="0" rIns="0" bIns="0" rtlCol="0" anchor="ctr"/>
          <a:lstStyle/>
          <a:p>
            <a:pPr algn="ctr" indent="0" marL="0">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2" name="Text 16"/>
          <p:cNvSpPr txBox="1"/>
          <p:nvPr/>
        </p:nvSpPr>
        <p:spPr>
          <a:xfrm>
            <a:off x="2048256"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3" name="Shape 17"/>
          <p:cNvSpPr/>
          <p:nvPr/>
        </p:nvSpPr>
        <p:spPr>
          <a:xfrm>
            <a:off x="2212848" y="5303520"/>
            <a:ext cx="2020824" cy="347472"/>
          </a:xfrm>
          <a:prstGeom prst="roundRect">
            <a:avLst>
              <a:gd name="adj" fmla="val 50000"/>
            </a:avLst>
          </a:prstGeom>
          <a:solidFill>
            <a:srgbClr val="2459D8"/>
          </a:solidFill>
          <a:ln/>
        </p:spPr>
      </p:sp>
      <p:sp>
        <p:nvSpPr>
          <p:cNvPr id="24" name="Text 18"/>
          <p:cNvSpPr txBox="1"/>
          <p:nvPr/>
        </p:nvSpPr>
        <p:spPr>
          <a:xfrm>
            <a:off x="2212848" y="5303520"/>
            <a:ext cx="2020824"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the CTF page shell</a:t>
            </a:r>
            <a:endParaRPr lang="en-US" sz="1250" dirty="0"/>
          </a:p>
        </p:txBody>
      </p:sp>
      <p:sp>
        <p:nvSpPr>
          <p:cNvPr id="25" name="Text 19"/>
          <p:cNvSpPr txBox="1"/>
          <p:nvPr/>
        </p:nvSpPr>
        <p:spPr>
          <a:xfrm>
            <a:off x="4233672"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6" name="Shape 20"/>
          <p:cNvSpPr/>
          <p:nvPr/>
        </p:nvSpPr>
        <p:spPr>
          <a:xfrm>
            <a:off x="4398264" y="5303520"/>
            <a:ext cx="2020824" cy="347472"/>
          </a:xfrm>
          <a:prstGeom prst="roundRect">
            <a:avLst>
              <a:gd name="adj" fmla="val 50000"/>
            </a:avLst>
          </a:prstGeom>
          <a:solidFill>
            <a:srgbClr val="7448D4"/>
          </a:solidFill>
          <a:ln/>
        </p:spPr>
      </p:sp>
      <p:sp>
        <p:nvSpPr>
          <p:cNvPr id="27" name="Text 21"/>
          <p:cNvSpPr txBox="1"/>
          <p:nvPr/>
        </p:nvSpPr>
        <p:spPr>
          <a:xfrm>
            <a:off x="4398264" y="5303520"/>
            <a:ext cx="2020824"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 challenge pages</a:t>
            </a:r>
            <a:endParaRPr lang="en-US" sz="1250" dirty="0"/>
          </a:p>
        </p:txBody>
      </p:sp>
      <p:sp>
        <p:nvSpPr>
          <p:cNvPr id="28" name="Text 22"/>
          <p:cNvSpPr txBox="1"/>
          <p:nvPr/>
        </p:nvSpPr>
        <p:spPr>
          <a:xfrm>
            <a:off x="6419088"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9" name="Shape 23"/>
          <p:cNvSpPr/>
          <p:nvPr/>
        </p:nvSpPr>
        <p:spPr>
          <a:xfrm>
            <a:off x="6583680" y="5303520"/>
            <a:ext cx="2368296" cy="347472"/>
          </a:xfrm>
          <a:prstGeom prst="roundRect">
            <a:avLst>
              <a:gd name="adj" fmla="val 50000"/>
            </a:avLst>
          </a:prstGeom>
          <a:solidFill>
            <a:srgbClr val="D1416B"/>
          </a:solidFill>
          <a:ln/>
        </p:spPr>
      </p:sp>
      <p:sp>
        <p:nvSpPr>
          <p:cNvPr id="30" name="Text 24"/>
          <p:cNvSpPr txBox="1"/>
          <p:nvPr/>
        </p:nvSpPr>
        <p:spPr>
          <a:xfrm>
            <a:off x="6583680" y="5303520"/>
            <a:ext cx="2368296"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simulated server logic</a:t>
            </a:r>
            <a:endParaRPr lang="en-US" sz="1250" dirty="0"/>
          </a:p>
        </p:txBody>
      </p:sp>
      <p:sp>
        <p:nvSpPr>
          <p:cNvPr id="31" name="Text 25"/>
          <p:cNvSpPr txBox="1"/>
          <p:nvPr/>
        </p:nvSpPr>
        <p:spPr>
          <a:xfrm>
            <a:off x="8951976" y="5303520"/>
            <a:ext cx="109728" cy="347472"/>
          </a:xfrm>
          <a:prstGeom prst="rect">
            <a:avLst/>
          </a:prstGeom>
          <a:noFill/>
          <a:ln/>
        </p:spPr>
        <p:txBody>
          <a:bodyPr wrap="square" lIns="0" tIns="0" rIns="0" bIns="0" rtlCol="0" anchor="ctr"/>
          <a:lstStyle/>
          <a:p>
            <a:pPr algn="ctr" indent="0" marL="0">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2" name="Shape 26"/>
          <p:cNvSpPr/>
          <p:nvPr/>
        </p:nvSpPr>
        <p:spPr>
          <a:xfrm>
            <a:off x="9116568" y="5303520"/>
            <a:ext cx="2281428" cy="347472"/>
          </a:xfrm>
          <a:prstGeom prst="roundRect">
            <a:avLst>
              <a:gd name="adj" fmla="val 50000"/>
            </a:avLst>
          </a:prstGeom>
          <a:solidFill>
            <a:srgbClr val="F5A623"/>
          </a:solidFill>
          <a:ln/>
        </p:spPr>
      </p:sp>
      <p:sp>
        <p:nvSpPr>
          <p:cNvPr id="33" name="Text 27"/>
          <p:cNvSpPr txBox="1"/>
          <p:nvPr/>
        </p:nvSpPr>
        <p:spPr>
          <a:xfrm>
            <a:off x="9116568" y="5303520"/>
            <a:ext cx="2281428" cy="347472"/>
          </a:xfrm>
          <a:prstGeom prst="rect">
            <a:avLst/>
          </a:prstGeom>
          <a:noFill/>
          <a:ln/>
        </p:spPr>
        <p:txBody>
          <a:bodyPr wrap="square" lIns="0" tIns="0" rIns="0" bIns="0" rtlCol="0" anchor="ctr"/>
          <a:lstStyle/>
          <a:p>
            <a:pPr algn="ctr" indent="0" marL="0">
              <a:buNone/>
            </a:pPr>
            <a:r>
              <a:rPr lang="en-US" sz="1250" b="1" dirty="0">
                <a:solidFill>
                  <a:srgbClr val="12213A"/>
                </a:solidFill>
                <a:latin typeface="Calibri" pitchFamily="34" charset="0"/>
                <a:ea typeface="Calibri" pitchFamily="34" charset="-122"/>
                <a:cs typeface="Calibri" pitchFamily="34" charset="-120"/>
              </a:rPr>
              <a:t>random flags &amp; tokens</a:t>
            </a:r>
            <a:endParaRPr lang="en-US" sz="1250" dirty="0"/>
          </a:p>
        </p:txBody>
      </p:sp>
      <p:sp>
        <p:nvSpPr>
          <p:cNvPr id="34" name="Text 28"/>
          <p:cNvSpPr txBox="1"/>
          <p:nvPr/>
        </p:nvSpPr>
        <p:spPr>
          <a:xfrm>
            <a:off x="548640" y="5852160"/>
            <a:ext cx="10515600" cy="320040"/>
          </a:xfrm>
          <a:prstGeom prst="rect">
            <a:avLst/>
          </a:prstGeom>
          <a:noFill/>
          <a:ln/>
        </p:spPr>
        <p:txBody>
          <a:bodyPr wrap="square" lIns="0" tIns="0" rIns="0" bIns="0" rtlCol="0" anchor="t"/>
          <a:lstStyle/>
          <a:p>
            <a:pPr indent="0" marL="0">
              <a:buNone/>
            </a:pPr>
            <a:r>
              <a:rPr lang="en-US" sz="1300" dirty="0">
                <a:solidFill>
                  <a:srgbClr val="56657E"/>
                </a:solidFill>
                <a:latin typeface="Calibri" pitchFamily="34" charset="0"/>
                <a:ea typeface="Calibri" pitchFamily="34" charset="-122"/>
                <a:cs typeface="Calibri" pitchFamily="34" charset="-120"/>
              </a:rPr>
              <a:t>Source: public/web/ (page) and guest-web/ (challenges, tokens, flag logic).</a:t>
            </a:r>
            <a:endParaRPr lang="en-US" sz="1300" dirty="0"/>
          </a:p>
        </p:txBody>
      </p:sp>
      <p:sp>
        <p:nvSpPr>
          <p:cNvPr id="35" name="Text 2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41 / 61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open the Web CTF</a:t>
            </a:r>
            <a:endParaRPr lang="en-US" sz="3200" dirty="0"/>
          </a:p>
        </p:txBody>
      </p:sp>
      <p:sp>
        <p:nvSpPr>
          <p:cNvPr id="4" name="Shape 1"/>
          <p:cNvSpPr/>
          <p:nvPr/>
        </p:nvSpPr>
        <p:spPr>
          <a:xfrm>
            <a:off x="548640" y="1691640"/>
            <a:ext cx="457200" cy="457200"/>
          </a:xfrm>
          <a:prstGeom prst="ellipse">
            <a:avLst/>
          </a:prstGeom>
          <a:solidFill>
            <a:srgbClr val="2459D8"/>
          </a:solidFill>
          <a:ln/>
        </p:spPr>
      </p:sp>
      <p:sp>
        <p:nvSpPr>
          <p:cNvPr id="5" name="Text 2"/>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3"/>
          <p:cNvSpPr txBox="1"/>
          <p:nvPr/>
        </p:nvSpPr>
        <p:spPr>
          <a:xfrm>
            <a:off x="1188720" y="166420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Open Chrome </a:t>
            </a:r>
            <a:pPr indent="0" marL="0">
              <a:buNone/>
            </a:pP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7" name="Shape 4"/>
          <p:cNvSpPr/>
          <p:nvPr/>
        </p:nvSpPr>
        <p:spPr>
          <a:xfrm>
            <a:off x="548640" y="2697480"/>
            <a:ext cx="457200" cy="457200"/>
          </a:xfrm>
          <a:prstGeom prst="ellipse">
            <a:avLst/>
          </a:prstGeom>
          <a:solidFill>
            <a:srgbClr val="2459D8"/>
          </a:solidFill>
          <a:ln/>
        </p:spPr>
      </p:sp>
      <p:sp>
        <p:nvSpPr>
          <p:cNvPr id="8" name="Text 5"/>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6"/>
          <p:cNvSpPr txBox="1"/>
          <p:nvPr/>
        </p:nvSpPr>
        <p:spPr>
          <a:xfrm>
            <a:off x="1188720" y="267004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Wait for it to load. </a:t>
            </a:r>
            <a:pPr indent="0" marL="0">
              <a:buNone/>
            </a:pPr>
            <a:r>
              <a:rPr lang="en-US" sz="1800" dirty="0">
                <a:solidFill>
                  <a:srgbClr val="12213A"/>
                </a:solidFill>
                <a:latin typeface="Calibri" pitchFamily="34" charset="0"/>
                <a:ea typeface="Calibri" pitchFamily="34" charset="-122"/>
                <a:cs typeface="Calibri" pitchFamily="34" charset="-120"/>
              </a:rPr>
              <a:t>The challenge list appears when it's ready.</a:t>
            </a:r>
            <a:endParaRPr lang="en-US" sz="1800" dirty="0"/>
          </a:p>
        </p:txBody>
      </p:sp>
      <p:sp>
        <p:nvSpPr>
          <p:cNvPr id="10" name="Shape 7"/>
          <p:cNvSpPr/>
          <p:nvPr/>
        </p:nvSpPr>
        <p:spPr>
          <a:xfrm>
            <a:off x="548640" y="3703320"/>
            <a:ext cx="457200" cy="457200"/>
          </a:xfrm>
          <a:prstGeom prst="ellipse">
            <a:avLst/>
          </a:prstGeom>
          <a:solidFill>
            <a:srgbClr val="2459D8"/>
          </a:solidFill>
          <a:ln/>
        </p:spPr>
      </p:sp>
      <p:sp>
        <p:nvSpPr>
          <p:cNvPr id="11" name="Text 8"/>
          <p:cNvSpPr txBox="1"/>
          <p:nvPr/>
        </p:nvSpPr>
        <p:spPr>
          <a:xfrm>
            <a:off x="548640" y="3703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9"/>
          <p:cNvSpPr txBox="1"/>
          <p:nvPr/>
        </p:nvSpPr>
        <p:spPr>
          <a:xfrm>
            <a:off x="1188720" y="367588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Press F12. </a:t>
            </a:r>
            <a:pPr indent="0" marL="0">
              <a:buNone/>
            </a:pPr>
            <a:r>
              <a:rPr lang="en-US" sz="1800" dirty="0">
                <a:solidFill>
                  <a:srgbClr val="12213A"/>
                </a:solidFill>
                <a:latin typeface="Calibri" pitchFamily="34" charset="0"/>
                <a:ea typeface="Calibri" pitchFamily="34" charset="-122"/>
                <a:cs typeface="Calibri" pitchFamily="34" charset="-120"/>
              </a:rPr>
              <a:t>Open DevTools now - it's the tool for every mission.</a:t>
            </a:r>
            <a:endParaRPr lang="en-US" sz="1800" dirty="0"/>
          </a:p>
        </p:txBody>
      </p:sp>
      <p:sp>
        <p:nvSpPr>
          <p:cNvPr id="13" name="Shape 10"/>
          <p:cNvSpPr/>
          <p:nvPr/>
        </p:nvSpPr>
        <p:spPr>
          <a:xfrm>
            <a:off x="548640" y="4709160"/>
            <a:ext cx="457200" cy="457200"/>
          </a:xfrm>
          <a:prstGeom prst="ellipse">
            <a:avLst/>
          </a:prstGeom>
          <a:solidFill>
            <a:srgbClr val="2459D8"/>
          </a:solidFill>
          <a:ln/>
        </p:spPr>
      </p:sp>
      <p:sp>
        <p:nvSpPr>
          <p:cNvPr id="14" name="Text 11"/>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1188720" y="4681728"/>
            <a:ext cx="5394960" cy="914400"/>
          </a:xfrm>
          <a:prstGeom prst="rect">
            <a:avLst/>
          </a:prstGeom>
          <a:noFill/>
          <a:ln/>
        </p:spPr>
        <p:txBody>
          <a:bodyPr wrap="square" lIns="0" tIns="0" rIns="0" bIns="0" rtlCol="0" anchor="t"/>
          <a:lstStyle/>
          <a:p>
            <a:pPr indent="0" marL="0">
              <a:buNone/>
            </a:pPr>
            <a:r>
              <a:rPr lang="en-US" sz="1800" b="1" dirty="0">
                <a:solidFill>
                  <a:srgbClr val="12213A"/>
                </a:solidFill>
                <a:latin typeface="Calibri" pitchFamily="34" charset="0"/>
                <a:ea typeface="Calibri" pitchFamily="34" charset="-122"/>
                <a:cs typeface="Calibri" pitchFamily="34" charset="-120"/>
              </a:rPr>
              <a:t>Don't reload mid-capture. </a:t>
            </a:r>
            <a:pPr indent="0" marL="0">
              <a:buNone/>
            </a:pP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6" name="Shape 13"/>
          <p:cNvSpPr/>
          <p:nvPr/>
        </p:nvSpPr>
        <p:spPr>
          <a:xfrm>
            <a:off x="7040880" y="1554480"/>
            <a:ext cx="4599432" cy="2926080"/>
          </a:xfrm>
          <a:prstGeom prst="roundRect">
            <a:avLst>
              <a:gd name="adj" fmla="val 3750"/>
            </a:avLst>
          </a:prstGeom>
          <a:solidFill>
            <a:srgbClr val="0E1726"/>
          </a:solidFill>
          <a:ln/>
        </p:spPr>
      </p:sp>
      <p:sp>
        <p:nvSpPr>
          <p:cNvPr id="17" name="Text 14"/>
          <p:cNvSpPr txBox="1"/>
          <p:nvPr/>
        </p:nvSpPr>
        <p:spPr>
          <a:xfrm>
            <a:off x="7040880" y="1737360"/>
            <a:ext cx="4599432" cy="365760"/>
          </a:xfrm>
          <a:prstGeom prst="rect">
            <a:avLst/>
          </a:prstGeom>
          <a:noFill/>
          <a:ln/>
        </p:spPr>
        <p:txBody>
          <a:bodyPr wrap="square" lIns="0" tIns="0" rIns="0" bIns="0" rtlCol="0" anchor="ctr"/>
          <a:lstStyle/>
          <a:p>
            <a:pPr algn="ctr" indent="0" marL="0">
              <a:buNone/>
            </a:pPr>
            <a:r>
              <a:rPr lang="en-US" sz="1600" dirty="0">
                <a:solidFill>
                  <a:srgbClr val="B8C4D9"/>
                </a:solidFill>
                <a:latin typeface="Calibri" pitchFamily="34" charset="0"/>
                <a:ea typeface="Calibri" pitchFamily="34" charset="-122"/>
                <a:cs typeface="Calibri" pitchFamily="34" charset="-120"/>
              </a:rPr>
              <a:t>Web CTF address</a:t>
            </a:r>
            <a:endParaRPr lang="en-US" sz="1600" dirty="0"/>
          </a:p>
        </p:txBody>
      </p:sp>
      <p:sp>
        <p:nvSpPr>
          <p:cNvPr id="18" name="Shape 15"/>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sp>
      <p:sp>
        <p:nvSpPr>
          <p:cNvPr id="19" name="Text 16"/>
          <p:cNvSpPr txBox="1"/>
          <p:nvPr/>
        </p:nvSpPr>
        <p:spPr>
          <a:xfrm>
            <a:off x="7406640" y="2331720"/>
            <a:ext cx="3867912" cy="1371600"/>
          </a:xfrm>
          <a:prstGeom prst="rect">
            <a:avLst/>
          </a:prstGeom>
          <a:noFill/>
          <a:ln/>
        </p:spPr>
        <p:txBody>
          <a:bodyPr wrap="square" lIns="0" tIns="0" rIns="0" bIns="0" rtlCol="0" anchor="ctr"/>
          <a:lstStyle/>
          <a:p>
            <a:pPr algn="ctr" indent="0" marL="0">
              <a:buNone/>
            </a:pPr>
            <a:r>
              <a:rPr lang="en-US" sz="1700" b="1" dirty="0">
                <a:solidFill>
                  <a:srgbClr val="F5A623"/>
                </a:solidFill>
                <a:latin typeface="Courier New" pitchFamily="34" charset="0"/>
                <a:ea typeface="Courier New" pitchFamily="34" charset="-122"/>
                <a:cs typeface="Courier New" pitchFamily="34" charset="-120"/>
              </a:rPr>
              <a:t>your-group.gitlab.io/.../web/</a:t>
            </a:r>
            <a:endParaRPr lang="en-US" sz="1700" dirty="0"/>
          </a:p>
        </p:txBody>
      </p:sp>
      <p:sp>
        <p:nvSpPr>
          <p:cNvPr id="20" name="Text 17"/>
          <p:cNvSpPr txBox="1"/>
          <p:nvPr/>
        </p:nvSpPr>
        <p:spPr>
          <a:xfrm>
            <a:off x="7040880" y="3840480"/>
            <a:ext cx="4599432" cy="365760"/>
          </a:xfrm>
          <a:prstGeom prst="rect">
            <a:avLst/>
          </a:prstGeom>
          <a:noFill/>
          <a:ln/>
        </p:spPr>
        <p:txBody>
          <a:bodyPr wrap="square" lIns="0" tIns="0" rIns="0" bIns="0" rtlCol="0" anchor="ctr"/>
          <a:lstStyle/>
          <a:p>
            <a:pPr algn="ctr" indent="0" marL="0">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1" name="Shape 18"/>
          <p:cNvSpPr/>
          <p:nvPr/>
        </p:nvSpPr>
        <p:spPr>
          <a:xfrm>
            <a:off x="7040880" y="4709160"/>
            <a:ext cx="4599432" cy="1188720"/>
          </a:xfrm>
          <a:prstGeom prst="roundRect">
            <a:avLst>
              <a:gd name="adj" fmla="val 7692"/>
            </a:avLst>
          </a:prstGeom>
          <a:solidFill>
            <a:srgbClr val="FFF4DC"/>
          </a:solidFill>
          <a:ln/>
        </p:spPr>
      </p:sp>
      <p:sp>
        <p:nvSpPr>
          <p:cNvPr id="22" name="Text 19"/>
          <p:cNvSpPr txBox="1"/>
          <p:nvPr/>
        </p:nvSpPr>
        <p:spPr>
          <a:xfrm>
            <a:off x="7315200" y="4709160"/>
            <a:ext cx="4114800" cy="1188720"/>
          </a:xfrm>
          <a:prstGeom prst="rect">
            <a:avLst/>
          </a:prstGeom>
          <a:noFill/>
          <a:ln/>
        </p:spPr>
        <p:txBody>
          <a:bodyPr wrap="square" lIns="0" tIns="0" rIns="0" bIns="0" rtlCol="0" anchor="ctr"/>
          <a:lstStyle/>
          <a:p>
            <a:pPr indent="0" marL="0">
              <a:buNone/>
            </a:pPr>
            <a:r>
              <a:rPr lang="en-US" sz="1500" b="1" dirty="0">
                <a:solidFill>
                  <a:srgbClr val="12213A"/>
                </a:solidFill>
                <a:latin typeface="Calibri" pitchFamily="34" charset="0"/>
                <a:ea typeface="Calibri" pitchFamily="34" charset="-122"/>
                <a:cs typeface="Calibri" pitchFamily="34" charset="-120"/>
              </a:rPr>
              <a:t>Open DevTools first. </a:t>
            </a:r>
            <a:pPr indent="0" marL="0">
              <a:buNone/>
            </a:pPr>
            <a:r>
              <a:rPr lang="en-US" sz="1500" dirty="0">
                <a:solidFill>
                  <a:srgbClr val="12213A"/>
                </a:solidFill>
                <a:latin typeface="Calibri" pitchFamily="34" charset="0"/>
                <a:ea typeface="Calibri" pitchFamily="34" charset="-122"/>
                <a:cs typeface="Calibri" pitchFamily="34" charset="-120"/>
              </a:rPr>
              <a:t>Every mission starts with F12. Make it a reflex before students read the brief.</a:t>
            </a:r>
            <a:endParaRPr lang="en-US" sz="1500" dirty="0"/>
          </a:p>
        </p:txBody>
      </p:sp>
      <p:sp>
        <p:nvSpPr>
          <p:cNvPr id="23" name="Text 2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42 / 61</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4" name="Shape 1"/>
          <p:cNvSpPr/>
          <p:nvPr/>
        </p:nvSpPr>
        <p:spPr>
          <a:xfrm>
            <a:off x="548640" y="1325880"/>
            <a:ext cx="11094415" cy="329184"/>
          </a:xfrm>
          <a:prstGeom prst="rect">
            <a:avLst/>
          </a:prstGeom>
          <a:solidFill>
            <a:srgbClr val="F1F5FB"/>
          </a:solidFill>
          <a:ln/>
        </p:spPr>
      </p:sp>
      <p:sp>
        <p:nvSpPr>
          <p:cNvPr id="5" name="Shape 2"/>
          <p:cNvSpPr/>
          <p:nvPr/>
        </p:nvSpPr>
        <p:spPr>
          <a:xfrm>
            <a:off x="658368" y="1376172"/>
            <a:ext cx="228600" cy="228600"/>
          </a:xfrm>
          <a:prstGeom prst="ellipse">
            <a:avLst/>
          </a:prstGeom>
          <a:solidFill>
            <a:srgbClr val="17875A"/>
          </a:solidFill>
          <a:ln/>
        </p:spPr>
      </p:sp>
      <p:sp>
        <p:nvSpPr>
          <p:cNvPr id="6" name="Text 3"/>
          <p:cNvSpPr txBox="1"/>
          <p:nvPr/>
        </p:nvSpPr>
        <p:spPr>
          <a:xfrm>
            <a:off x="658368" y="137617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4"/>
          <p:cNvSpPr txBox="1"/>
          <p:nvPr/>
        </p:nvSpPr>
        <p:spPr>
          <a:xfrm>
            <a:off x="1005840" y="132588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View the source</a:t>
            </a:r>
            <a:endParaRPr lang="en-US" sz="1200" dirty="0"/>
          </a:p>
        </p:txBody>
      </p:sp>
      <p:sp>
        <p:nvSpPr>
          <p:cNvPr id="8" name="Text 5"/>
          <p:cNvSpPr txBox="1"/>
          <p:nvPr/>
        </p:nvSpPr>
        <p:spPr>
          <a:xfrm>
            <a:off x="3200400" y="132588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View Source (Ctrl+U) and read the comment - or: curl -s URL | grep CYBA</a:t>
            </a:r>
            <a:endParaRPr lang="en-US" sz="950" dirty="0"/>
          </a:p>
        </p:txBody>
      </p:sp>
      <p:sp>
        <p:nvSpPr>
          <p:cNvPr id="9" name="Text 6"/>
          <p:cNvSpPr txBox="1"/>
          <p:nvPr/>
        </p:nvSpPr>
        <p:spPr>
          <a:xfrm>
            <a:off x="10241280" y="132588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0" name="Shape 7"/>
          <p:cNvSpPr/>
          <p:nvPr/>
        </p:nvSpPr>
        <p:spPr>
          <a:xfrm>
            <a:off x="548640" y="1655064"/>
            <a:ext cx="11094415" cy="329184"/>
          </a:xfrm>
          <a:prstGeom prst="rect">
            <a:avLst/>
          </a:prstGeom>
          <a:solidFill>
            <a:srgbClr val="FFFFFF"/>
          </a:solidFill>
          <a:ln/>
        </p:spPr>
      </p:sp>
      <p:sp>
        <p:nvSpPr>
          <p:cNvPr id="11" name="Shape 8"/>
          <p:cNvSpPr/>
          <p:nvPr/>
        </p:nvSpPr>
        <p:spPr>
          <a:xfrm>
            <a:off x="658368" y="1705356"/>
            <a:ext cx="228600" cy="228600"/>
          </a:xfrm>
          <a:prstGeom prst="ellipse">
            <a:avLst/>
          </a:prstGeom>
          <a:solidFill>
            <a:srgbClr val="2A9FD6"/>
          </a:solidFill>
          <a:ln/>
        </p:spPr>
      </p:sp>
      <p:sp>
        <p:nvSpPr>
          <p:cNvPr id="12" name="Text 9"/>
          <p:cNvSpPr txBox="1"/>
          <p:nvPr/>
        </p:nvSpPr>
        <p:spPr>
          <a:xfrm>
            <a:off x="658368" y="170535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3" name="Text 10"/>
          <p:cNvSpPr txBox="1"/>
          <p:nvPr/>
        </p:nvSpPr>
        <p:spPr>
          <a:xfrm>
            <a:off x="1005840" y="165506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Hidden in plain sight</a:t>
            </a:r>
            <a:endParaRPr lang="en-US" sz="1200" dirty="0"/>
          </a:p>
        </p:txBody>
      </p:sp>
      <p:sp>
        <p:nvSpPr>
          <p:cNvPr id="14" name="Text 11"/>
          <p:cNvSpPr txBox="1"/>
          <p:nvPr/>
        </p:nvSpPr>
        <p:spPr>
          <a:xfrm>
            <a:off x="3200400" y="165506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F12 → Elements; find the hidden element and read its value.</a:t>
            </a:r>
            <a:endParaRPr lang="en-US" sz="950" dirty="0"/>
          </a:p>
        </p:txBody>
      </p:sp>
      <p:sp>
        <p:nvSpPr>
          <p:cNvPr id="15" name="Text 12"/>
          <p:cNvSpPr txBox="1"/>
          <p:nvPr/>
        </p:nvSpPr>
        <p:spPr>
          <a:xfrm>
            <a:off x="10241280" y="165506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6" name="Shape 13"/>
          <p:cNvSpPr/>
          <p:nvPr/>
        </p:nvSpPr>
        <p:spPr>
          <a:xfrm>
            <a:off x="548640" y="1984248"/>
            <a:ext cx="11094415" cy="329184"/>
          </a:xfrm>
          <a:prstGeom prst="rect">
            <a:avLst/>
          </a:prstGeom>
          <a:solidFill>
            <a:srgbClr val="F1F5FB"/>
          </a:solidFill>
          <a:ln/>
        </p:spPr>
      </p:sp>
      <p:sp>
        <p:nvSpPr>
          <p:cNvPr id="17" name="Shape 14"/>
          <p:cNvSpPr/>
          <p:nvPr/>
        </p:nvSpPr>
        <p:spPr>
          <a:xfrm>
            <a:off x="658368" y="2034540"/>
            <a:ext cx="228600" cy="228600"/>
          </a:xfrm>
          <a:prstGeom prst="ellipse">
            <a:avLst/>
          </a:prstGeom>
          <a:solidFill>
            <a:srgbClr val="2459D8"/>
          </a:solidFill>
          <a:ln/>
        </p:spPr>
      </p:sp>
      <p:sp>
        <p:nvSpPr>
          <p:cNvPr id="18" name="Text 15"/>
          <p:cNvSpPr txBox="1"/>
          <p:nvPr/>
        </p:nvSpPr>
        <p:spPr>
          <a:xfrm>
            <a:off x="658368" y="203454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9" name="Text 16"/>
          <p:cNvSpPr txBox="1"/>
          <p:nvPr/>
        </p:nvSpPr>
        <p:spPr>
          <a:xfrm>
            <a:off x="1005840" y="198424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Check the cookies</a:t>
            </a:r>
            <a:endParaRPr lang="en-US" sz="1200" dirty="0"/>
          </a:p>
        </p:txBody>
      </p:sp>
      <p:sp>
        <p:nvSpPr>
          <p:cNvPr id="20" name="Text 17"/>
          <p:cNvSpPr txBox="1"/>
          <p:nvPr/>
        </p:nvSpPr>
        <p:spPr>
          <a:xfrm>
            <a:off x="3200400" y="198424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F12 → Application → Cookies; read the flag cookie (and try setting role=admin).</a:t>
            </a:r>
            <a:endParaRPr lang="en-US" sz="950" dirty="0"/>
          </a:p>
        </p:txBody>
      </p:sp>
      <p:sp>
        <p:nvSpPr>
          <p:cNvPr id="21" name="Text 18"/>
          <p:cNvSpPr txBox="1"/>
          <p:nvPr/>
        </p:nvSpPr>
        <p:spPr>
          <a:xfrm>
            <a:off x="10241280" y="198424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2" name="Shape 19"/>
          <p:cNvSpPr/>
          <p:nvPr/>
        </p:nvSpPr>
        <p:spPr>
          <a:xfrm>
            <a:off x="548640" y="2313432"/>
            <a:ext cx="11094415" cy="329184"/>
          </a:xfrm>
          <a:prstGeom prst="rect">
            <a:avLst/>
          </a:prstGeom>
          <a:solidFill>
            <a:srgbClr val="FFFFFF"/>
          </a:solidFill>
          <a:ln/>
        </p:spPr>
      </p:sp>
      <p:sp>
        <p:nvSpPr>
          <p:cNvPr id="23" name="Shape 20"/>
          <p:cNvSpPr/>
          <p:nvPr/>
        </p:nvSpPr>
        <p:spPr>
          <a:xfrm>
            <a:off x="658368" y="2363724"/>
            <a:ext cx="228600" cy="228600"/>
          </a:xfrm>
          <a:prstGeom prst="ellipse">
            <a:avLst/>
          </a:prstGeom>
          <a:solidFill>
            <a:srgbClr val="7448D4"/>
          </a:solidFill>
          <a:ln/>
        </p:spPr>
      </p:sp>
      <p:sp>
        <p:nvSpPr>
          <p:cNvPr id="24" name="Text 21"/>
          <p:cNvSpPr txBox="1"/>
          <p:nvPr/>
        </p:nvSpPr>
        <p:spPr>
          <a:xfrm>
            <a:off x="658368" y="236372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5" name="Text 22"/>
          <p:cNvSpPr txBox="1"/>
          <p:nvPr/>
        </p:nvSpPr>
        <p:spPr>
          <a:xfrm>
            <a:off x="1005840" y="2313432"/>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Tamper with the URL</a:t>
            </a:r>
            <a:endParaRPr lang="en-US" sz="1200" dirty="0"/>
          </a:p>
        </p:txBody>
      </p:sp>
      <p:sp>
        <p:nvSpPr>
          <p:cNvPr id="26" name="Text 23"/>
          <p:cNvSpPr txBox="1"/>
          <p:nvPr/>
        </p:nvSpPr>
        <p:spPr>
          <a:xfrm>
            <a:off x="3200400" y="2313432"/>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Change ?id=1 to another id in the address bar.</a:t>
            </a:r>
            <a:endParaRPr lang="en-US" sz="950" dirty="0"/>
          </a:p>
        </p:txBody>
      </p:sp>
      <p:sp>
        <p:nvSpPr>
          <p:cNvPr id="27" name="Text 24"/>
          <p:cNvSpPr txBox="1"/>
          <p:nvPr/>
        </p:nvSpPr>
        <p:spPr>
          <a:xfrm>
            <a:off x="10241280" y="2313432"/>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28" name="Shape 25"/>
          <p:cNvSpPr/>
          <p:nvPr/>
        </p:nvSpPr>
        <p:spPr>
          <a:xfrm>
            <a:off x="548640" y="2642616"/>
            <a:ext cx="11094415" cy="329184"/>
          </a:xfrm>
          <a:prstGeom prst="rect">
            <a:avLst/>
          </a:prstGeom>
          <a:solidFill>
            <a:srgbClr val="F1F5FB"/>
          </a:solidFill>
          <a:ln/>
        </p:spPr>
      </p:sp>
      <p:sp>
        <p:nvSpPr>
          <p:cNvPr id="29" name="Shape 26"/>
          <p:cNvSpPr/>
          <p:nvPr/>
        </p:nvSpPr>
        <p:spPr>
          <a:xfrm>
            <a:off x="658368" y="2692908"/>
            <a:ext cx="228600" cy="228600"/>
          </a:xfrm>
          <a:prstGeom prst="ellipse">
            <a:avLst/>
          </a:prstGeom>
          <a:solidFill>
            <a:srgbClr val="D1416B"/>
          </a:solidFill>
          <a:ln/>
        </p:spPr>
      </p:sp>
      <p:sp>
        <p:nvSpPr>
          <p:cNvPr id="30" name="Text 27"/>
          <p:cNvSpPr txBox="1"/>
          <p:nvPr/>
        </p:nvSpPr>
        <p:spPr>
          <a:xfrm>
            <a:off x="658368" y="269290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1" name="Text 28"/>
          <p:cNvSpPr txBox="1"/>
          <p:nvPr/>
        </p:nvSpPr>
        <p:spPr>
          <a:xfrm>
            <a:off x="1005840" y="2642616"/>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Robots and secret paths</a:t>
            </a:r>
            <a:endParaRPr lang="en-US" sz="1200" dirty="0"/>
          </a:p>
        </p:txBody>
      </p:sp>
      <p:sp>
        <p:nvSpPr>
          <p:cNvPr id="32" name="Text 29"/>
          <p:cNvSpPr txBox="1"/>
          <p:nvPr/>
        </p:nvSpPr>
        <p:spPr>
          <a:xfrm>
            <a:off x="3200400" y="2642616"/>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Open /robots.txt, then visit the Disallowed path.</a:t>
            </a:r>
            <a:endParaRPr lang="en-US" sz="950" dirty="0"/>
          </a:p>
        </p:txBody>
      </p:sp>
      <p:sp>
        <p:nvSpPr>
          <p:cNvPr id="33" name="Text 30"/>
          <p:cNvSpPr txBox="1"/>
          <p:nvPr/>
        </p:nvSpPr>
        <p:spPr>
          <a:xfrm>
            <a:off x="10241280" y="2642616"/>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4" name="Shape 31"/>
          <p:cNvSpPr/>
          <p:nvPr/>
        </p:nvSpPr>
        <p:spPr>
          <a:xfrm>
            <a:off x="548640" y="2971800"/>
            <a:ext cx="11094415" cy="329184"/>
          </a:xfrm>
          <a:prstGeom prst="rect">
            <a:avLst/>
          </a:prstGeom>
          <a:solidFill>
            <a:srgbClr val="FFFFFF"/>
          </a:solidFill>
          <a:ln/>
        </p:spPr>
      </p:sp>
      <p:sp>
        <p:nvSpPr>
          <p:cNvPr id="35" name="Shape 32"/>
          <p:cNvSpPr/>
          <p:nvPr/>
        </p:nvSpPr>
        <p:spPr>
          <a:xfrm>
            <a:off x="658368" y="3022092"/>
            <a:ext cx="228600" cy="228600"/>
          </a:xfrm>
          <a:prstGeom prst="ellipse">
            <a:avLst/>
          </a:prstGeom>
          <a:solidFill>
            <a:srgbClr val="E8820C"/>
          </a:solidFill>
          <a:ln/>
        </p:spPr>
      </p:sp>
      <p:sp>
        <p:nvSpPr>
          <p:cNvPr id="36" name="Text 33"/>
          <p:cNvSpPr txBox="1"/>
          <p:nvPr/>
        </p:nvSpPr>
        <p:spPr>
          <a:xfrm>
            <a:off x="658368" y="302209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7" name="Text 34"/>
          <p:cNvSpPr txBox="1"/>
          <p:nvPr/>
        </p:nvSpPr>
        <p:spPr>
          <a:xfrm>
            <a:off x="1005840" y="297180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The console knows</a:t>
            </a:r>
            <a:endParaRPr lang="en-US" sz="1200" dirty="0"/>
          </a:p>
        </p:txBody>
      </p:sp>
      <p:sp>
        <p:nvSpPr>
          <p:cNvPr id="38" name="Text 35"/>
          <p:cNvSpPr txBox="1"/>
          <p:nvPr/>
        </p:nvSpPr>
        <p:spPr>
          <a:xfrm>
            <a:off x="3200400" y="297180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F12 → Console; call the page's flag function.</a:t>
            </a:r>
            <a:endParaRPr lang="en-US" sz="950" dirty="0"/>
          </a:p>
        </p:txBody>
      </p:sp>
      <p:sp>
        <p:nvSpPr>
          <p:cNvPr id="39" name="Text 36"/>
          <p:cNvSpPr txBox="1"/>
          <p:nvPr/>
        </p:nvSpPr>
        <p:spPr>
          <a:xfrm>
            <a:off x="10241280" y="297180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0" name="Shape 37"/>
          <p:cNvSpPr/>
          <p:nvPr/>
        </p:nvSpPr>
        <p:spPr>
          <a:xfrm>
            <a:off x="548640" y="3300984"/>
            <a:ext cx="11094415" cy="329184"/>
          </a:xfrm>
          <a:prstGeom prst="rect">
            <a:avLst/>
          </a:prstGeom>
          <a:solidFill>
            <a:srgbClr val="F1F5FB"/>
          </a:solidFill>
          <a:ln/>
        </p:spPr>
      </p:sp>
      <p:sp>
        <p:nvSpPr>
          <p:cNvPr id="41" name="Shape 38"/>
          <p:cNvSpPr/>
          <p:nvPr/>
        </p:nvSpPr>
        <p:spPr>
          <a:xfrm>
            <a:off x="658368" y="3351276"/>
            <a:ext cx="228600" cy="228600"/>
          </a:xfrm>
          <a:prstGeom prst="ellipse">
            <a:avLst/>
          </a:prstGeom>
          <a:solidFill>
            <a:srgbClr val="C9A227"/>
          </a:solidFill>
          <a:ln/>
        </p:spPr>
      </p:sp>
      <p:sp>
        <p:nvSpPr>
          <p:cNvPr id="42" name="Text 39"/>
          <p:cNvSpPr txBox="1"/>
          <p:nvPr/>
        </p:nvSpPr>
        <p:spPr>
          <a:xfrm>
            <a:off x="658368" y="335127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43" name="Text 40"/>
          <p:cNvSpPr txBox="1"/>
          <p:nvPr/>
        </p:nvSpPr>
        <p:spPr>
          <a:xfrm>
            <a:off x="1005840" y="330098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Break the lock</a:t>
            </a:r>
            <a:endParaRPr lang="en-US" sz="1200" dirty="0"/>
          </a:p>
        </p:txBody>
      </p:sp>
      <p:sp>
        <p:nvSpPr>
          <p:cNvPr id="44" name="Text 41"/>
          <p:cNvSpPr txBox="1"/>
          <p:nvPr/>
        </p:nvSpPr>
        <p:spPr>
          <a:xfrm>
            <a:off x="3200400" y="330098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Open Sources; read the password in the JS (or call reveal() in the Console).</a:t>
            </a:r>
            <a:endParaRPr lang="en-US" sz="950" dirty="0"/>
          </a:p>
        </p:txBody>
      </p:sp>
      <p:sp>
        <p:nvSpPr>
          <p:cNvPr id="45" name="Text 42"/>
          <p:cNvSpPr txBox="1"/>
          <p:nvPr/>
        </p:nvSpPr>
        <p:spPr>
          <a:xfrm>
            <a:off x="10241280" y="330098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6" name="Shape 43"/>
          <p:cNvSpPr/>
          <p:nvPr/>
        </p:nvSpPr>
        <p:spPr>
          <a:xfrm>
            <a:off x="548640" y="3630168"/>
            <a:ext cx="11094415" cy="329184"/>
          </a:xfrm>
          <a:prstGeom prst="rect">
            <a:avLst/>
          </a:prstGeom>
          <a:solidFill>
            <a:srgbClr val="FFFFFF"/>
          </a:solidFill>
          <a:ln/>
        </p:spPr>
      </p:sp>
      <p:sp>
        <p:nvSpPr>
          <p:cNvPr id="47" name="Shape 44"/>
          <p:cNvSpPr/>
          <p:nvPr/>
        </p:nvSpPr>
        <p:spPr>
          <a:xfrm>
            <a:off x="658368" y="3680460"/>
            <a:ext cx="228600" cy="228600"/>
          </a:xfrm>
          <a:prstGeom prst="ellipse">
            <a:avLst/>
          </a:prstGeom>
          <a:solidFill>
            <a:srgbClr val="0F9488"/>
          </a:solidFill>
          <a:ln/>
        </p:spPr>
      </p:sp>
      <p:sp>
        <p:nvSpPr>
          <p:cNvPr id="48" name="Text 45"/>
          <p:cNvSpPr txBox="1"/>
          <p:nvPr/>
        </p:nvSpPr>
        <p:spPr>
          <a:xfrm>
            <a:off x="658368" y="368046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49" name="Text 46"/>
          <p:cNvSpPr txBox="1"/>
          <p:nvPr/>
        </p:nvSpPr>
        <p:spPr>
          <a:xfrm>
            <a:off x="1005840" y="3630168"/>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Decode the token</a:t>
            </a:r>
            <a:endParaRPr lang="en-US" sz="1200" dirty="0"/>
          </a:p>
        </p:txBody>
      </p:sp>
      <p:sp>
        <p:nvSpPr>
          <p:cNvPr id="50" name="Text 47"/>
          <p:cNvSpPr txBox="1"/>
          <p:nvPr/>
        </p:nvSpPr>
        <p:spPr>
          <a:xfrm>
            <a:off x="3200400" y="3630168"/>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Read the token from storage; base64-decode the middle part.</a:t>
            </a:r>
            <a:endParaRPr lang="en-US" sz="950" dirty="0"/>
          </a:p>
        </p:txBody>
      </p:sp>
      <p:sp>
        <p:nvSpPr>
          <p:cNvPr id="51" name="Text 48"/>
          <p:cNvSpPr txBox="1"/>
          <p:nvPr/>
        </p:nvSpPr>
        <p:spPr>
          <a:xfrm>
            <a:off x="10241280" y="3630168"/>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52" name="Shape 49"/>
          <p:cNvSpPr/>
          <p:nvPr/>
        </p:nvSpPr>
        <p:spPr>
          <a:xfrm>
            <a:off x="548640" y="3959352"/>
            <a:ext cx="11094415" cy="329184"/>
          </a:xfrm>
          <a:prstGeom prst="rect">
            <a:avLst/>
          </a:prstGeom>
          <a:solidFill>
            <a:srgbClr val="F1F5FB"/>
          </a:solidFill>
          <a:ln/>
        </p:spPr>
      </p:sp>
      <p:sp>
        <p:nvSpPr>
          <p:cNvPr id="53" name="Shape 50"/>
          <p:cNvSpPr/>
          <p:nvPr/>
        </p:nvSpPr>
        <p:spPr>
          <a:xfrm>
            <a:off x="658368" y="4009644"/>
            <a:ext cx="228600" cy="228600"/>
          </a:xfrm>
          <a:prstGeom prst="ellipse">
            <a:avLst/>
          </a:prstGeom>
          <a:solidFill>
            <a:srgbClr val="5B6EE1"/>
          </a:solidFill>
          <a:ln/>
        </p:spPr>
      </p:sp>
      <p:sp>
        <p:nvSpPr>
          <p:cNvPr id="54" name="Text 51"/>
          <p:cNvSpPr txBox="1"/>
          <p:nvPr/>
        </p:nvSpPr>
        <p:spPr>
          <a:xfrm>
            <a:off x="658368" y="4009644"/>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55" name="Text 52"/>
          <p:cNvSpPr txBox="1"/>
          <p:nvPr/>
        </p:nvSpPr>
        <p:spPr>
          <a:xfrm>
            <a:off x="1005840" y="3959352"/>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A little injection</a:t>
            </a:r>
            <a:endParaRPr lang="en-US" sz="1200" dirty="0"/>
          </a:p>
        </p:txBody>
      </p:sp>
      <p:sp>
        <p:nvSpPr>
          <p:cNvPr id="56" name="Text 53"/>
          <p:cNvSpPr txBox="1"/>
          <p:nvPr/>
        </p:nvSpPr>
        <p:spPr>
          <a:xfrm>
            <a:off x="3200400" y="3959352"/>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Type HTML into the input and submit; the reflected input unlocks the flag.</a:t>
            </a:r>
            <a:endParaRPr lang="en-US" sz="950" dirty="0"/>
          </a:p>
        </p:txBody>
      </p:sp>
      <p:sp>
        <p:nvSpPr>
          <p:cNvPr id="57" name="Text 54"/>
          <p:cNvSpPr txBox="1"/>
          <p:nvPr/>
        </p:nvSpPr>
        <p:spPr>
          <a:xfrm>
            <a:off x="10241280" y="3959352"/>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58" name="Shape 55"/>
          <p:cNvSpPr/>
          <p:nvPr/>
        </p:nvSpPr>
        <p:spPr>
          <a:xfrm>
            <a:off x="548640" y="4288536"/>
            <a:ext cx="11094415" cy="329184"/>
          </a:xfrm>
          <a:prstGeom prst="rect">
            <a:avLst/>
          </a:prstGeom>
          <a:solidFill>
            <a:srgbClr val="FFFFFF"/>
          </a:solidFill>
          <a:ln/>
        </p:spPr>
      </p:sp>
      <p:sp>
        <p:nvSpPr>
          <p:cNvPr id="59" name="Shape 56"/>
          <p:cNvSpPr/>
          <p:nvPr/>
        </p:nvSpPr>
        <p:spPr>
          <a:xfrm>
            <a:off x="658368" y="4338828"/>
            <a:ext cx="228600" cy="228600"/>
          </a:xfrm>
          <a:prstGeom prst="ellipse">
            <a:avLst/>
          </a:prstGeom>
          <a:solidFill>
            <a:srgbClr val="B4233F"/>
          </a:solidFill>
          <a:ln/>
        </p:spPr>
      </p:sp>
      <p:sp>
        <p:nvSpPr>
          <p:cNvPr id="60" name="Text 57"/>
          <p:cNvSpPr txBox="1"/>
          <p:nvPr/>
        </p:nvSpPr>
        <p:spPr>
          <a:xfrm>
            <a:off x="658368" y="4338828"/>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1" name="Text 58"/>
          <p:cNvSpPr txBox="1"/>
          <p:nvPr/>
        </p:nvSpPr>
        <p:spPr>
          <a:xfrm>
            <a:off x="1005840" y="4288536"/>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The full chain</a:t>
            </a:r>
            <a:endParaRPr lang="en-US" sz="1200" dirty="0"/>
          </a:p>
        </p:txBody>
      </p:sp>
      <p:sp>
        <p:nvSpPr>
          <p:cNvPr id="62" name="Text 59"/>
          <p:cNvSpPr txBox="1"/>
          <p:nvPr/>
        </p:nvSpPr>
        <p:spPr>
          <a:xfrm>
            <a:off x="3200400" y="4288536"/>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robots.txt → visit /api/?id=... → base64-decode the token it returns.</a:t>
            </a:r>
            <a:endParaRPr lang="en-US" sz="950" dirty="0"/>
          </a:p>
        </p:txBody>
      </p:sp>
      <p:sp>
        <p:nvSpPr>
          <p:cNvPr id="63" name="Text 60"/>
          <p:cNvSpPr txBox="1"/>
          <p:nvPr/>
        </p:nvSpPr>
        <p:spPr>
          <a:xfrm>
            <a:off x="10241280" y="4288536"/>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64" name="Shape 61"/>
          <p:cNvSpPr/>
          <p:nvPr/>
        </p:nvSpPr>
        <p:spPr>
          <a:xfrm>
            <a:off x="548640" y="4617720"/>
            <a:ext cx="11094415" cy="329184"/>
          </a:xfrm>
          <a:prstGeom prst="rect">
            <a:avLst/>
          </a:prstGeom>
          <a:solidFill>
            <a:srgbClr val="F1F5FB"/>
          </a:solidFill>
          <a:ln/>
        </p:spPr>
      </p:sp>
      <p:sp>
        <p:nvSpPr>
          <p:cNvPr id="65" name="Shape 62"/>
          <p:cNvSpPr/>
          <p:nvPr/>
        </p:nvSpPr>
        <p:spPr>
          <a:xfrm>
            <a:off x="658368" y="4668012"/>
            <a:ext cx="228600" cy="228600"/>
          </a:xfrm>
          <a:prstGeom prst="ellipse">
            <a:avLst/>
          </a:prstGeom>
          <a:solidFill>
            <a:srgbClr val="56657E"/>
          </a:solidFill>
          <a:ln/>
        </p:spPr>
      </p:sp>
      <p:sp>
        <p:nvSpPr>
          <p:cNvPr id="66" name="Text 63"/>
          <p:cNvSpPr txBox="1"/>
          <p:nvPr/>
        </p:nvSpPr>
        <p:spPr>
          <a:xfrm>
            <a:off x="658368" y="4668012"/>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67" name="Text 64"/>
          <p:cNvSpPr txBox="1"/>
          <p:nvPr/>
        </p:nvSpPr>
        <p:spPr>
          <a:xfrm>
            <a:off x="1005840" y="4617720"/>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Comment hunt</a:t>
            </a:r>
            <a:endParaRPr lang="en-US" sz="1200" dirty="0"/>
          </a:p>
        </p:txBody>
      </p:sp>
      <p:sp>
        <p:nvSpPr>
          <p:cNvPr id="68" name="Text 65"/>
          <p:cNvSpPr txBox="1"/>
          <p:nvPr/>
        </p:nvSpPr>
        <p:spPr>
          <a:xfrm>
            <a:off x="3200400" y="4617720"/>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View Source on real sites; find developer comments</a:t>
            </a:r>
            <a:endParaRPr lang="en-US" sz="950" dirty="0"/>
          </a:p>
        </p:txBody>
      </p:sp>
      <p:sp>
        <p:nvSpPr>
          <p:cNvPr id="69" name="Text 66"/>
          <p:cNvSpPr txBox="1"/>
          <p:nvPr/>
        </p:nvSpPr>
        <p:spPr>
          <a:xfrm>
            <a:off x="10241280" y="4617720"/>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0" name="Shape 67"/>
          <p:cNvSpPr/>
          <p:nvPr/>
        </p:nvSpPr>
        <p:spPr>
          <a:xfrm>
            <a:off x="548640" y="4946904"/>
            <a:ext cx="11094415" cy="329184"/>
          </a:xfrm>
          <a:prstGeom prst="rect">
            <a:avLst/>
          </a:prstGeom>
          <a:solidFill>
            <a:srgbClr val="FFFFFF"/>
          </a:solidFill>
          <a:ln/>
        </p:spPr>
      </p:sp>
      <p:sp>
        <p:nvSpPr>
          <p:cNvPr id="71" name="Shape 68"/>
          <p:cNvSpPr/>
          <p:nvPr/>
        </p:nvSpPr>
        <p:spPr>
          <a:xfrm>
            <a:off x="658368" y="4997196"/>
            <a:ext cx="228600" cy="228600"/>
          </a:xfrm>
          <a:prstGeom prst="ellipse">
            <a:avLst/>
          </a:prstGeom>
          <a:solidFill>
            <a:srgbClr val="56657E"/>
          </a:solidFill>
          <a:ln/>
        </p:spPr>
      </p:sp>
      <p:sp>
        <p:nvSpPr>
          <p:cNvPr id="72" name="Text 69"/>
          <p:cNvSpPr txBox="1"/>
          <p:nvPr/>
        </p:nvSpPr>
        <p:spPr>
          <a:xfrm>
            <a:off x="658368" y="4997196"/>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3" name="Text 70"/>
          <p:cNvSpPr txBox="1"/>
          <p:nvPr/>
        </p:nvSpPr>
        <p:spPr>
          <a:xfrm>
            <a:off x="1005840" y="4946904"/>
            <a:ext cx="2194560" cy="329184"/>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Token reader</a:t>
            </a:r>
            <a:endParaRPr lang="en-US" sz="1200" dirty="0"/>
          </a:p>
        </p:txBody>
      </p:sp>
      <p:sp>
        <p:nvSpPr>
          <p:cNvPr id="74" name="Text 71"/>
          <p:cNvSpPr txBox="1"/>
          <p:nvPr/>
        </p:nvSpPr>
        <p:spPr>
          <a:xfrm>
            <a:off x="3200400" y="4946904"/>
            <a:ext cx="7223760" cy="329184"/>
          </a:xfrm>
          <a:prstGeom prst="rect">
            <a:avLst/>
          </a:prstGeom>
          <a:noFill/>
          <a:ln/>
        </p:spPr>
        <p:txBody>
          <a:bodyPr wrap="square" lIns="0" tIns="0" rIns="0" bIns="0" rtlCol="0" anchor="ctr">
            <a:normAutofit/>
          </a:bodyPr>
          <a:lstStyle/>
          <a:p>
            <a:pPr indent="0" marL="0">
              <a:buNone/>
            </a:pPr>
            <a:r>
              <a:rPr lang="en-US" sz="950" dirty="0">
                <a:solidFill>
                  <a:srgbClr val="12213A"/>
                </a:solidFill>
                <a:latin typeface="Courier New" pitchFamily="34" charset="0"/>
                <a:ea typeface="Courier New" pitchFamily="34" charset="-122"/>
                <a:cs typeface="Courier New" pitchFamily="34" charset="-120"/>
              </a:rPr>
              <a:t>atob('&lt;base64&gt;') in the Console</a:t>
            </a:r>
            <a:endParaRPr lang="en-US" sz="950" dirty="0"/>
          </a:p>
        </p:txBody>
      </p:sp>
      <p:sp>
        <p:nvSpPr>
          <p:cNvPr id="75" name="Text 72"/>
          <p:cNvSpPr txBox="1"/>
          <p:nvPr/>
        </p:nvSpPr>
        <p:spPr>
          <a:xfrm>
            <a:off x="10241280" y="4946904"/>
            <a:ext cx="1371600" cy="329184"/>
          </a:xfrm>
          <a:prstGeom prst="rect">
            <a:avLst/>
          </a:prstGeom>
          <a:noFill/>
          <a:ln/>
        </p:spPr>
        <p:txBody>
          <a:bodyPr wrap="square" lIns="0" tIns="0" rIns="0" bIns="0" rtlCol="0" anchor="ctr"/>
          <a:lstStyle/>
          <a:p>
            <a:pPr algn="r" indent="0" marL="0">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6" name="Text 73"/>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43 / 61</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4" name="Shape 1"/>
          <p:cNvSpPr/>
          <p:nvPr/>
        </p:nvSpPr>
        <p:spPr>
          <a:xfrm>
            <a:off x="548640" y="1463040"/>
            <a:ext cx="5449824" cy="1005840"/>
          </a:xfrm>
          <a:prstGeom prst="roundRect">
            <a:avLst>
              <a:gd name="adj" fmla="val 9091"/>
            </a:avLst>
          </a:prstGeom>
          <a:solidFill>
            <a:srgbClr val="F1F5FB"/>
          </a:solidFill>
          <a:ln/>
        </p:spPr>
      </p:sp>
      <p:sp>
        <p:nvSpPr>
          <p:cNvPr id="5" name="Text 2"/>
          <p:cNvSpPr txBox="1"/>
          <p:nvPr/>
        </p:nvSpPr>
        <p:spPr>
          <a:xfrm>
            <a:off x="777240"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No 'View Source' on right-click</a:t>
            </a:r>
            <a:endParaRPr lang="en-US" sz="1450" dirty="0"/>
          </a:p>
        </p:txBody>
      </p:sp>
      <p:sp>
        <p:nvSpPr>
          <p:cNvPr id="6" name="Text 3"/>
          <p:cNvSpPr txBox="1"/>
          <p:nvPr/>
        </p:nvSpPr>
        <p:spPr>
          <a:xfrm>
            <a:off x="777240" y="1874520"/>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Use Ctrl+U, or F12 then scroll to the top of the Elements panel.</a:t>
            </a:r>
            <a:endParaRPr lang="en-US" sz="1200" dirty="0"/>
          </a:p>
        </p:txBody>
      </p:sp>
      <p:sp>
        <p:nvSpPr>
          <p:cNvPr id="7" name="Shape 4"/>
          <p:cNvSpPr/>
          <p:nvPr/>
        </p:nvSpPr>
        <p:spPr>
          <a:xfrm>
            <a:off x="6190488" y="1463040"/>
            <a:ext cx="5449824" cy="1005840"/>
          </a:xfrm>
          <a:prstGeom prst="roundRect">
            <a:avLst>
              <a:gd name="adj" fmla="val 9091"/>
            </a:avLst>
          </a:prstGeom>
          <a:solidFill>
            <a:srgbClr val="F1F5FB"/>
          </a:solidFill>
          <a:ln/>
        </p:spPr>
      </p:sp>
      <p:sp>
        <p:nvSpPr>
          <p:cNvPr id="8" name="Text 5"/>
          <p:cNvSpPr txBox="1"/>
          <p:nvPr/>
        </p:nvSpPr>
        <p:spPr>
          <a:xfrm>
            <a:off x="6419088" y="1554480"/>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DevTools won't open</a:t>
            </a:r>
            <a:endParaRPr lang="en-US" sz="1450" dirty="0"/>
          </a:p>
        </p:txBody>
      </p:sp>
      <p:sp>
        <p:nvSpPr>
          <p:cNvPr id="9" name="Text 6"/>
          <p:cNvSpPr txBox="1"/>
          <p:nvPr/>
        </p:nvSpPr>
        <p:spPr>
          <a:xfrm>
            <a:off x="6419088" y="1874520"/>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Press F12, or Ctrl+Shift+I. On a locked Chromebook, use the ⋮ menu → More tools → Developer tools.</a:t>
            </a:r>
            <a:endParaRPr lang="en-US" sz="1200" dirty="0"/>
          </a:p>
        </p:txBody>
      </p:sp>
      <p:sp>
        <p:nvSpPr>
          <p:cNvPr id="10" name="Shape 7"/>
          <p:cNvSpPr/>
          <p:nvPr/>
        </p:nvSpPr>
        <p:spPr>
          <a:xfrm>
            <a:off x="548640" y="2596896"/>
            <a:ext cx="5449824" cy="1005840"/>
          </a:xfrm>
          <a:prstGeom prst="roundRect">
            <a:avLst>
              <a:gd name="adj" fmla="val 9091"/>
            </a:avLst>
          </a:prstGeom>
          <a:solidFill>
            <a:srgbClr val="F1F5FB"/>
          </a:solidFill>
          <a:ln/>
        </p:spPr>
      </p:sp>
      <p:sp>
        <p:nvSpPr>
          <p:cNvPr id="11" name="Text 8"/>
          <p:cNvSpPr txBox="1"/>
          <p:nvPr/>
        </p:nvSpPr>
        <p:spPr>
          <a:xfrm>
            <a:off x="777240"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Edited the page but nothing happened</a:t>
            </a:r>
            <a:endParaRPr lang="en-US" sz="1450" dirty="0"/>
          </a:p>
        </p:txBody>
      </p:sp>
      <p:sp>
        <p:nvSpPr>
          <p:cNvPr id="12" name="Text 9"/>
          <p:cNvSpPr txBox="1"/>
          <p:nvPr/>
        </p:nvSpPr>
        <p:spPr>
          <a:xfrm>
            <a:off x="777240" y="3008376"/>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Elements edits are local and undone by reload. For cookies/URL, the change must be re-sent: reload or re-request.</a:t>
            </a:r>
            <a:endParaRPr lang="en-US" sz="1200" dirty="0"/>
          </a:p>
        </p:txBody>
      </p:sp>
      <p:sp>
        <p:nvSpPr>
          <p:cNvPr id="13" name="Shape 10"/>
          <p:cNvSpPr/>
          <p:nvPr/>
        </p:nvSpPr>
        <p:spPr>
          <a:xfrm>
            <a:off x="6190488" y="2596896"/>
            <a:ext cx="5449824" cy="1005840"/>
          </a:xfrm>
          <a:prstGeom prst="roundRect">
            <a:avLst>
              <a:gd name="adj" fmla="val 9091"/>
            </a:avLst>
          </a:prstGeom>
          <a:solidFill>
            <a:srgbClr val="F1F5FB"/>
          </a:solidFill>
          <a:ln/>
        </p:spPr>
      </p:sp>
      <p:sp>
        <p:nvSpPr>
          <p:cNvPr id="14" name="Text 11"/>
          <p:cNvSpPr txBox="1"/>
          <p:nvPr/>
        </p:nvSpPr>
        <p:spPr>
          <a:xfrm>
            <a:off x="6419088" y="2688336"/>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Console says 'getFlag is not defined'</a:t>
            </a:r>
            <a:endParaRPr lang="en-US" sz="1450" dirty="0"/>
          </a:p>
        </p:txBody>
      </p:sp>
      <p:sp>
        <p:nvSpPr>
          <p:cNvPr id="15" name="Text 12"/>
          <p:cNvSpPr txBox="1"/>
          <p:nvPr/>
        </p:nvSpPr>
        <p:spPr>
          <a:xfrm>
            <a:off x="6419088" y="3008376"/>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Wrong page, or typed before it loaded. Re-run on the mission's own tab after it's ready.</a:t>
            </a:r>
            <a:endParaRPr lang="en-US" sz="1200" dirty="0"/>
          </a:p>
        </p:txBody>
      </p:sp>
      <p:sp>
        <p:nvSpPr>
          <p:cNvPr id="16" name="Shape 13"/>
          <p:cNvSpPr/>
          <p:nvPr/>
        </p:nvSpPr>
        <p:spPr>
          <a:xfrm>
            <a:off x="548640" y="3730752"/>
            <a:ext cx="5449824" cy="1005840"/>
          </a:xfrm>
          <a:prstGeom prst="roundRect">
            <a:avLst>
              <a:gd name="adj" fmla="val 9091"/>
            </a:avLst>
          </a:prstGeom>
          <a:solidFill>
            <a:srgbClr val="F1F5FB"/>
          </a:solidFill>
          <a:ln/>
        </p:spPr>
      </p:sp>
      <p:sp>
        <p:nvSpPr>
          <p:cNvPr id="17" name="Text 14"/>
          <p:cNvSpPr txBox="1"/>
          <p:nvPr/>
        </p:nvSpPr>
        <p:spPr>
          <a:xfrm>
            <a:off x="777240"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atob() gives gibberish</a:t>
            </a:r>
            <a:endParaRPr lang="en-US" sz="1450" dirty="0"/>
          </a:p>
        </p:txBody>
      </p:sp>
      <p:sp>
        <p:nvSpPr>
          <p:cNvPr id="18" name="Text 15"/>
          <p:cNvSpPr txBox="1"/>
          <p:nvPr/>
        </p:nvSpPr>
        <p:spPr>
          <a:xfrm>
            <a:off x="777240" y="4142232"/>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It's not base64, or you grabbed extra characters. Copy only the token's middle part.</a:t>
            </a:r>
            <a:endParaRPr lang="en-US" sz="1200" dirty="0"/>
          </a:p>
        </p:txBody>
      </p:sp>
      <p:sp>
        <p:nvSpPr>
          <p:cNvPr id="19" name="Shape 16"/>
          <p:cNvSpPr/>
          <p:nvPr/>
        </p:nvSpPr>
        <p:spPr>
          <a:xfrm>
            <a:off x="6190488" y="3730752"/>
            <a:ext cx="5449824" cy="1005840"/>
          </a:xfrm>
          <a:prstGeom prst="roundRect">
            <a:avLst>
              <a:gd name="adj" fmla="val 9091"/>
            </a:avLst>
          </a:prstGeom>
          <a:solidFill>
            <a:srgbClr val="F1F5FB"/>
          </a:solidFill>
          <a:ln/>
        </p:spPr>
      </p:sp>
      <p:sp>
        <p:nvSpPr>
          <p:cNvPr id="20" name="Text 17"/>
          <p:cNvSpPr txBox="1"/>
          <p:nvPr/>
        </p:nvSpPr>
        <p:spPr>
          <a:xfrm>
            <a:off x="6419088" y="3822192"/>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1" name="Text 18"/>
          <p:cNvSpPr txBox="1"/>
          <p:nvPr/>
        </p:nvSpPr>
        <p:spPr>
          <a:xfrm>
            <a:off x="6419088" y="4142232"/>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Copy the whole flag, CYBA{ to }. Flags from another computer never work.</a:t>
            </a:r>
            <a:endParaRPr lang="en-US" sz="1200" dirty="0"/>
          </a:p>
        </p:txBody>
      </p:sp>
      <p:sp>
        <p:nvSpPr>
          <p:cNvPr id="22" name="Shape 19"/>
          <p:cNvSpPr/>
          <p:nvPr/>
        </p:nvSpPr>
        <p:spPr>
          <a:xfrm>
            <a:off x="548640" y="4864608"/>
            <a:ext cx="5449824" cy="1005840"/>
          </a:xfrm>
          <a:prstGeom prst="roundRect">
            <a:avLst>
              <a:gd name="adj" fmla="val 9091"/>
            </a:avLst>
          </a:prstGeom>
          <a:solidFill>
            <a:srgbClr val="F1F5FB"/>
          </a:solidFill>
          <a:ln/>
        </p:spPr>
      </p:sp>
      <p:sp>
        <p:nvSpPr>
          <p:cNvPr id="23" name="Text 20"/>
          <p:cNvSpPr txBox="1"/>
          <p:nvPr/>
        </p:nvSpPr>
        <p:spPr>
          <a:xfrm>
            <a:off x="777240"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Reloaded a challenge by accident</a:t>
            </a:r>
            <a:endParaRPr lang="en-US" sz="1450" dirty="0"/>
          </a:p>
        </p:txBody>
      </p:sp>
      <p:sp>
        <p:nvSpPr>
          <p:cNvPr id="24" name="Text 21"/>
          <p:cNvSpPr txBox="1"/>
          <p:nvPr/>
        </p:nvSpPr>
        <p:spPr>
          <a:xfrm>
            <a:off x="777240" y="5276088"/>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New flags and ids; points and clock reset. The second run is fast.</a:t>
            </a:r>
            <a:endParaRPr lang="en-US" sz="1200" dirty="0"/>
          </a:p>
        </p:txBody>
      </p:sp>
      <p:sp>
        <p:nvSpPr>
          <p:cNvPr id="25" name="Shape 22"/>
          <p:cNvSpPr/>
          <p:nvPr/>
        </p:nvSpPr>
        <p:spPr>
          <a:xfrm>
            <a:off x="6190488" y="4864608"/>
            <a:ext cx="5449824" cy="1005840"/>
          </a:xfrm>
          <a:prstGeom prst="roundRect">
            <a:avLst>
              <a:gd name="adj" fmla="val 9091"/>
            </a:avLst>
          </a:prstGeom>
          <a:solidFill>
            <a:srgbClr val="F1F5FB"/>
          </a:solidFill>
          <a:ln/>
        </p:spPr>
      </p:sp>
      <p:sp>
        <p:nvSpPr>
          <p:cNvPr id="26" name="Text 23"/>
          <p:cNvSpPr txBox="1"/>
          <p:nvPr/>
        </p:nvSpPr>
        <p:spPr>
          <a:xfrm>
            <a:off x="6419088" y="4956048"/>
            <a:ext cx="5029200" cy="320040"/>
          </a:xfrm>
          <a:prstGeom prst="rect">
            <a:avLst/>
          </a:prstGeom>
          <a:noFill/>
          <a:ln/>
        </p:spPr>
        <p:txBody>
          <a:bodyPr wrap="square" lIns="0" tIns="0" rIns="0" bIns="0" rtlCol="0" anchor="t"/>
          <a:lstStyle/>
          <a:p>
            <a:pPr indent="0" marL="0">
              <a:buNone/>
            </a:pPr>
            <a:r>
              <a:rPr lang="en-US" sz="1450" b="1" dirty="0">
                <a:solidFill>
                  <a:srgbClr val="B93434"/>
                </a:solidFill>
                <a:latin typeface="Calibri" pitchFamily="34" charset="0"/>
                <a:ea typeface="Calibri" pitchFamily="34" charset="-122"/>
                <a:cs typeface="Calibri" pitchFamily="34" charset="-120"/>
              </a:rPr>
              <a:t>Injection box shows the tags as text</a:t>
            </a:r>
            <a:endParaRPr lang="en-US" sz="1450" dirty="0"/>
          </a:p>
        </p:txBody>
      </p:sp>
      <p:sp>
        <p:nvSpPr>
          <p:cNvPr id="27" name="Text 24"/>
          <p:cNvSpPr txBox="1"/>
          <p:nvPr/>
        </p:nvSpPr>
        <p:spPr>
          <a:xfrm>
            <a:off x="6419088" y="5276088"/>
            <a:ext cx="5029200" cy="548640"/>
          </a:xfrm>
          <a:prstGeom prst="rect">
            <a:avLst/>
          </a:prstGeom>
          <a:noFill/>
          <a:ln/>
        </p:spPr>
        <p:txBody>
          <a:bodyPr wrap="square" lIns="0" tIns="0" rIns="0" bIns="0" rtlCol="0" anchor="t"/>
          <a:lstStyle/>
          <a:p>
            <a:pPr indent="0" marL="0">
              <a:buNone/>
            </a:pPr>
            <a:r>
              <a:rPr lang="en-US" sz="1200" dirty="0">
                <a:solidFill>
                  <a:srgbClr val="12213A"/>
                </a:solidFill>
                <a:latin typeface="Calibri" pitchFamily="34" charset="0"/>
                <a:ea typeface="Calibri" pitchFamily="34" charset="-122"/>
                <a:cs typeface="Calibri" pitchFamily="34" charset="-120"/>
              </a:rPr>
              <a:t>That page is doing it right (escaping). Use the mission's own vulnerable box.</a:t>
            </a:r>
            <a:endParaRPr lang="en-US" sz="1200" dirty="0"/>
          </a:p>
        </p:txBody>
      </p:sp>
      <p:sp>
        <p:nvSpPr>
          <p:cNvPr id="28" name="Text 25"/>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44 / 61</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3200" b="1" dirty="0">
                <a:solidFill>
                  <a:srgbClr val="12213A"/>
                </a:solidFill>
                <a:latin typeface="Arial" pitchFamily="34" charset="0"/>
                <a:ea typeface="Arial" pitchFamily="34" charset="-122"/>
                <a:cs typeface="Arial" pitchFamily="34" charset="-120"/>
              </a:rPr>
              <a:t>Mission bank: missions 3-10</a:t>
            </a:r>
            <a:endParaRPr lang="en-US" sz="3200" dirty="0"/>
          </a:p>
        </p:txBody>
      </p:sp>
      <p:sp>
        <p:nvSpPr>
          <p:cNvPr id="4" name="Text 1"/>
          <p:cNvSpPr txBox="1"/>
          <p:nvPr/>
        </p:nvSpPr>
        <p:spPr>
          <a:xfrm>
            <a:off x="548640" y="1828800"/>
            <a:ext cx="11094415" cy="548640"/>
          </a:xfrm>
          <a:prstGeom prst="rect">
            <a:avLst/>
          </a:prstGeom>
          <a:noFill/>
          <a:ln/>
        </p:spPr>
        <p:txBody>
          <a:bodyPr wrap="square" lIns="0" tIns="0" rIns="0" bIns="0" rtlCol="0" anchor="t"/>
          <a:lstStyle/>
          <a:p>
            <a:pPr indent="0" marL="0">
              <a:buNone/>
            </a:pPr>
            <a:r>
              <a:rPr lang="en-US" sz="1800" dirty="0">
                <a:solidFill>
                  <a:srgbClr val="56657E"/>
                </a:solidFill>
                <a:latin typeface="Calibri" pitchFamily="34" charset="0"/>
                <a:ea typeface="Calibri" pitchFamily="34" charset="-122"/>
                <a:cs typeface="Calibri" pitchFamily="34" charset="-120"/>
              </a:rPr>
              <a:t>Each has a brief (clue + questions) and a walkthrough (one path). Pull up whatever a student needs.</a:t>
            </a:r>
            <a:endParaRPr lang="en-US" sz="1800" dirty="0"/>
          </a:p>
        </p:txBody>
      </p:sp>
      <p:sp>
        <p:nvSpPr>
          <p:cNvPr id="5" name="Shape 2"/>
          <p:cNvSpPr/>
          <p:nvPr/>
        </p:nvSpPr>
        <p:spPr>
          <a:xfrm>
            <a:off x="548640" y="2651760"/>
            <a:ext cx="2606040" cy="1371600"/>
          </a:xfrm>
          <a:prstGeom prst="roundRect">
            <a:avLst>
              <a:gd name="adj" fmla="val 6667"/>
            </a:avLst>
          </a:prstGeom>
          <a:solidFill>
            <a:srgbClr val="F1F5FB"/>
          </a:solidFill>
          <a:ln/>
        </p:spPr>
      </p:sp>
      <p:sp>
        <p:nvSpPr>
          <p:cNvPr id="6" name="Shape 3"/>
          <p:cNvSpPr/>
          <p:nvPr/>
        </p:nvSpPr>
        <p:spPr>
          <a:xfrm>
            <a:off x="777240" y="2880360"/>
            <a:ext cx="457200" cy="457200"/>
          </a:xfrm>
          <a:prstGeom prst="ellipse">
            <a:avLst/>
          </a:prstGeom>
          <a:solidFill>
            <a:srgbClr val="2459D8"/>
          </a:solidFill>
          <a:ln/>
        </p:spPr>
      </p:sp>
      <p:sp>
        <p:nvSpPr>
          <p:cNvPr id="7" name="Text 4"/>
          <p:cNvSpPr txBox="1"/>
          <p:nvPr/>
        </p:nvSpPr>
        <p:spPr>
          <a:xfrm>
            <a:off x="777240"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8" name="Text 5"/>
          <p:cNvSpPr txBox="1"/>
          <p:nvPr/>
        </p:nvSpPr>
        <p:spPr>
          <a:xfrm>
            <a:off x="1371600"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Check the cookies</a:t>
            </a:r>
            <a:endParaRPr lang="en-US" sz="1400" dirty="0"/>
          </a:p>
        </p:txBody>
      </p:sp>
      <p:sp>
        <p:nvSpPr>
          <p:cNvPr id="9" name="Shape 6"/>
          <p:cNvSpPr/>
          <p:nvPr/>
        </p:nvSpPr>
        <p:spPr>
          <a:xfrm>
            <a:off x="777240" y="3474720"/>
            <a:ext cx="1600200" cy="347472"/>
          </a:xfrm>
          <a:prstGeom prst="roundRect">
            <a:avLst>
              <a:gd name="adj" fmla="val 50000"/>
            </a:avLst>
          </a:prstGeom>
          <a:solidFill>
            <a:srgbClr val="E2F5EC"/>
          </a:solidFill>
          <a:ln/>
        </p:spPr>
      </p:sp>
      <p:sp>
        <p:nvSpPr>
          <p:cNvPr id="10" name="Text 7"/>
          <p:cNvSpPr txBox="1"/>
          <p:nvPr/>
        </p:nvSpPr>
        <p:spPr>
          <a:xfrm>
            <a:off x="777240" y="3474720"/>
            <a:ext cx="1600200" cy="347472"/>
          </a:xfrm>
          <a:prstGeom prst="rect">
            <a:avLst/>
          </a:prstGeom>
          <a:noFill/>
          <a:ln/>
        </p:spPr>
        <p:txBody>
          <a:bodyPr wrap="square" lIns="0" tIns="0" rIns="0" bIns="0" rtlCol="0" anchor="ctr"/>
          <a:lstStyle/>
          <a:p>
            <a:pPr algn="ctr" indent="0" marL="0">
              <a:buNone/>
            </a:pPr>
            <a:r>
              <a:rPr lang="en-US" sz="950" b="1" dirty="0">
                <a:solidFill>
                  <a:srgbClr val="12704B"/>
                </a:solidFill>
                <a:latin typeface="Calibri" pitchFamily="34" charset="0"/>
                <a:ea typeface="Calibri" pitchFamily="34" charset="-122"/>
                <a:cs typeface="Calibri" pitchFamily="34" charset="-120"/>
              </a:rPr>
              <a:t>EASY  ·  100</a:t>
            </a:r>
            <a:endParaRPr lang="en-US" sz="950" dirty="0"/>
          </a:p>
        </p:txBody>
      </p:sp>
      <p:sp>
        <p:nvSpPr>
          <p:cNvPr id="11" name="Text 8"/>
          <p:cNvSpPr txBox="1"/>
          <p:nvPr/>
        </p:nvSpPr>
        <p:spPr>
          <a:xfrm>
            <a:off x="2423160" y="34930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Application · Cookies</a:t>
            </a:r>
            <a:endParaRPr lang="en-US" sz="850" dirty="0"/>
          </a:p>
        </p:txBody>
      </p:sp>
      <p:sp>
        <p:nvSpPr>
          <p:cNvPr id="12" name="Shape 9"/>
          <p:cNvSpPr/>
          <p:nvPr/>
        </p:nvSpPr>
        <p:spPr>
          <a:xfrm>
            <a:off x="3364992" y="2651760"/>
            <a:ext cx="2606040" cy="1371600"/>
          </a:xfrm>
          <a:prstGeom prst="roundRect">
            <a:avLst>
              <a:gd name="adj" fmla="val 6667"/>
            </a:avLst>
          </a:prstGeom>
          <a:solidFill>
            <a:srgbClr val="F1F5FB"/>
          </a:solidFill>
          <a:ln/>
        </p:spPr>
      </p:sp>
      <p:sp>
        <p:nvSpPr>
          <p:cNvPr id="13" name="Shape 10"/>
          <p:cNvSpPr/>
          <p:nvPr/>
        </p:nvSpPr>
        <p:spPr>
          <a:xfrm>
            <a:off x="3593592" y="2880360"/>
            <a:ext cx="457200" cy="457200"/>
          </a:xfrm>
          <a:prstGeom prst="ellipse">
            <a:avLst/>
          </a:prstGeom>
          <a:solidFill>
            <a:srgbClr val="7448D4"/>
          </a:solidFill>
          <a:ln/>
        </p:spPr>
      </p:sp>
      <p:sp>
        <p:nvSpPr>
          <p:cNvPr id="14" name="Text 11"/>
          <p:cNvSpPr txBox="1"/>
          <p:nvPr/>
        </p:nvSpPr>
        <p:spPr>
          <a:xfrm>
            <a:off x="3593592"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2"/>
          <p:cNvSpPr txBox="1"/>
          <p:nvPr/>
        </p:nvSpPr>
        <p:spPr>
          <a:xfrm>
            <a:off x="4187952"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Tamper with the URL</a:t>
            </a:r>
            <a:endParaRPr lang="en-US" sz="1400" dirty="0"/>
          </a:p>
        </p:txBody>
      </p:sp>
      <p:sp>
        <p:nvSpPr>
          <p:cNvPr id="16" name="Shape 13"/>
          <p:cNvSpPr/>
          <p:nvPr/>
        </p:nvSpPr>
        <p:spPr>
          <a:xfrm>
            <a:off x="3593592" y="3474720"/>
            <a:ext cx="1600200" cy="347472"/>
          </a:xfrm>
          <a:prstGeom prst="roundRect">
            <a:avLst>
              <a:gd name="adj" fmla="val 50000"/>
            </a:avLst>
          </a:prstGeom>
          <a:solidFill>
            <a:srgbClr val="FFF4DE"/>
          </a:solidFill>
          <a:ln/>
        </p:spPr>
      </p:sp>
      <p:sp>
        <p:nvSpPr>
          <p:cNvPr id="17" name="Text 14"/>
          <p:cNvSpPr txBox="1"/>
          <p:nvPr/>
        </p:nvSpPr>
        <p:spPr>
          <a:xfrm>
            <a:off x="3593592" y="34747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18" name="Text 15"/>
          <p:cNvSpPr txBox="1"/>
          <p:nvPr/>
        </p:nvSpPr>
        <p:spPr>
          <a:xfrm>
            <a:off x="5239512" y="34930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?id= query param</a:t>
            </a:r>
            <a:endParaRPr lang="en-US" sz="850" dirty="0"/>
          </a:p>
        </p:txBody>
      </p:sp>
      <p:sp>
        <p:nvSpPr>
          <p:cNvPr id="19" name="Shape 16"/>
          <p:cNvSpPr/>
          <p:nvPr/>
        </p:nvSpPr>
        <p:spPr>
          <a:xfrm>
            <a:off x="6181344" y="2651760"/>
            <a:ext cx="2606040" cy="1371600"/>
          </a:xfrm>
          <a:prstGeom prst="roundRect">
            <a:avLst>
              <a:gd name="adj" fmla="val 6667"/>
            </a:avLst>
          </a:prstGeom>
          <a:solidFill>
            <a:srgbClr val="F1F5FB"/>
          </a:solidFill>
          <a:ln/>
        </p:spPr>
      </p:sp>
      <p:sp>
        <p:nvSpPr>
          <p:cNvPr id="20" name="Shape 17"/>
          <p:cNvSpPr/>
          <p:nvPr/>
        </p:nvSpPr>
        <p:spPr>
          <a:xfrm>
            <a:off x="6409944" y="2880360"/>
            <a:ext cx="457200" cy="457200"/>
          </a:xfrm>
          <a:prstGeom prst="ellipse">
            <a:avLst/>
          </a:prstGeom>
          <a:solidFill>
            <a:srgbClr val="D1416B"/>
          </a:solidFill>
          <a:ln/>
        </p:spPr>
      </p:sp>
      <p:sp>
        <p:nvSpPr>
          <p:cNvPr id="21" name="Text 18"/>
          <p:cNvSpPr txBox="1"/>
          <p:nvPr/>
        </p:nvSpPr>
        <p:spPr>
          <a:xfrm>
            <a:off x="6409944"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2" name="Text 19"/>
          <p:cNvSpPr txBox="1"/>
          <p:nvPr/>
        </p:nvSpPr>
        <p:spPr>
          <a:xfrm>
            <a:off x="7004304"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Robots and secret paths</a:t>
            </a:r>
            <a:endParaRPr lang="en-US" sz="1400" dirty="0"/>
          </a:p>
        </p:txBody>
      </p:sp>
      <p:sp>
        <p:nvSpPr>
          <p:cNvPr id="23" name="Shape 20"/>
          <p:cNvSpPr/>
          <p:nvPr/>
        </p:nvSpPr>
        <p:spPr>
          <a:xfrm>
            <a:off x="6409944" y="3474720"/>
            <a:ext cx="1600200" cy="347472"/>
          </a:xfrm>
          <a:prstGeom prst="roundRect">
            <a:avLst>
              <a:gd name="adj" fmla="val 50000"/>
            </a:avLst>
          </a:prstGeom>
          <a:solidFill>
            <a:srgbClr val="FFF4DE"/>
          </a:solidFill>
          <a:ln/>
        </p:spPr>
      </p:sp>
      <p:sp>
        <p:nvSpPr>
          <p:cNvPr id="24" name="Text 21"/>
          <p:cNvSpPr txBox="1"/>
          <p:nvPr/>
        </p:nvSpPr>
        <p:spPr>
          <a:xfrm>
            <a:off x="6409944" y="34747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25" name="Text 22"/>
          <p:cNvSpPr txBox="1"/>
          <p:nvPr/>
        </p:nvSpPr>
        <p:spPr>
          <a:xfrm>
            <a:off x="8055864" y="34930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/robots.txt</a:t>
            </a:r>
            <a:endParaRPr lang="en-US" sz="850" dirty="0"/>
          </a:p>
        </p:txBody>
      </p:sp>
      <p:sp>
        <p:nvSpPr>
          <p:cNvPr id="26" name="Shape 23"/>
          <p:cNvSpPr/>
          <p:nvPr/>
        </p:nvSpPr>
        <p:spPr>
          <a:xfrm>
            <a:off x="8997696" y="2651760"/>
            <a:ext cx="2606040" cy="1371600"/>
          </a:xfrm>
          <a:prstGeom prst="roundRect">
            <a:avLst>
              <a:gd name="adj" fmla="val 6667"/>
            </a:avLst>
          </a:prstGeom>
          <a:solidFill>
            <a:srgbClr val="F1F5FB"/>
          </a:solidFill>
          <a:ln/>
        </p:spPr>
      </p:sp>
      <p:sp>
        <p:nvSpPr>
          <p:cNvPr id="27" name="Shape 24"/>
          <p:cNvSpPr/>
          <p:nvPr/>
        </p:nvSpPr>
        <p:spPr>
          <a:xfrm>
            <a:off x="9226296" y="2880360"/>
            <a:ext cx="457200" cy="457200"/>
          </a:xfrm>
          <a:prstGeom prst="ellipse">
            <a:avLst/>
          </a:prstGeom>
          <a:solidFill>
            <a:srgbClr val="E8820C"/>
          </a:solidFill>
          <a:ln/>
        </p:spPr>
      </p:sp>
      <p:sp>
        <p:nvSpPr>
          <p:cNvPr id="28" name="Text 25"/>
          <p:cNvSpPr txBox="1"/>
          <p:nvPr/>
        </p:nvSpPr>
        <p:spPr>
          <a:xfrm>
            <a:off x="9226296"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9" name="Text 26"/>
          <p:cNvSpPr txBox="1"/>
          <p:nvPr/>
        </p:nvSpPr>
        <p:spPr>
          <a:xfrm>
            <a:off x="9820656" y="28529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The console knows</a:t>
            </a:r>
            <a:endParaRPr lang="en-US" sz="1400" dirty="0"/>
          </a:p>
        </p:txBody>
      </p:sp>
      <p:sp>
        <p:nvSpPr>
          <p:cNvPr id="30" name="Shape 27"/>
          <p:cNvSpPr/>
          <p:nvPr/>
        </p:nvSpPr>
        <p:spPr>
          <a:xfrm>
            <a:off x="9226296" y="3474720"/>
            <a:ext cx="1600200" cy="347472"/>
          </a:xfrm>
          <a:prstGeom prst="roundRect">
            <a:avLst>
              <a:gd name="adj" fmla="val 50000"/>
            </a:avLst>
          </a:prstGeom>
          <a:solidFill>
            <a:srgbClr val="FFF4DE"/>
          </a:solidFill>
          <a:ln/>
        </p:spPr>
      </p:sp>
      <p:sp>
        <p:nvSpPr>
          <p:cNvPr id="31" name="Text 28"/>
          <p:cNvSpPr txBox="1"/>
          <p:nvPr/>
        </p:nvSpPr>
        <p:spPr>
          <a:xfrm>
            <a:off x="9226296" y="34747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32" name="Text 29"/>
          <p:cNvSpPr txBox="1"/>
          <p:nvPr/>
        </p:nvSpPr>
        <p:spPr>
          <a:xfrm>
            <a:off x="10872216" y="34930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F12 · Console</a:t>
            </a:r>
            <a:endParaRPr lang="en-US" sz="850" dirty="0"/>
          </a:p>
        </p:txBody>
      </p:sp>
      <p:sp>
        <p:nvSpPr>
          <p:cNvPr id="33" name="Shape 30"/>
          <p:cNvSpPr/>
          <p:nvPr/>
        </p:nvSpPr>
        <p:spPr>
          <a:xfrm>
            <a:off x="548640" y="4251960"/>
            <a:ext cx="2606040" cy="1371600"/>
          </a:xfrm>
          <a:prstGeom prst="roundRect">
            <a:avLst>
              <a:gd name="adj" fmla="val 6667"/>
            </a:avLst>
          </a:prstGeom>
          <a:solidFill>
            <a:srgbClr val="F1F5FB"/>
          </a:solidFill>
          <a:ln/>
        </p:spPr>
      </p:sp>
      <p:sp>
        <p:nvSpPr>
          <p:cNvPr id="34" name="Shape 31"/>
          <p:cNvSpPr/>
          <p:nvPr/>
        </p:nvSpPr>
        <p:spPr>
          <a:xfrm>
            <a:off x="777240" y="4480560"/>
            <a:ext cx="457200" cy="457200"/>
          </a:xfrm>
          <a:prstGeom prst="ellipse">
            <a:avLst/>
          </a:prstGeom>
          <a:solidFill>
            <a:srgbClr val="C9A227"/>
          </a:solidFill>
          <a:ln/>
        </p:spPr>
      </p:sp>
      <p:sp>
        <p:nvSpPr>
          <p:cNvPr id="35" name="Text 32"/>
          <p:cNvSpPr txBox="1"/>
          <p:nvPr/>
        </p:nvSpPr>
        <p:spPr>
          <a:xfrm>
            <a:off x="777240"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36" name="Text 33"/>
          <p:cNvSpPr txBox="1"/>
          <p:nvPr/>
        </p:nvSpPr>
        <p:spPr>
          <a:xfrm>
            <a:off x="1371600"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Break the lock</a:t>
            </a:r>
            <a:endParaRPr lang="en-US" sz="1400" dirty="0"/>
          </a:p>
        </p:txBody>
      </p:sp>
      <p:sp>
        <p:nvSpPr>
          <p:cNvPr id="37" name="Shape 34"/>
          <p:cNvSpPr/>
          <p:nvPr/>
        </p:nvSpPr>
        <p:spPr>
          <a:xfrm>
            <a:off x="777240" y="5074920"/>
            <a:ext cx="1600200" cy="347472"/>
          </a:xfrm>
          <a:prstGeom prst="roundRect">
            <a:avLst>
              <a:gd name="adj" fmla="val 50000"/>
            </a:avLst>
          </a:prstGeom>
          <a:solidFill>
            <a:srgbClr val="FFF4DE"/>
          </a:solidFill>
          <a:ln/>
        </p:spPr>
      </p:sp>
      <p:sp>
        <p:nvSpPr>
          <p:cNvPr id="38" name="Text 35"/>
          <p:cNvSpPr txBox="1"/>
          <p:nvPr/>
        </p:nvSpPr>
        <p:spPr>
          <a:xfrm>
            <a:off x="777240" y="5074920"/>
            <a:ext cx="1600200" cy="347472"/>
          </a:xfrm>
          <a:prstGeom prst="rect">
            <a:avLst/>
          </a:prstGeom>
          <a:noFill/>
          <a:ln/>
        </p:spPr>
        <p:txBody>
          <a:bodyPr wrap="square" lIns="0" tIns="0" rIns="0" bIns="0" rtlCol="0" anchor="ctr"/>
          <a:lstStyle/>
          <a:p>
            <a:pPr algn="ctr" indent="0" marL="0">
              <a:buNone/>
            </a:pPr>
            <a:r>
              <a:rPr lang="en-US" sz="950" b="1" dirty="0">
                <a:solidFill>
                  <a:srgbClr val="9A5B00"/>
                </a:solidFill>
                <a:latin typeface="Calibri" pitchFamily="34" charset="0"/>
                <a:ea typeface="Calibri" pitchFamily="34" charset="-122"/>
                <a:cs typeface="Calibri" pitchFamily="34" charset="-120"/>
              </a:rPr>
              <a:t>MEDIUM  ·  200</a:t>
            </a:r>
            <a:endParaRPr lang="en-US" sz="950" dirty="0"/>
          </a:p>
        </p:txBody>
      </p:sp>
      <p:sp>
        <p:nvSpPr>
          <p:cNvPr id="39" name="Text 36"/>
          <p:cNvSpPr txBox="1"/>
          <p:nvPr/>
        </p:nvSpPr>
        <p:spPr>
          <a:xfrm>
            <a:off x="2423160" y="50932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Sources · read the JS</a:t>
            </a:r>
            <a:endParaRPr lang="en-US" sz="850" dirty="0"/>
          </a:p>
        </p:txBody>
      </p:sp>
      <p:sp>
        <p:nvSpPr>
          <p:cNvPr id="40" name="Shape 37"/>
          <p:cNvSpPr/>
          <p:nvPr/>
        </p:nvSpPr>
        <p:spPr>
          <a:xfrm>
            <a:off x="3364992" y="4251960"/>
            <a:ext cx="2606040" cy="1371600"/>
          </a:xfrm>
          <a:prstGeom prst="roundRect">
            <a:avLst>
              <a:gd name="adj" fmla="val 6667"/>
            </a:avLst>
          </a:prstGeom>
          <a:solidFill>
            <a:srgbClr val="F1F5FB"/>
          </a:solidFill>
          <a:ln/>
        </p:spPr>
      </p:sp>
      <p:sp>
        <p:nvSpPr>
          <p:cNvPr id="41" name="Shape 38"/>
          <p:cNvSpPr/>
          <p:nvPr/>
        </p:nvSpPr>
        <p:spPr>
          <a:xfrm>
            <a:off x="3593592" y="4480560"/>
            <a:ext cx="457200" cy="457200"/>
          </a:xfrm>
          <a:prstGeom prst="ellipse">
            <a:avLst/>
          </a:prstGeom>
          <a:solidFill>
            <a:srgbClr val="0F9488"/>
          </a:solidFill>
          <a:ln/>
        </p:spPr>
      </p:sp>
      <p:sp>
        <p:nvSpPr>
          <p:cNvPr id="42" name="Text 39"/>
          <p:cNvSpPr txBox="1"/>
          <p:nvPr/>
        </p:nvSpPr>
        <p:spPr>
          <a:xfrm>
            <a:off x="3593592"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3" name="Text 40"/>
          <p:cNvSpPr txBox="1"/>
          <p:nvPr/>
        </p:nvSpPr>
        <p:spPr>
          <a:xfrm>
            <a:off x="4187952"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Decode the token</a:t>
            </a:r>
            <a:endParaRPr lang="en-US" sz="1400" dirty="0"/>
          </a:p>
        </p:txBody>
      </p:sp>
      <p:sp>
        <p:nvSpPr>
          <p:cNvPr id="44" name="Shape 41"/>
          <p:cNvSpPr/>
          <p:nvPr/>
        </p:nvSpPr>
        <p:spPr>
          <a:xfrm>
            <a:off x="3593592" y="5074920"/>
            <a:ext cx="1600200" cy="347472"/>
          </a:xfrm>
          <a:prstGeom prst="roundRect">
            <a:avLst>
              <a:gd name="adj" fmla="val 50000"/>
            </a:avLst>
          </a:prstGeom>
          <a:solidFill>
            <a:srgbClr val="FDE8EC"/>
          </a:solidFill>
          <a:ln/>
        </p:spPr>
      </p:sp>
      <p:sp>
        <p:nvSpPr>
          <p:cNvPr id="45" name="Text 42"/>
          <p:cNvSpPr txBox="1"/>
          <p:nvPr/>
        </p:nvSpPr>
        <p:spPr>
          <a:xfrm>
            <a:off x="3593592" y="5074920"/>
            <a:ext cx="1600200" cy="347472"/>
          </a:xfrm>
          <a:prstGeom prst="rect">
            <a:avLst/>
          </a:prstGeom>
          <a:noFill/>
          <a:ln/>
        </p:spPr>
        <p:txBody>
          <a:bodyPr wrap="square" lIns="0" tIns="0" rIns="0" bIns="0" rtlCol="0" anchor="ctr"/>
          <a:lstStyle/>
          <a:p>
            <a:pPr algn="ctr" indent="0" marL="0">
              <a:buNone/>
            </a:pPr>
            <a:r>
              <a:rPr lang="en-US" sz="950" b="1" dirty="0">
                <a:solidFill>
                  <a:srgbClr val="B4233F"/>
                </a:solidFill>
                <a:latin typeface="Calibri" pitchFamily="34" charset="0"/>
                <a:ea typeface="Calibri" pitchFamily="34" charset="-122"/>
                <a:cs typeface="Calibri" pitchFamily="34" charset="-120"/>
              </a:rPr>
              <a:t>HARD  ·  400</a:t>
            </a:r>
            <a:endParaRPr lang="en-US" sz="950" dirty="0"/>
          </a:p>
        </p:txBody>
      </p:sp>
      <p:sp>
        <p:nvSpPr>
          <p:cNvPr id="46" name="Text 43"/>
          <p:cNvSpPr txBox="1"/>
          <p:nvPr/>
        </p:nvSpPr>
        <p:spPr>
          <a:xfrm>
            <a:off x="5239512" y="50932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base64 · JWT</a:t>
            </a:r>
            <a:endParaRPr lang="en-US" sz="850" dirty="0"/>
          </a:p>
        </p:txBody>
      </p:sp>
      <p:sp>
        <p:nvSpPr>
          <p:cNvPr id="47" name="Shape 44"/>
          <p:cNvSpPr/>
          <p:nvPr/>
        </p:nvSpPr>
        <p:spPr>
          <a:xfrm>
            <a:off x="6181344" y="4251960"/>
            <a:ext cx="2606040" cy="1371600"/>
          </a:xfrm>
          <a:prstGeom prst="roundRect">
            <a:avLst>
              <a:gd name="adj" fmla="val 6667"/>
            </a:avLst>
          </a:prstGeom>
          <a:solidFill>
            <a:srgbClr val="F1F5FB"/>
          </a:solidFill>
          <a:ln/>
        </p:spPr>
      </p:sp>
      <p:sp>
        <p:nvSpPr>
          <p:cNvPr id="48" name="Shape 45"/>
          <p:cNvSpPr/>
          <p:nvPr/>
        </p:nvSpPr>
        <p:spPr>
          <a:xfrm>
            <a:off x="6409944" y="4480560"/>
            <a:ext cx="457200" cy="457200"/>
          </a:xfrm>
          <a:prstGeom prst="ellipse">
            <a:avLst/>
          </a:prstGeom>
          <a:solidFill>
            <a:srgbClr val="5B6EE1"/>
          </a:solidFill>
          <a:ln/>
        </p:spPr>
      </p:sp>
      <p:sp>
        <p:nvSpPr>
          <p:cNvPr id="49" name="Text 46"/>
          <p:cNvSpPr txBox="1"/>
          <p:nvPr/>
        </p:nvSpPr>
        <p:spPr>
          <a:xfrm>
            <a:off x="6409944"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9</a:t>
            </a:r>
            <a:endParaRPr lang="en-US" sz="1500" dirty="0"/>
          </a:p>
        </p:txBody>
      </p:sp>
      <p:sp>
        <p:nvSpPr>
          <p:cNvPr id="50" name="Text 47"/>
          <p:cNvSpPr txBox="1"/>
          <p:nvPr/>
        </p:nvSpPr>
        <p:spPr>
          <a:xfrm>
            <a:off x="7004304"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A little injection</a:t>
            </a:r>
            <a:endParaRPr lang="en-US" sz="1400" dirty="0"/>
          </a:p>
        </p:txBody>
      </p:sp>
      <p:sp>
        <p:nvSpPr>
          <p:cNvPr id="51" name="Shape 48"/>
          <p:cNvSpPr/>
          <p:nvPr/>
        </p:nvSpPr>
        <p:spPr>
          <a:xfrm>
            <a:off x="6409944" y="5074920"/>
            <a:ext cx="1600200" cy="347472"/>
          </a:xfrm>
          <a:prstGeom prst="roundRect">
            <a:avLst>
              <a:gd name="adj" fmla="val 50000"/>
            </a:avLst>
          </a:prstGeom>
          <a:solidFill>
            <a:srgbClr val="FDE8EC"/>
          </a:solidFill>
          <a:ln/>
        </p:spPr>
      </p:sp>
      <p:sp>
        <p:nvSpPr>
          <p:cNvPr id="52" name="Text 49"/>
          <p:cNvSpPr txBox="1"/>
          <p:nvPr/>
        </p:nvSpPr>
        <p:spPr>
          <a:xfrm>
            <a:off x="6409944" y="5074920"/>
            <a:ext cx="1600200" cy="347472"/>
          </a:xfrm>
          <a:prstGeom prst="rect">
            <a:avLst/>
          </a:prstGeom>
          <a:noFill/>
          <a:ln/>
        </p:spPr>
        <p:txBody>
          <a:bodyPr wrap="square" lIns="0" tIns="0" rIns="0" bIns="0" rtlCol="0" anchor="ctr"/>
          <a:lstStyle/>
          <a:p>
            <a:pPr algn="ctr" indent="0" marL="0">
              <a:buNone/>
            </a:pPr>
            <a:r>
              <a:rPr lang="en-US" sz="950" b="1" dirty="0">
                <a:solidFill>
                  <a:srgbClr val="B4233F"/>
                </a:solidFill>
                <a:latin typeface="Calibri" pitchFamily="34" charset="0"/>
                <a:ea typeface="Calibri" pitchFamily="34" charset="-122"/>
                <a:cs typeface="Calibri" pitchFamily="34" charset="-120"/>
              </a:rPr>
              <a:t>HARD  ·  400</a:t>
            </a:r>
            <a:endParaRPr lang="en-US" sz="950" dirty="0"/>
          </a:p>
        </p:txBody>
      </p:sp>
      <p:sp>
        <p:nvSpPr>
          <p:cNvPr id="53" name="Text 50"/>
          <p:cNvSpPr txBox="1"/>
          <p:nvPr/>
        </p:nvSpPr>
        <p:spPr>
          <a:xfrm>
            <a:off x="8055864" y="50932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input tampering</a:t>
            </a:r>
            <a:endParaRPr lang="en-US" sz="850" dirty="0"/>
          </a:p>
        </p:txBody>
      </p:sp>
      <p:sp>
        <p:nvSpPr>
          <p:cNvPr id="54" name="Shape 51"/>
          <p:cNvSpPr/>
          <p:nvPr/>
        </p:nvSpPr>
        <p:spPr>
          <a:xfrm>
            <a:off x="8997696" y="4251960"/>
            <a:ext cx="2606040" cy="1371600"/>
          </a:xfrm>
          <a:prstGeom prst="roundRect">
            <a:avLst>
              <a:gd name="adj" fmla="val 6667"/>
            </a:avLst>
          </a:prstGeom>
          <a:solidFill>
            <a:srgbClr val="F1F5FB"/>
          </a:solidFill>
          <a:ln/>
        </p:spPr>
      </p:sp>
      <p:sp>
        <p:nvSpPr>
          <p:cNvPr id="55" name="Shape 52"/>
          <p:cNvSpPr/>
          <p:nvPr/>
        </p:nvSpPr>
        <p:spPr>
          <a:xfrm>
            <a:off x="9226296" y="4480560"/>
            <a:ext cx="457200" cy="457200"/>
          </a:xfrm>
          <a:prstGeom prst="ellipse">
            <a:avLst/>
          </a:prstGeom>
          <a:solidFill>
            <a:srgbClr val="B4233F"/>
          </a:solidFill>
          <a:ln/>
        </p:spPr>
      </p:sp>
      <p:sp>
        <p:nvSpPr>
          <p:cNvPr id="56" name="Text 53"/>
          <p:cNvSpPr txBox="1"/>
          <p:nvPr/>
        </p:nvSpPr>
        <p:spPr>
          <a:xfrm>
            <a:off x="9226296" y="4480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10</a:t>
            </a:r>
            <a:endParaRPr lang="en-US" sz="1500" dirty="0"/>
          </a:p>
        </p:txBody>
      </p:sp>
      <p:sp>
        <p:nvSpPr>
          <p:cNvPr id="57" name="Text 54"/>
          <p:cNvSpPr txBox="1"/>
          <p:nvPr/>
        </p:nvSpPr>
        <p:spPr>
          <a:xfrm>
            <a:off x="9820656" y="4453128"/>
            <a:ext cx="1691640" cy="548640"/>
          </a:xfrm>
          <a:prstGeom prst="rect">
            <a:avLst/>
          </a:prstGeom>
          <a:noFill/>
          <a:ln/>
        </p:spPr>
        <p:txBody>
          <a:bodyPr wrap="square" lIns="0" tIns="0" rIns="0" bIns="0" rtlCol="0" anchor="ctr"/>
          <a:lstStyle/>
          <a:p>
            <a:pPr indent="0" marL="0">
              <a:buNone/>
            </a:pPr>
            <a:r>
              <a:rPr lang="en-US" sz="1400" b="1" dirty="0">
                <a:solidFill>
                  <a:srgbClr val="12213A"/>
                </a:solidFill>
                <a:latin typeface="Calibri" pitchFamily="34" charset="0"/>
                <a:ea typeface="Calibri" pitchFamily="34" charset="-122"/>
                <a:cs typeface="Calibri" pitchFamily="34" charset="-120"/>
              </a:rPr>
              <a:t>The full chain</a:t>
            </a:r>
            <a:endParaRPr lang="en-US" sz="1400" dirty="0"/>
          </a:p>
        </p:txBody>
      </p:sp>
      <p:sp>
        <p:nvSpPr>
          <p:cNvPr id="58" name="Shape 55"/>
          <p:cNvSpPr/>
          <p:nvPr/>
        </p:nvSpPr>
        <p:spPr>
          <a:xfrm>
            <a:off x="9226296" y="5074920"/>
            <a:ext cx="1600200" cy="347472"/>
          </a:xfrm>
          <a:prstGeom prst="roundRect">
            <a:avLst>
              <a:gd name="adj" fmla="val 50000"/>
            </a:avLst>
          </a:prstGeom>
          <a:solidFill>
            <a:srgbClr val="2A1430"/>
          </a:solidFill>
          <a:ln/>
        </p:spPr>
      </p:sp>
      <p:sp>
        <p:nvSpPr>
          <p:cNvPr id="59" name="Text 56"/>
          <p:cNvSpPr txBox="1"/>
          <p:nvPr/>
        </p:nvSpPr>
        <p:spPr>
          <a:xfrm>
            <a:off x="9226296" y="5074920"/>
            <a:ext cx="1600200" cy="347472"/>
          </a:xfrm>
          <a:prstGeom prst="rect">
            <a:avLst/>
          </a:prstGeom>
          <a:noFill/>
          <a:ln/>
        </p:spPr>
        <p:txBody>
          <a:bodyPr wrap="square" lIns="0" tIns="0" rIns="0" bIns="0" rtlCol="0" anchor="ctr"/>
          <a:lstStyle/>
          <a:p>
            <a:pPr algn="ctr" indent="0" marL="0">
              <a:buNone/>
            </a:pPr>
            <a:r>
              <a:rPr lang="en-US" sz="950" b="1" dirty="0">
                <a:solidFill>
                  <a:srgbClr val="FF8FB1"/>
                </a:solidFill>
                <a:latin typeface="Calibri" pitchFamily="34" charset="0"/>
                <a:ea typeface="Calibri" pitchFamily="34" charset="-122"/>
                <a:cs typeface="Calibri" pitchFamily="34" charset="-120"/>
              </a:rPr>
              <a:t>VERY HARD  ·  800</a:t>
            </a:r>
            <a:endParaRPr lang="en-US" sz="950" dirty="0"/>
          </a:p>
        </p:txBody>
      </p:sp>
      <p:sp>
        <p:nvSpPr>
          <p:cNvPr id="60" name="Text 57"/>
          <p:cNvSpPr txBox="1"/>
          <p:nvPr/>
        </p:nvSpPr>
        <p:spPr>
          <a:xfrm>
            <a:off x="10872216" y="5093208"/>
            <a:ext cx="640080" cy="274320"/>
          </a:xfrm>
          <a:prstGeom prst="rect">
            <a:avLst/>
          </a:prstGeom>
          <a:noFill/>
          <a:ln/>
        </p:spPr>
        <p:txBody>
          <a:bodyPr wrap="square" lIns="0" tIns="0" rIns="0" bIns="0" rtlCol="0" anchor="t">
            <a:normAutofit/>
          </a:bodyPr>
          <a:lstStyle/>
          <a:p>
            <a:pPr indent="0" marL="0">
              <a:buNone/>
            </a:pPr>
            <a:r>
              <a:rPr lang="en-US" sz="850" dirty="0">
                <a:solidFill>
                  <a:srgbClr val="56657E"/>
                </a:solidFill>
                <a:latin typeface="Courier New" pitchFamily="34" charset="0"/>
                <a:ea typeface="Courier New" pitchFamily="34" charset="-122"/>
                <a:cs typeface="Courier New" pitchFamily="34" charset="-120"/>
              </a:rPr>
              <a:t>robots · ?id= · base64</a:t>
            </a:r>
            <a:endParaRPr lang="en-US" sz="850" dirty="0"/>
          </a:p>
        </p:txBody>
      </p:sp>
      <p:sp>
        <p:nvSpPr>
          <p:cNvPr id="61" name="Text 58"/>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45 / 61</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2459D8"/>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E2F5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20624"/>
            <a:ext cx="421538" cy="402336"/>
          </a:xfrm>
          <a:prstGeom prst="roundRect">
            <a:avLst>
              <a:gd name="adj" fmla="val 13636"/>
            </a:avLst>
          </a:prstGeom>
          <a:solidFill>
            <a:srgbClr val="2459D8"/>
          </a:solidFill>
          <a:ln/>
        </p:spPr>
      </p:sp>
      <p:sp>
        <p:nvSpPr>
          <p:cNvPr id="12" name="Text 9"/>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Check the cookies</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When you opened the page, the site handed you some cookies. One holds the flag. Another decides what you're allowed to see.</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/mission3/   ·   F12 → Application → Cookies</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Application · Cookies</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is a cookie, and who stores it: you or the server?</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can you read and change your own cookies?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a cookie says role=user, what might role=admin unlock?</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46 / 61</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2459D8"/>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E2F5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20624"/>
            <a:ext cx="421538" cy="402336"/>
          </a:xfrm>
          <a:prstGeom prst="roundRect">
            <a:avLst>
              <a:gd name="adj" fmla="val 13636"/>
            </a:avLst>
          </a:prstGeom>
          <a:solidFill>
            <a:srgbClr val="2459D8"/>
          </a:solidFill>
          <a:ln/>
        </p:spPr>
      </p:sp>
      <p:sp>
        <p:nvSpPr>
          <p:cNvPr id="12" name="Text 9"/>
          <p:cNvSpPr txBox="1"/>
          <p:nvPr/>
        </p:nvSpPr>
        <p:spPr>
          <a:xfrm>
            <a:off x="775594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8250631" y="475488"/>
            <a:ext cx="421538" cy="292608"/>
          </a:xfrm>
          <a:prstGeom prst="roundRect">
            <a:avLst>
              <a:gd name="adj" fmla="val 18750"/>
            </a:avLst>
          </a:prstGeom>
          <a:solidFill>
            <a:srgbClr val="E4EAF3"/>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Check the cookies</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Application → Cookies</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session = 8f2a9c...</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flag    = CYBA{cookie-...}</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role    = user</a:t>
            </a:r>
            <a:endParaRPr lang="en-US" sz="1250" dirty="0"/>
          </a:p>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change role to admin, then reload</a:t>
            </a:r>
            <a:endParaRPr lang="en-US" sz="1250" dirty="0"/>
          </a:p>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the admin panel appears</a:t>
            </a:r>
            <a:endParaRPr lang="en-US" sz="12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-is URL/ | grep -i set-cookie   </a:t>
            </a:r>
            <a:pPr indent="0" marL="0">
              <a:buNone/>
            </a:pPr>
            <a:r>
              <a:rPr lang="en-US" sz="1150" dirty="0">
                <a:solidFill>
                  <a:srgbClr val="7F8FAD"/>
                </a:solidFill>
                <a:latin typeface="Courier New" pitchFamily="34" charset="0"/>
                <a:ea typeface="Courier New" pitchFamily="34" charset="-122"/>
                <a:cs typeface="Courier New" pitchFamily="34" charset="-120"/>
              </a:rPr>
              <a:t>   # read the flag cookie</a:t>
            </a:r>
            <a:endParaRPr lang="en-US" sz="1150" dirty="0"/>
          </a:p>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-b 'role=admin' URL/ | grep CYBA</a:t>
            </a:r>
            <a:pPr indent="0" marL="0">
              <a:buNone/>
            </a:pPr>
            <a:r>
              <a:rPr lang="en-US" sz="1150" dirty="0">
                <a:solidFill>
                  <a:srgbClr val="7F8FAD"/>
                </a:solidFill>
                <a:latin typeface="Courier New" pitchFamily="34" charset="0"/>
                <a:ea typeface="Courier New" pitchFamily="34" charset="-122"/>
                <a:cs typeface="Courier New" pitchFamily="34" charset="-120"/>
              </a:rPr>
              <a:t>   # become admin</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2459D8"/>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Cookies are small text values your browser stores and sends back every request.</a:t>
            </a:r>
            <a:endParaRPr lang="en-US" sz="1400" dirty="0"/>
          </a:p>
        </p:txBody>
      </p:sp>
      <p:sp>
        <p:nvSpPr>
          <p:cNvPr id="42" name="Shape 39"/>
          <p:cNvSpPr/>
          <p:nvPr/>
        </p:nvSpPr>
        <p:spPr>
          <a:xfrm>
            <a:off x="7543800" y="2980944"/>
            <a:ext cx="457200" cy="457200"/>
          </a:xfrm>
          <a:prstGeom prst="ellipse">
            <a:avLst/>
          </a:prstGeom>
          <a:solidFill>
            <a:srgbClr val="2459D8"/>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Application panel listed them and let us edit them.</a:t>
            </a:r>
            <a:endParaRPr lang="en-US" sz="1400" dirty="0"/>
          </a:p>
        </p:txBody>
      </p:sp>
      <p:sp>
        <p:nvSpPr>
          <p:cNvPr id="45" name="Shape 42"/>
          <p:cNvSpPr/>
          <p:nvPr/>
        </p:nvSpPr>
        <p:spPr>
          <a:xfrm>
            <a:off x="7543800" y="3767328"/>
            <a:ext cx="457200" cy="457200"/>
          </a:xfrm>
          <a:prstGeom prst="ellipse">
            <a:avLst/>
          </a:prstGeom>
          <a:solidFill>
            <a:srgbClr val="2459D8"/>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 site that trusts role=user from a cookie is trusting the client.</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Changing a cookie's role or user id is one of the most common real web bugs: broken access control.</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2459D8"/>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What should the server do instead of trusting role=admin in a cookie it handed you?</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47 / 61</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7448D4"/>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20624"/>
            <a:ext cx="421538" cy="402336"/>
          </a:xfrm>
          <a:prstGeom prst="roundRect">
            <a:avLst>
              <a:gd name="adj" fmla="val 13636"/>
            </a:avLst>
          </a:prstGeom>
          <a:solidFill>
            <a:srgbClr val="7448D4"/>
          </a:solidFill>
          <a:ln/>
        </p:spPr>
      </p:sp>
      <p:sp>
        <p:nvSpPr>
          <p:cNvPr id="14" name="Text 11"/>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Tamper with the URL</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You can see your own record at ?id=1. The flag lives on another record. The only lock on that door is the number in the address bar.</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/mission4/?id=1</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?id= query param</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part of a URL is the query string?</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?id=1 is your record, whose is ?id=2?</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is 'nobody will guess the number' not real security?</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48 / 61</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7448D4"/>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20624"/>
            <a:ext cx="421538" cy="402336"/>
          </a:xfrm>
          <a:prstGeom prst="roundRect">
            <a:avLst>
              <a:gd name="adj" fmla="val 13636"/>
            </a:avLst>
          </a:prstGeom>
          <a:solidFill>
            <a:srgbClr val="7448D4"/>
          </a:solidFill>
          <a:ln/>
        </p:spPr>
      </p:sp>
      <p:sp>
        <p:nvSpPr>
          <p:cNvPr id="14" name="Text 11"/>
          <p:cNvSpPr txBox="1"/>
          <p:nvPr/>
        </p:nvSpPr>
        <p:spPr>
          <a:xfrm>
            <a:off x="8250631"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8745322" y="475488"/>
            <a:ext cx="421538" cy="292608"/>
          </a:xfrm>
          <a:prstGeom prst="roundRect">
            <a:avLst>
              <a:gd name="adj" fmla="val 18750"/>
            </a:avLst>
          </a:prstGeom>
          <a:solidFill>
            <a:srgbClr val="E4EAF3"/>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Tamper with the URL</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GET /mission4/?id=1</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Record 1: your profile (guest)</a:t>
            </a:r>
            <a:endParaRPr lang="en-US" sz="1300" dirty="0"/>
          </a:p>
          <a:p>
            <a:pPr indent="0" marL="0">
              <a:spcAft>
                <a:spcPts val="200"/>
              </a:spcAft>
              <a:buNone/>
            </a:pPr>
            <a:r>
              <a:rPr lang="en-US" sz="130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300" b="1" dirty="0">
                <a:solidFill>
                  <a:srgbClr val="FFFFFF"/>
                </a:solidFill>
                <a:latin typeface="Courier New" pitchFamily="34" charset="0"/>
                <a:ea typeface="Courier New" pitchFamily="34" charset="-122"/>
                <a:cs typeface="Courier New" pitchFamily="34" charset="-120"/>
              </a:rPr>
              <a:t>GET /mission4/?id=2</a:t>
            </a:r>
            <a:endParaRPr lang="en-US" sz="1300" dirty="0"/>
          </a:p>
          <a:p>
            <a:pPr indent="0" marL="0">
              <a:spcAft>
                <a:spcPts val="200"/>
              </a:spcAft>
              <a:buNone/>
            </a:pPr>
            <a:r>
              <a:rPr lang="en-US" sz="1300" dirty="0">
                <a:solidFill>
                  <a:srgbClr val="B8C4D9"/>
                </a:solidFill>
                <a:latin typeface="Courier New" pitchFamily="34" charset="0"/>
                <a:ea typeface="Courier New" pitchFamily="34" charset="-122"/>
                <a:cs typeface="Courier New" pitchFamily="34" charset="-120"/>
              </a:rPr>
              <a:t>Record 2: administrator</a:t>
            </a:r>
            <a:endParaRPr lang="en-US" sz="1300" dirty="0"/>
          </a:p>
          <a:p>
            <a:pPr indent="0" marL="0">
              <a:spcAft>
                <a:spcPts val="200"/>
              </a:spcAft>
              <a:buNone/>
            </a:pPr>
            <a:r>
              <a:rPr lang="en-US" sz="1300" b="1" dirty="0">
                <a:solidFill>
                  <a:srgbClr val="F5A623"/>
                </a:solidFill>
                <a:latin typeface="Courier New" pitchFamily="34" charset="0"/>
                <a:ea typeface="Courier New" pitchFamily="34" charset="-122"/>
                <a:cs typeface="Courier New" pitchFamily="34" charset="-120"/>
              </a:rPr>
              <a:t>Flag: CYBA{idor-...}</a:t>
            </a:r>
            <a:endParaRPr lang="en-US" sz="130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for i in $(seq 1 10); do curl -s "URL/?id=$i" | grep CYBA; done</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7448D4"/>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query string (?id=1) is just input, and input can be changed.</a:t>
            </a:r>
            <a:endParaRPr lang="en-US" sz="1400" dirty="0"/>
          </a:p>
        </p:txBody>
      </p:sp>
      <p:sp>
        <p:nvSpPr>
          <p:cNvPr id="42" name="Shape 39"/>
          <p:cNvSpPr/>
          <p:nvPr/>
        </p:nvSpPr>
        <p:spPr>
          <a:xfrm>
            <a:off x="7543800" y="2980944"/>
            <a:ext cx="457200" cy="457200"/>
          </a:xfrm>
          <a:prstGeom prst="ellipse">
            <a:avLst/>
          </a:prstGeom>
          <a:solidFill>
            <a:srgbClr val="7448D4"/>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Changing it to id=2 returned a record that wasn't ours.</a:t>
            </a:r>
            <a:endParaRPr lang="en-US" sz="1400" dirty="0"/>
          </a:p>
        </p:txBody>
      </p:sp>
      <p:sp>
        <p:nvSpPr>
          <p:cNvPr id="45" name="Shape 42"/>
          <p:cNvSpPr/>
          <p:nvPr/>
        </p:nvSpPr>
        <p:spPr>
          <a:xfrm>
            <a:off x="7543800" y="3767328"/>
            <a:ext cx="457200" cy="457200"/>
          </a:xfrm>
          <a:prstGeom prst="ellipse">
            <a:avLst/>
          </a:prstGeom>
          <a:solidFill>
            <a:srgbClr val="7448D4"/>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This is IDOR: the server never checked we were allowed to see it.</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IDOR, changing an id in a URL, has exposed real users' invoices, messages and medical records.</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7448D4"/>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What single check, on the server, would have stopped this?</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49 / 61</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D1416B"/>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20624"/>
            <a:ext cx="421538" cy="402336"/>
          </a:xfrm>
          <a:prstGeom prst="roundRect">
            <a:avLst>
              <a:gd name="adj" fmla="val 13636"/>
            </a:avLst>
          </a:prstGeom>
          <a:solidFill>
            <a:srgbClr val="D1416B"/>
          </a:solidFill>
          <a:ln/>
        </p:spPr>
      </p:sp>
      <p:sp>
        <p:nvSpPr>
          <p:cNvPr id="16" name="Text 13"/>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Robots and secret paths</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Every site has a robots.txt that asks search engines to skip certain pages. That list of 'please don't look here' paths is a map of what someone wanted hidden.</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/mission5/robots.txt</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/robots.txt</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is robots.txt actually for?</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Does 'Disallow' stop a person from visiting the page?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you wanted to hide a page, is listing it in robots.txt a good idea?</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50 / 61</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D1416B"/>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20624"/>
            <a:ext cx="421538" cy="402336"/>
          </a:xfrm>
          <a:prstGeom prst="roundRect">
            <a:avLst>
              <a:gd name="adj" fmla="val 13636"/>
            </a:avLst>
          </a:prstGeom>
          <a:solidFill>
            <a:srgbClr val="D1416B"/>
          </a:solidFill>
          <a:ln/>
        </p:spPr>
      </p:sp>
      <p:sp>
        <p:nvSpPr>
          <p:cNvPr id="16" name="Text 13"/>
          <p:cNvSpPr txBox="1"/>
          <p:nvPr/>
        </p:nvSpPr>
        <p:spPr>
          <a:xfrm>
            <a:off x="874532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9240012" y="475488"/>
            <a:ext cx="421538" cy="292608"/>
          </a:xfrm>
          <a:prstGeom prst="roundRect">
            <a:avLst>
              <a:gd name="adj" fmla="val 18750"/>
            </a:avLst>
          </a:prstGeom>
          <a:solidFill>
            <a:srgbClr val="E4EAF3"/>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Robots and secret paths</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GET /mission5/robots.txt</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User-agent: *</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Disallow: /mission5/admin-7f3c/</a:t>
            </a:r>
            <a:endParaRPr lang="en-US" sz="1250" dirty="0"/>
          </a:p>
          <a:p>
            <a:pPr indent="0" marL="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250" b="1" dirty="0">
                <a:solidFill>
                  <a:srgbClr val="FFFFFF"/>
                </a:solidFill>
                <a:latin typeface="Courier New" pitchFamily="34" charset="0"/>
                <a:ea typeface="Courier New" pitchFamily="34" charset="-122"/>
                <a:cs typeface="Courier New" pitchFamily="34" charset="-120"/>
              </a:rPr>
              <a:t>GET /mission5/admin-7f3c/</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Flag: CYBA{robots-...}</a:t>
            </a:r>
            <a:endParaRPr lang="en-US" sz="12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URL/robots.txt</a:t>
            </a:r>
            <a:endParaRPr lang="en-US" sz="1150" dirty="0"/>
          </a:p>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URL/&lt;disallowed-path&gt;/ | grep CYBA</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D1416B"/>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robots.txt is a public request to crawlers, not a lock.</a:t>
            </a:r>
            <a:endParaRPr lang="en-US" sz="1400" dirty="0"/>
          </a:p>
        </p:txBody>
      </p:sp>
      <p:sp>
        <p:nvSpPr>
          <p:cNvPr id="42" name="Shape 39"/>
          <p:cNvSpPr/>
          <p:nvPr/>
        </p:nvSpPr>
        <p:spPr>
          <a:xfrm>
            <a:off x="7543800" y="2980944"/>
            <a:ext cx="457200" cy="457200"/>
          </a:xfrm>
          <a:prstGeom prst="ellipse">
            <a:avLst/>
          </a:prstGeom>
          <a:solidFill>
            <a:srgbClr val="D1416B"/>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Disallow line pointed straight at a hidden folder.</a:t>
            </a:r>
            <a:endParaRPr lang="en-US" sz="1400" dirty="0"/>
          </a:p>
        </p:txBody>
      </p:sp>
      <p:sp>
        <p:nvSpPr>
          <p:cNvPr id="45" name="Shape 42"/>
          <p:cNvSpPr/>
          <p:nvPr/>
        </p:nvSpPr>
        <p:spPr>
          <a:xfrm>
            <a:off x="7543800" y="3767328"/>
            <a:ext cx="457200" cy="457200"/>
          </a:xfrm>
          <a:prstGeom prst="ellipse">
            <a:avLst/>
          </a:prstGeom>
          <a:solidFill>
            <a:srgbClr val="D1416B"/>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Visiting that path returned the flag.</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robots.txt has leaked admin panels and staging sites belonging to real companies for years.</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D1416B"/>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Why is 'security through obscurity' (hiding a page instead of locking it) never enough?</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51 / 61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E8820C"/>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20624"/>
            <a:ext cx="421538" cy="402336"/>
          </a:xfrm>
          <a:prstGeom prst="roundRect">
            <a:avLst>
              <a:gd name="adj" fmla="val 13636"/>
            </a:avLst>
          </a:prstGeom>
          <a:solidFill>
            <a:srgbClr val="E8820C"/>
          </a:solidFill>
          <a:ln/>
        </p:spPr>
      </p:sp>
      <p:sp>
        <p:nvSpPr>
          <p:cNvPr id="18" name="Text 15"/>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The console knows</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The page runs JavaScript in your browser. Somewhere in that code is a function that builds the flag. You just have to call it yourself.</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/mission6/   ·   F12 → Console</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F12 · Console</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What is the Console in DevTools?</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a page defines a function, can you run it too?</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is anything the page's JavaScript knows also yours?</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52 / 61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E8820C"/>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20624"/>
            <a:ext cx="421538" cy="402336"/>
          </a:xfrm>
          <a:prstGeom prst="roundRect">
            <a:avLst>
              <a:gd name="adj" fmla="val 13636"/>
            </a:avLst>
          </a:prstGeom>
          <a:solidFill>
            <a:srgbClr val="E8820C"/>
          </a:solidFill>
          <a:ln/>
        </p:spPr>
      </p:sp>
      <p:sp>
        <p:nvSpPr>
          <p:cNvPr id="18" name="Text 15"/>
          <p:cNvSpPr txBox="1"/>
          <p:nvPr/>
        </p:nvSpPr>
        <p:spPr>
          <a:xfrm>
            <a:off x="924001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9734702" y="475488"/>
            <a:ext cx="421538" cy="292608"/>
          </a:xfrm>
          <a:prstGeom prst="roundRect">
            <a:avLst>
              <a:gd name="adj" fmla="val 18750"/>
            </a:avLst>
          </a:prstGeom>
          <a:solidFill>
            <a:srgbClr val="E4EAF3"/>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The console knows</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F12 → Console</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&gt; getFlag()</a:t>
            </a:r>
            <a:endParaRPr lang="en-US" sz="1250" dirty="0"/>
          </a:p>
          <a:p>
            <a:pPr indent="0" marL="0">
              <a:spcAft>
                <a:spcPts val="200"/>
              </a:spcAft>
              <a:buNone/>
            </a:pPr>
            <a:r>
              <a:rPr lang="en-US" sz="1250" b="1" dirty="0">
                <a:solidFill>
                  <a:srgbClr val="F5A623"/>
                </a:solidFill>
                <a:latin typeface="Courier New" pitchFamily="34" charset="0"/>
                <a:ea typeface="Courier New" pitchFamily="34" charset="-122"/>
                <a:cs typeface="Courier New" pitchFamily="34" charset="-120"/>
              </a:rPr>
              <a:t>'CYBA{console-...}'</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&gt; document.cookie</a:t>
            </a:r>
            <a:endParaRPr lang="en-US" sz="1250" dirty="0"/>
          </a:p>
          <a:p>
            <a:pPr indent="0" marL="0">
              <a:spcAft>
                <a:spcPts val="200"/>
              </a:spcAft>
              <a:buNone/>
            </a:pPr>
            <a:r>
              <a:rPr lang="en-US" sz="1250" dirty="0">
                <a:solidFill>
                  <a:srgbClr val="B8C4D9"/>
                </a:solidFill>
                <a:latin typeface="Courier New" pitchFamily="34" charset="0"/>
                <a:ea typeface="Courier New" pitchFamily="34" charset="-122"/>
                <a:cs typeface="Courier New" pitchFamily="34" charset="-120"/>
              </a:rPr>
              <a:t>'session=8f2a...'</a:t>
            </a:r>
            <a:endParaRPr lang="en-US" sz="1250" dirty="0"/>
          </a:p>
          <a:p>
            <a:pPr indent="0" marL="0">
              <a:spcAft>
                <a:spcPts val="200"/>
              </a:spcAft>
              <a:buNone/>
            </a:pPr>
            <a:r>
              <a:rPr lang="en-US" sz="1250" dirty="0">
                <a:solidFill>
                  <a:srgbClr val="7F8FAD"/>
                </a:solidFill>
                <a:latin typeface="Courier New" pitchFamily="34" charset="0"/>
                <a:ea typeface="Courier New" pitchFamily="34" charset="-122"/>
                <a:cs typeface="Courier New" pitchFamily="34" charset="-120"/>
              </a:rPr>
              <a:t># the page's JS is yours to run</a:t>
            </a:r>
            <a:endParaRPr lang="en-US" sz="12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URL/app.js | grep -i flag   </a:t>
            </a:r>
            <a:pPr indent="0" marL="0">
              <a:buNone/>
            </a:pPr>
            <a:r>
              <a:rPr lang="en-US" sz="1150" dirty="0">
                <a:solidFill>
                  <a:srgbClr val="7F8FAD"/>
                </a:solidFill>
                <a:latin typeface="Courier New" pitchFamily="34" charset="0"/>
                <a:ea typeface="Courier New" pitchFamily="34" charset="-122"/>
                <a:cs typeface="Courier New" pitchFamily="34" charset="-120"/>
              </a:rPr>
              <a:t>   # read what the JS builds</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E8820C"/>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Console runs JavaScript inside the page, right now.</a:t>
            </a:r>
            <a:endParaRPr lang="en-US" sz="1400" dirty="0"/>
          </a:p>
        </p:txBody>
      </p:sp>
      <p:sp>
        <p:nvSpPr>
          <p:cNvPr id="42" name="Shape 39"/>
          <p:cNvSpPr/>
          <p:nvPr/>
        </p:nvSpPr>
        <p:spPr>
          <a:xfrm>
            <a:off x="7543800" y="2980944"/>
            <a:ext cx="457200" cy="457200"/>
          </a:xfrm>
          <a:prstGeom prst="ellipse">
            <a:avLst/>
          </a:prstGeom>
          <a:solidFill>
            <a:srgbClr val="E8820C"/>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Calling getFlag() ran the page's own code for us.</a:t>
            </a:r>
            <a:endParaRPr lang="en-US" sz="1400" dirty="0"/>
          </a:p>
        </p:txBody>
      </p:sp>
      <p:sp>
        <p:nvSpPr>
          <p:cNvPr id="45" name="Shape 42"/>
          <p:cNvSpPr/>
          <p:nvPr/>
        </p:nvSpPr>
        <p:spPr>
          <a:xfrm>
            <a:off x="7543800" y="3767328"/>
            <a:ext cx="457200" cy="457200"/>
          </a:xfrm>
          <a:prstGeom prst="ellipse">
            <a:avLst/>
          </a:prstGeom>
          <a:solidFill>
            <a:srgbClr val="E8820C"/>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Anything the client-side JS can compute, the user can compute too.</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Logic and secrets shipped to the browser are never private: attackers read and run them at will.</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E8820C"/>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Type 'window' in the console and expand it. How much of the page can you reach from there?</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53 / 61</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C9A227"/>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FF4DE"/>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20624"/>
            <a:ext cx="421538" cy="402336"/>
          </a:xfrm>
          <a:prstGeom prst="roundRect">
            <a:avLst>
              <a:gd name="adj" fmla="val 13636"/>
            </a:avLst>
          </a:prstGeom>
          <a:solidFill>
            <a:srgbClr val="C9A227"/>
          </a:solidFill>
          <a:ln/>
        </p:spPr>
      </p:sp>
      <p:sp>
        <p:nvSpPr>
          <p:cNvPr id="20" name="Text 17"/>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Break the lock</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 login form checks your password with JavaScript in the page itself. If the check runs in your browser, you can read exactly what it is checking for.</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/mission7/   ·   the login form</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Sources · read the JS</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Where does this login decide right from wrong: your computer, or the server?</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the password check is in the page's JS, can you read the password?</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Why should a real login never check the password in the browser?</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54 / 61</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C9A227"/>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FF4DE"/>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20624"/>
            <a:ext cx="421538" cy="402336"/>
          </a:xfrm>
          <a:prstGeom prst="roundRect">
            <a:avLst>
              <a:gd name="adj" fmla="val 13636"/>
            </a:avLst>
          </a:prstGeom>
          <a:solidFill>
            <a:srgbClr val="C9A227"/>
          </a:solidFill>
          <a:ln/>
        </p:spPr>
      </p:sp>
      <p:sp>
        <p:nvSpPr>
          <p:cNvPr id="20" name="Text 17"/>
          <p:cNvSpPr txBox="1"/>
          <p:nvPr/>
        </p:nvSpPr>
        <p:spPr>
          <a:xfrm>
            <a:off x="9734702"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1" name="Shape 18"/>
          <p:cNvSpPr/>
          <p:nvPr/>
        </p:nvSpPr>
        <p:spPr>
          <a:xfrm>
            <a:off x="10229393" y="475488"/>
            <a:ext cx="421538" cy="292608"/>
          </a:xfrm>
          <a:prstGeom prst="roundRect">
            <a:avLst>
              <a:gd name="adj" fmla="val 18750"/>
            </a:avLst>
          </a:prstGeom>
          <a:solidFill>
            <a:srgbClr val="E4EAF3"/>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Break the lock</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200" dirty="0">
                <a:solidFill>
                  <a:srgbClr val="7F8FAD"/>
                </a:solidFill>
                <a:latin typeface="Courier New" pitchFamily="34" charset="0"/>
                <a:ea typeface="Courier New" pitchFamily="34" charset="-122"/>
                <a:cs typeface="Courier New" pitchFamily="34" charset="-120"/>
              </a:rPr>
              <a:t># Sources → app.js</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function login(pw) {</a:t>
            </a:r>
            <a:endParaRPr lang="en-US" sz="1200" dirty="0"/>
          </a:p>
          <a:p>
            <a:pPr indent="0" marL="0">
              <a:spcAft>
                <a:spcPts val="200"/>
              </a:spcAft>
              <a:buNone/>
            </a:pPr>
            <a:r>
              <a:rPr lang="en-US" sz="1200" b="1" dirty="0">
                <a:solidFill>
                  <a:srgbClr val="F5A623"/>
                </a:solidFill>
                <a:latin typeface="Courier New" pitchFamily="34" charset="0"/>
                <a:ea typeface="Courier New" pitchFamily="34" charset="-122"/>
                <a:cs typeface="Courier New" pitchFamily="34" charset="-120"/>
              </a:rPr>
              <a:t>  if (pw === 'sunfl0wer-42') {</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    reveal('CYBA{login-...}')</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  }</a:t>
            </a:r>
            <a:endParaRPr lang="en-US" sz="1200" dirty="0"/>
          </a:p>
          <a:p>
            <a:pPr indent="0" marL="0">
              <a:spcAft>
                <a:spcPts val="200"/>
              </a:spcAft>
              <a:buNone/>
            </a:pPr>
            <a:r>
              <a:rPr lang="en-US" sz="1200" dirty="0">
                <a:solidFill>
                  <a:srgbClr val="B8C4D9"/>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rgbClr val="7F8FAD"/>
                </a:solidFill>
                <a:latin typeface="Courier New" pitchFamily="34" charset="0"/>
                <a:ea typeface="Courier New" pitchFamily="34" charset="-122"/>
                <a:cs typeface="Courier New" pitchFamily="34" charset="-120"/>
              </a:rPr>
              <a:t># the password shipped to your browser</a:t>
            </a:r>
            <a:endParaRPr lang="en-US" sz="120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URL/app.js | grep -i "pw ===" </a:t>
            </a:r>
            <a:pPr indent="0" marL="0">
              <a:buNone/>
            </a:pPr>
            <a:r>
              <a:rPr lang="en-US" sz="1150" dirty="0">
                <a:solidFill>
                  <a:srgbClr val="7F8FAD"/>
                </a:solidFill>
                <a:latin typeface="Courier New" pitchFamily="34" charset="0"/>
                <a:ea typeface="Courier New" pitchFamily="34" charset="-122"/>
                <a:cs typeface="Courier New" pitchFamily="34" charset="-120"/>
              </a:rPr>
              <a:t>   # the password, in the code</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C9A227"/>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whole password check was shipped to the browser.</a:t>
            </a:r>
            <a:endParaRPr lang="en-US" sz="1400" dirty="0"/>
          </a:p>
        </p:txBody>
      </p:sp>
      <p:sp>
        <p:nvSpPr>
          <p:cNvPr id="42" name="Shape 39"/>
          <p:cNvSpPr/>
          <p:nvPr/>
        </p:nvSpPr>
        <p:spPr>
          <a:xfrm>
            <a:off x="7543800" y="2980944"/>
            <a:ext cx="457200" cy="457200"/>
          </a:xfrm>
          <a:prstGeom prst="ellipse">
            <a:avLst/>
          </a:prstGeom>
          <a:solidFill>
            <a:srgbClr val="C9A227"/>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Reading the JavaScript revealed the password in plain text.</a:t>
            </a:r>
            <a:endParaRPr lang="en-US" sz="1400" dirty="0"/>
          </a:p>
        </p:txBody>
      </p:sp>
      <p:sp>
        <p:nvSpPr>
          <p:cNvPr id="45" name="Shape 42"/>
          <p:cNvSpPr/>
          <p:nvPr/>
        </p:nvSpPr>
        <p:spPr>
          <a:xfrm>
            <a:off x="7543800" y="3767328"/>
            <a:ext cx="457200" cy="457200"/>
          </a:xfrm>
          <a:prstGeom prst="ellipse">
            <a:avLst/>
          </a:prstGeom>
          <a:solidFill>
            <a:srgbClr val="C9A227"/>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A check that runs on the client is no check at all.</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Client-side authentication and hard-coded passwords are real, serious bugs found in shipped apps.</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C9A227"/>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Where must the password actually be checked so that you cannot read it?</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55 / 61</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0F9488"/>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DE8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20624"/>
            <a:ext cx="421538" cy="402336"/>
          </a:xfrm>
          <a:prstGeom prst="roundRect">
            <a:avLst>
              <a:gd name="adj" fmla="val 13636"/>
            </a:avLst>
          </a:prstGeom>
          <a:solidFill>
            <a:srgbClr val="0F9488"/>
          </a:solidFill>
          <a:ln/>
        </p:spPr>
      </p:sp>
      <p:sp>
        <p:nvSpPr>
          <p:cNvPr id="22" name="Text 19"/>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Decode the token</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After login the site stored a token that looks like random gibberish. It isn't encrypted, only encoded. Decode it and read what it says about you.</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/mission8/   ·   Application → Local Storage</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base64 · JWT</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Encoded or encrypted: which one needs a key? (Remember the Crypto CTF.)</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A token in three dot-separated parts is a JWT. What's in the middle part?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you can read a token, what might you be tempted to change?</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56 / 61</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0F9488"/>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DE8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20624"/>
            <a:ext cx="421538" cy="402336"/>
          </a:xfrm>
          <a:prstGeom prst="roundRect">
            <a:avLst>
              <a:gd name="adj" fmla="val 13636"/>
            </a:avLst>
          </a:prstGeom>
          <a:solidFill>
            <a:srgbClr val="0F9488"/>
          </a:solidFill>
          <a:ln/>
        </p:spPr>
      </p:sp>
      <p:sp>
        <p:nvSpPr>
          <p:cNvPr id="22" name="Text 19"/>
          <p:cNvSpPr txBox="1"/>
          <p:nvPr/>
        </p:nvSpPr>
        <p:spPr>
          <a:xfrm>
            <a:off x="1022939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3" name="Shape 20"/>
          <p:cNvSpPr/>
          <p:nvPr/>
        </p:nvSpPr>
        <p:spPr>
          <a:xfrm>
            <a:off x="10724083" y="475488"/>
            <a:ext cx="421538" cy="292608"/>
          </a:xfrm>
          <a:prstGeom prst="roundRect">
            <a:avLst>
              <a:gd name="adj" fmla="val 18750"/>
            </a:avLst>
          </a:prstGeom>
          <a:solidFill>
            <a:srgbClr val="E4EAF3"/>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Decode the token</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150" dirty="0">
                <a:solidFill>
                  <a:srgbClr val="7F8FAD"/>
                </a:solidFill>
                <a:latin typeface="Courier New" pitchFamily="34" charset="0"/>
                <a:ea typeface="Courier New" pitchFamily="34" charset="-122"/>
                <a:cs typeface="Courier New" pitchFamily="34" charset="-120"/>
              </a:rPr>
              <a:t># Local Storage</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token = eyJ1c2VyIjoiZ3Vlc3QiLCJm...</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echo eyJ1c2VyIjoi... | base64 -d</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{"user":"guest","flag":"CYBA{jwt-...}"}</a:t>
            </a:r>
            <a:endParaRPr lang="en-US" sz="1150" dirty="0"/>
          </a:p>
          <a:p>
            <a:pPr indent="0" marL="0">
              <a:spcAft>
                <a:spcPts val="200"/>
              </a:spcAft>
              <a:buNone/>
            </a:pPr>
            <a:r>
              <a:rPr lang="en-US" sz="1150" dirty="0">
                <a:solidFill>
                  <a:srgbClr val="7F8FAD"/>
                </a:solidFill>
                <a:latin typeface="Courier New" pitchFamily="34" charset="0"/>
                <a:ea typeface="Courier New" pitchFamily="34" charset="-122"/>
                <a:cs typeface="Courier New" pitchFamily="34" charset="-120"/>
              </a:rPr>
              <a:t># encoding is not encryption</a:t>
            </a:r>
            <a:endParaRPr lang="en-US" sz="11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 | grep -o 'eyJ[A-Za-z0-9._-]*' \</a:t>
            </a:r>
            <a:endParaRPr lang="en-US" sz="1150" dirty="0"/>
          </a:p>
          <a:p>
            <a:pPr indent="0" marL="0">
              <a:buNone/>
            </a:pPr>
            <a:r>
              <a:rPr lang="en-US" sz="1150" dirty="0">
                <a:solidFill>
                  <a:srgbClr val="B8C4D9"/>
                </a:solidFill>
                <a:latin typeface="Courier New" pitchFamily="34" charset="0"/>
                <a:ea typeface="Courier New" pitchFamily="34" charset="-122"/>
                <a:cs typeface="Courier New" pitchFamily="34" charset="-120"/>
              </a:rPr>
              <a:t>    | cut -d. -f2 | base64 -d      # decode the payload</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0F9488"/>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The token was base64, the same encoding from the Crypto CTF.</a:t>
            </a:r>
            <a:endParaRPr lang="en-US" sz="1400" dirty="0"/>
          </a:p>
        </p:txBody>
      </p:sp>
      <p:sp>
        <p:nvSpPr>
          <p:cNvPr id="42" name="Shape 39"/>
          <p:cNvSpPr/>
          <p:nvPr/>
        </p:nvSpPr>
        <p:spPr>
          <a:xfrm>
            <a:off x="7543800" y="2980944"/>
            <a:ext cx="457200" cy="457200"/>
          </a:xfrm>
          <a:prstGeom prst="ellipse">
            <a:avLst/>
          </a:prstGeom>
          <a:solidFill>
            <a:srgbClr val="0F9488"/>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base64 -d turned it straight back into readable JSON.</a:t>
            </a:r>
            <a:endParaRPr lang="en-US" sz="1400" dirty="0"/>
          </a:p>
        </p:txBody>
      </p:sp>
      <p:sp>
        <p:nvSpPr>
          <p:cNvPr id="45" name="Shape 42"/>
          <p:cNvSpPr/>
          <p:nvPr/>
        </p:nvSpPr>
        <p:spPr>
          <a:xfrm>
            <a:off x="7543800" y="3767328"/>
            <a:ext cx="457200" cy="457200"/>
          </a:xfrm>
          <a:prstGeom prst="ellipse">
            <a:avLst/>
          </a:prstGeom>
          <a:solidFill>
            <a:srgbClr val="0F9488"/>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Encoding hides nothing: a token you hold is a token you can read.</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JWTs carry user data in base64. Reading one is trivial; apps must sign them so they can't be forged.</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0F9488"/>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A real JWT has a signature as its third part. Why does that stop you changing user to admin?</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57 / 61</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5B6EE1"/>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FDE8EC"/>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20624"/>
            <a:ext cx="421538" cy="402336"/>
          </a:xfrm>
          <a:prstGeom prst="roundRect">
            <a:avLst>
              <a:gd name="adj" fmla="val 13636"/>
            </a:avLst>
          </a:prstGeom>
          <a:solidFill>
            <a:srgbClr val="5B6EE1"/>
          </a:solidFill>
          <a:ln/>
        </p:spPr>
      </p:sp>
      <p:sp>
        <p:nvSpPr>
          <p:cNvPr id="24" name="Text 21"/>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A little injection</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Whatever you type in the search box is pasted straight back into the page. If the page doesn't clean your input, you can make it do more than search.</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/mission9/   ·   the search box</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input tampering</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After you hit search, is your text shown as plain text, or treated as code?</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If the page trusts your input, what could you slip in?</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Whose job is it to clean user input: the user, or the site?</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58 / 61</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5B6EE1"/>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FDE8EC"/>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20624"/>
            <a:ext cx="421538" cy="402336"/>
          </a:xfrm>
          <a:prstGeom prst="roundRect">
            <a:avLst>
              <a:gd name="adj" fmla="val 13636"/>
            </a:avLst>
          </a:prstGeom>
          <a:solidFill>
            <a:srgbClr val="5B6EE1"/>
          </a:solidFill>
          <a:ln/>
        </p:spPr>
      </p:sp>
      <p:sp>
        <p:nvSpPr>
          <p:cNvPr id="24" name="Text 21"/>
          <p:cNvSpPr txBox="1"/>
          <p:nvPr/>
        </p:nvSpPr>
        <p:spPr>
          <a:xfrm>
            <a:off x="10724083"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5" name="Shape 22"/>
          <p:cNvSpPr/>
          <p:nvPr/>
        </p:nvSpPr>
        <p:spPr>
          <a:xfrm>
            <a:off x="11218774" y="475488"/>
            <a:ext cx="421538" cy="292608"/>
          </a:xfrm>
          <a:prstGeom prst="roundRect">
            <a:avLst>
              <a:gd name="adj" fmla="val 18750"/>
            </a:avLst>
          </a:prstGeom>
          <a:solidFill>
            <a:srgbClr val="E4EAF3"/>
          </a:solidFill>
          <a:ln/>
        </p:spPr>
      </p:sp>
      <p:sp>
        <p:nvSpPr>
          <p:cNvPr id="26" name="Text 23"/>
          <p:cNvSpPr txBox="1"/>
          <p:nvPr/>
        </p:nvSpPr>
        <p:spPr>
          <a:xfrm>
            <a:off x="11218774" y="475488"/>
            <a:ext cx="421538" cy="292608"/>
          </a:xfrm>
          <a:prstGeom prst="rect">
            <a:avLst/>
          </a:prstGeom>
          <a:noFill/>
          <a:ln/>
        </p:spPr>
        <p:txBody>
          <a:bodyPr wrap="square" lIns="0" tIns="0" rIns="0" bIns="0" rtlCol="0" anchor="ctr"/>
          <a:lstStyle/>
          <a:p>
            <a:pPr algn="ctr" indent="0" marL="0">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A little injection</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search: apple</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You searched for: apple</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search: &lt;b&gt;hi&lt;/b&gt;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You searched for: hi   (it went bold!)</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input is run, not shown — Flag: CYBA{inject-...}</a:t>
            </a:r>
            <a:endParaRPr lang="en-US" sz="11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"URL/search?q=&lt;b&gt;x&lt;/b&gt;" | grep CYBA</a:t>
            </a:r>
            <a:pPr indent="0" marL="0">
              <a:buNone/>
            </a:pPr>
            <a:r>
              <a:rPr lang="en-US" sz="1150" dirty="0">
                <a:solidFill>
                  <a:srgbClr val="7F8FAD"/>
                </a:solidFill>
                <a:latin typeface="Courier New" pitchFamily="34" charset="0"/>
                <a:ea typeface="Courier New" pitchFamily="34" charset="-122"/>
                <a:cs typeface="Courier New" pitchFamily="34" charset="-120"/>
              </a:rPr>
              <a:t>   # reflected input</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5B6EE1"/>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Our input was reflected back into the page unchanged.</a:t>
            </a:r>
            <a:endParaRPr lang="en-US" sz="1400" dirty="0"/>
          </a:p>
        </p:txBody>
      </p:sp>
      <p:sp>
        <p:nvSpPr>
          <p:cNvPr id="42" name="Shape 39"/>
          <p:cNvSpPr/>
          <p:nvPr/>
        </p:nvSpPr>
        <p:spPr>
          <a:xfrm>
            <a:off x="7543800" y="2980944"/>
            <a:ext cx="457200" cy="457200"/>
          </a:xfrm>
          <a:prstGeom prst="ellipse">
            <a:avLst/>
          </a:prstGeom>
          <a:solidFill>
            <a:srgbClr val="5B6EE1"/>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HTML we typed was treated as HTML, not as text.</a:t>
            </a:r>
            <a:endParaRPr lang="en-US" sz="1400" dirty="0"/>
          </a:p>
        </p:txBody>
      </p:sp>
      <p:sp>
        <p:nvSpPr>
          <p:cNvPr id="45" name="Shape 42"/>
          <p:cNvSpPr/>
          <p:nvPr/>
        </p:nvSpPr>
        <p:spPr>
          <a:xfrm>
            <a:off x="7543800" y="3767328"/>
            <a:ext cx="457200" cy="457200"/>
          </a:xfrm>
          <a:prstGeom prst="ellipse">
            <a:avLst/>
          </a:prstGeom>
          <a:solidFill>
            <a:srgbClr val="5B6EE1"/>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That is the root of XSS: untrusted input used without cleaning.</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Injection (XSS and SQL injection) sits at the top of the OWASP list, all from trusting user input.</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5B6EE1"/>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What should the site do to your &lt;b&gt; so it shows as the letters '&lt;b&gt;' instead of going bold?</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59 / 61</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3" name="Shape 0"/>
          <p:cNvSpPr/>
          <p:nvPr/>
        </p:nvSpPr>
        <p:spPr>
          <a:xfrm>
            <a:off x="548640" y="438912"/>
            <a:ext cx="1828800" cy="347472"/>
          </a:xfrm>
          <a:prstGeom prst="roundRect">
            <a:avLst>
              <a:gd name="adj" fmla="val 50000"/>
            </a:avLst>
          </a:prstGeom>
          <a:solidFill>
            <a:srgbClr val="B4233F"/>
          </a:solidFill>
          <a:ln/>
        </p:spPr>
      </p:sp>
      <p:sp>
        <p:nvSpPr>
          <p:cNvPr id="4" name="Text 1"/>
          <p:cNvSpPr txBox="1"/>
          <p:nvPr/>
        </p:nvSpPr>
        <p:spPr>
          <a:xfrm>
            <a:off x="548640" y="438912"/>
            <a:ext cx="18288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5" name="Shape 2"/>
          <p:cNvSpPr/>
          <p:nvPr/>
        </p:nvSpPr>
        <p:spPr>
          <a:xfrm>
            <a:off x="2514600" y="438912"/>
            <a:ext cx="1828800" cy="347472"/>
          </a:xfrm>
          <a:prstGeom prst="roundRect">
            <a:avLst>
              <a:gd name="adj" fmla="val 50000"/>
            </a:avLst>
          </a:prstGeom>
          <a:solidFill>
            <a:srgbClr val="2A1430"/>
          </a:solidFill>
          <a:ln/>
        </p:spPr>
      </p:sp>
      <p:sp>
        <p:nvSpPr>
          <p:cNvPr id="6" name="Text 3"/>
          <p:cNvSpPr txBox="1"/>
          <p:nvPr/>
        </p:nvSpPr>
        <p:spPr>
          <a:xfrm>
            <a:off x="251460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5B6EE1"/>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20624"/>
            <a:ext cx="421538" cy="402336"/>
          </a:xfrm>
          <a:prstGeom prst="roundRect">
            <a:avLst>
              <a:gd name="adj" fmla="val 13636"/>
            </a:avLst>
          </a:prstGeom>
          <a:solidFill>
            <a:srgbClr val="B4233F"/>
          </a:solidFill>
          <a:ln/>
        </p:spPr>
      </p:sp>
      <p:sp>
        <p:nvSpPr>
          <p:cNvPr id="26" name="Text 23"/>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7" name="Text 24"/>
          <p:cNvSpPr txBox="1"/>
          <p:nvPr/>
        </p:nvSpPr>
        <p:spPr>
          <a:xfrm>
            <a:off x="548640" y="914400"/>
            <a:ext cx="11094415" cy="868680"/>
          </a:xfrm>
          <a:prstGeom prst="rect">
            <a:avLst/>
          </a:prstGeom>
          <a:noFill/>
          <a:ln/>
        </p:spPr>
        <p:txBody>
          <a:bodyPr wrap="square" lIns="0" tIns="0" rIns="0" bIns="0" rtlCol="0" anchor="ctr"/>
          <a:lstStyle/>
          <a:p>
            <a:pPr indent="0" marL="0">
              <a:buNone/>
            </a:pPr>
            <a:r>
              <a:rPr lang="en-US" sz="4200" b="1" dirty="0">
                <a:solidFill>
                  <a:srgbClr val="12213A"/>
                </a:solidFill>
                <a:latin typeface="Arial" pitchFamily="34" charset="0"/>
                <a:ea typeface="Arial" pitchFamily="34" charset="-122"/>
                <a:cs typeface="Arial" pitchFamily="34" charset="-120"/>
              </a:rPr>
              <a:t>The full chain</a:t>
            </a:r>
            <a:endParaRPr lang="en-US" sz="4200" dirty="0"/>
          </a:p>
        </p:txBody>
      </p:sp>
      <p:sp>
        <p:nvSpPr>
          <p:cNvPr id="28" name="Shape 25"/>
          <p:cNvSpPr/>
          <p:nvPr/>
        </p:nvSpPr>
        <p:spPr>
          <a:xfrm>
            <a:off x="548640" y="1920240"/>
            <a:ext cx="6446520" cy="4023360"/>
          </a:xfrm>
          <a:prstGeom prst="roundRect">
            <a:avLst>
              <a:gd name="adj" fmla="val 2727"/>
            </a:avLst>
          </a:prstGeom>
          <a:solidFill>
            <a:srgbClr val="0E1726"/>
          </a:solidFill>
          <a:ln/>
          <a:effectLst>
            <a:outerShdw sx="100000" sy="100000" kx="0" ky="0" algn="bl" rotWithShape="0" blurRad="127000" dist="38100" dir="5400000">
              <a:srgbClr val="12213A">
                <a:alpha val="22000"/>
              </a:srgbClr>
            </a:outerShdw>
          </a:effectLst>
        </p:spPr>
      </p:sp>
      <p:sp>
        <p:nvSpPr>
          <p:cNvPr id="29" name="Text 26"/>
          <p:cNvSpPr txBox="1"/>
          <p:nvPr/>
        </p:nvSpPr>
        <p:spPr>
          <a:xfrm>
            <a:off x="914400" y="2103120"/>
            <a:ext cx="3657600" cy="365760"/>
          </a:xfrm>
          <a:prstGeom prst="rect">
            <a:avLst/>
          </a:prstGeom>
          <a:noFill/>
          <a:ln/>
        </p:spPr>
        <p:txBody>
          <a:bodyPr wrap="square" lIns="0" tIns="0" rIns="0" bIns="0" rtlCol="0" anchor="ctr"/>
          <a:lstStyle/>
          <a:p>
            <a:pPr indent="0" marL="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0" name="Text 27"/>
          <p:cNvSpPr txBox="1"/>
          <p:nvPr/>
        </p:nvSpPr>
        <p:spPr>
          <a:xfrm>
            <a:off x="914400" y="2560320"/>
            <a:ext cx="5715000" cy="205740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Calibri" pitchFamily="34" charset="0"/>
                <a:ea typeface="Calibri" pitchFamily="34" charset="-122"/>
                <a:cs typeface="Calibri" pitchFamily="34" charset="-120"/>
              </a:rPr>
              <a:t>Three skills in one. robots.txt names a hidden API; the API wants an id you tamper; it returns a token you decode. Peel it one layer at a time.</a:t>
            </a:r>
            <a:endParaRPr lang="en-US" sz="2100" dirty="0"/>
          </a:p>
        </p:txBody>
      </p:sp>
      <p:sp>
        <p:nvSpPr>
          <p:cNvPr id="31" name="Text 28"/>
          <p:cNvSpPr txBox="1"/>
          <p:nvPr/>
        </p:nvSpPr>
        <p:spPr>
          <a:xfrm>
            <a:off x="914400" y="4663440"/>
            <a:ext cx="5760720" cy="320040"/>
          </a:xfrm>
          <a:prstGeom prst="rect">
            <a:avLst/>
          </a:prstGeom>
          <a:noFill/>
          <a:ln/>
        </p:spPr>
        <p:txBody>
          <a:bodyPr wrap="square" lIns="0" tIns="0" rIns="0" bIns="0" rtlCol="0" anchor="ctr"/>
          <a:lstStyle/>
          <a:p>
            <a:pPr indent="0" marL="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2" name="Shape 29"/>
          <p:cNvSpPr/>
          <p:nvPr/>
        </p:nvSpPr>
        <p:spPr>
          <a:xfrm>
            <a:off x="914400" y="5166360"/>
            <a:ext cx="3291840" cy="502920"/>
          </a:xfrm>
          <a:prstGeom prst="roundRect">
            <a:avLst>
              <a:gd name="adj" fmla="val 14545"/>
            </a:avLst>
          </a:prstGeom>
          <a:solidFill>
            <a:srgbClr val="F5A623"/>
          </a:solidFill>
          <a:ln/>
        </p:spPr>
      </p:sp>
      <p:sp>
        <p:nvSpPr>
          <p:cNvPr id="33" name="Text 30"/>
          <p:cNvSpPr txBox="1"/>
          <p:nvPr/>
        </p:nvSpPr>
        <p:spPr>
          <a:xfrm>
            <a:off x="914400" y="5166360"/>
            <a:ext cx="3291840" cy="502920"/>
          </a:xfrm>
          <a:prstGeom prst="rect">
            <a:avLst/>
          </a:prstGeom>
          <a:noFill/>
          <a:ln/>
        </p:spPr>
        <p:txBody>
          <a:bodyPr wrap="square" lIns="0" tIns="0" rIns="0" bIns="0" rtlCol="0" anchor="ctr">
            <a:normAutofit/>
          </a:bodyPr>
          <a:lstStyle/>
          <a:p>
            <a:pPr algn="ctr" indent="0" marL="0">
              <a:buNone/>
            </a:pPr>
            <a:r>
              <a:rPr lang="en-US" sz="1300" dirty="0">
                <a:solidFill>
                  <a:srgbClr val="12213A"/>
                </a:solidFill>
                <a:latin typeface="Calibri" pitchFamily="34" charset="0"/>
                <a:ea typeface="Calibri" pitchFamily="34" charset="-122"/>
                <a:cs typeface="Calibri" pitchFamily="34" charset="-120"/>
              </a:rPr>
              <a:t>Tool: </a:t>
            </a:r>
            <a:pPr algn="ctr" indent="0" marL="0">
              <a:buNone/>
            </a:pPr>
            <a:r>
              <a:rPr lang="en-US" sz="1300" b="1" dirty="0">
                <a:solidFill>
                  <a:srgbClr val="12213A"/>
                </a:solidFill>
                <a:latin typeface="Courier New" pitchFamily="34" charset="0"/>
                <a:ea typeface="Courier New" pitchFamily="34" charset="-122"/>
                <a:cs typeface="Courier New" pitchFamily="34" charset="-120"/>
              </a:rPr>
              <a:t>robots · ?id= · base64</a:t>
            </a:r>
            <a:endParaRPr lang="en-US" sz="1300" dirty="0"/>
          </a:p>
        </p:txBody>
      </p:sp>
      <p:sp>
        <p:nvSpPr>
          <p:cNvPr id="34" name="Shape 31"/>
          <p:cNvSpPr/>
          <p:nvPr/>
        </p:nvSpPr>
        <p:spPr>
          <a:xfrm>
            <a:off x="4389120" y="5166360"/>
            <a:ext cx="2240280" cy="502920"/>
          </a:xfrm>
          <a:prstGeom prst="roundRect">
            <a:avLst>
              <a:gd name="adj" fmla="val 14545"/>
            </a:avLst>
          </a:prstGeom>
          <a:solidFill>
            <a:srgbClr val="2B3B5C"/>
          </a:solidFill>
          <a:ln/>
        </p:spPr>
      </p:sp>
      <p:sp>
        <p:nvSpPr>
          <p:cNvPr id="35" name="Text 32"/>
          <p:cNvSpPr txBox="1"/>
          <p:nvPr/>
        </p:nvSpPr>
        <p:spPr>
          <a:xfrm>
            <a:off x="4389120" y="5166360"/>
            <a:ext cx="2240280" cy="502920"/>
          </a:xfrm>
          <a:prstGeom prst="rect">
            <a:avLst/>
          </a:prstGeom>
          <a:noFill/>
          <a:ln/>
        </p:spPr>
        <p:txBody>
          <a:bodyPr wrap="square" lIns="0" tIns="0" rIns="0" bIns="0" rtlCol="0" anchor="ctr"/>
          <a:lstStyle/>
          <a:p>
            <a:pPr algn="ctr" indent="0" marL="0">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6" name="Shape 33"/>
          <p:cNvSpPr/>
          <p:nvPr/>
        </p:nvSpPr>
        <p:spPr>
          <a:xfrm>
            <a:off x="7269480" y="1920240"/>
            <a:ext cx="4370832" cy="2788920"/>
          </a:xfrm>
          <a:prstGeom prst="roundRect">
            <a:avLst>
              <a:gd name="adj" fmla="val 3279"/>
            </a:avLst>
          </a:prstGeom>
          <a:solidFill>
            <a:srgbClr val="F1F5FB"/>
          </a:solidFill>
          <a:ln/>
        </p:spPr>
      </p:sp>
      <p:sp>
        <p:nvSpPr>
          <p:cNvPr id="37" name="Text 34"/>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1900" b="1" dirty="0">
                <a:solidFill>
                  <a:srgbClr val="12213A"/>
                </a:solidFill>
                <a:latin typeface="Arial" pitchFamily="34" charset="0"/>
                <a:ea typeface="Arial" pitchFamily="34" charset="-122"/>
                <a:cs typeface="Arial" pitchFamily="34" charset="-120"/>
              </a:rPr>
              <a:t>Before anyone touches it</a:t>
            </a:r>
            <a:endParaRPr lang="en-US" sz="1900" dirty="0"/>
          </a:p>
        </p:txBody>
      </p:sp>
      <p:sp>
        <p:nvSpPr>
          <p:cNvPr id="38" name="Text 35"/>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mission taught us to read robots.txt?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taught us to change an id in a request?</a:t>
            </a:r>
            <a:endParaRPr lang="en-US" sz="1500" dirty="0"/>
          </a:p>
          <a:p>
            <a:pPr marL="342900" indent="-342900">
              <a:spcAft>
                <a:spcPts val="700"/>
              </a:spcAft>
              <a:buSzPct val="100000"/>
              <a:buChar char="•"/>
            </a:pPr>
            <a:r>
              <a:rPr lang="en-US" sz="1500" dirty="0">
                <a:solidFill>
                  <a:srgbClr val="12213A"/>
                </a:solidFill>
                <a:latin typeface="Calibri" pitchFamily="34" charset="0"/>
                <a:ea typeface="Calibri" pitchFamily="34" charset="-122"/>
                <a:cs typeface="Calibri" pitchFamily="34" charset="-120"/>
              </a:rPr>
              <a:t>Which taught us to decode a base64 token?</a:t>
            </a:r>
            <a:endParaRPr lang="en-US" sz="1500" dirty="0"/>
          </a:p>
        </p:txBody>
      </p:sp>
      <p:sp>
        <p:nvSpPr>
          <p:cNvPr id="39" name="Shape 36"/>
          <p:cNvSpPr/>
          <p:nvPr/>
        </p:nvSpPr>
        <p:spPr>
          <a:xfrm>
            <a:off x="7269480" y="4892040"/>
            <a:ext cx="4370832" cy="1051560"/>
          </a:xfrm>
          <a:prstGeom prst="roundRect">
            <a:avLst>
              <a:gd name="adj" fmla="val 8696"/>
            </a:avLst>
          </a:prstGeom>
          <a:solidFill>
            <a:srgbClr val="17875A"/>
          </a:solidFill>
          <a:ln/>
        </p:spPr>
      </p:sp>
      <p:sp>
        <p:nvSpPr>
          <p:cNvPr id="40" name="Text 37"/>
          <p:cNvSpPr txBox="1"/>
          <p:nvPr/>
        </p:nvSpPr>
        <p:spPr>
          <a:xfrm>
            <a:off x="7498080" y="4892040"/>
            <a:ext cx="1554480" cy="10515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1" name="Text 38"/>
          <p:cNvSpPr txBox="1"/>
          <p:nvPr/>
        </p:nvSpPr>
        <p:spPr>
          <a:xfrm>
            <a:off x="9098280" y="4892040"/>
            <a:ext cx="2377440" cy="10515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Students try on their own. Reveal after.</a:t>
            </a:r>
            <a:endParaRPr lang="en-US" sz="1350" dirty="0"/>
          </a:p>
        </p:txBody>
      </p:sp>
      <p:sp>
        <p:nvSpPr>
          <p:cNvPr id="42" name="Text 39"/>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60 / 61</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3" name="Shape 0"/>
          <p:cNvSpPr/>
          <p:nvPr/>
        </p:nvSpPr>
        <p:spPr>
          <a:xfrm>
            <a:off x="548640" y="438912"/>
            <a:ext cx="2103120" cy="347472"/>
          </a:xfrm>
          <a:prstGeom prst="roundRect">
            <a:avLst>
              <a:gd name="adj" fmla="val 50000"/>
            </a:avLst>
          </a:prstGeom>
          <a:solidFill>
            <a:srgbClr val="B4233F"/>
          </a:solidFill>
          <a:ln/>
        </p:spPr>
      </p:sp>
      <p:sp>
        <p:nvSpPr>
          <p:cNvPr id="4" name="Text 1"/>
          <p:cNvSpPr txBox="1"/>
          <p:nvPr/>
        </p:nvSpPr>
        <p:spPr>
          <a:xfrm>
            <a:off x="548640" y="438912"/>
            <a:ext cx="210312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5" name="Shape 2"/>
          <p:cNvSpPr/>
          <p:nvPr/>
        </p:nvSpPr>
        <p:spPr>
          <a:xfrm>
            <a:off x="2788920" y="438912"/>
            <a:ext cx="1828800" cy="347472"/>
          </a:xfrm>
          <a:prstGeom prst="roundRect">
            <a:avLst>
              <a:gd name="adj" fmla="val 50000"/>
            </a:avLst>
          </a:prstGeom>
          <a:solidFill>
            <a:srgbClr val="2A1430"/>
          </a:solidFill>
          <a:ln/>
        </p:spPr>
      </p:sp>
      <p:sp>
        <p:nvSpPr>
          <p:cNvPr id="6" name="Text 3"/>
          <p:cNvSpPr txBox="1"/>
          <p:nvPr/>
        </p:nvSpPr>
        <p:spPr>
          <a:xfrm>
            <a:off x="2788920" y="438912"/>
            <a:ext cx="1828800" cy="347472"/>
          </a:xfrm>
          <a:prstGeom prst="rect">
            <a:avLst/>
          </a:prstGeom>
          <a:noFill/>
          <a:ln/>
        </p:spPr>
        <p:txBody>
          <a:bodyPr wrap="square" lIns="0" tIns="0" rIns="0" bIns="0" rtlCol="0" anchor="ctr"/>
          <a:lstStyle/>
          <a:p>
            <a:pPr algn="ctr" indent="0" marL="0">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7" name="Shape 4"/>
          <p:cNvSpPr/>
          <p:nvPr/>
        </p:nvSpPr>
        <p:spPr>
          <a:xfrm>
            <a:off x="6766560" y="475488"/>
            <a:ext cx="421538" cy="292608"/>
          </a:xfrm>
          <a:prstGeom prst="roundRect">
            <a:avLst>
              <a:gd name="adj" fmla="val 18750"/>
            </a:avLst>
          </a:prstGeom>
          <a:solidFill>
            <a:srgbClr val="17875A"/>
          </a:solidFill>
          <a:ln/>
        </p:spPr>
      </p:sp>
      <p:sp>
        <p:nvSpPr>
          <p:cNvPr id="8" name="Text 5"/>
          <p:cNvSpPr txBox="1"/>
          <p:nvPr/>
        </p:nvSpPr>
        <p:spPr>
          <a:xfrm>
            <a:off x="676656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Shape 6"/>
          <p:cNvSpPr/>
          <p:nvPr/>
        </p:nvSpPr>
        <p:spPr>
          <a:xfrm>
            <a:off x="7261250" y="475488"/>
            <a:ext cx="421538" cy="292608"/>
          </a:xfrm>
          <a:prstGeom prst="roundRect">
            <a:avLst>
              <a:gd name="adj" fmla="val 18750"/>
            </a:avLst>
          </a:prstGeom>
          <a:solidFill>
            <a:srgbClr val="2A9FD6"/>
          </a:solidFill>
          <a:ln/>
        </p:spPr>
      </p:sp>
      <p:sp>
        <p:nvSpPr>
          <p:cNvPr id="10" name="Text 7"/>
          <p:cNvSpPr txBox="1"/>
          <p:nvPr/>
        </p:nvSpPr>
        <p:spPr>
          <a:xfrm>
            <a:off x="7261250"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7755941" y="475488"/>
            <a:ext cx="421538" cy="292608"/>
          </a:xfrm>
          <a:prstGeom prst="roundRect">
            <a:avLst>
              <a:gd name="adj" fmla="val 18750"/>
            </a:avLst>
          </a:prstGeom>
          <a:solidFill>
            <a:srgbClr val="2459D8"/>
          </a:solidFill>
          <a:ln/>
        </p:spPr>
      </p:sp>
      <p:sp>
        <p:nvSpPr>
          <p:cNvPr id="12" name="Text 9"/>
          <p:cNvSpPr txBox="1"/>
          <p:nvPr/>
        </p:nvSpPr>
        <p:spPr>
          <a:xfrm>
            <a:off x="775594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Shape 10"/>
          <p:cNvSpPr/>
          <p:nvPr/>
        </p:nvSpPr>
        <p:spPr>
          <a:xfrm>
            <a:off x="8250631" y="475488"/>
            <a:ext cx="421538" cy="292608"/>
          </a:xfrm>
          <a:prstGeom prst="roundRect">
            <a:avLst>
              <a:gd name="adj" fmla="val 18750"/>
            </a:avLst>
          </a:prstGeom>
          <a:solidFill>
            <a:srgbClr val="7448D4"/>
          </a:solidFill>
          <a:ln/>
        </p:spPr>
      </p:sp>
      <p:sp>
        <p:nvSpPr>
          <p:cNvPr id="14" name="Text 11"/>
          <p:cNvSpPr txBox="1"/>
          <p:nvPr/>
        </p:nvSpPr>
        <p:spPr>
          <a:xfrm>
            <a:off x="8250631"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5" name="Shape 12"/>
          <p:cNvSpPr/>
          <p:nvPr/>
        </p:nvSpPr>
        <p:spPr>
          <a:xfrm>
            <a:off x="8745322" y="475488"/>
            <a:ext cx="421538" cy="292608"/>
          </a:xfrm>
          <a:prstGeom prst="roundRect">
            <a:avLst>
              <a:gd name="adj" fmla="val 18750"/>
            </a:avLst>
          </a:prstGeom>
          <a:solidFill>
            <a:srgbClr val="D1416B"/>
          </a:solidFill>
          <a:ln/>
        </p:spPr>
      </p:sp>
      <p:sp>
        <p:nvSpPr>
          <p:cNvPr id="16" name="Text 13"/>
          <p:cNvSpPr txBox="1"/>
          <p:nvPr/>
        </p:nvSpPr>
        <p:spPr>
          <a:xfrm>
            <a:off x="874532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7" name="Shape 14"/>
          <p:cNvSpPr/>
          <p:nvPr/>
        </p:nvSpPr>
        <p:spPr>
          <a:xfrm>
            <a:off x="9240012" y="475488"/>
            <a:ext cx="421538" cy="292608"/>
          </a:xfrm>
          <a:prstGeom prst="roundRect">
            <a:avLst>
              <a:gd name="adj" fmla="val 18750"/>
            </a:avLst>
          </a:prstGeom>
          <a:solidFill>
            <a:srgbClr val="E8820C"/>
          </a:solidFill>
          <a:ln/>
        </p:spPr>
      </p:sp>
      <p:sp>
        <p:nvSpPr>
          <p:cNvPr id="18" name="Text 15"/>
          <p:cNvSpPr txBox="1"/>
          <p:nvPr/>
        </p:nvSpPr>
        <p:spPr>
          <a:xfrm>
            <a:off x="924001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9" name="Shape 16"/>
          <p:cNvSpPr/>
          <p:nvPr/>
        </p:nvSpPr>
        <p:spPr>
          <a:xfrm>
            <a:off x="9734702" y="475488"/>
            <a:ext cx="421538" cy="292608"/>
          </a:xfrm>
          <a:prstGeom prst="roundRect">
            <a:avLst>
              <a:gd name="adj" fmla="val 18750"/>
            </a:avLst>
          </a:prstGeom>
          <a:solidFill>
            <a:srgbClr val="C9A227"/>
          </a:solidFill>
          <a:ln/>
        </p:spPr>
      </p:sp>
      <p:sp>
        <p:nvSpPr>
          <p:cNvPr id="20" name="Text 17"/>
          <p:cNvSpPr txBox="1"/>
          <p:nvPr/>
        </p:nvSpPr>
        <p:spPr>
          <a:xfrm>
            <a:off x="9734702"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1" name="Shape 18"/>
          <p:cNvSpPr/>
          <p:nvPr/>
        </p:nvSpPr>
        <p:spPr>
          <a:xfrm>
            <a:off x="10229393" y="475488"/>
            <a:ext cx="421538" cy="292608"/>
          </a:xfrm>
          <a:prstGeom prst="roundRect">
            <a:avLst>
              <a:gd name="adj" fmla="val 18750"/>
            </a:avLst>
          </a:prstGeom>
          <a:solidFill>
            <a:srgbClr val="0F9488"/>
          </a:solidFill>
          <a:ln/>
        </p:spPr>
      </p:sp>
      <p:sp>
        <p:nvSpPr>
          <p:cNvPr id="22" name="Text 19"/>
          <p:cNvSpPr txBox="1"/>
          <p:nvPr/>
        </p:nvSpPr>
        <p:spPr>
          <a:xfrm>
            <a:off x="1022939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3" name="Shape 20"/>
          <p:cNvSpPr/>
          <p:nvPr/>
        </p:nvSpPr>
        <p:spPr>
          <a:xfrm>
            <a:off x="10724083" y="475488"/>
            <a:ext cx="421538" cy="292608"/>
          </a:xfrm>
          <a:prstGeom prst="roundRect">
            <a:avLst>
              <a:gd name="adj" fmla="val 18750"/>
            </a:avLst>
          </a:prstGeom>
          <a:solidFill>
            <a:srgbClr val="5B6EE1"/>
          </a:solidFill>
          <a:ln/>
        </p:spPr>
      </p:sp>
      <p:sp>
        <p:nvSpPr>
          <p:cNvPr id="24" name="Text 21"/>
          <p:cNvSpPr txBox="1"/>
          <p:nvPr/>
        </p:nvSpPr>
        <p:spPr>
          <a:xfrm>
            <a:off x="10724083" y="475488"/>
            <a:ext cx="42153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5" name="Shape 22"/>
          <p:cNvSpPr/>
          <p:nvPr/>
        </p:nvSpPr>
        <p:spPr>
          <a:xfrm>
            <a:off x="11218774" y="420624"/>
            <a:ext cx="421538" cy="402336"/>
          </a:xfrm>
          <a:prstGeom prst="roundRect">
            <a:avLst>
              <a:gd name="adj" fmla="val 13636"/>
            </a:avLst>
          </a:prstGeom>
          <a:solidFill>
            <a:srgbClr val="B4233F"/>
          </a:solidFill>
          <a:ln/>
        </p:spPr>
      </p:sp>
      <p:sp>
        <p:nvSpPr>
          <p:cNvPr id="26" name="Text 23"/>
          <p:cNvSpPr txBox="1"/>
          <p:nvPr/>
        </p:nvSpPr>
        <p:spPr>
          <a:xfrm>
            <a:off x="11218774" y="420624"/>
            <a:ext cx="42153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7" name="Text 24"/>
          <p:cNvSpPr txBox="1"/>
          <p:nvPr/>
        </p:nvSpPr>
        <p:spPr>
          <a:xfrm>
            <a:off x="548640" y="896112"/>
            <a:ext cx="11094415" cy="640080"/>
          </a:xfrm>
          <a:prstGeom prst="rect">
            <a:avLst/>
          </a:prstGeom>
          <a:noFill/>
          <a:ln/>
        </p:spPr>
        <p:txBody>
          <a:bodyPr wrap="square" lIns="0" tIns="0" rIns="0" bIns="0" rtlCol="0" anchor="ctr"/>
          <a:lstStyle/>
          <a:p>
            <a:pPr indent="0" marL="0">
              <a:buNone/>
            </a:pPr>
            <a:r>
              <a:rPr lang="en-US" sz="3000" b="1" dirty="0">
                <a:solidFill>
                  <a:srgbClr val="12213A"/>
                </a:solidFill>
                <a:latin typeface="Arial" pitchFamily="34" charset="0"/>
                <a:ea typeface="Arial" pitchFamily="34" charset="-122"/>
                <a:cs typeface="Arial" pitchFamily="34" charset="-120"/>
              </a:rPr>
              <a:t>Capturing The full chain</a:t>
            </a:r>
            <a:endParaRPr lang="en-US" sz="3000" dirty="0"/>
          </a:p>
        </p:txBody>
      </p:sp>
      <p:sp>
        <p:nvSpPr>
          <p:cNvPr id="28" name="Shape 25"/>
          <p:cNvSpPr/>
          <p:nvPr/>
        </p:nvSpPr>
        <p:spPr>
          <a:xfrm>
            <a:off x="548640" y="1691640"/>
            <a:ext cx="6720840" cy="3200400"/>
          </a:xfrm>
          <a:prstGeom prst="roundRect">
            <a:avLst>
              <a:gd name="adj" fmla="val 2857"/>
            </a:avLst>
          </a:prstGeom>
          <a:solidFill>
            <a:srgbClr val="0E1726"/>
          </a:solidFill>
          <a:ln/>
          <a:effectLst>
            <a:outerShdw sx="100000" sy="100000" kx="0" ky="0" algn="bl" rotWithShape="0" blurRad="127000" dist="38100" dir="5400000">
              <a:srgbClr val="12213A">
                <a:alpha val="22000"/>
              </a:srgbClr>
            </a:outerShdw>
          </a:effectLst>
        </p:spPr>
      </p:sp>
      <p:sp>
        <p:nvSpPr>
          <p:cNvPr id="29" name="Shape 26"/>
          <p:cNvSpPr/>
          <p:nvPr/>
        </p:nvSpPr>
        <p:spPr>
          <a:xfrm>
            <a:off x="749808" y="1847088"/>
            <a:ext cx="118872" cy="118872"/>
          </a:xfrm>
          <a:prstGeom prst="ellipse">
            <a:avLst/>
          </a:prstGeom>
          <a:solidFill>
            <a:srgbClr val="E5534B"/>
          </a:solidFill>
          <a:ln/>
        </p:spPr>
      </p:sp>
      <p:sp>
        <p:nvSpPr>
          <p:cNvPr id="30" name="Shape 27"/>
          <p:cNvSpPr/>
          <p:nvPr/>
        </p:nvSpPr>
        <p:spPr>
          <a:xfrm>
            <a:off x="950976" y="1847088"/>
            <a:ext cx="118872" cy="118872"/>
          </a:xfrm>
          <a:prstGeom prst="ellipse">
            <a:avLst/>
          </a:prstGeom>
          <a:solidFill>
            <a:srgbClr val="F5A623"/>
          </a:solidFill>
          <a:ln/>
        </p:spPr>
      </p:sp>
      <p:sp>
        <p:nvSpPr>
          <p:cNvPr id="31" name="Shape 28"/>
          <p:cNvSpPr/>
          <p:nvPr/>
        </p:nvSpPr>
        <p:spPr>
          <a:xfrm>
            <a:off x="1152144" y="1847088"/>
            <a:ext cx="118872" cy="118872"/>
          </a:xfrm>
          <a:prstGeom prst="ellipse">
            <a:avLst/>
          </a:prstGeom>
          <a:solidFill>
            <a:srgbClr val="46D39A"/>
          </a:solidFill>
          <a:ln/>
        </p:spPr>
      </p:sp>
      <p:sp>
        <p:nvSpPr>
          <p:cNvPr id="32" name="Text 29"/>
          <p:cNvSpPr txBox="1"/>
          <p:nvPr/>
        </p:nvSpPr>
        <p:spPr>
          <a:xfrm>
            <a:off x="1463040" y="1764792"/>
            <a:ext cx="4892040" cy="274320"/>
          </a:xfrm>
          <a:prstGeom prst="rect">
            <a:avLst/>
          </a:prstGeom>
          <a:noFill/>
          <a:ln/>
        </p:spPr>
        <p:txBody>
          <a:bodyPr wrap="square" lIns="0" tIns="0" rIns="0" bIns="0" rtlCol="0" anchor="ctr"/>
          <a:lstStyle/>
          <a:p>
            <a:pPr algn="ctr" indent="0" marL="0">
              <a:buNone/>
            </a:pPr>
            <a:r>
              <a:rPr lang="en-US" sz="1000" dirty="0">
                <a:solidFill>
                  <a:srgbClr val="7F8FAD"/>
                </a:solidFill>
                <a:latin typeface="Courier New" pitchFamily="34" charset="0"/>
                <a:ea typeface="Courier New" pitchFamily="34" charset="-122"/>
                <a:cs typeface="Courier New" pitchFamily="34" charset="-120"/>
              </a:rPr>
              <a:t>web.ctf (browser path)</a:t>
            </a:r>
            <a:endParaRPr lang="en-US" sz="1000" dirty="0"/>
          </a:p>
        </p:txBody>
      </p:sp>
      <p:sp>
        <p:nvSpPr>
          <p:cNvPr id="33" name="Text 30"/>
          <p:cNvSpPr txBox="1"/>
          <p:nvPr/>
        </p:nvSpPr>
        <p:spPr>
          <a:xfrm>
            <a:off x="822960" y="2148840"/>
            <a:ext cx="6172200" cy="2606040"/>
          </a:xfrm>
          <a:prstGeom prst="rect">
            <a:avLst/>
          </a:prstGeom>
          <a:noFill/>
          <a:ln/>
        </p:spPr>
        <p:txBody>
          <a:bodyPr wrap="square" lIns="0" tIns="0" rIns="0" bIns="0" rtlCol="0" anchor="t"/>
          <a:lstStyle/>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GET /mission10/robots.txt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Disallow: /mission10/api/</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GET /mission10/api/?id=7</a:t>
            </a:r>
            <a:endParaRPr lang="en-US" sz="1150" dirty="0"/>
          </a:p>
          <a:p>
            <a:pPr indent="0" marL="0">
              <a:spcAft>
                <a:spcPts val="200"/>
              </a:spcAft>
              <a:buNone/>
            </a:pPr>
            <a:r>
              <a:rPr lang="en-US" sz="1150" b="1" dirty="0">
                <a:solidFill>
                  <a:srgbClr val="F5A623"/>
                </a:solidFill>
                <a:latin typeface="Courier New" pitchFamily="34" charset="0"/>
                <a:ea typeface="Courier New" pitchFamily="34" charset="-122"/>
                <a:cs typeface="Courier New" pitchFamily="34" charset="-120"/>
              </a:rPr>
              <a:t>token = Q1lCQXt2YXVsdC0uLi59</a:t>
            </a:r>
            <a:endParaRPr lang="en-US" sz="1150" dirty="0"/>
          </a:p>
          <a:p>
            <a:pPr indent="0" marL="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pPr indent="0" marL="0">
              <a:spcAft>
                <a:spcPts val="200"/>
              </a:spcAft>
              <a:buNone/>
            </a:pPr>
            <a:r>
              <a:rPr lang="en-US" sz="1150" b="1" dirty="0">
                <a:solidFill>
                  <a:srgbClr val="FFFFFF"/>
                </a:solidFill>
                <a:latin typeface="Courier New" pitchFamily="34" charset="0"/>
                <a:ea typeface="Courier New" pitchFamily="34" charset="-122"/>
                <a:cs typeface="Courier New" pitchFamily="34" charset="-120"/>
              </a:rPr>
              <a:t>echo Q1lCQXt2YXVsdC0uLi59 | base64 -d</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Flag: CYBA{vault-...}</a:t>
            </a:r>
            <a:endParaRPr lang="en-US" sz="1150" dirty="0"/>
          </a:p>
          <a:p>
            <a:pPr indent="0" marL="0">
              <a:spcAft>
                <a:spcPts val="200"/>
              </a:spcAft>
              <a:buNone/>
            </a:pPr>
            <a:r>
              <a:rPr lang="en-US" sz="1150" dirty="0">
                <a:solidFill>
                  <a:srgbClr val="B8C4D9"/>
                </a:solidFill>
                <a:latin typeface="Courier New" pitchFamily="34" charset="0"/>
                <a:ea typeface="Courier New" pitchFamily="34" charset="-122"/>
                <a:cs typeface="Courier New" pitchFamily="34" charset="-120"/>
              </a:rPr>
              <a:t>Vault opened. You beat the final mission.</a:t>
            </a:r>
            <a:endParaRPr lang="en-US" sz="1150" dirty="0"/>
          </a:p>
        </p:txBody>
      </p:sp>
      <p:sp>
        <p:nvSpPr>
          <p:cNvPr id="34" name="Shape 31"/>
          <p:cNvSpPr/>
          <p:nvPr/>
        </p:nvSpPr>
        <p:spPr>
          <a:xfrm>
            <a:off x="548640" y="5029200"/>
            <a:ext cx="6720840" cy="896112"/>
          </a:xfrm>
          <a:prstGeom prst="roundRect">
            <a:avLst>
              <a:gd name="adj" fmla="val 10204"/>
            </a:avLst>
          </a:prstGeom>
          <a:solidFill>
            <a:srgbClr val="0B1322"/>
          </a:solidFill>
          <a:ln w="12700">
            <a:solidFill>
              <a:srgbClr val="17875A"/>
            </a:solidFill>
            <a:prstDash val="solid"/>
          </a:ln>
        </p:spPr>
      </p:sp>
      <p:sp>
        <p:nvSpPr>
          <p:cNvPr id="35" name="Shape 32"/>
          <p:cNvSpPr/>
          <p:nvPr/>
        </p:nvSpPr>
        <p:spPr>
          <a:xfrm>
            <a:off x="713232" y="5321808"/>
            <a:ext cx="1188720" cy="310896"/>
          </a:xfrm>
          <a:prstGeom prst="roundRect">
            <a:avLst>
              <a:gd name="adj" fmla="val 50000"/>
            </a:avLst>
          </a:prstGeom>
          <a:solidFill>
            <a:srgbClr val="17875A"/>
          </a:solidFill>
          <a:ln/>
        </p:spPr>
      </p:sp>
      <p:sp>
        <p:nvSpPr>
          <p:cNvPr id="36" name="Text 33"/>
          <p:cNvSpPr txBox="1"/>
          <p:nvPr/>
        </p:nvSpPr>
        <p:spPr>
          <a:xfrm>
            <a:off x="713232" y="5321808"/>
            <a:ext cx="11887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37" name="Text 34"/>
          <p:cNvSpPr txBox="1"/>
          <p:nvPr/>
        </p:nvSpPr>
        <p:spPr>
          <a:xfrm>
            <a:off x="2029968" y="5029200"/>
            <a:ext cx="5120640" cy="896112"/>
          </a:xfrm>
          <a:prstGeom prst="rect">
            <a:avLst/>
          </a:prstGeom>
          <a:noFill/>
          <a:ln/>
        </p:spPr>
        <p:txBody>
          <a:bodyPr wrap="square" lIns="0" tIns="0" rIns="0" bIns="0" rtlCol="0" anchor="ctr">
            <a:normAutofit/>
          </a:bodyPr>
          <a:lstStyle/>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URL/robots.txt            </a:t>
            </a:r>
            <a:pPr indent="0" marL="0">
              <a:buNone/>
            </a:pPr>
            <a:r>
              <a:rPr lang="en-US" sz="1150" dirty="0">
                <a:solidFill>
                  <a:srgbClr val="7F8FAD"/>
                </a:solidFill>
                <a:latin typeface="Courier New" pitchFamily="34" charset="0"/>
                <a:ea typeface="Courier New" pitchFamily="34" charset="-122"/>
                <a:cs typeface="Courier New" pitchFamily="34" charset="-120"/>
              </a:rPr>
              <a:t>   # find /api/</a:t>
            </a:r>
            <a:endParaRPr lang="en-US" sz="1150" dirty="0"/>
          </a:p>
          <a:p>
            <a:pPr indent="0" marL="0">
              <a:buNone/>
            </a:pPr>
            <a:r>
              <a:rPr lang="en-US" sz="1150" b="1" dirty="0">
                <a:solidFill>
                  <a:srgbClr val="46D39A"/>
                </a:solidFill>
                <a:latin typeface="Courier New" pitchFamily="34" charset="0"/>
                <a:ea typeface="Courier New" pitchFamily="34" charset="-122"/>
                <a:cs typeface="Courier New" pitchFamily="34" charset="-120"/>
              </a:rPr>
              <a:t>$ </a:t>
            </a:r>
            <a:pPr indent="0" marL="0">
              <a:buNone/>
            </a:pPr>
            <a:r>
              <a:rPr lang="en-US" sz="1150" b="1" dirty="0">
                <a:solidFill>
                  <a:srgbClr val="FFFFFF"/>
                </a:solidFill>
                <a:latin typeface="Courier New" pitchFamily="34" charset="0"/>
                <a:ea typeface="Courier New" pitchFamily="34" charset="-122"/>
                <a:cs typeface="Courier New" pitchFamily="34" charset="-120"/>
              </a:rPr>
              <a:t>curl -s "URL/api/?id=7" | base64 -d</a:t>
            </a:r>
            <a:pPr indent="0" marL="0">
              <a:buNone/>
            </a:pPr>
            <a:r>
              <a:rPr lang="en-US" sz="1150" dirty="0">
                <a:solidFill>
                  <a:srgbClr val="7F8FAD"/>
                </a:solidFill>
                <a:latin typeface="Courier New" pitchFamily="34" charset="0"/>
                <a:ea typeface="Courier New" pitchFamily="34" charset="-122"/>
                <a:cs typeface="Courier New" pitchFamily="34" charset="-120"/>
              </a:rPr>
              <a:t>   # decode the token</a:t>
            </a:r>
            <a:endParaRPr lang="en-US" sz="1150" dirty="0"/>
          </a:p>
        </p:txBody>
      </p:sp>
      <p:sp>
        <p:nvSpPr>
          <p:cNvPr id="38" name="Text 35"/>
          <p:cNvSpPr txBox="1"/>
          <p:nvPr/>
        </p:nvSpPr>
        <p:spPr>
          <a:xfrm>
            <a:off x="7543800" y="1691640"/>
            <a:ext cx="4023360" cy="365760"/>
          </a:xfrm>
          <a:prstGeom prst="rect">
            <a:avLst/>
          </a:prstGeom>
          <a:noFill/>
          <a:ln/>
        </p:spPr>
        <p:txBody>
          <a:bodyPr wrap="square" lIns="0" tIns="0" rIns="0" bIns="0" rtlCol="0" anchor="t"/>
          <a:lstStyle/>
          <a:p>
            <a:pPr indent="0" marL="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9" name="Shape 36"/>
          <p:cNvSpPr/>
          <p:nvPr/>
        </p:nvSpPr>
        <p:spPr>
          <a:xfrm>
            <a:off x="7543800" y="2194560"/>
            <a:ext cx="457200" cy="457200"/>
          </a:xfrm>
          <a:prstGeom prst="ellipse">
            <a:avLst/>
          </a:prstGeom>
          <a:solidFill>
            <a:srgbClr val="B4233F"/>
          </a:solidFill>
          <a:ln/>
        </p:spPr>
      </p:sp>
      <p:sp>
        <p:nvSpPr>
          <p:cNvPr id="40" name="Text 37"/>
          <p:cNvSpPr txBox="1"/>
          <p:nvPr/>
        </p:nvSpPr>
        <p:spPr>
          <a:xfrm>
            <a:off x="7543800" y="2194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8183880" y="2167128"/>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robots.txt pointed to the hidden API, like Mission 5.</a:t>
            </a:r>
            <a:endParaRPr lang="en-US" sz="1400" dirty="0"/>
          </a:p>
        </p:txBody>
      </p:sp>
      <p:sp>
        <p:nvSpPr>
          <p:cNvPr id="42" name="Shape 39"/>
          <p:cNvSpPr/>
          <p:nvPr/>
        </p:nvSpPr>
        <p:spPr>
          <a:xfrm>
            <a:off x="7543800" y="2980944"/>
            <a:ext cx="457200" cy="457200"/>
          </a:xfrm>
          <a:prstGeom prst="ellipse">
            <a:avLst/>
          </a:prstGeom>
          <a:solidFill>
            <a:srgbClr val="B4233F"/>
          </a:solidFill>
          <a:ln/>
        </p:spPr>
      </p:sp>
      <p:sp>
        <p:nvSpPr>
          <p:cNvPr id="43" name="Text 40"/>
          <p:cNvSpPr txBox="1"/>
          <p:nvPr/>
        </p:nvSpPr>
        <p:spPr>
          <a:xfrm>
            <a:off x="7543800" y="2980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4" name="Text 41"/>
          <p:cNvSpPr txBox="1"/>
          <p:nvPr/>
        </p:nvSpPr>
        <p:spPr>
          <a:xfrm>
            <a:off x="8183880" y="2953512"/>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Tampering ?id= returned a record that wasn't ours, like Mission 4.</a:t>
            </a:r>
            <a:endParaRPr lang="en-US" sz="1400" dirty="0"/>
          </a:p>
        </p:txBody>
      </p:sp>
      <p:sp>
        <p:nvSpPr>
          <p:cNvPr id="45" name="Shape 42"/>
          <p:cNvSpPr/>
          <p:nvPr/>
        </p:nvSpPr>
        <p:spPr>
          <a:xfrm>
            <a:off x="7543800" y="3767328"/>
            <a:ext cx="457200" cy="457200"/>
          </a:xfrm>
          <a:prstGeom prst="ellipse">
            <a:avLst/>
          </a:prstGeom>
          <a:solidFill>
            <a:srgbClr val="B4233F"/>
          </a:solidFill>
          <a:ln/>
        </p:spPr>
      </p:sp>
      <p:sp>
        <p:nvSpPr>
          <p:cNvPr id="46" name="Text 43"/>
          <p:cNvSpPr txBox="1"/>
          <p:nvPr/>
        </p:nvSpPr>
        <p:spPr>
          <a:xfrm>
            <a:off x="754380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7" name="Text 44"/>
          <p:cNvSpPr txBox="1"/>
          <p:nvPr/>
        </p:nvSpPr>
        <p:spPr>
          <a:xfrm>
            <a:off x="8183880" y="3739896"/>
            <a:ext cx="3456432" cy="694944"/>
          </a:xfrm>
          <a:prstGeom prst="rect">
            <a:avLst/>
          </a:prstGeom>
          <a:noFill/>
          <a:ln/>
        </p:spPr>
        <p:txBody>
          <a:bodyPr wrap="square" lIns="0" tIns="0" rIns="0" bIns="0" rtlCol="0" anchor="t"/>
          <a:lstStyle/>
          <a:p>
            <a:pPr indent="0" marL="0">
              <a:buNone/>
            </a:pPr>
            <a:r>
              <a:rPr lang="en-US" sz="1400" dirty="0">
                <a:solidFill>
                  <a:srgbClr val="12213A"/>
                </a:solidFill>
                <a:latin typeface="Calibri" pitchFamily="34" charset="0"/>
                <a:ea typeface="Calibri" pitchFamily="34" charset="-122"/>
                <a:cs typeface="Calibri" pitchFamily="34" charset="-120"/>
              </a:rPr>
              <a:t>base64 -d decoded the token, like Mission 8.</a:t>
            </a:r>
            <a:endParaRPr lang="en-US" sz="1400" dirty="0"/>
          </a:p>
        </p:txBody>
      </p:sp>
      <p:sp>
        <p:nvSpPr>
          <p:cNvPr id="48" name="Shape 45"/>
          <p:cNvSpPr/>
          <p:nvPr/>
        </p:nvSpPr>
        <p:spPr>
          <a:xfrm>
            <a:off x="7543800" y="4572000"/>
            <a:ext cx="4096512" cy="749808"/>
          </a:xfrm>
          <a:prstGeom prst="roundRect">
            <a:avLst>
              <a:gd name="adj" fmla="val 12195"/>
            </a:avLst>
          </a:prstGeom>
          <a:solidFill>
            <a:srgbClr val="FFF4DC"/>
          </a:solidFill>
          <a:ln/>
        </p:spPr>
      </p:sp>
      <p:sp>
        <p:nvSpPr>
          <p:cNvPr id="49" name="Text 46"/>
          <p:cNvSpPr txBox="1"/>
          <p:nvPr/>
        </p:nvSpPr>
        <p:spPr>
          <a:xfrm>
            <a:off x="7699248" y="4572000"/>
            <a:ext cx="3803904" cy="749808"/>
          </a:xfrm>
          <a:prstGeom prst="rect">
            <a:avLst/>
          </a:prstGeom>
          <a:noFill/>
          <a:ln/>
        </p:spPr>
        <p:txBody>
          <a:bodyPr wrap="square" lIns="0" tIns="0" rIns="0" bIns="0" rtlCol="0" anchor="ctr">
            <a:normAutofit/>
          </a:bodyPr>
          <a:lstStyle/>
          <a:p>
            <a:pPr indent="0" marL="0">
              <a:buNone/>
            </a:pPr>
            <a:r>
              <a:rPr lang="en-US" sz="1250" b="1" dirty="0">
                <a:solidFill>
                  <a:srgbClr val="12213A"/>
                </a:solidFill>
                <a:latin typeface="Calibri" pitchFamily="34" charset="0"/>
                <a:ea typeface="Calibri" pitchFamily="34" charset="-122"/>
                <a:cs typeface="Calibri" pitchFamily="34" charset="-120"/>
              </a:rPr>
              <a:t>Real world: </a:t>
            </a:r>
            <a:pPr indent="0" marL="0">
              <a:buNone/>
            </a:pPr>
            <a:r>
              <a:rPr lang="en-US" sz="1250" dirty="0">
                <a:solidFill>
                  <a:srgbClr val="12213A"/>
                </a:solidFill>
                <a:latin typeface="Calibri" pitchFamily="34" charset="0"/>
                <a:ea typeface="Calibri" pitchFamily="34" charset="-122"/>
                <a:cs typeface="Calibri" pitchFamily="34" charset="-120"/>
              </a:rPr>
              <a:t>Real attacks chain small, unglamorous steps exactly like this: map, poke, decode, repeat.</a:t>
            </a:r>
            <a:endParaRPr lang="en-US" sz="1250" dirty="0"/>
          </a:p>
        </p:txBody>
      </p:sp>
      <p:sp>
        <p:nvSpPr>
          <p:cNvPr id="50" name="Shape 47"/>
          <p:cNvSpPr/>
          <p:nvPr/>
        </p:nvSpPr>
        <p:spPr>
          <a:xfrm>
            <a:off x="7543800" y="5413248"/>
            <a:ext cx="4096512" cy="566928"/>
          </a:xfrm>
          <a:prstGeom prst="roundRect">
            <a:avLst>
              <a:gd name="adj" fmla="val 16129"/>
            </a:avLst>
          </a:prstGeom>
          <a:solidFill>
            <a:srgbClr val="F1F5FB"/>
          </a:solidFill>
          <a:ln/>
        </p:spPr>
      </p:sp>
      <p:sp>
        <p:nvSpPr>
          <p:cNvPr id="51" name="Text 48"/>
          <p:cNvSpPr txBox="1"/>
          <p:nvPr/>
        </p:nvSpPr>
        <p:spPr>
          <a:xfrm>
            <a:off x="7699248" y="5413248"/>
            <a:ext cx="3803904" cy="566928"/>
          </a:xfrm>
          <a:prstGeom prst="rect">
            <a:avLst/>
          </a:prstGeom>
          <a:noFill/>
          <a:ln/>
        </p:spPr>
        <p:txBody>
          <a:bodyPr wrap="square" lIns="0" tIns="0" rIns="0" bIns="0" rtlCol="0" anchor="ctr">
            <a:normAutofit/>
          </a:bodyPr>
          <a:lstStyle/>
          <a:p>
            <a:pPr indent="0" marL="0">
              <a:buNone/>
            </a:pPr>
            <a:r>
              <a:rPr lang="en-US" sz="1150" b="1" dirty="0">
                <a:solidFill>
                  <a:srgbClr val="B4233F"/>
                </a:solidFill>
                <a:latin typeface="Calibri" pitchFamily="34" charset="0"/>
                <a:ea typeface="Calibri" pitchFamily="34" charset="-122"/>
                <a:cs typeface="Calibri" pitchFamily="34" charset="-120"/>
              </a:rPr>
              <a:t>Stretch: </a:t>
            </a:r>
            <a:pPr indent="0" marL="0">
              <a:buNone/>
            </a:pPr>
            <a:r>
              <a:rPr lang="en-US" sz="1150" dirty="0">
                <a:solidFill>
                  <a:srgbClr val="12213A"/>
                </a:solidFill>
                <a:latin typeface="Calibri" pitchFamily="34" charset="0"/>
                <a:ea typeface="Calibri" pitchFamily="34" charset="-122"/>
                <a:cs typeface="Calibri" pitchFamily="34" charset="-120"/>
              </a:rPr>
              <a:t>Which single missing check would have broken the whole chain?</a:t>
            </a:r>
            <a:endParaRPr lang="en-US" sz="1150" dirty="0"/>
          </a:p>
        </p:txBody>
      </p:sp>
      <p:sp>
        <p:nvSpPr>
          <p:cNvPr id="52" name="Text 49"/>
          <p:cNvSpPr txBox="1"/>
          <p:nvPr/>
        </p:nvSpPr>
        <p:spPr>
          <a:xfrm>
            <a:off x="548640" y="6016752"/>
            <a:ext cx="6720840" cy="274320"/>
          </a:xfrm>
          <a:prstGeom prst="rect">
            <a:avLst/>
          </a:prstGeom>
          <a:noFill/>
          <a:ln/>
        </p:spPr>
        <p:txBody>
          <a:bodyPr wrap="square" lIns="0" tIns="0" rIns="0" bIns="0" rtlCol="0" anchor="t"/>
          <a:lstStyle/>
          <a:p>
            <a:pPr indent="0" marL="0">
              <a:buNone/>
            </a:pPr>
            <a:r>
              <a:rPr lang="en-US" sz="1100" dirty="0">
                <a:solidFill>
                  <a:srgbClr val="56657E"/>
                </a:solidFill>
                <a:latin typeface="Calibri" pitchFamily="34" charset="0"/>
                <a:ea typeface="Calibri" pitchFamily="34" charset="-122"/>
                <a:cs typeface="Calibri" pitchFamily="34" charset="-120"/>
              </a:rPr>
              <a:t>IDs, tokens and flags change on every computer.</a:t>
            </a:r>
            <a:endParaRPr lang="en-US" sz="1100" dirty="0"/>
          </a:p>
        </p:txBody>
      </p:sp>
      <p:sp>
        <p:nvSpPr>
          <p:cNvPr id="53" name="Text 50"/>
          <p:cNvSpPr txBox="1"/>
          <p:nvPr/>
        </p:nvSpPr>
        <p:spPr>
          <a:xfrm>
            <a:off x="8534095" y="6400800"/>
            <a:ext cx="3108960" cy="274320"/>
          </a:xfrm>
          <a:prstGeom prst="rect">
            <a:avLst/>
          </a:prstGeom>
          <a:noFill/>
          <a:ln/>
        </p:spPr>
        <p:txBody>
          <a:bodyPr wrap="square" lIns="0" tIns="0" rIns="0" bIns="0" rtlCol="0" anchor="ctr"/>
          <a:lstStyle/>
          <a:p>
            <a:pPr algn="r" indent="0" marL="0">
              <a:buNone/>
            </a:pPr>
            <a:r>
              <a:rPr lang="en-US" sz="1000" dirty="0">
                <a:solidFill>
                  <a:srgbClr val="56657E"/>
                </a:solidFill>
                <a:latin typeface="Calibri" pitchFamily="34" charset="0"/>
                <a:ea typeface="Calibri" pitchFamily="34" charset="-122"/>
                <a:cs typeface="Calibri" pitchFamily="34" charset="-120"/>
              </a:rPr>
              <a:t>Web CTF   ·   61 / 61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Web CTF: break into the app, then compete</dc:title>
  <dc:subject>PptxGenJS Presentation</dc:subject>
  <dc:creator>CyberQuest Academy</dc:creator>
  <cp:lastModifiedBy>CyberQuest Academy</cp:lastModifiedBy>
  <cp:revision>1</cp:revision>
  <dcterms:created xsi:type="dcterms:W3CDTF">2026-10-10T10:43:53Z</dcterms:created>
  <dcterms:modified xsi:type="dcterms:W3CDTF">2026-10-10T10:43:53Z</dcterms:modified>
</cp:coreProperties>
</file>