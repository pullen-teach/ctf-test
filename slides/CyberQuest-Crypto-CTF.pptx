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3af7e8d-d0fa-7b89-dc68-904390ef6085}">
          <p14:sldIdLst>
            <p14:sldId id="257"/>
            <p14:sldId id="258"/>
            <p14:sldId id="259"/>
          </p14:sldIdLst>
        </p14:section>
        <p14:section name="Default-1" id="{114f67d6-870a-2e31-83cd-a0bfe1bc0dbb}">
          <p14:sldIdLst>
            <p14:sldId id="256"/>
          </p14:sldIdLst>
        </p14:section>
        <p14:section name="Part 1 · Crypto fundamentals" id="{b2eb1f65-f989-206b-bd02-a9523ffe4ed2}">
          <p14:sldIdLst>
            <p14:sldId id="261"/>
            <p14:sldId id="262"/>
            <p14:sldId id="263"/>
            <p14:sldId id="264"/>
            <p14:sldId id="265"/>
            <p14:sldId id="266"/>
            <p14:sldId id="267"/>
          </p14:sldIdLst>
        </p14:section>
        <p14:section name="Default-2" id="{603b1e9a-1bc5-a208-efd6-601ce117583c}">
          <p14:sldIdLst>
            <p14:sldId id="260"/>
          </p14:sldIdLst>
        </p14:section>
        <p14:section name="Part 2 · Codebreaker's toolkit" id="{4d59888c-9fe9-aa00-b349-5c65e0b1c1d2}">
          <p14:sldIdLst>
            <p14:sldId id="269"/>
            <p14:sldId id="270"/>
            <p14:sldId id="271"/>
            <p14:sldId id="272"/>
            <p14:sldId id="273"/>
            <p14:sldId id="274"/>
            <p14:sldId id="275"/>
            <p14:sldId id="276"/>
            <p14:sldId id="277"/>
            <p14:sldId id="278"/>
          </p14:sldIdLst>
        </p14:section>
        <p14:section name="Default-3" id="{87715217-3b18-e2f3-cb6e-3c054fcf3095}">
          <p14:sldIdLst>
            <p14:sldId id="268"/>
          </p14:sldIdLst>
        </p14:section>
        <p14:section name="Part 3 · Capture a flag" id="{def13fe0-7971-ae05-7f24-60fd8dc49d47}">
          <p14:sldIdLst>
            <p14:sldId id="280"/>
            <p14:sldId id="281"/>
            <p14:sldId id="282"/>
          </p14:sldIdLst>
        </p14:section>
        <p14:section name="Default-4" id="{609b233a-84ac-d795-33ab-53c2c555186e}">
          <p14:sldIdLst>
            <p14:sldId id="279"/>
          </p14:sldIdLst>
        </p14:section>
        <p14:section name="Guided application" id="{dcc99c69-3d91-4290-ce42-80a462ae7a04}">
          <p14:sldIdLst>
            <p14:sldId id="283"/>
            <p14:sldId id="284"/>
            <p14:sldId id="285"/>
            <p14:sldId id="286"/>
          </p14:sldIdLst>
        </p14:section>
        <p14:section name="Independent application" id="{f65b0e5f-c36c-e689-3bf8-d78fe510f81d}">
          <p14:sldIdLst>
            <p14:sldId id="287"/>
          </p14:sldIdLst>
        </p14:section>
        <p14:section name="Part 3 · Wrapping up" id="{80c35805-bcac-6207-7254-4b5da71de6da}">
          <p14:sldIdLst>
            <p14:sldId id="288"/>
          </p14:sldIdLst>
        </p14:section>
        <p14:section name="Part 4 · Reflection" id="{4063f05f-b1c5-b458-8c9a-e625d920cc85}">
          <p14:sldIdLst>
            <p14:sldId id="290"/>
            <p14:sldId id="291"/>
            <p14:sldId id="292"/>
            <p14:sldId id="293"/>
          </p14:sldIdLst>
        </p14:section>
        <p14:section name="Default-5" id="{b0cb990f-4cae-0ad0-13a9-853e4b5cf574}">
          <p14:sldIdLst>
            <p14:sldId id="289"/>
          </p14:sldIdLst>
        </p14:section>
        <p14:section name="Mentor appendix" id="{efcb132b-a8c1-25b9-b263-f3416fcf52b2}">
          <p14:sldIdLst>
            <p14:sldId id="294"/>
            <p14:sldId id="295"/>
            <p14:sldId id="296"/>
            <p14:sldId id="297"/>
            <p14:sldId id="298"/>
            <p14:sldId id="299"/>
          </p14:sldIdLst>
        </p14:section>
        <p14:section name="Mentor appendix · Mission bank" id="{dc046359-b75d-cf25-ecb6-313faa870d98}">
          <p14:sldIdLst>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and introduce the mentors: name, what you do, and one sentence on where you meet cryptography at work.
Promise: 'In this session you will learn how secret codes work, how codebreakers think, and crack a cipher the way security pros do.'
Before class: the Crypto CTF link is written on the 'Open the CTF' slide in the appendix, and you have watched it reach 'Ready' on a student Chromebook on the school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up front. This is a focused, mentor-led session, not a race to finish every cipher. The goal is that students understand how codebreakers think - and most of all, how a CTF actually works: read the challenge, spot the method, try a decoder, read the output, adjust, capture a flag.
Say it plainly: 'You will NOT crack every cipher today, and that is fine. We want you to understand the process and feel confident starting a challenge on your own.'
The arc below is the shape of the session: short theory, one flag cracked together, then you start one yourself, then we reflect.
The deal: no maths degree needed. Spotting what a cipher is and reading what comes back is how everyone learns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capture the flag, or CTF, is a puzzle competition for security skills. In a crypto CTF, every flag is hidden inside a code or a cipher. Work out what you are looking at, undo it, submit the flag.
Read the flag anatomy out loud. Every flag starts with CYBA and has its secret between curly braces. That known start is a codebreaker's gift: it tells you when a guess is right.
Stress permission: breaking codes you were handed in a CTF is practice. Breaking someone else's is a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idea in the session. Every CTF challenge - and a lot of real security work - runs this same loop. Say it out loud, and point back to it every time the room gets stuck.
The key move is the middle of the loop: you TRY a decoder, CHECK what came back, and ADJUST. Nobody is expected to know the answer up front. Reading the output and adjusting IS the skill. For crypto, 'Observe the clues' is where you ask: is this base64, hex, a shifted alphabet, a hash?
Capturing the flag is just where the loop ends. The habit of read, try, check, adjust is what students should leave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Ask: 'Who has ever written a secret message to a friend?' Most hands go up. That is cryptography.
The command on screen is ROT13: you will learn it in Part 2. (It prints Hello.)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top-level definition, and the vocabulary used all session. Cryptography is the science of protecting information by scrambling it so that only the right person can read it.
The word is Greek: kryptos (hidden) + graphein (writing) - literally 'hidden writing.'
Walk the flow left to right: a readable message (plaintext) is encrypted into a scramble (ciphertext), sent, then decrypted back to plaintext by whoever has the right key. Name the four words - plaintext, ciphertext, encrypt, decrypt - the class will hear them all day.
In this CTF you play the receiver who lost the key: your job is to work it out and decrypt the message yourself.
At its heart: turn a readable message into a scramble only the right key can undo. Today, you are the one undoing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fast tour. Each step was invented because the previous one got broken.
Atbash (around 500 BC): flip the alphabet. Appears in Hebrew scripture. No key at all.
Caesar (around 50 BC): Julius Caesar shifted letters by 3 to write to his generals.
Vigenère (1553): first described by Giovan Battista Bellaso, later credited to Blaise de Vigenère. A keyword sets a different shift per letter. Called 'the indecipherable cipher' for about 300 years.
Enigma (1940s): German machine cipher broken at Bletchley Park by Alan Turing, Joan Clarke and team; historians credit it with shortening the war.
Public-key (1976–77): Diffie and Hellman, then Rivest, Shamir and Adleman (RSA). Two strangers can agree on a secret in public. This made online shopping possible.
Today: HTTPS, end-to-end messaging and AES protect billions of conversations a day.
Point out: missions 3, 4, 5 and 9 use the first three ciphers on this timeline.
The pattern: every cipher gets broken eventually. Codebreakers are why codes keep getting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idea of the session. Every mission today is one of these three.
Encoding (base64, hex, Morse): changes how data looks. No key. Anyone can reverse it. Used to move data safely, never to keep secrets.
Encryption (Caesar, Vigenère, XOR, AES): needs a key. Without the key you either find it (missions 9 and 10) or try every key (missions 4 and 8).
Hashing (SHA-256): a one-way fingerprint. You cannot reverse it; you can only hash guesses and compare (missions 7 and 10).
Ask: 'Which one would you use to store passwords?' Hashing: the site never needs the password back, only to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personal. Students use strong cryptography dozens of times a day without noticing.
HTTPS: the padlock in the browser. Messaging apps with end-to-end encryption. Your phone's lock screen encrypts the storage. Sites store a hash of your password, not the password. Wi-Fi uses WPA2/WPA3. Contactless payments sign each transaction.
Ask: 'What did you do this morning that used cryptography?'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the rest of the deck leans on. Every cipher has two parts: a method (how the scramble works) and a key (the one secret setting).
The method can be public - published in textbooks, even. Security comes from the key being secret. Say it: 'Assume the enemy knows the method; only the key is secret.'
Walk the Caesar example on the right: the key is just the shift number. Same message + different key = different output. To read it back you need the SAME key; a wrong key gives gibberish. That is exactly why Mission 4 brute-forces the key and Mission 9 hunts for it.
Analogy: a padlock. Everyone can see how the lock works; only the right key opens it.
The takeaway: same method, different key, different result. Crack the key and you crack the message - that is the whole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Brute force means trying every key. Whether that works depends only on how many keys there are.
Caesar: 25 keys. A human can try them all in minutes; a computer in microseconds. (Mission 4.)
Single-byte XOR: 255 keys. Still instant. (Mission 8.)
A 6-letter Vigenère keyword: 26 to the 6th, about 309 million. A laptop gets through that, but not by hand, and longer keywords grow fast. That's why in Mission 9 we find the key instead.
AES-128: 2 to the 128th, about 3.4 × 10^38 keys. Every computer on Earth working together would need far longer than the age of the universe.
The lesson: real crypto isn't broken by guessing keys. It's broken by stealing keys, weak passwords and bad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every crypto CTF is recognising the method. Teach these six fingerprints; students will lean on this slide all session.
Base64: letters, digits, + and /, often ending in = or ==. Length a multiple of 4.
Hex: only 0–9 and a–f, an even number of characters.
Morse: only dots, dashes, spaces and slashes.
Caesar or ROT13: real-looking punctuation and word lengths, nonsense letters. A flag shape like XXXX{...}.
Atbash: same look as Caesar. If caesar all finds nothing, try the mirror.
SHA-256: exactly 64 hex characters.
Leave this slide up while students work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Open the Crypto CTF now (mentor appendix: 'Open the CTF'), so every device is booted for the Try it pills.
Demo every command live on the projector. Then give the room 30 seconds to type the green Try it command themselves.
None of the Try it commands touch the mission folders, so nothing gets spoiled.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encodings, two tools. Both are 'encode one way, decode the other' with no key.
base64 turns any data into 64 safe characters. base64 -d decodes. The = at the end is padding.
Hex writes each byte as two characters from 0–9 and a–f. xxd shows hex; xxd -r -p turns plain hex back into text. -r means reverse, -p means plain (no addresses).
Have students run the Try it, then decode it again: echo aGkK | base64 -d.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 (translate) swaps characters one for one: every character of the first set becomes the matching character of the second set.
ROT13: A-Z becomes N-Z then A-M (13 places on). Add the same for lowercase.
Atbash: the second set is the alphabet backwards.
tr only reads input, never a file name: pipe text in with |, or feed a file with &lt;. Quote both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key space is small, don't guess: try them all and let grep find the readable one.
caesar N shifts by N; caesar all prints all 25 shifts, one line each.
xor all does the same for single-byte XOR: 255 lines, one per key.
The trick that makes it fast: we know the answer contains CYBA. Pipe into grep CYBA and only the right line survives. That 'known plaintext' trick broke Enigma too: the codebreakers guessed words like weather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Morse code is an encoding from the 1830s: each letter is a pattern of short (.) and long (-) signals. Letters are separated by spaces, words by /.
morse FILE decodes; morse -e encodes. Morse has only capital letters and digits: no punctuation, no curly braces. That's why Mission 6 tells you how to build the flag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hash function turns any text into a fixed-length fingerprint. SHA-256 always gives 64 hex characters.
Same input, same hash, every time. Change one letter and the whole hash changes. And there is no 'unhash'.
So how do we crack one? Guess. Hash every candidate from a list and compare. hashlines does that for every line of a file. This is exactly how real password cracking works, which is why long, unusual passwords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XOR compares two bits: 1 if they differ, 0 if they're the same. XOR a byte with a key to hide it; XOR with the same key again to get it back.
Real ciphers like AES use XOR inside, with huge keys. Mission 8 uses a single byte as the key: only 255 possibilities, so it is brute-forced exactly like Caesar.
xor -e KEY encodes text to hex; xor KEY decodes hex; xor all tries every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Vigenère is Caesar with a different shift for each letter. The keyword repeats under the message; each keyword letter says how far to shift (A = 0, B = 1, ... Z = 25).
Example: ATTACK with LEMON. A+L = L, T+E = X, T+M = F, A+O = O, C+N = P, K+L = V. Notice the two Ts become different letters: that's what beat simple frequency analysis for 300 years.
Too many keys to try by hand, so in Mission 9 we find the keyword instead. vigenere -e KEY encrypts, vigenere -d KEY decrypts.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 | sends one command's output straight into the next. In crypto CTFs, layers are common: base64 on the outside, a cipher inside. Peel them one pipe at a time.
Build the chain step by step: run the first command, look at the output, identify it, add the next tool. Never type the whole chain at once.
Mission 10 is three layers. Mission 9 is two steps in a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three-step routine as every CTF.
1. --help is free and is usually enough: every tool in this CTF explains itself. man has the long manual for real Linux tools.
2. Go back to the identify slide: what does the text look like?
3. hint N costs 5% of that mission's points, charged once per hint. Harder missions have several hints, each more direct. hint N shows the price; hint N --show buys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to photograph. Every tool, which mission it powers, and the --help that explains it.
base64, xxd, tr and sha256sum are standard Linux tools you'll find on any server. caesar, morse, xor, vigenere and hashlines are small helpers built into this CTF, written as short shell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This is the heart of the session: students doing it, not watching. Crack Mission 1 together, then hand the keyboard over.
Put the CTF on one half of the projector and these slides on the other, or switch between them.
Each mission has two slides: the brief (show it, read it, ask the three questions) and the walkthrough (reveal it after the class has tried). You will not get through all ten, and that is by design - pick the ones that fit your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the same for every mission. Drill it now so that the only new thing in each round is the cipher.
Say it together: Identify. Decode. Check. Copy. Submit.
Check is the crypto-specific step: readable English and CYBA{ at the start means you cracked it. Gibberish means wrong tool or wrong key; go back to Identify.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teaching loop so the room knows what to expect, and why you keep pausing to ask questions. This is the mentor's rhythm for the guided cipher and for every decoder demo.
Predict is the step people skip. Always ask 'what do you think this will do?' BEFORE running it. A wrong prediction corrected by real output sticks far better than being handed the answer.
Explain closes the loop: a student puts what happened in their own words. If they can explain it, they own it.
Watch for:
- Ask before you tell - a question beats an answer every time.
- Always get a prediction before running a decoder.
- Let a student explain it back; that's how you know it landed.
- Guide and connect to real work. Don't type for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what is available. Leave it up for a moment and let students read the names - but set the expectation: this is a menu, not a to-do list. In one session, you crack the guided one together and students start one or two on their own.
Notice the order follows the toolkit from Part 2, and history runs roughly forward: encodings, then classical ciphers, then hashes and XOR, then keyed ciphers. An early cipher uses a decoder we just practiced.
Do not frame this as a race to the end. Mission 1 is a great start for everyone; where each student goes next is up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1 OF 10: Not so secret   [Easy, 100 points, We do]
Show this slide first. Read the brief out loud, then ask the three questions BEFORE anyone types. Take one answer per question; do not confirm or correct yet - predicting, then checking, is where the learning happens.
The lesson of the day starts here: encoding is not encryption. Base64 has no key, so anyone can undo it.
If a student tries base64 --decode, that works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1 OF 10: Not so secret
Guided mission: crack it live with the class calling out commands, then use this slide to recap.
The slide never shows a real flag: every computer has its own keys and flags, so students still have to run the commands themselves.
Ask one student to explain the three steps in their own words. Offer the stretch question to anyone who finished early.
The lesson of the day starts here: encoding is not encryption. Base64 has no key, so anyone can undo it.
If a student tries base64 --decode, that works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2 OF 10: Hex marks the spot   [Easy, 100 points, We do]
Show this slide first. Read the brief out loud, then ask the three questions BEFORE anyone types. Take one answer per question; do not confirm or correct yet - predicting, then checking, is where the learning happens.
If students forget -p, xxd expects addresses and prints nothing useful. That is a good teaching moment: read --help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2 OF 10: Hex marks the spot
Guided mission: crack it live with the class calling out commands, then use this slide to recap.
The slide never shows a real flag: every computer has its own keys and flags, so students still have to run the commands themselves.
Ask one student to explain the three steps in their own words. Offer the stretch question to anyone who finished early.
If students forget -p, xxd expects addresses and prints nothing useful. That is a good teaching moment: read --help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session. Point students at the CTF and let them start a cipher on their OWN. Say clearly: you do NOT have to finish, and you do NOT have to do them in order. Pick one that looks interesting and run the loop: read, observe, try, check, adjust.
Walk the room. Ask questions instead of answering them: 'What kind of code do you think this is?' 'What did the output say?' 'What would you try next?' Resist typing for students.
The remaining ciphers (3-10) are in the mentor appendix as a bank: pull one up if the room wants a nudge, or leave them for self-study. Finishing them is not the goal - confidence starting one is.
Mentor: one cipher cracked, understood, and explained back beats ten rushed. Celebrate the process, not the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flags and no points: teams compare answers out loud.
Letter detective: frequency analysis is how Caesar and substitution ciphers were broken for 1,000 years (al-Kindi, 9th century). In English the most common letter is E. In ~/mission4, fold -w1 message.txt | grep '[a-z]' | sort | uniq -c | sort -n | tail -3 shows the most common cipher letters. Is the top one the shift of E? Usually not: the message is too short. That is the lesson: frequency analysis needs lots of text.
Secret notes: encrypt a message with vigenere -e and a keyword, write the ciphertext on paper, and whisper the keyword to the next team.
Hash race: how many words in ~/mission10/words.txt have a SHA-256 starting with 0? hashlines words.txt | grep '^0' | wc -l gives 7 (cedar, cinder, drift, fable, kestrel, phoenix, raven). Same on every computer. About 1 in 16 is expected: hashes look random.
Two layers: make your own two-layer puzzle (e.g. tr ROT13 then base64) and swap with a neighbour.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Applaud the fastest teams, and also the team that got unstuck the most times.
Fun closer: have everyone run the command on this slide. It prints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takeaway: every cipher today was broken centuries ago. Never use them to protect anything real.
Real systems use vetted algorithms (AES, ChaCha20, SHA-256, RSA/elliptic curves) from well-tested libraries. Rule number one in security engineering: don't invent your own crypto.
And real attacks rarely break the maths. They steal keys, guess weak passwords, or exploit mistakes, just like Mission 9 (a leaked keyword) and Mission 10 (a keyword from a wordlist).
Ask: 'After today, how would you choose a password?' Long, unusual, not a dictionary word: Mission 10 cracked a dictionary word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visual receipt for the session, in mission order. Each stamp is a technique the class used today.
Ask students to count the stamps they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the missions to real work. Ask the questions on the right and let students answer before you do.
Mentors: share one real story (unclassified and non-sensitive) of meeting encodings, hashes or keys 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what students can do tomorrow, for free.
CyberQuest Academy is where the next challenges live: fill in the link. The Crypto CTF works at home on any computer; every replay has new keys and new flags. CyberChef (GCHQ's free 'cyber Swiss army knife' in the browser) is a great tool for exploring encodings.
Thank the class and the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Mentor appendix: reference for whoever runs the room — the page layout, how flags work under the hood, how to open the CTF, the answer key, and fixes for the usual snags. Not student-facing.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screenshot from the middle of a game: the first three flags captured, Mission 4 (Hail Caesar) open, and the brute force running in the terminal.
Walk the eight parts. It is the same page as the Linux CTF, so students who played that one already know it. The Crypto CTF tag is top left; the 'Linux CTF' link switches games (it starts a new game, so don't click it mid-race).
The most common problem in class is typing before clicking inside the terminal. Say it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MENTOR READING. The Crypto CTF lives in the same GitLab project as the Linux CTF, in public/crypto/. It reuses the same emulator and page code; only the missions, the tools and the Linux image differ.
Real-Linux mode boots v86 with crypto.cpio.gz: BusyBox plus five helper scripts (caesar, morse, xor, vigenere, hashlines) in /bin. Every boot generates random flags, random Caesar shift and XOR key, and a random keyword for missions 9 and 10. Only SHA-256 hashes of the flags are kept, so there is no answer file.
Lite mode (no WebAssembly) is a JavaScript simulated shell with the same missions and the same tools.
Rebuild after editing missions: python3 guest-crypto/make-crypto.py, then guest-crypto/build.sh.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MENTOR READING: run this with students right before Part 2, so every device is booted for the Try it pills.
WRITE YOUR ADDRESS IN THE BOX before presenting. It is your GitLab Pages address with /crypto/ on the end. The Linux CTF page also has a 'Crypto CTF' link in its header.
Most important rule: do not reload the page. A reload builds a new computer with new keys and flags, and resets the clock and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MENTORS. Hide this slide when presenting.
Flags, shifts, XOR keys and keywords are random on every page load and the CTF keeps only fingerprints, so there is no list of flags: play each mission yourself before class.
Mission 9 keywords: FALCON ORCHID JUPITER GLACIER PHOENIX LANTERN COMPASS HARBOR. Mission 10 keyword: one of the 100 words in words.txt.
In lite mode $(...) is not supported: type the first 8 characters of the hash instead of $(cut -c1-8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MENTORS. Hide this slide when presenting.
Most problems are the same as the Linux CTF: the school web filter, Pages visibility, or typing before clicking the terminal. The crypto-specific ones are below.
Plan B if most devices can't load it: drive the CTF on the projector and run the competition as 'We do', with teams racing to call out the next command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bank, not a checklist. Missions 1 and 2 are the guided example in the main deck; these eight are here for independent work and self-study.
Pull one up when a student wants a nudge on a cipher they chose, or share the deck afterward. In a one-hour session you will not show most of these live - and that's the point.
Each mission has a brief (the clue and three questions) and a walkthrough (one correct path). Flags differ on every computer, so walkthroughs are safe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3 OF 10: Thirteen steps   [Easy, 100 points, You do]
Show this slide first. Read the brief out loud, then ask the three questions BEFORE anyone types. Take one answer per question; do not confirm or correct yet - predicting, then checking, is where the learning happens.
The quotes matter: without them some shells expand the brackets. Uppercase and lowercase need their own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3 OF 10: Thirteen steps
Independent mission: reveal this slide only after students have tried, or when the room is stuck. Not everyone needs to reach it - one cracked cipher is a win.
The slide never shows a real flag: every computer has its own keys and flags, so students still have to run the commands themselves.
Ask one student to explain the three steps in their own words. Offer the stretch question to anyone who finished early.
The quotes matter: without them some shells expand the brackets. Uppercase and lowercase need their own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4 OF 10: Hail Caesar   [Medium, 200 points, You do]
Show this slide first. Read the brief out loud, then ask the three questions BEFORE anyone types. Take one answer per question; do not confirm or correct yet - predicting, then checking, is where the learning happens.
This is the first 'unknown key' mission. Make the point: a key space of 25 is no protection at all.
The shift is random on every load (never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4 OF 10: Hail Caesar
Independent mission: reveal this slide only after students have tried, or when the room is stuck. Not everyone needs to reach it - one cracked cipher is a win.
The slide never shows a real flag: every computer has its own keys and flags, so students still have to run the commands themselves.
Ask one student to explain the three steps in their own words. Offer the stretch question to anyone who finished early.
This is the first 'unknown key' mission. Make the point: a key space of 25 is no protection at all.
The shift is random on every load (never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5 OF 10: Mirror, mirror   [Medium, 200 points, You do]
Show this slide first. Read the brief out loud, then ask the three questions BEFORE anyone types. Take one answer per question; do not confirm or correct yet - predicting, then checking, is where the learning happens.
The second set must be typed in full (26 uppercase, then 26 lowercase), all on one line. Typos here are the usual problem: count the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5 OF 10: Mirror, mirror
Independent mission: reveal this slide only after students have tried, or when the room is stuck. Not everyone needs to reach it - one cracked cipher is a win.
The slide never shows a real flag: every computer has its own keys and flags, so students still have to run the commands themselves.
Ask one student to explain the three steps in their own words. Offer the stretch question to anyone who finished early.
The second set must be typed in full (26 uppercase, then 26 lowercase), all on one line. Typos here are the usual problem: count the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6 OF 10: Dots and dashes   [Medium, 200 points, You do]
Show this slide first. Read the brief out loud, then ask the three questions BEFORE anyone types. Take one answer per question; do not confirm or correct yet - predicting, then checking, is where the learning happens.
The most common mistake: forgetting to lowercase the code. The README says so. Point there, don't answer.
The code shown on this slide is an example; every computer has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6 OF 10: Dots and dashes
Independent mission: reveal this slide only after students have tried, or when the room is stuck. Not everyone needs to reach it - one cracked cipher is a win.
The slide never shows a real flag: every computer has its own keys and flags, so students still have to run the commands themselves.
Ask one student to explain the three steps in their own words. Offer the stretch question to anyone who finished early.
The most common mistake: forgetting to lowercase the code. The README says so. Point there, don't answer.
The code shown on this slide is an example; every computer has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7 OF 10: Fingerprints   [Medium, 200 points, You do]
Show this slide first. Read the brief out loud, then ask the three questions BEFORE anyone types. Take one answer per question; do not confirm or correct yet - predicting, then checking, is where the learning happens.
In real-Linux mode hashlines takes 15 to 25 seconds for 100 lines: it runs sha256sum once per line. Tell teams to wait for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7 OF 10: Fingerprints
Independent mission: reveal this slide only after students have tried, or when the room is stuck. Not everyone needs to reach it - one cracked cipher is a win.
The slide never shows a real flag: every computer has its own keys and flags, so students still have to run the commands themselves.
Ask one student to explain the three steps in their own words. Offer the stretch question to anyone who finished early.
In real-Linux mode hashlines takes 15 to 25 seconds for 100 lines: it runs sha256sum once per line. Tell teams to wait for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8 OF 10: XOR marks   [Hard, 400 points, You do]
Show this slide first. Read the brief out loud, then ask the three questions BEFORE anyone types. Take one answer per question; do not confirm or correct yet - predicting, then checking, is where the learning happens.
The key is random each load. The newline shows as a dot in xor all; that is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8 OF 10: XOR marks
Independent mission: reveal this slide only after students have tried, or when the room is stuck. Not everyone needs to reach it - one cracked cipher is a win.
The slide never shows a real flag: every computer has its own keys and flags, so students still have to run the commands themselves.
Ask one student to explain the three steps in their own words. Offer the stretch question to anyone who finished early.
The key is random each load. The newline shows as a dot in xor all; that is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9 OF 10: Keyed up   [Hard, 400 points, You do]
Show this slide first. Read the brief out loud, then ask the three questions BEFORE anyone types. Take one answer per question; do not confirm or correct yet - predicting, then checking, is where the learning happens.
The keyword is one of eight, picked at random: FALCON, ORCHID, JUPITER, GLACIER, PHOENIX, LANTERN, COMPASS, HARBOR.
The big idea: key management. The cipher held; the key leaked.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9 OF 10: Keyed up
Independent mission: reveal this slide only after students have tried, or when the room is stuck. Not everyone needs to reach it - one cracked cipher is a win.
The slide never shows a real flag: every computer has its own keys and flags, so students still have to run the commands themselves.
Ask one student to explain the three steps in their own words. Offer the stretch question to anyone who finished early.
The keyword is one of eight, picked at random: FALCON, ORCHID, JUPITER, GLACIER, PHOENIX, LANTERN, COMPASS, HARBOR.
The big idea: key management. The cipher held; the key leaked.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10 OF 10: The vault   [Very Hard, 800 points, You do]
Show this slide first. Read the brief out loud, then ask the three questions BEFORE anyone types. Take one answer per question; do not confirm or correct yet - predicting, then checking, is where the learning happens.
The keyword is one of 100 words, picked at random each load. 'otter' on this slide is an example.
If students type $(...) in lite mode it will not work: they can type the first 8 characters of the hash by hand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10 OF 10: The vault
Independent mission: reveal this slide only after students have tried, or when the room is stuck. Not everyone needs to reach it - one cracked cipher is a win.
The slide never shows a real flag: every computer has its own keys and flags, so students still have to run the commands themselves.
Ask one student to explain the three steps in their own words. Offer the stretch question to anyone who finished early.
The keyword is one of 100 words, picked at random each load. 'otter' on this slide is an example.
If students type $(...) in lite mode it will not work: they can type the first 8 characters of the hash by hand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LIGH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6583680" cy="1280160"/>
          </a:xfrm>
          <a:prstGeom prst="rect">
            <a:avLst/>
          </a:prstGeom>
          <a:noFill/>
          <a:ln/>
        </p:spPr>
        <p:txBody>
          <a:bodyPr wrap="square" lIns="0" tIns="0" rIns="0" bIns="0" rtlCol="0" anchor="ctr"/>
          <a:lstStyle/>
          <a:p>
            <a:pPr indent="0" marL="0">
              <a:buNone/>
            </a:pPr>
            <a:r>
              <a:rPr lang="en-US" sz="8400" b="1" dirty="0">
                <a:solidFill>
                  <a:srgbClr val="FFFFFF"/>
                </a:solidFill>
                <a:latin typeface="Arial" pitchFamily="34" charset="0"/>
                <a:ea typeface="Arial" pitchFamily="34" charset="-122"/>
                <a:cs typeface="Arial" pitchFamily="34" charset="-120"/>
              </a:rPr>
              <a:t>CyberQuest</a:t>
            </a:r>
            <a:endParaRPr lang="en-US" sz="8400" dirty="0"/>
          </a:p>
        </p:txBody>
      </p:sp>
      <p:sp>
        <p:nvSpPr>
          <p:cNvPr id="3" name="Text 1"/>
          <p:cNvSpPr txBox="1"/>
          <p:nvPr/>
        </p:nvSpPr>
        <p:spPr>
          <a:xfrm>
            <a:off x="548640" y="2788920"/>
            <a:ext cx="6126480" cy="1188720"/>
          </a:xfrm>
          <a:prstGeom prst="rect">
            <a:avLst/>
          </a:prstGeom>
          <a:noFill/>
          <a:ln/>
        </p:spPr>
        <p:txBody>
          <a:bodyPr wrap="square" lIns="0" tIns="0" rIns="0" bIns="0" rtlCol="0" anchor="ctr"/>
          <a:lstStyle/>
          <a:p>
            <a:pPr indent="0" marL="0">
              <a:buNone/>
            </a:pPr>
            <a:r>
              <a:rPr lang="en-US" sz="2600" dirty="0">
                <a:solidFill>
                  <a:srgbClr val="E8EEFF"/>
                </a:solidFill>
                <a:latin typeface="Calibri" pitchFamily="34" charset="0"/>
                <a:ea typeface="Calibri" pitchFamily="34" charset="-122"/>
                <a:cs typeface="Calibri" pitchFamily="34" charset="-120"/>
              </a:rPr>
              <a:t>Crypto CTF: crack the codes.</a:t>
            </a:r>
            <a:endParaRPr lang="en-US" sz="2600" dirty="0"/>
          </a:p>
          <a:p>
            <a:pPr indent="0" marL="0">
              <a:buNone/>
            </a:pPr>
            <a:r>
              <a:rPr lang="en-US" sz="2600" dirty="0">
                <a:solidFill>
                  <a:srgbClr val="E8EEFF"/>
                </a:solidFill>
                <a:latin typeface="Calibri" pitchFamily="34" charset="0"/>
                <a:ea typeface="Calibri" pitchFamily="34" charset="-122"/>
                <a:cs typeface="Calibri" pitchFamily="34" charset="-120"/>
              </a:rPr>
              <a:t>Learn how, then compete.</a:t>
            </a:r>
            <a:endParaRPr lang="en-US" sz="2600" dirty="0"/>
          </a:p>
        </p:txBody>
      </p:sp>
      <p:sp>
        <p:nvSpPr>
          <p:cNvPr id="4" name="Shape 2"/>
          <p:cNvSpPr/>
          <p:nvPr/>
        </p:nvSpPr>
        <p:spPr>
          <a:xfrm>
            <a:off x="548640" y="4160520"/>
            <a:ext cx="2743200" cy="347472"/>
          </a:xfrm>
          <a:prstGeom prst="roundRect">
            <a:avLst>
              <a:gd name="adj" fmla="val 50000"/>
            </a:avLst>
          </a:prstGeom>
          <a:solidFill>
            <a:srgbClr val="F5A623"/>
          </a:solidFill>
          <a:ln/>
        </p:spPr>
      </p:sp>
      <p:sp>
        <p:nvSpPr>
          <p:cNvPr id="5" name="Text 3"/>
          <p:cNvSpPr txBox="1"/>
          <p:nvPr/>
        </p:nvSpPr>
        <p:spPr>
          <a:xfrm>
            <a:off x="548640" y="4160520"/>
            <a:ext cx="2743200" cy="347472"/>
          </a:xfrm>
          <a:prstGeom prst="rect">
            <a:avLst/>
          </a:prstGeom>
          <a:noFill/>
          <a:ln/>
        </p:spPr>
        <p:txBody>
          <a:bodyPr wrap="square" lIns="0" tIns="0" rIns="0" bIns="0" rtlCol="0" anchor="ctr"/>
          <a:lstStyle/>
          <a:p>
            <a:pPr algn="ctr" indent="0" marL="0">
              <a:buNone/>
            </a:pPr>
            <a:r>
              <a:rPr lang="en-US" sz="1500" b="1" dirty="0">
                <a:solidFill>
                  <a:srgbClr val="12213A"/>
                </a:solidFill>
                <a:latin typeface="Calibri" pitchFamily="34" charset="0"/>
                <a:ea typeface="Calibri" pitchFamily="34" charset="-122"/>
                <a:cs typeface="Calibri" pitchFamily="34" charset="-120"/>
              </a:rPr>
              <a:t>simulated CTF competition</a:t>
            </a:r>
            <a:endParaRPr lang="en-US" sz="1500" dirty="0"/>
          </a:p>
        </p:txBody>
      </p:sp>
      <p:sp>
        <p:nvSpPr>
          <p:cNvPr id="6" name="Text 4"/>
          <p:cNvSpPr txBox="1"/>
          <p:nvPr/>
        </p:nvSpPr>
        <p:spPr>
          <a:xfrm>
            <a:off x="548640" y="4681728"/>
            <a:ext cx="594360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CyberQuest Academy mentorship session</a:t>
            </a:r>
            <a:endParaRPr lang="en-US" sz="1800" dirty="0"/>
          </a:p>
        </p:txBody>
      </p:sp>
      <p:sp>
        <p:nvSpPr>
          <p:cNvPr id="8" name="Text 5"/>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7F8FAD"/>
                </a:solidFill>
                <a:latin typeface="Calibri" pitchFamily="34" charset="0"/>
                <a:ea typeface="Calibri" pitchFamily="34" charset="-122"/>
                <a:cs typeface="Calibri" pitchFamily="34" charset="-120"/>
              </a:rPr>
              <a:t>Crypto CTF   ·   1 / 61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How today works</a:t>
            </a:r>
            <a:endParaRPr lang="en-US" sz="3200" dirty="0"/>
          </a:p>
        </p:txBody>
      </p:sp>
      <p:sp>
        <p:nvSpPr>
          <p:cNvPr id="4" name="Shape 1"/>
          <p:cNvSpPr/>
          <p:nvPr/>
        </p:nvSpPr>
        <p:spPr>
          <a:xfrm>
            <a:off x="548640" y="1627632"/>
            <a:ext cx="3611880" cy="1810512"/>
          </a:xfrm>
          <a:prstGeom prst="roundRect">
            <a:avLst>
              <a:gd name="adj" fmla="val 6061"/>
            </a:avLst>
          </a:prstGeom>
          <a:solidFill>
            <a:srgbClr val="E8F3EF"/>
          </a:solidFill>
          <a:ln w="12700">
            <a:solidFill>
              <a:srgbClr val="B5D9CA"/>
            </a:solidFill>
            <a:prstDash val="solid"/>
          </a:ln>
        </p:spPr>
      </p:sp>
      <p:sp>
        <p:nvSpPr>
          <p:cNvPr id="5" name="Shape 2"/>
          <p:cNvSpPr/>
          <p:nvPr/>
        </p:nvSpPr>
        <p:spPr>
          <a:xfrm>
            <a:off x="822960" y="1901952"/>
            <a:ext cx="512064" cy="512064"/>
          </a:xfrm>
          <a:prstGeom prst="ellipse">
            <a:avLst/>
          </a:prstGeom>
          <a:solidFill>
            <a:srgbClr val="17875A"/>
          </a:solidFill>
          <a:ln/>
        </p:spPr>
      </p:sp>
      <p:sp>
        <p:nvSpPr>
          <p:cNvPr id="6" name="Text 3"/>
          <p:cNvSpPr txBox="1"/>
          <p:nvPr/>
        </p:nvSpPr>
        <p:spPr>
          <a:xfrm>
            <a:off x="822960" y="190195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4"/>
          <p:cNvSpPr txBox="1"/>
          <p:nvPr/>
        </p:nvSpPr>
        <p:spPr>
          <a:xfrm>
            <a:off x="1463040" y="1901952"/>
            <a:ext cx="2286000" cy="512064"/>
          </a:xfrm>
          <a:prstGeom prst="rect">
            <a:avLst/>
          </a:prstGeom>
          <a:noFill/>
          <a:ln/>
        </p:spPr>
        <p:txBody>
          <a:bodyPr wrap="square" lIns="0" tIns="0" rIns="0" bIns="0" rtlCol="0" anchor="ctr"/>
          <a:lstStyle/>
          <a:p>
            <a:pPr indent="0" marL="0">
              <a:buNone/>
            </a:pPr>
            <a:r>
              <a:rPr lang="en-US" sz="2100" b="1" dirty="0">
                <a:solidFill>
                  <a:srgbClr val="17875A"/>
                </a:solidFill>
                <a:latin typeface="Arial" pitchFamily="34" charset="0"/>
                <a:ea typeface="Arial" pitchFamily="34" charset="-122"/>
                <a:cs typeface="Arial" pitchFamily="34" charset="-120"/>
              </a:rPr>
              <a:t>Concept</a:t>
            </a:r>
            <a:endParaRPr lang="en-US" sz="2100" dirty="0"/>
          </a:p>
        </p:txBody>
      </p:sp>
      <p:sp>
        <p:nvSpPr>
          <p:cNvPr id="8" name="Text 5"/>
          <p:cNvSpPr txBox="1"/>
          <p:nvPr/>
        </p:nvSpPr>
        <p:spPr>
          <a:xfrm>
            <a:off x="841248" y="2542032"/>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What a crypto CTF is, and why codes matter.</a:t>
            </a:r>
            <a:endParaRPr lang="en-US" sz="1450" dirty="0"/>
          </a:p>
        </p:txBody>
      </p:sp>
      <p:sp>
        <p:nvSpPr>
          <p:cNvPr id="9" name="Shape 6"/>
          <p:cNvSpPr/>
          <p:nvPr/>
        </p:nvSpPr>
        <p:spPr>
          <a:xfrm>
            <a:off x="3136392" y="2468880"/>
            <a:ext cx="841248" cy="841248"/>
          </a:xfrm>
          <a:prstGeom prst="ellipse">
            <a:avLst/>
          </a:prstGeom>
          <a:solidFill>
            <a:srgbClr val="D1E7DE"/>
          </a:solidFill>
          <a:ln/>
        </p:spPr>
      </p:sp>
      <p:pic>
        <p:nvPicPr>
          <p:cNvPr id="10" name="Image 0" descr="preencoded.png">    </p:cNvPr>
          <p:cNvPicPr>
            <a:picLocks noChangeAspect="1"/>
          </p:cNvPicPr>
          <p:nvPr/>
        </p:nvPicPr>
        <p:blipFill>
          <a:blip r:embed="rId1"/>
          <a:stretch>
            <a:fillRect/>
          </a:stretch>
        </p:blipFill>
        <p:spPr>
          <a:xfrm>
            <a:off x="3363529" y="2696017"/>
            <a:ext cx="386974" cy="386974"/>
          </a:xfrm>
          <a:prstGeom prst="rect">
            <a:avLst/>
          </a:prstGeom>
        </p:spPr>
      </p:pic>
      <p:sp>
        <p:nvSpPr>
          <p:cNvPr id="11" name="Shape 7"/>
          <p:cNvSpPr/>
          <p:nvPr/>
        </p:nvSpPr>
        <p:spPr>
          <a:xfrm>
            <a:off x="4178808" y="2532888"/>
            <a:ext cx="182880" cy="0"/>
          </a:xfrm>
          <a:prstGeom prst="line">
            <a:avLst/>
          </a:prstGeom>
          <a:noFill/>
          <a:ln w="25400">
            <a:solidFill>
              <a:srgbClr val="9AA7BD"/>
            </a:solidFill>
            <a:prstDash val="solid"/>
            <a:tailEnd type="triangle"/>
          </a:ln>
        </p:spPr>
      </p:sp>
      <p:sp>
        <p:nvSpPr>
          <p:cNvPr id="12" name="Shape 8"/>
          <p:cNvSpPr/>
          <p:nvPr/>
        </p:nvSpPr>
        <p:spPr>
          <a:xfrm>
            <a:off x="4379976" y="1627632"/>
            <a:ext cx="3611880" cy="1810512"/>
          </a:xfrm>
          <a:prstGeom prst="roundRect">
            <a:avLst>
              <a:gd name="adj" fmla="val 6061"/>
            </a:avLst>
          </a:prstGeom>
          <a:solidFill>
            <a:srgbClr val="EAF5FB"/>
          </a:solidFill>
          <a:ln w="12700">
            <a:solidFill>
              <a:srgbClr val="BBE0F2"/>
            </a:solidFill>
            <a:prstDash val="solid"/>
          </a:ln>
        </p:spPr>
      </p:sp>
      <p:sp>
        <p:nvSpPr>
          <p:cNvPr id="13" name="Shape 9"/>
          <p:cNvSpPr/>
          <p:nvPr/>
        </p:nvSpPr>
        <p:spPr>
          <a:xfrm>
            <a:off x="4654296" y="1901952"/>
            <a:ext cx="512064" cy="512064"/>
          </a:xfrm>
          <a:prstGeom prst="ellipse">
            <a:avLst/>
          </a:prstGeom>
          <a:solidFill>
            <a:srgbClr val="2A9FD6"/>
          </a:solidFill>
          <a:ln/>
        </p:spPr>
      </p:sp>
      <p:sp>
        <p:nvSpPr>
          <p:cNvPr id="14" name="Text 10"/>
          <p:cNvSpPr txBox="1"/>
          <p:nvPr/>
        </p:nvSpPr>
        <p:spPr>
          <a:xfrm>
            <a:off x="4654296" y="190195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5294376" y="1901952"/>
            <a:ext cx="2286000" cy="512064"/>
          </a:xfrm>
          <a:prstGeom prst="rect">
            <a:avLst/>
          </a:prstGeom>
          <a:noFill/>
          <a:ln/>
        </p:spPr>
        <p:txBody>
          <a:bodyPr wrap="square" lIns="0" tIns="0" rIns="0" bIns="0" rtlCol="0" anchor="ctr"/>
          <a:lstStyle/>
          <a:p>
            <a:pPr indent="0" marL="0">
              <a:buNone/>
            </a:pPr>
            <a:r>
              <a:rPr lang="en-US" sz="2100" b="1" dirty="0">
                <a:solidFill>
                  <a:srgbClr val="2A9FD6"/>
                </a:solidFill>
                <a:latin typeface="Arial" pitchFamily="34" charset="0"/>
                <a:ea typeface="Arial" pitchFamily="34" charset="-122"/>
                <a:cs typeface="Arial" pitchFamily="34" charset="-120"/>
              </a:rPr>
              <a:t>Mental model</a:t>
            </a:r>
            <a:endParaRPr lang="en-US" sz="2100" dirty="0"/>
          </a:p>
        </p:txBody>
      </p:sp>
      <p:sp>
        <p:nvSpPr>
          <p:cNvPr id="16" name="Text 12"/>
          <p:cNvSpPr txBox="1"/>
          <p:nvPr/>
        </p:nvSpPr>
        <p:spPr>
          <a:xfrm>
            <a:off x="4672584" y="2542032"/>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How codebreakers think: identify, then reverse.</a:t>
            </a:r>
            <a:endParaRPr lang="en-US" sz="1450" dirty="0"/>
          </a:p>
        </p:txBody>
      </p:sp>
      <p:sp>
        <p:nvSpPr>
          <p:cNvPr id="17" name="Shape 13"/>
          <p:cNvSpPr/>
          <p:nvPr/>
        </p:nvSpPr>
        <p:spPr>
          <a:xfrm>
            <a:off x="6967728" y="2468880"/>
            <a:ext cx="841248" cy="841248"/>
          </a:xfrm>
          <a:prstGeom prst="ellipse">
            <a:avLst/>
          </a:prstGeom>
          <a:solidFill>
            <a:srgbClr val="D4ECF7"/>
          </a:solidFill>
          <a:ln/>
        </p:spPr>
      </p:sp>
      <p:pic>
        <p:nvPicPr>
          <p:cNvPr id="18" name="Image 1" descr="preencoded.png">    </p:cNvPr>
          <p:cNvPicPr>
            <a:picLocks noChangeAspect="1"/>
          </p:cNvPicPr>
          <p:nvPr/>
        </p:nvPicPr>
        <p:blipFill>
          <a:blip r:embed="rId2"/>
          <a:stretch>
            <a:fillRect/>
          </a:stretch>
        </p:blipFill>
        <p:spPr>
          <a:xfrm>
            <a:off x="7194865" y="2696017"/>
            <a:ext cx="386974" cy="386974"/>
          </a:xfrm>
          <a:prstGeom prst="rect">
            <a:avLst/>
          </a:prstGeom>
        </p:spPr>
      </p:pic>
      <p:sp>
        <p:nvSpPr>
          <p:cNvPr id="19" name="Shape 14"/>
          <p:cNvSpPr/>
          <p:nvPr/>
        </p:nvSpPr>
        <p:spPr>
          <a:xfrm>
            <a:off x="8010144" y="2532888"/>
            <a:ext cx="182880" cy="0"/>
          </a:xfrm>
          <a:prstGeom prst="line">
            <a:avLst/>
          </a:prstGeom>
          <a:noFill/>
          <a:ln w="25400">
            <a:solidFill>
              <a:srgbClr val="9AA7BD"/>
            </a:solidFill>
            <a:prstDash val="solid"/>
            <a:tailEnd type="triangle"/>
          </a:ln>
        </p:spPr>
      </p:sp>
      <p:sp>
        <p:nvSpPr>
          <p:cNvPr id="20" name="Shape 15"/>
          <p:cNvSpPr/>
          <p:nvPr/>
        </p:nvSpPr>
        <p:spPr>
          <a:xfrm>
            <a:off x="8211312" y="1627632"/>
            <a:ext cx="3611880" cy="1810512"/>
          </a:xfrm>
          <a:prstGeom prst="roundRect">
            <a:avLst>
              <a:gd name="adj" fmla="val 6061"/>
            </a:avLst>
          </a:prstGeom>
          <a:solidFill>
            <a:srgbClr val="E9EEFB"/>
          </a:solidFill>
          <a:ln w="12700">
            <a:solidFill>
              <a:srgbClr val="B9CAF3"/>
            </a:solidFill>
            <a:prstDash val="solid"/>
          </a:ln>
        </p:spPr>
      </p:sp>
      <p:sp>
        <p:nvSpPr>
          <p:cNvPr id="21" name="Shape 16"/>
          <p:cNvSpPr/>
          <p:nvPr/>
        </p:nvSpPr>
        <p:spPr>
          <a:xfrm>
            <a:off x="8485632" y="1901952"/>
            <a:ext cx="512064" cy="512064"/>
          </a:xfrm>
          <a:prstGeom prst="ellipse">
            <a:avLst/>
          </a:prstGeom>
          <a:solidFill>
            <a:srgbClr val="2459D8"/>
          </a:solidFill>
          <a:ln/>
        </p:spPr>
      </p:sp>
      <p:sp>
        <p:nvSpPr>
          <p:cNvPr id="22" name="Text 17"/>
          <p:cNvSpPr txBox="1"/>
          <p:nvPr/>
        </p:nvSpPr>
        <p:spPr>
          <a:xfrm>
            <a:off x="8485632" y="190195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18"/>
          <p:cNvSpPr txBox="1"/>
          <p:nvPr/>
        </p:nvSpPr>
        <p:spPr>
          <a:xfrm>
            <a:off x="9125712" y="1901952"/>
            <a:ext cx="2286000" cy="512064"/>
          </a:xfrm>
          <a:prstGeom prst="rect">
            <a:avLst/>
          </a:prstGeom>
          <a:noFill/>
          <a:ln/>
        </p:spPr>
        <p:txBody>
          <a:bodyPr wrap="square" lIns="0" tIns="0" rIns="0" bIns="0" rtlCol="0" anchor="ctr"/>
          <a:lstStyle/>
          <a:p>
            <a:pPr indent="0" marL="0">
              <a:buNone/>
            </a:pPr>
            <a:r>
              <a:rPr lang="en-US" sz="2100" b="1" dirty="0">
                <a:solidFill>
                  <a:srgbClr val="2459D8"/>
                </a:solidFill>
                <a:latin typeface="Arial" pitchFamily="34" charset="0"/>
                <a:ea typeface="Arial" pitchFamily="34" charset="-122"/>
                <a:cs typeface="Arial" pitchFamily="34" charset="-120"/>
              </a:rPr>
              <a:t>Tools</a:t>
            </a:r>
            <a:endParaRPr lang="en-US" sz="2100" dirty="0"/>
          </a:p>
        </p:txBody>
      </p:sp>
      <p:sp>
        <p:nvSpPr>
          <p:cNvPr id="24" name="Text 19"/>
          <p:cNvSpPr txBox="1"/>
          <p:nvPr/>
        </p:nvSpPr>
        <p:spPr>
          <a:xfrm>
            <a:off x="8503920" y="2542032"/>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A handful of decoders - just what a cipher needs.</a:t>
            </a:r>
            <a:endParaRPr lang="en-US" sz="1450" dirty="0"/>
          </a:p>
        </p:txBody>
      </p:sp>
      <p:sp>
        <p:nvSpPr>
          <p:cNvPr id="25" name="Shape 20"/>
          <p:cNvSpPr/>
          <p:nvPr/>
        </p:nvSpPr>
        <p:spPr>
          <a:xfrm>
            <a:off x="10799064" y="2468880"/>
            <a:ext cx="841248" cy="841248"/>
          </a:xfrm>
          <a:prstGeom prst="ellipse">
            <a:avLst/>
          </a:prstGeom>
          <a:solidFill>
            <a:srgbClr val="D3DEF7"/>
          </a:solidFill>
          <a:ln/>
        </p:spPr>
      </p:sp>
      <p:pic>
        <p:nvPicPr>
          <p:cNvPr id="26" name="Image 2" descr="preencoded.png">    </p:cNvPr>
          <p:cNvPicPr>
            <a:picLocks noChangeAspect="1"/>
          </p:cNvPicPr>
          <p:nvPr/>
        </p:nvPicPr>
        <p:blipFill>
          <a:blip r:embed="rId3"/>
          <a:stretch>
            <a:fillRect/>
          </a:stretch>
        </p:blipFill>
        <p:spPr>
          <a:xfrm>
            <a:off x="11026201" y="2696017"/>
            <a:ext cx="386974" cy="386974"/>
          </a:xfrm>
          <a:prstGeom prst="rect">
            <a:avLst/>
          </a:prstGeom>
        </p:spPr>
      </p:pic>
      <p:sp>
        <p:nvSpPr>
          <p:cNvPr id="27" name="Shape 21"/>
          <p:cNvSpPr/>
          <p:nvPr/>
        </p:nvSpPr>
        <p:spPr>
          <a:xfrm>
            <a:off x="548640" y="3621024"/>
            <a:ext cx="3611880" cy="1810512"/>
          </a:xfrm>
          <a:prstGeom prst="roundRect">
            <a:avLst>
              <a:gd name="adj" fmla="val 6061"/>
            </a:avLst>
          </a:prstGeom>
          <a:solidFill>
            <a:srgbClr val="F1EDFB"/>
          </a:solidFill>
          <a:ln w="12700">
            <a:solidFill>
              <a:srgbClr val="D3C4F1"/>
            </a:solidFill>
            <a:prstDash val="solid"/>
          </a:ln>
        </p:spPr>
      </p:sp>
      <p:sp>
        <p:nvSpPr>
          <p:cNvPr id="28" name="Shape 22"/>
          <p:cNvSpPr/>
          <p:nvPr/>
        </p:nvSpPr>
        <p:spPr>
          <a:xfrm>
            <a:off x="822960" y="3895344"/>
            <a:ext cx="512064" cy="512064"/>
          </a:xfrm>
          <a:prstGeom prst="ellipse">
            <a:avLst/>
          </a:prstGeom>
          <a:solidFill>
            <a:srgbClr val="7448D4"/>
          </a:solidFill>
          <a:ln/>
        </p:spPr>
      </p:sp>
      <p:sp>
        <p:nvSpPr>
          <p:cNvPr id="29" name="Text 23"/>
          <p:cNvSpPr txBox="1"/>
          <p:nvPr/>
        </p:nvSpPr>
        <p:spPr>
          <a:xfrm>
            <a:off x="822960" y="3895344"/>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30" name="Text 24"/>
          <p:cNvSpPr txBox="1"/>
          <p:nvPr/>
        </p:nvSpPr>
        <p:spPr>
          <a:xfrm>
            <a:off x="1463040" y="3895344"/>
            <a:ext cx="2286000" cy="512064"/>
          </a:xfrm>
          <a:prstGeom prst="rect">
            <a:avLst/>
          </a:prstGeom>
          <a:noFill/>
          <a:ln/>
        </p:spPr>
        <p:txBody>
          <a:bodyPr wrap="square" lIns="0" tIns="0" rIns="0" bIns="0" rtlCol="0" anchor="ctr"/>
          <a:lstStyle/>
          <a:p>
            <a:pPr indent="0" marL="0">
              <a:buNone/>
            </a:pPr>
            <a:r>
              <a:rPr lang="en-US" sz="2100" b="1" dirty="0">
                <a:solidFill>
                  <a:srgbClr val="7448D4"/>
                </a:solidFill>
                <a:latin typeface="Arial" pitchFamily="34" charset="0"/>
                <a:ea typeface="Arial" pitchFamily="34" charset="-122"/>
                <a:cs typeface="Arial" pitchFamily="34" charset="-120"/>
              </a:rPr>
              <a:t>Guided</a:t>
            </a:r>
            <a:endParaRPr lang="en-US" sz="2100" dirty="0"/>
          </a:p>
        </p:txBody>
      </p:sp>
      <p:sp>
        <p:nvSpPr>
          <p:cNvPr id="31" name="Text 25"/>
          <p:cNvSpPr txBox="1"/>
          <p:nvPr/>
        </p:nvSpPr>
        <p:spPr>
          <a:xfrm>
            <a:off x="841248" y="4535424"/>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We crack a cipher together, step by step.</a:t>
            </a:r>
            <a:endParaRPr lang="en-US" sz="1450" dirty="0"/>
          </a:p>
        </p:txBody>
      </p:sp>
      <p:sp>
        <p:nvSpPr>
          <p:cNvPr id="32" name="Shape 26"/>
          <p:cNvSpPr/>
          <p:nvPr/>
        </p:nvSpPr>
        <p:spPr>
          <a:xfrm>
            <a:off x="3136392" y="4462272"/>
            <a:ext cx="841248" cy="841248"/>
          </a:xfrm>
          <a:prstGeom prst="ellipse">
            <a:avLst/>
          </a:prstGeom>
          <a:solidFill>
            <a:srgbClr val="E3DAF6"/>
          </a:solidFill>
          <a:ln/>
        </p:spPr>
      </p:sp>
      <p:pic>
        <p:nvPicPr>
          <p:cNvPr id="33" name="Image 3" descr="preencoded.png">    </p:cNvPr>
          <p:cNvPicPr>
            <a:picLocks noChangeAspect="1"/>
          </p:cNvPicPr>
          <p:nvPr/>
        </p:nvPicPr>
        <p:blipFill>
          <a:blip r:embed="rId4"/>
          <a:stretch>
            <a:fillRect/>
          </a:stretch>
        </p:blipFill>
        <p:spPr>
          <a:xfrm>
            <a:off x="3363529" y="4689409"/>
            <a:ext cx="386974" cy="386974"/>
          </a:xfrm>
          <a:prstGeom prst="rect">
            <a:avLst/>
          </a:prstGeom>
        </p:spPr>
      </p:pic>
      <p:sp>
        <p:nvSpPr>
          <p:cNvPr id="34" name="Shape 27"/>
          <p:cNvSpPr/>
          <p:nvPr/>
        </p:nvSpPr>
        <p:spPr>
          <a:xfrm>
            <a:off x="4178808" y="4526280"/>
            <a:ext cx="182880" cy="0"/>
          </a:xfrm>
          <a:prstGeom prst="line">
            <a:avLst/>
          </a:prstGeom>
          <a:noFill/>
          <a:ln w="25400">
            <a:solidFill>
              <a:srgbClr val="9AA7BD"/>
            </a:solidFill>
            <a:prstDash val="solid"/>
            <a:tailEnd type="triangle"/>
          </a:ln>
        </p:spPr>
      </p:sp>
      <p:sp>
        <p:nvSpPr>
          <p:cNvPr id="35" name="Shape 28"/>
          <p:cNvSpPr/>
          <p:nvPr/>
        </p:nvSpPr>
        <p:spPr>
          <a:xfrm>
            <a:off x="4379976" y="3621024"/>
            <a:ext cx="3611880" cy="1810512"/>
          </a:xfrm>
          <a:prstGeom prst="roundRect">
            <a:avLst>
              <a:gd name="adj" fmla="val 6061"/>
            </a:avLst>
          </a:prstGeom>
          <a:solidFill>
            <a:srgbClr val="FAECF0"/>
          </a:solidFill>
          <a:ln w="12700">
            <a:solidFill>
              <a:srgbClr val="F0C2D0"/>
            </a:solidFill>
            <a:prstDash val="solid"/>
          </a:ln>
        </p:spPr>
      </p:sp>
      <p:sp>
        <p:nvSpPr>
          <p:cNvPr id="36" name="Shape 29"/>
          <p:cNvSpPr/>
          <p:nvPr/>
        </p:nvSpPr>
        <p:spPr>
          <a:xfrm>
            <a:off x="4654296" y="3895344"/>
            <a:ext cx="512064" cy="512064"/>
          </a:xfrm>
          <a:prstGeom prst="ellipse">
            <a:avLst/>
          </a:prstGeom>
          <a:solidFill>
            <a:srgbClr val="D1416B"/>
          </a:solidFill>
          <a:ln/>
        </p:spPr>
      </p:sp>
      <p:sp>
        <p:nvSpPr>
          <p:cNvPr id="37" name="Text 30"/>
          <p:cNvSpPr txBox="1"/>
          <p:nvPr/>
        </p:nvSpPr>
        <p:spPr>
          <a:xfrm>
            <a:off x="4654296" y="3895344"/>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8" name="Text 31"/>
          <p:cNvSpPr txBox="1"/>
          <p:nvPr/>
        </p:nvSpPr>
        <p:spPr>
          <a:xfrm>
            <a:off x="5294376" y="3895344"/>
            <a:ext cx="2286000" cy="512064"/>
          </a:xfrm>
          <a:prstGeom prst="rect">
            <a:avLst/>
          </a:prstGeom>
          <a:noFill/>
          <a:ln/>
        </p:spPr>
        <p:txBody>
          <a:bodyPr wrap="square" lIns="0" tIns="0" rIns="0" bIns="0" rtlCol="0" anchor="ctr"/>
          <a:lstStyle/>
          <a:p>
            <a:pPr indent="0" marL="0">
              <a:buNone/>
            </a:pPr>
            <a:r>
              <a:rPr lang="en-US" sz="2100" b="1" dirty="0">
                <a:solidFill>
                  <a:srgbClr val="D1416B"/>
                </a:solidFill>
                <a:latin typeface="Arial" pitchFamily="34" charset="0"/>
                <a:ea typeface="Arial" pitchFamily="34" charset="-122"/>
                <a:cs typeface="Arial" pitchFamily="34" charset="-120"/>
              </a:rPr>
              <a:t>Independent</a:t>
            </a:r>
            <a:endParaRPr lang="en-US" sz="2100" dirty="0"/>
          </a:p>
        </p:txBody>
      </p:sp>
      <p:sp>
        <p:nvSpPr>
          <p:cNvPr id="39" name="Text 32"/>
          <p:cNvSpPr txBox="1"/>
          <p:nvPr/>
        </p:nvSpPr>
        <p:spPr>
          <a:xfrm>
            <a:off x="4672584" y="4535424"/>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You start a cipher yourself. Finishing is optional.</a:t>
            </a:r>
            <a:endParaRPr lang="en-US" sz="1450" dirty="0"/>
          </a:p>
        </p:txBody>
      </p:sp>
      <p:sp>
        <p:nvSpPr>
          <p:cNvPr id="40" name="Shape 33"/>
          <p:cNvSpPr/>
          <p:nvPr/>
        </p:nvSpPr>
        <p:spPr>
          <a:xfrm>
            <a:off x="6967728" y="4462272"/>
            <a:ext cx="841248" cy="841248"/>
          </a:xfrm>
          <a:prstGeom prst="ellipse">
            <a:avLst/>
          </a:prstGeom>
          <a:solidFill>
            <a:srgbClr val="F6D9E1"/>
          </a:solidFill>
          <a:ln/>
        </p:spPr>
      </p:sp>
      <p:pic>
        <p:nvPicPr>
          <p:cNvPr id="41" name="Image 4" descr="preencoded.png">    </p:cNvPr>
          <p:cNvPicPr>
            <a:picLocks noChangeAspect="1"/>
          </p:cNvPicPr>
          <p:nvPr/>
        </p:nvPicPr>
        <p:blipFill>
          <a:blip r:embed="rId5"/>
          <a:stretch>
            <a:fillRect/>
          </a:stretch>
        </p:blipFill>
        <p:spPr>
          <a:xfrm>
            <a:off x="7194865" y="4689409"/>
            <a:ext cx="386974" cy="386974"/>
          </a:xfrm>
          <a:prstGeom prst="rect">
            <a:avLst/>
          </a:prstGeom>
        </p:spPr>
      </p:pic>
      <p:sp>
        <p:nvSpPr>
          <p:cNvPr id="42" name="Shape 34"/>
          <p:cNvSpPr/>
          <p:nvPr/>
        </p:nvSpPr>
        <p:spPr>
          <a:xfrm>
            <a:off x="8010144" y="4526280"/>
            <a:ext cx="182880" cy="0"/>
          </a:xfrm>
          <a:prstGeom prst="line">
            <a:avLst/>
          </a:prstGeom>
          <a:noFill/>
          <a:ln w="25400">
            <a:solidFill>
              <a:srgbClr val="9AA7BD"/>
            </a:solidFill>
            <a:prstDash val="solid"/>
            <a:tailEnd type="triangle"/>
          </a:ln>
        </p:spPr>
      </p:sp>
      <p:sp>
        <p:nvSpPr>
          <p:cNvPr id="43" name="Shape 35"/>
          <p:cNvSpPr/>
          <p:nvPr/>
        </p:nvSpPr>
        <p:spPr>
          <a:xfrm>
            <a:off x="8211312" y="3621024"/>
            <a:ext cx="3611880" cy="1810512"/>
          </a:xfrm>
          <a:prstGeom prst="roundRect">
            <a:avLst>
              <a:gd name="adj" fmla="val 6061"/>
            </a:avLst>
          </a:prstGeom>
          <a:solidFill>
            <a:srgbClr val="E8F3EF"/>
          </a:solidFill>
          <a:ln w="12700">
            <a:solidFill>
              <a:srgbClr val="B5D9CA"/>
            </a:solidFill>
            <a:prstDash val="solid"/>
          </a:ln>
        </p:spPr>
      </p:sp>
      <p:sp>
        <p:nvSpPr>
          <p:cNvPr id="44" name="Shape 36"/>
          <p:cNvSpPr/>
          <p:nvPr/>
        </p:nvSpPr>
        <p:spPr>
          <a:xfrm>
            <a:off x="8485632" y="3895344"/>
            <a:ext cx="512064" cy="512064"/>
          </a:xfrm>
          <a:prstGeom prst="ellipse">
            <a:avLst/>
          </a:prstGeom>
          <a:solidFill>
            <a:srgbClr val="17875A"/>
          </a:solidFill>
          <a:ln/>
        </p:spPr>
      </p:sp>
      <p:sp>
        <p:nvSpPr>
          <p:cNvPr id="45" name="Text 37"/>
          <p:cNvSpPr txBox="1"/>
          <p:nvPr/>
        </p:nvSpPr>
        <p:spPr>
          <a:xfrm>
            <a:off x="8485632" y="3895344"/>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46" name="Text 38"/>
          <p:cNvSpPr txBox="1"/>
          <p:nvPr/>
        </p:nvSpPr>
        <p:spPr>
          <a:xfrm>
            <a:off x="9125712" y="3895344"/>
            <a:ext cx="2286000" cy="512064"/>
          </a:xfrm>
          <a:prstGeom prst="rect">
            <a:avLst/>
          </a:prstGeom>
          <a:noFill/>
          <a:ln/>
        </p:spPr>
        <p:txBody>
          <a:bodyPr wrap="square" lIns="0" tIns="0" rIns="0" bIns="0" rtlCol="0" anchor="ctr"/>
          <a:lstStyle/>
          <a:p>
            <a:pPr indent="0" marL="0">
              <a:buNone/>
            </a:pPr>
            <a:r>
              <a:rPr lang="en-US" sz="2100" b="1" dirty="0">
                <a:solidFill>
                  <a:srgbClr val="17875A"/>
                </a:solidFill>
                <a:latin typeface="Arial" pitchFamily="34" charset="0"/>
                <a:ea typeface="Arial" pitchFamily="34" charset="-122"/>
                <a:cs typeface="Arial" pitchFamily="34" charset="-120"/>
              </a:rPr>
              <a:t>Reflection</a:t>
            </a:r>
            <a:endParaRPr lang="en-US" sz="2100" dirty="0"/>
          </a:p>
        </p:txBody>
      </p:sp>
      <p:sp>
        <p:nvSpPr>
          <p:cNvPr id="47" name="Text 39"/>
          <p:cNvSpPr txBox="1"/>
          <p:nvPr/>
        </p:nvSpPr>
        <p:spPr>
          <a:xfrm>
            <a:off x="8503920" y="4535424"/>
            <a:ext cx="2148840" cy="82296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Why it worked, and where this leads.</a:t>
            </a:r>
            <a:endParaRPr lang="en-US" sz="1450" dirty="0"/>
          </a:p>
        </p:txBody>
      </p:sp>
      <p:sp>
        <p:nvSpPr>
          <p:cNvPr id="48" name="Shape 40"/>
          <p:cNvSpPr/>
          <p:nvPr/>
        </p:nvSpPr>
        <p:spPr>
          <a:xfrm>
            <a:off x="10799064" y="4462272"/>
            <a:ext cx="841248" cy="841248"/>
          </a:xfrm>
          <a:prstGeom prst="ellipse">
            <a:avLst/>
          </a:prstGeom>
          <a:solidFill>
            <a:srgbClr val="D1E7DE"/>
          </a:solidFill>
          <a:ln/>
        </p:spPr>
      </p:sp>
      <p:pic>
        <p:nvPicPr>
          <p:cNvPr id="49" name="Image 5" descr="preencoded.png">    </p:cNvPr>
          <p:cNvPicPr>
            <a:picLocks noChangeAspect="1"/>
          </p:cNvPicPr>
          <p:nvPr/>
        </p:nvPicPr>
        <p:blipFill>
          <a:blip r:embed="rId6"/>
          <a:stretch>
            <a:fillRect/>
          </a:stretch>
        </p:blipFill>
        <p:spPr>
          <a:xfrm>
            <a:off x="11026201" y="4689409"/>
            <a:ext cx="386974" cy="386974"/>
          </a:xfrm>
          <a:prstGeom prst="rect">
            <a:avLst/>
          </a:prstGeom>
        </p:spPr>
      </p:pic>
      <p:sp>
        <p:nvSpPr>
          <p:cNvPr id="50" name="Text 41"/>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 / 61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What is a crypto CTF?</a:t>
            </a:r>
            <a:endParaRPr lang="en-US" sz="3200" dirty="0"/>
          </a:p>
        </p:txBody>
      </p:sp>
      <p:sp>
        <p:nvSpPr>
          <p:cNvPr id="4" name="Shape 1"/>
          <p:cNvSpPr/>
          <p:nvPr/>
        </p:nvSpPr>
        <p:spPr>
          <a:xfrm>
            <a:off x="548640" y="1508760"/>
            <a:ext cx="11094415" cy="1371600"/>
          </a:xfrm>
          <a:prstGeom prst="roundRect">
            <a:avLst>
              <a:gd name="adj" fmla="val 6667"/>
            </a:avLst>
          </a:prstGeom>
          <a:solidFill>
            <a:srgbClr val="0E1726"/>
          </a:solidFill>
          <a:ln/>
        </p:spPr>
      </p:sp>
      <p:sp>
        <p:nvSpPr>
          <p:cNvPr id="5" name="Text 2"/>
          <p:cNvSpPr txBox="1"/>
          <p:nvPr/>
        </p:nvSpPr>
        <p:spPr>
          <a:xfrm>
            <a:off x="548640" y="1508760"/>
            <a:ext cx="11094415" cy="1371600"/>
          </a:xfrm>
          <a:prstGeom prst="rect">
            <a:avLst/>
          </a:prstGeom>
          <a:noFill/>
          <a:ln/>
        </p:spPr>
        <p:txBody>
          <a:bodyPr wrap="square" lIns="0" tIns="0" rIns="0" bIns="0" rtlCol="0" anchor="ctr"/>
          <a:lstStyle/>
          <a:p>
            <a:pPr algn="ctr" indent="0" marL="0">
              <a:buNone/>
            </a:pPr>
            <a:r>
              <a:rPr lang="en-US" sz="2600" b="1" dirty="0">
                <a:solidFill>
                  <a:srgbClr val="7F8FAD"/>
                </a:solidFill>
                <a:latin typeface="Courier New" pitchFamily="34" charset="0"/>
                <a:ea typeface="Courier New" pitchFamily="34" charset="-122"/>
                <a:cs typeface="Courier New" pitchFamily="34" charset="-120"/>
              </a:rPr>
              <a:t>PLON{pnrfne-4p8p640o}</a:t>
            </a:r>
            <a:pPr algn="ctr" indent="0" marL="0">
              <a:buNone/>
            </a:pPr>
            <a:r>
              <a:rPr lang="en-US" sz="2600" b="1" dirty="0">
                <a:solidFill>
                  <a:srgbClr val="56657E"/>
                </a:solidFill>
                <a:latin typeface="Courier New" pitchFamily="34" charset="0"/>
                <a:ea typeface="Courier New" pitchFamily="34" charset="-122"/>
                <a:cs typeface="Courier New" pitchFamily="34" charset="-120"/>
              </a:rPr>
              <a:t>   &gt;   </a:t>
            </a:r>
            <a:pPr algn="ctr" indent="0" marL="0">
              <a:buNone/>
            </a:pPr>
            <a:r>
              <a:rPr lang="en-US" sz="2600" b="1" dirty="0">
                <a:solidFill>
                  <a:srgbClr val="7FB2FF"/>
                </a:solidFill>
                <a:latin typeface="Courier New" pitchFamily="34" charset="0"/>
                <a:ea typeface="Courier New" pitchFamily="34" charset="-122"/>
                <a:cs typeface="Courier New" pitchFamily="34" charset="-120"/>
              </a:rPr>
              <a:t>CYBA</a:t>
            </a:r>
            <a:pPr algn="ctr" indent="0" marL="0">
              <a:buNone/>
            </a:pPr>
            <a:r>
              <a:rPr lang="en-US" sz="2600" b="1" dirty="0">
                <a:solidFill>
                  <a:srgbClr val="F5A623"/>
                </a:solidFill>
                <a:latin typeface="Courier New" pitchFamily="34" charset="0"/>
                <a:ea typeface="Courier New" pitchFamily="34" charset="-122"/>
                <a:cs typeface="Courier New" pitchFamily="34" charset="-120"/>
              </a:rPr>
              <a:t>{</a:t>
            </a:r>
            <a:pPr algn="ctr" indent="0" marL="0">
              <a:buNone/>
            </a:pPr>
            <a:r>
              <a:rPr lang="en-US" sz="2600" b="1" dirty="0">
                <a:solidFill>
                  <a:srgbClr val="46D39A"/>
                </a:solidFill>
                <a:latin typeface="Courier New" pitchFamily="34" charset="0"/>
                <a:ea typeface="Courier New" pitchFamily="34" charset="-122"/>
                <a:cs typeface="Courier New" pitchFamily="34" charset="-120"/>
              </a:rPr>
              <a:t>caesar-4c8c640b</a:t>
            </a:r>
            <a:pPr algn="ctr" indent="0" marL="0">
              <a:buNone/>
            </a:pPr>
            <a:r>
              <a:rPr lang="en-US" sz="2600" b="1" dirty="0">
                <a:solidFill>
                  <a:srgbClr val="F5A623"/>
                </a:solidFill>
                <a:latin typeface="Courier New" pitchFamily="34" charset="0"/>
                <a:ea typeface="Courier New" pitchFamily="34" charset="-122"/>
                <a:cs typeface="Courier New" pitchFamily="34" charset="-120"/>
              </a:rPr>
              <a:t>}</a:t>
            </a:r>
            <a:endParaRPr lang="en-US" sz="2600" dirty="0"/>
          </a:p>
        </p:txBody>
      </p:sp>
      <p:sp>
        <p:nvSpPr>
          <p:cNvPr id="6" name="Shape 3"/>
          <p:cNvSpPr/>
          <p:nvPr/>
        </p:nvSpPr>
        <p:spPr>
          <a:xfrm>
            <a:off x="548640" y="3154680"/>
            <a:ext cx="3566160" cy="1508760"/>
          </a:xfrm>
          <a:prstGeom prst="roundRect">
            <a:avLst>
              <a:gd name="adj" fmla="val 6061"/>
            </a:avLst>
          </a:prstGeom>
          <a:solidFill>
            <a:srgbClr val="F1F5FB"/>
          </a:solidFill>
          <a:ln/>
        </p:spPr>
      </p:sp>
      <p:sp>
        <p:nvSpPr>
          <p:cNvPr id="7" name="Text 4"/>
          <p:cNvSpPr txBox="1"/>
          <p:nvPr/>
        </p:nvSpPr>
        <p:spPr>
          <a:xfrm>
            <a:off x="777240" y="3291840"/>
            <a:ext cx="3108960" cy="365760"/>
          </a:xfrm>
          <a:prstGeom prst="rect">
            <a:avLst/>
          </a:prstGeom>
          <a:noFill/>
          <a:ln/>
        </p:spPr>
        <p:txBody>
          <a:bodyPr wrap="square" lIns="0" tIns="0" rIns="0" bIns="0" rtlCol="0" anchor="t"/>
          <a:lstStyle/>
          <a:p>
            <a:pPr indent="0" marL="0">
              <a:buNone/>
            </a:pPr>
            <a:r>
              <a:rPr lang="en-US" sz="1900" b="1" dirty="0">
                <a:solidFill>
                  <a:srgbClr val="C07A00"/>
                </a:solidFill>
                <a:latin typeface="Courier New" pitchFamily="34" charset="0"/>
                <a:ea typeface="Courier New" pitchFamily="34" charset="-122"/>
                <a:cs typeface="Courier New" pitchFamily="34" charset="-120"/>
              </a:rPr>
              <a:t>Scrambled</a:t>
            </a:r>
            <a:endParaRPr lang="en-US" sz="1900" dirty="0"/>
          </a:p>
        </p:txBody>
      </p:sp>
      <p:sp>
        <p:nvSpPr>
          <p:cNvPr id="8" name="Text 5"/>
          <p:cNvSpPr txBox="1"/>
          <p:nvPr/>
        </p:nvSpPr>
        <p:spPr>
          <a:xfrm>
            <a:off x="777240" y="3703320"/>
            <a:ext cx="3108960" cy="320040"/>
          </a:xfrm>
          <a:prstGeom prst="rect">
            <a:avLst/>
          </a:prstGeom>
          <a:noFill/>
          <a:ln/>
        </p:spPr>
        <p:txBody>
          <a:bodyPr wrap="square" lIns="0" tIns="0" rIns="0" bIns="0" rtlCol="0" anchor="t"/>
          <a:lstStyle/>
          <a:p>
            <a:pPr indent="0" marL="0">
              <a:buNone/>
            </a:pPr>
            <a:r>
              <a:rPr lang="en-US" sz="1600" b="1" dirty="0">
                <a:solidFill>
                  <a:srgbClr val="12213A"/>
                </a:solidFill>
                <a:latin typeface="Calibri" pitchFamily="34" charset="0"/>
                <a:ea typeface="Calibri" pitchFamily="34" charset="-122"/>
                <a:cs typeface="Calibri" pitchFamily="34" charset="-120"/>
              </a:rPr>
              <a:t>What you're given</a:t>
            </a:r>
            <a:endParaRPr lang="en-US" sz="1600" dirty="0"/>
          </a:p>
        </p:txBody>
      </p:sp>
      <p:sp>
        <p:nvSpPr>
          <p:cNvPr id="9" name="Text 6"/>
          <p:cNvSpPr txBox="1"/>
          <p:nvPr/>
        </p:nvSpPr>
        <p:spPr>
          <a:xfrm>
            <a:off x="777240" y="4041648"/>
            <a:ext cx="3154680" cy="54864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A flag hidden in base64, hex, a cipher or a hash.</a:t>
            </a:r>
            <a:endParaRPr lang="en-US" sz="1400" dirty="0"/>
          </a:p>
        </p:txBody>
      </p:sp>
      <p:sp>
        <p:nvSpPr>
          <p:cNvPr id="10" name="Shape 7"/>
          <p:cNvSpPr/>
          <p:nvPr/>
        </p:nvSpPr>
        <p:spPr>
          <a:xfrm>
            <a:off x="4306824" y="3154680"/>
            <a:ext cx="3566160" cy="1508760"/>
          </a:xfrm>
          <a:prstGeom prst="roundRect">
            <a:avLst>
              <a:gd name="adj" fmla="val 6061"/>
            </a:avLst>
          </a:prstGeom>
          <a:solidFill>
            <a:srgbClr val="F1F5FB"/>
          </a:solidFill>
          <a:ln/>
        </p:spPr>
      </p:sp>
      <p:sp>
        <p:nvSpPr>
          <p:cNvPr id="11" name="Text 8"/>
          <p:cNvSpPr txBox="1"/>
          <p:nvPr/>
        </p:nvSpPr>
        <p:spPr>
          <a:xfrm>
            <a:off x="4535424" y="3291840"/>
            <a:ext cx="3108960" cy="365760"/>
          </a:xfrm>
          <a:prstGeom prst="rect">
            <a:avLst/>
          </a:prstGeom>
          <a:noFill/>
          <a:ln/>
        </p:spPr>
        <p:txBody>
          <a:bodyPr wrap="square" lIns="0" tIns="0" rIns="0" bIns="0" rtlCol="0" anchor="t"/>
          <a:lstStyle/>
          <a:p>
            <a:pPr indent="0" marL="0">
              <a:buNone/>
            </a:pPr>
            <a:r>
              <a:rPr lang="en-US" sz="1900" b="1" dirty="0">
                <a:solidFill>
                  <a:srgbClr val="2459D8"/>
                </a:solidFill>
                <a:latin typeface="Courier New" pitchFamily="34" charset="0"/>
                <a:ea typeface="Courier New" pitchFamily="34" charset="-122"/>
                <a:cs typeface="Courier New" pitchFamily="34" charset="-120"/>
              </a:rPr>
              <a:t>Undo it</a:t>
            </a:r>
            <a:endParaRPr lang="en-US" sz="1900" dirty="0"/>
          </a:p>
        </p:txBody>
      </p:sp>
      <p:sp>
        <p:nvSpPr>
          <p:cNvPr id="12" name="Text 9"/>
          <p:cNvSpPr txBox="1"/>
          <p:nvPr/>
        </p:nvSpPr>
        <p:spPr>
          <a:xfrm>
            <a:off x="4535424" y="3703320"/>
            <a:ext cx="3108960" cy="320040"/>
          </a:xfrm>
          <a:prstGeom prst="rect">
            <a:avLst/>
          </a:prstGeom>
          <a:noFill/>
          <a:ln/>
        </p:spPr>
        <p:txBody>
          <a:bodyPr wrap="square" lIns="0" tIns="0" rIns="0" bIns="0" rtlCol="0" anchor="t"/>
          <a:lstStyle/>
          <a:p>
            <a:pPr indent="0" marL="0">
              <a:buNone/>
            </a:pPr>
            <a:r>
              <a:rPr lang="en-US" sz="1600" b="1" dirty="0">
                <a:solidFill>
                  <a:srgbClr val="12213A"/>
                </a:solidFill>
                <a:latin typeface="Calibri" pitchFamily="34" charset="0"/>
                <a:ea typeface="Calibri" pitchFamily="34" charset="-122"/>
                <a:cs typeface="Calibri" pitchFamily="34" charset="-120"/>
              </a:rPr>
              <a:t>Your job</a:t>
            </a:r>
            <a:endParaRPr lang="en-US" sz="1600" dirty="0"/>
          </a:p>
        </p:txBody>
      </p:sp>
      <p:sp>
        <p:nvSpPr>
          <p:cNvPr id="13" name="Text 10"/>
          <p:cNvSpPr txBox="1"/>
          <p:nvPr/>
        </p:nvSpPr>
        <p:spPr>
          <a:xfrm>
            <a:off x="4535424" y="4041648"/>
            <a:ext cx="3154680" cy="54864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Spot the method, pick the tool, reverse it.</a:t>
            </a:r>
            <a:endParaRPr lang="en-US" sz="1400" dirty="0"/>
          </a:p>
        </p:txBody>
      </p:sp>
      <p:sp>
        <p:nvSpPr>
          <p:cNvPr id="14" name="Shape 11"/>
          <p:cNvSpPr/>
          <p:nvPr/>
        </p:nvSpPr>
        <p:spPr>
          <a:xfrm>
            <a:off x="8065008" y="3154680"/>
            <a:ext cx="3566160" cy="1508760"/>
          </a:xfrm>
          <a:prstGeom prst="roundRect">
            <a:avLst>
              <a:gd name="adj" fmla="val 6061"/>
            </a:avLst>
          </a:prstGeom>
          <a:solidFill>
            <a:srgbClr val="F1F5FB"/>
          </a:solidFill>
          <a:ln/>
        </p:spPr>
      </p:sp>
      <p:sp>
        <p:nvSpPr>
          <p:cNvPr id="15" name="Text 12"/>
          <p:cNvSpPr txBox="1"/>
          <p:nvPr/>
        </p:nvSpPr>
        <p:spPr>
          <a:xfrm>
            <a:off x="8293608" y="3291840"/>
            <a:ext cx="3108960" cy="365760"/>
          </a:xfrm>
          <a:prstGeom prst="rect">
            <a:avLst/>
          </a:prstGeom>
          <a:noFill/>
          <a:ln/>
        </p:spPr>
        <p:txBody>
          <a:bodyPr wrap="square" lIns="0" tIns="0" rIns="0" bIns="0" rtlCol="0" anchor="t"/>
          <a:lstStyle/>
          <a:p>
            <a:pPr indent="0" marL="0">
              <a:buNone/>
            </a:pPr>
            <a:r>
              <a:rPr lang="en-US" sz="1900" b="1" dirty="0">
                <a:solidFill>
                  <a:srgbClr val="17875A"/>
                </a:solidFill>
                <a:latin typeface="Courier New" pitchFamily="34" charset="0"/>
                <a:ea typeface="Courier New" pitchFamily="34" charset="-122"/>
                <a:cs typeface="Courier New" pitchFamily="34" charset="-120"/>
              </a:rPr>
              <a:t>CYBA{...}</a:t>
            </a:r>
            <a:endParaRPr lang="en-US" sz="1900" dirty="0"/>
          </a:p>
        </p:txBody>
      </p:sp>
      <p:sp>
        <p:nvSpPr>
          <p:cNvPr id="16" name="Text 13"/>
          <p:cNvSpPr txBox="1"/>
          <p:nvPr/>
        </p:nvSpPr>
        <p:spPr>
          <a:xfrm>
            <a:off x="8293608" y="3703320"/>
            <a:ext cx="3108960" cy="320040"/>
          </a:xfrm>
          <a:prstGeom prst="rect">
            <a:avLst/>
          </a:prstGeom>
          <a:noFill/>
          <a:ln/>
        </p:spPr>
        <p:txBody>
          <a:bodyPr wrap="square" lIns="0" tIns="0" rIns="0" bIns="0" rtlCol="0" anchor="t"/>
          <a:lstStyle/>
          <a:p>
            <a:pPr indent="0" marL="0">
              <a:buNone/>
            </a:pPr>
            <a:r>
              <a:rPr lang="en-US" sz="1600" b="1" dirty="0">
                <a:solidFill>
                  <a:srgbClr val="12213A"/>
                </a:solidFill>
                <a:latin typeface="Calibri" pitchFamily="34" charset="0"/>
                <a:ea typeface="Calibri" pitchFamily="34" charset="-122"/>
                <a:cs typeface="Calibri" pitchFamily="34" charset="-120"/>
              </a:rPr>
              <a:t>The proof</a:t>
            </a:r>
            <a:endParaRPr lang="en-US" sz="1600" dirty="0"/>
          </a:p>
        </p:txBody>
      </p:sp>
      <p:sp>
        <p:nvSpPr>
          <p:cNvPr id="17" name="Text 14"/>
          <p:cNvSpPr txBox="1"/>
          <p:nvPr/>
        </p:nvSpPr>
        <p:spPr>
          <a:xfrm>
            <a:off x="8293608" y="4041648"/>
            <a:ext cx="3154680" cy="54864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Readable text and CYBA{ at the start: you cracked it.</a:t>
            </a:r>
            <a:endParaRPr lang="en-US" sz="1400" dirty="0"/>
          </a:p>
        </p:txBody>
      </p:sp>
      <p:sp>
        <p:nvSpPr>
          <p:cNvPr id="18" name="Shape 15"/>
          <p:cNvSpPr/>
          <p:nvPr/>
        </p:nvSpPr>
        <p:spPr>
          <a:xfrm>
            <a:off x="548640" y="4983480"/>
            <a:ext cx="2377440" cy="914400"/>
          </a:xfrm>
          <a:prstGeom prst="roundRect">
            <a:avLst>
              <a:gd name="adj" fmla="val 10000"/>
            </a:avLst>
          </a:prstGeom>
          <a:solidFill>
            <a:srgbClr val="2A9FD6"/>
          </a:solidFill>
          <a:ln/>
        </p:spPr>
      </p:sp>
      <p:sp>
        <p:nvSpPr>
          <p:cNvPr id="19" name="Text 16"/>
          <p:cNvSpPr txBox="1"/>
          <p:nvPr/>
        </p:nvSpPr>
        <p:spPr>
          <a:xfrm>
            <a:off x="548640" y="4983480"/>
            <a:ext cx="237744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Identify</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the code</a:t>
            </a:r>
            <a:endParaRPr lang="en-US" sz="2000" dirty="0"/>
          </a:p>
        </p:txBody>
      </p:sp>
      <p:sp>
        <p:nvSpPr>
          <p:cNvPr id="20" name="Text 17"/>
          <p:cNvSpPr txBox="1"/>
          <p:nvPr/>
        </p:nvSpPr>
        <p:spPr>
          <a:xfrm>
            <a:off x="2926080" y="4983480"/>
            <a:ext cx="429768" cy="914400"/>
          </a:xfrm>
          <a:prstGeom prst="rect">
            <a:avLst/>
          </a:prstGeom>
          <a:noFill/>
          <a:ln/>
        </p:spPr>
        <p:txBody>
          <a:bodyPr wrap="square" lIns="0" tIns="0" rIns="0" bIns="0" rtlCol="0" anchor="ctr"/>
          <a:lstStyle/>
          <a:p>
            <a:pPr algn="ctr" indent="0" marL="0">
              <a:buNone/>
            </a:pPr>
            <a:r>
              <a:rPr lang="en-US" sz="2400" b="1" dirty="0">
                <a:solidFill>
                  <a:srgbClr val="56657E"/>
                </a:solidFill>
                <a:latin typeface="Courier New" pitchFamily="34" charset="0"/>
                <a:ea typeface="Courier New" pitchFamily="34" charset="-122"/>
                <a:cs typeface="Courier New" pitchFamily="34" charset="-120"/>
              </a:rPr>
              <a:t>&gt;</a:t>
            </a:r>
            <a:endParaRPr lang="en-US" sz="2400" dirty="0"/>
          </a:p>
        </p:txBody>
      </p:sp>
      <p:sp>
        <p:nvSpPr>
          <p:cNvPr id="21" name="Shape 18"/>
          <p:cNvSpPr/>
          <p:nvPr/>
        </p:nvSpPr>
        <p:spPr>
          <a:xfrm>
            <a:off x="3355848" y="4983480"/>
            <a:ext cx="2377440" cy="914400"/>
          </a:xfrm>
          <a:prstGeom prst="roundRect">
            <a:avLst>
              <a:gd name="adj" fmla="val 10000"/>
            </a:avLst>
          </a:prstGeom>
          <a:solidFill>
            <a:srgbClr val="2459D8"/>
          </a:solidFill>
          <a:ln/>
        </p:spPr>
      </p:sp>
      <p:sp>
        <p:nvSpPr>
          <p:cNvPr id="22" name="Text 19"/>
          <p:cNvSpPr txBox="1"/>
          <p:nvPr/>
        </p:nvSpPr>
        <p:spPr>
          <a:xfrm>
            <a:off x="3355848" y="4983480"/>
            <a:ext cx="237744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Decode</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with the right tool</a:t>
            </a:r>
            <a:endParaRPr lang="en-US" sz="2000" dirty="0"/>
          </a:p>
        </p:txBody>
      </p:sp>
      <p:sp>
        <p:nvSpPr>
          <p:cNvPr id="23" name="Text 20"/>
          <p:cNvSpPr txBox="1"/>
          <p:nvPr/>
        </p:nvSpPr>
        <p:spPr>
          <a:xfrm>
            <a:off x="5733288" y="4983480"/>
            <a:ext cx="429768" cy="914400"/>
          </a:xfrm>
          <a:prstGeom prst="rect">
            <a:avLst/>
          </a:prstGeom>
          <a:noFill/>
          <a:ln/>
        </p:spPr>
        <p:txBody>
          <a:bodyPr wrap="square" lIns="0" tIns="0" rIns="0" bIns="0" rtlCol="0" anchor="ctr"/>
          <a:lstStyle/>
          <a:p>
            <a:pPr algn="ctr" indent="0" marL="0">
              <a:buNone/>
            </a:pPr>
            <a:r>
              <a:rPr lang="en-US" sz="2400" b="1" dirty="0">
                <a:solidFill>
                  <a:srgbClr val="56657E"/>
                </a:solidFill>
                <a:latin typeface="Courier New" pitchFamily="34" charset="0"/>
                <a:ea typeface="Courier New" pitchFamily="34" charset="-122"/>
                <a:cs typeface="Courier New" pitchFamily="34" charset="-120"/>
              </a:rPr>
              <a:t>&gt;</a:t>
            </a:r>
            <a:endParaRPr lang="en-US" sz="2400" dirty="0"/>
          </a:p>
        </p:txBody>
      </p:sp>
      <p:sp>
        <p:nvSpPr>
          <p:cNvPr id="24" name="Shape 21"/>
          <p:cNvSpPr/>
          <p:nvPr/>
        </p:nvSpPr>
        <p:spPr>
          <a:xfrm>
            <a:off x="6163056" y="4983480"/>
            <a:ext cx="2377440" cy="914400"/>
          </a:xfrm>
          <a:prstGeom prst="roundRect">
            <a:avLst>
              <a:gd name="adj" fmla="val 10000"/>
            </a:avLst>
          </a:prstGeom>
          <a:solidFill>
            <a:srgbClr val="7448D4"/>
          </a:solidFill>
          <a:ln/>
        </p:spPr>
      </p:sp>
      <p:sp>
        <p:nvSpPr>
          <p:cNvPr id="25" name="Text 22"/>
          <p:cNvSpPr txBox="1"/>
          <p:nvPr/>
        </p:nvSpPr>
        <p:spPr>
          <a:xfrm>
            <a:off x="6163056" y="4983480"/>
            <a:ext cx="237744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Submit</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the whole flag</a:t>
            </a:r>
            <a:endParaRPr lang="en-US" sz="2000" dirty="0"/>
          </a:p>
        </p:txBody>
      </p:sp>
      <p:sp>
        <p:nvSpPr>
          <p:cNvPr id="26" name="Text 23"/>
          <p:cNvSpPr txBox="1"/>
          <p:nvPr/>
        </p:nvSpPr>
        <p:spPr>
          <a:xfrm>
            <a:off x="8540496" y="4983480"/>
            <a:ext cx="429768" cy="914400"/>
          </a:xfrm>
          <a:prstGeom prst="rect">
            <a:avLst/>
          </a:prstGeom>
          <a:noFill/>
          <a:ln/>
        </p:spPr>
        <p:txBody>
          <a:bodyPr wrap="square" lIns="0" tIns="0" rIns="0" bIns="0" rtlCol="0" anchor="ctr"/>
          <a:lstStyle/>
          <a:p>
            <a:pPr algn="ctr" indent="0" marL="0">
              <a:buNone/>
            </a:pPr>
            <a:r>
              <a:rPr lang="en-US" sz="2400" b="1" dirty="0">
                <a:solidFill>
                  <a:srgbClr val="56657E"/>
                </a:solidFill>
                <a:latin typeface="Courier New" pitchFamily="34" charset="0"/>
                <a:ea typeface="Courier New" pitchFamily="34" charset="-122"/>
                <a:cs typeface="Courier New" pitchFamily="34" charset="-120"/>
              </a:rPr>
              <a:t>&gt;</a:t>
            </a:r>
            <a:endParaRPr lang="en-US" sz="2400" dirty="0"/>
          </a:p>
        </p:txBody>
      </p:sp>
      <p:sp>
        <p:nvSpPr>
          <p:cNvPr id="27" name="Shape 24"/>
          <p:cNvSpPr/>
          <p:nvPr/>
        </p:nvSpPr>
        <p:spPr>
          <a:xfrm>
            <a:off x="8970264" y="4983480"/>
            <a:ext cx="2377440" cy="914400"/>
          </a:xfrm>
          <a:prstGeom prst="roundRect">
            <a:avLst>
              <a:gd name="adj" fmla="val 10000"/>
            </a:avLst>
          </a:prstGeom>
          <a:solidFill>
            <a:srgbClr val="D1416B"/>
          </a:solidFill>
          <a:ln/>
        </p:spPr>
      </p:sp>
      <p:sp>
        <p:nvSpPr>
          <p:cNvPr id="28" name="Text 25"/>
          <p:cNvSpPr txBox="1"/>
          <p:nvPr/>
        </p:nvSpPr>
        <p:spPr>
          <a:xfrm>
            <a:off x="8970264" y="4983480"/>
            <a:ext cx="237744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Score</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points on the board</a:t>
            </a:r>
            <a:endParaRPr lang="en-US" sz="2000" dirty="0"/>
          </a:p>
        </p:txBody>
      </p:sp>
      <p:sp>
        <p:nvSpPr>
          <p:cNvPr id="29" name="Text 2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3 / 61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The flow of every challenge</a:t>
            </a:r>
            <a:endParaRPr lang="en-US" sz="3200" dirty="0"/>
          </a:p>
        </p:txBody>
      </p:sp>
      <p:sp>
        <p:nvSpPr>
          <p:cNvPr id="4" name="Shape 1"/>
          <p:cNvSpPr/>
          <p:nvPr/>
        </p:nvSpPr>
        <p:spPr>
          <a:xfrm>
            <a:off x="548640" y="1508760"/>
            <a:ext cx="2606040" cy="2011680"/>
          </a:xfrm>
          <a:prstGeom prst="roundRect">
            <a:avLst>
              <a:gd name="adj" fmla="val 4545"/>
            </a:avLst>
          </a:prstGeom>
          <a:solidFill>
            <a:srgbClr val="F1F5FB"/>
          </a:solidFill>
          <a:ln/>
        </p:spPr>
      </p:sp>
      <p:sp>
        <p:nvSpPr>
          <p:cNvPr id="5" name="Shape 2"/>
          <p:cNvSpPr/>
          <p:nvPr/>
        </p:nvSpPr>
        <p:spPr>
          <a:xfrm>
            <a:off x="1417320" y="1737360"/>
            <a:ext cx="822960" cy="822960"/>
          </a:xfrm>
          <a:prstGeom prst="ellipse">
            <a:avLst/>
          </a:prstGeom>
          <a:solidFill>
            <a:srgbClr val="17875A"/>
          </a:solidFill>
          <a:ln/>
        </p:spPr>
      </p:sp>
      <p:pic>
        <p:nvPicPr>
          <p:cNvPr id="6" name="Image 0" descr="preencoded.png">    </p:cNvPr>
          <p:cNvPicPr>
            <a:picLocks noChangeAspect="1"/>
          </p:cNvPicPr>
          <p:nvPr/>
        </p:nvPicPr>
        <p:blipFill>
          <a:blip r:embed="rId1"/>
          <a:stretch>
            <a:fillRect/>
          </a:stretch>
        </p:blipFill>
        <p:spPr>
          <a:xfrm>
            <a:off x="1623060" y="1943100"/>
            <a:ext cx="411480" cy="411480"/>
          </a:xfrm>
          <a:prstGeom prst="rect">
            <a:avLst/>
          </a:prstGeom>
        </p:spPr>
      </p:pic>
      <p:sp>
        <p:nvSpPr>
          <p:cNvPr id="7" name="Text 3"/>
          <p:cNvSpPr txBox="1"/>
          <p:nvPr/>
        </p:nvSpPr>
        <p:spPr>
          <a:xfrm>
            <a:off x="685800" y="267919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Read</a:t>
            </a:r>
            <a:endParaRPr lang="en-US" sz="2000" dirty="0"/>
          </a:p>
        </p:txBody>
      </p:sp>
      <p:sp>
        <p:nvSpPr>
          <p:cNvPr id="8" name="Text 4"/>
          <p:cNvSpPr txBox="1"/>
          <p:nvPr/>
        </p:nvSpPr>
        <p:spPr>
          <a:xfrm>
            <a:off x="685800" y="308152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the challenge</a:t>
            </a:r>
            <a:endParaRPr lang="en-US" sz="1400" dirty="0"/>
          </a:p>
        </p:txBody>
      </p:sp>
      <p:sp>
        <p:nvSpPr>
          <p:cNvPr id="9" name="Text 5"/>
          <p:cNvSpPr txBox="1"/>
          <p:nvPr/>
        </p:nvSpPr>
        <p:spPr>
          <a:xfrm>
            <a:off x="3154680" y="201168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10" name="Shape 6"/>
          <p:cNvSpPr/>
          <p:nvPr/>
        </p:nvSpPr>
        <p:spPr>
          <a:xfrm>
            <a:off x="3364992" y="1508760"/>
            <a:ext cx="2606040" cy="2011680"/>
          </a:xfrm>
          <a:prstGeom prst="roundRect">
            <a:avLst>
              <a:gd name="adj" fmla="val 4545"/>
            </a:avLst>
          </a:prstGeom>
          <a:solidFill>
            <a:srgbClr val="F1F5FB"/>
          </a:solidFill>
          <a:ln/>
        </p:spPr>
      </p:sp>
      <p:sp>
        <p:nvSpPr>
          <p:cNvPr id="11" name="Shape 7"/>
          <p:cNvSpPr/>
          <p:nvPr/>
        </p:nvSpPr>
        <p:spPr>
          <a:xfrm>
            <a:off x="4233672" y="1737360"/>
            <a:ext cx="822960" cy="822960"/>
          </a:xfrm>
          <a:prstGeom prst="ellipse">
            <a:avLst/>
          </a:prstGeom>
          <a:solidFill>
            <a:srgbClr val="2A9FD6"/>
          </a:solidFill>
          <a:ln/>
        </p:spPr>
      </p:sp>
      <p:pic>
        <p:nvPicPr>
          <p:cNvPr id="12" name="Image 1" descr="preencoded.png">    </p:cNvPr>
          <p:cNvPicPr>
            <a:picLocks noChangeAspect="1"/>
          </p:cNvPicPr>
          <p:nvPr/>
        </p:nvPicPr>
        <p:blipFill>
          <a:blip r:embed="rId2"/>
          <a:stretch>
            <a:fillRect/>
          </a:stretch>
        </p:blipFill>
        <p:spPr>
          <a:xfrm>
            <a:off x="4439412" y="1943100"/>
            <a:ext cx="411480" cy="411480"/>
          </a:xfrm>
          <a:prstGeom prst="rect">
            <a:avLst/>
          </a:prstGeom>
        </p:spPr>
      </p:pic>
      <p:sp>
        <p:nvSpPr>
          <p:cNvPr id="13" name="Text 8"/>
          <p:cNvSpPr txBox="1"/>
          <p:nvPr/>
        </p:nvSpPr>
        <p:spPr>
          <a:xfrm>
            <a:off x="3502152" y="267919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Observe</a:t>
            </a:r>
            <a:endParaRPr lang="en-US" sz="2000" dirty="0"/>
          </a:p>
        </p:txBody>
      </p:sp>
      <p:sp>
        <p:nvSpPr>
          <p:cNvPr id="14" name="Text 9"/>
          <p:cNvSpPr txBox="1"/>
          <p:nvPr/>
        </p:nvSpPr>
        <p:spPr>
          <a:xfrm>
            <a:off x="3502152" y="308152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the clues</a:t>
            </a:r>
            <a:endParaRPr lang="en-US" sz="1400" dirty="0"/>
          </a:p>
        </p:txBody>
      </p:sp>
      <p:sp>
        <p:nvSpPr>
          <p:cNvPr id="15" name="Text 10"/>
          <p:cNvSpPr txBox="1"/>
          <p:nvPr/>
        </p:nvSpPr>
        <p:spPr>
          <a:xfrm>
            <a:off x="5971032" y="201168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16" name="Shape 11"/>
          <p:cNvSpPr/>
          <p:nvPr/>
        </p:nvSpPr>
        <p:spPr>
          <a:xfrm>
            <a:off x="6181344" y="1508760"/>
            <a:ext cx="2606040" cy="2011680"/>
          </a:xfrm>
          <a:prstGeom prst="roundRect">
            <a:avLst>
              <a:gd name="adj" fmla="val 4545"/>
            </a:avLst>
          </a:prstGeom>
          <a:solidFill>
            <a:srgbClr val="F1F5FB"/>
          </a:solidFill>
          <a:ln/>
        </p:spPr>
      </p:sp>
      <p:sp>
        <p:nvSpPr>
          <p:cNvPr id="17" name="Shape 12"/>
          <p:cNvSpPr/>
          <p:nvPr/>
        </p:nvSpPr>
        <p:spPr>
          <a:xfrm>
            <a:off x="7050024" y="1737360"/>
            <a:ext cx="822960" cy="822960"/>
          </a:xfrm>
          <a:prstGeom prst="ellipse">
            <a:avLst/>
          </a:prstGeom>
          <a:solidFill>
            <a:srgbClr val="2459D8"/>
          </a:solidFill>
          <a:ln/>
        </p:spPr>
      </p:sp>
      <p:pic>
        <p:nvPicPr>
          <p:cNvPr id="18" name="Image 2" descr="preencoded.png">    </p:cNvPr>
          <p:cNvPicPr>
            <a:picLocks noChangeAspect="1"/>
          </p:cNvPicPr>
          <p:nvPr/>
        </p:nvPicPr>
        <p:blipFill>
          <a:blip r:embed="rId3"/>
          <a:stretch>
            <a:fillRect/>
          </a:stretch>
        </p:blipFill>
        <p:spPr>
          <a:xfrm>
            <a:off x="7255764" y="1943100"/>
            <a:ext cx="411480" cy="411480"/>
          </a:xfrm>
          <a:prstGeom prst="rect">
            <a:avLst/>
          </a:prstGeom>
        </p:spPr>
      </p:pic>
      <p:sp>
        <p:nvSpPr>
          <p:cNvPr id="19" name="Text 13"/>
          <p:cNvSpPr txBox="1"/>
          <p:nvPr/>
        </p:nvSpPr>
        <p:spPr>
          <a:xfrm>
            <a:off x="6318504" y="267919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Choose</a:t>
            </a:r>
            <a:endParaRPr lang="en-US" sz="2000" dirty="0"/>
          </a:p>
        </p:txBody>
      </p:sp>
      <p:sp>
        <p:nvSpPr>
          <p:cNvPr id="20" name="Text 14"/>
          <p:cNvSpPr txBox="1"/>
          <p:nvPr/>
        </p:nvSpPr>
        <p:spPr>
          <a:xfrm>
            <a:off x="6318504" y="308152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a decoder</a:t>
            </a:r>
            <a:endParaRPr lang="en-US" sz="1400" dirty="0"/>
          </a:p>
        </p:txBody>
      </p:sp>
      <p:sp>
        <p:nvSpPr>
          <p:cNvPr id="21" name="Text 15"/>
          <p:cNvSpPr txBox="1"/>
          <p:nvPr/>
        </p:nvSpPr>
        <p:spPr>
          <a:xfrm>
            <a:off x="8787384" y="201168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22" name="Shape 16"/>
          <p:cNvSpPr/>
          <p:nvPr/>
        </p:nvSpPr>
        <p:spPr>
          <a:xfrm>
            <a:off x="8997696" y="1508760"/>
            <a:ext cx="2606040" cy="2011680"/>
          </a:xfrm>
          <a:prstGeom prst="roundRect">
            <a:avLst>
              <a:gd name="adj" fmla="val 4545"/>
            </a:avLst>
          </a:prstGeom>
          <a:solidFill>
            <a:srgbClr val="F1F5FB"/>
          </a:solidFill>
          <a:ln/>
        </p:spPr>
      </p:sp>
      <p:sp>
        <p:nvSpPr>
          <p:cNvPr id="23" name="Shape 17"/>
          <p:cNvSpPr/>
          <p:nvPr/>
        </p:nvSpPr>
        <p:spPr>
          <a:xfrm>
            <a:off x="9866376" y="1737360"/>
            <a:ext cx="822960" cy="822960"/>
          </a:xfrm>
          <a:prstGeom prst="ellipse">
            <a:avLst/>
          </a:prstGeom>
          <a:solidFill>
            <a:srgbClr val="7448D4"/>
          </a:solidFill>
          <a:ln/>
        </p:spPr>
      </p:sp>
      <p:pic>
        <p:nvPicPr>
          <p:cNvPr id="24" name="Image 3" descr="preencoded.png">    </p:cNvPr>
          <p:cNvPicPr>
            <a:picLocks noChangeAspect="1"/>
          </p:cNvPicPr>
          <p:nvPr/>
        </p:nvPicPr>
        <p:blipFill>
          <a:blip r:embed="rId4"/>
          <a:stretch>
            <a:fillRect/>
          </a:stretch>
        </p:blipFill>
        <p:spPr>
          <a:xfrm>
            <a:off x="10072116" y="1943100"/>
            <a:ext cx="411480" cy="411480"/>
          </a:xfrm>
          <a:prstGeom prst="rect">
            <a:avLst/>
          </a:prstGeom>
        </p:spPr>
      </p:pic>
      <p:sp>
        <p:nvSpPr>
          <p:cNvPr id="25" name="Text 18"/>
          <p:cNvSpPr txBox="1"/>
          <p:nvPr/>
        </p:nvSpPr>
        <p:spPr>
          <a:xfrm>
            <a:off x="9134856" y="267919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Try</a:t>
            </a:r>
            <a:endParaRPr lang="en-US" sz="2000" dirty="0"/>
          </a:p>
        </p:txBody>
      </p:sp>
      <p:sp>
        <p:nvSpPr>
          <p:cNvPr id="26" name="Text 19"/>
          <p:cNvSpPr txBox="1"/>
          <p:nvPr/>
        </p:nvSpPr>
        <p:spPr>
          <a:xfrm>
            <a:off x="9134856" y="308152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a command</a:t>
            </a:r>
            <a:endParaRPr lang="en-US" sz="1400" dirty="0"/>
          </a:p>
        </p:txBody>
      </p:sp>
      <p:sp>
        <p:nvSpPr>
          <p:cNvPr id="27" name="Shape 20"/>
          <p:cNvSpPr/>
          <p:nvPr/>
        </p:nvSpPr>
        <p:spPr>
          <a:xfrm>
            <a:off x="548640" y="3749040"/>
            <a:ext cx="2606040" cy="2011680"/>
          </a:xfrm>
          <a:prstGeom prst="roundRect">
            <a:avLst>
              <a:gd name="adj" fmla="val 4545"/>
            </a:avLst>
          </a:prstGeom>
          <a:solidFill>
            <a:srgbClr val="F1F5FB"/>
          </a:solidFill>
          <a:ln/>
        </p:spPr>
      </p:sp>
      <p:sp>
        <p:nvSpPr>
          <p:cNvPr id="28" name="Shape 21"/>
          <p:cNvSpPr/>
          <p:nvPr/>
        </p:nvSpPr>
        <p:spPr>
          <a:xfrm>
            <a:off x="1417320" y="3977640"/>
            <a:ext cx="822960" cy="822960"/>
          </a:xfrm>
          <a:prstGeom prst="ellipse">
            <a:avLst/>
          </a:prstGeom>
          <a:solidFill>
            <a:srgbClr val="D1416B"/>
          </a:solidFill>
          <a:ln/>
        </p:spPr>
      </p:sp>
      <p:pic>
        <p:nvPicPr>
          <p:cNvPr id="29" name="Image 4" descr="preencoded.png">    </p:cNvPr>
          <p:cNvPicPr>
            <a:picLocks noChangeAspect="1"/>
          </p:cNvPicPr>
          <p:nvPr/>
        </p:nvPicPr>
        <p:blipFill>
          <a:blip r:embed="rId5"/>
          <a:stretch>
            <a:fillRect/>
          </a:stretch>
        </p:blipFill>
        <p:spPr>
          <a:xfrm>
            <a:off x="1623060" y="4183380"/>
            <a:ext cx="411480" cy="411480"/>
          </a:xfrm>
          <a:prstGeom prst="rect">
            <a:avLst/>
          </a:prstGeom>
        </p:spPr>
      </p:pic>
      <p:sp>
        <p:nvSpPr>
          <p:cNvPr id="30" name="Text 22"/>
          <p:cNvSpPr txBox="1"/>
          <p:nvPr/>
        </p:nvSpPr>
        <p:spPr>
          <a:xfrm>
            <a:off x="685800" y="491947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Check</a:t>
            </a:r>
            <a:endParaRPr lang="en-US" sz="2000" dirty="0"/>
          </a:p>
        </p:txBody>
      </p:sp>
      <p:sp>
        <p:nvSpPr>
          <p:cNvPr id="31" name="Text 23"/>
          <p:cNvSpPr txBox="1"/>
          <p:nvPr/>
        </p:nvSpPr>
        <p:spPr>
          <a:xfrm>
            <a:off x="685800" y="532180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the output</a:t>
            </a:r>
            <a:endParaRPr lang="en-US" sz="1400" dirty="0"/>
          </a:p>
        </p:txBody>
      </p:sp>
      <p:sp>
        <p:nvSpPr>
          <p:cNvPr id="32" name="Text 24"/>
          <p:cNvSpPr txBox="1"/>
          <p:nvPr/>
        </p:nvSpPr>
        <p:spPr>
          <a:xfrm>
            <a:off x="3154680" y="425196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33" name="Shape 25"/>
          <p:cNvSpPr/>
          <p:nvPr/>
        </p:nvSpPr>
        <p:spPr>
          <a:xfrm>
            <a:off x="3364992" y="3749040"/>
            <a:ext cx="2606040" cy="2011680"/>
          </a:xfrm>
          <a:prstGeom prst="roundRect">
            <a:avLst>
              <a:gd name="adj" fmla="val 4545"/>
            </a:avLst>
          </a:prstGeom>
          <a:solidFill>
            <a:srgbClr val="F1F5FB"/>
          </a:solidFill>
          <a:ln/>
        </p:spPr>
      </p:sp>
      <p:sp>
        <p:nvSpPr>
          <p:cNvPr id="34" name="Shape 26"/>
          <p:cNvSpPr/>
          <p:nvPr/>
        </p:nvSpPr>
        <p:spPr>
          <a:xfrm>
            <a:off x="4233672" y="3977640"/>
            <a:ext cx="822960" cy="822960"/>
          </a:xfrm>
          <a:prstGeom prst="ellipse">
            <a:avLst/>
          </a:prstGeom>
          <a:solidFill>
            <a:srgbClr val="E8820C"/>
          </a:solidFill>
          <a:ln/>
        </p:spPr>
      </p:sp>
      <p:pic>
        <p:nvPicPr>
          <p:cNvPr id="35" name="Image 5" descr="preencoded.png">    </p:cNvPr>
          <p:cNvPicPr>
            <a:picLocks noChangeAspect="1"/>
          </p:cNvPicPr>
          <p:nvPr/>
        </p:nvPicPr>
        <p:blipFill>
          <a:blip r:embed="rId6"/>
          <a:stretch>
            <a:fillRect/>
          </a:stretch>
        </p:blipFill>
        <p:spPr>
          <a:xfrm>
            <a:off x="4439412" y="4183380"/>
            <a:ext cx="411480" cy="411480"/>
          </a:xfrm>
          <a:prstGeom prst="rect">
            <a:avLst/>
          </a:prstGeom>
        </p:spPr>
      </p:pic>
      <p:sp>
        <p:nvSpPr>
          <p:cNvPr id="36" name="Text 27"/>
          <p:cNvSpPr txBox="1"/>
          <p:nvPr/>
        </p:nvSpPr>
        <p:spPr>
          <a:xfrm>
            <a:off x="3502152" y="491947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Adjust</a:t>
            </a:r>
            <a:endParaRPr lang="en-US" sz="2000" dirty="0"/>
          </a:p>
        </p:txBody>
      </p:sp>
      <p:sp>
        <p:nvSpPr>
          <p:cNvPr id="37" name="Text 28"/>
          <p:cNvSpPr txBox="1"/>
          <p:nvPr/>
        </p:nvSpPr>
        <p:spPr>
          <a:xfrm>
            <a:off x="3502152" y="532180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if needed</a:t>
            </a:r>
            <a:endParaRPr lang="en-US" sz="1400" dirty="0"/>
          </a:p>
        </p:txBody>
      </p:sp>
      <p:sp>
        <p:nvSpPr>
          <p:cNvPr id="38" name="Text 29"/>
          <p:cNvSpPr txBox="1"/>
          <p:nvPr/>
        </p:nvSpPr>
        <p:spPr>
          <a:xfrm>
            <a:off x="5971032" y="425196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39" name="Shape 30"/>
          <p:cNvSpPr/>
          <p:nvPr/>
        </p:nvSpPr>
        <p:spPr>
          <a:xfrm>
            <a:off x="6181344" y="3749040"/>
            <a:ext cx="2606040" cy="2011680"/>
          </a:xfrm>
          <a:prstGeom prst="roundRect">
            <a:avLst>
              <a:gd name="adj" fmla="val 4545"/>
            </a:avLst>
          </a:prstGeom>
          <a:solidFill>
            <a:srgbClr val="F1F5FB"/>
          </a:solidFill>
          <a:ln/>
        </p:spPr>
      </p:sp>
      <p:sp>
        <p:nvSpPr>
          <p:cNvPr id="40" name="Shape 31"/>
          <p:cNvSpPr/>
          <p:nvPr/>
        </p:nvSpPr>
        <p:spPr>
          <a:xfrm>
            <a:off x="7050024" y="3977640"/>
            <a:ext cx="822960" cy="822960"/>
          </a:xfrm>
          <a:prstGeom prst="ellipse">
            <a:avLst/>
          </a:prstGeom>
          <a:solidFill>
            <a:srgbClr val="17875A"/>
          </a:solidFill>
          <a:ln/>
        </p:spPr>
      </p:sp>
      <p:pic>
        <p:nvPicPr>
          <p:cNvPr id="41" name="Image 6" descr="preencoded.png">    </p:cNvPr>
          <p:cNvPicPr>
            <a:picLocks noChangeAspect="1"/>
          </p:cNvPicPr>
          <p:nvPr/>
        </p:nvPicPr>
        <p:blipFill>
          <a:blip r:embed="rId7"/>
          <a:stretch>
            <a:fillRect/>
          </a:stretch>
        </p:blipFill>
        <p:spPr>
          <a:xfrm>
            <a:off x="7255764" y="4183380"/>
            <a:ext cx="411480" cy="411480"/>
          </a:xfrm>
          <a:prstGeom prst="rect">
            <a:avLst/>
          </a:prstGeom>
        </p:spPr>
      </p:pic>
      <p:sp>
        <p:nvSpPr>
          <p:cNvPr id="42" name="Text 32"/>
          <p:cNvSpPr txBox="1"/>
          <p:nvPr/>
        </p:nvSpPr>
        <p:spPr>
          <a:xfrm>
            <a:off x="6318504" y="491947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Capture</a:t>
            </a:r>
            <a:endParaRPr lang="en-US" sz="2000" dirty="0"/>
          </a:p>
        </p:txBody>
      </p:sp>
      <p:sp>
        <p:nvSpPr>
          <p:cNvPr id="43" name="Text 33"/>
          <p:cNvSpPr txBox="1"/>
          <p:nvPr/>
        </p:nvSpPr>
        <p:spPr>
          <a:xfrm>
            <a:off x="6318504" y="532180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the flag</a:t>
            </a:r>
            <a:endParaRPr lang="en-US" sz="1400" dirty="0"/>
          </a:p>
        </p:txBody>
      </p:sp>
      <p:sp>
        <p:nvSpPr>
          <p:cNvPr id="44" name="Text 34"/>
          <p:cNvSpPr txBox="1"/>
          <p:nvPr/>
        </p:nvSpPr>
        <p:spPr>
          <a:xfrm>
            <a:off x="8787384" y="4251960"/>
            <a:ext cx="210312" cy="548640"/>
          </a:xfrm>
          <a:prstGeom prst="rect">
            <a:avLst/>
          </a:prstGeom>
          <a:noFill/>
          <a:ln/>
        </p:spPr>
        <p:txBody>
          <a:bodyPr wrap="square" lIns="0" tIns="0" rIns="0" bIns="0" rtlCol="0" anchor="ctr"/>
          <a:lstStyle/>
          <a:p>
            <a:pPr algn="ctr" indent="0" marL="0">
              <a:buNone/>
            </a:pPr>
            <a:r>
              <a:rPr lang="en-US" sz="2000" b="1" dirty="0">
                <a:solidFill>
                  <a:srgbClr val="56657E"/>
                </a:solidFill>
                <a:latin typeface="Courier New" pitchFamily="34" charset="0"/>
                <a:ea typeface="Courier New" pitchFamily="34" charset="-122"/>
                <a:cs typeface="Courier New" pitchFamily="34" charset="-120"/>
              </a:rPr>
              <a:t>&gt;</a:t>
            </a:r>
            <a:endParaRPr lang="en-US" sz="2000" dirty="0"/>
          </a:p>
        </p:txBody>
      </p:sp>
      <p:sp>
        <p:nvSpPr>
          <p:cNvPr id="45" name="Shape 35"/>
          <p:cNvSpPr/>
          <p:nvPr/>
        </p:nvSpPr>
        <p:spPr>
          <a:xfrm>
            <a:off x="8997696" y="3749040"/>
            <a:ext cx="2606040" cy="2011680"/>
          </a:xfrm>
          <a:prstGeom prst="roundRect">
            <a:avLst>
              <a:gd name="adj" fmla="val 4545"/>
            </a:avLst>
          </a:prstGeom>
          <a:solidFill>
            <a:srgbClr val="F1F5FB"/>
          </a:solidFill>
          <a:ln/>
        </p:spPr>
      </p:sp>
      <p:sp>
        <p:nvSpPr>
          <p:cNvPr id="46" name="Shape 36"/>
          <p:cNvSpPr/>
          <p:nvPr/>
        </p:nvSpPr>
        <p:spPr>
          <a:xfrm>
            <a:off x="9866376" y="3977640"/>
            <a:ext cx="822960" cy="822960"/>
          </a:xfrm>
          <a:prstGeom prst="ellipse">
            <a:avLst/>
          </a:prstGeom>
          <a:solidFill>
            <a:srgbClr val="2A9FD6"/>
          </a:solidFill>
          <a:ln/>
        </p:spPr>
      </p:sp>
      <p:pic>
        <p:nvPicPr>
          <p:cNvPr id="47" name="Image 7" descr="preencoded.png">    </p:cNvPr>
          <p:cNvPicPr>
            <a:picLocks noChangeAspect="1"/>
          </p:cNvPicPr>
          <p:nvPr/>
        </p:nvPicPr>
        <p:blipFill>
          <a:blip r:embed="rId8"/>
          <a:stretch>
            <a:fillRect/>
          </a:stretch>
        </p:blipFill>
        <p:spPr>
          <a:xfrm>
            <a:off x="10072116" y="4183380"/>
            <a:ext cx="411480" cy="411480"/>
          </a:xfrm>
          <a:prstGeom prst="rect">
            <a:avLst/>
          </a:prstGeom>
        </p:spPr>
      </p:pic>
      <p:sp>
        <p:nvSpPr>
          <p:cNvPr id="48" name="Text 37"/>
          <p:cNvSpPr txBox="1"/>
          <p:nvPr/>
        </p:nvSpPr>
        <p:spPr>
          <a:xfrm>
            <a:off x="9134856" y="4919472"/>
            <a:ext cx="2331720" cy="411480"/>
          </a:xfrm>
          <a:prstGeom prst="rect">
            <a:avLst/>
          </a:prstGeom>
          <a:noFill/>
          <a:ln/>
        </p:spPr>
        <p:txBody>
          <a:bodyPr wrap="square" lIns="0" tIns="0" rIns="0" bIns="0" rtlCol="0" anchor="t"/>
          <a:lstStyle/>
          <a:p>
            <a:pPr algn="ctr" indent="0" marL="0">
              <a:buNone/>
            </a:pPr>
            <a:r>
              <a:rPr lang="en-US" sz="2000" b="1" dirty="0">
                <a:solidFill>
                  <a:srgbClr val="12213A"/>
                </a:solidFill>
                <a:latin typeface="Arial" pitchFamily="34" charset="0"/>
                <a:ea typeface="Arial" pitchFamily="34" charset="-122"/>
                <a:cs typeface="Arial" pitchFamily="34" charset="-120"/>
              </a:rPr>
              <a:t>Submit</a:t>
            </a:r>
            <a:endParaRPr lang="en-US" sz="2000" dirty="0"/>
          </a:p>
        </p:txBody>
      </p:sp>
      <p:sp>
        <p:nvSpPr>
          <p:cNvPr id="49" name="Text 38"/>
          <p:cNvSpPr txBox="1"/>
          <p:nvPr/>
        </p:nvSpPr>
        <p:spPr>
          <a:xfrm>
            <a:off x="9134856" y="5321808"/>
            <a:ext cx="2331720" cy="365760"/>
          </a:xfrm>
          <a:prstGeom prst="rect">
            <a:avLst/>
          </a:prstGeom>
          <a:noFill/>
          <a:ln/>
        </p:spPr>
        <p:txBody>
          <a:bodyPr wrap="square" lIns="0" tIns="0" rIns="0" bIns="0" rtlCol="0" anchor="t"/>
          <a:lstStyle/>
          <a:p>
            <a:pPr algn="ctr" indent="0" marL="0">
              <a:buNone/>
            </a:pPr>
            <a:r>
              <a:rPr lang="en-US" sz="1400" dirty="0">
                <a:solidFill>
                  <a:srgbClr val="56657E"/>
                </a:solidFill>
                <a:latin typeface="Calibri" pitchFamily="34" charset="0"/>
                <a:ea typeface="Calibri" pitchFamily="34" charset="-122"/>
                <a:cs typeface="Calibri" pitchFamily="34" charset="-120"/>
              </a:rPr>
              <a:t>&amp; reflect</a:t>
            </a:r>
            <a:endParaRPr lang="en-US" sz="1400" dirty="0"/>
          </a:p>
        </p:txBody>
      </p:sp>
      <p:sp>
        <p:nvSpPr>
          <p:cNvPr id="50" name="Text 39"/>
          <p:cNvSpPr txBox="1"/>
          <p:nvPr/>
        </p:nvSpPr>
        <p:spPr>
          <a:xfrm>
            <a:off x="548640" y="6053328"/>
            <a:ext cx="11094415" cy="320040"/>
          </a:xfrm>
          <a:prstGeom prst="rect">
            <a:avLst/>
          </a:prstGeom>
          <a:noFill/>
          <a:ln/>
        </p:spPr>
        <p:txBody>
          <a:bodyPr wrap="square" lIns="0" tIns="0" rIns="0" bIns="0" rtlCol="0" anchor="t"/>
          <a:lstStyle/>
          <a:p>
            <a:pPr algn="ctr" indent="0" marL="0">
              <a:buNone/>
            </a:pPr>
            <a:r>
              <a:rPr lang="en-US" sz="1300" dirty="0">
                <a:solidFill>
                  <a:srgbClr val="56657E"/>
                </a:solidFill>
                <a:latin typeface="Calibri" pitchFamily="34" charset="0"/>
                <a:ea typeface="Calibri" pitchFamily="34" charset="-122"/>
                <a:cs typeface="Calibri" pitchFamily="34" charset="-120"/>
              </a:rPr>
              <a:t>read -&gt; try -&gt; check -&gt; adjust is the loop. Capturing the flag is just where it ends.</a:t>
            </a:r>
            <a:endParaRPr lang="en-US" sz="1300" dirty="0"/>
          </a:p>
        </p:txBody>
      </p:sp>
      <p:sp>
        <p:nvSpPr>
          <p:cNvPr id="51" name="Text 40"/>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 / 61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640080"/>
            <a:ext cx="2103120" cy="3108960"/>
          </a:xfrm>
          <a:prstGeom prst="rect">
            <a:avLst/>
          </a:prstGeom>
          <a:noFill/>
          <a:ln/>
        </p:spPr>
        <p:txBody>
          <a:bodyPr wrap="square" lIns="0" tIns="0" rIns="0" bIns="0" rtlCol="0" anchor="ctr"/>
          <a:lstStyle/>
          <a:p>
            <a:pPr indent="0" marL="0">
              <a:buNone/>
            </a:pPr>
            <a:r>
              <a:rPr lang="en-US" sz="23000" b="1" dirty="0">
                <a:solidFill>
                  <a:srgbClr val="17875A"/>
                </a:solidFill>
                <a:latin typeface="Arial" pitchFamily="34" charset="0"/>
                <a:ea typeface="Arial" pitchFamily="34" charset="-122"/>
                <a:cs typeface="Arial" pitchFamily="34" charset="-120"/>
              </a:rPr>
              <a:t>1</a:t>
            </a:r>
            <a:endParaRPr lang="en-US" sz="23000" dirty="0"/>
          </a:p>
        </p:txBody>
      </p:sp>
      <p:sp>
        <p:nvSpPr>
          <p:cNvPr id="3" name="Text 1"/>
          <p:cNvSpPr txBox="1"/>
          <p:nvPr/>
        </p:nvSpPr>
        <p:spPr>
          <a:xfrm>
            <a:off x="2743200" y="640080"/>
            <a:ext cx="6949440" cy="3108960"/>
          </a:xfrm>
          <a:prstGeom prst="rect">
            <a:avLst/>
          </a:prstGeom>
          <a:noFill/>
          <a:ln/>
        </p:spPr>
        <p:txBody>
          <a:bodyPr wrap="square" lIns="0" tIns="0" rIns="0" bIns="0" rtlCol="0" anchor="ctr">
            <a:normAutofit/>
          </a:bodyPr>
          <a:lstStyle/>
          <a:p>
            <a:pPr indent="0" marL="0">
              <a:buNone/>
            </a:pPr>
            <a:r>
              <a:rPr lang="en-US" sz="5600" b="1" dirty="0">
                <a:solidFill>
                  <a:srgbClr val="12213A"/>
                </a:solidFill>
                <a:latin typeface="Arial" pitchFamily="34" charset="0"/>
                <a:ea typeface="Arial" pitchFamily="34" charset="-122"/>
                <a:cs typeface="Arial" pitchFamily="34" charset="-120"/>
              </a:rPr>
              <a:t>Crypto fundamentals</a:t>
            </a:r>
            <a:endParaRPr lang="en-US" sz="5600" dirty="0"/>
          </a:p>
        </p:txBody>
      </p:sp>
      <p:sp>
        <p:nvSpPr>
          <p:cNvPr id="4" name="Shape 2"/>
          <p:cNvSpPr/>
          <p:nvPr/>
        </p:nvSpPr>
        <p:spPr>
          <a:xfrm>
            <a:off x="548640" y="5074920"/>
            <a:ext cx="6492240" cy="731520"/>
          </a:xfrm>
          <a:prstGeom prst="roundRect">
            <a:avLst>
              <a:gd name="adj" fmla="val 12500"/>
            </a:avLst>
          </a:prstGeom>
          <a:solidFill>
            <a:srgbClr val="0E1726"/>
          </a:solidFill>
          <a:ln/>
          <a:effectLst>
            <a:outerShdw sx="100000" sy="100000" kx="0" ky="0" algn="bl" rotWithShape="0" blurRad="101600" dist="25400" dir="5400000">
              <a:srgbClr val="6E86AE">
                <a:alpha val="35000"/>
              </a:srgbClr>
            </a:outerShdw>
          </a:effectLst>
        </p:spPr>
      </p:sp>
      <p:sp>
        <p:nvSpPr>
          <p:cNvPr id="5" name="Text 3"/>
          <p:cNvSpPr txBox="1"/>
          <p:nvPr/>
        </p:nvSpPr>
        <p:spPr>
          <a:xfrm>
            <a:off x="822960" y="5074920"/>
            <a:ext cx="6035040" cy="731520"/>
          </a:xfrm>
          <a:prstGeom prst="rect">
            <a:avLst/>
          </a:prstGeom>
          <a:noFill/>
          <a:ln/>
        </p:spPr>
        <p:txBody>
          <a:bodyPr wrap="square" lIns="0" tIns="0" rIns="0" bIns="0" rtlCol="0" anchor="ctr">
            <a:normAutofit/>
          </a:bodyPr>
          <a:lstStyle/>
          <a:p>
            <a:pPr indent="0" marL="0">
              <a:buNone/>
            </a:pPr>
            <a:r>
              <a:rPr lang="en-US" sz="1800" b="1" dirty="0">
                <a:solidFill>
                  <a:srgbClr val="46D39A"/>
                </a:solidFill>
                <a:latin typeface="Courier New" pitchFamily="34" charset="0"/>
                <a:ea typeface="Courier New" pitchFamily="34" charset="-122"/>
                <a:cs typeface="Courier New" pitchFamily="34" charset="-120"/>
              </a:rPr>
              <a:t>$ </a:t>
            </a:r>
            <a:pPr indent="0" marL="0">
              <a:buNone/>
            </a:pPr>
            <a:r>
              <a:rPr lang="en-US" sz="1800" b="1" dirty="0">
                <a:solidFill>
                  <a:srgbClr val="FFFFFF"/>
                </a:solidFill>
                <a:latin typeface="Courier New" pitchFamily="34" charset="0"/>
                <a:ea typeface="Courier New" pitchFamily="34" charset="-122"/>
                <a:cs typeface="Courier New" pitchFamily="34" charset="-120"/>
              </a:rPr>
              <a:t>echo 'Uryyb' | tr A-Za-z N-ZA-Mn-za-m</a:t>
            </a:r>
            <a:endParaRPr lang="en-US" sz="1800" dirty="0"/>
          </a:p>
        </p:txBody>
      </p:sp>
      <p:sp>
        <p:nvSpPr>
          <p:cNvPr id="7" name="Text 4"/>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 / 61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What is cryptography?</a:t>
            </a:r>
            <a:endParaRPr lang="en-US" sz="3200" dirty="0"/>
          </a:p>
        </p:txBody>
      </p:sp>
      <p:sp>
        <p:nvSpPr>
          <p:cNvPr id="4" name="Text 1"/>
          <p:cNvSpPr txBox="1"/>
          <p:nvPr/>
        </p:nvSpPr>
        <p:spPr>
          <a:xfrm>
            <a:off x="548640" y="1371600"/>
            <a:ext cx="11094415" cy="502920"/>
          </a:xfrm>
          <a:prstGeom prst="rect">
            <a:avLst/>
          </a:prstGeom>
          <a:noFill/>
          <a:ln/>
        </p:spPr>
        <p:txBody>
          <a:bodyPr wrap="square" lIns="0" tIns="0" rIns="0" bIns="0" rtlCol="0" anchor="t"/>
          <a:lstStyle/>
          <a:p>
            <a:pPr indent="0" marL="0">
              <a:buNone/>
            </a:pPr>
            <a:r>
              <a:rPr lang="en-US" sz="1700" dirty="0">
                <a:solidFill>
                  <a:srgbClr val="56657E"/>
                </a:solidFill>
                <a:latin typeface="Calibri" pitchFamily="34" charset="0"/>
                <a:ea typeface="Calibri" pitchFamily="34" charset="-122"/>
                <a:cs typeface="Calibri" pitchFamily="34" charset="-120"/>
              </a:rPr>
              <a:t>The science of protecting information by scrambling it, so only the right person can read it. From Greek kryptos (hidden) + graphein (writing): 'hidden writing.'</a:t>
            </a:r>
            <a:endParaRPr lang="en-US" sz="1700" dirty="0"/>
          </a:p>
        </p:txBody>
      </p:sp>
      <p:sp>
        <p:nvSpPr>
          <p:cNvPr id="5" name="Shape 2"/>
          <p:cNvSpPr/>
          <p:nvPr/>
        </p:nvSpPr>
        <p:spPr>
          <a:xfrm>
            <a:off x="548640" y="2148840"/>
            <a:ext cx="2834640" cy="1298448"/>
          </a:xfrm>
          <a:prstGeom prst="roundRect">
            <a:avLst>
              <a:gd name="adj" fmla="val 7042"/>
            </a:avLst>
          </a:prstGeom>
          <a:solidFill>
            <a:srgbClr val="E3F1EB"/>
          </a:solidFill>
          <a:ln w="12700">
            <a:solidFill>
              <a:srgbClr val="97C9B5"/>
            </a:solidFill>
            <a:prstDash val="solid"/>
          </a:ln>
        </p:spPr>
      </p:sp>
      <p:sp>
        <p:nvSpPr>
          <p:cNvPr id="6" name="Text 3"/>
          <p:cNvSpPr txBox="1"/>
          <p:nvPr/>
        </p:nvSpPr>
        <p:spPr>
          <a:xfrm>
            <a:off x="548640" y="2276856"/>
            <a:ext cx="2834640" cy="274320"/>
          </a:xfrm>
          <a:prstGeom prst="rect">
            <a:avLst/>
          </a:prstGeom>
          <a:noFill/>
          <a:ln/>
        </p:spPr>
        <p:txBody>
          <a:bodyPr wrap="square" lIns="0" tIns="0" rIns="0" bIns="0" rtlCol="0" anchor="ctr"/>
          <a:lstStyle/>
          <a:p>
            <a:pPr algn="ctr" indent="0" marL="0">
              <a:buNone/>
            </a:pPr>
            <a:r>
              <a:rPr lang="en-US" sz="1200" b="1" dirty="0">
                <a:solidFill>
                  <a:srgbClr val="4A5B78"/>
                </a:solidFill>
                <a:latin typeface="Calibri" pitchFamily="34" charset="0"/>
                <a:ea typeface="Calibri" pitchFamily="34" charset="-122"/>
                <a:cs typeface="Calibri" pitchFamily="34" charset="-120"/>
              </a:rPr>
              <a:t>PLAINTEXT</a:t>
            </a:r>
            <a:endParaRPr lang="en-US" sz="1200" dirty="0"/>
          </a:p>
        </p:txBody>
      </p:sp>
      <p:sp>
        <p:nvSpPr>
          <p:cNvPr id="7" name="Text 4"/>
          <p:cNvSpPr txBox="1"/>
          <p:nvPr/>
        </p:nvSpPr>
        <p:spPr>
          <a:xfrm>
            <a:off x="548640" y="2532888"/>
            <a:ext cx="2834640" cy="548640"/>
          </a:xfrm>
          <a:prstGeom prst="rect">
            <a:avLst/>
          </a:prstGeom>
          <a:noFill/>
          <a:ln/>
        </p:spPr>
        <p:txBody>
          <a:bodyPr wrap="square" lIns="0" tIns="0" rIns="0" bIns="0" rtlCol="0" anchor="ctr"/>
          <a:lstStyle/>
          <a:p>
            <a:pPr algn="ctr" indent="0" marL="0">
              <a:buNone/>
            </a:pPr>
            <a:r>
              <a:rPr lang="en-US" sz="2800" b="1" dirty="0">
                <a:solidFill>
                  <a:srgbClr val="12213A"/>
                </a:solidFill>
                <a:latin typeface="Courier New" pitchFamily="34" charset="0"/>
                <a:ea typeface="Courier New" pitchFamily="34" charset="-122"/>
                <a:cs typeface="Courier New" pitchFamily="34" charset="-120"/>
              </a:rPr>
              <a:t>HELLO</a:t>
            </a:r>
            <a:endParaRPr lang="en-US" sz="2800" dirty="0"/>
          </a:p>
        </p:txBody>
      </p:sp>
      <p:sp>
        <p:nvSpPr>
          <p:cNvPr id="8" name="Text 5"/>
          <p:cNvSpPr txBox="1"/>
          <p:nvPr/>
        </p:nvSpPr>
        <p:spPr>
          <a:xfrm>
            <a:off x="548640" y="3081528"/>
            <a:ext cx="2834640" cy="274320"/>
          </a:xfrm>
          <a:prstGeom prst="rect">
            <a:avLst/>
          </a:prstGeom>
          <a:noFill/>
          <a:ln/>
        </p:spPr>
        <p:txBody>
          <a:bodyPr wrap="square" lIns="0" tIns="0" rIns="0" bIns="0" rtlCol="0" anchor="ctr"/>
          <a:lstStyle/>
          <a:p>
            <a:pPr algn="ctr" indent="0" marL="0">
              <a:buNone/>
            </a:pPr>
            <a:r>
              <a:rPr lang="en-US" sz="1200" dirty="0">
                <a:solidFill>
                  <a:srgbClr val="56657E"/>
                </a:solidFill>
                <a:latin typeface="Calibri" pitchFamily="34" charset="0"/>
                <a:ea typeface="Calibri" pitchFamily="34" charset="-122"/>
                <a:cs typeface="Calibri" pitchFamily="34" charset="-120"/>
              </a:rPr>
              <a:t>readable</a:t>
            </a:r>
            <a:endParaRPr lang="en-US" sz="1200" dirty="0"/>
          </a:p>
        </p:txBody>
      </p:sp>
      <p:sp>
        <p:nvSpPr>
          <p:cNvPr id="9" name="Shape 6"/>
          <p:cNvSpPr/>
          <p:nvPr/>
        </p:nvSpPr>
        <p:spPr>
          <a:xfrm>
            <a:off x="4663440" y="2148840"/>
            <a:ext cx="2834640" cy="1298448"/>
          </a:xfrm>
          <a:prstGeom prst="roundRect">
            <a:avLst>
              <a:gd name="adj" fmla="val 7042"/>
            </a:avLst>
          </a:prstGeom>
          <a:solidFill>
            <a:srgbClr val="0E1726"/>
          </a:solidFill>
          <a:ln w="12700">
            <a:solidFill>
              <a:srgbClr val="0E1726"/>
            </a:solidFill>
            <a:prstDash val="solid"/>
          </a:ln>
        </p:spPr>
      </p:sp>
      <p:sp>
        <p:nvSpPr>
          <p:cNvPr id="10" name="Text 7"/>
          <p:cNvSpPr txBox="1"/>
          <p:nvPr/>
        </p:nvSpPr>
        <p:spPr>
          <a:xfrm>
            <a:off x="4663440" y="2276856"/>
            <a:ext cx="2834640" cy="274320"/>
          </a:xfrm>
          <a:prstGeom prst="rect">
            <a:avLst/>
          </a:prstGeom>
          <a:noFill/>
          <a:ln/>
        </p:spPr>
        <p:txBody>
          <a:bodyPr wrap="square" lIns="0" tIns="0" rIns="0" bIns="0" rtlCol="0" anchor="ctr"/>
          <a:lstStyle/>
          <a:p>
            <a:pPr algn="ctr" indent="0" marL="0">
              <a:buNone/>
            </a:pPr>
            <a:r>
              <a:rPr lang="en-US" sz="1200" b="1" dirty="0">
                <a:solidFill>
                  <a:srgbClr val="7F8FAD"/>
                </a:solidFill>
                <a:latin typeface="Calibri" pitchFamily="34" charset="0"/>
                <a:ea typeface="Calibri" pitchFamily="34" charset="-122"/>
                <a:cs typeface="Calibri" pitchFamily="34" charset="-120"/>
              </a:rPr>
              <a:t>CIPHERTEXT</a:t>
            </a:r>
            <a:endParaRPr lang="en-US" sz="1200" dirty="0"/>
          </a:p>
        </p:txBody>
      </p:sp>
      <p:sp>
        <p:nvSpPr>
          <p:cNvPr id="11" name="Text 8"/>
          <p:cNvSpPr txBox="1"/>
          <p:nvPr/>
        </p:nvSpPr>
        <p:spPr>
          <a:xfrm>
            <a:off x="4663440" y="2532888"/>
            <a:ext cx="2834640" cy="548640"/>
          </a:xfrm>
          <a:prstGeom prst="rect">
            <a:avLst/>
          </a:prstGeom>
          <a:noFill/>
          <a:ln/>
        </p:spPr>
        <p:txBody>
          <a:bodyPr wrap="square" lIns="0" tIns="0" rIns="0" bIns="0" rtlCol="0" anchor="ctr"/>
          <a:lstStyle/>
          <a:p>
            <a:pPr algn="ctr" indent="0" marL="0">
              <a:buNone/>
            </a:pPr>
            <a:r>
              <a:rPr lang="en-US" sz="2800" b="1" dirty="0">
                <a:solidFill>
                  <a:srgbClr val="46D39A"/>
                </a:solidFill>
                <a:latin typeface="Courier New" pitchFamily="34" charset="0"/>
                <a:ea typeface="Courier New" pitchFamily="34" charset="-122"/>
                <a:cs typeface="Courier New" pitchFamily="34" charset="-120"/>
              </a:rPr>
              <a:t>KHOOR</a:t>
            </a:r>
            <a:endParaRPr lang="en-US" sz="2800" dirty="0"/>
          </a:p>
        </p:txBody>
      </p:sp>
      <p:sp>
        <p:nvSpPr>
          <p:cNvPr id="12" name="Text 9"/>
          <p:cNvSpPr txBox="1"/>
          <p:nvPr/>
        </p:nvSpPr>
        <p:spPr>
          <a:xfrm>
            <a:off x="4663440" y="3081528"/>
            <a:ext cx="2834640" cy="274320"/>
          </a:xfrm>
          <a:prstGeom prst="rect">
            <a:avLst/>
          </a:prstGeom>
          <a:noFill/>
          <a:ln/>
        </p:spPr>
        <p:txBody>
          <a:bodyPr wrap="square" lIns="0" tIns="0" rIns="0" bIns="0" rtlCol="0" anchor="ctr"/>
          <a:lstStyle/>
          <a:p>
            <a:pPr algn="ctr" indent="0" marL="0">
              <a:buNone/>
            </a:pPr>
            <a:r>
              <a:rPr lang="en-US" sz="1200" dirty="0">
                <a:solidFill>
                  <a:srgbClr val="B8C4D9"/>
                </a:solidFill>
                <a:latin typeface="Calibri" pitchFamily="34" charset="0"/>
                <a:ea typeface="Calibri" pitchFamily="34" charset="-122"/>
                <a:cs typeface="Calibri" pitchFamily="34" charset="-120"/>
              </a:rPr>
              <a:t>scrambled</a:t>
            </a:r>
            <a:endParaRPr lang="en-US" sz="1200" dirty="0"/>
          </a:p>
        </p:txBody>
      </p:sp>
      <p:sp>
        <p:nvSpPr>
          <p:cNvPr id="13" name="Shape 10"/>
          <p:cNvSpPr/>
          <p:nvPr/>
        </p:nvSpPr>
        <p:spPr>
          <a:xfrm>
            <a:off x="8778240" y="2148840"/>
            <a:ext cx="2834640" cy="1298448"/>
          </a:xfrm>
          <a:prstGeom prst="roundRect">
            <a:avLst>
              <a:gd name="adj" fmla="val 7042"/>
            </a:avLst>
          </a:prstGeom>
          <a:solidFill>
            <a:srgbClr val="E3F1EB"/>
          </a:solidFill>
          <a:ln w="12700">
            <a:solidFill>
              <a:srgbClr val="97C9B5"/>
            </a:solidFill>
            <a:prstDash val="solid"/>
          </a:ln>
        </p:spPr>
      </p:sp>
      <p:sp>
        <p:nvSpPr>
          <p:cNvPr id="14" name="Text 11"/>
          <p:cNvSpPr txBox="1"/>
          <p:nvPr/>
        </p:nvSpPr>
        <p:spPr>
          <a:xfrm>
            <a:off x="8778240" y="2276856"/>
            <a:ext cx="2834640" cy="274320"/>
          </a:xfrm>
          <a:prstGeom prst="rect">
            <a:avLst/>
          </a:prstGeom>
          <a:noFill/>
          <a:ln/>
        </p:spPr>
        <p:txBody>
          <a:bodyPr wrap="square" lIns="0" tIns="0" rIns="0" bIns="0" rtlCol="0" anchor="ctr"/>
          <a:lstStyle/>
          <a:p>
            <a:pPr algn="ctr" indent="0" marL="0">
              <a:buNone/>
            </a:pPr>
            <a:r>
              <a:rPr lang="en-US" sz="1200" b="1" dirty="0">
                <a:solidFill>
                  <a:srgbClr val="4A5B78"/>
                </a:solidFill>
                <a:latin typeface="Calibri" pitchFamily="34" charset="0"/>
                <a:ea typeface="Calibri" pitchFamily="34" charset="-122"/>
                <a:cs typeface="Calibri" pitchFamily="34" charset="-120"/>
              </a:rPr>
              <a:t>PLAINTEXT</a:t>
            </a:r>
            <a:endParaRPr lang="en-US" sz="1200" dirty="0"/>
          </a:p>
        </p:txBody>
      </p:sp>
      <p:sp>
        <p:nvSpPr>
          <p:cNvPr id="15" name="Text 12"/>
          <p:cNvSpPr txBox="1"/>
          <p:nvPr/>
        </p:nvSpPr>
        <p:spPr>
          <a:xfrm>
            <a:off x="8778240" y="2532888"/>
            <a:ext cx="2834640" cy="548640"/>
          </a:xfrm>
          <a:prstGeom prst="rect">
            <a:avLst/>
          </a:prstGeom>
          <a:noFill/>
          <a:ln/>
        </p:spPr>
        <p:txBody>
          <a:bodyPr wrap="square" lIns="0" tIns="0" rIns="0" bIns="0" rtlCol="0" anchor="ctr"/>
          <a:lstStyle/>
          <a:p>
            <a:pPr algn="ctr" indent="0" marL="0">
              <a:buNone/>
            </a:pPr>
            <a:r>
              <a:rPr lang="en-US" sz="2800" b="1" dirty="0">
                <a:solidFill>
                  <a:srgbClr val="12213A"/>
                </a:solidFill>
                <a:latin typeface="Courier New" pitchFamily="34" charset="0"/>
                <a:ea typeface="Courier New" pitchFamily="34" charset="-122"/>
                <a:cs typeface="Courier New" pitchFamily="34" charset="-120"/>
              </a:rPr>
              <a:t>HELLO</a:t>
            </a:r>
            <a:endParaRPr lang="en-US" sz="2800" dirty="0"/>
          </a:p>
        </p:txBody>
      </p:sp>
      <p:sp>
        <p:nvSpPr>
          <p:cNvPr id="16" name="Text 13"/>
          <p:cNvSpPr txBox="1"/>
          <p:nvPr/>
        </p:nvSpPr>
        <p:spPr>
          <a:xfrm>
            <a:off x="8778240" y="3081528"/>
            <a:ext cx="2834640" cy="274320"/>
          </a:xfrm>
          <a:prstGeom prst="rect">
            <a:avLst/>
          </a:prstGeom>
          <a:noFill/>
          <a:ln/>
        </p:spPr>
        <p:txBody>
          <a:bodyPr wrap="square" lIns="0" tIns="0" rIns="0" bIns="0" rtlCol="0" anchor="ctr"/>
          <a:lstStyle/>
          <a:p>
            <a:pPr algn="ctr" indent="0" marL="0">
              <a:buNone/>
            </a:pPr>
            <a:r>
              <a:rPr lang="en-US" sz="1200" dirty="0">
                <a:solidFill>
                  <a:srgbClr val="56657E"/>
                </a:solidFill>
                <a:latin typeface="Calibri" pitchFamily="34" charset="0"/>
                <a:ea typeface="Calibri" pitchFamily="34" charset="-122"/>
                <a:cs typeface="Calibri" pitchFamily="34" charset="-120"/>
              </a:rPr>
              <a:t>readable again</a:t>
            </a:r>
            <a:endParaRPr lang="en-US" sz="1200" dirty="0"/>
          </a:p>
        </p:txBody>
      </p:sp>
      <p:sp>
        <p:nvSpPr>
          <p:cNvPr id="17" name="Shape 14"/>
          <p:cNvSpPr/>
          <p:nvPr/>
        </p:nvSpPr>
        <p:spPr>
          <a:xfrm>
            <a:off x="3456432" y="3337560"/>
            <a:ext cx="1133856" cy="0"/>
          </a:xfrm>
          <a:prstGeom prst="line">
            <a:avLst/>
          </a:prstGeom>
          <a:noFill/>
          <a:ln w="25400">
            <a:solidFill>
              <a:srgbClr val="9AA7BD"/>
            </a:solidFill>
            <a:prstDash val="solid"/>
            <a:tailEnd type="triangle"/>
          </a:ln>
        </p:spPr>
      </p:sp>
      <p:sp>
        <p:nvSpPr>
          <p:cNvPr id="18" name="Shape 15"/>
          <p:cNvSpPr/>
          <p:nvPr/>
        </p:nvSpPr>
        <p:spPr>
          <a:xfrm>
            <a:off x="3730752" y="2258568"/>
            <a:ext cx="585216" cy="585216"/>
          </a:xfrm>
          <a:prstGeom prst="ellipse">
            <a:avLst/>
          </a:prstGeom>
          <a:solidFill>
            <a:srgbClr val="D3DEF7"/>
          </a:solidFill>
          <a:ln/>
        </p:spPr>
      </p:sp>
      <p:pic>
        <p:nvPicPr>
          <p:cNvPr id="19" name="Image 0" descr="preencoded.png">    </p:cNvPr>
          <p:cNvPicPr>
            <a:picLocks noChangeAspect="1"/>
          </p:cNvPicPr>
          <p:nvPr/>
        </p:nvPicPr>
        <p:blipFill>
          <a:blip r:embed="rId1"/>
          <a:stretch>
            <a:fillRect/>
          </a:stretch>
        </p:blipFill>
        <p:spPr>
          <a:xfrm>
            <a:off x="3888760" y="2416576"/>
            <a:ext cx="269199" cy="269199"/>
          </a:xfrm>
          <a:prstGeom prst="rect">
            <a:avLst/>
          </a:prstGeom>
        </p:spPr>
      </p:pic>
      <p:sp>
        <p:nvSpPr>
          <p:cNvPr id="20" name="Text 16"/>
          <p:cNvSpPr txBox="1"/>
          <p:nvPr/>
        </p:nvSpPr>
        <p:spPr>
          <a:xfrm>
            <a:off x="3383280" y="2898648"/>
            <a:ext cx="1280160" cy="274320"/>
          </a:xfrm>
          <a:prstGeom prst="rect">
            <a:avLst/>
          </a:prstGeom>
          <a:noFill/>
          <a:ln/>
        </p:spPr>
        <p:txBody>
          <a:bodyPr wrap="square" lIns="0" tIns="0" rIns="0" bIns="0" rtlCol="0" anchor="ctr"/>
          <a:lstStyle/>
          <a:p>
            <a:pPr algn="ctr" indent="0" marL="0">
              <a:buNone/>
            </a:pPr>
            <a:r>
              <a:rPr lang="en-US" sz="1300" b="1" dirty="0">
                <a:solidFill>
                  <a:srgbClr val="2459D8"/>
                </a:solidFill>
                <a:latin typeface="Arial" pitchFamily="34" charset="0"/>
                <a:ea typeface="Arial" pitchFamily="34" charset="-122"/>
                <a:cs typeface="Arial" pitchFamily="34" charset="-120"/>
              </a:rPr>
              <a:t>encrypt</a:t>
            </a:r>
            <a:endParaRPr lang="en-US" sz="1300" dirty="0"/>
          </a:p>
        </p:txBody>
      </p:sp>
      <p:sp>
        <p:nvSpPr>
          <p:cNvPr id="21" name="Shape 17"/>
          <p:cNvSpPr/>
          <p:nvPr/>
        </p:nvSpPr>
        <p:spPr>
          <a:xfrm>
            <a:off x="7571232" y="3337560"/>
            <a:ext cx="1133856" cy="0"/>
          </a:xfrm>
          <a:prstGeom prst="line">
            <a:avLst/>
          </a:prstGeom>
          <a:noFill/>
          <a:ln w="25400">
            <a:solidFill>
              <a:srgbClr val="9AA7BD"/>
            </a:solidFill>
            <a:prstDash val="solid"/>
            <a:tailEnd type="triangle"/>
          </a:ln>
        </p:spPr>
      </p:sp>
      <p:sp>
        <p:nvSpPr>
          <p:cNvPr id="22" name="Shape 18"/>
          <p:cNvSpPr/>
          <p:nvPr/>
        </p:nvSpPr>
        <p:spPr>
          <a:xfrm>
            <a:off x="7845552" y="2258568"/>
            <a:ext cx="585216" cy="585216"/>
          </a:xfrm>
          <a:prstGeom prst="ellipse">
            <a:avLst/>
          </a:prstGeom>
          <a:solidFill>
            <a:srgbClr val="D3DEF7"/>
          </a:solidFill>
          <a:ln/>
        </p:spPr>
      </p:sp>
      <p:pic>
        <p:nvPicPr>
          <p:cNvPr id="23" name="Image 1" descr="preencoded.png">    </p:cNvPr>
          <p:cNvPicPr>
            <a:picLocks noChangeAspect="1"/>
          </p:cNvPicPr>
          <p:nvPr/>
        </p:nvPicPr>
        <p:blipFill>
          <a:blip r:embed="rId2"/>
          <a:stretch>
            <a:fillRect/>
          </a:stretch>
        </p:blipFill>
        <p:spPr>
          <a:xfrm>
            <a:off x="8003560" y="2416576"/>
            <a:ext cx="269199" cy="269199"/>
          </a:xfrm>
          <a:prstGeom prst="rect">
            <a:avLst/>
          </a:prstGeom>
        </p:spPr>
      </p:pic>
      <p:sp>
        <p:nvSpPr>
          <p:cNvPr id="24" name="Text 19"/>
          <p:cNvSpPr txBox="1"/>
          <p:nvPr/>
        </p:nvSpPr>
        <p:spPr>
          <a:xfrm>
            <a:off x="7498080" y="2898648"/>
            <a:ext cx="1280160" cy="274320"/>
          </a:xfrm>
          <a:prstGeom prst="rect">
            <a:avLst/>
          </a:prstGeom>
          <a:noFill/>
          <a:ln/>
        </p:spPr>
        <p:txBody>
          <a:bodyPr wrap="square" lIns="0" tIns="0" rIns="0" bIns="0" rtlCol="0" anchor="ctr"/>
          <a:lstStyle/>
          <a:p>
            <a:pPr algn="ctr" indent="0" marL="0">
              <a:buNone/>
            </a:pPr>
            <a:r>
              <a:rPr lang="en-US" sz="1300" b="1" dirty="0">
                <a:solidFill>
                  <a:srgbClr val="2459D8"/>
                </a:solidFill>
                <a:latin typeface="Arial" pitchFamily="34" charset="0"/>
                <a:ea typeface="Arial" pitchFamily="34" charset="-122"/>
                <a:cs typeface="Arial" pitchFamily="34" charset="-120"/>
              </a:rPr>
              <a:t>decrypt</a:t>
            </a:r>
            <a:endParaRPr lang="en-US" sz="1300" dirty="0"/>
          </a:p>
        </p:txBody>
      </p:sp>
      <p:sp>
        <p:nvSpPr>
          <p:cNvPr id="25" name="Shape 20"/>
          <p:cNvSpPr/>
          <p:nvPr/>
        </p:nvSpPr>
        <p:spPr>
          <a:xfrm>
            <a:off x="548640" y="3858768"/>
            <a:ext cx="5440680" cy="1700784"/>
          </a:xfrm>
          <a:prstGeom prst="roundRect">
            <a:avLst>
              <a:gd name="adj" fmla="val 5376"/>
            </a:avLst>
          </a:prstGeom>
          <a:solidFill>
            <a:srgbClr val="F1F5FB"/>
          </a:solidFill>
          <a:ln/>
        </p:spPr>
      </p:sp>
      <p:sp>
        <p:nvSpPr>
          <p:cNvPr id="26" name="Text 21"/>
          <p:cNvSpPr txBox="1"/>
          <p:nvPr/>
        </p:nvSpPr>
        <p:spPr>
          <a:xfrm>
            <a:off x="822960" y="3995928"/>
            <a:ext cx="4937760" cy="320040"/>
          </a:xfrm>
          <a:prstGeom prst="rect">
            <a:avLst/>
          </a:prstGeom>
          <a:noFill/>
          <a:ln/>
        </p:spPr>
        <p:txBody>
          <a:bodyPr wrap="square" lIns="0" tIns="0" rIns="0" bIns="0" rtlCol="0" anchor="t"/>
          <a:lstStyle/>
          <a:p>
            <a:pPr indent="0" marL="0">
              <a:buNone/>
            </a:pPr>
            <a:r>
              <a:rPr lang="en-US" sz="1700" b="1" dirty="0">
                <a:solidFill>
                  <a:srgbClr val="12213A"/>
                </a:solidFill>
                <a:latin typeface="Arial" pitchFamily="34" charset="0"/>
                <a:ea typeface="Arial" pitchFamily="34" charset="-122"/>
                <a:cs typeface="Arial" pitchFamily="34" charset="-120"/>
              </a:rPr>
              <a:t>What it's for</a:t>
            </a:r>
            <a:endParaRPr lang="en-US" sz="1700" dirty="0"/>
          </a:p>
        </p:txBody>
      </p:sp>
      <p:sp>
        <p:nvSpPr>
          <p:cNvPr id="27" name="Shape 22"/>
          <p:cNvSpPr/>
          <p:nvPr/>
        </p:nvSpPr>
        <p:spPr>
          <a:xfrm>
            <a:off x="822960" y="4389120"/>
            <a:ext cx="310896" cy="310896"/>
          </a:xfrm>
          <a:prstGeom prst="ellipse">
            <a:avLst/>
          </a:prstGeom>
          <a:solidFill>
            <a:srgbClr val="D1E7DE"/>
          </a:solidFill>
          <a:ln/>
        </p:spPr>
      </p:sp>
      <p:pic>
        <p:nvPicPr>
          <p:cNvPr id="28" name="Image 2" descr="preencoded.png">    </p:cNvPr>
          <p:cNvPicPr>
            <a:picLocks noChangeAspect="1"/>
          </p:cNvPicPr>
          <p:nvPr/>
        </p:nvPicPr>
        <p:blipFill>
          <a:blip r:embed="rId3"/>
          <a:stretch>
            <a:fillRect/>
          </a:stretch>
        </p:blipFill>
        <p:spPr>
          <a:xfrm>
            <a:off x="906902" y="4473062"/>
            <a:ext cx="143012" cy="143012"/>
          </a:xfrm>
          <a:prstGeom prst="rect">
            <a:avLst/>
          </a:prstGeom>
        </p:spPr>
      </p:pic>
      <p:sp>
        <p:nvSpPr>
          <p:cNvPr id="29" name="Text 23"/>
          <p:cNvSpPr txBox="1"/>
          <p:nvPr/>
        </p:nvSpPr>
        <p:spPr>
          <a:xfrm>
            <a:off x="1243584" y="4370832"/>
            <a:ext cx="4572000" cy="347472"/>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Keep secrets: </a:t>
            </a:r>
            <a:pPr indent="0" marL="0">
              <a:buNone/>
            </a:pPr>
            <a:r>
              <a:rPr lang="en-US" sz="1400" dirty="0">
                <a:solidFill>
                  <a:srgbClr val="12213A"/>
                </a:solidFill>
                <a:latin typeface="Calibri" pitchFamily="34" charset="0"/>
                <a:ea typeface="Calibri" pitchFamily="34" charset="-122"/>
                <a:cs typeface="Calibri" pitchFamily="34" charset="-120"/>
              </a:rPr>
              <a:t>only the right person can read it</a:t>
            </a:r>
            <a:endParaRPr lang="en-US" sz="1400" dirty="0"/>
          </a:p>
        </p:txBody>
      </p:sp>
      <p:sp>
        <p:nvSpPr>
          <p:cNvPr id="30" name="Shape 24"/>
          <p:cNvSpPr/>
          <p:nvPr/>
        </p:nvSpPr>
        <p:spPr>
          <a:xfrm>
            <a:off x="822960" y="4773168"/>
            <a:ext cx="310896" cy="310896"/>
          </a:xfrm>
          <a:prstGeom prst="ellipse">
            <a:avLst/>
          </a:prstGeom>
          <a:solidFill>
            <a:srgbClr val="D3DEF7"/>
          </a:solidFill>
          <a:ln/>
        </p:spPr>
      </p:sp>
      <p:pic>
        <p:nvPicPr>
          <p:cNvPr id="31" name="Image 3" descr="preencoded.png">    </p:cNvPr>
          <p:cNvPicPr>
            <a:picLocks noChangeAspect="1"/>
          </p:cNvPicPr>
          <p:nvPr/>
        </p:nvPicPr>
        <p:blipFill>
          <a:blip r:embed="rId4"/>
          <a:stretch>
            <a:fillRect/>
          </a:stretch>
        </p:blipFill>
        <p:spPr>
          <a:xfrm>
            <a:off x="906902" y="4857110"/>
            <a:ext cx="143012" cy="143012"/>
          </a:xfrm>
          <a:prstGeom prst="rect">
            <a:avLst/>
          </a:prstGeom>
        </p:spPr>
      </p:pic>
      <p:sp>
        <p:nvSpPr>
          <p:cNvPr id="32" name="Text 25"/>
          <p:cNvSpPr txBox="1"/>
          <p:nvPr/>
        </p:nvSpPr>
        <p:spPr>
          <a:xfrm>
            <a:off x="1243584" y="4754880"/>
            <a:ext cx="4572000" cy="347472"/>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Prove who sent it: </a:t>
            </a:r>
            <a:pPr indent="0" marL="0">
              <a:buNone/>
            </a:pPr>
            <a:r>
              <a:rPr lang="en-US" sz="1400" dirty="0">
                <a:solidFill>
                  <a:srgbClr val="12213A"/>
                </a:solidFill>
                <a:latin typeface="Calibri" pitchFamily="34" charset="0"/>
                <a:ea typeface="Calibri" pitchFamily="34" charset="-122"/>
                <a:cs typeface="Calibri" pitchFamily="34" charset="-120"/>
              </a:rPr>
              <a:t>a signature you can't fake</a:t>
            </a:r>
            <a:endParaRPr lang="en-US" sz="1400" dirty="0"/>
          </a:p>
        </p:txBody>
      </p:sp>
      <p:sp>
        <p:nvSpPr>
          <p:cNvPr id="33" name="Shape 26"/>
          <p:cNvSpPr/>
          <p:nvPr/>
        </p:nvSpPr>
        <p:spPr>
          <a:xfrm>
            <a:off x="822960" y="5157216"/>
            <a:ext cx="310896" cy="310896"/>
          </a:xfrm>
          <a:prstGeom prst="ellipse">
            <a:avLst/>
          </a:prstGeom>
          <a:solidFill>
            <a:srgbClr val="F6D9E1"/>
          </a:solidFill>
          <a:ln/>
        </p:spPr>
      </p:sp>
      <p:pic>
        <p:nvPicPr>
          <p:cNvPr id="34" name="Image 4" descr="preencoded.png">    </p:cNvPr>
          <p:cNvPicPr>
            <a:picLocks noChangeAspect="1"/>
          </p:cNvPicPr>
          <p:nvPr/>
        </p:nvPicPr>
        <p:blipFill>
          <a:blip r:embed="rId5"/>
          <a:stretch>
            <a:fillRect/>
          </a:stretch>
        </p:blipFill>
        <p:spPr>
          <a:xfrm>
            <a:off x="906902" y="5241158"/>
            <a:ext cx="143012" cy="143012"/>
          </a:xfrm>
          <a:prstGeom prst="rect">
            <a:avLst/>
          </a:prstGeom>
        </p:spPr>
      </p:pic>
      <p:sp>
        <p:nvSpPr>
          <p:cNvPr id="35" name="Text 27"/>
          <p:cNvSpPr txBox="1"/>
          <p:nvPr/>
        </p:nvSpPr>
        <p:spPr>
          <a:xfrm>
            <a:off x="1243584" y="5138928"/>
            <a:ext cx="4572000" cy="347472"/>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Spot tampering: </a:t>
            </a:r>
            <a:pPr indent="0" marL="0">
              <a:buNone/>
            </a:pPr>
            <a:r>
              <a:rPr lang="en-US" sz="1400" dirty="0">
                <a:solidFill>
                  <a:srgbClr val="12213A"/>
                </a:solidFill>
                <a:latin typeface="Calibri" pitchFamily="34" charset="0"/>
                <a:ea typeface="Calibri" pitchFamily="34" charset="-122"/>
                <a:cs typeface="Calibri" pitchFamily="34" charset="-120"/>
              </a:rPr>
              <a:t>know if a message was changed</a:t>
            </a:r>
            <a:endParaRPr lang="en-US" sz="1400" dirty="0"/>
          </a:p>
        </p:txBody>
      </p:sp>
      <p:sp>
        <p:nvSpPr>
          <p:cNvPr id="36" name="Shape 28"/>
          <p:cNvSpPr/>
          <p:nvPr/>
        </p:nvSpPr>
        <p:spPr>
          <a:xfrm>
            <a:off x="6199632" y="3858768"/>
            <a:ext cx="5440680" cy="1700784"/>
          </a:xfrm>
          <a:prstGeom prst="roundRect">
            <a:avLst>
              <a:gd name="adj" fmla="val 5376"/>
            </a:avLst>
          </a:prstGeom>
          <a:solidFill>
            <a:srgbClr val="F1F5FB"/>
          </a:solidFill>
          <a:ln/>
        </p:spPr>
      </p:sp>
      <p:sp>
        <p:nvSpPr>
          <p:cNvPr id="37" name="Text 29"/>
          <p:cNvSpPr txBox="1"/>
          <p:nvPr/>
        </p:nvSpPr>
        <p:spPr>
          <a:xfrm>
            <a:off x="6473952" y="3995928"/>
            <a:ext cx="4937760" cy="320040"/>
          </a:xfrm>
          <a:prstGeom prst="rect">
            <a:avLst/>
          </a:prstGeom>
          <a:noFill/>
          <a:ln/>
        </p:spPr>
        <p:txBody>
          <a:bodyPr wrap="square" lIns="0" tIns="0" rIns="0" bIns="0" rtlCol="0" anchor="t"/>
          <a:lstStyle/>
          <a:p>
            <a:pPr indent="0" marL="0">
              <a:buNone/>
            </a:pPr>
            <a:r>
              <a:rPr lang="en-US" sz="1700" b="1" dirty="0">
                <a:solidFill>
                  <a:srgbClr val="12213A"/>
                </a:solidFill>
                <a:latin typeface="Arial" pitchFamily="34" charset="0"/>
                <a:ea typeface="Arial" pitchFamily="34" charset="-122"/>
                <a:cs typeface="Arial" pitchFamily="34" charset="-120"/>
              </a:rPr>
              <a:t>Where you meet it every day</a:t>
            </a:r>
            <a:endParaRPr lang="en-US" sz="1700" dirty="0"/>
          </a:p>
        </p:txBody>
      </p:sp>
      <p:sp>
        <p:nvSpPr>
          <p:cNvPr id="38" name="Shape 30"/>
          <p:cNvSpPr/>
          <p:nvPr/>
        </p:nvSpPr>
        <p:spPr>
          <a:xfrm>
            <a:off x="6656832" y="4425696"/>
            <a:ext cx="658368" cy="658368"/>
          </a:xfrm>
          <a:prstGeom prst="ellipse">
            <a:avLst/>
          </a:prstGeom>
          <a:solidFill>
            <a:srgbClr val="D4ECF7"/>
          </a:solidFill>
          <a:ln/>
        </p:spPr>
      </p:sp>
      <p:pic>
        <p:nvPicPr>
          <p:cNvPr id="39" name="Image 5" descr="preencoded.png">    </p:cNvPr>
          <p:cNvPicPr>
            <a:picLocks noChangeAspect="1"/>
          </p:cNvPicPr>
          <p:nvPr/>
        </p:nvPicPr>
        <p:blipFill>
          <a:blip r:embed="rId6"/>
          <a:stretch>
            <a:fillRect/>
          </a:stretch>
        </p:blipFill>
        <p:spPr>
          <a:xfrm>
            <a:off x="6834591" y="4603455"/>
            <a:ext cx="302849" cy="302849"/>
          </a:xfrm>
          <a:prstGeom prst="rect">
            <a:avLst/>
          </a:prstGeom>
        </p:spPr>
      </p:pic>
      <p:sp>
        <p:nvSpPr>
          <p:cNvPr id="40" name="Text 31"/>
          <p:cNvSpPr txBox="1"/>
          <p:nvPr/>
        </p:nvSpPr>
        <p:spPr>
          <a:xfrm>
            <a:off x="6309360" y="5157216"/>
            <a:ext cx="1371600" cy="320040"/>
          </a:xfrm>
          <a:prstGeom prst="rect">
            <a:avLst/>
          </a:prstGeom>
          <a:noFill/>
          <a:ln/>
        </p:spPr>
        <p:txBody>
          <a:bodyPr wrap="square" lIns="0" tIns="0" rIns="0" bIns="0" rtlCol="0" anchor="t"/>
          <a:lstStyle/>
          <a:p>
            <a:pPr algn="ctr" indent="0" marL="0">
              <a:buNone/>
            </a:pPr>
            <a:r>
              <a:rPr lang="en-US" sz="1150" b="1" dirty="0">
                <a:solidFill>
                  <a:srgbClr val="12213A"/>
                </a:solidFill>
                <a:latin typeface="Calibri" pitchFamily="34" charset="0"/>
                <a:ea typeface="Calibri" pitchFamily="34" charset="-122"/>
                <a:cs typeface="Calibri" pitchFamily="34" charset="-120"/>
              </a:rPr>
              <a:t>Passwords</a:t>
            </a:r>
            <a:endParaRPr lang="en-US" sz="1150" dirty="0"/>
          </a:p>
        </p:txBody>
      </p:sp>
      <p:sp>
        <p:nvSpPr>
          <p:cNvPr id="41" name="Shape 32"/>
          <p:cNvSpPr/>
          <p:nvPr/>
        </p:nvSpPr>
        <p:spPr>
          <a:xfrm>
            <a:off x="7991856" y="4425696"/>
            <a:ext cx="658368" cy="658368"/>
          </a:xfrm>
          <a:prstGeom prst="ellipse">
            <a:avLst/>
          </a:prstGeom>
          <a:solidFill>
            <a:srgbClr val="D3DEF7"/>
          </a:solidFill>
          <a:ln/>
        </p:spPr>
      </p:sp>
      <p:pic>
        <p:nvPicPr>
          <p:cNvPr id="42" name="Image 6" descr="preencoded.png">    </p:cNvPr>
          <p:cNvPicPr>
            <a:picLocks noChangeAspect="1"/>
          </p:cNvPicPr>
          <p:nvPr/>
        </p:nvPicPr>
        <p:blipFill>
          <a:blip r:embed="rId7"/>
          <a:stretch>
            <a:fillRect/>
          </a:stretch>
        </p:blipFill>
        <p:spPr>
          <a:xfrm>
            <a:off x="8169615" y="4603455"/>
            <a:ext cx="302849" cy="302849"/>
          </a:xfrm>
          <a:prstGeom prst="rect">
            <a:avLst/>
          </a:prstGeom>
        </p:spPr>
      </p:pic>
      <p:sp>
        <p:nvSpPr>
          <p:cNvPr id="43" name="Text 33"/>
          <p:cNvSpPr txBox="1"/>
          <p:nvPr/>
        </p:nvSpPr>
        <p:spPr>
          <a:xfrm>
            <a:off x="7644384" y="5157216"/>
            <a:ext cx="1371600" cy="320040"/>
          </a:xfrm>
          <a:prstGeom prst="rect">
            <a:avLst/>
          </a:prstGeom>
          <a:noFill/>
          <a:ln/>
        </p:spPr>
        <p:txBody>
          <a:bodyPr wrap="square" lIns="0" tIns="0" rIns="0" bIns="0" rtlCol="0" anchor="t"/>
          <a:lstStyle/>
          <a:p>
            <a:pPr algn="ctr" indent="0" marL="0">
              <a:buNone/>
            </a:pPr>
            <a:r>
              <a:rPr lang="en-US" sz="1150" b="1" dirty="0">
                <a:solidFill>
                  <a:srgbClr val="12213A"/>
                </a:solidFill>
                <a:latin typeface="Calibri" pitchFamily="34" charset="0"/>
                <a:ea typeface="Calibri" pitchFamily="34" charset="-122"/>
                <a:cs typeface="Calibri" pitchFamily="34" charset="-120"/>
              </a:rPr>
              <a:t>The web (HTTPS)</a:t>
            </a:r>
            <a:endParaRPr lang="en-US" sz="1150" dirty="0"/>
          </a:p>
        </p:txBody>
      </p:sp>
      <p:sp>
        <p:nvSpPr>
          <p:cNvPr id="44" name="Shape 34"/>
          <p:cNvSpPr/>
          <p:nvPr/>
        </p:nvSpPr>
        <p:spPr>
          <a:xfrm>
            <a:off x="9326880" y="4425696"/>
            <a:ext cx="658368" cy="658368"/>
          </a:xfrm>
          <a:prstGeom prst="ellipse">
            <a:avLst/>
          </a:prstGeom>
          <a:solidFill>
            <a:srgbClr val="E3DAF6"/>
          </a:solidFill>
          <a:ln/>
        </p:spPr>
      </p:sp>
      <p:pic>
        <p:nvPicPr>
          <p:cNvPr id="45" name="Image 7" descr="preencoded.png">    </p:cNvPr>
          <p:cNvPicPr>
            <a:picLocks noChangeAspect="1"/>
          </p:cNvPicPr>
          <p:nvPr/>
        </p:nvPicPr>
        <p:blipFill>
          <a:blip r:embed="rId8"/>
          <a:stretch>
            <a:fillRect/>
          </a:stretch>
        </p:blipFill>
        <p:spPr>
          <a:xfrm>
            <a:off x="9504639" y="4603455"/>
            <a:ext cx="302849" cy="302849"/>
          </a:xfrm>
          <a:prstGeom prst="rect">
            <a:avLst/>
          </a:prstGeom>
        </p:spPr>
      </p:pic>
      <p:sp>
        <p:nvSpPr>
          <p:cNvPr id="46" name="Text 35"/>
          <p:cNvSpPr txBox="1"/>
          <p:nvPr/>
        </p:nvSpPr>
        <p:spPr>
          <a:xfrm>
            <a:off x="8979408" y="5157216"/>
            <a:ext cx="1371600" cy="320040"/>
          </a:xfrm>
          <a:prstGeom prst="rect">
            <a:avLst/>
          </a:prstGeom>
          <a:noFill/>
          <a:ln/>
        </p:spPr>
        <p:txBody>
          <a:bodyPr wrap="square" lIns="0" tIns="0" rIns="0" bIns="0" rtlCol="0" anchor="t"/>
          <a:lstStyle/>
          <a:p>
            <a:pPr algn="ctr" indent="0" marL="0">
              <a:buNone/>
            </a:pPr>
            <a:r>
              <a:rPr lang="en-US" sz="1150" b="1" dirty="0">
                <a:solidFill>
                  <a:srgbClr val="12213A"/>
                </a:solidFill>
                <a:latin typeface="Calibri" pitchFamily="34" charset="0"/>
                <a:ea typeface="Calibri" pitchFamily="34" charset="-122"/>
                <a:cs typeface="Calibri" pitchFamily="34" charset="-120"/>
              </a:rPr>
              <a:t>Messaging</a:t>
            </a:r>
            <a:endParaRPr lang="en-US" sz="1150" dirty="0"/>
          </a:p>
        </p:txBody>
      </p:sp>
      <p:sp>
        <p:nvSpPr>
          <p:cNvPr id="47" name="Shape 36"/>
          <p:cNvSpPr/>
          <p:nvPr/>
        </p:nvSpPr>
        <p:spPr>
          <a:xfrm>
            <a:off x="10661904" y="4425696"/>
            <a:ext cx="658368" cy="658368"/>
          </a:xfrm>
          <a:prstGeom prst="ellipse">
            <a:avLst/>
          </a:prstGeom>
          <a:solidFill>
            <a:srgbClr val="FAE6CE"/>
          </a:solidFill>
          <a:ln/>
        </p:spPr>
      </p:sp>
      <p:pic>
        <p:nvPicPr>
          <p:cNvPr id="48" name="Image 8" descr="preencoded.png">    </p:cNvPr>
          <p:cNvPicPr>
            <a:picLocks noChangeAspect="1"/>
          </p:cNvPicPr>
          <p:nvPr/>
        </p:nvPicPr>
        <p:blipFill>
          <a:blip r:embed="rId9"/>
          <a:stretch>
            <a:fillRect/>
          </a:stretch>
        </p:blipFill>
        <p:spPr>
          <a:xfrm>
            <a:off x="10839663" y="4603455"/>
            <a:ext cx="302849" cy="302849"/>
          </a:xfrm>
          <a:prstGeom prst="rect">
            <a:avLst/>
          </a:prstGeom>
        </p:spPr>
      </p:pic>
      <p:sp>
        <p:nvSpPr>
          <p:cNvPr id="49" name="Text 37"/>
          <p:cNvSpPr txBox="1"/>
          <p:nvPr/>
        </p:nvSpPr>
        <p:spPr>
          <a:xfrm>
            <a:off x="10314432" y="5157216"/>
            <a:ext cx="1371600" cy="320040"/>
          </a:xfrm>
          <a:prstGeom prst="rect">
            <a:avLst/>
          </a:prstGeom>
          <a:noFill/>
          <a:ln/>
        </p:spPr>
        <p:txBody>
          <a:bodyPr wrap="square" lIns="0" tIns="0" rIns="0" bIns="0" rtlCol="0" anchor="t"/>
          <a:lstStyle/>
          <a:p>
            <a:pPr algn="ctr" indent="0" marL="0">
              <a:buNone/>
            </a:pPr>
            <a:r>
              <a:rPr lang="en-US" sz="1150" b="1" dirty="0">
                <a:solidFill>
                  <a:srgbClr val="12213A"/>
                </a:solidFill>
                <a:latin typeface="Calibri" pitchFamily="34" charset="0"/>
                <a:ea typeface="Calibri" pitchFamily="34" charset="-122"/>
                <a:cs typeface="Calibri" pitchFamily="34" charset="-120"/>
              </a:rPr>
              <a:t>Payments</a:t>
            </a:r>
            <a:endParaRPr lang="en-US" sz="1150" dirty="0"/>
          </a:p>
        </p:txBody>
      </p:sp>
      <p:sp>
        <p:nvSpPr>
          <p:cNvPr id="50" name="Text 38"/>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6 / 61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2,500 years of secret messages</a:t>
            </a:r>
            <a:endParaRPr lang="en-US" sz="3200" dirty="0"/>
          </a:p>
        </p:txBody>
      </p:sp>
      <p:sp>
        <p:nvSpPr>
          <p:cNvPr id="4" name="Shape 1"/>
          <p:cNvSpPr/>
          <p:nvPr/>
        </p:nvSpPr>
        <p:spPr>
          <a:xfrm>
            <a:off x="548640" y="2258568"/>
            <a:ext cx="11094415" cy="54864"/>
          </a:xfrm>
          <a:prstGeom prst="rect">
            <a:avLst/>
          </a:prstGeom>
          <a:solidFill>
            <a:srgbClr val="D6DEEA"/>
          </a:solidFill>
          <a:ln/>
        </p:spPr>
      </p:sp>
      <p:sp>
        <p:nvSpPr>
          <p:cNvPr id="5" name="Shape 2"/>
          <p:cNvSpPr/>
          <p:nvPr/>
        </p:nvSpPr>
        <p:spPr>
          <a:xfrm>
            <a:off x="1207008" y="2075688"/>
            <a:ext cx="420624" cy="420624"/>
          </a:xfrm>
          <a:prstGeom prst="ellipse">
            <a:avLst/>
          </a:prstGeom>
          <a:solidFill>
            <a:srgbClr val="17875A"/>
          </a:solidFill>
          <a:ln w="38100">
            <a:solidFill>
              <a:srgbClr val="FFFFFF"/>
            </a:solidFill>
            <a:prstDash val="solid"/>
          </a:ln>
        </p:spPr>
      </p:sp>
      <p:sp>
        <p:nvSpPr>
          <p:cNvPr id="6" name="Text 3"/>
          <p:cNvSpPr txBox="1"/>
          <p:nvPr/>
        </p:nvSpPr>
        <p:spPr>
          <a:xfrm>
            <a:off x="548640" y="1463040"/>
            <a:ext cx="1737360" cy="457200"/>
          </a:xfrm>
          <a:prstGeom prst="rect">
            <a:avLst/>
          </a:prstGeom>
          <a:noFill/>
          <a:ln/>
        </p:spPr>
        <p:txBody>
          <a:bodyPr wrap="square" lIns="0" tIns="0" rIns="0" bIns="0" rtlCol="0" anchor="t"/>
          <a:lstStyle/>
          <a:p>
            <a:pPr algn="ctr" indent="0" marL="0">
              <a:buNone/>
            </a:pPr>
            <a:r>
              <a:rPr lang="en-US" sz="2000" b="1" dirty="0">
                <a:solidFill>
                  <a:srgbClr val="17875A"/>
                </a:solidFill>
                <a:latin typeface="Arial" pitchFamily="34" charset="0"/>
                <a:ea typeface="Arial" pitchFamily="34" charset="-122"/>
                <a:cs typeface="Arial" pitchFamily="34" charset="-120"/>
              </a:rPr>
              <a:t>~500 BC</a:t>
            </a:r>
            <a:endParaRPr lang="en-US" sz="2000" dirty="0"/>
          </a:p>
        </p:txBody>
      </p:sp>
      <p:sp>
        <p:nvSpPr>
          <p:cNvPr id="7" name="Shape 4"/>
          <p:cNvSpPr/>
          <p:nvPr/>
        </p:nvSpPr>
        <p:spPr>
          <a:xfrm>
            <a:off x="548640" y="2743200"/>
            <a:ext cx="1737360" cy="2331720"/>
          </a:xfrm>
          <a:prstGeom prst="roundRect">
            <a:avLst>
              <a:gd name="adj" fmla="val 5263"/>
            </a:avLst>
          </a:prstGeom>
          <a:solidFill>
            <a:srgbClr val="F1F5FB"/>
          </a:solidFill>
          <a:ln/>
        </p:spPr>
      </p:sp>
      <p:sp>
        <p:nvSpPr>
          <p:cNvPr id="8" name="Text 5"/>
          <p:cNvSpPr txBox="1"/>
          <p:nvPr/>
        </p:nvSpPr>
        <p:spPr>
          <a:xfrm>
            <a:off x="685800" y="2880360"/>
            <a:ext cx="1463040" cy="457200"/>
          </a:xfrm>
          <a:prstGeom prst="rect">
            <a:avLst/>
          </a:prstGeom>
          <a:noFill/>
          <a:ln/>
        </p:spPr>
        <p:txBody>
          <a:bodyPr wrap="square" lIns="0" tIns="0" rIns="0" bIns="0" rtlCol="0" anchor="t"/>
          <a:lstStyle/>
          <a:p>
            <a:pPr indent="0" marL="0">
              <a:buNone/>
            </a:pPr>
            <a:r>
              <a:rPr lang="en-US" sz="1700" b="1" dirty="0">
                <a:solidFill>
                  <a:srgbClr val="12213A"/>
                </a:solidFill>
                <a:latin typeface="Arial" pitchFamily="34" charset="0"/>
                <a:ea typeface="Arial" pitchFamily="34" charset="-122"/>
                <a:cs typeface="Arial" pitchFamily="34" charset="-120"/>
              </a:rPr>
              <a:t>Atbash</a:t>
            </a:r>
            <a:endParaRPr lang="en-US" sz="1700" dirty="0"/>
          </a:p>
        </p:txBody>
      </p:sp>
      <p:sp>
        <p:nvSpPr>
          <p:cNvPr id="9" name="Text 6"/>
          <p:cNvSpPr txBox="1"/>
          <p:nvPr/>
        </p:nvSpPr>
        <p:spPr>
          <a:xfrm>
            <a:off x="685800" y="3383280"/>
            <a:ext cx="1508760" cy="1554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Flip the alphabet: A↔Z.</a:t>
            </a:r>
            <a:endParaRPr lang="en-US" sz="1400" dirty="0"/>
          </a:p>
        </p:txBody>
      </p:sp>
      <p:sp>
        <p:nvSpPr>
          <p:cNvPr id="10" name="Shape 7"/>
          <p:cNvSpPr/>
          <p:nvPr/>
        </p:nvSpPr>
        <p:spPr>
          <a:xfrm>
            <a:off x="3072384" y="2075688"/>
            <a:ext cx="420624" cy="420624"/>
          </a:xfrm>
          <a:prstGeom prst="ellipse">
            <a:avLst/>
          </a:prstGeom>
          <a:solidFill>
            <a:srgbClr val="2A9FD6"/>
          </a:solidFill>
          <a:ln w="38100">
            <a:solidFill>
              <a:srgbClr val="FFFFFF"/>
            </a:solidFill>
            <a:prstDash val="solid"/>
          </a:ln>
        </p:spPr>
      </p:sp>
      <p:sp>
        <p:nvSpPr>
          <p:cNvPr id="11" name="Text 8"/>
          <p:cNvSpPr txBox="1"/>
          <p:nvPr/>
        </p:nvSpPr>
        <p:spPr>
          <a:xfrm>
            <a:off x="2414016" y="1463040"/>
            <a:ext cx="1737360" cy="457200"/>
          </a:xfrm>
          <a:prstGeom prst="rect">
            <a:avLst/>
          </a:prstGeom>
          <a:noFill/>
          <a:ln/>
        </p:spPr>
        <p:txBody>
          <a:bodyPr wrap="square" lIns="0" tIns="0" rIns="0" bIns="0" rtlCol="0" anchor="t"/>
          <a:lstStyle/>
          <a:p>
            <a:pPr algn="ctr" indent="0" marL="0">
              <a:buNone/>
            </a:pPr>
            <a:r>
              <a:rPr lang="en-US" sz="2000" b="1" dirty="0">
                <a:solidFill>
                  <a:srgbClr val="2A9FD6"/>
                </a:solidFill>
                <a:latin typeface="Arial" pitchFamily="34" charset="0"/>
                <a:ea typeface="Arial" pitchFamily="34" charset="-122"/>
                <a:cs typeface="Arial" pitchFamily="34" charset="-120"/>
              </a:rPr>
              <a:t>~50 BC</a:t>
            </a:r>
            <a:endParaRPr lang="en-US" sz="2000" dirty="0"/>
          </a:p>
        </p:txBody>
      </p:sp>
      <p:sp>
        <p:nvSpPr>
          <p:cNvPr id="12" name="Shape 9"/>
          <p:cNvSpPr/>
          <p:nvPr/>
        </p:nvSpPr>
        <p:spPr>
          <a:xfrm>
            <a:off x="2414016" y="2743200"/>
            <a:ext cx="1737360" cy="2331720"/>
          </a:xfrm>
          <a:prstGeom prst="roundRect">
            <a:avLst>
              <a:gd name="adj" fmla="val 5263"/>
            </a:avLst>
          </a:prstGeom>
          <a:solidFill>
            <a:srgbClr val="F1F5FB"/>
          </a:solidFill>
          <a:ln/>
        </p:spPr>
      </p:sp>
      <p:sp>
        <p:nvSpPr>
          <p:cNvPr id="13" name="Text 10"/>
          <p:cNvSpPr txBox="1"/>
          <p:nvPr/>
        </p:nvSpPr>
        <p:spPr>
          <a:xfrm>
            <a:off x="2551176" y="2880360"/>
            <a:ext cx="1463040" cy="457200"/>
          </a:xfrm>
          <a:prstGeom prst="rect">
            <a:avLst/>
          </a:prstGeom>
          <a:noFill/>
          <a:ln/>
        </p:spPr>
        <p:txBody>
          <a:bodyPr wrap="square" lIns="0" tIns="0" rIns="0" bIns="0" rtlCol="0" anchor="t"/>
          <a:lstStyle/>
          <a:p>
            <a:pPr indent="0" marL="0">
              <a:buNone/>
            </a:pPr>
            <a:r>
              <a:rPr lang="en-US" sz="1700" b="1" dirty="0">
                <a:solidFill>
                  <a:srgbClr val="12213A"/>
                </a:solidFill>
                <a:latin typeface="Arial" pitchFamily="34" charset="0"/>
                <a:ea typeface="Arial" pitchFamily="34" charset="-122"/>
                <a:cs typeface="Arial" pitchFamily="34" charset="-120"/>
              </a:rPr>
              <a:t>Caesar</a:t>
            </a:r>
            <a:endParaRPr lang="en-US" sz="1700" dirty="0"/>
          </a:p>
        </p:txBody>
      </p:sp>
      <p:sp>
        <p:nvSpPr>
          <p:cNvPr id="14" name="Text 11"/>
          <p:cNvSpPr txBox="1"/>
          <p:nvPr/>
        </p:nvSpPr>
        <p:spPr>
          <a:xfrm>
            <a:off x="2551176" y="3383280"/>
            <a:ext cx="1508760" cy="1554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Shift every letter 3 places.</a:t>
            </a:r>
            <a:endParaRPr lang="en-US" sz="1400" dirty="0"/>
          </a:p>
        </p:txBody>
      </p:sp>
      <p:sp>
        <p:nvSpPr>
          <p:cNvPr id="15" name="Shape 12"/>
          <p:cNvSpPr/>
          <p:nvPr/>
        </p:nvSpPr>
        <p:spPr>
          <a:xfrm>
            <a:off x="4937760" y="2075688"/>
            <a:ext cx="420624" cy="420624"/>
          </a:xfrm>
          <a:prstGeom prst="ellipse">
            <a:avLst/>
          </a:prstGeom>
          <a:solidFill>
            <a:srgbClr val="2459D8"/>
          </a:solidFill>
          <a:ln w="38100">
            <a:solidFill>
              <a:srgbClr val="FFFFFF"/>
            </a:solidFill>
            <a:prstDash val="solid"/>
          </a:ln>
        </p:spPr>
      </p:sp>
      <p:sp>
        <p:nvSpPr>
          <p:cNvPr id="16" name="Text 13"/>
          <p:cNvSpPr txBox="1"/>
          <p:nvPr/>
        </p:nvSpPr>
        <p:spPr>
          <a:xfrm>
            <a:off x="4279392" y="1463040"/>
            <a:ext cx="1737360" cy="457200"/>
          </a:xfrm>
          <a:prstGeom prst="rect">
            <a:avLst/>
          </a:prstGeom>
          <a:noFill/>
          <a:ln/>
        </p:spPr>
        <p:txBody>
          <a:bodyPr wrap="square" lIns="0" tIns="0" rIns="0" bIns="0" rtlCol="0" anchor="t"/>
          <a:lstStyle/>
          <a:p>
            <a:pPr algn="ctr" indent="0" marL="0">
              <a:buNone/>
            </a:pPr>
            <a:r>
              <a:rPr lang="en-US" sz="2000" b="1" dirty="0">
                <a:solidFill>
                  <a:srgbClr val="2459D8"/>
                </a:solidFill>
                <a:latin typeface="Arial" pitchFamily="34" charset="0"/>
                <a:ea typeface="Arial" pitchFamily="34" charset="-122"/>
                <a:cs typeface="Arial" pitchFamily="34" charset="-120"/>
              </a:rPr>
              <a:t>1553</a:t>
            </a:r>
            <a:endParaRPr lang="en-US" sz="2000" dirty="0"/>
          </a:p>
        </p:txBody>
      </p:sp>
      <p:sp>
        <p:nvSpPr>
          <p:cNvPr id="17" name="Shape 14"/>
          <p:cNvSpPr/>
          <p:nvPr/>
        </p:nvSpPr>
        <p:spPr>
          <a:xfrm>
            <a:off x="4279392" y="2743200"/>
            <a:ext cx="1737360" cy="2331720"/>
          </a:xfrm>
          <a:prstGeom prst="roundRect">
            <a:avLst>
              <a:gd name="adj" fmla="val 5263"/>
            </a:avLst>
          </a:prstGeom>
          <a:solidFill>
            <a:srgbClr val="F1F5FB"/>
          </a:solidFill>
          <a:ln/>
        </p:spPr>
      </p:sp>
      <p:sp>
        <p:nvSpPr>
          <p:cNvPr id="18" name="Text 15"/>
          <p:cNvSpPr txBox="1"/>
          <p:nvPr/>
        </p:nvSpPr>
        <p:spPr>
          <a:xfrm>
            <a:off x="4416552" y="2880360"/>
            <a:ext cx="1463040" cy="457200"/>
          </a:xfrm>
          <a:prstGeom prst="rect">
            <a:avLst/>
          </a:prstGeom>
          <a:noFill/>
          <a:ln/>
        </p:spPr>
        <p:txBody>
          <a:bodyPr wrap="square" lIns="0" tIns="0" rIns="0" bIns="0" rtlCol="0" anchor="t"/>
          <a:lstStyle/>
          <a:p>
            <a:pPr indent="0" marL="0">
              <a:buNone/>
            </a:pPr>
            <a:r>
              <a:rPr lang="en-US" sz="1700" b="1" dirty="0">
                <a:solidFill>
                  <a:srgbClr val="12213A"/>
                </a:solidFill>
                <a:latin typeface="Arial" pitchFamily="34" charset="0"/>
                <a:ea typeface="Arial" pitchFamily="34" charset="-122"/>
                <a:cs typeface="Arial" pitchFamily="34" charset="-120"/>
              </a:rPr>
              <a:t>Vigenère</a:t>
            </a:r>
            <a:endParaRPr lang="en-US" sz="1700" dirty="0"/>
          </a:p>
        </p:txBody>
      </p:sp>
      <p:sp>
        <p:nvSpPr>
          <p:cNvPr id="19" name="Text 16"/>
          <p:cNvSpPr txBox="1"/>
          <p:nvPr/>
        </p:nvSpPr>
        <p:spPr>
          <a:xfrm>
            <a:off x="4416552" y="3383280"/>
            <a:ext cx="1508760" cy="1554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A keyword sets each shift. Unbroken for 300 years.</a:t>
            </a:r>
            <a:endParaRPr lang="en-US" sz="1400" dirty="0"/>
          </a:p>
        </p:txBody>
      </p:sp>
      <p:sp>
        <p:nvSpPr>
          <p:cNvPr id="20" name="Shape 17"/>
          <p:cNvSpPr/>
          <p:nvPr/>
        </p:nvSpPr>
        <p:spPr>
          <a:xfrm>
            <a:off x="6803136" y="2075688"/>
            <a:ext cx="420624" cy="420624"/>
          </a:xfrm>
          <a:prstGeom prst="ellipse">
            <a:avLst/>
          </a:prstGeom>
          <a:solidFill>
            <a:srgbClr val="7448D4"/>
          </a:solidFill>
          <a:ln w="38100">
            <a:solidFill>
              <a:srgbClr val="FFFFFF"/>
            </a:solidFill>
            <a:prstDash val="solid"/>
          </a:ln>
        </p:spPr>
      </p:sp>
      <p:sp>
        <p:nvSpPr>
          <p:cNvPr id="21" name="Text 18"/>
          <p:cNvSpPr txBox="1"/>
          <p:nvPr/>
        </p:nvSpPr>
        <p:spPr>
          <a:xfrm>
            <a:off x="6144768" y="1463040"/>
            <a:ext cx="1737360" cy="457200"/>
          </a:xfrm>
          <a:prstGeom prst="rect">
            <a:avLst/>
          </a:prstGeom>
          <a:noFill/>
          <a:ln/>
        </p:spPr>
        <p:txBody>
          <a:bodyPr wrap="square" lIns="0" tIns="0" rIns="0" bIns="0" rtlCol="0" anchor="t"/>
          <a:lstStyle/>
          <a:p>
            <a:pPr algn="ctr" indent="0" marL="0">
              <a:buNone/>
            </a:pPr>
            <a:r>
              <a:rPr lang="en-US" sz="2000" b="1" dirty="0">
                <a:solidFill>
                  <a:srgbClr val="7448D4"/>
                </a:solidFill>
                <a:latin typeface="Arial" pitchFamily="34" charset="0"/>
                <a:ea typeface="Arial" pitchFamily="34" charset="-122"/>
                <a:cs typeface="Arial" pitchFamily="34" charset="-120"/>
              </a:rPr>
              <a:t>1940s</a:t>
            </a:r>
            <a:endParaRPr lang="en-US" sz="2000" dirty="0"/>
          </a:p>
        </p:txBody>
      </p:sp>
      <p:sp>
        <p:nvSpPr>
          <p:cNvPr id="22" name="Shape 19"/>
          <p:cNvSpPr/>
          <p:nvPr/>
        </p:nvSpPr>
        <p:spPr>
          <a:xfrm>
            <a:off x="6144768" y="2743200"/>
            <a:ext cx="1737360" cy="2331720"/>
          </a:xfrm>
          <a:prstGeom prst="roundRect">
            <a:avLst>
              <a:gd name="adj" fmla="val 5263"/>
            </a:avLst>
          </a:prstGeom>
          <a:solidFill>
            <a:srgbClr val="F1F5FB"/>
          </a:solidFill>
          <a:ln/>
        </p:spPr>
      </p:sp>
      <p:sp>
        <p:nvSpPr>
          <p:cNvPr id="23" name="Text 20"/>
          <p:cNvSpPr txBox="1"/>
          <p:nvPr/>
        </p:nvSpPr>
        <p:spPr>
          <a:xfrm>
            <a:off x="6281928" y="2880360"/>
            <a:ext cx="1463040" cy="457200"/>
          </a:xfrm>
          <a:prstGeom prst="rect">
            <a:avLst/>
          </a:prstGeom>
          <a:noFill/>
          <a:ln/>
        </p:spPr>
        <p:txBody>
          <a:bodyPr wrap="square" lIns="0" tIns="0" rIns="0" bIns="0" rtlCol="0" anchor="t"/>
          <a:lstStyle/>
          <a:p>
            <a:pPr indent="0" marL="0">
              <a:buNone/>
            </a:pPr>
            <a:r>
              <a:rPr lang="en-US" sz="1700" b="1" dirty="0">
                <a:solidFill>
                  <a:srgbClr val="12213A"/>
                </a:solidFill>
                <a:latin typeface="Arial" pitchFamily="34" charset="0"/>
                <a:ea typeface="Arial" pitchFamily="34" charset="-122"/>
                <a:cs typeface="Arial" pitchFamily="34" charset="-120"/>
              </a:rPr>
              <a:t>Enigma</a:t>
            </a:r>
            <a:endParaRPr lang="en-US" sz="1700" dirty="0"/>
          </a:p>
        </p:txBody>
      </p:sp>
      <p:sp>
        <p:nvSpPr>
          <p:cNvPr id="24" name="Text 21"/>
          <p:cNvSpPr txBox="1"/>
          <p:nvPr/>
        </p:nvSpPr>
        <p:spPr>
          <a:xfrm>
            <a:off x="6281928" y="3383280"/>
            <a:ext cx="1508760" cy="1554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A machine cipher, broken at Bletchley Park.</a:t>
            </a:r>
            <a:endParaRPr lang="en-US" sz="1400" dirty="0"/>
          </a:p>
        </p:txBody>
      </p:sp>
      <p:sp>
        <p:nvSpPr>
          <p:cNvPr id="25" name="Shape 22"/>
          <p:cNvSpPr/>
          <p:nvPr/>
        </p:nvSpPr>
        <p:spPr>
          <a:xfrm>
            <a:off x="8668512" y="2075688"/>
            <a:ext cx="420624" cy="420624"/>
          </a:xfrm>
          <a:prstGeom prst="ellipse">
            <a:avLst/>
          </a:prstGeom>
          <a:solidFill>
            <a:srgbClr val="D1416B"/>
          </a:solidFill>
          <a:ln w="38100">
            <a:solidFill>
              <a:srgbClr val="FFFFFF"/>
            </a:solidFill>
            <a:prstDash val="solid"/>
          </a:ln>
        </p:spPr>
      </p:sp>
      <p:sp>
        <p:nvSpPr>
          <p:cNvPr id="26" name="Text 23"/>
          <p:cNvSpPr txBox="1"/>
          <p:nvPr/>
        </p:nvSpPr>
        <p:spPr>
          <a:xfrm>
            <a:off x="8010144" y="1463040"/>
            <a:ext cx="1737360" cy="457200"/>
          </a:xfrm>
          <a:prstGeom prst="rect">
            <a:avLst/>
          </a:prstGeom>
          <a:noFill/>
          <a:ln/>
        </p:spPr>
        <p:txBody>
          <a:bodyPr wrap="square" lIns="0" tIns="0" rIns="0" bIns="0" rtlCol="0" anchor="t"/>
          <a:lstStyle/>
          <a:p>
            <a:pPr algn="ctr" indent="0" marL="0">
              <a:buNone/>
            </a:pPr>
            <a:r>
              <a:rPr lang="en-US" sz="2000" b="1" dirty="0">
                <a:solidFill>
                  <a:srgbClr val="D1416B"/>
                </a:solidFill>
                <a:latin typeface="Arial" pitchFamily="34" charset="0"/>
                <a:ea typeface="Arial" pitchFamily="34" charset="-122"/>
                <a:cs typeface="Arial" pitchFamily="34" charset="-120"/>
              </a:rPr>
              <a:t>1976</a:t>
            </a:r>
            <a:endParaRPr lang="en-US" sz="2000" dirty="0"/>
          </a:p>
        </p:txBody>
      </p:sp>
      <p:sp>
        <p:nvSpPr>
          <p:cNvPr id="27" name="Shape 24"/>
          <p:cNvSpPr/>
          <p:nvPr/>
        </p:nvSpPr>
        <p:spPr>
          <a:xfrm>
            <a:off x="8010144" y="2743200"/>
            <a:ext cx="1737360" cy="2331720"/>
          </a:xfrm>
          <a:prstGeom prst="roundRect">
            <a:avLst>
              <a:gd name="adj" fmla="val 5263"/>
            </a:avLst>
          </a:prstGeom>
          <a:solidFill>
            <a:srgbClr val="F1F5FB"/>
          </a:solidFill>
          <a:ln/>
        </p:spPr>
      </p:sp>
      <p:sp>
        <p:nvSpPr>
          <p:cNvPr id="28" name="Text 25"/>
          <p:cNvSpPr txBox="1"/>
          <p:nvPr/>
        </p:nvSpPr>
        <p:spPr>
          <a:xfrm>
            <a:off x="8147304" y="2880360"/>
            <a:ext cx="1463040" cy="457200"/>
          </a:xfrm>
          <a:prstGeom prst="rect">
            <a:avLst/>
          </a:prstGeom>
          <a:noFill/>
          <a:ln/>
        </p:spPr>
        <p:txBody>
          <a:bodyPr wrap="square" lIns="0" tIns="0" rIns="0" bIns="0" rtlCol="0" anchor="t"/>
          <a:lstStyle/>
          <a:p>
            <a:pPr indent="0" marL="0">
              <a:buNone/>
            </a:pPr>
            <a:r>
              <a:rPr lang="en-US" sz="1700" b="1" dirty="0">
                <a:solidFill>
                  <a:srgbClr val="12213A"/>
                </a:solidFill>
                <a:latin typeface="Arial" pitchFamily="34" charset="0"/>
                <a:ea typeface="Arial" pitchFamily="34" charset="-122"/>
                <a:cs typeface="Arial" pitchFamily="34" charset="-120"/>
              </a:rPr>
              <a:t>Public key</a:t>
            </a:r>
            <a:endParaRPr lang="en-US" sz="1700" dirty="0"/>
          </a:p>
        </p:txBody>
      </p:sp>
      <p:sp>
        <p:nvSpPr>
          <p:cNvPr id="29" name="Text 26"/>
          <p:cNvSpPr txBox="1"/>
          <p:nvPr/>
        </p:nvSpPr>
        <p:spPr>
          <a:xfrm>
            <a:off x="8147304" y="3383280"/>
            <a:ext cx="1508760" cy="1554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Strangers share secrets in public.</a:t>
            </a:r>
            <a:endParaRPr lang="en-US" sz="1400" dirty="0"/>
          </a:p>
        </p:txBody>
      </p:sp>
      <p:sp>
        <p:nvSpPr>
          <p:cNvPr id="30" name="Shape 27"/>
          <p:cNvSpPr/>
          <p:nvPr/>
        </p:nvSpPr>
        <p:spPr>
          <a:xfrm>
            <a:off x="10533888" y="2075688"/>
            <a:ext cx="420624" cy="420624"/>
          </a:xfrm>
          <a:prstGeom prst="ellipse">
            <a:avLst/>
          </a:prstGeom>
          <a:solidFill>
            <a:srgbClr val="0F9488"/>
          </a:solidFill>
          <a:ln w="38100">
            <a:solidFill>
              <a:srgbClr val="FFFFFF"/>
            </a:solidFill>
            <a:prstDash val="solid"/>
          </a:ln>
        </p:spPr>
      </p:sp>
      <p:sp>
        <p:nvSpPr>
          <p:cNvPr id="31" name="Text 28"/>
          <p:cNvSpPr txBox="1"/>
          <p:nvPr/>
        </p:nvSpPr>
        <p:spPr>
          <a:xfrm>
            <a:off x="9875520" y="1463040"/>
            <a:ext cx="1737360" cy="457200"/>
          </a:xfrm>
          <a:prstGeom prst="rect">
            <a:avLst/>
          </a:prstGeom>
          <a:noFill/>
          <a:ln/>
        </p:spPr>
        <p:txBody>
          <a:bodyPr wrap="square" lIns="0" tIns="0" rIns="0" bIns="0" rtlCol="0" anchor="t"/>
          <a:lstStyle/>
          <a:p>
            <a:pPr algn="ctr" indent="0" marL="0">
              <a:buNone/>
            </a:pPr>
            <a:r>
              <a:rPr lang="en-US" sz="2000" b="1" dirty="0">
                <a:solidFill>
                  <a:srgbClr val="0F9488"/>
                </a:solidFill>
                <a:latin typeface="Arial" pitchFamily="34" charset="0"/>
                <a:ea typeface="Arial" pitchFamily="34" charset="-122"/>
                <a:cs typeface="Arial" pitchFamily="34" charset="-120"/>
              </a:rPr>
              <a:t>Today</a:t>
            </a:r>
            <a:endParaRPr lang="en-US" sz="2000" dirty="0"/>
          </a:p>
        </p:txBody>
      </p:sp>
      <p:sp>
        <p:nvSpPr>
          <p:cNvPr id="32" name="Shape 29"/>
          <p:cNvSpPr/>
          <p:nvPr/>
        </p:nvSpPr>
        <p:spPr>
          <a:xfrm>
            <a:off x="9875520" y="2743200"/>
            <a:ext cx="1737360" cy="2331720"/>
          </a:xfrm>
          <a:prstGeom prst="roundRect">
            <a:avLst>
              <a:gd name="adj" fmla="val 5263"/>
            </a:avLst>
          </a:prstGeom>
          <a:solidFill>
            <a:srgbClr val="F1F5FB"/>
          </a:solidFill>
          <a:ln/>
        </p:spPr>
      </p:sp>
      <p:sp>
        <p:nvSpPr>
          <p:cNvPr id="33" name="Text 30"/>
          <p:cNvSpPr txBox="1"/>
          <p:nvPr/>
        </p:nvSpPr>
        <p:spPr>
          <a:xfrm>
            <a:off x="10012680" y="2880360"/>
            <a:ext cx="1463040" cy="457200"/>
          </a:xfrm>
          <a:prstGeom prst="rect">
            <a:avLst/>
          </a:prstGeom>
          <a:noFill/>
          <a:ln/>
        </p:spPr>
        <p:txBody>
          <a:bodyPr wrap="square" lIns="0" tIns="0" rIns="0" bIns="0" rtlCol="0" anchor="t"/>
          <a:lstStyle/>
          <a:p>
            <a:pPr indent="0" marL="0">
              <a:buNone/>
            </a:pPr>
            <a:r>
              <a:rPr lang="en-US" sz="1700" b="1" dirty="0">
                <a:solidFill>
                  <a:srgbClr val="12213A"/>
                </a:solidFill>
                <a:latin typeface="Arial" pitchFamily="34" charset="0"/>
                <a:ea typeface="Arial" pitchFamily="34" charset="-122"/>
                <a:cs typeface="Arial" pitchFamily="34" charset="-120"/>
              </a:rPr>
              <a:t>HTTPS &amp; AES</a:t>
            </a:r>
            <a:endParaRPr lang="en-US" sz="1700" dirty="0"/>
          </a:p>
        </p:txBody>
      </p:sp>
      <p:sp>
        <p:nvSpPr>
          <p:cNvPr id="34" name="Text 31"/>
          <p:cNvSpPr txBox="1"/>
          <p:nvPr/>
        </p:nvSpPr>
        <p:spPr>
          <a:xfrm>
            <a:off x="10012680" y="3383280"/>
            <a:ext cx="1508760" cy="155448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Billions of protected messages a day.</a:t>
            </a:r>
            <a:endParaRPr lang="en-US" sz="1400" dirty="0"/>
          </a:p>
        </p:txBody>
      </p:sp>
      <p:sp>
        <p:nvSpPr>
          <p:cNvPr id="35" name="Text 32"/>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7 / 61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Three ways to hide data</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echo hi | sha256sum</a:t>
            </a:r>
            <a:endParaRPr lang="en-US" sz="1300" dirty="0"/>
          </a:p>
        </p:txBody>
      </p:sp>
      <p:sp>
        <p:nvSpPr>
          <p:cNvPr id="8" name="Shape 5"/>
          <p:cNvSpPr/>
          <p:nvPr/>
        </p:nvSpPr>
        <p:spPr>
          <a:xfrm>
            <a:off x="548640" y="1508760"/>
            <a:ext cx="3566160" cy="4434840"/>
          </a:xfrm>
          <a:prstGeom prst="roundRect">
            <a:avLst>
              <a:gd name="adj" fmla="val 2564"/>
            </a:avLst>
          </a:prstGeom>
          <a:solidFill>
            <a:srgbClr val="F1F5FB"/>
          </a:solidFill>
          <a:ln/>
        </p:spPr>
      </p:sp>
      <p:sp>
        <p:nvSpPr>
          <p:cNvPr id="9" name="Shape 6"/>
          <p:cNvSpPr/>
          <p:nvPr/>
        </p:nvSpPr>
        <p:spPr>
          <a:xfrm>
            <a:off x="548640" y="1508760"/>
            <a:ext cx="3566160" cy="109728"/>
          </a:xfrm>
          <a:prstGeom prst="rect">
            <a:avLst/>
          </a:prstGeom>
          <a:solidFill>
            <a:srgbClr val="2A9FD6"/>
          </a:solidFill>
          <a:ln/>
        </p:spPr>
      </p:sp>
      <p:sp>
        <p:nvSpPr>
          <p:cNvPr id="10" name="Text 7"/>
          <p:cNvSpPr txBox="1"/>
          <p:nvPr/>
        </p:nvSpPr>
        <p:spPr>
          <a:xfrm>
            <a:off x="822960" y="1783080"/>
            <a:ext cx="3017520" cy="548640"/>
          </a:xfrm>
          <a:prstGeom prst="rect">
            <a:avLst/>
          </a:prstGeom>
          <a:noFill/>
          <a:ln/>
        </p:spPr>
        <p:txBody>
          <a:bodyPr wrap="square" lIns="0" tIns="0" rIns="0" bIns="0" rtlCol="0" anchor="t"/>
          <a:lstStyle/>
          <a:p>
            <a:pPr indent="0" marL="0">
              <a:buNone/>
            </a:pPr>
            <a:r>
              <a:rPr lang="en-US" sz="2800" b="1" dirty="0">
                <a:solidFill>
                  <a:srgbClr val="2A9FD6"/>
                </a:solidFill>
                <a:latin typeface="Arial" pitchFamily="34" charset="0"/>
                <a:ea typeface="Arial" pitchFamily="34" charset="-122"/>
                <a:cs typeface="Arial" pitchFamily="34" charset="-120"/>
              </a:rPr>
              <a:t>Encoding</a:t>
            </a:r>
            <a:endParaRPr lang="en-US" sz="2800" dirty="0"/>
          </a:p>
        </p:txBody>
      </p:sp>
      <p:sp>
        <p:nvSpPr>
          <p:cNvPr id="11" name="Text 8"/>
          <p:cNvSpPr txBox="1"/>
          <p:nvPr/>
        </p:nvSpPr>
        <p:spPr>
          <a:xfrm>
            <a:off x="822960" y="2377440"/>
            <a:ext cx="3017520" cy="73152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No key. Anyone can reverse it.</a:t>
            </a:r>
            <a:endParaRPr lang="en-US" sz="1700" dirty="0"/>
          </a:p>
        </p:txBody>
      </p:sp>
      <p:sp>
        <p:nvSpPr>
          <p:cNvPr id="12" name="Text 9"/>
          <p:cNvSpPr txBox="1"/>
          <p:nvPr/>
        </p:nvSpPr>
        <p:spPr>
          <a:xfrm>
            <a:off x="822960" y="3200400"/>
            <a:ext cx="3017520" cy="320040"/>
          </a:xfrm>
          <a:prstGeom prst="rect">
            <a:avLst/>
          </a:prstGeom>
          <a:noFill/>
          <a:ln/>
        </p:spPr>
        <p:txBody>
          <a:bodyPr wrap="square" lIns="0" tIns="0" rIns="0" bIns="0" rtlCol="0" anchor="t"/>
          <a:lstStyle/>
          <a:p>
            <a:pPr indent="0" marL="0">
              <a:buNone/>
            </a:pPr>
            <a:r>
              <a:rPr lang="en-US" sz="1200" b="1" dirty="0">
                <a:solidFill>
                  <a:srgbClr val="56657E"/>
                </a:solidFill>
                <a:latin typeface="Calibri" pitchFamily="34" charset="0"/>
                <a:ea typeface="Calibri" pitchFamily="34" charset="-122"/>
                <a:cs typeface="Calibri" pitchFamily="34" charset="-120"/>
              </a:rPr>
              <a:t>Examples</a:t>
            </a:r>
            <a:endParaRPr lang="en-US" sz="1200" dirty="0"/>
          </a:p>
        </p:txBody>
      </p:sp>
      <p:sp>
        <p:nvSpPr>
          <p:cNvPr id="13" name="Text 10"/>
          <p:cNvSpPr txBox="1"/>
          <p:nvPr/>
        </p:nvSpPr>
        <p:spPr>
          <a:xfrm>
            <a:off x="822960" y="3493008"/>
            <a:ext cx="3108960" cy="411480"/>
          </a:xfrm>
          <a:prstGeom prst="rect">
            <a:avLst/>
          </a:prstGeom>
          <a:noFill/>
          <a:ln/>
        </p:spPr>
        <p:txBody>
          <a:bodyPr wrap="square" lIns="0" tIns="0" rIns="0" bIns="0" rtlCol="0" anchor="t"/>
          <a:lstStyle/>
          <a:p>
            <a:pPr indent="0" marL="0">
              <a:buNone/>
            </a:pPr>
            <a:r>
              <a:rPr lang="en-US" sz="1400" b="1" dirty="0">
                <a:solidFill>
                  <a:srgbClr val="12213A"/>
                </a:solidFill>
                <a:latin typeface="Courier New" pitchFamily="34" charset="0"/>
                <a:ea typeface="Courier New" pitchFamily="34" charset="-122"/>
                <a:cs typeface="Courier New" pitchFamily="34" charset="-120"/>
              </a:rPr>
              <a:t>base64  hex  Morse</a:t>
            </a:r>
            <a:endParaRPr lang="en-US" sz="1400" dirty="0"/>
          </a:p>
        </p:txBody>
      </p:sp>
      <p:sp>
        <p:nvSpPr>
          <p:cNvPr id="14" name="Shape 11"/>
          <p:cNvSpPr/>
          <p:nvPr/>
        </p:nvSpPr>
        <p:spPr>
          <a:xfrm>
            <a:off x="822960" y="4069080"/>
            <a:ext cx="3017520" cy="868680"/>
          </a:xfrm>
          <a:prstGeom prst="roundRect">
            <a:avLst>
              <a:gd name="adj" fmla="val 8421"/>
            </a:avLst>
          </a:prstGeom>
          <a:solidFill>
            <a:srgbClr val="0E1726"/>
          </a:solidFill>
          <a:ln/>
        </p:spPr>
      </p:sp>
      <p:sp>
        <p:nvSpPr>
          <p:cNvPr id="15" name="Text 12"/>
          <p:cNvSpPr txBox="1"/>
          <p:nvPr/>
        </p:nvSpPr>
        <p:spPr>
          <a:xfrm>
            <a:off x="960120" y="4069080"/>
            <a:ext cx="2834640" cy="868680"/>
          </a:xfrm>
          <a:prstGeom prst="rect">
            <a:avLst/>
          </a:prstGeom>
          <a:noFill/>
          <a:ln/>
        </p:spPr>
        <p:txBody>
          <a:bodyPr wrap="square" lIns="0" tIns="0" rIns="0" bIns="0" rtlCol="0" anchor="ctr"/>
          <a:lstStyle/>
          <a:p>
            <a:pPr indent="0" marL="0">
              <a:buNone/>
            </a:pPr>
            <a:r>
              <a:rPr lang="en-US" sz="1700" b="1" dirty="0">
                <a:solidFill>
                  <a:srgbClr val="7F8FAD"/>
                </a:solidFill>
                <a:latin typeface="Courier New" pitchFamily="34" charset="0"/>
                <a:ea typeface="Courier New" pitchFamily="34" charset="-122"/>
                <a:cs typeface="Courier New" pitchFamily="34" charset="-120"/>
              </a:rPr>
              <a:t>hi  &gt;  </a:t>
            </a:r>
            <a:pPr indent="0" marL="0">
              <a:buNone/>
            </a:pPr>
            <a:r>
              <a:rPr lang="en-US" sz="1700" b="1" dirty="0">
                <a:solidFill>
                  <a:srgbClr val="F5A623"/>
                </a:solidFill>
                <a:latin typeface="Courier New" pitchFamily="34" charset="0"/>
                <a:ea typeface="Courier New" pitchFamily="34" charset="-122"/>
                <a:cs typeface="Courier New" pitchFamily="34" charset="-120"/>
              </a:rPr>
              <a:t>aGkK</a:t>
            </a:r>
            <a:endParaRPr lang="en-US" sz="1700" dirty="0"/>
          </a:p>
        </p:txBody>
      </p:sp>
      <p:sp>
        <p:nvSpPr>
          <p:cNvPr id="16" name="Text 13"/>
          <p:cNvSpPr txBox="1"/>
          <p:nvPr/>
        </p:nvSpPr>
        <p:spPr>
          <a:xfrm>
            <a:off x="822960" y="5120640"/>
            <a:ext cx="3017520" cy="5486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Missions 1, 2, 6</a:t>
            </a:r>
            <a:endParaRPr lang="en-US" sz="1400" dirty="0"/>
          </a:p>
        </p:txBody>
      </p:sp>
      <p:sp>
        <p:nvSpPr>
          <p:cNvPr id="17" name="Shape 14"/>
          <p:cNvSpPr/>
          <p:nvPr/>
        </p:nvSpPr>
        <p:spPr>
          <a:xfrm>
            <a:off x="4306824" y="1508760"/>
            <a:ext cx="3566160" cy="4434840"/>
          </a:xfrm>
          <a:prstGeom prst="roundRect">
            <a:avLst>
              <a:gd name="adj" fmla="val 2564"/>
            </a:avLst>
          </a:prstGeom>
          <a:solidFill>
            <a:srgbClr val="F1F5FB"/>
          </a:solidFill>
          <a:ln/>
        </p:spPr>
      </p:sp>
      <p:sp>
        <p:nvSpPr>
          <p:cNvPr id="18" name="Shape 15"/>
          <p:cNvSpPr/>
          <p:nvPr/>
        </p:nvSpPr>
        <p:spPr>
          <a:xfrm>
            <a:off x="4306824" y="1508760"/>
            <a:ext cx="3566160" cy="109728"/>
          </a:xfrm>
          <a:prstGeom prst="rect">
            <a:avLst/>
          </a:prstGeom>
          <a:solidFill>
            <a:srgbClr val="7448D4"/>
          </a:solidFill>
          <a:ln/>
        </p:spPr>
      </p:sp>
      <p:sp>
        <p:nvSpPr>
          <p:cNvPr id="19" name="Text 16"/>
          <p:cNvSpPr txBox="1"/>
          <p:nvPr/>
        </p:nvSpPr>
        <p:spPr>
          <a:xfrm>
            <a:off x="4581144" y="1783080"/>
            <a:ext cx="3017520" cy="548640"/>
          </a:xfrm>
          <a:prstGeom prst="rect">
            <a:avLst/>
          </a:prstGeom>
          <a:noFill/>
          <a:ln/>
        </p:spPr>
        <p:txBody>
          <a:bodyPr wrap="square" lIns="0" tIns="0" rIns="0" bIns="0" rtlCol="0" anchor="t"/>
          <a:lstStyle/>
          <a:p>
            <a:pPr indent="0" marL="0">
              <a:buNone/>
            </a:pPr>
            <a:r>
              <a:rPr lang="en-US" sz="2800" b="1" dirty="0">
                <a:solidFill>
                  <a:srgbClr val="7448D4"/>
                </a:solidFill>
                <a:latin typeface="Arial" pitchFamily="34" charset="0"/>
                <a:ea typeface="Arial" pitchFamily="34" charset="-122"/>
                <a:cs typeface="Arial" pitchFamily="34" charset="-120"/>
              </a:rPr>
              <a:t>Encryption</a:t>
            </a:r>
            <a:endParaRPr lang="en-US" sz="2800" dirty="0"/>
          </a:p>
        </p:txBody>
      </p:sp>
      <p:sp>
        <p:nvSpPr>
          <p:cNvPr id="20" name="Text 17"/>
          <p:cNvSpPr txBox="1"/>
          <p:nvPr/>
        </p:nvSpPr>
        <p:spPr>
          <a:xfrm>
            <a:off x="4581144" y="2377440"/>
            <a:ext cx="3017520" cy="73152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Needs a key to reverse.</a:t>
            </a:r>
            <a:endParaRPr lang="en-US" sz="1700" dirty="0"/>
          </a:p>
        </p:txBody>
      </p:sp>
      <p:sp>
        <p:nvSpPr>
          <p:cNvPr id="21" name="Text 18"/>
          <p:cNvSpPr txBox="1"/>
          <p:nvPr/>
        </p:nvSpPr>
        <p:spPr>
          <a:xfrm>
            <a:off x="4581144" y="3200400"/>
            <a:ext cx="3017520" cy="320040"/>
          </a:xfrm>
          <a:prstGeom prst="rect">
            <a:avLst/>
          </a:prstGeom>
          <a:noFill/>
          <a:ln/>
        </p:spPr>
        <p:txBody>
          <a:bodyPr wrap="square" lIns="0" tIns="0" rIns="0" bIns="0" rtlCol="0" anchor="t"/>
          <a:lstStyle/>
          <a:p>
            <a:pPr indent="0" marL="0">
              <a:buNone/>
            </a:pPr>
            <a:r>
              <a:rPr lang="en-US" sz="1200" b="1" dirty="0">
                <a:solidFill>
                  <a:srgbClr val="56657E"/>
                </a:solidFill>
                <a:latin typeface="Calibri" pitchFamily="34" charset="0"/>
                <a:ea typeface="Calibri" pitchFamily="34" charset="-122"/>
                <a:cs typeface="Calibri" pitchFamily="34" charset="-120"/>
              </a:rPr>
              <a:t>Examples</a:t>
            </a:r>
            <a:endParaRPr lang="en-US" sz="1200" dirty="0"/>
          </a:p>
        </p:txBody>
      </p:sp>
      <p:sp>
        <p:nvSpPr>
          <p:cNvPr id="22" name="Text 19"/>
          <p:cNvSpPr txBox="1"/>
          <p:nvPr/>
        </p:nvSpPr>
        <p:spPr>
          <a:xfrm>
            <a:off x="4581144" y="3493008"/>
            <a:ext cx="3108960" cy="411480"/>
          </a:xfrm>
          <a:prstGeom prst="rect">
            <a:avLst/>
          </a:prstGeom>
          <a:noFill/>
          <a:ln/>
        </p:spPr>
        <p:txBody>
          <a:bodyPr wrap="square" lIns="0" tIns="0" rIns="0" bIns="0" rtlCol="0" anchor="t"/>
          <a:lstStyle/>
          <a:p>
            <a:pPr indent="0" marL="0">
              <a:buNone/>
            </a:pPr>
            <a:r>
              <a:rPr lang="en-US" sz="1400" b="1" dirty="0">
                <a:solidFill>
                  <a:srgbClr val="12213A"/>
                </a:solidFill>
                <a:latin typeface="Courier New" pitchFamily="34" charset="0"/>
                <a:ea typeface="Courier New" pitchFamily="34" charset="-122"/>
                <a:cs typeface="Courier New" pitchFamily="34" charset="-120"/>
              </a:rPr>
              <a:t>Caesar  Vigenère  XOR  AES</a:t>
            </a:r>
            <a:endParaRPr lang="en-US" sz="1400" dirty="0"/>
          </a:p>
        </p:txBody>
      </p:sp>
      <p:sp>
        <p:nvSpPr>
          <p:cNvPr id="23" name="Shape 20"/>
          <p:cNvSpPr/>
          <p:nvPr/>
        </p:nvSpPr>
        <p:spPr>
          <a:xfrm>
            <a:off x="4581144" y="4069080"/>
            <a:ext cx="3017520" cy="868680"/>
          </a:xfrm>
          <a:prstGeom prst="roundRect">
            <a:avLst>
              <a:gd name="adj" fmla="val 8421"/>
            </a:avLst>
          </a:prstGeom>
          <a:solidFill>
            <a:srgbClr val="0E1726"/>
          </a:solidFill>
          <a:ln/>
        </p:spPr>
      </p:sp>
      <p:sp>
        <p:nvSpPr>
          <p:cNvPr id="24" name="Text 21"/>
          <p:cNvSpPr txBox="1"/>
          <p:nvPr/>
        </p:nvSpPr>
        <p:spPr>
          <a:xfrm>
            <a:off x="4718304" y="4069080"/>
            <a:ext cx="2834640" cy="868680"/>
          </a:xfrm>
          <a:prstGeom prst="rect">
            <a:avLst/>
          </a:prstGeom>
          <a:noFill/>
          <a:ln/>
        </p:spPr>
        <p:txBody>
          <a:bodyPr wrap="square" lIns="0" tIns="0" rIns="0" bIns="0" rtlCol="0" anchor="ctr"/>
          <a:lstStyle/>
          <a:p>
            <a:pPr indent="0" marL="0">
              <a:buNone/>
            </a:pPr>
            <a:r>
              <a:rPr lang="en-US" sz="1700" b="1" dirty="0">
                <a:solidFill>
                  <a:srgbClr val="7F8FAD"/>
                </a:solidFill>
                <a:latin typeface="Courier New" pitchFamily="34" charset="0"/>
                <a:ea typeface="Courier New" pitchFamily="34" charset="-122"/>
                <a:cs typeface="Courier New" pitchFamily="34" charset="-120"/>
              </a:rPr>
              <a:t>hi  &gt;  </a:t>
            </a:r>
            <a:pPr indent="0" marL="0">
              <a:buNone/>
            </a:pPr>
            <a:r>
              <a:rPr lang="en-US" sz="1700" b="1" dirty="0">
                <a:solidFill>
                  <a:srgbClr val="F5A623"/>
                </a:solidFill>
                <a:latin typeface="Courier New" pitchFamily="34" charset="0"/>
                <a:ea typeface="Courier New" pitchFamily="34" charset="-122"/>
                <a:cs typeface="Courier New" pitchFamily="34" charset="-120"/>
              </a:rPr>
              <a:t>uv</a:t>
            </a:r>
            <a:endParaRPr lang="en-US" sz="1700" dirty="0"/>
          </a:p>
        </p:txBody>
      </p:sp>
      <p:sp>
        <p:nvSpPr>
          <p:cNvPr id="25" name="Text 22"/>
          <p:cNvSpPr txBox="1"/>
          <p:nvPr/>
        </p:nvSpPr>
        <p:spPr>
          <a:xfrm>
            <a:off x="4581144" y="5120640"/>
            <a:ext cx="3017520" cy="5486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Missions 3–5, 8–10</a:t>
            </a:r>
            <a:endParaRPr lang="en-US" sz="1400" dirty="0"/>
          </a:p>
        </p:txBody>
      </p:sp>
      <p:sp>
        <p:nvSpPr>
          <p:cNvPr id="26" name="Shape 23"/>
          <p:cNvSpPr/>
          <p:nvPr/>
        </p:nvSpPr>
        <p:spPr>
          <a:xfrm>
            <a:off x="8065008" y="1508760"/>
            <a:ext cx="3566160" cy="4434840"/>
          </a:xfrm>
          <a:prstGeom prst="roundRect">
            <a:avLst>
              <a:gd name="adj" fmla="val 2564"/>
            </a:avLst>
          </a:prstGeom>
          <a:solidFill>
            <a:srgbClr val="F1F5FB"/>
          </a:solidFill>
          <a:ln/>
        </p:spPr>
      </p:sp>
      <p:sp>
        <p:nvSpPr>
          <p:cNvPr id="27" name="Shape 24"/>
          <p:cNvSpPr/>
          <p:nvPr/>
        </p:nvSpPr>
        <p:spPr>
          <a:xfrm>
            <a:off x="8065008" y="1508760"/>
            <a:ext cx="3566160" cy="109728"/>
          </a:xfrm>
          <a:prstGeom prst="rect">
            <a:avLst/>
          </a:prstGeom>
          <a:solidFill>
            <a:srgbClr val="D1416B"/>
          </a:solidFill>
          <a:ln/>
        </p:spPr>
      </p:sp>
      <p:sp>
        <p:nvSpPr>
          <p:cNvPr id="28" name="Text 25"/>
          <p:cNvSpPr txBox="1"/>
          <p:nvPr/>
        </p:nvSpPr>
        <p:spPr>
          <a:xfrm>
            <a:off x="8339328" y="1783080"/>
            <a:ext cx="3017520" cy="548640"/>
          </a:xfrm>
          <a:prstGeom prst="rect">
            <a:avLst/>
          </a:prstGeom>
          <a:noFill/>
          <a:ln/>
        </p:spPr>
        <p:txBody>
          <a:bodyPr wrap="square" lIns="0" tIns="0" rIns="0" bIns="0" rtlCol="0" anchor="t"/>
          <a:lstStyle/>
          <a:p>
            <a:pPr indent="0" marL="0">
              <a:buNone/>
            </a:pPr>
            <a:r>
              <a:rPr lang="en-US" sz="2800" b="1" dirty="0">
                <a:solidFill>
                  <a:srgbClr val="D1416B"/>
                </a:solidFill>
                <a:latin typeface="Arial" pitchFamily="34" charset="0"/>
                <a:ea typeface="Arial" pitchFamily="34" charset="-122"/>
                <a:cs typeface="Arial" pitchFamily="34" charset="-120"/>
              </a:rPr>
              <a:t>Hashing</a:t>
            </a:r>
            <a:endParaRPr lang="en-US" sz="2800" dirty="0"/>
          </a:p>
        </p:txBody>
      </p:sp>
      <p:sp>
        <p:nvSpPr>
          <p:cNvPr id="29" name="Text 26"/>
          <p:cNvSpPr txBox="1"/>
          <p:nvPr/>
        </p:nvSpPr>
        <p:spPr>
          <a:xfrm>
            <a:off x="8339328" y="2377440"/>
            <a:ext cx="3017520" cy="73152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One way. Can't be reversed, only compared.</a:t>
            </a:r>
            <a:endParaRPr lang="en-US" sz="1700" dirty="0"/>
          </a:p>
        </p:txBody>
      </p:sp>
      <p:sp>
        <p:nvSpPr>
          <p:cNvPr id="30" name="Text 27"/>
          <p:cNvSpPr txBox="1"/>
          <p:nvPr/>
        </p:nvSpPr>
        <p:spPr>
          <a:xfrm>
            <a:off x="8339328" y="3200400"/>
            <a:ext cx="3017520" cy="320040"/>
          </a:xfrm>
          <a:prstGeom prst="rect">
            <a:avLst/>
          </a:prstGeom>
          <a:noFill/>
          <a:ln/>
        </p:spPr>
        <p:txBody>
          <a:bodyPr wrap="square" lIns="0" tIns="0" rIns="0" bIns="0" rtlCol="0" anchor="t"/>
          <a:lstStyle/>
          <a:p>
            <a:pPr indent="0" marL="0">
              <a:buNone/>
            </a:pPr>
            <a:r>
              <a:rPr lang="en-US" sz="1200" b="1" dirty="0">
                <a:solidFill>
                  <a:srgbClr val="56657E"/>
                </a:solidFill>
                <a:latin typeface="Calibri" pitchFamily="34" charset="0"/>
                <a:ea typeface="Calibri" pitchFamily="34" charset="-122"/>
                <a:cs typeface="Calibri" pitchFamily="34" charset="-120"/>
              </a:rPr>
              <a:t>Examples</a:t>
            </a:r>
            <a:endParaRPr lang="en-US" sz="1200" dirty="0"/>
          </a:p>
        </p:txBody>
      </p:sp>
      <p:sp>
        <p:nvSpPr>
          <p:cNvPr id="31" name="Text 28"/>
          <p:cNvSpPr txBox="1"/>
          <p:nvPr/>
        </p:nvSpPr>
        <p:spPr>
          <a:xfrm>
            <a:off x="8339328" y="3493008"/>
            <a:ext cx="3108960" cy="411480"/>
          </a:xfrm>
          <a:prstGeom prst="rect">
            <a:avLst/>
          </a:prstGeom>
          <a:noFill/>
          <a:ln/>
        </p:spPr>
        <p:txBody>
          <a:bodyPr wrap="square" lIns="0" tIns="0" rIns="0" bIns="0" rtlCol="0" anchor="t"/>
          <a:lstStyle/>
          <a:p>
            <a:pPr indent="0" marL="0">
              <a:buNone/>
            </a:pPr>
            <a:r>
              <a:rPr lang="en-US" sz="1400" b="1" dirty="0">
                <a:solidFill>
                  <a:srgbClr val="12213A"/>
                </a:solidFill>
                <a:latin typeface="Courier New" pitchFamily="34" charset="0"/>
                <a:ea typeface="Courier New" pitchFamily="34" charset="-122"/>
                <a:cs typeface="Courier New" pitchFamily="34" charset="-120"/>
              </a:rPr>
              <a:t>SHA-256</a:t>
            </a:r>
            <a:endParaRPr lang="en-US" sz="1400" dirty="0"/>
          </a:p>
        </p:txBody>
      </p:sp>
      <p:sp>
        <p:nvSpPr>
          <p:cNvPr id="32" name="Shape 29"/>
          <p:cNvSpPr/>
          <p:nvPr/>
        </p:nvSpPr>
        <p:spPr>
          <a:xfrm>
            <a:off x="8339328" y="4069080"/>
            <a:ext cx="3017520" cy="868680"/>
          </a:xfrm>
          <a:prstGeom prst="roundRect">
            <a:avLst>
              <a:gd name="adj" fmla="val 8421"/>
            </a:avLst>
          </a:prstGeom>
          <a:solidFill>
            <a:srgbClr val="0E1726"/>
          </a:solidFill>
          <a:ln/>
        </p:spPr>
      </p:sp>
      <p:sp>
        <p:nvSpPr>
          <p:cNvPr id="33" name="Text 30"/>
          <p:cNvSpPr txBox="1"/>
          <p:nvPr/>
        </p:nvSpPr>
        <p:spPr>
          <a:xfrm>
            <a:off x="8476488" y="4069080"/>
            <a:ext cx="2834640" cy="868680"/>
          </a:xfrm>
          <a:prstGeom prst="rect">
            <a:avLst/>
          </a:prstGeom>
          <a:noFill/>
          <a:ln/>
        </p:spPr>
        <p:txBody>
          <a:bodyPr wrap="square" lIns="0" tIns="0" rIns="0" bIns="0" rtlCol="0" anchor="ctr"/>
          <a:lstStyle/>
          <a:p>
            <a:pPr indent="0" marL="0">
              <a:buNone/>
            </a:pPr>
            <a:r>
              <a:rPr lang="en-US" sz="1700" b="1" dirty="0">
                <a:solidFill>
                  <a:srgbClr val="7F8FAD"/>
                </a:solidFill>
                <a:latin typeface="Courier New" pitchFamily="34" charset="0"/>
                <a:ea typeface="Courier New" pitchFamily="34" charset="-122"/>
                <a:cs typeface="Courier New" pitchFamily="34" charset="-120"/>
              </a:rPr>
              <a:t>hi  &gt;  </a:t>
            </a:r>
            <a:pPr indent="0" marL="0">
              <a:buNone/>
            </a:pPr>
            <a:r>
              <a:rPr lang="en-US" sz="1700" b="1" dirty="0">
                <a:solidFill>
                  <a:srgbClr val="F5A623"/>
                </a:solidFill>
                <a:latin typeface="Courier New" pitchFamily="34" charset="0"/>
                <a:ea typeface="Courier New" pitchFamily="34" charset="-122"/>
                <a:cs typeface="Courier New" pitchFamily="34" charset="-120"/>
              </a:rPr>
              <a:t>98ea6e4f...</a:t>
            </a:r>
            <a:endParaRPr lang="en-US" sz="1700" dirty="0"/>
          </a:p>
        </p:txBody>
      </p:sp>
      <p:sp>
        <p:nvSpPr>
          <p:cNvPr id="34" name="Text 31"/>
          <p:cNvSpPr txBox="1"/>
          <p:nvPr/>
        </p:nvSpPr>
        <p:spPr>
          <a:xfrm>
            <a:off x="8339328" y="5120640"/>
            <a:ext cx="3017520" cy="548640"/>
          </a:xfrm>
          <a:prstGeom prst="rect">
            <a:avLst/>
          </a:prstGeom>
          <a:noFill/>
          <a:ln/>
        </p:spPr>
        <p:txBody>
          <a:bodyPr wrap="square" lIns="0" tIns="0" rIns="0" bIns="0" rtlCol="0" anchor="ctr"/>
          <a:lstStyle/>
          <a:p>
            <a:pPr indent="0" marL="0">
              <a:buNone/>
            </a:pPr>
            <a:r>
              <a:rPr lang="en-US" sz="1400" dirty="0">
                <a:solidFill>
                  <a:srgbClr val="56657E"/>
                </a:solidFill>
                <a:latin typeface="Calibri" pitchFamily="34" charset="0"/>
                <a:ea typeface="Calibri" pitchFamily="34" charset="-122"/>
                <a:cs typeface="Calibri" pitchFamily="34" charset="-120"/>
              </a:rPr>
              <a:t>Missions 7, 10</a:t>
            </a:r>
            <a:endParaRPr lang="en-US" sz="1400" dirty="0"/>
          </a:p>
        </p:txBody>
      </p:sp>
      <p:sp>
        <p:nvSpPr>
          <p:cNvPr id="35" name="Text 32"/>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8 / 61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Crypto is in your pocket</a:t>
            </a:r>
            <a:endParaRPr lang="en-US" sz="3200" dirty="0"/>
          </a:p>
        </p:txBody>
      </p:sp>
      <p:sp>
        <p:nvSpPr>
          <p:cNvPr id="4" name="Shape 1"/>
          <p:cNvSpPr/>
          <p:nvPr/>
        </p:nvSpPr>
        <p:spPr>
          <a:xfrm>
            <a:off x="548640" y="1508760"/>
            <a:ext cx="3566160" cy="2057400"/>
          </a:xfrm>
          <a:prstGeom prst="roundRect">
            <a:avLst>
              <a:gd name="adj" fmla="val 4444"/>
            </a:avLst>
          </a:prstGeom>
          <a:solidFill>
            <a:srgbClr val="F1F5FB"/>
          </a:solidFill>
          <a:ln/>
        </p:spPr>
      </p:sp>
      <p:sp>
        <p:nvSpPr>
          <p:cNvPr id="5" name="Shape 2"/>
          <p:cNvSpPr/>
          <p:nvPr/>
        </p:nvSpPr>
        <p:spPr>
          <a:xfrm>
            <a:off x="822960" y="1783080"/>
            <a:ext cx="731520" cy="731520"/>
          </a:xfrm>
          <a:prstGeom prst="ellipse">
            <a:avLst/>
          </a:prstGeom>
          <a:solidFill>
            <a:srgbClr val="2A9FD6"/>
          </a:solidFill>
          <a:ln/>
        </p:spPr>
      </p:sp>
      <p:pic>
        <p:nvPicPr>
          <p:cNvPr id="6" name="Image 0" descr="preencoded.png">    </p:cNvPr>
          <p:cNvPicPr>
            <a:picLocks noChangeAspect="1"/>
          </p:cNvPicPr>
          <p:nvPr/>
        </p:nvPicPr>
        <p:blipFill>
          <a:blip r:embed="rId1"/>
          <a:stretch>
            <a:fillRect/>
          </a:stretch>
        </p:blipFill>
        <p:spPr>
          <a:xfrm>
            <a:off x="1005840" y="1965960"/>
            <a:ext cx="365760" cy="365760"/>
          </a:xfrm>
          <a:prstGeom prst="rect">
            <a:avLst/>
          </a:prstGeom>
        </p:spPr>
      </p:pic>
      <p:sp>
        <p:nvSpPr>
          <p:cNvPr id="7" name="Text 3"/>
          <p:cNvSpPr txBox="1"/>
          <p:nvPr/>
        </p:nvSpPr>
        <p:spPr>
          <a:xfrm>
            <a:off x="1737360" y="1828800"/>
            <a:ext cx="2194560" cy="640080"/>
          </a:xfrm>
          <a:prstGeom prst="rect">
            <a:avLst/>
          </a:prstGeom>
          <a:noFill/>
          <a:ln/>
        </p:spPr>
        <p:txBody>
          <a:bodyPr wrap="square" lIns="0" tIns="0" rIns="0" bIns="0" rtlCol="0" anchor="ctr"/>
          <a:lstStyle/>
          <a:p>
            <a:pPr indent="0" marL="0">
              <a:buNone/>
            </a:pPr>
            <a:r>
              <a:rPr lang="en-US" sz="2100" b="1" dirty="0">
                <a:solidFill>
                  <a:srgbClr val="12213A"/>
                </a:solidFill>
                <a:latin typeface="Arial" pitchFamily="34" charset="0"/>
                <a:ea typeface="Arial" pitchFamily="34" charset="-122"/>
                <a:cs typeface="Arial" pitchFamily="34" charset="-120"/>
              </a:rPr>
              <a:t>The padlock</a:t>
            </a:r>
            <a:endParaRPr lang="en-US" sz="2100" dirty="0"/>
          </a:p>
        </p:txBody>
      </p:sp>
      <p:sp>
        <p:nvSpPr>
          <p:cNvPr id="8" name="Text 4"/>
          <p:cNvSpPr txBox="1"/>
          <p:nvPr/>
        </p:nvSpPr>
        <p:spPr>
          <a:xfrm>
            <a:off x="822960" y="2651760"/>
            <a:ext cx="3063240" cy="82296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HTTPS encrypts every page between you and the site.</a:t>
            </a:r>
            <a:endParaRPr lang="en-US" sz="1500" dirty="0"/>
          </a:p>
        </p:txBody>
      </p:sp>
      <p:sp>
        <p:nvSpPr>
          <p:cNvPr id="9" name="Shape 5"/>
          <p:cNvSpPr/>
          <p:nvPr/>
        </p:nvSpPr>
        <p:spPr>
          <a:xfrm>
            <a:off x="4306824" y="1508760"/>
            <a:ext cx="3566160" cy="2057400"/>
          </a:xfrm>
          <a:prstGeom prst="roundRect">
            <a:avLst>
              <a:gd name="adj" fmla="val 4444"/>
            </a:avLst>
          </a:prstGeom>
          <a:solidFill>
            <a:srgbClr val="F1F5FB"/>
          </a:solidFill>
          <a:ln/>
        </p:spPr>
      </p:sp>
      <p:sp>
        <p:nvSpPr>
          <p:cNvPr id="10" name="Shape 6"/>
          <p:cNvSpPr/>
          <p:nvPr/>
        </p:nvSpPr>
        <p:spPr>
          <a:xfrm>
            <a:off x="4581144" y="1783080"/>
            <a:ext cx="731520" cy="731520"/>
          </a:xfrm>
          <a:prstGeom prst="ellipse">
            <a:avLst/>
          </a:prstGeom>
          <a:solidFill>
            <a:srgbClr val="2459D8"/>
          </a:solidFill>
          <a:ln/>
        </p:spPr>
      </p:sp>
      <p:pic>
        <p:nvPicPr>
          <p:cNvPr id="11" name="Image 1" descr="preencoded.png">    </p:cNvPr>
          <p:cNvPicPr>
            <a:picLocks noChangeAspect="1"/>
          </p:cNvPicPr>
          <p:nvPr/>
        </p:nvPicPr>
        <p:blipFill>
          <a:blip r:embed="rId2"/>
          <a:stretch>
            <a:fillRect/>
          </a:stretch>
        </p:blipFill>
        <p:spPr>
          <a:xfrm>
            <a:off x="4764024" y="1965960"/>
            <a:ext cx="365760" cy="365760"/>
          </a:xfrm>
          <a:prstGeom prst="rect">
            <a:avLst/>
          </a:prstGeom>
        </p:spPr>
      </p:pic>
      <p:sp>
        <p:nvSpPr>
          <p:cNvPr id="12" name="Text 7"/>
          <p:cNvSpPr txBox="1"/>
          <p:nvPr/>
        </p:nvSpPr>
        <p:spPr>
          <a:xfrm>
            <a:off x="5495544" y="1828800"/>
            <a:ext cx="2194560" cy="640080"/>
          </a:xfrm>
          <a:prstGeom prst="rect">
            <a:avLst/>
          </a:prstGeom>
          <a:noFill/>
          <a:ln/>
        </p:spPr>
        <p:txBody>
          <a:bodyPr wrap="square" lIns="0" tIns="0" rIns="0" bIns="0" rtlCol="0" anchor="ctr"/>
          <a:lstStyle/>
          <a:p>
            <a:pPr indent="0" marL="0">
              <a:buNone/>
            </a:pPr>
            <a:r>
              <a:rPr lang="en-US" sz="2100" b="1" dirty="0">
                <a:solidFill>
                  <a:srgbClr val="12213A"/>
                </a:solidFill>
                <a:latin typeface="Arial" pitchFamily="34" charset="0"/>
                <a:ea typeface="Arial" pitchFamily="34" charset="-122"/>
                <a:cs typeface="Arial" pitchFamily="34" charset="-120"/>
              </a:rPr>
              <a:t>Messages</a:t>
            </a:r>
            <a:endParaRPr lang="en-US" sz="2100" dirty="0"/>
          </a:p>
        </p:txBody>
      </p:sp>
      <p:sp>
        <p:nvSpPr>
          <p:cNvPr id="13" name="Text 8"/>
          <p:cNvSpPr txBox="1"/>
          <p:nvPr/>
        </p:nvSpPr>
        <p:spPr>
          <a:xfrm>
            <a:off x="4581144" y="2651760"/>
            <a:ext cx="3063240" cy="82296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End-to-end encryption: only the two phones hold the keys.</a:t>
            </a:r>
            <a:endParaRPr lang="en-US" sz="1500" dirty="0"/>
          </a:p>
        </p:txBody>
      </p:sp>
      <p:sp>
        <p:nvSpPr>
          <p:cNvPr id="14" name="Shape 9"/>
          <p:cNvSpPr/>
          <p:nvPr/>
        </p:nvSpPr>
        <p:spPr>
          <a:xfrm>
            <a:off x="8065008" y="1508760"/>
            <a:ext cx="3566160" cy="2057400"/>
          </a:xfrm>
          <a:prstGeom prst="roundRect">
            <a:avLst>
              <a:gd name="adj" fmla="val 4444"/>
            </a:avLst>
          </a:prstGeom>
          <a:solidFill>
            <a:srgbClr val="F1F5FB"/>
          </a:solidFill>
          <a:ln/>
        </p:spPr>
      </p:sp>
      <p:sp>
        <p:nvSpPr>
          <p:cNvPr id="15" name="Shape 10"/>
          <p:cNvSpPr/>
          <p:nvPr/>
        </p:nvSpPr>
        <p:spPr>
          <a:xfrm>
            <a:off x="8339328" y="1783080"/>
            <a:ext cx="731520" cy="731520"/>
          </a:xfrm>
          <a:prstGeom prst="ellipse">
            <a:avLst/>
          </a:prstGeom>
          <a:solidFill>
            <a:srgbClr val="7448D4"/>
          </a:solidFill>
          <a:ln/>
        </p:spPr>
      </p:sp>
      <p:pic>
        <p:nvPicPr>
          <p:cNvPr id="16" name="Image 2" descr="preencoded.png">    </p:cNvPr>
          <p:cNvPicPr>
            <a:picLocks noChangeAspect="1"/>
          </p:cNvPicPr>
          <p:nvPr/>
        </p:nvPicPr>
        <p:blipFill>
          <a:blip r:embed="rId3"/>
          <a:stretch>
            <a:fillRect/>
          </a:stretch>
        </p:blipFill>
        <p:spPr>
          <a:xfrm>
            <a:off x="8522208" y="1965960"/>
            <a:ext cx="365760" cy="365760"/>
          </a:xfrm>
          <a:prstGeom prst="rect">
            <a:avLst/>
          </a:prstGeom>
        </p:spPr>
      </p:pic>
      <p:sp>
        <p:nvSpPr>
          <p:cNvPr id="17" name="Text 11"/>
          <p:cNvSpPr txBox="1"/>
          <p:nvPr/>
        </p:nvSpPr>
        <p:spPr>
          <a:xfrm>
            <a:off x="9253728" y="1828800"/>
            <a:ext cx="2194560" cy="640080"/>
          </a:xfrm>
          <a:prstGeom prst="rect">
            <a:avLst/>
          </a:prstGeom>
          <a:noFill/>
          <a:ln/>
        </p:spPr>
        <p:txBody>
          <a:bodyPr wrap="square" lIns="0" tIns="0" rIns="0" bIns="0" rtlCol="0" anchor="ctr"/>
          <a:lstStyle/>
          <a:p>
            <a:pPr indent="0" marL="0">
              <a:buNone/>
            </a:pPr>
            <a:r>
              <a:rPr lang="en-US" sz="2100" b="1" dirty="0">
                <a:solidFill>
                  <a:srgbClr val="12213A"/>
                </a:solidFill>
                <a:latin typeface="Arial" pitchFamily="34" charset="0"/>
                <a:ea typeface="Arial" pitchFamily="34" charset="-122"/>
                <a:cs typeface="Arial" pitchFamily="34" charset="-120"/>
              </a:rPr>
              <a:t>Passwords</a:t>
            </a:r>
            <a:endParaRPr lang="en-US" sz="2100" dirty="0"/>
          </a:p>
        </p:txBody>
      </p:sp>
      <p:sp>
        <p:nvSpPr>
          <p:cNvPr id="18" name="Text 12"/>
          <p:cNvSpPr txBox="1"/>
          <p:nvPr/>
        </p:nvSpPr>
        <p:spPr>
          <a:xfrm>
            <a:off x="8339328" y="2651760"/>
            <a:ext cx="3063240" cy="82296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Sites keep a hash of your password, not the password itself.</a:t>
            </a:r>
            <a:endParaRPr lang="en-US" sz="1500" dirty="0"/>
          </a:p>
        </p:txBody>
      </p:sp>
      <p:sp>
        <p:nvSpPr>
          <p:cNvPr id="19" name="Shape 13"/>
          <p:cNvSpPr/>
          <p:nvPr/>
        </p:nvSpPr>
        <p:spPr>
          <a:xfrm>
            <a:off x="548640" y="3749040"/>
            <a:ext cx="3566160" cy="2057400"/>
          </a:xfrm>
          <a:prstGeom prst="roundRect">
            <a:avLst>
              <a:gd name="adj" fmla="val 4444"/>
            </a:avLst>
          </a:prstGeom>
          <a:solidFill>
            <a:srgbClr val="F1F5FB"/>
          </a:solidFill>
          <a:ln/>
        </p:spPr>
      </p:sp>
      <p:sp>
        <p:nvSpPr>
          <p:cNvPr id="20" name="Shape 14"/>
          <p:cNvSpPr/>
          <p:nvPr/>
        </p:nvSpPr>
        <p:spPr>
          <a:xfrm>
            <a:off x="822960" y="4023360"/>
            <a:ext cx="731520" cy="731520"/>
          </a:xfrm>
          <a:prstGeom prst="ellipse">
            <a:avLst/>
          </a:prstGeom>
          <a:solidFill>
            <a:srgbClr val="D1416B"/>
          </a:solidFill>
          <a:ln/>
        </p:spPr>
      </p:sp>
      <p:pic>
        <p:nvPicPr>
          <p:cNvPr id="21" name="Image 3" descr="preencoded.png">    </p:cNvPr>
          <p:cNvPicPr>
            <a:picLocks noChangeAspect="1"/>
          </p:cNvPicPr>
          <p:nvPr/>
        </p:nvPicPr>
        <p:blipFill>
          <a:blip r:embed="rId4"/>
          <a:stretch>
            <a:fillRect/>
          </a:stretch>
        </p:blipFill>
        <p:spPr>
          <a:xfrm>
            <a:off x="1005840" y="4206240"/>
            <a:ext cx="365760" cy="365760"/>
          </a:xfrm>
          <a:prstGeom prst="rect">
            <a:avLst/>
          </a:prstGeom>
        </p:spPr>
      </p:pic>
      <p:sp>
        <p:nvSpPr>
          <p:cNvPr id="22" name="Text 15"/>
          <p:cNvSpPr txBox="1"/>
          <p:nvPr/>
        </p:nvSpPr>
        <p:spPr>
          <a:xfrm>
            <a:off x="1737360" y="4069080"/>
            <a:ext cx="2194560" cy="640080"/>
          </a:xfrm>
          <a:prstGeom prst="rect">
            <a:avLst/>
          </a:prstGeom>
          <a:noFill/>
          <a:ln/>
        </p:spPr>
        <p:txBody>
          <a:bodyPr wrap="square" lIns="0" tIns="0" rIns="0" bIns="0" rtlCol="0" anchor="ctr"/>
          <a:lstStyle/>
          <a:p>
            <a:pPr indent="0" marL="0">
              <a:buNone/>
            </a:pPr>
            <a:r>
              <a:rPr lang="en-US" sz="2100" b="1" dirty="0">
                <a:solidFill>
                  <a:srgbClr val="12213A"/>
                </a:solidFill>
                <a:latin typeface="Arial" pitchFamily="34" charset="0"/>
                <a:ea typeface="Arial" pitchFamily="34" charset="-122"/>
                <a:cs typeface="Arial" pitchFamily="34" charset="-120"/>
              </a:rPr>
              <a:t>Wi-Fi</a:t>
            </a:r>
            <a:endParaRPr lang="en-US" sz="2100" dirty="0"/>
          </a:p>
        </p:txBody>
      </p:sp>
      <p:sp>
        <p:nvSpPr>
          <p:cNvPr id="23" name="Text 16"/>
          <p:cNvSpPr txBox="1"/>
          <p:nvPr/>
        </p:nvSpPr>
        <p:spPr>
          <a:xfrm>
            <a:off x="822960" y="4892040"/>
            <a:ext cx="3063240" cy="82296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WPA2 and WPA3 encrypt the air between you and the router.</a:t>
            </a:r>
            <a:endParaRPr lang="en-US" sz="1500" dirty="0"/>
          </a:p>
        </p:txBody>
      </p:sp>
      <p:sp>
        <p:nvSpPr>
          <p:cNvPr id="24" name="Shape 17"/>
          <p:cNvSpPr/>
          <p:nvPr/>
        </p:nvSpPr>
        <p:spPr>
          <a:xfrm>
            <a:off x="4306824" y="3749040"/>
            <a:ext cx="3566160" cy="2057400"/>
          </a:xfrm>
          <a:prstGeom prst="roundRect">
            <a:avLst>
              <a:gd name="adj" fmla="val 4444"/>
            </a:avLst>
          </a:prstGeom>
          <a:solidFill>
            <a:srgbClr val="F1F5FB"/>
          </a:solidFill>
          <a:ln/>
        </p:spPr>
      </p:sp>
      <p:sp>
        <p:nvSpPr>
          <p:cNvPr id="25" name="Shape 18"/>
          <p:cNvSpPr/>
          <p:nvPr/>
        </p:nvSpPr>
        <p:spPr>
          <a:xfrm>
            <a:off x="4581144" y="4023360"/>
            <a:ext cx="731520" cy="731520"/>
          </a:xfrm>
          <a:prstGeom prst="ellipse">
            <a:avLst/>
          </a:prstGeom>
          <a:solidFill>
            <a:srgbClr val="E8820C"/>
          </a:solidFill>
          <a:ln/>
        </p:spPr>
      </p:sp>
      <p:pic>
        <p:nvPicPr>
          <p:cNvPr id="26" name="Image 4" descr="preencoded.png">    </p:cNvPr>
          <p:cNvPicPr>
            <a:picLocks noChangeAspect="1"/>
          </p:cNvPicPr>
          <p:nvPr/>
        </p:nvPicPr>
        <p:blipFill>
          <a:blip r:embed="rId5"/>
          <a:stretch>
            <a:fillRect/>
          </a:stretch>
        </p:blipFill>
        <p:spPr>
          <a:xfrm>
            <a:off x="4764024" y="4206240"/>
            <a:ext cx="365760" cy="365760"/>
          </a:xfrm>
          <a:prstGeom prst="rect">
            <a:avLst/>
          </a:prstGeom>
        </p:spPr>
      </p:pic>
      <p:sp>
        <p:nvSpPr>
          <p:cNvPr id="27" name="Text 19"/>
          <p:cNvSpPr txBox="1"/>
          <p:nvPr/>
        </p:nvSpPr>
        <p:spPr>
          <a:xfrm>
            <a:off x="5495544" y="4069080"/>
            <a:ext cx="2194560" cy="640080"/>
          </a:xfrm>
          <a:prstGeom prst="rect">
            <a:avLst/>
          </a:prstGeom>
          <a:noFill/>
          <a:ln/>
        </p:spPr>
        <p:txBody>
          <a:bodyPr wrap="square" lIns="0" tIns="0" rIns="0" bIns="0" rtlCol="0" anchor="ctr"/>
          <a:lstStyle/>
          <a:p>
            <a:pPr indent="0" marL="0">
              <a:buNone/>
            </a:pPr>
            <a:r>
              <a:rPr lang="en-US" sz="2100" b="1" dirty="0">
                <a:solidFill>
                  <a:srgbClr val="12213A"/>
                </a:solidFill>
                <a:latin typeface="Arial" pitchFamily="34" charset="0"/>
                <a:ea typeface="Arial" pitchFamily="34" charset="-122"/>
                <a:cs typeface="Arial" pitchFamily="34" charset="-120"/>
              </a:rPr>
              <a:t>Tap to pay</a:t>
            </a:r>
            <a:endParaRPr lang="en-US" sz="2100" dirty="0"/>
          </a:p>
        </p:txBody>
      </p:sp>
      <p:sp>
        <p:nvSpPr>
          <p:cNvPr id="28" name="Text 20"/>
          <p:cNvSpPr txBox="1"/>
          <p:nvPr/>
        </p:nvSpPr>
        <p:spPr>
          <a:xfrm>
            <a:off x="4581144" y="4892040"/>
            <a:ext cx="3063240" cy="82296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Each payment is signed, so it can't be copied and replayed.</a:t>
            </a:r>
            <a:endParaRPr lang="en-US" sz="1500" dirty="0"/>
          </a:p>
        </p:txBody>
      </p:sp>
      <p:sp>
        <p:nvSpPr>
          <p:cNvPr id="29" name="Shape 21"/>
          <p:cNvSpPr/>
          <p:nvPr/>
        </p:nvSpPr>
        <p:spPr>
          <a:xfrm>
            <a:off x="8065008" y="3749040"/>
            <a:ext cx="3566160" cy="2057400"/>
          </a:xfrm>
          <a:prstGeom prst="roundRect">
            <a:avLst>
              <a:gd name="adj" fmla="val 4444"/>
            </a:avLst>
          </a:prstGeom>
          <a:solidFill>
            <a:srgbClr val="F1F5FB"/>
          </a:solidFill>
          <a:ln/>
        </p:spPr>
      </p:sp>
      <p:sp>
        <p:nvSpPr>
          <p:cNvPr id="30" name="Shape 22"/>
          <p:cNvSpPr/>
          <p:nvPr/>
        </p:nvSpPr>
        <p:spPr>
          <a:xfrm>
            <a:off x="8339328" y="4023360"/>
            <a:ext cx="731520" cy="731520"/>
          </a:xfrm>
          <a:prstGeom prst="ellipse">
            <a:avLst/>
          </a:prstGeom>
          <a:solidFill>
            <a:srgbClr val="0F9488"/>
          </a:solidFill>
          <a:ln/>
        </p:spPr>
      </p:sp>
      <p:pic>
        <p:nvPicPr>
          <p:cNvPr id="31" name="Image 5" descr="preencoded.png">    </p:cNvPr>
          <p:cNvPicPr>
            <a:picLocks noChangeAspect="1"/>
          </p:cNvPicPr>
          <p:nvPr/>
        </p:nvPicPr>
        <p:blipFill>
          <a:blip r:embed="rId6"/>
          <a:stretch>
            <a:fillRect/>
          </a:stretch>
        </p:blipFill>
        <p:spPr>
          <a:xfrm>
            <a:off x="8522208" y="4206240"/>
            <a:ext cx="365760" cy="365760"/>
          </a:xfrm>
          <a:prstGeom prst="rect">
            <a:avLst/>
          </a:prstGeom>
        </p:spPr>
      </p:pic>
      <p:sp>
        <p:nvSpPr>
          <p:cNvPr id="32" name="Text 23"/>
          <p:cNvSpPr txBox="1"/>
          <p:nvPr/>
        </p:nvSpPr>
        <p:spPr>
          <a:xfrm>
            <a:off x="9253728" y="4069080"/>
            <a:ext cx="2194560" cy="640080"/>
          </a:xfrm>
          <a:prstGeom prst="rect">
            <a:avLst/>
          </a:prstGeom>
          <a:noFill/>
          <a:ln/>
        </p:spPr>
        <p:txBody>
          <a:bodyPr wrap="square" lIns="0" tIns="0" rIns="0" bIns="0" rtlCol="0" anchor="ctr"/>
          <a:lstStyle/>
          <a:p>
            <a:pPr indent="0" marL="0">
              <a:buNone/>
            </a:pPr>
            <a:r>
              <a:rPr lang="en-US" sz="2100" b="1" dirty="0">
                <a:solidFill>
                  <a:srgbClr val="12213A"/>
                </a:solidFill>
                <a:latin typeface="Arial" pitchFamily="34" charset="0"/>
                <a:ea typeface="Arial" pitchFamily="34" charset="-122"/>
                <a:cs typeface="Arial" pitchFamily="34" charset="-120"/>
              </a:rPr>
              <a:t>Phone unlock</a:t>
            </a:r>
            <a:endParaRPr lang="en-US" sz="2100" dirty="0"/>
          </a:p>
        </p:txBody>
      </p:sp>
      <p:sp>
        <p:nvSpPr>
          <p:cNvPr id="33" name="Text 24"/>
          <p:cNvSpPr txBox="1"/>
          <p:nvPr/>
        </p:nvSpPr>
        <p:spPr>
          <a:xfrm>
            <a:off x="8339328" y="4892040"/>
            <a:ext cx="3063240" cy="82296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Your passcode unlocks the key that decrypts your phone.</a:t>
            </a:r>
            <a:endParaRPr lang="en-US" sz="1500" dirty="0"/>
          </a:p>
        </p:txBody>
      </p:sp>
      <p:sp>
        <p:nvSpPr>
          <p:cNvPr id="34" name="Text 25"/>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9 / 61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What is a key?</a:t>
            </a:r>
            <a:endParaRPr lang="en-US" sz="3200" dirty="0"/>
          </a:p>
        </p:txBody>
      </p:sp>
      <p:sp>
        <p:nvSpPr>
          <p:cNvPr id="4" name="Text 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700" dirty="0">
                <a:solidFill>
                  <a:srgbClr val="56657E"/>
                </a:solidFill>
                <a:latin typeface="Calibri" pitchFamily="34" charset="0"/>
                <a:ea typeface="Calibri" pitchFamily="34" charset="-122"/>
                <a:cs typeface="Calibri" pitchFamily="34" charset="-120"/>
              </a:rPr>
              <a:t>Every cipher has two parts: a method anyone can know, and a key that stays secret. Like a padlock - the lock is standard; only the right key opens it.</a:t>
            </a:r>
            <a:endParaRPr lang="en-US" sz="1700" dirty="0"/>
          </a:p>
        </p:txBody>
      </p:sp>
      <p:sp>
        <p:nvSpPr>
          <p:cNvPr id="5" name="Shape 2"/>
          <p:cNvSpPr/>
          <p:nvPr/>
        </p:nvSpPr>
        <p:spPr>
          <a:xfrm>
            <a:off x="548640" y="1965960"/>
            <a:ext cx="5029200" cy="1627632"/>
          </a:xfrm>
          <a:prstGeom prst="roundRect">
            <a:avLst>
              <a:gd name="adj" fmla="val 5618"/>
            </a:avLst>
          </a:prstGeom>
          <a:solidFill>
            <a:srgbClr val="F1F5FB"/>
          </a:solidFill>
          <a:ln/>
        </p:spPr>
      </p:sp>
      <p:sp>
        <p:nvSpPr>
          <p:cNvPr id="6" name="Shape 3"/>
          <p:cNvSpPr/>
          <p:nvPr/>
        </p:nvSpPr>
        <p:spPr>
          <a:xfrm>
            <a:off x="822960" y="2258568"/>
            <a:ext cx="822960" cy="822960"/>
          </a:xfrm>
          <a:prstGeom prst="ellipse">
            <a:avLst/>
          </a:prstGeom>
          <a:solidFill>
            <a:srgbClr val="D3DEF7"/>
          </a:solidFill>
          <a:ln/>
        </p:spPr>
      </p:sp>
      <p:pic>
        <p:nvPicPr>
          <p:cNvPr id="7" name="Image 0" descr="preencoded.png">    </p:cNvPr>
          <p:cNvPicPr>
            <a:picLocks noChangeAspect="1"/>
          </p:cNvPicPr>
          <p:nvPr/>
        </p:nvPicPr>
        <p:blipFill>
          <a:blip r:embed="rId1"/>
          <a:stretch>
            <a:fillRect/>
          </a:stretch>
        </p:blipFill>
        <p:spPr>
          <a:xfrm>
            <a:off x="1045159" y="2480767"/>
            <a:ext cx="378562" cy="378562"/>
          </a:xfrm>
          <a:prstGeom prst="rect">
            <a:avLst/>
          </a:prstGeom>
        </p:spPr>
      </p:pic>
      <p:sp>
        <p:nvSpPr>
          <p:cNvPr id="8" name="Text 4"/>
          <p:cNvSpPr txBox="1"/>
          <p:nvPr/>
        </p:nvSpPr>
        <p:spPr>
          <a:xfrm>
            <a:off x="1874520" y="2350008"/>
            <a:ext cx="3474720" cy="548640"/>
          </a:xfrm>
          <a:prstGeom prst="rect">
            <a:avLst/>
          </a:prstGeom>
          <a:noFill/>
          <a:ln/>
        </p:spPr>
        <p:txBody>
          <a:bodyPr wrap="square" lIns="0" tIns="0" rIns="0" bIns="0" rtlCol="0" anchor="ctr"/>
          <a:lstStyle/>
          <a:p>
            <a:pPr indent="0" marL="0">
              <a:buNone/>
            </a:pPr>
            <a:r>
              <a:rPr lang="en-US" sz="2100" b="1" dirty="0">
                <a:solidFill>
                  <a:srgbClr val="2459D8"/>
                </a:solidFill>
                <a:latin typeface="Arial" pitchFamily="34" charset="0"/>
                <a:ea typeface="Arial" pitchFamily="34" charset="-122"/>
                <a:cs typeface="Arial" pitchFamily="34" charset="-120"/>
              </a:rPr>
              <a:t>The method</a:t>
            </a:r>
            <a:endParaRPr lang="en-US" sz="2100" dirty="0"/>
          </a:p>
        </p:txBody>
      </p:sp>
      <p:sp>
        <p:nvSpPr>
          <p:cNvPr id="9" name="Text 5"/>
          <p:cNvSpPr txBox="1"/>
          <p:nvPr/>
        </p:nvSpPr>
        <p:spPr>
          <a:xfrm>
            <a:off x="868680" y="2990088"/>
            <a:ext cx="4572000" cy="54864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How the scramble works. Often public - you can look it up. Knowing it is not enough to read the message.</a:t>
            </a:r>
            <a:endParaRPr lang="en-US" sz="1450" dirty="0"/>
          </a:p>
        </p:txBody>
      </p:sp>
      <p:sp>
        <p:nvSpPr>
          <p:cNvPr id="10" name="Shape 6"/>
          <p:cNvSpPr/>
          <p:nvPr/>
        </p:nvSpPr>
        <p:spPr>
          <a:xfrm>
            <a:off x="548640" y="3721608"/>
            <a:ext cx="5029200" cy="1627632"/>
          </a:xfrm>
          <a:prstGeom prst="roundRect">
            <a:avLst>
              <a:gd name="adj" fmla="val 5618"/>
            </a:avLst>
          </a:prstGeom>
          <a:solidFill>
            <a:srgbClr val="F1F5FB"/>
          </a:solidFill>
          <a:ln/>
        </p:spPr>
      </p:sp>
      <p:sp>
        <p:nvSpPr>
          <p:cNvPr id="11" name="Shape 7"/>
          <p:cNvSpPr/>
          <p:nvPr/>
        </p:nvSpPr>
        <p:spPr>
          <a:xfrm>
            <a:off x="822960" y="4014216"/>
            <a:ext cx="822960" cy="822960"/>
          </a:xfrm>
          <a:prstGeom prst="ellipse">
            <a:avLst/>
          </a:prstGeom>
          <a:solidFill>
            <a:srgbClr val="F4E9CC"/>
          </a:solidFill>
          <a:ln/>
        </p:spPr>
      </p:sp>
      <p:pic>
        <p:nvPicPr>
          <p:cNvPr id="12" name="Image 1" descr="preencoded.png">    </p:cNvPr>
          <p:cNvPicPr>
            <a:picLocks noChangeAspect="1"/>
          </p:cNvPicPr>
          <p:nvPr/>
        </p:nvPicPr>
        <p:blipFill>
          <a:blip r:embed="rId2"/>
          <a:stretch>
            <a:fillRect/>
          </a:stretch>
        </p:blipFill>
        <p:spPr>
          <a:xfrm>
            <a:off x="1045159" y="4236415"/>
            <a:ext cx="378562" cy="378562"/>
          </a:xfrm>
          <a:prstGeom prst="rect">
            <a:avLst/>
          </a:prstGeom>
        </p:spPr>
      </p:pic>
      <p:sp>
        <p:nvSpPr>
          <p:cNvPr id="13" name="Text 8"/>
          <p:cNvSpPr txBox="1"/>
          <p:nvPr/>
        </p:nvSpPr>
        <p:spPr>
          <a:xfrm>
            <a:off x="1874520" y="4105656"/>
            <a:ext cx="3474720" cy="548640"/>
          </a:xfrm>
          <a:prstGeom prst="rect">
            <a:avLst/>
          </a:prstGeom>
          <a:noFill/>
          <a:ln/>
        </p:spPr>
        <p:txBody>
          <a:bodyPr wrap="square" lIns="0" tIns="0" rIns="0" bIns="0" rtlCol="0" anchor="ctr"/>
          <a:lstStyle/>
          <a:p>
            <a:pPr indent="0" marL="0">
              <a:buNone/>
            </a:pPr>
            <a:r>
              <a:rPr lang="en-US" sz="2100" b="1" dirty="0">
                <a:solidFill>
                  <a:srgbClr val="C79200"/>
                </a:solidFill>
                <a:latin typeface="Arial" pitchFamily="34" charset="0"/>
                <a:ea typeface="Arial" pitchFamily="34" charset="-122"/>
                <a:cs typeface="Arial" pitchFamily="34" charset="-120"/>
              </a:rPr>
              <a:t>The key</a:t>
            </a:r>
            <a:endParaRPr lang="en-US" sz="2100" dirty="0"/>
          </a:p>
        </p:txBody>
      </p:sp>
      <p:sp>
        <p:nvSpPr>
          <p:cNvPr id="14" name="Text 9"/>
          <p:cNvSpPr txBox="1"/>
          <p:nvPr/>
        </p:nvSpPr>
        <p:spPr>
          <a:xfrm>
            <a:off x="868680" y="4745736"/>
            <a:ext cx="4572000" cy="548640"/>
          </a:xfrm>
          <a:prstGeom prst="rect">
            <a:avLst/>
          </a:prstGeom>
          <a:noFill/>
          <a:ln/>
        </p:spPr>
        <p:txBody>
          <a:bodyPr wrap="square" lIns="0" tIns="0" rIns="0" bIns="0" rtlCol="0" anchor="t"/>
          <a:lstStyle/>
          <a:p>
            <a:pPr indent="0" marL="0">
              <a:buNone/>
            </a:pPr>
            <a:r>
              <a:rPr lang="en-US" sz="1450" dirty="0">
                <a:solidFill>
                  <a:srgbClr val="12213A"/>
                </a:solidFill>
                <a:latin typeface="Calibri" pitchFamily="34" charset="0"/>
                <a:ea typeface="Calibri" pitchFamily="34" charset="-122"/>
                <a:cs typeface="Calibri" pitchFamily="34" charset="-120"/>
              </a:rPr>
              <a:t>The one secret setting. Same method + different key = a different result. No key, no unlock.</a:t>
            </a:r>
            <a:endParaRPr lang="en-US" sz="1450" dirty="0"/>
          </a:p>
        </p:txBody>
      </p:sp>
      <p:sp>
        <p:nvSpPr>
          <p:cNvPr id="15" name="Shape 10"/>
          <p:cNvSpPr/>
          <p:nvPr/>
        </p:nvSpPr>
        <p:spPr>
          <a:xfrm>
            <a:off x="5852160" y="1965960"/>
            <a:ext cx="5788152" cy="3364992"/>
          </a:xfrm>
          <a:prstGeom prst="roundRect">
            <a:avLst>
              <a:gd name="adj" fmla="val 2717"/>
            </a:avLst>
          </a:prstGeom>
          <a:solidFill>
            <a:srgbClr val="0E1726"/>
          </a:solidFill>
          <a:ln/>
          <a:effectLst>
            <a:outerShdw sx="100000" sy="100000" kx="0" ky="0" algn="bl" rotWithShape="0" blurRad="127000" dist="38100" dir="5400000">
              <a:srgbClr val="12213A">
                <a:alpha val="22000"/>
              </a:srgbClr>
            </a:outerShdw>
          </a:effectLst>
        </p:spPr>
      </p:sp>
      <p:sp>
        <p:nvSpPr>
          <p:cNvPr id="16" name="Shape 11"/>
          <p:cNvSpPr/>
          <p:nvPr/>
        </p:nvSpPr>
        <p:spPr>
          <a:xfrm>
            <a:off x="6053328" y="2121408"/>
            <a:ext cx="118872" cy="118872"/>
          </a:xfrm>
          <a:prstGeom prst="ellipse">
            <a:avLst/>
          </a:prstGeom>
          <a:solidFill>
            <a:srgbClr val="E5534B"/>
          </a:solidFill>
          <a:ln/>
        </p:spPr>
      </p:sp>
      <p:sp>
        <p:nvSpPr>
          <p:cNvPr id="17" name="Shape 12"/>
          <p:cNvSpPr/>
          <p:nvPr/>
        </p:nvSpPr>
        <p:spPr>
          <a:xfrm>
            <a:off x="6254496" y="2121408"/>
            <a:ext cx="118872" cy="118872"/>
          </a:xfrm>
          <a:prstGeom prst="ellipse">
            <a:avLst/>
          </a:prstGeom>
          <a:solidFill>
            <a:srgbClr val="F5A623"/>
          </a:solidFill>
          <a:ln/>
        </p:spPr>
      </p:sp>
      <p:sp>
        <p:nvSpPr>
          <p:cNvPr id="18" name="Shape 13"/>
          <p:cNvSpPr/>
          <p:nvPr/>
        </p:nvSpPr>
        <p:spPr>
          <a:xfrm>
            <a:off x="6455664" y="2121408"/>
            <a:ext cx="118872" cy="118872"/>
          </a:xfrm>
          <a:prstGeom prst="ellipse">
            <a:avLst/>
          </a:prstGeom>
          <a:solidFill>
            <a:srgbClr val="46D39A"/>
          </a:solidFill>
          <a:ln/>
        </p:spPr>
      </p:sp>
      <p:sp>
        <p:nvSpPr>
          <p:cNvPr id="19" name="Text 14"/>
          <p:cNvSpPr txBox="1"/>
          <p:nvPr/>
        </p:nvSpPr>
        <p:spPr>
          <a:xfrm>
            <a:off x="6766560" y="2039112"/>
            <a:ext cx="395935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same method, the key sets the result</a:t>
            </a:r>
            <a:endParaRPr lang="en-US" sz="1000" dirty="0"/>
          </a:p>
        </p:txBody>
      </p:sp>
      <p:sp>
        <p:nvSpPr>
          <p:cNvPr id="20" name="Text 15"/>
          <p:cNvSpPr txBox="1"/>
          <p:nvPr/>
        </p:nvSpPr>
        <p:spPr>
          <a:xfrm>
            <a:off x="6126480" y="2423160"/>
            <a:ext cx="5239512" cy="2770632"/>
          </a:xfrm>
          <a:prstGeom prst="rect">
            <a:avLst/>
          </a:prstGeom>
          <a:noFill/>
          <a:ln/>
        </p:spPr>
        <p:txBody>
          <a:bodyPr wrap="square" lIns="0" tIns="0" rIns="0" bIns="0" rtlCol="0" anchor="t"/>
          <a:lstStyle/>
          <a:p>
            <a:pPr indent="0" marL="0">
              <a:spcAft>
                <a:spcPts val="200"/>
              </a:spcAft>
              <a:buNone/>
            </a:pPr>
            <a:r>
              <a:rPr lang="en-US" sz="1350" dirty="0">
                <a:solidFill>
                  <a:srgbClr val="7F8FAD"/>
                </a:solidFill>
                <a:latin typeface="Courier New" pitchFamily="34" charset="0"/>
                <a:ea typeface="Courier New" pitchFamily="34" charset="-122"/>
                <a:cs typeface="Courier New" pitchFamily="34" charset="-120"/>
              </a:rPr>
              <a:t># the key is the shift number</a:t>
            </a:r>
            <a:endParaRPr lang="en-US" sz="1350" dirty="0"/>
          </a:p>
          <a:p>
            <a:pPr indent="0" marL="0">
              <a:spcAft>
                <a:spcPts val="200"/>
              </a:spcAft>
              <a:buNone/>
            </a:pPr>
            <a:r>
              <a:rPr lang="en-US" sz="13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50" b="1" dirty="0">
                <a:solidFill>
                  <a:srgbClr val="FFFFFF"/>
                </a:solidFill>
                <a:latin typeface="Courier New" pitchFamily="34" charset="0"/>
                <a:ea typeface="Courier New" pitchFamily="34" charset="-122"/>
                <a:cs typeface="Courier New" pitchFamily="34" charset="-120"/>
              </a:rPr>
              <a:t>caesar 3   HELLO</a:t>
            </a:r>
            <a:endParaRPr lang="en-US" sz="1350" dirty="0"/>
          </a:p>
          <a:p>
            <a:pPr indent="0" marL="0">
              <a:spcAft>
                <a:spcPts val="200"/>
              </a:spcAft>
              <a:buNone/>
            </a:pPr>
            <a:r>
              <a:rPr lang="en-US" sz="1350" b="1" dirty="0">
                <a:solidFill>
                  <a:srgbClr val="F5A623"/>
                </a:solidFill>
                <a:latin typeface="Courier New" pitchFamily="34" charset="0"/>
                <a:ea typeface="Courier New" pitchFamily="34" charset="-122"/>
                <a:cs typeface="Courier New" pitchFamily="34" charset="-120"/>
              </a:rPr>
              <a:t>KHOOR</a:t>
            </a:r>
            <a:endParaRPr lang="en-US" sz="1350" dirty="0"/>
          </a:p>
          <a:p>
            <a:pPr indent="0" marL="0">
              <a:spcAft>
                <a:spcPts val="200"/>
              </a:spcAft>
              <a:buNone/>
            </a:pPr>
            <a:r>
              <a:rPr lang="en-US" sz="13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50" b="1" dirty="0">
                <a:solidFill>
                  <a:srgbClr val="FFFFFF"/>
                </a:solidFill>
                <a:latin typeface="Courier New" pitchFamily="34" charset="0"/>
                <a:ea typeface="Courier New" pitchFamily="34" charset="-122"/>
                <a:cs typeface="Courier New" pitchFamily="34" charset="-120"/>
              </a:rPr>
              <a:t>caesar 7   HELLO</a:t>
            </a:r>
            <a:endParaRPr lang="en-US" sz="1350" dirty="0"/>
          </a:p>
          <a:p>
            <a:pPr indent="0" marL="0">
              <a:spcAft>
                <a:spcPts val="200"/>
              </a:spcAft>
              <a:buNone/>
            </a:pPr>
            <a:r>
              <a:rPr lang="en-US" sz="1350" dirty="0">
                <a:solidFill>
                  <a:srgbClr val="B8C4D9"/>
                </a:solidFill>
                <a:latin typeface="Courier New" pitchFamily="34" charset="0"/>
                <a:ea typeface="Courier New" pitchFamily="34" charset="-122"/>
                <a:cs typeface="Courier New" pitchFamily="34" charset="-120"/>
              </a:rPr>
              <a:t>OLSSV</a:t>
            </a:r>
            <a:endParaRPr lang="en-US" sz="1350" dirty="0"/>
          </a:p>
          <a:p>
            <a:pPr indent="0" marL="0">
              <a:spcAft>
                <a:spcPts val="200"/>
              </a:spcAft>
              <a:buNone/>
            </a:pPr>
            <a:r>
              <a:rPr lang="en-US" sz="1350" dirty="0">
                <a:solidFill>
                  <a:srgbClr val="B8C4D9"/>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rgbClr val="7F8FAD"/>
                </a:solidFill>
                <a:latin typeface="Courier New" pitchFamily="34" charset="0"/>
                <a:ea typeface="Courier New" pitchFamily="34" charset="-122"/>
                <a:cs typeface="Courier New" pitchFamily="34" charset="-120"/>
              </a:rPr>
              <a:t># to read it, use the SAME key</a:t>
            </a:r>
            <a:endParaRPr lang="en-US" sz="1350" dirty="0"/>
          </a:p>
          <a:p>
            <a:pPr indent="0" marL="0">
              <a:spcAft>
                <a:spcPts val="200"/>
              </a:spcAft>
              <a:buNone/>
            </a:pPr>
            <a:r>
              <a:rPr lang="en-US" sz="13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50" b="1" dirty="0">
                <a:solidFill>
                  <a:srgbClr val="FFFFFF"/>
                </a:solidFill>
                <a:latin typeface="Courier New" pitchFamily="34" charset="0"/>
                <a:ea typeface="Courier New" pitchFamily="34" charset="-122"/>
                <a:cs typeface="Courier New" pitchFamily="34" charset="-120"/>
              </a:rPr>
              <a:t>caesar 3   KHOOR   (decode)</a:t>
            </a:r>
            <a:endParaRPr lang="en-US" sz="1350" dirty="0"/>
          </a:p>
          <a:p>
            <a:pPr indent="0" marL="0">
              <a:spcAft>
                <a:spcPts val="200"/>
              </a:spcAft>
              <a:buNone/>
            </a:pPr>
            <a:r>
              <a:rPr lang="en-US" sz="1350" b="1" dirty="0">
                <a:solidFill>
                  <a:srgbClr val="F5A623"/>
                </a:solidFill>
                <a:latin typeface="Courier New" pitchFamily="34" charset="0"/>
                <a:ea typeface="Courier New" pitchFamily="34" charset="-122"/>
                <a:cs typeface="Courier New" pitchFamily="34" charset="-120"/>
              </a:rPr>
              <a:t>HELLO</a:t>
            </a:r>
            <a:endParaRPr lang="en-US" sz="1350" dirty="0"/>
          </a:p>
          <a:p>
            <a:pPr indent="0" marL="0">
              <a:spcAft>
                <a:spcPts val="200"/>
              </a:spcAft>
              <a:buNone/>
            </a:pPr>
            <a:r>
              <a:rPr lang="en-US" sz="13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50" b="1" dirty="0">
                <a:solidFill>
                  <a:srgbClr val="FFFFFF"/>
                </a:solidFill>
                <a:latin typeface="Courier New" pitchFamily="34" charset="0"/>
                <a:ea typeface="Courier New" pitchFamily="34" charset="-122"/>
                <a:cs typeface="Courier New" pitchFamily="34" charset="-120"/>
              </a:rPr>
              <a:t>caesar 5   KHOOR   (decode)</a:t>
            </a:r>
            <a:endParaRPr lang="en-US" sz="1350" dirty="0"/>
          </a:p>
          <a:p>
            <a:pPr indent="0" marL="0">
              <a:spcAft>
                <a:spcPts val="200"/>
              </a:spcAft>
              <a:buNone/>
            </a:pPr>
            <a:r>
              <a:rPr lang="en-US" sz="1350" dirty="0">
                <a:solidFill>
                  <a:srgbClr val="B8C4D9"/>
                </a:solidFill>
                <a:latin typeface="Courier New" pitchFamily="34" charset="0"/>
                <a:ea typeface="Courier New" pitchFamily="34" charset="-122"/>
                <a:cs typeface="Courier New" pitchFamily="34" charset="-120"/>
              </a:rPr>
              <a:t>FCJJM   &lt;- wrong key</a:t>
            </a:r>
            <a:endParaRPr lang="en-US" sz="1350" dirty="0"/>
          </a:p>
        </p:txBody>
      </p:sp>
      <p:sp>
        <p:nvSpPr>
          <p:cNvPr id="21" name="Text 1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10 / 61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Key size is everything</a:t>
            </a:r>
            <a:endParaRPr lang="en-US" sz="3200" dirty="0"/>
          </a:p>
        </p:txBody>
      </p:sp>
      <p:sp>
        <p:nvSpPr>
          <p:cNvPr id="4" name="Text 1"/>
          <p:cNvSpPr txBox="1"/>
          <p:nvPr/>
        </p:nvSpPr>
        <p:spPr>
          <a:xfrm>
            <a:off x="548640" y="1508760"/>
            <a:ext cx="26517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Caesar</a:t>
            </a:r>
            <a:endParaRPr lang="en-US" sz="1800" dirty="0"/>
          </a:p>
        </p:txBody>
      </p:sp>
      <p:sp>
        <p:nvSpPr>
          <p:cNvPr id="5" name="Text 2"/>
          <p:cNvSpPr txBox="1"/>
          <p:nvPr/>
        </p:nvSpPr>
        <p:spPr>
          <a:xfrm>
            <a:off x="548640" y="1920240"/>
            <a:ext cx="2651760" cy="320040"/>
          </a:xfrm>
          <a:prstGeom prst="rect">
            <a:avLst/>
          </a:prstGeom>
          <a:noFill/>
          <a:ln/>
        </p:spPr>
        <p:txBody>
          <a:bodyPr wrap="square" lIns="0" tIns="0" rIns="0" bIns="0" rtlCol="0" anchor="t"/>
          <a:lstStyle/>
          <a:p>
            <a:pPr indent="0" marL="0">
              <a:buNone/>
            </a:pPr>
            <a:r>
              <a:rPr lang="en-US" sz="1300" dirty="0">
                <a:solidFill>
                  <a:srgbClr val="56657E"/>
                </a:solidFill>
                <a:latin typeface="Calibri" pitchFamily="34" charset="0"/>
                <a:ea typeface="Calibri" pitchFamily="34" charset="-122"/>
                <a:cs typeface="Calibri" pitchFamily="34" charset="-120"/>
              </a:rPr>
              <a:t>Mission 4</a:t>
            </a:r>
            <a:endParaRPr lang="en-US" sz="1300" dirty="0"/>
          </a:p>
        </p:txBody>
      </p:sp>
      <p:sp>
        <p:nvSpPr>
          <p:cNvPr id="6" name="Shape 3"/>
          <p:cNvSpPr/>
          <p:nvPr/>
        </p:nvSpPr>
        <p:spPr>
          <a:xfrm>
            <a:off x="3291840" y="1581912"/>
            <a:ext cx="8348472" cy="640080"/>
          </a:xfrm>
          <a:prstGeom prst="roundRect">
            <a:avLst>
              <a:gd name="adj" fmla="val 11429"/>
            </a:avLst>
          </a:prstGeom>
          <a:solidFill>
            <a:srgbClr val="E4EAF3"/>
          </a:solidFill>
          <a:ln/>
        </p:spPr>
      </p:sp>
      <p:sp>
        <p:nvSpPr>
          <p:cNvPr id="7" name="Shape 4"/>
          <p:cNvSpPr/>
          <p:nvPr/>
        </p:nvSpPr>
        <p:spPr>
          <a:xfrm>
            <a:off x="3291840" y="1581912"/>
            <a:ext cx="502920" cy="640080"/>
          </a:xfrm>
          <a:prstGeom prst="roundRect">
            <a:avLst>
              <a:gd name="adj" fmla="val 14545"/>
            </a:avLst>
          </a:prstGeom>
          <a:solidFill>
            <a:srgbClr val="2A9FD6"/>
          </a:solidFill>
          <a:ln/>
        </p:spPr>
      </p:sp>
      <p:sp>
        <p:nvSpPr>
          <p:cNvPr id="8" name="Text 5"/>
          <p:cNvSpPr txBox="1"/>
          <p:nvPr/>
        </p:nvSpPr>
        <p:spPr>
          <a:xfrm>
            <a:off x="3977640" y="1581912"/>
            <a:ext cx="3840480" cy="64008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25 keys</a:t>
            </a:r>
            <a:endParaRPr lang="en-US" sz="1600" dirty="0"/>
          </a:p>
        </p:txBody>
      </p:sp>
      <p:sp>
        <p:nvSpPr>
          <p:cNvPr id="9" name="Text 6"/>
          <p:cNvSpPr txBox="1"/>
          <p:nvPr/>
        </p:nvSpPr>
        <p:spPr>
          <a:xfrm>
            <a:off x="7589520" y="1581912"/>
            <a:ext cx="3931920" cy="640080"/>
          </a:xfrm>
          <a:prstGeom prst="rect">
            <a:avLst/>
          </a:prstGeom>
          <a:noFill/>
          <a:ln/>
        </p:spPr>
        <p:txBody>
          <a:bodyPr wrap="square" lIns="0" tIns="0" rIns="0" bIns="0" rtlCol="0" anchor="ctr"/>
          <a:lstStyle/>
          <a:p>
            <a:pPr algn="r" indent="0" marL="0">
              <a:buNone/>
            </a:pPr>
            <a:r>
              <a:rPr lang="en-US" sz="1400" b="1" dirty="0">
                <a:solidFill>
                  <a:srgbClr val="56657E"/>
                </a:solidFill>
                <a:latin typeface="Calibri" pitchFamily="34" charset="0"/>
                <a:ea typeface="Calibri" pitchFamily="34" charset="-122"/>
                <a:cs typeface="Calibri" pitchFamily="34" charset="-120"/>
              </a:rPr>
              <a:t>Try them all by hand</a:t>
            </a:r>
            <a:endParaRPr lang="en-US" sz="1400" dirty="0"/>
          </a:p>
        </p:txBody>
      </p:sp>
      <p:sp>
        <p:nvSpPr>
          <p:cNvPr id="10" name="Text 7"/>
          <p:cNvSpPr txBox="1"/>
          <p:nvPr/>
        </p:nvSpPr>
        <p:spPr>
          <a:xfrm>
            <a:off x="548640" y="2587752"/>
            <a:ext cx="26517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Single-byte XOR</a:t>
            </a:r>
            <a:endParaRPr lang="en-US" sz="1800" dirty="0"/>
          </a:p>
        </p:txBody>
      </p:sp>
      <p:sp>
        <p:nvSpPr>
          <p:cNvPr id="11" name="Text 8"/>
          <p:cNvSpPr txBox="1"/>
          <p:nvPr/>
        </p:nvSpPr>
        <p:spPr>
          <a:xfrm>
            <a:off x="548640" y="2999232"/>
            <a:ext cx="2651760" cy="320040"/>
          </a:xfrm>
          <a:prstGeom prst="rect">
            <a:avLst/>
          </a:prstGeom>
          <a:noFill/>
          <a:ln/>
        </p:spPr>
        <p:txBody>
          <a:bodyPr wrap="square" lIns="0" tIns="0" rIns="0" bIns="0" rtlCol="0" anchor="t"/>
          <a:lstStyle/>
          <a:p>
            <a:pPr indent="0" marL="0">
              <a:buNone/>
            </a:pPr>
            <a:r>
              <a:rPr lang="en-US" sz="1300" dirty="0">
                <a:solidFill>
                  <a:srgbClr val="56657E"/>
                </a:solidFill>
                <a:latin typeface="Calibri" pitchFamily="34" charset="0"/>
                <a:ea typeface="Calibri" pitchFamily="34" charset="-122"/>
                <a:cs typeface="Calibri" pitchFamily="34" charset="-120"/>
              </a:rPr>
              <a:t>Mission 8</a:t>
            </a:r>
            <a:endParaRPr lang="en-US" sz="1300" dirty="0"/>
          </a:p>
        </p:txBody>
      </p:sp>
      <p:sp>
        <p:nvSpPr>
          <p:cNvPr id="12" name="Shape 9"/>
          <p:cNvSpPr/>
          <p:nvPr/>
        </p:nvSpPr>
        <p:spPr>
          <a:xfrm>
            <a:off x="3291840" y="2660904"/>
            <a:ext cx="8348472" cy="640080"/>
          </a:xfrm>
          <a:prstGeom prst="roundRect">
            <a:avLst>
              <a:gd name="adj" fmla="val 11429"/>
            </a:avLst>
          </a:prstGeom>
          <a:solidFill>
            <a:srgbClr val="E4EAF3"/>
          </a:solidFill>
          <a:ln/>
        </p:spPr>
      </p:sp>
      <p:sp>
        <p:nvSpPr>
          <p:cNvPr id="13" name="Shape 10"/>
          <p:cNvSpPr/>
          <p:nvPr/>
        </p:nvSpPr>
        <p:spPr>
          <a:xfrm>
            <a:off x="3291840" y="2660904"/>
            <a:ext cx="1168786" cy="640080"/>
          </a:xfrm>
          <a:prstGeom prst="roundRect">
            <a:avLst>
              <a:gd name="adj" fmla="val 11429"/>
            </a:avLst>
          </a:prstGeom>
          <a:solidFill>
            <a:srgbClr val="7448D4"/>
          </a:solidFill>
          <a:ln/>
        </p:spPr>
      </p:sp>
      <p:sp>
        <p:nvSpPr>
          <p:cNvPr id="14" name="Text 11"/>
          <p:cNvSpPr txBox="1"/>
          <p:nvPr/>
        </p:nvSpPr>
        <p:spPr>
          <a:xfrm>
            <a:off x="4643506" y="2660904"/>
            <a:ext cx="3840480" cy="64008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255 keys</a:t>
            </a:r>
            <a:endParaRPr lang="en-US" sz="1600" dirty="0"/>
          </a:p>
        </p:txBody>
      </p:sp>
      <p:sp>
        <p:nvSpPr>
          <p:cNvPr id="15" name="Text 12"/>
          <p:cNvSpPr txBox="1"/>
          <p:nvPr/>
        </p:nvSpPr>
        <p:spPr>
          <a:xfrm>
            <a:off x="7589520" y="2660904"/>
            <a:ext cx="3931920" cy="640080"/>
          </a:xfrm>
          <a:prstGeom prst="rect">
            <a:avLst/>
          </a:prstGeom>
          <a:noFill/>
          <a:ln/>
        </p:spPr>
        <p:txBody>
          <a:bodyPr wrap="square" lIns="0" tIns="0" rIns="0" bIns="0" rtlCol="0" anchor="ctr"/>
          <a:lstStyle/>
          <a:p>
            <a:pPr algn="r" indent="0" marL="0">
              <a:buNone/>
            </a:pPr>
            <a:r>
              <a:rPr lang="en-US" sz="1400" b="1" dirty="0">
                <a:solidFill>
                  <a:srgbClr val="56657E"/>
                </a:solidFill>
                <a:latin typeface="Calibri" pitchFamily="34" charset="0"/>
                <a:ea typeface="Calibri" pitchFamily="34" charset="-122"/>
                <a:cs typeface="Calibri" pitchFamily="34" charset="-120"/>
              </a:rPr>
              <a:t>Instant for a computer</a:t>
            </a:r>
            <a:endParaRPr lang="en-US" sz="1400" dirty="0"/>
          </a:p>
        </p:txBody>
      </p:sp>
      <p:sp>
        <p:nvSpPr>
          <p:cNvPr id="16" name="Text 13"/>
          <p:cNvSpPr txBox="1"/>
          <p:nvPr/>
        </p:nvSpPr>
        <p:spPr>
          <a:xfrm>
            <a:off x="548640" y="3666744"/>
            <a:ext cx="26517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6-letter Vigenère</a:t>
            </a:r>
            <a:endParaRPr lang="en-US" sz="1800" dirty="0"/>
          </a:p>
        </p:txBody>
      </p:sp>
      <p:sp>
        <p:nvSpPr>
          <p:cNvPr id="17" name="Text 14"/>
          <p:cNvSpPr txBox="1"/>
          <p:nvPr/>
        </p:nvSpPr>
        <p:spPr>
          <a:xfrm>
            <a:off x="548640" y="4078224"/>
            <a:ext cx="2651760" cy="320040"/>
          </a:xfrm>
          <a:prstGeom prst="rect">
            <a:avLst/>
          </a:prstGeom>
          <a:noFill/>
          <a:ln/>
        </p:spPr>
        <p:txBody>
          <a:bodyPr wrap="square" lIns="0" tIns="0" rIns="0" bIns="0" rtlCol="0" anchor="t"/>
          <a:lstStyle/>
          <a:p>
            <a:pPr indent="0" marL="0">
              <a:buNone/>
            </a:pPr>
            <a:r>
              <a:rPr lang="en-US" sz="1300" dirty="0">
                <a:solidFill>
                  <a:srgbClr val="56657E"/>
                </a:solidFill>
                <a:latin typeface="Calibri" pitchFamily="34" charset="0"/>
                <a:ea typeface="Calibri" pitchFamily="34" charset="-122"/>
                <a:cs typeface="Calibri" pitchFamily="34" charset="-120"/>
              </a:rPr>
              <a:t>Mission 9</a:t>
            </a:r>
            <a:endParaRPr lang="en-US" sz="1300" dirty="0"/>
          </a:p>
        </p:txBody>
      </p:sp>
      <p:sp>
        <p:nvSpPr>
          <p:cNvPr id="18" name="Shape 15"/>
          <p:cNvSpPr/>
          <p:nvPr/>
        </p:nvSpPr>
        <p:spPr>
          <a:xfrm>
            <a:off x="3291840" y="3739896"/>
            <a:ext cx="8348472" cy="640080"/>
          </a:xfrm>
          <a:prstGeom prst="roundRect">
            <a:avLst>
              <a:gd name="adj" fmla="val 11429"/>
            </a:avLst>
          </a:prstGeom>
          <a:solidFill>
            <a:srgbClr val="E4EAF3"/>
          </a:solidFill>
          <a:ln/>
        </p:spPr>
      </p:sp>
      <p:sp>
        <p:nvSpPr>
          <p:cNvPr id="19" name="Shape 16"/>
          <p:cNvSpPr/>
          <p:nvPr/>
        </p:nvSpPr>
        <p:spPr>
          <a:xfrm>
            <a:off x="3291840" y="3739896"/>
            <a:ext cx="3756812" cy="640080"/>
          </a:xfrm>
          <a:prstGeom prst="roundRect">
            <a:avLst>
              <a:gd name="adj" fmla="val 11429"/>
            </a:avLst>
          </a:prstGeom>
          <a:solidFill>
            <a:srgbClr val="D1416B"/>
          </a:solidFill>
          <a:ln/>
        </p:spPr>
      </p:sp>
      <p:sp>
        <p:nvSpPr>
          <p:cNvPr id="20" name="Text 17"/>
          <p:cNvSpPr txBox="1"/>
          <p:nvPr/>
        </p:nvSpPr>
        <p:spPr>
          <a:xfrm>
            <a:off x="3474720" y="3739896"/>
            <a:ext cx="3840480" cy="640080"/>
          </a:xfrm>
          <a:prstGeom prst="rect">
            <a:avLst/>
          </a:prstGeom>
          <a:noFill/>
          <a:ln/>
        </p:spPr>
        <p:txBody>
          <a:bodyPr wrap="square" lIns="0" tIns="0" rIns="0" bIns="0" rtlCol="0" anchor="ctr"/>
          <a:lstStyle/>
          <a:p>
            <a:pPr indent="0" marL="0">
              <a:buNone/>
            </a:pPr>
            <a:r>
              <a:rPr lang="en-US" sz="1600" b="1" dirty="0">
                <a:solidFill>
                  <a:srgbClr val="FFFFFF"/>
                </a:solidFill>
                <a:latin typeface="Courier New" pitchFamily="34" charset="0"/>
                <a:ea typeface="Courier New" pitchFamily="34" charset="-122"/>
                <a:cs typeface="Courier New" pitchFamily="34" charset="-120"/>
              </a:rPr>
              <a:t>308,915,776 keys</a:t>
            </a:r>
            <a:endParaRPr lang="en-US" sz="1600" dirty="0"/>
          </a:p>
        </p:txBody>
      </p:sp>
      <p:sp>
        <p:nvSpPr>
          <p:cNvPr id="21" name="Text 18"/>
          <p:cNvSpPr txBox="1"/>
          <p:nvPr/>
        </p:nvSpPr>
        <p:spPr>
          <a:xfrm>
            <a:off x="7589520" y="3739896"/>
            <a:ext cx="3931920" cy="640080"/>
          </a:xfrm>
          <a:prstGeom prst="rect">
            <a:avLst/>
          </a:prstGeom>
          <a:noFill/>
          <a:ln/>
        </p:spPr>
        <p:txBody>
          <a:bodyPr wrap="square" lIns="0" tIns="0" rIns="0" bIns="0" rtlCol="0" anchor="ctr"/>
          <a:lstStyle/>
          <a:p>
            <a:pPr algn="r" indent="0" marL="0">
              <a:buNone/>
            </a:pPr>
            <a:r>
              <a:rPr lang="en-US" sz="1400" b="1" dirty="0">
                <a:solidFill>
                  <a:srgbClr val="56657E"/>
                </a:solidFill>
                <a:latin typeface="Calibri" pitchFamily="34" charset="0"/>
                <a:ea typeface="Calibri" pitchFamily="34" charset="-122"/>
                <a:cs typeface="Calibri" pitchFamily="34" charset="-120"/>
              </a:rPr>
              <a:t>Find the key instead</a:t>
            </a:r>
            <a:endParaRPr lang="en-US" sz="1400" dirty="0"/>
          </a:p>
        </p:txBody>
      </p:sp>
      <p:sp>
        <p:nvSpPr>
          <p:cNvPr id="22" name="Text 19"/>
          <p:cNvSpPr txBox="1"/>
          <p:nvPr/>
        </p:nvSpPr>
        <p:spPr>
          <a:xfrm>
            <a:off x="548640" y="4745736"/>
            <a:ext cx="26517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AES-128</a:t>
            </a:r>
            <a:endParaRPr lang="en-US" sz="1800" dirty="0"/>
          </a:p>
        </p:txBody>
      </p:sp>
      <p:sp>
        <p:nvSpPr>
          <p:cNvPr id="23" name="Text 20"/>
          <p:cNvSpPr txBox="1"/>
          <p:nvPr/>
        </p:nvSpPr>
        <p:spPr>
          <a:xfrm>
            <a:off x="548640" y="5157216"/>
            <a:ext cx="2651760" cy="320040"/>
          </a:xfrm>
          <a:prstGeom prst="rect">
            <a:avLst/>
          </a:prstGeom>
          <a:noFill/>
          <a:ln/>
        </p:spPr>
        <p:txBody>
          <a:bodyPr wrap="square" lIns="0" tIns="0" rIns="0" bIns="0" rtlCol="0" anchor="t"/>
          <a:lstStyle/>
          <a:p>
            <a:pPr indent="0" marL="0">
              <a:buNone/>
            </a:pPr>
            <a:r>
              <a:rPr lang="en-US" sz="1300" dirty="0">
                <a:solidFill>
                  <a:srgbClr val="56657E"/>
                </a:solidFill>
                <a:latin typeface="Calibri" pitchFamily="34" charset="0"/>
                <a:ea typeface="Calibri" pitchFamily="34" charset="-122"/>
                <a:cs typeface="Calibri" pitchFamily="34" charset="-120"/>
              </a:rPr>
              <a:t>Real world</a:t>
            </a:r>
            <a:endParaRPr lang="en-US" sz="1300" dirty="0"/>
          </a:p>
        </p:txBody>
      </p:sp>
      <p:sp>
        <p:nvSpPr>
          <p:cNvPr id="24" name="Shape 21"/>
          <p:cNvSpPr/>
          <p:nvPr/>
        </p:nvSpPr>
        <p:spPr>
          <a:xfrm>
            <a:off x="3291840" y="4818888"/>
            <a:ext cx="8348472" cy="640080"/>
          </a:xfrm>
          <a:prstGeom prst="roundRect">
            <a:avLst>
              <a:gd name="adj" fmla="val 11429"/>
            </a:avLst>
          </a:prstGeom>
          <a:solidFill>
            <a:srgbClr val="E4EAF3"/>
          </a:solidFill>
          <a:ln/>
        </p:spPr>
      </p:sp>
      <p:sp>
        <p:nvSpPr>
          <p:cNvPr id="25" name="Shape 22"/>
          <p:cNvSpPr/>
          <p:nvPr/>
        </p:nvSpPr>
        <p:spPr>
          <a:xfrm>
            <a:off x="3291840" y="4818888"/>
            <a:ext cx="8348472" cy="640080"/>
          </a:xfrm>
          <a:prstGeom prst="roundRect">
            <a:avLst>
              <a:gd name="adj" fmla="val 11429"/>
            </a:avLst>
          </a:prstGeom>
          <a:solidFill>
            <a:srgbClr val="B93434"/>
          </a:solidFill>
          <a:ln/>
        </p:spPr>
      </p:sp>
      <p:sp>
        <p:nvSpPr>
          <p:cNvPr id="26" name="Text 23"/>
          <p:cNvSpPr txBox="1"/>
          <p:nvPr/>
        </p:nvSpPr>
        <p:spPr>
          <a:xfrm>
            <a:off x="3474720" y="4818888"/>
            <a:ext cx="3840480" cy="640080"/>
          </a:xfrm>
          <a:prstGeom prst="rect">
            <a:avLst/>
          </a:prstGeom>
          <a:noFill/>
          <a:ln/>
        </p:spPr>
        <p:txBody>
          <a:bodyPr wrap="square" lIns="0" tIns="0" rIns="0" bIns="0" rtlCol="0" anchor="ctr"/>
          <a:lstStyle/>
          <a:p>
            <a:pPr indent="0" marL="0">
              <a:buNone/>
            </a:pPr>
            <a:r>
              <a:rPr lang="en-US" sz="1600" b="1" dirty="0">
                <a:solidFill>
                  <a:srgbClr val="FFFFFF"/>
                </a:solidFill>
                <a:latin typeface="Courier New" pitchFamily="34" charset="0"/>
                <a:ea typeface="Courier New" pitchFamily="34" charset="-122"/>
                <a:cs typeface="Courier New" pitchFamily="34" charset="-120"/>
              </a:rPr>
              <a:t>3.4 × 10³⁸ keys</a:t>
            </a:r>
            <a:endParaRPr lang="en-US" sz="1600" dirty="0"/>
          </a:p>
        </p:txBody>
      </p:sp>
      <p:sp>
        <p:nvSpPr>
          <p:cNvPr id="27" name="Text 24"/>
          <p:cNvSpPr txBox="1"/>
          <p:nvPr/>
        </p:nvSpPr>
        <p:spPr>
          <a:xfrm>
            <a:off x="7589520" y="4818888"/>
            <a:ext cx="3931920" cy="640080"/>
          </a:xfrm>
          <a:prstGeom prst="rect">
            <a:avLst/>
          </a:prstGeom>
          <a:noFill/>
          <a:ln/>
        </p:spPr>
        <p:txBody>
          <a:bodyPr wrap="square" lIns="0" tIns="0" rIns="0" bIns="0" rtlCol="0" anchor="ctr"/>
          <a:lstStyle/>
          <a:p>
            <a:pPr algn="r" indent="0" marL="0">
              <a:buNone/>
            </a:pPr>
            <a:r>
              <a:rPr lang="en-US" sz="1400" b="1" dirty="0">
                <a:solidFill>
                  <a:srgbClr val="FFFFFF"/>
                </a:solidFill>
                <a:latin typeface="Calibri" pitchFamily="34" charset="0"/>
                <a:ea typeface="Calibri" pitchFamily="34" charset="-122"/>
                <a:cs typeface="Calibri" pitchFamily="34" charset="-120"/>
              </a:rPr>
              <a:t>Longer than the age of the universe</a:t>
            </a:r>
            <a:endParaRPr lang="en-US" sz="1400" dirty="0"/>
          </a:p>
        </p:txBody>
      </p:sp>
      <p:sp>
        <p:nvSpPr>
          <p:cNvPr id="28" name="Text 25"/>
          <p:cNvSpPr txBox="1"/>
          <p:nvPr/>
        </p:nvSpPr>
        <p:spPr>
          <a:xfrm>
            <a:off x="548640" y="5943600"/>
            <a:ext cx="914400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Bar lengths are not to scale. On a true scale, Caesar's bar would be invisible.</a:t>
            </a:r>
            <a:endParaRPr lang="en-US" sz="1200" dirty="0"/>
          </a:p>
        </p:txBody>
      </p:sp>
      <p:sp>
        <p:nvSpPr>
          <p:cNvPr id="29" name="Text 2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11 / 61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First, identify what you're looking at</a:t>
            </a:r>
            <a:endParaRPr lang="en-US" sz="3200" dirty="0"/>
          </a:p>
        </p:txBody>
      </p:sp>
      <p:sp>
        <p:nvSpPr>
          <p:cNvPr id="4" name="Shape 1"/>
          <p:cNvSpPr/>
          <p:nvPr/>
        </p:nvSpPr>
        <p:spPr>
          <a:xfrm>
            <a:off x="548640" y="1463040"/>
            <a:ext cx="5449824" cy="1371600"/>
          </a:xfrm>
          <a:prstGeom prst="roundRect">
            <a:avLst>
              <a:gd name="adj" fmla="val 6667"/>
            </a:avLst>
          </a:prstGeom>
          <a:solidFill>
            <a:srgbClr val="F1F5FB"/>
          </a:solidFill>
          <a:ln/>
        </p:spPr>
      </p:sp>
      <p:sp>
        <p:nvSpPr>
          <p:cNvPr id="5" name="Shape 2"/>
          <p:cNvSpPr/>
          <p:nvPr/>
        </p:nvSpPr>
        <p:spPr>
          <a:xfrm>
            <a:off x="548640" y="1463040"/>
            <a:ext cx="109728" cy="1371600"/>
          </a:xfrm>
          <a:prstGeom prst="rect">
            <a:avLst/>
          </a:prstGeom>
          <a:solidFill>
            <a:srgbClr val="17875A"/>
          </a:solidFill>
          <a:ln/>
        </p:spPr>
      </p:sp>
      <p:sp>
        <p:nvSpPr>
          <p:cNvPr id="6" name="Text 3"/>
          <p:cNvSpPr txBox="1"/>
          <p:nvPr/>
        </p:nvSpPr>
        <p:spPr>
          <a:xfrm>
            <a:off x="868680" y="1572768"/>
            <a:ext cx="2377440" cy="411480"/>
          </a:xfrm>
          <a:prstGeom prst="rect">
            <a:avLst/>
          </a:prstGeom>
          <a:noFill/>
          <a:ln/>
        </p:spPr>
        <p:txBody>
          <a:bodyPr wrap="square" lIns="0" tIns="0" rIns="0" bIns="0" rtlCol="0" anchor="t"/>
          <a:lstStyle/>
          <a:p>
            <a:pPr indent="0" marL="0">
              <a:buNone/>
            </a:pPr>
            <a:r>
              <a:rPr lang="en-US" sz="1900" b="1" dirty="0">
                <a:solidFill>
                  <a:srgbClr val="17875A"/>
                </a:solidFill>
                <a:latin typeface="Arial" pitchFamily="34" charset="0"/>
                <a:ea typeface="Arial" pitchFamily="34" charset="-122"/>
                <a:cs typeface="Arial" pitchFamily="34" charset="-120"/>
              </a:rPr>
              <a:t>Base64</a:t>
            </a:r>
            <a:endParaRPr lang="en-US" sz="1900" dirty="0"/>
          </a:p>
        </p:txBody>
      </p:sp>
      <p:sp>
        <p:nvSpPr>
          <p:cNvPr id="7" name="Shape 4"/>
          <p:cNvSpPr/>
          <p:nvPr/>
        </p:nvSpPr>
        <p:spPr>
          <a:xfrm>
            <a:off x="3383280" y="1600200"/>
            <a:ext cx="2423160" cy="384048"/>
          </a:xfrm>
          <a:prstGeom prst="roundRect">
            <a:avLst>
              <a:gd name="adj" fmla="val 14286"/>
            </a:avLst>
          </a:prstGeom>
          <a:solidFill>
            <a:srgbClr val="0E1726"/>
          </a:solidFill>
          <a:ln/>
        </p:spPr>
      </p:sp>
      <p:sp>
        <p:nvSpPr>
          <p:cNvPr id="8" name="Text 5"/>
          <p:cNvSpPr txBox="1"/>
          <p:nvPr/>
        </p:nvSpPr>
        <p:spPr>
          <a:xfrm>
            <a:off x="3383280" y="1600200"/>
            <a:ext cx="2423160" cy="384048"/>
          </a:xfrm>
          <a:prstGeom prst="rect">
            <a:avLst/>
          </a:prstGeom>
          <a:noFill/>
          <a:ln/>
        </p:spPr>
        <p:txBody>
          <a:bodyPr wrap="square" lIns="0" tIns="0" rIns="0" bIns="0" rtlCol="0" anchor="ctr"/>
          <a:lstStyle/>
          <a:p>
            <a:pPr algn="ctr" indent="0" marL="0">
              <a:buNone/>
            </a:pPr>
            <a:r>
              <a:rPr lang="en-US" sz="1300" b="1" dirty="0">
                <a:solidFill>
                  <a:srgbClr val="46D39A"/>
                </a:solidFill>
                <a:latin typeface="Courier New" pitchFamily="34" charset="0"/>
                <a:ea typeface="Courier New" pitchFamily="34" charset="-122"/>
                <a:cs typeface="Courier New" pitchFamily="34" charset="-120"/>
              </a:rPr>
              <a:t>base64 -d</a:t>
            </a:r>
            <a:endParaRPr lang="en-US" sz="1300" dirty="0"/>
          </a:p>
        </p:txBody>
      </p:sp>
      <p:sp>
        <p:nvSpPr>
          <p:cNvPr id="9" name="Text 6"/>
          <p:cNvSpPr txBox="1"/>
          <p:nvPr/>
        </p:nvSpPr>
        <p:spPr>
          <a:xfrm>
            <a:off x="868680" y="2057400"/>
            <a:ext cx="4937760" cy="320040"/>
          </a:xfrm>
          <a:prstGeom prst="rect">
            <a:avLst/>
          </a:prstGeom>
          <a:noFill/>
          <a:ln/>
        </p:spPr>
        <p:txBody>
          <a:bodyPr wrap="square" lIns="0" tIns="0" rIns="0" bIns="0" rtlCol="0" anchor="t"/>
          <a:lstStyle/>
          <a:p>
            <a:pPr indent="0" marL="0">
              <a:buNone/>
            </a:pPr>
            <a:r>
              <a:rPr lang="en-US" sz="1300" dirty="0">
                <a:solidFill>
                  <a:srgbClr val="12213A"/>
                </a:solidFill>
                <a:latin typeface="Courier New" pitchFamily="34" charset="0"/>
                <a:ea typeface="Courier New" pitchFamily="34" charset="-122"/>
                <a:cs typeface="Courier New" pitchFamily="34" charset="-120"/>
              </a:rPr>
              <a:t>RW5jb2RpbmcgaXMg...==</a:t>
            </a:r>
            <a:endParaRPr lang="en-US" sz="1300" dirty="0"/>
          </a:p>
        </p:txBody>
      </p:sp>
      <p:sp>
        <p:nvSpPr>
          <p:cNvPr id="10" name="Text 7"/>
          <p:cNvSpPr txBox="1"/>
          <p:nvPr/>
        </p:nvSpPr>
        <p:spPr>
          <a:xfrm>
            <a:off x="868680" y="2395728"/>
            <a:ext cx="4937760" cy="320040"/>
          </a:xfrm>
          <a:prstGeom prst="rect">
            <a:avLst/>
          </a:prstGeom>
          <a:noFill/>
          <a:ln/>
        </p:spPr>
        <p:txBody>
          <a:bodyPr wrap="square" lIns="0" tIns="0" rIns="0" bIns="0" rtlCol="0" anchor="t"/>
          <a:lstStyle/>
          <a:p>
            <a:pPr indent="0" marL="0">
              <a:buNone/>
            </a:pPr>
            <a:r>
              <a:rPr lang="en-US" sz="1350" dirty="0">
                <a:solidFill>
                  <a:srgbClr val="56657E"/>
                </a:solidFill>
                <a:latin typeface="Calibri" pitchFamily="34" charset="0"/>
                <a:ea typeface="Calibri" pitchFamily="34" charset="-122"/>
                <a:cs typeface="Calibri" pitchFamily="34" charset="-120"/>
              </a:rPr>
              <a:t>Letters, digits, + /, ends in =</a:t>
            </a:r>
            <a:endParaRPr lang="en-US" sz="1350" dirty="0"/>
          </a:p>
        </p:txBody>
      </p:sp>
      <p:sp>
        <p:nvSpPr>
          <p:cNvPr id="11" name="Shape 8"/>
          <p:cNvSpPr/>
          <p:nvPr/>
        </p:nvSpPr>
        <p:spPr>
          <a:xfrm>
            <a:off x="6190488" y="1463040"/>
            <a:ext cx="5449824" cy="1371600"/>
          </a:xfrm>
          <a:prstGeom prst="roundRect">
            <a:avLst>
              <a:gd name="adj" fmla="val 6667"/>
            </a:avLst>
          </a:prstGeom>
          <a:solidFill>
            <a:srgbClr val="F1F5FB"/>
          </a:solidFill>
          <a:ln/>
        </p:spPr>
      </p:sp>
      <p:sp>
        <p:nvSpPr>
          <p:cNvPr id="12" name="Shape 9"/>
          <p:cNvSpPr/>
          <p:nvPr/>
        </p:nvSpPr>
        <p:spPr>
          <a:xfrm>
            <a:off x="6190488" y="1463040"/>
            <a:ext cx="109728" cy="1371600"/>
          </a:xfrm>
          <a:prstGeom prst="rect">
            <a:avLst/>
          </a:prstGeom>
          <a:solidFill>
            <a:srgbClr val="2A9FD6"/>
          </a:solidFill>
          <a:ln/>
        </p:spPr>
      </p:sp>
      <p:sp>
        <p:nvSpPr>
          <p:cNvPr id="13" name="Text 10"/>
          <p:cNvSpPr txBox="1"/>
          <p:nvPr/>
        </p:nvSpPr>
        <p:spPr>
          <a:xfrm>
            <a:off x="6510528" y="1572768"/>
            <a:ext cx="2377440" cy="411480"/>
          </a:xfrm>
          <a:prstGeom prst="rect">
            <a:avLst/>
          </a:prstGeom>
          <a:noFill/>
          <a:ln/>
        </p:spPr>
        <p:txBody>
          <a:bodyPr wrap="square" lIns="0" tIns="0" rIns="0" bIns="0" rtlCol="0" anchor="t"/>
          <a:lstStyle/>
          <a:p>
            <a:pPr indent="0" marL="0">
              <a:buNone/>
            </a:pPr>
            <a:r>
              <a:rPr lang="en-US" sz="1900" b="1" dirty="0">
                <a:solidFill>
                  <a:srgbClr val="2A9FD6"/>
                </a:solidFill>
                <a:latin typeface="Arial" pitchFamily="34" charset="0"/>
                <a:ea typeface="Arial" pitchFamily="34" charset="-122"/>
                <a:cs typeface="Arial" pitchFamily="34" charset="-120"/>
              </a:rPr>
              <a:t>Hex</a:t>
            </a:r>
            <a:endParaRPr lang="en-US" sz="1900" dirty="0"/>
          </a:p>
        </p:txBody>
      </p:sp>
      <p:sp>
        <p:nvSpPr>
          <p:cNvPr id="14" name="Shape 11"/>
          <p:cNvSpPr/>
          <p:nvPr/>
        </p:nvSpPr>
        <p:spPr>
          <a:xfrm>
            <a:off x="9025128" y="1600200"/>
            <a:ext cx="2423160" cy="384048"/>
          </a:xfrm>
          <a:prstGeom prst="roundRect">
            <a:avLst>
              <a:gd name="adj" fmla="val 14286"/>
            </a:avLst>
          </a:prstGeom>
          <a:solidFill>
            <a:srgbClr val="0E1726"/>
          </a:solidFill>
          <a:ln/>
        </p:spPr>
      </p:sp>
      <p:sp>
        <p:nvSpPr>
          <p:cNvPr id="15" name="Text 12"/>
          <p:cNvSpPr txBox="1"/>
          <p:nvPr/>
        </p:nvSpPr>
        <p:spPr>
          <a:xfrm>
            <a:off x="9025128" y="1600200"/>
            <a:ext cx="2423160" cy="384048"/>
          </a:xfrm>
          <a:prstGeom prst="rect">
            <a:avLst/>
          </a:prstGeom>
          <a:noFill/>
          <a:ln/>
        </p:spPr>
        <p:txBody>
          <a:bodyPr wrap="square" lIns="0" tIns="0" rIns="0" bIns="0" rtlCol="0" anchor="ctr"/>
          <a:lstStyle/>
          <a:p>
            <a:pPr algn="ctr" indent="0" marL="0">
              <a:buNone/>
            </a:pPr>
            <a:r>
              <a:rPr lang="en-US" sz="1300" b="1" dirty="0">
                <a:solidFill>
                  <a:srgbClr val="46D39A"/>
                </a:solidFill>
                <a:latin typeface="Courier New" pitchFamily="34" charset="0"/>
                <a:ea typeface="Courier New" pitchFamily="34" charset="-122"/>
                <a:cs typeface="Courier New" pitchFamily="34" charset="-120"/>
              </a:rPr>
              <a:t>xxd -r -p</a:t>
            </a:r>
            <a:endParaRPr lang="en-US" sz="1300" dirty="0"/>
          </a:p>
        </p:txBody>
      </p:sp>
      <p:sp>
        <p:nvSpPr>
          <p:cNvPr id="16" name="Text 13"/>
          <p:cNvSpPr txBox="1"/>
          <p:nvPr/>
        </p:nvSpPr>
        <p:spPr>
          <a:xfrm>
            <a:off x="6510528" y="2057400"/>
            <a:ext cx="4937760" cy="320040"/>
          </a:xfrm>
          <a:prstGeom prst="rect">
            <a:avLst/>
          </a:prstGeom>
          <a:noFill/>
          <a:ln/>
        </p:spPr>
        <p:txBody>
          <a:bodyPr wrap="square" lIns="0" tIns="0" rIns="0" bIns="0" rtlCol="0" anchor="t"/>
          <a:lstStyle/>
          <a:p>
            <a:pPr indent="0" marL="0">
              <a:buNone/>
            </a:pPr>
            <a:r>
              <a:rPr lang="en-US" sz="1300" dirty="0">
                <a:solidFill>
                  <a:srgbClr val="12213A"/>
                </a:solidFill>
                <a:latin typeface="Courier New" pitchFamily="34" charset="0"/>
                <a:ea typeface="Courier New" pitchFamily="34" charset="-122"/>
                <a:cs typeface="Courier New" pitchFamily="34" charset="-120"/>
              </a:rPr>
              <a:t>48657820646563...</a:t>
            </a:r>
            <a:endParaRPr lang="en-US" sz="1300" dirty="0"/>
          </a:p>
        </p:txBody>
      </p:sp>
      <p:sp>
        <p:nvSpPr>
          <p:cNvPr id="17" name="Text 14"/>
          <p:cNvSpPr txBox="1"/>
          <p:nvPr/>
        </p:nvSpPr>
        <p:spPr>
          <a:xfrm>
            <a:off x="6510528" y="2395728"/>
            <a:ext cx="4937760" cy="320040"/>
          </a:xfrm>
          <a:prstGeom prst="rect">
            <a:avLst/>
          </a:prstGeom>
          <a:noFill/>
          <a:ln/>
        </p:spPr>
        <p:txBody>
          <a:bodyPr wrap="square" lIns="0" tIns="0" rIns="0" bIns="0" rtlCol="0" anchor="t"/>
          <a:lstStyle/>
          <a:p>
            <a:pPr indent="0" marL="0">
              <a:buNone/>
            </a:pPr>
            <a:r>
              <a:rPr lang="en-US" sz="1350" dirty="0">
                <a:solidFill>
                  <a:srgbClr val="56657E"/>
                </a:solidFill>
                <a:latin typeface="Calibri" pitchFamily="34" charset="0"/>
                <a:ea typeface="Calibri" pitchFamily="34" charset="-122"/>
                <a:cs typeface="Calibri" pitchFamily="34" charset="-120"/>
              </a:rPr>
              <a:t>Only 0–9 and a–f</a:t>
            </a:r>
            <a:endParaRPr lang="en-US" sz="1350" dirty="0"/>
          </a:p>
        </p:txBody>
      </p:sp>
      <p:sp>
        <p:nvSpPr>
          <p:cNvPr id="18" name="Shape 15"/>
          <p:cNvSpPr/>
          <p:nvPr/>
        </p:nvSpPr>
        <p:spPr>
          <a:xfrm>
            <a:off x="548640" y="2971800"/>
            <a:ext cx="5449824" cy="1371600"/>
          </a:xfrm>
          <a:prstGeom prst="roundRect">
            <a:avLst>
              <a:gd name="adj" fmla="val 6667"/>
            </a:avLst>
          </a:prstGeom>
          <a:solidFill>
            <a:srgbClr val="F1F5FB"/>
          </a:solidFill>
          <a:ln/>
        </p:spPr>
      </p:sp>
      <p:sp>
        <p:nvSpPr>
          <p:cNvPr id="19" name="Shape 16"/>
          <p:cNvSpPr/>
          <p:nvPr/>
        </p:nvSpPr>
        <p:spPr>
          <a:xfrm>
            <a:off x="548640" y="2971800"/>
            <a:ext cx="109728" cy="1371600"/>
          </a:xfrm>
          <a:prstGeom prst="rect">
            <a:avLst/>
          </a:prstGeom>
          <a:solidFill>
            <a:srgbClr val="E8820C"/>
          </a:solidFill>
          <a:ln/>
        </p:spPr>
      </p:sp>
      <p:sp>
        <p:nvSpPr>
          <p:cNvPr id="20" name="Text 17"/>
          <p:cNvSpPr txBox="1"/>
          <p:nvPr/>
        </p:nvSpPr>
        <p:spPr>
          <a:xfrm>
            <a:off x="868680" y="3081528"/>
            <a:ext cx="2377440" cy="411480"/>
          </a:xfrm>
          <a:prstGeom prst="rect">
            <a:avLst/>
          </a:prstGeom>
          <a:noFill/>
          <a:ln/>
        </p:spPr>
        <p:txBody>
          <a:bodyPr wrap="square" lIns="0" tIns="0" rIns="0" bIns="0" rtlCol="0" anchor="t"/>
          <a:lstStyle/>
          <a:p>
            <a:pPr indent="0" marL="0">
              <a:buNone/>
            </a:pPr>
            <a:r>
              <a:rPr lang="en-US" sz="1900" b="1" dirty="0">
                <a:solidFill>
                  <a:srgbClr val="E8820C"/>
                </a:solidFill>
                <a:latin typeface="Arial" pitchFamily="34" charset="0"/>
                <a:ea typeface="Arial" pitchFamily="34" charset="-122"/>
                <a:cs typeface="Arial" pitchFamily="34" charset="-120"/>
              </a:rPr>
              <a:t>Morse</a:t>
            </a:r>
            <a:endParaRPr lang="en-US" sz="1900" dirty="0"/>
          </a:p>
        </p:txBody>
      </p:sp>
      <p:sp>
        <p:nvSpPr>
          <p:cNvPr id="21" name="Shape 18"/>
          <p:cNvSpPr/>
          <p:nvPr/>
        </p:nvSpPr>
        <p:spPr>
          <a:xfrm>
            <a:off x="3383280" y="3108960"/>
            <a:ext cx="2423160" cy="384048"/>
          </a:xfrm>
          <a:prstGeom prst="roundRect">
            <a:avLst>
              <a:gd name="adj" fmla="val 14286"/>
            </a:avLst>
          </a:prstGeom>
          <a:solidFill>
            <a:srgbClr val="0E1726"/>
          </a:solidFill>
          <a:ln/>
        </p:spPr>
      </p:sp>
      <p:sp>
        <p:nvSpPr>
          <p:cNvPr id="22" name="Text 19"/>
          <p:cNvSpPr txBox="1"/>
          <p:nvPr/>
        </p:nvSpPr>
        <p:spPr>
          <a:xfrm>
            <a:off x="3383280" y="3108960"/>
            <a:ext cx="2423160" cy="384048"/>
          </a:xfrm>
          <a:prstGeom prst="rect">
            <a:avLst/>
          </a:prstGeom>
          <a:noFill/>
          <a:ln/>
        </p:spPr>
        <p:txBody>
          <a:bodyPr wrap="square" lIns="0" tIns="0" rIns="0" bIns="0" rtlCol="0" anchor="ctr"/>
          <a:lstStyle/>
          <a:p>
            <a:pPr algn="ctr" indent="0" marL="0">
              <a:buNone/>
            </a:pPr>
            <a:r>
              <a:rPr lang="en-US" sz="1300" b="1" dirty="0">
                <a:solidFill>
                  <a:srgbClr val="46D39A"/>
                </a:solidFill>
                <a:latin typeface="Courier New" pitchFamily="34" charset="0"/>
                <a:ea typeface="Courier New" pitchFamily="34" charset="-122"/>
                <a:cs typeface="Courier New" pitchFamily="34" charset="-120"/>
              </a:rPr>
              <a:t>morse</a:t>
            </a:r>
            <a:endParaRPr lang="en-US" sz="1300" dirty="0"/>
          </a:p>
        </p:txBody>
      </p:sp>
      <p:sp>
        <p:nvSpPr>
          <p:cNvPr id="23" name="Text 20"/>
          <p:cNvSpPr txBox="1"/>
          <p:nvPr/>
        </p:nvSpPr>
        <p:spPr>
          <a:xfrm>
            <a:off x="868680" y="3566160"/>
            <a:ext cx="4937760" cy="320040"/>
          </a:xfrm>
          <a:prstGeom prst="rect">
            <a:avLst/>
          </a:prstGeom>
          <a:noFill/>
          <a:ln/>
        </p:spPr>
        <p:txBody>
          <a:bodyPr wrap="square" lIns="0" tIns="0" rIns="0" bIns="0" rtlCol="0" anchor="t"/>
          <a:lstStyle/>
          <a:p>
            <a:pPr indent="0" marL="0">
              <a:buNone/>
            </a:pPr>
            <a:r>
              <a:rPr lang="en-US" sz="1300" dirty="0">
                <a:solidFill>
                  <a:srgbClr val="12213A"/>
                </a:solidFill>
                <a:latin typeface="Courier New" pitchFamily="34" charset="0"/>
                <a:ea typeface="Courier New" pitchFamily="34" charset="-122"/>
                <a:cs typeface="Courier New" pitchFamily="34" charset="-120"/>
              </a:rPr>
              <a:t>- .... . / -.-. ---</a:t>
            </a:r>
            <a:endParaRPr lang="en-US" sz="1300" dirty="0"/>
          </a:p>
        </p:txBody>
      </p:sp>
      <p:sp>
        <p:nvSpPr>
          <p:cNvPr id="24" name="Text 21"/>
          <p:cNvSpPr txBox="1"/>
          <p:nvPr/>
        </p:nvSpPr>
        <p:spPr>
          <a:xfrm>
            <a:off x="868680" y="3904488"/>
            <a:ext cx="4937760" cy="320040"/>
          </a:xfrm>
          <a:prstGeom prst="rect">
            <a:avLst/>
          </a:prstGeom>
          <a:noFill/>
          <a:ln/>
        </p:spPr>
        <p:txBody>
          <a:bodyPr wrap="square" lIns="0" tIns="0" rIns="0" bIns="0" rtlCol="0" anchor="t"/>
          <a:lstStyle/>
          <a:p>
            <a:pPr indent="0" marL="0">
              <a:buNone/>
            </a:pPr>
            <a:r>
              <a:rPr lang="en-US" sz="1350" dirty="0">
                <a:solidFill>
                  <a:srgbClr val="56657E"/>
                </a:solidFill>
                <a:latin typeface="Calibri" pitchFamily="34" charset="0"/>
                <a:ea typeface="Calibri" pitchFamily="34" charset="-122"/>
                <a:cs typeface="Calibri" pitchFamily="34" charset="-120"/>
              </a:rPr>
              <a:t>Only . - and /</a:t>
            </a:r>
            <a:endParaRPr lang="en-US" sz="1350" dirty="0"/>
          </a:p>
        </p:txBody>
      </p:sp>
      <p:sp>
        <p:nvSpPr>
          <p:cNvPr id="25" name="Shape 22"/>
          <p:cNvSpPr/>
          <p:nvPr/>
        </p:nvSpPr>
        <p:spPr>
          <a:xfrm>
            <a:off x="6190488" y="2971800"/>
            <a:ext cx="5449824" cy="1371600"/>
          </a:xfrm>
          <a:prstGeom prst="roundRect">
            <a:avLst>
              <a:gd name="adj" fmla="val 6667"/>
            </a:avLst>
          </a:prstGeom>
          <a:solidFill>
            <a:srgbClr val="F1F5FB"/>
          </a:solidFill>
          <a:ln/>
        </p:spPr>
      </p:sp>
      <p:sp>
        <p:nvSpPr>
          <p:cNvPr id="26" name="Shape 23"/>
          <p:cNvSpPr/>
          <p:nvPr/>
        </p:nvSpPr>
        <p:spPr>
          <a:xfrm>
            <a:off x="6190488" y="2971800"/>
            <a:ext cx="109728" cy="1371600"/>
          </a:xfrm>
          <a:prstGeom prst="rect">
            <a:avLst/>
          </a:prstGeom>
          <a:solidFill>
            <a:srgbClr val="7448D4"/>
          </a:solidFill>
          <a:ln/>
        </p:spPr>
      </p:sp>
      <p:sp>
        <p:nvSpPr>
          <p:cNvPr id="27" name="Text 24"/>
          <p:cNvSpPr txBox="1"/>
          <p:nvPr/>
        </p:nvSpPr>
        <p:spPr>
          <a:xfrm>
            <a:off x="6510528" y="3081528"/>
            <a:ext cx="2377440" cy="411480"/>
          </a:xfrm>
          <a:prstGeom prst="rect">
            <a:avLst/>
          </a:prstGeom>
          <a:noFill/>
          <a:ln/>
        </p:spPr>
        <p:txBody>
          <a:bodyPr wrap="square" lIns="0" tIns="0" rIns="0" bIns="0" rtlCol="0" anchor="t"/>
          <a:lstStyle/>
          <a:p>
            <a:pPr indent="0" marL="0">
              <a:buNone/>
            </a:pPr>
            <a:r>
              <a:rPr lang="en-US" sz="1900" b="1" dirty="0">
                <a:solidFill>
                  <a:srgbClr val="7448D4"/>
                </a:solidFill>
                <a:latin typeface="Arial" pitchFamily="34" charset="0"/>
                <a:ea typeface="Arial" pitchFamily="34" charset="-122"/>
                <a:cs typeface="Arial" pitchFamily="34" charset="-120"/>
              </a:rPr>
              <a:t>Caesar / ROT13</a:t>
            </a:r>
            <a:endParaRPr lang="en-US" sz="1900" dirty="0"/>
          </a:p>
        </p:txBody>
      </p:sp>
      <p:sp>
        <p:nvSpPr>
          <p:cNvPr id="28" name="Shape 25"/>
          <p:cNvSpPr/>
          <p:nvPr/>
        </p:nvSpPr>
        <p:spPr>
          <a:xfrm>
            <a:off x="9025128" y="3108960"/>
            <a:ext cx="2423160" cy="384048"/>
          </a:xfrm>
          <a:prstGeom prst="roundRect">
            <a:avLst>
              <a:gd name="adj" fmla="val 14286"/>
            </a:avLst>
          </a:prstGeom>
          <a:solidFill>
            <a:srgbClr val="0E1726"/>
          </a:solidFill>
          <a:ln/>
        </p:spPr>
      </p:sp>
      <p:sp>
        <p:nvSpPr>
          <p:cNvPr id="29" name="Text 26"/>
          <p:cNvSpPr txBox="1"/>
          <p:nvPr/>
        </p:nvSpPr>
        <p:spPr>
          <a:xfrm>
            <a:off x="9025128" y="3108960"/>
            <a:ext cx="2423160" cy="384048"/>
          </a:xfrm>
          <a:prstGeom prst="rect">
            <a:avLst/>
          </a:prstGeom>
          <a:noFill/>
          <a:ln/>
        </p:spPr>
        <p:txBody>
          <a:bodyPr wrap="square" lIns="0" tIns="0" rIns="0" bIns="0" rtlCol="0" anchor="ctr"/>
          <a:lstStyle/>
          <a:p>
            <a:pPr algn="ctr" indent="0" marL="0">
              <a:buNone/>
            </a:pPr>
            <a:r>
              <a:rPr lang="en-US" sz="1300" b="1" dirty="0">
                <a:solidFill>
                  <a:srgbClr val="46D39A"/>
                </a:solidFill>
                <a:latin typeface="Courier New" pitchFamily="34" charset="0"/>
                <a:ea typeface="Courier New" pitchFamily="34" charset="-122"/>
                <a:cs typeface="Courier New" pitchFamily="34" charset="-120"/>
              </a:rPr>
              <a:t>caesar all | grep</a:t>
            </a:r>
            <a:endParaRPr lang="en-US" sz="1300" dirty="0"/>
          </a:p>
        </p:txBody>
      </p:sp>
      <p:sp>
        <p:nvSpPr>
          <p:cNvPr id="30" name="Text 27"/>
          <p:cNvSpPr txBox="1"/>
          <p:nvPr/>
        </p:nvSpPr>
        <p:spPr>
          <a:xfrm>
            <a:off x="6510528" y="3566160"/>
            <a:ext cx="4937760" cy="320040"/>
          </a:xfrm>
          <a:prstGeom prst="rect">
            <a:avLst/>
          </a:prstGeom>
          <a:noFill/>
          <a:ln/>
        </p:spPr>
        <p:txBody>
          <a:bodyPr wrap="square" lIns="0" tIns="0" rIns="0" bIns="0" rtlCol="0" anchor="t"/>
          <a:lstStyle/>
          <a:p>
            <a:pPr indent="0" marL="0">
              <a:buNone/>
            </a:pPr>
            <a:r>
              <a:rPr lang="en-US" sz="1300" dirty="0">
                <a:solidFill>
                  <a:srgbClr val="12213A"/>
                </a:solidFill>
                <a:latin typeface="Courier New" pitchFamily="34" charset="0"/>
                <a:ea typeface="Courier New" pitchFamily="34" charset="-122"/>
                <a:cs typeface="Courier New" pitchFamily="34" charset="-120"/>
              </a:rPr>
              <a:t>Mshn: JFIH{...}</a:t>
            </a:r>
            <a:endParaRPr lang="en-US" sz="1300" dirty="0"/>
          </a:p>
        </p:txBody>
      </p:sp>
      <p:sp>
        <p:nvSpPr>
          <p:cNvPr id="31" name="Text 28"/>
          <p:cNvSpPr txBox="1"/>
          <p:nvPr/>
        </p:nvSpPr>
        <p:spPr>
          <a:xfrm>
            <a:off x="6510528" y="3904488"/>
            <a:ext cx="4937760" cy="320040"/>
          </a:xfrm>
          <a:prstGeom prst="rect">
            <a:avLst/>
          </a:prstGeom>
          <a:noFill/>
          <a:ln/>
        </p:spPr>
        <p:txBody>
          <a:bodyPr wrap="square" lIns="0" tIns="0" rIns="0" bIns="0" rtlCol="0" anchor="t"/>
          <a:lstStyle/>
          <a:p>
            <a:pPr indent="0" marL="0">
              <a:buNone/>
            </a:pPr>
            <a:r>
              <a:rPr lang="en-US" sz="1350" dirty="0">
                <a:solidFill>
                  <a:srgbClr val="56657E"/>
                </a:solidFill>
                <a:latin typeface="Calibri" pitchFamily="34" charset="0"/>
                <a:ea typeface="Calibri" pitchFamily="34" charset="-122"/>
                <a:cs typeface="Calibri" pitchFamily="34" charset="-120"/>
              </a:rPr>
              <a:t>Word shapes kept, letters wrong</a:t>
            </a:r>
            <a:endParaRPr lang="en-US" sz="1350" dirty="0"/>
          </a:p>
        </p:txBody>
      </p:sp>
      <p:sp>
        <p:nvSpPr>
          <p:cNvPr id="32" name="Shape 29"/>
          <p:cNvSpPr/>
          <p:nvPr/>
        </p:nvSpPr>
        <p:spPr>
          <a:xfrm>
            <a:off x="548640" y="4480560"/>
            <a:ext cx="5449824" cy="1371600"/>
          </a:xfrm>
          <a:prstGeom prst="roundRect">
            <a:avLst>
              <a:gd name="adj" fmla="val 6667"/>
            </a:avLst>
          </a:prstGeom>
          <a:solidFill>
            <a:srgbClr val="F1F5FB"/>
          </a:solidFill>
          <a:ln/>
        </p:spPr>
      </p:sp>
      <p:sp>
        <p:nvSpPr>
          <p:cNvPr id="33" name="Shape 30"/>
          <p:cNvSpPr/>
          <p:nvPr/>
        </p:nvSpPr>
        <p:spPr>
          <a:xfrm>
            <a:off x="548640" y="4480560"/>
            <a:ext cx="109728" cy="1371600"/>
          </a:xfrm>
          <a:prstGeom prst="rect">
            <a:avLst/>
          </a:prstGeom>
          <a:solidFill>
            <a:srgbClr val="D1416B"/>
          </a:solidFill>
          <a:ln/>
        </p:spPr>
      </p:sp>
      <p:sp>
        <p:nvSpPr>
          <p:cNvPr id="34" name="Text 31"/>
          <p:cNvSpPr txBox="1"/>
          <p:nvPr/>
        </p:nvSpPr>
        <p:spPr>
          <a:xfrm>
            <a:off x="868680" y="4590288"/>
            <a:ext cx="2377440" cy="411480"/>
          </a:xfrm>
          <a:prstGeom prst="rect">
            <a:avLst/>
          </a:prstGeom>
          <a:noFill/>
          <a:ln/>
        </p:spPr>
        <p:txBody>
          <a:bodyPr wrap="square" lIns="0" tIns="0" rIns="0" bIns="0" rtlCol="0" anchor="t"/>
          <a:lstStyle/>
          <a:p>
            <a:pPr indent="0" marL="0">
              <a:buNone/>
            </a:pPr>
            <a:r>
              <a:rPr lang="en-US" sz="1900" b="1" dirty="0">
                <a:solidFill>
                  <a:srgbClr val="D1416B"/>
                </a:solidFill>
                <a:latin typeface="Arial" pitchFamily="34" charset="0"/>
                <a:ea typeface="Arial" pitchFamily="34" charset="-122"/>
                <a:cs typeface="Arial" pitchFamily="34" charset="-120"/>
              </a:rPr>
              <a:t>Atbash</a:t>
            </a:r>
            <a:endParaRPr lang="en-US" sz="1900" dirty="0"/>
          </a:p>
        </p:txBody>
      </p:sp>
      <p:sp>
        <p:nvSpPr>
          <p:cNvPr id="35" name="Shape 32"/>
          <p:cNvSpPr/>
          <p:nvPr/>
        </p:nvSpPr>
        <p:spPr>
          <a:xfrm>
            <a:off x="3383280" y="4617720"/>
            <a:ext cx="2423160" cy="384048"/>
          </a:xfrm>
          <a:prstGeom prst="roundRect">
            <a:avLst>
              <a:gd name="adj" fmla="val 14286"/>
            </a:avLst>
          </a:prstGeom>
          <a:solidFill>
            <a:srgbClr val="0E1726"/>
          </a:solidFill>
          <a:ln/>
        </p:spPr>
      </p:sp>
      <p:sp>
        <p:nvSpPr>
          <p:cNvPr id="36" name="Text 33"/>
          <p:cNvSpPr txBox="1"/>
          <p:nvPr/>
        </p:nvSpPr>
        <p:spPr>
          <a:xfrm>
            <a:off x="3383280" y="4617720"/>
            <a:ext cx="2423160" cy="384048"/>
          </a:xfrm>
          <a:prstGeom prst="rect">
            <a:avLst/>
          </a:prstGeom>
          <a:noFill/>
          <a:ln/>
        </p:spPr>
        <p:txBody>
          <a:bodyPr wrap="square" lIns="0" tIns="0" rIns="0" bIns="0" rtlCol="0" anchor="ctr"/>
          <a:lstStyle/>
          <a:p>
            <a:pPr algn="ctr" indent="0" marL="0">
              <a:buNone/>
            </a:pPr>
            <a:r>
              <a:rPr lang="en-US" sz="1300" b="1" dirty="0">
                <a:solidFill>
                  <a:srgbClr val="46D39A"/>
                </a:solidFill>
                <a:latin typeface="Courier New" pitchFamily="34" charset="0"/>
                <a:ea typeface="Courier New" pitchFamily="34" charset="-122"/>
                <a:cs typeface="Courier New" pitchFamily="34" charset="-120"/>
              </a:rPr>
              <a:t>tr (flipped)</a:t>
            </a:r>
            <a:endParaRPr lang="en-US" sz="1300" dirty="0"/>
          </a:p>
        </p:txBody>
      </p:sp>
      <p:sp>
        <p:nvSpPr>
          <p:cNvPr id="37" name="Text 34"/>
          <p:cNvSpPr txBox="1"/>
          <p:nvPr/>
        </p:nvSpPr>
        <p:spPr>
          <a:xfrm>
            <a:off x="868680" y="5074920"/>
            <a:ext cx="4937760" cy="320040"/>
          </a:xfrm>
          <a:prstGeom prst="rect">
            <a:avLst/>
          </a:prstGeom>
          <a:noFill/>
          <a:ln/>
        </p:spPr>
        <p:txBody>
          <a:bodyPr wrap="square" lIns="0" tIns="0" rIns="0" bIns="0" rtlCol="0" anchor="t"/>
          <a:lstStyle/>
          <a:p>
            <a:pPr indent="0" marL="0">
              <a:buNone/>
            </a:pPr>
            <a:r>
              <a:rPr lang="en-US" sz="1300" dirty="0">
                <a:solidFill>
                  <a:srgbClr val="12213A"/>
                </a:solidFill>
                <a:latin typeface="Courier New" pitchFamily="34" charset="0"/>
                <a:ea typeface="Courier New" pitchFamily="34" charset="-122"/>
                <a:cs typeface="Courier New" pitchFamily="34" charset="-120"/>
              </a:rPr>
              <a:t>Uozt: XBYZ{...}</a:t>
            </a:r>
            <a:endParaRPr lang="en-US" sz="1300" dirty="0"/>
          </a:p>
        </p:txBody>
      </p:sp>
      <p:sp>
        <p:nvSpPr>
          <p:cNvPr id="38" name="Text 35"/>
          <p:cNvSpPr txBox="1"/>
          <p:nvPr/>
        </p:nvSpPr>
        <p:spPr>
          <a:xfrm>
            <a:off x="868680" y="5413248"/>
            <a:ext cx="4937760" cy="320040"/>
          </a:xfrm>
          <a:prstGeom prst="rect">
            <a:avLst/>
          </a:prstGeom>
          <a:noFill/>
          <a:ln/>
        </p:spPr>
        <p:txBody>
          <a:bodyPr wrap="square" lIns="0" tIns="0" rIns="0" bIns="0" rtlCol="0" anchor="t"/>
          <a:lstStyle/>
          <a:p>
            <a:pPr indent="0" marL="0">
              <a:buNone/>
            </a:pPr>
            <a:r>
              <a:rPr lang="en-US" sz="1350" dirty="0">
                <a:solidFill>
                  <a:srgbClr val="56657E"/>
                </a:solidFill>
                <a:latin typeface="Calibri" pitchFamily="34" charset="0"/>
                <a:ea typeface="Calibri" pitchFamily="34" charset="-122"/>
                <a:cs typeface="Calibri" pitchFamily="34" charset="-120"/>
              </a:rPr>
              <a:t>Same look; caesar all finds nothing</a:t>
            </a:r>
            <a:endParaRPr lang="en-US" sz="1350" dirty="0"/>
          </a:p>
        </p:txBody>
      </p:sp>
      <p:sp>
        <p:nvSpPr>
          <p:cNvPr id="39" name="Shape 36"/>
          <p:cNvSpPr/>
          <p:nvPr/>
        </p:nvSpPr>
        <p:spPr>
          <a:xfrm>
            <a:off x="6190488" y="4480560"/>
            <a:ext cx="5449824" cy="1371600"/>
          </a:xfrm>
          <a:prstGeom prst="roundRect">
            <a:avLst>
              <a:gd name="adj" fmla="val 6667"/>
            </a:avLst>
          </a:prstGeom>
          <a:solidFill>
            <a:srgbClr val="F1F5FB"/>
          </a:solidFill>
          <a:ln/>
        </p:spPr>
      </p:sp>
      <p:sp>
        <p:nvSpPr>
          <p:cNvPr id="40" name="Shape 37"/>
          <p:cNvSpPr/>
          <p:nvPr/>
        </p:nvSpPr>
        <p:spPr>
          <a:xfrm>
            <a:off x="6190488" y="4480560"/>
            <a:ext cx="109728" cy="1371600"/>
          </a:xfrm>
          <a:prstGeom prst="rect">
            <a:avLst/>
          </a:prstGeom>
          <a:solidFill>
            <a:srgbClr val="2459D8"/>
          </a:solidFill>
          <a:ln/>
        </p:spPr>
      </p:sp>
      <p:sp>
        <p:nvSpPr>
          <p:cNvPr id="41" name="Text 38"/>
          <p:cNvSpPr txBox="1"/>
          <p:nvPr/>
        </p:nvSpPr>
        <p:spPr>
          <a:xfrm>
            <a:off x="6510528" y="4590288"/>
            <a:ext cx="2377440" cy="411480"/>
          </a:xfrm>
          <a:prstGeom prst="rect">
            <a:avLst/>
          </a:prstGeom>
          <a:noFill/>
          <a:ln/>
        </p:spPr>
        <p:txBody>
          <a:bodyPr wrap="square" lIns="0" tIns="0" rIns="0" bIns="0" rtlCol="0" anchor="t"/>
          <a:lstStyle/>
          <a:p>
            <a:pPr indent="0" marL="0">
              <a:buNone/>
            </a:pPr>
            <a:r>
              <a:rPr lang="en-US" sz="1900" b="1" dirty="0">
                <a:solidFill>
                  <a:srgbClr val="2459D8"/>
                </a:solidFill>
                <a:latin typeface="Arial" pitchFamily="34" charset="0"/>
                <a:ea typeface="Arial" pitchFamily="34" charset="-122"/>
                <a:cs typeface="Arial" pitchFamily="34" charset="-120"/>
              </a:rPr>
              <a:t>SHA-256</a:t>
            </a:r>
            <a:endParaRPr lang="en-US" sz="1900" dirty="0"/>
          </a:p>
        </p:txBody>
      </p:sp>
      <p:sp>
        <p:nvSpPr>
          <p:cNvPr id="42" name="Shape 39"/>
          <p:cNvSpPr/>
          <p:nvPr/>
        </p:nvSpPr>
        <p:spPr>
          <a:xfrm>
            <a:off x="9025128" y="4617720"/>
            <a:ext cx="2423160" cy="384048"/>
          </a:xfrm>
          <a:prstGeom prst="roundRect">
            <a:avLst>
              <a:gd name="adj" fmla="val 14286"/>
            </a:avLst>
          </a:prstGeom>
          <a:solidFill>
            <a:srgbClr val="0E1726"/>
          </a:solidFill>
          <a:ln/>
        </p:spPr>
      </p:sp>
      <p:sp>
        <p:nvSpPr>
          <p:cNvPr id="43" name="Text 40"/>
          <p:cNvSpPr txBox="1"/>
          <p:nvPr/>
        </p:nvSpPr>
        <p:spPr>
          <a:xfrm>
            <a:off x="9025128" y="4617720"/>
            <a:ext cx="2423160" cy="384048"/>
          </a:xfrm>
          <a:prstGeom prst="rect">
            <a:avLst/>
          </a:prstGeom>
          <a:noFill/>
          <a:ln/>
        </p:spPr>
        <p:txBody>
          <a:bodyPr wrap="square" lIns="0" tIns="0" rIns="0" bIns="0" rtlCol="0" anchor="ctr"/>
          <a:lstStyle/>
          <a:p>
            <a:pPr algn="ctr" indent="0" marL="0">
              <a:buNone/>
            </a:pPr>
            <a:r>
              <a:rPr lang="en-US" sz="1300" b="1" dirty="0">
                <a:solidFill>
                  <a:srgbClr val="46D39A"/>
                </a:solidFill>
                <a:latin typeface="Courier New" pitchFamily="34" charset="0"/>
                <a:ea typeface="Courier New" pitchFamily="34" charset="-122"/>
                <a:cs typeface="Courier New" pitchFamily="34" charset="-120"/>
              </a:rPr>
              <a:t>hashlines | grep</a:t>
            </a:r>
            <a:endParaRPr lang="en-US" sz="1300" dirty="0"/>
          </a:p>
        </p:txBody>
      </p:sp>
      <p:sp>
        <p:nvSpPr>
          <p:cNvPr id="44" name="Text 41"/>
          <p:cNvSpPr txBox="1"/>
          <p:nvPr/>
        </p:nvSpPr>
        <p:spPr>
          <a:xfrm>
            <a:off x="6510528" y="5074920"/>
            <a:ext cx="4937760" cy="320040"/>
          </a:xfrm>
          <a:prstGeom prst="rect">
            <a:avLst/>
          </a:prstGeom>
          <a:noFill/>
          <a:ln/>
        </p:spPr>
        <p:txBody>
          <a:bodyPr wrap="square" lIns="0" tIns="0" rIns="0" bIns="0" rtlCol="0" anchor="t"/>
          <a:lstStyle/>
          <a:p>
            <a:pPr indent="0" marL="0">
              <a:buNone/>
            </a:pPr>
            <a:r>
              <a:rPr lang="en-US" sz="1300" dirty="0">
                <a:solidFill>
                  <a:srgbClr val="12213A"/>
                </a:solidFill>
                <a:latin typeface="Courier New" pitchFamily="34" charset="0"/>
                <a:ea typeface="Courier New" pitchFamily="34" charset="-122"/>
                <a:cs typeface="Courier New" pitchFamily="34" charset="-120"/>
              </a:rPr>
              <a:t>27662c13440b...(64)</a:t>
            </a:r>
            <a:endParaRPr lang="en-US" sz="1300" dirty="0"/>
          </a:p>
        </p:txBody>
      </p:sp>
      <p:sp>
        <p:nvSpPr>
          <p:cNvPr id="45" name="Text 42"/>
          <p:cNvSpPr txBox="1"/>
          <p:nvPr/>
        </p:nvSpPr>
        <p:spPr>
          <a:xfrm>
            <a:off x="6510528" y="5413248"/>
            <a:ext cx="4937760" cy="320040"/>
          </a:xfrm>
          <a:prstGeom prst="rect">
            <a:avLst/>
          </a:prstGeom>
          <a:noFill/>
          <a:ln/>
        </p:spPr>
        <p:txBody>
          <a:bodyPr wrap="square" lIns="0" tIns="0" rIns="0" bIns="0" rtlCol="0" anchor="t"/>
          <a:lstStyle/>
          <a:p>
            <a:pPr indent="0" marL="0">
              <a:buNone/>
            </a:pPr>
            <a:r>
              <a:rPr lang="en-US" sz="1350" dirty="0">
                <a:solidFill>
                  <a:srgbClr val="56657E"/>
                </a:solidFill>
                <a:latin typeface="Calibri" pitchFamily="34" charset="0"/>
                <a:ea typeface="Calibri" pitchFamily="34" charset="-122"/>
                <a:cs typeface="Calibri" pitchFamily="34" charset="-120"/>
              </a:rPr>
              <a:t>Exactly 64 hex characters</a:t>
            </a:r>
            <a:endParaRPr lang="en-US" sz="1350" dirty="0"/>
          </a:p>
        </p:txBody>
      </p:sp>
      <p:sp>
        <p:nvSpPr>
          <p:cNvPr id="46" name="Text 43"/>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12 / 61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640080"/>
            <a:ext cx="2103120" cy="3108960"/>
          </a:xfrm>
          <a:prstGeom prst="rect">
            <a:avLst/>
          </a:prstGeom>
          <a:noFill/>
          <a:ln/>
        </p:spPr>
        <p:txBody>
          <a:bodyPr wrap="square" lIns="0" tIns="0" rIns="0" bIns="0" rtlCol="0" anchor="ctr"/>
          <a:lstStyle/>
          <a:p>
            <a:pPr indent="0" marL="0">
              <a:buNone/>
            </a:pPr>
            <a:r>
              <a:rPr lang="en-US" sz="23000" b="1" dirty="0">
                <a:solidFill>
                  <a:srgbClr val="2459D8"/>
                </a:solidFill>
                <a:latin typeface="Arial" pitchFamily="34" charset="0"/>
                <a:ea typeface="Arial" pitchFamily="34" charset="-122"/>
                <a:cs typeface="Arial" pitchFamily="34" charset="-120"/>
              </a:rPr>
              <a:t>2</a:t>
            </a:r>
            <a:endParaRPr lang="en-US" sz="23000" dirty="0"/>
          </a:p>
        </p:txBody>
      </p:sp>
      <p:sp>
        <p:nvSpPr>
          <p:cNvPr id="3" name="Text 1"/>
          <p:cNvSpPr txBox="1"/>
          <p:nvPr/>
        </p:nvSpPr>
        <p:spPr>
          <a:xfrm>
            <a:off x="2743200" y="640080"/>
            <a:ext cx="6949440" cy="3108960"/>
          </a:xfrm>
          <a:prstGeom prst="rect">
            <a:avLst/>
          </a:prstGeom>
          <a:noFill/>
          <a:ln/>
        </p:spPr>
        <p:txBody>
          <a:bodyPr wrap="square" lIns="0" tIns="0" rIns="0" bIns="0" rtlCol="0" anchor="ctr">
            <a:normAutofit/>
          </a:bodyPr>
          <a:lstStyle/>
          <a:p>
            <a:pPr indent="0" marL="0">
              <a:buNone/>
            </a:pPr>
            <a:r>
              <a:rPr lang="en-US" sz="5600" b="1" dirty="0">
                <a:solidFill>
                  <a:srgbClr val="12213A"/>
                </a:solidFill>
                <a:latin typeface="Arial" pitchFamily="34" charset="0"/>
                <a:ea typeface="Arial" pitchFamily="34" charset="-122"/>
                <a:cs typeface="Arial" pitchFamily="34" charset="-120"/>
              </a:rPr>
              <a:t>The codebreaker's toolkit</a:t>
            </a:r>
            <a:endParaRPr lang="en-US" sz="5600" dirty="0"/>
          </a:p>
        </p:txBody>
      </p:sp>
      <p:sp>
        <p:nvSpPr>
          <p:cNvPr id="4" name="Shape 2"/>
          <p:cNvSpPr/>
          <p:nvPr/>
        </p:nvSpPr>
        <p:spPr>
          <a:xfrm>
            <a:off x="548640" y="5074920"/>
            <a:ext cx="6492240" cy="731520"/>
          </a:xfrm>
          <a:prstGeom prst="roundRect">
            <a:avLst>
              <a:gd name="adj" fmla="val 12500"/>
            </a:avLst>
          </a:prstGeom>
          <a:solidFill>
            <a:srgbClr val="0E1726"/>
          </a:solidFill>
          <a:ln/>
          <a:effectLst>
            <a:outerShdw sx="100000" sy="100000" kx="0" ky="0" algn="bl" rotWithShape="0" blurRad="101600" dist="25400" dir="5400000">
              <a:srgbClr val="6E86AE">
                <a:alpha val="35000"/>
              </a:srgbClr>
            </a:outerShdw>
          </a:effectLst>
        </p:spPr>
      </p:sp>
      <p:sp>
        <p:nvSpPr>
          <p:cNvPr id="5" name="Text 3"/>
          <p:cNvSpPr txBox="1"/>
          <p:nvPr/>
        </p:nvSpPr>
        <p:spPr>
          <a:xfrm>
            <a:off x="822960" y="5074920"/>
            <a:ext cx="6035040" cy="731520"/>
          </a:xfrm>
          <a:prstGeom prst="rect">
            <a:avLst/>
          </a:prstGeom>
          <a:noFill/>
          <a:ln/>
        </p:spPr>
        <p:txBody>
          <a:bodyPr wrap="square" lIns="0" tIns="0" rIns="0" bIns="0" rtlCol="0" anchor="ctr">
            <a:normAutofit/>
          </a:bodyPr>
          <a:lstStyle/>
          <a:p>
            <a:pPr indent="0" marL="0">
              <a:buNone/>
            </a:pPr>
            <a:r>
              <a:rPr lang="en-US" sz="1800" b="1" dirty="0">
                <a:solidFill>
                  <a:srgbClr val="46D39A"/>
                </a:solidFill>
                <a:latin typeface="Courier New" pitchFamily="34" charset="0"/>
                <a:ea typeface="Courier New" pitchFamily="34" charset="-122"/>
                <a:cs typeface="Courier New" pitchFamily="34" charset="-120"/>
              </a:rPr>
              <a:t>$ </a:t>
            </a:r>
            <a:pPr indent="0" marL="0">
              <a:buNone/>
            </a:pPr>
            <a:r>
              <a:rPr lang="en-US" sz="1800" b="1" dirty="0">
                <a:solidFill>
                  <a:srgbClr val="FFFFFF"/>
                </a:solidFill>
                <a:latin typeface="Courier New" pitchFamily="34" charset="0"/>
                <a:ea typeface="Courier New" pitchFamily="34" charset="-122"/>
                <a:cs typeface="Courier New" pitchFamily="34" charset="-120"/>
              </a:rPr>
              <a:t>caesar --help   # every tool explains itself</a:t>
            </a:r>
            <a:endParaRPr lang="en-US" sz="1800" dirty="0"/>
          </a:p>
        </p:txBody>
      </p:sp>
      <p:sp>
        <p:nvSpPr>
          <p:cNvPr id="7" name="Text 4"/>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13 / 61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Encodings: base64 and hex</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echo hi | base64</a:t>
            </a:r>
            <a:endParaRPr lang="en-US" sz="1300" dirty="0"/>
          </a:p>
        </p:txBody>
      </p:sp>
      <p:sp>
        <p:nvSpPr>
          <p:cNvPr id="8" name="Shape 5"/>
          <p:cNvSpPr/>
          <p:nvPr/>
        </p:nvSpPr>
        <p:spPr>
          <a:xfrm>
            <a:off x="548640" y="109728"/>
            <a:ext cx="1792224" cy="274320"/>
          </a:xfrm>
          <a:prstGeom prst="roundRect">
            <a:avLst>
              <a:gd name="adj" fmla="val 50000"/>
            </a:avLst>
          </a:prstGeom>
          <a:solidFill>
            <a:srgbClr val="17875A"/>
          </a:solidFill>
          <a:ln/>
        </p:spPr>
      </p:sp>
      <p:sp>
        <p:nvSpPr>
          <p:cNvPr id="9" name="Text 6"/>
          <p:cNvSpPr txBox="1"/>
          <p:nvPr/>
        </p:nvSpPr>
        <p:spPr>
          <a:xfrm>
            <a:off x="548640" y="109728"/>
            <a:ext cx="179222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missions 1 &amp; 2</a:t>
            </a:r>
            <a:endParaRPr lang="en-US" sz="1100" dirty="0"/>
          </a:p>
        </p:txBody>
      </p:sp>
      <p:sp>
        <p:nvSpPr>
          <p:cNvPr id="10" name="Shape 7"/>
          <p:cNvSpPr/>
          <p:nvPr/>
        </p:nvSpPr>
        <p:spPr>
          <a:xfrm>
            <a:off x="548640" y="1600200"/>
            <a:ext cx="2103120" cy="457200"/>
          </a:xfrm>
          <a:prstGeom prst="roundRect">
            <a:avLst>
              <a:gd name="adj" fmla="val 16000"/>
            </a:avLst>
          </a:prstGeom>
          <a:solidFill>
            <a:srgbClr val="0E1726"/>
          </a:solidFill>
          <a:ln/>
        </p:spPr>
      </p:sp>
      <p:sp>
        <p:nvSpPr>
          <p:cNvPr id="11" name="Text 8"/>
          <p:cNvSpPr txBox="1"/>
          <p:nvPr/>
        </p:nvSpPr>
        <p:spPr>
          <a:xfrm>
            <a:off x="548640" y="160020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base64</a:t>
            </a:r>
            <a:endParaRPr lang="en-US" sz="1500" dirty="0"/>
          </a:p>
        </p:txBody>
      </p:sp>
      <p:sp>
        <p:nvSpPr>
          <p:cNvPr id="12" name="Text 9"/>
          <p:cNvSpPr txBox="1"/>
          <p:nvPr/>
        </p:nvSpPr>
        <p:spPr>
          <a:xfrm>
            <a:off x="2880360" y="160020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encode text as base64</a:t>
            </a:r>
            <a:endParaRPr lang="en-US" sz="1700" dirty="0"/>
          </a:p>
        </p:txBody>
      </p:sp>
      <p:sp>
        <p:nvSpPr>
          <p:cNvPr id="13" name="Shape 10"/>
          <p:cNvSpPr/>
          <p:nvPr/>
        </p:nvSpPr>
        <p:spPr>
          <a:xfrm>
            <a:off x="548640" y="2194560"/>
            <a:ext cx="2103120" cy="457200"/>
          </a:xfrm>
          <a:prstGeom prst="roundRect">
            <a:avLst>
              <a:gd name="adj" fmla="val 16000"/>
            </a:avLst>
          </a:prstGeom>
          <a:solidFill>
            <a:srgbClr val="0E1726"/>
          </a:solidFill>
          <a:ln/>
        </p:spPr>
      </p:sp>
      <p:sp>
        <p:nvSpPr>
          <p:cNvPr id="14" name="Text 11"/>
          <p:cNvSpPr txBox="1"/>
          <p:nvPr/>
        </p:nvSpPr>
        <p:spPr>
          <a:xfrm>
            <a:off x="548640" y="219456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base64 -d</a:t>
            </a:r>
            <a:endParaRPr lang="en-US" sz="1500" dirty="0"/>
          </a:p>
        </p:txBody>
      </p:sp>
      <p:sp>
        <p:nvSpPr>
          <p:cNvPr id="15" name="Text 12"/>
          <p:cNvSpPr txBox="1"/>
          <p:nvPr/>
        </p:nvSpPr>
        <p:spPr>
          <a:xfrm>
            <a:off x="2880360" y="219456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decode it again</a:t>
            </a:r>
            <a:endParaRPr lang="en-US" sz="1700" dirty="0"/>
          </a:p>
        </p:txBody>
      </p:sp>
      <p:sp>
        <p:nvSpPr>
          <p:cNvPr id="16" name="Shape 13"/>
          <p:cNvSpPr/>
          <p:nvPr/>
        </p:nvSpPr>
        <p:spPr>
          <a:xfrm>
            <a:off x="548640" y="2971800"/>
            <a:ext cx="2103120" cy="457200"/>
          </a:xfrm>
          <a:prstGeom prst="roundRect">
            <a:avLst>
              <a:gd name="adj" fmla="val 16000"/>
            </a:avLst>
          </a:prstGeom>
          <a:solidFill>
            <a:srgbClr val="0E1726"/>
          </a:solidFill>
          <a:ln/>
        </p:spPr>
      </p:sp>
      <p:sp>
        <p:nvSpPr>
          <p:cNvPr id="17" name="Text 14"/>
          <p:cNvSpPr txBox="1"/>
          <p:nvPr/>
        </p:nvSpPr>
        <p:spPr>
          <a:xfrm>
            <a:off x="548640" y="297180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xxd -p</a:t>
            </a:r>
            <a:endParaRPr lang="en-US" sz="1500" dirty="0"/>
          </a:p>
        </p:txBody>
      </p:sp>
      <p:sp>
        <p:nvSpPr>
          <p:cNvPr id="18" name="Text 15"/>
          <p:cNvSpPr txBox="1"/>
          <p:nvPr/>
        </p:nvSpPr>
        <p:spPr>
          <a:xfrm>
            <a:off x="2880360" y="297180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show text as plain hex</a:t>
            </a:r>
            <a:endParaRPr lang="en-US" sz="1700" dirty="0"/>
          </a:p>
        </p:txBody>
      </p:sp>
      <p:sp>
        <p:nvSpPr>
          <p:cNvPr id="19" name="Shape 16"/>
          <p:cNvSpPr/>
          <p:nvPr/>
        </p:nvSpPr>
        <p:spPr>
          <a:xfrm>
            <a:off x="548640" y="3566160"/>
            <a:ext cx="2103120" cy="457200"/>
          </a:xfrm>
          <a:prstGeom prst="roundRect">
            <a:avLst>
              <a:gd name="adj" fmla="val 16000"/>
            </a:avLst>
          </a:prstGeom>
          <a:solidFill>
            <a:srgbClr val="0E1726"/>
          </a:solidFill>
          <a:ln/>
        </p:spPr>
      </p:sp>
      <p:sp>
        <p:nvSpPr>
          <p:cNvPr id="20" name="Text 17"/>
          <p:cNvSpPr txBox="1"/>
          <p:nvPr/>
        </p:nvSpPr>
        <p:spPr>
          <a:xfrm>
            <a:off x="548640" y="356616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xxd -r -p</a:t>
            </a:r>
            <a:endParaRPr lang="en-US" sz="1500" dirty="0"/>
          </a:p>
        </p:txBody>
      </p:sp>
      <p:sp>
        <p:nvSpPr>
          <p:cNvPr id="21" name="Text 18"/>
          <p:cNvSpPr txBox="1"/>
          <p:nvPr/>
        </p:nvSpPr>
        <p:spPr>
          <a:xfrm>
            <a:off x="2880360" y="3566160"/>
            <a:ext cx="30632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turn plain hex back into text</a:t>
            </a:r>
            <a:endParaRPr lang="en-US" sz="1700" dirty="0"/>
          </a:p>
        </p:txBody>
      </p:sp>
      <p:sp>
        <p:nvSpPr>
          <p:cNvPr id="22" name="Shape 19"/>
          <p:cNvSpPr/>
          <p:nvPr/>
        </p:nvSpPr>
        <p:spPr>
          <a:xfrm>
            <a:off x="548640" y="4343400"/>
            <a:ext cx="5394960" cy="1600200"/>
          </a:xfrm>
          <a:prstGeom prst="roundRect">
            <a:avLst>
              <a:gd name="adj" fmla="val 5714"/>
            </a:avLst>
          </a:prstGeom>
          <a:solidFill>
            <a:srgbClr val="FFF4DC"/>
          </a:solidFill>
          <a:ln/>
        </p:spPr>
      </p:sp>
      <p:sp>
        <p:nvSpPr>
          <p:cNvPr id="23" name="Text 20"/>
          <p:cNvSpPr txBox="1"/>
          <p:nvPr/>
        </p:nvSpPr>
        <p:spPr>
          <a:xfrm>
            <a:off x="822960" y="4434840"/>
            <a:ext cx="4846320" cy="1417320"/>
          </a:xfrm>
          <a:prstGeom prst="rect">
            <a:avLst/>
          </a:prstGeom>
          <a:noFill/>
          <a:ln/>
        </p:spPr>
        <p:txBody>
          <a:bodyPr wrap="square" lIns="0" tIns="0" rIns="0" bIns="0" rtlCol="0" anchor="ctr"/>
          <a:lstStyle/>
          <a:p>
            <a:pPr indent="0" marL="0">
              <a:buNone/>
            </a:pPr>
            <a:r>
              <a:rPr lang="en-US" sz="1600" b="1" dirty="0">
                <a:solidFill>
                  <a:srgbClr val="12213A"/>
                </a:solidFill>
                <a:latin typeface="Calibri" pitchFamily="34" charset="0"/>
                <a:ea typeface="Calibri" pitchFamily="34" charset="-122"/>
                <a:cs typeface="Calibri" pitchFamily="34" charset="-120"/>
              </a:rPr>
              <a:t>Encoding is not encryption. </a:t>
            </a:r>
            <a:pPr indent="0" marL="0">
              <a:buNone/>
            </a:pPr>
            <a:r>
              <a:rPr lang="en-US" sz="1600" dirty="0">
                <a:solidFill>
                  <a:srgbClr val="12213A"/>
                </a:solidFill>
                <a:latin typeface="Calibri" pitchFamily="34" charset="0"/>
                <a:ea typeface="Calibri" pitchFamily="34" charset="-122"/>
                <a:cs typeface="Calibri" pitchFamily="34" charset="-120"/>
              </a:rPr>
              <a:t>There is no key. Anyone who recognises the format can read it. It moves data safely; it does not keep secrets.</a:t>
            </a:r>
            <a:endParaRPr lang="en-US" sz="1600" dirty="0"/>
          </a:p>
        </p:txBody>
      </p:sp>
      <p:sp>
        <p:nvSpPr>
          <p:cNvPr id="24" name="Shape 21"/>
          <p:cNvSpPr/>
          <p:nvPr/>
        </p:nvSpPr>
        <p:spPr>
          <a:xfrm>
            <a:off x="6309360" y="1463040"/>
            <a:ext cx="533095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25" name="Shape 22"/>
          <p:cNvSpPr/>
          <p:nvPr/>
        </p:nvSpPr>
        <p:spPr>
          <a:xfrm>
            <a:off x="6510528" y="1618488"/>
            <a:ext cx="118872" cy="118872"/>
          </a:xfrm>
          <a:prstGeom prst="ellipse">
            <a:avLst/>
          </a:prstGeom>
          <a:solidFill>
            <a:srgbClr val="E5534B"/>
          </a:solidFill>
          <a:ln/>
        </p:spPr>
      </p:sp>
      <p:sp>
        <p:nvSpPr>
          <p:cNvPr id="26" name="Shape 23"/>
          <p:cNvSpPr/>
          <p:nvPr/>
        </p:nvSpPr>
        <p:spPr>
          <a:xfrm>
            <a:off x="6711696" y="1618488"/>
            <a:ext cx="118872" cy="118872"/>
          </a:xfrm>
          <a:prstGeom prst="ellipse">
            <a:avLst/>
          </a:prstGeom>
          <a:solidFill>
            <a:srgbClr val="F5A623"/>
          </a:solidFill>
          <a:ln/>
        </p:spPr>
      </p:sp>
      <p:sp>
        <p:nvSpPr>
          <p:cNvPr id="27" name="Shape 24"/>
          <p:cNvSpPr/>
          <p:nvPr/>
        </p:nvSpPr>
        <p:spPr>
          <a:xfrm>
            <a:off x="6912864" y="1618488"/>
            <a:ext cx="118872" cy="118872"/>
          </a:xfrm>
          <a:prstGeom prst="ellipse">
            <a:avLst/>
          </a:prstGeom>
          <a:solidFill>
            <a:srgbClr val="46D39A"/>
          </a:solidFill>
          <a:ln/>
        </p:spPr>
      </p:sp>
      <p:sp>
        <p:nvSpPr>
          <p:cNvPr id="28" name="Text 25"/>
          <p:cNvSpPr txBox="1"/>
          <p:nvPr/>
        </p:nvSpPr>
        <p:spPr>
          <a:xfrm>
            <a:off x="7223760" y="1536192"/>
            <a:ext cx="350215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29" name="Text 26"/>
          <p:cNvSpPr txBox="1"/>
          <p:nvPr/>
        </p:nvSpPr>
        <p:spPr>
          <a:xfrm>
            <a:off x="6583680" y="1920240"/>
            <a:ext cx="4782312" cy="3886200"/>
          </a:xfrm>
          <a:prstGeom prst="rect">
            <a:avLst/>
          </a:prstGeom>
          <a:noFill/>
          <a:ln/>
        </p:spPr>
        <p:txBody>
          <a:bodyPr wrap="square" lIns="0" tIns="0" rIns="0" bIns="0" rtlCol="0" anchor="t"/>
          <a:lstStyle/>
          <a:p>
            <a:pPr indent="0" marL="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600" b="1" dirty="0">
                <a:solidFill>
                  <a:srgbClr val="FFFFFF"/>
                </a:solidFill>
                <a:latin typeface="Courier New" pitchFamily="34" charset="0"/>
                <a:ea typeface="Courier New" pitchFamily="34" charset="-122"/>
                <a:cs typeface="Courier New" pitchFamily="34" charset="-120"/>
              </a:rPr>
              <a:t>echo hi | base64</a:t>
            </a:r>
            <a:endParaRPr lang="en-US" sz="1600" dirty="0"/>
          </a:p>
          <a:p>
            <a:pPr indent="0" marL="0">
              <a:spcAft>
                <a:spcPts val="200"/>
              </a:spcAft>
              <a:buNone/>
            </a:pPr>
            <a:r>
              <a:rPr lang="en-US" sz="1600" dirty="0">
                <a:solidFill>
                  <a:srgbClr val="B8C4D9"/>
                </a:solidFill>
                <a:latin typeface="Courier New" pitchFamily="34" charset="0"/>
                <a:ea typeface="Courier New" pitchFamily="34" charset="-122"/>
                <a:cs typeface="Courier New" pitchFamily="34" charset="-120"/>
              </a:rPr>
              <a:t>aGkK</a:t>
            </a:r>
            <a:endParaRPr lang="en-US" sz="1600" dirty="0"/>
          </a:p>
          <a:p>
            <a:pPr indent="0" marL="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600" b="1" dirty="0">
                <a:solidFill>
                  <a:srgbClr val="FFFFFF"/>
                </a:solidFill>
                <a:latin typeface="Courier New" pitchFamily="34" charset="0"/>
                <a:ea typeface="Courier New" pitchFamily="34" charset="-122"/>
                <a:cs typeface="Courier New" pitchFamily="34" charset="-120"/>
              </a:rPr>
              <a:t>echo aGkK | base64 -d</a:t>
            </a:r>
            <a:endParaRPr lang="en-US" sz="1600" dirty="0"/>
          </a:p>
          <a:p>
            <a:pPr indent="0" marL="0">
              <a:spcAft>
                <a:spcPts val="200"/>
              </a:spcAft>
              <a:buNone/>
            </a:pPr>
            <a:r>
              <a:rPr lang="en-US" sz="1600" b="1" dirty="0">
                <a:solidFill>
                  <a:srgbClr val="F5A623"/>
                </a:solidFill>
                <a:latin typeface="Courier New" pitchFamily="34" charset="0"/>
                <a:ea typeface="Courier New" pitchFamily="34" charset="-122"/>
                <a:cs typeface="Courier New" pitchFamily="34" charset="-120"/>
              </a:rPr>
              <a:t>hi</a:t>
            </a:r>
            <a:endParaRPr lang="en-US" sz="1600" dirty="0"/>
          </a:p>
          <a:p>
            <a:pPr indent="0" marL="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600" b="1" dirty="0">
                <a:solidFill>
                  <a:srgbClr val="FFFFFF"/>
                </a:solidFill>
                <a:latin typeface="Courier New" pitchFamily="34" charset="0"/>
                <a:ea typeface="Courier New" pitchFamily="34" charset="-122"/>
                <a:cs typeface="Courier New" pitchFamily="34" charset="-120"/>
              </a:rPr>
              <a:t>echo hi | xxd -p</a:t>
            </a:r>
            <a:endParaRPr lang="en-US" sz="1600" dirty="0"/>
          </a:p>
          <a:p>
            <a:pPr indent="0" marL="0">
              <a:spcAft>
                <a:spcPts val="200"/>
              </a:spcAft>
              <a:buNone/>
            </a:pPr>
            <a:r>
              <a:rPr lang="en-US" sz="1600" dirty="0">
                <a:solidFill>
                  <a:srgbClr val="B8C4D9"/>
                </a:solidFill>
                <a:latin typeface="Courier New" pitchFamily="34" charset="0"/>
                <a:ea typeface="Courier New" pitchFamily="34" charset="-122"/>
                <a:cs typeface="Courier New" pitchFamily="34" charset="-120"/>
              </a:rPr>
              <a:t>68690a</a:t>
            </a:r>
            <a:endParaRPr lang="en-US" sz="1600" dirty="0"/>
          </a:p>
          <a:p>
            <a:pPr indent="0" marL="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600" b="1" dirty="0">
                <a:solidFill>
                  <a:srgbClr val="FFFFFF"/>
                </a:solidFill>
                <a:latin typeface="Courier New" pitchFamily="34" charset="0"/>
                <a:ea typeface="Courier New" pitchFamily="34" charset="-122"/>
                <a:cs typeface="Courier New" pitchFamily="34" charset="-120"/>
              </a:rPr>
              <a:t>echo 68690a | xxd -r -p</a:t>
            </a:r>
            <a:endParaRPr lang="en-US" sz="1600" dirty="0"/>
          </a:p>
          <a:p>
            <a:pPr indent="0" marL="0">
              <a:spcAft>
                <a:spcPts val="200"/>
              </a:spcAft>
              <a:buNone/>
            </a:pPr>
            <a:r>
              <a:rPr lang="en-US" sz="1600" b="1" dirty="0">
                <a:solidFill>
                  <a:srgbClr val="F5A623"/>
                </a:solidFill>
                <a:latin typeface="Courier New" pitchFamily="34" charset="0"/>
                <a:ea typeface="Courier New" pitchFamily="34" charset="-122"/>
                <a:cs typeface="Courier New" pitchFamily="34" charset="-120"/>
              </a:rPr>
              <a:t>hi</a:t>
            </a:r>
            <a:endParaRPr lang="en-US" sz="1600" dirty="0"/>
          </a:p>
          <a:p>
            <a:pPr indent="0" marL="0">
              <a:spcAft>
                <a:spcPts val="200"/>
              </a:spcAft>
              <a:buNone/>
            </a:pPr>
            <a:r>
              <a:rPr lang="en-US" sz="1600" dirty="0">
                <a:solidFill>
                  <a:srgbClr val="7F8FAD"/>
                </a:solidFill>
                <a:latin typeface="Courier New" pitchFamily="34" charset="0"/>
                <a:ea typeface="Courier New" pitchFamily="34" charset="-122"/>
                <a:cs typeface="Courier New" pitchFamily="34" charset="-120"/>
              </a:rPr>
              <a:t># 68 = h, 69 = i, 0a = new line</a:t>
            </a:r>
            <a:endParaRPr lang="en-US" sz="1600" dirty="0"/>
          </a:p>
        </p:txBody>
      </p:sp>
      <p:sp>
        <p:nvSpPr>
          <p:cNvPr id="30" name="Text 27"/>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14 / 61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Swap letters: ROT13 and Atbash</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echo HI | tr A-Z N-ZA-M</a:t>
            </a:r>
            <a:endParaRPr lang="en-US" sz="1300" dirty="0"/>
          </a:p>
        </p:txBody>
      </p:sp>
      <p:sp>
        <p:nvSpPr>
          <p:cNvPr id="8" name="Shape 5"/>
          <p:cNvSpPr/>
          <p:nvPr/>
        </p:nvSpPr>
        <p:spPr>
          <a:xfrm>
            <a:off x="548640" y="109728"/>
            <a:ext cx="2139696" cy="274320"/>
          </a:xfrm>
          <a:prstGeom prst="roundRect">
            <a:avLst>
              <a:gd name="adj" fmla="val 50000"/>
            </a:avLst>
          </a:prstGeom>
          <a:solidFill>
            <a:srgbClr val="2459D8"/>
          </a:solidFill>
          <a:ln/>
        </p:spPr>
      </p:sp>
      <p:sp>
        <p:nvSpPr>
          <p:cNvPr id="9" name="Text 6"/>
          <p:cNvSpPr txBox="1"/>
          <p:nvPr/>
        </p:nvSpPr>
        <p:spPr>
          <a:xfrm>
            <a:off x="548640" y="109728"/>
            <a:ext cx="21396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missions 3 &amp; 5 &amp; 9</a:t>
            </a:r>
            <a:endParaRPr lang="en-US" sz="1100" dirty="0"/>
          </a:p>
        </p:txBody>
      </p:sp>
      <p:sp>
        <p:nvSpPr>
          <p:cNvPr id="10" name="Shape 7"/>
          <p:cNvSpPr/>
          <p:nvPr/>
        </p:nvSpPr>
        <p:spPr>
          <a:xfrm>
            <a:off x="548640" y="1508760"/>
            <a:ext cx="6400800" cy="1737360"/>
          </a:xfrm>
          <a:prstGeom prst="roundRect">
            <a:avLst>
              <a:gd name="adj" fmla="val 5263"/>
            </a:avLst>
          </a:prstGeom>
          <a:solidFill>
            <a:srgbClr val="F1F5FB"/>
          </a:solidFill>
          <a:ln/>
        </p:spPr>
      </p:sp>
      <p:sp>
        <p:nvSpPr>
          <p:cNvPr id="11" name="Text 8"/>
          <p:cNvSpPr txBox="1"/>
          <p:nvPr/>
        </p:nvSpPr>
        <p:spPr>
          <a:xfrm>
            <a:off x="822960" y="1645920"/>
            <a:ext cx="1828800" cy="411480"/>
          </a:xfrm>
          <a:prstGeom prst="rect">
            <a:avLst/>
          </a:prstGeom>
          <a:noFill/>
          <a:ln/>
        </p:spPr>
        <p:txBody>
          <a:bodyPr wrap="square" lIns="0" tIns="0" rIns="0" bIns="0" rtlCol="0" anchor="t"/>
          <a:lstStyle/>
          <a:p>
            <a:pPr indent="0" marL="0">
              <a:buNone/>
            </a:pPr>
            <a:r>
              <a:rPr lang="en-US" sz="2100" b="1" dirty="0">
                <a:solidFill>
                  <a:srgbClr val="2459D8"/>
                </a:solidFill>
                <a:latin typeface="Arial" pitchFamily="34" charset="0"/>
                <a:ea typeface="Arial" pitchFamily="34" charset="-122"/>
                <a:cs typeface="Arial" pitchFamily="34" charset="-120"/>
              </a:rPr>
              <a:t>ROT13</a:t>
            </a:r>
            <a:endParaRPr lang="en-US" sz="2100" dirty="0"/>
          </a:p>
        </p:txBody>
      </p:sp>
      <p:sp>
        <p:nvSpPr>
          <p:cNvPr id="12" name="Text 9"/>
          <p:cNvSpPr txBox="1"/>
          <p:nvPr/>
        </p:nvSpPr>
        <p:spPr>
          <a:xfrm>
            <a:off x="2560320" y="1645920"/>
            <a:ext cx="4206240" cy="365760"/>
          </a:xfrm>
          <a:prstGeom prst="rect">
            <a:avLst/>
          </a:prstGeom>
          <a:noFill/>
          <a:ln/>
        </p:spPr>
        <p:txBody>
          <a:bodyPr wrap="square" lIns="0" tIns="0" rIns="0" bIns="0" rtlCol="0" anchor="t"/>
          <a:lstStyle/>
          <a:p>
            <a:pPr indent="0" marL="0">
              <a:buNone/>
            </a:pPr>
            <a:r>
              <a:rPr lang="en-US" sz="1500" dirty="0">
                <a:solidFill>
                  <a:srgbClr val="56657E"/>
                </a:solidFill>
                <a:latin typeface="Courier New" pitchFamily="34" charset="0"/>
                <a:ea typeface="Courier New" pitchFamily="34" charset="-122"/>
                <a:cs typeface="Courier New" pitchFamily="34" charset="-120"/>
              </a:rPr>
              <a:t>A B C ... M N O ... Z</a:t>
            </a:r>
            <a:endParaRPr lang="en-US" sz="1500" dirty="0"/>
          </a:p>
        </p:txBody>
      </p:sp>
      <p:sp>
        <p:nvSpPr>
          <p:cNvPr id="13" name="Text 10"/>
          <p:cNvSpPr txBox="1"/>
          <p:nvPr/>
        </p:nvSpPr>
        <p:spPr>
          <a:xfrm>
            <a:off x="2560320" y="2057400"/>
            <a:ext cx="4206240" cy="365760"/>
          </a:xfrm>
          <a:prstGeom prst="rect">
            <a:avLst/>
          </a:prstGeom>
          <a:noFill/>
          <a:ln/>
        </p:spPr>
        <p:txBody>
          <a:bodyPr wrap="square" lIns="0" tIns="0" rIns="0" bIns="0" rtlCol="0" anchor="t"/>
          <a:lstStyle/>
          <a:p>
            <a:pPr indent="0" marL="0">
              <a:buNone/>
            </a:pPr>
            <a:r>
              <a:rPr lang="en-US" sz="1500" b="1" dirty="0">
                <a:solidFill>
                  <a:srgbClr val="2459D8"/>
                </a:solidFill>
                <a:latin typeface="Courier New" pitchFamily="34" charset="0"/>
                <a:ea typeface="Courier New" pitchFamily="34" charset="-122"/>
                <a:cs typeface="Courier New" pitchFamily="34" charset="-120"/>
              </a:rPr>
              <a:t>N O P ... Z A B ... M</a:t>
            </a:r>
            <a:endParaRPr lang="en-US" sz="1500" dirty="0"/>
          </a:p>
        </p:txBody>
      </p:sp>
      <p:sp>
        <p:nvSpPr>
          <p:cNvPr id="14" name="Shape 11"/>
          <p:cNvSpPr/>
          <p:nvPr/>
        </p:nvSpPr>
        <p:spPr>
          <a:xfrm>
            <a:off x="822960" y="2560320"/>
            <a:ext cx="5852160" cy="502920"/>
          </a:xfrm>
          <a:prstGeom prst="roundRect">
            <a:avLst>
              <a:gd name="adj" fmla="val 14545"/>
            </a:avLst>
          </a:prstGeom>
          <a:solidFill>
            <a:srgbClr val="0E1726"/>
          </a:solidFill>
          <a:ln/>
        </p:spPr>
      </p:sp>
      <p:sp>
        <p:nvSpPr>
          <p:cNvPr id="15" name="Text 12"/>
          <p:cNvSpPr txBox="1"/>
          <p:nvPr/>
        </p:nvSpPr>
        <p:spPr>
          <a:xfrm>
            <a:off x="960120" y="2560320"/>
            <a:ext cx="5669280" cy="502920"/>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ourier New" pitchFamily="34" charset="0"/>
                <a:ea typeface="Courier New" pitchFamily="34" charset="-122"/>
                <a:cs typeface="Courier New" pitchFamily="34" charset="-120"/>
              </a:rPr>
              <a:t>tr 'A-Za-z' 'N-ZA-Mn-za-m'</a:t>
            </a:r>
            <a:endParaRPr lang="en-US" sz="1300" dirty="0"/>
          </a:p>
        </p:txBody>
      </p:sp>
      <p:sp>
        <p:nvSpPr>
          <p:cNvPr id="16" name="Shape 13"/>
          <p:cNvSpPr/>
          <p:nvPr/>
        </p:nvSpPr>
        <p:spPr>
          <a:xfrm>
            <a:off x="548640" y="3429000"/>
            <a:ext cx="6400800" cy="1737360"/>
          </a:xfrm>
          <a:prstGeom prst="roundRect">
            <a:avLst>
              <a:gd name="adj" fmla="val 5263"/>
            </a:avLst>
          </a:prstGeom>
          <a:solidFill>
            <a:srgbClr val="F1F5FB"/>
          </a:solidFill>
          <a:ln/>
        </p:spPr>
      </p:sp>
      <p:sp>
        <p:nvSpPr>
          <p:cNvPr id="17" name="Text 14"/>
          <p:cNvSpPr txBox="1"/>
          <p:nvPr/>
        </p:nvSpPr>
        <p:spPr>
          <a:xfrm>
            <a:off x="822960" y="3566160"/>
            <a:ext cx="1828800" cy="411480"/>
          </a:xfrm>
          <a:prstGeom prst="rect">
            <a:avLst/>
          </a:prstGeom>
          <a:noFill/>
          <a:ln/>
        </p:spPr>
        <p:txBody>
          <a:bodyPr wrap="square" lIns="0" tIns="0" rIns="0" bIns="0" rtlCol="0" anchor="t"/>
          <a:lstStyle/>
          <a:p>
            <a:pPr indent="0" marL="0">
              <a:buNone/>
            </a:pPr>
            <a:r>
              <a:rPr lang="en-US" sz="2100" b="1" dirty="0">
                <a:solidFill>
                  <a:srgbClr val="D1416B"/>
                </a:solidFill>
                <a:latin typeface="Arial" pitchFamily="34" charset="0"/>
                <a:ea typeface="Arial" pitchFamily="34" charset="-122"/>
                <a:cs typeface="Arial" pitchFamily="34" charset="-120"/>
              </a:rPr>
              <a:t>Atbash</a:t>
            </a:r>
            <a:endParaRPr lang="en-US" sz="2100" dirty="0"/>
          </a:p>
        </p:txBody>
      </p:sp>
      <p:sp>
        <p:nvSpPr>
          <p:cNvPr id="18" name="Text 15"/>
          <p:cNvSpPr txBox="1"/>
          <p:nvPr/>
        </p:nvSpPr>
        <p:spPr>
          <a:xfrm>
            <a:off x="2560320" y="3566160"/>
            <a:ext cx="4206240" cy="365760"/>
          </a:xfrm>
          <a:prstGeom prst="rect">
            <a:avLst/>
          </a:prstGeom>
          <a:noFill/>
          <a:ln/>
        </p:spPr>
        <p:txBody>
          <a:bodyPr wrap="square" lIns="0" tIns="0" rIns="0" bIns="0" rtlCol="0" anchor="t"/>
          <a:lstStyle/>
          <a:p>
            <a:pPr indent="0" marL="0">
              <a:buNone/>
            </a:pPr>
            <a:r>
              <a:rPr lang="en-US" sz="1500" dirty="0">
                <a:solidFill>
                  <a:srgbClr val="56657E"/>
                </a:solidFill>
                <a:latin typeface="Courier New" pitchFamily="34" charset="0"/>
                <a:ea typeface="Courier New" pitchFamily="34" charset="-122"/>
                <a:cs typeface="Courier New" pitchFamily="34" charset="-120"/>
              </a:rPr>
              <a:t>A B C ... X Y Z</a:t>
            </a:r>
            <a:endParaRPr lang="en-US" sz="1500" dirty="0"/>
          </a:p>
        </p:txBody>
      </p:sp>
      <p:sp>
        <p:nvSpPr>
          <p:cNvPr id="19" name="Text 16"/>
          <p:cNvSpPr txBox="1"/>
          <p:nvPr/>
        </p:nvSpPr>
        <p:spPr>
          <a:xfrm>
            <a:off x="2560320" y="3977640"/>
            <a:ext cx="4206240" cy="365760"/>
          </a:xfrm>
          <a:prstGeom prst="rect">
            <a:avLst/>
          </a:prstGeom>
          <a:noFill/>
          <a:ln/>
        </p:spPr>
        <p:txBody>
          <a:bodyPr wrap="square" lIns="0" tIns="0" rIns="0" bIns="0" rtlCol="0" anchor="t"/>
          <a:lstStyle/>
          <a:p>
            <a:pPr indent="0" marL="0">
              <a:buNone/>
            </a:pPr>
            <a:r>
              <a:rPr lang="en-US" sz="1500" b="1" dirty="0">
                <a:solidFill>
                  <a:srgbClr val="D1416B"/>
                </a:solidFill>
                <a:latin typeface="Courier New" pitchFamily="34" charset="0"/>
                <a:ea typeface="Courier New" pitchFamily="34" charset="-122"/>
                <a:cs typeface="Courier New" pitchFamily="34" charset="-120"/>
              </a:rPr>
              <a:t>Z Y X ... C B A</a:t>
            </a:r>
            <a:endParaRPr lang="en-US" sz="1500" dirty="0"/>
          </a:p>
        </p:txBody>
      </p:sp>
      <p:sp>
        <p:nvSpPr>
          <p:cNvPr id="20" name="Shape 17"/>
          <p:cNvSpPr/>
          <p:nvPr/>
        </p:nvSpPr>
        <p:spPr>
          <a:xfrm>
            <a:off x="822960" y="4480560"/>
            <a:ext cx="5852160" cy="502920"/>
          </a:xfrm>
          <a:prstGeom prst="roundRect">
            <a:avLst>
              <a:gd name="adj" fmla="val 14545"/>
            </a:avLst>
          </a:prstGeom>
          <a:solidFill>
            <a:srgbClr val="0E1726"/>
          </a:solidFill>
          <a:ln/>
        </p:spPr>
      </p:sp>
      <p:sp>
        <p:nvSpPr>
          <p:cNvPr id="21" name="Text 18"/>
          <p:cNvSpPr txBox="1"/>
          <p:nvPr/>
        </p:nvSpPr>
        <p:spPr>
          <a:xfrm>
            <a:off x="960120" y="4480560"/>
            <a:ext cx="5669280" cy="502920"/>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ourier New" pitchFamily="34" charset="0"/>
                <a:ea typeface="Courier New" pitchFamily="34" charset="-122"/>
                <a:cs typeface="Courier New" pitchFamily="34" charset="-120"/>
              </a:rPr>
              <a:t>tr 'A-Z' 'ZYXWVUTSRQPONMLKJIHGFEDCBA'</a:t>
            </a:r>
            <a:endParaRPr lang="en-US" sz="1300" dirty="0"/>
          </a:p>
        </p:txBody>
      </p:sp>
      <p:sp>
        <p:nvSpPr>
          <p:cNvPr id="22" name="Shape 19"/>
          <p:cNvSpPr/>
          <p:nvPr/>
        </p:nvSpPr>
        <p:spPr>
          <a:xfrm>
            <a:off x="548640" y="5440680"/>
            <a:ext cx="6400800" cy="548640"/>
          </a:xfrm>
          <a:prstGeom prst="roundRect">
            <a:avLst>
              <a:gd name="adj" fmla="val 16667"/>
            </a:avLst>
          </a:prstGeom>
          <a:solidFill>
            <a:srgbClr val="E2F5EC"/>
          </a:solidFill>
          <a:ln/>
        </p:spPr>
      </p:sp>
      <p:sp>
        <p:nvSpPr>
          <p:cNvPr id="23" name="Text 20"/>
          <p:cNvSpPr txBox="1"/>
          <p:nvPr/>
        </p:nvSpPr>
        <p:spPr>
          <a:xfrm>
            <a:off x="822960" y="5440680"/>
            <a:ext cx="5943600" cy="548640"/>
          </a:xfrm>
          <a:prstGeom prst="rect">
            <a:avLst/>
          </a:prstGeom>
          <a:noFill/>
          <a:ln/>
        </p:spPr>
        <p:txBody>
          <a:bodyPr wrap="square" lIns="0" tIns="0" rIns="0" bIns="0" rtlCol="0" anchor="ctr"/>
          <a:lstStyle/>
          <a:p>
            <a:pPr indent="0" marL="0">
              <a:buNone/>
            </a:pPr>
            <a:r>
              <a:rPr lang="en-US" sz="1500" b="1" dirty="0">
                <a:solidFill>
                  <a:srgbClr val="0F6A45"/>
                </a:solidFill>
                <a:latin typeface="Calibri" pitchFamily="34" charset="0"/>
                <a:ea typeface="Calibri" pitchFamily="34" charset="-122"/>
                <a:cs typeface="Calibri" pitchFamily="34" charset="-120"/>
              </a:rPr>
              <a:t>Both are their own undo: run them twice and you're back.</a:t>
            </a:r>
            <a:endParaRPr lang="en-US" sz="1500" dirty="0"/>
          </a:p>
        </p:txBody>
      </p:sp>
      <p:sp>
        <p:nvSpPr>
          <p:cNvPr id="24" name="Shape 21"/>
          <p:cNvSpPr/>
          <p:nvPr/>
        </p:nvSpPr>
        <p:spPr>
          <a:xfrm>
            <a:off x="7223760" y="1463040"/>
            <a:ext cx="4416552" cy="4526280"/>
          </a:xfrm>
          <a:prstGeom prst="roundRect">
            <a:avLst>
              <a:gd name="adj" fmla="val 2070"/>
            </a:avLst>
          </a:prstGeom>
          <a:solidFill>
            <a:srgbClr val="0E1726"/>
          </a:solidFill>
          <a:ln/>
          <a:effectLst>
            <a:outerShdw sx="100000" sy="100000" kx="0" ky="0" algn="bl" rotWithShape="0" blurRad="127000" dist="38100" dir="5400000">
              <a:srgbClr val="12213A">
                <a:alpha val="22000"/>
              </a:srgbClr>
            </a:outerShdw>
          </a:effectLst>
        </p:spPr>
      </p:sp>
      <p:sp>
        <p:nvSpPr>
          <p:cNvPr id="25" name="Shape 22"/>
          <p:cNvSpPr/>
          <p:nvPr/>
        </p:nvSpPr>
        <p:spPr>
          <a:xfrm>
            <a:off x="7424928" y="1618488"/>
            <a:ext cx="118872" cy="118872"/>
          </a:xfrm>
          <a:prstGeom prst="ellipse">
            <a:avLst/>
          </a:prstGeom>
          <a:solidFill>
            <a:srgbClr val="E5534B"/>
          </a:solidFill>
          <a:ln/>
        </p:spPr>
      </p:sp>
      <p:sp>
        <p:nvSpPr>
          <p:cNvPr id="26" name="Shape 23"/>
          <p:cNvSpPr/>
          <p:nvPr/>
        </p:nvSpPr>
        <p:spPr>
          <a:xfrm>
            <a:off x="7626096" y="1618488"/>
            <a:ext cx="118872" cy="118872"/>
          </a:xfrm>
          <a:prstGeom prst="ellipse">
            <a:avLst/>
          </a:prstGeom>
          <a:solidFill>
            <a:srgbClr val="F5A623"/>
          </a:solidFill>
          <a:ln/>
        </p:spPr>
      </p:sp>
      <p:sp>
        <p:nvSpPr>
          <p:cNvPr id="27" name="Shape 24"/>
          <p:cNvSpPr/>
          <p:nvPr/>
        </p:nvSpPr>
        <p:spPr>
          <a:xfrm>
            <a:off x="7827264" y="1618488"/>
            <a:ext cx="118872" cy="118872"/>
          </a:xfrm>
          <a:prstGeom prst="ellipse">
            <a:avLst/>
          </a:prstGeom>
          <a:solidFill>
            <a:srgbClr val="46D39A"/>
          </a:solidFill>
          <a:ln/>
        </p:spPr>
      </p:sp>
      <p:sp>
        <p:nvSpPr>
          <p:cNvPr id="28" name="Text 25"/>
          <p:cNvSpPr txBox="1"/>
          <p:nvPr/>
        </p:nvSpPr>
        <p:spPr>
          <a:xfrm>
            <a:off x="8138160" y="1536192"/>
            <a:ext cx="258775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29" name="Text 26"/>
          <p:cNvSpPr txBox="1"/>
          <p:nvPr/>
        </p:nvSpPr>
        <p:spPr>
          <a:xfrm>
            <a:off x="7498080" y="1920240"/>
            <a:ext cx="3867912" cy="393192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echo HELLO | tr A-Z N-ZA-M</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URYYB</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echo URYYB | tr A-Z N-ZA-M</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HELLO</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tr A-Z a-z &lt; notes.txt</a:t>
            </a:r>
            <a:endParaRPr lang="en-US" sz="1400" dirty="0"/>
          </a:p>
          <a:p>
            <a:pPr indent="0" marL="0">
              <a:spcAft>
                <a:spcPts val="200"/>
              </a:spcAft>
              <a:buNone/>
            </a:pPr>
            <a:r>
              <a:rPr lang="en-US" sz="1400" dirty="0">
                <a:solidFill>
                  <a:srgbClr val="7F8FAD"/>
                </a:solidFill>
                <a:latin typeface="Courier New" pitchFamily="34" charset="0"/>
                <a:ea typeface="Courier New" pitchFamily="34" charset="-122"/>
                <a:cs typeface="Courier New" pitchFamily="34" charset="-120"/>
              </a:rPr>
              <a:t># &lt; feeds a file into tr</a:t>
            </a:r>
            <a:endParaRPr lang="en-US" sz="1400" dirty="0"/>
          </a:p>
        </p:txBody>
      </p:sp>
      <p:sp>
        <p:nvSpPr>
          <p:cNvPr id="30" name="Text 27"/>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15 / 61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Brute force: try every key</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echo Khoor | caesar all</a:t>
            </a:r>
            <a:endParaRPr lang="en-US" sz="1300" dirty="0"/>
          </a:p>
        </p:txBody>
      </p:sp>
      <p:sp>
        <p:nvSpPr>
          <p:cNvPr id="8" name="Shape 5"/>
          <p:cNvSpPr/>
          <p:nvPr/>
        </p:nvSpPr>
        <p:spPr>
          <a:xfrm>
            <a:off x="548640" y="109728"/>
            <a:ext cx="1792224" cy="274320"/>
          </a:xfrm>
          <a:prstGeom prst="roundRect">
            <a:avLst>
              <a:gd name="adj" fmla="val 50000"/>
            </a:avLst>
          </a:prstGeom>
          <a:solidFill>
            <a:srgbClr val="7448D4"/>
          </a:solidFill>
          <a:ln/>
        </p:spPr>
      </p:sp>
      <p:sp>
        <p:nvSpPr>
          <p:cNvPr id="9" name="Text 6"/>
          <p:cNvSpPr txBox="1"/>
          <p:nvPr/>
        </p:nvSpPr>
        <p:spPr>
          <a:xfrm>
            <a:off x="548640" y="109728"/>
            <a:ext cx="179222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missions 4 &amp; 8</a:t>
            </a:r>
            <a:endParaRPr lang="en-US" sz="1100" dirty="0"/>
          </a:p>
        </p:txBody>
      </p:sp>
      <p:sp>
        <p:nvSpPr>
          <p:cNvPr id="10" name="Shape 7"/>
          <p:cNvSpPr/>
          <p:nvPr/>
        </p:nvSpPr>
        <p:spPr>
          <a:xfrm>
            <a:off x="548640" y="1600200"/>
            <a:ext cx="2194560" cy="457200"/>
          </a:xfrm>
          <a:prstGeom prst="roundRect">
            <a:avLst>
              <a:gd name="adj" fmla="val 16000"/>
            </a:avLst>
          </a:prstGeom>
          <a:solidFill>
            <a:srgbClr val="0E1726"/>
          </a:solidFill>
          <a:ln/>
        </p:spPr>
      </p:sp>
      <p:sp>
        <p:nvSpPr>
          <p:cNvPr id="11" name="Text 8"/>
          <p:cNvSpPr txBox="1"/>
          <p:nvPr/>
        </p:nvSpPr>
        <p:spPr>
          <a:xfrm>
            <a:off x="548640" y="160020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caesar N</a:t>
            </a:r>
            <a:endParaRPr lang="en-US" sz="1500" dirty="0"/>
          </a:p>
        </p:txBody>
      </p:sp>
      <p:sp>
        <p:nvSpPr>
          <p:cNvPr id="12" name="Text 9"/>
          <p:cNvSpPr txBox="1"/>
          <p:nvPr/>
        </p:nvSpPr>
        <p:spPr>
          <a:xfrm>
            <a:off x="2971800" y="160020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shift every letter N places</a:t>
            </a:r>
            <a:endParaRPr lang="en-US" sz="1700" dirty="0"/>
          </a:p>
        </p:txBody>
      </p:sp>
      <p:sp>
        <p:nvSpPr>
          <p:cNvPr id="13" name="Shape 10"/>
          <p:cNvSpPr/>
          <p:nvPr/>
        </p:nvSpPr>
        <p:spPr>
          <a:xfrm>
            <a:off x="548640" y="2194560"/>
            <a:ext cx="2194560" cy="457200"/>
          </a:xfrm>
          <a:prstGeom prst="roundRect">
            <a:avLst>
              <a:gd name="adj" fmla="val 16000"/>
            </a:avLst>
          </a:prstGeom>
          <a:solidFill>
            <a:srgbClr val="0E1726"/>
          </a:solidFill>
          <a:ln/>
        </p:spPr>
      </p:sp>
      <p:sp>
        <p:nvSpPr>
          <p:cNvPr id="14" name="Text 11"/>
          <p:cNvSpPr txBox="1"/>
          <p:nvPr/>
        </p:nvSpPr>
        <p:spPr>
          <a:xfrm>
            <a:off x="548640" y="219456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caesar all</a:t>
            </a:r>
            <a:endParaRPr lang="en-US" sz="1500" dirty="0"/>
          </a:p>
        </p:txBody>
      </p:sp>
      <p:sp>
        <p:nvSpPr>
          <p:cNvPr id="15" name="Text 12"/>
          <p:cNvSpPr txBox="1"/>
          <p:nvPr/>
        </p:nvSpPr>
        <p:spPr>
          <a:xfrm>
            <a:off x="2971800" y="219456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try all 25 shifts</a:t>
            </a:r>
            <a:endParaRPr lang="en-US" sz="1700" dirty="0"/>
          </a:p>
        </p:txBody>
      </p:sp>
      <p:sp>
        <p:nvSpPr>
          <p:cNvPr id="16" name="Shape 13"/>
          <p:cNvSpPr/>
          <p:nvPr/>
        </p:nvSpPr>
        <p:spPr>
          <a:xfrm>
            <a:off x="548640" y="2788920"/>
            <a:ext cx="2194560" cy="457200"/>
          </a:xfrm>
          <a:prstGeom prst="roundRect">
            <a:avLst>
              <a:gd name="adj" fmla="val 16000"/>
            </a:avLst>
          </a:prstGeom>
          <a:solidFill>
            <a:srgbClr val="0E1726"/>
          </a:solidFill>
          <a:ln/>
        </p:spPr>
      </p:sp>
      <p:sp>
        <p:nvSpPr>
          <p:cNvPr id="17" name="Text 14"/>
          <p:cNvSpPr txBox="1"/>
          <p:nvPr/>
        </p:nvSpPr>
        <p:spPr>
          <a:xfrm>
            <a:off x="548640" y="278892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xor all</a:t>
            </a:r>
            <a:endParaRPr lang="en-US" sz="1500" dirty="0"/>
          </a:p>
        </p:txBody>
      </p:sp>
      <p:sp>
        <p:nvSpPr>
          <p:cNvPr id="18" name="Text 15"/>
          <p:cNvSpPr txBox="1"/>
          <p:nvPr/>
        </p:nvSpPr>
        <p:spPr>
          <a:xfrm>
            <a:off x="2971800" y="278892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try all 255 XOR keys</a:t>
            </a:r>
            <a:endParaRPr lang="en-US" sz="1700" dirty="0"/>
          </a:p>
        </p:txBody>
      </p:sp>
      <p:sp>
        <p:nvSpPr>
          <p:cNvPr id="19" name="Shape 16"/>
          <p:cNvSpPr/>
          <p:nvPr/>
        </p:nvSpPr>
        <p:spPr>
          <a:xfrm>
            <a:off x="548640" y="3383280"/>
            <a:ext cx="2194560" cy="457200"/>
          </a:xfrm>
          <a:prstGeom prst="roundRect">
            <a:avLst>
              <a:gd name="adj" fmla="val 16000"/>
            </a:avLst>
          </a:prstGeom>
          <a:solidFill>
            <a:srgbClr val="0E1726"/>
          </a:solidFill>
          <a:ln/>
        </p:spPr>
      </p:sp>
      <p:sp>
        <p:nvSpPr>
          <p:cNvPr id="20" name="Text 17"/>
          <p:cNvSpPr txBox="1"/>
          <p:nvPr/>
        </p:nvSpPr>
        <p:spPr>
          <a:xfrm>
            <a:off x="548640" y="338328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 grep CYBA</a:t>
            </a:r>
            <a:endParaRPr lang="en-US" sz="1500" dirty="0"/>
          </a:p>
        </p:txBody>
      </p:sp>
      <p:sp>
        <p:nvSpPr>
          <p:cNvPr id="21" name="Text 18"/>
          <p:cNvSpPr txBox="1"/>
          <p:nvPr/>
        </p:nvSpPr>
        <p:spPr>
          <a:xfrm>
            <a:off x="2971800" y="338328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keep only the readable line</a:t>
            </a:r>
            <a:endParaRPr lang="en-US" sz="1700" dirty="0"/>
          </a:p>
        </p:txBody>
      </p:sp>
      <p:sp>
        <p:nvSpPr>
          <p:cNvPr id="22" name="Shape 19"/>
          <p:cNvSpPr/>
          <p:nvPr/>
        </p:nvSpPr>
        <p:spPr>
          <a:xfrm>
            <a:off x="548640" y="4160520"/>
            <a:ext cx="5669280" cy="1783080"/>
          </a:xfrm>
          <a:prstGeom prst="roundRect">
            <a:avLst>
              <a:gd name="adj" fmla="val 5128"/>
            </a:avLst>
          </a:prstGeom>
          <a:solidFill>
            <a:srgbClr val="FFF4DC"/>
          </a:solidFill>
          <a:ln/>
        </p:spPr>
      </p:sp>
      <p:sp>
        <p:nvSpPr>
          <p:cNvPr id="23" name="Text 20"/>
          <p:cNvSpPr txBox="1"/>
          <p:nvPr/>
        </p:nvSpPr>
        <p:spPr>
          <a:xfrm>
            <a:off x="822960" y="4251960"/>
            <a:ext cx="5120640" cy="1600200"/>
          </a:xfrm>
          <a:prstGeom prst="rect">
            <a:avLst/>
          </a:prstGeom>
          <a:noFill/>
          <a:ln/>
        </p:spPr>
        <p:txBody>
          <a:bodyPr wrap="square" lIns="0" tIns="0" rIns="0" bIns="0" rtlCol="0" anchor="ctr"/>
          <a:lstStyle/>
          <a:p>
            <a:pPr indent="0" marL="0">
              <a:buNone/>
            </a:pPr>
            <a:r>
              <a:rPr lang="en-US" sz="1600" b="1" dirty="0">
                <a:solidFill>
                  <a:srgbClr val="12213A"/>
                </a:solidFill>
                <a:latin typeface="Calibri" pitchFamily="34" charset="0"/>
                <a:ea typeface="Calibri" pitchFamily="34" charset="-122"/>
                <a:cs typeface="Calibri" pitchFamily="34" charset="-120"/>
              </a:rPr>
              <a:t>Known plaintext. </a:t>
            </a:r>
            <a:pPr indent="0" marL="0">
              <a:buNone/>
            </a:pPr>
            <a:r>
              <a:rPr lang="en-US" sz="1600" dirty="0">
                <a:solidFill>
                  <a:srgbClr val="12213A"/>
                </a:solidFill>
                <a:latin typeface="Calibri" pitchFamily="34" charset="0"/>
                <a:ea typeface="Calibri" pitchFamily="34" charset="-122"/>
                <a:cs typeface="Calibri" pitchFamily="34" charset="-120"/>
              </a:rPr>
              <a:t>Every flag starts with CYBA. Knowing a piece of the answer is how Bletchley Park broke Enigma: they guessed words like 'weather'.</a:t>
            </a:r>
            <a:endParaRPr lang="en-US" sz="1600" dirty="0"/>
          </a:p>
        </p:txBody>
      </p:sp>
      <p:sp>
        <p:nvSpPr>
          <p:cNvPr id="24" name="Shape 21"/>
          <p:cNvSpPr/>
          <p:nvPr/>
        </p:nvSpPr>
        <p:spPr>
          <a:xfrm>
            <a:off x="6583680" y="1463040"/>
            <a:ext cx="50566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25" name="Shape 22"/>
          <p:cNvSpPr/>
          <p:nvPr/>
        </p:nvSpPr>
        <p:spPr>
          <a:xfrm>
            <a:off x="6784848" y="1618488"/>
            <a:ext cx="118872" cy="118872"/>
          </a:xfrm>
          <a:prstGeom prst="ellipse">
            <a:avLst/>
          </a:prstGeom>
          <a:solidFill>
            <a:srgbClr val="E5534B"/>
          </a:solidFill>
          <a:ln/>
        </p:spPr>
      </p:sp>
      <p:sp>
        <p:nvSpPr>
          <p:cNvPr id="26" name="Shape 23"/>
          <p:cNvSpPr/>
          <p:nvPr/>
        </p:nvSpPr>
        <p:spPr>
          <a:xfrm>
            <a:off x="6986016" y="1618488"/>
            <a:ext cx="118872" cy="118872"/>
          </a:xfrm>
          <a:prstGeom prst="ellipse">
            <a:avLst/>
          </a:prstGeom>
          <a:solidFill>
            <a:srgbClr val="F5A623"/>
          </a:solidFill>
          <a:ln/>
        </p:spPr>
      </p:sp>
      <p:sp>
        <p:nvSpPr>
          <p:cNvPr id="27" name="Shape 24"/>
          <p:cNvSpPr/>
          <p:nvPr/>
        </p:nvSpPr>
        <p:spPr>
          <a:xfrm>
            <a:off x="7187184" y="1618488"/>
            <a:ext cx="118872" cy="118872"/>
          </a:xfrm>
          <a:prstGeom prst="ellipse">
            <a:avLst/>
          </a:prstGeom>
          <a:solidFill>
            <a:srgbClr val="46D39A"/>
          </a:solidFill>
          <a:ln/>
        </p:spPr>
      </p:sp>
      <p:sp>
        <p:nvSpPr>
          <p:cNvPr id="28" name="Text 25"/>
          <p:cNvSpPr txBox="1"/>
          <p:nvPr/>
        </p:nvSpPr>
        <p:spPr>
          <a:xfrm>
            <a:off x="7498080" y="1536192"/>
            <a:ext cx="32278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29" name="Text 26"/>
          <p:cNvSpPr txBox="1"/>
          <p:nvPr/>
        </p:nvSpPr>
        <p:spPr>
          <a:xfrm>
            <a:off x="6858000" y="1920240"/>
            <a:ext cx="4507992" cy="3886200"/>
          </a:xfrm>
          <a:prstGeom prst="rect">
            <a:avLst/>
          </a:prstGeom>
          <a:noFill/>
          <a:ln/>
        </p:spPr>
        <p:txBody>
          <a:bodyPr wrap="square" lIns="0" tIns="0" rIns="0" bIns="0" rtlCol="0" anchor="t"/>
          <a:lstStyle/>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Khoor | caesar all</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shift 1: Lipps</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shift 2: Mjqqt</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a:t>
            </a:r>
            <a:endParaRPr lang="en-US" sz="1500" dirty="0"/>
          </a:p>
          <a:p>
            <a:pPr indent="0" marL="0">
              <a:spcAft>
                <a:spcPts val="200"/>
              </a:spcAft>
              <a:buNone/>
            </a:pPr>
            <a:r>
              <a:rPr lang="en-US" sz="1500" b="1" dirty="0">
                <a:solidFill>
                  <a:srgbClr val="F5A623"/>
                </a:solidFill>
                <a:latin typeface="Courier New" pitchFamily="34" charset="0"/>
                <a:ea typeface="Courier New" pitchFamily="34" charset="-122"/>
                <a:cs typeface="Courier New" pitchFamily="34" charset="-120"/>
              </a:rPr>
              <a:t>shift 23: Hello</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shift 25: Jgnnq</a:t>
            </a:r>
            <a:endParaRPr lang="en-US" sz="1500" dirty="0"/>
          </a:p>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Khoor | caesar all | grep ell</a:t>
            </a:r>
            <a:endParaRPr lang="en-US" sz="1500" dirty="0"/>
          </a:p>
          <a:p>
            <a:pPr indent="0" marL="0">
              <a:spcAft>
                <a:spcPts val="200"/>
              </a:spcAft>
              <a:buNone/>
            </a:pPr>
            <a:r>
              <a:rPr lang="en-US" sz="1500" b="1" dirty="0">
                <a:solidFill>
                  <a:srgbClr val="F5A623"/>
                </a:solidFill>
                <a:latin typeface="Courier New" pitchFamily="34" charset="0"/>
                <a:ea typeface="Courier New" pitchFamily="34" charset="-122"/>
                <a:cs typeface="Courier New" pitchFamily="34" charset="-120"/>
              </a:rPr>
              <a:t>shift 23: Hello</a:t>
            </a:r>
            <a:endParaRPr lang="en-US" sz="1500" dirty="0"/>
          </a:p>
        </p:txBody>
      </p:sp>
      <p:sp>
        <p:nvSpPr>
          <p:cNvPr id="30" name="Text 27"/>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16 / 61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Dots and dashes: morse</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echo SOS | morse -e</a:t>
            </a:r>
            <a:endParaRPr lang="en-US" sz="1300" dirty="0"/>
          </a:p>
        </p:txBody>
      </p:sp>
      <p:sp>
        <p:nvSpPr>
          <p:cNvPr id="8" name="Shape 5"/>
          <p:cNvSpPr/>
          <p:nvPr/>
        </p:nvSpPr>
        <p:spPr>
          <a:xfrm>
            <a:off x="548640" y="109728"/>
            <a:ext cx="1357884" cy="274320"/>
          </a:xfrm>
          <a:prstGeom prst="roundRect">
            <a:avLst>
              <a:gd name="adj" fmla="val 50000"/>
            </a:avLst>
          </a:prstGeom>
          <a:solidFill>
            <a:srgbClr val="E8820C"/>
          </a:solidFill>
          <a:ln/>
        </p:spPr>
      </p:sp>
      <p:sp>
        <p:nvSpPr>
          <p:cNvPr id="9" name="Text 6"/>
          <p:cNvSpPr txBox="1"/>
          <p:nvPr/>
        </p:nvSpPr>
        <p:spPr>
          <a:xfrm>
            <a:off x="548640" y="109728"/>
            <a:ext cx="135788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 6</a:t>
            </a:r>
            <a:endParaRPr lang="en-US" sz="1100" dirty="0"/>
          </a:p>
        </p:txBody>
      </p:sp>
      <p:sp>
        <p:nvSpPr>
          <p:cNvPr id="10" name="Shape 7"/>
          <p:cNvSpPr/>
          <p:nvPr/>
        </p:nvSpPr>
        <p:spPr>
          <a:xfrm>
            <a:off x="548640" y="1600200"/>
            <a:ext cx="1828800" cy="1097280"/>
          </a:xfrm>
          <a:prstGeom prst="roundRect">
            <a:avLst>
              <a:gd name="adj" fmla="val 8333"/>
            </a:avLst>
          </a:prstGeom>
          <a:solidFill>
            <a:srgbClr val="F1F5FB"/>
          </a:solidFill>
          <a:ln/>
        </p:spPr>
      </p:sp>
      <p:sp>
        <p:nvSpPr>
          <p:cNvPr id="11" name="Text 8"/>
          <p:cNvSpPr txBox="1"/>
          <p:nvPr/>
        </p:nvSpPr>
        <p:spPr>
          <a:xfrm>
            <a:off x="731520" y="1737360"/>
            <a:ext cx="548640" cy="822960"/>
          </a:xfrm>
          <a:prstGeom prst="rect">
            <a:avLst/>
          </a:prstGeom>
          <a:noFill/>
          <a:ln/>
        </p:spPr>
        <p:txBody>
          <a:bodyPr wrap="square" lIns="0" tIns="0" rIns="0" bIns="0" rtlCol="0" anchor="ctr"/>
          <a:lstStyle/>
          <a:p>
            <a:pPr indent="0" marL="0">
              <a:buNone/>
            </a:pPr>
            <a:r>
              <a:rPr lang="en-US" sz="3600" b="1" dirty="0">
                <a:solidFill>
                  <a:srgbClr val="E8820C"/>
                </a:solidFill>
                <a:latin typeface="Arial" pitchFamily="34" charset="0"/>
                <a:ea typeface="Arial" pitchFamily="34" charset="-122"/>
                <a:cs typeface="Arial" pitchFamily="34" charset="-120"/>
              </a:rPr>
              <a:t>A</a:t>
            </a:r>
            <a:endParaRPr lang="en-US" sz="3600" dirty="0"/>
          </a:p>
        </p:txBody>
      </p:sp>
      <p:sp>
        <p:nvSpPr>
          <p:cNvPr id="12" name="Text 9"/>
          <p:cNvSpPr txBox="1"/>
          <p:nvPr/>
        </p:nvSpPr>
        <p:spPr>
          <a:xfrm>
            <a:off x="1280160" y="1737360"/>
            <a:ext cx="1051560" cy="822960"/>
          </a:xfrm>
          <a:prstGeom prst="rect">
            <a:avLst/>
          </a:prstGeom>
          <a:noFill/>
          <a:ln/>
        </p:spPr>
        <p:txBody>
          <a:bodyPr wrap="square" lIns="0" tIns="0" rIns="0" bIns="0" rtlCol="0" anchor="ctr"/>
          <a:lstStyle/>
          <a:p>
            <a:pPr indent="0" marL="0">
              <a:buNone/>
            </a:pPr>
            <a:r>
              <a:rPr lang="en-US" sz="2200" b="1" dirty="0">
                <a:solidFill>
                  <a:srgbClr val="12213A"/>
                </a:solidFill>
                <a:latin typeface="Courier New" pitchFamily="34" charset="0"/>
                <a:ea typeface="Courier New" pitchFamily="34" charset="-122"/>
                <a:cs typeface="Courier New" pitchFamily="34" charset="-120"/>
              </a:rPr>
              <a:t>.-</a:t>
            </a:r>
            <a:endParaRPr lang="en-US" sz="2200" dirty="0"/>
          </a:p>
        </p:txBody>
      </p:sp>
      <p:sp>
        <p:nvSpPr>
          <p:cNvPr id="13" name="Shape 10"/>
          <p:cNvSpPr/>
          <p:nvPr/>
        </p:nvSpPr>
        <p:spPr>
          <a:xfrm>
            <a:off x="2514600" y="1600200"/>
            <a:ext cx="1828800" cy="1097280"/>
          </a:xfrm>
          <a:prstGeom prst="roundRect">
            <a:avLst>
              <a:gd name="adj" fmla="val 8333"/>
            </a:avLst>
          </a:prstGeom>
          <a:solidFill>
            <a:srgbClr val="F1F5FB"/>
          </a:solidFill>
          <a:ln/>
        </p:spPr>
      </p:sp>
      <p:sp>
        <p:nvSpPr>
          <p:cNvPr id="14" name="Text 11"/>
          <p:cNvSpPr txBox="1"/>
          <p:nvPr/>
        </p:nvSpPr>
        <p:spPr>
          <a:xfrm>
            <a:off x="2697480" y="1737360"/>
            <a:ext cx="548640" cy="822960"/>
          </a:xfrm>
          <a:prstGeom prst="rect">
            <a:avLst/>
          </a:prstGeom>
          <a:noFill/>
          <a:ln/>
        </p:spPr>
        <p:txBody>
          <a:bodyPr wrap="square" lIns="0" tIns="0" rIns="0" bIns="0" rtlCol="0" anchor="ctr"/>
          <a:lstStyle/>
          <a:p>
            <a:pPr indent="0" marL="0">
              <a:buNone/>
            </a:pPr>
            <a:r>
              <a:rPr lang="en-US" sz="3600" b="1" dirty="0">
                <a:solidFill>
                  <a:srgbClr val="E8820C"/>
                </a:solidFill>
                <a:latin typeface="Arial" pitchFamily="34" charset="0"/>
                <a:ea typeface="Arial" pitchFamily="34" charset="-122"/>
                <a:cs typeface="Arial" pitchFamily="34" charset="-120"/>
              </a:rPr>
              <a:t>E</a:t>
            </a:r>
            <a:endParaRPr lang="en-US" sz="3600" dirty="0"/>
          </a:p>
        </p:txBody>
      </p:sp>
      <p:sp>
        <p:nvSpPr>
          <p:cNvPr id="15" name="Text 12"/>
          <p:cNvSpPr txBox="1"/>
          <p:nvPr/>
        </p:nvSpPr>
        <p:spPr>
          <a:xfrm>
            <a:off x="3246120" y="1737360"/>
            <a:ext cx="1051560" cy="822960"/>
          </a:xfrm>
          <a:prstGeom prst="rect">
            <a:avLst/>
          </a:prstGeom>
          <a:noFill/>
          <a:ln/>
        </p:spPr>
        <p:txBody>
          <a:bodyPr wrap="square" lIns="0" tIns="0" rIns="0" bIns="0" rtlCol="0" anchor="ctr"/>
          <a:lstStyle/>
          <a:p>
            <a:pPr indent="0" marL="0">
              <a:buNone/>
            </a:pPr>
            <a:r>
              <a:rPr lang="en-US" sz="2200" b="1" dirty="0">
                <a:solidFill>
                  <a:srgbClr val="12213A"/>
                </a:solidFill>
                <a:latin typeface="Courier New" pitchFamily="34" charset="0"/>
                <a:ea typeface="Courier New" pitchFamily="34" charset="-122"/>
                <a:cs typeface="Courier New" pitchFamily="34" charset="-120"/>
              </a:rPr>
              <a:t>.</a:t>
            </a:r>
            <a:endParaRPr lang="en-US" sz="2200" dirty="0"/>
          </a:p>
        </p:txBody>
      </p:sp>
      <p:sp>
        <p:nvSpPr>
          <p:cNvPr id="16" name="Shape 13"/>
          <p:cNvSpPr/>
          <p:nvPr/>
        </p:nvSpPr>
        <p:spPr>
          <a:xfrm>
            <a:off x="4480560" y="1600200"/>
            <a:ext cx="1828800" cy="1097280"/>
          </a:xfrm>
          <a:prstGeom prst="roundRect">
            <a:avLst>
              <a:gd name="adj" fmla="val 8333"/>
            </a:avLst>
          </a:prstGeom>
          <a:solidFill>
            <a:srgbClr val="F1F5FB"/>
          </a:solidFill>
          <a:ln/>
        </p:spPr>
      </p:sp>
      <p:sp>
        <p:nvSpPr>
          <p:cNvPr id="17" name="Text 14"/>
          <p:cNvSpPr txBox="1"/>
          <p:nvPr/>
        </p:nvSpPr>
        <p:spPr>
          <a:xfrm>
            <a:off x="4663440" y="1737360"/>
            <a:ext cx="548640" cy="822960"/>
          </a:xfrm>
          <a:prstGeom prst="rect">
            <a:avLst/>
          </a:prstGeom>
          <a:noFill/>
          <a:ln/>
        </p:spPr>
        <p:txBody>
          <a:bodyPr wrap="square" lIns="0" tIns="0" rIns="0" bIns="0" rtlCol="0" anchor="ctr"/>
          <a:lstStyle/>
          <a:p>
            <a:pPr indent="0" marL="0">
              <a:buNone/>
            </a:pPr>
            <a:r>
              <a:rPr lang="en-US" sz="3600" b="1" dirty="0">
                <a:solidFill>
                  <a:srgbClr val="E8820C"/>
                </a:solidFill>
                <a:latin typeface="Arial" pitchFamily="34" charset="0"/>
                <a:ea typeface="Arial" pitchFamily="34" charset="-122"/>
                <a:cs typeface="Arial" pitchFamily="34" charset="-120"/>
              </a:rPr>
              <a:t>O</a:t>
            </a:r>
            <a:endParaRPr lang="en-US" sz="3600" dirty="0"/>
          </a:p>
        </p:txBody>
      </p:sp>
      <p:sp>
        <p:nvSpPr>
          <p:cNvPr id="18" name="Text 15"/>
          <p:cNvSpPr txBox="1"/>
          <p:nvPr/>
        </p:nvSpPr>
        <p:spPr>
          <a:xfrm>
            <a:off x="5212080" y="1737360"/>
            <a:ext cx="1051560" cy="822960"/>
          </a:xfrm>
          <a:prstGeom prst="rect">
            <a:avLst/>
          </a:prstGeom>
          <a:noFill/>
          <a:ln/>
        </p:spPr>
        <p:txBody>
          <a:bodyPr wrap="square" lIns="0" tIns="0" rIns="0" bIns="0" rtlCol="0" anchor="ctr"/>
          <a:lstStyle/>
          <a:p>
            <a:pPr indent="0" marL="0">
              <a:buNone/>
            </a:pPr>
            <a:r>
              <a:rPr lang="en-US" sz="2200" b="1" dirty="0">
                <a:solidFill>
                  <a:srgbClr val="12213A"/>
                </a:solidFill>
                <a:latin typeface="Courier New" pitchFamily="34" charset="0"/>
                <a:ea typeface="Courier New" pitchFamily="34" charset="-122"/>
                <a:cs typeface="Courier New" pitchFamily="34" charset="-120"/>
              </a:rPr>
              <a:t>---</a:t>
            </a:r>
            <a:endParaRPr lang="en-US" sz="2200" dirty="0"/>
          </a:p>
        </p:txBody>
      </p:sp>
      <p:sp>
        <p:nvSpPr>
          <p:cNvPr id="19" name="Shape 16"/>
          <p:cNvSpPr/>
          <p:nvPr/>
        </p:nvSpPr>
        <p:spPr>
          <a:xfrm>
            <a:off x="548640" y="2834640"/>
            <a:ext cx="1828800" cy="1097280"/>
          </a:xfrm>
          <a:prstGeom prst="roundRect">
            <a:avLst>
              <a:gd name="adj" fmla="val 8333"/>
            </a:avLst>
          </a:prstGeom>
          <a:solidFill>
            <a:srgbClr val="F1F5FB"/>
          </a:solidFill>
          <a:ln/>
        </p:spPr>
      </p:sp>
      <p:sp>
        <p:nvSpPr>
          <p:cNvPr id="20" name="Text 17"/>
          <p:cNvSpPr txBox="1"/>
          <p:nvPr/>
        </p:nvSpPr>
        <p:spPr>
          <a:xfrm>
            <a:off x="731520" y="2971800"/>
            <a:ext cx="548640" cy="822960"/>
          </a:xfrm>
          <a:prstGeom prst="rect">
            <a:avLst/>
          </a:prstGeom>
          <a:noFill/>
          <a:ln/>
        </p:spPr>
        <p:txBody>
          <a:bodyPr wrap="square" lIns="0" tIns="0" rIns="0" bIns="0" rtlCol="0" anchor="ctr"/>
          <a:lstStyle/>
          <a:p>
            <a:pPr indent="0" marL="0">
              <a:buNone/>
            </a:pPr>
            <a:r>
              <a:rPr lang="en-US" sz="3600" b="1" dirty="0">
                <a:solidFill>
                  <a:srgbClr val="E8820C"/>
                </a:solidFill>
                <a:latin typeface="Arial" pitchFamily="34" charset="0"/>
                <a:ea typeface="Arial" pitchFamily="34" charset="-122"/>
                <a:cs typeface="Arial" pitchFamily="34" charset="-120"/>
              </a:rPr>
              <a:t>S</a:t>
            </a:r>
            <a:endParaRPr lang="en-US" sz="3600" dirty="0"/>
          </a:p>
        </p:txBody>
      </p:sp>
      <p:sp>
        <p:nvSpPr>
          <p:cNvPr id="21" name="Text 18"/>
          <p:cNvSpPr txBox="1"/>
          <p:nvPr/>
        </p:nvSpPr>
        <p:spPr>
          <a:xfrm>
            <a:off x="1280160" y="2971800"/>
            <a:ext cx="1051560" cy="822960"/>
          </a:xfrm>
          <a:prstGeom prst="rect">
            <a:avLst/>
          </a:prstGeom>
          <a:noFill/>
          <a:ln/>
        </p:spPr>
        <p:txBody>
          <a:bodyPr wrap="square" lIns="0" tIns="0" rIns="0" bIns="0" rtlCol="0" anchor="ctr"/>
          <a:lstStyle/>
          <a:p>
            <a:pPr indent="0" marL="0">
              <a:buNone/>
            </a:pPr>
            <a:r>
              <a:rPr lang="en-US" sz="2200" b="1" dirty="0">
                <a:solidFill>
                  <a:srgbClr val="12213A"/>
                </a:solidFill>
                <a:latin typeface="Courier New" pitchFamily="34" charset="0"/>
                <a:ea typeface="Courier New" pitchFamily="34" charset="-122"/>
                <a:cs typeface="Courier New" pitchFamily="34" charset="-120"/>
              </a:rPr>
              <a:t>...</a:t>
            </a:r>
            <a:endParaRPr lang="en-US" sz="2200" dirty="0"/>
          </a:p>
        </p:txBody>
      </p:sp>
      <p:sp>
        <p:nvSpPr>
          <p:cNvPr id="22" name="Shape 19"/>
          <p:cNvSpPr/>
          <p:nvPr/>
        </p:nvSpPr>
        <p:spPr>
          <a:xfrm>
            <a:off x="2514600" y="2834640"/>
            <a:ext cx="1828800" cy="1097280"/>
          </a:xfrm>
          <a:prstGeom prst="roundRect">
            <a:avLst>
              <a:gd name="adj" fmla="val 8333"/>
            </a:avLst>
          </a:prstGeom>
          <a:solidFill>
            <a:srgbClr val="F1F5FB"/>
          </a:solidFill>
          <a:ln/>
        </p:spPr>
      </p:sp>
      <p:sp>
        <p:nvSpPr>
          <p:cNvPr id="23" name="Text 20"/>
          <p:cNvSpPr txBox="1"/>
          <p:nvPr/>
        </p:nvSpPr>
        <p:spPr>
          <a:xfrm>
            <a:off x="2697480" y="2971800"/>
            <a:ext cx="548640" cy="822960"/>
          </a:xfrm>
          <a:prstGeom prst="rect">
            <a:avLst/>
          </a:prstGeom>
          <a:noFill/>
          <a:ln/>
        </p:spPr>
        <p:txBody>
          <a:bodyPr wrap="square" lIns="0" tIns="0" rIns="0" bIns="0" rtlCol="0" anchor="ctr"/>
          <a:lstStyle/>
          <a:p>
            <a:pPr indent="0" marL="0">
              <a:buNone/>
            </a:pPr>
            <a:r>
              <a:rPr lang="en-US" sz="3600" b="1" dirty="0">
                <a:solidFill>
                  <a:srgbClr val="E8820C"/>
                </a:solidFill>
                <a:latin typeface="Arial" pitchFamily="34" charset="0"/>
                <a:ea typeface="Arial" pitchFamily="34" charset="-122"/>
                <a:cs typeface="Arial" pitchFamily="34" charset="-120"/>
              </a:rPr>
              <a:t>T</a:t>
            </a:r>
            <a:endParaRPr lang="en-US" sz="3600" dirty="0"/>
          </a:p>
        </p:txBody>
      </p:sp>
      <p:sp>
        <p:nvSpPr>
          <p:cNvPr id="24" name="Text 21"/>
          <p:cNvSpPr txBox="1"/>
          <p:nvPr/>
        </p:nvSpPr>
        <p:spPr>
          <a:xfrm>
            <a:off x="3246120" y="2971800"/>
            <a:ext cx="1051560" cy="822960"/>
          </a:xfrm>
          <a:prstGeom prst="rect">
            <a:avLst/>
          </a:prstGeom>
          <a:noFill/>
          <a:ln/>
        </p:spPr>
        <p:txBody>
          <a:bodyPr wrap="square" lIns="0" tIns="0" rIns="0" bIns="0" rtlCol="0" anchor="ctr"/>
          <a:lstStyle/>
          <a:p>
            <a:pPr indent="0" marL="0">
              <a:buNone/>
            </a:pPr>
            <a:r>
              <a:rPr lang="en-US" sz="2200" b="1" dirty="0">
                <a:solidFill>
                  <a:srgbClr val="12213A"/>
                </a:solidFill>
                <a:latin typeface="Courier New" pitchFamily="34" charset="0"/>
                <a:ea typeface="Courier New" pitchFamily="34" charset="-122"/>
                <a:cs typeface="Courier New" pitchFamily="34" charset="-120"/>
              </a:rPr>
              <a:t>-</a:t>
            </a:r>
            <a:endParaRPr lang="en-US" sz="2200" dirty="0"/>
          </a:p>
        </p:txBody>
      </p:sp>
      <p:sp>
        <p:nvSpPr>
          <p:cNvPr id="25" name="Shape 22"/>
          <p:cNvSpPr/>
          <p:nvPr/>
        </p:nvSpPr>
        <p:spPr>
          <a:xfrm>
            <a:off x="4480560" y="2834640"/>
            <a:ext cx="1828800" cy="1097280"/>
          </a:xfrm>
          <a:prstGeom prst="roundRect">
            <a:avLst>
              <a:gd name="adj" fmla="val 8333"/>
            </a:avLst>
          </a:prstGeom>
          <a:solidFill>
            <a:srgbClr val="F1F5FB"/>
          </a:solidFill>
          <a:ln/>
        </p:spPr>
      </p:sp>
      <p:sp>
        <p:nvSpPr>
          <p:cNvPr id="26" name="Text 23"/>
          <p:cNvSpPr txBox="1"/>
          <p:nvPr/>
        </p:nvSpPr>
        <p:spPr>
          <a:xfrm>
            <a:off x="4663440" y="2971800"/>
            <a:ext cx="548640" cy="822960"/>
          </a:xfrm>
          <a:prstGeom prst="rect">
            <a:avLst/>
          </a:prstGeom>
          <a:noFill/>
          <a:ln/>
        </p:spPr>
        <p:txBody>
          <a:bodyPr wrap="square" lIns="0" tIns="0" rIns="0" bIns="0" rtlCol="0" anchor="ctr"/>
          <a:lstStyle/>
          <a:p>
            <a:pPr indent="0" marL="0">
              <a:buNone/>
            </a:pPr>
            <a:r>
              <a:rPr lang="en-US" sz="3600" b="1" dirty="0">
                <a:solidFill>
                  <a:srgbClr val="E8820C"/>
                </a:solidFill>
                <a:latin typeface="Arial" pitchFamily="34" charset="0"/>
                <a:ea typeface="Arial" pitchFamily="34" charset="-122"/>
                <a:cs typeface="Arial" pitchFamily="34" charset="-120"/>
              </a:rPr>
              <a:t>1</a:t>
            </a:r>
            <a:endParaRPr lang="en-US" sz="3600" dirty="0"/>
          </a:p>
        </p:txBody>
      </p:sp>
      <p:sp>
        <p:nvSpPr>
          <p:cNvPr id="27" name="Text 24"/>
          <p:cNvSpPr txBox="1"/>
          <p:nvPr/>
        </p:nvSpPr>
        <p:spPr>
          <a:xfrm>
            <a:off x="5212080" y="2971800"/>
            <a:ext cx="1051560" cy="822960"/>
          </a:xfrm>
          <a:prstGeom prst="rect">
            <a:avLst/>
          </a:prstGeom>
          <a:noFill/>
          <a:ln/>
        </p:spPr>
        <p:txBody>
          <a:bodyPr wrap="square" lIns="0" tIns="0" rIns="0" bIns="0" rtlCol="0" anchor="ctr"/>
          <a:lstStyle/>
          <a:p>
            <a:pPr indent="0" marL="0">
              <a:buNone/>
            </a:pPr>
            <a:r>
              <a:rPr lang="en-US" sz="2200" b="1" dirty="0">
                <a:solidFill>
                  <a:srgbClr val="12213A"/>
                </a:solidFill>
                <a:latin typeface="Courier New" pitchFamily="34" charset="0"/>
                <a:ea typeface="Courier New" pitchFamily="34" charset="-122"/>
                <a:cs typeface="Courier New" pitchFamily="34" charset="-120"/>
              </a:rPr>
              <a:t>.----</a:t>
            </a:r>
            <a:endParaRPr lang="en-US" sz="2200" dirty="0"/>
          </a:p>
        </p:txBody>
      </p:sp>
      <p:sp>
        <p:nvSpPr>
          <p:cNvPr id="28" name="Shape 25"/>
          <p:cNvSpPr/>
          <p:nvPr/>
        </p:nvSpPr>
        <p:spPr>
          <a:xfrm>
            <a:off x="548640" y="4206240"/>
            <a:ext cx="2194560" cy="457200"/>
          </a:xfrm>
          <a:prstGeom prst="roundRect">
            <a:avLst>
              <a:gd name="adj" fmla="val 16000"/>
            </a:avLst>
          </a:prstGeom>
          <a:solidFill>
            <a:srgbClr val="0E1726"/>
          </a:solidFill>
          <a:ln/>
        </p:spPr>
      </p:sp>
      <p:sp>
        <p:nvSpPr>
          <p:cNvPr id="29" name="Text 26"/>
          <p:cNvSpPr txBox="1"/>
          <p:nvPr/>
        </p:nvSpPr>
        <p:spPr>
          <a:xfrm>
            <a:off x="548640" y="420624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morse FILE</a:t>
            </a:r>
            <a:endParaRPr lang="en-US" sz="1500" dirty="0"/>
          </a:p>
        </p:txBody>
      </p:sp>
      <p:sp>
        <p:nvSpPr>
          <p:cNvPr id="30" name="Text 27"/>
          <p:cNvSpPr txBox="1"/>
          <p:nvPr/>
        </p:nvSpPr>
        <p:spPr>
          <a:xfrm>
            <a:off x="2971800" y="4206240"/>
            <a:ext cx="333756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decode Morse code</a:t>
            </a:r>
            <a:endParaRPr lang="en-US" sz="1700" dirty="0"/>
          </a:p>
        </p:txBody>
      </p:sp>
      <p:sp>
        <p:nvSpPr>
          <p:cNvPr id="31" name="Shape 28"/>
          <p:cNvSpPr/>
          <p:nvPr/>
        </p:nvSpPr>
        <p:spPr>
          <a:xfrm>
            <a:off x="548640" y="4800600"/>
            <a:ext cx="2194560" cy="457200"/>
          </a:xfrm>
          <a:prstGeom prst="roundRect">
            <a:avLst>
              <a:gd name="adj" fmla="val 16000"/>
            </a:avLst>
          </a:prstGeom>
          <a:solidFill>
            <a:srgbClr val="0E1726"/>
          </a:solidFill>
          <a:ln/>
        </p:spPr>
      </p:sp>
      <p:sp>
        <p:nvSpPr>
          <p:cNvPr id="32" name="Text 29"/>
          <p:cNvSpPr txBox="1"/>
          <p:nvPr/>
        </p:nvSpPr>
        <p:spPr>
          <a:xfrm>
            <a:off x="548640" y="480060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morse -e</a:t>
            </a:r>
            <a:endParaRPr lang="en-US" sz="1500" dirty="0"/>
          </a:p>
        </p:txBody>
      </p:sp>
      <p:sp>
        <p:nvSpPr>
          <p:cNvPr id="33" name="Text 30"/>
          <p:cNvSpPr txBox="1"/>
          <p:nvPr/>
        </p:nvSpPr>
        <p:spPr>
          <a:xfrm>
            <a:off x="2971800" y="4800600"/>
            <a:ext cx="333756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encode text as Morse</a:t>
            </a:r>
            <a:endParaRPr lang="en-US" sz="1700" dirty="0"/>
          </a:p>
        </p:txBody>
      </p:sp>
      <p:sp>
        <p:nvSpPr>
          <p:cNvPr id="34" name="Text 31"/>
          <p:cNvSpPr txBox="1"/>
          <p:nvPr/>
        </p:nvSpPr>
        <p:spPr>
          <a:xfrm>
            <a:off x="548640" y="5440680"/>
            <a:ext cx="5760720" cy="365760"/>
          </a:xfrm>
          <a:prstGeom prst="rect">
            <a:avLst/>
          </a:prstGeom>
          <a:noFill/>
          <a:ln/>
        </p:spPr>
        <p:txBody>
          <a:bodyPr wrap="square" lIns="0" tIns="0" rIns="0" bIns="0" rtlCol="0" anchor="t"/>
          <a:lstStyle/>
          <a:p>
            <a:pPr indent="0" marL="0">
              <a:buNone/>
            </a:pPr>
            <a:r>
              <a:rPr lang="en-US" sz="1400" dirty="0">
                <a:solidFill>
                  <a:srgbClr val="56657E"/>
                </a:solidFill>
                <a:latin typeface="Calibri" pitchFamily="34" charset="0"/>
                <a:ea typeface="Calibri" pitchFamily="34" charset="-122"/>
                <a:cs typeface="Calibri" pitchFamily="34" charset="-120"/>
              </a:rPr>
              <a:t>Space between letters, / between words.</a:t>
            </a:r>
            <a:endParaRPr lang="en-US" sz="1400" dirty="0"/>
          </a:p>
        </p:txBody>
      </p:sp>
      <p:sp>
        <p:nvSpPr>
          <p:cNvPr id="35" name="Shape 32"/>
          <p:cNvSpPr/>
          <p:nvPr/>
        </p:nvSpPr>
        <p:spPr>
          <a:xfrm>
            <a:off x="6583680" y="1463040"/>
            <a:ext cx="50566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36" name="Shape 33"/>
          <p:cNvSpPr/>
          <p:nvPr/>
        </p:nvSpPr>
        <p:spPr>
          <a:xfrm>
            <a:off x="6784848" y="1618488"/>
            <a:ext cx="118872" cy="118872"/>
          </a:xfrm>
          <a:prstGeom prst="ellipse">
            <a:avLst/>
          </a:prstGeom>
          <a:solidFill>
            <a:srgbClr val="E5534B"/>
          </a:solidFill>
          <a:ln/>
        </p:spPr>
      </p:sp>
      <p:sp>
        <p:nvSpPr>
          <p:cNvPr id="37" name="Shape 34"/>
          <p:cNvSpPr/>
          <p:nvPr/>
        </p:nvSpPr>
        <p:spPr>
          <a:xfrm>
            <a:off x="6986016" y="1618488"/>
            <a:ext cx="118872" cy="118872"/>
          </a:xfrm>
          <a:prstGeom prst="ellipse">
            <a:avLst/>
          </a:prstGeom>
          <a:solidFill>
            <a:srgbClr val="F5A623"/>
          </a:solidFill>
          <a:ln/>
        </p:spPr>
      </p:sp>
      <p:sp>
        <p:nvSpPr>
          <p:cNvPr id="38" name="Shape 35"/>
          <p:cNvSpPr/>
          <p:nvPr/>
        </p:nvSpPr>
        <p:spPr>
          <a:xfrm>
            <a:off x="7187184" y="1618488"/>
            <a:ext cx="118872" cy="118872"/>
          </a:xfrm>
          <a:prstGeom prst="ellipse">
            <a:avLst/>
          </a:prstGeom>
          <a:solidFill>
            <a:srgbClr val="46D39A"/>
          </a:solidFill>
          <a:ln/>
        </p:spPr>
      </p:sp>
      <p:sp>
        <p:nvSpPr>
          <p:cNvPr id="39" name="Text 36"/>
          <p:cNvSpPr txBox="1"/>
          <p:nvPr/>
        </p:nvSpPr>
        <p:spPr>
          <a:xfrm>
            <a:off x="7498080" y="1536192"/>
            <a:ext cx="32278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40" name="Text 37"/>
          <p:cNvSpPr txBox="1"/>
          <p:nvPr/>
        </p:nvSpPr>
        <p:spPr>
          <a:xfrm>
            <a:off x="6858000" y="1920240"/>
            <a:ext cx="4507992" cy="3886200"/>
          </a:xfrm>
          <a:prstGeom prst="rect">
            <a:avLst/>
          </a:prstGeom>
          <a:noFill/>
          <a:ln/>
        </p:spPr>
        <p:txBody>
          <a:bodyPr wrap="square" lIns="0" tIns="0" rIns="0" bIns="0" rtlCol="0" anchor="t"/>
          <a:lstStyle/>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SOS | morse -e</a:t>
            </a:r>
            <a:endParaRPr lang="en-US" sz="1500" dirty="0"/>
          </a:p>
          <a:p>
            <a:pPr indent="0" marL="0">
              <a:spcAft>
                <a:spcPts val="200"/>
              </a:spcAft>
              <a:buNone/>
            </a:pPr>
            <a:r>
              <a:rPr lang="en-US" sz="1500" b="1" dirty="0">
                <a:solidFill>
                  <a:srgbClr val="F5A623"/>
                </a:solidFill>
                <a:latin typeface="Courier New" pitchFamily="34" charset="0"/>
                <a:ea typeface="Courier New" pitchFamily="34" charset="-122"/>
                <a:cs typeface="Courier New" pitchFamily="34" charset="-120"/>
              </a:rPr>
              <a:t>... --- ...</a:t>
            </a:r>
            <a:endParaRPr lang="en-US" sz="1500" dirty="0"/>
          </a:p>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 ..' | morse</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HI</a:t>
            </a:r>
            <a:endParaRPr lang="en-US" sz="1500" dirty="0"/>
          </a:p>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morse --help</a:t>
            </a:r>
            <a:endParaRPr lang="en-US" sz="1500" dirty="0"/>
          </a:p>
          <a:p>
            <a:pPr indent="0" marL="0">
              <a:spcAft>
                <a:spcPts val="200"/>
              </a:spcAft>
              <a:buNone/>
            </a:pPr>
            <a:r>
              <a:rPr lang="en-US" sz="1500" dirty="0">
                <a:solidFill>
                  <a:srgbClr val="7F8FAD"/>
                </a:solidFill>
                <a:latin typeface="Courier New" pitchFamily="34" charset="0"/>
                <a:ea typeface="Courier New" pitchFamily="34" charset="-122"/>
                <a:cs typeface="Courier New" pitchFamily="34" charset="-120"/>
              </a:rPr>
              <a:t># every tool explains itself</a:t>
            </a:r>
            <a:endParaRPr lang="en-US" sz="1500" dirty="0"/>
          </a:p>
        </p:txBody>
      </p:sp>
      <p:sp>
        <p:nvSpPr>
          <p:cNvPr id="41" name="Text 38"/>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17 / 61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Hashes: one-way fingerprints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echo hello | sha256sum</a:t>
            </a:r>
            <a:endParaRPr lang="en-US" sz="1300" dirty="0"/>
          </a:p>
        </p:txBody>
      </p:sp>
      <p:sp>
        <p:nvSpPr>
          <p:cNvPr id="8" name="Shape 5"/>
          <p:cNvSpPr/>
          <p:nvPr/>
        </p:nvSpPr>
        <p:spPr>
          <a:xfrm>
            <a:off x="548640" y="109728"/>
            <a:ext cx="1879092" cy="274320"/>
          </a:xfrm>
          <a:prstGeom prst="roundRect">
            <a:avLst>
              <a:gd name="adj" fmla="val 50000"/>
            </a:avLst>
          </a:prstGeom>
          <a:solidFill>
            <a:srgbClr val="C9A227"/>
          </a:solidFill>
          <a:ln/>
        </p:spPr>
      </p:sp>
      <p:sp>
        <p:nvSpPr>
          <p:cNvPr id="9" name="Text 6"/>
          <p:cNvSpPr txBox="1"/>
          <p:nvPr/>
        </p:nvSpPr>
        <p:spPr>
          <a:xfrm>
            <a:off x="548640" y="109728"/>
            <a:ext cx="1879092"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missions 7 &amp; 10</a:t>
            </a:r>
            <a:endParaRPr lang="en-US" sz="1100" dirty="0"/>
          </a:p>
        </p:txBody>
      </p:sp>
      <p:sp>
        <p:nvSpPr>
          <p:cNvPr id="10" name="Shape 7"/>
          <p:cNvSpPr/>
          <p:nvPr/>
        </p:nvSpPr>
        <p:spPr>
          <a:xfrm>
            <a:off x="548640" y="1600200"/>
            <a:ext cx="2194560" cy="457200"/>
          </a:xfrm>
          <a:prstGeom prst="roundRect">
            <a:avLst>
              <a:gd name="adj" fmla="val 16000"/>
            </a:avLst>
          </a:prstGeom>
          <a:solidFill>
            <a:srgbClr val="0E1726"/>
          </a:solidFill>
          <a:ln/>
        </p:spPr>
      </p:sp>
      <p:sp>
        <p:nvSpPr>
          <p:cNvPr id="11" name="Text 8"/>
          <p:cNvSpPr txBox="1"/>
          <p:nvPr/>
        </p:nvSpPr>
        <p:spPr>
          <a:xfrm>
            <a:off x="548640" y="160020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sha256sum</a:t>
            </a:r>
            <a:endParaRPr lang="en-US" sz="1500" dirty="0"/>
          </a:p>
        </p:txBody>
      </p:sp>
      <p:sp>
        <p:nvSpPr>
          <p:cNvPr id="12" name="Text 9"/>
          <p:cNvSpPr txBox="1"/>
          <p:nvPr/>
        </p:nvSpPr>
        <p:spPr>
          <a:xfrm>
            <a:off x="2971800" y="160020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fingerprint a file or text</a:t>
            </a:r>
            <a:endParaRPr lang="en-US" sz="1700" dirty="0"/>
          </a:p>
        </p:txBody>
      </p:sp>
      <p:sp>
        <p:nvSpPr>
          <p:cNvPr id="13" name="Shape 10"/>
          <p:cNvSpPr/>
          <p:nvPr/>
        </p:nvSpPr>
        <p:spPr>
          <a:xfrm>
            <a:off x="548640" y="2194560"/>
            <a:ext cx="2194560" cy="457200"/>
          </a:xfrm>
          <a:prstGeom prst="roundRect">
            <a:avLst>
              <a:gd name="adj" fmla="val 16000"/>
            </a:avLst>
          </a:prstGeom>
          <a:solidFill>
            <a:srgbClr val="0E1726"/>
          </a:solidFill>
          <a:ln/>
        </p:spPr>
      </p:sp>
      <p:sp>
        <p:nvSpPr>
          <p:cNvPr id="14" name="Text 11"/>
          <p:cNvSpPr txBox="1"/>
          <p:nvPr/>
        </p:nvSpPr>
        <p:spPr>
          <a:xfrm>
            <a:off x="548640" y="219456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hashlines</a:t>
            </a:r>
            <a:endParaRPr lang="en-US" sz="1500" dirty="0"/>
          </a:p>
        </p:txBody>
      </p:sp>
      <p:sp>
        <p:nvSpPr>
          <p:cNvPr id="15" name="Text 12"/>
          <p:cNvSpPr txBox="1"/>
          <p:nvPr/>
        </p:nvSpPr>
        <p:spPr>
          <a:xfrm>
            <a:off x="2971800" y="219456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fingerprint every line of a file</a:t>
            </a:r>
            <a:endParaRPr lang="en-US" sz="1700" dirty="0"/>
          </a:p>
        </p:txBody>
      </p:sp>
      <p:sp>
        <p:nvSpPr>
          <p:cNvPr id="16" name="Shape 13"/>
          <p:cNvSpPr/>
          <p:nvPr/>
        </p:nvSpPr>
        <p:spPr>
          <a:xfrm>
            <a:off x="548640" y="2788920"/>
            <a:ext cx="2194560" cy="457200"/>
          </a:xfrm>
          <a:prstGeom prst="roundRect">
            <a:avLst>
              <a:gd name="adj" fmla="val 16000"/>
            </a:avLst>
          </a:prstGeom>
          <a:solidFill>
            <a:srgbClr val="0E1726"/>
          </a:solidFill>
          <a:ln/>
        </p:spPr>
      </p:sp>
      <p:sp>
        <p:nvSpPr>
          <p:cNvPr id="17" name="Text 14"/>
          <p:cNvSpPr txBox="1"/>
          <p:nvPr/>
        </p:nvSpPr>
        <p:spPr>
          <a:xfrm>
            <a:off x="548640" y="278892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 grep 2cf2</a:t>
            </a:r>
            <a:endParaRPr lang="en-US" sz="1500" dirty="0"/>
          </a:p>
        </p:txBody>
      </p:sp>
      <p:sp>
        <p:nvSpPr>
          <p:cNvPr id="18" name="Text 15"/>
          <p:cNvSpPr txBox="1"/>
          <p:nvPr/>
        </p:nvSpPr>
        <p:spPr>
          <a:xfrm>
            <a:off x="2971800" y="278892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find the matching fingerprint</a:t>
            </a:r>
            <a:endParaRPr lang="en-US" sz="1700" dirty="0"/>
          </a:p>
        </p:txBody>
      </p:sp>
      <p:sp>
        <p:nvSpPr>
          <p:cNvPr id="19" name="Shape 16"/>
          <p:cNvSpPr/>
          <p:nvPr/>
        </p:nvSpPr>
        <p:spPr>
          <a:xfrm>
            <a:off x="548640" y="3566160"/>
            <a:ext cx="5669280" cy="2377440"/>
          </a:xfrm>
          <a:prstGeom prst="roundRect">
            <a:avLst>
              <a:gd name="adj" fmla="val 3846"/>
            </a:avLst>
          </a:prstGeom>
          <a:solidFill>
            <a:srgbClr val="FFF4DC"/>
          </a:solidFill>
          <a:ln/>
        </p:spPr>
      </p:sp>
      <p:sp>
        <p:nvSpPr>
          <p:cNvPr id="20" name="Text 17"/>
          <p:cNvSpPr txBox="1"/>
          <p:nvPr/>
        </p:nvSpPr>
        <p:spPr>
          <a:xfrm>
            <a:off x="822960" y="3703320"/>
            <a:ext cx="5120640" cy="36576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A wordlist attack</a:t>
            </a:r>
            <a:endParaRPr lang="en-US" sz="1700" dirty="0"/>
          </a:p>
        </p:txBody>
      </p:sp>
      <p:sp>
        <p:nvSpPr>
          <p:cNvPr id="21" name="Shape 18"/>
          <p:cNvSpPr/>
          <p:nvPr/>
        </p:nvSpPr>
        <p:spPr>
          <a:xfrm>
            <a:off x="822960" y="4206240"/>
            <a:ext cx="457200" cy="457200"/>
          </a:xfrm>
          <a:prstGeom prst="ellipse">
            <a:avLst/>
          </a:prstGeom>
          <a:solidFill>
            <a:srgbClr val="C9A227"/>
          </a:solidFill>
          <a:ln/>
        </p:spPr>
      </p:sp>
      <p:sp>
        <p:nvSpPr>
          <p:cNvPr id="22" name="Text 19"/>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3" name="Text 20"/>
          <p:cNvSpPr txBox="1"/>
          <p:nvPr/>
        </p:nvSpPr>
        <p:spPr>
          <a:xfrm>
            <a:off x="1463040" y="4178808"/>
            <a:ext cx="4480560" cy="457200"/>
          </a:xfrm>
          <a:prstGeom prst="rect">
            <a:avLst/>
          </a:prstGeom>
          <a:noFill/>
          <a:ln/>
        </p:spPr>
        <p:txBody>
          <a:bodyPr wrap="square" lIns="0" tIns="0" rIns="0" bIns="0" rtlCol="0" anchor="t"/>
          <a:lstStyle/>
          <a:p>
            <a:pPr indent="0" marL="0">
              <a:buNone/>
            </a:pPr>
            <a:r>
              <a:rPr lang="en-US" sz="1500" dirty="0">
                <a:solidFill>
                  <a:srgbClr val="12213A"/>
                </a:solidFill>
                <a:latin typeface="Calibri" pitchFamily="34" charset="0"/>
                <a:ea typeface="Calibri" pitchFamily="34" charset="-122"/>
                <a:cs typeface="Calibri" pitchFamily="34" charset="-120"/>
              </a:rPr>
              <a:t>Hash every guess in the list.</a:t>
            </a:r>
            <a:endParaRPr lang="en-US" sz="1500" dirty="0"/>
          </a:p>
        </p:txBody>
      </p:sp>
      <p:sp>
        <p:nvSpPr>
          <p:cNvPr id="24" name="Shape 21"/>
          <p:cNvSpPr/>
          <p:nvPr/>
        </p:nvSpPr>
        <p:spPr>
          <a:xfrm>
            <a:off x="822960" y="4754880"/>
            <a:ext cx="457200" cy="457200"/>
          </a:xfrm>
          <a:prstGeom prst="ellipse">
            <a:avLst/>
          </a:prstGeom>
          <a:solidFill>
            <a:srgbClr val="C9A227"/>
          </a:solidFill>
          <a:ln/>
        </p:spPr>
      </p:sp>
      <p:sp>
        <p:nvSpPr>
          <p:cNvPr id="25" name="Text 22"/>
          <p:cNvSpPr txBox="1"/>
          <p:nvPr/>
        </p:nvSpPr>
        <p:spPr>
          <a:xfrm>
            <a:off x="822960" y="4754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6" name="Text 23"/>
          <p:cNvSpPr txBox="1"/>
          <p:nvPr/>
        </p:nvSpPr>
        <p:spPr>
          <a:xfrm>
            <a:off x="1463040" y="4727448"/>
            <a:ext cx="4480560" cy="457200"/>
          </a:xfrm>
          <a:prstGeom prst="rect">
            <a:avLst/>
          </a:prstGeom>
          <a:noFill/>
          <a:ln/>
        </p:spPr>
        <p:txBody>
          <a:bodyPr wrap="square" lIns="0" tIns="0" rIns="0" bIns="0" rtlCol="0" anchor="t"/>
          <a:lstStyle/>
          <a:p>
            <a:pPr indent="0" marL="0">
              <a:buNone/>
            </a:pPr>
            <a:r>
              <a:rPr lang="en-US" sz="1500" dirty="0">
                <a:solidFill>
                  <a:srgbClr val="12213A"/>
                </a:solidFill>
                <a:latin typeface="Calibri" pitchFamily="34" charset="0"/>
                <a:ea typeface="Calibri" pitchFamily="34" charset="-122"/>
                <a:cs typeface="Calibri" pitchFamily="34" charset="-120"/>
              </a:rPr>
              <a:t>Compare each hash with the target.</a:t>
            </a:r>
            <a:endParaRPr lang="en-US" sz="1500" dirty="0"/>
          </a:p>
        </p:txBody>
      </p:sp>
      <p:sp>
        <p:nvSpPr>
          <p:cNvPr id="27" name="Shape 24"/>
          <p:cNvSpPr/>
          <p:nvPr/>
        </p:nvSpPr>
        <p:spPr>
          <a:xfrm>
            <a:off x="822960" y="5303520"/>
            <a:ext cx="457200" cy="457200"/>
          </a:xfrm>
          <a:prstGeom prst="ellipse">
            <a:avLst/>
          </a:prstGeom>
          <a:solidFill>
            <a:srgbClr val="C9A227"/>
          </a:solidFill>
          <a:ln/>
        </p:spPr>
      </p:sp>
      <p:sp>
        <p:nvSpPr>
          <p:cNvPr id="28" name="Text 25"/>
          <p:cNvSpPr txBox="1"/>
          <p:nvPr/>
        </p:nvSpPr>
        <p:spPr>
          <a:xfrm>
            <a:off x="822960" y="5303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9" name="Text 26"/>
          <p:cNvSpPr txBox="1"/>
          <p:nvPr/>
        </p:nvSpPr>
        <p:spPr>
          <a:xfrm>
            <a:off x="1463040" y="5276088"/>
            <a:ext cx="4480560" cy="457200"/>
          </a:xfrm>
          <a:prstGeom prst="rect">
            <a:avLst/>
          </a:prstGeom>
          <a:noFill/>
          <a:ln/>
        </p:spPr>
        <p:txBody>
          <a:bodyPr wrap="square" lIns="0" tIns="0" rIns="0" bIns="0" rtlCol="0" anchor="t"/>
          <a:lstStyle/>
          <a:p>
            <a:pPr indent="0" marL="0">
              <a:buNone/>
            </a:pPr>
            <a:r>
              <a:rPr lang="en-US" sz="1500" dirty="0">
                <a:solidFill>
                  <a:srgbClr val="12213A"/>
                </a:solidFill>
                <a:latin typeface="Calibri" pitchFamily="34" charset="0"/>
                <a:ea typeface="Calibri" pitchFamily="34" charset="-122"/>
                <a:cs typeface="Calibri" pitchFamily="34" charset="-120"/>
              </a:rPr>
              <a:t>The match is the original text.</a:t>
            </a:r>
            <a:endParaRPr lang="en-US" sz="1500" dirty="0"/>
          </a:p>
        </p:txBody>
      </p:sp>
      <p:sp>
        <p:nvSpPr>
          <p:cNvPr id="30" name="Shape 27"/>
          <p:cNvSpPr/>
          <p:nvPr/>
        </p:nvSpPr>
        <p:spPr>
          <a:xfrm>
            <a:off x="6583680" y="1463040"/>
            <a:ext cx="50566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31" name="Shape 28"/>
          <p:cNvSpPr/>
          <p:nvPr/>
        </p:nvSpPr>
        <p:spPr>
          <a:xfrm>
            <a:off x="6784848" y="1618488"/>
            <a:ext cx="118872" cy="118872"/>
          </a:xfrm>
          <a:prstGeom prst="ellipse">
            <a:avLst/>
          </a:prstGeom>
          <a:solidFill>
            <a:srgbClr val="E5534B"/>
          </a:solidFill>
          <a:ln/>
        </p:spPr>
      </p:sp>
      <p:sp>
        <p:nvSpPr>
          <p:cNvPr id="32" name="Shape 29"/>
          <p:cNvSpPr/>
          <p:nvPr/>
        </p:nvSpPr>
        <p:spPr>
          <a:xfrm>
            <a:off x="6986016" y="1618488"/>
            <a:ext cx="118872" cy="118872"/>
          </a:xfrm>
          <a:prstGeom prst="ellipse">
            <a:avLst/>
          </a:prstGeom>
          <a:solidFill>
            <a:srgbClr val="F5A623"/>
          </a:solidFill>
          <a:ln/>
        </p:spPr>
      </p:sp>
      <p:sp>
        <p:nvSpPr>
          <p:cNvPr id="33" name="Shape 30"/>
          <p:cNvSpPr/>
          <p:nvPr/>
        </p:nvSpPr>
        <p:spPr>
          <a:xfrm>
            <a:off x="7187184" y="1618488"/>
            <a:ext cx="118872" cy="118872"/>
          </a:xfrm>
          <a:prstGeom prst="ellipse">
            <a:avLst/>
          </a:prstGeom>
          <a:solidFill>
            <a:srgbClr val="46D39A"/>
          </a:solidFill>
          <a:ln/>
        </p:spPr>
      </p:sp>
      <p:sp>
        <p:nvSpPr>
          <p:cNvPr id="34" name="Text 31"/>
          <p:cNvSpPr txBox="1"/>
          <p:nvPr/>
        </p:nvSpPr>
        <p:spPr>
          <a:xfrm>
            <a:off x="7498080" y="1536192"/>
            <a:ext cx="32278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6858000" y="1920240"/>
            <a:ext cx="4507992" cy="3886200"/>
          </a:xfrm>
          <a:prstGeom prst="rect">
            <a:avLst/>
          </a:prstGeom>
          <a:noFill/>
          <a:ln/>
        </p:spPr>
        <p:txBody>
          <a:bodyPr wrap="square" lIns="0" tIns="0" rIns="0" bIns="0" rtlCol="0" anchor="t"/>
          <a:lstStyle/>
          <a:p>
            <a:pPr indent="0" marL="0">
              <a:spcAft>
                <a:spcPts val="200"/>
              </a:spcAft>
              <a:buNone/>
            </a:pPr>
            <a:r>
              <a:rPr lang="en-US" sz="13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50" b="1" dirty="0">
                <a:solidFill>
                  <a:srgbClr val="FFFFFF"/>
                </a:solidFill>
                <a:latin typeface="Courier New" pitchFamily="34" charset="0"/>
                <a:ea typeface="Courier New" pitchFamily="34" charset="-122"/>
                <a:cs typeface="Courier New" pitchFamily="34" charset="-120"/>
              </a:rPr>
              <a:t>echo hello | sha256sum</a:t>
            </a:r>
            <a:endParaRPr lang="en-US" sz="1350" dirty="0"/>
          </a:p>
          <a:p>
            <a:pPr indent="0" marL="0">
              <a:spcAft>
                <a:spcPts val="200"/>
              </a:spcAft>
              <a:buNone/>
            </a:pPr>
            <a:r>
              <a:rPr lang="en-US" sz="1350" dirty="0">
                <a:solidFill>
                  <a:srgbClr val="B8C4D9"/>
                </a:solidFill>
                <a:latin typeface="Courier New" pitchFamily="34" charset="0"/>
                <a:ea typeface="Courier New" pitchFamily="34" charset="-122"/>
                <a:cs typeface="Courier New" pitchFamily="34" charset="-120"/>
              </a:rPr>
              <a:t>5891b5b522d5df08...  -</a:t>
            </a:r>
            <a:endParaRPr lang="en-US" sz="1350" dirty="0"/>
          </a:p>
          <a:p>
            <a:pPr indent="0" marL="0">
              <a:spcAft>
                <a:spcPts val="200"/>
              </a:spcAft>
              <a:buNone/>
            </a:pPr>
            <a:r>
              <a:rPr lang="en-US" sz="13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50" b="1" dirty="0">
                <a:solidFill>
                  <a:srgbClr val="FFFFFF"/>
                </a:solidFill>
                <a:latin typeface="Courier New" pitchFamily="34" charset="0"/>
                <a:ea typeface="Courier New" pitchFamily="34" charset="-122"/>
                <a:cs typeface="Courier New" pitchFamily="34" charset="-120"/>
              </a:rPr>
              <a:t>echo Hello | sha256sum</a:t>
            </a:r>
            <a:endParaRPr lang="en-US" sz="1350" dirty="0"/>
          </a:p>
          <a:p>
            <a:pPr indent="0" marL="0">
              <a:spcAft>
                <a:spcPts val="200"/>
              </a:spcAft>
              <a:buNone/>
            </a:pPr>
            <a:r>
              <a:rPr lang="en-US" sz="1350" b="1" dirty="0">
                <a:solidFill>
                  <a:srgbClr val="F5A623"/>
                </a:solidFill>
                <a:latin typeface="Courier New" pitchFamily="34" charset="0"/>
                <a:ea typeface="Courier New" pitchFamily="34" charset="-122"/>
                <a:cs typeface="Courier New" pitchFamily="34" charset="-120"/>
              </a:rPr>
              <a:t>66a045b452102c59...  -</a:t>
            </a:r>
            <a:endParaRPr lang="en-US" sz="1350" dirty="0"/>
          </a:p>
          <a:p>
            <a:pPr indent="0" marL="0">
              <a:spcAft>
                <a:spcPts val="200"/>
              </a:spcAft>
              <a:buNone/>
            </a:pPr>
            <a:r>
              <a:rPr lang="en-US" sz="1350" dirty="0">
                <a:solidFill>
                  <a:srgbClr val="7F8FAD"/>
                </a:solidFill>
                <a:latin typeface="Courier New" pitchFamily="34" charset="0"/>
                <a:ea typeface="Courier New" pitchFamily="34" charset="-122"/>
                <a:cs typeface="Courier New" pitchFamily="34" charset="-120"/>
              </a:rPr>
              <a:t># one letter changed, every character changed</a:t>
            </a:r>
            <a:endParaRPr lang="en-US" sz="1350" dirty="0"/>
          </a:p>
          <a:p>
            <a:pPr indent="0" marL="0">
              <a:spcAft>
                <a:spcPts val="200"/>
              </a:spcAft>
              <a:buNone/>
            </a:pPr>
            <a:r>
              <a:rPr lang="en-US" sz="13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50" b="1" dirty="0">
                <a:solidFill>
                  <a:srgbClr val="FFFFFF"/>
                </a:solidFill>
                <a:latin typeface="Courier New" pitchFamily="34" charset="0"/>
                <a:ea typeface="Courier New" pitchFamily="34" charset="-122"/>
                <a:cs typeface="Courier New" pitchFamily="34" charset="-120"/>
              </a:rPr>
              <a:t>hashlines guesses.txt</a:t>
            </a:r>
            <a:endParaRPr lang="en-US" sz="1350" dirty="0"/>
          </a:p>
          <a:p>
            <a:pPr indent="0" marL="0">
              <a:spcAft>
                <a:spcPts val="200"/>
              </a:spcAft>
              <a:buNone/>
            </a:pPr>
            <a:r>
              <a:rPr lang="en-US" sz="1350" dirty="0">
                <a:solidFill>
                  <a:srgbClr val="B8C4D9"/>
                </a:solidFill>
                <a:latin typeface="Courier New" pitchFamily="34" charset="0"/>
                <a:ea typeface="Courier New" pitchFamily="34" charset="-122"/>
                <a:cs typeface="Courier New" pitchFamily="34" charset="-120"/>
              </a:rPr>
              <a:t>2cf24dba5fb0a30e...  hello</a:t>
            </a:r>
            <a:endParaRPr lang="en-US" sz="1350" dirty="0"/>
          </a:p>
          <a:p>
            <a:pPr indent="0" marL="0">
              <a:spcAft>
                <a:spcPts val="200"/>
              </a:spcAft>
              <a:buNone/>
            </a:pPr>
            <a:r>
              <a:rPr lang="en-US" sz="1350" dirty="0">
                <a:solidFill>
                  <a:srgbClr val="B8C4D9"/>
                </a:solidFill>
                <a:latin typeface="Courier New" pitchFamily="34" charset="0"/>
                <a:ea typeface="Courier New" pitchFamily="34" charset="-122"/>
                <a:cs typeface="Courier New" pitchFamily="34" charset="-120"/>
              </a:rPr>
              <a:t>486ea46224d1bb4f...  world</a:t>
            </a:r>
            <a:endParaRPr lang="en-US" sz="1350" dirty="0"/>
          </a:p>
        </p:txBody>
      </p:sp>
      <p:sp>
        <p:nvSpPr>
          <p:cNvPr id="36" name="Text 33"/>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18 / 61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XOR: the building block</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echo hi | xor -e 7</a:t>
            </a:r>
            <a:endParaRPr lang="en-US" sz="1300" dirty="0"/>
          </a:p>
        </p:txBody>
      </p:sp>
      <p:sp>
        <p:nvSpPr>
          <p:cNvPr id="8" name="Shape 5"/>
          <p:cNvSpPr/>
          <p:nvPr/>
        </p:nvSpPr>
        <p:spPr>
          <a:xfrm>
            <a:off x="548640" y="109728"/>
            <a:ext cx="1357884" cy="274320"/>
          </a:xfrm>
          <a:prstGeom prst="roundRect">
            <a:avLst>
              <a:gd name="adj" fmla="val 50000"/>
            </a:avLst>
          </a:prstGeom>
          <a:solidFill>
            <a:srgbClr val="0F9488"/>
          </a:solidFill>
          <a:ln/>
        </p:spPr>
      </p:sp>
      <p:sp>
        <p:nvSpPr>
          <p:cNvPr id="9" name="Text 6"/>
          <p:cNvSpPr txBox="1"/>
          <p:nvPr/>
        </p:nvSpPr>
        <p:spPr>
          <a:xfrm>
            <a:off x="548640" y="109728"/>
            <a:ext cx="1357884"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 8</a:t>
            </a:r>
            <a:endParaRPr lang="en-US" sz="1100" dirty="0"/>
          </a:p>
        </p:txBody>
      </p:sp>
      <p:sp>
        <p:nvSpPr>
          <p:cNvPr id="10" name="Shape 7"/>
          <p:cNvSpPr/>
          <p:nvPr/>
        </p:nvSpPr>
        <p:spPr>
          <a:xfrm>
            <a:off x="548640" y="1554480"/>
            <a:ext cx="3200400" cy="2834640"/>
          </a:xfrm>
          <a:prstGeom prst="roundRect">
            <a:avLst>
              <a:gd name="adj" fmla="val 3226"/>
            </a:avLst>
          </a:prstGeom>
          <a:solidFill>
            <a:srgbClr val="F1F5FB"/>
          </a:solidFill>
          <a:ln/>
        </p:spPr>
      </p:sp>
      <p:sp>
        <p:nvSpPr>
          <p:cNvPr id="11" name="Text 8"/>
          <p:cNvSpPr txBox="1"/>
          <p:nvPr/>
        </p:nvSpPr>
        <p:spPr>
          <a:xfrm>
            <a:off x="868680" y="1691640"/>
            <a:ext cx="822960" cy="365760"/>
          </a:xfrm>
          <a:prstGeom prst="rect">
            <a:avLst/>
          </a:prstGeom>
          <a:noFill/>
          <a:ln/>
        </p:spPr>
        <p:txBody>
          <a:bodyPr wrap="square" lIns="0" tIns="0" rIns="0" bIns="0" rtlCol="0" anchor="t"/>
          <a:lstStyle/>
          <a:p>
            <a:pPr algn="ctr" indent="0" marL="0">
              <a:buNone/>
            </a:pPr>
            <a:r>
              <a:rPr lang="en-US" sz="1400" b="1" dirty="0">
                <a:solidFill>
                  <a:srgbClr val="56657E"/>
                </a:solidFill>
                <a:latin typeface="Calibri" pitchFamily="34" charset="0"/>
                <a:ea typeface="Calibri" pitchFamily="34" charset="-122"/>
                <a:cs typeface="Calibri" pitchFamily="34" charset="-120"/>
              </a:rPr>
              <a:t>bit</a:t>
            </a:r>
            <a:endParaRPr lang="en-US" sz="1400" dirty="0"/>
          </a:p>
        </p:txBody>
      </p:sp>
      <p:sp>
        <p:nvSpPr>
          <p:cNvPr id="12" name="Text 9"/>
          <p:cNvSpPr txBox="1"/>
          <p:nvPr/>
        </p:nvSpPr>
        <p:spPr>
          <a:xfrm>
            <a:off x="1783080" y="1691640"/>
            <a:ext cx="822960" cy="365760"/>
          </a:xfrm>
          <a:prstGeom prst="rect">
            <a:avLst/>
          </a:prstGeom>
          <a:noFill/>
          <a:ln/>
        </p:spPr>
        <p:txBody>
          <a:bodyPr wrap="square" lIns="0" tIns="0" rIns="0" bIns="0" rtlCol="0" anchor="t"/>
          <a:lstStyle/>
          <a:p>
            <a:pPr algn="ctr" indent="0" marL="0">
              <a:buNone/>
            </a:pPr>
            <a:r>
              <a:rPr lang="en-US" sz="1400" b="1" dirty="0">
                <a:solidFill>
                  <a:srgbClr val="56657E"/>
                </a:solidFill>
                <a:latin typeface="Calibri" pitchFamily="34" charset="0"/>
                <a:ea typeface="Calibri" pitchFamily="34" charset="-122"/>
                <a:cs typeface="Calibri" pitchFamily="34" charset="-120"/>
              </a:rPr>
              <a:t>key</a:t>
            </a:r>
            <a:endParaRPr lang="en-US" sz="1400" dirty="0"/>
          </a:p>
        </p:txBody>
      </p:sp>
      <p:sp>
        <p:nvSpPr>
          <p:cNvPr id="13" name="Text 10"/>
          <p:cNvSpPr txBox="1"/>
          <p:nvPr/>
        </p:nvSpPr>
        <p:spPr>
          <a:xfrm>
            <a:off x="2697480" y="1691640"/>
            <a:ext cx="822960" cy="365760"/>
          </a:xfrm>
          <a:prstGeom prst="rect">
            <a:avLst/>
          </a:prstGeom>
          <a:noFill/>
          <a:ln/>
        </p:spPr>
        <p:txBody>
          <a:bodyPr wrap="square" lIns="0" tIns="0" rIns="0" bIns="0" rtlCol="0" anchor="t"/>
          <a:lstStyle/>
          <a:p>
            <a:pPr algn="ctr" indent="0" marL="0">
              <a:buNone/>
            </a:pPr>
            <a:r>
              <a:rPr lang="en-US" sz="1400" b="1" dirty="0">
                <a:solidFill>
                  <a:srgbClr val="56657E"/>
                </a:solidFill>
                <a:latin typeface="Calibri" pitchFamily="34" charset="0"/>
                <a:ea typeface="Calibri" pitchFamily="34" charset="-122"/>
                <a:cs typeface="Calibri" pitchFamily="34" charset="-120"/>
              </a:rPr>
              <a:t>XOR</a:t>
            </a:r>
            <a:endParaRPr lang="en-US" sz="1400" dirty="0"/>
          </a:p>
        </p:txBody>
      </p:sp>
      <p:sp>
        <p:nvSpPr>
          <p:cNvPr id="14" name="Text 11"/>
          <p:cNvSpPr txBox="1"/>
          <p:nvPr/>
        </p:nvSpPr>
        <p:spPr>
          <a:xfrm>
            <a:off x="868680" y="2148840"/>
            <a:ext cx="8229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Courier New" pitchFamily="34" charset="0"/>
                <a:ea typeface="Courier New" pitchFamily="34" charset="-122"/>
                <a:cs typeface="Courier New" pitchFamily="34" charset="-120"/>
              </a:rPr>
              <a:t>0</a:t>
            </a:r>
            <a:endParaRPr lang="en-US" sz="2200" dirty="0"/>
          </a:p>
        </p:txBody>
      </p:sp>
      <p:sp>
        <p:nvSpPr>
          <p:cNvPr id="15" name="Text 12"/>
          <p:cNvSpPr txBox="1"/>
          <p:nvPr/>
        </p:nvSpPr>
        <p:spPr>
          <a:xfrm>
            <a:off x="1783080" y="2148840"/>
            <a:ext cx="8229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Courier New" pitchFamily="34" charset="0"/>
                <a:ea typeface="Courier New" pitchFamily="34" charset="-122"/>
                <a:cs typeface="Courier New" pitchFamily="34" charset="-120"/>
              </a:rPr>
              <a:t>0</a:t>
            </a:r>
            <a:endParaRPr lang="en-US" sz="2200" dirty="0"/>
          </a:p>
        </p:txBody>
      </p:sp>
      <p:sp>
        <p:nvSpPr>
          <p:cNvPr id="16" name="Text 13"/>
          <p:cNvSpPr txBox="1"/>
          <p:nvPr/>
        </p:nvSpPr>
        <p:spPr>
          <a:xfrm>
            <a:off x="2697480" y="2148840"/>
            <a:ext cx="822960" cy="457200"/>
          </a:xfrm>
          <a:prstGeom prst="rect">
            <a:avLst/>
          </a:prstGeom>
          <a:noFill/>
          <a:ln/>
        </p:spPr>
        <p:txBody>
          <a:bodyPr wrap="square" lIns="0" tIns="0" rIns="0" bIns="0" rtlCol="0" anchor="t"/>
          <a:lstStyle/>
          <a:p>
            <a:pPr algn="ctr" indent="0" marL="0">
              <a:buNone/>
            </a:pPr>
            <a:r>
              <a:rPr lang="en-US" sz="2200" b="1" dirty="0">
                <a:solidFill>
                  <a:srgbClr val="0F9488"/>
                </a:solidFill>
                <a:latin typeface="Courier New" pitchFamily="34" charset="0"/>
                <a:ea typeface="Courier New" pitchFamily="34" charset="-122"/>
                <a:cs typeface="Courier New" pitchFamily="34" charset="-120"/>
              </a:rPr>
              <a:t>0</a:t>
            </a:r>
            <a:endParaRPr lang="en-US" sz="2200" dirty="0"/>
          </a:p>
        </p:txBody>
      </p:sp>
      <p:sp>
        <p:nvSpPr>
          <p:cNvPr id="17" name="Text 14"/>
          <p:cNvSpPr txBox="1"/>
          <p:nvPr/>
        </p:nvSpPr>
        <p:spPr>
          <a:xfrm>
            <a:off x="868680" y="2679192"/>
            <a:ext cx="8229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Courier New" pitchFamily="34" charset="0"/>
                <a:ea typeface="Courier New" pitchFamily="34" charset="-122"/>
                <a:cs typeface="Courier New" pitchFamily="34" charset="-120"/>
              </a:rPr>
              <a:t>0</a:t>
            </a:r>
            <a:endParaRPr lang="en-US" sz="2200" dirty="0"/>
          </a:p>
        </p:txBody>
      </p:sp>
      <p:sp>
        <p:nvSpPr>
          <p:cNvPr id="18" name="Text 15"/>
          <p:cNvSpPr txBox="1"/>
          <p:nvPr/>
        </p:nvSpPr>
        <p:spPr>
          <a:xfrm>
            <a:off x="1783080" y="2679192"/>
            <a:ext cx="8229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Courier New" pitchFamily="34" charset="0"/>
                <a:ea typeface="Courier New" pitchFamily="34" charset="-122"/>
                <a:cs typeface="Courier New" pitchFamily="34" charset="-120"/>
              </a:rPr>
              <a:t>1</a:t>
            </a:r>
            <a:endParaRPr lang="en-US" sz="2200" dirty="0"/>
          </a:p>
        </p:txBody>
      </p:sp>
      <p:sp>
        <p:nvSpPr>
          <p:cNvPr id="19" name="Text 16"/>
          <p:cNvSpPr txBox="1"/>
          <p:nvPr/>
        </p:nvSpPr>
        <p:spPr>
          <a:xfrm>
            <a:off x="2697480" y="2679192"/>
            <a:ext cx="822960" cy="457200"/>
          </a:xfrm>
          <a:prstGeom prst="rect">
            <a:avLst/>
          </a:prstGeom>
          <a:noFill/>
          <a:ln/>
        </p:spPr>
        <p:txBody>
          <a:bodyPr wrap="square" lIns="0" tIns="0" rIns="0" bIns="0" rtlCol="0" anchor="t"/>
          <a:lstStyle/>
          <a:p>
            <a:pPr algn="ctr" indent="0" marL="0">
              <a:buNone/>
            </a:pPr>
            <a:r>
              <a:rPr lang="en-US" sz="2200" b="1" dirty="0">
                <a:solidFill>
                  <a:srgbClr val="0F9488"/>
                </a:solidFill>
                <a:latin typeface="Courier New" pitchFamily="34" charset="0"/>
                <a:ea typeface="Courier New" pitchFamily="34" charset="-122"/>
                <a:cs typeface="Courier New" pitchFamily="34" charset="-120"/>
              </a:rPr>
              <a:t>1</a:t>
            </a:r>
            <a:endParaRPr lang="en-US" sz="2200" dirty="0"/>
          </a:p>
        </p:txBody>
      </p:sp>
      <p:sp>
        <p:nvSpPr>
          <p:cNvPr id="20" name="Text 17"/>
          <p:cNvSpPr txBox="1"/>
          <p:nvPr/>
        </p:nvSpPr>
        <p:spPr>
          <a:xfrm>
            <a:off x="868680" y="3209544"/>
            <a:ext cx="8229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Courier New" pitchFamily="34" charset="0"/>
                <a:ea typeface="Courier New" pitchFamily="34" charset="-122"/>
                <a:cs typeface="Courier New" pitchFamily="34" charset="-120"/>
              </a:rPr>
              <a:t>1</a:t>
            </a:r>
            <a:endParaRPr lang="en-US" sz="2200" dirty="0"/>
          </a:p>
        </p:txBody>
      </p:sp>
      <p:sp>
        <p:nvSpPr>
          <p:cNvPr id="21" name="Text 18"/>
          <p:cNvSpPr txBox="1"/>
          <p:nvPr/>
        </p:nvSpPr>
        <p:spPr>
          <a:xfrm>
            <a:off x="1783080" y="3209544"/>
            <a:ext cx="8229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Courier New" pitchFamily="34" charset="0"/>
                <a:ea typeface="Courier New" pitchFamily="34" charset="-122"/>
                <a:cs typeface="Courier New" pitchFamily="34" charset="-120"/>
              </a:rPr>
              <a:t>0</a:t>
            </a:r>
            <a:endParaRPr lang="en-US" sz="2200" dirty="0"/>
          </a:p>
        </p:txBody>
      </p:sp>
      <p:sp>
        <p:nvSpPr>
          <p:cNvPr id="22" name="Text 19"/>
          <p:cNvSpPr txBox="1"/>
          <p:nvPr/>
        </p:nvSpPr>
        <p:spPr>
          <a:xfrm>
            <a:off x="2697480" y="3209544"/>
            <a:ext cx="822960" cy="457200"/>
          </a:xfrm>
          <a:prstGeom prst="rect">
            <a:avLst/>
          </a:prstGeom>
          <a:noFill/>
          <a:ln/>
        </p:spPr>
        <p:txBody>
          <a:bodyPr wrap="square" lIns="0" tIns="0" rIns="0" bIns="0" rtlCol="0" anchor="t"/>
          <a:lstStyle/>
          <a:p>
            <a:pPr algn="ctr" indent="0" marL="0">
              <a:buNone/>
            </a:pPr>
            <a:r>
              <a:rPr lang="en-US" sz="2200" b="1" dirty="0">
                <a:solidFill>
                  <a:srgbClr val="0F9488"/>
                </a:solidFill>
                <a:latin typeface="Courier New" pitchFamily="34" charset="0"/>
                <a:ea typeface="Courier New" pitchFamily="34" charset="-122"/>
                <a:cs typeface="Courier New" pitchFamily="34" charset="-120"/>
              </a:rPr>
              <a:t>1</a:t>
            </a:r>
            <a:endParaRPr lang="en-US" sz="2200" dirty="0"/>
          </a:p>
        </p:txBody>
      </p:sp>
      <p:sp>
        <p:nvSpPr>
          <p:cNvPr id="23" name="Text 20"/>
          <p:cNvSpPr txBox="1"/>
          <p:nvPr/>
        </p:nvSpPr>
        <p:spPr>
          <a:xfrm>
            <a:off x="868680" y="3739896"/>
            <a:ext cx="8229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Courier New" pitchFamily="34" charset="0"/>
                <a:ea typeface="Courier New" pitchFamily="34" charset="-122"/>
                <a:cs typeface="Courier New" pitchFamily="34" charset="-120"/>
              </a:rPr>
              <a:t>1</a:t>
            </a:r>
            <a:endParaRPr lang="en-US" sz="2200" dirty="0"/>
          </a:p>
        </p:txBody>
      </p:sp>
      <p:sp>
        <p:nvSpPr>
          <p:cNvPr id="24" name="Text 21"/>
          <p:cNvSpPr txBox="1"/>
          <p:nvPr/>
        </p:nvSpPr>
        <p:spPr>
          <a:xfrm>
            <a:off x="1783080" y="3739896"/>
            <a:ext cx="822960" cy="457200"/>
          </a:xfrm>
          <a:prstGeom prst="rect">
            <a:avLst/>
          </a:prstGeom>
          <a:noFill/>
          <a:ln/>
        </p:spPr>
        <p:txBody>
          <a:bodyPr wrap="square" lIns="0" tIns="0" rIns="0" bIns="0" rtlCol="0" anchor="t"/>
          <a:lstStyle/>
          <a:p>
            <a:pPr algn="ctr" indent="0" marL="0">
              <a:buNone/>
            </a:pPr>
            <a:r>
              <a:rPr lang="en-US" sz="2200" b="1" dirty="0">
                <a:solidFill>
                  <a:srgbClr val="12213A"/>
                </a:solidFill>
                <a:latin typeface="Courier New" pitchFamily="34" charset="0"/>
                <a:ea typeface="Courier New" pitchFamily="34" charset="-122"/>
                <a:cs typeface="Courier New" pitchFamily="34" charset="-120"/>
              </a:rPr>
              <a:t>1</a:t>
            </a:r>
            <a:endParaRPr lang="en-US" sz="2200" dirty="0"/>
          </a:p>
        </p:txBody>
      </p:sp>
      <p:sp>
        <p:nvSpPr>
          <p:cNvPr id="25" name="Text 22"/>
          <p:cNvSpPr txBox="1"/>
          <p:nvPr/>
        </p:nvSpPr>
        <p:spPr>
          <a:xfrm>
            <a:off x="2697480" y="3739896"/>
            <a:ext cx="822960" cy="457200"/>
          </a:xfrm>
          <a:prstGeom prst="rect">
            <a:avLst/>
          </a:prstGeom>
          <a:noFill/>
          <a:ln/>
        </p:spPr>
        <p:txBody>
          <a:bodyPr wrap="square" lIns="0" tIns="0" rIns="0" bIns="0" rtlCol="0" anchor="t"/>
          <a:lstStyle/>
          <a:p>
            <a:pPr algn="ctr" indent="0" marL="0">
              <a:buNone/>
            </a:pPr>
            <a:r>
              <a:rPr lang="en-US" sz="2200" b="1" dirty="0">
                <a:solidFill>
                  <a:srgbClr val="0F9488"/>
                </a:solidFill>
                <a:latin typeface="Courier New" pitchFamily="34" charset="0"/>
                <a:ea typeface="Courier New" pitchFamily="34" charset="-122"/>
                <a:cs typeface="Courier New" pitchFamily="34" charset="-120"/>
              </a:rPr>
              <a:t>0</a:t>
            </a:r>
            <a:endParaRPr lang="en-US" sz="2200" dirty="0"/>
          </a:p>
        </p:txBody>
      </p:sp>
      <p:sp>
        <p:nvSpPr>
          <p:cNvPr id="26" name="Shape 23"/>
          <p:cNvSpPr/>
          <p:nvPr/>
        </p:nvSpPr>
        <p:spPr>
          <a:xfrm>
            <a:off x="3977640" y="1554480"/>
            <a:ext cx="2743200" cy="2834640"/>
          </a:xfrm>
          <a:prstGeom prst="roundRect">
            <a:avLst>
              <a:gd name="adj" fmla="val 3333"/>
            </a:avLst>
          </a:prstGeom>
          <a:solidFill>
            <a:srgbClr val="FFF4DC"/>
          </a:solidFill>
          <a:ln/>
        </p:spPr>
      </p:sp>
      <p:sp>
        <p:nvSpPr>
          <p:cNvPr id="27" name="Text 24"/>
          <p:cNvSpPr txBox="1"/>
          <p:nvPr/>
        </p:nvSpPr>
        <p:spPr>
          <a:xfrm>
            <a:off x="4206240" y="1691640"/>
            <a:ext cx="2377440" cy="256032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Same key twice = undo.</a:t>
            </a:r>
            <a:endParaRPr lang="en-US" sz="1500" dirty="0"/>
          </a:p>
          <a:p>
            <a:pPr indent="0" marL="0">
              <a:buNone/>
            </a:pPr>
            <a:r>
              <a:rPr lang="en-US" sz="1500" dirty="0">
                <a:solidFill>
                  <a:srgbClr val="12213A"/>
                </a:solidFill>
                <a:latin typeface="Calibri" pitchFamily="34" charset="0"/>
                <a:ea typeface="Calibri" pitchFamily="34" charset="-122"/>
                <a:cs typeface="Calibri" pitchFamily="34" charset="-120"/>
              </a:rPr>
              <a:t>text XOR key = cipher</a:t>
            </a:r>
            <a:endParaRPr lang="en-US" sz="1500" dirty="0"/>
          </a:p>
          <a:p>
            <a:pPr indent="0" marL="0">
              <a:buNone/>
            </a:pPr>
            <a:r>
              <a:rPr lang="en-US" sz="1500" dirty="0">
                <a:solidFill>
                  <a:srgbClr val="12213A"/>
                </a:solidFill>
                <a:latin typeface="Calibri" pitchFamily="34" charset="0"/>
                <a:ea typeface="Calibri" pitchFamily="34" charset="-122"/>
                <a:cs typeface="Calibri" pitchFamily="34" charset="-120"/>
              </a:rPr>
              <a:t>cipher XOR key = text</a:t>
            </a:r>
            <a:endParaRPr lang="en-US" sz="1500" dirty="0"/>
          </a:p>
        </p:txBody>
      </p:sp>
      <p:sp>
        <p:nvSpPr>
          <p:cNvPr id="28" name="Shape 25"/>
          <p:cNvSpPr/>
          <p:nvPr/>
        </p:nvSpPr>
        <p:spPr>
          <a:xfrm>
            <a:off x="548640" y="4617720"/>
            <a:ext cx="2194560" cy="457200"/>
          </a:xfrm>
          <a:prstGeom prst="roundRect">
            <a:avLst>
              <a:gd name="adj" fmla="val 16000"/>
            </a:avLst>
          </a:prstGeom>
          <a:solidFill>
            <a:srgbClr val="0E1726"/>
          </a:solidFill>
          <a:ln/>
        </p:spPr>
      </p:sp>
      <p:sp>
        <p:nvSpPr>
          <p:cNvPr id="29" name="Text 26"/>
          <p:cNvSpPr txBox="1"/>
          <p:nvPr/>
        </p:nvSpPr>
        <p:spPr>
          <a:xfrm>
            <a:off x="548640" y="461772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xor -e KEY</a:t>
            </a:r>
            <a:endParaRPr lang="en-US" sz="1500" dirty="0"/>
          </a:p>
        </p:txBody>
      </p:sp>
      <p:sp>
        <p:nvSpPr>
          <p:cNvPr id="30" name="Text 27"/>
          <p:cNvSpPr txBox="1"/>
          <p:nvPr/>
        </p:nvSpPr>
        <p:spPr>
          <a:xfrm>
            <a:off x="2971800" y="4617720"/>
            <a:ext cx="37490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hide text, print hex</a:t>
            </a:r>
            <a:endParaRPr lang="en-US" sz="1700" dirty="0"/>
          </a:p>
        </p:txBody>
      </p:sp>
      <p:sp>
        <p:nvSpPr>
          <p:cNvPr id="31" name="Shape 28"/>
          <p:cNvSpPr/>
          <p:nvPr/>
        </p:nvSpPr>
        <p:spPr>
          <a:xfrm>
            <a:off x="548640" y="5212080"/>
            <a:ext cx="2194560" cy="457200"/>
          </a:xfrm>
          <a:prstGeom prst="roundRect">
            <a:avLst>
              <a:gd name="adj" fmla="val 16000"/>
            </a:avLst>
          </a:prstGeom>
          <a:solidFill>
            <a:srgbClr val="0E1726"/>
          </a:solidFill>
          <a:ln/>
        </p:spPr>
      </p:sp>
      <p:sp>
        <p:nvSpPr>
          <p:cNvPr id="32" name="Text 29"/>
          <p:cNvSpPr txBox="1"/>
          <p:nvPr/>
        </p:nvSpPr>
        <p:spPr>
          <a:xfrm>
            <a:off x="548640" y="5212080"/>
            <a:ext cx="219456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xor all</a:t>
            </a:r>
            <a:endParaRPr lang="en-US" sz="1500" dirty="0"/>
          </a:p>
        </p:txBody>
      </p:sp>
      <p:sp>
        <p:nvSpPr>
          <p:cNvPr id="33" name="Text 30"/>
          <p:cNvSpPr txBox="1"/>
          <p:nvPr/>
        </p:nvSpPr>
        <p:spPr>
          <a:xfrm>
            <a:off x="2971800" y="5212080"/>
            <a:ext cx="374904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try all 255 keys</a:t>
            </a:r>
            <a:endParaRPr lang="en-US" sz="1700" dirty="0"/>
          </a:p>
        </p:txBody>
      </p:sp>
      <p:sp>
        <p:nvSpPr>
          <p:cNvPr id="34" name="Shape 31"/>
          <p:cNvSpPr/>
          <p:nvPr/>
        </p:nvSpPr>
        <p:spPr>
          <a:xfrm>
            <a:off x="7040880" y="1463040"/>
            <a:ext cx="459943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35" name="Shape 32"/>
          <p:cNvSpPr/>
          <p:nvPr/>
        </p:nvSpPr>
        <p:spPr>
          <a:xfrm>
            <a:off x="7242048" y="1618488"/>
            <a:ext cx="118872" cy="118872"/>
          </a:xfrm>
          <a:prstGeom prst="ellipse">
            <a:avLst/>
          </a:prstGeom>
          <a:solidFill>
            <a:srgbClr val="E5534B"/>
          </a:solidFill>
          <a:ln/>
        </p:spPr>
      </p:sp>
      <p:sp>
        <p:nvSpPr>
          <p:cNvPr id="36" name="Shape 33"/>
          <p:cNvSpPr/>
          <p:nvPr/>
        </p:nvSpPr>
        <p:spPr>
          <a:xfrm>
            <a:off x="7443216" y="1618488"/>
            <a:ext cx="118872" cy="118872"/>
          </a:xfrm>
          <a:prstGeom prst="ellipse">
            <a:avLst/>
          </a:prstGeom>
          <a:solidFill>
            <a:srgbClr val="F5A623"/>
          </a:solidFill>
          <a:ln/>
        </p:spPr>
      </p:sp>
      <p:sp>
        <p:nvSpPr>
          <p:cNvPr id="37" name="Shape 34"/>
          <p:cNvSpPr/>
          <p:nvPr/>
        </p:nvSpPr>
        <p:spPr>
          <a:xfrm>
            <a:off x="7644384" y="1618488"/>
            <a:ext cx="118872" cy="118872"/>
          </a:xfrm>
          <a:prstGeom prst="ellipse">
            <a:avLst/>
          </a:prstGeom>
          <a:solidFill>
            <a:srgbClr val="46D39A"/>
          </a:solidFill>
          <a:ln/>
        </p:spPr>
      </p:sp>
      <p:sp>
        <p:nvSpPr>
          <p:cNvPr id="38" name="Text 35"/>
          <p:cNvSpPr txBox="1"/>
          <p:nvPr/>
        </p:nvSpPr>
        <p:spPr>
          <a:xfrm>
            <a:off x="7955280" y="1536192"/>
            <a:ext cx="277063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9" name="Text 36"/>
          <p:cNvSpPr txBox="1"/>
          <p:nvPr/>
        </p:nvSpPr>
        <p:spPr>
          <a:xfrm>
            <a:off x="7315200" y="1920240"/>
            <a:ext cx="4050792" cy="3886200"/>
          </a:xfrm>
          <a:prstGeom prst="rect">
            <a:avLst/>
          </a:prstGeom>
          <a:noFill/>
          <a:ln/>
        </p:spPr>
        <p:txBody>
          <a:bodyPr wrap="square" lIns="0" tIns="0" rIns="0" bIns="0" rtlCol="0" anchor="t"/>
          <a:lstStyle/>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hi | xor -e 7</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6f6e0d</a:t>
            </a:r>
            <a:endParaRPr lang="en-US" sz="1500" dirty="0"/>
          </a:p>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6f6e0d | xor 7</a:t>
            </a:r>
            <a:endParaRPr lang="en-US" sz="1500" dirty="0"/>
          </a:p>
          <a:p>
            <a:pPr indent="0" marL="0">
              <a:spcAft>
                <a:spcPts val="200"/>
              </a:spcAft>
              <a:buNone/>
            </a:pPr>
            <a:r>
              <a:rPr lang="en-US" sz="1500" b="1" dirty="0">
                <a:solidFill>
                  <a:srgbClr val="F5A623"/>
                </a:solidFill>
                <a:latin typeface="Courier New" pitchFamily="34" charset="0"/>
                <a:ea typeface="Courier New" pitchFamily="34" charset="-122"/>
                <a:cs typeface="Courier New" pitchFamily="34" charset="-120"/>
              </a:rPr>
              <a:t>hi</a:t>
            </a:r>
            <a:endParaRPr lang="en-US" sz="1500" dirty="0"/>
          </a:p>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6f6e0d | xor all | head -3</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key 1: no.</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key 2: ml.</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key 3: lm.</a:t>
            </a:r>
            <a:endParaRPr lang="en-US" sz="1500" dirty="0"/>
          </a:p>
        </p:txBody>
      </p:sp>
      <p:sp>
        <p:nvSpPr>
          <p:cNvPr id="40" name="Text 37"/>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19 / 61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Vigenère: a keyword sets the shifts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echo HI | vigenere -e KEY</a:t>
            </a:r>
            <a:endParaRPr lang="en-US" sz="1300" dirty="0"/>
          </a:p>
        </p:txBody>
      </p:sp>
      <p:sp>
        <p:nvSpPr>
          <p:cNvPr id="8" name="Shape 5"/>
          <p:cNvSpPr/>
          <p:nvPr/>
        </p:nvSpPr>
        <p:spPr>
          <a:xfrm>
            <a:off x="548640" y="109728"/>
            <a:ext cx="1879092" cy="274320"/>
          </a:xfrm>
          <a:prstGeom prst="roundRect">
            <a:avLst>
              <a:gd name="adj" fmla="val 50000"/>
            </a:avLst>
          </a:prstGeom>
          <a:solidFill>
            <a:srgbClr val="5B6EE1"/>
          </a:solidFill>
          <a:ln/>
        </p:spPr>
      </p:sp>
      <p:sp>
        <p:nvSpPr>
          <p:cNvPr id="9" name="Text 6"/>
          <p:cNvSpPr txBox="1"/>
          <p:nvPr/>
        </p:nvSpPr>
        <p:spPr>
          <a:xfrm>
            <a:off x="548640" y="109728"/>
            <a:ext cx="1879092"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missions 9 &amp; 10</a:t>
            </a:r>
            <a:endParaRPr lang="en-US" sz="1100" dirty="0"/>
          </a:p>
        </p:txBody>
      </p:sp>
      <p:sp>
        <p:nvSpPr>
          <p:cNvPr id="10" name="Text 7"/>
          <p:cNvSpPr txBox="1"/>
          <p:nvPr/>
        </p:nvSpPr>
        <p:spPr>
          <a:xfrm>
            <a:off x="548640" y="1691640"/>
            <a:ext cx="1188720" cy="640080"/>
          </a:xfrm>
          <a:prstGeom prst="rect">
            <a:avLst/>
          </a:prstGeom>
          <a:noFill/>
          <a:ln/>
        </p:spPr>
        <p:txBody>
          <a:bodyPr wrap="square" lIns="0" tIns="0" rIns="0" bIns="0" rtlCol="0" anchor="ctr"/>
          <a:lstStyle/>
          <a:p>
            <a:pPr indent="0" marL="0">
              <a:buNone/>
            </a:pPr>
            <a:r>
              <a:rPr lang="en-US" sz="1500" b="1" dirty="0">
                <a:solidFill>
                  <a:srgbClr val="56657E"/>
                </a:solidFill>
                <a:latin typeface="Calibri" pitchFamily="34" charset="0"/>
                <a:ea typeface="Calibri" pitchFamily="34" charset="-122"/>
                <a:cs typeface="Calibri" pitchFamily="34" charset="-120"/>
              </a:rPr>
              <a:t>text</a:t>
            </a:r>
            <a:endParaRPr lang="en-US" sz="1500" dirty="0"/>
          </a:p>
        </p:txBody>
      </p:sp>
      <p:sp>
        <p:nvSpPr>
          <p:cNvPr id="11" name="Shape 8"/>
          <p:cNvSpPr/>
          <p:nvPr/>
        </p:nvSpPr>
        <p:spPr>
          <a:xfrm>
            <a:off x="1828800" y="1691640"/>
            <a:ext cx="685800" cy="640080"/>
          </a:xfrm>
          <a:prstGeom prst="roundRect">
            <a:avLst>
              <a:gd name="adj" fmla="val 11429"/>
            </a:avLst>
          </a:prstGeom>
          <a:solidFill>
            <a:srgbClr val="F1F5FB"/>
          </a:solidFill>
          <a:ln/>
        </p:spPr>
      </p:sp>
      <p:sp>
        <p:nvSpPr>
          <p:cNvPr id="12" name="Text 9"/>
          <p:cNvSpPr txBox="1"/>
          <p:nvPr/>
        </p:nvSpPr>
        <p:spPr>
          <a:xfrm>
            <a:off x="1828800" y="1691640"/>
            <a:ext cx="685800" cy="640080"/>
          </a:xfrm>
          <a:prstGeom prst="rect">
            <a:avLst/>
          </a:prstGeom>
          <a:noFill/>
          <a:ln/>
        </p:spPr>
        <p:txBody>
          <a:bodyPr wrap="square" lIns="0" tIns="0" rIns="0" bIns="0" rtlCol="0" anchor="ctr"/>
          <a:lstStyle/>
          <a:p>
            <a:pPr algn="ctr" indent="0" marL="0">
              <a:buNone/>
            </a:pPr>
            <a:r>
              <a:rPr lang="en-US" sz="2400" b="1" dirty="0">
                <a:solidFill>
                  <a:srgbClr val="12213A"/>
                </a:solidFill>
                <a:latin typeface="Courier New" pitchFamily="34" charset="0"/>
                <a:ea typeface="Courier New" pitchFamily="34" charset="-122"/>
                <a:cs typeface="Courier New" pitchFamily="34" charset="-120"/>
              </a:rPr>
              <a:t>A</a:t>
            </a:r>
            <a:endParaRPr lang="en-US" sz="2400" dirty="0"/>
          </a:p>
        </p:txBody>
      </p:sp>
      <p:sp>
        <p:nvSpPr>
          <p:cNvPr id="13" name="Shape 10"/>
          <p:cNvSpPr/>
          <p:nvPr/>
        </p:nvSpPr>
        <p:spPr>
          <a:xfrm>
            <a:off x="2651760" y="1691640"/>
            <a:ext cx="685800" cy="640080"/>
          </a:xfrm>
          <a:prstGeom prst="roundRect">
            <a:avLst>
              <a:gd name="adj" fmla="val 11429"/>
            </a:avLst>
          </a:prstGeom>
          <a:solidFill>
            <a:srgbClr val="F1F5FB"/>
          </a:solidFill>
          <a:ln/>
        </p:spPr>
      </p:sp>
      <p:sp>
        <p:nvSpPr>
          <p:cNvPr id="14" name="Text 11"/>
          <p:cNvSpPr txBox="1"/>
          <p:nvPr/>
        </p:nvSpPr>
        <p:spPr>
          <a:xfrm>
            <a:off x="2651760" y="1691640"/>
            <a:ext cx="685800" cy="640080"/>
          </a:xfrm>
          <a:prstGeom prst="rect">
            <a:avLst/>
          </a:prstGeom>
          <a:noFill/>
          <a:ln/>
        </p:spPr>
        <p:txBody>
          <a:bodyPr wrap="square" lIns="0" tIns="0" rIns="0" bIns="0" rtlCol="0" anchor="ctr"/>
          <a:lstStyle/>
          <a:p>
            <a:pPr algn="ctr" indent="0" marL="0">
              <a:buNone/>
            </a:pPr>
            <a:r>
              <a:rPr lang="en-US" sz="2400" b="1" dirty="0">
                <a:solidFill>
                  <a:srgbClr val="12213A"/>
                </a:solidFill>
                <a:latin typeface="Courier New" pitchFamily="34" charset="0"/>
                <a:ea typeface="Courier New" pitchFamily="34" charset="-122"/>
                <a:cs typeface="Courier New" pitchFamily="34" charset="-120"/>
              </a:rPr>
              <a:t>T</a:t>
            </a:r>
            <a:endParaRPr lang="en-US" sz="2400" dirty="0"/>
          </a:p>
        </p:txBody>
      </p:sp>
      <p:sp>
        <p:nvSpPr>
          <p:cNvPr id="15" name="Shape 12"/>
          <p:cNvSpPr/>
          <p:nvPr/>
        </p:nvSpPr>
        <p:spPr>
          <a:xfrm>
            <a:off x="3474720" y="1691640"/>
            <a:ext cx="685800" cy="640080"/>
          </a:xfrm>
          <a:prstGeom prst="roundRect">
            <a:avLst>
              <a:gd name="adj" fmla="val 11429"/>
            </a:avLst>
          </a:prstGeom>
          <a:solidFill>
            <a:srgbClr val="F1F5FB"/>
          </a:solidFill>
          <a:ln/>
        </p:spPr>
      </p:sp>
      <p:sp>
        <p:nvSpPr>
          <p:cNvPr id="16" name="Text 13"/>
          <p:cNvSpPr txBox="1"/>
          <p:nvPr/>
        </p:nvSpPr>
        <p:spPr>
          <a:xfrm>
            <a:off x="3474720" y="1691640"/>
            <a:ext cx="685800" cy="640080"/>
          </a:xfrm>
          <a:prstGeom prst="rect">
            <a:avLst/>
          </a:prstGeom>
          <a:noFill/>
          <a:ln/>
        </p:spPr>
        <p:txBody>
          <a:bodyPr wrap="square" lIns="0" tIns="0" rIns="0" bIns="0" rtlCol="0" anchor="ctr"/>
          <a:lstStyle/>
          <a:p>
            <a:pPr algn="ctr" indent="0" marL="0">
              <a:buNone/>
            </a:pPr>
            <a:r>
              <a:rPr lang="en-US" sz="2400" b="1" dirty="0">
                <a:solidFill>
                  <a:srgbClr val="12213A"/>
                </a:solidFill>
                <a:latin typeface="Courier New" pitchFamily="34" charset="0"/>
                <a:ea typeface="Courier New" pitchFamily="34" charset="-122"/>
                <a:cs typeface="Courier New" pitchFamily="34" charset="-120"/>
              </a:rPr>
              <a:t>T</a:t>
            </a:r>
            <a:endParaRPr lang="en-US" sz="2400" dirty="0"/>
          </a:p>
        </p:txBody>
      </p:sp>
      <p:sp>
        <p:nvSpPr>
          <p:cNvPr id="17" name="Shape 14"/>
          <p:cNvSpPr/>
          <p:nvPr/>
        </p:nvSpPr>
        <p:spPr>
          <a:xfrm>
            <a:off x="4297680" y="1691640"/>
            <a:ext cx="685800" cy="640080"/>
          </a:xfrm>
          <a:prstGeom prst="roundRect">
            <a:avLst>
              <a:gd name="adj" fmla="val 11429"/>
            </a:avLst>
          </a:prstGeom>
          <a:solidFill>
            <a:srgbClr val="F1F5FB"/>
          </a:solidFill>
          <a:ln/>
        </p:spPr>
      </p:sp>
      <p:sp>
        <p:nvSpPr>
          <p:cNvPr id="18" name="Text 15"/>
          <p:cNvSpPr txBox="1"/>
          <p:nvPr/>
        </p:nvSpPr>
        <p:spPr>
          <a:xfrm>
            <a:off x="4297680" y="1691640"/>
            <a:ext cx="685800" cy="640080"/>
          </a:xfrm>
          <a:prstGeom prst="rect">
            <a:avLst/>
          </a:prstGeom>
          <a:noFill/>
          <a:ln/>
        </p:spPr>
        <p:txBody>
          <a:bodyPr wrap="square" lIns="0" tIns="0" rIns="0" bIns="0" rtlCol="0" anchor="ctr"/>
          <a:lstStyle/>
          <a:p>
            <a:pPr algn="ctr" indent="0" marL="0">
              <a:buNone/>
            </a:pPr>
            <a:r>
              <a:rPr lang="en-US" sz="2400" b="1" dirty="0">
                <a:solidFill>
                  <a:srgbClr val="12213A"/>
                </a:solidFill>
                <a:latin typeface="Courier New" pitchFamily="34" charset="0"/>
                <a:ea typeface="Courier New" pitchFamily="34" charset="-122"/>
                <a:cs typeface="Courier New" pitchFamily="34" charset="-120"/>
              </a:rPr>
              <a:t>A</a:t>
            </a:r>
            <a:endParaRPr lang="en-US" sz="2400" dirty="0"/>
          </a:p>
        </p:txBody>
      </p:sp>
      <p:sp>
        <p:nvSpPr>
          <p:cNvPr id="19" name="Shape 16"/>
          <p:cNvSpPr/>
          <p:nvPr/>
        </p:nvSpPr>
        <p:spPr>
          <a:xfrm>
            <a:off x="5120640" y="1691640"/>
            <a:ext cx="685800" cy="640080"/>
          </a:xfrm>
          <a:prstGeom prst="roundRect">
            <a:avLst>
              <a:gd name="adj" fmla="val 11429"/>
            </a:avLst>
          </a:prstGeom>
          <a:solidFill>
            <a:srgbClr val="F1F5FB"/>
          </a:solidFill>
          <a:ln/>
        </p:spPr>
      </p:sp>
      <p:sp>
        <p:nvSpPr>
          <p:cNvPr id="20" name="Text 17"/>
          <p:cNvSpPr txBox="1"/>
          <p:nvPr/>
        </p:nvSpPr>
        <p:spPr>
          <a:xfrm>
            <a:off x="5120640" y="1691640"/>
            <a:ext cx="685800" cy="640080"/>
          </a:xfrm>
          <a:prstGeom prst="rect">
            <a:avLst/>
          </a:prstGeom>
          <a:noFill/>
          <a:ln/>
        </p:spPr>
        <p:txBody>
          <a:bodyPr wrap="square" lIns="0" tIns="0" rIns="0" bIns="0" rtlCol="0" anchor="ctr"/>
          <a:lstStyle/>
          <a:p>
            <a:pPr algn="ctr" indent="0" marL="0">
              <a:buNone/>
            </a:pPr>
            <a:r>
              <a:rPr lang="en-US" sz="2400" b="1" dirty="0">
                <a:solidFill>
                  <a:srgbClr val="12213A"/>
                </a:solidFill>
                <a:latin typeface="Courier New" pitchFamily="34" charset="0"/>
                <a:ea typeface="Courier New" pitchFamily="34" charset="-122"/>
                <a:cs typeface="Courier New" pitchFamily="34" charset="-120"/>
              </a:rPr>
              <a:t>C</a:t>
            </a:r>
            <a:endParaRPr lang="en-US" sz="2400" dirty="0"/>
          </a:p>
        </p:txBody>
      </p:sp>
      <p:sp>
        <p:nvSpPr>
          <p:cNvPr id="21" name="Shape 18"/>
          <p:cNvSpPr/>
          <p:nvPr/>
        </p:nvSpPr>
        <p:spPr>
          <a:xfrm>
            <a:off x="5943600" y="1691640"/>
            <a:ext cx="685800" cy="640080"/>
          </a:xfrm>
          <a:prstGeom prst="roundRect">
            <a:avLst>
              <a:gd name="adj" fmla="val 11429"/>
            </a:avLst>
          </a:prstGeom>
          <a:solidFill>
            <a:srgbClr val="F1F5FB"/>
          </a:solidFill>
          <a:ln/>
        </p:spPr>
      </p:sp>
      <p:sp>
        <p:nvSpPr>
          <p:cNvPr id="22" name="Text 19"/>
          <p:cNvSpPr txBox="1"/>
          <p:nvPr/>
        </p:nvSpPr>
        <p:spPr>
          <a:xfrm>
            <a:off x="5943600" y="1691640"/>
            <a:ext cx="685800" cy="640080"/>
          </a:xfrm>
          <a:prstGeom prst="rect">
            <a:avLst/>
          </a:prstGeom>
          <a:noFill/>
          <a:ln/>
        </p:spPr>
        <p:txBody>
          <a:bodyPr wrap="square" lIns="0" tIns="0" rIns="0" bIns="0" rtlCol="0" anchor="ctr"/>
          <a:lstStyle/>
          <a:p>
            <a:pPr algn="ctr" indent="0" marL="0">
              <a:buNone/>
            </a:pPr>
            <a:r>
              <a:rPr lang="en-US" sz="2400" b="1" dirty="0">
                <a:solidFill>
                  <a:srgbClr val="12213A"/>
                </a:solidFill>
                <a:latin typeface="Courier New" pitchFamily="34" charset="0"/>
                <a:ea typeface="Courier New" pitchFamily="34" charset="-122"/>
                <a:cs typeface="Courier New" pitchFamily="34" charset="-120"/>
              </a:rPr>
              <a:t>K</a:t>
            </a:r>
            <a:endParaRPr lang="en-US" sz="2400" dirty="0"/>
          </a:p>
        </p:txBody>
      </p:sp>
      <p:sp>
        <p:nvSpPr>
          <p:cNvPr id="23" name="Text 20"/>
          <p:cNvSpPr txBox="1"/>
          <p:nvPr/>
        </p:nvSpPr>
        <p:spPr>
          <a:xfrm>
            <a:off x="548640" y="2514600"/>
            <a:ext cx="1188720" cy="640080"/>
          </a:xfrm>
          <a:prstGeom prst="rect">
            <a:avLst/>
          </a:prstGeom>
          <a:noFill/>
          <a:ln/>
        </p:spPr>
        <p:txBody>
          <a:bodyPr wrap="square" lIns="0" tIns="0" rIns="0" bIns="0" rtlCol="0" anchor="ctr"/>
          <a:lstStyle/>
          <a:p>
            <a:pPr indent="0" marL="0">
              <a:buNone/>
            </a:pPr>
            <a:r>
              <a:rPr lang="en-US" sz="1500" b="1" dirty="0">
                <a:solidFill>
                  <a:srgbClr val="56657E"/>
                </a:solidFill>
                <a:latin typeface="Calibri" pitchFamily="34" charset="0"/>
                <a:ea typeface="Calibri" pitchFamily="34" charset="-122"/>
                <a:cs typeface="Calibri" pitchFamily="34" charset="-120"/>
              </a:rPr>
              <a:t>key</a:t>
            </a:r>
            <a:endParaRPr lang="en-US" sz="1500" dirty="0"/>
          </a:p>
        </p:txBody>
      </p:sp>
      <p:sp>
        <p:nvSpPr>
          <p:cNvPr id="24" name="Shape 21"/>
          <p:cNvSpPr/>
          <p:nvPr/>
        </p:nvSpPr>
        <p:spPr>
          <a:xfrm>
            <a:off x="1828800" y="2514600"/>
            <a:ext cx="685800" cy="640080"/>
          </a:xfrm>
          <a:prstGeom prst="roundRect">
            <a:avLst>
              <a:gd name="adj" fmla="val 11429"/>
            </a:avLst>
          </a:prstGeom>
          <a:solidFill>
            <a:srgbClr val="F3EEFF"/>
          </a:solidFill>
          <a:ln/>
        </p:spPr>
      </p:sp>
      <p:sp>
        <p:nvSpPr>
          <p:cNvPr id="25" name="Text 22"/>
          <p:cNvSpPr txBox="1"/>
          <p:nvPr/>
        </p:nvSpPr>
        <p:spPr>
          <a:xfrm>
            <a:off x="1828800" y="2514600"/>
            <a:ext cx="685800" cy="640080"/>
          </a:xfrm>
          <a:prstGeom prst="rect">
            <a:avLst/>
          </a:prstGeom>
          <a:noFill/>
          <a:ln/>
        </p:spPr>
        <p:txBody>
          <a:bodyPr wrap="square" lIns="0" tIns="0" rIns="0" bIns="0" rtlCol="0" anchor="ctr"/>
          <a:lstStyle/>
          <a:p>
            <a:pPr algn="ctr" indent="0" marL="0">
              <a:buNone/>
            </a:pPr>
            <a:r>
              <a:rPr lang="en-US" sz="2400" b="1" dirty="0">
                <a:solidFill>
                  <a:srgbClr val="D1416B"/>
                </a:solidFill>
                <a:latin typeface="Courier New" pitchFamily="34" charset="0"/>
                <a:ea typeface="Courier New" pitchFamily="34" charset="-122"/>
                <a:cs typeface="Courier New" pitchFamily="34" charset="-120"/>
              </a:rPr>
              <a:t>L</a:t>
            </a:r>
            <a:endParaRPr lang="en-US" sz="2400" dirty="0"/>
          </a:p>
        </p:txBody>
      </p:sp>
      <p:sp>
        <p:nvSpPr>
          <p:cNvPr id="26" name="Shape 23"/>
          <p:cNvSpPr/>
          <p:nvPr/>
        </p:nvSpPr>
        <p:spPr>
          <a:xfrm>
            <a:off x="2651760" y="2514600"/>
            <a:ext cx="685800" cy="640080"/>
          </a:xfrm>
          <a:prstGeom prst="roundRect">
            <a:avLst>
              <a:gd name="adj" fmla="val 11429"/>
            </a:avLst>
          </a:prstGeom>
          <a:solidFill>
            <a:srgbClr val="F3EEFF"/>
          </a:solidFill>
          <a:ln/>
        </p:spPr>
      </p:sp>
      <p:sp>
        <p:nvSpPr>
          <p:cNvPr id="27" name="Text 24"/>
          <p:cNvSpPr txBox="1"/>
          <p:nvPr/>
        </p:nvSpPr>
        <p:spPr>
          <a:xfrm>
            <a:off x="2651760" y="2514600"/>
            <a:ext cx="685800" cy="640080"/>
          </a:xfrm>
          <a:prstGeom prst="rect">
            <a:avLst/>
          </a:prstGeom>
          <a:noFill/>
          <a:ln/>
        </p:spPr>
        <p:txBody>
          <a:bodyPr wrap="square" lIns="0" tIns="0" rIns="0" bIns="0" rtlCol="0" anchor="ctr"/>
          <a:lstStyle/>
          <a:p>
            <a:pPr algn="ctr" indent="0" marL="0">
              <a:buNone/>
            </a:pPr>
            <a:r>
              <a:rPr lang="en-US" sz="2400" b="1" dirty="0">
                <a:solidFill>
                  <a:srgbClr val="D1416B"/>
                </a:solidFill>
                <a:latin typeface="Courier New" pitchFamily="34" charset="0"/>
                <a:ea typeface="Courier New" pitchFamily="34" charset="-122"/>
                <a:cs typeface="Courier New" pitchFamily="34" charset="-120"/>
              </a:rPr>
              <a:t>E</a:t>
            </a:r>
            <a:endParaRPr lang="en-US" sz="2400" dirty="0"/>
          </a:p>
        </p:txBody>
      </p:sp>
      <p:sp>
        <p:nvSpPr>
          <p:cNvPr id="28" name="Shape 25"/>
          <p:cNvSpPr/>
          <p:nvPr/>
        </p:nvSpPr>
        <p:spPr>
          <a:xfrm>
            <a:off x="3474720" y="2514600"/>
            <a:ext cx="685800" cy="640080"/>
          </a:xfrm>
          <a:prstGeom prst="roundRect">
            <a:avLst>
              <a:gd name="adj" fmla="val 11429"/>
            </a:avLst>
          </a:prstGeom>
          <a:solidFill>
            <a:srgbClr val="F3EEFF"/>
          </a:solidFill>
          <a:ln/>
        </p:spPr>
      </p:sp>
      <p:sp>
        <p:nvSpPr>
          <p:cNvPr id="29" name="Text 26"/>
          <p:cNvSpPr txBox="1"/>
          <p:nvPr/>
        </p:nvSpPr>
        <p:spPr>
          <a:xfrm>
            <a:off x="3474720" y="2514600"/>
            <a:ext cx="685800" cy="640080"/>
          </a:xfrm>
          <a:prstGeom prst="rect">
            <a:avLst/>
          </a:prstGeom>
          <a:noFill/>
          <a:ln/>
        </p:spPr>
        <p:txBody>
          <a:bodyPr wrap="square" lIns="0" tIns="0" rIns="0" bIns="0" rtlCol="0" anchor="ctr"/>
          <a:lstStyle/>
          <a:p>
            <a:pPr algn="ctr" indent="0" marL="0">
              <a:buNone/>
            </a:pPr>
            <a:r>
              <a:rPr lang="en-US" sz="2400" b="1" dirty="0">
                <a:solidFill>
                  <a:srgbClr val="D1416B"/>
                </a:solidFill>
                <a:latin typeface="Courier New" pitchFamily="34" charset="0"/>
                <a:ea typeface="Courier New" pitchFamily="34" charset="-122"/>
                <a:cs typeface="Courier New" pitchFamily="34" charset="-120"/>
              </a:rPr>
              <a:t>M</a:t>
            </a:r>
            <a:endParaRPr lang="en-US" sz="2400" dirty="0"/>
          </a:p>
        </p:txBody>
      </p:sp>
      <p:sp>
        <p:nvSpPr>
          <p:cNvPr id="30" name="Shape 27"/>
          <p:cNvSpPr/>
          <p:nvPr/>
        </p:nvSpPr>
        <p:spPr>
          <a:xfrm>
            <a:off x="4297680" y="2514600"/>
            <a:ext cx="685800" cy="640080"/>
          </a:xfrm>
          <a:prstGeom prst="roundRect">
            <a:avLst>
              <a:gd name="adj" fmla="val 11429"/>
            </a:avLst>
          </a:prstGeom>
          <a:solidFill>
            <a:srgbClr val="F3EEFF"/>
          </a:solidFill>
          <a:ln/>
        </p:spPr>
      </p:sp>
      <p:sp>
        <p:nvSpPr>
          <p:cNvPr id="31" name="Text 28"/>
          <p:cNvSpPr txBox="1"/>
          <p:nvPr/>
        </p:nvSpPr>
        <p:spPr>
          <a:xfrm>
            <a:off x="4297680" y="2514600"/>
            <a:ext cx="685800" cy="640080"/>
          </a:xfrm>
          <a:prstGeom prst="rect">
            <a:avLst/>
          </a:prstGeom>
          <a:noFill/>
          <a:ln/>
        </p:spPr>
        <p:txBody>
          <a:bodyPr wrap="square" lIns="0" tIns="0" rIns="0" bIns="0" rtlCol="0" anchor="ctr"/>
          <a:lstStyle/>
          <a:p>
            <a:pPr algn="ctr" indent="0" marL="0">
              <a:buNone/>
            </a:pPr>
            <a:r>
              <a:rPr lang="en-US" sz="2400" b="1" dirty="0">
                <a:solidFill>
                  <a:srgbClr val="D1416B"/>
                </a:solidFill>
                <a:latin typeface="Courier New" pitchFamily="34" charset="0"/>
                <a:ea typeface="Courier New" pitchFamily="34" charset="-122"/>
                <a:cs typeface="Courier New" pitchFamily="34" charset="-120"/>
              </a:rPr>
              <a:t>O</a:t>
            </a:r>
            <a:endParaRPr lang="en-US" sz="2400" dirty="0"/>
          </a:p>
        </p:txBody>
      </p:sp>
      <p:sp>
        <p:nvSpPr>
          <p:cNvPr id="32" name="Shape 29"/>
          <p:cNvSpPr/>
          <p:nvPr/>
        </p:nvSpPr>
        <p:spPr>
          <a:xfrm>
            <a:off x="5120640" y="2514600"/>
            <a:ext cx="685800" cy="640080"/>
          </a:xfrm>
          <a:prstGeom prst="roundRect">
            <a:avLst>
              <a:gd name="adj" fmla="val 11429"/>
            </a:avLst>
          </a:prstGeom>
          <a:solidFill>
            <a:srgbClr val="F3EEFF"/>
          </a:solidFill>
          <a:ln/>
        </p:spPr>
      </p:sp>
      <p:sp>
        <p:nvSpPr>
          <p:cNvPr id="33" name="Text 30"/>
          <p:cNvSpPr txBox="1"/>
          <p:nvPr/>
        </p:nvSpPr>
        <p:spPr>
          <a:xfrm>
            <a:off x="5120640" y="2514600"/>
            <a:ext cx="685800" cy="640080"/>
          </a:xfrm>
          <a:prstGeom prst="rect">
            <a:avLst/>
          </a:prstGeom>
          <a:noFill/>
          <a:ln/>
        </p:spPr>
        <p:txBody>
          <a:bodyPr wrap="square" lIns="0" tIns="0" rIns="0" bIns="0" rtlCol="0" anchor="ctr"/>
          <a:lstStyle/>
          <a:p>
            <a:pPr algn="ctr" indent="0" marL="0">
              <a:buNone/>
            </a:pPr>
            <a:r>
              <a:rPr lang="en-US" sz="2400" b="1" dirty="0">
                <a:solidFill>
                  <a:srgbClr val="D1416B"/>
                </a:solidFill>
                <a:latin typeface="Courier New" pitchFamily="34" charset="0"/>
                <a:ea typeface="Courier New" pitchFamily="34" charset="-122"/>
                <a:cs typeface="Courier New" pitchFamily="34" charset="-120"/>
              </a:rPr>
              <a:t>N</a:t>
            </a:r>
            <a:endParaRPr lang="en-US" sz="2400" dirty="0"/>
          </a:p>
        </p:txBody>
      </p:sp>
      <p:sp>
        <p:nvSpPr>
          <p:cNvPr id="34" name="Shape 31"/>
          <p:cNvSpPr/>
          <p:nvPr/>
        </p:nvSpPr>
        <p:spPr>
          <a:xfrm>
            <a:off x="5943600" y="2514600"/>
            <a:ext cx="685800" cy="640080"/>
          </a:xfrm>
          <a:prstGeom prst="roundRect">
            <a:avLst>
              <a:gd name="adj" fmla="val 11429"/>
            </a:avLst>
          </a:prstGeom>
          <a:solidFill>
            <a:srgbClr val="F3EEFF"/>
          </a:solidFill>
          <a:ln/>
        </p:spPr>
      </p:sp>
      <p:sp>
        <p:nvSpPr>
          <p:cNvPr id="35" name="Text 32"/>
          <p:cNvSpPr txBox="1"/>
          <p:nvPr/>
        </p:nvSpPr>
        <p:spPr>
          <a:xfrm>
            <a:off x="5943600" y="2514600"/>
            <a:ext cx="685800" cy="640080"/>
          </a:xfrm>
          <a:prstGeom prst="rect">
            <a:avLst/>
          </a:prstGeom>
          <a:noFill/>
          <a:ln/>
        </p:spPr>
        <p:txBody>
          <a:bodyPr wrap="square" lIns="0" tIns="0" rIns="0" bIns="0" rtlCol="0" anchor="ctr"/>
          <a:lstStyle/>
          <a:p>
            <a:pPr algn="ctr" indent="0" marL="0">
              <a:buNone/>
            </a:pPr>
            <a:r>
              <a:rPr lang="en-US" sz="2400" b="1" dirty="0">
                <a:solidFill>
                  <a:srgbClr val="D1416B"/>
                </a:solidFill>
                <a:latin typeface="Courier New" pitchFamily="34" charset="0"/>
                <a:ea typeface="Courier New" pitchFamily="34" charset="-122"/>
                <a:cs typeface="Courier New" pitchFamily="34" charset="-120"/>
              </a:rPr>
              <a:t>L</a:t>
            </a:r>
            <a:endParaRPr lang="en-US" sz="2400" dirty="0"/>
          </a:p>
        </p:txBody>
      </p:sp>
      <p:sp>
        <p:nvSpPr>
          <p:cNvPr id="36" name="Text 33"/>
          <p:cNvSpPr txBox="1"/>
          <p:nvPr/>
        </p:nvSpPr>
        <p:spPr>
          <a:xfrm>
            <a:off x="548640" y="3337560"/>
            <a:ext cx="1188720" cy="640080"/>
          </a:xfrm>
          <a:prstGeom prst="rect">
            <a:avLst/>
          </a:prstGeom>
          <a:noFill/>
          <a:ln/>
        </p:spPr>
        <p:txBody>
          <a:bodyPr wrap="square" lIns="0" tIns="0" rIns="0" bIns="0" rtlCol="0" anchor="ctr"/>
          <a:lstStyle/>
          <a:p>
            <a:pPr indent="0" marL="0">
              <a:buNone/>
            </a:pPr>
            <a:r>
              <a:rPr lang="en-US" sz="1500" b="1" dirty="0">
                <a:solidFill>
                  <a:srgbClr val="56657E"/>
                </a:solidFill>
                <a:latin typeface="Calibri" pitchFamily="34" charset="0"/>
                <a:ea typeface="Calibri" pitchFamily="34" charset="-122"/>
                <a:cs typeface="Calibri" pitchFamily="34" charset="-120"/>
              </a:rPr>
              <a:t>cipher</a:t>
            </a:r>
            <a:endParaRPr lang="en-US" sz="1500" dirty="0"/>
          </a:p>
        </p:txBody>
      </p:sp>
      <p:sp>
        <p:nvSpPr>
          <p:cNvPr id="37" name="Shape 34"/>
          <p:cNvSpPr/>
          <p:nvPr/>
        </p:nvSpPr>
        <p:spPr>
          <a:xfrm>
            <a:off x="1828800" y="3337560"/>
            <a:ext cx="685800" cy="640080"/>
          </a:xfrm>
          <a:prstGeom prst="roundRect">
            <a:avLst>
              <a:gd name="adj" fmla="val 11429"/>
            </a:avLst>
          </a:prstGeom>
          <a:solidFill>
            <a:srgbClr val="F1F5FB"/>
          </a:solidFill>
          <a:ln/>
        </p:spPr>
      </p:sp>
      <p:sp>
        <p:nvSpPr>
          <p:cNvPr id="38" name="Text 35"/>
          <p:cNvSpPr txBox="1"/>
          <p:nvPr/>
        </p:nvSpPr>
        <p:spPr>
          <a:xfrm>
            <a:off x="1828800" y="3337560"/>
            <a:ext cx="685800" cy="640080"/>
          </a:xfrm>
          <a:prstGeom prst="rect">
            <a:avLst/>
          </a:prstGeom>
          <a:noFill/>
          <a:ln/>
        </p:spPr>
        <p:txBody>
          <a:bodyPr wrap="square" lIns="0" tIns="0" rIns="0" bIns="0" rtlCol="0" anchor="ctr"/>
          <a:lstStyle/>
          <a:p>
            <a:pPr algn="ctr" indent="0" marL="0">
              <a:buNone/>
            </a:pPr>
            <a:r>
              <a:rPr lang="en-US" sz="2400" b="1" dirty="0">
                <a:solidFill>
                  <a:srgbClr val="5B6EE1"/>
                </a:solidFill>
                <a:latin typeface="Courier New" pitchFamily="34" charset="0"/>
                <a:ea typeface="Courier New" pitchFamily="34" charset="-122"/>
                <a:cs typeface="Courier New" pitchFamily="34" charset="-120"/>
              </a:rPr>
              <a:t>L</a:t>
            </a:r>
            <a:endParaRPr lang="en-US" sz="2400" dirty="0"/>
          </a:p>
        </p:txBody>
      </p:sp>
      <p:sp>
        <p:nvSpPr>
          <p:cNvPr id="39" name="Shape 36"/>
          <p:cNvSpPr/>
          <p:nvPr/>
        </p:nvSpPr>
        <p:spPr>
          <a:xfrm>
            <a:off x="2651760" y="3337560"/>
            <a:ext cx="685800" cy="640080"/>
          </a:xfrm>
          <a:prstGeom prst="roundRect">
            <a:avLst>
              <a:gd name="adj" fmla="val 11429"/>
            </a:avLst>
          </a:prstGeom>
          <a:solidFill>
            <a:srgbClr val="F1F5FB"/>
          </a:solidFill>
          <a:ln/>
        </p:spPr>
      </p:sp>
      <p:sp>
        <p:nvSpPr>
          <p:cNvPr id="40" name="Text 37"/>
          <p:cNvSpPr txBox="1"/>
          <p:nvPr/>
        </p:nvSpPr>
        <p:spPr>
          <a:xfrm>
            <a:off x="2651760" y="3337560"/>
            <a:ext cx="685800" cy="640080"/>
          </a:xfrm>
          <a:prstGeom prst="rect">
            <a:avLst/>
          </a:prstGeom>
          <a:noFill/>
          <a:ln/>
        </p:spPr>
        <p:txBody>
          <a:bodyPr wrap="square" lIns="0" tIns="0" rIns="0" bIns="0" rtlCol="0" anchor="ctr"/>
          <a:lstStyle/>
          <a:p>
            <a:pPr algn="ctr" indent="0" marL="0">
              <a:buNone/>
            </a:pPr>
            <a:r>
              <a:rPr lang="en-US" sz="2400" b="1" dirty="0">
                <a:solidFill>
                  <a:srgbClr val="5B6EE1"/>
                </a:solidFill>
                <a:latin typeface="Courier New" pitchFamily="34" charset="0"/>
                <a:ea typeface="Courier New" pitchFamily="34" charset="-122"/>
                <a:cs typeface="Courier New" pitchFamily="34" charset="-120"/>
              </a:rPr>
              <a:t>X</a:t>
            </a:r>
            <a:endParaRPr lang="en-US" sz="2400" dirty="0"/>
          </a:p>
        </p:txBody>
      </p:sp>
      <p:sp>
        <p:nvSpPr>
          <p:cNvPr id="41" name="Shape 38"/>
          <p:cNvSpPr/>
          <p:nvPr/>
        </p:nvSpPr>
        <p:spPr>
          <a:xfrm>
            <a:off x="3474720" y="3337560"/>
            <a:ext cx="685800" cy="640080"/>
          </a:xfrm>
          <a:prstGeom prst="roundRect">
            <a:avLst>
              <a:gd name="adj" fmla="val 11429"/>
            </a:avLst>
          </a:prstGeom>
          <a:solidFill>
            <a:srgbClr val="F1F5FB"/>
          </a:solidFill>
          <a:ln/>
        </p:spPr>
      </p:sp>
      <p:sp>
        <p:nvSpPr>
          <p:cNvPr id="42" name="Text 39"/>
          <p:cNvSpPr txBox="1"/>
          <p:nvPr/>
        </p:nvSpPr>
        <p:spPr>
          <a:xfrm>
            <a:off x="3474720" y="3337560"/>
            <a:ext cx="685800" cy="640080"/>
          </a:xfrm>
          <a:prstGeom prst="rect">
            <a:avLst/>
          </a:prstGeom>
          <a:noFill/>
          <a:ln/>
        </p:spPr>
        <p:txBody>
          <a:bodyPr wrap="square" lIns="0" tIns="0" rIns="0" bIns="0" rtlCol="0" anchor="ctr"/>
          <a:lstStyle/>
          <a:p>
            <a:pPr algn="ctr" indent="0" marL="0">
              <a:buNone/>
            </a:pPr>
            <a:r>
              <a:rPr lang="en-US" sz="2400" b="1" dirty="0">
                <a:solidFill>
                  <a:srgbClr val="5B6EE1"/>
                </a:solidFill>
                <a:latin typeface="Courier New" pitchFamily="34" charset="0"/>
                <a:ea typeface="Courier New" pitchFamily="34" charset="-122"/>
                <a:cs typeface="Courier New" pitchFamily="34" charset="-120"/>
              </a:rPr>
              <a:t>F</a:t>
            </a:r>
            <a:endParaRPr lang="en-US" sz="2400" dirty="0"/>
          </a:p>
        </p:txBody>
      </p:sp>
      <p:sp>
        <p:nvSpPr>
          <p:cNvPr id="43" name="Shape 40"/>
          <p:cNvSpPr/>
          <p:nvPr/>
        </p:nvSpPr>
        <p:spPr>
          <a:xfrm>
            <a:off x="4297680" y="3337560"/>
            <a:ext cx="685800" cy="640080"/>
          </a:xfrm>
          <a:prstGeom prst="roundRect">
            <a:avLst>
              <a:gd name="adj" fmla="val 11429"/>
            </a:avLst>
          </a:prstGeom>
          <a:solidFill>
            <a:srgbClr val="F1F5FB"/>
          </a:solidFill>
          <a:ln/>
        </p:spPr>
      </p:sp>
      <p:sp>
        <p:nvSpPr>
          <p:cNvPr id="44" name="Text 41"/>
          <p:cNvSpPr txBox="1"/>
          <p:nvPr/>
        </p:nvSpPr>
        <p:spPr>
          <a:xfrm>
            <a:off x="4297680" y="3337560"/>
            <a:ext cx="685800" cy="640080"/>
          </a:xfrm>
          <a:prstGeom prst="rect">
            <a:avLst/>
          </a:prstGeom>
          <a:noFill/>
          <a:ln/>
        </p:spPr>
        <p:txBody>
          <a:bodyPr wrap="square" lIns="0" tIns="0" rIns="0" bIns="0" rtlCol="0" anchor="ctr"/>
          <a:lstStyle/>
          <a:p>
            <a:pPr algn="ctr" indent="0" marL="0">
              <a:buNone/>
            </a:pPr>
            <a:r>
              <a:rPr lang="en-US" sz="2400" b="1" dirty="0">
                <a:solidFill>
                  <a:srgbClr val="5B6EE1"/>
                </a:solidFill>
                <a:latin typeface="Courier New" pitchFamily="34" charset="0"/>
                <a:ea typeface="Courier New" pitchFamily="34" charset="-122"/>
                <a:cs typeface="Courier New" pitchFamily="34" charset="-120"/>
              </a:rPr>
              <a:t>O</a:t>
            </a:r>
            <a:endParaRPr lang="en-US" sz="2400" dirty="0"/>
          </a:p>
        </p:txBody>
      </p:sp>
      <p:sp>
        <p:nvSpPr>
          <p:cNvPr id="45" name="Shape 42"/>
          <p:cNvSpPr/>
          <p:nvPr/>
        </p:nvSpPr>
        <p:spPr>
          <a:xfrm>
            <a:off x="5120640" y="3337560"/>
            <a:ext cx="685800" cy="640080"/>
          </a:xfrm>
          <a:prstGeom prst="roundRect">
            <a:avLst>
              <a:gd name="adj" fmla="val 11429"/>
            </a:avLst>
          </a:prstGeom>
          <a:solidFill>
            <a:srgbClr val="F1F5FB"/>
          </a:solidFill>
          <a:ln/>
        </p:spPr>
      </p:sp>
      <p:sp>
        <p:nvSpPr>
          <p:cNvPr id="46" name="Text 43"/>
          <p:cNvSpPr txBox="1"/>
          <p:nvPr/>
        </p:nvSpPr>
        <p:spPr>
          <a:xfrm>
            <a:off x="5120640" y="3337560"/>
            <a:ext cx="685800" cy="640080"/>
          </a:xfrm>
          <a:prstGeom prst="rect">
            <a:avLst/>
          </a:prstGeom>
          <a:noFill/>
          <a:ln/>
        </p:spPr>
        <p:txBody>
          <a:bodyPr wrap="square" lIns="0" tIns="0" rIns="0" bIns="0" rtlCol="0" anchor="ctr"/>
          <a:lstStyle/>
          <a:p>
            <a:pPr algn="ctr" indent="0" marL="0">
              <a:buNone/>
            </a:pPr>
            <a:r>
              <a:rPr lang="en-US" sz="2400" b="1" dirty="0">
                <a:solidFill>
                  <a:srgbClr val="5B6EE1"/>
                </a:solidFill>
                <a:latin typeface="Courier New" pitchFamily="34" charset="0"/>
                <a:ea typeface="Courier New" pitchFamily="34" charset="-122"/>
                <a:cs typeface="Courier New" pitchFamily="34" charset="-120"/>
              </a:rPr>
              <a:t>P</a:t>
            </a:r>
            <a:endParaRPr lang="en-US" sz="2400" dirty="0"/>
          </a:p>
        </p:txBody>
      </p:sp>
      <p:sp>
        <p:nvSpPr>
          <p:cNvPr id="47" name="Shape 44"/>
          <p:cNvSpPr/>
          <p:nvPr/>
        </p:nvSpPr>
        <p:spPr>
          <a:xfrm>
            <a:off x="5943600" y="3337560"/>
            <a:ext cx="685800" cy="640080"/>
          </a:xfrm>
          <a:prstGeom prst="roundRect">
            <a:avLst>
              <a:gd name="adj" fmla="val 11429"/>
            </a:avLst>
          </a:prstGeom>
          <a:solidFill>
            <a:srgbClr val="F1F5FB"/>
          </a:solidFill>
          <a:ln/>
        </p:spPr>
      </p:sp>
      <p:sp>
        <p:nvSpPr>
          <p:cNvPr id="48" name="Text 45"/>
          <p:cNvSpPr txBox="1"/>
          <p:nvPr/>
        </p:nvSpPr>
        <p:spPr>
          <a:xfrm>
            <a:off x="5943600" y="3337560"/>
            <a:ext cx="685800" cy="640080"/>
          </a:xfrm>
          <a:prstGeom prst="rect">
            <a:avLst/>
          </a:prstGeom>
          <a:noFill/>
          <a:ln/>
        </p:spPr>
        <p:txBody>
          <a:bodyPr wrap="square" lIns="0" tIns="0" rIns="0" bIns="0" rtlCol="0" anchor="ctr"/>
          <a:lstStyle/>
          <a:p>
            <a:pPr algn="ctr" indent="0" marL="0">
              <a:buNone/>
            </a:pPr>
            <a:r>
              <a:rPr lang="en-US" sz="2400" b="1" dirty="0">
                <a:solidFill>
                  <a:srgbClr val="5B6EE1"/>
                </a:solidFill>
                <a:latin typeface="Courier New" pitchFamily="34" charset="0"/>
                <a:ea typeface="Courier New" pitchFamily="34" charset="-122"/>
                <a:cs typeface="Courier New" pitchFamily="34" charset="-120"/>
              </a:rPr>
              <a:t>V</a:t>
            </a:r>
            <a:endParaRPr lang="en-US" sz="2400" dirty="0"/>
          </a:p>
        </p:txBody>
      </p:sp>
      <p:sp>
        <p:nvSpPr>
          <p:cNvPr id="49" name="Shape 46"/>
          <p:cNvSpPr/>
          <p:nvPr/>
        </p:nvSpPr>
        <p:spPr>
          <a:xfrm>
            <a:off x="548640" y="4343400"/>
            <a:ext cx="2560320" cy="457200"/>
          </a:xfrm>
          <a:prstGeom prst="roundRect">
            <a:avLst>
              <a:gd name="adj" fmla="val 16000"/>
            </a:avLst>
          </a:prstGeom>
          <a:solidFill>
            <a:srgbClr val="0E1726"/>
          </a:solidFill>
          <a:ln/>
        </p:spPr>
      </p:sp>
      <p:sp>
        <p:nvSpPr>
          <p:cNvPr id="50" name="Text 47"/>
          <p:cNvSpPr txBox="1"/>
          <p:nvPr/>
        </p:nvSpPr>
        <p:spPr>
          <a:xfrm>
            <a:off x="548640" y="4343400"/>
            <a:ext cx="25603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vigenere -e KEY</a:t>
            </a:r>
            <a:endParaRPr lang="en-US" sz="1500" dirty="0"/>
          </a:p>
        </p:txBody>
      </p:sp>
      <p:sp>
        <p:nvSpPr>
          <p:cNvPr id="51" name="Text 48"/>
          <p:cNvSpPr txBox="1"/>
          <p:nvPr/>
        </p:nvSpPr>
        <p:spPr>
          <a:xfrm>
            <a:off x="3337560" y="434340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encrypt with a keyword</a:t>
            </a:r>
            <a:endParaRPr lang="en-US" sz="1700" dirty="0"/>
          </a:p>
        </p:txBody>
      </p:sp>
      <p:sp>
        <p:nvSpPr>
          <p:cNvPr id="52" name="Shape 49"/>
          <p:cNvSpPr/>
          <p:nvPr/>
        </p:nvSpPr>
        <p:spPr>
          <a:xfrm>
            <a:off x="548640" y="4937760"/>
            <a:ext cx="2560320" cy="457200"/>
          </a:xfrm>
          <a:prstGeom prst="roundRect">
            <a:avLst>
              <a:gd name="adj" fmla="val 16000"/>
            </a:avLst>
          </a:prstGeom>
          <a:solidFill>
            <a:srgbClr val="0E1726"/>
          </a:solidFill>
          <a:ln/>
        </p:spPr>
      </p:sp>
      <p:sp>
        <p:nvSpPr>
          <p:cNvPr id="53" name="Text 50"/>
          <p:cNvSpPr txBox="1"/>
          <p:nvPr/>
        </p:nvSpPr>
        <p:spPr>
          <a:xfrm>
            <a:off x="548640" y="4937760"/>
            <a:ext cx="25603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vigenere -d KEY</a:t>
            </a:r>
            <a:endParaRPr lang="en-US" sz="1500" dirty="0"/>
          </a:p>
        </p:txBody>
      </p:sp>
      <p:sp>
        <p:nvSpPr>
          <p:cNvPr id="54" name="Text 51"/>
          <p:cNvSpPr txBox="1"/>
          <p:nvPr/>
        </p:nvSpPr>
        <p:spPr>
          <a:xfrm>
            <a:off x="3337560" y="4937760"/>
            <a:ext cx="3246120" cy="457200"/>
          </a:xfrm>
          <a:prstGeom prst="rect">
            <a:avLst/>
          </a:prstGeom>
          <a:noFill/>
          <a:ln/>
        </p:spPr>
        <p:txBody>
          <a:bodyPr wrap="square" lIns="0" tIns="0" rIns="0" bIns="0" rtlCol="0" anchor="ctr"/>
          <a:lstStyle/>
          <a:p>
            <a:pPr indent="0" marL="0">
              <a:buNone/>
            </a:pPr>
            <a:r>
              <a:rPr lang="en-US" sz="1700" dirty="0">
                <a:solidFill>
                  <a:srgbClr val="12213A"/>
                </a:solidFill>
                <a:latin typeface="Calibri" pitchFamily="34" charset="0"/>
                <a:ea typeface="Calibri" pitchFamily="34" charset="-122"/>
                <a:cs typeface="Calibri" pitchFamily="34" charset="-120"/>
              </a:rPr>
              <a:t>decrypt with the keyword</a:t>
            </a:r>
            <a:endParaRPr lang="en-US" sz="1700" dirty="0"/>
          </a:p>
        </p:txBody>
      </p:sp>
      <p:sp>
        <p:nvSpPr>
          <p:cNvPr id="55" name="Shape 52"/>
          <p:cNvSpPr/>
          <p:nvPr/>
        </p:nvSpPr>
        <p:spPr>
          <a:xfrm>
            <a:off x="6949440" y="1463040"/>
            <a:ext cx="469087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56" name="Shape 53"/>
          <p:cNvSpPr/>
          <p:nvPr/>
        </p:nvSpPr>
        <p:spPr>
          <a:xfrm>
            <a:off x="7150608" y="1618488"/>
            <a:ext cx="118872" cy="118872"/>
          </a:xfrm>
          <a:prstGeom prst="ellipse">
            <a:avLst/>
          </a:prstGeom>
          <a:solidFill>
            <a:srgbClr val="E5534B"/>
          </a:solidFill>
          <a:ln/>
        </p:spPr>
      </p:sp>
      <p:sp>
        <p:nvSpPr>
          <p:cNvPr id="57" name="Shape 54"/>
          <p:cNvSpPr/>
          <p:nvPr/>
        </p:nvSpPr>
        <p:spPr>
          <a:xfrm>
            <a:off x="7351776" y="1618488"/>
            <a:ext cx="118872" cy="118872"/>
          </a:xfrm>
          <a:prstGeom prst="ellipse">
            <a:avLst/>
          </a:prstGeom>
          <a:solidFill>
            <a:srgbClr val="F5A623"/>
          </a:solidFill>
          <a:ln/>
        </p:spPr>
      </p:sp>
      <p:sp>
        <p:nvSpPr>
          <p:cNvPr id="58" name="Shape 55"/>
          <p:cNvSpPr/>
          <p:nvPr/>
        </p:nvSpPr>
        <p:spPr>
          <a:xfrm>
            <a:off x="7552944" y="1618488"/>
            <a:ext cx="118872" cy="118872"/>
          </a:xfrm>
          <a:prstGeom prst="ellipse">
            <a:avLst/>
          </a:prstGeom>
          <a:solidFill>
            <a:srgbClr val="46D39A"/>
          </a:solidFill>
          <a:ln/>
        </p:spPr>
      </p:sp>
      <p:sp>
        <p:nvSpPr>
          <p:cNvPr id="59" name="Text 56"/>
          <p:cNvSpPr txBox="1"/>
          <p:nvPr/>
        </p:nvSpPr>
        <p:spPr>
          <a:xfrm>
            <a:off x="7863840" y="1536192"/>
            <a:ext cx="286207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60" name="Text 57"/>
          <p:cNvSpPr txBox="1"/>
          <p:nvPr/>
        </p:nvSpPr>
        <p:spPr>
          <a:xfrm>
            <a:off x="7223760" y="1920240"/>
            <a:ext cx="4142232" cy="3886200"/>
          </a:xfrm>
          <a:prstGeom prst="rect">
            <a:avLst/>
          </a:prstGeom>
          <a:noFill/>
          <a:ln/>
        </p:spPr>
        <p:txBody>
          <a:bodyPr wrap="square" lIns="0" tIns="0" rIns="0" bIns="0" rtlCol="0" anchor="t"/>
          <a:lstStyle/>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ATTACK | vigenere -e LEMON</a:t>
            </a:r>
            <a:endParaRPr lang="en-US" sz="1500" dirty="0"/>
          </a:p>
          <a:p>
            <a:pPr indent="0" marL="0">
              <a:spcAft>
                <a:spcPts val="200"/>
              </a:spcAft>
              <a:buNone/>
            </a:pPr>
            <a:r>
              <a:rPr lang="en-US" sz="1500" b="1" dirty="0">
                <a:solidFill>
                  <a:srgbClr val="F5A623"/>
                </a:solidFill>
                <a:latin typeface="Courier New" pitchFamily="34" charset="0"/>
                <a:ea typeface="Courier New" pitchFamily="34" charset="-122"/>
                <a:cs typeface="Courier New" pitchFamily="34" charset="-120"/>
              </a:rPr>
              <a:t>LXFOPV</a:t>
            </a:r>
            <a:endParaRPr lang="en-US" sz="1500" dirty="0"/>
          </a:p>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LXFOPV | vigenere -d LEMON</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ATTACK</a:t>
            </a:r>
            <a:endParaRPr lang="en-US" sz="1500" dirty="0"/>
          </a:p>
          <a:p>
            <a:pPr indent="0" marL="0">
              <a:spcAft>
                <a:spcPts val="200"/>
              </a:spcAft>
              <a:buNone/>
            </a:pPr>
            <a:r>
              <a:rPr lang="en-US" sz="1500" dirty="0">
                <a:solidFill>
                  <a:srgbClr val="7F8FAD"/>
                </a:solidFill>
                <a:latin typeface="Courier New" pitchFamily="34" charset="0"/>
                <a:ea typeface="Courier New" pitchFamily="34" charset="-122"/>
                <a:cs typeface="Courier New" pitchFamily="34" charset="-120"/>
              </a:rPr>
              <a:t># the two Ts became X and F</a:t>
            </a:r>
            <a:endParaRPr lang="en-US" sz="1500" dirty="0"/>
          </a:p>
        </p:txBody>
      </p:sp>
      <p:sp>
        <p:nvSpPr>
          <p:cNvPr id="61" name="Text 58"/>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20 / 61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Chain decoders with pipes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echo aGkK | base64 -d</a:t>
            </a:r>
            <a:endParaRPr lang="en-US" sz="1300" dirty="0"/>
          </a:p>
        </p:txBody>
      </p:sp>
      <p:sp>
        <p:nvSpPr>
          <p:cNvPr id="8" name="Shape 5"/>
          <p:cNvSpPr/>
          <p:nvPr/>
        </p:nvSpPr>
        <p:spPr>
          <a:xfrm>
            <a:off x="548640" y="109728"/>
            <a:ext cx="1444752" cy="274320"/>
          </a:xfrm>
          <a:prstGeom prst="roundRect">
            <a:avLst>
              <a:gd name="adj" fmla="val 50000"/>
            </a:avLst>
          </a:prstGeom>
          <a:solidFill>
            <a:srgbClr val="B4233F"/>
          </a:solidFill>
          <a:ln/>
        </p:spPr>
      </p:sp>
      <p:sp>
        <p:nvSpPr>
          <p:cNvPr id="9" name="Text 6"/>
          <p:cNvSpPr txBox="1"/>
          <p:nvPr/>
        </p:nvSpPr>
        <p:spPr>
          <a:xfrm>
            <a:off x="548640" y="109728"/>
            <a:ext cx="1444752"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 mission 10</a:t>
            </a:r>
            <a:endParaRPr lang="en-US" sz="1100" dirty="0"/>
          </a:p>
        </p:txBody>
      </p:sp>
      <p:sp>
        <p:nvSpPr>
          <p:cNvPr id="10" name="Shape 7"/>
          <p:cNvSpPr/>
          <p:nvPr/>
        </p:nvSpPr>
        <p:spPr>
          <a:xfrm>
            <a:off x="548640" y="1600200"/>
            <a:ext cx="2514600" cy="1371600"/>
          </a:xfrm>
          <a:prstGeom prst="roundRect">
            <a:avLst>
              <a:gd name="adj" fmla="val 6667"/>
            </a:avLst>
          </a:prstGeom>
          <a:solidFill>
            <a:srgbClr val="17875A"/>
          </a:solidFill>
          <a:ln/>
        </p:spPr>
      </p:sp>
      <p:sp>
        <p:nvSpPr>
          <p:cNvPr id="11" name="Text 8"/>
          <p:cNvSpPr txBox="1"/>
          <p:nvPr/>
        </p:nvSpPr>
        <p:spPr>
          <a:xfrm>
            <a:off x="548640" y="1600200"/>
            <a:ext cx="2514600" cy="13716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vault.b64</a:t>
            </a:r>
            <a:endParaRPr lang="en-US" sz="1700" dirty="0"/>
          </a:p>
          <a:p>
            <a:pPr algn="ctr" indent="0" marL="0">
              <a:buNone/>
            </a:pPr>
            <a:r>
              <a:rPr lang="en-US" sz="1400" dirty="0">
                <a:solidFill>
                  <a:srgbClr val="FFFFFF"/>
                </a:solidFill>
                <a:latin typeface="Calibri" pitchFamily="34" charset="0"/>
                <a:ea typeface="Calibri" pitchFamily="34" charset="-122"/>
                <a:cs typeface="Calibri" pitchFamily="34" charset="-120"/>
              </a:rPr>
              <a:t>base64 on the outside</a:t>
            </a:r>
            <a:endParaRPr lang="en-US" sz="1700" dirty="0"/>
          </a:p>
        </p:txBody>
      </p:sp>
      <p:sp>
        <p:nvSpPr>
          <p:cNvPr id="12" name="Text 9"/>
          <p:cNvSpPr txBox="1"/>
          <p:nvPr/>
        </p:nvSpPr>
        <p:spPr>
          <a:xfrm>
            <a:off x="3063240" y="1600200"/>
            <a:ext cx="292608" cy="1371600"/>
          </a:xfrm>
          <a:prstGeom prst="rect">
            <a:avLst/>
          </a:prstGeom>
          <a:noFill/>
          <a:ln/>
        </p:spPr>
        <p:txBody>
          <a:bodyPr wrap="square" lIns="0" tIns="0" rIns="0" bIns="0" rtlCol="0" anchor="ctr"/>
          <a:lstStyle/>
          <a:p>
            <a:pPr algn="ctr" indent="0" marL="0">
              <a:buNone/>
            </a:pPr>
            <a:r>
              <a:rPr lang="en-US" sz="3000" b="1" dirty="0">
                <a:solidFill>
                  <a:srgbClr val="56657E"/>
                </a:solidFill>
                <a:latin typeface="Courier New" pitchFamily="34" charset="0"/>
                <a:ea typeface="Courier New" pitchFamily="34" charset="-122"/>
                <a:cs typeface="Courier New" pitchFamily="34" charset="-120"/>
              </a:rPr>
              <a:t>|</a:t>
            </a:r>
            <a:endParaRPr lang="en-US" sz="3000" dirty="0"/>
          </a:p>
        </p:txBody>
      </p:sp>
      <p:sp>
        <p:nvSpPr>
          <p:cNvPr id="13" name="Shape 10"/>
          <p:cNvSpPr/>
          <p:nvPr/>
        </p:nvSpPr>
        <p:spPr>
          <a:xfrm>
            <a:off x="3355848" y="1600200"/>
            <a:ext cx="2514600" cy="1371600"/>
          </a:xfrm>
          <a:prstGeom prst="roundRect">
            <a:avLst>
              <a:gd name="adj" fmla="val 6667"/>
            </a:avLst>
          </a:prstGeom>
          <a:solidFill>
            <a:srgbClr val="2A9FD6"/>
          </a:solidFill>
          <a:ln/>
        </p:spPr>
      </p:sp>
      <p:sp>
        <p:nvSpPr>
          <p:cNvPr id="14" name="Text 11"/>
          <p:cNvSpPr txBox="1"/>
          <p:nvPr/>
        </p:nvSpPr>
        <p:spPr>
          <a:xfrm>
            <a:off x="3355848" y="1600200"/>
            <a:ext cx="2514600" cy="13716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base64 -d</a:t>
            </a:r>
            <a:endParaRPr lang="en-US" sz="1700" dirty="0"/>
          </a:p>
          <a:p>
            <a:pPr algn="ctr" indent="0" marL="0">
              <a:buNone/>
            </a:pPr>
            <a:r>
              <a:rPr lang="en-US" sz="1400" dirty="0">
                <a:solidFill>
                  <a:srgbClr val="FFFFFF"/>
                </a:solidFill>
                <a:latin typeface="Calibri" pitchFamily="34" charset="0"/>
                <a:ea typeface="Calibri" pitchFamily="34" charset="-122"/>
                <a:cs typeface="Calibri" pitchFamily="34" charset="-120"/>
              </a:rPr>
              <a:t>peel the outer layer</a:t>
            </a:r>
            <a:endParaRPr lang="en-US" sz="1700" dirty="0"/>
          </a:p>
        </p:txBody>
      </p:sp>
      <p:sp>
        <p:nvSpPr>
          <p:cNvPr id="15" name="Text 12"/>
          <p:cNvSpPr txBox="1"/>
          <p:nvPr/>
        </p:nvSpPr>
        <p:spPr>
          <a:xfrm>
            <a:off x="5870448" y="1600200"/>
            <a:ext cx="292608" cy="1371600"/>
          </a:xfrm>
          <a:prstGeom prst="rect">
            <a:avLst/>
          </a:prstGeom>
          <a:noFill/>
          <a:ln/>
        </p:spPr>
        <p:txBody>
          <a:bodyPr wrap="square" lIns="0" tIns="0" rIns="0" bIns="0" rtlCol="0" anchor="ctr"/>
          <a:lstStyle/>
          <a:p>
            <a:pPr algn="ctr" indent="0" marL="0">
              <a:buNone/>
            </a:pPr>
            <a:r>
              <a:rPr lang="en-US" sz="3000" b="1" dirty="0">
                <a:solidFill>
                  <a:srgbClr val="56657E"/>
                </a:solidFill>
                <a:latin typeface="Courier New" pitchFamily="34" charset="0"/>
                <a:ea typeface="Courier New" pitchFamily="34" charset="-122"/>
                <a:cs typeface="Courier New" pitchFamily="34" charset="-120"/>
              </a:rPr>
              <a:t>|</a:t>
            </a:r>
            <a:endParaRPr lang="en-US" sz="3000" dirty="0"/>
          </a:p>
        </p:txBody>
      </p:sp>
      <p:sp>
        <p:nvSpPr>
          <p:cNvPr id="16" name="Shape 13"/>
          <p:cNvSpPr/>
          <p:nvPr/>
        </p:nvSpPr>
        <p:spPr>
          <a:xfrm>
            <a:off x="6163056" y="1600200"/>
            <a:ext cx="2514600" cy="1371600"/>
          </a:xfrm>
          <a:prstGeom prst="roundRect">
            <a:avLst>
              <a:gd name="adj" fmla="val 6667"/>
            </a:avLst>
          </a:prstGeom>
          <a:solidFill>
            <a:srgbClr val="5B6EE1"/>
          </a:solidFill>
          <a:ln/>
        </p:spPr>
      </p:sp>
      <p:sp>
        <p:nvSpPr>
          <p:cNvPr id="17" name="Text 14"/>
          <p:cNvSpPr txBox="1"/>
          <p:nvPr/>
        </p:nvSpPr>
        <p:spPr>
          <a:xfrm>
            <a:off x="6163056" y="1600200"/>
            <a:ext cx="2514600" cy="13716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vigenere -d KEY</a:t>
            </a:r>
            <a:endParaRPr lang="en-US" sz="1700" dirty="0"/>
          </a:p>
          <a:p>
            <a:pPr algn="ctr" indent="0" marL="0">
              <a:buNone/>
            </a:pPr>
            <a:r>
              <a:rPr lang="en-US" sz="1400" dirty="0">
                <a:solidFill>
                  <a:srgbClr val="FFFFFF"/>
                </a:solidFill>
                <a:latin typeface="Calibri" pitchFamily="34" charset="0"/>
                <a:ea typeface="Calibri" pitchFamily="34" charset="-122"/>
                <a:cs typeface="Calibri" pitchFamily="34" charset="-120"/>
              </a:rPr>
              <a:t>decrypt the inside</a:t>
            </a:r>
            <a:endParaRPr lang="en-US" sz="1700" dirty="0"/>
          </a:p>
        </p:txBody>
      </p:sp>
      <p:sp>
        <p:nvSpPr>
          <p:cNvPr id="18" name="Text 15"/>
          <p:cNvSpPr txBox="1"/>
          <p:nvPr/>
        </p:nvSpPr>
        <p:spPr>
          <a:xfrm>
            <a:off x="8677656" y="1600200"/>
            <a:ext cx="292608" cy="1371600"/>
          </a:xfrm>
          <a:prstGeom prst="rect">
            <a:avLst/>
          </a:prstGeom>
          <a:noFill/>
          <a:ln/>
        </p:spPr>
        <p:txBody>
          <a:bodyPr wrap="square" lIns="0" tIns="0" rIns="0" bIns="0" rtlCol="0" anchor="ctr"/>
          <a:lstStyle/>
          <a:p>
            <a:pPr algn="ctr" indent="0" marL="0">
              <a:buNone/>
            </a:pPr>
            <a:r>
              <a:rPr lang="en-US" sz="3000" b="1" dirty="0">
                <a:solidFill>
                  <a:srgbClr val="56657E"/>
                </a:solidFill>
                <a:latin typeface="Courier New" pitchFamily="34" charset="0"/>
                <a:ea typeface="Courier New" pitchFamily="34" charset="-122"/>
                <a:cs typeface="Courier New" pitchFamily="34" charset="-120"/>
              </a:rPr>
              <a:t>|</a:t>
            </a:r>
            <a:endParaRPr lang="en-US" sz="3000" dirty="0"/>
          </a:p>
        </p:txBody>
      </p:sp>
      <p:sp>
        <p:nvSpPr>
          <p:cNvPr id="19" name="Shape 16"/>
          <p:cNvSpPr/>
          <p:nvPr/>
        </p:nvSpPr>
        <p:spPr>
          <a:xfrm>
            <a:off x="8970264" y="1600200"/>
            <a:ext cx="2514600" cy="1371600"/>
          </a:xfrm>
          <a:prstGeom prst="roundRect">
            <a:avLst>
              <a:gd name="adj" fmla="val 6667"/>
            </a:avLst>
          </a:prstGeom>
          <a:solidFill>
            <a:srgbClr val="17875A"/>
          </a:solidFill>
          <a:ln/>
        </p:spPr>
      </p:sp>
      <p:sp>
        <p:nvSpPr>
          <p:cNvPr id="20" name="Text 17"/>
          <p:cNvSpPr txBox="1"/>
          <p:nvPr/>
        </p:nvSpPr>
        <p:spPr>
          <a:xfrm>
            <a:off x="8970264" y="1600200"/>
            <a:ext cx="2514600" cy="13716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CYBA{...}</a:t>
            </a:r>
            <a:endParaRPr lang="en-US" sz="1700" dirty="0"/>
          </a:p>
          <a:p>
            <a:pPr algn="ctr" indent="0" marL="0">
              <a:buNone/>
            </a:pPr>
            <a:r>
              <a:rPr lang="en-US" sz="1400" dirty="0">
                <a:solidFill>
                  <a:srgbClr val="FFFFFF"/>
                </a:solidFill>
                <a:latin typeface="Calibri" pitchFamily="34" charset="0"/>
                <a:ea typeface="Calibri" pitchFamily="34" charset="-122"/>
                <a:cs typeface="Calibri" pitchFamily="34" charset="-120"/>
              </a:rPr>
              <a:t>the flag</a:t>
            </a:r>
            <a:endParaRPr lang="en-US" sz="1700" dirty="0"/>
          </a:p>
        </p:txBody>
      </p:sp>
      <p:sp>
        <p:nvSpPr>
          <p:cNvPr id="21" name="Shape 18"/>
          <p:cNvSpPr/>
          <p:nvPr/>
        </p:nvSpPr>
        <p:spPr>
          <a:xfrm>
            <a:off x="548640" y="3337560"/>
            <a:ext cx="457200" cy="457200"/>
          </a:xfrm>
          <a:prstGeom prst="ellipse">
            <a:avLst/>
          </a:prstGeom>
          <a:solidFill>
            <a:srgbClr val="2459D8"/>
          </a:solidFill>
          <a:ln/>
        </p:spPr>
      </p:sp>
      <p:sp>
        <p:nvSpPr>
          <p:cNvPr id="22" name="Text 19"/>
          <p:cNvSpPr txBox="1"/>
          <p:nvPr/>
        </p:nvSpPr>
        <p:spPr>
          <a:xfrm>
            <a:off x="548640" y="3337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3" name="Text 20"/>
          <p:cNvSpPr txBox="1"/>
          <p:nvPr/>
        </p:nvSpPr>
        <p:spPr>
          <a:xfrm>
            <a:off x="1188720" y="3310128"/>
            <a:ext cx="4846320" cy="566928"/>
          </a:xfrm>
          <a:prstGeom prst="rect">
            <a:avLst/>
          </a:prstGeom>
          <a:noFill/>
          <a:ln/>
        </p:spPr>
        <p:txBody>
          <a:bodyPr wrap="square" lIns="0" tIns="0" rIns="0" bIns="0" rtlCol="0" anchor="t"/>
          <a:lstStyle/>
          <a:p>
            <a:pPr indent="0" marL="0">
              <a:buNone/>
            </a:pPr>
            <a:r>
              <a:rPr lang="en-US" sz="1600" dirty="0">
                <a:solidFill>
                  <a:srgbClr val="12213A"/>
                </a:solidFill>
                <a:latin typeface="Calibri" pitchFamily="34" charset="0"/>
                <a:ea typeface="Calibri" pitchFamily="34" charset="-122"/>
                <a:cs typeface="Calibri" pitchFamily="34" charset="-120"/>
              </a:rPr>
              <a:t>Run the first step. Look at the output.</a:t>
            </a:r>
            <a:endParaRPr lang="en-US" sz="1600" dirty="0"/>
          </a:p>
        </p:txBody>
      </p:sp>
      <p:sp>
        <p:nvSpPr>
          <p:cNvPr id="24" name="Shape 21"/>
          <p:cNvSpPr/>
          <p:nvPr/>
        </p:nvSpPr>
        <p:spPr>
          <a:xfrm>
            <a:off x="548640" y="3995928"/>
            <a:ext cx="457200" cy="457200"/>
          </a:xfrm>
          <a:prstGeom prst="ellipse">
            <a:avLst/>
          </a:prstGeom>
          <a:solidFill>
            <a:srgbClr val="2459D8"/>
          </a:solidFill>
          <a:ln/>
        </p:spPr>
      </p:sp>
      <p:sp>
        <p:nvSpPr>
          <p:cNvPr id="25" name="Text 22"/>
          <p:cNvSpPr txBox="1"/>
          <p:nvPr/>
        </p:nvSpPr>
        <p:spPr>
          <a:xfrm>
            <a:off x="548640" y="39959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6" name="Text 23"/>
          <p:cNvSpPr txBox="1"/>
          <p:nvPr/>
        </p:nvSpPr>
        <p:spPr>
          <a:xfrm>
            <a:off x="1188720" y="3968496"/>
            <a:ext cx="4846320" cy="566928"/>
          </a:xfrm>
          <a:prstGeom prst="rect">
            <a:avLst/>
          </a:prstGeom>
          <a:noFill/>
          <a:ln/>
        </p:spPr>
        <p:txBody>
          <a:bodyPr wrap="square" lIns="0" tIns="0" rIns="0" bIns="0" rtlCol="0" anchor="t"/>
          <a:lstStyle/>
          <a:p>
            <a:pPr indent="0" marL="0">
              <a:buNone/>
            </a:pPr>
            <a:r>
              <a:rPr lang="en-US" sz="1600" dirty="0">
                <a:solidFill>
                  <a:srgbClr val="12213A"/>
                </a:solidFill>
                <a:latin typeface="Calibri" pitchFamily="34" charset="0"/>
                <a:ea typeface="Calibri" pitchFamily="34" charset="-122"/>
                <a:cs typeface="Calibri" pitchFamily="34" charset="-120"/>
              </a:rPr>
              <a:t>Identify what it is now.</a:t>
            </a:r>
            <a:endParaRPr lang="en-US" sz="1600" dirty="0"/>
          </a:p>
        </p:txBody>
      </p:sp>
      <p:sp>
        <p:nvSpPr>
          <p:cNvPr id="27" name="Shape 24"/>
          <p:cNvSpPr/>
          <p:nvPr/>
        </p:nvSpPr>
        <p:spPr>
          <a:xfrm>
            <a:off x="548640" y="4654296"/>
            <a:ext cx="457200" cy="457200"/>
          </a:xfrm>
          <a:prstGeom prst="ellipse">
            <a:avLst/>
          </a:prstGeom>
          <a:solidFill>
            <a:srgbClr val="2459D8"/>
          </a:solidFill>
          <a:ln/>
        </p:spPr>
      </p:sp>
      <p:sp>
        <p:nvSpPr>
          <p:cNvPr id="28" name="Text 25"/>
          <p:cNvSpPr txBox="1"/>
          <p:nvPr/>
        </p:nvSpPr>
        <p:spPr>
          <a:xfrm>
            <a:off x="548640" y="465429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9" name="Text 26"/>
          <p:cNvSpPr txBox="1"/>
          <p:nvPr/>
        </p:nvSpPr>
        <p:spPr>
          <a:xfrm>
            <a:off x="1188720" y="4626864"/>
            <a:ext cx="4846320" cy="566928"/>
          </a:xfrm>
          <a:prstGeom prst="rect">
            <a:avLst/>
          </a:prstGeom>
          <a:noFill/>
          <a:ln/>
        </p:spPr>
        <p:txBody>
          <a:bodyPr wrap="square" lIns="0" tIns="0" rIns="0" bIns="0" rtlCol="0" anchor="t"/>
          <a:lstStyle/>
          <a:p>
            <a:pPr indent="0" marL="0">
              <a:buNone/>
            </a:pPr>
            <a:r>
              <a:rPr lang="en-US" sz="1600" dirty="0">
                <a:solidFill>
                  <a:srgbClr val="12213A"/>
                </a:solidFill>
                <a:latin typeface="Calibri" pitchFamily="34" charset="0"/>
                <a:ea typeface="Calibri" pitchFamily="34" charset="-122"/>
                <a:cs typeface="Calibri" pitchFamily="34" charset="-120"/>
              </a:rPr>
              <a:t>Add one more | and the next tool.</a:t>
            </a:r>
            <a:endParaRPr lang="en-US" sz="1600" dirty="0"/>
          </a:p>
        </p:txBody>
      </p:sp>
      <p:sp>
        <p:nvSpPr>
          <p:cNvPr id="30" name="Shape 27"/>
          <p:cNvSpPr/>
          <p:nvPr/>
        </p:nvSpPr>
        <p:spPr>
          <a:xfrm>
            <a:off x="548640" y="5312664"/>
            <a:ext cx="457200" cy="457200"/>
          </a:xfrm>
          <a:prstGeom prst="ellipse">
            <a:avLst/>
          </a:prstGeom>
          <a:solidFill>
            <a:srgbClr val="2459D8"/>
          </a:solidFill>
          <a:ln/>
        </p:spPr>
      </p:sp>
      <p:sp>
        <p:nvSpPr>
          <p:cNvPr id="31" name="Text 28"/>
          <p:cNvSpPr txBox="1"/>
          <p:nvPr/>
        </p:nvSpPr>
        <p:spPr>
          <a:xfrm>
            <a:off x="548640" y="531266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2" name="Text 29"/>
          <p:cNvSpPr txBox="1"/>
          <p:nvPr/>
        </p:nvSpPr>
        <p:spPr>
          <a:xfrm>
            <a:off x="1188720" y="5285232"/>
            <a:ext cx="4846320" cy="566928"/>
          </a:xfrm>
          <a:prstGeom prst="rect">
            <a:avLst/>
          </a:prstGeom>
          <a:noFill/>
          <a:ln/>
        </p:spPr>
        <p:txBody>
          <a:bodyPr wrap="square" lIns="0" tIns="0" rIns="0" bIns="0" rtlCol="0" anchor="t"/>
          <a:lstStyle/>
          <a:p>
            <a:pPr indent="0" marL="0">
              <a:buNone/>
            </a:pPr>
            <a:r>
              <a:rPr lang="en-US" sz="1600" dirty="0">
                <a:solidFill>
                  <a:srgbClr val="12213A"/>
                </a:solidFill>
                <a:latin typeface="Calibri" pitchFamily="34" charset="0"/>
                <a:ea typeface="Calibri" pitchFamily="34" charset="-122"/>
                <a:cs typeface="Calibri" pitchFamily="34" charset="-120"/>
              </a:rPr>
              <a:t>Repeat until you see CYBA{.</a:t>
            </a:r>
            <a:endParaRPr lang="en-US" sz="1600" dirty="0"/>
          </a:p>
        </p:txBody>
      </p:sp>
      <p:sp>
        <p:nvSpPr>
          <p:cNvPr id="33" name="Shape 30"/>
          <p:cNvSpPr/>
          <p:nvPr/>
        </p:nvSpPr>
        <p:spPr>
          <a:xfrm>
            <a:off x="6309360" y="3246120"/>
            <a:ext cx="5330952" cy="2697480"/>
          </a:xfrm>
          <a:prstGeom prst="roundRect">
            <a:avLst>
              <a:gd name="adj" fmla="val 3390"/>
            </a:avLst>
          </a:prstGeom>
          <a:solidFill>
            <a:srgbClr val="0E1726"/>
          </a:solidFill>
          <a:ln/>
          <a:effectLst>
            <a:outerShdw sx="100000" sy="100000" kx="0" ky="0" algn="bl" rotWithShape="0" blurRad="127000" dist="38100" dir="5400000">
              <a:srgbClr val="12213A">
                <a:alpha val="22000"/>
              </a:srgbClr>
            </a:outerShdw>
          </a:effectLst>
        </p:spPr>
      </p:sp>
      <p:sp>
        <p:nvSpPr>
          <p:cNvPr id="34" name="Shape 31"/>
          <p:cNvSpPr/>
          <p:nvPr/>
        </p:nvSpPr>
        <p:spPr>
          <a:xfrm>
            <a:off x="6510528" y="3401568"/>
            <a:ext cx="118872" cy="118872"/>
          </a:xfrm>
          <a:prstGeom prst="ellipse">
            <a:avLst/>
          </a:prstGeom>
          <a:solidFill>
            <a:srgbClr val="E5534B"/>
          </a:solidFill>
          <a:ln/>
        </p:spPr>
      </p:sp>
      <p:sp>
        <p:nvSpPr>
          <p:cNvPr id="35" name="Shape 32"/>
          <p:cNvSpPr/>
          <p:nvPr/>
        </p:nvSpPr>
        <p:spPr>
          <a:xfrm>
            <a:off x="6711696" y="3401568"/>
            <a:ext cx="118872" cy="118872"/>
          </a:xfrm>
          <a:prstGeom prst="ellipse">
            <a:avLst/>
          </a:prstGeom>
          <a:solidFill>
            <a:srgbClr val="F5A623"/>
          </a:solidFill>
          <a:ln/>
        </p:spPr>
      </p:sp>
      <p:sp>
        <p:nvSpPr>
          <p:cNvPr id="36" name="Shape 33"/>
          <p:cNvSpPr/>
          <p:nvPr/>
        </p:nvSpPr>
        <p:spPr>
          <a:xfrm>
            <a:off x="6912864" y="3401568"/>
            <a:ext cx="118872" cy="118872"/>
          </a:xfrm>
          <a:prstGeom prst="ellipse">
            <a:avLst/>
          </a:prstGeom>
          <a:solidFill>
            <a:srgbClr val="46D39A"/>
          </a:solidFill>
          <a:ln/>
        </p:spPr>
      </p:sp>
      <p:sp>
        <p:nvSpPr>
          <p:cNvPr id="37" name="Text 34"/>
          <p:cNvSpPr txBox="1"/>
          <p:nvPr/>
        </p:nvSpPr>
        <p:spPr>
          <a:xfrm>
            <a:off x="7223760" y="3319272"/>
            <a:ext cx="350215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one layer at a time</a:t>
            </a:r>
            <a:endParaRPr lang="en-US" sz="1000" dirty="0"/>
          </a:p>
        </p:txBody>
      </p:sp>
      <p:sp>
        <p:nvSpPr>
          <p:cNvPr id="38" name="Text 35"/>
          <p:cNvSpPr txBox="1"/>
          <p:nvPr/>
        </p:nvSpPr>
        <p:spPr>
          <a:xfrm>
            <a:off x="6583680" y="3703320"/>
            <a:ext cx="4782312" cy="2103120"/>
          </a:xfrm>
          <a:prstGeom prst="rect">
            <a:avLst/>
          </a:prstGeom>
          <a:noFill/>
          <a:ln/>
        </p:spPr>
        <p:txBody>
          <a:bodyPr wrap="square" lIns="0" tIns="0" rIns="0" bIns="0" rtlCol="0" anchor="t"/>
          <a:lstStyle/>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aGkK | base64 -d</a:t>
            </a:r>
            <a:endParaRPr lang="en-US" sz="1500" dirty="0"/>
          </a:p>
          <a:p>
            <a:pPr indent="0" marL="0">
              <a:spcAft>
                <a:spcPts val="200"/>
              </a:spcAft>
              <a:buNone/>
            </a:pPr>
            <a:r>
              <a:rPr lang="en-US" sz="1500" dirty="0">
                <a:solidFill>
                  <a:srgbClr val="B8C4D9"/>
                </a:solidFill>
                <a:latin typeface="Courier New" pitchFamily="34" charset="0"/>
                <a:ea typeface="Courier New" pitchFamily="34" charset="-122"/>
                <a:cs typeface="Courier New" pitchFamily="34" charset="-120"/>
              </a:rPr>
              <a:t>hi</a:t>
            </a:r>
            <a:endParaRPr lang="en-US" sz="1500" dirty="0"/>
          </a:p>
          <a:p>
            <a:pPr indent="0" marL="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500" b="1" dirty="0">
                <a:solidFill>
                  <a:srgbClr val="FFFFFF"/>
                </a:solidFill>
                <a:latin typeface="Courier New" pitchFamily="34" charset="0"/>
                <a:ea typeface="Courier New" pitchFamily="34" charset="-122"/>
                <a:cs typeface="Courier New" pitchFamily="34" charset="-120"/>
              </a:rPr>
              <a:t>echo aGkK | base64 -d | tr a-z A-Z</a:t>
            </a:r>
            <a:endParaRPr lang="en-US" sz="1500" dirty="0"/>
          </a:p>
          <a:p>
            <a:pPr indent="0" marL="0">
              <a:spcAft>
                <a:spcPts val="200"/>
              </a:spcAft>
              <a:buNone/>
            </a:pPr>
            <a:r>
              <a:rPr lang="en-US" sz="1500" b="1" dirty="0">
                <a:solidFill>
                  <a:srgbClr val="F5A623"/>
                </a:solidFill>
                <a:latin typeface="Courier New" pitchFamily="34" charset="0"/>
                <a:ea typeface="Courier New" pitchFamily="34" charset="-122"/>
                <a:cs typeface="Courier New" pitchFamily="34" charset="-120"/>
              </a:rPr>
              <a:t>HI</a:t>
            </a:r>
            <a:endParaRPr lang="en-US" sz="1500" dirty="0"/>
          </a:p>
        </p:txBody>
      </p:sp>
      <p:sp>
        <p:nvSpPr>
          <p:cNvPr id="39" name="Text 3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21 / 61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When you are stuck</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sp>
      <p:sp>
        <p:nvSpPr>
          <p:cNvPr id="4" name="Shape 2"/>
          <p:cNvSpPr/>
          <p:nvPr/>
        </p:nvSpPr>
        <p:spPr>
          <a:xfrm>
            <a:off x="7985455" y="594360"/>
            <a:ext cx="868680" cy="365760"/>
          </a:xfrm>
          <a:prstGeom prst="roundRect">
            <a:avLst>
              <a:gd name="adj" fmla="val 20000"/>
            </a:avLst>
          </a:prstGeom>
          <a:solidFill>
            <a:srgbClr val="17875A"/>
          </a:solidFill>
          <a:ln/>
        </p:spPr>
      </p:sp>
      <p:sp>
        <p:nvSpPr>
          <p:cNvPr id="5" name="Text 3"/>
          <p:cNvSpPr txBox="1"/>
          <p:nvPr/>
        </p:nvSpPr>
        <p:spPr>
          <a:xfrm>
            <a:off x="7985455" y="594360"/>
            <a:ext cx="86868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indent="0" marL="0">
              <a:buNone/>
            </a:pPr>
            <a:r>
              <a:rPr lang="en-US" sz="1300" b="1" dirty="0">
                <a:solidFill>
                  <a:srgbClr val="12213A"/>
                </a:solidFill>
                <a:latin typeface="Courier New" pitchFamily="34" charset="0"/>
                <a:ea typeface="Courier New" pitchFamily="34" charset="-122"/>
                <a:cs typeface="Courier New" pitchFamily="34" charset="-120"/>
              </a:rPr>
              <a:t>xor --help</a:t>
            </a:r>
            <a:endParaRPr lang="en-US" sz="1300" dirty="0"/>
          </a:p>
        </p:txBody>
      </p:sp>
      <p:sp>
        <p:nvSpPr>
          <p:cNvPr id="8" name="Shape 5"/>
          <p:cNvSpPr/>
          <p:nvPr/>
        </p:nvSpPr>
        <p:spPr>
          <a:xfrm>
            <a:off x="548640" y="1645920"/>
            <a:ext cx="457200" cy="457200"/>
          </a:xfrm>
          <a:prstGeom prst="ellipse">
            <a:avLst/>
          </a:prstGeom>
          <a:solidFill>
            <a:srgbClr val="2459D8"/>
          </a:solidFill>
          <a:ln/>
        </p:spPr>
      </p:sp>
      <p:sp>
        <p:nvSpPr>
          <p:cNvPr id="9" name="Text 6"/>
          <p:cNvSpPr txBox="1"/>
          <p:nvPr/>
        </p:nvSpPr>
        <p:spPr>
          <a:xfrm>
            <a:off x="548640"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188720" y="1618488"/>
            <a:ext cx="5029200" cy="8686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Read --help. </a:t>
            </a:r>
            <a:pPr indent="0" marL="0">
              <a:buNone/>
            </a:pPr>
            <a:r>
              <a:rPr lang="en-US" sz="1700" dirty="0">
                <a:solidFill>
                  <a:srgbClr val="12213A"/>
                </a:solidFill>
                <a:latin typeface="Calibri" pitchFamily="34" charset="0"/>
                <a:ea typeface="Calibri" pitchFamily="34" charset="-122"/>
                <a:cs typeface="Calibri" pitchFamily="34" charset="-120"/>
              </a:rPr>
              <a:t>Free. Every tool here explains itself, even caesar and xor.</a:t>
            </a:r>
            <a:endParaRPr lang="en-US" sz="1700" dirty="0"/>
          </a:p>
        </p:txBody>
      </p:sp>
      <p:sp>
        <p:nvSpPr>
          <p:cNvPr id="11" name="Shape 8"/>
          <p:cNvSpPr/>
          <p:nvPr/>
        </p:nvSpPr>
        <p:spPr>
          <a:xfrm>
            <a:off x="548640" y="2606040"/>
            <a:ext cx="457200" cy="457200"/>
          </a:xfrm>
          <a:prstGeom prst="ellipse">
            <a:avLst/>
          </a:prstGeom>
          <a:solidFill>
            <a:srgbClr val="2459D8"/>
          </a:solidFill>
          <a:ln/>
        </p:spPr>
      </p:sp>
      <p:sp>
        <p:nvSpPr>
          <p:cNvPr id="12" name="Text 9"/>
          <p:cNvSpPr txBox="1"/>
          <p:nvPr/>
        </p:nvSpPr>
        <p:spPr>
          <a:xfrm>
            <a:off x="548640" y="2606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txBox="1"/>
          <p:nvPr/>
        </p:nvSpPr>
        <p:spPr>
          <a:xfrm>
            <a:off x="1188720" y="2578608"/>
            <a:ext cx="5029200" cy="8686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Identify it again. </a:t>
            </a:r>
            <a:pPr indent="0" marL="0">
              <a:buNone/>
            </a:pPr>
            <a:r>
              <a:rPr lang="en-US" sz="1700" dirty="0">
                <a:solidFill>
                  <a:srgbClr val="12213A"/>
                </a:solidFill>
                <a:latin typeface="Calibri" pitchFamily="34" charset="0"/>
                <a:ea typeface="Calibri" pitchFamily="34" charset="-122"/>
                <a:cs typeface="Calibri" pitchFamily="34" charset="-120"/>
              </a:rPr>
              <a:t>=, only hex, only dots? The shape names the tool.</a:t>
            </a:r>
            <a:endParaRPr lang="en-US" sz="1700" dirty="0"/>
          </a:p>
        </p:txBody>
      </p:sp>
      <p:sp>
        <p:nvSpPr>
          <p:cNvPr id="14" name="Shape 11"/>
          <p:cNvSpPr/>
          <p:nvPr/>
        </p:nvSpPr>
        <p:spPr>
          <a:xfrm>
            <a:off x="548640" y="3566160"/>
            <a:ext cx="457200" cy="457200"/>
          </a:xfrm>
          <a:prstGeom prst="ellipse">
            <a:avLst/>
          </a:prstGeom>
          <a:solidFill>
            <a:srgbClr val="2459D8"/>
          </a:solidFill>
          <a:ln/>
        </p:spPr>
      </p:sp>
      <p:sp>
        <p:nvSpPr>
          <p:cNvPr id="15" name="Text 12"/>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3"/>
          <p:cNvSpPr txBox="1"/>
          <p:nvPr/>
        </p:nvSpPr>
        <p:spPr>
          <a:xfrm>
            <a:off x="1188720" y="3538728"/>
            <a:ext cx="5029200" cy="8686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Build one step at a time. </a:t>
            </a:r>
            <a:pPr indent="0" marL="0">
              <a:buNone/>
            </a:pPr>
            <a:r>
              <a:rPr lang="en-US" sz="1700" dirty="0">
                <a:solidFill>
                  <a:srgbClr val="12213A"/>
                </a:solidFill>
                <a:latin typeface="Calibri" pitchFamily="34" charset="0"/>
                <a:ea typeface="Calibri" pitchFamily="34" charset="-122"/>
                <a:cs typeface="Calibri" pitchFamily="34" charset="-120"/>
              </a:rPr>
              <a:t>Look at the output before adding the next pipe.</a:t>
            </a:r>
            <a:endParaRPr lang="en-US" sz="1700" dirty="0"/>
          </a:p>
        </p:txBody>
      </p:sp>
      <p:sp>
        <p:nvSpPr>
          <p:cNvPr id="17" name="Shape 14"/>
          <p:cNvSpPr/>
          <p:nvPr/>
        </p:nvSpPr>
        <p:spPr>
          <a:xfrm>
            <a:off x="548640" y="4526280"/>
            <a:ext cx="457200" cy="457200"/>
          </a:xfrm>
          <a:prstGeom prst="ellipse">
            <a:avLst/>
          </a:prstGeom>
          <a:solidFill>
            <a:srgbClr val="2459D8"/>
          </a:solidFill>
          <a:ln/>
        </p:spPr>
      </p:sp>
      <p:sp>
        <p:nvSpPr>
          <p:cNvPr id="18" name="Text 15"/>
          <p:cNvSpPr txBox="1"/>
          <p:nvPr/>
        </p:nvSpPr>
        <p:spPr>
          <a:xfrm>
            <a:off x="548640" y="45262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6"/>
          <p:cNvSpPr txBox="1"/>
          <p:nvPr/>
        </p:nvSpPr>
        <p:spPr>
          <a:xfrm>
            <a:off x="1188720" y="4498848"/>
            <a:ext cx="5029200" cy="868680"/>
          </a:xfrm>
          <a:prstGeom prst="rect">
            <a:avLst/>
          </a:prstGeom>
          <a:noFill/>
          <a:ln/>
        </p:spPr>
        <p:txBody>
          <a:bodyPr wrap="square" lIns="0" tIns="0" rIns="0" bIns="0" rtlCol="0" anchor="t"/>
          <a:lstStyle/>
          <a:p>
            <a:pPr indent="0" marL="0">
              <a:buNone/>
            </a:pPr>
            <a:r>
              <a:rPr lang="en-US" sz="1700" b="1" dirty="0">
                <a:solidFill>
                  <a:srgbClr val="12213A"/>
                </a:solidFill>
                <a:latin typeface="Calibri" pitchFamily="34" charset="0"/>
                <a:ea typeface="Calibri" pitchFamily="34" charset="-122"/>
                <a:cs typeface="Calibri" pitchFamily="34" charset="-120"/>
              </a:rPr>
              <a:t>Buy a hint. </a:t>
            </a:r>
            <a:pPr indent="0" marL="0">
              <a:buNone/>
            </a:pPr>
            <a:r>
              <a:rPr lang="en-US" sz="1700" dirty="0">
                <a:solidFill>
                  <a:srgbClr val="12213A"/>
                </a:solidFill>
                <a:latin typeface="Calibri" pitchFamily="34" charset="0"/>
                <a:ea typeface="Calibri" pitchFamily="34" charset="-122"/>
                <a:cs typeface="Calibri" pitchFamily="34" charset="-120"/>
              </a:rPr>
              <a:t>hint N shows the price. 5% of the mission, charged once.</a:t>
            </a:r>
            <a:endParaRPr lang="en-US" sz="1700" dirty="0"/>
          </a:p>
        </p:txBody>
      </p:sp>
      <p:sp>
        <p:nvSpPr>
          <p:cNvPr id="20" name="Shape 17"/>
          <p:cNvSpPr/>
          <p:nvPr/>
        </p:nvSpPr>
        <p:spPr>
          <a:xfrm>
            <a:off x="6492240" y="1463040"/>
            <a:ext cx="5148072" cy="4480560"/>
          </a:xfrm>
          <a:prstGeom prst="roundRect">
            <a:avLst>
              <a:gd name="adj" fmla="val 2041"/>
            </a:avLst>
          </a:prstGeom>
          <a:solidFill>
            <a:srgbClr val="0E1726"/>
          </a:solidFill>
          <a:ln/>
          <a:effectLst>
            <a:outerShdw sx="100000" sy="100000" kx="0" ky="0" algn="bl" rotWithShape="0" blurRad="127000" dist="38100" dir="5400000">
              <a:srgbClr val="12213A">
                <a:alpha val="22000"/>
              </a:srgbClr>
            </a:outerShdw>
          </a:effectLst>
        </p:spPr>
      </p:sp>
      <p:sp>
        <p:nvSpPr>
          <p:cNvPr id="21" name="Shape 18"/>
          <p:cNvSpPr/>
          <p:nvPr/>
        </p:nvSpPr>
        <p:spPr>
          <a:xfrm>
            <a:off x="6693408" y="1618488"/>
            <a:ext cx="118872" cy="118872"/>
          </a:xfrm>
          <a:prstGeom prst="ellipse">
            <a:avLst/>
          </a:prstGeom>
          <a:solidFill>
            <a:srgbClr val="E5534B"/>
          </a:solidFill>
          <a:ln/>
        </p:spPr>
      </p:sp>
      <p:sp>
        <p:nvSpPr>
          <p:cNvPr id="22" name="Shape 19"/>
          <p:cNvSpPr/>
          <p:nvPr/>
        </p:nvSpPr>
        <p:spPr>
          <a:xfrm>
            <a:off x="6894576" y="1618488"/>
            <a:ext cx="118872" cy="118872"/>
          </a:xfrm>
          <a:prstGeom prst="ellipse">
            <a:avLst/>
          </a:prstGeom>
          <a:solidFill>
            <a:srgbClr val="F5A623"/>
          </a:solidFill>
          <a:ln/>
        </p:spPr>
      </p:sp>
      <p:sp>
        <p:nvSpPr>
          <p:cNvPr id="23" name="Shape 20"/>
          <p:cNvSpPr/>
          <p:nvPr/>
        </p:nvSpPr>
        <p:spPr>
          <a:xfrm>
            <a:off x="7095744" y="1618488"/>
            <a:ext cx="118872" cy="118872"/>
          </a:xfrm>
          <a:prstGeom prst="ellipse">
            <a:avLst/>
          </a:prstGeom>
          <a:solidFill>
            <a:srgbClr val="46D39A"/>
          </a:solidFill>
          <a:ln/>
        </p:spPr>
      </p:sp>
      <p:sp>
        <p:nvSpPr>
          <p:cNvPr id="24" name="Text 21"/>
          <p:cNvSpPr txBox="1"/>
          <p:nvPr/>
        </p:nvSpPr>
        <p:spPr>
          <a:xfrm>
            <a:off x="7406640" y="1536192"/>
            <a:ext cx="3319272"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25" name="Text 22"/>
          <p:cNvSpPr txBox="1"/>
          <p:nvPr/>
        </p:nvSpPr>
        <p:spPr>
          <a:xfrm>
            <a:off x="6766560" y="1920240"/>
            <a:ext cx="4599432" cy="3886200"/>
          </a:xfrm>
          <a:prstGeom prst="rect">
            <a:avLst/>
          </a:prstGeom>
          <a:noFill/>
          <a:ln/>
        </p:spPr>
        <p:txBody>
          <a:bodyPr wrap="square" lIns="0" tIns="0" rIns="0" bIns="0" rtlCol="0" anchor="t"/>
          <a:lstStyle/>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hint 4</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Hint 1 of 2 costs 10 points (5% of 200),</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charged once.</a:t>
            </a:r>
            <a:endParaRPr lang="en-US" sz="1400" dirty="0"/>
          </a:p>
          <a:p>
            <a:pPr indent="0" marL="0">
              <a:spcAft>
                <a:spcPts val="200"/>
              </a:spcAft>
              <a:buNone/>
            </a:pPr>
            <a:r>
              <a:rPr lang="en-US" sz="1400" dirty="0">
                <a:solidFill>
                  <a:srgbClr val="B8C4D9"/>
                </a:solidFill>
                <a:latin typeface="Courier New" pitchFamily="34" charset="0"/>
                <a:ea typeface="Courier New" pitchFamily="34" charset="-122"/>
                <a:cs typeface="Courier New" pitchFamily="34" charset="-120"/>
              </a:rPr>
              <a:t>To see it, type:  hint 4 --show</a:t>
            </a:r>
            <a:endParaRPr lang="en-US" sz="1400" dirty="0"/>
          </a:p>
          <a:p>
            <a:pPr indent="0" marL="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400" b="1" dirty="0">
                <a:solidFill>
                  <a:srgbClr val="FFFFFF"/>
                </a:solidFill>
                <a:latin typeface="Courier New" pitchFamily="34" charset="0"/>
                <a:ea typeface="Courier New" pitchFamily="34" charset="-122"/>
                <a:cs typeface="Courier New" pitchFamily="34" charset="-120"/>
              </a:rPr>
              <a:t>hint 4 --show</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Hint 1 of 2: Read caesar --help.</a:t>
            </a:r>
            <a:endParaRPr lang="en-US" sz="1400" dirty="0"/>
          </a:p>
          <a:p>
            <a:pPr indent="0" marL="0">
              <a:spcAft>
                <a:spcPts val="200"/>
              </a:spcAft>
              <a:buNone/>
            </a:pPr>
            <a:r>
              <a:rPr lang="en-US" sz="1400" b="1" dirty="0">
                <a:solidFill>
                  <a:srgbClr val="F5A623"/>
                </a:solidFill>
                <a:latin typeface="Courier New" pitchFamily="34" charset="0"/>
                <a:ea typeface="Courier New" pitchFamily="34" charset="-122"/>
                <a:cs typeface="Courier New" pitchFamily="34" charset="-120"/>
              </a:rPr>
              <a:t>It can try all the shifts at once.</a:t>
            </a:r>
            <a:endParaRPr lang="en-US" sz="1400" dirty="0"/>
          </a:p>
          <a:p>
            <a:pPr indent="0" marL="0">
              <a:spcAft>
                <a:spcPts val="200"/>
              </a:spcAft>
              <a:buNone/>
            </a:pPr>
            <a:r>
              <a:rPr lang="en-US" sz="1400" dirty="0">
                <a:solidFill>
                  <a:srgbClr val="7F8FAD"/>
                </a:solidFill>
                <a:latin typeface="Courier New" pitchFamily="34" charset="0"/>
                <a:ea typeface="Courier New" pitchFamily="34" charset="-122"/>
                <a:cs typeface="Courier New" pitchFamily="34" charset="-120"/>
              </a:rPr>
              <a:t># -10 points on the scoreboard</a:t>
            </a:r>
            <a:endParaRPr lang="en-US" sz="1400" dirty="0"/>
          </a:p>
        </p:txBody>
      </p:sp>
      <p:sp>
        <p:nvSpPr>
          <p:cNvPr id="26" name="Text 23"/>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22 / 61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Your codebreaker's toolkit</a:t>
            </a:r>
            <a:endParaRPr lang="en-US" sz="3200" dirty="0"/>
          </a:p>
        </p:txBody>
      </p:sp>
      <p:sp>
        <p:nvSpPr>
          <p:cNvPr id="4" name="Shape 1"/>
          <p:cNvSpPr/>
          <p:nvPr/>
        </p:nvSpPr>
        <p:spPr>
          <a:xfrm>
            <a:off x="548640" y="1463040"/>
            <a:ext cx="5449824" cy="777240"/>
          </a:xfrm>
          <a:prstGeom prst="roundRect">
            <a:avLst>
              <a:gd name="adj" fmla="val 11765"/>
            </a:avLst>
          </a:prstGeom>
          <a:solidFill>
            <a:srgbClr val="F1F5FB"/>
          </a:solidFill>
          <a:ln/>
        </p:spPr>
      </p:sp>
      <p:sp>
        <p:nvSpPr>
          <p:cNvPr id="5" name="Shape 2"/>
          <p:cNvSpPr/>
          <p:nvPr/>
        </p:nvSpPr>
        <p:spPr>
          <a:xfrm>
            <a:off x="713232" y="1627632"/>
            <a:ext cx="457200" cy="457200"/>
          </a:xfrm>
          <a:prstGeom prst="ellipse">
            <a:avLst/>
          </a:prstGeom>
          <a:solidFill>
            <a:srgbClr val="17875A"/>
          </a:solidFill>
          <a:ln/>
        </p:spPr>
      </p:sp>
      <p:sp>
        <p:nvSpPr>
          <p:cNvPr id="6" name="Text 3"/>
          <p:cNvSpPr txBox="1"/>
          <p:nvPr/>
        </p:nvSpPr>
        <p:spPr>
          <a:xfrm>
            <a:off x="713232" y="162763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1371600" y="1463040"/>
            <a:ext cx="2194560" cy="77724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base64 -d</a:t>
            </a:r>
            <a:endParaRPr lang="en-US" sz="1600" dirty="0"/>
          </a:p>
        </p:txBody>
      </p:sp>
      <p:sp>
        <p:nvSpPr>
          <p:cNvPr id="8" name="Text 5"/>
          <p:cNvSpPr txBox="1"/>
          <p:nvPr/>
        </p:nvSpPr>
        <p:spPr>
          <a:xfrm>
            <a:off x="3566160" y="1463040"/>
            <a:ext cx="2331720" cy="777240"/>
          </a:xfrm>
          <a:prstGeom prst="rect">
            <a:avLst/>
          </a:prstGeom>
          <a:noFill/>
          <a:ln/>
        </p:spPr>
        <p:txBody>
          <a:bodyPr wrap="square" lIns="0" tIns="0" rIns="0" bIns="0" rtlCol="0" anchor="ctr"/>
          <a:lstStyle/>
          <a:p>
            <a:pPr indent="0" marL="0">
              <a:buNone/>
            </a:pPr>
            <a:r>
              <a:rPr lang="en-US" sz="1500" dirty="0">
                <a:solidFill>
                  <a:srgbClr val="56657E"/>
                </a:solidFill>
                <a:latin typeface="Calibri" pitchFamily="34" charset="0"/>
                <a:ea typeface="Calibri" pitchFamily="34" charset="-122"/>
                <a:cs typeface="Calibri" pitchFamily="34" charset="-120"/>
              </a:rPr>
              <a:t>decode base64</a:t>
            </a:r>
            <a:endParaRPr lang="en-US" sz="1500" dirty="0"/>
          </a:p>
        </p:txBody>
      </p:sp>
      <p:sp>
        <p:nvSpPr>
          <p:cNvPr id="9" name="Shape 6"/>
          <p:cNvSpPr/>
          <p:nvPr/>
        </p:nvSpPr>
        <p:spPr>
          <a:xfrm>
            <a:off x="6190488" y="1463040"/>
            <a:ext cx="5449824" cy="777240"/>
          </a:xfrm>
          <a:prstGeom prst="roundRect">
            <a:avLst>
              <a:gd name="adj" fmla="val 11765"/>
            </a:avLst>
          </a:prstGeom>
          <a:solidFill>
            <a:srgbClr val="F1F5FB"/>
          </a:solidFill>
          <a:ln/>
        </p:spPr>
      </p:sp>
      <p:sp>
        <p:nvSpPr>
          <p:cNvPr id="10" name="Shape 7"/>
          <p:cNvSpPr/>
          <p:nvPr/>
        </p:nvSpPr>
        <p:spPr>
          <a:xfrm>
            <a:off x="6355080" y="1627632"/>
            <a:ext cx="457200" cy="457200"/>
          </a:xfrm>
          <a:prstGeom prst="ellipse">
            <a:avLst/>
          </a:prstGeom>
          <a:solidFill>
            <a:srgbClr val="2A9FD6"/>
          </a:solidFill>
          <a:ln/>
        </p:spPr>
      </p:sp>
      <p:sp>
        <p:nvSpPr>
          <p:cNvPr id="11" name="Text 8"/>
          <p:cNvSpPr txBox="1"/>
          <p:nvPr/>
        </p:nvSpPr>
        <p:spPr>
          <a:xfrm>
            <a:off x="6355080" y="162763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9"/>
          <p:cNvSpPr txBox="1"/>
          <p:nvPr/>
        </p:nvSpPr>
        <p:spPr>
          <a:xfrm>
            <a:off x="7013448" y="1463040"/>
            <a:ext cx="2194560" cy="77724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xxd -r -p</a:t>
            </a:r>
            <a:endParaRPr lang="en-US" sz="1600" dirty="0"/>
          </a:p>
        </p:txBody>
      </p:sp>
      <p:sp>
        <p:nvSpPr>
          <p:cNvPr id="13" name="Text 10"/>
          <p:cNvSpPr txBox="1"/>
          <p:nvPr/>
        </p:nvSpPr>
        <p:spPr>
          <a:xfrm>
            <a:off x="9208008" y="1463040"/>
            <a:ext cx="2331720" cy="777240"/>
          </a:xfrm>
          <a:prstGeom prst="rect">
            <a:avLst/>
          </a:prstGeom>
          <a:noFill/>
          <a:ln/>
        </p:spPr>
        <p:txBody>
          <a:bodyPr wrap="square" lIns="0" tIns="0" rIns="0" bIns="0" rtlCol="0" anchor="ctr"/>
          <a:lstStyle/>
          <a:p>
            <a:pPr indent="0" marL="0">
              <a:buNone/>
            </a:pPr>
            <a:r>
              <a:rPr lang="en-US" sz="1500" dirty="0">
                <a:solidFill>
                  <a:srgbClr val="56657E"/>
                </a:solidFill>
                <a:latin typeface="Calibri" pitchFamily="34" charset="0"/>
                <a:ea typeface="Calibri" pitchFamily="34" charset="-122"/>
                <a:cs typeface="Calibri" pitchFamily="34" charset="-120"/>
              </a:rPr>
              <a:t>hex to text</a:t>
            </a:r>
            <a:endParaRPr lang="en-US" sz="1500" dirty="0"/>
          </a:p>
        </p:txBody>
      </p:sp>
      <p:sp>
        <p:nvSpPr>
          <p:cNvPr id="14" name="Shape 11"/>
          <p:cNvSpPr/>
          <p:nvPr/>
        </p:nvSpPr>
        <p:spPr>
          <a:xfrm>
            <a:off x="548640" y="2359152"/>
            <a:ext cx="5449824" cy="777240"/>
          </a:xfrm>
          <a:prstGeom prst="roundRect">
            <a:avLst>
              <a:gd name="adj" fmla="val 11765"/>
            </a:avLst>
          </a:prstGeom>
          <a:solidFill>
            <a:srgbClr val="F1F5FB"/>
          </a:solidFill>
          <a:ln/>
        </p:spPr>
      </p:sp>
      <p:sp>
        <p:nvSpPr>
          <p:cNvPr id="15" name="Shape 12"/>
          <p:cNvSpPr/>
          <p:nvPr/>
        </p:nvSpPr>
        <p:spPr>
          <a:xfrm>
            <a:off x="713232" y="2523744"/>
            <a:ext cx="457200" cy="457200"/>
          </a:xfrm>
          <a:prstGeom prst="ellipse">
            <a:avLst/>
          </a:prstGeom>
          <a:solidFill>
            <a:srgbClr val="2459D8"/>
          </a:solidFill>
          <a:ln/>
        </p:spPr>
      </p:sp>
      <p:sp>
        <p:nvSpPr>
          <p:cNvPr id="16" name="Text 13"/>
          <p:cNvSpPr txBox="1"/>
          <p:nvPr/>
        </p:nvSpPr>
        <p:spPr>
          <a:xfrm>
            <a:off x="713232" y="25237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4"/>
          <p:cNvSpPr txBox="1"/>
          <p:nvPr/>
        </p:nvSpPr>
        <p:spPr>
          <a:xfrm>
            <a:off x="1371600" y="2359152"/>
            <a:ext cx="2194560" cy="77724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tr</a:t>
            </a:r>
            <a:endParaRPr lang="en-US" sz="1600" dirty="0"/>
          </a:p>
        </p:txBody>
      </p:sp>
      <p:sp>
        <p:nvSpPr>
          <p:cNvPr id="18" name="Text 15"/>
          <p:cNvSpPr txBox="1"/>
          <p:nvPr/>
        </p:nvSpPr>
        <p:spPr>
          <a:xfrm>
            <a:off x="3566160" y="2359152"/>
            <a:ext cx="2331720" cy="777240"/>
          </a:xfrm>
          <a:prstGeom prst="rect">
            <a:avLst/>
          </a:prstGeom>
          <a:noFill/>
          <a:ln/>
        </p:spPr>
        <p:txBody>
          <a:bodyPr wrap="square" lIns="0" tIns="0" rIns="0" bIns="0" rtlCol="0" anchor="ctr"/>
          <a:lstStyle/>
          <a:p>
            <a:pPr indent="0" marL="0">
              <a:buNone/>
            </a:pPr>
            <a:r>
              <a:rPr lang="en-US" sz="1500" dirty="0">
                <a:solidFill>
                  <a:srgbClr val="56657E"/>
                </a:solidFill>
                <a:latin typeface="Calibri" pitchFamily="34" charset="0"/>
                <a:ea typeface="Calibri" pitchFamily="34" charset="-122"/>
                <a:cs typeface="Calibri" pitchFamily="34" charset="-120"/>
              </a:rPr>
              <a:t>swap letters: ROT13</a:t>
            </a:r>
            <a:endParaRPr lang="en-US" sz="1500" dirty="0"/>
          </a:p>
        </p:txBody>
      </p:sp>
      <p:sp>
        <p:nvSpPr>
          <p:cNvPr id="19" name="Shape 16"/>
          <p:cNvSpPr/>
          <p:nvPr/>
        </p:nvSpPr>
        <p:spPr>
          <a:xfrm>
            <a:off x="6190488" y="2359152"/>
            <a:ext cx="5449824" cy="777240"/>
          </a:xfrm>
          <a:prstGeom prst="roundRect">
            <a:avLst>
              <a:gd name="adj" fmla="val 11765"/>
            </a:avLst>
          </a:prstGeom>
          <a:solidFill>
            <a:srgbClr val="F1F5FB"/>
          </a:solidFill>
          <a:ln/>
        </p:spPr>
      </p:sp>
      <p:sp>
        <p:nvSpPr>
          <p:cNvPr id="20" name="Shape 17"/>
          <p:cNvSpPr/>
          <p:nvPr/>
        </p:nvSpPr>
        <p:spPr>
          <a:xfrm>
            <a:off x="6355080" y="2523744"/>
            <a:ext cx="457200" cy="457200"/>
          </a:xfrm>
          <a:prstGeom prst="ellipse">
            <a:avLst/>
          </a:prstGeom>
          <a:solidFill>
            <a:srgbClr val="7448D4"/>
          </a:solidFill>
          <a:ln/>
        </p:spPr>
      </p:sp>
      <p:sp>
        <p:nvSpPr>
          <p:cNvPr id="21" name="Text 18"/>
          <p:cNvSpPr txBox="1"/>
          <p:nvPr/>
        </p:nvSpPr>
        <p:spPr>
          <a:xfrm>
            <a:off x="6355080" y="25237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19"/>
          <p:cNvSpPr txBox="1"/>
          <p:nvPr/>
        </p:nvSpPr>
        <p:spPr>
          <a:xfrm>
            <a:off x="7013448" y="2359152"/>
            <a:ext cx="2194560" cy="77724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caesar all</a:t>
            </a:r>
            <a:endParaRPr lang="en-US" sz="1600" dirty="0"/>
          </a:p>
        </p:txBody>
      </p:sp>
      <p:sp>
        <p:nvSpPr>
          <p:cNvPr id="23" name="Text 20"/>
          <p:cNvSpPr txBox="1"/>
          <p:nvPr/>
        </p:nvSpPr>
        <p:spPr>
          <a:xfrm>
            <a:off x="9208008" y="2359152"/>
            <a:ext cx="2331720" cy="777240"/>
          </a:xfrm>
          <a:prstGeom prst="rect">
            <a:avLst/>
          </a:prstGeom>
          <a:noFill/>
          <a:ln/>
        </p:spPr>
        <p:txBody>
          <a:bodyPr wrap="square" lIns="0" tIns="0" rIns="0" bIns="0" rtlCol="0" anchor="ctr"/>
          <a:lstStyle/>
          <a:p>
            <a:pPr indent="0" marL="0">
              <a:buNone/>
            </a:pPr>
            <a:r>
              <a:rPr lang="en-US" sz="1500" dirty="0">
                <a:solidFill>
                  <a:srgbClr val="56657E"/>
                </a:solidFill>
                <a:latin typeface="Calibri" pitchFamily="34" charset="0"/>
                <a:ea typeface="Calibri" pitchFamily="34" charset="-122"/>
                <a:cs typeface="Calibri" pitchFamily="34" charset="-120"/>
              </a:rPr>
              <a:t>try every shift</a:t>
            </a:r>
            <a:endParaRPr lang="en-US" sz="1500" dirty="0"/>
          </a:p>
        </p:txBody>
      </p:sp>
      <p:sp>
        <p:nvSpPr>
          <p:cNvPr id="24" name="Shape 21"/>
          <p:cNvSpPr/>
          <p:nvPr/>
        </p:nvSpPr>
        <p:spPr>
          <a:xfrm>
            <a:off x="548640" y="3255264"/>
            <a:ext cx="5449824" cy="777240"/>
          </a:xfrm>
          <a:prstGeom prst="roundRect">
            <a:avLst>
              <a:gd name="adj" fmla="val 11765"/>
            </a:avLst>
          </a:prstGeom>
          <a:solidFill>
            <a:srgbClr val="F1F5FB"/>
          </a:solidFill>
          <a:ln/>
        </p:spPr>
      </p:sp>
      <p:sp>
        <p:nvSpPr>
          <p:cNvPr id="25" name="Shape 22"/>
          <p:cNvSpPr/>
          <p:nvPr/>
        </p:nvSpPr>
        <p:spPr>
          <a:xfrm>
            <a:off x="713232" y="3419856"/>
            <a:ext cx="457200" cy="457200"/>
          </a:xfrm>
          <a:prstGeom prst="ellipse">
            <a:avLst/>
          </a:prstGeom>
          <a:solidFill>
            <a:srgbClr val="D1416B"/>
          </a:solidFill>
          <a:ln/>
        </p:spPr>
      </p:sp>
      <p:sp>
        <p:nvSpPr>
          <p:cNvPr id="26" name="Text 23"/>
          <p:cNvSpPr txBox="1"/>
          <p:nvPr/>
        </p:nvSpPr>
        <p:spPr>
          <a:xfrm>
            <a:off x="713232" y="341985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4"/>
          <p:cNvSpPr txBox="1"/>
          <p:nvPr/>
        </p:nvSpPr>
        <p:spPr>
          <a:xfrm>
            <a:off x="1371600" y="3255264"/>
            <a:ext cx="2194560" cy="77724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tr (flipped)</a:t>
            </a:r>
            <a:endParaRPr lang="en-US" sz="1600" dirty="0"/>
          </a:p>
        </p:txBody>
      </p:sp>
      <p:sp>
        <p:nvSpPr>
          <p:cNvPr id="28" name="Text 25"/>
          <p:cNvSpPr txBox="1"/>
          <p:nvPr/>
        </p:nvSpPr>
        <p:spPr>
          <a:xfrm>
            <a:off x="3566160" y="3255264"/>
            <a:ext cx="2331720" cy="777240"/>
          </a:xfrm>
          <a:prstGeom prst="rect">
            <a:avLst/>
          </a:prstGeom>
          <a:noFill/>
          <a:ln/>
        </p:spPr>
        <p:txBody>
          <a:bodyPr wrap="square" lIns="0" tIns="0" rIns="0" bIns="0" rtlCol="0" anchor="ctr"/>
          <a:lstStyle/>
          <a:p>
            <a:pPr indent="0" marL="0">
              <a:buNone/>
            </a:pPr>
            <a:r>
              <a:rPr lang="en-US" sz="1500" dirty="0">
                <a:solidFill>
                  <a:srgbClr val="56657E"/>
                </a:solidFill>
                <a:latin typeface="Calibri" pitchFamily="34" charset="0"/>
                <a:ea typeface="Calibri" pitchFamily="34" charset="-122"/>
                <a:cs typeface="Calibri" pitchFamily="34" charset="-120"/>
              </a:rPr>
              <a:t>Atbash</a:t>
            </a:r>
            <a:endParaRPr lang="en-US" sz="1500" dirty="0"/>
          </a:p>
        </p:txBody>
      </p:sp>
      <p:sp>
        <p:nvSpPr>
          <p:cNvPr id="29" name="Shape 26"/>
          <p:cNvSpPr/>
          <p:nvPr/>
        </p:nvSpPr>
        <p:spPr>
          <a:xfrm>
            <a:off x="6190488" y="3255264"/>
            <a:ext cx="5449824" cy="777240"/>
          </a:xfrm>
          <a:prstGeom prst="roundRect">
            <a:avLst>
              <a:gd name="adj" fmla="val 11765"/>
            </a:avLst>
          </a:prstGeom>
          <a:solidFill>
            <a:srgbClr val="F1F5FB"/>
          </a:solidFill>
          <a:ln/>
        </p:spPr>
      </p:sp>
      <p:sp>
        <p:nvSpPr>
          <p:cNvPr id="30" name="Shape 27"/>
          <p:cNvSpPr/>
          <p:nvPr/>
        </p:nvSpPr>
        <p:spPr>
          <a:xfrm>
            <a:off x="6355080" y="3419856"/>
            <a:ext cx="457200" cy="457200"/>
          </a:xfrm>
          <a:prstGeom prst="ellipse">
            <a:avLst/>
          </a:prstGeom>
          <a:solidFill>
            <a:srgbClr val="E8820C"/>
          </a:solidFill>
          <a:ln/>
        </p:spPr>
      </p:sp>
      <p:sp>
        <p:nvSpPr>
          <p:cNvPr id="31" name="Text 28"/>
          <p:cNvSpPr txBox="1"/>
          <p:nvPr/>
        </p:nvSpPr>
        <p:spPr>
          <a:xfrm>
            <a:off x="6355080" y="341985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txBox="1"/>
          <p:nvPr/>
        </p:nvSpPr>
        <p:spPr>
          <a:xfrm>
            <a:off x="7013448" y="3255264"/>
            <a:ext cx="2194560" cy="77724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morse</a:t>
            </a:r>
            <a:endParaRPr lang="en-US" sz="1600" dirty="0"/>
          </a:p>
        </p:txBody>
      </p:sp>
      <p:sp>
        <p:nvSpPr>
          <p:cNvPr id="33" name="Text 30"/>
          <p:cNvSpPr txBox="1"/>
          <p:nvPr/>
        </p:nvSpPr>
        <p:spPr>
          <a:xfrm>
            <a:off x="9208008" y="3255264"/>
            <a:ext cx="2331720" cy="777240"/>
          </a:xfrm>
          <a:prstGeom prst="rect">
            <a:avLst/>
          </a:prstGeom>
          <a:noFill/>
          <a:ln/>
        </p:spPr>
        <p:txBody>
          <a:bodyPr wrap="square" lIns="0" tIns="0" rIns="0" bIns="0" rtlCol="0" anchor="ctr"/>
          <a:lstStyle/>
          <a:p>
            <a:pPr indent="0" marL="0">
              <a:buNone/>
            </a:pPr>
            <a:r>
              <a:rPr lang="en-US" sz="1500" dirty="0">
                <a:solidFill>
                  <a:srgbClr val="56657E"/>
                </a:solidFill>
                <a:latin typeface="Calibri" pitchFamily="34" charset="0"/>
                <a:ea typeface="Calibri" pitchFamily="34" charset="-122"/>
                <a:cs typeface="Calibri" pitchFamily="34" charset="-120"/>
              </a:rPr>
              <a:t>decode Morse</a:t>
            </a:r>
            <a:endParaRPr lang="en-US" sz="1500" dirty="0"/>
          </a:p>
        </p:txBody>
      </p:sp>
      <p:sp>
        <p:nvSpPr>
          <p:cNvPr id="34" name="Shape 31"/>
          <p:cNvSpPr/>
          <p:nvPr/>
        </p:nvSpPr>
        <p:spPr>
          <a:xfrm>
            <a:off x="548640" y="4151376"/>
            <a:ext cx="5449824" cy="777240"/>
          </a:xfrm>
          <a:prstGeom prst="roundRect">
            <a:avLst>
              <a:gd name="adj" fmla="val 11765"/>
            </a:avLst>
          </a:prstGeom>
          <a:solidFill>
            <a:srgbClr val="F1F5FB"/>
          </a:solidFill>
          <a:ln/>
        </p:spPr>
      </p:sp>
      <p:sp>
        <p:nvSpPr>
          <p:cNvPr id="35" name="Shape 32"/>
          <p:cNvSpPr/>
          <p:nvPr/>
        </p:nvSpPr>
        <p:spPr>
          <a:xfrm>
            <a:off x="713232" y="4315968"/>
            <a:ext cx="457200" cy="457200"/>
          </a:xfrm>
          <a:prstGeom prst="ellipse">
            <a:avLst/>
          </a:prstGeom>
          <a:solidFill>
            <a:srgbClr val="C9A227"/>
          </a:solidFill>
          <a:ln/>
        </p:spPr>
      </p:sp>
      <p:sp>
        <p:nvSpPr>
          <p:cNvPr id="36" name="Text 33"/>
          <p:cNvSpPr txBox="1"/>
          <p:nvPr/>
        </p:nvSpPr>
        <p:spPr>
          <a:xfrm>
            <a:off x="713232" y="4315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a:t>
            </a:r>
            <a:endParaRPr lang="en-US" sz="1400" dirty="0"/>
          </a:p>
        </p:txBody>
      </p:sp>
      <p:sp>
        <p:nvSpPr>
          <p:cNvPr id="37" name="Text 34"/>
          <p:cNvSpPr txBox="1"/>
          <p:nvPr/>
        </p:nvSpPr>
        <p:spPr>
          <a:xfrm>
            <a:off x="1371600" y="4151376"/>
            <a:ext cx="2194560" cy="77724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hashlines</a:t>
            </a:r>
            <a:endParaRPr lang="en-US" sz="1600" dirty="0"/>
          </a:p>
        </p:txBody>
      </p:sp>
      <p:sp>
        <p:nvSpPr>
          <p:cNvPr id="38" name="Text 35"/>
          <p:cNvSpPr txBox="1"/>
          <p:nvPr/>
        </p:nvSpPr>
        <p:spPr>
          <a:xfrm>
            <a:off x="3566160" y="4151376"/>
            <a:ext cx="2331720" cy="777240"/>
          </a:xfrm>
          <a:prstGeom prst="rect">
            <a:avLst/>
          </a:prstGeom>
          <a:noFill/>
          <a:ln/>
        </p:spPr>
        <p:txBody>
          <a:bodyPr wrap="square" lIns="0" tIns="0" rIns="0" bIns="0" rtlCol="0" anchor="ctr"/>
          <a:lstStyle/>
          <a:p>
            <a:pPr indent="0" marL="0">
              <a:buNone/>
            </a:pPr>
            <a:r>
              <a:rPr lang="en-US" sz="1500" dirty="0">
                <a:solidFill>
                  <a:srgbClr val="56657E"/>
                </a:solidFill>
                <a:latin typeface="Calibri" pitchFamily="34" charset="0"/>
                <a:ea typeface="Calibri" pitchFamily="34" charset="-122"/>
                <a:cs typeface="Calibri" pitchFamily="34" charset="-120"/>
              </a:rPr>
              <a:t>hash every line</a:t>
            </a:r>
            <a:endParaRPr lang="en-US" sz="1500" dirty="0"/>
          </a:p>
        </p:txBody>
      </p:sp>
      <p:sp>
        <p:nvSpPr>
          <p:cNvPr id="39" name="Shape 36"/>
          <p:cNvSpPr/>
          <p:nvPr/>
        </p:nvSpPr>
        <p:spPr>
          <a:xfrm>
            <a:off x="6190488" y="4151376"/>
            <a:ext cx="5449824" cy="777240"/>
          </a:xfrm>
          <a:prstGeom prst="roundRect">
            <a:avLst>
              <a:gd name="adj" fmla="val 11765"/>
            </a:avLst>
          </a:prstGeom>
          <a:solidFill>
            <a:srgbClr val="F1F5FB"/>
          </a:solidFill>
          <a:ln/>
        </p:spPr>
      </p:sp>
      <p:sp>
        <p:nvSpPr>
          <p:cNvPr id="40" name="Shape 37"/>
          <p:cNvSpPr/>
          <p:nvPr/>
        </p:nvSpPr>
        <p:spPr>
          <a:xfrm>
            <a:off x="6355080" y="4315968"/>
            <a:ext cx="457200" cy="457200"/>
          </a:xfrm>
          <a:prstGeom prst="ellipse">
            <a:avLst/>
          </a:prstGeom>
          <a:solidFill>
            <a:srgbClr val="0F9488"/>
          </a:solidFill>
          <a:ln/>
        </p:spPr>
      </p:sp>
      <p:sp>
        <p:nvSpPr>
          <p:cNvPr id="41" name="Text 38"/>
          <p:cNvSpPr txBox="1"/>
          <p:nvPr/>
        </p:nvSpPr>
        <p:spPr>
          <a:xfrm>
            <a:off x="6355080" y="4315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8</a:t>
            </a:r>
            <a:endParaRPr lang="en-US" sz="1400" dirty="0"/>
          </a:p>
        </p:txBody>
      </p:sp>
      <p:sp>
        <p:nvSpPr>
          <p:cNvPr id="42" name="Text 39"/>
          <p:cNvSpPr txBox="1"/>
          <p:nvPr/>
        </p:nvSpPr>
        <p:spPr>
          <a:xfrm>
            <a:off x="7013448" y="4151376"/>
            <a:ext cx="2194560" cy="77724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xor all</a:t>
            </a:r>
            <a:endParaRPr lang="en-US" sz="1600" dirty="0"/>
          </a:p>
        </p:txBody>
      </p:sp>
      <p:sp>
        <p:nvSpPr>
          <p:cNvPr id="43" name="Text 40"/>
          <p:cNvSpPr txBox="1"/>
          <p:nvPr/>
        </p:nvSpPr>
        <p:spPr>
          <a:xfrm>
            <a:off x="9208008" y="4151376"/>
            <a:ext cx="2331720" cy="777240"/>
          </a:xfrm>
          <a:prstGeom prst="rect">
            <a:avLst/>
          </a:prstGeom>
          <a:noFill/>
          <a:ln/>
        </p:spPr>
        <p:txBody>
          <a:bodyPr wrap="square" lIns="0" tIns="0" rIns="0" bIns="0" rtlCol="0" anchor="ctr"/>
          <a:lstStyle/>
          <a:p>
            <a:pPr indent="0" marL="0">
              <a:buNone/>
            </a:pPr>
            <a:r>
              <a:rPr lang="en-US" sz="1500" dirty="0">
                <a:solidFill>
                  <a:srgbClr val="56657E"/>
                </a:solidFill>
                <a:latin typeface="Calibri" pitchFamily="34" charset="0"/>
                <a:ea typeface="Calibri" pitchFamily="34" charset="-122"/>
                <a:cs typeface="Calibri" pitchFamily="34" charset="-120"/>
              </a:rPr>
              <a:t>try every XOR key</a:t>
            </a:r>
            <a:endParaRPr lang="en-US" sz="1500" dirty="0"/>
          </a:p>
        </p:txBody>
      </p:sp>
      <p:sp>
        <p:nvSpPr>
          <p:cNvPr id="44" name="Shape 41"/>
          <p:cNvSpPr/>
          <p:nvPr/>
        </p:nvSpPr>
        <p:spPr>
          <a:xfrm>
            <a:off x="548640" y="5047488"/>
            <a:ext cx="5449824" cy="777240"/>
          </a:xfrm>
          <a:prstGeom prst="roundRect">
            <a:avLst>
              <a:gd name="adj" fmla="val 11765"/>
            </a:avLst>
          </a:prstGeom>
          <a:solidFill>
            <a:srgbClr val="F1F5FB"/>
          </a:solidFill>
          <a:ln/>
        </p:spPr>
      </p:sp>
      <p:sp>
        <p:nvSpPr>
          <p:cNvPr id="45" name="Shape 42"/>
          <p:cNvSpPr/>
          <p:nvPr/>
        </p:nvSpPr>
        <p:spPr>
          <a:xfrm>
            <a:off x="713232" y="5212080"/>
            <a:ext cx="457200" cy="457200"/>
          </a:xfrm>
          <a:prstGeom prst="ellipse">
            <a:avLst/>
          </a:prstGeom>
          <a:solidFill>
            <a:srgbClr val="5B6EE1"/>
          </a:solidFill>
          <a:ln/>
        </p:spPr>
      </p:sp>
      <p:sp>
        <p:nvSpPr>
          <p:cNvPr id="46" name="Text 43"/>
          <p:cNvSpPr txBox="1"/>
          <p:nvPr/>
        </p:nvSpPr>
        <p:spPr>
          <a:xfrm>
            <a:off x="713232" y="5212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9</a:t>
            </a:r>
            <a:endParaRPr lang="en-US" sz="1400" dirty="0"/>
          </a:p>
        </p:txBody>
      </p:sp>
      <p:sp>
        <p:nvSpPr>
          <p:cNvPr id="47" name="Text 44"/>
          <p:cNvSpPr txBox="1"/>
          <p:nvPr/>
        </p:nvSpPr>
        <p:spPr>
          <a:xfrm>
            <a:off x="1371600" y="5047488"/>
            <a:ext cx="2194560" cy="77724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vigenere -d</a:t>
            </a:r>
            <a:endParaRPr lang="en-US" sz="1600" dirty="0"/>
          </a:p>
        </p:txBody>
      </p:sp>
      <p:sp>
        <p:nvSpPr>
          <p:cNvPr id="48" name="Text 45"/>
          <p:cNvSpPr txBox="1"/>
          <p:nvPr/>
        </p:nvSpPr>
        <p:spPr>
          <a:xfrm>
            <a:off x="3566160" y="5047488"/>
            <a:ext cx="2331720" cy="777240"/>
          </a:xfrm>
          <a:prstGeom prst="rect">
            <a:avLst/>
          </a:prstGeom>
          <a:noFill/>
          <a:ln/>
        </p:spPr>
        <p:txBody>
          <a:bodyPr wrap="square" lIns="0" tIns="0" rIns="0" bIns="0" rtlCol="0" anchor="ctr"/>
          <a:lstStyle/>
          <a:p>
            <a:pPr indent="0" marL="0">
              <a:buNone/>
            </a:pPr>
            <a:r>
              <a:rPr lang="en-US" sz="1500" dirty="0">
                <a:solidFill>
                  <a:srgbClr val="56657E"/>
                </a:solidFill>
                <a:latin typeface="Calibri" pitchFamily="34" charset="0"/>
                <a:ea typeface="Calibri" pitchFamily="34" charset="-122"/>
                <a:cs typeface="Calibri" pitchFamily="34" charset="-120"/>
              </a:rPr>
              <a:t>decrypt with a keyword</a:t>
            </a:r>
            <a:endParaRPr lang="en-US" sz="1500" dirty="0"/>
          </a:p>
        </p:txBody>
      </p:sp>
      <p:sp>
        <p:nvSpPr>
          <p:cNvPr id="49" name="Shape 46"/>
          <p:cNvSpPr/>
          <p:nvPr/>
        </p:nvSpPr>
        <p:spPr>
          <a:xfrm>
            <a:off x="6190488" y="5047488"/>
            <a:ext cx="5449824" cy="777240"/>
          </a:xfrm>
          <a:prstGeom prst="roundRect">
            <a:avLst>
              <a:gd name="adj" fmla="val 11765"/>
            </a:avLst>
          </a:prstGeom>
          <a:solidFill>
            <a:srgbClr val="F1F5FB"/>
          </a:solidFill>
          <a:ln/>
        </p:spPr>
      </p:sp>
      <p:sp>
        <p:nvSpPr>
          <p:cNvPr id="50" name="Shape 47"/>
          <p:cNvSpPr/>
          <p:nvPr/>
        </p:nvSpPr>
        <p:spPr>
          <a:xfrm>
            <a:off x="6355080" y="5212080"/>
            <a:ext cx="457200" cy="457200"/>
          </a:xfrm>
          <a:prstGeom prst="ellipse">
            <a:avLst/>
          </a:prstGeom>
          <a:solidFill>
            <a:srgbClr val="B4233F"/>
          </a:solidFill>
          <a:ln/>
        </p:spPr>
      </p:sp>
      <p:sp>
        <p:nvSpPr>
          <p:cNvPr id="51" name="Text 48"/>
          <p:cNvSpPr txBox="1"/>
          <p:nvPr/>
        </p:nvSpPr>
        <p:spPr>
          <a:xfrm>
            <a:off x="6355080" y="5212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a:t>
            </a:r>
            <a:endParaRPr lang="en-US" sz="1400" dirty="0"/>
          </a:p>
        </p:txBody>
      </p:sp>
      <p:sp>
        <p:nvSpPr>
          <p:cNvPr id="52" name="Text 49"/>
          <p:cNvSpPr txBox="1"/>
          <p:nvPr/>
        </p:nvSpPr>
        <p:spPr>
          <a:xfrm>
            <a:off x="7013448" y="5047488"/>
            <a:ext cx="2194560" cy="777240"/>
          </a:xfrm>
          <a:prstGeom prst="rect">
            <a:avLst/>
          </a:prstGeom>
          <a:noFill/>
          <a:ln/>
        </p:spPr>
        <p:txBody>
          <a:bodyPr wrap="square" lIns="0" tIns="0" rIns="0" bIns="0" rtlCol="0" anchor="ctr"/>
          <a:lstStyle/>
          <a:p>
            <a:pPr indent="0" marL="0">
              <a:buNone/>
            </a:pPr>
            <a:r>
              <a:rPr lang="en-US" sz="1600" b="1" dirty="0">
                <a:solidFill>
                  <a:srgbClr val="12213A"/>
                </a:solidFill>
                <a:latin typeface="Courier New" pitchFamily="34" charset="0"/>
                <a:ea typeface="Courier New" pitchFamily="34" charset="-122"/>
                <a:cs typeface="Courier New" pitchFamily="34" charset="-120"/>
              </a:rPr>
              <a:t>A | B | C</a:t>
            </a:r>
            <a:endParaRPr lang="en-US" sz="1600" dirty="0"/>
          </a:p>
        </p:txBody>
      </p:sp>
      <p:sp>
        <p:nvSpPr>
          <p:cNvPr id="53" name="Text 50"/>
          <p:cNvSpPr txBox="1"/>
          <p:nvPr/>
        </p:nvSpPr>
        <p:spPr>
          <a:xfrm>
            <a:off x="9208008" y="5047488"/>
            <a:ext cx="2331720" cy="777240"/>
          </a:xfrm>
          <a:prstGeom prst="rect">
            <a:avLst/>
          </a:prstGeom>
          <a:noFill/>
          <a:ln/>
        </p:spPr>
        <p:txBody>
          <a:bodyPr wrap="square" lIns="0" tIns="0" rIns="0" bIns="0" rtlCol="0" anchor="ctr"/>
          <a:lstStyle/>
          <a:p>
            <a:pPr indent="0" marL="0">
              <a:buNone/>
            </a:pPr>
            <a:r>
              <a:rPr lang="en-US" sz="1500" dirty="0">
                <a:solidFill>
                  <a:srgbClr val="56657E"/>
                </a:solidFill>
                <a:latin typeface="Calibri" pitchFamily="34" charset="0"/>
                <a:ea typeface="Calibri" pitchFamily="34" charset="-122"/>
                <a:cs typeface="Calibri" pitchFamily="34" charset="-120"/>
              </a:rPr>
              <a:t>peel layers in a chain</a:t>
            </a:r>
            <a:endParaRPr lang="en-US" sz="1500" dirty="0"/>
          </a:p>
        </p:txBody>
      </p:sp>
      <p:sp>
        <p:nvSpPr>
          <p:cNvPr id="54" name="Text 51"/>
          <p:cNvSpPr txBox="1"/>
          <p:nvPr/>
        </p:nvSpPr>
        <p:spPr>
          <a:xfrm>
            <a:off x="548640" y="5989320"/>
            <a:ext cx="7315200" cy="320040"/>
          </a:xfrm>
          <a:prstGeom prst="rect">
            <a:avLst/>
          </a:prstGeom>
          <a:noFill/>
          <a:ln/>
        </p:spPr>
        <p:txBody>
          <a:bodyPr wrap="square" lIns="0" tIns="0" rIns="0" bIns="0" rtlCol="0" anchor="t"/>
          <a:lstStyle/>
          <a:p>
            <a:pPr indent="0" marL="0">
              <a:buNone/>
            </a:pPr>
            <a:r>
              <a:rPr lang="en-US" sz="1400" b="1" dirty="0">
                <a:solidFill>
                  <a:srgbClr val="12213A"/>
                </a:solidFill>
                <a:latin typeface="Calibri" pitchFamily="34" charset="0"/>
                <a:ea typeface="Calibri" pitchFamily="34" charset="-122"/>
                <a:cs typeface="Calibri" pitchFamily="34" charset="-120"/>
              </a:rPr>
              <a:t>Stuck on any of them?  TOOL --help</a:t>
            </a:r>
            <a:endParaRPr lang="en-US" sz="1400" dirty="0"/>
          </a:p>
        </p:txBody>
      </p:sp>
      <p:sp>
        <p:nvSpPr>
          <p:cNvPr id="55" name="Text 52"/>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23 / 61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640080"/>
            <a:ext cx="2103120" cy="3108960"/>
          </a:xfrm>
          <a:prstGeom prst="rect">
            <a:avLst/>
          </a:prstGeom>
          <a:noFill/>
          <a:ln/>
        </p:spPr>
        <p:txBody>
          <a:bodyPr wrap="square" lIns="0" tIns="0" rIns="0" bIns="0" rtlCol="0" anchor="ctr"/>
          <a:lstStyle/>
          <a:p>
            <a:pPr indent="0" marL="0">
              <a:buNone/>
            </a:pPr>
            <a:r>
              <a:rPr lang="en-US" sz="23000" b="1" dirty="0">
                <a:solidFill>
                  <a:srgbClr val="7448D4"/>
                </a:solidFill>
                <a:latin typeface="Arial" pitchFamily="34" charset="0"/>
                <a:ea typeface="Arial" pitchFamily="34" charset="-122"/>
                <a:cs typeface="Arial" pitchFamily="34" charset="-120"/>
              </a:rPr>
              <a:t>3</a:t>
            </a:r>
            <a:endParaRPr lang="en-US" sz="23000" dirty="0"/>
          </a:p>
        </p:txBody>
      </p:sp>
      <p:sp>
        <p:nvSpPr>
          <p:cNvPr id="3" name="Text 1"/>
          <p:cNvSpPr txBox="1"/>
          <p:nvPr/>
        </p:nvSpPr>
        <p:spPr>
          <a:xfrm>
            <a:off x="2743200" y="640080"/>
            <a:ext cx="6949440" cy="3108960"/>
          </a:xfrm>
          <a:prstGeom prst="rect">
            <a:avLst/>
          </a:prstGeom>
          <a:noFill/>
          <a:ln/>
        </p:spPr>
        <p:txBody>
          <a:bodyPr wrap="square" lIns="0" tIns="0" rIns="0" bIns="0" rtlCol="0" anchor="ctr">
            <a:normAutofit/>
          </a:bodyPr>
          <a:lstStyle/>
          <a:p>
            <a:pPr indent="0" marL="0">
              <a:buNone/>
            </a:pPr>
            <a:r>
              <a:rPr lang="en-US" sz="5600" b="1" dirty="0">
                <a:solidFill>
                  <a:srgbClr val="12213A"/>
                </a:solidFill>
                <a:latin typeface="Arial" pitchFamily="34" charset="0"/>
                <a:ea typeface="Arial" pitchFamily="34" charset="-122"/>
                <a:cs typeface="Arial" pitchFamily="34" charset="-120"/>
              </a:rPr>
              <a:t>Capture a flag</a:t>
            </a:r>
            <a:endParaRPr lang="en-US" sz="5600" dirty="0"/>
          </a:p>
        </p:txBody>
      </p:sp>
      <p:sp>
        <p:nvSpPr>
          <p:cNvPr id="4" name="Shape 2"/>
          <p:cNvSpPr/>
          <p:nvPr/>
        </p:nvSpPr>
        <p:spPr>
          <a:xfrm>
            <a:off x="548640" y="5074920"/>
            <a:ext cx="6492240" cy="731520"/>
          </a:xfrm>
          <a:prstGeom prst="roundRect">
            <a:avLst>
              <a:gd name="adj" fmla="val 12500"/>
            </a:avLst>
          </a:prstGeom>
          <a:solidFill>
            <a:srgbClr val="0E1726"/>
          </a:solidFill>
          <a:ln/>
          <a:effectLst>
            <a:outerShdw sx="100000" sy="100000" kx="0" ky="0" algn="bl" rotWithShape="0" blurRad="101600" dist="25400" dir="5400000">
              <a:srgbClr val="6E86AE">
                <a:alpha val="35000"/>
              </a:srgbClr>
            </a:outerShdw>
          </a:effectLst>
        </p:spPr>
      </p:sp>
      <p:sp>
        <p:nvSpPr>
          <p:cNvPr id="5" name="Text 3"/>
          <p:cNvSpPr txBox="1"/>
          <p:nvPr/>
        </p:nvSpPr>
        <p:spPr>
          <a:xfrm>
            <a:off x="822960" y="5074920"/>
            <a:ext cx="6035040" cy="731520"/>
          </a:xfrm>
          <a:prstGeom prst="rect">
            <a:avLst/>
          </a:prstGeom>
          <a:noFill/>
          <a:ln/>
        </p:spPr>
        <p:txBody>
          <a:bodyPr wrap="square" lIns="0" tIns="0" rIns="0" bIns="0" rtlCol="0" anchor="ctr">
            <a:normAutofit/>
          </a:bodyPr>
          <a:lstStyle/>
          <a:p>
            <a:pPr indent="0" marL="0">
              <a:buNone/>
            </a:pPr>
            <a:r>
              <a:rPr lang="en-US" sz="1800" b="1" dirty="0">
                <a:solidFill>
                  <a:srgbClr val="46D39A"/>
                </a:solidFill>
                <a:latin typeface="Courier New" pitchFamily="34" charset="0"/>
                <a:ea typeface="Courier New" pitchFamily="34" charset="-122"/>
                <a:cs typeface="Courier New" pitchFamily="34" charset="-120"/>
              </a:rPr>
              <a:t>$ </a:t>
            </a:r>
            <a:pPr indent="0" marL="0">
              <a:buNone/>
            </a:pPr>
            <a:r>
              <a:rPr lang="en-US" sz="1800" b="1" dirty="0">
                <a:solidFill>
                  <a:srgbClr val="FFFFFF"/>
                </a:solidFill>
                <a:latin typeface="Courier New" pitchFamily="34" charset="0"/>
                <a:ea typeface="Courier New" pitchFamily="34" charset="-122"/>
                <a:cs typeface="Courier New" pitchFamily="34" charset="-120"/>
              </a:rPr>
              <a:t>./crack   # read, try, check, adjust</a:t>
            </a:r>
            <a:endParaRPr lang="en-US" sz="1800" dirty="0"/>
          </a:p>
        </p:txBody>
      </p:sp>
      <p:sp>
        <p:nvSpPr>
          <p:cNvPr id="7" name="Text 4"/>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24 / 61</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The codebreaker's routine, every time</a:t>
            </a:r>
            <a:endParaRPr lang="en-US" sz="3200" dirty="0"/>
          </a:p>
        </p:txBody>
      </p:sp>
      <p:sp>
        <p:nvSpPr>
          <p:cNvPr id="4" name="Shape 1"/>
          <p:cNvSpPr/>
          <p:nvPr/>
        </p:nvSpPr>
        <p:spPr>
          <a:xfrm>
            <a:off x="548640" y="1600200"/>
            <a:ext cx="2011680" cy="3200400"/>
          </a:xfrm>
          <a:prstGeom prst="roundRect">
            <a:avLst>
              <a:gd name="adj" fmla="val 4545"/>
            </a:avLst>
          </a:prstGeom>
          <a:solidFill>
            <a:srgbClr val="F1F5FB"/>
          </a:solidFill>
          <a:ln/>
        </p:spPr>
      </p:sp>
      <p:sp>
        <p:nvSpPr>
          <p:cNvPr id="5" name="Shape 2"/>
          <p:cNvSpPr/>
          <p:nvPr/>
        </p:nvSpPr>
        <p:spPr>
          <a:xfrm>
            <a:off x="1097280" y="1828800"/>
            <a:ext cx="914400" cy="914400"/>
          </a:xfrm>
          <a:prstGeom prst="ellipse">
            <a:avLst/>
          </a:prstGeom>
          <a:solidFill>
            <a:srgbClr val="2A9FD6"/>
          </a:solidFill>
          <a:ln/>
        </p:spPr>
      </p:sp>
      <p:pic>
        <p:nvPicPr>
          <p:cNvPr id="6" name="Image 0" descr="preencoded.png">    </p:cNvPr>
          <p:cNvPicPr>
            <a:picLocks noChangeAspect="1"/>
          </p:cNvPicPr>
          <p:nvPr/>
        </p:nvPicPr>
        <p:blipFill>
          <a:blip r:embed="rId1"/>
          <a:stretch>
            <a:fillRect/>
          </a:stretch>
        </p:blipFill>
        <p:spPr>
          <a:xfrm>
            <a:off x="1325880" y="2057400"/>
            <a:ext cx="457200" cy="457200"/>
          </a:xfrm>
          <a:prstGeom prst="rect">
            <a:avLst/>
          </a:prstGeom>
        </p:spPr>
      </p:pic>
      <p:sp>
        <p:nvSpPr>
          <p:cNvPr id="7" name="Text 3"/>
          <p:cNvSpPr txBox="1"/>
          <p:nvPr/>
        </p:nvSpPr>
        <p:spPr>
          <a:xfrm>
            <a:off x="685800" y="2971800"/>
            <a:ext cx="1737360" cy="457200"/>
          </a:xfrm>
          <a:prstGeom prst="rect">
            <a:avLst/>
          </a:prstGeom>
          <a:noFill/>
          <a:ln/>
        </p:spPr>
        <p:txBody>
          <a:bodyPr wrap="square" lIns="0" tIns="0" rIns="0" bIns="0" rtlCol="0" anchor="t"/>
          <a:lstStyle/>
          <a:p>
            <a:pPr algn="ctr" indent="0" marL="0">
              <a:buNone/>
            </a:pPr>
            <a:r>
              <a:rPr lang="en-US" sz="2400" b="1" dirty="0">
                <a:solidFill>
                  <a:srgbClr val="12213A"/>
                </a:solidFill>
                <a:latin typeface="Arial" pitchFamily="34" charset="0"/>
                <a:ea typeface="Arial" pitchFamily="34" charset="-122"/>
                <a:cs typeface="Arial" pitchFamily="34" charset="-120"/>
              </a:rPr>
              <a:t>Identify</a:t>
            </a:r>
            <a:endParaRPr lang="en-US" sz="2400" dirty="0"/>
          </a:p>
        </p:txBody>
      </p:sp>
      <p:sp>
        <p:nvSpPr>
          <p:cNvPr id="8" name="Text 4"/>
          <p:cNvSpPr txBox="1"/>
          <p:nvPr/>
        </p:nvSpPr>
        <p:spPr>
          <a:xfrm>
            <a:off x="731520"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what kind of code is it?</a:t>
            </a:r>
            <a:endParaRPr lang="en-US" sz="1500" dirty="0"/>
          </a:p>
        </p:txBody>
      </p:sp>
      <p:sp>
        <p:nvSpPr>
          <p:cNvPr id="9" name="Text 5"/>
          <p:cNvSpPr txBox="1"/>
          <p:nvPr/>
        </p:nvSpPr>
        <p:spPr>
          <a:xfrm>
            <a:off x="2560320"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10" name="Shape 6"/>
          <p:cNvSpPr/>
          <p:nvPr/>
        </p:nvSpPr>
        <p:spPr>
          <a:xfrm>
            <a:off x="2816352" y="1600200"/>
            <a:ext cx="2011680" cy="3200400"/>
          </a:xfrm>
          <a:prstGeom prst="roundRect">
            <a:avLst>
              <a:gd name="adj" fmla="val 4545"/>
            </a:avLst>
          </a:prstGeom>
          <a:solidFill>
            <a:srgbClr val="F1F5FB"/>
          </a:solidFill>
          <a:ln/>
        </p:spPr>
      </p:sp>
      <p:sp>
        <p:nvSpPr>
          <p:cNvPr id="11" name="Shape 7"/>
          <p:cNvSpPr/>
          <p:nvPr/>
        </p:nvSpPr>
        <p:spPr>
          <a:xfrm>
            <a:off x="3364992" y="1828800"/>
            <a:ext cx="914400" cy="914400"/>
          </a:xfrm>
          <a:prstGeom prst="ellipse">
            <a:avLst/>
          </a:prstGeom>
          <a:solidFill>
            <a:srgbClr val="2459D8"/>
          </a:solidFill>
          <a:ln/>
        </p:spPr>
      </p:sp>
      <p:pic>
        <p:nvPicPr>
          <p:cNvPr id="12" name="Image 1" descr="preencoded.png">    </p:cNvPr>
          <p:cNvPicPr>
            <a:picLocks noChangeAspect="1"/>
          </p:cNvPicPr>
          <p:nvPr/>
        </p:nvPicPr>
        <p:blipFill>
          <a:blip r:embed="rId2"/>
          <a:stretch>
            <a:fillRect/>
          </a:stretch>
        </p:blipFill>
        <p:spPr>
          <a:xfrm>
            <a:off x="3593592" y="2057400"/>
            <a:ext cx="457200" cy="457200"/>
          </a:xfrm>
          <a:prstGeom prst="rect">
            <a:avLst/>
          </a:prstGeom>
        </p:spPr>
      </p:pic>
      <p:sp>
        <p:nvSpPr>
          <p:cNvPr id="13" name="Text 8"/>
          <p:cNvSpPr txBox="1"/>
          <p:nvPr/>
        </p:nvSpPr>
        <p:spPr>
          <a:xfrm>
            <a:off x="2953512" y="2971800"/>
            <a:ext cx="1737360" cy="457200"/>
          </a:xfrm>
          <a:prstGeom prst="rect">
            <a:avLst/>
          </a:prstGeom>
          <a:noFill/>
          <a:ln/>
        </p:spPr>
        <p:txBody>
          <a:bodyPr wrap="square" lIns="0" tIns="0" rIns="0" bIns="0" rtlCol="0" anchor="t"/>
          <a:lstStyle/>
          <a:p>
            <a:pPr algn="ctr" indent="0" marL="0">
              <a:buNone/>
            </a:pPr>
            <a:r>
              <a:rPr lang="en-US" sz="2400" b="1" dirty="0">
                <a:solidFill>
                  <a:srgbClr val="12213A"/>
                </a:solidFill>
                <a:latin typeface="Arial" pitchFamily="34" charset="0"/>
                <a:ea typeface="Arial" pitchFamily="34" charset="-122"/>
                <a:cs typeface="Arial" pitchFamily="34" charset="-120"/>
              </a:rPr>
              <a:t>Decode</a:t>
            </a:r>
            <a:endParaRPr lang="en-US" sz="2400" dirty="0"/>
          </a:p>
        </p:txBody>
      </p:sp>
      <p:sp>
        <p:nvSpPr>
          <p:cNvPr id="14" name="Text 9"/>
          <p:cNvSpPr txBox="1"/>
          <p:nvPr/>
        </p:nvSpPr>
        <p:spPr>
          <a:xfrm>
            <a:off x="2999232"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with the matching tool.</a:t>
            </a:r>
            <a:endParaRPr lang="en-US" sz="1500" dirty="0"/>
          </a:p>
        </p:txBody>
      </p:sp>
      <p:sp>
        <p:nvSpPr>
          <p:cNvPr id="15" name="Text 10"/>
          <p:cNvSpPr txBox="1"/>
          <p:nvPr/>
        </p:nvSpPr>
        <p:spPr>
          <a:xfrm>
            <a:off x="4828032"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16" name="Shape 11"/>
          <p:cNvSpPr/>
          <p:nvPr/>
        </p:nvSpPr>
        <p:spPr>
          <a:xfrm>
            <a:off x="5084064" y="1600200"/>
            <a:ext cx="2011680" cy="3200400"/>
          </a:xfrm>
          <a:prstGeom prst="roundRect">
            <a:avLst>
              <a:gd name="adj" fmla="val 4545"/>
            </a:avLst>
          </a:prstGeom>
          <a:solidFill>
            <a:srgbClr val="F1F5FB"/>
          </a:solidFill>
          <a:ln/>
        </p:spPr>
      </p:sp>
      <p:sp>
        <p:nvSpPr>
          <p:cNvPr id="17" name="Shape 12"/>
          <p:cNvSpPr/>
          <p:nvPr/>
        </p:nvSpPr>
        <p:spPr>
          <a:xfrm>
            <a:off x="5632704" y="1828800"/>
            <a:ext cx="914400" cy="914400"/>
          </a:xfrm>
          <a:prstGeom prst="ellipse">
            <a:avLst/>
          </a:prstGeom>
          <a:solidFill>
            <a:srgbClr val="7448D4"/>
          </a:solidFill>
          <a:ln/>
        </p:spPr>
      </p:sp>
      <p:pic>
        <p:nvPicPr>
          <p:cNvPr id="18" name="Image 2" descr="preencoded.png">    </p:cNvPr>
          <p:cNvPicPr>
            <a:picLocks noChangeAspect="1"/>
          </p:cNvPicPr>
          <p:nvPr/>
        </p:nvPicPr>
        <p:blipFill>
          <a:blip r:embed="rId3"/>
          <a:stretch>
            <a:fillRect/>
          </a:stretch>
        </p:blipFill>
        <p:spPr>
          <a:xfrm>
            <a:off x="5861304" y="2057400"/>
            <a:ext cx="457200" cy="457200"/>
          </a:xfrm>
          <a:prstGeom prst="rect">
            <a:avLst/>
          </a:prstGeom>
        </p:spPr>
      </p:pic>
      <p:sp>
        <p:nvSpPr>
          <p:cNvPr id="19" name="Text 13"/>
          <p:cNvSpPr txBox="1"/>
          <p:nvPr/>
        </p:nvSpPr>
        <p:spPr>
          <a:xfrm>
            <a:off x="5221224" y="2971800"/>
            <a:ext cx="1737360" cy="457200"/>
          </a:xfrm>
          <a:prstGeom prst="rect">
            <a:avLst/>
          </a:prstGeom>
          <a:noFill/>
          <a:ln/>
        </p:spPr>
        <p:txBody>
          <a:bodyPr wrap="square" lIns="0" tIns="0" rIns="0" bIns="0" rtlCol="0" anchor="t"/>
          <a:lstStyle/>
          <a:p>
            <a:pPr algn="ctr" indent="0" marL="0">
              <a:buNone/>
            </a:pPr>
            <a:r>
              <a:rPr lang="en-US" sz="2400" b="1" dirty="0">
                <a:solidFill>
                  <a:srgbClr val="12213A"/>
                </a:solidFill>
                <a:latin typeface="Arial" pitchFamily="34" charset="0"/>
                <a:ea typeface="Arial" pitchFamily="34" charset="-122"/>
                <a:cs typeface="Arial" pitchFamily="34" charset="-120"/>
              </a:rPr>
              <a:t>Check</a:t>
            </a:r>
            <a:endParaRPr lang="en-US" sz="2400" dirty="0"/>
          </a:p>
        </p:txBody>
      </p:sp>
      <p:sp>
        <p:nvSpPr>
          <p:cNvPr id="20" name="Text 14"/>
          <p:cNvSpPr txBox="1"/>
          <p:nvPr/>
        </p:nvSpPr>
        <p:spPr>
          <a:xfrm>
            <a:off x="5266944"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readable? Starts CYBA{?</a:t>
            </a:r>
            <a:endParaRPr lang="en-US" sz="1500" dirty="0"/>
          </a:p>
        </p:txBody>
      </p:sp>
      <p:sp>
        <p:nvSpPr>
          <p:cNvPr id="21" name="Text 15"/>
          <p:cNvSpPr txBox="1"/>
          <p:nvPr/>
        </p:nvSpPr>
        <p:spPr>
          <a:xfrm>
            <a:off x="7095744"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22" name="Shape 16"/>
          <p:cNvSpPr/>
          <p:nvPr/>
        </p:nvSpPr>
        <p:spPr>
          <a:xfrm>
            <a:off x="7351776" y="1600200"/>
            <a:ext cx="2011680" cy="3200400"/>
          </a:xfrm>
          <a:prstGeom prst="roundRect">
            <a:avLst>
              <a:gd name="adj" fmla="val 4545"/>
            </a:avLst>
          </a:prstGeom>
          <a:solidFill>
            <a:srgbClr val="F1F5FB"/>
          </a:solidFill>
          <a:ln/>
        </p:spPr>
      </p:sp>
      <p:sp>
        <p:nvSpPr>
          <p:cNvPr id="23" name="Shape 17"/>
          <p:cNvSpPr/>
          <p:nvPr/>
        </p:nvSpPr>
        <p:spPr>
          <a:xfrm>
            <a:off x="7900416" y="1828800"/>
            <a:ext cx="914400" cy="914400"/>
          </a:xfrm>
          <a:prstGeom prst="ellipse">
            <a:avLst/>
          </a:prstGeom>
          <a:solidFill>
            <a:srgbClr val="D1416B"/>
          </a:solidFill>
          <a:ln/>
        </p:spPr>
      </p:sp>
      <p:pic>
        <p:nvPicPr>
          <p:cNvPr id="24" name="Image 3" descr="preencoded.png">    </p:cNvPr>
          <p:cNvPicPr>
            <a:picLocks noChangeAspect="1"/>
          </p:cNvPicPr>
          <p:nvPr/>
        </p:nvPicPr>
        <p:blipFill>
          <a:blip r:embed="rId4"/>
          <a:stretch>
            <a:fillRect/>
          </a:stretch>
        </p:blipFill>
        <p:spPr>
          <a:xfrm>
            <a:off x="8129016" y="2057400"/>
            <a:ext cx="457200" cy="457200"/>
          </a:xfrm>
          <a:prstGeom prst="rect">
            <a:avLst/>
          </a:prstGeom>
        </p:spPr>
      </p:pic>
      <p:sp>
        <p:nvSpPr>
          <p:cNvPr id="25" name="Text 18"/>
          <p:cNvSpPr txBox="1"/>
          <p:nvPr/>
        </p:nvSpPr>
        <p:spPr>
          <a:xfrm>
            <a:off x="7488936" y="2971800"/>
            <a:ext cx="1737360" cy="457200"/>
          </a:xfrm>
          <a:prstGeom prst="rect">
            <a:avLst/>
          </a:prstGeom>
          <a:noFill/>
          <a:ln/>
        </p:spPr>
        <p:txBody>
          <a:bodyPr wrap="square" lIns="0" tIns="0" rIns="0" bIns="0" rtlCol="0" anchor="t"/>
          <a:lstStyle/>
          <a:p>
            <a:pPr algn="ctr" indent="0" marL="0">
              <a:buNone/>
            </a:pPr>
            <a:r>
              <a:rPr lang="en-US" sz="2400" b="1" dirty="0">
                <a:solidFill>
                  <a:srgbClr val="12213A"/>
                </a:solidFill>
                <a:latin typeface="Arial" pitchFamily="34" charset="0"/>
                <a:ea typeface="Arial" pitchFamily="34" charset="-122"/>
                <a:cs typeface="Arial" pitchFamily="34" charset="-120"/>
              </a:rPr>
              <a:t>Copy</a:t>
            </a:r>
            <a:endParaRPr lang="en-US" sz="2400" dirty="0"/>
          </a:p>
        </p:txBody>
      </p:sp>
      <p:sp>
        <p:nvSpPr>
          <p:cNvPr id="26" name="Text 19"/>
          <p:cNvSpPr txBox="1"/>
          <p:nvPr/>
        </p:nvSpPr>
        <p:spPr>
          <a:xfrm>
            <a:off x="7534656"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the whole flag, CYBA{ to }.</a:t>
            </a:r>
            <a:endParaRPr lang="en-US" sz="1500" dirty="0"/>
          </a:p>
        </p:txBody>
      </p:sp>
      <p:sp>
        <p:nvSpPr>
          <p:cNvPr id="27" name="Text 20"/>
          <p:cNvSpPr txBox="1"/>
          <p:nvPr/>
        </p:nvSpPr>
        <p:spPr>
          <a:xfrm>
            <a:off x="9363456" y="2011680"/>
            <a:ext cx="256032" cy="548640"/>
          </a:xfrm>
          <a:prstGeom prst="rect">
            <a:avLst/>
          </a:prstGeom>
          <a:noFill/>
          <a:ln/>
        </p:spPr>
        <p:txBody>
          <a:bodyPr wrap="square" lIns="0" tIns="0" rIns="0" bIns="0" rtlCol="0" anchor="ctr"/>
          <a:lstStyle/>
          <a:p>
            <a:pPr algn="ctr" indent="0" marL="0">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28" name="Shape 21"/>
          <p:cNvSpPr/>
          <p:nvPr/>
        </p:nvSpPr>
        <p:spPr>
          <a:xfrm>
            <a:off x="9619488" y="1600200"/>
            <a:ext cx="2011680" cy="3200400"/>
          </a:xfrm>
          <a:prstGeom prst="roundRect">
            <a:avLst>
              <a:gd name="adj" fmla="val 4545"/>
            </a:avLst>
          </a:prstGeom>
          <a:solidFill>
            <a:srgbClr val="F1F5FB"/>
          </a:solidFill>
          <a:ln/>
        </p:spPr>
      </p:sp>
      <p:sp>
        <p:nvSpPr>
          <p:cNvPr id="29" name="Shape 22"/>
          <p:cNvSpPr/>
          <p:nvPr/>
        </p:nvSpPr>
        <p:spPr>
          <a:xfrm>
            <a:off x="10168128" y="1828800"/>
            <a:ext cx="914400" cy="914400"/>
          </a:xfrm>
          <a:prstGeom prst="ellipse">
            <a:avLst/>
          </a:prstGeom>
          <a:solidFill>
            <a:srgbClr val="17875A"/>
          </a:solidFill>
          <a:ln/>
        </p:spPr>
      </p:sp>
      <p:pic>
        <p:nvPicPr>
          <p:cNvPr id="30" name="Image 4" descr="preencoded.png">    </p:cNvPr>
          <p:cNvPicPr>
            <a:picLocks noChangeAspect="1"/>
          </p:cNvPicPr>
          <p:nvPr/>
        </p:nvPicPr>
        <p:blipFill>
          <a:blip r:embed="rId5"/>
          <a:stretch>
            <a:fillRect/>
          </a:stretch>
        </p:blipFill>
        <p:spPr>
          <a:xfrm>
            <a:off x="10396728" y="2057400"/>
            <a:ext cx="457200" cy="457200"/>
          </a:xfrm>
          <a:prstGeom prst="rect">
            <a:avLst/>
          </a:prstGeom>
        </p:spPr>
      </p:pic>
      <p:sp>
        <p:nvSpPr>
          <p:cNvPr id="31" name="Text 23"/>
          <p:cNvSpPr txBox="1"/>
          <p:nvPr/>
        </p:nvSpPr>
        <p:spPr>
          <a:xfrm>
            <a:off x="9756648" y="2971800"/>
            <a:ext cx="1737360" cy="457200"/>
          </a:xfrm>
          <a:prstGeom prst="rect">
            <a:avLst/>
          </a:prstGeom>
          <a:noFill/>
          <a:ln/>
        </p:spPr>
        <p:txBody>
          <a:bodyPr wrap="square" lIns="0" tIns="0" rIns="0" bIns="0" rtlCol="0" anchor="t"/>
          <a:lstStyle/>
          <a:p>
            <a:pPr algn="ctr" indent="0" marL="0">
              <a:buNone/>
            </a:pPr>
            <a:r>
              <a:rPr lang="en-US" sz="2400" b="1" dirty="0">
                <a:solidFill>
                  <a:srgbClr val="12213A"/>
                </a:solidFill>
                <a:latin typeface="Arial" pitchFamily="34" charset="0"/>
                <a:ea typeface="Arial" pitchFamily="34" charset="-122"/>
                <a:cs typeface="Arial" pitchFamily="34" charset="-120"/>
              </a:rPr>
              <a:t>Submit</a:t>
            </a:r>
            <a:endParaRPr lang="en-US" sz="2400" dirty="0"/>
          </a:p>
        </p:txBody>
      </p:sp>
      <p:sp>
        <p:nvSpPr>
          <p:cNvPr id="32" name="Text 24"/>
          <p:cNvSpPr txBox="1"/>
          <p:nvPr/>
        </p:nvSpPr>
        <p:spPr>
          <a:xfrm>
            <a:off x="9802368" y="3520440"/>
            <a:ext cx="1645920" cy="1097280"/>
          </a:xfrm>
          <a:prstGeom prst="rect">
            <a:avLst/>
          </a:prstGeom>
          <a:noFill/>
          <a:ln/>
        </p:spPr>
        <p:txBody>
          <a:bodyPr wrap="square" lIns="0" tIns="0" rIns="0" bIns="0" rtlCol="0" anchor="t"/>
          <a:lstStyle/>
          <a:p>
            <a:pPr algn="ctr" indent="0" marL="0">
              <a:buNone/>
            </a:pPr>
            <a:r>
              <a:rPr lang="en-US" sz="1500" dirty="0">
                <a:solidFill>
                  <a:srgbClr val="56657E"/>
                </a:solidFill>
                <a:latin typeface="Calibri" pitchFamily="34" charset="0"/>
                <a:ea typeface="Calibri" pitchFamily="34" charset="-122"/>
                <a:cs typeface="Calibri" pitchFamily="34" charset="-120"/>
              </a:rPr>
              <a:t>type submit, paste, Enter.</a:t>
            </a:r>
            <a:endParaRPr lang="en-US" sz="1500" dirty="0"/>
          </a:p>
        </p:txBody>
      </p:sp>
      <p:sp>
        <p:nvSpPr>
          <p:cNvPr id="33" name="Shape 25"/>
          <p:cNvSpPr/>
          <p:nvPr/>
        </p:nvSpPr>
        <p:spPr>
          <a:xfrm>
            <a:off x="548640" y="5029200"/>
            <a:ext cx="11094415" cy="914400"/>
          </a:xfrm>
          <a:prstGeom prst="roundRect">
            <a:avLst>
              <a:gd name="adj" fmla="val 10000"/>
            </a:avLst>
          </a:prstGeom>
          <a:solidFill>
            <a:srgbClr val="0E1726"/>
          </a:solidFill>
          <a:ln/>
          <a:effectLst>
            <a:outerShdw sx="100000" sy="100000" kx="0" ky="0" algn="bl" rotWithShape="0" blurRad="127000" dist="38100" dir="5400000">
              <a:srgbClr val="12213A">
                <a:alpha val="22000"/>
              </a:srgbClr>
            </a:outerShdw>
          </a:effectLst>
        </p:spPr>
      </p:sp>
      <p:sp>
        <p:nvSpPr>
          <p:cNvPr id="34" name="Shape 26"/>
          <p:cNvSpPr/>
          <p:nvPr/>
        </p:nvSpPr>
        <p:spPr>
          <a:xfrm>
            <a:off x="749808" y="5184648"/>
            <a:ext cx="118872" cy="118872"/>
          </a:xfrm>
          <a:prstGeom prst="ellipse">
            <a:avLst/>
          </a:prstGeom>
          <a:solidFill>
            <a:srgbClr val="E5534B"/>
          </a:solidFill>
          <a:ln/>
        </p:spPr>
      </p:sp>
      <p:sp>
        <p:nvSpPr>
          <p:cNvPr id="35" name="Shape 27"/>
          <p:cNvSpPr/>
          <p:nvPr/>
        </p:nvSpPr>
        <p:spPr>
          <a:xfrm>
            <a:off x="950976" y="5184648"/>
            <a:ext cx="118872" cy="118872"/>
          </a:xfrm>
          <a:prstGeom prst="ellipse">
            <a:avLst/>
          </a:prstGeom>
          <a:solidFill>
            <a:srgbClr val="F5A623"/>
          </a:solidFill>
          <a:ln/>
        </p:spPr>
      </p:sp>
      <p:sp>
        <p:nvSpPr>
          <p:cNvPr id="36" name="Shape 28"/>
          <p:cNvSpPr/>
          <p:nvPr/>
        </p:nvSpPr>
        <p:spPr>
          <a:xfrm>
            <a:off x="1152144" y="5184648"/>
            <a:ext cx="118872" cy="118872"/>
          </a:xfrm>
          <a:prstGeom prst="ellipse">
            <a:avLst/>
          </a:prstGeom>
          <a:solidFill>
            <a:srgbClr val="46D39A"/>
          </a:solidFill>
          <a:ln/>
        </p:spPr>
      </p:sp>
      <p:sp>
        <p:nvSpPr>
          <p:cNvPr id="37" name="Text 29"/>
          <p:cNvSpPr txBox="1"/>
          <p:nvPr/>
        </p:nvSpPr>
        <p:spPr>
          <a:xfrm>
            <a:off x="822960" y="5486400"/>
            <a:ext cx="10545775" cy="320040"/>
          </a:xfrm>
          <a:prstGeom prst="rect">
            <a:avLst/>
          </a:prstGeom>
          <a:noFill/>
          <a:ln/>
        </p:spPr>
        <p:txBody>
          <a:bodyPr wrap="square" lIns="0" tIns="0" rIns="0" bIns="0" rtlCol="0" anchor="t"/>
          <a:lstStyle/>
          <a:p>
            <a:pPr indent="0" marL="0">
              <a:spcAft>
                <a:spcPts val="200"/>
              </a:spcAft>
              <a:buNone/>
            </a:pPr>
            <a:r>
              <a:rPr lang="en-US" sz="18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800" b="1" dirty="0">
                <a:solidFill>
                  <a:srgbClr val="FFFFFF"/>
                </a:solidFill>
                <a:latin typeface="Courier New" pitchFamily="34" charset="0"/>
                <a:ea typeface="Courier New" pitchFamily="34" charset="-122"/>
                <a:cs typeface="Courier New" pitchFamily="34" charset="-120"/>
              </a:rPr>
              <a:t>submit CYBA{b64-3c9e01f7}</a:t>
            </a:r>
            <a:pPr indent="0" marL="0">
              <a:spcAft>
                <a:spcPts val="200"/>
              </a:spcAft>
              <a:buNone/>
            </a:pPr>
            <a:r>
              <a:rPr lang="en-US" sz="1800" dirty="0">
                <a:solidFill>
                  <a:srgbClr val="7F8FAD"/>
                </a:solidFill>
                <a:latin typeface="Courier New" pitchFamily="34" charset="0"/>
                <a:ea typeface="Courier New" pitchFamily="34" charset="-122"/>
                <a:cs typeface="Courier New" pitchFamily="34" charset="-120"/>
              </a:rPr>
              <a:t>   # Correct! +100 points</a:t>
            </a:r>
            <a:endParaRPr lang="en-US" sz="1800" dirty="0"/>
          </a:p>
        </p:txBody>
      </p:sp>
      <p:sp>
        <p:nvSpPr>
          <p:cNvPr id="38" name="Text 30"/>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25 / 61</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How we'll work through it</a:t>
            </a:r>
            <a:endParaRPr lang="en-US" sz="3200" dirty="0"/>
          </a:p>
        </p:txBody>
      </p:sp>
      <p:sp>
        <p:nvSpPr>
          <p:cNvPr id="4" name="Shape 1"/>
          <p:cNvSpPr/>
          <p:nvPr/>
        </p:nvSpPr>
        <p:spPr>
          <a:xfrm>
            <a:off x="548640" y="2651760"/>
            <a:ext cx="1691640" cy="2331720"/>
          </a:xfrm>
          <a:prstGeom prst="roundRect">
            <a:avLst>
              <a:gd name="adj" fmla="val 6486"/>
            </a:avLst>
          </a:prstGeom>
          <a:solidFill>
            <a:srgbClr val="17875A"/>
          </a:solidFill>
          <a:ln/>
        </p:spPr>
      </p:sp>
      <p:sp>
        <p:nvSpPr>
          <p:cNvPr id="5" name="Text 2"/>
          <p:cNvSpPr txBox="1"/>
          <p:nvPr/>
        </p:nvSpPr>
        <p:spPr>
          <a:xfrm>
            <a:off x="685800"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6" name="Text 3"/>
          <p:cNvSpPr txBox="1"/>
          <p:nvPr/>
        </p:nvSpPr>
        <p:spPr>
          <a:xfrm>
            <a:off x="640080"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Teach</a:t>
            </a:r>
            <a:endParaRPr lang="en-US" sz="2200" dirty="0"/>
          </a:p>
        </p:txBody>
      </p:sp>
      <p:sp>
        <p:nvSpPr>
          <p:cNvPr id="7" name="Text 4"/>
          <p:cNvSpPr txBox="1"/>
          <p:nvPr/>
        </p:nvSpPr>
        <p:spPr>
          <a:xfrm>
            <a:off x="640080"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name the idea</a:t>
            </a:r>
            <a:endParaRPr lang="en-US" sz="1300" dirty="0"/>
          </a:p>
        </p:txBody>
      </p:sp>
      <p:sp>
        <p:nvSpPr>
          <p:cNvPr id="8" name="Text 5"/>
          <p:cNvSpPr txBox="1"/>
          <p:nvPr/>
        </p:nvSpPr>
        <p:spPr>
          <a:xfrm>
            <a:off x="2221992" y="3474720"/>
            <a:ext cx="201168" cy="73152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&gt;</a:t>
            </a:r>
            <a:endParaRPr lang="en-US" sz="1800" dirty="0"/>
          </a:p>
        </p:txBody>
      </p:sp>
      <p:sp>
        <p:nvSpPr>
          <p:cNvPr id="9" name="Shape 6"/>
          <p:cNvSpPr/>
          <p:nvPr/>
        </p:nvSpPr>
        <p:spPr>
          <a:xfrm>
            <a:off x="2404872" y="2651760"/>
            <a:ext cx="1691640" cy="2331720"/>
          </a:xfrm>
          <a:prstGeom prst="roundRect">
            <a:avLst>
              <a:gd name="adj" fmla="val 6486"/>
            </a:avLst>
          </a:prstGeom>
          <a:solidFill>
            <a:srgbClr val="2A9FD6"/>
          </a:solidFill>
          <a:ln/>
        </p:spPr>
      </p:sp>
      <p:sp>
        <p:nvSpPr>
          <p:cNvPr id="10" name="Text 7"/>
          <p:cNvSpPr txBox="1"/>
          <p:nvPr/>
        </p:nvSpPr>
        <p:spPr>
          <a:xfrm>
            <a:off x="2542032"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1" name="Text 8"/>
          <p:cNvSpPr txBox="1"/>
          <p:nvPr/>
        </p:nvSpPr>
        <p:spPr>
          <a:xfrm>
            <a:off x="2496312"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Ask</a:t>
            </a:r>
            <a:endParaRPr lang="en-US" sz="2200" dirty="0"/>
          </a:p>
        </p:txBody>
      </p:sp>
      <p:sp>
        <p:nvSpPr>
          <p:cNvPr id="12" name="Text 9"/>
          <p:cNvSpPr txBox="1"/>
          <p:nvPr/>
        </p:nvSpPr>
        <p:spPr>
          <a:xfrm>
            <a:off x="2496312"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a question first</a:t>
            </a:r>
            <a:endParaRPr lang="en-US" sz="1300" dirty="0"/>
          </a:p>
        </p:txBody>
      </p:sp>
      <p:sp>
        <p:nvSpPr>
          <p:cNvPr id="13" name="Text 10"/>
          <p:cNvSpPr txBox="1"/>
          <p:nvPr/>
        </p:nvSpPr>
        <p:spPr>
          <a:xfrm>
            <a:off x="4078224" y="3474720"/>
            <a:ext cx="201168" cy="73152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&gt;</a:t>
            </a:r>
            <a:endParaRPr lang="en-US" sz="1800" dirty="0"/>
          </a:p>
        </p:txBody>
      </p:sp>
      <p:sp>
        <p:nvSpPr>
          <p:cNvPr id="14" name="Shape 11"/>
          <p:cNvSpPr/>
          <p:nvPr/>
        </p:nvSpPr>
        <p:spPr>
          <a:xfrm>
            <a:off x="4261104" y="2651760"/>
            <a:ext cx="1691640" cy="2331720"/>
          </a:xfrm>
          <a:prstGeom prst="roundRect">
            <a:avLst>
              <a:gd name="adj" fmla="val 6486"/>
            </a:avLst>
          </a:prstGeom>
          <a:solidFill>
            <a:srgbClr val="2459D8"/>
          </a:solidFill>
          <a:ln/>
        </p:spPr>
      </p:sp>
      <p:sp>
        <p:nvSpPr>
          <p:cNvPr id="15" name="Text 12"/>
          <p:cNvSpPr txBox="1"/>
          <p:nvPr/>
        </p:nvSpPr>
        <p:spPr>
          <a:xfrm>
            <a:off x="4398264"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6" name="Text 13"/>
          <p:cNvSpPr txBox="1"/>
          <p:nvPr/>
        </p:nvSpPr>
        <p:spPr>
          <a:xfrm>
            <a:off x="4352544"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Predict</a:t>
            </a:r>
            <a:endParaRPr lang="en-US" sz="2200" dirty="0"/>
          </a:p>
        </p:txBody>
      </p:sp>
      <p:sp>
        <p:nvSpPr>
          <p:cNvPr id="17" name="Text 14"/>
          <p:cNvSpPr txBox="1"/>
          <p:nvPr/>
        </p:nvSpPr>
        <p:spPr>
          <a:xfrm>
            <a:off x="4352544"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what will happen?</a:t>
            </a:r>
            <a:endParaRPr lang="en-US" sz="1300" dirty="0"/>
          </a:p>
        </p:txBody>
      </p:sp>
      <p:sp>
        <p:nvSpPr>
          <p:cNvPr id="18" name="Text 15"/>
          <p:cNvSpPr txBox="1"/>
          <p:nvPr/>
        </p:nvSpPr>
        <p:spPr>
          <a:xfrm>
            <a:off x="5934456" y="3474720"/>
            <a:ext cx="201168" cy="73152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&gt;</a:t>
            </a:r>
            <a:endParaRPr lang="en-US" sz="1800" dirty="0"/>
          </a:p>
        </p:txBody>
      </p:sp>
      <p:sp>
        <p:nvSpPr>
          <p:cNvPr id="19" name="Shape 16"/>
          <p:cNvSpPr/>
          <p:nvPr/>
        </p:nvSpPr>
        <p:spPr>
          <a:xfrm>
            <a:off x="6117336" y="2651760"/>
            <a:ext cx="1691640" cy="2331720"/>
          </a:xfrm>
          <a:prstGeom prst="roundRect">
            <a:avLst>
              <a:gd name="adj" fmla="val 6486"/>
            </a:avLst>
          </a:prstGeom>
          <a:solidFill>
            <a:srgbClr val="7448D4"/>
          </a:solidFill>
          <a:ln/>
        </p:spPr>
      </p:sp>
      <p:sp>
        <p:nvSpPr>
          <p:cNvPr id="20" name="Text 17"/>
          <p:cNvSpPr txBox="1"/>
          <p:nvPr/>
        </p:nvSpPr>
        <p:spPr>
          <a:xfrm>
            <a:off x="6254496"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1" name="Text 18"/>
          <p:cNvSpPr txBox="1"/>
          <p:nvPr/>
        </p:nvSpPr>
        <p:spPr>
          <a:xfrm>
            <a:off x="6208776"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Try</a:t>
            </a:r>
            <a:endParaRPr lang="en-US" sz="2200" dirty="0"/>
          </a:p>
        </p:txBody>
      </p:sp>
      <p:sp>
        <p:nvSpPr>
          <p:cNvPr id="22" name="Text 19"/>
          <p:cNvSpPr txBox="1"/>
          <p:nvPr/>
        </p:nvSpPr>
        <p:spPr>
          <a:xfrm>
            <a:off x="6208776"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run the command</a:t>
            </a:r>
            <a:endParaRPr lang="en-US" sz="1300" dirty="0"/>
          </a:p>
        </p:txBody>
      </p:sp>
      <p:sp>
        <p:nvSpPr>
          <p:cNvPr id="23" name="Text 20"/>
          <p:cNvSpPr txBox="1"/>
          <p:nvPr/>
        </p:nvSpPr>
        <p:spPr>
          <a:xfrm>
            <a:off x="7790688" y="3474720"/>
            <a:ext cx="201168" cy="73152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&gt;</a:t>
            </a:r>
            <a:endParaRPr lang="en-US" sz="1800" dirty="0"/>
          </a:p>
        </p:txBody>
      </p:sp>
      <p:sp>
        <p:nvSpPr>
          <p:cNvPr id="24" name="Shape 21"/>
          <p:cNvSpPr/>
          <p:nvPr/>
        </p:nvSpPr>
        <p:spPr>
          <a:xfrm>
            <a:off x="7973568" y="2651760"/>
            <a:ext cx="1691640" cy="2331720"/>
          </a:xfrm>
          <a:prstGeom prst="roundRect">
            <a:avLst>
              <a:gd name="adj" fmla="val 6486"/>
            </a:avLst>
          </a:prstGeom>
          <a:solidFill>
            <a:srgbClr val="D1416B"/>
          </a:solidFill>
          <a:ln/>
        </p:spPr>
      </p:sp>
      <p:sp>
        <p:nvSpPr>
          <p:cNvPr id="25" name="Text 22"/>
          <p:cNvSpPr txBox="1"/>
          <p:nvPr/>
        </p:nvSpPr>
        <p:spPr>
          <a:xfrm>
            <a:off x="8110728"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26" name="Text 23"/>
          <p:cNvSpPr txBox="1"/>
          <p:nvPr/>
        </p:nvSpPr>
        <p:spPr>
          <a:xfrm>
            <a:off x="8065008"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Explain</a:t>
            </a:r>
            <a:endParaRPr lang="en-US" sz="2200" dirty="0"/>
          </a:p>
        </p:txBody>
      </p:sp>
      <p:sp>
        <p:nvSpPr>
          <p:cNvPr id="27" name="Text 24"/>
          <p:cNvSpPr txBox="1"/>
          <p:nvPr/>
        </p:nvSpPr>
        <p:spPr>
          <a:xfrm>
            <a:off x="8065008"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in your words</a:t>
            </a:r>
            <a:endParaRPr lang="en-US" sz="1300" dirty="0"/>
          </a:p>
        </p:txBody>
      </p:sp>
      <p:sp>
        <p:nvSpPr>
          <p:cNvPr id="28" name="Text 25"/>
          <p:cNvSpPr txBox="1"/>
          <p:nvPr/>
        </p:nvSpPr>
        <p:spPr>
          <a:xfrm>
            <a:off x="9646920" y="3474720"/>
            <a:ext cx="201168" cy="73152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&gt;</a:t>
            </a:r>
            <a:endParaRPr lang="en-US" sz="1800" dirty="0"/>
          </a:p>
        </p:txBody>
      </p:sp>
      <p:sp>
        <p:nvSpPr>
          <p:cNvPr id="29" name="Shape 26"/>
          <p:cNvSpPr/>
          <p:nvPr/>
        </p:nvSpPr>
        <p:spPr>
          <a:xfrm>
            <a:off x="9829800" y="2651760"/>
            <a:ext cx="1691640" cy="2331720"/>
          </a:xfrm>
          <a:prstGeom prst="roundRect">
            <a:avLst>
              <a:gd name="adj" fmla="val 6486"/>
            </a:avLst>
          </a:prstGeom>
          <a:solidFill>
            <a:srgbClr val="17875A"/>
          </a:solidFill>
          <a:ln/>
        </p:spPr>
      </p:sp>
      <p:sp>
        <p:nvSpPr>
          <p:cNvPr id="30" name="Text 27"/>
          <p:cNvSpPr txBox="1"/>
          <p:nvPr/>
        </p:nvSpPr>
        <p:spPr>
          <a:xfrm>
            <a:off x="9966960" y="2788920"/>
            <a:ext cx="1417320"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31" name="Text 28"/>
          <p:cNvSpPr txBox="1"/>
          <p:nvPr/>
        </p:nvSpPr>
        <p:spPr>
          <a:xfrm>
            <a:off x="9921240" y="3246120"/>
            <a:ext cx="1508760" cy="73152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rial" pitchFamily="34" charset="0"/>
                <a:ea typeface="Arial" pitchFamily="34" charset="-122"/>
                <a:cs typeface="Arial" pitchFamily="34" charset="-120"/>
              </a:rPr>
              <a:t>Apply</a:t>
            </a:r>
            <a:endParaRPr lang="en-US" sz="2200" dirty="0"/>
          </a:p>
        </p:txBody>
      </p:sp>
      <p:sp>
        <p:nvSpPr>
          <p:cNvPr id="32" name="Text 29"/>
          <p:cNvSpPr txBox="1"/>
          <p:nvPr/>
        </p:nvSpPr>
        <p:spPr>
          <a:xfrm>
            <a:off x="9921240" y="4069080"/>
            <a:ext cx="1508760" cy="7772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on the next one</a:t>
            </a:r>
            <a:endParaRPr lang="en-US" sz="1300" dirty="0"/>
          </a:p>
        </p:txBody>
      </p:sp>
      <p:sp>
        <p:nvSpPr>
          <p:cNvPr id="33" name="Text 30"/>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26 / 61</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The challenges</a:t>
            </a:r>
            <a:endParaRPr lang="en-US" sz="3200" dirty="0"/>
          </a:p>
        </p:txBody>
      </p:sp>
      <p:sp>
        <p:nvSpPr>
          <p:cNvPr id="4" name="Shape 1"/>
          <p:cNvSpPr/>
          <p:nvPr/>
        </p:nvSpPr>
        <p:spPr>
          <a:xfrm>
            <a:off x="548640" y="1463040"/>
            <a:ext cx="2103120" cy="2103120"/>
          </a:xfrm>
          <a:prstGeom prst="roundRect">
            <a:avLst>
              <a:gd name="adj" fmla="val 4348"/>
            </a:avLst>
          </a:prstGeom>
          <a:solidFill>
            <a:srgbClr val="F1F5FB"/>
          </a:solidFill>
          <a:ln/>
        </p:spPr>
      </p:sp>
      <p:sp>
        <p:nvSpPr>
          <p:cNvPr id="5" name="Shape 2"/>
          <p:cNvSpPr/>
          <p:nvPr/>
        </p:nvSpPr>
        <p:spPr>
          <a:xfrm>
            <a:off x="548640" y="1463040"/>
            <a:ext cx="2103120" cy="91440"/>
          </a:xfrm>
          <a:prstGeom prst="rect">
            <a:avLst/>
          </a:prstGeom>
          <a:solidFill>
            <a:srgbClr val="17875A"/>
          </a:solidFill>
          <a:ln/>
        </p:spPr>
      </p:sp>
      <p:sp>
        <p:nvSpPr>
          <p:cNvPr id="6" name="Shape 3"/>
          <p:cNvSpPr/>
          <p:nvPr/>
        </p:nvSpPr>
        <p:spPr>
          <a:xfrm>
            <a:off x="713232" y="1719072"/>
            <a:ext cx="502920" cy="502920"/>
          </a:xfrm>
          <a:prstGeom prst="ellipse">
            <a:avLst/>
          </a:prstGeom>
          <a:solidFill>
            <a:srgbClr val="17875A"/>
          </a:solidFill>
          <a:ln/>
        </p:spPr>
      </p:sp>
      <p:sp>
        <p:nvSpPr>
          <p:cNvPr id="7" name="Text 4"/>
          <p:cNvSpPr txBox="1"/>
          <p:nvPr/>
        </p:nvSpPr>
        <p:spPr>
          <a:xfrm>
            <a:off x="713232" y="171907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5"/>
          <p:cNvSpPr txBox="1"/>
          <p:nvPr/>
        </p:nvSpPr>
        <p:spPr>
          <a:xfrm>
            <a:off x="1325880" y="1719072"/>
            <a:ext cx="1188720" cy="502920"/>
          </a:xfrm>
          <a:prstGeom prst="rect">
            <a:avLst/>
          </a:prstGeom>
          <a:noFill/>
          <a:ln/>
        </p:spPr>
        <p:txBody>
          <a:bodyPr wrap="square" lIns="0" tIns="0" rIns="0" bIns="0" rtlCol="0" anchor="ctr"/>
          <a:lstStyle/>
          <a:p>
            <a:pPr algn="r" indent="0" marL="0">
              <a:buNone/>
            </a:pPr>
            <a:r>
              <a:rPr lang="en-US" sz="1200" b="1" dirty="0">
                <a:solidFill>
                  <a:srgbClr val="2459D8"/>
                </a:solidFill>
                <a:latin typeface="Calibri" pitchFamily="34" charset="0"/>
                <a:ea typeface="Calibri" pitchFamily="34" charset="-122"/>
                <a:cs typeface="Calibri" pitchFamily="34" charset="-120"/>
              </a:rPr>
              <a:t>We do</a:t>
            </a:r>
            <a:endParaRPr lang="en-US" sz="1200" dirty="0"/>
          </a:p>
        </p:txBody>
      </p:sp>
      <p:sp>
        <p:nvSpPr>
          <p:cNvPr id="9" name="Text 6"/>
          <p:cNvSpPr txBox="1"/>
          <p:nvPr/>
        </p:nvSpPr>
        <p:spPr>
          <a:xfrm>
            <a:off x="713232" y="228600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Not so secret</a:t>
            </a:r>
            <a:endParaRPr lang="en-US" sz="1500" dirty="0"/>
          </a:p>
        </p:txBody>
      </p:sp>
      <p:sp>
        <p:nvSpPr>
          <p:cNvPr id="10" name="Shape 7"/>
          <p:cNvSpPr/>
          <p:nvPr/>
        </p:nvSpPr>
        <p:spPr>
          <a:xfrm>
            <a:off x="713232" y="2852928"/>
            <a:ext cx="1783080" cy="347472"/>
          </a:xfrm>
          <a:prstGeom prst="roundRect">
            <a:avLst>
              <a:gd name="adj" fmla="val 50000"/>
            </a:avLst>
          </a:prstGeom>
          <a:solidFill>
            <a:srgbClr val="E2F5EC"/>
          </a:solidFill>
          <a:ln/>
        </p:spPr>
      </p:sp>
      <p:sp>
        <p:nvSpPr>
          <p:cNvPr id="11" name="Text 8"/>
          <p:cNvSpPr txBox="1"/>
          <p:nvPr/>
        </p:nvSpPr>
        <p:spPr>
          <a:xfrm>
            <a:off x="713232" y="2852928"/>
            <a:ext cx="1783080" cy="347472"/>
          </a:xfrm>
          <a:prstGeom prst="rect">
            <a:avLst/>
          </a:prstGeom>
          <a:noFill/>
          <a:ln/>
        </p:spPr>
        <p:txBody>
          <a:bodyPr wrap="square" lIns="0" tIns="0" rIns="0" bIns="0" rtlCol="0" anchor="ctr"/>
          <a:lstStyle/>
          <a:p>
            <a:pPr algn="ctr" indent="0" marL="0">
              <a:buNone/>
            </a:pPr>
            <a:r>
              <a:rPr lang="en-US" sz="1050" b="1" dirty="0">
                <a:solidFill>
                  <a:srgbClr val="12704B"/>
                </a:solidFill>
                <a:latin typeface="Calibri" pitchFamily="34" charset="0"/>
                <a:ea typeface="Calibri" pitchFamily="34" charset="-122"/>
                <a:cs typeface="Calibri" pitchFamily="34" charset="-120"/>
              </a:rPr>
              <a:t>EASY  ·  100</a:t>
            </a:r>
            <a:endParaRPr lang="en-US" sz="1050" dirty="0"/>
          </a:p>
        </p:txBody>
      </p:sp>
      <p:sp>
        <p:nvSpPr>
          <p:cNvPr id="12" name="Text 9"/>
          <p:cNvSpPr txBox="1"/>
          <p:nvPr/>
        </p:nvSpPr>
        <p:spPr>
          <a:xfrm>
            <a:off x="713232" y="324612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cat  base64 -d</a:t>
            </a:r>
            <a:endParaRPr lang="en-US" sz="1000" dirty="0"/>
          </a:p>
        </p:txBody>
      </p:sp>
      <p:sp>
        <p:nvSpPr>
          <p:cNvPr id="13" name="Shape 10"/>
          <p:cNvSpPr/>
          <p:nvPr/>
        </p:nvSpPr>
        <p:spPr>
          <a:xfrm>
            <a:off x="2788920" y="1463040"/>
            <a:ext cx="2103120" cy="2103120"/>
          </a:xfrm>
          <a:prstGeom prst="roundRect">
            <a:avLst>
              <a:gd name="adj" fmla="val 4348"/>
            </a:avLst>
          </a:prstGeom>
          <a:solidFill>
            <a:srgbClr val="F1F5FB"/>
          </a:solidFill>
          <a:ln/>
        </p:spPr>
      </p:sp>
      <p:sp>
        <p:nvSpPr>
          <p:cNvPr id="14" name="Shape 11"/>
          <p:cNvSpPr/>
          <p:nvPr/>
        </p:nvSpPr>
        <p:spPr>
          <a:xfrm>
            <a:off x="2788920" y="1463040"/>
            <a:ext cx="2103120" cy="91440"/>
          </a:xfrm>
          <a:prstGeom prst="rect">
            <a:avLst/>
          </a:prstGeom>
          <a:solidFill>
            <a:srgbClr val="2A9FD6"/>
          </a:solidFill>
          <a:ln/>
        </p:spPr>
      </p:sp>
      <p:sp>
        <p:nvSpPr>
          <p:cNvPr id="15" name="Shape 12"/>
          <p:cNvSpPr/>
          <p:nvPr/>
        </p:nvSpPr>
        <p:spPr>
          <a:xfrm>
            <a:off x="2953512" y="1719072"/>
            <a:ext cx="502920" cy="502920"/>
          </a:xfrm>
          <a:prstGeom prst="ellipse">
            <a:avLst/>
          </a:prstGeom>
          <a:solidFill>
            <a:srgbClr val="2A9FD6"/>
          </a:solidFill>
          <a:ln/>
        </p:spPr>
      </p:sp>
      <p:sp>
        <p:nvSpPr>
          <p:cNvPr id="16" name="Text 13"/>
          <p:cNvSpPr txBox="1"/>
          <p:nvPr/>
        </p:nvSpPr>
        <p:spPr>
          <a:xfrm>
            <a:off x="2953512" y="171907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7" name="Text 14"/>
          <p:cNvSpPr txBox="1"/>
          <p:nvPr/>
        </p:nvSpPr>
        <p:spPr>
          <a:xfrm>
            <a:off x="3566160" y="1719072"/>
            <a:ext cx="1188720" cy="502920"/>
          </a:xfrm>
          <a:prstGeom prst="rect">
            <a:avLst/>
          </a:prstGeom>
          <a:noFill/>
          <a:ln/>
        </p:spPr>
        <p:txBody>
          <a:bodyPr wrap="square" lIns="0" tIns="0" rIns="0" bIns="0" rtlCol="0" anchor="ctr"/>
          <a:lstStyle/>
          <a:p>
            <a:pPr algn="r" indent="0" marL="0">
              <a:buNone/>
            </a:pPr>
            <a:r>
              <a:rPr lang="en-US" sz="1200" b="1" dirty="0">
                <a:solidFill>
                  <a:srgbClr val="2459D8"/>
                </a:solidFill>
                <a:latin typeface="Calibri" pitchFamily="34" charset="0"/>
                <a:ea typeface="Calibri" pitchFamily="34" charset="-122"/>
                <a:cs typeface="Calibri" pitchFamily="34" charset="-120"/>
              </a:rPr>
              <a:t>We do</a:t>
            </a:r>
            <a:endParaRPr lang="en-US" sz="1200" dirty="0"/>
          </a:p>
        </p:txBody>
      </p:sp>
      <p:sp>
        <p:nvSpPr>
          <p:cNvPr id="18" name="Text 15"/>
          <p:cNvSpPr txBox="1"/>
          <p:nvPr/>
        </p:nvSpPr>
        <p:spPr>
          <a:xfrm>
            <a:off x="2953512" y="228600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Hex marks the spot</a:t>
            </a:r>
            <a:endParaRPr lang="en-US" sz="1500" dirty="0"/>
          </a:p>
        </p:txBody>
      </p:sp>
      <p:sp>
        <p:nvSpPr>
          <p:cNvPr id="19" name="Shape 16"/>
          <p:cNvSpPr/>
          <p:nvPr/>
        </p:nvSpPr>
        <p:spPr>
          <a:xfrm>
            <a:off x="2953512" y="2852928"/>
            <a:ext cx="1783080" cy="347472"/>
          </a:xfrm>
          <a:prstGeom prst="roundRect">
            <a:avLst>
              <a:gd name="adj" fmla="val 50000"/>
            </a:avLst>
          </a:prstGeom>
          <a:solidFill>
            <a:srgbClr val="E2F5EC"/>
          </a:solidFill>
          <a:ln/>
        </p:spPr>
      </p:sp>
      <p:sp>
        <p:nvSpPr>
          <p:cNvPr id="20" name="Text 17"/>
          <p:cNvSpPr txBox="1"/>
          <p:nvPr/>
        </p:nvSpPr>
        <p:spPr>
          <a:xfrm>
            <a:off x="2953512" y="2852928"/>
            <a:ext cx="1783080" cy="347472"/>
          </a:xfrm>
          <a:prstGeom prst="rect">
            <a:avLst/>
          </a:prstGeom>
          <a:noFill/>
          <a:ln/>
        </p:spPr>
        <p:txBody>
          <a:bodyPr wrap="square" lIns="0" tIns="0" rIns="0" bIns="0" rtlCol="0" anchor="ctr"/>
          <a:lstStyle/>
          <a:p>
            <a:pPr algn="ctr" indent="0" marL="0">
              <a:buNone/>
            </a:pPr>
            <a:r>
              <a:rPr lang="en-US" sz="1050" b="1" dirty="0">
                <a:solidFill>
                  <a:srgbClr val="12704B"/>
                </a:solidFill>
                <a:latin typeface="Calibri" pitchFamily="34" charset="0"/>
                <a:ea typeface="Calibri" pitchFamily="34" charset="-122"/>
                <a:cs typeface="Calibri" pitchFamily="34" charset="-120"/>
              </a:rPr>
              <a:t>EASY  ·  100</a:t>
            </a:r>
            <a:endParaRPr lang="en-US" sz="1050" dirty="0"/>
          </a:p>
        </p:txBody>
      </p:sp>
      <p:sp>
        <p:nvSpPr>
          <p:cNvPr id="21" name="Text 18"/>
          <p:cNvSpPr txBox="1"/>
          <p:nvPr/>
        </p:nvSpPr>
        <p:spPr>
          <a:xfrm>
            <a:off x="2953512" y="324612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xxd -r -p</a:t>
            </a:r>
            <a:endParaRPr lang="en-US" sz="1000" dirty="0"/>
          </a:p>
        </p:txBody>
      </p:sp>
      <p:sp>
        <p:nvSpPr>
          <p:cNvPr id="22" name="Shape 19"/>
          <p:cNvSpPr/>
          <p:nvPr/>
        </p:nvSpPr>
        <p:spPr>
          <a:xfrm>
            <a:off x="5029200" y="1463040"/>
            <a:ext cx="2103120" cy="2103120"/>
          </a:xfrm>
          <a:prstGeom prst="roundRect">
            <a:avLst>
              <a:gd name="adj" fmla="val 4348"/>
            </a:avLst>
          </a:prstGeom>
          <a:solidFill>
            <a:srgbClr val="F1F5FB"/>
          </a:solidFill>
          <a:ln/>
        </p:spPr>
      </p:sp>
      <p:sp>
        <p:nvSpPr>
          <p:cNvPr id="23" name="Shape 20"/>
          <p:cNvSpPr/>
          <p:nvPr/>
        </p:nvSpPr>
        <p:spPr>
          <a:xfrm>
            <a:off x="5029200" y="1463040"/>
            <a:ext cx="2103120" cy="91440"/>
          </a:xfrm>
          <a:prstGeom prst="rect">
            <a:avLst/>
          </a:prstGeom>
          <a:solidFill>
            <a:srgbClr val="2459D8"/>
          </a:solidFill>
          <a:ln/>
        </p:spPr>
      </p:sp>
      <p:sp>
        <p:nvSpPr>
          <p:cNvPr id="24" name="Shape 21"/>
          <p:cNvSpPr/>
          <p:nvPr/>
        </p:nvSpPr>
        <p:spPr>
          <a:xfrm>
            <a:off x="5193792" y="1719072"/>
            <a:ext cx="502920" cy="502920"/>
          </a:xfrm>
          <a:prstGeom prst="ellipse">
            <a:avLst/>
          </a:prstGeom>
          <a:solidFill>
            <a:srgbClr val="2459D8"/>
          </a:solidFill>
          <a:ln/>
        </p:spPr>
      </p:sp>
      <p:sp>
        <p:nvSpPr>
          <p:cNvPr id="25" name="Text 22"/>
          <p:cNvSpPr txBox="1"/>
          <p:nvPr/>
        </p:nvSpPr>
        <p:spPr>
          <a:xfrm>
            <a:off x="5193792" y="171907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6" name="Text 23"/>
          <p:cNvSpPr txBox="1"/>
          <p:nvPr/>
        </p:nvSpPr>
        <p:spPr>
          <a:xfrm>
            <a:off x="5806440" y="171907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27" name="Text 24"/>
          <p:cNvSpPr txBox="1"/>
          <p:nvPr/>
        </p:nvSpPr>
        <p:spPr>
          <a:xfrm>
            <a:off x="5193792" y="228600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Thirteen steps</a:t>
            </a:r>
            <a:endParaRPr lang="en-US" sz="1500" dirty="0"/>
          </a:p>
        </p:txBody>
      </p:sp>
      <p:sp>
        <p:nvSpPr>
          <p:cNvPr id="28" name="Shape 25"/>
          <p:cNvSpPr/>
          <p:nvPr/>
        </p:nvSpPr>
        <p:spPr>
          <a:xfrm>
            <a:off x="5193792" y="2852928"/>
            <a:ext cx="1783080" cy="347472"/>
          </a:xfrm>
          <a:prstGeom prst="roundRect">
            <a:avLst>
              <a:gd name="adj" fmla="val 50000"/>
            </a:avLst>
          </a:prstGeom>
          <a:solidFill>
            <a:srgbClr val="E2F5EC"/>
          </a:solidFill>
          <a:ln/>
        </p:spPr>
      </p:sp>
      <p:sp>
        <p:nvSpPr>
          <p:cNvPr id="29" name="Text 26"/>
          <p:cNvSpPr txBox="1"/>
          <p:nvPr/>
        </p:nvSpPr>
        <p:spPr>
          <a:xfrm>
            <a:off x="5193792" y="2852928"/>
            <a:ext cx="1783080" cy="347472"/>
          </a:xfrm>
          <a:prstGeom prst="rect">
            <a:avLst/>
          </a:prstGeom>
          <a:noFill/>
          <a:ln/>
        </p:spPr>
        <p:txBody>
          <a:bodyPr wrap="square" lIns="0" tIns="0" rIns="0" bIns="0" rtlCol="0" anchor="ctr"/>
          <a:lstStyle/>
          <a:p>
            <a:pPr algn="ctr" indent="0" marL="0">
              <a:buNone/>
            </a:pPr>
            <a:r>
              <a:rPr lang="en-US" sz="1050" b="1" dirty="0">
                <a:solidFill>
                  <a:srgbClr val="12704B"/>
                </a:solidFill>
                <a:latin typeface="Calibri" pitchFamily="34" charset="0"/>
                <a:ea typeface="Calibri" pitchFamily="34" charset="-122"/>
                <a:cs typeface="Calibri" pitchFamily="34" charset="-120"/>
              </a:rPr>
              <a:t>EASY  ·  100</a:t>
            </a:r>
            <a:endParaRPr lang="en-US" sz="1050" dirty="0"/>
          </a:p>
        </p:txBody>
      </p:sp>
      <p:sp>
        <p:nvSpPr>
          <p:cNvPr id="30" name="Text 27"/>
          <p:cNvSpPr txBox="1"/>
          <p:nvPr/>
        </p:nvSpPr>
        <p:spPr>
          <a:xfrm>
            <a:off x="5193792" y="324612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tr  &lt;</a:t>
            </a:r>
            <a:endParaRPr lang="en-US" sz="1000" dirty="0"/>
          </a:p>
        </p:txBody>
      </p:sp>
      <p:sp>
        <p:nvSpPr>
          <p:cNvPr id="31" name="Shape 28"/>
          <p:cNvSpPr/>
          <p:nvPr/>
        </p:nvSpPr>
        <p:spPr>
          <a:xfrm>
            <a:off x="7269480" y="1463040"/>
            <a:ext cx="2103120" cy="2103120"/>
          </a:xfrm>
          <a:prstGeom prst="roundRect">
            <a:avLst>
              <a:gd name="adj" fmla="val 4348"/>
            </a:avLst>
          </a:prstGeom>
          <a:solidFill>
            <a:srgbClr val="F1F5FB"/>
          </a:solidFill>
          <a:ln/>
        </p:spPr>
      </p:sp>
      <p:sp>
        <p:nvSpPr>
          <p:cNvPr id="32" name="Shape 29"/>
          <p:cNvSpPr/>
          <p:nvPr/>
        </p:nvSpPr>
        <p:spPr>
          <a:xfrm>
            <a:off x="7269480" y="1463040"/>
            <a:ext cx="2103120" cy="91440"/>
          </a:xfrm>
          <a:prstGeom prst="rect">
            <a:avLst/>
          </a:prstGeom>
          <a:solidFill>
            <a:srgbClr val="7448D4"/>
          </a:solidFill>
          <a:ln/>
        </p:spPr>
      </p:sp>
      <p:sp>
        <p:nvSpPr>
          <p:cNvPr id="33" name="Shape 30"/>
          <p:cNvSpPr/>
          <p:nvPr/>
        </p:nvSpPr>
        <p:spPr>
          <a:xfrm>
            <a:off x="7434072" y="1719072"/>
            <a:ext cx="502920" cy="502920"/>
          </a:xfrm>
          <a:prstGeom prst="ellipse">
            <a:avLst/>
          </a:prstGeom>
          <a:solidFill>
            <a:srgbClr val="7448D4"/>
          </a:solidFill>
          <a:ln/>
        </p:spPr>
      </p:sp>
      <p:sp>
        <p:nvSpPr>
          <p:cNvPr id="34" name="Text 31"/>
          <p:cNvSpPr txBox="1"/>
          <p:nvPr/>
        </p:nvSpPr>
        <p:spPr>
          <a:xfrm>
            <a:off x="7434072" y="171907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5" name="Text 32"/>
          <p:cNvSpPr txBox="1"/>
          <p:nvPr/>
        </p:nvSpPr>
        <p:spPr>
          <a:xfrm>
            <a:off x="8046720" y="171907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36" name="Text 33"/>
          <p:cNvSpPr txBox="1"/>
          <p:nvPr/>
        </p:nvSpPr>
        <p:spPr>
          <a:xfrm>
            <a:off x="7434072" y="228600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Hail Caesar</a:t>
            </a:r>
            <a:endParaRPr lang="en-US" sz="1500" dirty="0"/>
          </a:p>
        </p:txBody>
      </p:sp>
      <p:sp>
        <p:nvSpPr>
          <p:cNvPr id="37" name="Shape 34"/>
          <p:cNvSpPr/>
          <p:nvPr/>
        </p:nvSpPr>
        <p:spPr>
          <a:xfrm>
            <a:off x="7434072" y="2852928"/>
            <a:ext cx="1783080" cy="347472"/>
          </a:xfrm>
          <a:prstGeom prst="roundRect">
            <a:avLst>
              <a:gd name="adj" fmla="val 50000"/>
            </a:avLst>
          </a:prstGeom>
          <a:solidFill>
            <a:srgbClr val="FFF4DE"/>
          </a:solidFill>
          <a:ln/>
        </p:spPr>
      </p:sp>
      <p:sp>
        <p:nvSpPr>
          <p:cNvPr id="38" name="Text 35"/>
          <p:cNvSpPr txBox="1"/>
          <p:nvPr/>
        </p:nvSpPr>
        <p:spPr>
          <a:xfrm>
            <a:off x="7434072" y="2852928"/>
            <a:ext cx="1783080" cy="347472"/>
          </a:xfrm>
          <a:prstGeom prst="rect">
            <a:avLst/>
          </a:prstGeom>
          <a:noFill/>
          <a:ln/>
        </p:spPr>
        <p:txBody>
          <a:bodyPr wrap="square" lIns="0" tIns="0" rIns="0" bIns="0" rtlCol="0" anchor="ctr"/>
          <a:lstStyle/>
          <a:p>
            <a:pPr algn="ctr" indent="0" marL="0">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39" name="Text 36"/>
          <p:cNvSpPr txBox="1"/>
          <p:nvPr/>
        </p:nvSpPr>
        <p:spPr>
          <a:xfrm>
            <a:off x="7434072" y="324612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caesar all  |  grep</a:t>
            </a:r>
            <a:endParaRPr lang="en-US" sz="1000" dirty="0"/>
          </a:p>
        </p:txBody>
      </p:sp>
      <p:sp>
        <p:nvSpPr>
          <p:cNvPr id="40" name="Shape 37"/>
          <p:cNvSpPr/>
          <p:nvPr/>
        </p:nvSpPr>
        <p:spPr>
          <a:xfrm>
            <a:off x="9509760" y="1463040"/>
            <a:ext cx="2103120" cy="2103120"/>
          </a:xfrm>
          <a:prstGeom prst="roundRect">
            <a:avLst>
              <a:gd name="adj" fmla="val 4348"/>
            </a:avLst>
          </a:prstGeom>
          <a:solidFill>
            <a:srgbClr val="F1F5FB"/>
          </a:solidFill>
          <a:ln/>
        </p:spPr>
      </p:sp>
      <p:sp>
        <p:nvSpPr>
          <p:cNvPr id="41" name="Shape 38"/>
          <p:cNvSpPr/>
          <p:nvPr/>
        </p:nvSpPr>
        <p:spPr>
          <a:xfrm>
            <a:off x="9509760" y="1463040"/>
            <a:ext cx="2103120" cy="91440"/>
          </a:xfrm>
          <a:prstGeom prst="rect">
            <a:avLst/>
          </a:prstGeom>
          <a:solidFill>
            <a:srgbClr val="D1416B"/>
          </a:solidFill>
          <a:ln/>
        </p:spPr>
      </p:sp>
      <p:sp>
        <p:nvSpPr>
          <p:cNvPr id="42" name="Shape 39"/>
          <p:cNvSpPr/>
          <p:nvPr/>
        </p:nvSpPr>
        <p:spPr>
          <a:xfrm>
            <a:off x="9674352" y="1719072"/>
            <a:ext cx="502920" cy="502920"/>
          </a:xfrm>
          <a:prstGeom prst="ellipse">
            <a:avLst/>
          </a:prstGeom>
          <a:solidFill>
            <a:srgbClr val="D1416B"/>
          </a:solidFill>
          <a:ln/>
        </p:spPr>
      </p:sp>
      <p:sp>
        <p:nvSpPr>
          <p:cNvPr id="43" name="Text 40"/>
          <p:cNvSpPr txBox="1"/>
          <p:nvPr/>
        </p:nvSpPr>
        <p:spPr>
          <a:xfrm>
            <a:off x="9674352" y="171907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44" name="Text 41"/>
          <p:cNvSpPr txBox="1"/>
          <p:nvPr/>
        </p:nvSpPr>
        <p:spPr>
          <a:xfrm>
            <a:off x="10287000" y="171907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45" name="Text 42"/>
          <p:cNvSpPr txBox="1"/>
          <p:nvPr/>
        </p:nvSpPr>
        <p:spPr>
          <a:xfrm>
            <a:off x="9674352" y="228600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Mirror, mirror</a:t>
            </a:r>
            <a:endParaRPr lang="en-US" sz="1500" dirty="0"/>
          </a:p>
        </p:txBody>
      </p:sp>
      <p:sp>
        <p:nvSpPr>
          <p:cNvPr id="46" name="Shape 43"/>
          <p:cNvSpPr/>
          <p:nvPr/>
        </p:nvSpPr>
        <p:spPr>
          <a:xfrm>
            <a:off x="9674352" y="2852928"/>
            <a:ext cx="1783080" cy="347472"/>
          </a:xfrm>
          <a:prstGeom prst="roundRect">
            <a:avLst>
              <a:gd name="adj" fmla="val 50000"/>
            </a:avLst>
          </a:prstGeom>
          <a:solidFill>
            <a:srgbClr val="FFF4DE"/>
          </a:solidFill>
          <a:ln/>
        </p:spPr>
      </p:sp>
      <p:sp>
        <p:nvSpPr>
          <p:cNvPr id="47" name="Text 44"/>
          <p:cNvSpPr txBox="1"/>
          <p:nvPr/>
        </p:nvSpPr>
        <p:spPr>
          <a:xfrm>
            <a:off x="9674352" y="2852928"/>
            <a:ext cx="1783080" cy="347472"/>
          </a:xfrm>
          <a:prstGeom prst="rect">
            <a:avLst/>
          </a:prstGeom>
          <a:noFill/>
          <a:ln/>
        </p:spPr>
        <p:txBody>
          <a:bodyPr wrap="square" lIns="0" tIns="0" rIns="0" bIns="0" rtlCol="0" anchor="ctr"/>
          <a:lstStyle/>
          <a:p>
            <a:pPr algn="ctr" indent="0" marL="0">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48" name="Text 45"/>
          <p:cNvSpPr txBox="1"/>
          <p:nvPr/>
        </p:nvSpPr>
        <p:spPr>
          <a:xfrm>
            <a:off x="9674352" y="324612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tr (reversed alphabet)</a:t>
            </a:r>
            <a:endParaRPr lang="en-US" sz="1000" dirty="0"/>
          </a:p>
        </p:txBody>
      </p:sp>
      <p:sp>
        <p:nvSpPr>
          <p:cNvPr id="49" name="Shape 46"/>
          <p:cNvSpPr/>
          <p:nvPr/>
        </p:nvSpPr>
        <p:spPr>
          <a:xfrm>
            <a:off x="548640" y="3703320"/>
            <a:ext cx="2103120" cy="2103120"/>
          </a:xfrm>
          <a:prstGeom prst="roundRect">
            <a:avLst>
              <a:gd name="adj" fmla="val 4348"/>
            </a:avLst>
          </a:prstGeom>
          <a:solidFill>
            <a:srgbClr val="F1F5FB"/>
          </a:solidFill>
          <a:ln/>
        </p:spPr>
      </p:sp>
      <p:sp>
        <p:nvSpPr>
          <p:cNvPr id="50" name="Shape 47"/>
          <p:cNvSpPr/>
          <p:nvPr/>
        </p:nvSpPr>
        <p:spPr>
          <a:xfrm>
            <a:off x="548640" y="3703320"/>
            <a:ext cx="2103120" cy="91440"/>
          </a:xfrm>
          <a:prstGeom prst="rect">
            <a:avLst/>
          </a:prstGeom>
          <a:solidFill>
            <a:srgbClr val="E8820C"/>
          </a:solidFill>
          <a:ln/>
        </p:spPr>
      </p:sp>
      <p:sp>
        <p:nvSpPr>
          <p:cNvPr id="51" name="Shape 48"/>
          <p:cNvSpPr/>
          <p:nvPr/>
        </p:nvSpPr>
        <p:spPr>
          <a:xfrm>
            <a:off x="713232" y="3959352"/>
            <a:ext cx="502920" cy="502920"/>
          </a:xfrm>
          <a:prstGeom prst="ellipse">
            <a:avLst/>
          </a:prstGeom>
          <a:solidFill>
            <a:srgbClr val="E8820C"/>
          </a:solidFill>
          <a:ln/>
        </p:spPr>
      </p:sp>
      <p:sp>
        <p:nvSpPr>
          <p:cNvPr id="52" name="Text 49"/>
          <p:cNvSpPr txBox="1"/>
          <p:nvPr/>
        </p:nvSpPr>
        <p:spPr>
          <a:xfrm>
            <a:off x="713232" y="39593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53" name="Text 50"/>
          <p:cNvSpPr txBox="1"/>
          <p:nvPr/>
        </p:nvSpPr>
        <p:spPr>
          <a:xfrm>
            <a:off x="1325880" y="395935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54" name="Text 51"/>
          <p:cNvSpPr txBox="1"/>
          <p:nvPr/>
        </p:nvSpPr>
        <p:spPr>
          <a:xfrm>
            <a:off x="713232" y="452628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Dots and dashes</a:t>
            </a:r>
            <a:endParaRPr lang="en-US" sz="1500" dirty="0"/>
          </a:p>
        </p:txBody>
      </p:sp>
      <p:sp>
        <p:nvSpPr>
          <p:cNvPr id="55" name="Shape 52"/>
          <p:cNvSpPr/>
          <p:nvPr/>
        </p:nvSpPr>
        <p:spPr>
          <a:xfrm>
            <a:off x="713232" y="5093208"/>
            <a:ext cx="1783080" cy="347472"/>
          </a:xfrm>
          <a:prstGeom prst="roundRect">
            <a:avLst>
              <a:gd name="adj" fmla="val 50000"/>
            </a:avLst>
          </a:prstGeom>
          <a:solidFill>
            <a:srgbClr val="FFF4DE"/>
          </a:solidFill>
          <a:ln/>
        </p:spPr>
      </p:sp>
      <p:sp>
        <p:nvSpPr>
          <p:cNvPr id="56" name="Text 53"/>
          <p:cNvSpPr txBox="1"/>
          <p:nvPr/>
        </p:nvSpPr>
        <p:spPr>
          <a:xfrm>
            <a:off x="713232" y="5093208"/>
            <a:ext cx="1783080" cy="347472"/>
          </a:xfrm>
          <a:prstGeom prst="rect">
            <a:avLst/>
          </a:prstGeom>
          <a:noFill/>
          <a:ln/>
        </p:spPr>
        <p:txBody>
          <a:bodyPr wrap="square" lIns="0" tIns="0" rIns="0" bIns="0" rtlCol="0" anchor="ctr"/>
          <a:lstStyle/>
          <a:p>
            <a:pPr algn="ctr" indent="0" marL="0">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57" name="Text 54"/>
          <p:cNvSpPr txBox="1"/>
          <p:nvPr/>
        </p:nvSpPr>
        <p:spPr>
          <a:xfrm>
            <a:off x="713232" y="548640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morse</a:t>
            </a:r>
            <a:endParaRPr lang="en-US" sz="1000" dirty="0"/>
          </a:p>
        </p:txBody>
      </p:sp>
      <p:sp>
        <p:nvSpPr>
          <p:cNvPr id="58" name="Shape 55"/>
          <p:cNvSpPr/>
          <p:nvPr/>
        </p:nvSpPr>
        <p:spPr>
          <a:xfrm>
            <a:off x="2788920" y="3703320"/>
            <a:ext cx="2103120" cy="2103120"/>
          </a:xfrm>
          <a:prstGeom prst="roundRect">
            <a:avLst>
              <a:gd name="adj" fmla="val 4348"/>
            </a:avLst>
          </a:prstGeom>
          <a:solidFill>
            <a:srgbClr val="F1F5FB"/>
          </a:solidFill>
          <a:ln/>
        </p:spPr>
      </p:sp>
      <p:sp>
        <p:nvSpPr>
          <p:cNvPr id="59" name="Shape 56"/>
          <p:cNvSpPr/>
          <p:nvPr/>
        </p:nvSpPr>
        <p:spPr>
          <a:xfrm>
            <a:off x="2788920" y="3703320"/>
            <a:ext cx="2103120" cy="91440"/>
          </a:xfrm>
          <a:prstGeom prst="rect">
            <a:avLst/>
          </a:prstGeom>
          <a:solidFill>
            <a:srgbClr val="C9A227"/>
          </a:solidFill>
          <a:ln/>
        </p:spPr>
      </p:sp>
      <p:sp>
        <p:nvSpPr>
          <p:cNvPr id="60" name="Shape 57"/>
          <p:cNvSpPr/>
          <p:nvPr/>
        </p:nvSpPr>
        <p:spPr>
          <a:xfrm>
            <a:off x="2953512" y="3959352"/>
            <a:ext cx="502920" cy="502920"/>
          </a:xfrm>
          <a:prstGeom prst="ellipse">
            <a:avLst/>
          </a:prstGeom>
          <a:solidFill>
            <a:srgbClr val="C9A227"/>
          </a:solidFill>
          <a:ln/>
        </p:spPr>
      </p:sp>
      <p:sp>
        <p:nvSpPr>
          <p:cNvPr id="61" name="Text 58"/>
          <p:cNvSpPr txBox="1"/>
          <p:nvPr/>
        </p:nvSpPr>
        <p:spPr>
          <a:xfrm>
            <a:off x="2953512" y="39593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7</a:t>
            </a:r>
            <a:endParaRPr lang="en-US" sz="1700" dirty="0"/>
          </a:p>
        </p:txBody>
      </p:sp>
      <p:sp>
        <p:nvSpPr>
          <p:cNvPr id="62" name="Text 59"/>
          <p:cNvSpPr txBox="1"/>
          <p:nvPr/>
        </p:nvSpPr>
        <p:spPr>
          <a:xfrm>
            <a:off x="3566160" y="395935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63" name="Text 60"/>
          <p:cNvSpPr txBox="1"/>
          <p:nvPr/>
        </p:nvSpPr>
        <p:spPr>
          <a:xfrm>
            <a:off x="2953512" y="452628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Fingerprints</a:t>
            </a:r>
            <a:endParaRPr lang="en-US" sz="1500" dirty="0"/>
          </a:p>
        </p:txBody>
      </p:sp>
      <p:sp>
        <p:nvSpPr>
          <p:cNvPr id="64" name="Shape 61"/>
          <p:cNvSpPr/>
          <p:nvPr/>
        </p:nvSpPr>
        <p:spPr>
          <a:xfrm>
            <a:off x="2953512" y="5093208"/>
            <a:ext cx="1783080" cy="347472"/>
          </a:xfrm>
          <a:prstGeom prst="roundRect">
            <a:avLst>
              <a:gd name="adj" fmla="val 50000"/>
            </a:avLst>
          </a:prstGeom>
          <a:solidFill>
            <a:srgbClr val="FFF4DE"/>
          </a:solidFill>
          <a:ln/>
        </p:spPr>
      </p:sp>
      <p:sp>
        <p:nvSpPr>
          <p:cNvPr id="65" name="Text 62"/>
          <p:cNvSpPr txBox="1"/>
          <p:nvPr/>
        </p:nvSpPr>
        <p:spPr>
          <a:xfrm>
            <a:off x="2953512" y="5093208"/>
            <a:ext cx="1783080" cy="347472"/>
          </a:xfrm>
          <a:prstGeom prst="rect">
            <a:avLst/>
          </a:prstGeom>
          <a:noFill/>
          <a:ln/>
        </p:spPr>
        <p:txBody>
          <a:bodyPr wrap="square" lIns="0" tIns="0" rIns="0" bIns="0" rtlCol="0" anchor="ctr"/>
          <a:lstStyle/>
          <a:p>
            <a:pPr algn="ctr" indent="0" marL="0">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66" name="Text 63"/>
          <p:cNvSpPr txBox="1"/>
          <p:nvPr/>
        </p:nvSpPr>
        <p:spPr>
          <a:xfrm>
            <a:off x="2953512" y="548640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hashlines  |  grep</a:t>
            </a:r>
            <a:endParaRPr lang="en-US" sz="1000" dirty="0"/>
          </a:p>
        </p:txBody>
      </p:sp>
      <p:sp>
        <p:nvSpPr>
          <p:cNvPr id="67" name="Shape 64"/>
          <p:cNvSpPr/>
          <p:nvPr/>
        </p:nvSpPr>
        <p:spPr>
          <a:xfrm>
            <a:off x="5029200" y="3703320"/>
            <a:ext cx="2103120" cy="2103120"/>
          </a:xfrm>
          <a:prstGeom prst="roundRect">
            <a:avLst>
              <a:gd name="adj" fmla="val 4348"/>
            </a:avLst>
          </a:prstGeom>
          <a:solidFill>
            <a:srgbClr val="F1F5FB"/>
          </a:solidFill>
          <a:ln/>
        </p:spPr>
      </p:sp>
      <p:sp>
        <p:nvSpPr>
          <p:cNvPr id="68" name="Shape 65"/>
          <p:cNvSpPr/>
          <p:nvPr/>
        </p:nvSpPr>
        <p:spPr>
          <a:xfrm>
            <a:off x="5029200" y="3703320"/>
            <a:ext cx="2103120" cy="91440"/>
          </a:xfrm>
          <a:prstGeom prst="rect">
            <a:avLst/>
          </a:prstGeom>
          <a:solidFill>
            <a:srgbClr val="0F9488"/>
          </a:solidFill>
          <a:ln/>
        </p:spPr>
      </p:sp>
      <p:sp>
        <p:nvSpPr>
          <p:cNvPr id="69" name="Shape 66"/>
          <p:cNvSpPr/>
          <p:nvPr/>
        </p:nvSpPr>
        <p:spPr>
          <a:xfrm>
            <a:off x="5193792" y="3959352"/>
            <a:ext cx="502920" cy="502920"/>
          </a:xfrm>
          <a:prstGeom prst="ellipse">
            <a:avLst/>
          </a:prstGeom>
          <a:solidFill>
            <a:srgbClr val="0F9488"/>
          </a:solidFill>
          <a:ln/>
        </p:spPr>
      </p:sp>
      <p:sp>
        <p:nvSpPr>
          <p:cNvPr id="70" name="Text 67"/>
          <p:cNvSpPr txBox="1"/>
          <p:nvPr/>
        </p:nvSpPr>
        <p:spPr>
          <a:xfrm>
            <a:off x="5193792" y="39593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8</a:t>
            </a:r>
            <a:endParaRPr lang="en-US" sz="1700" dirty="0"/>
          </a:p>
        </p:txBody>
      </p:sp>
      <p:sp>
        <p:nvSpPr>
          <p:cNvPr id="71" name="Text 68"/>
          <p:cNvSpPr txBox="1"/>
          <p:nvPr/>
        </p:nvSpPr>
        <p:spPr>
          <a:xfrm>
            <a:off x="5806440" y="395935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72" name="Text 69"/>
          <p:cNvSpPr txBox="1"/>
          <p:nvPr/>
        </p:nvSpPr>
        <p:spPr>
          <a:xfrm>
            <a:off x="5193792" y="452628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XOR marks</a:t>
            </a:r>
            <a:endParaRPr lang="en-US" sz="1500" dirty="0"/>
          </a:p>
        </p:txBody>
      </p:sp>
      <p:sp>
        <p:nvSpPr>
          <p:cNvPr id="73" name="Shape 70"/>
          <p:cNvSpPr/>
          <p:nvPr/>
        </p:nvSpPr>
        <p:spPr>
          <a:xfrm>
            <a:off x="5193792" y="5093208"/>
            <a:ext cx="1783080" cy="347472"/>
          </a:xfrm>
          <a:prstGeom prst="roundRect">
            <a:avLst>
              <a:gd name="adj" fmla="val 50000"/>
            </a:avLst>
          </a:prstGeom>
          <a:solidFill>
            <a:srgbClr val="FDE8EC"/>
          </a:solidFill>
          <a:ln/>
        </p:spPr>
      </p:sp>
      <p:sp>
        <p:nvSpPr>
          <p:cNvPr id="74" name="Text 71"/>
          <p:cNvSpPr txBox="1"/>
          <p:nvPr/>
        </p:nvSpPr>
        <p:spPr>
          <a:xfrm>
            <a:off x="5193792" y="5093208"/>
            <a:ext cx="1783080" cy="347472"/>
          </a:xfrm>
          <a:prstGeom prst="rect">
            <a:avLst/>
          </a:prstGeom>
          <a:noFill/>
          <a:ln/>
        </p:spPr>
        <p:txBody>
          <a:bodyPr wrap="square" lIns="0" tIns="0" rIns="0" bIns="0" rtlCol="0" anchor="ctr"/>
          <a:lstStyle/>
          <a:p>
            <a:pPr algn="ctr" indent="0" marL="0">
              <a:buNone/>
            </a:pPr>
            <a:r>
              <a:rPr lang="en-US" sz="1050" b="1" dirty="0">
                <a:solidFill>
                  <a:srgbClr val="B4233F"/>
                </a:solidFill>
                <a:latin typeface="Calibri" pitchFamily="34" charset="0"/>
                <a:ea typeface="Calibri" pitchFamily="34" charset="-122"/>
                <a:cs typeface="Calibri" pitchFamily="34" charset="-120"/>
              </a:rPr>
              <a:t>HARD  ·  400</a:t>
            </a:r>
            <a:endParaRPr lang="en-US" sz="1050" dirty="0"/>
          </a:p>
        </p:txBody>
      </p:sp>
      <p:sp>
        <p:nvSpPr>
          <p:cNvPr id="75" name="Text 72"/>
          <p:cNvSpPr txBox="1"/>
          <p:nvPr/>
        </p:nvSpPr>
        <p:spPr>
          <a:xfrm>
            <a:off x="5193792" y="548640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xor all  |  grep</a:t>
            </a:r>
            <a:endParaRPr lang="en-US" sz="1000" dirty="0"/>
          </a:p>
        </p:txBody>
      </p:sp>
      <p:sp>
        <p:nvSpPr>
          <p:cNvPr id="76" name="Shape 73"/>
          <p:cNvSpPr/>
          <p:nvPr/>
        </p:nvSpPr>
        <p:spPr>
          <a:xfrm>
            <a:off x="7269480" y="3703320"/>
            <a:ext cx="2103120" cy="2103120"/>
          </a:xfrm>
          <a:prstGeom prst="roundRect">
            <a:avLst>
              <a:gd name="adj" fmla="val 4348"/>
            </a:avLst>
          </a:prstGeom>
          <a:solidFill>
            <a:srgbClr val="F1F5FB"/>
          </a:solidFill>
          <a:ln/>
        </p:spPr>
      </p:sp>
      <p:sp>
        <p:nvSpPr>
          <p:cNvPr id="77" name="Shape 74"/>
          <p:cNvSpPr/>
          <p:nvPr/>
        </p:nvSpPr>
        <p:spPr>
          <a:xfrm>
            <a:off x="7269480" y="3703320"/>
            <a:ext cx="2103120" cy="91440"/>
          </a:xfrm>
          <a:prstGeom prst="rect">
            <a:avLst/>
          </a:prstGeom>
          <a:solidFill>
            <a:srgbClr val="5B6EE1"/>
          </a:solidFill>
          <a:ln/>
        </p:spPr>
      </p:sp>
      <p:sp>
        <p:nvSpPr>
          <p:cNvPr id="78" name="Shape 75"/>
          <p:cNvSpPr/>
          <p:nvPr/>
        </p:nvSpPr>
        <p:spPr>
          <a:xfrm>
            <a:off x="7434072" y="3959352"/>
            <a:ext cx="502920" cy="502920"/>
          </a:xfrm>
          <a:prstGeom prst="ellipse">
            <a:avLst/>
          </a:prstGeom>
          <a:solidFill>
            <a:srgbClr val="5B6EE1"/>
          </a:solidFill>
          <a:ln/>
        </p:spPr>
      </p:sp>
      <p:sp>
        <p:nvSpPr>
          <p:cNvPr id="79" name="Text 76"/>
          <p:cNvSpPr txBox="1"/>
          <p:nvPr/>
        </p:nvSpPr>
        <p:spPr>
          <a:xfrm>
            <a:off x="7434072" y="39593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9</a:t>
            </a:r>
            <a:endParaRPr lang="en-US" sz="1700" dirty="0"/>
          </a:p>
        </p:txBody>
      </p:sp>
      <p:sp>
        <p:nvSpPr>
          <p:cNvPr id="80" name="Text 77"/>
          <p:cNvSpPr txBox="1"/>
          <p:nvPr/>
        </p:nvSpPr>
        <p:spPr>
          <a:xfrm>
            <a:off x="8046720" y="395935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81" name="Text 78"/>
          <p:cNvSpPr txBox="1"/>
          <p:nvPr/>
        </p:nvSpPr>
        <p:spPr>
          <a:xfrm>
            <a:off x="7434072" y="452628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Keyed up</a:t>
            </a:r>
            <a:endParaRPr lang="en-US" sz="1500" dirty="0"/>
          </a:p>
        </p:txBody>
      </p:sp>
      <p:sp>
        <p:nvSpPr>
          <p:cNvPr id="82" name="Shape 79"/>
          <p:cNvSpPr/>
          <p:nvPr/>
        </p:nvSpPr>
        <p:spPr>
          <a:xfrm>
            <a:off x="7434072" y="5093208"/>
            <a:ext cx="1783080" cy="347472"/>
          </a:xfrm>
          <a:prstGeom prst="roundRect">
            <a:avLst>
              <a:gd name="adj" fmla="val 50000"/>
            </a:avLst>
          </a:prstGeom>
          <a:solidFill>
            <a:srgbClr val="FDE8EC"/>
          </a:solidFill>
          <a:ln/>
        </p:spPr>
      </p:sp>
      <p:sp>
        <p:nvSpPr>
          <p:cNvPr id="83" name="Text 80"/>
          <p:cNvSpPr txBox="1"/>
          <p:nvPr/>
        </p:nvSpPr>
        <p:spPr>
          <a:xfrm>
            <a:off x="7434072" y="5093208"/>
            <a:ext cx="1783080" cy="347472"/>
          </a:xfrm>
          <a:prstGeom prst="rect">
            <a:avLst/>
          </a:prstGeom>
          <a:noFill/>
          <a:ln/>
        </p:spPr>
        <p:txBody>
          <a:bodyPr wrap="square" lIns="0" tIns="0" rIns="0" bIns="0" rtlCol="0" anchor="ctr"/>
          <a:lstStyle/>
          <a:p>
            <a:pPr algn="ctr" indent="0" marL="0">
              <a:buNone/>
            </a:pPr>
            <a:r>
              <a:rPr lang="en-US" sz="1050" b="1" dirty="0">
                <a:solidFill>
                  <a:srgbClr val="B4233F"/>
                </a:solidFill>
                <a:latin typeface="Calibri" pitchFamily="34" charset="0"/>
                <a:ea typeface="Calibri" pitchFamily="34" charset="-122"/>
                <a:cs typeface="Calibri" pitchFamily="34" charset="-120"/>
              </a:rPr>
              <a:t>HARD  ·  400</a:t>
            </a:r>
            <a:endParaRPr lang="en-US" sz="1050" dirty="0"/>
          </a:p>
        </p:txBody>
      </p:sp>
      <p:sp>
        <p:nvSpPr>
          <p:cNvPr id="84" name="Text 81"/>
          <p:cNvSpPr txBox="1"/>
          <p:nvPr/>
        </p:nvSpPr>
        <p:spPr>
          <a:xfrm>
            <a:off x="7434072" y="548640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tr  then  vigenere -d</a:t>
            </a:r>
            <a:endParaRPr lang="en-US" sz="1000" dirty="0"/>
          </a:p>
        </p:txBody>
      </p:sp>
      <p:sp>
        <p:nvSpPr>
          <p:cNvPr id="85" name="Shape 82"/>
          <p:cNvSpPr/>
          <p:nvPr/>
        </p:nvSpPr>
        <p:spPr>
          <a:xfrm>
            <a:off x="9509760" y="3703320"/>
            <a:ext cx="2103120" cy="2103120"/>
          </a:xfrm>
          <a:prstGeom prst="roundRect">
            <a:avLst>
              <a:gd name="adj" fmla="val 4348"/>
            </a:avLst>
          </a:prstGeom>
          <a:solidFill>
            <a:srgbClr val="F1F5FB"/>
          </a:solidFill>
          <a:ln/>
        </p:spPr>
      </p:sp>
      <p:sp>
        <p:nvSpPr>
          <p:cNvPr id="86" name="Shape 83"/>
          <p:cNvSpPr/>
          <p:nvPr/>
        </p:nvSpPr>
        <p:spPr>
          <a:xfrm>
            <a:off x="9509760" y="3703320"/>
            <a:ext cx="2103120" cy="91440"/>
          </a:xfrm>
          <a:prstGeom prst="rect">
            <a:avLst/>
          </a:prstGeom>
          <a:solidFill>
            <a:srgbClr val="B4233F"/>
          </a:solidFill>
          <a:ln/>
        </p:spPr>
      </p:sp>
      <p:sp>
        <p:nvSpPr>
          <p:cNvPr id="87" name="Shape 84"/>
          <p:cNvSpPr/>
          <p:nvPr/>
        </p:nvSpPr>
        <p:spPr>
          <a:xfrm>
            <a:off x="9674352" y="3959352"/>
            <a:ext cx="502920" cy="502920"/>
          </a:xfrm>
          <a:prstGeom prst="ellipse">
            <a:avLst/>
          </a:prstGeom>
          <a:solidFill>
            <a:srgbClr val="B4233F"/>
          </a:solidFill>
          <a:ln/>
        </p:spPr>
      </p:sp>
      <p:sp>
        <p:nvSpPr>
          <p:cNvPr id="88" name="Text 85"/>
          <p:cNvSpPr txBox="1"/>
          <p:nvPr/>
        </p:nvSpPr>
        <p:spPr>
          <a:xfrm>
            <a:off x="9674352" y="39593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10</a:t>
            </a:r>
            <a:endParaRPr lang="en-US" sz="1700" dirty="0"/>
          </a:p>
        </p:txBody>
      </p:sp>
      <p:sp>
        <p:nvSpPr>
          <p:cNvPr id="89" name="Text 86"/>
          <p:cNvSpPr txBox="1"/>
          <p:nvPr/>
        </p:nvSpPr>
        <p:spPr>
          <a:xfrm>
            <a:off x="10287000" y="3959352"/>
            <a:ext cx="1188720" cy="502920"/>
          </a:xfrm>
          <a:prstGeom prst="rect">
            <a:avLst/>
          </a:prstGeom>
          <a:noFill/>
          <a:ln/>
        </p:spPr>
        <p:txBody>
          <a:bodyPr wrap="square" lIns="0" tIns="0" rIns="0" bIns="0" rtlCol="0" anchor="ctr"/>
          <a:lstStyle/>
          <a:p>
            <a:pPr algn="r" indent="0" marL="0">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90" name="Text 87"/>
          <p:cNvSpPr txBox="1"/>
          <p:nvPr/>
        </p:nvSpPr>
        <p:spPr>
          <a:xfrm>
            <a:off x="9674352" y="4526280"/>
            <a:ext cx="1828800" cy="54864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The vault</a:t>
            </a:r>
            <a:endParaRPr lang="en-US" sz="1500" dirty="0"/>
          </a:p>
        </p:txBody>
      </p:sp>
      <p:sp>
        <p:nvSpPr>
          <p:cNvPr id="91" name="Shape 88"/>
          <p:cNvSpPr/>
          <p:nvPr/>
        </p:nvSpPr>
        <p:spPr>
          <a:xfrm>
            <a:off x="9674352" y="5093208"/>
            <a:ext cx="1783080" cy="347472"/>
          </a:xfrm>
          <a:prstGeom prst="roundRect">
            <a:avLst>
              <a:gd name="adj" fmla="val 50000"/>
            </a:avLst>
          </a:prstGeom>
          <a:solidFill>
            <a:srgbClr val="2A1430"/>
          </a:solidFill>
          <a:ln/>
        </p:spPr>
      </p:sp>
      <p:sp>
        <p:nvSpPr>
          <p:cNvPr id="92" name="Text 89"/>
          <p:cNvSpPr txBox="1"/>
          <p:nvPr/>
        </p:nvSpPr>
        <p:spPr>
          <a:xfrm>
            <a:off x="9674352" y="5093208"/>
            <a:ext cx="1783080" cy="347472"/>
          </a:xfrm>
          <a:prstGeom prst="rect">
            <a:avLst/>
          </a:prstGeom>
          <a:noFill/>
          <a:ln/>
        </p:spPr>
        <p:txBody>
          <a:bodyPr wrap="square" lIns="0" tIns="0" rIns="0" bIns="0" rtlCol="0" anchor="ctr"/>
          <a:lstStyle/>
          <a:p>
            <a:pPr algn="ctr" indent="0" marL="0">
              <a:buNone/>
            </a:pPr>
            <a:r>
              <a:rPr lang="en-US" sz="1050" b="1" dirty="0">
                <a:solidFill>
                  <a:srgbClr val="FF8FB1"/>
                </a:solidFill>
                <a:latin typeface="Calibri" pitchFamily="34" charset="0"/>
                <a:ea typeface="Calibri" pitchFamily="34" charset="-122"/>
                <a:cs typeface="Calibri" pitchFamily="34" charset="-120"/>
              </a:rPr>
              <a:t>VERY HARD  ·  800</a:t>
            </a:r>
            <a:endParaRPr lang="en-US" sz="1050" dirty="0"/>
          </a:p>
        </p:txBody>
      </p:sp>
      <p:sp>
        <p:nvSpPr>
          <p:cNvPr id="93" name="Text 90"/>
          <p:cNvSpPr txBox="1"/>
          <p:nvPr/>
        </p:nvSpPr>
        <p:spPr>
          <a:xfrm>
            <a:off x="9674352" y="5486400"/>
            <a:ext cx="1828800" cy="274320"/>
          </a:xfrm>
          <a:prstGeom prst="rect">
            <a:avLst/>
          </a:prstGeom>
          <a:noFill/>
          <a:ln/>
        </p:spPr>
        <p:txBody>
          <a:bodyPr wrap="square" lIns="0" tIns="0" rIns="0" bIns="0" rtlCol="0" anchor="t">
            <a:normAutofit/>
          </a:bodyPr>
          <a:lstStyle/>
          <a:p>
            <a:pPr indent="0" marL="0">
              <a:buNone/>
            </a:pPr>
            <a:r>
              <a:rPr lang="en-US" sz="1000" dirty="0">
                <a:solidFill>
                  <a:srgbClr val="56657E"/>
                </a:solidFill>
                <a:latin typeface="Courier New" pitchFamily="34" charset="0"/>
                <a:ea typeface="Courier New" pitchFamily="34" charset="-122"/>
                <a:cs typeface="Courier New" pitchFamily="34" charset="-120"/>
              </a:rPr>
              <a:t>hashlines · base64 · vigenere</a:t>
            </a:r>
            <a:endParaRPr lang="en-US" sz="1000" dirty="0"/>
          </a:p>
        </p:txBody>
      </p:sp>
      <p:sp>
        <p:nvSpPr>
          <p:cNvPr id="94" name="Text 91"/>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27 / 61</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17875A"/>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1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E2F5EC"/>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20624"/>
            <a:ext cx="421538" cy="402336"/>
          </a:xfrm>
          <a:prstGeom prst="roundRect">
            <a:avLst>
              <a:gd name="adj" fmla="val 13636"/>
            </a:avLst>
          </a:prstGeom>
          <a:solidFill>
            <a:srgbClr val="17875A"/>
          </a:solidFill>
          <a:ln/>
        </p:spPr>
      </p:sp>
      <p:sp>
        <p:nvSpPr>
          <p:cNvPr id="8" name="Text 5"/>
          <p:cNvSpPr txBox="1"/>
          <p:nvPr/>
        </p:nvSpPr>
        <p:spPr>
          <a:xfrm>
            <a:off x="6766560"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7261250" y="475488"/>
            <a:ext cx="421538" cy="292608"/>
          </a:xfrm>
          <a:prstGeom prst="roundRect">
            <a:avLst>
              <a:gd name="adj" fmla="val 18750"/>
            </a:avLst>
          </a:prstGeom>
          <a:solidFill>
            <a:srgbClr val="E4EAF3"/>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E4EAF3"/>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Not so secret</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A message that looks scrambled, but there is no key anywhere. It is only encoded. Turn it back into plain text.</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~/mission1/message.b64</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cat  base64 -d</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+100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Letters, digits, + and /, with = at the end. What does that pattern tell us?</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Does decoding need a key?</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command explains its own options?</a:t>
            </a:r>
            <a:endParaRPr lang="en-US" sz="1500" dirty="0"/>
          </a:p>
        </p:txBody>
      </p:sp>
      <p:sp>
        <p:nvSpPr>
          <p:cNvPr id="39" name="Shape 36"/>
          <p:cNvSpPr/>
          <p:nvPr/>
        </p:nvSpPr>
        <p:spPr>
          <a:xfrm>
            <a:off x="7269480" y="4892040"/>
            <a:ext cx="4370832" cy="1051560"/>
          </a:xfrm>
          <a:prstGeom prst="roundRect">
            <a:avLst>
              <a:gd name="adj" fmla="val 8696"/>
            </a:avLst>
          </a:prstGeom>
          <a:solidFill>
            <a:srgbClr val="2459D8"/>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We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Class calls out each command. Mentor types.</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28 / 61</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17875A"/>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1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E2F5EC"/>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20624"/>
            <a:ext cx="421538" cy="402336"/>
          </a:xfrm>
          <a:prstGeom prst="roundRect">
            <a:avLst>
              <a:gd name="adj" fmla="val 13636"/>
            </a:avLst>
          </a:prstGeom>
          <a:solidFill>
            <a:srgbClr val="17875A"/>
          </a:solidFill>
          <a:ln/>
        </p:spPr>
      </p:sp>
      <p:sp>
        <p:nvSpPr>
          <p:cNvPr id="8" name="Text 5"/>
          <p:cNvSpPr txBox="1"/>
          <p:nvPr/>
        </p:nvSpPr>
        <p:spPr>
          <a:xfrm>
            <a:off x="6766560"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7261250" y="475488"/>
            <a:ext cx="421538" cy="292608"/>
          </a:xfrm>
          <a:prstGeom prst="roundRect">
            <a:avLst>
              <a:gd name="adj" fmla="val 18750"/>
            </a:avLst>
          </a:prstGeom>
          <a:solidFill>
            <a:srgbClr val="E4EAF3"/>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E4EAF3"/>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Cracking Not so secret</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cd ~/mission1</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cat message.b64</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RW5jb2RpbmcgaXMgbm90IGVuY3J5cHRpb24uIEFu</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ZW9uZSBjYW4gZGVjb2RlIHRoaXMuCkZsYWc6IENZ...</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base64 -d message.b64</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Encoding is not encryption. Anyone can decode this.</a:t>
            </a:r>
            <a:endParaRPr lang="en-US" sz="1300" dirty="0"/>
          </a:p>
          <a:p>
            <a:pPr indent="0" marL="0">
              <a:spcAft>
                <a:spcPts val="200"/>
              </a:spcAft>
              <a:buNone/>
            </a:pPr>
            <a:r>
              <a:rPr lang="en-US" sz="1300" b="1" dirty="0">
                <a:solidFill>
                  <a:srgbClr val="F5A623"/>
                </a:solidFill>
                <a:latin typeface="Courier New" pitchFamily="34" charset="0"/>
                <a:ea typeface="Courier New" pitchFamily="34" charset="-122"/>
                <a:cs typeface="Courier New" pitchFamily="34" charset="-120"/>
              </a:rPr>
              <a:t>Flag: CYBA{b64-...}</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submit CYBA{b64-...}</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Correct! +100 points</a:t>
            </a:r>
            <a:endParaRPr lang="en-US" sz="13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17875A"/>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cat showed base64: letters, digits, + / and a trailing =.</a:t>
            </a:r>
            <a:endParaRPr lang="en-US" sz="1400" dirty="0"/>
          </a:p>
        </p:txBody>
      </p:sp>
      <p:sp>
        <p:nvSpPr>
          <p:cNvPr id="38" name="Shape 35"/>
          <p:cNvSpPr/>
          <p:nvPr/>
        </p:nvSpPr>
        <p:spPr>
          <a:xfrm>
            <a:off x="7543800" y="2980944"/>
            <a:ext cx="457200" cy="457200"/>
          </a:xfrm>
          <a:prstGeom prst="ellipse">
            <a:avLst/>
          </a:prstGeom>
          <a:solidFill>
            <a:srgbClr val="17875A"/>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base64 --help showed that -d decodes.</a:t>
            </a:r>
            <a:endParaRPr lang="en-US" sz="1400" dirty="0"/>
          </a:p>
        </p:txBody>
      </p:sp>
      <p:sp>
        <p:nvSpPr>
          <p:cNvPr id="41" name="Shape 38"/>
          <p:cNvSpPr/>
          <p:nvPr/>
        </p:nvSpPr>
        <p:spPr>
          <a:xfrm>
            <a:off x="7543800" y="3767328"/>
            <a:ext cx="457200" cy="457200"/>
          </a:xfrm>
          <a:prstGeom prst="ellipse">
            <a:avLst/>
          </a:prstGeom>
          <a:solidFill>
            <a:srgbClr val="17875A"/>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No key was needed. Encoding only hides data from people who don't look.</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Base64 is everywhere: email attachments, web tokens and data inside web pages.</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17875A"/>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Encode your own name with  echo NAME | base64. Why does it end in = sometimes?</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Keys, keywords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29 / 61</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2A9FD6"/>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2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E2F5EC"/>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20624"/>
            <a:ext cx="421538" cy="402336"/>
          </a:xfrm>
          <a:prstGeom prst="roundRect">
            <a:avLst>
              <a:gd name="adj" fmla="val 13636"/>
            </a:avLst>
          </a:prstGeom>
          <a:solidFill>
            <a:srgbClr val="2A9FD6"/>
          </a:solidFill>
          <a:ln/>
        </p:spPr>
      </p:sp>
      <p:sp>
        <p:nvSpPr>
          <p:cNvPr id="10" name="Text 7"/>
          <p:cNvSpPr txBox="1"/>
          <p:nvPr/>
        </p:nvSpPr>
        <p:spPr>
          <a:xfrm>
            <a:off x="7261250"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7755941" y="475488"/>
            <a:ext cx="421538" cy="292608"/>
          </a:xfrm>
          <a:prstGeom prst="roundRect">
            <a:avLst>
              <a:gd name="adj" fmla="val 18750"/>
            </a:avLst>
          </a:prstGeom>
          <a:solidFill>
            <a:srgbClr val="E4EAF3"/>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Hex marks the spot</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A long run of digits and the letters a to f. Every two characters are one byte. Turn the hex back into text.</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~/mission2/secret.hex</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xxd -r -p</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+100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Why only 0–9 and a–f?</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many hex characters make one letter?</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two xxd options do we need, and what does each do?</a:t>
            </a:r>
            <a:endParaRPr lang="en-US" sz="1500" dirty="0"/>
          </a:p>
        </p:txBody>
      </p:sp>
      <p:sp>
        <p:nvSpPr>
          <p:cNvPr id="39" name="Shape 36"/>
          <p:cNvSpPr/>
          <p:nvPr/>
        </p:nvSpPr>
        <p:spPr>
          <a:xfrm>
            <a:off x="7269480" y="4892040"/>
            <a:ext cx="4370832" cy="1051560"/>
          </a:xfrm>
          <a:prstGeom prst="roundRect">
            <a:avLst>
              <a:gd name="adj" fmla="val 8696"/>
            </a:avLst>
          </a:prstGeom>
          <a:solidFill>
            <a:srgbClr val="2459D8"/>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We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Class calls out each command. Mentor types.</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30 / 61</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2A9FD6"/>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2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E2F5EC"/>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20624"/>
            <a:ext cx="421538" cy="402336"/>
          </a:xfrm>
          <a:prstGeom prst="roundRect">
            <a:avLst>
              <a:gd name="adj" fmla="val 13636"/>
            </a:avLst>
          </a:prstGeom>
          <a:solidFill>
            <a:srgbClr val="2A9FD6"/>
          </a:solidFill>
          <a:ln/>
        </p:spPr>
      </p:sp>
      <p:sp>
        <p:nvSpPr>
          <p:cNvPr id="10" name="Text 7"/>
          <p:cNvSpPr txBox="1"/>
          <p:nvPr/>
        </p:nvSpPr>
        <p:spPr>
          <a:xfrm>
            <a:off x="7261250"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7755941" y="475488"/>
            <a:ext cx="421538" cy="292608"/>
          </a:xfrm>
          <a:prstGeom prst="roundRect">
            <a:avLst>
              <a:gd name="adj" fmla="val 18750"/>
            </a:avLst>
          </a:prstGeom>
          <a:solidFill>
            <a:srgbClr val="E4EAF3"/>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Cracking Hex marks the spot</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cd ~/mission2</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cat secret.hex</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486578206465636f646564212045766572792074776f</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2063686172616374657273207765726520...</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xxd -r -p secret.hex</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Hex decoded! Every two characters were one letter.</a:t>
            </a:r>
            <a:endParaRPr lang="en-US" sz="1300" dirty="0"/>
          </a:p>
          <a:p>
            <a:pPr indent="0" marL="0">
              <a:spcAft>
                <a:spcPts val="200"/>
              </a:spcAft>
              <a:buNone/>
            </a:pPr>
            <a:r>
              <a:rPr lang="en-US" sz="1300" b="1" dirty="0">
                <a:solidFill>
                  <a:srgbClr val="F5A623"/>
                </a:solidFill>
                <a:latin typeface="Courier New" pitchFamily="34" charset="0"/>
                <a:ea typeface="Courier New" pitchFamily="34" charset="-122"/>
                <a:cs typeface="Courier New" pitchFamily="34" charset="-120"/>
              </a:rPr>
              <a:t>Flag: CYBA{hex-...}</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submit CYBA{hex-...}</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Correct! +100 points</a:t>
            </a:r>
            <a:endParaRPr lang="en-US" sz="13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2A9FD6"/>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Hex is base 16: digits 0–9, then a–f for 10 to 15.</a:t>
            </a:r>
            <a:endParaRPr lang="en-US" sz="1400" dirty="0"/>
          </a:p>
        </p:txBody>
      </p:sp>
      <p:sp>
        <p:nvSpPr>
          <p:cNvPr id="38" name="Shape 35"/>
          <p:cNvSpPr/>
          <p:nvPr/>
        </p:nvSpPr>
        <p:spPr>
          <a:xfrm>
            <a:off x="7543800" y="2980944"/>
            <a:ext cx="457200" cy="457200"/>
          </a:xfrm>
          <a:prstGeom prst="ellipse">
            <a:avLst/>
          </a:prstGeom>
          <a:solidFill>
            <a:srgbClr val="2A9FD6"/>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Two hex characters are one byte: 48 is H, 65 is e.</a:t>
            </a:r>
            <a:endParaRPr lang="en-US" sz="1400" dirty="0"/>
          </a:p>
        </p:txBody>
      </p:sp>
      <p:sp>
        <p:nvSpPr>
          <p:cNvPr id="41" name="Shape 38"/>
          <p:cNvSpPr/>
          <p:nvPr/>
        </p:nvSpPr>
        <p:spPr>
          <a:xfrm>
            <a:off x="7543800" y="3767328"/>
            <a:ext cx="457200" cy="457200"/>
          </a:xfrm>
          <a:prstGeom prst="ellipse">
            <a:avLst/>
          </a:prstGeom>
          <a:solidFill>
            <a:srgbClr val="2A9FD6"/>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xxd -r reverses hex into bytes; -p reads plain hex.</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Analysts read hex all day: network packets, malware and memory dumps.</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2A9FD6"/>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What is 41 in hex as a letter? Check with  echo 41 | xxd -r -p.</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Keys, keywords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31 / 61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Now you try</a:t>
            </a:r>
            <a:endParaRPr lang="en-US" sz="3200" dirty="0"/>
          </a:p>
        </p:txBody>
      </p:sp>
      <p:sp>
        <p:nvSpPr>
          <p:cNvPr id="4" name="Text 1"/>
          <p:cNvSpPr txBox="1"/>
          <p:nvPr/>
        </p:nvSpPr>
        <p:spPr>
          <a:xfrm>
            <a:off x="548640" y="1417320"/>
            <a:ext cx="11094415" cy="457200"/>
          </a:xfrm>
          <a:prstGeom prst="rect">
            <a:avLst/>
          </a:prstGeom>
          <a:noFill/>
          <a:ln/>
        </p:spPr>
        <p:txBody>
          <a:bodyPr wrap="square" lIns="0" tIns="0" rIns="0" bIns="0" rtlCol="0" anchor="t"/>
          <a:lstStyle/>
          <a:p>
            <a:pPr indent="0" marL="0">
              <a:buNone/>
            </a:pPr>
            <a:r>
              <a:rPr lang="en-US" sz="1800" dirty="0">
                <a:solidFill>
                  <a:srgbClr val="56657E"/>
                </a:solidFill>
                <a:latin typeface="Calibri" pitchFamily="34" charset="0"/>
                <a:ea typeface="Calibri" pitchFamily="34" charset="-122"/>
                <a:cs typeface="Calibri" pitchFamily="34" charset="-120"/>
              </a:rPr>
              <a:t>Pick a cipher and run the loop. You don't have to finish - starting is the win.</a:t>
            </a:r>
            <a:endParaRPr lang="en-US" sz="1800" dirty="0"/>
          </a:p>
        </p:txBody>
      </p:sp>
      <p:sp>
        <p:nvSpPr>
          <p:cNvPr id="5" name="Shape 2"/>
          <p:cNvSpPr/>
          <p:nvPr/>
        </p:nvSpPr>
        <p:spPr>
          <a:xfrm>
            <a:off x="548640" y="2057400"/>
            <a:ext cx="3566160" cy="1280160"/>
          </a:xfrm>
          <a:prstGeom prst="roundRect">
            <a:avLst>
              <a:gd name="adj" fmla="val 7143"/>
            </a:avLst>
          </a:prstGeom>
          <a:solidFill>
            <a:srgbClr val="F1F5FB"/>
          </a:solidFill>
          <a:ln/>
        </p:spPr>
      </p:sp>
      <p:sp>
        <p:nvSpPr>
          <p:cNvPr id="6" name="Shape 3"/>
          <p:cNvSpPr/>
          <p:nvPr/>
        </p:nvSpPr>
        <p:spPr>
          <a:xfrm>
            <a:off x="548640" y="2057400"/>
            <a:ext cx="109728" cy="1280160"/>
          </a:xfrm>
          <a:prstGeom prst="roundRect">
            <a:avLst/>
          </a:prstGeom>
          <a:solidFill>
            <a:srgbClr val="17875A"/>
          </a:solidFill>
          <a:ln/>
        </p:spPr>
      </p:sp>
      <p:sp>
        <p:nvSpPr>
          <p:cNvPr id="7" name="Text 4"/>
          <p:cNvSpPr txBox="1"/>
          <p:nvPr/>
        </p:nvSpPr>
        <p:spPr>
          <a:xfrm>
            <a:off x="868680" y="225856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Decode base64 or hex</a:t>
            </a:r>
            <a:endParaRPr lang="en-US" sz="1650" dirty="0"/>
          </a:p>
        </p:txBody>
      </p:sp>
      <p:sp>
        <p:nvSpPr>
          <p:cNvPr id="8" name="Shape 5"/>
          <p:cNvSpPr/>
          <p:nvPr/>
        </p:nvSpPr>
        <p:spPr>
          <a:xfrm>
            <a:off x="868680" y="2807208"/>
            <a:ext cx="2194560" cy="384048"/>
          </a:xfrm>
          <a:prstGeom prst="roundRect">
            <a:avLst>
              <a:gd name="adj" fmla="val 19048"/>
            </a:avLst>
          </a:prstGeom>
          <a:solidFill>
            <a:srgbClr val="0E1726"/>
          </a:solidFill>
          <a:ln/>
        </p:spPr>
      </p:sp>
      <p:sp>
        <p:nvSpPr>
          <p:cNvPr id="9" name="Text 6"/>
          <p:cNvSpPr txBox="1"/>
          <p:nvPr/>
        </p:nvSpPr>
        <p:spPr>
          <a:xfrm>
            <a:off x="868680" y="280720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base64 -d</a:t>
            </a:r>
            <a:endParaRPr lang="en-US" sz="1250" dirty="0"/>
          </a:p>
        </p:txBody>
      </p:sp>
      <p:sp>
        <p:nvSpPr>
          <p:cNvPr id="10" name="Shape 7"/>
          <p:cNvSpPr/>
          <p:nvPr/>
        </p:nvSpPr>
        <p:spPr>
          <a:xfrm>
            <a:off x="4306824" y="2057400"/>
            <a:ext cx="3566160" cy="1280160"/>
          </a:xfrm>
          <a:prstGeom prst="roundRect">
            <a:avLst>
              <a:gd name="adj" fmla="val 7143"/>
            </a:avLst>
          </a:prstGeom>
          <a:solidFill>
            <a:srgbClr val="F1F5FB"/>
          </a:solidFill>
          <a:ln/>
        </p:spPr>
      </p:sp>
      <p:sp>
        <p:nvSpPr>
          <p:cNvPr id="11" name="Shape 8"/>
          <p:cNvSpPr/>
          <p:nvPr/>
        </p:nvSpPr>
        <p:spPr>
          <a:xfrm>
            <a:off x="4306824" y="2057400"/>
            <a:ext cx="109728" cy="1280160"/>
          </a:xfrm>
          <a:prstGeom prst="roundRect">
            <a:avLst/>
          </a:prstGeom>
          <a:solidFill>
            <a:srgbClr val="2459D8"/>
          </a:solidFill>
          <a:ln/>
        </p:spPr>
      </p:sp>
      <p:sp>
        <p:nvSpPr>
          <p:cNvPr id="12" name="Text 9"/>
          <p:cNvSpPr txBox="1"/>
          <p:nvPr/>
        </p:nvSpPr>
        <p:spPr>
          <a:xfrm>
            <a:off x="4626864" y="225856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Shift the alphabet back</a:t>
            </a:r>
            <a:endParaRPr lang="en-US" sz="1650" dirty="0"/>
          </a:p>
        </p:txBody>
      </p:sp>
      <p:sp>
        <p:nvSpPr>
          <p:cNvPr id="13" name="Shape 10"/>
          <p:cNvSpPr/>
          <p:nvPr/>
        </p:nvSpPr>
        <p:spPr>
          <a:xfrm>
            <a:off x="4626864" y="2807208"/>
            <a:ext cx="2194560" cy="384048"/>
          </a:xfrm>
          <a:prstGeom prst="roundRect">
            <a:avLst>
              <a:gd name="adj" fmla="val 19048"/>
            </a:avLst>
          </a:prstGeom>
          <a:solidFill>
            <a:srgbClr val="0E1726"/>
          </a:solidFill>
          <a:ln/>
        </p:spPr>
      </p:sp>
      <p:sp>
        <p:nvSpPr>
          <p:cNvPr id="14" name="Text 11"/>
          <p:cNvSpPr txBox="1"/>
          <p:nvPr/>
        </p:nvSpPr>
        <p:spPr>
          <a:xfrm>
            <a:off x="4626864" y="280720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caesar</a:t>
            </a:r>
            <a:endParaRPr lang="en-US" sz="1250" dirty="0"/>
          </a:p>
        </p:txBody>
      </p:sp>
      <p:sp>
        <p:nvSpPr>
          <p:cNvPr id="15" name="Shape 12"/>
          <p:cNvSpPr/>
          <p:nvPr/>
        </p:nvSpPr>
        <p:spPr>
          <a:xfrm>
            <a:off x="8065008" y="2057400"/>
            <a:ext cx="3566160" cy="1280160"/>
          </a:xfrm>
          <a:prstGeom prst="roundRect">
            <a:avLst>
              <a:gd name="adj" fmla="val 7143"/>
            </a:avLst>
          </a:prstGeom>
          <a:solidFill>
            <a:srgbClr val="F1F5FB"/>
          </a:solidFill>
          <a:ln/>
        </p:spPr>
      </p:sp>
      <p:sp>
        <p:nvSpPr>
          <p:cNvPr id="16" name="Shape 13"/>
          <p:cNvSpPr/>
          <p:nvPr/>
        </p:nvSpPr>
        <p:spPr>
          <a:xfrm>
            <a:off x="8065008" y="2057400"/>
            <a:ext cx="109728" cy="1280160"/>
          </a:xfrm>
          <a:prstGeom prst="roundRect">
            <a:avLst/>
          </a:prstGeom>
          <a:solidFill>
            <a:srgbClr val="7448D4"/>
          </a:solidFill>
          <a:ln/>
        </p:spPr>
      </p:sp>
      <p:sp>
        <p:nvSpPr>
          <p:cNvPr id="17" name="Text 14"/>
          <p:cNvSpPr txBox="1"/>
          <p:nvPr/>
        </p:nvSpPr>
        <p:spPr>
          <a:xfrm>
            <a:off x="8385048" y="225856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Translate dots and dashes</a:t>
            </a:r>
            <a:endParaRPr lang="en-US" sz="1650" dirty="0"/>
          </a:p>
        </p:txBody>
      </p:sp>
      <p:sp>
        <p:nvSpPr>
          <p:cNvPr id="18" name="Shape 15"/>
          <p:cNvSpPr/>
          <p:nvPr/>
        </p:nvSpPr>
        <p:spPr>
          <a:xfrm>
            <a:off x="8385048" y="2807208"/>
            <a:ext cx="2194560" cy="384048"/>
          </a:xfrm>
          <a:prstGeom prst="roundRect">
            <a:avLst>
              <a:gd name="adj" fmla="val 19048"/>
            </a:avLst>
          </a:prstGeom>
          <a:solidFill>
            <a:srgbClr val="0E1726"/>
          </a:solidFill>
          <a:ln/>
        </p:spPr>
      </p:sp>
      <p:sp>
        <p:nvSpPr>
          <p:cNvPr id="19" name="Text 16"/>
          <p:cNvSpPr txBox="1"/>
          <p:nvPr/>
        </p:nvSpPr>
        <p:spPr>
          <a:xfrm>
            <a:off x="8385048" y="280720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morse</a:t>
            </a:r>
            <a:endParaRPr lang="en-US" sz="1250" dirty="0"/>
          </a:p>
        </p:txBody>
      </p:sp>
      <p:sp>
        <p:nvSpPr>
          <p:cNvPr id="20" name="Shape 17"/>
          <p:cNvSpPr/>
          <p:nvPr/>
        </p:nvSpPr>
        <p:spPr>
          <a:xfrm>
            <a:off x="548640" y="3566160"/>
            <a:ext cx="3566160" cy="1280160"/>
          </a:xfrm>
          <a:prstGeom prst="roundRect">
            <a:avLst>
              <a:gd name="adj" fmla="val 7143"/>
            </a:avLst>
          </a:prstGeom>
          <a:solidFill>
            <a:srgbClr val="F1F5FB"/>
          </a:solidFill>
          <a:ln/>
        </p:spPr>
      </p:sp>
      <p:sp>
        <p:nvSpPr>
          <p:cNvPr id="21" name="Shape 18"/>
          <p:cNvSpPr/>
          <p:nvPr/>
        </p:nvSpPr>
        <p:spPr>
          <a:xfrm>
            <a:off x="548640" y="3566160"/>
            <a:ext cx="109728" cy="1280160"/>
          </a:xfrm>
          <a:prstGeom prst="roundRect">
            <a:avLst/>
          </a:prstGeom>
          <a:solidFill>
            <a:srgbClr val="D1416B"/>
          </a:solidFill>
          <a:ln/>
        </p:spPr>
      </p:sp>
      <p:sp>
        <p:nvSpPr>
          <p:cNvPr id="22" name="Text 19"/>
          <p:cNvSpPr txBox="1"/>
          <p:nvPr/>
        </p:nvSpPr>
        <p:spPr>
          <a:xfrm>
            <a:off x="868680" y="376732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Brute force every key</a:t>
            </a:r>
            <a:endParaRPr lang="en-US" sz="1650" dirty="0"/>
          </a:p>
        </p:txBody>
      </p:sp>
      <p:sp>
        <p:nvSpPr>
          <p:cNvPr id="23" name="Shape 20"/>
          <p:cNvSpPr/>
          <p:nvPr/>
        </p:nvSpPr>
        <p:spPr>
          <a:xfrm>
            <a:off x="868680" y="4315968"/>
            <a:ext cx="2194560" cy="384048"/>
          </a:xfrm>
          <a:prstGeom prst="roundRect">
            <a:avLst>
              <a:gd name="adj" fmla="val 19048"/>
            </a:avLst>
          </a:prstGeom>
          <a:solidFill>
            <a:srgbClr val="0E1726"/>
          </a:solidFill>
          <a:ln/>
        </p:spPr>
      </p:sp>
      <p:sp>
        <p:nvSpPr>
          <p:cNvPr id="24" name="Text 21"/>
          <p:cNvSpPr txBox="1"/>
          <p:nvPr/>
        </p:nvSpPr>
        <p:spPr>
          <a:xfrm>
            <a:off x="868680" y="431596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caesar 1..25</a:t>
            </a:r>
            <a:endParaRPr lang="en-US" sz="1250" dirty="0"/>
          </a:p>
        </p:txBody>
      </p:sp>
      <p:sp>
        <p:nvSpPr>
          <p:cNvPr id="25" name="Shape 22"/>
          <p:cNvSpPr/>
          <p:nvPr/>
        </p:nvSpPr>
        <p:spPr>
          <a:xfrm>
            <a:off x="4306824" y="3566160"/>
            <a:ext cx="3566160" cy="1280160"/>
          </a:xfrm>
          <a:prstGeom prst="roundRect">
            <a:avLst>
              <a:gd name="adj" fmla="val 7143"/>
            </a:avLst>
          </a:prstGeom>
          <a:solidFill>
            <a:srgbClr val="F1F5FB"/>
          </a:solidFill>
          <a:ln/>
        </p:spPr>
      </p:sp>
      <p:sp>
        <p:nvSpPr>
          <p:cNvPr id="26" name="Shape 23"/>
          <p:cNvSpPr/>
          <p:nvPr/>
        </p:nvSpPr>
        <p:spPr>
          <a:xfrm>
            <a:off x="4306824" y="3566160"/>
            <a:ext cx="109728" cy="1280160"/>
          </a:xfrm>
          <a:prstGeom prst="roundRect">
            <a:avLst/>
          </a:prstGeom>
          <a:solidFill>
            <a:srgbClr val="5B6EE1"/>
          </a:solidFill>
          <a:ln/>
        </p:spPr>
      </p:sp>
      <p:sp>
        <p:nvSpPr>
          <p:cNvPr id="27" name="Text 24"/>
          <p:cNvSpPr txBox="1"/>
          <p:nvPr/>
        </p:nvSpPr>
        <p:spPr>
          <a:xfrm>
            <a:off x="4626864" y="376732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Crack a keyword cipher</a:t>
            </a:r>
            <a:endParaRPr lang="en-US" sz="1650" dirty="0"/>
          </a:p>
        </p:txBody>
      </p:sp>
      <p:sp>
        <p:nvSpPr>
          <p:cNvPr id="28" name="Shape 25"/>
          <p:cNvSpPr/>
          <p:nvPr/>
        </p:nvSpPr>
        <p:spPr>
          <a:xfrm>
            <a:off x="4626864" y="4315968"/>
            <a:ext cx="2194560" cy="384048"/>
          </a:xfrm>
          <a:prstGeom prst="roundRect">
            <a:avLst>
              <a:gd name="adj" fmla="val 19048"/>
            </a:avLst>
          </a:prstGeom>
          <a:solidFill>
            <a:srgbClr val="0E1726"/>
          </a:solidFill>
          <a:ln/>
        </p:spPr>
      </p:sp>
      <p:sp>
        <p:nvSpPr>
          <p:cNvPr id="29" name="Text 26"/>
          <p:cNvSpPr txBox="1"/>
          <p:nvPr/>
        </p:nvSpPr>
        <p:spPr>
          <a:xfrm>
            <a:off x="4626864" y="431596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vigenere</a:t>
            </a:r>
            <a:endParaRPr lang="en-US" sz="1250" dirty="0"/>
          </a:p>
        </p:txBody>
      </p:sp>
      <p:sp>
        <p:nvSpPr>
          <p:cNvPr id="30" name="Shape 27"/>
          <p:cNvSpPr/>
          <p:nvPr/>
        </p:nvSpPr>
        <p:spPr>
          <a:xfrm>
            <a:off x="8065008" y="3566160"/>
            <a:ext cx="3566160" cy="1280160"/>
          </a:xfrm>
          <a:prstGeom prst="roundRect">
            <a:avLst>
              <a:gd name="adj" fmla="val 7143"/>
            </a:avLst>
          </a:prstGeom>
          <a:solidFill>
            <a:srgbClr val="F1F5FB"/>
          </a:solidFill>
          <a:ln/>
        </p:spPr>
      </p:sp>
      <p:sp>
        <p:nvSpPr>
          <p:cNvPr id="31" name="Shape 28"/>
          <p:cNvSpPr/>
          <p:nvPr/>
        </p:nvSpPr>
        <p:spPr>
          <a:xfrm>
            <a:off x="8065008" y="3566160"/>
            <a:ext cx="109728" cy="1280160"/>
          </a:xfrm>
          <a:prstGeom prst="roundRect">
            <a:avLst/>
          </a:prstGeom>
          <a:solidFill>
            <a:srgbClr val="0F9488"/>
          </a:solidFill>
          <a:ln/>
        </p:spPr>
      </p:sp>
      <p:sp>
        <p:nvSpPr>
          <p:cNvPr id="32" name="Text 29"/>
          <p:cNvSpPr txBox="1"/>
          <p:nvPr/>
        </p:nvSpPr>
        <p:spPr>
          <a:xfrm>
            <a:off x="8385048" y="3767328"/>
            <a:ext cx="3108960" cy="548640"/>
          </a:xfrm>
          <a:prstGeom prst="rect">
            <a:avLst/>
          </a:prstGeom>
          <a:noFill/>
          <a:ln/>
        </p:spPr>
        <p:txBody>
          <a:bodyPr wrap="square" lIns="0" tIns="0" rIns="0" bIns="0" rtlCol="0" anchor="t"/>
          <a:lstStyle/>
          <a:p>
            <a:pPr indent="0" marL="0">
              <a:buNone/>
            </a:pPr>
            <a:r>
              <a:rPr lang="en-US" sz="1650" b="1" dirty="0">
                <a:solidFill>
                  <a:srgbClr val="12213A"/>
                </a:solidFill>
                <a:latin typeface="Calibri" pitchFamily="34" charset="0"/>
                <a:ea typeface="Calibri" pitchFamily="34" charset="-122"/>
                <a:cs typeface="Calibri" pitchFamily="34" charset="-120"/>
              </a:rPr>
              <a:t>Chain decoders with a pipe</a:t>
            </a:r>
            <a:endParaRPr lang="en-US" sz="1650" dirty="0"/>
          </a:p>
        </p:txBody>
      </p:sp>
      <p:sp>
        <p:nvSpPr>
          <p:cNvPr id="33" name="Shape 30"/>
          <p:cNvSpPr/>
          <p:nvPr/>
        </p:nvSpPr>
        <p:spPr>
          <a:xfrm>
            <a:off x="8385048" y="4315968"/>
            <a:ext cx="2194560" cy="384048"/>
          </a:xfrm>
          <a:prstGeom prst="roundRect">
            <a:avLst>
              <a:gd name="adj" fmla="val 19048"/>
            </a:avLst>
          </a:prstGeom>
          <a:solidFill>
            <a:srgbClr val="0E1726"/>
          </a:solidFill>
          <a:ln/>
        </p:spPr>
      </p:sp>
      <p:sp>
        <p:nvSpPr>
          <p:cNvPr id="34" name="Text 31"/>
          <p:cNvSpPr txBox="1"/>
          <p:nvPr/>
        </p:nvSpPr>
        <p:spPr>
          <a:xfrm>
            <a:off x="8385048" y="4315968"/>
            <a:ext cx="2194560" cy="384048"/>
          </a:xfrm>
          <a:prstGeom prst="rect">
            <a:avLst/>
          </a:prstGeom>
          <a:noFill/>
          <a:ln/>
        </p:spPr>
        <p:txBody>
          <a:bodyPr wrap="square" lIns="0" tIns="0" rIns="0" bIns="0" rtlCol="0" anchor="ctr"/>
          <a:lstStyle/>
          <a:p>
            <a:pPr algn="ctr" indent="0" marL="0">
              <a:buNone/>
            </a:pPr>
            <a:r>
              <a:rPr lang="en-US" sz="1250" b="1" dirty="0">
                <a:solidFill>
                  <a:srgbClr val="46D39A"/>
                </a:solidFill>
                <a:latin typeface="Courier New" pitchFamily="34" charset="0"/>
                <a:ea typeface="Courier New" pitchFamily="34" charset="-122"/>
                <a:cs typeface="Courier New" pitchFamily="34" charset="-120"/>
              </a:rPr>
              <a:t>base64 -d | rev</a:t>
            </a:r>
            <a:endParaRPr lang="en-US" sz="1250" dirty="0"/>
          </a:p>
        </p:txBody>
      </p:sp>
      <p:sp>
        <p:nvSpPr>
          <p:cNvPr id="35" name="Text 32"/>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32 / 61</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Side quests: for anyone who wants more</a:t>
            </a:r>
            <a:endParaRPr lang="en-US" sz="3200" dirty="0"/>
          </a:p>
        </p:txBody>
      </p:sp>
      <p:sp>
        <p:nvSpPr>
          <p:cNvPr id="4" name="Shape 1"/>
          <p:cNvSpPr/>
          <p:nvPr/>
        </p:nvSpPr>
        <p:spPr>
          <a:xfrm>
            <a:off x="548640" y="1508760"/>
            <a:ext cx="5449824" cy="2057400"/>
          </a:xfrm>
          <a:prstGeom prst="roundRect">
            <a:avLst>
              <a:gd name="adj" fmla="val 5333"/>
            </a:avLst>
          </a:prstGeom>
          <a:solidFill>
            <a:srgbClr val="0E1726"/>
          </a:solidFill>
          <a:ln/>
        </p:spPr>
      </p:sp>
      <p:sp>
        <p:nvSpPr>
          <p:cNvPr id="5" name="Text 2"/>
          <p:cNvSpPr txBox="1"/>
          <p:nvPr/>
        </p:nvSpPr>
        <p:spPr>
          <a:xfrm>
            <a:off x="868680" y="1691640"/>
            <a:ext cx="347472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Letter detective</a:t>
            </a:r>
            <a:endParaRPr lang="en-US" sz="2200" dirty="0"/>
          </a:p>
        </p:txBody>
      </p:sp>
      <p:sp>
        <p:nvSpPr>
          <p:cNvPr id="6" name="Text 3"/>
          <p:cNvSpPr txBox="1"/>
          <p:nvPr/>
        </p:nvSpPr>
        <p:spPr>
          <a:xfrm>
            <a:off x="4206240" y="1737360"/>
            <a:ext cx="1554480" cy="365760"/>
          </a:xfrm>
          <a:prstGeom prst="rect">
            <a:avLst/>
          </a:prstGeom>
          <a:noFill/>
          <a:ln/>
        </p:spPr>
        <p:txBody>
          <a:bodyPr wrap="square" lIns="0" tIns="0" rIns="0" bIns="0" rtlCol="0" anchor="ctr"/>
          <a:lstStyle/>
          <a:p>
            <a:pPr algn="r" indent="0" marL="0">
              <a:buNone/>
            </a:pPr>
            <a:r>
              <a:rPr lang="en-US" sz="1200" dirty="0">
                <a:solidFill>
                  <a:srgbClr val="7F8FAD"/>
                </a:solidFill>
                <a:latin typeface="Courier New" pitchFamily="34" charset="0"/>
                <a:ea typeface="Courier New" pitchFamily="34" charset="-122"/>
                <a:cs typeface="Courier New" pitchFamily="34" charset="-120"/>
              </a:rPr>
              <a:t>~/mission4</a:t>
            </a:r>
            <a:endParaRPr lang="en-US" sz="1200" dirty="0"/>
          </a:p>
        </p:txBody>
      </p:sp>
      <p:sp>
        <p:nvSpPr>
          <p:cNvPr id="7" name="Text 4"/>
          <p:cNvSpPr txBox="1"/>
          <p:nvPr/>
        </p:nvSpPr>
        <p:spPr>
          <a:xfrm>
            <a:off x="868680" y="2240280"/>
            <a:ext cx="4846320" cy="777240"/>
          </a:xfrm>
          <a:prstGeom prst="rect">
            <a:avLst/>
          </a:prstGeom>
          <a:noFill/>
          <a:ln/>
        </p:spPr>
        <p:txBody>
          <a:bodyPr wrap="square" lIns="0" tIns="0" rIns="0" bIns="0" rtlCol="0" anchor="t"/>
          <a:lstStyle/>
          <a:p>
            <a:pPr indent="0" marL="0">
              <a:buNone/>
            </a:pPr>
            <a:r>
              <a:rPr lang="en-US" sz="1600" dirty="0">
                <a:solidFill>
                  <a:srgbClr val="B8C4D9"/>
                </a:solidFill>
                <a:latin typeface="Calibri" pitchFamily="34" charset="0"/>
                <a:ea typeface="Calibri" pitchFamily="34" charset="-122"/>
                <a:cs typeface="Calibri" pitchFamily="34" charset="-120"/>
              </a:rPr>
              <a:t>Which cipher letter is most common? In English it's E. Does the trick work on a short message?</a:t>
            </a:r>
            <a:endParaRPr lang="en-US" sz="1600" dirty="0"/>
          </a:p>
        </p:txBody>
      </p:sp>
      <p:sp>
        <p:nvSpPr>
          <p:cNvPr id="8" name="Text 5"/>
          <p:cNvSpPr txBox="1"/>
          <p:nvPr/>
        </p:nvSpPr>
        <p:spPr>
          <a:xfrm>
            <a:off x="868680" y="3044952"/>
            <a:ext cx="4846320" cy="365760"/>
          </a:xfrm>
          <a:prstGeom prst="rect">
            <a:avLst/>
          </a:prstGeom>
          <a:noFill/>
          <a:ln/>
        </p:spPr>
        <p:txBody>
          <a:bodyPr wrap="square" lIns="0" tIns="0" rIns="0" bIns="0" rtlCol="0" anchor="ctr"/>
          <a:lstStyle/>
          <a:p>
            <a:pPr indent="0" marL="0">
              <a:buNone/>
            </a:pPr>
            <a:r>
              <a:rPr lang="en-US" sz="1400" b="1" dirty="0">
                <a:solidFill>
                  <a:srgbClr val="46D39A"/>
                </a:solidFill>
                <a:latin typeface="Courier New" pitchFamily="34" charset="0"/>
                <a:ea typeface="Courier New" pitchFamily="34" charset="-122"/>
                <a:cs typeface="Courier New" pitchFamily="34" charset="-120"/>
              </a:rPr>
              <a:t>$ </a:t>
            </a:r>
            <a:pPr indent="0" marL="0">
              <a:buNone/>
            </a:pPr>
            <a:r>
              <a:rPr lang="en-US" sz="1400" b="1" dirty="0">
                <a:solidFill>
                  <a:srgbClr val="F5A623"/>
                </a:solidFill>
                <a:latin typeface="Courier New" pitchFamily="34" charset="0"/>
                <a:ea typeface="Courier New" pitchFamily="34" charset="-122"/>
                <a:cs typeface="Courier New" pitchFamily="34" charset="-120"/>
              </a:rPr>
              <a:t>fold -w1 · sort · uniq -c · sort -n</a:t>
            </a:r>
            <a:endParaRPr lang="en-US" sz="1400" dirty="0"/>
          </a:p>
        </p:txBody>
      </p:sp>
      <p:sp>
        <p:nvSpPr>
          <p:cNvPr id="9" name="Shape 6"/>
          <p:cNvSpPr/>
          <p:nvPr/>
        </p:nvSpPr>
        <p:spPr>
          <a:xfrm>
            <a:off x="6190488" y="1508760"/>
            <a:ext cx="5449824" cy="2057400"/>
          </a:xfrm>
          <a:prstGeom prst="roundRect">
            <a:avLst>
              <a:gd name="adj" fmla="val 5333"/>
            </a:avLst>
          </a:prstGeom>
          <a:solidFill>
            <a:srgbClr val="0E1726"/>
          </a:solidFill>
          <a:ln/>
        </p:spPr>
      </p:sp>
      <p:sp>
        <p:nvSpPr>
          <p:cNvPr id="10" name="Text 7"/>
          <p:cNvSpPr txBox="1"/>
          <p:nvPr/>
        </p:nvSpPr>
        <p:spPr>
          <a:xfrm>
            <a:off x="6510528" y="1691640"/>
            <a:ext cx="347472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Secret notes</a:t>
            </a:r>
            <a:endParaRPr lang="en-US" sz="2200" dirty="0"/>
          </a:p>
        </p:txBody>
      </p:sp>
      <p:sp>
        <p:nvSpPr>
          <p:cNvPr id="11" name="Text 8"/>
          <p:cNvSpPr txBox="1"/>
          <p:nvPr/>
        </p:nvSpPr>
        <p:spPr>
          <a:xfrm>
            <a:off x="9848088" y="1737360"/>
            <a:ext cx="1554480" cy="365760"/>
          </a:xfrm>
          <a:prstGeom prst="rect">
            <a:avLst/>
          </a:prstGeom>
          <a:noFill/>
          <a:ln/>
        </p:spPr>
        <p:txBody>
          <a:bodyPr wrap="square" lIns="0" tIns="0" rIns="0" bIns="0" rtlCol="0" anchor="ctr"/>
          <a:lstStyle/>
          <a:p>
            <a:pPr algn="r" indent="0" marL="0">
              <a:buNone/>
            </a:pPr>
            <a:r>
              <a:rPr lang="en-US" sz="1200" dirty="0">
                <a:solidFill>
                  <a:srgbClr val="7F8FAD"/>
                </a:solidFill>
                <a:latin typeface="Courier New" pitchFamily="34" charset="0"/>
                <a:ea typeface="Courier New" pitchFamily="34" charset="-122"/>
                <a:cs typeface="Courier New" pitchFamily="34" charset="-120"/>
              </a:rPr>
              <a:t>anywhere</a:t>
            </a:r>
            <a:endParaRPr lang="en-US" sz="1200" dirty="0"/>
          </a:p>
        </p:txBody>
      </p:sp>
      <p:sp>
        <p:nvSpPr>
          <p:cNvPr id="12" name="Text 9"/>
          <p:cNvSpPr txBox="1"/>
          <p:nvPr/>
        </p:nvSpPr>
        <p:spPr>
          <a:xfrm>
            <a:off x="6510528" y="2240280"/>
            <a:ext cx="4846320" cy="777240"/>
          </a:xfrm>
          <a:prstGeom prst="rect">
            <a:avLst/>
          </a:prstGeom>
          <a:noFill/>
          <a:ln/>
        </p:spPr>
        <p:txBody>
          <a:bodyPr wrap="square" lIns="0" tIns="0" rIns="0" bIns="0" rtlCol="0" anchor="t"/>
          <a:lstStyle/>
          <a:p>
            <a:pPr indent="0" marL="0">
              <a:buNone/>
            </a:pPr>
            <a:r>
              <a:rPr lang="en-US" sz="1600" dirty="0">
                <a:solidFill>
                  <a:srgbClr val="B8C4D9"/>
                </a:solidFill>
                <a:latin typeface="Calibri" pitchFamily="34" charset="0"/>
                <a:ea typeface="Calibri" pitchFamily="34" charset="-122"/>
                <a:cs typeface="Calibri" pitchFamily="34" charset="-120"/>
              </a:rPr>
              <a:t>Encrypt a note with a keyword. Swap papers with the next team, whisper the key.</a:t>
            </a:r>
            <a:endParaRPr lang="en-US" sz="1600" dirty="0"/>
          </a:p>
        </p:txBody>
      </p:sp>
      <p:sp>
        <p:nvSpPr>
          <p:cNvPr id="13" name="Text 10"/>
          <p:cNvSpPr txBox="1"/>
          <p:nvPr/>
        </p:nvSpPr>
        <p:spPr>
          <a:xfrm>
            <a:off x="6510528" y="3044952"/>
            <a:ext cx="4846320" cy="365760"/>
          </a:xfrm>
          <a:prstGeom prst="rect">
            <a:avLst/>
          </a:prstGeom>
          <a:noFill/>
          <a:ln/>
        </p:spPr>
        <p:txBody>
          <a:bodyPr wrap="square" lIns="0" tIns="0" rIns="0" bIns="0" rtlCol="0" anchor="ctr"/>
          <a:lstStyle/>
          <a:p>
            <a:pPr indent="0" marL="0">
              <a:buNone/>
            </a:pPr>
            <a:r>
              <a:rPr lang="en-US" sz="1400" b="1" dirty="0">
                <a:solidFill>
                  <a:srgbClr val="46D39A"/>
                </a:solidFill>
                <a:latin typeface="Courier New" pitchFamily="34" charset="0"/>
                <a:ea typeface="Courier New" pitchFamily="34" charset="-122"/>
                <a:cs typeface="Courier New" pitchFamily="34" charset="-120"/>
              </a:rPr>
              <a:t>$ </a:t>
            </a:r>
            <a:pPr indent="0" marL="0">
              <a:buNone/>
            </a:pPr>
            <a:r>
              <a:rPr lang="en-US" sz="1400" b="1" dirty="0">
                <a:solidFill>
                  <a:srgbClr val="F5A623"/>
                </a:solidFill>
                <a:latin typeface="Courier New" pitchFamily="34" charset="0"/>
                <a:ea typeface="Courier New" pitchFamily="34" charset="-122"/>
                <a:cs typeface="Courier New" pitchFamily="34" charset="-120"/>
              </a:rPr>
              <a:t>echo ... | vigenere -e KEY</a:t>
            </a:r>
            <a:endParaRPr lang="en-US" sz="1400" dirty="0"/>
          </a:p>
        </p:txBody>
      </p:sp>
      <p:sp>
        <p:nvSpPr>
          <p:cNvPr id="14" name="Shape 11"/>
          <p:cNvSpPr/>
          <p:nvPr/>
        </p:nvSpPr>
        <p:spPr>
          <a:xfrm>
            <a:off x="548640" y="3749040"/>
            <a:ext cx="5449824" cy="2057400"/>
          </a:xfrm>
          <a:prstGeom prst="roundRect">
            <a:avLst>
              <a:gd name="adj" fmla="val 5333"/>
            </a:avLst>
          </a:prstGeom>
          <a:solidFill>
            <a:srgbClr val="0E1726"/>
          </a:solidFill>
          <a:ln/>
        </p:spPr>
      </p:sp>
      <p:sp>
        <p:nvSpPr>
          <p:cNvPr id="15" name="Text 12"/>
          <p:cNvSpPr txBox="1"/>
          <p:nvPr/>
        </p:nvSpPr>
        <p:spPr>
          <a:xfrm>
            <a:off x="868680" y="3931920"/>
            <a:ext cx="347472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Hash race</a:t>
            </a:r>
            <a:endParaRPr lang="en-US" sz="2200" dirty="0"/>
          </a:p>
        </p:txBody>
      </p:sp>
      <p:sp>
        <p:nvSpPr>
          <p:cNvPr id="16" name="Text 13"/>
          <p:cNvSpPr txBox="1"/>
          <p:nvPr/>
        </p:nvSpPr>
        <p:spPr>
          <a:xfrm>
            <a:off x="4206240" y="3977640"/>
            <a:ext cx="1554480" cy="365760"/>
          </a:xfrm>
          <a:prstGeom prst="rect">
            <a:avLst/>
          </a:prstGeom>
          <a:noFill/>
          <a:ln/>
        </p:spPr>
        <p:txBody>
          <a:bodyPr wrap="square" lIns="0" tIns="0" rIns="0" bIns="0" rtlCol="0" anchor="ctr"/>
          <a:lstStyle/>
          <a:p>
            <a:pPr algn="r" indent="0" marL="0">
              <a:buNone/>
            </a:pPr>
            <a:r>
              <a:rPr lang="en-US" sz="1200" dirty="0">
                <a:solidFill>
                  <a:srgbClr val="7F8FAD"/>
                </a:solidFill>
                <a:latin typeface="Courier New" pitchFamily="34" charset="0"/>
                <a:ea typeface="Courier New" pitchFamily="34" charset="-122"/>
                <a:cs typeface="Courier New" pitchFamily="34" charset="-120"/>
              </a:rPr>
              <a:t>~/mission10</a:t>
            </a:r>
            <a:endParaRPr lang="en-US" sz="1200" dirty="0"/>
          </a:p>
        </p:txBody>
      </p:sp>
      <p:sp>
        <p:nvSpPr>
          <p:cNvPr id="17" name="Text 14"/>
          <p:cNvSpPr txBox="1"/>
          <p:nvPr/>
        </p:nvSpPr>
        <p:spPr>
          <a:xfrm>
            <a:off x="868680" y="4480560"/>
            <a:ext cx="4846320" cy="777240"/>
          </a:xfrm>
          <a:prstGeom prst="rect">
            <a:avLst/>
          </a:prstGeom>
          <a:noFill/>
          <a:ln/>
        </p:spPr>
        <p:txBody>
          <a:bodyPr wrap="square" lIns="0" tIns="0" rIns="0" bIns="0" rtlCol="0" anchor="t"/>
          <a:lstStyle/>
          <a:p>
            <a:pPr indent="0" marL="0">
              <a:buNone/>
            </a:pPr>
            <a:r>
              <a:rPr lang="en-US" sz="1600" dirty="0">
                <a:solidFill>
                  <a:srgbClr val="B8C4D9"/>
                </a:solidFill>
                <a:latin typeface="Calibri" pitchFamily="34" charset="0"/>
                <a:ea typeface="Calibri" pitchFamily="34" charset="-122"/>
                <a:cs typeface="Calibri" pitchFamily="34" charset="-120"/>
              </a:rPr>
              <a:t>How many words in words.txt have a hash that starts with 0? Which ones?</a:t>
            </a:r>
            <a:endParaRPr lang="en-US" sz="1600" dirty="0"/>
          </a:p>
        </p:txBody>
      </p:sp>
      <p:sp>
        <p:nvSpPr>
          <p:cNvPr id="18" name="Text 15"/>
          <p:cNvSpPr txBox="1"/>
          <p:nvPr/>
        </p:nvSpPr>
        <p:spPr>
          <a:xfrm>
            <a:off x="868680" y="5285232"/>
            <a:ext cx="4846320" cy="365760"/>
          </a:xfrm>
          <a:prstGeom prst="rect">
            <a:avLst/>
          </a:prstGeom>
          <a:noFill/>
          <a:ln/>
        </p:spPr>
        <p:txBody>
          <a:bodyPr wrap="square" lIns="0" tIns="0" rIns="0" bIns="0" rtlCol="0" anchor="ctr"/>
          <a:lstStyle/>
          <a:p>
            <a:pPr indent="0" marL="0">
              <a:buNone/>
            </a:pPr>
            <a:r>
              <a:rPr lang="en-US" sz="1400" b="1" dirty="0">
                <a:solidFill>
                  <a:srgbClr val="46D39A"/>
                </a:solidFill>
                <a:latin typeface="Courier New" pitchFamily="34" charset="0"/>
                <a:ea typeface="Courier New" pitchFamily="34" charset="-122"/>
                <a:cs typeface="Courier New" pitchFamily="34" charset="-120"/>
              </a:rPr>
              <a:t>$ </a:t>
            </a:r>
            <a:pPr indent="0" marL="0">
              <a:buNone/>
            </a:pPr>
            <a:r>
              <a:rPr lang="en-US" sz="1400" b="1" dirty="0">
                <a:solidFill>
                  <a:srgbClr val="F5A623"/>
                </a:solidFill>
                <a:latin typeface="Courier New" pitchFamily="34" charset="0"/>
                <a:ea typeface="Courier New" pitchFamily="34" charset="-122"/>
                <a:cs typeface="Courier New" pitchFamily="34" charset="-120"/>
              </a:rPr>
              <a:t>hashlines words.txt | grep '^0'</a:t>
            </a:r>
            <a:endParaRPr lang="en-US" sz="1400" dirty="0"/>
          </a:p>
        </p:txBody>
      </p:sp>
      <p:sp>
        <p:nvSpPr>
          <p:cNvPr id="19" name="Shape 16"/>
          <p:cNvSpPr/>
          <p:nvPr/>
        </p:nvSpPr>
        <p:spPr>
          <a:xfrm>
            <a:off x="6190488" y="3749040"/>
            <a:ext cx="5449824" cy="2057400"/>
          </a:xfrm>
          <a:prstGeom prst="roundRect">
            <a:avLst>
              <a:gd name="adj" fmla="val 5333"/>
            </a:avLst>
          </a:prstGeom>
          <a:solidFill>
            <a:srgbClr val="0E1726"/>
          </a:solidFill>
          <a:ln/>
        </p:spPr>
      </p:sp>
      <p:sp>
        <p:nvSpPr>
          <p:cNvPr id="20" name="Text 17"/>
          <p:cNvSpPr txBox="1"/>
          <p:nvPr/>
        </p:nvSpPr>
        <p:spPr>
          <a:xfrm>
            <a:off x="6510528" y="3931920"/>
            <a:ext cx="347472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Two layers</a:t>
            </a:r>
            <a:endParaRPr lang="en-US" sz="2200" dirty="0"/>
          </a:p>
        </p:txBody>
      </p:sp>
      <p:sp>
        <p:nvSpPr>
          <p:cNvPr id="21" name="Text 18"/>
          <p:cNvSpPr txBox="1"/>
          <p:nvPr/>
        </p:nvSpPr>
        <p:spPr>
          <a:xfrm>
            <a:off x="9848088" y="3977640"/>
            <a:ext cx="1554480" cy="365760"/>
          </a:xfrm>
          <a:prstGeom prst="rect">
            <a:avLst/>
          </a:prstGeom>
          <a:noFill/>
          <a:ln/>
        </p:spPr>
        <p:txBody>
          <a:bodyPr wrap="square" lIns="0" tIns="0" rIns="0" bIns="0" rtlCol="0" anchor="ctr"/>
          <a:lstStyle/>
          <a:p>
            <a:pPr algn="r" indent="0" marL="0">
              <a:buNone/>
            </a:pPr>
            <a:r>
              <a:rPr lang="en-US" sz="1200" dirty="0">
                <a:solidFill>
                  <a:srgbClr val="7F8FAD"/>
                </a:solidFill>
                <a:latin typeface="Courier New" pitchFamily="34" charset="0"/>
                <a:ea typeface="Courier New" pitchFamily="34" charset="-122"/>
                <a:cs typeface="Courier New" pitchFamily="34" charset="-120"/>
              </a:rPr>
              <a:t>anywhere</a:t>
            </a:r>
            <a:endParaRPr lang="en-US" sz="1200" dirty="0"/>
          </a:p>
        </p:txBody>
      </p:sp>
      <p:sp>
        <p:nvSpPr>
          <p:cNvPr id="22" name="Text 19"/>
          <p:cNvSpPr txBox="1"/>
          <p:nvPr/>
        </p:nvSpPr>
        <p:spPr>
          <a:xfrm>
            <a:off x="6510528" y="4480560"/>
            <a:ext cx="4846320" cy="777240"/>
          </a:xfrm>
          <a:prstGeom prst="rect">
            <a:avLst/>
          </a:prstGeom>
          <a:noFill/>
          <a:ln/>
        </p:spPr>
        <p:txBody>
          <a:bodyPr wrap="square" lIns="0" tIns="0" rIns="0" bIns="0" rtlCol="0" anchor="t"/>
          <a:lstStyle/>
          <a:p>
            <a:pPr indent="0" marL="0">
              <a:buNone/>
            </a:pPr>
            <a:r>
              <a:rPr lang="en-US" sz="1600" dirty="0">
                <a:solidFill>
                  <a:srgbClr val="B8C4D9"/>
                </a:solidFill>
                <a:latin typeface="Calibri" pitchFamily="34" charset="0"/>
                <a:ea typeface="Calibri" pitchFamily="34" charset="-122"/>
                <a:cs typeface="Calibri" pitchFamily="34" charset="-120"/>
              </a:rPr>
              <a:t>Build a two-layer puzzle for a neighbour. Can they peel it?</a:t>
            </a:r>
            <a:endParaRPr lang="en-US" sz="1600" dirty="0"/>
          </a:p>
        </p:txBody>
      </p:sp>
      <p:sp>
        <p:nvSpPr>
          <p:cNvPr id="23" name="Text 20"/>
          <p:cNvSpPr txBox="1"/>
          <p:nvPr/>
        </p:nvSpPr>
        <p:spPr>
          <a:xfrm>
            <a:off x="6510528" y="5285232"/>
            <a:ext cx="4846320" cy="365760"/>
          </a:xfrm>
          <a:prstGeom prst="rect">
            <a:avLst/>
          </a:prstGeom>
          <a:noFill/>
          <a:ln/>
        </p:spPr>
        <p:txBody>
          <a:bodyPr wrap="square" lIns="0" tIns="0" rIns="0" bIns="0" rtlCol="0" anchor="ctr"/>
          <a:lstStyle/>
          <a:p>
            <a:pPr indent="0" marL="0">
              <a:buNone/>
            </a:pPr>
            <a:r>
              <a:rPr lang="en-US" sz="1400" b="1" dirty="0">
                <a:solidFill>
                  <a:srgbClr val="46D39A"/>
                </a:solidFill>
                <a:latin typeface="Courier New" pitchFamily="34" charset="0"/>
                <a:ea typeface="Courier New" pitchFamily="34" charset="-122"/>
                <a:cs typeface="Courier New" pitchFamily="34" charset="-120"/>
              </a:rPr>
              <a:t>$ </a:t>
            </a:r>
            <a:pPr indent="0" marL="0">
              <a:buNone/>
            </a:pPr>
            <a:r>
              <a:rPr lang="en-US" sz="1400" b="1" dirty="0">
                <a:solidFill>
                  <a:srgbClr val="F5A623"/>
                </a:solidFill>
                <a:latin typeface="Courier New" pitchFamily="34" charset="0"/>
                <a:ea typeface="Courier New" pitchFamily="34" charset="-122"/>
                <a:cs typeface="Courier New" pitchFamily="34" charset="-120"/>
              </a:rPr>
              <a:t>tr ... | base64</a:t>
            </a:r>
            <a:endParaRPr lang="en-US" sz="1400" dirty="0"/>
          </a:p>
        </p:txBody>
      </p:sp>
      <p:sp>
        <p:nvSpPr>
          <p:cNvPr id="24" name="Text 21"/>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33 / 61</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640080"/>
            <a:ext cx="2103120" cy="3108960"/>
          </a:xfrm>
          <a:prstGeom prst="rect">
            <a:avLst/>
          </a:prstGeom>
          <a:noFill/>
          <a:ln/>
        </p:spPr>
        <p:txBody>
          <a:bodyPr wrap="square" lIns="0" tIns="0" rIns="0" bIns="0" rtlCol="0" anchor="ctr"/>
          <a:lstStyle/>
          <a:p>
            <a:pPr indent="0" marL="0">
              <a:buNone/>
            </a:pPr>
            <a:r>
              <a:rPr lang="en-US" sz="23000" b="1" dirty="0">
                <a:solidFill>
                  <a:srgbClr val="D1416B"/>
                </a:solidFill>
                <a:latin typeface="Arial" pitchFamily="34" charset="0"/>
                <a:ea typeface="Arial" pitchFamily="34" charset="-122"/>
                <a:cs typeface="Arial" pitchFamily="34" charset="-120"/>
              </a:rPr>
              <a:t>4</a:t>
            </a:r>
            <a:endParaRPr lang="en-US" sz="23000" dirty="0"/>
          </a:p>
        </p:txBody>
      </p:sp>
      <p:sp>
        <p:nvSpPr>
          <p:cNvPr id="3" name="Text 1"/>
          <p:cNvSpPr txBox="1"/>
          <p:nvPr/>
        </p:nvSpPr>
        <p:spPr>
          <a:xfrm>
            <a:off x="2743200" y="640080"/>
            <a:ext cx="6949440" cy="3108960"/>
          </a:xfrm>
          <a:prstGeom prst="rect">
            <a:avLst/>
          </a:prstGeom>
          <a:noFill/>
          <a:ln/>
        </p:spPr>
        <p:txBody>
          <a:bodyPr wrap="square" lIns="0" tIns="0" rIns="0" bIns="0" rtlCol="0" anchor="ctr">
            <a:normAutofit/>
          </a:bodyPr>
          <a:lstStyle/>
          <a:p>
            <a:pPr indent="0" marL="0">
              <a:buNone/>
            </a:pPr>
            <a:r>
              <a:rPr lang="en-US" sz="5600" b="1" dirty="0">
                <a:solidFill>
                  <a:srgbClr val="12213A"/>
                </a:solidFill>
                <a:latin typeface="Arial" pitchFamily="34" charset="0"/>
                <a:ea typeface="Arial" pitchFamily="34" charset="-122"/>
                <a:cs typeface="Arial" pitchFamily="34" charset="-120"/>
              </a:rPr>
              <a:t>Reflection</a:t>
            </a:r>
            <a:endParaRPr lang="en-US" sz="5600" dirty="0"/>
          </a:p>
        </p:txBody>
      </p:sp>
      <p:sp>
        <p:nvSpPr>
          <p:cNvPr id="4" name="Shape 2"/>
          <p:cNvSpPr/>
          <p:nvPr/>
        </p:nvSpPr>
        <p:spPr>
          <a:xfrm>
            <a:off x="548640" y="5074920"/>
            <a:ext cx="6492240" cy="731520"/>
          </a:xfrm>
          <a:prstGeom prst="roundRect">
            <a:avLst>
              <a:gd name="adj" fmla="val 12500"/>
            </a:avLst>
          </a:prstGeom>
          <a:solidFill>
            <a:srgbClr val="0E1726"/>
          </a:solidFill>
          <a:ln/>
          <a:effectLst>
            <a:outerShdw sx="100000" sy="100000" kx="0" ky="0" algn="bl" rotWithShape="0" blurRad="101600" dist="25400" dir="5400000">
              <a:srgbClr val="6E86AE">
                <a:alpha val="35000"/>
              </a:srgbClr>
            </a:outerShdw>
          </a:effectLst>
        </p:spPr>
      </p:sp>
      <p:sp>
        <p:nvSpPr>
          <p:cNvPr id="5" name="Text 3"/>
          <p:cNvSpPr txBox="1"/>
          <p:nvPr/>
        </p:nvSpPr>
        <p:spPr>
          <a:xfrm>
            <a:off x="822960" y="5074920"/>
            <a:ext cx="6035040" cy="731520"/>
          </a:xfrm>
          <a:prstGeom prst="rect">
            <a:avLst/>
          </a:prstGeom>
          <a:noFill/>
          <a:ln/>
        </p:spPr>
        <p:txBody>
          <a:bodyPr wrap="square" lIns="0" tIns="0" rIns="0" bIns="0" rtlCol="0" anchor="ctr">
            <a:normAutofit/>
          </a:bodyPr>
          <a:lstStyle/>
          <a:p>
            <a:pPr indent="0" marL="0">
              <a:buNone/>
            </a:pPr>
            <a:r>
              <a:rPr lang="en-US" sz="1800" b="1" dirty="0">
                <a:solidFill>
                  <a:srgbClr val="46D39A"/>
                </a:solidFill>
                <a:latin typeface="Courier New" pitchFamily="34" charset="0"/>
                <a:ea typeface="Courier New" pitchFamily="34" charset="-122"/>
                <a:cs typeface="Courier New" pitchFamily="34" charset="-120"/>
              </a:rPr>
              <a:t>$ </a:t>
            </a:r>
            <a:pPr indent="0" marL="0">
              <a:buNone/>
            </a:pPr>
            <a:r>
              <a:rPr lang="en-US" sz="1800" b="1" dirty="0">
                <a:solidFill>
                  <a:srgbClr val="FFFFFF"/>
                </a:solidFill>
                <a:latin typeface="Courier New" pitchFamily="34" charset="0"/>
                <a:ea typeface="Courier New" pitchFamily="34" charset="-122"/>
                <a:cs typeface="Courier New" pitchFamily="34" charset="-120"/>
              </a:rPr>
              <a:t>echo 'Jryy qbar' | tr A-Za-z N-ZA-Mn-za-m</a:t>
            </a:r>
            <a:endParaRPr lang="en-US" sz="1800" dirty="0"/>
          </a:p>
        </p:txBody>
      </p:sp>
      <p:sp>
        <p:nvSpPr>
          <p:cNvPr id="7" name="Text 4"/>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34 / 61</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Puzzle crypto vs real crypto</a:t>
            </a:r>
            <a:endParaRPr lang="en-US" sz="3200" dirty="0"/>
          </a:p>
        </p:txBody>
      </p:sp>
      <p:sp>
        <p:nvSpPr>
          <p:cNvPr id="4" name="Shape 1"/>
          <p:cNvSpPr/>
          <p:nvPr/>
        </p:nvSpPr>
        <p:spPr>
          <a:xfrm>
            <a:off x="548640" y="1508760"/>
            <a:ext cx="5449824" cy="2286000"/>
          </a:xfrm>
          <a:prstGeom prst="roundRect">
            <a:avLst>
              <a:gd name="adj" fmla="val 4000"/>
            </a:avLst>
          </a:prstGeom>
          <a:solidFill>
            <a:srgbClr val="F1F5FB"/>
          </a:solidFill>
          <a:ln/>
        </p:spPr>
      </p:sp>
      <p:sp>
        <p:nvSpPr>
          <p:cNvPr id="5" name="Shape 2"/>
          <p:cNvSpPr/>
          <p:nvPr/>
        </p:nvSpPr>
        <p:spPr>
          <a:xfrm>
            <a:off x="548640" y="1508760"/>
            <a:ext cx="5449824" cy="109728"/>
          </a:xfrm>
          <a:prstGeom prst="rect">
            <a:avLst/>
          </a:prstGeom>
          <a:solidFill>
            <a:srgbClr val="B93434"/>
          </a:solidFill>
          <a:ln/>
        </p:spPr>
      </p:sp>
      <p:sp>
        <p:nvSpPr>
          <p:cNvPr id="6" name="Text 3"/>
          <p:cNvSpPr txBox="1"/>
          <p:nvPr/>
        </p:nvSpPr>
        <p:spPr>
          <a:xfrm>
            <a:off x="868680" y="1783080"/>
            <a:ext cx="4846320" cy="457200"/>
          </a:xfrm>
          <a:prstGeom prst="rect">
            <a:avLst/>
          </a:prstGeom>
          <a:noFill/>
          <a:ln/>
        </p:spPr>
        <p:txBody>
          <a:bodyPr wrap="square" lIns="0" tIns="0" rIns="0" bIns="0" rtlCol="0" anchor="t"/>
          <a:lstStyle/>
          <a:p>
            <a:pPr indent="0" marL="0">
              <a:buNone/>
            </a:pPr>
            <a:r>
              <a:rPr lang="en-US" sz="2400" b="1" dirty="0">
                <a:solidFill>
                  <a:srgbClr val="B93434"/>
                </a:solidFill>
                <a:latin typeface="Arial" pitchFamily="34" charset="0"/>
                <a:ea typeface="Arial" pitchFamily="34" charset="-122"/>
                <a:cs typeface="Arial" pitchFamily="34" charset="-120"/>
              </a:rPr>
              <a:t>Today's ciphers</a:t>
            </a:r>
            <a:endParaRPr lang="en-US" sz="2400" dirty="0"/>
          </a:p>
        </p:txBody>
      </p:sp>
      <p:sp>
        <p:nvSpPr>
          <p:cNvPr id="7" name="Text 4"/>
          <p:cNvSpPr txBox="1"/>
          <p:nvPr/>
        </p:nvSpPr>
        <p:spPr>
          <a:xfrm>
            <a:off x="868680" y="2331720"/>
            <a:ext cx="4846320" cy="411480"/>
          </a:xfrm>
          <a:prstGeom prst="rect">
            <a:avLst/>
          </a:prstGeom>
          <a:noFill/>
          <a:ln/>
        </p:spPr>
        <p:txBody>
          <a:bodyPr wrap="square" lIns="0" tIns="0" rIns="0" bIns="0" rtlCol="0" anchor="t"/>
          <a:lstStyle/>
          <a:p>
            <a:pPr indent="0" marL="0">
              <a:buNone/>
            </a:pPr>
            <a:r>
              <a:rPr lang="en-US" sz="1400" b="1" dirty="0">
                <a:solidFill>
                  <a:srgbClr val="12213A"/>
                </a:solidFill>
                <a:latin typeface="Courier New" pitchFamily="34" charset="0"/>
                <a:ea typeface="Courier New" pitchFamily="34" charset="-122"/>
                <a:cs typeface="Courier New" pitchFamily="34" charset="-120"/>
              </a:rPr>
              <a:t>Caesar, Atbash, Vigenère, single-byte XOR</a:t>
            </a:r>
            <a:endParaRPr lang="en-US" sz="1400" dirty="0"/>
          </a:p>
        </p:txBody>
      </p:sp>
      <p:sp>
        <p:nvSpPr>
          <p:cNvPr id="8" name="Text 5"/>
          <p:cNvSpPr txBox="1"/>
          <p:nvPr/>
        </p:nvSpPr>
        <p:spPr>
          <a:xfrm>
            <a:off x="868680" y="2834640"/>
            <a:ext cx="4846320" cy="82296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Broken centuries ago. Great puzzles, zero protection.</a:t>
            </a:r>
            <a:endParaRPr lang="en-US" sz="1600" dirty="0"/>
          </a:p>
        </p:txBody>
      </p:sp>
      <p:sp>
        <p:nvSpPr>
          <p:cNvPr id="9" name="Shape 6"/>
          <p:cNvSpPr/>
          <p:nvPr/>
        </p:nvSpPr>
        <p:spPr>
          <a:xfrm>
            <a:off x="6190488" y="1508760"/>
            <a:ext cx="5449824" cy="2286000"/>
          </a:xfrm>
          <a:prstGeom prst="roundRect">
            <a:avLst>
              <a:gd name="adj" fmla="val 4000"/>
            </a:avLst>
          </a:prstGeom>
          <a:solidFill>
            <a:srgbClr val="F1F5FB"/>
          </a:solidFill>
          <a:ln/>
        </p:spPr>
      </p:sp>
      <p:sp>
        <p:nvSpPr>
          <p:cNvPr id="10" name="Shape 7"/>
          <p:cNvSpPr/>
          <p:nvPr/>
        </p:nvSpPr>
        <p:spPr>
          <a:xfrm>
            <a:off x="6190488" y="1508760"/>
            <a:ext cx="5449824" cy="109728"/>
          </a:xfrm>
          <a:prstGeom prst="rect">
            <a:avLst/>
          </a:prstGeom>
          <a:solidFill>
            <a:srgbClr val="17875A"/>
          </a:solidFill>
          <a:ln/>
        </p:spPr>
      </p:sp>
      <p:sp>
        <p:nvSpPr>
          <p:cNvPr id="11" name="Text 8"/>
          <p:cNvSpPr txBox="1"/>
          <p:nvPr/>
        </p:nvSpPr>
        <p:spPr>
          <a:xfrm>
            <a:off x="6510528" y="1783080"/>
            <a:ext cx="4846320" cy="457200"/>
          </a:xfrm>
          <a:prstGeom prst="rect">
            <a:avLst/>
          </a:prstGeom>
          <a:noFill/>
          <a:ln/>
        </p:spPr>
        <p:txBody>
          <a:bodyPr wrap="square" lIns="0" tIns="0" rIns="0" bIns="0" rtlCol="0" anchor="t"/>
          <a:lstStyle/>
          <a:p>
            <a:pPr indent="0" marL="0">
              <a:buNone/>
            </a:pPr>
            <a:r>
              <a:rPr lang="en-US" sz="2400" b="1" dirty="0">
                <a:solidFill>
                  <a:srgbClr val="17875A"/>
                </a:solidFill>
                <a:latin typeface="Arial" pitchFamily="34" charset="0"/>
                <a:ea typeface="Arial" pitchFamily="34" charset="-122"/>
                <a:cs typeface="Arial" pitchFamily="34" charset="-120"/>
              </a:rPr>
              <a:t>Real crypto</a:t>
            </a:r>
            <a:endParaRPr lang="en-US" sz="2400" dirty="0"/>
          </a:p>
        </p:txBody>
      </p:sp>
      <p:sp>
        <p:nvSpPr>
          <p:cNvPr id="12" name="Text 9"/>
          <p:cNvSpPr txBox="1"/>
          <p:nvPr/>
        </p:nvSpPr>
        <p:spPr>
          <a:xfrm>
            <a:off x="6510528" y="2331720"/>
            <a:ext cx="4846320" cy="411480"/>
          </a:xfrm>
          <a:prstGeom prst="rect">
            <a:avLst/>
          </a:prstGeom>
          <a:noFill/>
          <a:ln/>
        </p:spPr>
        <p:txBody>
          <a:bodyPr wrap="square" lIns="0" tIns="0" rIns="0" bIns="0" rtlCol="0" anchor="t"/>
          <a:lstStyle/>
          <a:p>
            <a:pPr indent="0" marL="0">
              <a:buNone/>
            </a:pPr>
            <a:r>
              <a:rPr lang="en-US" sz="1400" b="1" dirty="0">
                <a:solidFill>
                  <a:srgbClr val="12213A"/>
                </a:solidFill>
                <a:latin typeface="Courier New" pitchFamily="34" charset="0"/>
                <a:ea typeface="Courier New" pitchFamily="34" charset="-122"/>
                <a:cs typeface="Courier New" pitchFamily="34" charset="-120"/>
              </a:rPr>
              <a:t>AES, ChaCha20, SHA-256, RSA</a:t>
            </a:r>
            <a:endParaRPr lang="en-US" sz="1400" dirty="0"/>
          </a:p>
        </p:txBody>
      </p:sp>
      <p:sp>
        <p:nvSpPr>
          <p:cNvPr id="13" name="Text 10"/>
          <p:cNvSpPr txBox="1"/>
          <p:nvPr/>
        </p:nvSpPr>
        <p:spPr>
          <a:xfrm>
            <a:off x="6510528" y="2834640"/>
            <a:ext cx="4846320" cy="82296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Unbroken maths. Use tested libraries; never invent your own.</a:t>
            </a:r>
            <a:endParaRPr lang="en-US" sz="1600" dirty="0"/>
          </a:p>
        </p:txBody>
      </p:sp>
      <p:sp>
        <p:nvSpPr>
          <p:cNvPr id="14" name="Text 11"/>
          <p:cNvSpPr txBox="1"/>
          <p:nvPr/>
        </p:nvSpPr>
        <p:spPr>
          <a:xfrm>
            <a:off x="548640" y="4069080"/>
            <a:ext cx="7315200" cy="411480"/>
          </a:xfrm>
          <a:prstGeom prst="rect">
            <a:avLst/>
          </a:prstGeom>
          <a:noFill/>
          <a:ln/>
        </p:spPr>
        <p:txBody>
          <a:bodyPr wrap="square" lIns="0" tIns="0" rIns="0" bIns="0" rtlCol="0" anchor="t"/>
          <a:lstStyle/>
          <a:p>
            <a:pPr indent="0" marL="0">
              <a:buNone/>
            </a:pPr>
            <a:r>
              <a:rPr lang="en-US" sz="2000" b="1" dirty="0">
                <a:solidFill>
                  <a:srgbClr val="12213A"/>
                </a:solidFill>
                <a:latin typeface="Arial" pitchFamily="34" charset="0"/>
                <a:ea typeface="Arial" pitchFamily="34" charset="-122"/>
                <a:cs typeface="Arial" pitchFamily="34" charset="-120"/>
              </a:rPr>
              <a:t>So how do real attackers win?</a:t>
            </a:r>
            <a:endParaRPr lang="en-US" sz="2000" dirty="0"/>
          </a:p>
        </p:txBody>
      </p:sp>
      <p:sp>
        <p:nvSpPr>
          <p:cNvPr id="15" name="Shape 12"/>
          <p:cNvSpPr/>
          <p:nvPr/>
        </p:nvSpPr>
        <p:spPr>
          <a:xfrm>
            <a:off x="548640" y="4572000"/>
            <a:ext cx="3566160" cy="1371600"/>
          </a:xfrm>
          <a:prstGeom prst="roundRect">
            <a:avLst>
              <a:gd name="adj" fmla="val 6667"/>
            </a:avLst>
          </a:prstGeom>
          <a:solidFill>
            <a:srgbClr val="FFF4DC"/>
          </a:solidFill>
          <a:ln/>
        </p:spPr>
      </p:sp>
      <p:sp>
        <p:nvSpPr>
          <p:cNvPr id="16" name="Text 13"/>
          <p:cNvSpPr txBox="1"/>
          <p:nvPr/>
        </p:nvSpPr>
        <p:spPr>
          <a:xfrm>
            <a:off x="822960" y="4681728"/>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Leaked keys</a:t>
            </a:r>
            <a:endParaRPr lang="en-US" sz="1800" dirty="0"/>
          </a:p>
        </p:txBody>
      </p:sp>
      <p:sp>
        <p:nvSpPr>
          <p:cNvPr id="17" name="Text 14"/>
          <p:cNvSpPr txBox="1"/>
          <p:nvPr/>
        </p:nvSpPr>
        <p:spPr>
          <a:xfrm>
            <a:off x="822960" y="5120640"/>
            <a:ext cx="3108960" cy="731520"/>
          </a:xfrm>
          <a:prstGeom prst="rect">
            <a:avLst/>
          </a:prstGeom>
          <a:noFill/>
          <a:ln/>
        </p:spPr>
        <p:txBody>
          <a:bodyPr wrap="square" lIns="0" tIns="0" rIns="0" bIns="0" rtlCol="0" anchor="t"/>
          <a:lstStyle/>
          <a:p>
            <a:pPr indent="0" marL="0">
              <a:buNone/>
            </a:pPr>
            <a:r>
              <a:rPr lang="en-US" sz="1450" dirty="0">
                <a:solidFill>
                  <a:srgbClr val="56657E"/>
                </a:solidFill>
                <a:latin typeface="Calibri" pitchFamily="34" charset="0"/>
                <a:ea typeface="Calibri" pitchFamily="34" charset="-122"/>
                <a:cs typeface="Calibri" pitchFamily="34" charset="-120"/>
              </a:rPr>
              <a:t>Mission 9: the keyword was in a file.</a:t>
            </a:r>
            <a:endParaRPr lang="en-US" sz="1450" dirty="0"/>
          </a:p>
        </p:txBody>
      </p:sp>
      <p:sp>
        <p:nvSpPr>
          <p:cNvPr id="18" name="Shape 15"/>
          <p:cNvSpPr/>
          <p:nvPr/>
        </p:nvSpPr>
        <p:spPr>
          <a:xfrm>
            <a:off x="4306824" y="4572000"/>
            <a:ext cx="3566160" cy="1371600"/>
          </a:xfrm>
          <a:prstGeom prst="roundRect">
            <a:avLst>
              <a:gd name="adj" fmla="val 6667"/>
            </a:avLst>
          </a:prstGeom>
          <a:solidFill>
            <a:srgbClr val="FFF4DC"/>
          </a:solidFill>
          <a:ln/>
        </p:spPr>
      </p:sp>
      <p:sp>
        <p:nvSpPr>
          <p:cNvPr id="19" name="Text 16"/>
          <p:cNvSpPr txBox="1"/>
          <p:nvPr/>
        </p:nvSpPr>
        <p:spPr>
          <a:xfrm>
            <a:off x="4581144" y="4681728"/>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Weak passwords</a:t>
            </a:r>
            <a:endParaRPr lang="en-US" sz="1800" dirty="0"/>
          </a:p>
        </p:txBody>
      </p:sp>
      <p:sp>
        <p:nvSpPr>
          <p:cNvPr id="20" name="Text 17"/>
          <p:cNvSpPr txBox="1"/>
          <p:nvPr/>
        </p:nvSpPr>
        <p:spPr>
          <a:xfrm>
            <a:off x="4581144" y="5120640"/>
            <a:ext cx="3108960" cy="731520"/>
          </a:xfrm>
          <a:prstGeom prst="rect">
            <a:avLst/>
          </a:prstGeom>
          <a:noFill/>
          <a:ln/>
        </p:spPr>
        <p:txBody>
          <a:bodyPr wrap="square" lIns="0" tIns="0" rIns="0" bIns="0" rtlCol="0" anchor="t"/>
          <a:lstStyle/>
          <a:p>
            <a:pPr indent="0" marL="0">
              <a:buNone/>
            </a:pPr>
            <a:r>
              <a:rPr lang="en-US" sz="1450" dirty="0">
                <a:solidFill>
                  <a:srgbClr val="56657E"/>
                </a:solidFill>
                <a:latin typeface="Calibri" pitchFamily="34" charset="0"/>
                <a:ea typeface="Calibri" pitchFamily="34" charset="-122"/>
                <a:cs typeface="Calibri" pitchFamily="34" charset="-120"/>
              </a:rPr>
              <a:t>Mission 10: a dictionary word, cracked in seconds.</a:t>
            </a:r>
            <a:endParaRPr lang="en-US" sz="1450" dirty="0"/>
          </a:p>
        </p:txBody>
      </p:sp>
      <p:sp>
        <p:nvSpPr>
          <p:cNvPr id="21" name="Shape 18"/>
          <p:cNvSpPr/>
          <p:nvPr/>
        </p:nvSpPr>
        <p:spPr>
          <a:xfrm>
            <a:off x="8065008" y="4572000"/>
            <a:ext cx="3566160" cy="1371600"/>
          </a:xfrm>
          <a:prstGeom prst="roundRect">
            <a:avLst>
              <a:gd name="adj" fmla="val 6667"/>
            </a:avLst>
          </a:prstGeom>
          <a:solidFill>
            <a:srgbClr val="FFF4DC"/>
          </a:solidFill>
          <a:ln/>
        </p:spPr>
      </p:sp>
      <p:sp>
        <p:nvSpPr>
          <p:cNvPr id="22" name="Text 19"/>
          <p:cNvSpPr txBox="1"/>
          <p:nvPr/>
        </p:nvSpPr>
        <p:spPr>
          <a:xfrm>
            <a:off x="8339328" y="4681728"/>
            <a:ext cx="3108960" cy="41148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Mistakes</a:t>
            </a:r>
            <a:endParaRPr lang="en-US" sz="1800" dirty="0"/>
          </a:p>
        </p:txBody>
      </p:sp>
      <p:sp>
        <p:nvSpPr>
          <p:cNvPr id="23" name="Text 20"/>
          <p:cNvSpPr txBox="1"/>
          <p:nvPr/>
        </p:nvSpPr>
        <p:spPr>
          <a:xfrm>
            <a:off x="8339328" y="5120640"/>
            <a:ext cx="3108960" cy="731520"/>
          </a:xfrm>
          <a:prstGeom prst="rect">
            <a:avLst/>
          </a:prstGeom>
          <a:noFill/>
          <a:ln/>
        </p:spPr>
        <p:txBody>
          <a:bodyPr wrap="square" lIns="0" tIns="0" rIns="0" bIns="0" rtlCol="0" anchor="t"/>
          <a:lstStyle/>
          <a:p>
            <a:pPr indent="0" marL="0">
              <a:buNone/>
            </a:pPr>
            <a:r>
              <a:rPr lang="en-US" sz="1450" dirty="0">
                <a:solidFill>
                  <a:srgbClr val="56657E"/>
                </a:solidFill>
                <a:latin typeface="Calibri" pitchFamily="34" charset="0"/>
                <a:ea typeface="Calibri" pitchFamily="34" charset="-122"/>
                <a:cs typeface="Calibri" pitchFamily="34" charset="-120"/>
              </a:rPr>
              <a:t>Encoding used as if it were encryption: Mission 1.</a:t>
            </a:r>
            <a:endParaRPr lang="en-US" sz="1450" dirty="0"/>
          </a:p>
        </p:txBody>
      </p:sp>
      <p:sp>
        <p:nvSpPr>
          <p:cNvPr id="24" name="Text 21"/>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35 / 61</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Your skill passport</a:t>
            </a:r>
            <a:endParaRPr lang="en-US" sz="3200" dirty="0"/>
          </a:p>
        </p:txBody>
      </p:sp>
      <p:sp>
        <p:nvSpPr>
          <p:cNvPr id="4" name="Shape 1"/>
          <p:cNvSpPr/>
          <p:nvPr/>
        </p:nvSpPr>
        <p:spPr>
          <a:xfrm>
            <a:off x="548640" y="1508760"/>
            <a:ext cx="1719072" cy="1298448"/>
          </a:xfrm>
          <a:prstGeom prst="roundRect">
            <a:avLst>
              <a:gd name="adj" fmla="val 8451"/>
            </a:avLst>
          </a:prstGeom>
          <a:solidFill>
            <a:srgbClr val="FFFFFF"/>
          </a:solidFill>
          <a:ln w="31750">
            <a:solidFill>
              <a:srgbClr val="17875A"/>
            </a:solidFill>
            <a:prstDash val="dash"/>
          </a:ln>
        </p:spPr>
      </p:sp>
      <p:sp>
        <p:nvSpPr>
          <p:cNvPr id="5" name="Text 2"/>
          <p:cNvSpPr txBox="1"/>
          <p:nvPr/>
        </p:nvSpPr>
        <p:spPr>
          <a:xfrm>
            <a:off x="594360" y="1691640"/>
            <a:ext cx="1627632" cy="548640"/>
          </a:xfrm>
          <a:prstGeom prst="rect">
            <a:avLst/>
          </a:prstGeom>
          <a:noFill/>
          <a:ln/>
        </p:spPr>
        <p:txBody>
          <a:bodyPr wrap="square" lIns="0" tIns="0" rIns="0" bIns="0" rtlCol="0" anchor="ctr"/>
          <a:lstStyle/>
          <a:p>
            <a:pPr algn="ctr" indent="0" marL="0">
              <a:buNone/>
            </a:pPr>
            <a:r>
              <a:rPr lang="en-US" sz="1800" b="1" dirty="0">
                <a:solidFill>
                  <a:srgbClr val="17875A"/>
                </a:solidFill>
                <a:latin typeface="Courier New" pitchFamily="34" charset="0"/>
                <a:ea typeface="Courier New" pitchFamily="34" charset="-122"/>
                <a:cs typeface="Courier New" pitchFamily="34" charset="-120"/>
              </a:rPr>
              <a:t>base64 -d</a:t>
            </a:r>
            <a:endParaRPr lang="en-US" sz="1800" dirty="0"/>
          </a:p>
        </p:txBody>
      </p:sp>
      <p:sp>
        <p:nvSpPr>
          <p:cNvPr id="6" name="Text 3"/>
          <p:cNvSpPr txBox="1"/>
          <p:nvPr/>
        </p:nvSpPr>
        <p:spPr>
          <a:xfrm>
            <a:off x="548640"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1</a:t>
            </a:r>
            <a:endParaRPr lang="en-US" sz="1200" dirty="0"/>
          </a:p>
        </p:txBody>
      </p:sp>
      <p:sp>
        <p:nvSpPr>
          <p:cNvPr id="7" name="Shape 4"/>
          <p:cNvSpPr/>
          <p:nvPr/>
        </p:nvSpPr>
        <p:spPr>
          <a:xfrm>
            <a:off x="2414016" y="1508760"/>
            <a:ext cx="1719072" cy="1298448"/>
          </a:xfrm>
          <a:prstGeom prst="roundRect">
            <a:avLst>
              <a:gd name="adj" fmla="val 8451"/>
            </a:avLst>
          </a:prstGeom>
          <a:solidFill>
            <a:srgbClr val="FFFFFF"/>
          </a:solidFill>
          <a:ln w="31750">
            <a:solidFill>
              <a:srgbClr val="2A9FD6"/>
            </a:solidFill>
            <a:prstDash val="dash"/>
          </a:ln>
        </p:spPr>
      </p:sp>
      <p:sp>
        <p:nvSpPr>
          <p:cNvPr id="8" name="Text 5"/>
          <p:cNvSpPr txBox="1"/>
          <p:nvPr/>
        </p:nvSpPr>
        <p:spPr>
          <a:xfrm>
            <a:off x="2459736" y="1691640"/>
            <a:ext cx="1627632" cy="548640"/>
          </a:xfrm>
          <a:prstGeom prst="rect">
            <a:avLst/>
          </a:prstGeom>
          <a:noFill/>
          <a:ln/>
        </p:spPr>
        <p:txBody>
          <a:bodyPr wrap="square" lIns="0" tIns="0" rIns="0" bIns="0" rtlCol="0" anchor="ctr"/>
          <a:lstStyle/>
          <a:p>
            <a:pPr algn="ctr" indent="0" marL="0">
              <a:buNone/>
            </a:pPr>
            <a:r>
              <a:rPr lang="en-US" sz="1800" b="1" dirty="0">
                <a:solidFill>
                  <a:srgbClr val="2A9FD6"/>
                </a:solidFill>
                <a:latin typeface="Courier New" pitchFamily="34" charset="0"/>
                <a:ea typeface="Courier New" pitchFamily="34" charset="-122"/>
                <a:cs typeface="Courier New" pitchFamily="34" charset="-120"/>
              </a:rPr>
              <a:t>xxd -r -p</a:t>
            </a:r>
            <a:endParaRPr lang="en-US" sz="1800" dirty="0"/>
          </a:p>
        </p:txBody>
      </p:sp>
      <p:sp>
        <p:nvSpPr>
          <p:cNvPr id="9" name="Text 6"/>
          <p:cNvSpPr txBox="1"/>
          <p:nvPr/>
        </p:nvSpPr>
        <p:spPr>
          <a:xfrm>
            <a:off x="2414016"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2</a:t>
            </a:r>
            <a:endParaRPr lang="en-US" sz="1200" dirty="0"/>
          </a:p>
        </p:txBody>
      </p:sp>
      <p:sp>
        <p:nvSpPr>
          <p:cNvPr id="10" name="Shape 7"/>
          <p:cNvSpPr/>
          <p:nvPr/>
        </p:nvSpPr>
        <p:spPr>
          <a:xfrm>
            <a:off x="4279392" y="1508760"/>
            <a:ext cx="1719072" cy="1298448"/>
          </a:xfrm>
          <a:prstGeom prst="roundRect">
            <a:avLst>
              <a:gd name="adj" fmla="val 8451"/>
            </a:avLst>
          </a:prstGeom>
          <a:solidFill>
            <a:srgbClr val="FFFFFF"/>
          </a:solidFill>
          <a:ln w="31750">
            <a:solidFill>
              <a:srgbClr val="2459D8"/>
            </a:solidFill>
            <a:prstDash val="dash"/>
          </a:ln>
        </p:spPr>
      </p:sp>
      <p:sp>
        <p:nvSpPr>
          <p:cNvPr id="11" name="Text 8"/>
          <p:cNvSpPr txBox="1"/>
          <p:nvPr/>
        </p:nvSpPr>
        <p:spPr>
          <a:xfrm>
            <a:off x="4325112" y="1691640"/>
            <a:ext cx="1627632" cy="548640"/>
          </a:xfrm>
          <a:prstGeom prst="rect">
            <a:avLst/>
          </a:prstGeom>
          <a:noFill/>
          <a:ln/>
        </p:spPr>
        <p:txBody>
          <a:bodyPr wrap="square" lIns="0" tIns="0" rIns="0" bIns="0" rtlCol="0" anchor="ctr"/>
          <a:lstStyle/>
          <a:p>
            <a:pPr algn="ctr" indent="0" marL="0">
              <a:buNone/>
            </a:pPr>
            <a:r>
              <a:rPr lang="en-US" sz="1800" b="1" dirty="0">
                <a:solidFill>
                  <a:srgbClr val="2459D8"/>
                </a:solidFill>
                <a:latin typeface="Courier New" pitchFamily="34" charset="0"/>
                <a:ea typeface="Courier New" pitchFamily="34" charset="-122"/>
                <a:cs typeface="Courier New" pitchFamily="34" charset="-120"/>
              </a:rPr>
              <a:t>tr</a:t>
            </a:r>
            <a:endParaRPr lang="en-US" sz="1800" dirty="0"/>
          </a:p>
        </p:txBody>
      </p:sp>
      <p:sp>
        <p:nvSpPr>
          <p:cNvPr id="12" name="Text 9"/>
          <p:cNvSpPr txBox="1"/>
          <p:nvPr/>
        </p:nvSpPr>
        <p:spPr>
          <a:xfrm>
            <a:off x="4279392"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3</a:t>
            </a:r>
            <a:endParaRPr lang="en-US" sz="1200" dirty="0"/>
          </a:p>
        </p:txBody>
      </p:sp>
      <p:sp>
        <p:nvSpPr>
          <p:cNvPr id="13" name="Shape 10"/>
          <p:cNvSpPr/>
          <p:nvPr/>
        </p:nvSpPr>
        <p:spPr>
          <a:xfrm>
            <a:off x="6144768" y="1508760"/>
            <a:ext cx="1719072" cy="1298448"/>
          </a:xfrm>
          <a:prstGeom prst="roundRect">
            <a:avLst>
              <a:gd name="adj" fmla="val 8451"/>
            </a:avLst>
          </a:prstGeom>
          <a:solidFill>
            <a:srgbClr val="FFFFFF"/>
          </a:solidFill>
          <a:ln w="31750">
            <a:solidFill>
              <a:srgbClr val="2459D8"/>
            </a:solidFill>
            <a:prstDash val="dash"/>
          </a:ln>
        </p:spPr>
      </p:sp>
      <p:sp>
        <p:nvSpPr>
          <p:cNvPr id="14" name="Text 11"/>
          <p:cNvSpPr txBox="1"/>
          <p:nvPr/>
        </p:nvSpPr>
        <p:spPr>
          <a:xfrm>
            <a:off x="6190488" y="1691640"/>
            <a:ext cx="1627632" cy="548640"/>
          </a:xfrm>
          <a:prstGeom prst="rect">
            <a:avLst/>
          </a:prstGeom>
          <a:noFill/>
          <a:ln/>
        </p:spPr>
        <p:txBody>
          <a:bodyPr wrap="square" lIns="0" tIns="0" rIns="0" bIns="0" rtlCol="0" anchor="ctr"/>
          <a:lstStyle/>
          <a:p>
            <a:pPr algn="ctr" indent="0" marL="0">
              <a:buNone/>
            </a:pPr>
            <a:r>
              <a:rPr lang="en-US" sz="1800" b="1" dirty="0">
                <a:solidFill>
                  <a:srgbClr val="2459D8"/>
                </a:solidFill>
                <a:latin typeface="Courier New" pitchFamily="34" charset="0"/>
                <a:ea typeface="Courier New" pitchFamily="34" charset="-122"/>
                <a:cs typeface="Courier New" pitchFamily="34" charset="-120"/>
              </a:rPr>
              <a:t>ROT13</a:t>
            </a:r>
            <a:endParaRPr lang="en-US" sz="1800" dirty="0"/>
          </a:p>
        </p:txBody>
      </p:sp>
      <p:sp>
        <p:nvSpPr>
          <p:cNvPr id="15" name="Text 12"/>
          <p:cNvSpPr txBox="1"/>
          <p:nvPr/>
        </p:nvSpPr>
        <p:spPr>
          <a:xfrm>
            <a:off x="6144768"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3</a:t>
            </a:r>
            <a:endParaRPr lang="en-US" sz="1200" dirty="0"/>
          </a:p>
        </p:txBody>
      </p:sp>
      <p:sp>
        <p:nvSpPr>
          <p:cNvPr id="16" name="Shape 13"/>
          <p:cNvSpPr/>
          <p:nvPr/>
        </p:nvSpPr>
        <p:spPr>
          <a:xfrm>
            <a:off x="8010144" y="1508760"/>
            <a:ext cx="1719072" cy="1298448"/>
          </a:xfrm>
          <a:prstGeom prst="roundRect">
            <a:avLst>
              <a:gd name="adj" fmla="val 8451"/>
            </a:avLst>
          </a:prstGeom>
          <a:solidFill>
            <a:srgbClr val="FFFFFF"/>
          </a:solidFill>
          <a:ln w="31750">
            <a:solidFill>
              <a:srgbClr val="7448D4"/>
            </a:solidFill>
            <a:prstDash val="dash"/>
          </a:ln>
        </p:spPr>
      </p:sp>
      <p:sp>
        <p:nvSpPr>
          <p:cNvPr id="17" name="Text 14"/>
          <p:cNvSpPr txBox="1"/>
          <p:nvPr/>
        </p:nvSpPr>
        <p:spPr>
          <a:xfrm>
            <a:off x="8055864" y="1691640"/>
            <a:ext cx="1627632" cy="548640"/>
          </a:xfrm>
          <a:prstGeom prst="rect">
            <a:avLst/>
          </a:prstGeom>
          <a:noFill/>
          <a:ln/>
        </p:spPr>
        <p:txBody>
          <a:bodyPr wrap="square" lIns="0" tIns="0" rIns="0" bIns="0" rtlCol="0" anchor="ctr"/>
          <a:lstStyle/>
          <a:p>
            <a:pPr algn="ctr" indent="0" marL="0">
              <a:buNone/>
            </a:pPr>
            <a:r>
              <a:rPr lang="en-US" sz="1300" b="1" dirty="0">
                <a:solidFill>
                  <a:srgbClr val="7448D4"/>
                </a:solidFill>
                <a:latin typeface="Courier New" pitchFamily="34" charset="0"/>
                <a:ea typeface="Courier New" pitchFamily="34" charset="-122"/>
                <a:cs typeface="Courier New" pitchFamily="34" charset="-120"/>
              </a:rPr>
              <a:t>brute force</a:t>
            </a:r>
            <a:endParaRPr lang="en-US" sz="1300" dirty="0"/>
          </a:p>
        </p:txBody>
      </p:sp>
      <p:sp>
        <p:nvSpPr>
          <p:cNvPr id="18" name="Text 15"/>
          <p:cNvSpPr txBox="1"/>
          <p:nvPr/>
        </p:nvSpPr>
        <p:spPr>
          <a:xfrm>
            <a:off x="8010144"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4</a:t>
            </a:r>
            <a:endParaRPr lang="en-US" sz="1200" dirty="0"/>
          </a:p>
        </p:txBody>
      </p:sp>
      <p:sp>
        <p:nvSpPr>
          <p:cNvPr id="19" name="Shape 16"/>
          <p:cNvSpPr/>
          <p:nvPr/>
        </p:nvSpPr>
        <p:spPr>
          <a:xfrm>
            <a:off x="9875520" y="1508760"/>
            <a:ext cx="1719072" cy="1298448"/>
          </a:xfrm>
          <a:prstGeom prst="roundRect">
            <a:avLst>
              <a:gd name="adj" fmla="val 8451"/>
            </a:avLst>
          </a:prstGeom>
          <a:solidFill>
            <a:srgbClr val="FFFFFF"/>
          </a:solidFill>
          <a:ln w="31750">
            <a:solidFill>
              <a:srgbClr val="7448D4"/>
            </a:solidFill>
            <a:prstDash val="dash"/>
          </a:ln>
        </p:spPr>
      </p:sp>
      <p:sp>
        <p:nvSpPr>
          <p:cNvPr id="20" name="Text 17"/>
          <p:cNvSpPr txBox="1"/>
          <p:nvPr/>
        </p:nvSpPr>
        <p:spPr>
          <a:xfrm>
            <a:off x="9921240" y="1691640"/>
            <a:ext cx="1627632" cy="548640"/>
          </a:xfrm>
          <a:prstGeom prst="rect">
            <a:avLst/>
          </a:prstGeom>
          <a:noFill/>
          <a:ln/>
        </p:spPr>
        <p:txBody>
          <a:bodyPr wrap="square" lIns="0" tIns="0" rIns="0" bIns="0" rtlCol="0" anchor="ctr"/>
          <a:lstStyle/>
          <a:p>
            <a:pPr algn="ctr" indent="0" marL="0">
              <a:buNone/>
            </a:pPr>
            <a:r>
              <a:rPr lang="en-US" sz="1800" b="1" dirty="0">
                <a:solidFill>
                  <a:srgbClr val="7448D4"/>
                </a:solidFill>
                <a:latin typeface="Courier New" pitchFamily="34" charset="0"/>
                <a:ea typeface="Courier New" pitchFamily="34" charset="-122"/>
                <a:cs typeface="Courier New" pitchFamily="34" charset="-120"/>
              </a:rPr>
              <a:t>grep CYBA</a:t>
            </a:r>
            <a:endParaRPr lang="en-US" sz="1800" dirty="0"/>
          </a:p>
        </p:txBody>
      </p:sp>
      <p:sp>
        <p:nvSpPr>
          <p:cNvPr id="21" name="Text 18"/>
          <p:cNvSpPr txBox="1"/>
          <p:nvPr/>
        </p:nvSpPr>
        <p:spPr>
          <a:xfrm>
            <a:off x="9875520" y="231343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4</a:t>
            </a:r>
            <a:endParaRPr lang="en-US" sz="1200" dirty="0"/>
          </a:p>
        </p:txBody>
      </p:sp>
      <p:sp>
        <p:nvSpPr>
          <p:cNvPr id="22" name="Shape 19"/>
          <p:cNvSpPr/>
          <p:nvPr/>
        </p:nvSpPr>
        <p:spPr>
          <a:xfrm>
            <a:off x="548640" y="2971800"/>
            <a:ext cx="1719072" cy="1298448"/>
          </a:xfrm>
          <a:prstGeom prst="roundRect">
            <a:avLst>
              <a:gd name="adj" fmla="val 8451"/>
            </a:avLst>
          </a:prstGeom>
          <a:solidFill>
            <a:srgbClr val="FFFFFF"/>
          </a:solidFill>
          <a:ln w="31750">
            <a:solidFill>
              <a:srgbClr val="D1416B"/>
            </a:solidFill>
            <a:prstDash val="dash"/>
          </a:ln>
        </p:spPr>
      </p:sp>
      <p:sp>
        <p:nvSpPr>
          <p:cNvPr id="23" name="Text 20"/>
          <p:cNvSpPr txBox="1"/>
          <p:nvPr/>
        </p:nvSpPr>
        <p:spPr>
          <a:xfrm>
            <a:off x="594360" y="3154680"/>
            <a:ext cx="1627632" cy="548640"/>
          </a:xfrm>
          <a:prstGeom prst="rect">
            <a:avLst/>
          </a:prstGeom>
          <a:noFill/>
          <a:ln/>
        </p:spPr>
        <p:txBody>
          <a:bodyPr wrap="square" lIns="0" tIns="0" rIns="0" bIns="0" rtlCol="0" anchor="ctr"/>
          <a:lstStyle/>
          <a:p>
            <a:pPr algn="ctr" indent="0" marL="0">
              <a:buNone/>
            </a:pPr>
            <a:r>
              <a:rPr lang="en-US" sz="1800" b="1" dirty="0">
                <a:solidFill>
                  <a:srgbClr val="D1416B"/>
                </a:solidFill>
                <a:latin typeface="Courier New" pitchFamily="34" charset="0"/>
                <a:ea typeface="Courier New" pitchFamily="34" charset="-122"/>
                <a:cs typeface="Courier New" pitchFamily="34" charset="-120"/>
              </a:rPr>
              <a:t>Atbash</a:t>
            </a:r>
            <a:endParaRPr lang="en-US" sz="1800" dirty="0"/>
          </a:p>
        </p:txBody>
      </p:sp>
      <p:sp>
        <p:nvSpPr>
          <p:cNvPr id="24" name="Text 21"/>
          <p:cNvSpPr txBox="1"/>
          <p:nvPr/>
        </p:nvSpPr>
        <p:spPr>
          <a:xfrm>
            <a:off x="548640"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5</a:t>
            </a:r>
            <a:endParaRPr lang="en-US" sz="1200" dirty="0"/>
          </a:p>
        </p:txBody>
      </p:sp>
      <p:sp>
        <p:nvSpPr>
          <p:cNvPr id="25" name="Shape 22"/>
          <p:cNvSpPr/>
          <p:nvPr/>
        </p:nvSpPr>
        <p:spPr>
          <a:xfrm>
            <a:off x="2414016" y="2971800"/>
            <a:ext cx="1719072" cy="1298448"/>
          </a:xfrm>
          <a:prstGeom prst="roundRect">
            <a:avLst>
              <a:gd name="adj" fmla="val 8451"/>
            </a:avLst>
          </a:prstGeom>
          <a:solidFill>
            <a:srgbClr val="FFFFFF"/>
          </a:solidFill>
          <a:ln w="31750">
            <a:solidFill>
              <a:srgbClr val="E8820C"/>
            </a:solidFill>
            <a:prstDash val="dash"/>
          </a:ln>
        </p:spPr>
      </p:sp>
      <p:sp>
        <p:nvSpPr>
          <p:cNvPr id="26" name="Text 23"/>
          <p:cNvSpPr txBox="1"/>
          <p:nvPr/>
        </p:nvSpPr>
        <p:spPr>
          <a:xfrm>
            <a:off x="2459736" y="3154680"/>
            <a:ext cx="1627632" cy="548640"/>
          </a:xfrm>
          <a:prstGeom prst="rect">
            <a:avLst/>
          </a:prstGeom>
          <a:noFill/>
          <a:ln/>
        </p:spPr>
        <p:txBody>
          <a:bodyPr wrap="square" lIns="0" tIns="0" rIns="0" bIns="0" rtlCol="0" anchor="ctr"/>
          <a:lstStyle/>
          <a:p>
            <a:pPr algn="ctr" indent="0" marL="0">
              <a:buNone/>
            </a:pPr>
            <a:r>
              <a:rPr lang="en-US" sz="1800" b="1" dirty="0">
                <a:solidFill>
                  <a:srgbClr val="E8820C"/>
                </a:solidFill>
                <a:latin typeface="Courier New" pitchFamily="34" charset="0"/>
                <a:ea typeface="Courier New" pitchFamily="34" charset="-122"/>
                <a:cs typeface="Courier New" pitchFamily="34" charset="-120"/>
              </a:rPr>
              <a:t>morse</a:t>
            </a:r>
            <a:endParaRPr lang="en-US" sz="1800" dirty="0"/>
          </a:p>
        </p:txBody>
      </p:sp>
      <p:sp>
        <p:nvSpPr>
          <p:cNvPr id="27" name="Text 24"/>
          <p:cNvSpPr txBox="1"/>
          <p:nvPr/>
        </p:nvSpPr>
        <p:spPr>
          <a:xfrm>
            <a:off x="2414016"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6</a:t>
            </a:r>
            <a:endParaRPr lang="en-US" sz="1200" dirty="0"/>
          </a:p>
        </p:txBody>
      </p:sp>
      <p:sp>
        <p:nvSpPr>
          <p:cNvPr id="28" name="Shape 25"/>
          <p:cNvSpPr/>
          <p:nvPr/>
        </p:nvSpPr>
        <p:spPr>
          <a:xfrm>
            <a:off x="4279392" y="2971800"/>
            <a:ext cx="1719072" cy="1298448"/>
          </a:xfrm>
          <a:prstGeom prst="roundRect">
            <a:avLst>
              <a:gd name="adj" fmla="val 8451"/>
            </a:avLst>
          </a:prstGeom>
          <a:solidFill>
            <a:srgbClr val="FFFFFF"/>
          </a:solidFill>
          <a:ln w="31750">
            <a:solidFill>
              <a:srgbClr val="E8820C"/>
            </a:solidFill>
            <a:prstDash val="dash"/>
          </a:ln>
        </p:spPr>
      </p:sp>
      <p:sp>
        <p:nvSpPr>
          <p:cNvPr id="29" name="Text 26"/>
          <p:cNvSpPr txBox="1"/>
          <p:nvPr/>
        </p:nvSpPr>
        <p:spPr>
          <a:xfrm>
            <a:off x="4325112" y="3154680"/>
            <a:ext cx="1627632" cy="548640"/>
          </a:xfrm>
          <a:prstGeom prst="rect">
            <a:avLst/>
          </a:prstGeom>
          <a:noFill/>
          <a:ln/>
        </p:spPr>
        <p:txBody>
          <a:bodyPr wrap="square" lIns="0" tIns="0" rIns="0" bIns="0" rtlCol="0" anchor="ctr"/>
          <a:lstStyle/>
          <a:p>
            <a:pPr algn="ctr" indent="0" marL="0">
              <a:buNone/>
            </a:pPr>
            <a:r>
              <a:rPr lang="en-US" sz="1300" b="1" dirty="0">
                <a:solidFill>
                  <a:srgbClr val="E8820C"/>
                </a:solidFill>
                <a:latin typeface="Courier New" pitchFamily="34" charset="0"/>
                <a:ea typeface="Courier New" pitchFamily="34" charset="-122"/>
                <a:cs typeface="Courier New" pitchFamily="34" charset="-120"/>
              </a:rPr>
              <a:t>read the brief</a:t>
            </a:r>
            <a:endParaRPr lang="en-US" sz="1300" dirty="0"/>
          </a:p>
        </p:txBody>
      </p:sp>
      <p:sp>
        <p:nvSpPr>
          <p:cNvPr id="30" name="Text 27"/>
          <p:cNvSpPr txBox="1"/>
          <p:nvPr/>
        </p:nvSpPr>
        <p:spPr>
          <a:xfrm>
            <a:off x="4279392"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6</a:t>
            </a:r>
            <a:endParaRPr lang="en-US" sz="1200" dirty="0"/>
          </a:p>
        </p:txBody>
      </p:sp>
      <p:sp>
        <p:nvSpPr>
          <p:cNvPr id="31" name="Shape 28"/>
          <p:cNvSpPr/>
          <p:nvPr/>
        </p:nvSpPr>
        <p:spPr>
          <a:xfrm>
            <a:off x="6144768" y="2971800"/>
            <a:ext cx="1719072" cy="1298448"/>
          </a:xfrm>
          <a:prstGeom prst="roundRect">
            <a:avLst>
              <a:gd name="adj" fmla="val 8451"/>
            </a:avLst>
          </a:prstGeom>
          <a:solidFill>
            <a:srgbClr val="FFFFFF"/>
          </a:solidFill>
          <a:ln w="31750">
            <a:solidFill>
              <a:srgbClr val="C9A227"/>
            </a:solidFill>
            <a:prstDash val="dash"/>
          </a:ln>
        </p:spPr>
      </p:sp>
      <p:sp>
        <p:nvSpPr>
          <p:cNvPr id="32" name="Text 29"/>
          <p:cNvSpPr txBox="1"/>
          <p:nvPr/>
        </p:nvSpPr>
        <p:spPr>
          <a:xfrm>
            <a:off x="6190488" y="3154680"/>
            <a:ext cx="1627632" cy="548640"/>
          </a:xfrm>
          <a:prstGeom prst="rect">
            <a:avLst/>
          </a:prstGeom>
          <a:noFill/>
          <a:ln/>
        </p:spPr>
        <p:txBody>
          <a:bodyPr wrap="square" lIns="0" tIns="0" rIns="0" bIns="0" rtlCol="0" anchor="ctr"/>
          <a:lstStyle/>
          <a:p>
            <a:pPr algn="ctr" indent="0" marL="0">
              <a:buNone/>
            </a:pPr>
            <a:r>
              <a:rPr lang="en-US" sz="1800" b="1" dirty="0">
                <a:solidFill>
                  <a:srgbClr val="C9A227"/>
                </a:solidFill>
                <a:latin typeface="Courier New" pitchFamily="34" charset="0"/>
                <a:ea typeface="Courier New" pitchFamily="34" charset="-122"/>
                <a:cs typeface="Courier New" pitchFamily="34" charset="-120"/>
              </a:rPr>
              <a:t>sha256sum</a:t>
            </a:r>
            <a:endParaRPr lang="en-US" sz="1800" dirty="0"/>
          </a:p>
        </p:txBody>
      </p:sp>
      <p:sp>
        <p:nvSpPr>
          <p:cNvPr id="33" name="Text 30"/>
          <p:cNvSpPr txBox="1"/>
          <p:nvPr/>
        </p:nvSpPr>
        <p:spPr>
          <a:xfrm>
            <a:off x="6144768"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7</a:t>
            </a:r>
            <a:endParaRPr lang="en-US" sz="1200" dirty="0"/>
          </a:p>
        </p:txBody>
      </p:sp>
      <p:sp>
        <p:nvSpPr>
          <p:cNvPr id="34" name="Shape 31"/>
          <p:cNvSpPr/>
          <p:nvPr/>
        </p:nvSpPr>
        <p:spPr>
          <a:xfrm>
            <a:off x="8010144" y="2971800"/>
            <a:ext cx="1719072" cy="1298448"/>
          </a:xfrm>
          <a:prstGeom prst="roundRect">
            <a:avLst>
              <a:gd name="adj" fmla="val 8451"/>
            </a:avLst>
          </a:prstGeom>
          <a:solidFill>
            <a:srgbClr val="FFFFFF"/>
          </a:solidFill>
          <a:ln w="31750">
            <a:solidFill>
              <a:srgbClr val="C9A227"/>
            </a:solidFill>
            <a:prstDash val="dash"/>
          </a:ln>
        </p:spPr>
      </p:sp>
      <p:sp>
        <p:nvSpPr>
          <p:cNvPr id="35" name="Text 32"/>
          <p:cNvSpPr txBox="1"/>
          <p:nvPr/>
        </p:nvSpPr>
        <p:spPr>
          <a:xfrm>
            <a:off x="8055864" y="3154680"/>
            <a:ext cx="1627632" cy="548640"/>
          </a:xfrm>
          <a:prstGeom prst="rect">
            <a:avLst/>
          </a:prstGeom>
          <a:noFill/>
          <a:ln/>
        </p:spPr>
        <p:txBody>
          <a:bodyPr wrap="square" lIns="0" tIns="0" rIns="0" bIns="0" rtlCol="0" anchor="ctr"/>
          <a:lstStyle/>
          <a:p>
            <a:pPr algn="ctr" indent="0" marL="0">
              <a:buNone/>
            </a:pPr>
            <a:r>
              <a:rPr lang="en-US" sz="1300" b="1" dirty="0">
                <a:solidFill>
                  <a:srgbClr val="C9A227"/>
                </a:solidFill>
                <a:latin typeface="Courier New" pitchFamily="34" charset="0"/>
                <a:ea typeface="Courier New" pitchFamily="34" charset="-122"/>
                <a:cs typeface="Courier New" pitchFamily="34" charset="-120"/>
              </a:rPr>
              <a:t>wordlist attack</a:t>
            </a:r>
            <a:endParaRPr lang="en-US" sz="1300" dirty="0"/>
          </a:p>
        </p:txBody>
      </p:sp>
      <p:sp>
        <p:nvSpPr>
          <p:cNvPr id="36" name="Text 33"/>
          <p:cNvSpPr txBox="1"/>
          <p:nvPr/>
        </p:nvSpPr>
        <p:spPr>
          <a:xfrm>
            <a:off x="8010144"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7</a:t>
            </a:r>
            <a:endParaRPr lang="en-US" sz="1200" dirty="0"/>
          </a:p>
        </p:txBody>
      </p:sp>
      <p:sp>
        <p:nvSpPr>
          <p:cNvPr id="37" name="Shape 34"/>
          <p:cNvSpPr/>
          <p:nvPr/>
        </p:nvSpPr>
        <p:spPr>
          <a:xfrm>
            <a:off x="9875520" y="2971800"/>
            <a:ext cx="1719072" cy="1298448"/>
          </a:xfrm>
          <a:prstGeom prst="roundRect">
            <a:avLst>
              <a:gd name="adj" fmla="val 8451"/>
            </a:avLst>
          </a:prstGeom>
          <a:solidFill>
            <a:srgbClr val="FFFFFF"/>
          </a:solidFill>
          <a:ln w="31750">
            <a:solidFill>
              <a:srgbClr val="0F9488"/>
            </a:solidFill>
            <a:prstDash val="dash"/>
          </a:ln>
        </p:spPr>
      </p:sp>
      <p:sp>
        <p:nvSpPr>
          <p:cNvPr id="38" name="Text 35"/>
          <p:cNvSpPr txBox="1"/>
          <p:nvPr/>
        </p:nvSpPr>
        <p:spPr>
          <a:xfrm>
            <a:off x="9921240" y="3154680"/>
            <a:ext cx="1627632" cy="548640"/>
          </a:xfrm>
          <a:prstGeom prst="rect">
            <a:avLst/>
          </a:prstGeom>
          <a:noFill/>
          <a:ln/>
        </p:spPr>
        <p:txBody>
          <a:bodyPr wrap="square" lIns="0" tIns="0" rIns="0" bIns="0" rtlCol="0" anchor="ctr"/>
          <a:lstStyle/>
          <a:p>
            <a:pPr algn="ctr" indent="0" marL="0">
              <a:buNone/>
            </a:pPr>
            <a:r>
              <a:rPr lang="en-US" sz="1800" b="1" dirty="0">
                <a:solidFill>
                  <a:srgbClr val="0F9488"/>
                </a:solidFill>
                <a:latin typeface="Courier New" pitchFamily="34" charset="0"/>
                <a:ea typeface="Courier New" pitchFamily="34" charset="-122"/>
                <a:cs typeface="Courier New" pitchFamily="34" charset="-120"/>
              </a:rPr>
              <a:t>XOR</a:t>
            </a:r>
            <a:endParaRPr lang="en-US" sz="1800" dirty="0"/>
          </a:p>
        </p:txBody>
      </p:sp>
      <p:sp>
        <p:nvSpPr>
          <p:cNvPr id="39" name="Text 36"/>
          <p:cNvSpPr txBox="1"/>
          <p:nvPr/>
        </p:nvSpPr>
        <p:spPr>
          <a:xfrm>
            <a:off x="9875520" y="377647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8</a:t>
            </a:r>
            <a:endParaRPr lang="en-US" sz="1200" dirty="0"/>
          </a:p>
        </p:txBody>
      </p:sp>
      <p:sp>
        <p:nvSpPr>
          <p:cNvPr id="40" name="Shape 37"/>
          <p:cNvSpPr/>
          <p:nvPr/>
        </p:nvSpPr>
        <p:spPr>
          <a:xfrm>
            <a:off x="548640" y="4434840"/>
            <a:ext cx="1719072" cy="1298448"/>
          </a:xfrm>
          <a:prstGeom prst="roundRect">
            <a:avLst>
              <a:gd name="adj" fmla="val 8451"/>
            </a:avLst>
          </a:prstGeom>
          <a:solidFill>
            <a:srgbClr val="FFFFFF"/>
          </a:solidFill>
          <a:ln w="31750">
            <a:solidFill>
              <a:srgbClr val="5B6EE1"/>
            </a:solidFill>
            <a:prstDash val="dash"/>
          </a:ln>
        </p:spPr>
      </p:sp>
      <p:sp>
        <p:nvSpPr>
          <p:cNvPr id="41" name="Text 38"/>
          <p:cNvSpPr txBox="1"/>
          <p:nvPr/>
        </p:nvSpPr>
        <p:spPr>
          <a:xfrm>
            <a:off x="594360" y="4617720"/>
            <a:ext cx="1627632" cy="548640"/>
          </a:xfrm>
          <a:prstGeom prst="rect">
            <a:avLst/>
          </a:prstGeom>
          <a:noFill/>
          <a:ln/>
        </p:spPr>
        <p:txBody>
          <a:bodyPr wrap="square" lIns="0" tIns="0" rIns="0" bIns="0" rtlCol="0" anchor="ctr"/>
          <a:lstStyle/>
          <a:p>
            <a:pPr algn="ctr" indent="0" marL="0">
              <a:buNone/>
            </a:pPr>
            <a:r>
              <a:rPr lang="en-US" sz="1800" b="1" dirty="0">
                <a:solidFill>
                  <a:srgbClr val="5B6EE1"/>
                </a:solidFill>
                <a:latin typeface="Courier New" pitchFamily="34" charset="0"/>
                <a:ea typeface="Courier New" pitchFamily="34" charset="-122"/>
                <a:cs typeface="Courier New" pitchFamily="34" charset="-120"/>
              </a:rPr>
              <a:t>Vigenère</a:t>
            </a:r>
            <a:endParaRPr lang="en-US" sz="1800" dirty="0"/>
          </a:p>
        </p:txBody>
      </p:sp>
      <p:sp>
        <p:nvSpPr>
          <p:cNvPr id="42" name="Text 39"/>
          <p:cNvSpPr txBox="1"/>
          <p:nvPr/>
        </p:nvSpPr>
        <p:spPr>
          <a:xfrm>
            <a:off x="548640"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9</a:t>
            </a:r>
            <a:endParaRPr lang="en-US" sz="1200" dirty="0"/>
          </a:p>
        </p:txBody>
      </p:sp>
      <p:sp>
        <p:nvSpPr>
          <p:cNvPr id="43" name="Shape 40"/>
          <p:cNvSpPr/>
          <p:nvPr/>
        </p:nvSpPr>
        <p:spPr>
          <a:xfrm>
            <a:off x="2414016" y="4434840"/>
            <a:ext cx="1719072" cy="1298448"/>
          </a:xfrm>
          <a:prstGeom prst="roundRect">
            <a:avLst>
              <a:gd name="adj" fmla="val 8451"/>
            </a:avLst>
          </a:prstGeom>
          <a:solidFill>
            <a:srgbClr val="FFFFFF"/>
          </a:solidFill>
          <a:ln w="31750">
            <a:solidFill>
              <a:srgbClr val="5B6EE1"/>
            </a:solidFill>
            <a:prstDash val="dash"/>
          </a:ln>
        </p:spPr>
      </p:sp>
      <p:sp>
        <p:nvSpPr>
          <p:cNvPr id="44" name="Text 41"/>
          <p:cNvSpPr txBox="1"/>
          <p:nvPr/>
        </p:nvSpPr>
        <p:spPr>
          <a:xfrm>
            <a:off x="2459736" y="4617720"/>
            <a:ext cx="1627632" cy="548640"/>
          </a:xfrm>
          <a:prstGeom prst="rect">
            <a:avLst/>
          </a:prstGeom>
          <a:noFill/>
          <a:ln/>
        </p:spPr>
        <p:txBody>
          <a:bodyPr wrap="square" lIns="0" tIns="0" rIns="0" bIns="0" rtlCol="0" anchor="ctr"/>
          <a:lstStyle/>
          <a:p>
            <a:pPr algn="ctr" indent="0" marL="0">
              <a:buNone/>
            </a:pPr>
            <a:r>
              <a:rPr lang="en-US" sz="1300" b="1" dirty="0">
                <a:solidFill>
                  <a:srgbClr val="5B6EE1"/>
                </a:solidFill>
                <a:latin typeface="Courier New" pitchFamily="34" charset="0"/>
                <a:ea typeface="Courier New" pitchFamily="34" charset="-122"/>
                <a:cs typeface="Courier New" pitchFamily="34" charset="-120"/>
              </a:rPr>
              <a:t>find the key</a:t>
            </a:r>
            <a:endParaRPr lang="en-US" sz="1300" dirty="0"/>
          </a:p>
        </p:txBody>
      </p:sp>
      <p:sp>
        <p:nvSpPr>
          <p:cNvPr id="45" name="Text 42"/>
          <p:cNvSpPr txBox="1"/>
          <p:nvPr/>
        </p:nvSpPr>
        <p:spPr>
          <a:xfrm>
            <a:off x="2414016"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9</a:t>
            </a:r>
            <a:endParaRPr lang="en-US" sz="1200" dirty="0"/>
          </a:p>
        </p:txBody>
      </p:sp>
      <p:sp>
        <p:nvSpPr>
          <p:cNvPr id="46" name="Shape 43"/>
          <p:cNvSpPr/>
          <p:nvPr/>
        </p:nvSpPr>
        <p:spPr>
          <a:xfrm>
            <a:off x="4279392" y="4434840"/>
            <a:ext cx="1719072" cy="1298448"/>
          </a:xfrm>
          <a:prstGeom prst="roundRect">
            <a:avLst>
              <a:gd name="adj" fmla="val 8451"/>
            </a:avLst>
          </a:prstGeom>
          <a:solidFill>
            <a:srgbClr val="FFFFFF"/>
          </a:solidFill>
          <a:ln w="31750">
            <a:solidFill>
              <a:srgbClr val="B4233F"/>
            </a:solidFill>
            <a:prstDash val="dash"/>
          </a:ln>
        </p:spPr>
      </p:sp>
      <p:sp>
        <p:nvSpPr>
          <p:cNvPr id="47" name="Text 44"/>
          <p:cNvSpPr txBox="1"/>
          <p:nvPr/>
        </p:nvSpPr>
        <p:spPr>
          <a:xfrm>
            <a:off x="4325112" y="4617720"/>
            <a:ext cx="1627632" cy="548640"/>
          </a:xfrm>
          <a:prstGeom prst="rect">
            <a:avLst/>
          </a:prstGeom>
          <a:noFill/>
          <a:ln/>
        </p:spPr>
        <p:txBody>
          <a:bodyPr wrap="square" lIns="0" tIns="0" rIns="0" bIns="0" rtlCol="0" anchor="ctr"/>
          <a:lstStyle/>
          <a:p>
            <a:pPr algn="ctr" indent="0" marL="0">
              <a:buNone/>
            </a:pPr>
            <a:r>
              <a:rPr lang="en-US" sz="1800" b="1" dirty="0">
                <a:solidFill>
                  <a:srgbClr val="B4233F"/>
                </a:solidFill>
                <a:latin typeface="Courier New" pitchFamily="34" charset="0"/>
                <a:ea typeface="Courier New" pitchFamily="34" charset="-122"/>
                <a:cs typeface="Courier New" pitchFamily="34" charset="-120"/>
              </a:rPr>
              <a:t>|  layers</a:t>
            </a:r>
            <a:endParaRPr lang="en-US" sz="1800" dirty="0"/>
          </a:p>
        </p:txBody>
      </p:sp>
      <p:sp>
        <p:nvSpPr>
          <p:cNvPr id="48" name="Text 45"/>
          <p:cNvSpPr txBox="1"/>
          <p:nvPr/>
        </p:nvSpPr>
        <p:spPr>
          <a:xfrm>
            <a:off x="4279392"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Mission 10</a:t>
            </a:r>
            <a:endParaRPr lang="en-US" sz="1200" dirty="0"/>
          </a:p>
        </p:txBody>
      </p:sp>
      <p:sp>
        <p:nvSpPr>
          <p:cNvPr id="49" name="Shape 46"/>
          <p:cNvSpPr/>
          <p:nvPr/>
        </p:nvSpPr>
        <p:spPr>
          <a:xfrm>
            <a:off x="6144768" y="4434840"/>
            <a:ext cx="1719072" cy="1298448"/>
          </a:xfrm>
          <a:prstGeom prst="roundRect">
            <a:avLst>
              <a:gd name="adj" fmla="val 8451"/>
            </a:avLst>
          </a:prstGeom>
          <a:solidFill>
            <a:srgbClr val="FFFFFF"/>
          </a:solidFill>
          <a:ln w="31750">
            <a:solidFill>
              <a:srgbClr val="56657E"/>
            </a:solidFill>
            <a:prstDash val="dash"/>
          </a:ln>
        </p:spPr>
      </p:sp>
      <p:sp>
        <p:nvSpPr>
          <p:cNvPr id="50" name="Text 47"/>
          <p:cNvSpPr txBox="1"/>
          <p:nvPr/>
        </p:nvSpPr>
        <p:spPr>
          <a:xfrm>
            <a:off x="6190488" y="4617720"/>
            <a:ext cx="1627632" cy="54864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identify</a:t>
            </a:r>
            <a:endParaRPr lang="en-US" sz="1800" dirty="0"/>
          </a:p>
        </p:txBody>
      </p:sp>
      <p:sp>
        <p:nvSpPr>
          <p:cNvPr id="51" name="Text 48"/>
          <p:cNvSpPr txBox="1"/>
          <p:nvPr/>
        </p:nvSpPr>
        <p:spPr>
          <a:xfrm>
            <a:off x="6144768"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Every mission</a:t>
            </a:r>
            <a:endParaRPr lang="en-US" sz="1200" dirty="0"/>
          </a:p>
        </p:txBody>
      </p:sp>
      <p:sp>
        <p:nvSpPr>
          <p:cNvPr id="52" name="Shape 49"/>
          <p:cNvSpPr/>
          <p:nvPr/>
        </p:nvSpPr>
        <p:spPr>
          <a:xfrm>
            <a:off x="8010144" y="4434840"/>
            <a:ext cx="1719072" cy="1298448"/>
          </a:xfrm>
          <a:prstGeom prst="roundRect">
            <a:avLst>
              <a:gd name="adj" fmla="val 8451"/>
            </a:avLst>
          </a:prstGeom>
          <a:solidFill>
            <a:srgbClr val="FFFFFF"/>
          </a:solidFill>
          <a:ln w="31750">
            <a:solidFill>
              <a:srgbClr val="56657E"/>
            </a:solidFill>
            <a:prstDash val="dash"/>
          </a:ln>
        </p:spPr>
      </p:sp>
      <p:sp>
        <p:nvSpPr>
          <p:cNvPr id="53" name="Text 50"/>
          <p:cNvSpPr txBox="1"/>
          <p:nvPr/>
        </p:nvSpPr>
        <p:spPr>
          <a:xfrm>
            <a:off x="8055864" y="4617720"/>
            <a:ext cx="1627632" cy="548640"/>
          </a:xfrm>
          <a:prstGeom prst="rect">
            <a:avLst/>
          </a:prstGeom>
          <a:noFill/>
          <a:ln/>
        </p:spPr>
        <p:txBody>
          <a:bodyPr wrap="square" lIns="0" tIns="0" rIns="0" bIns="0" rtlCol="0" anchor="ctr"/>
          <a:lstStyle/>
          <a:p>
            <a:pPr algn="ctr" indent="0" marL="0">
              <a:buNone/>
            </a:pPr>
            <a:r>
              <a:rPr lang="en-US" sz="1800" b="1" dirty="0">
                <a:solidFill>
                  <a:srgbClr val="56657E"/>
                </a:solidFill>
                <a:latin typeface="Courier New" pitchFamily="34" charset="0"/>
                <a:ea typeface="Courier New" pitchFamily="34" charset="-122"/>
                <a:cs typeface="Courier New" pitchFamily="34" charset="-120"/>
              </a:rPr>
              <a:t>--help</a:t>
            </a:r>
            <a:endParaRPr lang="en-US" sz="1800" dirty="0"/>
          </a:p>
        </p:txBody>
      </p:sp>
      <p:sp>
        <p:nvSpPr>
          <p:cNvPr id="54" name="Text 51"/>
          <p:cNvSpPr txBox="1"/>
          <p:nvPr/>
        </p:nvSpPr>
        <p:spPr>
          <a:xfrm>
            <a:off x="8010144"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Every mission</a:t>
            </a:r>
            <a:endParaRPr lang="en-US" sz="1200" dirty="0"/>
          </a:p>
        </p:txBody>
      </p:sp>
      <p:sp>
        <p:nvSpPr>
          <p:cNvPr id="55" name="Shape 52"/>
          <p:cNvSpPr/>
          <p:nvPr/>
        </p:nvSpPr>
        <p:spPr>
          <a:xfrm>
            <a:off x="9875520" y="4434840"/>
            <a:ext cx="1719072" cy="1298448"/>
          </a:xfrm>
          <a:prstGeom prst="roundRect">
            <a:avLst>
              <a:gd name="adj" fmla="val 8451"/>
            </a:avLst>
          </a:prstGeom>
          <a:solidFill>
            <a:srgbClr val="FFFFFF"/>
          </a:solidFill>
          <a:ln w="31750">
            <a:solidFill>
              <a:srgbClr val="56657E"/>
            </a:solidFill>
            <a:prstDash val="dash"/>
          </a:ln>
        </p:spPr>
      </p:sp>
      <p:sp>
        <p:nvSpPr>
          <p:cNvPr id="56" name="Text 53"/>
          <p:cNvSpPr txBox="1"/>
          <p:nvPr/>
        </p:nvSpPr>
        <p:spPr>
          <a:xfrm>
            <a:off x="9921240" y="4617720"/>
            <a:ext cx="1627632" cy="548640"/>
          </a:xfrm>
          <a:prstGeom prst="rect">
            <a:avLst/>
          </a:prstGeom>
          <a:noFill/>
          <a:ln/>
        </p:spPr>
        <p:txBody>
          <a:bodyPr wrap="square" lIns="0" tIns="0" rIns="0" bIns="0" rtlCol="0" anchor="ctr"/>
          <a:lstStyle/>
          <a:p>
            <a:pPr algn="ctr" indent="0" marL="0">
              <a:buNone/>
            </a:pPr>
            <a:r>
              <a:rPr lang="en-US" sz="1300" b="1" dirty="0">
                <a:solidFill>
                  <a:srgbClr val="56657E"/>
                </a:solidFill>
                <a:latin typeface="Courier New" pitchFamily="34" charset="0"/>
                <a:ea typeface="Courier New" pitchFamily="34" charset="-122"/>
                <a:cs typeface="Courier New" pitchFamily="34" charset="-120"/>
              </a:rPr>
              <a:t>known plaintext</a:t>
            </a:r>
            <a:endParaRPr lang="en-US" sz="1300" dirty="0"/>
          </a:p>
        </p:txBody>
      </p:sp>
      <p:sp>
        <p:nvSpPr>
          <p:cNvPr id="57" name="Text 54"/>
          <p:cNvSpPr txBox="1"/>
          <p:nvPr/>
        </p:nvSpPr>
        <p:spPr>
          <a:xfrm>
            <a:off x="9875520" y="5239512"/>
            <a:ext cx="1719072" cy="320040"/>
          </a:xfrm>
          <a:prstGeom prst="rect">
            <a:avLst/>
          </a:prstGeom>
          <a:noFill/>
          <a:ln/>
        </p:spPr>
        <p:txBody>
          <a:bodyPr wrap="square" lIns="0" tIns="0" rIns="0" bIns="0" rtlCol="0" anchor="t"/>
          <a:lstStyle/>
          <a:p>
            <a:pPr algn="ctr" indent="0" marL="0">
              <a:buNone/>
            </a:pPr>
            <a:r>
              <a:rPr lang="en-US" sz="1200" dirty="0">
                <a:solidFill>
                  <a:srgbClr val="56657E"/>
                </a:solidFill>
                <a:latin typeface="Calibri" pitchFamily="34" charset="0"/>
                <a:ea typeface="Calibri" pitchFamily="34" charset="-122"/>
                <a:cs typeface="Calibri" pitchFamily="34" charset="-120"/>
              </a:rPr>
              <a:t>Every mission</a:t>
            </a:r>
            <a:endParaRPr lang="en-US" sz="1200" dirty="0"/>
          </a:p>
        </p:txBody>
      </p:sp>
      <p:sp>
        <p:nvSpPr>
          <p:cNvPr id="58" name="Text 55"/>
          <p:cNvSpPr txBox="1"/>
          <p:nvPr/>
        </p:nvSpPr>
        <p:spPr>
          <a:xfrm>
            <a:off x="548640" y="6035040"/>
            <a:ext cx="11094415" cy="320040"/>
          </a:xfrm>
          <a:prstGeom prst="rect">
            <a:avLst/>
          </a:prstGeom>
          <a:noFill/>
          <a:ln/>
        </p:spPr>
        <p:txBody>
          <a:bodyPr wrap="square" lIns="0" tIns="0" rIns="0" bIns="0" rtlCol="0" anchor="t"/>
          <a:lstStyle/>
          <a:p>
            <a:pPr indent="0" marL="0">
              <a:buNone/>
            </a:pPr>
            <a:r>
              <a:rPr lang="en-US" sz="1500" b="1" dirty="0">
                <a:solidFill>
                  <a:srgbClr val="12213A"/>
                </a:solidFill>
                <a:latin typeface="Calibri" pitchFamily="34" charset="0"/>
                <a:ea typeface="Calibri" pitchFamily="34" charset="-122"/>
                <a:cs typeface="Calibri" pitchFamily="34" charset="-120"/>
              </a:rPr>
              <a:t>Eighteen codebreaking skills, used on a real Linux system, in one session.</a:t>
            </a:r>
            <a:endParaRPr lang="en-US" sz="1500" dirty="0"/>
          </a:p>
        </p:txBody>
      </p:sp>
      <p:sp>
        <p:nvSpPr>
          <p:cNvPr id="59" name="Text 5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36 / 61</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What you just did is the job</a:t>
            </a:r>
            <a:endParaRPr lang="en-US" sz="3200" dirty="0"/>
          </a:p>
        </p:txBody>
      </p:sp>
      <p:sp>
        <p:nvSpPr>
          <p:cNvPr id="4" name="Shape 1"/>
          <p:cNvSpPr/>
          <p:nvPr/>
        </p:nvSpPr>
        <p:spPr>
          <a:xfrm>
            <a:off x="548640" y="1554480"/>
            <a:ext cx="731520" cy="731520"/>
          </a:xfrm>
          <a:prstGeom prst="ellipse">
            <a:avLst/>
          </a:prstGeom>
          <a:solidFill>
            <a:srgbClr val="17875A"/>
          </a:solidFill>
          <a:ln/>
        </p:spPr>
      </p:sp>
      <p:pic>
        <p:nvPicPr>
          <p:cNvPr id="5" name="Image 0" descr="preencoded.png">    </p:cNvPr>
          <p:cNvPicPr>
            <a:picLocks noChangeAspect="1"/>
          </p:cNvPicPr>
          <p:nvPr/>
        </p:nvPicPr>
        <p:blipFill>
          <a:blip r:embed="rId1"/>
          <a:stretch>
            <a:fillRect/>
          </a:stretch>
        </p:blipFill>
        <p:spPr>
          <a:xfrm>
            <a:off x="731520" y="1737360"/>
            <a:ext cx="365760" cy="365760"/>
          </a:xfrm>
          <a:prstGeom prst="rect">
            <a:avLst/>
          </a:prstGeom>
        </p:spPr>
      </p:pic>
      <p:sp>
        <p:nvSpPr>
          <p:cNvPr id="6" name="Text 2"/>
          <p:cNvSpPr txBox="1"/>
          <p:nvPr/>
        </p:nvSpPr>
        <p:spPr>
          <a:xfrm>
            <a:off x="1508760" y="1554480"/>
            <a:ext cx="5486400" cy="36576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Identify, then decode</a:t>
            </a:r>
            <a:endParaRPr lang="en-US" sz="1800" dirty="0"/>
          </a:p>
        </p:txBody>
      </p:sp>
      <p:sp>
        <p:nvSpPr>
          <p:cNvPr id="7" name="Text 3"/>
          <p:cNvSpPr txBox="1"/>
          <p:nvPr/>
        </p:nvSpPr>
        <p:spPr>
          <a:xfrm>
            <a:off x="1508760" y="1938528"/>
            <a:ext cx="5669280" cy="5486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Analysts decode base64 and hex in suspicious emails and malware every day</a:t>
            </a:r>
            <a:endParaRPr lang="en-US" sz="1500" dirty="0"/>
          </a:p>
        </p:txBody>
      </p:sp>
      <p:sp>
        <p:nvSpPr>
          <p:cNvPr id="8" name="Shape 4"/>
          <p:cNvSpPr/>
          <p:nvPr/>
        </p:nvSpPr>
        <p:spPr>
          <a:xfrm>
            <a:off x="548640" y="2651760"/>
            <a:ext cx="731520" cy="731520"/>
          </a:xfrm>
          <a:prstGeom prst="ellipse">
            <a:avLst/>
          </a:prstGeom>
          <a:solidFill>
            <a:srgbClr val="C9A227"/>
          </a:solidFill>
          <a:ln/>
        </p:spPr>
      </p:sp>
      <p:pic>
        <p:nvPicPr>
          <p:cNvPr id="9" name="Image 1" descr="preencoded.png">    </p:cNvPr>
          <p:cNvPicPr>
            <a:picLocks noChangeAspect="1"/>
          </p:cNvPicPr>
          <p:nvPr/>
        </p:nvPicPr>
        <p:blipFill>
          <a:blip r:embed="rId2"/>
          <a:stretch>
            <a:fillRect/>
          </a:stretch>
        </p:blipFill>
        <p:spPr>
          <a:xfrm>
            <a:off x="731520" y="2834640"/>
            <a:ext cx="365760" cy="365760"/>
          </a:xfrm>
          <a:prstGeom prst="rect">
            <a:avLst/>
          </a:prstGeom>
        </p:spPr>
      </p:pic>
      <p:sp>
        <p:nvSpPr>
          <p:cNvPr id="10" name="Text 5"/>
          <p:cNvSpPr txBox="1"/>
          <p:nvPr/>
        </p:nvSpPr>
        <p:spPr>
          <a:xfrm>
            <a:off x="1508760" y="2651760"/>
            <a:ext cx="5486400" cy="36576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Hashes and wordlists</a:t>
            </a:r>
            <a:endParaRPr lang="en-US" sz="1800" dirty="0"/>
          </a:p>
        </p:txBody>
      </p:sp>
      <p:sp>
        <p:nvSpPr>
          <p:cNvPr id="11" name="Text 6"/>
          <p:cNvSpPr txBox="1"/>
          <p:nvPr/>
        </p:nvSpPr>
        <p:spPr>
          <a:xfrm>
            <a:off x="1508760" y="3035808"/>
            <a:ext cx="5669280" cy="5486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Penetration testers check whether a company's passwords fall to a wordlist</a:t>
            </a:r>
            <a:endParaRPr lang="en-US" sz="1500" dirty="0"/>
          </a:p>
        </p:txBody>
      </p:sp>
      <p:sp>
        <p:nvSpPr>
          <p:cNvPr id="12" name="Shape 7"/>
          <p:cNvSpPr/>
          <p:nvPr/>
        </p:nvSpPr>
        <p:spPr>
          <a:xfrm>
            <a:off x="548640" y="3749040"/>
            <a:ext cx="731520" cy="731520"/>
          </a:xfrm>
          <a:prstGeom prst="ellipse">
            <a:avLst/>
          </a:prstGeom>
          <a:solidFill>
            <a:srgbClr val="5B6EE1"/>
          </a:solidFill>
          <a:ln/>
        </p:spPr>
      </p:sp>
      <p:pic>
        <p:nvPicPr>
          <p:cNvPr id="13" name="Image 2" descr="preencoded.png">    </p:cNvPr>
          <p:cNvPicPr>
            <a:picLocks noChangeAspect="1"/>
          </p:cNvPicPr>
          <p:nvPr/>
        </p:nvPicPr>
        <p:blipFill>
          <a:blip r:embed="rId3"/>
          <a:stretch>
            <a:fillRect/>
          </a:stretch>
        </p:blipFill>
        <p:spPr>
          <a:xfrm>
            <a:off x="731520" y="3931920"/>
            <a:ext cx="365760" cy="365760"/>
          </a:xfrm>
          <a:prstGeom prst="rect">
            <a:avLst/>
          </a:prstGeom>
        </p:spPr>
      </p:pic>
      <p:sp>
        <p:nvSpPr>
          <p:cNvPr id="14" name="Text 8"/>
          <p:cNvSpPr txBox="1"/>
          <p:nvPr/>
        </p:nvSpPr>
        <p:spPr>
          <a:xfrm>
            <a:off x="1508760" y="3749040"/>
            <a:ext cx="5486400" cy="36576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Find the key</a:t>
            </a:r>
            <a:endParaRPr lang="en-US" sz="1800" dirty="0"/>
          </a:p>
        </p:txBody>
      </p:sp>
      <p:sp>
        <p:nvSpPr>
          <p:cNvPr id="15" name="Text 9"/>
          <p:cNvSpPr txBox="1"/>
          <p:nvPr/>
        </p:nvSpPr>
        <p:spPr>
          <a:xfrm>
            <a:off x="1508760" y="4133088"/>
            <a:ext cx="5669280" cy="5486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Incident responders hunt for leaked keys and passwords in files and code</a:t>
            </a:r>
            <a:endParaRPr lang="en-US" sz="1500" dirty="0"/>
          </a:p>
        </p:txBody>
      </p:sp>
      <p:sp>
        <p:nvSpPr>
          <p:cNvPr id="16" name="Shape 10"/>
          <p:cNvSpPr/>
          <p:nvPr/>
        </p:nvSpPr>
        <p:spPr>
          <a:xfrm>
            <a:off x="548640" y="4846320"/>
            <a:ext cx="731520" cy="731520"/>
          </a:xfrm>
          <a:prstGeom prst="ellipse">
            <a:avLst/>
          </a:prstGeom>
          <a:solidFill>
            <a:srgbClr val="2459D8"/>
          </a:solidFill>
          <a:ln/>
        </p:spPr>
      </p:sp>
      <p:pic>
        <p:nvPicPr>
          <p:cNvPr id="17" name="Image 3" descr="preencoded.png">    </p:cNvPr>
          <p:cNvPicPr>
            <a:picLocks noChangeAspect="1"/>
          </p:cNvPicPr>
          <p:nvPr/>
        </p:nvPicPr>
        <p:blipFill>
          <a:blip r:embed="rId4"/>
          <a:stretch>
            <a:fillRect/>
          </a:stretch>
        </p:blipFill>
        <p:spPr>
          <a:xfrm>
            <a:off x="731520" y="5029200"/>
            <a:ext cx="365760" cy="365760"/>
          </a:xfrm>
          <a:prstGeom prst="rect">
            <a:avLst/>
          </a:prstGeom>
        </p:spPr>
      </p:pic>
      <p:sp>
        <p:nvSpPr>
          <p:cNvPr id="18" name="Text 11"/>
          <p:cNvSpPr txBox="1"/>
          <p:nvPr/>
        </p:nvSpPr>
        <p:spPr>
          <a:xfrm>
            <a:off x="1508760" y="4846320"/>
            <a:ext cx="5486400" cy="36576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Use real crypto right</a:t>
            </a:r>
            <a:endParaRPr lang="en-US" sz="1800" dirty="0"/>
          </a:p>
        </p:txBody>
      </p:sp>
      <p:sp>
        <p:nvSpPr>
          <p:cNvPr id="19" name="Text 12"/>
          <p:cNvSpPr txBox="1"/>
          <p:nvPr/>
        </p:nvSpPr>
        <p:spPr>
          <a:xfrm>
            <a:off x="1508760" y="5230368"/>
            <a:ext cx="5669280" cy="548640"/>
          </a:xfrm>
          <a:prstGeom prst="rect">
            <a:avLst/>
          </a:prstGeom>
          <a:noFill/>
          <a:ln/>
        </p:spPr>
        <p:txBody>
          <a:bodyPr wrap="square" lIns="0" tIns="0" rIns="0" bIns="0" rtlCol="0" anchor="t"/>
          <a:lstStyle/>
          <a:p>
            <a:pPr indent="0" marL="0">
              <a:buNone/>
            </a:pPr>
            <a:r>
              <a:rPr lang="en-US" sz="1500" dirty="0">
                <a:solidFill>
                  <a:srgbClr val="56657E"/>
                </a:solidFill>
                <a:latin typeface="Calibri" pitchFamily="34" charset="0"/>
                <a:ea typeface="Calibri" pitchFamily="34" charset="-122"/>
                <a:cs typeface="Calibri" pitchFamily="34" charset="-120"/>
              </a:rPr>
              <a:t>Engineers protect data with tested libraries and good key management</a:t>
            </a:r>
            <a:endParaRPr lang="en-US" sz="1500" dirty="0"/>
          </a:p>
        </p:txBody>
      </p:sp>
      <p:sp>
        <p:nvSpPr>
          <p:cNvPr id="20" name="Shape 13"/>
          <p:cNvSpPr/>
          <p:nvPr/>
        </p:nvSpPr>
        <p:spPr>
          <a:xfrm>
            <a:off x="7406640" y="1554480"/>
            <a:ext cx="4233672" cy="4343400"/>
          </a:xfrm>
          <a:prstGeom prst="roundRect">
            <a:avLst>
              <a:gd name="adj" fmla="val 2160"/>
            </a:avLst>
          </a:prstGeom>
          <a:solidFill>
            <a:srgbClr val="F1F5FB"/>
          </a:solidFill>
          <a:ln/>
        </p:spPr>
      </p:sp>
      <p:sp>
        <p:nvSpPr>
          <p:cNvPr id="21" name="Text 14"/>
          <p:cNvSpPr txBox="1"/>
          <p:nvPr/>
        </p:nvSpPr>
        <p:spPr>
          <a:xfrm>
            <a:off x="7726680" y="1783080"/>
            <a:ext cx="3657600" cy="411480"/>
          </a:xfrm>
          <a:prstGeom prst="rect">
            <a:avLst/>
          </a:prstGeom>
          <a:noFill/>
          <a:ln/>
        </p:spPr>
        <p:txBody>
          <a:bodyPr wrap="square" lIns="0" tIns="0" rIns="0" bIns="0" rtlCol="0" anchor="t"/>
          <a:lstStyle/>
          <a:p>
            <a:pPr indent="0" marL="0">
              <a:buNone/>
            </a:pPr>
            <a:r>
              <a:rPr lang="en-US" sz="2000" b="1" dirty="0">
                <a:solidFill>
                  <a:srgbClr val="12213A"/>
                </a:solidFill>
                <a:latin typeface="Arial" pitchFamily="34" charset="0"/>
                <a:ea typeface="Arial" pitchFamily="34" charset="-122"/>
                <a:cs typeface="Arial" pitchFamily="34" charset="-120"/>
              </a:rPr>
              <a:t>Ask the room</a:t>
            </a:r>
            <a:endParaRPr lang="en-US" sz="2000" dirty="0"/>
          </a:p>
        </p:txBody>
      </p:sp>
      <p:sp>
        <p:nvSpPr>
          <p:cNvPr id="22" name="Text 15"/>
          <p:cNvSpPr txBox="1"/>
          <p:nvPr/>
        </p:nvSpPr>
        <p:spPr>
          <a:xfrm>
            <a:off x="7726680" y="2377440"/>
            <a:ext cx="3657600" cy="32918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Which cipher had your biggest Took time? Why?</a:t>
            </a:r>
            <a:endParaRPr lang="en-US" sz="1600" dirty="0"/>
          </a:p>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Which mission was 'find the key' rather than 'break the cipher'?</a:t>
            </a:r>
            <a:endParaRPr lang="en-US" sz="1600" dirty="0"/>
          </a:p>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Why are long, unusual passwords safer after Mission 10?</a:t>
            </a:r>
            <a:endParaRPr lang="en-US" sz="1600" dirty="0"/>
          </a:p>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Where have you seen base64 or hex in real life?</a:t>
            </a:r>
            <a:endParaRPr lang="en-US" sz="1600" dirty="0"/>
          </a:p>
        </p:txBody>
      </p:sp>
      <p:sp>
        <p:nvSpPr>
          <p:cNvPr id="23" name="Text 1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37 / 61</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Keep climbing</a:t>
            </a:r>
            <a:endParaRPr lang="en-US" sz="3200" dirty="0"/>
          </a:p>
        </p:txBody>
      </p:sp>
      <p:sp>
        <p:nvSpPr>
          <p:cNvPr id="4" name="Shape 1"/>
          <p:cNvSpPr/>
          <p:nvPr/>
        </p:nvSpPr>
        <p:spPr>
          <a:xfrm>
            <a:off x="548640" y="1554480"/>
            <a:ext cx="3566160" cy="3017520"/>
          </a:xfrm>
          <a:prstGeom prst="roundRect">
            <a:avLst>
              <a:gd name="adj" fmla="val 3030"/>
            </a:avLst>
          </a:prstGeom>
          <a:solidFill>
            <a:srgbClr val="F1F5FB"/>
          </a:solidFill>
          <a:ln/>
        </p:spPr>
      </p:sp>
      <p:sp>
        <p:nvSpPr>
          <p:cNvPr id="5" name="Text 2"/>
          <p:cNvSpPr txBox="1"/>
          <p:nvPr/>
        </p:nvSpPr>
        <p:spPr>
          <a:xfrm>
            <a:off x="822960" y="1783080"/>
            <a:ext cx="3108960" cy="457200"/>
          </a:xfrm>
          <a:prstGeom prst="rect">
            <a:avLst/>
          </a:prstGeom>
          <a:noFill/>
          <a:ln/>
        </p:spPr>
        <p:txBody>
          <a:bodyPr wrap="square" lIns="0" tIns="0" rIns="0" bIns="0" rtlCol="0" anchor="t"/>
          <a:lstStyle/>
          <a:p>
            <a:pPr indent="0" marL="0">
              <a:buNone/>
            </a:pPr>
            <a:r>
              <a:rPr lang="en-US" sz="2000" b="1" dirty="0">
                <a:solidFill>
                  <a:srgbClr val="2459D8"/>
                </a:solidFill>
                <a:latin typeface="Arial" pitchFamily="34" charset="0"/>
                <a:ea typeface="Arial" pitchFamily="34" charset="-122"/>
                <a:cs typeface="Arial" pitchFamily="34" charset="-120"/>
              </a:rPr>
              <a:t>Next: CyberQuest</a:t>
            </a:r>
            <a:endParaRPr lang="en-US" sz="2000" dirty="0"/>
          </a:p>
        </p:txBody>
      </p:sp>
      <p:sp>
        <p:nvSpPr>
          <p:cNvPr id="6" name="Text 3"/>
          <p:cNvSpPr txBox="1"/>
          <p:nvPr/>
        </p:nvSpPr>
        <p:spPr>
          <a:xfrm>
            <a:off x="822960" y="2331720"/>
            <a:ext cx="3108960" cy="457200"/>
          </a:xfrm>
          <a:prstGeom prst="rect">
            <a:avLst/>
          </a:prstGeom>
          <a:noFill/>
          <a:ln/>
        </p:spPr>
        <p:txBody>
          <a:bodyPr wrap="square" lIns="0" tIns="0" rIns="0" bIns="0" rtlCol="0" anchor="t"/>
          <a:lstStyle/>
          <a:p>
            <a:pPr indent="0" marL="0">
              <a:buNone/>
            </a:pPr>
            <a:r>
              <a:rPr lang="en-US" sz="1300" b="1" dirty="0">
                <a:solidFill>
                  <a:srgbClr val="12213A"/>
                </a:solidFill>
                <a:latin typeface="Courier New" pitchFamily="34" charset="0"/>
                <a:ea typeface="Courier New" pitchFamily="34" charset="-122"/>
                <a:cs typeface="Courier New" pitchFamily="34" charset="-120"/>
              </a:rPr>
              <a:t>[CyberQuest Academy link]</a:t>
            </a:r>
            <a:endParaRPr lang="en-US" sz="1300" dirty="0"/>
          </a:p>
        </p:txBody>
      </p:sp>
      <p:sp>
        <p:nvSpPr>
          <p:cNvPr id="7" name="Text 4"/>
          <p:cNvSpPr txBox="1"/>
          <p:nvPr/>
        </p:nvSpPr>
        <p:spPr>
          <a:xfrm>
            <a:off x="822960" y="2880360"/>
            <a:ext cx="3017520" cy="155448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More CTFs, live scoreboards and harder missions are waiting for you there.</a:t>
            </a:r>
            <a:endParaRPr lang="en-US" sz="1600" dirty="0"/>
          </a:p>
        </p:txBody>
      </p:sp>
      <p:sp>
        <p:nvSpPr>
          <p:cNvPr id="8" name="Shape 5"/>
          <p:cNvSpPr/>
          <p:nvPr/>
        </p:nvSpPr>
        <p:spPr>
          <a:xfrm>
            <a:off x="4306824" y="1554480"/>
            <a:ext cx="3566160" cy="3017520"/>
          </a:xfrm>
          <a:prstGeom prst="roundRect">
            <a:avLst>
              <a:gd name="adj" fmla="val 3030"/>
            </a:avLst>
          </a:prstGeom>
          <a:solidFill>
            <a:srgbClr val="F1F5FB"/>
          </a:solidFill>
          <a:ln/>
        </p:spPr>
      </p:sp>
      <p:sp>
        <p:nvSpPr>
          <p:cNvPr id="9" name="Text 6"/>
          <p:cNvSpPr txBox="1"/>
          <p:nvPr/>
        </p:nvSpPr>
        <p:spPr>
          <a:xfrm>
            <a:off x="4581144" y="1783080"/>
            <a:ext cx="3108960" cy="457200"/>
          </a:xfrm>
          <a:prstGeom prst="rect">
            <a:avLst/>
          </a:prstGeom>
          <a:noFill/>
          <a:ln/>
        </p:spPr>
        <p:txBody>
          <a:bodyPr wrap="square" lIns="0" tIns="0" rIns="0" bIns="0" rtlCol="0" anchor="t"/>
          <a:lstStyle/>
          <a:p>
            <a:pPr indent="0" marL="0">
              <a:buNone/>
            </a:pPr>
            <a:r>
              <a:rPr lang="en-US" sz="2000" b="1" dirty="0">
                <a:solidFill>
                  <a:srgbClr val="7448D4"/>
                </a:solidFill>
                <a:latin typeface="Arial" pitchFamily="34" charset="0"/>
                <a:ea typeface="Arial" pitchFamily="34" charset="-122"/>
                <a:cs typeface="Arial" pitchFamily="34" charset="-120"/>
              </a:rPr>
              <a:t>Replay the Crypto CTF</a:t>
            </a:r>
            <a:endParaRPr lang="en-US" sz="2000" dirty="0"/>
          </a:p>
        </p:txBody>
      </p:sp>
      <p:sp>
        <p:nvSpPr>
          <p:cNvPr id="10" name="Text 7"/>
          <p:cNvSpPr txBox="1"/>
          <p:nvPr/>
        </p:nvSpPr>
        <p:spPr>
          <a:xfrm>
            <a:off x="4581144" y="2331720"/>
            <a:ext cx="3108960" cy="457200"/>
          </a:xfrm>
          <a:prstGeom prst="rect">
            <a:avLst/>
          </a:prstGeom>
          <a:noFill/>
          <a:ln/>
        </p:spPr>
        <p:txBody>
          <a:bodyPr wrap="square" lIns="0" tIns="0" rIns="0" bIns="0" rtlCol="0" anchor="t"/>
          <a:lstStyle/>
          <a:p>
            <a:pPr indent="0" marL="0">
              <a:buNone/>
            </a:pPr>
            <a:r>
              <a:rPr lang="en-US" sz="1300" b="1" dirty="0">
                <a:solidFill>
                  <a:srgbClr val="12213A"/>
                </a:solidFill>
                <a:latin typeface="Courier New" pitchFamily="34" charset="0"/>
                <a:ea typeface="Courier New" pitchFamily="34" charset="-122"/>
                <a:cs typeface="Courier New" pitchFamily="34" charset="-120"/>
              </a:rPr>
              <a:t>[your CTF link]/crypto/</a:t>
            </a:r>
            <a:endParaRPr lang="en-US" sz="1300" dirty="0"/>
          </a:p>
        </p:txBody>
      </p:sp>
      <p:sp>
        <p:nvSpPr>
          <p:cNvPr id="11" name="Text 8"/>
          <p:cNvSpPr txBox="1"/>
          <p:nvPr/>
        </p:nvSpPr>
        <p:spPr>
          <a:xfrm>
            <a:off x="4581144" y="2880360"/>
            <a:ext cx="3017520" cy="155448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Works at home. New keys and flags on every replay. Beat your time.</a:t>
            </a:r>
            <a:endParaRPr lang="en-US" sz="1600" dirty="0"/>
          </a:p>
        </p:txBody>
      </p:sp>
      <p:sp>
        <p:nvSpPr>
          <p:cNvPr id="12" name="Shape 9"/>
          <p:cNvSpPr/>
          <p:nvPr/>
        </p:nvSpPr>
        <p:spPr>
          <a:xfrm>
            <a:off x="8065008" y="1554480"/>
            <a:ext cx="3566160" cy="3017520"/>
          </a:xfrm>
          <a:prstGeom prst="roundRect">
            <a:avLst>
              <a:gd name="adj" fmla="val 3030"/>
            </a:avLst>
          </a:prstGeom>
          <a:solidFill>
            <a:srgbClr val="F1F5FB"/>
          </a:solidFill>
          <a:ln/>
        </p:spPr>
      </p:sp>
      <p:sp>
        <p:nvSpPr>
          <p:cNvPr id="13" name="Text 10"/>
          <p:cNvSpPr txBox="1"/>
          <p:nvPr/>
        </p:nvSpPr>
        <p:spPr>
          <a:xfrm>
            <a:off x="8339328" y="1783080"/>
            <a:ext cx="3108960" cy="457200"/>
          </a:xfrm>
          <a:prstGeom prst="rect">
            <a:avLst/>
          </a:prstGeom>
          <a:noFill/>
          <a:ln/>
        </p:spPr>
        <p:txBody>
          <a:bodyPr wrap="square" lIns="0" tIns="0" rIns="0" bIns="0" rtlCol="0" anchor="t"/>
          <a:lstStyle/>
          <a:p>
            <a:pPr indent="0" marL="0">
              <a:buNone/>
            </a:pPr>
            <a:r>
              <a:rPr lang="en-US" sz="2000" b="1" dirty="0">
                <a:solidFill>
                  <a:srgbClr val="D1416B"/>
                </a:solidFill>
                <a:latin typeface="Arial" pitchFamily="34" charset="0"/>
                <a:ea typeface="Arial" pitchFamily="34" charset="-122"/>
                <a:cs typeface="Arial" pitchFamily="34" charset="-120"/>
              </a:rPr>
              <a:t>Explore CyberChef</a:t>
            </a:r>
            <a:endParaRPr lang="en-US" sz="2000" dirty="0"/>
          </a:p>
        </p:txBody>
      </p:sp>
      <p:sp>
        <p:nvSpPr>
          <p:cNvPr id="14" name="Text 11"/>
          <p:cNvSpPr txBox="1"/>
          <p:nvPr/>
        </p:nvSpPr>
        <p:spPr>
          <a:xfrm>
            <a:off x="8339328" y="2331720"/>
            <a:ext cx="3108960" cy="457200"/>
          </a:xfrm>
          <a:prstGeom prst="rect">
            <a:avLst/>
          </a:prstGeom>
          <a:noFill/>
          <a:ln/>
        </p:spPr>
        <p:txBody>
          <a:bodyPr wrap="square" lIns="0" tIns="0" rIns="0" bIns="0" rtlCol="0" anchor="t"/>
          <a:lstStyle/>
          <a:p>
            <a:pPr indent="0" marL="0">
              <a:buNone/>
            </a:pPr>
            <a:r>
              <a:rPr lang="en-US" sz="1300" b="1" dirty="0">
                <a:solidFill>
                  <a:srgbClr val="12213A"/>
                </a:solidFill>
                <a:latin typeface="Courier New" pitchFamily="34" charset="0"/>
                <a:ea typeface="Courier New" pitchFamily="34" charset="-122"/>
                <a:cs typeface="Courier New" pitchFamily="34" charset="-120"/>
              </a:rPr>
              <a:t>gchq.github.io/CyberChef</a:t>
            </a:r>
            <a:endParaRPr lang="en-US" sz="1300" dirty="0"/>
          </a:p>
        </p:txBody>
      </p:sp>
      <p:sp>
        <p:nvSpPr>
          <p:cNvPr id="15" name="Text 12"/>
          <p:cNvSpPr txBox="1"/>
          <p:nvPr/>
        </p:nvSpPr>
        <p:spPr>
          <a:xfrm>
            <a:off x="8339328" y="2880360"/>
            <a:ext cx="3017520" cy="155448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Drag-and-drop decoders. Try a recipe: From Base64, then ROT13.</a:t>
            </a:r>
            <a:endParaRPr lang="en-US" sz="1600" dirty="0"/>
          </a:p>
        </p:txBody>
      </p:sp>
      <p:sp>
        <p:nvSpPr>
          <p:cNvPr id="16" name="Shape 13"/>
          <p:cNvSpPr/>
          <p:nvPr/>
        </p:nvSpPr>
        <p:spPr>
          <a:xfrm>
            <a:off x="548640" y="4846320"/>
            <a:ext cx="11094415" cy="1051560"/>
          </a:xfrm>
          <a:prstGeom prst="roundRect">
            <a:avLst>
              <a:gd name="adj" fmla="val 8696"/>
            </a:avLst>
          </a:prstGeom>
          <a:solidFill>
            <a:srgbClr val="0E1726"/>
          </a:solidFill>
          <a:ln/>
          <a:effectLst>
            <a:outerShdw sx="100000" sy="100000" kx="0" ky="0" algn="bl" rotWithShape="0" blurRad="127000" dist="38100" dir="5400000">
              <a:srgbClr val="12213A">
                <a:alpha val="22000"/>
              </a:srgbClr>
            </a:outerShdw>
          </a:effectLst>
        </p:spPr>
      </p:sp>
      <p:sp>
        <p:nvSpPr>
          <p:cNvPr id="17" name="Shape 14"/>
          <p:cNvSpPr/>
          <p:nvPr/>
        </p:nvSpPr>
        <p:spPr>
          <a:xfrm>
            <a:off x="749808" y="5001768"/>
            <a:ext cx="118872" cy="118872"/>
          </a:xfrm>
          <a:prstGeom prst="ellipse">
            <a:avLst/>
          </a:prstGeom>
          <a:solidFill>
            <a:srgbClr val="E5534B"/>
          </a:solidFill>
          <a:ln/>
        </p:spPr>
      </p:sp>
      <p:sp>
        <p:nvSpPr>
          <p:cNvPr id="18" name="Shape 15"/>
          <p:cNvSpPr/>
          <p:nvPr/>
        </p:nvSpPr>
        <p:spPr>
          <a:xfrm>
            <a:off x="950976" y="5001768"/>
            <a:ext cx="118872" cy="118872"/>
          </a:xfrm>
          <a:prstGeom prst="ellipse">
            <a:avLst/>
          </a:prstGeom>
          <a:solidFill>
            <a:srgbClr val="F5A623"/>
          </a:solidFill>
          <a:ln/>
        </p:spPr>
      </p:sp>
      <p:sp>
        <p:nvSpPr>
          <p:cNvPr id="19" name="Shape 16"/>
          <p:cNvSpPr/>
          <p:nvPr/>
        </p:nvSpPr>
        <p:spPr>
          <a:xfrm>
            <a:off x="1152144" y="5001768"/>
            <a:ext cx="118872" cy="118872"/>
          </a:xfrm>
          <a:prstGeom prst="ellipse">
            <a:avLst/>
          </a:prstGeom>
          <a:solidFill>
            <a:srgbClr val="46D39A"/>
          </a:solidFill>
          <a:ln/>
        </p:spPr>
      </p:sp>
      <p:sp>
        <p:nvSpPr>
          <p:cNvPr id="20" name="Text 17"/>
          <p:cNvSpPr txBox="1"/>
          <p:nvPr/>
        </p:nvSpPr>
        <p:spPr>
          <a:xfrm>
            <a:off x="822960" y="5303520"/>
            <a:ext cx="10545775" cy="457200"/>
          </a:xfrm>
          <a:prstGeom prst="rect">
            <a:avLst/>
          </a:prstGeom>
          <a:noFill/>
          <a:ln/>
        </p:spPr>
        <p:txBody>
          <a:bodyPr wrap="square" lIns="0" tIns="0" rIns="0" bIns="0" rtlCol="0" anchor="t"/>
          <a:lstStyle/>
          <a:p>
            <a:pPr indent="0" marL="0">
              <a:spcAft>
                <a:spcPts val="200"/>
              </a:spcAft>
              <a:buNone/>
            </a:pPr>
            <a:r>
              <a:rPr lang="en-US" sz="17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700" b="1" dirty="0">
                <a:solidFill>
                  <a:srgbClr val="FFFFFF"/>
                </a:solidFill>
                <a:latin typeface="Courier New" pitchFamily="34" charset="0"/>
                <a:ea typeface="Courier New" pitchFamily="34" charset="-122"/>
                <a:cs typeface="Courier New" pitchFamily="34" charset="-120"/>
              </a:rPr>
              <a:t>echo 'Gunaxf sbe cynlvat.' | tr A-Za-z N-ZA-Mn-za-m</a:t>
            </a:r>
            <a:pPr indent="0" marL="0">
              <a:spcAft>
                <a:spcPts val="200"/>
              </a:spcAft>
              <a:buNone/>
            </a:pPr>
            <a:r>
              <a:rPr lang="en-US" sz="1700" dirty="0">
                <a:solidFill>
                  <a:srgbClr val="7F8FAD"/>
                </a:solidFill>
                <a:latin typeface="Courier New" pitchFamily="34" charset="0"/>
                <a:ea typeface="Courier New" pitchFamily="34" charset="-122"/>
                <a:cs typeface="Courier New" pitchFamily="34" charset="-120"/>
              </a:rPr>
              <a:t>   # Thanks for playing.</a:t>
            </a:r>
            <a:endParaRPr lang="en-US" sz="1700" dirty="0"/>
          </a:p>
        </p:txBody>
      </p:sp>
      <p:sp>
        <p:nvSpPr>
          <p:cNvPr id="21" name="Text 18"/>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38 / 61</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7F8FAD"/>
                </a:solidFill>
                <a:latin typeface="Calibri" pitchFamily="34" charset="0"/>
                <a:ea typeface="Calibri" pitchFamily="34" charset="-122"/>
                <a:cs typeface="Calibri" pitchFamily="34" charset="-120"/>
              </a:rPr>
              <a:t>Lockheed Martin CyberQuest® Academy   ·   Crypto CTF</a:t>
            </a:r>
            <a:endParaRPr lang="en-US" sz="1000" dirty="0"/>
          </a:p>
        </p:txBody>
      </p:sp>
      <p:sp>
        <p:nvSpPr>
          <p:cNvPr id="4" name="Text 1"/>
          <p:cNvSpPr txBox="1"/>
          <p:nvPr/>
        </p:nvSpPr>
        <p:spPr>
          <a:xfrm>
            <a:off x="548640" y="1371600"/>
            <a:ext cx="10058400" cy="914400"/>
          </a:xfrm>
          <a:prstGeom prst="rect">
            <a:avLst/>
          </a:prstGeom>
          <a:noFill/>
          <a:ln/>
        </p:spPr>
        <p:txBody>
          <a:bodyPr wrap="square" lIns="0" tIns="0" rIns="0" bIns="0" rtlCol="0" anchor="ctr"/>
          <a:lstStyle/>
          <a:p>
            <a:pPr indent="0" marL="0">
              <a:buNone/>
            </a:pPr>
            <a:r>
              <a:rPr lang="en-US" sz="4000" b="1" dirty="0">
                <a:solidFill>
                  <a:srgbClr val="7F8FAD"/>
                </a:solidFill>
                <a:latin typeface="Arial" pitchFamily="34" charset="0"/>
                <a:ea typeface="Arial" pitchFamily="34" charset="-122"/>
                <a:cs typeface="Arial" pitchFamily="34" charset="-120"/>
              </a:rPr>
              <a:t>Mentor</a:t>
            </a:r>
            <a:endParaRPr lang="en-US" sz="4000" dirty="0"/>
          </a:p>
        </p:txBody>
      </p:sp>
      <p:sp>
        <p:nvSpPr>
          <p:cNvPr id="5" name="Text 2"/>
          <p:cNvSpPr txBox="1"/>
          <p:nvPr/>
        </p:nvSpPr>
        <p:spPr>
          <a:xfrm>
            <a:off x="548640" y="2148840"/>
            <a:ext cx="10058400" cy="1463040"/>
          </a:xfrm>
          <a:prstGeom prst="rect">
            <a:avLst/>
          </a:prstGeom>
          <a:noFill/>
          <a:ln/>
        </p:spPr>
        <p:txBody>
          <a:bodyPr wrap="square" lIns="0" tIns="0" rIns="0" bIns="0" rtlCol="0" anchor="ctr"/>
          <a:lstStyle/>
          <a:p>
            <a:pPr indent="0" marL="0">
              <a:buNone/>
            </a:pPr>
            <a:r>
              <a:rPr lang="en-US" sz="9200" b="1" dirty="0">
                <a:solidFill>
                  <a:srgbClr val="FFFFFF"/>
                </a:solidFill>
                <a:latin typeface="Arial" pitchFamily="34" charset="0"/>
                <a:ea typeface="Arial" pitchFamily="34" charset="-122"/>
                <a:cs typeface="Arial" pitchFamily="34" charset="-120"/>
              </a:rPr>
              <a:t>Appendix</a:t>
            </a:r>
            <a:endParaRPr lang="en-US" sz="9200" dirty="0"/>
          </a:p>
        </p:txBody>
      </p:sp>
      <p:sp>
        <p:nvSpPr>
          <p:cNvPr id="6" name="Text 3"/>
          <p:cNvSpPr txBox="1"/>
          <p:nvPr/>
        </p:nvSpPr>
        <p:spPr>
          <a:xfrm>
            <a:off x="548640" y="3794760"/>
            <a:ext cx="9601200" cy="914400"/>
          </a:xfrm>
          <a:prstGeom prst="rect">
            <a:avLst/>
          </a:prstGeom>
          <a:noFill/>
          <a:ln/>
        </p:spPr>
        <p:txBody>
          <a:bodyPr wrap="square" lIns="0" tIns="0" rIns="0" bIns="0" rtlCol="0" anchor="t"/>
          <a:lstStyle/>
          <a:p>
            <a:pPr indent="0" marL="0">
              <a:buNone/>
            </a:pPr>
            <a:r>
              <a:rPr lang="en-US" sz="2200" dirty="0">
                <a:solidFill>
                  <a:srgbClr val="B8C4D9"/>
                </a:solidFill>
                <a:latin typeface="Calibri" pitchFamily="34" charset="0"/>
                <a:ea typeface="Calibri" pitchFamily="34" charset="-122"/>
                <a:cs typeface="Calibri" pitchFamily="34" charset="-120"/>
              </a:rPr>
              <a:t>The page layout, the mechanics, the answer key, and what to do when things go wrong.</a:t>
            </a:r>
            <a:endParaRPr lang="en-US" sz="2200" dirty="0"/>
          </a:p>
        </p:txBody>
      </p:sp>
      <p:sp>
        <p:nvSpPr>
          <p:cNvPr id="7" name="Shape 4"/>
          <p:cNvSpPr/>
          <p:nvPr/>
        </p:nvSpPr>
        <p:spPr>
          <a:xfrm>
            <a:off x="548640" y="4892040"/>
            <a:ext cx="11094415" cy="822960"/>
          </a:xfrm>
          <a:prstGeom prst="roundRect">
            <a:avLst>
              <a:gd name="adj" fmla="val 11111"/>
            </a:avLst>
          </a:prstGeom>
          <a:solidFill>
            <a:srgbClr val="162238"/>
          </a:solidFill>
          <a:ln/>
        </p:spPr>
      </p:sp>
      <p:sp>
        <p:nvSpPr>
          <p:cNvPr id="8" name="Text 5"/>
          <p:cNvSpPr txBox="1"/>
          <p:nvPr/>
        </p:nvSpPr>
        <p:spPr>
          <a:xfrm>
            <a:off x="868680" y="4892040"/>
            <a:ext cx="10454335" cy="822960"/>
          </a:xfrm>
          <a:prstGeom prst="rect">
            <a:avLst/>
          </a:prstGeom>
          <a:noFill/>
          <a:ln/>
        </p:spPr>
        <p:txBody>
          <a:bodyPr wrap="square" lIns="0" tIns="0" rIns="0" bIns="0" rtlCol="0" anchor="ctr"/>
          <a:lstStyle/>
          <a:p>
            <a:pPr indent="0" marL="0">
              <a:buNone/>
            </a:pPr>
            <a:r>
              <a:rPr lang="en-US" sz="2000" b="1" dirty="0">
                <a:solidFill>
                  <a:srgbClr val="46D39A"/>
                </a:solidFill>
                <a:latin typeface="Courier New" pitchFamily="34" charset="0"/>
                <a:ea typeface="Courier New" pitchFamily="34" charset="-122"/>
                <a:cs typeface="Courier New" pitchFamily="34" charset="-120"/>
              </a:rPr>
              <a:t>$ </a:t>
            </a:r>
            <a:pPr indent="0" marL="0">
              <a:buNone/>
            </a:pPr>
            <a:r>
              <a:rPr lang="en-US" sz="2000" b="1" dirty="0">
                <a:solidFill>
                  <a:srgbClr val="FFFFFF"/>
                </a:solidFill>
                <a:latin typeface="Courier New" pitchFamily="34" charset="0"/>
                <a:ea typeface="Courier New" pitchFamily="34" charset="-122"/>
                <a:cs typeface="Courier New" pitchFamily="34" charset="-120"/>
              </a:rPr>
              <a:t>man mentor   # for the person running the room</a:t>
            </a:r>
            <a:endParaRPr lang="en-US" sz="2000" dirty="0"/>
          </a:p>
        </p:txBody>
      </p:sp>
      <p:sp>
        <p:nvSpPr>
          <p:cNvPr id="9" name="Text 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7F8FAD"/>
                </a:solidFill>
                <a:latin typeface="Calibri" pitchFamily="34" charset="0"/>
                <a:ea typeface="Calibri" pitchFamily="34" charset="-122"/>
                <a:cs typeface="Calibri" pitchFamily="34" charset="-120"/>
              </a:rPr>
              <a:t>Crypto CTF   ·   39 / 61</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Anatomy of the Crypto CTF page</a:t>
            </a:r>
            <a:endParaRPr lang="en-US" sz="3200" dirty="0"/>
          </a:p>
        </p:txBody>
      </p:sp>
      <p:sp>
        <p:nvSpPr>
          <p:cNvPr id="4" name="Shape 1"/>
          <p:cNvSpPr/>
          <p:nvPr/>
        </p:nvSpPr>
        <p:spPr>
          <a:xfrm>
            <a:off x="502920" y="1463040"/>
            <a:ext cx="6675120" cy="3968496"/>
          </a:xfrm>
          <a:prstGeom prst="roundRect">
            <a:avLst>
              <a:gd name="adj" fmla="val 1382"/>
            </a:avLst>
          </a:prstGeom>
          <a:solidFill>
            <a:srgbClr val="FFFFFF"/>
          </a:solidFill>
          <a:ln w="19050">
            <a:solidFill>
              <a:srgbClr val="D6DEEA"/>
            </a:solidFill>
            <a:prstDash val="solid"/>
          </a:ln>
          <a:effectLst>
            <a:outerShdw sx="100000" sy="100000" kx="0" ky="0" algn="bl" rotWithShape="0" blurRad="127000" dist="38100" dir="5400000">
              <a:srgbClr val="12213A">
                <a:alpha val="15000"/>
              </a:srgbClr>
            </a:outerShdw>
          </a:effectLst>
        </p:spPr>
      </p:sp>
      <p:pic>
        <p:nvPicPr>
          <p:cNvPr id="5" name="Image 0" descr="/home/claude/cyberquest-ctf/slides/img-crypto/page.png">    </p:cNvPr>
          <p:cNvPicPr>
            <a:picLocks noChangeAspect="1"/>
          </p:cNvPicPr>
          <p:nvPr/>
        </p:nvPicPr>
        <p:blipFill>
          <a:blip r:embed="rId1"/>
          <a:stretch>
            <a:fillRect/>
          </a:stretch>
        </p:blipFill>
        <p:spPr>
          <a:xfrm>
            <a:off x="548640" y="1508760"/>
            <a:ext cx="6583680" cy="3872484"/>
          </a:xfrm>
          <a:prstGeom prst="rect">
            <a:avLst/>
          </a:prstGeom>
        </p:spPr>
      </p:pic>
      <p:sp>
        <p:nvSpPr>
          <p:cNvPr id="6" name="Shape 2"/>
          <p:cNvSpPr/>
          <p:nvPr/>
        </p:nvSpPr>
        <p:spPr>
          <a:xfrm>
            <a:off x="2287614" y="1437222"/>
            <a:ext cx="365760" cy="365760"/>
          </a:xfrm>
          <a:prstGeom prst="ellipse">
            <a:avLst/>
          </a:prstGeom>
          <a:solidFill>
            <a:srgbClr val="2A9FD6"/>
          </a:solidFill>
          <a:ln w="25400">
            <a:solidFill>
              <a:srgbClr val="FFFFFF"/>
            </a:solidFill>
            <a:prstDash val="solid"/>
          </a:ln>
        </p:spPr>
      </p:sp>
      <p:sp>
        <p:nvSpPr>
          <p:cNvPr id="7" name="Text 3"/>
          <p:cNvSpPr txBox="1"/>
          <p:nvPr/>
        </p:nvSpPr>
        <p:spPr>
          <a:xfrm>
            <a:off x="2287614" y="143722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Shape 4"/>
          <p:cNvSpPr/>
          <p:nvPr/>
        </p:nvSpPr>
        <p:spPr>
          <a:xfrm>
            <a:off x="4722607" y="1814815"/>
            <a:ext cx="365760" cy="365760"/>
          </a:xfrm>
          <a:prstGeom prst="ellipse">
            <a:avLst/>
          </a:prstGeom>
          <a:solidFill>
            <a:srgbClr val="F5A623"/>
          </a:solidFill>
          <a:ln w="25400">
            <a:solidFill>
              <a:srgbClr val="FFFFFF"/>
            </a:solidFill>
            <a:prstDash val="solid"/>
          </a:ln>
        </p:spPr>
      </p:sp>
      <p:sp>
        <p:nvSpPr>
          <p:cNvPr id="9" name="Text 5"/>
          <p:cNvSpPr txBox="1"/>
          <p:nvPr/>
        </p:nvSpPr>
        <p:spPr>
          <a:xfrm>
            <a:off x="4722607" y="1814815"/>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0" name="Shape 6"/>
          <p:cNvSpPr/>
          <p:nvPr/>
        </p:nvSpPr>
        <p:spPr>
          <a:xfrm>
            <a:off x="5477794" y="1814815"/>
            <a:ext cx="365760" cy="365760"/>
          </a:xfrm>
          <a:prstGeom prst="ellipse">
            <a:avLst/>
          </a:prstGeom>
          <a:solidFill>
            <a:srgbClr val="2459D8"/>
          </a:solidFill>
          <a:ln w="25400">
            <a:solidFill>
              <a:srgbClr val="FFFFFF"/>
            </a:solidFill>
            <a:prstDash val="solid"/>
          </a:ln>
        </p:spPr>
      </p:sp>
      <p:sp>
        <p:nvSpPr>
          <p:cNvPr id="11" name="Text 7"/>
          <p:cNvSpPr txBox="1"/>
          <p:nvPr/>
        </p:nvSpPr>
        <p:spPr>
          <a:xfrm>
            <a:off x="5477794" y="1814815"/>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Shape 8"/>
          <p:cNvSpPr/>
          <p:nvPr/>
        </p:nvSpPr>
        <p:spPr>
          <a:xfrm>
            <a:off x="5497158" y="2090749"/>
            <a:ext cx="365760" cy="365760"/>
          </a:xfrm>
          <a:prstGeom prst="ellipse">
            <a:avLst/>
          </a:prstGeom>
          <a:solidFill>
            <a:srgbClr val="17875A"/>
          </a:solidFill>
          <a:ln w="25400">
            <a:solidFill>
              <a:srgbClr val="FFFFFF"/>
            </a:solidFill>
            <a:prstDash val="solid"/>
          </a:ln>
        </p:spPr>
      </p:sp>
      <p:sp>
        <p:nvSpPr>
          <p:cNvPr id="13" name="Text 9"/>
          <p:cNvSpPr txBox="1"/>
          <p:nvPr/>
        </p:nvSpPr>
        <p:spPr>
          <a:xfrm>
            <a:off x="5497158" y="2090749"/>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4" name="Shape 10"/>
          <p:cNvSpPr/>
          <p:nvPr/>
        </p:nvSpPr>
        <p:spPr>
          <a:xfrm>
            <a:off x="5477794" y="2657139"/>
            <a:ext cx="365760" cy="365760"/>
          </a:xfrm>
          <a:prstGeom prst="ellipse">
            <a:avLst/>
          </a:prstGeom>
          <a:solidFill>
            <a:srgbClr val="D1416B"/>
          </a:solidFill>
          <a:ln w="25400">
            <a:solidFill>
              <a:srgbClr val="FFFFFF"/>
            </a:solidFill>
            <a:prstDash val="solid"/>
          </a:ln>
        </p:spPr>
      </p:sp>
      <p:sp>
        <p:nvSpPr>
          <p:cNvPr id="15" name="Text 11"/>
          <p:cNvSpPr txBox="1"/>
          <p:nvPr/>
        </p:nvSpPr>
        <p:spPr>
          <a:xfrm>
            <a:off x="5477794" y="2657139"/>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6" name="Shape 12"/>
          <p:cNvSpPr/>
          <p:nvPr/>
        </p:nvSpPr>
        <p:spPr>
          <a:xfrm>
            <a:off x="6533119" y="3620486"/>
            <a:ext cx="365760" cy="365760"/>
          </a:xfrm>
          <a:prstGeom prst="ellipse">
            <a:avLst/>
          </a:prstGeom>
          <a:solidFill>
            <a:srgbClr val="7448D4"/>
          </a:solidFill>
          <a:ln w="25400">
            <a:solidFill>
              <a:srgbClr val="FFFFFF"/>
            </a:solidFill>
            <a:prstDash val="solid"/>
          </a:ln>
        </p:spPr>
      </p:sp>
      <p:sp>
        <p:nvSpPr>
          <p:cNvPr id="17" name="Text 13"/>
          <p:cNvSpPr txBox="1"/>
          <p:nvPr/>
        </p:nvSpPr>
        <p:spPr>
          <a:xfrm>
            <a:off x="6533119" y="362048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18" name="Shape 14"/>
          <p:cNvSpPr/>
          <p:nvPr/>
        </p:nvSpPr>
        <p:spPr>
          <a:xfrm>
            <a:off x="2447365" y="3843169"/>
            <a:ext cx="365760" cy="365760"/>
          </a:xfrm>
          <a:prstGeom prst="ellipse">
            <a:avLst/>
          </a:prstGeom>
          <a:solidFill>
            <a:srgbClr val="56657E"/>
          </a:solidFill>
          <a:ln w="25400">
            <a:solidFill>
              <a:srgbClr val="FFFFFF"/>
            </a:solidFill>
            <a:prstDash val="solid"/>
          </a:ln>
        </p:spPr>
      </p:sp>
      <p:sp>
        <p:nvSpPr>
          <p:cNvPr id="19" name="Text 15"/>
          <p:cNvSpPr txBox="1"/>
          <p:nvPr/>
        </p:nvSpPr>
        <p:spPr>
          <a:xfrm>
            <a:off x="2447365" y="3843169"/>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0" name="Shape 16"/>
          <p:cNvSpPr/>
          <p:nvPr/>
        </p:nvSpPr>
        <p:spPr>
          <a:xfrm>
            <a:off x="6470187" y="4985632"/>
            <a:ext cx="365760" cy="365760"/>
          </a:xfrm>
          <a:prstGeom prst="ellipse">
            <a:avLst/>
          </a:prstGeom>
          <a:solidFill>
            <a:srgbClr val="2459D8"/>
          </a:solidFill>
          <a:ln w="25400">
            <a:solidFill>
              <a:srgbClr val="FFFFFF"/>
            </a:solidFill>
            <a:prstDash val="solid"/>
          </a:ln>
        </p:spPr>
      </p:sp>
      <p:sp>
        <p:nvSpPr>
          <p:cNvPr id="21" name="Text 17"/>
          <p:cNvSpPr txBox="1"/>
          <p:nvPr/>
        </p:nvSpPr>
        <p:spPr>
          <a:xfrm>
            <a:off x="6470187" y="49856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22" name="Text 18"/>
          <p:cNvSpPr txBox="1"/>
          <p:nvPr/>
        </p:nvSpPr>
        <p:spPr>
          <a:xfrm>
            <a:off x="548640" y="5577840"/>
            <a:ext cx="6400800" cy="320040"/>
          </a:xfrm>
          <a:prstGeom prst="rect">
            <a:avLst/>
          </a:prstGeom>
          <a:noFill/>
          <a:ln/>
        </p:spPr>
        <p:txBody>
          <a:bodyPr wrap="square" lIns="0" tIns="0" rIns="0" bIns="0" rtlCol="0" anchor="t"/>
          <a:lstStyle/>
          <a:p>
            <a:pPr indent="0" marL="0">
              <a:buNone/>
            </a:pPr>
            <a:r>
              <a:rPr lang="en-US" sz="1200" dirty="0">
                <a:solidFill>
                  <a:srgbClr val="56657E"/>
                </a:solidFill>
                <a:latin typeface="Calibri" pitchFamily="34" charset="0"/>
                <a:ea typeface="Calibri" pitchFamily="34" charset="-122"/>
                <a:cs typeface="Calibri" pitchFamily="34" charset="-120"/>
              </a:rPr>
              <a:t>Mid-game: missions 1 to 3 captured, Mission 4 open.</a:t>
            </a:r>
            <a:endParaRPr lang="en-US" sz="1200" dirty="0"/>
          </a:p>
        </p:txBody>
      </p:sp>
      <p:sp>
        <p:nvSpPr>
          <p:cNvPr id="23" name="Shape 19"/>
          <p:cNvSpPr/>
          <p:nvPr/>
        </p:nvSpPr>
        <p:spPr>
          <a:xfrm>
            <a:off x="7406640" y="1527048"/>
            <a:ext cx="329184" cy="329184"/>
          </a:xfrm>
          <a:prstGeom prst="ellipse">
            <a:avLst/>
          </a:prstGeom>
          <a:solidFill>
            <a:srgbClr val="2A9FD6"/>
          </a:solidFill>
          <a:ln/>
        </p:spPr>
      </p:sp>
      <p:sp>
        <p:nvSpPr>
          <p:cNvPr id="24" name="Text 20"/>
          <p:cNvSpPr txBox="1"/>
          <p:nvPr/>
        </p:nvSpPr>
        <p:spPr>
          <a:xfrm>
            <a:off x="7406640" y="15270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5" name="Text 21"/>
          <p:cNvSpPr txBox="1"/>
          <p:nvPr/>
        </p:nvSpPr>
        <p:spPr>
          <a:xfrm>
            <a:off x="7863840" y="148132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Progress track  </a:t>
            </a:r>
            <a:pPr indent="0" marL="0">
              <a:buNone/>
            </a:pPr>
            <a:r>
              <a:rPr lang="en-US" sz="1300" dirty="0">
                <a:solidFill>
                  <a:srgbClr val="56657E"/>
                </a:solidFill>
                <a:latin typeface="Calibri" pitchFamily="34" charset="0"/>
                <a:ea typeface="Calibri" pitchFamily="34" charset="-122"/>
                <a:cs typeface="Calibri" pitchFamily="34" charset="-120"/>
              </a:rPr>
              <a:t>One coloured bar lights up per flag.</a:t>
            </a:r>
            <a:endParaRPr lang="en-US" sz="1600" dirty="0"/>
          </a:p>
        </p:txBody>
      </p:sp>
      <p:sp>
        <p:nvSpPr>
          <p:cNvPr id="26" name="Shape 22"/>
          <p:cNvSpPr/>
          <p:nvPr/>
        </p:nvSpPr>
        <p:spPr>
          <a:xfrm>
            <a:off x="7406640" y="2075688"/>
            <a:ext cx="329184" cy="329184"/>
          </a:xfrm>
          <a:prstGeom prst="ellipse">
            <a:avLst/>
          </a:prstGeom>
          <a:solidFill>
            <a:srgbClr val="F5A623"/>
          </a:solidFill>
          <a:ln/>
        </p:spPr>
      </p:sp>
      <p:sp>
        <p:nvSpPr>
          <p:cNvPr id="27" name="Text 23"/>
          <p:cNvSpPr txBox="1"/>
          <p:nvPr/>
        </p:nvSpPr>
        <p:spPr>
          <a:xfrm>
            <a:off x="7406640" y="20756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8" name="Text 24"/>
          <p:cNvSpPr txBox="1"/>
          <p:nvPr/>
        </p:nvSpPr>
        <p:spPr>
          <a:xfrm>
            <a:off x="7863840" y="202996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Points  </a:t>
            </a:r>
            <a:pPr indent="0" marL="0">
              <a:buNone/>
            </a:pPr>
            <a:r>
              <a:rPr lang="en-US" sz="1300" dirty="0">
                <a:solidFill>
                  <a:srgbClr val="56657E"/>
                </a:solidFill>
                <a:latin typeface="Calibri" pitchFamily="34" charset="0"/>
                <a:ea typeface="Calibri" pitchFamily="34" charset="-122"/>
                <a:cs typeface="Calibri" pitchFamily="34" charset="-120"/>
              </a:rPr>
              <a:t>Your score, out of 2,700.</a:t>
            </a:r>
            <a:endParaRPr lang="en-US" sz="1600" dirty="0"/>
          </a:p>
        </p:txBody>
      </p:sp>
      <p:sp>
        <p:nvSpPr>
          <p:cNvPr id="29" name="Shape 25"/>
          <p:cNvSpPr/>
          <p:nvPr/>
        </p:nvSpPr>
        <p:spPr>
          <a:xfrm>
            <a:off x="7406640" y="2624328"/>
            <a:ext cx="329184" cy="329184"/>
          </a:xfrm>
          <a:prstGeom prst="ellipse">
            <a:avLst/>
          </a:prstGeom>
          <a:solidFill>
            <a:srgbClr val="2459D8"/>
          </a:solidFill>
          <a:ln/>
        </p:spPr>
      </p:sp>
      <p:sp>
        <p:nvSpPr>
          <p:cNvPr id="30" name="Text 26"/>
          <p:cNvSpPr txBox="1"/>
          <p:nvPr/>
        </p:nvSpPr>
        <p:spPr>
          <a:xfrm>
            <a:off x="7406640" y="26243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1" name="Text 27"/>
          <p:cNvSpPr txBox="1"/>
          <p:nvPr/>
        </p:nvSpPr>
        <p:spPr>
          <a:xfrm>
            <a:off x="7863840" y="257860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Clock  </a:t>
            </a:r>
            <a:pPr indent="0" marL="0">
              <a:buNone/>
            </a:pPr>
            <a:r>
              <a:rPr lang="en-US" sz="1300" dirty="0">
                <a:solidFill>
                  <a:srgbClr val="56657E"/>
                </a:solidFill>
                <a:latin typeface="Calibri" pitchFamily="34" charset="0"/>
                <a:ea typeface="Calibri" pitchFamily="34" charset="-122"/>
                <a:cs typeface="Calibri" pitchFamily="34" charset="-120"/>
              </a:rPr>
              <a:t>Starts at Mission 1 and counts up.</a:t>
            </a:r>
            <a:endParaRPr lang="en-US" sz="1600" dirty="0"/>
          </a:p>
        </p:txBody>
      </p:sp>
      <p:sp>
        <p:nvSpPr>
          <p:cNvPr id="32" name="Shape 28"/>
          <p:cNvSpPr/>
          <p:nvPr/>
        </p:nvSpPr>
        <p:spPr>
          <a:xfrm>
            <a:off x="7406640" y="3172968"/>
            <a:ext cx="329184" cy="329184"/>
          </a:xfrm>
          <a:prstGeom prst="ellipse">
            <a:avLst/>
          </a:prstGeom>
          <a:solidFill>
            <a:srgbClr val="17875A"/>
          </a:solidFill>
          <a:ln/>
        </p:spPr>
      </p:sp>
      <p:sp>
        <p:nvSpPr>
          <p:cNvPr id="33" name="Text 29"/>
          <p:cNvSpPr txBox="1"/>
          <p:nvPr/>
        </p:nvSpPr>
        <p:spPr>
          <a:xfrm>
            <a:off x="7406640" y="31729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4" name="Text 30"/>
          <p:cNvSpPr txBox="1"/>
          <p:nvPr/>
        </p:nvSpPr>
        <p:spPr>
          <a:xfrm>
            <a:off x="7863840" y="312724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Stepper  </a:t>
            </a:r>
            <a:pPr indent="0" marL="0">
              <a:buNone/>
            </a:pPr>
            <a:r>
              <a:rPr lang="en-US" sz="1300" dirty="0">
                <a:solidFill>
                  <a:srgbClr val="56657E"/>
                </a:solidFill>
                <a:latin typeface="Calibri" pitchFamily="34" charset="0"/>
                <a:ea typeface="Calibri" pitchFamily="34" charset="-122"/>
                <a:cs typeface="Calibri" pitchFamily="34" charset="-120"/>
              </a:rPr>
              <a:t>A green check per captured flag.</a:t>
            </a:r>
            <a:endParaRPr lang="en-US" sz="1600" dirty="0"/>
          </a:p>
        </p:txBody>
      </p:sp>
      <p:sp>
        <p:nvSpPr>
          <p:cNvPr id="35" name="Shape 31"/>
          <p:cNvSpPr/>
          <p:nvPr/>
        </p:nvSpPr>
        <p:spPr>
          <a:xfrm>
            <a:off x="7406640" y="3721608"/>
            <a:ext cx="329184" cy="329184"/>
          </a:xfrm>
          <a:prstGeom prst="ellipse">
            <a:avLst/>
          </a:prstGeom>
          <a:solidFill>
            <a:srgbClr val="D1416B"/>
          </a:solidFill>
          <a:ln/>
        </p:spPr>
      </p:sp>
      <p:sp>
        <p:nvSpPr>
          <p:cNvPr id="36" name="Text 32"/>
          <p:cNvSpPr txBox="1"/>
          <p:nvPr/>
        </p:nvSpPr>
        <p:spPr>
          <a:xfrm>
            <a:off x="7406640" y="37216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7" name="Text 33"/>
          <p:cNvSpPr txBox="1"/>
          <p:nvPr/>
        </p:nvSpPr>
        <p:spPr>
          <a:xfrm>
            <a:off x="7863840" y="367588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Level and points  </a:t>
            </a:r>
            <a:pPr indent="0" marL="0">
              <a:buNone/>
            </a:pPr>
            <a:r>
              <a:rPr lang="en-US" sz="1300" dirty="0">
                <a:solidFill>
                  <a:srgbClr val="56657E"/>
                </a:solidFill>
                <a:latin typeface="Calibri" pitchFamily="34" charset="0"/>
                <a:ea typeface="Calibri" pitchFamily="34" charset="-122"/>
                <a:cs typeface="Calibri" pitchFamily="34" charset="-120"/>
              </a:rPr>
              <a:t>Easy 100 up to Very Hard 800.</a:t>
            </a:r>
            <a:endParaRPr lang="en-US" sz="1600" dirty="0"/>
          </a:p>
        </p:txBody>
      </p:sp>
      <p:sp>
        <p:nvSpPr>
          <p:cNvPr id="38" name="Shape 34"/>
          <p:cNvSpPr/>
          <p:nvPr/>
        </p:nvSpPr>
        <p:spPr>
          <a:xfrm>
            <a:off x="7406640" y="4270248"/>
            <a:ext cx="329184" cy="329184"/>
          </a:xfrm>
          <a:prstGeom prst="ellipse">
            <a:avLst/>
          </a:prstGeom>
          <a:solidFill>
            <a:srgbClr val="7448D4"/>
          </a:solidFill>
          <a:ln/>
        </p:spPr>
      </p:sp>
      <p:sp>
        <p:nvSpPr>
          <p:cNvPr id="39" name="Text 35"/>
          <p:cNvSpPr txBox="1"/>
          <p:nvPr/>
        </p:nvSpPr>
        <p:spPr>
          <a:xfrm>
            <a:off x="7406640" y="42702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0" name="Text 36"/>
          <p:cNvSpPr txBox="1"/>
          <p:nvPr/>
        </p:nvSpPr>
        <p:spPr>
          <a:xfrm>
            <a:off x="7863840" y="422452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Copy buttons  </a:t>
            </a:r>
            <a:pPr indent="0" marL="0">
              <a:buNone/>
            </a:pPr>
            <a:r>
              <a:rPr lang="en-US" sz="1300" dirty="0">
                <a:solidFill>
                  <a:srgbClr val="56657E"/>
                </a:solidFill>
                <a:latin typeface="Calibri" pitchFamily="34" charset="0"/>
                <a:ea typeface="Calibri" pitchFamily="34" charset="-122"/>
                <a:cs typeface="Calibri" pitchFamily="34" charset="-120"/>
              </a:rPr>
              <a:t>Copy a starting command, then paste it.</a:t>
            </a:r>
            <a:endParaRPr lang="en-US" sz="1600" dirty="0"/>
          </a:p>
        </p:txBody>
      </p:sp>
      <p:sp>
        <p:nvSpPr>
          <p:cNvPr id="41" name="Shape 37"/>
          <p:cNvSpPr/>
          <p:nvPr/>
        </p:nvSpPr>
        <p:spPr>
          <a:xfrm>
            <a:off x="7406640" y="4818888"/>
            <a:ext cx="329184" cy="329184"/>
          </a:xfrm>
          <a:prstGeom prst="ellipse">
            <a:avLst/>
          </a:prstGeom>
          <a:solidFill>
            <a:srgbClr val="56657E"/>
          </a:solidFill>
          <a:ln/>
        </p:spPr>
      </p:sp>
      <p:sp>
        <p:nvSpPr>
          <p:cNvPr id="42" name="Text 38"/>
          <p:cNvSpPr txBox="1"/>
          <p:nvPr/>
        </p:nvSpPr>
        <p:spPr>
          <a:xfrm>
            <a:off x="7406640" y="48188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43" name="Text 39"/>
          <p:cNvSpPr txBox="1"/>
          <p:nvPr/>
        </p:nvSpPr>
        <p:spPr>
          <a:xfrm>
            <a:off x="7863840" y="477316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Terminal  </a:t>
            </a:r>
            <a:pPr indent="0" marL="0">
              <a:buNone/>
            </a:pPr>
            <a:r>
              <a:rPr lang="en-US" sz="1300" dirty="0">
                <a:solidFill>
                  <a:srgbClr val="56657E"/>
                </a:solidFill>
                <a:latin typeface="Calibri" pitchFamily="34" charset="0"/>
                <a:ea typeface="Calibri" pitchFamily="34" charset="-122"/>
                <a:cs typeface="Calibri" pitchFamily="34" charset="-120"/>
              </a:rPr>
              <a:t>Click inside it before you type.</a:t>
            </a:r>
            <a:endParaRPr lang="en-US" sz="1600" dirty="0"/>
          </a:p>
        </p:txBody>
      </p:sp>
      <p:sp>
        <p:nvSpPr>
          <p:cNvPr id="44" name="Shape 40"/>
          <p:cNvSpPr/>
          <p:nvPr/>
        </p:nvSpPr>
        <p:spPr>
          <a:xfrm>
            <a:off x="7406640" y="5367528"/>
            <a:ext cx="329184" cy="329184"/>
          </a:xfrm>
          <a:prstGeom prst="ellipse">
            <a:avLst/>
          </a:prstGeom>
          <a:solidFill>
            <a:srgbClr val="2459D8"/>
          </a:solidFill>
          <a:ln/>
        </p:spPr>
      </p:sp>
      <p:sp>
        <p:nvSpPr>
          <p:cNvPr id="45" name="Text 41"/>
          <p:cNvSpPr txBox="1"/>
          <p:nvPr/>
        </p:nvSpPr>
        <p:spPr>
          <a:xfrm>
            <a:off x="7406640" y="53675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46" name="Text 42"/>
          <p:cNvSpPr txBox="1"/>
          <p:nvPr/>
        </p:nvSpPr>
        <p:spPr>
          <a:xfrm>
            <a:off x="7863840" y="5321808"/>
            <a:ext cx="3794760" cy="45720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Next mission  </a:t>
            </a:r>
            <a:pPr indent="0" marL="0">
              <a:buNone/>
            </a:pPr>
            <a:r>
              <a:rPr lang="en-US" sz="1300" dirty="0">
                <a:solidFill>
                  <a:srgbClr val="56657E"/>
                </a:solidFill>
                <a:latin typeface="Calibri" pitchFamily="34" charset="0"/>
                <a:ea typeface="Calibri" pitchFamily="34" charset="-122"/>
                <a:cs typeface="Calibri" pitchFamily="34" charset="-120"/>
              </a:rPr>
              <a:t>Unlocks when the flag is captured.</a:t>
            </a:r>
            <a:endParaRPr lang="en-US" sz="1600" dirty="0"/>
          </a:p>
        </p:txBody>
      </p:sp>
      <p:sp>
        <p:nvSpPr>
          <p:cNvPr id="47" name="Text 43"/>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40 / 61</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Mentor appendix: how the Crypto CTF works</a:t>
            </a:r>
            <a:endParaRPr lang="en-US" sz="3200" dirty="0"/>
          </a:p>
        </p:txBody>
      </p:sp>
      <p:sp>
        <p:nvSpPr>
          <p:cNvPr id="4" name="Shape 1"/>
          <p:cNvSpPr/>
          <p:nvPr/>
        </p:nvSpPr>
        <p:spPr>
          <a:xfrm>
            <a:off x="548640" y="1554480"/>
            <a:ext cx="3566160" cy="3063240"/>
          </a:xfrm>
          <a:prstGeom prst="roundRect">
            <a:avLst>
              <a:gd name="adj" fmla="val 2985"/>
            </a:avLst>
          </a:prstGeom>
          <a:solidFill>
            <a:srgbClr val="F1F5FB"/>
          </a:solidFill>
          <a:ln/>
        </p:spPr>
      </p:sp>
      <p:sp>
        <p:nvSpPr>
          <p:cNvPr id="5" name="Shape 2"/>
          <p:cNvSpPr/>
          <p:nvPr/>
        </p:nvSpPr>
        <p:spPr>
          <a:xfrm>
            <a:off x="822960" y="1783080"/>
            <a:ext cx="868680" cy="868680"/>
          </a:xfrm>
          <a:prstGeom prst="ellipse">
            <a:avLst/>
          </a:prstGeom>
          <a:solidFill>
            <a:srgbClr val="2A9FD6"/>
          </a:solidFill>
          <a:ln/>
        </p:spPr>
      </p:sp>
      <p:pic>
        <p:nvPicPr>
          <p:cNvPr id="6" name="Image 0" descr="preencoded.png">    </p:cNvPr>
          <p:cNvPicPr>
            <a:picLocks noChangeAspect="1"/>
          </p:cNvPicPr>
          <p:nvPr/>
        </p:nvPicPr>
        <p:blipFill>
          <a:blip r:embed="rId1"/>
          <a:stretch>
            <a:fillRect/>
          </a:stretch>
        </p:blipFill>
        <p:spPr>
          <a:xfrm>
            <a:off x="1040130" y="2000250"/>
            <a:ext cx="434340" cy="434340"/>
          </a:xfrm>
          <a:prstGeom prst="rect">
            <a:avLst/>
          </a:prstGeom>
        </p:spPr>
      </p:pic>
      <p:sp>
        <p:nvSpPr>
          <p:cNvPr id="7" name="Text 3"/>
          <p:cNvSpPr txBox="1"/>
          <p:nvPr/>
        </p:nvSpPr>
        <p:spPr>
          <a:xfrm>
            <a:off x="822960" y="2834640"/>
            <a:ext cx="3017520" cy="457200"/>
          </a:xfrm>
          <a:prstGeom prst="rect">
            <a:avLst/>
          </a:prstGeom>
          <a:noFill/>
          <a:ln/>
        </p:spPr>
        <p:txBody>
          <a:bodyPr wrap="square" lIns="0" tIns="0" rIns="0" bIns="0" rtlCol="0" anchor="t"/>
          <a:lstStyle/>
          <a:p>
            <a:pPr indent="0" marL="0">
              <a:buNone/>
            </a:pPr>
            <a:r>
              <a:rPr lang="en-US" sz="2200" b="1" dirty="0">
                <a:solidFill>
                  <a:srgbClr val="12213A"/>
                </a:solidFill>
                <a:latin typeface="Arial" pitchFamily="34" charset="0"/>
                <a:ea typeface="Arial" pitchFamily="34" charset="-122"/>
                <a:cs typeface="Arial" pitchFamily="34" charset="-120"/>
              </a:rPr>
              <a:t>A real terminal</a:t>
            </a:r>
            <a:endParaRPr lang="en-US" sz="2200" dirty="0"/>
          </a:p>
        </p:txBody>
      </p:sp>
      <p:sp>
        <p:nvSpPr>
          <p:cNvPr id="8" name="Text 4"/>
          <p:cNvSpPr txBox="1"/>
          <p:nvPr/>
        </p:nvSpPr>
        <p:spPr>
          <a:xfrm>
            <a:off x="822960" y="3337560"/>
            <a:ext cx="3017520" cy="118872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Linux in the browser, plus five small crypto helper tools.</a:t>
            </a:r>
            <a:endParaRPr lang="en-US" sz="1600" dirty="0"/>
          </a:p>
        </p:txBody>
      </p:sp>
      <p:sp>
        <p:nvSpPr>
          <p:cNvPr id="9" name="Shape 5"/>
          <p:cNvSpPr/>
          <p:nvPr/>
        </p:nvSpPr>
        <p:spPr>
          <a:xfrm>
            <a:off x="4306824" y="1554480"/>
            <a:ext cx="3566160" cy="3063240"/>
          </a:xfrm>
          <a:prstGeom prst="roundRect">
            <a:avLst>
              <a:gd name="adj" fmla="val 2985"/>
            </a:avLst>
          </a:prstGeom>
          <a:solidFill>
            <a:srgbClr val="F1F5FB"/>
          </a:solidFill>
          <a:ln/>
        </p:spPr>
      </p:sp>
      <p:sp>
        <p:nvSpPr>
          <p:cNvPr id="10" name="Shape 6"/>
          <p:cNvSpPr/>
          <p:nvPr/>
        </p:nvSpPr>
        <p:spPr>
          <a:xfrm>
            <a:off x="4581144" y="1783080"/>
            <a:ext cx="868680" cy="868680"/>
          </a:xfrm>
          <a:prstGeom prst="ellipse">
            <a:avLst/>
          </a:prstGeom>
          <a:solidFill>
            <a:srgbClr val="7448D4"/>
          </a:solidFill>
          <a:ln/>
        </p:spPr>
      </p:sp>
      <p:pic>
        <p:nvPicPr>
          <p:cNvPr id="11" name="Image 1" descr="preencoded.png">    </p:cNvPr>
          <p:cNvPicPr>
            <a:picLocks noChangeAspect="1"/>
          </p:cNvPicPr>
          <p:nvPr/>
        </p:nvPicPr>
        <p:blipFill>
          <a:blip r:embed="rId2"/>
          <a:stretch>
            <a:fillRect/>
          </a:stretch>
        </p:blipFill>
        <p:spPr>
          <a:xfrm>
            <a:off x="4798314" y="2000250"/>
            <a:ext cx="434340" cy="434340"/>
          </a:xfrm>
          <a:prstGeom prst="rect">
            <a:avLst/>
          </a:prstGeom>
        </p:spPr>
      </p:pic>
      <p:sp>
        <p:nvSpPr>
          <p:cNvPr id="12" name="Text 7"/>
          <p:cNvSpPr txBox="1"/>
          <p:nvPr/>
        </p:nvSpPr>
        <p:spPr>
          <a:xfrm>
            <a:off x="4581144" y="2834640"/>
            <a:ext cx="3017520" cy="457200"/>
          </a:xfrm>
          <a:prstGeom prst="rect">
            <a:avLst/>
          </a:prstGeom>
          <a:noFill/>
          <a:ln/>
        </p:spPr>
        <p:txBody>
          <a:bodyPr wrap="square" lIns="0" tIns="0" rIns="0" bIns="0" rtlCol="0" anchor="t"/>
          <a:lstStyle/>
          <a:p>
            <a:pPr indent="0" marL="0">
              <a:buNone/>
            </a:pPr>
            <a:r>
              <a:rPr lang="en-US" sz="2200" b="1" dirty="0">
                <a:solidFill>
                  <a:srgbClr val="12213A"/>
                </a:solidFill>
                <a:latin typeface="Arial" pitchFamily="34" charset="0"/>
                <a:ea typeface="Arial" pitchFamily="34" charset="-122"/>
                <a:cs typeface="Arial" pitchFamily="34" charset="-120"/>
              </a:rPr>
              <a:t>New keys every load</a:t>
            </a:r>
            <a:endParaRPr lang="en-US" sz="2200" dirty="0"/>
          </a:p>
        </p:txBody>
      </p:sp>
      <p:sp>
        <p:nvSpPr>
          <p:cNvPr id="13" name="Text 8"/>
          <p:cNvSpPr txBox="1"/>
          <p:nvPr/>
        </p:nvSpPr>
        <p:spPr>
          <a:xfrm>
            <a:off x="4581144" y="3337560"/>
            <a:ext cx="3017520" cy="118872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Random flags, shifts, XOR keys and keywords. No answer file.</a:t>
            </a:r>
            <a:endParaRPr lang="en-US" sz="1600" dirty="0"/>
          </a:p>
        </p:txBody>
      </p:sp>
      <p:sp>
        <p:nvSpPr>
          <p:cNvPr id="14" name="Shape 9"/>
          <p:cNvSpPr/>
          <p:nvPr/>
        </p:nvSpPr>
        <p:spPr>
          <a:xfrm>
            <a:off x="8065008" y="1554480"/>
            <a:ext cx="3566160" cy="3063240"/>
          </a:xfrm>
          <a:prstGeom prst="roundRect">
            <a:avLst>
              <a:gd name="adj" fmla="val 2985"/>
            </a:avLst>
          </a:prstGeom>
          <a:solidFill>
            <a:srgbClr val="F1F5FB"/>
          </a:solidFill>
          <a:ln/>
        </p:spPr>
      </p:sp>
      <p:sp>
        <p:nvSpPr>
          <p:cNvPr id="15" name="Shape 10"/>
          <p:cNvSpPr/>
          <p:nvPr/>
        </p:nvSpPr>
        <p:spPr>
          <a:xfrm>
            <a:off x="8339328" y="1783080"/>
            <a:ext cx="868680" cy="868680"/>
          </a:xfrm>
          <a:prstGeom prst="ellipse">
            <a:avLst/>
          </a:prstGeom>
          <a:solidFill>
            <a:srgbClr val="D1416B"/>
          </a:solidFill>
          <a:ln/>
        </p:spPr>
      </p:sp>
      <p:pic>
        <p:nvPicPr>
          <p:cNvPr id="16" name="Image 2" descr="preencoded.png">    </p:cNvPr>
          <p:cNvPicPr>
            <a:picLocks noChangeAspect="1"/>
          </p:cNvPicPr>
          <p:nvPr/>
        </p:nvPicPr>
        <p:blipFill>
          <a:blip r:embed="rId3"/>
          <a:stretch>
            <a:fillRect/>
          </a:stretch>
        </p:blipFill>
        <p:spPr>
          <a:xfrm>
            <a:off x="8556498" y="2000250"/>
            <a:ext cx="434340" cy="434340"/>
          </a:xfrm>
          <a:prstGeom prst="rect">
            <a:avLst/>
          </a:prstGeom>
        </p:spPr>
      </p:pic>
      <p:sp>
        <p:nvSpPr>
          <p:cNvPr id="17" name="Text 11"/>
          <p:cNvSpPr txBox="1"/>
          <p:nvPr/>
        </p:nvSpPr>
        <p:spPr>
          <a:xfrm>
            <a:off x="8339328" y="2834640"/>
            <a:ext cx="3017520" cy="457200"/>
          </a:xfrm>
          <a:prstGeom prst="rect">
            <a:avLst/>
          </a:prstGeom>
          <a:noFill/>
          <a:ln/>
        </p:spPr>
        <p:txBody>
          <a:bodyPr wrap="square" lIns="0" tIns="0" rIns="0" bIns="0" rtlCol="0" anchor="t"/>
          <a:lstStyle/>
          <a:p>
            <a:pPr indent="0" marL="0">
              <a:buNone/>
            </a:pPr>
            <a:r>
              <a:rPr lang="en-US" sz="2200" b="1" dirty="0">
                <a:solidFill>
                  <a:srgbClr val="12213A"/>
                </a:solidFill>
                <a:latin typeface="Arial" pitchFamily="34" charset="0"/>
                <a:ea typeface="Arial" pitchFamily="34" charset="-122"/>
                <a:cs typeface="Arial" pitchFamily="34" charset="-120"/>
              </a:rPr>
              <a:t>Nothing to install</a:t>
            </a:r>
            <a:endParaRPr lang="en-US" sz="2200" dirty="0"/>
          </a:p>
        </p:txBody>
      </p:sp>
      <p:sp>
        <p:nvSpPr>
          <p:cNvPr id="18" name="Text 12"/>
          <p:cNvSpPr txBox="1"/>
          <p:nvPr/>
        </p:nvSpPr>
        <p:spPr>
          <a:xfrm>
            <a:off x="8339328" y="3337560"/>
            <a:ext cx="3017520" cy="1188720"/>
          </a:xfrm>
          <a:prstGeom prst="rect">
            <a:avLst/>
          </a:prstGeom>
          <a:noFill/>
          <a:ln/>
        </p:spPr>
        <p:txBody>
          <a:bodyPr wrap="square" lIns="0" tIns="0" rIns="0" bIns="0" rtlCol="0" anchor="t"/>
          <a:lstStyle/>
          <a:p>
            <a:pPr indent="0" marL="0">
              <a:buNone/>
            </a:pPr>
            <a:r>
              <a:rPr lang="en-US" sz="1600" dirty="0">
                <a:solidFill>
                  <a:srgbClr val="56657E"/>
                </a:solidFill>
                <a:latin typeface="Calibri" pitchFamily="34" charset="0"/>
                <a:ea typeface="Calibri" pitchFamily="34" charset="-122"/>
                <a:cs typeface="Calibri" pitchFamily="34" charset="-120"/>
              </a:rPr>
              <a:t>One link: your Pages address + /crypto/. No accounts.</a:t>
            </a:r>
            <a:endParaRPr lang="en-US" sz="1600" dirty="0"/>
          </a:p>
        </p:txBody>
      </p:sp>
      <p:sp>
        <p:nvSpPr>
          <p:cNvPr id="19" name="Text 13"/>
          <p:cNvSpPr txBox="1"/>
          <p:nvPr/>
        </p:nvSpPr>
        <p:spPr>
          <a:xfrm>
            <a:off x="548640" y="4892040"/>
            <a:ext cx="2743200" cy="320040"/>
          </a:xfrm>
          <a:prstGeom prst="rect">
            <a:avLst/>
          </a:prstGeom>
          <a:noFill/>
          <a:ln/>
        </p:spPr>
        <p:txBody>
          <a:bodyPr wrap="square" lIns="0" tIns="0" rIns="0" bIns="0" rtlCol="0" anchor="t"/>
          <a:lstStyle/>
          <a:p>
            <a:pPr indent="0" marL="0">
              <a:buNone/>
            </a:pPr>
            <a:r>
              <a:rPr lang="en-US" sz="1400" b="1" dirty="0">
                <a:solidFill>
                  <a:srgbClr val="56657E"/>
                </a:solidFill>
                <a:latin typeface="Calibri" pitchFamily="34" charset="0"/>
                <a:ea typeface="Calibri" pitchFamily="34" charset="-122"/>
                <a:cs typeface="Calibri" pitchFamily="34" charset="-120"/>
              </a:rPr>
              <a:t>Under the hood</a:t>
            </a:r>
            <a:endParaRPr lang="en-US" sz="1400" dirty="0"/>
          </a:p>
        </p:txBody>
      </p:sp>
      <p:sp>
        <p:nvSpPr>
          <p:cNvPr id="20" name="Shape 14"/>
          <p:cNvSpPr/>
          <p:nvPr/>
        </p:nvSpPr>
        <p:spPr>
          <a:xfrm>
            <a:off x="548640" y="5303520"/>
            <a:ext cx="1499616" cy="347472"/>
          </a:xfrm>
          <a:prstGeom prst="roundRect">
            <a:avLst>
              <a:gd name="adj" fmla="val 50000"/>
            </a:avLst>
          </a:prstGeom>
          <a:solidFill>
            <a:srgbClr val="E4EAF3"/>
          </a:solidFill>
          <a:ln/>
        </p:spPr>
      </p:sp>
      <p:sp>
        <p:nvSpPr>
          <p:cNvPr id="21" name="Text 15"/>
          <p:cNvSpPr txBox="1"/>
          <p:nvPr/>
        </p:nvSpPr>
        <p:spPr>
          <a:xfrm>
            <a:off x="548640" y="5303520"/>
            <a:ext cx="1499616" cy="347472"/>
          </a:xfrm>
          <a:prstGeom prst="rect">
            <a:avLst/>
          </a:prstGeom>
          <a:noFill/>
          <a:ln/>
        </p:spPr>
        <p:txBody>
          <a:bodyPr wrap="square" lIns="0" tIns="0" rIns="0" bIns="0" rtlCol="0" anchor="ctr"/>
          <a:lstStyle/>
          <a:p>
            <a:pPr algn="ctr" indent="0" marL="0">
              <a:buNone/>
            </a:pPr>
            <a:r>
              <a:rPr lang="en-US" sz="1250" b="1" dirty="0">
                <a:solidFill>
                  <a:srgbClr val="56657E"/>
                </a:solidFill>
                <a:latin typeface="Calibri" pitchFamily="34" charset="0"/>
                <a:ea typeface="Calibri" pitchFamily="34" charset="-122"/>
                <a:cs typeface="Calibri" pitchFamily="34" charset="-120"/>
              </a:rPr>
              <a:t>Your browser</a:t>
            </a:r>
            <a:endParaRPr lang="en-US" sz="1250" dirty="0"/>
          </a:p>
        </p:txBody>
      </p:sp>
      <p:sp>
        <p:nvSpPr>
          <p:cNvPr id="22" name="Text 16"/>
          <p:cNvSpPr txBox="1"/>
          <p:nvPr/>
        </p:nvSpPr>
        <p:spPr>
          <a:xfrm>
            <a:off x="2048256" y="5303520"/>
            <a:ext cx="109728" cy="347472"/>
          </a:xfrm>
          <a:prstGeom prst="rect">
            <a:avLst/>
          </a:prstGeom>
          <a:noFill/>
          <a:ln/>
        </p:spPr>
        <p:txBody>
          <a:bodyPr wrap="square" lIns="0" tIns="0" rIns="0" bIns="0" rtlCol="0" anchor="ctr"/>
          <a:lstStyle/>
          <a:p>
            <a:pPr algn="ctr" indent="0" marL="0">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23" name="Shape 17"/>
          <p:cNvSpPr/>
          <p:nvPr/>
        </p:nvSpPr>
        <p:spPr>
          <a:xfrm>
            <a:off x="2212848" y="5303520"/>
            <a:ext cx="2542032" cy="347472"/>
          </a:xfrm>
          <a:prstGeom prst="roundRect">
            <a:avLst>
              <a:gd name="adj" fmla="val 50000"/>
            </a:avLst>
          </a:prstGeom>
          <a:solidFill>
            <a:srgbClr val="2459D8"/>
          </a:solidFill>
          <a:ln/>
        </p:spPr>
      </p:sp>
      <p:sp>
        <p:nvSpPr>
          <p:cNvPr id="24" name="Text 18"/>
          <p:cNvSpPr txBox="1"/>
          <p:nvPr/>
        </p:nvSpPr>
        <p:spPr>
          <a:xfrm>
            <a:off x="2212848" y="5303520"/>
            <a:ext cx="2542032"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v86: a PC in WebAssembly</a:t>
            </a:r>
            <a:endParaRPr lang="en-US" sz="1250" dirty="0"/>
          </a:p>
        </p:txBody>
      </p:sp>
      <p:sp>
        <p:nvSpPr>
          <p:cNvPr id="25" name="Text 19"/>
          <p:cNvSpPr txBox="1"/>
          <p:nvPr/>
        </p:nvSpPr>
        <p:spPr>
          <a:xfrm>
            <a:off x="4754880" y="5303520"/>
            <a:ext cx="109728" cy="347472"/>
          </a:xfrm>
          <a:prstGeom prst="rect">
            <a:avLst/>
          </a:prstGeom>
          <a:noFill/>
          <a:ln/>
        </p:spPr>
        <p:txBody>
          <a:bodyPr wrap="square" lIns="0" tIns="0" rIns="0" bIns="0" rtlCol="0" anchor="ctr"/>
          <a:lstStyle/>
          <a:p>
            <a:pPr algn="ctr" indent="0" marL="0">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26" name="Shape 20"/>
          <p:cNvSpPr/>
          <p:nvPr/>
        </p:nvSpPr>
        <p:spPr>
          <a:xfrm>
            <a:off x="4919472" y="5303520"/>
            <a:ext cx="1760220" cy="347472"/>
          </a:xfrm>
          <a:prstGeom prst="roundRect">
            <a:avLst>
              <a:gd name="adj" fmla="val 50000"/>
            </a:avLst>
          </a:prstGeom>
          <a:solidFill>
            <a:srgbClr val="7448D4"/>
          </a:solidFill>
          <a:ln/>
        </p:spPr>
      </p:sp>
      <p:sp>
        <p:nvSpPr>
          <p:cNvPr id="27" name="Text 21"/>
          <p:cNvSpPr txBox="1"/>
          <p:nvPr/>
        </p:nvSpPr>
        <p:spPr>
          <a:xfrm>
            <a:off x="4919472" y="5303520"/>
            <a:ext cx="1760220"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Linux + BusyBox</a:t>
            </a:r>
            <a:endParaRPr lang="en-US" sz="1250" dirty="0"/>
          </a:p>
        </p:txBody>
      </p:sp>
      <p:sp>
        <p:nvSpPr>
          <p:cNvPr id="28" name="Text 22"/>
          <p:cNvSpPr txBox="1"/>
          <p:nvPr/>
        </p:nvSpPr>
        <p:spPr>
          <a:xfrm>
            <a:off x="6679692" y="5303520"/>
            <a:ext cx="109728" cy="347472"/>
          </a:xfrm>
          <a:prstGeom prst="rect">
            <a:avLst/>
          </a:prstGeom>
          <a:noFill/>
          <a:ln/>
        </p:spPr>
        <p:txBody>
          <a:bodyPr wrap="square" lIns="0" tIns="0" rIns="0" bIns="0" rtlCol="0" anchor="ctr"/>
          <a:lstStyle/>
          <a:p>
            <a:pPr algn="ctr" indent="0" marL="0">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29" name="Shape 23"/>
          <p:cNvSpPr/>
          <p:nvPr/>
        </p:nvSpPr>
        <p:spPr>
          <a:xfrm>
            <a:off x="6844284" y="5303520"/>
            <a:ext cx="2107692" cy="347472"/>
          </a:xfrm>
          <a:prstGeom prst="roundRect">
            <a:avLst>
              <a:gd name="adj" fmla="val 50000"/>
            </a:avLst>
          </a:prstGeom>
          <a:solidFill>
            <a:srgbClr val="D1416B"/>
          </a:solidFill>
          <a:ln/>
        </p:spPr>
      </p:sp>
      <p:sp>
        <p:nvSpPr>
          <p:cNvPr id="30" name="Text 24"/>
          <p:cNvSpPr txBox="1"/>
          <p:nvPr/>
        </p:nvSpPr>
        <p:spPr>
          <a:xfrm>
            <a:off x="6844284" y="5303520"/>
            <a:ext cx="2107692"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crypto helper tools</a:t>
            </a:r>
            <a:endParaRPr lang="en-US" sz="1250" dirty="0"/>
          </a:p>
        </p:txBody>
      </p:sp>
      <p:sp>
        <p:nvSpPr>
          <p:cNvPr id="31" name="Text 25"/>
          <p:cNvSpPr txBox="1"/>
          <p:nvPr/>
        </p:nvSpPr>
        <p:spPr>
          <a:xfrm>
            <a:off x="8951976" y="5303520"/>
            <a:ext cx="109728" cy="347472"/>
          </a:xfrm>
          <a:prstGeom prst="rect">
            <a:avLst/>
          </a:prstGeom>
          <a:noFill/>
          <a:ln/>
        </p:spPr>
        <p:txBody>
          <a:bodyPr wrap="square" lIns="0" tIns="0" rIns="0" bIns="0" rtlCol="0" anchor="ctr"/>
          <a:lstStyle/>
          <a:p>
            <a:pPr algn="ctr" indent="0" marL="0">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32" name="Shape 26"/>
          <p:cNvSpPr/>
          <p:nvPr/>
        </p:nvSpPr>
        <p:spPr>
          <a:xfrm>
            <a:off x="9116568" y="5303520"/>
            <a:ext cx="1760220" cy="347472"/>
          </a:xfrm>
          <a:prstGeom prst="roundRect">
            <a:avLst>
              <a:gd name="adj" fmla="val 50000"/>
            </a:avLst>
          </a:prstGeom>
          <a:solidFill>
            <a:srgbClr val="F5A623"/>
          </a:solidFill>
          <a:ln/>
        </p:spPr>
      </p:sp>
      <p:sp>
        <p:nvSpPr>
          <p:cNvPr id="33" name="Text 27"/>
          <p:cNvSpPr txBox="1"/>
          <p:nvPr/>
        </p:nvSpPr>
        <p:spPr>
          <a:xfrm>
            <a:off x="9116568" y="5303520"/>
            <a:ext cx="1760220" cy="347472"/>
          </a:xfrm>
          <a:prstGeom prst="rect">
            <a:avLst/>
          </a:prstGeom>
          <a:noFill/>
          <a:ln/>
        </p:spPr>
        <p:txBody>
          <a:bodyPr wrap="square" lIns="0" tIns="0" rIns="0" bIns="0" rtlCol="0" anchor="ctr"/>
          <a:lstStyle/>
          <a:p>
            <a:pPr algn="ctr" indent="0" marL="0">
              <a:buNone/>
            </a:pPr>
            <a:r>
              <a:rPr lang="en-US" sz="1250" b="1" dirty="0">
                <a:solidFill>
                  <a:srgbClr val="12213A"/>
                </a:solidFill>
                <a:latin typeface="Calibri" pitchFamily="34" charset="0"/>
                <a:ea typeface="Calibri" pitchFamily="34" charset="-122"/>
                <a:cs typeface="Calibri" pitchFamily="34" charset="-120"/>
              </a:rPr>
              <a:t>Your 10 ciphers</a:t>
            </a:r>
            <a:endParaRPr lang="en-US" sz="1250" dirty="0"/>
          </a:p>
        </p:txBody>
      </p:sp>
      <p:sp>
        <p:nvSpPr>
          <p:cNvPr id="34" name="Text 28"/>
          <p:cNvSpPr txBox="1"/>
          <p:nvPr/>
        </p:nvSpPr>
        <p:spPr>
          <a:xfrm>
            <a:off x="548640" y="5852160"/>
            <a:ext cx="10515600" cy="320040"/>
          </a:xfrm>
          <a:prstGeom prst="rect">
            <a:avLst/>
          </a:prstGeom>
          <a:noFill/>
          <a:ln/>
        </p:spPr>
        <p:txBody>
          <a:bodyPr wrap="square" lIns="0" tIns="0" rIns="0" bIns="0" rtlCol="0" anchor="t"/>
          <a:lstStyle/>
          <a:p>
            <a:pPr indent="0" marL="0">
              <a:buNone/>
            </a:pPr>
            <a:r>
              <a:rPr lang="en-US" sz="1300" dirty="0">
                <a:solidFill>
                  <a:srgbClr val="56657E"/>
                </a:solidFill>
                <a:latin typeface="Calibri" pitchFamily="34" charset="0"/>
                <a:ea typeface="Calibri" pitchFamily="34" charset="-122"/>
                <a:cs typeface="Calibri" pitchFamily="34" charset="-120"/>
              </a:rPr>
              <a:t>Source: public/crypto/ (page) and guest-crypto/ (missions, tools, Linux image).</a:t>
            </a:r>
            <a:endParaRPr lang="en-US" sz="1300" dirty="0"/>
          </a:p>
        </p:txBody>
      </p:sp>
      <p:sp>
        <p:nvSpPr>
          <p:cNvPr id="35" name="Text 2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41 / 61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Mentor appendix: open the Crypto CTF</a:t>
            </a:r>
            <a:endParaRPr lang="en-US" sz="3200" dirty="0"/>
          </a:p>
        </p:txBody>
      </p:sp>
      <p:sp>
        <p:nvSpPr>
          <p:cNvPr id="4" name="Shape 1"/>
          <p:cNvSpPr/>
          <p:nvPr/>
        </p:nvSpPr>
        <p:spPr>
          <a:xfrm>
            <a:off x="548640" y="1691640"/>
            <a:ext cx="457200" cy="457200"/>
          </a:xfrm>
          <a:prstGeom prst="ellipse">
            <a:avLst/>
          </a:prstGeom>
          <a:solidFill>
            <a:srgbClr val="2459D8"/>
          </a:solidFill>
          <a:ln/>
        </p:spPr>
      </p:sp>
      <p:sp>
        <p:nvSpPr>
          <p:cNvPr id="5" name="Text 2"/>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3"/>
          <p:cNvSpPr txBox="1"/>
          <p:nvPr/>
        </p:nvSpPr>
        <p:spPr>
          <a:xfrm>
            <a:off x="1188720" y="1664208"/>
            <a:ext cx="5394960" cy="91440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Open Chrome </a:t>
            </a:r>
            <a:pPr indent="0" marL="0">
              <a:buNone/>
            </a:pPr>
            <a:r>
              <a:rPr lang="en-US" sz="1800" dirty="0">
                <a:solidFill>
                  <a:srgbClr val="12213A"/>
                </a:solidFill>
                <a:latin typeface="Calibri" pitchFamily="34" charset="0"/>
                <a:ea typeface="Calibri" pitchFamily="34" charset="-122"/>
                <a:cs typeface="Calibri" pitchFamily="34" charset="-120"/>
              </a:rPr>
              <a:t>and type the address from the box on the right.</a:t>
            </a:r>
            <a:endParaRPr lang="en-US" sz="1800" dirty="0"/>
          </a:p>
        </p:txBody>
      </p:sp>
      <p:sp>
        <p:nvSpPr>
          <p:cNvPr id="7" name="Shape 4"/>
          <p:cNvSpPr/>
          <p:nvPr/>
        </p:nvSpPr>
        <p:spPr>
          <a:xfrm>
            <a:off x="548640" y="2697480"/>
            <a:ext cx="457200" cy="457200"/>
          </a:xfrm>
          <a:prstGeom prst="ellipse">
            <a:avLst/>
          </a:prstGeom>
          <a:solidFill>
            <a:srgbClr val="2459D8"/>
          </a:solidFill>
          <a:ln/>
        </p:spPr>
      </p:sp>
      <p:sp>
        <p:nvSpPr>
          <p:cNvPr id="8" name="Text 5"/>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6"/>
          <p:cNvSpPr txBox="1"/>
          <p:nvPr/>
        </p:nvSpPr>
        <p:spPr>
          <a:xfrm>
            <a:off x="1188720" y="2670048"/>
            <a:ext cx="5394960" cy="91440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Watch it boot. </a:t>
            </a:r>
            <a:pPr indent="0" marL="0">
              <a:buNone/>
            </a:pPr>
            <a:r>
              <a:rPr lang="en-US" sz="1800" dirty="0">
                <a:solidFill>
                  <a:srgbClr val="12213A"/>
                </a:solidFill>
                <a:latin typeface="Calibri" pitchFamily="34" charset="0"/>
                <a:ea typeface="Calibri" pitchFamily="34" charset="-122"/>
                <a:cs typeface="Calibri" pitchFamily="34" charset="-120"/>
              </a:rPr>
              <a:t>The status says 'Ready' when Linux is up.</a:t>
            </a:r>
            <a:endParaRPr lang="en-US" sz="1800" dirty="0"/>
          </a:p>
        </p:txBody>
      </p:sp>
      <p:sp>
        <p:nvSpPr>
          <p:cNvPr id="10" name="Shape 7"/>
          <p:cNvSpPr/>
          <p:nvPr/>
        </p:nvSpPr>
        <p:spPr>
          <a:xfrm>
            <a:off x="548640" y="3703320"/>
            <a:ext cx="457200" cy="457200"/>
          </a:xfrm>
          <a:prstGeom prst="ellipse">
            <a:avLst/>
          </a:prstGeom>
          <a:solidFill>
            <a:srgbClr val="2459D8"/>
          </a:solidFill>
          <a:ln/>
        </p:spPr>
      </p:sp>
      <p:sp>
        <p:nvSpPr>
          <p:cNvPr id="11" name="Text 8"/>
          <p:cNvSpPr txBox="1"/>
          <p:nvPr/>
        </p:nvSpPr>
        <p:spPr>
          <a:xfrm>
            <a:off x="548640" y="3703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9"/>
          <p:cNvSpPr txBox="1"/>
          <p:nvPr/>
        </p:nvSpPr>
        <p:spPr>
          <a:xfrm>
            <a:off x="1188720" y="3675888"/>
            <a:ext cx="5394960" cy="91440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Click inside the black terminal. </a:t>
            </a:r>
            <a:pPr indent="0" marL="0">
              <a:buNone/>
            </a:pPr>
            <a:r>
              <a:rPr lang="en-US" sz="1800" dirty="0">
                <a:solidFill>
                  <a:srgbClr val="12213A"/>
                </a:solidFill>
                <a:latin typeface="Calibri" pitchFamily="34" charset="0"/>
                <a:ea typeface="Calibri" pitchFamily="34" charset="-122"/>
                <a:cs typeface="Calibri" pitchFamily="34" charset="-120"/>
              </a:rPr>
              <a:t>A cursor should blink.</a:t>
            </a:r>
            <a:endParaRPr lang="en-US" sz="1800" dirty="0"/>
          </a:p>
        </p:txBody>
      </p:sp>
      <p:sp>
        <p:nvSpPr>
          <p:cNvPr id="13" name="Shape 10"/>
          <p:cNvSpPr/>
          <p:nvPr/>
        </p:nvSpPr>
        <p:spPr>
          <a:xfrm>
            <a:off x="548640" y="4709160"/>
            <a:ext cx="457200" cy="457200"/>
          </a:xfrm>
          <a:prstGeom prst="ellipse">
            <a:avLst/>
          </a:prstGeom>
          <a:solidFill>
            <a:srgbClr val="2459D8"/>
          </a:solidFill>
          <a:ln/>
        </p:spPr>
      </p:sp>
      <p:sp>
        <p:nvSpPr>
          <p:cNvPr id="14" name="Text 11"/>
          <p:cNvSpPr txBox="1"/>
          <p:nvPr/>
        </p:nvSpPr>
        <p:spPr>
          <a:xfrm>
            <a:off x="548640" y="4709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5" name="Text 12"/>
          <p:cNvSpPr txBox="1"/>
          <p:nvPr/>
        </p:nvSpPr>
        <p:spPr>
          <a:xfrm>
            <a:off x="1188720" y="4681728"/>
            <a:ext cx="5394960" cy="914400"/>
          </a:xfrm>
          <a:prstGeom prst="rect">
            <a:avLst/>
          </a:prstGeom>
          <a:noFill/>
          <a:ln/>
        </p:spPr>
        <p:txBody>
          <a:bodyPr wrap="square" lIns="0" tIns="0" rIns="0" bIns="0" rtlCol="0" anchor="t"/>
          <a:lstStyle/>
          <a:p>
            <a:pPr indent="0" marL="0">
              <a:buNone/>
            </a:pPr>
            <a:r>
              <a:rPr lang="en-US" sz="1800" b="1" dirty="0">
                <a:solidFill>
                  <a:srgbClr val="12213A"/>
                </a:solidFill>
                <a:latin typeface="Calibri" pitchFamily="34" charset="0"/>
                <a:ea typeface="Calibri" pitchFamily="34" charset="-122"/>
                <a:cs typeface="Calibri" pitchFamily="34" charset="-120"/>
              </a:rPr>
              <a:t>Never reload the page. </a:t>
            </a:r>
            <a:pPr indent="0" marL="0">
              <a:buNone/>
            </a:pPr>
            <a:r>
              <a:rPr lang="en-US" sz="1800" dirty="0">
                <a:solidFill>
                  <a:srgbClr val="12213A"/>
                </a:solidFill>
                <a:latin typeface="Calibri" pitchFamily="34" charset="0"/>
                <a:ea typeface="Calibri" pitchFamily="34" charset="-122"/>
                <a:cs typeface="Calibri" pitchFamily="34" charset="-120"/>
              </a:rPr>
              <a:t>Reloading means new flags, zero points and a reset clock.</a:t>
            </a:r>
            <a:endParaRPr lang="en-US" sz="1800" dirty="0"/>
          </a:p>
        </p:txBody>
      </p:sp>
      <p:sp>
        <p:nvSpPr>
          <p:cNvPr id="16" name="Shape 13"/>
          <p:cNvSpPr/>
          <p:nvPr/>
        </p:nvSpPr>
        <p:spPr>
          <a:xfrm>
            <a:off x="7040880" y="1554480"/>
            <a:ext cx="4599432" cy="2926080"/>
          </a:xfrm>
          <a:prstGeom prst="roundRect">
            <a:avLst>
              <a:gd name="adj" fmla="val 3750"/>
            </a:avLst>
          </a:prstGeom>
          <a:solidFill>
            <a:srgbClr val="0E1726"/>
          </a:solidFill>
          <a:ln/>
        </p:spPr>
      </p:sp>
      <p:sp>
        <p:nvSpPr>
          <p:cNvPr id="17" name="Text 14"/>
          <p:cNvSpPr txBox="1"/>
          <p:nvPr/>
        </p:nvSpPr>
        <p:spPr>
          <a:xfrm>
            <a:off x="7040880" y="1737360"/>
            <a:ext cx="4599432" cy="365760"/>
          </a:xfrm>
          <a:prstGeom prst="rect">
            <a:avLst/>
          </a:prstGeom>
          <a:noFill/>
          <a:ln/>
        </p:spPr>
        <p:txBody>
          <a:bodyPr wrap="square" lIns="0" tIns="0" rIns="0" bIns="0" rtlCol="0" anchor="ctr"/>
          <a:lstStyle/>
          <a:p>
            <a:pPr algn="ctr" indent="0" marL="0">
              <a:buNone/>
            </a:pPr>
            <a:r>
              <a:rPr lang="en-US" sz="1600" dirty="0">
                <a:solidFill>
                  <a:srgbClr val="B8C4D9"/>
                </a:solidFill>
                <a:latin typeface="Calibri" pitchFamily="34" charset="0"/>
                <a:ea typeface="Calibri" pitchFamily="34" charset="-122"/>
                <a:cs typeface="Calibri" pitchFamily="34" charset="-120"/>
              </a:rPr>
              <a:t>Crypto CTF address</a:t>
            </a:r>
            <a:endParaRPr lang="en-US" sz="1600" dirty="0"/>
          </a:p>
        </p:txBody>
      </p:sp>
      <p:sp>
        <p:nvSpPr>
          <p:cNvPr id="18" name="Shape 15"/>
          <p:cNvSpPr/>
          <p:nvPr/>
        </p:nvSpPr>
        <p:spPr>
          <a:xfrm>
            <a:off x="7406640" y="2331720"/>
            <a:ext cx="3867912" cy="1371600"/>
          </a:xfrm>
          <a:prstGeom prst="roundRect">
            <a:avLst>
              <a:gd name="adj" fmla="val 5333"/>
            </a:avLst>
          </a:prstGeom>
          <a:solidFill>
            <a:srgbClr val="162238"/>
          </a:solidFill>
          <a:ln w="25400">
            <a:solidFill>
              <a:srgbClr val="F5A623"/>
            </a:solidFill>
            <a:prstDash val="dash"/>
          </a:ln>
        </p:spPr>
      </p:sp>
      <p:sp>
        <p:nvSpPr>
          <p:cNvPr id="19" name="Text 16"/>
          <p:cNvSpPr txBox="1"/>
          <p:nvPr/>
        </p:nvSpPr>
        <p:spPr>
          <a:xfrm>
            <a:off x="7406640" y="2331720"/>
            <a:ext cx="3867912" cy="1371600"/>
          </a:xfrm>
          <a:prstGeom prst="rect">
            <a:avLst/>
          </a:prstGeom>
          <a:noFill/>
          <a:ln/>
        </p:spPr>
        <p:txBody>
          <a:bodyPr wrap="square" lIns="0" tIns="0" rIns="0" bIns="0" rtlCol="0" anchor="ctr"/>
          <a:lstStyle/>
          <a:p>
            <a:pPr algn="ctr" indent="0" marL="0">
              <a:buNone/>
            </a:pPr>
            <a:r>
              <a:rPr lang="en-US" sz="1700" b="1" dirty="0">
                <a:solidFill>
                  <a:srgbClr val="F5A623"/>
                </a:solidFill>
                <a:latin typeface="Courier New" pitchFamily="34" charset="0"/>
                <a:ea typeface="Courier New" pitchFamily="34" charset="-122"/>
                <a:cs typeface="Courier New" pitchFamily="34" charset="-120"/>
              </a:rPr>
              <a:t>your-group.gitlab.io/.../crypto/</a:t>
            </a:r>
            <a:endParaRPr lang="en-US" sz="1700" dirty="0"/>
          </a:p>
        </p:txBody>
      </p:sp>
      <p:sp>
        <p:nvSpPr>
          <p:cNvPr id="20" name="Text 17"/>
          <p:cNvSpPr txBox="1"/>
          <p:nvPr/>
        </p:nvSpPr>
        <p:spPr>
          <a:xfrm>
            <a:off x="7040880" y="3840480"/>
            <a:ext cx="4599432" cy="365760"/>
          </a:xfrm>
          <a:prstGeom prst="rect">
            <a:avLst/>
          </a:prstGeom>
          <a:noFill/>
          <a:ln/>
        </p:spPr>
        <p:txBody>
          <a:bodyPr wrap="square" lIns="0" tIns="0" rIns="0" bIns="0" rtlCol="0" anchor="ctr"/>
          <a:lstStyle/>
          <a:p>
            <a:pPr algn="ctr" indent="0" marL="0">
              <a:buNone/>
            </a:pPr>
            <a:r>
              <a:rPr lang="en-US" sz="1400" dirty="0">
                <a:solidFill>
                  <a:srgbClr val="7F8FAD"/>
                </a:solidFill>
                <a:latin typeface="Calibri" pitchFamily="34" charset="0"/>
                <a:ea typeface="Calibri" pitchFamily="34" charset="-122"/>
                <a:cs typeface="Calibri" pitchFamily="34" charset="-120"/>
              </a:rPr>
              <a:t>Type it exactly. One computer per pair.</a:t>
            </a:r>
            <a:endParaRPr lang="en-US" sz="1400" dirty="0"/>
          </a:p>
        </p:txBody>
      </p:sp>
      <p:sp>
        <p:nvSpPr>
          <p:cNvPr id="21" name="Shape 18"/>
          <p:cNvSpPr/>
          <p:nvPr/>
        </p:nvSpPr>
        <p:spPr>
          <a:xfrm>
            <a:off x="7040880" y="4709160"/>
            <a:ext cx="4599432" cy="1188720"/>
          </a:xfrm>
          <a:prstGeom prst="roundRect">
            <a:avLst>
              <a:gd name="adj" fmla="val 7692"/>
            </a:avLst>
          </a:prstGeom>
          <a:solidFill>
            <a:srgbClr val="FFF4DC"/>
          </a:solidFill>
          <a:ln/>
        </p:spPr>
      </p:sp>
      <p:sp>
        <p:nvSpPr>
          <p:cNvPr id="22" name="Text 19"/>
          <p:cNvSpPr txBox="1"/>
          <p:nvPr/>
        </p:nvSpPr>
        <p:spPr>
          <a:xfrm>
            <a:off x="7315200" y="4709160"/>
            <a:ext cx="4114800" cy="1188720"/>
          </a:xfrm>
          <a:prstGeom prst="rect">
            <a:avLst/>
          </a:prstGeom>
          <a:noFill/>
          <a:ln/>
        </p:spPr>
        <p:txBody>
          <a:bodyPr wrap="square" lIns="0" tIns="0" rIns="0" bIns="0" rtlCol="0" anchor="ctr"/>
          <a:lstStyle/>
          <a:p>
            <a:pPr indent="0" marL="0">
              <a:buNone/>
            </a:pPr>
            <a:r>
              <a:rPr lang="en-US" sz="1500" b="1" dirty="0">
                <a:solidFill>
                  <a:srgbClr val="12213A"/>
                </a:solidFill>
                <a:latin typeface="Calibri" pitchFamily="34" charset="0"/>
                <a:ea typeface="Calibri" pitchFamily="34" charset="-122"/>
                <a:cs typeface="Calibri" pitchFamily="34" charset="-120"/>
              </a:rPr>
              <a:t>Don't start yet! </a:t>
            </a:r>
            <a:pPr indent="0" marL="0">
              <a:buNone/>
            </a:pPr>
            <a:r>
              <a:rPr lang="en-US" sz="1500" dirty="0">
                <a:solidFill>
                  <a:srgbClr val="12213A"/>
                </a:solidFill>
                <a:latin typeface="Calibri" pitchFamily="34" charset="0"/>
                <a:ea typeface="Calibri" pitchFamily="34" charset="-122"/>
                <a:cs typeface="Calibri" pitchFamily="34" charset="-120"/>
              </a:rPr>
              <a:t>The clock starts when you open Mission 1 — explore the page freely first.</a:t>
            </a:r>
            <a:endParaRPr lang="en-US" sz="1500" dirty="0"/>
          </a:p>
        </p:txBody>
      </p:sp>
      <p:sp>
        <p:nvSpPr>
          <p:cNvPr id="23" name="Text 20"/>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42 / 61</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Mentor appendix: answer key</a:t>
            </a:r>
            <a:endParaRPr lang="en-US" sz="3200" dirty="0"/>
          </a:p>
        </p:txBody>
      </p:sp>
      <p:sp>
        <p:nvSpPr>
          <p:cNvPr id="4" name="Shape 1"/>
          <p:cNvSpPr/>
          <p:nvPr/>
        </p:nvSpPr>
        <p:spPr>
          <a:xfrm>
            <a:off x="548640" y="1325880"/>
            <a:ext cx="11094415" cy="329184"/>
          </a:xfrm>
          <a:prstGeom prst="rect">
            <a:avLst/>
          </a:prstGeom>
          <a:solidFill>
            <a:srgbClr val="F1F5FB"/>
          </a:solidFill>
          <a:ln/>
        </p:spPr>
      </p:sp>
      <p:sp>
        <p:nvSpPr>
          <p:cNvPr id="5" name="Shape 2"/>
          <p:cNvSpPr/>
          <p:nvPr/>
        </p:nvSpPr>
        <p:spPr>
          <a:xfrm>
            <a:off x="658368" y="1376172"/>
            <a:ext cx="228600" cy="228600"/>
          </a:xfrm>
          <a:prstGeom prst="ellipse">
            <a:avLst/>
          </a:prstGeom>
          <a:solidFill>
            <a:srgbClr val="17875A"/>
          </a:solidFill>
          <a:ln/>
        </p:spPr>
      </p:sp>
      <p:sp>
        <p:nvSpPr>
          <p:cNvPr id="6" name="Text 3"/>
          <p:cNvSpPr txBox="1"/>
          <p:nvPr/>
        </p:nvSpPr>
        <p:spPr>
          <a:xfrm>
            <a:off x="658368" y="1376172"/>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7" name="Text 4"/>
          <p:cNvSpPr txBox="1"/>
          <p:nvPr/>
        </p:nvSpPr>
        <p:spPr>
          <a:xfrm>
            <a:off x="1005840" y="1325880"/>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Not so secret</a:t>
            </a:r>
            <a:endParaRPr lang="en-US" sz="1200" dirty="0"/>
          </a:p>
        </p:txBody>
      </p:sp>
      <p:sp>
        <p:nvSpPr>
          <p:cNvPr id="8" name="Text 5"/>
          <p:cNvSpPr txBox="1"/>
          <p:nvPr/>
        </p:nvSpPr>
        <p:spPr>
          <a:xfrm>
            <a:off x="3200400" y="1325880"/>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~/mission1; base64 -d message.b64</a:t>
            </a:r>
            <a:endParaRPr lang="en-US" sz="950" dirty="0"/>
          </a:p>
        </p:txBody>
      </p:sp>
      <p:sp>
        <p:nvSpPr>
          <p:cNvPr id="9" name="Text 6"/>
          <p:cNvSpPr txBox="1"/>
          <p:nvPr/>
        </p:nvSpPr>
        <p:spPr>
          <a:xfrm>
            <a:off x="10241280" y="1325880"/>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Easy · 100</a:t>
            </a:r>
            <a:endParaRPr lang="en-US" sz="1100" dirty="0"/>
          </a:p>
        </p:txBody>
      </p:sp>
      <p:sp>
        <p:nvSpPr>
          <p:cNvPr id="10" name="Shape 7"/>
          <p:cNvSpPr/>
          <p:nvPr/>
        </p:nvSpPr>
        <p:spPr>
          <a:xfrm>
            <a:off x="548640" y="1655064"/>
            <a:ext cx="11094415" cy="329184"/>
          </a:xfrm>
          <a:prstGeom prst="rect">
            <a:avLst/>
          </a:prstGeom>
          <a:solidFill>
            <a:srgbClr val="FFFFFF"/>
          </a:solidFill>
          <a:ln/>
        </p:spPr>
      </p:sp>
      <p:sp>
        <p:nvSpPr>
          <p:cNvPr id="11" name="Shape 8"/>
          <p:cNvSpPr/>
          <p:nvPr/>
        </p:nvSpPr>
        <p:spPr>
          <a:xfrm>
            <a:off x="658368" y="1705356"/>
            <a:ext cx="228600" cy="228600"/>
          </a:xfrm>
          <a:prstGeom prst="ellipse">
            <a:avLst/>
          </a:prstGeom>
          <a:solidFill>
            <a:srgbClr val="2A9FD6"/>
          </a:solidFill>
          <a:ln/>
        </p:spPr>
      </p:sp>
      <p:sp>
        <p:nvSpPr>
          <p:cNvPr id="12" name="Text 9"/>
          <p:cNvSpPr txBox="1"/>
          <p:nvPr/>
        </p:nvSpPr>
        <p:spPr>
          <a:xfrm>
            <a:off x="658368" y="1705356"/>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3" name="Text 10"/>
          <p:cNvSpPr txBox="1"/>
          <p:nvPr/>
        </p:nvSpPr>
        <p:spPr>
          <a:xfrm>
            <a:off x="1005840" y="1655064"/>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Hex marks the spot</a:t>
            </a:r>
            <a:endParaRPr lang="en-US" sz="1200" dirty="0"/>
          </a:p>
        </p:txBody>
      </p:sp>
      <p:sp>
        <p:nvSpPr>
          <p:cNvPr id="14" name="Text 11"/>
          <p:cNvSpPr txBox="1"/>
          <p:nvPr/>
        </p:nvSpPr>
        <p:spPr>
          <a:xfrm>
            <a:off x="3200400" y="1655064"/>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~/mission2; xxd -r -p secret.hex</a:t>
            </a:r>
            <a:endParaRPr lang="en-US" sz="950" dirty="0"/>
          </a:p>
        </p:txBody>
      </p:sp>
      <p:sp>
        <p:nvSpPr>
          <p:cNvPr id="15" name="Text 12"/>
          <p:cNvSpPr txBox="1"/>
          <p:nvPr/>
        </p:nvSpPr>
        <p:spPr>
          <a:xfrm>
            <a:off x="10241280" y="1655064"/>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Easy · 100</a:t>
            </a:r>
            <a:endParaRPr lang="en-US" sz="1100" dirty="0"/>
          </a:p>
        </p:txBody>
      </p:sp>
      <p:sp>
        <p:nvSpPr>
          <p:cNvPr id="16" name="Shape 13"/>
          <p:cNvSpPr/>
          <p:nvPr/>
        </p:nvSpPr>
        <p:spPr>
          <a:xfrm>
            <a:off x="548640" y="1984248"/>
            <a:ext cx="11094415" cy="329184"/>
          </a:xfrm>
          <a:prstGeom prst="rect">
            <a:avLst/>
          </a:prstGeom>
          <a:solidFill>
            <a:srgbClr val="F1F5FB"/>
          </a:solidFill>
          <a:ln/>
        </p:spPr>
      </p:sp>
      <p:sp>
        <p:nvSpPr>
          <p:cNvPr id="17" name="Shape 14"/>
          <p:cNvSpPr/>
          <p:nvPr/>
        </p:nvSpPr>
        <p:spPr>
          <a:xfrm>
            <a:off x="658368" y="2034540"/>
            <a:ext cx="228600" cy="228600"/>
          </a:xfrm>
          <a:prstGeom prst="ellipse">
            <a:avLst/>
          </a:prstGeom>
          <a:solidFill>
            <a:srgbClr val="2459D8"/>
          </a:solidFill>
          <a:ln/>
        </p:spPr>
      </p:sp>
      <p:sp>
        <p:nvSpPr>
          <p:cNvPr id="18" name="Text 15"/>
          <p:cNvSpPr txBox="1"/>
          <p:nvPr/>
        </p:nvSpPr>
        <p:spPr>
          <a:xfrm>
            <a:off x="658368" y="203454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19" name="Text 16"/>
          <p:cNvSpPr txBox="1"/>
          <p:nvPr/>
        </p:nvSpPr>
        <p:spPr>
          <a:xfrm>
            <a:off x="1005840" y="1984248"/>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Thirteen steps</a:t>
            </a:r>
            <a:endParaRPr lang="en-US" sz="1200" dirty="0"/>
          </a:p>
        </p:txBody>
      </p:sp>
      <p:sp>
        <p:nvSpPr>
          <p:cNvPr id="20" name="Text 17"/>
          <p:cNvSpPr txBox="1"/>
          <p:nvPr/>
        </p:nvSpPr>
        <p:spPr>
          <a:xfrm>
            <a:off x="3200400" y="1984248"/>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~/mission3; tr 'A-Za-z' 'N-ZA-Mn-za-m' &lt; message.txt</a:t>
            </a:r>
            <a:endParaRPr lang="en-US" sz="950" dirty="0"/>
          </a:p>
        </p:txBody>
      </p:sp>
      <p:sp>
        <p:nvSpPr>
          <p:cNvPr id="21" name="Text 18"/>
          <p:cNvSpPr txBox="1"/>
          <p:nvPr/>
        </p:nvSpPr>
        <p:spPr>
          <a:xfrm>
            <a:off x="10241280" y="1984248"/>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Easy · 100</a:t>
            </a:r>
            <a:endParaRPr lang="en-US" sz="1100" dirty="0"/>
          </a:p>
        </p:txBody>
      </p:sp>
      <p:sp>
        <p:nvSpPr>
          <p:cNvPr id="22" name="Shape 19"/>
          <p:cNvSpPr/>
          <p:nvPr/>
        </p:nvSpPr>
        <p:spPr>
          <a:xfrm>
            <a:off x="548640" y="2313432"/>
            <a:ext cx="11094415" cy="329184"/>
          </a:xfrm>
          <a:prstGeom prst="rect">
            <a:avLst/>
          </a:prstGeom>
          <a:solidFill>
            <a:srgbClr val="FFFFFF"/>
          </a:solidFill>
          <a:ln/>
        </p:spPr>
      </p:sp>
      <p:sp>
        <p:nvSpPr>
          <p:cNvPr id="23" name="Shape 20"/>
          <p:cNvSpPr/>
          <p:nvPr/>
        </p:nvSpPr>
        <p:spPr>
          <a:xfrm>
            <a:off x="658368" y="2363724"/>
            <a:ext cx="228600" cy="228600"/>
          </a:xfrm>
          <a:prstGeom prst="ellipse">
            <a:avLst/>
          </a:prstGeom>
          <a:solidFill>
            <a:srgbClr val="7448D4"/>
          </a:solidFill>
          <a:ln/>
        </p:spPr>
      </p:sp>
      <p:sp>
        <p:nvSpPr>
          <p:cNvPr id="24" name="Text 21"/>
          <p:cNvSpPr txBox="1"/>
          <p:nvPr/>
        </p:nvSpPr>
        <p:spPr>
          <a:xfrm>
            <a:off x="658368" y="2363724"/>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5" name="Text 22"/>
          <p:cNvSpPr txBox="1"/>
          <p:nvPr/>
        </p:nvSpPr>
        <p:spPr>
          <a:xfrm>
            <a:off x="1005840" y="2313432"/>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Hail Caesar</a:t>
            </a:r>
            <a:endParaRPr lang="en-US" sz="1200" dirty="0"/>
          </a:p>
        </p:txBody>
      </p:sp>
      <p:sp>
        <p:nvSpPr>
          <p:cNvPr id="26" name="Text 23"/>
          <p:cNvSpPr txBox="1"/>
          <p:nvPr/>
        </p:nvSpPr>
        <p:spPr>
          <a:xfrm>
            <a:off x="3200400" y="2313432"/>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~/mission4; caesar all message.txt | grep CYBA</a:t>
            </a:r>
            <a:endParaRPr lang="en-US" sz="950" dirty="0"/>
          </a:p>
        </p:txBody>
      </p:sp>
      <p:sp>
        <p:nvSpPr>
          <p:cNvPr id="27" name="Text 24"/>
          <p:cNvSpPr txBox="1"/>
          <p:nvPr/>
        </p:nvSpPr>
        <p:spPr>
          <a:xfrm>
            <a:off x="10241280" y="2313432"/>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28" name="Shape 25"/>
          <p:cNvSpPr/>
          <p:nvPr/>
        </p:nvSpPr>
        <p:spPr>
          <a:xfrm>
            <a:off x="548640" y="2642616"/>
            <a:ext cx="11094415" cy="329184"/>
          </a:xfrm>
          <a:prstGeom prst="rect">
            <a:avLst/>
          </a:prstGeom>
          <a:solidFill>
            <a:srgbClr val="F1F5FB"/>
          </a:solidFill>
          <a:ln/>
        </p:spPr>
      </p:sp>
      <p:sp>
        <p:nvSpPr>
          <p:cNvPr id="29" name="Shape 26"/>
          <p:cNvSpPr/>
          <p:nvPr/>
        </p:nvSpPr>
        <p:spPr>
          <a:xfrm>
            <a:off x="658368" y="2692908"/>
            <a:ext cx="228600" cy="228600"/>
          </a:xfrm>
          <a:prstGeom prst="ellipse">
            <a:avLst/>
          </a:prstGeom>
          <a:solidFill>
            <a:srgbClr val="D1416B"/>
          </a:solidFill>
          <a:ln/>
        </p:spPr>
      </p:sp>
      <p:sp>
        <p:nvSpPr>
          <p:cNvPr id="30" name="Text 27"/>
          <p:cNvSpPr txBox="1"/>
          <p:nvPr/>
        </p:nvSpPr>
        <p:spPr>
          <a:xfrm>
            <a:off x="658368" y="2692908"/>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
        <p:nvSpPr>
          <p:cNvPr id="31" name="Text 28"/>
          <p:cNvSpPr txBox="1"/>
          <p:nvPr/>
        </p:nvSpPr>
        <p:spPr>
          <a:xfrm>
            <a:off x="1005840" y="2642616"/>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Mirror, mirror</a:t>
            </a:r>
            <a:endParaRPr lang="en-US" sz="1200" dirty="0"/>
          </a:p>
        </p:txBody>
      </p:sp>
      <p:sp>
        <p:nvSpPr>
          <p:cNvPr id="32" name="Text 29"/>
          <p:cNvSpPr txBox="1"/>
          <p:nvPr/>
        </p:nvSpPr>
        <p:spPr>
          <a:xfrm>
            <a:off x="3200400" y="2642616"/>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~/mission5; tr 'A-Za-z' 'ZYX...CBAzyx...cba' &lt; mirror.txt</a:t>
            </a:r>
            <a:endParaRPr lang="en-US" sz="950" dirty="0"/>
          </a:p>
        </p:txBody>
      </p:sp>
      <p:sp>
        <p:nvSpPr>
          <p:cNvPr id="33" name="Text 30"/>
          <p:cNvSpPr txBox="1"/>
          <p:nvPr/>
        </p:nvSpPr>
        <p:spPr>
          <a:xfrm>
            <a:off x="10241280" y="2642616"/>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34" name="Shape 31"/>
          <p:cNvSpPr/>
          <p:nvPr/>
        </p:nvSpPr>
        <p:spPr>
          <a:xfrm>
            <a:off x="548640" y="2971800"/>
            <a:ext cx="11094415" cy="329184"/>
          </a:xfrm>
          <a:prstGeom prst="rect">
            <a:avLst/>
          </a:prstGeom>
          <a:solidFill>
            <a:srgbClr val="FFFFFF"/>
          </a:solidFill>
          <a:ln/>
        </p:spPr>
      </p:sp>
      <p:sp>
        <p:nvSpPr>
          <p:cNvPr id="35" name="Shape 32"/>
          <p:cNvSpPr/>
          <p:nvPr/>
        </p:nvSpPr>
        <p:spPr>
          <a:xfrm>
            <a:off x="658368" y="3022092"/>
            <a:ext cx="228600" cy="228600"/>
          </a:xfrm>
          <a:prstGeom prst="ellipse">
            <a:avLst/>
          </a:prstGeom>
          <a:solidFill>
            <a:srgbClr val="E8820C"/>
          </a:solidFill>
          <a:ln/>
        </p:spPr>
      </p:sp>
      <p:sp>
        <p:nvSpPr>
          <p:cNvPr id="36" name="Text 33"/>
          <p:cNvSpPr txBox="1"/>
          <p:nvPr/>
        </p:nvSpPr>
        <p:spPr>
          <a:xfrm>
            <a:off x="658368" y="3022092"/>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
        <p:nvSpPr>
          <p:cNvPr id="37" name="Text 34"/>
          <p:cNvSpPr txBox="1"/>
          <p:nvPr/>
        </p:nvSpPr>
        <p:spPr>
          <a:xfrm>
            <a:off x="1005840" y="2971800"/>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Dots and dashes</a:t>
            </a:r>
            <a:endParaRPr lang="en-US" sz="1200" dirty="0"/>
          </a:p>
        </p:txBody>
      </p:sp>
      <p:sp>
        <p:nvSpPr>
          <p:cNvPr id="38" name="Text 35"/>
          <p:cNvSpPr txBox="1"/>
          <p:nvPr/>
        </p:nvSpPr>
        <p:spPr>
          <a:xfrm>
            <a:off x="3200400" y="2971800"/>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~/mission6; morse signal.txt; submit CYBA{morse-&lt;code in lowercase&gt;}</a:t>
            </a:r>
            <a:endParaRPr lang="en-US" sz="950" dirty="0"/>
          </a:p>
        </p:txBody>
      </p:sp>
      <p:sp>
        <p:nvSpPr>
          <p:cNvPr id="39" name="Text 36"/>
          <p:cNvSpPr txBox="1"/>
          <p:nvPr/>
        </p:nvSpPr>
        <p:spPr>
          <a:xfrm>
            <a:off x="10241280" y="2971800"/>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40" name="Shape 37"/>
          <p:cNvSpPr/>
          <p:nvPr/>
        </p:nvSpPr>
        <p:spPr>
          <a:xfrm>
            <a:off x="548640" y="3300984"/>
            <a:ext cx="11094415" cy="329184"/>
          </a:xfrm>
          <a:prstGeom prst="rect">
            <a:avLst/>
          </a:prstGeom>
          <a:solidFill>
            <a:srgbClr val="F1F5FB"/>
          </a:solidFill>
          <a:ln/>
        </p:spPr>
      </p:sp>
      <p:sp>
        <p:nvSpPr>
          <p:cNvPr id="41" name="Shape 38"/>
          <p:cNvSpPr/>
          <p:nvPr/>
        </p:nvSpPr>
        <p:spPr>
          <a:xfrm>
            <a:off x="658368" y="3351276"/>
            <a:ext cx="228600" cy="228600"/>
          </a:xfrm>
          <a:prstGeom prst="ellipse">
            <a:avLst/>
          </a:prstGeom>
          <a:solidFill>
            <a:srgbClr val="C9A227"/>
          </a:solidFill>
          <a:ln/>
        </p:spPr>
      </p:sp>
      <p:sp>
        <p:nvSpPr>
          <p:cNvPr id="42" name="Text 39"/>
          <p:cNvSpPr txBox="1"/>
          <p:nvPr/>
        </p:nvSpPr>
        <p:spPr>
          <a:xfrm>
            <a:off x="658368" y="3351276"/>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7</a:t>
            </a:r>
            <a:endParaRPr lang="en-US" sz="900" dirty="0"/>
          </a:p>
        </p:txBody>
      </p:sp>
      <p:sp>
        <p:nvSpPr>
          <p:cNvPr id="43" name="Text 40"/>
          <p:cNvSpPr txBox="1"/>
          <p:nvPr/>
        </p:nvSpPr>
        <p:spPr>
          <a:xfrm>
            <a:off x="1005840" y="3300984"/>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Fingerprints</a:t>
            </a:r>
            <a:endParaRPr lang="en-US" sz="1200" dirty="0"/>
          </a:p>
        </p:txBody>
      </p:sp>
      <p:sp>
        <p:nvSpPr>
          <p:cNvPr id="44" name="Text 41"/>
          <p:cNvSpPr txBox="1"/>
          <p:nvPr/>
        </p:nvSpPr>
        <p:spPr>
          <a:xfrm>
            <a:off x="3200400" y="3300984"/>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~/mission7; hashlines candidates.txt | grep $(cut -c1-8 target.sha256)</a:t>
            </a:r>
            <a:endParaRPr lang="en-US" sz="950" dirty="0"/>
          </a:p>
        </p:txBody>
      </p:sp>
      <p:sp>
        <p:nvSpPr>
          <p:cNvPr id="45" name="Text 42"/>
          <p:cNvSpPr txBox="1"/>
          <p:nvPr/>
        </p:nvSpPr>
        <p:spPr>
          <a:xfrm>
            <a:off x="10241280" y="3300984"/>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46" name="Shape 43"/>
          <p:cNvSpPr/>
          <p:nvPr/>
        </p:nvSpPr>
        <p:spPr>
          <a:xfrm>
            <a:off x="548640" y="3630168"/>
            <a:ext cx="11094415" cy="329184"/>
          </a:xfrm>
          <a:prstGeom prst="rect">
            <a:avLst/>
          </a:prstGeom>
          <a:solidFill>
            <a:srgbClr val="FFFFFF"/>
          </a:solidFill>
          <a:ln/>
        </p:spPr>
      </p:sp>
      <p:sp>
        <p:nvSpPr>
          <p:cNvPr id="47" name="Shape 44"/>
          <p:cNvSpPr/>
          <p:nvPr/>
        </p:nvSpPr>
        <p:spPr>
          <a:xfrm>
            <a:off x="658368" y="3680460"/>
            <a:ext cx="228600" cy="228600"/>
          </a:xfrm>
          <a:prstGeom prst="ellipse">
            <a:avLst/>
          </a:prstGeom>
          <a:solidFill>
            <a:srgbClr val="0F9488"/>
          </a:solidFill>
          <a:ln/>
        </p:spPr>
      </p:sp>
      <p:sp>
        <p:nvSpPr>
          <p:cNvPr id="48" name="Text 45"/>
          <p:cNvSpPr txBox="1"/>
          <p:nvPr/>
        </p:nvSpPr>
        <p:spPr>
          <a:xfrm>
            <a:off x="658368" y="368046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8</a:t>
            </a:r>
            <a:endParaRPr lang="en-US" sz="900" dirty="0"/>
          </a:p>
        </p:txBody>
      </p:sp>
      <p:sp>
        <p:nvSpPr>
          <p:cNvPr id="49" name="Text 46"/>
          <p:cNvSpPr txBox="1"/>
          <p:nvPr/>
        </p:nvSpPr>
        <p:spPr>
          <a:xfrm>
            <a:off x="1005840" y="3630168"/>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XOR marks</a:t>
            </a:r>
            <a:endParaRPr lang="en-US" sz="1200" dirty="0"/>
          </a:p>
        </p:txBody>
      </p:sp>
      <p:sp>
        <p:nvSpPr>
          <p:cNvPr id="50" name="Text 47"/>
          <p:cNvSpPr txBox="1"/>
          <p:nvPr/>
        </p:nvSpPr>
        <p:spPr>
          <a:xfrm>
            <a:off x="3200400" y="3630168"/>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~/mission8; xor all cipher.hex | grep CYBA</a:t>
            </a:r>
            <a:endParaRPr lang="en-US" sz="950" dirty="0"/>
          </a:p>
        </p:txBody>
      </p:sp>
      <p:sp>
        <p:nvSpPr>
          <p:cNvPr id="51" name="Text 48"/>
          <p:cNvSpPr txBox="1"/>
          <p:nvPr/>
        </p:nvSpPr>
        <p:spPr>
          <a:xfrm>
            <a:off x="10241280" y="3630168"/>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Hard · 400</a:t>
            </a:r>
            <a:endParaRPr lang="en-US" sz="1100" dirty="0"/>
          </a:p>
        </p:txBody>
      </p:sp>
      <p:sp>
        <p:nvSpPr>
          <p:cNvPr id="52" name="Shape 49"/>
          <p:cNvSpPr/>
          <p:nvPr/>
        </p:nvSpPr>
        <p:spPr>
          <a:xfrm>
            <a:off x="548640" y="3959352"/>
            <a:ext cx="11094415" cy="329184"/>
          </a:xfrm>
          <a:prstGeom prst="rect">
            <a:avLst/>
          </a:prstGeom>
          <a:solidFill>
            <a:srgbClr val="F1F5FB"/>
          </a:solidFill>
          <a:ln/>
        </p:spPr>
      </p:sp>
      <p:sp>
        <p:nvSpPr>
          <p:cNvPr id="53" name="Shape 50"/>
          <p:cNvSpPr/>
          <p:nvPr/>
        </p:nvSpPr>
        <p:spPr>
          <a:xfrm>
            <a:off x="658368" y="4009644"/>
            <a:ext cx="228600" cy="228600"/>
          </a:xfrm>
          <a:prstGeom prst="ellipse">
            <a:avLst/>
          </a:prstGeom>
          <a:solidFill>
            <a:srgbClr val="5B6EE1"/>
          </a:solidFill>
          <a:ln/>
        </p:spPr>
      </p:sp>
      <p:sp>
        <p:nvSpPr>
          <p:cNvPr id="54" name="Text 51"/>
          <p:cNvSpPr txBox="1"/>
          <p:nvPr/>
        </p:nvSpPr>
        <p:spPr>
          <a:xfrm>
            <a:off x="658368" y="4009644"/>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a:t>
            </a:r>
            <a:endParaRPr lang="en-US" sz="900" dirty="0"/>
          </a:p>
        </p:txBody>
      </p:sp>
      <p:sp>
        <p:nvSpPr>
          <p:cNvPr id="55" name="Text 52"/>
          <p:cNvSpPr txBox="1"/>
          <p:nvPr/>
        </p:nvSpPr>
        <p:spPr>
          <a:xfrm>
            <a:off x="1005840" y="3959352"/>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Keyed up</a:t>
            </a:r>
            <a:endParaRPr lang="en-US" sz="1200" dirty="0"/>
          </a:p>
        </p:txBody>
      </p:sp>
      <p:sp>
        <p:nvSpPr>
          <p:cNvPr id="56" name="Text 53"/>
          <p:cNvSpPr txBox="1"/>
          <p:nvPr/>
        </p:nvSpPr>
        <p:spPr>
          <a:xfrm>
            <a:off x="3200400" y="3959352"/>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cd ~/mission9; tr 'A-Za-z' 'N-ZA-Mn-za-m' &lt; briefing.txt; vigenere -d &lt;KEYWORD&gt; secret.txt</a:t>
            </a:r>
            <a:endParaRPr lang="en-US" sz="950" dirty="0"/>
          </a:p>
        </p:txBody>
      </p:sp>
      <p:sp>
        <p:nvSpPr>
          <p:cNvPr id="57" name="Text 54"/>
          <p:cNvSpPr txBox="1"/>
          <p:nvPr/>
        </p:nvSpPr>
        <p:spPr>
          <a:xfrm>
            <a:off x="10241280" y="3959352"/>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Hard · 400</a:t>
            </a:r>
            <a:endParaRPr lang="en-US" sz="1100" dirty="0"/>
          </a:p>
        </p:txBody>
      </p:sp>
      <p:sp>
        <p:nvSpPr>
          <p:cNvPr id="58" name="Shape 55"/>
          <p:cNvSpPr/>
          <p:nvPr/>
        </p:nvSpPr>
        <p:spPr>
          <a:xfrm>
            <a:off x="548640" y="4288536"/>
            <a:ext cx="11094415" cy="329184"/>
          </a:xfrm>
          <a:prstGeom prst="rect">
            <a:avLst/>
          </a:prstGeom>
          <a:solidFill>
            <a:srgbClr val="FFFFFF"/>
          </a:solidFill>
          <a:ln/>
        </p:spPr>
      </p:sp>
      <p:sp>
        <p:nvSpPr>
          <p:cNvPr id="59" name="Shape 56"/>
          <p:cNvSpPr/>
          <p:nvPr/>
        </p:nvSpPr>
        <p:spPr>
          <a:xfrm>
            <a:off x="658368" y="4338828"/>
            <a:ext cx="228600" cy="228600"/>
          </a:xfrm>
          <a:prstGeom prst="ellipse">
            <a:avLst/>
          </a:prstGeom>
          <a:solidFill>
            <a:srgbClr val="B4233F"/>
          </a:solidFill>
          <a:ln/>
        </p:spPr>
      </p:sp>
      <p:sp>
        <p:nvSpPr>
          <p:cNvPr id="60" name="Text 57"/>
          <p:cNvSpPr txBox="1"/>
          <p:nvPr/>
        </p:nvSpPr>
        <p:spPr>
          <a:xfrm>
            <a:off x="658368" y="4338828"/>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10</a:t>
            </a:r>
            <a:endParaRPr lang="en-US" sz="900" dirty="0"/>
          </a:p>
        </p:txBody>
      </p:sp>
      <p:sp>
        <p:nvSpPr>
          <p:cNvPr id="61" name="Text 58"/>
          <p:cNvSpPr txBox="1"/>
          <p:nvPr/>
        </p:nvSpPr>
        <p:spPr>
          <a:xfrm>
            <a:off x="1005840" y="4288536"/>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The vault</a:t>
            </a:r>
            <a:endParaRPr lang="en-US" sz="1200" dirty="0"/>
          </a:p>
        </p:txBody>
      </p:sp>
      <p:sp>
        <p:nvSpPr>
          <p:cNvPr id="62" name="Text 59"/>
          <p:cNvSpPr txBox="1"/>
          <p:nvPr/>
        </p:nvSpPr>
        <p:spPr>
          <a:xfrm>
            <a:off x="3200400" y="4288536"/>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hashlines words.txt | grep &lt;hash start&gt;;  base64 -d vault.b64 | vigenere -d &lt;word&gt;</a:t>
            </a:r>
            <a:endParaRPr lang="en-US" sz="950" dirty="0"/>
          </a:p>
        </p:txBody>
      </p:sp>
      <p:sp>
        <p:nvSpPr>
          <p:cNvPr id="63" name="Text 60"/>
          <p:cNvSpPr txBox="1"/>
          <p:nvPr/>
        </p:nvSpPr>
        <p:spPr>
          <a:xfrm>
            <a:off x="10241280" y="4288536"/>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Very Hard · 800</a:t>
            </a:r>
            <a:endParaRPr lang="en-US" sz="1100" dirty="0"/>
          </a:p>
        </p:txBody>
      </p:sp>
      <p:sp>
        <p:nvSpPr>
          <p:cNvPr id="64" name="Shape 61"/>
          <p:cNvSpPr/>
          <p:nvPr/>
        </p:nvSpPr>
        <p:spPr>
          <a:xfrm>
            <a:off x="548640" y="4617720"/>
            <a:ext cx="11094415" cy="329184"/>
          </a:xfrm>
          <a:prstGeom prst="rect">
            <a:avLst/>
          </a:prstGeom>
          <a:solidFill>
            <a:srgbClr val="F1F5FB"/>
          </a:solidFill>
          <a:ln/>
        </p:spPr>
      </p:sp>
      <p:sp>
        <p:nvSpPr>
          <p:cNvPr id="65" name="Shape 62"/>
          <p:cNvSpPr/>
          <p:nvPr/>
        </p:nvSpPr>
        <p:spPr>
          <a:xfrm>
            <a:off x="658368" y="4668012"/>
            <a:ext cx="228600" cy="228600"/>
          </a:xfrm>
          <a:prstGeom prst="ellipse">
            <a:avLst/>
          </a:prstGeom>
          <a:solidFill>
            <a:srgbClr val="56657E"/>
          </a:solidFill>
          <a:ln/>
        </p:spPr>
      </p:sp>
      <p:sp>
        <p:nvSpPr>
          <p:cNvPr id="66" name="Text 63"/>
          <p:cNvSpPr txBox="1"/>
          <p:nvPr/>
        </p:nvSpPr>
        <p:spPr>
          <a:xfrm>
            <a:off x="658368" y="4668012"/>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67" name="Text 64"/>
          <p:cNvSpPr txBox="1"/>
          <p:nvPr/>
        </p:nvSpPr>
        <p:spPr>
          <a:xfrm>
            <a:off x="1005840" y="4617720"/>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Letter detective</a:t>
            </a:r>
            <a:endParaRPr lang="en-US" sz="1200" dirty="0"/>
          </a:p>
        </p:txBody>
      </p:sp>
      <p:sp>
        <p:nvSpPr>
          <p:cNvPr id="68" name="Text 65"/>
          <p:cNvSpPr txBox="1"/>
          <p:nvPr/>
        </p:nvSpPr>
        <p:spPr>
          <a:xfrm>
            <a:off x="3200400" y="4617720"/>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fold -w1 message.txt | grep '[a-z]' | sort | uniq -c | sort -n | tail -3</a:t>
            </a:r>
            <a:endParaRPr lang="en-US" sz="950" dirty="0"/>
          </a:p>
        </p:txBody>
      </p:sp>
      <p:sp>
        <p:nvSpPr>
          <p:cNvPr id="69" name="Text 66"/>
          <p:cNvSpPr txBox="1"/>
          <p:nvPr/>
        </p:nvSpPr>
        <p:spPr>
          <a:xfrm>
            <a:off x="10241280" y="4617720"/>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side quest</a:t>
            </a:r>
            <a:endParaRPr lang="en-US" sz="1100" dirty="0"/>
          </a:p>
        </p:txBody>
      </p:sp>
      <p:sp>
        <p:nvSpPr>
          <p:cNvPr id="70" name="Shape 67"/>
          <p:cNvSpPr/>
          <p:nvPr/>
        </p:nvSpPr>
        <p:spPr>
          <a:xfrm>
            <a:off x="548640" y="4946904"/>
            <a:ext cx="11094415" cy="329184"/>
          </a:xfrm>
          <a:prstGeom prst="rect">
            <a:avLst/>
          </a:prstGeom>
          <a:solidFill>
            <a:srgbClr val="FFFFFF"/>
          </a:solidFill>
          <a:ln/>
        </p:spPr>
      </p:sp>
      <p:sp>
        <p:nvSpPr>
          <p:cNvPr id="71" name="Shape 68"/>
          <p:cNvSpPr/>
          <p:nvPr/>
        </p:nvSpPr>
        <p:spPr>
          <a:xfrm>
            <a:off x="658368" y="4997196"/>
            <a:ext cx="228600" cy="228600"/>
          </a:xfrm>
          <a:prstGeom prst="ellipse">
            <a:avLst/>
          </a:prstGeom>
          <a:solidFill>
            <a:srgbClr val="56657E"/>
          </a:solidFill>
          <a:ln/>
        </p:spPr>
      </p:sp>
      <p:sp>
        <p:nvSpPr>
          <p:cNvPr id="72" name="Text 69"/>
          <p:cNvSpPr txBox="1"/>
          <p:nvPr/>
        </p:nvSpPr>
        <p:spPr>
          <a:xfrm>
            <a:off x="658368" y="4997196"/>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73" name="Text 70"/>
          <p:cNvSpPr txBox="1"/>
          <p:nvPr/>
        </p:nvSpPr>
        <p:spPr>
          <a:xfrm>
            <a:off x="1005840" y="4946904"/>
            <a:ext cx="2194560" cy="329184"/>
          </a:xfrm>
          <a:prstGeom prst="rect">
            <a:avLst/>
          </a:prstGeom>
          <a:noFill/>
          <a:ln/>
        </p:spPr>
        <p:txBody>
          <a:bodyPr wrap="square" lIns="0" tIns="0" rIns="0" bIns="0" rtlCol="0" anchor="ctr"/>
          <a:lstStyle/>
          <a:p>
            <a:pPr indent="0" marL="0">
              <a:buNone/>
            </a:pPr>
            <a:r>
              <a:rPr lang="en-US" sz="1200" b="1" dirty="0">
                <a:solidFill>
                  <a:srgbClr val="12213A"/>
                </a:solidFill>
                <a:latin typeface="Calibri" pitchFamily="34" charset="0"/>
                <a:ea typeface="Calibri" pitchFamily="34" charset="-122"/>
                <a:cs typeface="Calibri" pitchFamily="34" charset="-120"/>
              </a:rPr>
              <a:t>Hash race</a:t>
            </a:r>
            <a:endParaRPr lang="en-US" sz="1200" dirty="0"/>
          </a:p>
        </p:txBody>
      </p:sp>
      <p:sp>
        <p:nvSpPr>
          <p:cNvPr id="74" name="Text 71"/>
          <p:cNvSpPr txBox="1"/>
          <p:nvPr/>
        </p:nvSpPr>
        <p:spPr>
          <a:xfrm>
            <a:off x="3200400" y="4946904"/>
            <a:ext cx="7223760" cy="329184"/>
          </a:xfrm>
          <a:prstGeom prst="rect">
            <a:avLst/>
          </a:prstGeom>
          <a:noFill/>
          <a:ln/>
        </p:spPr>
        <p:txBody>
          <a:bodyPr wrap="square" lIns="0" tIns="0" rIns="0" bIns="0" rtlCol="0" anchor="ctr">
            <a:normAutofit/>
          </a:bodyPr>
          <a:lstStyle/>
          <a:p>
            <a:pPr indent="0" marL="0">
              <a:buNone/>
            </a:pPr>
            <a:r>
              <a:rPr lang="en-US" sz="950" dirty="0">
                <a:solidFill>
                  <a:srgbClr val="12213A"/>
                </a:solidFill>
                <a:latin typeface="Courier New" pitchFamily="34" charset="0"/>
                <a:ea typeface="Courier New" pitchFamily="34" charset="-122"/>
                <a:cs typeface="Courier New" pitchFamily="34" charset="-120"/>
              </a:rPr>
              <a:t>hashlines words.txt | grep '^0' | wc -l   (7)</a:t>
            </a:r>
            <a:endParaRPr lang="en-US" sz="950" dirty="0"/>
          </a:p>
        </p:txBody>
      </p:sp>
      <p:sp>
        <p:nvSpPr>
          <p:cNvPr id="75" name="Text 72"/>
          <p:cNvSpPr txBox="1"/>
          <p:nvPr/>
        </p:nvSpPr>
        <p:spPr>
          <a:xfrm>
            <a:off x="10241280" y="4946904"/>
            <a:ext cx="1371600" cy="329184"/>
          </a:xfrm>
          <a:prstGeom prst="rect">
            <a:avLst/>
          </a:prstGeom>
          <a:noFill/>
          <a:ln/>
        </p:spPr>
        <p:txBody>
          <a:bodyPr wrap="square" lIns="0" tIns="0" rIns="0" bIns="0" rtlCol="0" anchor="ctr"/>
          <a:lstStyle/>
          <a:p>
            <a:pPr algn="r" indent="0" marL="0">
              <a:buNone/>
            </a:pPr>
            <a:r>
              <a:rPr lang="en-US" sz="1100" b="1" dirty="0">
                <a:solidFill>
                  <a:srgbClr val="56657E"/>
                </a:solidFill>
                <a:latin typeface="Calibri" pitchFamily="34" charset="0"/>
                <a:ea typeface="Calibri" pitchFamily="34" charset="-122"/>
                <a:cs typeface="Calibri" pitchFamily="34" charset="-120"/>
              </a:rPr>
              <a:t>side quest</a:t>
            </a:r>
            <a:endParaRPr lang="en-US" sz="1100" dirty="0"/>
          </a:p>
        </p:txBody>
      </p:sp>
      <p:sp>
        <p:nvSpPr>
          <p:cNvPr id="76" name="Text 73"/>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43 / 61</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Mentor appendix: when things go wrong</a:t>
            </a:r>
            <a:endParaRPr lang="en-US" sz="3200" dirty="0"/>
          </a:p>
        </p:txBody>
      </p:sp>
      <p:sp>
        <p:nvSpPr>
          <p:cNvPr id="4" name="Shape 1"/>
          <p:cNvSpPr/>
          <p:nvPr/>
        </p:nvSpPr>
        <p:spPr>
          <a:xfrm>
            <a:off x="548640" y="1463040"/>
            <a:ext cx="5449824" cy="1005840"/>
          </a:xfrm>
          <a:prstGeom prst="roundRect">
            <a:avLst>
              <a:gd name="adj" fmla="val 9091"/>
            </a:avLst>
          </a:prstGeom>
          <a:solidFill>
            <a:srgbClr val="F1F5FB"/>
          </a:solidFill>
          <a:ln/>
        </p:spPr>
      </p:sp>
      <p:sp>
        <p:nvSpPr>
          <p:cNvPr id="5" name="Text 2"/>
          <p:cNvSpPr txBox="1"/>
          <p:nvPr/>
        </p:nvSpPr>
        <p:spPr>
          <a:xfrm>
            <a:off x="777240" y="1554480"/>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tr prints nothing or the wrong letters</a:t>
            </a:r>
            <a:endParaRPr lang="en-US" sz="1450" dirty="0"/>
          </a:p>
        </p:txBody>
      </p:sp>
      <p:sp>
        <p:nvSpPr>
          <p:cNvPr id="6" name="Text 3"/>
          <p:cNvSpPr txBox="1"/>
          <p:nvPr/>
        </p:nvSpPr>
        <p:spPr>
          <a:xfrm>
            <a:off x="777240" y="1874520"/>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Quote both sets and count them: 'A-Za-z' and 'N-ZA-Mn-za-m'. Feed the file with &lt;.</a:t>
            </a:r>
            <a:endParaRPr lang="en-US" sz="1250" dirty="0"/>
          </a:p>
        </p:txBody>
      </p:sp>
      <p:sp>
        <p:nvSpPr>
          <p:cNvPr id="7" name="Shape 4"/>
          <p:cNvSpPr/>
          <p:nvPr/>
        </p:nvSpPr>
        <p:spPr>
          <a:xfrm>
            <a:off x="6190488" y="1463040"/>
            <a:ext cx="5449824" cy="1005840"/>
          </a:xfrm>
          <a:prstGeom prst="roundRect">
            <a:avLst>
              <a:gd name="adj" fmla="val 9091"/>
            </a:avLst>
          </a:prstGeom>
          <a:solidFill>
            <a:srgbClr val="F1F5FB"/>
          </a:solidFill>
          <a:ln/>
        </p:spPr>
      </p:sp>
      <p:sp>
        <p:nvSpPr>
          <p:cNvPr id="8" name="Text 5"/>
          <p:cNvSpPr txBox="1"/>
          <p:nvPr/>
        </p:nvSpPr>
        <p:spPr>
          <a:xfrm>
            <a:off x="6419088" y="1554480"/>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xxd -r prints nothing</a:t>
            </a:r>
            <a:endParaRPr lang="en-US" sz="1450" dirty="0"/>
          </a:p>
        </p:txBody>
      </p:sp>
      <p:sp>
        <p:nvSpPr>
          <p:cNvPr id="9" name="Text 6"/>
          <p:cNvSpPr txBox="1"/>
          <p:nvPr/>
        </p:nvSpPr>
        <p:spPr>
          <a:xfrm>
            <a:off x="6419088" y="1874520"/>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Add -p: the file is plain hex with no addresses. xxd -r -p secret.hex</a:t>
            </a:r>
            <a:endParaRPr lang="en-US" sz="1250" dirty="0"/>
          </a:p>
        </p:txBody>
      </p:sp>
      <p:sp>
        <p:nvSpPr>
          <p:cNvPr id="10" name="Shape 7"/>
          <p:cNvSpPr/>
          <p:nvPr/>
        </p:nvSpPr>
        <p:spPr>
          <a:xfrm>
            <a:off x="548640" y="2596896"/>
            <a:ext cx="5449824" cy="1005840"/>
          </a:xfrm>
          <a:prstGeom prst="roundRect">
            <a:avLst>
              <a:gd name="adj" fmla="val 9091"/>
            </a:avLst>
          </a:prstGeom>
          <a:solidFill>
            <a:srgbClr val="F1F5FB"/>
          </a:solidFill>
          <a:ln/>
        </p:spPr>
      </p:sp>
      <p:sp>
        <p:nvSpPr>
          <p:cNvPr id="11" name="Text 8"/>
          <p:cNvSpPr txBox="1"/>
          <p:nvPr/>
        </p:nvSpPr>
        <p:spPr>
          <a:xfrm>
            <a:off x="777240" y="2688336"/>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hashlines seems stuck (real Linux)</a:t>
            </a:r>
            <a:endParaRPr lang="en-US" sz="1450" dirty="0"/>
          </a:p>
        </p:txBody>
      </p:sp>
      <p:sp>
        <p:nvSpPr>
          <p:cNvPr id="12" name="Text 9"/>
          <p:cNvSpPr txBox="1"/>
          <p:nvPr/>
        </p:nvSpPr>
        <p:spPr>
          <a:xfrm>
            <a:off x="777240" y="3008376"/>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It hashes one line at a time: 100 lines take 15–25 s. Wait for the prompt.</a:t>
            </a:r>
            <a:endParaRPr lang="en-US" sz="1250" dirty="0"/>
          </a:p>
        </p:txBody>
      </p:sp>
      <p:sp>
        <p:nvSpPr>
          <p:cNvPr id="13" name="Shape 10"/>
          <p:cNvSpPr/>
          <p:nvPr/>
        </p:nvSpPr>
        <p:spPr>
          <a:xfrm>
            <a:off x="6190488" y="2596896"/>
            <a:ext cx="5449824" cy="1005840"/>
          </a:xfrm>
          <a:prstGeom prst="roundRect">
            <a:avLst>
              <a:gd name="adj" fmla="val 9091"/>
            </a:avLst>
          </a:prstGeom>
          <a:solidFill>
            <a:srgbClr val="F1F5FB"/>
          </a:solidFill>
          <a:ln/>
        </p:spPr>
      </p:sp>
      <p:sp>
        <p:nvSpPr>
          <p:cNvPr id="14" name="Text 11"/>
          <p:cNvSpPr txBox="1"/>
          <p:nvPr/>
        </p:nvSpPr>
        <p:spPr>
          <a:xfrm>
            <a:off x="6419088" y="2688336"/>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Mission 6 flag is 'Incorrect'</a:t>
            </a:r>
            <a:endParaRPr lang="en-US" sz="1450" dirty="0"/>
          </a:p>
        </p:txBody>
      </p:sp>
      <p:sp>
        <p:nvSpPr>
          <p:cNvPr id="15" name="Text 12"/>
          <p:cNvSpPr txBox="1"/>
          <p:nvPr/>
        </p:nvSpPr>
        <p:spPr>
          <a:xfrm>
            <a:off x="6419088" y="3008376"/>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The code goes in lowercase: CYBA{morse-7b0ab9be}. README.txt says so.</a:t>
            </a:r>
            <a:endParaRPr lang="en-US" sz="1250" dirty="0"/>
          </a:p>
        </p:txBody>
      </p:sp>
      <p:sp>
        <p:nvSpPr>
          <p:cNvPr id="16" name="Shape 13"/>
          <p:cNvSpPr/>
          <p:nvPr/>
        </p:nvSpPr>
        <p:spPr>
          <a:xfrm>
            <a:off x="548640" y="3730752"/>
            <a:ext cx="5449824" cy="1005840"/>
          </a:xfrm>
          <a:prstGeom prst="roundRect">
            <a:avLst>
              <a:gd name="adj" fmla="val 9091"/>
            </a:avLst>
          </a:prstGeom>
          <a:solidFill>
            <a:srgbClr val="F1F5FB"/>
          </a:solidFill>
          <a:ln/>
        </p:spPr>
      </p:sp>
      <p:sp>
        <p:nvSpPr>
          <p:cNvPr id="17" name="Text 14"/>
          <p:cNvSpPr txBox="1"/>
          <p:nvPr/>
        </p:nvSpPr>
        <p:spPr>
          <a:xfrm>
            <a:off x="777240" y="3822192"/>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Vigenère output is still gibberish</a:t>
            </a:r>
            <a:endParaRPr lang="en-US" sz="1450" dirty="0"/>
          </a:p>
        </p:txBody>
      </p:sp>
      <p:sp>
        <p:nvSpPr>
          <p:cNvPr id="18" name="Text 15"/>
          <p:cNvSpPr txBox="1"/>
          <p:nvPr/>
        </p:nvSpPr>
        <p:spPr>
          <a:xfrm>
            <a:off x="777240" y="4142232"/>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Wrong keyword, or -e instead of -d. Mission 10: decode base64 first.</a:t>
            </a:r>
            <a:endParaRPr lang="en-US" sz="1250" dirty="0"/>
          </a:p>
        </p:txBody>
      </p:sp>
      <p:sp>
        <p:nvSpPr>
          <p:cNvPr id="19" name="Shape 16"/>
          <p:cNvSpPr/>
          <p:nvPr/>
        </p:nvSpPr>
        <p:spPr>
          <a:xfrm>
            <a:off x="6190488" y="3730752"/>
            <a:ext cx="5449824" cy="1005840"/>
          </a:xfrm>
          <a:prstGeom prst="roundRect">
            <a:avLst>
              <a:gd name="adj" fmla="val 9091"/>
            </a:avLst>
          </a:prstGeom>
          <a:solidFill>
            <a:srgbClr val="F1F5FB"/>
          </a:solidFill>
          <a:ln/>
        </p:spPr>
      </p:sp>
      <p:sp>
        <p:nvSpPr>
          <p:cNvPr id="20" name="Text 17"/>
          <p:cNvSpPr txBox="1"/>
          <p:nvPr/>
        </p:nvSpPr>
        <p:spPr>
          <a:xfrm>
            <a:off x="6419088" y="3822192"/>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 doesn't work</a:t>
            </a:r>
            <a:endParaRPr lang="en-US" sz="1450" dirty="0"/>
          </a:p>
        </p:txBody>
      </p:sp>
      <p:sp>
        <p:nvSpPr>
          <p:cNvPr id="21" name="Text 18"/>
          <p:cNvSpPr txBox="1"/>
          <p:nvPr/>
        </p:nvSpPr>
        <p:spPr>
          <a:xfrm>
            <a:off x="6419088" y="4142232"/>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Lite mode has no $(...). Type the first 8 hash characters into grep.</a:t>
            </a:r>
            <a:endParaRPr lang="en-US" sz="1250" dirty="0"/>
          </a:p>
        </p:txBody>
      </p:sp>
      <p:sp>
        <p:nvSpPr>
          <p:cNvPr id="22" name="Shape 19"/>
          <p:cNvSpPr/>
          <p:nvPr/>
        </p:nvSpPr>
        <p:spPr>
          <a:xfrm>
            <a:off x="548640" y="4864608"/>
            <a:ext cx="5449824" cy="1005840"/>
          </a:xfrm>
          <a:prstGeom prst="roundRect">
            <a:avLst>
              <a:gd name="adj" fmla="val 9091"/>
            </a:avLst>
          </a:prstGeom>
          <a:solidFill>
            <a:srgbClr val="F1F5FB"/>
          </a:solidFill>
          <a:ln/>
        </p:spPr>
      </p:sp>
      <p:sp>
        <p:nvSpPr>
          <p:cNvPr id="23" name="Text 20"/>
          <p:cNvSpPr txBox="1"/>
          <p:nvPr/>
        </p:nvSpPr>
        <p:spPr>
          <a:xfrm>
            <a:off x="777240" y="4956048"/>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"Incorrect flag"</a:t>
            </a:r>
            <a:endParaRPr lang="en-US" sz="1450" dirty="0"/>
          </a:p>
        </p:txBody>
      </p:sp>
      <p:sp>
        <p:nvSpPr>
          <p:cNvPr id="24" name="Text 21"/>
          <p:cNvSpPr txBox="1"/>
          <p:nvPr/>
        </p:nvSpPr>
        <p:spPr>
          <a:xfrm>
            <a:off x="777240" y="5276088"/>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Copy the whole flag, CYBA{ to }. Flags from another computer never work.</a:t>
            </a:r>
            <a:endParaRPr lang="en-US" sz="1250" dirty="0"/>
          </a:p>
        </p:txBody>
      </p:sp>
      <p:sp>
        <p:nvSpPr>
          <p:cNvPr id="25" name="Shape 22"/>
          <p:cNvSpPr/>
          <p:nvPr/>
        </p:nvSpPr>
        <p:spPr>
          <a:xfrm>
            <a:off x="6190488" y="4864608"/>
            <a:ext cx="5449824" cy="1005840"/>
          </a:xfrm>
          <a:prstGeom prst="roundRect">
            <a:avLst>
              <a:gd name="adj" fmla="val 9091"/>
            </a:avLst>
          </a:prstGeom>
          <a:solidFill>
            <a:srgbClr val="F1F5FB"/>
          </a:solidFill>
          <a:ln/>
        </p:spPr>
      </p:sp>
      <p:sp>
        <p:nvSpPr>
          <p:cNvPr id="26" name="Text 23"/>
          <p:cNvSpPr txBox="1"/>
          <p:nvPr/>
        </p:nvSpPr>
        <p:spPr>
          <a:xfrm>
            <a:off x="6419088" y="4956048"/>
            <a:ext cx="5029200" cy="320040"/>
          </a:xfrm>
          <a:prstGeom prst="rect">
            <a:avLst/>
          </a:prstGeom>
          <a:noFill/>
          <a:ln/>
        </p:spPr>
        <p:txBody>
          <a:bodyPr wrap="square" lIns="0" tIns="0" rIns="0" bIns="0" rtlCol="0" anchor="t"/>
          <a:lstStyle/>
          <a:p>
            <a:pPr indent="0" marL="0">
              <a:buNone/>
            </a:pPr>
            <a:r>
              <a:rPr lang="en-US" sz="1450" b="1" dirty="0">
                <a:solidFill>
                  <a:srgbClr val="B93434"/>
                </a:solidFill>
                <a:latin typeface="Calibri" pitchFamily="34" charset="0"/>
                <a:ea typeface="Calibri" pitchFamily="34" charset="-122"/>
                <a:cs typeface="Calibri" pitchFamily="34" charset="-120"/>
              </a:rPr>
              <a:t>Page was reloaded by accident</a:t>
            </a:r>
            <a:endParaRPr lang="en-US" sz="1450" dirty="0"/>
          </a:p>
        </p:txBody>
      </p:sp>
      <p:sp>
        <p:nvSpPr>
          <p:cNvPr id="27" name="Text 24"/>
          <p:cNvSpPr txBox="1"/>
          <p:nvPr/>
        </p:nvSpPr>
        <p:spPr>
          <a:xfrm>
            <a:off x="6419088" y="5276088"/>
            <a:ext cx="5029200" cy="548640"/>
          </a:xfrm>
          <a:prstGeom prst="rect">
            <a:avLst/>
          </a:prstGeom>
          <a:noFill/>
          <a:ln/>
        </p:spPr>
        <p:txBody>
          <a:bodyPr wrap="square" lIns="0" tIns="0" rIns="0" bIns="0" rtlCol="0" anchor="t"/>
          <a:lstStyle/>
          <a:p>
            <a:pPr indent="0" marL="0">
              <a:buNone/>
            </a:pPr>
            <a:r>
              <a:rPr lang="en-US" sz="1250" dirty="0">
                <a:solidFill>
                  <a:srgbClr val="12213A"/>
                </a:solidFill>
                <a:latin typeface="Calibri" pitchFamily="34" charset="0"/>
                <a:ea typeface="Calibri" pitchFamily="34" charset="-122"/>
                <a:cs typeface="Calibri" pitchFamily="34" charset="-120"/>
              </a:rPr>
              <a:t>New keys, new flags; points and clock reset. The second run is fast.</a:t>
            </a:r>
            <a:endParaRPr lang="en-US" sz="1250" dirty="0"/>
          </a:p>
        </p:txBody>
      </p:sp>
      <p:sp>
        <p:nvSpPr>
          <p:cNvPr id="28" name="Text 25"/>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44 / 61</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3200" b="1" dirty="0">
                <a:solidFill>
                  <a:srgbClr val="12213A"/>
                </a:solidFill>
                <a:latin typeface="Arial" pitchFamily="34" charset="0"/>
                <a:ea typeface="Arial" pitchFamily="34" charset="-122"/>
                <a:cs typeface="Arial" pitchFamily="34" charset="-120"/>
              </a:rPr>
              <a:t>Mission bank: missions 3-10</a:t>
            </a:r>
            <a:endParaRPr lang="en-US" sz="3200" dirty="0"/>
          </a:p>
        </p:txBody>
      </p:sp>
      <p:sp>
        <p:nvSpPr>
          <p:cNvPr id="4" name="Text 1"/>
          <p:cNvSpPr txBox="1"/>
          <p:nvPr/>
        </p:nvSpPr>
        <p:spPr>
          <a:xfrm>
            <a:off x="548640" y="1828800"/>
            <a:ext cx="11094415" cy="548640"/>
          </a:xfrm>
          <a:prstGeom prst="rect">
            <a:avLst/>
          </a:prstGeom>
          <a:noFill/>
          <a:ln/>
        </p:spPr>
        <p:txBody>
          <a:bodyPr wrap="square" lIns="0" tIns="0" rIns="0" bIns="0" rtlCol="0" anchor="t"/>
          <a:lstStyle/>
          <a:p>
            <a:pPr indent="0" marL="0">
              <a:buNone/>
            </a:pPr>
            <a:r>
              <a:rPr lang="en-US" sz="1800" dirty="0">
                <a:solidFill>
                  <a:srgbClr val="56657E"/>
                </a:solidFill>
                <a:latin typeface="Calibri" pitchFamily="34" charset="0"/>
                <a:ea typeface="Calibri" pitchFamily="34" charset="-122"/>
                <a:cs typeface="Calibri" pitchFamily="34" charset="-120"/>
              </a:rPr>
              <a:t>Each has a brief (clue + questions) and a walkthrough (one path). Pull up whatever a student needs.</a:t>
            </a:r>
            <a:endParaRPr lang="en-US" sz="1800" dirty="0"/>
          </a:p>
        </p:txBody>
      </p:sp>
      <p:sp>
        <p:nvSpPr>
          <p:cNvPr id="5" name="Shape 2"/>
          <p:cNvSpPr/>
          <p:nvPr/>
        </p:nvSpPr>
        <p:spPr>
          <a:xfrm>
            <a:off x="548640" y="2651760"/>
            <a:ext cx="2606040" cy="1371600"/>
          </a:xfrm>
          <a:prstGeom prst="roundRect">
            <a:avLst>
              <a:gd name="adj" fmla="val 6667"/>
            </a:avLst>
          </a:prstGeom>
          <a:solidFill>
            <a:srgbClr val="F1F5FB"/>
          </a:solidFill>
          <a:ln/>
        </p:spPr>
      </p:sp>
      <p:sp>
        <p:nvSpPr>
          <p:cNvPr id="6" name="Shape 3"/>
          <p:cNvSpPr/>
          <p:nvPr/>
        </p:nvSpPr>
        <p:spPr>
          <a:xfrm>
            <a:off x="777240" y="2880360"/>
            <a:ext cx="457200" cy="457200"/>
          </a:xfrm>
          <a:prstGeom prst="ellipse">
            <a:avLst/>
          </a:prstGeom>
          <a:solidFill>
            <a:srgbClr val="2459D8"/>
          </a:solidFill>
          <a:ln/>
        </p:spPr>
      </p:sp>
      <p:sp>
        <p:nvSpPr>
          <p:cNvPr id="7" name="Text 4"/>
          <p:cNvSpPr txBox="1"/>
          <p:nvPr/>
        </p:nvSpPr>
        <p:spPr>
          <a:xfrm>
            <a:off x="777240" y="2880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8" name="Text 5"/>
          <p:cNvSpPr txBox="1"/>
          <p:nvPr/>
        </p:nvSpPr>
        <p:spPr>
          <a:xfrm>
            <a:off x="1371600" y="28529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Thirteen steps</a:t>
            </a:r>
            <a:endParaRPr lang="en-US" sz="1400" dirty="0"/>
          </a:p>
        </p:txBody>
      </p:sp>
      <p:sp>
        <p:nvSpPr>
          <p:cNvPr id="9" name="Shape 6"/>
          <p:cNvSpPr/>
          <p:nvPr/>
        </p:nvSpPr>
        <p:spPr>
          <a:xfrm>
            <a:off x="777240" y="3474720"/>
            <a:ext cx="1600200" cy="347472"/>
          </a:xfrm>
          <a:prstGeom prst="roundRect">
            <a:avLst>
              <a:gd name="adj" fmla="val 50000"/>
            </a:avLst>
          </a:prstGeom>
          <a:solidFill>
            <a:srgbClr val="E2F5EC"/>
          </a:solidFill>
          <a:ln/>
        </p:spPr>
      </p:sp>
      <p:sp>
        <p:nvSpPr>
          <p:cNvPr id="10" name="Text 7"/>
          <p:cNvSpPr txBox="1"/>
          <p:nvPr/>
        </p:nvSpPr>
        <p:spPr>
          <a:xfrm>
            <a:off x="777240" y="3474720"/>
            <a:ext cx="1600200" cy="347472"/>
          </a:xfrm>
          <a:prstGeom prst="rect">
            <a:avLst/>
          </a:prstGeom>
          <a:noFill/>
          <a:ln/>
        </p:spPr>
        <p:txBody>
          <a:bodyPr wrap="square" lIns="0" tIns="0" rIns="0" bIns="0" rtlCol="0" anchor="ctr"/>
          <a:lstStyle/>
          <a:p>
            <a:pPr algn="ctr" indent="0" marL="0">
              <a:buNone/>
            </a:pPr>
            <a:r>
              <a:rPr lang="en-US" sz="950" b="1" dirty="0">
                <a:solidFill>
                  <a:srgbClr val="12704B"/>
                </a:solidFill>
                <a:latin typeface="Calibri" pitchFamily="34" charset="0"/>
                <a:ea typeface="Calibri" pitchFamily="34" charset="-122"/>
                <a:cs typeface="Calibri" pitchFamily="34" charset="-120"/>
              </a:rPr>
              <a:t>EASY  ·  100</a:t>
            </a:r>
            <a:endParaRPr lang="en-US" sz="950" dirty="0"/>
          </a:p>
        </p:txBody>
      </p:sp>
      <p:sp>
        <p:nvSpPr>
          <p:cNvPr id="11" name="Text 8"/>
          <p:cNvSpPr txBox="1"/>
          <p:nvPr/>
        </p:nvSpPr>
        <p:spPr>
          <a:xfrm>
            <a:off x="2423160" y="34930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tr  &lt;</a:t>
            </a:r>
            <a:endParaRPr lang="en-US" sz="900" dirty="0"/>
          </a:p>
        </p:txBody>
      </p:sp>
      <p:sp>
        <p:nvSpPr>
          <p:cNvPr id="12" name="Shape 9"/>
          <p:cNvSpPr/>
          <p:nvPr/>
        </p:nvSpPr>
        <p:spPr>
          <a:xfrm>
            <a:off x="3364992" y="2651760"/>
            <a:ext cx="2606040" cy="1371600"/>
          </a:xfrm>
          <a:prstGeom prst="roundRect">
            <a:avLst>
              <a:gd name="adj" fmla="val 6667"/>
            </a:avLst>
          </a:prstGeom>
          <a:solidFill>
            <a:srgbClr val="F1F5FB"/>
          </a:solidFill>
          <a:ln/>
        </p:spPr>
      </p:sp>
      <p:sp>
        <p:nvSpPr>
          <p:cNvPr id="13" name="Shape 10"/>
          <p:cNvSpPr/>
          <p:nvPr/>
        </p:nvSpPr>
        <p:spPr>
          <a:xfrm>
            <a:off x="3593592" y="2880360"/>
            <a:ext cx="457200" cy="457200"/>
          </a:xfrm>
          <a:prstGeom prst="ellipse">
            <a:avLst/>
          </a:prstGeom>
          <a:solidFill>
            <a:srgbClr val="7448D4"/>
          </a:solidFill>
          <a:ln/>
        </p:spPr>
      </p:sp>
      <p:sp>
        <p:nvSpPr>
          <p:cNvPr id="14" name="Text 11"/>
          <p:cNvSpPr txBox="1"/>
          <p:nvPr/>
        </p:nvSpPr>
        <p:spPr>
          <a:xfrm>
            <a:off x="3593592" y="2880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5" name="Text 12"/>
          <p:cNvSpPr txBox="1"/>
          <p:nvPr/>
        </p:nvSpPr>
        <p:spPr>
          <a:xfrm>
            <a:off x="4187952" y="28529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Hail Caesar</a:t>
            </a:r>
            <a:endParaRPr lang="en-US" sz="1400" dirty="0"/>
          </a:p>
        </p:txBody>
      </p:sp>
      <p:sp>
        <p:nvSpPr>
          <p:cNvPr id="16" name="Shape 13"/>
          <p:cNvSpPr/>
          <p:nvPr/>
        </p:nvSpPr>
        <p:spPr>
          <a:xfrm>
            <a:off x="3593592" y="3474720"/>
            <a:ext cx="1600200" cy="347472"/>
          </a:xfrm>
          <a:prstGeom prst="roundRect">
            <a:avLst>
              <a:gd name="adj" fmla="val 50000"/>
            </a:avLst>
          </a:prstGeom>
          <a:solidFill>
            <a:srgbClr val="FFF4DE"/>
          </a:solidFill>
          <a:ln/>
        </p:spPr>
      </p:sp>
      <p:sp>
        <p:nvSpPr>
          <p:cNvPr id="17" name="Text 14"/>
          <p:cNvSpPr txBox="1"/>
          <p:nvPr/>
        </p:nvSpPr>
        <p:spPr>
          <a:xfrm>
            <a:off x="3593592" y="3474720"/>
            <a:ext cx="1600200" cy="347472"/>
          </a:xfrm>
          <a:prstGeom prst="rect">
            <a:avLst/>
          </a:prstGeom>
          <a:noFill/>
          <a:ln/>
        </p:spPr>
        <p:txBody>
          <a:bodyPr wrap="square" lIns="0" tIns="0" rIns="0" bIns="0" rtlCol="0" anchor="ctr"/>
          <a:lstStyle/>
          <a:p>
            <a:pPr algn="ctr" indent="0" marL="0">
              <a:buNone/>
            </a:pPr>
            <a:r>
              <a:rPr lang="en-US" sz="950" b="1" dirty="0">
                <a:solidFill>
                  <a:srgbClr val="9A5B00"/>
                </a:solidFill>
                <a:latin typeface="Calibri" pitchFamily="34" charset="0"/>
                <a:ea typeface="Calibri" pitchFamily="34" charset="-122"/>
                <a:cs typeface="Calibri" pitchFamily="34" charset="-120"/>
              </a:rPr>
              <a:t>MEDIUM  ·  200</a:t>
            </a:r>
            <a:endParaRPr lang="en-US" sz="950" dirty="0"/>
          </a:p>
        </p:txBody>
      </p:sp>
      <p:sp>
        <p:nvSpPr>
          <p:cNvPr id="18" name="Text 15"/>
          <p:cNvSpPr txBox="1"/>
          <p:nvPr/>
        </p:nvSpPr>
        <p:spPr>
          <a:xfrm>
            <a:off x="5239512" y="34930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caesar all  |  grep</a:t>
            </a:r>
            <a:endParaRPr lang="en-US" sz="900" dirty="0"/>
          </a:p>
        </p:txBody>
      </p:sp>
      <p:sp>
        <p:nvSpPr>
          <p:cNvPr id="19" name="Shape 16"/>
          <p:cNvSpPr/>
          <p:nvPr/>
        </p:nvSpPr>
        <p:spPr>
          <a:xfrm>
            <a:off x="6181344" y="2651760"/>
            <a:ext cx="2606040" cy="1371600"/>
          </a:xfrm>
          <a:prstGeom prst="roundRect">
            <a:avLst>
              <a:gd name="adj" fmla="val 6667"/>
            </a:avLst>
          </a:prstGeom>
          <a:solidFill>
            <a:srgbClr val="F1F5FB"/>
          </a:solidFill>
          <a:ln/>
        </p:spPr>
      </p:sp>
      <p:sp>
        <p:nvSpPr>
          <p:cNvPr id="20" name="Shape 17"/>
          <p:cNvSpPr/>
          <p:nvPr/>
        </p:nvSpPr>
        <p:spPr>
          <a:xfrm>
            <a:off x="6409944" y="2880360"/>
            <a:ext cx="457200" cy="457200"/>
          </a:xfrm>
          <a:prstGeom prst="ellipse">
            <a:avLst/>
          </a:prstGeom>
          <a:solidFill>
            <a:srgbClr val="D1416B"/>
          </a:solidFill>
          <a:ln/>
        </p:spPr>
      </p:sp>
      <p:sp>
        <p:nvSpPr>
          <p:cNvPr id="21" name="Text 18"/>
          <p:cNvSpPr txBox="1"/>
          <p:nvPr/>
        </p:nvSpPr>
        <p:spPr>
          <a:xfrm>
            <a:off x="6409944" y="2880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2" name="Text 19"/>
          <p:cNvSpPr txBox="1"/>
          <p:nvPr/>
        </p:nvSpPr>
        <p:spPr>
          <a:xfrm>
            <a:off x="7004304" y="28529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Mirror, mirror</a:t>
            </a:r>
            <a:endParaRPr lang="en-US" sz="1400" dirty="0"/>
          </a:p>
        </p:txBody>
      </p:sp>
      <p:sp>
        <p:nvSpPr>
          <p:cNvPr id="23" name="Shape 20"/>
          <p:cNvSpPr/>
          <p:nvPr/>
        </p:nvSpPr>
        <p:spPr>
          <a:xfrm>
            <a:off x="6409944" y="3474720"/>
            <a:ext cx="1600200" cy="347472"/>
          </a:xfrm>
          <a:prstGeom prst="roundRect">
            <a:avLst>
              <a:gd name="adj" fmla="val 50000"/>
            </a:avLst>
          </a:prstGeom>
          <a:solidFill>
            <a:srgbClr val="FFF4DE"/>
          </a:solidFill>
          <a:ln/>
        </p:spPr>
      </p:sp>
      <p:sp>
        <p:nvSpPr>
          <p:cNvPr id="24" name="Text 21"/>
          <p:cNvSpPr txBox="1"/>
          <p:nvPr/>
        </p:nvSpPr>
        <p:spPr>
          <a:xfrm>
            <a:off x="6409944" y="3474720"/>
            <a:ext cx="1600200" cy="347472"/>
          </a:xfrm>
          <a:prstGeom prst="rect">
            <a:avLst/>
          </a:prstGeom>
          <a:noFill/>
          <a:ln/>
        </p:spPr>
        <p:txBody>
          <a:bodyPr wrap="square" lIns="0" tIns="0" rIns="0" bIns="0" rtlCol="0" anchor="ctr"/>
          <a:lstStyle/>
          <a:p>
            <a:pPr algn="ctr" indent="0" marL="0">
              <a:buNone/>
            </a:pPr>
            <a:r>
              <a:rPr lang="en-US" sz="950" b="1" dirty="0">
                <a:solidFill>
                  <a:srgbClr val="9A5B00"/>
                </a:solidFill>
                <a:latin typeface="Calibri" pitchFamily="34" charset="0"/>
                <a:ea typeface="Calibri" pitchFamily="34" charset="-122"/>
                <a:cs typeface="Calibri" pitchFamily="34" charset="-120"/>
              </a:rPr>
              <a:t>MEDIUM  ·  200</a:t>
            </a:r>
            <a:endParaRPr lang="en-US" sz="950" dirty="0"/>
          </a:p>
        </p:txBody>
      </p:sp>
      <p:sp>
        <p:nvSpPr>
          <p:cNvPr id="25" name="Text 22"/>
          <p:cNvSpPr txBox="1"/>
          <p:nvPr/>
        </p:nvSpPr>
        <p:spPr>
          <a:xfrm>
            <a:off x="8055864" y="34930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tr (reversed alphabet)</a:t>
            </a:r>
            <a:endParaRPr lang="en-US" sz="900" dirty="0"/>
          </a:p>
        </p:txBody>
      </p:sp>
      <p:sp>
        <p:nvSpPr>
          <p:cNvPr id="26" name="Shape 23"/>
          <p:cNvSpPr/>
          <p:nvPr/>
        </p:nvSpPr>
        <p:spPr>
          <a:xfrm>
            <a:off x="8997696" y="2651760"/>
            <a:ext cx="2606040" cy="1371600"/>
          </a:xfrm>
          <a:prstGeom prst="roundRect">
            <a:avLst>
              <a:gd name="adj" fmla="val 6667"/>
            </a:avLst>
          </a:prstGeom>
          <a:solidFill>
            <a:srgbClr val="F1F5FB"/>
          </a:solidFill>
          <a:ln/>
        </p:spPr>
      </p:sp>
      <p:sp>
        <p:nvSpPr>
          <p:cNvPr id="27" name="Shape 24"/>
          <p:cNvSpPr/>
          <p:nvPr/>
        </p:nvSpPr>
        <p:spPr>
          <a:xfrm>
            <a:off x="9226296" y="2880360"/>
            <a:ext cx="457200" cy="457200"/>
          </a:xfrm>
          <a:prstGeom prst="ellipse">
            <a:avLst/>
          </a:prstGeom>
          <a:solidFill>
            <a:srgbClr val="E8820C"/>
          </a:solidFill>
          <a:ln/>
        </p:spPr>
      </p:sp>
      <p:sp>
        <p:nvSpPr>
          <p:cNvPr id="28" name="Text 25"/>
          <p:cNvSpPr txBox="1"/>
          <p:nvPr/>
        </p:nvSpPr>
        <p:spPr>
          <a:xfrm>
            <a:off x="9226296" y="2880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9" name="Text 26"/>
          <p:cNvSpPr txBox="1"/>
          <p:nvPr/>
        </p:nvSpPr>
        <p:spPr>
          <a:xfrm>
            <a:off x="9820656" y="28529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Dots and dashes</a:t>
            </a:r>
            <a:endParaRPr lang="en-US" sz="1400" dirty="0"/>
          </a:p>
        </p:txBody>
      </p:sp>
      <p:sp>
        <p:nvSpPr>
          <p:cNvPr id="30" name="Shape 27"/>
          <p:cNvSpPr/>
          <p:nvPr/>
        </p:nvSpPr>
        <p:spPr>
          <a:xfrm>
            <a:off x="9226296" y="3474720"/>
            <a:ext cx="1600200" cy="347472"/>
          </a:xfrm>
          <a:prstGeom prst="roundRect">
            <a:avLst>
              <a:gd name="adj" fmla="val 50000"/>
            </a:avLst>
          </a:prstGeom>
          <a:solidFill>
            <a:srgbClr val="FFF4DE"/>
          </a:solidFill>
          <a:ln/>
        </p:spPr>
      </p:sp>
      <p:sp>
        <p:nvSpPr>
          <p:cNvPr id="31" name="Text 28"/>
          <p:cNvSpPr txBox="1"/>
          <p:nvPr/>
        </p:nvSpPr>
        <p:spPr>
          <a:xfrm>
            <a:off x="9226296" y="3474720"/>
            <a:ext cx="1600200" cy="347472"/>
          </a:xfrm>
          <a:prstGeom prst="rect">
            <a:avLst/>
          </a:prstGeom>
          <a:noFill/>
          <a:ln/>
        </p:spPr>
        <p:txBody>
          <a:bodyPr wrap="square" lIns="0" tIns="0" rIns="0" bIns="0" rtlCol="0" anchor="ctr"/>
          <a:lstStyle/>
          <a:p>
            <a:pPr algn="ctr" indent="0" marL="0">
              <a:buNone/>
            </a:pPr>
            <a:r>
              <a:rPr lang="en-US" sz="950" b="1" dirty="0">
                <a:solidFill>
                  <a:srgbClr val="9A5B00"/>
                </a:solidFill>
                <a:latin typeface="Calibri" pitchFamily="34" charset="0"/>
                <a:ea typeface="Calibri" pitchFamily="34" charset="-122"/>
                <a:cs typeface="Calibri" pitchFamily="34" charset="-120"/>
              </a:rPr>
              <a:t>MEDIUM  ·  200</a:t>
            </a:r>
            <a:endParaRPr lang="en-US" sz="950" dirty="0"/>
          </a:p>
        </p:txBody>
      </p:sp>
      <p:sp>
        <p:nvSpPr>
          <p:cNvPr id="32" name="Text 29"/>
          <p:cNvSpPr txBox="1"/>
          <p:nvPr/>
        </p:nvSpPr>
        <p:spPr>
          <a:xfrm>
            <a:off x="10872216" y="34930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morse</a:t>
            </a:r>
            <a:endParaRPr lang="en-US" sz="900" dirty="0"/>
          </a:p>
        </p:txBody>
      </p:sp>
      <p:sp>
        <p:nvSpPr>
          <p:cNvPr id="33" name="Shape 30"/>
          <p:cNvSpPr/>
          <p:nvPr/>
        </p:nvSpPr>
        <p:spPr>
          <a:xfrm>
            <a:off x="548640" y="4251960"/>
            <a:ext cx="2606040" cy="1371600"/>
          </a:xfrm>
          <a:prstGeom prst="roundRect">
            <a:avLst>
              <a:gd name="adj" fmla="val 6667"/>
            </a:avLst>
          </a:prstGeom>
          <a:solidFill>
            <a:srgbClr val="F1F5FB"/>
          </a:solidFill>
          <a:ln/>
        </p:spPr>
      </p:sp>
      <p:sp>
        <p:nvSpPr>
          <p:cNvPr id="34" name="Shape 31"/>
          <p:cNvSpPr/>
          <p:nvPr/>
        </p:nvSpPr>
        <p:spPr>
          <a:xfrm>
            <a:off x="777240" y="4480560"/>
            <a:ext cx="457200" cy="457200"/>
          </a:xfrm>
          <a:prstGeom prst="ellipse">
            <a:avLst/>
          </a:prstGeom>
          <a:solidFill>
            <a:srgbClr val="C9A227"/>
          </a:solidFill>
          <a:ln/>
        </p:spPr>
      </p:sp>
      <p:sp>
        <p:nvSpPr>
          <p:cNvPr id="35" name="Text 32"/>
          <p:cNvSpPr txBox="1"/>
          <p:nvPr/>
        </p:nvSpPr>
        <p:spPr>
          <a:xfrm>
            <a:off x="777240" y="4480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36" name="Text 33"/>
          <p:cNvSpPr txBox="1"/>
          <p:nvPr/>
        </p:nvSpPr>
        <p:spPr>
          <a:xfrm>
            <a:off x="1371600" y="44531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Fingerprints</a:t>
            </a:r>
            <a:endParaRPr lang="en-US" sz="1400" dirty="0"/>
          </a:p>
        </p:txBody>
      </p:sp>
      <p:sp>
        <p:nvSpPr>
          <p:cNvPr id="37" name="Shape 34"/>
          <p:cNvSpPr/>
          <p:nvPr/>
        </p:nvSpPr>
        <p:spPr>
          <a:xfrm>
            <a:off x="777240" y="5074920"/>
            <a:ext cx="1600200" cy="347472"/>
          </a:xfrm>
          <a:prstGeom prst="roundRect">
            <a:avLst>
              <a:gd name="adj" fmla="val 50000"/>
            </a:avLst>
          </a:prstGeom>
          <a:solidFill>
            <a:srgbClr val="FFF4DE"/>
          </a:solidFill>
          <a:ln/>
        </p:spPr>
      </p:sp>
      <p:sp>
        <p:nvSpPr>
          <p:cNvPr id="38" name="Text 35"/>
          <p:cNvSpPr txBox="1"/>
          <p:nvPr/>
        </p:nvSpPr>
        <p:spPr>
          <a:xfrm>
            <a:off x="777240" y="5074920"/>
            <a:ext cx="1600200" cy="347472"/>
          </a:xfrm>
          <a:prstGeom prst="rect">
            <a:avLst/>
          </a:prstGeom>
          <a:noFill/>
          <a:ln/>
        </p:spPr>
        <p:txBody>
          <a:bodyPr wrap="square" lIns="0" tIns="0" rIns="0" bIns="0" rtlCol="0" anchor="ctr"/>
          <a:lstStyle/>
          <a:p>
            <a:pPr algn="ctr" indent="0" marL="0">
              <a:buNone/>
            </a:pPr>
            <a:r>
              <a:rPr lang="en-US" sz="950" b="1" dirty="0">
                <a:solidFill>
                  <a:srgbClr val="9A5B00"/>
                </a:solidFill>
                <a:latin typeface="Calibri" pitchFamily="34" charset="0"/>
                <a:ea typeface="Calibri" pitchFamily="34" charset="-122"/>
                <a:cs typeface="Calibri" pitchFamily="34" charset="-120"/>
              </a:rPr>
              <a:t>MEDIUM  ·  200</a:t>
            </a:r>
            <a:endParaRPr lang="en-US" sz="950" dirty="0"/>
          </a:p>
        </p:txBody>
      </p:sp>
      <p:sp>
        <p:nvSpPr>
          <p:cNvPr id="39" name="Text 36"/>
          <p:cNvSpPr txBox="1"/>
          <p:nvPr/>
        </p:nvSpPr>
        <p:spPr>
          <a:xfrm>
            <a:off x="2423160" y="50932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hashlines  |  grep</a:t>
            </a:r>
            <a:endParaRPr lang="en-US" sz="900" dirty="0"/>
          </a:p>
        </p:txBody>
      </p:sp>
      <p:sp>
        <p:nvSpPr>
          <p:cNvPr id="40" name="Shape 37"/>
          <p:cNvSpPr/>
          <p:nvPr/>
        </p:nvSpPr>
        <p:spPr>
          <a:xfrm>
            <a:off x="3364992" y="4251960"/>
            <a:ext cx="2606040" cy="1371600"/>
          </a:xfrm>
          <a:prstGeom prst="roundRect">
            <a:avLst>
              <a:gd name="adj" fmla="val 6667"/>
            </a:avLst>
          </a:prstGeom>
          <a:solidFill>
            <a:srgbClr val="F1F5FB"/>
          </a:solidFill>
          <a:ln/>
        </p:spPr>
      </p:sp>
      <p:sp>
        <p:nvSpPr>
          <p:cNvPr id="41" name="Shape 38"/>
          <p:cNvSpPr/>
          <p:nvPr/>
        </p:nvSpPr>
        <p:spPr>
          <a:xfrm>
            <a:off x="3593592" y="4480560"/>
            <a:ext cx="457200" cy="457200"/>
          </a:xfrm>
          <a:prstGeom prst="ellipse">
            <a:avLst/>
          </a:prstGeom>
          <a:solidFill>
            <a:srgbClr val="0F9488"/>
          </a:solidFill>
          <a:ln/>
        </p:spPr>
      </p:sp>
      <p:sp>
        <p:nvSpPr>
          <p:cNvPr id="42" name="Text 39"/>
          <p:cNvSpPr txBox="1"/>
          <p:nvPr/>
        </p:nvSpPr>
        <p:spPr>
          <a:xfrm>
            <a:off x="3593592" y="4480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8</a:t>
            </a:r>
            <a:endParaRPr lang="en-US" sz="1500" dirty="0"/>
          </a:p>
        </p:txBody>
      </p:sp>
      <p:sp>
        <p:nvSpPr>
          <p:cNvPr id="43" name="Text 40"/>
          <p:cNvSpPr txBox="1"/>
          <p:nvPr/>
        </p:nvSpPr>
        <p:spPr>
          <a:xfrm>
            <a:off x="4187952" y="44531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XOR marks</a:t>
            </a:r>
            <a:endParaRPr lang="en-US" sz="1400" dirty="0"/>
          </a:p>
        </p:txBody>
      </p:sp>
      <p:sp>
        <p:nvSpPr>
          <p:cNvPr id="44" name="Shape 41"/>
          <p:cNvSpPr/>
          <p:nvPr/>
        </p:nvSpPr>
        <p:spPr>
          <a:xfrm>
            <a:off x="3593592" y="5074920"/>
            <a:ext cx="1600200" cy="347472"/>
          </a:xfrm>
          <a:prstGeom prst="roundRect">
            <a:avLst>
              <a:gd name="adj" fmla="val 50000"/>
            </a:avLst>
          </a:prstGeom>
          <a:solidFill>
            <a:srgbClr val="FDE8EC"/>
          </a:solidFill>
          <a:ln/>
        </p:spPr>
      </p:sp>
      <p:sp>
        <p:nvSpPr>
          <p:cNvPr id="45" name="Text 42"/>
          <p:cNvSpPr txBox="1"/>
          <p:nvPr/>
        </p:nvSpPr>
        <p:spPr>
          <a:xfrm>
            <a:off x="3593592" y="5074920"/>
            <a:ext cx="1600200" cy="347472"/>
          </a:xfrm>
          <a:prstGeom prst="rect">
            <a:avLst/>
          </a:prstGeom>
          <a:noFill/>
          <a:ln/>
        </p:spPr>
        <p:txBody>
          <a:bodyPr wrap="square" lIns="0" tIns="0" rIns="0" bIns="0" rtlCol="0" anchor="ctr"/>
          <a:lstStyle/>
          <a:p>
            <a:pPr algn="ctr" indent="0" marL="0">
              <a:buNone/>
            </a:pPr>
            <a:r>
              <a:rPr lang="en-US" sz="950" b="1" dirty="0">
                <a:solidFill>
                  <a:srgbClr val="B4233F"/>
                </a:solidFill>
                <a:latin typeface="Calibri" pitchFamily="34" charset="0"/>
                <a:ea typeface="Calibri" pitchFamily="34" charset="-122"/>
                <a:cs typeface="Calibri" pitchFamily="34" charset="-120"/>
              </a:rPr>
              <a:t>HARD  ·  400</a:t>
            </a:r>
            <a:endParaRPr lang="en-US" sz="950" dirty="0"/>
          </a:p>
        </p:txBody>
      </p:sp>
      <p:sp>
        <p:nvSpPr>
          <p:cNvPr id="46" name="Text 43"/>
          <p:cNvSpPr txBox="1"/>
          <p:nvPr/>
        </p:nvSpPr>
        <p:spPr>
          <a:xfrm>
            <a:off x="5239512" y="50932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xor all  |  grep</a:t>
            </a:r>
            <a:endParaRPr lang="en-US" sz="900" dirty="0"/>
          </a:p>
        </p:txBody>
      </p:sp>
      <p:sp>
        <p:nvSpPr>
          <p:cNvPr id="47" name="Shape 44"/>
          <p:cNvSpPr/>
          <p:nvPr/>
        </p:nvSpPr>
        <p:spPr>
          <a:xfrm>
            <a:off x="6181344" y="4251960"/>
            <a:ext cx="2606040" cy="1371600"/>
          </a:xfrm>
          <a:prstGeom prst="roundRect">
            <a:avLst>
              <a:gd name="adj" fmla="val 6667"/>
            </a:avLst>
          </a:prstGeom>
          <a:solidFill>
            <a:srgbClr val="F1F5FB"/>
          </a:solidFill>
          <a:ln/>
        </p:spPr>
      </p:sp>
      <p:sp>
        <p:nvSpPr>
          <p:cNvPr id="48" name="Shape 45"/>
          <p:cNvSpPr/>
          <p:nvPr/>
        </p:nvSpPr>
        <p:spPr>
          <a:xfrm>
            <a:off x="6409944" y="4480560"/>
            <a:ext cx="457200" cy="457200"/>
          </a:xfrm>
          <a:prstGeom prst="ellipse">
            <a:avLst/>
          </a:prstGeom>
          <a:solidFill>
            <a:srgbClr val="5B6EE1"/>
          </a:solidFill>
          <a:ln/>
        </p:spPr>
      </p:sp>
      <p:sp>
        <p:nvSpPr>
          <p:cNvPr id="49" name="Text 46"/>
          <p:cNvSpPr txBox="1"/>
          <p:nvPr/>
        </p:nvSpPr>
        <p:spPr>
          <a:xfrm>
            <a:off x="6409944" y="4480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9</a:t>
            </a:r>
            <a:endParaRPr lang="en-US" sz="1500" dirty="0"/>
          </a:p>
        </p:txBody>
      </p:sp>
      <p:sp>
        <p:nvSpPr>
          <p:cNvPr id="50" name="Text 47"/>
          <p:cNvSpPr txBox="1"/>
          <p:nvPr/>
        </p:nvSpPr>
        <p:spPr>
          <a:xfrm>
            <a:off x="7004304" y="44531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Keyed up</a:t>
            </a:r>
            <a:endParaRPr lang="en-US" sz="1400" dirty="0"/>
          </a:p>
        </p:txBody>
      </p:sp>
      <p:sp>
        <p:nvSpPr>
          <p:cNvPr id="51" name="Shape 48"/>
          <p:cNvSpPr/>
          <p:nvPr/>
        </p:nvSpPr>
        <p:spPr>
          <a:xfrm>
            <a:off x="6409944" y="5074920"/>
            <a:ext cx="1600200" cy="347472"/>
          </a:xfrm>
          <a:prstGeom prst="roundRect">
            <a:avLst>
              <a:gd name="adj" fmla="val 50000"/>
            </a:avLst>
          </a:prstGeom>
          <a:solidFill>
            <a:srgbClr val="FDE8EC"/>
          </a:solidFill>
          <a:ln/>
        </p:spPr>
      </p:sp>
      <p:sp>
        <p:nvSpPr>
          <p:cNvPr id="52" name="Text 49"/>
          <p:cNvSpPr txBox="1"/>
          <p:nvPr/>
        </p:nvSpPr>
        <p:spPr>
          <a:xfrm>
            <a:off x="6409944" y="5074920"/>
            <a:ext cx="1600200" cy="347472"/>
          </a:xfrm>
          <a:prstGeom prst="rect">
            <a:avLst/>
          </a:prstGeom>
          <a:noFill/>
          <a:ln/>
        </p:spPr>
        <p:txBody>
          <a:bodyPr wrap="square" lIns="0" tIns="0" rIns="0" bIns="0" rtlCol="0" anchor="ctr"/>
          <a:lstStyle/>
          <a:p>
            <a:pPr algn="ctr" indent="0" marL="0">
              <a:buNone/>
            </a:pPr>
            <a:r>
              <a:rPr lang="en-US" sz="950" b="1" dirty="0">
                <a:solidFill>
                  <a:srgbClr val="B4233F"/>
                </a:solidFill>
                <a:latin typeface="Calibri" pitchFamily="34" charset="0"/>
                <a:ea typeface="Calibri" pitchFamily="34" charset="-122"/>
                <a:cs typeface="Calibri" pitchFamily="34" charset="-120"/>
              </a:rPr>
              <a:t>HARD  ·  400</a:t>
            </a:r>
            <a:endParaRPr lang="en-US" sz="950" dirty="0"/>
          </a:p>
        </p:txBody>
      </p:sp>
      <p:sp>
        <p:nvSpPr>
          <p:cNvPr id="53" name="Text 50"/>
          <p:cNvSpPr txBox="1"/>
          <p:nvPr/>
        </p:nvSpPr>
        <p:spPr>
          <a:xfrm>
            <a:off x="8055864" y="50932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tr  then  vigenere -d</a:t>
            </a:r>
            <a:endParaRPr lang="en-US" sz="900" dirty="0"/>
          </a:p>
        </p:txBody>
      </p:sp>
      <p:sp>
        <p:nvSpPr>
          <p:cNvPr id="54" name="Shape 51"/>
          <p:cNvSpPr/>
          <p:nvPr/>
        </p:nvSpPr>
        <p:spPr>
          <a:xfrm>
            <a:off x="8997696" y="4251960"/>
            <a:ext cx="2606040" cy="1371600"/>
          </a:xfrm>
          <a:prstGeom prst="roundRect">
            <a:avLst>
              <a:gd name="adj" fmla="val 6667"/>
            </a:avLst>
          </a:prstGeom>
          <a:solidFill>
            <a:srgbClr val="F1F5FB"/>
          </a:solidFill>
          <a:ln/>
        </p:spPr>
      </p:sp>
      <p:sp>
        <p:nvSpPr>
          <p:cNvPr id="55" name="Shape 52"/>
          <p:cNvSpPr/>
          <p:nvPr/>
        </p:nvSpPr>
        <p:spPr>
          <a:xfrm>
            <a:off x="9226296" y="4480560"/>
            <a:ext cx="457200" cy="457200"/>
          </a:xfrm>
          <a:prstGeom prst="ellipse">
            <a:avLst/>
          </a:prstGeom>
          <a:solidFill>
            <a:srgbClr val="B4233F"/>
          </a:solidFill>
          <a:ln/>
        </p:spPr>
      </p:sp>
      <p:sp>
        <p:nvSpPr>
          <p:cNvPr id="56" name="Text 53"/>
          <p:cNvSpPr txBox="1"/>
          <p:nvPr/>
        </p:nvSpPr>
        <p:spPr>
          <a:xfrm>
            <a:off x="9226296" y="4480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10</a:t>
            </a:r>
            <a:endParaRPr lang="en-US" sz="1500" dirty="0"/>
          </a:p>
        </p:txBody>
      </p:sp>
      <p:sp>
        <p:nvSpPr>
          <p:cNvPr id="57" name="Text 54"/>
          <p:cNvSpPr txBox="1"/>
          <p:nvPr/>
        </p:nvSpPr>
        <p:spPr>
          <a:xfrm>
            <a:off x="9820656" y="4453128"/>
            <a:ext cx="1691640" cy="548640"/>
          </a:xfrm>
          <a:prstGeom prst="rect">
            <a:avLst/>
          </a:prstGeom>
          <a:noFill/>
          <a:ln/>
        </p:spPr>
        <p:txBody>
          <a:bodyPr wrap="square" lIns="0" tIns="0" rIns="0" bIns="0" rtlCol="0" anchor="ctr"/>
          <a:lstStyle/>
          <a:p>
            <a:pPr indent="0" marL="0">
              <a:buNone/>
            </a:pPr>
            <a:r>
              <a:rPr lang="en-US" sz="1400" b="1" dirty="0">
                <a:solidFill>
                  <a:srgbClr val="12213A"/>
                </a:solidFill>
                <a:latin typeface="Calibri" pitchFamily="34" charset="0"/>
                <a:ea typeface="Calibri" pitchFamily="34" charset="-122"/>
                <a:cs typeface="Calibri" pitchFamily="34" charset="-120"/>
              </a:rPr>
              <a:t>The vault</a:t>
            </a:r>
            <a:endParaRPr lang="en-US" sz="1400" dirty="0"/>
          </a:p>
        </p:txBody>
      </p:sp>
      <p:sp>
        <p:nvSpPr>
          <p:cNvPr id="58" name="Shape 55"/>
          <p:cNvSpPr/>
          <p:nvPr/>
        </p:nvSpPr>
        <p:spPr>
          <a:xfrm>
            <a:off x="9226296" y="5074920"/>
            <a:ext cx="1600200" cy="347472"/>
          </a:xfrm>
          <a:prstGeom prst="roundRect">
            <a:avLst>
              <a:gd name="adj" fmla="val 50000"/>
            </a:avLst>
          </a:prstGeom>
          <a:solidFill>
            <a:srgbClr val="2A1430"/>
          </a:solidFill>
          <a:ln/>
        </p:spPr>
      </p:sp>
      <p:sp>
        <p:nvSpPr>
          <p:cNvPr id="59" name="Text 56"/>
          <p:cNvSpPr txBox="1"/>
          <p:nvPr/>
        </p:nvSpPr>
        <p:spPr>
          <a:xfrm>
            <a:off x="9226296" y="5074920"/>
            <a:ext cx="1600200" cy="347472"/>
          </a:xfrm>
          <a:prstGeom prst="rect">
            <a:avLst/>
          </a:prstGeom>
          <a:noFill/>
          <a:ln/>
        </p:spPr>
        <p:txBody>
          <a:bodyPr wrap="square" lIns="0" tIns="0" rIns="0" bIns="0" rtlCol="0" anchor="ctr"/>
          <a:lstStyle/>
          <a:p>
            <a:pPr algn="ctr" indent="0" marL="0">
              <a:buNone/>
            </a:pPr>
            <a:r>
              <a:rPr lang="en-US" sz="950" b="1" dirty="0">
                <a:solidFill>
                  <a:srgbClr val="FF8FB1"/>
                </a:solidFill>
                <a:latin typeface="Calibri" pitchFamily="34" charset="0"/>
                <a:ea typeface="Calibri" pitchFamily="34" charset="-122"/>
                <a:cs typeface="Calibri" pitchFamily="34" charset="-120"/>
              </a:rPr>
              <a:t>VERY HARD  ·  800</a:t>
            </a:r>
            <a:endParaRPr lang="en-US" sz="950" dirty="0"/>
          </a:p>
        </p:txBody>
      </p:sp>
      <p:sp>
        <p:nvSpPr>
          <p:cNvPr id="60" name="Text 57"/>
          <p:cNvSpPr txBox="1"/>
          <p:nvPr/>
        </p:nvSpPr>
        <p:spPr>
          <a:xfrm>
            <a:off x="10872216" y="5093208"/>
            <a:ext cx="640080" cy="274320"/>
          </a:xfrm>
          <a:prstGeom prst="rect">
            <a:avLst/>
          </a:prstGeom>
          <a:noFill/>
          <a:ln/>
        </p:spPr>
        <p:txBody>
          <a:bodyPr wrap="square" lIns="0" tIns="0" rIns="0" bIns="0" rtlCol="0" anchor="t">
            <a:normAutofit/>
          </a:bodyPr>
          <a:lstStyle/>
          <a:p>
            <a:pPr indent="0" marL="0">
              <a:buNone/>
            </a:pPr>
            <a:r>
              <a:rPr lang="en-US" sz="900" dirty="0">
                <a:solidFill>
                  <a:srgbClr val="56657E"/>
                </a:solidFill>
                <a:latin typeface="Courier New" pitchFamily="34" charset="0"/>
                <a:ea typeface="Courier New" pitchFamily="34" charset="-122"/>
                <a:cs typeface="Courier New" pitchFamily="34" charset="-120"/>
              </a:rPr>
              <a:t>hashlines · base64 · vigenere</a:t>
            </a:r>
            <a:endParaRPr lang="en-US" sz="900" dirty="0"/>
          </a:p>
        </p:txBody>
      </p:sp>
      <p:sp>
        <p:nvSpPr>
          <p:cNvPr id="61" name="Text 58"/>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45 / 61</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2459D8"/>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3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E2F5EC"/>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20624"/>
            <a:ext cx="421538" cy="402336"/>
          </a:xfrm>
          <a:prstGeom prst="roundRect">
            <a:avLst>
              <a:gd name="adj" fmla="val 13636"/>
            </a:avLst>
          </a:prstGeom>
          <a:solidFill>
            <a:srgbClr val="2459D8"/>
          </a:solidFill>
          <a:ln/>
        </p:spPr>
      </p:sp>
      <p:sp>
        <p:nvSpPr>
          <p:cNvPr id="12" name="Text 9"/>
          <p:cNvSpPr txBox="1"/>
          <p:nvPr/>
        </p:nvSpPr>
        <p:spPr>
          <a:xfrm>
            <a:off x="7755941"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Thirteen steps</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The words look like words, but scrambled: every letter moved 13 places along the alphabet. Move them back.</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~/mission3/message.txt</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tr  &lt;</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+100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If A becomes N, what does N become?</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Why is ROT13 its own undo?</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do we feed a file into tr?</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46 / 61</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2459D8"/>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3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E2F5EC"/>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20624"/>
            <a:ext cx="421538" cy="402336"/>
          </a:xfrm>
          <a:prstGeom prst="roundRect">
            <a:avLst>
              <a:gd name="adj" fmla="val 13636"/>
            </a:avLst>
          </a:prstGeom>
          <a:solidFill>
            <a:srgbClr val="2459D8"/>
          </a:solidFill>
          <a:ln/>
        </p:spPr>
      </p:sp>
      <p:sp>
        <p:nvSpPr>
          <p:cNvPr id="12" name="Text 9"/>
          <p:cNvSpPr txBox="1"/>
          <p:nvPr/>
        </p:nvSpPr>
        <p:spPr>
          <a:xfrm>
            <a:off x="7755941"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8250631" y="475488"/>
            <a:ext cx="421538" cy="292608"/>
          </a:xfrm>
          <a:prstGeom prst="roundRect">
            <a:avLst>
              <a:gd name="adj" fmla="val 18750"/>
            </a:avLst>
          </a:prstGeom>
          <a:solidFill>
            <a:srgbClr val="E4EAF3"/>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Cracking Thirteen steps</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cd ~/mission3</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cat message.txt</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EBG13 vf n sha chmmyr, abg erny frphevgl.</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Synt: PLON{ebg-...}</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tr 'A-Za-z' 'N-ZA-Mn-za-m' &lt; message.txt</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ROT13 is a fun puzzle, not real security.</a:t>
            </a:r>
            <a:endParaRPr lang="en-US" sz="1300" dirty="0"/>
          </a:p>
          <a:p>
            <a:pPr indent="0" marL="0">
              <a:spcAft>
                <a:spcPts val="200"/>
              </a:spcAft>
              <a:buNone/>
            </a:pPr>
            <a:r>
              <a:rPr lang="en-US" sz="1300" b="1" dirty="0">
                <a:solidFill>
                  <a:srgbClr val="F5A623"/>
                </a:solidFill>
                <a:latin typeface="Courier New" pitchFamily="34" charset="0"/>
                <a:ea typeface="Courier New" pitchFamily="34" charset="-122"/>
                <a:cs typeface="Courier New" pitchFamily="34" charset="-120"/>
              </a:rPr>
              <a:t>Flag: CYBA{rot-...}</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submit CYBA{rot-...}</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Correct! +100 points</a:t>
            </a:r>
            <a:endParaRPr lang="en-US" sz="13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2459D8"/>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The shape looked like a flag: Synt: PLON{...}. Letters moved, punctuation stayed.</a:t>
            </a:r>
            <a:endParaRPr lang="en-US" sz="1400" dirty="0"/>
          </a:p>
        </p:txBody>
      </p:sp>
      <p:sp>
        <p:nvSpPr>
          <p:cNvPr id="38" name="Shape 35"/>
          <p:cNvSpPr/>
          <p:nvPr/>
        </p:nvSpPr>
        <p:spPr>
          <a:xfrm>
            <a:off x="7543800" y="2980944"/>
            <a:ext cx="457200" cy="457200"/>
          </a:xfrm>
          <a:prstGeom prst="ellipse">
            <a:avLst/>
          </a:prstGeom>
          <a:solidFill>
            <a:srgbClr val="2459D8"/>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tr swapped every letter for the one 13 places on.</a:t>
            </a:r>
            <a:endParaRPr lang="en-US" sz="1400" dirty="0"/>
          </a:p>
        </p:txBody>
      </p:sp>
      <p:sp>
        <p:nvSpPr>
          <p:cNvPr id="41" name="Shape 38"/>
          <p:cNvSpPr/>
          <p:nvPr/>
        </p:nvSpPr>
        <p:spPr>
          <a:xfrm>
            <a:off x="7543800" y="3767328"/>
            <a:ext cx="457200" cy="457200"/>
          </a:xfrm>
          <a:prstGeom prst="ellipse">
            <a:avLst/>
          </a:prstGeom>
          <a:solidFill>
            <a:srgbClr val="2459D8"/>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&lt; fed the file into tr, which only reads input.</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ROT13 hides spoilers and puzzle answers online. It was never meant as security.</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2459D8"/>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Run the tr command twice in a row with a pipe. What comes out?</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Keys, keywords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47 / 61</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7448D4"/>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4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FF4DE"/>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20624"/>
            <a:ext cx="421538" cy="402336"/>
          </a:xfrm>
          <a:prstGeom prst="roundRect">
            <a:avLst>
              <a:gd name="adj" fmla="val 13636"/>
            </a:avLst>
          </a:prstGeom>
          <a:solidFill>
            <a:srgbClr val="7448D4"/>
          </a:solidFill>
          <a:ln/>
        </p:spPr>
      </p:sp>
      <p:sp>
        <p:nvSpPr>
          <p:cNvPr id="14" name="Text 11"/>
          <p:cNvSpPr txBox="1"/>
          <p:nvPr/>
        </p:nvSpPr>
        <p:spPr>
          <a:xfrm>
            <a:off x="8250631"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Hail Caesar</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Every letter was shifted the same number of places, but nobody wrote down how far. There are only 25 shifts. Try them all.</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~/mission4/message.txt</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caesar all  |  grep</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many possible keys does a Caesar cipher have?</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will we spot the right shift among 25 lines?</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tool keeps only the line we want?</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48 / 61</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7448D4"/>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4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FF4DE"/>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20624"/>
            <a:ext cx="421538" cy="402336"/>
          </a:xfrm>
          <a:prstGeom prst="roundRect">
            <a:avLst>
              <a:gd name="adj" fmla="val 13636"/>
            </a:avLst>
          </a:prstGeom>
          <a:solidFill>
            <a:srgbClr val="7448D4"/>
          </a:solidFill>
          <a:ln/>
        </p:spPr>
      </p:sp>
      <p:sp>
        <p:nvSpPr>
          <p:cNvPr id="14" name="Text 11"/>
          <p:cNvSpPr txBox="1"/>
          <p:nvPr/>
        </p:nvSpPr>
        <p:spPr>
          <a:xfrm>
            <a:off x="8250631"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8745322" y="475488"/>
            <a:ext cx="421538" cy="292608"/>
          </a:xfrm>
          <a:prstGeom prst="roundRect">
            <a:avLst>
              <a:gd name="adj" fmla="val 18750"/>
            </a:avLst>
          </a:prstGeom>
          <a:solidFill>
            <a:srgbClr val="E4EAF3"/>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Cracking Hail Caesar</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cd ~/mission4</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cat message.txt</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Clup, cpkp, cpjp. Fvb jyhjrlk Jhlzhy.</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Mshn: JFIH{jhlzhy-...}</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caesar all message.txt | head -3</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shift 1: Dmvq, dqlq, dqkq. Gwc kziksml Kimaiz.</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shift 2: Enwr, ermr, erlr. Hxd lajltnm Ljnbja.</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caesar all message.txt | grep CYBA</a:t>
            </a:r>
            <a:endParaRPr lang="en-US" sz="1200" dirty="0"/>
          </a:p>
          <a:p>
            <a:pPr indent="0" marL="0">
              <a:spcAft>
                <a:spcPts val="200"/>
              </a:spcAft>
              <a:buNone/>
            </a:pPr>
            <a:r>
              <a:rPr lang="en-US" sz="1200" b="1" dirty="0">
                <a:solidFill>
                  <a:srgbClr val="F5A623"/>
                </a:solidFill>
                <a:latin typeface="Courier New" pitchFamily="34" charset="0"/>
                <a:ea typeface="Courier New" pitchFamily="34" charset="-122"/>
                <a:cs typeface="Courier New" pitchFamily="34" charset="-120"/>
              </a:rPr>
              <a:t>shift 19: Flag: CYBA{caesar-...}</a:t>
            </a:r>
            <a:endParaRPr lang="en-US" sz="12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7448D4"/>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caesar all printed every one of the 25 possible shifts.</a:t>
            </a:r>
            <a:endParaRPr lang="en-US" sz="1400" dirty="0"/>
          </a:p>
        </p:txBody>
      </p:sp>
      <p:sp>
        <p:nvSpPr>
          <p:cNvPr id="38" name="Shape 35"/>
          <p:cNvSpPr/>
          <p:nvPr/>
        </p:nvSpPr>
        <p:spPr>
          <a:xfrm>
            <a:off x="7543800" y="2980944"/>
            <a:ext cx="457200" cy="457200"/>
          </a:xfrm>
          <a:prstGeom prst="ellipse">
            <a:avLst/>
          </a:prstGeom>
          <a:solidFill>
            <a:srgbClr val="7448D4"/>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We knew the flag starts with CYBA, so grep found the right line.</a:t>
            </a:r>
            <a:endParaRPr lang="en-US" sz="1400" dirty="0"/>
          </a:p>
        </p:txBody>
      </p:sp>
      <p:sp>
        <p:nvSpPr>
          <p:cNvPr id="41" name="Shape 38"/>
          <p:cNvSpPr/>
          <p:nvPr/>
        </p:nvSpPr>
        <p:spPr>
          <a:xfrm>
            <a:off x="7543800" y="3767328"/>
            <a:ext cx="457200" cy="457200"/>
          </a:xfrm>
          <a:prstGeom prst="ellipse">
            <a:avLst/>
          </a:prstGeom>
          <a:solidFill>
            <a:srgbClr val="7448D4"/>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Trying every key is called brute force.</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Attackers brute-force any key space that is small enough. Defenders make key spaces huge.</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7448D4"/>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The shift changes every game. What shift did your message use? What shift undoes it?</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Keys, keywords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49 / 61</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D1416B"/>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5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FF4DE"/>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20624"/>
            <a:ext cx="421538" cy="402336"/>
          </a:xfrm>
          <a:prstGeom prst="roundRect">
            <a:avLst>
              <a:gd name="adj" fmla="val 13636"/>
            </a:avLst>
          </a:prstGeom>
          <a:solidFill>
            <a:srgbClr val="D1416B"/>
          </a:solidFill>
          <a:ln/>
        </p:spPr>
      </p:sp>
      <p:sp>
        <p:nvSpPr>
          <p:cNvPr id="16" name="Text 13"/>
          <p:cNvSpPr txBox="1"/>
          <p:nvPr/>
        </p:nvSpPr>
        <p:spPr>
          <a:xfrm>
            <a:off x="874532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Mirror, mirror</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The oldest cipher in the deck: the alphabet is flipped. A is Z, B is Y, C is X. Hold up a mirror.</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~/mission5/mirror.txt</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tr (reversed alphabet)</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 does Z become under Atbash?</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Is there a key to guess?</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tool from Mission 3 swaps one set of letters for another?</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50 / 61</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D1416B"/>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5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FF4DE"/>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20624"/>
            <a:ext cx="421538" cy="402336"/>
          </a:xfrm>
          <a:prstGeom prst="roundRect">
            <a:avLst>
              <a:gd name="adj" fmla="val 13636"/>
            </a:avLst>
          </a:prstGeom>
          <a:solidFill>
            <a:srgbClr val="D1416B"/>
          </a:solidFill>
          <a:ln/>
        </p:spPr>
      </p:sp>
      <p:sp>
        <p:nvSpPr>
          <p:cNvPr id="16" name="Text 13"/>
          <p:cNvSpPr txBox="1"/>
          <p:nvPr/>
        </p:nvSpPr>
        <p:spPr>
          <a:xfrm>
            <a:off x="874532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9240012" y="475488"/>
            <a:ext cx="421538" cy="292608"/>
          </a:xfrm>
          <a:prstGeom prst="roundRect">
            <a:avLst>
              <a:gd name="adj" fmla="val 18750"/>
            </a:avLst>
          </a:prstGeom>
          <a:solidFill>
            <a:srgbClr val="E4EAF3"/>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Cracking Mirror, mirror</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cd ~/mission5</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cat mirror.txt</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Gsilfts gsv ollprmt tozhh.</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Uozt: XBYZ{nriili-...}</a:t>
            </a:r>
            <a:endParaRPr lang="en-US" sz="1300" dirty="0"/>
          </a:p>
          <a:p>
            <a:pPr indent="0" marL="0">
              <a:spcAft>
                <a:spcPts val="200"/>
              </a:spcAft>
              <a:buNone/>
            </a:pPr>
            <a:r>
              <a:rPr lang="en-US" sz="13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300" b="1" dirty="0">
                <a:solidFill>
                  <a:srgbClr val="FFFFFF"/>
                </a:solidFill>
                <a:latin typeface="Courier New" pitchFamily="34" charset="0"/>
                <a:ea typeface="Courier New" pitchFamily="34" charset="-122"/>
                <a:cs typeface="Courier New" pitchFamily="34" charset="-120"/>
              </a:rPr>
              <a:t>tr 'A-Za-z' 'ZYXWVUTSRQPONMLKJIHGFEDCBA</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  zyxwvutsrqponmlkjihgfedcba' &lt; mirror.txt</a:t>
            </a:r>
            <a:endParaRPr lang="en-US" sz="1300" dirty="0"/>
          </a:p>
          <a:p>
            <a:pPr indent="0" marL="0">
              <a:spcAft>
                <a:spcPts val="200"/>
              </a:spcAft>
              <a:buNone/>
            </a:pPr>
            <a:r>
              <a:rPr lang="en-US" sz="1300" dirty="0">
                <a:solidFill>
                  <a:srgbClr val="B8C4D9"/>
                </a:solidFill>
                <a:latin typeface="Courier New" pitchFamily="34" charset="0"/>
                <a:ea typeface="Courier New" pitchFamily="34" charset="-122"/>
                <a:cs typeface="Courier New" pitchFamily="34" charset="-120"/>
              </a:rPr>
              <a:t>Through the looking glass.</a:t>
            </a:r>
            <a:endParaRPr lang="en-US" sz="1300" dirty="0"/>
          </a:p>
          <a:p>
            <a:pPr indent="0" marL="0">
              <a:spcAft>
                <a:spcPts val="200"/>
              </a:spcAft>
              <a:buNone/>
            </a:pPr>
            <a:r>
              <a:rPr lang="en-US" sz="1300" b="1" dirty="0">
                <a:solidFill>
                  <a:srgbClr val="F5A623"/>
                </a:solidFill>
                <a:latin typeface="Courier New" pitchFamily="34" charset="0"/>
                <a:ea typeface="Courier New" pitchFamily="34" charset="-122"/>
                <a:cs typeface="Courier New" pitchFamily="34" charset="-120"/>
              </a:rPr>
              <a:t>Flag: CYBA{mirror-...}</a:t>
            </a:r>
            <a:endParaRPr lang="en-US" sz="13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D1416B"/>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Atbash maps each letter to its mirror: A↔Z, B↔Y.</a:t>
            </a:r>
            <a:endParaRPr lang="en-US" sz="1400" dirty="0"/>
          </a:p>
        </p:txBody>
      </p:sp>
      <p:sp>
        <p:nvSpPr>
          <p:cNvPr id="38" name="Shape 35"/>
          <p:cNvSpPr/>
          <p:nvPr/>
        </p:nvSpPr>
        <p:spPr>
          <a:xfrm>
            <a:off x="7543800" y="2980944"/>
            <a:ext cx="457200" cy="457200"/>
          </a:xfrm>
          <a:prstGeom prst="ellipse">
            <a:avLst/>
          </a:prstGeom>
          <a:solidFill>
            <a:srgbClr val="D1416B"/>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tr took the alphabet and the alphabet backwards.</a:t>
            </a:r>
            <a:endParaRPr lang="en-US" sz="1400" dirty="0"/>
          </a:p>
        </p:txBody>
      </p:sp>
      <p:sp>
        <p:nvSpPr>
          <p:cNvPr id="41" name="Shape 38"/>
          <p:cNvSpPr/>
          <p:nvPr/>
        </p:nvSpPr>
        <p:spPr>
          <a:xfrm>
            <a:off x="7543800" y="3767328"/>
            <a:ext cx="457200" cy="457200"/>
          </a:xfrm>
          <a:prstGeom prst="ellipse">
            <a:avLst/>
          </a:prstGeom>
          <a:solidFill>
            <a:srgbClr val="D1416B"/>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Like ROT13, doing it twice gets the original back.</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Atbash appears in ancient Hebrew texts. Today it is a classic first puzzle in CTFs.</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D1416B"/>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Which letters, if any, stay the same under Atbash? Under ROT13?</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Keys, keywords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51 / 61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E8820C"/>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6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FF4DE"/>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20624"/>
            <a:ext cx="421538" cy="402336"/>
          </a:xfrm>
          <a:prstGeom prst="roundRect">
            <a:avLst>
              <a:gd name="adj" fmla="val 13636"/>
            </a:avLst>
          </a:prstGeom>
          <a:solidFill>
            <a:srgbClr val="E8820C"/>
          </a:solidFill>
          <a:ln/>
        </p:spPr>
      </p:sp>
      <p:sp>
        <p:nvSpPr>
          <p:cNvPr id="18" name="Text 15"/>
          <p:cNvSpPr txBox="1"/>
          <p:nvPr/>
        </p:nvSpPr>
        <p:spPr>
          <a:xfrm>
            <a:off x="924001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Dots and dashes</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A signal of short and long beeps. Decode it, then build the flag yourself: README.txt tells you how.</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~/mission6/signal.txt</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morse</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 do / and the spaces mean in Morse?</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Morse has no { or }. How can it carry a flag?</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Where are this mission's flag rules written?</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52 / 61</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E8820C"/>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6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FF4DE"/>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20624"/>
            <a:ext cx="421538" cy="402336"/>
          </a:xfrm>
          <a:prstGeom prst="roundRect">
            <a:avLst>
              <a:gd name="adj" fmla="val 13636"/>
            </a:avLst>
          </a:prstGeom>
          <a:solidFill>
            <a:srgbClr val="E8820C"/>
          </a:solidFill>
          <a:ln/>
        </p:spPr>
      </p:sp>
      <p:sp>
        <p:nvSpPr>
          <p:cNvPr id="18" name="Text 15"/>
          <p:cNvSpPr txBox="1"/>
          <p:nvPr/>
        </p:nvSpPr>
        <p:spPr>
          <a:xfrm>
            <a:off x="924001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9734702" y="475488"/>
            <a:ext cx="421538" cy="292608"/>
          </a:xfrm>
          <a:prstGeom prst="roundRect">
            <a:avLst>
              <a:gd name="adj" fmla="val 18750"/>
            </a:avLst>
          </a:prstGeom>
          <a:solidFill>
            <a:srgbClr val="E4EAF3"/>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Cracking Dots and dashes</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cd ~/mission6</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cat README.txt</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Decode signal.txt. It spells out a code.</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The flag is CYBA{morse-CODE}, with the code in lowercase.</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cat signal.txt</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 .... . / -.-. --- -.. . / .. ... / --... -... ...</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morse signal.txt</a:t>
            </a:r>
            <a:endParaRPr lang="en-US" sz="1200" dirty="0"/>
          </a:p>
          <a:p>
            <a:pPr indent="0" marL="0">
              <a:spcAft>
                <a:spcPts val="200"/>
              </a:spcAft>
              <a:buNone/>
            </a:pPr>
            <a:r>
              <a:rPr lang="en-US" sz="1200" b="1" dirty="0">
                <a:solidFill>
                  <a:srgbClr val="F5A623"/>
                </a:solidFill>
                <a:latin typeface="Courier New" pitchFamily="34" charset="0"/>
                <a:ea typeface="Courier New" pitchFamily="34" charset="-122"/>
                <a:cs typeface="Courier New" pitchFamily="34" charset="-120"/>
              </a:rPr>
              <a:t>THE CODE IS 7B0AB9BE</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submit CYBA{morse-7b0ab9be}</a:t>
            </a:r>
            <a:pPr indent="0" marL="0">
              <a:spcAft>
                <a:spcPts val="200"/>
              </a:spcAft>
              <a:buNone/>
            </a:pPr>
            <a:r>
              <a:rPr lang="en-US" sz="1200" dirty="0">
                <a:solidFill>
                  <a:srgbClr val="7F8FAD"/>
                </a:solidFill>
                <a:latin typeface="Courier New" pitchFamily="34" charset="0"/>
                <a:ea typeface="Courier New" pitchFamily="34" charset="-122"/>
                <a:cs typeface="Courier New" pitchFamily="34" charset="-120"/>
              </a:rPr>
              <a:t>   # yours differs</a:t>
            </a:r>
            <a:endParaRPr lang="en-US" sz="12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E8820C"/>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Morse turns letters into short (.) and long (-) signals.</a:t>
            </a:r>
            <a:endParaRPr lang="en-US" sz="1400" dirty="0"/>
          </a:p>
        </p:txBody>
      </p:sp>
      <p:sp>
        <p:nvSpPr>
          <p:cNvPr id="38" name="Shape 35"/>
          <p:cNvSpPr/>
          <p:nvPr/>
        </p:nvSpPr>
        <p:spPr>
          <a:xfrm>
            <a:off x="7543800" y="2980944"/>
            <a:ext cx="457200" cy="457200"/>
          </a:xfrm>
          <a:prstGeom prst="ellipse">
            <a:avLst/>
          </a:prstGeom>
          <a:solidFill>
            <a:srgbClr val="E8820C"/>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morse decoded it; the README said how to build the flag.</a:t>
            </a:r>
            <a:endParaRPr lang="en-US" sz="1400" dirty="0"/>
          </a:p>
        </p:txBody>
      </p:sp>
      <p:sp>
        <p:nvSpPr>
          <p:cNvPr id="41" name="Shape 38"/>
          <p:cNvSpPr/>
          <p:nvPr/>
        </p:nvSpPr>
        <p:spPr>
          <a:xfrm>
            <a:off x="7543800" y="3767328"/>
            <a:ext cx="457200" cy="457200"/>
          </a:xfrm>
          <a:prstGeom prst="ellipse">
            <a:avLst/>
          </a:prstGeom>
          <a:solidFill>
            <a:srgbClr val="E8820C"/>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Reading the instructions was half the mission.</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Morse still runs on ham radio and aviation beacons. Reading the brief carefully is a CTF superpower.</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E8820C"/>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Encode SOS with  echo SOS | morse -e. Why was it chosen for emergencies?</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Keys, keywords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53 / 61</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C9A227"/>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7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FF4DE"/>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20624"/>
            <a:ext cx="421538" cy="402336"/>
          </a:xfrm>
          <a:prstGeom prst="roundRect">
            <a:avLst>
              <a:gd name="adj" fmla="val 13636"/>
            </a:avLst>
          </a:prstGeom>
          <a:solidFill>
            <a:srgbClr val="C9A227"/>
          </a:solidFill>
          <a:ln/>
        </p:spPr>
      </p:sp>
      <p:sp>
        <p:nvSpPr>
          <p:cNvPr id="20" name="Text 17"/>
          <p:cNvSpPr txBox="1"/>
          <p:nvPr/>
        </p:nvSpPr>
        <p:spPr>
          <a:xfrm>
            <a:off x="973470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Fingerprints</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One hundred possible flags. One of them has the fingerprint in target.sha256. You can't reverse a hash, but you can compare.</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~/mission7/candidates.txt</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hashlines  |  grep</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Can we turn a hash back into text?</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If we hash every candidate, how do we find the match?</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few characters of the hash do we need to grep for?</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54 / 61</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C9A227"/>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7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FF4DE"/>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20624"/>
            <a:ext cx="421538" cy="402336"/>
          </a:xfrm>
          <a:prstGeom prst="roundRect">
            <a:avLst>
              <a:gd name="adj" fmla="val 13636"/>
            </a:avLst>
          </a:prstGeom>
          <a:solidFill>
            <a:srgbClr val="C9A227"/>
          </a:solidFill>
          <a:ln/>
        </p:spPr>
      </p:sp>
      <p:sp>
        <p:nvSpPr>
          <p:cNvPr id="20" name="Text 17"/>
          <p:cNvSpPr txBox="1"/>
          <p:nvPr/>
        </p:nvSpPr>
        <p:spPr>
          <a:xfrm>
            <a:off x="9734702"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1" name="Shape 18"/>
          <p:cNvSpPr/>
          <p:nvPr/>
        </p:nvSpPr>
        <p:spPr>
          <a:xfrm>
            <a:off x="10229393" y="475488"/>
            <a:ext cx="421538" cy="292608"/>
          </a:xfrm>
          <a:prstGeom prst="roundRect">
            <a:avLst>
              <a:gd name="adj" fmla="val 18750"/>
            </a:avLst>
          </a:prstGeom>
          <a:solidFill>
            <a:srgbClr val="E4EAF3"/>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Cracking Fingerprints</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cd ~/mission7</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cat target.sha256</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27662c13440b14e1cdd8fda516ef37fe1b2fb035...</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hashlines candidates.txt | head -2</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9c1f04e2...  CYBA{hash-1d03be55}</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e47a90b3...  CYBA{hash-80c2f1aa}</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hashlines candidates.txt | grep 27662c13</a:t>
            </a:r>
            <a:endParaRPr lang="en-US" sz="1200" dirty="0"/>
          </a:p>
          <a:p>
            <a:pPr indent="0" marL="0">
              <a:spcAft>
                <a:spcPts val="200"/>
              </a:spcAft>
              <a:buNone/>
            </a:pPr>
            <a:r>
              <a:rPr lang="en-US" sz="1200" b="1" dirty="0">
                <a:solidFill>
                  <a:srgbClr val="F5A623"/>
                </a:solidFill>
                <a:latin typeface="Courier New" pitchFamily="34" charset="0"/>
                <a:ea typeface="Courier New" pitchFamily="34" charset="-122"/>
                <a:cs typeface="Courier New" pitchFamily="34" charset="-120"/>
              </a:rPr>
              <a:t>27662c13440b14e1...  CYBA{hash-...}</a:t>
            </a:r>
            <a:endParaRPr lang="en-US" sz="12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C9A227"/>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A hash is a fingerprint: same input, same hash, every time.</a:t>
            </a:r>
            <a:endParaRPr lang="en-US" sz="1400" dirty="0"/>
          </a:p>
        </p:txBody>
      </p:sp>
      <p:sp>
        <p:nvSpPr>
          <p:cNvPr id="38" name="Shape 35"/>
          <p:cNvSpPr/>
          <p:nvPr/>
        </p:nvSpPr>
        <p:spPr>
          <a:xfrm>
            <a:off x="7543800" y="2980944"/>
            <a:ext cx="457200" cy="457200"/>
          </a:xfrm>
          <a:prstGeom prst="ellipse">
            <a:avLst/>
          </a:prstGeom>
          <a:solidFill>
            <a:srgbClr val="C9A227"/>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hashlines fingerprinted all 100 candidates.</a:t>
            </a:r>
            <a:endParaRPr lang="en-US" sz="1400" dirty="0"/>
          </a:p>
        </p:txBody>
      </p:sp>
      <p:sp>
        <p:nvSpPr>
          <p:cNvPr id="41" name="Shape 38"/>
          <p:cNvSpPr/>
          <p:nvPr/>
        </p:nvSpPr>
        <p:spPr>
          <a:xfrm>
            <a:off x="7543800" y="3767328"/>
            <a:ext cx="457200" cy="457200"/>
          </a:xfrm>
          <a:prstGeom prst="ellipse">
            <a:avLst/>
          </a:prstGeom>
          <a:solidFill>
            <a:srgbClr val="C9A227"/>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grep found the one whose fingerprint matched the target.</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This is exactly how password crackers attack leaked password hashes with wordlists.</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C9A227"/>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Hash 'hello' and 'Hello' with sha256sum. How much of the hash changes?</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Keys, keywords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55 / 61</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0F9488"/>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8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DE8EC"/>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20624"/>
            <a:ext cx="421538" cy="402336"/>
          </a:xfrm>
          <a:prstGeom prst="roundRect">
            <a:avLst>
              <a:gd name="adj" fmla="val 13636"/>
            </a:avLst>
          </a:prstGeom>
          <a:solidFill>
            <a:srgbClr val="0F9488"/>
          </a:solidFill>
          <a:ln/>
        </p:spPr>
      </p:sp>
      <p:sp>
        <p:nvSpPr>
          <p:cNvPr id="22" name="Text 19"/>
          <p:cNvSpPr txBox="1"/>
          <p:nvPr/>
        </p:nvSpPr>
        <p:spPr>
          <a:xfrm>
            <a:off x="10229393"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XOR marks</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Every byte was XORed with the same secret key byte: a number from 1 to 255. Same trick as Caesar, bigger key space.</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~/mission8/cipher.hex</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xor all  |  grep</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+400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many keys does a single byte allow?</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Is 255 still small enough to try them all?</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 text do we know will be in the answer?</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56 / 61</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0F9488"/>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8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DE8EC"/>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20624"/>
            <a:ext cx="421538" cy="402336"/>
          </a:xfrm>
          <a:prstGeom prst="roundRect">
            <a:avLst>
              <a:gd name="adj" fmla="val 13636"/>
            </a:avLst>
          </a:prstGeom>
          <a:solidFill>
            <a:srgbClr val="0F9488"/>
          </a:solidFill>
          <a:ln/>
        </p:spPr>
      </p:sp>
      <p:sp>
        <p:nvSpPr>
          <p:cNvPr id="22" name="Text 19"/>
          <p:cNvSpPr txBox="1"/>
          <p:nvPr/>
        </p:nvSpPr>
        <p:spPr>
          <a:xfrm>
            <a:off x="10229393"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23" name="Shape 20"/>
          <p:cNvSpPr/>
          <p:nvPr/>
        </p:nvSpPr>
        <p:spPr>
          <a:xfrm>
            <a:off x="10724083" y="475488"/>
            <a:ext cx="421538" cy="292608"/>
          </a:xfrm>
          <a:prstGeom prst="roundRect">
            <a:avLst>
              <a:gd name="adj" fmla="val 18750"/>
            </a:avLst>
          </a:prstGeom>
          <a:solidFill>
            <a:srgbClr val="E4EAF3"/>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Cracking XOR marks</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cd ~/mission8</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cat cipher.hex</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15021f6d243e6d283b283f343a25283f286d2423</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6d202229283f236d2e3f343d3922...</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xor all cipher.hex | head -2</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key 1: ...l%?l):)&gt;5;$)&gt;)l%"l!#()&gt;"l/&gt;5&lt;8#+&gt;-&lt;$5...</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key 2: ...o&amp;&lt;o*9*=68'*=*o&amp;!o" +*=!o,=6?; (=.?'6...</a:t>
            </a:r>
            <a:endParaRPr lang="en-US" sz="1200" dirty="0"/>
          </a:p>
          <a:p>
            <a:pPr indent="0" marL="0">
              <a:spcAft>
                <a:spcPts val="200"/>
              </a:spcAft>
              <a:buNone/>
            </a:pPr>
            <a:r>
              <a:rPr lang="en-US" sz="1200" dirty="0">
                <a:solidFill>
                  <a:srgbClr val="B8C4D9"/>
                </a:solidFill>
                <a:latin typeface="Courier New" pitchFamily="34" charset="0"/>
                <a:ea typeface="Courier New" pitchFamily="34" charset="-122"/>
                <a:cs typeface="Courier New" pitchFamily="34" charset="-120"/>
              </a:rPr>
              <a:t>...</a:t>
            </a:r>
            <a:endParaRPr lang="en-US" sz="1200" dirty="0"/>
          </a:p>
          <a:p>
            <a:pPr indent="0" marL="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200" b="1" dirty="0">
                <a:solidFill>
                  <a:srgbClr val="FFFFFF"/>
                </a:solidFill>
                <a:latin typeface="Courier New" pitchFamily="34" charset="0"/>
                <a:ea typeface="Courier New" pitchFamily="34" charset="-122"/>
                <a:cs typeface="Courier New" pitchFamily="34" charset="-120"/>
              </a:rPr>
              <a:t>xor all cipher.hex | grep CYBA</a:t>
            </a:r>
            <a:endParaRPr lang="en-US" sz="1200" dirty="0"/>
          </a:p>
          <a:p>
            <a:pPr indent="0" marL="0">
              <a:spcAft>
                <a:spcPts val="200"/>
              </a:spcAft>
              <a:buNone/>
            </a:pPr>
            <a:r>
              <a:rPr lang="en-US" sz="1200" b="1" dirty="0">
                <a:solidFill>
                  <a:srgbClr val="F5A623"/>
                </a:solidFill>
                <a:latin typeface="Courier New" pitchFamily="34" charset="0"/>
                <a:ea typeface="Courier New" pitchFamily="34" charset="-122"/>
                <a:cs typeface="Courier New" pitchFamily="34" charset="-120"/>
              </a:rPr>
              <a:t>key 77: XOR is everywhere ...Flag: CYBA{xor-...}</a:t>
            </a:r>
            <a:endParaRPr lang="en-US" sz="120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0F9488"/>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The file was hex, so xor first turned it back into bytes.</a:t>
            </a:r>
            <a:endParaRPr lang="en-US" sz="1400" dirty="0"/>
          </a:p>
        </p:txBody>
      </p:sp>
      <p:sp>
        <p:nvSpPr>
          <p:cNvPr id="38" name="Shape 35"/>
          <p:cNvSpPr/>
          <p:nvPr/>
        </p:nvSpPr>
        <p:spPr>
          <a:xfrm>
            <a:off x="7543800" y="2980944"/>
            <a:ext cx="457200" cy="457200"/>
          </a:xfrm>
          <a:prstGeom prst="ellipse">
            <a:avLst/>
          </a:prstGeom>
          <a:solidFill>
            <a:srgbClr val="0F9488"/>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xor all tried all 255 keys, one line per key.</a:t>
            </a:r>
            <a:endParaRPr lang="en-US" sz="1400" dirty="0"/>
          </a:p>
        </p:txBody>
      </p:sp>
      <p:sp>
        <p:nvSpPr>
          <p:cNvPr id="41" name="Shape 38"/>
          <p:cNvSpPr/>
          <p:nvPr/>
        </p:nvSpPr>
        <p:spPr>
          <a:xfrm>
            <a:off x="7543800" y="3767328"/>
            <a:ext cx="457200" cy="457200"/>
          </a:xfrm>
          <a:prstGeom prst="ellipse">
            <a:avLst/>
          </a:prstGeom>
          <a:solidFill>
            <a:srgbClr val="0F9488"/>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grep CYBA picked the only key that produced readable text.</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XOR is inside almost every modern cipher. Malware still hides strings with single-byte XOR.</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0F9488"/>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XOR twice with the same key: what do you get? Try  echo hi | xor -e 7 | xor 7.</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Keys, keywords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57 / 61</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5B6EE1"/>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9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FDE8EC"/>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0F9488"/>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20624"/>
            <a:ext cx="421538" cy="402336"/>
          </a:xfrm>
          <a:prstGeom prst="roundRect">
            <a:avLst>
              <a:gd name="adj" fmla="val 13636"/>
            </a:avLst>
          </a:prstGeom>
          <a:solidFill>
            <a:srgbClr val="5B6EE1"/>
          </a:solidFill>
          <a:ln/>
        </p:spPr>
      </p:sp>
      <p:sp>
        <p:nvSpPr>
          <p:cNvPr id="24" name="Text 21"/>
          <p:cNvSpPr txBox="1"/>
          <p:nvPr/>
        </p:nvSpPr>
        <p:spPr>
          <a:xfrm>
            <a:off x="10724083"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Keyed up</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secret.txt uses Vigenère: a keyword sets a different shift for each letter. Too many keys to brute-force, but someone left a briefing behind.</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~/mission9/briefing.txt  secret.txt</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tr  then  vigenere -d</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+400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Why won't caesar all work on Vigenère?</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The briefing is scrambled with a cipher we already know. Which one?</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What does the Vigenère tool need besides the file?</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58 / 61</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5B6EE1"/>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9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FDE8EC"/>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0F9488"/>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20624"/>
            <a:ext cx="421538" cy="402336"/>
          </a:xfrm>
          <a:prstGeom prst="roundRect">
            <a:avLst>
              <a:gd name="adj" fmla="val 13636"/>
            </a:avLst>
          </a:prstGeom>
          <a:solidFill>
            <a:srgbClr val="5B6EE1"/>
          </a:solidFill>
          <a:ln/>
        </p:spPr>
      </p:sp>
      <p:sp>
        <p:nvSpPr>
          <p:cNvPr id="24" name="Text 21"/>
          <p:cNvSpPr txBox="1"/>
          <p:nvPr/>
        </p:nvSpPr>
        <p:spPr>
          <a:xfrm>
            <a:off x="10724083"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25" name="Shape 22"/>
          <p:cNvSpPr/>
          <p:nvPr/>
        </p:nvSpPr>
        <p:spPr>
          <a:xfrm>
            <a:off x="11218774" y="475488"/>
            <a:ext cx="421538" cy="292608"/>
          </a:xfrm>
          <a:prstGeom prst="roundRect">
            <a:avLst>
              <a:gd name="adj" fmla="val 18750"/>
            </a:avLst>
          </a:prstGeom>
          <a:solidFill>
            <a:srgbClr val="E4EAF3"/>
          </a:solidFill>
          <a:ln/>
        </p:spPr>
      </p:sp>
      <p:sp>
        <p:nvSpPr>
          <p:cNvPr id="26" name="Text 23"/>
          <p:cNvSpPr txBox="1"/>
          <p:nvPr/>
        </p:nvSpPr>
        <p:spPr>
          <a:xfrm>
            <a:off x="11218774" y="475488"/>
            <a:ext cx="421538" cy="292608"/>
          </a:xfrm>
          <a:prstGeom prst="rect">
            <a:avLst/>
          </a:prstGeom>
          <a:noFill/>
          <a:ln/>
        </p:spPr>
        <p:txBody>
          <a:bodyPr wrap="square" lIns="0" tIns="0" rIns="0" bIns="0" rtlCol="0" anchor="ctr"/>
          <a:lstStyle/>
          <a:p>
            <a:pPr algn="ctr" indent="0" marL="0">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Cracking Keyed up</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cd ~/mission9</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cat briefing.txt</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OEVRSVAT: Gur xrljbeq vf UNEOBE. Gryy ab bar.</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tr 'A-Za-z' 'N-ZA-Mn-za-m' &lt; briefing.txt</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BRIEFING: The keyword is HARBOR. Tell no one.</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cat secret.txt</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Cixfbvye bfdk ptj tstyekt tfy tyssv ...</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vigenere -d HARBOR secret.txt</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Vigenere kept its secrets for three hundred years.</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Flag: CYBA{vig-...}</a:t>
            </a:r>
            <a:endParaRPr lang="en-US" sz="115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5B6EE1"/>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The briefing was ROT13 (Mission 3), so tr revealed the keyword.</a:t>
            </a:r>
            <a:endParaRPr lang="en-US" sz="1400" dirty="0"/>
          </a:p>
        </p:txBody>
      </p:sp>
      <p:sp>
        <p:nvSpPr>
          <p:cNvPr id="38" name="Shape 35"/>
          <p:cNvSpPr/>
          <p:nvPr/>
        </p:nvSpPr>
        <p:spPr>
          <a:xfrm>
            <a:off x="7543800" y="2980944"/>
            <a:ext cx="457200" cy="457200"/>
          </a:xfrm>
          <a:prstGeom prst="ellipse">
            <a:avLst/>
          </a:prstGeom>
          <a:solidFill>
            <a:srgbClr val="5B6EE1"/>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Vigenère shifts each letter by the matching keyword letter.</a:t>
            </a:r>
            <a:endParaRPr lang="en-US" sz="1400" dirty="0"/>
          </a:p>
        </p:txBody>
      </p:sp>
      <p:sp>
        <p:nvSpPr>
          <p:cNvPr id="41" name="Shape 38"/>
          <p:cNvSpPr/>
          <p:nvPr/>
        </p:nvSpPr>
        <p:spPr>
          <a:xfrm>
            <a:off x="7543800" y="3767328"/>
            <a:ext cx="457200" cy="457200"/>
          </a:xfrm>
          <a:prstGeom prst="ellipse">
            <a:avLst/>
          </a:prstGeom>
          <a:solidFill>
            <a:srgbClr val="5B6EE1"/>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vigenere -d with the keyword undid it.</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Real attacks rarely break the cipher. They find the key: a sticky note, a leaked file, a reused password.</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5B6EE1"/>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Encrypt ATTACK with LEMON:  echo ATTACK | vigenere -e LEMON. Why do the two Ts differ?</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Keys, keywords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59 / 61</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3" name="Shape 0"/>
          <p:cNvSpPr/>
          <p:nvPr/>
        </p:nvSpPr>
        <p:spPr>
          <a:xfrm>
            <a:off x="548640" y="438912"/>
            <a:ext cx="1828800" cy="347472"/>
          </a:xfrm>
          <a:prstGeom prst="roundRect">
            <a:avLst>
              <a:gd name="adj" fmla="val 50000"/>
            </a:avLst>
          </a:prstGeom>
          <a:solidFill>
            <a:srgbClr val="B4233F"/>
          </a:solidFill>
          <a:ln/>
        </p:spPr>
      </p:sp>
      <p:sp>
        <p:nvSpPr>
          <p:cNvPr id="4" name="Text 1"/>
          <p:cNvSpPr txBox="1"/>
          <p:nvPr/>
        </p:nvSpPr>
        <p:spPr>
          <a:xfrm>
            <a:off x="548640" y="438912"/>
            <a:ext cx="182880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Mission 10 of 10</a:t>
            </a:r>
            <a:endParaRPr lang="en-US" sz="1400" dirty="0"/>
          </a:p>
        </p:txBody>
      </p:sp>
      <p:sp>
        <p:nvSpPr>
          <p:cNvPr id="5" name="Shape 2"/>
          <p:cNvSpPr/>
          <p:nvPr/>
        </p:nvSpPr>
        <p:spPr>
          <a:xfrm>
            <a:off x="2514600" y="438912"/>
            <a:ext cx="1828800" cy="347472"/>
          </a:xfrm>
          <a:prstGeom prst="roundRect">
            <a:avLst>
              <a:gd name="adj" fmla="val 50000"/>
            </a:avLst>
          </a:prstGeom>
          <a:solidFill>
            <a:srgbClr val="2A1430"/>
          </a:solidFill>
          <a:ln/>
        </p:spPr>
      </p:sp>
      <p:sp>
        <p:nvSpPr>
          <p:cNvPr id="6" name="Text 3"/>
          <p:cNvSpPr txBox="1"/>
          <p:nvPr/>
        </p:nvSpPr>
        <p:spPr>
          <a:xfrm>
            <a:off x="2514600" y="438912"/>
            <a:ext cx="1828800" cy="347472"/>
          </a:xfrm>
          <a:prstGeom prst="rect">
            <a:avLst/>
          </a:prstGeom>
          <a:noFill/>
          <a:ln/>
        </p:spPr>
        <p:txBody>
          <a:bodyPr wrap="square" lIns="0" tIns="0" rIns="0" bIns="0" rtlCol="0" anchor="ctr"/>
          <a:lstStyle/>
          <a:p>
            <a:pPr algn="ctr" indent="0" marL="0">
              <a:buNone/>
            </a:pPr>
            <a:r>
              <a:rPr lang="en-US" sz="1300" b="1" dirty="0">
                <a:solidFill>
                  <a:srgbClr val="FF8FB1"/>
                </a:solidFill>
                <a:latin typeface="Calibri" pitchFamily="34" charset="0"/>
                <a:ea typeface="Calibri" pitchFamily="34" charset="-122"/>
                <a:cs typeface="Calibri" pitchFamily="34" charset="-120"/>
              </a:rPr>
              <a:t>VERY HARD  ·  800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0F9488"/>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5B6EE1"/>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20624"/>
            <a:ext cx="421538" cy="402336"/>
          </a:xfrm>
          <a:prstGeom prst="roundRect">
            <a:avLst>
              <a:gd name="adj" fmla="val 13636"/>
            </a:avLst>
          </a:prstGeom>
          <a:solidFill>
            <a:srgbClr val="B4233F"/>
          </a:solidFill>
          <a:ln/>
        </p:spPr>
      </p:sp>
      <p:sp>
        <p:nvSpPr>
          <p:cNvPr id="26" name="Text 23"/>
          <p:cNvSpPr txBox="1"/>
          <p:nvPr/>
        </p:nvSpPr>
        <p:spPr>
          <a:xfrm>
            <a:off x="11218774"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10</a:t>
            </a:r>
            <a:endParaRPr lang="en-US" sz="1300" dirty="0"/>
          </a:p>
        </p:txBody>
      </p:sp>
      <p:sp>
        <p:nvSpPr>
          <p:cNvPr id="27" name="Text 24"/>
          <p:cNvSpPr txBox="1"/>
          <p:nvPr/>
        </p:nvSpPr>
        <p:spPr>
          <a:xfrm>
            <a:off x="548640" y="914400"/>
            <a:ext cx="11094415" cy="868680"/>
          </a:xfrm>
          <a:prstGeom prst="rect">
            <a:avLst/>
          </a:prstGeom>
          <a:noFill/>
          <a:ln/>
        </p:spPr>
        <p:txBody>
          <a:bodyPr wrap="square" lIns="0" tIns="0" rIns="0" bIns="0" rtlCol="0" anchor="ctr"/>
          <a:lstStyle/>
          <a:p>
            <a:pPr indent="0" marL="0">
              <a:buNone/>
            </a:pPr>
            <a:r>
              <a:rPr lang="en-US" sz="4200" b="1" dirty="0">
                <a:solidFill>
                  <a:srgbClr val="12213A"/>
                </a:solidFill>
                <a:latin typeface="Arial" pitchFamily="34" charset="0"/>
                <a:ea typeface="Arial" pitchFamily="34" charset="-122"/>
                <a:cs typeface="Arial" pitchFamily="34" charset="-120"/>
              </a:rPr>
              <a:t>The vault</a:t>
            </a:r>
            <a:endParaRPr lang="en-US" sz="4200" dirty="0"/>
          </a:p>
        </p:txBody>
      </p:sp>
      <p:sp>
        <p:nvSpPr>
          <p:cNvPr id="28" name="Shape 25"/>
          <p:cNvSpPr/>
          <p:nvPr/>
        </p:nvSpPr>
        <p:spPr>
          <a:xfrm>
            <a:off x="548640" y="1920240"/>
            <a:ext cx="6446520" cy="4023360"/>
          </a:xfrm>
          <a:prstGeom prst="roundRect">
            <a:avLst>
              <a:gd name="adj" fmla="val 2727"/>
            </a:avLst>
          </a:prstGeom>
          <a:solidFill>
            <a:srgbClr val="0E1726"/>
          </a:solidFill>
          <a:ln/>
          <a:effectLst>
            <a:outerShdw sx="100000" sy="100000" kx="0" ky="0" algn="bl" rotWithShape="0" blurRad="127000" dist="38100" dir="5400000">
              <a:srgbClr val="12213A">
                <a:alpha val="22000"/>
              </a:srgbClr>
            </a:outerShdw>
          </a:effectLst>
        </p:spPr>
      </p:sp>
      <p:sp>
        <p:nvSpPr>
          <p:cNvPr id="29" name="Text 26"/>
          <p:cNvSpPr txBox="1"/>
          <p:nvPr/>
        </p:nvSpPr>
        <p:spPr>
          <a:xfrm>
            <a:off x="914400" y="2103120"/>
            <a:ext cx="3657600" cy="365760"/>
          </a:xfrm>
          <a:prstGeom prst="rect">
            <a:avLst/>
          </a:prstGeom>
          <a:noFill/>
          <a:ln/>
        </p:spPr>
        <p:txBody>
          <a:bodyPr wrap="square" lIns="0" tIns="0" rIns="0" bIns="0" rtlCol="0" anchor="ctr"/>
          <a:lstStyle/>
          <a:p>
            <a:pPr indent="0" marL="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0" name="Text 27"/>
          <p:cNvSpPr txBox="1"/>
          <p:nvPr/>
        </p:nvSpPr>
        <p:spPr>
          <a:xfrm>
            <a:off x="914400" y="2560320"/>
            <a:ext cx="5715000" cy="2057400"/>
          </a:xfrm>
          <a:prstGeom prst="rect">
            <a:avLst/>
          </a:prstGeom>
          <a:noFill/>
          <a:ln/>
        </p:spPr>
        <p:txBody>
          <a:bodyPr wrap="square" lIns="0" tIns="0" rIns="0" bIns="0" rtlCol="0" anchor="t">
            <a:normAutofit/>
          </a:bodyPr>
          <a:lstStyle/>
          <a:p>
            <a:pPr indent="0" marL="0">
              <a:buNone/>
            </a:pPr>
            <a:r>
              <a:rPr lang="en-US" sz="2100" dirty="0">
                <a:solidFill>
                  <a:srgbClr val="FFFFFF"/>
                </a:solidFill>
                <a:latin typeface="Calibri" pitchFamily="34" charset="0"/>
                <a:ea typeface="Calibri" pitchFamily="34" charset="-122"/>
                <a:cs typeface="Calibri" pitchFamily="34" charset="-120"/>
              </a:rPr>
              <a:t>Three skills in one. Crack the keyword's fingerprint against the wordlist, base64-decode the vault, then Vigenère-decrypt it.</a:t>
            </a:r>
            <a:endParaRPr lang="en-US" sz="2100" dirty="0"/>
          </a:p>
        </p:txBody>
      </p:sp>
      <p:sp>
        <p:nvSpPr>
          <p:cNvPr id="31" name="Text 28"/>
          <p:cNvSpPr txBox="1"/>
          <p:nvPr/>
        </p:nvSpPr>
        <p:spPr>
          <a:xfrm>
            <a:off x="914400" y="4663440"/>
            <a:ext cx="5760720" cy="320040"/>
          </a:xfrm>
          <a:prstGeom prst="rect">
            <a:avLst/>
          </a:prstGeom>
          <a:noFill/>
          <a:ln/>
        </p:spPr>
        <p:txBody>
          <a:bodyPr wrap="square" lIns="0" tIns="0" rIns="0" bIns="0" rtlCol="0" anchor="ctr"/>
          <a:lstStyle/>
          <a:p>
            <a:pPr indent="0" marL="0">
              <a:buNone/>
            </a:pPr>
            <a:r>
              <a:rPr lang="en-US" sz="1300" dirty="0">
                <a:solidFill>
                  <a:srgbClr val="B8C4D9"/>
                </a:solidFill>
                <a:latin typeface="Courier New" pitchFamily="34" charset="0"/>
                <a:ea typeface="Courier New" pitchFamily="34" charset="-122"/>
                <a:cs typeface="Courier New" pitchFamily="34" charset="-120"/>
              </a:rPr>
              <a:t>~/mission10/words.txt  key.sha256  vault.b64</a:t>
            </a:r>
            <a:endParaRPr lang="en-US" sz="1300" dirty="0"/>
          </a:p>
        </p:txBody>
      </p:sp>
      <p:sp>
        <p:nvSpPr>
          <p:cNvPr id="32" name="Shape 29"/>
          <p:cNvSpPr/>
          <p:nvPr/>
        </p:nvSpPr>
        <p:spPr>
          <a:xfrm>
            <a:off x="914400" y="5166360"/>
            <a:ext cx="3291840" cy="502920"/>
          </a:xfrm>
          <a:prstGeom prst="roundRect">
            <a:avLst>
              <a:gd name="adj" fmla="val 14545"/>
            </a:avLst>
          </a:prstGeom>
          <a:solidFill>
            <a:srgbClr val="F5A623"/>
          </a:solidFill>
          <a:ln/>
        </p:spPr>
      </p:sp>
      <p:sp>
        <p:nvSpPr>
          <p:cNvPr id="33" name="Text 30"/>
          <p:cNvSpPr txBox="1"/>
          <p:nvPr/>
        </p:nvSpPr>
        <p:spPr>
          <a:xfrm>
            <a:off x="914400" y="5166360"/>
            <a:ext cx="3291840" cy="502920"/>
          </a:xfrm>
          <a:prstGeom prst="rect">
            <a:avLst/>
          </a:prstGeom>
          <a:noFill/>
          <a:ln/>
        </p:spPr>
        <p:txBody>
          <a:bodyPr wrap="square" lIns="0" tIns="0" rIns="0" bIns="0" rtlCol="0" anchor="ctr">
            <a:normAutofit/>
          </a:bodyPr>
          <a:lstStyle/>
          <a:p>
            <a:pPr algn="ctr" indent="0" marL="0">
              <a:buNone/>
            </a:pPr>
            <a:r>
              <a:rPr lang="en-US" sz="1300" dirty="0">
                <a:solidFill>
                  <a:srgbClr val="12213A"/>
                </a:solidFill>
                <a:latin typeface="Calibri" pitchFamily="34" charset="0"/>
                <a:ea typeface="Calibri" pitchFamily="34" charset="-122"/>
                <a:cs typeface="Calibri" pitchFamily="34" charset="-120"/>
              </a:rPr>
              <a:t>Tools: </a:t>
            </a:r>
            <a:pPr algn="ctr" indent="0" marL="0">
              <a:buNone/>
            </a:pPr>
            <a:r>
              <a:rPr lang="en-US" sz="1300" b="1" dirty="0">
                <a:solidFill>
                  <a:srgbClr val="12213A"/>
                </a:solidFill>
                <a:latin typeface="Courier New" pitchFamily="34" charset="0"/>
                <a:ea typeface="Courier New" pitchFamily="34" charset="-122"/>
                <a:cs typeface="Courier New" pitchFamily="34" charset="-120"/>
              </a:rPr>
              <a:t>hashlines · base64 · vigenere</a:t>
            </a:r>
            <a:endParaRPr lang="en-US" sz="1300" dirty="0"/>
          </a:p>
        </p:txBody>
      </p:sp>
      <p:sp>
        <p:nvSpPr>
          <p:cNvPr id="34" name="Shape 31"/>
          <p:cNvSpPr/>
          <p:nvPr/>
        </p:nvSpPr>
        <p:spPr>
          <a:xfrm>
            <a:off x="4389120" y="5166360"/>
            <a:ext cx="2240280" cy="502920"/>
          </a:xfrm>
          <a:prstGeom prst="roundRect">
            <a:avLst>
              <a:gd name="adj" fmla="val 14545"/>
            </a:avLst>
          </a:prstGeom>
          <a:solidFill>
            <a:srgbClr val="2B3B5C"/>
          </a:solidFill>
          <a:ln/>
        </p:spPr>
      </p:sp>
      <p:sp>
        <p:nvSpPr>
          <p:cNvPr id="35" name="Text 32"/>
          <p:cNvSpPr txBox="1"/>
          <p:nvPr/>
        </p:nvSpPr>
        <p:spPr>
          <a:xfrm>
            <a:off x="4389120" y="5166360"/>
            <a:ext cx="2240280" cy="502920"/>
          </a:xfrm>
          <a:prstGeom prst="rect">
            <a:avLst/>
          </a:prstGeom>
          <a:noFill/>
          <a:ln/>
        </p:spPr>
        <p:txBody>
          <a:bodyPr wrap="square" lIns="0" tIns="0" rIns="0" bIns="0" rtlCol="0" anchor="ctr"/>
          <a:lstStyle/>
          <a:p>
            <a:pPr algn="ctr" indent="0" marL="0">
              <a:buNone/>
            </a:pPr>
            <a:r>
              <a:rPr lang="en-US" sz="1600" b="1" dirty="0">
                <a:solidFill>
                  <a:srgbClr val="46D39A"/>
                </a:solidFill>
                <a:latin typeface="Courier New" pitchFamily="34" charset="0"/>
                <a:ea typeface="Courier New" pitchFamily="34" charset="-122"/>
                <a:cs typeface="Courier New" pitchFamily="34" charset="-120"/>
              </a:rPr>
              <a:t>+800 points</a:t>
            </a:r>
            <a:endParaRPr lang="en-US" sz="1600" dirty="0"/>
          </a:p>
        </p:txBody>
      </p:sp>
      <p:sp>
        <p:nvSpPr>
          <p:cNvPr id="36" name="Shape 33"/>
          <p:cNvSpPr/>
          <p:nvPr/>
        </p:nvSpPr>
        <p:spPr>
          <a:xfrm>
            <a:off x="7269480" y="1920240"/>
            <a:ext cx="4370832" cy="2788920"/>
          </a:xfrm>
          <a:prstGeom prst="roundRect">
            <a:avLst>
              <a:gd name="adj" fmla="val 3279"/>
            </a:avLst>
          </a:prstGeom>
          <a:solidFill>
            <a:srgbClr val="F1F5FB"/>
          </a:solidFill>
          <a:ln/>
        </p:spPr>
      </p:sp>
      <p:sp>
        <p:nvSpPr>
          <p:cNvPr id="37" name="Text 34"/>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38" name="Text 35"/>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Which mission taught us to crack a hash with a list?</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The vault is base64 on the outside. What comes off first?</a:t>
            </a:r>
            <a:endParaRPr lang="en-US" sz="1500" dirty="0"/>
          </a:p>
          <a:p>
            <a:pPr marL="342900" indent="-342900">
              <a:spcAft>
                <a:spcPts val="700"/>
              </a:spcAft>
              <a:buSzPct val="100000"/>
              <a:buChar char="•"/>
            </a:pPr>
            <a:r>
              <a:rPr lang="en-US" sz="1500" dirty="0">
                <a:solidFill>
                  <a:srgbClr val="12213A"/>
                </a:solidFill>
                <a:latin typeface="Calibri" pitchFamily="34" charset="0"/>
                <a:ea typeface="Calibri" pitchFamily="34" charset="-122"/>
                <a:cs typeface="Calibri" pitchFamily="34" charset="-120"/>
              </a:rPr>
              <a:t>How do we chain the decode straight into the decrypt?</a:t>
            </a:r>
            <a:endParaRPr lang="en-US" sz="1500" dirty="0"/>
          </a:p>
        </p:txBody>
      </p:sp>
      <p:sp>
        <p:nvSpPr>
          <p:cNvPr id="39" name="Shape 36"/>
          <p:cNvSpPr/>
          <p:nvPr/>
        </p:nvSpPr>
        <p:spPr>
          <a:xfrm>
            <a:off x="7269480" y="4892040"/>
            <a:ext cx="4370832" cy="1051560"/>
          </a:xfrm>
          <a:prstGeom prst="roundRect">
            <a:avLst>
              <a:gd name="adj" fmla="val 8696"/>
            </a:avLst>
          </a:prstGeom>
          <a:solidFill>
            <a:srgbClr val="17875A"/>
          </a:solidFill>
          <a:ln/>
        </p:spPr>
      </p:sp>
      <p:sp>
        <p:nvSpPr>
          <p:cNvPr id="40" name="Text 37"/>
          <p:cNvSpPr txBox="1"/>
          <p:nvPr/>
        </p:nvSpPr>
        <p:spPr>
          <a:xfrm>
            <a:off x="7498080" y="4892040"/>
            <a:ext cx="1554480" cy="10515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1" name="Text 38"/>
          <p:cNvSpPr txBox="1"/>
          <p:nvPr/>
        </p:nvSpPr>
        <p:spPr>
          <a:xfrm>
            <a:off x="9098280" y="4892040"/>
            <a:ext cx="23774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Students try on their own. Reveal after.</a:t>
            </a:r>
            <a:endParaRPr lang="en-US" sz="1350" dirty="0"/>
          </a:p>
        </p:txBody>
      </p:sp>
      <p:sp>
        <p:nvSpPr>
          <p:cNvPr id="42" name="Text 39"/>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60 / 61</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3" name="Shape 0"/>
          <p:cNvSpPr/>
          <p:nvPr/>
        </p:nvSpPr>
        <p:spPr>
          <a:xfrm>
            <a:off x="548640" y="438912"/>
            <a:ext cx="2103120" cy="347472"/>
          </a:xfrm>
          <a:prstGeom prst="roundRect">
            <a:avLst>
              <a:gd name="adj" fmla="val 50000"/>
            </a:avLst>
          </a:prstGeom>
          <a:solidFill>
            <a:srgbClr val="B4233F"/>
          </a:solidFill>
          <a:ln/>
        </p:spPr>
      </p:sp>
      <p:sp>
        <p:nvSpPr>
          <p:cNvPr id="4" name="Text 1"/>
          <p:cNvSpPr txBox="1"/>
          <p:nvPr/>
        </p:nvSpPr>
        <p:spPr>
          <a:xfrm>
            <a:off x="548640" y="438912"/>
            <a:ext cx="210312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Walkthrough 10 of 10</a:t>
            </a:r>
            <a:endParaRPr lang="en-US" sz="1400" dirty="0"/>
          </a:p>
        </p:txBody>
      </p:sp>
      <p:sp>
        <p:nvSpPr>
          <p:cNvPr id="5" name="Shape 2"/>
          <p:cNvSpPr/>
          <p:nvPr/>
        </p:nvSpPr>
        <p:spPr>
          <a:xfrm>
            <a:off x="2788920" y="438912"/>
            <a:ext cx="1828800" cy="347472"/>
          </a:xfrm>
          <a:prstGeom prst="roundRect">
            <a:avLst>
              <a:gd name="adj" fmla="val 50000"/>
            </a:avLst>
          </a:prstGeom>
          <a:solidFill>
            <a:srgbClr val="2A1430"/>
          </a:solidFill>
          <a:ln/>
        </p:spPr>
      </p:sp>
      <p:sp>
        <p:nvSpPr>
          <p:cNvPr id="6" name="Text 3"/>
          <p:cNvSpPr txBox="1"/>
          <p:nvPr/>
        </p:nvSpPr>
        <p:spPr>
          <a:xfrm>
            <a:off x="2788920" y="438912"/>
            <a:ext cx="1828800" cy="347472"/>
          </a:xfrm>
          <a:prstGeom prst="rect">
            <a:avLst/>
          </a:prstGeom>
          <a:noFill/>
          <a:ln/>
        </p:spPr>
        <p:txBody>
          <a:bodyPr wrap="square" lIns="0" tIns="0" rIns="0" bIns="0" rtlCol="0" anchor="ctr"/>
          <a:lstStyle/>
          <a:p>
            <a:pPr algn="ctr" indent="0" marL="0">
              <a:buNone/>
            </a:pPr>
            <a:r>
              <a:rPr lang="en-US" sz="1300" b="1" dirty="0">
                <a:solidFill>
                  <a:srgbClr val="FF8FB1"/>
                </a:solidFill>
                <a:latin typeface="Calibri" pitchFamily="34" charset="0"/>
                <a:ea typeface="Calibri" pitchFamily="34" charset="-122"/>
                <a:cs typeface="Calibri" pitchFamily="34" charset="-120"/>
              </a:rPr>
              <a:t>VERY HARD  ·  800</a:t>
            </a:r>
            <a:endParaRPr lang="en-US" sz="1300" dirty="0"/>
          </a:p>
        </p:txBody>
      </p:sp>
      <p:sp>
        <p:nvSpPr>
          <p:cNvPr id="7" name="Shape 4"/>
          <p:cNvSpPr/>
          <p:nvPr/>
        </p:nvSpPr>
        <p:spPr>
          <a:xfrm>
            <a:off x="6766560" y="475488"/>
            <a:ext cx="421538" cy="292608"/>
          </a:xfrm>
          <a:prstGeom prst="roundRect">
            <a:avLst>
              <a:gd name="adj" fmla="val 18750"/>
            </a:avLst>
          </a:prstGeom>
          <a:solidFill>
            <a:srgbClr val="17875A"/>
          </a:solidFill>
          <a:ln/>
        </p:spPr>
      </p:sp>
      <p:sp>
        <p:nvSpPr>
          <p:cNvPr id="8" name="Text 5"/>
          <p:cNvSpPr txBox="1"/>
          <p:nvPr/>
        </p:nvSpPr>
        <p:spPr>
          <a:xfrm>
            <a:off x="676656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Shape 6"/>
          <p:cNvSpPr/>
          <p:nvPr/>
        </p:nvSpPr>
        <p:spPr>
          <a:xfrm>
            <a:off x="7261250" y="475488"/>
            <a:ext cx="421538" cy="292608"/>
          </a:xfrm>
          <a:prstGeom prst="roundRect">
            <a:avLst>
              <a:gd name="adj" fmla="val 18750"/>
            </a:avLst>
          </a:prstGeom>
          <a:solidFill>
            <a:srgbClr val="2A9FD6"/>
          </a:solidFill>
          <a:ln/>
        </p:spPr>
      </p:sp>
      <p:sp>
        <p:nvSpPr>
          <p:cNvPr id="10" name="Text 7"/>
          <p:cNvSpPr txBox="1"/>
          <p:nvPr/>
        </p:nvSpPr>
        <p:spPr>
          <a:xfrm>
            <a:off x="7261250"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7755941" y="475488"/>
            <a:ext cx="421538" cy="292608"/>
          </a:xfrm>
          <a:prstGeom prst="roundRect">
            <a:avLst>
              <a:gd name="adj" fmla="val 18750"/>
            </a:avLst>
          </a:prstGeom>
          <a:solidFill>
            <a:srgbClr val="2459D8"/>
          </a:solidFill>
          <a:ln/>
        </p:spPr>
      </p:sp>
      <p:sp>
        <p:nvSpPr>
          <p:cNvPr id="12" name="Text 9"/>
          <p:cNvSpPr txBox="1"/>
          <p:nvPr/>
        </p:nvSpPr>
        <p:spPr>
          <a:xfrm>
            <a:off x="775594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Shape 10"/>
          <p:cNvSpPr/>
          <p:nvPr/>
        </p:nvSpPr>
        <p:spPr>
          <a:xfrm>
            <a:off x="8250631" y="475488"/>
            <a:ext cx="421538" cy="292608"/>
          </a:xfrm>
          <a:prstGeom prst="roundRect">
            <a:avLst>
              <a:gd name="adj" fmla="val 18750"/>
            </a:avLst>
          </a:prstGeom>
          <a:solidFill>
            <a:srgbClr val="7448D4"/>
          </a:solidFill>
          <a:ln/>
        </p:spPr>
      </p:sp>
      <p:sp>
        <p:nvSpPr>
          <p:cNvPr id="14" name="Text 11"/>
          <p:cNvSpPr txBox="1"/>
          <p:nvPr/>
        </p:nvSpPr>
        <p:spPr>
          <a:xfrm>
            <a:off x="8250631"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5" name="Shape 12"/>
          <p:cNvSpPr/>
          <p:nvPr/>
        </p:nvSpPr>
        <p:spPr>
          <a:xfrm>
            <a:off x="8745322" y="475488"/>
            <a:ext cx="421538" cy="292608"/>
          </a:xfrm>
          <a:prstGeom prst="roundRect">
            <a:avLst>
              <a:gd name="adj" fmla="val 18750"/>
            </a:avLst>
          </a:prstGeom>
          <a:solidFill>
            <a:srgbClr val="D1416B"/>
          </a:solidFill>
          <a:ln/>
        </p:spPr>
      </p:sp>
      <p:sp>
        <p:nvSpPr>
          <p:cNvPr id="16" name="Text 13"/>
          <p:cNvSpPr txBox="1"/>
          <p:nvPr/>
        </p:nvSpPr>
        <p:spPr>
          <a:xfrm>
            <a:off x="874532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7" name="Shape 14"/>
          <p:cNvSpPr/>
          <p:nvPr/>
        </p:nvSpPr>
        <p:spPr>
          <a:xfrm>
            <a:off x="9240012" y="475488"/>
            <a:ext cx="421538" cy="292608"/>
          </a:xfrm>
          <a:prstGeom prst="roundRect">
            <a:avLst>
              <a:gd name="adj" fmla="val 18750"/>
            </a:avLst>
          </a:prstGeom>
          <a:solidFill>
            <a:srgbClr val="E8820C"/>
          </a:solidFill>
          <a:ln/>
        </p:spPr>
      </p:sp>
      <p:sp>
        <p:nvSpPr>
          <p:cNvPr id="18" name="Text 15"/>
          <p:cNvSpPr txBox="1"/>
          <p:nvPr/>
        </p:nvSpPr>
        <p:spPr>
          <a:xfrm>
            <a:off x="924001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19" name="Shape 16"/>
          <p:cNvSpPr/>
          <p:nvPr/>
        </p:nvSpPr>
        <p:spPr>
          <a:xfrm>
            <a:off x="9734702" y="475488"/>
            <a:ext cx="421538" cy="292608"/>
          </a:xfrm>
          <a:prstGeom prst="roundRect">
            <a:avLst>
              <a:gd name="adj" fmla="val 18750"/>
            </a:avLst>
          </a:prstGeom>
          <a:solidFill>
            <a:srgbClr val="C9A227"/>
          </a:solidFill>
          <a:ln/>
        </p:spPr>
      </p:sp>
      <p:sp>
        <p:nvSpPr>
          <p:cNvPr id="20" name="Text 17"/>
          <p:cNvSpPr txBox="1"/>
          <p:nvPr/>
        </p:nvSpPr>
        <p:spPr>
          <a:xfrm>
            <a:off x="9734702"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1" name="Shape 18"/>
          <p:cNvSpPr/>
          <p:nvPr/>
        </p:nvSpPr>
        <p:spPr>
          <a:xfrm>
            <a:off x="10229393" y="475488"/>
            <a:ext cx="421538" cy="292608"/>
          </a:xfrm>
          <a:prstGeom prst="roundRect">
            <a:avLst>
              <a:gd name="adj" fmla="val 18750"/>
            </a:avLst>
          </a:prstGeom>
          <a:solidFill>
            <a:srgbClr val="0F9488"/>
          </a:solidFill>
          <a:ln/>
        </p:spPr>
      </p:sp>
      <p:sp>
        <p:nvSpPr>
          <p:cNvPr id="22" name="Text 19"/>
          <p:cNvSpPr txBox="1"/>
          <p:nvPr/>
        </p:nvSpPr>
        <p:spPr>
          <a:xfrm>
            <a:off x="1022939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3" name="Shape 20"/>
          <p:cNvSpPr/>
          <p:nvPr/>
        </p:nvSpPr>
        <p:spPr>
          <a:xfrm>
            <a:off x="10724083" y="475488"/>
            <a:ext cx="421538" cy="292608"/>
          </a:xfrm>
          <a:prstGeom prst="roundRect">
            <a:avLst>
              <a:gd name="adj" fmla="val 18750"/>
            </a:avLst>
          </a:prstGeom>
          <a:solidFill>
            <a:srgbClr val="5B6EE1"/>
          </a:solidFill>
          <a:ln/>
        </p:spPr>
      </p:sp>
      <p:sp>
        <p:nvSpPr>
          <p:cNvPr id="24" name="Text 21"/>
          <p:cNvSpPr txBox="1"/>
          <p:nvPr/>
        </p:nvSpPr>
        <p:spPr>
          <a:xfrm>
            <a:off x="10724083" y="475488"/>
            <a:ext cx="42153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9</a:t>
            </a:r>
            <a:endParaRPr lang="en-US" sz="1000" dirty="0"/>
          </a:p>
        </p:txBody>
      </p:sp>
      <p:sp>
        <p:nvSpPr>
          <p:cNvPr id="25" name="Shape 22"/>
          <p:cNvSpPr/>
          <p:nvPr/>
        </p:nvSpPr>
        <p:spPr>
          <a:xfrm>
            <a:off x="11218774" y="420624"/>
            <a:ext cx="421538" cy="402336"/>
          </a:xfrm>
          <a:prstGeom prst="roundRect">
            <a:avLst>
              <a:gd name="adj" fmla="val 13636"/>
            </a:avLst>
          </a:prstGeom>
          <a:solidFill>
            <a:srgbClr val="B4233F"/>
          </a:solidFill>
          <a:ln/>
        </p:spPr>
      </p:sp>
      <p:sp>
        <p:nvSpPr>
          <p:cNvPr id="26" name="Text 23"/>
          <p:cNvSpPr txBox="1"/>
          <p:nvPr/>
        </p:nvSpPr>
        <p:spPr>
          <a:xfrm>
            <a:off x="11218774" y="420624"/>
            <a:ext cx="421538"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10</a:t>
            </a:r>
            <a:endParaRPr lang="en-US" sz="1300" dirty="0"/>
          </a:p>
        </p:txBody>
      </p:sp>
      <p:sp>
        <p:nvSpPr>
          <p:cNvPr id="27" name="Text 2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3000" b="1" dirty="0">
                <a:solidFill>
                  <a:srgbClr val="12213A"/>
                </a:solidFill>
                <a:latin typeface="Arial" pitchFamily="34" charset="0"/>
                <a:ea typeface="Arial" pitchFamily="34" charset="-122"/>
                <a:cs typeface="Arial" pitchFamily="34" charset="-120"/>
              </a:rPr>
              <a:t>Cracking The vault</a:t>
            </a:r>
            <a:endParaRPr lang="en-US" sz="3000" dirty="0"/>
          </a:p>
        </p:txBody>
      </p:sp>
      <p:sp>
        <p:nvSpPr>
          <p:cNvPr id="28" name="Shape 25"/>
          <p:cNvSpPr/>
          <p:nvPr/>
        </p:nvSpPr>
        <p:spPr>
          <a:xfrm>
            <a:off x="548640" y="1691640"/>
            <a:ext cx="6720840" cy="4251960"/>
          </a:xfrm>
          <a:prstGeom prst="roundRect">
            <a:avLst>
              <a:gd name="adj" fmla="val 2151"/>
            </a:avLst>
          </a:prstGeom>
          <a:solidFill>
            <a:srgbClr val="0E1726"/>
          </a:solidFill>
          <a:ln/>
          <a:effectLst>
            <a:outerShdw sx="100000" sy="100000" kx="0" ky="0" algn="bl" rotWithShape="0" blurRad="127000" dist="38100" dir="5400000">
              <a:srgbClr val="12213A">
                <a:alpha val="22000"/>
              </a:srgbClr>
            </a:outerShdw>
          </a:effectLst>
        </p:spPr>
      </p:sp>
      <p:sp>
        <p:nvSpPr>
          <p:cNvPr id="29" name="Shape 26"/>
          <p:cNvSpPr/>
          <p:nvPr/>
        </p:nvSpPr>
        <p:spPr>
          <a:xfrm>
            <a:off x="749808" y="1847088"/>
            <a:ext cx="118872" cy="118872"/>
          </a:xfrm>
          <a:prstGeom prst="ellipse">
            <a:avLst/>
          </a:prstGeom>
          <a:solidFill>
            <a:srgbClr val="E5534B"/>
          </a:solidFill>
          <a:ln/>
        </p:spPr>
      </p:sp>
      <p:sp>
        <p:nvSpPr>
          <p:cNvPr id="30" name="Shape 27"/>
          <p:cNvSpPr/>
          <p:nvPr/>
        </p:nvSpPr>
        <p:spPr>
          <a:xfrm>
            <a:off x="950976" y="1847088"/>
            <a:ext cx="118872" cy="118872"/>
          </a:xfrm>
          <a:prstGeom prst="ellipse">
            <a:avLst/>
          </a:prstGeom>
          <a:solidFill>
            <a:srgbClr val="F5A623"/>
          </a:solidFill>
          <a:ln/>
        </p:spPr>
      </p:sp>
      <p:sp>
        <p:nvSpPr>
          <p:cNvPr id="31" name="Shape 28"/>
          <p:cNvSpPr/>
          <p:nvPr/>
        </p:nvSpPr>
        <p:spPr>
          <a:xfrm>
            <a:off x="1152144" y="1847088"/>
            <a:ext cx="118872" cy="118872"/>
          </a:xfrm>
          <a:prstGeom prst="ellipse">
            <a:avLst/>
          </a:prstGeom>
          <a:solidFill>
            <a:srgbClr val="46D39A"/>
          </a:solidFill>
          <a:ln/>
        </p:spPr>
      </p:sp>
      <p:sp>
        <p:nvSpPr>
          <p:cNvPr id="32" name="Text 29"/>
          <p:cNvSpPr txBox="1"/>
          <p:nvPr/>
        </p:nvSpPr>
        <p:spPr>
          <a:xfrm>
            <a:off x="1463040" y="1764792"/>
            <a:ext cx="4892040" cy="274320"/>
          </a:xfrm>
          <a:prstGeom prst="rect">
            <a:avLst/>
          </a:prstGeom>
          <a:noFill/>
          <a:ln/>
        </p:spPr>
        <p:txBody>
          <a:bodyPr wrap="square" lIns="0" tIns="0" rIns="0" bIns="0" rtlCol="0" anchor="ctr"/>
          <a:lstStyle/>
          <a:p>
            <a:pPr algn="ctr" indent="0" marL="0">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3" name="Text 30"/>
          <p:cNvSpPr txBox="1"/>
          <p:nvPr/>
        </p:nvSpPr>
        <p:spPr>
          <a:xfrm>
            <a:off x="822960" y="2148840"/>
            <a:ext cx="6172200" cy="3657600"/>
          </a:xfrm>
          <a:prstGeom prst="rect">
            <a:avLst/>
          </a:prstGeom>
          <a:noFill/>
          <a:ln/>
        </p:spPr>
        <p:txBody>
          <a:bodyPr wrap="square" lIns="0" tIns="0" rIns="0" bIns="0" rtlCol="0" anchor="t"/>
          <a:lstStyle/>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cd ~/mission10</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hashlines words.txt | grep $(cut -c1-8 key.sha256)</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914cb64a1bfac4c6...  otter</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base64 -d vault.b64</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Jtnpk cixrvr. Rhy sstm xys ybrrz fbwjwhg.</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base64 -d vault.b64 | vigenere -d otter</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Vault opened. You beat the final mission.</a:t>
            </a:r>
            <a:endParaRPr lang="en-US" sz="1150" dirty="0"/>
          </a:p>
          <a:p>
            <a:pPr indent="0" marL="0">
              <a:spcAft>
                <a:spcPts val="200"/>
              </a:spcAft>
              <a:buNone/>
            </a:pPr>
            <a:r>
              <a:rPr lang="en-US" sz="1150" b="1" dirty="0">
                <a:solidFill>
                  <a:srgbClr val="F5A623"/>
                </a:solidFill>
                <a:latin typeface="Courier New" pitchFamily="34" charset="0"/>
                <a:ea typeface="Courier New" pitchFamily="34" charset="-122"/>
                <a:cs typeface="Courier New" pitchFamily="34" charset="-120"/>
              </a:rPr>
              <a:t>Flag: CYBA{vault-...}</a:t>
            </a:r>
            <a:endParaRPr lang="en-US" sz="1150" dirty="0"/>
          </a:p>
          <a:p>
            <a:pPr indent="0" marL="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pPr indent="0" marL="0">
              <a:spcAft>
                <a:spcPts val="200"/>
              </a:spcAft>
              <a:buNone/>
            </a:pPr>
            <a:r>
              <a:rPr lang="en-US" sz="1150" b="1" dirty="0">
                <a:solidFill>
                  <a:srgbClr val="FFFFFF"/>
                </a:solidFill>
                <a:latin typeface="Courier New" pitchFamily="34" charset="0"/>
                <a:ea typeface="Courier New" pitchFamily="34" charset="-122"/>
                <a:cs typeface="Courier New" pitchFamily="34" charset="-120"/>
              </a:rPr>
              <a:t>submit CYBA{vault-...}</a:t>
            </a:r>
            <a:endParaRPr lang="en-US" sz="1150" dirty="0"/>
          </a:p>
          <a:p>
            <a:pPr indent="0" marL="0">
              <a:spcAft>
                <a:spcPts val="200"/>
              </a:spcAft>
              <a:buNone/>
            </a:pPr>
            <a:r>
              <a:rPr lang="en-US" sz="1150" dirty="0">
                <a:solidFill>
                  <a:srgbClr val="B8C4D9"/>
                </a:solidFill>
                <a:latin typeface="Courier New" pitchFamily="34" charset="0"/>
                <a:ea typeface="Courier New" pitchFamily="34" charset="-122"/>
                <a:cs typeface="Courier New" pitchFamily="34" charset="-120"/>
              </a:rPr>
              <a:t>Correct! +800 points</a:t>
            </a:r>
            <a:endParaRPr lang="en-US" sz="1150" dirty="0"/>
          </a:p>
        </p:txBody>
      </p:sp>
      <p:sp>
        <p:nvSpPr>
          <p:cNvPr id="34" name="Text 31"/>
          <p:cNvSpPr txBox="1"/>
          <p:nvPr/>
        </p:nvSpPr>
        <p:spPr>
          <a:xfrm>
            <a:off x="7543800" y="1691640"/>
            <a:ext cx="4023360" cy="365760"/>
          </a:xfrm>
          <a:prstGeom prst="rect">
            <a:avLst/>
          </a:prstGeom>
          <a:noFill/>
          <a:ln/>
        </p:spPr>
        <p:txBody>
          <a:bodyPr wrap="square" lIns="0" tIns="0" rIns="0" bIns="0" rtlCol="0" anchor="t"/>
          <a:lstStyle/>
          <a:p>
            <a:pPr indent="0" marL="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5" name="Shape 32"/>
          <p:cNvSpPr/>
          <p:nvPr/>
        </p:nvSpPr>
        <p:spPr>
          <a:xfrm>
            <a:off x="7543800" y="2194560"/>
            <a:ext cx="457200" cy="457200"/>
          </a:xfrm>
          <a:prstGeom prst="ellipse">
            <a:avLst/>
          </a:prstGeom>
          <a:solidFill>
            <a:srgbClr val="B4233F"/>
          </a:solidFill>
          <a:ln/>
        </p:spPr>
      </p:sp>
      <p:sp>
        <p:nvSpPr>
          <p:cNvPr id="36" name="Text 33"/>
          <p:cNvSpPr txBox="1"/>
          <p:nvPr/>
        </p:nvSpPr>
        <p:spPr>
          <a:xfrm>
            <a:off x="7543800" y="2194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7" name="Text 34"/>
          <p:cNvSpPr txBox="1"/>
          <p:nvPr/>
        </p:nvSpPr>
        <p:spPr>
          <a:xfrm>
            <a:off x="8183880" y="2167128"/>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hashlines + grep cracked the keyword's hash, like Mission 7.</a:t>
            </a:r>
            <a:endParaRPr lang="en-US" sz="1400" dirty="0"/>
          </a:p>
        </p:txBody>
      </p:sp>
      <p:sp>
        <p:nvSpPr>
          <p:cNvPr id="38" name="Shape 35"/>
          <p:cNvSpPr/>
          <p:nvPr/>
        </p:nvSpPr>
        <p:spPr>
          <a:xfrm>
            <a:off x="7543800" y="2980944"/>
            <a:ext cx="457200" cy="457200"/>
          </a:xfrm>
          <a:prstGeom prst="ellipse">
            <a:avLst/>
          </a:prstGeom>
          <a:solidFill>
            <a:srgbClr val="B4233F"/>
          </a:solidFill>
          <a:ln/>
        </p:spPr>
      </p:sp>
      <p:sp>
        <p:nvSpPr>
          <p:cNvPr id="39" name="Text 36"/>
          <p:cNvSpPr txBox="1"/>
          <p:nvPr/>
        </p:nvSpPr>
        <p:spPr>
          <a:xfrm>
            <a:off x="7543800" y="2980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0" name="Text 37"/>
          <p:cNvSpPr txBox="1"/>
          <p:nvPr/>
        </p:nvSpPr>
        <p:spPr>
          <a:xfrm>
            <a:off x="8183880" y="2953512"/>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base64 -d peeled off the outer layer, like Mission 1.</a:t>
            </a:r>
            <a:endParaRPr lang="en-US" sz="1400" dirty="0"/>
          </a:p>
        </p:txBody>
      </p:sp>
      <p:sp>
        <p:nvSpPr>
          <p:cNvPr id="41" name="Shape 38"/>
          <p:cNvSpPr/>
          <p:nvPr/>
        </p:nvSpPr>
        <p:spPr>
          <a:xfrm>
            <a:off x="7543800" y="3767328"/>
            <a:ext cx="457200" cy="457200"/>
          </a:xfrm>
          <a:prstGeom prst="ellipse">
            <a:avLst/>
          </a:prstGeom>
          <a:solidFill>
            <a:srgbClr val="B4233F"/>
          </a:solidFill>
          <a:ln/>
        </p:spPr>
      </p:sp>
      <p:sp>
        <p:nvSpPr>
          <p:cNvPr id="42" name="Text 39"/>
          <p:cNvSpPr txBox="1"/>
          <p:nvPr/>
        </p:nvSpPr>
        <p:spPr>
          <a:xfrm>
            <a:off x="7543800" y="3767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3" name="Text 40"/>
          <p:cNvSpPr txBox="1"/>
          <p:nvPr/>
        </p:nvSpPr>
        <p:spPr>
          <a:xfrm>
            <a:off x="8183880" y="3739896"/>
            <a:ext cx="3456432" cy="694944"/>
          </a:xfrm>
          <a:prstGeom prst="rect">
            <a:avLst/>
          </a:prstGeom>
          <a:noFill/>
          <a:ln/>
        </p:spPr>
        <p:txBody>
          <a:bodyPr wrap="square" lIns="0" tIns="0" rIns="0" bIns="0" rtlCol="0" anchor="t"/>
          <a:lstStyle/>
          <a:p>
            <a:pPr indent="0" marL="0">
              <a:buNone/>
            </a:pPr>
            <a:r>
              <a:rPr lang="en-US" sz="1400" dirty="0">
                <a:solidFill>
                  <a:srgbClr val="12213A"/>
                </a:solidFill>
                <a:latin typeface="Calibri" pitchFamily="34" charset="0"/>
                <a:ea typeface="Calibri" pitchFamily="34" charset="-122"/>
                <a:cs typeface="Calibri" pitchFamily="34" charset="-120"/>
              </a:rPr>
              <a:t>The pipe fed it straight into vigenere -d, like Mission 9.</a:t>
            </a:r>
            <a:endParaRPr lang="en-US" sz="1400" dirty="0"/>
          </a:p>
        </p:txBody>
      </p:sp>
      <p:sp>
        <p:nvSpPr>
          <p:cNvPr id="44" name="Shape 41"/>
          <p:cNvSpPr/>
          <p:nvPr/>
        </p:nvSpPr>
        <p:spPr>
          <a:xfrm>
            <a:off x="7543800" y="4572000"/>
            <a:ext cx="4096512" cy="749808"/>
          </a:xfrm>
          <a:prstGeom prst="roundRect">
            <a:avLst>
              <a:gd name="adj" fmla="val 12195"/>
            </a:avLst>
          </a:prstGeom>
          <a:solidFill>
            <a:srgbClr val="FFF4DC"/>
          </a:solidFill>
          <a:ln/>
        </p:spPr>
      </p:sp>
      <p:sp>
        <p:nvSpPr>
          <p:cNvPr id="45" name="Text 42"/>
          <p:cNvSpPr txBox="1"/>
          <p:nvPr/>
        </p:nvSpPr>
        <p:spPr>
          <a:xfrm>
            <a:off x="7699248" y="4572000"/>
            <a:ext cx="3803904" cy="749808"/>
          </a:xfrm>
          <a:prstGeom prst="rect">
            <a:avLst/>
          </a:prstGeom>
          <a:noFill/>
          <a:ln/>
        </p:spPr>
        <p:txBody>
          <a:bodyPr wrap="square" lIns="0" tIns="0" rIns="0" bIns="0" rtlCol="0" anchor="ctr">
            <a:normAutofit/>
          </a:bodyPr>
          <a:lstStyle/>
          <a:p>
            <a:pPr indent="0" marL="0">
              <a:buNone/>
            </a:pPr>
            <a:r>
              <a:rPr lang="en-US" sz="1250" b="1" dirty="0">
                <a:solidFill>
                  <a:srgbClr val="12213A"/>
                </a:solidFill>
                <a:latin typeface="Calibri" pitchFamily="34" charset="0"/>
                <a:ea typeface="Calibri" pitchFamily="34" charset="-122"/>
                <a:cs typeface="Calibri" pitchFamily="34" charset="-120"/>
              </a:rPr>
              <a:t>Real world: </a:t>
            </a:r>
            <a:pPr indent="0" marL="0">
              <a:buNone/>
            </a:pPr>
            <a:r>
              <a:rPr lang="en-US" sz="1250" dirty="0">
                <a:solidFill>
                  <a:srgbClr val="12213A"/>
                </a:solidFill>
                <a:latin typeface="Calibri" pitchFamily="34" charset="0"/>
                <a:ea typeface="Calibri" pitchFamily="34" charset="-122"/>
                <a:cs typeface="Calibri" pitchFamily="34" charset="-120"/>
              </a:rPr>
              <a:t>Real investigations chain small steps exactly like this: identify, peel a layer, check, repeat.</a:t>
            </a:r>
            <a:endParaRPr lang="en-US" sz="1250" dirty="0"/>
          </a:p>
        </p:txBody>
      </p:sp>
      <p:sp>
        <p:nvSpPr>
          <p:cNvPr id="46" name="Shape 43"/>
          <p:cNvSpPr/>
          <p:nvPr/>
        </p:nvSpPr>
        <p:spPr>
          <a:xfrm>
            <a:off x="7543800" y="5413248"/>
            <a:ext cx="4096512" cy="566928"/>
          </a:xfrm>
          <a:prstGeom prst="roundRect">
            <a:avLst>
              <a:gd name="adj" fmla="val 16129"/>
            </a:avLst>
          </a:prstGeom>
          <a:solidFill>
            <a:srgbClr val="F1F5FB"/>
          </a:solidFill>
          <a:ln/>
        </p:spPr>
      </p:sp>
      <p:sp>
        <p:nvSpPr>
          <p:cNvPr id="47" name="Text 44"/>
          <p:cNvSpPr txBox="1"/>
          <p:nvPr/>
        </p:nvSpPr>
        <p:spPr>
          <a:xfrm>
            <a:off x="7699248" y="5413248"/>
            <a:ext cx="3803904" cy="566928"/>
          </a:xfrm>
          <a:prstGeom prst="rect">
            <a:avLst/>
          </a:prstGeom>
          <a:noFill/>
          <a:ln/>
        </p:spPr>
        <p:txBody>
          <a:bodyPr wrap="square" lIns="0" tIns="0" rIns="0" bIns="0" rtlCol="0" anchor="ctr">
            <a:normAutofit/>
          </a:bodyPr>
          <a:lstStyle/>
          <a:p>
            <a:pPr indent="0" marL="0">
              <a:buNone/>
            </a:pPr>
            <a:r>
              <a:rPr lang="en-US" sz="1150" b="1" dirty="0">
                <a:solidFill>
                  <a:srgbClr val="B4233F"/>
                </a:solidFill>
                <a:latin typeface="Calibri" pitchFamily="34" charset="0"/>
                <a:ea typeface="Calibri" pitchFamily="34" charset="-122"/>
                <a:cs typeface="Calibri" pitchFamily="34" charset="-120"/>
              </a:rPr>
              <a:t>Stretch: </a:t>
            </a:r>
            <a:pPr indent="0" marL="0">
              <a:buNone/>
            </a:pPr>
            <a:r>
              <a:rPr lang="en-US" sz="1150" dirty="0">
                <a:solidFill>
                  <a:srgbClr val="12213A"/>
                </a:solidFill>
                <a:latin typeface="Calibri" pitchFamily="34" charset="0"/>
                <a:ea typeface="Calibri" pitchFamily="34" charset="-122"/>
                <a:cs typeface="Calibri" pitchFamily="34" charset="-120"/>
              </a:rPr>
              <a:t>Which single step would have been impossible without the wordlist? Why?</a:t>
            </a:r>
            <a:endParaRPr lang="en-US" sz="1150" dirty="0"/>
          </a:p>
        </p:txBody>
      </p:sp>
      <p:sp>
        <p:nvSpPr>
          <p:cNvPr id="48" name="Text 45"/>
          <p:cNvSpPr txBox="1"/>
          <p:nvPr/>
        </p:nvSpPr>
        <p:spPr>
          <a:xfrm>
            <a:off x="548640" y="6016752"/>
            <a:ext cx="6720840" cy="274320"/>
          </a:xfrm>
          <a:prstGeom prst="rect">
            <a:avLst/>
          </a:prstGeom>
          <a:noFill/>
          <a:ln/>
        </p:spPr>
        <p:txBody>
          <a:bodyPr wrap="square" lIns="0" tIns="0" rIns="0" bIns="0" rtlCol="0" anchor="t"/>
          <a:lstStyle/>
          <a:p>
            <a:pPr indent="0" marL="0">
              <a:buNone/>
            </a:pPr>
            <a:r>
              <a:rPr lang="en-US" sz="1100" dirty="0">
                <a:solidFill>
                  <a:srgbClr val="56657E"/>
                </a:solidFill>
                <a:latin typeface="Calibri" pitchFamily="34" charset="0"/>
                <a:ea typeface="Calibri" pitchFamily="34" charset="-122"/>
                <a:cs typeface="Calibri" pitchFamily="34" charset="-120"/>
              </a:rPr>
              <a:t>Keys, keywords and flags change on every computer.</a:t>
            </a:r>
            <a:endParaRPr lang="en-US" sz="1100" dirty="0"/>
          </a:p>
        </p:txBody>
      </p:sp>
      <p:sp>
        <p:nvSpPr>
          <p:cNvPr id="49" name="Text 46"/>
          <p:cNvSpPr txBox="1"/>
          <p:nvPr/>
        </p:nvSpPr>
        <p:spPr>
          <a:xfrm>
            <a:off x="8534095" y="6400800"/>
            <a:ext cx="3108960" cy="274320"/>
          </a:xfrm>
          <a:prstGeom prst="rect">
            <a:avLst/>
          </a:prstGeom>
          <a:noFill/>
          <a:ln/>
        </p:spPr>
        <p:txBody>
          <a:bodyPr wrap="square" lIns="0" tIns="0" rIns="0" bIns="0" rtlCol="0" anchor="ctr"/>
          <a:lstStyle/>
          <a:p>
            <a:pPr algn="r" indent="0" marL="0">
              <a:buNone/>
            </a:pPr>
            <a:r>
              <a:rPr lang="en-US" sz="1000" dirty="0">
                <a:solidFill>
                  <a:srgbClr val="56657E"/>
                </a:solidFill>
                <a:latin typeface="Calibri" pitchFamily="34" charset="0"/>
                <a:ea typeface="Calibri" pitchFamily="34" charset="-122"/>
                <a:cs typeface="Calibri" pitchFamily="34" charset="-120"/>
              </a:rPr>
              <a:t>Crypto CTF   ·   61 / 61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CyberQuest Crypto CTF: crack the codes, then compete</dc:title>
  <dc:subject>PptxGenJS Presentation</dc:subject>
  <dc:creator>CyberQuest Academy</dc:creator>
  <cp:lastModifiedBy>CyberQuest Academy</cp:lastModifiedBy>
  <cp:revision>1</cp:revision>
  <dcterms:created xsi:type="dcterms:W3CDTF">2026-10-10T02:24:32Z</dcterms:created>
  <dcterms:modified xsi:type="dcterms:W3CDTF">2026-10-10T02:24:32Z</dcterms:modified>
</cp:coreProperties>
</file>