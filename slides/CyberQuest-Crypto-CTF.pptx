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3b4fa2-fb8d-91f4-e949-d0fd2fc63935}">
          <p14:sldIdLst>
            <p14:sldId id="256"/>
            <p14:sldId id="257"/>
            <p14:sldId id="258"/>
          </p14:sldIdLst>
        </p14:section>
        <p14:section name="Part 1 · Crypto fundamentals" id="{a1620131-2899-0ba6-59a9-4674153da73a}">
          <p14:sldIdLst>
            <p14:sldId id="259"/>
            <p14:sldId id="260"/>
            <p14:sldId id="261"/>
            <p14:sldId id="262"/>
            <p14:sldId id="263"/>
            <p14:sldId id="264"/>
            <p14:sldId id="265"/>
          </p14:sldIdLst>
        </p14:section>
        <p14:section name="Part 2 · Codebreaker's toolkit" id="{1dbcaf9f-43dc-44ff-a311-5aa70ccd31f2}">
          <p14:sldIdLst>
            <p14:sldId id="266"/>
            <p14:sldId id="267"/>
            <p14:sldId id="268"/>
            <p14:sldId id="269"/>
            <p14:sldId id="270"/>
            <p14:sldId id="271"/>
            <p14:sldId id="272"/>
            <p14:sldId id="273"/>
            <p14:sldId id="274"/>
            <p14:sldId id="275"/>
            <p14:sldId id="276"/>
          </p14:sldIdLst>
        </p14:section>
        <p14:section name="Part 3 · Rules and warm-up" id="{f1ab0e58-f99b-8a19-9ae3-faed619ea192}">
          <p14:sldIdLst>
            <p14:sldId id="277"/>
            <p14:sldId id="278"/>
            <p14:sldId id="279"/>
            <p14:sldId id="280"/>
            <p14:sldId id="281"/>
            <p14:sldId id="282"/>
          </p14:sldIdLst>
        </p14:section>
        <p14:section name="Missions 1–2 · Together" id="{4ab58686-40b0-bc1b-18dd-88253d28d92b}">
          <p14:sldIdLst>
            <p14:sldId id="283"/>
            <p14:sldId id="284"/>
            <p14:sldId id="285"/>
            <p14:sldId id="286"/>
          </p14:sldIdLst>
        </p14:section>
        <p14:section name="Missions 3–10 · The race" id="{e6b5d266-1747-d8f7-011e-22768665ca6c}">
          <p14:sldIdLst>
            <p14:sldId id="287"/>
            <p14:sldId id="288"/>
            <p14:sldId id="289"/>
            <p14:sldId id="290"/>
            <p14:sldId id="291"/>
            <p14:sldId id="292"/>
            <p14:sldId id="293"/>
            <p14:sldId id="294"/>
            <p14:sldId id="295"/>
            <p14:sldId id="296"/>
            <p14:sldId id="297"/>
            <p14:sldId id="298"/>
            <p14:sldId id="299"/>
            <p14:sldId id="300"/>
            <p14:sldId id="301"/>
            <p14:sldId id="302"/>
          </p14:sldIdLst>
        </p14:section>
        <p14:section name="Part 3 · After the race" id="{e35db00e-1d15-2b9e-c51c-dfa6d0fbce6d}">
          <p14:sldIdLst>
            <p14:sldId id="303"/>
            <p14:sldId id="304"/>
          </p14:sldIdLst>
        </p14:section>
        <p14:section name="Part 4 · Debrief" id="{f36b4b2c-18be-b28a-4f1b-9d6397cca925}">
          <p14:sldIdLst>
            <p14:sldId id="305"/>
            <p14:sldId id="306"/>
            <p14:sldId id="307"/>
            <p14:sldId id="308"/>
            <p14:sldId id="309"/>
          </p14:sldIdLst>
        </p14:section>
        <p14:section name="Mentor appendix" id="{a3230821-c4d9-1762-8dca-1e4fbe621944}">
          <p14:sldIdLst>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where you meet cryptography at work.
Promise: 'In the next 90 minutes you will learn how secret codes work, how codebreakers crack them, then compete for 2,700 points against the clock.'
Before class: the Crypto CTF link is written on the 'Open the CTF' slide in the appendix, and you have watched it reach 'Ready' on a student Chromebook on the school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Crypto fundamentals 10 min, Part 2 the codebreaker's toolkit 25 min (open the Crypto CTF at the start: see the mentor appendix), Part 3 compete 42 min, Part 4 debrief 10 min.
Part 2 teaches the tools in exactly the order the missions need them.
Students who played the Linux CTF will recognise the page. Nobody needs to have played it first: every command is taught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In a crypto CTF, every flag is hidden inside a code or a cipher. Work out what you are looking at, undo it, submit the flag.
Read the flag anatomy out loud. Every flag starts with CYBA and has its secret between curly braces. That known start is a codebreaker's gift: it tells you when a guess is right.
Stress permission: breaking codes you were handed in a CTF is practice. Breaking someone else's is a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Ask: 'Who has ever written a secret message to a friend?' Most hands go up. That is cryptography.
The command on screen is ROT13: you will learn it in Part 2. (It prints Hello.)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fast tour. Each step was invented because the previous one got broken.
Atbash (around 500 BC): flip the alphabet. Appears in Hebrew scripture. No key at all.
Caesar (around 50 BC): Julius Caesar shifted letters by 3 to write to his generals.
Vigenère (1553): first described by Giovan Battista Bellaso, later credited to Blaise de Vigenère. A keyword sets a different shift per letter. Called 'the indecipherable cipher' for about 300 years.
Enigma (1940s): German machine cipher broken at Bletchley Park by Alan Turing, Joan Clarke and team; historians credit it with shortening the war.
Public-key (1976–77): Diffie and Hellman, then Rivest, Shamir and Adleman (RSA). Two strangers can agree on a secret in public. This made online shopping possible.
Today: HTTPS, end-to-end messaging and AES protect billions of conversations a day.
Point out: missions 3, 4, 5 and 9 use the first three ciphers on this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idea of the session. Every mission today is one of these three.
Encoding (base64, hex, Morse): changes how data looks. No key. Anyone can reverse it. Used to move data safely, never to keep secrets.
Encryption (Caesar, Vigenère, XOR, AES): needs a key. Without the key you either find it (missions 9 and 10) or try every key (missions 4 and 8).
Hashing (SHA-256): a one-way fingerprint. You cannot reverse it; you can only hash guesses and compare (missions 7 and 10).
Ask: 'Which one would you use to store passwords?' Hashing: the site never needs the password back, only to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Students use strong cryptography dozens of times a day without noticing.
HTTPS: the padlock in the browser. Messaging apps with end-to-end encryption. Your phone's lock screen encrypts the storage. Sites store a hash of your password, not the password. Wi-Fi uses WPA2/WPA3. Contactless payments sign each transaction.
Ask: 'What did you do this morning that used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means trying every key. Whether that works depends only on how many keys there are.
Caesar: 25 keys. A human can try them all in minutes; a computer in microseconds. (Mission 4.)
Single-byte XOR: 255 keys. Still instant. (Mission 8.)
A 6-letter Vigenère keyword: 26 to the 6th, about 309 million. A laptop gets through that, but not by hand, and longer keywords grow fast. That's why in Mission 9 we find the key instead.
AES-128: 2 to the 128th, about 3.4 × 10^38 keys. Every computer on Earth working together would need far longer than the age of the universe.
The lesson: real crypto isn't broken by guessing keys. It's broken by stealing keys, weak passwords and bad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every crypto CTF is recognising the method. Teach these six fingerprints; students will use this slide all through the race.
Base64: letters, digits, + and /, often ending in = or ==. Length a multiple of 4.
Hex: only 0–9 and a–f, an even number of characters.
Morse: only dots, dashes, spaces and slashes.
Caesar or ROT13: real-looking punctuation and word lengths, nonsense letters. A flag shape like XXXX{...}.
Atbash: same look as Caesar. If caesar all finds nothing, try the mirror.
SHA-256: exactly 64 hex characters.
Leave this slide up during the race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three flags captured, Mission 4 (Hail Caesar) open, and the brute force running in the terminal.
Walk the eight parts. It is the same page as the Linux CTF, so students who played that one already know it. The Crypto CTF tag is top left; the 'Linux CTF' link switches games (it starts a new game, so don't click it mid-race).
The most common problem in class is typing before clicking inside the terminal.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Open the Crypto CTF now (mentor appendix: 'Open the CTF'), so every device is booted for the Try it pills.
Demo every command live on the projector. Then give the room 30 seconds to type the green Try it command themselves.
None of the Try it commands touch the mission folders, so nothing gets spoiled.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encodings, two tools. Both are 'encode one way, decode the other' with no key.
base64 turns any data into 64 safe characters. base64 -d decodes. The = at the end is padding.
Hex writes each byte as two characters from 0–9 and a–f. xxd shows hex; xxd -r -p turns plain hex back into text. -r means reverse, -p means plain (no addresses).
Have students run the Try it, then decode it again: echo aGkK | base64 -d.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 (translate) swaps characters one for one: every character of the first set becomes the matching character of the second set.
ROT13: A-Z becomes N-Z then A-M (13 places on). Add the same for lowercase.
Atbash: the second set is the alphabet backwards.
tr only reads input, never a file name: pipe text in with |, or feed a file with &lt;. Quote both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key space is small, don't guess: try them all and let grep find the readable one.
caesar N shifts by N; caesar all prints all 25 shifts, one line each.
xor all does the same for single-byte XOR: 255 lines, one per key.
The trick that makes it fast: we know the answer contains CYBA. Pipe into grep CYBA and only the right line survives. That 'known plaintext' trick broke Enigma too: the codebreakers guessed words like weather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Morse code is an encoding from the 1830s: each letter is a pattern of short (.) and long (-) signals. Letters are separated by spaces, words by /.
morse FILE decodes; morse -e encodes. Morse has only capital letters and digits: no punctuation, no curly braces. That's why Mission 6 tells you how to build the flag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 function turns any text into a fixed-length fingerprint. SHA-256 always gives 64 hex characters.
Same input, same hash, every time. Change one letter and the whole hash changes. And there is no 'unhash'.
So how do we crack one? Guess. Hash every candidate from a list and compare. hashlines does that for every line of a file. This is exactly how real password cracking works, which is why long, unusual passwords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XOR compares two bits: 1 if they differ, 0 if they're the same. XOR a byte with a key to hide it; XOR with the same key again to get it back.
Real ciphers like AES use XOR inside, with huge keys. Mission 8 uses a single byte as the key: only 255 possibilities, so it is brute-forced exactly like Caesar.
xor -e KEY encodes text to hex; xor KEY decodes hex; xor all tries every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Vigenère is Caesar with a different shift for each letter. The keyword repeats under the message; each keyword letter says how far to shift (A = 0, B = 1, ... Z = 25).
Example: ATTACK with LEMON. A+L = L, T+E = X, T+M = F, A+O = O, C+N = P, K+L = V. Notice the two Ts become different letters: that's what beat simple frequency analysis for 300 years.
Too many keys to try by hand, so in Mission 9 we find the keyword instead. vigenere -e KEY encrypts, vigenere -d KEY decrypts.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 sends one command's output straight into the next. In crypto CTFs, layers are common: base64 on the outside, a cipher inside. Peel them one pipe at a time.
Build the chain step by step: run the first command, look at the output, identify it, add the next tool. Never type the whole chain at once.
Mission 10 is three layers. Mission 9 is two steps in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three-step routine as every CTF.
1. --help is free and is usually enough: every tool in this CTF explains itself. man has the long manual for real Linux tools.
2. Go back to the identify slide: what does the text look like?
3. hint N costs 5% of that mission's points, charged once per hint. Harder missions have several hints, each more direct. hint N shows the price; hint N --show buys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photograph. Every tool, which mission it powers, and the --help that explains it.
base64, xxd, tr and sha256sum are standard Linux tools you'll find on any server. caesar, morse, xor, vigenere and hashlines are small helpers built into this CTF, written as short shell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come from difficulty, on CyberQuest's scale: Easy 100, Medium 200, Hard 400, Very Hard 800. The ten missions are worth 2,700, plus 50 bonus points for the optional warm-up. Mission 10, the Vault, is the one Very Hard.
The clock counts UP. It waits during the warm-up, starts with Mission 1, and stops when you capture the last flag.
Ranking: most points wins; on a tie, the faster time wins. Hints cost 5% of the mission's points each, charged once. Wrong flags cost nothing: encourage trying.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same for every mission. Drill it now so that the only new thing in each round is the cipher.
Say it together: Identify. Decode. Check. Copy. Submit.
Check is the crypto-specific step: readable English and CYBA{ at the start means you cracked it. Gibberish means wrong tool or wrong key; go back to Identify.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orientation.txt in the home folder explains the game: how to read a mission's instructions, what a flag looks like, how to submit it, what the replies mean, how hints work, and a list of the crypto toolkit. Its last line is the warm-up flag.
Optional and untimed: worth 50 bonus points, and the sidebar has a Skip warm-up button. The clock only starts with Mission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Missions 1 and 2 are guided ('We do'): the class tells the mentor what to type and everyone captures together.
Missions 3 to 10 are a race ('You do'): show the brief slide, ask the questions, then let teams go. Reveal each walkthrough once most teams have the flag, or when the room is stuck.
Mentors walk the room: point at the identify slide and --help, ask questions, don't type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Notice the order follows the toolkit from Part 2, and history runs roughly forward: encodings, then classical ciphers, then hashes and XOR, then keyed ciphers.
Suggested pacing: the warm-up together in 3 minutes, missions 1 and 2 together in 10, then the race. Most teams reach Mission 8 or 9 in 35 minutes; the Vault is for the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Not so secret   [Easy, 100 points, We do, about 5 minutes]
Show this slide first. Read the brief out loud, then ask the three questions BEFORE anyone types. Take one answer per question; do not confirm or correct yet.
The lesson of the day starts here: encoding is not encryption. Base64 has no key, so anyone can undo it.
If a student tries base64 --decode, that works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Not so secret
Guided mission: crack it live with the class calling out commands, then use this slide to recap.
The slide never shows a real flag: every computer has its own keys and flags, so students still have to run the commands themselves.
Ask one student to explain the three steps in their own words. Offer the stretch question to anyone who finished early.
The lesson of the day starts here: encoding is not encryption. Base64 has no key, so anyone can undo it.
If a student tries base64 --decode, that works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Hex marks the spot   [Easy, 100 points, We do, about 5 minutes]
Show this slide first. Read the brief out loud, then ask the three questions BEFORE anyone types. Take one answer per question; do not confirm or correct yet.
If students forget -p, xxd expects addresses and prints nothing useful. That is a good teaching moment: read --help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Hex marks the spot
Guided mission: crack it live with the class calling out commands, then use this slide to recap.
The slide never shows a real flag: every computer has its own keys and flags, so students still have to run the commands themselves.
Ask one student to explain the three steps in their own words. Offer the stretch question to anyone who finished early.
If students forget -p, xxd expects addresses and prints nothing useful. That is a good teaching moment: read --help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Thirteen steps   [Easy, 100 points, You do, about 4 minutes]
Show this slide first. Read the brief out loud, then ask the three questions BEFORE anyone types. Take one answer per question; do not confirm or correct yet.
The quotes matter: without them some shells expand the brackets. Uppercase and lowercase need their own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Thirteen steps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The quotes matter: without them some shells expand the brackets. Uppercase and lowercase need their own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Hail Caesar   [Medium, 200 points, You do, about 5 minutes]
Show this slide first. Read the brief out loud, then ask the three questions BEFORE anyone types. Take one answer per question; do not confirm or correct yet.
This is the first 'unknown key' mission. Make the point: a key space of 25 is no protection at all.
The shift is random on every load (never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Hail Caesar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This is the first 'unknown key' mission. Make the point: a key space of 25 is no protection at all.
The shift is random on every load (never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Mirror, mirror   [Medium, 200 points, You do, about 4 minutes]
Show this slide first. Read the brief out loud, then ask the three questions BEFORE anyone types. Take one answer per question; do not confirm or correct yet.
The second set must be typed in full (26 uppercase, then 26 lowercase), all on one line. Typos here are the usual problem: count the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Mirror, mirror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The second set must be typed in full (26 uppercase, then 26 lowercase), all on one line. Typos here are the usual problem: count the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Dots and dashes   [Medium, 200 points, You do, about 4 minutes]
Show this slide first. Read the brief out loud, then ask the three questions BEFORE anyone types. Take one answer per question; do not confirm or correct yet.
The most common mistake: forgetting to lowercase the code. The README says so. Point there, don't answer.
The code shown on this slide is an example; every computer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Dots and dashes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The most common mistake: forgetting to lowercase the code. The README says so. Point there, don't answer.
The code shown on this slide is an example; every computer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Fingerprints   [Medium, 200 points, You do, about 5 minutes]
Show this slide first. Read the brief out loud, then ask the three questions BEFORE anyone types. Take one answer per question; do not confirm or correct yet.
In real-Linux mode hashlines takes 15 to 25 seconds for 100 lines: it runs sha256sum once per line. Tell teams to wait for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Fingerprints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In real-Linux mode hashlines takes 15 to 25 seconds for 100 lines: it runs sha256sum once per line. Tell teams to wait for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XOR marks   [Hard, 400 points, You do, about 5 minutes]
Show this slide first. Read the brief out loud, then ask the three questions BEFORE anyone types. Take one answer per question; do not confirm or correct yet.
The key is random each load. The newline shows as a dot in xor all; that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XOR marks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The key is random each load. The newline shows as a dot in xor all; that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Keyed up   [Hard, 400 points, You do, about 6 minutes]
Show this slide first. Read the brief out loud, then ask the three questions BEFORE anyone types. Take one answer per question; do not confirm or correct yet.
The keyword is one of eight, picked at random: FALCON, ORCHID, JUPITER, GLACIER, PHOENIX, LANTERN, COMPASS, HARBOR.
The big idea: key management. The cipher held; the key leaked.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Keyed up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The keyword is one of eight, picked at random: FALCON, ORCHID, JUPITER, GLACIER, PHOENIX, LANTERN, COMPASS, HARBOR.
The big idea: key management. The cipher held; the key leaked.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The vault   [Very Hard, 800 points, You do, about 8 minutes]
Show this slide first. Read the brief out loud, then ask the three questions BEFORE anyone types. Take one answer per question; do not confirm or correct yet.
The keyword is one of 100 words, picked at random each load. 'otter' on this slide is an example.
If students type $(...) in lite mode it will not work: they can type the first 8 characters of the hash by hand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The vault
Race mission: reveal this slide only after most teams have the flag, or when the room is stuck.
The slide never shows a real flag: every computer has its own keys and flags, so students still have to run the commands themselves.
Ask one student to explain the three steps in their own words. Offer the stretch question to anyone who finished early.
The keyword is one of 100 words, picked at random each load. 'otter' on this slide is an example.
If students type $(...) in lite mode it will not work: they can type the first 8 characters of the hash by hand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teams compare answers out loud.
Letter detective: frequency analysis is how Caesar and substitution ciphers were broken for 1,000 years (al-Kindi, 9th century). In English the most common letter is E. In ~/mission4, fold -w1 message.txt | grep '[a-z]' | sort | uniq -c | sort -n | tail -3 shows the most common cipher letters. Is the top one the shift of E? Usually not: the message is too short. That is the lesson: frequency analysis needs lots of text.
Secret notes: encrypt a message with vigenere -e and a keyword, write the ciphertext on paper, and whisper the keyword to the next team.
Hash race: how many words in ~/mission10/words.txt have a SHA-256 starting with 0? hashlines words.txt | grep '^0' | wc -l gives 7 (cedar, cinder, drift, fable, kestrel, phoenix, raven). Same on every computer. About 1 in 16 is expected: hashes look random.
Two layers: make your own two-layer puzzle (e.g. tr ROT13 then base64) and swap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last flag lands, the clock stops and the sidebar turns into the finish screen.
Points per mission and the total. 'Took' is how long each flag took since the previous one: the biggest Took shows which cipher slowed you down. 'Time' is the clock reading at each submit.
Replay quest builds a brand-new computer with new keys and new flags. Can you beat your time?
The times in this screenshot are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run the command on this slide. It prints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takeaway: every cipher today was broken centuries ago. Never use them to protect anything real.
Real systems use vetted algorithms (AES, ChaCha20, SHA-256, RSA/elliptic curves) from well-tested libraries. Rule number one in security engineering: don't invent your own crypto.
And real attacks rarely break the maths. They steal keys, guess weak passwords, or exploit mistakes, just like Mission 9 (a leaked keyword) and Mission 10 (a keyword from a wordlist).
Ask: 'After today, how would you choose a password?' Long, unusual, not a dictionary word: Mission 10 cracked a dictionary word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technique the class used today.
Ask students to count the stamps they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meeting encodings, hashes or keys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students can do tomorrow, for free.
CyberQuest Academy is where the next challenges live: fill in the link. The Crypto CTF works at home on any computer; every replay has new keys and new flags. CyberChef (GCHQ's free 'cyber Swiss army knife' in the browser) is a great tool for exploring encodings.
Thank the class and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The Crypto CTF lives in the same GitLab project as the Linux CTF, in public/crypto/. It reuses the same emulator and page code; only the missions, the tools and the Linux image differ.
Real-Linux mode boots v86 with crypto.cpio.gz: BusyBox plus five helper scripts (caesar, morse, xor, vigenere, hashlines) in /bin. Every boot generates random flags, random Caesar shift and XOR key, and a random keyword for missions 9 and 10. Only SHA-256 hashes of the flags are kept, so there is no answer file.
Lite mode (no WebAssembly) is a JavaScript simulated shell with the same missions and the same tools.
Rebuild after editing missions: python3 guest-crypto/make-crypto.py, then guest-crypto/build.sh.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so every device is booted for the Try it pills.
WRITE YOUR ADDRESS IN THE BOX before presenting. It is your GitLab Pages address with /crypto/ on the end. The Linux CTF page also has a 'Crypto CTF' link in its header.
Most important rule: do not reload the page. A reload builds a new computer with new keys and flags, and resets the clock and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shifts, XOR keys and keywords are random on every page load and the CTF keeps only fingerprints, so there is no list of flags: play each mission yourself before class.
Mission 9 keywords: FALCON ORCHID JUPITER GLACIER PHOENIX LANTERN COMPASS HARBOR. Mission 10 keyword: one of the 100 words in words.txt.
In lite mode $(...) is not supported: type the first 8 characters of the hash instead of $(cut -c1-8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the same as the Linux CTF: the school web filter, Pages visibility, or typing before clicking the terminal. The crypto-specific ones are below.
Plan B if most devices can't load it: drive the CTF on the projector and run the competition as 'We do', with teams racing to call out the next command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indent="0" marL="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indent="0" marL="0">
              <a:buNone/>
            </a:pPr>
            <a:r>
              <a:rPr lang="en-US" sz="2800" dirty="0">
                <a:solidFill>
                  <a:srgbClr val="B8C4D9"/>
                </a:solidFill>
                <a:latin typeface="Calibri" pitchFamily="34" charset="0"/>
                <a:ea typeface="Calibri" pitchFamily="34" charset="-122"/>
                <a:cs typeface="Calibri" pitchFamily="34" charset="-120"/>
              </a:rPr>
              <a:t>Crypto CTF: crack the codes,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sp>
      <p:sp>
        <p:nvSpPr>
          <p:cNvPr id="8" name="Text 5"/>
          <p:cNvSpPr txBox="1"/>
          <p:nvPr/>
        </p:nvSpPr>
        <p:spPr>
          <a:xfrm>
            <a:off x="548640" y="3794760"/>
            <a:ext cx="2743200" cy="347472"/>
          </a:xfrm>
          <a:prstGeom prst="rect">
            <a:avLst/>
          </a:prstGeom>
          <a:noFill/>
          <a:ln/>
        </p:spPr>
        <p:txBody>
          <a:bodyPr wrap="square" lIns="0" tIns="0" rIns="0" bIns="0" rtlCol="0" anchor="ctr"/>
          <a:lstStyle/>
          <a:p>
            <a:pPr algn="ctr" indent="0" marL="0">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CyberQuest Academy mentorship session</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sp>
      <p:sp>
        <p:nvSpPr>
          <p:cNvPr id="11" name="Text 8"/>
          <p:cNvSpPr txBox="1"/>
          <p:nvPr/>
        </p:nvSpPr>
        <p:spPr>
          <a:xfrm>
            <a:off x="548640"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sp>
      <p:sp>
        <p:nvSpPr>
          <p:cNvPr id="13" name="Text 10"/>
          <p:cNvSpPr txBox="1"/>
          <p:nvPr/>
        </p:nvSpPr>
        <p:spPr>
          <a:xfrm>
            <a:off x="1104595"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sp>
      <p:sp>
        <p:nvSpPr>
          <p:cNvPr id="15" name="Text 12"/>
          <p:cNvSpPr txBox="1"/>
          <p:nvPr/>
        </p:nvSpPr>
        <p:spPr>
          <a:xfrm>
            <a:off x="1660550"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sp>
      <p:sp>
        <p:nvSpPr>
          <p:cNvPr id="17" name="Text 14"/>
          <p:cNvSpPr txBox="1"/>
          <p:nvPr/>
        </p:nvSpPr>
        <p:spPr>
          <a:xfrm>
            <a:off x="2216506"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sp>
      <p:sp>
        <p:nvSpPr>
          <p:cNvPr id="19" name="Text 16"/>
          <p:cNvSpPr txBox="1"/>
          <p:nvPr/>
        </p:nvSpPr>
        <p:spPr>
          <a:xfrm>
            <a:off x="2772461"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sp>
      <p:sp>
        <p:nvSpPr>
          <p:cNvPr id="21" name="Text 18"/>
          <p:cNvSpPr txBox="1"/>
          <p:nvPr/>
        </p:nvSpPr>
        <p:spPr>
          <a:xfrm>
            <a:off x="3328416"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sp>
      <p:sp>
        <p:nvSpPr>
          <p:cNvPr id="23" name="Text 20"/>
          <p:cNvSpPr txBox="1"/>
          <p:nvPr/>
        </p:nvSpPr>
        <p:spPr>
          <a:xfrm>
            <a:off x="3884371"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sp>
      <p:sp>
        <p:nvSpPr>
          <p:cNvPr id="25" name="Text 22"/>
          <p:cNvSpPr txBox="1"/>
          <p:nvPr/>
        </p:nvSpPr>
        <p:spPr>
          <a:xfrm>
            <a:off x="4440326"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sp>
      <p:sp>
        <p:nvSpPr>
          <p:cNvPr id="27" name="Text 24"/>
          <p:cNvSpPr txBox="1"/>
          <p:nvPr/>
        </p:nvSpPr>
        <p:spPr>
          <a:xfrm>
            <a:off x="4996282"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sp>
      <p:sp>
        <p:nvSpPr>
          <p:cNvPr id="29" name="Text 26"/>
          <p:cNvSpPr txBox="1"/>
          <p:nvPr/>
        </p:nvSpPr>
        <p:spPr>
          <a:xfrm>
            <a:off x="5552237" y="5349240"/>
            <a:ext cx="48280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sp>
      <p:sp>
        <p:nvSpPr>
          <p:cNvPr id="31" name="Shape 28"/>
          <p:cNvSpPr/>
          <p:nvPr/>
        </p:nvSpPr>
        <p:spPr>
          <a:xfrm>
            <a:off x="6903720" y="1280160"/>
            <a:ext cx="128016" cy="128016"/>
          </a:xfrm>
          <a:prstGeom prst="ellipse">
            <a:avLst/>
          </a:prstGeom>
          <a:solidFill>
            <a:srgbClr val="E5534B"/>
          </a:solidFill>
          <a:ln/>
        </p:spPr>
      </p:sp>
      <p:sp>
        <p:nvSpPr>
          <p:cNvPr id="32" name="Shape 29"/>
          <p:cNvSpPr/>
          <p:nvPr/>
        </p:nvSpPr>
        <p:spPr>
          <a:xfrm>
            <a:off x="7123176" y="1280160"/>
            <a:ext cx="128016" cy="128016"/>
          </a:xfrm>
          <a:prstGeom prst="ellipse">
            <a:avLst/>
          </a:prstGeom>
          <a:solidFill>
            <a:srgbClr val="F5A623"/>
          </a:solidFill>
          <a:ln/>
        </p:spPr>
      </p:sp>
      <p:sp>
        <p:nvSpPr>
          <p:cNvPr id="33" name="Shape 30"/>
          <p:cNvSpPr/>
          <p:nvPr/>
        </p:nvSpPr>
        <p:spPr>
          <a:xfrm>
            <a:off x="7342632" y="1280160"/>
            <a:ext cx="128016" cy="128016"/>
          </a:xfrm>
          <a:prstGeom prst="ellipse">
            <a:avLst/>
          </a:prstGeom>
          <a:solidFill>
            <a:srgbClr val="46D39A"/>
          </a:solidFill>
          <a:ln/>
        </p:spPr>
      </p:sp>
      <p:sp>
        <p:nvSpPr>
          <p:cNvPr id="34" name="Text 31"/>
          <p:cNvSpPr txBox="1"/>
          <p:nvPr/>
        </p:nvSpPr>
        <p:spPr>
          <a:xfrm>
            <a:off x="6995160" y="1691640"/>
            <a:ext cx="4389120" cy="3749040"/>
          </a:xfrm>
          <a:prstGeom prst="rect">
            <a:avLst/>
          </a:prstGeom>
          <a:noFill/>
          <a:ln/>
        </p:spPr>
        <p:txBody>
          <a:bodyPr wrap="square" lIns="0" tIns="0" rIns="0" bIns="0" rtlCol="0" anchor="t"/>
          <a:lstStyle/>
          <a:p>
            <a:pPr indent="0" marL="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300"/>
              </a:spcAft>
              <a:buNone/>
            </a:pPr>
            <a:r>
              <a:rPr lang="en-US" sz="1800" b="1" dirty="0">
                <a:solidFill>
                  <a:srgbClr val="FFFFFF"/>
                </a:solidFill>
                <a:latin typeface="Courier New" pitchFamily="34" charset="0"/>
                <a:ea typeface="Courier New" pitchFamily="34" charset="-122"/>
                <a:cs typeface="Courier New" pitchFamily="34" charset="-120"/>
              </a:rPr>
              <a:t>cat welcome.txt</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Jrypbzr, pbqroernxre.</a:t>
            </a:r>
            <a:endParaRPr lang="en-US" sz="1800" dirty="0"/>
          </a:p>
          <a:p>
            <a:pPr indent="0" marL="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300"/>
              </a:spcAft>
              <a:buNone/>
            </a:pPr>
            <a:r>
              <a:rPr lang="en-US" sz="1800" b="1" dirty="0">
                <a:solidFill>
                  <a:srgbClr val="FFFFFF"/>
                </a:solidFill>
                <a:latin typeface="Courier New" pitchFamily="34" charset="0"/>
                <a:ea typeface="Courier New" pitchFamily="34" charset="-122"/>
                <a:cs typeface="Courier New" pitchFamily="34" charset="-120"/>
              </a:rPr>
              <a:t>caesar 13 welcome.txt</a:t>
            </a:r>
            <a:endParaRPr lang="en-US" sz="1800" dirty="0"/>
          </a:p>
          <a:p>
            <a:pPr indent="0" marL="0">
              <a:spcAft>
                <a:spcPts val="300"/>
              </a:spcAft>
              <a:buNone/>
            </a:pPr>
            <a:r>
              <a:rPr lang="en-US" sz="1800" b="1" dirty="0">
                <a:solidFill>
                  <a:srgbClr val="46D39A"/>
                </a:solidFill>
                <a:latin typeface="Courier New" pitchFamily="34" charset="0"/>
                <a:ea typeface="Courier New" pitchFamily="34" charset="-122"/>
                <a:cs typeface="Courier New" pitchFamily="34" charset="-120"/>
              </a:rPr>
              <a:t>Welcome, codebreaker.</a:t>
            </a:r>
            <a:endParaRPr lang="en-US" sz="1800" dirty="0"/>
          </a:p>
          <a:p>
            <a:pPr indent="0" marL="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indent="0" marL="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300"/>
              </a:spcAft>
              <a:buNone/>
            </a:pPr>
            <a:r>
              <a:rPr lang="en-US" sz="1800" b="1" dirty="0">
                <a:solidFill>
                  <a:srgbClr val="FFFFFF"/>
                </a:solidFill>
                <a:latin typeface="Courier New" pitchFamily="34" charset="0"/>
                <a:ea typeface="Courier New" pitchFamily="34" charset="-122"/>
                <a:cs typeface="Courier New" pitchFamily="34" charset="-120"/>
              </a:rPr>
              <a:t>./start-ctf</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10 ciphers, plus a warm-up</a:t>
            </a:r>
            <a:endParaRPr lang="en-US" sz="1800" dirty="0"/>
          </a:p>
          <a:p>
            <a:pPr indent="0" marL="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indent="0" marL="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sp>
      <p:sp>
        <p:nvSpPr>
          <p:cNvPr id="7" name="Text 4"/>
          <p:cNvSpPr txBox="1"/>
          <p:nvPr/>
        </p:nvSpPr>
        <p:spPr>
          <a:xfrm>
            <a:off x="777240" y="1737360"/>
            <a:ext cx="1737360" cy="1051560"/>
          </a:xfrm>
          <a:prstGeom prst="rect">
            <a:avLst/>
          </a:prstGeom>
          <a:noFill/>
          <a:ln/>
        </p:spPr>
        <p:txBody>
          <a:bodyPr wrap="square" lIns="0" tIns="0" rIns="0" bIns="0" rtlCol="0" anchor="ctr"/>
          <a:lstStyle/>
          <a:p>
            <a:pPr indent="0" marL="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17373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Crypto 101</a:t>
            </a:r>
            <a:endParaRPr lang="en-US" sz="2100" dirty="0"/>
          </a:p>
        </p:txBody>
      </p:sp>
      <p:sp>
        <p:nvSpPr>
          <p:cNvPr id="10" name="Text 7"/>
          <p:cNvSpPr txBox="1"/>
          <p:nvPr/>
        </p:nvSpPr>
        <p:spPr>
          <a:xfrm>
            <a:off x="777240"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Where secret codes came from, and the three ways to hide data.</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sp>
      <p:sp>
        <p:nvSpPr>
          <p:cNvPr id="12" name="Text 9"/>
          <p:cNvSpPr txBox="1"/>
          <p:nvPr/>
        </p:nvSpPr>
        <p:spPr>
          <a:xfrm>
            <a:off x="3584448" y="1737360"/>
            <a:ext cx="1737360" cy="1051560"/>
          </a:xfrm>
          <a:prstGeom prst="rect">
            <a:avLst/>
          </a:prstGeom>
          <a:noFill/>
          <a:ln/>
        </p:spPr>
        <p:txBody>
          <a:bodyPr wrap="square" lIns="0" tIns="0" rIns="0" bIns="0" rtlCol="0" anchor="ctr"/>
          <a:lstStyle/>
          <a:p>
            <a:pPr indent="0" marL="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17373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Toolkit</a:t>
            </a:r>
            <a:endParaRPr lang="en-US" sz="2100" dirty="0"/>
          </a:p>
        </p:txBody>
      </p:sp>
      <p:sp>
        <p:nvSpPr>
          <p:cNvPr id="15" name="Text 12"/>
          <p:cNvSpPr txBox="1"/>
          <p:nvPr/>
        </p:nvSpPr>
        <p:spPr>
          <a:xfrm>
            <a:off x="3584448"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Open the CTF, then the codebreaker's tools in the order the missions use them.</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sp>
      <p:sp>
        <p:nvSpPr>
          <p:cNvPr id="17" name="Text 14"/>
          <p:cNvSpPr txBox="1"/>
          <p:nvPr/>
        </p:nvSpPr>
        <p:spPr>
          <a:xfrm>
            <a:off x="6391656" y="1737360"/>
            <a:ext cx="1737360" cy="1051560"/>
          </a:xfrm>
          <a:prstGeom prst="rect">
            <a:avLst/>
          </a:prstGeom>
          <a:noFill/>
          <a:ln/>
        </p:spPr>
        <p:txBody>
          <a:bodyPr wrap="square" lIns="0" tIns="0" rIns="0" bIns="0" rtlCol="0" anchor="ctr"/>
          <a:lstStyle/>
          <a:p>
            <a:pPr indent="0" marL="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17373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Ten ciphers,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sp>
      <p:sp>
        <p:nvSpPr>
          <p:cNvPr id="22" name="Text 19"/>
          <p:cNvSpPr txBox="1"/>
          <p:nvPr/>
        </p:nvSpPr>
        <p:spPr>
          <a:xfrm>
            <a:off x="9198864" y="1737360"/>
            <a:ext cx="1737360" cy="1051560"/>
          </a:xfrm>
          <a:prstGeom prst="rect">
            <a:avLst/>
          </a:prstGeom>
          <a:noFill/>
          <a:ln/>
        </p:spPr>
        <p:txBody>
          <a:bodyPr wrap="square" lIns="0" tIns="0" rIns="0" bIns="0" rtlCol="0" anchor="ctr"/>
          <a:lstStyle/>
          <a:p>
            <a:pPr indent="0" marL="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1737360" cy="457200"/>
          </a:xfrm>
          <a:prstGeom prst="rect">
            <a:avLst/>
          </a:prstGeom>
          <a:noFill/>
          <a:ln/>
        </p:spPr>
        <p:txBody>
          <a:bodyPr wrap="square" lIns="0" tIns="0" rIns="0" bIns="0" rtlCol="0" anchor="t"/>
          <a:lstStyle/>
          <a:p>
            <a:pPr indent="0" marL="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2194560" cy="128016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Real crypto vs puzzle crypto,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sp>
      <p:sp>
        <p:nvSpPr>
          <p:cNvPr id="27" name="Text 2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The deal: </a:t>
            </a:r>
            <a:pPr indent="0" marL="0">
              <a:buNone/>
            </a:pPr>
            <a:r>
              <a:rPr lang="en-US" sz="1700" dirty="0">
                <a:solidFill>
                  <a:srgbClr val="12213A"/>
                </a:solidFill>
                <a:latin typeface="Calibri" pitchFamily="34" charset="0"/>
                <a:ea typeface="Calibri" pitchFamily="34" charset="-122"/>
                <a:cs typeface="Calibri" pitchFamily="34" charset="-120"/>
              </a:rPr>
              <a:t>no maths degree needed. Every cipher today can be cracked with a short command and a good guess.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a crypto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sp>
      <p:sp>
        <p:nvSpPr>
          <p:cNvPr id="7" name="Text 4"/>
          <p:cNvSpPr txBox="1"/>
          <p:nvPr/>
        </p:nvSpPr>
        <p:spPr>
          <a:xfrm>
            <a:off x="548640" y="1508760"/>
            <a:ext cx="11094415" cy="1371600"/>
          </a:xfrm>
          <a:prstGeom prst="rect">
            <a:avLst/>
          </a:prstGeom>
          <a:noFill/>
          <a:ln/>
        </p:spPr>
        <p:txBody>
          <a:bodyPr wrap="square" lIns="0" tIns="0" rIns="0" bIns="0" rtlCol="0" anchor="ctr"/>
          <a:lstStyle/>
          <a:p>
            <a:pPr algn="ctr" indent="0" marL="0">
              <a:buNone/>
            </a:pPr>
            <a:r>
              <a:rPr lang="en-US" sz="2600" b="1" dirty="0">
                <a:solidFill>
                  <a:srgbClr val="7F8FAD"/>
                </a:solidFill>
                <a:latin typeface="Courier New" pitchFamily="34" charset="0"/>
                <a:ea typeface="Courier New" pitchFamily="34" charset="-122"/>
                <a:cs typeface="Courier New" pitchFamily="34" charset="-120"/>
              </a:rPr>
              <a:t>PLON{pnrfne-4p8p640o}</a:t>
            </a:r>
            <a:pPr algn="ctr" indent="0" marL="0">
              <a:buNone/>
            </a:pPr>
            <a:r>
              <a:rPr lang="en-US" sz="2600" b="1" dirty="0">
                <a:solidFill>
                  <a:srgbClr val="56657E"/>
                </a:solidFill>
                <a:latin typeface="Courier New" pitchFamily="34" charset="0"/>
                <a:ea typeface="Courier New" pitchFamily="34" charset="-122"/>
                <a:cs typeface="Courier New" pitchFamily="34" charset="-120"/>
              </a:rPr>
              <a:t>   &gt;   </a:t>
            </a:r>
            <a:pPr algn="ctr" indent="0" marL="0">
              <a:buNone/>
            </a:pPr>
            <a:r>
              <a:rPr lang="en-US" sz="2600" b="1" dirty="0">
                <a:solidFill>
                  <a:srgbClr val="7FB2FF"/>
                </a:solidFill>
                <a:latin typeface="Courier New" pitchFamily="34" charset="0"/>
                <a:ea typeface="Courier New" pitchFamily="34" charset="-122"/>
                <a:cs typeface="Courier New" pitchFamily="34" charset="-120"/>
              </a:rPr>
              <a:t>CYBA</a:t>
            </a:r>
            <a:pPr algn="ctr" indent="0" marL="0">
              <a:buNone/>
            </a:pPr>
            <a:r>
              <a:rPr lang="en-US" sz="2600" b="1" dirty="0">
                <a:solidFill>
                  <a:srgbClr val="F5A623"/>
                </a:solidFill>
                <a:latin typeface="Courier New" pitchFamily="34" charset="0"/>
                <a:ea typeface="Courier New" pitchFamily="34" charset="-122"/>
                <a:cs typeface="Courier New" pitchFamily="34" charset="-120"/>
              </a:rPr>
              <a:t>{</a:t>
            </a:r>
            <a:pPr algn="ctr" indent="0" marL="0">
              <a:buNone/>
            </a:pPr>
            <a:r>
              <a:rPr lang="en-US" sz="2600" b="1" dirty="0">
                <a:solidFill>
                  <a:srgbClr val="46D39A"/>
                </a:solidFill>
                <a:latin typeface="Courier New" pitchFamily="34" charset="0"/>
                <a:ea typeface="Courier New" pitchFamily="34" charset="-122"/>
                <a:cs typeface="Courier New" pitchFamily="34" charset="-120"/>
              </a:rPr>
              <a:t>caesar-4c8c640b</a:t>
            </a:r>
            <a:pPr algn="ctr" indent="0" marL="0">
              <a:buNone/>
            </a:pPr>
            <a:r>
              <a:rPr lang="en-US" sz="2600" b="1" dirty="0">
                <a:solidFill>
                  <a:srgbClr val="F5A623"/>
                </a:solidFill>
                <a:latin typeface="Courier New" pitchFamily="34" charset="0"/>
                <a:ea typeface="Courier New" pitchFamily="34" charset="-122"/>
                <a:cs typeface="Courier New" pitchFamily="34" charset="-120"/>
              </a:rPr>
              <a:t>}</a:t>
            </a:r>
            <a:endParaRPr lang="en-US" sz="2600" dirty="0"/>
          </a:p>
        </p:txBody>
      </p:sp>
      <p:sp>
        <p:nvSpPr>
          <p:cNvPr id="8" name="Shape 5"/>
          <p:cNvSpPr/>
          <p:nvPr/>
        </p:nvSpPr>
        <p:spPr>
          <a:xfrm>
            <a:off x="548640" y="3154680"/>
            <a:ext cx="3566160" cy="1508760"/>
          </a:xfrm>
          <a:prstGeom prst="roundRect">
            <a:avLst>
              <a:gd name="adj" fmla="val 6061"/>
            </a:avLst>
          </a:prstGeom>
          <a:solidFill>
            <a:srgbClr val="F1F5FB"/>
          </a:solidFill>
          <a:ln/>
        </p:spPr>
      </p:sp>
      <p:sp>
        <p:nvSpPr>
          <p:cNvPr id="9" name="Text 6"/>
          <p:cNvSpPr txBox="1"/>
          <p:nvPr/>
        </p:nvSpPr>
        <p:spPr>
          <a:xfrm>
            <a:off x="777240" y="3291840"/>
            <a:ext cx="3108960" cy="365760"/>
          </a:xfrm>
          <a:prstGeom prst="rect">
            <a:avLst/>
          </a:prstGeom>
          <a:noFill/>
          <a:ln/>
        </p:spPr>
        <p:txBody>
          <a:bodyPr wrap="square" lIns="0" tIns="0" rIns="0" bIns="0" rtlCol="0" anchor="t"/>
          <a:lstStyle/>
          <a:p>
            <a:pPr indent="0" marL="0">
              <a:buNone/>
            </a:pPr>
            <a:r>
              <a:rPr lang="en-US" sz="1900" b="1" dirty="0">
                <a:solidFill>
                  <a:srgbClr val="C07A00"/>
                </a:solidFill>
                <a:latin typeface="Courier New" pitchFamily="34" charset="0"/>
                <a:ea typeface="Courier New" pitchFamily="34" charset="-122"/>
                <a:cs typeface="Courier New" pitchFamily="34" charset="-120"/>
              </a:rPr>
              <a:t>Scrambled</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What you're given</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A flag hidden in base64, hex, a cipher or a hash.</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sp>
      <p:sp>
        <p:nvSpPr>
          <p:cNvPr id="13" name="Text 10"/>
          <p:cNvSpPr txBox="1"/>
          <p:nvPr/>
        </p:nvSpPr>
        <p:spPr>
          <a:xfrm>
            <a:off x="4535424" y="3291840"/>
            <a:ext cx="3108960" cy="365760"/>
          </a:xfrm>
          <a:prstGeom prst="rect">
            <a:avLst/>
          </a:prstGeom>
          <a:noFill/>
          <a:ln/>
        </p:spPr>
        <p:txBody>
          <a:bodyPr wrap="square" lIns="0" tIns="0" rIns="0" bIns="0" rtlCol="0" anchor="t"/>
          <a:lstStyle/>
          <a:p>
            <a:pPr indent="0" marL="0">
              <a:buNone/>
            </a:pPr>
            <a:r>
              <a:rPr lang="en-US" sz="1900" b="1" dirty="0">
                <a:solidFill>
                  <a:srgbClr val="2459D8"/>
                </a:solidFill>
                <a:latin typeface="Courier New" pitchFamily="34" charset="0"/>
                <a:ea typeface="Courier New" pitchFamily="34" charset="-122"/>
                <a:cs typeface="Courier New" pitchFamily="34" charset="-120"/>
              </a:rPr>
              <a:t>Undo it</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Your job</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Spot the method, pick the tool, reverse it.</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sp>
      <p:sp>
        <p:nvSpPr>
          <p:cNvPr id="17" name="Text 14"/>
          <p:cNvSpPr txBox="1"/>
          <p:nvPr/>
        </p:nvSpPr>
        <p:spPr>
          <a:xfrm>
            <a:off x="8293608" y="3291840"/>
            <a:ext cx="3108960" cy="365760"/>
          </a:xfrm>
          <a:prstGeom prst="rect">
            <a:avLst/>
          </a:prstGeom>
          <a:noFill/>
          <a:ln/>
        </p:spPr>
        <p:txBody>
          <a:bodyPr wrap="square" lIns="0" tIns="0" rIns="0" bIns="0" rtlCol="0" anchor="t"/>
          <a:lstStyle/>
          <a:p>
            <a:pPr indent="0" marL="0">
              <a:buNone/>
            </a:pPr>
            <a:r>
              <a:rPr lang="en-US" sz="1900" b="1" dirty="0">
                <a:solidFill>
                  <a:srgbClr val="17875A"/>
                </a:solidFill>
                <a:latin typeface="Courier New" pitchFamily="34" charset="0"/>
                <a:ea typeface="Courier New" pitchFamily="34" charset="-122"/>
                <a:cs typeface="Courier New" pitchFamily="34" charset="-120"/>
              </a:rPr>
              <a:t>CYBA{...}</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proof</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Readable text and CYBA{ at the start: you cracked it.</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sp>
      <p:sp>
        <p:nvSpPr>
          <p:cNvPr id="21" name="Text 18"/>
          <p:cNvSpPr txBox="1"/>
          <p:nvPr/>
        </p:nvSpPr>
        <p:spPr>
          <a:xfrm>
            <a:off x="548640"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Identify</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code</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sp>
      <p:sp>
        <p:nvSpPr>
          <p:cNvPr id="24" name="Text 21"/>
          <p:cNvSpPr txBox="1"/>
          <p:nvPr/>
        </p:nvSpPr>
        <p:spPr>
          <a:xfrm>
            <a:off x="3355848"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Decode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with the right tool</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sp>
      <p:sp>
        <p:nvSpPr>
          <p:cNvPr id="27" name="Text 24"/>
          <p:cNvSpPr txBox="1"/>
          <p:nvPr/>
        </p:nvSpPr>
        <p:spPr>
          <a:xfrm>
            <a:off x="6163056"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whole flag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sp>
      <p:sp>
        <p:nvSpPr>
          <p:cNvPr id="30" name="Text 27"/>
          <p:cNvSpPr txBox="1"/>
          <p:nvPr/>
        </p:nvSpPr>
        <p:spPr>
          <a:xfrm>
            <a:off x="8970264"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1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Crypto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2,500 years of secret messages, the three ways to hide data, and why key size is everything.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echo 'Uryyb' | tr A-Za-z N-ZA-Mn-za-m</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2,500 years of secret messages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2258568"/>
            <a:ext cx="11094415" cy="54864"/>
          </a:xfrm>
          <a:prstGeom prst="rect">
            <a:avLst/>
          </a:prstGeom>
          <a:solidFill>
            <a:srgbClr val="D6DEEA"/>
          </a:solidFill>
          <a:ln/>
        </p:spPr>
      </p:sp>
      <p:sp>
        <p:nvSpPr>
          <p:cNvPr id="7" name="Shape 4"/>
          <p:cNvSpPr/>
          <p:nvPr/>
        </p:nvSpPr>
        <p:spPr>
          <a:xfrm>
            <a:off x="1207008" y="2075688"/>
            <a:ext cx="420624" cy="420624"/>
          </a:xfrm>
          <a:prstGeom prst="ellipse">
            <a:avLst/>
          </a:prstGeom>
          <a:solidFill>
            <a:srgbClr val="17875A"/>
          </a:solidFill>
          <a:ln w="38100">
            <a:solidFill>
              <a:srgbClr val="FFFFFF"/>
            </a:solidFill>
            <a:prstDash val="solid"/>
          </a:ln>
        </p:spPr>
      </p:sp>
      <p:sp>
        <p:nvSpPr>
          <p:cNvPr id="8" name="Text 5"/>
          <p:cNvSpPr txBox="1"/>
          <p:nvPr/>
        </p:nvSpPr>
        <p:spPr>
          <a:xfrm>
            <a:off x="548640" y="1463040"/>
            <a:ext cx="1737360" cy="457200"/>
          </a:xfrm>
          <a:prstGeom prst="rect">
            <a:avLst/>
          </a:prstGeom>
          <a:noFill/>
          <a:ln/>
        </p:spPr>
        <p:txBody>
          <a:bodyPr wrap="square" lIns="0" tIns="0" rIns="0" bIns="0" rtlCol="0" anchor="t"/>
          <a:lstStyle/>
          <a:p>
            <a:pPr algn="ctr" indent="0" marL="0">
              <a:buNone/>
            </a:pPr>
            <a:r>
              <a:rPr lang="en-US" sz="2000" b="1" dirty="0">
                <a:solidFill>
                  <a:srgbClr val="17875A"/>
                </a:solidFill>
                <a:latin typeface="Arial" pitchFamily="34" charset="0"/>
                <a:ea typeface="Arial" pitchFamily="34" charset="-122"/>
                <a:cs typeface="Arial" pitchFamily="34" charset="-120"/>
              </a:rPr>
              <a:t>~500 BC</a:t>
            </a:r>
            <a:endParaRPr lang="en-US" sz="2000" dirty="0"/>
          </a:p>
        </p:txBody>
      </p:sp>
      <p:sp>
        <p:nvSpPr>
          <p:cNvPr id="9" name="Shape 6"/>
          <p:cNvSpPr/>
          <p:nvPr/>
        </p:nvSpPr>
        <p:spPr>
          <a:xfrm>
            <a:off x="548640" y="2743200"/>
            <a:ext cx="1737360" cy="2331720"/>
          </a:xfrm>
          <a:prstGeom prst="roundRect">
            <a:avLst>
              <a:gd name="adj" fmla="val 5263"/>
            </a:avLst>
          </a:prstGeom>
          <a:solidFill>
            <a:srgbClr val="F1F5FB"/>
          </a:solidFill>
          <a:ln/>
        </p:spPr>
      </p:sp>
      <p:sp>
        <p:nvSpPr>
          <p:cNvPr id="10" name="Text 7"/>
          <p:cNvSpPr txBox="1"/>
          <p:nvPr/>
        </p:nvSpPr>
        <p:spPr>
          <a:xfrm>
            <a:off x="685800" y="2880360"/>
            <a:ext cx="1463040" cy="45720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Atbash</a:t>
            </a:r>
            <a:endParaRPr lang="en-US" sz="1700" dirty="0"/>
          </a:p>
        </p:txBody>
      </p:sp>
      <p:sp>
        <p:nvSpPr>
          <p:cNvPr id="11" name="Text 8"/>
          <p:cNvSpPr txBox="1"/>
          <p:nvPr/>
        </p:nvSpPr>
        <p:spPr>
          <a:xfrm>
            <a:off x="685800" y="3383280"/>
            <a:ext cx="1508760" cy="1554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Flip the alphabet: A↔Z.</a:t>
            </a:r>
            <a:endParaRPr lang="en-US" sz="1400" dirty="0"/>
          </a:p>
        </p:txBody>
      </p:sp>
      <p:sp>
        <p:nvSpPr>
          <p:cNvPr id="12" name="Shape 9"/>
          <p:cNvSpPr/>
          <p:nvPr/>
        </p:nvSpPr>
        <p:spPr>
          <a:xfrm>
            <a:off x="3072384" y="2075688"/>
            <a:ext cx="420624" cy="420624"/>
          </a:xfrm>
          <a:prstGeom prst="ellipse">
            <a:avLst/>
          </a:prstGeom>
          <a:solidFill>
            <a:srgbClr val="2A9FD6"/>
          </a:solidFill>
          <a:ln w="38100">
            <a:solidFill>
              <a:srgbClr val="FFFFFF"/>
            </a:solidFill>
            <a:prstDash val="solid"/>
          </a:ln>
        </p:spPr>
      </p:sp>
      <p:sp>
        <p:nvSpPr>
          <p:cNvPr id="13" name="Text 10"/>
          <p:cNvSpPr txBox="1"/>
          <p:nvPr/>
        </p:nvSpPr>
        <p:spPr>
          <a:xfrm>
            <a:off x="2414016" y="1463040"/>
            <a:ext cx="1737360" cy="457200"/>
          </a:xfrm>
          <a:prstGeom prst="rect">
            <a:avLst/>
          </a:prstGeom>
          <a:noFill/>
          <a:ln/>
        </p:spPr>
        <p:txBody>
          <a:bodyPr wrap="square" lIns="0" tIns="0" rIns="0" bIns="0" rtlCol="0" anchor="t"/>
          <a:lstStyle/>
          <a:p>
            <a:pPr algn="ctr" indent="0" marL="0">
              <a:buNone/>
            </a:pPr>
            <a:r>
              <a:rPr lang="en-US" sz="2000" b="1" dirty="0">
                <a:solidFill>
                  <a:srgbClr val="2A9FD6"/>
                </a:solidFill>
                <a:latin typeface="Arial" pitchFamily="34" charset="0"/>
                <a:ea typeface="Arial" pitchFamily="34" charset="-122"/>
                <a:cs typeface="Arial" pitchFamily="34" charset="-120"/>
              </a:rPr>
              <a:t>~50 BC</a:t>
            </a:r>
            <a:endParaRPr lang="en-US" sz="2000" dirty="0"/>
          </a:p>
        </p:txBody>
      </p:sp>
      <p:sp>
        <p:nvSpPr>
          <p:cNvPr id="14" name="Shape 11"/>
          <p:cNvSpPr/>
          <p:nvPr/>
        </p:nvSpPr>
        <p:spPr>
          <a:xfrm>
            <a:off x="2414016" y="2743200"/>
            <a:ext cx="1737360" cy="2331720"/>
          </a:xfrm>
          <a:prstGeom prst="roundRect">
            <a:avLst>
              <a:gd name="adj" fmla="val 5263"/>
            </a:avLst>
          </a:prstGeom>
          <a:solidFill>
            <a:srgbClr val="F1F5FB"/>
          </a:solidFill>
          <a:ln/>
        </p:spPr>
      </p:sp>
      <p:sp>
        <p:nvSpPr>
          <p:cNvPr id="15" name="Text 12"/>
          <p:cNvSpPr txBox="1"/>
          <p:nvPr/>
        </p:nvSpPr>
        <p:spPr>
          <a:xfrm>
            <a:off x="2551176" y="2880360"/>
            <a:ext cx="1463040" cy="45720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Caesar</a:t>
            </a:r>
            <a:endParaRPr lang="en-US" sz="1700" dirty="0"/>
          </a:p>
        </p:txBody>
      </p:sp>
      <p:sp>
        <p:nvSpPr>
          <p:cNvPr id="16" name="Text 13"/>
          <p:cNvSpPr txBox="1"/>
          <p:nvPr/>
        </p:nvSpPr>
        <p:spPr>
          <a:xfrm>
            <a:off x="2551176" y="3383280"/>
            <a:ext cx="1508760" cy="1554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Shift every letter 3 places.</a:t>
            </a:r>
            <a:endParaRPr lang="en-US" sz="1400" dirty="0"/>
          </a:p>
        </p:txBody>
      </p:sp>
      <p:sp>
        <p:nvSpPr>
          <p:cNvPr id="17" name="Shape 14"/>
          <p:cNvSpPr/>
          <p:nvPr/>
        </p:nvSpPr>
        <p:spPr>
          <a:xfrm>
            <a:off x="4937760" y="2075688"/>
            <a:ext cx="420624" cy="420624"/>
          </a:xfrm>
          <a:prstGeom prst="ellipse">
            <a:avLst/>
          </a:prstGeom>
          <a:solidFill>
            <a:srgbClr val="2459D8"/>
          </a:solidFill>
          <a:ln w="38100">
            <a:solidFill>
              <a:srgbClr val="FFFFFF"/>
            </a:solidFill>
            <a:prstDash val="solid"/>
          </a:ln>
        </p:spPr>
      </p:sp>
      <p:sp>
        <p:nvSpPr>
          <p:cNvPr id="18" name="Text 15"/>
          <p:cNvSpPr txBox="1"/>
          <p:nvPr/>
        </p:nvSpPr>
        <p:spPr>
          <a:xfrm>
            <a:off x="4279392" y="1463040"/>
            <a:ext cx="1737360" cy="457200"/>
          </a:xfrm>
          <a:prstGeom prst="rect">
            <a:avLst/>
          </a:prstGeom>
          <a:noFill/>
          <a:ln/>
        </p:spPr>
        <p:txBody>
          <a:bodyPr wrap="square" lIns="0" tIns="0" rIns="0" bIns="0" rtlCol="0" anchor="t"/>
          <a:lstStyle/>
          <a:p>
            <a:pPr algn="ctr" indent="0" marL="0">
              <a:buNone/>
            </a:pPr>
            <a:r>
              <a:rPr lang="en-US" sz="2000" b="1" dirty="0">
                <a:solidFill>
                  <a:srgbClr val="2459D8"/>
                </a:solidFill>
                <a:latin typeface="Arial" pitchFamily="34" charset="0"/>
                <a:ea typeface="Arial" pitchFamily="34" charset="-122"/>
                <a:cs typeface="Arial" pitchFamily="34" charset="-120"/>
              </a:rPr>
              <a:t>1553</a:t>
            </a:r>
            <a:endParaRPr lang="en-US" sz="2000" dirty="0"/>
          </a:p>
        </p:txBody>
      </p:sp>
      <p:sp>
        <p:nvSpPr>
          <p:cNvPr id="19" name="Shape 16"/>
          <p:cNvSpPr/>
          <p:nvPr/>
        </p:nvSpPr>
        <p:spPr>
          <a:xfrm>
            <a:off x="4279392" y="2743200"/>
            <a:ext cx="1737360" cy="2331720"/>
          </a:xfrm>
          <a:prstGeom prst="roundRect">
            <a:avLst>
              <a:gd name="adj" fmla="val 5263"/>
            </a:avLst>
          </a:prstGeom>
          <a:solidFill>
            <a:srgbClr val="F1F5FB"/>
          </a:solidFill>
          <a:ln/>
        </p:spPr>
      </p:sp>
      <p:sp>
        <p:nvSpPr>
          <p:cNvPr id="20" name="Text 17"/>
          <p:cNvSpPr txBox="1"/>
          <p:nvPr/>
        </p:nvSpPr>
        <p:spPr>
          <a:xfrm>
            <a:off x="4416552" y="2880360"/>
            <a:ext cx="1463040" cy="45720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Vigenère</a:t>
            </a:r>
            <a:endParaRPr lang="en-US" sz="1700" dirty="0"/>
          </a:p>
        </p:txBody>
      </p:sp>
      <p:sp>
        <p:nvSpPr>
          <p:cNvPr id="21" name="Text 18"/>
          <p:cNvSpPr txBox="1"/>
          <p:nvPr/>
        </p:nvSpPr>
        <p:spPr>
          <a:xfrm>
            <a:off x="4416552" y="3383280"/>
            <a:ext cx="1508760" cy="1554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A keyword sets each shift. Unbroken for 300 years.</a:t>
            </a:r>
            <a:endParaRPr lang="en-US" sz="1400" dirty="0"/>
          </a:p>
        </p:txBody>
      </p:sp>
      <p:sp>
        <p:nvSpPr>
          <p:cNvPr id="22" name="Shape 19"/>
          <p:cNvSpPr/>
          <p:nvPr/>
        </p:nvSpPr>
        <p:spPr>
          <a:xfrm>
            <a:off x="6803136" y="2075688"/>
            <a:ext cx="420624" cy="420624"/>
          </a:xfrm>
          <a:prstGeom prst="ellipse">
            <a:avLst/>
          </a:prstGeom>
          <a:solidFill>
            <a:srgbClr val="7448D4"/>
          </a:solidFill>
          <a:ln w="38100">
            <a:solidFill>
              <a:srgbClr val="FFFFFF"/>
            </a:solidFill>
            <a:prstDash val="solid"/>
          </a:ln>
        </p:spPr>
      </p:sp>
      <p:sp>
        <p:nvSpPr>
          <p:cNvPr id="23" name="Text 20"/>
          <p:cNvSpPr txBox="1"/>
          <p:nvPr/>
        </p:nvSpPr>
        <p:spPr>
          <a:xfrm>
            <a:off x="6144768" y="1463040"/>
            <a:ext cx="1737360" cy="457200"/>
          </a:xfrm>
          <a:prstGeom prst="rect">
            <a:avLst/>
          </a:prstGeom>
          <a:noFill/>
          <a:ln/>
        </p:spPr>
        <p:txBody>
          <a:bodyPr wrap="square" lIns="0" tIns="0" rIns="0" bIns="0" rtlCol="0" anchor="t"/>
          <a:lstStyle/>
          <a:p>
            <a:pPr algn="ctr" indent="0" marL="0">
              <a:buNone/>
            </a:pPr>
            <a:r>
              <a:rPr lang="en-US" sz="2000" b="1" dirty="0">
                <a:solidFill>
                  <a:srgbClr val="7448D4"/>
                </a:solidFill>
                <a:latin typeface="Arial" pitchFamily="34" charset="0"/>
                <a:ea typeface="Arial" pitchFamily="34" charset="-122"/>
                <a:cs typeface="Arial" pitchFamily="34" charset="-120"/>
              </a:rPr>
              <a:t>1940s</a:t>
            </a:r>
            <a:endParaRPr lang="en-US" sz="2000" dirty="0"/>
          </a:p>
        </p:txBody>
      </p:sp>
      <p:sp>
        <p:nvSpPr>
          <p:cNvPr id="24" name="Shape 21"/>
          <p:cNvSpPr/>
          <p:nvPr/>
        </p:nvSpPr>
        <p:spPr>
          <a:xfrm>
            <a:off x="6144768" y="2743200"/>
            <a:ext cx="1737360" cy="2331720"/>
          </a:xfrm>
          <a:prstGeom prst="roundRect">
            <a:avLst>
              <a:gd name="adj" fmla="val 5263"/>
            </a:avLst>
          </a:prstGeom>
          <a:solidFill>
            <a:srgbClr val="F1F5FB"/>
          </a:solidFill>
          <a:ln/>
        </p:spPr>
      </p:sp>
      <p:sp>
        <p:nvSpPr>
          <p:cNvPr id="25" name="Text 22"/>
          <p:cNvSpPr txBox="1"/>
          <p:nvPr/>
        </p:nvSpPr>
        <p:spPr>
          <a:xfrm>
            <a:off x="6281928" y="2880360"/>
            <a:ext cx="1463040" cy="45720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Enigma</a:t>
            </a:r>
            <a:endParaRPr lang="en-US" sz="1700" dirty="0"/>
          </a:p>
        </p:txBody>
      </p:sp>
      <p:sp>
        <p:nvSpPr>
          <p:cNvPr id="26" name="Text 23"/>
          <p:cNvSpPr txBox="1"/>
          <p:nvPr/>
        </p:nvSpPr>
        <p:spPr>
          <a:xfrm>
            <a:off x="6281928" y="3383280"/>
            <a:ext cx="1508760" cy="1554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A machine cipher, broken at Bletchley Park.</a:t>
            </a:r>
            <a:endParaRPr lang="en-US" sz="1400" dirty="0"/>
          </a:p>
        </p:txBody>
      </p:sp>
      <p:sp>
        <p:nvSpPr>
          <p:cNvPr id="27" name="Shape 24"/>
          <p:cNvSpPr/>
          <p:nvPr/>
        </p:nvSpPr>
        <p:spPr>
          <a:xfrm>
            <a:off x="8668512" y="2075688"/>
            <a:ext cx="420624" cy="420624"/>
          </a:xfrm>
          <a:prstGeom prst="ellipse">
            <a:avLst/>
          </a:prstGeom>
          <a:solidFill>
            <a:srgbClr val="D1416B"/>
          </a:solidFill>
          <a:ln w="38100">
            <a:solidFill>
              <a:srgbClr val="FFFFFF"/>
            </a:solidFill>
            <a:prstDash val="solid"/>
          </a:ln>
        </p:spPr>
      </p:sp>
      <p:sp>
        <p:nvSpPr>
          <p:cNvPr id="28" name="Text 25"/>
          <p:cNvSpPr txBox="1"/>
          <p:nvPr/>
        </p:nvSpPr>
        <p:spPr>
          <a:xfrm>
            <a:off x="8010144" y="1463040"/>
            <a:ext cx="1737360" cy="457200"/>
          </a:xfrm>
          <a:prstGeom prst="rect">
            <a:avLst/>
          </a:prstGeom>
          <a:noFill/>
          <a:ln/>
        </p:spPr>
        <p:txBody>
          <a:bodyPr wrap="square" lIns="0" tIns="0" rIns="0" bIns="0" rtlCol="0" anchor="t"/>
          <a:lstStyle/>
          <a:p>
            <a:pPr algn="ctr" indent="0" marL="0">
              <a:buNone/>
            </a:pPr>
            <a:r>
              <a:rPr lang="en-US" sz="2000" b="1" dirty="0">
                <a:solidFill>
                  <a:srgbClr val="D1416B"/>
                </a:solidFill>
                <a:latin typeface="Arial" pitchFamily="34" charset="0"/>
                <a:ea typeface="Arial" pitchFamily="34" charset="-122"/>
                <a:cs typeface="Arial" pitchFamily="34" charset="-120"/>
              </a:rPr>
              <a:t>1976</a:t>
            </a:r>
            <a:endParaRPr lang="en-US" sz="2000" dirty="0"/>
          </a:p>
        </p:txBody>
      </p:sp>
      <p:sp>
        <p:nvSpPr>
          <p:cNvPr id="29" name="Shape 26"/>
          <p:cNvSpPr/>
          <p:nvPr/>
        </p:nvSpPr>
        <p:spPr>
          <a:xfrm>
            <a:off x="8010144" y="2743200"/>
            <a:ext cx="1737360" cy="2331720"/>
          </a:xfrm>
          <a:prstGeom prst="roundRect">
            <a:avLst>
              <a:gd name="adj" fmla="val 5263"/>
            </a:avLst>
          </a:prstGeom>
          <a:solidFill>
            <a:srgbClr val="F1F5FB"/>
          </a:solidFill>
          <a:ln/>
        </p:spPr>
      </p:sp>
      <p:sp>
        <p:nvSpPr>
          <p:cNvPr id="30" name="Text 27"/>
          <p:cNvSpPr txBox="1"/>
          <p:nvPr/>
        </p:nvSpPr>
        <p:spPr>
          <a:xfrm>
            <a:off x="8147304" y="2880360"/>
            <a:ext cx="1463040" cy="45720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Public key</a:t>
            </a:r>
            <a:endParaRPr lang="en-US" sz="1700" dirty="0"/>
          </a:p>
        </p:txBody>
      </p:sp>
      <p:sp>
        <p:nvSpPr>
          <p:cNvPr id="31" name="Text 28"/>
          <p:cNvSpPr txBox="1"/>
          <p:nvPr/>
        </p:nvSpPr>
        <p:spPr>
          <a:xfrm>
            <a:off x="8147304" y="3383280"/>
            <a:ext cx="1508760" cy="1554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Strangers share secrets in public.</a:t>
            </a:r>
            <a:endParaRPr lang="en-US" sz="1400" dirty="0"/>
          </a:p>
        </p:txBody>
      </p:sp>
      <p:sp>
        <p:nvSpPr>
          <p:cNvPr id="32" name="Shape 29"/>
          <p:cNvSpPr/>
          <p:nvPr/>
        </p:nvSpPr>
        <p:spPr>
          <a:xfrm>
            <a:off x="10533888" y="2075688"/>
            <a:ext cx="420624" cy="420624"/>
          </a:xfrm>
          <a:prstGeom prst="ellipse">
            <a:avLst/>
          </a:prstGeom>
          <a:solidFill>
            <a:srgbClr val="0F9488"/>
          </a:solidFill>
          <a:ln w="38100">
            <a:solidFill>
              <a:srgbClr val="FFFFFF"/>
            </a:solidFill>
            <a:prstDash val="solid"/>
          </a:ln>
        </p:spPr>
      </p:sp>
      <p:sp>
        <p:nvSpPr>
          <p:cNvPr id="33" name="Text 30"/>
          <p:cNvSpPr txBox="1"/>
          <p:nvPr/>
        </p:nvSpPr>
        <p:spPr>
          <a:xfrm>
            <a:off x="9875520" y="1463040"/>
            <a:ext cx="1737360" cy="457200"/>
          </a:xfrm>
          <a:prstGeom prst="rect">
            <a:avLst/>
          </a:prstGeom>
          <a:noFill/>
          <a:ln/>
        </p:spPr>
        <p:txBody>
          <a:bodyPr wrap="square" lIns="0" tIns="0" rIns="0" bIns="0" rtlCol="0" anchor="t"/>
          <a:lstStyle/>
          <a:p>
            <a:pPr algn="ctr" indent="0" marL="0">
              <a:buNone/>
            </a:pPr>
            <a:r>
              <a:rPr lang="en-US" sz="2000" b="1" dirty="0">
                <a:solidFill>
                  <a:srgbClr val="0F9488"/>
                </a:solidFill>
                <a:latin typeface="Arial" pitchFamily="34" charset="0"/>
                <a:ea typeface="Arial" pitchFamily="34" charset="-122"/>
                <a:cs typeface="Arial" pitchFamily="34" charset="-120"/>
              </a:rPr>
              <a:t>Today</a:t>
            </a:r>
            <a:endParaRPr lang="en-US" sz="2000" dirty="0"/>
          </a:p>
        </p:txBody>
      </p:sp>
      <p:sp>
        <p:nvSpPr>
          <p:cNvPr id="34" name="Shape 31"/>
          <p:cNvSpPr/>
          <p:nvPr/>
        </p:nvSpPr>
        <p:spPr>
          <a:xfrm>
            <a:off x="9875520" y="2743200"/>
            <a:ext cx="1737360" cy="2331720"/>
          </a:xfrm>
          <a:prstGeom prst="roundRect">
            <a:avLst>
              <a:gd name="adj" fmla="val 5263"/>
            </a:avLst>
          </a:prstGeom>
          <a:solidFill>
            <a:srgbClr val="F1F5FB"/>
          </a:solidFill>
          <a:ln/>
        </p:spPr>
      </p:sp>
      <p:sp>
        <p:nvSpPr>
          <p:cNvPr id="35" name="Text 32"/>
          <p:cNvSpPr txBox="1"/>
          <p:nvPr/>
        </p:nvSpPr>
        <p:spPr>
          <a:xfrm>
            <a:off x="10012680" y="2880360"/>
            <a:ext cx="1463040" cy="45720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HTTPS &amp; AES</a:t>
            </a:r>
            <a:endParaRPr lang="en-US" sz="1700" dirty="0"/>
          </a:p>
        </p:txBody>
      </p:sp>
      <p:sp>
        <p:nvSpPr>
          <p:cNvPr id="36" name="Text 33"/>
          <p:cNvSpPr txBox="1"/>
          <p:nvPr/>
        </p:nvSpPr>
        <p:spPr>
          <a:xfrm>
            <a:off x="10012680" y="3383280"/>
            <a:ext cx="1508760" cy="155448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Billions of protected messages a day.</a:t>
            </a:r>
            <a:endParaRPr lang="en-US" sz="1400" dirty="0"/>
          </a:p>
        </p:txBody>
      </p:sp>
      <p:sp>
        <p:nvSpPr>
          <p:cNvPr id="37" name="Shape 34"/>
          <p:cNvSpPr/>
          <p:nvPr/>
        </p:nvSpPr>
        <p:spPr>
          <a:xfrm>
            <a:off x="548640" y="5349240"/>
            <a:ext cx="11094415" cy="685800"/>
          </a:xfrm>
          <a:prstGeom prst="roundRect">
            <a:avLst>
              <a:gd name="adj" fmla="val 13333"/>
            </a:avLst>
          </a:prstGeom>
          <a:solidFill>
            <a:srgbClr val="FFF4DC"/>
          </a:solidFill>
          <a:ln/>
        </p:spPr>
      </p:sp>
      <p:sp>
        <p:nvSpPr>
          <p:cNvPr id="38" name="Text 35"/>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The pattern: </a:t>
            </a:r>
            <a:pPr indent="0" marL="0">
              <a:buNone/>
            </a:pPr>
            <a:r>
              <a:rPr lang="en-US" sz="1700" dirty="0">
                <a:solidFill>
                  <a:srgbClr val="12213A"/>
                </a:solidFill>
                <a:latin typeface="Calibri" pitchFamily="34" charset="0"/>
                <a:ea typeface="Calibri" pitchFamily="34" charset="-122"/>
                <a:cs typeface="Calibri" pitchFamily="34" charset="-120"/>
              </a:rPr>
              <a:t>every cipher gets broken eventually. Codebreakers are why codes keep getting better.</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Three ways to hide data</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hi | sha256sum</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10" name="Shape 7"/>
          <p:cNvSpPr/>
          <p:nvPr/>
        </p:nvSpPr>
        <p:spPr>
          <a:xfrm>
            <a:off x="548640" y="1508760"/>
            <a:ext cx="3566160" cy="4434840"/>
          </a:xfrm>
          <a:prstGeom prst="roundRect">
            <a:avLst>
              <a:gd name="adj" fmla="val 2564"/>
            </a:avLst>
          </a:prstGeom>
          <a:solidFill>
            <a:srgbClr val="F1F5FB"/>
          </a:solidFill>
          <a:ln/>
        </p:spPr>
      </p:sp>
      <p:sp>
        <p:nvSpPr>
          <p:cNvPr id="11" name="Shape 8"/>
          <p:cNvSpPr/>
          <p:nvPr/>
        </p:nvSpPr>
        <p:spPr>
          <a:xfrm>
            <a:off x="548640" y="1508760"/>
            <a:ext cx="3566160" cy="109728"/>
          </a:xfrm>
          <a:prstGeom prst="rect">
            <a:avLst/>
          </a:prstGeom>
          <a:solidFill>
            <a:srgbClr val="2A9FD6"/>
          </a:solidFill>
          <a:ln/>
        </p:spPr>
      </p:sp>
      <p:sp>
        <p:nvSpPr>
          <p:cNvPr id="12" name="Text 9"/>
          <p:cNvSpPr txBox="1"/>
          <p:nvPr/>
        </p:nvSpPr>
        <p:spPr>
          <a:xfrm>
            <a:off x="822960" y="1783080"/>
            <a:ext cx="3017520" cy="548640"/>
          </a:xfrm>
          <a:prstGeom prst="rect">
            <a:avLst/>
          </a:prstGeom>
          <a:noFill/>
          <a:ln/>
        </p:spPr>
        <p:txBody>
          <a:bodyPr wrap="square" lIns="0" tIns="0" rIns="0" bIns="0" rtlCol="0" anchor="t"/>
          <a:lstStyle/>
          <a:p>
            <a:pPr indent="0" marL="0">
              <a:buNone/>
            </a:pPr>
            <a:r>
              <a:rPr lang="en-US" sz="2800" b="1" dirty="0">
                <a:solidFill>
                  <a:srgbClr val="2A9FD6"/>
                </a:solidFill>
                <a:latin typeface="Arial" pitchFamily="34" charset="0"/>
                <a:ea typeface="Arial" pitchFamily="34" charset="-122"/>
                <a:cs typeface="Arial" pitchFamily="34" charset="-120"/>
              </a:rPr>
              <a:t>Encoding</a:t>
            </a:r>
            <a:endParaRPr lang="en-US" sz="2800" dirty="0"/>
          </a:p>
        </p:txBody>
      </p:sp>
      <p:sp>
        <p:nvSpPr>
          <p:cNvPr id="13" name="Text 10"/>
          <p:cNvSpPr txBox="1"/>
          <p:nvPr/>
        </p:nvSpPr>
        <p:spPr>
          <a:xfrm>
            <a:off x="822960" y="2377440"/>
            <a:ext cx="3017520" cy="73152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No key. Anyone can reverse it.</a:t>
            </a:r>
            <a:endParaRPr lang="en-US" sz="1700" dirty="0"/>
          </a:p>
        </p:txBody>
      </p:sp>
      <p:sp>
        <p:nvSpPr>
          <p:cNvPr id="14" name="Text 11"/>
          <p:cNvSpPr txBox="1"/>
          <p:nvPr/>
        </p:nvSpPr>
        <p:spPr>
          <a:xfrm>
            <a:off x="822960" y="3200400"/>
            <a:ext cx="301752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Examples</a:t>
            </a:r>
            <a:endParaRPr lang="en-US" sz="1200" dirty="0"/>
          </a:p>
        </p:txBody>
      </p:sp>
      <p:sp>
        <p:nvSpPr>
          <p:cNvPr id="15" name="Text 12"/>
          <p:cNvSpPr txBox="1"/>
          <p:nvPr/>
        </p:nvSpPr>
        <p:spPr>
          <a:xfrm>
            <a:off x="822960" y="3493008"/>
            <a:ext cx="3108960" cy="411480"/>
          </a:xfrm>
          <a:prstGeom prst="rect">
            <a:avLst/>
          </a:prstGeom>
          <a:noFill/>
          <a:ln/>
        </p:spPr>
        <p:txBody>
          <a:bodyPr wrap="square" lIns="0" tIns="0" rIns="0" bIns="0" rtlCol="0" anchor="t"/>
          <a:lstStyle/>
          <a:p>
            <a:pPr indent="0" marL="0">
              <a:buNone/>
            </a:pPr>
            <a:r>
              <a:rPr lang="en-US" sz="1400" b="1" dirty="0">
                <a:solidFill>
                  <a:srgbClr val="12213A"/>
                </a:solidFill>
                <a:latin typeface="Courier New" pitchFamily="34" charset="0"/>
                <a:ea typeface="Courier New" pitchFamily="34" charset="-122"/>
                <a:cs typeface="Courier New" pitchFamily="34" charset="-120"/>
              </a:rPr>
              <a:t>base64  hex  Morse</a:t>
            </a:r>
            <a:endParaRPr lang="en-US" sz="1400" dirty="0"/>
          </a:p>
        </p:txBody>
      </p:sp>
      <p:sp>
        <p:nvSpPr>
          <p:cNvPr id="16" name="Shape 13"/>
          <p:cNvSpPr/>
          <p:nvPr/>
        </p:nvSpPr>
        <p:spPr>
          <a:xfrm>
            <a:off x="822960" y="4069080"/>
            <a:ext cx="3017520" cy="868680"/>
          </a:xfrm>
          <a:prstGeom prst="roundRect">
            <a:avLst>
              <a:gd name="adj" fmla="val 8421"/>
            </a:avLst>
          </a:prstGeom>
          <a:solidFill>
            <a:srgbClr val="0E1726"/>
          </a:solidFill>
          <a:ln/>
        </p:spPr>
      </p:sp>
      <p:sp>
        <p:nvSpPr>
          <p:cNvPr id="17" name="Text 14"/>
          <p:cNvSpPr txBox="1"/>
          <p:nvPr/>
        </p:nvSpPr>
        <p:spPr>
          <a:xfrm>
            <a:off x="960120" y="4069080"/>
            <a:ext cx="2834640" cy="868680"/>
          </a:xfrm>
          <a:prstGeom prst="rect">
            <a:avLst/>
          </a:prstGeom>
          <a:noFill/>
          <a:ln/>
        </p:spPr>
        <p:txBody>
          <a:bodyPr wrap="square" lIns="0" tIns="0" rIns="0" bIns="0" rtlCol="0" anchor="ctr"/>
          <a:lstStyle/>
          <a:p>
            <a:pPr indent="0" marL="0">
              <a:buNone/>
            </a:pPr>
            <a:r>
              <a:rPr lang="en-US" sz="1700" b="1" dirty="0">
                <a:solidFill>
                  <a:srgbClr val="7F8FAD"/>
                </a:solidFill>
                <a:latin typeface="Courier New" pitchFamily="34" charset="0"/>
                <a:ea typeface="Courier New" pitchFamily="34" charset="-122"/>
                <a:cs typeface="Courier New" pitchFamily="34" charset="-120"/>
              </a:rPr>
              <a:t>hi  &gt;  </a:t>
            </a:r>
            <a:pPr indent="0" marL="0">
              <a:buNone/>
            </a:pPr>
            <a:r>
              <a:rPr lang="en-US" sz="1700" b="1" dirty="0">
                <a:solidFill>
                  <a:srgbClr val="F5A623"/>
                </a:solidFill>
                <a:latin typeface="Courier New" pitchFamily="34" charset="0"/>
                <a:ea typeface="Courier New" pitchFamily="34" charset="-122"/>
                <a:cs typeface="Courier New" pitchFamily="34" charset="-120"/>
              </a:rPr>
              <a:t>aGkK</a:t>
            </a:r>
            <a:endParaRPr lang="en-US" sz="1700" dirty="0"/>
          </a:p>
        </p:txBody>
      </p:sp>
      <p:sp>
        <p:nvSpPr>
          <p:cNvPr id="18" name="Text 15"/>
          <p:cNvSpPr txBox="1"/>
          <p:nvPr/>
        </p:nvSpPr>
        <p:spPr>
          <a:xfrm>
            <a:off x="822960" y="5120640"/>
            <a:ext cx="3017520" cy="5486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Missions 1, 2, 6</a:t>
            </a:r>
            <a:endParaRPr lang="en-US" sz="1400" dirty="0"/>
          </a:p>
        </p:txBody>
      </p:sp>
      <p:sp>
        <p:nvSpPr>
          <p:cNvPr id="19" name="Shape 16"/>
          <p:cNvSpPr/>
          <p:nvPr/>
        </p:nvSpPr>
        <p:spPr>
          <a:xfrm>
            <a:off x="4306824" y="1508760"/>
            <a:ext cx="3566160" cy="4434840"/>
          </a:xfrm>
          <a:prstGeom prst="roundRect">
            <a:avLst>
              <a:gd name="adj" fmla="val 2564"/>
            </a:avLst>
          </a:prstGeom>
          <a:solidFill>
            <a:srgbClr val="F1F5FB"/>
          </a:solidFill>
          <a:ln/>
        </p:spPr>
      </p:sp>
      <p:sp>
        <p:nvSpPr>
          <p:cNvPr id="20" name="Shape 17"/>
          <p:cNvSpPr/>
          <p:nvPr/>
        </p:nvSpPr>
        <p:spPr>
          <a:xfrm>
            <a:off x="4306824" y="1508760"/>
            <a:ext cx="3566160" cy="109728"/>
          </a:xfrm>
          <a:prstGeom prst="rect">
            <a:avLst/>
          </a:prstGeom>
          <a:solidFill>
            <a:srgbClr val="7448D4"/>
          </a:solidFill>
          <a:ln/>
        </p:spPr>
      </p:sp>
      <p:sp>
        <p:nvSpPr>
          <p:cNvPr id="21" name="Text 18"/>
          <p:cNvSpPr txBox="1"/>
          <p:nvPr/>
        </p:nvSpPr>
        <p:spPr>
          <a:xfrm>
            <a:off x="4581144" y="1783080"/>
            <a:ext cx="3017520" cy="548640"/>
          </a:xfrm>
          <a:prstGeom prst="rect">
            <a:avLst/>
          </a:prstGeom>
          <a:noFill/>
          <a:ln/>
        </p:spPr>
        <p:txBody>
          <a:bodyPr wrap="square" lIns="0" tIns="0" rIns="0" bIns="0" rtlCol="0" anchor="t"/>
          <a:lstStyle/>
          <a:p>
            <a:pPr indent="0" marL="0">
              <a:buNone/>
            </a:pPr>
            <a:r>
              <a:rPr lang="en-US" sz="2800" b="1" dirty="0">
                <a:solidFill>
                  <a:srgbClr val="7448D4"/>
                </a:solidFill>
                <a:latin typeface="Arial" pitchFamily="34" charset="0"/>
                <a:ea typeface="Arial" pitchFamily="34" charset="-122"/>
                <a:cs typeface="Arial" pitchFamily="34" charset="-120"/>
              </a:rPr>
              <a:t>Encryption</a:t>
            </a:r>
            <a:endParaRPr lang="en-US" sz="2800" dirty="0"/>
          </a:p>
        </p:txBody>
      </p:sp>
      <p:sp>
        <p:nvSpPr>
          <p:cNvPr id="22" name="Text 19"/>
          <p:cNvSpPr txBox="1"/>
          <p:nvPr/>
        </p:nvSpPr>
        <p:spPr>
          <a:xfrm>
            <a:off x="4581144" y="2377440"/>
            <a:ext cx="3017520" cy="73152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Needs a key to reverse.</a:t>
            </a:r>
            <a:endParaRPr lang="en-US" sz="1700" dirty="0"/>
          </a:p>
        </p:txBody>
      </p:sp>
      <p:sp>
        <p:nvSpPr>
          <p:cNvPr id="23" name="Text 20"/>
          <p:cNvSpPr txBox="1"/>
          <p:nvPr/>
        </p:nvSpPr>
        <p:spPr>
          <a:xfrm>
            <a:off x="4581144" y="3200400"/>
            <a:ext cx="301752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Examples</a:t>
            </a:r>
            <a:endParaRPr lang="en-US" sz="1200" dirty="0"/>
          </a:p>
        </p:txBody>
      </p:sp>
      <p:sp>
        <p:nvSpPr>
          <p:cNvPr id="24" name="Text 21"/>
          <p:cNvSpPr txBox="1"/>
          <p:nvPr/>
        </p:nvSpPr>
        <p:spPr>
          <a:xfrm>
            <a:off x="4581144" y="3493008"/>
            <a:ext cx="3108960" cy="411480"/>
          </a:xfrm>
          <a:prstGeom prst="rect">
            <a:avLst/>
          </a:prstGeom>
          <a:noFill/>
          <a:ln/>
        </p:spPr>
        <p:txBody>
          <a:bodyPr wrap="square" lIns="0" tIns="0" rIns="0" bIns="0" rtlCol="0" anchor="t"/>
          <a:lstStyle/>
          <a:p>
            <a:pPr indent="0" marL="0">
              <a:buNone/>
            </a:pPr>
            <a:r>
              <a:rPr lang="en-US" sz="1400" b="1" dirty="0">
                <a:solidFill>
                  <a:srgbClr val="12213A"/>
                </a:solidFill>
                <a:latin typeface="Courier New" pitchFamily="34" charset="0"/>
                <a:ea typeface="Courier New" pitchFamily="34" charset="-122"/>
                <a:cs typeface="Courier New" pitchFamily="34" charset="-120"/>
              </a:rPr>
              <a:t>Caesar  Vigenère  XOR  AES</a:t>
            </a:r>
            <a:endParaRPr lang="en-US" sz="1400" dirty="0"/>
          </a:p>
        </p:txBody>
      </p:sp>
      <p:sp>
        <p:nvSpPr>
          <p:cNvPr id="25" name="Shape 22"/>
          <p:cNvSpPr/>
          <p:nvPr/>
        </p:nvSpPr>
        <p:spPr>
          <a:xfrm>
            <a:off x="4581144" y="4069080"/>
            <a:ext cx="3017520" cy="868680"/>
          </a:xfrm>
          <a:prstGeom prst="roundRect">
            <a:avLst>
              <a:gd name="adj" fmla="val 8421"/>
            </a:avLst>
          </a:prstGeom>
          <a:solidFill>
            <a:srgbClr val="0E1726"/>
          </a:solidFill>
          <a:ln/>
        </p:spPr>
      </p:sp>
      <p:sp>
        <p:nvSpPr>
          <p:cNvPr id="26" name="Text 23"/>
          <p:cNvSpPr txBox="1"/>
          <p:nvPr/>
        </p:nvSpPr>
        <p:spPr>
          <a:xfrm>
            <a:off x="4718304" y="4069080"/>
            <a:ext cx="2834640" cy="868680"/>
          </a:xfrm>
          <a:prstGeom prst="rect">
            <a:avLst/>
          </a:prstGeom>
          <a:noFill/>
          <a:ln/>
        </p:spPr>
        <p:txBody>
          <a:bodyPr wrap="square" lIns="0" tIns="0" rIns="0" bIns="0" rtlCol="0" anchor="ctr"/>
          <a:lstStyle/>
          <a:p>
            <a:pPr indent="0" marL="0">
              <a:buNone/>
            </a:pPr>
            <a:r>
              <a:rPr lang="en-US" sz="1700" b="1" dirty="0">
                <a:solidFill>
                  <a:srgbClr val="7F8FAD"/>
                </a:solidFill>
                <a:latin typeface="Courier New" pitchFamily="34" charset="0"/>
                <a:ea typeface="Courier New" pitchFamily="34" charset="-122"/>
                <a:cs typeface="Courier New" pitchFamily="34" charset="-120"/>
              </a:rPr>
              <a:t>hi  &gt;  </a:t>
            </a:r>
            <a:pPr indent="0" marL="0">
              <a:buNone/>
            </a:pPr>
            <a:r>
              <a:rPr lang="en-US" sz="1700" b="1" dirty="0">
                <a:solidFill>
                  <a:srgbClr val="F5A623"/>
                </a:solidFill>
                <a:latin typeface="Courier New" pitchFamily="34" charset="0"/>
                <a:ea typeface="Courier New" pitchFamily="34" charset="-122"/>
                <a:cs typeface="Courier New" pitchFamily="34" charset="-120"/>
              </a:rPr>
              <a:t>uv</a:t>
            </a:r>
            <a:endParaRPr lang="en-US" sz="1700" dirty="0"/>
          </a:p>
        </p:txBody>
      </p:sp>
      <p:sp>
        <p:nvSpPr>
          <p:cNvPr id="27" name="Text 24"/>
          <p:cNvSpPr txBox="1"/>
          <p:nvPr/>
        </p:nvSpPr>
        <p:spPr>
          <a:xfrm>
            <a:off x="4581144" y="5120640"/>
            <a:ext cx="3017520" cy="5486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Missions 3–5, 8–10</a:t>
            </a:r>
            <a:endParaRPr lang="en-US" sz="1400" dirty="0"/>
          </a:p>
        </p:txBody>
      </p:sp>
      <p:sp>
        <p:nvSpPr>
          <p:cNvPr id="28" name="Shape 25"/>
          <p:cNvSpPr/>
          <p:nvPr/>
        </p:nvSpPr>
        <p:spPr>
          <a:xfrm>
            <a:off x="8065008" y="1508760"/>
            <a:ext cx="3566160" cy="4434840"/>
          </a:xfrm>
          <a:prstGeom prst="roundRect">
            <a:avLst>
              <a:gd name="adj" fmla="val 2564"/>
            </a:avLst>
          </a:prstGeom>
          <a:solidFill>
            <a:srgbClr val="F1F5FB"/>
          </a:solidFill>
          <a:ln/>
        </p:spPr>
      </p:sp>
      <p:sp>
        <p:nvSpPr>
          <p:cNvPr id="29" name="Shape 26"/>
          <p:cNvSpPr/>
          <p:nvPr/>
        </p:nvSpPr>
        <p:spPr>
          <a:xfrm>
            <a:off x="8065008" y="1508760"/>
            <a:ext cx="3566160" cy="109728"/>
          </a:xfrm>
          <a:prstGeom prst="rect">
            <a:avLst/>
          </a:prstGeom>
          <a:solidFill>
            <a:srgbClr val="D1416B"/>
          </a:solidFill>
          <a:ln/>
        </p:spPr>
      </p:sp>
      <p:sp>
        <p:nvSpPr>
          <p:cNvPr id="30" name="Text 27"/>
          <p:cNvSpPr txBox="1"/>
          <p:nvPr/>
        </p:nvSpPr>
        <p:spPr>
          <a:xfrm>
            <a:off x="8339328" y="1783080"/>
            <a:ext cx="3017520" cy="548640"/>
          </a:xfrm>
          <a:prstGeom prst="rect">
            <a:avLst/>
          </a:prstGeom>
          <a:noFill/>
          <a:ln/>
        </p:spPr>
        <p:txBody>
          <a:bodyPr wrap="square" lIns="0" tIns="0" rIns="0" bIns="0" rtlCol="0" anchor="t"/>
          <a:lstStyle/>
          <a:p>
            <a:pPr indent="0" marL="0">
              <a:buNone/>
            </a:pPr>
            <a:r>
              <a:rPr lang="en-US" sz="2800" b="1" dirty="0">
                <a:solidFill>
                  <a:srgbClr val="D1416B"/>
                </a:solidFill>
                <a:latin typeface="Arial" pitchFamily="34" charset="0"/>
                <a:ea typeface="Arial" pitchFamily="34" charset="-122"/>
                <a:cs typeface="Arial" pitchFamily="34" charset="-120"/>
              </a:rPr>
              <a:t>Hashing</a:t>
            </a:r>
            <a:endParaRPr lang="en-US" sz="2800" dirty="0"/>
          </a:p>
        </p:txBody>
      </p:sp>
      <p:sp>
        <p:nvSpPr>
          <p:cNvPr id="31" name="Text 28"/>
          <p:cNvSpPr txBox="1"/>
          <p:nvPr/>
        </p:nvSpPr>
        <p:spPr>
          <a:xfrm>
            <a:off x="8339328" y="2377440"/>
            <a:ext cx="3017520" cy="73152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One way. Can't be reversed, only compared.</a:t>
            </a:r>
            <a:endParaRPr lang="en-US" sz="1700" dirty="0"/>
          </a:p>
        </p:txBody>
      </p:sp>
      <p:sp>
        <p:nvSpPr>
          <p:cNvPr id="32" name="Text 29"/>
          <p:cNvSpPr txBox="1"/>
          <p:nvPr/>
        </p:nvSpPr>
        <p:spPr>
          <a:xfrm>
            <a:off x="8339328" y="3200400"/>
            <a:ext cx="301752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Examples</a:t>
            </a:r>
            <a:endParaRPr lang="en-US" sz="1200" dirty="0"/>
          </a:p>
        </p:txBody>
      </p:sp>
      <p:sp>
        <p:nvSpPr>
          <p:cNvPr id="33" name="Text 30"/>
          <p:cNvSpPr txBox="1"/>
          <p:nvPr/>
        </p:nvSpPr>
        <p:spPr>
          <a:xfrm>
            <a:off x="8339328" y="3493008"/>
            <a:ext cx="3108960" cy="411480"/>
          </a:xfrm>
          <a:prstGeom prst="rect">
            <a:avLst/>
          </a:prstGeom>
          <a:noFill/>
          <a:ln/>
        </p:spPr>
        <p:txBody>
          <a:bodyPr wrap="square" lIns="0" tIns="0" rIns="0" bIns="0" rtlCol="0" anchor="t"/>
          <a:lstStyle/>
          <a:p>
            <a:pPr indent="0" marL="0">
              <a:buNone/>
            </a:pPr>
            <a:r>
              <a:rPr lang="en-US" sz="1400" b="1" dirty="0">
                <a:solidFill>
                  <a:srgbClr val="12213A"/>
                </a:solidFill>
                <a:latin typeface="Courier New" pitchFamily="34" charset="0"/>
                <a:ea typeface="Courier New" pitchFamily="34" charset="-122"/>
                <a:cs typeface="Courier New" pitchFamily="34" charset="-120"/>
              </a:rPr>
              <a:t>SHA-256</a:t>
            </a:r>
            <a:endParaRPr lang="en-US" sz="1400" dirty="0"/>
          </a:p>
        </p:txBody>
      </p:sp>
      <p:sp>
        <p:nvSpPr>
          <p:cNvPr id="34" name="Shape 31"/>
          <p:cNvSpPr/>
          <p:nvPr/>
        </p:nvSpPr>
        <p:spPr>
          <a:xfrm>
            <a:off x="8339328" y="4069080"/>
            <a:ext cx="3017520" cy="868680"/>
          </a:xfrm>
          <a:prstGeom prst="roundRect">
            <a:avLst>
              <a:gd name="adj" fmla="val 8421"/>
            </a:avLst>
          </a:prstGeom>
          <a:solidFill>
            <a:srgbClr val="0E1726"/>
          </a:solidFill>
          <a:ln/>
        </p:spPr>
      </p:sp>
      <p:sp>
        <p:nvSpPr>
          <p:cNvPr id="35" name="Text 32"/>
          <p:cNvSpPr txBox="1"/>
          <p:nvPr/>
        </p:nvSpPr>
        <p:spPr>
          <a:xfrm>
            <a:off x="8476488" y="4069080"/>
            <a:ext cx="2834640" cy="868680"/>
          </a:xfrm>
          <a:prstGeom prst="rect">
            <a:avLst/>
          </a:prstGeom>
          <a:noFill/>
          <a:ln/>
        </p:spPr>
        <p:txBody>
          <a:bodyPr wrap="square" lIns="0" tIns="0" rIns="0" bIns="0" rtlCol="0" anchor="ctr"/>
          <a:lstStyle/>
          <a:p>
            <a:pPr indent="0" marL="0">
              <a:buNone/>
            </a:pPr>
            <a:r>
              <a:rPr lang="en-US" sz="1700" b="1" dirty="0">
                <a:solidFill>
                  <a:srgbClr val="7F8FAD"/>
                </a:solidFill>
                <a:latin typeface="Courier New" pitchFamily="34" charset="0"/>
                <a:ea typeface="Courier New" pitchFamily="34" charset="-122"/>
                <a:cs typeface="Courier New" pitchFamily="34" charset="-120"/>
              </a:rPr>
              <a:t>hi  &gt;  </a:t>
            </a:r>
            <a:pPr indent="0" marL="0">
              <a:buNone/>
            </a:pPr>
            <a:r>
              <a:rPr lang="en-US" sz="1700" b="1" dirty="0">
                <a:solidFill>
                  <a:srgbClr val="F5A623"/>
                </a:solidFill>
                <a:latin typeface="Courier New" pitchFamily="34" charset="0"/>
                <a:ea typeface="Courier New" pitchFamily="34" charset="-122"/>
                <a:cs typeface="Courier New" pitchFamily="34" charset="-120"/>
              </a:rPr>
              <a:t>98ea6e4f...</a:t>
            </a:r>
            <a:endParaRPr lang="en-US" sz="1700" dirty="0"/>
          </a:p>
        </p:txBody>
      </p:sp>
      <p:sp>
        <p:nvSpPr>
          <p:cNvPr id="36" name="Text 33"/>
          <p:cNvSpPr txBox="1"/>
          <p:nvPr/>
        </p:nvSpPr>
        <p:spPr>
          <a:xfrm>
            <a:off x="8339328" y="5120640"/>
            <a:ext cx="3017520" cy="5486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Missions 7, 10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Crypto is in your pocket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508760"/>
            <a:ext cx="3566160" cy="2057400"/>
          </a:xfrm>
          <a:prstGeom prst="roundRect">
            <a:avLst>
              <a:gd name="adj" fmla="val 4444"/>
            </a:avLst>
          </a:prstGeom>
          <a:solidFill>
            <a:srgbClr val="F1F5FB"/>
          </a:solidFill>
          <a:ln/>
        </p:spPr>
      </p:sp>
      <p:sp>
        <p:nvSpPr>
          <p:cNvPr id="7" name="Shape 4"/>
          <p:cNvSpPr/>
          <p:nvPr/>
        </p:nvSpPr>
        <p:spPr>
          <a:xfrm>
            <a:off x="822960" y="1783080"/>
            <a:ext cx="731520" cy="731520"/>
          </a:xfrm>
          <a:prstGeom prst="ellipse">
            <a:avLst/>
          </a:prstGeom>
          <a:solidFill>
            <a:srgbClr val="2A9FD6"/>
          </a:solidFill>
          <a:ln/>
        </p:spPr>
      </p:sp>
      <p:pic>
        <p:nvPicPr>
          <p:cNvPr id="8" name="Image 0"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9" name="Text 5"/>
          <p:cNvSpPr txBox="1"/>
          <p:nvPr/>
        </p:nvSpPr>
        <p:spPr>
          <a:xfrm>
            <a:off x="1737360" y="182880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The padlock</a:t>
            </a:r>
            <a:endParaRPr lang="en-US" sz="2100" dirty="0"/>
          </a:p>
        </p:txBody>
      </p:sp>
      <p:sp>
        <p:nvSpPr>
          <p:cNvPr id="10" name="Text 6"/>
          <p:cNvSpPr txBox="1"/>
          <p:nvPr/>
        </p:nvSpPr>
        <p:spPr>
          <a:xfrm>
            <a:off x="822960" y="265176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HTTPS encrypts every page between you and the site.</a:t>
            </a:r>
            <a:endParaRPr lang="en-US" sz="1500" dirty="0"/>
          </a:p>
        </p:txBody>
      </p:sp>
      <p:sp>
        <p:nvSpPr>
          <p:cNvPr id="11" name="Shape 7"/>
          <p:cNvSpPr/>
          <p:nvPr/>
        </p:nvSpPr>
        <p:spPr>
          <a:xfrm>
            <a:off x="4306824" y="1508760"/>
            <a:ext cx="3566160" cy="2057400"/>
          </a:xfrm>
          <a:prstGeom prst="roundRect">
            <a:avLst>
              <a:gd name="adj" fmla="val 4444"/>
            </a:avLst>
          </a:prstGeom>
          <a:solidFill>
            <a:srgbClr val="F1F5FB"/>
          </a:solidFill>
          <a:ln/>
        </p:spPr>
      </p:sp>
      <p:sp>
        <p:nvSpPr>
          <p:cNvPr id="12" name="Shape 8"/>
          <p:cNvSpPr/>
          <p:nvPr/>
        </p:nvSpPr>
        <p:spPr>
          <a:xfrm>
            <a:off x="4581144" y="1783080"/>
            <a:ext cx="731520" cy="731520"/>
          </a:xfrm>
          <a:prstGeom prst="ellipse">
            <a:avLst/>
          </a:prstGeom>
          <a:solidFill>
            <a:srgbClr val="2459D8"/>
          </a:solidFill>
          <a:ln/>
        </p:spPr>
      </p:sp>
      <p:pic>
        <p:nvPicPr>
          <p:cNvPr id="13" name="Image 1" descr="preencoded.png">    </p:cNvPr>
          <p:cNvPicPr>
            <a:picLocks noChangeAspect="1"/>
          </p:cNvPicPr>
          <p:nvPr/>
        </p:nvPicPr>
        <p:blipFill>
          <a:blip r:embed="rId2"/>
          <a:stretch>
            <a:fillRect/>
          </a:stretch>
        </p:blipFill>
        <p:spPr>
          <a:xfrm>
            <a:off x="4764024" y="1965960"/>
            <a:ext cx="365760" cy="365760"/>
          </a:xfrm>
          <a:prstGeom prst="rect">
            <a:avLst/>
          </a:prstGeom>
        </p:spPr>
      </p:pic>
      <p:sp>
        <p:nvSpPr>
          <p:cNvPr id="14" name="Text 9"/>
          <p:cNvSpPr txBox="1"/>
          <p:nvPr/>
        </p:nvSpPr>
        <p:spPr>
          <a:xfrm>
            <a:off x="5495544" y="182880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Messages</a:t>
            </a:r>
            <a:endParaRPr lang="en-US" sz="2100" dirty="0"/>
          </a:p>
        </p:txBody>
      </p:sp>
      <p:sp>
        <p:nvSpPr>
          <p:cNvPr id="15" name="Text 10"/>
          <p:cNvSpPr txBox="1"/>
          <p:nvPr/>
        </p:nvSpPr>
        <p:spPr>
          <a:xfrm>
            <a:off x="4581144" y="265176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End-to-end encryption: only the two phones hold the keys.</a:t>
            </a:r>
            <a:endParaRPr lang="en-US" sz="1500" dirty="0"/>
          </a:p>
        </p:txBody>
      </p:sp>
      <p:sp>
        <p:nvSpPr>
          <p:cNvPr id="16" name="Shape 11"/>
          <p:cNvSpPr/>
          <p:nvPr/>
        </p:nvSpPr>
        <p:spPr>
          <a:xfrm>
            <a:off x="8065008" y="1508760"/>
            <a:ext cx="3566160" cy="2057400"/>
          </a:xfrm>
          <a:prstGeom prst="roundRect">
            <a:avLst>
              <a:gd name="adj" fmla="val 4444"/>
            </a:avLst>
          </a:prstGeom>
          <a:solidFill>
            <a:srgbClr val="F1F5FB"/>
          </a:solidFill>
          <a:ln/>
        </p:spPr>
      </p:sp>
      <p:sp>
        <p:nvSpPr>
          <p:cNvPr id="17" name="Shape 12"/>
          <p:cNvSpPr/>
          <p:nvPr/>
        </p:nvSpPr>
        <p:spPr>
          <a:xfrm>
            <a:off x="8339328" y="1783080"/>
            <a:ext cx="731520" cy="731520"/>
          </a:xfrm>
          <a:prstGeom prst="ellipse">
            <a:avLst/>
          </a:prstGeom>
          <a:solidFill>
            <a:srgbClr val="7448D4"/>
          </a:solidFill>
          <a:ln/>
        </p:spPr>
      </p:sp>
      <p:pic>
        <p:nvPicPr>
          <p:cNvPr id="18" name="Image 2" descr="preencoded.png">    </p:cNvPr>
          <p:cNvPicPr>
            <a:picLocks noChangeAspect="1"/>
          </p:cNvPicPr>
          <p:nvPr/>
        </p:nvPicPr>
        <p:blipFill>
          <a:blip r:embed="rId3"/>
          <a:stretch>
            <a:fillRect/>
          </a:stretch>
        </p:blipFill>
        <p:spPr>
          <a:xfrm>
            <a:off x="8522208" y="1965960"/>
            <a:ext cx="365760" cy="365760"/>
          </a:xfrm>
          <a:prstGeom prst="rect">
            <a:avLst/>
          </a:prstGeom>
        </p:spPr>
      </p:pic>
      <p:sp>
        <p:nvSpPr>
          <p:cNvPr id="19" name="Text 13"/>
          <p:cNvSpPr txBox="1"/>
          <p:nvPr/>
        </p:nvSpPr>
        <p:spPr>
          <a:xfrm>
            <a:off x="9253728" y="182880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Passwords</a:t>
            </a:r>
            <a:endParaRPr lang="en-US" sz="2100" dirty="0"/>
          </a:p>
        </p:txBody>
      </p:sp>
      <p:sp>
        <p:nvSpPr>
          <p:cNvPr id="20" name="Text 14"/>
          <p:cNvSpPr txBox="1"/>
          <p:nvPr/>
        </p:nvSpPr>
        <p:spPr>
          <a:xfrm>
            <a:off x="8339328" y="265176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Sites keep a hash of your password, not the password itself.</a:t>
            </a:r>
            <a:endParaRPr lang="en-US" sz="1500" dirty="0"/>
          </a:p>
        </p:txBody>
      </p:sp>
      <p:sp>
        <p:nvSpPr>
          <p:cNvPr id="21" name="Shape 15"/>
          <p:cNvSpPr/>
          <p:nvPr/>
        </p:nvSpPr>
        <p:spPr>
          <a:xfrm>
            <a:off x="548640" y="3749040"/>
            <a:ext cx="3566160" cy="2057400"/>
          </a:xfrm>
          <a:prstGeom prst="roundRect">
            <a:avLst>
              <a:gd name="adj" fmla="val 4444"/>
            </a:avLst>
          </a:prstGeom>
          <a:solidFill>
            <a:srgbClr val="F1F5FB"/>
          </a:solidFill>
          <a:ln/>
        </p:spPr>
      </p:sp>
      <p:sp>
        <p:nvSpPr>
          <p:cNvPr id="22" name="Shape 16"/>
          <p:cNvSpPr/>
          <p:nvPr/>
        </p:nvSpPr>
        <p:spPr>
          <a:xfrm>
            <a:off x="822960" y="4023360"/>
            <a:ext cx="731520" cy="731520"/>
          </a:xfrm>
          <a:prstGeom prst="ellipse">
            <a:avLst/>
          </a:prstGeom>
          <a:solidFill>
            <a:srgbClr val="D1416B"/>
          </a:solidFill>
          <a:ln/>
        </p:spPr>
      </p:sp>
      <p:pic>
        <p:nvPicPr>
          <p:cNvPr id="23" name="Image 3" descr="preencoded.png">    </p:cNvPr>
          <p:cNvPicPr>
            <a:picLocks noChangeAspect="1"/>
          </p:cNvPicPr>
          <p:nvPr/>
        </p:nvPicPr>
        <p:blipFill>
          <a:blip r:embed="rId4"/>
          <a:stretch>
            <a:fillRect/>
          </a:stretch>
        </p:blipFill>
        <p:spPr>
          <a:xfrm>
            <a:off x="1005840" y="4206240"/>
            <a:ext cx="365760" cy="365760"/>
          </a:xfrm>
          <a:prstGeom prst="rect">
            <a:avLst/>
          </a:prstGeom>
        </p:spPr>
      </p:pic>
      <p:sp>
        <p:nvSpPr>
          <p:cNvPr id="24" name="Text 17"/>
          <p:cNvSpPr txBox="1"/>
          <p:nvPr/>
        </p:nvSpPr>
        <p:spPr>
          <a:xfrm>
            <a:off x="1737360" y="406908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Wi-Fi</a:t>
            </a:r>
            <a:endParaRPr lang="en-US" sz="2100" dirty="0"/>
          </a:p>
        </p:txBody>
      </p:sp>
      <p:sp>
        <p:nvSpPr>
          <p:cNvPr id="25" name="Text 18"/>
          <p:cNvSpPr txBox="1"/>
          <p:nvPr/>
        </p:nvSpPr>
        <p:spPr>
          <a:xfrm>
            <a:off x="822960" y="489204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WPA2 and WPA3 encrypt the air between you and the router.</a:t>
            </a:r>
            <a:endParaRPr lang="en-US" sz="1500" dirty="0"/>
          </a:p>
        </p:txBody>
      </p:sp>
      <p:sp>
        <p:nvSpPr>
          <p:cNvPr id="26" name="Shape 19"/>
          <p:cNvSpPr/>
          <p:nvPr/>
        </p:nvSpPr>
        <p:spPr>
          <a:xfrm>
            <a:off x="4306824" y="3749040"/>
            <a:ext cx="3566160" cy="2057400"/>
          </a:xfrm>
          <a:prstGeom prst="roundRect">
            <a:avLst>
              <a:gd name="adj" fmla="val 4444"/>
            </a:avLst>
          </a:prstGeom>
          <a:solidFill>
            <a:srgbClr val="F1F5FB"/>
          </a:solidFill>
          <a:ln/>
        </p:spPr>
      </p:sp>
      <p:sp>
        <p:nvSpPr>
          <p:cNvPr id="27" name="Shape 20"/>
          <p:cNvSpPr/>
          <p:nvPr/>
        </p:nvSpPr>
        <p:spPr>
          <a:xfrm>
            <a:off x="4581144" y="4023360"/>
            <a:ext cx="731520" cy="731520"/>
          </a:xfrm>
          <a:prstGeom prst="ellipse">
            <a:avLst/>
          </a:prstGeom>
          <a:solidFill>
            <a:srgbClr val="E8820C"/>
          </a:solidFill>
          <a:ln/>
        </p:spPr>
      </p:sp>
      <p:pic>
        <p:nvPicPr>
          <p:cNvPr id="28" name="Image 4" descr="preencoded.png">    </p:cNvPr>
          <p:cNvPicPr>
            <a:picLocks noChangeAspect="1"/>
          </p:cNvPicPr>
          <p:nvPr/>
        </p:nvPicPr>
        <p:blipFill>
          <a:blip r:embed="rId5"/>
          <a:stretch>
            <a:fillRect/>
          </a:stretch>
        </p:blipFill>
        <p:spPr>
          <a:xfrm>
            <a:off x="4764024" y="4206240"/>
            <a:ext cx="365760" cy="365760"/>
          </a:xfrm>
          <a:prstGeom prst="rect">
            <a:avLst/>
          </a:prstGeom>
        </p:spPr>
      </p:pic>
      <p:sp>
        <p:nvSpPr>
          <p:cNvPr id="29" name="Text 21"/>
          <p:cNvSpPr txBox="1"/>
          <p:nvPr/>
        </p:nvSpPr>
        <p:spPr>
          <a:xfrm>
            <a:off x="5495544" y="406908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Tap to pay</a:t>
            </a:r>
            <a:endParaRPr lang="en-US" sz="2100" dirty="0"/>
          </a:p>
        </p:txBody>
      </p:sp>
      <p:sp>
        <p:nvSpPr>
          <p:cNvPr id="30" name="Text 22"/>
          <p:cNvSpPr txBox="1"/>
          <p:nvPr/>
        </p:nvSpPr>
        <p:spPr>
          <a:xfrm>
            <a:off x="4581144" y="489204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Each payment is signed, so it can't be copied and replayed.</a:t>
            </a:r>
            <a:endParaRPr lang="en-US" sz="1500" dirty="0"/>
          </a:p>
        </p:txBody>
      </p:sp>
      <p:sp>
        <p:nvSpPr>
          <p:cNvPr id="31" name="Shape 23"/>
          <p:cNvSpPr/>
          <p:nvPr/>
        </p:nvSpPr>
        <p:spPr>
          <a:xfrm>
            <a:off x="8065008" y="3749040"/>
            <a:ext cx="3566160" cy="2057400"/>
          </a:xfrm>
          <a:prstGeom prst="roundRect">
            <a:avLst>
              <a:gd name="adj" fmla="val 4444"/>
            </a:avLst>
          </a:prstGeom>
          <a:solidFill>
            <a:srgbClr val="F1F5FB"/>
          </a:solidFill>
          <a:ln/>
        </p:spPr>
      </p:sp>
      <p:sp>
        <p:nvSpPr>
          <p:cNvPr id="32" name="Shape 24"/>
          <p:cNvSpPr/>
          <p:nvPr/>
        </p:nvSpPr>
        <p:spPr>
          <a:xfrm>
            <a:off x="8339328" y="4023360"/>
            <a:ext cx="731520" cy="731520"/>
          </a:xfrm>
          <a:prstGeom prst="ellipse">
            <a:avLst/>
          </a:prstGeom>
          <a:solidFill>
            <a:srgbClr val="0F9488"/>
          </a:solidFill>
          <a:ln/>
        </p:spPr>
      </p:sp>
      <p:pic>
        <p:nvPicPr>
          <p:cNvPr id="33" name="Image 5" descr="preencoded.png">    </p:cNvPr>
          <p:cNvPicPr>
            <a:picLocks noChangeAspect="1"/>
          </p:cNvPicPr>
          <p:nvPr/>
        </p:nvPicPr>
        <p:blipFill>
          <a:blip r:embed="rId6"/>
          <a:stretch>
            <a:fillRect/>
          </a:stretch>
        </p:blipFill>
        <p:spPr>
          <a:xfrm>
            <a:off x="8522208" y="4206240"/>
            <a:ext cx="365760" cy="365760"/>
          </a:xfrm>
          <a:prstGeom prst="rect">
            <a:avLst/>
          </a:prstGeom>
        </p:spPr>
      </p:pic>
      <p:sp>
        <p:nvSpPr>
          <p:cNvPr id="34" name="Text 25"/>
          <p:cNvSpPr txBox="1"/>
          <p:nvPr/>
        </p:nvSpPr>
        <p:spPr>
          <a:xfrm>
            <a:off x="9253728" y="406908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Phone unlock</a:t>
            </a:r>
            <a:endParaRPr lang="en-US" sz="2100" dirty="0"/>
          </a:p>
        </p:txBody>
      </p:sp>
      <p:sp>
        <p:nvSpPr>
          <p:cNvPr id="35" name="Text 26"/>
          <p:cNvSpPr txBox="1"/>
          <p:nvPr/>
        </p:nvSpPr>
        <p:spPr>
          <a:xfrm>
            <a:off x="8339328" y="489204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Your passcode unlocks the key that decrypts your phone.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Key size is everything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Text 3"/>
          <p:cNvSpPr txBox="1"/>
          <p:nvPr/>
        </p:nvSpPr>
        <p:spPr>
          <a:xfrm>
            <a:off x="548640" y="1508760"/>
            <a:ext cx="26517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Caesar</a:t>
            </a:r>
            <a:endParaRPr lang="en-US" sz="1800" dirty="0"/>
          </a:p>
        </p:txBody>
      </p:sp>
      <p:sp>
        <p:nvSpPr>
          <p:cNvPr id="7" name="Text 4"/>
          <p:cNvSpPr txBox="1"/>
          <p:nvPr/>
        </p:nvSpPr>
        <p:spPr>
          <a:xfrm>
            <a:off x="548640" y="1920240"/>
            <a:ext cx="265176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Mission 4</a:t>
            </a:r>
            <a:endParaRPr lang="en-US" sz="1300" dirty="0"/>
          </a:p>
        </p:txBody>
      </p:sp>
      <p:sp>
        <p:nvSpPr>
          <p:cNvPr id="8" name="Shape 5"/>
          <p:cNvSpPr/>
          <p:nvPr/>
        </p:nvSpPr>
        <p:spPr>
          <a:xfrm>
            <a:off x="3291840" y="1581912"/>
            <a:ext cx="8348472" cy="640080"/>
          </a:xfrm>
          <a:prstGeom prst="roundRect">
            <a:avLst>
              <a:gd name="adj" fmla="val 11429"/>
            </a:avLst>
          </a:prstGeom>
          <a:solidFill>
            <a:srgbClr val="E4EAF3"/>
          </a:solidFill>
          <a:ln/>
        </p:spPr>
      </p:sp>
      <p:sp>
        <p:nvSpPr>
          <p:cNvPr id="9" name="Shape 6"/>
          <p:cNvSpPr/>
          <p:nvPr/>
        </p:nvSpPr>
        <p:spPr>
          <a:xfrm>
            <a:off x="3291840" y="1581912"/>
            <a:ext cx="502920" cy="640080"/>
          </a:xfrm>
          <a:prstGeom prst="roundRect">
            <a:avLst>
              <a:gd name="adj" fmla="val 14545"/>
            </a:avLst>
          </a:prstGeom>
          <a:solidFill>
            <a:srgbClr val="2A9FD6"/>
          </a:solidFill>
          <a:ln/>
        </p:spPr>
      </p:sp>
      <p:sp>
        <p:nvSpPr>
          <p:cNvPr id="10" name="Text 7"/>
          <p:cNvSpPr txBox="1"/>
          <p:nvPr/>
        </p:nvSpPr>
        <p:spPr>
          <a:xfrm>
            <a:off x="3977640" y="1581912"/>
            <a:ext cx="3840480" cy="64008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25 keys</a:t>
            </a:r>
            <a:endParaRPr lang="en-US" sz="1600" dirty="0"/>
          </a:p>
        </p:txBody>
      </p:sp>
      <p:sp>
        <p:nvSpPr>
          <p:cNvPr id="11" name="Text 8"/>
          <p:cNvSpPr txBox="1"/>
          <p:nvPr/>
        </p:nvSpPr>
        <p:spPr>
          <a:xfrm>
            <a:off x="7589520" y="1581912"/>
            <a:ext cx="3931920" cy="640080"/>
          </a:xfrm>
          <a:prstGeom prst="rect">
            <a:avLst/>
          </a:prstGeom>
          <a:noFill/>
          <a:ln/>
        </p:spPr>
        <p:txBody>
          <a:bodyPr wrap="square" lIns="0" tIns="0" rIns="0" bIns="0" rtlCol="0" anchor="ctr"/>
          <a:lstStyle/>
          <a:p>
            <a:pPr algn="r" indent="0" marL="0">
              <a:buNone/>
            </a:pPr>
            <a:r>
              <a:rPr lang="en-US" sz="1400" b="1" dirty="0">
                <a:solidFill>
                  <a:srgbClr val="56657E"/>
                </a:solidFill>
                <a:latin typeface="Calibri" pitchFamily="34" charset="0"/>
                <a:ea typeface="Calibri" pitchFamily="34" charset="-122"/>
                <a:cs typeface="Calibri" pitchFamily="34" charset="-120"/>
              </a:rPr>
              <a:t>Try them all by hand</a:t>
            </a:r>
            <a:endParaRPr lang="en-US" sz="1400" dirty="0"/>
          </a:p>
        </p:txBody>
      </p:sp>
      <p:sp>
        <p:nvSpPr>
          <p:cNvPr id="12" name="Text 9"/>
          <p:cNvSpPr txBox="1"/>
          <p:nvPr/>
        </p:nvSpPr>
        <p:spPr>
          <a:xfrm>
            <a:off x="548640" y="2587752"/>
            <a:ext cx="26517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Single-byte XOR</a:t>
            </a:r>
            <a:endParaRPr lang="en-US" sz="1800" dirty="0"/>
          </a:p>
        </p:txBody>
      </p:sp>
      <p:sp>
        <p:nvSpPr>
          <p:cNvPr id="13" name="Text 10"/>
          <p:cNvSpPr txBox="1"/>
          <p:nvPr/>
        </p:nvSpPr>
        <p:spPr>
          <a:xfrm>
            <a:off x="548640" y="2999232"/>
            <a:ext cx="265176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Mission 8</a:t>
            </a:r>
            <a:endParaRPr lang="en-US" sz="1300" dirty="0"/>
          </a:p>
        </p:txBody>
      </p:sp>
      <p:sp>
        <p:nvSpPr>
          <p:cNvPr id="14" name="Shape 11"/>
          <p:cNvSpPr/>
          <p:nvPr/>
        </p:nvSpPr>
        <p:spPr>
          <a:xfrm>
            <a:off x="3291840" y="2660904"/>
            <a:ext cx="8348472" cy="640080"/>
          </a:xfrm>
          <a:prstGeom prst="roundRect">
            <a:avLst>
              <a:gd name="adj" fmla="val 11429"/>
            </a:avLst>
          </a:prstGeom>
          <a:solidFill>
            <a:srgbClr val="E4EAF3"/>
          </a:solidFill>
          <a:ln/>
        </p:spPr>
      </p:sp>
      <p:sp>
        <p:nvSpPr>
          <p:cNvPr id="15" name="Shape 12"/>
          <p:cNvSpPr/>
          <p:nvPr/>
        </p:nvSpPr>
        <p:spPr>
          <a:xfrm>
            <a:off x="3291840" y="2660904"/>
            <a:ext cx="1168786" cy="640080"/>
          </a:xfrm>
          <a:prstGeom prst="roundRect">
            <a:avLst>
              <a:gd name="adj" fmla="val 11429"/>
            </a:avLst>
          </a:prstGeom>
          <a:solidFill>
            <a:srgbClr val="7448D4"/>
          </a:solidFill>
          <a:ln/>
        </p:spPr>
      </p:sp>
      <p:sp>
        <p:nvSpPr>
          <p:cNvPr id="16" name="Text 13"/>
          <p:cNvSpPr txBox="1"/>
          <p:nvPr/>
        </p:nvSpPr>
        <p:spPr>
          <a:xfrm>
            <a:off x="4643506" y="2660904"/>
            <a:ext cx="3840480" cy="64008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255 keys</a:t>
            </a:r>
            <a:endParaRPr lang="en-US" sz="1600" dirty="0"/>
          </a:p>
        </p:txBody>
      </p:sp>
      <p:sp>
        <p:nvSpPr>
          <p:cNvPr id="17" name="Text 14"/>
          <p:cNvSpPr txBox="1"/>
          <p:nvPr/>
        </p:nvSpPr>
        <p:spPr>
          <a:xfrm>
            <a:off x="7589520" y="2660904"/>
            <a:ext cx="3931920" cy="640080"/>
          </a:xfrm>
          <a:prstGeom prst="rect">
            <a:avLst/>
          </a:prstGeom>
          <a:noFill/>
          <a:ln/>
        </p:spPr>
        <p:txBody>
          <a:bodyPr wrap="square" lIns="0" tIns="0" rIns="0" bIns="0" rtlCol="0" anchor="ctr"/>
          <a:lstStyle/>
          <a:p>
            <a:pPr algn="r" indent="0" marL="0">
              <a:buNone/>
            </a:pPr>
            <a:r>
              <a:rPr lang="en-US" sz="1400" b="1" dirty="0">
                <a:solidFill>
                  <a:srgbClr val="56657E"/>
                </a:solidFill>
                <a:latin typeface="Calibri" pitchFamily="34" charset="0"/>
                <a:ea typeface="Calibri" pitchFamily="34" charset="-122"/>
                <a:cs typeface="Calibri" pitchFamily="34" charset="-120"/>
              </a:rPr>
              <a:t>Instant for a computer</a:t>
            </a:r>
            <a:endParaRPr lang="en-US" sz="1400" dirty="0"/>
          </a:p>
        </p:txBody>
      </p:sp>
      <p:sp>
        <p:nvSpPr>
          <p:cNvPr id="18" name="Text 15"/>
          <p:cNvSpPr txBox="1"/>
          <p:nvPr/>
        </p:nvSpPr>
        <p:spPr>
          <a:xfrm>
            <a:off x="548640" y="3666744"/>
            <a:ext cx="26517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6-letter Vigenère</a:t>
            </a:r>
            <a:endParaRPr lang="en-US" sz="1800" dirty="0"/>
          </a:p>
        </p:txBody>
      </p:sp>
      <p:sp>
        <p:nvSpPr>
          <p:cNvPr id="19" name="Text 16"/>
          <p:cNvSpPr txBox="1"/>
          <p:nvPr/>
        </p:nvSpPr>
        <p:spPr>
          <a:xfrm>
            <a:off x="548640" y="4078224"/>
            <a:ext cx="265176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Mission 9</a:t>
            </a:r>
            <a:endParaRPr lang="en-US" sz="1300" dirty="0"/>
          </a:p>
        </p:txBody>
      </p:sp>
      <p:sp>
        <p:nvSpPr>
          <p:cNvPr id="20" name="Shape 17"/>
          <p:cNvSpPr/>
          <p:nvPr/>
        </p:nvSpPr>
        <p:spPr>
          <a:xfrm>
            <a:off x="3291840" y="3739896"/>
            <a:ext cx="8348472" cy="640080"/>
          </a:xfrm>
          <a:prstGeom prst="roundRect">
            <a:avLst>
              <a:gd name="adj" fmla="val 11429"/>
            </a:avLst>
          </a:prstGeom>
          <a:solidFill>
            <a:srgbClr val="E4EAF3"/>
          </a:solidFill>
          <a:ln/>
        </p:spPr>
      </p:sp>
      <p:sp>
        <p:nvSpPr>
          <p:cNvPr id="21" name="Shape 18"/>
          <p:cNvSpPr/>
          <p:nvPr/>
        </p:nvSpPr>
        <p:spPr>
          <a:xfrm>
            <a:off x="3291840" y="3739896"/>
            <a:ext cx="3756812" cy="640080"/>
          </a:xfrm>
          <a:prstGeom prst="roundRect">
            <a:avLst>
              <a:gd name="adj" fmla="val 11429"/>
            </a:avLst>
          </a:prstGeom>
          <a:solidFill>
            <a:srgbClr val="D1416B"/>
          </a:solidFill>
          <a:ln/>
        </p:spPr>
      </p:sp>
      <p:sp>
        <p:nvSpPr>
          <p:cNvPr id="22" name="Text 19"/>
          <p:cNvSpPr txBox="1"/>
          <p:nvPr/>
        </p:nvSpPr>
        <p:spPr>
          <a:xfrm>
            <a:off x="3474720" y="3739896"/>
            <a:ext cx="3840480" cy="6400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308,915,776 keys</a:t>
            </a:r>
            <a:endParaRPr lang="en-US" sz="1600" dirty="0"/>
          </a:p>
        </p:txBody>
      </p:sp>
      <p:sp>
        <p:nvSpPr>
          <p:cNvPr id="23" name="Text 20"/>
          <p:cNvSpPr txBox="1"/>
          <p:nvPr/>
        </p:nvSpPr>
        <p:spPr>
          <a:xfrm>
            <a:off x="7589520" y="3739896"/>
            <a:ext cx="3931920" cy="640080"/>
          </a:xfrm>
          <a:prstGeom prst="rect">
            <a:avLst/>
          </a:prstGeom>
          <a:noFill/>
          <a:ln/>
        </p:spPr>
        <p:txBody>
          <a:bodyPr wrap="square" lIns="0" tIns="0" rIns="0" bIns="0" rtlCol="0" anchor="ctr"/>
          <a:lstStyle/>
          <a:p>
            <a:pPr algn="r" indent="0" marL="0">
              <a:buNone/>
            </a:pPr>
            <a:r>
              <a:rPr lang="en-US" sz="1400" b="1" dirty="0">
                <a:solidFill>
                  <a:srgbClr val="56657E"/>
                </a:solidFill>
                <a:latin typeface="Calibri" pitchFamily="34" charset="0"/>
                <a:ea typeface="Calibri" pitchFamily="34" charset="-122"/>
                <a:cs typeface="Calibri" pitchFamily="34" charset="-120"/>
              </a:rPr>
              <a:t>Find the key instead</a:t>
            </a:r>
            <a:endParaRPr lang="en-US" sz="1400" dirty="0"/>
          </a:p>
        </p:txBody>
      </p:sp>
      <p:sp>
        <p:nvSpPr>
          <p:cNvPr id="24" name="Text 21"/>
          <p:cNvSpPr txBox="1"/>
          <p:nvPr/>
        </p:nvSpPr>
        <p:spPr>
          <a:xfrm>
            <a:off x="548640" y="4745736"/>
            <a:ext cx="26517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AES-128</a:t>
            </a:r>
            <a:endParaRPr lang="en-US" sz="1800" dirty="0"/>
          </a:p>
        </p:txBody>
      </p:sp>
      <p:sp>
        <p:nvSpPr>
          <p:cNvPr id="25" name="Text 22"/>
          <p:cNvSpPr txBox="1"/>
          <p:nvPr/>
        </p:nvSpPr>
        <p:spPr>
          <a:xfrm>
            <a:off x="548640" y="5157216"/>
            <a:ext cx="265176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Real world</a:t>
            </a:r>
            <a:endParaRPr lang="en-US" sz="1300" dirty="0"/>
          </a:p>
        </p:txBody>
      </p:sp>
      <p:sp>
        <p:nvSpPr>
          <p:cNvPr id="26" name="Shape 23"/>
          <p:cNvSpPr/>
          <p:nvPr/>
        </p:nvSpPr>
        <p:spPr>
          <a:xfrm>
            <a:off x="3291840" y="4818888"/>
            <a:ext cx="8348472" cy="640080"/>
          </a:xfrm>
          <a:prstGeom prst="roundRect">
            <a:avLst>
              <a:gd name="adj" fmla="val 11429"/>
            </a:avLst>
          </a:prstGeom>
          <a:solidFill>
            <a:srgbClr val="E4EAF3"/>
          </a:solidFill>
          <a:ln/>
        </p:spPr>
      </p:sp>
      <p:sp>
        <p:nvSpPr>
          <p:cNvPr id="27" name="Shape 24"/>
          <p:cNvSpPr/>
          <p:nvPr/>
        </p:nvSpPr>
        <p:spPr>
          <a:xfrm>
            <a:off x="3291840" y="4818888"/>
            <a:ext cx="8348472" cy="640080"/>
          </a:xfrm>
          <a:prstGeom prst="roundRect">
            <a:avLst>
              <a:gd name="adj" fmla="val 11429"/>
            </a:avLst>
          </a:prstGeom>
          <a:solidFill>
            <a:srgbClr val="B93434"/>
          </a:solidFill>
          <a:ln/>
        </p:spPr>
      </p:sp>
      <p:sp>
        <p:nvSpPr>
          <p:cNvPr id="28" name="Text 25"/>
          <p:cNvSpPr txBox="1"/>
          <p:nvPr/>
        </p:nvSpPr>
        <p:spPr>
          <a:xfrm>
            <a:off x="3474720" y="4818888"/>
            <a:ext cx="3840480" cy="6400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3.4 × 10³⁸ keys</a:t>
            </a:r>
            <a:endParaRPr lang="en-US" sz="1600" dirty="0"/>
          </a:p>
        </p:txBody>
      </p:sp>
      <p:sp>
        <p:nvSpPr>
          <p:cNvPr id="29" name="Text 26"/>
          <p:cNvSpPr txBox="1"/>
          <p:nvPr/>
        </p:nvSpPr>
        <p:spPr>
          <a:xfrm>
            <a:off x="7589520" y="4818888"/>
            <a:ext cx="3931920" cy="64008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Longer than the age of the universe</a:t>
            </a:r>
            <a:endParaRPr lang="en-US" sz="1400" dirty="0"/>
          </a:p>
        </p:txBody>
      </p:sp>
      <p:sp>
        <p:nvSpPr>
          <p:cNvPr id="30" name="Text 27"/>
          <p:cNvSpPr txBox="1"/>
          <p:nvPr/>
        </p:nvSpPr>
        <p:spPr>
          <a:xfrm>
            <a:off x="548640" y="5943600"/>
            <a:ext cx="914400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Bar lengths are not to scale. On a true scale, Caesar's bar would be invisible.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First, identify what you're looking at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5449824" cy="1371600"/>
          </a:xfrm>
          <a:prstGeom prst="roundRect">
            <a:avLst>
              <a:gd name="adj" fmla="val 6667"/>
            </a:avLst>
          </a:prstGeom>
          <a:solidFill>
            <a:srgbClr val="F1F5FB"/>
          </a:solidFill>
          <a:ln/>
        </p:spPr>
      </p:sp>
      <p:sp>
        <p:nvSpPr>
          <p:cNvPr id="7" name="Shape 4"/>
          <p:cNvSpPr/>
          <p:nvPr/>
        </p:nvSpPr>
        <p:spPr>
          <a:xfrm>
            <a:off x="548640" y="1463040"/>
            <a:ext cx="109728" cy="1371600"/>
          </a:xfrm>
          <a:prstGeom prst="rect">
            <a:avLst/>
          </a:prstGeom>
          <a:solidFill>
            <a:srgbClr val="17875A"/>
          </a:solidFill>
          <a:ln/>
        </p:spPr>
      </p:sp>
      <p:sp>
        <p:nvSpPr>
          <p:cNvPr id="8" name="Text 5"/>
          <p:cNvSpPr txBox="1"/>
          <p:nvPr/>
        </p:nvSpPr>
        <p:spPr>
          <a:xfrm>
            <a:off x="868680" y="1572768"/>
            <a:ext cx="2377440" cy="411480"/>
          </a:xfrm>
          <a:prstGeom prst="rect">
            <a:avLst/>
          </a:prstGeom>
          <a:noFill/>
          <a:ln/>
        </p:spPr>
        <p:txBody>
          <a:bodyPr wrap="square" lIns="0" tIns="0" rIns="0" bIns="0" rtlCol="0" anchor="t"/>
          <a:lstStyle/>
          <a:p>
            <a:pPr indent="0" marL="0">
              <a:buNone/>
            </a:pPr>
            <a:r>
              <a:rPr lang="en-US" sz="1900" b="1" dirty="0">
                <a:solidFill>
                  <a:srgbClr val="17875A"/>
                </a:solidFill>
                <a:latin typeface="Arial" pitchFamily="34" charset="0"/>
                <a:ea typeface="Arial" pitchFamily="34" charset="-122"/>
                <a:cs typeface="Arial" pitchFamily="34" charset="-120"/>
              </a:rPr>
              <a:t>Base64</a:t>
            </a:r>
            <a:endParaRPr lang="en-US" sz="1900" dirty="0"/>
          </a:p>
        </p:txBody>
      </p:sp>
      <p:sp>
        <p:nvSpPr>
          <p:cNvPr id="9" name="Shape 6"/>
          <p:cNvSpPr/>
          <p:nvPr/>
        </p:nvSpPr>
        <p:spPr>
          <a:xfrm>
            <a:off x="3383280" y="1600200"/>
            <a:ext cx="2423160" cy="384048"/>
          </a:xfrm>
          <a:prstGeom prst="roundRect">
            <a:avLst>
              <a:gd name="adj" fmla="val 14286"/>
            </a:avLst>
          </a:prstGeom>
          <a:solidFill>
            <a:srgbClr val="0E1726"/>
          </a:solidFill>
          <a:ln/>
        </p:spPr>
      </p:sp>
      <p:sp>
        <p:nvSpPr>
          <p:cNvPr id="10" name="Text 7"/>
          <p:cNvSpPr txBox="1"/>
          <p:nvPr/>
        </p:nvSpPr>
        <p:spPr>
          <a:xfrm>
            <a:off x="3383280" y="1600200"/>
            <a:ext cx="242316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base64 -d</a:t>
            </a:r>
            <a:endParaRPr lang="en-US" sz="1300" dirty="0"/>
          </a:p>
        </p:txBody>
      </p:sp>
      <p:sp>
        <p:nvSpPr>
          <p:cNvPr id="11" name="Text 8"/>
          <p:cNvSpPr txBox="1"/>
          <p:nvPr/>
        </p:nvSpPr>
        <p:spPr>
          <a:xfrm>
            <a:off x="868680" y="205740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RW5jb2RpbmcgaXMg...==</a:t>
            </a:r>
            <a:endParaRPr lang="en-US" sz="1300" dirty="0"/>
          </a:p>
        </p:txBody>
      </p:sp>
      <p:sp>
        <p:nvSpPr>
          <p:cNvPr id="12" name="Text 9"/>
          <p:cNvSpPr txBox="1"/>
          <p:nvPr/>
        </p:nvSpPr>
        <p:spPr>
          <a:xfrm>
            <a:off x="868680" y="239572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Letters, digits, + /, ends in =</a:t>
            </a:r>
            <a:endParaRPr lang="en-US" sz="1350" dirty="0"/>
          </a:p>
        </p:txBody>
      </p:sp>
      <p:sp>
        <p:nvSpPr>
          <p:cNvPr id="13" name="Shape 10"/>
          <p:cNvSpPr/>
          <p:nvPr/>
        </p:nvSpPr>
        <p:spPr>
          <a:xfrm>
            <a:off x="6190488" y="1463040"/>
            <a:ext cx="5449824" cy="1371600"/>
          </a:xfrm>
          <a:prstGeom prst="roundRect">
            <a:avLst>
              <a:gd name="adj" fmla="val 6667"/>
            </a:avLst>
          </a:prstGeom>
          <a:solidFill>
            <a:srgbClr val="F1F5FB"/>
          </a:solidFill>
          <a:ln/>
        </p:spPr>
      </p:sp>
      <p:sp>
        <p:nvSpPr>
          <p:cNvPr id="14" name="Shape 11"/>
          <p:cNvSpPr/>
          <p:nvPr/>
        </p:nvSpPr>
        <p:spPr>
          <a:xfrm>
            <a:off x="6190488" y="1463040"/>
            <a:ext cx="109728" cy="1371600"/>
          </a:xfrm>
          <a:prstGeom prst="rect">
            <a:avLst/>
          </a:prstGeom>
          <a:solidFill>
            <a:srgbClr val="2A9FD6"/>
          </a:solidFill>
          <a:ln/>
        </p:spPr>
      </p:sp>
      <p:sp>
        <p:nvSpPr>
          <p:cNvPr id="15" name="Text 12"/>
          <p:cNvSpPr txBox="1"/>
          <p:nvPr/>
        </p:nvSpPr>
        <p:spPr>
          <a:xfrm>
            <a:off x="6510528" y="1572768"/>
            <a:ext cx="2377440" cy="411480"/>
          </a:xfrm>
          <a:prstGeom prst="rect">
            <a:avLst/>
          </a:prstGeom>
          <a:noFill/>
          <a:ln/>
        </p:spPr>
        <p:txBody>
          <a:bodyPr wrap="square" lIns="0" tIns="0" rIns="0" bIns="0" rtlCol="0" anchor="t"/>
          <a:lstStyle/>
          <a:p>
            <a:pPr indent="0" marL="0">
              <a:buNone/>
            </a:pPr>
            <a:r>
              <a:rPr lang="en-US" sz="1900" b="1" dirty="0">
                <a:solidFill>
                  <a:srgbClr val="2A9FD6"/>
                </a:solidFill>
                <a:latin typeface="Arial" pitchFamily="34" charset="0"/>
                <a:ea typeface="Arial" pitchFamily="34" charset="-122"/>
                <a:cs typeface="Arial" pitchFamily="34" charset="-120"/>
              </a:rPr>
              <a:t>Hex</a:t>
            </a:r>
            <a:endParaRPr lang="en-US" sz="1900" dirty="0"/>
          </a:p>
        </p:txBody>
      </p:sp>
      <p:sp>
        <p:nvSpPr>
          <p:cNvPr id="16" name="Shape 13"/>
          <p:cNvSpPr/>
          <p:nvPr/>
        </p:nvSpPr>
        <p:spPr>
          <a:xfrm>
            <a:off x="9025128" y="1600200"/>
            <a:ext cx="2423160" cy="384048"/>
          </a:xfrm>
          <a:prstGeom prst="roundRect">
            <a:avLst>
              <a:gd name="adj" fmla="val 14286"/>
            </a:avLst>
          </a:prstGeom>
          <a:solidFill>
            <a:srgbClr val="0E1726"/>
          </a:solidFill>
          <a:ln/>
        </p:spPr>
      </p:sp>
      <p:sp>
        <p:nvSpPr>
          <p:cNvPr id="17" name="Text 14"/>
          <p:cNvSpPr txBox="1"/>
          <p:nvPr/>
        </p:nvSpPr>
        <p:spPr>
          <a:xfrm>
            <a:off x="9025128" y="1600200"/>
            <a:ext cx="242316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xxd -r -p</a:t>
            </a:r>
            <a:endParaRPr lang="en-US" sz="1300" dirty="0"/>
          </a:p>
        </p:txBody>
      </p:sp>
      <p:sp>
        <p:nvSpPr>
          <p:cNvPr id="18" name="Text 15"/>
          <p:cNvSpPr txBox="1"/>
          <p:nvPr/>
        </p:nvSpPr>
        <p:spPr>
          <a:xfrm>
            <a:off x="6510528" y="205740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48657820646563...</a:t>
            </a:r>
            <a:endParaRPr lang="en-US" sz="1300" dirty="0"/>
          </a:p>
        </p:txBody>
      </p:sp>
      <p:sp>
        <p:nvSpPr>
          <p:cNvPr id="19" name="Text 16"/>
          <p:cNvSpPr txBox="1"/>
          <p:nvPr/>
        </p:nvSpPr>
        <p:spPr>
          <a:xfrm>
            <a:off x="6510528" y="239572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Only 0–9 and a–f</a:t>
            </a:r>
            <a:endParaRPr lang="en-US" sz="1350" dirty="0"/>
          </a:p>
        </p:txBody>
      </p:sp>
      <p:sp>
        <p:nvSpPr>
          <p:cNvPr id="20" name="Shape 17"/>
          <p:cNvSpPr/>
          <p:nvPr/>
        </p:nvSpPr>
        <p:spPr>
          <a:xfrm>
            <a:off x="548640" y="2971800"/>
            <a:ext cx="5449824" cy="1371600"/>
          </a:xfrm>
          <a:prstGeom prst="roundRect">
            <a:avLst>
              <a:gd name="adj" fmla="val 6667"/>
            </a:avLst>
          </a:prstGeom>
          <a:solidFill>
            <a:srgbClr val="F1F5FB"/>
          </a:solidFill>
          <a:ln/>
        </p:spPr>
      </p:sp>
      <p:sp>
        <p:nvSpPr>
          <p:cNvPr id="21" name="Shape 18"/>
          <p:cNvSpPr/>
          <p:nvPr/>
        </p:nvSpPr>
        <p:spPr>
          <a:xfrm>
            <a:off x="548640" y="2971800"/>
            <a:ext cx="109728" cy="1371600"/>
          </a:xfrm>
          <a:prstGeom prst="rect">
            <a:avLst/>
          </a:prstGeom>
          <a:solidFill>
            <a:srgbClr val="E8820C"/>
          </a:solidFill>
          <a:ln/>
        </p:spPr>
      </p:sp>
      <p:sp>
        <p:nvSpPr>
          <p:cNvPr id="22" name="Text 19"/>
          <p:cNvSpPr txBox="1"/>
          <p:nvPr/>
        </p:nvSpPr>
        <p:spPr>
          <a:xfrm>
            <a:off x="868680" y="3081528"/>
            <a:ext cx="2377440" cy="411480"/>
          </a:xfrm>
          <a:prstGeom prst="rect">
            <a:avLst/>
          </a:prstGeom>
          <a:noFill/>
          <a:ln/>
        </p:spPr>
        <p:txBody>
          <a:bodyPr wrap="square" lIns="0" tIns="0" rIns="0" bIns="0" rtlCol="0" anchor="t"/>
          <a:lstStyle/>
          <a:p>
            <a:pPr indent="0" marL="0">
              <a:buNone/>
            </a:pPr>
            <a:r>
              <a:rPr lang="en-US" sz="1900" b="1" dirty="0">
                <a:solidFill>
                  <a:srgbClr val="E8820C"/>
                </a:solidFill>
                <a:latin typeface="Arial" pitchFamily="34" charset="0"/>
                <a:ea typeface="Arial" pitchFamily="34" charset="-122"/>
                <a:cs typeface="Arial" pitchFamily="34" charset="-120"/>
              </a:rPr>
              <a:t>Morse</a:t>
            </a:r>
            <a:endParaRPr lang="en-US" sz="1900" dirty="0"/>
          </a:p>
        </p:txBody>
      </p:sp>
      <p:sp>
        <p:nvSpPr>
          <p:cNvPr id="23" name="Shape 20"/>
          <p:cNvSpPr/>
          <p:nvPr/>
        </p:nvSpPr>
        <p:spPr>
          <a:xfrm>
            <a:off x="3383280" y="3108960"/>
            <a:ext cx="2423160" cy="384048"/>
          </a:xfrm>
          <a:prstGeom prst="roundRect">
            <a:avLst>
              <a:gd name="adj" fmla="val 14286"/>
            </a:avLst>
          </a:prstGeom>
          <a:solidFill>
            <a:srgbClr val="0E1726"/>
          </a:solidFill>
          <a:ln/>
        </p:spPr>
      </p:sp>
      <p:sp>
        <p:nvSpPr>
          <p:cNvPr id="24" name="Text 21"/>
          <p:cNvSpPr txBox="1"/>
          <p:nvPr/>
        </p:nvSpPr>
        <p:spPr>
          <a:xfrm>
            <a:off x="3383280" y="3108960"/>
            <a:ext cx="242316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morse</a:t>
            </a:r>
            <a:endParaRPr lang="en-US" sz="1300" dirty="0"/>
          </a:p>
        </p:txBody>
      </p:sp>
      <p:sp>
        <p:nvSpPr>
          <p:cNvPr id="25" name="Text 22"/>
          <p:cNvSpPr txBox="1"/>
          <p:nvPr/>
        </p:nvSpPr>
        <p:spPr>
          <a:xfrm>
            <a:off x="868680" y="356616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 .... . / -.-. ---</a:t>
            </a:r>
            <a:endParaRPr lang="en-US" sz="1300" dirty="0"/>
          </a:p>
        </p:txBody>
      </p:sp>
      <p:sp>
        <p:nvSpPr>
          <p:cNvPr id="26" name="Text 23"/>
          <p:cNvSpPr txBox="1"/>
          <p:nvPr/>
        </p:nvSpPr>
        <p:spPr>
          <a:xfrm>
            <a:off x="868680" y="390448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Only . - and /</a:t>
            </a:r>
            <a:endParaRPr lang="en-US" sz="1350" dirty="0"/>
          </a:p>
        </p:txBody>
      </p:sp>
      <p:sp>
        <p:nvSpPr>
          <p:cNvPr id="27" name="Shape 24"/>
          <p:cNvSpPr/>
          <p:nvPr/>
        </p:nvSpPr>
        <p:spPr>
          <a:xfrm>
            <a:off x="6190488" y="2971800"/>
            <a:ext cx="5449824" cy="1371600"/>
          </a:xfrm>
          <a:prstGeom prst="roundRect">
            <a:avLst>
              <a:gd name="adj" fmla="val 6667"/>
            </a:avLst>
          </a:prstGeom>
          <a:solidFill>
            <a:srgbClr val="F1F5FB"/>
          </a:solidFill>
          <a:ln/>
        </p:spPr>
      </p:sp>
      <p:sp>
        <p:nvSpPr>
          <p:cNvPr id="28" name="Shape 25"/>
          <p:cNvSpPr/>
          <p:nvPr/>
        </p:nvSpPr>
        <p:spPr>
          <a:xfrm>
            <a:off x="6190488" y="2971800"/>
            <a:ext cx="109728" cy="1371600"/>
          </a:xfrm>
          <a:prstGeom prst="rect">
            <a:avLst/>
          </a:prstGeom>
          <a:solidFill>
            <a:srgbClr val="7448D4"/>
          </a:solidFill>
          <a:ln/>
        </p:spPr>
      </p:sp>
      <p:sp>
        <p:nvSpPr>
          <p:cNvPr id="29" name="Text 26"/>
          <p:cNvSpPr txBox="1"/>
          <p:nvPr/>
        </p:nvSpPr>
        <p:spPr>
          <a:xfrm>
            <a:off x="6510528" y="3081528"/>
            <a:ext cx="2377440" cy="411480"/>
          </a:xfrm>
          <a:prstGeom prst="rect">
            <a:avLst/>
          </a:prstGeom>
          <a:noFill/>
          <a:ln/>
        </p:spPr>
        <p:txBody>
          <a:bodyPr wrap="square" lIns="0" tIns="0" rIns="0" bIns="0" rtlCol="0" anchor="t"/>
          <a:lstStyle/>
          <a:p>
            <a:pPr indent="0" marL="0">
              <a:buNone/>
            </a:pPr>
            <a:r>
              <a:rPr lang="en-US" sz="1900" b="1" dirty="0">
                <a:solidFill>
                  <a:srgbClr val="7448D4"/>
                </a:solidFill>
                <a:latin typeface="Arial" pitchFamily="34" charset="0"/>
                <a:ea typeface="Arial" pitchFamily="34" charset="-122"/>
                <a:cs typeface="Arial" pitchFamily="34" charset="-120"/>
              </a:rPr>
              <a:t>Caesar / ROT13</a:t>
            </a:r>
            <a:endParaRPr lang="en-US" sz="1900" dirty="0"/>
          </a:p>
        </p:txBody>
      </p:sp>
      <p:sp>
        <p:nvSpPr>
          <p:cNvPr id="30" name="Shape 27"/>
          <p:cNvSpPr/>
          <p:nvPr/>
        </p:nvSpPr>
        <p:spPr>
          <a:xfrm>
            <a:off x="9025128" y="3108960"/>
            <a:ext cx="2423160" cy="384048"/>
          </a:xfrm>
          <a:prstGeom prst="roundRect">
            <a:avLst>
              <a:gd name="adj" fmla="val 14286"/>
            </a:avLst>
          </a:prstGeom>
          <a:solidFill>
            <a:srgbClr val="0E1726"/>
          </a:solidFill>
          <a:ln/>
        </p:spPr>
      </p:sp>
      <p:sp>
        <p:nvSpPr>
          <p:cNvPr id="31" name="Text 28"/>
          <p:cNvSpPr txBox="1"/>
          <p:nvPr/>
        </p:nvSpPr>
        <p:spPr>
          <a:xfrm>
            <a:off x="9025128" y="3108960"/>
            <a:ext cx="242316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caesar all | grep</a:t>
            </a:r>
            <a:endParaRPr lang="en-US" sz="1300" dirty="0"/>
          </a:p>
        </p:txBody>
      </p:sp>
      <p:sp>
        <p:nvSpPr>
          <p:cNvPr id="32" name="Text 29"/>
          <p:cNvSpPr txBox="1"/>
          <p:nvPr/>
        </p:nvSpPr>
        <p:spPr>
          <a:xfrm>
            <a:off x="6510528" y="356616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Mshn: JFIH{...}</a:t>
            </a:r>
            <a:endParaRPr lang="en-US" sz="1300" dirty="0"/>
          </a:p>
        </p:txBody>
      </p:sp>
      <p:sp>
        <p:nvSpPr>
          <p:cNvPr id="33" name="Text 30"/>
          <p:cNvSpPr txBox="1"/>
          <p:nvPr/>
        </p:nvSpPr>
        <p:spPr>
          <a:xfrm>
            <a:off x="6510528" y="390448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Word shapes kept, letters wrong</a:t>
            </a:r>
            <a:endParaRPr lang="en-US" sz="1350" dirty="0"/>
          </a:p>
        </p:txBody>
      </p:sp>
      <p:sp>
        <p:nvSpPr>
          <p:cNvPr id="34" name="Shape 31"/>
          <p:cNvSpPr/>
          <p:nvPr/>
        </p:nvSpPr>
        <p:spPr>
          <a:xfrm>
            <a:off x="548640" y="4480560"/>
            <a:ext cx="5449824" cy="1371600"/>
          </a:xfrm>
          <a:prstGeom prst="roundRect">
            <a:avLst>
              <a:gd name="adj" fmla="val 6667"/>
            </a:avLst>
          </a:prstGeom>
          <a:solidFill>
            <a:srgbClr val="F1F5FB"/>
          </a:solidFill>
          <a:ln/>
        </p:spPr>
      </p:sp>
      <p:sp>
        <p:nvSpPr>
          <p:cNvPr id="35" name="Shape 32"/>
          <p:cNvSpPr/>
          <p:nvPr/>
        </p:nvSpPr>
        <p:spPr>
          <a:xfrm>
            <a:off x="548640" y="4480560"/>
            <a:ext cx="109728" cy="1371600"/>
          </a:xfrm>
          <a:prstGeom prst="rect">
            <a:avLst/>
          </a:prstGeom>
          <a:solidFill>
            <a:srgbClr val="D1416B"/>
          </a:solidFill>
          <a:ln/>
        </p:spPr>
      </p:sp>
      <p:sp>
        <p:nvSpPr>
          <p:cNvPr id="36" name="Text 33"/>
          <p:cNvSpPr txBox="1"/>
          <p:nvPr/>
        </p:nvSpPr>
        <p:spPr>
          <a:xfrm>
            <a:off x="868680" y="4590288"/>
            <a:ext cx="2377440" cy="411480"/>
          </a:xfrm>
          <a:prstGeom prst="rect">
            <a:avLst/>
          </a:prstGeom>
          <a:noFill/>
          <a:ln/>
        </p:spPr>
        <p:txBody>
          <a:bodyPr wrap="square" lIns="0" tIns="0" rIns="0" bIns="0" rtlCol="0" anchor="t"/>
          <a:lstStyle/>
          <a:p>
            <a:pPr indent="0" marL="0">
              <a:buNone/>
            </a:pPr>
            <a:r>
              <a:rPr lang="en-US" sz="1900" b="1" dirty="0">
                <a:solidFill>
                  <a:srgbClr val="D1416B"/>
                </a:solidFill>
                <a:latin typeface="Arial" pitchFamily="34" charset="0"/>
                <a:ea typeface="Arial" pitchFamily="34" charset="-122"/>
                <a:cs typeface="Arial" pitchFamily="34" charset="-120"/>
              </a:rPr>
              <a:t>Atbash</a:t>
            </a:r>
            <a:endParaRPr lang="en-US" sz="1900" dirty="0"/>
          </a:p>
        </p:txBody>
      </p:sp>
      <p:sp>
        <p:nvSpPr>
          <p:cNvPr id="37" name="Shape 34"/>
          <p:cNvSpPr/>
          <p:nvPr/>
        </p:nvSpPr>
        <p:spPr>
          <a:xfrm>
            <a:off x="3383280" y="4617720"/>
            <a:ext cx="2423160" cy="384048"/>
          </a:xfrm>
          <a:prstGeom prst="roundRect">
            <a:avLst>
              <a:gd name="adj" fmla="val 14286"/>
            </a:avLst>
          </a:prstGeom>
          <a:solidFill>
            <a:srgbClr val="0E1726"/>
          </a:solidFill>
          <a:ln/>
        </p:spPr>
      </p:sp>
      <p:sp>
        <p:nvSpPr>
          <p:cNvPr id="38" name="Text 35"/>
          <p:cNvSpPr txBox="1"/>
          <p:nvPr/>
        </p:nvSpPr>
        <p:spPr>
          <a:xfrm>
            <a:off x="3383280" y="4617720"/>
            <a:ext cx="242316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tr (flipped)</a:t>
            </a:r>
            <a:endParaRPr lang="en-US" sz="1300" dirty="0"/>
          </a:p>
        </p:txBody>
      </p:sp>
      <p:sp>
        <p:nvSpPr>
          <p:cNvPr id="39" name="Text 36"/>
          <p:cNvSpPr txBox="1"/>
          <p:nvPr/>
        </p:nvSpPr>
        <p:spPr>
          <a:xfrm>
            <a:off x="868680" y="507492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Uozt: XBYZ{...}</a:t>
            </a:r>
            <a:endParaRPr lang="en-US" sz="1300" dirty="0"/>
          </a:p>
        </p:txBody>
      </p:sp>
      <p:sp>
        <p:nvSpPr>
          <p:cNvPr id="40" name="Text 37"/>
          <p:cNvSpPr txBox="1"/>
          <p:nvPr/>
        </p:nvSpPr>
        <p:spPr>
          <a:xfrm>
            <a:off x="868680" y="541324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Same look; caesar all finds nothing</a:t>
            </a:r>
            <a:endParaRPr lang="en-US" sz="1350" dirty="0"/>
          </a:p>
        </p:txBody>
      </p:sp>
      <p:sp>
        <p:nvSpPr>
          <p:cNvPr id="41" name="Shape 38"/>
          <p:cNvSpPr/>
          <p:nvPr/>
        </p:nvSpPr>
        <p:spPr>
          <a:xfrm>
            <a:off x="6190488" y="4480560"/>
            <a:ext cx="5449824" cy="1371600"/>
          </a:xfrm>
          <a:prstGeom prst="roundRect">
            <a:avLst>
              <a:gd name="adj" fmla="val 6667"/>
            </a:avLst>
          </a:prstGeom>
          <a:solidFill>
            <a:srgbClr val="F1F5FB"/>
          </a:solidFill>
          <a:ln/>
        </p:spPr>
      </p:sp>
      <p:sp>
        <p:nvSpPr>
          <p:cNvPr id="42" name="Shape 39"/>
          <p:cNvSpPr/>
          <p:nvPr/>
        </p:nvSpPr>
        <p:spPr>
          <a:xfrm>
            <a:off x="6190488" y="4480560"/>
            <a:ext cx="109728" cy="1371600"/>
          </a:xfrm>
          <a:prstGeom prst="rect">
            <a:avLst/>
          </a:prstGeom>
          <a:solidFill>
            <a:srgbClr val="2459D8"/>
          </a:solidFill>
          <a:ln/>
        </p:spPr>
      </p:sp>
      <p:sp>
        <p:nvSpPr>
          <p:cNvPr id="43" name="Text 40"/>
          <p:cNvSpPr txBox="1"/>
          <p:nvPr/>
        </p:nvSpPr>
        <p:spPr>
          <a:xfrm>
            <a:off x="6510528" y="4590288"/>
            <a:ext cx="2377440" cy="411480"/>
          </a:xfrm>
          <a:prstGeom prst="rect">
            <a:avLst/>
          </a:prstGeom>
          <a:noFill/>
          <a:ln/>
        </p:spPr>
        <p:txBody>
          <a:bodyPr wrap="square" lIns="0" tIns="0" rIns="0" bIns="0" rtlCol="0" anchor="t"/>
          <a:lstStyle/>
          <a:p>
            <a:pPr indent="0" marL="0">
              <a:buNone/>
            </a:pPr>
            <a:r>
              <a:rPr lang="en-US" sz="1900" b="1" dirty="0">
                <a:solidFill>
                  <a:srgbClr val="2459D8"/>
                </a:solidFill>
                <a:latin typeface="Arial" pitchFamily="34" charset="0"/>
                <a:ea typeface="Arial" pitchFamily="34" charset="-122"/>
                <a:cs typeface="Arial" pitchFamily="34" charset="-120"/>
              </a:rPr>
              <a:t>SHA-256</a:t>
            </a:r>
            <a:endParaRPr lang="en-US" sz="1900" dirty="0"/>
          </a:p>
        </p:txBody>
      </p:sp>
      <p:sp>
        <p:nvSpPr>
          <p:cNvPr id="44" name="Shape 41"/>
          <p:cNvSpPr/>
          <p:nvPr/>
        </p:nvSpPr>
        <p:spPr>
          <a:xfrm>
            <a:off x="9025128" y="4617720"/>
            <a:ext cx="2423160" cy="384048"/>
          </a:xfrm>
          <a:prstGeom prst="roundRect">
            <a:avLst>
              <a:gd name="adj" fmla="val 14286"/>
            </a:avLst>
          </a:prstGeom>
          <a:solidFill>
            <a:srgbClr val="0E1726"/>
          </a:solidFill>
          <a:ln/>
        </p:spPr>
      </p:sp>
      <p:sp>
        <p:nvSpPr>
          <p:cNvPr id="45" name="Text 42"/>
          <p:cNvSpPr txBox="1"/>
          <p:nvPr/>
        </p:nvSpPr>
        <p:spPr>
          <a:xfrm>
            <a:off x="9025128" y="4617720"/>
            <a:ext cx="242316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hashlines | grep</a:t>
            </a:r>
            <a:endParaRPr lang="en-US" sz="1300" dirty="0"/>
          </a:p>
        </p:txBody>
      </p:sp>
      <p:sp>
        <p:nvSpPr>
          <p:cNvPr id="46" name="Text 43"/>
          <p:cNvSpPr txBox="1"/>
          <p:nvPr/>
        </p:nvSpPr>
        <p:spPr>
          <a:xfrm>
            <a:off x="6510528" y="507492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27662c13440b...(64)</a:t>
            </a:r>
            <a:endParaRPr lang="en-US" sz="1300" dirty="0"/>
          </a:p>
        </p:txBody>
      </p:sp>
      <p:sp>
        <p:nvSpPr>
          <p:cNvPr id="47" name="Text 44"/>
          <p:cNvSpPr txBox="1"/>
          <p:nvPr/>
        </p:nvSpPr>
        <p:spPr>
          <a:xfrm>
            <a:off x="6510528" y="541324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Exactly 64 hex characters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Anatomy of the Crypto CTF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sx="100000" sy="100000" kx="0" ky="0" algn="bl" rotWithShape="0" blurRad="127000" dist="38100" dir="5400000">
              <a:srgbClr val="12213A">
                <a:alpha val="15000"/>
              </a:srgbClr>
            </a:outerShdw>
          </a:effectLst>
        </p:spPr>
      </p:sp>
      <p:pic>
        <p:nvPicPr>
          <p:cNvPr id="7" name="Image 0" descr="/home/claude/cyberquest-ctf/slides/img-crypto/page.png">    </p:cNvPr>
          <p:cNvPicPr>
            <a:picLocks noChangeAspect="1"/>
          </p:cNvPicPr>
          <p:nvPr/>
        </p:nvPicPr>
        <p:blipFill>
          <a:blip r:embed="rId1"/>
          <a:stretch>
            <a:fillRect/>
          </a:stretch>
        </p:blipFill>
        <p:spPr>
          <a:xfrm>
            <a:off x="548640" y="1508760"/>
            <a:ext cx="6583680" cy="3872484"/>
          </a:xfrm>
          <a:prstGeom prst="rect">
            <a:avLst/>
          </a:prstGeom>
        </p:spPr>
      </p:pic>
      <p:sp>
        <p:nvSpPr>
          <p:cNvPr id="8" name="Shape 4"/>
          <p:cNvSpPr/>
          <p:nvPr/>
        </p:nvSpPr>
        <p:spPr>
          <a:xfrm>
            <a:off x="2287614" y="1437222"/>
            <a:ext cx="365760" cy="365760"/>
          </a:xfrm>
          <a:prstGeom prst="ellipse">
            <a:avLst/>
          </a:prstGeom>
          <a:solidFill>
            <a:srgbClr val="2A9FD6"/>
          </a:solidFill>
          <a:ln w="25400">
            <a:solidFill>
              <a:srgbClr val="FFFFFF"/>
            </a:solidFill>
            <a:prstDash val="solid"/>
          </a:ln>
        </p:spPr>
      </p:sp>
      <p:sp>
        <p:nvSpPr>
          <p:cNvPr id="9" name="Text 5"/>
          <p:cNvSpPr txBox="1"/>
          <p:nvPr/>
        </p:nvSpPr>
        <p:spPr>
          <a:xfrm>
            <a:off x="2287614" y="143722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722607" y="1814815"/>
            <a:ext cx="365760" cy="365760"/>
          </a:xfrm>
          <a:prstGeom prst="ellipse">
            <a:avLst/>
          </a:prstGeom>
          <a:solidFill>
            <a:srgbClr val="F5A623"/>
          </a:solidFill>
          <a:ln w="25400">
            <a:solidFill>
              <a:srgbClr val="FFFFFF"/>
            </a:solidFill>
            <a:prstDash val="solid"/>
          </a:ln>
        </p:spPr>
      </p:sp>
      <p:sp>
        <p:nvSpPr>
          <p:cNvPr id="11" name="Text 7"/>
          <p:cNvSpPr txBox="1"/>
          <p:nvPr/>
        </p:nvSpPr>
        <p:spPr>
          <a:xfrm>
            <a:off x="4722607" y="181481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477794" y="1814815"/>
            <a:ext cx="365760" cy="365760"/>
          </a:xfrm>
          <a:prstGeom prst="ellipse">
            <a:avLst/>
          </a:prstGeom>
          <a:solidFill>
            <a:srgbClr val="2459D8"/>
          </a:solidFill>
          <a:ln w="25400">
            <a:solidFill>
              <a:srgbClr val="FFFFFF"/>
            </a:solidFill>
            <a:prstDash val="solid"/>
          </a:ln>
        </p:spPr>
      </p:sp>
      <p:sp>
        <p:nvSpPr>
          <p:cNvPr id="13" name="Text 9"/>
          <p:cNvSpPr txBox="1"/>
          <p:nvPr/>
        </p:nvSpPr>
        <p:spPr>
          <a:xfrm>
            <a:off x="5477794" y="181481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497158" y="2090749"/>
            <a:ext cx="365760" cy="365760"/>
          </a:xfrm>
          <a:prstGeom prst="ellipse">
            <a:avLst/>
          </a:prstGeom>
          <a:solidFill>
            <a:srgbClr val="17875A"/>
          </a:solidFill>
          <a:ln w="25400">
            <a:solidFill>
              <a:srgbClr val="FFFFFF"/>
            </a:solidFill>
            <a:prstDash val="solid"/>
          </a:ln>
        </p:spPr>
      </p:sp>
      <p:sp>
        <p:nvSpPr>
          <p:cNvPr id="15" name="Text 11"/>
          <p:cNvSpPr txBox="1"/>
          <p:nvPr/>
        </p:nvSpPr>
        <p:spPr>
          <a:xfrm>
            <a:off x="5497158" y="209074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477794" y="2657139"/>
            <a:ext cx="365760" cy="365760"/>
          </a:xfrm>
          <a:prstGeom prst="ellipse">
            <a:avLst/>
          </a:prstGeom>
          <a:solidFill>
            <a:srgbClr val="D1416B"/>
          </a:solidFill>
          <a:ln w="25400">
            <a:solidFill>
              <a:srgbClr val="FFFFFF"/>
            </a:solidFill>
            <a:prstDash val="solid"/>
          </a:ln>
        </p:spPr>
      </p:sp>
      <p:sp>
        <p:nvSpPr>
          <p:cNvPr id="17" name="Text 13"/>
          <p:cNvSpPr txBox="1"/>
          <p:nvPr/>
        </p:nvSpPr>
        <p:spPr>
          <a:xfrm>
            <a:off x="5477794" y="265713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sp>
      <p:sp>
        <p:nvSpPr>
          <p:cNvPr id="19" name="Text 15"/>
          <p:cNvSpPr txBox="1"/>
          <p:nvPr/>
        </p:nvSpPr>
        <p:spPr>
          <a:xfrm>
            <a:off x="6533119" y="362048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843169"/>
            <a:ext cx="365760" cy="365760"/>
          </a:xfrm>
          <a:prstGeom prst="ellipse">
            <a:avLst/>
          </a:prstGeom>
          <a:solidFill>
            <a:srgbClr val="56657E"/>
          </a:solidFill>
          <a:ln w="25400">
            <a:solidFill>
              <a:srgbClr val="FFFFFF"/>
            </a:solidFill>
            <a:prstDash val="solid"/>
          </a:ln>
        </p:spPr>
      </p:sp>
      <p:sp>
        <p:nvSpPr>
          <p:cNvPr id="21" name="Text 17"/>
          <p:cNvSpPr txBox="1"/>
          <p:nvPr/>
        </p:nvSpPr>
        <p:spPr>
          <a:xfrm>
            <a:off x="2447365" y="384316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sp>
      <p:sp>
        <p:nvSpPr>
          <p:cNvPr id="23" name="Text 19"/>
          <p:cNvSpPr txBox="1"/>
          <p:nvPr/>
        </p:nvSpPr>
        <p:spPr>
          <a:xfrm>
            <a:off x="6470187" y="4985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Mid-game: warm-up and missions 1 to 3 captured, Mission 4 open.</a:t>
            </a:r>
            <a:endParaRPr lang="en-US" sz="1200" dirty="0"/>
          </a:p>
        </p:txBody>
      </p:sp>
      <p:sp>
        <p:nvSpPr>
          <p:cNvPr id="25" name="Shape 21"/>
          <p:cNvSpPr/>
          <p:nvPr/>
        </p:nvSpPr>
        <p:spPr>
          <a:xfrm>
            <a:off x="7406640" y="1527048"/>
            <a:ext cx="329184" cy="329184"/>
          </a:xfrm>
          <a:prstGeom prst="ellipse">
            <a:avLst/>
          </a:prstGeom>
          <a:solidFill>
            <a:srgbClr val="2A9FD6"/>
          </a:solidFill>
          <a:ln/>
        </p:spPr>
      </p:sp>
      <p:sp>
        <p:nvSpPr>
          <p:cNvPr id="26" name="Text 22"/>
          <p:cNvSpPr txBox="1"/>
          <p:nvPr/>
        </p:nvSpPr>
        <p:spPr>
          <a:xfrm>
            <a:off x="7406640" y="1527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Progress track  </a:t>
            </a:r>
            <a:pPr indent="0" marL="0">
              <a:buNone/>
            </a:pP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sp>
      <p:sp>
        <p:nvSpPr>
          <p:cNvPr id="29" name="Text 25"/>
          <p:cNvSpPr txBox="1"/>
          <p:nvPr/>
        </p:nvSpPr>
        <p:spPr>
          <a:xfrm>
            <a:off x="7406640" y="2075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Points  </a:t>
            </a:r>
            <a:pPr indent="0" marL="0">
              <a:buNone/>
            </a:pPr>
            <a:r>
              <a:rPr lang="en-US" sz="1300" dirty="0">
                <a:solidFill>
                  <a:srgbClr val="56657E"/>
                </a:solidFill>
                <a:latin typeface="Calibri" pitchFamily="34" charset="0"/>
                <a:ea typeface="Calibri" pitchFamily="34" charset="-122"/>
                <a:cs typeface="Calibri" pitchFamily="34" charset="-120"/>
              </a:rPr>
              <a:t>Your score, out of 2,750 with the warm-up.</a:t>
            </a:r>
            <a:endParaRPr lang="en-US" sz="1600" dirty="0"/>
          </a:p>
        </p:txBody>
      </p:sp>
      <p:sp>
        <p:nvSpPr>
          <p:cNvPr id="31" name="Shape 27"/>
          <p:cNvSpPr/>
          <p:nvPr/>
        </p:nvSpPr>
        <p:spPr>
          <a:xfrm>
            <a:off x="7406640" y="2624328"/>
            <a:ext cx="329184" cy="329184"/>
          </a:xfrm>
          <a:prstGeom prst="ellipse">
            <a:avLst/>
          </a:prstGeom>
          <a:solidFill>
            <a:srgbClr val="2459D8"/>
          </a:solidFill>
          <a:ln/>
        </p:spPr>
      </p:sp>
      <p:sp>
        <p:nvSpPr>
          <p:cNvPr id="32" name="Text 28"/>
          <p:cNvSpPr txBox="1"/>
          <p:nvPr/>
        </p:nvSpPr>
        <p:spPr>
          <a:xfrm>
            <a:off x="7406640" y="2624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Clock  </a:t>
            </a:r>
            <a:pPr indent="0" marL="0">
              <a:buNone/>
            </a:pP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sp>
      <p:sp>
        <p:nvSpPr>
          <p:cNvPr id="35" name="Text 31"/>
          <p:cNvSpPr txBox="1"/>
          <p:nvPr/>
        </p:nvSpPr>
        <p:spPr>
          <a:xfrm>
            <a:off x="7406640" y="31729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Stepper  </a:t>
            </a:r>
            <a:pPr indent="0" marL="0">
              <a:buNone/>
            </a:pPr>
            <a:r>
              <a:rPr lang="en-US" sz="1300" dirty="0">
                <a:solidFill>
                  <a:srgbClr val="56657E"/>
                </a:solidFill>
                <a:latin typeface="Calibri" pitchFamily="34" charset="0"/>
                <a:ea typeface="Calibri" pitchFamily="34" charset="-122"/>
                <a:cs typeface="Calibri" pitchFamily="34" charset="-120"/>
              </a:rPr>
              <a:t>0 is the warm-up; a green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sp>
      <p:sp>
        <p:nvSpPr>
          <p:cNvPr id="38" name="Text 34"/>
          <p:cNvSpPr txBox="1"/>
          <p:nvPr/>
        </p:nvSpPr>
        <p:spPr>
          <a:xfrm>
            <a:off x="7406640" y="3721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Level and points  </a:t>
            </a:r>
            <a:pPr indent="0" marL="0">
              <a:buNone/>
            </a:pP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sp>
      <p:sp>
        <p:nvSpPr>
          <p:cNvPr id="41" name="Text 37"/>
          <p:cNvSpPr txBox="1"/>
          <p:nvPr/>
        </p:nvSpPr>
        <p:spPr>
          <a:xfrm>
            <a:off x="7406640" y="4270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Copy buttons  </a:t>
            </a:r>
            <a:pPr indent="0" marL="0">
              <a:buNone/>
            </a:pP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sp>
      <p:sp>
        <p:nvSpPr>
          <p:cNvPr id="44" name="Text 40"/>
          <p:cNvSpPr txBox="1"/>
          <p:nvPr/>
        </p:nvSpPr>
        <p:spPr>
          <a:xfrm>
            <a:off x="7406640" y="4818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Terminal  </a:t>
            </a:r>
            <a:pPr indent="0" marL="0">
              <a:buNone/>
            </a:pP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sp>
      <p:sp>
        <p:nvSpPr>
          <p:cNvPr id="47" name="Text 43"/>
          <p:cNvSpPr txBox="1"/>
          <p:nvPr/>
        </p:nvSpPr>
        <p:spPr>
          <a:xfrm>
            <a:off x="7406640" y="5367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Next mission  </a:t>
            </a:r>
            <a:pPr indent="0" marL="0">
              <a:buNone/>
            </a:pP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11</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The codebreaker's toolkit</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Open the Crypto CTF, then one tool per cipher, in the order the missions need them.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caesar --help   # every tool explains itself</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Encodings: base64 and hex</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hi | base64</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10" name="Shape 7"/>
          <p:cNvSpPr/>
          <p:nvPr/>
        </p:nvSpPr>
        <p:spPr>
          <a:xfrm>
            <a:off x="548640" y="109728"/>
            <a:ext cx="1792224" cy="274320"/>
          </a:xfrm>
          <a:prstGeom prst="roundRect">
            <a:avLst>
              <a:gd name="adj" fmla="val 50000"/>
            </a:avLst>
          </a:prstGeom>
          <a:solidFill>
            <a:srgbClr val="17875A"/>
          </a:solidFill>
          <a:ln/>
        </p:spPr>
      </p:sp>
      <p:sp>
        <p:nvSpPr>
          <p:cNvPr id="11" name="Text 8"/>
          <p:cNvSpPr txBox="1"/>
          <p:nvPr/>
        </p:nvSpPr>
        <p:spPr>
          <a:xfrm>
            <a:off x="548640" y="109728"/>
            <a:ext cx="179222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1 &amp; 2</a:t>
            </a:r>
            <a:endParaRPr lang="en-US" sz="1100" dirty="0"/>
          </a:p>
        </p:txBody>
      </p:sp>
      <p:sp>
        <p:nvSpPr>
          <p:cNvPr id="12" name="Shape 9"/>
          <p:cNvSpPr/>
          <p:nvPr/>
        </p:nvSpPr>
        <p:spPr>
          <a:xfrm>
            <a:off x="548640" y="1600200"/>
            <a:ext cx="2103120" cy="457200"/>
          </a:xfrm>
          <a:prstGeom prst="roundRect">
            <a:avLst>
              <a:gd name="adj" fmla="val 16000"/>
            </a:avLst>
          </a:prstGeom>
          <a:solidFill>
            <a:srgbClr val="0E1726"/>
          </a:solidFill>
          <a:ln/>
        </p:spPr>
      </p:sp>
      <p:sp>
        <p:nvSpPr>
          <p:cNvPr id="13" name="Text 10"/>
          <p:cNvSpPr txBox="1"/>
          <p:nvPr/>
        </p:nvSpPr>
        <p:spPr>
          <a:xfrm>
            <a:off x="548640" y="160020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base64</a:t>
            </a:r>
            <a:endParaRPr lang="en-US" sz="1500" dirty="0"/>
          </a:p>
        </p:txBody>
      </p:sp>
      <p:sp>
        <p:nvSpPr>
          <p:cNvPr id="14" name="Text 11"/>
          <p:cNvSpPr txBox="1"/>
          <p:nvPr/>
        </p:nvSpPr>
        <p:spPr>
          <a:xfrm>
            <a:off x="2880360" y="16002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encode text as base64</a:t>
            </a:r>
            <a:endParaRPr lang="en-US" sz="1700" dirty="0"/>
          </a:p>
        </p:txBody>
      </p:sp>
      <p:sp>
        <p:nvSpPr>
          <p:cNvPr id="15" name="Shape 12"/>
          <p:cNvSpPr/>
          <p:nvPr/>
        </p:nvSpPr>
        <p:spPr>
          <a:xfrm>
            <a:off x="548640" y="2194560"/>
            <a:ext cx="2103120" cy="457200"/>
          </a:xfrm>
          <a:prstGeom prst="roundRect">
            <a:avLst>
              <a:gd name="adj" fmla="val 16000"/>
            </a:avLst>
          </a:prstGeom>
          <a:solidFill>
            <a:srgbClr val="0E1726"/>
          </a:solidFill>
          <a:ln/>
        </p:spPr>
      </p:sp>
      <p:sp>
        <p:nvSpPr>
          <p:cNvPr id="16" name="Text 13"/>
          <p:cNvSpPr txBox="1"/>
          <p:nvPr/>
        </p:nvSpPr>
        <p:spPr>
          <a:xfrm>
            <a:off x="548640" y="219456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base64 -d</a:t>
            </a:r>
            <a:endParaRPr lang="en-US" sz="1500" dirty="0"/>
          </a:p>
        </p:txBody>
      </p:sp>
      <p:sp>
        <p:nvSpPr>
          <p:cNvPr id="17" name="Text 14"/>
          <p:cNvSpPr txBox="1"/>
          <p:nvPr/>
        </p:nvSpPr>
        <p:spPr>
          <a:xfrm>
            <a:off x="2880360" y="219456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decode it again</a:t>
            </a:r>
            <a:endParaRPr lang="en-US" sz="1700" dirty="0"/>
          </a:p>
        </p:txBody>
      </p:sp>
      <p:sp>
        <p:nvSpPr>
          <p:cNvPr id="18" name="Shape 15"/>
          <p:cNvSpPr/>
          <p:nvPr/>
        </p:nvSpPr>
        <p:spPr>
          <a:xfrm>
            <a:off x="548640" y="2971800"/>
            <a:ext cx="2103120" cy="457200"/>
          </a:xfrm>
          <a:prstGeom prst="roundRect">
            <a:avLst>
              <a:gd name="adj" fmla="val 16000"/>
            </a:avLst>
          </a:prstGeom>
          <a:solidFill>
            <a:srgbClr val="0E1726"/>
          </a:solidFill>
          <a:ln/>
        </p:spPr>
      </p:sp>
      <p:sp>
        <p:nvSpPr>
          <p:cNvPr id="19" name="Text 16"/>
          <p:cNvSpPr txBox="1"/>
          <p:nvPr/>
        </p:nvSpPr>
        <p:spPr>
          <a:xfrm>
            <a:off x="548640" y="297180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xxd -p</a:t>
            </a:r>
            <a:endParaRPr lang="en-US" sz="1500" dirty="0"/>
          </a:p>
        </p:txBody>
      </p:sp>
      <p:sp>
        <p:nvSpPr>
          <p:cNvPr id="20" name="Text 17"/>
          <p:cNvSpPr txBox="1"/>
          <p:nvPr/>
        </p:nvSpPr>
        <p:spPr>
          <a:xfrm>
            <a:off x="2880360" y="29718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show text as plain hex</a:t>
            </a:r>
            <a:endParaRPr lang="en-US" sz="1700" dirty="0"/>
          </a:p>
        </p:txBody>
      </p:sp>
      <p:sp>
        <p:nvSpPr>
          <p:cNvPr id="21" name="Shape 18"/>
          <p:cNvSpPr/>
          <p:nvPr/>
        </p:nvSpPr>
        <p:spPr>
          <a:xfrm>
            <a:off x="548640" y="3566160"/>
            <a:ext cx="2103120" cy="457200"/>
          </a:xfrm>
          <a:prstGeom prst="roundRect">
            <a:avLst>
              <a:gd name="adj" fmla="val 16000"/>
            </a:avLst>
          </a:prstGeom>
          <a:solidFill>
            <a:srgbClr val="0E1726"/>
          </a:solidFill>
          <a:ln/>
        </p:spPr>
      </p:sp>
      <p:sp>
        <p:nvSpPr>
          <p:cNvPr id="22" name="Text 19"/>
          <p:cNvSpPr txBox="1"/>
          <p:nvPr/>
        </p:nvSpPr>
        <p:spPr>
          <a:xfrm>
            <a:off x="548640" y="356616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xxd -r -p</a:t>
            </a:r>
            <a:endParaRPr lang="en-US" sz="1500" dirty="0"/>
          </a:p>
        </p:txBody>
      </p:sp>
      <p:sp>
        <p:nvSpPr>
          <p:cNvPr id="23" name="Text 20"/>
          <p:cNvSpPr txBox="1"/>
          <p:nvPr/>
        </p:nvSpPr>
        <p:spPr>
          <a:xfrm>
            <a:off x="2880360" y="356616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turn plain hex back into text</a:t>
            </a:r>
            <a:endParaRPr lang="en-US" sz="1700" dirty="0"/>
          </a:p>
        </p:txBody>
      </p:sp>
      <p:sp>
        <p:nvSpPr>
          <p:cNvPr id="24" name="Shape 21"/>
          <p:cNvSpPr/>
          <p:nvPr/>
        </p:nvSpPr>
        <p:spPr>
          <a:xfrm>
            <a:off x="548640" y="4343400"/>
            <a:ext cx="5394960" cy="1600200"/>
          </a:xfrm>
          <a:prstGeom prst="roundRect">
            <a:avLst>
              <a:gd name="adj" fmla="val 5714"/>
            </a:avLst>
          </a:prstGeom>
          <a:solidFill>
            <a:srgbClr val="FFF4DC"/>
          </a:solidFill>
          <a:ln/>
        </p:spPr>
      </p:sp>
      <p:sp>
        <p:nvSpPr>
          <p:cNvPr id="25" name="Text 22"/>
          <p:cNvSpPr txBox="1"/>
          <p:nvPr/>
        </p:nvSpPr>
        <p:spPr>
          <a:xfrm>
            <a:off x="822960" y="4434840"/>
            <a:ext cx="4846320" cy="1417320"/>
          </a:xfrm>
          <a:prstGeom prst="rect">
            <a:avLst/>
          </a:prstGeom>
          <a:noFill/>
          <a:ln/>
        </p:spPr>
        <p:txBody>
          <a:bodyPr wrap="square" lIns="0" tIns="0" rIns="0" bIns="0" rtlCol="0" anchor="ctr"/>
          <a:lstStyle/>
          <a:p>
            <a:pPr indent="0" marL="0">
              <a:buNone/>
            </a:pPr>
            <a:r>
              <a:rPr lang="en-US" sz="1600" b="1" dirty="0">
                <a:solidFill>
                  <a:srgbClr val="12213A"/>
                </a:solidFill>
                <a:latin typeface="Calibri" pitchFamily="34" charset="0"/>
                <a:ea typeface="Calibri" pitchFamily="34" charset="-122"/>
                <a:cs typeface="Calibri" pitchFamily="34" charset="-120"/>
              </a:rPr>
              <a:t>Encoding is not encryption. </a:t>
            </a:r>
            <a:pPr indent="0" marL="0">
              <a:buNone/>
            </a:pPr>
            <a:r>
              <a:rPr lang="en-US" sz="1600" dirty="0">
                <a:solidFill>
                  <a:srgbClr val="12213A"/>
                </a:solidFill>
                <a:latin typeface="Calibri" pitchFamily="34" charset="0"/>
                <a:ea typeface="Calibri" pitchFamily="34" charset="-122"/>
                <a:cs typeface="Calibri" pitchFamily="34" charset="-120"/>
              </a:rPr>
              <a:t>There is no key. Anyone who recognises the format can read it. It moves data safely; it does not keep secrets.</a:t>
            </a:r>
            <a:endParaRPr lang="en-US" sz="1600" dirty="0"/>
          </a:p>
        </p:txBody>
      </p:sp>
      <p:sp>
        <p:nvSpPr>
          <p:cNvPr id="26" name="Shape 23"/>
          <p:cNvSpPr/>
          <p:nvPr/>
        </p:nvSpPr>
        <p:spPr>
          <a:xfrm>
            <a:off x="6309360" y="1463040"/>
            <a:ext cx="533095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7" name="Shape 24"/>
          <p:cNvSpPr/>
          <p:nvPr/>
        </p:nvSpPr>
        <p:spPr>
          <a:xfrm>
            <a:off x="6510528" y="1618488"/>
            <a:ext cx="118872" cy="118872"/>
          </a:xfrm>
          <a:prstGeom prst="ellipse">
            <a:avLst/>
          </a:prstGeom>
          <a:solidFill>
            <a:srgbClr val="E5534B"/>
          </a:solidFill>
          <a:ln/>
        </p:spPr>
      </p:sp>
      <p:sp>
        <p:nvSpPr>
          <p:cNvPr id="28" name="Shape 25"/>
          <p:cNvSpPr/>
          <p:nvPr/>
        </p:nvSpPr>
        <p:spPr>
          <a:xfrm>
            <a:off x="6711696" y="1618488"/>
            <a:ext cx="118872" cy="118872"/>
          </a:xfrm>
          <a:prstGeom prst="ellipse">
            <a:avLst/>
          </a:prstGeom>
          <a:solidFill>
            <a:srgbClr val="F5A623"/>
          </a:solidFill>
          <a:ln/>
        </p:spPr>
      </p:sp>
      <p:sp>
        <p:nvSpPr>
          <p:cNvPr id="29" name="Shape 26"/>
          <p:cNvSpPr/>
          <p:nvPr/>
        </p:nvSpPr>
        <p:spPr>
          <a:xfrm>
            <a:off x="6912864" y="1618488"/>
            <a:ext cx="118872" cy="118872"/>
          </a:xfrm>
          <a:prstGeom prst="ellipse">
            <a:avLst/>
          </a:prstGeom>
          <a:solidFill>
            <a:srgbClr val="46D39A"/>
          </a:solidFill>
          <a:ln/>
        </p:spPr>
      </p:sp>
      <p:sp>
        <p:nvSpPr>
          <p:cNvPr id="30" name="Text 27"/>
          <p:cNvSpPr txBox="1"/>
          <p:nvPr/>
        </p:nvSpPr>
        <p:spPr>
          <a:xfrm>
            <a:off x="7223760" y="1536192"/>
            <a:ext cx="35021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1" name="Text 28"/>
          <p:cNvSpPr txBox="1"/>
          <p:nvPr/>
        </p:nvSpPr>
        <p:spPr>
          <a:xfrm>
            <a:off x="6583680" y="1920240"/>
            <a:ext cx="4782312" cy="3886200"/>
          </a:xfrm>
          <a:prstGeom prst="rect">
            <a:avLst/>
          </a:prstGeom>
          <a:noFill/>
          <a:ln/>
        </p:spPr>
        <p:txBody>
          <a:bodyPr wrap="square" lIns="0" tIns="0" rIns="0" bIns="0" rtlCol="0" anchor="t"/>
          <a:lstStyle/>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echo hi | base64</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aGkK</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echo aGkK | base64 -d</a:t>
            </a:r>
            <a:endParaRPr lang="en-US" sz="1600" dirty="0"/>
          </a:p>
          <a:p>
            <a:pPr indent="0" marL="0">
              <a:spcAft>
                <a:spcPts val="200"/>
              </a:spcAft>
              <a:buNone/>
            </a:pPr>
            <a:r>
              <a:rPr lang="en-US" sz="1600" b="1" dirty="0">
                <a:solidFill>
                  <a:srgbClr val="F5A623"/>
                </a:solidFill>
                <a:latin typeface="Courier New" pitchFamily="34" charset="0"/>
                <a:ea typeface="Courier New" pitchFamily="34" charset="-122"/>
                <a:cs typeface="Courier New" pitchFamily="34" charset="-120"/>
              </a:rPr>
              <a:t>hi</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echo hi | xxd -p</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68690a</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echo 68690a | xxd -r -p</a:t>
            </a:r>
            <a:endParaRPr lang="en-US" sz="1600" dirty="0"/>
          </a:p>
          <a:p>
            <a:pPr indent="0" marL="0">
              <a:spcAft>
                <a:spcPts val="200"/>
              </a:spcAft>
              <a:buNone/>
            </a:pPr>
            <a:r>
              <a:rPr lang="en-US" sz="1600" b="1" dirty="0">
                <a:solidFill>
                  <a:srgbClr val="F5A623"/>
                </a:solidFill>
                <a:latin typeface="Courier New" pitchFamily="34" charset="0"/>
                <a:ea typeface="Courier New" pitchFamily="34" charset="-122"/>
                <a:cs typeface="Courier New" pitchFamily="34" charset="-120"/>
              </a:rPr>
              <a:t>hi</a:t>
            </a:r>
            <a:endParaRPr lang="en-US" sz="1600" dirty="0"/>
          </a:p>
          <a:p>
            <a:pPr indent="0" marL="0">
              <a:spcAft>
                <a:spcPts val="200"/>
              </a:spcAft>
              <a:buNone/>
            </a:pPr>
            <a:r>
              <a:rPr lang="en-US" sz="1600" dirty="0">
                <a:solidFill>
                  <a:srgbClr val="7F8FAD"/>
                </a:solidFill>
                <a:latin typeface="Courier New" pitchFamily="34" charset="0"/>
                <a:ea typeface="Courier New" pitchFamily="34" charset="-122"/>
                <a:cs typeface="Courier New" pitchFamily="34" charset="-120"/>
              </a:rPr>
              <a:t># 68 = h, 69 = i, 0a = new line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Swap letters: ROT13 and Atbash</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HI | tr A-Z N-ZA-M</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13</a:t>
            </a:r>
            <a:endParaRPr lang="en-US" sz="1000" dirty="0"/>
          </a:p>
        </p:txBody>
      </p:sp>
      <p:sp>
        <p:nvSpPr>
          <p:cNvPr id="10" name="Shape 7"/>
          <p:cNvSpPr/>
          <p:nvPr/>
        </p:nvSpPr>
        <p:spPr>
          <a:xfrm>
            <a:off x="548640" y="109728"/>
            <a:ext cx="2139696" cy="274320"/>
          </a:xfrm>
          <a:prstGeom prst="roundRect">
            <a:avLst>
              <a:gd name="adj" fmla="val 50000"/>
            </a:avLst>
          </a:prstGeom>
          <a:solidFill>
            <a:srgbClr val="2459D8"/>
          </a:solidFill>
          <a:ln/>
        </p:spPr>
      </p:sp>
      <p:sp>
        <p:nvSpPr>
          <p:cNvPr id="11" name="Text 8"/>
          <p:cNvSpPr txBox="1"/>
          <p:nvPr/>
        </p:nvSpPr>
        <p:spPr>
          <a:xfrm>
            <a:off x="548640" y="109728"/>
            <a:ext cx="21396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3 &amp; 5 &amp; 9</a:t>
            </a:r>
            <a:endParaRPr lang="en-US" sz="1100" dirty="0"/>
          </a:p>
        </p:txBody>
      </p:sp>
      <p:sp>
        <p:nvSpPr>
          <p:cNvPr id="12" name="Shape 9"/>
          <p:cNvSpPr/>
          <p:nvPr/>
        </p:nvSpPr>
        <p:spPr>
          <a:xfrm>
            <a:off x="548640" y="1508760"/>
            <a:ext cx="6400800" cy="1737360"/>
          </a:xfrm>
          <a:prstGeom prst="roundRect">
            <a:avLst>
              <a:gd name="adj" fmla="val 5263"/>
            </a:avLst>
          </a:prstGeom>
          <a:solidFill>
            <a:srgbClr val="F1F5FB"/>
          </a:solidFill>
          <a:ln/>
        </p:spPr>
      </p:sp>
      <p:sp>
        <p:nvSpPr>
          <p:cNvPr id="13" name="Text 10"/>
          <p:cNvSpPr txBox="1"/>
          <p:nvPr/>
        </p:nvSpPr>
        <p:spPr>
          <a:xfrm>
            <a:off x="822960" y="1645920"/>
            <a:ext cx="1828800" cy="411480"/>
          </a:xfrm>
          <a:prstGeom prst="rect">
            <a:avLst/>
          </a:prstGeom>
          <a:noFill/>
          <a:ln/>
        </p:spPr>
        <p:txBody>
          <a:bodyPr wrap="square" lIns="0" tIns="0" rIns="0" bIns="0" rtlCol="0" anchor="t"/>
          <a:lstStyle/>
          <a:p>
            <a:pPr indent="0" marL="0">
              <a:buNone/>
            </a:pPr>
            <a:r>
              <a:rPr lang="en-US" sz="2100" b="1" dirty="0">
                <a:solidFill>
                  <a:srgbClr val="2459D8"/>
                </a:solidFill>
                <a:latin typeface="Arial" pitchFamily="34" charset="0"/>
                <a:ea typeface="Arial" pitchFamily="34" charset="-122"/>
                <a:cs typeface="Arial" pitchFamily="34" charset="-120"/>
              </a:rPr>
              <a:t>ROT13</a:t>
            </a:r>
            <a:endParaRPr lang="en-US" sz="2100" dirty="0"/>
          </a:p>
        </p:txBody>
      </p:sp>
      <p:sp>
        <p:nvSpPr>
          <p:cNvPr id="14" name="Text 11"/>
          <p:cNvSpPr txBox="1"/>
          <p:nvPr/>
        </p:nvSpPr>
        <p:spPr>
          <a:xfrm>
            <a:off x="2560320" y="1645920"/>
            <a:ext cx="4206240" cy="365760"/>
          </a:xfrm>
          <a:prstGeom prst="rect">
            <a:avLst/>
          </a:prstGeom>
          <a:noFill/>
          <a:ln/>
        </p:spPr>
        <p:txBody>
          <a:bodyPr wrap="square" lIns="0" tIns="0" rIns="0" bIns="0" rtlCol="0" anchor="t"/>
          <a:lstStyle/>
          <a:p>
            <a:pPr indent="0" marL="0">
              <a:buNone/>
            </a:pPr>
            <a:r>
              <a:rPr lang="en-US" sz="1500" dirty="0">
                <a:solidFill>
                  <a:srgbClr val="56657E"/>
                </a:solidFill>
                <a:latin typeface="Courier New" pitchFamily="34" charset="0"/>
                <a:ea typeface="Courier New" pitchFamily="34" charset="-122"/>
                <a:cs typeface="Courier New" pitchFamily="34" charset="-120"/>
              </a:rPr>
              <a:t>A B C ... M N O ... Z</a:t>
            </a:r>
            <a:endParaRPr lang="en-US" sz="1500" dirty="0"/>
          </a:p>
        </p:txBody>
      </p:sp>
      <p:sp>
        <p:nvSpPr>
          <p:cNvPr id="15" name="Text 12"/>
          <p:cNvSpPr txBox="1"/>
          <p:nvPr/>
        </p:nvSpPr>
        <p:spPr>
          <a:xfrm>
            <a:off x="2560320" y="2057400"/>
            <a:ext cx="4206240" cy="365760"/>
          </a:xfrm>
          <a:prstGeom prst="rect">
            <a:avLst/>
          </a:prstGeom>
          <a:noFill/>
          <a:ln/>
        </p:spPr>
        <p:txBody>
          <a:bodyPr wrap="square" lIns="0" tIns="0" rIns="0" bIns="0" rtlCol="0" anchor="t"/>
          <a:lstStyle/>
          <a:p>
            <a:pPr indent="0" marL="0">
              <a:buNone/>
            </a:pPr>
            <a:r>
              <a:rPr lang="en-US" sz="1500" b="1" dirty="0">
                <a:solidFill>
                  <a:srgbClr val="2459D8"/>
                </a:solidFill>
                <a:latin typeface="Courier New" pitchFamily="34" charset="0"/>
                <a:ea typeface="Courier New" pitchFamily="34" charset="-122"/>
                <a:cs typeface="Courier New" pitchFamily="34" charset="-120"/>
              </a:rPr>
              <a:t>N O P ... Z A B ... M</a:t>
            </a:r>
            <a:endParaRPr lang="en-US" sz="1500" dirty="0"/>
          </a:p>
        </p:txBody>
      </p:sp>
      <p:sp>
        <p:nvSpPr>
          <p:cNvPr id="16" name="Shape 13"/>
          <p:cNvSpPr/>
          <p:nvPr/>
        </p:nvSpPr>
        <p:spPr>
          <a:xfrm>
            <a:off x="822960" y="2560320"/>
            <a:ext cx="5852160" cy="502920"/>
          </a:xfrm>
          <a:prstGeom prst="roundRect">
            <a:avLst>
              <a:gd name="adj" fmla="val 14545"/>
            </a:avLst>
          </a:prstGeom>
          <a:solidFill>
            <a:srgbClr val="0E1726"/>
          </a:solidFill>
          <a:ln/>
        </p:spPr>
      </p:sp>
      <p:sp>
        <p:nvSpPr>
          <p:cNvPr id="17" name="Text 14"/>
          <p:cNvSpPr txBox="1"/>
          <p:nvPr/>
        </p:nvSpPr>
        <p:spPr>
          <a:xfrm>
            <a:off x="960120" y="2560320"/>
            <a:ext cx="5669280" cy="502920"/>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ourier New" pitchFamily="34" charset="0"/>
                <a:ea typeface="Courier New" pitchFamily="34" charset="-122"/>
                <a:cs typeface="Courier New" pitchFamily="34" charset="-120"/>
              </a:rPr>
              <a:t>tr 'A-Za-z' 'N-ZA-Mn-za-m'</a:t>
            </a:r>
            <a:endParaRPr lang="en-US" sz="1300" dirty="0"/>
          </a:p>
        </p:txBody>
      </p:sp>
      <p:sp>
        <p:nvSpPr>
          <p:cNvPr id="18" name="Shape 15"/>
          <p:cNvSpPr/>
          <p:nvPr/>
        </p:nvSpPr>
        <p:spPr>
          <a:xfrm>
            <a:off x="548640" y="3429000"/>
            <a:ext cx="6400800" cy="1737360"/>
          </a:xfrm>
          <a:prstGeom prst="roundRect">
            <a:avLst>
              <a:gd name="adj" fmla="val 5263"/>
            </a:avLst>
          </a:prstGeom>
          <a:solidFill>
            <a:srgbClr val="F1F5FB"/>
          </a:solidFill>
          <a:ln/>
        </p:spPr>
      </p:sp>
      <p:sp>
        <p:nvSpPr>
          <p:cNvPr id="19" name="Text 16"/>
          <p:cNvSpPr txBox="1"/>
          <p:nvPr/>
        </p:nvSpPr>
        <p:spPr>
          <a:xfrm>
            <a:off x="822960" y="3566160"/>
            <a:ext cx="1828800" cy="411480"/>
          </a:xfrm>
          <a:prstGeom prst="rect">
            <a:avLst/>
          </a:prstGeom>
          <a:noFill/>
          <a:ln/>
        </p:spPr>
        <p:txBody>
          <a:bodyPr wrap="square" lIns="0" tIns="0" rIns="0" bIns="0" rtlCol="0" anchor="t"/>
          <a:lstStyle/>
          <a:p>
            <a:pPr indent="0" marL="0">
              <a:buNone/>
            </a:pPr>
            <a:r>
              <a:rPr lang="en-US" sz="2100" b="1" dirty="0">
                <a:solidFill>
                  <a:srgbClr val="D1416B"/>
                </a:solidFill>
                <a:latin typeface="Arial" pitchFamily="34" charset="0"/>
                <a:ea typeface="Arial" pitchFamily="34" charset="-122"/>
                <a:cs typeface="Arial" pitchFamily="34" charset="-120"/>
              </a:rPr>
              <a:t>Atbash</a:t>
            </a:r>
            <a:endParaRPr lang="en-US" sz="2100" dirty="0"/>
          </a:p>
        </p:txBody>
      </p:sp>
      <p:sp>
        <p:nvSpPr>
          <p:cNvPr id="20" name="Text 17"/>
          <p:cNvSpPr txBox="1"/>
          <p:nvPr/>
        </p:nvSpPr>
        <p:spPr>
          <a:xfrm>
            <a:off x="2560320" y="3566160"/>
            <a:ext cx="4206240" cy="365760"/>
          </a:xfrm>
          <a:prstGeom prst="rect">
            <a:avLst/>
          </a:prstGeom>
          <a:noFill/>
          <a:ln/>
        </p:spPr>
        <p:txBody>
          <a:bodyPr wrap="square" lIns="0" tIns="0" rIns="0" bIns="0" rtlCol="0" anchor="t"/>
          <a:lstStyle/>
          <a:p>
            <a:pPr indent="0" marL="0">
              <a:buNone/>
            </a:pPr>
            <a:r>
              <a:rPr lang="en-US" sz="1500" dirty="0">
                <a:solidFill>
                  <a:srgbClr val="56657E"/>
                </a:solidFill>
                <a:latin typeface="Courier New" pitchFamily="34" charset="0"/>
                <a:ea typeface="Courier New" pitchFamily="34" charset="-122"/>
                <a:cs typeface="Courier New" pitchFamily="34" charset="-120"/>
              </a:rPr>
              <a:t>A B C ... X Y Z</a:t>
            </a:r>
            <a:endParaRPr lang="en-US" sz="1500" dirty="0"/>
          </a:p>
        </p:txBody>
      </p:sp>
      <p:sp>
        <p:nvSpPr>
          <p:cNvPr id="21" name="Text 18"/>
          <p:cNvSpPr txBox="1"/>
          <p:nvPr/>
        </p:nvSpPr>
        <p:spPr>
          <a:xfrm>
            <a:off x="2560320" y="3977640"/>
            <a:ext cx="4206240" cy="365760"/>
          </a:xfrm>
          <a:prstGeom prst="rect">
            <a:avLst/>
          </a:prstGeom>
          <a:noFill/>
          <a:ln/>
        </p:spPr>
        <p:txBody>
          <a:bodyPr wrap="square" lIns="0" tIns="0" rIns="0" bIns="0" rtlCol="0" anchor="t"/>
          <a:lstStyle/>
          <a:p>
            <a:pPr indent="0" marL="0">
              <a:buNone/>
            </a:pPr>
            <a:r>
              <a:rPr lang="en-US" sz="1500" b="1" dirty="0">
                <a:solidFill>
                  <a:srgbClr val="D1416B"/>
                </a:solidFill>
                <a:latin typeface="Courier New" pitchFamily="34" charset="0"/>
                <a:ea typeface="Courier New" pitchFamily="34" charset="-122"/>
                <a:cs typeface="Courier New" pitchFamily="34" charset="-120"/>
              </a:rPr>
              <a:t>Z Y X ... C B A</a:t>
            </a:r>
            <a:endParaRPr lang="en-US" sz="1500" dirty="0"/>
          </a:p>
        </p:txBody>
      </p:sp>
      <p:sp>
        <p:nvSpPr>
          <p:cNvPr id="22" name="Shape 19"/>
          <p:cNvSpPr/>
          <p:nvPr/>
        </p:nvSpPr>
        <p:spPr>
          <a:xfrm>
            <a:off x="822960" y="4480560"/>
            <a:ext cx="5852160" cy="502920"/>
          </a:xfrm>
          <a:prstGeom prst="roundRect">
            <a:avLst>
              <a:gd name="adj" fmla="val 14545"/>
            </a:avLst>
          </a:prstGeom>
          <a:solidFill>
            <a:srgbClr val="0E1726"/>
          </a:solidFill>
          <a:ln/>
        </p:spPr>
      </p:sp>
      <p:sp>
        <p:nvSpPr>
          <p:cNvPr id="23" name="Text 20"/>
          <p:cNvSpPr txBox="1"/>
          <p:nvPr/>
        </p:nvSpPr>
        <p:spPr>
          <a:xfrm>
            <a:off x="960120" y="4480560"/>
            <a:ext cx="5669280" cy="502920"/>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ourier New" pitchFamily="34" charset="0"/>
                <a:ea typeface="Courier New" pitchFamily="34" charset="-122"/>
                <a:cs typeface="Courier New" pitchFamily="34" charset="-120"/>
              </a:rPr>
              <a:t>tr 'A-Z' 'ZYXWVUTSRQPONMLKJIHGFEDCBA'</a:t>
            </a:r>
            <a:endParaRPr lang="en-US" sz="1300" dirty="0"/>
          </a:p>
        </p:txBody>
      </p:sp>
      <p:sp>
        <p:nvSpPr>
          <p:cNvPr id="24" name="Shape 21"/>
          <p:cNvSpPr/>
          <p:nvPr/>
        </p:nvSpPr>
        <p:spPr>
          <a:xfrm>
            <a:off x="548640" y="5440680"/>
            <a:ext cx="6400800" cy="548640"/>
          </a:xfrm>
          <a:prstGeom prst="roundRect">
            <a:avLst>
              <a:gd name="adj" fmla="val 16667"/>
            </a:avLst>
          </a:prstGeom>
          <a:solidFill>
            <a:srgbClr val="E2F5EC"/>
          </a:solidFill>
          <a:ln/>
        </p:spPr>
      </p:sp>
      <p:sp>
        <p:nvSpPr>
          <p:cNvPr id="25" name="Text 22"/>
          <p:cNvSpPr txBox="1"/>
          <p:nvPr/>
        </p:nvSpPr>
        <p:spPr>
          <a:xfrm>
            <a:off x="822960" y="5440680"/>
            <a:ext cx="5943600" cy="548640"/>
          </a:xfrm>
          <a:prstGeom prst="rect">
            <a:avLst/>
          </a:prstGeom>
          <a:noFill/>
          <a:ln/>
        </p:spPr>
        <p:txBody>
          <a:bodyPr wrap="square" lIns="0" tIns="0" rIns="0" bIns="0" rtlCol="0" anchor="ctr"/>
          <a:lstStyle/>
          <a:p>
            <a:pPr indent="0" marL="0">
              <a:buNone/>
            </a:pPr>
            <a:r>
              <a:rPr lang="en-US" sz="1500" b="1" dirty="0">
                <a:solidFill>
                  <a:srgbClr val="0F6A45"/>
                </a:solidFill>
                <a:latin typeface="Calibri" pitchFamily="34" charset="0"/>
                <a:ea typeface="Calibri" pitchFamily="34" charset="-122"/>
                <a:cs typeface="Calibri" pitchFamily="34" charset="-120"/>
              </a:rPr>
              <a:t>Both are their own undo: run them twice and you're back.</a:t>
            </a:r>
            <a:endParaRPr lang="en-US" sz="1500" dirty="0"/>
          </a:p>
        </p:txBody>
      </p:sp>
      <p:sp>
        <p:nvSpPr>
          <p:cNvPr id="26" name="Shape 23"/>
          <p:cNvSpPr/>
          <p:nvPr/>
        </p:nvSpPr>
        <p:spPr>
          <a:xfrm>
            <a:off x="7223760" y="1463040"/>
            <a:ext cx="4416552" cy="4526280"/>
          </a:xfrm>
          <a:prstGeom prst="roundRect">
            <a:avLst>
              <a:gd name="adj" fmla="val 2070"/>
            </a:avLst>
          </a:prstGeom>
          <a:solidFill>
            <a:srgbClr val="0E1726"/>
          </a:solidFill>
          <a:ln/>
          <a:effectLst>
            <a:outerShdw sx="100000" sy="100000" kx="0" ky="0" algn="bl" rotWithShape="0" blurRad="127000" dist="38100" dir="5400000">
              <a:srgbClr val="12213A">
                <a:alpha val="22000"/>
              </a:srgbClr>
            </a:outerShdw>
          </a:effectLst>
        </p:spPr>
      </p:sp>
      <p:sp>
        <p:nvSpPr>
          <p:cNvPr id="27" name="Shape 24"/>
          <p:cNvSpPr/>
          <p:nvPr/>
        </p:nvSpPr>
        <p:spPr>
          <a:xfrm>
            <a:off x="7424928" y="1618488"/>
            <a:ext cx="118872" cy="118872"/>
          </a:xfrm>
          <a:prstGeom prst="ellipse">
            <a:avLst/>
          </a:prstGeom>
          <a:solidFill>
            <a:srgbClr val="E5534B"/>
          </a:solidFill>
          <a:ln/>
        </p:spPr>
      </p:sp>
      <p:sp>
        <p:nvSpPr>
          <p:cNvPr id="28" name="Shape 25"/>
          <p:cNvSpPr/>
          <p:nvPr/>
        </p:nvSpPr>
        <p:spPr>
          <a:xfrm>
            <a:off x="7626096" y="1618488"/>
            <a:ext cx="118872" cy="118872"/>
          </a:xfrm>
          <a:prstGeom prst="ellipse">
            <a:avLst/>
          </a:prstGeom>
          <a:solidFill>
            <a:srgbClr val="F5A623"/>
          </a:solidFill>
          <a:ln/>
        </p:spPr>
      </p:sp>
      <p:sp>
        <p:nvSpPr>
          <p:cNvPr id="29" name="Shape 26"/>
          <p:cNvSpPr/>
          <p:nvPr/>
        </p:nvSpPr>
        <p:spPr>
          <a:xfrm>
            <a:off x="7827264" y="1618488"/>
            <a:ext cx="118872" cy="118872"/>
          </a:xfrm>
          <a:prstGeom prst="ellipse">
            <a:avLst/>
          </a:prstGeom>
          <a:solidFill>
            <a:srgbClr val="46D39A"/>
          </a:solidFill>
          <a:ln/>
        </p:spPr>
      </p:sp>
      <p:sp>
        <p:nvSpPr>
          <p:cNvPr id="30" name="Text 27"/>
          <p:cNvSpPr txBox="1"/>
          <p:nvPr/>
        </p:nvSpPr>
        <p:spPr>
          <a:xfrm>
            <a:off x="8138160" y="1536192"/>
            <a:ext cx="25877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1" name="Text 28"/>
          <p:cNvSpPr txBox="1"/>
          <p:nvPr/>
        </p:nvSpPr>
        <p:spPr>
          <a:xfrm>
            <a:off x="7498080" y="1920240"/>
            <a:ext cx="3867912" cy="393192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echo HELLO | tr A-Z N-ZA-M</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URYYB</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echo URYYB | tr A-Z N-ZA-M</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HELLO</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tr A-Z a-z &lt; notes.txt</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&lt; feeds a file into tr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Brute force: try every key</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Khoor | caesar all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10" name="Shape 7"/>
          <p:cNvSpPr/>
          <p:nvPr/>
        </p:nvSpPr>
        <p:spPr>
          <a:xfrm>
            <a:off x="548640" y="109728"/>
            <a:ext cx="1792224" cy="274320"/>
          </a:xfrm>
          <a:prstGeom prst="roundRect">
            <a:avLst>
              <a:gd name="adj" fmla="val 50000"/>
            </a:avLst>
          </a:prstGeom>
          <a:solidFill>
            <a:srgbClr val="7448D4"/>
          </a:solidFill>
          <a:ln/>
        </p:spPr>
      </p:sp>
      <p:sp>
        <p:nvSpPr>
          <p:cNvPr id="11" name="Text 8"/>
          <p:cNvSpPr txBox="1"/>
          <p:nvPr/>
        </p:nvSpPr>
        <p:spPr>
          <a:xfrm>
            <a:off x="548640" y="109728"/>
            <a:ext cx="179222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4 &amp; 8</a:t>
            </a:r>
            <a:endParaRPr lang="en-US" sz="1100" dirty="0"/>
          </a:p>
        </p:txBody>
      </p:sp>
      <p:sp>
        <p:nvSpPr>
          <p:cNvPr id="12" name="Shape 9"/>
          <p:cNvSpPr/>
          <p:nvPr/>
        </p:nvSpPr>
        <p:spPr>
          <a:xfrm>
            <a:off x="548640" y="1600200"/>
            <a:ext cx="2194560" cy="457200"/>
          </a:xfrm>
          <a:prstGeom prst="roundRect">
            <a:avLst>
              <a:gd name="adj" fmla="val 16000"/>
            </a:avLst>
          </a:prstGeom>
          <a:solidFill>
            <a:srgbClr val="0E1726"/>
          </a:solidFill>
          <a:ln/>
        </p:spPr>
      </p:sp>
      <p:sp>
        <p:nvSpPr>
          <p:cNvPr id="13" name="Text 10"/>
          <p:cNvSpPr txBox="1"/>
          <p:nvPr/>
        </p:nvSpPr>
        <p:spPr>
          <a:xfrm>
            <a:off x="548640" y="160020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caesar N</a:t>
            </a:r>
            <a:endParaRPr lang="en-US" sz="1500" dirty="0"/>
          </a:p>
        </p:txBody>
      </p:sp>
      <p:sp>
        <p:nvSpPr>
          <p:cNvPr id="14" name="Text 11"/>
          <p:cNvSpPr txBox="1"/>
          <p:nvPr/>
        </p:nvSpPr>
        <p:spPr>
          <a:xfrm>
            <a:off x="2971800" y="160020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shift every letter N places</a:t>
            </a:r>
            <a:endParaRPr lang="en-US" sz="1700" dirty="0"/>
          </a:p>
        </p:txBody>
      </p:sp>
      <p:sp>
        <p:nvSpPr>
          <p:cNvPr id="15" name="Shape 12"/>
          <p:cNvSpPr/>
          <p:nvPr/>
        </p:nvSpPr>
        <p:spPr>
          <a:xfrm>
            <a:off x="548640" y="2194560"/>
            <a:ext cx="2194560" cy="457200"/>
          </a:xfrm>
          <a:prstGeom prst="roundRect">
            <a:avLst>
              <a:gd name="adj" fmla="val 16000"/>
            </a:avLst>
          </a:prstGeom>
          <a:solidFill>
            <a:srgbClr val="0E1726"/>
          </a:solidFill>
          <a:ln/>
        </p:spPr>
      </p:sp>
      <p:sp>
        <p:nvSpPr>
          <p:cNvPr id="16" name="Text 13"/>
          <p:cNvSpPr txBox="1"/>
          <p:nvPr/>
        </p:nvSpPr>
        <p:spPr>
          <a:xfrm>
            <a:off x="548640" y="219456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caesar all</a:t>
            </a:r>
            <a:endParaRPr lang="en-US" sz="1500" dirty="0"/>
          </a:p>
        </p:txBody>
      </p:sp>
      <p:sp>
        <p:nvSpPr>
          <p:cNvPr id="17" name="Text 14"/>
          <p:cNvSpPr txBox="1"/>
          <p:nvPr/>
        </p:nvSpPr>
        <p:spPr>
          <a:xfrm>
            <a:off x="2971800" y="219456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try all 25 shifts</a:t>
            </a:r>
            <a:endParaRPr lang="en-US" sz="1700" dirty="0"/>
          </a:p>
        </p:txBody>
      </p:sp>
      <p:sp>
        <p:nvSpPr>
          <p:cNvPr id="18" name="Shape 15"/>
          <p:cNvSpPr/>
          <p:nvPr/>
        </p:nvSpPr>
        <p:spPr>
          <a:xfrm>
            <a:off x="548640" y="2788920"/>
            <a:ext cx="2194560" cy="457200"/>
          </a:xfrm>
          <a:prstGeom prst="roundRect">
            <a:avLst>
              <a:gd name="adj" fmla="val 16000"/>
            </a:avLst>
          </a:prstGeom>
          <a:solidFill>
            <a:srgbClr val="0E1726"/>
          </a:solidFill>
          <a:ln/>
        </p:spPr>
      </p:sp>
      <p:sp>
        <p:nvSpPr>
          <p:cNvPr id="19" name="Text 16"/>
          <p:cNvSpPr txBox="1"/>
          <p:nvPr/>
        </p:nvSpPr>
        <p:spPr>
          <a:xfrm>
            <a:off x="548640" y="278892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xor all</a:t>
            </a:r>
            <a:endParaRPr lang="en-US" sz="1500" dirty="0"/>
          </a:p>
        </p:txBody>
      </p:sp>
      <p:sp>
        <p:nvSpPr>
          <p:cNvPr id="20" name="Text 17"/>
          <p:cNvSpPr txBox="1"/>
          <p:nvPr/>
        </p:nvSpPr>
        <p:spPr>
          <a:xfrm>
            <a:off x="2971800" y="278892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try all 255 XOR keys</a:t>
            </a:r>
            <a:endParaRPr lang="en-US" sz="1700" dirty="0"/>
          </a:p>
        </p:txBody>
      </p:sp>
      <p:sp>
        <p:nvSpPr>
          <p:cNvPr id="21" name="Shape 18"/>
          <p:cNvSpPr/>
          <p:nvPr/>
        </p:nvSpPr>
        <p:spPr>
          <a:xfrm>
            <a:off x="548640" y="3383280"/>
            <a:ext cx="2194560" cy="457200"/>
          </a:xfrm>
          <a:prstGeom prst="roundRect">
            <a:avLst>
              <a:gd name="adj" fmla="val 16000"/>
            </a:avLst>
          </a:prstGeom>
          <a:solidFill>
            <a:srgbClr val="0E1726"/>
          </a:solidFill>
          <a:ln/>
        </p:spPr>
      </p:sp>
      <p:sp>
        <p:nvSpPr>
          <p:cNvPr id="22" name="Text 19"/>
          <p:cNvSpPr txBox="1"/>
          <p:nvPr/>
        </p:nvSpPr>
        <p:spPr>
          <a:xfrm>
            <a:off x="548640" y="338328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grep CYBA</a:t>
            </a:r>
            <a:endParaRPr lang="en-US" sz="1500" dirty="0"/>
          </a:p>
        </p:txBody>
      </p:sp>
      <p:sp>
        <p:nvSpPr>
          <p:cNvPr id="23" name="Text 20"/>
          <p:cNvSpPr txBox="1"/>
          <p:nvPr/>
        </p:nvSpPr>
        <p:spPr>
          <a:xfrm>
            <a:off x="2971800" y="338328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keep only the readable line</a:t>
            </a:r>
            <a:endParaRPr lang="en-US" sz="1700" dirty="0"/>
          </a:p>
        </p:txBody>
      </p:sp>
      <p:sp>
        <p:nvSpPr>
          <p:cNvPr id="24" name="Shape 21"/>
          <p:cNvSpPr/>
          <p:nvPr/>
        </p:nvSpPr>
        <p:spPr>
          <a:xfrm>
            <a:off x="548640" y="4160520"/>
            <a:ext cx="5669280" cy="1783080"/>
          </a:xfrm>
          <a:prstGeom prst="roundRect">
            <a:avLst>
              <a:gd name="adj" fmla="val 5128"/>
            </a:avLst>
          </a:prstGeom>
          <a:solidFill>
            <a:srgbClr val="FFF4DC"/>
          </a:solidFill>
          <a:ln/>
        </p:spPr>
      </p:sp>
      <p:sp>
        <p:nvSpPr>
          <p:cNvPr id="25" name="Text 22"/>
          <p:cNvSpPr txBox="1"/>
          <p:nvPr/>
        </p:nvSpPr>
        <p:spPr>
          <a:xfrm>
            <a:off x="822960" y="4251960"/>
            <a:ext cx="5120640" cy="1600200"/>
          </a:xfrm>
          <a:prstGeom prst="rect">
            <a:avLst/>
          </a:prstGeom>
          <a:noFill/>
          <a:ln/>
        </p:spPr>
        <p:txBody>
          <a:bodyPr wrap="square" lIns="0" tIns="0" rIns="0" bIns="0" rtlCol="0" anchor="ctr"/>
          <a:lstStyle/>
          <a:p>
            <a:pPr indent="0" marL="0">
              <a:buNone/>
            </a:pPr>
            <a:r>
              <a:rPr lang="en-US" sz="1600" b="1" dirty="0">
                <a:solidFill>
                  <a:srgbClr val="12213A"/>
                </a:solidFill>
                <a:latin typeface="Calibri" pitchFamily="34" charset="0"/>
                <a:ea typeface="Calibri" pitchFamily="34" charset="-122"/>
                <a:cs typeface="Calibri" pitchFamily="34" charset="-120"/>
              </a:rPr>
              <a:t>Known plaintext. </a:t>
            </a:r>
            <a:pPr indent="0" marL="0">
              <a:buNone/>
            </a:pPr>
            <a:r>
              <a:rPr lang="en-US" sz="1600" dirty="0">
                <a:solidFill>
                  <a:srgbClr val="12213A"/>
                </a:solidFill>
                <a:latin typeface="Calibri" pitchFamily="34" charset="0"/>
                <a:ea typeface="Calibri" pitchFamily="34" charset="-122"/>
                <a:cs typeface="Calibri" pitchFamily="34" charset="-120"/>
              </a:rPr>
              <a:t>Every flag starts with CYBA. Knowing a piece of the answer is how Bletchley Park broke Enigma: they guessed words like 'weather'.</a:t>
            </a:r>
            <a:endParaRPr lang="en-US" sz="1600" dirty="0"/>
          </a:p>
        </p:txBody>
      </p:sp>
      <p:sp>
        <p:nvSpPr>
          <p:cNvPr id="26" name="Shape 23"/>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7" name="Shape 24"/>
          <p:cNvSpPr/>
          <p:nvPr/>
        </p:nvSpPr>
        <p:spPr>
          <a:xfrm>
            <a:off x="6784848" y="1618488"/>
            <a:ext cx="118872" cy="118872"/>
          </a:xfrm>
          <a:prstGeom prst="ellipse">
            <a:avLst/>
          </a:prstGeom>
          <a:solidFill>
            <a:srgbClr val="E5534B"/>
          </a:solidFill>
          <a:ln/>
        </p:spPr>
      </p:sp>
      <p:sp>
        <p:nvSpPr>
          <p:cNvPr id="28" name="Shape 25"/>
          <p:cNvSpPr/>
          <p:nvPr/>
        </p:nvSpPr>
        <p:spPr>
          <a:xfrm>
            <a:off x="6986016" y="1618488"/>
            <a:ext cx="118872" cy="118872"/>
          </a:xfrm>
          <a:prstGeom prst="ellipse">
            <a:avLst/>
          </a:prstGeom>
          <a:solidFill>
            <a:srgbClr val="F5A623"/>
          </a:solidFill>
          <a:ln/>
        </p:spPr>
      </p:sp>
      <p:sp>
        <p:nvSpPr>
          <p:cNvPr id="29" name="Shape 26"/>
          <p:cNvSpPr/>
          <p:nvPr/>
        </p:nvSpPr>
        <p:spPr>
          <a:xfrm>
            <a:off x="7187184" y="1618488"/>
            <a:ext cx="118872" cy="118872"/>
          </a:xfrm>
          <a:prstGeom prst="ellipse">
            <a:avLst/>
          </a:prstGeom>
          <a:solidFill>
            <a:srgbClr val="46D39A"/>
          </a:solidFill>
          <a:ln/>
        </p:spPr>
      </p:sp>
      <p:sp>
        <p:nvSpPr>
          <p:cNvPr id="30" name="Text 27"/>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1" name="Text 28"/>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Khoor | caesar all</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shift 1: Lipps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shift 2: Mjqqt</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shift 23: Hello</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shift 25: Jgnnq</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Khoor | caesar all | grep ell</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shift 23: Hello</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Dots and dashes: morse</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SOS | morse -e</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10" name="Shape 7"/>
          <p:cNvSpPr/>
          <p:nvPr/>
        </p:nvSpPr>
        <p:spPr>
          <a:xfrm>
            <a:off x="548640" y="109728"/>
            <a:ext cx="1357884" cy="274320"/>
          </a:xfrm>
          <a:prstGeom prst="roundRect">
            <a:avLst>
              <a:gd name="adj" fmla="val 50000"/>
            </a:avLst>
          </a:prstGeom>
          <a:solidFill>
            <a:srgbClr val="E8820C"/>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6</a:t>
            </a:r>
            <a:endParaRPr lang="en-US" sz="1100" dirty="0"/>
          </a:p>
        </p:txBody>
      </p:sp>
      <p:sp>
        <p:nvSpPr>
          <p:cNvPr id="12" name="Shape 9"/>
          <p:cNvSpPr/>
          <p:nvPr/>
        </p:nvSpPr>
        <p:spPr>
          <a:xfrm>
            <a:off x="548640" y="1600200"/>
            <a:ext cx="1828800" cy="1097280"/>
          </a:xfrm>
          <a:prstGeom prst="roundRect">
            <a:avLst>
              <a:gd name="adj" fmla="val 8333"/>
            </a:avLst>
          </a:prstGeom>
          <a:solidFill>
            <a:srgbClr val="F1F5FB"/>
          </a:solidFill>
          <a:ln/>
        </p:spPr>
      </p:sp>
      <p:sp>
        <p:nvSpPr>
          <p:cNvPr id="13" name="Text 10"/>
          <p:cNvSpPr txBox="1"/>
          <p:nvPr/>
        </p:nvSpPr>
        <p:spPr>
          <a:xfrm>
            <a:off x="731520" y="1737360"/>
            <a:ext cx="548640" cy="822960"/>
          </a:xfrm>
          <a:prstGeom prst="rect">
            <a:avLst/>
          </a:prstGeom>
          <a:noFill/>
          <a:ln/>
        </p:spPr>
        <p:txBody>
          <a:bodyPr wrap="square" lIns="0" tIns="0" rIns="0" bIns="0" rtlCol="0" anchor="ctr"/>
          <a:lstStyle/>
          <a:p>
            <a:pPr indent="0" marL="0">
              <a:buNone/>
            </a:pPr>
            <a:r>
              <a:rPr lang="en-US" sz="3600" b="1" dirty="0">
                <a:solidFill>
                  <a:srgbClr val="E8820C"/>
                </a:solidFill>
                <a:latin typeface="Arial" pitchFamily="34" charset="0"/>
                <a:ea typeface="Arial" pitchFamily="34" charset="-122"/>
                <a:cs typeface="Arial" pitchFamily="34" charset="-120"/>
              </a:rPr>
              <a:t>A</a:t>
            </a:r>
            <a:endParaRPr lang="en-US" sz="3600" dirty="0"/>
          </a:p>
        </p:txBody>
      </p:sp>
      <p:sp>
        <p:nvSpPr>
          <p:cNvPr id="14" name="Text 11"/>
          <p:cNvSpPr txBox="1"/>
          <p:nvPr/>
        </p:nvSpPr>
        <p:spPr>
          <a:xfrm>
            <a:off x="1280160" y="1737360"/>
            <a:ext cx="1051560" cy="822960"/>
          </a:xfrm>
          <a:prstGeom prst="rect">
            <a:avLst/>
          </a:prstGeom>
          <a:noFill/>
          <a:ln/>
        </p:spPr>
        <p:txBody>
          <a:bodyPr wrap="square" lIns="0" tIns="0" rIns="0" bIns="0" rtlCol="0" anchor="ctr"/>
          <a:lstStyle/>
          <a:p>
            <a:pPr indent="0" marL="0">
              <a:buNone/>
            </a:pPr>
            <a:r>
              <a:rPr lang="en-US" sz="2200" b="1" dirty="0">
                <a:solidFill>
                  <a:srgbClr val="12213A"/>
                </a:solidFill>
                <a:latin typeface="Courier New" pitchFamily="34" charset="0"/>
                <a:ea typeface="Courier New" pitchFamily="34" charset="-122"/>
                <a:cs typeface="Courier New" pitchFamily="34" charset="-120"/>
              </a:rPr>
              <a:t>.-</a:t>
            </a:r>
            <a:endParaRPr lang="en-US" sz="2200" dirty="0"/>
          </a:p>
        </p:txBody>
      </p:sp>
      <p:sp>
        <p:nvSpPr>
          <p:cNvPr id="15" name="Shape 12"/>
          <p:cNvSpPr/>
          <p:nvPr/>
        </p:nvSpPr>
        <p:spPr>
          <a:xfrm>
            <a:off x="2514600" y="1600200"/>
            <a:ext cx="1828800" cy="1097280"/>
          </a:xfrm>
          <a:prstGeom prst="roundRect">
            <a:avLst>
              <a:gd name="adj" fmla="val 8333"/>
            </a:avLst>
          </a:prstGeom>
          <a:solidFill>
            <a:srgbClr val="F1F5FB"/>
          </a:solidFill>
          <a:ln/>
        </p:spPr>
      </p:sp>
      <p:sp>
        <p:nvSpPr>
          <p:cNvPr id="16" name="Text 13"/>
          <p:cNvSpPr txBox="1"/>
          <p:nvPr/>
        </p:nvSpPr>
        <p:spPr>
          <a:xfrm>
            <a:off x="2697480" y="1737360"/>
            <a:ext cx="548640" cy="822960"/>
          </a:xfrm>
          <a:prstGeom prst="rect">
            <a:avLst/>
          </a:prstGeom>
          <a:noFill/>
          <a:ln/>
        </p:spPr>
        <p:txBody>
          <a:bodyPr wrap="square" lIns="0" tIns="0" rIns="0" bIns="0" rtlCol="0" anchor="ctr"/>
          <a:lstStyle/>
          <a:p>
            <a:pPr indent="0" marL="0">
              <a:buNone/>
            </a:pPr>
            <a:r>
              <a:rPr lang="en-US" sz="3600" b="1" dirty="0">
                <a:solidFill>
                  <a:srgbClr val="E8820C"/>
                </a:solidFill>
                <a:latin typeface="Arial" pitchFamily="34" charset="0"/>
                <a:ea typeface="Arial" pitchFamily="34" charset="-122"/>
                <a:cs typeface="Arial" pitchFamily="34" charset="-120"/>
              </a:rPr>
              <a:t>E</a:t>
            </a:r>
            <a:endParaRPr lang="en-US" sz="3600" dirty="0"/>
          </a:p>
        </p:txBody>
      </p:sp>
      <p:sp>
        <p:nvSpPr>
          <p:cNvPr id="17" name="Text 14"/>
          <p:cNvSpPr txBox="1"/>
          <p:nvPr/>
        </p:nvSpPr>
        <p:spPr>
          <a:xfrm>
            <a:off x="3246120" y="1737360"/>
            <a:ext cx="1051560" cy="822960"/>
          </a:xfrm>
          <a:prstGeom prst="rect">
            <a:avLst/>
          </a:prstGeom>
          <a:noFill/>
          <a:ln/>
        </p:spPr>
        <p:txBody>
          <a:bodyPr wrap="square" lIns="0" tIns="0" rIns="0" bIns="0" rtlCol="0" anchor="ctr"/>
          <a:lstStyle/>
          <a:p>
            <a:pPr indent="0" marL="0">
              <a:buNone/>
            </a:pPr>
            <a:r>
              <a:rPr lang="en-US" sz="2200" b="1" dirty="0">
                <a:solidFill>
                  <a:srgbClr val="12213A"/>
                </a:solidFill>
                <a:latin typeface="Courier New" pitchFamily="34" charset="0"/>
                <a:ea typeface="Courier New" pitchFamily="34" charset="-122"/>
                <a:cs typeface="Courier New" pitchFamily="34" charset="-120"/>
              </a:rPr>
              <a:t>.</a:t>
            </a:r>
            <a:endParaRPr lang="en-US" sz="2200" dirty="0"/>
          </a:p>
        </p:txBody>
      </p:sp>
      <p:sp>
        <p:nvSpPr>
          <p:cNvPr id="18" name="Shape 15"/>
          <p:cNvSpPr/>
          <p:nvPr/>
        </p:nvSpPr>
        <p:spPr>
          <a:xfrm>
            <a:off x="4480560" y="1600200"/>
            <a:ext cx="1828800" cy="1097280"/>
          </a:xfrm>
          <a:prstGeom prst="roundRect">
            <a:avLst>
              <a:gd name="adj" fmla="val 8333"/>
            </a:avLst>
          </a:prstGeom>
          <a:solidFill>
            <a:srgbClr val="F1F5FB"/>
          </a:solidFill>
          <a:ln/>
        </p:spPr>
      </p:sp>
      <p:sp>
        <p:nvSpPr>
          <p:cNvPr id="19" name="Text 16"/>
          <p:cNvSpPr txBox="1"/>
          <p:nvPr/>
        </p:nvSpPr>
        <p:spPr>
          <a:xfrm>
            <a:off x="4663440" y="1737360"/>
            <a:ext cx="548640" cy="822960"/>
          </a:xfrm>
          <a:prstGeom prst="rect">
            <a:avLst/>
          </a:prstGeom>
          <a:noFill/>
          <a:ln/>
        </p:spPr>
        <p:txBody>
          <a:bodyPr wrap="square" lIns="0" tIns="0" rIns="0" bIns="0" rtlCol="0" anchor="ctr"/>
          <a:lstStyle/>
          <a:p>
            <a:pPr indent="0" marL="0">
              <a:buNone/>
            </a:pPr>
            <a:r>
              <a:rPr lang="en-US" sz="3600" b="1" dirty="0">
                <a:solidFill>
                  <a:srgbClr val="E8820C"/>
                </a:solidFill>
                <a:latin typeface="Arial" pitchFamily="34" charset="0"/>
                <a:ea typeface="Arial" pitchFamily="34" charset="-122"/>
                <a:cs typeface="Arial" pitchFamily="34" charset="-120"/>
              </a:rPr>
              <a:t>O</a:t>
            </a:r>
            <a:endParaRPr lang="en-US" sz="3600" dirty="0"/>
          </a:p>
        </p:txBody>
      </p:sp>
      <p:sp>
        <p:nvSpPr>
          <p:cNvPr id="20" name="Text 17"/>
          <p:cNvSpPr txBox="1"/>
          <p:nvPr/>
        </p:nvSpPr>
        <p:spPr>
          <a:xfrm>
            <a:off x="5212080" y="1737360"/>
            <a:ext cx="1051560" cy="822960"/>
          </a:xfrm>
          <a:prstGeom prst="rect">
            <a:avLst/>
          </a:prstGeom>
          <a:noFill/>
          <a:ln/>
        </p:spPr>
        <p:txBody>
          <a:bodyPr wrap="square" lIns="0" tIns="0" rIns="0" bIns="0" rtlCol="0" anchor="ctr"/>
          <a:lstStyle/>
          <a:p>
            <a:pPr indent="0" marL="0">
              <a:buNone/>
            </a:pPr>
            <a:r>
              <a:rPr lang="en-US" sz="2200" b="1" dirty="0">
                <a:solidFill>
                  <a:srgbClr val="12213A"/>
                </a:solidFill>
                <a:latin typeface="Courier New" pitchFamily="34" charset="0"/>
                <a:ea typeface="Courier New" pitchFamily="34" charset="-122"/>
                <a:cs typeface="Courier New" pitchFamily="34" charset="-120"/>
              </a:rPr>
              <a:t>---</a:t>
            </a:r>
            <a:endParaRPr lang="en-US" sz="2200" dirty="0"/>
          </a:p>
        </p:txBody>
      </p:sp>
      <p:sp>
        <p:nvSpPr>
          <p:cNvPr id="21" name="Shape 18"/>
          <p:cNvSpPr/>
          <p:nvPr/>
        </p:nvSpPr>
        <p:spPr>
          <a:xfrm>
            <a:off x="548640" y="2834640"/>
            <a:ext cx="1828800" cy="1097280"/>
          </a:xfrm>
          <a:prstGeom prst="roundRect">
            <a:avLst>
              <a:gd name="adj" fmla="val 8333"/>
            </a:avLst>
          </a:prstGeom>
          <a:solidFill>
            <a:srgbClr val="F1F5FB"/>
          </a:solidFill>
          <a:ln/>
        </p:spPr>
      </p:sp>
      <p:sp>
        <p:nvSpPr>
          <p:cNvPr id="22" name="Text 19"/>
          <p:cNvSpPr txBox="1"/>
          <p:nvPr/>
        </p:nvSpPr>
        <p:spPr>
          <a:xfrm>
            <a:off x="731520" y="2971800"/>
            <a:ext cx="548640" cy="822960"/>
          </a:xfrm>
          <a:prstGeom prst="rect">
            <a:avLst/>
          </a:prstGeom>
          <a:noFill/>
          <a:ln/>
        </p:spPr>
        <p:txBody>
          <a:bodyPr wrap="square" lIns="0" tIns="0" rIns="0" bIns="0" rtlCol="0" anchor="ctr"/>
          <a:lstStyle/>
          <a:p>
            <a:pPr indent="0" marL="0">
              <a:buNone/>
            </a:pPr>
            <a:r>
              <a:rPr lang="en-US" sz="3600" b="1" dirty="0">
                <a:solidFill>
                  <a:srgbClr val="E8820C"/>
                </a:solidFill>
                <a:latin typeface="Arial" pitchFamily="34" charset="0"/>
                <a:ea typeface="Arial" pitchFamily="34" charset="-122"/>
                <a:cs typeface="Arial" pitchFamily="34" charset="-120"/>
              </a:rPr>
              <a:t>S</a:t>
            </a:r>
            <a:endParaRPr lang="en-US" sz="3600" dirty="0"/>
          </a:p>
        </p:txBody>
      </p:sp>
      <p:sp>
        <p:nvSpPr>
          <p:cNvPr id="23" name="Text 20"/>
          <p:cNvSpPr txBox="1"/>
          <p:nvPr/>
        </p:nvSpPr>
        <p:spPr>
          <a:xfrm>
            <a:off x="1280160" y="2971800"/>
            <a:ext cx="1051560" cy="822960"/>
          </a:xfrm>
          <a:prstGeom prst="rect">
            <a:avLst/>
          </a:prstGeom>
          <a:noFill/>
          <a:ln/>
        </p:spPr>
        <p:txBody>
          <a:bodyPr wrap="square" lIns="0" tIns="0" rIns="0" bIns="0" rtlCol="0" anchor="ctr"/>
          <a:lstStyle/>
          <a:p>
            <a:pPr indent="0" marL="0">
              <a:buNone/>
            </a:pPr>
            <a:r>
              <a:rPr lang="en-US" sz="2200" b="1" dirty="0">
                <a:solidFill>
                  <a:srgbClr val="12213A"/>
                </a:solidFill>
                <a:latin typeface="Courier New" pitchFamily="34" charset="0"/>
                <a:ea typeface="Courier New" pitchFamily="34" charset="-122"/>
                <a:cs typeface="Courier New" pitchFamily="34" charset="-120"/>
              </a:rPr>
              <a:t>...</a:t>
            </a:r>
            <a:endParaRPr lang="en-US" sz="2200" dirty="0"/>
          </a:p>
        </p:txBody>
      </p:sp>
      <p:sp>
        <p:nvSpPr>
          <p:cNvPr id="24" name="Shape 21"/>
          <p:cNvSpPr/>
          <p:nvPr/>
        </p:nvSpPr>
        <p:spPr>
          <a:xfrm>
            <a:off x="2514600" y="2834640"/>
            <a:ext cx="1828800" cy="1097280"/>
          </a:xfrm>
          <a:prstGeom prst="roundRect">
            <a:avLst>
              <a:gd name="adj" fmla="val 8333"/>
            </a:avLst>
          </a:prstGeom>
          <a:solidFill>
            <a:srgbClr val="F1F5FB"/>
          </a:solidFill>
          <a:ln/>
        </p:spPr>
      </p:sp>
      <p:sp>
        <p:nvSpPr>
          <p:cNvPr id="25" name="Text 22"/>
          <p:cNvSpPr txBox="1"/>
          <p:nvPr/>
        </p:nvSpPr>
        <p:spPr>
          <a:xfrm>
            <a:off x="2697480" y="2971800"/>
            <a:ext cx="548640" cy="822960"/>
          </a:xfrm>
          <a:prstGeom prst="rect">
            <a:avLst/>
          </a:prstGeom>
          <a:noFill/>
          <a:ln/>
        </p:spPr>
        <p:txBody>
          <a:bodyPr wrap="square" lIns="0" tIns="0" rIns="0" bIns="0" rtlCol="0" anchor="ctr"/>
          <a:lstStyle/>
          <a:p>
            <a:pPr indent="0" marL="0">
              <a:buNone/>
            </a:pPr>
            <a:r>
              <a:rPr lang="en-US" sz="3600" b="1" dirty="0">
                <a:solidFill>
                  <a:srgbClr val="E8820C"/>
                </a:solidFill>
                <a:latin typeface="Arial" pitchFamily="34" charset="0"/>
                <a:ea typeface="Arial" pitchFamily="34" charset="-122"/>
                <a:cs typeface="Arial" pitchFamily="34" charset="-120"/>
              </a:rPr>
              <a:t>T</a:t>
            </a:r>
            <a:endParaRPr lang="en-US" sz="3600" dirty="0"/>
          </a:p>
        </p:txBody>
      </p:sp>
      <p:sp>
        <p:nvSpPr>
          <p:cNvPr id="26" name="Text 23"/>
          <p:cNvSpPr txBox="1"/>
          <p:nvPr/>
        </p:nvSpPr>
        <p:spPr>
          <a:xfrm>
            <a:off x="3246120" y="2971800"/>
            <a:ext cx="1051560" cy="822960"/>
          </a:xfrm>
          <a:prstGeom prst="rect">
            <a:avLst/>
          </a:prstGeom>
          <a:noFill/>
          <a:ln/>
        </p:spPr>
        <p:txBody>
          <a:bodyPr wrap="square" lIns="0" tIns="0" rIns="0" bIns="0" rtlCol="0" anchor="ctr"/>
          <a:lstStyle/>
          <a:p>
            <a:pPr indent="0" marL="0">
              <a:buNone/>
            </a:pPr>
            <a:r>
              <a:rPr lang="en-US" sz="2200" b="1" dirty="0">
                <a:solidFill>
                  <a:srgbClr val="12213A"/>
                </a:solidFill>
                <a:latin typeface="Courier New" pitchFamily="34" charset="0"/>
                <a:ea typeface="Courier New" pitchFamily="34" charset="-122"/>
                <a:cs typeface="Courier New" pitchFamily="34" charset="-120"/>
              </a:rPr>
              <a:t>-</a:t>
            </a:r>
            <a:endParaRPr lang="en-US" sz="2200" dirty="0"/>
          </a:p>
        </p:txBody>
      </p:sp>
      <p:sp>
        <p:nvSpPr>
          <p:cNvPr id="27" name="Shape 24"/>
          <p:cNvSpPr/>
          <p:nvPr/>
        </p:nvSpPr>
        <p:spPr>
          <a:xfrm>
            <a:off x="4480560" y="2834640"/>
            <a:ext cx="1828800" cy="1097280"/>
          </a:xfrm>
          <a:prstGeom prst="roundRect">
            <a:avLst>
              <a:gd name="adj" fmla="val 8333"/>
            </a:avLst>
          </a:prstGeom>
          <a:solidFill>
            <a:srgbClr val="F1F5FB"/>
          </a:solidFill>
          <a:ln/>
        </p:spPr>
      </p:sp>
      <p:sp>
        <p:nvSpPr>
          <p:cNvPr id="28" name="Text 25"/>
          <p:cNvSpPr txBox="1"/>
          <p:nvPr/>
        </p:nvSpPr>
        <p:spPr>
          <a:xfrm>
            <a:off x="4663440" y="2971800"/>
            <a:ext cx="548640" cy="822960"/>
          </a:xfrm>
          <a:prstGeom prst="rect">
            <a:avLst/>
          </a:prstGeom>
          <a:noFill/>
          <a:ln/>
        </p:spPr>
        <p:txBody>
          <a:bodyPr wrap="square" lIns="0" tIns="0" rIns="0" bIns="0" rtlCol="0" anchor="ctr"/>
          <a:lstStyle/>
          <a:p>
            <a:pPr indent="0" marL="0">
              <a:buNone/>
            </a:pPr>
            <a:r>
              <a:rPr lang="en-US" sz="3600" b="1" dirty="0">
                <a:solidFill>
                  <a:srgbClr val="E8820C"/>
                </a:solidFill>
                <a:latin typeface="Arial" pitchFamily="34" charset="0"/>
                <a:ea typeface="Arial" pitchFamily="34" charset="-122"/>
                <a:cs typeface="Arial" pitchFamily="34" charset="-120"/>
              </a:rPr>
              <a:t>1</a:t>
            </a:r>
            <a:endParaRPr lang="en-US" sz="3600" dirty="0"/>
          </a:p>
        </p:txBody>
      </p:sp>
      <p:sp>
        <p:nvSpPr>
          <p:cNvPr id="29" name="Text 26"/>
          <p:cNvSpPr txBox="1"/>
          <p:nvPr/>
        </p:nvSpPr>
        <p:spPr>
          <a:xfrm>
            <a:off x="5212080" y="2971800"/>
            <a:ext cx="1051560" cy="822960"/>
          </a:xfrm>
          <a:prstGeom prst="rect">
            <a:avLst/>
          </a:prstGeom>
          <a:noFill/>
          <a:ln/>
        </p:spPr>
        <p:txBody>
          <a:bodyPr wrap="square" lIns="0" tIns="0" rIns="0" bIns="0" rtlCol="0" anchor="ctr"/>
          <a:lstStyle/>
          <a:p>
            <a:pPr indent="0" marL="0">
              <a:buNone/>
            </a:pPr>
            <a:r>
              <a:rPr lang="en-US" sz="2200" b="1" dirty="0">
                <a:solidFill>
                  <a:srgbClr val="12213A"/>
                </a:solidFill>
                <a:latin typeface="Courier New" pitchFamily="34" charset="0"/>
                <a:ea typeface="Courier New" pitchFamily="34" charset="-122"/>
                <a:cs typeface="Courier New" pitchFamily="34" charset="-120"/>
              </a:rPr>
              <a:t>.----</a:t>
            </a:r>
            <a:endParaRPr lang="en-US" sz="2200" dirty="0"/>
          </a:p>
        </p:txBody>
      </p:sp>
      <p:sp>
        <p:nvSpPr>
          <p:cNvPr id="30" name="Shape 27"/>
          <p:cNvSpPr/>
          <p:nvPr/>
        </p:nvSpPr>
        <p:spPr>
          <a:xfrm>
            <a:off x="548640" y="4206240"/>
            <a:ext cx="2194560" cy="457200"/>
          </a:xfrm>
          <a:prstGeom prst="roundRect">
            <a:avLst>
              <a:gd name="adj" fmla="val 16000"/>
            </a:avLst>
          </a:prstGeom>
          <a:solidFill>
            <a:srgbClr val="0E1726"/>
          </a:solidFill>
          <a:ln/>
        </p:spPr>
      </p:sp>
      <p:sp>
        <p:nvSpPr>
          <p:cNvPr id="31" name="Text 28"/>
          <p:cNvSpPr txBox="1"/>
          <p:nvPr/>
        </p:nvSpPr>
        <p:spPr>
          <a:xfrm>
            <a:off x="548640" y="420624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morse FILE</a:t>
            </a:r>
            <a:endParaRPr lang="en-US" sz="1500" dirty="0"/>
          </a:p>
        </p:txBody>
      </p:sp>
      <p:sp>
        <p:nvSpPr>
          <p:cNvPr id="32" name="Text 29"/>
          <p:cNvSpPr txBox="1"/>
          <p:nvPr/>
        </p:nvSpPr>
        <p:spPr>
          <a:xfrm>
            <a:off x="2971800" y="420624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decode Morse code</a:t>
            </a:r>
            <a:endParaRPr lang="en-US" sz="1700" dirty="0"/>
          </a:p>
        </p:txBody>
      </p:sp>
      <p:sp>
        <p:nvSpPr>
          <p:cNvPr id="33" name="Shape 30"/>
          <p:cNvSpPr/>
          <p:nvPr/>
        </p:nvSpPr>
        <p:spPr>
          <a:xfrm>
            <a:off x="548640" y="4800600"/>
            <a:ext cx="2194560" cy="457200"/>
          </a:xfrm>
          <a:prstGeom prst="roundRect">
            <a:avLst>
              <a:gd name="adj" fmla="val 16000"/>
            </a:avLst>
          </a:prstGeom>
          <a:solidFill>
            <a:srgbClr val="0E1726"/>
          </a:solidFill>
          <a:ln/>
        </p:spPr>
      </p:sp>
      <p:sp>
        <p:nvSpPr>
          <p:cNvPr id="34" name="Text 31"/>
          <p:cNvSpPr txBox="1"/>
          <p:nvPr/>
        </p:nvSpPr>
        <p:spPr>
          <a:xfrm>
            <a:off x="548640" y="480060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morse -e</a:t>
            </a:r>
            <a:endParaRPr lang="en-US" sz="1500" dirty="0"/>
          </a:p>
        </p:txBody>
      </p:sp>
      <p:sp>
        <p:nvSpPr>
          <p:cNvPr id="35" name="Text 32"/>
          <p:cNvSpPr txBox="1"/>
          <p:nvPr/>
        </p:nvSpPr>
        <p:spPr>
          <a:xfrm>
            <a:off x="2971800" y="480060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encode text as Morse</a:t>
            </a:r>
            <a:endParaRPr lang="en-US" sz="1700" dirty="0"/>
          </a:p>
        </p:txBody>
      </p:sp>
      <p:sp>
        <p:nvSpPr>
          <p:cNvPr id="36" name="Text 33"/>
          <p:cNvSpPr txBox="1"/>
          <p:nvPr/>
        </p:nvSpPr>
        <p:spPr>
          <a:xfrm>
            <a:off x="548640" y="5440680"/>
            <a:ext cx="5760720" cy="36576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Space between letters, / between words.</a:t>
            </a:r>
            <a:endParaRPr lang="en-US" sz="1400" dirty="0"/>
          </a:p>
        </p:txBody>
      </p:sp>
      <p:sp>
        <p:nvSpPr>
          <p:cNvPr id="37" name="Shape 34"/>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38" name="Shape 35"/>
          <p:cNvSpPr/>
          <p:nvPr/>
        </p:nvSpPr>
        <p:spPr>
          <a:xfrm>
            <a:off x="6784848" y="1618488"/>
            <a:ext cx="118872" cy="118872"/>
          </a:xfrm>
          <a:prstGeom prst="ellipse">
            <a:avLst/>
          </a:prstGeom>
          <a:solidFill>
            <a:srgbClr val="E5534B"/>
          </a:solidFill>
          <a:ln/>
        </p:spPr>
      </p:sp>
      <p:sp>
        <p:nvSpPr>
          <p:cNvPr id="39" name="Shape 36"/>
          <p:cNvSpPr/>
          <p:nvPr/>
        </p:nvSpPr>
        <p:spPr>
          <a:xfrm>
            <a:off x="6986016" y="1618488"/>
            <a:ext cx="118872" cy="118872"/>
          </a:xfrm>
          <a:prstGeom prst="ellipse">
            <a:avLst/>
          </a:prstGeom>
          <a:solidFill>
            <a:srgbClr val="F5A623"/>
          </a:solidFill>
          <a:ln/>
        </p:spPr>
      </p:sp>
      <p:sp>
        <p:nvSpPr>
          <p:cNvPr id="40" name="Shape 37"/>
          <p:cNvSpPr/>
          <p:nvPr/>
        </p:nvSpPr>
        <p:spPr>
          <a:xfrm>
            <a:off x="7187184" y="1618488"/>
            <a:ext cx="118872" cy="118872"/>
          </a:xfrm>
          <a:prstGeom prst="ellipse">
            <a:avLst/>
          </a:prstGeom>
          <a:solidFill>
            <a:srgbClr val="46D39A"/>
          </a:solidFill>
          <a:ln/>
        </p:spPr>
      </p:sp>
      <p:sp>
        <p:nvSpPr>
          <p:cNvPr id="41" name="Text 38"/>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42" name="Text 39"/>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SOS | morse -e</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 --- ...</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 ..' | morse</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HI</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morse --help</a:t>
            </a:r>
            <a:endParaRPr lang="en-US" sz="1500" dirty="0"/>
          </a:p>
          <a:p>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every tool explains itself</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Hashes: one-way fingerprints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hello | sha256sum</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09728"/>
            <a:ext cx="1879092" cy="274320"/>
          </a:xfrm>
          <a:prstGeom prst="roundRect">
            <a:avLst>
              <a:gd name="adj" fmla="val 50000"/>
            </a:avLst>
          </a:prstGeom>
          <a:solidFill>
            <a:srgbClr val="C9A227"/>
          </a:solidFill>
          <a:ln/>
        </p:spPr>
      </p:sp>
      <p:sp>
        <p:nvSpPr>
          <p:cNvPr id="11" name="Text 8"/>
          <p:cNvSpPr txBox="1"/>
          <p:nvPr/>
        </p:nvSpPr>
        <p:spPr>
          <a:xfrm>
            <a:off x="548640" y="109728"/>
            <a:ext cx="18790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7 &amp; 10</a:t>
            </a:r>
            <a:endParaRPr lang="en-US" sz="1100" dirty="0"/>
          </a:p>
        </p:txBody>
      </p:sp>
      <p:sp>
        <p:nvSpPr>
          <p:cNvPr id="12" name="Shape 9"/>
          <p:cNvSpPr/>
          <p:nvPr/>
        </p:nvSpPr>
        <p:spPr>
          <a:xfrm>
            <a:off x="548640" y="1600200"/>
            <a:ext cx="2194560" cy="457200"/>
          </a:xfrm>
          <a:prstGeom prst="roundRect">
            <a:avLst>
              <a:gd name="adj" fmla="val 16000"/>
            </a:avLst>
          </a:prstGeom>
          <a:solidFill>
            <a:srgbClr val="0E1726"/>
          </a:solidFill>
          <a:ln/>
        </p:spPr>
      </p:sp>
      <p:sp>
        <p:nvSpPr>
          <p:cNvPr id="13" name="Text 10"/>
          <p:cNvSpPr txBox="1"/>
          <p:nvPr/>
        </p:nvSpPr>
        <p:spPr>
          <a:xfrm>
            <a:off x="548640" y="160020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sha256sum</a:t>
            </a:r>
            <a:endParaRPr lang="en-US" sz="1500" dirty="0"/>
          </a:p>
        </p:txBody>
      </p:sp>
      <p:sp>
        <p:nvSpPr>
          <p:cNvPr id="14" name="Text 11"/>
          <p:cNvSpPr txBox="1"/>
          <p:nvPr/>
        </p:nvSpPr>
        <p:spPr>
          <a:xfrm>
            <a:off x="2971800" y="160020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fingerprint a file or text</a:t>
            </a:r>
            <a:endParaRPr lang="en-US" sz="1700" dirty="0"/>
          </a:p>
        </p:txBody>
      </p:sp>
      <p:sp>
        <p:nvSpPr>
          <p:cNvPr id="15" name="Shape 12"/>
          <p:cNvSpPr/>
          <p:nvPr/>
        </p:nvSpPr>
        <p:spPr>
          <a:xfrm>
            <a:off x="548640" y="2194560"/>
            <a:ext cx="2194560" cy="457200"/>
          </a:xfrm>
          <a:prstGeom prst="roundRect">
            <a:avLst>
              <a:gd name="adj" fmla="val 16000"/>
            </a:avLst>
          </a:prstGeom>
          <a:solidFill>
            <a:srgbClr val="0E1726"/>
          </a:solidFill>
          <a:ln/>
        </p:spPr>
      </p:sp>
      <p:sp>
        <p:nvSpPr>
          <p:cNvPr id="16" name="Text 13"/>
          <p:cNvSpPr txBox="1"/>
          <p:nvPr/>
        </p:nvSpPr>
        <p:spPr>
          <a:xfrm>
            <a:off x="548640" y="219456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hashlines</a:t>
            </a:r>
            <a:endParaRPr lang="en-US" sz="1500" dirty="0"/>
          </a:p>
        </p:txBody>
      </p:sp>
      <p:sp>
        <p:nvSpPr>
          <p:cNvPr id="17" name="Text 14"/>
          <p:cNvSpPr txBox="1"/>
          <p:nvPr/>
        </p:nvSpPr>
        <p:spPr>
          <a:xfrm>
            <a:off x="2971800" y="219456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fingerprint every line of a file</a:t>
            </a:r>
            <a:endParaRPr lang="en-US" sz="1700" dirty="0"/>
          </a:p>
        </p:txBody>
      </p:sp>
      <p:sp>
        <p:nvSpPr>
          <p:cNvPr id="18" name="Shape 15"/>
          <p:cNvSpPr/>
          <p:nvPr/>
        </p:nvSpPr>
        <p:spPr>
          <a:xfrm>
            <a:off x="548640" y="2788920"/>
            <a:ext cx="2194560" cy="457200"/>
          </a:xfrm>
          <a:prstGeom prst="roundRect">
            <a:avLst>
              <a:gd name="adj" fmla="val 16000"/>
            </a:avLst>
          </a:prstGeom>
          <a:solidFill>
            <a:srgbClr val="0E1726"/>
          </a:solidFill>
          <a:ln/>
        </p:spPr>
      </p:sp>
      <p:sp>
        <p:nvSpPr>
          <p:cNvPr id="19" name="Text 16"/>
          <p:cNvSpPr txBox="1"/>
          <p:nvPr/>
        </p:nvSpPr>
        <p:spPr>
          <a:xfrm>
            <a:off x="548640" y="278892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grep 2cf2</a:t>
            </a:r>
            <a:endParaRPr lang="en-US" sz="1500" dirty="0"/>
          </a:p>
        </p:txBody>
      </p:sp>
      <p:sp>
        <p:nvSpPr>
          <p:cNvPr id="20" name="Text 17"/>
          <p:cNvSpPr txBox="1"/>
          <p:nvPr/>
        </p:nvSpPr>
        <p:spPr>
          <a:xfrm>
            <a:off x="2971800" y="278892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find the matching fingerprint</a:t>
            </a:r>
            <a:endParaRPr lang="en-US" sz="1700" dirty="0"/>
          </a:p>
        </p:txBody>
      </p:sp>
      <p:sp>
        <p:nvSpPr>
          <p:cNvPr id="21" name="Shape 18"/>
          <p:cNvSpPr/>
          <p:nvPr/>
        </p:nvSpPr>
        <p:spPr>
          <a:xfrm>
            <a:off x="548640" y="3566160"/>
            <a:ext cx="5669280" cy="2377440"/>
          </a:xfrm>
          <a:prstGeom prst="roundRect">
            <a:avLst>
              <a:gd name="adj" fmla="val 3846"/>
            </a:avLst>
          </a:prstGeom>
          <a:solidFill>
            <a:srgbClr val="FFF4DC"/>
          </a:solidFill>
          <a:ln/>
        </p:spPr>
      </p:sp>
      <p:sp>
        <p:nvSpPr>
          <p:cNvPr id="22" name="Text 19"/>
          <p:cNvSpPr txBox="1"/>
          <p:nvPr/>
        </p:nvSpPr>
        <p:spPr>
          <a:xfrm>
            <a:off x="822960" y="3703320"/>
            <a:ext cx="512064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A wordlist attack</a:t>
            </a:r>
            <a:endParaRPr lang="en-US" sz="1700" dirty="0"/>
          </a:p>
        </p:txBody>
      </p:sp>
      <p:sp>
        <p:nvSpPr>
          <p:cNvPr id="23" name="Shape 20"/>
          <p:cNvSpPr/>
          <p:nvPr/>
        </p:nvSpPr>
        <p:spPr>
          <a:xfrm>
            <a:off x="822960" y="4206240"/>
            <a:ext cx="457200" cy="457200"/>
          </a:xfrm>
          <a:prstGeom prst="ellipse">
            <a:avLst/>
          </a:prstGeom>
          <a:solidFill>
            <a:srgbClr val="C9A227"/>
          </a:solidFill>
          <a:ln/>
        </p:spPr>
      </p:sp>
      <p:sp>
        <p:nvSpPr>
          <p:cNvPr id="24" name="Text 21"/>
          <p:cNvSpPr txBox="1"/>
          <p:nvPr/>
        </p:nvSpPr>
        <p:spPr>
          <a:xfrm>
            <a:off x="822960" y="4206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22"/>
          <p:cNvSpPr txBox="1"/>
          <p:nvPr/>
        </p:nvSpPr>
        <p:spPr>
          <a:xfrm>
            <a:off x="1463040" y="4178808"/>
            <a:ext cx="4480560" cy="457200"/>
          </a:xfrm>
          <a:prstGeom prst="rect">
            <a:avLst/>
          </a:prstGeom>
          <a:noFill/>
          <a:ln/>
        </p:spPr>
        <p:txBody>
          <a:bodyPr wrap="square" lIns="0" tIns="0" rIns="0" bIns="0" rtlCol="0" anchor="t"/>
          <a:lstStyle/>
          <a:p>
            <a:pPr indent="0" marL="0">
              <a:buNone/>
            </a:pPr>
            <a:r>
              <a:rPr lang="en-US" sz="1500" dirty="0">
                <a:solidFill>
                  <a:srgbClr val="12213A"/>
                </a:solidFill>
                <a:latin typeface="Calibri" pitchFamily="34" charset="0"/>
                <a:ea typeface="Calibri" pitchFamily="34" charset="-122"/>
                <a:cs typeface="Calibri" pitchFamily="34" charset="-120"/>
              </a:rPr>
              <a:t>Hash every guess in the list.</a:t>
            </a:r>
            <a:endParaRPr lang="en-US" sz="1500" dirty="0"/>
          </a:p>
        </p:txBody>
      </p:sp>
      <p:sp>
        <p:nvSpPr>
          <p:cNvPr id="26" name="Shape 23"/>
          <p:cNvSpPr/>
          <p:nvPr/>
        </p:nvSpPr>
        <p:spPr>
          <a:xfrm>
            <a:off x="822960" y="4754880"/>
            <a:ext cx="457200" cy="457200"/>
          </a:xfrm>
          <a:prstGeom prst="ellipse">
            <a:avLst/>
          </a:prstGeom>
          <a:solidFill>
            <a:srgbClr val="C9A227"/>
          </a:solidFill>
          <a:ln/>
        </p:spPr>
      </p:sp>
      <p:sp>
        <p:nvSpPr>
          <p:cNvPr id="27" name="Text 24"/>
          <p:cNvSpPr txBox="1"/>
          <p:nvPr/>
        </p:nvSpPr>
        <p:spPr>
          <a:xfrm>
            <a:off x="822960" y="4754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8" name="Text 25"/>
          <p:cNvSpPr txBox="1"/>
          <p:nvPr/>
        </p:nvSpPr>
        <p:spPr>
          <a:xfrm>
            <a:off x="1463040" y="4727448"/>
            <a:ext cx="4480560" cy="457200"/>
          </a:xfrm>
          <a:prstGeom prst="rect">
            <a:avLst/>
          </a:prstGeom>
          <a:noFill/>
          <a:ln/>
        </p:spPr>
        <p:txBody>
          <a:bodyPr wrap="square" lIns="0" tIns="0" rIns="0" bIns="0" rtlCol="0" anchor="t"/>
          <a:lstStyle/>
          <a:p>
            <a:pPr indent="0" marL="0">
              <a:buNone/>
            </a:pPr>
            <a:r>
              <a:rPr lang="en-US" sz="1500" dirty="0">
                <a:solidFill>
                  <a:srgbClr val="12213A"/>
                </a:solidFill>
                <a:latin typeface="Calibri" pitchFamily="34" charset="0"/>
                <a:ea typeface="Calibri" pitchFamily="34" charset="-122"/>
                <a:cs typeface="Calibri" pitchFamily="34" charset="-120"/>
              </a:rPr>
              <a:t>Compare each hash with the target.</a:t>
            </a:r>
            <a:endParaRPr lang="en-US" sz="1500" dirty="0"/>
          </a:p>
        </p:txBody>
      </p:sp>
      <p:sp>
        <p:nvSpPr>
          <p:cNvPr id="29" name="Shape 26"/>
          <p:cNvSpPr/>
          <p:nvPr/>
        </p:nvSpPr>
        <p:spPr>
          <a:xfrm>
            <a:off x="822960" y="5303520"/>
            <a:ext cx="457200" cy="457200"/>
          </a:xfrm>
          <a:prstGeom prst="ellipse">
            <a:avLst/>
          </a:prstGeom>
          <a:solidFill>
            <a:srgbClr val="C9A227"/>
          </a:solidFill>
          <a:ln/>
        </p:spPr>
      </p:sp>
      <p:sp>
        <p:nvSpPr>
          <p:cNvPr id="30" name="Text 27"/>
          <p:cNvSpPr txBox="1"/>
          <p:nvPr/>
        </p:nvSpPr>
        <p:spPr>
          <a:xfrm>
            <a:off x="822960" y="5303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1" name="Text 28"/>
          <p:cNvSpPr txBox="1"/>
          <p:nvPr/>
        </p:nvSpPr>
        <p:spPr>
          <a:xfrm>
            <a:off x="1463040" y="5276088"/>
            <a:ext cx="4480560" cy="457200"/>
          </a:xfrm>
          <a:prstGeom prst="rect">
            <a:avLst/>
          </a:prstGeom>
          <a:noFill/>
          <a:ln/>
        </p:spPr>
        <p:txBody>
          <a:bodyPr wrap="square" lIns="0" tIns="0" rIns="0" bIns="0" rtlCol="0" anchor="t"/>
          <a:lstStyle/>
          <a:p>
            <a:pPr indent="0" marL="0">
              <a:buNone/>
            </a:pPr>
            <a:r>
              <a:rPr lang="en-US" sz="1500" dirty="0">
                <a:solidFill>
                  <a:srgbClr val="12213A"/>
                </a:solidFill>
                <a:latin typeface="Calibri" pitchFamily="34" charset="0"/>
                <a:ea typeface="Calibri" pitchFamily="34" charset="-122"/>
                <a:cs typeface="Calibri" pitchFamily="34" charset="-120"/>
              </a:rPr>
              <a:t>The match is the original text.</a:t>
            </a:r>
            <a:endParaRPr lang="en-US" sz="1500" dirty="0"/>
          </a:p>
        </p:txBody>
      </p:sp>
      <p:sp>
        <p:nvSpPr>
          <p:cNvPr id="32" name="Shape 29"/>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33" name="Shape 30"/>
          <p:cNvSpPr/>
          <p:nvPr/>
        </p:nvSpPr>
        <p:spPr>
          <a:xfrm>
            <a:off x="6784848" y="1618488"/>
            <a:ext cx="118872" cy="118872"/>
          </a:xfrm>
          <a:prstGeom prst="ellipse">
            <a:avLst/>
          </a:prstGeom>
          <a:solidFill>
            <a:srgbClr val="E5534B"/>
          </a:solidFill>
          <a:ln/>
        </p:spPr>
      </p:sp>
      <p:sp>
        <p:nvSpPr>
          <p:cNvPr id="34" name="Shape 31"/>
          <p:cNvSpPr/>
          <p:nvPr/>
        </p:nvSpPr>
        <p:spPr>
          <a:xfrm>
            <a:off x="6986016" y="1618488"/>
            <a:ext cx="118872" cy="118872"/>
          </a:xfrm>
          <a:prstGeom prst="ellipse">
            <a:avLst/>
          </a:prstGeom>
          <a:solidFill>
            <a:srgbClr val="F5A623"/>
          </a:solidFill>
          <a:ln/>
        </p:spPr>
      </p:sp>
      <p:sp>
        <p:nvSpPr>
          <p:cNvPr id="35" name="Shape 32"/>
          <p:cNvSpPr/>
          <p:nvPr/>
        </p:nvSpPr>
        <p:spPr>
          <a:xfrm>
            <a:off x="7187184" y="1618488"/>
            <a:ext cx="118872" cy="118872"/>
          </a:xfrm>
          <a:prstGeom prst="ellipse">
            <a:avLst/>
          </a:prstGeom>
          <a:solidFill>
            <a:srgbClr val="46D39A"/>
          </a:solidFill>
          <a:ln/>
        </p:spPr>
      </p:sp>
      <p:sp>
        <p:nvSpPr>
          <p:cNvPr id="36" name="Text 33"/>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7" name="Text 34"/>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echo hello | sha256sum</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5891b5b522d5df08...  -</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echo Hello | sha256sum</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66a045b452102c59...  -</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one letter changed, every character changed</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hashlines guesses.txt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2cf24dba5fb0a30e...  hello</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486ea46224d1bb4f...  world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XOR: the building block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hi | xor -e 7</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09728"/>
            <a:ext cx="1357884" cy="274320"/>
          </a:xfrm>
          <a:prstGeom prst="roundRect">
            <a:avLst>
              <a:gd name="adj" fmla="val 50000"/>
            </a:avLst>
          </a:prstGeom>
          <a:solidFill>
            <a:srgbClr val="0F9488"/>
          </a:solidFill>
          <a:ln/>
        </p:spPr>
      </p:sp>
      <p:sp>
        <p:nvSpPr>
          <p:cNvPr id="11" name="Text 8"/>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8</a:t>
            </a:r>
            <a:endParaRPr lang="en-US" sz="1100" dirty="0"/>
          </a:p>
        </p:txBody>
      </p:sp>
      <p:sp>
        <p:nvSpPr>
          <p:cNvPr id="12" name="Shape 9"/>
          <p:cNvSpPr/>
          <p:nvPr/>
        </p:nvSpPr>
        <p:spPr>
          <a:xfrm>
            <a:off x="548640" y="1554480"/>
            <a:ext cx="3200400" cy="2834640"/>
          </a:xfrm>
          <a:prstGeom prst="roundRect">
            <a:avLst>
              <a:gd name="adj" fmla="val 3226"/>
            </a:avLst>
          </a:prstGeom>
          <a:solidFill>
            <a:srgbClr val="F1F5FB"/>
          </a:solidFill>
          <a:ln/>
        </p:spPr>
      </p:sp>
      <p:sp>
        <p:nvSpPr>
          <p:cNvPr id="13" name="Text 10"/>
          <p:cNvSpPr txBox="1"/>
          <p:nvPr/>
        </p:nvSpPr>
        <p:spPr>
          <a:xfrm>
            <a:off x="868680" y="1691640"/>
            <a:ext cx="822960" cy="365760"/>
          </a:xfrm>
          <a:prstGeom prst="rect">
            <a:avLst/>
          </a:prstGeom>
          <a:noFill/>
          <a:ln/>
        </p:spPr>
        <p:txBody>
          <a:bodyPr wrap="square" lIns="0" tIns="0" rIns="0" bIns="0" rtlCol="0" anchor="t"/>
          <a:lstStyle/>
          <a:p>
            <a:pPr algn="ctr" indent="0" marL="0">
              <a:buNone/>
            </a:pPr>
            <a:r>
              <a:rPr lang="en-US" sz="1400" b="1" dirty="0">
                <a:solidFill>
                  <a:srgbClr val="56657E"/>
                </a:solidFill>
                <a:latin typeface="Calibri" pitchFamily="34" charset="0"/>
                <a:ea typeface="Calibri" pitchFamily="34" charset="-122"/>
                <a:cs typeface="Calibri" pitchFamily="34" charset="-120"/>
              </a:rPr>
              <a:t>bit</a:t>
            </a:r>
            <a:endParaRPr lang="en-US" sz="1400" dirty="0"/>
          </a:p>
        </p:txBody>
      </p:sp>
      <p:sp>
        <p:nvSpPr>
          <p:cNvPr id="14" name="Text 11"/>
          <p:cNvSpPr txBox="1"/>
          <p:nvPr/>
        </p:nvSpPr>
        <p:spPr>
          <a:xfrm>
            <a:off x="1783080" y="1691640"/>
            <a:ext cx="822960" cy="365760"/>
          </a:xfrm>
          <a:prstGeom prst="rect">
            <a:avLst/>
          </a:prstGeom>
          <a:noFill/>
          <a:ln/>
        </p:spPr>
        <p:txBody>
          <a:bodyPr wrap="square" lIns="0" tIns="0" rIns="0" bIns="0" rtlCol="0" anchor="t"/>
          <a:lstStyle/>
          <a:p>
            <a:pPr algn="ctr" indent="0" marL="0">
              <a:buNone/>
            </a:pPr>
            <a:r>
              <a:rPr lang="en-US" sz="1400" b="1" dirty="0">
                <a:solidFill>
                  <a:srgbClr val="56657E"/>
                </a:solidFill>
                <a:latin typeface="Calibri" pitchFamily="34" charset="0"/>
                <a:ea typeface="Calibri" pitchFamily="34" charset="-122"/>
                <a:cs typeface="Calibri" pitchFamily="34" charset="-120"/>
              </a:rPr>
              <a:t>key</a:t>
            </a:r>
            <a:endParaRPr lang="en-US" sz="1400" dirty="0"/>
          </a:p>
        </p:txBody>
      </p:sp>
      <p:sp>
        <p:nvSpPr>
          <p:cNvPr id="15" name="Text 12"/>
          <p:cNvSpPr txBox="1"/>
          <p:nvPr/>
        </p:nvSpPr>
        <p:spPr>
          <a:xfrm>
            <a:off x="2697480" y="1691640"/>
            <a:ext cx="822960" cy="365760"/>
          </a:xfrm>
          <a:prstGeom prst="rect">
            <a:avLst/>
          </a:prstGeom>
          <a:noFill/>
          <a:ln/>
        </p:spPr>
        <p:txBody>
          <a:bodyPr wrap="square" lIns="0" tIns="0" rIns="0" bIns="0" rtlCol="0" anchor="t"/>
          <a:lstStyle/>
          <a:p>
            <a:pPr algn="ctr" indent="0" marL="0">
              <a:buNone/>
            </a:pPr>
            <a:r>
              <a:rPr lang="en-US" sz="1400" b="1" dirty="0">
                <a:solidFill>
                  <a:srgbClr val="56657E"/>
                </a:solidFill>
                <a:latin typeface="Calibri" pitchFamily="34" charset="0"/>
                <a:ea typeface="Calibri" pitchFamily="34" charset="-122"/>
                <a:cs typeface="Calibri" pitchFamily="34" charset="-120"/>
              </a:rPr>
              <a:t>XOR</a:t>
            </a:r>
            <a:endParaRPr lang="en-US" sz="1400" dirty="0"/>
          </a:p>
        </p:txBody>
      </p:sp>
      <p:sp>
        <p:nvSpPr>
          <p:cNvPr id="16" name="Text 13"/>
          <p:cNvSpPr txBox="1"/>
          <p:nvPr/>
        </p:nvSpPr>
        <p:spPr>
          <a:xfrm>
            <a:off x="868680" y="2148840"/>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0</a:t>
            </a:r>
            <a:endParaRPr lang="en-US" sz="2200" dirty="0"/>
          </a:p>
        </p:txBody>
      </p:sp>
      <p:sp>
        <p:nvSpPr>
          <p:cNvPr id="17" name="Text 14"/>
          <p:cNvSpPr txBox="1"/>
          <p:nvPr/>
        </p:nvSpPr>
        <p:spPr>
          <a:xfrm>
            <a:off x="1783080" y="2148840"/>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0</a:t>
            </a:r>
            <a:endParaRPr lang="en-US" sz="2200" dirty="0"/>
          </a:p>
        </p:txBody>
      </p:sp>
      <p:sp>
        <p:nvSpPr>
          <p:cNvPr id="18" name="Text 15"/>
          <p:cNvSpPr txBox="1"/>
          <p:nvPr/>
        </p:nvSpPr>
        <p:spPr>
          <a:xfrm>
            <a:off x="2697480" y="2148840"/>
            <a:ext cx="822960" cy="457200"/>
          </a:xfrm>
          <a:prstGeom prst="rect">
            <a:avLst/>
          </a:prstGeom>
          <a:noFill/>
          <a:ln/>
        </p:spPr>
        <p:txBody>
          <a:bodyPr wrap="square" lIns="0" tIns="0" rIns="0" bIns="0" rtlCol="0" anchor="t"/>
          <a:lstStyle/>
          <a:p>
            <a:pPr algn="ctr" indent="0" marL="0">
              <a:buNone/>
            </a:pPr>
            <a:r>
              <a:rPr lang="en-US" sz="2200" b="1" dirty="0">
                <a:solidFill>
                  <a:srgbClr val="0F9488"/>
                </a:solidFill>
                <a:latin typeface="Courier New" pitchFamily="34" charset="0"/>
                <a:ea typeface="Courier New" pitchFamily="34" charset="-122"/>
                <a:cs typeface="Courier New" pitchFamily="34" charset="-120"/>
              </a:rPr>
              <a:t>0</a:t>
            </a:r>
            <a:endParaRPr lang="en-US" sz="2200" dirty="0"/>
          </a:p>
        </p:txBody>
      </p:sp>
      <p:sp>
        <p:nvSpPr>
          <p:cNvPr id="19" name="Text 16"/>
          <p:cNvSpPr txBox="1"/>
          <p:nvPr/>
        </p:nvSpPr>
        <p:spPr>
          <a:xfrm>
            <a:off x="868680" y="2679192"/>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0</a:t>
            </a:r>
            <a:endParaRPr lang="en-US" sz="2200" dirty="0"/>
          </a:p>
        </p:txBody>
      </p:sp>
      <p:sp>
        <p:nvSpPr>
          <p:cNvPr id="20" name="Text 17"/>
          <p:cNvSpPr txBox="1"/>
          <p:nvPr/>
        </p:nvSpPr>
        <p:spPr>
          <a:xfrm>
            <a:off x="1783080" y="2679192"/>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1</a:t>
            </a:r>
            <a:endParaRPr lang="en-US" sz="2200" dirty="0"/>
          </a:p>
        </p:txBody>
      </p:sp>
      <p:sp>
        <p:nvSpPr>
          <p:cNvPr id="21" name="Text 18"/>
          <p:cNvSpPr txBox="1"/>
          <p:nvPr/>
        </p:nvSpPr>
        <p:spPr>
          <a:xfrm>
            <a:off x="2697480" y="2679192"/>
            <a:ext cx="822960" cy="457200"/>
          </a:xfrm>
          <a:prstGeom prst="rect">
            <a:avLst/>
          </a:prstGeom>
          <a:noFill/>
          <a:ln/>
        </p:spPr>
        <p:txBody>
          <a:bodyPr wrap="square" lIns="0" tIns="0" rIns="0" bIns="0" rtlCol="0" anchor="t"/>
          <a:lstStyle/>
          <a:p>
            <a:pPr algn="ctr" indent="0" marL="0">
              <a:buNone/>
            </a:pPr>
            <a:r>
              <a:rPr lang="en-US" sz="2200" b="1" dirty="0">
                <a:solidFill>
                  <a:srgbClr val="0F9488"/>
                </a:solidFill>
                <a:latin typeface="Courier New" pitchFamily="34" charset="0"/>
                <a:ea typeface="Courier New" pitchFamily="34" charset="-122"/>
                <a:cs typeface="Courier New" pitchFamily="34" charset="-120"/>
              </a:rPr>
              <a:t>1</a:t>
            </a:r>
            <a:endParaRPr lang="en-US" sz="2200" dirty="0"/>
          </a:p>
        </p:txBody>
      </p:sp>
      <p:sp>
        <p:nvSpPr>
          <p:cNvPr id="22" name="Text 19"/>
          <p:cNvSpPr txBox="1"/>
          <p:nvPr/>
        </p:nvSpPr>
        <p:spPr>
          <a:xfrm>
            <a:off x="868680" y="3209544"/>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1</a:t>
            </a:r>
            <a:endParaRPr lang="en-US" sz="2200" dirty="0"/>
          </a:p>
        </p:txBody>
      </p:sp>
      <p:sp>
        <p:nvSpPr>
          <p:cNvPr id="23" name="Text 20"/>
          <p:cNvSpPr txBox="1"/>
          <p:nvPr/>
        </p:nvSpPr>
        <p:spPr>
          <a:xfrm>
            <a:off x="1783080" y="3209544"/>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0</a:t>
            </a:r>
            <a:endParaRPr lang="en-US" sz="2200" dirty="0"/>
          </a:p>
        </p:txBody>
      </p:sp>
      <p:sp>
        <p:nvSpPr>
          <p:cNvPr id="24" name="Text 21"/>
          <p:cNvSpPr txBox="1"/>
          <p:nvPr/>
        </p:nvSpPr>
        <p:spPr>
          <a:xfrm>
            <a:off x="2697480" y="3209544"/>
            <a:ext cx="822960" cy="457200"/>
          </a:xfrm>
          <a:prstGeom prst="rect">
            <a:avLst/>
          </a:prstGeom>
          <a:noFill/>
          <a:ln/>
        </p:spPr>
        <p:txBody>
          <a:bodyPr wrap="square" lIns="0" tIns="0" rIns="0" bIns="0" rtlCol="0" anchor="t"/>
          <a:lstStyle/>
          <a:p>
            <a:pPr algn="ctr" indent="0" marL="0">
              <a:buNone/>
            </a:pPr>
            <a:r>
              <a:rPr lang="en-US" sz="2200" b="1" dirty="0">
                <a:solidFill>
                  <a:srgbClr val="0F9488"/>
                </a:solidFill>
                <a:latin typeface="Courier New" pitchFamily="34" charset="0"/>
                <a:ea typeface="Courier New" pitchFamily="34" charset="-122"/>
                <a:cs typeface="Courier New" pitchFamily="34" charset="-120"/>
              </a:rPr>
              <a:t>1</a:t>
            </a:r>
            <a:endParaRPr lang="en-US" sz="2200" dirty="0"/>
          </a:p>
        </p:txBody>
      </p:sp>
      <p:sp>
        <p:nvSpPr>
          <p:cNvPr id="25" name="Text 22"/>
          <p:cNvSpPr txBox="1"/>
          <p:nvPr/>
        </p:nvSpPr>
        <p:spPr>
          <a:xfrm>
            <a:off x="868680" y="3739896"/>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1</a:t>
            </a:r>
            <a:endParaRPr lang="en-US" sz="2200" dirty="0"/>
          </a:p>
        </p:txBody>
      </p:sp>
      <p:sp>
        <p:nvSpPr>
          <p:cNvPr id="26" name="Text 23"/>
          <p:cNvSpPr txBox="1"/>
          <p:nvPr/>
        </p:nvSpPr>
        <p:spPr>
          <a:xfrm>
            <a:off x="1783080" y="3739896"/>
            <a:ext cx="822960" cy="457200"/>
          </a:xfrm>
          <a:prstGeom prst="rect">
            <a:avLst/>
          </a:prstGeom>
          <a:noFill/>
          <a:ln/>
        </p:spPr>
        <p:txBody>
          <a:bodyPr wrap="square" lIns="0" tIns="0" rIns="0" bIns="0" rtlCol="0" anchor="t"/>
          <a:lstStyle/>
          <a:p>
            <a:pPr algn="ctr" indent="0" marL="0">
              <a:buNone/>
            </a:pPr>
            <a:r>
              <a:rPr lang="en-US" sz="2200" b="1" dirty="0">
                <a:solidFill>
                  <a:srgbClr val="12213A"/>
                </a:solidFill>
                <a:latin typeface="Courier New" pitchFamily="34" charset="0"/>
                <a:ea typeface="Courier New" pitchFamily="34" charset="-122"/>
                <a:cs typeface="Courier New" pitchFamily="34" charset="-120"/>
              </a:rPr>
              <a:t>1</a:t>
            </a:r>
            <a:endParaRPr lang="en-US" sz="2200" dirty="0"/>
          </a:p>
        </p:txBody>
      </p:sp>
      <p:sp>
        <p:nvSpPr>
          <p:cNvPr id="27" name="Text 24"/>
          <p:cNvSpPr txBox="1"/>
          <p:nvPr/>
        </p:nvSpPr>
        <p:spPr>
          <a:xfrm>
            <a:off x="2697480" y="3739896"/>
            <a:ext cx="822960" cy="457200"/>
          </a:xfrm>
          <a:prstGeom prst="rect">
            <a:avLst/>
          </a:prstGeom>
          <a:noFill/>
          <a:ln/>
        </p:spPr>
        <p:txBody>
          <a:bodyPr wrap="square" lIns="0" tIns="0" rIns="0" bIns="0" rtlCol="0" anchor="t"/>
          <a:lstStyle/>
          <a:p>
            <a:pPr algn="ctr" indent="0" marL="0">
              <a:buNone/>
            </a:pPr>
            <a:r>
              <a:rPr lang="en-US" sz="2200" b="1" dirty="0">
                <a:solidFill>
                  <a:srgbClr val="0F9488"/>
                </a:solidFill>
                <a:latin typeface="Courier New" pitchFamily="34" charset="0"/>
                <a:ea typeface="Courier New" pitchFamily="34" charset="-122"/>
                <a:cs typeface="Courier New" pitchFamily="34" charset="-120"/>
              </a:rPr>
              <a:t>0</a:t>
            </a:r>
            <a:endParaRPr lang="en-US" sz="2200" dirty="0"/>
          </a:p>
        </p:txBody>
      </p:sp>
      <p:sp>
        <p:nvSpPr>
          <p:cNvPr id="28" name="Shape 25"/>
          <p:cNvSpPr/>
          <p:nvPr/>
        </p:nvSpPr>
        <p:spPr>
          <a:xfrm>
            <a:off x="3977640" y="1554480"/>
            <a:ext cx="2743200" cy="2834640"/>
          </a:xfrm>
          <a:prstGeom prst="roundRect">
            <a:avLst>
              <a:gd name="adj" fmla="val 3333"/>
            </a:avLst>
          </a:prstGeom>
          <a:solidFill>
            <a:srgbClr val="FFF4DC"/>
          </a:solidFill>
          <a:ln/>
        </p:spPr>
      </p:sp>
      <p:sp>
        <p:nvSpPr>
          <p:cNvPr id="29" name="Text 26"/>
          <p:cNvSpPr txBox="1"/>
          <p:nvPr/>
        </p:nvSpPr>
        <p:spPr>
          <a:xfrm>
            <a:off x="4206240" y="1691640"/>
            <a:ext cx="2377440" cy="256032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Same key twice = undo.</a:t>
            </a:r>
            <a:endParaRPr lang="en-US" sz="1500" dirty="0"/>
          </a:p>
          <a:p>
            <a:pPr indent="0" marL="0">
              <a:buNone/>
            </a:pPr>
            <a:r>
              <a:rPr lang="en-US" sz="1500" dirty="0">
                <a:solidFill>
                  <a:srgbClr val="12213A"/>
                </a:solidFill>
                <a:latin typeface="Calibri" pitchFamily="34" charset="0"/>
                <a:ea typeface="Calibri" pitchFamily="34" charset="-122"/>
                <a:cs typeface="Calibri" pitchFamily="34" charset="-120"/>
              </a:rPr>
              <a:t>text XOR key = cipher</a:t>
            </a:r>
            <a:endParaRPr lang="en-US" sz="1500" dirty="0"/>
          </a:p>
          <a:p>
            <a:pPr indent="0" marL="0">
              <a:buNone/>
            </a:pPr>
            <a:r>
              <a:rPr lang="en-US" sz="1500" dirty="0">
                <a:solidFill>
                  <a:srgbClr val="12213A"/>
                </a:solidFill>
                <a:latin typeface="Calibri" pitchFamily="34" charset="0"/>
                <a:ea typeface="Calibri" pitchFamily="34" charset="-122"/>
                <a:cs typeface="Calibri" pitchFamily="34" charset="-120"/>
              </a:rPr>
              <a:t>cipher XOR key = text</a:t>
            </a:r>
            <a:endParaRPr lang="en-US" sz="1500" dirty="0"/>
          </a:p>
        </p:txBody>
      </p:sp>
      <p:sp>
        <p:nvSpPr>
          <p:cNvPr id="30" name="Shape 27"/>
          <p:cNvSpPr/>
          <p:nvPr/>
        </p:nvSpPr>
        <p:spPr>
          <a:xfrm>
            <a:off x="548640" y="4617720"/>
            <a:ext cx="2194560" cy="457200"/>
          </a:xfrm>
          <a:prstGeom prst="roundRect">
            <a:avLst>
              <a:gd name="adj" fmla="val 16000"/>
            </a:avLst>
          </a:prstGeom>
          <a:solidFill>
            <a:srgbClr val="0E1726"/>
          </a:solidFill>
          <a:ln/>
        </p:spPr>
      </p:sp>
      <p:sp>
        <p:nvSpPr>
          <p:cNvPr id="31" name="Text 28"/>
          <p:cNvSpPr txBox="1"/>
          <p:nvPr/>
        </p:nvSpPr>
        <p:spPr>
          <a:xfrm>
            <a:off x="548640" y="461772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xor -e KEY</a:t>
            </a:r>
            <a:endParaRPr lang="en-US" sz="1500" dirty="0"/>
          </a:p>
        </p:txBody>
      </p:sp>
      <p:sp>
        <p:nvSpPr>
          <p:cNvPr id="32" name="Text 29"/>
          <p:cNvSpPr txBox="1"/>
          <p:nvPr/>
        </p:nvSpPr>
        <p:spPr>
          <a:xfrm>
            <a:off x="2971800" y="4617720"/>
            <a:ext cx="37490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hide text, print hex</a:t>
            </a:r>
            <a:endParaRPr lang="en-US" sz="1700" dirty="0"/>
          </a:p>
        </p:txBody>
      </p:sp>
      <p:sp>
        <p:nvSpPr>
          <p:cNvPr id="33" name="Shape 30"/>
          <p:cNvSpPr/>
          <p:nvPr/>
        </p:nvSpPr>
        <p:spPr>
          <a:xfrm>
            <a:off x="548640" y="5212080"/>
            <a:ext cx="2194560" cy="457200"/>
          </a:xfrm>
          <a:prstGeom prst="roundRect">
            <a:avLst>
              <a:gd name="adj" fmla="val 16000"/>
            </a:avLst>
          </a:prstGeom>
          <a:solidFill>
            <a:srgbClr val="0E1726"/>
          </a:solidFill>
          <a:ln/>
        </p:spPr>
      </p:sp>
      <p:sp>
        <p:nvSpPr>
          <p:cNvPr id="34" name="Text 31"/>
          <p:cNvSpPr txBox="1"/>
          <p:nvPr/>
        </p:nvSpPr>
        <p:spPr>
          <a:xfrm>
            <a:off x="548640" y="5212080"/>
            <a:ext cx="21945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xor all</a:t>
            </a:r>
            <a:endParaRPr lang="en-US" sz="1500" dirty="0"/>
          </a:p>
        </p:txBody>
      </p:sp>
      <p:sp>
        <p:nvSpPr>
          <p:cNvPr id="35" name="Text 32"/>
          <p:cNvSpPr txBox="1"/>
          <p:nvPr/>
        </p:nvSpPr>
        <p:spPr>
          <a:xfrm>
            <a:off x="2971800" y="5212080"/>
            <a:ext cx="37490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try all 255 keys</a:t>
            </a:r>
            <a:endParaRPr lang="en-US" sz="1700" dirty="0"/>
          </a:p>
        </p:txBody>
      </p:sp>
      <p:sp>
        <p:nvSpPr>
          <p:cNvPr id="36" name="Shape 33"/>
          <p:cNvSpPr/>
          <p:nvPr/>
        </p:nvSpPr>
        <p:spPr>
          <a:xfrm>
            <a:off x="7040880" y="1463040"/>
            <a:ext cx="45994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37" name="Shape 34"/>
          <p:cNvSpPr/>
          <p:nvPr/>
        </p:nvSpPr>
        <p:spPr>
          <a:xfrm>
            <a:off x="7242048" y="1618488"/>
            <a:ext cx="118872" cy="118872"/>
          </a:xfrm>
          <a:prstGeom prst="ellipse">
            <a:avLst/>
          </a:prstGeom>
          <a:solidFill>
            <a:srgbClr val="E5534B"/>
          </a:solidFill>
          <a:ln/>
        </p:spPr>
      </p:sp>
      <p:sp>
        <p:nvSpPr>
          <p:cNvPr id="38" name="Shape 35"/>
          <p:cNvSpPr/>
          <p:nvPr/>
        </p:nvSpPr>
        <p:spPr>
          <a:xfrm>
            <a:off x="7443216" y="1618488"/>
            <a:ext cx="118872" cy="118872"/>
          </a:xfrm>
          <a:prstGeom prst="ellipse">
            <a:avLst/>
          </a:prstGeom>
          <a:solidFill>
            <a:srgbClr val="F5A623"/>
          </a:solidFill>
          <a:ln/>
        </p:spPr>
      </p:sp>
      <p:sp>
        <p:nvSpPr>
          <p:cNvPr id="39" name="Shape 36"/>
          <p:cNvSpPr/>
          <p:nvPr/>
        </p:nvSpPr>
        <p:spPr>
          <a:xfrm>
            <a:off x="7644384" y="1618488"/>
            <a:ext cx="118872" cy="118872"/>
          </a:xfrm>
          <a:prstGeom prst="ellipse">
            <a:avLst/>
          </a:prstGeom>
          <a:solidFill>
            <a:srgbClr val="46D39A"/>
          </a:solidFill>
          <a:ln/>
        </p:spPr>
      </p:sp>
      <p:sp>
        <p:nvSpPr>
          <p:cNvPr id="40" name="Text 37"/>
          <p:cNvSpPr txBox="1"/>
          <p:nvPr/>
        </p:nvSpPr>
        <p:spPr>
          <a:xfrm>
            <a:off x="7955280" y="1536192"/>
            <a:ext cx="27706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41" name="Text 38"/>
          <p:cNvSpPr txBox="1"/>
          <p:nvPr/>
        </p:nvSpPr>
        <p:spPr>
          <a:xfrm>
            <a:off x="7315200" y="1920240"/>
            <a:ext cx="4050792" cy="388620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hi | xor -e 7</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6f6e0d</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6f6e0d | xor 7</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hi</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6f6e0d | xor all | head -3</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key 1: no.</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key 2: ml.</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key 3: lm.</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Vigenère: a keyword sets the shifts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HI | vigenere -e KEY</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a:off x="548640" y="109728"/>
            <a:ext cx="1879092" cy="274320"/>
          </a:xfrm>
          <a:prstGeom prst="roundRect">
            <a:avLst>
              <a:gd name="adj" fmla="val 50000"/>
            </a:avLst>
          </a:prstGeom>
          <a:solidFill>
            <a:srgbClr val="5B6EE1"/>
          </a:solidFill>
          <a:ln/>
        </p:spPr>
      </p:sp>
      <p:sp>
        <p:nvSpPr>
          <p:cNvPr id="11" name="Text 8"/>
          <p:cNvSpPr txBox="1"/>
          <p:nvPr/>
        </p:nvSpPr>
        <p:spPr>
          <a:xfrm>
            <a:off x="548640" y="109728"/>
            <a:ext cx="18790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9 &amp; 10</a:t>
            </a:r>
            <a:endParaRPr lang="en-US" sz="1100" dirty="0"/>
          </a:p>
        </p:txBody>
      </p:sp>
      <p:sp>
        <p:nvSpPr>
          <p:cNvPr id="12" name="Text 9"/>
          <p:cNvSpPr txBox="1"/>
          <p:nvPr/>
        </p:nvSpPr>
        <p:spPr>
          <a:xfrm>
            <a:off x="548640" y="1691640"/>
            <a:ext cx="1188720" cy="640080"/>
          </a:xfrm>
          <a:prstGeom prst="rect">
            <a:avLst/>
          </a:prstGeom>
          <a:noFill/>
          <a:ln/>
        </p:spPr>
        <p:txBody>
          <a:bodyPr wrap="square" lIns="0" tIns="0" rIns="0" bIns="0" rtlCol="0" anchor="ctr"/>
          <a:lstStyle/>
          <a:p>
            <a:pPr indent="0" marL="0">
              <a:buNone/>
            </a:pPr>
            <a:r>
              <a:rPr lang="en-US" sz="1500" b="1" dirty="0">
                <a:solidFill>
                  <a:srgbClr val="56657E"/>
                </a:solidFill>
                <a:latin typeface="Calibri" pitchFamily="34" charset="0"/>
                <a:ea typeface="Calibri" pitchFamily="34" charset="-122"/>
                <a:cs typeface="Calibri" pitchFamily="34" charset="-120"/>
              </a:rPr>
              <a:t>text</a:t>
            </a:r>
            <a:endParaRPr lang="en-US" sz="1500" dirty="0"/>
          </a:p>
        </p:txBody>
      </p:sp>
      <p:sp>
        <p:nvSpPr>
          <p:cNvPr id="13" name="Shape 10"/>
          <p:cNvSpPr/>
          <p:nvPr/>
        </p:nvSpPr>
        <p:spPr>
          <a:xfrm>
            <a:off x="1828800" y="1691640"/>
            <a:ext cx="685800" cy="640080"/>
          </a:xfrm>
          <a:prstGeom prst="roundRect">
            <a:avLst>
              <a:gd name="adj" fmla="val 11429"/>
            </a:avLst>
          </a:prstGeom>
          <a:solidFill>
            <a:srgbClr val="F1F5FB"/>
          </a:solidFill>
          <a:ln/>
        </p:spPr>
      </p:sp>
      <p:sp>
        <p:nvSpPr>
          <p:cNvPr id="14" name="Text 11"/>
          <p:cNvSpPr txBox="1"/>
          <p:nvPr/>
        </p:nvSpPr>
        <p:spPr>
          <a:xfrm>
            <a:off x="1828800" y="1691640"/>
            <a:ext cx="685800" cy="640080"/>
          </a:xfrm>
          <a:prstGeom prst="rect">
            <a:avLst/>
          </a:prstGeom>
          <a:noFill/>
          <a:ln/>
        </p:spPr>
        <p:txBody>
          <a:bodyPr wrap="square" lIns="0" tIns="0" rIns="0" bIns="0" rtlCol="0" anchor="ct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A</a:t>
            </a:r>
            <a:endParaRPr lang="en-US" sz="2400" dirty="0"/>
          </a:p>
        </p:txBody>
      </p:sp>
      <p:sp>
        <p:nvSpPr>
          <p:cNvPr id="15" name="Shape 12"/>
          <p:cNvSpPr/>
          <p:nvPr/>
        </p:nvSpPr>
        <p:spPr>
          <a:xfrm>
            <a:off x="2651760" y="1691640"/>
            <a:ext cx="685800" cy="640080"/>
          </a:xfrm>
          <a:prstGeom prst="roundRect">
            <a:avLst>
              <a:gd name="adj" fmla="val 11429"/>
            </a:avLst>
          </a:prstGeom>
          <a:solidFill>
            <a:srgbClr val="F1F5FB"/>
          </a:solidFill>
          <a:ln/>
        </p:spPr>
      </p:sp>
      <p:sp>
        <p:nvSpPr>
          <p:cNvPr id="16" name="Text 13"/>
          <p:cNvSpPr txBox="1"/>
          <p:nvPr/>
        </p:nvSpPr>
        <p:spPr>
          <a:xfrm>
            <a:off x="2651760" y="1691640"/>
            <a:ext cx="685800" cy="640080"/>
          </a:xfrm>
          <a:prstGeom prst="rect">
            <a:avLst/>
          </a:prstGeom>
          <a:noFill/>
          <a:ln/>
        </p:spPr>
        <p:txBody>
          <a:bodyPr wrap="square" lIns="0" tIns="0" rIns="0" bIns="0" rtlCol="0" anchor="ct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T</a:t>
            </a:r>
            <a:endParaRPr lang="en-US" sz="2400" dirty="0"/>
          </a:p>
        </p:txBody>
      </p:sp>
      <p:sp>
        <p:nvSpPr>
          <p:cNvPr id="17" name="Shape 14"/>
          <p:cNvSpPr/>
          <p:nvPr/>
        </p:nvSpPr>
        <p:spPr>
          <a:xfrm>
            <a:off x="3474720" y="1691640"/>
            <a:ext cx="685800" cy="640080"/>
          </a:xfrm>
          <a:prstGeom prst="roundRect">
            <a:avLst>
              <a:gd name="adj" fmla="val 11429"/>
            </a:avLst>
          </a:prstGeom>
          <a:solidFill>
            <a:srgbClr val="F1F5FB"/>
          </a:solidFill>
          <a:ln/>
        </p:spPr>
      </p:sp>
      <p:sp>
        <p:nvSpPr>
          <p:cNvPr id="18" name="Text 15"/>
          <p:cNvSpPr txBox="1"/>
          <p:nvPr/>
        </p:nvSpPr>
        <p:spPr>
          <a:xfrm>
            <a:off x="3474720" y="1691640"/>
            <a:ext cx="685800" cy="640080"/>
          </a:xfrm>
          <a:prstGeom prst="rect">
            <a:avLst/>
          </a:prstGeom>
          <a:noFill/>
          <a:ln/>
        </p:spPr>
        <p:txBody>
          <a:bodyPr wrap="square" lIns="0" tIns="0" rIns="0" bIns="0" rtlCol="0" anchor="ct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T</a:t>
            </a:r>
            <a:endParaRPr lang="en-US" sz="2400" dirty="0"/>
          </a:p>
        </p:txBody>
      </p:sp>
      <p:sp>
        <p:nvSpPr>
          <p:cNvPr id="19" name="Shape 16"/>
          <p:cNvSpPr/>
          <p:nvPr/>
        </p:nvSpPr>
        <p:spPr>
          <a:xfrm>
            <a:off x="4297680" y="1691640"/>
            <a:ext cx="685800" cy="640080"/>
          </a:xfrm>
          <a:prstGeom prst="roundRect">
            <a:avLst>
              <a:gd name="adj" fmla="val 11429"/>
            </a:avLst>
          </a:prstGeom>
          <a:solidFill>
            <a:srgbClr val="F1F5FB"/>
          </a:solidFill>
          <a:ln/>
        </p:spPr>
      </p:sp>
      <p:sp>
        <p:nvSpPr>
          <p:cNvPr id="20" name="Text 17"/>
          <p:cNvSpPr txBox="1"/>
          <p:nvPr/>
        </p:nvSpPr>
        <p:spPr>
          <a:xfrm>
            <a:off x="4297680" y="1691640"/>
            <a:ext cx="685800" cy="640080"/>
          </a:xfrm>
          <a:prstGeom prst="rect">
            <a:avLst/>
          </a:prstGeom>
          <a:noFill/>
          <a:ln/>
        </p:spPr>
        <p:txBody>
          <a:bodyPr wrap="square" lIns="0" tIns="0" rIns="0" bIns="0" rtlCol="0" anchor="ct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A</a:t>
            </a:r>
            <a:endParaRPr lang="en-US" sz="2400" dirty="0"/>
          </a:p>
        </p:txBody>
      </p:sp>
      <p:sp>
        <p:nvSpPr>
          <p:cNvPr id="21" name="Shape 18"/>
          <p:cNvSpPr/>
          <p:nvPr/>
        </p:nvSpPr>
        <p:spPr>
          <a:xfrm>
            <a:off x="5120640" y="1691640"/>
            <a:ext cx="685800" cy="640080"/>
          </a:xfrm>
          <a:prstGeom prst="roundRect">
            <a:avLst>
              <a:gd name="adj" fmla="val 11429"/>
            </a:avLst>
          </a:prstGeom>
          <a:solidFill>
            <a:srgbClr val="F1F5FB"/>
          </a:solidFill>
          <a:ln/>
        </p:spPr>
      </p:sp>
      <p:sp>
        <p:nvSpPr>
          <p:cNvPr id="22" name="Text 19"/>
          <p:cNvSpPr txBox="1"/>
          <p:nvPr/>
        </p:nvSpPr>
        <p:spPr>
          <a:xfrm>
            <a:off x="5120640" y="1691640"/>
            <a:ext cx="685800" cy="640080"/>
          </a:xfrm>
          <a:prstGeom prst="rect">
            <a:avLst/>
          </a:prstGeom>
          <a:noFill/>
          <a:ln/>
        </p:spPr>
        <p:txBody>
          <a:bodyPr wrap="square" lIns="0" tIns="0" rIns="0" bIns="0" rtlCol="0" anchor="ct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C</a:t>
            </a:r>
            <a:endParaRPr lang="en-US" sz="2400" dirty="0"/>
          </a:p>
        </p:txBody>
      </p:sp>
      <p:sp>
        <p:nvSpPr>
          <p:cNvPr id="23" name="Shape 20"/>
          <p:cNvSpPr/>
          <p:nvPr/>
        </p:nvSpPr>
        <p:spPr>
          <a:xfrm>
            <a:off x="5943600" y="1691640"/>
            <a:ext cx="685800" cy="640080"/>
          </a:xfrm>
          <a:prstGeom prst="roundRect">
            <a:avLst>
              <a:gd name="adj" fmla="val 11429"/>
            </a:avLst>
          </a:prstGeom>
          <a:solidFill>
            <a:srgbClr val="F1F5FB"/>
          </a:solidFill>
          <a:ln/>
        </p:spPr>
      </p:sp>
      <p:sp>
        <p:nvSpPr>
          <p:cNvPr id="24" name="Text 21"/>
          <p:cNvSpPr txBox="1"/>
          <p:nvPr/>
        </p:nvSpPr>
        <p:spPr>
          <a:xfrm>
            <a:off x="5943600" y="1691640"/>
            <a:ext cx="685800" cy="640080"/>
          </a:xfrm>
          <a:prstGeom prst="rect">
            <a:avLst/>
          </a:prstGeom>
          <a:noFill/>
          <a:ln/>
        </p:spPr>
        <p:txBody>
          <a:bodyPr wrap="square" lIns="0" tIns="0" rIns="0" bIns="0" rtlCol="0" anchor="ct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K</a:t>
            </a:r>
            <a:endParaRPr lang="en-US" sz="2400" dirty="0"/>
          </a:p>
        </p:txBody>
      </p:sp>
      <p:sp>
        <p:nvSpPr>
          <p:cNvPr id="25" name="Text 22"/>
          <p:cNvSpPr txBox="1"/>
          <p:nvPr/>
        </p:nvSpPr>
        <p:spPr>
          <a:xfrm>
            <a:off x="548640" y="2514600"/>
            <a:ext cx="1188720" cy="640080"/>
          </a:xfrm>
          <a:prstGeom prst="rect">
            <a:avLst/>
          </a:prstGeom>
          <a:noFill/>
          <a:ln/>
        </p:spPr>
        <p:txBody>
          <a:bodyPr wrap="square" lIns="0" tIns="0" rIns="0" bIns="0" rtlCol="0" anchor="ctr"/>
          <a:lstStyle/>
          <a:p>
            <a:pPr indent="0" marL="0">
              <a:buNone/>
            </a:pPr>
            <a:r>
              <a:rPr lang="en-US" sz="1500" b="1" dirty="0">
                <a:solidFill>
                  <a:srgbClr val="56657E"/>
                </a:solidFill>
                <a:latin typeface="Calibri" pitchFamily="34" charset="0"/>
                <a:ea typeface="Calibri" pitchFamily="34" charset="-122"/>
                <a:cs typeface="Calibri" pitchFamily="34" charset="-120"/>
              </a:rPr>
              <a:t>key</a:t>
            </a:r>
            <a:endParaRPr lang="en-US" sz="1500" dirty="0"/>
          </a:p>
        </p:txBody>
      </p:sp>
      <p:sp>
        <p:nvSpPr>
          <p:cNvPr id="26" name="Shape 23"/>
          <p:cNvSpPr/>
          <p:nvPr/>
        </p:nvSpPr>
        <p:spPr>
          <a:xfrm>
            <a:off x="1828800" y="2514600"/>
            <a:ext cx="685800" cy="640080"/>
          </a:xfrm>
          <a:prstGeom prst="roundRect">
            <a:avLst>
              <a:gd name="adj" fmla="val 11429"/>
            </a:avLst>
          </a:prstGeom>
          <a:solidFill>
            <a:srgbClr val="F3EEFF"/>
          </a:solidFill>
          <a:ln/>
        </p:spPr>
      </p:sp>
      <p:sp>
        <p:nvSpPr>
          <p:cNvPr id="27" name="Text 24"/>
          <p:cNvSpPr txBox="1"/>
          <p:nvPr/>
        </p:nvSpPr>
        <p:spPr>
          <a:xfrm>
            <a:off x="1828800" y="2514600"/>
            <a:ext cx="685800" cy="640080"/>
          </a:xfrm>
          <a:prstGeom prst="rect">
            <a:avLst/>
          </a:prstGeom>
          <a:noFill/>
          <a:ln/>
        </p:spPr>
        <p:txBody>
          <a:bodyPr wrap="square" lIns="0" tIns="0" rIns="0" bIns="0" rtlCol="0" anchor="ctr"/>
          <a:lstStyle/>
          <a:p>
            <a:pPr algn="ctr" indent="0" marL="0">
              <a:buNone/>
            </a:pPr>
            <a:r>
              <a:rPr lang="en-US" sz="2400" b="1" dirty="0">
                <a:solidFill>
                  <a:srgbClr val="D1416B"/>
                </a:solidFill>
                <a:latin typeface="Courier New" pitchFamily="34" charset="0"/>
                <a:ea typeface="Courier New" pitchFamily="34" charset="-122"/>
                <a:cs typeface="Courier New" pitchFamily="34" charset="-120"/>
              </a:rPr>
              <a:t>L</a:t>
            </a:r>
            <a:endParaRPr lang="en-US" sz="2400" dirty="0"/>
          </a:p>
        </p:txBody>
      </p:sp>
      <p:sp>
        <p:nvSpPr>
          <p:cNvPr id="28" name="Shape 25"/>
          <p:cNvSpPr/>
          <p:nvPr/>
        </p:nvSpPr>
        <p:spPr>
          <a:xfrm>
            <a:off x="2651760" y="2514600"/>
            <a:ext cx="685800" cy="640080"/>
          </a:xfrm>
          <a:prstGeom prst="roundRect">
            <a:avLst>
              <a:gd name="adj" fmla="val 11429"/>
            </a:avLst>
          </a:prstGeom>
          <a:solidFill>
            <a:srgbClr val="F3EEFF"/>
          </a:solidFill>
          <a:ln/>
        </p:spPr>
      </p:sp>
      <p:sp>
        <p:nvSpPr>
          <p:cNvPr id="29" name="Text 26"/>
          <p:cNvSpPr txBox="1"/>
          <p:nvPr/>
        </p:nvSpPr>
        <p:spPr>
          <a:xfrm>
            <a:off x="2651760" y="2514600"/>
            <a:ext cx="685800" cy="640080"/>
          </a:xfrm>
          <a:prstGeom prst="rect">
            <a:avLst/>
          </a:prstGeom>
          <a:noFill/>
          <a:ln/>
        </p:spPr>
        <p:txBody>
          <a:bodyPr wrap="square" lIns="0" tIns="0" rIns="0" bIns="0" rtlCol="0" anchor="ctr"/>
          <a:lstStyle/>
          <a:p>
            <a:pPr algn="ctr" indent="0" marL="0">
              <a:buNone/>
            </a:pPr>
            <a:r>
              <a:rPr lang="en-US" sz="2400" b="1" dirty="0">
                <a:solidFill>
                  <a:srgbClr val="D1416B"/>
                </a:solidFill>
                <a:latin typeface="Courier New" pitchFamily="34" charset="0"/>
                <a:ea typeface="Courier New" pitchFamily="34" charset="-122"/>
                <a:cs typeface="Courier New" pitchFamily="34" charset="-120"/>
              </a:rPr>
              <a:t>E</a:t>
            </a:r>
            <a:endParaRPr lang="en-US" sz="2400" dirty="0"/>
          </a:p>
        </p:txBody>
      </p:sp>
      <p:sp>
        <p:nvSpPr>
          <p:cNvPr id="30" name="Shape 27"/>
          <p:cNvSpPr/>
          <p:nvPr/>
        </p:nvSpPr>
        <p:spPr>
          <a:xfrm>
            <a:off x="3474720" y="2514600"/>
            <a:ext cx="685800" cy="640080"/>
          </a:xfrm>
          <a:prstGeom prst="roundRect">
            <a:avLst>
              <a:gd name="adj" fmla="val 11429"/>
            </a:avLst>
          </a:prstGeom>
          <a:solidFill>
            <a:srgbClr val="F3EEFF"/>
          </a:solidFill>
          <a:ln/>
        </p:spPr>
      </p:sp>
      <p:sp>
        <p:nvSpPr>
          <p:cNvPr id="31" name="Text 28"/>
          <p:cNvSpPr txBox="1"/>
          <p:nvPr/>
        </p:nvSpPr>
        <p:spPr>
          <a:xfrm>
            <a:off x="3474720" y="2514600"/>
            <a:ext cx="685800" cy="640080"/>
          </a:xfrm>
          <a:prstGeom prst="rect">
            <a:avLst/>
          </a:prstGeom>
          <a:noFill/>
          <a:ln/>
        </p:spPr>
        <p:txBody>
          <a:bodyPr wrap="square" lIns="0" tIns="0" rIns="0" bIns="0" rtlCol="0" anchor="ctr"/>
          <a:lstStyle/>
          <a:p>
            <a:pPr algn="ctr" indent="0" marL="0">
              <a:buNone/>
            </a:pPr>
            <a:r>
              <a:rPr lang="en-US" sz="2400" b="1" dirty="0">
                <a:solidFill>
                  <a:srgbClr val="D1416B"/>
                </a:solidFill>
                <a:latin typeface="Courier New" pitchFamily="34" charset="0"/>
                <a:ea typeface="Courier New" pitchFamily="34" charset="-122"/>
                <a:cs typeface="Courier New" pitchFamily="34" charset="-120"/>
              </a:rPr>
              <a:t>M</a:t>
            </a:r>
            <a:endParaRPr lang="en-US" sz="2400" dirty="0"/>
          </a:p>
        </p:txBody>
      </p:sp>
      <p:sp>
        <p:nvSpPr>
          <p:cNvPr id="32" name="Shape 29"/>
          <p:cNvSpPr/>
          <p:nvPr/>
        </p:nvSpPr>
        <p:spPr>
          <a:xfrm>
            <a:off x="4297680" y="2514600"/>
            <a:ext cx="685800" cy="640080"/>
          </a:xfrm>
          <a:prstGeom prst="roundRect">
            <a:avLst>
              <a:gd name="adj" fmla="val 11429"/>
            </a:avLst>
          </a:prstGeom>
          <a:solidFill>
            <a:srgbClr val="F3EEFF"/>
          </a:solidFill>
          <a:ln/>
        </p:spPr>
      </p:sp>
      <p:sp>
        <p:nvSpPr>
          <p:cNvPr id="33" name="Text 30"/>
          <p:cNvSpPr txBox="1"/>
          <p:nvPr/>
        </p:nvSpPr>
        <p:spPr>
          <a:xfrm>
            <a:off x="4297680" y="2514600"/>
            <a:ext cx="685800" cy="640080"/>
          </a:xfrm>
          <a:prstGeom prst="rect">
            <a:avLst/>
          </a:prstGeom>
          <a:noFill/>
          <a:ln/>
        </p:spPr>
        <p:txBody>
          <a:bodyPr wrap="square" lIns="0" tIns="0" rIns="0" bIns="0" rtlCol="0" anchor="ctr"/>
          <a:lstStyle/>
          <a:p>
            <a:pPr algn="ctr" indent="0" marL="0">
              <a:buNone/>
            </a:pPr>
            <a:r>
              <a:rPr lang="en-US" sz="2400" b="1" dirty="0">
                <a:solidFill>
                  <a:srgbClr val="D1416B"/>
                </a:solidFill>
                <a:latin typeface="Courier New" pitchFamily="34" charset="0"/>
                <a:ea typeface="Courier New" pitchFamily="34" charset="-122"/>
                <a:cs typeface="Courier New" pitchFamily="34" charset="-120"/>
              </a:rPr>
              <a:t>O</a:t>
            </a:r>
            <a:endParaRPr lang="en-US" sz="2400" dirty="0"/>
          </a:p>
        </p:txBody>
      </p:sp>
      <p:sp>
        <p:nvSpPr>
          <p:cNvPr id="34" name="Shape 31"/>
          <p:cNvSpPr/>
          <p:nvPr/>
        </p:nvSpPr>
        <p:spPr>
          <a:xfrm>
            <a:off x="5120640" y="2514600"/>
            <a:ext cx="685800" cy="640080"/>
          </a:xfrm>
          <a:prstGeom prst="roundRect">
            <a:avLst>
              <a:gd name="adj" fmla="val 11429"/>
            </a:avLst>
          </a:prstGeom>
          <a:solidFill>
            <a:srgbClr val="F3EEFF"/>
          </a:solidFill>
          <a:ln/>
        </p:spPr>
      </p:sp>
      <p:sp>
        <p:nvSpPr>
          <p:cNvPr id="35" name="Text 32"/>
          <p:cNvSpPr txBox="1"/>
          <p:nvPr/>
        </p:nvSpPr>
        <p:spPr>
          <a:xfrm>
            <a:off x="5120640" y="2514600"/>
            <a:ext cx="685800" cy="640080"/>
          </a:xfrm>
          <a:prstGeom prst="rect">
            <a:avLst/>
          </a:prstGeom>
          <a:noFill/>
          <a:ln/>
        </p:spPr>
        <p:txBody>
          <a:bodyPr wrap="square" lIns="0" tIns="0" rIns="0" bIns="0" rtlCol="0" anchor="ctr"/>
          <a:lstStyle/>
          <a:p>
            <a:pPr algn="ctr" indent="0" marL="0">
              <a:buNone/>
            </a:pPr>
            <a:r>
              <a:rPr lang="en-US" sz="2400" b="1" dirty="0">
                <a:solidFill>
                  <a:srgbClr val="D1416B"/>
                </a:solidFill>
                <a:latin typeface="Courier New" pitchFamily="34" charset="0"/>
                <a:ea typeface="Courier New" pitchFamily="34" charset="-122"/>
                <a:cs typeface="Courier New" pitchFamily="34" charset="-120"/>
              </a:rPr>
              <a:t>N</a:t>
            </a:r>
            <a:endParaRPr lang="en-US" sz="2400" dirty="0"/>
          </a:p>
        </p:txBody>
      </p:sp>
      <p:sp>
        <p:nvSpPr>
          <p:cNvPr id="36" name="Shape 33"/>
          <p:cNvSpPr/>
          <p:nvPr/>
        </p:nvSpPr>
        <p:spPr>
          <a:xfrm>
            <a:off x="5943600" y="2514600"/>
            <a:ext cx="685800" cy="640080"/>
          </a:xfrm>
          <a:prstGeom prst="roundRect">
            <a:avLst>
              <a:gd name="adj" fmla="val 11429"/>
            </a:avLst>
          </a:prstGeom>
          <a:solidFill>
            <a:srgbClr val="F3EEFF"/>
          </a:solidFill>
          <a:ln/>
        </p:spPr>
      </p:sp>
      <p:sp>
        <p:nvSpPr>
          <p:cNvPr id="37" name="Text 34"/>
          <p:cNvSpPr txBox="1"/>
          <p:nvPr/>
        </p:nvSpPr>
        <p:spPr>
          <a:xfrm>
            <a:off x="5943600" y="2514600"/>
            <a:ext cx="685800" cy="640080"/>
          </a:xfrm>
          <a:prstGeom prst="rect">
            <a:avLst/>
          </a:prstGeom>
          <a:noFill/>
          <a:ln/>
        </p:spPr>
        <p:txBody>
          <a:bodyPr wrap="square" lIns="0" tIns="0" rIns="0" bIns="0" rtlCol="0" anchor="ctr"/>
          <a:lstStyle/>
          <a:p>
            <a:pPr algn="ctr" indent="0" marL="0">
              <a:buNone/>
            </a:pPr>
            <a:r>
              <a:rPr lang="en-US" sz="2400" b="1" dirty="0">
                <a:solidFill>
                  <a:srgbClr val="D1416B"/>
                </a:solidFill>
                <a:latin typeface="Courier New" pitchFamily="34" charset="0"/>
                <a:ea typeface="Courier New" pitchFamily="34" charset="-122"/>
                <a:cs typeface="Courier New" pitchFamily="34" charset="-120"/>
              </a:rPr>
              <a:t>L</a:t>
            </a:r>
            <a:endParaRPr lang="en-US" sz="2400" dirty="0"/>
          </a:p>
        </p:txBody>
      </p:sp>
      <p:sp>
        <p:nvSpPr>
          <p:cNvPr id="38" name="Text 35"/>
          <p:cNvSpPr txBox="1"/>
          <p:nvPr/>
        </p:nvSpPr>
        <p:spPr>
          <a:xfrm>
            <a:off x="548640" y="3337560"/>
            <a:ext cx="1188720" cy="640080"/>
          </a:xfrm>
          <a:prstGeom prst="rect">
            <a:avLst/>
          </a:prstGeom>
          <a:noFill/>
          <a:ln/>
        </p:spPr>
        <p:txBody>
          <a:bodyPr wrap="square" lIns="0" tIns="0" rIns="0" bIns="0" rtlCol="0" anchor="ctr"/>
          <a:lstStyle/>
          <a:p>
            <a:pPr indent="0" marL="0">
              <a:buNone/>
            </a:pPr>
            <a:r>
              <a:rPr lang="en-US" sz="1500" b="1" dirty="0">
                <a:solidFill>
                  <a:srgbClr val="56657E"/>
                </a:solidFill>
                <a:latin typeface="Calibri" pitchFamily="34" charset="0"/>
                <a:ea typeface="Calibri" pitchFamily="34" charset="-122"/>
                <a:cs typeface="Calibri" pitchFamily="34" charset="-120"/>
              </a:rPr>
              <a:t>cipher</a:t>
            </a:r>
            <a:endParaRPr lang="en-US" sz="1500" dirty="0"/>
          </a:p>
        </p:txBody>
      </p:sp>
      <p:sp>
        <p:nvSpPr>
          <p:cNvPr id="39" name="Shape 36"/>
          <p:cNvSpPr/>
          <p:nvPr/>
        </p:nvSpPr>
        <p:spPr>
          <a:xfrm>
            <a:off x="1828800" y="3337560"/>
            <a:ext cx="685800" cy="640080"/>
          </a:xfrm>
          <a:prstGeom prst="roundRect">
            <a:avLst>
              <a:gd name="adj" fmla="val 11429"/>
            </a:avLst>
          </a:prstGeom>
          <a:solidFill>
            <a:srgbClr val="F1F5FB"/>
          </a:solidFill>
          <a:ln/>
        </p:spPr>
      </p:sp>
      <p:sp>
        <p:nvSpPr>
          <p:cNvPr id="40" name="Text 37"/>
          <p:cNvSpPr txBox="1"/>
          <p:nvPr/>
        </p:nvSpPr>
        <p:spPr>
          <a:xfrm>
            <a:off x="1828800" y="3337560"/>
            <a:ext cx="685800" cy="640080"/>
          </a:xfrm>
          <a:prstGeom prst="rect">
            <a:avLst/>
          </a:prstGeom>
          <a:noFill/>
          <a:ln/>
        </p:spPr>
        <p:txBody>
          <a:bodyPr wrap="square" lIns="0" tIns="0" rIns="0" bIns="0" rtlCol="0" anchor="ctr"/>
          <a:lstStyle/>
          <a:p>
            <a:pPr algn="ctr" indent="0" marL="0">
              <a:buNone/>
            </a:pPr>
            <a:r>
              <a:rPr lang="en-US" sz="2400" b="1" dirty="0">
                <a:solidFill>
                  <a:srgbClr val="5B6EE1"/>
                </a:solidFill>
                <a:latin typeface="Courier New" pitchFamily="34" charset="0"/>
                <a:ea typeface="Courier New" pitchFamily="34" charset="-122"/>
                <a:cs typeface="Courier New" pitchFamily="34" charset="-120"/>
              </a:rPr>
              <a:t>L</a:t>
            </a:r>
            <a:endParaRPr lang="en-US" sz="2400" dirty="0"/>
          </a:p>
        </p:txBody>
      </p:sp>
      <p:sp>
        <p:nvSpPr>
          <p:cNvPr id="41" name="Shape 38"/>
          <p:cNvSpPr/>
          <p:nvPr/>
        </p:nvSpPr>
        <p:spPr>
          <a:xfrm>
            <a:off x="2651760" y="3337560"/>
            <a:ext cx="685800" cy="640080"/>
          </a:xfrm>
          <a:prstGeom prst="roundRect">
            <a:avLst>
              <a:gd name="adj" fmla="val 11429"/>
            </a:avLst>
          </a:prstGeom>
          <a:solidFill>
            <a:srgbClr val="F1F5FB"/>
          </a:solidFill>
          <a:ln/>
        </p:spPr>
      </p:sp>
      <p:sp>
        <p:nvSpPr>
          <p:cNvPr id="42" name="Text 39"/>
          <p:cNvSpPr txBox="1"/>
          <p:nvPr/>
        </p:nvSpPr>
        <p:spPr>
          <a:xfrm>
            <a:off x="2651760" y="3337560"/>
            <a:ext cx="685800" cy="640080"/>
          </a:xfrm>
          <a:prstGeom prst="rect">
            <a:avLst/>
          </a:prstGeom>
          <a:noFill/>
          <a:ln/>
        </p:spPr>
        <p:txBody>
          <a:bodyPr wrap="square" lIns="0" tIns="0" rIns="0" bIns="0" rtlCol="0" anchor="ctr"/>
          <a:lstStyle/>
          <a:p>
            <a:pPr algn="ctr" indent="0" marL="0">
              <a:buNone/>
            </a:pPr>
            <a:r>
              <a:rPr lang="en-US" sz="2400" b="1" dirty="0">
                <a:solidFill>
                  <a:srgbClr val="5B6EE1"/>
                </a:solidFill>
                <a:latin typeface="Courier New" pitchFamily="34" charset="0"/>
                <a:ea typeface="Courier New" pitchFamily="34" charset="-122"/>
                <a:cs typeface="Courier New" pitchFamily="34" charset="-120"/>
              </a:rPr>
              <a:t>X</a:t>
            </a:r>
            <a:endParaRPr lang="en-US" sz="2400" dirty="0"/>
          </a:p>
        </p:txBody>
      </p:sp>
      <p:sp>
        <p:nvSpPr>
          <p:cNvPr id="43" name="Shape 40"/>
          <p:cNvSpPr/>
          <p:nvPr/>
        </p:nvSpPr>
        <p:spPr>
          <a:xfrm>
            <a:off x="3474720" y="3337560"/>
            <a:ext cx="685800" cy="640080"/>
          </a:xfrm>
          <a:prstGeom prst="roundRect">
            <a:avLst>
              <a:gd name="adj" fmla="val 11429"/>
            </a:avLst>
          </a:prstGeom>
          <a:solidFill>
            <a:srgbClr val="F1F5FB"/>
          </a:solidFill>
          <a:ln/>
        </p:spPr>
      </p:sp>
      <p:sp>
        <p:nvSpPr>
          <p:cNvPr id="44" name="Text 41"/>
          <p:cNvSpPr txBox="1"/>
          <p:nvPr/>
        </p:nvSpPr>
        <p:spPr>
          <a:xfrm>
            <a:off x="3474720" y="3337560"/>
            <a:ext cx="685800" cy="640080"/>
          </a:xfrm>
          <a:prstGeom prst="rect">
            <a:avLst/>
          </a:prstGeom>
          <a:noFill/>
          <a:ln/>
        </p:spPr>
        <p:txBody>
          <a:bodyPr wrap="square" lIns="0" tIns="0" rIns="0" bIns="0" rtlCol="0" anchor="ctr"/>
          <a:lstStyle/>
          <a:p>
            <a:pPr algn="ctr" indent="0" marL="0">
              <a:buNone/>
            </a:pPr>
            <a:r>
              <a:rPr lang="en-US" sz="2400" b="1" dirty="0">
                <a:solidFill>
                  <a:srgbClr val="5B6EE1"/>
                </a:solidFill>
                <a:latin typeface="Courier New" pitchFamily="34" charset="0"/>
                <a:ea typeface="Courier New" pitchFamily="34" charset="-122"/>
                <a:cs typeface="Courier New" pitchFamily="34" charset="-120"/>
              </a:rPr>
              <a:t>F</a:t>
            </a:r>
            <a:endParaRPr lang="en-US" sz="2400" dirty="0"/>
          </a:p>
        </p:txBody>
      </p:sp>
      <p:sp>
        <p:nvSpPr>
          <p:cNvPr id="45" name="Shape 42"/>
          <p:cNvSpPr/>
          <p:nvPr/>
        </p:nvSpPr>
        <p:spPr>
          <a:xfrm>
            <a:off x="4297680" y="3337560"/>
            <a:ext cx="685800" cy="640080"/>
          </a:xfrm>
          <a:prstGeom prst="roundRect">
            <a:avLst>
              <a:gd name="adj" fmla="val 11429"/>
            </a:avLst>
          </a:prstGeom>
          <a:solidFill>
            <a:srgbClr val="F1F5FB"/>
          </a:solidFill>
          <a:ln/>
        </p:spPr>
      </p:sp>
      <p:sp>
        <p:nvSpPr>
          <p:cNvPr id="46" name="Text 43"/>
          <p:cNvSpPr txBox="1"/>
          <p:nvPr/>
        </p:nvSpPr>
        <p:spPr>
          <a:xfrm>
            <a:off x="4297680" y="3337560"/>
            <a:ext cx="685800" cy="640080"/>
          </a:xfrm>
          <a:prstGeom prst="rect">
            <a:avLst/>
          </a:prstGeom>
          <a:noFill/>
          <a:ln/>
        </p:spPr>
        <p:txBody>
          <a:bodyPr wrap="square" lIns="0" tIns="0" rIns="0" bIns="0" rtlCol="0" anchor="ctr"/>
          <a:lstStyle/>
          <a:p>
            <a:pPr algn="ctr" indent="0" marL="0">
              <a:buNone/>
            </a:pPr>
            <a:r>
              <a:rPr lang="en-US" sz="2400" b="1" dirty="0">
                <a:solidFill>
                  <a:srgbClr val="5B6EE1"/>
                </a:solidFill>
                <a:latin typeface="Courier New" pitchFamily="34" charset="0"/>
                <a:ea typeface="Courier New" pitchFamily="34" charset="-122"/>
                <a:cs typeface="Courier New" pitchFamily="34" charset="-120"/>
              </a:rPr>
              <a:t>O</a:t>
            </a:r>
            <a:endParaRPr lang="en-US" sz="2400" dirty="0"/>
          </a:p>
        </p:txBody>
      </p:sp>
      <p:sp>
        <p:nvSpPr>
          <p:cNvPr id="47" name="Shape 44"/>
          <p:cNvSpPr/>
          <p:nvPr/>
        </p:nvSpPr>
        <p:spPr>
          <a:xfrm>
            <a:off x="5120640" y="3337560"/>
            <a:ext cx="685800" cy="640080"/>
          </a:xfrm>
          <a:prstGeom prst="roundRect">
            <a:avLst>
              <a:gd name="adj" fmla="val 11429"/>
            </a:avLst>
          </a:prstGeom>
          <a:solidFill>
            <a:srgbClr val="F1F5FB"/>
          </a:solidFill>
          <a:ln/>
        </p:spPr>
      </p:sp>
      <p:sp>
        <p:nvSpPr>
          <p:cNvPr id="48" name="Text 45"/>
          <p:cNvSpPr txBox="1"/>
          <p:nvPr/>
        </p:nvSpPr>
        <p:spPr>
          <a:xfrm>
            <a:off x="5120640" y="3337560"/>
            <a:ext cx="685800" cy="640080"/>
          </a:xfrm>
          <a:prstGeom prst="rect">
            <a:avLst/>
          </a:prstGeom>
          <a:noFill/>
          <a:ln/>
        </p:spPr>
        <p:txBody>
          <a:bodyPr wrap="square" lIns="0" tIns="0" rIns="0" bIns="0" rtlCol="0" anchor="ctr"/>
          <a:lstStyle/>
          <a:p>
            <a:pPr algn="ctr" indent="0" marL="0">
              <a:buNone/>
            </a:pPr>
            <a:r>
              <a:rPr lang="en-US" sz="2400" b="1" dirty="0">
                <a:solidFill>
                  <a:srgbClr val="5B6EE1"/>
                </a:solidFill>
                <a:latin typeface="Courier New" pitchFamily="34" charset="0"/>
                <a:ea typeface="Courier New" pitchFamily="34" charset="-122"/>
                <a:cs typeface="Courier New" pitchFamily="34" charset="-120"/>
              </a:rPr>
              <a:t>P</a:t>
            </a:r>
            <a:endParaRPr lang="en-US" sz="2400" dirty="0"/>
          </a:p>
        </p:txBody>
      </p:sp>
      <p:sp>
        <p:nvSpPr>
          <p:cNvPr id="49" name="Shape 46"/>
          <p:cNvSpPr/>
          <p:nvPr/>
        </p:nvSpPr>
        <p:spPr>
          <a:xfrm>
            <a:off x="5943600" y="3337560"/>
            <a:ext cx="685800" cy="640080"/>
          </a:xfrm>
          <a:prstGeom prst="roundRect">
            <a:avLst>
              <a:gd name="adj" fmla="val 11429"/>
            </a:avLst>
          </a:prstGeom>
          <a:solidFill>
            <a:srgbClr val="F1F5FB"/>
          </a:solidFill>
          <a:ln/>
        </p:spPr>
      </p:sp>
      <p:sp>
        <p:nvSpPr>
          <p:cNvPr id="50" name="Text 47"/>
          <p:cNvSpPr txBox="1"/>
          <p:nvPr/>
        </p:nvSpPr>
        <p:spPr>
          <a:xfrm>
            <a:off x="5943600" y="3337560"/>
            <a:ext cx="685800" cy="640080"/>
          </a:xfrm>
          <a:prstGeom prst="rect">
            <a:avLst/>
          </a:prstGeom>
          <a:noFill/>
          <a:ln/>
        </p:spPr>
        <p:txBody>
          <a:bodyPr wrap="square" lIns="0" tIns="0" rIns="0" bIns="0" rtlCol="0" anchor="ctr"/>
          <a:lstStyle/>
          <a:p>
            <a:pPr algn="ctr" indent="0" marL="0">
              <a:buNone/>
            </a:pPr>
            <a:r>
              <a:rPr lang="en-US" sz="2400" b="1" dirty="0">
                <a:solidFill>
                  <a:srgbClr val="5B6EE1"/>
                </a:solidFill>
                <a:latin typeface="Courier New" pitchFamily="34" charset="0"/>
                <a:ea typeface="Courier New" pitchFamily="34" charset="-122"/>
                <a:cs typeface="Courier New" pitchFamily="34" charset="-120"/>
              </a:rPr>
              <a:t>V</a:t>
            </a:r>
            <a:endParaRPr lang="en-US" sz="2400" dirty="0"/>
          </a:p>
        </p:txBody>
      </p:sp>
      <p:sp>
        <p:nvSpPr>
          <p:cNvPr id="51" name="Shape 48"/>
          <p:cNvSpPr/>
          <p:nvPr/>
        </p:nvSpPr>
        <p:spPr>
          <a:xfrm>
            <a:off x="548640" y="4343400"/>
            <a:ext cx="2560320" cy="457200"/>
          </a:xfrm>
          <a:prstGeom prst="roundRect">
            <a:avLst>
              <a:gd name="adj" fmla="val 16000"/>
            </a:avLst>
          </a:prstGeom>
          <a:solidFill>
            <a:srgbClr val="0E1726"/>
          </a:solidFill>
          <a:ln/>
        </p:spPr>
      </p:sp>
      <p:sp>
        <p:nvSpPr>
          <p:cNvPr id="52" name="Text 49"/>
          <p:cNvSpPr txBox="1"/>
          <p:nvPr/>
        </p:nvSpPr>
        <p:spPr>
          <a:xfrm>
            <a:off x="548640" y="4343400"/>
            <a:ext cx="25603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vigenere -e KEY</a:t>
            </a:r>
            <a:endParaRPr lang="en-US" sz="1500" dirty="0"/>
          </a:p>
        </p:txBody>
      </p:sp>
      <p:sp>
        <p:nvSpPr>
          <p:cNvPr id="53" name="Text 50"/>
          <p:cNvSpPr txBox="1"/>
          <p:nvPr/>
        </p:nvSpPr>
        <p:spPr>
          <a:xfrm>
            <a:off x="3337560" y="434340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encrypt with a keyword</a:t>
            </a:r>
            <a:endParaRPr lang="en-US" sz="1700" dirty="0"/>
          </a:p>
        </p:txBody>
      </p:sp>
      <p:sp>
        <p:nvSpPr>
          <p:cNvPr id="54" name="Shape 51"/>
          <p:cNvSpPr/>
          <p:nvPr/>
        </p:nvSpPr>
        <p:spPr>
          <a:xfrm>
            <a:off x="548640" y="4937760"/>
            <a:ext cx="2560320" cy="457200"/>
          </a:xfrm>
          <a:prstGeom prst="roundRect">
            <a:avLst>
              <a:gd name="adj" fmla="val 16000"/>
            </a:avLst>
          </a:prstGeom>
          <a:solidFill>
            <a:srgbClr val="0E1726"/>
          </a:solidFill>
          <a:ln/>
        </p:spPr>
      </p:sp>
      <p:sp>
        <p:nvSpPr>
          <p:cNvPr id="55" name="Text 52"/>
          <p:cNvSpPr txBox="1"/>
          <p:nvPr/>
        </p:nvSpPr>
        <p:spPr>
          <a:xfrm>
            <a:off x="548640" y="4937760"/>
            <a:ext cx="25603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vigenere -d KEY</a:t>
            </a:r>
            <a:endParaRPr lang="en-US" sz="1500" dirty="0"/>
          </a:p>
        </p:txBody>
      </p:sp>
      <p:sp>
        <p:nvSpPr>
          <p:cNvPr id="56" name="Text 53"/>
          <p:cNvSpPr txBox="1"/>
          <p:nvPr/>
        </p:nvSpPr>
        <p:spPr>
          <a:xfrm>
            <a:off x="3337560" y="4937760"/>
            <a:ext cx="32461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decrypt with the keyword</a:t>
            </a:r>
            <a:endParaRPr lang="en-US" sz="1700" dirty="0"/>
          </a:p>
        </p:txBody>
      </p:sp>
      <p:sp>
        <p:nvSpPr>
          <p:cNvPr id="57" name="Shape 54"/>
          <p:cNvSpPr/>
          <p:nvPr/>
        </p:nvSpPr>
        <p:spPr>
          <a:xfrm>
            <a:off x="6949440" y="1463040"/>
            <a:ext cx="46908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58" name="Shape 55"/>
          <p:cNvSpPr/>
          <p:nvPr/>
        </p:nvSpPr>
        <p:spPr>
          <a:xfrm>
            <a:off x="7150608" y="1618488"/>
            <a:ext cx="118872" cy="118872"/>
          </a:xfrm>
          <a:prstGeom prst="ellipse">
            <a:avLst/>
          </a:prstGeom>
          <a:solidFill>
            <a:srgbClr val="E5534B"/>
          </a:solidFill>
          <a:ln/>
        </p:spPr>
      </p:sp>
      <p:sp>
        <p:nvSpPr>
          <p:cNvPr id="59" name="Shape 56"/>
          <p:cNvSpPr/>
          <p:nvPr/>
        </p:nvSpPr>
        <p:spPr>
          <a:xfrm>
            <a:off x="7351776" y="1618488"/>
            <a:ext cx="118872" cy="118872"/>
          </a:xfrm>
          <a:prstGeom prst="ellipse">
            <a:avLst/>
          </a:prstGeom>
          <a:solidFill>
            <a:srgbClr val="F5A623"/>
          </a:solidFill>
          <a:ln/>
        </p:spPr>
      </p:sp>
      <p:sp>
        <p:nvSpPr>
          <p:cNvPr id="60" name="Shape 57"/>
          <p:cNvSpPr/>
          <p:nvPr/>
        </p:nvSpPr>
        <p:spPr>
          <a:xfrm>
            <a:off x="7552944" y="1618488"/>
            <a:ext cx="118872" cy="118872"/>
          </a:xfrm>
          <a:prstGeom prst="ellipse">
            <a:avLst/>
          </a:prstGeom>
          <a:solidFill>
            <a:srgbClr val="46D39A"/>
          </a:solidFill>
          <a:ln/>
        </p:spPr>
      </p:sp>
      <p:sp>
        <p:nvSpPr>
          <p:cNvPr id="61" name="Text 58"/>
          <p:cNvSpPr txBox="1"/>
          <p:nvPr/>
        </p:nvSpPr>
        <p:spPr>
          <a:xfrm>
            <a:off x="7863840" y="1536192"/>
            <a:ext cx="28620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62" name="Text 59"/>
          <p:cNvSpPr txBox="1"/>
          <p:nvPr/>
        </p:nvSpPr>
        <p:spPr>
          <a:xfrm>
            <a:off x="7223760" y="1920240"/>
            <a:ext cx="4142232" cy="388620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ATTACK | vigenere -e LEMON</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LXFOPV</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LXFOPV | vigenere -d LEMON</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ATTACK</a:t>
            </a:r>
            <a:endParaRPr lang="en-US" sz="1500" dirty="0"/>
          </a:p>
          <a:p>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the two Ts became X and F</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Chain decoders with pipes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aGkK | base64 -d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09728"/>
            <a:ext cx="1444752" cy="274320"/>
          </a:xfrm>
          <a:prstGeom prst="roundRect">
            <a:avLst>
              <a:gd name="adj" fmla="val 50000"/>
            </a:avLst>
          </a:prstGeom>
          <a:solidFill>
            <a:srgbClr val="B4233F"/>
          </a:solidFill>
          <a:ln/>
        </p:spPr>
      </p:sp>
      <p:sp>
        <p:nvSpPr>
          <p:cNvPr id="11" name="Text 8"/>
          <p:cNvSpPr txBox="1"/>
          <p:nvPr/>
        </p:nvSpPr>
        <p:spPr>
          <a:xfrm>
            <a:off x="548640" y="109728"/>
            <a:ext cx="144475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10</a:t>
            </a:r>
            <a:endParaRPr lang="en-US" sz="1100" dirty="0"/>
          </a:p>
        </p:txBody>
      </p:sp>
      <p:sp>
        <p:nvSpPr>
          <p:cNvPr id="12" name="Shape 9"/>
          <p:cNvSpPr/>
          <p:nvPr/>
        </p:nvSpPr>
        <p:spPr>
          <a:xfrm>
            <a:off x="548640" y="1600200"/>
            <a:ext cx="2514600" cy="1371600"/>
          </a:xfrm>
          <a:prstGeom prst="roundRect">
            <a:avLst>
              <a:gd name="adj" fmla="val 6667"/>
            </a:avLst>
          </a:prstGeom>
          <a:solidFill>
            <a:srgbClr val="17875A"/>
          </a:solidFill>
          <a:ln/>
        </p:spPr>
      </p:sp>
      <p:sp>
        <p:nvSpPr>
          <p:cNvPr id="13" name="Text 10"/>
          <p:cNvSpPr txBox="1"/>
          <p:nvPr/>
        </p:nvSpPr>
        <p:spPr>
          <a:xfrm>
            <a:off x="548640" y="1600200"/>
            <a:ext cx="25146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vault.b64</a:t>
            </a:r>
            <a:endParaRPr lang="en-US" sz="1700" dirty="0"/>
          </a:p>
          <a:p>
            <a:pPr algn="ctr" indent="0" marL="0">
              <a:buNone/>
            </a:pPr>
            <a:r>
              <a:rPr lang="en-US" sz="1400" dirty="0">
                <a:solidFill>
                  <a:srgbClr val="FFFFFF"/>
                </a:solidFill>
                <a:latin typeface="Calibri" pitchFamily="34" charset="0"/>
                <a:ea typeface="Calibri" pitchFamily="34" charset="-122"/>
                <a:cs typeface="Calibri" pitchFamily="34" charset="-120"/>
              </a:rPr>
              <a:t>base64 on the outside</a:t>
            </a:r>
            <a:endParaRPr lang="en-US" sz="1700" dirty="0"/>
          </a:p>
        </p:txBody>
      </p:sp>
      <p:sp>
        <p:nvSpPr>
          <p:cNvPr id="14" name="Text 11"/>
          <p:cNvSpPr txBox="1"/>
          <p:nvPr/>
        </p:nvSpPr>
        <p:spPr>
          <a:xfrm>
            <a:off x="3063240" y="1600200"/>
            <a:ext cx="292608" cy="1371600"/>
          </a:xfrm>
          <a:prstGeom prst="rect">
            <a:avLst/>
          </a:prstGeom>
          <a:noFill/>
          <a:ln/>
        </p:spPr>
        <p:txBody>
          <a:bodyPr wrap="square" lIns="0" tIns="0" rIns="0" bIns="0" rtlCol="0" anchor="ctr"/>
          <a:lstStyle/>
          <a:p>
            <a:pPr algn="ctr" indent="0" marL="0">
              <a:buNone/>
            </a:pPr>
            <a:r>
              <a:rPr lang="en-US" sz="3000" b="1" dirty="0">
                <a:solidFill>
                  <a:srgbClr val="56657E"/>
                </a:solidFill>
                <a:latin typeface="Courier New" pitchFamily="34" charset="0"/>
                <a:ea typeface="Courier New" pitchFamily="34" charset="-122"/>
                <a:cs typeface="Courier New" pitchFamily="34" charset="-120"/>
              </a:rPr>
              <a:t>|</a:t>
            </a:r>
            <a:endParaRPr lang="en-US" sz="3000" dirty="0"/>
          </a:p>
        </p:txBody>
      </p:sp>
      <p:sp>
        <p:nvSpPr>
          <p:cNvPr id="15" name="Shape 12"/>
          <p:cNvSpPr/>
          <p:nvPr/>
        </p:nvSpPr>
        <p:spPr>
          <a:xfrm>
            <a:off x="3355848" y="1600200"/>
            <a:ext cx="2514600" cy="1371600"/>
          </a:xfrm>
          <a:prstGeom prst="roundRect">
            <a:avLst>
              <a:gd name="adj" fmla="val 6667"/>
            </a:avLst>
          </a:prstGeom>
          <a:solidFill>
            <a:srgbClr val="2A9FD6"/>
          </a:solidFill>
          <a:ln/>
        </p:spPr>
      </p:sp>
      <p:sp>
        <p:nvSpPr>
          <p:cNvPr id="16" name="Text 13"/>
          <p:cNvSpPr txBox="1"/>
          <p:nvPr/>
        </p:nvSpPr>
        <p:spPr>
          <a:xfrm>
            <a:off x="3355848" y="1600200"/>
            <a:ext cx="25146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base64 -d</a:t>
            </a:r>
            <a:endParaRPr lang="en-US" sz="1700" dirty="0"/>
          </a:p>
          <a:p>
            <a:pPr algn="ctr" indent="0" marL="0">
              <a:buNone/>
            </a:pPr>
            <a:r>
              <a:rPr lang="en-US" sz="1400" dirty="0">
                <a:solidFill>
                  <a:srgbClr val="FFFFFF"/>
                </a:solidFill>
                <a:latin typeface="Calibri" pitchFamily="34" charset="0"/>
                <a:ea typeface="Calibri" pitchFamily="34" charset="-122"/>
                <a:cs typeface="Calibri" pitchFamily="34" charset="-120"/>
              </a:rPr>
              <a:t>peel the outer layer</a:t>
            </a:r>
            <a:endParaRPr lang="en-US" sz="1700" dirty="0"/>
          </a:p>
        </p:txBody>
      </p:sp>
      <p:sp>
        <p:nvSpPr>
          <p:cNvPr id="17" name="Text 14"/>
          <p:cNvSpPr txBox="1"/>
          <p:nvPr/>
        </p:nvSpPr>
        <p:spPr>
          <a:xfrm>
            <a:off x="5870448" y="1600200"/>
            <a:ext cx="292608" cy="1371600"/>
          </a:xfrm>
          <a:prstGeom prst="rect">
            <a:avLst/>
          </a:prstGeom>
          <a:noFill/>
          <a:ln/>
        </p:spPr>
        <p:txBody>
          <a:bodyPr wrap="square" lIns="0" tIns="0" rIns="0" bIns="0" rtlCol="0" anchor="ctr"/>
          <a:lstStyle/>
          <a:p>
            <a:pPr algn="ctr" indent="0" marL="0">
              <a:buNone/>
            </a:pPr>
            <a:r>
              <a:rPr lang="en-US" sz="3000" b="1" dirty="0">
                <a:solidFill>
                  <a:srgbClr val="56657E"/>
                </a:solidFill>
                <a:latin typeface="Courier New" pitchFamily="34" charset="0"/>
                <a:ea typeface="Courier New" pitchFamily="34" charset="-122"/>
                <a:cs typeface="Courier New" pitchFamily="34" charset="-120"/>
              </a:rPr>
              <a:t>|</a:t>
            </a:r>
            <a:endParaRPr lang="en-US" sz="3000" dirty="0"/>
          </a:p>
        </p:txBody>
      </p:sp>
      <p:sp>
        <p:nvSpPr>
          <p:cNvPr id="18" name="Shape 15"/>
          <p:cNvSpPr/>
          <p:nvPr/>
        </p:nvSpPr>
        <p:spPr>
          <a:xfrm>
            <a:off x="6163056" y="1600200"/>
            <a:ext cx="2514600" cy="1371600"/>
          </a:xfrm>
          <a:prstGeom prst="roundRect">
            <a:avLst>
              <a:gd name="adj" fmla="val 6667"/>
            </a:avLst>
          </a:prstGeom>
          <a:solidFill>
            <a:srgbClr val="5B6EE1"/>
          </a:solidFill>
          <a:ln/>
        </p:spPr>
      </p:sp>
      <p:sp>
        <p:nvSpPr>
          <p:cNvPr id="19" name="Text 16"/>
          <p:cNvSpPr txBox="1"/>
          <p:nvPr/>
        </p:nvSpPr>
        <p:spPr>
          <a:xfrm>
            <a:off x="6163056" y="1600200"/>
            <a:ext cx="25146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vigenere -d KEY</a:t>
            </a:r>
            <a:endParaRPr lang="en-US" sz="1700" dirty="0"/>
          </a:p>
          <a:p>
            <a:pPr algn="ctr" indent="0" marL="0">
              <a:buNone/>
            </a:pPr>
            <a:r>
              <a:rPr lang="en-US" sz="1400" dirty="0">
                <a:solidFill>
                  <a:srgbClr val="FFFFFF"/>
                </a:solidFill>
                <a:latin typeface="Calibri" pitchFamily="34" charset="0"/>
                <a:ea typeface="Calibri" pitchFamily="34" charset="-122"/>
                <a:cs typeface="Calibri" pitchFamily="34" charset="-120"/>
              </a:rPr>
              <a:t>decrypt the inside</a:t>
            </a:r>
            <a:endParaRPr lang="en-US" sz="1700" dirty="0"/>
          </a:p>
        </p:txBody>
      </p:sp>
      <p:sp>
        <p:nvSpPr>
          <p:cNvPr id="20" name="Text 17"/>
          <p:cNvSpPr txBox="1"/>
          <p:nvPr/>
        </p:nvSpPr>
        <p:spPr>
          <a:xfrm>
            <a:off x="8677656" y="1600200"/>
            <a:ext cx="292608" cy="1371600"/>
          </a:xfrm>
          <a:prstGeom prst="rect">
            <a:avLst/>
          </a:prstGeom>
          <a:noFill/>
          <a:ln/>
        </p:spPr>
        <p:txBody>
          <a:bodyPr wrap="square" lIns="0" tIns="0" rIns="0" bIns="0" rtlCol="0" anchor="ctr"/>
          <a:lstStyle/>
          <a:p>
            <a:pPr algn="ctr" indent="0" marL="0">
              <a:buNone/>
            </a:pPr>
            <a:r>
              <a:rPr lang="en-US" sz="3000" b="1" dirty="0">
                <a:solidFill>
                  <a:srgbClr val="56657E"/>
                </a:solidFill>
                <a:latin typeface="Courier New" pitchFamily="34" charset="0"/>
                <a:ea typeface="Courier New" pitchFamily="34" charset="-122"/>
                <a:cs typeface="Courier New" pitchFamily="34" charset="-120"/>
              </a:rPr>
              <a:t>|</a:t>
            </a:r>
            <a:endParaRPr lang="en-US" sz="3000" dirty="0"/>
          </a:p>
        </p:txBody>
      </p:sp>
      <p:sp>
        <p:nvSpPr>
          <p:cNvPr id="21" name="Shape 18"/>
          <p:cNvSpPr/>
          <p:nvPr/>
        </p:nvSpPr>
        <p:spPr>
          <a:xfrm>
            <a:off x="8970264" y="1600200"/>
            <a:ext cx="2514600" cy="1371600"/>
          </a:xfrm>
          <a:prstGeom prst="roundRect">
            <a:avLst>
              <a:gd name="adj" fmla="val 6667"/>
            </a:avLst>
          </a:prstGeom>
          <a:solidFill>
            <a:srgbClr val="17875A"/>
          </a:solidFill>
          <a:ln/>
        </p:spPr>
      </p:sp>
      <p:sp>
        <p:nvSpPr>
          <p:cNvPr id="22" name="Text 19"/>
          <p:cNvSpPr txBox="1"/>
          <p:nvPr/>
        </p:nvSpPr>
        <p:spPr>
          <a:xfrm>
            <a:off x="8970264" y="1600200"/>
            <a:ext cx="25146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CYBA{...}</a:t>
            </a:r>
            <a:endParaRPr lang="en-US" sz="1700" dirty="0"/>
          </a:p>
          <a:p>
            <a:pPr algn="ctr" indent="0" marL="0">
              <a:buNone/>
            </a:pPr>
            <a:r>
              <a:rPr lang="en-US" sz="1400" dirty="0">
                <a:solidFill>
                  <a:srgbClr val="FFFFFF"/>
                </a:solidFill>
                <a:latin typeface="Calibri" pitchFamily="34" charset="0"/>
                <a:ea typeface="Calibri" pitchFamily="34" charset="-122"/>
                <a:cs typeface="Calibri" pitchFamily="34" charset="-120"/>
              </a:rPr>
              <a:t>the flag</a:t>
            </a:r>
            <a:endParaRPr lang="en-US" sz="1700" dirty="0"/>
          </a:p>
        </p:txBody>
      </p:sp>
      <p:sp>
        <p:nvSpPr>
          <p:cNvPr id="23" name="Shape 20"/>
          <p:cNvSpPr/>
          <p:nvPr/>
        </p:nvSpPr>
        <p:spPr>
          <a:xfrm>
            <a:off x="548640" y="3337560"/>
            <a:ext cx="457200" cy="457200"/>
          </a:xfrm>
          <a:prstGeom prst="ellipse">
            <a:avLst/>
          </a:prstGeom>
          <a:solidFill>
            <a:srgbClr val="2459D8"/>
          </a:solidFill>
          <a:ln/>
        </p:spPr>
      </p:sp>
      <p:sp>
        <p:nvSpPr>
          <p:cNvPr id="24" name="Text 21"/>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22"/>
          <p:cNvSpPr txBox="1"/>
          <p:nvPr/>
        </p:nvSpPr>
        <p:spPr>
          <a:xfrm>
            <a:off x="1188720" y="3310128"/>
            <a:ext cx="4846320" cy="566928"/>
          </a:xfrm>
          <a:prstGeom prst="rect">
            <a:avLst/>
          </a:prstGeom>
          <a:noFill/>
          <a:ln/>
        </p:spPr>
        <p:txBody>
          <a:bodyPr wrap="square" lIns="0" tIns="0" rIns="0" bIns="0" rtlCol="0" anchor="t"/>
          <a:lstStyle/>
          <a:p>
            <a:pPr indent="0" marL="0">
              <a:buNone/>
            </a:pPr>
            <a:r>
              <a:rPr lang="en-US" sz="1600" dirty="0">
                <a:solidFill>
                  <a:srgbClr val="12213A"/>
                </a:solidFill>
                <a:latin typeface="Calibri" pitchFamily="34" charset="0"/>
                <a:ea typeface="Calibri" pitchFamily="34" charset="-122"/>
                <a:cs typeface="Calibri" pitchFamily="34" charset="-120"/>
              </a:rPr>
              <a:t>Run the first step. Look at the output.</a:t>
            </a:r>
            <a:endParaRPr lang="en-US" sz="1600" dirty="0"/>
          </a:p>
        </p:txBody>
      </p:sp>
      <p:sp>
        <p:nvSpPr>
          <p:cNvPr id="26" name="Shape 23"/>
          <p:cNvSpPr/>
          <p:nvPr/>
        </p:nvSpPr>
        <p:spPr>
          <a:xfrm>
            <a:off x="548640" y="3995928"/>
            <a:ext cx="457200" cy="457200"/>
          </a:xfrm>
          <a:prstGeom prst="ellipse">
            <a:avLst/>
          </a:prstGeom>
          <a:solidFill>
            <a:srgbClr val="2459D8"/>
          </a:solidFill>
          <a:ln/>
        </p:spPr>
      </p:sp>
      <p:sp>
        <p:nvSpPr>
          <p:cNvPr id="27" name="Text 24"/>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8" name="Text 25"/>
          <p:cNvSpPr txBox="1"/>
          <p:nvPr/>
        </p:nvSpPr>
        <p:spPr>
          <a:xfrm>
            <a:off x="1188720" y="3968496"/>
            <a:ext cx="4846320" cy="566928"/>
          </a:xfrm>
          <a:prstGeom prst="rect">
            <a:avLst/>
          </a:prstGeom>
          <a:noFill/>
          <a:ln/>
        </p:spPr>
        <p:txBody>
          <a:bodyPr wrap="square" lIns="0" tIns="0" rIns="0" bIns="0" rtlCol="0" anchor="t"/>
          <a:lstStyle/>
          <a:p>
            <a:pPr indent="0" marL="0">
              <a:buNone/>
            </a:pPr>
            <a:r>
              <a:rPr lang="en-US" sz="1600" dirty="0">
                <a:solidFill>
                  <a:srgbClr val="12213A"/>
                </a:solidFill>
                <a:latin typeface="Calibri" pitchFamily="34" charset="0"/>
                <a:ea typeface="Calibri" pitchFamily="34" charset="-122"/>
                <a:cs typeface="Calibri" pitchFamily="34" charset="-120"/>
              </a:rPr>
              <a:t>Identify what it is now.</a:t>
            </a:r>
            <a:endParaRPr lang="en-US" sz="1600" dirty="0"/>
          </a:p>
        </p:txBody>
      </p:sp>
      <p:sp>
        <p:nvSpPr>
          <p:cNvPr id="29" name="Shape 26"/>
          <p:cNvSpPr/>
          <p:nvPr/>
        </p:nvSpPr>
        <p:spPr>
          <a:xfrm>
            <a:off x="548640" y="4654296"/>
            <a:ext cx="457200" cy="457200"/>
          </a:xfrm>
          <a:prstGeom prst="ellipse">
            <a:avLst/>
          </a:prstGeom>
          <a:solidFill>
            <a:srgbClr val="2459D8"/>
          </a:solidFill>
          <a:ln/>
        </p:spPr>
      </p:sp>
      <p:sp>
        <p:nvSpPr>
          <p:cNvPr id="30" name="Text 27"/>
          <p:cNvSpPr txBox="1"/>
          <p:nvPr/>
        </p:nvSpPr>
        <p:spPr>
          <a:xfrm>
            <a:off x="548640" y="46542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1" name="Text 28"/>
          <p:cNvSpPr txBox="1"/>
          <p:nvPr/>
        </p:nvSpPr>
        <p:spPr>
          <a:xfrm>
            <a:off x="1188720" y="4626864"/>
            <a:ext cx="4846320" cy="566928"/>
          </a:xfrm>
          <a:prstGeom prst="rect">
            <a:avLst/>
          </a:prstGeom>
          <a:noFill/>
          <a:ln/>
        </p:spPr>
        <p:txBody>
          <a:bodyPr wrap="square" lIns="0" tIns="0" rIns="0" bIns="0" rtlCol="0" anchor="t"/>
          <a:lstStyle/>
          <a:p>
            <a:pPr indent="0" marL="0">
              <a:buNone/>
            </a:pPr>
            <a:r>
              <a:rPr lang="en-US" sz="1600" dirty="0">
                <a:solidFill>
                  <a:srgbClr val="12213A"/>
                </a:solidFill>
                <a:latin typeface="Calibri" pitchFamily="34" charset="0"/>
                <a:ea typeface="Calibri" pitchFamily="34" charset="-122"/>
                <a:cs typeface="Calibri" pitchFamily="34" charset="-120"/>
              </a:rPr>
              <a:t>Add one more | and the next tool.</a:t>
            </a:r>
            <a:endParaRPr lang="en-US" sz="1600" dirty="0"/>
          </a:p>
        </p:txBody>
      </p:sp>
      <p:sp>
        <p:nvSpPr>
          <p:cNvPr id="32" name="Shape 29"/>
          <p:cNvSpPr/>
          <p:nvPr/>
        </p:nvSpPr>
        <p:spPr>
          <a:xfrm>
            <a:off x="548640" y="5312664"/>
            <a:ext cx="457200" cy="457200"/>
          </a:xfrm>
          <a:prstGeom prst="ellipse">
            <a:avLst/>
          </a:prstGeom>
          <a:solidFill>
            <a:srgbClr val="2459D8"/>
          </a:solidFill>
          <a:ln/>
        </p:spPr>
      </p:sp>
      <p:sp>
        <p:nvSpPr>
          <p:cNvPr id="33" name="Text 30"/>
          <p:cNvSpPr txBox="1"/>
          <p:nvPr/>
        </p:nvSpPr>
        <p:spPr>
          <a:xfrm>
            <a:off x="548640" y="5312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4" name="Text 31"/>
          <p:cNvSpPr txBox="1"/>
          <p:nvPr/>
        </p:nvSpPr>
        <p:spPr>
          <a:xfrm>
            <a:off x="1188720" y="5285232"/>
            <a:ext cx="4846320" cy="566928"/>
          </a:xfrm>
          <a:prstGeom prst="rect">
            <a:avLst/>
          </a:prstGeom>
          <a:noFill/>
          <a:ln/>
        </p:spPr>
        <p:txBody>
          <a:bodyPr wrap="square" lIns="0" tIns="0" rIns="0" bIns="0" rtlCol="0" anchor="t"/>
          <a:lstStyle/>
          <a:p>
            <a:pPr indent="0" marL="0">
              <a:buNone/>
            </a:pPr>
            <a:r>
              <a:rPr lang="en-US" sz="1600" dirty="0">
                <a:solidFill>
                  <a:srgbClr val="12213A"/>
                </a:solidFill>
                <a:latin typeface="Calibri" pitchFamily="34" charset="0"/>
                <a:ea typeface="Calibri" pitchFamily="34" charset="-122"/>
                <a:cs typeface="Calibri" pitchFamily="34" charset="-120"/>
              </a:rPr>
              <a:t>Repeat until you see CYBA{.</a:t>
            </a:r>
            <a:endParaRPr lang="en-US" sz="1600" dirty="0"/>
          </a:p>
        </p:txBody>
      </p:sp>
      <p:sp>
        <p:nvSpPr>
          <p:cNvPr id="35" name="Shape 32"/>
          <p:cNvSpPr/>
          <p:nvPr/>
        </p:nvSpPr>
        <p:spPr>
          <a:xfrm>
            <a:off x="6309360" y="3246120"/>
            <a:ext cx="5330952" cy="2697480"/>
          </a:xfrm>
          <a:prstGeom prst="roundRect">
            <a:avLst>
              <a:gd name="adj" fmla="val 3390"/>
            </a:avLst>
          </a:prstGeom>
          <a:solidFill>
            <a:srgbClr val="0E1726"/>
          </a:solidFill>
          <a:ln/>
          <a:effectLst>
            <a:outerShdw sx="100000" sy="100000" kx="0" ky="0" algn="bl" rotWithShape="0" blurRad="127000" dist="38100" dir="5400000">
              <a:srgbClr val="12213A">
                <a:alpha val="22000"/>
              </a:srgbClr>
            </a:outerShdw>
          </a:effectLst>
        </p:spPr>
      </p:sp>
      <p:sp>
        <p:nvSpPr>
          <p:cNvPr id="36" name="Shape 33"/>
          <p:cNvSpPr/>
          <p:nvPr/>
        </p:nvSpPr>
        <p:spPr>
          <a:xfrm>
            <a:off x="6510528" y="3401568"/>
            <a:ext cx="118872" cy="118872"/>
          </a:xfrm>
          <a:prstGeom prst="ellipse">
            <a:avLst/>
          </a:prstGeom>
          <a:solidFill>
            <a:srgbClr val="E5534B"/>
          </a:solidFill>
          <a:ln/>
        </p:spPr>
      </p:sp>
      <p:sp>
        <p:nvSpPr>
          <p:cNvPr id="37" name="Shape 34"/>
          <p:cNvSpPr/>
          <p:nvPr/>
        </p:nvSpPr>
        <p:spPr>
          <a:xfrm>
            <a:off x="6711696" y="3401568"/>
            <a:ext cx="118872" cy="118872"/>
          </a:xfrm>
          <a:prstGeom prst="ellipse">
            <a:avLst/>
          </a:prstGeom>
          <a:solidFill>
            <a:srgbClr val="F5A623"/>
          </a:solidFill>
          <a:ln/>
        </p:spPr>
      </p:sp>
      <p:sp>
        <p:nvSpPr>
          <p:cNvPr id="38" name="Shape 35"/>
          <p:cNvSpPr/>
          <p:nvPr/>
        </p:nvSpPr>
        <p:spPr>
          <a:xfrm>
            <a:off x="6912864" y="3401568"/>
            <a:ext cx="118872" cy="118872"/>
          </a:xfrm>
          <a:prstGeom prst="ellipse">
            <a:avLst/>
          </a:prstGeom>
          <a:solidFill>
            <a:srgbClr val="46D39A"/>
          </a:solidFill>
          <a:ln/>
        </p:spPr>
      </p:sp>
      <p:sp>
        <p:nvSpPr>
          <p:cNvPr id="39" name="Text 36"/>
          <p:cNvSpPr txBox="1"/>
          <p:nvPr/>
        </p:nvSpPr>
        <p:spPr>
          <a:xfrm>
            <a:off x="7223760" y="3319272"/>
            <a:ext cx="35021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one layer at a time</a:t>
            </a:r>
            <a:endParaRPr lang="en-US" sz="1000" dirty="0"/>
          </a:p>
        </p:txBody>
      </p:sp>
      <p:sp>
        <p:nvSpPr>
          <p:cNvPr id="40" name="Text 37"/>
          <p:cNvSpPr txBox="1"/>
          <p:nvPr/>
        </p:nvSpPr>
        <p:spPr>
          <a:xfrm>
            <a:off x="6583680" y="3703320"/>
            <a:ext cx="4782312" cy="210312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aGkK | base64 -d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hi</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aGkK | base64 -d | tr a-z A-Z</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HI</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xor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645920"/>
            <a:ext cx="457200" cy="457200"/>
          </a:xfrm>
          <a:prstGeom prst="ellipse">
            <a:avLst/>
          </a:prstGeom>
          <a:solidFill>
            <a:srgbClr val="2459D8"/>
          </a:solidFill>
          <a:ln/>
        </p:spPr>
      </p:sp>
      <p:sp>
        <p:nvSpPr>
          <p:cNvPr id="11" name="Text 8"/>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Read --help. </a:t>
            </a:r>
            <a:pPr indent="0" marL="0">
              <a:buNone/>
            </a:pPr>
            <a:r>
              <a:rPr lang="en-US" sz="1700" dirty="0">
                <a:solidFill>
                  <a:srgbClr val="12213A"/>
                </a:solidFill>
                <a:latin typeface="Calibri" pitchFamily="34" charset="0"/>
                <a:ea typeface="Calibri" pitchFamily="34" charset="-122"/>
                <a:cs typeface="Calibri" pitchFamily="34" charset="-120"/>
              </a:rPr>
              <a:t>Free. Every tool here explains itself, even caesar and xor.</a:t>
            </a:r>
            <a:endParaRPr lang="en-US" sz="1700" dirty="0"/>
          </a:p>
        </p:txBody>
      </p:sp>
      <p:sp>
        <p:nvSpPr>
          <p:cNvPr id="13" name="Shape 10"/>
          <p:cNvSpPr/>
          <p:nvPr/>
        </p:nvSpPr>
        <p:spPr>
          <a:xfrm>
            <a:off x="548640" y="2606040"/>
            <a:ext cx="457200" cy="457200"/>
          </a:xfrm>
          <a:prstGeom prst="ellipse">
            <a:avLst/>
          </a:prstGeom>
          <a:solidFill>
            <a:srgbClr val="2459D8"/>
          </a:solidFill>
          <a:ln/>
        </p:spPr>
      </p:sp>
      <p:sp>
        <p:nvSpPr>
          <p:cNvPr id="14" name="Text 11"/>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7860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Identify it again. </a:t>
            </a:r>
            <a:pPr indent="0" marL="0">
              <a:buNone/>
            </a:pPr>
            <a:r>
              <a:rPr lang="en-US" sz="1700" dirty="0">
                <a:solidFill>
                  <a:srgbClr val="12213A"/>
                </a:solidFill>
                <a:latin typeface="Calibri" pitchFamily="34" charset="0"/>
                <a:ea typeface="Calibri" pitchFamily="34" charset="-122"/>
                <a:cs typeface="Calibri" pitchFamily="34" charset="-120"/>
              </a:rPr>
              <a:t>=, only hex, only dots? The shape names the tool.</a:t>
            </a:r>
            <a:endParaRPr lang="en-US" sz="1700" dirty="0"/>
          </a:p>
        </p:txBody>
      </p:sp>
      <p:sp>
        <p:nvSpPr>
          <p:cNvPr id="16" name="Shape 13"/>
          <p:cNvSpPr/>
          <p:nvPr/>
        </p:nvSpPr>
        <p:spPr>
          <a:xfrm>
            <a:off x="548640" y="3566160"/>
            <a:ext cx="457200" cy="457200"/>
          </a:xfrm>
          <a:prstGeom prst="ellipse">
            <a:avLst/>
          </a:prstGeom>
          <a:solidFill>
            <a:srgbClr val="2459D8"/>
          </a:solidFill>
          <a:ln/>
        </p:spPr>
      </p:sp>
      <p:sp>
        <p:nvSpPr>
          <p:cNvPr id="17" name="Text 1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53872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Build one step at a time. </a:t>
            </a:r>
            <a:pPr indent="0" marL="0">
              <a:buNone/>
            </a:pPr>
            <a:r>
              <a:rPr lang="en-US" sz="1700" dirty="0">
                <a:solidFill>
                  <a:srgbClr val="12213A"/>
                </a:solidFill>
                <a:latin typeface="Calibri" pitchFamily="34" charset="0"/>
                <a:ea typeface="Calibri" pitchFamily="34" charset="-122"/>
                <a:cs typeface="Calibri" pitchFamily="34" charset="-120"/>
              </a:rPr>
              <a:t>Look at the output before adding the next pipe.</a:t>
            </a:r>
            <a:endParaRPr lang="en-US" sz="1700" dirty="0"/>
          </a:p>
        </p:txBody>
      </p:sp>
      <p:sp>
        <p:nvSpPr>
          <p:cNvPr id="19" name="Shape 16"/>
          <p:cNvSpPr/>
          <p:nvPr/>
        </p:nvSpPr>
        <p:spPr>
          <a:xfrm>
            <a:off x="548640" y="4526280"/>
            <a:ext cx="457200" cy="457200"/>
          </a:xfrm>
          <a:prstGeom prst="ellipse">
            <a:avLst/>
          </a:prstGeom>
          <a:solidFill>
            <a:srgbClr val="2459D8"/>
          </a:solidFill>
          <a:ln/>
        </p:spPr>
      </p:sp>
      <p:sp>
        <p:nvSpPr>
          <p:cNvPr id="20" name="Text 17"/>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49884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Buy a hint. </a:t>
            </a:r>
            <a:pPr indent="0" marL="0">
              <a:buNone/>
            </a:pPr>
            <a:r>
              <a:rPr lang="en-US" sz="1700" dirty="0">
                <a:solidFill>
                  <a:srgbClr val="12213A"/>
                </a:solidFill>
                <a:latin typeface="Calibri" pitchFamily="34" charset="0"/>
                <a:ea typeface="Calibri" pitchFamily="34" charset="-122"/>
                <a:cs typeface="Calibri" pitchFamily="34" charset="-120"/>
              </a:rPr>
              <a:t>hint N shows the price. 5% of the mission, charged once.</a:t>
            </a:r>
            <a:endParaRPr lang="en-US" sz="1700" dirty="0"/>
          </a:p>
        </p:txBody>
      </p:sp>
      <p:sp>
        <p:nvSpPr>
          <p:cNvPr id="22" name="Shape 19"/>
          <p:cNvSpPr/>
          <p:nvPr/>
        </p:nvSpPr>
        <p:spPr>
          <a:xfrm>
            <a:off x="6492240" y="1463040"/>
            <a:ext cx="51480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3" name="Shape 20"/>
          <p:cNvSpPr/>
          <p:nvPr/>
        </p:nvSpPr>
        <p:spPr>
          <a:xfrm>
            <a:off x="6693408" y="1618488"/>
            <a:ext cx="118872" cy="118872"/>
          </a:xfrm>
          <a:prstGeom prst="ellipse">
            <a:avLst/>
          </a:prstGeom>
          <a:solidFill>
            <a:srgbClr val="E5534B"/>
          </a:solidFill>
          <a:ln/>
        </p:spPr>
      </p:sp>
      <p:sp>
        <p:nvSpPr>
          <p:cNvPr id="24" name="Shape 21"/>
          <p:cNvSpPr/>
          <p:nvPr/>
        </p:nvSpPr>
        <p:spPr>
          <a:xfrm>
            <a:off x="6894576" y="1618488"/>
            <a:ext cx="118872" cy="118872"/>
          </a:xfrm>
          <a:prstGeom prst="ellipse">
            <a:avLst/>
          </a:prstGeom>
          <a:solidFill>
            <a:srgbClr val="F5A623"/>
          </a:solidFill>
          <a:ln/>
        </p:spPr>
      </p:sp>
      <p:sp>
        <p:nvSpPr>
          <p:cNvPr id="25" name="Shape 22"/>
          <p:cNvSpPr/>
          <p:nvPr/>
        </p:nvSpPr>
        <p:spPr>
          <a:xfrm>
            <a:off x="7095744" y="1618488"/>
            <a:ext cx="118872" cy="118872"/>
          </a:xfrm>
          <a:prstGeom prst="ellipse">
            <a:avLst/>
          </a:prstGeom>
          <a:solidFill>
            <a:srgbClr val="46D39A"/>
          </a:solidFill>
          <a:ln/>
        </p:spPr>
      </p:sp>
      <p:sp>
        <p:nvSpPr>
          <p:cNvPr id="26" name="Text 23"/>
          <p:cNvSpPr txBox="1"/>
          <p:nvPr/>
        </p:nvSpPr>
        <p:spPr>
          <a:xfrm>
            <a:off x="7406640" y="1536192"/>
            <a:ext cx="33192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7" name="Text 24"/>
          <p:cNvSpPr txBox="1"/>
          <p:nvPr/>
        </p:nvSpPr>
        <p:spPr>
          <a:xfrm>
            <a:off x="6766560" y="1920240"/>
            <a:ext cx="459943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hint 4</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Hint 1 of 2 costs 10 points (5% of 200),</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charged once.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To see it, type:  hint 4 --show</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hint 4 --show</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Hint 1 of 2: Read caesar --help.</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It can try all the shifts at once.</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-10 points on the scoreboard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codebreaker's toolkit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6" name="Shape 3"/>
          <p:cNvSpPr/>
          <p:nvPr/>
        </p:nvSpPr>
        <p:spPr>
          <a:xfrm>
            <a:off x="548640" y="1463040"/>
            <a:ext cx="5449824" cy="777240"/>
          </a:xfrm>
          <a:prstGeom prst="roundRect">
            <a:avLst>
              <a:gd name="adj" fmla="val 11765"/>
            </a:avLst>
          </a:prstGeom>
          <a:solidFill>
            <a:srgbClr val="F1F5FB"/>
          </a:solidFill>
          <a:ln/>
        </p:spPr>
      </p:sp>
      <p:sp>
        <p:nvSpPr>
          <p:cNvPr id="7" name="Shape 4"/>
          <p:cNvSpPr/>
          <p:nvPr/>
        </p:nvSpPr>
        <p:spPr>
          <a:xfrm>
            <a:off x="713232" y="1627632"/>
            <a:ext cx="457200" cy="457200"/>
          </a:xfrm>
          <a:prstGeom prst="ellipse">
            <a:avLst/>
          </a:prstGeom>
          <a:solidFill>
            <a:srgbClr val="17875A"/>
          </a:solidFill>
          <a:ln/>
        </p:spPr>
      </p:sp>
      <p:sp>
        <p:nvSpPr>
          <p:cNvPr id="8" name="Text 5"/>
          <p:cNvSpPr txBox="1"/>
          <p:nvPr/>
        </p:nvSpPr>
        <p:spPr>
          <a:xfrm>
            <a:off x="713232"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1371600" y="1463040"/>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base64 -d</a:t>
            </a:r>
            <a:endParaRPr lang="en-US" sz="1600" dirty="0"/>
          </a:p>
        </p:txBody>
      </p:sp>
      <p:sp>
        <p:nvSpPr>
          <p:cNvPr id="10" name="Text 7"/>
          <p:cNvSpPr txBox="1"/>
          <p:nvPr/>
        </p:nvSpPr>
        <p:spPr>
          <a:xfrm>
            <a:off x="3566160" y="1463040"/>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decode base64</a:t>
            </a:r>
            <a:endParaRPr lang="en-US" sz="1500" dirty="0"/>
          </a:p>
        </p:txBody>
      </p:sp>
      <p:sp>
        <p:nvSpPr>
          <p:cNvPr id="11" name="Shape 8"/>
          <p:cNvSpPr/>
          <p:nvPr/>
        </p:nvSpPr>
        <p:spPr>
          <a:xfrm>
            <a:off x="6190488" y="1463040"/>
            <a:ext cx="5449824" cy="777240"/>
          </a:xfrm>
          <a:prstGeom prst="roundRect">
            <a:avLst>
              <a:gd name="adj" fmla="val 11765"/>
            </a:avLst>
          </a:prstGeom>
          <a:solidFill>
            <a:srgbClr val="F1F5FB"/>
          </a:solidFill>
          <a:ln/>
        </p:spPr>
      </p:sp>
      <p:sp>
        <p:nvSpPr>
          <p:cNvPr id="12" name="Shape 9"/>
          <p:cNvSpPr/>
          <p:nvPr/>
        </p:nvSpPr>
        <p:spPr>
          <a:xfrm>
            <a:off x="6355080" y="1627632"/>
            <a:ext cx="457200" cy="457200"/>
          </a:xfrm>
          <a:prstGeom prst="ellipse">
            <a:avLst/>
          </a:prstGeom>
          <a:solidFill>
            <a:srgbClr val="2A9FD6"/>
          </a:solidFill>
          <a:ln/>
        </p:spPr>
      </p:sp>
      <p:sp>
        <p:nvSpPr>
          <p:cNvPr id="13" name="Text 10"/>
          <p:cNvSpPr txBox="1"/>
          <p:nvPr/>
        </p:nvSpPr>
        <p:spPr>
          <a:xfrm>
            <a:off x="6355080"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7013448" y="1463040"/>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xxd -r -p</a:t>
            </a:r>
            <a:endParaRPr lang="en-US" sz="1600" dirty="0"/>
          </a:p>
        </p:txBody>
      </p:sp>
      <p:sp>
        <p:nvSpPr>
          <p:cNvPr id="15" name="Text 12"/>
          <p:cNvSpPr txBox="1"/>
          <p:nvPr/>
        </p:nvSpPr>
        <p:spPr>
          <a:xfrm>
            <a:off x="9208008" y="1463040"/>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hex to text</a:t>
            </a:r>
            <a:endParaRPr lang="en-US" sz="1500" dirty="0"/>
          </a:p>
        </p:txBody>
      </p:sp>
      <p:sp>
        <p:nvSpPr>
          <p:cNvPr id="16" name="Shape 13"/>
          <p:cNvSpPr/>
          <p:nvPr/>
        </p:nvSpPr>
        <p:spPr>
          <a:xfrm>
            <a:off x="548640" y="2359152"/>
            <a:ext cx="5449824" cy="777240"/>
          </a:xfrm>
          <a:prstGeom prst="roundRect">
            <a:avLst>
              <a:gd name="adj" fmla="val 11765"/>
            </a:avLst>
          </a:prstGeom>
          <a:solidFill>
            <a:srgbClr val="F1F5FB"/>
          </a:solidFill>
          <a:ln/>
        </p:spPr>
      </p:sp>
      <p:sp>
        <p:nvSpPr>
          <p:cNvPr id="17" name="Shape 14"/>
          <p:cNvSpPr/>
          <p:nvPr/>
        </p:nvSpPr>
        <p:spPr>
          <a:xfrm>
            <a:off x="713232" y="2523744"/>
            <a:ext cx="457200" cy="457200"/>
          </a:xfrm>
          <a:prstGeom prst="ellipse">
            <a:avLst/>
          </a:prstGeom>
          <a:solidFill>
            <a:srgbClr val="2459D8"/>
          </a:solidFill>
          <a:ln/>
        </p:spPr>
      </p:sp>
      <p:sp>
        <p:nvSpPr>
          <p:cNvPr id="18" name="Text 15"/>
          <p:cNvSpPr txBox="1"/>
          <p:nvPr/>
        </p:nvSpPr>
        <p:spPr>
          <a:xfrm>
            <a:off x="713232" y="2523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6"/>
          <p:cNvSpPr txBox="1"/>
          <p:nvPr/>
        </p:nvSpPr>
        <p:spPr>
          <a:xfrm>
            <a:off x="1371600" y="2359152"/>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tr</a:t>
            </a:r>
            <a:endParaRPr lang="en-US" sz="1600" dirty="0"/>
          </a:p>
        </p:txBody>
      </p:sp>
      <p:sp>
        <p:nvSpPr>
          <p:cNvPr id="20" name="Text 17"/>
          <p:cNvSpPr txBox="1"/>
          <p:nvPr/>
        </p:nvSpPr>
        <p:spPr>
          <a:xfrm>
            <a:off x="3566160" y="2359152"/>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swap letters: ROT13</a:t>
            </a:r>
            <a:endParaRPr lang="en-US" sz="1500" dirty="0"/>
          </a:p>
        </p:txBody>
      </p:sp>
      <p:sp>
        <p:nvSpPr>
          <p:cNvPr id="21" name="Shape 18"/>
          <p:cNvSpPr/>
          <p:nvPr/>
        </p:nvSpPr>
        <p:spPr>
          <a:xfrm>
            <a:off x="6190488" y="2359152"/>
            <a:ext cx="5449824" cy="777240"/>
          </a:xfrm>
          <a:prstGeom prst="roundRect">
            <a:avLst>
              <a:gd name="adj" fmla="val 11765"/>
            </a:avLst>
          </a:prstGeom>
          <a:solidFill>
            <a:srgbClr val="F1F5FB"/>
          </a:solidFill>
          <a:ln/>
        </p:spPr>
      </p:sp>
      <p:sp>
        <p:nvSpPr>
          <p:cNvPr id="22" name="Shape 19"/>
          <p:cNvSpPr/>
          <p:nvPr/>
        </p:nvSpPr>
        <p:spPr>
          <a:xfrm>
            <a:off x="6355080" y="2523744"/>
            <a:ext cx="457200" cy="457200"/>
          </a:xfrm>
          <a:prstGeom prst="ellipse">
            <a:avLst/>
          </a:prstGeom>
          <a:solidFill>
            <a:srgbClr val="7448D4"/>
          </a:solidFill>
          <a:ln/>
        </p:spPr>
      </p:sp>
      <p:sp>
        <p:nvSpPr>
          <p:cNvPr id="23" name="Text 20"/>
          <p:cNvSpPr txBox="1"/>
          <p:nvPr/>
        </p:nvSpPr>
        <p:spPr>
          <a:xfrm>
            <a:off x="6355080" y="2523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txBox="1"/>
          <p:nvPr/>
        </p:nvSpPr>
        <p:spPr>
          <a:xfrm>
            <a:off x="7013448" y="2359152"/>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caesar all</a:t>
            </a:r>
            <a:endParaRPr lang="en-US" sz="1600" dirty="0"/>
          </a:p>
        </p:txBody>
      </p:sp>
      <p:sp>
        <p:nvSpPr>
          <p:cNvPr id="25" name="Text 22"/>
          <p:cNvSpPr txBox="1"/>
          <p:nvPr/>
        </p:nvSpPr>
        <p:spPr>
          <a:xfrm>
            <a:off x="9208008" y="2359152"/>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try every shift</a:t>
            </a:r>
            <a:endParaRPr lang="en-US" sz="1500" dirty="0"/>
          </a:p>
        </p:txBody>
      </p:sp>
      <p:sp>
        <p:nvSpPr>
          <p:cNvPr id="26" name="Shape 23"/>
          <p:cNvSpPr/>
          <p:nvPr/>
        </p:nvSpPr>
        <p:spPr>
          <a:xfrm>
            <a:off x="548640" y="3255264"/>
            <a:ext cx="5449824" cy="777240"/>
          </a:xfrm>
          <a:prstGeom prst="roundRect">
            <a:avLst>
              <a:gd name="adj" fmla="val 11765"/>
            </a:avLst>
          </a:prstGeom>
          <a:solidFill>
            <a:srgbClr val="F1F5FB"/>
          </a:solidFill>
          <a:ln/>
        </p:spPr>
      </p:sp>
      <p:sp>
        <p:nvSpPr>
          <p:cNvPr id="27" name="Shape 24"/>
          <p:cNvSpPr/>
          <p:nvPr/>
        </p:nvSpPr>
        <p:spPr>
          <a:xfrm>
            <a:off x="713232" y="3419856"/>
            <a:ext cx="457200" cy="457200"/>
          </a:xfrm>
          <a:prstGeom prst="ellipse">
            <a:avLst/>
          </a:prstGeom>
          <a:solidFill>
            <a:srgbClr val="D1416B"/>
          </a:solidFill>
          <a:ln/>
        </p:spPr>
      </p:sp>
      <p:sp>
        <p:nvSpPr>
          <p:cNvPr id="28" name="Text 25"/>
          <p:cNvSpPr txBox="1"/>
          <p:nvPr/>
        </p:nvSpPr>
        <p:spPr>
          <a:xfrm>
            <a:off x="713232" y="3419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6"/>
          <p:cNvSpPr txBox="1"/>
          <p:nvPr/>
        </p:nvSpPr>
        <p:spPr>
          <a:xfrm>
            <a:off x="1371600" y="3255264"/>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tr (flipped)</a:t>
            </a:r>
            <a:endParaRPr lang="en-US" sz="1600" dirty="0"/>
          </a:p>
        </p:txBody>
      </p:sp>
      <p:sp>
        <p:nvSpPr>
          <p:cNvPr id="30" name="Text 27"/>
          <p:cNvSpPr txBox="1"/>
          <p:nvPr/>
        </p:nvSpPr>
        <p:spPr>
          <a:xfrm>
            <a:off x="3566160" y="3255264"/>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Atbash</a:t>
            </a:r>
            <a:endParaRPr lang="en-US" sz="1500" dirty="0"/>
          </a:p>
        </p:txBody>
      </p:sp>
      <p:sp>
        <p:nvSpPr>
          <p:cNvPr id="31" name="Shape 28"/>
          <p:cNvSpPr/>
          <p:nvPr/>
        </p:nvSpPr>
        <p:spPr>
          <a:xfrm>
            <a:off x="6190488" y="3255264"/>
            <a:ext cx="5449824" cy="777240"/>
          </a:xfrm>
          <a:prstGeom prst="roundRect">
            <a:avLst>
              <a:gd name="adj" fmla="val 11765"/>
            </a:avLst>
          </a:prstGeom>
          <a:solidFill>
            <a:srgbClr val="F1F5FB"/>
          </a:solidFill>
          <a:ln/>
        </p:spPr>
      </p:sp>
      <p:sp>
        <p:nvSpPr>
          <p:cNvPr id="32" name="Shape 29"/>
          <p:cNvSpPr/>
          <p:nvPr/>
        </p:nvSpPr>
        <p:spPr>
          <a:xfrm>
            <a:off x="6355080" y="3419856"/>
            <a:ext cx="457200" cy="457200"/>
          </a:xfrm>
          <a:prstGeom prst="ellipse">
            <a:avLst/>
          </a:prstGeom>
          <a:solidFill>
            <a:srgbClr val="E8820C"/>
          </a:solidFill>
          <a:ln/>
        </p:spPr>
      </p:sp>
      <p:sp>
        <p:nvSpPr>
          <p:cNvPr id="33" name="Text 30"/>
          <p:cNvSpPr txBox="1"/>
          <p:nvPr/>
        </p:nvSpPr>
        <p:spPr>
          <a:xfrm>
            <a:off x="6355080" y="3419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1"/>
          <p:cNvSpPr txBox="1"/>
          <p:nvPr/>
        </p:nvSpPr>
        <p:spPr>
          <a:xfrm>
            <a:off x="7013448" y="3255264"/>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morse</a:t>
            </a:r>
            <a:endParaRPr lang="en-US" sz="1600" dirty="0"/>
          </a:p>
        </p:txBody>
      </p:sp>
      <p:sp>
        <p:nvSpPr>
          <p:cNvPr id="35" name="Text 32"/>
          <p:cNvSpPr txBox="1"/>
          <p:nvPr/>
        </p:nvSpPr>
        <p:spPr>
          <a:xfrm>
            <a:off x="9208008" y="3255264"/>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decode Morse</a:t>
            </a:r>
            <a:endParaRPr lang="en-US" sz="1500" dirty="0"/>
          </a:p>
        </p:txBody>
      </p:sp>
      <p:sp>
        <p:nvSpPr>
          <p:cNvPr id="36" name="Shape 33"/>
          <p:cNvSpPr/>
          <p:nvPr/>
        </p:nvSpPr>
        <p:spPr>
          <a:xfrm>
            <a:off x="548640" y="4151376"/>
            <a:ext cx="5449824" cy="777240"/>
          </a:xfrm>
          <a:prstGeom prst="roundRect">
            <a:avLst>
              <a:gd name="adj" fmla="val 11765"/>
            </a:avLst>
          </a:prstGeom>
          <a:solidFill>
            <a:srgbClr val="F1F5FB"/>
          </a:solidFill>
          <a:ln/>
        </p:spPr>
      </p:sp>
      <p:sp>
        <p:nvSpPr>
          <p:cNvPr id="37" name="Shape 34"/>
          <p:cNvSpPr/>
          <p:nvPr/>
        </p:nvSpPr>
        <p:spPr>
          <a:xfrm>
            <a:off x="713232" y="4315968"/>
            <a:ext cx="457200" cy="457200"/>
          </a:xfrm>
          <a:prstGeom prst="ellipse">
            <a:avLst/>
          </a:prstGeom>
          <a:solidFill>
            <a:srgbClr val="C9A227"/>
          </a:solidFill>
          <a:ln/>
        </p:spPr>
      </p:sp>
      <p:sp>
        <p:nvSpPr>
          <p:cNvPr id="38" name="Text 35"/>
          <p:cNvSpPr txBox="1"/>
          <p:nvPr/>
        </p:nvSpPr>
        <p:spPr>
          <a:xfrm>
            <a:off x="713232"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9" name="Text 36"/>
          <p:cNvSpPr txBox="1"/>
          <p:nvPr/>
        </p:nvSpPr>
        <p:spPr>
          <a:xfrm>
            <a:off x="1371600" y="4151376"/>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hashlines</a:t>
            </a:r>
            <a:endParaRPr lang="en-US" sz="1600" dirty="0"/>
          </a:p>
        </p:txBody>
      </p:sp>
      <p:sp>
        <p:nvSpPr>
          <p:cNvPr id="40" name="Text 37"/>
          <p:cNvSpPr txBox="1"/>
          <p:nvPr/>
        </p:nvSpPr>
        <p:spPr>
          <a:xfrm>
            <a:off x="3566160" y="4151376"/>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hash every line</a:t>
            </a:r>
            <a:endParaRPr lang="en-US" sz="1500" dirty="0"/>
          </a:p>
        </p:txBody>
      </p:sp>
      <p:sp>
        <p:nvSpPr>
          <p:cNvPr id="41" name="Shape 38"/>
          <p:cNvSpPr/>
          <p:nvPr/>
        </p:nvSpPr>
        <p:spPr>
          <a:xfrm>
            <a:off x="6190488" y="4151376"/>
            <a:ext cx="5449824" cy="777240"/>
          </a:xfrm>
          <a:prstGeom prst="roundRect">
            <a:avLst>
              <a:gd name="adj" fmla="val 11765"/>
            </a:avLst>
          </a:prstGeom>
          <a:solidFill>
            <a:srgbClr val="F1F5FB"/>
          </a:solidFill>
          <a:ln/>
        </p:spPr>
      </p:sp>
      <p:sp>
        <p:nvSpPr>
          <p:cNvPr id="42" name="Shape 39"/>
          <p:cNvSpPr/>
          <p:nvPr/>
        </p:nvSpPr>
        <p:spPr>
          <a:xfrm>
            <a:off x="6355080" y="4315968"/>
            <a:ext cx="457200" cy="457200"/>
          </a:xfrm>
          <a:prstGeom prst="ellipse">
            <a:avLst/>
          </a:prstGeom>
          <a:solidFill>
            <a:srgbClr val="0F9488"/>
          </a:solidFill>
          <a:ln/>
        </p:spPr>
      </p:sp>
      <p:sp>
        <p:nvSpPr>
          <p:cNvPr id="43" name="Text 40"/>
          <p:cNvSpPr txBox="1"/>
          <p:nvPr/>
        </p:nvSpPr>
        <p:spPr>
          <a:xfrm>
            <a:off x="6355080"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44" name="Text 41"/>
          <p:cNvSpPr txBox="1"/>
          <p:nvPr/>
        </p:nvSpPr>
        <p:spPr>
          <a:xfrm>
            <a:off x="7013448" y="4151376"/>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xor all</a:t>
            </a:r>
            <a:endParaRPr lang="en-US" sz="1600" dirty="0"/>
          </a:p>
        </p:txBody>
      </p:sp>
      <p:sp>
        <p:nvSpPr>
          <p:cNvPr id="45" name="Text 42"/>
          <p:cNvSpPr txBox="1"/>
          <p:nvPr/>
        </p:nvSpPr>
        <p:spPr>
          <a:xfrm>
            <a:off x="9208008" y="4151376"/>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try every XOR key</a:t>
            </a:r>
            <a:endParaRPr lang="en-US" sz="1500" dirty="0"/>
          </a:p>
        </p:txBody>
      </p:sp>
      <p:sp>
        <p:nvSpPr>
          <p:cNvPr id="46" name="Shape 43"/>
          <p:cNvSpPr/>
          <p:nvPr/>
        </p:nvSpPr>
        <p:spPr>
          <a:xfrm>
            <a:off x="548640" y="5047488"/>
            <a:ext cx="5449824" cy="777240"/>
          </a:xfrm>
          <a:prstGeom prst="roundRect">
            <a:avLst>
              <a:gd name="adj" fmla="val 11765"/>
            </a:avLst>
          </a:prstGeom>
          <a:solidFill>
            <a:srgbClr val="F1F5FB"/>
          </a:solidFill>
          <a:ln/>
        </p:spPr>
      </p:sp>
      <p:sp>
        <p:nvSpPr>
          <p:cNvPr id="47" name="Shape 44"/>
          <p:cNvSpPr/>
          <p:nvPr/>
        </p:nvSpPr>
        <p:spPr>
          <a:xfrm>
            <a:off x="713232" y="5212080"/>
            <a:ext cx="457200" cy="457200"/>
          </a:xfrm>
          <a:prstGeom prst="ellipse">
            <a:avLst/>
          </a:prstGeom>
          <a:solidFill>
            <a:srgbClr val="5B6EE1"/>
          </a:solidFill>
          <a:ln/>
        </p:spPr>
      </p:sp>
      <p:sp>
        <p:nvSpPr>
          <p:cNvPr id="48" name="Text 45"/>
          <p:cNvSpPr txBox="1"/>
          <p:nvPr/>
        </p:nvSpPr>
        <p:spPr>
          <a:xfrm>
            <a:off x="713232" y="5212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49" name="Text 46"/>
          <p:cNvSpPr txBox="1"/>
          <p:nvPr/>
        </p:nvSpPr>
        <p:spPr>
          <a:xfrm>
            <a:off x="1371600" y="5047488"/>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vigenere -d</a:t>
            </a:r>
            <a:endParaRPr lang="en-US" sz="1600" dirty="0"/>
          </a:p>
        </p:txBody>
      </p:sp>
      <p:sp>
        <p:nvSpPr>
          <p:cNvPr id="50" name="Text 47"/>
          <p:cNvSpPr txBox="1"/>
          <p:nvPr/>
        </p:nvSpPr>
        <p:spPr>
          <a:xfrm>
            <a:off x="3566160" y="5047488"/>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decrypt with a keyword</a:t>
            </a:r>
            <a:endParaRPr lang="en-US" sz="1500" dirty="0"/>
          </a:p>
        </p:txBody>
      </p:sp>
      <p:sp>
        <p:nvSpPr>
          <p:cNvPr id="51" name="Shape 48"/>
          <p:cNvSpPr/>
          <p:nvPr/>
        </p:nvSpPr>
        <p:spPr>
          <a:xfrm>
            <a:off x="6190488" y="5047488"/>
            <a:ext cx="5449824" cy="777240"/>
          </a:xfrm>
          <a:prstGeom prst="roundRect">
            <a:avLst>
              <a:gd name="adj" fmla="val 11765"/>
            </a:avLst>
          </a:prstGeom>
          <a:solidFill>
            <a:srgbClr val="F1F5FB"/>
          </a:solidFill>
          <a:ln/>
        </p:spPr>
      </p:sp>
      <p:sp>
        <p:nvSpPr>
          <p:cNvPr id="52" name="Shape 49"/>
          <p:cNvSpPr/>
          <p:nvPr/>
        </p:nvSpPr>
        <p:spPr>
          <a:xfrm>
            <a:off x="6355080" y="5212080"/>
            <a:ext cx="457200" cy="457200"/>
          </a:xfrm>
          <a:prstGeom prst="ellipse">
            <a:avLst/>
          </a:prstGeom>
          <a:solidFill>
            <a:srgbClr val="B4233F"/>
          </a:solidFill>
          <a:ln/>
        </p:spPr>
      </p:sp>
      <p:sp>
        <p:nvSpPr>
          <p:cNvPr id="53" name="Text 50"/>
          <p:cNvSpPr txBox="1"/>
          <p:nvPr/>
        </p:nvSpPr>
        <p:spPr>
          <a:xfrm>
            <a:off x="6355080" y="5212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54" name="Text 51"/>
          <p:cNvSpPr txBox="1"/>
          <p:nvPr/>
        </p:nvSpPr>
        <p:spPr>
          <a:xfrm>
            <a:off x="7013448" y="5047488"/>
            <a:ext cx="2194560" cy="777240"/>
          </a:xfrm>
          <a:prstGeom prst="rect">
            <a:avLst/>
          </a:prstGeom>
          <a:noFill/>
          <a:ln/>
        </p:spPr>
        <p:txBody>
          <a:bodyPr wrap="square" lIns="0" tIns="0" rIns="0" bIns="0" rtlCol="0" anchor="ctr"/>
          <a:lstStyle/>
          <a:p>
            <a:pPr indent="0" marL="0">
              <a:buNone/>
            </a:pPr>
            <a:r>
              <a:rPr lang="en-US" sz="1600" b="1" dirty="0">
                <a:solidFill>
                  <a:srgbClr val="12213A"/>
                </a:solidFill>
                <a:latin typeface="Courier New" pitchFamily="34" charset="0"/>
                <a:ea typeface="Courier New" pitchFamily="34" charset="-122"/>
                <a:cs typeface="Courier New" pitchFamily="34" charset="-120"/>
              </a:rPr>
              <a:t>A | B | C</a:t>
            </a:r>
            <a:endParaRPr lang="en-US" sz="1600" dirty="0"/>
          </a:p>
        </p:txBody>
      </p:sp>
      <p:sp>
        <p:nvSpPr>
          <p:cNvPr id="55" name="Text 52"/>
          <p:cNvSpPr txBox="1"/>
          <p:nvPr/>
        </p:nvSpPr>
        <p:spPr>
          <a:xfrm>
            <a:off x="9208008" y="5047488"/>
            <a:ext cx="2331720" cy="777240"/>
          </a:xfrm>
          <a:prstGeom prst="rect">
            <a:avLst/>
          </a:prstGeom>
          <a:noFill/>
          <a:ln/>
        </p:spPr>
        <p:txBody>
          <a:bodyPr wrap="square" lIns="0" tIns="0" rIns="0" bIns="0" rtlCol="0" anchor="ctr"/>
          <a:lstStyle/>
          <a:p>
            <a:pPr indent="0" marL="0">
              <a:buNone/>
            </a:pPr>
            <a:r>
              <a:rPr lang="en-US" sz="1500" dirty="0">
                <a:solidFill>
                  <a:srgbClr val="56657E"/>
                </a:solidFill>
                <a:latin typeface="Calibri" pitchFamily="34" charset="0"/>
                <a:ea typeface="Calibri" pitchFamily="34" charset="-122"/>
                <a:cs typeface="Calibri" pitchFamily="34" charset="-120"/>
              </a:rPr>
              <a:t>peel layers in a chain</a:t>
            </a:r>
            <a:endParaRPr lang="en-US" sz="1500" dirty="0"/>
          </a:p>
        </p:txBody>
      </p:sp>
      <p:sp>
        <p:nvSpPr>
          <p:cNvPr id="56" name="Text 5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400" b="1" dirty="0">
                <a:solidFill>
                  <a:srgbClr val="12213A"/>
                </a:solidFill>
                <a:latin typeface="Calibri" pitchFamily="34" charset="0"/>
                <a:ea typeface="Calibri" pitchFamily="34" charset="-122"/>
                <a:cs typeface="Calibri" pitchFamily="34" charset="-120"/>
              </a:rPr>
              <a:t>Stuck on any of them?  TOOL --help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22</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3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A warm-up, ten ciphers, 2,700 points, one clock. Missions 1 and 2 we crack together. Then teams race.</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./crack --all   # 10 flags, 2,700 points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23</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sp>
      <p:sp>
        <p:nvSpPr>
          <p:cNvPr id="7" name="Text 4"/>
          <p:cNvSpPr txBox="1"/>
          <p:nvPr/>
        </p:nvSpPr>
        <p:spPr>
          <a:xfrm>
            <a:off x="548640" y="1600200"/>
            <a:ext cx="2624328" cy="868680"/>
          </a:xfrm>
          <a:prstGeom prst="rect">
            <a:avLst/>
          </a:prstGeom>
          <a:noFill/>
          <a:ln/>
        </p:spPr>
        <p:txBody>
          <a:bodyPr wrap="square" lIns="0" tIns="0" rIns="0" bIns="0" rtlCol="0" anchor="ctr"/>
          <a:lstStyle/>
          <a:p>
            <a:pPr algn="ctr" indent="0" marL="0">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algn="ctr" indent="0" marL="0">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algn="ctr" indent="0" marL="0">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sp>
      <p:sp>
        <p:nvSpPr>
          <p:cNvPr id="11" name="Text 8"/>
          <p:cNvSpPr txBox="1"/>
          <p:nvPr/>
        </p:nvSpPr>
        <p:spPr>
          <a:xfrm>
            <a:off x="3355848" y="1600200"/>
            <a:ext cx="2624328" cy="868680"/>
          </a:xfrm>
          <a:prstGeom prst="rect">
            <a:avLst/>
          </a:prstGeom>
          <a:noFill/>
          <a:ln/>
        </p:spPr>
        <p:txBody>
          <a:bodyPr wrap="square" lIns="0" tIns="0" rIns="0" bIns="0" rtlCol="0" anchor="ctr"/>
          <a:lstStyle/>
          <a:p>
            <a:pPr algn="ctr" indent="0" marL="0">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algn="ctr" indent="0" marL="0">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algn="ctr" indent="0" marL="0">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sp>
      <p:sp>
        <p:nvSpPr>
          <p:cNvPr id="15" name="Text 12"/>
          <p:cNvSpPr txBox="1"/>
          <p:nvPr/>
        </p:nvSpPr>
        <p:spPr>
          <a:xfrm>
            <a:off x="6163056" y="1600200"/>
            <a:ext cx="2624328" cy="868680"/>
          </a:xfrm>
          <a:prstGeom prst="rect">
            <a:avLst/>
          </a:prstGeom>
          <a:noFill/>
          <a:ln/>
        </p:spPr>
        <p:txBody>
          <a:bodyPr wrap="square" lIns="0" tIns="0" rIns="0" bIns="0" rtlCol="0" anchor="ctr"/>
          <a:lstStyle/>
          <a:p>
            <a:pPr algn="ctr" indent="0" marL="0">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algn="ctr" indent="0" marL="0">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algn="ctr" indent="0" marL="0">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sp>
      <p:sp>
        <p:nvSpPr>
          <p:cNvPr id="19" name="Text 16"/>
          <p:cNvSpPr txBox="1"/>
          <p:nvPr/>
        </p:nvSpPr>
        <p:spPr>
          <a:xfrm>
            <a:off x="8970264" y="1600200"/>
            <a:ext cx="2624328" cy="868680"/>
          </a:xfrm>
          <a:prstGeom prst="rect">
            <a:avLst/>
          </a:prstGeom>
          <a:noFill/>
          <a:ln/>
        </p:spPr>
        <p:txBody>
          <a:bodyPr wrap="square" lIns="0" tIns="0" rIns="0" bIns="0" rtlCol="0" anchor="ctr"/>
          <a:lstStyle/>
          <a:p>
            <a:pPr algn="ctr" indent="0" marL="0">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algn="ctr" indent="0" marL="0">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algn="ctr" indent="0" marL="0">
              <a:buNone/>
            </a:pPr>
            <a:r>
              <a:rPr lang="en-US" sz="1300" dirty="0">
                <a:solidFill>
                  <a:srgbClr val="F3C6D4"/>
                </a:solidFill>
                <a:latin typeface="Calibri" pitchFamily="34" charset="0"/>
                <a:ea typeface="Calibri" pitchFamily="34" charset="-122"/>
                <a:cs typeface="Calibri" pitchFamily="34" charset="-120"/>
              </a:rPr>
              <a:t>Mission 10: The vault</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sp>
      <p:sp>
        <p:nvSpPr>
          <p:cNvPr id="23" name="Shape 20"/>
          <p:cNvSpPr/>
          <p:nvPr/>
        </p:nvSpPr>
        <p:spPr>
          <a:xfrm>
            <a:off x="822960" y="3794760"/>
            <a:ext cx="685800" cy="685800"/>
          </a:xfrm>
          <a:prstGeom prst="ellipse">
            <a:avLst/>
          </a:prstGeom>
          <a:solidFill>
            <a:srgbClr val="2459D8"/>
          </a:solidFill>
          <a:ln/>
        </p:spPr>
      </p:sp>
      <p:pic>
        <p:nvPicPr>
          <p:cNvPr id="24" name="Image 0" descr="preencoded.png">    </p:cNvPr>
          <p:cNvPicPr>
            <a:picLocks noChangeAspect="1"/>
          </p:cNvPicPr>
          <p:nvPr/>
        </p:nvPicPr>
        <p:blipFill>
          <a:blip r:embed="rId1"/>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indent="0" marL="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sp>
      <p:sp>
        <p:nvSpPr>
          <p:cNvPr id="28" name="Shape 24"/>
          <p:cNvSpPr/>
          <p:nvPr/>
        </p:nvSpPr>
        <p:spPr>
          <a:xfrm>
            <a:off x="4581144" y="3794760"/>
            <a:ext cx="685800" cy="685800"/>
          </a:xfrm>
          <a:prstGeom prst="ellipse">
            <a:avLst/>
          </a:prstGeom>
          <a:solidFill>
            <a:srgbClr val="F5A623"/>
          </a:solidFill>
          <a:ln/>
        </p:spPr>
      </p:sp>
      <p:pic>
        <p:nvPicPr>
          <p:cNvPr id="29" name="Image 1" descr="preencoded.png">    </p:cNvPr>
          <p:cNvPicPr>
            <a:picLocks noChangeAspect="1"/>
          </p:cNvPicPr>
          <p:nvPr/>
        </p:nvPicPr>
        <p:blipFill>
          <a:blip r:embed="rId2"/>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indent="0" marL="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sp>
      <p:sp>
        <p:nvSpPr>
          <p:cNvPr id="33" name="Shape 28"/>
          <p:cNvSpPr/>
          <p:nvPr/>
        </p:nvSpPr>
        <p:spPr>
          <a:xfrm>
            <a:off x="8339328" y="3794760"/>
            <a:ext cx="685800" cy="685800"/>
          </a:xfrm>
          <a:prstGeom prst="ellipse">
            <a:avLst/>
          </a:prstGeom>
          <a:solidFill>
            <a:srgbClr val="17875A"/>
          </a:solidFill>
          <a:ln/>
        </p:spPr>
      </p:sp>
      <p:pic>
        <p:nvPicPr>
          <p:cNvPr id="34" name="Image 2" descr="preencoded.png">    </p:cNvPr>
          <p:cNvPicPr>
            <a:picLocks noChangeAspect="1"/>
          </p:cNvPicPr>
          <p:nvPr/>
        </p:nvPicPr>
        <p:blipFill>
          <a:blip r:embed="rId3"/>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indent="0" marL="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codebreaker's routine, every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sp>
      <p:sp>
        <p:nvSpPr>
          <p:cNvPr id="7" name="Shape 4"/>
          <p:cNvSpPr/>
          <p:nvPr/>
        </p:nvSpPr>
        <p:spPr>
          <a:xfrm>
            <a:off x="1097280" y="1828800"/>
            <a:ext cx="914400" cy="914400"/>
          </a:xfrm>
          <a:prstGeom prst="ellipse">
            <a:avLst/>
          </a:prstGeom>
          <a:solidFill>
            <a:srgbClr val="2A9FD6"/>
          </a:solidFill>
          <a:ln/>
        </p:spPr>
      </p:sp>
      <p:pic>
        <p:nvPicPr>
          <p:cNvPr id="8" name="Image 0" descr="preencoded.png">    </p:cNvPr>
          <p:cNvPicPr>
            <a:picLocks noChangeAspect="1"/>
          </p:cNvPicPr>
          <p:nvPr/>
        </p:nvPicPr>
        <p:blipFill>
          <a:blip r:embed="rId1"/>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Identify</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what kind of code is it?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sp>
      <p:sp>
        <p:nvSpPr>
          <p:cNvPr id="13" name="Shape 9"/>
          <p:cNvSpPr/>
          <p:nvPr/>
        </p:nvSpPr>
        <p:spPr>
          <a:xfrm>
            <a:off x="3364992" y="1828800"/>
            <a:ext cx="914400" cy="914400"/>
          </a:xfrm>
          <a:prstGeom prst="ellipse">
            <a:avLst/>
          </a:prstGeom>
          <a:solidFill>
            <a:srgbClr val="2459D8"/>
          </a:solidFill>
          <a:ln/>
        </p:spPr>
      </p:sp>
      <p:pic>
        <p:nvPicPr>
          <p:cNvPr id="14" name="Image 1" descr="preencoded.png">    </p:cNvPr>
          <p:cNvPicPr>
            <a:picLocks noChangeAspect="1"/>
          </p:cNvPicPr>
          <p:nvPr/>
        </p:nvPicPr>
        <p:blipFill>
          <a:blip r:embed="rId2"/>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Decode</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with the matching tool.</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sp>
      <p:sp>
        <p:nvSpPr>
          <p:cNvPr id="19" name="Shape 14"/>
          <p:cNvSpPr/>
          <p:nvPr/>
        </p:nvSpPr>
        <p:spPr>
          <a:xfrm>
            <a:off x="5632704" y="1828800"/>
            <a:ext cx="914400" cy="914400"/>
          </a:xfrm>
          <a:prstGeom prst="ellipse">
            <a:avLst/>
          </a:prstGeom>
          <a:solidFill>
            <a:srgbClr val="7448D4"/>
          </a:solidFill>
          <a:ln/>
        </p:spPr>
      </p:sp>
      <p:pic>
        <p:nvPicPr>
          <p:cNvPr id="20" name="Image 2" descr="preencoded.png">    </p:cNvPr>
          <p:cNvPicPr>
            <a:picLocks noChangeAspect="1"/>
          </p:cNvPicPr>
          <p:nvPr/>
        </p:nvPicPr>
        <p:blipFill>
          <a:blip r:embed="rId3"/>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Check</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readable? Starts CYBA{?</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sp>
      <p:sp>
        <p:nvSpPr>
          <p:cNvPr id="25" name="Shape 19"/>
          <p:cNvSpPr/>
          <p:nvPr/>
        </p:nvSpPr>
        <p:spPr>
          <a:xfrm>
            <a:off x="7900416" y="1828800"/>
            <a:ext cx="914400" cy="914400"/>
          </a:xfrm>
          <a:prstGeom prst="ellipse">
            <a:avLst/>
          </a:prstGeom>
          <a:solidFill>
            <a:srgbClr val="D1416B"/>
          </a:solidFill>
          <a:ln/>
        </p:spPr>
      </p:sp>
      <p:pic>
        <p:nvPicPr>
          <p:cNvPr id="26" name="Image 3" descr="preencoded.png">    </p:cNvPr>
          <p:cNvPicPr>
            <a:picLocks noChangeAspect="1"/>
          </p:cNvPicPr>
          <p:nvPr/>
        </p:nvPicPr>
        <p:blipFill>
          <a:blip r:embed="rId4"/>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Copy</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the whole flag,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sp>
      <p:sp>
        <p:nvSpPr>
          <p:cNvPr id="31" name="Shape 24"/>
          <p:cNvSpPr/>
          <p:nvPr/>
        </p:nvSpPr>
        <p:spPr>
          <a:xfrm>
            <a:off x="10168128" y="1828800"/>
            <a:ext cx="914400" cy="914400"/>
          </a:xfrm>
          <a:prstGeom prst="ellipse">
            <a:avLst/>
          </a:prstGeom>
          <a:solidFill>
            <a:srgbClr val="17875A"/>
          </a:solidFill>
          <a:ln/>
        </p:spPr>
      </p:sp>
      <p:pic>
        <p:nvPicPr>
          <p:cNvPr id="32" name="Image 4" descr="preencoded.png">    </p:cNvPr>
          <p:cNvPicPr>
            <a:picLocks noChangeAspect="1"/>
          </p:cNvPicPr>
          <p:nvPr/>
        </p:nvPicPr>
        <p:blipFill>
          <a:blip r:embed="rId5"/>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type submit, paste, Enter.</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sx="100000" sy="100000" kx="0" ky="0" algn="bl" rotWithShape="0" blurRad="127000" dist="38100" dir="5400000">
              <a:srgbClr val="12213A">
                <a:alpha val="22000"/>
              </a:srgbClr>
            </a:outerShdw>
          </a:effectLst>
        </p:spPr>
      </p:sp>
      <p:sp>
        <p:nvSpPr>
          <p:cNvPr id="36" name="Shape 28"/>
          <p:cNvSpPr/>
          <p:nvPr/>
        </p:nvSpPr>
        <p:spPr>
          <a:xfrm>
            <a:off x="749808" y="5184648"/>
            <a:ext cx="118872" cy="118872"/>
          </a:xfrm>
          <a:prstGeom prst="ellipse">
            <a:avLst/>
          </a:prstGeom>
          <a:solidFill>
            <a:srgbClr val="E5534B"/>
          </a:solidFill>
          <a:ln/>
        </p:spPr>
      </p:sp>
      <p:sp>
        <p:nvSpPr>
          <p:cNvPr id="37" name="Shape 29"/>
          <p:cNvSpPr/>
          <p:nvPr/>
        </p:nvSpPr>
        <p:spPr>
          <a:xfrm>
            <a:off x="950976" y="5184648"/>
            <a:ext cx="118872" cy="118872"/>
          </a:xfrm>
          <a:prstGeom prst="ellipse">
            <a:avLst/>
          </a:prstGeom>
          <a:solidFill>
            <a:srgbClr val="F5A623"/>
          </a:solidFill>
          <a:ln/>
        </p:spPr>
      </p:sp>
      <p:sp>
        <p:nvSpPr>
          <p:cNvPr id="38" name="Shape 30"/>
          <p:cNvSpPr/>
          <p:nvPr/>
        </p:nvSpPr>
        <p:spPr>
          <a:xfrm>
            <a:off x="1152144" y="5184648"/>
            <a:ext cx="118872" cy="118872"/>
          </a:xfrm>
          <a:prstGeom prst="ellipse">
            <a:avLst/>
          </a:prstGeom>
          <a:solidFill>
            <a:srgbClr val="46D39A"/>
          </a:solidFill>
          <a:ln/>
        </p:spPr>
      </p:sp>
      <p:sp>
        <p:nvSpPr>
          <p:cNvPr id="39" name="Text 31"/>
          <p:cNvSpPr txBox="1"/>
          <p:nvPr/>
        </p:nvSpPr>
        <p:spPr>
          <a:xfrm>
            <a:off x="822960" y="5486400"/>
            <a:ext cx="10545775" cy="320040"/>
          </a:xfrm>
          <a:prstGeom prst="rect">
            <a:avLst/>
          </a:prstGeom>
          <a:noFill/>
          <a:ln/>
        </p:spPr>
        <p:txBody>
          <a:bodyPr wrap="square" lIns="0" tIns="0" rIns="0" bIns="0" rtlCol="0" anchor="t"/>
          <a:lstStyle/>
          <a:p>
            <a:pPr indent="0" marL="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800" b="1" dirty="0">
                <a:solidFill>
                  <a:srgbClr val="FFFFFF"/>
                </a:solidFill>
                <a:latin typeface="Courier New" pitchFamily="34" charset="0"/>
                <a:ea typeface="Courier New" pitchFamily="34" charset="-122"/>
                <a:cs typeface="Courier New" pitchFamily="34" charset="-120"/>
              </a:rPr>
              <a:t>submit CYBA{b64-3c9e01f7}</a:t>
            </a:r>
            <a:pPr indent="0" marL="0">
              <a:spcAft>
                <a:spcPts val="200"/>
              </a:spcAft>
              <a:buNone/>
            </a:pP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Mission 0: the warm-up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10" name="Shape 7"/>
          <p:cNvSpPr/>
          <p:nvPr/>
        </p:nvSpPr>
        <p:spPr>
          <a:xfrm>
            <a:off x="548640" y="1645920"/>
            <a:ext cx="457200" cy="457200"/>
          </a:xfrm>
          <a:prstGeom prst="ellipse">
            <a:avLst/>
          </a:prstGeom>
          <a:solidFill>
            <a:srgbClr val="17875A"/>
          </a:solidFill>
          <a:ln/>
        </p:spPr>
      </p:sp>
      <p:sp>
        <p:nvSpPr>
          <p:cNvPr id="11" name="Text 8"/>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sp>
      <p:sp>
        <p:nvSpPr>
          <p:cNvPr id="14" name="Text 11"/>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Find 'Your crypto toolkit': the tools for today.</a:t>
            </a:r>
            <a:endParaRPr lang="en-US" sz="1800" dirty="0"/>
          </a:p>
        </p:txBody>
      </p:sp>
      <p:sp>
        <p:nvSpPr>
          <p:cNvPr id="16" name="Shape 13"/>
          <p:cNvSpPr/>
          <p:nvPr/>
        </p:nvSpPr>
        <p:spPr>
          <a:xfrm>
            <a:off x="548640" y="3474720"/>
            <a:ext cx="457200" cy="457200"/>
          </a:xfrm>
          <a:prstGeom prst="ellipse">
            <a:avLst/>
          </a:prstGeom>
          <a:solidFill>
            <a:srgbClr val="17875A"/>
          </a:solidFill>
          <a:ln/>
        </p:spPr>
      </p:sp>
      <p:sp>
        <p:nvSpPr>
          <p:cNvPr id="17" name="Text 14"/>
          <p:cNvSpPr txBox="1"/>
          <p:nvPr/>
        </p:nvSpPr>
        <p:spPr>
          <a:xfrm>
            <a:off x="548640" y="3474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The warm-up flag is on its last line. Submit it.</a:t>
            </a:r>
            <a:endParaRPr lang="en-US" sz="1800" dirty="0"/>
          </a:p>
        </p:txBody>
      </p:sp>
      <p:sp>
        <p:nvSpPr>
          <p:cNvPr id="19" name="Shape 16"/>
          <p:cNvSpPr/>
          <p:nvPr/>
        </p:nvSpPr>
        <p:spPr>
          <a:xfrm>
            <a:off x="548640" y="4389120"/>
            <a:ext cx="457200" cy="457200"/>
          </a:xfrm>
          <a:prstGeom prst="ellipse">
            <a:avLst/>
          </a:prstGeom>
          <a:solidFill>
            <a:srgbClr val="17875A"/>
          </a:solidFill>
          <a:ln/>
        </p:spPr>
      </p:sp>
      <p:sp>
        <p:nvSpPr>
          <p:cNvPr id="20" name="Text 17"/>
          <p:cNvSpPr txBox="1"/>
          <p:nvPr/>
        </p:nvSpPr>
        <p:spPr>
          <a:xfrm>
            <a:off x="548640" y="4389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indent="0" marL="0">
              <a:buNone/>
            </a:pPr>
            <a:r>
              <a:rPr lang="en-US" sz="1800" dirty="0">
                <a:solidFill>
                  <a:srgbClr val="12213A"/>
                </a:solidFill>
                <a:latin typeface="Calibri" pitchFamily="34" charset="0"/>
                <a:ea typeface="Calibri" pitchFamily="34" charset="-122"/>
                <a:cs typeface="Calibri" pitchFamily="34" charset="-120"/>
              </a:rPr>
              <a:t>+50 bonus. Or press Skip warm-up.</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sp>
      <p:sp>
        <p:nvSpPr>
          <p:cNvPr id="23" name="Text 20"/>
          <p:cNvSpPr txBox="1"/>
          <p:nvPr/>
        </p:nvSpPr>
        <p:spPr>
          <a:xfrm>
            <a:off x="822960" y="5440680"/>
            <a:ext cx="4754880" cy="548640"/>
          </a:xfrm>
          <a:prstGeom prst="rect">
            <a:avLst/>
          </a:prstGeom>
          <a:noFill/>
          <a:ln/>
        </p:spPr>
        <p:txBody>
          <a:bodyPr wrap="square" lIns="0" tIns="0" rIns="0" bIns="0" rtlCol="0" anchor="ctr"/>
          <a:lstStyle/>
          <a:p>
            <a:pPr indent="0" marL="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sx="100000" sy="100000" kx="0" ky="0" algn="bl" rotWithShape="0" blurRad="127000" dist="38100" dir="5400000">
              <a:srgbClr val="12213A">
                <a:alpha val="22000"/>
              </a:srgbClr>
            </a:outerShdw>
          </a:effectLst>
        </p:spPr>
      </p:sp>
      <p:sp>
        <p:nvSpPr>
          <p:cNvPr id="25" name="Shape 22"/>
          <p:cNvSpPr/>
          <p:nvPr/>
        </p:nvSpPr>
        <p:spPr>
          <a:xfrm>
            <a:off x="6327648" y="1618488"/>
            <a:ext cx="118872" cy="118872"/>
          </a:xfrm>
          <a:prstGeom prst="ellipse">
            <a:avLst/>
          </a:prstGeom>
          <a:solidFill>
            <a:srgbClr val="E5534B"/>
          </a:solidFill>
          <a:ln/>
        </p:spPr>
      </p:sp>
      <p:sp>
        <p:nvSpPr>
          <p:cNvPr id="26" name="Shape 23"/>
          <p:cNvSpPr/>
          <p:nvPr/>
        </p:nvSpPr>
        <p:spPr>
          <a:xfrm>
            <a:off x="6528816" y="1618488"/>
            <a:ext cx="118872" cy="118872"/>
          </a:xfrm>
          <a:prstGeom prst="ellipse">
            <a:avLst/>
          </a:prstGeom>
          <a:solidFill>
            <a:srgbClr val="F5A623"/>
          </a:solidFill>
          <a:ln/>
        </p:spPr>
      </p:sp>
      <p:sp>
        <p:nvSpPr>
          <p:cNvPr id="27" name="Shape 24"/>
          <p:cNvSpPr/>
          <p:nvPr/>
        </p:nvSpPr>
        <p:spPr>
          <a:xfrm>
            <a:off x="6729984" y="1618488"/>
            <a:ext cx="118872" cy="118872"/>
          </a:xfrm>
          <a:prstGeom prst="ellipse">
            <a:avLst/>
          </a:prstGeom>
          <a:solidFill>
            <a:srgbClr val="46D39A"/>
          </a:solidFill>
          <a:ln/>
        </p:spPr>
      </p:sp>
      <p:sp>
        <p:nvSpPr>
          <p:cNvPr id="28" name="Text 25"/>
          <p:cNvSpPr txBox="1"/>
          <p:nvPr/>
        </p:nvSpPr>
        <p:spPr>
          <a:xfrm>
            <a:off x="7040880" y="1536192"/>
            <a:ext cx="36850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cat orientation.txt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CTF Orientation</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Your crypto toolkit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base64  xxd  tr  sha256sum</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caesar  morse  xor  vigenere  hashlines</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Every one explains itself:  caesar --help</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Warm-up flag:</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CYBA{warmup-...}</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submit CYBA{warmup-...}</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Correct! +50 points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sp>
      <p:sp>
        <p:nvSpPr>
          <p:cNvPr id="7" name="Text 4"/>
          <p:cNvSpPr txBox="1"/>
          <p:nvPr/>
        </p:nvSpPr>
        <p:spPr>
          <a:xfrm>
            <a:off x="914400" y="1737360"/>
            <a:ext cx="3657600" cy="457200"/>
          </a:xfrm>
          <a:prstGeom prst="rect">
            <a:avLst/>
          </a:prstGeom>
          <a:noFill/>
          <a:ln/>
        </p:spPr>
        <p:txBody>
          <a:bodyPr wrap="square" lIns="0" tIns="0" rIns="0" bIns="0" rtlCol="0" anchor="ctr"/>
          <a:lstStyle/>
          <a:p>
            <a:pPr indent="0" marL="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algn="r" indent="0" marL="0">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sp>
      <p:sp>
        <p:nvSpPr>
          <p:cNvPr id="12" name="Text 9"/>
          <p:cNvSpPr txBox="1"/>
          <p:nvPr/>
        </p:nvSpPr>
        <p:spPr>
          <a:xfrm>
            <a:off x="6556248" y="1737360"/>
            <a:ext cx="3657600" cy="457200"/>
          </a:xfrm>
          <a:prstGeom prst="rect">
            <a:avLst/>
          </a:prstGeom>
          <a:noFill/>
          <a:ln/>
        </p:spPr>
        <p:txBody>
          <a:bodyPr wrap="square" lIns="0" tIns="0" rIns="0" bIns="0" rtlCol="0" anchor="ctr"/>
          <a:lstStyle/>
          <a:p>
            <a:pPr indent="0" marL="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The race. Teams crack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algn="r" indent="0" marL="0">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sp>
      <p:sp>
        <p:nvSpPr>
          <p:cNvPr id="17" name="Text 14"/>
          <p:cNvSpPr txBox="1"/>
          <p:nvPr/>
        </p:nvSpPr>
        <p:spPr>
          <a:xfrm>
            <a:off x="731520" y="4846320"/>
            <a:ext cx="1828800" cy="411480"/>
          </a:xfrm>
          <a:prstGeom prst="rect">
            <a:avLst/>
          </a:prstGeom>
          <a:noFill/>
          <a:ln/>
        </p:spPr>
        <p:txBody>
          <a:bodyPr wrap="square" lIns="0" tIns="0" rIns="0" bIns="0" rtlCol="0" anchor="t"/>
          <a:lstStyle/>
          <a:p>
            <a:pPr indent="0" marL="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sp>
      <p:sp>
        <p:nvSpPr>
          <p:cNvPr id="20" name="Text 17"/>
          <p:cNvSpPr txBox="1"/>
          <p:nvPr/>
        </p:nvSpPr>
        <p:spPr>
          <a:xfrm>
            <a:off x="2999232" y="4846320"/>
            <a:ext cx="1828800" cy="411480"/>
          </a:xfrm>
          <a:prstGeom prst="rect">
            <a:avLst/>
          </a:prstGeom>
          <a:noFill/>
          <a:ln/>
        </p:spPr>
        <p:txBody>
          <a:bodyPr wrap="square" lIns="0" tIns="0" rIns="0" bIns="0" rtlCol="0" anchor="t"/>
          <a:lstStyle/>
          <a:p>
            <a:pPr indent="0" marL="0">
              <a:buNone/>
            </a:pPr>
            <a:r>
              <a:rPr lang="en-US" sz="1900" b="1" dirty="0">
                <a:solidFill>
                  <a:srgbClr val="2A9FD6"/>
                </a:solidFill>
                <a:latin typeface="Arial" pitchFamily="34" charset="0"/>
                <a:ea typeface="Arial" pitchFamily="34" charset="-122"/>
                <a:cs typeface="Arial" pitchFamily="34" charset="-120"/>
              </a:rPr>
              <a:t>Identify</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what kind of code</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sp>
      <p:sp>
        <p:nvSpPr>
          <p:cNvPr id="23" name="Text 20"/>
          <p:cNvSpPr txBox="1"/>
          <p:nvPr/>
        </p:nvSpPr>
        <p:spPr>
          <a:xfrm>
            <a:off x="5266944" y="4846320"/>
            <a:ext cx="1828800" cy="411480"/>
          </a:xfrm>
          <a:prstGeom prst="rect">
            <a:avLst/>
          </a:prstGeom>
          <a:noFill/>
          <a:ln/>
        </p:spPr>
        <p:txBody>
          <a:bodyPr wrap="square" lIns="0" tIns="0" rIns="0" bIns="0" rtlCol="0" anchor="t"/>
          <a:lstStyle/>
          <a:p>
            <a:pPr indent="0" marL="0">
              <a:buNone/>
            </a:pPr>
            <a:r>
              <a:rPr lang="en-US" sz="1900" b="1" dirty="0">
                <a:solidFill>
                  <a:srgbClr val="2459D8"/>
                </a:solidFill>
                <a:latin typeface="Arial" pitchFamily="34" charset="0"/>
                <a:ea typeface="Arial" pitchFamily="34" charset="-122"/>
                <a:cs typeface="Arial" pitchFamily="34" charset="-120"/>
              </a:rPr>
              <a:t>Predict</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sp>
      <p:sp>
        <p:nvSpPr>
          <p:cNvPr id="26" name="Text 23"/>
          <p:cNvSpPr txBox="1"/>
          <p:nvPr/>
        </p:nvSpPr>
        <p:spPr>
          <a:xfrm>
            <a:off x="7534656" y="4846320"/>
            <a:ext cx="1828800" cy="411480"/>
          </a:xfrm>
          <a:prstGeom prst="rect">
            <a:avLst/>
          </a:prstGeom>
          <a:noFill/>
          <a:ln/>
        </p:spPr>
        <p:txBody>
          <a:bodyPr wrap="square" lIns="0" tIns="0" rIns="0" bIns="0" rtlCol="0" anchor="t"/>
          <a:lstStyle/>
          <a:p>
            <a:pPr indent="0" marL="0">
              <a:buNone/>
            </a:pPr>
            <a:r>
              <a:rPr lang="en-US" sz="1900" b="1" dirty="0">
                <a:solidFill>
                  <a:srgbClr val="7448D4"/>
                </a:solidFill>
                <a:latin typeface="Arial" pitchFamily="34" charset="0"/>
                <a:ea typeface="Arial" pitchFamily="34" charset="-122"/>
                <a:cs typeface="Arial" pitchFamily="34" charset="-120"/>
              </a:rPr>
              <a:t>Crack</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one step at a time</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sp>
      <p:sp>
        <p:nvSpPr>
          <p:cNvPr id="29" name="Text 26"/>
          <p:cNvSpPr txBox="1"/>
          <p:nvPr/>
        </p:nvSpPr>
        <p:spPr>
          <a:xfrm>
            <a:off x="9802368" y="4846320"/>
            <a:ext cx="1828800" cy="411480"/>
          </a:xfrm>
          <a:prstGeom prst="rect">
            <a:avLst/>
          </a:prstGeom>
          <a:noFill/>
          <a:ln/>
        </p:spPr>
        <p:txBody>
          <a:bodyPr wrap="square" lIns="0" tIns="0" rIns="0" bIns="0" rtlCol="0" anchor="t"/>
          <a:lstStyle/>
          <a:p>
            <a:pPr indent="0" marL="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trail: ten ciphers,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sp>
      <p:sp>
        <p:nvSpPr>
          <p:cNvPr id="7" name="Shape 4"/>
          <p:cNvSpPr/>
          <p:nvPr/>
        </p:nvSpPr>
        <p:spPr>
          <a:xfrm>
            <a:off x="548640" y="1463040"/>
            <a:ext cx="2103120" cy="91440"/>
          </a:xfrm>
          <a:prstGeom prst="rect">
            <a:avLst/>
          </a:prstGeom>
          <a:solidFill>
            <a:srgbClr val="17875A"/>
          </a:solidFill>
          <a:ln/>
        </p:spPr>
      </p:sp>
      <p:sp>
        <p:nvSpPr>
          <p:cNvPr id="8" name="Shape 5"/>
          <p:cNvSpPr/>
          <p:nvPr/>
        </p:nvSpPr>
        <p:spPr>
          <a:xfrm>
            <a:off x="713232" y="1719072"/>
            <a:ext cx="502920" cy="502920"/>
          </a:xfrm>
          <a:prstGeom prst="ellipse">
            <a:avLst/>
          </a:prstGeom>
          <a:solidFill>
            <a:srgbClr val="17875A"/>
          </a:solidFill>
          <a:ln/>
        </p:spPr>
      </p:sp>
      <p:sp>
        <p:nvSpPr>
          <p:cNvPr id="9" name="Text 6"/>
          <p:cNvSpPr txBox="1"/>
          <p:nvPr/>
        </p:nvSpPr>
        <p:spPr>
          <a:xfrm>
            <a:off x="71323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Not so secret</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sp>
      <p:sp>
        <p:nvSpPr>
          <p:cNvPr id="13" name="Text 10"/>
          <p:cNvSpPr txBox="1"/>
          <p:nvPr/>
        </p:nvSpPr>
        <p:spPr>
          <a:xfrm>
            <a:off x="71323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cat  base64 -d</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sp>
      <p:sp>
        <p:nvSpPr>
          <p:cNvPr id="16" name="Shape 13"/>
          <p:cNvSpPr/>
          <p:nvPr/>
        </p:nvSpPr>
        <p:spPr>
          <a:xfrm>
            <a:off x="2788920" y="1463040"/>
            <a:ext cx="2103120" cy="91440"/>
          </a:xfrm>
          <a:prstGeom prst="rect">
            <a:avLst/>
          </a:prstGeom>
          <a:solidFill>
            <a:srgbClr val="2A9FD6"/>
          </a:solidFill>
          <a:ln/>
        </p:spPr>
      </p:sp>
      <p:sp>
        <p:nvSpPr>
          <p:cNvPr id="17" name="Shape 14"/>
          <p:cNvSpPr/>
          <p:nvPr/>
        </p:nvSpPr>
        <p:spPr>
          <a:xfrm>
            <a:off x="2953512" y="1719072"/>
            <a:ext cx="502920" cy="502920"/>
          </a:xfrm>
          <a:prstGeom prst="ellipse">
            <a:avLst/>
          </a:prstGeom>
          <a:solidFill>
            <a:srgbClr val="2A9FD6"/>
          </a:solidFill>
          <a:ln/>
        </p:spPr>
      </p:sp>
      <p:sp>
        <p:nvSpPr>
          <p:cNvPr id="18" name="Text 15"/>
          <p:cNvSpPr txBox="1"/>
          <p:nvPr/>
        </p:nvSpPr>
        <p:spPr>
          <a:xfrm>
            <a:off x="295351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Hex marks the spot</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sp>
      <p:sp>
        <p:nvSpPr>
          <p:cNvPr id="22" name="Text 19"/>
          <p:cNvSpPr txBox="1"/>
          <p:nvPr/>
        </p:nvSpPr>
        <p:spPr>
          <a:xfrm>
            <a:off x="295351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xxd -r -p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sp>
      <p:sp>
        <p:nvSpPr>
          <p:cNvPr id="25" name="Shape 22"/>
          <p:cNvSpPr/>
          <p:nvPr/>
        </p:nvSpPr>
        <p:spPr>
          <a:xfrm>
            <a:off x="5029200" y="1463040"/>
            <a:ext cx="2103120" cy="91440"/>
          </a:xfrm>
          <a:prstGeom prst="rect">
            <a:avLst/>
          </a:prstGeom>
          <a:solidFill>
            <a:srgbClr val="2459D8"/>
          </a:solidFill>
          <a:ln/>
        </p:spPr>
      </p:sp>
      <p:sp>
        <p:nvSpPr>
          <p:cNvPr id="26" name="Shape 23"/>
          <p:cNvSpPr/>
          <p:nvPr/>
        </p:nvSpPr>
        <p:spPr>
          <a:xfrm>
            <a:off x="5193792" y="1719072"/>
            <a:ext cx="502920" cy="502920"/>
          </a:xfrm>
          <a:prstGeom prst="ellipse">
            <a:avLst/>
          </a:prstGeom>
          <a:solidFill>
            <a:srgbClr val="2459D8"/>
          </a:solidFill>
          <a:ln/>
        </p:spPr>
      </p:sp>
      <p:sp>
        <p:nvSpPr>
          <p:cNvPr id="27" name="Text 24"/>
          <p:cNvSpPr txBox="1"/>
          <p:nvPr/>
        </p:nvSpPr>
        <p:spPr>
          <a:xfrm>
            <a:off x="519379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Thirteen steps</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sp>
      <p:sp>
        <p:nvSpPr>
          <p:cNvPr id="31" name="Text 28"/>
          <p:cNvSpPr txBox="1"/>
          <p:nvPr/>
        </p:nvSpPr>
        <p:spPr>
          <a:xfrm>
            <a:off x="519379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tr  &lt;</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sp>
      <p:sp>
        <p:nvSpPr>
          <p:cNvPr id="34" name="Shape 31"/>
          <p:cNvSpPr/>
          <p:nvPr/>
        </p:nvSpPr>
        <p:spPr>
          <a:xfrm>
            <a:off x="7269480" y="1463040"/>
            <a:ext cx="2103120" cy="91440"/>
          </a:xfrm>
          <a:prstGeom prst="rect">
            <a:avLst/>
          </a:prstGeom>
          <a:solidFill>
            <a:srgbClr val="7448D4"/>
          </a:solidFill>
          <a:ln/>
        </p:spPr>
      </p:sp>
      <p:sp>
        <p:nvSpPr>
          <p:cNvPr id="35" name="Shape 32"/>
          <p:cNvSpPr/>
          <p:nvPr/>
        </p:nvSpPr>
        <p:spPr>
          <a:xfrm>
            <a:off x="7434072" y="1719072"/>
            <a:ext cx="502920" cy="502920"/>
          </a:xfrm>
          <a:prstGeom prst="ellipse">
            <a:avLst/>
          </a:prstGeom>
          <a:solidFill>
            <a:srgbClr val="7448D4"/>
          </a:solidFill>
          <a:ln/>
        </p:spPr>
      </p:sp>
      <p:sp>
        <p:nvSpPr>
          <p:cNvPr id="36" name="Text 33"/>
          <p:cNvSpPr txBox="1"/>
          <p:nvPr/>
        </p:nvSpPr>
        <p:spPr>
          <a:xfrm>
            <a:off x="743407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Hail Caesar</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sp>
      <p:sp>
        <p:nvSpPr>
          <p:cNvPr id="40" name="Text 37"/>
          <p:cNvSpPr txBox="1"/>
          <p:nvPr/>
        </p:nvSpPr>
        <p:spPr>
          <a:xfrm>
            <a:off x="743407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caesar all  |  grep</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sp>
      <p:sp>
        <p:nvSpPr>
          <p:cNvPr id="43" name="Shape 40"/>
          <p:cNvSpPr/>
          <p:nvPr/>
        </p:nvSpPr>
        <p:spPr>
          <a:xfrm>
            <a:off x="9509760" y="1463040"/>
            <a:ext cx="2103120" cy="91440"/>
          </a:xfrm>
          <a:prstGeom prst="rect">
            <a:avLst/>
          </a:prstGeom>
          <a:solidFill>
            <a:srgbClr val="D1416B"/>
          </a:solidFill>
          <a:ln/>
        </p:spPr>
      </p:sp>
      <p:sp>
        <p:nvSpPr>
          <p:cNvPr id="44" name="Shape 41"/>
          <p:cNvSpPr/>
          <p:nvPr/>
        </p:nvSpPr>
        <p:spPr>
          <a:xfrm>
            <a:off x="9674352" y="1719072"/>
            <a:ext cx="502920" cy="502920"/>
          </a:xfrm>
          <a:prstGeom prst="ellipse">
            <a:avLst/>
          </a:prstGeom>
          <a:solidFill>
            <a:srgbClr val="D1416B"/>
          </a:solidFill>
          <a:ln/>
        </p:spPr>
      </p:sp>
      <p:sp>
        <p:nvSpPr>
          <p:cNvPr id="45" name="Text 42"/>
          <p:cNvSpPr txBox="1"/>
          <p:nvPr/>
        </p:nvSpPr>
        <p:spPr>
          <a:xfrm>
            <a:off x="967435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Mirror, mirror</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sp>
      <p:sp>
        <p:nvSpPr>
          <p:cNvPr id="49" name="Text 46"/>
          <p:cNvSpPr txBox="1"/>
          <p:nvPr/>
        </p:nvSpPr>
        <p:spPr>
          <a:xfrm>
            <a:off x="967435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tr (reversed alphabet)</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sp>
      <p:sp>
        <p:nvSpPr>
          <p:cNvPr id="52" name="Shape 49"/>
          <p:cNvSpPr/>
          <p:nvPr/>
        </p:nvSpPr>
        <p:spPr>
          <a:xfrm>
            <a:off x="548640" y="3703320"/>
            <a:ext cx="2103120" cy="91440"/>
          </a:xfrm>
          <a:prstGeom prst="rect">
            <a:avLst/>
          </a:prstGeom>
          <a:solidFill>
            <a:srgbClr val="E8820C"/>
          </a:solidFill>
          <a:ln/>
        </p:spPr>
      </p:sp>
      <p:sp>
        <p:nvSpPr>
          <p:cNvPr id="53" name="Shape 50"/>
          <p:cNvSpPr/>
          <p:nvPr/>
        </p:nvSpPr>
        <p:spPr>
          <a:xfrm>
            <a:off x="713232" y="3959352"/>
            <a:ext cx="502920" cy="502920"/>
          </a:xfrm>
          <a:prstGeom prst="ellipse">
            <a:avLst/>
          </a:prstGeom>
          <a:solidFill>
            <a:srgbClr val="E8820C"/>
          </a:solidFill>
          <a:ln/>
        </p:spPr>
      </p:sp>
      <p:sp>
        <p:nvSpPr>
          <p:cNvPr id="54" name="Text 51"/>
          <p:cNvSpPr txBox="1"/>
          <p:nvPr/>
        </p:nvSpPr>
        <p:spPr>
          <a:xfrm>
            <a:off x="71323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Dots and dashes</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sp>
      <p:sp>
        <p:nvSpPr>
          <p:cNvPr id="58" name="Text 55"/>
          <p:cNvSpPr txBox="1"/>
          <p:nvPr/>
        </p:nvSpPr>
        <p:spPr>
          <a:xfrm>
            <a:off x="71323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morse</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sp>
      <p:sp>
        <p:nvSpPr>
          <p:cNvPr id="61" name="Shape 58"/>
          <p:cNvSpPr/>
          <p:nvPr/>
        </p:nvSpPr>
        <p:spPr>
          <a:xfrm>
            <a:off x="2788920" y="3703320"/>
            <a:ext cx="2103120" cy="91440"/>
          </a:xfrm>
          <a:prstGeom prst="rect">
            <a:avLst/>
          </a:prstGeom>
          <a:solidFill>
            <a:srgbClr val="C9A227"/>
          </a:solidFill>
          <a:ln/>
        </p:spPr>
      </p:sp>
      <p:sp>
        <p:nvSpPr>
          <p:cNvPr id="62" name="Shape 59"/>
          <p:cNvSpPr/>
          <p:nvPr/>
        </p:nvSpPr>
        <p:spPr>
          <a:xfrm>
            <a:off x="2953512" y="3959352"/>
            <a:ext cx="502920" cy="502920"/>
          </a:xfrm>
          <a:prstGeom prst="ellipse">
            <a:avLst/>
          </a:prstGeom>
          <a:solidFill>
            <a:srgbClr val="C9A227"/>
          </a:solidFill>
          <a:ln/>
        </p:spPr>
      </p:sp>
      <p:sp>
        <p:nvSpPr>
          <p:cNvPr id="63" name="Text 60"/>
          <p:cNvSpPr txBox="1"/>
          <p:nvPr/>
        </p:nvSpPr>
        <p:spPr>
          <a:xfrm>
            <a:off x="295351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Fingerprints</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sp>
      <p:sp>
        <p:nvSpPr>
          <p:cNvPr id="67" name="Text 64"/>
          <p:cNvSpPr txBox="1"/>
          <p:nvPr/>
        </p:nvSpPr>
        <p:spPr>
          <a:xfrm>
            <a:off x="295351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hashlines  |  grep</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sp>
      <p:sp>
        <p:nvSpPr>
          <p:cNvPr id="70" name="Shape 67"/>
          <p:cNvSpPr/>
          <p:nvPr/>
        </p:nvSpPr>
        <p:spPr>
          <a:xfrm>
            <a:off x="5029200" y="3703320"/>
            <a:ext cx="2103120" cy="91440"/>
          </a:xfrm>
          <a:prstGeom prst="rect">
            <a:avLst/>
          </a:prstGeom>
          <a:solidFill>
            <a:srgbClr val="0F9488"/>
          </a:solidFill>
          <a:ln/>
        </p:spPr>
      </p:sp>
      <p:sp>
        <p:nvSpPr>
          <p:cNvPr id="71" name="Shape 68"/>
          <p:cNvSpPr/>
          <p:nvPr/>
        </p:nvSpPr>
        <p:spPr>
          <a:xfrm>
            <a:off x="5193792" y="3959352"/>
            <a:ext cx="502920" cy="502920"/>
          </a:xfrm>
          <a:prstGeom prst="ellipse">
            <a:avLst/>
          </a:prstGeom>
          <a:solidFill>
            <a:srgbClr val="0F9488"/>
          </a:solidFill>
          <a:ln/>
        </p:spPr>
      </p:sp>
      <p:sp>
        <p:nvSpPr>
          <p:cNvPr id="72" name="Text 69"/>
          <p:cNvSpPr txBox="1"/>
          <p:nvPr/>
        </p:nvSpPr>
        <p:spPr>
          <a:xfrm>
            <a:off x="519379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XOR marks</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sp>
      <p:sp>
        <p:nvSpPr>
          <p:cNvPr id="76" name="Text 73"/>
          <p:cNvSpPr txBox="1"/>
          <p:nvPr/>
        </p:nvSpPr>
        <p:spPr>
          <a:xfrm>
            <a:off x="519379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xor all  |  grep</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sp>
      <p:sp>
        <p:nvSpPr>
          <p:cNvPr id="79" name="Shape 76"/>
          <p:cNvSpPr/>
          <p:nvPr/>
        </p:nvSpPr>
        <p:spPr>
          <a:xfrm>
            <a:off x="7269480" y="3703320"/>
            <a:ext cx="2103120" cy="91440"/>
          </a:xfrm>
          <a:prstGeom prst="rect">
            <a:avLst/>
          </a:prstGeom>
          <a:solidFill>
            <a:srgbClr val="5B6EE1"/>
          </a:solidFill>
          <a:ln/>
        </p:spPr>
      </p:sp>
      <p:sp>
        <p:nvSpPr>
          <p:cNvPr id="80" name="Shape 77"/>
          <p:cNvSpPr/>
          <p:nvPr/>
        </p:nvSpPr>
        <p:spPr>
          <a:xfrm>
            <a:off x="7434072" y="3959352"/>
            <a:ext cx="502920" cy="502920"/>
          </a:xfrm>
          <a:prstGeom prst="ellipse">
            <a:avLst/>
          </a:prstGeom>
          <a:solidFill>
            <a:srgbClr val="5B6EE1"/>
          </a:solidFill>
          <a:ln/>
        </p:spPr>
      </p:sp>
      <p:sp>
        <p:nvSpPr>
          <p:cNvPr id="81" name="Text 78"/>
          <p:cNvSpPr txBox="1"/>
          <p:nvPr/>
        </p:nvSpPr>
        <p:spPr>
          <a:xfrm>
            <a:off x="743407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Keyed up</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sp>
      <p:sp>
        <p:nvSpPr>
          <p:cNvPr id="85" name="Text 82"/>
          <p:cNvSpPr txBox="1"/>
          <p:nvPr/>
        </p:nvSpPr>
        <p:spPr>
          <a:xfrm>
            <a:off x="743407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tr  then  vigenere -d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sp>
      <p:sp>
        <p:nvSpPr>
          <p:cNvPr id="88" name="Shape 85"/>
          <p:cNvSpPr/>
          <p:nvPr/>
        </p:nvSpPr>
        <p:spPr>
          <a:xfrm>
            <a:off x="9509760" y="3703320"/>
            <a:ext cx="2103120" cy="91440"/>
          </a:xfrm>
          <a:prstGeom prst="rect">
            <a:avLst/>
          </a:prstGeom>
          <a:solidFill>
            <a:srgbClr val="B4233F"/>
          </a:solidFill>
          <a:ln/>
        </p:spPr>
      </p:sp>
      <p:sp>
        <p:nvSpPr>
          <p:cNvPr id="89" name="Shape 86"/>
          <p:cNvSpPr/>
          <p:nvPr/>
        </p:nvSpPr>
        <p:spPr>
          <a:xfrm>
            <a:off x="9674352" y="3959352"/>
            <a:ext cx="502920" cy="502920"/>
          </a:xfrm>
          <a:prstGeom prst="ellipse">
            <a:avLst/>
          </a:prstGeom>
          <a:solidFill>
            <a:srgbClr val="B4233F"/>
          </a:solidFill>
          <a:ln/>
        </p:spPr>
      </p:sp>
      <p:sp>
        <p:nvSpPr>
          <p:cNvPr id="90" name="Text 87"/>
          <p:cNvSpPr txBox="1"/>
          <p:nvPr/>
        </p:nvSpPr>
        <p:spPr>
          <a:xfrm>
            <a:off x="967435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The vault</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sp>
      <p:sp>
        <p:nvSpPr>
          <p:cNvPr id="94" name="Text 91"/>
          <p:cNvSpPr txBox="1"/>
          <p:nvPr/>
        </p:nvSpPr>
        <p:spPr>
          <a:xfrm>
            <a:off x="9674352" y="5093208"/>
            <a:ext cx="1783080" cy="347472"/>
          </a:xfrm>
          <a:prstGeom prst="rect">
            <a:avLst/>
          </a:prstGeom>
          <a:noFill/>
          <a:ln/>
        </p:spPr>
        <p:txBody>
          <a:bodyPr wrap="square" lIns="0" tIns="0" rIns="0" bIns="0" rtlCol="0" anchor="ctr"/>
          <a:lstStyle/>
          <a:p>
            <a:pPr algn="ctr" indent="0" marL="0">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normAutofit/>
          </a:bodyPr>
          <a:lstStyle/>
          <a:p>
            <a:pPr indent="0" marL="0">
              <a:buNone/>
            </a:pPr>
            <a:r>
              <a:rPr lang="en-US" sz="1000" dirty="0">
                <a:solidFill>
                  <a:srgbClr val="56657E"/>
                </a:solidFill>
                <a:latin typeface="Courier New" pitchFamily="34" charset="0"/>
                <a:ea typeface="Courier New" pitchFamily="34" charset="-122"/>
                <a:cs typeface="Courier New" pitchFamily="34" charset="-120"/>
              </a:rPr>
              <a:t>hashlines · base64 · vigenere</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Plus Mission 0, the warm-up: optional, untimed, +50 bonus.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sp>
      <p:sp>
        <p:nvSpPr>
          <p:cNvPr id="10" name="Text 7"/>
          <p:cNvSpPr txBox="1"/>
          <p:nvPr/>
        </p:nvSpPr>
        <p:spPr>
          <a:xfrm>
            <a:off x="676656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Not so secret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 message that looks scrambled, but there is no key anywhere. It is only encoded. Turn it back into plain text.</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~/mission1/message.b64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cat  base64 -d</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Letters, digits, + and /, with = at the end. What does that pattern tell us?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Does decoding need a key?</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command explains its own options?</a:t>
            </a:r>
            <a:endParaRPr lang="en-US" sz="1500" dirty="0"/>
          </a:p>
        </p:txBody>
      </p:sp>
      <p:sp>
        <p:nvSpPr>
          <p:cNvPr id="41" name="Shape 38"/>
          <p:cNvSpPr/>
          <p:nvPr/>
        </p:nvSpPr>
        <p:spPr>
          <a:xfrm>
            <a:off x="7269480" y="4892040"/>
            <a:ext cx="4370832" cy="1051560"/>
          </a:xfrm>
          <a:prstGeom prst="roundRect">
            <a:avLst>
              <a:gd name="adj" fmla="val 8696"/>
            </a:avLst>
          </a:prstGeom>
          <a:solidFill>
            <a:srgbClr val="2459D8"/>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sp>
      <p:sp>
        <p:nvSpPr>
          <p:cNvPr id="12" name="Text 9"/>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Not so secret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~/mission1</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cat message.b64</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RW5jb2RpbmcgaXMgbm90IGVuY3J5cHRpb24uIEFu</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ZW9uZSBjYW4gZGVjb2RlIHRoaXMuCkZsYWc6IENZ...</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base64 -d message.b64</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Encoding is not encryption. Anyone can decode this.</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CYBA{b64-...}</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submit CYBA{b64-...}</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Correct! +100 points</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showed base64: letters, digits, + / and a trailing =.</a:t>
            </a:r>
            <a:endParaRPr lang="en-US" sz="1400" dirty="0"/>
          </a:p>
        </p:txBody>
      </p:sp>
      <p:sp>
        <p:nvSpPr>
          <p:cNvPr id="40" name="Shape 37"/>
          <p:cNvSpPr/>
          <p:nvPr/>
        </p:nvSpPr>
        <p:spPr>
          <a:xfrm>
            <a:off x="7543800" y="2980944"/>
            <a:ext cx="457200" cy="457200"/>
          </a:xfrm>
          <a:prstGeom prst="ellipse">
            <a:avLst/>
          </a:prstGeom>
          <a:solidFill>
            <a:srgbClr val="17875A"/>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base64 --help showed that -d decodes.</a:t>
            </a:r>
            <a:endParaRPr lang="en-US" sz="1400" dirty="0"/>
          </a:p>
        </p:txBody>
      </p:sp>
      <p:sp>
        <p:nvSpPr>
          <p:cNvPr id="43" name="Shape 40"/>
          <p:cNvSpPr/>
          <p:nvPr/>
        </p:nvSpPr>
        <p:spPr>
          <a:xfrm>
            <a:off x="7543800" y="3767328"/>
            <a:ext cx="457200" cy="457200"/>
          </a:xfrm>
          <a:prstGeom prst="ellipse">
            <a:avLst/>
          </a:prstGeom>
          <a:solidFill>
            <a:srgbClr val="17875A"/>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No key was needed. Encoding only hides data from people who don't look.</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Base64 is everywhere: email attachments, web tokens and data inside web pages.</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17875A"/>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Encode your own name with  echo NAME | base64. Why does it end in = sometimes?</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sp>
      <p:sp>
        <p:nvSpPr>
          <p:cNvPr id="12" name="Text 9"/>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Hex marks the spot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 long run of digits and the letters a to f. Every two characters are one byte. Turn the hex back into text.</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~/mission2/secret.hex</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xxd -r -p</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only 0–9 and a–f?</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many hex characters make one letter?</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two xxd options do we need, and what does each do?</a:t>
            </a:r>
            <a:endParaRPr lang="en-US" sz="1500" dirty="0"/>
          </a:p>
        </p:txBody>
      </p:sp>
      <p:sp>
        <p:nvSpPr>
          <p:cNvPr id="41" name="Shape 38"/>
          <p:cNvSpPr/>
          <p:nvPr/>
        </p:nvSpPr>
        <p:spPr>
          <a:xfrm>
            <a:off x="7269480" y="4892040"/>
            <a:ext cx="4370832" cy="1051560"/>
          </a:xfrm>
          <a:prstGeom prst="roundRect">
            <a:avLst>
              <a:gd name="adj" fmla="val 8696"/>
            </a:avLst>
          </a:prstGeom>
          <a:solidFill>
            <a:srgbClr val="2459D8"/>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sp>
      <p:sp>
        <p:nvSpPr>
          <p:cNvPr id="14" name="Text 11"/>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Hex marks the spot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~/mission2</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cat secret.hex</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486578206465636f646564212045766572792074776f</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2063686172616374657273207765726520...</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xxd -r -p secret.hex</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Hex decoded! Every two characters were one letter.</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CYBA{hex-...}</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submit CYBA{hex-...}</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Correct! +100 points</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Hex is base 16: digits 0–9, then a–f for 10 to 15.</a:t>
            </a:r>
            <a:endParaRPr lang="en-US" sz="1400" dirty="0"/>
          </a:p>
        </p:txBody>
      </p:sp>
      <p:sp>
        <p:nvSpPr>
          <p:cNvPr id="40" name="Shape 37"/>
          <p:cNvSpPr/>
          <p:nvPr/>
        </p:nvSpPr>
        <p:spPr>
          <a:xfrm>
            <a:off x="7543800" y="2980944"/>
            <a:ext cx="457200" cy="457200"/>
          </a:xfrm>
          <a:prstGeom prst="ellipse">
            <a:avLst/>
          </a:prstGeom>
          <a:solidFill>
            <a:srgbClr val="2A9FD6"/>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Two hex characters are one byte: 48 is H, 65 is e.</a:t>
            </a:r>
            <a:endParaRPr lang="en-US" sz="1400" dirty="0"/>
          </a:p>
        </p:txBody>
      </p:sp>
      <p:sp>
        <p:nvSpPr>
          <p:cNvPr id="43" name="Shape 40"/>
          <p:cNvSpPr/>
          <p:nvPr/>
        </p:nvSpPr>
        <p:spPr>
          <a:xfrm>
            <a:off x="7543800" y="3767328"/>
            <a:ext cx="457200" cy="457200"/>
          </a:xfrm>
          <a:prstGeom prst="ellipse">
            <a:avLst/>
          </a:prstGeom>
          <a:solidFill>
            <a:srgbClr val="2A9FD6"/>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xxd -r reverses hex into bytes; -p reads plain hex.</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Analysts read hex all day: network packets, malware and memory dumps.</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2A9FD6"/>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What is 41 in hex as a letter? Check with  echo 41 | xxd -r -p.</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sp>
      <p:sp>
        <p:nvSpPr>
          <p:cNvPr id="14" name="Text 11"/>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Thirteen steps</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The words look like words, but scrambled: every letter moved 13 places along the alphabet. Move them back.</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~/mission3/message.txt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tr  &lt;</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A becomes N, what does N become?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is ROT13 its own undo?</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do we feed a file into tr?</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sp>
      <p:sp>
        <p:nvSpPr>
          <p:cNvPr id="16" name="Text 13"/>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Thirteen steps</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~/mission3</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cat message.txt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EBG13 vf n sha chmmyr, abg erny frphevgl.</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Synt: PLON{ebg-...}</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tr 'A-Za-z' 'N-ZA-Mn-za-m' &lt; message.txt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ROT13 is a fun puzzle, not real security.</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CYBA{rot-...}</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submit CYBA{rot-...}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Correct! +100 points</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shape looked like a flag: Synt: PLON{...}. Letters moved, punctuation stayed.</a:t>
            </a:r>
            <a:endParaRPr lang="en-US" sz="1400" dirty="0"/>
          </a:p>
        </p:txBody>
      </p:sp>
      <p:sp>
        <p:nvSpPr>
          <p:cNvPr id="40" name="Shape 37"/>
          <p:cNvSpPr/>
          <p:nvPr/>
        </p:nvSpPr>
        <p:spPr>
          <a:xfrm>
            <a:off x="7543800" y="2980944"/>
            <a:ext cx="457200" cy="457200"/>
          </a:xfrm>
          <a:prstGeom prst="ellipse">
            <a:avLst/>
          </a:prstGeom>
          <a:solidFill>
            <a:srgbClr val="2459D8"/>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tr swapped every letter for the one 13 places on.</a:t>
            </a:r>
            <a:endParaRPr lang="en-US" sz="1400" dirty="0"/>
          </a:p>
        </p:txBody>
      </p:sp>
      <p:sp>
        <p:nvSpPr>
          <p:cNvPr id="43" name="Shape 40"/>
          <p:cNvSpPr/>
          <p:nvPr/>
        </p:nvSpPr>
        <p:spPr>
          <a:xfrm>
            <a:off x="7543800" y="3767328"/>
            <a:ext cx="457200" cy="457200"/>
          </a:xfrm>
          <a:prstGeom prst="ellipse">
            <a:avLst/>
          </a:prstGeom>
          <a:solidFill>
            <a:srgbClr val="2459D8"/>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&lt; fed the file into tr, which only reads input.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ROT13 hides spoilers and puzzle answers online. It was never meant as security.</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2459D8"/>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Run the tr command twice in a row with a pipe. What comes out?</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sp>
      <p:sp>
        <p:nvSpPr>
          <p:cNvPr id="16" name="Text 13"/>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Hail Caesar</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Every letter was shifted the same number of places, but nobody wrote down how far. There are only 25 shifts. Try them all.</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~/mission4/message.txt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caesar all  |  grep</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many possible keys does a Caesar cipher have?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will we spot the right shift among 25 lines?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tool keeps only the line we want?</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sp>
      <p:sp>
        <p:nvSpPr>
          <p:cNvPr id="18" name="Text 15"/>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Hail Caesar</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~/mission4</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message.txt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Clup, cpkp, cpjp. Fvb jyhjrlk Jhlzhy.</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Mshn: JFIH{jhlzhy-...}</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caesar all message.txt | head -3</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shift 1: Dmvq, dqlq, dqkq. Gwc kziksml Kimaiz.</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shift 2: Enwr, ermr, erlr. Hxd lajltnm Ljnbja.</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caesar all message.txt | grep CYBA</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shift 19: Flag: CYBA{caesar-...}</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caesar all printed every one of the 25 possible shifts.</a:t>
            </a:r>
            <a:endParaRPr lang="en-US" sz="1400" dirty="0"/>
          </a:p>
        </p:txBody>
      </p:sp>
      <p:sp>
        <p:nvSpPr>
          <p:cNvPr id="40" name="Shape 37"/>
          <p:cNvSpPr/>
          <p:nvPr/>
        </p:nvSpPr>
        <p:spPr>
          <a:xfrm>
            <a:off x="7543800" y="2980944"/>
            <a:ext cx="457200" cy="457200"/>
          </a:xfrm>
          <a:prstGeom prst="ellipse">
            <a:avLst/>
          </a:prstGeom>
          <a:solidFill>
            <a:srgbClr val="7448D4"/>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We knew the flag starts with CYBA, so grep found the right line.</a:t>
            </a:r>
            <a:endParaRPr lang="en-US" sz="1400" dirty="0"/>
          </a:p>
        </p:txBody>
      </p:sp>
      <p:sp>
        <p:nvSpPr>
          <p:cNvPr id="43" name="Shape 40"/>
          <p:cNvSpPr/>
          <p:nvPr/>
        </p:nvSpPr>
        <p:spPr>
          <a:xfrm>
            <a:off x="7543800" y="3767328"/>
            <a:ext cx="457200" cy="457200"/>
          </a:xfrm>
          <a:prstGeom prst="ellipse">
            <a:avLst/>
          </a:prstGeom>
          <a:solidFill>
            <a:srgbClr val="7448D4"/>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Trying every key is called brute force.</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Attackers brute-force any key space that is small enough. Defenders make key spaces huge.</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7448D4"/>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The shift changes every game. What shift did your message use? What shift undoes it?</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36</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sp>
      <p:sp>
        <p:nvSpPr>
          <p:cNvPr id="18" name="Text 15"/>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Mirror, mirror</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The oldest cipher in the deck: the alphabet is flipped. A is Z, B is Y, C is X. Hold up a mirror.</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~/mission5/mirror.txt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tr (reversed alphabet)</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does Z become under Atbash?</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Is there a key to guess?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tool from Mission 3 swaps one set of letters for another?</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sp>
      <p:sp>
        <p:nvSpPr>
          <p:cNvPr id="20" name="Text 17"/>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Mirror, mirror</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cd ~/mission5</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cat mirror.txt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Gsilfts gsv ollprmt tozhh.</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Uozt: XBYZ{nriili-...}</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tr 'A-Za-z' 'ZYXWVUTSRQPONMLKJIHGFEDCBA</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  zyxwvutsrqponmlkjihgfedcba' &lt; mirror.txt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Through the looking glass.</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CYBA{mirror-...}</a:t>
            </a:r>
            <a:endParaRPr lang="en-US" sz="13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Atbash maps each letter to its mirror: A↔Z, B↔Y.</a:t>
            </a:r>
            <a:endParaRPr lang="en-US" sz="1400" dirty="0"/>
          </a:p>
        </p:txBody>
      </p:sp>
      <p:sp>
        <p:nvSpPr>
          <p:cNvPr id="40" name="Shape 37"/>
          <p:cNvSpPr/>
          <p:nvPr/>
        </p:nvSpPr>
        <p:spPr>
          <a:xfrm>
            <a:off x="7543800" y="2980944"/>
            <a:ext cx="457200" cy="457200"/>
          </a:xfrm>
          <a:prstGeom prst="ellipse">
            <a:avLst/>
          </a:prstGeom>
          <a:solidFill>
            <a:srgbClr val="D1416B"/>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tr took the alphabet and the alphabet backwards.</a:t>
            </a:r>
            <a:endParaRPr lang="en-US" sz="1400" dirty="0"/>
          </a:p>
        </p:txBody>
      </p:sp>
      <p:sp>
        <p:nvSpPr>
          <p:cNvPr id="43" name="Shape 40"/>
          <p:cNvSpPr/>
          <p:nvPr/>
        </p:nvSpPr>
        <p:spPr>
          <a:xfrm>
            <a:off x="7543800" y="3767328"/>
            <a:ext cx="457200" cy="457200"/>
          </a:xfrm>
          <a:prstGeom prst="ellipse">
            <a:avLst/>
          </a:prstGeom>
          <a:solidFill>
            <a:srgbClr val="D1416B"/>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Like ROT13, doing it twice gets the original back.</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Atbash appears in ancient Hebrew texts. Today it is a classic first puzzle in CTFs.</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D1416B"/>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Which letters, if any, stay the same under Atbash? Under ROT13?</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sp>
      <p:sp>
        <p:nvSpPr>
          <p:cNvPr id="20" name="Text 17"/>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Dots and dashes</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 signal of short and long beeps. Decode it, then build the flag yourself: README.txt tells you how.</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~/mission6/signal.txt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morse</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do / and the spaces mean in Morse?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Morse has no { or }. How can it carry a flag?</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are this mission's flag rules written?</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sp>
      <p:sp>
        <p:nvSpPr>
          <p:cNvPr id="22" name="Text 19"/>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Dots and dashes</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Decode signal.txt. It spells out a code.</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The flag is CYBA{morse-CODE}, with the code in lowercase.</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signal.txt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 .... . / -.-. --- -.. . / .. ... / --... -... ...</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morse signal.txt</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THE CODE IS 7B0AB9BE</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submit CYBA{morse-7b0ab9be}</a:t>
            </a:r>
            <a:pPr indent="0" marL="0">
              <a:spcAft>
                <a:spcPts val="200"/>
              </a:spcAft>
              <a:buNone/>
            </a:pPr>
            <a:r>
              <a:rPr lang="en-US" sz="1200" dirty="0">
                <a:solidFill>
                  <a:srgbClr val="7F8FAD"/>
                </a:solidFill>
                <a:latin typeface="Courier New" pitchFamily="34" charset="0"/>
                <a:ea typeface="Courier New" pitchFamily="34" charset="-122"/>
                <a:cs typeface="Courier New" pitchFamily="34" charset="-120"/>
              </a:rPr>
              <a:t>   # yours differs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Morse turns letters into short (.) and long (-) signals.</a:t>
            </a:r>
            <a:endParaRPr lang="en-US" sz="1400" dirty="0"/>
          </a:p>
        </p:txBody>
      </p:sp>
      <p:sp>
        <p:nvSpPr>
          <p:cNvPr id="40" name="Shape 37"/>
          <p:cNvSpPr/>
          <p:nvPr/>
        </p:nvSpPr>
        <p:spPr>
          <a:xfrm>
            <a:off x="7543800" y="2980944"/>
            <a:ext cx="457200" cy="457200"/>
          </a:xfrm>
          <a:prstGeom prst="ellipse">
            <a:avLst/>
          </a:prstGeom>
          <a:solidFill>
            <a:srgbClr val="E8820C"/>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morse decoded it; the README said how to build the flag.</a:t>
            </a:r>
            <a:endParaRPr lang="en-US" sz="1400" dirty="0"/>
          </a:p>
        </p:txBody>
      </p:sp>
      <p:sp>
        <p:nvSpPr>
          <p:cNvPr id="43" name="Shape 40"/>
          <p:cNvSpPr/>
          <p:nvPr/>
        </p:nvSpPr>
        <p:spPr>
          <a:xfrm>
            <a:off x="7543800" y="3767328"/>
            <a:ext cx="457200" cy="457200"/>
          </a:xfrm>
          <a:prstGeom prst="ellipse">
            <a:avLst/>
          </a:prstGeom>
          <a:solidFill>
            <a:srgbClr val="E8820C"/>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Reading the instructions was half the mission.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Morse still runs on ham radio and aviation beacons. Reading the brief carefully is a CTF superpower.</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E8820C"/>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Encode SOS with  echo SOS | morse -e. Why was it chosen for emergencies?</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sp>
      <p:sp>
        <p:nvSpPr>
          <p:cNvPr id="22" name="Text 19"/>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Fingerprints</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One hundred possible flags. One of them has the fingerprint in target.sha256. You can't reverse a hash, but you can compare.</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~/mission7/candidates.txt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hashlines  |  grep</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Can we turn a hash back into text?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we hash every candidate, how do we find the match?</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few characters of the hash do we need to grep for?</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sp>
      <p:sp>
        <p:nvSpPr>
          <p:cNvPr id="24" name="Text 21"/>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Fingerprints</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target.sha256</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27662c13440b14e1cdd8fda516ef37fe1b2fb035...</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hashlines candidates.txt | head -2</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9c1f04e2...  CYBA{hash-1d03be55}</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e47a90b3...  CYBA{hash-80c2f1aa}</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hashlines candidates.txt | grep 27662c13</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27662c13440b14e1...  CYBA{hash-...}</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 hash is a fingerprint: same input, same hash, every time.</a:t>
            </a:r>
            <a:endParaRPr lang="en-US" sz="1400" dirty="0"/>
          </a:p>
        </p:txBody>
      </p:sp>
      <p:sp>
        <p:nvSpPr>
          <p:cNvPr id="40" name="Shape 37"/>
          <p:cNvSpPr/>
          <p:nvPr/>
        </p:nvSpPr>
        <p:spPr>
          <a:xfrm>
            <a:off x="7543800" y="2980944"/>
            <a:ext cx="457200" cy="457200"/>
          </a:xfrm>
          <a:prstGeom prst="ellipse">
            <a:avLst/>
          </a:prstGeom>
          <a:solidFill>
            <a:srgbClr val="C9A227"/>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hashlines fingerprinted all 100 candidates.</a:t>
            </a:r>
            <a:endParaRPr lang="en-US" sz="1400" dirty="0"/>
          </a:p>
        </p:txBody>
      </p:sp>
      <p:sp>
        <p:nvSpPr>
          <p:cNvPr id="43" name="Shape 40"/>
          <p:cNvSpPr/>
          <p:nvPr/>
        </p:nvSpPr>
        <p:spPr>
          <a:xfrm>
            <a:off x="7543800" y="3767328"/>
            <a:ext cx="457200" cy="457200"/>
          </a:xfrm>
          <a:prstGeom prst="ellipse">
            <a:avLst/>
          </a:prstGeom>
          <a:solidFill>
            <a:srgbClr val="C9A227"/>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grep found the one whose fingerprint matched the target.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This is exactly how password crackers attack leaked password hashes with wordlists.</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C9A227"/>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Hash 'hello' and 'Hello' with sha256sum. How much of the hash changes?</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sp>
      <p:sp>
        <p:nvSpPr>
          <p:cNvPr id="24" name="Text 21"/>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XOR marks</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Every byte was XORed with the same secret key byte: a number from 1 to 255. Same trick as Caesar, bigger key space.</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~/mission8/cipher.hex</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xor all  |  grep</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many keys does a single byte allow?</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Is 255 still small enough to try them all?</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text do we know will be in the answer?</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sp>
      <p:sp>
        <p:nvSpPr>
          <p:cNvPr id="26" name="Text 23"/>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XOR marks</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~/mission8</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cipher.hex</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15021f6d243e6d283b283f343a25283f286d2423</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6d202229283f236d2e3f343d3922...</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xor all cipher.hex | head -2</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key 1: ...l%?l):)&gt;5;$)&gt;)l%"l!#()&gt;"l/&gt;5&lt;8#+&gt;-&lt;$5...</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key 2: ...o&amp;&lt;o*9*=68'*=*o&amp;!o" +*=!o,=6?; (=.?'6...</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xor all cipher.hex | grep CYBA</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key 77: XOR is everywhere ...Flag: CYBA{xor-...}</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file was hex, so xor first turned it back into bytes.</a:t>
            </a:r>
            <a:endParaRPr lang="en-US" sz="1400" dirty="0"/>
          </a:p>
        </p:txBody>
      </p:sp>
      <p:sp>
        <p:nvSpPr>
          <p:cNvPr id="40" name="Shape 37"/>
          <p:cNvSpPr/>
          <p:nvPr/>
        </p:nvSpPr>
        <p:spPr>
          <a:xfrm>
            <a:off x="7543800" y="2980944"/>
            <a:ext cx="457200" cy="457200"/>
          </a:xfrm>
          <a:prstGeom prst="ellipse">
            <a:avLst/>
          </a:prstGeom>
          <a:solidFill>
            <a:srgbClr val="0F9488"/>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xor all tried all 255 keys, one line per key.</a:t>
            </a:r>
            <a:endParaRPr lang="en-US" sz="1400" dirty="0"/>
          </a:p>
        </p:txBody>
      </p:sp>
      <p:sp>
        <p:nvSpPr>
          <p:cNvPr id="43" name="Shape 40"/>
          <p:cNvSpPr/>
          <p:nvPr/>
        </p:nvSpPr>
        <p:spPr>
          <a:xfrm>
            <a:off x="7543800" y="3767328"/>
            <a:ext cx="457200" cy="457200"/>
          </a:xfrm>
          <a:prstGeom prst="ellipse">
            <a:avLst/>
          </a:prstGeom>
          <a:solidFill>
            <a:srgbClr val="0F9488"/>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grep CYBA picked the only key that produced readable text.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XOR is inside almost every modern cipher. Malware still hides strings with single-byte XOR.</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0F9488"/>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XOR twice with the same key: what do you get? Try  echo hi | xor -e 7 | xor 7.</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sp>
      <p:sp>
        <p:nvSpPr>
          <p:cNvPr id="26" name="Text 23"/>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Keyed up</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secret.txt uses Vigenère: a keyword sets a different shift for each letter. Too many keys to brute-force, but someone left a briefing behind.</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~/mission9/briefing.txt  secret.txt</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tr  then  vigenere -d</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won't caesar all work on Vigenère?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The briefing is scrambled with a cipher we already know. Which one?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does the Vigenère tool need besides the file?</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sp>
      <p:sp>
        <p:nvSpPr>
          <p:cNvPr id="28" name="Text 25"/>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Keyed up</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cat briefing.txt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OEVRSVAT: Gur xrljbeq vf UNEOBE. Gryy ab bar.</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tr 'A-Za-z' 'N-ZA-Mn-za-m' &lt; briefing.txt</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BRIEFING: The keyword is HARBOR. Tell no one.</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cat secret.txt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Cixfbvye bfdk ptj tstyekt tfy tyssv ...</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vigenere -d HARBOR secret.txt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Vigenere kept its secrets for three hundred years.</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CYBA{vig-...}</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briefing was ROT13 (Mission 3), so tr revealed the keyword.</a:t>
            </a:r>
            <a:endParaRPr lang="en-US" sz="1400" dirty="0"/>
          </a:p>
        </p:txBody>
      </p:sp>
      <p:sp>
        <p:nvSpPr>
          <p:cNvPr id="40" name="Shape 37"/>
          <p:cNvSpPr/>
          <p:nvPr/>
        </p:nvSpPr>
        <p:spPr>
          <a:xfrm>
            <a:off x="7543800" y="2980944"/>
            <a:ext cx="457200" cy="457200"/>
          </a:xfrm>
          <a:prstGeom prst="ellipse">
            <a:avLst/>
          </a:prstGeom>
          <a:solidFill>
            <a:srgbClr val="5B6EE1"/>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Vigenère shifts each letter by the matching keyword letter.</a:t>
            </a:r>
            <a:endParaRPr lang="en-US" sz="1400" dirty="0"/>
          </a:p>
        </p:txBody>
      </p:sp>
      <p:sp>
        <p:nvSpPr>
          <p:cNvPr id="43" name="Shape 40"/>
          <p:cNvSpPr/>
          <p:nvPr/>
        </p:nvSpPr>
        <p:spPr>
          <a:xfrm>
            <a:off x="7543800" y="3767328"/>
            <a:ext cx="457200" cy="457200"/>
          </a:xfrm>
          <a:prstGeom prst="ellipse">
            <a:avLst/>
          </a:prstGeom>
          <a:solidFill>
            <a:srgbClr val="5B6EE1"/>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vigenere -d with the keyword undid it.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Real attacks rarely break the cipher. They find the key: a sticky note, a leaked file, a reused password.</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5B6EE1"/>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Encrypt ATTACK with LEMON:  echo ATTACK | vigenere -e LEMON. Why do the two Ts differ?</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sp>
      <p:sp>
        <p:nvSpPr>
          <p:cNvPr id="6" name="Text 3"/>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sp>
      <p:sp>
        <p:nvSpPr>
          <p:cNvPr id="8" name="Text 5"/>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sp>
      <p:sp>
        <p:nvSpPr>
          <p:cNvPr id="28" name="Text 25"/>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The vault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31" name="Text 28"/>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Three skills in one. Crack the keyword's fingerprint against the wordlist, base64-decode the vault, then Vigenère-decrypt it.</a:t>
            </a:r>
            <a:endParaRPr lang="en-US" sz="21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~/mission10/words.txt  key.sha256  vault.b64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Tools: </a:t>
            </a:r>
            <a:pPr algn="ctr" indent="0" marL="0">
              <a:buNone/>
            </a:pPr>
            <a:r>
              <a:rPr lang="en-US" sz="1300" b="1" dirty="0">
                <a:solidFill>
                  <a:srgbClr val="12213A"/>
                </a:solidFill>
                <a:latin typeface="Courier New" pitchFamily="34" charset="0"/>
                <a:ea typeface="Courier New" pitchFamily="34" charset="-122"/>
                <a:cs typeface="Courier New" pitchFamily="34" charset="-120"/>
              </a:rPr>
              <a:t>hashlines · base64 · vigenere</a:t>
            </a:r>
            <a:endParaRPr lang="en-US" sz="1300" dirty="0"/>
          </a:p>
        </p:txBody>
      </p:sp>
      <p:sp>
        <p:nvSpPr>
          <p:cNvPr id="36" name="Shape 33"/>
          <p:cNvSpPr/>
          <p:nvPr/>
        </p:nvSpPr>
        <p:spPr>
          <a:xfrm>
            <a:off x="4389120" y="5166360"/>
            <a:ext cx="2240280" cy="502920"/>
          </a:xfrm>
          <a:prstGeom prst="roundRect">
            <a:avLst>
              <a:gd name="adj" fmla="val 14545"/>
            </a:avLst>
          </a:prstGeom>
          <a:solidFill>
            <a:srgbClr val="2B3B5C"/>
          </a:solidFill>
          <a:ln/>
        </p:spPr>
      </p:sp>
      <p:sp>
        <p:nvSpPr>
          <p:cNvPr id="37" name="Text 34"/>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sp>
      <p:sp>
        <p:nvSpPr>
          <p:cNvPr id="39" name="Text 36"/>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mission taught us to crack a hash with a list?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The vault is base64 on the outside. What comes off first?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do we chain the decode straight into the decrypt?</a:t>
            </a:r>
            <a:endParaRPr lang="en-US" sz="1500" dirty="0"/>
          </a:p>
        </p:txBody>
      </p:sp>
      <p:sp>
        <p:nvSpPr>
          <p:cNvPr id="41" name="Shape 38"/>
          <p:cNvSpPr/>
          <p:nvPr/>
        </p:nvSpPr>
        <p:spPr>
          <a:xfrm>
            <a:off x="7269480" y="4892040"/>
            <a:ext cx="4370832" cy="1051560"/>
          </a:xfrm>
          <a:prstGeom prst="roundRect">
            <a:avLst>
              <a:gd name="adj" fmla="val 8696"/>
            </a:avLst>
          </a:prstGeom>
          <a:solidFill>
            <a:srgbClr val="17875A"/>
          </a:solidFill>
          <a:ln/>
        </p:spPr>
      </p:sp>
      <p:sp>
        <p:nvSpPr>
          <p:cNvPr id="42" name="Text 39"/>
          <p:cNvSpPr txBox="1"/>
          <p:nvPr/>
        </p:nvSpPr>
        <p:spPr>
          <a:xfrm>
            <a:off x="7498080" y="4892040"/>
            <a:ext cx="13258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
        <p:nvSpPr>
          <p:cNvPr id="44" name="Text 41"/>
          <p:cNvSpPr txBox="1"/>
          <p:nvPr/>
        </p:nvSpPr>
        <p:spPr>
          <a:xfrm>
            <a:off x="10744200" y="4892040"/>
            <a:ext cx="777240"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8</a:t>
            </a:r>
            <a:endParaRPr lang="en-US" sz="2600" dirty="0"/>
          </a:p>
          <a:p>
            <a:pPr algn="ctr" indent="0" marL="0">
              <a:buNone/>
            </a:pPr>
            <a:r>
              <a:rPr lang="en-US" sz="1200" dirty="0">
                <a:solidFill>
                  <a:srgbClr val="FFFFFF"/>
                </a:solidFill>
                <a:latin typeface="Arial" pitchFamily="34" charset="0"/>
                <a:ea typeface="Arial" pitchFamily="34" charset="-122"/>
                <a:cs typeface="Arial" pitchFamily="34" charset="-120"/>
              </a:rPr>
              <a:t>min</a:t>
            </a:r>
            <a:endParaRPr lang="en-US" sz="2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sp>
      <p:sp>
        <p:nvSpPr>
          <p:cNvPr id="6" name="Text 3"/>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sp>
      <p:sp>
        <p:nvSpPr>
          <p:cNvPr id="8" name="Text 5"/>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sp>
      <p:sp>
        <p:nvSpPr>
          <p:cNvPr id="10" name="Text 7"/>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sp>
      <p:sp>
        <p:nvSpPr>
          <p:cNvPr id="12" name="Text 9"/>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sp>
      <p:sp>
        <p:nvSpPr>
          <p:cNvPr id="14" name="Text 11"/>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sp>
      <p:sp>
        <p:nvSpPr>
          <p:cNvPr id="16" name="Text 13"/>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sp>
      <p:sp>
        <p:nvSpPr>
          <p:cNvPr id="18" name="Text 15"/>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sp>
      <p:sp>
        <p:nvSpPr>
          <p:cNvPr id="20" name="Text 17"/>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sp>
      <p:sp>
        <p:nvSpPr>
          <p:cNvPr id="22" name="Text 19"/>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sp>
      <p:sp>
        <p:nvSpPr>
          <p:cNvPr id="24" name="Text 21"/>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sp>
      <p:sp>
        <p:nvSpPr>
          <p:cNvPr id="26" name="Text 23"/>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sp>
      <p:sp>
        <p:nvSpPr>
          <p:cNvPr id="28" name="Text 25"/>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Cracking The vault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749808" y="1847088"/>
            <a:ext cx="118872" cy="118872"/>
          </a:xfrm>
          <a:prstGeom prst="ellipse">
            <a:avLst/>
          </a:prstGeom>
          <a:solidFill>
            <a:srgbClr val="E5534B"/>
          </a:solidFill>
          <a:ln/>
        </p:spPr>
      </p:sp>
      <p:sp>
        <p:nvSpPr>
          <p:cNvPr id="32" name="Shape 29"/>
          <p:cNvSpPr/>
          <p:nvPr/>
        </p:nvSpPr>
        <p:spPr>
          <a:xfrm>
            <a:off x="950976" y="1847088"/>
            <a:ext cx="118872" cy="118872"/>
          </a:xfrm>
          <a:prstGeom prst="ellipse">
            <a:avLst/>
          </a:prstGeom>
          <a:solidFill>
            <a:srgbClr val="F5A623"/>
          </a:solidFill>
          <a:ln/>
        </p:spPr>
      </p:sp>
      <p:sp>
        <p:nvSpPr>
          <p:cNvPr id="33" name="Shape 30"/>
          <p:cNvSpPr/>
          <p:nvPr/>
        </p:nvSpPr>
        <p:spPr>
          <a:xfrm>
            <a:off x="1152144" y="1847088"/>
            <a:ext cx="118872" cy="118872"/>
          </a:xfrm>
          <a:prstGeom prst="ellipse">
            <a:avLst/>
          </a:prstGeom>
          <a:solidFill>
            <a:srgbClr val="46D39A"/>
          </a:solidFill>
          <a:ln/>
        </p:spPr>
      </p:sp>
      <p:sp>
        <p:nvSpPr>
          <p:cNvPr id="34" name="Text 31"/>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cd ~/mission10</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hashlines words.txt | grep $(cut -c1-8 key.sha256)</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914cb64a1bfac4c6...  otter</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base64 -d vault.b64</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Jtnpk cixrvr. Rhy sstm xys ybrrz fbwjwhg.</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base64 -d vault.b64 | vigenere -d otter</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Vault opened. You beat the final mission.</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CYBA{vault-...}</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submit CYBA{vault-...}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Correct! +800 points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sp>
      <p:sp>
        <p:nvSpPr>
          <p:cNvPr id="38" name="Text 35"/>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hashlines + grep cracked the keyword's hash, like Mission 7.</a:t>
            </a:r>
            <a:endParaRPr lang="en-US" sz="1400" dirty="0"/>
          </a:p>
        </p:txBody>
      </p:sp>
      <p:sp>
        <p:nvSpPr>
          <p:cNvPr id="40" name="Shape 37"/>
          <p:cNvSpPr/>
          <p:nvPr/>
        </p:nvSpPr>
        <p:spPr>
          <a:xfrm>
            <a:off x="7543800" y="2980944"/>
            <a:ext cx="457200" cy="457200"/>
          </a:xfrm>
          <a:prstGeom prst="ellipse">
            <a:avLst/>
          </a:prstGeom>
          <a:solidFill>
            <a:srgbClr val="B4233F"/>
          </a:solidFill>
          <a:ln/>
        </p:spPr>
      </p:sp>
      <p:sp>
        <p:nvSpPr>
          <p:cNvPr id="41" name="Text 38"/>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base64 -d peeled off the outer layer, like Mission 1.</a:t>
            </a:r>
            <a:endParaRPr lang="en-US" sz="1400" dirty="0"/>
          </a:p>
        </p:txBody>
      </p:sp>
      <p:sp>
        <p:nvSpPr>
          <p:cNvPr id="43" name="Shape 40"/>
          <p:cNvSpPr/>
          <p:nvPr/>
        </p:nvSpPr>
        <p:spPr>
          <a:xfrm>
            <a:off x="7543800" y="3767328"/>
            <a:ext cx="457200" cy="457200"/>
          </a:xfrm>
          <a:prstGeom prst="ellipse">
            <a:avLst/>
          </a:prstGeom>
          <a:solidFill>
            <a:srgbClr val="B4233F"/>
          </a:solidFill>
          <a:ln/>
        </p:spPr>
      </p:sp>
      <p:sp>
        <p:nvSpPr>
          <p:cNvPr id="44" name="Text 41"/>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pipe fed it straight into vigenere -d, like Mission 9.</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sp>
      <p:sp>
        <p:nvSpPr>
          <p:cNvPr id="47" name="Text 44"/>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Real investigations chain small steps exactly like this: identify, peel a layer, check, repeat.</a:t>
            </a:r>
            <a:endParaRPr lang="en-US" sz="1250" dirty="0"/>
          </a:p>
        </p:txBody>
      </p:sp>
      <p:sp>
        <p:nvSpPr>
          <p:cNvPr id="48" name="Shape 45"/>
          <p:cNvSpPr/>
          <p:nvPr/>
        </p:nvSpPr>
        <p:spPr>
          <a:xfrm>
            <a:off x="7543800" y="5413248"/>
            <a:ext cx="4096512" cy="566928"/>
          </a:xfrm>
          <a:prstGeom prst="roundRect">
            <a:avLst>
              <a:gd name="adj" fmla="val 16129"/>
            </a:avLst>
          </a:prstGeom>
          <a:solidFill>
            <a:srgbClr val="F1F5FB"/>
          </a:solidFill>
          <a:ln/>
        </p:spPr>
      </p:sp>
      <p:sp>
        <p:nvSpPr>
          <p:cNvPr id="49" name="Text 46"/>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B4233F"/>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Which single step would have been impossible without the wordlist? Why?</a:t>
            </a:r>
            <a:endParaRPr lang="en-US" sz="115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Keys, keywords and flags change on every computer.</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sp>
      <p:sp>
        <p:nvSpPr>
          <p:cNvPr id="7" name="Text 4"/>
          <p:cNvSpPr txBox="1"/>
          <p:nvPr/>
        </p:nvSpPr>
        <p:spPr>
          <a:xfrm>
            <a:off x="868680" y="169164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Letter detective</a:t>
            </a:r>
            <a:endParaRPr lang="en-US" sz="2200" dirty="0"/>
          </a:p>
        </p:txBody>
      </p:sp>
      <p:sp>
        <p:nvSpPr>
          <p:cNvPr id="8" name="Text 5"/>
          <p:cNvSpPr txBox="1"/>
          <p:nvPr/>
        </p:nvSpPr>
        <p:spPr>
          <a:xfrm>
            <a:off x="4206240" y="173736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Which cipher letter is most common? In English it's E. Does the trick work on a short message?</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fold -w1 · sort · uniq -c · sort -n</a:t>
            </a:r>
            <a:endParaRPr lang="en-US" sz="1400" dirty="0"/>
          </a:p>
        </p:txBody>
      </p:sp>
      <p:sp>
        <p:nvSpPr>
          <p:cNvPr id="11" name="Shape 8"/>
          <p:cNvSpPr/>
          <p:nvPr/>
        </p:nvSpPr>
        <p:spPr>
          <a:xfrm>
            <a:off x="6190488" y="1508760"/>
            <a:ext cx="5449824" cy="2057400"/>
          </a:xfrm>
          <a:prstGeom prst="roundRect">
            <a:avLst>
              <a:gd name="adj" fmla="val 5333"/>
            </a:avLst>
          </a:prstGeom>
          <a:solidFill>
            <a:srgbClr val="0E1726"/>
          </a:solidFill>
          <a:ln/>
        </p:spPr>
      </p:sp>
      <p:sp>
        <p:nvSpPr>
          <p:cNvPr id="12" name="Text 9"/>
          <p:cNvSpPr txBox="1"/>
          <p:nvPr/>
        </p:nvSpPr>
        <p:spPr>
          <a:xfrm>
            <a:off x="6510528" y="169164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Secret notes</a:t>
            </a:r>
            <a:endParaRPr lang="en-US" sz="2200" dirty="0"/>
          </a:p>
        </p:txBody>
      </p:sp>
      <p:sp>
        <p:nvSpPr>
          <p:cNvPr id="13" name="Text 10"/>
          <p:cNvSpPr txBox="1"/>
          <p:nvPr/>
        </p:nvSpPr>
        <p:spPr>
          <a:xfrm>
            <a:off x="9848088" y="173736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Encrypt a note with a keyword. Swap papers with the next team, whisper the key.</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echo ... | vigenere -e KEY</a:t>
            </a:r>
            <a:endParaRPr lang="en-US" sz="1400" dirty="0"/>
          </a:p>
        </p:txBody>
      </p:sp>
      <p:sp>
        <p:nvSpPr>
          <p:cNvPr id="16" name="Shape 13"/>
          <p:cNvSpPr/>
          <p:nvPr/>
        </p:nvSpPr>
        <p:spPr>
          <a:xfrm>
            <a:off x="548640" y="3749040"/>
            <a:ext cx="5449824" cy="2057400"/>
          </a:xfrm>
          <a:prstGeom prst="roundRect">
            <a:avLst>
              <a:gd name="adj" fmla="val 5333"/>
            </a:avLst>
          </a:prstGeom>
          <a:solidFill>
            <a:srgbClr val="0E1726"/>
          </a:solidFill>
          <a:ln/>
        </p:spPr>
      </p:sp>
      <p:sp>
        <p:nvSpPr>
          <p:cNvPr id="17" name="Text 14"/>
          <p:cNvSpPr txBox="1"/>
          <p:nvPr/>
        </p:nvSpPr>
        <p:spPr>
          <a:xfrm>
            <a:off x="868680" y="393192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Hash race</a:t>
            </a:r>
            <a:endParaRPr lang="en-US" sz="2200" dirty="0"/>
          </a:p>
        </p:txBody>
      </p:sp>
      <p:sp>
        <p:nvSpPr>
          <p:cNvPr id="18" name="Text 15"/>
          <p:cNvSpPr txBox="1"/>
          <p:nvPr/>
        </p:nvSpPr>
        <p:spPr>
          <a:xfrm>
            <a:off x="4206240" y="397764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~/mission10</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How many words in words.txt have a hash that starts with 0? Which ones?</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hashlines words.txt | grep '^0'</a:t>
            </a:r>
            <a:endParaRPr lang="en-US" sz="1400" dirty="0"/>
          </a:p>
        </p:txBody>
      </p:sp>
      <p:sp>
        <p:nvSpPr>
          <p:cNvPr id="21" name="Shape 18"/>
          <p:cNvSpPr/>
          <p:nvPr/>
        </p:nvSpPr>
        <p:spPr>
          <a:xfrm>
            <a:off x="6190488" y="3749040"/>
            <a:ext cx="5449824" cy="2057400"/>
          </a:xfrm>
          <a:prstGeom prst="roundRect">
            <a:avLst>
              <a:gd name="adj" fmla="val 5333"/>
            </a:avLst>
          </a:prstGeom>
          <a:solidFill>
            <a:srgbClr val="0E1726"/>
          </a:solidFill>
          <a:ln/>
        </p:spPr>
      </p:sp>
      <p:sp>
        <p:nvSpPr>
          <p:cNvPr id="22" name="Text 19"/>
          <p:cNvSpPr txBox="1"/>
          <p:nvPr/>
        </p:nvSpPr>
        <p:spPr>
          <a:xfrm>
            <a:off x="6510528" y="393192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Two layers</a:t>
            </a:r>
            <a:endParaRPr lang="en-US" sz="2200" dirty="0"/>
          </a:p>
        </p:txBody>
      </p:sp>
      <p:sp>
        <p:nvSpPr>
          <p:cNvPr id="23" name="Text 20"/>
          <p:cNvSpPr txBox="1"/>
          <p:nvPr/>
        </p:nvSpPr>
        <p:spPr>
          <a:xfrm>
            <a:off x="9848088" y="397764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Build a two-layer puzzle for a neighbour. Can they peel it?</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tr ... | base64</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Read your scorecard</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6" name="Shape 3"/>
          <p:cNvSpPr/>
          <p:nvPr/>
        </p:nvSpPr>
        <p:spPr>
          <a:xfrm>
            <a:off x="777240" y="1417320"/>
            <a:ext cx="2834640" cy="4133088"/>
          </a:xfrm>
          <a:prstGeom prst="roundRect">
            <a:avLst>
              <a:gd name="adj" fmla="val 1935"/>
            </a:avLst>
          </a:prstGeom>
          <a:solidFill>
            <a:srgbClr val="FFFFFF"/>
          </a:solidFill>
          <a:ln w="19050">
            <a:solidFill>
              <a:srgbClr val="D6DEEA"/>
            </a:solidFill>
            <a:prstDash val="solid"/>
          </a:ln>
          <a:effectLst>
            <a:outerShdw sx="100000" sy="100000" kx="0" ky="0" algn="bl" rotWithShape="0" blurRad="127000" dist="38100" dir="5400000">
              <a:srgbClr val="12213A">
                <a:alpha val="15000"/>
              </a:srgbClr>
            </a:outerShdw>
          </a:effectLst>
        </p:spPr>
      </p:sp>
      <p:pic>
        <p:nvPicPr>
          <p:cNvPr id="7" name="Image 0" descr="/home/claude/cyberquest-ctf/slides/img-crypto/sidebar-finish.png">    </p:cNvPr>
          <p:cNvPicPr>
            <a:picLocks noChangeAspect="1"/>
          </p:cNvPicPr>
          <p:nvPr/>
        </p:nvPicPr>
        <p:blipFill>
          <a:blip r:embed="rId1"/>
          <a:stretch>
            <a:fillRect/>
          </a:stretch>
        </p:blipFill>
        <p:spPr>
          <a:xfrm>
            <a:off x="822960" y="1463040"/>
            <a:ext cx="2743200" cy="4029075"/>
          </a:xfrm>
          <a:prstGeom prst="rect">
            <a:avLst/>
          </a:prstGeom>
        </p:spPr>
      </p:pic>
      <p:sp>
        <p:nvSpPr>
          <p:cNvPr id="8" name="Shape 4"/>
          <p:cNvSpPr/>
          <p:nvPr/>
        </p:nvSpPr>
        <p:spPr>
          <a:xfrm>
            <a:off x="4206240" y="1508760"/>
            <a:ext cx="7434072" cy="960120"/>
          </a:xfrm>
          <a:prstGeom prst="roundRect">
            <a:avLst>
              <a:gd name="adj" fmla="val 9524"/>
            </a:avLst>
          </a:prstGeom>
          <a:solidFill>
            <a:srgbClr val="F1F5FB"/>
          </a:solidFill>
          <a:ln/>
        </p:spPr>
      </p:sp>
      <p:sp>
        <p:nvSpPr>
          <p:cNvPr id="9" name="Shape 5"/>
          <p:cNvSpPr/>
          <p:nvPr/>
        </p:nvSpPr>
        <p:spPr>
          <a:xfrm>
            <a:off x="4206240" y="1508760"/>
            <a:ext cx="109728" cy="960120"/>
          </a:xfrm>
          <a:prstGeom prst="rect">
            <a:avLst/>
          </a:prstGeom>
          <a:solidFill>
            <a:srgbClr val="F5A623"/>
          </a:solidFill>
          <a:ln/>
        </p:spPr>
      </p:sp>
      <p:sp>
        <p:nvSpPr>
          <p:cNvPr id="10" name="Text 6"/>
          <p:cNvSpPr txBox="1"/>
          <p:nvPr/>
        </p:nvSpPr>
        <p:spPr>
          <a:xfrm>
            <a:off x="4526280" y="161848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Points</a:t>
            </a:r>
            <a:endParaRPr lang="en-US" sz="2000" dirty="0"/>
          </a:p>
        </p:txBody>
      </p:sp>
      <p:sp>
        <p:nvSpPr>
          <p:cNvPr id="11" name="Text 7"/>
          <p:cNvSpPr txBox="1"/>
          <p:nvPr/>
        </p:nvSpPr>
        <p:spPr>
          <a:xfrm>
            <a:off x="6492240" y="161848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2,700 for all ten flags, 2,750 with the warm-up.</a:t>
            </a:r>
            <a:endParaRPr lang="en-US" sz="1600" dirty="0"/>
          </a:p>
        </p:txBody>
      </p:sp>
      <p:sp>
        <p:nvSpPr>
          <p:cNvPr id="12" name="Shape 8"/>
          <p:cNvSpPr/>
          <p:nvPr/>
        </p:nvSpPr>
        <p:spPr>
          <a:xfrm>
            <a:off x="4206240" y="2606040"/>
            <a:ext cx="7434072" cy="960120"/>
          </a:xfrm>
          <a:prstGeom prst="roundRect">
            <a:avLst>
              <a:gd name="adj" fmla="val 9524"/>
            </a:avLst>
          </a:prstGeom>
          <a:solidFill>
            <a:srgbClr val="F1F5FB"/>
          </a:solidFill>
          <a:ln/>
        </p:spPr>
      </p:sp>
      <p:sp>
        <p:nvSpPr>
          <p:cNvPr id="13" name="Shape 9"/>
          <p:cNvSpPr/>
          <p:nvPr/>
        </p:nvSpPr>
        <p:spPr>
          <a:xfrm>
            <a:off x="4206240" y="2606040"/>
            <a:ext cx="109728" cy="960120"/>
          </a:xfrm>
          <a:prstGeom prst="rect">
            <a:avLst/>
          </a:prstGeom>
          <a:solidFill>
            <a:srgbClr val="2459D8"/>
          </a:solidFill>
          <a:ln/>
        </p:spPr>
      </p:sp>
      <p:sp>
        <p:nvSpPr>
          <p:cNvPr id="14" name="Text 10"/>
          <p:cNvSpPr txBox="1"/>
          <p:nvPr/>
        </p:nvSpPr>
        <p:spPr>
          <a:xfrm>
            <a:off x="4526280" y="271576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Took</a:t>
            </a:r>
            <a:endParaRPr lang="en-US" sz="2000" dirty="0"/>
          </a:p>
        </p:txBody>
      </p:sp>
      <p:sp>
        <p:nvSpPr>
          <p:cNvPr id="15" name="Text 11"/>
          <p:cNvSpPr txBox="1"/>
          <p:nvPr/>
        </p:nvSpPr>
        <p:spPr>
          <a:xfrm>
            <a:off x="6492240" y="271576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Time since your previous flag. Your biggest Took is the cipher to practise.</a:t>
            </a:r>
            <a:endParaRPr lang="en-US" sz="1600" dirty="0"/>
          </a:p>
        </p:txBody>
      </p:sp>
      <p:sp>
        <p:nvSpPr>
          <p:cNvPr id="16" name="Shape 12"/>
          <p:cNvSpPr/>
          <p:nvPr/>
        </p:nvSpPr>
        <p:spPr>
          <a:xfrm>
            <a:off x="4206240" y="3703320"/>
            <a:ext cx="7434072" cy="960120"/>
          </a:xfrm>
          <a:prstGeom prst="roundRect">
            <a:avLst>
              <a:gd name="adj" fmla="val 9524"/>
            </a:avLst>
          </a:prstGeom>
          <a:solidFill>
            <a:srgbClr val="F1F5FB"/>
          </a:solidFill>
          <a:ln/>
        </p:spPr>
      </p:sp>
      <p:sp>
        <p:nvSpPr>
          <p:cNvPr id="17" name="Shape 13"/>
          <p:cNvSpPr/>
          <p:nvPr/>
        </p:nvSpPr>
        <p:spPr>
          <a:xfrm>
            <a:off x="4206240" y="3703320"/>
            <a:ext cx="109728" cy="960120"/>
          </a:xfrm>
          <a:prstGeom prst="rect">
            <a:avLst/>
          </a:prstGeom>
          <a:solidFill>
            <a:srgbClr val="7448D4"/>
          </a:solidFill>
          <a:ln/>
        </p:spPr>
      </p:sp>
      <p:sp>
        <p:nvSpPr>
          <p:cNvPr id="18" name="Text 14"/>
          <p:cNvSpPr txBox="1"/>
          <p:nvPr/>
        </p:nvSpPr>
        <p:spPr>
          <a:xfrm>
            <a:off x="4526280" y="381304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Time</a:t>
            </a:r>
            <a:endParaRPr lang="en-US" sz="2000" dirty="0"/>
          </a:p>
        </p:txBody>
      </p:sp>
      <p:sp>
        <p:nvSpPr>
          <p:cNvPr id="19" name="Text 15"/>
          <p:cNvSpPr txBox="1"/>
          <p:nvPr/>
        </p:nvSpPr>
        <p:spPr>
          <a:xfrm>
            <a:off x="6492240" y="381304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The clock when you submitted each flag.</a:t>
            </a:r>
            <a:endParaRPr lang="en-US" sz="1600" dirty="0"/>
          </a:p>
        </p:txBody>
      </p:sp>
      <p:sp>
        <p:nvSpPr>
          <p:cNvPr id="20" name="Shape 16"/>
          <p:cNvSpPr/>
          <p:nvPr/>
        </p:nvSpPr>
        <p:spPr>
          <a:xfrm>
            <a:off x="4206240" y="4800600"/>
            <a:ext cx="7434072" cy="960120"/>
          </a:xfrm>
          <a:prstGeom prst="roundRect">
            <a:avLst>
              <a:gd name="adj" fmla="val 9524"/>
            </a:avLst>
          </a:prstGeom>
          <a:solidFill>
            <a:srgbClr val="F1F5FB"/>
          </a:solidFill>
          <a:ln/>
        </p:spPr>
      </p:sp>
      <p:sp>
        <p:nvSpPr>
          <p:cNvPr id="21" name="Shape 17"/>
          <p:cNvSpPr/>
          <p:nvPr/>
        </p:nvSpPr>
        <p:spPr>
          <a:xfrm>
            <a:off x="4206240" y="4800600"/>
            <a:ext cx="109728" cy="960120"/>
          </a:xfrm>
          <a:prstGeom prst="rect">
            <a:avLst/>
          </a:prstGeom>
          <a:solidFill>
            <a:srgbClr val="17875A"/>
          </a:solidFill>
          <a:ln/>
        </p:spPr>
      </p:sp>
      <p:sp>
        <p:nvSpPr>
          <p:cNvPr id="22" name="Text 18"/>
          <p:cNvSpPr txBox="1"/>
          <p:nvPr/>
        </p:nvSpPr>
        <p:spPr>
          <a:xfrm>
            <a:off x="4526280" y="4910328"/>
            <a:ext cx="2011680" cy="731520"/>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Replay quest</a:t>
            </a:r>
            <a:endParaRPr lang="en-US" sz="2000" dirty="0"/>
          </a:p>
        </p:txBody>
      </p:sp>
      <p:sp>
        <p:nvSpPr>
          <p:cNvPr id="23" name="Text 19"/>
          <p:cNvSpPr txBox="1"/>
          <p:nvPr/>
        </p:nvSpPr>
        <p:spPr>
          <a:xfrm>
            <a:off x="6492240" y="4910328"/>
            <a:ext cx="4937760" cy="731520"/>
          </a:xfrm>
          <a:prstGeom prst="rect">
            <a:avLst/>
          </a:prstGeom>
          <a:noFill/>
          <a:ln/>
        </p:spPr>
        <p:txBody>
          <a:bodyPr wrap="square" lIns="0" tIns="0" rIns="0" bIns="0" rtlCol="0" anchor="ctr"/>
          <a:lstStyle/>
          <a:p>
            <a:pPr indent="0" marL="0">
              <a:buNone/>
            </a:pPr>
            <a:r>
              <a:rPr lang="en-US" sz="1600" dirty="0">
                <a:solidFill>
                  <a:srgbClr val="56657E"/>
                </a:solidFill>
                <a:latin typeface="Calibri" pitchFamily="34" charset="0"/>
                <a:ea typeface="Calibri" pitchFamily="34" charset="-122"/>
                <a:cs typeface="Calibri" pitchFamily="34" charset="-120"/>
              </a:rPr>
              <a:t>New keys, new flags, a fresh clock. Beat your time.</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CyberQuest Academy  ·  Crypto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50</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indent="0" marL="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indent="0" marL="0">
              <a:buNone/>
            </a:pPr>
            <a:r>
              <a:rPr lang="en-US" sz="1600" dirty="0">
                <a:solidFill>
                  <a:srgbClr val="7F8FAD"/>
                </a:solidFill>
                <a:latin typeface="Courier New" pitchFamily="34" charset="0"/>
                <a:ea typeface="Courier New" pitchFamily="34" charset="-122"/>
                <a:cs typeface="Courier New" pitchFamily="34" charset="-120"/>
              </a:rPr>
              <a:t>Part 4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Puzzle crypto vs real crypto,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sp>
      <p:sp>
        <p:nvSpPr>
          <p:cNvPr id="10" name="Text 7"/>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echo 'Jryy qbar' | tr A-Za-z N-ZA-Mn-za-m</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Puzzle crypto vs real crypto</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51</a:t>
            </a:r>
            <a:endParaRPr lang="en-US" sz="1000" dirty="0"/>
          </a:p>
        </p:txBody>
      </p:sp>
      <p:sp>
        <p:nvSpPr>
          <p:cNvPr id="6" name="Shape 3"/>
          <p:cNvSpPr/>
          <p:nvPr/>
        </p:nvSpPr>
        <p:spPr>
          <a:xfrm>
            <a:off x="548640" y="1508760"/>
            <a:ext cx="5449824" cy="2286000"/>
          </a:xfrm>
          <a:prstGeom prst="roundRect">
            <a:avLst>
              <a:gd name="adj" fmla="val 4000"/>
            </a:avLst>
          </a:prstGeom>
          <a:solidFill>
            <a:srgbClr val="F1F5FB"/>
          </a:solidFill>
          <a:ln/>
        </p:spPr>
      </p:sp>
      <p:sp>
        <p:nvSpPr>
          <p:cNvPr id="7" name="Shape 4"/>
          <p:cNvSpPr/>
          <p:nvPr/>
        </p:nvSpPr>
        <p:spPr>
          <a:xfrm>
            <a:off x="548640" y="1508760"/>
            <a:ext cx="5449824" cy="109728"/>
          </a:xfrm>
          <a:prstGeom prst="rect">
            <a:avLst/>
          </a:prstGeom>
          <a:solidFill>
            <a:srgbClr val="B93434"/>
          </a:solidFill>
          <a:ln/>
        </p:spPr>
      </p:sp>
      <p:sp>
        <p:nvSpPr>
          <p:cNvPr id="8" name="Text 5"/>
          <p:cNvSpPr txBox="1"/>
          <p:nvPr/>
        </p:nvSpPr>
        <p:spPr>
          <a:xfrm>
            <a:off x="868680" y="1783080"/>
            <a:ext cx="4846320" cy="457200"/>
          </a:xfrm>
          <a:prstGeom prst="rect">
            <a:avLst/>
          </a:prstGeom>
          <a:noFill/>
          <a:ln/>
        </p:spPr>
        <p:txBody>
          <a:bodyPr wrap="square" lIns="0" tIns="0" rIns="0" bIns="0" rtlCol="0" anchor="t"/>
          <a:lstStyle/>
          <a:p>
            <a:pPr indent="0" marL="0">
              <a:buNone/>
            </a:pPr>
            <a:r>
              <a:rPr lang="en-US" sz="2400" b="1" dirty="0">
                <a:solidFill>
                  <a:srgbClr val="B93434"/>
                </a:solidFill>
                <a:latin typeface="Arial" pitchFamily="34" charset="0"/>
                <a:ea typeface="Arial" pitchFamily="34" charset="-122"/>
                <a:cs typeface="Arial" pitchFamily="34" charset="-120"/>
              </a:rPr>
              <a:t>Today's ciphers</a:t>
            </a:r>
            <a:endParaRPr lang="en-US" sz="2400" dirty="0"/>
          </a:p>
        </p:txBody>
      </p:sp>
      <p:sp>
        <p:nvSpPr>
          <p:cNvPr id="9" name="Text 6"/>
          <p:cNvSpPr txBox="1"/>
          <p:nvPr/>
        </p:nvSpPr>
        <p:spPr>
          <a:xfrm>
            <a:off x="868680" y="2331720"/>
            <a:ext cx="4846320" cy="411480"/>
          </a:xfrm>
          <a:prstGeom prst="rect">
            <a:avLst/>
          </a:prstGeom>
          <a:noFill/>
          <a:ln/>
        </p:spPr>
        <p:txBody>
          <a:bodyPr wrap="square" lIns="0" tIns="0" rIns="0" bIns="0" rtlCol="0" anchor="t"/>
          <a:lstStyle/>
          <a:p>
            <a:pPr indent="0" marL="0">
              <a:buNone/>
            </a:pPr>
            <a:r>
              <a:rPr lang="en-US" sz="1400" b="1" dirty="0">
                <a:solidFill>
                  <a:srgbClr val="12213A"/>
                </a:solidFill>
                <a:latin typeface="Courier New" pitchFamily="34" charset="0"/>
                <a:ea typeface="Courier New" pitchFamily="34" charset="-122"/>
                <a:cs typeface="Courier New" pitchFamily="34" charset="-120"/>
              </a:rPr>
              <a:t>Caesar, Atbash, Vigenère, single-byte XOR</a:t>
            </a:r>
            <a:endParaRPr lang="en-US" sz="1400" dirty="0"/>
          </a:p>
        </p:txBody>
      </p:sp>
      <p:sp>
        <p:nvSpPr>
          <p:cNvPr id="10" name="Text 7"/>
          <p:cNvSpPr txBox="1"/>
          <p:nvPr/>
        </p:nvSpPr>
        <p:spPr>
          <a:xfrm>
            <a:off x="868680" y="2834640"/>
            <a:ext cx="4846320" cy="82296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Broken centuries ago. Great puzzles, zero protection.</a:t>
            </a:r>
            <a:endParaRPr lang="en-US" sz="1600" dirty="0"/>
          </a:p>
        </p:txBody>
      </p:sp>
      <p:sp>
        <p:nvSpPr>
          <p:cNvPr id="11" name="Shape 8"/>
          <p:cNvSpPr/>
          <p:nvPr/>
        </p:nvSpPr>
        <p:spPr>
          <a:xfrm>
            <a:off x="6190488" y="1508760"/>
            <a:ext cx="5449824" cy="2286000"/>
          </a:xfrm>
          <a:prstGeom prst="roundRect">
            <a:avLst>
              <a:gd name="adj" fmla="val 4000"/>
            </a:avLst>
          </a:prstGeom>
          <a:solidFill>
            <a:srgbClr val="F1F5FB"/>
          </a:solidFill>
          <a:ln/>
        </p:spPr>
      </p:sp>
      <p:sp>
        <p:nvSpPr>
          <p:cNvPr id="12" name="Shape 9"/>
          <p:cNvSpPr/>
          <p:nvPr/>
        </p:nvSpPr>
        <p:spPr>
          <a:xfrm>
            <a:off x="6190488" y="1508760"/>
            <a:ext cx="5449824" cy="109728"/>
          </a:xfrm>
          <a:prstGeom prst="rect">
            <a:avLst/>
          </a:prstGeom>
          <a:solidFill>
            <a:srgbClr val="17875A"/>
          </a:solidFill>
          <a:ln/>
        </p:spPr>
      </p:sp>
      <p:sp>
        <p:nvSpPr>
          <p:cNvPr id="13" name="Text 10"/>
          <p:cNvSpPr txBox="1"/>
          <p:nvPr/>
        </p:nvSpPr>
        <p:spPr>
          <a:xfrm>
            <a:off x="6510528" y="1783080"/>
            <a:ext cx="4846320" cy="457200"/>
          </a:xfrm>
          <a:prstGeom prst="rect">
            <a:avLst/>
          </a:prstGeom>
          <a:noFill/>
          <a:ln/>
        </p:spPr>
        <p:txBody>
          <a:bodyPr wrap="square" lIns="0" tIns="0" rIns="0" bIns="0" rtlCol="0" anchor="t"/>
          <a:lstStyle/>
          <a:p>
            <a:pPr indent="0" marL="0">
              <a:buNone/>
            </a:pPr>
            <a:r>
              <a:rPr lang="en-US" sz="2400" b="1" dirty="0">
                <a:solidFill>
                  <a:srgbClr val="17875A"/>
                </a:solidFill>
                <a:latin typeface="Arial" pitchFamily="34" charset="0"/>
                <a:ea typeface="Arial" pitchFamily="34" charset="-122"/>
                <a:cs typeface="Arial" pitchFamily="34" charset="-120"/>
              </a:rPr>
              <a:t>Real crypto</a:t>
            </a:r>
            <a:endParaRPr lang="en-US" sz="2400" dirty="0"/>
          </a:p>
        </p:txBody>
      </p:sp>
      <p:sp>
        <p:nvSpPr>
          <p:cNvPr id="14" name="Text 11"/>
          <p:cNvSpPr txBox="1"/>
          <p:nvPr/>
        </p:nvSpPr>
        <p:spPr>
          <a:xfrm>
            <a:off x="6510528" y="2331720"/>
            <a:ext cx="4846320" cy="411480"/>
          </a:xfrm>
          <a:prstGeom prst="rect">
            <a:avLst/>
          </a:prstGeom>
          <a:noFill/>
          <a:ln/>
        </p:spPr>
        <p:txBody>
          <a:bodyPr wrap="square" lIns="0" tIns="0" rIns="0" bIns="0" rtlCol="0" anchor="t"/>
          <a:lstStyle/>
          <a:p>
            <a:pPr indent="0" marL="0">
              <a:buNone/>
            </a:pPr>
            <a:r>
              <a:rPr lang="en-US" sz="1400" b="1" dirty="0">
                <a:solidFill>
                  <a:srgbClr val="12213A"/>
                </a:solidFill>
                <a:latin typeface="Courier New" pitchFamily="34" charset="0"/>
                <a:ea typeface="Courier New" pitchFamily="34" charset="-122"/>
                <a:cs typeface="Courier New" pitchFamily="34" charset="-120"/>
              </a:rPr>
              <a:t>AES, ChaCha20, SHA-256, RSA</a:t>
            </a:r>
            <a:endParaRPr lang="en-US" sz="1400" dirty="0"/>
          </a:p>
        </p:txBody>
      </p:sp>
      <p:sp>
        <p:nvSpPr>
          <p:cNvPr id="15" name="Text 12"/>
          <p:cNvSpPr txBox="1"/>
          <p:nvPr/>
        </p:nvSpPr>
        <p:spPr>
          <a:xfrm>
            <a:off x="6510528" y="2834640"/>
            <a:ext cx="4846320" cy="82296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Unbroken maths. Use tested libraries; never invent your own.</a:t>
            </a:r>
            <a:endParaRPr lang="en-US" sz="1600" dirty="0"/>
          </a:p>
        </p:txBody>
      </p:sp>
      <p:sp>
        <p:nvSpPr>
          <p:cNvPr id="16" name="Text 13"/>
          <p:cNvSpPr txBox="1"/>
          <p:nvPr/>
        </p:nvSpPr>
        <p:spPr>
          <a:xfrm>
            <a:off x="548640" y="4069080"/>
            <a:ext cx="73152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So how do real attackers win?</a:t>
            </a:r>
            <a:endParaRPr lang="en-US" sz="2000" dirty="0"/>
          </a:p>
        </p:txBody>
      </p:sp>
      <p:sp>
        <p:nvSpPr>
          <p:cNvPr id="17" name="Shape 14"/>
          <p:cNvSpPr/>
          <p:nvPr/>
        </p:nvSpPr>
        <p:spPr>
          <a:xfrm>
            <a:off x="548640" y="4572000"/>
            <a:ext cx="3566160" cy="1371600"/>
          </a:xfrm>
          <a:prstGeom prst="roundRect">
            <a:avLst>
              <a:gd name="adj" fmla="val 6667"/>
            </a:avLst>
          </a:prstGeom>
          <a:solidFill>
            <a:srgbClr val="FFF4DC"/>
          </a:solidFill>
          <a:ln/>
        </p:spPr>
      </p:sp>
      <p:sp>
        <p:nvSpPr>
          <p:cNvPr id="18" name="Text 15"/>
          <p:cNvSpPr txBox="1"/>
          <p:nvPr/>
        </p:nvSpPr>
        <p:spPr>
          <a:xfrm>
            <a:off x="822960" y="4681728"/>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Leaked keys</a:t>
            </a:r>
            <a:endParaRPr lang="en-US" sz="1800" dirty="0"/>
          </a:p>
        </p:txBody>
      </p:sp>
      <p:sp>
        <p:nvSpPr>
          <p:cNvPr id="19" name="Text 16"/>
          <p:cNvSpPr txBox="1"/>
          <p:nvPr/>
        </p:nvSpPr>
        <p:spPr>
          <a:xfrm>
            <a:off x="822960" y="5120640"/>
            <a:ext cx="3108960" cy="7315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Mission 9: the keyword was in a file.</a:t>
            </a:r>
            <a:endParaRPr lang="en-US" sz="1450" dirty="0"/>
          </a:p>
        </p:txBody>
      </p:sp>
      <p:sp>
        <p:nvSpPr>
          <p:cNvPr id="20" name="Shape 17"/>
          <p:cNvSpPr/>
          <p:nvPr/>
        </p:nvSpPr>
        <p:spPr>
          <a:xfrm>
            <a:off x="4306824" y="4572000"/>
            <a:ext cx="3566160" cy="1371600"/>
          </a:xfrm>
          <a:prstGeom prst="roundRect">
            <a:avLst>
              <a:gd name="adj" fmla="val 6667"/>
            </a:avLst>
          </a:prstGeom>
          <a:solidFill>
            <a:srgbClr val="FFF4DC"/>
          </a:solidFill>
          <a:ln/>
        </p:spPr>
      </p:sp>
      <p:sp>
        <p:nvSpPr>
          <p:cNvPr id="21" name="Text 18"/>
          <p:cNvSpPr txBox="1"/>
          <p:nvPr/>
        </p:nvSpPr>
        <p:spPr>
          <a:xfrm>
            <a:off x="4581144" y="4681728"/>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Weak passwords</a:t>
            </a:r>
            <a:endParaRPr lang="en-US" sz="1800" dirty="0"/>
          </a:p>
        </p:txBody>
      </p:sp>
      <p:sp>
        <p:nvSpPr>
          <p:cNvPr id="22" name="Text 19"/>
          <p:cNvSpPr txBox="1"/>
          <p:nvPr/>
        </p:nvSpPr>
        <p:spPr>
          <a:xfrm>
            <a:off x="4581144" y="5120640"/>
            <a:ext cx="3108960" cy="7315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Mission 10: a dictionary word, cracked in seconds.</a:t>
            </a:r>
            <a:endParaRPr lang="en-US" sz="1450" dirty="0"/>
          </a:p>
        </p:txBody>
      </p:sp>
      <p:sp>
        <p:nvSpPr>
          <p:cNvPr id="23" name="Shape 20"/>
          <p:cNvSpPr/>
          <p:nvPr/>
        </p:nvSpPr>
        <p:spPr>
          <a:xfrm>
            <a:off x="8065008" y="4572000"/>
            <a:ext cx="3566160" cy="1371600"/>
          </a:xfrm>
          <a:prstGeom prst="roundRect">
            <a:avLst>
              <a:gd name="adj" fmla="val 6667"/>
            </a:avLst>
          </a:prstGeom>
          <a:solidFill>
            <a:srgbClr val="FFF4DC"/>
          </a:solidFill>
          <a:ln/>
        </p:spPr>
      </p:sp>
      <p:sp>
        <p:nvSpPr>
          <p:cNvPr id="24" name="Text 21"/>
          <p:cNvSpPr txBox="1"/>
          <p:nvPr/>
        </p:nvSpPr>
        <p:spPr>
          <a:xfrm>
            <a:off x="8339328" y="4681728"/>
            <a:ext cx="3108960" cy="41148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Mistakes</a:t>
            </a:r>
            <a:endParaRPr lang="en-US" sz="1800" dirty="0"/>
          </a:p>
        </p:txBody>
      </p:sp>
      <p:sp>
        <p:nvSpPr>
          <p:cNvPr id="25" name="Text 22"/>
          <p:cNvSpPr txBox="1"/>
          <p:nvPr/>
        </p:nvSpPr>
        <p:spPr>
          <a:xfrm>
            <a:off x="8339328" y="5120640"/>
            <a:ext cx="3108960" cy="7315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Encoding used as if it were encryption: Mission 1.</a:t>
            </a:r>
            <a:endParaRPr lang="en-US" sz="14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sp>
      <p:sp>
        <p:nvSpPr>
          <p:cNvPr id="7" name="Text 4"/>
          <p:cNvSpPr txBox="1"/>
          <p:nvPr/>
        </p:nvSpPr>
        <p:spPr>
          <a:xfrm>
            <a:off x="594360" y="1691640"/>
            <a:ext cx="1627632" cy="548640"/>
          </a:xfrm>
          <a:prstGeom prst="rect">
            <a:avLst/>
          </a:prstGeom>
          <a:noFill/>
          <a:ln/>
        </p:spPr>
        <p:txBody>
          <a:bodyPr wrap="square" lIns="0" tIns="0" rIns="0" bIns="0" rtlCol="0" anchor="ctr"/>
          <a:lstStyle/>
          <a:p>
            <a:pPr algn="ctr" indent="0" marL="0">
              <a:buNone/>
            </a:pPr>
            <a:r>
              <a:rPr lang="en-US" sz="1800" b="1" dirty="0">
                <a:solidFill>
                  <a:srgbClr val="17875A"/>
                </a:solidFill>
                <a:latin typeface="Courier New" pitchFamily="34" charset="0"/>
                <a:ea typeface="Courier New" pitchFamily="34" charset="-122"/>
                <a:cs typeface="Courier New" pitchFamily="34" charset="-120"/>
              </a:rPr>
              <a:t>base64 -d</a:t>
            </a:r>
            <a:endParaRPr lang="en-US" sz="18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2A9FD6"/>
            </a:solidFill>
            <a:prstDash val="dash"/>
          </a:ln>
        </p:spPr>
      </p:sp>
      <p:sp>
        <p:nvSpPr>
          <p:cNvPr id="10" name="Text 7"/>
          <p:cNvSpPr txBox="1"/>
          <p:nvPr/>
        </p:nvSpPr>
        <p:spPr>
          <a:xfrm>
            <a:off x="2459736" y="1691640"/>
            <a:ext cx="1627632" cy="548640"/>
          </a:xfrm>
          <a:prstGeom prst="rect">
            <a:avLst/>
          </a:prstGeom>
          <a:noFill/>
          <a:ln/>
        </p:spPr>
        <p:txBody>
          <a:bodyPr wrap="square" lIns="0" tIns="0" rIns="0" bIns="0" rtlCol="0" anchor="ctr"/>
          <a:lstStyle/>
          <a:p>
            <a:pPr algn="ctr" indent="0" marL="0">
              <a:buNone/>
            </a:pPr>
            <a:r>
              <a:rPr lang="en-US" sz="1800" b="1" dirty="0">
                <a:solidFill>
                  <a:srgbClr val="2A9FD6"/>
                </a:solidFill>
                <a:latin typeface="Courier New" pitchFamily="34" charset="0"/>
                <a:ea typeface="Courier New" pitchFamily="34" charset="-122"/>
                <a:cs typeface="Courier New" pitchFamily="34" charset="-120"/>
              </a:rPr>
              <a:t>xxd -r -p</a:t>
            </a:r>
            <a:endParaRPr lang="en-US" sz="18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2459D8"/>
            </a:solidFill>
            <a:prstDash val="dash"/>
          </a:ln>
        </p:spPr>
      </p:sp>
      <p:sp>
        <p:nvSpPr>
          <p:cNvPr id="13" name="Text 10"/>
          <p:cNvSpPr txBox="1"/>
          <p:nvPr/>
        </p:nvSpPr>
        <p:spPr>
          <a:xfrm>
            <a:off x="4325112" y="1691640"/>
            <a:ext cx="1627632" cy="548640"/>
          </a:xfrm>
          <a:prstGeom prst="rect">
            <a:avLst/>
          </a:prstGeom>
          <a:noFill/>
          <a:ln/>
        </p:spPr>
        <p:txBody>
          <a:bodyPr wrap="square" lIns="0" tIns="0" rIns="0" bIns="0" rtlCol="0" anchor="ctr"/>
          <a:lstStyle/>
          <a:p>
            <a:pPr algn="ctr" indent="0" marL="0">
              <a:buNone/>
            </a:pPr>
            <a:r>
              <a:rPr lang="en-US" sz="1800" b="1" dirty="0">
                <a:solidFill>
                  <a:srgbClr val="2459D8"/>
                </a:solidFill>
                <a:latin typeface="Courier New" pitchFamily="34" charset="0"/>
                <a:ea typeface="Courier New" pitchFamily="34" charset="-122"/>
                <a:cs typeface="Courier New" pitchFamily="34" charset="-120"/>
              </a:rPr>
              <a:t>tr</a:t>
            </a:r>
            <a:endParaRPr lang="en-US" sz="18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459D8"/>
            </a:solidFill>
            <a:prstDash val="dash"/>
          </a:ln>
        </p:spPr>
      </p:sp>
      <p:sp>
        <p:nvSpPr>
          <p:cNvPr id="16" name="Text 13"/>
          <p:cNvSpPr txBox="1"/>
          <p:nvPr/>
        </p:nvSpPr>
        <p:spPr>
          <a:xfrm>
            <a:off x="6190488" y="1691640"/>
            <a:ext cx="1627632" cy="548640"/>
          </a:xfrm>
          <a:prstGeom prst="rect">
            <a:avLst/>
          </a:prstGeom>
          <a:noFill/>
          <a:ln/>
        </p:spPr>
        <p:txBody>
          <a:bodyPr wrap="square" lIns="0" tIns="0" rIns="0" bIns="0" rtlCol="0" anchor="ctr"/>
          <a:lstStyle/>
          <a:p>
            <a:pPr algn="ctr" indent="0" marL="0">
              <a:buNone/>
            </a:pPr>
            <a:r>
              <a:rPr lang="en-US" sz="1800" b="1" dirty="0">
                <a:solidFill>
                  <a:srgbClr val="2459D8"/>
                </a:solidFill>
                <a:latin typeface="Courier New" pitchFamily="34" charset="0"/>
                <a:ea typeface="Courier New" pitchFamily="34" charset="-122"/>
                <a:cs typeface="Courier New" pitchFamily="34" charset="-120"/>
              </a:rPr>
              <a:t>ROT13</a:t>
            </a:r>
            <a:endParaRPr lang="en-US" sz="18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7448D4"/>
            </a:solidFill>
            <a:prstDash val="dash"/>
          </a:ln>
        </p:spPr>
      </p:sp>
      <p:sp>
        <p:nvSpPr>
          <p:cNvPr id="19" name="Text 16"/>
          <p:cNvSpPr txBox="1"/>
          <p:nvPr/>
        </p:nvSpPr>
        <p:spPr>
          <a:xfrm>
            <a:off x="8055864" y="1691640"/>
            <a:ext cx="1627632" cy="548640"/>
          </a:xfrm>
          <a:prstGeom prst="rect">
            <a:avLst/>
          </a:prstGeom>
          <a:noFill/>
          <a:ln/>
        </p:spPr>
        <p:txBody>
          <a:bodyPr wrap="square" lIns="0" tIns="0" rIns="0" bIns="0" rtlCol="0" anchor="ctr"/>
          <a:lstStyle/>
          <a:p>
            <a:pPr algn="ctr" indent="0" marL="0">
              <a:buNone/>
            </a:pPr>
            <a:r>
              <a:rPr lang="en-US" sz="1300" b="1" dirty="0">
                <a:solidFill>
                  <a:srgbClr val="7448D4"/>
                </a:solidFill>
                <a:latin typeface="Courier New" pitchFamily="34" charset="0"/>
                <a:ea typeface="Courier New" pitchFamily="34" charset="-122"/>
                <a:cs typeface="Courier New" pitchFamily="34" charset="-120"/>
              </a:rPr>
              <a:t>brute force</a:t>
            </a:r>
            <a:endParaRPr lang="en-US" sz="13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7448D4"/>
            </a:solidFill>
            <a:prstDash val="dash"/>
          </a:ln>
        </p:spPr>
      </p:sp>
      <p:sp>
        <p:nvSpPr>
          <p:cNvPr id="22" name="Text 19"/>
          <p:cNvSpPr txBox="1"/>
          <p:nvPr/>
        </p:nvSpPr>
        <p:spPr>
          <a:xfrm>
            <a:off x="9921240" y="1691640"/>
            <a:ext cx="1627632" cy="548640"/>
          </a:xfrm>
          <a:prstGeom prst="rect">
            <a:avLst/>
          </a:prstGeom>
          <a:noFill/>
          <a:ln/>
        </p:spPr>
        <p:txBody>
          <a:bodyPr wrap="square" lIns="0" tIns="0" rIns="0" bIns="0" rtlCol="0" anchor="ctr"/>
          <a:lstStyle/>
          <a:p>
            <a:pPr algn="ctr" indent="0" marL="0">
              <a:buNone/>
            </a:pPr>
            <a:r>
              <a:rPr lang="en-US" sz="1800" b="1" dirty="0">
                <a:solidFill>
                  <a:srgbClr val="7448D4"/>
                </a:solidFill>
                <a:latin typeface="Courier New" pitchFamily="34" charset="0"/>
                <a:ea typeface="Courier New" pitchFamily="34" charset="-122"/>
                <a:cs typeface="Courier New" pitchFamily="34" charset="-120"/>
              </a:rPr>
              <a:t>grep CYBA</a:t>
            </a:r>
            <a:endParaRPr lang="en-US" sz="18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D1416B"/>
            </a:solidFill>
            <a:prstDash val="dash"/>
          </a:ln>
        </p:spPr>
      </p:sp>
      <p:sp>
        <p:nvSpPr>
          <p:cNvPr id="25" name="Text 22"/>
          <p:cNvSpPr txBox="1"/>
          <p:nvPr/>
        </p:nvSpPr>
        <p:spPr>
          <a:xfrm>
            <a:off x="594360" y="3154680"/>
            <a:ext cx="1627632" cy="548640"/>
          </a:xfrm>
          <a:prstGeom prst="rect">
            <a:avLst/>
          </a:prstGeom>
          <a:noFill/>
          <a:ln/>
        </p:spPr>
        <p:txBody>
          <a:bodyPr wrap="square" lIns="0" tIns="0" rIns="0" bIns="0" rtlCol="0" anchor="ctr"/>
          <a:lstStyle/>
          <a:p>
            <a:pPr algn="ctr" indent="0" marL="0">
              <a:buNone/>
            </a:pPr>
            <a:r>
              <a:rPr lang="en-US" sz="1800" b="1" dirty="0">
                <a:solidFill>
                  <a:srgbClr val="D1416B"/>
                </a:solidFill>
                <a:latin typeface="Courier New" pitchFamily="34" charset="0"/>
                <a:ea typeface="Courier New" pitchFamily="34" charset="-122"/>
                <a:cs typeface="Courier New" pitchFamily="34" charset="-120"/>
              </a:rPr>
              <a:t>Atbash</a:t>
            </a:r>
            <a:endParaRPr lang="en-US" sz="18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E8820C"/>
            </a:solidFill>
            <a:prstDash val="dash"/>
          </a:ln>
        </p:spPr>
      </p:sp>
      <p:sp>
        <p:nvSpPr>
          <p:cNvPr id="28" name="Text 25"/>
          <p:cNvSpPr txBox="1"/>
          <p:nvPr/>
        </p:nvSpPr>
        <p:spPr>
          <a:xfrm>
            <a:off x="2459736" y="3154680"/>
            <a:ext cx="1627632" cy="548640"/>
          </a:xfrm>
          <a:prstGeom prst="rect">
            <a:avLst/>
          </a:prstGeom>
          <a:noFill/>
          <a:ln/>
        </p:spPr>
        <p:txBody>
          <a:bodyPr wrap="square" lIns="0" tIns="0" rIns="0" bIns="0" rtlCol="0" anchor="ctr"/>
          <a:lstStyle/>
          <a:p>
            <a:pPr algn="ctr" indent="0" marL="0">
              <a:buNone/>
            </a:pPr>
            <a:r>
              <a:rPr lang="en-US" sz="1800" b="1" dirty="0">
                <a:solidFill>
                  <a:srgbClr val="E8820C"/>
                </a:solidFill>
                <a:latin typeface="Courier New" pitchFamily="34" charset="0"/>
                <a:ea typeface="Courier New" pitchFamily="34" charset="-122"/>
                <a:cs typeface="Courier New" pitchFamily="34" charset="-120"/>
              </a:rPr>
              <a:t>morse</a:t>
            </a:r>
            <a:endParaRPr lang="en-US" sz="18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E8820C"/>
            </a:solidFill>
            <a:prstDash val="dash"/>
          </a:ln>
        </p:spPr>
      </p:sp>
      <p:sp>
        <p:nvSpPr>
          <p:cNvPr id="31" name="Text 28"/>
          <p:cNvSpPr txBox="1"/>
          <p:nvPr/>
        </p:nvSpPr>
        <p:spPr>
          <a:xfrm>
            <a:off x="4325112" y="3154680"/>
            <a:ext cx="1627632" cy="548640"/>
          </a:xfrm>
          <a:prstGeom prst="rect">
            <a:avLst/>
          </a:prstGeom>
          <a:noFill/>
          <a:ln/>
        </p:spPr>
        <p:txBody>
          <a:bodyPr wrap="square" lIns="0" tIns="0" rIns="0" bIns="0" rtlCol="0" anchor="ctr"/>
          <a:lstStyle/>
          <a:p>
            <a:pPr algn="ctr" indent="0" marL="0">
              <a:buNone/>
            </a:pPr>
            <a:r>
              <a:rPr lang="en-US" sz="1300" b="1" dirty="0">
                <a:solidFill>
                  <a:srgbClr val="E8820C"/>
                </a:solidFill>
                <a:latin typeface="Courier New" pitchFamily="34" charset="0"/>
                <a:ea typeface="Courier New" pitchFamily="34" charset="-122"/>
                <a:cs typeface="Courier New" pitchFamily="34" charset="-120"/>
              </a:rPr>
              <a:t>read the brief</a:t>
            </a:r>
            <a:endParaRPr lang="en-US" sz="13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C9A227"/>
            </a:solidFill>
            <a:prstDash val="dash"/>
          </a:ln>
        </p:spPr>
      </p:sp>
      <p:sp>
        <p:nvSpPr>
          <p:cNvPr id="34" name="Text 31"/>
          <p:cNvSpPr txBox="1"/>
          <p:nvPr/>
        </p:nvSpPr>
        <p:spPr>
          <a:xfrm>
            <a:off x="6190488" y="3154680"/>
            <a:ext cx="1627632" cy="548640"/>
          </a:xfrm>
          <a:prstGeom prst="rect">
            <a:avLst/>
          </a:prstGeom>
          <a:noFill/>
          <a:ln/>
        </p:spPr>
        <p:txBody>
          <a:bodyPr wrap="square" lIns="0" tIns="0" rIns="0" bIns="0" rtlCol="0" anchor="ctr"/>
          <a:lstStyle/>
          <a:p>
            <a:pPr algn="ctr" indent="0" marL="0">
              <a:buNone/>
            </a:pPr>
            <a:r>
              <a:rPr lang="en-US" sz="1800" b="1" dirty="0">
                <a:solidFill>
                  <a:srgbClr val="C9A227"/>
                </a:solidFill>
                <a:latin typeface="Courier New" pitchFamily="34" charset="0"/>
                <a:ea typeface="Courier New" pitchFamily="34" charset="-122"/>
                <a:cs typeface="Courier New" pitchFamily="34" charset="-120"/>
              </a:rPr>
              <a:t>sha256sum</a:t>
            </a:r>
            <a:endParaRPr lang="en-US" sz="18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C9A227"/>
            </a:solidFill>
            <a:prstDash val="dash"/>
          </a:ln>
        </p:spPr>
      </p:sp>
      <p:sp>
        <p:nvSpPr>
          <p:cNvPr id="37" name="Text 34"/>
          <p:cNvSpPr txBox="1"/>
          <p:nvPr/>
        </p:nvSpPr>
        <p:spPr>
          <a:xfrm>
            <a:off x="8055864" y="3154680"/>
            <a:ext cx="1627632" cy="548640"/>
          </a:xfrm>
          <a:prstGeom prst="rect">
            <a:avLst/>
          </a:prstGeom>
          <a:noFill/>
          <a:ln/>
        </p:spPr>
        <p:txBody>
          <a:bodyPr wrap="square" lIns="0" tIns="0" rIns="0" bIns="0" rtlCol="0" anchor="ctr"/>
          <a:lstStyle/>
          <a:p>
            <a:pPr algn="ctr" indent="0" marL="0">
              <a:buNone/>
            </a:pPr>
            <a:r>
              <a:rPr lang="en-US" sz="1300" b="1" dirty="0">
                <a:solidFill>
                  <a:srgbClr val="C9A227"/>
                </a:solidFill>
                <a:latin typeface="Courier New" pitchFamily="34" charset="0"/>
                <a:ea typeface="Courier New" pitchFamily="34" charset="-122"/>
                <a:cs typeface="Courier New" pitchFamily="34" charset="-120"/>
              </a:rPr>
              <a:t>wordlist attack</a:t>
            </a:r>
            <a:endParaRPr lang="en-US" sz="13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0F9488"/>
            </a:solidFill>
            <a:prstDash val="dash"/>
          </a:ln>
        </p:spPr>
      </p:sp>
      <p:sp>
        <p:nvSpPr>
          <p:cNvPr id="40" name="Text 37"/>
          <p:cNvSpPr txBox="1"/>
          <p:nvPr/>
        </p:nvSpPr>
        <p:spPr>
          <a:xfrm>
            <a:off x="9921240" y="3154680"/>
            <a:ext cx="1627632" cy="548640"/>
          </a:xfrm>
          <a:prstGeom prst="rect">
            <a:avLst/>
          </a:prstGeom>
          <a:noFill/>
          <a:ln/>
        </p:spPr>
        <p:txBody>
          <a:bodyPr wrap="square" lIns="0" tIns="0" rIns="0" bIns="0" rtlCol="0" anchor="ctr"/>
          <a:lstStyle/>
          <a:p>
            <a:pPr algn="ctr" indent="0" marL="0">
              <a:buNone/>
            </a:pPr>
            <a:r>
              <a:rPr lang="en-US" sz="1800" b="1" dirty="0">
                <a:solidFill>
                  <a:srgbClr val="0F9488"/>
                </a:solidFill>
                <a:latin typeface="Courier New" pitchFamily="34" charset="0"/>
                <a:ea typeface="Courier New" pitchFamily="34" charset="-122"/>
                <a:cs typeface="Courier New" pitchFamily="34" charset="-120"/>
              </a:rPr>
              <a:t>XOR</a:t>
            </a:r>
            <a:endParaRPr lang="en-US" sz="18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5B6EE1"/>
            </a:solidFill>
            <a:prstDash val="dash"/>
          </a:ln>
        </p:spPr>
      </p:sp>
      <p:sp>
        <p:nvSpPr>
          <p:cNvPr id="43" name="Text 40"/>
          <p:cNvSpPr txBox="1"/>
          <p:nvPr/>
        </p:nvSpPr>
        <p:spPr>
          <a:xfrm>
            <a:off x="594360" y="4617720"/>
            <a:ext cx="1627632" cy="548640"/>
          </a:xfrm>
          <a:prstGeom prst="rect">
            <a:avLst/>
          </a:prstGeom>
          <a:noFill/>
          <a:ln/>
        </p:spPr>
        <p:txBody>
          <a:bodyPr wrap="square" lIns="0" tIns="0" rIns="0" bIns="0" rtlCol="0" anchor="ctr"/>
          <a:lstStyle/>
          <a:p>
            <a:pPr algn="ctr" indent="0" marL="0">
              <a:buNone/>
            </a:pPr>
            <a:r>
              <a:rPr lang="en-US" sz="1800" b="1" dirty="0">
                <a:solidFill>
                  <a:srgbClr val="5B6EE1"/>
                </a:solidFill>
                <a:latin typeface="Courier New" pitchFamily="34" charset="0"/>
                <a:ea typeface="Courier New" pitchFamily="34" charset="-122"/>
                <a:cs typeface="Courier New" pitchFamily="34" charset="-120"/>
              </a:rPr>
              <a:t>Vigenère</a:t>
            </a:r>
            <a:endParaRPr lang="en-US" sz="18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5B6EE1"/>
            </a:solidFill>
            <a:prstDash val="dash"/>
          </a:ln>
        </p:spPr>
      </p:sp>
      <p:sp>
        <p:nvSpPr>
          <p:cNvPr id="46" name="Text 43"/>
          <p:cNvSpPr txBox="1"/>
          <p:nvPr/>
        </p:nvSpPr>
        <p:spPr>
          <a:xfrm>
            <a:off x="2459736" y="4617720"/>
            <a:ext cx="1627632" cy="548640"/>
          </a:xfrm>
          <a:prstGeom prst="rect">
            <a:avLst/>
          </a:prstGeom>
          <a:noFill/>
          <a:ln/>
        </p:spPr>
        <p:txBody>
          <a:bodyPr wrap="square" lIns="0" tIns="0" rIns="0" bIns="0" rtlCol="0" anchor="ctr"/>
          <a:lstStyle/>
          <a:p>
            <a:pPr algn="ctr" indent="0" marL="0">
              <a:buNone/>
            </a:pPr>
            <a:r>
              <a:rPr lang="en-US" sz="1300" b="1" dirty="0">
                <a:solidFill>
                  <a:srgbClr val="5B6EE1"/>
                </a:solidFill>
                <a:latin typeface="Courier New" pitchFamily="34" charset="0"/>
                <a:ea typeface="Courier New" pitchFamily="34" charset="-122"/>
                <a:cs typeface="Courier New" pitchFamily="34" charset="-120"/>
              </a:rPr>
              <a:t>find the key</a:t>
            </a:r>
            <a:endParaRPr lang="en-US" sz="13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B4233F"/>
            </a:solidFill>
            <a:prstDash val="dash"/>
          </a:ln>
        </p:spPr>
      </p:sp>
      <p:sp>
        <p:nvSpPr>
          <p:cNvPr id="49" name="Text 46"/>
          <p:cNvSpPr txBox="1"/>
          <p:nvPr/>
        </p:nvSpPr>
        <p:spPr>
          <a:xfrm>
            <a:off x="4325112" y="4617720"/>
            <a:ext cx="1627632" cy="548640"/>
          </a:xfrm>
          <a:prstGeom prst="rect">
            <a:avLst/>
          </a:prstGeom>
          <a:noFill/>
          <a:ln/>
        </p:spPr>
        <p:txBody>
          <a:bodyPr wrap="square" lIns="0" tIns="0" rIns="0" bIns="0" rtlCol="0" anchor="ctr"/>
          <a:lstStyle/>
          <a:p>
            <a:pPr algn="ctr" indent="0" marL="0">
              <a:buNone/>
            </a:pPr>
            <a:r>
              <a:rPr lang="en-US" sz="1800" b="1" dirty="0">
                <a:solidFill>
                  <a:srgbClr val="B4233F"/>
                </a:solidFill>
                <a:latin typeface="Courier New" pitchFamily="34" charset="0"/>
                <a:ea typeface="Courier New" pitchFamily="34" charset="-122"/>
                <a:cs typeface="Courier New" pitchFamily="34" charset="-120"/>
              </a:rPr>
              <a:t>|  layers</a:t>
            </a:r>
            <a:endParaRPr lang="en-US" sz="18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56657E"/>
            </a:solidFill>
            <a:prstDash val="dash"/>
          </a:ln>
        </p:spPr>
      </p:sp>
      <p:sp>
        <p:nvSpPr>
          <p:cNvPr id="52" name="Text 49"/>
          <p:cNvSpPr txBox="1"/>
          <p:nvPr/>
        </p:nvSpPr>
        <p:spPr>
          <a:xfrm>
            <a:off x="6190488" y="4617720"/>
            <a:ext cx="1627632" cy="54864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identify</a:t>
            </a:r>
            <a:endParaRPr lang="en-US" sz="18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56657E"/>
            </a:solidFill>
            <a:prstDash val="dash"/>
          </a:ln>
        </p:spPr>
      </p:sp>
      <p:sp>
        <p:nvSpPr>
          <p:cNvPr id="55" name="Text 52"/>
          <p:cNvSpPr txBox="1"/>
          <p:nvPr/>
        </p:nvSpPr>
        <p:spPr>
          <a:xfrm>
            <a:off x="8055864" y="4617720"/>
            <a:ext cx="1627632" cy="54864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--help</a:t>
            </a:r>
            <a:endParaRPr lang="en-US" sz="18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sp>
      <p:sp>
        <p:nvSpPr>
          <p:cNvPr id="58" name="Text 55"/>
          <p:cNvSpPr txBox="1"/>
          <p:nvPr/>
        </p:nvSpPr>
        <p:spPr>
          <a:xfrm>
            <a:off x="9921240" y="4617720"/>
            <a:ext cx="1627632" cy="548640"/>
          </a:xfrm>
          <a:prstGeom prst="rect">
            <a:avLst/>
          </a:prstGeom>
          <a:noFill/>
          <a:ln/>
        </p:spPr>
        <p:txBody>
          <a:bodyPr wrap="square" lIns="0" tIns="0" rIns="0" bIns="0" rtlCol="0" anchor="ctr"/>
          <a:lstStyle/>
          <a:p>
            <a:pPr algn="ctr" indent="0" marL="0">
              <a:buNone/>
            </a:pPr>
            <a:r>
              <a:rPr lang="en-US" sz="1300" b="1" dirty="0">
                <a:solidFill>
                  <a:srgbClr val="56657E"/>
                </a:solidFill>
                <a:latin typeface="Courier New" pitchFamily="34" charset="0"/>
                <a:ea typeface="Courier New" pitchFamily="34" charset="-122"/>
                <a:cs typeface="Courier New" pitchFamily="34" charset="-120"/>
              </a:rPr>
              <a:t>known plaintext</a:t>
            </a:r>
            <a:endParaRPr lang="en-US" sz="13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Eighteen codebreaking skills, used on a real Linux system, in one session.</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6" name="Shape 3"/>
          <p:cNvSpPr/>
          <p:nvPr/>
        </p:nvSpPr>
        <p:spPr>
          <a:xfrm>
            <a:off x="548640" y="1554480"/>
            <a:ext cx="731520" cy="731520"/>
          </a:xfrm>
          <a:prstGeom prst="ellipse">
            <a:avLst/>
          </a:prstGeom>
          <a:solidFill>
            <a:srgbClr val="17875A"/>
          </a:solidFill>
          <a:ln/>
        </p:spPr>
      </p:sp>
      <p:pic>
        <p:nvPicPr>
          <p:cNvPr id="7" name="Image 0" descr="preencoded.png">    </p:cNvPr>
          <p:cNvPicPr>
            <a:picLocks noChangeAspect="1"/>
          </p:cNvPicPr>
          <p:nvPr/>
        </p:nvPicPr>
        <p:blipFill>
          <a:blip r:embed="rId1"/>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Identify, then decode</a:t>
            </a:r>
            <a:endParaRPr lang="en-US" sz="1800" dirty="0"/>
          </a:p>
        </p:txBody>
      </p:sp>
      <p:sp>
        <p:nvSpPr>
          <p:cNvPr id="9" name="Text 5"/>
          <p:cNvSpPr txBox="1"/>
          <p:nvPr/>
        </p:nvSpPr>
        <p:spPr>
          <a:xfrm>
            <a:off x="1508760" y="193852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Analysts decode base64 and hex in suspicious emails and malware every day</a:t>
            </a:r>
            <a:endParaRPr lang="en-US" sz="1500" dirty="0"/>
          </a:p>
        </p:txBody>
      </p:sp>
      <p:sp>
        <p:nvSpPr>
          <p:cNvPr id="10" name="Shape 6"/>
          <p:cNvSpPr/>
          <p:nvPr/>
        </p:nvSpPr>
        <p:spPr>
          <a:xfrm>
            <a:off x="548640" y="2651760"/>
            <a:ext cx="731520" cy="731520"/>
          </a:xfrm>
          <a:prstGeom prst="ellipse">
            <a:avLst/>
          </a:prstGeom>
          <a:solidFill>
            <a:srgbClr val="C9A227"/>
          </a:solidFill>
          <a:ln/>
        </p:spPr>
      </p:sp>
      <p:pic>
        <p:nvPicPr>
          <p:cNvPr id="11" name="Image 1" descr="preencoded.png">    </p:cNvPr>
          <p:cNvPicPr>
            <a:picLocks noChangeAspect="1"/>
          </p:cNvPicPr>
          <p:nvPr/>
        </p:nvPicPr>
        <p:blipFill>
          <a:blip r:embed="rId2"/>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Hashes and wordlists</a:t>
            </a:r>
            <a:endParaRPr lang="en-US" sz="1800" dirty="0"/>
          </a:p>
        </p:txBody>
      </p:sp>
      <p:sp>
        <p:nvSpPr>
          <p:cNvPr id="13" name="Text 8"/>
          <p:cNvSpPr txBox="1"/>
          <p:nvPr/>
        </p:nvSpPr>
        <p:spPr>
          <a:xfrm>
            <a:off x="1508760" y="303580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Penetration testers check whether a company's passwords fall to a wordlist</a:t>
            </a:r>
            <a:endParaRPr lang="en-US" sz="1500" dirty="0"/>
          </a:p>
        </p:txBody>
      </p:sp>
      <p:sp>
        <p:nvSpPr>
          <p:cNvPr id="14" name="Shape 9"/>
          <p:cNvSpPr/>
          <p:nvPr/>
        </p:nvSpPr>
        <p:spPr>
          <a:xfrm>
            <a:off x="548640" y="3749040"/>
            <a:ext cx="731520" cy="731520"/>
          </a:xfrm>
          <a:prstGeom prst="ellipse">
            <a:avLst/>
          </a:prstGeom>
          <a:solidFill>
            <a:srgbClr val="5B6EE1"/>
          </a:solidFill>
          <a:ln/>
        </p:spPr>
      </p:sp>
      <p:pic>
        <p:nvPicPr>
          <p:cNvPr id="15" name="Image 2" descr="preencoded.png">    </p:cNvPr>
          <p:cNvPicPr>
            <a:picLocks noChangeAspect="1"/>
          </p:cNvPicPr>
          <p:nvPr/>
        </p:nvPicPr>
        <p:blipFill>
          <a:blip r:embed="rId3"/>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Find the key</a:t>
            </a:r>
            <a:endParaRPr lang="en-US" sz="1800" dirty="0"/>
          </a:p>
        </p:txBody>
      </p:sp>
      <p:sp>
        <p:nvSpPr>
          <p:cNvPr id="17" name="Text 11"/>
          <p:cNvSpPr txBox="1"/>
          <p:nvPr/>
        </p:nvSpPr>
        <p:spPr>
          <a:xfrm>
            <a:off x="1508760" y="413308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Incident responders hunt for leaked keys and passwords in files and code</a:t>
            </a:r>
            <a:endParaRPr lang="en-US" sz="1500" dirty="0"/>
          </a:p>
        </p:txBody>
      </p:sp>
      <p:sp>
        <p:nvSpPr>
          <p:cNvPr id="18" name="Shape 12"/>
          <p:cNvSpPr/>
          <p:nvPr/>
        </p:nvSpPr>
        <p:spPr>
          <a:xfrm>
            <a:off x="548640" y="4846320"/>
            <a:ext cx="731520" cy="731520"/>
          </a:xfrm>
          <a:prstGeom prst="ellipse">
            <a:avLst/>
          </a:prstGeom>
          <a:solidFill>
            <a:srgbClr val="2459D8"/>
          </a:solidFill>
          <a:ln/>
        </p:spPr>
      </p:sp>
      <p:pic>
        <p:nvPicPr>
          <p:cNvPr id="19" name="Image 3" descr="preencoded.png">    </p:cNvPr>
          <p:cNvPicPr>
            <a:picLocks noChangeAspect="1"/>
          </p:cNvPicPr>
          <p:nvPr/>
        </p:nvPicPr>
        <p:blipFill>
          <a:blip r:embed="rId4"/>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Use real crypto right</a:t>
            </a:r>
            <a:endParaRPr lang="en-US" sz="1800" dirty="0"/>
          </a:p>
        </p:txBody>
      </p:sp>
      <p:sp>
        <p:nvSpPr>
          <p:cNvPr id="21" name="Text 14"/>
          <p:cNvSpPr txBox="1"/>
          <p:nvPr/>
        </p:nvSpPr>
        <p:spPr>
          <a:xfrm>
            <a:off x="1508760" y="523036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Engineers protect data with tested libraries and good key management</a:t>
            </a:r>
            <a:endParaRPr lang="en-US" sz="1500" dirty="0"/>
          </a:p>
        </p:txBody>
      </p:sp>
      <p:sp>
        <p:nvSpPr>
          <p:cNvPr id="22" name="Shape 15"/>
          <p:cNvSpPr/>
          <p:nvPr/>
        </p:nvSpPr>
        <p:spPr>
          <a:xfrm>
            <a:off x="7406640" y="1554480"/>
            <a:ext cx="4233672" cy="4343400"/>
          </a:xfrm>
          <a:prstGeom prst="roundRect">
            <a:avLst>
              <a:gd name="adj" fmla="val 2160"/>
            </a:avLst>
          </a:prstGeom>
          <a:solidFill>
            <a:srgbClr val="F1F5FB"/>
          </a:solidFill>
          <a:ln/>
        </p:spPr>
      </p:sp>
      <p:sp>
        <p:nvSpPr>
          <p:cNvPr id="23" name="Text 16"/>
          <p:cNvSpPr txBox="1"/>
          <p:nvPr/>
        </p:nvSpPr>
        <p:spPr>
          <a:xfrm>
            <a:off x="7726680" y="1783080"/>
            <a:ext cx="36576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cipher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was 'find the key' rather than 'break the cipher'?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Why are long, unusual passwords safer after Mission 10?</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base64 or hex in real life?</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Keep climbing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6" name="Shape 3"/>
          <p:cNvSpPr/>
          <p:nvPr/>
        </p:nvSpPr>
        <p:spPr>
          <a:xfrm>
            <a:off x="548640" y="1554480"/>
            <a:ext cx="3566160" cy="3017520"/>
          </a:xfrm>
          <a:prstGeom prst="roundRect">
            <a:avLst>
              <a:gd name="adj" fmla="val 3030"/>
            </a:avLst>
          </a:prstGeom>
          <a:solidFill>
            <a:srgbClr val="F1F5FB"/>
          </a:solidFill>
          <a:ln/>
        </p:spPr>
      </p:sp>
      <p:sp>
        <p:nvSpPr>
          <p:cNvPr id="7" name="Text 4"/>
          <p:cNvSpPr txBox="1"/>
          <p:nvPr/>
        </p:nvSpPr>
        <p:spPr>
          <a:xfrm>
            <a:off x="822960" y="1783080"/>
            <a:ext cx="3108960" cy="457200"/>
          </a:xfrm>
          <a:prstGeom prst="rect">
            <a:avLst/>
          </a:prstGeom>
          <a:noFill/>
          <a:ln/>
        </p:spPr>
        <p:txBody>
          <a:bodyPr wrap="square" lIns="0" tIns="0" rIns="0" bIns="0" rtlCol="0" anchor="t"/>
          <a:lstStyle/>
          <a:p>
            <a:pPr indent="0" marL="0">
              <a:buNone/>
            </a:pPr>
            <a:r>
              <a:rPr lang="en-US" sz="2000" b="1" dirty="0">
                <a:solidFill>
                  <a:srgbClr val="2459D8"/>
                </a:solidFill>
                <a:latin typeface="Arial" pitchFamily="34" charset="0"/>
                <a:ea typeface="Arial" pitchFamily="34" charset="-122"/>
                <a:cs typeface="Arial" pitchFamily="34" charset="-120"/>
              </a:rPr>
              <a:t>Next: CyberQuest</a:t>
            </a:r>
            <a:endParaRPr lang="en-US" sz="2000" dirty="0"/>
          </a:p>
        </p:txBody>
      </p:sp>
      <p:sp>
        <p:nvSpPr>
          <p:cNvPr id="8" name="Text 5"/>
          <p:cNvSpPr txBox="1"/>
          <p:nvPr/>
        </p:nvSpPr>
        <p:spPr>
          <a:xfrm>
            <a:off x="822960"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[CyberQuest Academy link]</a:t>
            </a:r>
            <a:endParaRPr lang="en-US" sz="1300" dirty="0"/>
          </a:p>
        </p:txBody>
      </p:sp>
      <p:sp>
        <p:nvSpPr>
          <p:cNvPr id="9" name="Text 6"/>
          <p:cNvSpPr txBox="1"/>
          <p:nvPr/>
        </p:nvSpPr>
        <p:spPr>
          <a:xfrm>
            <a:off x="822960"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More CTFs, live scoreboards and harder missions are waiting for you there.</a:t>
            </a:r>
            <a:endParaRPr lang="en-US" sz="1600" dirty="0"/>
          </a:p>
        </p:txBody>
      </p:sp>
      <p:sp>
        <p:nvSpPr>
          <p:cNvPr id="10" name="Shape 7"/>
          <p:cNvSpPr/>
          <p:nvPr/>
        </p:nvSpPr>
        <p:spPr>
          <a:xfrm>
            <a:off x="4306824" y="1554480"/>
            <a:ext cx="3566160" cy="3017520"/>
          </a:xfrm>
          <a:prstGeom prst="roundRect">
            <a:avLst>
              <a:gd name="adj" fmla="val 3030"/>
            </a:avLst>
          </a:prstGeom>
          <a:solidFill>
            <a:srgbClr val="F1F5FB"/>
          </a:solidFill>
          <a:ln/>
        </p:spPr>
      </p:sp>
      <p:sp>
        <p:nvSpPr>
          <p:cNvPr id="11" name="Text 8"/>
          <p:cNvSpPr txBox="1"/>
          <p:nvPr/>
        </p:nvSpPr>
        <p:spPr>
          <a:xfrm>
            <a:off x="4581144" y="1783080"/>
            <a:ext cx="3108960" cy="457200"/>
          </a:xfrm>
          <a:prstGeom prst="rect">
            <a:avLst/>
          </a:prstGeom>
          <a:noFill/>
          <a:ln/>
        </p:spPr>
        <p:txBody>
          <a:bodyPr wrap="square" lIns="0" tIns="0" rIns="0" bIns="0" rtlCol="0" anchor="t"/>
          <a:lstStyle/>
          <a:p>
            <a:pPr indent="0" marL="0">
              <a:buNone/>
            </a:pPr>
            <a:r>
              <a:rPr lang="en-US" sz="2000" b="1" dirty="0">
                <a:solidFill>
                  <a:srgbClr val="7448D4"/>
                </a:solidFill>
                <a:latin typeface="Arial" pitchFamily="34" charset="0"/>
                <a:ea typeface="Arial" pitchFamily="34" charset="-122"/>
                <a:cs typeface="Arial" pitchFamily="34" charset="-120"/>
              </a:rPr>
              <a:t>Replay the Crypto CTF</a:t>
            </a:r>
            <a:endParaRPr lang="en-US" sz="2000" dirty="0"/>
          </a:p>
        </p:txBody>
      </p:sp>
      <p:sp>
        <p:nvSpPr>
          <p:cNvPr id="12" name="Text 9"/>
          <p:cNvSpPr txBox="1"/>
          <p:nvPr/>
        </p:nvSpPr>
        <p:spPr>
          <a:xfrm>
            <a:off x="4581144"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[your CTF link]/crypto/</a:t>
            </a:r>
            <a:endParaRPr lang="en-US" sz="1300" dirty="0"/>
          </a:p>
        </p:txBody>
      </p:sp>
      <p:sp>
        <p:nvSpPr>
          <p:cNvPr id="13" name="Text 10"/>
          <p:cNvSpPr txBox="1"/>
          <p:nvPr/>
        </p:nvSpPr>
        <p:spPr>
          <a:xfrm>
            <a:off x="4581144"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Works at home. New keys and flags on every replay. Beat your time.</a:t>
            </a:r>
            <a:endParaRPr lang="en-US" sz="1600" dirty="0"/>
          </a:p>
        </p:txBody>
      </p:sp>
      <p:sp>
        <p:nvSpPr>
          <p:cNvPr id="14" name="Shape 11"/>
          <p:cNvSpPr/>
          <p:nvPr/>
        </p:nvSpPr>
        <p:spPr>
          <a:xfrm>
            <a:off x="8065008" y="1554480"/>
            <a:ext cx="3566160" cy="3017520"/>
          </a:xfrm>
          <a:prstGeom prst="roundRect">
            <a:avLst>
              <a:gd name="adj" fmla="val 3030"/>
            </a:avLst>
          </a:prstGeom>
          <a:solidFill>
            <a:srgbClr val="F1F5FB"/>
          </a:solidFill>
          <a:ln/>
        </p:spPr>
      </p:sp>
      <p:sp>
        <p:nvSpPr>
          <p:cNvPr id="15" name="Text 12"/>
          <p:cNvSpPr txBox="1"/>
          <p:nvPr/>
        </p:nvSpPr>
        <p:spPr>
          <a:xfrm>
            <a:off x="8339328" y="1783080"/>
            <a:ext cx="3108960" cy="457200"/>
          </a:xfrm>
          <a:prstGeom prst="rect">
            <a:avLst/>
          </a:prstGeom>
          <a:noFill/>
          <a:ln/>
        </p:spPr>
        <p:txBody>
          <a:bodyPr wrap="square" lIns="0" tIns="0" rIns="0" bIns="0" rtlCol="0" anchor="t"/>
          <a:lstStyle/>
          <a:p>
            <a:pPr indent="0" marL="0">
              <a:buNone/>
            </a:pPr>
            <a:r>
              <a:rPr lang="en-US" sz="2000" b="1" dirty="0">
                <a:solidFill>
                  <a:srgbClr val="D1416B"/>
                </a:solidFill>
                <a:latin typeface="Arial" pitchFamily="34" charset="0"/>
                <a:ea typeface="Arial" pitchFamily="34" charset="-122"/>
                <a:cs typeface="Arial" pitchFamily="34" charset="-120"/>
              </a:rPr>
              <a:t>Explore CyberChef</a:t>
            </a:r>
            <a:endParaRPr lang="en-US" sz="2000" dirty="0"/>
          </a:p>
        </p:txBody>
      </p:sp>
      <p:sp>
        <p:nvSpPr>
          <p:cNvPr id="16" name="Text 13"/>
          <p:cNvSpPr txBox="1"/>
          <p:nvPr/>
        </p:nvSpPr>
        <p:spPr>
          <a:xfrm>
            <a:off x="8339328"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gchq.github.io/CyberChef</a:t>
            </a:r>
            <a:endParaRPr lang="en-US" sz="1300" dirty="0"/>
          </a:p>
        </p:txBody>
      </p:sp>
      <p:sp>
        <p:nvSpPr>
          <p:cNvPr id="17" name="Text 14"/>
          <p:cNvSpPr txBox="1"/>
          <p:nvPr/>
        </p:nvSpPr>
        <p:spPr>
          <a:xfrm>
            <a:off x="8339328"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Drag-and-drop decoders. Try a recipe: From Base64, then ROT13.</a:t>
            </a:r>
            <a:endParaRPr lang="en-US" sz="1600" dirty="0"/>
          </a:p>
        </p:txBody>
      </p:sp>
      <p:sp>
        <p:nvSpPr>
          <p:cNvPr id="18" name="Shape 15"/>
          <p:cNvSpPr/>
          <p:nvPr/>
        </p:nvSpPr>
        <p:spPr>
          <a:xfrm>
            <a:off x="548640" y="4846320"/>
            <a:ext cx="11094415" cy="1051560"/>
          </a:xfrm>
          <a:prstGeom prst="roundRect">
            <a:avLst>
              <a:gd name="adj" fmla="val 8696"/>
            </a:avLst>
          </a:prstGeom>
          <a:solidFill>
            <a:srgbClr val="0E1726"/>
          </a:solidFill>
          <a:ln/>
          <a:effectLst>
            <a:outerShdw sx="100000" sy="100000" kx="0" ky="0" algn="bl" rotWithShape="0" blurRad="127000" dist="38100" dir="5400000">
              <a:srgbClr val="12213A">
                <a:alpha val="22000"/>
              </a:srgbClr>
            </a:outerShdw>
          </a:effectLst>
        </p:spPr>
      </p:sp>
      <p:sp>
        <p:nvSpPr>
          <p:cNvPr id="19" name="Shape 16"/>
          <p:cNvSpPr/>
          <p:nvPr/>
        </p:nvSpPr>
        <p:spPr>
          <a:xfrm>
            <a:off x="749808" y="5001768"/>
            <a:ext cx="118872" cy="118872"/>
          </a:xfrm>
          <a:prstGeom prst="ellipse">
            <a:avLst/>
          </a:prstGeom>
          <a:solidFill>
            <a:srgbClr val="E5534B"/>
          </a:solidFill>
          <a:ln/>
        </p:spPr>
      </p:sp>
      <p:sp>
        <p:nvSpPr>
          <p:cNvPr id="20" name="Shape 17"/>
          <p:cNvSpPr/>
          <p:nvPr/>
        </p:nvSpPr>
        <p:spPr>
          <a:xfrm>
            <a:off x="950976" y="5001768"/>
            <a:ext cx="118872" cy="118872"/>
          </a:xfrm>
          <a:prstGeom prst="ellipse">
            <a:avLst/>
          </a:prstGeom>
          <a:solidFill>
            <a:srgbClr val="F5A623"/>
          </a:solidFill>
          <a:ln/>
        </p:spPr>
      </p:sp>
      <p:sp>
        <p:nvSpPr>
          <p:cNvPr id="21" name="Shape 18"/>
          <p:cNvSpPr/>
          <p:nvPr/>
        </p:nvSpPr>
        <p:spPr>
          <a:xfrm>
            <a:off x="1152144" y="5001768"/>
            <a:ext cx="118872" cy="118872"/>
          </a:xfrm>
          <a:prstGeom prst="ellipse">
            <a:avLst/>
          </a:prstGeom>
          <a:solidFill>
            <a:srgbClr val="46D39A"/>
          </a:solidFill>
          <a:ln/>
        </p:spPr>
      </p:sp>
      <p:sp>
        <p:nvSpPr>
          <p:cNvPr id="22" name="Text 19"/>
          <p:cNvSpPr txBox="1"/>
          <p:nvPr/>
        </p:nvSpPr>
        <p:spPr>
          <a:xfrm>
            <a:off x="822960" y="5303520"/>
            <a:ext cx="10545775" cy="457200"/>
          </a:xfrm>
          <a:prstGeom prst="rect">
            <a:avLst/>
          </a:prstGeom>
          <a:noFill/>
          <a:ln/>
        </p:spPr>
        <p:txBody>
          <a:bodyPr wrap="square" lIns="0" tIns="0" rIns="0" bIns="0" rtlCol="0" anchor="t"/>
          <a:lstStyle/>
          <a:p>
            <a:pPr indent="0" marL="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700" b="1" dirty="0">
                <a:solidFill>
                  <a:srgbClr val="FFFFFF"/>
                </a:solidFill>
                <a:latin typeface="Courier New" pitchFamily="34" charset="0"/>
                <a:ea typeface="Courier New" pitchFamily="34" charset="-122"/>
                <a:cs typeface="Courier New" pitchFamily="34" charset="-120"/>
              </a:rPr>
              <a:t>echo 'Gunaxf sbe cynlvat.' | tr A-Za-z N-ZA-Mn-za-m</a:t>
            </a:r>
            <a:pPr indent="0" marL="0">
              <a:spcAft>
                <a:spcPts val="200"/>
              </a:spcAft>
              <a:buNone/>
            </a:pPr>
            <a:r>
              <a:rPr lang="en-US" sz="1700" dirty="0">
                <a:solidFill>
                  <a:srgbClr val="7F8FAD"/>
                </a:solidFill>
                <a:latin typeface="Courier New" pitchFamily="34" charset="0"/>
                <a:ea typeface="Courier New" pitchFamily="34" charset="-122"/>
                <a:cs typeface="Courier New" pitchFamily="34" charset="-120"/>
              </a:rPr>
              <a:t>   # Thanks for playing.</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how the Crypto CTF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sp>
      <p:sp>
        <p:nvSpPr>
          <p:cNvPr id="7" name="Shape 4"/>
          <p:cNvSpPr/>
          <p:nvPr/>
        </p:nvSpPr>
        <p:spPr>
          <a:xfrm>
            <a:off x="822960" y="1783080"/>
            <a:ext cx="868680" cy="868680"/>
          </a:xfrm>
          <a:prstGeom prst="ellipse">
            <a:avLst/>
          </a:prstGeom>
          <a:solidFill>
            <a:srgbClr val="2A9FD6"/>
          </a:solidFill>
          <a:ln/>
        </p:spPr>
      </p:sp>
      <p:pic>
        <p:nvPicPr>
          <p:cNvPr id="8" name="Image 0" descr="preencoded.png">    </p:cNvPr>
          <p:cNvPicPr>
            <a:picLocks noChangeAspect="1"/>
          </p:cNvPicPr>
          <p:nvPr/>
        </p:nvPicPr>
        <p:blipFill>
          <a:blip r:embed="rId1"/>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Linux in the browser, plus five small crypto helper tools.</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sp>
      <p:sp>
        <p:nvSpPr>
          <p:cNvPr id="12" name="Shape 8"/>
          <p:cNvSpPr/>
          <p:nvPr/>
        </p:nvSpPr>
        <p:spPr>
          <a:xfrm>
            <a:off x="4581144" y="1783080"/>
            <a:ext cx="868680" cy="868680"/>
          </a:xfrm>
          <a:prstGeom prst="ellipse">
            <a:avLst/>
          </a:prstGeom>
          <a:solidFill>
            <a:srgbClr val="7448D4"/>
          </a:solidFill>
          <a:ln/>
        </p:spPr>
      </p:sp>
      <p:pic>
        <p:nvPicPr>
          <p:cNvPr id="13" name="Image 1" descr="preencoded.png">    </p:cNvPr>
          <p:cNvPicPr>
            <a:picLocks noChangeAspect="1"/>
          </p:cNvPicPr>
          <p:nvPr/>
        </p:nvPicPr>
        <p:blipFill>
          <a:blip r:embed="rId2"/>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New keys every load</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Random flags, shifts, XOR keys and keywords. No answer file.</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sp>
      <p:sp>
        <p:nvSpPr>
          <p:cNvPr id="17" name="Shape 12"/>
          <p:cNvSpPr/>
          <p:nvPr/>
        </p:nvSpPr>
        <p:spPr>
          <a:xfrm>
            <a:off x="8339328" y="1783080"/>
            <a:ext cx="868680" cy="868680"/>
          </a:xfrm>
          <a:prstGeom prst="ellipse">
            <a:avLst/>
          </a:prstGeom>
          <a:solidFill>
            <a:srgbClr val="D1416B"/>
          </a:solidFill>
          <a:ln/>
        </p:spPr>
      </p:sp>
      <p:pic>
        <p:nvPicPr>
          <p:cNvPr id="18" name="Image 2" descr="preencoded.png">    </p:cNvPr>
          <p:cNvPicPr>
            <a:picLocks noChangeAspect="1"/>
          </p:cNvPicPr>
          <p:nvPr/>
        </p:nvPicPr>
        <p:blipFill>
          <a:blip r:embed="rId3"/>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One link: your Pages address + /crypto/. No accounts.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indent="0" marL="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sp>
      <p:sp>
        <p:nvSpPr>
          <p:cNvPr id="23" name="Text 17"/>
          <p:cNvSpPr txBox="1"/>
          <p:nvPr/>
        </p:nvSpPr>
        <p:spPr>
          <a:xfrm>
            <a:off x="548640" y="5303520"/>
            <a:ext cx="1499616" cy="347472"/>
          </a:xfrm>
          <a:prstGeom prst="rect">
            <a:avLst/>
          </a:prstGeom>
          <a:noFill/>
          <a:ln/>
        </p:spPr>
        <p:txBody>
          <a:bodyPr wrap="square" lIns="0" tIns="0" rIns="0" bIns="0" rtlCol="0" anchor="ctr"/>
          <a:lstStyle/>
          <a:p>
            <a:pPr algn="ctr" indent="0" marL="0">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sp>
      <p:sp>
        <p:nvSpPr>
          <p:cNvPr id="26" name="Text 20"/>
          <p:cNvSpPr txBox="1"/>
          <p:nvPr/>
        </p:nvSpPr>
        <p:spPr>
          <a:xfrm>
            <a:off x="2212848" y="5303520"/>
            <a:ext cx="254203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760220" cy="347472"/>
          </a:xfrm>
          <a:prstGeom prst="roundRect">
            <a:avLst>
              <a:gd name="adj" fmla="val 50000"/>
            </a:avLst>
          </a:prstGeom>
          <a:solidFill>
            <a:srgbClr val="7448D4"/>
          </a:solidFill>
          <a:ln/>
        </p:spPr>
      </p:sp>
      <p:sp>
        <p:nvSpPr>
          <p:cNvPr id="29" name="Text 23"/>
          <p:cNvSpPr txBox="1"/>
          <p:nvPr/>
        </p:nvSpPr>
        <p:spPr>
          <a:xfrm>
            <a:off x="4919472" y="5303520"/>
            <a:ext cx="1760220"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Linux + BusyBox</a:t>
            </a:r>
            <a:endParaRPr lang="en-US" sz="1250" dirty="0"/>
          </a:p>
        </p:txBody>
      </p:sp>
      <p:sp>
        <p:nvSpPr>
          <p:cNvPr id="30" name="Text 24"/>
          <p:cNvSpPr txBox="1"/>
          <p:nvPr/>
        </p:nvSpPr>
        <p:spPr>
          <a:xfrm>
            <a:off x="6679692"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844284" y="5303520"/>
            <a:ext cx="2107692" cy="347472"/>
          </a:xfrm>
          <a:prstGeom prst="roundRect">
            <a:avLst>
              <a:gd name="adj" fmla="val 50000"/>
            </a:avLst>
          </a:prstGeom>
          <a:solidFill>
            <a:srgbClr val="D1416B"/>
          </a:solidFill>
          <a:ln/>
        </p:spPr>
      </p:sp>
      <p:sp>
        <p:nvSpPr>
          <p:cNvPr id="32" name="Text 26"/>
          <p:cNvSpPr txBox="1"/>
          <p:nvPr/>
        </p:nvSpPr>
        <p:spPr>
          <a:xfrm>
            <a:off x="6844284" y="5303520"/>
            <a:ext cx="210769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crypto helper tools</a:t>
            </a:r>
            <a:endParaRPr lang="en-US" sz="1250" dirty="0"/>
          </a:p>
        </p:txBody>
      </p:sp>
      <p:sp>
        <p:nvSpPr>
          <p:cNvPr id="33" name="Text 27"/>
          <p:cNvSpPr txBox="1"/>
          <p:nvPr/>
        </p:nvSpPr>
        <p:spPr>
          <a:xfrm>
            <a:off x="8951976"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9116568" y="5303520"/>
            <a:ext cx="1760220" cy="347472"/>
          </a:xfrm>
          <a:prstGeom prst="roundRect">
            <a:avLst>
              <a:gd name="adj" fmla="val 50000"/>
            </a:avLst>
          </a:prstGeom>
          <a:solidFill>
            <a:srgbClr val="F5A623"/>
          </a:solidFill>
          <a:ln/>
        </p:spPr>
      </p:sp>
      <p:sp>
        <p:nvSpPr>
          <p:cNvPr id="35" name="Text 29"/>
          <p:cNvSpPr txBox="1"/>
          <p:nvPr/>
        </p:nvSpPr>
        <p:spPr>
          <a:xfrm>
            <a:off x="9116568" y="5303520"/>
            <a:ext cx="1760220" cy="347472"/>
          </a:xfrm>
          <a:prstGeom prst="rect">
            <a:avLst/>
          </a:prstGeom>
          <a:noFill/>
          <a:ln/>
        </p:spPr>
        <p:txBody>
          <a:bodyPr wrap="square" lIns="0" tIns="0" rIns="0" bIns="0" rtlCol="0" anchor="ctr"/>
          <a:lstStyle/>
          <a:p>
            <a:pPr algn="ctr" indent="0" marL="0">
              <a:buNone/>
            </a:pPr>
            <a:r>
              <a:rPr lang="en-US" sz="1250" b="1" dirty="0">
                <a:solidFill>
                  <a:srgbClr val="12213A"/>
                </a:solidFill>
                <a:latin typeface="Calibri" pitchFamily="34" charset="0"/>
                <a:ea typeface="Calibri" pitchFamily="34" charset="-122"/>
                <a:cs typeface="Calibri" pitchFamily="34" charset="-120"/>
              </a:rPr>
              <a:t>Your 10 ciphers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Source: public/crypto/ (page) and guest-crypto/ (missions, tools, Linux image).</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open the Crypto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6" name="Shape 3"/>
          <p:cNvSpPr/>
          <p:nvPr/>
        </p:nvSpPr>
        <p:spPr>
          <a:xfrm>
            <a:off x="548640" y="1691640"/>
            <a:ext cx="457200" cy="457200"/>
          </a:xfrm>
          <a:prstGeom prst="ellipse">
            <a:avLst/>
          </a:prstGeom>
          <a:solidFill>
            <a:srgbClr val="2459D8"/>
          </a:solidFill>
          <a:ln/>
        </p:spPr>
      </p:sp>
      <p:sp>
        <p:nvSpPr>
          <p:cNvPr id="7" name="Text 4"/>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Open Chrome </a:t>
            </a:r>
            <a:pPr indent="0" marL="0">
              <a:buNone/>
            </a:pP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sp>
      <p:sp>
        <p:nvSpPr>
          <p:cNvPr id="10" name="Text 7"/>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Watch it boot. </a:t>
            </a:r>
            <a:pPr indent="0" marL="0">
              <a:buNone/>
            </a:pP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sp>
      <p:sp>
        <p:nvSpPr>
          <p:cNvPr id="13" name="Text 10"/>
          <p:cNvSpPr txBox="1"/>
          <p:nvPr/>
        </p:nvSpPr>
        <p:spPr>
          <a:xfrm>
            <a:off x="548640" y="3703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Click inside the black terminal. </a:t>
            </a:r>
            <a:pPr indent="0" marL="0">
              <a:buNone/>
            </a:pP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sp>
      <p:sp>
        <p:nvSpPr>
          <p:cNvPr id="16" name="Text 13"/>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Never reload the page. </a:t>
            </a:r>
            <a:pPr indent="0" marL="0">
              <a:buNone/>
            </a:pP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sp>
      <p:sp>
        <p:nvSpPr>
          <p:cNvPr id="19" name="Text 16"/>
          <p:cNvSpPr txBox="1"/>
          <p:nvPr/>
        </p:nvSpPr>
        <p:spPr>
          <a:xfrm>
            <a:off x="7040880" y="1737360"/>
            <a:ext cx="4599432" cy="365760"/>
          </a:xfrm>
          <a:prstGeom prst="rect">
            <a:avLst/>
          </a:prstGeom>
          <a:noFill/>
          <a:ln/>
        </p:spPr>
        <p:txBody>
          <a:bodyPr wrap="square" lIns="0" tIns="0" rIns="0" bIns="0" rtlCol="0" anchor="ctr"/>
          <a:lstStyle/>
          <a:p>
            <a:pPr algn="ctr" indent="0" marL="0">
              <a:buNone/>
            </a:pPr>
            <a:r>
              <a:rPr lang="en-US" sz="1600" dirty="0">
                <a:solidFill>
                  <a:srgbClr val="B8C4D9"/>
                </a:solidFill>
                <a:latin typeface="Calibri" pitchFamily="34" charset="0"/>
                <a:ea typeface="Calibri" pitchFamily="34" charset="-122"/>
                <a:cs typeface="Calibri" pitchFamily="34" charset="-120"/>
              </a:rPr>
              <a:t>Crypto CTF address</a:t>
            </a:r>
            <a:endParaRPr lang="en-US" sz="1600" dirty="0"/>
          </a:p>
        </p:txBody>
      </p:sp>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sp>
      <p:sp>
        <p:nvSpPr>
          <p:cNvPr id="21" name="Text 18"/>
          <p:cNvSpPr txBox="1"/>
          <p:nvPr/>
        </p:nvSpPr>
        <p:spPr>
          <a:xfrm>
            <a:off x="7406640" y="2331720"/>
            <a:ext cx="3867912" cy="1371600"/>
          </a:xfrm>
          <a:prstGeom prst="rect">
            <a:avLst/>
          </a:prstGeom>
          <a:noFill/>
          <a:ln/>
        </p:spPr>
        <p:txBody>
          <a:bodyPr wrap="square" lIns="0" tIns="0" rIns="0" bIns="0" rtlCol="0" anchor="ctr"/>
          <a:lstStyle/>
          <a:p>
            <a:pPr algn="ctr" indent="0" marL="0">
              <a:buNone/>
            </a:pPr>
            <a:r>
              <a:rPr lang="en-US" sz="1700" b="1" dirty="0">
                <a:solidFill>
                  <a:srgbClr val="F5A623"/>
                </a:solidFill>
                <a:latin typeface="Courier New" pitchFamily="34" charset="0"/>
                <a:ea typeface="Courier New" pitchFamily="34" charset="-122"/>
                <a:cs typeface="Courier New" pitchFamily="34" charset="-120"/>
              </a:rPr>
              <a:t>your-group.gitlab.io/.../crypto/</a:t>
            </a:r>
            <a:endParaRPr lang="en-US" sz="1700" dirty="0"/>
          </a:p>
        </p:txBody>
      </p:sp>
      <p:sp>
        <p:nvSpPr>
          <p:cNvPr id="22" name="Text 19"/>
          <p:cNvSpPr txBox="1"/>
          <p:nvPr/>
        </p:nvSpPr>
        <p:spPr>
          <a:xfrm>
            <a:off x="7040880" y="3840480"/>
            <a:ext cx="4599432" cy="365760"/>
          </a:xfrm>
          <a:prstGeom prst="rect">
            <a:avLst/>
          </a:prstGeom>
          <a:noFill/>
          <a:ln/>
        </p:spPr>
        <p:txBody>
          <a:bodyPr wrap="square" lIns="0" tIns="0" rIns="0" bIns="0" rtlCol="0" anchor="ctr"/>
          <a:lstStyle/>
          <a:p>
            <a:pPr algn="ctr" indent="0" marL="0">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sp>
      <p:sp>
        <p:nvSpPr>
          <p:cNvPr id="24" name="Text 21"/>
          <p:cNvSpPr txBox="1"/>
          <p:nvPr/>
        </p:nvSpPr>
        <p:spPr>
          <a:xfrm>
            <a:off x="7315200" y="4709160"/>
            <a:ext cx="4114800" cy="118872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Don't start yet! </a:t>
            </a:r>
            <a:pPr indent="0" marL="0">
              <a:buNone/>
            </a:pPr>
            <a:r>
              <a:rPr lang="en-US" sz="1500" dirty="0">
                <a:solidFill>
                  <a:srgbClr val="12213A"/>
                </a:solidFill>
                <a:latin typeface="Calibri" pitchFamily="34" charset="0"/>
                <a:ea typeface="Calibri" pitchFamily="34" charset="-122"/>
                <a:cs typeface="Calibri" pitchFamily="34" charset="-120"/>
              </a:rPr>
              <a:t>The clock waits for Mission 1. The warm-up is untimed, so explore freely.</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6" name="Shape 3"/>
          <p:cNvSpPr/>
          <p:nvPr/>
        </p:nvSpPr>
        <p:spPr>
          <a:xfrm>
            <a:off x="548640" y="1325880"/>
            <a:ext cx="11094415" cy="329184"/>
          </a:xfrm>
          <a:prstGeom prst="rect">
            <a:avLst/>
          </a:prstGeom>
          <a:solidFill>
            <a:srgbClr val="F1F5FB"/>
          </a:solidFill>
          <a:ln/>
        </p:spPr>
      </p:sp>
      <p:sp>
        <p:nvSpPr>
          <p:cNvPr id="7" name="Shape 4"/>
          <p:cNvSpPr/>
          <p:nvPr/>
        </p:nvSpPr>
        <p:spPr>
          <a:xfrm>
            <a:off x="658368" y="1376172"/>
            <a:ext cx="228600" cy="228600"/>
          </a:xfrm>
          <a:prstGeom prst="ellipse">
            <a:avLst/>
          </a:prstGeom>
          <a:solidFill>
            <a:srgbClr val="56657E"/>
          </a:solidFill>
          <a:ln/>
        </p:spPr>
      </p:sp>
      <p:sp>
        <p:nvSpPr>
          <p:cNvPr id="8" name="Text 5"/>
          <p:cNvSpPr txBox="1"/>
          <p:nvPr/>
        </p:nvSpPr>
        <p:spPr>
          <a:xfrm>
            <a:off x="658368" y="137617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200400" y="132588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950" dirty="0"/>
          </a:p>
        </p:txBody>
      </p:sp>
      <p:sp>
        <p:nvSpPr>
          <p:cNvPr id="11" name="Text 8"/>
          <p:cNvSpPr txBox="1"/>
          <p:nvPr/>
        </p:nvSpPr>
        <p:spPr>
          <a:xfrm>
            <a:off x="10241280" y="132588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55064"/>
            <a:ext cx="11094415" cy="329184"/>
          </a:xfrm>
          <a:prstGeom prst="rect">
            <a:avLst/>
          </a:prstGeom>
          <a:solidFill>
            <a:srgbClr val="FFFFFF"/>
          </a:solidFill>
          <a:ln/>
        </p:spPr>
      </p:sp>
      <p:sp>
        <p:nvSpPr>
          <p:cNvPr id="13" name="Shape 10"/>
          <p:cNvSpPr/>
          <p:nvPr/>
        </p:nvSpPr>
        <p:spPr>
          <a:xfrm>
            <a:off x="658368" y="1705356"/>
            <a:ext cx="228600" cy="228600"/>
          </a:xfrm>
          <a:prstGeom prst="ellipse">
            <a:avLst/>
          </a:prstGeom>
          <a:solidFill>
            <a:srgbClr val="17875A"/>
          </a:solidFill>
          <a:ln/>
        </p:spPr>
      </p:sp>
      <p:sp>
        <p:nvSpPr>
          <p:cNvPr id="14" name="Text 11"/>
          <p:cNvSpPr txBox="1"/>
          <p:nvPr/>
        </p:nvSpPr>
        <p:spPr>
          <a:xfrm>
            <a:off x="658368" y="170535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5506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Not so secret</a:t>
            </a:r>
            <a:endParaRPr lang="en-US" sz="1200" dirty="0"/>
          </a:p>
        </p:txBody>
      </p:sp>
      <p:sp>
        <p:nvSpPr>
          <p:cNvPr id="16" name="Text 13"/>
          <p:cNvSpPr txBox="1"/>
          <p:nvPr/>
        </p:nvSpPr>
        <p:spPr>
          <a:xfrm>
            <a:off x="3200400" y="165506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~/mission1; base64 -d message.b64</a:t>
            </a:r>
            <a:endParaRPr lang="en-US" sz="950" dirty="0"/>
          </a:p>
        </p:txBody>
      </p:sp>
      <p:sp>
        <p:nvSpPr>
          <p:cNvPr id="17" name="Text 14"/>
          <p:cNvSpPr txBox="1"/>
          <p:nvPr/>
        </p:nvSpPr>
        <p:spPr>
          <a:xfrm>
            <a:off x="10241280" y="165506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84248"/>
            <a:ext cx="11094415" cy="329184"/>
          </a:xfrm>
          <a:prstGeom prst="rect">
            <a:avLst/>
          </a:prstGeom>
          <a:solidFill>
            <a:srgbClr val="F1F5FB"/>
          </a:solidFill>
          <a:ln/>
        </p:spPr>
      </p:sp>
      <p:sp>
        <p:nvSpPr>
          <p:cNvPr id="19" name="Shape 16"/>
          <p:cNvSpPr/>
          <p:nvPr/>
        </p:nvSpPr>
        <p:spPr>
          <a:xfrm>
            <a:off x="658368" y="2034540"/>
            <a:ext cx="228600" cy="228600"/>
          </a:xfrm>
          <a:prstGeom prst="ellipse">
            <a:avLst/>
          </a:prstGeom>
          <a:solidFill>
            <a:srgbClr val="2A9FD6"/>
          </a:solidFill>
          <a:ln/>
        </p:spPr>
      </p:sp>
      <p:sp>
        <p:nvSpPr>
          <p:cNvPr id="20" name="Text 17"/>
          <p:cNvSpPr txBox="1"/>
          <p:nvPr/>
        </p:nvSpPr>
        <p:spPr>
          <a:xfrm>
            <a:off x="658368" y="203454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8424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Hex marks the spot</a:t>
            </a:r>
            <a:endParaRPr lang="en-US" sz="1200" dirty="0"/>
          </a:p>
        </p:txBody>
      </p:sp>
      <p:sp>
        <p:nvSpPr>
          <p:cNvPr id="22" name="Text 19"/>
          <p:cNvSpPr txBox="1"/>
          <p:nvPr/>
        </p:nvSpPr>
        <p:spPr>
          <a:xfrm>
            <a:off x="3200400" y="198424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~/mission2; xxd -r -p secret.hex</a:t>
            </a:r>
            <a:endParaRPr lang="en-US" sz="950" dirty="0"/>
          </a:p>
        </p:txBody>
      </p:sp>
      <p:sp>
        <p:nvSpPr>
          <p:cNvPr id="23" name="Text 20"/>
          <p:cNvSpPr txBox="1"/>
          <p:nvPr/>
        </p:nvSpPr>
        <p:spPr>
          <a:xfrm>
            <a:off x="10241280" y="198424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313432"/>
            <a:ext cx="11094415" cy="329184"/>
          </a:xfrm>
          <a:prstGeom prst="rect">
            <a:avLst/>
          </a:prstGeom>
          <a:solidFill>
            <a:srgbClr val="FFFFFF"/>
          </a:solidFill>
          <a:ln/>
        </p:spPr>
      </p:sp>
      <p:sp>
        <p:nvSpPr>
          <p:cNvPr id="25" name="Shape 22"/>
          <p:cNvSpPr/>
          <p:nvPr/>
        </p:nvSpPr>
        <p:spPr>
          <a:xfrm>
            <a:off x="658368" y="2363724"/>
            <a:ext cx="228600" cy="228600"/>
          </a:xfrm>
          <a:prstGeom prst="ellipse">
            <a:avLst/>
          </a:prstGeom>
          <a:solidFill>
            <a:srgbClr val="2459D8"/>
          </a:solidFill>
          <a:ln/>
        </p:spPr>
      </p:sp>
      <p:sp>
        <p:nvSpPr>
          <p:cNvPr id="26" name="Text 23"/>
          <p:cNvSpPr txBox="1"/>
          <p:nvPr/>
        </p:nvSpPr>
        <p:spPr>
          <a:xfrm>
            <a:off x="658368" y="236372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313432"/>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Thirteen steps</a:t>
            </a:r>
            <a:endParaRPr lang="en-US" sz="1200" dirty="0"/>
          </a:p>
        </p:txBody>
      </p:sp>
      <p:sp>
        <p:nvSpPr>
          <p:cNvPr id="28" name="Text 25"/>
          <p:cNvSpPr txBox="1"/>
          <p:nvPr/>
        </p:nvSpPr>
        <p:spPr>
          <a:xfrm>
            <a:off x="3200400" y="2313432"/>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~/mission3; tr 'A-Za-z' 'N-ZA-Mn-za-m' &lt; message.txt</a:t>
            </a:r>
            <a:endParaRPr lang="en-US" sz="950" dirty="0"/>
          </a:p>
        </p:txBody>
      </p:sp>
      <p:sp>
        <p:nvSpPr>
          <p:cNvPr id="29" name="Text 26"/>
          <p:cNvSpPr txBox="1"/>
          <p:nvPr/>
        </p:nvSpPr>
        <p:spPr>
          <a:xfrm>
            <a:off x="10241280" y="2313432"/>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642616"/>
            <a:ext cx="11094415" cy="329184"/>
          </a:xfrm>
          <a:prstGeom prst="rect">
            <a:avLst/>
          </a:prstGeom>
          <a:solidFill>
            <a:srgbClr val="F1F5FB"/>
          </a:solidFill>
          <a:ln/>
        </p:spPr>
      </p:sp>
      <p:sp>
        <p:nvSpPr>
          <p:cNvPr id="31" name="Shape 28"/>
          <p:cNvSpPr/>
          <p:nvPr/>
        </p:nvSpPr>
        <p:spPr>
          <a:xfrm>
            <a:off x="658368" y="2692908"/>
            <a:ext cx="228600" cy="228600"/>
          </a:xfrm>
          <a:prstGeom prst="ellipse">
            <a:avLst/>
          </a:prstGeom>
          <a:solidFill>
            <a:srgbClr val="7448D4"/>
          </a:solidFill>
          <a:ln/>
        </p:spPr>
      </p:sp>
      <p:sp>
        <p:nvSpPr>
          <p:cNvPr id="32" name="Text 29"/>
          <p:cNvSpPr txBox="1"/>
          <p:nvPr/>
        </p:nvSpPr>
        <p:spPr>
          <a:xfrm>
            <a:off x="658368" y="269290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642616"/>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Hail Caesar</a:t>
            </a:r>
            <a:endParaRPr lang="en-US" sz="1200" dirty="0"/>
          </a:p>
        </p:txBody>
      </p:sp>
      <p:sp>
        <p:nvSpPr>
          <p:cNvPr id="34" name="Text 31"/>
          <p:cNvSpPr txBox="1"/>
          <p:nvPr/>
        </p:nvSpPr>
        <p:spPr>
          <a:xfrm>
            <a:off x="3200400" y="2642616"/>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~/mission4; caesar all message.txt | grep CYBA</a:t>
            </a:r>
            <a:endParaRPr lang="en-US" sz="950" dirty="0"/>
          </a:p>
        </p:txBody>
      </p:sp>
      <p:sp>
        <p:nvSpPr>
          <p:cNvPr id="35" name="Text 32"/>
          <p:cNvSpPr txBox="1"/>
          <p:nvPr/>
        </p:nvSpPr>
        <p:spPr>
          <a:xfrm>
            <a:off x="10241280" y="2642616"/>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971800"/>
            <a:ext cx="11094415" cy="329184"/>
          </a:xfrm>
          <a:prstGeom prst="rect">
            <a:avLst/>
          </a:prstGeom>
          <a:solidFill>
            <a:srgbClr val="FFFFFF"/>
          </a:solidFill>
          <a:ln/>
        </p:spPr>
      </p:sp>
      <p:sp>
        <p:nvSpPr>
          <p:cNvPr id="37" name="Shape 34"/>
          <p:cNvSpPr/>
          <p:nvPr/>
        </p:nvSpPr>
        <p:spPr>
          <a:xfrm>
            <a:off x="658368" y="3022092"/>
            <a:ext cx="228600" cy="228600"/>
          </a:xfrm>
          <a:prstGeom prst="ellipse">
            <a:avLst/>
          </a:prstGeom>
          <a:solidFill>
            <a:srgbClr val="D1416B"/>
          </a:solidFill>
          <a:ln/>
        </p:spPr>
      </p:sp>
      <p:sp>
        <p:nvSpPr>
          <p:cNvPr id="38" name="Text 35"/>
          <p:cNvSpPr txBox="1"/>
          <p:nvPr/>
        </p:nvSpPr>
        <p:spPr>
          <a:xfrm>
            <a:off x="658368" y="302209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97180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Mirror, mirror</a:t>
            </a:r>
            <a:endParaRPr lang="en-US" sz="1200" dirty="0"/>
          </a:p>
        </p:txBody>
      </p:sp>
      <p:sp>
        <p:nvSpPr>
          <p:cNvPr id="40" name="Text 37"/>
          <p:cNvSpPr txBox="1"/>
          <p:nvPr/>
        </p:nvSpPr>
        <p:spPr>
          <a:xfrm>
            <a:off x="3200400" y="297180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~/mission5; tr 'A-Za-z' 'ZYX...CBAzyx...cba' &lt; mirror.txt</a:t>
            </a:r>
            <a:endParaRPr lang="en-US" sz="950" dirty="0"/>
          </a:p>
        </p:txBody>
      </p:sp>
      <p:sp>
        <p:nvSpPr>
          <p:cNvPr id="41" name="Text 38"/>
          <p:cNvSpPr txBox="1"/>
          <p:nvPr/>
        </p:nvSpPr>
        <p:spPr>
          <a:xfrm>
            <a:off x="10241280" y="297180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300984"/>
            <a:ext cx="11094415" cy="329184"/>
          </a:xfrm>
          <a:prstGeom prst="rect">
            <a:avLst/>
          </a:prstGeom>
          <a:solidFill>
            <a:srgbClr val="F1F5FB"/>
          </a:solidFill>
          <a:ln/>
        </p:spPr>
      </p:sp>
      <p:sp>
        <p:nvSpPr>
          <p:cNvPr id="43" name="Shape 40"/>
          <p:cNvSpPr/>
          <p:nvPr/>
        </p:nvSpPr>
        <p:spPr>
          <a:xfrm>
            <a:off x="658368" y="3351276"/>
            <a:ext cx="228600" cy="228600"/>
          </a:xfrm>
          <a:prstGeom prst="ellipse">
            <a:avLst/>
          </a:prstGeom>
          <a:solidFill>
            <a:srgbClr val="E8820C"/>
          </a:solidFill>
          <a:ln/>
        </p:spPr>
      </p:sp>
      <p:sp>
        <p:nvSpPr>
          <p:cNvPr id="44" name="Text 41"/>
          <p:cNvSpPr txBox="1"/>
          <p:nvPr/>
        </p:nvSpPr>
        <p:spPr>
          <a:xfrm>
            <a:off x="658368" y="335127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30098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Dots and dashes</a:t>
            </a:r>
            <a:endParaRPr lang="en-US" sz="1200" dirty="0"/>
          </a:p>
        </p:txBody>
      </p:sp>
      <p:sp>
        <p:nvSpPr>
          <p:cNvPr id="46" name="Text 43"/>
          <p:cNvSpPr txBox="1"/>
          <p:nvPr/>
        </p:nvSpPr>
        <p:spPr>
          <a:xfrm>
            <a:off x="3200400" y="330098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~/mission6; morse signal.txt; submit CYBA{morse-&lt;code in lowercase&gt;}</a:t>
            </a:r>
            <a:endParaRPr lang="en-US" sz="950" dirty="0"/>
          </a:p>
        </p:txBody>
      </p:sp>
      <p:sp>
        <p:nvSpPr>
          <p:cNvPr id="47" name="Text 44"/>
          <p:cNvSpPr txBox="1"/>
          <p:nvPr/>
        </p:nvSpPr>
        <p:spPr>
          <a:xfrm>
            <a:off x="10241280" y="330098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630168"/>
            <a:ext cx="11094415" cy="329184"/>
          </a:xfrm>
          <a:prstGeom prst="rect">
            <a:avLst/>
          </a:prstGeom>
          <a:solidFill>
            <a:srgbClr val="FFFFFF"/>
          </a:solidFill>
          <a:ln/>
        </p:spPr>
      </p:sp>
      <p:sp>
        <p:nvSpPr>
          <p:cNvPr id="49" name="Shape 46"/>
          <p:cNvSpPr/>
          <p:nvPr/>
        </p:nvSpPr>
        <p:spPr>
          <a:xfrm>
            <a:off x="658368" y="3680460"/>
            <a:ext cx="228600" cy="228600"/>
          </a:xfrm>
          <a:prstGeom prst="ellipse">
            <a:avLst/>
          </a:prstGeom>
          <a:solidFill>
            <a:srgbClr val="C9A227"/>
          </a:solidFill>
          <a:ln/>
        </p:spPr>
      </p:sp>
      <p:sp>
        <p:nvSpPr>
          <p:cNvPr id="50" name="Text 47"/>
          <p:cNvSpPr txBox="1"/>
          <p:nvPr/>
        </p:nvSpPr>
        <p:spPr>
          <a:xfrm>
            <a:off x="658368" y="368046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63016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Fingerprints</a:t>
            </a:r>
            <a:endParaRPr lang="en-US" sz="1200" dirty="0"/>
          </a:p>
        </p:txBody>
      </p:sp>
      <p:sp>
        <p:nvSpPr>
          <p:cNvPr id="52" name="Text 49"/>
          <p:cNvSpPr txBox="1"/>
          <p:nvPr/>
        </p:nvSpPr>
        <p:spPr>
          <a:xfrm>
            <a:off x="3200400" y="363016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~/mission7; hashlines candidates.txt | grep $(cut -c1-8 target.sha256)</a:t>
            </a:r>
            <a:endParaRPr lang="en-US" sz="950" dirty="0"/>
          </a:p>
        </p:txBody>
      </p:sp>
      <p:sp>
        <p:nvSpPr>
          <p:cNvPr id="53" name="Text 50"/>
          <p:cNvSpPr txBox="1"/>
          <p:nvPr/>
        </p:nvSpPr>
        <p:spPr>
          <a:xfrm>
            <a:off x="10241280" y="363016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959352"/>
            <a:ext cx="11094415" cy="329184"/>
          </a:xfrm>
          <a:prstGeom prst="rect">
            <a:avLst/>
          </a:prstGeom>
          <a:solidFill>
            <a:srgbClr val="F1F5FB"/>
          </a:solidFill>
          <a:ln/>
        </p:spPr>
      </p:sp>
      <p:sp>
        <p:nvSpPr>
          <p:cNvPr id="55" name="Shape 52"/>
          <p:cNvSpPr/>
          <p:nvPr/>
        </p:nvSpPr>
        <p:spPr>
          <a:xfrm>
            <a:off x="658368" y="4009644"/>
            <a:ext cx="228600" cy="228600"/>
          </a:xfrm>
          <a:prstGeom prst="ellipse">
            <a:avLst/>
          </a:prstGeom>
          <a:solidFill>
            <a:srgbClr val="0F9488"/>
          </a:solidFill>
          <a:ln/>
        </p:spPr>
      </p:sp>
      <p:sp>
        <p:nvSpPr>
          <p:cNvPr id="56" name="Text 53"/>
          <p:cNvSpPr txBox="1"/>
          <p:nvPr/>
        </p:nvSpPr>
        <p:spPr>
          <a:xfrm>
            <a:off x="658368" y="400964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959352"/>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XOR marks</a:t>
            </a:r>
            <a:endParaRPr lang="en-US" sz="1200" dirty="0"/>
          </a:p>
        </p:txBody>
      </p:sp>
      <p:sp>
        <p:nvSpPr>
          <p:cNvPr id="58" name="Text 55"/>
          <p:cNvSpPr txBox="1"/>
          <p:nvPr/>
        </p:nvSpPr>
        <p:spPr>
          <a:xfrm>
            <a:off x="3200400" y="3959352"/>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~/mission8; xor all cipher.hex | grep CYBA</a:t>
            </a:r>
            <a:endParaRPr lang="en-US" sz="950" dirty="0"/>
          </a:p>
        </p:txBody>
      </p:sp>
      <p:sp>
        <p:nvSpPr>
          <p:cNvPr id="59" name="Text 56"/>
          <p:cNvSpPr txBox="1"/>
          <p:nvPr/>
        </p:nvSpPr>
        <p:spPr>
          <a:xfrm>
            <a:off x="10241280" y="3959352"/>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288536"/>
            <a:ext cx="11094415" cy="329184"/>
          </a:xfrm>
          <a:prstGeom prst="rect">
            <a:avLst/>
          </a:prstGeom>
          <a:solidFill>
            <a:srgbClr val="FFFFFF"/>
          </a:solidFill>
          <a:ln/>
        </p:spPr>
      </p:sp>
      <p:sp>
        <p:nvSpPr>
          <p:cNvPr id="61" name="Shape 58"/>
          <p:cNvSpPr/>
          <p:nvPr/>
        </p:nvSpPr>
        <p:spPr>
          <a:xfrm>
            <a:off x="658368" y="4338828"/>
            <a:ext cx="228600" cy="228600"/>
          </a:xfrm>
          <a:prstGeom prst="ellipse">
            <a:avLst/>
          </a:prstGeom>
          <a:solidFill>
            <a:srgbClr val="5B6EE1"/>
          </a:solidFill>
          <a:ln/>
        </p:spPr>
      </p:sp>
      <p:sp>
        <p:nvSpPr>
          <p:cNvPr id="62" name="Text 59"/>
          <p:cNvSpPr txBox="1"/>
          <p:nvPr/>
        </p:nvSpPr>
        <p:spPr>
          <a:xfrm>
            <a:off x="658368" y="433882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288536"/>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Keyed up</a:t>
            </a:r>
            <a:endParaRPr lang="en-US" sz="1200" dirty="0"/>
          </a:p>
        </p:txBody>
      </p:sp>
      <p:sp>
        <p:nvSpPr>
          <p:cNvPr id="64" name="Text 61"/>
          <p:cNvSpPr txBox="1"/>
          <p:nvPr/>
        </p:nvSpPr>
        <p:spPr>
          <a:xfrm>
            <a:off x="3200400" y="4288536"/>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cd ~/mission9; tr 'A-Za-z' 'N-ZA-Mn-za-m' &lt; briefing.txt; vigenere -d &lt;KEYWORD&gt; secret.txt</a:t>
            </a:r>
            <a:endParaRPr lang="en-US" sz="950" dirty="0"/>
          </a:p>
        </p:txBody>
      </p:sp>
      <p:sp>
        <p:nvSpPr>
          <p:cNvPr id="65" name="Text 62"/>
          <p:cNvSpPr txBox="1"/>
          <p:nvPr/>
        </p:nvSpPr>
        <p:spPr>
          <a:xfrm>
            <a:off x="10241280" y="4288536"/>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617720"/>
            <a:ext cx="11094415" cy="329184"/>
          </a:xfrm>
          <a:prstGeom prst="rect">
            <a:avLst/>
          </a:prstGeom>
          <a:solidFill>
            <a:srgbClr val="F1F5FB"/>
          </a:solidFill>
          <a:ln/>
        </p:spPr>
      </p:sp>
      <p:sp>
        <p:nvSpPr>
          <p:cNvPr id="67" name="Shape 64"/>
          <p:cNvSpPr/>
          <p:nvPr/>
        </p:nvSpPr>
        <p:spPr>
          <a:xfrm>
            <a:off x="658368" y="4668012"/>
            <a:ext cx="228600" cy="228600"/>
          </a:xfrm>
          <a:prstGeom prst="ellipse">
            <a:avLst/>
          </a:prstGeom>
          <a:solidFill>
            <a:srgbClr val="B4233F"/>
          </a:solidFill>
          <a:ln/>
        </p:spPr>
      </p:sp>
      <p:sp>
        <p:nvSpPr>
          <p:cNvPr id="68" name="Text 65"/>
          <p:cNvSpPr txBox="1"/>
          <p:nvPr/>
        </p:nvSpPr>
        <p:spPr>
          <a:xfrm>
            <a:off x="658368" y="466801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61772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The vault</a:t>
            </a:r>
            <a:endParaRPr lang="en-US" sz="1200" dirty="0"/>
          </a:p>
        </p:txBody>
      </p:sp>
      <p:sp>
        <p:nvSpPr>
          <p:cNvPr id="70" name="Text 67"/>
          <p:cNvSpPr txBox="1"/>
          <p:nvPr/>
        </p:nvSpPr>
        <p:spPr>
          <a:xfrm>
            <a:off x="3200400" y="461772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hashlines words.txt | grep &lt;hash start&gt;;  base64 -d vault.b64 | vigenere -d &lt;word&gt;</a:t>
            </a:r>
            <a:endParaRPr lang="en-US" sz="950" dirty="0"/>
          </a:p>
        </p:txBody>
      </p:sp>
      <p:sp>
        <p:nvSpPr>
          <p:cNvPr id="71" name="Text 68"/>
          <p:cNvSpPr txBox="1"/>
          <p:nvPr/>
        </p:nvSpPr>
        <p:spPr>
          <a:xfrm>
            <a:off x="10241280" y="461772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946904"/>
            <a:ext cx="11094415" cy="329184"/>
          </a:xfrm>
          <a:prstGeom prst="rect">
            <a:avLst/>
          </a:prstGeom>
          <a:solidFill>
            <a:srgbClr val="FFFFFF"/>
          </a:solidFill>
          <a:ln/>
        </p:spPr>
      </p:sp>
      <p:sp>
        <p:nvSpPr>
          <p:cNvPr id="73" name="Shape 70"/>
          <p:cNvSpPr/>
          <p:nvPr/>
        </p:nvSpPr>
        <p:spPr>
          <a:xfrm>
            <a:off x="658368" y="4997196"/>
            <a:ext cx="228600" cy="228600"/>
          </a:xfrm>
          <a:prstGeom prst="ellipse">
            <a:avLst/>
          </a:prstGeom>
          <a:solidFill>
            <a:srgbClr val="56657E"/>
          </a:solidFill>
          <a:ln/>
        </p:spPr>
      </p:sp>
      <p:sp>
        <p:nvSpPr>
          <p:cNvPr id="74" name="Text 71"/>
          <p:cNvSpPr txBox="1"/>
          <p:nvPr/>
        </p:nvSpPr>
        <p:spPr>
          <a:xfrm>
            <a:off x="658368" y="499719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94690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Letter detective</a:t>
            </a:r>
            <a:endParaRPr lang="en-US" sz="1200" dirty="0"/>
          </a:p>
        </p:txBody>
      </p:sp>
      <p:sp>
        <p:nvSpPr>
          <p:cNvPr id="76" name="Text 73"/>
          <p:cNvSpPr txBox="1"/>
          <p:nvPr/>
        </p:nvSpPr>
        <p:spPr>
          <a:xfrm>
            <a:off x="3200400" y="494690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fold -w1 message.txt | grep '[a-z]' | sort | uniq -c | sort -n | tail -3</a:t>
            </a:r>
            <a:endParaRPr lang="en-US" sz="950" dirty="0"/>
          </a:p>
        </p:txBody>
      </p:sp>
      <p:sp>
        <p:nvSpPr>
          <p:cNvPr id="77" name="Text 74"/>
          <p:cNvSpPr txBox="1"/>
          <p:nvPr/>
        </p:nvSpPr>
        <p:spPr>
          <a:xfrm>
            <a:off x="10241280" y="494690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5276088"/>
            <a:ext cx="11094415" cy="329184"/>
          </a:xfrm>
          <a:prstGeom prst="rect">
            <a:avLst/>
          </a:prstGeom>
          <a:solidFill>
            <a:srgbClr val="F1F5FB"/>
          </a:solidFill>
          <a:ln/>
        </p:spPr>
      </p:sp>
      <p:sp>
        <p:nvSpPr>
          <p:cNvPr id="79" name="Shape 76"/>
          <p:cNvSpPr/>
          <p:nvPr/>
        </p:nvSpPr>
        <p:spPr>
          <a:xfrm>
            <a:off x="658368" y="5326380"/>
            <a:ext cx="228600" cy="228600"/>
          </a:xfrm>
          <a:prstGeom prst="ellipse">
            <a:avLst/>
          </a:prstGeom>
          <a:solidFill>
            <a:srgbClr val="56657E"/>
          </a:solidFill>
          <a:ln/>
        </p:spPr>
      </p:sp>
      <p:sp>
        <p:nvSpPr>
          <p:cNvPr id="80" name="Text 77"/>
          <p:cNvSpPr txBox="1"/>
          <p:nvPr/>
        </p:nvSpPr>
        <p:spPr>
          <a:xfrm>
            <a:off x="658368" y="532638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527608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Hash race</a:t>
            </a:r>
            <a:endParaRPr lang="en-US" sz="1200" dirty="0"/>
          </a:p>
        </p:txBody>
      </p:sp>
      <p:sp>
        <p:nvSpPr>
          <p:cNvPr id="82" name="Text 79"/>
          <p:cNvSpPr txBox="1"/>
          <p:nvPr/>
        </p:nvSpPr>
        <p:spPr>
          <a:xfrm>
            <a:off x="3200400" y="527608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hashlines words.txt | grep '^0' | wc -l   (7)</a:t>
            </a:r>
            <a:endParaRPr lang="en-US" sz="950" dirty="0"/>
          </a:p>
        </p:txBody>
      </p:sp>
      <p:sp>
        <p:nvSpPr>
          <p:cNvPr id="83" name="Text 80"/>
          <p:cNvSpPr txBox="1"/>
          <p:nvPr/>
        </p:nvSpPr>
        <p:spPr>
          <a:xfrm>
            <a:off x="10241280" y="527608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CyberQuest Academy  ·  Crypto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sp>
      <p:sp>
        <p:nvSpPr>
          <p:cNvPr id="7" name="Text 4"/>
          <p:cNvSpPr txBox="1"/>
          <p:nvPr/>
        </p:nvSpPr>
        <p:spPr>
          <a:xfrm>
            <a:off x="777240"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tr prints nothing or the wrong letters</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Quote both sets and count them: 'A-Za-z' and 'N-ZA-Mn-za-m'. Feed the file with &lt;.</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sp>
      <p:sp>
        <p:nvSpPr>
          <p:cNvPr id="10" name="Text 7"/>
          <p:cNvSpPr txBox="1"/>
          <p:nvPr/>
        </p:nvSpPr>
        <p:spPr>
          <a:xfrm>
            <a:off x="6419088"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xxd -r prints nothing</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Add -p: the file is plain hex with no addresses. xxd -r -p secret.hex</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sp>
      <p:sp>
        <p:nvSpPr>
          <p:cNvPr id="13" name="Text 10"/>
          <p:cNvSpPr txBox="1"/>
          <p:nvPr/>
        </p:nvSpPr>
        <p:spPr>
          <a:xfrm>
            <a:off x="777240"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hashlines seems stuck (real Linux)</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It hashes one line at a time: 100 lines take 15–25 s. Wait for the prompt.</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sp>
      <p:sp>
        <p:nvSpPr>
          <p:cNvPr id="16" name="Text 13"/>
          <p:cNvSpPr txBox="1"/>
          <p:nvPr/>
        </p:nvSpPr>
        <p:spPr>
          <a:xfrm>
            <a:off x="6419088"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Mission 6 flag is 'Incorrect'</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The code goes in lowercase: CYBA{morse-7b0ab9be}. README.txt says so.</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sp>
      <p:sp>
        <p:nvSpPr>
          <p:cNvPr id="19" name="Text 16"/>
          <p:cNvSpPr txBox="1"/>
          <p:nvPr/>
        </p:nvSpPr>
        <p:spPr>
          <a:xfrm>
            <a:off x="777240"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Vigenère output is still gibberish</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Wrong keyword, or -e instead of -d. Mission 10: decode base64 first.</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sp>
      <p:sp>
        <p:nvSpPr>
          <p:cNvPr id="22" name="Text 19"/>
          <p:cNvSpPr txBox="1"/>
          <p:nvPr/>
        </p:nvSpPr>
        <p:spPr>
          <a:xfrm>
            <a:off x="6419088"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 doesn't work</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Lite mode has no $(...). Type the first 8 hash characters into grep.</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sp>
      <p:sp>
        <p:nvSpPr>
          <p:cNvPr id="25" name="Text 22"/>
          <p:cNvSpPr txBox="1"/>
          <p:nvPr/>
        </p:nvSpPr>
        <p:spPr>
          <a:xfrm>
            <a:off x="777240"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Copy the whole flag, CYBA{ to }. Flags from another computer never work.</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sp>
      <p:sp>
        <p:nvSpPr>
          <p:cNvPr id="28" name="Text 25"/>
          <p:cNvSpPr txBox="1"/>
          <p:nvPr/>
        </p:nvSpPr>
        <p:spPr>
          <a:xfrm>
            <a:off x="6419088"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New keys, new flags; points and clock reset. The second run is fast.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Crypto CTF: crack the codes, then compete</dc:title>
  <dc:subject>PptxGenJS Presentation</dc:subject>
  <dc:creator>CyberQuest Academy</dc:creator>
  <cp:lastModifiedBy>CyberQuest Academy</cp:lastModifiedBy>
  <cp:revision>1</cp:revision>
  <dcterms:created xsi:type="dcterms:W3CDTF">2026-10-09T09:45:45Z</dcterms:created>
  <dcterms:modified xsi:type="dcterms:W3CDTF">2026-10-09T09:45:45Z</dcterms:modified>
</cp:coreProperties>
</file>