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82dafd45-a12f-13c4-e3a2-bacb8a81e143}">
          <p14:sldIdLst>
            <p14:sldId id="256"/>
            <p14:sldId id="257"/>
            <p14:sldId id="258"/>
            <p14:sldId id="259"/>
            <p14:sldId id="260"/>
          </p14:sldIdLst>
        </p14:section>
        <p14:section name="The two warm-ups" id="{1c4b7dc3-4524-cedf-3bb2-d9c3395bff66}">
          <p14:sldIdLst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Run these two warm-ups before any CyberQuest CTF. They are optional and untimed, worth 100 bonus points, and they teach the handful of things every mission assumes you already know: what a flag is, how to submit one, how scoring works, and the keyboard moves that make the terminal fast.
Open the Warm-ups tile on the CyberQuest home page and work along on the projector.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CTF, Capture The Flag, is a friendly cybersecurity competition. Every mission (sometimes called a challenge) hides a flag: a short secret string. You use the terminal to uncover it, submit it, and score points. CyberQuest flags always start with CYBA{ and end with 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competition's scoring, the same for every CyberQuest CTF. Points come from difficulty: Easy 100, Medium 200, Hard 400, Very Hard 800. A full CTF is ten missions worth 2,700 points. These two warm-ups add 100 optional bonus points on top.
The clock counts UP. It starts when you begin Mission 1 and stops when you capture the last flag. Most points wins; on a tie, the faster time wins. Hints cost 5% of the mission's points, charged once. Wrong flags cost nothing, so encourage trying.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steps, the same for every mission in every CTF. Drill it now so the only new thing in each mission is the puzzle itself.
Say it together: Find. Check. Copy. Submit. Check means: does it look right, and does it start with CYBA{? Copy the WHOLE flag, braces included. Submit by typing submit, a space, then paste.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kinds of help. First, every command explains itself: add --help. Second, each mission has graded hints. In a real CTF a hint costs 5% of that mission's points, charged once; in the warm-ups, hints are free. Encourage students to read --help before spending a hint.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warm-ups themselves. Two of them, optional and untimed, 50 points each. Open the Warm-ups tile on the home page and do them together on the projector before the first CTF.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1: ORIENTATION. The whole game explained in one file, plus the first flag to submit. Have everyone type cat orientation.txt and read it together: it covers how to read a mission, what a flag looks like, how to submit, and how scoring and hints work. The last line is the warm-up flag. Submit it for 50 points. There is no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2: SPEED DRILLS. Four tiny drills, one keyboard skill each, four pieces of one flag. Tab completes a long name; the up arrow repeats your last command; Ctrl+C stops a runaway command; and selecting text then middle-clicking is how you copy and paste in a Linux terminal. Each drill prints a 4-character piece; assemble them into CYBA{speed-...} and submit. Hints are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terminal habit students find surprising, and the one they will use constantly. In a Linux terminal you do NOT need Ctrl+C / Ctrl+V. Selecting text copies it automatically; the middle mouse button (or right-click) pastes it. On a trackpad, middle-click is usually a three-finger tap, or you can right-click to paste. This is drill 4 of the speed warm-up, and it is how you copy a flag into submit.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is everything the warm-ups teach: what a flag is, how to submit, how scoring and the clock work, the capture routine, hints, and the keyboard. From the home page, start with the Linux CTF (the command-line foundation), then try a category: Crypto or Forensics. Each is ten missions, 2,700 points, one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Warm-ups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CyberQuest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87168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Warm-ups: get ready to compete.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3840480"/>
            <a:ext cx="420624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38404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 ·  untimed  ·  100 bonus points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first, then pick a CTF.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58000" y="1097280"/>
            <a:ext cx="4782312" cy="4526280"/>
          </a:xfrm>
          <a:prstGeom prst="roundRect">
            <a:avLst>
              <a:gd name="adj" fmla="val 2424"/>
            </a:avLst>
          </a:prstGeom>
          <a:solidFill>
            <a:srgbClr val="162238"/>
          </a:solidFill>
          <a:ln w="12700">
            <a:solidFill>
              <a:srgbClr val="2B3B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86600" y="1280160"/>
            <a:ext cx="128016" cy="12801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2" name="Shape 9"/>
          <p:cNvSpPr/>
          <p:nvPr/>
        </p:nvSpPr>
        <p:spPr>
          <a:xfrm>
            <a:off x="7306056" y="128016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Shape 10"/>
          <p:cNvSpPr/>
          <p:nvPr/>
        </p:nvSpPr>
        <p:spPr>
          <a:xfrm>
            <a:off x="7525512" y="1280160"/>
            <a:ext cx="128016" cy="128016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178040" y="160020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orientation.txt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 CTF is, how to score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~/speed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Tab, up arrow, Ctrl+C, paste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warm-ups, 100 bonus points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clock. no rush.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CTF?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Warm-ups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1F5FB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17875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flag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514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mission hides a secret string. That string is the flag.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06824" y="14630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1F5FB"/>
          </a:solidFill>
          <a:ln/>
        </p:spPr>
      </p:sp>
      <p:sp>
        <p:nvSpPr>
          <p:cNvPr id="12" name="Shape 8"/>
          <p:cNvSpPr/>
          <p:nvPr/>
        </p:nvSpPr>
        <p:spPr>
          <a:xfrm>
            <a:off x="4581144" y="1691640"/>
            <a:ext cx="731520" cy="731520"/>
          </a:xfrm>
          <a:prstGeom prst="ellipse">
            <a:avLst/>
          </a:prstGeom>
          <a:solidFill>
            <a:srgbClr val="2459D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18745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95544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4581144" y="2514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terminal and the mission's README to uncover it.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065008" y="14630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1F5FB"/>
          </a:solidFill>
          <a:ln/>
        </p:spPr>
      </p:sp>
      <p:sp>
        <p:nvSpPr>
          <p:cNvPr id="17" name="Shape 12"/>
          <p:cNvSpPr/>
          <p:nvPr/>
        </p:nvSpPr>
        <p:spPr>
          <a:xfrm>
            <a:off x="8339328" y="1691640"/>
            <a:ext cx="731520" cy="731520"/>
          </a:xfrm>
          <a:prstGeom prst="ellipse">
            <a:avLst/>
          </a:prstGeom>
          <a:solidFill>
            <a:srgbClr val="1787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187452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53728" y="1783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it, score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8339328" y="2514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submit and the flag. Correct flags earn points.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3886200"/>
            <a:ext cx="11094415" cy="1965960"/>
          </a:xfrm>
          <a:prstGeom prst="roundRect">
            <a:avLst>
              <a:gd name="adj" fmla="val 5581"/>
            </a:avLst>
          </a:prstGeom>
          <a:solidFill>
            <a:srgbClr val="0E1726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914400" y="4069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looks like this: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" y="4434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CYBA{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</a:t>
            </a:r>
            <a:pPr indent="0" marL="0">
              <a:buNone/>
            </a:pPr>
            <a:r>
              <a:rPr lang="en-US" sz="4400" b="1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1a2b3c4d</a:t>
            </a:r>
            <a:pPr indent="0" marL="0">
              <a:buNone/>
            </a:pPr>
            <a:r>
              <a:rPr lang="en-US" sz="44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4400" dirty="0"/>
          </a:p>
        </p:txBody>
      </p:sp>
      <p:sp>
        <p:nvSpPr>
          <p:cNvPr id="24" name="Text 18"/>
          <p:cNvSpPr txBox="1"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F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starts with CYBA{  and ends with }.  Copy the whole thing — the braces too.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scoring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Warm-ups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E2F5E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7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2316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7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61488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each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55848" y="146304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4D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355848" y="155448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3355848" y="242316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355848" y="2761488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each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63056" y="146304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DE8E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163056" y="155448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4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4800" dirty="0"/>
          </a:p>
        </p:txBody>
      </p:sp>
      <p:sp>
        <p:nvSpPr>
          <p:cNvPr id="16" name="Text 13"/>
          <p:cNvSpPr txBox="1"/>
          <p:nvPr/>
        </p:nvSpPr>
        <p:spPr>
          <a:xfrm>
            <a:off x="6163056" y="242316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163056" y="2761488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each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970264" y="146304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2A143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970264" y="155448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8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</a:t>
            </a:r>
            <a:endParaRPr lang="en-US" sz="4800" dirty="0"/>
          </a:p>
        </p:txBody>
      </p:sp>
      <p:sp>
        <p:nvSpPr>
          <p:cNvPr id="20" name="Text 17"/>
          <p:cNvSpPr txBox="1"/>
          <p:nvPr/>
        </p:nvSpPr>
        <p:spPr>
          <a:xfrm>
            <a:off x="8970264" y="242316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HARD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970264" y="2761488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35661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1F5FB"/>
          </a:solidFill>
          <a:ln/>
        </p:spPr>
      </p:sp>
      <p:sp>
        <p:nvSpPr>
          <p:cNvPr id="23" name="Shape 20"/>
          <p:cNvSpPr/>
          <p:nvPr/>
        </p:nvSpPr>
        <p:spPr>
          <a:xfrm>
            <a:off x="822960" y="3749040"/>
            <a:ext cx="685800" cy="685800"/>
          </a:xfrm>
          <a:prstGeom prst="ellipse">
            <a:avLst/>
          </a:prstGeom>
          <a:solidFill>
            <a:srgbClr val="2459D8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3920490"/>
            <a:ext cx="342900" cy="3429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691640" y="3794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counts up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822960" y="46177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with Mission 1 and stops at your last flag. Nobody is cut off. The warm-ups are untimed.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4306824" y="35661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1F5FB"/>
          </a:solidFill>
          <a:ln/>
        </p:spPr>
      </p:sp>
      <p:sp>
        <p:nvSpPr>
          <p:cNvPr id="28" name="Shape 24"/>
          <p:cNvSpPr/>
          <p:nvPr/>
        </p:nvSpPr>
        <p:spPr>
          <a:xfrm>
            <a:off x="4581144" y="3749040"/>
            <a:ext cx="685800" cy="6858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594" y="3920490"/>
            <a:ext cx="342900" cy="3429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449824" y="3794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points wins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4581144" y="46177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CTF is 2,700 points. Tie on points? The faster time wins.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8065008" y="35661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1F5FB"/>
          </a:solidFill>
          <a:ln/>
        </p:spPr>
      </p:sp>
      <p:sp>
        <p:nvSpPr>
          <p:cNvPr id="33" name="Shape 28"/>
          <p:cNvSpPr/>
          <p:nvPr/>
        </p:nvSpPr>
        <p:spPr>
          <a:xfrm>
            <a:off x="8339328" y="3749040"/>
            <a:ext cx="685800" cy="685800"/>
          </a:xfrm>
          <a:prstGeom prst="ellipse">
            <a:avLst/>
          </a:prstGeom>
          <a:solidFill>
            <a:srgbClr val="17875A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778" y="3920490"/>
            <a:ext cx="342900" cy="34290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208008" y="3794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cost 5%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8339328" y="46177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that mission's points, per hint, charged once. Wrong flags cost nothing. Warm-up hints are free.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capture routine, every time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Warm-ups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1F5FB"/>
          </a:solidFill>
          <a:ln/>
        </p:spPr>
      </p:sp>
      <p:sp>
        <p:nvSpPr>
          <p:cNvPr id="7" name="Shape 4"/>
          <p:cNvSpPr/>
          <p:nvPr/>
        </p:nvSpPr>
        <p:spPr>
          <a:xfrm>
            <a:off x="1371600" y="1828800"/>
            <a:ext cx="914400" cy="914400"/>
          </a:xfrm>
          <a:prstGeom prst="ellipse">
            <a:avLst/>
          </a:prstGeom>
          <a:solidFill>
            <a:srgbClr val="2A9F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0574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520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the flag in the files.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108960" y="20116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66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3383280" y="16002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1F5FB"/>
          </a:solidFill>
          <a:ln/>
        </p:spPr>
      </p:sp>
      <p:sp>
        <p:nvSpPr>
          <p:cNvPr id="13" name="Shape 9"/>
          <p:cNvSpPr/>
          <p:nvPr/>
        </p:nvSpPr>
        <p:spPr>
          <a:xfrm>
            <a:off x="4206240" y="1828800"/>
            <a:ext cx="914400" cy="914400"/>
          </a:xfrm>
          <a:prstGeom prst="ellipse">
            <a:avLst/>
          </a:prstGeom>
          <a:solidFill>
            <a:srgbClr val="7448D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0574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2044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3611880" y="3520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readable? Starts CYBA{?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943600" y="20116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66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6217920" y="16002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1F5FB"/>
          </a:solidFill>
          <a:ln/>
        </p:spPr>
      </p:sp>
      <p:sp>
        <p:nvSpPr>
          <p:cNvPr id="19" name="Shape 14"/>
          <p:cNvSpPr/>
          <p:nvPr/>
        </p:nvSpPr>
        <p:spPr>
          <a:xfrm>
            <a:off x="7040880" y="1828800"/>
            <a:ext cx="914400" cy="914400"/>
          </a:xfrm>
          <a:prstGeom prst="ellipse">
            <a:avLst/>
          </a:prstGeom>
          <a:solidFill>
            <a:srgbClr val="D1416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0574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5508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6446520" y="3520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flag, CYBA{ to }.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778240" y="20116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665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400" dirty="0"/>
          </a:p>
        </p:txBody>
      </p:sp>
      <p:sp>
        <p:nvSpPr>
          <p:cNvPr id="24" name="Shape 18"/>
          <p:cNvSpPr/>
          <p:nvPr/>
        </p:nvSpPr>
        <p:spPr>
          <a:xfrm>
            <a:off x="9052560" y="16002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1F5FB"/>
          </a:solidFill>
          <a:ln/>
        </p:spPr>
      </p:sp>
      <p:sp>
        <p:nvSpPr>
          <p:cNvPr id="25" name="Shape 19"/>
          <p:cNvSpPr/>
          <p:nvPr/>
        </p:nvSpPr>
        <p:spPr>
          <a:xfrm>
            <a:off x="9875520" y="1828800"/>
            <a:ext cx="914400" cy="914400"/>
          </a:xfrm>
          <a:prstGeom prst="ellipse">
            <a:avLst/>
          </a:prstGeom>
          <a:solidFill>
            <a:srgbClr val="17875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20574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1897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2400" dirty="0"/>
          </a:p>
        </p:txBody>
      </p:sp>
      <p:sp>
        <p:nvSpPr>
          <p:cNvPr id="28" name="Text 21"/>
          <p:cNvSpPr txBox="1"/>
          <p:nvPr/>
        </p:nvSpPr>
        <p:spPr>
          <a:xfrm>
            <a:off x="9281160" y="3520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submit, paste, Enter.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548640" y="502920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49808" y="518464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1" name="Shape 24"/>
          <p:cNvSpPr/>
          <p:nvPr/>
        </p:nvSpPr>
        <p:spPr>
          <a:xfrm>
            <a:off x="950976" y="518464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2" name="Shape 25"/>
          <p:cNvSpPr/>
          <p:nvPr/>
        </p:nvSpPr>
        <p:spPr>
          <a:xfrm>
            <a:off x="1152144" y="518464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822960" y="54864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 CYBA{word-1a2b3c4d}</a:t>
            </a:r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Correct! +100 points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Stuck? Help is built 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Warm-ups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40680" cy="2834640"/>
          </a:xfrm>
          <a:prstGeom prst="roundRect">
            <a:avLst>
              <a:gd name="adj" fmla="val 3226"/>
            </a:avLst>
          </a:prstGeom>
          <a:solidFill>
            <a:srgbClr val="F1F5FB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rgbClr val="2459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9888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20240" y="1920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command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2743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--help to any command to see what it does and its options.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914400" y="3703320"/>
            <a:ext cx="4709160" cy="548640"/>
          </a:xfrm>
          <a:prstGeom prst="roundRect">
            <a:avLst>
              <a:gd name="adj" fmla="val 16667"/>
            </a:avLst>
          </a:prstGeom>
          <a:solidFill>
            <a:srgbClr val="0E1726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143000" y="3703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--help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190488" y="1554480"/>
            <a:ext cx="5440680" cy="2834640"/>
          </a:xfrm>
          <a:prstGeom prst="roundRect">
            <a:avLst>
              <a:gd name="adj" fmla="val 3226"/>
            </a:avLst>
          </a:prstGeom>
          <a:solidFill>
            <a:srgbClr val="F1F5FB"/>
          </a:solidFill>
          <a:ln/>
        </p:spPr>
      </p:sp>
      <p:sp>
        <p:nvSpPr>
          <p:cNvPr id="14" name="Shape 10"/>
          <p:cNvSpPr/>
          <p:nvPr/>
        </p:nvSpPr>
        <p:spPr>
          <a:xfrm>
            <a:off x="6510528" y="178308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268" y="19888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562088" y="1920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hint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556248" y="2743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1 gives a nudge. In a CTF it costs 5% of the mission, once. Warm-up hints are free.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556248" y="3703320"/>
            <a:ext cx="4709160" cy="548640"/>
          </a:xfrm>
          <a:prstGeom prst="roundRect">
            <a:avLst>
              <a:gd name="adj" fmla="val 16667"/>
            </a:avLst>
          </a:prstGeom>
          <a:solidFill>
            <a:srgbClr val="0E1726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784848" y="3703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 1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48640" y="466344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9808" y="481888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2" name="Shape 17"/>
          <p:cNvSpPr/>
          <p:nvPr/>
        </p:nvSpPr>
        <p:spPr>
          <a:xfrm>
            <a:off x="950976" y="481888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Shape 18"/>
          <p:cNvSpPr/>
          <p:nvPr/>
        </p:nvSpPr>
        <p:spPr>
          <a:xfrm>
            <a:off x="1152144" y="481888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22960" y="51206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 2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 1 of 1 costs 5 points (5% of 100), charged once.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--help      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free: every command explains itself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Warm-ups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229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000" dirty="0"/>
          </a:p>
        </p:txBody>
      </p:sp>
      <p:sp>
        <p:nvSpPr>
          <p:cNvPr id="6" name="Text 3"/>
          <p:cNvSpPr txBox="1"/>
          <p:nvPr/>
        </p:nvSpPr>
        <p:spPr>
          <a:xfrm>
            <a:off x="393192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warm-ups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9659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Orientation, then speed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3931920" y="31546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learn the game and submit your first flag. Then build the keyboard speed that makes every mission faster.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48640" y="489204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16223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48920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orientation.txt   &amp;&amp;   cd ~/speed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94015" y="502920"/>
            <a:ext cx="3749040" cy="548640"/>
          </a:xfrm>
          <a:prstGeom prst="roundRect">
            <a:avLst>
              <a:gd name="adj" fmla="val 20000"/>
            </a:avLst>
          </a:prstGeom>
          <a:solidFill>
            <a:srgbClr val="E2F5EC"/>
          </a:solidFill>
          <a:ln w="19050">
            <a:solidFill>
              <a:srgbClr val="1787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85455" y="594360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17875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985455" y="594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991295" y="502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orientation.txt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Warm-ups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438912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4389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1 of 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88920" y="438912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E2F5E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788920" y="4389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7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· UNTIMED · 50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9144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4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1783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whole game in one file, then submit your first flag.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2395728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cat orientation.txt  and read it with the class.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48640" y="3264408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236976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explains: reading a mission, flags, submitting, scoring, hints.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48640" y="4105656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4078224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warm-up flag is on the last line.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48640" y="4946904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8640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919472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it:  submit CYBA{...}   — +50 points, no clock.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6355080" y="1463040"/>
            <a:ext cx="5285232" cy="4526280"/>
          </a:xfrm>
          <a:prstGeom prst="roundRect">
            <a:avLst>
              <a:gd name="adj" fmla="val 2020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556248" y="161848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9" name="Shape 26"/>
          <p:cNvSpPr/>
          <p:nvPr/>
        </p:nvSpPr>
        <p:spPr>
          <a:xfrm>
            <a:off x="6757416" y="161848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0" name="Shape 27"/>
          <p:cNvSpPr/>
          <p:nvPr/>
        </p:nvSpPr>
        <p:spPr>
          <a:xfrm>
            <a:off x="6958584" y="161848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269480" y="153619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player@quest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629400" y="1920240"/>
            <a:ext cx="47365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orientation.txt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CTF Orientation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Read a mission:  cd ~/mission1  then  cat README.txt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A flag looks like:  CYBA{word-1a2b3c4d}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Submit it:  submit CYBA{word-1a2b3c4d}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Stuck?  ls --help   then   hint 1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Warm-up flag: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CYBA{warmup-1a2b3c4d}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 CYBA{warmup-1a2b3c4d}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Correct! +50 points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94015" y="502920"/>
            <a:ext cx="3749040" cy="548640"/>
          </a:xfrm>
          <a:prstGeom prst="roundRect">
            <a:avLst>
              <a:gd name="adj" fmla="val 20000"/>
            </a:avLst>
          </a:prstGeom>
          <a:solidFill>
            <a:srgbClr val="E2F5EC"/>
          </a:solidFill>
          <a:ln w="19050">
            <a:solidFill>
              <a:srgbClr val="1787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85455" y="594360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17875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985455" y="594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991295" y="502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2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~/speed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Warm-ups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438912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4389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2 of 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88920" y="438912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E2F5E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788920" y="4389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7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· UNTIMED · 50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9144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drills</a:t>
            </a:r>
            <a:endParaRPr lang="en-US" sz="4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1783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drills, four keys, four pieces of the flag.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2377440"/>
            <a:ext cx="1965960" cy="713232"/>
          </a:xfrm>
          <a:prstGeom prst="roundRect">
            <a:avLst>
              <a:gd name="adj" fmla="val 12821"/>
            </a:avLst>
          </a:prstGeom>
          <a:solidFill>
            <a:srgbClr val="17875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237744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697480" y="237744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a long name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486400" y="2487168"/>
            <a:ext cx="1005840" cy="493776"/>
          </a:xfrm>
          <a:prstGeom prst="roundRect">
            <a:avLst>
              <a:gd name="adj" fmla="val 14815"/>
            </a:avLst>
          </a:prstGeom>
          <a:solidFill>
            <a:srgbClr val="0E172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0" y="2487168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dri↹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3246120"/>
            <a:ext cx="1965960" cy="713232"/>
          </a:xfrm>
          <a:prstGeom prst="roundRect">
            <a:avLst>
              <a:gd name="adj" fmla="val 12821"/>
            </a:avLst>
          </a:prstGeom>
          <a:solidFill>
            <a:srgbClr val="2459D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0080" y="324612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arrow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2697480" y="32461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back your last command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5486400" y="3355848"/>
            <a:ext cx="1005840" cy="493776"/>
          </a:xfrm>
          <a:prstGeom prst="roundRect">
            <a:avLst>
              <a:gd name="adj" fmla="val 14815"/>
            </a:avLst>
          </a:prstGeom>
          <a:solidFill>
            <a:srgbClr val="0E172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0" y="3355848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again  ↑ ↵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4114800"/>
            <a:ext cx="1965960" cy="713232"/>
          </a:xfrm>
          <a:prstGeom prst="roundRect">
            <a:avLst>
              <a:gd name="adj" fmla="val 12821"/>
            </a:avLst>
          </a:prstGeom>
          <a:solidFill>
            <a:srgbClr val="D1416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0080" y="411480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Ctrl+C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2697480" y="41148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 running command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5486400" y="4224528"/>
            <a:ext cx="1005840" cy="493776"/>
          </a:xfrm>
          <a:prstGeom prst="roundRect">
            <a:avLst>
              <a:gd name="adj" fmla="val 14815"/>
            </a:avLst>
          </a:prstGeom>
          <a:solidFill>
            <a:srgbClr val="0E172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486400" y="4224528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runaway  ^C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8640" y="4983480"/>
            <a:ext cx="1965960" cy="713232"/>
          </a:xfrm>
          <a:prstGeom prst="roundRect">
            <a:avLst>
              <a:gd name="adj" fmla="val 12821"/>
            </a:avLst>
          </a:prstGeom>
          <a:solidFill>
            <a:srgbClr val="7448D4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40080" y="498348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+ middle-click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2697480" y="49834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and paste, the Linux way</a:t>
            </a:r>
            <a:endParaRPr lang="en-US" sz="1450" dirty="0"/>
          </a:p>
        </p:txBody>
      </p:sp>
      <p:sp>
        <p:nvSpPr>
          <p:cNvPr id="33" name="Shape 30"/>
          <p:cNvSpPr/>
          <p:nvPr/>
        </p:nvSpPr>
        <p:spPr>
          <a:xfrm>
            <a:off x="5486400" y="5093208"/>
            <a:ext cx="1005840" cy="493776"/>
          </a:xfrm>
          <a:prstGeom prst="roundRect">
            <a:avLst>
              <a:gd name="adj" fmla="val 14815"/>
            </a:avLst>
          </a:prstGeom>
          <a:solidFill>
            <a:srgbClr val="0E1726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486400" y="5093208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pasteit &lt;paste&gt;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675120" y="1463040"/>
            <a:ext cx="4965192" cy="4526280"/>
          </a:xfrm>
          <a:prstGeom prst="roundRect">
            <a:avLst>
              <a:gd name="adj" fmla="val 2020"/>
            </a:avLst>
          </a:prstGeom>
          <a:solidFill>
            <a:srgbClr val="0E1726"/>
          </a:solidFill>
          <a:ln/>
          <a:effectLst>
            <a:outerShdw sx="100000" sy="100000" kx="0" ky="0" algn="bl" rotWithShape="0" blurRad="127000" dist="38100" dir="5400000">
              <a:srgbClr val="12213A">
                <a:alpha val="2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76288" y="1618488"/>
            <a:ext cx="118872" cy="118872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7" name="Shape 34"/>
          <p:cNvSpPr/>
          <p:nvPr/>
        </p:nvSpPr>
        <p:spPr>
          <a:xfrm>
            <a:off x="7077456" y="1618488"/>
            <a:ext cx="118872" cy="1188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8" name="Shape 35"/>
          <p:cNvSpPr/>
          <p:nvPr/>
        </p:nvSpPr>
        <p:spPr>
          <a:xfrm>
            <a:off x="7278624" y="1618488"/>
            <a:ext cx="118872" cy="118872"/>
          </a:xfrm>
          <a:prstGeom prst="ellipse">
            <a:avLst/>
          </a:prstGeom>
          <a:solidFill>
            <a:srgbClr val="46D39A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7589520" y="153619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player@quest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6949440" y="1920240"/>
            <a:ext cx="44165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~/speed/tab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dri↹     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Tab completes it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Piece 1: 3c9e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again   ↑ ↵ x5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up arrow repeats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Piece 2: b730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runaway   ^C  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F8F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Ctrl+C stops it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Piece 3: d88c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pasteit &lt;select+middle-click&gt;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Piece 4: 4a1c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 CYBA{speed-3c9eb730d88c4a1c}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Correct! +50 points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and paste, the Linux way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Warm-ups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1F5FB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2459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977390"/>
            <a:ext cx="388620" cy="3886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 copy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974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over the text with the mouse or trackpad. Highlighting it IS copying — no Ctrl+C needed.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06824" y="15544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1F5FB"/>
          </a:solidFill>
          <a:ln/>
        </p:spPr>
      </p:sp>
      <p:sp>
        <p:nvSpPr>
          <p:cNvPr id="12" name="Shape 8"/>
          <p:cNvSpPr/>
          <p:nvPr/>
        </p:nvSpPr>
        <p:spPr>
          <a:xfrm>
            <a:off x="4581144" y="1783080"/>
            <a:ext cx="777240" cy="777240"/>
          </a:xfrm>
          <a:prstGeom prst="ellipse">
            <a:avLst/>
          </a:prstGeom>
          <a:solidFill>
            <a:srgbClr val="D1416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454" y="1977390"/>
            <a:ext cx="388620" cy="3886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95544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Middle-click to paste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81144" y="26974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middle mouse button where you want it. On a trackpad, a three-finger tap.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065008" y="155448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1F5FB"/>
          </a:solidFill>
          <a:ln/>
        </p:spPr>
      </p:sp>
      <p:sp>
        <p:nvSpPr>
          <p:cNvPr id="17" name="Shape 12"/>
          <p:cNvSpPr/>
          <p:nvPr/>
        </p:nvSpPr>
        <p:spPr>
          <a:xfrm>
            <a:off x="8339328" y="1783080"/>
            <a:ext cx="777240" cy="777240"/>
          </a:xfrm>
          <a:prstGeom prst="ellipse">
            <a:avLst/>
          </a:prstGeom>
          <a:solidFill>
            <a:srgbClr val="1787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638" y="1977390"/>
            <a:ext cx="388620" cy="3886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53728" y="1874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right-click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339328" y="26974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right-click also pastes. Ctrl+V works too, inside the browser terminal.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4572000"/>
            <a:ext cx="11094415" cy="1325880"/>
          </a:xfrm>
          <a:prstGeom prst="roundRect">
            <a:avLst>
              <a:gd name="adj" fmla="val 6897"/>
            </a:avLst>
          </a:prstGeom>
          <a:solidFill>
            <a:srgbClr val="FFF4DC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22960" y="4572000"/>
            <a:ext cx="1054577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6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are long and easy to mistype. Select the flag, middle-click after  submit , and you never fat-finger a character. Selecting is copying; the middle button pastes.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Ready? Pick a CTF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CyberQuest Academy  ·  Warm-ups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1F5FB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554480"/>
            <a:ext cx="3566160" cy="109728"/>
          </a:xfrm>
          <a:prstGeom prst="rect">
            <a:avLst/>
          </a:prstGeom>
          <a:solidFill>
            <a:srgbClr val="17875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CTF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468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command-line foundation.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8680" y="30632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8680" y="30632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missions  ·  2,700 points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361188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0E172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05840" y="3611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 ls  find  grep  chmod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06824" y="155448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1F5FB"/>
          </a:solidFill>
          <a:ln/>
        </p:spPr>
      </p:sp>
      <p:sp>
        <p:nvSpPr>
          <p:cNvPr id="15" name="Shape 12"/>
          <p:cNvSpPr/>
          <p:nvPr/>
        </p:nvSpPr>
        <p:spPr>
          <a:xfrm>
            <a:off x="4306824" y="1554480"/>
            <a:ext cx="3566160" cy="109728"/>
          </a:xfrm>
          <a:prstGeom prst="rect">
            <a:avLst/>
          </a:prstGeom>
          <a:solidFill>
            <a:srgbClr val="7448D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626864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CTF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626864" y="2468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the codes.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626864" y="30632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26864" y="30632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missions  ·  2,700 points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626864" y="361188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0E172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764024" y="3611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  caesar  xor  vigenere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65008" y="1554480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F1F5FB"/>
          </a:solidFill>
          <a:ln/>
        </p:spPr>
      </p:sp>
      <p:sp>
        <p:nvSpPr>
          <p:cNvPr id="23" name="Shape 20"/>
          <p:cNvSpPr/>
          <p:nvPr/>
        </p:nvSpPr>
        <p:spPr>
          <a:xfrm>
            <a:off x="8065008" y="1554480"/>
            <a:ext cx="3566160" cy="109728"/>
          </a:xfrm>
          <a:prstGeom prst="rect">
            <a:avLst/>
          </a:prstGeom>
          <a:solidFill>
            <a:srgbClr val="0F948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385048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Forensics CTF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8385048" y="2468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evidence.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385048" y="30632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F1F5F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385048" y="30632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66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missions  ·  2,700 points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385048" y="3611880"/>
            <a:ext cx="2926080" cy="868680"/>
          </a:xfrm>
          <a:prstGeom prst="roundRect">
            <a:avLst>
              <a:gd name="adj" fmla="val 10526"/>
            </a:avLst>
          </a:prstGeom>
          <a:solidFill>
            <a:srgbClr val="0E172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522208" y="3611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6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strings  file  xxd  sha256sum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48920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E2F5EC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22960" y="48920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7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starts at Mission 1. </a:t>
            </a:r>
            <a:pPr indent="0" marL="0">
              <a:buNone/>
            </a:pPr>
            <a:r>
              <a:rPr lang="en-US" sz="1700" dirty="0">
                <a:solidFill>
                  <a:srgbClr val="12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warm-ups you just did are untimed and already banked. Good luck.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CyberQuest Warm-ups: get ready to compete</dc:title>
  <dc:subject>PptxGenJS Presentation</dc:subject>
  <dc:creator>CyberQuest Academy</dc:creator>
  <cp:lastModifiedBy>CyberQuest Academy</cp:lastModifiedBy>
  <cp:revision>1</cp:revision>
  <dcterms:created xsi:type="dcterms:W3CDTF">2026-10-09T16:17:24Z</dcterms:created>
  <dcterms:modified xsi:type="dcterms:W3CDTF">2026-10-09T16:17:24Z</dcterms:modified>
</cp:coreProperties>
</file>