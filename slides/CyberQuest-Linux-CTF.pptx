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Lst>
  <p:notesMasterIdLst>
    <p:notesMasterId r:id="rId8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e12cc01-5161-44d3-5e05-2f4c1b96f4d6}">
          <p14:sldIdLst>
            <p14:sldId id="257"/>
            <p14:sldId id="258"/>
            <p14:sldId id="259"/>
          </p14:sldIdLst>
        </p14:section>
        <p14:section name="Default-1" id="{5112a782-c207-ad5f-3ab1-6ca50d49eb35}">
          <p14:sldIdLst>
            <p14:sldId id="256"/>
          </p14:sldIdLst>
        </p14:section>
        <p14:section name="Part 1 · Linux and the command line" id="{4ddcc9c2-7d5f-c6d4-2921-04461ea95fa2}">
          <p14:sldIdLst>
            <p14:sldId id="261"/>
            <p14:sldId id="262"/>
            <p14:sldId id="263"/>
            <p14:sldId id="264"/>
            <p14:sldId id="265"/>
            <p14:sldId id="266"/>
            <p14:sldId id="267"/>
            <p14:sldId id="268"/>
          </p14:sldIdLst>
        </p14:section>
        <p14:section name="Default-2" id="{0fbfb2b1-186c-3123-0d4a-c6293472cb4c}">
          <p14:sldIdLst>
            <p14:sldId id="260"/>
          </p14:sldIdLst>
        </p14:section>
        <p14:section name="Part 2 · The tools" id="{5950fcaa-57cf-b77a-789f-154c048e98b5}">
          <p14:sldIdLst>
            <p14:sldId id="270"/>
          </p14:sldIdLst>
        </p14:section>
        <p14:section name="Default-3" id="{ab614d24-68a3-c876-83e9-fe6f44bd0701}">
          <p14:sldIdLst>
            <p14:sldId id="269"/>
          </p14:sldIdLst>
        </p14:section>
        <p14:section name="Big idea 1 · The file system" id="{f4b30e13-af7a-8db9-8bd0-deaf78cc112e}">
          <p14:sldIdLst>
            <p14:sldId id="271"/>
            <p14:sldId id="272"/>
            <p14:sldId id="273"/>
            <p14:sldId id="274"/>
            <p14:sldId id="275"/>
            <p14:sldId id="276"/>
            <p14:sldId id="277"/>
          </p14:sldIdLst>
        </p14:section>
        <p14:section name="Big idea 2 · Learning any command" id="{e52883ac-84ba-d8b7-16fc-fe21c7c70d9a}">
          <p14:sldIdLst>
            <p14:sldId id="278"/>
            <p14:sldId id="279"/>
            <p14:sldId id="280"/>
            <p14:sldId id="281"/>
            <p14:sldId id="282"/>
            <p14:sldId id="283"/>
          </p14:sldIdLst>
        </p14:section>
        <p14:section name="Big idea 3 · Searching" id="{c5a39593-c976-c3ba-f863-4f7ae01d1d97}">
          <p14:sldIdLst>
            <p14:sldId id="284"/>
            <p14:sldId id="285"/>
            <p14:sldId id="286"/>
            <p14:sldId id="287"/>
            <p14:sldId id="288"/>
          </p14:sldIdLst>
        </p14:section>
        <p14:section name="Big idea 4 · Text power tools" id="{e533c542-0bfe-202b-26d0-2b3c81d98648}">
          <p14:sldIdLst>
            <p14:sldId id="289"/>
            <p14:sldId id="290"/>
          </p14:sldIdLst>
        </p14:section>
        <p14:section name="Part 2 · Recap" id="{5b272233-553d-3365-40e5-fd59e2a2f708}">
          <p14:sldIdLst>
            <p14:sldId id="291"/>
            <p14:sldId id="292"/>
          </p14:sldIdLst>
        </p14:section>
        <p14:section name="Part 3 · Capture a flag" id="{49a69084-b1db-7b40-7b6a-57cff60440ff}">
          <p14:sldIdLst>
            <p14:sldId id="294"/>
            <p14:sldId id="295"/>
          </p14:sldIdLst>
        </p14:section>
        <p14:section name="Default-4" id="{d03f76ce-99c9-fc0d-8ae3-bb01a0eb5527}">
          <p14:sldIdLst>
            <p14:sldId id="293"/>
          </p14:sldIdLst>
        </p14:section>
        <p14:section name="Guided application" id="{58a3f2b8-5795-a896-04af-da486dce70f4}">
          <p14:sldIdLst>
            <p14:sldId id="296"/>
            <p14:sldId id="297"/>
            <p14:sldId id="298"/>
            <p14:sldId id="299"/>
          </p14:sldIdLst>
        </p14:section>
        <p14:section name="Independent application" id="{6636718f-8542-8dfb-0271-7bdbf2724e3d}">
          <p14:sldIdLst>
            <p14:sldId id="300"/>
          </p14:sldIdLst>
        </p14:section>
        <p14:section name="Part 3 · Wrapping up" id="{014f9a59-a150-f18f-dccf-e81fb862960d}">
          <p14:sldIdLst>
            <p14:sldId id="301"/>
          </p14:sldIdLst>
        </p14:section>
        <p14:section name="Part 4 · Reflection" id="{905a0624-c72d-0a16-3cdd-ef1b195f00aa}">
          <p14:sldIdLst>
            <p14:sldId id="303"/>
            <p14:sldId id="304"/>
            <p14:sldId id="305"/>
            <p14:sldId id="306"/>
            <p14:sldId id="307"/>
          </p14:sldIdLst>
        </p14:section>
        <p14:section name="Default-5" id="{9674d24b-deec-78cb-7850-0e3ff9958bc0}">
          <p14:sldIdLst>
            <p14:sldId id="302"/>
          </p14:sldIdLst>
        </p14:section>
        <p14:section name="Mentor appendix" id="{bdb2cf81-5da5-53c0-3730-bd61328b5651}">
          <p14:sldIdLst>
            <p14:sldId id="308"/>
            <p14:sldId id="309"/>
            <p14:sldId id="310"/>
            <p14:sldId id="311"/>
            <p14:sldId id="312"/>
            <p14:sldId id="313"/>
            <p14:sldId id="314"/>
            <p14:sldId id="315"/>
            <p14:sldId id="316"/>
            <p14:sldId id="317"/>
          </p14:sldIdLst>
        </p14:section>
        <p14:section name="Mentor appendix · Mission bank" id="{ae710d8e-1641-3516-3186-d519e95e80cf}">
          <p14:sldIdLst>
            <p14:sldId id="318"/>
            <p14:sldId id="319"/>
            <p14:sldId id="320"/>
            <p14:sldId id="321"/>
            <p14:sldId id="322"/>
            <p14:sldId id="323"/>
            <p14:sldId id="324"/>
            <p14:sldId id="325"/>
            <p14:sldId id="326"/>
            <p14:sldId id="327"/>
            <p14:sldId id="328"/>
            <p14:sldId id="329"/>
            <p14:sldId id="330"/>
            <p14:sldId id="331"/>
            <p14:sldId id="332"/>
            <p14:sldId id="333"/>
            <p14:sldId id="33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notesMaster" Target="notesMasters/notesMaster1.xml"/><Relationship Id="rId82" Type="http://schemas.openxmlformats.org/officeDocument/2006/relationships/presProps" Target="presProps.xml"/><Relationship Id="rId83" Type="http://schemas.openxmlformats.org/officeDocument/2006/relationships/viewProps" Target="viewProps.xml"/><Relationship Id="rId84" Type="http://schemas.openxmlformats.org/officeDocument/2006/relationships/theme" Target="theme/theme1.xml"/><Relationship Id="rId8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and introduce the mentors: name, what you do, and one sentence on how you use a terminal at work.
Promise: 'In this session you will start a real Linux computer inside your browser, learn a handful of commands, and capture a flag the way security pros do.'
Before class: the link is written on the 'Open the CTF' slide, and you have watched it reach 'Ready' on a student Chromebook on the school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up front. This is a focused one-hour session, not a race to finish every challenge. The goal is that students understand the command line and - most of all - how a CTF actually works: read a challenge, try something, read the output, adjust, capture a flag.
Say it plainly: 'You will NOT finish every mission today, and that is fine. We want you to understand the process and feel confident starting a challenge on your own.'
The arc below is the shape of the hour: short theory, one flag captured together, then you start one yourself, then we reflect.
The deal: nobody is expected to know any of this already. Typing the wrong thing and reading what comes back is how everyone learns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capture the flag, or CTF, is a puzzle competition for security skills. Each puzzle hides a secret piece of text called a flag. Find it, submit it, score points.
Read the flag anatomy out loud. Every flag today starts with CYBA and has its secret between curly braces.
Ask: 'Why would companies want people who are good at this?' Because finding the hidden thing, legally and with permission, is exactly what defenders are paid to do.
Stress the word permission. This CTF is built to be explored. Real systems are not yours to poke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idea in the session. Every CTF challenge - and a lot of real security work - runs this same loop. Say it out loud, and point back to it every time the room gets stuck.
The key move is the middle of the loop: you TRY something, CHECK what came back, and ADJUST. Nobody is expected to know the answer up front. Reading the output and adjusting IS the skill.
Capturing the flag is just where the loop ends. The habit of read, try, check, adjust is what students should leave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A short story before anyone touches a keyboard. Keep it fast and visual: the point is WHY this matters, not memorising dates.
Ask: 'Who thinks they have used Linux today?' Count hands now, and again at the end of this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it as a story: a small idea from a phone company lab, a free-software movement, and a student's hobby project that ended up running the world.
1969: Ken Thompson and Dennis Ritchie create Unix at Bell Labs. Its ideas (small tools, everything is a file, a shell to glue them together) are exactly what we use today.
1983: Richard Stallman launches the GNU project to build a free Unix-like system. Many everyday commands come from that tradition.
1991: Linus Torvalds, a 21-year-old student in Helsinki, posts a 'just a hobby' kernel. Combined with free tools, it becomes a complete free operating system.
2008: the first Android phone ships, built on the Linux kernel.
2017: from the November 2017 TOP500 list on, every one of the world's 500 fastest supercomputers runs Linux.
Vocabulary: Linux is the kernel, the core that talks to the hardware. A distribution (Ubuntu, Debian, Fedora, Kali) is Linux plus tools, packaged together. Linux is open source: anyone can read and improve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audiences, same tool.
Developers: most servers, cloud machines and containers run Linux, so code gets built, tested and deployed there. Git, the tool almost every developer uses, was written by Linus Torvalds in 2005 to manage the Linux kernel. In Stack Overflow's 2025 developer survey, about 28% of developers said they use Ubuntu for personal work, and that is just one Linux distribution.
Security: defenders read Linux logs, investigate Linux servers and run security tools that are made for Linux first. Kali Linux, a distribution built for penetration testing, ships with hundreds of security tools. CTF competitions, like the one later today, are usually played on Linux.
Bridge: every command you learn today works on those same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personal: most students carry Linux every day without knowing it.
About 69% of the world's phones run Android (StatCounter, September 2026), and Android is built on the Linux kernel. iPhones are not Linux, but they come from the same Unix family tree, so many of today's commands work on a Mac too.
Chromebooks run ChromeOS, which is built on Linux: anyone on a Chromebook right now is using Linux. Many smart TVs, home Wi-Fi routers, car dashboards and the Steam Deck run Linux too. And almost every app on your phone talks to servers that run Linux.
Ask: 'Now who thinks they used Linux today?' Count hands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one-sentence definition students need before Part 1 gets concrete. Keep it plain and say it slowly.
CLI stands for command-line interface. Instead of pointing and clicking, you type a line of text, press Enter, and the computer answers in text. That is the whole idea. Contrast it live with the GUI they already know: to list what is in a folder, you don't double-click, you type ls and press Enter.
Walk the three beats on the slide: (1) you type a command, a line of words, not clicks; (2) the shell reads that line and does the work, no mouse involved; (3) it prints the answer back as plain text, and a fresh prompt waits for your next line. It is a back-and-forth, like texting the computer.
The takeaway to say out loud: a command is just a short sentence you type to the computer, and the rest of today is learning the words. Everyone can type a sentence, so everyone can do this.
Where it lands for them: the entire CyberQuest CTF is played here. Every mission is solved by typing commands to find a hidden flag. No command today is dangerous, and you can always just try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say 'terminal' and 'shell' as if they were the same thing. They are layers.
The terminal is the window: it shows text and sends your keystrokes. The shell is the program inside it that reads each command, runs it and prints the answer. Popular shells are bash, zsh and sh; today's CTF uses sh from BusyBox. The kernel is Linux itself: it runs programs and talks to the hardware.
The prompt (player@quest:~$) is the shell saying 'your turn'. CLI means command-line interface: working by typing commands. GUI means graphical user interface: windows, icons and a mouse.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anyone types, name the parts of the screen. Point at each one on the projector as you go.
1. The terminal is the black window. It is just text: no buttons, no icons. You talk to the computer by typing, and it answers in text.
2. The prompt, player@quest:~, tells you who you are (player), which computer (quest) and which folder you are in (~, your home).
3. The prompt character $ means 'ready, your turn'. A very common beginner mistake is typing the $ as well. Don't: it is already there.
4. The command is what you type after the $. Nothing happens until you press Enter.
5. The output is the computer's answer, printed underneath.
6. Then a fresh prompt appears with a blinking cursor: your turn again.
Ask a student to come up and point at each part on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to the GUI: it is easier to discover, and great for one-off visual work. Professionals use both and pick the right tool.
The CLI wins whenever the work is precise, repeated, big, remote or needs to be shared. A command is also documentation: you can paste exactly what you did into a chat or a script.
Ask: 'Which column would you want if you had to do this job a thousand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conclusion of Part 1. For work that is repeated, large or remote, the command line is unmatched by any GUI.
Speed of doing: one line replaces hundreds of clicks, and a script repeats it forever. Speed of the machine: a shell needs a few megabytes of memory, while a graphical desktop needs far more, so a command line runs fine on tiny devices and busy servers. Speed of reach: text travels over even a weak connection, so one person can manage thousands of servers.
The click times are estimates, about three seconds per rename. The point is the shape, not the exact numbers.
Bridge to Part 2: 'In the competition you will search a 12,000-line log. Let's open the CTF and learn the command-line essentials.'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Tell the class: 'Part 2 is four big ideas. Each one is a set of tools for the competition.'
Demo every command live on the projector. Then give the room 30 seconds to type the green Try it command themselves.
None of the Try it commands touch the mission folders, so nothing gets spoiled.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of Part 2. Every command today belongs to one of four ideas, and the ideas build on each other.
1. The file system: everything is a file or a folder. You point at them with paths, then move around or look inside.
2. Learning any command: every command has the same shape, and every command can explain itself.
3. Searching: when there is too much to look at by hand, let the computer search by name or inside files.
4. Text power tools: reshape text and pull columns apart with sed and awk.
Each idea is a set of tools the class will need in the competition.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1: the file system. Say the sentence on the slide out loud and have the class repeat the three verbs: point, move, look.
Everything that follows in this concept is one of those three things: a path points at something; pwd and cd move you; ls and cat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kinds of things live on a Linux computer, and telling them apart is the first skill.
A file holds data: text, a picture, a program. You look inside a file with cat.
A folder (Linux says 'directory') holds files and other folders. You look inside a folder with ls, and you can step into it with cd.
Three ways to tell them apart: ls shows folders in blue; ls -l starts folder lines with d and file lines with -; cd into a file says 'Not a directory'.
TRY IT: ls -l ~ . Every mission line starts with d, because each mission is a folder.
COMES BACK IN: Mission 1 is a trail of folders, and its signposts are file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path is the address of a file or folder: folder names joined by slashes. Commands need paths to know what to act on.
Absolute paths start with / (the root) and work from anywhere. Relative paths start from wherever you are now, so they are shorter but depend on your location.
Four special names: / is the top of the tree, ~ is your home, . is right here, .. is one level up.
All three commands at the bottom go to the same place when you start at home. Ask the class: which one works from anywhere?
TRY IT: ls /home/player and ls ~ show the same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Files live in folders (Linux calls them directories), and folders nest like a tree. The top is / , called the root.
Five moves: pwd prints where you are, ls lists what is here, cd NAME goes into a folder, cd .. goes back up one level, and cd ~ (or just cd) takes you home. cd can also take a path: cd a/b goes two levels down at once.
In ls, folders show in blue. cd only works on folders; cd into a file says 'Not a directory'.
TRY IT: cd /etc, pwd, cd .., pwd, cd ~. Have students say out loud where they expect to be before pressing Enter.
COMES BACK IN: Mission 1, Make your move, is all about these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ls looks inside a folder. On its own it looks where you are; give it a path and it looks there without moving you.
Hidden files: any name that starts with a dot is skipped by plain ls. ls -a shows all of them, including . (here) and .. (up). Hiding is a convention, not security. Your home folder has one: .profile.
ls -l shows details: file or folder, permissions, owner, size.
TRY IT: ls -a ~ shows the hidden .profile.
COMES BACK IN: Mission 1 (reading signposts with ls) and Mission 3, Now you see me (ls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 prints a whole file. That is perfect for short files and terrible for huge ones, so there are tools for looking at part of a file, or just measuring it.
/etc/passwd lists the accounts on this computer. Here there are only two: root, the all-powerful administrator, and player, you.
less opens a file you can scroll: arrow keys or space to move, q to quit. Say 'q to quit' twice.
COMES BACK IN: cat is in every mission from Mission 2 on; head and wc -l help in Mission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file carries permissions: who may read it, change it, or run it. ls -l shows them as a ten-letter string; chmod changes them, but only on files you own.
Read the string in threes after the first letter: owner, group, everyone. r read, w write, x execute (run). A dash means 'no'.
./name runs a program or script in the current folder. Without the x permission, Linux answers 'Permission denied'.
Demo on the right with a two-line script. Do NOT use mission 7's file: that is the puzzle.
COMES BACK IN: Mission 7, Permission denied, and Endgame.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2: learning any command. Nobody memorises every command. Professionals know the anatomy of a command and how to make it explain itself.
Point back to Concept 1: the arguments of most commands are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mental model for this whole idea. Students are not casting spells they have to memorise - they are talking to the computer. You ask for something, it answers, and you decide what to ask next.
Read each row left to right: the plain-English question, the command that says it, and the computer's reply. It is the same loop as capturing a flag - ask, read the reply, ask again.
Say it out loud with the class: 'What do I want? ... How do I say that? ... What did it tell me?'
The loop: what do I want, how do I say it, what did it tell me? Then go again. That back-and-forth is the whole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line left to right. Everything before the $ is the prompt. Everything after it is what you type.
Most commands follow the same anatomy: command, then options (usually starting with a dash), then arguments (what to act on).
TRY IT: ls -l /home lists /home in the long format. Nothing happens until you press Enter, and Linux is case-sensitive: LS does not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useful skill of the whole session. Almost every command explains itself if you type its name, a space, and --help.
Read the help in two parts. The Usage line shows the shape: options in square brackets are optional, FILE... means one or more files. Then the option list: each option and what it does.
We use wc here on purpose; Mission 2 asks students to do the same with cat, so don't show cat --help yet.
On a full Linux system, man COMMAND opens the longer manual (q quits). The page's small Linux has --help only.
COMES BACK IN: Mission 2 needs it, and the first hint for most missions says 'read the --help'. --help is free; hints are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--help is the quick answer. The manual is the full one, and every full Linux system and every Mac has it.
man grep opens the manual page for grep: what it does, every option, and examples near the bottom. Move with the arrow keys or space, search with / followed by a word, and press q to quit. Say 'q to quit' twice.
Finding a command you have never heard of: apropos rename (the same as man -k rename) searches every manual page's one-line description, so you can search by the job instead of the name. whatis gives one line about a command. tldr (a free extra tool) and explainshell.com show short, real examples.
Our CTF computer is deliberately tiny: it has no manual pages, so man is not there. Inside the CTF, use --help, and list every command with ls /bin (or busybox --list in real-Linux mode).
Takeaway: nobody memorises commands. Professionals know how to find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keys that make everyone faster, and that matter in a timed competition.
Tab: type the first letters of a name and press Tab; the shell finishes it. If several names match, press Tab twice to see the choices. It also prevents typos in long paths.
Up arrow brings back the last command so you can fix or extend it. Ctrl+C stops whatever is running. clear wipes the screen.
TRY IT: type cd miss and press Tab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3: searching. When a folder tree or a file is too big to read by hand, you let the computer search.
find searches the TREE by name. grep searches INSIDE files by content. Pipes let you chain small tools into a bigger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folders one by one does not scale. find walks every sub-folder for you.
Read the command as a sentence: find, starting in /etc, files whose name matches this pattern. The star means 'anything'. Keep the quotes around a pattern that has a star.
TRY IT: find /etc -name "p*" finds passwd and profile.
COMES BACK IN: Mission 4, Needle in the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looks at file names. grep looks inside files and prints only the lines that contain your word.
This is the everyday tool of a security analyst: logs are huge, and the one line that matters is in there somewhere.
TRY IT: grep player /etc/passwd prints the one line about your account.
COMES BACK IN: Mission 5, Search party.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 character sends the output of one command into the next. Each tool does one small job; chained together they answer a real question.
Here: how many commands on this computer have 'sh' in their name? ls /bin lists every command. grep keeps the names containing sh. wc -l counts them.
Build it up live, one stage at a time, using the Up arrow to bring the last command back. The pipe key is Shift plus backslash.
COMES BACK IN: Mission 5 (head and wc -l to size up the log), Missions 6, 9 and 10, and the side 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small tools that shine in a pipe.
sort puts lines in order, so identical lines end up next to each other. uniq squashes neighbouring repeats: -c counts them, -u keeps only the lines with no twin. Because uniq only looks at neighbours, it almost always comes after sort.
cut slices one field out of every line: -d says what separates the fields, -f which field to keep. Try it on /etc/passwd, where fields are separated by colons.
COMES BACK IN: Mission 6, Odd one out (sort | uniq), Endgame (cut) and the side 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4: text power tools. They power Missions 8, 9 and the Endgame.
sed and awk are how professionals reshape text and pull apart data without ever opening an editor.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tools every Linux user reaches for. sed is a stream editor: its s/old/new/g substitute swaps or deletes text everywhere in one pass. awk pulls columns out of structured text: print $3 prints the third field of each line.
Don't give the exact commands away. Mission 8 is a sed substitution; Mission 9 is awk pulling a column. Ask 'how would you delete something that repeats?' and 'how would you grab just one column?'
Pair them with &gt; (save output to a file) and you can pull data, save it, and feed it to the next tool.
COMES BACK IN: Mission 8, Find and replace (sed); Mission 9, Forge the key (awk); and the Endgame.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Normalise being stuck. Professionals look things up all day.
The page has a hint for every mission: hint 1 up to hint 10, or the Need a hint? box in the sidebar. Hints come in tiers: the first points to a command's --help, later ones give more direction (Easy missions have one hint, the Endgame has four). Each hint costs 5% of that mission's points, charged once, and hint N always shows the price before you buy with hint N --show. Try --help first: it is free.
An error message is information. 'Permission denied' means you found something protected. 'No such file' usually means a typo or the wrong folder: run pwd and 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one-slide recap before the competition, grouped by the four big ideas. Do not re-teach: point and name.
Mentors can flip back to this slide at any time during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If students played around while learning, have everyone reload now for a fresh computer and a clean start.
Put the CTF on one half of the projector and these slides on the other, or switch between them.
The plan: name the flow, capture one flag together, then let students start one on their own. The remaining missions are a bank in the appendix - you are not trying to get through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teaching loop so the room knows what to expect, and why you keep pausing to ask questions. This is the mentor's rhythm for the guided mission and for every command demo.
Predict is the step people skip. Always ask 'what do you think this will do?' BEFORE running it. A wrong prediction corrected by real output sticks far better than being handed the answer.
Explain closes the loop: a student puts what happened in their own words. If they can explain it, they own it.
Watch for:
- Ask before you tell - a question beats an answer every time.
- Always get a prediction before running a command.
- Let a student explain it back; that's how you know it landed.
- Guide and connect to real work. Don't type for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of what is available. Leave it up for a moment and let students read the names - but set the expectation: this is a menu, not a to-do list. In one hour, you capture the guided one together and students start one or two on their own.
The commands appear in the same order we met them, so an early mission uses something we just practiced.
Do not frame this as a race to the end. Mission 1 is a great start for everyone; where each student goes next is up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1 OF 10: Make your move   [Easy, 100 points, We do]
Show the brief first. Read it out loud, then ask the three questions BEFORE anyone types. Take one answer per question; don't confirm or correct yet - predicting, then checking, is where the learning happens.
CLASS CALLS IT OUT. This is the first mission, so keep it upbeat and model the whole flow out loud.
Ask before every cd: 'what do the names say?' Folders show in blue in ls; the long dashed names are plain files used as signs. Try cd into a sign on purpose: 'Not a directory' is a great teaching moment.
The first sign always leads to a dead end on purpose, so the class has to use cd .. . The last step shows that cd can take two folders at once: cd gazebo/crate.
The flag is a file NAME. Select it in the ls output and paste it after submit.
Place names are random per computer: park, library, market, harbor, station, arcade; then fountain, gazebo, tunnel, bridge or kiosk; then locker, crate, shed, cellar or toolbox.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1 OF 10: Make your move
Guided mission: solve it live with the class calling out commands, then use this slide to recap.
The slide never shows a real flag: every computer has its own, so students still have to run the commands themselves.
Ask one student to explain the steps in their own words. Offer the stretch question to anyone who finished early.
CLASS CALLS IT OUT. This is the first mission, so keep it upbeat and model the whole flow out loud.
Ask before every cd: 'what do the names say?' Folders show in blue in ls; the long dashed names are plain files used as signs. Try cd into a sign on purpose: 'Not a directory' is a great teaching moment.
The first sign always leads to a dead end on purpose, so the class has to use cd .. . The last step shows that cd can take two folders at once: cd gazebo/crate.
The flag is a file NAME. Select it in the ls output and paste it after submit.
Place names are random per computer: park, library, market, harbor, station, arcade; then fountain, gazebo, tunnel, bridge or kiosk; then locker, crate, shed, cellar or toolbox.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2 OF 10: Let the cat out of the bag   [Easy, 100 points, We do]
Show the brief first. Read it out loud, then ask the three questions BEFORE anyone types. Take one answer per question; don't confirm or correct yet - predicting, then checking, is where the learning happens.
CLASS CALLS IT OUT. Two lessons in one: cat reads files, and --help makes any command explain itself.
Before anyone runs cat --help, ask: 'how would you find out what a program can do if nobody told you?' Then show the two dashes.
Read the help out loud: the Usage line says cat takes options, then files. -n numbers output lines.
The real line number is random per computer (30 to 95). Teams scroll up to find it; on a laptop that is easy.
Submitting a look-alike line gives 'Incorrect flag', a nice proof that only one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2 OF 10: Let the cat out of the bag
Guided mission: solve it live with the class calling out commands, then use this slide to recap.
The slide never shows a real flag: every computer has its own, so students still have to run the commands themselves.
Ask one student to explain the steps in their own words. Offer the stretch question to anyone who finished early.
CLASS CALLS IT OUT. Two lessons in one: cat reads files, and --help makes any command explain itself.
Before anyone runs cat --help, ask: 'how would you find out what a program can do if nobody told you?' Then show the two dashes.
Read the help out loud: the Usage line says cat takes options, then files. -n numbers output lines.
The real line number is random per computer (30 to 95). Teams scroll up to find it; on a laptop that is easy.
Submitting a look-alike line gives 'Incorrect flag', a nice proof that only one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session. Point students at the CTF and let them start a mission on their OWN. Say clearly: you do NOT have to finish, and you do NOT have to do them in order. Pick one that looks interesting and run the loop: read, observe, try, check, adjust.
Walk the room. Ask questions instead of answering them: 'What is the clue telling you?' 'What did the output say?' 'What would you try next?' Resist typing for students.
The remaining missions (3-10) are in the mentor appendix as a bank: pull one up if the room wants a nudge, or leave them for self-study. Finishing them is not the goal - confidence starting one is.
Mentor: one flag captured, understood, and explained back beats ten rushed. Celebrate the process, not the leaderboard.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flags and no points: the answer is a number or a name, and students compare out loud. Good for anyone curious to keep going - entirely optional.
Answers:
Count the haystack: find archive -type f | wc -l  gives 81 files; -type d gives 26 folders. Same on every computer.
Who failed most?: grep LOGIN_FAIL access.log | cut -d' ' -f2 | sort | uniq -c | sort -n | tail -3. Different on every computer; ties happen.
Head count: cut -d' ' -f2 access.log | sort -u | wc -l gives 11 (ten users plus the intruder).
Swap secrets: echo meet at the gym | rev, write it on paper, swap with a neighbour, and rev it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Applaud the fastest teams, and also the team that got unstuck the most times.
Fun closer: have everyone type the command on this slide. $(whoami) runs whoami and drops its answer into the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it as a heist: 'the answers are on this computer. Let's steal them.' Then let the computer say no. Run these live.
ls -l: every file has an owner and three sets of permissions: owner, group, everyone else. r is read, w is write, x is run. The quest's files belong to root: we may read, not write.
cat shows 64 letters and digits: not a flag, a fingerprint (a SHA-256 hash) of the flag.
Writing fails with Permission denied, and a forged flag is rejected. Leads straight into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start-up the CTF makes ten random flags (one per mission), saves only their SHA-256 fingerprints in /etc/quest, and throws the flags away. submit fingerprints your guess and compares. A match means correct, and the points land.
A hash function turns any input into a fixed 64-character fingerprint. Same input, same fingerprint; change one letter and it changes completely; and it only works one way.
Good websites store passwords the same way. If attackers steal the database they get fingerprints, not passwords. (Real systems also add a random 'salt' and use deliberately slow hashes.)
Same trick, real world: good websites store a fingerprint of your password, not the password. That is why 'forgot password' resets it instead of emailing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visual receipt for the session, in mission order. Each stamp is a tool the class used today.
Ask students to count the stamps they earned. Anyone with ten or more did a full beginner Linux lab in one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 missions to real work. Ask the questions on the right and let students answer before you do.
Mentors: share one real story (unclassified and non-sensitive) of using these commands at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what students can do tomorrow, for free.
CyberQuest Academy is where the next challenges live: fill in the link. The Linux CTF works at home on any computer, and every replay is a fresh set of flags and a fresh clock.
Thank the class and the teacher.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Mentor appendix: reference for whoever runs the room — the page layout, how flags work under the hood, how to open the CTF, the answer key, and fixes for the usual snags. Not student-facing.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screenshot from the middle of a game: the first two flags captured, mission 3 open.
Walk the eight parts. The progress track lights one coloured bar per flag. Points, the clock and flags captured sit at the top of the sidebar. The clock starts on your first keystroke in Mission 1, counts up and stops at the last flag. The stepper shows a green check for each captured mission. Each mission shows its difficulty and points. Run buttons type the starting commands for you. Next unlocks once the flag is captured.
The most common problem in class is typing before clicking inside the terminal. Say it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MENTORS. Skip it when presenting to students, or hide it.
The page is the ctf-test project on GitLab. Its .gitlab-ci.yml has a 'pages' job that publishes the public/ folder whenever the default branch changes. Set Settings &gt; General &gt; Visibility &gt; Pages to Everyone, or students get a GitLab sign-in page.
Two things can get in the way at a school:
1. The web filter blocks *.gitlab.io. Ask IT to allow your Pages address.
2. WebAssembly is switched off by policy. The page handles this itself by starting lite mode; the status then says 'Ready (lite mode)'. Add ?lite to the address to try lite mode yourself.
Test on an actual student device, on the school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CyberQuest Linux CTF is our own page, hosted free on GitLab Pages. When it loads, it starts a small but real Linux computer inside the tab.
How: a program called v86 pretends to be a PC, using a browser feature called WebAssembly. That pretend PC boots a real Linux kernel, and a toolkit called BusyBox provides the commands.
Some school and work browsers switch WebAssembly off. Then the page starts lite mode instead: a simulated shell with the same ten missions and the same commands. Students barely notice the difference.
Everything runs on the student's own device. Every page load hides ten new random flags, which is why reloading resets your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MENTOR READING: run this with students right before Part 2 (Command-line essentials), so every device is booted for the Try it pills. Give students two or three minutes. Mentors walk the room.
WRITE YOUR GITLAB PAGES ADDRESS IN THE BOX before presenting (click the dashed box and type). A QR code or short link on the board also helps.
Boot takes about 10 seconds on a laptop; Chromebooks can take longer. The status in the top right corner says 'Ready in N s' when it is done.
Most important rule: do not reload the page. A reload builds a brand-new computer with new flags, and resets the clock and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terminal works in a loop, and once students see the loop they stop being nervous of it.
Prompt, type, Enter, output, prompt again. Walk the four cards, then show the two terminals underneath.
Left: some commands print nothing at all. cd moves you and stays silent; the new prompt shows the new folder. Silence usually means it worked.
Right: errors are output too. LS fails because Linux is case-sensitive. ls /nope fails because the folder does not exist. The message tells you what went wrong, so read it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everyone click in the terminal and type three commands: whoami, pwd and ls. Show it on the projector at the same time.
This is practice: the competition clock does not start until Mission 1, so nothing here counts against anyone.
whoami answers 'player'. pwd shows the home folder. ls shows README.txt, orientation.txt and the ten mission folders.
Do not move on until every student has a prompt and sees the ten missions. Thumbs up when you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MENTORS. Hide this slide when presenting.
Flags are random on every page load and the CTF keeps only fingerprints, so there is no list of flags: play each mission yourself before class.
Fixed side-quest answers: Count the haystack is 81 files and 26 folders; Head count is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MENTORS. Hide this slide when presenting.
Most problems are outside the page: the school web filter, or the GitLab Pages visibility setting. Test on a student device, on the school network, beforehand.
Plan B if most devices can't load it: drive the CTF on the projector from a device that works, and run the whole competition as 'We do', with teams racing to call out the next command on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mentor-facing summary. If you remember one thing: protect the CORE and treat everything else as flexible. A student who understands the flow and captured one flag has had a great session, even if you skipped half the slides.
Pacing is flexible by design. Quick room? Demo more commands or let students start a second mission. Slow room? Do fewer command demos and spend the time on the guided capture and reflection.
Use the discussion prompts to keep it a conversation, not a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reference bank, not a checklist. Missions 1 and 2 are the guided example in the main deck; these eight are here for independent work and self-study.
Pull one up when a student wants a nudge on a mission they chose, or share the deck afterward. In a one-hour session you will not show most of these live - and that's the point.
Each mission has a brief (the clue and three questions) and a walkthrough (one correct path). Flags differ on every computer, so walkthroughs are safe to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3 OF 10: Now you see me   [Easy, 100 points, You do]
Show the brief first. Read it out loud, then ask the three questions BEFORE anyone types. Take one answer per question; don't confirm or correct yet - predicting, then checking, is where the learning happens.
INDEPENDENT. Students try on their own first; reveal this walkthrough after they have had a go, or if the room is stuck.
If a team is stuck, point them at hint 3, or ask 'what does ls --help say about names that start with a dot?'
The real file is .treasure, .stash, .secret-notes or .backup-codes; the decoy always starts with .old-.
Stretch answer: .profile, the file that sets up the coloured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3 OF 10: Now you see me
Independent mission: reveal this only after students have tried, or when the room is stuck. Not everyone needs to reach it - one captured flag is a win.
The slide never shows a real flag: every computer has its own, so students still have to run the commands themselves.
Ask one student to explain the steps in their own words. Offer the stretch question to anyone who finished early.
INDEPENDENT. Students try on their own first; reveal this walkthrough after they have had a go, or if the room is stuck.
If a team is stuck, point them at hint 3, or ask 'what does ls --help say about names that start with a dot?'
The real file is .treasure, .stash, .secret-notes or .backup-codes; the decoy always starts with .old-.
Stretch answer: .profile, the file that sets up the coloured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4 OF 10: Needle in the tree   [Medium, 200 points, You do]
Show the brief first. Read it out loud, then ask the three questions BEFORE anyone types. Take one answer per question; don't confirm or correct yet - predicting, then checking, is where the learning happens.
INDEPENDENT. Worth 200 points: the first Medium.
The ending is random per computer: .key, .gem or .relic. Teams must read their OWN README.
When revealing, read the find command as a sentence: find, starting in archive, things whose name ends in .gem. Keep the quotes around the pattern.
The long path is the perfect moment for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4 OF 10: Needle in the tree
Independent mission: reveal this only after students have tried, or when the room is stuck. Not everyone needs to reach it - one captured flag is a win.
The slide never shows a real flag: every computer has its own, so students still have to run the commands themselves.
Ask one student to explain the steps in their own words. Offer the stretch question to anyone who finished early.
INDEPENDENT. Worth 200 points: the first Medium.
The ending is random per computer: .key, .gem or .relic. Teams must read their OWN README.
When revealing, read the find command as a sentence: find, starting in archive, things whose name ends in .gem. Keep the quotes around the pattern.
The long path is the perfect moment for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5 OF 10: Search party   [Medium, 200 points, You do]
Show the brief first. Read it out loud, then ask the three questions BEFORE anyone types. Take one answer per question; don't confirm or correct yet - predicting, then checking, is where the learning happens.
INDEPENDENT. If a team runs cat access.log, 12,000 lines blur past: that makes the case for grep. Ctrl+C stops it early.
The intruder's name is random per computer: nightowl, ghost_fox, zero_cool, red_panda or pixel_wolf.
Copy only the token value, starting at CYBA{ and ending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5 OF 10: Search party
Independent mission: reveal this only after students have tried, or when the room is stuck. Not everyone needs to reach it - one captured flag is a win.
The slide never shows a real flag: every computer has its own, so students still have to run the commands themselves.
Ask one student to explain the steps in their own words. Offer the stretch question to anyone who finished early.
INDEPENDENT. If a team runs cat access.log, 12,000 lines blur past: that makes the case for grep. Ctrl+C stops it early.
The intruder's name is random per computer: nightowl, ghost_fox, zero_cool, red_panda or pixel_wolf.
Copy only the token value, starting at CYBA{ and ending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6 OF 10: Odd one out   [Medium, 200 points, You do]
Show the brief first. Read it out loud, then ask the three questions BEFORE anyone types. Take one answer per question; don't confirm or correct yet - predicting, then checking, is where the learning happens.
INDEPENDENT. The first pipe mission. uniq only compares NEIGHBOURING lines, so uniq -u on the unsorted file prints almost everything: a great 'why?' moment.
If stuck: hint 6 (costs 10 points), or 'what does uniq --help say about unique lines?'
Also correct: sort codes.txt | uniq -c | sort -n | head -1 shows a count of 1 next to the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6 OF 10: Odd one out
Independent mission: reveal this only after students have tried, or when the room is stuck. Not everyone needs to reach it - one captured flag is a win.
The slide never shows a real flag: every computer has its own, so students still have to run the commands themselves.
Ask one student to explain the steps in their own words. Offer the stretch question to anyone who finished early.
INDEPENDENT. The first pipe mission. uniq only compares NEIGHBOURING lines, so uniq -u on the unsorted file prints almost everything: a great 'why?' moment.
If stuck: hint 6 (costs 10 points), or 'what does uniq --help say about unique lines?'
Also correct: sort codes.txt | uniq -c | sort -n | head -1 shows a count of 1 next to the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7 OF 10: Permission denied   [Medium, 200 points, You do]
Show the brief first. Read it out loud, then ask the three questions BEFORE anyone types. Take one answer per question; don't confirm or correct yet - predicting, then checking, is where the learning happens.
INDEPENDENT. Read the permission string in threes: owner, group, everyone. r read, w write, x execute (run).
Some teams will cat unlock.sh and reverse its hidden .door file with rev by hand. That works too: praise it as thinking like an attacker, then ask them to do it the intended way.
Stretch answer: root owns them, and player cannot change them (Operation not permitted). That is exactly why the answers are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7 OF 10: Permission denied
Independent mission: reveal this only after students have tried, or when the room is stuck. Not everyone needs to reach it - one captured flag is a win.
The slide never shows a real flag: every computer has its own, so students still have to run the commands themselves.
Ask one student to explain the steps in their own words. Offer the stretch question to anyone who finished early.
INDEPENDENT. Read the permission string in threes: owner, group, everyone. r read, w write, x execute (run).
Some teams will cat unlock.sh and reverse its hidden .door file with rev by hand. That works too: praise it as thinking like an attacker, then ask them to do it the intended way.
Stretch answer: root owns them, and player cannot change them (Operation not permitted). That is exactly why the answers are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8 OF 10: Find and replace   [Hard, 400 points, You do]
Show the brief first. Read it out loud, then ask the three questions BEFORE anyone types. Take one answer per question; don't confirm or correct yet - predicting, then checking, is where the learning happens.
INDEPENDENT. Worth 400 points: the first Hard. The skill is sed's substitute command; the puzzle is spotting the junk string first.
The junk is random per computer (QZ, XK, ...). Students cat the file, identify the junk, then strip it. An empty 'new' - nothing between the last two slashes - deletes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8 OF 10: Find and replace
Independent mission: reveal this only after students have tried, or when the room is stuck. Not everyone needs to reach it - one captured flag is a win.
The slide never shows a real flag: every computer has its own, so students still have to run the commands themselves.
Ask one student to explain the steps in their own words. Offer the stretch question to anyone who finished early.
INDEPENDENT. Worth 400 points: the first Hard. The skill is sed's substitute command; the puzzle is spotting the junk string first.
The junk is random per computer (QZ, XK, ...). Students cat the file, identify the junk, then strip it. An empty 'new' - nothing between the last two slashes - deletes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9 OF 10: Forge the key   [Hard, 400 points, You do]
Show the brief first. Read it out loud, then ask the three questions BEFORE anyone types. Take one answer per question; don't confirm or correct yet - predicting, then checking, is where the learning happens.
INDEPENDENT. Worth 400 points. Three skills in one: awk to pull a column, &gt; to save it, and running a tool (forge) on the file.
The three admin rows sit in order in the file, so awk prints the parts in the right order; forge just assembles them. Pull the wrong field and forge makes the wrong flag - a good 'check your awk'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9 OF 10: Forge the key
Independent mission: reveal this only after students have tried, or when the room is stuck. Not everyone needs to reach it - one captured flag is a win.
The slide never shows a real flag: every computer has its own, so students still have to run the commands themselves.
Ask one student to explain the steps in their own words. Offer the stretch question to anyone who finished early.
INDEPENDENT. Worth 400 points. Three skills in one: awk to pull a column, &gt; to save it, and running a tool (forge) on the file.
The three admin rows sit in order in the file, so awk prints the parts in the right order; forge just assembles them. Pull the wrong field and forge makes the wrong flag - a good 'check your awk'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10 OF 10: Endgame   [Very Hard, 800 points, You do]
Show the brief first. Read it out loud, then ask the three questions BEFORE anyone types. Take one answer per question; don't confirm or correct yet - predicting, then checking, is where the learning happens.
INDEPENDENT. Worth 800 points and the only Very Hard mission - a stretch goal, not an expectation. Few will reach it, and that is fine. Points land only for the whole flag, but every piece found is progress worth praising.
Coach piece by piece: 'Which mission taught you hidden files? Searching a log? A locked script?'
cut -d= -f4 means: split the line at every = sign and keep the 4th part, the token.
The pieces on this slide are an example: every computer has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10 OF 10: Endgame
Independent mission: reveal this only after students have tried, or when the room is stuck. Not everyone needs to reach it - one captured flag is a win.
The slide never shows a real flag: every computer has its own, so students still have to run the commands themselves.
Ask one student to explain the steps in their own words. Offer the stretch question to anyone who finished early.
INDEPENDENT. Worth 800 points and the only Very Hard mission - a stretch goal, not an expectation. Few will reach it, and that is fine. Points land only for the whole flag, but every piece found is progress worth praising.
Coach piece by piece: 'Which mission taught you hidden files? Searching a log? A locked script?'
cut -d= -f4 means: split the line at every = sign and keep the 4th part, the token.
The pieces on this slide are an example: every computer has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LIGHT-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ECTION-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image" Target="../media/image-12-14.png"/><Relationship Id="rId15" Type="http://schemas.openxmlformats.org/officeDocument/2006/relationships/image" Target="../media/image-12-15.png"/><Relationship Id="rId16" Type="http://schemas.openxmlformats.org/officeDocument/2006/relationships/image" Target="../media/image-12-16.png"/><Relationship Id="rId17" Type="http://schemas.openxmlformats.org/officeDocument/2006/relationships/slideLayout" Target="../slideLayouts/slideLayout2.xml"/><Relationship Id="rId1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slideLayout" Target="../slideLayouts/slideLayout2.xml"/><Relationship Id="rId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slideLayout" Target="../slideLayouts/slideLayout2.xm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image" Target="../media/image-51-4.png"/><Relationship Id="rId5" Type="http://schemas.openxmlformats.org/officeDocument/2006/relationships/slideLayout" Target="../slideLayouts/slideLayout2.xml"/><Relationship Id="rId6"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slideLayout" Target="../slideLayouts/slideLayout2.xml"/><Relationship Id="rId5"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6583680" cy="1280160"/>
          </a:xfrm>
          <a:prstGeom prst="rect">
            <a:avLst/>
          </a:prstGeom>
          <a:noFill/>
          <a:ln/>
        </p:spPr>
        <p:txBody>
          <a:bodyPr wrap="square" lIns="0" tIns="0" rIns="0" bIns="0" rtlCol="0" anchor="ctr"/>
          <a:lstStyle/>
          <a:p>
            <a:pPr indent="0" marL="0">
              <a:buNone/>
            </a:pPr>
            <a:r>
              <a:rPr lang="en-US" sz="8400" b="1" dirty="0">
                <a:solidFill>
                  <a:srgbClr val="FFFFFF"/>
                </a:solidFill>
                <a:latin typeface="Arial" pitchFamily="34" charset="0"/>
                <a:ea typeface="Arial" pitchFamily="34" charset="-122"/>
                <a:cs typeface="Arial" pitchFamily="34" charset="-120"/>
              </a:rPr>
              <a:t>CyberQuest</a:t>
            </a:r>
            <a:endParaRPr lang="en-US" sz="8400" dirty="0"/>
          </a:p>
        </p:txBody>
      </p:sp>
      <p:sp>
        <p:nvSpPr>
          <p:cNvPr id="3" name="Text 1"/>
          <p:cNvSpPr txBox="1"/>
          <p:nvPr/>
        </p:nvSpPr>
        <p:spPr>
          <a:xfrm>
            <a:off x="548640" y="2788920"/>
            <a:ext cx="6126480" cy="1188720"/>
          </a:xfrm>
          <a:prstGeom prst="rect">
            <a:avLst/>
          </a:prstGeom>
          <a:noFill/>
          <a:ln/>
        </p:spPr>
        <p:txBody>
          <a:bodyPr wrap="square" lIns="0" tIns="0" rIns="0" bIns="0" rtlCol="0" anchor="ctr"/>
          <a:lstStyle/>
          <a:p>
            <a:pPr indent="0" marL="0">
              <a:buNone/>
            </a:pPr>
            <a:r>
              <a:rPr lang="en-US" sz="2600" dirty="0">
                <a:solidFill>
                  <a:srgbClr val="E8EEFF"/>
                </a:solidFill>
                <a:latin typeface="Calibri" pitchFamily="34" charset="0"/>
                <a:ea typeface="Calibri" pitchFamily="34" charset="-122"/>
                <a:cs typeface="Calibri" pitchFamily="34" charset="-120"/>
              </a:rPr>
              <a:t>CTF Foundation: Linux and the command line.</a:t>
            </a:r>
            <a:endParaRPr lang="en-US" sz="2600" dirty="0"/>
          </a:p>
          <a:p>
            <a:pPr indent="0" marL="0">
              <a:buNone/>
            </a:pPr>
            <a:r>
              <a:rPr lang="en-US" sz="2600" dirty="0">
                <a:solidFill>
                  <a:srgbClr val="E8EEFF"/>
                </a:solidFill>
                <a:latin typeface="Calibri" pitchFamily="34" charset="0"/>
                <a:ea typeface="Calibri" pitchFamily="34" charset="-122"/>
                <a:cs typeface="Calibri" pitchFamily="34" charset="-120"/>
              </a:rPr>
              <a:t>Learn it, then compete.</a:t>
            </a:r>
            <a:endParaRPr lang="en-US" sz="2600" dirty="0"/>
          </a:p>
        </p:txBody>
      </p:sp>
      <p:sp>
        <p:nvSpPr>
          <p:cNvPr id="4" name="Shape 2"/>
          <p:cNvSpPr/>
          <p:nvPr/>
        </p:nvSpPr>
        <p:spPr>
          <a:xfrm>
            <a:off x="548640" y="4160520"/>
            <a:ext cx="2743200" cy="347472"/>
          </a:xfrm>
          <a:prstGeom prst="roundRect">
            <a:avLst>
              <a:gd name="adj" fmla="val 50000"/>
            </a:avLst>
          </a:prstGeom>
          <a:solidFill>
            <a:srgbClr val="F5A623"/>
          </a:solidFill>
          <a:ln/>
        </p:spPr>
      </p:sp>
      <p:sp>
        <p:nvSpPr>
          <p:cNvPr id="5" name="Text 3"/>
          <p:cNvSpPr txBox="1"/>
          <p:nvPr/>
        </p:nvSpPr>
        <p:spPr>
          <a:xfrm>
            <a:off x="548640" y="4160520"/>
            <a:ext cx="2743200" cy="347472"/>
          </a:xfrm>
          <a:prstGeom prst="rect">
            <a:avLst/>
          </a:prstGeom>
          <a:noFill/>
          <a:ln/>
        </p:spPr>
        <p:txBody>
          <a:bodyPr wrap="square" lIns="0" tIns="0" rIns="0" bIns="0" rtlCol="0" anchor="ctr"/>
          <a:lstStyle/>
          <a:p>
            <a:pPr algn="ctr" indent="0" marL="0">
              <a:buNone/>
            </a:pPr>
            <a:r>
              <a:rPr lang="en-US" sz="1500" b="1" dirty="0">
                <a:solidFill>
                  <a:srgbClr val="12213A"/>
                </a:solidFill>
                <a:latin typeface="Calibri" pitchFamily="34" charset="0"/>
                <a:ea typeface="Calibri" pitchFamily="34" charset="-122"/>
                <a:cs typeface="Calibri" pitchFamily="34" charset="-120"/>
              </a:rPr>
              <a:t>simulated CTF competition</a:t>
            </a:r>
            <a:endParaRPr lang="en-US" sz="1500" dirty="0"/>
          </a:p>
        </p:txBody>
      </p:sp>
      <p:sp>
        <p:nvSpPr>
          <p:cNvPr id="6" name="Text 4"/>
          <p:cNvSpPr txBox="1"/>
          <p:nvPr/>
        </p:nvSpPr>
        <p:spPr>
          <a:xfrm>
            <a:off x="548640" y="4681728"/>
            <a:ext cx="594360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CyberQuest Academy mentorship session</a:t>
            </a:r>
            <a:endParaRPr lang="en-US" sz="1800" dirty="0"/>
          </a:p>
        </p:txBody>
      </p:sp>
      <p:sp>
        <p:nvSpPr>
          <p:cNvPr id="8" name="Text 5"/>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7F8FAD"/>
                </a:solidFill>
                <a:latin typeface="Calibri" pitchFamily="34" charset="0"/>
                <a:ea typeface="Calibri" pitchFamily="34" charset="-122"/>
                <a:cs typeface="Calibri" pitchFamily="34" charset="-120"/>
              </a:rPr>
              <a:t>Linux CTF   ·   1 / 79</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How today works</a:t>
            </a:r>
            <a:endParaRPr lang="en-US" sz="3200" dirty="0"/>
          </a:p>
        </p:txBody>
      </p:sp>
      <p:sp>
        <p:nvSpPr>
          <p:cNvPr id="4" name="Shape 1"/>
          <p:cNvSpPr/>
          <p:nvPr/>
        </p:nvSpPr>
        <p:spPr>
          <a:xfrm>
            <a:off x="548640" y="1627632"/>
            <a:ext cx="3611880" cy="1810512"/>
          </a:xfrm>
          <a:prstGeom prst="roundRect">
            <a:avLst>
              <a:gd name="adj" fmla="val 6061"/>
            </a:avLst>
          </a:prstGeom>
          <a:solidFill>
            <a:srgbClr val="E8F3EF"/>
          </a:solidFill>
          <a:ln w="12700">
            <a:solidFill>
              <a:srgbClr val="B5D9CA"/>
            </a:solidFill>
            <a:prstDash val="solid"/>
          </a:ln>
        </p:spPr>
      </p:sp>
      <p:sp>
        <p:nvSpPr>
          <p:cNvPr id="5" name="Shape 2"/>
          <p:cNvSpPr/>
          <p:nvPr/>
        </p:nvSpPr>
        <p:spPr>
          <a:xfrm>
            <a:off x="822960" y="1901952"/>
            <a:ext cx="512064" cy="512064"/>
          </a:xfrm>
          <a:prstGeom prst="ellipse">
            <a:avLst/>
          </a:prstGeom>
          <a:solidFill>
            <a:srgbClr val="17875A"/>
          </a:solidFill>
          <a:ln/>
        </p:spPr>
      </p:sp>
      <p:sp>
        <p:nvSpPr>
          <p:cNvPr id="6" name="Text 3"/>
          <p:cNvSpPr txBox="1"/>
          <p:nvPr/>
        </p:nvSpPr>
        <p:spPr>
          <a:xfrm>
            <a:off x="822960" y="1901952"/>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7" name="Text 4"/>
          <p:cNvSpPr txBox="1"/>
          <p:nvPr/>
        </p:nvSpPr>
        <p:spPr>
          <a:xfrm>
            <a:off x="1463040" y="1901952"/>
            <a:ext cx="2286000" cy="512064"/>
          </a:xfrm>
          <a:prstGeom prst="rect">
            <a:avLst/>
          </a:prstGeom>
          <a:noFill/>
          <a:ln/>
        </p:spPr>
        <p:txBody>
          <a:bodyPr wrap="square" lIns="0" tIns="0" rIns="0" bIns="0" rtlCol="0" anchor="ctr"/>
          <a:lstStyle/>
          <a:p>
            <a:pPr indent="0" marL="0">
              <a:buNone/>
            </a:pPr>
            <a:r>
              <a:rPr lang="en-US" sz="2100" b="1" dirty="0">
                <a:solidFill>
                  <a:srgbClr val="17875A"/>
                </a:solidFill>
                <a:latin typeface="Arial" pitchFamily="34" charset="0"/>
                <a:ea typeface="Arial" pitchFamily="34" charset="-122"/>
                <a:cs typeface="Arial" pitchFamily="34" charset="-120"/>
              </a:rPr>
              <a:t>Concept</a:t>
            </a:r>
            <a:endParaRPr lang="en-US" sz="2100" dirty="0"/>
          </a:p>
        </p:txBody>
      </p:sp>
      <p:sp>
        <p:nvSpPr>
          <p:cNvPr id="8" name="Text 5"/>
          <p:cNvSpPr txBox="1"/>
          <p:nvPr/>
        </p:nvSpPr>
        <p:spPr>
          <a:xfrm>
            <a:off x="841248" y="2542032"/>
            <a:ext cx="2148840" cy="822960"/>
          </a:xfrm>
          <a:prstGeom prst="rect">
            <a:avLst/>
          </a:prstGeom>
          <a:noFill/>
          <a:ln/>
        </p:spPr>
        <p:txBody>
          <a:bodyPr wrap="square" lIns="0" tIns="0" rIns="0" bIns="0" rtlCol="0" anchor="t"/>
          <a:lstStyle/>
          <a:p>
            <a:pPr indent="0" marL="0">
              <a:buNone/>
            </a:pPr>
            <a:r>
              <a:rPr lang="en-US" sz="1450" dirty="0">
                <a:solidFill>
                  <a:srgbClr val="12213A"/>
                </a:solidFill>
                <a:latin typeface="Calibri" pitchFamily="34" charset="0"/>
                <a:ea typeface="Calibri" pitchFamily="34" charset="-122"/>
                <a:cs typeface="Calibri" pitchFamily="34" charset="-120"/>
              </a:rPr>
              <a:t>What a CTF is, and why the command line matters.</a:t>
            </a:r>
            <a:endParaRPr lang="en-US" sz="1450" dirty="0"/>
          </a:p>
        </p:txBody>
      </p:sp>
      <p:sp>
        <p:nvSpPr>
          <p:cNvPr id="9" name="Shape 6"/>
          <p:cNvSpPr/>
          <p:nvPr/>
        </p:nvSpPr>
        <p:spPr>
          <a:xfrm>
            <a:off x="3136392" y="2468880"/>
            <a:ext cx="841248" cy="841248"/>
          </a:xfrm>
          <a:prstGeom prst="ellipse">
            <a:avLst/>
          </a:prstGeom>
          <a:solidFill>
            <a:srgbClr val="D1E7DE"/>
          </a:solidFill>
          <a:ln/>
        </p:spPr>
      </p:sp>
      <p:pic>
        <p:nvPicPr>
          <p:cNvPr id="10" name="Image 0" descr="preencoded.png">    </p:cNvPr>
          <p:cNvPicPr>
            <a:picLocks noChangeAspect="1"/>
          </p:cNvPicPr>
          <p:nvPr/>
        </p:nvPicPr>
        <p:blipFill>
          <a:blip r:embed="rId1"/>
          <a:stretch>
            <a:fillRect/>
          </a:stretch>
        </p:blipFill>
        <p:spPr>
          <a:xfrm>
            <a:off x="3363529" y="2696017"/>
            <a:ext cx="386974" cy="386974"/>
          </a:xfrm>
          <a:prstGeom prst="rect">
            <a:avLst/>
          </a:prstGeom>
        </p:spPr>
      </p:pic>
      <p:sp>
        <p:nvSpPr>
          <p:cNvPr id="11" name="Shape 7"/>
          <p:cNvSpPr/>
          <p:nvPr/>
        </p:nvSpPr>
        <p:spPr>
          <a:xfrm>
            <a:off x="4178808" y="2532888"/>
            <a:ext cx="182880" cy="0"/>
          </a:xfrm>
          <a:prstGeom prst="line">
            <a:avLst/>
          </a:prstGeom>
          <a:noFill/>
          <a:ln w="25400">
            <a:solidFill>
              <a:srgbClr val="9AA7BD"/>
            </a:solidFill>
            <a:prstDash val="solid"/>
            <a:tailEnd type="triangle"/>
          </a:ln>
        </p:spPr>
      </p:sp>
      <p:sp>
        <p:nvSpPr>
          <p:cNvPr id="12" name="Shape 8"/>
          <p:cNvSpPr/>
          <p:nvPr/>
        </p:nvSpPr>
        <p:spPr>
          <a:xfrm>
            <a:off x="4379976" y="1627632"/>
            <a:ext cx="3611880" cy="1810512"/>
          </a:xfrm>
          <a:prstGeom prst="roundRect">
            <a:avLst>
              <a:gd name="adj" fmla="val 6061"/>
            </a:avLst>
          </a:prstGeom>
          <a:solidFill>
            <a:srgbClr val="EAF5FB"/>
          </a:solidFill>
          <a:ln w="12700">
            <a:solidFill>
              <a:srgbClr val="BBE0F2"/>
            </a:solidFill>
            <a:prstDash val="solid"/>
          </a:ln>
        </p:spPr>
      </p:sp>
      <p:sp>
        <p:nvSpPr>
          <p:cNvPr id="13" name="Shape 9"/>
          <p:cNvSpPr/>
          <p:nvPr/>
        </p:nvSpPr>
        <p:spPr>
          <a:xfrm>
            <a:off x="4654296" y="1901952"/>
            <a:ext cx="512064" cy="512064"/>
          </a:xfrm>
          <a:prstGeom prst="ellipse">
            <a:avLst/>
          </a:prstGeom>
          <a:solidFill>
            <a:srgbClr val="2A9FD6"/>
          </a:solidFill>
          <a:ln/>
        </p:spPr>
      </p:sp>
      <p:sp>
        <p:nvSpPr>
          <p:cNvPr id="14" name="Text 10"/>
          <p:cNvSpPr txBox="1"/>
          <p:nvPr/>
        </p:nvSpPr>
        <p:spPr>
          <a:xfrm>
            <a:off x="4654296" y="1901952"/>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5" name="Text 11"/>
          <p:cNvSpPr txBox="1"/>
          <p:nvPr/>
        </p:nvSpPr>
        <p:spPr>
          <a:xfrm>
            <a:off x="5294376" y="1901952"/>
            <a:ext cx="2286000" cy="512064"/>
          </a:xfrm>
          <a:prstGeom prst="rect">
            <a:avLst/>
          </a:prstGeom>
          <a:noFill/>
          <a:ln/>
        </p:spPr>
        <p:txBody>
          <a:bodyPr wrap="square" lIns="0" tIns="0" rIns="0" bIns="0" rtlCol="0" anchor="ctr"/>
          <a:lstStyle/>
          <a:p>
            <a:pPr indent="0" marL="0">
              <a:buNone/>
            </a:pPr>
            <a:r>
              <a:rPr lang="en-US" sz="2100" b="1" dirty="0">
                <a:solidFill>
                  <a:srgbClr val="2A9FD6"/>
                </a:solidFill>
                <a:latin typeface="Arial" pitchFamily="34" charset="0"/>
                <a:ea typeface="Arial" pitchFamily="34" charset="-122"/>
                <a:cs typeface="Arial" pitchFamily="34" charset="-120"/>
              </a:rPr>
              <a:t>Mental model</a:t>
            </a:r>
            <a:endParaRPr lang="en-US" sz="2100" dirty="0"/>
          </a:p>
        </p:txBody>
      </p:sp>
      <p:sp>
        <p:nvSpPr>
          <p:cNvPr id="16" name="Text 12"/>
          <p:cNvSpPr txBox="1"/>
          <p:nvPr/>
        </p:nvSpPr>
        <p:spPr>
          <a:xfrm>
            <a:off x="4672584" y="2542032"/>
            <a:ext cx="2148840" cy="822960"/>
          </a:xfrm>
          <a:prstGeom prst="rect">
            <a:avLst/>
          </a:prstGeom>
          <a:noFill/>
          <a:ln/>
        </p:spPr>
        <p:txBody>
          <a:bodyPr wrap="square" lIns="0" tIns="0" rIns="0" bIns="0" rtlCol="0" anchor="t"/>
          <a:lstStyle/>
          <a:p>
            <a:pPr indent="0" marL="0">
              <a:buNone/>
            </a:pPr>
            <a:r>
              <a:rPr lang="en-US" sz="1450" dirty="0">
                <a:solidFill>
                  <a:srgbClr val="12213A"/>
                </a:solidFill>
                <a:latin typeface="Calibri" pitchFamily="34" charset="0"/>
                <a:ea typeface="Calibri" pitchFamily="34" charset="-122"/>
                <a:cs typeface="Calibri" pitchFamily="34" charset="-120"/>
              </a:rPr>
              <a:t>How to think about the terminal and any command.</a:t>
            </a:r>
            <a:endParaRPr lang="en-US" sz="1450" dirty="0"/>
          </a:p>
        </p:txBody>
      </p:sp>
      <p:sp>
        <p:nvSpPr>
          <p:cNvPr id="17" name="Shape 13"/>
          <p:cNvSpPr/>
          <p:nvPr/>
        </p:nvSpPr>
        <p:spPr>
          <a:xfrm>
            <a:off x="6967728" y="2468880"/>
            <a:ext cx="841248" cy="841248"/>
          </a:xfrm>
          <a:prstGeom prst="ellipse">
            <a:avLst/>
          </a:prstGeom>
          <a:solidFill>
            <a:srgbClr val="D4ECF7"/>
          </a:solidFill>
          <a:ln/>
        </p:spPr>
      </p:sp>
      <p:pic>
        <p:nvPicPr>
          <p:cNvPr id="18" name="Image 1" descr="preencoded.png">    </p:cNvPr>
          <p:cNvPicPr>
            <a:picLocks noChangeAspect="1"/>
          </p:cNvPicPr>
          <p:nvPr/>
        </p:nvPicPr>
        <p:blipFill>
          <a:blip r:embed="rId2"/>
          <a:stretch>
            <a:fillRect/>
          </a:stretch>
        </p:blipFill>
        <p:spPr>
          <a:xfrm>
            <a:off x="7194865" y="2696017"/>
            <a:ext cx="386974" cy="386974"/>
          </a:xfrm>
          <a:prstGeom prst="rect">
            <a:avLst/>
          </a:prstGeom>
        </p:spPr>
      </p:pic>
      <p:sp>
        <p:nvSpPr>
          <p:cNvPr id="19" name="Shape 14"/>
          <p:cNvSpPr/>
          <p:nvPr/>
        </p:nvSpPr>
        <p:spPr>
          <a:xfrm>
            <a:off x="8010144" y="2532888"/>
            <a:ext cx="182880" cy="0"/>
          </a:xfrm>
          <a:prstGeom prst="line">
            <a:avLst/>
          </a:prstGeom>
          <a:noFill/>
          <a:ln w="25400">
            <a:solidFill>
              <a:srgbClr val="9AA7BD"/>
            </a:solidFill>
            <a:prstDash val="solid"/>
            <a:tailEnd type="triangle"/>
          </a:ln>
        </p:spPr>
      </p:sp>
      <p:sp>
        <p:nvSpPr>
          <p:cNvPr id="20" name="Shape 15"/>
          <p:cNvSpPr/>
          <p:nvPr/>
        </p:nvSpPr>
        <p:spPr>
          <a:xfrm>
            <a:off x="8211312" y="1627632"/>
            <a:ext cx="3611880" cy="1810512"/>
          </a:xfrm>
          <a:prstGeom prst="roundRect">
            <a:avLst>
              <a:gd name="adj" fmla="val 6061"/>
            </a:avLst>
          </a:prstGeom>
          <a:solidFill>
            <a:srgbClr val="E9EEFB"/>
          </a:solidFill>
          <a:ln w="12700">
            <a:solidFill>
              <a:srgbClr val="B9CAF3"/>
            </a:solidFill>
            <a:prstDash val="solid"/>
          </a:ln>
        </p:spPr>
      </p:sp>
      <p:sp>
        <p:nvSpPr>
          <p:cNvPr id="21" name="Shape 16"/>
          <p:cNvSpPr/>
          <p:nvPr/>
        </p:nvSpPr>
        <p:spPr>
          <a:xfrm>
            <a:off x="8485632" y="1901952"/>
            <a:ext cx="512064" cy="512064"/>
          </a:xfrm>
          <a:prstGeom prst="ellipse">
            <a:avLst/>
          </a:prstGeom>
          <a:solidFill>
            <a:srgbClr val="2459D8"/>
          </a:solidFill>
          <a:ln/>
        </p:spPr>
      </p:sp>
      <p:sp>
        <p:nvSpPr>
          <p:cNvPr id="22" name="Text 17"/>
          <p:cNvSpPr txBox="1"/>
          <p:nvPr/>
        </p:nvSpPr>
        <p:spPr>
          <a:xfrm>
            <a:off x="8485632" y="1901952"/>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3" name="Text 18"/>
          <p:cNvSpPr txBox="1"/>
          <p:nvPr/>
        </p:nvSpPr>
        <p:spPr>
          <a:xfrm>
            <a:off x="9125712" y="1901952"/>
            <a:ext cx="2286000" cy="512064"/>
          </a:xfrm>
          <a:prstGeom prst="rect">
            <a:avLst/>
          </a:prstGeom>
          <a:noFill/>
          <a:ln/>
        </p:spPr>
        <p:txBody>
          <a:bodyPr wrap="square" lIns="0" tIns="0" rIns="0" bIns="0" rtlCol="0" anchor="ctr"/>
          <a:lstStyle/>
          <a:p>
            <a:pPr indent="0" marL="0">
              <a:buNone/>
            </a:pPr>
            <a:r>
              <a:rPr lang="en-US" sz="2100" b="1" dirty="0">
                <a:solidFill>
                  <a:srgbClr val="2459D8"/>
                </a:solidFill>
                <a:latin typeface="Arial" pitchFamily="34" charset="0"/>
                <a:ea typeface="Arial" pitchFamily="34" charset="-122"/>
                <a:cs typeface="Arial" pitchFamily="34" charset="-120"/>
              </a:rPr>
              <a:t>Tools</a:t>
            </a:r>
            <a:endParaRPr lang="en-US" sz="2100" dirty="0"/>
          </a:p>
        </p:txBody>
      </p:sp>
      <p:sp>
        <p:nvSpPr>
          <p:cNvPr id="24" name="Text 19"/>
          <p:cNvSpPr txBox="1"/>
          <p:nvPr/>
        </p:nvSpPr>
        <p:spPr>
          <a:xfrm>
            <a:off x="8503920" y="2542032"/>
            <a:ext cx="2148840" cy="822960"/>
          </a:xfrm>
          <a:prstGeom prst="rect">
            <a:avLst/>
          </a:prstGeom>
          <a:noFill/>
          <a:ln/>
        </p:spPr>
        <p:txBody>
          <a:bodyPr wrap="square" lIns="0" tIns="0" rIns="0" bIns="0" rtlCol="0" anchor="t"/>
          <a:lstStyle/>
          <a:p>
            <a:pPr indent="0" marL="0">
              <a:buNone/>
            </a:pPr>
            <a:r>
              <a:rPr lang="en-US" sz="1450" dirty="0">
                <a:solidFill>
                  <a:srgbClr val="12213A"/>
                </a:solidFill>
                <a:latin typeface="Calibri" pitchFamily="34" charset="0"/>
                <a:ea typeface="Calibri" pitchFamily="34" charset="-122"/>
                <a:cs typeface="Calibri" pitchFamily="34" charset="-120"/>
              </a:rPr>
              <a:t>A handful of commands - just what a challenge needs.</a:t>
            </a:r>
            <a:endParaRPr lang="en-US" sz="1450" dirty="0"/>
          </a:p>
        </p:txBody>
      </p:sp>
      <p:sp>
        <p:nvSpPr>
          <p:cNvPr id="25" name="Shape 20"/>
          <p:cNvSpPr/>
          <p:nvPr/>
        </p:nvSpPr>
        <p:spPr>
          <a:xfrm>
            <a:off x="10799064" y="2468880"/>
            <a:ext cx="841248" cy="841248"/>
          </a:xfrm>
          <a:prstGeom prst="ellipse">
            <a:avLst/>
          </a:prstGeom>
          <a:solidFill>
            <a:srgbClr val="D3DEF7"/>
          </a:solidFill>
          <a:ln/>
        </p:spPr>
      </p:sp>
      <p:pic>
        <p:nvPicPr>
          <p:cNvPr id="26" name="Image 2" descr="preencoded.png">    </p:cNvPr>
          <p:cNvPicPr>
            <a:picLocks noChangeAspect="1"/>
          </p:cNvPicPr>
          <p:nvPr/>
        </p:nvPicPr>
        <p:blipFill>
          <a:blip r:embed="rId3"/>
          <a:stretch>
            <a:fillRect/>
          </a:stretch>
        </p:blipFill>
        <p:spPr>
          <a:xfrm>
            <a:off x="11026201" y="2696017"/>
            <a:ext cx="386974" cy="386974"/>
          </a:xfrm>
          <a:prstGeom prst="rect">
            <a:avLst/>
          </a:prstGeom>
        </p:spPr>
      </p:pic>
      <p:sp>
        <p:nvSpPr>
          <p:cNvPr id="27" name="Shape 21"/>
          <p:cNvSpPr/>
          <p:nvPr/>
        </p:nvSpPr>
        <p:spPr>
          <a:xfrm>
            <a:off x="548640" y="3621024"/>
            <a:ext cx="3611880" cy="1810512"/>
          </a:xfrm>
          <a:prstGeom prst="roundRect">
            <a:avLst>
              <a:gd name="adj" fmla="val 6061"/>
            </a:avLst>
          </a:prstGeom>
          <a:solidFill>
            <a:srgbClr val="F1EDFB"/>
          </a:solidFill>
          <a:ln w="12700">
            <a:solidFill>
              <a:srgbClr val="D3C4F1"/>
            </a:solidFill>
            <a:prstDash val="solid"/>
          </a:ln>
        </p:spPr>
      </p:sp>
      <p:sp>
        <p:nvSpPr>
          <p:cNvPr id="28" name="Shape 22"/>
          <p:cNvSpPr/>
          <p:nvPr/>
        </p:nvSpPr>
        <p:spPr>
          <a:xfrm>
            <a:off x="822960" y="3895344"/>
            <a:ext cx="512064" cy="512064"/>
          </a:xfrm>
          <a:prstGeom prst="ellipse">
            <a:avLst/>
          </a:prstGeom>
          <a:solidFill>
            <a:srgbClr val="7448D4"/>
          </a:solidFill>
          <a:ln/>
        </p:spPr>
      </p:sp>
      <p:sp>
        <p:nvSpPr>
          <p:cNvPr id="29" name="Text 23"/>
          <p:cNvSpPr txBox="1"/>
          <p:nvPr/>
        </p:nvSpPr>
        <p:spPr>
          <a:xfrm>
            <a:off x="822960" y="3895344"/>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30" name="Text 24"/>
          <p:cNvSpPr txBox="1"/>
          <p:nvPr/>
        </p:nvSpPr>
        <p:spPr>
          <a:xfrm>
            <a:off x="1463040" y="3895344"/>
            <a:ext cx="2286000" cy="512064"/>
          </a:xfrm>
          <a:prstGeom prst="rect">
            <a:avLst/>
          </a:prstGeom>
          <a:noFill/>
          <a:ln/>
        </p:spPr>
        <p:txBody>
          <a:bodyPr wrap="square" lIns="0" tIns="0" rIns="0" bIns="0" rtlCol="0" anchor="ctr"/>
          <a:lstStyle/>
          <a:p>
            <a:pPr indent="0" marL="0">
              <a:buNone/>
            </a:pPr>
            <a:r>
              <a:rPr lang="en-US" sz="2100" b="1" dirty="0">
                <a:solidFill>
                  <a:srgbClr val="7448D4"/>
                </a:solidFill>
                <a:latin typeface="Arial" pitchFamily="34" charset="0"/>
                <a:ea typeface="Arial" pitchFamily="34" charset="-122"/>
                <a:cs typeface="Arial" pitchFamily="34" charset="-120"/>
              </a:rPr>
              <a:t>Guided</a:t>
            </a:r>
            <a:endParaRPr lang="en-US" sz="2100" dirty="0"/>
          </a:p>
        </p:txBody>
      </p:sp>
      <p:sp>
        <p:nvSpPr>
          <p:cNvPr id="31" name="Text 25"/>
          <p:cNvSpPr txBox="1"/>
          <p:nvPr/>
        </p:nvSpPr>
        <p:spPr>
          <a:xfrm>
            <a:off x="841248" y="4535424"/>
            <a:ext cx="2148840" cy="822960"/>
          </a:xfrm>
          <a:prstGeom prst="rect">
            <a:avLst/>
          </a:prstGeom>
          <a:noFill/>
          <a:ln/>
        </p:spPr>
        <p:txBody>
          <a:bodyPr wrap="square" lIns="0" tIns="0" rIns="0" bIns="0" rtlCol="0" anchor="t"/>
          <a:lstStyle/>
          <a:p>
            <a:pPr indent="0" marL="0">
              <a:buNone/>
            </a:pPr>
            <a:r>
              <a:rPr lang="en-US" sz="1450" dirty="0">
                <a:solidFill>
                  <a:srgbClr val="12213A"/>
                </a:solidFill>
                <a:latin typeface="Calibri" pitchFamily="34" charset="0"/>
                <a:ea typeface="Calibri" pitchFamily="34" charset="-122"/>
                <a:cs typeface="Calibri" pitchFamily="34" charset="-120"/>
              </a:rPr>
              <a:t>We capture a flag together, step by step.</a:t>
            </a:r>
            <a:endParaRPr lang="en-US" sz="1450" dirty="0"/>
          </a:p>
        </p:txBody>
      </p:sp>
      <p:sp>
        <p:nvSpPr>
          <p:cNvPr id="32" name="Shape 26"/>
          <p:cNvSpPr/>
          <p:nvPr/>
        </p:nvSpPr>
        <p:spPr>
          <a:xfrm>
            <a:off x="3136392" y="4462272"/>
            <a:ext cx="841248" cy="841248"/>
          </a:xfrm>
          <a:prstGeom prst="ellipse">
            <a:avLst/>
          </a:prstGeom>
          <a:solidFill>
            <a:srgbClr val="E3DAF6"/>
          </a:solidFill>
          <a:ln/>
        </p:spPr>
      </p:sp>
      <p:pic>
        <p:nvPicPr>
          <p:cNvPr id="33" name="Image 3" descr="preencoded.png">    </p:cNvPr>
          <p:cNvPicPr>
            <a:picLocks noChangeAspect="1"/>
          </p:cNvPicPr>
          <p:nvPr/>
        </p:nvPicPr>
        <p:blipFill>
          <a:blip r:embed="rId4"/>
          <a:stretch>
            <a:fillRect/>
          </a:stretch>
        </p:blipFill>
        <p:spPr>
          <a:xfrm>
            <a:off x="3363529" y="4689409"/>
            <a:ext cx="386974" cy="386974"/>
          </a:xfrm>
          <a:prstGeom prst="rect">
            <a:avLst/>
          </a:prstGeom>
        </p:spPr>
      </p:pic>
      <p:sp>
        <p:nvSpPr>
          <p:cNvPr id="34" name="Shape 27"/>
          <p:cNvSpPr/>
          <p:nvPr/>
        </p:nvSpPr>
        <p:spPr>
          <a:xfrm>
            <a:off x="4178808" y="4526280"/>
            <a:ext cx="182880" cy="0"/>
          </a:xfrm>
          <a:prstGeom prst="line">
            <a:avLst/>
          </a:prstGeom>
          <a:noFill/>
          <a:ln w="25400">
            <a:solidFill>
              <a:srgbClr val="9AA7BD"/>
            </a:solidFill>
            <a:prstDash val="solid"/>
            <a:tailEnd type="triangle"/>
          </a:ln>
        </p:spPr>
      </p:sp>
      <p:sp>
        <p:nvSpPr>
          <p:cNvPr id="35" name="Shape 28"/>
          <p:cNvSpPr/>
          <p:nvPr/>
        </p:nvSpPr>
        <p:spPr>
          <a:xfrm>
            <a:off x="4379976" y="3621024"/>
            <a:ext cx="3611880" cy="1810512"/>
          </a:xfrm>
          <a:prstGeom prst="roundRect">
            <a:avLst>
              <a:gd name="adj" fmla="val 6061"/>
            </a:avLst>
          </a:prstGeom>
          <a:solidFill>
            <a:srgbClr val="FAECF0"/>
          </a:solidFill>
          <a:ln w="12700">
            <a:solidFill>
              <a:srgbClr val="F0C2D0"/>
            </a:solidFill>
            <a:prstDash val="solid"/>
          </a:ln>
        </p:spPr>
      </p:sp>
      <p:sp>
        <p:nvSpPr>
          <p:cNvPr id="36" name="Shape 29"/>
          <p:cNvSpPr/>
          <p:nvPr/>
        </p:nvSpPr>
        <p:spPr>
          <a:xfrm>
            <a:off x="4654296" y="3895344"/>
            <a:ext cx="512064" cy="512064"/>
          </a:xfrm>
          <a:prstGeom prst="ellipse">
            <a:avLst/>
          </a:prstGeom>
          <a:solidFill>
            <a:srgbClr val="D1416B"/>
          </a:solidFill>
          <a:ln/>
        </p:spPr>
      </p:sp>
      <p:sp>
        <p:nvSpPr>
          <p:cNvPr id="37" name="Text 30"/>
          <p:cNvSpPr txBox="1"/>
          <p:nvPr/>
        </p:nvSpPr>
        <p:spPr>
          <a:xfrm>
            <a:off x="4654296" y="3895344"/>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38" name="Text 31"/>
          <p:cNvSpPr txBox="1"/>
          <p:nvPr/>
        </p:nvSpPr>
        <p:spPr>
          <a:xfrm>
            <a:off x="5294376" y="3895344"/>
            <a:ext cx="2286000" cy="512064"/>
          </a:xfrm>
          <a:prstGeom prst="rect">
            <a:avLst/>
          </a:prstGeom>
          <a:noFill/>
          <a:ln/>
        </p:spPr>
        <p:txBody>
          <a:bodyPr wrap="square" lIns="0" tIns="0" rIns="0" bIns="0" rtlCol="0" anchor="ctr"/>
          <a:lstStyle/>
          <a:p>
            <a:pPr indent="0" marL="0">
              <a:buNone/>
            </a:pPr>
            <a:r>
              <a:rPr lang="en-US" sz="2100" b="1" dirty="0">
                <a:solidFill>
                  <a:srgbClr val="D1416B"/>
                </a:solidFill>
                <a:latin typeface="Arial" pitchFamily="34" charset="0"/>
                <a:ea typeface="Arial" pitchFamily="34" charset="-122"/>
                <a:cs typeface="Arial" pitchFamily="34" charset="-120"/>
              </a:rPr>
              <a:t>Independent</a:t>
            </a:r>
            <a:endParaRPr lang="en-US" sz="2100" dirty="0"/>
          </a:p>
        </p:txBody>
      </p:sp>
      <p:sp>
        <p:nvSpPr>
          <p:cNvPr id="39" name="Text 32"/>
          <p:cNvSpPr txBox="1"/>
          <p:nvPr/>
        </p:nvSpPr>
        <p:spPr>
          <a:xfrm>
            <a:off x="4672584" y="4535424"/>
            <a:ext cx="2148840" cy="822960"/>
          </a:xfrm>
          <a:prstGeom prst="rect">
            <a:avLst/>
          </a:prstGeom>
          <a:noFill/>
          <a:ln/>
        </p:spPr>
        <p:txBody>
          <a:bodyPr wrap="square" lIns="0" tIns="0" rIns="0" bIns="0" rtlCol="0" anchor="t"/>
          <a:lstStyle/>
          <a:p>
            <a:pPr indent="0" marL="0">
              <a:buNone/>
            </a:pPr>
            <a:r>
              <a:rPr lang="en-US" sz="1450" dirty="0">
                <a:solidFill>
                  <a:srgbClr val="12213A"/>
                </a:solidFill>
                <a:latin typeface="Calibri" pitchFamily="34" charset="0"/>
                <a:ea typeface="Calibri" pitchFamily="34" charset="-122"/>
                <a:cs typeface="Calibri" pitchFamily="34" charset="-120"/>
              </a:rPr>
              <a:t>You start a challenge yourself. Finishing is optional.</a:t>
            </a:r>
            <a:endParaRPr lang="en-US" sz="1450" dirty="0"/>
          </a:p>
        </p:txBody>
      </p:sp>
      <p:sp>
        <p:nvSpPr>
          <p:cNvPr id="40" name="Shape 33"/>
          <p:cNvSpPr/>
          <p:nvPr/>
        </p:nvSpPr>
        <p:spPr>
          <a:xfrm>
            <a:off x="6967728" y="4462272"/>
            <a:ext cx="841248" cy="841248"/>
          </a:xfrm>
          <a:prstGeom prst="ellipse">
            <a:avLst/>
          </a:prstGeom>
          <a:solidFill>
            <a:srgbClr val="F6D9E1"/>
          </a:solidFill>
          <a:ln/>
        </p:spPr>
      </p:sp>
      <p:pic>
        <p:nvPicPr>
          <p:cNvPr id="41" name="Image 4" descr="preencoded.png">    </p:cNvPr>
          <p:cNvPicPr>
            <a:picLocks noChangeAspect="1"/>
          </p:cNvPicPr>
          <p:nvPr/>
        </p:nvPicPr>
        <p:blipFill>
          <a:blip r:embed="rId5"/>
          <a:stretch>
            <a:fillRect/>
          </a:stretch>
        </p:blipFill>
        <p:spPr>
          <a:xfrm>
            <a:off x="7194865" y="4689409"/>
            <a:ext cx="386974" cy="386974"/>
          </a:xfrm>
          <a:prstGeom prst="rect">
            <a:avLst/>
          </a:prstGeom>
        </p:spPr>
      </p:pic>
      <p:sp>
        <p:nvSpPr>
          <p:cNvPr id="42" name="Shape 34"/>
          <p:cNvSpPr/>
          <p:nvPr/>
        </p:nvSpPr>
        <p:spPr>
          <a:xfrm>
            <a:off x="8010144" y="4526280"/>
            <a:ext cx="182880" cy="0"/>
          </a:xfrm>
          <a:prstGeom prst="line">
            <a:avLst/>
          </a:prstGeom>
          <a:noFill/>
          <a:ln w="25400">
            <a:solidFill>
              <a:srgbClr val="9AA7BD"/>
            </a:solidFill>
            <a:prstDash val="solid"/>
            <a:tailEnd type="triangle"/>
          </a:ln>
        </p:spPr>
      </p:sp>
      <p:sp>
        <p:nvSpPr>
          <p:cNvPr id="43" name="Shape 35"/>
          <p:cNvSpPr/>
          <p:nvPr/>
        </p:nvSpPr>
        <p:spPr>
          <a:xfrm>
            <a:off x="8211312" y="3621024"/>
            <a:ext cx="3611880" cy="1810512"/>
          </a:xfrm>
          <a:prstGeom prst="roundRect">
            <a:avLst>
              <a:gd name="adj" fmla="val 6061"/>
            </a:avLst>
          </a:prstGeom>
          <a:solidFill>
            <a:srgbClr val="E8F3EF"/>
          </a:solidFill>
          <a:ln w="12700">
            <a:solidFill>
              <a:srgbClr val="B5D9CA"/>
            </a:solidFill>
            <a:prstDash val="solid"/>
          </a:ln>
        </p:spPr>
      </p:sp>
      <p:sp>
        <p:nvSpPr>
          <p:cNvPr id="44" name="Shape 36"/>
          <p:cNvSpPr/>
          <p:nvPr/>
        </p:nvSpPr>
        <p:spPr>
          <a:xfrm>
            <a:off x="8485632" y="3895344"/>
            <a:ext cx="512064" cy="512064"/>
          </a:xfrm>
          <a:prstGeom prst="ellipse">
            <a:avLst/>
          </a:prstGeom>
          <a:solidFill>
            <a:srgbClr val="17875A"/>
          </a:solidFill>
          <a:ln/>
        </p:spPr>
      </p:sp>
      <p:sp>
        <p:nvSpPr>
          <p:cNvPr id="45" name="Text 37"/>
          <p:cNvSpPr txBox="1"/>
          <p:nvPr/>
        </p:nvSpPr>
        <p:spPr>
          <a:xfrm>
            <a:off x="8485632" y="3895344"/>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6</a:t>
            </a:r>
            <a:endParaRPr lang="en-US" sz="2000" dirty="0"/>
          </a:p>
        </p:txBody>
      </p:sp>
      <p:sp>
        <p:nvSpPr>
          <p:cNvPr id="46" name="Text 38"/>
          <p:cNvSpPr txBox="1"/>
          <p:nvPr/>
        </p:nvSpPr>
        <p:spPr>
          <a:xfrm>
            <a:off x="9125712" y="3895344"/>
            <a:ext cx="2286000" cy="512064"/>
          </a:xfrm>
          <a:prstGeom prst="rect">
            <a:avLst/>
          </a:prstGeom>
          <a:noFill/>
          <a:ln/>
        </p:spPr>
        <p:txBody>
          <a:bodyPr wrap="square" lIns="0" tIns="0" rIns="0" bIns="0" rtlCol="0" anchor="ctr"/>
          <a:lstStyle/>
          <a:p>
            <a:pPr indent="0" marL="0">
              <a:buNone/>
            </a:pPr>
            <a:r>
              <a:rPr lang="en-US" sz="2100" b="1" dirty="0">
                <a:solidFill>
                  <a:srgbClr val="17875A"/>
                </a:solidFill>
                <a:latin typeface="Arial" pitchFamily="34" charset="0"/>
                <a:ea typeface="Arial" pitchFamily="34" charset="-122"/>
                <a:cs typeface="Arial" pitchFamily="34" charset="-120"/>
              </a:rPr>
              <a:t>Reflection</a:t>
            </a:r>
            <a:endParaRPr lang="en-US" sz="2100" dirty="0"/>
          </a:p>
        </p:txBody>
      </p:sp>
      <p:sp>
        <p:nvSpPr>
          <p:cNvPr id="47" name="Text 39"/>
          <p:cNvSpPr txBox="1"/>
          <p:nvPr/>
        </p:nvSpPr>
        <p:spPr>
          <a:xfrm>
            <a:off x="8503920" y="4535424"/>
            <a:ext cx="2148840" cy="822960"/>
          </a:xfrm>
          <a:prstGeom prst="rect">
            <a:avLst/>
          </a:prstGeom>
          <a:noFill/>
          <a:ln/>
        </p:spPr>
        <p:txBody>
          <a:bodyPr wrap="square" lIns="0" tIns="0" rIns="0" bIns="0" rtlCol="0" anchor="t"/>
          <a:lstStyle/>
          <a:p>
            <a:pPr indent="0" marL="0">
              <a:buNone/>
            </a:pPr>
            <a:r>
              <a:rPr lang="en-US" sz="1450" dirty="0">
                <a:solidFill>
                  <a:srgbClr val="12213A"/>
                </a:solidFill>
                <a:latin typeface="Calibri" pitchFamily="34" charset="0"/>
                <a:ea typeface="Calibri" pitchFamily="34" charset="-122"/>
                <a:cs typeface="Calibri" pitchFamily="34" charset="-120"/>
              </a:rPr>
              <a:t>Why it worked, and where this leads.</a:t>
            </a:r>
            <a:endParaRPr lang="en-US" sz="1450" dirty="0"/>
          </a:p>
        </p:txBody>
      </p:sp>
      <p:sp>
        <p:nvSpPr>
          <p:cNvPr id="48" name="Shape 40"/>
          <p:cNvSpPr/>
          <p:nvPr/>
        </p:nvSpPr>
        <p:spPr>
          <a:xfrm>
            <a:off x="10799064" y="4462272"/>
            <a:ext cx="841248" cy="841248"/>
          </a:xfrm>
          <a:prstGeom prst="ellipse">
            <a:avLst/>
          </a:prstGeom>
          <a:solidFill>
            <a:srgbClr val="D1E7DE"/>
          </a:solidFill>
          <a:ln/>
        </p:spPr>
      </p:sp>
      <p:pic>
        <p:nvPicPr>
          <p:cNvPr id="49" name="Image 5" descr="preencoded.png">    </p:cNvPr>
          <p:cNvPicPr>
            <a:picLocks noChangeAspect="1"/>
          </p:cNvPicPr>
          <p:nvPr/>
        </p:nvPicPr>
        <p:blipFill>
          <a:blip r:embed="rId6"/>
          <a:stretch>
            <a:fillRect/>
          </a:stretch>
        </p:blipFill>
        <p:spPr>
          <a:xfrm>
            <a:off x="11026201" y="4689409"/>
            <a:ext cx="386974" cy="386974"/>
          </a:xfrm>
          <a:prstGeom prst="rect">
            <a:avLst/>
          </a:prstGeom>
        </p:spPr>
      </p:pic>
      <p:sp>
        <p:nvSpPr>
          <p:cNvPr id="50" name="Text 41"/>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2 / 79</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What is a capture the flag?</a:t>
            </a:r>
            <a:endParaRPr lang="en-US" sz="3200" dirty="0"/>
          </a:p>
        </p:txBody>
      </p:sp>
      <p:sp>
        <p:nvSpPr>
          <p:cNvPr id="4" name="Shape 1"/>
          <p:cNvSpPr/>
          <p:nvPr/>
        </p:nvSpPr>
        <p:spPr>
          <a:xfrm>
            <a:off x="548640" y="1508760"/>
            <a:ext cx="11094415" cy="1371600"/>
          </a:xfrm>
          <a:prstGeom prst="roundRect">
            <a:avLst>
              <a:gd name="adj" fmla="val 6667"/>
            </a:avLst>
          </a:prstGeom>
          <a:solidFill>
            <a:srgbClr val="0E1726"/>
          </a:solidFill>
          <a:ln/>
        </p:spPr>
      </p:sp>
      <p:sp>
        <p:nvSpPr>
          <p:cNvPr id="5" name="Text 2"/>
          <p:cNvSpPr txBox="1"/>
          <p:nvPr/>
        </p:nvSpPr>
        <p:spPr>
          <a:xfrm>
            <a:off x="548640" y="1508760"/>
            <a:ext cx="11094415" cy="1371600"/>
          </a:xfrm>
          <a:prstGeom prst="rect">
            <a:avLst/>
          </a:prstGeom>
          <a:noFill/>
          <a:ln/>
        </p:spPr>
        <p:txBody>
          <a:bodyPr wrap="square" lIns="0" tIns="0" rIns="0" bIns="0" rtlCol="0" anchor="ctr"/>
          <a:lstStyle/>
          <a:p>
            <a:pPr algn="ctr" indent="0" marL="0">
              <a:buNone/>
            </a:pPr>
            <a:r>
              <a:rPr lang="en-US" sz="4000" b="1" dirty="0">
                <a:solidFill>
                  <a:srgbClr val="7FB2FF"/>
                </a:solidFill>
                <a:latin typeface="Courier New" pitchFamily="34" charset="0"/>
                <a:ea typeface="Courier New" pitchFamily="34" charset="-122"/>
                <a:cs typeface="Courier New" pitchFamily="34" charset="-120"/>
              </a:rPr>
              <a:t>CYBA</a:t>
            </a:r>
            <a:pPr algn="ctr" indent="0" marL="0">
              <a:buNone/>
            </a:pPr>
            <a:r>
              <a:rPr lang="en-US" sz="4000" b="1" dirty="0">
                <a:solidFill>
                  <a:srgbClr val="F5A623"/>
                </a:solidFill>
                <a:latin typeface="Courier New" pitchFamily="34" charset="0"/>
                <a:ea typeface="Courier New" pitchFamily="34" charset="-122"/>
                <a:cs typeface="Courier New" pitchFamily="34" charset="-120"/>
              </a:rPr>
              <a:t>{</a:t>
            </a:r>
            <a:pPr algn="ctr" indent="0" marL="0">
              <a:buNone/>
            </a:pPr>
            <a:r>
              <a:rPr lang="en-US" sz="4000" b="1" dirty="0">
                <a:solidFill>
                  <a:srgbClr val="46D39A"/>
                </a:solidFill>
                <a:latin typeface="Courier New" pitchFamily="34" charset="0"/>
                <a:ea typeface="Courier New" pitchFamily="34" charset="-122"/>
                <a:cs typeface="Courier New" pitchFamily="34" charset="-120"/>
              </a:rPr>
              <a:t>moves-4c8c640b</a:t>
            </a:r>
            <a:pPr algn="ctr" indent="0" marL="0">
              <a:buNone/>
            </a:pPr>
            <a:r>
              <a:rPr lang="en-US" sz="4000" b="1" dirty="0">
                <a:solidFill>
                  <a:srgbClr val="F5A623"/>
                </a:solidFill>
                <a:latin typeface="Courier New" pitchFamily="34" charset="0"/>
                <a:ea typeface="Courier New" pitchFamily="34" charset="-122"/>
                <a:cs typeface="Courier New" pitchFamily="34" charset="-120"/>
              </a:rPr>
              <a:t>}</a:t>
            </a:r>
            <a:endParaRPr lang="en-US" sz="4000" dirty="0"/>
          </a:p>
        </p:txBody>
      </p:sp>
      <p:sp>
        <p:nvSpPr>
          <p:cNvPr id="6" name="Shape 3"/>
          <p:cNvSpPr/>
          <p:nvPr/>
        </p:nvSpPr>
        <p:spPr>
          <a:xfrm>
            <a:off x="548640" y="3154680"/>
            <a:ext cx="3566160" cy="1508760"/>
          </a:xfrm>
          <a:prstGeom prst="roundRect">
            <a:avLst>
              <a:gd name="adj" fmla="val 6061"/>
            </a:avLst>
          </a:prstGeom>
          <a:solidFill>
            <a:srgbClr val="F1F5FB"/>
          </a:solidFill>
          <a:ln/>
        </p:spPr>
      </p:sp>
      <p:sp>
        <p:nvSpPr>
          <p:cNvPr id="7" name="Text 4"/>
          <p:cNvSpPr txBox="1"/>
          <p:nvPr/>
        </p:nvSpPr>
        <p:spPr>
          <a:xfrm>
            <a:off x="777240" y="3291840"/>
            <a:ext cx="3108960" cy="365760"/>
          </a:xfrm>
          <a:prstGeom prst="rect">
            <a:avLst/>
          </a:prstGeom>
          <a:noFill/>
          <a:ln/>
        </p:spPr>
        <p:txBody>
          <a:bodyPr wrap="square" lIns="0" tIns="0" rIns="0" bIns="0" rtlCol="0" anchor="t"/>
          <a:lstStyle/>
          <a:p>
            <a:pPr indent="0" marL="0">
              <a:buNone/>
            </a:pPr>
            <a:r>
              <a:rPr lang="en-US" sz="1900" b="1" dirty="0">
                <a:solidFill>
                  <a:srgbClr val="2459D8"/>
                </a:solidFill>
                <a:latin typeface="Courier New" pitchFamily="34" charset="0"/>
                <a:ea typeface="Courier New" pitchFamily="34" charset="-122"/>
                <a:cs typeface="Courier New" pitchFamily="34" charset="-120"/>
              </a:rPr>
              <a:t>CYBA</a:t>
            </a:r>
            <a:endParaRPr lang="en-US" sz="1900" dirty="0"/>
          </a:p>
        </p:txBody>
      </p:sp>
      <p:sp>
        <p:nvSpPr>
          <p:cNvPr id="8" name="Text 5"/>
          <p:cNvSpPr txBox="1"/>
          <p:nvPr/>
        </p:nvSpPr>
        <p:spPr>
          <a:xfrm>
            <a:off x="777240" y="3703320"/>
            <a:ext cx="3108960" cy="320040"/>
          </a:xfrm>
          <a:prstGeom prst="rect">
            <a:avLst/>
          </a:prstGeom>
          <a:noFill/>
          <a:ln/>
        </p:spPr>
        <p:txBody>
          <a:bodyPr wrap="square" lIns="0" tIns="0" rIns="0" bIns="0" rtlCol="0" anchor="t"/>
          <a:lstStyle/>
          <a:p>
            <a:pPr indent="0" marL="0">
              <a:buNone/>
            </a:pPr>
            <a:r>
              <a:rPr lang="en-US" sz="1600" b="1" dirty="0">
                <a:solidFill>
                  <a:srgbClr val="12213A"/>
                </a:solidFill>
                <a:latin typeface="Calibri" pitchFamily="34" charset="0"/>
                <a:ea typeface="Calibri" pitchFamily="34" charset="-122"/>
                <a:cs typeface="Calibri" pitchFamily="34" charset="-120"/>
              </a:rPr>
              <a:t>Always the same start</a:t>
            </a:r>
            <a:endParaRPr lang="en-US" sz="1600" dirty="0"/>
          </a:p>
        </p:txBody>
      </p:sp>
      <p:sp>
        <p:nvSpPr>
          <p:cNvPr id="9" name="Text 6"/>
          <p:cNvSpPr txBox="1"/>
          <p:nvPr/>
        </p:nvSpPr>
        <p:spPr>
          <a:xfrm>
            <a:off x="777240" y="4041648"/>
            <a:ext cx="3154680" cy="54864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Every flag today begins with CYBA.</a:t>
            </a:r>
            <a:endParaRPr lang="en-US" sz="1400" dirty="0"/>
          </a:p>
        </p:txBody>
      </p:sp>
      <p:sp>
        <p:nvSpPr>
          <p:cNvPr id="10" name="Shape 7"/>
          <p:cNvSpPr/>
          <p:nvPr/>
        </p:nvSpPr>
        <p:spPr>
          <a:xfrm>
            <a:off x="4306824" y="3154680"/>
            <a:ext cx="3566160" cy="1508760"/>
          </a:xfrm>
          <a:prstGeom prst="roundRect">
            <a:avLst>
              <a:gd name="adj" fmla="val 6061"/>
            </a:avLst>
          </a:prstGeom>
          <a:solidFill>
            <a:srgbClr val="F1F5FB"/>
          </a:solidFill>
          <a:ln/>
        </p:spPr>
      </p:sp>
      <p:sp>
        <p:nvSpPr>
          <p:cNvPr id="11" name="Text 8"/>
          <p:cNvSpPr txBox="1"/>
          <p:nvPr/>
        </p:nvSpPr>
        <p:spPr>
          <a:xfrm>
            <a:off x="4535424" y="3291840"/>
            <a:ext cx="3108960" cy="365760"/>
          </a:xfrm>
          <a:prstGeom prst="rect">
            <a:avLst/>
          </a:prstGeom>
          <a:noFill/>
          <a:ln/>
        </p:spPr>
        <p:txBody>
          <a:bodyPr wrap="square" lIns="0" tIns="0" rIns="0" bIns="0" rtlCol="0" anchor="t"/>
          <a:lstStyle/>
          <a:p>
            <a:pPr indent="0" marL="0">
              <a:buNone/>
            </a:pPr>
            <a:r>
              <a:rPr lang="en-US" sz="1900" b="1" dirty="0">
                <a:solidFill>
                  <a:srgbClr val="C07A00"/>
                </a:solidFill>
                <a:latin typeface="Courier New" pitchFamily="34" charset="0"/>
                <a:ea typeface="Courier New" pitchFamily="34" charset="-122"/>
                <a:cs typeface="Courier New" pitchFamily="34" charset="-120"/>
              </a:rPr>
              <a:t>{   }</a:t>
            </a:r>
            <a:endParaRPr lang="en-US" sz="1900" dirty="0"/>
          </a:p>
        </p:txBody>
      </p:sp>
      <p:sp>
        <p:nvSpPr>
          <p:cNvPr id="12" name="Text 9"/>
          <p:cNvSpPr txBox="1"/>
          <p:nvPr/>
        </p:nvSpPr>
        <p:spPr>
          <a:xfrm>
            <a:off x="4535424" y="3703320"/>
            <a:ext cx="3108960" cy="320040"/>
          </a:xfrm>
          <a:prstGeom prst="rect">
            <a:avLst/>
          </a:prstGeom>
          <a:noFill/>
          <a:ln/>
        </p:spPr>
        <p:txBody>
          <a:bodyPr wrap="square" lIns="0" tIns="0" rIns="0" bIns="0" rtlCol="0" anchor="t"/>
          <a:lstStyle/>
          <a:p>
            <a:pPr indent="0" marL="0">
              <a:buNone/>
            </a:pPr>
            <a:r>
              <a:rPr lang="en-US" sz="1600" b="1" dirty="0">
                <a:solidFill>
                  <a:srgbClr val="12213A"/>
                </a:solidFill>
                <a:latin typeface="Calibri" pitchFamily="34" charset="0"/>
                <a:ea typeface="Calibri" pitchFamily="34" charset="-122"/>
                <a:cs typeface="Calibri" pitchFamily="34" charset="-120"/>
              </a:rPr>
              <a:t>The wrapper</a:t>
            </a:r>
            <a:endParaRPr lang="en-US" sz="1600" dirty="0"/>
          </a:p>
        </p:txBody>
      </p:sp>
      <p:sp>
        <p:nvSpPr>
          <p:cNvPr id="13" name="Text 10"/>
          <p:cNvSpPr txBox="1"/>
          <p:nvPr/>
        </p:nvSpPr>
        <p:spPr>
          <a:xfrm>
            <a:off x="4535424" y="4041648"/>
            <a:ext cx="3154680" cy="54864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Curly braces mark where the secret begins and ends.</a:t>
            </a:r>
            <a:endParaRPr lang="en-US" sz="1400" dirty="0"/>
          </a:p>
        </p:txBody>
      </p:sp>
      <p:sp>
        <p:nvSpPr>
          <p:cNvPr id="14" name="Shape 11"/>
          <p:cNvSpPr/>
          <p:nvPr/>
        </p:nvSpPr>
        <p:spPr>
          <a:xfrm>
            <a:off x="8065008" y="3154680"/>
            <a:ext cx="3566160" cy="1508760"/>
          </a:xfrm>
          <a:prstGeom prst="roundRect">
            <a:avLst>
              <a:gd name="adj" fmla="val 6061"/>
            </a:avLst>
          </a:prstGeom>
          <a:solidFill>
            <a:srgbClr val="F1F5FB"/>
          </a:solidFill>
          <a:ln/>
        </p:spPr>
      </p:sp>
      <p:sp>
        <p:nvSpPr>
          <p:cNvPr id="15" name="Text 12"/>
          <p:cNvSpPr txBox="1"/>
          <p:nvPr/>
        </p:nvSpPr>
        <p:spPr>
          <a:xfrm>
            <a:off x="8293608" y="3291840"/>
            <a:ext cx="3108960" cy="365760"/>
          </a:xfrm>
          <a:prstGeom prst="rect">
            <a:avLst/>
          </a:prstGeom>
          <a:noFill/>
          <a:ln/>
        </p:spPr>
        <p:txBody>
          <a:bodyPr wrap="square" lIns="0" tIns="0" rIns="0" bIns="0" rtlCol="0" anchor="t"/>
          <a:lstStyle/>
          <a:p>
            <a:pPr indent="0" marL="0">
              <a:buNone/>
            </a:pPr>
            <a:r>
              <a:rPr lang="en-US" sz="1900" b="1" dirty="0">
                <a:solidFill>
                  <a:srgbClr val="17875A"/>
                </a:solidFill>
                <a:latin typeface="Courier New" pitchFamily="34" charset="0"/>
                <a:ea typeface="Courier New" pitchFamily="34" charset="-122"/>
                <a:cs typeface="Courier New" pitchFamily="34" charset="-120"/>
              </a:rPr>
              <a:t>moves-4c8c640b</a:t>
            </a:r>
            <a:endParaRPr lang="en-US" sz="1900" dirty="0"/>
          </a:p>
        </p:txBody>
      </p:sp>
      <p:sp>
        <p:nvSpPr>
          <p:cNvPr id="16" name="Text 13"/>
          <p:cNvSpPr txBox="1"/>
          <p:nvPr/>
        </p:nvSpPr>
        <p:spPr>
          <a:xfrm>
            <a:off x="8293608" y="3703320"/>
            <a:ext cx="3108960" cy="320040"/>
          </a:xfrm>
          <a:prstGeom prst="rect">
            <a:avLst/>
          </a:prstGeom>
          <a:noFill/>
          <a:ln/>
        </p:spPr>
        <p:txBody>
          <a:bodyPr wrap="square" lIns="0" tIns="0" rIns="0" bIns="0" rtlCol="0" anchor="t"/>
          <a:lstStyle/>
          <a:p>
            <a:pPr indent="0" marL="0">
              <a:buNone/>
            </a:pPr>
            <a:r>
              <a:rPr lang="en-US" sz="1600" b="1" dirty="0">
                <a:solidFill>
                  <a:srgbClr val="12213A"/>
                </a:solidFill>
                <a:latin typeface="Calibri" pitchFamily="34" charset="0"/>
                <a:ea typeface="Calibri" pitchFamily="34" charset="-122"/>
                <a:cs typeface="Calibri" pitchFamily="34" charset="-120"/>
              </a:rPr>
              <a:t>The secret</a:t>
            </a:r>
            <a:endParaRPr lang="en-US" sz="1600" dirty="0"/>
          </a:p>
        </p:txBody>
      </p:sp>
      <p:sp>
        <p:nvSpPr>
          <p:cNvPr id="17" name="Text 14"/>
          <p:cNvSpPr txBox="1"/>
          <p:nvPr/>
        </p:nvSpPr>
        <p:spPr>
          <a:xfrm>
            <a:off x="8293608" y="4041648"/>
            <a:ext cx="3154680" cy="54864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A word, a dash, 8 random characters. New on every computer.</a:t>
            </a:r>
            <a:endParaRPr lang="en-US" sz="1400" dirty="0"/>
          </a:p>
        </p:txBody>
      </p:sp>
      <p:sp>
        <p:nvSpPr>
          <p:cNvPr id="18" name="Shape 15"/>
          <p:cNvSpPr/>
          <p:nvPr/>
        </p:nvSpPr>
        <p:spPr>
          <a:xfrm>
            <a:off x="548640" y="4983480"/>
            <a:ext cx="2377440" cy="914400"/>
          </a:xfrm>
          <a:prstGeom prst="roundRect">
            <a:avLst>
              <a:gd name="adj" fmla="val 10000"/>
            </a:avLst>
          </a:prstGeom>
          <a:solidFill>
            <a:srgbClr val="2A9FD6"/>
          </a:solidFill>
          <a:ln/>
        </p:spPr>
      </p:sp>
      <p:sp>
        <p:nvSpPr>
          <p:cNvPr id="19" name="Text 16"/>
          <p:cNvSpPr txBox="1"/>
          <p:nvPr/>
        </p:nvSpPr>
        <p:spPr>
          <a:xfrm>
            <a:off x="548640" y="4983480"/>
            <a:ext cx="237744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Read</a:t>
            </a:r>
            <a:endParaRPr lang="en-US" sz="2000" dirty="0"/>
          </a:p>
          <a:p>
            <a:pPr algn="ctr" indent="0" marL="0">
              <a:buNone/>
            </a:pPr>
            <a:r>
              <a:rPr lang="en-US" sz="1400" dirty="0">
                <a:solidFill>
                  <a:srgbClr val="FFFFFF"/>
                </a:solidFill>
                <a:latin typeface="Calibri" pitchFamily="34" charset="0"/>
                <a:ea typeface="Calibri" pitchFamily="34" charset="-122"/>
                <a:cs typeface="Calibri" pitchFamily="34" charset="-120"/>
              </a:rPr>
              <a:t>the mission</a:t>
            </a:r>
            <a:endParaRPr lang="en-US" sz="2000" dirty="0"/>
          </a:p>
        </p:txBody>
      </p:sp>
      <p:sp>
        <p:nvSpPr>
          <p:cNvPr id="20" name="Text 17"/>
          <p:cNvSpPr txBox="1"/>
          <p:nvPr/>
        </p:nvSpPr>
        <p:spPr>
          <a:xfrm>
            <a:off x="2926080" y="4983480"/>
            <a:ext cx="429768" cy="914400"/>
          </a:xfrm>
          <a:prstGeom prst="rect">
            <a:avLst/>
          </a:prstGeom>
          <a:noFill/>
          <a:ln/>
        </p:spPr>
        <p:txBody>
          <a:bodyPr wrap="square" lIns="0" tIns="0" rIns="0" bIns="0" rtlCol="0" anchor="ctr"/>
          <a:lstStyle/>
          <a:p>
            <a:pPr algn="ctr" indent="0" marL="0">
              <a:buNone/>
            </a:pPr>
            <a:r>
              <a:rPr lang="en-US" sz="2400" b="1" dirty="0">
                <a:solidFill>
                  <a:srgbClr val="56657E"/>
                </a:solidFill>
                <a:latin typeface="Courier New" pitchFamily="34" charset="0"/>
                <a:ea typeface="Courier New" pitchFamily="34" charset="-122"/>
                <a:cs typeface="Courier New" pitchFamily="34" charset="-120"/>
              </a:rPr>
              <a:t>&gt;</a:t>
            </a:r>
            <a:endParaRPr lang="en-US" sz="2400" dirty="0"/>
          </a:p>
        </p:txBody>
      </p:sp>
      <p:sp>
        <p:nvSpPr>
          <p:cNvPr id="21" name="Shape 18"/>
          <p:cNvSpPr/>
          <p:nvPr/>
        </p:nvSpPr>
        <p:spPr>
          <a:xfrm>
            <a:off x="3355848" y="4983480"/>
            <a:ext cx="2377440" cy="914400"/>
          </a:xfrm>
          <a:prstGeom prst="roundRect">
            <a:avLst>
              <a:gd name="adj" fmla="val 10000"/>
            </a:avLst>
          </a:prstGeom>
          <a:solidFill>
            <a:srgbClr val="2459D8"/>
          </a:solidFill>
          <a:ln/>
        </p:spPr>
      </p:sp>
      <p:sp>
        <p:nvSpPr>
          <p:cNvPr id="22" name="Text 19"/>
          <p:cNvSpPr txBox="1"/>
          <p:nvPr/>
        </p:nvSpPr>
        <p:spPr>
          <a:xfrm>
            <a:off x="3355848" y="4983480"/>
            <a:ext cx="237744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Find</a:t>
            </a:r>
            <a:endParaRPr lang="en-US" sz="2000" dirty="0"/>
          </a:p>
          <a:p>
            <a:pPr algn="ctr" indent="0" marL="0">
              <a:buNone/>
            </a:pPr>
            <a:r>
              <a:rPr lang="en-US" sz="1400" dirty="0">
                <a:solidFill>
                  <a:srgbClr val="FFFFFF"/>
                </a:solidFill>
                <a:latin typeface="Calibri" pitchFamily="34" charset="0"/>
                <a:ea typeface="Calibri" pitchFamily="34" charset="-122"/>
                <a:cs typeface="Calibri" pitchFamily="34" charset="-120"/>
              </a:rPr>
              <a:t>the flag</a:t>
            </a:r>
            <a:endParaRPr lang="en-US" sz="2000" dirty="0"/>
          </a:p>
        </p:txBody>
      </p:sp>
      <p:sp>
        <p:nvSpPr>
          <p:cNvPr id="23" name="Text 20"/>
          <p:cNvSpPr txBox="1"/>
          <p:nvPr/>
        </p:nvSpPr>
        <p:spPr>
          <a:xfrm>
            <a:off x="5733288" y="4983480"/>
            <a:ext cx="429768" cy="914400"/>
          </a:xfrm>
          <a:prstGeom prst="rect">
            <a:avLst/>
          </a:prstGeom>
          <a:noFill/>
          <a:ln/>
        </p:spPr>
        <p:txBody>
          <a:bodyPr wrap="square" lIns="0" tIns="0" rIns="0" bIns="0" rtlCol="0" anchor="ctr"/>
          <a:lstStyle/>
          <a:p>
            <a:pPr algn="ctr" indent="0" marL="0">
              <a:buNone/>
            </a:pPr>
            <a:r>
              <a:rPr lang="en-US" sz="2400" b="1" dirty="0">
                <a:solidFill>
                  <a:srgbClr val="56657E"/>
                </a:solidFill>
                <a:latin typeface="Courier New" pitchFamily="34" charset="0"/>
                <a:ea typeface="Courier New" pitchFamily="34" charset="-122"/>
                <a:cs typeface="Courier New" pitchFamily="34" charset="-120"/>
              </a:rPr>
              <a:t>&gt;</a:t>
            </a:r>
            <a:endParaRPr lang="en-US" sz="2400" dirty="0"/>
          </a:p>
        </p:txBody>
      </p:sp>
      <p:sp>
        <p:nvSpPr>
          <p:cNvPr id="24" name="Shape 21"/>
          <p:cNvSpPr/>
          <p:nvPr/>
        </p:nvSpPr>
        <p:spPr>
          <a:xfrm>
            <a:off x="6163056" y="4983480"/>
            <a:ext cx="2377440" cy="914400"/>
          </a:xfrm>
          <a:prstGeom prst="roundRect">
            <a:avLst>
              <a:gd name="adj" fmla="val 10000"/>
            </a:avLst>
          </a:prstGeom>
          <a:solidFill>
            <a:srgbClr val="7448D4"/>
          </a:solidFill>
          <a:ln/>
        </p:spPr>
      </p:sp>
      <p:sp>
        <p:nvSpPr>
          <p:cNvPr id="25" name="Text 22"/>
          <p:cNvSpPr txBox="1"/>
          <p:nvPr/>
        </p:nvSpPr>
        <p:spPr>
          <a:xfrm>
            <a:off x="6163056" y="4983480"/>
            <a:ext cx="237744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Submit</a:t>
            </a:r>
            <a:endParaRPr lang="en-US" sz="2000" dirty="0"/>
          </a:p>
          <a:p>
            <a:pPr algn="ctr" indent="0" marL="0">
              <a:buNone/>
            </a:pPr>
            <a:r>
              <a:rPr lang="en-US" sz="1400" dirty="0">
                <a:solidFill>
                  <a:srgbClr val="FFFFFF"/>
                </a:solidFill>
                <a:latin typeface="Calibri" pitchFamily="34" charset="0"/>
                <a:ea typeface="Calibri" pitchFamily="34" charset="-122"/>
                <a:cs typeface="Calibri" pitchFamily="34" charset="-120"/>
              </a:rPr>
              <a:t>the whole thing</a:t>
            </a:r>
            <a:endParaRPr lang="en-US" sz="2000" dirty="0"/>
          </a:p>
        </p:txBody>
      </p:sp>
      <p:sp>
        <p:nvSpPr>
          <p:cNvPr id="26" name="Text 23"/>
          <p:cNvSpPr txBox="1"/>
          <p:nvPr/>
        </p:nvSpPr>
        <p:spPr>
          <a:xfrm>
            <a:off x="8540496" y="4983480"/>
            <a:ext cx="429768" cy="914400"/>
          </a:xfrm>
          <a:prstGeom prst="rect">
            <a:avLst/>
          </a:prstGeom>
          <a:noFill/>
          <a:ln/>
        </p:spPr>
        <p:txBody>
          <a:bodyPr wrap="square" lIns="0" tIns="0" rIns="0" bIns="0" rtlCol="0" anchor="ctr"/>
          <a:lstStyle/>
          <a:p>
            <a:pPr algn="ctr" indent="0" marL="0">
              <a:buNone/>
            </a:pPr>
            <a:r>
              <a:rPr lang="en-US" sz="2400" b="1" dirty="0">
                <a:solidFill>
                  <a:srgbClr val="56657E"/>
                </a:solidFill>
                <a:latin typeface="Courier New" pitchFamily="34" charset="0"/>
                <a:ea typeface="Courier New" pitchFamily="34" charset="-122"/>
                <a:cs typeface="Courier New" pitchFamily="34" charset="-120"/>
              </a:rPr>
              <a:t>&gt;</a:t>
            </a:r>
            <a:endParaRPr lang="en-US" sz="2400" dirty="0"/>
          </a:p>
        </p:txBody>
      </p:sp>
      <p:sp>
        <p:nvSpPr>
          <p:cNvPr id="27" name="Shape 24"/>
          <p:cNvSpPr/>
          <p:nvPr/>
        </p:nvSpPr>
        <p:spPr>
          <a:xfrm>
            <a:off x="8970264" y="4983480"/>
            <a:ext cx="2377440" cy="914400"/>
          </a:xfrm>
          <a:prstGeom prst="roundRect">
            <a:avLst>
              <a:gd name="adj" fmla="val 10000"/>
            </a:avLst>
          </a:prstGeom>
          <a:solidFill>
            <a:srgbClr val="D1416B"/>
          </a:solidFill>
          <a:ln/>
        </p:spPr>
      </p:sp>
      <p:sp>
        <p:nvSpPr>
          <p:cNvPr id="28" name="Text 25"/>
          <p:cNvSpPr txBox="1"/>
          <p:nvPr/>
        </p:nvSpPr>
        <p:spPr>
          <a:xfrm>
            <a:off x="8970264" y="4983480"/>
            <a:ext cx="237744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Score</a:t>
            </a:r>
            <a:endParaRPr lang="en-US" sz="2000" dirty="0"/>
          </a:p>
          <a:p>
            <a:pPr algn="ctr" indent="0" marL="0">
              <a:buNone/>
            </a:pPr>
            <a:r>
              <a:rPr lang="en-US" sz="1400" dirty="0">
                <a:solidFill>
                  <a:srgbClr val="FFFFFF"/>
                </a:solidFill>
                <a:latin typeface="Calibri" pitchFamily="34" charset="0"/>
                <a:ea typeface="Calibri" pitchFamily="34" charset="-122"/>
                <a:cs typeface="Calibri" pitchFamily="34" charset="-120"/>
              </a:rPr>
              <a:t>points on the board</a:t>
            </a:r>
            <a:endParaRPr lang="en-US" sz="2000" dirty="0"/>
          </a:p>
        </p:txBody>
      </p:sp>
      <p:sp>
        <p:nvSpPr>
          <p:cNvPr id="29" name="Text 26"/>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3 / 79</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The flow of every challenge</a:t>
            </a:r>
            <a:endParaRPr lang="en-US" sz="3200" dirty="0"/>
          </a:p>
        </p:txBody>
      </p:sp>
      <p:sp>
        <p:nvSpPr>
          <p:cNvPr id="4" name="Shape 1"/>
          <p:cNvSpPr/>
          <p:nvPr/>
        </p:nvSpPr>
        <p:spPr>
          <a:xfrm>
            <a:off x="548640" y="1508760"/>
            <a:ext cx="2606040" cy="2011680"/>
          </a:xfrm>
          <a:prstGeom prst="roundRect">
            <a:avLst>
              <a:gd name="adj" fmla="val 4545"/>
            </a:avLst>
          </a:prstGeom>
          <a:solidFill>
            <a:srgbClr val="F1F5FB"/>
          </a:solidFill>
          <a:ln/>
        </p:spPr>
      </p:sp>
      <p:sp>
        <p:nvSpPr>
          <p:cNvPr id="5" name="Shape 2"/>
          <p:cNvSpPr/>
          <p:nvPr/>
        </p:nvSpPr>
        <p:spPr>
          <a:xfrm>
            <a:off x="1417320" y="1737360"/>
            <a:ext cx="822960" cy="822960"/>
          </a:xfrm>
          <a:prstGeom prst="ellipse">
            <a:avLst/>
          </a:prstGeom>
          <a:solidFill>
            <a:srgbClr val="17875A"/>
          </a:solidFill>
          <a:ln/>
        </p:spPr>
      </p:sp>
      <p:pic>
        <p:nvPicPr>
          <p:cNvPr id="6" name="Image 0" descr="preencoded.png">    </p:cNvPr>
          <p:cNvPicPr>
            <a:picLocks noChangeAspect="1"/>
          </p:cNvPicPr>
          <p:nvPr/>
        </p:nvPicPr>
        <p:blipFill>
          <a:blip r:embed="rId1"/>
          <a:stretch>
            <a:fillRect/>
          </a:stretch>
        </p:blipFill>
        <p:spPr>
          <a:xfrm>
            <a:off x="1623060" y="1943100"/>
            <a:ext cx="411480" cy="411480"/>
          </a:xfrm>
          <a:prstGeom prst="rect">
            <a:avLst/>
          </a:prstGeom>
        </p:spPr>
      </p:pic>
      <p:sp>
        <p:nvSpPr>
          <p:cNvPr id="7" name="Text 3"/>
          <p:cNvSpPr txBox="1"/>
          <p:nvPr/>
        </p:nvSpPr>
        <p:spPr>
          <a:xfrm>
            <a:off x="685800" y="2679192"/>
            <a:ext cx="2331720" cy="411480"/>
          </a:xfrm>
          <a:prstGeom prst="rect">
            <a:avLst/>
          </a:prstGeom>
          <a:noFill/>
          <a:ln/>
        </p:spPr>
        <p:txBody>
          <a:bodyPr wrap="square" lIns="0" tIns="0" rIns="0" bIns="0" rtlCol="0" anchor="t"/>
          <a:lstStyle/>
          <a:p>
            <a:pPr algn="ctr" indent="0" marL="0">
              <a:buNone/>
            </a:pPr>
            <a:r>
              <a:rPr lang="en-US" sz="2000" b="1" dirty="0">
                <a:solidFill>
                  <a:srgbClr val="12213A"/>
                </a:solidFill>
                <a:latin typeface="Arial" pitchFamily="34" charset="0"/>
                <a:ea typeface="Arial" pitchFamily="34" charset="-122"/>
                <a:cs typeface="Arial" pitchFamily="34" charset="-120"/>
              </a:rPr>
              <a:t>Read</a:t>
            </a:r>
            <a:endParaRPr lang="en-US" sz="2000" dirty="0"/>
          </a:p>
        </p:txBody>
      </p:sp>
      <p:sp>
        <p:nvSpPr>
          <p:cNvPr id="8" name="Text 4"/>
          <p:cNvSpPr txBox="1"/>
          <p:nvPr/>
        </p:nvSpPr>
        <p:spPr>
          <a:xfrm>
            <a:off x="685800" y="3081528"/>
            <a:ext cx="2331720" cy="365760"/>
          </a:xfrm>
          <a:prstGeom prst="rect">
            <a:avLst/>
          </a:prstGeom>
          <a:noFill/>
          <a:ln/>
        </p:spPr>
        <p:txBody>
          <a:bodyPr wrap="square" lIns="0" tIns="0" rIns="0" bIns="0" rtlCol="0" anchor="t"/>
          <a:lstStyle/>
          <a:p>
            <a:pPr algn="ctr" indent="0" marL="0">
              <a:buNone/>
            </a:pPr>
            <a:r>
              <a:rPr lang="en-US" sz="1400" dirty="0">
                <a:solidFill>
                  <a:srgbClr val="56657E"/>
                </a:solidFill>
                <a:latin typeface="Calibri" pitchFamily="34" charset="0"/>
                <a:ea typeface="Calibri" pitchFamily="34" charset="-122"/>
                <a:cs typeface="Calibri" pitchFamily="34" charset="-120"/>
              </a:rPr>
              <a:t>the challenge</a:t>
            </a:r>
            <a:endParaRPr lang="en-US" sz="1400" dirty="0"/>
          </a:p>
        </p:txBody>
      </p:sp>
      <p:sp>
        <p:nvSpPr>
          <p:cNvPr id="9" name="Text 5"/>
          <p:cNvSpPr txBox="1"/>
          <p:nvPr/>
        </p:nvSpPr>
        <p:spPr>
          <a:xfrm>
            <a:off x="3154680" y="2011680"/>
            <a:ext cx="210312" cy="548640"/>
          </a:xfrm>
          <a:prstGeom prst="rect">
            <a:avLst/>
          </a:prstGeom>
          <a:noFill/>
          <a:ln/>
        </p:spPr>
        <p:txBody>
          <a:bodyPr wrap="square" lIns="0" tIns="0" rIns="0" bIns="0" rtlCol="0" anchor="ctr"/>
          <a:lstStyle/>
          <a:p>
            <a:pPr algn="ctr" indent="0" marL="0">
              <a:buNone/>
            </a:pPr>
            <a:r>
              <a:rPr lang="en-US" sz="2000" b="1" dirty="0">
                <a:solidFill>
                  <a:srgbClr val="56657E"/>
                </a:solidFill>
                <a:latin typeface="Courier New" pitchFamily="34" charset="0"/>
                <a:ea typeface="Courier New" pitchFamily="34" charset="-122"/>
                <a:cs typeface="Courier New" pitchFamily="34" charset="-120"/>
              </a:rPr>
              <a:t>&gt;</a:t>
            </a:r>
            <a:endParaRPr lang="en-US" sz="2000" dirty="0"/>
          </a:p>
        </p:txBody>
      </p:sp>
      <p:sp>
        <p:nvSpPr>
          <p:cNvPr id="10" name="Shape 6"/>
          <p:cNvSpPr/>
          <p:nvPr/>
        </p:nvSpPr>
        <p:spPr>
          <a:xfrm>
            <a:off x="3364992" y="1508760"/>
            <a:ext cx="2606040" cy="2011680"/>
          </a:xfrm>
          <a:prstGeom prst="roundRect">
            <a:avLst>
              <a:gd name="adj" fmla="val 4545"/>
            </a:avLst>
          </a:prstGeom>
          <a:solidFill>
            <a:srgbClr val="F1F5FB"/>
          </a:solidFill>
          <a:ln/>
        </p:spPr>
      </p:sp>
      <p:sp>
        <p:nvSpPr>
          <p:cNvPr id="11" name="Shape 7"/>
          <p:cNvSpPr/>
          <p:nvPr/>
        </p:nvSpPr>
        <p:spPr>
          <a:xfrm>
            <a:off x="4233672" y="1737360"/>
            <a:ext cx="822960" cy="822960"/>
          </a:xfrm>
          <a:prstGeom prst="ellipse">
            <a:avLst/>
          </a:prstGeom>
          <a:solidFill>
            <a:srgbClr val="2A9FD6"/>
          </a:solidFill>
          <a:ln/>
        </p:spPr>
      </p:sp>
      <p:pic>
        <p:nvPicPr>
          <p:cNvPr id="12" name="Image 1" descr="preencoded.png">    </p:cNvPr>
          <p:cNvPicPr>
            <a:picLocks noChangeAspect="1"/>
          </p:cNvPicPr>
          <p:nvPr/>
        </p:nvPicPr>
        <p:blipFill>
          <a:blip r:embed="rId2"/>
          <a:stretch>
            <a:fillRect/>
          </a:stretch>
        </p:blipFill>
        <p:spPr>
          <a:xfrm>
            <a:off x="4439412" y="1943100"/>
            <a:ext cx="411480" cy="411480"/>
          </a:xfrm>
          <a:prstGeom prst="rect">
            <a:avLst/>
          </a:prstGeom>
        </p:spPr>
      </p:pic>
      <p:sp>
        <p:nvSpPr>
          <p:cNvPr id="13" name="Text 8"/>
          <p:cNvSpPr txBox="1"/>
          <p:nvPr/>
        </p:nvSpPr>
        <p:spPr>
          <a:xfrm>
            <a:off x="3502152" y="2679192"/>
            <a:ext cx="2331720" cy="411480"/>
          </a:xfrm>
          <a:prstGeom prst="rect">
            <a:avLst/>
          </a:prstGeom>
          <a:noFill/>
          <a:ln/>
        </p:spPr>
        <p:txBody>
          <a:bodyPr wrap="square" lIns="0" tIns="0" rIns="0" bIns="0" rtlCol="0" anchor="t"/>
          <a:lstStyle/>
          <a:p>
            <a:pPr algn="ctr" indent="0" marL="0">
              <a:buNone/>
            </a:pPr>
            <a:r>
              <a:rPr lang="en-US" sz="2000" b="1" dirty="0">
                <a:solidFill>
                  <a:srgbClr val="12213A"/>
                </a:solidFill>
                <a:latin typeface="Arial" pitchFamily="34" charset="0"/>
                <a:ea typeface="Arial" pitchFamily="34" charset="-122"/>
                <a:cs typeface="Arial" pitchFamily="34" charset="-120"/>
              </a:rPr>
              <a:t>Observe</a:t>
            </a:r>
            <a:endParaRPr lang="en-US" sz="2000" dirty="0"/>
          </a:p>
        </p:txBody>
      </p:sp>
      <p:sp>
        <p:nvSpPr>
          <p:cNvPr id="14" name="Text 9"/>
          <p:cNvSpPr txBox="1"/>
          <p:nvPr/>
        </p:nvSpPr>
        <p:spPr>
          <a:xfrm>
            <a:off x="3502152" y="3081528"/>
            <a:ext cx="2331720" cy="365760"/>
          </a:xfrm>
          <a:prstGeom prst="rect">
            <a:avLst/>
          </a:prstGeom>
          <a:noFill/>
          <a:ln/>
        </p:spPr>
        <p:txBody>
          <a:bodyPr wrap="square" lIns="0" tIns="0" rIns="0" bIns="0" rtlCol="0" anchor="t"/>
          <a:lstStyle/>
          <a:p>
            <a:pPr algn="ctr" indent="0" marL="0">
              <a:buNone/>
            </a:pPr>
            <a:r>
              <a:rPr lang="en-US" sz="1400" dirty="0">
                <a:solidFill>
                  <a:srgbClr val="56657E"/>
                </a:solidFill>
                <a:latin typeface="Calibri" pitchFamily="34" charset="0"/>
                <a:ea typeface="Calibri" pitchFamily="34" charset="-122"/>
                <a:cs typeface="Calibri" pitchFamily="34" charset="-120"/>
              </a:rPr>
              <a:t>the clues</a:t>
            </a:r>
            <a:endParaRPr lang="en-US" sz="1400" dirty="0"/>
          </a:p>
        </p:txBody>
      </p:sp>
      <p:sp>
        <p:nvSpPr>
          <p:cNvPr id="15" name="Text 10"/>
          <p:cNvSpPr txBox="1"/>
          <p:nvPr/>
        </p:nvSpPr>
        <p:spPr>
          <a:xfrm>
            <a:off x="5971032" y="2011680"/>
            <a:ext cx="210312" cy="548640"/>
          </a:xfrm>
          <a:prstGeom prst="rect">
            <a:avLst/>
          </a:prstGeom>
          <a:noFill/>
          <a:ln/>
        </p:spPr>
        <p:txBody>
          <a:bodyPr wrap="square" lIns="0" tIns="0" rIns="0" bIns="0" rtlCol="0" anchor="ctr"/>
          <a:lstStyle/>
          <a:p>
            <a:pPr algn="ctr" indent="0" marL="0">
              <a:buNone/>
            </a:pPr>
            <a:r>
              <a:rPr lang="en-US" sz="2000" b="1" dirty="0">
                <a:solidFill>
                  <a:srgbClr val="56657E"/>
                </a:solidFill>
                <a:latin typeface="Courier New" pitchFamily="34" charset="0"/>
                <a:ea typeface="Courier New" pitchFamily="34" charset="-122"/>
                <a:cs typeface="Courier New" pitchFamily="34" charset="-120"/>
              </a:rPr>
              <a:t>&gt;</a:t>
            </a:r>
            <a:endParaRPr lang="en-US" sz="2000" dirty="0"/>
          </a:p>
        </p:txBody>
      </p:sp>
      <p:sp>
        <p:nvSpPr>
          <p:cNvPr id="16" name="Shape 11"/>
          <p:cNvSpPr/>
          <p:nvPr/>
        </p:nvSpPr>
        <p:spPr>
          <a:xfrm>
            <a:off x="6181344" y="1508760"/>
            <a:ext cx="2606040" cy="2011680"/>
          </a:xfrm>
          <a:prstGeom prst="roundRect">
            <a:avLst>
              <a:gd name="adj" fmla="val 4545"/>
            </a:avLst>
          </a:prstGeom>
          <a:solidFill>
            <a:srgbClr val="F1F5FB"/>
          </a:solidFill>
          <a:ln/>
        </p:spPr>
      </p:sp>
      <p:sp>
        <p:nvSpPr>
          <p:cNvPr id="17" name="Shape 12"/>
          <p:cNvSpPr/>
          <p:nvPr/>
        </p:nvSpPr>
        <p:spPr>
          <a:xfrm>
            <a:off x="7050024" y="1737360"/>
            <a:ext cx="822960" cy="822960"/>
          </a:xfrm>
          <a:prstGeom prst="ellipse">
            <a:avLst/>
          </a:prstGeom>
          <a:solidFill>
            <a:srgbClr val="2459D8"/>
          </a:solidFill>
          <a:ln/>
        </p:spPr>
      </p:sp>
      <p:pic>
        <p:nvPicPr>
          <p:cNvPr id="18" name="Image 2" descr="preencoded.png">    </p:cNvPr>
          <p:cNvPicPr>
            <a:picLocks noChangeAspect="1"/>
          </p:cNvPicPr>
          <p:nvPr/>
        </p:nvPicPr>
        <p:blipFill>
          <a:blip r:embed="rId3"/>
          <a:stretch>
            <a:fillRect/>
          </a:stretch>
        </p:blipFill>
        <p:spPr>
          <a:xfrm>
            <a:off x="7255764" y="1943100"/>
            <a:ext cx="411480" cy="411480"/>
          </a:xfrm>
          <a:prstGeom prst="rect">
            <a:avLst/>
          </a:prstGeom>
        </p:spPr>
      </p:pic>
      <p:sp>
        <p:nvSpPr>
          <p:cNvPr id="19" name="Text 13"/>
          <p:cNvSpPr txBox="1"/>
          <p:nvPr/>
        </p:nvSpPr>
        <p:spPr>
          <a:xfrm>
            <a:off x="6318504" y="2679192"/>
            <a:ext cx="2331720" cy="411480"/>
          </a:xfrm>
          <a:prstGeom prst="rect">
            <a:avLst/>
          </a:prstGeom>
          <a:noFill/>
          <a:ln/>
        </p:spPr>
        <p:txBody>
          <a:bodyPr wrap="square" lIns="0" tIns="0" rIns="0" bIns="0" rtlCol="0" anchor="t"/>
          <a:lstStyle/>
          <a:p>
            <a:pPr algn="ctr" indent="0" marL="0">
              <a:buNone/>
            </a:pPr>
            <a:r>
              <a:rPr lang="en-US" sz="2000" b="1" dirty="0">
                <a:solidFill>
                  <a:srgbClr val="12213A"/>
                </a:solidFill>
                <a:latin typeface="Arial" pitchFamily="34" charset="0"/>
                <a:ea typeface="Arial" pitchFamily="34" charset="-122"/>
                <a:cs typeface="Arial" pitchFamily="34" charset="-120"/>
              </a:rPr>
              <a:t>Choose</a:t>
            </a:r>
            <a:endParaRPr lang="en-US" sz="2000" dirty="0"/>
          </a:p>
        </p:txBody>
      </p:sp>
      <p:sp>
        <p:nvSpPr>
          <p:cNvPr id="20" name="Text 14"/>
          <p:cNvSpPr txBox="1"/>
          <p:nvPr/>
        </p:nvSpPr>
        <p:spPr>
          <a:xfrm>
            <a:off x="6318504" y="3081528"/>
            <a:ext cx="2331720" cy="365760"/>
          </a:xfrm>
          <a:prstGeom prst="rect">
            <a:avLst/>
          </a:prstGeom>
          <a:noFill/>
          <a:ln/>
        </p:spPr>
        <p:txBody>
          <a:bodyPr wrap="square" lIns="0" tIns="0" rIns="0" bIns="0" rtlCol="0" anchor="t"/>
          <a:lstStyle/>
          <a:p>
            <a:pPr algn="ctr" indent="0" marL="0">
              <a:buNone/>
            </a:pPr>
            <a:r>
              <a:rPr lang="en-US" sz="1400" dirty="0">
                <a:solidFill>
                  <a:srgbClr val="56657E"/>
                </a:solidFill>
                <a:latin typeface="Calibri" pitchFamily="34" charset="0"/>
                <a:ea typeface="Calibri" pitchFamily="34" charset="-122"/>
                <a:cs typeface="Calibri" pitchFamily="34" charset="-120"/>
              </a:rPr>
              <a:t>a tool</a:t>
            </a:r>
            <a:endParaRPr lang="en-US" sz="1400" dirty="0"/>
          </a:p>
        </p:txBody>
      </p:sp>
      <p:sp>
        <p:nvSpPr>
          <p:cNvPr id="21" name="Text 15"/>
          <p:cNvSpPr txBox="1"/>
          <p:nvPr/>
        </p:nvSpPr>
        <p:spPr>
          <a:xfrm>
            <a:off x="8787384" y="2011680"/>
            <a:ext cx="210312" cy="548640"/>
          </a:xfrm>
          <a:prstGeom prst="rect">
            <a:avLst/>
          </a:prstGeom>
          <a:noFill/>
          <a:ln/>
        </p:spPr>
        <p:txBody>
          <a:bodyPr wrap="square" lIns="0" tIns="0" rIns="0" bIns="0" rtlCol="0" anchor="ctr"/>
          <a:lstStyle/>
          <a:p>
            <a:pPr algn="ctr" indent="0" marL="0">
              <a:buNone/>
            </a:pPr>
            <a:r>
              <a:rPr lang="en-US" sz="2000" b="1" dirty="0">
                <a:solidFill>
                  <a:srgbClr val="56657E"/>
                </a:solidFill>
                <a:latin typeface="Courier New" pitchFamily="34" charset="0"/>
                <a:ea typeface="Courier New" pitchFamily="34" charset="-122"/>
                <a:cs typeface="Courier New" pitchFamily="34" charset="-120"/>
              </a:rPr>
              <a:t>&gt;</a:t>
            </a:r>
            <a:endParaRPr lang="en-US" sz="2000" dirty="0"/>
          </a:p>
        </p:txBody>
      </p:sp>
      <p:sp>
        <p:nvSpPr>
          <p:cNvPr id="22" name="Shape 16"/>
          <p:cNvSpPr/>
          <p:nvPr/>
        </p:nvSpPr>
        <p:spPr>
          <a:xfrm>
            <a:off x="8997696" y="1508760"/>
            <a:ext cx="2606040" cy="2011680"/>
          </a:xfrm>
          <a:prstGeom prst="roundRect">
            <a:avLst>
              <a:gd name="adj" fmla="val 4545"/>
            </a:avLst>
          </a:prstGeom>
          <a:solidFill>
            <a:srgbClr val="F1F5FB"/>
          </a:solidFill>
          <a:ln/>
        </p:spPr>
      </p:sp>
      <p:sp>
        <p:nvSpPr>
          <p:cNvPr id="23" name="Shape 17"/>
          <p:cNvSpPr/>
          <p:nvPr/>
        </p:nvSpPr>
        <p:spPr>
          <a:xfrm>
            <a:off x="9866376" y="1737360"/>
            <a:ext cx="822960" cy="822960"/>
          </a:xfrm>
          <a:prstGeom prst="ellipse">
            <a:avLst/>
          </a:prstGeom>
          <a:solidFill>
            <a:srgbClr val="7448D4"/>
          </a:solidFill>
          <a:ln/>
        </p:spPr>
      </p:sp>
      <p:pic>
        <p:nvPicPr>
          <p:cNvPr id="24" name="Image 3" descr="preencoded.png">    </p:cNvPr>
          <p:cNvPicPr>
            <a:picLocks noChangeAspect="1"/>
          </p:cNvPicPr>
          <p:nvPr/>
        </p:nvPicPr>
        <p:blipFill>
          <a:blip r:embed="rId4"/>
          <a:stretch>
            <a:fillRect/>
          </a:stretch>
        </p:blipFill>
        <p:spPr>
          <a:xfrm>
            <a:off x="10072116" y="1943100"/>
            <a:ext cx="411480" cy="411480"/>
          </a:xfrm>
          <a:prstGeom prst="rect">
            <a:avLst/>
          </a:prstGeom>
        </p:spPr>
      </p:pic>
      <p:sp>
        <p:nvSpPr>
          <p:cNvPr id="25" name="Text 18"/>
          <p:cNvSpPr txBox="1"/>
          <p:nvPr/>
        </p:nvSpPr>
        <p:spPr>
          <a:xfrm>
            <a:off x="9134856" y="2679192"/>
            <a:ext cx="2331720" cy="411480"/>
          </a:xfrm>
          <a:prstGeom prst="rect">
            <a:avLst/>
          </a:prstGeom>
          <a:noFill/>
          <a:ln/>
        </p:spPr>
        <p:txBody>
          <a:bodyPr wrap="square" lIns="0" tIns="0" rIns="0" bIns="0" rtlCol="0" anchor="t"/>
          <a:lstStyle/>
          <a:p>
            <a:pPr algn="ctr" indent="0" marL="0">
              <a:buNone/>
            </a:pPr>
            <a:r>
              <a:rPr lang="en-US" sz="2000" b="1" dirty="0">
                <a:solidFill>
                  <a:srgbClr val="12213A"/>
                </a:solidFill>
                <a:latin typeface="Arial" pitchFamily="34" charset="0"/>
                <a:ea typeface="Arial" pitchFamily="34" charset="-122"/>
                <a:cs typeface="Arial" pitchFamily="34" charset="-120"/>
              </a:rPr>
              <a:t>Try</a:t>
            </a:r>
            <a:endParaRPr lang="en-US" sz="2000" dirty="0"/>
          </a:p>
        </p:txBody>
      </p:sp>
      <p:sp>
        <p:nvSpPr>
          <p:cNvPr id="26" name="Text 19"/>
          <p:cNvSpPr txBox="1"/>
          <p:nvPr/>
        </p:nvSpPr>
        <p:spPr>
          <a:xfrm>
            <a:off x="9134856" y="3081528"/>
            <a:ext cx="2331720" cy="365760"/>
          </a:xfrm>
          <a:prstGeom prst="rect">
            <a:avLst/>
          </a:prstGeom>
          <a:noFill/>
          <a:ln/>
        </p:spPr>
        <p:txBody>
          <a:bodyPr wrap="square" lIns="0" tIns="0" rIns="0" bIns="0" rtlCol="0" anchor="t"/>
          <a:lstStyle/>
          <a:p>
            <a:pPr algn="ctr" indent="0" marL="0">
              <a:buNone/>
            </a:pPr>
            <a:r>
              <a:rPr lang="en-US" sz="1400" dirty="0">
                <a:solidFill>
                  <a:srgbClr val="56657E"/>
                </a:solidFill>
                <a:latin typeface="Calibri" pitchFamily="34" charset="0"/>
                <a:ea typeface="Calibri" pitchFamily="34" charset="-122"/>
                <a:cs typeface="Calibri" pitchFamily="34" charset="-120"/>
              </a:rPr>
              <a:t>a command</a:t>
            </a:r>
            <a:endParaRPr lang="en-US" sz="1400" dirty="0"/>
          </a:p>
        </p:txBody>
      </p:sp>
      <p:sp>
        <p:nvSpPr>
          <p:cNvPr id="27" name="Shape 20"/>
          <p:cNvSpPr/>
          <p:nvPr/>
        </p:nvSpPr>
        <p:spPr>
          <a:xfrm>
            <a:off x="548640" y="3749040"/>
            <a:ext cx="2606040" cy="2011680"/>
          </a:xfrm>
          <a:prstGeom prst="roundRect">
            <a:avLst>
              <a:gd name="adj" fmla="val 4545"/>
            </a:avLst>
          </a:prstGeom>
          <a:solidFill>
            <a:srgbClr val="F1F5FB"/>
          </a:solidFill>
          <a:ln/>
        </p:spPr>
      </p:sp>
      <p:sp>
        <p:nvSpPr>
          <p:cNvPr id="28" name="Shape 21"/>
          <p:cNvSpPr/>
          <p:nvPr/>
        </p:nvSpPr>
        <p:spPr>
          <a:xfrm>
            <a:off x="1417320" y="3977640"/>
            <a:ext cx="822960" cy="822960"/>
          </a:xfrm>
          <a:prstGeom prst="ellipse">
            <a:avLst/>
          </a:prstGeom>
          <a:solidFill>
            <a:srgbClr val="D1416B"/>
          </a:solidFill>
          <a:ln/>
        </p:spPr>
      </p:sp>
      <p:pic>
        <p:nvPicPr>
          <p:cNvPr id="29" name="Image 4" descr="preencoded.png">    </p:cNvPr>
          <p:cNvPicPr>
            <a:picLocks noChangeAspect="1"/>
          </p:cNvPicPr>
          <p:nvPr/>
        </p:nvPicPr>
        <p:blipFill>
          <a:blip r:embed="rId5"/>
          <a:stretch>
            <a:fillRect/>
          </a:stretch>
        </p:blipFill>
        <p:spPr>
          <a:xfrm>
            <a:off x="1623060" y="4183380"/>
            <a:ext cx="411480" cy="411480"/>
          </a:xfrm>
          <a:prstGeom prst="rect">
            <a:avLst/>
          </a:prstGeom>
        </p:spPr>
      </p:pic>
      <p:sp>
        <p:nvSpPr>
          <p:cNvPr id="30" name="Text 22"/>
          <p:cNvSpPr txBox="1"/>
          <p:nvPr/>
        </p:nvSpPr>
        <p:spPr>
          <a:xfrm>
            <a:off x="685800" y="4919472"/>
            <a:ext cx="2331720" cy="411480"/>
          </a:xfrm>
          <a:prstGeom prst="rect">
            <a:avLst/>
          </a:prstGeom>
          <a:noFill/>
          <a:ln/>
        </p:spPr>
        <p:txBody>
          <a:bodyPr wrap="square" lIns="0" tIns="0" rIns="0" bIns="0" rtlCol="0" anchor="t"/>
          <a:lstStyle/>
          <a:p>
            <a:pPr algn="ctr" indent="0" marL="0">
              <a:buNone/>
            </a:pPr>
            <a:r>
              <a:rPr lang="en-US" sz="2000" b="1" dirty="0">
                <a:solidFill>
                  <a:srgbClr val="12213A"/>
                </a:solidFill>
                <a:latin typeface="Arial" pitchFamily="34" charset="0"/>
                <a:ea typeface="Arial" pitchFamily="34" charset="-122"/>
                <a:cs typeface="Arial" pitchFamily="34" charset="-120"/>
              </a:rPr>
              <a:t>Check</a:t>
            </a:r>
            <a:endParaRPr lang="en-US" sz="2000" dirty="0"/>
          </a:p>
        </p:txBody>
      </p:sp>
      <p:sp>
        <p:nvSpPr>
          <p:cNvPr id="31" name="Text 23"/>
          <p:cNvSpPr txBox="1"/>
          <p:nvPr/>
        </p:nvSpPr>
        <p:spPr>
          <a:xfrm>
            <a:off x="685800" y="5321808"/>
            <a:ext cx="2331720" cy="365760"/>
          </a:xfrm>
          <a:prstGeom prst="rect">
            <a:avLst/>
          </a:prstGeom>
          <a:noFill/>
          <a:ln/>
        </p:spPr>
        <p:txBody>
          <a:bodyPr wrap="square" lIns="0" tIns="0" rIns="0" bIns="0" rtlCol="0" anchor="t"/>
          <a:lstStyle/>
          <a:p>
            <a:pPr algn="ctr" indent="0" marL="0">
              <a:buNone/>
            </a:pPr>
            <a:r>
              <a:rPr lang="en-US" sz="1400" dirty="0">
                <a:solidFill>
                  <a:srgbClr val="56657E"/>
                </a:solidFill>
                <a:latin typeface="Calibri" pitchFamily="34" charset="0"/>
                <a:ea typeface="Calibri" pitchFamily="34" charset="-122"/>
                <a:cs typeface="Calibri" pitchFamily="34" charset="-120"/>
              </a:rPr>
              <a:t>the output</a:t>
            </a:r>
            <a:endParaRPr lang="en-US" sz="1400" dirty="0"/>
          </a:p>
        </p:txBody>
      </p:sp>
      <p:sp>
        <p:nvSpPr>
          <p:cNvPr id="32" name="Text 24"/>
          <p:cNvSpPr txBox="1"/>
          <p:nvPr/>
        </p:nvSpPr>
        <p:spPr>
          <a:xfrm>
            <a:off x="3154680" y="4251960"/>
            <a:ext cx="210312" cy="548640"/>
          </a:xfrm>
          <a:prstGeom prst="rect">
            <a:avLst/>
          </a:prstGeom>
          <a:noFill/>
          <a:ln/>
        </p:spPr>
        <p:txBody>
          <a:bodyPr wrap="square" lIns="0" tIns="0" rIns="0" bIns="0" rtlCol="0" anchor="ctr"/>
          <a:lstStyle/>
          <a:p>
            <a:pPr algn="ctr" indent="0" marL="0">
              <a:buNone/>
            </a:pPr>
            <a:r>
              <a:rPr lang="en-US" sz="2000" b="1" dirty="0">
                <a:solidFill>
                  <a:srgbClr val="56657E"/>
                </a:solidFill>
                <a:latin typeface="Courier New" pitchFamily="34" charset="0"/>
                <a:ea typeface="Courier New" pitchFamily="34" charset="-122"/>
                <a:cs typeface="Courier New" pitchFamily="34" charset="-120"/>
              </a:rPr>
              <a:t>&gt;</a:t>
            </a:r>
            <a:endParaRPr lang="en-US" sz="2000" dirty="0"/>
          </a:p>
        </p:txBody>
      </p:sp>
      <p:sp>
        <p:nvSpPr>
          <p:cNvPr id="33" name="Shape 25"/>
          <p:cNvSpPr/>
          <p:nvPr/>
        </p:nvSpPr>
        <p:spPr>
          <a:xfrm>
            <a:off x="3364992" y="3749040"/>
            <a:ext cx="2606040" cy="2011680"/>
          </a:xfrm>
          <a:prstGeom prst="roundRect">
            <a:avLst>
              <a:gd name="adj" fmla="val 4545"/>
            </a:avLst>
          </a:prstGeom>
          <a:solidFill>
            <a:srgbClr val="F1F5FB"/>
          </a:solidFill>
          <a:ln/>
        </p:spPr>
      </p:sp>
      <p:sp>
        <p:nvSpPr>
          <p:cNvPr id="34" name="Shape 26"/>
          <p:cNvSpPr/>
          <p:nvPr/>
        </p:nvSpPr>
        <p:spPr>
          <a:xfrm>
            <a:off x="4233672" y="3977640"/>
            <a:ext cx="822960" cy="822960"/>
          </a:xfrm>
          <a:prstGeom prst="ellipse">
            <a:avLst/>
          </a:prstGeom>
          <a:solidFill>
            <a:srgbClr val="E8820C"/>
          </a:solidFill>
          <a:ln/>
        </p:spPr>
      </p:sp>
      <p:pic>
        <p:nvPicPr>
          <p:cNvPr id="35" name="Image 5" descr="preencoded.png">    </p:cNvPr>
          <p:cNvPicPr>
            <a:picLocks noChangeAspect="1"/>
          </p:cNvPicPr>
          <p:nvPr/>
        </p:nvPicPr>
        <p:blipFill>
          <a:blip r:embed="rId6"/>
          <a:stretch>
            <a:fillRect/>
          </a:stretch>
        </p:blipFill>
        <p:spPr>
          <a:xfrm>
            <a:off x="4439412" y="4183380"/>
            <a:ext cx="411480" cy="411480"/>
          </a:xfrm>
          <a:prstGeom prst="rect">
            <a:avLst/>
          </a:prstGeom>
        </p:spPr>
      </p:pic>
      <p:sp>
        <p:nvSpPr>
          <p:cNvPr id="36" name="Text 27"/>
          <p:cNvSpPr txBox="1"/>
          <p:nvPr/>
        </p:nvSpPr>
        <p:spPr>
          <a:xfrm>
            <a:off x="3502152" y="4919472"/>
            <a:ext cx="2331720" cy="411480"/>
          </a:xfrm>
          <a:prstGeom prst="rect">
            <a:avLst/>
          </a:prstGeom>
          <a:noFill/>
          <a:ln/>
        </p:spPr>
        <p:txBody>
          <a:bodyPr wrap="square" lIns="0" tIns="0" rIns="0" bIns="0" rtlCol="0" anchor="t"/>
          <a:lstStyle/>
          <a:p>
            <a:pPr algn="ctr" indent="0" marL="0">
              <a:buNone/>
            </a:pPr>
            <a:r>
              <a:rPr lang="en-US" sz="2000" b="1" dirty="0">
                <a:solidFill>
                  <a:srgbClr val="12213A"/>
                </a:solidFill>
                <a:latin typeface="Arial" pitchFamily="34" charset="0"/>
                <a:ea typeface="Arial" pitchFamily="34" charset="-122"/>
                <a:cs typeface="Arial" pitchFamily="34" charset="-120"/>
              </a:rPr>
              <a:t>Adjust</a:t>
            </a:r>
            <a:endParaRPr lang="en-US" sz="2000" dirty="0"/>
          </a:p>
        </p:txBody>
      </p:sp>
      <p:sp>
        <p:nvSpPr>
          <p:cNvPr id="37" name="Text 28"/>
          <p:cNvSpPr txBox="1"/>
          <p:nvPr/>
        </p:nvSpPr>
        <p:spPr>
          <a:xfrm>
            <a:off x="3502152" y="5321808"/>
            <a:ext cx="2331720" cy="365760"/>
          </a:xfrm>
          <a:prstGeom prst="rect">
            <a:avLst/>
          </a:prstGeom>
          <a:noFill/>
          <a:ln/>
        </p:spPr>
        <p:txBody>
          <a:bodyPr wrap="square" lIns="0" tIns="0" rIns="0" bIns="0" rtlCol="0" anchor="t"/>
          <a:lstStyle/>
          <a:p>
            <a:pPr algn="ctr" indent="0" marL="0">
              <a:buNone/>
            </a:pPr>
            <a:r>
              <a:rPr lang="en-US" sz="1400" dirty="0">
                <a:solidFill>
                  <a:srgbClr val="56657E"/>
                </a:solidFill>
                <a:latin typeface="Calibri" pitchFamily="34" charset="0"/>
                <a:ea typeface="Calibri" pitchFamily="34" charset="-122"/>
                <a:cs typeface="Calibri" pitchFamily="34" charset="-120"/>
              </a:rPr>
              <a:t>if needed</a:t>
            </a:r>
            <a:endParaRPr lang="en-US" sz="1400" dirty="0"/>
          </a:p>
        </p:txBody>
      </p:sp>
      <p:sp>
        <p:nvSpPr>
          <p:cNvPr id="38" name="Text 29"/>
          <p:cNvSpPr txBox="1"/>
          <p:nvPr/>
        </p:nvSpPr>
        <p:spPr>
          <a:xfrm>
            <a:off x="5971032" y="4251960"/>
            <a:ext cx="210312" cy="548640"/>
          </a:xfrm>
          <a:prstGeom prst="rect">
            <a:avLst/>
          </a:prstGeom>
          <a:noFill/>
          <a:ln/>
        </p:spPr>
        <p:txBody>
          <a:bodyPr wrap="square" lIns="0" tIns="0" rIns="0" bIns="0" rtlCol="0" anchor="ctr"/>
          <a:lstStyle/>
          <a:p>
            <a:pPr algn="ctr" indent="0" marL="0">
              <a:buNone/>
            </a:pPr>
            <a:r>
              <a:rPr lang="en-US" sz="2000" b="1" dirty="0">
                <a:solidFill>
                  <a:srgbClr val="56657E"/>
                </a:solidFill>
                <a:latin typeface="Courier New" pitchFamily="34" charset="0"/>
                <a:ea typeface="Courier New" pitchFamily="34" charset="-122"/>
                <a:cs typeface="Courier New" pitchFamily="34" charset="-120"/>
              </a:rPr>
              <a:t>&gt;</a:t>
            </a:r>
            <a:endParaRPr lang="en-US" sz="2000" dirty="0"/>
          </a:p>
        </p:txBody>
      </p:sp>
      <p:sp>
        <p:nvSpPr>
          <p:cNvPr id="39" name="Shape 30"/>
          <p:cNvSpPr/>
          <p:nvPr/>
        </p:nvSpPr>
        <p:spPr>
          <a:xfrm>
            <a:off x="6181344" y="3749040"/>
            <a:ext cx="2606040" cy="2011680"/>
          </a:xfrm>
          <a:prstGeom prst="roundRect">
            <a:avLst>
              <a:gd name="adj" fmla="val 4545"/>
            </a:avLst>
          </a:prstGeom>
          <a:solidFill>
            <a:srgbClr val="F1F5FB"/>
          </a:solidFill>
          <a:ln/>
        </p:spPr>
      </p:sp>
      <p:sp>
        <p:nvSpPr>
          <p:cNvPr id="40" name="Shape 31"/>
          <p:cNvSpPr/>
          <p:nvPr/>
        </p:nvSpPr>
        <p:spPr>
          <a:xfrm>
            <a:off x="7050024" y="3977640"/>
            <a:ext cx="822960" cy="822960"/>
          </a:xfrm>
          <a:prstGeom prst="ellipse">
            <a:avLst/>
          </a:prstGeom>
          <a:solidFill>
            <a:srgbClr val="17875A"/>
          </a:solidFill>
          <a:ln/>
        </p:spPr>
      </p:sp>
      <p:pic>
        <p:nvPicPr>
          <p:cNvPr id="41" name="Image 6" descr="preencoded.png">    </p:cNvPr>
          <p:cNvPicPr>
            <a:picLocks noChangeAspect="1"/>
          </p:cNvPicPr>
          <p:nvPr/>
        </p:nvPicPr>
        <p:blipFill>
          <a:blip r:embed="rId7"/>
          <a:stretch>
            <a:fillRect/>
          </a:stretch>
        </p:blipFill>
        <p:spPr>
          <a:xfrm>
            <a:off x="7255764" y="4183380"/>
            <a:ext cx="411480" cy="411480"/>
          </a:xfrm>
          <a:prstGeom prst="rect">
            <a:avLst/>
          </a:prstGeom>
        </p:spPr>
      </p:pic>
      <p:sp>
        <p:nvSpPr>
          <p:cNvPr id="42" name="Text 32"/>
          <p:cNvSpPr txBox="1"/>
          <p:nvPr/>
        </p:nvSpPr>
        <p:spPr>
          <a:xfrm>
            <a:off x="6318504" y="4919472"/>
            <a:ext cx="2331720" cy="411480"/>
          </a:xfrm>
          <a:prstGeom prst="rect">
            <a:avLst/>
          </a:prstGeom>
          <a:noFill/>
          <a:ln/>
        </p:spPr>
        <p:txBody>
          <a:bodyPr wrap="square" lIns="0" tIns="0" rIns="0" bIns="0" rtlCol="0" anchor="t"/>
          <a:lstStyle/>
          <a:p>
            <a:pPr algn="ctr" indent="0" marL="0">
              <a:buNone/>
            </a:pPr>
            <a:r>
              <a:rPr lang="en-US" sz="2000" b="1" dirty="0">
                <a:solidFill>
                  <a:srgbClr val="12213A"/>
                </a:solidFill>
                <a:latin typeface="Arial" pitchFamily="34" charset="0"/>
                <a:ea typeface="Arial" pitchFamily="34" charset="-122"/>
                <a:cs typeface="Arial" pitchFamily="34" charset="-120"/>
              </a:rPr>
              <a:t>Capture</a:t>
            </a:r>
            <a:endParaRPr lang="en-US" sz="2000" dirty="0"/>
          </a:p>
        </p:txBody>
      </p:sp>
      <p:sp>
        <p:nvSpPr>
          <p:cNvPr id="43" name="Text 33"/>
          <p:cNvSpPr txBox="1"/>
          <p:nvPr/>
        </p:nvSpPr>
        <p:spPr>
          <a:xfrm>
            <a:off x="6318504" y="5321808"/>
            <a:ext cx="2331720" cy="365760"/>
          </a:xfrm>
          <a:prstGeom prst="rect">
            <a:avLst/>
          </a:prstGeom>
          <a:noFill/>
          <a:ln/>
        </p:spPr>
        <p:txBody>
          <a:bodyPr wrap="square" lIns="0" tIns="0" rIns="0" bIns="0" rtlCol="0" anchor="t"/>
          <a:lstStyle/>
          <a:p>
            <a:pPr algn="ctr" indent="0" marL="0">
              <a:buNone/>
            </a:pPr>
            <a:r>
              <a:rPr lang="en-US" sz="1400" dirty="0">
                <a:solidFill>
                  <a:srgbClr val="56657E"/>
                </a:solidFill>
                <a:latin typeface="Calibri" pitchFamily="34" charset="0"/>
                <a:ea typeface="Calibri" pitchFamily="34" charset="-122"/>
                <a:cs typeface="Calibri" pitchFamily="34" charset="-120"/>
              </a:rPr>
              <a:t>the flag</a:t>
            </a:r>
            <a:endParaRPr lang="en-US" sz="1400" dirty="0"/>
          </a:p>
        </p:txBody>
      </p:sp>
      <p:sp>
        <p:nvSpPr>
          <p:cNvPr id="44" name="Text 34"/>
          <p:cNvSpPr txBox="1"/>
          <p:nvPr/>
        </p:nvSpPr>
        <p:spPr>
          <a:xfrm>
            <a:off x="8787384" y="4251960"/>
            <a:ext cx="210312" cy="548640"/>
          </a:xfrm>
          <a:prstGeom prst="rect">
            <a:avLst/>
          </a:prstGeom>
          <a:noFill/>
          <a:ln/>
        </p:spPr>
        <p:txBody>
          <a:bodyPr wrap="square" lIns="0" tIns="0" rIns="0" bIns="0" rtlCol="0" anchor="ctr"/>
          <a:lstStyle/>
          <a:p>
            <a:pPr algn="ctr" indent="0" marL="0">
              <a:buNone/>
            </a:pPr>
            <a:r>
              <a:rPr lang="en-US" sz="2000" b="1" dirty="0">
                <a:solidFill>
                  <a:srgbClr val="56657E"/>
                </a:solidFill>
                <a:latin typeface="Courier New" pitchFamily="34" charset="0"/>
                <a:ea typeface="Courier New" pitchFamily="34" charset="-122"/>
                <a:cs typeface="Courier New" pitchFamily="34" charset="-120"/>
              </a:rPr>
              <a:t>&gt;</a:t>
            </a:r>
            <a:endParaRPr lang="en-US" sz="2000" dirty="0"/>
          </a:p>
        </p:txBody>
      </p:sp>
      <p:sp>
        <p:nvSpPr>
          <p:cNvPr id="45" name="Shape 35"/>
          <p:cNvSpPr/>
          <p:nvPr/>
        </p:nvSpPr>
        <p:spPr>
          <a:xfrm>
            <a:off x="8997696" y="3749040"/>
            <a:ext cx="2606040" cy="2011680"/>
          </a:xfrm>
          <a:prstGeom prst="roundRect">
            <a:avLst>
              <a:gd name="adj" fmla="val 4545"/>
            </a:avLst>
          </a:prstGeom>
          <a:solidFill>
            <a:srgbClr val="F1F5FB"/>
          </a:solidFill>
          <a:ln/>
        </p:spPr>
      </p:sp>
      <p:sp>
        <p:nvSpPr>
          <p:cNvPr id="46" name="Shape 36"/>
          <p:cNvSpPr/>
          <p:nvPr/>
        </p:nvSpPr>
        <p:spPr>
          <a:xfrm>
            <a:off x="9866376" y="3977640"/>
            <a:ext cx="822960" cy="822960"/>
          </a:xfrm>
          <a:prstGeom prst="ellipse">
            <a:avLst/>
          </a:prstGeom>
          <a:solidFill>
            <a:srgbClr val="2A9FD6"/>
          </a:solidFill>
          <a:ln/>
        </p:spPr>
      </p:sp>
      <p:pic>
        <p:nvPicPr>
          <p:cNvPr id="47" name="Image 7" descr="preencoded.png">    </p:cNvPr>
          <p:cNvPicPr>
            <a:picLocks noChangeAspect="1"/>
          </p:cNvPicPr>
          <p:nvPr/>
        </p:nvPicPr>
        <p:blipFill>
          <a:blip r:embed="rId8"/>
          <a:stretch>
            <a:fillRect/>
          </a:stretch>
        </p:blipFill>
        <p:spPr>
          <a:xfrm>
            <a:off x="10072116" y="4183380"/>
            <a:ext cx="411480" cy="411480"/>
          </a:xfrm>
          <a:prstGeom prst="rect">
            <a:avLst/>
          </a:prstGeom>
        </p:spPr>
      </p:pic>
      <p:sp>
        <p:nvSpPr>
          <p:cNvPr id="48" name="Text 37"/>
          <p:cNvSpPr txBox="1"/>
          <p:nvPr/>
        </p:nvSpPr>
        <p:spPr>
          <a:xfrm>
            <a:off x="9134856" y="4919472"/>
            <a:ext cx="2331720" cy="411480"/>
          </a:xfrm>
          <a:prstGeom prst="rect">
            <a:avLst/>
          </a:prstGeom>
          <a:noFill/>
          <a:ln/>
        </p:spPr>
        <p:txBody>
          <a:bodyPr wrap="square" lIns="0" tIns="0" rIns="0" bIns="0" rtlCol="0" anchor="t"/>
          <a:lstStyle/>
          <a:p>
            <a:pPr algn="ctr" indent="0" marL="0">
              <a:buNone/>
            </a:pPr>
            <a:r>
              <a:rPr lang="en-US" sz="2000" b="1" dirty="0">
                <a:solidFill>
                  <a:srgbClr val="12213A"/>
                </a:solidFill>
                <a:latin typeface="Arial" pitchFamily="34" charset="0"/>
                <a:ea typeface="Arial" pitchFamily="34" charset="-122"/>
                <a:cs typeface="Arial" pitchFamily="34" charset="-120"/>
              </a:rPr>
              <a:t>Submit</a:t>
            </a:r>
            <a:endParaRPr lang="en-US" sz="2000" dirty="0"/>
          </a:p>
        </p:txBody>
      </p:sp>
      <p:sp>
        <p:nvSpPr>
          <p:cNvPr id="49" name="Text 38"/>
          <p:cNvSpPr txBox="1"/>
          <p:nvPr/>
        </p:nvSpPr>
        <p:spPr>
          <a:xfrm>
            <a:off x="9134856" y="5321808"/>
            <a:ext cx="2331720" cy="365760"/>
          </a:xfrm>
          <a:prstGeom prst="rect">
            <a:avLst/>
          </a:prstGeom>
          <a:noFill/>
          <a:ln/>
        </p:spPr>
        <p:txBody>
          <a:bodyPr wrap="square" lIns="0" tIns="0" rIns="0" bIns="0" rtlCol="0" anchor="t"/>
          <a:lstStyle/>
          <a:p>
            <a:pPr algn="ctr" indent="0" marL="0">
              <a:buNone/>
            </a:pPr>
            <a:r>
              <a:rPr lang="en-US" sz="1400" dirty="0">
                <a:solidFill>
                  <a:srgbClr val="56657E"/>
                </a:solidFill>
                <a:latin typeface="Calibri" pitchFamily="34" charset="0"/>
                <a:ea typeface="Calibri" pitchFamily="34" charset="-122"/>
                <a:cs typeface="Calibri" pitchFamily="34" charset="-120"/>
              </a:rPr>
              <a:t>&amp; reflect</a:t>
            </a:r>
            <a:endParaRPr lang="en-US" sz="1400" dirty="0"/>
          </a:p>
        </p:txBody>
      </p:sp>
      <p:sp>
        <p:nvSpPr>
          <p:cNvPr id="50" name="Text 39"/>
          <p:cNvSpPr txBox="1"/>
          <p:nvPr/>
        </p:nvSpPr>
        <p:spPr>
          <a:xfrm>
            <a:off x="548640" y="6053328"/>
            <a:ext cx="11094415" cy="320040"/>
          </a:xfrm>
          <a:prstGeom prst="rect">
            <a:avLst/>
          </a:prstGeom>
          <a:noFill/>
          <a:ln/>
        </p:spPr>
        <p:txBody>
          <a:bodyPr wrap="square" lIns="0" tIns="0" rIns="0" bIns="0" rtlCol="0" anchor="t"/>
          <a:lstStyle/>
          <a:p>
            <a:pPr algn="ctr" indent="0" marL="0">
              <a:buNone/>
            </a:pPr>
            <a:r>
              <a:rPr lang="en-US" sz="1300" dirty="0">
                <a:solidFill>
                  <a:srgbClr val="56657E"/>
                </a:solidFill>
                <a:latin typeface="Calibri" pitchFamily="34" charset="0"/>
                <a:ea typeface="Calibri" pitchFamily="34" charset="-122"/>
                <a:cs typeface="Calibri" pitchFamily="34" charset="-120"/>
              </a:rPr>
              <a:t>read -&gt; try -&gt; check -&gt; adjust is the loop. Capturing the flag is just where it ends.</a:t>
            </a:r>
            <a:endParaRPr lang="en-US" sz="1300" dirty="0"/>
          </a:p>
        </p:txBody>
      </p:sp>
      <p:sp>
        <p:nvSpPr>
          <p:cNvPr id="51" name="Text 40"/>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4 / 79</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640080"/>
            <a:ext cx="2103120" cy="3108960"/>
          </a:xfrm>
          <a:prstGeom prst="rect">
            <a:avLst/>
          </a:prstGeom>
          <a:noFill/>
          <a:ln/>
        </p:spPr>
        <p:txBody>
          <a:bodyPr wrap="square" lIns="0" tIns="0" rIns="0" bIns="0" rtlCol="0" anchor="ctr"/>
          <a:lstStyle/>
          <a:p>
            <a:pPr indent="0" marL="0">
              <a:buNone/>
            </a:pPr>
            <a:r>
              <a:rPr lang="en-US" sz="23000" b="1" dirty="0">
                <a:solidFill>
                  <a:srgbClr val="17875A"/>
                </a:solidFill>
                <a:latin typeface="Arial" pitchFamily="34" charset="0"/>
                <a:ea typeface="Arial" pitchFamily="34" charset="-122"/>
                <a:cs typeface="Arial" pitchFamily="34" charset="-120"/>
              </a:rPr>
              <a:t>1</a:t>
            </a:r>
            <a:endParaRPr lang="en-US" sz="23000" dirty="0"/>
          </a:p>
        </p:txBody>
      </p:sp>
      <p:sp>
        <p:nvSpPr>
          <p:cNvPr id="3" name="Text 1"/>
          <p:cNvSpPr txBox="1"/>
          <p:nvPr/>
        </p:nvSpPr>
        <p:spPr>
          <a:xfrm>
            <a:off x="2743200" y="640080"/>
            <a:ext cx="6949440" cy="3108960"/>
          </a:xfrm>
          <a:prstGeom prst="rect">
            <a:avLst/>
          </a:prstGeom>
          <a:noFill/>
          <a:ln/>
        </p:spPr>
        <p:txBody>
          <a:bodyPr wrap="square" lIns="0" tIns="0" rIns="0" bIns="0" rtlCol="0" anchor="ctr">
            <a:normAutofit/>
          </a:bodyPr>
          <a:lstStyle/>
          <a:p>
            <a:pPr indent="0" marL="0">
              <a:buNone/>
            </a:pPr>
            <a:r>
              <a:rPr lang="en-US" sz="5600" b="1" dirty="0">
                <a:solidFill>
                  <a:srgbClr val="12213A"/>
                </a:solidFill>
                <a:latin typeface="Arial" pitchFamily="34" charset="0"/>
                <a:ea typeface="Arial" pitchFamily="34" charset="-122"/>
                <a:cs typeface="Arial" pitchFamily="34" charset="-120"/>
              </a:rPr>
              <a:t>Linux and the command line</a:t>
            </a:r>
            <a:endParaRPr lang="en-US" sz="5600" dirty="0"/>
          </a:p>
        </p:txBody>
      </p:sp>
      <p:sp>
        <p:nvSpPr>
          <p:cNvPr id="4" name="Shape 2"/>
          <p:cNvSpPr/>
          <p:nvPr/>
        </p:nvSpPr>
        <p:spPr>
          <a:xfrm>
            <a:off x="548640" y="5074920"/>
            <a:ext cx="6492240" cy="731520"/>
          </a:xfrm>
          <a:prstGeom prst="roundRect">
            <a:avLst>
              <a:gd name="adj" fmla="val 12500"/>
            </a:avLst>
          </a:prstGeom>
          <a:solidFill>
            <a:srgbClr val="0E1726"/>
          </a:solidFill>
          <a:ln/>
          <a:effectLst>
            <a:outerShdw sx="100000" sy="100000" kx="0" ky="0" algn="bl" rotWithShape="0" blurRad="101600" dist="25400" dir="5400000">
              <a:srgbClr val="6E86AE">
                <a:alpha val="35000"/>
              </a:srgbClr>
            </a:outerShdw>
          </a:effectLst>
        </p:spPr>
      </p:sp>
      <p:sp>
        <p:nvSpPr>
          <p:cNvPr id="5" name="Text 3"/>
          <p:cNvSpPr txBox="1"/>
          <p:nvPr/>
        </p:nvSpPr>
        <p:spPr>
          <a:xfrm>
            <a:off x="822960" y="5074920"/>
            <a:ext cx="6035040" cy="731520"/>
          </a:xfrm>
          <a:prstGeom prst="rect">
            <a:avLst/>
          </a:prstGeom>
          <a:noFill/>
          <a:ln/>
        </p:spPr>
        <p:txBody>
          <a:bodyPr wrap="square" lIns="0" tIns="0" rIns="0" bIns="0" rtlCol="0" anchor="ctr">
            <a:normAutofit/>
          </a:bodyPr>
          <a:lstStyle/>
          <a:p>
            <a:pPr indent="0" marL="0">
              <a:buNone/>
            </a:pPr>
            <a:r>
              <a:rPr lang="en-US" sz="1800" b="1" dirty="0">
                <a:solidFill>
                  <a:srgbClr val="46D39A"/>
                </a:solidFill>
                <a:latin typeface="Courier New" pitchFamily="34" charset="0"/>
                <a:ea typeface="Courier New" pitchFamily="34" charset="-122"/>
                <a:cs typeface="Courier New" pitchFamily="34" charset="-120"/>
              </a:rPr>
              <a:t>$ </a:t>
            </a:r>
            <a:pPr indent="0" marL="0">
              <a:buNone/>
            </a:pPr>
            <a:r>
              <a:rPr lang="en-US" sz="1800" b="1" dirty="0">
                <a:solidFill>
                  <a:srgbClr val="FFFFFF"/>
                </a:solidFill>
                <a:latin typeface="Courier New" pitchFamily="34" charset="0"/>
                <a:ea typeface="Courier New" pitchFamily="34" charset="-122"/>
                <a:cs typeface="Courier New" pitchFamily="34" charset="-120"/>
              </a:rPr>
              <a:t>uname -s   # Linux</a:t>
            </a:r>
            <a:endParaRPr lang="en-US" sz="1800" dirty="0"/>
          </a:p>
        </p:txBody>
      </p:sp>
      <p:sp>
        <p:nvSpPr>
          <p:cNvPr id="7" name="Text 4"/>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5 / 79</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A brief history of Linux</a:t>
            </a:r>
            <a:endParaRPr lang="en-US" sz="3200" dirty="0"/>
          </a:p>
        </p:txBody>
      </p:sp>
      <p:sp>
        <p:nvSpPr>
          <p:cNvPr id="4" name="Shape 1"/>
          <p:cNvSpPr/>
          <p:nvPr/>
        </p:nvSpPr>
        <p:spPr>
          <a:xfrm>
            <a:off x="731520" y="2121408"/>
            <a:ext cx="10728655" cy="54864"/>
          </a:xfrm>
          <a:prstGeom prst="rect">
            <a:avLst/>
          </a:prstGeom>
          <a:solidFill>
            <a:srgbClr val="D6DEEA"/>
          </a:solidFill>
          <a:ln/>
        </p:spPr>
      </p:sp>
      <p:sp>
        <p:nvSpPr>
          <p:cNvPr id="5" name="Shape 2"/>
          <p:cNvSpPr/>
          <p:nvPr/>
        </p:nvSpPr>
        <p:spPr>
          <a:xfrm>
            <a:off x="676656" y="1828800"/>
            <a:ext cx="1463040" cy="640080"/>
          </a:xfrm>
          <a:prstGeom prst="roundRect">
            <a:avLst>
              <a:gd name="adj" fmla="val 17143"/>
            </a:avLst>
          </a:prstGeom>
          <a:solidFill>
            <a:srgbClr val="2A9FD6"/>
          </a:solidFill>
          <a:ln/>
        </p:spPr>
      </p:sp>
      <p:sp>
        <p:nvSpPr>
          <p:cNvPr id="6" name="Text 3"/>
          <p:cNvSpPr txBox="1"/>
          <p:nvPr/>
        </p:nvSpPr>
        <p:spPr>
          <a:xfrm>
            <a:off x="676656" y="1828800"/>
            <a:ext cx="146304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1969</a:t>
            </a:r>
            <a:endParaRPr lang="en-US" sz="2400" dirty="0"/>
          </a:p>
        </p:txBody>
      </p:sp>
      <p:sp>
        <p:nvSpPr>
          <p:cNvPr id="7" name="Shape 4"/>
          <p:cNvSpPr/>
          <p:nvPr/>
        </p:nvSpPr>
        <p:spPr>
          <a:xfrm>
            <a:off x="548640" y="2743200"/>
            <a:ext cx="1719072" cy="3017520"/>
          </a:xfrm>
          <a:prstGeom prst="roundRect">
            <a:avLst>
              <a:gd name="adj" fmla="val 5319"/>
            </a:avLst>
          </a:prstGeom>
          <a:solidFill>
            <a:srgbClr val="F1F5FB"/>
          </a:solidFill>
          <a:ln/>
        </p:spPr>
      </p:sp>
      <p:sp>
        <p:nvSpPr>
          <p:cNvPr id="8" name="Text 5"/>
          <p:cNvSpPr txBox="1"/>
          <p:nvPr/>
        </p:nvSpPr>
        <p:spPr>
          <a:xfrm>
            <a:off x="713232" y="2880360"/>
            <a:ext cx="1463040" cy="548640"/>
          </a:xfrm>
          <a:prstGeom prst="rect">
            <a:avLst/>
          </a:prstGeom>
          <a:noFill/>
          <a:ln/>
        </p:spPr>
        <p:txBody>
          <a:bodyPr wrap="square" lIns="0" tIns="0" rIns="0" bIns="0" rtlCol="0" anchor="t"/>
          <a:lstStyle/>
          <a:p>
            <a:pPr indent="0" marL="0">
              <a:buNone/>
            </a:pPr>
            <a:r>
              <a:rPr lang="en-US" sz="1800" b="1" dirty="0">
                <a:solidFill>
                  <a:srgbClr val="2A9FD6"/>
                </a:solidFill>
                <a:latin typeface="Arial" pitchFamily="34" charset="0"/>
                <a:ea typeface="Arial" pitchFamily="34" charset="-122"/>
                <a:cs typeface="Arial" pitchFamily="34" charset="-120"/>
              </a:rPr>
              <a:t>Unix is born</a:t>
            </a:r>
            <a:endParaRPr lang="en-US" sz="1800" dirty="0"/>
          </a:p>
        </p:txBody>
      </p:sp>
      <p:sp>
        <p:nvSpPr>
          <p:cNvPr id="9" name="Text 6"/>
          <p:cNvSpPr txBox="1"/>
          <p:nvPr/>
        </p:nvSpPr>
        <p:spPr>
          <a:xfrm>
            <a:off x="713232" y="3474720"/>
            <a:ext cx="1444752" cy="2103120"/>
          </a:xfrm>
          <a:prstGeom prst="rect">
            <a:avLst/>
          </a:prstGeom>
          <a:noFill/>
          <a:ln/>
        </p:spPr>
        <p:txBody>
          <a:bodyPr wrap="square" lIns="0" tIns="0" rIns="0" bIns="0" rtlCol="0" anchor="t"/>
          <a:lstStyle/>
          <a:p>
            <a:pPr indent="0" marL="0">
              <a:buNone/>
            </a:pPr>
            <a:r>
              <a:rPr lang="en-US" sz="1450" dirty="0">
                <a:solidFill>
                  <a:srgbClr val="56657E"/>
                </a:solidFill>
                <a:latin typeface="Calibri" pitchFamily="34" charset="0"/>
                <a:ea typeface="Calibri" pitchFamily="34" charset="-122"/>
                <a:cs typeface="Calibri" pitchFamily="34" charset="-120"/>
              </a:rPr>
              <a:t>Thompson and Ritchie build Unix at Bell Labs: small tools, files and a shell.</a:t>
            </a:r>
            <a:endParaRPr lang="en-US" sz="1450" dirty="0"/>
          </a:p>
        </p:txBody>
      </p:sp>
      <p:sp>
        <p:nvSpPr>
          <p:cNvPr id="10" name="Shape 7"/>
          <p:cNvSpPr/>
          <p:nvPr/>
        </p:nvSpPr>
        <p:spPr>
          <a:xfrm>
            <a:off x="2542032" y="1828800"/>
            <a:ext cx="1463040" cy="640080"/>
          </a:xfrm>
          <a:prstGeom prst="roundRect">
            <a:avLst>
              <a:gd name="adj" fmla="val 17143"/>
            </a:avLst>
          </a:prstGeom>
          <a:solidFill>
            <a:srgbClr val="2459D8"/>
          </a:solidFill>
          <a:ln/>
        </p:spPr>
      </p:sp>
      <p:sp>
        <p:nvSpPr>
          <p:cNvPr id="11" name="Text 8"/>
          <p:cNvSpPr txBox="1"/>
          <p:nvPr/>
        </p:nvSpPr>
        <p:spPr>
          <a:xfrm>
            <a:off x="2542032" y="1828800"/>
            <a:ext cx="146304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1983</a:t>
            </a:r>
            <a:endParaRPr lang="en-US" sz="2400" dirty="0"/>
          </a:p>
        </p:txBody>
      </p:sp>
      <p:sp>
        <p:nvSpPr>
          <p:cNvPr id="12" name="Shape 9"/>
          <p:cNvSpPr/>
          <p:nvPr/>
        </p:nvSpPr>
        <p:spPr>
          <a:xfrm>
            <a:off x="2414016" y="2743200"/>
            <a:ext cx="1719072" cy="3017520"/>
          </a:xfrm>
          <a:prstGeom prst="roundRect">
            <a:avLst>
              <a:gd name="adj" fmla="val 5319"/>
            </a:avLst>
          </a:prstGeom>
          <a:solidFill>
            <a:srgbClr val="F1F5FB"/>
          </a:solidFill>
          <a:ln/>
        </p:spPr>
      </p:sp>
      <p:sp>
        <p:nvSpPr>
          <p:cNvPr id="13" name="Text 10"/>
          <p:cNvSpPr txBox="1"/>
          <p:nvPr/>
        </p:nvSpPr>
        <p:spPr>
          <a:xfrm>
            <a:off x="2578608" y="2880360"/>
            <a:ext cx="1463040" cy="548640"/>
          </a:xfrm>
          <a:prstGeom prst="rect">
            <a:avLst/>
          </a:prstGeom>
          <a:noFill/>
          <a:ln/>
        </p:spPr>
        <p:txBody>
          <a:bodyPr wrap="square" lIns="0" tIns="0" rIns="0" bIns="0" rtlCol="0" anchor="t"/>
          <a:lstStyle/>
          <a:p>
            <a:pPr indent="0" marL="0">
              <a:buNone/>
            </a:pPr>
            <a:r>
              <a:rPr lang="en-US" sz="1800" b="1" dirty="0">
                <a:solidFill>
                  <a:srgbClr val="2459D8"/>
                </a:solidFill>
                <a:latin typeface="Arial" pitchFamily="34" charset="0"/>
                <a:ea typeface="Arial" pitchFamily="34" charset="-122"/>
                <a:cs typeface="Arial" pitchFamily="34" charset="-120"/>
              </a:rPr>
              <a:t>GNU begins</a:t>
            </a:r>
            <a:endParaRPr lang="en-US" sz="1800" dirty="0"/>
          </a:p>
        </p:txBody>
      </p:sp>
      <p:sp>
        <p:nvSpPr>
          <p:cNvPr id="14" name="Text 11"/>
          <p:cNvSpPr txBox="1"/>
          <p:nvPr/>
        </p:nvSpPr>
        <p:spPr>
          <a:xfrm>
            <a:off x="2578608" y="3474720"/>
            <a:ext cx="1444752" cy="2103120"/>
          </a:xfrm>
          <a:prstGeom prst="rect">
            <a:avLst/>
          </a:prstGeom>
          <a:noFill/>
          <a:ln/>
        </p:spPr>
        <p:txBody>
          <a:bodyPr wrap="square" lIns="0" tIns="0" rIns="0" bIns="0" rtlCol="0" anchor="t"/>
          <a:lstStyle/>
          <a:p>
            <a:pPr indent="0" marL="0">
              <a:buNone/>
            </a:pPr>
            <a:r>
              <a:rPr lang="en-US" sz="1450" dirty="0">
                <a:solidFill>
                  <a:srgbClr val="56657E"/>
                </a:solidFill>
                <a:latin typeface="Calibri" pitchFamily="34" charset="0"/>
                <a:ea typeface="Calibri" pitchFamily="34" charset="-122"/>
                <a:cs typeface="Calibri" pitchFamily="34" charset="-120"/>
              </a:rPr>
              <a:t>Stallman starts building a free, Unix-like system and its tools.</a:t>
            </a:r>
            <a:endParaRPr lang="en-US" sz="1450" dirty="0"/>
          </a:p>
        </p:txBody>
      </p:sp>
      <p:sp>
        <p:nvSpPr>
          <p:cNvPr id="15" name="Shape 12"/>
          <p:cNvSpPr/>
          <p:nvPr/>
        </p:nvSpPr>
        <p:spPr>
          <a:xfrm>
            <a:off x="4407408" y="1828800"/>
            <a:ext cx="1463040" cy="640080"/>
          </a:xfrm>
          <a:prstGeom prst="roundRect">
            <a:avLst>
              <a:gd name="adj" fmla="val 17143"/>
            </a:avLst>
          </a:prstGeom>
          <a:solidFill>
            <a:srgbClr val="17875A"/>
          </a:solidFill>
          <a:ln/>
        </p:spPr>
      </p:sp>
      <p:sp>
        <p:nvSpPr>
          <p:cNvPr id="16" name="Text 13"/>
          <p:cNvSpPr txBox="1"/>
          <p:nvPr/>
        </p:nvSpPr>
        <p:spPr>
          <a:xfrm>
            <a:off x="4407408" y="1828800"/>
            <a:ext cx="146304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1991</a:t>
            </a:r>
            <a:endParaRPr lang="en-US" sz="2400" dirty="0"/>
          </a:p>
        </p:txBody>
      </p:sp>
      <p:sp>
        <p:nvSpPr>
          <p:cNvPr id="17" name="Shape 14"/>
          <p:cNvSpPr/>
          <p:nvPr/>
        </p:nvSpPr>
        <p:spPr>
          <a:xfrm>
            <a:off x="4279392" y="2743200"/>
            <a:ext cx="1719072" cy="3017520"/>
          </a:xfrm>
          <a:prstGeom prst="roundRect">
            <a:avLst>
              <a:gd name="adj" fmla="val 5319"/>
            </a:avLst>
          </a:prstGeom>
          <a:solidFill>
            <a:srgbClr val="F1F5FB"/>
          </a:solidFill>
          <a:ln/>
        </p:spPr>
      </p:sp>
      <p:sp>
        <p:nvSpPr>
          <p:cNvPr id="18" name="Text 15"/>
          <p:cNvSpPr txBox="1"/>
          <p:nvPr/>
        </p:nvSpPr>
        <p:spPr>
          <a:xfrm>
            <a:off x="4443984" y="2880360"/>
            <a:ext cx="1463040" cy="548640"/>
          </a:xfrm>
          <a:prstGeom prst="rect">
            <a:avLst/>
          </a:prstGeom>
          <a:noFill/>
          <a:ln/>
        </p:spPr>
        <p:txBody>
          <a:bodyPr wrap="square" lIns="0" tIns="0" rIns="0" bIns="0" rtlCol="0" anchor="t"/>
          <a:lstStyle/>
          <a:p>
            <a:pPr indent="0" marL="0">
              <a:buNone/>
            </a:pPr>
            <a:r>
              <a:rPr lang="en-US" sz="1800" b="1" dirty="0">
                <a:solidFill>
                  <a:srgbClr val="17875A"/>
                </a:solidFill>
                <a:latin typeface="Arial" pitchFamily="34" charset="0"/>
                <a:ea typeface="Arial" pitchFamily="34" charset="-122"/>
                <a:cs typeface="Arial" pitchFamily="34" charset="-120"/>
              </a:rPr>
              <a:t>Linux</a:t>
            </a:r>
            <a:endParaRPr lang="en-US" sz="1800" dirty="0"/>
          </a:p>
        </p:txBody>
      </p:sp>
      <p:sp>
        <p:nvSpPr>
          <p:cNvPr id="19" name="Text 16"/>
          <p:cNvSpPr txBox="1"/>
          <p:nvPr/>
        </p:nvSpPr>
        <p:spPr>
          <a:xfrm>
            <a:off x="4443984" y="3474720"/>
            <a:ext cx="1444752" cy="2103120"/>
          </a:xfrm>
          <a:prstGeom prst="rect">
            <a:avLst/>
          </a:prstGeom>
          <a:noFill/>
          <a:ln/>
        </p:spPr>
        <p:txBody>
          <a:bodyPr wrap="square" lIns="0" tIns="0" rIns="0" bIns="0" rtlCol="0" anchor="t"/>
          <a:lstStyle/>
          <a:p>
            <a:pPr indent="0" marL="0">
              <a:buNone/>
            </a:pPr>
            <a:r>
              <a:rPr lang="en-US" sz="1450" dirty="0">
                <a:solidFill>
                  <a:srgbClr val="56657E"/>
                </a:solidFill>
                <a:latin typeface="Calibri" pitchFamily="34" charset="0"/>
                <a:ea typeface="Calibri" pitchFamily="34" charset="-122"/>
                <a:cs typeface="Calibri" pitchFamily="34" charset="-120"/>
              </a:rPr>
              <a:t>Linus Torvalds, a 21-year-old student, posts a 'hobby' kernel.</a:t>
            </a:r>
            <a:endParaRPr lang="en-US" sz="1450" dirty="0"/>
          </a:p>
        </p:txBody>
      </p:sp>
      <p:sp>
        <p:nvSpPr>
          <p:cNvPr id="20" name="Shape 17"/>
          <p:cNvSpPr/>
          <p:nvPr/>
        </p:nvSpPr>
        <p:spPr>
          <a:xfrm>
            <a:off x="6272784" y="1828800"/>
            <a:ext cx="1463040" cy="640080"/>
          </a:xfrm>
          <a:prstGeom prst="roundRect">
            <a:avLst>
              <a:gd name="adj" fmla="val 17143"/>
            </a:avLst>
          </a:prstGeom>
          <a:solidFill>
            <a:srgbClr val="7448D4"/>
          </a:solidFill>
          <a:ln/>
        </p:spPr>
      </p:sp>
      <p:sp>
        <p:nvSpPr>
          <p:cNvPr id="21" name="Text 18"/>
          <p:cNvSpPr txBox="1"/>
          <p:nvPr/>
        </p:nvSpPr>
        <p:spPr>
          <a:xfrm>
            <a:off x="6272784" y="1828800"/>
            <a:ext cx="146304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2008</a:t>
            </a:r>
            <a:endParaRPr lang="en-US" sz="2400" dirty="0"/>
          </a:p>
        </p:txBody>
      </p:sp>
      <p:sp>
        <p:nvSpPr>
          <p:cNvPr id="22" name="Shape 19"/>
          <p:cNvSpPr/>
          <p:nvPr/>
        </p:nvSpPr>
        <p:spPr>
          <a:xfrm>
            <a:off x="6144768" y="2743200"/>
            <a:ext cx="1719072" cy="3017520"/>
          </a:xfrm>
          <a:prstGeom prst="roundRect">
            <a:avLst>
              <a:gd name="adj" fmla="val 5319"/>
            </a:avLst>
          </a:prstGeom>
          <a:solidFill>
            <a:srgbClr val="F1F5FB"/>
          </a:solidFill>
          <a:ln/>
        </p:spPr>
      </p:sp>
      <p:sp>
        <p:nvSpPr>
          <p:cNvPr id="23" name="Text 20"/>
          <p:cNvSpPr txBox="1"/>
          <p:nvPr/>
        </p:nvSpPr>
        <p:spPr>
          <a:xfrm>
            <a:off x="6309360" y="2880360"/>
            <a:ext cx="1463040" cy="548640"/>
          </a:xfrm>
          <a:prstGeom prst="rect">
            <a:avLst/>
          </a:prstGeom>
          <a:noFill/>
          <a:ln/>
        </p:spPr>
        <p:txBody>
          <a:bodyPr wrap="square" lIns="0" tIns="0" rIns="0" bIns="0" rtlCol="0" anchor="t"/>
          <a:lstStyle/>
          <a:p>
            <a:pPr indent="0" marL="0">
              <a:buNone/>
            </a:pPr>
            <a:r>
              <a:rPr lang="en-US" sz="1800" b="1" dirty="0">
                <a:solidFill>
                  <a:srgbClr val="7448D4"/>
                </a:solidFill>
                <a:latin typeface="Arial" pitchFamily="34" charset="0"/>
                <a:ea typeface="Arial" pitchFamily="34" charset="-122"/>
                <a:cs typeface="Arial" pitchFamily="34" charset="-120"/>
              </a:rPr>
              <a:t>Android</a:t>
            </a:r>
            <a:endParaRPr lang="en-US" sz="1800" dirty="0"/>
          </a:p>
        </p:txBody>
      </p:sp>
      <p:sp>
        <p:nvSpPr>
          <p:cNvPr id="24" name="Text 21"/>
          <p:cNvSpPr txBox="1"/>
          <p:nvPr/>
        </p:nvSpPr>
        <p:spPr>
          <a:xfrm>
            <a:off x="6309360" y="3474720"/>
            <a:ext cx="1444752" cy="2103120"/>
          </a:xfrm>
          <a:prstGeom prst="rect">
            <a:avLst/>
          </a:prstGeom>
          <a:noFill/>
          <a:ln/>
        </p:spPr>
        <p:txBody>
          <a:bodyPr wrap="square" lIns="0" tIns="0" rIns="0" bIns="0" rtlCol="0" anchor="t"/>
          <a:lstStyle/>
          <a:p>
            <a:pPr indent="0" marL="0">
              <a:buNone/>
            </a:pPr>
            <a:r>
              <a:rPr lang="en-US" sz="1450" dirty="0">
                <a:solidFill>
                  <a:srgbClr val="56657E"/>
                </a:solidFill>
                <a:latin typeface="Calibri" pitchFamily="34" charset="0"/>
                <a:ea typeface="Calibri" pitchFamily="34" charset="-122"/>
                <a:cs typeface="Calibri" pitchFamily="34" charset="-120"/>
              </a:rPr>
              <a:t>The first Android phone ships, built on the Linux kernel.</a:t>
            </a:r>
            <a:endParaRPr lang="en-US" sz="1450" dirty="0"/>
          </a:p>
        </p:txBody>
      </p:sp>
      <p:sp>
        <p:nvSpPr>
          <p:cNvPr id="25" name="Shape 22"/>
          <p:cNvSpPr/>
          <p:nvPr/>
        </p:nvSpPr>
        <p:spPr>
          <a:xfrm>
            <a:off x="8138160" y="1828800"/>
            <a:ext cx="1463040" cy="640080"/>
          </a:xfrm>
          <a:prstGeom prst="roundRect">
            <a:avLst>
              <a:gd name="adj" fmla="val 17143"/>
            </a:avLst>
          </a:prstGeom>
          <a:solidFill>
            <a:srgbClr val="D1416B"/>
          </a:solidFill>
          <a:ln/>
        </p:spPr>
      </p:sp>
      <p:sp>
        <p:nvSpPr>
          <p:cNvPr id="26" name="Text 23"/>
          <p:cNvSpPr txBox="1"/>
          <p:nvPr/>
        </p:nvSpPr>
        <p:spPr>
          <a:xfrm>
            <a:off x="8138160" y="1828800"/>
            <a:ext cx="146304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2017</a:t>
            </a:r>
            <a:endParaRPr lang="en-US" sz="2400" dirty="0"/>
          </a:p>
        </p:txBody>
      </p:sp>
      <p:sp>
        <p:nvSpPr>
          <p:cNvPr id="27" name="Shape 24"/>
          <p:cNvSpPr/>
          <p:nvPr/>
        </p:nvSpPr>
        <p:spPr>
          <a:xfrm>
            <a:off x="8010144" y="2743200"/>
            <a:ext cx="1719072" cy="3017520"/>
          </a:xfrm>
          <a:prstGeom prst="roundRect">
            <a:avLst>
              <a:gd name="adj" fmla="val 5319"/>
            </a:avLst>
          </a:prstGeom>
          <a:solidFill>
            <a:srgbClr val="F1F5FB"/>
          </a:solidFill>
          <a:ln/>
        </p:spPr>
      </p:sp>
      <p:sp>
        <p:nvSpPr>
          <p:cNvPr id="28" name="Text 25"/>
          <p:cNvSpPr txBox="1"/>
          <p:nvPr/>
        </p:nvSpPr>
        <p:spPr>
          <a:xfrm>
            <a:off x="8174736" y="2880360"/>
            <a:ext cx="1463040" cy="548640"/>
          </a:xfrm>
          <a:prstGeom prst="rect">
            <a:avLst/>
          </a:prstGeom>
          <a:noFill/>
          <a:ln/>
        </p:spPr>
        <p:txBody>
          <a:bodyPr wrap="square" lIns="0" tIns="0" rIns="0" bIns="0" rtlCol="0" anchor="t"/>
          <a:lstStyle/>
          <a:p>
            <a:pPr indent="0" marL="0">
              <a:buNone/>
            </a:pPr>
            <a:r>
              <a:rPr lang="en-US" sz="1800" b="1" dirty="0">
                <a:solidFill>
                  <a:srgbClr val="D1416B"/>
                </a:solidFill>
                <a:latin typeface="Arial" pitchFamily="34" charset="0"/>
                <a:ea typeface="Arial" pitchFamily="34" charset="-122"/>
                <a:cs typeface="Arial" pitchFamily="34" charset="-120"/>
              </a:rPr>
              <a:t>500 / 500</a:t>
            </a:r>
            <a:endParaRPr lang="en-US" sz="1800" dirty="0"/>
          </a:p>
        </p:txBody>
      </p:sp>
      <p:sp>
        <p:nvSpPr>
          <p:cNvPr id="29" name="Text 26"/>
          <p:cNvSpPr txBox="1"/>
          <p:nvPr/>
        </p:nvSpPr>
        <p:spPr>
          <a:xfrm>
            <a:off x="8174736" y="3474720"/>
            <a:ext cx="1444752" cy="2103120"/>
          </a:xfrm>
          <a:prstGeom prst="rect">
            <a:avLst/>
          </a:prstGeom>
          <a:noFill/>
          <a:ln/>
        </p:spPr>
        <p:txBody>
          <a:bodyPr wrap="square" lIns="0" tIns="0" rIns="0" bIns="0" rtlCol="0" anchor="t"/>
          <a:lstStyle/>
          <a:p>
            <a:pPr indent="0" marL="0">
              <a:buNone/>
            </a:pPr>
            <a:r>
              <a:rPr lang="en-US" sz="1450" dirty="0">
                <a:solidFill>
                  <a:srgbClr val="56657E"/>
                </a:solidFill>
                <a:latin typeface="Calibri" pitchFamily="34" charset="0"/>
                <a:ea typeface="Calibri" pitchFamily="34" charset="-122"/>
                <a:cs typeface="Calibri" pitchFamily="34" charset="-120"/>
              </a:rPr>
              <a:t>Every one of the world's top 500 supercomputers runs Linux.</a:t>
            </a:r>
            <a:endParaRPr lang="en-US" sz="1450" dirty="0"/>
          </a:p>
        </p:txBody>
      </p:sp>
      <p:sp>
        <p:nvSpPr>
          <p:cNvPr id="30" name="Shape 27"/>
          <p:cNvSpPr/>
          <p:nvPr/>
        </p:nvSpPr>
        <p:spPr>
          <a:xfrm>
            <a:off x="10003536" y="1828800"/>
            <a:ext cx="1463040" cy="640080"/>
          </a:xfrm>
          <a:prstGeom prst="roundRect">
            <a:avLst>
              <a:gd name="adj" fmla="val 17143"/>
            </a:avLst>
          </a:prstGeom>
          <a:solidFill>
            <a:srgbClr val="E8820C"/>
          </a:solidFill>
          <a:ln/>
        </p:spPr>
      </p:sp>
      <p:sp>
        <p:nvSpPr>
          <p:cNvPr id="31" name="Text 28"/>
          <p:cNvSpPr txBox="1"/>
          <p:nvPr/>
        </p:nvSpPr>
        <p:spPr>
          <a:xfrm>
            <a:off x="10003536" y="1828800"/>
            <a:ext cx="146304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Today</a:t>
            </a:r>
            <a:endParaRPr lang="en-US" sz="2400" dirty="0"/>
          </a:p>
        </p:txBody>
      </p:sp>
      <p:sp>
        <p:nvSpPr>
          <p:cNvPr id="32" name="Shape 29"/>
          <p:cNvSpPr/>
          <p:nvPr/>
        </p:nvSpPr>
        <p:spPr>
          <a:xfrm>
            <a:off x="9875520" y="2743200"/>
            <a:ext cx="1719072" cy="3017520"/>
          </a:xfrm>
          <a:prstGeom prst="roundRect">
            <a:avLst>
              <a:gd name="adj" fmla="val 5319"/>
            </a:avLst>
          </a:prstGeom>
          <a:solidFill>
            <a:srgbClr val="F1F5FB"/>
          </a:solidFill>
          <a:ln/>
        </p:spPr>
      </p:sp>
      <p:sp>
        <p:nvSpPr>
          <p:cNvPr id="33" name="Text 30"/>
          <p:cNvSpPr txBox="1"/>
          <p:nvPr/>
        </p:nvSpPr>
        <p:spPr>
          <a:xfrm>
            <a:off x="10040112" y="2880360"/>
            <a:ext cx="1463040" cy="548640"/>
          </a:xfrm>
          <a:prstGeom prst="rect">
            <a:avLst/>
          </a:prstGeom>
          <a:noFill/>
          <a:ln/>
        </p:spPr>
        <p:txBody>
          <a:bodyPr wrap="square" lIns="0" tIns="0" rIns="0" bIns="0" rtlCol="0" anchor="t"/>
          <a:lstStyle/>
          <a:p>
            <a:pPr indent="0" marL="0">
              <a:buNone/>
            </a:pPr>
            <a:r>
              <a:rPr lang="en-US" sz="1800" b="1" dirty="0">
                <a:solidFill>
                  <a:srgbClr val="E8820C"/>
                </a:solidFill>
                <a:latin typeface="Arial" pitchFamily="34" charset="0"/>
                <a:ea typeface="Arial" pitchFamily="34" charset="-122"/>
                <a:cs typeface="Arial" pitchFamily="34" charset="-120"/>
              </a:rPr>
              <a:t>Everywhere</a:t>
            </a:r>
            <a:endParaRPr lang="en-US" sz="1800" dirty="0"/>
          </a:p>
        </p:txBody>
      </p:sp>
      <p:sp>
        <p:nvSpPr>
          <p:cNvPr id="34" name="Text 31"/>
          <p:cNvSpPr txBox="1"/>
          <p:nvPr/>
        </p:nvSpPr>
        <p:spPr>
          <a:xfrm>
            <a:off x="10040112" y="3474720"/>
            <a:ext cx="1444752" cy="2103120"/>
          </a:xfrm>
          <a:prstGeom prst="rect">
            <a:avLst/>
          </a:prstGeom>
          <a:noFill/>
          <a:ln/>
        </p:spPr>
        <p:txBody>
          <a:bodyPr wrap="square" lIns="0" tIns="0" rIns="0" bIns="0" rtlCol="0" anchor="t"/>
          <a:lstStyle/>
          <a:p>
            <a:pPr indent="0" marL="0">
              <a:buNone/>
            </a:pPr>
            <a:r>
              <a:rPr lang="en-US" sz="1450" dirty="0">
                <a:solidFill>
                  <a:srgbClr val="56657E"/>
                </a:solidFill>
                <a:latin typeface="Calibri" pitchFamily="34" charset="0"/>
                <a:ea typeface="Calibri" pitchFamily="34" charset="-122"/>
                <a:cs typeface="Calibri" pitchFamily="34" charset="-120"/>
              </a:rPr>
              <a:t>Phones, servers, the cloud, TVs, cars and game consoles.</a:t>
            </a:r>
            <a:endParaRPr lang="en-US" sz="1450" dirty="0"/>
          </a:p>
        </p:txBody>
      </p:sp>
      <p:sp>
        <p:nvSpPr>
          <p:cNvPr id="35" name="Text 32"/>
          <p:cNvSpPr txBox="1"/>
          <p:nvPr/>
        </p:nvSpPr>
        <p:spPr>
          <a:xfrm>
            <a:off x="548640" y="5897880"/>
            <a:ext cx="11094415" cy="365760"/>
          </a:xfrm>
          <a:prstGeom prst="rect">
            <a:avLst/>
          </a:prstGeom>
          <a:noFill/>
          <a:ln/>
        </p:spPr>
        <p:txBody>
          <a:bodyPr wrap="square" lIns="0" tIns="0" rIns="0" bIns="0" rtlCol="0" anchor="t"/>
          <a:lstStyle/>
          <a:p>
            <a:pPr indent="0" marL="0">
              <a:buNone/>
            </a:pPr>
            <a:r>
              <a:rPr lang="en-US" sz="1400" b="1" dirty="0">
                <a:solidFill>
                  <a:srgbClr val="12213A"/>
                </a:solidFill>
                <a:latin typeface="Calibri" pitchFamily="34" charset="0"/>
                <a:ea typeface="Calibri" pitchFamily="34" charset="-122"/>
                <a:cs typeface="Calibri" pitchFamily="34" charset="-120"/>
              </a:rPr>
              <a:t>Linux </a:t>
            </a:r>
            <a:pPr indent="0" marL="0">
              <a:buNone/>
            </a:pPr>
            <a:r>
              <a:rPr lang="en-US" sz="1400" dirty="0">
                <a:solidFill>
                  <a:srgbClr val="12213A"/>
                </a:solidFill>
                <a:latin typeface="Calibri" pitchFamily="34" charset="0"/>
                <a:ea typeface="Calibri" pitchFamily="34" charset="-122"/>
                <a:cs typeface="Calibri" pitchFamily="34" charset="-120"/>
              </a:rPr>
              <a:t>is the kernel, the core. A </a:t>
            </a:r>
            <a:pPr indent="0" marL="0">
              <a:buNone/>
            </a:pPr>
            <a:r>
              <a:rPr lang="en-US" sz="1400" b="1" dirty="0">
                <a:solidFill>
                  <a:srgbClr val="12213A"/>
                </a:solidFill>
                <a:latin typeface="Calibri" pitchFamily="34" charset="0"/>
                <a:ea typeface="Calibri" pitchFamily="34" charset="-122"/>
                <a:cs typeface="Calibri" pitchFamily="34" charset="-120"/>
              </a:rPr>
              <a:t>distribution </a:t>
            </a:r>
            <a:pPr indent="0" marL="0">
              <a:buNone/>
            </a:pPr>
            <a:r>
              <a:rPr lang="en-US" sz="1400" dirty="0">
                <a:solidFill>
                  <a:srgbClr val="12213A"/>
                </a:solidFill>
                <a:latin typeface="Calibri" pitchFamily="34" charset="0"/>
                <a:ea typeface="Calibri" pitchFamily="34" charset="-122"/>
                <a:cs typeface="Calibri" pitchFamily="34" charset="-120"/>
              </a:rPr>
              <a:t>(Ubuntu, Debian, Kali) is Linux plus tools, ready to use.</a:t>
            </a:r>
            <a:endParaRPr lang="en-US" sz="1400" dirty="0"/>
          </a:p>
        </p:txBody>
      </p:sp>
      <p:sp>
        <p:nvSpPr>
          <p:cNvPr id="36" name="Text 33"/>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6 / 79</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Why developers and security pros live in Linux</a:t>
            </a:r>
            <a:endParaRPr lang="en-US" sz="3200" dirty="0"/>
          </a:p>
        </p:txBody>
      </p:sp>
      <p:sp>
        <p:nvSpPr>
          <p:cNvPr id="4" name="Shape 1"/>
          <p:cNvSpPr/>
          <p:nvPr/>
        </p:nvSpPr>
        <p:spPr>
          <a:xfrm>
            <a:off x="548640" y="1554480"/>
            <a:ext cx="3931920" cy="2011680"/>
          </a:xfrm>
          <a:prstGeom prst="roundRect">
            <a:avLst>
              <a:gd name="adj" fmla="val 4545"/>
            </a:avLst>
          </a:prstGeom>
          <a:solidFill>
            <a:srgbClr val="0E1726"/>
          </a:solidFill>
          <a:ln/>
        </p:spPr>
      </p:sp>
      <p:sp>
        <p:nvSpPr>
          <p:cNvPr id="5" name="Text 2"/>
          <p:cNvSpPr txBox="1"/>
          <p:nvPr/>
        </p:nvSpPr>
        <p:spPr>
          <a:xfrm>
            <a:off x="868680" y="1691640"/>
            <a:ext cx="3291840" cy="822960"/>
          </a:xfrm>
          <a:prstGeom prst="rect">
            <a:avLst/>
          </a:prstGeom>
          <a:noFill/>
          <a:ln/>
        </p:spPr>
        <p:txBody>
          <a:bodyPr wrap="square" lIns="0" tIns="0" rIns="0" bIns="0" rtlCol="0" anchor="ctr"/>
          <a:lstStyle/>
          <a:p>
            <a:pPr indent="0" marL="0">
              <a:buNone/>
            </a:pPr>
            <a:r>
              <a:rPr lang="en-US" sz="4400" b="1" dirty="0">
                <a:solidFill>
                  <a:srgbClr val="46D39A"/>
                </a:solidFill>
                <a:latin typeface="Arial" pitchFamily="34" charset="0"/>
                <a:ea typeface="Arial" pitchFamily="34" charset="-122"/>
                <a:cs typeface="Arial" pitchFamily="34" charset="-120"/>
              </a:rPr>
              <a:t>500 / 500</a:t>
            </a:r>
            <a:endParaRPr lang="en-US" sz="4400" dirty="0"/>
          </a:p>
        </p:txBody>
      </p:sp>
      <p:sp>
        <p:nvSpPr>
          <p:cNvPr id="6" name="Text 3"/>
          <p:cNvSpPr txBox="1"/>
          <p:nvPr/>
        </p:nvSpPr>
        <p:spPr>
          <a:xfrm>
            <a:off x="868680" y="2560320"/>
            <a:ext cx="3291840" cy="82296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of the world's fastest supercomputers run Linux (TOP500, since 2017).</a:t>
            </a:r>
            <a:endParaRPr lang="en-US" sz="1500" dirty="0"/>
          </a:p>
        </p:txBody>
      </p:sp>
      <p:sp>
        <p:nvSpPr>
          <p:cNvPr id="7" name="Shape 4"/>
          <p:cNvSpPr/>
          <p:nvPr/>
        </p:nvSpPr>
        <p:spPr>
          <a:xfrm>
            <a:off x="548640" y="3749040"/>
            <a:ext cx="3931920" cy="2011680"/>
          </a:xfrm>
          <a:prstGeom prst="roundRect">
            <a:avLst>
              <a:gd name="adj" fmla="val 4545"/>
            </a:avLst>
          </a:prstGeom>
          <a:solidFill>
            <a:srgbClr val="0E1726"/>
          </a:solidFill>
          <a:ln/>
        </p:spPr>
      </p:sp>
      <p:sp>
        <p:nvSpPr>
          <p:cNvPr id="8" name="Text 5"/>
          <p:cNvSpPr txBox="1"/>
          <p:nvPr/>
        </p:nvSpPr>
        <p:spPr>
          <a:xfrm>
            <a:off x="868680" y="3886200"/>
            <a:ext cx="3291840" cy="822960"/>
          </a:xfrm>
          <a:prstGeom prst="rect">
            <a:avLst/>
          </a:prstGeom>
          <a:noFill/>
          <a:ln/>
        </p:spPr>
        <p:txBody>
          <a:bodyPr wrap="square" lIns="0" tIns="0" rIns="0" bIns="0" rtlCol="0" anchor="ctr"/>
          <a:lstStyle/>
          <a:p>
            <a:pPr indent="0" marL="0">
              <a:buNone/>
            </a:pPr>
            <a:r>
              <a:rPr lang="en-US" sz="4400" b="1" dirty="0">
                <a:solidFill>
                  <a:srgbClr val="F5A623"/>
                </a:solidFill>
                <a:latin typeface="Arial" pitchFamily="34" charset="0"/>
                <a:ea typeface="Arial" pitchFamily="34" charset="-122"/>
                <a:cs typeface="Arial" pitchFamily="34" charset="-120"/>
              </a:rPr>
              <a:t>28%</a:t>
            </a:r>
            <a:endParaRPr lang="en-US" sz="4400" dirty="0"/>
          </a:p>
        </p:txBody>
      </p:sp>
      <p:sp>
        <p:nvSpPr>
          <p:cNvPr id="9" name="Text 6"/>
          <p:cNvSpPr txBox="1"/>
          <p:nvPr/>
        </p:nvSpPr>
        <p:spPr>
          <a:xfrm>
            <a:off x="868680" y="4754880"/>
            <a:ext cx="3291840" cy="82296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of developers use Ubuntu, just one Linux, for personal work (Stack Overflow 2025 survey).</a:t>
            </a:r>
            <a:endParaRPr lang="en-US" sz="1500" dirty="0"/>
          </a:p>
        </p:txBody>
      </p:sp>
      <p:sp>
        <p:nvSpPr>
          <p:cNvPr id="10" name="Shape 7"/>
          <p:cNvSpPr/>
          <p:nvPr/>
        </p:nvSpPr>
        <p:spPr>
          <a:xfrm>
            <a:off x="5029200" y="1600200"/>
            <a:ext cx="822960" cy="822960"/>
          </a:xfrm>
          <a:prstGeom prst="ellipse">
            <a:avLst/>
          </a:prstGeom>
          <a:solidFill>
            <a:srgbClr val="2459D8"/>
          </a:solidFill>
          <a:ln/>
        </p:spPr>
      </p:sp>
      <p:pic>
        <p:nvPicPr>
          <p:cNvPr id="11" name="Image 0" descr="preencoded.png">    </p:cNvPr>
          <p:cNvPicPr>
            <a:picLocks noChangeAspect="1"/>
          </p:cNvPicPr>
          <p:nvPr/>
        </p:nvPicPr>
        <p:blipFill>
          <a:blip r:embed="rId1"/>
          <a:stretch>
            <a:fillRect/>
          </a:stretch>
        </p:blipFill>
        <p:spPr>
          <a:xfrm>
            <a:off x="5234940" y="1805940"/>
            <a:ext cx="411480" cy="411480"/>
          </a:xfrm>
          <a:prstGeom prst="rect">
            <a:avLst/>
          </a:prstGeom>
        </p:spPr>
      </p:pic>
      <p:sp>
        <p:nvSpPr>
          <p:cNvPr id="12" name="Text 8"/>
          <p:cNvSpPr txBox="1"/>
          <p:nvPr/>
        </p:nvSpPr>
        <p:spPr>
          <a:xfrm>
            <a:off x="6126480" y="1581912"/>
            <a:ext cx="5486400" cy="411480"/>
          </a:xfrm>
          <a:prstGeom prst="rect">
            <a:avLst/>
          </a:prstGeom>
          <a:noFill/>
          <a:ln/>
        </p:spPr>
        <p:txBody>
          <a:bodyPr wrap="square" lIns="0" tIns="0" rIns="0" bIns="0" rtlCol="0" anchor="t"/>
          <a:lstStyle/>
          <a:p>
            <a:pPr indent="0" marL="0">
              <a:buNone/>
            </a:pPr>
            <a:r>
              <a:rPr lang="en-US" sz="2200" b="1" dirty="0">
                <a:solidFill>
                  <a:srgbClr val="12213A"/>
                </a:solidFill>
                <a:latin typeface="Calibri" pitchFamily="34" charset="0"/>
                <a:ea typeface="Calibri" pitchFamily="34" charset="-122"/>
                <a:cs typeface="Calibri" pitchFamily="34" charset="-120"/>
              </a:rPr>
              <a:t>Developers</a:t>
            </a:r>
            <a:endParaRPr lang="en-US" sz="2200" dirty="0"/>
          </a:p>
        </p:txBody>
      </p:sp>
      <p:sp>
        <p:nvSpPr>
          <p:cNvPr id="13" name="Text 9"/>
          <p:cNvSpPr txBox="1"/>
          <p:nvPr/>
        </p:nvSpPr>
        <p:spPr>
          <a:xfrm>
            <a:off x="6126480" y="2011680"/>
            <a:ext cx="5394960" cy="77724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Servers, the cloud and containers run Linux, so code is built, tested and shipped there. Git was written for the Linux kernel.</a:t>
            </a:r>
            <a:endParaRPr lang="en-US" sz="1600" dirty="0"/>
          </a:p>
        </p:txBody>
      </p:sp>
      <p:sp>
        <p:nvSpPr>
          <p:cNvPr id="14" name="Shape 10"/>
          <p:cNvSpPr/>
          <p:nvPr/>
        </p:nvSpPr>
        <p:spPr>
          <a:xfrm>
            <a:off x="5029200" y="3017520"/>
            <a:ext cx="822960" cy="822960"/>
          </a:xfrm>
          <a:prstGeom prst="ellipse">
            <a:avLst/>
          </a:prstGeom>
          <a:solidFill>
            <a:srgbClr val="D1416B"/>
          </a:solidFill>
          <a:ln/>
        </p:spPr>
      </p:sp>
      <p:pic>
        <p:nvPicPr>
          <p:cNvPr id="15" name="Image 1" descr="preencoded.png">    </p:cNvPr>
          <p:cNvPicPr>
            <a:picLocks noChangeAspect="1"/>
          </p:cNvPicPr>
          <p:nvPr/>
        </p:nvPicPr>
        <p:blipFill>
          <a:blip r:embed="rId2"/>
          <a:stretch>
            <a:fillRect/>
          </a:stretch>
        </p:blipFill>
        <p:spPr>
          <a:xfrm>
            <a:off x="5234940" y="3223260"/>
            <a:ext cx="411480" cy="411480"/>
          </a:xfrm>
          <a:prstGeom prst="rect">
            <a:avLst/>
          </a:prstGeom>
        </p:spPr>
      </p:pic>
      <p:sp>
        <p:nvSpPr>
          <p:cNvPr id="16" name="Text 11"/>
          <p:cNvSpPr txBox="1"/>
          <p:nvPr/>
        </p:nvSpPr>
        <p:spPr>
          <a:xfrm>
            <a:off x="6126480" y="2999232"/>
            <a:ext cx="5486400" cy="411480"/>
          </a:xfrm>
          <a:prstGeom prst="rect">
            <a:avLst/>
          </a:prstGeom>
          <a:noFill/>
          <a:ln/>
        </p:spPr>
        <p:txBody>
          <a:bodyPr wrap="square" lIns="0" tIns="0" rIns="0" bIns="0" rtlCol="0" anchor="t"/>
          <a:lstStyle/>
          <a:p>
            <a:pPr indent="0" marL="0">
              <a:buNone/>
            </a:pPr>
            <a:r>
              <a:rPr lang="en-US" sz="2200" b="1" dirty="0">
                <a:solidFill>
                  <a:srgbClr val="12213A"/>
                </a:solidFill>
                <a:latin typeface="Calibri" pitchFamily="34" charset="0"/>
                <a:ea typeface="Calibri" pitchFamily="34" charset="-122"/>
                <a:cs typeface="Calibri" pitchFamily="34" charset="-120"/>
              </a:rPr>
              <a:t>Security analysts</a:t>
            </a:r>
            <a:endParaRPr lang="en-US" sz="2200" dirty="0"/>
          </a:p>
        </p:txBody>
      </p:sp>
      <p:sp>
        <p:nvSpPr>
          <p:cNvPr id="17" name="Text 12"/>
          <p:cNvSpPr txBox="1"/>
          <p:nvPr/>
        </p:nvSpPr>
        <p:spPr>
          <a:xfrm>
            <a:off x="6126480" y="3429000"/>
            <a:ext cx="5394960" cy="77724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Logs, servers and investigations live on Linux. Most security tools are made for it first.</a:t>
            </a:r>
            <a:endParaRPr lang="en-US" sz="1600" dirty="0"/>
          </a:p>
        </p:txBody>
      </p:sp>
      <p:sp>
        <p:nvSpPr>
          <p:cNvPr id="18" name="Shape 13"/>
          <p:cNvSpPr/>
          <p:nvPr/>
        </p:nvSpPr>
        <p:spPr>
          <a:xfrm>
            <a:off x="5029200" y="4434840"/>
            <a:ext cx="822960" cy="822960"/>
          </a:xfrm>
          <a:prstGeom prst="ellipse">
            <a:avLst/>
          </a:prstGeom>
          <a:solidFill>
            <a:srgbClr val="7448D4"/>
          </a:solidFill>
          <a:ln/>
        </p:spPr>
      </p:sp>
      <p:pic>
        <p:nvPicPr>
          <p:cNvPr id="19" name="Image 2" descr="preencoded.png">    </p:cNvPr>
          <p:cNvPicPr>
            <a:picLocks noChangeAspect="1"/>
          </p:cNvPicPr>
          <p:nvPr/>
        </p:nvPicPr>
        <p:blipFill>
          <a:blip r:embed="rId3"/>
          <a:stretch>
            <a:fillRect/>
          </a:stretch>
        </p:blipFill>
        <p:spPr>
          <a:xfrm>
            <a:off x="5234940" y="4640580"/>
            <a:ext cx="411480" cy="411480"/>
          </a:xfrm>
          <a:prstGeom prst="rect">
            <a:avLst/>
          </a:prstGeom>
        </p:spPr>
      </p:pic>
      <p:sp>
        <p:nvSpPr>
          <p:cNvPr id="20" name="Text 14"/>
          <p:cNvSpPr txBox="1"/>
          <p:nvPr/>
        </p:nvSpPr>
        <p:spPr>
          <a:xfrm>
            <a:off x="6126480" y="4416552"/>
            <a:ext cx="5486400" cy="411480"/>
          </a:xfrm>
          <a:prstGeom prst="rect">
            <a:avLst/>
          </a:prstGeom>
          <a:noFill/>
          <a:ln/>
        </p:spPr>
        <p:txBody>
          <a:bodyPr wrap="square" lIns="0" tIns="0" rIns="0" bIns="0" rtlCol="0" anchor="t"/>
          <a:lstStyle/>
          <a:p>
            <a:pPr indent="0" marL="0">
              <a:buNone/>
            </a:pPr>
            <a:r>
              <a:rPr lang="en-US" sz="2200" b="1" dirty="0">
                <a:solidFill>
                  <a:srgbClr val="12213A"/>
                </a:solidFill>
                <a:latin typeface="Calibri" pitchFamily="34" charset="0"/>
                <a:ea typeface="Calibri" pitchFamily="34" charset="-122"/>
                <a:cs typeface="Calibri" pitchFamily="34" charset="-120"/>
              </a:rPr>
              <a:t>Ethical hackers</a:t>
            </a:r>
            <a:endParaRPr lang="en-US" sz="2200" dirty="0"/>
          </a:p>
        </p:txBody>
      </p:sp>
      <p:sp>
        <p:nvSpPr>
          <p:cNvPr id="21" name="Text 15"/>
          <p:cNvSpPr txBox="1"/>
          <p:nvPr/>
        </p:nvSpPr>
        <p:spPr>
          <a:xfrm>
            <a:off x="6126480" y="4846320"/>
            <a:ext cx="5394960" cy="77724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Kali Linux ships with hundreds of testing tools. CTFs like today's are played on Linux.</a:t>
            </a:r>
            <a:endParaRPr lang="en-US" sz="1600" dirty="0"/>
          </a:p>
        </p:txBody>
      </p:sp>
      <p:sp>
        <p:nvSpPr>
          <p:cNvPr id="22" name="Text 16"/>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7 / 79</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It's in your pocket</a:t>
            </a:r>
            <a:endParaRPr lang="en-US" sz="3200" dirty="0"/>
          </a:p>
        </p:txBody>
      </p:sp>
      <p:sp>
        <p:nvSpPr>
          <p:cNvPr id="4" name="Shape 1"/>
          <p:cNvSpPr/>
          <p:nvPr/>
        </p:nvSpPr>
        <p:spPr>
          <a:xfrm>
            <a:off x="548640" y="1554480"/>
            <a:ext cx="3931920" cy="4206240"/>
          </a:xfrm>
          <a:prstGeom prst="roundRect">
            <a:avLst>
              <a:gd name="adj" fmla="val 2326"/>
            </a:avLst>
          </a:prstGeom>
          <a:solidFill>
            <a:srgbClr val="0E1726"/>
          </a:solidFill>
          <a:ln/>
        </p:spPr>
      </p:sp>
      <p:sp>
        <p:nvSpPr>
          <p:cNvPr id="5" name="Text 2"/>
          <p:cNvSpPr txBox="1"/>
          <p:nvPr/>
        </p:nvSpPr>
        <p:spPr>
          <a:xfrm>
            <a:off x="868680" y="1828800"/>
            <a:ext cx="3291840" cy="1188720"/>
          </a:xfrm>
          <a:prstGeom prst="rect">
            <a:avLst/>
          </a:prstGeom>
          <a:noFill/>
          <a:ln/>
        </p:spPr>
        <p:txBody>
          <a:bodyPr wrap="square" lIns="0" tIns="0" rIns="0" bIns="0" rtlCol="0" anchor="ctr"/>
          <a:lstStyle/>
          <a:p>
            <a:pPr indent="0" marL="0">
              <a:buNone/>
            </a:pPr>
            <a:r>
              <a:rPr lang="en-US" sz="7200" b="1" dirty="0">
                <a:solidFill>
                  <a:srgbClr val="46D39A"/>
                </a:solidFill>
                <a:latin typeface="Arial" pitchFamily="34" charset="0"/>
                <a:ea typeface="Arial" pitchFamily="34" charset="-122"/>
                <a:cs typeface="Arial" pitchFamily="34" charset="-120"/>
              </a:rPr>
              <a:t>69%</a:t>
            </a:r>
            <a:endParaRPr lang="en-US" sz="7200" dirty="0"/>
          </a:p>
        </p:txBody>
      </p:sp>
      <p:sp>
        <p:nvSpPr>
          <p:cNvPr id="6" name="Text 3"/>
          <p:cNvSpPr txBox="1"/>
          <p:nvPr/>
        </p:nvSpPr>
        <p:spPr>
          <a:xfrm>
            <a:off x="868680" y="3108960"/>
            <a:ext cx="3291840" cy="10972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of the world's phones run Android, which is built on the Linux kernel.</a:t>
            </a:r>
            <a:endParaRPr lang="en-US" sz="2000" dirty="0"/>
          </a:p>
        </p:txBody>
      </p:sp>
      <p:sp>
        <p:nvSpPr>
          <p:cNvPr id="7" name="Text 4"/>
          <p:cNvSpPr txBox="1"/>
          <p:nvPr/>
        </p:nvSpPr>
        <p:spPr>
          <a:xfrm>
            <a:off x="868680" y="5120640"/>
            <a:ext cx="3291840" cy="457200"/>
          </a:xfrm>
          <a:prstGeom prst="rect">
            <a:avLst/>
          </a:prstGeom>
          <a:noFill/>
          <a:ln/>
        </p:spPr>
        <p:txBody>
          <a:bodyPr wrap="square" lIns="0" tIns="0" rIns="0" bIns="0" rtlCol="0" anchor="t"/>
          <a:lstStyle/>
          <a:p>
            <a:pPr indent="0" marL="0">
              <a:buNone/>
            </a:pPr>
            <a:r>
              <a:rPr lang="en-US" sz="1200" dirty="0">
                <a:solidFill>
                  <a:srgbClr val="7F8FAD"/>
                </a:solidFill>
                <a:latin typeface="Calibri" pitchFamily="34" charset="0"/>
                <a:ea typeface="Calibri" pitchFamily="34" charset="-122"/>
                <a:cs typeface="Calibri" pitchFamily="34" charset="-120"/>
              </a:rPr>
              <a:t>StatCounter, worldwide mobile OS share, September 2026</a:t>
            </a:r>
            <a:endParaRPr lang="en-US" sz="1200" dirty="0"/>
          </a:p>
        </p:txBody>
      </p:sp>
      <p:sp>
        <p:nvSpPr>
          <p:cNvPr id="8" name="Shape 5"/>
          <p:cNvSpPr/>
          <p:nvPr/>
        </p:nvSpPr>
        <p:spPr>
          <a:xfrm>
            <a:off x="4846320" y="1600200"/>
            <a:ext cx="1600200" cy="1645920"/>
          </a:xfrm>
          <a:prstGeom prst="roundRect">
            <a:avLst>
              <a:gd name="adj" fmla="val 5714"/>
            </a:avLst>
          </a:prstGeom>
          <a:solidFill>
            <a:srgbClr val="F1F5FB"/>
          </a:solidFill>
          <a:ln/>
        </p:spPr>
      </p:sp>
      <p:sp>
        <p:nvSpPr>
          <p:cNvPr id="9" name="Shape 6"/>
          <p:cNvSpPr/>
          <p:nvPr/>
        </p:nvSpPr>
        <p:spPr>
          <a:xfrm>
            <a:off x="5276088" y="1801368"/>
            <a:ext cx="731520" cy="731520"/>
          </a:xfrm>
          <a:prstGeom prst="ellipse">
            <a:avLst/>
          </a:prstGeom>
          <a:solidFill>
            <a:srgbClr val="7448D4"/>
          </a:solidFill>
          <a:ln/>
        </p:spPr>
      </p:sp>
      <p:pic>
        <p:nvPicPr>
          <p:cNvPr id="10" name="Image 0" descr="preencoded.png">    </p:cNvPr>
          <p:cNvPicPr>
            <a:picLocks noChangeAspect="1"/>
          </p:cNvPicPr>
          <p:nvPr/>
        </p:nvPicPr>
        <p:blipFill>
          <a:blip r:embed="rId1"/>
          <a:stretch>
            <a:fillRect/>
          </a:stretch>
        </p:blipFill>
        <p:spPr>
          <a:xfrm>
            <a:off x="5458968" y="1984248"/>
            <a:ext cx="365760" cy="365760"/>
          </a:xfrm>
          <a:prstGeom prst="rect">
            <a:avLst/>
          </a:prstGeom>
        </p:spPr>
      </p:pic>
      <p:sp>
        <p:nvSpPr>
          <p:cNvPr id="11" name="Text 7"/>
          <p:cNvSpPr txBox="1"/>
          <p:nvPr/>
        </p:nvSpPr>
        <p:spPr>
          <a:xfrm>
            <a:off x="4892040" y="2651760"/>
            <a:ext cx="1508760" cy="457200"/>
          </a:xfrm>
          <a:prstGeom prst="rect">
            <a:avLst/>
          </a:prstGeom>
          <a:noFill/>
          <a:ln/>
        </p:spPr>
        <p:txBody>
          <a:bodyPr wrap="square" lIns="0" tIns="0" rIns="0" bIns="0" rtlCol="0" anchor="t"/>
          <a:lstStyle/>
          <a:p>
            <a:pPr algn="ctr" indent="0" marL="0">
              <a:buNone/>
            </a:pPr>
            <a:r>
              <a:rPr lang="en-US" sz="1400" b="1" dirty="0">
                <a:solidFill>
                  <a:srgbClr val="12213A"/>
                </a:solidFill>
                <a:latin typeface="Calibri" pitchFamily="34" charset="0"/>
                <a:ea typeface="Calibri" pitchFamily="34" charset="-122"/>
                <a:cs typeface="Calibri" pitchFamily="34" charset="-120"/>
              </a:rPr>
              <a:t>Android phones</a:t>
            </a:r>
            <a:endParaRPr lang="en-US" sz="1400" dirty="0"/>
          </a:p>
        </p:txBody>
      </p:sp>
      <p:sp>
        <p:nvSpPr>
          <p:cNvPr id="12" name="Shape 8"/>
          <p:cNvSpPr/>
          <p:nvPr/>
        </p:nvSpPr>
        <p:spPr>
          <a:xfrm>
            <a:off x="6583680" y="1600200"/>
            <a:ext cx="1600200" cy="1645920"/>
          </a:xfrm>
          <a:prstGeom prst="roundRect">
            <a:avLst>
              <a:gd name="adj" fmla="val 5714"/>
            </a:avLst>
          </a:prstGeom>
          <a:solidFill>
            <a:srgbClr val="F1F5FB"/>
          </a:solidFill>
          <a:ln/>
        </p:spPr>
      </p:sp>
      <p:sp>
        <p:nvSpPr>
          <p:cNvPr id="13" name="Shape 9"/>
          <p:cNvSpPr/>
          <p:nvPr/>
        </p:nvSpPr>
        <p:spPr>
          <a:xfrm>
            <a:off x="7013448" y="1801368"/>
            <a:ext cx="731520" cy="731520"/>
          </a:xfrm>
          <a:prstGeom prst="ellipse">
            <a:avLst/>
          </a:prstGeom>
          <a:solidFill>
            <a:srgbClr val="2459D8"/>
          </a:solidFill>
          <a:ln/>
        </p:spPr>
      </p:sp>
      <p:pic>
        <p:nvPicPr>
          <p:cNvPr id="14" name="Image 1" descr="preencoded.png">    </p:cNvPr>
          <p:cNvPicPr>
            <a:picLocks noChangeAspect="1"/>
          </p:cNvPicPr>
          <p:nvPr/>
        </p:nvPicPr>
        <p:blipFill>
          <a:blip r:embed="rId2"/>
          <a:stretch>
            <a:fillRect/>
          </a:stretch>
        </p:blipFill>
        <p:spPr>
          <a:xfrm>
            <a:off x="7196328" y="1984248"/>
            <a:ext cx="365760" cy="365760"/>
          </a:xfrm>
          <a:prstGeom prst="rect">
            <a:avLst/>
          </a:prstGeom>
        </p:spPr>
      </p:pic>
      <p:sp>
        <p:nvSpPr>
          <p:cNvPr id="15" name="Text 10"/>
          <p:cNvSpPr txBox="1"/>
          <p:nvPr/>
        </p:nvSpPr>
        <p:spPr>
          <a:xfrm>
            <a:off x="6629400" y="2651760"/>
            <a:ext cx="1508760" cy="457200"/>
          </a:xfrm>
          <a:prstGeom prst="rect">
            <a:avLst/>
          </a:prstGeom>
          <a:noFill/>
          <a:ln/>
        </p:spPr>
        <p:txBody>
          <a:bodyPr wrap="square" lIns="0" tIns="0" rIns="0" bIns="0" rtlCol="0" anchor="t"/>
          <a:lstStyle/>
          <a:p>
            <a:pPr algn="ctr" indent="0" marL="0">
              <a:buNone/>
            </a:pPr>
            <a:r>
              <a:rPr lang="en-US" sz="1400" b="1" dirty="0">
                <a:solidFill>
                  <a:srgbClr val="12213A"/>
                </a:solidFill>
                <a:latin typeface="Calibri" pitchFamily="34" charset="0"/>
                <a:ea typeface="Calibri" pitchFamily="34" charset="-122"/>
                <a:cs typeface="Calibri" pitchFamily="34" charset="-120"/>
              </a:rPr>
              <a:t>Chromebooks</a:t>
            </a:r>
            <a:endParaRPr lang="en-US" sz="1400" dirty="0"/>
          </a:p>
        </p:txBody>
      </p:sp>
      <p:sp>
        <p:nvSpPr>
          <p:cNvPr id="16" name="Shape 11"/>
          <p:cNvSpPr/>
          <p:nvPr/>
        </p:nvSpPr>
        <p:spPr>
          <a:xfrm>
            <a:off x="8321040" y="1600200"/>
            <a:ext cx="1600200" cy="1645920"/>
          </a:xfrm>
          <a:prstGeom prst="roundRect">
            <a:avLst>
              <a:gd name="adj" fmla="val 5714"/>
            </a:avLst>
          </a:prstGeom>
          <a:solidFill>
            <a:srgbClr val="F1F5FB"/>
          </a:solidFill>
          <a:ln/>
        </p:spPr>
      </p:sp>
      <p:sp>
        <p:nvSpPr>
          <p:cNvPr id="17" name="Shape 12"/>
          <p:cNvSpPr/>
          <p:nvPr/>
        </p:nvSpPr>
        <p:spPr>
          <a:xfrm>
            <a:off x="8750808" y="1801368"/>
            <a:ext cx="731520" cy="731520"/>
          </a:xfrm>
          <a:prstGeom prst="ellipse">
            <a:avLst/>
          </a:prstGeom>
          <a:solidFill>
            <a:srgbClr val="D1416B"/>
          </a:solidFill>
          <a:ln/>
        </p:spPr>
      </p:sp>
      <p:pic>
        <p:nvPicPr>
          <p:cNvPr id="18" name="Image 2" descr="preencoded.png">    </p:cNvPr>
          <p:cNvPicPr>
            <a:picLocks noChangeAspect="1"/>
          </p:cNvPicPr>
          <p:nvPr/>
        </p:nvPicPr>
        <p:blipFill>
          <a:blip r:embed="rId3"/>
          <a:stretch>
            <a:fillRect/>
          </a:stretch>
        </p:blipFill>
        <p:spPr>
          <a:xfrm>
            <a:off x="8933688" y="1984248"/>
            <a:ext cx="365760" cy="365760"/>
          </a:xfrm>
          <a:prstGeom prst="rect">
            <a:avLst/>
          </a:prstGeom>
        </p:spPr>
      </p:pic>
      <p:sp>
        <p:nvSpPr>
          <p:cNvPr id="19" name="Text 13"/>
          <p:cNvSpPr txBox="1"/>
          <p:nvPr/>
        </p:nvSpPr>
        <p:spPr>
          <a:xfrm>
            <a:off x="8366760" y="2651760"/>
            <a:ext cx="1508760" cy="457200"/>
          </a:xfrm>
          <a:prstGeom prst="rect">
            <a:avLst/>
          </a:prstGeom>
          <a:noFill/>
          <a:ln/>
        </p:spPr>
        <p:txBody>
          <a:bodyPr wrap="square" lIns="0" tIns="0" rIns="0" bIns="0" rtlCol="0" anchor="t"/>
          <a:lstStyle/>
          <a:p>
            <a:pPr algn="ctr" indent="0" marL="0">
              <a:buNone/>
            </a:pPr>
            <a:r>
              <a:rPr lang="en-US" sz="1400" b="1" dirty="0">
                <a:solidFill>
                  <a:srgbClr val="12213A"/>
                </a:solidFill>
                <a:latin typeface="Calibri" pitchFamily="34" charset="0"/>
                <a:ea typeface="Calibri" pitchFamily="34" charset="-122"/>
                <a:cs typeface="Calibri" pitchFamily="34" charset="-120"/>
              </a:rPr>
              <a:t>Smart TVs</a:t>
            </a:r>
            <a:endParaRPr lang="en-US" sz="1400" dirty="0"/>
          </a:p>
        </p:txBody>
      </p:sp>
      <p:sp>
        <p:nvSpPr>
          <p:cNvPr id="20" name="Shape 14"/>
          <p:cNvSpPr/>
          <p:nvPr/>
        </p:nvSpPr>
        <p:spPr>
          <a:xfrm>
            <a:off x="10058400" y="1600200"/>
            <a:ext cx="1600200" cy="1645920"/>
          </a:xfrm>
          <a:prstGeom prst="roundRect">
            <a:avLst>
              <a:gd name="adj" fmla="val 5714"/>
            </a:avLst>
          </a:prstGeom>
          <a:solidFill>
            <a:srgbClr val="F1F5FB"/>
          </a:solidFill>
          <a:ln/>
        </p:spPr>
      </p:sp>
      <p:sp>
        <p:nvSpPr>
          <p:cNvPr id="21" name="Shape 15"/>
          <p:cNvSpPr/>
          <p:nvPr/>
        </p:nvSpPr>
        <p:spPr>
          <a:xfrm>
            <a:off x="10488168" y="1801368"/>
            <a:ext cx="731520" cy="731520"/>
          </a:xfrm>
          <a:prstGeom prst="ellipse">
            <a:avLst/>
          </a:prstGeom>
          <a:solidFill>
            <a:srgbClr val="2A9FD6"/>
          </a:solidFill>
          <a:ln/>
        </p:spPr>
      </p:sp>
      <p:pic>
        <p:nvPicPr>
          <p:cNvPr id="22" name="Image 3" descr="preencoded.png">    </p:cNvPr>
          <p:cNvPicPr>
            <a:picLocks noChangeAspect="1"/>
          </p:cNvPicPr>
          <p:nvPr/>
        </p:nvPicPr>
        <p:blipFill>
          <a:blip r:embed="rId4"/>
          <a:stretch>
            <a:fillRect/>
          </a:stretch>
        </p:blipFill>
        <p:spPr>
          <a:xfrm>
            <a:off x="10671048" y="1984248"/>
            <a:ext cx="365760" cy="365760"/>
          </a:xfrm>
          <a:prstGeom prst="rect">
            <a:avLst/>
          </a:prstGeom>
        </p:spPr>
      </p:pic>
      <p:sp>
        <p:nvSpPr>
          <p:cNvPr id="23" name="Text 16"/>
          <p:cNvSpPr txBox="1"/>
          <p:nvPr/>
        </p:nvSpPr>
        <p:spPr>
          <a:xfrm>
            <a:off x="10104120" y="2651760"/>
            <a:ext cx="1508760" cy="457200"/>
          </a:xfrm>
          <a:prstGeom prst="rect">
            <a:avLst/>
          </a:prstGeom>
          <a:noFill/>
          <a:ln/>
        </p:spPr>
        <p:txBody>
          <a:bodyPr wrap="square" lIns="0" tIns="0" rIns="0" bIns="0" rtlCol="0" anchor="t"/>
          <a:lstStyle/>
          <a:p>
            <a:pPr algn="ctr" indent="0" marL="0">
              <a:buNone/>
            </a:pPr>
            <a:r>
              <a:rPr lang="en-US" sz="1400" b="1" dirty="0">
                <a:solidFill>
                  <a:srgbClr val="12213A"/>
                </a:solidFill>
                <a:latin typeface="Calibri" pitchFamily="34" charset="0"/>
                <a:ea typeface="Calibri" pitchFamily="34" charset="-122"/>
                <a:cs typeface="Calibri" pitchFamily="34" charset="-120"/>
              </a:rPr>
              <a:t>Wi-Fi routers</a:t>
            </a:r>
            <a:endParaRPr lang="en-US" sz="1400" dirty="0"/>
          </a:p>
        </p:txBody>
      </p:sp>
      <p:sp>
        <p:nvSpPr>
          <p:cNvPr id="24" name="Shape 17"/>
          <p:cNvSpPr/>
          <p:nvPr/>
        </p:nvSpPr>
        <p:spPr>
          <a:xfrm>
            <a:off x="4846320" y="3429000"/>
            <a:ext cx="1600200" cy="1645920"/>
          </a:xfrm>
          <a:prstGeom prst="roundRect">
            <a:avLst>
              <a:gd name="adj" fmla="val 5714"/>
            </a:avLst>
          </a:prstGeom>
          <a:solidFill>
            <a:srgbClr val="F1F5FB"/>
          </a:solidFill>
          <a:ln/>
        </p:spPr>
      </p:sp>
      <p:sp>
        <p:nvSpPr>
          <p:cNvPr id="25" name="Shape 18"/>
          <p:cNvSpPr/>
          <p:nvPr/>
        </p:nvSpPr>
        <p:spPr>
          <a:xfrm>
            <a:off x="5276088" y="3630168"/>
            <a:ext cx="731520" cy="731520"/>
          </a:xfrm>
          <a:prstGeom prst="ellipse">
            <a:avLst/>
          </a:prstGeom>
          <a:solidFill>
            <a:srgbClr val="E8820C"/>
          </a:solidFill>
          <a:ln/>
        </p:spPr>
      </p:sp>
      <p:pic>
        <p:nvPicPr>
          <p:cNvPr id="26" name="Image 4" descr="preencoded.png">    </p:cNvPr>
          <p:cNvPicPr>
            <a:picLocks noChangeAspect="1"/>
          </p:cNvPicPr>
          <p:nvPr/>
        </p:nvPicPr>
        <p:blipFill>
          <a:blip r:embed="rId5"/>
          <a:stretch>
            <a:fillRect/>
          </a:stretch>
        </p:blipFill>
        <p:spPr>
          <a:xfrm>
            <a:off x="5458968" y="3813048"/>
            <a:ext cx="365760" cy="365760"/>
          </a:xfrm>
          <a:prstGeom prst="rect">
            <a:avLst/>
          </a:prstGeom>
        </p:spPr>
      </p:pic>
      <p:sp>
        <p:nvSpPr>
          <p:cNvPr id="27" name="Text 19"/>
          <p:cNvSpPr txBox="1"/>
          <p:nvPr/>
        </p:nvSpPr>
        <p:spPr>
          <a:xfrm>
            <a:off x="4892040" y="4480560"/>
            <a:ext cx="1508760" cy="457200"/>
          </a:xfrm>
          <a:prstGeom prst="rect">
            <a:avLst/>
          </a:prstGeom>
          <a:noFill/>
          <a:ln/>
        </p:spPr>
        <p:txBody>
          <a:bodyPr wrap="square" lIns="0" tIns="0" rIns="0" bIns="0" rtlCol="0" anchor="t"/>
          <a:lstStyle/>
          <a:p>
            <a:pPr algn="ctr" indent="0" marL="0">
              <a:buNone/>
            </a:pPr>
            <a:r>
              <a:rPr lang="en-US" sz="1400" b="1" dirty="0">
                <a:solidFill>
                  <a:srgbClr val="12213A"/>
                </a:solidFill>
                <a:latin typeface="Calibri" pitchFamily="34" charset="0"/>
                <a:ea typeface="Calibri" pitchFamily="34" charset="-122"/>
                <a:cs typeface="Calibri" pitchFamily="34" charset="-120"/>
              </a:rPr>
              <a:t>Car dashboards</a:t>
            </a:r>
            <a:endParaRPr lang="en-US" sz="1400" dirty="0"/>
          </a:p>
        </p:txBody>
      </p:sp>
      <p:sp>
        <p:nvSpPr>
          <p:cNvPr id="28" name="Shape 20"/>
          <p:cNvSpPr/>
          <p:nvPr/>
        </p:nvSpPr>
        <p:spPr>
          <a:xfrm>
            <a:off x="6583680" y="3429000"/>
            <a:ext cx="1600200" cy="1645920"/>
          </a:xfrm>
          <a:prstGeom prst="roundRect">
            <a:avLst>
              <a:gd name="adj" fmla="val 5714"/>
            </a:avLst>
          </a:prstGeom>
          <a:solidFill>
            <a:srgbClr val="F1F5FB"/>
          </a:solidFill>
          <a:ln/>
        </p:spPr>
      </p:sp>
      <p:sp>
        <p:nvSpPr>
          <p:cNvPr id="29" name="Shape 21"/>
          <p:cNvSpPr/>
          <p:nvPr/>
        </p:nvSpPr>
        <p:spPr>
          <a:xfrm>
            <a:off x="7013448" y="3630168"/>
            <a:ext cx="731520" cy="731520"/>
          </a:xfrm>
          <a:prstGeom prst="ellipse">
            <a:avLst/>
          </a:prstGeom>
          <a:solidFill>
            <a:srgbClr val="0F9488"/>
          </a:solidFill>
          <a:ln/>
        </p:spPr>
      </p:sp>
      <p:pic>
        <p:nvPicPr>
          <p:cNvPr id="30" name="Image 5" descr="preencoded.png">    </p:cNvPr>
          <p:cNvPicPr>
            <a:picLocks noChangeAspect="1"/>
          </p:cNvPicPr>
          <p:nvPr/>
        </p:nvPicPr>
        <p:blipFill>
          <a:blip r:embed="rId6"/>
          <a:stretch>
            <a:fillRect/>
          </a:stretch>
        </p:blipFill>
        <p:spPr>
          <a:xfrm>
            <a:off x="7196328" y="3813048"/>
            <a:ext cx="365760" cy="365760"/>
          </a:xfrm>
          <a:prstGeom prst="rect">
            <a:avLst/>
          </a:prstGeom>
        </p:spPr>
      </p:pic>
      <p:sp>
        <p:nvSpPr>
          <p:cNvPr id="31" name="Text 22"/>
          <p:cNvSpPr txBox="1"/>
          <p:nvPr/>
        </p:nvSpPr>
        <p:spPr>
          <a:xfrm>
            <a:off x="6629400" y="4480560"/>
            <a:ext cx="1508760" cy="457200"/>
          </a:xfrm>
          <a:prstGeom prst="rect">
            <a:avLst/>
          </a:prstGeom>
          <a:noFill/>
          <a:ln/>
        </p:spPr>
        <p:txBody>
          <a:bodyPr wrap="square" lIns="0" tIns="0" rIns="0" bIns="0" rtlCol="0" anchor="t"/>
          <a:lstStyle/>
          <a:p>
            <a:pPr algn="ctr" indent="0" marL="0">
              <a:buNone/>
            </a:pPr>
            <a:r>
              <a:rPr lang="en-US" sz="1400" b="1" dirty="0">
                <a:solidFill>
                  <a:srgbClr val="12213A"/>
                </a:solidFill>
                <a:latin typeface="Calibri" pitchFamily="34" charset="0"/>
                <a:ea typeface="Calibri" pitchFamily="34" charset="-122"/>
                <a:cs typeface="Calibri" pitchFamily="34" charset="-120"/>
              </a:rPr>
              <a:t>Steam Deck</a:t>
            </a:r>
            <a:endParaRPr lang="en-US" sz="1400" dirty="0"/>
          </a:p>
        </p:txBody>
      </p:sp>
      <p:sp>
        <p:nvSpPr>
          <p:cNvPr id="32" name="Shape 23"/>
          <p:cNvSpPr/>
          <p:nvPr/>
        </p:nvSpPr>
        <p:spPr>
          <a:xfrm>
            <a:off x="8321040" y="3429000"/>
            <a:ext cx="1600200" cy="1645920"/>
          </a:xfrm>
          <a:prstGeom prst="roundRect">
            <a:avLst>
              <a:gd name="adj" fmla="val 5714"/>
            </a:avLst>
          </a:prstGeom>
          <a:solidFill>
            <a:srgbClr val="F1F5FB"/>
          </a:solidFill>
          <a:ln/>
        </p:spPr>
      </p:sp>
      <p:sp>
        <p:nvSpPr>
          <p:cNvPr id="33" name="Shape 24"/>
          <p:cNvSpPr/>
          <p:nvPr/>
        </p:nvSpPr>
        <p:spPr>
          <a:xfrm>
            <a:off x="8750808" y="3630168"/>
            <a:ext cx="731520" cy="731520"/>
          </a:xfrm>
          <a:prstGeom prst="ellipse">
            <a:avLst/>
          </a:prstGeom>
          <a:solidFill>
            <a:srgbClr val="5B6EE1"/>
          </a:solidFill>
          <a:ln/>
        </p:spPr>
      </p:sp>
      <p:pic>
        <p:nvPicPr>
          <p:cNvPr id="34" name="Image 6" descr="preencoded.png">    </p:cNvPr>
          <p:cNvPicPr>
            <a:picLocks noChangeAspect="1"/>
          </p:cNvPicPr>
          <p:nvPr/>
        </p:nvPicPr>
        <p:blipFill>
          <a:blip r:embed="rId7"/>
          <a:stretch>
            <a:fillRect/>
          </a:stretch>
        </p:blipFill>
        <p:spPr>
          <a:xfrm>
            <a:off x="8933688" y="3813048"/>
            <a:ext cx="365760" cy="365760"/>
          </a:xfrm>
          <a:prstGeom prst="rect">
            <a:avLst/>
          </a:prstGeom>
        </p:spPr>
      </p:pic>
      <p:sp>
        <p:nvSpPr>
          <p:cNvPr id="35" name="Text 25"/>
          <p:cNvSpPr txBox="1"/>
          <p:nvPr/>
        </p:nvSpPr>
        <p:spPr>
          <a:xfrm>
            <a:off x="8366760" y="4480560"/>
            <a:ext cx="1508760" cy="457200"/>
          </a:xfrm>
          <a:prstGeom prst="rect">
            <a:avLst/>
          </a:prstGeom>
          <a:noFill/>
          <a:ln/>
        </p:spPr>
        <p:txBody>
          <a:bodyPr wrap="square" lIns="0" tIns="0" rIns="0" bIns="0" rtlCol="0" anchor="t"/>
          <a:lstStyle/>
          <a:p>
            <a:pPr algn="ctr" indent="0" marL="0">
              <a:buNone/>
            </a:pPr>
            <a:r>
              <a:rPr lang="en-US" sz="1400" b="1" dirty="0">
                <a:solidFill>
                  <a:srgbClr val="12213A"/>
                </a:solidFill>
                <a:latin typeface="Calibri" pitchFamily="34" charset="0"/>
                <a:ea typeface="Calibri" pitchFamily="34" charset="-122"/>
                <a:cs typeface="Calibri" pitchFamily="34" charset="-120"/>
              </a:rPr>
              <a:t>The cloud</a:t>
            </a:r>
            <a:endParaRPr lang="en-US" sz="1400" dirty="0"/>
          </a:p>
        </p:txBody>
      </p:sp>
      <p:sp>
        <p:nvSpPr>
          <p:cNvPr id="36" name="Shape 26"/>
          <p:cNvSpPr/>
          <p:nvPr/>
        </p:nvSpPr>
        <p:spPr>
          <a:xfrm>
            <a:off x="10058400" y="3429000"/>
            <a:ext cx="1600200" cy="1645920"/>
          </a:xfrm>
          <a:prstGeom prst="roundRect">
            <a:avLst>
              <a:gd name="adj" fmla="val 5714"/>
            </a:avLst>
          </a:prstGeom>
          <a:solidFill>
            <a:srgbClr val="F1F5FB"/>
          </a:solidFill>
          <a:ln/>
        </p:spPr>
      </p:sp>
      <p:sp>
        <p:nvSpPr>
          <p:cNvPr id="37" name="Shape 27"/>
          <p:cNvSpPr/>
          <p:nvPr/>
        </p:nvSpPr>
        <p:spPr>
          <a:xfrm>
            <a:off x="10488168" y="3630168"/>
            <a:ext cx="731520" cy="731520"/>
          </a:xfrm>
          <a:prstGeom prst="ellipse">
            <a:avLst/>
          </a:prstGeom>
          <a:solidFill>
            <a:srgbClr val="17875A"/>
          </a:solidFill>
          <a:ln/>
        </p:spPr>
      </p:sp>
      <p:pic>
        <p:nvPicPr>
          <p:cNvPr id="38" name="Image 7" descr="preencoded.png">    </p:cNvPr>
          <p:cNvPicPr>
            <a:picLocks noChangeAspect="1"/>
          </p:cNvPicPr>
          <p:nvPr/>
        </p:nvPicPr>
        <p:blipFill>
          <a:blip r:embed="rId8"/>
          <a:stretch>
            <a:fillRect/>
          </a:stretch>
        </p:blipFill>
        <p:spPr>
          <a:xfrm>
            <a:off x="10671048" y="3813048"/>
            <a:ext cx="365760" cy="365760"/>
          </a:xfrm>
          <a:prstGeom prst="rect">
            <a:avLst/>
          </a:prstGeom>
        </p:spPr>
      </p:pic>
      <p:sp>
        <p:nvSpPr>
          <p:cNvPr id="39" name="Text 28"/>
          <p:cNvSpPr txBox="1"/>
          <p:nvPr/>
        </p:nvSpPr>
        <p:spPr>
          <a:xfrm>
            <a:off x="10104120" y="4480560"/>
            <a:ext cx="1508760" cy="457200"/>
          </a:xfrm>
          <a:prstGeom prst="rect">
            <a:avLst/>
          </a:prstGeom>
          <a:noFill/>
          <a:ln/>
        </p:spPr>
        <p:txBody>
          <a:bodyPr wrap="square" lIns="0" tIns="0" rIns="0" bIns="0" rtlCol="0" anchor="t"/>
          <a:lstStyle/>
          <a:p>
            <a:pPr algn="ctr" indent="0" marL="0">
              <a:buNone/>
            </a:pPr>
            <a:r>
              <a:rPr lang="en-US" sz="1400" b="1" dirty="0">
                <a:solidFill>
                  <a:srgbClr val="12213A"/>
                </a:solidFill>
                <a:latin typeface="Calibri" pitchFamily="34" charset="0"/>
                <a:ea typeface="Calibri" pitchFamily="34" charset="-122"/>
                <a:cs typeface="Calibri" pitchFamily="34" charset="-120"/>
              </a:rPr>
              <a:t>Web servers</a:t>
            </a:r>
            <a:endParaRPr lang="en-US" sz="1400" dirty="0"/>
          </a:p>
        </p:txBody>
      </p:sp>
      <p:sp>
        <p:nvSpPr>
          <p:cNvPr id="40" name="Shape 29"/>
          <p:cNvSpPr/>
          <p:nvPr/>
        </p:nvSpPr>
        <p:spPr>
          <a:xfrm>
            <a:off x="4846320" y="5349240"/>
            <a:ext cx="6812280" cy="548640"/>
          </a:xfrm>
          <a:prstGeom prst="roundRect">
            <a:avLst>
              <a:gd name="adj" fmla="val 16667"/>
            </a:avLst>
          </a:prstGeom>
          <a:solidFill>
            <a:srgbClr val="E2F5EC"/>
          </a:solidFill>
          <a:ln/>
        </p:spPr>
      </p:sp>
      <p:sp>
        <p:nvSpPr>
          <p:cNvPr id="41" name="Text 30"/>
          <p:cNvSpPr txBox="1"/>
          <p:nvPr/>
        </p:nvSpPr>
        <p:spPr>
          <a:xfrm>
            <a:off x="5074920" y="5349240"/>
            <a:ext cx="6400800" cy="548640"/>
          </a:xfrm>
          <a:prstGeom prst="rect">
            <a:avLst/>
          </a:prstGeom>
          <a:noFill/>
          <a:ln/>
        </p:spPr>
        <p:txBody>
          <a:bodyPr wrap="square" lIns="0" tIns="0" rIns="0" bIns="0" rtlCol="0" anchor="ctr"/>
          <a:lstStyle/>
          <a:p>
            <a:pPr indent="0" marL="0">
              <a:buNone/>
            </a:pPr>
            <a:r>
              <a:rPr lang="en-US" sz="1600" b="1" dirty="0">
                <a:solidFill>
                  <a:srgbClr val="0F6A45"/>
                </a:solidFill>
                <a:latin typeface="Calibri" pitchFamily="34" charset="0"/>
                <a:ea typeface="Calibri" pitchFamily="34" charset="-122"/>
                <a:cs typeface="Calibri" pitchFamily="34" charset="-120"/>
              </a:rPr>
              <a:t>On a Chromebook right now? You are already using Linux.</a:t>
            </a:r>
            <a:endParaRPr lang="en-US" sz="1600" dirty="0"/>
          </a:p>
        </p:txBody>
      </p:sp>
      <p:sp>
        <p:nvSpPr>
          <p:cNvPr id="42" name="Text 31"/>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8 / 79</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What is the CLI?</a:t>
            </a:r>
            <a:endParaRPr lang="en-US" sz="3200" dirty="0"/>
          </a:p>
        </p:txBody>
      </p:sp>
      <p:sp>
        <p:nvSpPr>
          <p:cNvPr id="4" name="Text 1"/>
          <p:cNvSpPr txBox="1"/>
          <p:nvPr/>
        </p:nvSpPr>
        <p:spPr>
          <a:xfrm>
            <a:off x="548640" y="1188720"/>
            <a:ext cx="11094415" cy="45720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CLI</a:t>
            </a:r>
            <a:pPr indent="0" marL="0">
              <a:buNone/>
            </a:pPr>
            <a:r>
              <a:rPr lang="en-US" sz="1800" dirty="0">
                <a:solidFill>
                  <a:srgbClr val="56657E"/>
                </a:solidFill>
                <a:latin typeface="Calibri" pitchFamily="34" charset="0"/>
                <a:ea typeface="Calibri" pitchFamily="34" charset="-122"/>
                <a:cs typeface="Calibri" pitchFamily="34" charset="-120"/>
              </a:rPr>
              <a:t> stands for </a:t>
            </a:r>
            <a:pPr indent="0" marL="0">
              <a:buNone/>
            </a:pPr>
            <a:r>
              <a:rPr lang="en-US" sz="1800" b="1" dirty="0">
                <a:solidFill>
                  <a:srgbClr val="12213A"/>
                </a:solidFill>
                <a:latin typeface="Calibri" pitchFamily="34" charset="0"/>
                <a:ea typeface="Calibri" pitchFamily="34" charset="-122"/>
                <a:cs typeface="Calibri" pitchFamily="34" charset="-120"/>
              </a:rPr>
              <a:t>command-line interface</a:t>
            </a:r>
            <a:pPr indent="0" marL="0">
              <a:buNone/>
            </a:pPr>
            <a:r>
              <a:rPr lang="en-US" sz="1800" dirty="0">
                <a:solidFill>
                  <a:srgbClr val="56657E"/>
                </a:solidFill>
                <a:latin typeface="Calibri" pitchFamily="34" charset="0"/>
                <a:ea typeface="Calibri" pitchFamily="34" charset="-122"/>
                <a:cs typeface="Calibri" pitchFamily="34" charset="-120"/>
              </a:rPr>
              <a:t>: you run the computer by typing text commands instead of pointing and clicking.</a:t>
            </a:r>
            <a:endParaRPr lang="en-US" sz="1800" dirty="0"/>
          </a:p>
        </p:txBody>
      </p:sp>
      <p:sp>
        <p:nvSpPr>
          <p:cNvPr id="5" name="Shape 2"/>
          <p:cNvSpPr/>
          <p:nvPr/>
        </p:nvSpPr>
        <p:spPr>
          <a:xfrm>
            <a:off x="3785616" y="3026664"/>
            <a:ext cx="667512" cy="18288"/>
          </a:xfrm>
          <a:prstGeom prst="line">
            <a:avLst/>
          </a:prstGeom>
          <a:noFill/>
          <a:ln w="25400">
            <a:solidFill>
              <a:srgbClr val="D6DEEA"/>
            </a:solidFill>
            <a:prstDash val="dash"/>
          </a:ln>
        </p:spPr>
      </p:sp>
      <p:sp>
        <p:nvSpPr>
          <p:cNvPr id="6" name="Shape 3"/>
          <p:cNvSpPr/>
          <p:nvPr/>
        </p:nvSpPr>
        <p:spPr>
          <a:xfrm>
            <a:off x="3781044" y="2688336"/>
            <a:ext cx="676656" cy="676656"/>
          </a:xfrm>
          <a:prstGeom prst="ellipse">
            <a:avLst/>
          </a:prstGeom>
          <a:solidFill>
            <a:srgbClr val="D3DEF7"/>
          </a:solidFill>
          <a:ln/>
        </p:spPr>
      </p:sp>
      <p:pic>
        <p:nvPicPr>
          <p:cNvPr id="7" name="Image 0" descr="preencoded.png">    </p:cNvPr>
          <p:cNvPicPr>
            <a:picLocks noChangeAspect="1"/>
          </p:cNvPicPr>
          <p:nvPr/>
        </p:nvPicPr>
        <p:blipFill>
          <a:blip r:embed="rId1"/>
          <a:stretch>
            <a:fillRect/>
          </a:stretch>
        </p:blipFill>
        <p:spPr>
          <a:xfrm>
            <a:off x="3963741" y="2871033"/>
            <a:ext cx="311262" cy="311262"/>
          </a:xfrm>
          <a:prstGeom prst="rect">
            <a:avLst/>
          </a:prstGeom>
        </p:spPr>
      </p:pic>
      <p:sp>
        <p:nvSpPr>
          <p:cNvPr id="8" name="Shape 4"/>
          <p:cNvSpPr/>
          <p:nvPr/>
        </p:nvSpPr>
        <p:spPr>
          <a:xfrm>
            <a:off x="7726680" y="3026664"/>
            <a:ext cx="667512" cy="18288"/>
          </a:xfrm>
          <a:prstGeom prst="line">
            <a:avLst/>
          </a:prstGeom>
          <a:noFill/>
          <a:ln w="25400">
            <a:solidFill>
              <a:srgbClr val="D6DEEA"/>
            </a:solidFill>
            <a:prstDash val="dash"/>
          </a:ln>
        </p:spPr>
      </p:sp>
      <p:sp>
        <p:nvSpPr>
          <p:cNvPr id="9" name="Shape 5"/>
          <p:cNvSpPr/>
          <p:nvPr/>
        </p:nvSpPr>
        <p:spPr>
          <a:xfrm>
            <a:off x="7722108" y="2688336"/>
            <a:ext cx="676656" cy="676656"/>
          </a:xfrm>
          <a:prstGeom prst="ellipse">
            <a:avLst/>
          </a:prstGeom>
          <a:solidFill>
            <a:srgbClr val="D1E7DE"/>
          </a:solidFill>
          <a:ln/>
        </p:spPr>
      </p:sp>
      <p:pic>
        <p:nvPicPr>
          <p:cNvPr id="10" name="Image 1" descr="preencoded.png">    </p:cNvPr>
          <p:cNvPicPr>
            <a:picLocks noChangeAspect="1"/>
          </p:cNvPicPr>
          <p:nvPr/>
        </p:nvPicPr>
        <p:blipFill>
          <a:blip r:embed="rId2"/>
          <a:stretch>
            <a:fillRect/>
          </a:stretch>
        </p:blipFill>
        <p:spPr>
          <a:xfrm>
            <a:off x="7904805" y="2871033"/>
            <a:ext cx="311262" cy="311262"/>
          </a:xfrm>
          <a:prstGeom prst="rect">
            <a:avLst/>
          </a:prstGeom>
        </p:spPr>
      </p:pic>
      <p:sp>
        <p:nvSpPr>
          <p:cNvPr id="11" name="Shape 6"/>
          <p:cNvSpPr/>
          <p:nvPr/>
        </p:nvSpPr>
        <p:spPr>
          <a:xfrm>
            <a:off x="548640" y="1874520"/>
            <a:ext cx="3200400" cy="2304288"/>
          </a:xfrm>
          <a:prstGeom prst="roundRect">
            <a:avLst>
              <a:gd name="adj" fmla="val 4762"/>
            </a:avLst>
          </a:prstGeom>
          <a:solidFill>
            <a:srgbClr val="FFFFFF"/>
          </a:solidFill>
          <a:ln w="12700">
            <a:solidFill>
              <a:srgbClr val="D6DEEA"/>
            </a:solidFill>
            <a:prstDash val="solid"/>
          </a:ln>
          <a:effectLst>
            <a:outerShdw sx="100000" sy="100000" kx="0" ky="0" algn="bl" rotWithShape="0" blurRad="88900" dist="25400" dir="5400000">
              <a:srgbClr val="C7D2E2">
                <a:alpha val="40000"/>
              </a:srgbClr>
            </a:outerShdw>
          </a:effectLst>
        </p:spPr>
      </p:sp>
      <p:sp>
        <p:nvSpPr>
          <p:cNvPr id="12" name="Shape 7"/>
          <p:cNvSpPr/>
          <p:nvPr/>
        </p:nvSpPr>
        <p:spPr>
          <a:xfrm>
            <a:off x="822960" y="2112264"/>
            <a:ext cx="1828800" cy="384048"/>
          </a:xfrm>
          <a:prstGeom prst="roundRect">
            <a:avLst>
              <a:gd name="adj" fmla="val 50000"/>
            </a:avLst>
          </a:prstGeom>
          <a:solidFill>
            <a:srgbClr val="D8E1F8"/>
          </a:solidFill>
          <a:ln/>
        </p:spPr>
      </p:sp>
      <p:sp>
        <p:nvSpPr>
          <p:cNvPr id="13" name="Text 8"/>
          <p:cNvSpPr txBox="1"/>
          <p:nvPr/>
        </p:nvSpPr>
        <p:spPr>
          <a:xfrm>
            <a:off x="822960" y="2112264"/>
            <a:ext cx="1828800" cy="384048"/>
          </a:xfrm>
          <a:prstGeom prst="rect">
            <a:avLst/>
          </a:prstGeom>
          <a:noFill/>
          <a:ln/>
        </p:spPr>
        <p:txBody>
          <a:bodyPr wrap="square" lIns="0" tIns="0" rIns="0" bIns="0" rtlCol="0" anchor="ctr"/>
          <a:lstStyle/>
          <a:p>
            <a:pPr algn="ctr" indent="0" marL="0">
              <a:buNone/>
            </a:pPr>
            <a:r>
              <a:rPr lang="en-US" sz="1250" b="1" dirty="0">
                <a:solidFill>
                  <a:srgbClr val="2459D8"/>
                </a:solidFill>
                <a:latin typeface="Arial" pitchFamily="34" charset="0"/>
                <a:ea typeface="Arial" pitchFamily="34" charset="-122"/>
                <a:cs typeface="Arial" pitchFamily="34" charset="-120"/>
              </a:rPr>
              <a:t>1 · YOU TYPE</a:t>
            </a:r>
            <a:endParaRPr lang="en-US" sz="1250" dirty="0"/>
          </a:p>
        </p:txBody>
      </p:sp>
      <p:sp>
        <p:nvSpPr>
          <p:cNvPr id="14" name="Shape 9"/>
          <p:cNvSpPr/>
          <p:nvPr/>
        </p:nvSpPr>
        <p:spPr>
          <a:xfrm>
            <a:off x="822960" y="2624328"/>
            <a:ext cx="2651760" cy="877824"/>
          </a:xfrm>
          <a:prstGeom prst="roundRect">
            <a:avLst>
              <a:gd name="adj" fmla="val 10417"/>
            </a:avLst>
          </a:prstGeom>
          <a:solidFill>
            <a:srgbClr val="0E1726"/>
          </a:solidFill>
          <a:ln/>
        </p:spPr>
      </p:sp>
      <p:sp>
        <p:nvSpPr>
          <p:cNvPr id="15" name="Text 10"/>
          <p:cNvSpPr txBox="1"/>
          <p:nvPr/>
        </p:nvSpPr>
        <p:spPr>
          <a:xfrm>
            <a:off x="822960" y="2624328"/>
            <a:ext cx="2651760" cy="877824"/>
          </a:xfrm>
          <a:prstGeom prst="rect">
            <a:avLst/>
          </a:prstGeom>
          <a:noFill/>
          <a:ln/>
        </p:spPr>
        <p:txBody>
          <a:bodyPr wrap="square" lIns="0" tIns="0" rIns="0" bIns="0" rtlCol="0" anchor="ctr"/>
          <a:lstStyle/>
          <a:p>
            <a:pPr algn="ctr" indent="0" marL="0">
              <a:buNone/>
            </a:pPr>
            <a:r>
              <a:rPr lang="en-US" sz="2000" b="1" dirty="0">
                <a:solidFill>
                  <a:srgbClr val="46D39A"/>
                </a:solidFill>
                <a:latin typeface="Courier New" pitchFamily="34" charset="0"/>
                <a:ea typeface="Courier New" pitchFamily="34" charset="-122"/>
                <a:cs typeface="Courier New" pitchFamily="34" charset="-120"/>
              </a:rPr>
              <a:t>$ </a:t>
            </a:r>
            <a:pPr algn="ctr" indent="0" marL="0">
              <a:buNone/>
            </a:pPr>
            <a:r>
              <a:rPr lang="en-US" sz="2000" b="1" dirty="0">
                <a:solidFill>
                  <a:srgbClr val="FFFFFF"/>
                </a:solidFill>
                <a:latin typeface="Courier New" pitchFamily="34" charset="0"/>
                <a:ea typeface="Courier New" pitchFamily="34" charset="-122"/>
                <a:cs typeface="Courier New" pitchFamily="34" charset="-120"/>
              </a:rPr>
              <a:t>ls -l</a:t>
            </a:r>
            <a:endParaRPr lang="en-US" sz="2000" dirty="0"/>
          </a:p>
        </p:txBody>
      </p:sp>
      <p:sp>
        <p:nvSpPr>
          <p:cNvPr id="16" name="Text 11"/>
          <p:cNvSpPr txBox="1"/>
          <p:nvPr/>
        </p:nvSpPr>
        <p:spPr>
          <a:xfrm>
            <a:off x="822960" y="3630168"/>
            <a:ext cx="2651760" cy="457200"/>
          </a:xfrm>
          <a:prstGeom prst="rect">
            <a:avLst/>
          </a:prstGeom>
          <a:noFill/>
          <a:ln/>
        </p:spPr>
        <p:txBody>
          <a:bodyPr wrap="square" lIns="0" tIns="0" rIns="0" bIns="0" rtlCol="0" anchor="t"/>
          <a:lstStyle/>
          <a:p>
            <a:pPr algn="ctr" indent="0" marL="0">
              <a:buNone/>
            </a:pPr>
            <a:r>
              <a:rPr lang="en-US" sz="1350" dirty="0">
                <a:solidFill>
                  <a:srgbClr val="56657E"/>
                </a:solidFill>
                <a:latin typeface="Calibri" pitchFamily="34" charset="0"/>
                <a:ea typeface="Calibri" pitchFamily="34" charset="-122"/>
                <a:cs typeface="Calibri" pitchFamily="34" charset="-120"/>
              </a:rPr>
              <a:t>a line of words, not clicks</a:t>
            </a:r>
            <a:endParaRPr lang="en-US" sz="1350" dirty="0"/>
          </a:p>
        </p:txBody>
      </p:sp>
      <p:sp>
        <p:nvSpPr>
          <p:cNvPr id="17" name="Shape 12"/>
          <p:cNvSpPr/>
          <p:nvPr/>
        </p:nvSpPr>
        <p:spPr>
          <a:xfrm>
            <a:off x="4489704" y="1874520"/>
            <a:ext cx="3200400" cy="2304288"/>
          </a:xfrm>
          <a:prstGeom prst="roundRect">
            <a:avLst>
              <a:gd name="adj" fmla="val 4762"/>
            </a:avLst>
          </a:prstGeom>
          <a:solidFill>
            <a:srgbClr val="FFFFFF"/>
          </a:solidFill>
          <a:ln w="12700">
            <a:solidFill>
              <a:srgbClr val="D6DEEA"/>
            </a:solidFill>
            <a:prstDash val="solid"/>
          </a:ln>
          <a:effectLst>
            <a:outerShdw sx="100000" sy="100000" kx="0" ky="0" algn="bl" rotWithShape="0" blurRad="88900" dist="25400" dir="5400000">
              <a:srgbClr val="C7D2E2">
                <a:alpha val="40000"/>
              </a:srgbClr>
            </a:outerShdw>
          </a:effectLst>
        </p:spPr>
      </p:sp>
      <p:sp>
        <p:nvSpPr>
          <p:cNvPr id="18" name="Shape 13"/>
          <p:cNvSpPr/>
          <p:nvPr/>
        </p:nvSpPr>
        <p:spPr>
          <a:xfrm>
            <a:off x="4764024" y="2112264"/>
            <a:ext cx="1828800" cy="384048"/>
          </a:xfrm>
          <a:prstGeom prst="roundRect">
            <a:avLst>
              <a:gd name="adj" fmla="val 50000"/>
            </a:avLst>
          </a:prstGeom>
          <a:solidFill>
            <a:srgbClr val="E6DEF7"/>
          </a:solidFill>
          <a:ln/>
        </p:spPr>
      </p:sp>
      <p:sp>
        <p:nvSpPr>
          <p:cNvPr id="19" name="Text 14"/>
          <p:cNvSpPr txBox="1"/>
          <p:nvPr/>
        </p:nvSpPr>
        <p:spPr>
          <a:xfrm>
            <a:off x="4764024" y="2112264"/>
            <a:ext cx="1828800" cy="384048"/>
          </a:xfrm>
          <a:prstGeom prst="rect">
            <a:avLst/>
          </a:prstGeom>
          <a:noFill/>
          <a:ln/>
        </p:spPr>
        <p:txBody>
          <a:bodyPr wrap="square" lIns="0" tIns="0" rIns="0" bIns="0" rtlCol="0" anchor="ctr"/>
          <a:lstStyle/>
          <a:p>
            <a:pPr algn="ctr" indent="0" marL="0">
              <a:buNone/>
            </a:pPr>
            <a:r>
              <a:rPr lang="en-US" sz="1250" b="1" dirty="0">
                <a:solidFill>
                  <a:srgbClr val="7448D4"/>
                </a:solidFill>
                <a:latin typeface="Arial" pitchFamily="34" charset="0"/>
                <a:ea typeface="Arial" pitchFamily="34" charset="-122"/>
                <a:cs typeface="Arial" pitchFamily="34" charset="-120"/>
              </a:rPr>
              <a:t>2 · LINUX RUNS IT</a:t>
            </a:r>
            <a:endParaRPr lang="en-US" sz="1250" dirty="0"/>
          </a:p>
        </p:txBody>
      </p:sp>
      <p:sp>
        <p:nvSpPr>
          <p:cNvPr id="20" name="Shape 15"/>
          <p:cNvSpPr/>
          <p:nvPr/>
        </p:nvSpPr>
        <p:spPr>
          <a:xfrm>
            <a:off x="5632704" y="2606040"/>
            <a:ext cx="914400" cy="914400"/>
          </a:xfrm>
          <a:prstGeom prst="ellipse">
            <a:avLst/>
          </a:prstGeom>
          <a:solidFill>
            <a:srgbClr val="E3DAF6"/>
          </a:solidFill>
          <a:ln/>
        </p:spPr>
      </p:sp>
      <p:pic>
        <p:nvPicPr>
          <p:cNvPr id="21" name="Image 2" descr="preencoded.png">    </p:cNvPr>
          <p:cNvPicPr>
            <a:picLocks noChangeAspect="1"/>
          </p:cNvPicPr>
          <p:nvPr/>
        </p:nvPicPr>
        <p:blipFill>
          <a:blip r:embed="rId3"/>
          <a:stretch>
            <a:fillRect/>
          </a:stretch>
        </p:blipFill>
        <p:spPr>
          <a:xfrm>
            <a:off x="5879592" y="2852928"/>
            <a:ext cx="420624" cy="420624"/>
          </a:xfrm>
          <a:prstGeom prst="rect">
            <a:avLst/>
          </a:prstGeom>
        </p:spPr>
      </p:pic>
      <p:sp>
        <p:nvSpPr>
          <p:cNvPr id="22" name="Text 16"/>
          <p:cNvSpPr txBox="1"/>
          <p:nvPr/>
        </p:nvSpPr>
        <p:spPr>
          <a:xfrm>
            <a:off x="4764024" y="3630168"/>
            <a:ext cx="2651760" cy="457200"/>
          </a:xfrm>
          <a:prstGeom prst="rect">
            <a:avLst/>
          </a:prstGeom>
          <a:noFill/>
          <a:ln/>
        </p:spPr>
        <p:txBody>
          <a:bodyPr wrap="square" lIns="0" tIns="0" rIns="0" bIns="0" rtlCol="0" anchor="t"/>
          <a:lstStyle/>
          <a:p>
            <a:pPr algn="ctr" indent="0" marL="0">
              <a:buNone/>
            </a:pPr>
            <a:r>
              <a:rPr lang="en-US" sz="1350" dirty="0">
                <a:solidFill>
                  <a:srgbClr val="56657E"/>
                </a:solidFill>
                <a:latin typeface="Calibri" pitchFamily="34" charset="0"/>
                <a:ea typeface="Calibri" pitchFamily="34" charset="-122"/>
                <a:cs typeface="Calibri" pitchFamily="34" charset="-120"/>
              </a:rPr>
              <a:t>the shell reads the line and does the work</a:t>
            </a:r>
            <a:endParaRPr lang="en-US" sz="1350" dirty="0"/>
          </a:p>
        </p:txBody>
      </p:sp>
      <p:sp>
        <p:nvSpPr>
          <p:cNvPr id="23" name="Shape 17"/>
          <p:cNvSpPr/>
          <p:nvPr/>
        </p:nvSpPr>
        <p:spPr>
          <a:xfrm>
            <a:off x="8430768" y="1874520"/>
            <a:ext cx="3200400" cy="2304288"/>
          </a:xfrm>
          <a:prstGeom prst="roundRect">
            <a:avLst>
              <a:gd name="adj" fmla="val 4762"/>
            </a:avLst>
          </a:prstGeom>
          <a:solidFill>
            <a:srgbClr val="FFFFFF"/>
          </a:solidFill>
          <a:ln w="12700">
            <a:solidFill>
              <a:srgbClr val="D6DEEA"/>
            </a:solidFill>
            <a:prstDash val="solid"/>
          </a:ln>
          <a:effectLst>
            <a:outerShdw sx="100000" sy="100000" kx="0" ky="0" algn="bl" rotWithShape="0" blurRad="88900" dist="25400" dir="5400000">
              <a:srgbClr val="C7D2E2">
                <a:alpha val="40000"/>
              </a:srgbClr>
            </a:outerShdw>
          </a:effectLst>
        </p:spPr>
      </p:sp>
      <p:sp>
        <p:nvSpPr>
          <p:cNvPr id="24" name="Shape 18"/>
          <p:cNvSpPr/>
          <p:nvPr/>
        </p:nvSpPr>
        <p:spPr>
          <a:xfrm>
            <a:off x="8705088" y="2112264"/>
            <a:ext cx="1828800" cy="384048"/>
          </a:xfrm>
          <a:prstGeom prst="roundRect">
            <a:avLst>
              <a:gd name="adj" fmla="val 50000"/>
            </a:avLst>
          </a:prstGeom>
          <a:solidFill>
            <a:srgbClr val="D5E9E1"/>
          </a:solidFill>
          <a:ln/>
        </p:spPr>
      </p:sp>
      <p:sp>
        <p:nvSpPr>
          <p:cNvPr id="25" name="Text 19"/>
          <p:cNvSpPr txBox="1"/>
          <p:nvPr/>
        </p:nvSpPr>
        <p:spPr>
          <a:xfrm>
            <a:off x="8705088" y="2112264"/>
            <a:ext cx="1828800" cy="384048"/>
          </a:xfrm>
          <a:prstGeom prst="rect">
            <a:avLst/>
          </a:prstGeom>
          <a:noFill/>
          <a:ln/>
        </p:spPr>
        <p:txBody>
          <a:bodyPr wrap="square" lIns="0" tIns="0" rIns="0" bIns="0" rtlCol="0" anchor="ctr"/>
          <a:lstStyle/>
          <a:p>
            <a:pPr algn="ctr" indent="0" marL="0">
              <a:buNone/>
            </a:pPr>
            <a:r>
              <a:rPr lang="en-US" sz="1250" b="1" dirty="0">
                <a:solidFill>
                  <a:srgbClr val="17875A"/>
                </a:solidFill>
                <a:latin typeface="Arial" pitchFamily="34" charset="0"/>
                <a:ea typeface="Arial" pitchFamily="34" charset="-122"/>
                <a:cs typeface="Arial" pitchFamily="34" charset="-120"/>
              </a:rPr>
              <a:t>3 · IT ANSWERS</a:t>
            </a:r>
            <a:endParaRPr lang="en-US" sz="1250" dirty="0"/>
          </a:p>
        </p:txBody>
      </p:sp>
      <p:sp>
        <p:nvSpPr>
          <p:cNvPr id="26" name="Shape 20"/>
          <p:cNvSpPr/>
          <p:nvPr/>
        </p:nvSpPr>
        <p:spPr>
          <a:xfrm>
            <a:off x="8705088" y="2624328"/>
            <a:ext cx="2651760" cy="877824"/>
          </a:xfrm>
          <a:prstGeom prst="roundRect">
            <a:avLst>
              <a:gd name="adj" fmla="val 10417"/>
            </a:avLst>
          </a:prstGeom>
          <a:solidFill>
            <a:srgbClr val="0E1726"/>
          </a:solidFill>
          <a:ln/>
        </p:spPr>
      </p:sp>
      <p:sp>
        <p:nvSpPr>
          <p:cNvPr id="27" name="Text 21"/>
          <p:cNvSpPr txBox="1"/>
          <p:nvPr/>
        </p:nvSpPr>
        <p:spPr>
          <a:xfrm>
            <a:off x="8705088" y="2624328"/>
            <a:ext cx="2651760" cy="877824"/>
          </a:xfrm>
          <a:prstGeom prst="rect">
            <a:avLst/>
          </a:prstGeom>
          <a:noFill/>
          <a:ln/>
        </p:spPr>
        <p:txBody>
          <a:bodyPr wrap="square" lIns="0" tIns="0" rIns="0" bIns="0" rtlCol="0" anchor="ctr"/>
          <a:lstStyle/>
          <a:p>
            <a:pPr algn="ctr" indent="0" marL="0">
              <a:buNone/>
            </a:pPr>
            <a:pPr algn="ctr" indent="0" marL="0">
              <a:buNone/>
            </a:pPr>
            <a:r>
              <a:rPr lang="en-US" sz="1400" dirty="0">
                <a:solidFill>
                  <a:srgbClr val="B8C4D9"/>
                </a:solidFill>
                <a:latin typeface="Courier New" pitchFamily="34" charset="0"/>
                <a:ea typeface="Courier New" pitchFamily="34" charset="-122"/>
                <a:cs typeface="Courier New" pitchFamily="34" charset="-120"/>
              </a:rPr>
              <a:t>notes.txt</a:t>
            </a:r>
            <a:endParaRPr lang="en-US" sz="1400" dirty="0"/>
          </a:p>
          <a:p>
            <a:pPr algn="ctr" indent="0" marL="0">
              <a:buNone/>
            </a:pPr>
            <a:r>
              <a:rPr lang="en-US" sz="1400" dirty="0">
                <a:solidFill>
                  <a:srgbClr val="B8C4D9"/>
                </a:solidFill>
                <a:latin typeface="Courier New" pitchFamily="34" charset="0"/>
                <a:ea typeface="Courier New" pitchFamily="34" charset="-122"/>
                <a:cs typeface="Courier New" pitchFamily="34" charset="-120"/>
              </a:rPr>
              <a:t>projects/</a:t>
            </a:r>
            <a:endParaRPr lang="en-US" sz="1400" dirty="0"/>
          </a:p>
        </p:txBody>
      </p:sp>
      <p:sp>
        <p:nvSpPr>
          <p:cNvPr id="28" name="Text 22"/>
          <p:cNvSpPr txBox="1"/>
          <p:nvPr/>
        </p:nvSpPr>
        <p:spPr>
          <a:xfrm>
            <a:off x="8705088" y="3630168"/>
            <a:ext cx="2651760" cy="457200"/>
          </a:xfrm>
          <a:prstGeom prst="rect">
            <a:avLst/>
          </a:prstGeom>
          <a:noFill/>
          <a:ln/>
        </p:spPr>
        <p:txBody>
          <a:bodyPr wrap="square" lIns="0" tIns="0" rIns="0" bIns="0" rtlCol="0" anchor="t"/>
          <a:lstStyle/>
          <a:p>
            <a:pPr algn="ctr" indent="0" marL="0">
              <a:buNone/>
            </a:pPr>
            <a:r>
              <a:rPr lang="en-US" sz="1350" dirty="0">
                <a:solidFill>
                  <a:srgbClr val="56657E"/>
                </a:solidFill>
                <a:latin typeface="Calibri" pitchFamily="34" charset="0"/>
                <a:ea typeface="Calibri" pitchFamily="34" charset="-122"/>
                <a:cs typeface="Calibri" pitchFamily="34" charset="-120"/>
              </a:rPr>
              <a:t>printed back as plain text</a:t>
            </a:r>
            <a:endParaRPr lang="en-US" sz="1350" dirty="0"/>
          </a:p>
        </p:txBody>
      </p:sp>
      <p:sp>
        <p:nvSpPr>
          <p:cNvPr id="29" name="Shape 23"/>
          <p:cNvSpPr/>
          <p:nvPr/>
        </p:nvSpPr>
        <p:spPr>
          <a:xfrm>
            <a:off x="548640" y="4370832"/>
            <a:ext cx="5440680" cy="1810512"/>
          </a:xfrm>
          <a:prstGeom prst="roundRect">
            <a:avLst>
              <a:gd name="adj" fmla="val 5051"/>
            </a:avLst>
          </a:prstGeom>
          <a:solidFill>
            <a:srgbClr val="F1F5FB"/>
          </a:solidFill>
          <a:ln/>
        </p:spPr>
      </p:sp>
      <p:sp>
        <p:nvSpPr>
          <p:cNvPr id="30" name="Shape 24"/>
          <p:cNvSpPr/>
          <p:nvPr/>
        </p:nvSpPr>
        <p:spPr>
          <a:xfrm>
            <a:off x="841248" y="4663440"/>
            <a:ext cx="786384" cy="786384"/>
          </a:xfrm>
          <a:prstGeom prst="ellipse">
            <a:avLst/>
          </a:prstGeom>
          <a:solidFill>
            <a:srgbClr val="D3DEF7"/>
          </a:solidFill>
          <a:ln/>
        </p:spPr>
      </p:sp>
      <p:pic>
        <p:nvPicPr>
          <p:cNvPr id="31" name="Image 3" descr="preencoded.png">    </p:cNvPr>
          <p:cNvPicPr>
            <a:picLocks noChangeAspect="1"/>
          </p:cNvPicPr>
          <p:nvPr/>
        </p:nvPicPr>
        <p:blipFill>
          <a:blip r:embed="rId4"/>
          <a:stretch>
            <a:fillRect/>
          </a:stretch>
        </p:blipFill>
        <p:spPr>
          <a:xfrm>
            <a:off x="1053572" y="4875764"/>
            <a:ext cx="361737" cy="361737"/>
          </a:xfrm>
          <a:prstGeom prst="rect">
            <a:avLst/>
          </a:prstGeom>
        </p:spPr>
      </p:pic>
      <p:sp>
        <p:nvSpPr>
          <p:cNvPr id="32" name="Text 25"/>
          <p:cNvSpPr txBox="1"/>
          <p:nvPr/>
        </p:nvSpPr>
        <p:spPr>
          <a:xfrm>
            <a:off x="1828800" y="4645152"/>
            <a:ext cx="3977640" cy="45720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What it really means</a:t>
            </a:r>
            <a:endParaRPr lang="en-US" sz="1800" dirty="0"/>
          </a:p>
        </p:txBody>
      </p:sp>
      <p:sp>
        <p:nvSpPr>
          <p:cNvPr id="33" name="Text 26"/>
          <p:cNvSpPr txBox="1"/>
          <p:nvPr/>
        </p:nvSpPr>
        <p:spPr>
          <a:xfrm>
            <a:off x="1828800" y="5138928"/>
            <a:ext cx="3977640" cy="896112"/>
          </a:xfrm>
          <a:prstGeom prst="rect">
            <a:avLst/>
          </a:prstGeom>
          <a:noFill/>
          <a:ln/>
        </p:spPr>
        <p:txBody>
          <a:bodyPr wrap="square" lIns="0" tIns="0" rIns="0" bIns="0" rtlCol="0" anchor="t"/>
          <a:lstStyle/>
          <a:p>
            <a:pPr indent="0" marL="0">
              <a:buNone/>
            </a:pPr>
            <a:r>
              <a:rPr lang="en-US" sz="1350" dirty="0">
                <a:solidFill>
                  <a:srgbClr val="33425E"/>
                </a:solidFill>
                <a:latin typeface="Calibri" pitchFamily="34" charset="0"/>
                <a:ea typeface="Calibri" pitchFamily="34" charset="-122"/>
                <a:cs typeface="Calibri" pitchFamily="34" charset="-120"/>
              </a:rPr>
              <a:t>A command is just a short sentence you type to the computer. Because it is text, you can save it, repeat it and share it exactly — something you can't do with a trail of clicks.</a:t>
            </a:r>
            <a:endParaRPr lang="en-US" sz="1350" dirty="0"/>
          </a:p>
        </p:txBody>
      </p:sp>
      <p:sp>
        <p:nvSpPr>
          <p:cNvPr id="34" name="Shape 27"/>
          <p:cNvSpPr/>
          <p:nvPr/>
        </p:nvSpPr>
        <p:spPr>
          <a:xfrm>
            <a:off x="6199632" y="4370832"/>
            <a:ext cx="5440680" cy="1810512"/>
          </a:xfrm>
          <a:prstGeom prst="roundRect">
            <a:avLst>
              <a:gd name="adj" fmla="val 5051"/>
            </a:avLst>
          </a:prstGeom>
          <a:solidFill>
            <a:srgbClr val="F1F5FB"/>
          </a:solidFill>
          <a:ln/>
        </p:spPr>
      </p:sp>
      <p:sp>
        <p:nvSpPr>
          <p:cNvPr id="35" name="Shape 28"/>
          <p:cNvSpPr/>
          <p:nvPr/>
        </p:nvSpPr>
        <p:spPr>
          <a:xfrm>
            <a:off x="6492240" y="4663440"/>
            <a:ext cx="786384" cy="786384"/>
          </a:xfrm>
          <a:prstGeom prst="ellipse">
            <a:avLst/>
          </a:prstGeom>
          <a:solidFill>
            <a:srgbClr val="D1E7DE"/>
          </a:solidFill>
          <a:ln/>
        </p:spPr>
      </p:sp>
      <p:pic>
        <p:nvPicPr>
          <p:cNvPr id="36" name="Image 4" descr="preencoded.png">    </p:cNvPr>
          <p:cNvPicPr>
            <a:picLocks noChangeAspect="1"/>
          </p:cNvPicPr>
          <p:nvPr/>
        </p:nvPicPr>
        <p:blipFill>
          <a:blip r:embed="rId5"/>
          <a:stretch>
            <a:fillRect/>
          </a:stretch>
        </p:blipFill>
        <p:spPr>
          <a:xfrm>
            <a:off x="6704564" y="4875764"/>
            <a:ext cx="361737" cy="361737"/>
          </a:xfrm>
          <a:prstGeom prst="rect">
            <a:avLst/>
          </a:prstGeom>
        </p:spPr>
      </p:pic>
      <p:sp>
        <p:nvSpPr>
          <p:cNvPr id="37" name="Text 29"/>
          <p:cNvSpPr txBox="1"/>
          <p:nvPr/>
        </p:nvSpPr>
        <p:spPr>
          <a:xfrm>
            <a:off x="7479792" y="4645152"/>
            <a:ext cx="3977640" cy="45720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Where you'll use it today</a:t>
            </a:r>
            <a:endParaRPr lang="en-US" sz="1800" dirty="0"/>
          </a:p>
        </p:txBody>
      </p:sp>
      <p:sp>
        <p:nvSpPr>
          <p:cNvPr id="38" name="Text 30"/>
          <p:cNvSpPr txBox="1"/>
          <p:nvPr/>
        </p:nvSpPr>
        <p:spPr>
          <a:xfrm>
            <a:off x="7479792" y="5138928"/>
            <a:ext cx="3977640" cy="896112"/>
          </a:xfrm>
          <a:prstGeom prst="rect">
            <a:avLst/>
          </a:prstGeom>
          <a:noFill/>
          <a:ln/>
        </p:spPr>
        <p:txBody>
          <a:bodyPr wrap="square" lIns="0" tIns="0" rIns="0" bIns="0" rtlCol="0" anchor="t"/>
          <a:lstStyle/>
          <a:p>
            <a:pPr indent="0" marL="0">
              <a:buNone/>
            </a:pPr>
            <a:r>
              <a:rPr lang="en-US" sz="1350" dirty="0">
                <a:solidFill>
                  <a:srgbClr val="33425E"/>
                </a:solidFill>
                <a:latin typeface="Calibri" pitchFamily="34" charset="0"/>
                <a:ea typeface="Calibri" pitchFamily="34" charset="-122"/>
                <a:cs typeface="Calibri" pitchFamily="34" charset="-120"/>
              </a:rPr>
              <a:t>The whole CyberQuest CTF is played at the command line. Every mission is solved by typing commands to track down a hidden flag — and nothing you type today can break anything.</a:t>
            </a:r>
            <a:endParaRPr lang="en-US" sz="1350" dirty="0"/>
          </a:p>
        </p:txBody>
      </p:sp>
      <p:sp>
        <p:nvSpPr>
          <p:cNvPr id="39" name="Text 31"/>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9 / 79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Terminal, shell, kernel: who does what?</a:t>
            </a:r>
            <a:endParaRPr lang="en-US" sz="3200" dirty="0"/>
          </a:p>
        </p:txBody>
      </p:sp>
      <p:sp>
        <p:nvSpPr>
          <p:cNvPr id="4" name="Shape 1"/>
          <p:cNvSpPr/>
          <p:nvPr/>
        </p:nvSpPr>
        <p:spPr>
          <a:xfrm>
            <a:off x="548640" y="1508760"/>
            <a:ext cx="6035040" cy="749808"/>
          </a:xfrm>
          <a:prstGeom prst="roundRect">
            <a:avLst>
              <a:gd name="adj" fmla="val 12195"/>
            </a:avLst>
          </a:prstGeom>
          <a:solidFill>
            <a:srgbClr val="E4EAF3"/>
          </a:solidFill>
          <a:ln/>
        </p:spPr>
      </p:sp>
      <p:sp>
        <p:nvSpPr>
          <p:cNvPr id="5" name="Text 2"/>
          <p:cNvSpPr txBox="1"/>
          <p:nvPr/>
        </p:nvSpPr>
        <p:spPr>
          <a:xfrm>
            <a:off x="777240" y="1508760"/>
            <a:ext cx="5669280" cy="749808"/>
          </a:xfrm>
          <a:prstGeom prst="rect">
            <a:avLst/>
          </a:prstGeom>
          <a:noFill/>
          <a:ln/>
        </p:spPr>
        <p:txBody>
          <a:bodyPr wrap="square" lIns="0" tIns="0" rIns="0" bIns="0" rtlCol="0" anchor="ctr"/>
          <a:lstStyle/>
          <a:p>
            <a:pPr indent="0" marL="0">
              <a:buNone/>
            </a:pPr>
            <a:r>
              <a:rPr lang="en-US" sz="2000" b="1" dirty="0">
                <a:solidFill>
                  <a:srgbClr val="12213A"/>
                </a:solidFill>
                <a:latin typeface="Calibri" pitchFamily="34" charset="0"/>
                <a:ea typeface="Calibri" pitchFamily="34" charset="-122"/>
                <a:cs typeface="Calibri" pitchFamily="34" charset="-120"/>
              </a:rPr>
              <a:t>You   </a:t>
            </a:r>
            <a:pPr indent="0" marL="0">
              <a:buNone/>
            </a:pPr>
            <a:r>
              <a:rPr lang="en-US" sz="1350" dirty="0">
                <a:solidFill>
                  <a:srgbClr val="12213A"/>
                </a:solidFill>
                <a:latin typeface="Calibri" pitchFamily="34" charset="0"/>
                <a:ea typeface="Calibri" pitchFamily="34" charset="-122"/>
                <a:cs typeface="Calibri" pitchFamily="34" charset="-120"/>
              </a:rPr>
              <a:t>type a command and press Enter</a:t>
            </a:r>
            <a:endParaRPr lang="en-US" sz="2000" dirty="0"/>
          </a:p>
        </p:txBody>
      </p:sp>
      <p:sp>
        <p:nvSpPr>
          <p:cNvPr id="6" name="Shape 3"/>
          <p:cNvSpPr/>
          <p:nvPr/>
        </p:nvSpPr>
        <p:spPr>
          <a:xfrm>
            <a:off x="777240" y="2404872"/>
            <a:ext cx="5577840" cy="749808"/>
          </a:xfrm>
          <a:prstGeom prst="roundRect">
            <a:avLst>
              <a:gd name="adj" fmla="val 12195"/>
            </a:avLst>
          </a:prstGeom>
          <a:solidFill>
            <a:srgbClr val="2A9FD6"/>
          </a:solidFill>
          <a:ln/>
        </p:spPr>
      </p:sp>
      <p:sp>
        <p:nvSpPr>
          <p:cNvPr id="7" name="Text 4"/>
          <p:cNvSpPr txBox="1"/>
          <p:nvPr/>
        </p:nvSpPr>
        <p:spPr>
          <a:xfrm>
            <a:off x="1005840" y="2404872"/>
            <a:ext cx="5212080" cy="74980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Terminal   </a:t>
            </a:r>
            <a:pPr indent="0" marL="0">
              <a:buNone/>
            </a:pPr>
            <a:r>
              <a:rPr lang="en-US" sz="1350" dirty="0">
                <a:solidFill>
                  <a:srgbClr val="FFFFFF"/>
                </a:solidFill>
                <a:latin typeface="Calibri" pitchFamily="34" charset="0"/>
                <a:ea typeface="Calibri" pitchFamily="34" charset="-122"/>
                <a:cs typeface="Calibri" pitchFamily="34" charset="-120"/>
              </a:rPr>
              <a:t>the window: shows text, sends your keystrokes</a:t>
            </a:r>
            <a:endParaRPr lang="en-US" sz="2000" dirty="0"/>
          </a:p>
        </p:txBody>
      </p:sp>
      <p:sp>
        <p:nvSpPr>
          <p:cNvPr id="8" name="Shape 5"/>
          <p:cNvSpPr/>
          <p:nvPr/>
        </p:nvSpPr>
        <p:spPr>
          <a:xfrm>
            <a:off x="1005840" y="3300984"/>
            <a:ext cx="5120640" cy="749808"/>
          </a:xfrm>
          <a:prstGeom prst="roundRect">
            <a:avLst>
              <a:gd name="adj" fmla="val 12195"/>
            </a:avLst>
          </a:prstGeom>
          <a:solidFill>
            <a:srgbClr val="2459D8"/>
          </a:solidFill>
          <a:ln/>
        </p:spPr>
      </p:sp>
      <p:sp>
        <p:nvSpPr>
          <p:cNvPr id="9" name="Text 6"/>
          <p:cNvSpPr txBox="1"/>
          <p:nvPr/>
        </p:nvSpPr>
        <p:spPr>
          <a:xfrm>
            <a:off x="1234440" y="3300984"/>
            <a:ext cx="4754880" cy="74980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Shell   </a:t>
            </a:r>
            <a:pPr indent="0" marL="0">
              <a:buNone/>
            </a:pPr>
            <a:r>
              <a:rPr lang="en-US" sz="1350" dirty="0">
                <a:solidFill>
                  <a:srgbClr val="FFFFFF"/>
                </a:solidFill>
                <a:latin typeface="Calibri" pitchFamily="34" charset="0"/>
                <a:ea typeface="Calibri" pitchFamily="34" charset="-122"/>
                <a:cs typeface="Calibri" pitchFamily="34" charset="-120"/>
              </a:rPr>
              <a:t>reads the command and runs it: sh, bash, zsh</a:t>
            </a:r>
            <a:endParaRPr lang="en-US" sz="2000" dirty="0"/>
          </a:p>
        </p:txBody>
      </p:sp>
      <p:sp>
        <p:nvSpPr>
          <p:cNvPr id="10" name="Shape 7"/>
          <p:cNvSpPr/>
          <p:nvPr/>
        </p:nvSpPr>
        <p:spPr>
          <a:xfrm>
            <a:off x="1234440" y="4197096"/>
            <a:ext cx="4663440" cy="749808"/>
          </a:xfrm>
          <a:prstGeom prst="roundRect">
            <a:avLst>
              <a:gd name="adj" fmla="val 12195"/>
            </a:avLst>
          </a:prstGeom>
          <a:solidFill>
            <a:srgbClr val="17875A"/>
          </a:solidFill>
          <a:ln/>
        </p:spPr>
      </p:sp>
      <p:sp>
        <p:nvSpPr>
          <p:cNvPr id="11" name="Text 8"/>
          <p:cNvSpPr txBox="1"/>
          <p:nvPr/>
        </p:nvSpPr>
        <p:spPr>
          <a:xfrm>
            <a:off x="1463040" y="4197096"/>
            <a:ext cx="4297680" cy="74980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Kernel   </a:t>
            </a:r>
            <a:pPr indent="0" marL="0">
              <a:buNone/>
            </a:pPr>
            <a:r>
              <a:rPr lang="en-US" sz="1350" dirty="0">
                <a:solidFill>
                  <a:srgbClr val="FFFFFF"/>
                </a:solidFill>
                <a:latin typeface="Calibri" pitchFamily="34" charset="0"/>
                <a:ea typeface="Calibri" pitchFamily="34" charset="-122"/>
                <a:cs typeface="Calibri" pitchFamily="34" charset="-120"/>
              </a:rPr>
              <a:t>Linux itself: runs programs, talks to hardware</a:t>
            </a:r>
            <a:endParaRPr lang="en-US" sz="2000" dirty="0"/>
          </a:p>
        </p:txBody>
      </p:sp>
      <p:sp>
        <p:nvSpPr>
          <p:cNvPr id="12" name="Shape 9"/>
          <p:cNvSpPr/>
          <p:nvPr/>
        </p:nvSpPr>
        <p:spPr>
          <a:xfrm>
            <a:off x="1463040" y="5093208"/>
            <a:ext cx="4206240" cy="749808"/>
          </a:xfrm>
          <a:prstGeom prst="roundRect">
            <a:avLst>
              <a:gd name="adj" fmla="val 12195"/>
            </a:avLst>
          </a:prstGeom>
          <a:solidFill>
            <a:srgbClr val="56657E"/>
          </a:solidFill>
          <a:ln/>
        </p:spPr>
      </p:sp>
      <p:sp>
        <p:nvSpPr>
          <p:cNvPr id="13" name="Text 10"/>
          <p:cNvSpPr txBox="1"/>
          <p:nvPr/>
        </p:nvSpPr>
        <p:spPr>
          <a:xfrm>
            <a:off x="1691640" y="5093208"/>
            <a:ext cx="3840480" cy="74980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Hardware   </a:t>
            </a:r>
            <a:pPr indent="0" marL="0">
              <a:buNone/>
            </a:pPr>
            <a:r>
              <a:rPr lang="en-US" sz="1350" dirty="0">
                <a:solidFill>
                  <a:srgbClr val="FFFFFF"/>
                </a:solidFill>
                <a:latin typeface="Calibri" pitchFamily="34" charset="0"/>
                <a:ea typeface="Calibri" pitchFamily="34" charset="-122"/>
                <a:cs typeface="Calibri" pitchFamily="34" charset="-120"/>
              </a:rPr>
              <a:t>CPU, memory, disk, network</a:t>
            </a:r>
            <a:endParaRPr lang="en-US" sz="2000" dirty="0"/>
          </a:p>
        </p:txBody>
      </p:sp>
      <p:sp>
        <p:nvSpPr>
          <p:cNvPr id="14" name="Shape 11"/>
          <p:cNvSpPr/>
          <p:nvPr/>
        </p:nvSpPr>
        <p:spPr>
          <a:xfrm>
            <a:off x="6903720" y="1508760"/>
            <a:ext cx="4736592" cy="2651760"/>
          </a:xfrm>
          <a:prstGeom prst="roundRect">
            <a:avLst>
              <a:gd name="adj" fmla="val 3448"/>
            </a:avLst>
          </a:prstGeom>
          <a:solidFill>
            <a:srgbClr val="0E1726"/>
          </a:solidFill>
          <a:ln/>
          <a:effectLst>
            <a:outerShdw sx="100000" sy="100000" kx="0" ky="0" algn="bl" rotWithShape="0" blurRad="127000" dist="38100" dir="5400000">
              <a:srgbClr val="12213A">
                <a:alpha val="22000"/>
              </a:srgbClr>
            </a:outerShdw>
          </a:effectLst>
        </p:spPr>
      </p:sp>
      <p:sp>
        <p:nvSpPr>
          <p:cNvPr id="15" name="Shape 12"/>
          <p:cNvSpPr/>
          <p:nvPr/>
        </p:nvSpPr>
        <p:spPr>
          <a:xfrm>
            <a:off x="7104888" y="1664208"/>
            <a:ext cx="118872" cy="118872"/>
          </a:xfrm>
          <a:prstGeom prst="ellipse">
            <a:avLst/>
          </a:prstGeom>
          <a:solidFill>
            <a:srgbClr val="E5534B"/>
          </a:solidFill>
          <a:ln/>
        </p:spPr>
      </p:sp>
      <p:sp>
        <p:nvSpPr>
          <p:cNvPr id="16" name="Shape 13"/>
          <p:cNvSpPr/>
          <p:nvPr/>
        </p:nvSpPr>
        <p:spPr>
          <a:xfrm>
            <a:off x="7306056" y="1664208"/>
            <a:ext cx="118872" cy="118872"/>
          </a:xfrm>
          <a:prstGeom prst="ellipse">
            <a:avLst/>
          </a:prstGeom>
          <a:solidFill>
            <a:srgbClr val="F5A623"/>
          </a:solidFill>
          <a:ln/>
        </p:spPr>
      </p:sp>
      <p:sp>
        <p:nvSpPr>
          <p:cNvPr id="17" name="Shape 14"/>
          <p:cNvSpPr/>
          <p:nvPr/>
        </p:nvSpPr>
        <p:spPr>
          <a:xfrm>
            <a:off x="7507224" y="1664208"/>
            <a:ext cx="118872" cy="118872"/>
          </a:xfrm>
          <a:prstGeom prst="ellipse">
            <a:avLst/>
          </a:prstGeom>
          <a:solidFill>
            <a:srgbClr val="46D39A"/>
          </a:solidFill>
          <a:ln/>
        </p:spPr>
      </p:sp>
      <p:sp>
        <p:nvSpPr>
          <p:cNvPr id="18" name="Text 15"/>
          <p:cNvSpPr txBox="1"/>
          <p:nvPr/>
        </p:nvSpPr>
        <p:spPr>
          <a:xfrm>
            <a:off x="7818120" y="1581912"/>
            <a:ext cx="2907792"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terminal window</a:t>
            </a:r>
            <a:endParaRPr lang="en-US" sz="1000" dirty="0"/>
          </a:p>
        </p:txBody>
      </p:sp>
      <p:sp>
        <p:nvSpPr>
          <p:cNvPr id="19" name="Text 16"/>
          <p:cNvSpPr txBox="1"/>
          <p:nvPr/>
        </p:nvSpPr>
        <p:spPr>
          <a:xfrm>
            <a:off x="7178040" y="1965960"/>
            <a:ext cx="4187952" cy="2057400"/>
          </a:xfrm>
          <a:prstGeom prst="rect">
            <a:avLst/>
          </a:prstGeom>
          <a:noFill/>
          <a:ln/>
        </p:spPr>
        <p:txBody>
          <a:bodyPr wrap="square" lIns="0" tIns="0" rIns="0" bIns="0" rtlCol="0" anchor="t"/>
          <a:lstStyle/>
          <a:p>
            <a:pPr indent="0" marL="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600" b="1" dirty="0">
                <a:solidFill>
                  <a:srgbClr val="FFFFFF"/>
                </a:solidFill>
                <a:latin typeface="Courier New" pitchFamily="34" charset="0"/>
                <a:ea typeface="Courier New" pitchFamily="34" charset="-122"/>
                <a:cs typeface="Courier New" pitchFamily="34" charset="-120"/>
              </a:rPr>
              <a:t>echo $0</a:t>
            </a:r>
            <a:endParaRPr lang="en-US" sz="1600" dirty="0"/>
          </a:p>
          <a:p>
            <a:pPr indent="0" marL="0">
              <a:spcAft>
                <a:spcPts val="200"/>
              </a:spcAft>
              <a:buNone/>
            </a:pPr>
            <a:r>
              <a:rPr lang="en-US" sz="1600" dirty="0">
                <a:solidFill>
                  <a:srgbClr val="B8C4D9"/>
                </a:solidFill>
                <a:latin typeface="Courier New" pitchFamily="34" charset="0"/>
                <a:ea typeface="Courier New" pitchFamily="34" charset="-122"/>
                <a:cs typeface="Courier New" pitchFamily="34" charset="-120"/>
              </a:rPr>
              <a:t>sh</a:t>
            </a:r>
            <a:endParaRPr lang="en-US" sz="1600" dirty="0"/>
          </a:p>
          <a:p>
            <a:pPr indent="0" marL="0">
              <a:spcAft>
                <a:spcPts val="200"/>
              </a:spcAft>
              <a:buNone/>
            </a:pPr>
            <a:r>
              <a:rPr lang="en-US" sz="1600" dirty="0">
                <a:solidFill>
                  <a:srgbClr val="7F8FAD"/>
                </a:solidFill>
                <a:latin typeface="Courier New" pitchFamily="34" charset="0"/>
                <a:ea typeface="Courier New" pitchFamily="34" charset="-122"/>
                <a:cs typeface="Courier New" pitchFamily="34" charset="-120"/>
              </a:rPr>
              <a:t># the shell's name</a:t>
            </a:r>
            <a:endParaRPr lang="en-US" sz="1600" dirty="0"/>
          </a:p>
          <a:p>
            <a:pPr indent="0" marL="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600" b="1" dirty="0">
                <a:solidFill>
                  <a:srgbClr val="FFFFFF"/>
                </a:solidFill>
                <a:latin typeface="Courier New" pitchFamily="34" charset="0"/>
                <a:ea typeface="Courier New" pitchFamily="34" charset="-122"/>
                <a:cs typeface="Courier New" pitchFamily="34" charset="-120"/>
              </a:rPr>
              <a:t>uname -s</a:t>
            </a:r>
            <a:endParaRPr lang="en-US" sz="1600" dirty="0"/>
          </a:p>
          <a:p>
            <a:pPr indent="0" marL="0">
              <a:spcAft>
                <a:spcPts val="200"/>
              </a:spcAft>
              <a:buNone/>
            </a:pPr>
            <a:r>
              <a:rPr lang="en-US" sz="1600" dirty="0">
                <a:solidFill>
                  <a:srgbClr val="B8C4D9"/>
                </a:solidFill>
                <a:latin typeface="Courier New" pitchFamily="34" charset="0"/>
                <a:ea typeface="Courier New" pitchFamily="34" charset="-122"/>
                <a:cs typeface="Courier New" pitchFamily="34" charset="-120"/>
              </a:rPr>
              <a:t>Linux</a:t>
            </a:r>
            <a:endParaRPr lang="en-US" sz="1600" dirty="0"/>
          </a:p>
          <a:p>
            <a:pPr indent="0" marL="0">
              <a:spcAft>
                <a:spcPts val="200"/>
              </a:spcAft>
              <a:buNone/>
            </a:pPr>
            <a:r>
              <a:rPr lang="en-US" sz="1600" dirty="0">
                <a:solidFill>
                  <a:srgbClr val="7F8FAD"/>
                </a:solidFill>
                <a:latin typeface="Courier New" pitchFamily="34" charset="0"/>
                <a:ea typeface="Courier New" pitchFamily="34" charset="-122"/>
                <a:cs typeface="Courier New" pitchFamily="34" charset="-120"/>
              </a:rPr>
              <a:t># the kernel's name</a:t>
            </a:r>
            <a:endParaRPr lang="en-US" sz="1600" dirty="0"/>
          </a:p>
        </p:txBody>
      </p:sp>
      <p:sp>
        <p:nvSpPr>
          <p:cNvPr id="20" name="Shape 17"/>
          <p:cNvSpPr/>
          <p:nvPr/>
        </p:nvSpPr>
        <p:spPr>
          <a:xfrm>
            <a:off x="6903720" y="4343400"/>
            <a:ext cx="4736592" cy="1554480"/>
          </a:xfrm>
          <a:prstGeom prst="roundRect">
            <a:avLst>
              <a:gd name="adj" fmla="val 5882"/>
            </a:avLst>
          </a:prstGeom>
          <a:solidFill>
            <a:srgbClr val="F1F5FB"/>
          </a:solidFill>
          <a:ln/>
        </p:spPr>
      </p:sp>
      <p:sp>
        <p:nvSpPr>
          <p:cNvPr id="21" name="Text 18"/>
          <p:cNvSpPr txBox="1"/>
          <p:nvPr/>
        </p:nvSpPr>
        <p:spPr>
          <a:xfrm>
            <a:off x="7132320" y="4434840"/>
            <a:ext cx="4389120" cy="1371600"/>
          </a:xfrm>
          <a:prstGeom prst="rect">
            <a:avLst/>
          </a:prstGeom>
          <a:noFill/>
          <a:ln/>
        </p:spPr>
        <p:txBody>
          <a:bodyPr wrap="square" lIns="0" tIns="0" rIns="0" bIns="0" rtlCol="0" anchor="ctr"/>
          <a:lstStyle/>
          <a:p>
            <a:pPr indent="0" marL="0">
              <a:buNone/>
            </a:pPr>
            <a:r>
              <a:rPr lang="en-US" sz="1600" b="1" dirty="0">
                <a:solidFill>
                  <a:srgbClr val="2459D8"/>
                </a:solidFill>
                <a:latin typeface="Calibri" pitchFamily="34" charset="0"/>
                <a:ea typeface="Calibri" pitchFamily="34" charset="-122"/>
                <a:cs typeface="Calibri" pitchFamily="34" charset="-120"/>
              </a:rPr>
              <a:t>CLI </a:t>
            </a:r>
            <a:pPr indent="0" marL="0">
              <a:buNone/>
            </a:pPr>
            <a:r>
              <a:rPr lang="en-US" sz="1600" dirty="0">
                <a:solidFill>
                  <a:srgbClr val="12213A"/>
                </a:solidFill>
                <a:latin typeface="Calibri" pitchFamily="34" charset="0"/>
                <a:ea typeface="Calibri" pitchFamily="34" charset="-122"/>
                <a:cs typeface="Calibri" pitchFamily="34" charset="-120"/>
              </a:rPr>
              <a:t>command-line interface: you type.</a:t>
            </a:r>
            <a:endParaRPr lang="en-US" sz="1600" dirty="0"/>
          </a:p>
          <a:p>
            <a:pPr indent="0" marL="0">
              <a:buNone/>
            </a:pPr>
            <a:r>
              <a:rPr lang="en-US" sz="1600" b="1" dirty="0">
                <a:solidFill>
                  <a:srgbClr val="D1416B"/>
                </a:solidFill>
                <a:latin typeface="Calibri" pitchFamily="34" charset="0"/>
                <a:ea typeface="Calibri" pitchFamily="34" charset="-122"/>
                <a:cs typeface="Calibri" pitchFamily="34" charset="-120"/>
              </a:rPr>
              <a:t>GUI </a:t>
            </a:r>
            <a:pPr indent="0" marL="0">
              <a:buNone/>
            </a:pPr>
            <a:r>
              <a:rPr lang="en-US" sz="1600" dirty="0">
                <a:solidFill>
                  <a:srgbClr val="12213A"/>
                </a:solidFill>
                <a:latin typeface="Calibri" pitchFamily="34" charset="0"/>
                <a:ea typeface="Calibri" pitchFamily="34" charset="-122"/>
                <a:cs typeface="Calibri" pitchFamily="34" charset="-120"/>
              </a:rPr>
              <a:t>graphical user interface: you point and click.</a:t>
            </a:r>
            <a:endParaRPr lang="en-US" sz="1600" dirty="0"/>
          </a:p>
        </p:txBody>
      </p:sp>
      <p:sp>
        <p:nvSpPr>
          <p:cNvPr id="22" name="Text 19"/>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10 / 79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Anatomy of the terminal</a:t>
            </a:r>
            <a:endParaRPr lang="en-US" sz="3200" dirty="0"/>
          </a:p>
        </p:txBody>
      </p:sp>
      <p:sp>
        <p:nvSpPr>
          <p:cNvPr id="4" name="Shape 1"/>
          <p:cNvSpPr/>
          <p:nvPr/>
        </p:nvSpPr>
        <p:spPr>
          <a:xfrm>
            <a:off x="548640" y="1463040"/>
            <a:ext cx="7040880" cy="4434840"/>
          </a:xfrm>
          <a:prstGeom prst="roundRect">
            <a:avLst>
              <a:gd name="adj" fmla="val 2062"/>
            </a:avLst>
          </a:prstGeom>
          <a:solidFill>
            <a:srgbClr val="0E1726"/>
          </a:solidFill>
          <a:ln/>
          <a:effectLst>
            <a:outerShdw sx="100000" sy="100000" kx="0" ky="0" algn="bl" rotWithShape="0" blurRad="127000" dist="38100" dir="5400000">
              <a:srgbClr val="12213A">
                <a:alpha val="22000"/>
              </a:srgbClr>
            </a:outerShdw>
          </a:effectLst>
        </p:spPr>
      </p:sp>
      <p:sp>
        <p:nvSpPr>
          <p:cNvPr id="5" name="Shape 2"/>
          <p:cNvSpPr/>
          <p:nvPr/>
        </p:nvSpPr>
        <p:spPr>
          <a:xfrm>
            <a:off x="749808" y="1618488"/>
            <a:ext cx="118872" cy="118872"/>
          </a:xfrm>
          <a:prstGeom prst="ellipse">
            <a:avLst/>
          </a:prstGeom>
          <a:solidFill>
            <a:srgbClr val="E5534B"/>
          </a:solidFill>
          <a:ln/>
        </p:spPr>
      </p:sp>
      <p:sp>
        <p:nvSpPr>
          <p:cNvPr id="6" name="Shape 3"/>
          <p:cNvSpPr/>
          <p:nvPr/>
        </p:nvSpPr>
        <p:spPr>
          <a:xfrm>
            <a:off x="950976" y="1618488"/>
            <a:ext cx="118872" cy="118872"/>
          </a:xfrm>
          <a:prstGeom prst="ellipse">
            <a:avLst/>
          </a:prstGeom>
          <a:solidFill>
            <a:srgbClr val="F5A623"/>
          </a:solidFill>
          <a:ln/>
        </p:spPr>
      </p:sp>
      <p:sp>
        <p:nvSpPr>
          <p:cNvPr id="7" name="Shape 4"/>
          <p:cNvSpPr/>
          <p:nvPr/>
        </p:nvSpPr>
        <p:spPr>
          <a:xfrm>
            <a:off x="1152144" y="1618488"/>
            <a:ext cx="118872" cy="118872"/>
          </a:xfrm>
          <a:prstGeom prst="ellipse">
            <a:avLst/>
          </a:prstGeom>
          <a:solidFill>
            <a:srgbClr val="46D39A"/>
          </a:solidFill>
          <a:ln/>
        </p:spPr>
      </p:sp>
      <p:sp>
        <p:nvSpPr>
          <p:cNvPr id="8" name="Text 5"/>
          <p:cNvSpPr txBox="1"/>
          <p:nvPr/>
        </p:nvSpPr>
        <p:spPr>
          <a:xfrm>
            <a:off x="1463040" y="1536192"/>
            <a:ext cx="521208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CyberQuest Linux CTF terminal</a:t>
            </a:r>
            <a:endParaRPr lang="en-US" sz="1000" dirty="0"/>
          </a:p>
        </p:txBody>
      </p:sp>
      <p:sp>
        <p:nvSpPr>
          <p:cNvPr id="9" name="Text 6"/>
          <p:cNvSpPr txBox="1"/>
          <p:nvPr/>
        </p:nvSpPr>
        <p:spPr>
          <a:xfrm>
            <a:off x="914400" y="2240280"/>
            <a:ext cx="2087880" cy="411480"/>
          </a:xfrm>
          <a:prstGeom prst="rect">
            <a:avLst/>
          </a:prstGeom>
          <a:noFill/>
          <a:ln/>
        </p:spPr>
        <p:txBody>
          <a:bodyPr wrap="square" lIns="0" tIns="0" rIns="0" bIns="0" rtlCol="0" anchor="ctr"/>
          <a:lstStyle/>
          <a:p>
            <a:pPr indent="0" marL="0">
              <a:buNone/>
            </a:pPr>
            <a:r>
              <a:rPr lang="en-US" sz="1700" b="1" dirty="0">
                <a:solidFill>
                  <a:srgbClr val="46D39A"/>
                </a:solidFill>
                <a:latin typeface="Courier New" pitchFamily="34" charset="0"/>
                <a:ea typeface="Courier New" pitchFamily="34" charset="-122"/>
                <a:cs typeface="Courier New" pitchFamily="34" charset="-120"/>
              </a:rPr>
              <a:t>player@quest:~</a:t>
            </a:r>
            <a:endParaRPr lang="en-US" sz="1700" dirty="0"/>
          </a:p>
        </p:txBody>
      </p:sp>
      <p:sp>
        <p:nvSpPr>
          <p:cNvPr id="10" name="Text 7"/>
          <p:cNvSpPr txBox="1"/>
          <p:nvPr/>
        </p:nvSpPr>
        <p:spPr>
          <a:xfrm>
            <a:off x="2727960" y="2240280"/>
            <a:ext cx="403860" cy="411480"/>
          </a:xfrm>
          <a:prstGeom prst="rect">
            <a:avLst/>
          </a:prstGeom>
          <a:noFill/>
          <a:ln/>
        </p:spPr>
        <p:txBody>
          <a:bodyPr wrap="square" lIns="0" tIns="0" rIns="0" bIns="0" rtlCol="0" anchor="ctr"/>
          <a:lstStyle/>
          <a:p>
            <a:pPr indent="0" marL="0">
              <a:buNone/>
            </a:pPr>
            <a:r>
              <a:rPr lang="en-US" sz="1700" b="1" dirty="0">
                <a:solidFill>
                  <a:srgbClr val="F5A623"/>
                </a:solidFill>
                <a:latin typeface="Courier New" pitchFamily="34" charset="0"/>
                <a:ea typeface="Courier New" pitchFamily="34" charset="-122"/>
                <a:cs typeface="Courier New" pitchFamily="34" charset="-120"/>
              </a:rPr>
              <a:t>$</a:t>
            </a:r>
            <a:endParaRPr lang="en-US" sz="1700" dirty="0"/>
          </a:p>
        </p:txBody>
      </p:sp>
      <p:sp>
        <p:nvSpPr>
          <p:cNvPr id="11" name="Text 8"/>
          <p:cNvSpPr txBox="1"/>
          <p:nvPr/>
        </p:nvSpPr>
        <p:spPr>
          <a:xfrm>
            <a:off x="2987040" y="2240280"/>
            <a:ext cx="662940" cy="411480"/>
          </a:xfrm>
          <a:prstGeom prst="rect">
            <a:avLst/>
          </a:prstGeom>
          <a:noFill/>
          <a:ln/>
        </p:spPr>
        <p:txBody>
          <a:bodyPr wrap="square" lIns="0" tIns="0" rIns="0" bIns="0" rtlCol="0" anchor="ctr"/>
          <a:lstStyle/>
          <a:p>
            <a:pPr indent="0" marL="0">
              <a:buNone/>
            </a:pPr>
            <a:r>
              <a:rPr lang="en-US" sz="1700" b="1" dirty="0">
                <a:solidFill>
                  <a:srgbClr val="FFFFFF"/>
                </a:solidFill>
                <a:latin typeface="Courier New" pitchFamily="34" charset="0"/>
                <a:ea typeface="Courier New" pitchFamily="34" charset="-122"/>
                <a:cs typeface="Courier New" pitchFamily="34" charset="-120"/>
              </a:rPr>
              <a:t>pwd</a:t>
            </a:r>
            <a:endParaRPr lang="en-US" sz="1700" dirty="0"/>
          </a:p>
        </p:txBody>
      </p:sp>
      <p:sp>
        <p:nvSpPr>
          <p:cNvPr id="12" name="Text 9"/>
          <p:cNvSpPr txBox="1"/>
          <p:nvPr/>
        </p:nvSpPr>
        <p:spPr>
          <a:xfrm>
            <a:off x="3634740" y="2240280"/>
            <a:ext cx="2606040" cy="411480"/>
          </a:xfrm>
          <a:prstGeom prst="rect">
            <a:avLst/>
          </a:prstGeom>
          <a:noFill/>
          <a:ln/>
        </p:spPr>
        <p:txBody>
          <a:bodyPr wrap="square" lIns="0" tIns="0" rIns="0" bIns="0" rtlCol="0" anchor="ctr"/>
          <a:lstStyle/>
          <a:p>
            <a:pPr indent="0" marL="0">
              <a:buNone/>
            </a:pPr>
            <a:r>
              <a:rPr lang="en-US" sz="1700" dirty="0">
                <a:solidFill>
                  <a:srgbClr val="7F8FAD"/>
                </a:solidFill>
                <a:latin typeface="Courier New" pitchFamily="34" charset="0"/>
                <a:ea typeface="Courier New" pitchFamily="34" charset="-122"/>
                <a:cs typeface="Courier New" pitchFamily="34" charset="-120"/>
              </a:rPr>
              <a:t># then press Enter</a:t>
            </a:r>
            <a:endParaRPr lang="en-US" sz="1700" dirty="0"/>
          </a:p>
        </p:txBody>
      </p:sp>
      <p:sp>
        <p:nvSpPr>
          <p:cNvPr id="13" name="Text 10"/>
          <p:cNvSpPr txBox="1"/>
          <p:nvPr/>
        </p:nvSpPr>
        <p:spPr>
          <a:xfrm>
            <a:off x="914400" y="3246120"/>
            <a:ext cx="1828800" cy="411480"/>
          </a:xfrm>
          <a:prstGeom prst="rect">
            <a:avLst/>
          </a:prstGeom>
          <a:noFill/>
          <a:ln/>
        </p:spPr>
        <p:txBody>
          <a:bodyPr wrap="square" lIns="0" tIns="0" rIns="0" bIns="0" rtlCol="0" anchor="ctr"/>
          <a:lstStyle/>
          <a:p>
            <a:pPr indent="0" marL="0">
              <a:buNone/>
            </a:pPr>
            <a:r>
              <a:rPr lang="en-US" sz="1700" dirty="0">
                <a:solidFill>
                  <a:srgbClr val="B8C4D9"/>
                </a:solidFill>
                <a:latin typeface="Courier New" pitchFamily="34" charset="0"/>
                <a:ea typeface="Courier New" pitchFamily="34" charset="-122"/>
                <a:cs typeface="Courier New" pitchFamily="34" charset="-120"/>
              </a:rPr>
              <a:t>/home/player</a:t>
            </a:r>
            <a:endParaRPr lang="en-US" sz="1700" dirty="0"/>
          </a:p>
        </p:txBody>
      </p:sp>
      <p:sp>
        <p:nvSpPr>
          <p:cNvPr id="14" name="Text 11"/>
          <p:cNvSpPr txBox="1"/>
          <p:nvPr/>
        </p:nvSpPr>
        <p:spPr>
          <a:xfrm>
            <a:off x="914400" y="4251960"/>
            <a:ext cx="2087880" cy="411480"/>
          </a:xfrm>
          <a:prstGeom prst="rect">
            <a:avLst/>
          </a:prstGeom>
          <a:noFill/>
          <a:ln/>
        </p:spPr>
        <p:txBody>
          <a:bodyPr wrap="square" lIns="0" tIns="0" rIns="0" bIns="0" rtlCol="0" anchor="ctr"/>
          <a:lstStyle/>
          <a:p>
            <a:pPr indent="0" marL="0">
              <a:buNone/>
            </a:pPr>
            <a:r>
              <a:rPr lang="en-US" sz="1700" b="1" dirty="0">
                <a:solidFill>
                  <a:srgbClr val="46D39A"/>
                </a:solidFill>
                <a:latin typeface="Courier New" pitchFamily="34" charset="0"/>
                <a:ea typeface="Courier New" pitchFamily="34" charset="-122"/>
                <a:cs typeface="Courier New" pitchFamily="34" charset="-120"/>
              </a:rPr>
              <a:t>player@quest:~</a:t>
            </a:r>
            <a:endParaRPr lang="en-US" sz="1700" dirty="0"/>
          </a:p>
        </p:txBody>
      </p:sp>
      <p:sp>
        <p:nvSpPr>
          <p:cNvPr id="15" name="Text 12"/>
          <p:cNvSpPr txBox="1"/>
          <p:nvPr/>
        </p:nvSpPr>
        <p:spPr>
          <a:xfrm>
            <a:off x="2727960" y="4251960"/>
            <a:ext cx="403860" cy="411480"/>
          </a:xfrm>
          <a:prstGeom prst="rect">
            <a:avLst/>
          </a:prstGeom>
          <a:noFill/>
          <a:ln/>
        </p:spPr>
        <p:txBody>
          <a:bodyPr wrap="square" lIns="0" tIns="0" rIns="0" bIns="0" rtlCol="0" anchor="ctr"/>
          <a:lstStyle/>
          <a:p>
            <a:pPr indent="0" marL="0">
              <a:buNone/>
            </a:pPr>
            <a:r>
              <a:rPr lang="en-US" sz="1700" b="1" dirty="0">
                <a:solidFill>
                  <a:srgbClr val="F5A623"/>
                </a:solidFill>
                <a:latin typeface="Courier New" pitchFamily="34" charset="0"/>
                <a:ea typeface="Courier New" pitchFamily="34" charset="-122"/>
                <a:cs typeface="Courier New" pitchFamily="34" charset="-120"/>
              </a:rPr>
              <a:t>$</a:t>
            </a:r>
            <a:endParaRPr lang="en-US" sz="1700" dirty="0"/>
          </a:p>
        </p:txBody>
      </p:sp>
      <p:sp>
        <p:nvSpPr>
          <p:cNvPr id="16" name="Shape 13"/>
          <p:cNvSpPr/>
          <p:nvPr/>
        </p:nvSpPr>
        <p:spPr>
          <a:xfrm>
            <a:off x="2987040" y="4297680"/>
            <a:ext cx="116586" cy="329184"/>
          </a:xfrm>
          <a:prstGeom prst="rect">
            <a:avLst/>
          </a:prstGeom>
          <a:solidFill>
            <a:srgbClr val="B8C4D9"/>
          </a:solidFill>
          <a:ln/>
        </p:spPr>
      </p:sp>
      <p:sp>
        <p:nvSpPr>
          <p:cNvPr id="17" name="Shape 14"/>
          <p:cNvSpPr/>
          <p:nvPr/>
        </p:nvSpPr>
        <p:spPr>
          <a:xfrm>
            <a:off x="850392" y="2221992"/>
            <a:ext cx="1941576" cy="448056"/>
          </a:xfrm>
          <a:prstGeom prst="roundRect">
            <a:avLst>
              <a:gd name="adj" fmla="val 12245"/>
            </a:avLst>
          </a:prstGeom>
          <a:ln w="25400">
            <a:solidFill>
              <a:srgbClr val="46D39A"/>
            </a:solidFill>
            <a:prstDash val="solid"/>
          </a:ln>
        </p:spPr>
      </p:sp>
      <p:sp>
        <p:nvSpPr>
          <p:cNvPr id="18" name="Shape 15"/>
          <p:cNvSpPr/>
          <p:nvPr/>
        </p:nvSpPr>
        <p:spPr>
          <a:xfrm>
            <a:off x="2709672" y="2221992"/>
            <a:ext cx="166116" cy="448056"/>
          </a:xfrm>
          <a:prstGeom prst="roundRect">
            <a:avLst>
              <a:gd name="adj" fmla="val 33028"/>
            </a:avLst>
          </a:prstGeom>
          <a:ln w="25400">
            <a:solidFill>
              <a:srgbClr val="F5A623"/>
            </a:solidFill>
            <a:prstDash val="solid"/>
          </a:ln>
        </p:spPr>
      </p:sp>
      <p:sp>
        <p:nvSpPr>
          <p:cNvPr id="19" name="Shape 16"/>
          <p:cNvSpPr/>
          <p:nvPr/>
        </p:nvSpPr>
        <p:spPr>
          <a:xfrm>
            <a:off x="2923032" y="2221992"/>
            <a:ext cx="516636" cy="448056"/>
          </a:xfrm>
          <a:prstGeom prst="roundRect">
            <a:avLst>
              <a:gd name="adj" fmla="val 12245"/>
            </a:avLst>
          </a:prstGeom>
          <a:ln w="25400">
            <a:solidFill>
              <a:srgbClr val="7FB2FF"/>
            </a:solidFill>
            <a:prstDash val="solid"/>
          </a:ln>
        </p:spPr>
      </p:sp>
      <p:sp>
        <p:nvSpPr>
          <p:cNvPr id="20" name="Shape 17"/>
          <p:cNvSpPr/>
          <p:nvPr/>
        </p:nvSpPr>
        <p:spPr>
          <a:xfrm>
            <a:off x="850392" y="3227832"/>
            <a:ext cx="1682496" cy="448056"/>
          </a:xfrm>
          <a:prstGeom prst="roundRect">
            <a:avLst>
              <a:gd name="adj" fmla="val 12245"/>
            </a:avLst>
          </a:prstGeom>
          <a:ln w="25400">
            <a:solidFill>
              <a:srgbClr val="C9A7FF"/>
            </a:solidFill>
            <a:prstDash val="solid"/>
          </a:ln>
        </p:spPr>
      </p:sp>
      <p:sp>
        <p:nvSpPr>
          <p:cNvPr id="21" name="Shape 18"/>
          <p:cNvSpPr/>
          <p:nvPr/>
        </p:nvSpPr>
        <p:spPr>
          <a:xfrm>
            <a:off x="2968752" y="4233672"/>
            <a:ext cx="166116" cy="448056"/>
          </a:xfrm>
          <a:prstGeom prst="roundRect">
            <a:avLst>
              <a:gd name="adj" fmla="val 33028"/>
            </a:avLst>
          </a:prstGeom>
          <a:ln w="25400">
            <a:solidFill>
              <a:srgbClr val="FF8FB1"/>
            </a:solidFill>
            <a:prstDash val="solid"/>
          </a:ln>
        </p:spPr>
      </p:sp>
      <p:sp>
        <p:nvSpPr>
          <p:cNvPr id="22" name="Shape 19"/>
          <p:cNvSpPr/>
          <p:nvPr/>
        </p:nvSpPr>
        <p:spPr>
          <a:xfrm>
            <a:off x="7086600" y="1572768"/>
            <a:ext cx="329184" cy="329184"/>
          </a:xfrm>
          <a:prstGeom prst="ellipse">
            <a:avLst/>
          </a:prstGeom>
          <a:solidFill>
            <a:srgbClr val="FFFFFF"/>
          </a:solidFill>
          <a:ln/>
        </p:spPr>
      </p:sp>
      <p:sp>
        <p:nvSpPr>
          <p:cNvPr id="23" name="Text 20"/>
          <p:cNvSpPr txBox="1"/>
          <p:nvPr/>
        </p:nvSpPr>
        <p:spPr>
          <a:xfrm>
            <a:off x="7086600" y="1572768"/>
            <a:ext cx="329184" cy="329184"/>
          </a:xfrm>
          <a:prstGeom prst="rect">
            <a:avLst/>
          </a:prstGeom>
          <a:noFill/>
          <a:ln/>
        </p:spPr>
        <p:txBody>
          <a:bodyPr wrap="square" lIns="0" tIns="0" rIns="0" bIns="0" rtlCol="0" anchor="ctr"/>
          <a:lstStyle/>
          <a:p>
            <a:pPr algn="ctr" indent="0" marL="0">
              <a:buNone/>
            </a:pPr>
            <a:r>
              <a:rPr lang="en-US" sz="1300" b="1" dirty="0">
                <a:solidFill>
                  <a:srgbClr val="12213A"/>
                </a:solidFill>
                <a:latin typeface="Arial" pitchFamily="34" charset="0"/>
                <a:ea typeface="Arial" pitchFamily="34" charset="-122"/>
                <a:cs typeface="Arial" pitchFamily="34" charset="-120"/>
              </a:rPr>
              <a:t>1</a:t>
            </a:r>
            <a:endParaRPr lang="en-US" sz="1300" dirty="0"/>
          </a:p>
        </p:txBody>
      </p:sp>
      <p:sp>
        <p:nvSpPr>
          <p:cNvPr id="24" name="Shape 21"/>
          <p:cNvSpPr/>
          <p:nvPr/>
        </p:nvSpPr>
        <p:spPr>
          <a:xfrm>
            <a:off x="804672" y="1819656"/>
            <a:ext cx="329184" cy="329184"/>
          </a:xfrm>
          <a:prstGeom prst="ellipse">
            <a:avLst/>
          </a:prstGeom>
          <a:solidFill>
            <a:srgbClr val="46D39A"/>
          </a:solidFill>
          <a:ln/>
        </p:spPr>
      </p:sp>
      <p:sp>
        <p:nvSpPr>
          <p:cNvPr id="25" name="Text 22"/>
          <p:cNvSpPr txBox="1"/>
          <p:nvPr/>
        </p:nvSpPr>
        <p:spPr>
          <a:xfrm>
            <a:off x="804672" y="1819656"/>
            <a:ext cx="329184" cy="329184"/>
          </a:xfrm>
          <a:prstGeom prst="rect">
            <a:avLst/>
          </a:prstGeom>
          <a:noFill/>
          <a:ln/>
        </p:spPr>
        <p:txBody>
          <a:bodyPr wrap="square" lIns="0" tIns="0" rIns="0" bIns="0" rtlCol="0" anchor="ctr"/>
          <a:lstStyle/>
          <a:p>
            <a:pPr algn="ctr" indent="0" marL="0">
              <a:buNone/>
            </a:pPr>
            <a:r>
              <a:rPr lang="en-US" sz="1300" b="1" dirty="0">
                <a:solidFill>
                  <a:srgbClr val="12213A"/>
                </a:solidFill>
                <a:latin typeface="Arial" pitchFamily="34" charset="0"/>
                <a:ea typeface="Arial" pitchFamily="34" charset="-122"/>
                <a:cs typeface="Arial" pitchFamily="34" charset="-120"/>
              </a:rPr>
              <a:t>2</a:t>
            </a:r>
            <a:endParaRPr lang="en-US" sz="1300" dirty="0"/>
          </a:p>
        </p:txBody>
      </p:sp>
      <p:sp>
        <p:nvSpPr>
          <p:cNvPr id="26" name="Shape 23"/>
          <p:cNvSpPr/>
          <p:nvPr/>
        </p:nvSpPr>
        <p:spPr>
          <a:xfrm>
            <a:off x="2636520" y="1819656"/>
            <a:ext cx="329184" cy="329184"/>
          </a:xfrm>
          <a:prstGeom prst="ellipse">
            <a:avLst/>
          </a:prstGeom>
          <a:solidFill>
            <a:srgbClr val="F5A623"/>
          </a:solidFill>
          <a:ln/>
        </p:spPr>
      </p:sp>
      <p:sp>
        <p:nvSpPr>
          <p:cNvPr id="27" name="Text 24"/>
          <p:cNvSpPr txBox="1"/>
          <p:nvPr/>
        </p:nvSpPr>
        <p:spPr>
          <a:xfrm>
            <a:off x="2636520" y="1819656"/>
            <a:ext cx="329184" cy="329184"/>
          </a:xfrm>
          <a:prstGeom prst="rect">
            <a:avLst/>
          </a:prstGeom>
          <a:noFill/>
          <a:ln/>
        </p:spPr>
        <p:txBody>
          <a:bodyPr wrap="square" lIns="0" tIns="0" rIns="0" bIns="0" rtlCol="0" anchor="ctr"/>
          <a:lstStyle/>
          <a:p>
            <a:pPr algn="ctr" indent="0" marL="0">
              <a:buNone/>
            </a:pPr>
            <a:r>
              <a:rPr lang="en-US" sz="1300" b="1" dirty="0">
                <a:solidFill>
                  <a:srgbClr val="12213A"/>
                </a:solidFill>
                <a:latin typeface="Arial" pitchFamily="34" charset="0"/>
                <a:ea typeface="Arial" pitchFamily="34" charset="-122"/>
                <a:cs typeface="Arial" pitchFamily="34" charset="-120"/>
              </a:rPr>
              <a:t>3</a:t>
            </a:r>
            <a:endParaRPr lang="en-US" sz="1300" dirty="0"/>
          </a:p>
        </p:txBody>
      </p:sp>
      <p:sp>
        <p:nvSpPr>
          <p:cNvPr id="28" name="Shape 25"/>
          <p:cNvSpPr/>
          <p:nvPr/>
        </p:nvSpPr>
        <p:spPr>
          <a:xfrm>
            <a:off x="3096768" y="1819656"/>
            <a:ext cx="329184" cy="329184"/>
          </a:xfrm>
          <a:prstGeom prst="ellipse">
            <a:avLst/>
          </a:prstGeom>
          <a:solidFill>
            <a:srgbClr val="7FB2FF"/>
          </a:solidFill>
          <a:ln/>
        </p:spPr>
      </p:sp>
      <p:sp>
        <p:nvSpPr>
          <p:cNvPr id="29" name="Text 26"/>
          <p:cNvSpPr txBox="1"/>
          <p:nvPr/>
        </p:nvSpPr>
        <p:spPr>
          <a:xfrm>
            <a:off x="3096768" y="1819656"/>
            <a:ext cx="329184" cy="329184"/>
          </a:xfrm>
          <a:prstGeom prst="rect">
            <a:avLst/>
          </a:prstGeom>
          <a:noFill/>
          <a:ln/>
        </p:spPr>
        <p:txBody>
          <a:bodyPr wrap="square" lIns="0" tIns="0" rIns="0" bIns="0" rtlCol="0" anchor="ctr"/>
          <a:lstStyle/>
          <a:p>
            <a:pPr algn="ctr" indent="0" marL="0">
              <a:buNone/>
            </a:pPr>
            <a:r>
              <a:rPr lang="en-US" sz="1300" b="1" dirty="0">
                <a:solidFill>
                  <a:srgbClr val="12213A"/>
                </a:solidFill>
                <a:latin typeface="Arial" pitchFamily="34" charset="0"/>
                <a:ea typeface="Arial" pitchFamily="34" charset="-122"/>
                <a:cs typeface="Arial" pitchFamily="34" charset="-120"/>
              </a:rPr>
              <a:t>4</a:t>
            </a:r>
            <a:endParaRPr lang="en-US" sz="1300" dirty="0"/>
          </a:p>
        </p:txBody>
      </p:sp>
      <p:sp>
        <p:nvSpPr>
          <p:cNvPr id="30" name="Shape 27"/>
          <p:cNvSpPr/>
          <p:nvPr/>
        </p:nvSpPr>
        <p:spPr>
          <a:xfrm>
            <a:off x="804672" y="2825496"/>
            <a:ext cx="329184" cy="329184"/>
          </a:xfrm>
          <a:prstGeom prst="ellipse">
            <a:avLst/>
          </a:prstGeom>
          <a:solidFill>
            <a:srgbClr val="C9A7FF"/>
          </a:solidFill>
          <a:ln/>
        </p:spPr>
      </p:sp>
      <p:sp>
        <p:nvSpPr>
          <p:cNvPr id="31" name="Text 28"/>
          <p:cNvSpPr txBox="1"/>
          <p:nvPr/>
        </p:nvSpPr>
        <p:spPr>
          <a:xfrm>
            <a:off x="804672" y="2825496"/>
            <a:ext cx="329184" cy="329184"/>
          </a:xfrm>
          <a:prstGeom prst="rect">
            <a:avLst/>
          </a:prstGeom>
          <a:noFill/>
          <a:ln/>
        </p:spPr>
        <p:txBody>
          <a:bodyPr wrap="square" lIns="0" tIns="0" rIns="0" bIns="0" rtlCol="0" anchor="ctr"/>
          <a:lstStyle/>
          <a:p>
            <a:pPr algn="ctr" indent="0" marL="0">
              <a:buNone/>
            </a:pPr>
            <a:r>
              <a:rPr lang="en-US" sz="1300" b="1" dirty="0">
                <a:solidFill>
                  <a:srgbClr val="12213A"/>
                </a:solidFill>
                <a:latin typeface="Arial" pitchFamily="34" charset="0"/>
                <a:ea typeface="Arial" pitchFamily="34" charset="-122"/>
                <a:cs typeface="Arial" pitchFamily="34" charset="-120"/>
              </a:rPr>
              <a:t>5</a:t>
            </a:r>
            <a:endParaRPr lang="en-US" sz="1300" dirty="0"/>
          </a:p>
        </p:txBody>
      </p:sp>
      <p:sp>
        <p:nvSpPr>
          <p:cNvPr id="32" name="Shape 29"/>
          <p:cNvSpPr/>
          <p:nvPr/>
        </p:nvSpPr>
        <p:spPr>
          <a:xfrm>
            <a:off x="2895600" y="3831336"/>
            <a:ext cx="329184" cy="329184"/>
          </a:xfrm>
          <a:prstGeom prst="ellipse">
            <a:avLst/>
          </a:prstGeom>
          <a:solidFill>
            <a:srgbClr val="FF8FB1"/>
          </a:solidFill>
          <a:ln/>
        </p:spPr>
      </p:sp>
      <p:sp>
        <p:nvSpPr>
          <p:cNvPr id="33" name="Text 30"/>
          <p:cNvSpPr txBox="1"/>
          <p:nvPr/>
        </p:nvSpPr>
        <p:spPr>
          <a:xfrm>
            <a:off x="2895600" y="3831336"/>
            <a:ext cx="329184" cy="329184"/>
          </a:xfrm>
          <a:prstGeom prst="rect">
            <a:avLst/>
          </a:prstGeom>
          <a:noFill/>
          <a:ln/>
        </p:spPr>
        <p:txBody>
          <a:bodyPr wrap="square" lIns="0" tIns="0" rIns="0" bIns="0" rtlCol="0" anchor="ctr"/>
          <a:lstStyle/>
          <a:p>
            <a:pPr algn="ctr" indent="0" marL="0">
              <a:buNone/>
            </a:pPr>
            <a:r>
              <a:rPr lang="en-US" sz="1300" b="1" dirty="0">
                <a:solidFill>
                  <a:srgbClr val="12213A"/>
                </a:solidFill>
                <a:latin typeface="Arial" pitchFamily="34" charset="0"/>
                <a:ea typeface="Arial" pitchFamily="34" charset="-122"/>
                <a:cs typeface="Arial" pitchFamily="34" charset="-120"/>
              </a:rPr>
              <a:t>6</a:t>
            </a:r>
            <a:endParaRPr lang="en-US" sz="1300" dirty="0"/>
          </a:p>
        </p:txBody>
      </p:sp>
      <p:sp>
        <p:nvSpPr>
          <p:cNvPr id="34" name="Shape 31"/>
          <p:cNvSpPr/>
          <p:nvPr/>
        </p:nvSpPr>
        <p:spPr>
          <a:xfrm>
            <a:off x="7863840" y="1481328"/>
            <a:ext cx="347472" cy="347472"/>
          </a:xfrm>
          <a:prstGeom prst="ellipse">
            <a:avLst/>
          </a:prstGeom>
          <a:solidFill>
            <a:srgbClr val="8B98AD"/>
          </a:solidFill>
          <a:ln/>
        </p:spPr>
      </p:sp>
      <p:sp>
        <p:nvSpPr>
          <p:cNvPr id="35" name="Text 32"/>
          <p:cNvSpPr txBox="1"/>
          <p:nvPr/>
        </p:nvSpPr>
        <p:spPr>
          <a:xfrm>
            <a:off x="7863840" y="148132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36" name="Text 33"/>
          <p:cNvSpPr txBox="1"/>
          <p:nvPr/>
        </p:nvSpPr>
        <p:spPr>
          <a:xfrm>
            <a:off x="8366760" y="1444752"/>
            <a:ext cx="3291840" cy="32004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The terminal</a:t>
            </a:r>
            <a:endParaRPr lang="en-US" sz="1700" dirty="0"/>
          </a:p>
        </p:txBody>
      </p:sp>
      <p:sp>
        <p:nvSpPr>
          <p:cNvPr id="37" name="Text 34"/>
          <p:cNvSpPr txBox="1"/>
          <p:nvPr/>
        </p:nvSpPr>
        <p:spPr>
          <a:xfrm>
            <a:off x="8366760" y="1764792"/>
            <a:ext cx="3291840" cy="41148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The black window. You type, and the computer answers in text.</a:t>
            </a:r>
            <a:endParaRPr lang="en-US" sz="1300" dirty="0"/>
          </a:p>
        </p:txBody>
      </p:sp>
      <p:sp>
        <p:nvSpPr>
          <p:cNvPr id="38" name="Shape 35"/>
          <p:cNvSpPr/>
          <p:nvPr/>
        </p:nvSpPr>
        <p:spPr>
          <a:xfrm>
            <a:off x="7863840" y="2258568"/>
            <a:ext cx="347472" cy="347472"/>
          </a:xfrm>
          <a:prstGeom prst="ellipse">
            <a:avLst/>
          </a:prstGeom>
          <a:solidFill>
            <a:srgbClr val="17875A"/>
          </a:solidFill>
          <a:ln/>
        </p:spPr>
      </p:sp>
      <p:sp>
        <p:nvSpPr>
          <p:cNvPr id="39" name="Text 36"/>
          <p:cNvSpPr txBox="1"/>
          <p:nvPr/>
        </p:nvSpPr>
        <p:spPr>
          <a:xfrm>
            <a:off x="7863840" y="225856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40" name="Text 37"/>
          <p:cNvSpPr txBox="1"/>
          <p:nvPr/>
        </p:nvSpPr>
        <p:spPr>
          <a:xfrm>
            <a:off x="8366760" y="2221992"/>
            <a:ext cx="3291840" cy="32004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The prompt</a:t>
            </a:r>
            <a:endParaRPr lang="en-US" sz="1700" dirty="0"/>
          </a:p>
        </p:txBody>
      </p:sp>
      <p:sp>
        <p:nvSpPr>
          <p:cNvPr id="41" name="Text 38"/>
          <p:cNvSpPr txBox="1"/>
          <p:nvPr/>
        </p:nvSpPr>
        <p:spPr>
          <a:xfrm>
            <a:off x="8366760" y="2542032"/>
            <a:ext cx="3291840" cy="41148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player@quest:~ shows who you are, which computer, which folder.</a:t>
            </a:r>
            <a:endParaRPr lang="en-US" sz="1300" dirty="0"/>
          </a:p>
        </p:txBody>
      </p:sp>
      <p:sp>
        <p:nvSpPr>
          <p:cNvPr id="42" name="Shape 39"/>
          <p:cNvSpPr/>
          <p:nvPr/>
        </p:nvSpPr>
        <p:spPr>
          <a:xfrm>
            <a:off x="7863840" y="3035808"/>
            <a:ext cx="347472" cy="347472"/>
          </a:xfrm>
          <a:prstGeom prst="ellipse">
            <a:avLst/>
          </a:prstGeom>
          <a:solidFill>
            <a:srgbClr val="C07A00"/>
          </a:solidFill>
          <a:ln/>
        </p:spPr>
      </p:sp>
      <p:sp>
        <p:nvSpPr>
          <p:cNvPr id="43" name="Text 40"/>
          <p:cNvSpPr txBox="1"/>
          <p:nvPr/>
        </p:nvSpPr>
        <p:spPr>
          <a:xfrm>
            <a:off x="7863840" y="30358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44" name="Text 41"/>
          <p:cNvSpPr txBox="1"/>
          <p:nvPr/>
        </p:nvSpPr>
        <p:spPr>
          <a:xfrm>
            <a:off x="8366760" y="2999232"/>
            <a:ext cx="3291840" cy="32004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The prompt character</a:t>
            </a:r>
            <a:endParaRPr lang="en-US" sz="1700" dirty="0"/>
          </a:p>
        </p:txBody>
      </p:sp>
      <p:sp>
        <p:nvSpPr>
          <p:cNvPr id="45" name="Text 42"/>
          <p:cNvSpPr txBox="1"/>
          <p:nvPr/>
        </p:nvSpPr>
        <p:spPr>
          <a:xfrm>
            <a:off x="8366760" y="3319272"/>
            <a:ext cx="3291840" cy="41148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 means 'ready, your turn'. Never type it yourself.</a:t>
            </a:r>
            <a:endParaRPr lang="en-US" sz="1300" dirty="0"/>
          </a:p>
        </p:txBody>
      </p:sp>
      <p:sp>
        <p:nvSpPr>
          <p:cNvPr id="46" name="Shape 43"/>
          <p:cNvSpPr/>
          <p:nvPr/>
        </p:nvSpPr>
        <p:spPr>
          <a:xfrm>
            <a:off x="7863840" y="3813048"/>
            <a:ext cx="347472" cy="347472"/>
          </a:xfrm>
          <a:prstGeom prst="ellipse">
            <a:avLst/>
          </a:prstGeom>
          <a:solidFill>
            <a:srgbClr val="2459D8"/>
          </a:solidFill>
          <a:ln/>
        </p:spPr>
      </p:sp>
      <p:sp>
        <p:nvSpPr>
          <p:cNvPr id="47" name="Text 44"/>
          <p:cNvSpPr txBox="1"/>
          <p:nvPr/>
        </p:nvSpPr>
        <p:spPr>
          <a:xfrm>
            <a:off x="7863840" y="381304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48" name="Text 45"/>
          <p:cNvSpPr txBox="1"/>
          <p:nvPr/>
        </p:nvSpPr>
        <p:spPr>
          <a:xfrm>
            <a:off x="8366760" y="3776472"/>
            <a:ext cx="3291840" cy="32004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The command</a:t>
            </a:r>
            <a:endParaRPr lang="en-US" sz="1700" dirty="0"/>
          </a:p>
        </p:txBody>
      </p:sp>
      <p:sp>
        <p:nvSpPr>
          <p:cNvPr id="49" name="Text 46"/>
          <p:cNvSpPr txBox="1"/>
          <p:nvPr/>
        </p:nvSpPr>
        <p:spPr>
          <a:xfrm>
            <a:off x="8366760" y="4096512"/>
            <a:ext cx="3291840" cy="41148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What you type after the $. Then press Enter.</a:t>
            </a:r>
            <a:endParaRPr lang="en-US" sz="1300" dirty="0"/>
          </a:p>
        </p:txBody>
      </p:sp>
      <p:sp>
        <p:nvSpPr>
          <p:cNvPr id="50" name="Shape 47"/>
          <p:cNvSpPr/>
          <p:nvPr/>
        </p:nvSpPr>
        <p:spPr>
          <a:xfrm>
            <a:off x="7863840" y="4590288"/>
            <a:ext cx="347472" cy="347472"/>
          </a:xfrm>
          <a:prstGeom prst="ellipse">
            <a:avLst/>
          </a:prstGeom>
          <a:solidFill>
            <a:srgbClr val="7448D4"/>
          </a:solidFill>
          <a:ln/>
        </p:spPr>
      </p:sp>
      <p:sp>
        <p:nvSpPr>
          <p:cNvPr id="51" name="Text 48"/>
          <p:cNvSpPr txBox="1"/>
          <p:nvPr/>
        </p:nvSpPr>
        <p:spPr>
          <a:xfrm>
            <a:off x="7863840" y="459028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52" name="Text 49"/>
          <p:cNvSpPr txBox="1"/>
          <p:nvPr/>
        </p:nvSpPr>
        <p:spPr>
          <a:xfrm>
            <a:off x="8366760" y="4553712"/>
            <a:ext cx="3291840" cy="32004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The output</a:t>
            </a:r>
            <a:endParaRPr lang="en-US" sz="1700" dirty="0"/>
          </a:p>
        </p:txBody>
      </p:sp>
      <p:sp>
        <p:nvSpPr>
          <p:cNvPr id="53" name="Text 50"/>
          <p:cNvSpPr txBox="1"/>
          <p:nvPr/>
        </p:nvSpPr>
        <p:spPr>
          <a:xfrm>
            <a:off x="8366760" y="4873752"/>
            <a:ext cx="3291840" cy="41148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The computer's answer, printed underneath.</a:t>
            </a:r>
            <a:endParaRPr lang="en-US" sz="1300" dirty="0"/>
          </a:p>
        </p:txBody>
      </p:sp>
      <p:sp>
        <p:nvSpPr>
          <p:cNvPr id="54" name="Shape 51"/>
          <p:cNvSpPr/>
          <p:nvPr/>
        </p:nvSpPr>
        <p:spPr>
          <a:xfrm>
            <a:off x="7863840" y="5367528"/>
            <a:ext cx="347472" cy="347472"/>
          </a:xfrm>
          <a:prstGeom prst="ellipse">
            <a:avLst/>
          </a:prstGeom>
          <a:solidFill>
            <a:srgbClr val="D1416B"/>
          </a:solidFill>
          <a:ln/>
        </p:spPr>
      </p:sp>
      <p:sp>
        <p:nvSpPr>
          <p:cNvPr id="55" name="Text 52"/>
          <p:cNvSpPr txBox="1"/>
          <p:nvPr/>
        </p:nvSpPr>
        <p:spPr>
          <a:xfrm>
            <a:off x="7863840" y="536752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56" name="Text 53"/>
          <p:cNvSpPr txBox="1"/>
          <p:nvPr/>
        </p:nvSpPr>
        <p:spPr>
          <a:xfrm>
            <a:off x="8366760" y="5330952"/>
            <a:ext cx="3291840" cy="32004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A new prompt</a:t>
            </a:r>
            <a:endParaRPr lang="en-US" sz="1700" dirty="0"/>
          </a:p>
        </p:txBody>
      </p:sp>
      <p:sp>
        <p:nvSpPr>
          <p:cNvPr id="57" name="Text 54"/>
          <p:cNvSpPr txBox="1"/>
          <p:nvPr/>
        </p:nvSpPr>
        <p:spPr>
          <a:xfrm>
            <a:off x="8366760" y="5650992"/>
            <a:ext cx="3291840" cy="41148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A fresh $ and a blinking cursor: your turn again.</a:t>
            </a:r>
            <a:endParaRPr lang="en-US" sz="1300" dirty="0"/>
          </a:p>
        </p:txBody>
      </p:sp>
      <p:sp>
        <p:nvSpPr>
          <p:cNvPr id="58" name="Text 55"/>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11 / 79</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txBox="1"/>
          <p:nvPr/>
        </p:nvSpPr>
        <p:spPr>
          <a:xfrm>
            <a:off x="548640" y="182880"/>
            <a:ext cx="7315200" cy="658368"/>
          </a:xfrm>
          <a:prstGeom prst="rect">
            <a:avLst/>
          </a:prstGeom>
          <a:noFill/>
          <a:ln/>
        </p:spPr>
        <p:txBody>
          <a:bodyPr wrap="square" lIns="0" tIns="0" rIns="0" bIns="0" rtlCol="0" anchor="ctr"/>
          <a:lstStyle/>
          <a:p>
            <a:pPr indent="0" marL="0">
              <a:buNone/>
            </a:pPr>
            <a:r>
              <a:rPr lang="en-US" sz="4000" b="1" dirty="0">
                <a:solidFill>
                  <a:srgbClr val="12213A"/>
                </a:solidFill>
                <a:latin typeface="Arial" pitchFamily="34" charset="0"/>
                <a:ea typeface="Arial" pitchFamily="34" charset="-122"/>
                <a:cs typeface="Arial" pitchFamily="34" charset="-120"/>
              </a:rPr>
              <a:t>GUI vs CLI</a:t>
            </a:r>
            <a:endParaRPr lang="en-US" sz="4000" dirty="0"/>
          </a:p>
        </p:txBody>
      </p:sp>
      <p:sp>
        <p:nvSpPr>
          <p:cNvPr id="4" name="Text 1"/>
          <p:cNvSpPr txBox="1"/>
          <p:nvPr/>
        </p:nvSpPr>
        <p:spPr>
          <a:xfrm>
            <a:off x="548640" y="841248"/>
            <a:ext cx="8229600" cy="365760"/>
          </a:xfrm>
          <a:prstGeom prst="rect">
            <a:avLst/>
          </a:prstGeom>
          <a:noFill/>
          <a:ln/>
        </p:spPr>
        <p:txBody>
          <a:bodyPr wrap="square" lIns="0" tIns="0" rIns="0" bIns="0" rtlCol="0" anchor="ctr"/>
          <a:lstStyle/>
          <a:p>
            <a:pPr indent="0" marL="0">
              <a:buNone/>
            </a:pPr>
            <a:r>
              <a:rPr lang="en-US" sz="1800" dirty="0">
                <a:solidFill>
                  <a:srgbClr val="56657E"/>
                </a:solidFill>
                <a:latin typeface="Calibri" pitchFamily="34" charset="0"/>
                <a:ea typeface="Calibri" pitchFamily="34" charset="-122"/>
                <a:cs typeface="Calibri" pitchFamily="34" charset="-120"/>
              </a:rPr>
              <a:t>Two ways to interact with a computer</a:t>
            </a:r>
            <a:endParaRPr lang="en-US" sz="1800" dirty="0"/>
          </a:p>
        </p:txBody>
      </p:sp>
      <p:sp>
        <p:nvSpPr>
          <p:cNvPr id="5" name="Shape 2"/>
          <p:cNvSpPr/>
          <p:nvPr/>
        </p:nvSpPr>
        <p:spPr>
          <a:xfrm>
            <a:off x="548640" y="1298448"/>
            <a:ext cx="5413248" cy="2926080"/>
          </a:xfrm>
          <a:prstGeom prst="roundRect">
            <a:avLst>
              <a:gd name="adj" fmla="val 4375"/>
            </a:avLst>
          </a:prstGeom>
          <a:solidFill>
            <a:srgbClr val="2563EB"/>
          </a:solidFill>
          <a:ln/>
        </p:spPr>
      </p:sp>
      <p:sp>
        <p:nvSpPr>
          <p:cNvPr id="6" name="Shape 3"/>
          <p:cNvSpPr/>
          <p:nvPr/>
        </p:nvSpPr>
        <p:spPr>
          <a:xfrm>
            <a:off x="822960" y="1517904"/>
            <a:ext cx="566928" cy="566928"/>
          </a:xfrm>
          <a:prstGeom prst="roundRect">
            <a:avLst>
              <a:gd name="adj" fmla="val 16129"/>
            </a:avLst>
          </a:prstGeom>
          <a:solidFill>
            <a:srgbClr val="5E8CF0"/>
          </a:solidFill>
          <a:ln/>
        </p:spPr>
      </p:sp>
      <p:pic>
        <p:nvPicPr>
          <p:cNvPr id="7" name="Image 0" descr="preencoded.png">    </p:cNvPr>
          <p:cNvPicPr>
            <a:picLocks noChangeAspect="1"/>
          </p:cNvPicPr>
          <p:nvPr/>
        </p:nvPicPr>
        <p:blipFill>
          <a:blip r:embed="rId1"/>
          <a:stretch>
            <a:fillRect/>
          </a:stretch>
        </p:blipFill>
        <p:spPr>
          <a:xfrm>
            <a:off x="969264" y="1664208"/>
            <a:ext cx="274320" cy="274320"/>
          </a:xfrm>
          <a:prstGeom prst="rect">
            <a:avLst/>
          </a:prstGeom>
        </p:spPr>
      </p:pic>
      <p:sp>
        <p:nvSpPr>
          <p:cNvPr id="8" name="Text 4"/>
          <p:cNvSpPr txBox="1"/>
          <p:nvPr/>
        </p:nvSpPr>
        <p:spPr>
          <a:xfrm>
            <a:off x="1536192" y="1481328"/>
            <a:ext cx="4224528" cy="402336"/>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GUI: point and click</a:t>
            </a:r>
            <a:endParaRPr lang="en-US" sz="2200" dirty="0"/>
          </a:p>
        </p:txBody>
      </p:sp>
      <p:sp>
        <p:nvSpPr>
          <p:cNvPr id="9" name="Text 5"/>
          <p:cNvSpPr txBox="1"/>
          <p:nvPr/>
        </p:nvSpPr>
        <p:spPr>
          <a:xfrm>
            <a:off x="1536192" y="1883664"/>
            <a:ext cx="4224528" cy="329184"/>
          </a:xfrm>
          <a:prstGeom prst="rect">
            <a:avLst/>
          </a:prstGeom>
          <a:noFill/>
          <a:ln/>
        </p:spPr>
        <p:txBody>
          <a:bodyPr wrap="square" lIns="0" tIns="0" rIns="0" bIns="0" rtlCol="0" anchor="ctr"/>
          <a:lstStyle/>
          <a:p>
            <a:pPr indent="0" marL="0">
              <a:buNone/>
            </a:pPr>
            <a:r>
              <a:rPr lang="en-US" sz="1200" dirty="0">
                <a:solidFill>
                  <a:srgbClr val="E8EEFF"/>
                </a:solidFill>
                <a:latin typeface="Calibri" pitchFamily="34" charset="0"/>
                <a:ea typeface="Calibri" pitchFamily="34" charset="-122"/>
                <a:cs typeface="Calibri" pitchFamily="34" charset="-120"/>
              </a:rPr>
              <a:t>Use a mouse to interact with windows, icons, and menus.</a:t>
            </a:r>
            <a:endParaRPr lang="en-US" sz="1200" dirty="0"/>
          </a:p>
        </p:txBody>
      </p:sp>
      <p:sp>
        <p:nvSpPr>
          <p:cNvPr id="10" name="Shape 6"/>
          <p:cNvSpPr/>
          <p:nvPr/>
        </p:nvSpPr>
        <p:spPr>
          <a:xfrm>
            <a:off x="6236208" y="1298448"/>
            <a:ext cx="5413248" cy="2926080"/>
          </a:xfrm>
          <a:prstGeom prst="roundRect">
            <a:avLst>
              <a:gd name="adj" fmla="val 4375"/>
            </a:avLst>
          </a:prstGeom>
          <a:solidFill>
            <a:srgbClr val="15A05E"/>
          </a:solidFill>
          <a:ln/>
        </p:spPr>
      </p:sp>
      <p:sp>
        <p:nvSpPr>
          <p:cNvPr id="11" name="Shape 7"/>
          <p:cNvSpPr/>
          <p:nvPr/>
        </p:nvSpPr>
        <p:spPr>
          <a:xfrm>
            <a:off x="6510528" y="1517904"/>
            <a:ext cx="566928" cy="566928"/>
          </a:xfrm>
          <a:prstGeom prst="roundRect">
            <a:avLst>
              <a:gd name="adj" fmla="val 16129"/>
            </a:avLst>
          </a:prstGeom>
          <a:solidFill>
            <a:srgbClr val="52B988"/>
          </a:solidFill>
          <a:ln/>
        </p:spPr>
      </p:sp>
      <p:pic>
        <p:nvPicPr>
          <p:cNvPr id="12" name="Image 1" descr="preencoded.png">    </p:cNvPr>
          <p:cNvPicPr>
            <a:picLocks noChangeAspect="1"/>
          </p:cNvPicPr>
          <p:nvPr/>
        </p:nvPicPr>
        <p:blipFill>
          <a:blip r:embed="rId2"/>
          <a:stretch>
            <a:fillRect/>
          </a:stretch>
        </p:blipFill>
        <p:spPr>
          <a:xfrm>
            <a:off x="6656832" y="1664208"/>
            <a:ext cx="274320" cy="274320"/>
          </a:xfrm>
          <a:prstGeom prst="rect">
            <a:avLst/>
          </a:prstGeom>
        </p:spPr>
      </p:pic>
      <p:sp>
        <p:nvSpPr>
          <p:cNvPr id="13" name="Text 8"/>
          <p:cNvSpPr txBox="1"/>
          <p:nvPr/>
        </p:nvSpPr>
        <p:spPr>
          <a:xfrm>
            <a:off x="7223760" y="1481328"/>
            <a:ext cx="4224528" cy="402336"/>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CLI: type commands</a:t>
            </a:r>
            <a:endParaRPr lang="en-US" sz="2200" dirty="0"/>
          </a:p>
        </p:txBody>
      </p:sp>
      <p:sp>
        <p:nvSpPr>
          <p:cNvPr id="14" name="Text 9"/>
          <p:cNvSpPr txBox="1"/>
          <p:nvPr/>
        </p:nvSpPr>
        <p:spPr>
          <a:xfrm>
            <a:off x="7223760" y="1883664"/>
            <a:ext cx="4224528" cy="329184"/>
          </a:xfrm>
          <a:prstGeom prst="rect">
            <a:avLst/>
          </a:prstGeom>
          <a:noFill/>
          <a:ln/>
        </p:spPr>
        <p:txBody>
          <a:bodyPr wrap="square" lIns="0" tIns="0" rIns="0" bIns="0" rtlCol="0" anchor="ctr"/>
          <a:lstStyle/>
          <a:p>
            <a:pPr indent="0" marL="0">
              <a:buNone/>
            </a:pPr>
            <a:r>
              <a:rPr lang="en-US" sz="1200" dirty="0">
                <a:solidFill>
                  <a:srgbClr val="E8EEFF"/>
                </a:solidFill>
                <a:latin typeface="Calibri" pitchFamily="34" charset="0"/>
                <a:ea typeface="Calibri" pitchFamily="34" charset="-122"/>
                <a:cs typeface="Calibri" pitchFamily="34" charset="-120"/>
              </a:rPr>
              <a:t>Use text commands to tell the computer what to do.</a:t>
            </a:r>
            <a:endParaRPr lang="en-US" sz="1200" dirty="0"/>
          </a:p>
        </p:txBody>
      </p:sp>
      <p:sp>
        <p:nvSpPr>
          <p:cNvPr id="15" name="Shape 10"/>
          <p:cNvSpPr/>
          <p:nvPr/>
        </p:nvSpPr>
        <p:spPr>
          <a:xfrm>
            <a:off x="749808" y="2267712"/>
            <a:ext cx="5010912" cy="1773936"/>
          </a:xfrm>
          <a:prstGeom prst="roundRect">
            <a:avLst>
              <a:gd name="adj" fmla="val 5155"/>
            </a:avLst>
          </a:prstGeom>
          <a:solidFill>
            <a:srgbClr val="FFFFFF"/>
          </a:solidFill>
          <a:ln/>
        </p:spPr>
      </p:sp>
      <p:sp>
        <p:nvSpPr>
          <p:cNvPr id="16" name="Shape 11"/>
          <p:cNvSpPr/>
          <p:nvPr/>
        </p:nvSpPr>
        <p:spPr>
          <a:xfrm>
            <a:off x="932688" y="2414016"/>
            <a:ext cx="91440" cy="91440"/>
          </a:xfrm>
          <a:prstGeom prst="ellipse">
            <a:avLst/>
          </a:prstGeom>
          <a:solidFill>
            <a:srgbClr val="E5534B"/>
          </a:solidFill>
          <a:ln/>
        </p:spPr>
      </p:sp>
      <p:sp>
        <p:nvSpPr>
          <p:cNvPr id="17" name="Shape 12"/>
          <p:cNvSpPr/>
          <p:nvPr/>
        </p:nvSpPr>
        <p:spPr>
          <a:xfrm>
            <a:off x="1097280" y="2414016"/>
            <a:ext cx="91440" cy="91440"/>
          </a:xfrm>
          <a:prstGeom prst="ellipse">
            <a:avLst/>
          </a:prstGeom>
          <a:solidFill>
            <a:srgbClr val="F5A623"/>
          </a:solidFill>
          <a:ln/>
        </p:spPr>
      </p:sp>
      <p:sp>
        <p:nvSpPr>
          <p:cNvPr id="18" name="Shape 13"/>
          <p:cNvSpPr/>
          <p:nvPr/>
        </p:nvSpPr>
        <p:spPr>
          <a:xfrm>
            <a:off x="1261872" y="2414016"/>
            <a:ext cx="91440" cy="91440"/>
          </a:xfrm>
          <a:prstGeom prst="ellipse">
            <a:avLst/>
          </a:prstGeom>
          <a:solidFill>
            <a:srgbClr val="46D39A"/>
          </a:solidFill>
          <a:ln/>
        </p:spPr>
      </p:sp>
      <p:sp>
        <p:nvSpPr>
          <p:cNvPr id="19" name="Shape 14"/>
          <p:cNvSpPr/>
          <p:nvPr/>
        </p:nvSpPr>
        <p:spPr>
          <a:xfrm>
            <a:off x="896112" y="2651760"/>
            <a:ext cx="1417320" cy="1243584"/>
          </a:xfrm>
          <a:prstGeom prst="roundRect">
            <a:avLst>
              <a:gd name="adj" fmla="val 5882"/>
            </a:avLst>
          </a:prstGeom>
          <a:solidFill>
            <a:srgbClr val="EEF2F7"/>
          </a:solidFill>
          <a:ln/>
        </p:spPr>
      </p:sp>
      <p:sp>
        <p:nvSpPr>
          <p:cNvPr id="20" name="Shape 15"/>
          <p:cNvSpPr/>
          <p:nvPr/>
        </p:nvSpPr>
        <p:spPr>
          <a:xfrm>
            <a:off x="969264" y="2724912"/>
            <a:ext cx="1280160" cy="274320"/>
          </a:xfrm>
          <a:prstGeom prst="roundRect">
            <a:avLst>
              <a:gd name="adj" fmla="val 20000"/>
            </a:avLst>
          </a:prstGeom>
          <a:solidFill>
            <a:srgbClr val="DCE8FB"/>
          </a:solidFill>
          <a:ln/>
        </p:spPr>
      </p:sp>
      <p:pic>
        <p:nvPicPr>
          <p:cNvPr id="21" name="Image 2" descr="preencoded.png">    </p:cNvPr>
          <p:cNvPicPr>
            <a:picLocks noChangeAspect="1"/>
          </p:cNvPicPr>
          <p:nvPr/>
        </p:nvPicPr>
        <p:blipFill>
          <a:blip r:embed="rId3"/>
          <a:stretch>
            <a:fillRect/>
          </a:stretch>
        </p:blipFill>
        <p:spPr>
          <a:xfrm>
            <a:off x="1060704" y="2779776"/>
            <a:ext cx="155448" cy="155448"/>
          </a:xfrm>
          <a:prstGeom prst="rect">
            <a:avLst/>
          </a:prstGeom>
        </p:spPr>
      </p:pic>
      <p:sp>
        <p:nvSpPr>
          <p:cNvPr id="22" name="Text 16"/>
          <p:cNvSpPr txBox="1"/>
          <p:nvPr/>
        </p:nvSpPr>
        <p:spPr>
          <a:xfrm>
            <a:off x="1298448" y="2724912"/>
            <a:ext cx="960120" cy="274320"/>
          </a:xfrm>
          <a:prstGeom prst="rect">
            <a:avLst/>
          </a:prstGeom>
          <a:noFill/>
          <a:ln/>
        </p:spPr>
        <p:txBody>
          <a:bodyPr wrap="square" lIns="0" tIns="0" rIns="0" bIns="0" rtlCol="0" anchor="ctr"/>
          <a:lstStyle/>
          <a:p>
            <a:pPr indent="0" marL="0">
              <a:buNone/>
            </a:pPr>
            <a:r>
              <a:rPr lang="en-US" sz="1050" b="1" dirty="0">
                <a:solidFill>
                  <a:srgbClr val="2563EB"/>
                </a:solidFill>
                <a:latin typeface="Calibri" pitchFamily="34" charset="0"/>
                <a:ea typeface="Calibri" pitchFamily="34" charset="-122"/>
                <a:cs typeface="Calibri" pitchFamily="34" charset="-120"/>
              </a:rPr>
              <a:t>Home</a:t>
            </a:r>
            <a:endParaRPr lang="en-US" sz="1050" dirty="0"/>
          </a:p>
        </p:txBody>
      </p:sp>
      <p:pic>
        <p:nvPicPr>
          <p:cNvPr id="23" name="Image 3" descr="preencoded.png">    </p:cNvPr>
          <p:cNvPicPr>
            <a:picLocks noChangeAspect="1"/>
          </p:cNvPicPr>
          <p:nvPr/>
        </p:nvPicPr>
        <p:blipFill>
          <a:blip r:embed="rId4"/>
          <a:stretch>
            <a:fillRect/>
          </a:stretch>
        </p:blipFill>
        <p:spPr>
          <a:xfrm>
            <a:off x="1060704" y="3090672"/>
            <a:ext cx="155448" cy="155448"/>
          </a:xfrm>
          <a:prstGeom prst="rect">
            <a:avLst/>
          </a:prstGeom>
        </p:spPr>
      </p:pic>
      <p:sp>
        <p:nvSpPr>
          <p:cNvPr id="24" name="Text 17"/>
          <p:cNvSpPr txBox="1"/>
          <p:nvPr/>
        </p:nvSpPr>
        <p:spPr>
          <a:xfrm>
            <a:off x="1298448" y="3035808"/>
            <a:ext cx="960120" cy="274320"/>
          </a:xfrm>
          <a:prstGeom prst="rect">
            <a:avLst/>
          </a:prstGeom>
          <a:noFill/>
          <a:ln/>
        </p:spPr>
        <p:txBody>
          <a:bodyPr wrap="square" lIns="0" tIns="0" rIns="0" bIns="0" rtlCol="0" anchor="ctr"/>
          <a:lstStyle/>
          <a:p>
            <a:pPr indent="0" marL="0">
              <a:buNone/>
            </a:pPr>
            <a:r>
              <a:rPr lang="en-US" sz="1050" dirty="0">
                <a:solidFill>
                  <a:srgbClr val="3C4A63"/>
                </a:solidFill>
                <a:latin typeface="Calibri" pitchFamily="34" charset="0"/>
                <a:ea typeface="Calibri" pitchFamily="34" charset="-122"/>
                <a:cs typeface="Calibri" pitchFamily="34" charset="-120"/>
              </a:rPr>
              <a:t>Documents</a:t>
            </a:r>
            <a:endParaRPr lang="en-US" sz="1050" dirty="0"/>
          </a:p>
        </p:txBody>
      </p:sp>
      <p:pic>
        <p:nvPicPr>
          <p:cNvPr id="25" name="Image 4" descr="preencoded.png">    </p:cNvPr>
          <p:cNvPicPr>
            <a:picLocks noChangeAspect="1"/>
          </p:cNvPicPr>
          <p:nvPr/>
        </p:nvPicPr>
        <p:blipFill>
          <a:blip r:embed="rId5"/>
          <a:stretch>
            <a:fillRect/>
          </a:stretch>
        </p:blipFill>
        <p:spPr>
          <a:xfrm>
            <a:off x="1060704" y="3401568"/>
            <a:ext cx="155448" cy="155448"/>
          </a:xfrm>
          <a:prstGeom prst="rect">
            <a:avLst/>
          </a:prstGeom>
        </p:spPr>
      </p:pic>
      <p:sp>
        <p:nvSpPr>
          <p:cNvPr id="26" name="Text 18"/>
          <p:cNvSpPr txBox="1"/>
          <p:nvPr/>
        </p:nvSpPr>
        <p:spPr>
          <a:xfrm>
            <a:off x="1298448" y="3346704"/>
            <a:ext cx="960120" cy="274320"/>
          </a:xfrm>
          <a:prstGeom prst="rect">
            <a:avLst/>
          </a:prstGeom>
          <a:noFill/>
          <a:ln/>
        </p:spPr>
        <p:txBody>
          <a:bodyPr wrap="square" lIns="0" tIns="0" rIns="0" bIns="0" rtlCol="0" anchor="ctr"/>
          <a:lstStyle/>
          <a:p>
            <a:pPr indent="0" marL="0">
              <a:buNone/>
            </a:pPr>
            <a:r>
              <a:rPr lang="en-US" sz="1050" dirty="0">
                <a:solidFill>
                  <a:srgbClr val="3C4A63"/>
                </a:solidFill>
                <a:latin typeface="Calibri" pitchFamily="34" charset="0"/>
                <a:ea typeface="Calibri" pitchFamily="34" charset="-122"/>
                <a:cs typeface="Calibri" pitchFamily="34" charset="-120"/>
              </a:rPr>
              <a:t>Pictures</a:t>
            </a:r>
            <a:endParaRPr lang="en-US" sz="1050" dirty="0"/>
          </a:p>
        </p:txBody>
      </p:sp>
      <p:pic>
        <p:nvPicPr>
          <p:cNvPr id="27" name="Image 5" descr="preencoded.png">    </p:cNvPr>
          <p:cNvPicPr>
            <a:picLocks noChangeAspect="1"/>
          </p:cNvPicPr>
          <p:nvPr/>
        </p:nvPicPr>
        <p:blipFill>
          <a:blip r:embed="rId6"/>
          <a:stretch>
            <a:fillRect/>
          </a:stretch>
        </p:blipFill>
        <p:spPr>
          <a:xfrm>
            <a:off x="1060704" y="3712464"/>
            <a:ext cx="155448" cy="155448"/>
          </a:xfrm>
          <a:prstGeom prst="rect">
            <a:avLst/>
          </a:prstGeom>
        </p:spPr>
      </p:pic>
      <p:sp>
        <p:nvSpPr>
          <p:cNvPr id="28" name="Text 19"/>
          <p:cNvSpPr txBox="1"/>
          <p:nvPr/>
        </p:nvSpPr>
        <p:spPr>
          <a:xfrm>
            <a:off x="1298448" y="3657600"/>
            <a:ext cx="960120" cy="274320"/>
          </a:xfrm>
          <a:prstGeom prst="rect">
            <a:avLst/>
          </a:prstGeom>
          <a:noFill/>
          <a:ln/>
        </p:spPr>
        <p:txBody>
          <a:bodyPr wrap="square" lIns="0" tIns="0" rIns="0" bIns="0" rtlCol="0" anchor="ctr"/>
          <a:lstStyle/>
          <a:p>
            <a:pPr indent="0" marL="0">
              <a:buNone/>
            </a:pPr>
            <a:r>
              <a:rPr lang="en-US" sz="1050" dirty="0">
                <a:solidFill>
                  <a:srgbClr val="3C4A63"/>
                </a:solidFill>
                <a:latin typeface="Calibri" pitchFamily="34" charset="0"/>
                <a:ea typeface="Calibri" pitchFamily="34" charset="-122"/>
                <a:cs typeface="Calibri" pitchFamily="34" charset="-120"/>
              </a:rPr>
              <a:t>Downloads</a:t>
            </a:r>
            <a:endParaRPr lang="en-US" sz="1050" dirty="0"/>
          </a:p>
        </p:txBody>
      </p:sp>
      <p:pic>
        <p:nvPicPr>
          <p:cNvPr id="29" name="Image 6" descr="preencoded.png">    </p:cNvPr>
          <p:cNvPicPr>
            <a:picLocks noChangeAspect="1"/>
          </p:cNvPicPr>
          <p:nvPr/>
        </p:nvPicPr>
        <p:blipFill>
          <a:blip r:embed="rId7"/>
          <a:stretch>
            <a:fillRect/>
          </a:stretch>
        </p:blipFill>
        <p:spPr>
          <a:xfrm>
            <a:off x="2560320" y="2816352"/>
            <a:ext cx="548640" cy="548640"/>
          </a:xfrm>
          <a:prstGeom prst="rect">
            <a:avLst/>
          </a:prstGeom>
        </p:spPr>
      </p:pic>
      <p:sp>
        <p:nvSpPr>
          <p:cNvPr id="30" name="Text 20"/>
          <p:cNvSpPr txBox="1"/>
          <p:nvPr/>
        </p:nvSpPr>
        <p:spPr>
          <a:xfrm>
            <a:off x="2395728" y="3401568"/>
            <a:ext cx="877824" cy="237744"/>
          </a:xfrm>
          <a:prstGeom prst="rect">
            <a:avLst/>
          </a:prstGeom>
          <a:noFill/>
          <a:ln/>
        </p:spPr>
        <p:txBody>
          <a:bodyPr wrap="square" lIns="0" tIns="0" rIns="0" bIns="0" rtlCol="0" anchor="ctr"/>
          <a:lstStyle/>
          <a:p>
            <a:pPr algn="ctr" indent="0" marL="0">
              <a:buNone/>
            </a:pPr>
            <a:r>
              <a:rPr lang="en-US" sz="1000" dirty="0">
                <a:solidFill>
                  <a:srgbClr val="3C4A63"/>
                </a:solidFill>
                <a:latin typeface="Calibri" pitchFamily="34" charset="0"/>
                <a:ea typeface="Calibri" pitchFamily="34" charset="-122"/>
                <a:cs typeface="Calibri" pitchFamily="34" charset="-120"/>
              </a:rPr>
              <a:t>School</a:t>
            </a:r>
            <a:endParaRPr lang="en-US" sz="1000" dirty="0"/>
          </a:p>
        </p:txBody>
      </p:sp>
      <p:pic>
        <p:nvPicPr>
          <p:cNvPr id="31" name="Image 7" descr="preencoded.png">    </p:cNvPr>
          <p:cNvPicPr>
            <a:picLocks noChangeAspect="1"/>
          </p:cNvPicPr>
          <p:nvPr/>
        </p:nvPicPr>
        <p:blipFill>
          <a:blip r:embed="rId8"/>
          <a:stretch>
            <a:fillRect/>
          </a:stretch>
        </p:blipFill>
        <p:spPr>
          <a:xfrm>
            <a:off x="3547872" y="2816352"/>
            <a:ext cx="548640" cy="548640"/>
          </a:xfrm>
          <a:prstGeom prst="rect">
            <a:avLst/>
          </a:prstGeom>
        </p:spPr>
      </p:pic>
      <p:sp>
        <p:nvSpPr>
          <p:cNvPr id="32" name="Text 21"/>
          <p:cNvSpPr txBox="1"/>
          <p:nvPr/>
        </p:nvSpPr>
        <p:spPr>
          <a:xfrm>
            <a:off x="3383280" y="3401568"/>
            <a:ext cx="877824" cy="237744"/>
          </a:xfrm>
          <a:prstGeom prst="rect">
            <a:avLst/>
          </a:prstGeom>
          <a:noFill/>
          <a:ln/>
        </p:spPr>
        <p:txBody>
          <a:bodyPr wrap="square" lIns="0" tIns="0" rIns="0" bIns="0" rtlCol="0" anchor="ctr"/>
          <a:lstStyle/>
          <a:p>
            <a:pPr algn="ctr" indent="0" marL="0">
              <a:buNone/>
            </a:pPr>
            <a:r>
              <a:rPr lang="en-US" sz="1000" dirty="0">
                <a:solidFill>
                  <a:srgbClr val="3C4A63"/>
                </a:solidFill>
                <a:latin typeface="Calibri" pitchFamily="34" charset="0"/>
                <a:ea typeface="Calibri" pitchFamily="34" charset="-122"/>
                <a:cs typeface="Calibri" pitchFamily="34" charset="-120"/>
              </a:rPr>
              <a:t>Projects</a:t>
            </a:r>
            <a:endParaRPr lang="en-US" sz="1000" dirty="0"/>
          </a:p>
        </p:txBody>
      </p:sp>
      <p:pic>
        <p:nvPicPr>
          <p:cNvPr id="33" name="Image 8" descr="preencoded.png">    </p:cNvPr>
          <p:cNvPicPr>
            <a:picLocks noChangeAspect="1"/>
          </p:cNvPicPr>
          <p:nvPr/>
        </p:nvPicPr>
        <p:blipFill>
          <a:blip r:embed="rId9"/>
          <a:stretch>
            <a:fillRect/>
          </a:stretch>
        </p:blipFill>
        <p:spPr>
          <a:xfrm>
            <a:off x="4535424" y="2816352"/>
            <a:ext cx="548640" cy="548640"/>
          </a:xfrm>
          <a:prstGeom prst="rect">
            <a:avLst/>
          </a:prstGeom>
        </p:spPr>
      </p:pic>
      <p:sp>
        <p:nvSpPr>
          <p:cNvPr id="34" name="Text 22"/>
          <p:cNvSpPr txBox="1"/>
          <p:nvPr/>
        </p:nvSpPr>
        <p:spPr>
          <a:xfrm>
            <a:off x="4370832" y="3401568"/>
            <a:ext cx="877824" cy="237744"/>
          </a:xfrm>
          <a:prstGeom prst="rect">
            <a:avLst/>
          </a:prstGeom>
          <a:noFill/>
          <a:ln/>
        </p:spPr>
        <p:txBody>
          <a:bodyPr wrap="square" lIns="0" tIns="0" rIns="0" bIns="0" rtlCol="0" anchor="ctr"/>
          <a:lstStyle/>
          <a:p>
            <a:pPr algn="ctr" indent="0" marL="0">
              <a:buNone/>
            </a:pPr>
            <a:r>
              <a:rPr lang="en-US" sz="1000" dirty="0">
                <a:solidFill>
                  <a:srgbClr val="3C4A63"/>
                </a:solidFill>
                <a:latin typeface="Calibri" pitchFamily="34" charset="0"/>
                <a:ea typeface="Calibri" pitchFamily="34" charset="-122"/>
                <a:cs typeface="Calibri" pitchFamily="34" charset="-120"/>
              </a:rPr>
              <a:t>Photos</a:t>
            </a:r>
            <a:endParaRPr lang="en-US" sz="1000" dirty="0"/>
          </a:p>
        </p:txBody>
      </p:sp>
      <p:pic>
        <p:nvPicPr>
          <p:cNvPr id="35" name="Image 9" descr="preencoded.png">    </p:cNvPr>
          <p:cNvPicPr>
            <a:picLocks noChangeAspect="1"/>
          </p:cNvPicPr>
          <p:nvPr/>
        </p:nvPicPr>
        <p:blipFill>
          <a:blip r:embed="rId10"/>
          <a:stretch>
            <a:fillRect/>
          </a:stretch>
        </p:blipFill>
        <p:spPr>
          <a:xfrm>
            <a:off x="3401568" y="3200400"/>
            <a:ext cx="237744" cy="237744"/>
          </a:xfrm>
          <a:prstGeom prst="rect">
            <a:avLst/>
          </a:prstGeom>
        </p:spPr>
      </p:pic>
      <p:sp>
        <p:nvSpPr>
          <p:cNvPr id="36" name="Shape 23"/>
          <p:cNvSpPr/>
          <p:nvPr/>
        </p:nvSpPr>
        <p:spPr>
          <a:xfrm>
            <a:off x="6437376" y="2267712"/>
            <a:ext cx="5010912" cy="1773936"/>
          </a:xfrm>
          <a:prstGeom prst="roundRect">
            <a:avLst>
              <a:gd name="adj" fmla="val 5155"/>
            </a:avLst>
          </a:prstGeom>
          <a:solidFill>
            <a:srgbClr val="0E1726"/>
          </a:solidFill>
          <a:ln/>
        </p:spPr>
      </p:sp>
      <p:sp>
        <p:nvSpPr>
          <p:cNvPr id="37" name="Shape 24"/>
          <p:cNvSpPr/>
          <p:nvPr/>
        </p:nvSpPr>
        <p:spPr>
          <a:xfrm>
            <a:off x="6620256" y="2414016"/>
            <a:ext cx="91440" cy="91440"/>
          </a:xfrm>
          <a:prstGeom prst="ellipse">
            <a:avLst/>
          </a:prstGeom>
          <a:solidFill>
            <a:srgbClr val="E5534B"/>
          </a:solidFill>
          <a:ln/>
        </p:spPr>
      </p:sp>
      <p:sp>
        <p:nvSpPr>
          <p:cNvPr id="38" name="Shape 25"/>
          <p:cNvSpPr/>
          <p:nvPr/>
        </p:nvSpPr>
        <p:spPr>
          <a:xfrm>
            <a:off x="6784848" y="2414016"/>
            <a:ext cx="91440" cy="91440"/>
          </a:xfrm>
          <a:prstGeom prst="ellipse">
            <a:avLst/>
          </a:prstGeom>
          <a:solidFill>
            <a:srgbClr val="F5A623"/>
          </a:solidFill>
          <a:ln/>
        </p:spPr>
      </p:sp>
      <p:sp>
        <p:nvSpPr>
          <p:cNvPr id="39" name="Shape 26"/>
          <p:cNvSpPr/>
          <p:nvPr/>
        </p:nvSpPr>
        <p:spPr>
          <a:xfrm>
            <a:off x="6949440" y="2414016"/>
            <a:ext cx="91440" cy="91440"/>
          </a:xfrm>
          <a:prstGeom prst="ellipse">
            <a:avLst/>
          </a:prstGeom>
          <a:solidFill>
            <a:srgbClr val="46D39A"/>
          </a:solidFill>
          <a:ln/>
        </p:spPr>
      </p:sp>
      <p:sp>
        <p:nvSpPr>
          <p:cNvPr id="40" name="Text 27"/>
          <p:cNvSpPr txBox="1"/>
          <p:nvPr/>
        </p:nvSpPr>
        <p:spPr>
          <a:xfrm>
            <a:off x="6620256" y="2633472"/>
            <a:ext cx="4681728" cy="1316736"/>
          </a:xfrm>
          <a:prstGeom prst="rect">
            <a:avLst/>
          </a:prstGeom>
          <a:noFill/>
          <a:ln/>
        </p:spPr>
        <p:txBody>
          <a:bodyPr wrap="square" lIns="0" tIns="0" rIns="0" bIns="0" rtlCol="0" anchor="t">
            <a:normAutofit/>
          </a:bodyPr>
          <a:lstStyle/>
          <a:p>
            <a:pPr indent="0" marL="0">
              <a:lnSpc>
                <a:spcPct val="108000"/>
              </a:lnSpc>
              <a:buNone/>
            </a:pPr>
            <a:r>
              <a:rPr lang="en-US" sz="1050" b="1" dirty="0">
                <a:solidFill>
                  <a:srgbClr val="46D39A"/>
                </a:solidFill>
                <a:latin typeface="Courier New" pitchFamily="34" charset="0"/>
                <a:ea typeface="Courier New" pitchFamily="34" charset="-122"/>
                <a:cs typeface="Courier New" pitchFamily="34" charset="-120"/>
              </a:rPr>
              <a:t>player@quest:~$ </a:t>
            </a:r>
            <a:pPr indent="0" marL="0">
              <a:lnSpc>
                <a:spcPct val="108000"/>
              </a:lnSpc>
              <a:buNone/>
            </a:pPr>
            <a:r>
              <a:rPr lang="en-US" sz="1050" b="1" dirty="0">
                <a:solidFill>
                  <a:srgbClr val="FFFFFF"/>
                </a:solidFill>
                <a:latin typeface="Courier New" pitchFamily="34" charset="0"/>
                <a:ea typeface="Courier New" pitchFamily="34" charset="-122"/>
                <a:cs typeface="Courier New" pitchFamily="34" charset="-120"/>
              </a:rPr>
              <a:t>pwd</a:t>
            </a:r>
            <a:endParaRPr lang="en-US" sz="1050" dirty="0"/>
          </a:p>
          <a:p>
            <a:pPr indent="0" marL="0">
              <a:lnSpc>
                <a:spcPct val="108000"/>
              </a:lnSpc>
              <a:buNone/>
            </a:pPr>
            <a:r>
              <a:rPr lang="en-US" sz="1050" dirty="0">
                <a:solidFill>
                  <a:srgbClr val="B8C4D9"/>
                </a:solidFill>
                <a:latin typeface="Courier New" pitchFamily="34" charset="0"/>
                <a:ea typeface="Courier New" pitchFamily="34" charset="-122"/>
                <a:cs typeface="Courier New" pitchFamily="34" charset="-120"/>
              </a:rPr>
              <a:t>/home/player</a:t>
            </a:r>
            <a:endParaRPr lang="en-US" sz="1050" dirty="0"/>
          </a:p>
          <a:p>
            <a:pPr indent="0" marL="0">
              <a:lnSpc>
                <a:spcPct val="108000"/>
              </a:lnSpc>
              <a:buNone/>
            </a:pPr>
            <a:r>
              <a:rPr lang="en-US" sz="1050" b="1" dirty="0">
                <a:solidFill>
                  <a:srgbClr val="46D39A"/>
                </a:solidFill>
                <a:latin typeface="Courier New" pitchFamily="34" charset="0"/>
                <a:ea typeface="Courier New" pitchFamily="34" charset="-122"/>
                <a:cs typeface="Courier New" pitchFamily="34" charset="-120"/>
              </a:rPr>
              <a:t>player@quest:~$ </a:t>
            </a:r>
            <a:pPr indent="0" marL="0">
              <a:lnSpc>
                <a:spcPct val="108000"/>
              </a:lnSpc>
              <a:buNone/>
            </a:pPr>
            <a:r>
              <a:rPr lang="en-US" sz="1050" b="1" dirty="0">
                <a:solidFill>
                  <a:srgbClr val="FFFFFF"/>
                </a:solidFill>
                <a:latin typeface="Courier New" pitchFamily="34" charset="0"/>
                <a:ea typeface="Courier New" pitchFamily="34" charset="-122"/>
                <a:cs typeface="Courier New" pitchFamily="34" charset="-120"/>
              </a:rPr>
              <a:t>ls -la</a:t>
            </a:r>
            <a:endParaRPr lang="en-US" sz="1050" dirty="0"/>
          </a:p>
          <a:p>
            <a:pPr indent="0" marL="0">
              <a:lnSpc>
                <a:spcPct val="108000"/>
              </a:lnSpc>
              <a:buNone/>
            </a:pPr>
            <a:r>
              <a:rPr lang="en-US" sz="1050" dirty="0">
                <a:solidFill>
                  <a:srgbClr val="B8C4D9"/>
                </a:solidFill>
                <a:latin typeface="Courier New" pitchFamily="34" charset="0"/>
                <a:ea typeface="Courier New" pitchFamily="34" charset="-122"/>
                <a:cs typeface="Courier New" pitchFamily="34" charset="-120"/>
              </a:rPr>
              <a:t>total 16</a:t>
            </a:r>
            <a:endParaRPr lang="en-US" sz="1050" dirty="0"/>
          </a:p>
          <a:p>
            <a:pPr indent="0" marL="0">
              <a:lnSpc>
                <a:spcPct val="108000"/>
              </a:lnSpc>
              <a:buNone/>
            </a:pPr>
            <a:r>
              <a:rPr lang="en-US" sz="1050" dirty="0">
                <a:solidFill>
                  <a:srgbClr val="B8C4D9"/>
                </a:solidFill>
                <a:latin typeface="Courier New" pitchFamily="34" charset="0"/>
                <a:ea typeface="Courier New" pitchFamily="34" charset="-122"/>
                <a:cs typeface="Courier New" pitchFamily="34" charset="-120"/>
              </a:rPr>
              <a:t>drwxr-xr-x  4 player player 4096 May 10 10:24 .</a:t>
            </a:r>
            <a:endParaRPr lang="en-US" sz="1050" dirty="0"/>
          </a:p>
          <a:p>
            <a:pPr indent="0" marL="0">
              <a:lnSpc>
                <a:spcPct val="108000"/>
              </a:lnSpc>
              <a:buNone/>
            </a:pPr>
            <a:r>
              <a:rPr lang="en-US" sz="1050" dirty="0">
                <a:solidFill>
                  <a:srgbClr val="B8C4D9"/>
                </a:solidFill>
                <a:latin typeface="Courier New" pitchFamily="34" charset="0"/>
                <a:ea typeface="Courier New" pitchFamily="34" charset="-122"/>
                <a:cs typeface="Courier New" pitchFamily="34" charset="-120"/>
              </a:rPr>
              <a:t>drwxr-xr-x  3 player player 4096 May 10 09:18 ..</a:t>
            </a:r>
            <a:endParaRPr lang="en-US" sz="1050" dirty="0"/>
          </a:p>
          <a:p>
            <a:pPr indent="0" marL="0">
              <a:lnSpc>
                <a:spcPct val="108000"/>
              </a:lnSpc>
              <a:buNone/>
            </a:pPr>
            <a:r>
              <a:rPr lang="en-US" sz="1050" dirty="0">
                <a:solidFill>
                  <a:srgbClr val="B8C4D9"/>
                </a:solidFill>
                <a:latin typeface="Courier New" pitchFamily="34" charset="0"/>
                <a:ea typeface="Courier New" pitchFamily="34" charset="-122"/>
                <a:cs typeface="Courier New" pitchFamily="34" charset="-120"/>
              </a:rPr>
              <a:t>-rw-r--r--  1 player player  220 May 10 09:30 notes.txt</a:t>
            </a:r>
            <a:endParaRPr lang="en-US" sz="1050" dirty="0"/>
          </a:p>
          <a:p>
            <a:pPr indent="0" marL="0">
              <a:lnSpc>
                <a:spcPct val="108000"/>
              </a:lnSpc>
              <a:buNone/>
            </a:pPr>
            <a:r>
              <a:rPr lang="en-US" sz="1050" dirty="0">
                <a:solidFill>
                  <a:srgbClr val="B8C4D9"/>
                </a:solidFill>
                <a:latin typeface="Courier New" pitchFamily="34" charset="0"/>
                <a:ea typeface="Courier New" pitchFamily="34" charset="-122"/>
                <a:cs typeface="Courier New" pitchFamily="34" charset="-120"/>
              </a:rPr>
              <a:t>drwxr-xr-x  2 player player 4096 May 10 10:24 projects</a:t>
            </a:r>
            <a:endParaRPr lang="en-US" sz="1050" dirty="0"/>
          </a:p>
        </p:txBody>
      </p:sp>
      <p:sp>
        <p:nvSpPr>
          <p:cNvPr id="41" name="Shape 28"/>
          <p:cNvSpPr/>
          <p:nvPr/>
        </p:nvSpPr>
        <p:spPr>
          <a:xfrm>
            <a:off x="548640" y="4379976"/>
            <a:ext cx="256032" cy="256032"/>
          </a:xfrm>
          <a:prstGeom prst="ellipse">
            <a:avLst/>
          </a:prstGeom>
          <a:solidFill>
            <a:srgbClr val="2459D8"/>
          </a:solidFill>
          <a:ln/>
        </p:spPr>
      </p:sp>
      <p:pic>
        <p:nvPicPr>
          <p:cNvPr id="42" name="Image 10" descr="preencoded.png">    </p:cNvPr>
          <p:cNvPicPr>
            <a:picLocks noChangeAspect="1"/>
          </p:cNvPicPr>
          <p:nvPr/>
        </p:nvPicPr>
        <p:blipFill>
          <a:blip r:embed="rId11"/>
          <a:stretch>
            <a:fillRect/>
          </a:stretch>
        </p:blipFill>
        <p:spPr>
          <a:xfrm>
            <a:off x="612648" y="4443984"/>
            <a:ext cx="128016" cy="128016"/>
          </a:xfrm>
          <a:prstGeom prst="rect">
            <a:avLst/>
          </a:prstGeom>
        </p:spPr>
      </p:pic>
      <p:sp>
        <p:nvSpPr>
          <p:cNvPr id="43" name="Text 29"/>
          <p:cNvSpPr txBox="1"/>
          <p:nvPr/>
        </p:nvSpPr>
        <p:spPr>
          <a:xfrm>
            <a:off x="914400" y="4370832"/>
            <a:ext cx="2468880" cy="274320"/>
          </a:xfrm>
          <a:prstGeom prst="rect">
            <a:avLst/>
          </a:prstGeom>
          <a:noFill/>
          <a:ln/>
        </p:spPr>
        <p:txBody>
          <a:bodyPr wrap="square" lIns="0" tIns="0" rIns="0" bIns="0" rtlCol="0" anchor="ctr"/>
          <a:lstStyle/>
          <a:p>
            <a:pPr indent="0" marL="0">
              <a:buNone/>
            </a:pPr>
            <a:r>
              <a:rPr lang="en-US" sz="1350" b="1" dirty="0">
                <a:solidFill>
                  <a:srgbClr val="12213A"/>
                </a:solidFill>
                <a:latin typeface="Arial" pitchFamily="34" charset="0"/>
                <a:ea typeface="Arial" pitchFamily="34" charset="-122"/>
                <a:cs typeface="Arial" pitchFamily="34" charset="-120"/>
              </a:rPr>
              <a:t>How you use it</a:t>
            </a:r>
            <a:endParaRPr lang="en-US" sz="1350" dirty="0"/>
          </a:p>
        </p:txBody>
      </p:sp>
      <p:sp>
        <p:nvSpPr>
          <p:cNvPr id="44" name="Shape 30"/>
          <p:cNvSpPr/>
          <p:nvPr/>
        </p:nvSpPr>
        <p:spPr>
          <a:xfrm>
            <a:off x="2926080" y="4370832"/>
            <a:ext cx="4041648" cy="265176"/>
          </a:xfrm>
          <a:prstGeom prst="roundRect">
            <a:avLst>
              <a:gd name="adj" fmla="val 17241"/>
            </a:avLst>
          </a:prstGeom>
          <a:solidFill>
            <a:srgbClr val="EAF1FC"/>
          </a:solidFill>
          <a:ln/>
        </p:spPr>
      </p:sp>
      <p:sp>
        <p:nvSpPr>
          <p:cNvPr id="45" name="Text 31"/>
          <p:cNvSpPr txBox="1"/>
          <p:nvPr/>
        </p:nvSpPr>
        <p:spPr>
          <a:xfrm>
            <a:off x="3090672" y="4370832"/>
            <a:ext cx="3767328" cy="265176"/>
          </a:xfrm>
          <a:prstGeom prst="rect">
            <a:avLst/>
          </a:prstGeom>
          <a:noFill/>
          <a:ln/>
        </p:spPr>
        <p:txBody>
          <a:bodyPr wrap="square" lIns="0" tIns="0" rIns="0" bIns="0" rtlCol="0" anchor="ctr"/>
          <a:lstStyle/>
          <a:p>
            <a:pPr indent="0" marL="0">
              <a:buNone/>
            </a:pPr>
            <a:r>
              <a:rPr lang="en-US" sz="1300" dirty="0">
                <a:solidFill>
                  <a:srgbClr val="33425E"/>
                </a:solidFill>
                <a:latin typeface="Calibri" pitchFamily="34" charset="0"/>
                <a:ea typeface="Calibri" pitchFamily="34" charset="-122"/>
                <a:cs typeface="Calibri" pitchFamily="34" charset="-120"/>
              </a:rPr>
              <a:t>Click menus and buttons</a:t>
            </a:r>
            <a:endParaRPr lang="en-US" sz="1300" dirty="0"/>
          </a:p>
        </p:txBody>
      </p:sp>
      <p:sp>
        <p:nvSpPr>
          <p:cNvPr id="46" name="Shape 32"/>
          <p:cNvSpPr/>
          <p:nvPr/>
        </p:nvSpPr>
        <p:spPr>
          <a:xfrm>
            <a:off x="7059168" y="4370832"/>
            <a:ext cx="4581144" cy="265176"/>
          </a:xfrm>
          <a:prstGeom prst="roundRect">
            <a:avLst>
              <a:gd name="adj" fmla="val 17241"/>
            </a:avLst>
          </a:prstGeom>
          <a:solidFill>
            <a:srgbClr val="E6F4EC"/>
          </a:solidFill>
          <a:ln/>
        </p:spPr>
      </p:sp>
      <p:sp>
        <p:nvSpPr>
          <p:cNvPr id="47" name="Text 33"/>
          <p:cNvSpPr txBox="1"/>
          <p:nvPr/>
        </p:nvSpPr>
        <p:spPr>
          <a:xfrm>
            <a:off x="7223760" y="4370832"/>
            <a:ext cx="4306824" cy="265176"/>
          </a:xfrm>
          <a:prstGeom prst="rect">
            <a:avLst/>
          </a:prstGeom>
          <a:noFill/>
          <a:ln/>
        </p:spPr>
        <p:txBody>
          <a:bodyPr wrap="square" lIns="0" tIns="0" rIns="0" bIns="0" rtlCol="0" anchor="ctr"/>
          <a:lstStyle/>
          <a:p>
            <a:pPr indent="0" marL="0">
              <a:buNone/>
            </a:pPr>
            <a:r>
              <a:rPr lang="en-US" sz="1300" b="1" dirty="0">
                <a:solidFill>
                  <a:srgbClr val="1C6B3E"/>
                </a:solidFill>
                <a:latin typeface="Calibri" pitchFamily="34" charset="0"/>
                <a:ea typeface="Calibri" pitchFamily="34" charset="-122"/>
                <a:cs typeface="Calibri" pitchFamily="34" charset="-120"/>
              </a:rPr>
              <a:t>Type commands</a:t>
            </a:r>
            <a:endParaRPr lang="en-US" sz="1300" dirty="0"/>
          </a:p>
        </p:txBody>
      </p:sp>
      <p:sp>
        <p:nvSpPr>
          <p:cNvPr id="48" name="Shape 34"/>
          <p:cNvSpPr/>
          <p:nvPr/>
        </p:nvSpPr>
        <p:spPr>
          <a:xfrm>
            <a:off x="548640" y="4663440"/>
            <a:ext cx="256032" cy="256032"/>
          </a:xfrm>
          <a:prstGeom prst="ellipse">
            <a:avLst/>
          </a:prstGeom>
          <a:solidFill>
            <a:srgbClr val="7448D4"/>
          </a:solidFill>
          <a:ln/>
        </p:spPr>
      </p:sp>
      <p:pic>
        <p:nvPicPr>
          <p:cNvPr id="49" name="Image 11" descr="preencoded.png">    </p:cNvPr>
          <p:cNvPicPr>
            <a:picLocks noChangeAspect="1"/>
          </p:cNvPicPr>
          <p:nvPr/>
        </p:nvPicPr>
        <p:blipFill>
          <a:blip r:embed="rId12"/>
          <a:stretch>
            <a:fillRect/>
          </a:stretch>
        </p:blipFill>
        <p:spPr>
          <a:xfrm>
            <a:off x="612648" y="4727448"/>
            <a:ext cx="128016" cy="128016"/>
          </a:xfrm>
          <a:prstGeom prst="rect">
            <a:avLst/>
          </a:prstGeom>
        </p:spPr>
      </p:pic>
      <p:sp>
        <p:nvSpPr>
          <p:cNvPr id="50" name="Text 35"/>
          <p:cNvSpPr txBox="1"/>
          <p:nvPr/>
        </p:nvSpPr>
        <p:spPr>
          <a:xfrm>
            <a:off x="914400" y="4654296"/>
            <a:ext cx="2468880" cy="274320"/>
          </a:xfrm>
          <a:prstGeom prst="rect">
            <a:avLst/>
          </a:prstGeom>
          <a:noFill/>
          <a:ln/>
        </p:spPr>
        <p:txBody>
          <a:bodyPr wrap="square" lIns="0" tIns="0" rIns="0" bIns="0" rtlCol="0" anchor="ctr"/>
          <a:lstStyle/>
          <a:p>
            <a:pPr indent="0" marL="0">
              <a:buNone/>
            </a:pPr>
            <a:r>
              <a:rPr lang="en-US" sz="1350" b="1" dirty="0">
                <a:solidFill>
                  <a:srgbClr val="12213A"/>
                </a:solidFill>
                <a:latin typeface="Arial" pitchFamily="34" charset="0"/>
                <a:ea typeface="Arial" pitchFamily="34" charset="-122"/>
                <a:cs typeface="Arial" pitchFamily="34" charset="-120"/>
              </a:rPr>
              <a:t>Best for</a:t>
            </a:r>
            <a:endParaRPr lang="en-US" sz="1350" dirty="0"/>
          </a:p>
        </p:txBody>
      </p:sp>
      <p:sp>
        <p:nvSpPr>
          <p:cNvPr id="51" name="Shape 36"/>
          <p:cNvSpPr/>
          <p:nvPr/>
        </p:nvSpPr>
        <p:spPr>
          <a:xfrm>
            <a:off x="2926080" y="4654296"/>
            <a:ext cx="4041648" cy="265176"/>
          </a:xfrm>
          <a:prstGeom prst="roundRect">
            <a:avLst>
              <a:gd name="adj" fmla="val 17241"/>
            </a:avLst>
          </a:prstGeom>
          <a:solidFill>
            <a:srgbClr val="EAF1FC"/>
          </a:solidFill>
          <a:ln/>
        </p:spPr>
      </p:sp>
      <p:sp>
        <p:nvSpPr>
          <p:cNvPr id="52" name="Text 37"/>
          <p:cNvSpPr txBox="1"/>
          <p:nvPr/>
        </p:nvSpPr>
        <p:spPr>
          <a:xfrm>
            <a:off x="3090672" y="4654296"/>
            <a:ext cx="3767328" cy="265176"/>
          </a:xfrm>
          <a:prstGeom prst="rect">
            <a:avLst/>
          </a:prstGeom>
          <a:noFill/>
          <a:ln/>
        </p:spPr>
        <p:txBody>
          <a:bodyPr wrap="square" lIns="0" tIns="0" rIns="0" bIns="0" rtlCol="0" anchor="ctr"/>
          <a:lstStyle/>
          <a:p>
            <a:pPr indent="0" marL="0">
              <a:buNone/>
            </a:pPr>
            <a:r>
              <a:rPr lang="en-US" sz="1300" dirty="0">
                <a:solidFill>
                  <a:srgbClr val="33425E"/>
                </a:solidFill>
                <a:latin typeface="Calibri" pitchFamily="34" charset="0"/>
                <a:ea typeface="Calibri" pitchFamily="34" charset="-122"/>
                <a:cs typeface="Calibri" pitchFamily="34" charset="-120"/>
              </a:rPr>
              <a:t>Exploring and visual tasks</a:t>
            </a:r>
            <a:endParaRPr lang="en-US" sz="1300" dirty="0"/>
          </a:p>
        </p:txBody>
      </p:sp>
      <p:sp>
        <p:nvSpPr>
          <p:cNvPr id="53" name="Shape 38"/>
          <p:cNvSpPr/>
          <p:nvPr/>
        </p:nvSpPr>
        <p:spPr>
          <a:xfrm>
            <a:off x="7059168" y="4654296"/>
            <a:ext cx="4581144" cy="265176"/>
          </a:xfrm>
          <a:prstGeom prst="roundRect">
            <a:avLst>
              <a:gd name="adj" fmla="val 17241"/>
            </a:avLst>
          </a:prstGeom>
          <a:solidFill>
            <a:srgbClr val="E6F4EC"/>
          </a:solidFill>
          <a:ln/>
        </p:spPr>
      </p:sp>
      <p:sp>
        <p:nvSpPr>
          <p:cNvPr id="54" name="Text 39"/>
          <p:cNvSpPr txBox="1"/>
          <p:nvPr/>
        </p:nvSpPr>
        <p:spPr>
          <a:xfrm>
            <a:off x="7223760" y="4654296"/>
            <a:ext cx="4306824" cy="265176"/>
          </a:xfrm>
          <a:prstGeom prst="rect">
            <a:avLst/>
          </a:prstGeom>
          <a:noFill/>
          <a:ln/>
        </p:spPr>
        <p:txBody>
          <a:bodyPr wrap="square" lIns="0" tIns="0" rIns="0" bIns="0" rtlCol="0" anchor="ctr"/>
          <a:lstStyle/>
          <a:p>
            <a:pPr indent="0" marL="0">
              <a:buNone/>
            </a:pPr>
            <a:r>
              <a:rPr lang="en-US" sz="1300" b="1" dirty="0">
                <a:solidFill>
                  <a:srgbClr val="1C6B3E"/>
                </a:solidFill>
                <a:latin typeface="Calibri" pitchFamily="34" charset="0"/>
                <a:ea typeface="Calibri" pitchFamily="34" charset="-122"/>
                <a:cs typeface="Calibri" pitchFamily="34" charset="-120"/>
              </a:rPr>
              <a:t>Repeating tasks and automation</a:t>
            </a:r>
            <a:endParaRPr lang="en-US" sz="1300" dirty="0"/>
          </a:p>
        </p:txBody>
      </p:sp>
      <p:sp>
        <p:nvSpPr>
          <p:cNvPr id="55" name="Shape 40"/>
          <p:cNvSpPr/>
          <p:nvPr/>
        </p:nvSpPr>
        <p:spPr>
          <a:xfrm>
            <a:off x="548640" y="4946904"/>
            <a:ext cx="256032" cy="256032"/>
          </a:xfrm>
          <a:prstGeom prst="ellipse">
            <a:avLst/>
          </a:prstGeom>
          <a:solidFill>
            <a:srgbClr val="17875A"/>
          </a:solidFill>
          <a:ln/>
        </p:spPr>
      </p:sp>
      <p:pic>
        <p:nvPicPr>
          <p:cNvPr id="56" name="Image 12" descr="preencoded.png">    </p:cNvPr>
          <p:cNvPicPr>
            <a:picLocks noChangeAspect="1"/>
          </p:cNvPicPr>
          <p:nvPr/>
        </p:nvPicPr>
        <p:blipFill>
          <a:blip r:embed="rId13"/>
          <a:stretch>
            <a:fillRect/>
          </a:stretch>
        </p:blipFill>
        <p:spPr>
          <a:xfrm>
            <a:off x="612648" y="5010912"/>
            <a:ext cx="128016" cy="128016"/>
          </a:xfrm>
          <a:prstGeom prst="rect">
            <a:avLst/>
          </a:prstGeom>
        </p:spPr>
      </p:pic>
      <p:sp>
        <p:nvSpPr>
          <p:cNvPr id="57" name="Text 41"/>
          <p:cNvSpPr txBox="1"/>
          <p:nvPr/>
        </p:nvSpPr>
        <p:spPr>
          <a:xfrm>
            <a:off x="914400" y="4937760"/>
            <a:ext cx="2468880" cy="274320"/>
          </a:xfrm>
          <a:prstGeom prst="rect">
            <a:avLst/>
          </a:prstGeom>
          <a:noFill/>
          <a:ln/>
        </p:spPr>
        <p:txBody>
          <a:bodyPr wrap="square" lIns="0" tIns="0" rIns="0" bIns="0" rtlCol="0" anchor="ctr"/>
          <a:lstStyle/>
          <a:p>
            <a:pPr indent="0" marL="0">
              <a:buNone/>
            </a:pPr>
            <a:r>
              <a:rPr lang="en-US" sz="1350" b="1" dirty="0">
                <a:solidFill>
                  <a:srgbClr val="12213A"/>
                </a:solidFill>
                <a:latin typeface="Arial" pitchFamily="34" charset="0"/>
                <a:ea typeface="Arial" pitchFamily="34" charset="-122"/>
                <a:cs typeface="Arial" pitchFamily="34" charset="-120"/>
              </a:rPr>
              <a:t>Speed</a:t>
            </a:r>
            <a:endParaRPr lang="en-US" sz="1350" dirty="0"/>
          </a:p>
        </p:txBody>
      </p:sp>
      <p:sp>
        <p:nvSpPr>
          <p:cNvPr id="58" name="Shape 42"/>
          <p:cNvSpPr/>
          <p:nvPr/>
        </p:nvSpPr>
        <p:spPr>
          <a:xfrm>
            <a:off x="2926080" y="4937760"/>
            <a:ext cx="4041648" cy="265176"/>
          </a:xfrm>
          <a:prstGeom prst="roundRect">
            <a:avLst>
              <a:gd name="adj" fmla="val 17241"/>
            </a:avLst>
          </a:prstGeom>
          <a:solidFill>
            <a:srgbClr val="EAF1FC"/>
          </a:solidFill>
          <a:ln/>
        </p:spPr>
      </p:sp>
      <p:sp>
        <p:nvSpPr>
          <p:cNvPr id="59" name="Text 43"/>
          <p:cNvSpPr txBox="1"/>
          <p:nvPr/>
        </p:nvSpPr>
        <p:spPr>
          <a:xfrm>
            <a:off x="3090672" y="4937760"/>
            <a:ext cx="3767328" cy="265176"/>
          </a:xfrm>
          <a:prstGeom prst="rect">
            <a:avLst/>
          </a:prstGeom>
          <a:noFill/>
          <a:ln/>
        </p:spPr>
        <p:txBody>
          <a:bodyPr wrap="square" lIns="0" tIns="0" rIns="0" bIns="0" rtlCol="0" anchor="ctr"/>
          <a:lstStyle/>
          <a:p>
            <a:pPr indent="0" marL="0">
              <a:buNone/>
            </a:pPr>
            <a:r>
              <a:rPr lang="en-US" sz="1300" dirty="0">
                <a:solidFill>
                  <a:srgbClr val="33425E"/>
                </a:solidFill>
                <a:latin typeface="Calibri" pitchFamily="34" charset="0"/>
                <a:ea typeface="Calibri" pitchFamily="34" charset="-122"/>
                <a:cs typeface="Calibri" pitchFamily="34" charset="-120"/>
              </a:rPr>
              <a:t>Good for simple tasks</a:t>
            </a:r>
            <a:endParaRPr lang="en-US" sz="1300" dirty="0"/>
          </a:p>
        </p:txBody>
      </p:sp>
      <p:sp>
        <p:nvSpPr>
          <p:cNvPr id="60" name="Shape 44"/>
          <p:cNvSpPr/>
          <p:nvPr/>
        </p:nvSpPr>
        <p:spPr>
          <a:xfrm>
            <a:off x="7059168" y="4937760"/>
            <a:ext cx="4581144" cy="265176"/>
          </a:xfrm>
          <a:prstGeom prst="roundRect">
            <a:avLst>
              <a:gd name="adj" fmla="val 17241"/>
            </a:avLst>
          </a:prstGeom>
          <a:solidFill>
            <a:srgbClr val="E6F4EC"/>
          </a:solidFill>
          <a:ln/>
        </p:spPr>
      </p:sp>
      <p:sp>
        <p:nvSpPr>
          <p:cNvPr id="61" name="Text 45"/>
          <p:cNvSpPr txBox="1"/>
          <p:nvPr/>
        </p:nvSpPr>
        <p:spPr>
          <a:xfrm>
            <a:off x="7223760" y="4937760"/>
            <a:ext cx="4306824" cy="265176"/>
          </a:xfrm>
          <a:prstGeom prst="rect">
            <a:avLst/>
          </a:prstGeom>
          <a:noFill/>
          <a:ln/>
        </p:spPr>
        <p:txBody>
          <a:bodyPr wrap="square" lIns="0" tIns="0" rIns="0" bIns="0" rtlCol="0" anchor="ctr"/>
          <a:lstStyle/>
          <a:p>
            <a:pPr indent="0" marL="0">
              <a:buNone/>
            </a:pPr>
            <a:r>
              <a:rPr lang="en-US" sz="1300" b="1" dirty="0">
                <a:solidFill>
                  <a:srgbClr val="1C6B3E"/>
                </a:solidFill>
                <a:latin typeface="Calibri" pitchFamily="34" charset="0"/>
                <a:ea typeface="Calibri" pitchFamily="34" charset="-122"/>
                <a:cs typeface="Calibri" pitchFamily="34" charset="-120"/>
              </a:rPr>
              <a:t>Fast once you know commands</a:t>
            </a:r>
            <a:endParaRPr lang="en-US" sz="1300" dirty="0"/>
          </a:p>
        </p:txBody>
      </p:sp>
      <p:sp>
        <p:nvSpPr>
          <p:cNvPr id="62" name="Shape 46"/>
          <p:cNvSpPr/>
          <p:nvPr/>
        </p:nvSpPr>
        <p:spPr>
          <a:xfrm>
            <a:off x="548640" y="5230368"/>
            <a:ext cx="256032" cy="256032"/>
          </a:xfrm>
          <a:prstGeom prst="ellipse">
            <a:avLst/>
          </a:prstGeom>
          <a:solidFill>
            <a:srgbClr val="E8820C"/>
          </a:solidFill>
          <a:ln/>
        </p:spPr>
      </p:sp>
      <p:pic>
        <p:nvPicPr>
          <p:cNvPr id="63" name="Image 13" descr="preencoded.png">    </p:cNvPr>
          <p:cNvPicPr>
            <a:picLocks noChangeAspect="1"/>
          </p:cNvPicPr>
          <p:nvPr/>
        </p:nvPicPr>
        <p:blipFill>
          <a:blip r:embed="rId14"/>
          <a:stretch>
            <a:fillRect/>
          </a:stretch>
        </p:blipFill>
        <p:spPr>
          <a:xfrm>
            <a:off x="612648" y="5294376"/>
            <a:ext cx="128016" cy="128016"/>
          </a:xfrm>
          <a:prstGeom prst="rect">
            <a:avLst/>
          </a:prstGeom>
        </p:spPr>
      </p:pic>
      <p:sp>
        <p:nvSpPr>
          <p:cNvPr id="64" name="Text 47"/>
          <p:cNvSpPr txBox="1"/>
          <p:nvPr/>
        </p:nvSpPr>
        <p:spPr>
          <a:xfrm>
            <a:off x="914400" y="5221224"/>
            <a:ext cx="2468880" cy="274320"/>
          </a:xfrm>
          <a:prstGeom prst="rect">
            <a:avLst/>
          </a:prstGeom>
          <a:noFill/>
          <a:ln/>
        </p:spPr>
        <p:txBody>
          <a:bodyPr wrap="square" lIns="0" tIns="0" rIns="0" bIns="0" rtlCol="0" anchor="ctr"/>
          <a:lstStyle/>
          <a:p>
            <a:pPr indent="0" marL="0">
              <a:buNone/>
            </a:pPr>
            <a:r>
              <a:rPr lang="en-US" sz="1350" b="1" dirty="0">
                <a:solidFill>
                  <a:srgbClr val="12213A"/>
                </a:solidFill>
                <a:latin typeface="Arial" pitchFamily="34" charset="0"/>
                <a:ea typeface="Arial" pitchFamily="34" charset="-122"/>
                <a:cs typeface="Arial" pitchFamily="34" charset="-120"/>
              </a:rPr>
              <a:t>Remote work</a:t>
            </a:r>
            <a:endParaRPr lang="en-US" sz="1350" dirty="0"/>
          </a:p>
        </p:txBody>
      </p:sp>
      <p:sp>
        <p:nvSpPr>
          <p:cNvPr id="65" name="Shape 48"/>
          <p:cNvSpPr/>
          <p:nvPr/>
        </p:nvSpPr>
        <p:spPr>
          <a:xfrm>
            <a:off x="2926080" y="5221224"/>
            <a:ext cx="4041648" cy="265176"/>
          </a:xfrm>
          <a:prstGeom prst="roundRect">
            <a:avLst>
              <a:gd name="adj" fmla="val 17241"/>
            </a:avLst>
          </a:prstGeom>
          <a:solidFill>
            <a:srgbClr val="EAF1FC"/>
          </a:solidFill>
          <a:ln/>
        </p:spPr>
      </p:sp>
      <p:sp>
        <p:nvSpPr>
          <p:cNvPr id="66" name="Text 49"/>
          <p:cNvSpPr txBox="1"/>
          <p:nvPr/>
        </p:nvSpPr>
        <p:spPr>
          <a:xfrm>
            <a:off x="3090672" y="5221224"/>
            <a:ext cx="3767328" cy="265176"/>
          </a:xfrm>
          <a:prstGeom prst="rect">
            <a:avLst/>
          </a:prstGeom>
          <a:noFill/>
          <a:ln/>
        </p:spPr>
        <p:txBody>
          <a:bodyPr wrap="square" lIns="0" tIns="0" rIns="0" bIns="0" rtlCol="0" anchor="ctr"/>
          <a:lstStyle/>
          <a:p>
            <a:pPr indent="0" marL="0">
              <a:buNone/>
            </a:pPr>
            <a:r>
              <a:rPr lang="en-US" sz="1300" dirty="0">
                <a:solidFill>
                  <a:srgbClr val="33425E"/>
                </a:solidFill>
                <a:latin typeface="Calibri" pitchFamily="34" charset="0"/>
                <a:ea typeface="Calibri" pitchFamily="34" charset="-122"/>
                <a:cs typeface="Calibri" pitchFamily="34" charset="-120"/>
              </a:rPr>
              <a:t>Needs full desktop view</a:t>
            </a:r>
            <a:endParaRPr lang="en-US" sz="1300" dirty="0"/>
          </a:p>
        </p:txBody>
      </p:sp>
      <p:sp>
        <p:nvSpPr>
          <p:cNvPr id="67" name="Shape 50"/>
          <p:cNvSpPr/>
          <p:nvPr/>
        </p:nvSpPr>
        <p:spPr>
          <a:xfrm>
            <a:off x="7059168" y="5221224"/>
            <a:ext cx="4581144" cy="265176"/>
          </a:xfrm>
          <a:prstGeom prst="roundRect">
            <a:avLst>
              <a:gd name="adj" fmla="val 17241"/>
            </a:avLst>
          </a:prstGeom>
          <a:solidFill>
            <a:srgbClr val="E6F4EC"/>
          </a:solidFill>
          <a:ln/>
        </p:spPr>
      </p:sp>
      <p:sp>
        <p:nvSpPr>
          <p:cNvPr id="68" name="Text 51"/>
          <p:cNvSpPr txBox="1"/>
          <p:nvPr/>
        </p:nvSpPr>
        <p:spPr>
          <a:xfrm>
            <a:off x="7223760" y="5221224"/>
            <a:ext cx="4306824" cy="265176"/>
          </a:xfrm>
          <a:prstGeom prst="rect">
            <a:avLst/>
          </a:prstGeom>
          <a:noFill/>
          <a:ln/>
        </p:spPr>
        <p:txBody>
          <a:bodyPr wrap="square" lIns="0" tIns="0" rIns="0" bIns="0" rtlCol="0" anchor="ctr"/>
          <a:lstStyle/>
          <a:p>
            <a:pPr indent="0" marL="0">
              <a:buNone/>
            </a:pPr>
            <a:r>
              <a:rPr lang="en-US" sz="1300" b="1" dirty="0">
                <a:solidFill>
                  <a:srgbClr val="1C6B3E"/>
                </a:solidFill>
                <a:latin typeface="Calibri" pitchFamily="34" charset="0"/>
                <a:ea typeface="Calibri" pitchFamily="34" charset="-122"/>
                <a:cs typeface="Calibri" pitchFamily="34" charset="-120"/>
              </a:rPr>
              <a:t>Works great over text/SSH</a:t>
            </a:r>
            <a:endParaRPr lang="en-US" sz="1300" dirty="0"/>
          </a:p>
        </p:txBody>
      </p:sp>
      <p:sp>
        <p:nvSpPr>
          <p:cNvPr id="69" name="Shape 52"/>
          <p:cNvSpPr/>
          <p:nvPr/>
        </p:nvSpPr>
        <p:spPr>
          <a:xfrm>
            <a:off x="548640" y="5513832"/>
            <a:ext cx="256032" cy="256032"/>
          </a:xfrm>
          <a:prstGeom prst="ellipse">
            <a:avLst/>
          </a:prstGeom>
          <a:solidFill>
            <a:srgbClr val="D1416B"/>
          </a:solidFill>
          <a:ln/>
        </p:spPr>
      </p:sp>
      <p:pic>
        <p:nvPicPr>
          <p:cNvPr id="70" name="Image 14" descr="preencoded.png">    </p:cNvPr>
          <p:cNvPicPr>
            <a:picLocks noChangeAspect="1"/>
          </p:cNvPicPr>
          <p:nvPr/>
        </p:nvPicPr>
        <p:blipFill>
          <a:blip r:embed="rId15"/>
          <a:stretch>
            <a:fillRect/>
          </a:stretch>
        </p:blipFill>
        <p:spPr>
          <a:xfrm>
            <a:off x="612648" y="5577840"/>
            <a:ext cx="128016" cy="128016"/>
          </a:xfrm>
          <a:prstGeom prst="rect">
            <a:avLst/>
          </a:prstGeom>
        </p:spPr>
      </p:pic>
      <p:sp>
        <p:nvSpPr>
          <p:cNvPr id="71" name="Text 53"/>
          <p:cNvSpPr txBox="1"/>
          <p:nvPr/>
        </p:nvSpPr>
        <p:spPr>
          <a:xfrm>
            <a:off x="914400" y="5504688"/>
            <a:ext cx="2468880" cy="274320"/>
          </a:xfrm>
          <a:prstGeom prst="rect">
            <a:avLst/>
          </a:prstGeom>
          <a:noFill/>
          <a:ln/>
        </p:spPr>
        <p:txBody>
          <a:bodyPr wrap="square" lIns="0" tIns="0" rIns="0" bIns="0" rtlCol="0" anchor="ctr"/>
          <a:lstStyle/>
          <a:p>
            <a:pPr indent="0" marL="0">
              <a:buNone/>
            </a:pPr>
            <a:r>
              <a:rPr lang="en-US" sz="1350" b="1" dirty="0">
                <a:solidFill>
                  <a:srgbClr val="12213A"/>
                </a:solidFill>
                <a:latin typeface="Arial" pitchFamily="34" charset="0"/>
                <a:ea typeface="Arial" pitchFamily="34" charset="-122"/>
                <a:cs typeface="Arial" pitchFamily="34" charset="-120"/>
              </a:rPr>
              <a:t>Example</a:t>
            </a:r>
            <a:endParaRPr lang="en-US" sz="1350" dirty="0"/>
          </a:p>
        </p:txBody>
      </p:sp>
      <p:sp>
        <p:nvSpPr>
          <p:cNvPr id="72" name="Shape 54"/>
          <p:cNvSpPr/>
          <p:nvPr/>
        </p:nvSpPr>
        <p:spPr>
          <a:xfrm>
            <a:off x="2926080" y="5504688"/>
            <a:ext cx="4041648" cy="265176"/>
          </a:xfrm>
          <a:prstGeom prst="roundRect">
            <a:avLst>
              <a:gd name="adj" fmla="val 17241"/>
            </a:avLst>
          </a:prstGeom>
          <a:solidFill>
            <a:srgbClr val="EAF1FC"/>
          </a:solidFill>
          <a:ln/>
        </p:spPr>
      </p:sp>
      <p:sp>
        <p:nvSpPr>
          <p:cNvPr id="73" name="Text 55"/>
          <p:cNvSpPr txBox="1"/>
          <p:nvPr/>
        </p:nvSpPr>
        <p:spPr>
          <a:xfrm>
            <a:off x="3090672" y="5504688"/>
            <a:ext cx="3767328" cy="265176"/>
          </a:xfrm>
          <a:prstGeom prst="rect">
            <a:avLst/>
          </a:prstGeom>
          <a:noFill/>
          <a:ln/>
        </p:spPr>
        <p:txBody>
          <a:bodyPr wrap="square" lIns="0" tIns="0" rIns="0" bIns="0" rtlCol="0" anchor="ctr"/>
          <a:lstStyle/>
          <a:p>
            <a:pPr indent="0" marL="0">
              <a:buNone/>
            </a:pPr>
            <a:r>
              <a:rPr lang="en-US" sz="1300" dirty="0">
                <a:solidFill>
                  <a:srgbClr val="33425E"/>
                </a:solidFill>
                <a:latin typeface="Calibri" pitchFamily="34" charset="0"/>
                <a:ea typeface="Calibri" pitchFamily="34" charset="-122"/>
                <a:cs typeface="Calibri" pitchFamily="34" charset="-120"/>
              </a:rPr>
              <a:t>Drag files into a folder</a:t>
            </a:r>
            <a:endParaRPr lang="en-US" sz="1300" dirty="0"/>
          </a:p>
        </p:txBody>
      </p:sp>
      <p:sp>
        <p:nvSpPr>
          <p:cNvPr id="74" name="Shape 56"/>
          <p:cNvSpPr/>
          <p:nvPr/>
        </p:nvSpPr>
        <p:spPr>
          <a:xfrm>
            <a:off x="7059168" y="5504688"/>
            <a:ext cx="4581144" cy="265176"/>
          </a:xfrm>
          <a:prstGeom prst="roundRect">
            <a:avLst>
              <a:gd name="adj" fmla="val 17241"/>
            </a:avLst>
          </a:prstGeom>
          <a:solidFill>
            <a:srgbClr val="E6F4EC"/>
          </a:solidFill>
          <a:ln/>
        </p:spPr>
      </p:sp>
      <p:sp>
        <p:nvSpPr>
          <p:cNvPr id="75" name="Shape 57"/>
          <p:cNvSpPr/>
          <p:nvPr/>
        </p:nvSpPr>
        <p:spPr>
          <a:xfrm>
            <a:off x="7205472" y="5522976"/>
            <a:ext cx="2377440" cy="228600"/>
          </a:xfrm>
          <a:prstGeom prst="roundRect">
            <a:avLst>
              <a:gd name="adj" fmla="val 20000"/>
            </a:avLst>
          </a:prstGeom>
          <a:solidFill>
            <a:srgbClr val="FFFFFF"/>
          </a:solidFill>
          <a:ln w="12700">
            <a:solidFill>
              <a:srgbClr val="BFE0CC"/>
            </a:solidFill>
            <a:prstDash val="solid"/>
          </a:ln>
        </p:spPr>
      </p:sp>
      <p:sp>
        <p:nvSpPr>
          <p:cNvPr id="76" name="Text 58"/>
          <p:cNvSpPr txBox="1"/>
          <p:nvPr/>
        </p:nvSpPr>
        <p:spPr>
          <a:xfrm>
            <a:off x="7296912" y="5522976"/>
            <a:ext cx="2286000" cy="228600"/>
          </a:xfrm>
          <a:prstGeom prst="rect">
            <a:avLst/>
          </a:prstGeom>
          <a:noFill/>
          <a:ln/>
        </p:spPr>
        <p:txBody>
          <a:bodyPr wrap="square" lIns="0" tIns="0" rIns="0" bIns="0" rtlCol="0" anchor="ctr"/>
          <a:lstStyle/>
          <a:p>
            <a:pPr indent="0" marL="0">
              <a:buNone/>
            </a:pPr>
            <a:r>
              <a:rPr lang="en-US" sz="1150" b="1" dirty="0">
                <a:solidFill>
                  <a:srgbClr val="15713F"/>
                </a:solidFill>
                <a:latin typeface="Courier New" pitchFamily="34" charset="0"/>
                <a:ea typeface="Courier New" pitchFamily="34" charset="-122"/>
                <a:cs typeface="Courier New" pitchFamily="34" charset="-120"/>
              </a:rPr>
              <a:t>mv report.txt projects/</a:t>
            </a:r>
            <a:endParaRPr lang="en-US" sz="1150" dirty="0"/>
          </a:p>
        </p:txBody>
      </p:sp>
      <p:sp>
        <p:nvSpPr>
          <p:cNvPr id="77" name="Shape 59"/>
          <p:cNvSpPr/>
          <p:nvPr/>
        </p:nvSpPr>
        <p:spPr>
          <a:xfrm>
            <a:off x="548640" y="5907024"/>
            <a:ext cx="11094415" cy="475488"/>
          </a:xfrm>
          <a:prstGeom prst="roundRect">
            <a:avLst>
              <a:gd name="adj" fmla="val 19231"/>
            </a:avLst>
          </a:prstGeom>
          <a:solidFill>
            <a:srgbClr val="16233C"/>
          </a:solidFill>
          <a:ln/>
        </p:spPr>
      </p:sp>
      <p:pic>
        <p:nvPicPr>
          <p:cNvPr id="78" name="Image 15" descr="preencoded.png">    </p:cNvPr>
          <p:cNvPicPr>
            <a:picLocks noChangeAspect="1"/>
          </p:cNvPicPr>
          <p:nvPr/>
        </p:nvPicPr>
        <p:blipFill>
          <a:blip r:embed="rId16"/>
          <a:stretch>
            <a:fillRect/>
          </a:stretch>
        </p:blipFill>
        <p:spPr>
          <a:xfrm>
            <a:off x="822960" y="6025896"/>
            <a:ext cx="237744" cy="237744"/>
          </a:xfrm>
          <a:prstGeom prst="rect">
            <a:avLst/>
          </a:prstGeom>
        </p:spPr>
      </p:pic>
      <p:sp>
        <p:nvSpPr>
          <p:cNvPr id="79" name="Text 60"/>
          <p:cNvSpPr txBox="1"/>
          <p:nvPr/>
        </p:nvSpPr>
        <p:spPr>
          <a:xfrm>
            <a:off x="1280160" y="5907024"/>
            <a:ext cx="10180015" cy="475488"/>
          </a:xfrm>
          <a:prstGeom prst="rect">
            <a:avLst/>
          </a:prstGeom>
          <a:noFill/>
          <a:ln/>
        </p:spPr>
        <p:txBody>
          <a:bodyPr wrap="square" lIns="0" tIns="0" rIns="0" bIns="0" rtlCol="0" anchor="ctr">
            <a:normAutofit/>
          </a:bodyPr>
          <a:lstStyle/>
          <a:p>
            <a:pPr indent="0" marL="0">
              <a:buNone/>
            </a:pPr>
            <a:r>
              <a:rPr lang="en-US" sz="1700" b="1" dirty="0">
                <a:solidFill>
                  <a:srgbClr val="7FB2FF"/>
                </a:solidFill>
                <a:latin typeface="Arial" pitchFamily="34" charset="0"/>
                <a:ea typeface="Arial" pitchFamily="34" charset="-122"/>
                <a:cs typeface="Arial" pitchFamily="34" charset="-120"/>
              </a:rPr>
              <a:t>GUI is easier to start.  </a:t>
            </a:r>
            <a:pPr indent="0" marL="0">
              <a:buNone/>
            </a:pPr>
            <a:r>
              <a:rPr lang="en-US" sz="1700" b="1" dirty="0">
                <a:solidFill>
                  <a:srgbClr val="46D39A"/>
                </a:solidFill>
                <a:latin typeface="Arial" pitchFamily="34" charset="0"/>
                <a:ea typeface="Arial" pitchFamily="34" charset="-122"/>
                <a:cs typeface="Arial" pitchFamily="34" charset="-120"/>
              </a:rPr>
              <a:t>CLI is powerful</a:t>
            </a:r>
            <a:pPr indent="0" marL="0">
              <a:buNone/>
            </a:pPr>
            <a:r>
              <a:rPr lang="en-US" sz="1700" dirty="0">
                <a:solidFill>
                  <a:srgbClr val="FFFFFF"/>
                </a:solidFill>
                <a:latin typeface="Arial" pitchFamily="34" charset="0"/>
                <a:ea typeface="Arial" pitchFamily="34" charset="-122"/>
                <a:cs typeface="Arial" pitchFamily="34" charset="-120"/>
              </a:rPr>
              <a:t> when you need speed, repetition, or remote control.</a:t>
            </a:r>
            <a:endParaRPr lang="en-US" sz="1700" dirty="0"/>
          </a:p>
        </p:txBody>
      </p:sp>
      <p:sp>
        <p:nvSpPr>
          <p:cNvPr id="80" name="Text 61"/>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12 / 79</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Speed: nothing beats the command line</a:t>
            </a:r>
            <a:endParaRPr lang="en-US" sz="3200" dirty="0"/>
          </a:p>
        </p:txBody>
      </p:sp>
      <p:sp>
        <p:nvSpPr>
          <p:cNvPr id="4" name="Shape 1"/>
          <p:cNvSpPr/>
          <p:nvPr/>
        </p:nvSpPr>
        <p:spPr>
          <a:xfrm>
            <a:off x="548640" y="1508760"/>
            <a:ext cx="3566160" cy="3520440"/>
          </a:xfrm>
          <a:prstGeom prst="roundRect">
            <a:avLst>
              <a:gd name="adj" fmla="val 2597"/>
            </a:avLst>
          </a:prstGeom>
          <a:solidFill>
            <a:srgbClr val="F1F5FB"/>
          </a:solidFill>
          <a:ln/>
        </p:spPr>
      </p:sp>
      <p:sp>
        <p:nvSpPr>
          <p:cNvPr id="5" name="Shape 2"/>
          <p:cNvSpPr/>
          <p:nvPr/>
        </p:nvSpPr>
        <p:spPr>
          <a:xfrm>
            <a:off x="548640" y="1508760"/>
            <a:ext cx="3566160" cy="91440"/>
          </a:xfrm>
          <a:prstGeom prst="rect">
            <a:avLst/>
          </a:prstGeom>
          <a:solidFill>
            <a:srgbClr val="2459D8"/>
          </a:solidFill>
          <a:ln/>
        </p:spPr>
      </p:sp>
      <p:sp>
        <p:nvSpPr>
          <p:cNvPr id="6" name="Text 3"/>
          <p:cNvSpPr txBox="1"/>
          <p:nvPr/>
        </p:nvSpPr>
        <p:spPr>
          <a:xfrm>
            <a:off x="822960" y="1691640"/>
            <a:ext cx="3108960" cy="45720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Rename 500 photos</a:t>
            </a:r>
            <a:endParaRPr lang="en-US" sz="1900" dirty="0"/>
          </a:p>
        </p:txBody>
      </p:sp>
      <p:sp>
        <p:nvSpPr>
          <p:cNvPr id="7" name="Text 4"/>
          <p:cNvSpPr txBox="1"/>
          <p:nvPr/>
        </p:nvSpPr>
        <p:spPr>
          <a:xfrm>
            <a:off x="822960" y="2240280"/>
            <a:ext cx="914400" cy="320040"/>
          </a:xfrm>
          <a:prstGeom prst="rect">
            <a:avLst/>
          </a:prstGeom>
          <a:noFill/>
          <a:ln/>
        </p:spPr>
        <p:txBody>
          <a:bodyPr wrap="square" lIns="0" tIns="0" rIns="0" bIns="0" rtlCol="0" anchor="t"/>
          <a:lstStyle/>
          <a:p>
            <a:pPr indent="0" marL="0">
              <a:buNone/>
            </a:pPr>
            <a:r>
              <a:rPr lang="en-US" sz="1200" b="1" dirty="0">
                <a:solidFill>
                  <a:srgbClr val="56657E"/>
                </a:solidFill>
                <a:latin typeface="Calibri" pitchFamily="34" charset="0"/>
                <a:ea typeface="Calibri" pitchFamily="34" charset="-122"/>
                <a:cs typeface="Calibri" pitchFamily="34" charset="-120"/>
              </a:rPr>
              <a:t>GUI</a:t>
            </a:r>
            <a:endParaRPr lang="en-US" sz="1200" dirty="0"/>
          </a:p>
        </p:txBody>
      </p:sp>
      <p:sp>
        <p:nvSpPr>
          <p:cNvPr id="8" name="Text 5"/>
          <p:cNvSpPr txBox="1"/>
          <p:nvPr/>
        </p:nvSpPr>
        <p:spPr>
          <a:xfrm>
            <a:off x="822960" y="2514600"/>
            <a:ext cx="3108960" cy="548640"/>
          </a:xfrm>
          <a:prstGeom prst="rect">
            <a:avLst/>
          </a:prstGeom>
          <a:noFill/>
          <a:ln/>
        </p:spPr>
        <p:txBody>
          <a:bodyPr wrap="square" lIns="0" tIns="0" rIns="0" bIns="0" rtlCol="0" anchor="ctr"/>
          <a:lstStyle/>
          <a:p>
            <a:pPr indent="0" marL="0">
              <a:buNone/>
            </a:pPr>
            <a:r>
              <a:rPr lang="en-US" sz="2600" b="1" dirty="0">
                <a:solidFill>
                  <a:srgbClr val="D1416B"/>
                </a:solidFill>
                <a:latin typeface="Arial" pitchFamily="34" charset="0"/>
                <a:ea typeface="Arial" pitchFamily="34" charset="-122"/>
                <a:cs typeface="Arial" pitchFamily="34" charset="-120"/>
              </a:rPr>
              <a:t>~25 min  </a:t>
            </a:r>
            <a:pPr indent="0" marL="0">
              <a:buNone/>
            </a:pPr>
            <a:r>
              <a:rPr lang="en-US" sz="1300" dirty="0">
                <a:solidFill>
                  <a:srgbClr val="56657E"/>
                </a:solidFill>
                <a:latin typeface="Arial" pitchFamily="34" charset="0"/>
                <a:ea typeface="Arial" pitchFamily="34" charset="-122"/>
                <a:cs typeface="Arial" pitchFamily="34" charset="-120"/>
              </a:rPr>
              <a:t>of clicking</a:t>
            </a:r>
            <a:endParaRPr lang="en-US" sz="2600" dirty="0"/>
          </a:p>
        </p:txBody>
      </p:sp>
      <p:sp>
        <p:nvSpPr>
          <p:cNvPr id="9" name="Text 6"/>
          <p:cNvSpPr txBox="1"/>
          <p:nvPr/>
        </p:nvSpPr>
        <p:spPr>
          <a:xfrm>
            <a:off x="822960" y="3154680"/>
            <a:ext cx="914400" cy="320040"/>
          </a:xfrm>
          <a:prstGeom prst="rect">
            <a:avLst/>
          </a:prstGeom>
          <a:noFill/>
          <a:ln/>
        </p:spPr>
        <p:txBody>
          <a:bodyPr wrap="square" lIns="0" tIns="0" rIns="0" bIns="0" rtlCol="0" anchor="t"/>
          <a:lstStyle/>
          <a:p>
            <a:pPr indent="0" marL="0">
              <a:buNone/>
            </a:pPr>
            <a:r>
              <a:rPr lang="en-US" sz="1200" b="1" dirty="0">
                <a:solidFill>
                  <a:srgbClr val="56657E"/>
                </a:solidFill>
                <a:latin typeface="Calibri" pitchFamily="34" charset="0"/>
                <a:ea typeface="Calibri" pitchFamily="34" charset="-122"/>
                <a:cs typeface="Calibri" pitchFamily="34" charset="-120"/>
              </a:rPr>
              <a:t>CLI</a:t>
            </a:r>
            <a:endParaRPr lang="en-US" sz="1200" dirty="0"/>
          </a:p>
        </p:txBody>
      </p:sp>
      <p:sp>
        <p:nvSpPr>
          <p:cNvPr id="10" name="Text 7"/>
          <p:cNvSpPr txBox="1"/>
          <p:nvPr/>
        </p:nvSpPr>
        <p:spPr>
          <a:xfrm>
            <a:off x="822960" y="3429000"/>
            <a:ext cx="3108960" cy="548640"/>
          </a:xfrm>
          <a:prstGeom prst="rect">
            <a:avLst/>
          </a:prstGeom>
          <a:noFill/>
          <a:ln/>
        </p:spPr>
        <p:txBody>
          <a:bodyPr wrap="square" lIns="0" tIns="0" rIns="0" bIns="0" rtlCol="0" anchor="ctr"/>
          <a:lstStyle/>
          <a:p>
            <a:pPr indent="0" marL="0">
              <a:buNone/>
            </a:pPr>
            <a:r>
              <a:rPr lang="en-US" sz="2600" b="1" dirty="0">
                <a:solidFill>
                  <a:srgbClr val="17875A"/>
                </a:solidFill>
                <a:latin typeface="Arial" pitchFamily="34" charset="0"/>
                <a:ea typeface="Arial" pitchFamily="34" charset="-122"/>
                <a:cs typeface="Arial" pitchFamily="34" charset="-120"/>
              </a:rPr>
              <a:t>1 line</a:t>
            </a:r>
            <a:endParaRPr lang="en-US" sz="2600" dirty="0"/>
          </a:p>
        </p:txBody>
      </p:sp>
      <p:sp>
        <p:nvSpPr>
          <p:cNvPr id="11" name="Shape 8"/>
          <p:cNvSpPr/>
          <p:nvPr/>
        </p:nvSpPr>
        <p:spPr>
          <a:xfrm>
            <a:off x="822960" y="4114800"/>
            <a:ext cx="3017520" cy="685800"/>
          </a:xfrm>
          <a:prstGeom prst="roundRect">
            <a:avLst>
              <a:gd name="adj" fmla="val 10667"/>
            </a:avLst>
          </a:prstGeom>
          <a:solidFill>
            <a:srgbClr val="0E1726"/>
          </a:solidFill>
          <a:ln/>
        </p:spPr>
      </p:sp>
      <p:sp>
        <p:nvSpPr>
          <p:cNvPr id="12" name="Text 9"/>
          <p:cNvSpPr txBox="1"/>
          <p:nvPr/>
        </p:nvSpPr>
        <p:spPr>
          <a:xfrm>
            <a:off x="914400" y="4114800"/>
            <a:ext cx="2834640" cy="685800"/>
          </a:xfrm>
          <a:prstGeom prst="rect">
            <a:avLst/>
          </a:prstGeom>
          <a:noFill/>
          <a:ln/>
        </p:spPr>
        <p:txBody>
          <a:bodyPr wrap="square" lIns="0" tIns="0" rIns="0" bIns="0" rtlCol="0" anchor="ctr"/>
          <a:lstStyle/>
          <a:p>
            <a:pPr indent="0" marL="0">
              <a:buNone/>
            </a:pPr>
            <a:r>
              <a:rPr lang="en-US" sz="1100" b="1" dirty="0">
                <a:solidFill>
                  <a:srgbClr val="FFFFFF"/>
                </a:solidFill>
                <a:latin typeface="Courier New" pitchFamily="34" charset="0"/>
                <a:ea typeface="Courier New" pitchFamily="34" charset="-122"/>
                <a:cs typeface="Courier New" pitchFamily="34" charset="-120"/>
              </a:rPr>
              <a:t>for f in *.jpg; do mv "$f" "trip-$f"; done</a:t>
            </a:r>
            <a:endParaRPr lang="en-US" sz="1100" dirty="0"/>
          </a:p>
        </p:txBody>
      </p:sp>
      <p:sp>
        <p:nvSpPr>
          <p:cNvPr id="13" name="Shape 10"/>
          <p:cNvSpPr/>
          <p:nvPr/>
        </p:nvSpPr>
        <p:spPr>
          <a:xfrm>
            <a:off x="4306824" y="1508760"/>
            <a:ext cx="3566160" cy="3520440"/>
          </a:xfrm>
          <a:prstGeom prst="roundRect">
            <a:avLst>
              <a:gd name="adj" fmla="val 2597"/>
            </a:avLst>
          </a:prstGeom>
          <a:solidFill>
            <a:srgbClr val="F1F5FB"/>
          </a:solidFill>
          <a:ln/>
        </p:spPr>
      </p:sp>
      <p:sp>
        <p:nvSpPr>
          <p:cNvPr id="14" name="Shape 11"/>
          <p:cNvSpPr/>
          <p:nvPr/>
        </p:nvSpPr>
        <p:spPr>
          <a:xfrm>
            <a:off x="4306824" y="1508760"/>
            <a:ext cx="3566160" cy="91440"/>
          </a:xfrm>
          <a:prstGeom prst="rect">
            <a:avLst/>
          </a:prstGeom>
          <a:solidFill>
            <a:srgbClr val="7448D4"/>
          </a:solidFill>
          <a:ln/>
        </p:spPr>
      </p:sp>
      <p:sp>
        <p:nvSpPr>
          <p:cNvPr id="15" name="Text 12"/>
          <p:cNvSpPr txBox="1"/>
          <p:nvPr/>
        </p:nvSpPr>
        <p:spPr>
          <a:xfrm>
            <a:off x="4581144" y="1691640"/>
            <a:ext cx="3108960" cy="45720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Find one line in 12,000</a:t>
            </a:r>
            <a:endParaRPr lang="en-US" sz="1900" dirty="0"/>
          </a:p>
        </p:txBody>
      </p:sp>
      <p:sp>
        <p:nvSpPr>
          <p:cNvPr id="16" name="Text 13"/>
          <p:cNvSpPr txBox="1"/>
          <p:nvPr/>
        </p:nvSpPr>
        <p:spPr>
          <a:xfrm>
            <a:off x="4581144" y="2240280"/>
            <a:ext cx="914400" cy="320040"/>
          </a:xfrm>
          <a:prstGeom prst="rect">
            <a:avLst/>
          </a:prstGeom>
          <a:noFill/>
          <a:ln/>
        </p:spPr>
        <p:txBody>
          <a:bodyPr wrap="square" lIns="0" tIns="0" rIns="0" bIns="0" rtlCol="0" anchor="t"/>
          <a:lstStyle/>
          <a:p>
            <a:pPr indent="0" marL="0">
              <a:buNone/>
            </a:pPr>
            <a:r>
              <a:rPr lang="en-US" sz="1200" b="1" dirty="0">
                <a:solidFill>
                  <a:srgbClr val="56657E"/>
                </a:solidFill>
                <a:latin typeface="Calibri" pitchFamily="34" charset="0"/>
                <a:ea typeface="Calibri" pitchFamily="34" charset="-122"/>
                <a:cs typeface="Calibri" pitchFamily="34" charset="-120"/>
              </a:rPr>
              <a:t>GUI</a:t>
            </a:r>
            <a:endParaRPr lang="en-US" sz="1200" dirty="0"/>
          </a:p>
        </p:txBody>
      </p:sp>
      <p:sp>
        <p:nvSpPr>
          <p:cNvPr id="17" name="Text 14"/>
          <p:cNvSpPr txBox="1"/>
          <p:nvPr/>
        </p:nvSpPr>
        <p:spPr>
          <a:xfrm>
            <a:off x="4581144" y="2514600"/>
            <a:ext cx="3108960" cy="548640"/>
          </a:xfrm>
          <a:prstGeom prst="rect">
            <a:avLst/>
          </a:prstGeom>
          <a:noFill/>
          <a:ln/>
        </p:spPr>
        <p:txBody>
          <a:bodyPr wrap="square" lIns="0" tIns="0" rIns="0" bIns="0" rtlCol="0" anchor="ctr"/>
          <a:lstStyle/>
          <a:p>
            <a:pPr indent="0" marL="0">
              <a:buNone/>
            </a:pPr>
            <a:r>
              <a:rPr lang="en-US" sz="2600" b="1" dirty="0">
                <a:solidFill>
                  <a:srgbClr val="D1416B"/>
                </a:solidFill>
                <a:latin typeface="Arial" pitchFamily="34" charset="0"/>
                <a:ea typeface="Arial" pitchFamily="34" charset="-122"/>
                <a:cs typeface="Arial" pitchFamily="34" charset="-120"/>
              </a:rPr>
              <a:t>minutes  </a:t>
            </a:r>
            <a:pPr indent="0" marL="0">
              <a:buNone/>
            </a:pPr>
            <a:r>
              <a:rPr lang="en-US" sz="1300" dirty="0">
                <a:solidFill>
                  <a:srgbClr val="56657E"/>
                </a:solidFill>
                <a:latin typeface="Arial" pitchFamily="34" charset="0"/>
                <a:ea typeface="Arial" pitchFamily="34" charset="-122"/>
                <a:cs typeface="Arial" pitchFamily="34" charset="-120"/>
              </a:rPr>
              <a:t>of scrolling and squinting</a:t>
            </a:r>
            <a:endParaRPr lang="en-US" sz="2600" dirty="0"/>
          </a:p>
        </p:txBody>
      </p:sp>
      <p:sp>
        <p:nvSpPr>
          <p:cNvPr id="18" name="Text 15"/>
          <p:cNvSpPr txBox="1"/>
          <p:nvPr/>
        </p:nvSpPr>
        <p:spPr>
          <a:xfrm>
            <a:off x="4581144" y="3154680"/>
            <a:ext cx="914400" cy="320040"/>
          </a:xfrm>
          <a:prstGeom prst="rect">
            <a:avLst/>
          </a:prstGeom>
          <a:noFill/>
          <a:ln/>
        </p:spPr>
        <p:txBody>
          <a:bodyPr wrap="square" lIns="0" tIns="0" rIns="0" bIns="0" rtlCol="0" anchor="t"/>
          <a:lstStyle/>
          <a:p>
            <a:pPr indent="0" marL="0">
              <a:buNone/>
            </a:pPr>
            <a:r>
              <a:rPr lang="en-US" sz="1200" b="1" dirty="0">
                <a:solidFill>
                  <a:srgbClr val="56657E"/>
                </a:solidFill>
                <a:latin typeface="Calibri" pitchFamily="34" charset="0"/>
                <a:ea typeface="Calibri" pitchFamily="34" charset="-122"/>
                <a:cs typeface="Calibri" pitchFamily="34" charset="-120"/>
              </a:rPr>
              <a:t>CLI</a:t>
            </a:r>
            <a:endParaRPr lang="en-US" sz="1200" dirty="0"/>
          </a:p>
        </p:txBody>
      </p:sp>
      <p:sp>
        <p:nvSpPr>
          <p:cNvPr id="19" name="Text 16"/>
          <p:cNvSpPr txBox="1"/>
          <p:nvPr/>
        </p:nvSpPr>
        <p:spPr>
          <a:xfrm>
            <a:off x="4581144" y="3429000"/>
            <a:ext cx="3108960" cy="548640"/>
          </a:xfrm>
          <a:prstGeom prst="rect">
            <a:avLst/>
          </a:prstGeom>
          <a:noFill/>
          <a:ln/>
        </p:spPr>
        <p:txBody>
          <a:bodyPr wrap="square" lIns="0" tIns="0" rIns="0" bIns="0" rtlCol="0" anchor="ctr"/>
          <a:lstStyle/>
          <a:p>
            <a:pPr indent="0" marL="0">
              <a:buNone/>
            </a:pPr>
            <a:r>
              <a:rPr lang="en-US" sz="2600" b="1" dirty="0">
                <a:solidFill>
                  <a:srgbClr val="17875A"/>
                </a:solidFill>
                <a:latin typeface="Arial" pitchFamily="34" charset="0"/>
                <a:ea typeface="Arial" pitchFamily="34" charset="-122"/>
                <a:cs typeface="Arial" pitchFamily="34" charset="-120"/>
              </a:rPr>
              <a:t>&lt; 1 sec</a:t>
            </a:r>
            <a:endParaRPr lang="en-US" sz="2600" dirty="0"/>
          </a:p>
        </p:txBody>
      </p:sp>
      <p:sp>
        <p:nvSpPr>
          <p:cNvPr id="20" name="Shape 17"/>
          <p:cNvSpPr/>
          <p:nvPr/>
        </p:nvSpPr>
        <p:spPr>
          <a:xfrm>
            <a:off x="4581144" y="4114800"/>
            <a:ext cx="3017520" cy="685800"/>
          </a:xfrm>
          <a:prstGeom prst="roundRect">
            <a:avLst>
              <a:gd name="adj" fmla="val 10667"/>
            </a:avLst>
          </a:prstGeom>
          <a:solidFill>
            <a:srgbClr val="0E1726"/>
          </a:solidFill>
          <a:ln/>
        </p:spPr>
      </p:sp>
      <p:sp>
        <p:nvSpPr>
          <p:cNvPr id="21" name="Text 18"/>
          <p:cNvSpPr txBox="1"/>
          <p:nvPr/>
        </p:nvSpPr>
        <p:spPr>
          <a:xfrm>
            <a:off x="4672584" y="4114800"/>
            <a:ext cx="2834640" cy="685800"/>
          </a:xfrm>
          <a:prstGeom prst="rect">
            <a:avLst/>
          </a:prstGeom>
          <a:noFill/>
          <a:ln/>
        </p:spPr>
        <p:txBody>
          <a:bodyPr wrap="square" lIns="0" tIns="0" rIns="0" bIns="0" rtlCol="0" anchor="ctr"/>
          <a:lstStyle/>
          <a:p>
            <a:pPr indent="0" marL="0">
              <a:buNone/>
            </a:pPr>
            <a:r>
              <a:rPr lang="en-US" sz="1100" b="1" dirty="0">
                <a:solidFill>
                  <a:srgbClr val="FFFFFF"/>
                </a:solidFill>
                <a:latin typeface="Courier New" pitchFamily="34" charset="0"/>
                <a:ea typeface="Courier New" pitchFamily="34" charset="-122"/>
                <a:cs typeface="Courier New" pitchFamily="34" charset="-120"/>
              </a:rPr>
              <a:t>grep red_panda access.log</a:t>
            </a:r>
            <a:endParaRPr lang="en-US" sz="1100" dirty="0"/>
          </a:p>
        </p:txBody>
      </p:sp>
      <p:sp>
        <p:nvSpPr>
          <p:cNvPr id="22" name="Shape 19"/>
          <p:cNvSpPr/>
          <p:nvPr/>
        </p:nvSpPr>
        <p:spPr>
          <a:xfrm>
            <a:off x="8065008" y="1508760"/>
            <a:ext cx="3566160" cy="3520440"/>
          </a:xfrm>
          <a:prstGeom prst="roundRect">
            <a:avLst>
              <a:gd name="adj" fmla="val 2597"/>
            </a:avLst>
          </a:prstGeom>
          <a:solidFill>
            <a:srgbClr val="F1F5FB"/>
          </a:solidFill>
          <a:ln/>
        </p:spPr>
      </p:sp>
      <p:sp>
        <p:nvSpPr>
          <p:cNvPr id="23" name="Shape 20"/>
          <p:cNvSpPr/>
          <p:nvPr/>
        </p:nvSpPr>
        <p:spPr>
          <a:xfrm>
            <a:off x="8065008" y="1508760"/>
            <a:ext cx="3566160" cy="91440"/>
          </a:xfrm>
          <a:prstGeom prst="rect">
            <a:avLst/>
          </a:prstGeom>
          <a:solidFill>
            <a:srgbClr val="D1416B"/>
          </a:solidFill>
          <a:ln/>
        </p:spPr>
      </p:sp>
      <p:sp>
        <p:nvSpPr>
          <p:cNvPr id="24" name="Text 21"/>
          <p:cNvSpPr txBox="1"/>
          <p:nvPr/>
        </p:nvSpPr>
        <p:spPr>
          <a:xfrm>
            <a:off x="8339328" y="1691640"/>
            <a:ext cx="3108960" cy="45720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Do it on 100 servers</a:t>
            </a:r>
            <a:endParaRPr lang="en-US" sz="1900" dirty="0"/>
          </a:p>
        </p:txBody>
      </p:sp>
      <p:sp>
        <p:nvSpPr>
          <p:cNvPr id="25" name="Text 22"/>
          <p:cNvSpPr txBox="1"/>
          <p:nvPr/>
        </p:nvSpPr>
        <p:spPr>
          <a:xfrm>
            <a:off x="8339328" y="2240280"/>
            <a:ext cx="914400" cy="320040"/>
          </a:xfrm>
          <a:prstGeom prst="rect">
            <a:avLst/>
          </a:prstGeom>
          <a:noFill/>
          <a:ln/>
        </p:spPr>
        <p:txBody>
          <a:bodyPr wrap="square" lIns="0" tIns="0" rIns="0" bIns="0" rtlCol="0" anchor="t"/>
          <a:lstStyle/>
          <a:p>
            <a:pPr indent="0" marL="0">
              <a:buNone/>
            </a:pPr>
            <a:r>
              <a:rPr lang="en-US" sz="1200" b="1" dirty="0">
                <a:solidFill>
                  <a:srgbClr val="56657E"/>
                </a:solidFill>
                <a:latin typeface="Calibri" pitchFamily="34" charset="0"/>
                <a:ea typeface="Calibri" pitchFamily="34" charset="-122"/>
                <a:cs typeface="Calibri" pitchFamily="34" charset="-120"/>
              </a:rPr>
              <a:t>GUI</a:t>
            </a:r>
            <a:endParaRPr lang="en-US" sz="1200" dirty="0"/>
          </a:p>
        </p:txBody>
      </p:sp>
      <p:sp>
        <p:nvSpPr>
          <p:cNvPr id="26" name="Text 23"/>
          <p:cNvSpPr txBox="1"/>
          <p:nvPr/>
        </p:nvSpPr>
        <p:spPr>
          <a:xfrm>
            <a:off x="8339328" y="2514600"/>
            <a:ext cx="3108960" cy="548640"/>
          </a:xfrm>
          <a:prstGeom prst="rect">
            <a:avLst/>
          </a:prstGeom>
          <a:noFill/>
          <a:ln/>
        </p:spPr>
        <p:txBody>
          <a:bodyPr wrap="square" lIns="0" tIns="0" rIns="0" bIns="0" rtlCol="0" anchor="ctr"/>
          <a:lstStyle/>
          <a:p>
            <a:pPr indent="0" marL="0">
              <a:buNone/>
            </a:pPr>
            <a:r>
              <a:rPr lang="en-US" sz="2600" b="1" dirty="0">
                <a:solidFill>
                  <a:srgbClr val="D1416B"/>
                </a:solidFill>
                <a:latin typeface="Arial" pitchFamily="34" charset="0"/>
                <a:ea typeface="Arial" pitchFamily="34" charset="-122"/>
                <a:cs typeface="Arial" pitchFamily="34" charset="-120"/>
              </a:rPr>
              <a:t>hours  </a:t>
            </a:r>
            <a:pPr indent="0" marL="0">
              <a:buNone/>
            </a:pPr>
            <a:r>
              <a:rPr lang="en-US" sz="1300" dirty="0">
                <a:solidFill>
                  <a:srgbClr val="56657E"/>
                </a:solidFill>
                <a:latin typeface="Arial" pitchFamily="34" charset="0"/>
                <a:ea typeface="Arial" pitchFamily="34" charset="-122"/>
                <a:cs typeface="Arial" pitchFamily="34" charset="-120"/>
              </a:rPr>
              <a:t>of remote desktops</a:t>
            </a:r>
            <a:endParaRPr lang="en-US" sz="2600" dirty="0"/>
          </a:p>
        </p:txBody>
      </p:sp>
      <p:sp>
        <p:nvSpPr>
          <p:cNvPr id="27" name="Text 24"/>
          <p:cNvSpPr txBox="1"/>
          <p:nvPr/>
        </p:nvSpPr>
        <p:spPr>
          <a:xfrm>
            <a:off x="8339328" y="3154680"/>
            <a:ext cx="914400" cy="320040"/>
          </a:xfrm>
          <a:prstGeom prst="rect">
            <a:avLst/>
          </a:prstGeom>
          <a:noFill/>
          <a:ln/>
        </p:spPr>
        <p:txBody>
          <a:bodyPr wrap="square" lIns="0" tIns="0" rIns="0" bIns="0" rtlCol="0" anchor="t"/>
          <a:lstStyle/>
          <a:p>
            <a:pPr indent="0" marL="0">
              <a:buNone/>
            </a:pPr>
            <a:r>
              <a:rPr lang="en-US" sz="1200" b="1" dirty="0">
                <a:solidFill>
                  <a:srgbClr val="56657E"/>
                </a:solidFill>
                <a:latin typeface="Calibri" pitchFamily="34" charset="0"/>
                <a:ea typeface="Calibri" pitchFamily="34" charset="-122"/>
                <a:cs typeface="Calibri" pitchFamily="34" charset="-120"/>
              </a:rPr>
              <a:t>CLI</a:t>
            </a:r>
            <a:endParaRPr lang="en-US" sz="1200" dirty="0"/>
          </a:p>
        </p:txBody>
      </p:sp>
      <p:sp>
        <p:nvSpPr>
          <p:cNvPr id="28" name="Text 25"/>
          <p:cNvSpPr txBox="1"/>
          <p:nvPr/>
        </p:nvSpPr>
        <p:spPr>
          <a:xfrm>
            <a:off x="8339328" y="3429000"/>
            <a:ext cx="3108960" cy="548640"/>
          </a:xfrm>
          <a:prstGeom prst="rect">
            <a:avLst/>
          </a:prstGeom>
          <a:noFill/>
          <a:ln/>
        </p:spPr>
        <p:txBody>
          <a:bodyPr wrap="square" lIns="0" tIns="0" rIns="0" bIns="0" rtlCol="0" anchor="ctr"/>
          <a:lstStyle/>
          <a:p>
            <a:pPr indent="0" marL="0">
              <a:buNone/>
            </a:pPr>
            <a:r>
              <a:rPr lang="en-US" sz="2600" b="1" dirty="0">
                <a:solidFill>
                  <a:srgbClr val="17875A"/>
                </a:solidFill>
                <a:latin typeface="Arial" pitchFamily="34" charset="0"/>
                <a:ea typeface="Arial" pitchFamily="34" charset="-122"/>
                <a:cs typeface="Arial" pitchFamily="34" charset="-120"/>
              </a:rPr>
              <a:t>1 loop</a:t>
            </a:r>
            <a:endParaRPr lang="en-US" sz="2600" dirty="0"/>
          </a:p>
        </p:txBody>
      </p:sp>
      <p:sp>
        <p:nvSpPr>
          <p:cNvPr id="29" name="Shape 26"/>
          <p:cNvSpPr/>
          <p:nvPr/>
        </p:nvSpPr>
        <p:spPr>
          <a:xfrm>
            <a:off x="8339328" y="4114800"/>
            <a:ext cx="3017520" cy="685800"/>
          </a:xfrm>
          <a:prstGeom prst="roundRect">
            <a:avLst>
              <a:gd name="adj" fmla="val 10667"/>
            </a:avLst>
          </a:prstGeom>
          <a:solidFill>
            <a:srgbClr val="0E1726"/>
          </a:solidFill>
          <a:ln/>
        </p:spPr>
      </p:sp>
      <p:sp>
        <p:nvSpPr>
          <p:cNvPr id="30" name="Text 27"/>
          <p:cNvSpPr txBox="1"/>
          <p:nvPr/>
        </p:nvSpPr>
        <p:spPr>
          <a:xfrm>
            <a:off x="8430768" y="4114800"/>
            <a:ext cx="2834640" cy="685800"/>
          </a:xfrm>
          <a:prstGeom prst="rect">
            <a:avLst/>
          </a:prstGeom>
          <a:noFill/>
          <a:ln/>
        </p:spPr>
        <p:txBody>
          <a:bodyPr wrap="square" lIns="0" tIns="0" rIns="0" bIns="0" rtlCol="0" anchor="ctr"/>
          <a:lstStyle/>
          <a:p>
            <a:pPr indent="0" marL="0">
              <a:buNone/>
            </a:pPr>
            <a:r>
              <a:rPr lang="en-US" sz="1100" b="1" dirty="0">
                <a:solidFill>
                  <a:srgbClr val="FFFFFF"/>
                </a:solidFill>
                <a:latin typeface="Courier New" pitchFamily="34" charset="0"/>
                <a:ea typeface="Courier New" pitchFamily="34" charset="-122"/>
                <a:cs typeface="Courier New" pitchFamily="34" charset="-120"/>
              </a:rPr>
              <a:t>for h in $(cat servers); do ssh $h uptime; done</a:t>
            </a:r>
            <a:endParaRPr lang="en-US" sz="1100" dirty="0"/>
          </a:p>
        </p:txBody>
      </p:sp>
      <p:sp>
        <p:nvSpPr>
          <p:cNvPr id="31" name="Shape 28"/>
          <p:cNvSpPr/>
          <p:nvPr/>
        </p:nvSpPr>
        <p:spPr>
          <a:xfrm>
            <a:off x="548640" y="5257800"/>
            <a:ext cx="11094415" cy="685800"/>
          </a:xfrm>
          <a:prstGeom prst="roundRect">
            <a:avLst>
              <a:gd name="adj" fmla="val 13333"/>
            </a:avLst>
          </a:prstGeom>
          <a:solidFill>
            <a:srgbClr val="0E1726"/>
          </a:solidFill>
          <a:ln/>
        </p:spPr>
      </p:sp>
      <p:sp>
        <p:nvSpPr>
          <p:cNvPr id="32" name="Text 29"/>
          <p:cNvSpPr txBox="1"/>
          <p:nvPr/>
        </p:nvSpPr>
        <p:spPr>
          <a:xfrm>
            <a:off x="868680" y="5257800"/>
            <a:ext cx="10454335" cy="685800"/>
          </a:xfrm>
          <a:prstGeom prst="rect">
            <a:avLst/>
          </a:prstGeom>
          <a:noFill/>
          <a:ln/>
        </p:spPr>
        <p:txBody>
          <a:bodyPr wrap="square" lIns="0" tIns="0" rIns="0" bIns="0" rtlCol="0" anchor="ctr"/>
          <a:lstStyle/>
          <a:p>
            <a:pPr indent="0" marL="0">
              <a:buNone/>
            </a:pPr>
            <a:r>
              <a:rPr lang="en-US" sz="1900" b="1" dirty="0">
                <a:solidFill>
                  <a:srgbClr val="46D39A"/>
                </a:solidFill>
                <a:latin typeface="Courier New" pitchFamily="34" charset="0"/>
                <a:ea typeface="Courier New" pitchFamily="34" charset="-122"/>
                <a:cs typeface="Courier New" pitchFamily="34" charset="-120"/>
              </a:rPr>
              <a:t>$ </a:t>
            </a:r>
            <a:pPr indent="0" marL="0">
              <a:buNone/>
            </a:pPr>
            <a:r>
              <a:rPr lang="en-US" sz="1900" b="1" dirty="0">
                <a:solidFill>
                  <a:srgbClr val="FFFFFF"/>
                </a:solidFill>
                <a:latin typeface="Courier New" pitchFamily="34" charset="0"/>
                <a:ea typeface="Courier New" pitchFamily="34" charset="-122"/>
                <a:cs typeface="Courier New" pitchFamily="34" charset="-120"/>
              </a:rPr>
              <a:t>Repeated, big or remote work? The command line is unmatched.</a:t>
            </a:r>
            <a:endParaRPr lang="en-US" sz="1900" dirty="0"/>
          </a:p>
        </p:txBody>
      </p:sp>
      <p:sp>
        <p:nvSpPr>
          <p:cNvPr id="33" name="Text 30"/>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13 / 79</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640080"/>
            <a:ext cx="2103120" cy="3108960"/>
          </a:xfrm>
          <a:prstGeom prst="rect">
            <a:avLst/>
          </a:prstGeom>
          <a:noFill/>
          <a:ln/>
        </p:spPr>
        <p:txBody>
          <a:bodyPr wrap="square" lIns="0" tIns="0" rIns="0" bIns="0" rtlCol="0" anchor="ctr"/>
          <a:lstStyle/>
          <a:p>
            <a:pPr indent="0" marL="0">
              <a:buNone/>
            </a:pPr>
            <a:r>
              <a:rPr lang="en-US" sz="23000" b="1" dirty="0">
                <a:solidFill>
                  <a:srgbClr val="2459D8"/>
                </a:solidFill>
                <a:latin typeface="Arial" pitchFamily="34" charset="0"/>
                <a:ea typeface="Arial" pitchFamily="34" charset="-122"/>
                <a:cs typeface="Arial" pitchFamily="34" charset="-120"/>
              </a:rPr>
              <a:t>2</a:t>
            </a:r>
            <a:endParaRPr lang="en-US" sz="23000" dirty="0"/>
          </a:p>
        </p:txBody>
      </p:sp>
      <p:sp>
        <p:nvSpPr>
          <p:cNvPr id="3" name="Text 1"/>
          <p:cNvSpPr txBox="1"/>
          <p:nvPr/>
        </p:nvSpPr>
        <p:spPr>
          <a:xfrm>
            <a:off x="2743200" y="640080"/>
            <a:ext cx="6949440" cy="3108960"/>
          </a:xfrm>
          <a:prstGeom prst="rect">
            <a:avLst/>
          </a:prstGeom>
          <a:noFill/>
          <a:ln/>
        </p:spPr>
        <p:txBody>
          <a:bodyPr wrap="square" lIns="0" tIns="0" rIns="0" bIns="0" rtlCol="0" anchor="ctr">
            <a:normAutofit/>
          </a:bodyPr>
          <a:lstStyle/>
          <a:p>
            <a:pPr indent="0" marL="0">
              <a:buNone/>
            </a:pPr>
            <a:r>
              <a:rPr lang="en-US" sz="5600" b="1" dirty="0">
                <a:solidFill>
                  <a:srgbClr val="12213A"/>
                </a:solidFill>
                <a:latin typeface="Arial" pitchFamily="34" charset="0"/>
                <a:ea typeface="Arial" pitchFamily="34" charset="-122"/>
                <a:cs typeface="Arial" pitchFamily="34" charset="-120"/>
              </a:rPr>
              <a:t>The tools</a:t>
            </a:r>
            <a:endParaRPr lang="en-US" sz="5600" dirty="0"/>
          </a:p>
        </p:txBody>
      </p:sp>
      <p:sp>
        <p:nvSpPr>
          <p:cNvPr id="4" name="Shape 2"/>
          <p:cNvSpPr/>
          <p:nvPr/>
        </p:nvSpPr>
        <p:spPr>
          <a:xfrm>
            <a:off x="548640" y="5074920"/>
            <a:ext cx="6492240" cy="731520"/>
          </a:xfrm>
          <a:prstGeom prst="roundRect">
            <a:avLst>
              <a:gd name="adj" fmla="val 12500"/>
            </a:avLst>
          </a:prstGeom>
          <a:solidFill>
            <a:srgbClr val="0E1726"/>
          </a:solidFill>
          <a:ln/>
          <a:effectLst>
            <a:outerShdw sx="100000" sy="100000" kx="0" ky="0" algn="bl" rotWithShape="0" blurRad="101600" dist="25400" dir="5400000">
              <a:srgbClr val="6E86AE">
                <a:alpha val="35000"/>
              </a:srgbClr>
            </a:outerShdw>
          </a:effectLst>
        </p:spPr>
      </p:sp>
      <p:sp>
        <p:nvSpPr>
          <p:cNvPr id="5" name="Text 3"/>
          <p:cNvSpPr txBox="1"/>
          <p:nvPr/>
        </p:nvSpPr>
        <p:spPr>
          <a:xfrm>
            <a:off x="822960" y="5074920"/>
            <a:ext cx="6035040" cy="731520"/>
          </a:xfrm>
          <a:prstGeom prst="rect">
            <a:avLst/>
          </a:prstGeom>
          <a:noFill/>
          <a:ln/>
        </p:spPr>
        <p:txBody>
          <a:bodyPr wrap="square" lIns="0" tIns="0" rIns="0" bIns="0" rtlCol="0" anchor="ctr">
            <a:normAutofit/>
          </a:bodyPr>
          <a:lstStyle/>
          <a:p>
            <a:pPr indent="0" marL="0">
              <a:buNone/>
            </a:pPr>
            <a:r>
              <a:rPr lang="en-US" sz="1800" b="1" dirty="0">
                <a:solidFill>
                  <a:srgbClr val="46D39A"/>
                </a:solidFill>
                <a:latin typeface="Courier New" pitchFamily="34" charset="0"/>
                <a:ea typeface="Courier New" pitchFamily="34" charset="-122"/>
                <a:cs typeface="Courier New" pitchFamily="34" charset="-120"/>
              </a:rPr>
              <a:t>$ </a:t>
            </a:r>
            <a:pPr indent="0" marL="0">
              <a:buNone/>
            </a:pPr>
            <a:r>
              <a:rPr lang="en-US" sz="1800" b="1" dirty="0">
                <a:solidFill>
                  <a:srgbClr val="FFFFFF"/>
                </a:solidFill>
                <a:latin typeface="Courier New" pitchFamily="34" charset="0"/>
                <a:ea typeface="Courier New" pitchFamily="34" charset="-122"/>
                <a:cs typeface="Courier New" pitchFamily="34" charset="-120"/>
              </a:rPr>
              <a:t>man linux   # the toolkit, grouped</a:t>
            </a:r>
            <a:endParaRPr lang="en-US" sz="1800" dirty="0"/>
          </a:p>
        </p:txBody>
      </p:sp>
      <p:sp>
        <p:nvSpPr>
          <p:cNvPr id="7" name="Text 4"/>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14 / 79</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Four big ideas</a:t>
            </a:r>
            <a:endParaRPr lang="en-US" sz="3200" dirty="0"/>
          </a:p>
        </p:txBody>
      </p:sp>
      <p:sp>
        <p:nvSpPr>
          <p:cNvPr id="4" name="Shape 1"/>
          <p:cNvSpPr/>
          <p:nvPr/>
        </p:nvSpPr>
        <p:spPr>
          <a:xfrm>
            <a:off x="548640" y="1280160"/>
            <a:ext cx="1371600" cy="109728"/>
          </a:xfrm>
          <a:prstGeom prst="roundRect">
            <a:avLst>
              <a:gd name="adj" fmla="val 50000"/>
            </a:avLst>
          </a:prstGeom>
          <a:solidFill>
            <a:srgbClr val="2459D8"/>
          </a:solidFill>
          <a:ln/>
        </p:spPr>
      </p:sp>
      <p:sp>
        <p:nvSpPr>
          <p:cNvPr id="5" name="Shape 2"/>
          <p:cNvSpPr/>
          <p:nvPr/>
        </p:nvSpPr>
        <p:spPr>
          <a:xfrm>
            <a:off x="548640" y="1737360"/>
            <a:ext cx="2624328" cy="4251960"/>
          </a:xfrm>
          <a:prstGeom prst="roundRect">
            <a:avLst>
              <a:gd name="adj" fmla="val 4181"/>
            </a:avLst>
          </a:prstGeom>
          <a:solidFill>
            <a:srgbClr val="E8F3EF"/>
          </a:solidFill>
          <a:ln w="12700">
            <a:solidFill>
              <a:srgbClr val="B0D6C7"/>
            </a:solidFill>
            <a:prstDash val="solid"/>
          </a:ln>
        </p:spPr>
      </p:sp>
      <p:sp>
        <p:nvSpPr>
          <p:cNvPr id="6" name="Shape 3"/>
          <p:cNvSpPr/>
          <p:nvPr/>
        </p:nvSpPr>
        <p:spPr>
          <a:xfrm>
            <a:off x="548640" y="1737360"/>
            <a:ext cx="2624328" cy="146304"/>
          </a:xfrm>
          <a:prstGeom prst="roundRect">
            <a:avLst>
              <a:gd name="adj" fmla="val 37500"/>
            </a:avLst>
          </a:prstGeom>
          <a:solidFill>
            <a:srgbClr val="17875A"/>
          </a:solidFill>
          <a:ln/>
        </p:spPr>
      </p:sp>
      <p:sp>
        <p:nvSpPr>
          <p:cNvPr id="7" name="Shape 4"/>
          <p:cNvSpPr/>
          <p:nvPr/>
        </p:nvSpPr>
        <p:spPr>
          <a:xfrm>
            <a:off x="786384" y="2048256"/>
            <a:ext cx="603504" cy="603504"/>
          </a:xfrm>
          <a:prstGeom prst="ellipse">
            <a:avLst/>
          </a:prstGeom>
          <a:solidFill>
            <a:srgbClr val="17875A"/>
          </a:solidFill>
          <a:ln/>
        </p:spPr>
      </p:sp>
      <p:sp>
        <p:nvSpPr>
          <p:cNvPr id="8" name="Text 5"/>
          <p:cNvSpPr txBox="1"/>
          <p:nvPr/>
        </p:nvSpPr>
        <p:spPr>
          <a:xfrm>
            <a:off x="786384" y="2048256"/>
            <a:ext cx="603504" cy="603504"/>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9" name="Shape 6"/>
          <p:cNvSpPr/>
          <p:nvPr/>
        </p:nvSpPr>
        <p:spPr>
          <a:xfrm flipV="1">
            <a:off x="1481328" y="2066544"/>
            <a:ext cx="164592" cy="54864"/>
          </a:xfrm>
          <a:prstGeom prst="line">
            <a:avLst/>
          </a:prstGeom>
          <a:noFill/>
          <a:ln w="28575">
            <a:solidFill>
              <a:srgbClr val="17875A"/>
            </a:solidFill>
            <a:prstDash val="solid"/>
          </a:ln>
        </p:spPr>
      </p:sp>
      <p:sp>
        <p:nvSpPr>
          <p:cNvPr id="10" name="Shape 7"/>
          <p:cNvSpPr/>
          <p:nvPr/>
        </p:nvSpPr>
        <p:spPr>
          <a:xfrm flipV="1">
            <a:off x="1517904" y="2267712"/>
            <a:ext cx="182880" cy="18288"/>
          </a:xfrm>
          <a:prstGeom prst="line">
            <a:avLst/>
          </a:prstGeom>
          <a:noFill/>
          <a:ln w="28575">
            <a:solidFill>
              <a:srgbClr val="17875A"/>
            </a:solidFill>
            <a:prstDash val="solid"/>
          </a:ln>
        </p:spPr>
      </p:sp>
      <p:sp>
        <p:nvSpPr>
          <p:cNvPr id="11" name="Shape 8"/>
          <p:cNvSpPr/>
          <p:nvPr/>
        </p:nvSpPr>
        <p:spPr>
          <a:xfrm>
            <a:off x="1463040" y="2450592"/>
            <a:ext cx="155448" cy="36576"/>
          </a:xfrm>
          <a:prstGeom prst="line">
            <a:avLst/>
          </a:prstGeom>
          <a:noFill/>
          <a:ln w="28575">
            <a:solidFill>
              <a:srgbClr val="17875A"/>
            </a:solidFill>
            <a:prstDash val="solid"/>
          </a:ln>
        </p:spPr>
      </p:sp>
      <p:sp>
        <p:nvSpPr>
          <p:cNvPr id="12" name="Shape 9"/>
          <p:cNvSpPr/>
          <p:nvPr/>
        </p:nvSpPr>
        <p:spPr>
          <a:xfrm>
            <a:off x="2240280" y="2011680"/>
            <a:ext cx="694944" cy="694944"/>
          </a:xfrm>
          <a:prstGeom prst="ellipse">
            <a:avLst/>
          </a:prstGeom>
          <a:solidFill>
            <a:srgbClr val="D1E7DE"/>
          </a:solidFill>
          <a:ln/>
        </p:spPr>
      </p:sp>
      <p:pic>
        <p:nvPicPr>
          <p:cNvPr id="13" name="Image 0" descr="preencoded.png">    </p:cNvPr>
          <p:cNvPicPr>
            <a:picLocks noChangeAspect="1"/>
          </p:cNvPicPr>
          <p:nvPr/>
        </p:nvPicPr>
        <p:blipFill>
          <a:blip r:embed="rId1"/>
          <a:stretch>
            <a:fillRect/>
          </a:stretch>
        </p:blipFill>
        <p:spPr>
          <a:xfrm>
            <a:off x="2427915" y="2199315"/>
            <a:ext cx="319674" cy="319674"/>
          </a:xfrm>
          <a:prstGeom prst="rect">
            <a:avLst/>
          </a:prstGeom>
        </p:spPr>
      </p:pic>
      <p:sp>
        <p:nvSpPr>
          <p:cNvPr id="14" name="Text 10"/>
          <p:cNvSpPr txBox="1"/>
          <p:nvPr/>
        </p:nvSpPr>
        <p:spPr>
          <a:xfrm>
            <a:off x="786384" y="2834640"/>
            <a:ext cx="2194560" cy="777240"/>
          </a:xfrm>
          <a:prstGeom prst="rect">
            <a:avLst/>
          </a:prstGeom>
          <a:noFill/>
          <a:ln/>
        </p:spPr>
        <p:txBody>
          <a:bodyPr wrap="square" lIns="0" tIns="0" rIns="0" bIns="0" rtlCol="0" anchor="t"/>
          <a:lstStyle/>
          <a:p>
            <a:pPr indent="0" marL="0">
              <a:buNone/>
            </a:pPr>
            <a:r>
              <a:rPr lang="en-US" sz="2000" b="1" dirty="0">
                <a:solidFill>
                  <a:srgbClr val="12213A"/>
                </a:solidFill>
                <a:latin typeface="Arial" pitchFamily="34" charset="0"/>
                <a:ea typeface="Arial" pitchFamily="34" charset="-122"/>
                <a:cs typeface="Arial" pitchFamily="34" charset="-120"/>
              </a:rPr>
              <a:t>The file system</a:t>
            </a:r>
            <a:endParaRPr lang="en-US" sz="2000" dirty="0"/>
          </a:p>
        </p:txBody>
      </p:sp>
      <p:sp>
        <p:nvSpPr>
          <p:cNvPr id="15" name="Text 11"/>
          <p:cNvSpPr txBox="1"/>
          <p:nvPr/>
        </p:nvSpPr>
        <p:spPr>
          <a:xfrm>
            <a:off x="786384" y="3639312"/>
            <a:ext cx="2194560" cy="1143000"/>
          </a:xfrm>
          <a:prstGeom prst="rect">
            <a:avLst/>
          </a:prstGeom>
          <a:noFill/>
          <a:ln/>
        </p:spPr>
        <p:txBody>
          <a:bodyPr wrap="square" lIns="0" tIns="0" rIns="0" bIns="0" rtlCol="0" anchor="t"/>
          <a:lstStyle/>
          <a:p>
            <a:pPr indent="0" marL="0">
              <a:buNone/>
            </a:pPr>
            <a:r>
              <a:rPr lang="en-US" sz="1350" dirty="0">
                <a:solidFill>
                  <a:srgbClr val="56657E"/>
                </a:solidFill>
                <a:latin typeface="Calibri" pitchFamily="34" charset="0"/>
                <a:ea typeface="Calibri" pitchFamily="34" charset="-122"/>
                <a:cs typeface="Calibri" pitchFamily="34" charset="-120"/>
              </a:rPr>
              <a:t>Everything is a file or a folder. Point at them with paths, then move around or look inside.</a:t>
            </a:r>
            <a:endParaRPr lang="en-US" sz="1350" dirty="0"/>
          </a:p>
        </p:txBody>
      </p:sp>
      <p:sp>
        <p:nvSpPr>
          <p:cNvPr id="16" name="Shape 12"/>
          <p:cNvSpPr/>
          <p:nvPr/>
        </p:nvSpPr>
        <p:spPr>
          <a:xfrm>
            <a:off x="786384" y="4892040"/>
            <a:ext cx="626364" cy="384048"/>
          </a:xfrm>
          <a:prstGeom prst="roundRect">
            <a:avLst>
              <a:gd name="adj" fmla="val 19048"/>
            </a:avLst>
          </a:prstGeom>
          <a:solidFill>
            <a:srgbClr val="D5E9E1"/>
          </a:solidFill>
          <a:ln/>
        </p:spPr>
      </p:sp>
      <p:sp>
        <p:nvSpPr>
          <p:cNvPr id="17" name="Text 13"/>
          <p:cNvSpPr txBox="1"/>
          <p:nvPr/>
        </p:nvSpPr>
        <p:spPr>
          <a:xfrm>
            <a:off x="786384" y="4892040"/>
            <a:ext cx="626364" cy="384048"/>
          </a:xfrm>
          <a:prstGeom prst="rect">
            <a:avLst/>
          </a:prstGeom>
          <a:noFill/>
          <a:ln/>
        </p:spPr>
        <p:txBody>
          <a:bodyPr wrap="square" lIns="0" tIns="0" rIns="0" bIns="0" rtlCol="0" anchor="ctr"/>
          <a:lstStyle/>
          <a:p>
            <a:pPr algn="ctr" indent="0" marL="0">
              <a:buNone/>
            </a:pPr>
            <a:r>
              <a:rPr lang="en-US" sz="1300" b="1" dirty="0">
                <a:solidFill>
                  <a:srgbClr val="17875A"/>
                </a:solidFill>
                <a:latin typeface="Courier New" pitchFamily="34" charset="0"/>
                <a:ea typeface="Courier New" pitchFamily="34" charset="-122"/>
                <a:cs typeface="Courier New" pitchFamily="34" charset="-120"/>
              </a:rPr>
              <a:t>pwd</a:t>
            </a:r>
            <a:endParaRPr lang="en-US" sz="1300" dirty="0"/>
          </a:p>
        </p:txBody>
      </p:sp>
      <p:sp>
        <p:nvSpPr>
          <p:cNvPr id="18" name="Shape 14"/>
          <p:cNvSpPr/>
          <p:nvPr/>
        </p:nvSpPr>
        <p:spPr>
          <a:xfrm>
            <a:off x="1522476" y="4892040"/>
            <a:ext cx="521208" cy="384048"/>
          </a:xfrm>
          <a:prstGeom prst="roundRect">
            <a:avLst>
              <a:gd name="adj" fmla="val 19048"/>
            </a:avLst>
          </a:prstGeom>
          <a:solidFill>
            <a:srgbClr val="D5E9E1"/>
          </a:solidFill>
          <a:ln/>
        </p:spPr>
      </p:sp>
      <p:sp>
        <p:nvSpPr>
          <p:cNvPr id="19" name="Text 15"/>
          <p:cNvSpPr txBox="1"/>
          <p:nvPr/>
        </p:nvSpPr>
        <p:spPr>
          <a:xfrm>
            <a:off x="1522476" y="4892040"/>
            <a:ext cx="521208" cy="384048"/>
          </a:xfrm>
          <a:prstGeom prst="rect">
            <a:avLst/>
          </a:prstGeom>
          <a:noFill/>
          <a:ln/>
        </p:spPr>
        <p:txBody>
          <a:bodyPr wrap="square" lIns="0" tIns="0" rIns="0" bIns="0" rtlCol="0" anchor="ctr"/>
          <a:lstStyle/>
          <a:p>
            <a:pPr algn="ctr" indent="0" marL="0">
              <a:buNone/>
            </a:pPr>
            <a:r>
              <a:rPr lang="en-US" sz="1300" b="1" dirty="0">
                <a:solidFill>
                  <a:srgbClr val="17875A"/>
                </a:solidFill>
                <a:latin typeface="Courier New" pitchFamily="34" charset="0"/>
                <a:ea typeface="Courier New" pitchFamily="34" charset="-122"/>
                <a:cs typeface="Courier New" pitchFamily="34" charset="-120"/>
              </a:rPr>
              <a:t>cd</a:t>
            </a:r>
            <a:endParaRPr lang="en-US" sz="1300" dirty="0"/>
          </a:p>
        </p:txBody>
      </p:sp>
      <p:sp>
        <p:nvSpPr>
          <p:cNvPr id="20" name="Shape 16"/>
          <p:cNvSpPr/>
          <p:nvPr/>
        </p:nvSpPr>
        <p:spPr>
          <a:xfrm>
            <a:off x="2153412" y="4892040"/>
            <a:ext cx="521208" cy="384048"/>
          </a:xfrm>
          <a:prstGeom prst="roundRect">
            <a:avLst>
              <a:gd name="adj" fmla="val 19048"/>
            </a:avLst>
          </a:prstGeom>
          <a:solidFill>
            <a:srgbClr val="D5E9E1"/>
          </a:solidFill>
          <a:ln/>
        </p:spPr>
      </p:sp>
      <p:sp>
        <p:nvSpPr>
          <p:cNvPr id="21" name="Text 17"/>
          <p:cNvSpPr txBox="1"/>
          <p:nvPr/>
        </p:nvSpPr>
        <p:spPr>
          <a:xfrm>
            <a:off x="2153412" y="4892040"/>
            <a:ext cx="521208" cy="384048"/>
          </a:xfrm>
          <a:prstGeom prst="rect">
            <a:avLst/>
          </a:prstGeom>
          <a:noFill/>
          <a:ln/>
        </p:spPr>
        <p:txBody>
          <a:bodyPr wrap="square" lIns="0" tIns="0" rIns="0" bIns="0" rtlCol="0" anchor="ctr"/>
          <a:lstStyle/>
          <a:p>
            <a:pPr algn="ctr" indent="0" marL="0">
              <a:buNone/>
            </a:pPr>
            <a:r>
              <a:rPr lang="en-US" sz="1300" b="1" dirty="0">
                <a:solidFill>
                  <a:srgbClr val="17875A"/>
                </a:solidFill>
                <a:latin typeface="Courier New" pitchFamily="34" charset="0"/>
                <a:ea typeface="Courier New" pitchFamily="34" charset="-122"/>
                <a:cs typeface="Courier New" pitchFamily="34" charset="-120"/>
              </a:rPr>
              <a:t>ls</a:t>
            </a:r>
            <a:endParaRPr lang="en-US" sz="1300" dirty="0"/>
          </a:p>
        </p:txBody>
      </p:sp>
      <p:sp>
        <p:nvSpPr>
          <p:cNvPr id="22" name="Shape 18"/>
          <p:cNvSpPr/>
          <p:nvPr/>
        </p:nvSpPr>
        <p:spPr>
          <a:xfrm>
            <a:off x="786384" y="5404104"/>
            <a:ext cx="626364" cy="384048"/>
          </a:xfrm>
          <a:prstGeom prst="roundRect">
            <a:avLst>
              <a:gd name="adj" fmla="val 19048"/>
            </a:avLst>
          </a:prstGeom>
          <a:solidFill>
            <a:srgbClr val="D5E9E1"/>
          </a:solidFill>
          <a:ln/>
        </p:spPr>
      </p:sp>
      <p:sp>
        <p:nvSpPr>
          <p:cNvPr id="23" name="Text 19"/>
          <p:cNvSpPr txBox="1"/>
          <p:nvPr/>
        </p:nvSpPr>
        <p:spPr>
          <a:xfrm>
            <a:off x="786384" y="5404104"/>
            <a:ext cx="626364" cy="384048"/>
          </a:xfrm>
          <a:prstGeom prst="rect">
            <a:avLst/>
          </a:prstGeom>
          <a:noFill/>
          <a:ln/>
        </p:spPr>
        <p:txBody>
          <a:bodyPr wrap="square" lIns="0" tIns="0" rIns="0" bIns="0" rtlCol="0" anchor="ctr"/>
          <a:lstStyle/>
          <a:p>
            <a:pPr algn="ctr" indent="0" marL="0">
              <a:buNone/>
            </a:pPr>
            <a:r>
              <a:rPr lang="en-US" sz="1300" b="1" dirty="0">
                <a:solidFill>
                  <a:srgbClr val="17875A"/>
                </a:solidFill>
                <a:latin typeface="Courier New" pitchFamily="34" charset="0"/>
                <a:ea typeface="Courier New" pitchFamily="34" charset="-122"/>
                <a:cs typeface="Courier New" pitchFamily="34" charset="-120"/>
              </a:rPr>
              <a:t>cat</a:t>
            </a:r>
            <a:endParaRPr lang="en-US" sz="1300" dirty="0"/>
          </a:p>
        </p:txBody>
      </p:sp>
      <p:sp>
        <p:nvSpPr>
          <p:cNvPr id="24" name="Shape 20"/>
          <p:cNvSpPr/>
          <p:nvPr/>
        </p:nvSpPr>
        <p:spPr>
          <a:xfrm>
            <a:off x="1522476" y="5404104"/>
            <a:ext cx="836676" cy="384048"/>
          </a:xfrm>
          <a:prstGeom prst="roundRect">
            <a:avLst>
              <a:gd name="adj" fmla="val 19048"/>
            </a:avLst>
          </a:prstGeom>
          <a:solidFill>
            <a:srgbClr val="D5E9E1"/>
          </a:solidFill>
          <a:ln/>
        </p:spPr>
      </p:sp>
      <p:sp>
        <p:nvSpPr>
          <p:cNvPr id="25" name="Text 21"/>
          <p:cNvSpPr txBox="1"/>
          <p:nvPr/>
        </p:nvSpPr>
        <p:spPr>
          <a:xfrm>
            <a:off x="1522476" y="5404104"/>
            <a:ext cx="836676" cy="384048"/>
          </a:xfrm>
          <a:prstGeom prst="rect">
            <a:avLst/>
          </a:prstGeom>
          <a:noFill/>
          <a:ln/>
        </p:spPr>
        <p:txBody>
          <a:bodyPr wrap="square" lIns="0" tIns="0" rIns="0" bIns="0" rtlCol="0" anchor="ctr"/>
          <a:lstStyle/>
          <a:p>
            <a:pPr algn="ctr" indent="0" marL="0">
              <a:buNone/>
            </a:pPr>
            <a:r>
              <a:rPr lang="en-US" sz="1300" b="1" dirty="0">
                <a:solidFill>
                  <a:srgbClr val="17875A"/>
                </a:solidFill>
                <a:latin typeface="Courier New" pitchFamily="34" charset="0"/>
                <a:ea typeface="Courier New" pitchFamily="34" charset="-122"/>
                <a:cs typeface="Courier New" pitchFamily="34" charset="-120"/>
              </a:rPr>
              <a:t>chmod</a:t>
            </a:r>
            <a:endParaRPr lang="en-US" sz="1300" dirty="0"/>
          </a:p>
        </p:txBody>
      </p:sp>
      <p:sp>
        <p:nvSpPr>
          <p:cNvPr id="26" name="Shape 22"/>
          <p:cNvSpPr/>
          <p:nvPr/>
        </p:nvSpPr>
        <p:spPr>
          <a:xfrm>
            <a:off x="3355848" y="1737360"/>
            <a:ext cx="2624328" cy="4251960"/>
          </a:xfrm>
          <a:prstGeom prst="roundRect">
            <a:avLst>
              <a:gd name="adj" fmla="val 4181"/>
            </a:avLst>
          </a:prstGeom>
          <a:solidFill>
            <a:srgbClr val="EAF5FB"/>
          </a:solidFill>
          <a:ln w="12700">
            <a:solidFill>
              <a:srgbClr val="B7DEF1"/>
            </a:solidFill>
            <a:prstDash val="solid"/>
          </a:ln>
        </p:spPr>
      </p:sp>
      <p:sp>
        <p:nvSpPr>
          <p:cNvPr id="27" name="Shape 23"/>
          <p:cNvSpPr/>
          <p:nvPr/>
        </p:nvSpPr>
        <p:spPr>
          <a:xfrm>
            <a:off x="3355848" y="1737360"/>
            <a:ext cx="2624328" cy="146304"/>
          </a:xfrm>
          <a:prstGeom prst="roundRect">
            <a:avLst>
              <a:gd name="adj" fmla="val 37500"/>
            </a:avLst>
          </a:prstGeom>
          <a:solidFill>
            <a:srgbClr val="2A9FD6"/>
          </a:solidFill>
          <a:ln/>
        </p:spPr>
      </p:sp>
      <p:sp>
        <p:nvSpPr>
          <p:cNvPr id="28" name="Shape 24"/>
          <p:cNvSpPr/>
          <p:nvPr/>
        </p:nvSpPr>
        <p:spPr>
          <a:xfrm>
            <a:off x="3593592" y="2048256"/>
            <a:ext cx="603504" cy="603504"/>
          </a:xfrm>
          <a:prstGeom prst="ellipse">
            <a:avLst/>
          </a:prstGeom>
          <a:solidFill>
            <a:srgbClr val="2A9FD6"/>
          </a:solidFill>
          <a:ln/>
        </p:spPr>
      </p:sp>
      <p:sp>
        <p:nvSpPr>
          <p:cNvPr id="29" name="Text 25"/>
          <p:cNvSpPr txBox="1"/>
          <p:nvPr/>
        </p:nvSpPr>
        <p:spPr>
          <a:xfrm>
            <a:off x="3593592" y="2048256"/>
            <a:ext cx="603504" cy="603504"/>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30" name="Shape 26"/>
          <p:cNvSpPr/>
          <p:nvPr/>
        </p:nvSpPr>
        <p:spPr>
          <a:xfrm flipV="1">
            <a:off x="4288536" y="2066544"/>
            <a:ext cx="164592" cy="54864"/>
          </a:xfrm>
          <a:prstGeom prst="line">
            <a:avLst/>
          </a:prstGeom>
          <a:noFill/>
          <a:ln w="28575">
            <a:solidFill>
              <a:srgbClr val="2A9FD6"/>
            </a:solidFill>
            <a:prstDash val="solid"/>
          </a:ln>
        </p:spPr>
      </p:sp>
      <p:sp>
        <p:nvSpPr>
          <p:cNvPr id="31" name="Shape 27"/>
          <p:cNvSpPr/>
          <p:nvPr/>
        </p:nvSpPr>
        <p:spPr>
          <a:xfrm flipV="1">
            <a:off x="4325112" y="2267712"/>
            <a:ext cx="182880" cy="18288"/>
          </a:xfrm>
          <a:prstGeom prst="line">
            <a:avLst/>
          </a:prstGeom>
          <a:noFill/>
          <a:ln w="28575">
            <a:solidFill>
              <a:srgbClr val="2A9FD6"/>
            </a:solidFill>
            <a:prstDash val="solid"/>
          </a:ln>
        </p:spPr>
      </p:sp>
      <p:sp>
        <p:nvSpPr>
          <p:cNvPr id="32" name="Shape 28"/>
          <p:cNvSpPr/>
          <p:nvPr/>
        </p:nvSpPr>
        <p:spPr>
          <a:xfrm>
            <a:off x="4270248" y="2450592"/>
            <a:ext cx="155448" cy="36576"/>
          </a:xfrm>
          <a:prstGeom prst="line">
            <a:avLst/>
          </a:prstGeom>
          <a:noFill/>
          <a:ln w="28575">
            <a:solidFill>
              <a:srgbClr val="2A9FD6"/>
            </a:solidFill>
            <a:prstDash val="solid"/>
          </a:ln>
        </p:spPr>
      </p:sp>
      <p:sp>
        <p:nvSpPr>
          <p:cNvPr id="33" name="Shape 29"/>
          <p:cNvSpPr/>
          <p:nvPr/>
        </p:nvSpPr>
        <p:spPr>
          <a:xfrm>
            <a:off x="5047488" y="2011680"/>
            <a:ext cx="694944" cy="694944"/>
          </a:xfrm>
          <a:prstGeom prst="ellipse">
            <a:avLst/>
          </a:prstGeom>
          <a:solidFill>
            <a:srgbClr val="D4ECF7"/>
          </a:solidFill>
          <a:ln/>
        </p:spPr>
      </p:sp>
      <p:pic>
        <p:nvPicPr>
          <p:cNvPr id="34" name="Image 1" descr="preencoded.png">    </p:cNvPr>
          <p:cNvPicPr>
            <a:picLocks noChangeAspect="1"/>
          </p:cNvPicPr>
          <p:nvPr/>
        </p:nvPicPr>
        <p:blipFill>
          <a:blip r:embed="rId2"/>
          <a:stretch>
            <a:fillRect/>
          </a:stretch>
        </p:blipFill>
        <p:spPr>
          <a:xfrm>
            <a:off x="5235123" y="2199315"/>
            <a:ext cx="319674" cy="319674"/>
          </a:xfrm>
          <a:prstGeom prst="rect">
            <a:avLst/>
          </a:prstGeom>
        </p:spPr>
      </p:pic>
      <p:sp>
        <p:nvSpPr>
          <p:cNvPr id="35" name="Text 30"/>
          <p:cNvSpPr txBox="1"/>
          <p:nvPr/>
        </p:nvSpPr>
        <p:spPr>
          <a:xfrm>
            <a:off x="3593592" y="2834640"/>
            <a:ext cx="2194560" cy="777240"/>
          </a:xfrm>
          <a:prstGeom prst="rect">
            <a:avLst/>
          </a:prstGeom>
          <a:noFill/>
          <a:ln/>
        </p:spPr>
        <p:txBody>
          <a:bodyPr wrap="square" lIns="0" tIns="0" rIns="0" bIns="0" rtlCol="0" anchor="t"/>
          <a:lstStyle/>
          <a:p>
            <a:pPr indent="0" marL="0">
              <a:buNone/>
            </a:pPr>
            <a:r>
              <a:rPr lang="en-US" sz="2000" b="1" dirty="0">
                <a:solidFill>
                  <a:srgbClr val="12213A"/>
                </a:solidFill>
                <a:latin typeface="Arial" pitchFamily="34" charset="0"/>
                <a:ea typeface="Arial" pitchFamily="34" charset="-122"/>
                <a:cs typeface="Arial" pitchFamily="34" charset="-120"/>
              </a:rPr>
              <a:t>Learning any command</a:t>
            </a:r>
            <a:endParaRPr lang="en-US" sz="2000" dirty="0"/>
          </a:p>
        </p:txBody>
      </p:sp>
      <p:sp>
        <p:nvSpPr>
          <p:cNvPr id="36" name="Text 31"/>
          <p:cNvSpPr txBox="1"/>
          <p:nvPr/>
        </p:nvSpPr>
        <p:spPr>
          <a:xfrm>
            <a:off x="3593592" y="3639312"/>
            <a:ext cx="2194560" cy="1143000"/>
          </a:xfrm>
          <a:prstGeom prst="rect">
            <a:avLst/>
          </a:prstGeom>
          <a:noFill/>
          <a:ln/>
        </p:spPr>
        <p:txBody>
          <a:bodyPr wrap="square" lIns="0" tIns="0" rIns="0" bIns="0" rtlCol="0" anchor="t"/>
          <a:lstStyle/>
          <a:p>
            <a:pPr indent="0" marL="0">
              <a:buNone/>
            </a:pPr>
            <a:r>
              <a:rPr lang="en-US" sz="1350" dirty="0">
                <a:solidFill>
                  <a:srgbClr val="56657E"/>
                </a:solidFill>
                <a:latin typeface="Calibri" pitchFamily="34" charset="0"/>
                <a:ea typeface="Calibri" pitchFamily="34" charset="-122"/>
                <a:cs typeface="Calibri" pitchFamily="34" charset="-120"/>
              </a:rPr>
              <a:t>Every command has the same shape, and every command can explain itself.</a:t>
            </a:r>
            <a:endParaRPr lang="en-US" sz="1350" dirty="0"/>
          </a:p>
        </p:txBody>
      </p:sp>
      <p:sp>
        <p:nvSpPr>
          <p:cNvPr id="37" name="Shape 32"/>
          <p:cNvSpPr/>
          <p:nvPr/>
        </p:nvSpPr>
        <p:spPr>
          <a:xfrm>
            <a:off x="3593592" y="4892040"/>
            <a:ext cx="941832" cy="384048"/>
          </a:xfrm>
          <a:prstGeom prst="roundRect">
            <a:avLst>
              <a:gd name="adj" fmla="val 19048"/>
            </a:avLst>
          </a:prstGeom>
          <a:solidFill>
            <a:srgbClr val="D9EEF8"/>
          </a:solidFill>
          <a:ln/>
        </p:spPr>
      </p:sp>
      <p:sp>
        <p:nvSpPr>
          <p:cNvPr id="38" name="Text 33"/>
          <p:cNvSpPr txBox="1"/>
          <p:nvPr/>
        </p:nvSpPr>
        <p:spPr>
          <a:xfrm>
            <a:off x="3593592" y="4892040"/>
            <a:ext cx="941832" cy="384048"/>
          </a:xfrm>
          <a:prstGeom prst="rect">
            <a:avLst/>
          </a:prstGeom>
          <a:noFill/>
          <a:ln/>
        </p:spPr>
        <p:txBody>
          <a:bodyPr wrap="square" lIns="0" tIns="0" rIns="0" bIns="0" rtlCol="0" anchor="ctr"/>
          <a:lstStyle/>
          <a:p>
            <a:pPr algn="ctr" indent="0" marL="0">
              <a:buNone/>
            </a:pPr>
            <a:r>
              <a:rPr lang="en-US" sz="1300" b="1" dirty="0">
                <a:solidFill>
                  <a:srgbClr val="2A9FD6"/>
                </a:solidFill>
                <a:latin typeface="Courier New" pitchFamily="34" charset="0"/>
                <a:ea typeface="Courier New" pitchFamily="34" charset="-122"/>
                <a:cs typeface="Courier New" pitchFamily="34" charset="-120"/>
              </a:rPr>
              <a:t>--help</a:t>
            </a:r>
            <a:endParaRPr lang="en-US" sz="1300" dirty="0"/>
          </a:p>
        </p:txBody>
      </p:sp>
      <p:sp>
        <p:nvSpPr>
          <p:cNvPr id="39" name="Shape 34"/>
          <p:cNvSpPr/>
          <p:nvPr/>
        </p:nvSpPr>
        <p:spPr>
          <a:xfrm>
            <a:off x="4645152" y="4892040"/>
            <a:ext cx="626364" cy="384048"/>
          </a:xfrm>
          <a:prstGeom prst="roundRect">
            <a:avLst>
              <a:gd name="adj" fmla="val 19048"/>
            </a:avLst>
          </a:prstGeom>
          <a:solidFill>
            <a:srgbClr val="D9EEF8"/>
          </a:solidFill>
          <a:ln/>
        </p:spPr>
      </p:sp>
      <p:sp>
        <p:nvSpPr>
          <p:cNvPr id="40" name="Text 35"/>
          <p:cNvSpPr txBox="1"/>
          <p:nvPr/>
        </p:nvSpPr>
        <p:spPr>
          <a:xfrm>
            <a:off x="4645152" y="4892040"/>
            <a:ext cx="626364" cy="384048"/>
          </a:xfrm>
          <a:prstGeom prst="rect">
            <a:avLst/>
          </a:prstGeom>
          <a:noFill/>
          <a:ln/>
        </p:spPr>
        <p:txBody>
          <a:bodyPr wrap="square" lIns="0" tIns="0" rIns="0" bIns="0" rtlCol="0" anchor="ctr"/>
          <a:lstStyle/>
          <a:p>
            <a:pPr algn="ctr" indent="0" marL="0">
              <a:buNone/>
            </a:pPr>
            <a:r>
              <a:rPr lang="en-US" sz="1300" b="1" dirty="0">
                <a:solidFill>
                  <a:srgbClr val="2A9FD6"/>
                </a:solidFill>
                <a:latin typeface="Courier New" pitchFamily="34" charset="0"/>
                <a:ea typeface="Courier New" pitchFamily="34" charset="-122"/>
                <a:cs typeface="Courier New" pitchFamily="34" charset="-120"/>
              </a:rPr>
              <a:t>Tab</a:t>
            </a:r>
            <a:endParaRPr lang="en-US" sz="1300" dirty="0"/>
          </a:p>
        </p:txBody>
      </p:sp>
      <p:sp>
        <p:nvSpPr>
          <p:cNvPr id="41" name="Shape 36"/>
          <p:cNvSpPr/>
          <p:nvPr/>
        </p:nvSpPr>
        <p:spPr>
          <a:xfrm>
            <a:off x="6163056" y="1737360"/>
            <a:ext cx="2624328" cy="4251960"/>
          </a:xfrm>
          <a:prstGeom prst="roundRect">
            <a:avLst>
              <a:gd name="adj" fmla="val 4181"/>
            </a:avLst>
          </a:prstGeom>
          <a:solidFill>
            <a:srgbClr val="F1EDFB"/>
          </a:solidFill>
          <a:ln w="12700">
            <a:solidFill>
              <a:srgbClr val="D0C1F0"/>
            </a:solidFill>
            <a:prstDash val="solid"/>
          </a:ln>
        </p:spPr>
      </p:sp>
      <p:sp>
        <p:nvSpPr>
          <p:cNvPr id="42" name="Shape 37"/>
          <p:cNvSpPr/>
          <p:nvPr/>
        </p:nvSpPr>
        <p:spPr>
          <a:xfrm>
            <a:off x="6163056" y="1737360"/>
            <a:ext cx="2624328" cy="146304"/>
          </a:xfrm>
          <a:prstGeom prst="roundRect">
            <a:avLst>
              <a:gd name="adj" fmla="val 37500"/>
            </a:avLst>
          </a:prstGeom>
          <a:solidFill>
            <a:srgbClr val="7448D4"/>
          </a:solidFill>
          <a:ln/>
        </p:spPr>
      </p:sp>
      <p:sp>
        <p:nvSpPr>
          <p:cNvPr id="43" name="Shape 38"/>
          <p:cNvSpPr/>
          <p:nvPr/>
        </p:nvSpPr>
        <p:spPr>
          <a:xfrm>
            <a:off x="6400800" y="2048256"/>
            <a:ext cx="603504" cy="603504"/>
          </a:xfrm>
          <a:prstGeom prst="ellipse">
            <a:avLst/>
          </a:prstGeom>
          <a:solidFill>
            <a:srgbClr val="7448D4"/>
          </a:solidFill>
          <a:ln/>
        </p:spPr>
      </p:sp>
      <p:sp>
        <p:nvSpPr>
          <p:cNvPr id="44" name="Text 39"/>
          <p:cNvSpPr txBox="1"/>
          <p:nvPr/>
        </p:nvSpPr>
        <p:spPr>
          <a:xfrm>
            <a:off x="6400800" y="2048256"/>
            <a:ext cx="603504" cy="603504"/>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45" name="Shape 40"/>
          <p:cNvSpPr/>
          <p:nvPr/>
        </p:nvSpPr>
        <p:spPr>
          <a:xfrm flipV="1">
            <a:off x="7095744" y="2066544"/>
            <a:ext cx="164592" cy="54864"/>
          </a:xfrm>
          <a:prstGeom prst="line">
            <a:avLst/>
          </a:prstGeom>
          <a:noFill/>
          <a:ln w="28575">
            <a:solidFill>
              <a:srgbClr val="7448D4"/>
            </a:solidFill>
            <a:prstDash val="solid"/>
          </a:ln>
        </p:spPr>
      </p:sp>
      <p:sp>
        <p:nvSpPr>
          <p:cNvPr id="46" name="Shape 41"/>
          <p:cNvSpPr/>
          <p:nvPr/>
        </p:nvSpPr>
        <p:spPr>
          <a:xfrm flipV="1">
            <a:off x="7132320" y="2267712"/>
            <a:ext cx="182880" cy="18288"/>
          </a:xfrm>
          <a:prstGeom prst="line">
            <a:avLst/>
          </a:prstGeom>
          <a:noFill/>
          <a:ln w="28575">
            <a:solidFill>
              <a:srgbClr val="7448D4"/>
            </a:solidFill>
            <a:prstDash val="solid"/>
          </a:ln>
        </p:spPr>
      </p:sp>
      <p:sp>
        <p:nvSpPr>
          <p:cNvPr id="47" name="Shape 42"/>
          <p:cNvSpPr/>
          <p:nvPr/>
        </p:nvSpPr>
        <p:spPr>
          <a:xfrm>
            <a:off x="7077456" y="2450592"/>
            <a:ext cx="155448" cy="36576"/>
          </a:xfrm>
          <a:prstGeom prst="line">
            <a:avLst/>
          </a:prstGeom>
          <a:noFill/>
          <a:ln w="28575">
            <a:solidFill>
              <a:srgbClr val="7448D4"/>
            </a:solidFill>
            <a:prstDash val="solid"/>
          </a:ln>
        </p:spPr>
      </p:sp>
      <p:sp>
        <p:nvSpPr>
          <p:cNvPr id="48" name="Shape 43"/>
          <p:cNvSpPr/>
          <p:nvPr/>
        </p:nvSpPr>
        <p:spPr>
          <a:xfrm>
            <a:off x="7854696" y="2011680"/>
            <a:ext cx="694944" cy="694944"/>
          </a:xfrm>
          <a:prstGeom prst="ellipse">
            <a:avLst/>
          </a:prstGeom>
          <a:solidFill>
            <a:srgbClr val="E3DAF6"/>
          </a:solidFill>
          <a:ln/>
        </p:spPr>
      </p:sp>
      <p:pic>
        <p:nvPicPr>
          <p:cNvPr id="49" name="Image 2" descr="preencoded.png">    </p:cNvPr>
          <p:cNvPicPr>
            <a:picLocks noChangeAspect="1"/>
          </p:cNvPicPr>
          <p:nvPr/>
        </p:nvPicPr>
        <p:blipFill>
          <a:blip r:embed="rId3"/>
          <a:stretch>
            <a:fillRect/>
          </a:stretch>
        </p:blipFill>
        <p:spPr>
          <a:xfrm>
            <a:off x="8042331" y="2199315"/>
            <a:ext cx="319674" cy="319674"/>
          </a:xfrm>
          <a:prstGeom prst="rect">
            <a:avLst/>
          </a:prstGeom>
        </p:spPr>
      </p:pic>
      <p:sp>
        <p:nvSpPr>
          <p:cNvPr id="50" name="Text 44"/>
          <p:cNvSpPr txBox="1"/>
          <p:nvPr/>
        </p:nvSpPr>
        <p:spPr>
          <a:xfrm>
            <a:off x="6400800" y="2834640"/>
            <a:ext cx="2194560" cy="777240"/>
          </a:xfrm>
          <a:prstGeom prst="rect">
            <a:avLst/>
          </a:prstGeom>
          <a:noFill/>
          <a:ln/>
        </p:spPr>
        <p:txBody>
          <a:bodyPr wrap="square" lIns="0" tIns="0" rIns="0" bIns="0" rtlCol="0" anchor="t"/>
          <a:lstStyle/>
          <a:p>
            <a:pPr indent="0" marL="0">
              <a:buNone/>
            </a:pPr>
            <a:r>
              <a:rPr lang="en-US" sz="2000" b="1" dirty="0">
                <a:solidFill>
                  <a:srgbClr val="12213A"/>
                </a:solidFill>
                <a:latin typeface="Arial" pitchFamily="34" charset="0"/>
                <a:ea typeface="Arial" pitchFamily="34" charset="-122"/>
                <a:cs typeface="Arial" pitchFamily="34" charset="-120"/>
              </a:rPr>
              <a:t>Searching</a:t>
            </a:r>
            <a:endParaRPr lang="en-US" sz="2000" dirty="0"/>
          </a:p>
        </p:txBody>
      </p:sp>
      <p:sp>
        <p:nvSpPr>
          <p:cNvPr id="51" name="Text 45"/>
          <p:cNvSpPr txBox="1"/>
          <p:nvPr/>
        </p:nvSpPr>
        <p:spPr>
          <a:xfrm>
            <a:off x="6400800" y="3639312"/>
            <a:ext cx="2194560" cy="1143000"/>
          </a:xfrm>
          <a:prstGeom prst="rect">
            <a:avLst/>
          </a:prstGeom>
          <a:noFill/>
          <a:ln/>
        </p:spPr>
        <p:txBody>
          <a:bodyPr wrap="square" lIns="0" tIns="0" rIns="0" bIns="0" rtlCol="0" anchor="t"/>
          <a:lstStyle/>
          <a:p>
            <a:pPr indent="0" marL="0">
              <a:buNone/>
            </a:pPr>
            <a:r>
              <a:rPr lang="en-US" sz="1350" dirty="0">
                <a:solidFill>
                  <a:srgbClr val="56657E"/>
                </a:solidFill>
                <a:latin typeface="Calibri" pitchFamily="34" charset="0"/>
                <a:ea typeface="Calibri" pitchFamily="34" charset="-122"/>
                <a:cs typeface="Calibri" pitchFamily="34" charset="-120"/>
              </a:rPr>
              <a:t>Too much to read by hand? Search by name or inside files, and chain tools together.</a:t>
            </a:r>
            <a:endParaRPr lang="en-US" sz="1350" dirty="0"/>
          </a:p>
        </p:txBody>
      </p:sp>
      <p:sp>
        <p:nvSpPr>
          <p:cNvPr id="52" name="Shape 46"/>
          <p:cNvSpPr/>
          <p:nvPr/>
        </p:nvSpPr>
        <p:spPr>
          <a:xfrm>
            <a:off x="6400800" y="4892040"/>
            <a:ext cx="731520" cy="384048"/>
          </a:xfrm>
          <a:prstGeom prst="roundRect">
            <a:avLst>
              <a:gd name="adj" fmla="val 19048"/>
            </a:avLst>
          </a:prstGeom>
          <a:solidFill>
            <a:srgbClr val="E6DEF7"/>
          </a:solidFill>
          <a:ln/>
        </p:spPr>
      </p:sp>
      <p:sp>
        <p:nvSpPr>
          <p:cNvPr id="53" name="Text 47"/>
          <p:cNvSpPr txBox="1"/>
          <p:nvPr/>
        </p:nvSpPr>
        <p:spPr>
          <a:xfrm>
            <a:off x="6400800" y="4892040"/>
            <a:ext cx="731520" cy="384048"/>
          </a:xfrm>
          <a:prstGeom prst="rect">
            <a:avLst/>
          </a:prstGeom>
          <a:noFill/>
          <a:ln/>
        </p:spPr>
        <p:txBody>
          <a:bodyPr wrap="square" lIns="0" tIns="0" rIns="0" bIns="0" rtlCol="0" anchor="ctr"/>
          <a:lstStyle/>
          <a:p>
            <a:pPr algn="ctr" indent="0" marL="0">
              <a:buNone/>
            </a:pPr>
            <a:r>
              <a:rPr lang="en-US" sz="1300" b="1" dirty="0">
                <a:solidFill>
                  <a:srgbClr val="7448D4"/>
                </a:solidFill>
                <a:latin typeface="Courier New" pitchFamily="34" charset="0"/>
                <a:ea typeface="Courier New" pitchFamily="34" charset="-122"/>
                <a:cs typeface="Courier New" pitchFamily="34" charset="-120"/>
              </a:rPr>
              <a:t>find</a:t>
            </a:r>
            <a:endParaRPr lang="en-US" sz="1300" dirty="0"/>
          </a:p>
        </p:txBody>
      </p:sp>
      <p:sp>
        <p:nvSpPr>
          <p:cNvPr id="54" name="Shape 48"/>
          <p:cNvSpPr/>
          <p:nvPr/>
        </p:nvSpPr>
        <p:spPr>
          <a:xfrm>
            <a:off x="7242048" y="4892040"/>
            <a:ext cx="731520" cy="384048"/>
          </a:xfrm>
          <a:prstGeom prst="roundRect">
            <a:avLst>
              <a:gd name="adj" fmla="val 19048"/>
            </a:avLst>
          </a:prstGeom>
          <a:solidFill>
            <a:srgbClr val="E6DEF7"/>
          </a:solidFill>
          <a:ln/>
        </p:spPr>
      </p:sp>
      <p:sp>
        <p:nvSpPr>
          <p:cNvPr id="55" name="Text 49"/>
          <p:cNvSpPr txBox="1"/>
          <p:nvPr/>
        </p:nvSpPr>
        <p:spPr>
          <a:xfrm>
            <a:off x="7242048" y="4892040"/>
            <a:ext cx="731520" cy="384048"/>
          </a:xfrm>
          <a:prstGeom prst="rect">
            <a:avLst/>
          </a:prstGeom>
          <a:noFill/>
          <a:ln/>
        </p:spPr>
        <p:txBody>
          <a:bodyPr wrap="square" lIns="0" tIns="0" rIns="0" bIns="0" rtlCol="0" anchor="ctr"/>
          <a:lstStyle/>
          <a:p>
            <a:pPr algn="ctr" indent="0" marL="0">
              <a:buNone/>
            </a:pPr>
            <a:r>
              <a:rPr lang="en-US" sz="1300" b="1" dirty="0">
                <a:solidFill>
                  <a:srgbClr val="7448D4"/>
                </a:solidFill>
                <a:latin typeface="Courier New" pitchFamily="34" charset="0"/>
                <a:ea typeface="Courier New" pitchFamily="34" charset="-122"/>
                <a:cs typeface="Courier New" pitchFamily="34" charset="-120"/>
              </a:rPr>
              <a:t>grep</a:t>
            </a:r>
            <a:endParaRPr lang="en-US" sz="1300" dirty="0"/>
          </a:p>
        </p:txBody>
      </p:sp>
      <p:sp>
        <p:nvSpPr>
          <p:cNvPr id="56" name="Shape 50"/>
          <p:cNvSpPr/>
          <p:nvPr/>
        </p:nvSpPr>
        <p:spPr>
          <a:xfrm>
            <a:off x="8083296" y="4892040"/>
            <a:ext cx="420624" cy="384048"/>
          </a:xfrm>
          <a:prstGeom prst="roundRect">
            <a:avLst>
              <a:gd name="adj" fmla="val 19048"/>
            </a:avLst>
          </a:prstGeom>
          <a:solidFill>
            <a:srgbClr val="E6DEF7"/>
          </a:solidFill>
          <a:ln/>
        </p:spPr>
      </p:sp>
      <p:sp>
        <p:nvSpPr>
          <p:cNvPr id="57" name="Text 51"/>
          <p:cNvSpPr txBox="1"/>
          <p:nvPr/>
        </p:nvSpPr>
        <p:spPr>
          <a:xfrm>
            <a:off x="8083296" y="4892040"/>
            <a:ext cx="420624" cy="384048"/>
          </a:xfrm>
          <a:prstGeom prst="rect">
            <a:avLst/>
          </a:prstGeom>
          <a:noFill/>
          <a:ln/>
        </p:spPr>
        <p:txBody>
          <a:bodyPr wrap="square" lIns="0" tIns="0" rIns="0" bIns="0" rtlCol="0" anchor="ctr"/>
          <a:lstStyle/>
          <a:p>
            <a:pPr algn="ctr" indent="0" marL="0">
              <a:buNone/>
            </a:pPr>
            <a:r>
              <a:rPr lang="en-US" sz="1300" b="1" dirty="0">
                <a:solidFill>
                  <a:srgbClr val="7448D4"/>
                </a:solidFill>
                <a:latin typeface="Courier New" pitchFamily="34" charset="0"/>
                <a:ea typeface="Courier New" pitchFamily="34" charset="-122"/>
                <a:cs typeface="Courier New" pitchFamily="34" charset="-120"/>
              </a:rPr>
              <a:t>|</a:t>
            </a:r>
            <a:endParaRPr lang="en-US" sz="1300" dirty="0"/>
          </a:p>
        </p:txBody>
      </p:sp>
      <p:sp>
        <p:nvSpPr>
          <p:cNvPr id="58" name="Shape 52"/>
          <p:cNvSpPr/>
          <p:nvPr/>
        </p:nvSpPr>
        <p:spPr>
          <a:xfrm>
            <a:off x="6400800" y="5404104"/>
            <a:ext cx="731520" cy="384048"/>
          </a:xfrm>
          <a:prstGeom prst="roundRect">
            <a:avLst>
              <a:gd name="adj" fmla="val 19048"/>
            </a:avLst>
          </a:prstGeom>
          <a:solidFill>
            <a:srgbClr val="E6DEF7"/>
          </a:solidFill>
          <a:ln/>
        </p:spPr>
      </p:sp>
      <p:sp>
        <p:nvSpPr>
          <p:cNvPr id="59" name="Text 53"/>
          <p:cNvSpPr txBox="1"/>
          <p:nvPr/>
        </p:nvSpPr>
        <p:spPr>
          <a:xfrm>
            <a:off x="6400800" y="5404104"/>
            <a:ext cx="731520" cy="384048"/>
          </a:xfrm>
          <a:prstGeom prst="rect">
            <a:avLst/>
          </a:prstGeom>
          <a:noFill/>
          <a:ln/>
        </p:spPr>
        <p:txBody>
          <a:bodyPr wrap="square" lIns="0" tIns="0" rIns="0" bIns="0" rtlCol="0" anchor="ctr"/>
          <a:lstStyle/>
          <a:p>
            <a:pPr algn="ctr" indent="0" marL="0">
              <a:buNone/>
            </a:pPr>
            <a:r>
              <a:rPr lang="en-US" sz="1300" b="1" dirty="0">
                <a:solidFill>
                  <a:srgbClr val="7448D4"/>
                </a:solidFill>
                <a:latin typeface="Courier New" pitchFamily="34" charset="0"/>
                <a:ea typeface="Courier New" pitchFamily="34" charset="-122"/>
                <a:cs typeface="Courier New" pitchFamily="34" charset="-120"/>
              </a:rPr>
              <a:t>sort</a:t>
            </a:r>
            <a:endParaRPr lang="en-US" sz="1300" dirty="0"/>
          </a:p>
        </p:txBody>
      </p:sp>
      <p:sp>
        <p:nvSpPr>
          <p:cNvPr id="60" name="Shape 54"/>
          <p:cNvSpPr/>
          <p:nvPr/>
        </p:nvSpPr>
        <p:spPr>
          <a:xfrm>
            <a:off x="7242048" y="5404104"/>
            <a:ext cx="731520" cy="384048"/>
          </a:xfrm>
          <a:prstGeom prst="roundRect">
            <a:avLst>
              <a:gd name="adj" fmla="val 19048"/>
            </a:avLst>
          </a:prstGeom>
          <a:solidFill>
            <a:srgbClr val="E6DEF7"/>
          </a:solidFill>
          <a:ln/>
        </p:spPr>
      </p:sp>
      <p:sp>
        <p:nvSpPr>
          <p:cNvPr id="61" name="Text 55"/>
          <p:cNvSpPr txBox="1"/>
          <p:nvPr/>
        </p:nvSpPr>
        <p:spPr>
          <a:xfrm>
            <a:off x="7242048" y="5404104"/>
            <a:ext cx="731520" cy="384048"/>
          </a:xfrm>
          <a:prstGeom prst="rect">
            <a:avLst/>
          </a:prstGeom>
          <a:noFill/>
          <a:ln/>
        </p:spPr>
        <p:txBody>
          <a:bodyPr wrap="square" lIns="0" tIns="0" rIns="0" bIns="0" rtlCol="0" anchor="ctr"/>
          <a:lstStyle/>
          <a:p>
            <a:pPr algn="ctr" indent="0" marL="0">
              <a:buNone/>
            </a:pPr>
            <a:r>
              <a:rPr lang="en-US" sz="1300" b="1" dirty="0">
                <a:solidFill>
                  <a:srgbClr val="7448D4"/>
                </a:solidFill>
                <a:latin typeface="Courier New" pitchFamily="34" charset="0"/>
                <a:ea typeface="Courier New" pitchFamily="34" charset="-122"/>
                <a:cs typeface="Courier New" pitchFamily="34" charset="-120"/>
              </a:rPr>
              <a:t>uniq</a:t>
            </a:r>
            <a:endParaRPr lang="en-US" sz="1300" dirty="0"/>
          </a:p>
        </p:txBody>
      </p:sp>
      <p:sp>
        <p:nvSpPr>
          <p:cNvPr id="62" name="Shape 56"/>
          <p:cNvSpPr/>
          <p:nvPr/>
        </p:nvSpPr>
        <p:spPr>
          <a:xfrm>
            <a:off x="8970264" y="1737360"/>
            <a:ext cx="2624328" cy="4251960"/>
          </a:xfrm>
          <a:prstGeom prst="roundRect">
            <a:avLst>
              <a:gd name="adj" fmla="val 4181"/>
            </a:avLst>
          </a:prstGeom>
          <a:solidFill>
            <a:srgbClr val="FDF3E7"/>
          </a:solidFill>
          <a:ln w="12700">
            <a:solidFill>
              <a:srgbClr val="F7D5AC"/>
            </a:solidFill>
            <a:prstDash val="solid"/>
          </a:ln>
        </p:spPr>
      </p:sp>
      <p:sp>
        <p:nvSpPr>
          <p:cNvPr id="63" name="Shape 57"/>
          <p:cNvSpPr/>
          <p:nvPr/>
        </p:nvSpPr>
        <p:spPr>
          <a:xfrm>
            <a:off x="8970264" y="1737360"/>
            <a:ext cx="2624328" cy="146304"/>
          </a:xfrm>
          <a:prstGeom prst="roundRect">
            <a:avLst>
              <a:gd name="adj" fmla="val 37500"/>
            </a:avLst>
          </a:prstGeom>
          <a:solidFill>
            <a:srgbClr val="E8820C"/>
          </a:solidFill>
          <a:ln/>
        </p:spPr>
      </p:sp>
      <p:sp>
        <p:nvSpPr>
          <p:cNvPr id="64" name="Shape 58"/>
          <p:cNvSpPr/>
          <p:nvPr/>
        </p:nvSpPr>
        <p:spPr>
          <a:xfrm>
            <a:off x="9208008" y="2048256"/>
            <a:ext cx="603504" cy="603504"/>
          </a:xfrm>
          <a:prstGeom prst="ellipse">
            <a:avLst/>
          </a:prstGeom>
          <a:solidFill>
            <a:srgbClr val="E8820C"/>
          </a:solidFill>
          <a:ln/>
        </p:spPr>
      </p:sp>
      <p:sp>
        <p:nvSpPr>
          <p:cNvPr id="65" name="Text 59"/>
          <p:cNvSpPr txBox="1"/>
          <p:nvPr/>
        </p:nvSpPr>
        <p:spPr>
          <a:xfrm>
            <a:off x="9208008" y="2048256"/>
            <a:ext cx="603504" cy="603504"/>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66" name="Shape 60"/>
          <p:cNvSpPr/>
          <p:nvPr/>
        </p:nvSpPr>
        <p:spPr>
          <a:xfrm flipV="1">
            <a:off x="9902952" y="2066544"/>
            <a:ext cx="164592" cy="54864"/>
          </a:xfrm>
          <a:prstGeom prst="line">
            <a:avLst/>
          </a:prstGeom>
          <a:noFill/>
          <a:ln w="28575">
            <a:solidFill>
              <a:srgbClr val="E8820C"/>
            </a:solidFill>
            <a:prstDash val="solid"/>
          </a:ln>
        </p:spPr>
      </p:sp>
      <p:sp>
        <p:nvSpPr>
          <p:cNvPr id="67" name="Shape 61"/>
          <p:cNvSpPr/>
          <p:nvPr/>
        </p:nvSpPr>
        <p:spPr>
          <a:xfrm flipV="1">
            <a:off x="9939528" y="2267712"/>
            <a:ext cx="182880" cy="18288"/>
          </a:xfrm>
          <a:prstGeom prst="line">
            <a:avLst/>
          </a:prstGeom>
          <a:noFill/>
          <a:ln w="28575">
            <a:solidFill>
              <a:srgbClr val="E8820C"/>
            </a:solidFill>
            <a:prstDash val="solid"/>
          </a:ln>
        </p:spPr>
      </p:sp>
      <p:sp>
        <p:nvSpPr>
          <p:cNvPr id="68" name="Shape 62"/>
          <p:cNvSpPr/>
          <p:nvPr/>
        </p:nvSpPr>
        <p:spPr>
          <a:xfrm>
            <a:off x="9884664" y="2450592"/>
            <a:ext cx="155448" cy="36576"/>
          </a:xfrm>
          <a:prstGeom prst="line">
            <a:avLst/>
          </a:prstGeom>
          <a:noFill/>
          <a:ln w="28575">
            <a:solidFill>
              <a:srgbClr val="E8820C"/>
            </a:solidFill>
            <a:prstDash val="solid"/>
          </a:ln>
        </p:spPr>
      </p:sp>
      <p:sp>
        <p:nvSpPr>
          <p:cNvPr id="69" name="Shape 63"/>
          <p:cNvSpPr/>
          <p:nvPr/>
        </p:nvSpPr>
        <p:spPr>
          <a:xfrm>
            <a:off x="10661904" y="2011680"/>
            <a:ext cx="694944" cy="694944"/>
          </a:xfrm>
          <a:prstGeom prst="ellipse">
            <a:avLst/>
          </a:prstGeom>
          <a:solidFill>
            <a:srgbClr val="FAE6CE"/>
          </a:solidFill>
          <a:ln/>
        </p:spPr>
      </p:sp>
      <p:pic>
        <p:nvPicPr>
          <p:cNvPr id="70" name="Image 3" descr="preencoded.png">    </p:cNvPr>
          <p:cNvPicPr>
            <a:picLocks noChangeAspect="1"/>
          </p:cNvPicPr>
          <p:nvPr/>
        </p:nvPicPr>
        <p:blipFill>
          <a:blip r:embed="rId4"/>
          <a:stretch>
            <a:fillRect/>
          </a:stretch>
        </p:blipFill>
        <p:spPr>
          <a:xfrm>
            <a:off x="10849539" y="2199315"/>
            <a:ext cx="319674" cy="319674"/>
          </a:xfrm>
          <a:prstGeom prst="rect">
            <a:avLst/>
          </a:prstGeom>
        </p:spPr>
      </p:pic>
      <p:sp>
        <p:nvSpPr>
          <p:cNvPr id="71" name="Text 64"/>
          <p:cNvSpPr txBox="1"/>
          <p:nvPr/>
        </p:nvSpPr>
        <p:spPr>
          <a:xfrm>
            <a:off x="9208008" y="2834640"/>
            <a:ext cx="2194560" cy="777240"/>
          </a:xfrm>
          <a:prstGeom prst="rect">
            <a:avLst/>
          </a:prstGeom>
          <a:noFill/>
          <a:ln/>
        </p:spPr>
        <p:txBody>
          <a:bodyPr wrap="square" lIns="0" tIns="0" rIns="0" bIns="0" rtlCol="0" anchor="t"/>
          <a:lstStyle/>
          <a:p>
            <a:pPr indent="0" marL="0">
              <a:buNone/>
            </a:pPr>
            <a:r>
              <a:rPr lang="en-US" sz="2000" b="1" dirty="0">
                <a:solidFill>
                  <a:srgbClr val="12213A"/>
                </a:solidFill>
                <a:latin typeface="Arial" pitchFamily="34" charset="0"/>
                <a:ea typeface="Arial" pitchFamily="34" charset="-122"/>
                <a:cs typeface="Arial" pitchFamily="34" charset="-120"/>
              </a:rPr>
              <a:t>Text power tools</a:t>
            </a:r>
            <a:endParaRPr lang="en-US" sz="2000" dirty="0"/>
          </a:p>
        </p:txBody>
      </p:sp>
      <p:sp>
        <p:nvSpPr>
          <p:cNvPr id="72" name="Text 65"/>
          <p:cNvSpPr txBox="1"/>
          <p:nvPr/>
        </p:nvSpPr>
        <p:spPr>
          <a:xfrm>
            <a:off x="9208008" y="3639312"/>
            <a:ext cx="2194560" cy="1143000"/>
          </a:xfrm>
          <a:prstGeom prst="rect">
            <a:avLst/>
          </a:prstGeom>
          <a:noFill/>
          <a:ln/>
        </p:spPr>
        <p:txBody>
          <a:bodyPr wrap="square" lIns="0" tIns="0" rIns="0" bIns="0" rtlCol="0" anchor="t"/>
          <a:lstStyle/>
          <a:p>
            <a:pPr indent="0" marL="0">
              <a:buNone/>
            </a:pPr>
            <a:r>
              <a:rPr lang="en-US" sz="1350" dirty="0">
                <a:solidFill>
                  <a:srgbClr val="56657E"/>
                </a:solidFill>
                <a:latin typeface="Calibri" pitchFamily="34" charset="0"/>
                <a:ea typeface="Calibri" pitchFamily="34" charset="-122"/>
                <a:cs typeface="Calibri" pitchFamily="34" charset="-120"/>
              </a:rPr>
              <a:t>Reshape text and pull columns apart with sed and awk.</a:t>
            </a:r>
            <a:endParaRPr lang="en-US" sz="1350" dirty="0"/>
          </a:p>
        </p:txBody>
      </p:sp>
      <p:sp>
        <p:nvSpPr>
          <p:cNvPr id="73" name="Shape 66"/>
          <p:cNvSpPr/>
          <p:nvPr/>
        </p:nvSpPr>
        <p:spPr>
          <a:xfrm>
            <a:off x="9208008" y="4892040"/>
            <a:ext cx="626364" cy="384048"/>
          </a:xfrm>
          <a:prstGeom prst="roundRect">
            <a:avLst>
              <a:gd name="adj" fmla="val 19048"/>
            </a:avLst>
          </a:prstGeom>
          <a:solidFill>
            <a:srgbClr val="FBE9D3"/>
          </a:solidFill>
          <a:ln/>
        </p:spPr>
      </p:sp>
      <p:sp>
        <p:nvSpPr>
          <p:cNvPr id="74" name="Text 67"/>
          <p:cNvSpPr txBox="1"/>
          <p:nvPr/>
        </p:nvSpPr>
        <p:spPr>
          <a:xfrm>
            <a:off x="9208008" y="4892040"/>
            <a:ext cx="626364" cy="384048"/>
          </a:xfrm>
          <a:prstGeom prst="rect">
            <a:avLst/>
          </a:prstGeom>
          <a:noFill/>
          <a:ln/>
        </p:spPr>
        <p:txBody>
          <a:bodyPr wrap="square" lIns="0" tIns="0" rIns="0" bIns="0" rtlCol="0" anchor="ctr"/>
          <a:lstStyle/>
          <a:p>
            <a:pPr algn="ctr" indent="0" marL="0">
              <a:buNone/>
            </a:pPr>
            <a:r>
              <a:rPr lang="en-US" sz="1300" b="1" dirty="0">
                <a:solidFill>
                  <a:srgbClr val="E8820C"/>
                </a:solidFill>
                <a:latin typeface="Courier New" pitchFamily="34" charset="0"/>
                <a:ea typeface="Courier New" pitchFamily="34" charset="-122"/>
                <a:cs typeface="Courier New" pitchFamily="34" charset="-120"/>
              </a:rPr>
              <a:t>sed</a:t>
            </a:r>
            <a:endParaRPr lang="en-US" sz="1300" dirty="0"/>
          </a:p>
        </p:txBody>
      </p:sp>
      <p:sp>
        <p:nvSpPr>
          <p:cNvPr id="75" name="Shape 68"/>
          <p:cNvSpPr/>
          <p:nvPr/>
        </p:nvSpPr>
        <p:spPr>
          <a:xfrm>
            <a:off x="9944100" y="4892040"/>
            <a:ext cx="626364" cy="384048"/>
          </a:xfrm>
          <a:prstGeom prst="roundRect">
            <a:avLst>
              <a:gd name="adj" fmla="val 19048"/>
            </a:avLst>
          </a:prstGeom>
          <a:solidFill>
            <a:srgbClr val="FBE9D3"/>
          </a:solidFill>
          <a:ln/>
        </p:spPr>
      </p:sp>
      <p:sp>
        <p:nvSpPr>
          <p:cNvPr id="76" name="Text 69"/>
          <p:cNvSpPr txBox="1"/>
          <p:nvPr/>
        </p:nvSpPr>
        <p:spPr>
          <a:xfrm>
            <a:off x="9944100" y="4892040"/>
            <a:ext cx="626364" cy="384048"/>
          </a:xfrm>
          <a:prstGeom prst="rect">
            <a:avLst/>
          </a:prstGeom>
          <a:noFill/>
          <a:ln/>
        </p:spPr>
        <p:txBody>
          <a:bodyPr wrap="square" lIns="0" tIns="0" rIns="0" bIns="0" rtlCol="0" anchor="ctr"/>
          <a:lstStyle/>
          <a:p>
            <a:pPr algn="ctr" indent="0" marL="0">
              <a:buNone/>
            </a:pPr>
            <a:r>
              <a:rPr lang="en-US" sz="1300" b="1" dirty="0">
                <a:solidFill>
                  <a:srgbClr val="E8820C"/>
                </a:solidFill>
                <a:latin typeface="Courier New" pitchFamily="34" charset="0"/>
                <a:ea typeface="Courier New" pitchFamily="34" charset="-122"/>
                <a:cs typeface="Courier New" pitchFamily="34" charset="-120"/>
              </a:rPr>
              <a:t>awk</a:t>
            </a:r>
            <a:endParaRPr lang="en-US" sz="1300" dirty="0"/>
          </a:p>
        </p:txBody>
      </p:sp>
      <p:sp>
        <p:nvSpPr>
          <p:cNvPr id="77" name="Text 70"/>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15 / 79</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Shape 0"/>
          <p:cNvSpPr/>
          <p:nvPr/>
        </p:nvSpPr>
        <p:spPr>
          <a:xfrm>
            <a:off x="0" y="0"/>
            <a:ext cx="256032" cy="6858000"/>
          </a:xfrm>
          <a:prstGeom prst="rect">
            <a:avLst/>
          </a:prstGeom>
          <a:solidFill>
            <a:srgbClr val="17875A"/>
          </a:solidFill>
          <a:ln/>
        </p:spPr>
      </p:sp>
      <p:sp>
        <p:nvSpPr>
          <p:cNvPr id="4" name="Shape 1"/>
          <p:cNvSpPr/>
          <p:nvPr/>
        </p:nvSpPr>
        <p:spPr>
          <a:xfrm>
            <a:off x="640080" y="685800"/>
            <a:ext cx="1188720" cy="1188720"/>
          </a:xfrm>
          <a:prstGeom prst="ellipse">
            <a:avLst/>
          </a:prstGeom>
          <a:solidFill>
            <a:srgbClr val="17875A"/>
          </a:solidFill>
          <a:ln/>
        </p:spPr>
      </p:sp>
      <p:sp>
        <p:nvSpPr>
          <p:cNvPr id="5" name="Text 2"/>
          <p:cNvSpPr txBox="1"/>
          <p:nvPr/>
        </p:nvSpPr>
        <p:spPr>
          <a:xfrm>
            <a:off x="640080" y="685800"/>
            <a:ext cx="1188720" cy="1188720"/>
          </a:xfrm>
          <a:prstGeom prst="rect">
            <a:avLst/>
          </a:prstGeom>
          <a:noFill/>
          <a:ln/>
        </p:spPr>
        <p:txBody>
          <a:bodyPr wrap="square" lIns="0" tIns="0" rIns="0" bIns="0" rtlCol="0" anchor="ctr"/>
          <a:lstStyle/>
          <a:p>
            <a:pPr algn="ctr" indent="0" marL="0">
              <a:buNone/>
            </a:pPr>
            <a:r>
              <a:rPr lang="en-US" sz="5400" b="1" dirty="0">
                <a:solidFill>
                  <a:srgbClr val="FFFFFF"/>
                </a:solidFill>
                <a:latin typeface="Arial" pitchFamily="34" charset="0"/>
                <a:ea typeface="Arial" pitchFamily="34" charset="-122"/>
                <a:cs typeface="Arial" pitchFamily="34" charset="-120"/>
              </a:rPr>
              <a:t>1</a:t>
            </a:r>
            <a:endParaRPr lang="en-US" sz="5400" dirty="0"/>
          </a:p>
        </p:txBody>
      </p:sp>
      <p:sp>
        <p:nvSpPr>
          <p:cNvPr id="6" name="Text 3"/>
          <p:cNvSpPr txBox="1"/>
          <p:nvPr/>
        </p:nvSpPr>
        <p:spPr>
          <a:xfrm>
            <a:off x="2148840" y="731520"/>
            <a:ext cx="5486400" cy="365760"/>
          </a:xfrm>
          <a:prstGeom prst="rect">
            <a:avLst/>
          </a:prstGeom>
          <a:noFill/>
          <a:ln/>
        </p:spPr>
        <p:txBody>
          <a:bodyPr wrap="square" lIns="0" tIns="0" rIns="0" bIns="0" rtlCol="0" anchor="ctr"/>
          <a:lstStyle/>
          <a:p>
            <a:pPr indent="0" marL="0">
              <a:buNone/>
            </a:pPr>
            <a:r>
              <a:rPr lang="en-US" sz="1500" dirty="0">
                <a:solidFill>
                  <a:srgbClr val="56657E"/>
                </a:solidFill>
                <a:latin typeface="Courier New" pitchFamily="34" charset="0"/>
                <a:ea typeface="Courier New" pitchFamily="34" charset="-122"/>
                <a:cs typeface="Courier New" pitchFamily="34" charset="-120"/>
              </a:rPr>
              <a:t>Big idea 1 of 4</a:t>
            </a:r>
            <a:endParaRPr lang="en-US" sz="1500" dirty="0"/>
          </a:p>
        </p:txBody>
      </p:sp>
      <p:sp>
        <p:nvSpPr>
          <p:cNvPr id="7" name="Text 4"/>
          <p:cNvSpPr txBox="1"/>
          <p:nvPr/>
        </p:nvSpPr>
        <p:spPr>
          <a:xfrm>
            <a:off x="2148840" y="1051560"/>
            <a:ext cx="9144000" cy="822960"/>
          </a:xfrm>
          <a:prstGeom prst="rect">
            <a:avLst/>
          </a:prstGeom>
          <a:noFill/>
          <a:ln/>
        </p:spPr>
        <p:txBody>
          <a:bodyPr wrap="square" lIns="0" tIns="0" rIns="0" bIns="0" rtlCol="0" anchor="ctr"/>
          <a:lstStyle/>
          <a:p>
            <a:pPr indent="0" marL="0">
              <a:buNone/>
            </a:pPr>
            <a:r>
              <a:rPr lang="en-US" sz="4400" b="1" dirty="0">
                <a:solidFill>
                  <a:srgbClr val="12213A"/>
                </a:solidFill>
                <a:latin typeface="Arial" pitchFamily="34" charset="0"/>
                <a:ea typeface="Arial" pitchFamily="34" charset="-122"/>
                <a:cs typeface="Arial" pitchFamily="34" charset="-120"/>
              </a:rPr>
              <a:t>The file system</a:t>
            </a:r>
            <a:endParaRPr lang="en-US" sz="4400" dirty="0"/>
          </a:p>
        </p:txBody>
      </p:sp>
      <p:sp>
        <p:nvSpPr>
          <p:cNvPr id="8" name="Text 5"/>
          <p:cNvSpPr txBox="1"/>
          <p:nvPr/>
        </p:nvSpPr>
        <p:spPr>
          <a:xfrm>
            <a:off x="640080" y="2194560"/>
            <a:ext cx="10911535" cy="1005840"/>
          </a:xfrm>
          <a:prstGeom prst="rect">
            <a:avLst/>
          </a:prstGeom>
          <a:noFill/>
          <a:ln/>
        </p:spPr>
        <p:txBody>
          <a:bodyPr wrap="square" lIns="0" tIns="0" rIns="0" bIns="0" rtlCol="0" anchor="t"/>
          <a:lstStyle/>
          <a:p>
            <a:pPr indent="0" marL="0">
              <a:buNone/>
            </a:pPr>
            <a:r>
              <a:rPr lang="en-US" sz="2500" dirty="0">
                <a:solidFill>
                  <a:srgbClr val="12213A"/>
                </a:solidFill>
                <a:latin typeface="Calibri" pitchFamily="34" charset="0"/>
                <a:ea typeface="Calibri" pitchFamily="34" charset="-122"/>
                <a:cs typeface="Calibri" pitchFamily="34" charset="-120"/>
              </a:rPr>
              <a:t>Everything is a file or a folder. You point at them with a path, then move to them or look inside them.</a:t>
            </a:r>
            <a:endParaRPr lang="en-US" sz="2500" dirty="0"/>
          </a:p>
        </p:txBody>
      </p:sp>
      <p:sp>
        <p:nvSpPr>
          <p:cNvPr id="9" name="Shape 6"/>
          <p:cNvSpPr/>
          <p:nvPr/>
        </p:nvSpPr>
        <p:spPr>
          <a:xfrm>
            <a:off x="640080" y="3520440"/>
            <a:ext cx="3520440" cy="1965960"/>
          </a:xfrm>
          <a:prstGeom prst="roundRect">
            <a:avLst>
              <a:gd name="adj" fmla="val 4651"/>
            </a:avLst>
          </a:prstGeom>
          <a:solidFill>
            <a:srgbClr val="F1F5FB"/>
          </a:solidFill>
          <a:ln/>
        </p:spPr>
      </p:sp>
      <p:sp>
        <p:nvSpPr>
          <p:cNvPr id="10" name="Text 7"/>
          <p:cNvSpPr txBox="1"/>
          <p:nvPr/>
        </p:nvSpPr>
        <p:spPr>
          <a:xfrm>
            <a:off x="914400" y="3657600"/>
            <a:ext cx="3017520" cy="457200"/>
          </a:xfrm>
          <a:prstGeom prst="rect">
            <a:avLst/>
          </a:prstGeom>
          <a:noFill/>
          <a:ln/>
        </p:spPr>
        <p:txBody>
          <a:bodyPr wrap="square" lIns="0" tIns="0" rIns="0" bIns="0" rtlCol="0" anchor="t"/>
          <a:lstStyle/>
          <a:p>
            <a:pPr indent="0" marL="0">
              <a:buNone/>
            </a:pPr>
            <a:r>
              <a:rPr lang="en-US" sz="2200" b="1" dirty="0">
                <a:solidFill>
                  <a:srgbClr val="17875A"/>
                </a:solidFill>
                <a:latin typeface="Arial" pitchFamily="34" charset="0"/>
                <a:ea typeface="Arial" pitchFamily="34" charset="-122"/>
                <a:cs typeface="Arial" pitchFamily="34" charset="-120"/>
              </a:rPr>
              <a:t>Point</a:t>
            </a:r>
            <a:endParaRPr lang="en-US" sz="2200" dirty="0"/>
          </a:p>
        </p:txBody>
      </p:sp>
      <p:sp>
        <p:nvSpPr>
          <p:cNvPr id="11" name="Shape 8"/>
          <p:cNvSpPr/>
          <p:nvPr/>
        </p:nvSpPr>
        <p:spPr>
          <a:xfrm>
            <a:off x="914400" y="4206240"/>
            <a:ext cx="2971800" cy="457200"/>
          </a:xfrm>
          <a:prstGeom prst="roundRect">
            <a:avLst>
              <a:gd name="adj" fmla="val 16000"/>
            </a:avLst>
          </a:prstGeom>
          <a:solidFill>
            <a:srgbClr val="0E1726"/>
          </a:solidFill>
          <a:ln/>
        </p:spPr>
      </p:sp>
      <p:sp>
        <p:nvSpPr>
          <p:cNvPr id="12" name="Text 9"/>
          <p:cNvSpPr txBox="1"/>
          <p:nvPr/>
        </p:nvSpPr>
        <p:spPr>
          <a:xfrm>
            <a:off x="914400" y="4206240"/>
            <a:ext cx="2971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  ~  .  ..</a:t>
            </a:r>
            <a:endParaRPr lang="en-US" sz="1500" dirty="0"/>
          </a:p>
        </p:txBody>
      </p:sp>
      <p:sp>
        <p:nvSpPr>
          <p:cNvPr id="13" name="Text 10"/>
          <p:cNvSpPr txBox="1"/>
          <p:nvPr/>
        </p:nvSpPr>
        <p:spPr>
          <a:xfrm>
            <a:off x="914400" y="4754880"/>
            <a:ext cx="3017520" cy="640080"/>
          </a:xfrm>
          <a:prstGeom prst="rect">
            <a:avLst/>
          </a:prstGeom>
          <a:noFill/>
          <a:ln/>
        </p:spPr>
        <p:txBody>
          <a:bodyPr wrap="square" lIns="0" tIns="0" rIns="0" bIns="0" rtlCol="0" anchor="t"/>
          <a:lstStyle/>
          <a:p>
            <a:pPr indent="0" marL="0">
              <a:buNone/>
            </a:pPr>
            <a:r>
              <a:rPr lang="en-US" sz="1450" dirty="0">
                <a:solidFill>
                  <a:srgbClr val="56657E"/>
                </a:solidFill>
                <a:latin typeface="Calibri" pitchFamily="34" charset="0"/>
                <a:ea typeface="Calibri" pitchFamily="34" charset="-122"/>
                <a:cs typeface="Calibri" pitchFamily="34" charset="-120"/>
              </a:rPr>
              <a:t>A path is the address of a file or folder.</a:t>
            </a:r>
            <a:endParaRPr lang="en-US" sz="1450" dirty="0"/>
          </a:p>
        </p:txBody>
      </p:sp>
      <p:sp>
        <p:nvSpPr>
          <p:cNvPr id="14" name="Shape 11"/>
          <p:cNvSpPr/>
          <p:nvPr/>
        </p:nvSpPr>
        <p:spPr>
          <a:xfrm>
            <a:off x="4370832" y="3520440"/>
            <a:ext cx="3520440" cy="1965960"/>
          </a:xfrm>
          <a:prstGeom prst="roundRect">
            <a:avLst>
              <a:gd name="adj" fmla="val 4651"/>
            </a:avLst>
          </a:prstGeom>
          <a:solidFill>
            <a:srgbClr val="F1F5FB"/>
          </a:solidFill>
          <a:ln/>
        </p:spPr>
      </p:sp>
      <p:sp>
        <p:nvSpPr>
          <p:cNvPr id="15" name="Text 12"/>
          <p:cNvSpPr txBox="1"/>
          <p:nvPr/>
        </p:nvSpPr>
        <p:spPr>
          <a:xfrm>
            <a:off x="4645152" y="3657600"/>
            <a:ext cx="3017520" cy="457200"/>
          </a:xfrm>
          <a:prstGeom prst="rect">
            <a:avLst/>
          </a:prstGeom>
          <a:noFill/>
          <a:ln/>
        </p:spPr>
        <p:txBody>
          <a:bodyPr wrap="square" lIns="0" tIns="0" rIns="0" bIns="0" rtlCol="0" anchor="t"/>
          <a:lstStyle/>
          <a:p>
            <a:pPr indent="0" marL="0">
              <a:buNone/>
            </a:pPr>
            <a:r>
              <a:rPr lang="en-US" sz="2200" b="1" dirty="0">
                <a:solidFill>
                  <a:srgbClr val="17875A"/>
                </a:solidFill>
                <a:latin typeface="Arial" pitchFamily="34" charset="0"/>
                <a:ea typeface="Arial" pitchFamily="34" charset="-122"/>
                <a:cs typeface="Arial" pitchFamily="34" charset="-120"/>
              </a:rPr>
              <a:t>Move</a:t>
            </a:r>
            <a:endParaRPr lang="en-US" sz="2200" dirty="0"/>
          </a:p>
        </p:txBody>
      </p:sp>
      <p:sp>
        <p:nvSpPr>
          <p:cNvPr id="16" name="Shape 13"/>
          <p:cNvSpPr/>
          <p:nvPr/>
        </p:nvSpPr>
        <p:spPr>
          <a:xfrm>
            <a:off x="4645152" y="4206240"/>
            <a:ext cx="2971800" cy="457200"/>
          </a:xfrm>
          <a:prstGeom prst="roundRect">
            <a:avLst>
              <a:gd name="adj" fmla="val 16000"/>
            </a:avLst>
          </a:prstGeom>
          <a:solidFill>
            <a:srgbClr val="0E1726"/>
          </a:solidFill>
          <a:ln/>
        </p:spPr>
      </p:sp>
      <p:sp>
        <p:nvSpPr>
          <p:cNvPr id="17" name="Text 14"/>
          <p:cNvSpPr txBox="1"/>
          <p:nvPr/>
        </p:nvSpPr>
        <p:spPr>
          <a:xfrm>
            <a:off x="4645152" y="4206240"/>
            <a:ext cx="2971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pwd  cd</a:t>
            </a:r>
            <a:endParaRPr lang="en-US" sz="1500" dirty="0"/>
          </a:p>
        </p:txBody>
      </p:sp>
      <p:sp>
        <p:nvSpPr>
          <p:cNvPr id="18" name="Text 15"/>
          <p:cNvSpPr txBox="1"/>
          <p:nvPr/>
        </p:nvSpPr>
        <p:spPr>
          <a:xfrm>
            <a:off x="4645152" y="4754880"/>
            <a:ext cx="3017520" cy="640080"/>
          </a:xfrm>
          <a:prstGeom prst="rect">
            <a:avLst/>
          </a:prstGeom>
          <a:noFill/>
          <a:ln/>
        </p:spPr>
        <p:txBody>
          <a:bodyPr wrap="square" lIns="0" tIns="0" rIns="0" bIns="0" rtlCol="0" anchor="t"/>
          <a:lstStyle/>
          <a:p>
            <a:pPr indent="0" marL="0">
              <a:buNone/>
            </a:pPr>
            <a:r>
              <a:rPr lang="en-US" sz="1450" dirty="0">
                <a:solidFill>
                  <a:srgbClr val="56657E"/>
                </a:solidFill>
                <a:latin typeface="Calibri" pitchFamily="34" charset="0"/>
                <a:ea typeface="Calibri" pitchFamily="34" charset="-122"/>
                <a:cs typeface="Calibri" pitchFamily="34" charset="-120"/>
              </a:rPr>
              <a:t>Find out where you are, and go somewhere else.</a:t>
            </a:r>
            <a:endParaRPr lang="en-US" sz="1450" dirty="0"/>
          </a:p>
        </p:txBody>
      </p:sp>
      <p:sp>
        <p:nvSpPr>
          <p:cNvPr id="19" name="Shape 16"/>
          <p:cNvSpPr/>
          <p:nvPr/>
        </p:nvSpPr>
        <p:spPr>
          <a:xfrm>
            <a:off x="8101584" y="3520440"/>
            <a:ext cx="3520440" cy="1965960"/>
          </a:xfrm>
          <a:prstGeom prst="roundRect">
            <a:avLst>
              <a:gd name="adj" fmla="val 4651"/>
            </a:avLst>
          </a:prstGeom>
          <a:solidFill>
            <a:srgbClr val="F1F5FB"/>
          </a:solidFill>
          <a:ln/>
        </p:spPr>
      </p:sp>
      <p:sp>
        <p:nvSpPr>
          <p:cNvPr id="20" name="Text 17"/>
          <p:cNvSpPr txBox="1"/>
          <p:nvPr/>
        </p:nvSpPr>
        <p:spPr>
          <a:xfrm>
            <a:off x="8375904" y="3657600"/>
            <a:ext cx="3017520" cy="457200"/>
          </a:xfrm>
          <a:prstGeom prst="rect">
            <a:avLst/>
          </a:prstGeom>
          <a:noFill/>
          <a:ln/>
        </p:spPr>
        <p:txBody>
          <a:bodyPr wrap="square" lIns="0" tIns="0" rIns="0" bIns="0" rtlCol="0" anchor="t"/>
          <a:lstStyle/>
          <a:p>
            <a:pPr indent="0" marL="0">
              <a:buNone/>
            </a:pPr>
            <a:r>
              <a:rPr lang="en-US" sz="2200" b="1" dirty="0">
                <a:solidFill>
                  <a:srgbClr val="17875A"/>
                </a:solidFill>
                <a:latin typeface="Arial" pitchFamily="34" charset="0"/>
                <a:ea typeface="Arial" pitchFamily="34" charset="-122"/>
                <a:cs typeface="Arial" pitchFamily="34" charset="-120"/>
              </a:rPr>
              <a:t>Look</a:t>
            </a:r>
            <a:endParaRPr lang="en-US" sz="2200" dirty="0"/>
          </a:p>
        </p:txBody>
      </p:sp>
      <p:sp>
        <p:nvSpPr>
          <p:cNvPr id="21" name="Shape 18"/>
          <p:cNvSpPr/>
          <p:nvPr/>
        </p:nvSpPr>
        <p:spPr>
          <a:xfrm>
            <a:off x="8375904" y="4206240"/>
            <a:ext cx="2971800" cy="457200"/>
          </a:xfrm>
          <a:prstGeom prst="roundRect">
            <a:avLst>
              <a:gd name="adj" fmla="val 16000"/>
            </a:avLst>
          </a:prstGeom>
          <a:solidFill>
            <a:srgbClr val="0E1726"/>
          </a:solidFill>
          <a:ln/>
        </p:spPr>
      </p:sp>
      <p:sp>
        <p:nvSpPr>
          <p:cNvPr id="22" name="Text 19"/>
          <p:cNvSpPr txBox="1"/>
          <p:nvPr/>
        </p:nvSpPr>
        <p:spPr>
          <a:xfrm>
            <a:off x="8375904" y="4206240"/>
            <a:ext cx="2971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ls  cat</a:t>
            </a:r>
            <a:endParaRPr lang="en-US" sz="1500" dirty="0"/>
          </a:p>
        </p:txBody>
      </p:sp>
      <p:sp>
        <p:nvSpPr>
          <p:cNvPr id="23" name="Text 20"/>
          <p:cNvSpPr txBox="1"/>
          <p:nvPr/>
        </p:nvSpPr>
        <p:spPr>
          <a:xfrm>
            <a:off x="8375904" y="4754880"/>
            <a:ext cx="3017520" cy="640080"/>
          </a:xfrm>
          <a:prstGeom prst="rect">
            <a:avLst/>
          </a:prstGeom>
          <a:noFill/>
          <a:ln/>
        </p:spPr>
        <p:txBody>
          <a:bodyPr wrap="square" lIns="0" tIns="0" rIns="0" bIns="0" rtlCol="0" anchor="t"/>
          <a:lstStyle/>
          <a:p>
            <a:pPr indent="0" marL="0">
              <a:buNone/>
            </a:pPr>
            <a:r>
              <a:rPr lang="en-US" sz="1450" dirty="0">
                <a:solidFill>
                  <a:srgbClr val="56657E"/>
                </a:solidFill>
                <a:latin typeface="Calibri" pitchFamily="34" charset="0"/>
                <a:ea typeface="Calibri" pitchFamily="34" charset="-122"/>
                <a:cs typeface="Calibri" pitchFamily="34" charset="-120"/>
              </a:rPr>
              <a:t>ls looks inside folders. cat looks inside files.</a:t>
            </a:r>
            <a:endParaRPr lang="en-US" sz="1450" dirty="0"/>
          </a:p>
        </p:txBody>
      </p:sp>
      <p:sp>
        <p:nvSpPr>
          <p:cNvPr id="24" name="Text 21"/>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16 / 79</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Files and folders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ls -l ~</a:t>
            </a:r>
            <a:endParaRPr lang="en-US" sz="1300" dirty="0"/>
          </a:p>
        </p:txBody>
      </p:sp>
      <p:sp>
        <p:nvSpPr>
          <p:cNvPr id="8" name="Shape 5"/>
          <p:cNvSpPr/>
          <p:nvPr/>
        </p:nvSpPr>
        <p:spPr>
          <a:xfrm>
            <a:off x="548640" y="1508760"/>
            <a:ext cx="5394960" cy="2057400"/>
          </a:xfrm>
          <a:prstGeom prst="roundRect">
            <a:avLst>
              <a:gd name="adj" fmla="val 4444"/>
            </a:avLst>
          </a:prstGeom>
          <a:solidFill>
            <a:srgbClr val="F1F5FB"/>
          </a:solidFill>
          <a:ln/>
        </p:spPr>
      </p:sp>
      <p:sp>
        <p:nvSpPr>
          <p:cNvPr id="9" name="Shape 6"/>
          <p:cNvSpPr/>
          <p:nvPr/>
        </p:nvSpPr>
        <p:spPr>
          <a:xfrm>
            <a:off x="548640" y="1508760"/>
            <a:ext cx="109728" cy="2057400"/>
          </a:xfrm>
          <a:prstGeom prst="rect">
            <a:avLst/>
          </a:prstGeom>
          <a:solidFill>
            <a:srgbClr val="2459D8"/>
          </a:solidFill>
          <a:ln/>
        </p:spPr>
      </p:sp>
      <p:sp>
        <p:nvSpPr>
          <p:cNvPr id="10" name="Text 7"/>
          <p:cNvSpPr txBox="1"/>
          <p:nvPr/>
        </p:nvSpPr>
        <p:spPr>
          <a:xfrm>
            <a:off x="868680" y="1645920"/>
            <a:ext cx="4846320" cy="502920"/>
          </a:xfrm>
          <a:prstGeom prst="rect">
            <a:avLst/>
          </a:prstGeom>
          <a:noFill/>
          <a:ln/>
        </p:spPr>
        <p:txBody>
          <a:bodyPr wrap="square" lIns="0" tIns="0" rIns="0" bIns="0" rtlCol="0" anchor="ctr"/>
          <a:lstStyle/>
          <a:p>
            <a:pPr indent="0" marL="0">
              <a:buNone/>
            </a:pPr>
            <a:r>
              <a:rPr lang="en-US" sz="2400" b="1" dirty="0">
                <a:solidFill>
                  <a:srgbClr val="12213A"/>
                </a:solidFill>
                <a:latin typeface="Arial" pitchFamily="34" charset="0"/>
                <a:ea typeface="Arial" pitchFamily="34" charset="-122"/>
                <a:cs typeface="Arial" pitchFamily="34" charset="-120"/>
              </a:rPr>
              <a:t>Folder</a:t>
            </a:r>
            <a:pPr indent="0" marL="0">
              <a:buNone/>
            </a:pPr>
            <a:r>
              <a:rPr lang="en-US" sz="1400" dirty="0">
                <a:solidFill>
                  <a:srgbClr val="56657E"/>
                </a:solidFill>
                <a:latin typeface="Arial" pitchFamily="34" charset="0"/>
                <a:ea typeface="Arial" pitchFamily="34" charset="-122"/>
                <a:cs typeface="Arial" pitchFamily="34" charset="-120"/>
              </a:rPr>
              <a:t>   a.k.a. directory</a:t>
            </a:r>
            <a:endParaRPr lang="en-US" sz="1600" dirty="0"/>
          </a:p>
        </p:txBody>
      </p:sp>
      <p:sp>
        <p:nvSpPr>
          <p:cNvPr id="11" name="Text 8"/>
          <p:cNvSpPr txBox="1"/>
          <p:nvPr/>
        </p:nvSpPr>
        <p:spPr>
          <a:xfrm>
            <a:off x="868680" y="2194560"/>
            <a:ext cx="4114800" cy="731520"/>
          </a:xfrm>
          <a:prstGeom prst="rect">
            <a:avLst/>
          </a:prstGeom>
          <a:noFill/>
          <a:ln/>
        </p:spPr>
        <p:txBody>
          <a:bodyPr wrap="square" lIns="0" tIns="0" rIns="0" bIns="0" rtlCol="0" anchor="t"/>
          <a:lstStyle/>
          <a:p>
            <a:pPr indent="0" marL="0">
              <a:buNone/>
            </a:pPr>
            <a:r>
              <a:rPr lang="en-US" sz="1600" dirty="0">
                <a:solidFill>
                  <a:srgbClr val="12213A"/>
                </a:solidFill>
                <a:latin typeface="Calibri" pitchFamily="34" charset="0"/>
                <a:ea typeface="Calibri" pitchFamily="34" charset="-122"/>
                <a:cs typeface="Calibri" pitchFamily="34" charset="-120"/>
              </a:rPr>
              <a:t>Holds files and other folders. Look inside with ls. Step into it with cd.</a:t>
            </a:r>
            <a:endParaRPr lang="en-US" sz="1600" dirty="0"/>
          </a:p>
        </p:txBody>
      </p:sp>
      <p:sp>
        <p:nvSpPr>
          <p:cNvPr id="12" name="Text 9"/>
          <p:cNvSpPr txBox="1"/>
          <p:nvPr/>
        </p:nvSpPr>
        <p:spPr>
          <a:xfrm>
            <a:off x="868680" y="2971800"/>
            <a:ext cx="4937760" cy="411480"/>
          </a:xfrm>
          <a:prstGeom prst="rect">
            <a:avLst/>
          </a:prstGeom>
          <a:noFill/>
          <a:ln/>
        </p:spPr>
        <p:txBody>
          <a:bodyPr wrap="square" lIns="0" tIns="0" rIns="0" bIns="0" rtlCol="0" anchor="t"/>
          <a:lstStyle/>
          <a:p>
            <a:pPr indent="0" marL="0">
              <a:buNone/>
            </a:pPr>
            <a:r>
              <a:rPr lang="en-US" sz="1250" b="1" dirty="0">
                <a:solidFill>
                  <a:srgbClr val="2459D8"/>
                </a:solidFill>
                <a:latin typeface="Courier New" pitchFamily="34" charset="0"/>
                <a:ea typeface="Courier New" pitchFamily="34" charset="-122"/>
                <a:cs typeface="Courier New" pitchFamily="34" charset="-120"/>
              </a:rPr>
              <a:t>ls shows it in blue  ·  ls -l starts with d</a:t>
            </a:r>
            <a:endParaRPr lang="en-US" sz="1250" dirty="0"/>
          </a:p>
        </p:txBody>
      </p:sp>
      <p:sp>
        <p:nvSpPr>
          <p:cNvPr id="13" name="Shape 10"/>
          <p:cNvSpPr/>
          <p:nvPr/>
        </p:nvSpPr>
        <p:spPr>
          <a:xfrm>
            <a:off x="548640" y="3749040"/>
            <a:ext cx="5394960" cy="2057400"/>
          </a:xfrm>
          <a:prstGeom prst="roundRect">
            <a:avLst>
              <a:gd name="adj" fmla="val 4444"/>
            </a:avLst>
          </a:prstGeom>
          <a:solidFill>
            <a:srgbClr val="F1F5FB"/>
          </a:solidFill>
          <a:ln/>
        </p:spPr>
      </p:sp>
      <p:sp>
        <p:nvSpPr>
          <p:cNvPr id="14" name="Shape 11"/>
          <p:cNvSpPr/>
          <p:nvPr/>
        </p:nvSpPr>
        <p:spPr>
          <a:xfrm>
            <a:off x="548640" y="3749040"/>
            <a:ext cx="109728" cy="2057400"/>
          </a:xfrm>
          <a:prstGeom prst="rect">
            <a:avLst/>
          </a:prstGeom>
          <a:solidFill>
            <a:srgbClr val="D1416B"/>
          </a:solidFill>
          <a:ln/>
        </p:spPr>
      </p:sp>
      <p:sp>
        <p:nvSpPr>
          <p:cNvPr id="15" name="Text 12"/>
          <p:cNvSpPr txBox="1"/>
          <p:nvPr/>
        </p:nvSpPr>
        <p:spPr>
          <a:xfrm>
            <a:off x="868680" y="3886200"/>
            <a:ext cx="4846320" cy="502920"/>
          </a:xfrm>
          <a:prstGeom prst="rect">
            <a:avLst/>
          </a:prstGeom>
          <a:noFill/>
          <a:ln/>
        </p:spPr>
        <p:txBody>
          <a:bodyPr wrap="square" lIns="0" tIns="0" rIns="0" bIns="0" rtlCol="0" anchor="ctr"/>
          <a:lstStyle/>
          <a:p>
            <a:pPr indent="0" marL="0">
              <a:buNone/>
            </a:pPr>
            <a:r>
              <a:rPr lang="en-US" sz="2400" b="1" dirty="0">
                <a:solidFill>
                  <a:srgbClr val="12213A"/>
                </a:solidFill>
                <a:latin typeface="Arial" pitchFamily="34" charset="0"/>
                <a:ea typeface="Arial" pitchFamily="34" charset="-122"/>
                <a:cs typeface="Arial" pitchFamily="34" charset="-120"/>
              </a:rPr>
              <a:t>File</a:t>
            </a:r>
            <a:pPr indent="0" marL="0">
              <a:buNone/>
            </a:pPr>
            <a:endParaRPr lang="en-US" sz="1600" dirty="0"/>
          </a:p>
        </p:txBody>
      </p:sp>
      <p:sp>
        <p:nvSpPr>
          <p:cNvPr id="16" name="Text 13"/>
          <p:cNvSpPr txBox="1"/>
          <p:nvPr/>
        </p:nvSpPr>
        <p:spPr>
          <a:xfrm>
            <a:off x="868680" y="4434840"/>
            <a:ext cx="4114800" cy="731520"/>
          </a:xfrm>
          <a:prstGeom prst="rect">
            <a:avLst/>
          </a:prstGeom>
          <a:noFill/>
          <a:ln/>
        </p:spPr>
        <p:txBody>
          <a:bodyPr wrap="square" lIns="0" tIns="0" rIns="0" bIns="0" rtlCol="0" anchor="t"/>
          <a:lstStyle/>
          <a:p>
            <a:pPr indent="0" marL="0">
              <a:buNone/>
            </a:pPr>
            <a:r>
              <a:rPr lang="en-US" sz="1600" dirty="0">
                <a:solidFill>
                  <a:srgbClr val="12213A"/>
                </a:solidFill>
                <a:latin typeface="Calibri" pitchFamily="34" charset="0"/>
                <a:ea typeface="Calibri" pitchFamily="34" charset="-122"/>
                <a:cs typeface="Calibri" pitchFamily="34" charset="-120"/>
              </a:rPr>
              <a:t>Holds data: text, a picture, a program. Look inside with cat. You can't cd into it.</a:t>
            </a:r>
            <a:endParaRPr lang="en-US" sz="1600" dirty="0"/>
          </a:p>
        </p:txBody>
      </p:sp>
      <p:sp>
        <p:nvSpPr>
          <p:cNvPr id="17" name="Text 14"/>
          <p:cNvSpPr txBox="1"/>
          <p:nvPr/>
        </p:nvSpPr>
        <p:spPr>
          <a:xfrm>
            <a:off x="868680" y="5212080"/>
            <a:ext cx="4937760" cy="411480"/>
          </a:xfrm>
          <a:prstGeom prst="rect">
            <a:avLst/>
          </a:prstGeom>
          <a:noFill/>
          <a:ln/>
        </p:spPr>
        <p:txBody>
          <a:bodyPr wrap="square" lIns="0" tIns="0" rIns="0" bIns="0" rtlCol="0" anchor="t"/>
          <a:lstStyle/>
          <a:p>
            <a:pPr indent="0" marL="0">
              <a:buNone/>
            </a:pPr>
            <a:r>
              <a:rPr lang="en-US" sz="1250" b="1" dirty="0">
                <a:solidFill>
                  <a:srgbClr val="D1416B"/>
                </a:solidFill>
                <a:latin typeface="Courier New" pitchFamily="34" charset="0"/>
                <a:ea typeface="Courier New" pitchFamily="34" charset="-122"/>
                <a:cs typeface="Courier New" pitchFamily="34" charset="-120"/>
              </a:rPr>
              <a:t>ls shows it in white  ·  ls -l starts with -</a:t>
            </a:r>
            <a:endParaRPr lang="en-US" sz="1250" dirty="0"/>
          </a:p>
        </p:txBody>
      </p:sp>
      <p:sp>
        <p:nvSpPr>
          <p:cNvPr id="18" name="Shape 15"/>
          <p:cNvSpPr/>
          <p:nvPr/>
        </p:nvSpPr>
        <p:spPr>
          <a:xfrm>
            <a:off x="5074920" y="1645920"/>
            <a:ext cx="640080" cy="640080"/>
          </a:xfrm>
          <a:prstGeom prst="ellipse">
            <a:avLst/>
          </a:prstGeom>
          <a:solidFill>
            <a:srgbClr val="2459D8"/>
          </a:solidFill>
          <a:ln/>
        </p:spPr>
      </p:sp>
      <p:pic>
        <p:nvPicPr>
          <p:cNvPr id="19" name="Image 0" descr="preencoded.png">    </p:cNvPr>
          <p:cNvPicPr>
            <a:picLocks noChangeAspect="1"/>
          </p:cNvPicPr>
          <p:nvPr/>
        </p:nvPicPr>
        <p:blipFill>
          <a:blip r:embed="rId1"/>
          <a:stretch>
            <a:fillRect/>
          </a:stretch>
        </p:blipFill>
        <p:spPr>
          <a:xfrm>
            <a:off x="5234940" y="1805940"/>
            <a:ext cx="320040" cy="320040"/>
          </a:xfrm>
          <a:prstGeom prst="rect">
            <a:avLst/>
          </a:prstGeom>
        </p:spPr>
      </p:pic>
      <p:sp>
        <p:nvSpPr>
          <p:cNvPr id="20" name="Shape 16"/>
          <p:cNvSpPr/>
          <p:nvPr/>
        </p:nvSpPr>
        <p:spPr>
          <a:xfrm>
            <a:off x="5074920" y="3886200"/>
            <a:ext cx="640080" cy="640080"/>
          </a:xfrm>
          <a:prstGeom prst="ellipse">
            <a:avLst/>
          </a:prstGeom>
          <a:solidFill>
            <a:srgbClr val="D1416B"/>
          </a:solidFill>
          <a:ln/>
        </p:spPr>
      </p:sp>
      <p:pic>
        <p:nvPicPr>
          <p:cNvPr id="21" name="Image 1" descr="preencoded.png">    </p:cNvPr>
          <p:cNvPicPr>
            <a:picLocks noChangeAspect="1"/>
          </p:cNvPicPr>
          <p:nvPr/>
        </p:nvPicPr>
        <p:blipFill>
          <a:blip r:embed="rId2"/>
          <a:stretch>
            <a:fillRect/>
          </a:stretch>
        </p:blipFill>
        <p:spPr>
          <a:xfrm>
            <a:off x="5234940" y="4046220"/>
            <a:ext cx="320040" cy="320040"/>
          </a:xfrm>
          <a:prstGeom prst="rect">
            <a:avLst/>
          </a:prstGeom>
        </p:spPr>
      </p:pic>
      <p:sp>
        <p:nvSpPr>
          <p:cNvPr id="22" name="Shape 17"/>
          <p:cNvSpPr/>
          <p:nvPr/>
        </p:nvSpPr>
        <p:spPr>
          <a:xfrm>
            <a:off x="6263640" y="1463040"/>
            <a:ext cx="5376672" cy="4434840"/>
          </a:xfrm>
          <a:prstGeom prst="roundRect">
            <a:avLst>
              <a:gd name="adj" fmla="val 2062"/>
            </a:avLst>
          </a:prstGeom>
          <a:solidFill>
            <a:srgbClr val="0E1726"/>
          </a:solidFill>
          <a:ln/>
          <a:effectLst>
            <a:outerShdw sx="100000" sy="100000" kx="0" ky="0" algn="bl" rotWithShape="0" blurRad="127000" dist="38100" dir="5400000">
              <a:srgbClr val="12213A">
                <a:alpha val="22000"/>
              </a:srgbClr>
            </a:outerShdw>
          </a:effectLst>
        </p:spPr>
      </p:sp>
      <p:sp>
        <p:nvSpPr>
          <p:cNvPr id="23" name="Shape 18"/>
          <p:cNvSpPr/>
          <p:nvPr/>
        </p:nvSpPr>
        <p:spPr>
          <a:xfrm>
            <a:off x="6464808" y="1618488"/>
            <a:ext cx="118872" cy="118872"/>
          </a:xfrm>
          <a:prstGeom prst="ellipse">
            <a:avLst/>
          </a:prstGeom>
          <a:solidFill>
            <a:srgbClr val="E5534B"/>
          </a:solidFill>
          <a:ln/>
        </p:spPr>
      </p:sp>
      <p:sp>
        <p:nvSpPr>
          <p:cNvPr id="24" name="Shape 19"/>
          <p:cNvSpPr/>
          <p:nvPr/>
        </p:nvSpPr>
        <p:spPr>
          <a:xfrm>
            <a:off x="6665976" y="1618488"/>
            <a:ext cx="118872" cy="118872"/>
          </a:xfrm>
          <a:prstGeom prst="ellipse">
            <a:avLst/>
          </a:prstGeom>
          <a:solidFill>
            <a:srgbClr val="F5A623"/>
          </a:solidFill>
          <a:ln/>
        </p:spPr>
      </p:sp>
      <p:sp>
        <p:nvSpPr>
          <p:cNvPr id="25" name="Shape 20"/>
          <p:cNvSpPr/>
          <p:nvPr/>
        </p:nvSpPr>
        <p:spPr>
          <a:xfrm>
            <a:off x="6867144" y="1618488"/>
            <a:ext cx="118872" cy="118872"/>
          </a:xfrm>
          <a:prstGeom prst="ellipse">
            <a:avLst/>
          </a:prstGeom>
          <a:solidFill>
            <a:srgbClr val="46D39A"/>
          </a:solidFill>
          <a:ln/>
        </p:spPr>
      </p:sp>
      <p:sp>
        <p:nvSpPr>
          <p:cNvPr id="26" name="Text 21"/>
          <p:cNvSpPr txBox="1"/>
          <p:nvPr/>
        </p:nvSpPr>
        <p:spPr>
          <a:xfrm>
            <a:off x="6537960" y="1920240"/>
            <a:ext cx="4828032" cy="3840480"/>
          </a:xfrm>
          <a:prstGeom prst="rect">
            <a:avLst/>
          </a:prstGeom>
          <a:noFill/>
          <a:ln/>
        </p:spPr>
        <p:txBody>
          <a:bodyPr wrap="square" lIns="0" tIns="0" rIns="0" bIns="0" rtlCol="0" anchor="t"/>
          <a:lstStyle/>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ls ~</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mission1  mission2  ...  mission10</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ls -l ~</a:t>
            </a:r>
            <a:endParaRPr lang="en-US" sz="1400" dirty="0"/>
          </a:p>
          <a:p>
            <a:pPr indent="0" marL="0">
              <a:spcAft>
                <a:spcPts val="200"/>
              </a:spcAft>
              <a:buNone/>
            </a:pPr>
            <a:r>
              <a:rPr lang="en-US" sz="1400" b="1" dirty="0">
                <a:solidFill>
                  <a:srgbClr val="F5A623"/>
                </a:solidFill>
                <a:latin typeface="Courier New" pitchFamily="34" charset="0"/>
                <a:ea typeface="Courier New" pitchFamily="34" charset="-122"/>
                <a:cs typeface="Courier New" pitchFamily="34" charset="-120"/>
              </a:rPr>
              <a:t>drwxr-xr-x  2 player ... mission1</a:t>
            </a:r>
            <a:endParaRPr lang="en-US" sz="1400" dirty="0"/>
          </a:p>
          <a:p>
            <a:pPr indent="0" marL="0">
              <a:spcAft>
                <a:spcPts val="200"/>
              </a:spcAft>
              <a:buNone/>
            </a:pPr>
            <a:r>
              <a:rPr lang="en-US" sz="1400" dirty="0">
                <a:solidFill>
                  <a:srgbClr val="7F8FAD"/>
                </a:solidFill>
                <a:latin typeface="Courier New" pitchFamily="34" charset="0"/>
                <a:ea typeface="Courier New" pitchFamily="34" charset="-122"/>
                <a:cs typeface="Courier New" pitchFamily="34" charset="-120"/>
              </a:rPr>
              <a:t># d at the start: a directory (folder)</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ls -l /etc/passwd</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-rw-r--r--  1 root  ...  /etc/passwd</a:t>
            </a:r>
            <a:endParaRPr lang="en-US" sz="1400" dirty="0"/>
          </a:p>
          <a:p>
            <a:pPr indent="0" marL="0">
              <a:spcAft>
                <a:spcPts val="200"/>
              </a:spcAft>
              <a:buNone/>
            </a:pPr>
            <a:r>
              <a:rPr lang="en-US" sz="1400" dirty="0">
                <a:solidFill>
                  <a:srgbClr val="7F8FAD"/>
                </a:solidFill>
                <a:latin typeface="Courier New" pitchFamily="34" charset="0"/>
                <a:ea typeface="Courier New" pitchFamily="34" charset="-122"/>
                <a:cs typeface="Courier New" pitchFamily="34" charset="-120"/>
              </a:rPr>
              <a:t># - = a plain file</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cd /etc/passwd</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-sh: cd: can't cd to /etc/passwd:</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  Not a directory</a:t>
            </a:r>
            <a:endParaRPr lang="en-US" sz="1400" dirty="0"/>
          </a:p>
        </p:txBody>
      </p:sp>
      <p:sp>
        <p:nvSpPr>
          <p:cNvPr id="27" name="Text 22"/>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17 / 79</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Pointing at things: paths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ls /home/player   ls ~</a:t>
            </a:r>
            <a:endParaRPr lang="en-US" sz="1300" dirty="0"/>
          </a:p>
        </p:txBody>
      </p:sp>
      <p:sp>
        <p:nvSpPr>
          <p:cNvPr id="8" name="Shape 5"/>
          <p:cNvSpPr/>
          <p:nvPr/>
        </p:nvSpPr>
        <p:spPr>
          <a:xfrm>
            <a:off x="548640" y="1508760"/>
            <a:ext cx="11094415" cy="1143000"/>
          </a:xfrm>
          <a:prstGeom prst="roundRect">
            <a:avLst>
              <a:gd name="adj" fmla="val 8000"/>
            </a:avLst>
          </a:prstGeom>
          <a:solidFill>
            <a:srgbClr val="0E1726"/>
          </a:solidFill>
          <a:ln/>
        </p:spPr>
      </p:sp>
      <p:sp>
        <p:nvSpPr>
          <p:cNvPr id="9" name="Text 6"/>
          <p:cNvSpPr txBox="1"/>
          <p:nvPr/>
        </p:nvSpPr>
        <p:spPr>
          <a:xfrm>
            <a:off x="548640" y="1508760"/>
            <a:ext cx="11094415" cy="1143000"/>
          </a:xfrm>
          <a:prstGeom prst="rect">
            <a:avLst/>
          </a:prstGeom>
          <a:noFill/>
          <a:ln/>
        </p:spPr>
        <p:txBody>
          <a:bodyPr wrap="square" lIns="0" tIns="0" rIns="0" bIns="0" rtlCol="0" anchor="ctr"/>
          <a:lstStyle/>
          <a:p>
            <a:pPr algn="ctr" indent="0" marL="0">
              <a:buNone/>
            </a:pPr>
            <a:r>
              <a:rPr lang="en-US" sz="3800" b="1" dirty="0">
                <a:solidFill>
                  <a:srgbClr val="F5A623"/>
                </a:solidFill>
                <a:latin typeface="Courier New" pitchFamily="34" charset="0"/>
                <a:ea typeface="Courier New" pitchFamily="34" charset="-122"/>
                <a:cs typeface="Courier New" pitchFamily="34" charset="-120"/>
              </a:rPr>
              <a:t>/</a:t>
            </a:r>
            <a:pPr algn="ctr" indent="0" marL="0">
              <a:buNone/>
            </a:pPr>
            <a:r>
              <a:rPr lang="en-US" sz="3800" b="1" dirty="0">
                <a:solidFill>
                  <a:srgbClr val="7FB2FF"/>
                </a:solidFill>
                <a:latin typeface="Courier New" pitchFamily="34" charset="0"/>
                <a:ea typeface="Courier New" pitchFamily="34" charset="-122"/>
                <a:cs typeface="Courier New" pitchFamily="34" charset="-120"/>
              </a:rPr>
              <a:t>home</a:t>
            </a:r>
            <a:pPr algn="ctr" indent="0" marL="0">
              <a:buNone/>
            </a:pPr>
            <a:r>
              <a:rPr lang="en-US" sz="3800" b="1" dirty="0">
                <a:solidFill>
                  <a:srgbClr val="F5A623"/>
                </a:solidFill>
                <a:latin typeface="Courier New" pitchFamily="34" charset="0"/>
                <a:ea typeface="Courier New" pitchFamily="34" charset="-122"/>
                <a:cs typeface="Courier New" pitchFamily="34" charset="-120"/>
              </a:rPr>
              <a:t>/</a:t>
            </a:r>
            <a:pPr algn="ctr" indent="0" marL="0">
              <a:buNone/>
            </a:pPr>
            <a:r>
              <a:rPr lang="en-US" sz="3800" b="1" dirty="0">
                <a:solidFill>
                  <a:srgbClr val="46D39A"/>
                </a:solidFill>
                <a:latin typeface="Courier New" pitchFamily="34" charset="0"/>
                <a:ea typeface="Courier New" pitchFamily="34" charset="-122"/>
                <a:cs typeface="Courier New" pitchFamily="34" charset="-120"/>
              </a:rPr>
              <a:t>player</a:t>
            </a:r>
            <a:pPr algn="ctr" indent="0" marL="0">
              <a:buNone/>
            </a:pPr>
            <a:r>
              <a:rPr lang="en-US" sz="3800" b="1" dirty="0">
                <a:solidFill>
                  <a:srgbClr val="F5A623"/>
                </a:solidFill>
                <a:latin typeface="Courier New" pitchFamily="34" charset="0"/>
                <a:ea typeface="Courier New" pitchFamily="34" charset="-122"/>
                <a:cs typeface="Courier New" pitchFamily="34" charset="-120"/>
              </a:rPr>
              <a:t>/</a:t>
            </a:r>
            <a:pPr algn="ctr" indent="0" marL="0">
              <a:buNone/>
            </a:pPr>
            <a:r>
              <a:rPr lang="en-US" sz="3800" b="1" dirty="0">
                <a:solidFill>
                  <a:srgbClr val="C9A7FF"/>
                </a:solidFill>
                <a:latin typeface="Courier New" pitchFamily="34" charset="0"/>
                <a:ea typeface="Courier New" pitchFamily="34" charset="-122"/>
                <a:cs typeface="Courier New" pitchFamily="34" charset="-120"/>
              </a:rPr>
              <a:t>mission1</a:t>
            </a:r>
            <a:pPr algn="ctr" indent="0" marL="0">
              <a:buNone/>
            </a:pPr>
            <a:r>
              <a:rPr lang="en-US" sz="3800" b="1" dirty="0">
                <a:solidFill>
                  <a:srgbClr val="F5A623"/>
                </a:solidFill>
                <a:latin typeface="Courier New" pitchFamily="34" charset="0"/>
                <a:ea typeface="Courier New" pitchFamily="34" charset="-122"/>
                <a:cs typeface="Courier New" pitchFamily="34" charset="-120"/>
              </a:rPr>
              <a:t>/</a:t>
            </a:r>
            <a:pPr algn="ctr" indent="0" marL="0">
              <a:buNone/>
            </a:pPr>
            <a:r>
              <a:rPr lang="en-US" sz="3800" b="1" dirty="0">
                <a:solidFill>
                  <a:srgbClr val="FF8FB1"/>
                </a:solidFill>
                <a:latin typeface="Courier New" pitchFamily="34" charset="0"/>
                <a:ea typeface="Courier New" pitchFamily="34" charset="-122"/>
                <a:cs typeface="Courier New" pitchFamily="34" charset="-120"/>
              </a:rPr>
              <a:t>town</a:t>
            </a:r>
            <a:endParaRPr lang="en-US" sz="3800" dirty="0"/>
          </a:p>
        </p:txBody>
      </p:sp>
      <p:sp>
        <p:nvSpPr>
          <p:cNvPr id="10" name="Text 7"/>
          <p:cNvSpPr txBox="1"/>
          <p:nvPr/>
        </p:nvSpPr>
        <p:spPr>
          <a:xfrm>
            <a:off x="548640" y="2724912"/>
            <a:ext cx="11094415" cy="320040"/>
          </a:xfrm>
          <a:prstGeom prst="rect">
            <a:avLst/>
          </a:prstGeom>
          <a:noFill/>
          <a:ln/>
        </p:spPr>
        <p:txBody>
          <a:bodyPr wrap="square" lIns="0" tIns="0" rIns="0" bIns="0" rtlCol="0" anchor="t"/>
          <a:lstStyle/>
          <a:p>
            <a:pPr algn="ctr" indent="0" marL="0">
              <a:buNone/>
            </a:pPr>
            <a:r>
              <a:rPr lang="en-US" sz="1400" dirty="0">
                <a:solidFill>
                  <a:srgbClr val="56657E"/>
                </a:solidFill>
                <a:latin typeface="Calibri" pitchFamily="34" charset="0"/>
                <a:ea typeface="Calibri" pitchFamily="34" charset="-122"/>
                <a:cs typeface="Calibri" pitchFamily="34" charset="-120"/>
              </a:rPr>
              <a:t>Each name is a folder inside the one before it. The slashes join them.</a:t>
            </a:r>
            <a:endParaRPr lang="en-US" sz="1400" dirty="0"/>
          </a:p>
        </p:txBody>
      </p:sp>
      <p:sp>
        <p:nvSpPr>
          <p:cNvPr id="11" name="Shape 8"/>
          <p:cNvSpPr/>
          <p:nvPr/>
        </p:nvSpPr>
        <p:spPr>
          <a:xfrm>
            <a:off x="548640" y="3200400"/>
            <a:ext cx="2624328" cy="1051560"/>
          </a:xfrm>
          <a:prstGeom prst="roundRect">
            <a:avLst>
              <a:gd name="adj" fmla="val 8696"/>
            </a:avLst>
          </a:prstGeom>
          <a:solidFill>
            <a:srgbClr val="F1F5FB"/>
          </a:solidFill>
          <a:ln/>
        </p:spPr>
      </p:sp>
      <p:sp>
        <p:nvSpPr>
          <p:cNvPr id="12" name="Text 9"/>
          <p:cNvSpPr txBox="1"/>
          <p:nvPr/>
        </p:nvSpPr>
        <p:spPr>
          <a:xfrm>
            <a:off x="777240" y="3291840"/>
            <a:ext cx="822960" cy="868680"/>
          </a:xfrm>
          <a:prstGeom prst="rect">
            <a:avLst/>
          </a:prstGeom>
          <a:noFill/>
          <a:ln/>
        </p:spPr>
        <p:txBody>
          <a:bodyPr wrap="square" lIns="0" tIns="0" rIns="0" bIns="0" rtlCol="0" anchor="ctr"/>
          <a:lstStyle/>
          <a:p>
            <a:pPr indent="0" marL="0">
              <a:buNone/>
            </a:pPr>
            <a:r>
              <a:rPr lang="en-US" sz="3200" b="1" dirty="0">
                <a:solidFill>
                  <a:srgbClr val="2A9FD6"/>
                </a:solidFill>
                <a:latin typeface="Courier New" pitchFamily="34" charset="0"/>
                <a:ea typeface="Courier New" pitchFamily="34" charset="-122"/>
                <a:cs typeface="Courier New" pitchFamily="34" charset="-120"/>
              </a:rPr>
              <a:t>/</a:t>
            </a:r>
            <a:endParaRPr lang="en-US" sz="3200" dirty="0"/>
          </a:p>
        </p:txBody>
      </p:sp>
      <p:sp>
        <p:nvSpPr>
          <p:cNvPr id="13" name="Text 10"/>
          <p:cNvSpPr txBox="1"/>
          <p:nvPr/>
        </p:nvSpPr>
        <p:spPr>
          <a:xfrm>
            <a:off x="1600200" y="3291840"/>
            <a:ext cx="1463040" cy="868680"/>
          </a:xfrm>
          <a:prstGeom prst="rect">
            <a:avLst/>
          </a:prstGeom>
          <a:noFill/>
          <a:ln/>
        </p:spPr>
        <p:txBody>
          <a:bodyPr wrap="square" lIns="0" tIns="0" rIns="0" bIns="0" rtlCol="0" anchor="ctr"/>
          <a:lstStyle/>
          <a:p>
            <a:pPr indent="0" marL="0">
              <a:buNone/>
            </a:pPr>
            <a:r>
              <a:rPr lang="en-US" sz="1450" dirty="0">
                <a:solidFill>
                  <a:srgbClr val="12213A"/>
                </a:solidFill>
                <a:latin typeface="Calibri" pitchFamily="34" charset="0"/>
                <a:ea typeface="Calibri" pitchFamily="34" charset="-122"/>
                <a:cs typeface="Calibri" pitchFamily="34" charset="-120"/>
              </a:rPr>
              <a:t>the root: top of the tree</a:t>
            </a:r>
            <a:endParaRPr lang="en-US" sz="1450" dirty="0"/>
          </a:p>
        </p:txBody>
      </p:sp>
      <p:sp>
        <p:nvSpPr>
          <p:cNvPr id="14" name="Shape 11"/>
          <p:cNvSpPr/>
          <p:nvPr/>
        </p:nvSpPr>
        <p:spPr>
          <a:xfrm>
            <a:off x="3355848" y="3200400"/>
            <a:ext cx="2624328" cy="1051560"/>
          </a:xfrm>
          <a:prstGeom prst="roundRect">
            <a:avLst>
              <a:gd name="adj" fmla="val 8696"/>
            </a:avLst>
          </a:prstGeom>
          <a:solidFill>
            <a:srgbClr val="F1F5FB"/>
          </a:solidFill>
          <a:ln/>
        </p:spPr>
      </p:sp>
      <p:sp>
        <p:nvSpPr>
          <p:cNvPr id="15" name="Text 12"/>
          <p:cNvSpPr txBox="1"/>
          <p:nvPr/>
        </p:nvSpPr>
        <p:spPr>
          <a:xfrm>
            <a:off x="3584448" y="3291840"/>
            <a:ext cx="822960" cy="868680"/>
          </a:xfrm>
          <a:prstGeom prst="rect">
            <a:avLst/>
          </a:prstGeom>
          <a:noFill/>
          <a:ln/>
        </p:spPr>
        <p:txBody>
          <a:bodyPr wrap="square" lIns="0" tIns="0" rIns="0" bIns="0" rtlCol="0" anchor="ctr"/>
          <a:lstStyle/>
          <a:p>
            <a:pPr indent="0" marL="0">
              <a:buNone/>
            </a:pPr>
            <a:r>
              <a:rPr lang="en-US" sz="3200" b="1" dirty="0">
                <a:solidFill>
                  <a:srgbClr val="2459D8"/>
                </a:solidFill>
                <a:latin typeface="Courier New" pitchFamily="34" charset="0"/>
                <a:ea typeface="Courier New" pitchFamily="34" charset="-122"/>
                <a:cs typeface="Courier New" pitchFamily="34" charset="-120"/>
              </a:rPr>
              <a:t>~</a:t>
            </a:r>
            <a:endParaRPr lang="en-US" sz="3200" dirty="0"/>
          </a:p>
        </p:txBody>
      </p:sp>
      <p:sp>
        <p:nvSpPr>
          <p:cNvPr id="16" name="Text 13"/>
          <p:cNvSpPr txBox="1"/>
          <p:nvPr/>
        </p:nvSpPr>
        <p:spPr>
          <a:xfrm>
            <a:off x="4407408" y="3291840"/>
            <a:ext cx="1463040" cy="868680"/>
          </a:xfrm>
          <a:prstGeom prst="rect">
            <a:avLst/>
          </a:prstGeom>
          <a:noFill/>
          <a:ln/>
        </p:spPr>
        <p:txBody>
          <a:bodyPr wrap="square" lIns="0" tIns="0" rIns="0" bIns="0" rtlCol="0" anchor="ctr"/>
          <a:lstStyle/>
          <a:p>
            <a:pPr indent="0" marL="0">
              <a:buNone/>
            </a:pPr>
            <a:r>
              <a:rPr lang="en-US" sz="1450" dirty="0">
                <a:solidFill>
                  <a:srgbClr val="12213A"/>
                </a:solidFill>
                <a:latin typeface="Calibri" pitchFamily="34" charset="0"/>
                <a:ea typeface="Calibri" pitchFamily="34" charset="-122"/>
                <a:cs typeface="Calibri" pitchFamily="34" charset="-120"/>
              </a:rPr>
              <a:t>your home: /home/player</a:t>
            </a:r>
            <a:endParaRPr lang="en-US" sz="1450" dirty="0"/>
          </a:p>
        </p:txBody>
      </p:sp>
      <p:sp>
        <p:nvSpPr>
          <p:cNvPr id="17" name="Shape 14"/>
          <p:cNvSpPr/>
          <p:nvPr/>
        </p:nvSpPr>
        <p:spPr>
          <a:xfrm>
            <a:off x="6163056" y="3200400"/>
            <a:ext cx="2624328" cy="1051560"/>
          </a:xfrm>
          <a:prstGeom prst="roundRect">
            <a:avLst>
              <a:gd name="adj" fmla="val 8696"/>
            </a:avLst>
          </a:prstGeom>
          <a:solidFill>
            <a:srgbClr val="F1F5FB"/>
          </a:solidFill>
          <a:ln/>
        </p:spPr>
      </p:sp>
      <p:sp>
        <p:nvSpPr>
          <p:cNvPr id="18" name="Text 15"/>
          <p:cNvSpPr txBox="1"/>
          <p:nvPr/>
        </p:nvSpPr>
        <p:spPr>
          <a:xfrm>
            <a:off x="6391656" y="3291840"/>
            <a:ext cx="822960" cy="868680"/>
          </a:xfrm>
          <a:prstGeom prst="rect">
            <a:avLst/>
          </a:prstGeom>
          <a:noFill/>
          <a:ln/>
        </p:spPr>
        <p:txBody>
          <a:bodyPr wrap="square" lIns="0" tIns="0" rIns="0" bIns="0" rtlCol="0" anchor="ctr"/>
          <a:lstStyle/>
          <a:p>
            <a:pPr indent="0" marL="0">
              <a:buNone/>
            </a:pPr>
            <a:r>
              <a:rPr lang="en-US" sz="3200" b="1" dirty="0">
                <a:solidFill>
                  <a:srgbClr val="7448D4"/>
                </a:solidFill>
                <a:latin typeface="Courier New" pitchFamily="34" charset="0"/>
                <a:ea typeface="Courier New" pitchFamily="34" charset="-122"/>
                <a:cs typeface="Courier New" pitchFamily="34" charset="-120"/>
              </a:rPr>
              <a:t>.</a:t>
            </a:r>
            <a:endParaRPr lang="en-US" sz="3200" dirty="0"/>
          </a:p>
        </p:txBody>
      </p:sp>
      <p:sp>
        <p:nvSpPr>
          <p:cNvPr id="19" name="Text 16"/>
          <p:cNvSpPr txBox="1"/>
          <p:nvPr/>
        </p:nvSpPr>
        <p:spPr>
          <a:xfrm>
            <a:off x="7214616" y="3291840"/>
            <a:ext cx="1463040" cy="868680"/>
          </a:xfrm>
          <a:prstGeom prst="rect">
            <a:avLst/>
          </a:prstGeom>
          <a:noFill/>
          <a:ln/>
        </p:spPr>
        <p:txBody>
          <a:bodyPr wrap="square" lIns="0" tIns="0" rIns="0" bIns="0" rtlCol="0" anchor="ctr"/>
          <a:lstStyle/>
          <a:p>
            <a:pPr indent="0" marL="0">
              <a:buNone/>
            </a:pPr>
            <a:r>
              <a:rPr lang="en-US" sz="1450" dirty="0">
                <a:solidFill>
                  <a:srgbClr val="12213A"/>
                </a:solidFill>
                <a:latin typeface="Calibri" pitchFamily="34" charset="0"/>
                <a:ea typeface="Calibri" pitchFamily="34" charset="-122"/>
                <a:cs typeface="Calibri" pitchFamily="34" charset="-120"/>
              </a:rPr>
              <a:t>right here</a:t>
            </a:r>
            <a:endParaRPr lang="en-US" sz="1450" dirty="0"/>
          </a:p>
        </p:txBody>
      </p:sp>
      <p:sp>
        <p:nvSpPr>
          <p:cNvPr id="20" name="Shape 17"/>
          <p:cNvSpPr/>
          <p:nvPr/>
        </p:nvSpPr>
        <p:spPr>
          <a:xfrm>
            <a:off x="8970264" y="3200400"/>
            <a:ext cx="2624328" cy="1051560"/>
          </a:xfrm>
          <a:prstGeom prst="roundRect">
            <a:avLst>
              <a:gd name="adj" fmla="val 8696"/>
            </a:avLst>
          </a:prstGeom>
          <a:solidFill>
            <a:srgbClr val="F1F5FB"/>
          </a:solidFill>
          <a:ln/>
        </p:spPr>
      </p:sp>
      <p:sp>
        <p:nvSpPr>
          <p:cNvPr id="21" name="Text 18"/>
          <p:cNvSpPr txBox="1"/>
          <p:nvPr/>
        </p:nvSpPr>
        <p:spPr>
          <a:xfrm>
            <a:off x="9198864" y="3291840"/>
            <a:ext cx="822960" cy="868680"/>
          </a:xfrm>
          <a:prstGeom prst="rect">
            <a:avLst/>
          </a:prstGeom>
          <a:noFill/>
          <a:ln/>
        </p:spPr>
        <p:txBody>
          <a:bodyPr wrap="square" lIns="0" tIns="0" rIns="0" bIns="0" rtlCol="0" anchor="ctr"/>
          <a:lstStyle/>
          <a:p>
            <a:pPr indent="0" marL="0">
              <a:buNone/>
            </a:pPr>
            <a:r>
              <a:rPr lang="en-US" sz="3200" b="1" dirty="0">
                <a:solidFill>
                  <a:srgbClr val="D1416B"/>
                </a:solidFill>
                <a:latin typeface="Courier New" pitchFamily="34" charset="0"/>
                <a:ea typeface="Courier New" pitchFamily="34" charset="-122"/>
                <a:cs typeface="Courier New" pitchFamily="34" charset="-120"/>
              </a:rPr>
              <a:t>..</a:t>
            </a:r>
            <a:endParaRPr lang="en-US" sz="3200" dirty="0"/>
          </a:p>
        </p:txBody>
      </p:sp>
      <p:sp>
        <p:nvSpPr>
          <p:cNvPr id="22" name="Text 19"/>
          <p:cNvSpPr txBox="1"/>
          <p:nvPr/>
        </p:nvSpPr>
        <p:spPr>
          <a:xfrm>
            <a:off x="10021824" y="3291840"/>
            <a:ext cx="1463040" cy="868680"/>
          </a:xfrm>
          <a:prstGeom prst="rect">
            <a:avLst/>
          </a:prstGeom>
          <a:noFill/>
          <a:ln/>
        </p:spPr>
        <p:txBody>
          <a:bodyPr wrap="square" lIns="0" tIns="0" rIns="0" bIns="0" rtlCol="0" anchor="ctr"/>
          <a:lstStyle/>
          <a:p>
            <a:pPr indent="0" marL="0">
              <a:buNone/>
            </a:pPr>
            <a:r>
              <a:rPr lang="en-US" sz="1450" dirty="0">
                <a:solidFill>
                  <a:srgbClr val="12213A"/>
                </a:solidFill>
                <a:latin typeface="Calibri" pitchFamily="34" charset="0"/>
                <a:ea typeface="Calibri" pitchFamily="34" charset="-122"/>
                <a:cs typeface="Calibri" pitchFamily="34" charset="-120"/>
              </a:rPr>
              <a:t>one level up</a:t>
            </a:r>
            <a:endParaRPr lang="en-US" sz="1450" dirty="0"/>
          </a:p>
        </p:txBody>
      </p:sp>
      <p:sp>
        <p:nvSpPr>
          <p:cNvPr id="23" name="Shape 20"/>
          <p:cNvSpPr/>
          <p:nvPr/>
        </p:nvSpPr>
        <p:spPr>
          <a:xfrm>
            <a:off x="548640" y="4480560"/>
            <a:ext cx="3566160" cy="1417320"/>
          </a:xfrm>
          <a:prstGeom prst="roundRect">
            <a:avLst>
              <a:gd name="adj" fmla="val 6452"/>
            </a:avLst>
          </a:prstGeom>
          <a:solidFill>
            <a:srgbClr val="F1F5FB"/>
          </a:solidFill>
          <a:ln/>
        </p:spPr>
      </p:sp>
      <p:sp>
        <p:nvSpPr>
          <p:cNvPr id="24" name="Text 21"/>
          <p:cNvSpPr txBox="1"/>
          <p:nvPr/>
        </p:nvSpPr>
        <p:spPr>
          <a:xfrm>
            <a:off x="777240" y="4572000"/>
            <a:ext cx="3108960" cy="365760"/>
          </a:xfrm>
          <a:prstGeom prst="rect">
            <a:avLst/>
          </a:prstGeom>
          <a:noFill/>
          <a:ln/>
        </p:spPr>
        <p:txBody>
          <a:bodyPr wrap="square" lIns="0" tIns="0" rIns="0" bIns="0" rtlCol="0" anchor="t"/>
          <a:lstStyle/>
          <a:p>
            <a:pPr indent="0" marL="0">
              <a:buNone/>
            </a:pPr>
            <a:r>
              <a:rPr lang="en-US" sz="1600" b="1" dirty="0">
                <a:solidFill>
                  <a:srgbClr val="12213A"/>
                </a:solidFill>
                <a:latin typeface="Calibri" pitchFamily="34" charset="0"/>
                <a:ea typeface="Calibri" pitchFamily="34" charset="-122"/>
                <a:cs typeface="Calibri" pitchFamily="34" charset="-120"/>
              </a:rPr>
              <a:t>Absolute</a:t>
            </a:r>
            <a:endParaRPr lang="en-US" sz="1600" dirty="0"/>
          </a:p>
        </p:txBody>
      </p:sp>
      <p:sp>
        <p:nvSpPr>
          <p:cNvPr id="25" name="Text 22"/>
          <p:cNvSpPr txBox="1"/>
          <p:nvPr/>
        </p:nvSpPr>
        <p:spPr>
          <a:xfrm>
            <a:off x="777240" y="4956048"/>
            <a:ext cx="3200400" cy="365760"/>
          </a:xfrm>
          <a:prstGeom prst="rect">
            <a:avLst/>
          </a:prstGeom>
          <a:noFill/>
          <a:ln/>
        </p:spPr>
        <p:txBody>
          <a:bodyPr wrap="square" lIns="0" tIns="0" rIns="0" bIns="0" rtlCol="0" anchor="t"/>
          <a:lstStyle/>
          <a:p>
            <a:pPr indent="0" marL="0">
              <a:buNone/>
            </a:pPr>
            <a:r>
              <a:rPr lang="en-US" sz="1250" b="1" dirty="0">
                <a:solidFill>
                  <a:srgbClr val="2459D8"/>
                </a:solidFill>
                <a:latin typeface="Courier New" pitchFamily="34" charset="0"/>
                <a:ea typeface="Courier New" pitchFamily="34" charset="-122"/>
                <a:cs typeface="Courier New" pitchFamily="34" charset="-120"/>
              </a:rPr>
              <a:t>cd /home/player/mission1/town</a:t>
            </a:r>
            <a:endParaRPr lang="en-US" sz="1250" dirty="0"/>
          </a:p>
        </p:txBody>
      </p:sp>
      <p:sp>
        <p:nvSpPr>
          <p:cNvPr id="26" name="Text 23"/>
          <p:cNvSpPr txBox="1"/>
          <p:nvPr/>
        </p:nvSpPr>
        <p:spPr>
          <a:xfrm>
            <a:off x="777240" y="5349240"/>
            <a:ext cx="3200400" cy="41148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Starts at /. Works from anywhere.</a:t>
            </a:r>
            <a:endParaRPr lang="en-US" sz="1300" dirty="0"/>
          </a:p>
        </p:txBody>
      </p:sp>
      <p:sp>
        <p:nvSpPr>
          <p:cNvPr id="27" name="Shape 24"/>
          <p:cNvSpPr/>
          <p:nvPr/>
        </p:nvSpPr>
        <p:spPr>
          <a:xfrm>
            <a:off x="4306824" y="4480560"/>
            <a:ext cx="3566160" cy="1417320"/>
          </a:xfrm>
          <a:prstGeom prst="roundRect">
            <a:avLst>
              <a:gd name="adj" fmla="val 6452"/>
            </a:avLst>
          </a:prstGeom>
          <a:solidFill>
            <a:srgbClr val="F1F5FB"/>
          </a:solidFill>
          <a:ln/>
        </p:spPr>
      </p:sp>
      <p:sp>
        <p:nvSpPr>
          <p:cNvPr id="28" name="Text 25"/>
          <p:cNvSpPr txBox="1"/>
          <p:nvPr/>
        </p:nvSpPr>
        <p:spPr>
          <a:xfrm>
            <a:off x="4535424" y="4572000"/>
            <a:ext cx="3108960" cy="365760"/>
          </a:xfrm>
          <a:prstGeom prst="rect">
            <a:avLst/>
          </a:prstGeom>
          <a:noFill/>
          <a:ln/>
        </p:spPr>
        <p:txBody>
          <a:bodyPr wrap="square" lIns="0" tIns="0" rIns="0" bIns="0" rtlCol="0" anchor="t"/>
          <a:lstStyle/>
          <a:p>
            <a:pPr indent="0" marL="0">
              <a:buNone/>
            </a:pPr>
            <a:r>
              <a:rPr lang="en-US" sz="1600" b="1" dirty="0">
                <a:solidFill>
                  <a:srgbClr val="12213A"/>
                </a:solidFill>
                <a:latin typeface="Calibri" pitchFamily="34" charset="0"/>
                <a:ea typeface="Calibri" pitchFamily="34" charset="-122"/>
                <a:cs typeface="Calibri" pitchFamily="34" charset="-120"/>
              </a:rPr>
              <a:t>Relative</a:t>
            </a:r>
            <a:endParaRPr lang="en-US" sz="1600" dirty="0"/>
          </a:p>
        </p:txBody>
      </p:sp>
      <p:sp>
        <p:nvSpPr>
          <p:cNvPr id="29" name="Text 26"/>
          <p:cNvSpPr txBox="1"/>
          <p:nvPr/>
        </p:nvSpPr>
        <p:spPr>
          <a:xfrm>
            <a:off x="4535424" y="4956048"/>
            <a:ext cx="3200400" cy="365760"/>
          </a:xfrm>
          <a:prstGeom prst="rect">
            <a:avLst/>
          </a:prstGeom>
          <a:noFill/>
          <a:ln/>
        </p:spPr>
        <p:txBody>
          <a:bodyPr wrap="square" lIns="0" tIns="0" rIns="0" bIns="0" rtlCol="0" anchor="t"/>
          <a:lstStyle/>
          <a:p>
            <a:pPr indent="0" marL="0">
              <a:buNone/>
            </a:pPr>
            <a:r>
              <a:rPr lang="en-US" sz="1250" b="1" dirty="0">
                <a:solidFill>
                  <a:srgbClr val="2459D8"/>
                </a:solidFill>
                <a:latin typeface="Courier New" pitchFamily="34" charset="0"/>
                <a:ea typeface="Courier New" pitchFamily="34" charset="-122"/>
                <a:cs typeface="Courier New" pitchFamily="34" charset="-120"/>
              </a:rPr>
              <a:t>cd mission1/town</a:t>
            </a:r>
            <a:endParaRPr lang="en-US" sz="1250" dirty="0"/>
          </a:p>
        </p:txBody>
      </p:sp>
      <p:sp>
        <p:nvSpPr>
          <p:cNvPr id="30" name="Text 27"/>
          <p:cNvSpPr txBox="1"/>
          <p:nvPr/>
        </p:nvSpPr>
        <p:spPr>
          <a:xfrm>
            <a:off x="4535424" y="5349240"/>
            <a:ext cx="3200400" cy="41148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Starts where you are (here: home).</a:t>
            </a:r>
            <a:endParaRPr lang="en-US" sz="1300" dirty="0"/>
          </a:p>
        </p:txBody>
      </p:sp>
      <p:sp>
        <p:nvSpPr>
          <p:cNvPr id="31" name="Shape 28"/>
          <p:cNvSpPr/>
          <p:nvPr/>
        </p:nvSpPr>
        <p:spPr>
          <a:xfrm>
            <a:off x="8065008" y="4480560"/>
            <a:ext cx="3566160" cy="1417320"/>
          </a:xfrm>
          <a:prstGeom prst="roundRect">
            <a:avLst>
              <a:gd name="adj" fmla="val 6452"/>
            </a:avLst>
          </a:prstGeom>
          <a:solidFill>
            <a:srgbClr val="F1F5FB"/>
          </a:solidFill>
          <a:ln/>
        </p:spPr>
      </p:sp>
      <p:sp>
        <p:nvSpPr>
          <p:cNvPr id="32" name="Text 29"/>
          <p:cNvSpPr txBox="1"/>
          <p:nvPr/>
        </p:nvSpPr>
        <p:spPr>
          <a:xfrm>
            <a:off x="8293608" y="4572000"/>
            <a:ext cx="3108960" cy="365760"/>
          </a:xfrm>
          <a:prstGeom prst="rect">
            <a:avLst/>
          </a:prstGeom>
          <a:noFill/>
          <a:ln/>
        </p:spPr>
        <p:txBody>
          <a:bodyPr wrap="square" lIns="0" tIns="0" rIns="0" bIns="0" rtlCol="0" anchor="t"/>
          <a:lstStyle/>
          <a:p>
            <a:pPr indent="0" marL="0">
              <a:buNone/>
            </a:pPr>
            <a:r>
              <a:rPr lang="en-US" sz="1600" b="1" dirty="0">
                <a:solidFill>
                  <a:srgbClr val="12213A"/>
                </a:solidFill>
                <a:latin typeface="Calibri" pitchFamily="34" charset="0"/>
                <a:ea typeface="Calibri" pitchFamily="34" charset="-122"/>
                <a:cs typeface="Calibri" pitchFamily="34" charset="-120"/>
              </a:rPr>
              <a:t>From home</a:t>
            </a:r>
            <a:endParaRPr lang="en-US" sz="1600" dirty="0"/>
          </a:p>
        </p:txBody>
      </p:sp>
      <p:sp>
        <p:nvSpPr>
          <p:cNvPr id="33" name="Text 30"/>
          <p:cNvSpPr txBox="1"/>
          <p:nvPr/>
        </p:nvSpPr>
        <p:spPr>
          <a:xfrm>
            <a:off x="8293608" y="4956048"/>
            <a:ext cx="3200400" cy="365760"/>
          </a:xfrm>
          <a:prstGeom prst="rect">
            <a:avLst/>
          </a:prstGeom>
          <a:noFill/>
          <a:ln/>
        </p:spPr>
        <p:txBody>
          <a:bodyPr wrap="square" lIns="0" tIns="0" rIns="0" bIns="0" rtlCol="0" anchor="t"/>
          <a:lstStyle/>
          <a:p>
            <a:pPr indent="0" marL="0">
              <a:buNone/>
            </a:pPr>
            <a:r>
              <a:rPr lang="en-US" sz="1250" b="1" dirty="0">
                <a:solidFill>
                  <a:srgbClr val="2459D8"/>
                </a:solidFill>
                <a:latin typeface="Courier New" pitchFamily="34" charset="0"/>
                <a:ea typeface="Courier New" pitchFamily="34" charset="-122"/>
                <a:cs typeface="Courier New" pitchFamily="34" charset="-120"/>
              </a:rPr>
              <a:t>cd ~/mission1/town</a:t>
            </a:r>
            <a:endParaRPr lang="en-US" sz="1250" dirty="0"/>
          </a:p>
        </p:txBody>
      </p:sp>
      <p:sp>
        <p:nvSpPr>
          <p:cNvPr id="34" name="Text 31"/>
          <p:cNvSpPr txBox="1"/>
          <p:nvPr/>
        </p:nvSpPr>
        <p:spPr>
          <a:xfrm>
            <a:off x="8293608" y="5349240"/>
            <a:ext cx="3200400" cy="41148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Starts at ~. Works from anywhere.</a:t>
            </a:r>
            <a:endParaRPr lang="en-US" sz="1300" dirty="0"/>
          </a:p>
        </p:txBody>
      </p:sp>
      <p:sp>
        <p:nvSpPr>
          <p:cNvPr id="35" name="Text 32"/>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18 / 79</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Moving around: pwd and cd</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cd /etc   cd ..   cd ~</a:t>
            </a:r>
            <a:endParaRPr lang="en-US" sz="1300" dirty="0"/>
          </a:p>
        </p:txBody>
      </p:sp>
      <p:sp>
        <p:nvSpPr>
          <p:cNvPr id="8" name="Shape 5"/>
          <p:cNvSpPr/>
          <p:nvPr/>
        </p:nvSpPr>
        <p:spPr>
          <a:xfrm flipH="1">
            <a:off x="1234440" y="1920240"/>
            <a:ext cx="1417320" cy="411480"/>
          </a:xfrm>
          <a:prstGeom prst="line">
            <a:avLst/>
          </a:prstGeom>
          <a:noFill/>
          <a:ln w="19050">
            <a:solidFill>
              <a:srgbClr val="9AA8BF"/>
            </a:solidFill>
            <a:prstDash val="solid"/>
          </a:ln>
        </p:spPr>
      </p:sp>
      <p:sp>
        <p:nvSpPr>
          <p:cNvPr id="9" name="Shape 6"/>
          <p:cNvSpPr/>
          <p:nvPr/>
        </p:nvSpPr>
        <p:spPr>
          <a:xfrm>
            <a:off x="2651760" y="1920240"/>
            <a:ext cx="0" cy="411480"/>
          </a:xfrm>
          <a:prstGeom prst="line">
            <a:avLst/>
          </a:prstGeom>
          <a:noFill/>
          <a:ln w="19050">
            <a:solidFill>
              <a:srgbClr val="9AA8BF"/>
            </a:solidFill>
            <a:prstDash val="solid"/>
          </a:ln>
        </p:spPr>
      </p:sp>
      <p:sp>
        <p:nvSpPr>
          <p:cNvPr id="10" name="Shape 7"/>
          <p:cNvSpPr/>
          <p:nvPr/>
        </p:nvSpPr>
        <p:spPr>
          <a:xfrm>
            <a:off x="2651760" y="1920240"/>
            <a:ext cx="1417320" cy="411480"/>
          </a:xfrm>
          <a:prstGeom prst="line">
            <a:avLst/>
          </a:prstGeom>
          <a:noFill/>
          <a:ln w="19050">
            <a:solidFill>
              <a:srgbClr val="9AA8BF"/>
            </a:solidFill>
            <a:prstDash val="solid"/>
          </a:ln>
        </p:spPr>
      </p:sp>
      <p:sp>
        <p:nvSpPr>
          <p:cNvPr id="11" name="Shape 8"/>
          <p:cNvSpPr/>
          <p:nvPr/>
        </p:nvSpPr>
        <p:spPr>
          <a:xfrm>
            <a:off x="2651760" y="2743200"/>
            <a:ext cx="0" cy="320040"/>
          </a:xfrm>
          <a:prstGeom prst="line">
            <a:avLst/>
          </a:prstGeom>
          <a:noFill/>
          <a:ln w="19050">
            <a:solidFill>
              <a:srgbClr val="9AA8BF"/>
            </a:solidFill>
            <a:prstDash val="solid"/>
          </a:ln>
        </p:spPr>
      </p:sp>
      <p:sp>
        <p:nvSpPr>
          <p:cNvPr id="12" name="Shape 9"/>
          <p:cNvSpPr/>
          <p:nvPr/>
        </p:nvSpPr>
        <p:spPr>
          <a:xfrm>
            <a:off x="2651760" y="3474720"/>
            <a:ext cx="0" cy="320040"/>
          </a:xfrm>
          <a:prstGeom prst="line">
            <a:avLst/>
          </a:prstGeom>
          <a:noFill/>
          <a:ln w="19050">
            <a:solidFill>
              <a:srgbClr val="9AA8BF"/>
            </a:solidFill>
            <a:prstDash val="solid"/>
          </a:ln>
        </p:spPr>
      </p:sp>
      <p:sp>
        <p:nvSpPr>
          <p:cNvPr id="13" name="Shape 10"/>
          <p:cNvSpPr/>
          <p:nvPr/>
        </p:nvSpPr>
        <p:spPr>
          <a:xfrm>
            <a:off x="2286000" y="1508760"/>
            <a:ext cx="731520" cy="420624"/>
          </a:xfrm>
          <a:prstGeom prst="roundRect">
            <a:avLst>
              <a:gd name="adj" fmla="val 17391"/>
            </a:avLst>
          </a:prstGeom>
          <a:solidFill>
            <a:srgbClr val="0E1726"/>
          </a:solidFill>
          <a:ln/>
        </p:spPr>
      </p:sp>
      <p:sp>
        <p:nvSpPr>
          <p:cNvPr id="14" name="Text 11"/>
          <p:cNvSpPr txBox="1"/>
          <p:nvPr/>
        </p:nvSpPr>
        <p:spPr>
          <a:xfrm>
            <a:off x="2286000" y="1508760"/>
            <a:ext cx="73152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a:t>
            </a:r>
            <a:endParaRPr lang="en-US" sz="1400" dirty="0"/>
          </a:p>
        </p:txBody>
      </p:sp>
      <p:sp>
        <p:nvSpPr>
          <p:cNvPr id="15" name="Shape 12"/>
          <p:cNvSpPr/>
          <p:nvPr/>
        </p:nvSpPr>
        <p:spPr>
          <a:xfrm>
            <a:off x="685800" y="2331720"/>
            <a:ext cx="1097280" cy="420624"/>
          </a:xfrm>
          <a:prstGeom prst="roundRect">
            <a:avLst>
              <a:gd name="adj" fmla="val 17391"/>
            </a:avLst>
          </a:prstGeom>
          <a:solidFill>
            <a:srgbClr val="F1F5FB"/>
          </a:solidFill>
          <a:ln/>
        </p:spPr>
      </p:sp>
      <p:sp>
        <p:nvSpPr>
          <p:cNvPr id="16" name="Text 13"/>
          <p:cNvSpPr txBox="1"/>
          <p:nvPr/>
        </p:nvSpPr>
        <p:spPr>
          <a:xfrm>
            <a:off x="685800" y="2331720"/>
            <a:ext cx="1097280" cy="420624"/>
          </a:xfrm>
          <a:prstGeom prst="rect">
            <a:avLst/>
          </a:prstGeom>
          <a:noFill/>
          <a:ln/>
        </p:spPr>
        <p:txBody>
          <a:bodyPr wrap="square" lIns="0" tIns="0" rIns="0" bIns="0" rtlCol="0" anchor="ctr"/>
          <a:lstStyle/>
          <a:p>
            <a:pPr algn="ctr" indent="0" marL="0">
              <a:buNone/>
            </a:pPr>
            <a:r>
              <a:rPr lang="en-US" sz="1400" b="1" dirty="0">
                <a:solidFill>
                  <a:srgbClr val="12213A"/>
                </a:solidFill>
                <a:latin typeface="Courier New" pitchFamily="34" charset="0"/>
                <a:ea typeface="Courier New" pitchFamily="34" charset="-122"/>
                <a:cs typeface="Courier New" pitchFamily="34" charset="-120"/>
              </a:rPr>
              <a:t>etc</a:t>
            </a:r>
            <a:endParaRPr lang="en-US" sz="1400" dirty="0"/>
          </a:p>
        </p:txBody>
      </p:sp>
      <p:sp>
        <p:nvSpPr>
          <p:cNvPr id="17" name="Shape 14"/>
          <p:cNvSpPr/>
          <p:nvPr/>
        </p:nvSpPr>
        <p:spPr>
          <a:xfrm>
            <a:off x="2103120" y="2331720"/>
            <a:ext cx="1097280" cy="420624"/>
          </a:xfrm>
          <a:prstGeom prst="roundRect">
            <a:avLst>
              <a:gd name="adj" fmla="val 17391"/>
            </a:avLst>
          </a:prstGeom>
          <a:solidFill>
            <a:srgbClr val="F1F5FB"/>
          </a:solidFill>
          <a:ln/>
        </p:spPr>
      </p:sp>
      <p:sp>
        <p:nvSpPr>
          <p:cNvPr id="18" name="Text 15"/>
          <p:cNvSpPr txBox="1"/>
          <p:nvPr/>
        </p:nvSpPr>
        <p:spPr>
          <a:xfrm>
            <a:off x="2103120" y="2331720"/>
            <a:ext cx="1097280" cy="420624"/>
          </a:xfrm>
          <a:prstGeom prst="rect">
            <a:avLst/>
          </a:prstGeom>
          <a:noFill/>
          <a:ln/>
        </p:spPr>
        <p:txBody>
          <a:bodyPr wrap="square" lIns="0" tIns="0" rIns="0" bIns="0" rtlCol="0" anchor="ctr"/>
          <a:lstStyle/>
          <a:p>
            <a:pPr algn="ctr" indent="0" marL="0">
              <a:buNone/>
            </a:pPr>
            <a:r>
              <a:rPr lang="en-US" sz="1400" b="1" dirty="0">
                <a:solidFill>
                  <a:srgbClr val="12213A"/>
                </a:solidFill>
                <a:latin typeface="Courier New" pitchFamily="34" charset="0"/>
                <a:ea typeface="Courier New" pitchFamily="34" charset="-122"/>
                <a:cs typeface="Courier New" pitchFamily="34" charset="-120"/>
              </a:rPr>
              <a:t>home</a:t>
            </a:r>
            <a:endParaRPr lang="en-US" sz="1400" dirty="0"/>
          </a:p>
        </p:txBody>
      </p:sp>
      <p:sp>
        <p:nvSpPr>
          <p:cNvPr id="19" name="Shape 16"/>
          <p:cNvSpPr/>
          <p:nvPr/>
        </p:nvSpPr>
        <p:spPr>
          <a:xfrm>
            <a:off x="3520440" y="2331720"/>
            <a:ext cx="1097280" cy="420624"/>
          </a:xfrm>
          <a:prstGeom prst="roundRect">
            <a:avLst>
              <a:gd name="adj" fmla="val 17391"/>
            </a:avLst>
          </a:prstGeom>
          <a:solidFill>
            <a:srgbClr val="F1F5FB"/>
          </a:solidFill>
          <a:ln/>
        </p:spPr>
      </p:sp>
      <p:sp>
        <p:nvSpPr>
          <p:cNvPr id="20" name="Text 17"/>
          <p:cNvSpPr txBox="1"/>
          <p:nvPr/>
        </p:nvSpPr>
        <p:spPr>
          <a:xfrm>
            <a:off x="3520440" y="2331720"/>
            <a:ext cx="1097280" cy="420624"/>
          </a:xfrm>
          <a:prstGeom prst="rect">
            <a:avLst/>
          </a:prstGeom>
          <a:noFill/>
          <a:ln/>
        </p:spPr>
        <p:txBody>
          <a:bodyPr wrap="square" lIns="0" tIns="0" rIns="0" bIns="0" rtlCol="0" anchor="ctr"/>
          <a:lstStyle/>
          <a:p>
            <a:pPr algn="ctr" indent="0" marL="0">
              <a:buNone/>
            </a:pPr>
            <a:r>
              <a:rPr lang="en-US" sz="1400" b="1" dirty="0">
                <a:solidFill>
                  <a:srgbClr val="12213A"/>
                </a:solidFill>
                <a:latin typeface="Courier New" pitchFamily="34" charset="0"/>
                <a:ea typeface="Courier New" pitchFamily="34" charset="-122"/>
                <a:cs typeface="Courier New" pitchFamily="34" charset="-120"/>
              </a:rPr>
              <a:t>tmp</a:t>
            </a:r>
            <a:endParaRPr lang="en-US" sz="1400" dirty="0"/>
          </a:p>
        </p:txBody>
      </p:sp>
      <p:sp>
        <p:nvSpPr>
          <p:cNvPr id="21" name="Shape 18"/>
          <p:cNvSpPr/>
          <p:nvPr/>
        </p:nvSpPr>
        <p:spPr>
          <a:xfrm>
            <a:off x="1874520" y="3063240"/>
            <a:ext cx="1554480" cy="420624"/>
          </a:xfrm>
          <a:prstGeom prst="roundRect">
            <a:avLst>
              <a:gd name="adj" fmla="val 17391"/>
            </a:avLst>
          </a:prstGeom>
          <a:solidFill>
            <a:srgbClr val="F5A623"/>
          </a:solidFill>
          <a:ln/>
        </p:spPr>
      </p:sp>
      <p:sp>
        <p:nvSpPr>
          <p:cNvPr id="22" name="Text 19"/>
          <p:cNvSpPr txBox="1"/>
          <p:nvPr/>
        </p:nvSpPr>
        <p:spPr>
          <a:xfrm>
            <a:off x="1874520" y="3063240"/>
            <a:ext cx="1554480" cy="420624"/>
          </a:xfrm>
          <a:prstGeom prst="rect">
            <a:avLst/>
          </a:prstGeom>
          <a:noFill/>
          <a:ln/>
        </p:spPr>
        <p:txBody>
          <a:bodyPr wrap="square" lIns="0" tIns="0" rIns="0" bIns="0" rtlCol="0" anchor="ctr"/>
          <a:lstStyle/>
          <a:p>
            <a:pPr algn="ctr" indent="0" marL="0">
              <a:buNone/>
            </a:pPr>
            <a:r>
              <a:rPr lang="en-US" sz="1400" b="1" dirty="0">
                <a:solidFill>
                  <a:srgbClr val="12213A"/>
                </a:solidFill>
                <a:latin typeface="Courier New" pitchFamily="34" charset="0"/>
                <a:ea typeface="Courier New" pitchFamily="34" charset="-122"/>
                <a:cs typeface="Courier New" pitchFamily="34" charset="-120"/>
              </a:rPr>
              <a:t>player   ~</a:t>
            </a:r>
            <a:endParaRPr lang="en-US" sz="1400" dirty="0"/>
          </a:p>
        </p:txBody>
      </p:sp>
      <p:sp>
        <p:nvSpPr>
          <p:cNvPr id="23" name="Shape 20"/>
          <p:cNvSpPr/>
          <p:nvPr/>
        </p:nvSpPr>
        <p:spPr>
          <a:xfrm>
            <a:off x="1965960" y="3794760"/>
            <a:ext cx="1371600" cy="420624"/>
          </a:xfrm>
          <a:prstGeom prst="roundRect">
            <a:avLst>
              <a:gd name="adj" fmla="val 17391"/>
            </a:avLst>
          </a:prstGeom>
          <a:solidFill>
            <a:srgbClr val="17875A"/>
          </a:solidFill>
          <a:ln/>
        </p:spPr>
      </p:sp>
      <p:sp>
        <p:nvSpPr>
          <p:cNvPr id="24" name="Text 21"/>
          <p:cNvSpPr txBox="1"/>
          <p:nvPr/>
        </p:nvSpPr>
        <p:spPr>
          <a:xfrm>
            <a:off x="1965960" y="3794760"/>
            <a:ext cx="137160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mission1</a:t>
            </a:r>
            <a:endParaRPr lang="en-US" sz="1400" dirty="0"/>
          </a:p>
        </p:txBody>
      </p:sp>
      <p:sp>
        <p:nvSpPr>
          <p:cNvPr id="25" name="Text 22"/>
          <p:cNvSpPr txBox="1"/>
          <p:nvPr/>
        </p:nvSpPr>
        <p:spPr>
          <a:xfrm>
            <a:off x="2834640" y="3401568"/>
            <a:ext cx="2011680" cy="457200"/>
          </a:xfrm>
          <a:prstGeom prst="rect">
            <a:avLst/>
          </a:prstGeom>
          <a:noFill/>
          <a:ln/>
        </p:spPr>
        <p:txBody>
          <a:bodyPr wrap="square" lIns="0" tIns="0" rIns="0" bIns="0" rtlCol="0" anchor="ctr"/>
          <a:lstStyle/>
          <a:p>
            <a:pPr indent="0" marL="0">
              <a:buNone/>
            </a:pPr>
            <a:r>
              <a:rPr lang="en-US" sz="1100" b="1" dirty="0">
                <a:solidFill>
                  <a:srgbClr val="56657E"/>
                </a:solidFill>
                <a:latin typeface="Courier New" pitchFamily="34" charset="0"/>
                <a:ea typeface="Courier New" pitchFamily="34" charset="-122"/>
                <a:cs typeface="Courier New" pitchFamily="34" charset="-120"/>
              </a:rPr>
              <a:t>↓ cd mission1</a:t>
            </a:r>
            <a:endParaRPr lang="en-US" sz="1100" dirty="0"/>
          </a:p>
          <a:p>
            <a:pPr indent="0" marL="0">
              <a:buNone/>
            </a:pPr>
            <a:r>
              <a:rPr lang="en-US" sz="1100" b="1" dirty="0">
                <a:solidFill>
                  <a:srgbClr val="56657E"/>
                </a:solidFill>
                <a:latin typeface="Courier New" pitchFamily="34" charset="0"/>
                <a:ea typeface="Courier New" pitchFamily="34" charset="-122"/>
                <a:cs typeface="Courier New" pitchFamily="34" charset="-120"/>
              </a:rPr>
              <a:t>↑ cd ..</a:t>
            </a:r>
            <a:endParaRPr lang="en-US" sz="1100" dirty="0"/>
          </a:p>
        </p:txBody>
      </p:sp>
      <p:sp>
        <p:nvSpPr>
          <p:cNvPr id="26" name="Shape 23"/>
          <p:cNvSpPr/>
          <p:nvPr/>
        </p:nvSpPr>
        <p:spPr>
          <a:xfrm>
            <a:off x="548640" y="4434840"/>
            <a:ext cx="1600200" cy="365760"/>
          </a:xfrm>
          <a:prstGeom prst="roundRect">
            <a:avLst>
              <a:gd name="adj" fmla="val 20000"/>
            </a:avLst>
          </a:prstGeom>
          <a:solidFill>
            <a:srgbClr val="0E1726"/>
          </a:solidFill>
          <a:ln/>
        </p:spPr>
      </p:sp>
      <p:sp>
        <p:nvSpPr>
          <p:cNvPr id="27" name="Text 24"/>
          <p:cNvSpPr txBox="1"/>
          <p:nvPr/>
        </p:nvSpPr>
        <p:spPr>
          <a:xfrm>
            <a:off x="548640" y="4434840"/>
            <a:ext cx="16002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pwd</a:t>
            </a:r>
            <a:endParaRPr lang="en-US" sz="1400" dirty="0"/>
          </a:p>
        </p:txBody>
      </p:sp>
      <p:sp>
        <p:nvSpPr>
          <p:cNvPr id="28" name="Text 25"/>
          <p:cNvSpPr txBox="1"/>
          <p:nvPr/>
        </p:nvSpPr>
        <p:spPr>
          <a:xfrm>
            <a:off x="548640" y="4800600"/>
            <a:ext cx="1600200" cy="27432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where am I?</a:t>
            </a:r>
            <a:endParaRPr lang="en-US" sz="1200" dirty="0"/>
          </a:p>
        </p:txBody>
      </p:sp>
      <p:sp>
        <p:nvSpPr>
          <p:cNvPr id="29" name="Shape 26"/>
          <p:cNvSpPr/>
          <p:nvPr/>
        </p:nvSpPr>
        <p:spPr>
          <a:xfrm>
            <a:off x="2286000" y="4434840"/>
            <a:ext cx="1600200" cy="365760"/>
          </a:xfrm>
          <a:prstGeom prst="roundRect">
            <a:avLst>
              <a:gd name="adj" fmla="val 20000"/>
            </a:avLst>
          </a:prstGeom>
          <a:solidFill>
            <a:srgbClr val="0E1726"/>
          </a:solidFill>
          <a:ln/>
        </p:spPr>
      </p:sp>
      <p:sp>
        <p:nvSpPr>
          <p:cNvPr id="30" name="Text 27"/>
          <p:cNvSpPr txBox="1"/>
          <p:nvPr/>
        </p:nvSpPr>
        <p:spPr>
          <a:xfrm>
            <a:off x="2286000" y="4434840"/>
            <a:ext cx="16002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ls</a:t>
            </a:r>
            <a:endParaRPr lang="en-US" sz="1400" dirty="0"/>
          </a:p>
        </p:txBody>
      </p:sp>
      <p:sp>
        <p:nvSpPr>
          <p:cNvPr id="31" name="Text 28"/>
          <p:cNvSpPr txBox="1"/>
          <p:nvPr/>
        </p:nvSpPr>
        <p:spPr>
          <a:xfrm>
            <a:off x="2286000" y="4800600"/>
            <a:ext cx="1600200" cy="27432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what's here?</a:t>
            </a:r>
            <a:endParaRPr lang="en-US" sz="1200" dirty="0"/>
          </a:p>
        </p:txBody>
      </p:sp>
      <p:sp>
        <p:nvSpPr>
          <p:cNvPr id="32" name="Shape 29"/>
          <p:cNvSpPr/>
          <p:nvPr/>
        </p:nvSpPr>
        <p:spPr>
          <a:xfrm>
            <a:off x="4023360" y="4434840"/>
            <a:ext cx="1600200" cy="365760"/>
          </a:xfrm>
          <a:prstGeom prst="roundRect">
            <a:avLst>
              <a:gd name="adj" fmla="val 20000"/>
            </a:avLst>
          </a:prstGeom>
          <a:solidFill>
            <a:srgbClr val="0E1726"/>
          </a:solidFill>
          <a:ln/>
        </p:spPr>
      </p:sp>
      <p:sp>
        <p:nvSpPr>
          <p:cNvPr id="33" name="Text 30"/>
          <p:cNvSpPr txBox="1"/>
          <p:nvPr/>
        </p:nvSpPr>
        <p:spPr>
          <a:xfrm>
            <a:off x="4023360" y="4434840"/>
            <a:ext cx="16002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cd NAME</a:t>
            </a:r>
            <a:endParaRPr lang="en-US" sz="1400" dirty="0"/>
          </a:p>
        </p:txBody>
      </p:sp>
      <p:sp>
        <p:nvSpPr>
          <p:cNvPr id="34" name="Text 31"/>
          <p:cNvSpPr txBox="1"/>
          <p:nvPr/>
        </p:nvSpPr>
        <p:spPr>
          <a:xfrm>
            <a:off x="4023360" y="4800600"/>
            <a:ext cx="1600200" cy="27432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go in</a:t>
            </a:r>
            <a:endParaRPr lang="en-US" sz="1200" dirty="0"/>
          </a:p>
        </p:txBody>
      </p:sp>
      <p:sp>
        <p:nvSpPr>
          <p:cNvPr id="35" name="Shape 32"/>
          <p:cNvSpPr/>
          <p:nvPr/>
        </p:nvSpPr>
        <p:spPr>
          <a:xfrm>
            <a:off x="548640" y="5148072"/>
            <a:ext cx="1600200" cy="365760"/>
          </a:xfrm>
          <a:prstGeom prst="roundRect">
            <a:avLst>
              <a:gd name="adj" fmla="val 20000"/>
            </a:avLst>
          </a:prstGeom>
          <a:solidFill>
            <a:srgbClr val="0E1726"/>
          </a:solidFill>
          <a:ln/>
        </p:spPr>
      </p:sp>
      <p:sp>
        <p:nvSpPr>
          <p:cNvPr id="36" name="Text 33"/>
          <p:cNvSpPr txBox="1"/>
          <p:nvPr/>
        </p:nvSpPr>
        <p:spPr>
          <a:xfrm>
            <a:off x="548640" y="5148072"/>
            <a:ext cx="16002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cd ..</a:t>
            </a:r>
            <a:endParaRPr lang="en-US" sz="1400" dirty="0"/>
          </a:p>
        </p:txBody>
      </p:sp>
      <p:sp>
        <p:nvSpPr>
          <p:cNvPr id="37" name="Text 34"/>
          <p:cNvSpPr txBox="1"/>
          <p:nvPr/>
        </p:nvSpPr>
        <p:spPr>
          <a:xfrm>
            <a:off x="548640" y="5513832"/>
            <a:ext cx="1600200" cy="27432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go up</a:t>
            </a:r>
            <a:endParaRPr lang="en-US" sz="1200" dirty="0"/>
          </a:p>
        </p:txBody>
      </p:sp>
      <p:sp>
        <p:nvSpPr>
          <p:cNvPr id="38" name="Shape 35"/>
          <p:cNvSpPr/>
          <p:nvPr/>
        </p:nvSpPr>
        <p:spPr>
          <a:xfrm>
            <a:off x="2286000" y="5148072"/>
            <a:ext cx="1600200" cy="365760"/>
          </a:xfrm>
          <a:prstGeom prst="roundRect">
            <a:avLst>
              <a:gd name="adj" fmla="val 20000"/>
            </a:avLst>
          </a:prstGeom>
          <a:solidFill>
            <a:srgbClr val="0E1726"/>
          </a:solidFill>
          <a:ln/>
        </p:spPr>
      </p:sp>
      <p:sp>
        <p:nvSpPr>
          <p:cNvPr id="39" name="Text 36"/>
          <p:cNvSpPr txBox="1"/>
          <p:nvPr/>
        </p:nvSpPr>
        <p:spPr>
          <a:xfrm>
            <a:off x="2286000" y="5148072"/>
            <a:ext cx="16002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cd ~</a:t>
            </a:r>
            <a:endParaRPr lang="en-US" sz="1400" dirty="0"/>
          </a:p>
        </p:txBody>
      </p:sp>
      <p:sp>
        <p:nvSpPr>
          <p:cNvPr id="40" name="Text 37"/>
          <p:cNvSpPr txBox="1"/>
          <p:nvPr/>
        </p:nvSpPr>
        <p:spPr>
          <a:xfrm>
            <a:off x="2286000" y="5513832"/>
            <a:ext cx="1600200" cy="27432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go home</a:t>
            </a:r>
            <a:endParaRPr lang="en-US" sz="1200" dirty="0"/>
          </a:p>
        </p:txBody>
      </p:sp>
      <p:sp>
        <p:nvSpPr>
          <p:cNvPr id="41" name="Shape 38"/>
          <p:cNvSpPr/>
          <p:nvPr/>
        </p:nvSpPr>
        <p:spPr>
          <a:xfrm>
            <a:off x="5669280" y="1463040"/>
            <a:ext cx="5943600" cy="4480560"/>
          </a:xfrm>
          <a:prstGeom prst="roundRect">
            <a:avLst>
              <a:gd name="adj" fmla="val 2041"/>
            </a:avLst>
          </a:prstGeom>
          <a:solidFill>
            <a:srgbClr val="0E1726"/>
          </a:solidFill>
          <a:ln/>
          <a:effectLst>
            <a:outerShdw sx="100000" sy="100000" kx="0" ky="0" algn="bl" rotWithShape="0" blurRad="127000" dist="38100" dir="5400000">
              <a:srgbClr val="12213A">
                <a:alpha val="22000"/>
              </a:srgbClr>
            </a:outerShdw>
          </a:effectLst>
        </p:spPr>
      </p:sp>
      <p:sp>
        <p:nvSpPr>
          <p:cNvPr id="42" name="Shape 39"/>
          <p:cNvSpPr/>
          <p:nvPr/>
        </p:nvSpPr>
        <p:spPr>
          <a:xfrm>
            <a:off x="5870448" y="1618488"/>
            <a:ext cx="118872" cy="118872"/>
          </a:xfrm>
          <a:prstGeom prst="ellipse">
            <a:avLst/>
          </a:prstGeom>
          <a:solidFill>
            <a:srgbClr val="E5534B"/>
          </a:solidFill>
          <a:ln/>
        </p:spPr>
      </p:sp>
      <p:sp>
        <p:nvSpPr>
          <p:cNvPr id="43" name="Shape 40"/>
          <p:cNvSpPr/>
          <p:nvPr/>
        </p:nvSpPr>
        <p:spPr>
          <a:xfrm>
            <a:off x="6071616" y="1618488"/>
            <a:ext cx="118872" cy="118872"/>
          </a:xfrm>
          <a:prstGeom prst="ellipse">
            <a:avLst/>
          </a:prstGeom>
          <a:solidFill>
            <a:srgbClr val="F5A623"/>
          </a:solidFill>
          <a:ln/>
        </p:spPr>
      </p:sp>
      <p:sp>
        <p:nvSpPr>
          <p:cNvPr id="44" name="Shape 41"/>
          <p:cNvSpPr/>
          <p:nvPr/>
        </p:nvSpPr>
        <p:spPr>
          <a:xfrm>
            <a:off x="6272784" y="1618488"/>
            <a:ext cx="118872" cy="118872"/>
          </a:xfrm>
          <a:prstGeom prst="ellipse">
            <a:avLst/>
          </a:prstGeom>
          <a:solidFill>
            <a:srgbClr val="46D39A"/>
          </a:solidFill>
          <a:ln/>
        </p:spPr>
      </p:sp>
      <p:sp>
        <p:nvSpPr>
          <p:cNvPr id="45" name="Text 42"/>
          <p:cNvSpPr txBox="1"/>
          <p:nvPr/>
        </p:nvSpPr>
        <p:spPr>
          <a:xfrm>
            <a:off x="5943600" y="1920240"/>
            <a:ext cx="5394960" cy="3886200"/>
          </a:xfrm>
          <a:prstGeom prst="rect">
            <a:avLst/>
          </a:prstGeom>
          <a:noFill/>
          <a:ln/>
        </p:spPr>
        <p:txBody>
          <a:bodyPr wrap="square" lIns="0" tIns="0" rIns="0" bIns="0" rtlCol="0" anchor="t"/>
          <a:lstStyle/>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pwd</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/home/player</a:t>
            </a:r>
            <a:endParaRPr lang="en-US" sz="1500" dirty="0"/>
          </a:p>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cd /etc</a:t>
            </a:r>
            <a:endParaRPr lang="en-US" sz="1500" dirty="0"/>
          </a:p>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pwd</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/etc</a:t>
            </a:r>
            <a:endParaRPr lang="en-US" sz="1500" dirty="0"/>
          </a:p>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cd ..</a:t>
            </a:r>
            <a:pPr indent="0" marL="0">
              <a:spcAft>
                <a:spcPts val="200"/>
              </a:spcAft>
              <a:buNone/>
            </a:pPr>
            <a:r>
              <a:rPr lang="en-US" sz="1500" dirty="0">
                <a:solidFill>
                  <a:srgbClr val="7F8FAD"/>
                </a:solidFill>
                <a:latin typeface="Courier New" pitchFamily="34" charset="0"/>
                <a:ea typeface="Courier New" pitchFamily="34" charset="-122"/>
                <a:cs typeface="Courier New" pitchFamily="34" charset="-120"/>
              </a:rPr>
              <a:t>   # up one level</a:t>
            </a:r>
            <a:endParaRPr lang="en-US" sz="1500" dirty="0"/>
          </a:p>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pwd</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a:t>
            </a:r>
            <a:endParaRPr lang="en-US" sz="1500" dirty="0"/>
          </a:p>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cd ~</a:t>
            </a:r>
            <a:pPr indent="0" marL="0">
              <a:spcAft>
                <a:spcPts val="200"/>
              </a:spcAft>
              <a:buNone/>
            </a:pPr>
            <a:r>
              <a:rPr lang="en-US" sz="1500" dirty="0">
                <a:solidFill>
                  <a:srgbClr val="7F8FAD"/>
                </a:solidFill>
                <a:latin typeface="Courier New" pitchFamily="34" charset="0"/>
                <a:ea typeface="Courier New" pitchFamily="34" charset="-122"/>
                <a:cs typeface="Courier New" pitchFamily="34" charset="-120"/>
              </a:rPr>
              <a:t>   # home again</a:t>
            </a:r>
            <a:endParaRPr lang="en-US" sz="1500" dirty="0"/>
          </a:p>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ls</a:t>
            </a:r>
            <a:pPr indent="0" marL="0">
              <a:spcAft>
                <a:spcPts val="200"/>
              </a:spcAft>
              <a:buNone/>
            </a:pPr>
            <a:r>
              <a:rPr lang="en-US" sz="1500" dirty="0">
                <a:solidFill>
                  <a:srgbClr val="7F8FAD"/>
                </a:solidFill>
                <a:latin typeface="Courier New" pitchFamily="34" charset="0"/>
                <a:ea typeface="Courier New" pitchFamily="34" charset="-122"/>
                <a:cs typeface="Courier New" pitchFamily="34" charset="-120"/>
              </a:rPr>
              <a:t>   # folders show in blue</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mission1  mission2  ...  mission10</a:t>
            </a:r>
            <a:endParaRPr lang="en-US" sz="1500" dirty="0"/>
          </a:p>
        </p:txBody>
      </p:sp>
      <p:sp>
        <p:nvSpPr>
          <p:cNvPr id="46" name="Text 43"/>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19 / 79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Looking inside folders: ls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ls -a ~</a:t>
            </a:r>
            <a:endParaRPr lang="en-US" sz="1300" dirty="0"/>
          </a:p>
        </p:txBody>
      </p:sp>
      <p:sp>
        <p:nvSpPr>
          <p:cNvPr id="8" name="Shape 5"/>
          <p:cNvSpPr/>
          <p:nvPr/>
        </p:nvSpPr>
        <p:spPr>
          <a:xfrm>
            <a:off x="548640" y="1645920"/>
            <a:ext cx="1737360" cy="457200"/>
          </a:xfrm>
          <a:prstGeom prst="roundRect">
            <a:avLst>
              <a:gd name="adj" fmla="val 16000"/>
            </a:avLst>
          </a:prstGeom>
          <a:solidFill>
            <a:srgbClr val="0E1726"/>
          </a:solidFill>
          <a:ln/>
        </p:spPr>
      </p:sp>
      <p:sp>
        <p:nvSpPr>
          <p:cNvPr id="9" name="Text 6"/>
          <p:cNvSpPr txBox="1"/>
          <p:nvPr/>
        </p:nvSpPr>
        <p:spPr>
          <a:xfrm>
            <a:off x="548640" y="1645920"/>
            <a:ext cx="17373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ls</a:t>
            </a:r>
            <a:endParaRPr lang="en-US" sz="1500" dirty="0"/>
          </a:p>
        </p:txBody>
      </p:sp>
      <p:sp>
        <p:nvSpPr>
          <p:cNvPr id="10" name="Text 7"/>
          <p:cNvSpPr txBox="1"/>
          <p:nvPr/>
        </p:nvSpPr>
        <p:spPr>
          <a:xfrm>
            <a:off x="2514600" y="1645920"/>
            <a:ext cx="342900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what is in this folder?</a:t>
            </a:r>
            <a:endParaRPr lang="en-US" sz="1700" dirty="0"/>
          </a:p>
        </p:txBody>
      </p:sp>
      <p:sp>
        <p:nvSpPr>
          <p:cNvPr id="11" name="Shape 8"/>
          <p:cNvSpPr/>
          <p:nvPr/>
        </p:nvSpPr>
        <p:spPr>
          <a:xfrm>
            <a:off x="548640" y="2423160"/>
            <a:ext cx="1737360" cy="457200"/>
          </a:xfrm>
          <a:prstGeom prst="roundRect">
            <a:avLst>
              <a:gd name="adj" fmla="val 16000"/>
            </a:avLst>
          </a:prstGeom>
          <a:solidFill>
            <a:srgbClr val="0E1726"/>
          </a:solidFill>
          <a:ln/>
        </p:spPr>
      </p:sp>
      <p:sp>
        <p:nvSpPr>
          <p:cNvPr id="12" name="Text 9"/>
          <p:cNvSpPr txBox="1"/>
          <p:nvPr/>
        </p:nvSpPr>
        <p:spPr>
          <a:xfrm>
            <a:off x="548640" y="2423160"/>
            <a:ext cx="17373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ls PATH</a:t>
            </a:r>
            <a:endParaRPr lang="en-US" sz="1500" dirty="0"/>
          </a:p>
        </p:txBody>
      </p:sp>
      <p:sp>
        <p:nvSpPr>
          <p:cNvPr id="13" name="Text 10"/>
          <p:cNvSpPr txBox="1"/>
          <p:nvPr/>
        </p:nvSpPr>
        <p:spPr>
          <a:xfrm>
            <a:off x="2514600" y="2423160"/>
            <a:ext cx="342900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look somewhere else, without moving</a:t>
            </a:r>
            <a:endParaRPr lang="en-US" sz="1700" dirty="0"/>
          </a:p>
        </p:txBody>
      </p:sp>
      <p:sp>
        <p:nvSpPr>
          <p:cNvPr id="14" name="Shape 11"/>
          <p:cNvSpPr/>
          <p:nvPr/>
        </p:nvSpPr>
        <p:spPr>
          <a:xfrm>
            <a:off x="548640" y="3200400"/>
            <a:ext cx="1737360" cy="457200"/>
          </a:xfrm>
          <a:prstGeom prst="roundRect">
            <a:avLst>
              <a:gd name="adj" fmla="val 16000"/>
            </a:avLst>
          </a:prstGeom>
          <a:solidFill>
            <a:srgbClr val="0E1726"/>
          </a:solidFill>
          <a:ln/>
        </p:spPr>
      </p:sp>
      <p:sp>
        <p:nvSpPr>
          <p:cNvPr id="15" name="Text 12"/>
          <p:cNvSpPr txBox="1"/>
          <p:nvPr/>
        </p:nvSpPr>
        <p:spPr>
          <a:xfrm>
            <a:off x="548640" y="3200400"/>
            <a:ext cx="17373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ls -a</a:t>
            </a:r>
            <a:endParaRPr lang="en-US" sz="1500" dirty="0"/>
          </a:p>
        </p:txBody>
      </p:sp>
      <p:sp>
        <p:nvSpPr>
          <p:cNvPr id="16" name="Text 13"/>
          <p:cNvSpPr txBox="1"/>
          <p:nvPr/>
        </p:nvSpPr>
        <p:spPr>
          <a:xfrm>
            <a:off x="2514600" y="3200400"/>
            <a:ext cx="342900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all, including hidden dot files</a:t>
            </a:r>
            <a:endParaRPr lang="en-US" sz="1700" dirty="0"/>
          </a:p>
        </p:txBody>
      </p:sp>
      <p:sp>
        <p:nvSpPr>
          <p:cNvPr id="17" name="Shape 14"/>
          <p:cNvSpPr/>
          <p:nvPr/>
        </p:nvSpPr>
        <p:spPr>
          <a:xfrm>
            <a:off x="548640" y="3977640"/>
            <a:ext cx="1737360" cy="457200"/>
          </a:xfrm>
          <a:prstGeom prst="roundRect">
            <a:avLst>
              <a:gd name="adj" fmla="val 16000"/>
            </a:avLst>
          </a:prstGeom>
          <a:solidFill>
            <a:srgbClr val="0E1726"/>
          </a:solidFill>
          <a:ln/>
        </p:spPr>
      </p:sp>
      <p:sp>
        <p:nvSpPr>
          <p:cNvPr id="18" name="Text 15"/>
          <p:cNvSpPr txBox="1"/>
          <p:nvPr/>
        </p:nvSpPr>
        <p:spPr>
          <a:xfrm>
            <a:off x="548640" y="3977640"/>
            <a:ext cx="17373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ls -l</a:t>
            </a:r>
            <a:endParaRPr lang="en-US" sz="1500" dirty="0"/>
          </a:p>
        </p:txBody>
      </p:sp>
      <p:sp>
        <p:nvSpPr>
          <p:cNvPr id="19" name="Text 16"/>
          <p:cNvSpPr txBox="1"/>
          <p:nvPr/>
        </p:nvSpPr>
        <p:spPr>
          <a:xfrm>
            <a:off x="2514600" y="3977640"/>
            <a:ext cx="342900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long: type, permissions, owner, size</a:t>
            </a:r>
            <a:endParaRPr lang="en-US" sz="1700" dirty="0"/>
          </a:p>
        </p:txBody>
      </p:sp>
      <p:sp>
        <p:nvSpPr>
          <p:cNvPr id="20" name="Shape 17"/>
          <p:cNvSpPr/>
          <p:nvPr/>
        </p:nvSpPr>
        <p:spPr>
          <a:xfrm>
            <a:off x="548640" y="4892040"/>
            <a:ext cx="5394960" cy="1005840"/>
          </a:xfrm>
          <a:prstGeom prst="roundRect">
            <a:avLst>
              <a:gd name="adj" fmla="val 9091"/>
            </a:avLst>
          </a:prstGeom>
          <a:solidFill>
            <a:srgbClr val="FFF4DC"/>
          </a:solidFill>
          <a:ln/>
        </p:spPr>
      </p:sp>
      <p:sp>
        <p:nvSpPr>
          <p:cNvPr id="21" name="Text 18"/>
          <p:cNvSpPr txBox="1"/>
          <p:nvPr/>
        </p:nvSpPr>
        <p:spPr>
          <a:xfrm>
            <a:off x="822960" y="4892040"/>
            <a:ext cx="4846320" cy="1005840"/>
          </a:xfrm>
          <a:prstGeom prst="rect">
            <a:avLst/>
          </a:prstGeom>
          <a:noFill/>
          <a:ln/>
        </p:spPr>
        <p:txBody>
          <a:bodyPr wrap="square" lIns="0" tIns="0" rIns="0" bIns="0" rtlCol="0" anchor="ctr"/>
          <a:lstStyle/>
          <a:p>
            <a:pPr indent="0" marL="0">
              <a:buNone/>
            </a:pPr>
            <a:r>
              <a:rPr lang="en-US" sz="1700" b="1" dirty="0">
                <a:solidFill>
                  <a:srgbClr val="12213A"/>
                </a:solidFill>
                <a:latin typeface="Calibri" pitchFamily="34" charset="0"/>
                <a:ea typeface="Calibri" pitchFamily="34" charset="-122"/>
                <a:cs typeface="Calibri" pitchFamily="34" charset="-120"/>
              </a:rPr>
              <a:t>Hidden is not secret. </a:t>
            </a:r>
            <a:pPr indent="0" marL="0">
              <a:buNone/>
            </a:pPr>
            <a:r>
              <a:rPr lang="en-US" sz="1700" dirty="0">
                <a:solidFill>
                  <a:srgbClr val="12213A"/>
                </a:solidFill>
                <a:latin typeface="Calibri" pitchFamily="34" charset="0"/>
                <a:ea typeface="Calibri" pitchFamily="34" charset="-122"/>
                <a:cs typeface="Calibri" pitchFamily="34" charset="-120"/>
              </a:rPr>
              <a:t>A dot at the start of a name just tells ls to skip it.</a:t>
            </a:r>
            <a:endParaRPr lang="en-US" sz="1700" dirty="0"/>
          </a:p>
        </p:txBody>
      </p:sp>
      <p:sp>
        <p:nvSpPr>
          <p:cNvPr id="22" name="Shape 19"/>
          <p:cNvSpPr/>
          <p:nvPr/>
        </p:nvSpPr>
        <p:spPr>
          <a:xfrm>
            <a:off x="6400800" y="1463040"/>
            <a:ext cx="5212080" cy="4434840"/>
          </a:xfrm>
          <a:prstGeom prst="roundRect">
            <a:avLst>
              <a:gd name="adj" fmla="val 2062"/>
            </a:avLst>
          </a:prstGeom>
          <a:solidFill>
            <a:srgbClr val="0E1726"/>
          </a:solidFill>
          <a:ln/>
          <a:effectLst>
            <a:outerShdw sx="100000" sy="100000" kx="0" ky="0" algn="bl" rotWithShape="0" blurRad="127000" dist="38100" dir="5400000">
              <a:srgbClr val="12213A">
                <a:alpha val="22000"/>
              </a:srgbClr>
            </a:outerShdw>
          </a:effectLst>
        </p:spPr>
      </p:sp>
      <p:sp>
        <p:nvSpPr>
          <p:cNvPr id="23" name="Shape 20"/>
          <p:cNvSpPr/>
          <p:nvPr/>
        </p:nvSpPr>
        <p:spPr>
          <a:xfrm>
            <a:off x="6601968" y="1618488"/>
            <a:ext cx="118872" cy="118872"/>
          </a:xfrm>
          <a:prstGeom prst="ellipse">
            <a:avLst/>
          </a:prstGeom>
          <a:solidFill>
            <a:srgbClr val="E5534B"/>
          </a:solidFill>
          <a:ln/>
        </p:spPr>
      </p:sp>
      <p:sp>
        <p:nvSpPr>
          <p:cNvPr id="24" name="Shape 21"/>
          <p:cNvSpPr/>
          <p:nvPr/>
        </p:nvSpPr>
        <p:spPr>
          <a:xfrm>
            <a:off x="6803136" y="1618488"/>
            <a:ext cx="118872" cy="118872"/>
          </a:xfrm>
          <a:prstGeom prst="ellipse">
            <a:avLst/>
          </a:prstGeom>
          <a:solidFill>
            <a:srgbClr val="F5A623"/>
          </a:solidFill>
          <a:ln/>
        </p:spPr>
      </p:sp>
      <p:sp>
        <p:nvSpPr>
          <p:cNvPr id="25" name="Shape 22"/>
          <p:cNvSpPr/>
          <p:nvPr/>
        </p:nvSpPr>
        <p:spPr>
          <a:xfrm>
            <a:off x="7004304" y="1618488"/>
            <a:ext cx="118872" cy="118872"/>
          </a:xfrm>
          <a:prstGeom prst="ellipse">
            <a:avLst/>
          </a:prstGeom>
          <a:solidFill>
            <a:srgbClr val="46D39A"/>
          </a:solidFill>
          <a:ln/>
        </p:spPr>
      </p:sp>
      <p:sp>
        <p:nvSpPr>
          <p:cNvPr id="26" name="Text 23"/>
          <p:cNvSpPr txBox="1"/>
          <p:nvPr/>
        </p:nvSpPr>
        <p:spPr>
          <a:xfrm>
            <a:off x="7315200" y="1536192"/>
            <a:ext cx="338328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names starting with a dot are hidden</a:t>
            </a:r>
            <a:endParaRPr lang="en-US" sz="1000" dirty="0"/>
          </a:p>
        </p:txBody>
      </p:sp>
      <p:sp>
        <p:nvSpPr>
          <p:cNvPr id="27" name="Text 24"/>
          <p:cNvSpPr txBox="1"/>
          <p:nvPr/>
        </p:nvSpPr>
        <p:spPr>
          <a:xfrm>
            <a:off x="6675120" y="1920240"/>
            <a:ext cx="4663440" cy="3840480"/>
          </a:xfrm>
          <a:prstGeom prst="rect">
            <a:avLst/>
          </a:prstGeom>
          <a:noFill/>
          <a:ln/>
        </p:spPr>
        <p:txBody>
          <a:bodyPr wrap="square" lIns="0" tIns="0" rIns="0" bIns="0" rtlCol="0" anchor="t"/>
          <a:lstStyle/>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ls ~</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mission1  mission2  ...  mission10</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ls -a ~</a:t>
            </a:r>
            <a:endParaRPr lang="en-US" sz="1500" dirty="0"/>
          </a:p>
          <a:p>
            <a:pPr indent="0" marL="0">
              <a:spcAft>
                <a:spcPts val="200"/>
              </a:spcAft>
              <a:buNone/>
            </a:pPr>
            <a:r>
              <a:rPr lang="en-US" sz="1500" b="1" dirty="0">
                <a:solidFill>
                  <a:srgbClr val="F5A623"/>
                </a:solidFill>
                <a:latin typeface="Courier New" pitchFamily="34" charset="0"/>
                <a:ea typeface="Courier New" pitchFamily="34" charset="-122"/>
                <a:cs typeface="Courier New" pitchFamily="34" charset="-120"/>
              </a:rPr>
              <a:t>.  ..  .profile</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mission1  mission2  ...  mission10</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ls /home</a:t>
            </a:r>
            <a:pPr indent="0" marL="0">
              <a:spcAft>
                <a:spcPts val="200"/>
              </a:spcAft>
              <a:buNone/>
            </a:pPr>
            <a:r>
              <a:rPr lang="en-US" sz="1500" dirty="0">
                <a:solidFill>
                  <a:srgbClr val="7F8FAD"/>
                </a:solidFill>
                <a:latin typeface="Courier New" pitchFamily="34" charset="0"/>
                <a:ea typeface="Courier New" pitchFamily="34" charset="-122"/>
                <a:cs typeface="Courier New" pitchFamily="34" charset="-120"/>
              </a:rPr>
              <a:t>   # look without moving</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player</a:t>
            </a:r>
            <a:endParaRPr lang="en-US" sz="1500" dirty="0"/>
          </a:p>
        </p:txBody>
      </p:sp>
      <p:sp>
        <p:nvSpPr>
          <p:cNvPr id="28" name="Text 25"/>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20 / 79</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Looking inside files: cat</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cat /etc/passwd</a:t>
            </a:r>
            <a:endParaRPr lang="en-US" sz="1300" dirty="0"/>
          </a:p>
        </p:txBody>
      </p:sp>
      <p:sp>
        <p:nvSpPr>
          <p:cNvPr id="8" name="Shape 5"/>
          <p:cNvSpPr/>
          <p:nvPr/>
        </p:nvSpPr>
        <p:spPr>
          <a:xfrm>
            <a:off x="548640" y="1645920"/>
            <a:ext cx="2377440" cy="457200"/>
          </a:xfrm>
          <a:prstGeom prst="roundRect">
            <a:avLst>
              <a:gd name="adj" fmla="val 16000"/>
            </a:avLst>
          </a:prstGeom>
          <a:solidFill>
            <a:srgbClr val="0E1726"/>
          </a:solidFill>
          <a:ln/>
        </p:spPr>
      </p:sp>
      <p:sp>
        <p:nvSpPr>
          <p:cNvPr id="9" name="Text 6"/>
          <p:cNvSpPr txBox="1"/>
          <p:nvPr/>
        </p:nvSpPr>
        <p:spPr>
          <a:xfrm>
            <a:off x="548640" y="1645920"/>
            <a:ext cx="23774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cat file</a:t>
            </a:r>
            <a:endParaRPr lang="en-US" sz="1500" dirty="0"/>
          </a:p>
        </p:txBody>
      </p:sp>
      <p:sp>
        <p:nvSpPr>
          <p:cNvPr id="10" name="Text 7"/>
          <p:cNvSpPr txBox="1"/>
          <p:nvPr/>
        </p:nvSpPr>
        <p:spPr>
          <a:xfrm>
            <a:off x="3154680" y="1645920"/>
            <a:ext cx="278892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print the whole file</a:t>
            </a:r>
            <a:endParaRPr lang="en-US" sz="1700" dirty="0"/>
          </a:p>
        </p:txBody>
      </p:sp>
      <p:sp>
        <p:nvSpPr>
          <p:cNvPr id="11" name="Shape 8"/>
          <p:cNvSpPr/>
          <p:nvPr/>
        </p:nvSpPr>
        <p:spPr>
          <a:xfrm>
            <a:off x="548640" y="2423160"/>
            <a:ext cx="2377440" cy="457200"/>
          </a:xfrm>
          <a:prstGeom prst="roundRect">
            <a:avLst>
              <a:gd name="adj" fmla="val 16000"/>
            </a:avLst>
          </a:prstGeom>
          <a:solidFill>
            <a:srgbClr val="0E1726"/>
          </a:solidFill>
          <a:ln/>
        </p:spPr>
      </p:sp>
      <p:sp>
        <p:nvSpPr>
          <p:cNvPr id="12" name="Text 9"/>
          <p:cNvSpPr txBox="1"/>
          <p:nvPr/>
        </p:nvSpPr>
        <p:spPr>
          <a:xfrm>
            <a:off x="548640" y="2423160"/>
            <a:ext cx="23774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head -3 file</a:t>
            </a:r>
            <a:endParaRPr lang="en-US" sz="1500" dirty="0"/>
          </a:p>
        </p:txBody>
      </p:sp>
      <p:sp>
        <p:nvSpPr>
          <p:cNvPr id="13" name="Text 10"/>
          <p:cNvSpPr txBox="1"/>
          <p:nvPr/>
        </p:nvSpPr>
        <p:spPr>
          <a:xfrm>
            <a:off x="3154680" y="2423160"/>
            <a:ext cx="278892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only the first 3 lines</a:t>
            </a:r>
            <a:endParaRPr lang="en-US" sz="1700" dirty="0"/>
          </a:p>
        </p:txBody>
      </p:sp>
      <p:sp>
        <p:nvSpPr>
          <p:cNvPr id="14" name="Shape 11"/>
          <p:cNvSpPr/>
          <p:nvPr/>
        </p:nvSpPr>
        <p:spPr>
          <a:xfrm>
            <a:off x="548640" y="3200400"/>
            <a:ext cx="2377440" cy="457200"/>
          </a:xfrm>
          <a:prstGeom prst="roundRect">
            <a:avLst>
              <a:gd name="adj" fmla="val 16000"/>
            </a:avLst>
          </a:prstGeom>
          <a:solidFill>
            <a:srgbClr val="0E1726"/>
          </a:solidFill>
          <a:ln/>
        </p:spPr>
      </p:sp>
      <p:sp>
        <p:nvSpPr>
          <p:cNvPr id="15" name="Text 12"/>
          <p:cNvSpPr txBox="1"/>
          <p:nvPr/>
        </p:nvSpPr>
        <p:spPr>
          <a:xfrm>
            <a:off x="548640" y="3200400"/>
            <a:ext cx="23774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wc -l file</a:t>
            </a:r>
            <a:endParaRPr lang="en-US" sz="1500" dirty="0"/>
          </a:p>
        </p:txBody>
      </p:sp>
      <p:sp>
        <p:nvSpPr>
          <p:cNvPr id="16" name="Text 13"/>
          <p:cNvSpPr txBox="1"/>
          <p:nvPr/>
        </p:nvSpPr>
        <p:spPr>
          <a:xfrm>
            <a:off x="3154680" y="3200400"/>
            <a:ext cx="278892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count the lines</a:t>
            </a:r>
            <a:endParaRPr lang="en-US" sz="1700" dirty="0"/>
          </a:p>
        </p:txBody>
      </p:sp>
      <p:sp>
        <p:nvSpPr>
          <p:cNvPr id="17" name="Shape 14"/>
          <p:cNvSpPr/>
          <p:nvPr/>
        </p:nvSpPr>
        <p:spPr>
          <a:xfrm>
            <a:off x="548640" y="3977640"/>
            <a:ext cx="2377440" cy="457200"/>
          </a:xfrm>
          <a:prstGeom prst="roundRect">
            <a:avLst>
              <a:gd name="adj" fmla="val 16000"/>
            </a:avLst>
          </a:prstGeom>
          <a:solidFill>
            <a:srgbClr val="0E1726"/>
          </a:solidFill>
          <a:ln/>
        </p:spPr>
      </p:sp>
      <p:sp>
        <p:nvSpPr>
          <p:cNvPr id="18" name="Text 15"/>
          <p:cNvSpPr txBox="1"/>
          <p:nvPr/>
        </p:nvSpPr>
        <p:spPr>
          <a:xfrm>
            <a:off x="548640" y="3977640"/>
            <a:ext cx="23774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less file</a:t>
            </a:r>
            <a:endParaRPr lang="en-US" sz="1500" dirty="0"/>
          </a:p>
        </p:txBody>
      </p:sp>
      <p:sp>
        <p:nvSpPr>
          <p:cNvPr id="19" name="Text 16"/>
          <p:cNvSpPr txBox="1"/>
          <p:nvPr/>
        </p:nvSpPr>
        <p:spPr>
          <a:xfrm>
            <a:off x="3154680" y="3977640"/>
            <a:ext cx="278892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scroll through it (q quits)</a:t>
            </a:r>
            <a:endParaRPr lang="en-US" sz="1700" dirty="0"/>
          </a:p>
        </p:txBody>
      </p:sp>
      <p:sp>
        <p:nvSpPr>
          <p:cNvPr id="20" name="Shape 17"/>
          <p:cNvSpPr/>
          <p:nvPr/>
        </p:nvSpPr>
        <p:spPr>
          <a:xfrm>
            <a:off x="548640" y="4892040"/>
            <a:ext cx="5394960" cy="1005840"/>
          </a:xfrm>
          <a:prstGeom prst="roundRect">
            <a:avLst>
              <a:gd name="adj" fmla="val 9091"/>
            </a:avLst>
          </a:prstGeom>
          <a:solidFill>
            <a:srgbClr val="FFF4DC"/>
          </a:solidFill>
          <a:ln/>
        </p:spPr>
      </p:sp>
      <p:sp>
        <p:nvSpPr>
          <p:cNvPr id="21" name="Text 18"/>
          <p:cNvSpPr txBox="1"/>
          <p:nvPr/>
        </p:nvSpPr>
        <p:spPr>
          <a:xfrm>
            <a:off x="822960" y="4892040"/>
            <a:ext cx="4846320" cy="1005840"/>
          </a:xfrm>
          <a:prstGeom prst="rect">
            <a:avLst/>
          </a:prstGeom>
          <a:noFill/>
          <a:ln/>
        </p:spPr>
        <p:txBody>
          <a:bodyPr wrap="square" lIns="0" tIns="0" rIns="0" bIns="0" rtlCol="0" anchor="ctr"/>
          <a:lstStyle/>
          <a:p>
            <a:pPr indent="0" marL="0">
              <a:buNone/>
            </a:pPr>
            <a:r>
              <a:rPr lang="en-US" sz="1700" b="1" dirty="0">
                <a:solidFill>
                  <a:srgbClr val="12213A"/>
                </a:solidFill>
                <a:latin typeface="Calibri" pitchFamily="34" charset="0"/>
                <a:ea typeface="Calibri" pitchFamily="34" charset="-122"/>
                <a:cs typeface="Calibri" pitchFamily="34" charset="-120"/>
              </a:rPr>
              <a:t>Stuck inside less? </a:t>
            </a:r>
            <a:pPr indent="0" marL="0">
              <a:buNone/>
            </a:pPr>
            <a:r>
              <a:rPr lang="en-US" sz="1700" dirty="0">
                <a:solidFill>
                  <a:srgbClr val="12213A"/>
                </a:solidFill>
                <a:latin typeface="Calibri" pitchFamily="34" charset="0"/>
                <a:ea typeface="Calibri" pitchFamily="34" charset="-122"/>
                <a:cs typeface="Calibri" pitchFamily="34" charset="-120"/>
              </a:rPr>
              <a:t>Press q. Stuck anywhere else? Press Ctrl+C.</a:t>
            </a:r>
            <a:endParaRPr lang="en-US" sz="1700" dirty="0"/>
          </a:p>
        </p:txBody>
      </p:sp>
      <p:sp>
        <p:nvSpPr>
          <p:cNvPr id="22" name="Shape 19"/>
          <p:cNvSpPr/>
          <p:nvPr/>
        </p:nvSpPr>
        <p:spPr>
          <a:xfrm>
            <a:off x="6400800" y="1463040"/>
            <a:ext cx="5212080" cy="4434840"/>
          </a:xfrm>
          <a:prstGeom prst="roundRect">
            <a:avLst>
              <a:gd name="adj" fmla="val 2062"/>
            </a:avLst>
          </a:prstGeom>
          <a:solidFill>
            <a:srgbClr val="0E1726"/>
          </a:solidFill>
          <a:ln/>
          <a:effectLst>
            <a:outerShdw sx="100000" sy="100000" kx="0" ky="0" algn="bl" rotWithShape="0" blurRad="127000" dist="38100" dir="5400000">
              <a:srgbClr val="12213A">
                <a:alpha val="22000"/>
              </a:srgbClr>
            </a:outerShdw>
          </a:effectLst>
        </p:spPr>
      </p:sp>
      <p:sp>
        <p:nvSpPr>
          <p:cNvPr id="23" name="Shape 20"/>
          <p:cNvSpPr/>
          <p:nvPr/>
        </p:nvSpPr>
        <p:spPr>
          <a:xfrm>
            <a:off x="6601968" y="1618488"/>
            <a:ext cx="118872" cy="118872"/>
          </a:xfrm>
          <a:prstGeom prst="ellipse">
            <a:avLst/>
          </a:prstGeom>
          <a:solidFill>
            <a:srgbClr val="E5534B"/>
          </a:solidFill>
          <a:ln/>
        </p:spPr>
      </p:sp>
      <p:sp>
        <p:nvSpPr>
          <p:cNvPr id="24" name="Shape 21"/>
          <p:cNvSpPr/>
          <p:nvPr/>
        </p:nvSpPr>
        <p:spPr>
          <a:xfrm>
            <a:off x="6803136" y="1618488"/>
            <a:ext cx="118872" cy="118872"/>
          </a:xfrm>
          <a:prstGeom prst="ellipse">
            <a:avLst/>
          </a:prstGeom>
          <a:solidFill>
            <a:srgbClr val="F5A623"/>
          </a:solidFill>
          <a:ln/>
        </p:spPr>
      </p:sp>
      <p:sp>
        <p:nvSpPr>
          <p:cNvPr id="25" name="Shape 22"/>
          <p:cNvSpPr/>
          <p:nvPr/>
        </p:nvSpPr>
        <p:spPr>
          <a:xfrm>
            <a:off x="7004304" y="1618488"/>
            <a:ext cx="118872" cy="118872"/>
          </a:xfrm>
          <a:prstGeom prst="ellipse">
            <a:avLst/>
          </a:prstGeom>
          <a:solidFill>
            <a:srgbClr val="46D39A"/>
          </a:solidFill>
          <a:ln/>
        </p:spPr>
      </p:sp>
      <p:sp>
        <p:nvSpPr>
          <p:cNvPr id="26" name="Text 23"/>
          <p:cNvSpPr txBox="1"/>
          <p:nvPr/>
        </p:nvSpPr>
        <p:spPr>
          <a:xfrm>
            <a:off x="6675120" y="1920240"/>
            <a:ext cx="4663440" cy="3840480"/>
          </a:xfrm>
          <a:prstGeom prst="rect">
            <a:avLst/>
          </a:prstGeom>
          <a:noFill/>
          <a:ln/>
        </p:spPr>
        <p:txBody>
          <a:bodyPr wrap="square" lIns="0" tIns="0" rIns="0" bIns="0" rtlCol="0" anchor="t"/>
          <a:lstStyle/>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cat /etc/passwd</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root:x:0:0:root:/root:/bin/sh</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player:x:1000:1000:player:</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  /home/player:/bin/sh</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wc -l /etc/passwd</a:t>
            </a:r>
            <a:endParaRPr lang="en-US" sz="1500" dirty="0"/>
          </a:p>
          <a:p>
            <a:pPr indent="0" marL="0">
              <a:spcAft>
                <a:spcPts val="200"/>
              </a:spcAft>
              <a:buNone/>
            </a:pPr>
            <a:r>
              <a:rPr lang="en-US" sz="1500" b="1" dirty="0">
                <a:solidFill>
                  <a:srgbClr val="F5A623"/>
                </a:solidFill>
                <a:latin typeface="Courier New" pitchFamily="34" charset="0"/>
                <a:ea typeface="Courier New" pitchFamily="34" charset="-122"/>
                <a:cs typeface="Courier New" pitchFamily="34" charset="-120"/>
              </a:rPr>
              <a:t>2 /etc/passwd</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head -1 /etc/passwd</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root:x:0:0:root:/root:/bin/sh</a:t>
            </a:r>
            <a:endParaRPr lang="en-US" sz="1500" dirty="0"/>
          </a:p>
        </p:txBody>
      </p:sp>
      <p:sp>
        <p:nvSpPr>
          <p:cNvPr id="27" name="Text 24"/>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21 / 79</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Who can do what: ls -l and chmod</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ls -l /etc/passwd</a:t>
            </a:r>
            <a:endParaRPr lang="en-US" sz="1300" dirty="0"/>
          </a:p>
        </p:txBody>
      </p:sp>
      <p:sp>
        <p:nvSpPr>
          <p:cNvPr id="8" name="Shape 5"/>
          <p:cNvSpPr/>
          <p:nvPr/>
        </p:nvSpPr>
        <p:spPr>
          <a:xfrm>
            <a:off x="548640" y="1645920"/>
            <a:ext cx="2377440" cy="457200"/>
          </a:xfrm>
          <a:prstGeom prst="roundRect">
            <a:avLst>
              <a:gd name="adj" fmla="val 16000"/>
            </a:avLst>
          </a:prstGeom>
          <a:solidFill>
            <a:srgbClr val="0E1726"/>
          </a:solidFill>
          <a:ln/>
        </p:spPr>
      </p:sp>
      <p:sp>
        <p:nvSpPr>
          <p:cNvPr id="9" name="Text 6"/>
          <p:cNvSpPr txBox="1"/>
          <p:nvPr/>
        </p:nvSpPr>
        <p:spPr>
          <a:xfrm>
            <a:off x="548640" y="1645920"/>
            <a:ext cx="23774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ls -l</a:t>
            </a:r>
            <a:endParaRPr lang="en-US" sz="1500" dirty="0"/>
          </a:p>
        </p:txBody>
      </p:sp>
      <p:sp>
        <p:nvSpPr>
          <p:cNvPr id="10" name="Text 7"/>
          <p:cNvSpPr txBox="1"/>
          <p:nvPr/>
        </p:nvSpPr>
        <p:spPr>
          <a:xfrm>
            <a:off x="3154680" y="1645920"/>
            <a:ext cx="278892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show permissions</a:t>
            </a:r>
            <a:endParaRPr lang="en-US" sz="1700" dirty="0"/>
          </a:p>
        </p:txBody>
      </p:sp>
      <p:sp>
        <p:nvSpPr>
          <p:cNvPr id="11" name="Shape 8"/>
          <p:cNvSpPr/>
          <p:nvPr/>
        </p:nvSpPr>
        <p:spPr>
          <a:xfrm>
            <a:off x="548640" y="2423160"/>
            <a:ext cx="2377440" cy="457200"/>
          </a:xfrm>
          <a:prstGeom prst="roundRect">
            <a:avLst>
              <a:gd name="adj" fmla="val 16000"/>
            </a:avLst>
          </a:prstGeom>
          <a:solidFill>
            <a:srgbClr val="0E1726"/>
          </a:solidFill>
          <a:ln/>
        </p:spPr>
      </p:sp>
      <p:sp>
        <p:nvSpPr>
          <p:cNvPr id="12" name="Text 9"/>
          <p:cNvSpPr txBox="1"/>
          <p:nvPr/>
        </p:nvSpPr>
        <p:spPr>
          <a:xfrm>
            <a:off x="548640" y="2423160"/>
            <a:ext cx="23774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chmod +x file</a:t>
            </a:r>
            <a:endParaRPr lang="en-US" sz="1500" dirty="0"/>
          </a:p>
        </p:txBody>
      </p:sp>
      <p:sp>
        <p:nvSpPr>
          <p:cNvPr id="13" name="Text 10"/>
          <p:cNvSpPr txBox="1"/>
          <p:nvPr/>
        </p:nvSpPr>
        <p:spPr>
          <a:xfrm>
            <a:off x="3154680" y="2423160"/>
            <a:ext cx="278892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add execute (run)</a:t>
            </a:r>
            <a:endParaRPr lang="en-US" sz="1700" dirty="0"/>
          </a:p>
        </p:txBody>
      </p:sp>
      <p:sp>
        <p:nvSpPr>
          <p:cNvPr id="14" name="Shape 11"/>
          <p:cNvSpPr/>
          <p:nvPr/>
        </p:nvSpPr>
        <p:spPr>
          <a:xfrm>
            <a:off x="548640" y="3200400"/>
            <a:ext cx="2377440" cy="457200"/>
          </a:xfrm>
          <a:prstGeom prst="roundRect">
            <a:avLst>
              <a:gd name="adj" fmla="val 16000"/>
            </a:avLst>
          </a:prstGeom>
          <a:solidFill>
            <a:srgbClr val="0E1726"/>
          </a:solidFill>
          <a:ln/>
        </p:spPr>
      </p:sp>
      <p:sp>
        <p:nvSpPr>
          <p:cNvPr id="15" name="Text 12"/>
          <p:cNvSpPr txBox="1"/>
          <p:nvPr/>
        </p:nvSpPr>
        <p:spPr>
          <a:xfrm>
            <a:off x="548640" y="3200400"/>
            <a:ext cx="23774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chmod -w file</a:t>
            </a:r>
            <a:endParaRPr lang="en-US" sz="1500" dirty="0"/>
          </a:p>
        </p:txBody>
      </p:sp>
      <p:sp>
        <p:nvSpPr>
          <p:cNvPr id="16" name="Text 13"/>
          <p:cNvSpPr txBox="1"/>
          <p:nvPr/>
        </p:nvSpPr>
        <p:spPr>
          <a:xfrm>
            <a:off x="3154680" y="3200400"/>
            <a:ext cx="278892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take away write</a:t>
            </a:r>
            <a:endParaRPr lang="en-US" sz="1700" dirty="0"/>
          </a:p>
        </p:txBody>
      </p:sp>
      <p:sp>
        <p:nvSpPr>
          <p:cNvPr id="17" name="Shape 14"/>
          <p:cNvSpPr/>
          <p:nvPr/>
        </p:nvSpPr>
        <p:spPr>
          <a:xfrm>
            <a:off x="548640" y="3977640"/>
            <a:ext cx="2377440" cy="457200"/>
          </a:xfrm>
          <a:prstGeom prst="roundRect">
            <a:avLst>
              <a:gd name="adj" fmla="val 16000"/>
            </a:avLst>
          </a:prstGeom>
          <a:solidFill>
            <a:srgbClr val="0E1726"/>
          </a:solidFill>
          <a:ln/>
        </p:spPr>
      </p:sp>
      <p:sp>
        <p:nvSpPr>
          <p:cNvPr id="18" name="Text 15"/>
          <p:cNvSpPr txBox="1"/>
          <p:nvPr/>
        </p:nvSpPr>
        <p:spPr>
          <a:xfrm>
            <a:off x="548640" y="3977640"/>
            <a:ext cx="23774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./file</a:t>
            </a:r>
            <a:endParaRPr lang="en-US" sz="1500" dirty="0"/>
          </a:p>
        </p:txBody>
      </p:sp>
      <p:sp>
        <p:nvSpPr>
          <p:cNvPr id="19" name="Text 16"/>
          <p:cNvSpPr txBox="1"/>
          <p:nvPr/>
        </p:nvSpPr>
        <p:spPr>
          <a:xfrm>
            <a:off x="3154680" y="3977640"/>
            <a:ext cx="278892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run a script in this folder</a:t>
            </a:r>
            <a:endParaRPr lang="en-US" sz="1700" dirty="0"/>
          </a:p>
        </p:txBody>
      </p:sp>
      <p:sp>
        <p:nvSpPr>
          <p:cNvPr id="20" name="Shape 17"/>
          <p:cNvSpPr/>
          <p:nvPr/>
        </p:nvSpPr>
        <p:spPr>
          <a:xfrm>
            <a:off x="548640" y="4846320"/>
            <a:ext cx="5394960" cy="1097280"/>
          </a:xfrm>
          <a:prstGeom prst="roundRect">
            <a:avLst>
              <a:gd name="adj" fmla="val 8333"/>
            </a:avLst>
          </a:prstGeom>
          <a:solidFill>
            <a:srgbClr val="F1F5FB"/>
          </a:solidFill>
          <a:ln/>
        </p:spPr>
      </p:sp>
      <p:sp>
        <p:nvSpPr>
          <p:cNvPr id="21" name="Text 18"/>
          <p:cNvSpPr txBox="1"/>
          <p:nvPr/>
        </p:nvSpPr>
        <p:spPr>
          <a:xfrm>
            <a:off x="822960" y="4919472"/>
            <a:ext cx="2926080" cy="457200"/>
          </a:xfrm>
          <a:prstGeom prst="rect">
            <a:avLst/>
          </a:prstGeom>
          <a:noFill/>
          <a:ln/>
        </p:spPr>
        <p:txBody>
          <a:bodyPr wrap="square" lIns="0" tIns="0" rIns="0" bIns="0" rtlCol="0" anchor="t"/>
          <a:lstStyle/>
          <a:p>
            <a:pPr indent="0" marL="0">
              <a:buNone/>
            </a:pPr>
            <a:r>
              <a:rPr lang="en-US" sz="2200" b="1" dirty="0">
                <a:solidFill>
                  <a:srgbClr val="12213A"/>
                </a:solidFill>
                <a:latin typeface="Courier New" pitchFamily="34" charset="0"/>
                <a:ea typeface="Courier New" pitchFamily="34" charset="-122"/>
                <a:cs typeface="Courier New" pitchFamily="34" charset="-120"/>
              </a:rPr>
              <a:t>-  rwx  r-x  r-x</a:t>
            </a:r>
            <a:endParaRPr lang="en-US" sz="2200" dirty="0"/>
          </a:p>
        </p:txBody>
      </p:sp>
      <p:sp>
        <p:nvSpPr>
          <p:cNvPr id="22" name="Text 19"/>
          <p:cNvSpPr txBox="1"/>
          <p:nvPr/>
        </p:nvSpPr>
        <p:spPr>
          <a:xfrm>
            <a:off x="822960" y="5376672"/>
            <a:ext cx="3291840" cy="36576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type   owner   group   everyone</a:t>
            </a:r>
            <a:endParaRPr lang="en-US" sz="1300" dirty="0"/>
          </a:p>
        </p:txBody>
      </p:sp>
      <p:sp>
        <p:nvSpPr>
          <p:cNvPr id="23" name="Text 20"/>
          <p:cNvSpPr txBox="1"/>
          <p:nvPr/>
        </p:nvSpPr>
        <p:spPr>
          <a:xfrm>
            <a:off x="3840480" y="4919472"/>
            <a:ext cx="2011680" cy="822960"/>
          </a:xfrm>
          <a:prstGeom prst="rect">
            <a:avLst/>
          </a:prstGeom>
          <a:noFill/>
          <a:ln/>
        </p:spPr>
        <p:txBody>
          <a:bodyPr wrap="square" lIns="0" tIns="0" rIns="0" bIns="0" rtlCol="0" anchor="ctr"/>
          <a:lstStyle/>
          <a:p>
            <a:pPr indent="0" marL="0">
              <a:buNone/>
            </a:pPr>
            <a:r>
              <a:rPr lang="en-US" sz="1400" b="1" dirty="0">
                <a:solidFill>
                  <a:srgbClr val="17875A"/>
                </a:solidFill>
                <a:latin typeface="Calibri" pitchFamily="34" charset="0"/>
                <a:ea typeface="Calibri" pitchFamily="34" charset="-122"/>
                <a:cs typeface="Calibri" pitchFamily="34" charset="-120"/>
              </a:rPr>
              <a:t>r read  ·  w write  ·  x run</a:t>
            </a:r>
            <a:endParaRPr lang="en-US" sz="1400" dirty="0"/>
          </a:p>
        </p:txBody>
      </p:sp>
      <p:sp>
        <p:nvSpPr>
          <p:cNvPr id="24" name="Shape 21"/>
          <p:cNvSpPr/>
          <p:nvPr/>
        </p:nvSpPr>
        <p:spPr>
          <a:xfrm>
            <a:off x="6400800" y="1463040"/>
            <a:ext cx="5212080" cy="4480560"/>
          </a:xfrm>
          <a:prstGeom prst="roundRect">
            <a:avLst>
              <a:gd name="adj" fmla="val 2041"/>
            </a:avLst>
          </a:prstGeom>
          <a:solidFill>
            <a:srgbClr val="0E1726"/>
          </a:solidFill>
          <a:ln/>
          <a:effectLst>
            <a:outerShdw sx="100000" sy="100000" kx="0" ky="0" algn="bl" rotWithShape="0" blurRad="127000" dist="38100" dir="5400000">
              <a:srgbClr val="12213A">
                <a:alpha val="22000"/>
              </a:srgbClr>
            </a:outerShdw>
          </a:effectLst>
        </p:spPr>
      </p:sp>
      <p:sp>
        <p:nvSpPr>
          <p:cNvPr id="25" name="Shape 22"/>
          <p:cNvSpPr/>
          <p:nvPr/>
        </p:nvSpPr>
        <p:spPr>
          <a:xfrm>
            <a:off x="6601968" y="1618488"/>
            <a:ext cx="118872" cy="118872"/>
          </a:xfrm>
          <a:prstGeom prst="ellipse">
            <a:avLst/>
          </a:prstGeom>
          <a:solidFill>
            <a:srgbClr val="E5534B"/>
          </a:solidFill>
          <a:ln/>
        </p:spPr>
      </p:sp>
      <p:sp>
        <p:nvSpPr>
          <p:cNvPr id="26" name="Shape 23"/>
          <p:cNvSpPr/>
          <p:nvPr/>
        </p:nvSpPr>
        <p:spPr>
          <a:xfrm>
            <a:off x="6803136" y="1618488"/>
            <a:ext cx="118872" cy="118872"/>
          </a:xfrm>
          <a:prstGeom prst="ellipse">
            <a:avLst/>
          </a:prstGeom>
          <a:solidFill>
            <a:srgbClr val="F5A623"/>
          </a:solidFill>
          <a:ln/>
        </p:spPr>
      </p:sp>
      <p:sp>
        <p:nvSpPr>
          <p:cNvPr id="27" name="Shape 24"/>
          <p:cNvSpPr/>
          <p:nvPr/>
        </p:nvSpPr>
        <p:spPr>
          <a:xfrm>
            <a:off x="7004304" y="1618488"/>
            <a:ext cx="118872" cy="118872"/>
          </a:xfrm>
          <a:prstGeom prst="ellipse">
            <a:avLst/>
          </a:prstGeom>
          <a:solidFill>
            <a:srgbClr val="46D39A"/>
          </a:solidFill>
          <a:ln/>
        </p:spPr>
      </p:sp>
      <p:sp>
        <p:nvSpPr>
          <p:cNvPr id="28" name="Text 25"/>
          <p:cNvSpPr txBox="1"/>
          <p:nvPr/>
        </p:nvSpPr>
        <p:spPr>
          <a:xfrm>
            <a:off x="7315200" y="1536192"/>
            <a:ext cx="338328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permissions</a:t>
            </a:r>
            <a:endParaRPr lang="en-US" sz="1000" dirty="0"/>
          </a:p>
        </p:txBody>
      </p:sp>
      <p:sp>
        <p:nvSpPr>
          <p:cNvPr id="29" name="Text 26"/>
          <p:cNvSpPr txBox="1"/>
          <p:nvPr/>
        </p:nvSpPr>
        <p:spPr>
          <a:xfrm>
            <a:off x="6675120" y="1920240"/>
            <a:ext cx="4663440" cy="3886200"/>
          </a:xfrm>
          <a:prstGeom prst="rect">
            <a:avLst/>
          </a:prstGeom>
          <a:noFill/>
          <a:ln/>
        </p:spPr>
        <p:txBody>
          <a:bodyPr wrap="square" lIns="0" tIns="0" rIns="0" bIns="0" rtlCol="0" anchor="t"/>
          <a:lstStyle/>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echo 'echo hello' &gt; hi.sh</a:t>
            </a:r>
            <a:endParaRPr lang="en-US" sz="1500" dirty="0"/>
          </a:p>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./hi.sh</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-sh: ./hi.sh: Permission denied</a:t>
            </a:r>
            <a:endParaRPr lang="en-US" sz="1500" dirty="0"/>
          </a:p>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ls -l hi.sh</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-rw-r--r--  1 player ... hi.sh</a:t>
            </a:r>
            <a:endParaRPr lang="en-US" sz="1500" dirty="0"/>
          </a:p>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chmod +x hi.sh</a:t>
            </a:r>
            <a:endParaRPr lang="en-US" sz="1500" dirty="0"/>
          </a:p>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ls -l hi.sh</a:t>
            </a:r>
            <a:endParaRPr lang="en-US" sz="1500" dirty="0"/>
          </a:p>
          <a:p>
            <a:pPr indent="0" marL="0">
              <a:spcAft>
                <a:spcPts val="200"/>
              </a:spcAft>
              <a:buNone/>
            </a:pPr>
            <a:r>
              <a:rPr lang="en-US" sz="1500" b="1" dirty="0">
                <a:solidFill>
                  <a:srgbClr val="F5A623"/>
                </a:solidFill>
                <a:latin typeface="Courier New" pitchFamily="34" charset="0"/>
                <a:ea typeface="Courier New" pitchFamily="34" charset="-122"/>
                <a:cs typeface="Courier New" pitchFamily="34" charset="-120"/>
              </a:rPr>
              <a:t>-rwxr-xr-x  1 player ... hi.sh</a:t>
            </a:r>
            <a:endParaRPr lang="en-US" sz="1500" dirty="0"/>
          </a:p>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./hi.sh</a:t>
            </a:r>
            <a:endParaRPr lang="en-US" sz="1500" dirty="0"/>
          </a:p>
          <a:p>
            <a:pPr indent="0" marL="0">
              <a:spcAft>
                <a:spcPts val="200"/>
              </a:spcAft>
              <a:buNone/>
            </a:pPr>
            <a:r>
              <a:rPr lang="en-US" sz="1500" b="1" dirty="0">
                <a:solidFill>
                  <a:srgbClr val="F5A623"/>
                </a:solidFill>
                <a:latin typeface="Courier New" pitchFamily="34" charset="0"/>
                <a:ea typeface="Courier New" pitchFamily="34" charset="-122"/>
                <a:cs typeface="Courier New" pitchFamily="34" charset="-120"/>
              </a:rPr>
              <a:t>hello</a:t>
            </a:r>
            <a:endParaRPr lang="en-US" sz="1500" dirty="0"/>
          </a:p>
        </p:txBody>
      </p:sp>
      <p:sp>
        <p:nvSpPr>
          <p:cNvPr id="30" name="Text 27"/>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22 / 79</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Shape 0"/>
          <p:cNvSpPr/>
          <p:nvPr/>
        </p:nvSpPr>
        <p:spPr>
          <a:xfrm>
            <a:off x="0" y="0"/>
            <a:ext cx="256032" cy="6858000"/>
          </a:xfrm>
          <a:prstGeom prst="rect">
            <a:avLst/>
          </a:prstGeom>
          <a:solidFill>
            <a:srgbClr val="2A9FD6"/>
          </a:solidFill>
          <a:ln/>
        </p:spPr>
      </p:sp>
      <p:sp>
        <p:nvSpPr>
          <p:cNvPr id="4" name="Shape 1"/>
          <p:cNvSpPr/>
          <p:nvPr/>
        </p:nvSpPr>
        <p:spPr>
          <a:xfrm>
            <a:off x="640080" y="685800"/>
            <a:ext cx="1188720" cy="1188720"/>
          </a:xfrm>
          <a:prstGeom prst="ellipse">
            <a:avLst/>
          </a:prstGeom>
          <a:solidFill>
            <a:srgbClr val="2A9FD6"/>
          </a:solidFill>
          <a:ln/>
        </p:spPr>
      </p:sp>
      <p:sp>
        <p:nvSpPr>
          <p:cNvPr id="5" name="Text 2"/>
          <p:cNvSpPr txBox="1"/>
          <p:nvPr/>
        </p:nvSpPr>
        <p:spPr>
          <a:xfrm>
            <a:off x="640080" y="685800"/>
            <a:ext cx="1188720" cy="1188720"/>
          </a:xfrm>
          <a:prstGeom prst="rect">
            <a:avLst/>
          </a:prstGeom>
          <a:noFill/>
          <a:ln/>
        </p:spPr>
        <p:txBody>
          <a:bodyPr wrap="square" lIns="0" tIns="0" rIns="0" bIns="0" rtlCol="0" anchor="ctr"/>
          <a:lstStyle/>
          <a:p>
            <a:pPr algn="ctr" indent="0" marL="0">
              <a:buNone/>
            </a:pPr>
            <a:r>
              <a:rPr lang="en-US" sz="5400" b="1" dirty="0">
                <a:solidFill>
                  <a:srgbClr val="FFFFFF"/>
                </a:solidFill>
                <a:latin typeface="Arial" pitchFamily="34" charset="0"/>
                <a:ea typeface="Arial" pitchFamily="34" charset="-122"/>
                <a:cs typeface="Arial" pitchFamily="34" charset="-120"/>
              </a:rPr>
              <a:t>2</a:t>
            </a:r>
            <a:endParaRPr lang="en-US" sz="5400" dirty="0"/>
          </a:p>
        </p:txBody>
      </p:sp>
      <p:sp>
        <p:nvSpPr>
          <p:cNvPr id="6" name="Text 3"/>
          <p:cNvSpPr txBox="1"/>
          <p:nvPr/>
        </p:nvSpPr>
        <p:spPr>
          <a:xfrm>
            <a:off x="2148840" y="731520"/>
            <a:ext cx="5486400" cy="365760"/>
          </a:xfrm>
          <a:prstGeom prst="rect">
            <a:avLst/>
          </a:prstGeom>
          <a:noFill/>
          <a:ln/>
        </p:spPr>
        <p:txBody>
          <a:bodyPr wrap="square" lIns="0" tIns="0" rIns="0" bIns="0" rtlCol="0" anchor="ctr"/>
          <a:lstStyle/>
          <a:p>
            <a:pPr indent="0" marL="0">
              <a:buNone/>
            </a:pPr>
            <a:r>
              <a:rPr lang="en-US" sz="1500" dirty="0">
                <a:solidFill>
                  <a:srgbClr val="56657E"/>
                </a:solidFill>
                <a:latin typeface="Courier New" pitchFamily="34" charset="0"/>
                <a:ea typeface="Courier New" pitchFamily="34" charset="-122"/>
                <a:cs typeface="Courier New" pitchFamily="34" charset="-120"/>
              </a:rPr>
              <a:t>Big idea 2 of 4</a:t>
            </a:r>
            <a:endParaRPr lang="en-US" sz="1500" dirty="0"/>
          </a:p>
        </p:txBody>
      </p:sp>
      <p:sp>
        <p:nvSpPr>
          <p:cNvPr id="7" name="Text 4"/>
          <p:cNvSpPr txBox="1"/>
          <p:nvPr/>
        </p:nvSpPr>
        <p:spPr>
          <a:xfrm>
            <a:off x="2148840" y="1051560"/>
            <a:ext cx="9144000" cy="822960"/>
          </a:xfrm>
          <a:prstGeom prst="rect">
            <a:avLst/>
          </a:prstGeom>
          <a:noFill/>
          <a:ln/>
        </p:spPr>
        <p:txBody>
          <a:bodyPr wrap="square" lIns="0" tIns="0" rIns="0" bIns="0" rtlCol="0" anchor="ctr"/>
          <a:lstStyle/>
          <a:p>
            <a:pPr indent="0" marL="0">
              <a:buNone/>
            </a:pPr>
            <a:r>
              <a:rPr lang="en-US" sz="4400" b="1" dirty="0">
                <a:solidFill>
                  <a:srgbClr val="12213A"/>
                </a:solidFill>
                <a:latin typeface="Arial" pitchFamily="34" charset="0"/>
                <a:ea typeface="Arial" pitchFamily="34" charset="-122"/>
                <a:cs typeface="Arial" pitchFamily="34" charset="-120"/>
              </a:rPr>
              <a:t>Learning any command</a:t>
            </a:r>
            <a:endParaRPr lang="en-US" sz="4400" dirty="0"/>
          </a:p>
        </p:txBody>
      </p:sp>
      <p:sp>
        <p:nvSpPr>
          <p:cNvPr id="8" name="Text 5"/>
          <p:cNvSpPr txBox="1"/>
          <p:nvPr/>
        </p:nvSpPr>
        <p:spPr>
          <a:xfrm>
            <a:off x="640080" y="2194560"/>
            <a:ext cx="10911535" cy="1005840"/>
          </a:xfrm>
          <a:prstGeom prst="rect">
            <a:avLst/>
          </a:prstGeom>
          <a:noFill/>
          <a:ln/>
        </p:spPr>
        <p:txBody>
          <a:bodyPr wrap="square" lIns="0" tIns="0" rIns="0" bIns="0" rtlCol="0" anchor="t"/>
          <a:lstStyle/>
          <a:p>
            <a:pPr indent="0" marL="0">
              <a:buNone/>
            </a:pPr>
            <a:r>
              <a:rPr lang="en-US" sz="2500" dirty="0">
                <a:solidFill>
                  <a:srgbClr val="12213A"/>
                </a:solidFill>
                <a:latin typeface="Calibri" pitchFamily="34" charset="0"/>
                <a:ea typeface="Calibri" pitchFamily="34" charset="-122"/>
                <a:cs typeface="Calibri" pitchFamily="34" charset="-120"/>
              </a:rPr>
              <a:t>Every command has the same shape, and every command can explain itself. Nobody memorises them all.</a:t>
            </a:r>
            <a:endParaRPr lang="en-US" sz="2500" dirty="0"/>
          </a:p>
        </p:txBody>
      </p:sp>
      <p:sp>
        <p:nvSpPr>
          <p:cNvPr id="9" name="Shape 6"/>
          <p:cNvSpPr/>
          <p:nvPr/>
        </p:nvSpPr>
        <p:spPr>
          <a:xfrm>
            <a:off x="640080" y="3520440"/>
            <a:ext cx="3520440" cy="1965960"/>
          </a:xfrm>
          <a:prstGeom prst="roundRect">
            <a:avLst>
              <a:gd name="adj" fmla="val 4651"/>
            </a:avLst>
          </a:prstGeom>
          <a:solidFill>
            <a:srgbClr val="F1F5FB"/>
          </a:solidFill>
          <a:ln/>
        </p:spPr>
      </p:sp>
      <p:sp>
        <p:nvSpPr>
          <p:cNvPr id="10" name="Text 7"/>
          <p:cNvSpPr txBox="1"/>
          <p:nvPr/>
        </p:nvSpPr>
        <p:spPr>
          <a:xfrm>
            <a:off x="914400" y="3657600"/>
            <a:ext cx="3017520" cy="457200"/>
          </a:xfrm>
          <a:prstGeom prst="rect">
            <a:avLst/>
          </a:prstGeom>
          <a:noFill/>
          <a:ln/>
        </p:spPr>
        <p:txBody>
          <a:bodyPr wrap="square" lIns="0" tIns="0" rIns="0" bIns="0" rtlCol="0" anchor="t"/>
          <a:lstStyle/>
          <a:p>
            <a:pPr indent="0" marL="0">
              <a:buNone/>
            </a:pPr>
            <a:r>
              <a:rPr lang="en-US" sz="2200" b="1" dirty="0">
                <a:solidFill>
                  <a:srgbClr val="2A9FD6"/>
                </a:solidFill>
                <a:latin typeface="Arial" pitchFamily="34" charset="0"/>
                <a:ea typeface="Arial" pitchFamily="34" charset="-122"/>
                <a:cs typeface="Arial" pitchFamily="34" charset="-120"/>
              </a:rPr>
              <a:t>Shape</a:t>
            </a:r>
            <a:endParaRPr lang="en-US" sz="2200" dirty="0"/>
          </a:p>
        </p:txBody>
      </p:sp>
      <p:sp>
        <p:nvSpPr>
          <p:cNvPr id="11" name="Shape 8"/>
          <p:cNvSpPr/>
          <p:nvPr/>
        </p:nvSpPr>
        <p:spPr>
          <a:xfrm>
            <a:off x="914400" y="4206240"/>
            <a:ext cx="2971800" cy="457200"/>
          </a:xfrm>
          <a:prstGeom prst="roundRect">
            <a:avLst>
              <a:gd name="adj" fmla="val 16000"/>
            </a:avLst>
          </a:prstGeom>
          <a:solidFill>
            <a:srgbClr val="0E1726"/>
          </a:solidFill>
          <a:ln/>
        </p:spPr>
      </p:sp>
      <p:sp>
        <p:nvSpPr>
          <p:cNvPr id="12" name="Text 9"/>
          <p:cNvSpPr txBox="1"/>
          <p:nvPr/>
        </p:nvSpPr>
        <p:spPr>
          <a:xfrm>
            <a:off x="914400" y="4206240"/>
            <a:ext cx="2971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cmd -opt path</a:t>
            </a:r>
            <a:endParaRPr lang="en-US" sz="1500" dirty="0"/>
          </a:p>
        </p:txBody>
      </p:sp>
      <p:sp>
        <p:nvSpPr>
          <p:cNvPr id="13" name="Text 10"/>
          <p:cNvSpPr txBox="1"/>
          <p:nvPr/>
        </p:nvSpPr>
        <p:spPr>
          <a:xfrm>
            <a:off x="914400" y="4754880"/>
            <a:ext cx="3017520" cy="640080"/>
          </a:xfrm>
          <a:prstGeom prst="rect">
            <a:avLst/>
          </a:prstGeom>
          <a:noFill/>
          <a:ln/>
        </p:spPr>
        <p:txBody>
          <a:bodyPr wrap="square" lIns="0" tIns="0" rIns="0" bIns="0" rtlCol="0" anchor="t"/>
          <a:lstStyle/>
          <a:p>
            <a:pPr indent="0" marL="0">
              <a:buNone/>
            </a:pPr>
            <a:r>
              <a:rPr lang="en-US" sz="1450" dirty="0">
                <a:solidFill>
                  <a:srgbClr val="56657E"/>
                </a:solidFill>
                <a:latin typeface="Calibri" pitchFamily="34" charset="0"/>
                <a:ea typeface="Calibri" pitchFamily="34" charset="-122"/>
                <a:cs typeface="Calibri" pitchFamily="34" charset="-120"/>
              </a:rPr>
              <a:t>What to do, how to do it, and what to do it to.</a:t>
            </a:r>
            <a:endParaRPr lang="en-US" sz="1450" dirty="0"/>
          </a:p>
        </p:txBody>
      </p:sp>
      <p:sp>
        <p:nvSpPr>
          <p:cNvPr id="14" name="Shape 11"/>
          <p:cNvSpPr/>
          <p:nvPr/>
        </p:nvSpPr>
        <p:spPr>
          <a:xfrm>
            <a:off x="4370832" y="3520440"/>
            <a:ext cx="3520440" cy="1965960"/>
          </a:xfrm>
          <a:prstGeom prst="roundRect">
            <a:avLst>
              <a:gd name="adj" fmla="val 4651"/>
            </a:avLst>
          </a:prstGeom>
          <a:solidFill>
            <a:srgbClr val="F1F5FB"/>
          </a:solidFill>
          <a:ln/>
        </p:spPr>
      </p:sp>
      <p:sp>
        <p:nvSpPr>
          <p:cNvPr id="15" name="Text 12"/>
          <p:cNvSpPr txBox="1"/>
          <p:nvPr/>
        </p:nvSpPr>
        <p:spPr>
          <a:xfrm>
            <a:off x="4645152" y="3657600"/>
            <a:ext cx="3017520" cy="457200"/>
          </a:xfrm>
          <a:prstGeom prst="rect">
            <a:avLst/>
          </a:prstGeom>
          <a:noFill/>
          <a:ln/>
        </p:spPr>
        <p:txBody>
          <a:bodyPr wrap="square" lIns="0" tIns="0" rIns="0" bIns="0" rtlCol="0" anchor="t"/>
          <a:lstStyle/>
          <a:p>
            <a:pPr indent="0" marL="0">
              <a:buNone/>
            </a:pPr>
            <a:r>
              <a:rPr lang="en-US" sz="2200" b="1" dirty="0">
                <a:solidFill>
                  <a:srgbClr val="2A9FD6"/>
                </a:solidFill>
                <a:latin typeface="Arial" pitchFamily="34" charset="0"/>
                <a:ea typeface="Arial" pitchFamily="34" charset="-122"/>
                <a:cs typeface="Arial" pitchFamily="34" charset="-120"/>
              </a:rPr>
              <a:t>Ask</a:t>
            </a:r>
            <a:endParaRPr lang="en-US" sz="2200" dirty="0"/>
          </a:p>
        </p:txBody>
      </p:sp>
      <p:sp>
        <p:nvSpPr>
          <p:cNvPr id="16" name="Shape 13"/>
          <p:cNvSpPr/>
          <p:nvPr/>
        </p:nvSpPr>
        <p:spPr>
          <a:xfrm>
            <a:off x="4645152" y="4206240"/>
            <a:ext cx="2971800" cy="457200"/>
          </a:xfrm>
          <a:prstGeom prst="roundRect">
            <a:avLst>
              <a:gd name="adj" fmla="val 16000"/>
            </a:avLst>
          </a:prstGeom>
          <a:solidFill>
            <a:srgbClr val="0E1726"/>
          </a:solidFill>
          <a:ln/>
        </p:spPr>
      </p:sp>
      <p:sp>
        <p:nvSpPr>
          <p:cNvPr id="17" name="Text 14"/>
          <p:cNvSpPr txBox="1"/>
          <p:nvPr/>
        </p:nvSpPr>
        <p:spPr>
          <a:xfrm>
            <a:off x="4645152" y="4206240"/>
            <a:ext cx="2971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--help  man</a:t>
            </a:r>
            <a:endParaRPr lang="en-US" sz="1500" dirty="0"/>
          </a:p>
        </p:txBody>
      </p:sp>
      <p:sp>
        <p:nvSpPr>
          <p:cNvPr id="18" name="Text 15"/>
          <p:cNvSpPr txBox="1"/>
          <p:nvPr/>
        </p:nvSpPr>
        <p:spPr>
          <a:xfrm>
            <a:off x="4645152" y="4754880"/>
            <a:ext cx="3017520" cy="640080"/>
          </a:xfrm>
          <a:prstGeom prst="rect">
            <a:avLst/>
          </a:prstGeom>
          <a:noFill/>
          <a:ln/>
        </p:spPr>
        <p:txBody>
          <a:bodyPr wrap="square" lIns="0" tIns="0" rIns="0" bIns="0" rtlCol="0" anchor="t"/>
          <a:lstStyle/>
          <a:p>
            <a:pPr indent="0" marL="0">
              <a:buNone/>
            </a:pPr>
            <a:r>
              <a:rPr lang="en-US" sz="1450" dirty="0">
                <a:solidFill>
                  <a:srgbClr val="56657E"/>
                </a:solidFill>
                <a:latin typeface="Calibri" pitchFamily="34" charset="0"/>
                <a:ea typeface="Calibri" pitchFamily="34" charset="-122"/>
                <a:cs typeface="Calibri" pitchFamily="34" charset="-120"/>
              </a:rPr>
              <a:t>Every command explains itself. man has the full manual.</a:t>
            </a:r>
            <a:endParaRPr lang="en-US" sz="1450" dirty="0"/>
          </a:p>
        </p:txBody>
      </p:sp>
      <p:sp>
        <p:nvSpPr>
          <p:cNvPr id="19" name="Shape 16"/>
          <p:cNvSpPr/>
          <p:nvPr/>
        </p:nvSpPr>
        <p:spPr>
          <a:xfrm>
            <a:off x="8101584" y="3520440"/>
            <a:ext cx="3520440" cy="1965960"/>
          </a:xfrm>
          <a:prstGeom prst="roundRect">
            <a:avLst>
              <a:gd name="adj" fmla="val 4651"/>
            </a:avLst>
          </a:prstGeom>
          <a:solidFill>
            <a:srgbClr val="F1F5FB"/>
          </a:solidFill>
          <a:ln/>
        </p:spPr>
      </p:sp>
      <p:sp>
        <p:nvSpPr>
          <p:cNvPr id="20" name="Text 17"/>
          <p:cNvSpPr txBox="1"/>
          <p:nvPr/>
        </p:nvSpPr>
        <p:spPr>
          <a:xfrm>
            <a:off x="8375904" y="3657600"/>
            <a:ext cx="3017520" cy="457200"/>
          </a:xfrm>
          <a:prstGeom prst="rect">
            <a:avLst/>
          </a:prstGeom>
          <a:noFill/>
          <a:ln/>
        </p:spPr>
        <p:txBody>
          <a:bodyPr wrap="square" lIns="0" tIns="0" rIns="0" bIns="0" rtlCol="0" anchor="t"/>
          <a:lstStyle/>
          <a:p>
            <a:pPr indent="0" marL="0">
              <a:buNone/>
            </a:pPr>
            <a:r>
              <a:rPr lang="en-US" sz="2200" b="1" dirty="0">
                <a:solidFill>
                  <a:srgbClr val="2A9FD6"/>
                </a:solidFill>
                <a:latin typeface="Arial" pitchFamily="34" charset="0"/>
                <a:ea typeface="Arial" pitchFamily="34" charset="-122"/>
                <a:cs typeface="Arial" pitchFamily="34" charset="-120"/>
              </a:rPr>
              <a:t>Speed up</a:t>
            </a:r>
            <a:endParaRPr lang="en-US" sz="2200" dirty="0"/>
          </a:p>
        </p:txBody>
      </p:sp>
      <p:sp>
        <p:nvSpPr>
          <p:cNvPr id="21" name="Shape 18"/>
          <p:cNvSpPr/>
          <p:nvPr/>
        </p:nvSpPr>
        <p:spPr>
          <a:xfrm>
            <a:off x="8375904" y="4206240"/>
            <a:ext cx="2971800" cy="457200"/>
          </a:xfrm>
          <a:prstGeom prst="roundRect">
            <a:avLst>
              <a:gd name="adj" fmla="val 16000"/>
            </a:avLst>
          </a:prstGeom>
          <a:solidFill>
            <a:srgbClr val="0E1726"/>
          </a:solidFill>
          <a:ln/>
        </p:spPr>
      </p:sp>
      <p:sp>
        <p:nvSpPr>
          <p:cNvPr id="22" name="Text 19"/>
          <p:cNvSpPr txBox="1"/>
          <p:nvPr/>
        </p:nvSpPr>
        <p:spPr>
          <a:xfrm>
            <a:off x="8375904" y="4206240"/>
            <a:ext cx="2971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Tab  ↑  Ctrl+C</a:t>
            </a:r>
            <a:endParaRPr lang="en-US" sz="1500" dirty="0"/>
          </a:p>
        </p:txBody>
      </p:sp>
      <p:sp>
        <p:nvSpPr>
          <p:cNvPr id="23" name="Text 20"/>
          <p:cNvSpPr txBox="1"/>
          <p:nvPr/>
        </p:nvSpPr>
        <p:spPr>
          <a:xfrm>
            <a:off x="8375904" y="4754880"/>
            <a:ext cx="3017520" cy="640080"/>
          </a:xfrm>
          <a:prstGeom prst="rect">
            <a:avLst/>
          </a:prstGeom>
          <a:noFill/>
          <a:ln/>
        </p:spPr>
        <p:txBody>
          <a:bodyPr wrap="square" lIns="0" tIns="0" rIns="0" bIns="0" rtlCol="0" anchor="t"/>
          <a:lstStyle/>
          <a:p>
            <a:pPr indent="0" marL="0">
              <a:buNone/>
            </a:pPr>
            <a:r>
              <a:rPr lang="en-US" sz="1450" dirty="0">
                <a:solidFill>
                  <a:srgbClr val="56657E"/>
                </a:solidFill>
                <a:latin typeface="Calibri" pitchFamily="34" charset="0"/>
                <a:ea typeface="Calibri" pitchFamily="34" charset="-122"/>
                <a:cs typeface="Calibri" pitchFamily="34" charset="-120"/>
              </a:rPr>
              <a:t>Type less, fix faster.</a:t>
            </a:r>
            <a:endParaRPr lang="en-US" sz="1450" dirty="0"/>
          </a:p>
        </p:txBody>
      </p:sp>
      <p:sp>
        <p:nvSpPr>
          <p:cNvPr id="24" name="Text 21"/>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23 / 79</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Every command is a conversation</a:t>
            </a:r>
            <a:endParaRPr lang="en-US" sz="3200" dirty="0"/>
          </a:p>
        </p:txBody>
      </p:sp>
      <p:sp>
        <p:nvSpPr>
          <p:cNvPr id="4" name="Text 1"/>
          <p:cNvSpPr txBox="1"/>
          <p:nvPr/>
        </p:nvSpPr>
        <p:spPr>
          <a:xfrm>
            <a:off x="548640" y="1371600"/>
            <a:ext cx="11094415" cy="457200"/>
          </a:xfrm>
          <a:prstGeom prst="rect">
            <a:avLst/>
          </a:prstGeom>
          <a:noFill/>
          <a:ln/>
        </p:spPr>
        <p:txBody>
          <a:bodyPr wrap="square" lIns="0" tIns="0" rIns="0" bIns="0" rtlCol="0" anchor="t"/>
          <a:lstStyle/>
          <a:p>
            <a:pPr indent="0" marL="0">
              <a:buNone/>
            </a:pPr>
            <a:r>
              <a:rPr lang="en-US" sz="1800" dirty="0">
                <a:solidFill>
                  <a:srgbClr val="56657E"/>
                </a:solidFill>
                <a:latin typeface="Calibri" pitchFamily="34" charset="0"/>
                <a:ea typeface="Calibri" pitchFamily="34" charset="-122"/>
                <a:cs typeface="Calibri" pitchFamily="34" charset="-120"/>
              </a:rPr>
              <a:t>You are not memorising magic words - you are talking to the computer. Ask, read the reply, ask again.</a:t>
            </a:r>
            <a:endParaRPr lang="en-US" sz="1800" dirty="0"/>
          </a:p>
        </p:txBody>
      </p:sp>
      <p:sp>
        <p:nvSpPr>
          <p:cNvPr id="5" name="Text 2"/>
          <p:cNvSpPr txBox="1"/>
          <p:nvPr/>
        </p:nvSpPr>
        <p:spPr>
          <a:xfrm>
            <a:off x="640080" y="1874520"/>
            <a:ext cx="3200400" cy="320040"/>
          </a:xfrm>
          <a:prstGeom prst="rect">
            <a:avLst/>
          </a:prstGeom>
          <a:noFill/>
          <a:ln/>
        </p:spPr>
        <p:txBody>
          <a:bodyPr wrap="square" lIns="0" tIns="0" rIns="0" bIns="0" rtlCol="0" anchor="t"/>
          <a:lstStyle/>
          <a:p>
            <a:pPr indent="0" marL="0">
              <a:buNone/>
            </a:pPr>
            <a:r>
              <a:rPr lang="en-US" sz="1400" b="1" dirty="0">
                <a:solidFill>
                  <a:srgbClr val="2A9FD6"/>
                </a:solidFill>
                <a:latin typeface="Calibri" pitchFamily="34" charset="0"/>
                <a:ea typeface="Calibri" pitchFamily="34" charset="-122"/>
                <a:cs typeface="Calibri" pitchFamily="34" charset="-120"/>
              </a:rPr>
              <a:t>You ask</a:t>
            </a:r>
            <a:endParaRPr lang="en-US" sz="1400" dirty="0"/>
          </a:p>
        </p:txBody>
      </p:sp>
      <p:sp>
        <p:nvSpPr>
          <p:cNvPr id="6" name="Text 3"/>
          <p:cNvSpPr txBox="1"/>
          <p:nvPr/>
        </p:nvSpPr>
        <p:spPr>
          <a:xfrm>
            <a:off x="4114800" y="1874520"/>
            <a:ext cx="3108960" cy="320040"/>
          </a:xfrm>
          <a:prstGeom prst="rect">
            <a:avLst/>
          </a:prstGeom>
          <a:noFill/>
          <a:ln/>
        </p:spPr>
        <p:txBody>
          <a:bodyPr wrap="square" lIns="0" tIns="0" rIns="0" bIns="0" rtlCol="0" anchor="t"/>
          <a:lstStyle/>
          <a:p>
            <a:pPr indent="0" marL="0">
              <a:buNone/>
            </a:pPr>
            <a:r>
              <a:rPr lang="en-US" sz="1400" b="1" dirty="0">
                <a:solidFill>
                  <a:srgbClr val="12213A"/>
                </a:solidFill>
                <a:latin typeface="Calibri" pitchFamily="34" charset="0"/>
                <a:ea typeface="Calibri" pitchFamily="34" charset="-122"/>
                <a:cs typeface="Calibri" pitchFamily="34" charset="-120"/>
              </a:rPr>
              <a:t>You type</a:t>
            </a:r>
            <a:endParaRPr lang="en-US" sz="1400" dirty="0"/>
          </a:p>
        </p:txBody>
      </p:sp>
      <p:sp>
        <p:nvSpPr>
          <p:cNvPr id="7" name="Text 4"/>
          <p:cNvSpPr txBox="1"/>
          <p:nvPr/>
        </p:nvSpPr>
        <p:spPr>
          <a:xfrm>
            <a:off x="7498080" y="1874520"/>
            <a:ext cx="4233672" cy="320040"/>
          </a:xfrm>
          <a:prstGeom prst="rect">
            <a:avLst/>
          </a:prstGeom>
          <a:noFill/>
          <a:ln/>
        </p:spPr>
        <p:txBody>
          <a:bodyPr wrap="square" lIns="0" tIns="0" rIns="0" bIns="0" rtlCol="0" anchor="t"/>
          <a:lstStyle/>
          <a:p>
            <a:pPr indent="0" marL="0">
              <a:buNone/>
            </a:pPr>
            <a:r>
              <a:rPr lang="en-US" sz="1400" b="1" dirty="0">
                <a:solidFill>
                  <a:srgbClr val="17875A"/>
                </a:solidFill>
                <a:latin typeface="Calibri" pitchFamily="34" charset="0"/>
                <a:ea typeface="Calibri" pitchFamily="34" charset="-122"/>
                <a:cs typeface="Calibri" pitchFamily="34" charset="-120"/>
              </a:rPr>
              <a:t>It answers</a:t>
            </a:r>
            <a:endParaRPr lang="en-US" sz="1400" dirty="0"/>
          </a:p>
        </p:txBody>
      </p:sp>
      <p:sp>
        <p:nvSpPr>
          <p:cNvPr id="8" name="Shape 5"/>
          <p:cNvSpPr/>
          <p:nvPr/>
        </p:nvSpPr>
        <p:spPr>
          <a:xfrm>
            <a:off x="548640" y="2331720"/>
            <a:ext cx="3200400" cy="987552"/>
          </a:xfrm>
          <a:prstGeom prst="roundRect">
            <a:avLst>
              <a:gd name="adj" fmla="val 14815"/>
            </a:avLst>
          </a:prstGeom>
          <a:solidFill>
            <a:srgbClr val="E5F3FA"/>
          </a:solidFill>
          <a:ln w="12700">
            <a:solidFill>
              <a:srgbClr val="A6D7EE"/>
            </a:solidFill>
            <a:prstDash val="solid"/>
          </a:ln>
        </p:spPr>
      </p:sp>
      <p:sp>
        <p:nvSpPr>
          <p:cNvPr id="9" name="Text 6"/>
          <p:cNvSpPr txBox="1"/>
          <p:nvPr/>
        </p:nvSpPr>
        <p:spPr>
          <a:xfrm>
            <a:off x="822960" y="2331720"/>
            <a:ext cx="2697480" cy="987552"/>
          </a:xfrm>
          <a:prstGeom prst="rect">
            <a:avLst/>
          </a:prstGeom>
          <a:noFill/>
          <a:ln/>
        </p:spPr>
        <p:txBody>
          <a:bodyPr wrap="square" lIns="0" tIns="0" rIns="0" bIns="0" rtlCol="0" anchor="ctr"/>
          <a:lstStyle/>
          <a:p>
            <a:pPr indent="0" marL="0">
              <a:buNone/>
            </a:pPr>
            <a:r>
              <a:rPr lang="en-US" sz="1800" b="1" dirty="0">
                <a:solidFill>
                  <a:srgbClr val="12213A"/>
                </a:solidFill>
                <a:latin typeface="Calibri" pitchFamily="34" charset="0"/>
                <a:ea typeface="Calibri" pitchFamily="34" charset="-122"/>
                <a:cs typeface="Calibri" pitchFamily="34" charset="-120"/>
              </a:rPr>
              <a:t>"Where am I?"</a:t>
            </a:r>
            <a:endParaRPr lang="en-US" sz="1800" dirty="0"/>
          </a:p>
        </p:txBody>
      </p:sp>
      <p:sp>
        <p:nvSpPr>
          <p:cNvPr id="10" name="Text 7"/>
          <p:cNvSpPr txBox="1"/>
          <p:nvPr/>
        </p:nvSpPr>
        <p:spPr>
          <a:xfrm>
            <a:off x="3749040" y="2331720"/>
            <a:ext cx="274320" cy="987552"/>
          </a:xfrm>
          <a:prstGeom prst="rect">
            <a:avLst/>
          </a:prstGeom>
          <a:noFill/>
          <a:ln/>
        </p:spPr>
        <p:txBody>
          <a:bodyPr wrap="square" lIns="0" tIns="0" rIns="0" bIns="0" rtlCol="0" anchor="ctr"/>
          <a:lstStyle/>
          <a:p>
            <a:pPr algn="ctr" indent="0" marL="0">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1" name="Shape 8"/>
          <p:cNvSpPr/>
          <p:nvPr/>
        </p:nvSpPr>
        <p:spPr>
          <a:xfrm>
            <a:off x="4023360" y="2578608"/>
            <a:ext cx="3108960" cy="493776"/>
          </a:xfrm>
          <a:prstGeom prst="roundRect">
            <a:avLst>
              <a:gd name="adj" fmla="val 18519"/>
            </a:avLst>
          </a:prstGeom>
          <a:solidFill>
            <a:srgbClr val="0E1726"/>
          </a:solidFill>
          <a:ln/>
        </p:spPr>
      </p:sp>
      <p:sp>
        <p:nvSpPr>
          <p:cNvPr id="12" name="Text 9"/>
          <p:cNvSpPr txBox="1"/>
          <p:nvPr/>
        </p:nvSpPr>
        <p:spPr>
          <a:xfrm>
            <a:off x="4224528" y="2578608"/>
            <a:ext cx="2788920" cy="493776"/>
          </a:xfrm>
          <a:prstGeom prst="rect">
            <a:avLst/>
          </a:prstGeom>
          <a:noFill/>
          <a:ln/>
        </p:spPr>
        <p:txBody>
          <a:bodyPr wrap="square" lIns="0" tIns="0" rIns="0" bIns="0" rtlCol="0" anchor="ctr">
            <a:normAutofit/>
          </a:bodyPr>
          <a:lstStyle/>
          <a:p>
            <a:pPr indent="0" marL="0">
              <a:buNone/>
            </a:pPr>
            <a:r>
              <a:rPr lang="en-US" sz="1500" b="1" dirty="0">
                <a:solidFill>
                  <a:srgbClr val="46D39A"/>
                </a:solidFill>
                <a:latin typeface="Courier New" pitchFamily="34" charset="0"/>
                <a:ea typeface="Courier New" pitchFamily="34" charset="-122"/>
                <a:cs typeface="Courier New" pitchFamily="34" charset="-120"/>
              </a:rPr>
              <a:t>$ </a:t>
            </a:r>
            <a:pPr indent="0" marL="0">
              <a:buNone/>
            </a:pPr>
            <a:r>
              <a:rPr lang="en-US" sz="1500" b="1" dirty="0">
                <a:solidFill>
                  <a:srgbClr val="FFFFFF"/>
                </a:solidFill>
                <a:latin typeface="Courier New" pitchFamily="34" charset="0"/>
                <a:ea typeface="Courier New" pitchFamily="34" charset="-122"/>
                <a:cs typeface="Courier New" pitchFamily="34" charset="-120"/>
              </a:rPr>
              <a:t>pwd</a:t>
            </a:r>
            <a:endParaRPr lang="en-US" sz="1500" dirty="0"/>
          </a:p>
        </p:txBody>
      </p:sp>
      <p:sp>
        <p:nvSpPr>
          <p:cNvPr id="13" name="Text 10"/>
          <p:cNvSpPr txBox="1"/>
          <p:nvPr/>
        </p:nvSpPr>
        <p:spPr>
          <a:xfrm>
            <a:off x="7132320" y="2331720"/>
            <a:ext cx="274320" cy="987552"/>
          </a:xfrm>
          <a:prstGeom prst="rect">
            <a:avLst/>
          </a:prstGeom>
          <a:noFill/>
          <a:ln/>
        </p:spPr>
        <p:txBody>
          <a:bodyPr wrap="square" lIns="0" tIns="0" rIns="0" bIns="0" rtlCol="0" anchor="ctr"/>
          <a:lstStyle/>
          <a:p>
            <a:pPr algn="ctr" indent="0" marL="0">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4" name="Shape 11"/>
          <p:cNvSpPr/>
          <p:nvPr/>
        </p:nvSpPr>
        <p:spPr>
          <a:xfrm>
            <a:off x="7406640" y="2331720"/>
            <a:ext cx="4233672" cy="987552"/>
          </a:xfrm>
          <a:prstGeom prst="roundRect">
            <a:avLst>
              <a:gd name="adj" fmla="val 14815"/>
            </a:avLst>
          </a:prstGeom>
          <a:solidFill>
            <a:srgbClr val="E8F3EF"/>
          </a:solidFill>
          <a:ln w="12700">
            <a:solidFill>
              <a:srgbClr val="A2CFBD"/>
            </a:solidFill>
            <a:prstDash val="solid"/>
          </a:ln>
        </p:spPr>
      </p:sp>
      <p:sp>
        <p:nvSpPr>
          <p:cNvPr id="15" name="Text 12"/>
          <p:cNvSpPr txBox="1"/>
          <p:nvPr/>
        </p:nvSpPr>
        <p:spPr>
          <a:xfrm>
            <a:off x="7680960" y="2331720"/>
            <a:ext cx="3730752" cy="987552"/>
          </a:xfrm>
          <a:prstGeom prst="rect">
            <a:avLst/>
          </a:prstGeom>
          <a:noFill/>
          <a:ln/>
        </p:spPr>
        <p:txBody>
          <a:bodyPr wrap="square" lIns="0" tIns="0" rIns="0" bIns="0" rtlCol="0" anchor="ctr">
            <a:normAutofit/>
          </a:bodyPr>
          <a:lstStyle/>
          <a:p>
            <a:pPr indent="0" marL="0">
              <a:buNone/>
            </a:pPr>
            <a:r>
              <a:rPr lang="en-US" sz="1600" b="1" dirty="0">
                <a:solidFill>
                  <a:srgbClr val="0E5A3E"/>
                </a:solidFill>
                <a:latin typeface="Courier New" pitchFamily="34" charset="0"/>
                <a:ea typeface="Courier New" pitchFamily="34" charset="-122"/>
                <a:cs typeface="Courier New" pitchFamily="34" charset="-120"/>
              </a:rPr>
              <a:t>/home/player</a:t>
            </a:r>
            <a:endParaRPr lang="en-US" sz="1600" dirty="0"/>
          </a:p>
        </p:txBody>
      </p:sp>
      <p:sp>
        <p:nvSpPr>
          <p:cNvPr id="16" name="Shape 13"/>
          <p:cNvSpPr/>
          <p:nvPr/>
        </p:nvSpPr>
        <p:spPr>
          <a:xfrm>
            <a:off x="548640" y="3520440"/>
            <a:ext cx="3200400" cy="987552"/>
          </a:xfrm>
          <a:prstGeom prst="roundRect">
            <a:avLst>
              <a:gd name="adj" fmla="val 14815"/>
            </a:avLst>
          </a:prstGeom>
          <a:solidFill>
            <a:srgbClr val="E5F3FA"/>
          </a:solidFill>
          <a:ln w="12700">
            <a:solidFill>
              <a:srgbClr val="A6D7EE"/>
            </a:solidFill>
            <a:prstDash val="solid"/>
          </a:ln>
        </p:spPr>
      </p:sp>
      <p:sp>
        <p:nvSpPr>
          <p:cNvPr id="17" name="Text 14"/>
          <p:cNvSpPr txBox="1"/>
          <p:nvPr/>
        </p:nvSpPr>
        <p:spPr>
          <a:xfrm>
            <a:off x="822960" y="3520440"/>
            <a:ext cx="2697480" cy="987552"/>
          </a:xfrm>
          <a:prstGeom prst="rect">
            <a:avLst/>
          </a:prstGeom>
          <a:noFill/>
          <a:ln/>
        </p:spPr>
        <p:txBody>
          <a:bodyPr wrap="square" lIns="0" tIns="0" rIns="0" bIns="0" rtlCol="0" anchor="ctr"/>
          <a:lstStyle/>
          <a:p>
            <a:pPr indent="0" marL="0">
              <a:buNone/>
            </a:pPr>
            <a:r>
              <a:rPr lang="en-US" sz="1800" b="1" dirty="0">
                <a:solidFill>
                  <a:srgbClr val="12213A"/>
                </a:solidFill>
                <a:latin typeface="Calibri" pitchFamily="34" charset="0"/>
                <a:ea typeface="Calibri" pitchFamily="34" charset="-122"/>
                <a:cs typeface="Calibri" pitchFamily="34" charset="-120"/>
              </a:rPr>
              <a:t>"What is in here?"</a:t>
            </a:r>
            <a:endParaRPr lang="en-US" sz="1800" dirty="0"/>
          </a:p>
        </p:txBody>
      </p:sp>
      <p:sp>
        <p:nvSpPr>
          <p:cNvPr id="18" name="Text 15"/>
          <p:cNvSpPr txBox="1"/>
          <p:nvPr/>
        </p:nvSpPr>
        <p:spPr>
          <a:xfrm>
            <a:off x="3749040" y="3520440"/>
            <a:ext cx="274320" cy="987552"/>
          </a:xfrm>
          <a:prstGeom prst="rect">
            <a:avLst/>
          </a:prstGeom>
          <a:noFill/>
          <a:ln/>
        </p:spPr>
        <p:txBody>
          <a:bodyPr wrap="square" lIns="0" tIns="0" rIns="0" bIns="0" rtlCol="0" anchor="ctr"/>
          <a:lstStyle/>
          <a:p>
            <a:pPr algn="ctr" indent="0" marL="0">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9" name="Shape 16"/>
          <p:cNvSpPr/>
          <p:nvPr/>
        </p:nvSpPr>
        <p:spPr>
          <a:xfrm>
            <a:off x="4023360" y="3767328"/>
            <a:ext cx="3108960" cy="493776"/>
          </a:xfrm>
          <a:prstGeom prst="roundRect">
            <a:avLst>
              <a:gd name="adj" fmla="val 18519"/>
            </a:avLst>
          </a:prstGeom>
          <a:solidFill>
            <a:srgbClr val="0E1726"/>
          </a:solidFill>
          <a:ln/>
        </p:spPr>
      </p:sp>
      <p:sp>
        <p:nvSpPr>
          <p:cNvPr id="20" name="Text 17"/>
          <p:cNvSpPr txBox="1"/>
          <p:nvPr/>
        </p:nvSpPr>
        <p:spPr>
          <a:xfrm>
            <a:off x="4224528" y="3767328"/>
            <a:ext cx="2788920" cy="493776"/>
          </a:xfrm>
          <a:prstGeom prst="rect">
            <a:avLst/>
          </a:prstGeom>
          <a:noFill/>
          <a:ln/>
        </p:spPr>
        <p:txBody>
          <a:bodyPr wrap="square" lIns="0" tIns="0" rIns="0" bIns="0" rtlCol="0" anchor="ctr">
            <a:normAutofit/>
          </a:bodyPr>
          <a:lstStyle/>
          <a:p>
            <a:pPr indent="0" marL="0">
              <a:buNone/>
            </a:pPr>
            <a:r>
              <a:rPr lang="en-US" sz="1500" b="1" dirty="0">
                <a:solidFill>
                  <a:srgbClr val="46D39A"/>
                </a:solidFill>
                <a:latin typeface="Courier New" pitchFamily="34" charset="0"/>
                <a:ea typeface="Courier New" pitchFamily="34" charset="-122"/>
                <a:cs typeface="Courier New" pitchFamily="34" charset="-120"/>
              </a:rPr>
              <a:t>$ </a:t>
            </a:r>
            <a:pPr indent="0" marL="0">
              <a:buNone/>
            </a:pPr>
            <a:r>
              <a:rPr lang="en-US" sz="1500" b="1" dirty="0">
                <a:solidFill>
                  <a:srgbClr val="FFFFFF"/>
                </a:solidFill>
                <a:latin typeface="Courier New" pitchFamily="34" charset="0"/>
                <a:ea typeface="Courier New" pitchFamily="34" charset="-122"/>
                <a:cs typeface="Courier New" pitchFamily="34" charset="-120"/>
              </a:rPr>
              <a:t>ls</a:t>
            </a:r>
            <a:endParaRPr lang="en-US" sz="1500" dirty="0"/>
          </a:p>
        </p:txBody>
      </p:sp>
      <p:sp>
        <p:nvSpPr>
          <p:cNvPr id="21" name="Text 18"/>
          <p:cNvSpPr txBox="1"/>
          <p:nvPr/>
        </p:nvSpPr>
        <p:spPr>
          <a:xfrm>
            <a:off x="7132320" y="3520440"/>
            <a:ext cx="274320" cy="987552"/>
          </a:xfrm>
          <a:prstGeom prst="rect">
            <a:avLst/>
          </a:prstGeom>
          <a:noFill/>
          <a:ln/>
        </p:spPr>
        <p:txBody>
          <a:bodyPr wrap="square" lIns="0" tIns="0" rIns="0" bIns="0" rtlCol="0" anchor="ctr"/>
          <a:lstStyle/>
          <a:p>
            <a:pPr algn="ctr" indent="0" marL="0">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22" name="Shape 19"/>
          <p:cNvSpPr/>
          <p:nvPr/>
        </p:nvSpPr>
        <p:spPr>
          <a:xfrm>
            <a:off x="7406640" y="3520440"/>
            <a:ext cx="4233672" cy="987552"/>
          </a:xfrm>
          <a:prstGeom prst="roundRect">
            <a:avLst>
              <a:gd name="adj" fmla="val 14815"/>
            </a:avLst>
          </a:prstGeom>
          <a:solidFill>
            <a:srgbClr val="E8F3EF"/>
          </a:solidFill>
          <a:ln w="12700">
            <a:solidFill>
              <a:srgbClr val="A2CFBD"/>
            </a:solidFill>
            <a:prstDash val="solid"/>
          </a:ln>
        </p:spPr>
      </p:sp>
      <p:sp>
        <p:nvSpPr>
          <p:cNvPr id="23" name="Text 20"/>
          <p:cNvSpPr txBox="1"/>
          <p:nvPr/>
        </p:nvSpPr>
        <p:spPr>
          <a:xfrm>
            <a:off x="7680960" y="3520440"/>
            <a:ext cx="3730752" cy="987552"/>
          </a:xfrm>
          <a:prstGeom prst="rect">
            <a:avLst/>
          </a:prstGeom>
          <a:noFill/>
          <a:ln/>
        </p:spPr>
        <p:txBody>
          <a:bodyPr wrap="square" lIns="0" tIns="0" rIns="0" bIns="0" rtlCol="0" anchor="ctr">
            <a:normAutofit/>
          </a:bodyPr>
          <a:lstStyle/>
          <a:p>
            <a:pPr indent="0" marL="0">
              <a:buNone/>
            </a:pPr>
            <a:r>
              <a:rPr lang="en-US" sz="1600" b="1" dirty="0">
                <a:solidFill>
                  <a:srgbClr val="0E5A3E"/>
                </a:solidFill>
                <a:latin typeface="Courier New" pitchFamily="34" charset="0"/>
                <a:ea typeface="Courier New" pitchFamily="34" charset="-122"/>
                <a:cs typeface="Courier New" pitchFamily="34" charset="-120"/>
              </a:rPr>
              <a:t>town   notes.txt</a:t>
            </a:r>
            <a:endParaRPr lang="en-US" sz="1600" dirty="0"/>
          </a:p>
        </p:txBody>
      </p:sp>
      <p:sp>
        <p:nvSpPr>
          <p:cNvPr id="24" name="Shape 21"/>
          <p:cNvSpPr/>
          <p:nvPr/>
        </p:nvSpPr>
        <p:spPr>
          <a:xfrm>
            <a:off x="548640" y="4709160"/>
            <a:ext cx="3200400" cy="987552"/>
          </a:xfrm>
          <a:prstGeom prst="roundRect">
            <a:avLst>
              <a:gd name="adj" fmla="val 14815"/>
            </a:avLst>
          </a:prstGeom>
          <a:solidFill>
            <a:srgbClr val="E5F3FA"/>
          </a:solidFill>
          <a:ln w="12700">
            <a:solidFill>
              <a:srgbClr val="A6D7EE"/>
            </a:solidFill>
            <a:prstDash val="solid"/>
          </a:ln>
        </p:spPr>
      </p:sp>
      <p:sp>
        <p:nvSpPr>
          <p:cNvPr id="25" name="Text 22"/>
          <p:cNvSpPr txBox="1"/>
          <p:nvPr/>
        </p:nvSpPr>
        <p:spPr>
          <a:xfrm>
            <a:off x="822960" y="4709160"/>
            <a:ext cx="2697480" cy="987552"/>
          </a:xfrm>
          <a:prstGeom prst="rect">
            <a:avLst/>
          </a:prstGeom>
          <a:noFill/>
          <a:ln/>
        </p:spPr>
        <p:txBody>
          <a:bodyPr wrap="square" lIns="0" tIns="0" rIns="0" bIns="0" rtlCol="0" anchor="ctr"/>
          <a:lstStyle/>
          <a:p>
            <a:pPr indent="0" marL="0">
              <a:buNone/>
            </a:pPr>
            <a:r>
              <a:rPr lang="en-US" sz="1800" b="1" dirty="0">
                <a:solidFill>
                  <a:srgbClr val="12213A"/>
                </a:solidFill>
                <a:latin typeface="Calibri" pitchFamily="34" charset="0"/>
                <a:ea typeface="Calibri" pitchFamily="34" charset="-122"/>
                <a:cs typeface="Calibri" pitchFamily="34" charset="-120"/>
              </a:rPr>
              <a:t>"Read that file"</a:t>
            </a:r>
            <a:endParaRPr lang="en-US" sz="1800" dirty="0"/>
          </a:p>
        </p:txBody>
      </p:sp>
      <p:sp>
        <p:nvSpPr>
          <p:cNvPr id="26" name="Text 23"/>
          <p:cNvSpPr txBox="1"/>
          <p:nvPr/>
        </p:nvSpPr>
        <p:spPr>
          <a:xfrm>
            <a:off x="3749040" y="4709160"/>
            <a:ext cx="274320" cy="987552"/>
          </a:xfrm>
          <a:prstGeom prst="rect">
            <a:avLst/>
          </a:prstGeom>
          <a:noFill/>
          <a:ln/>
        </p:spPr>
        <p:txBody>
          <a:bodyPr wrap="square" lIns="0" tIns="0" rIns="0" bIns="0" rtlCol="0" anchor="ctr"/>
          <a:lstStyle/>
          <a:p>
            <a:pPr algn="ctr" indent="0" marL="0">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27" name="Shape 24"/>
          <p:cNvSpPr/>
          <p:nvPr/>
        </p:nvSpPr>
        <p:spPr>
          <a:xfrm>
            <a:off x="4023360" y="4956048"/>
            <a:ext cx="3108960" cy="493776"/>
          </a:xfrm>
          <a:prstGeom prst="roundRect">
            <a:avLst>
              <a:gd name="adj" fmla="val 18519"/>
            </a:avLst>
          </a:prstGeom>
          <a:solidFill>
            <a:srgbClr val="0E1726"/>
          </a:solidFill>
          <a:ln/>
        </p:spPr>
      </p:sp>
      <p:sp>
        <p:nvSpPr>
          <p:cNvPr id="28" name="Text 25"/>
          <p:cNvSpPr txBox="1"/>
          <p:nvPr/>
        </p:nvSpPr>
        <p:spPr>
          <a:xfrm>
            <a:off x="4224528" y="4956048"/>
            <a:ext cx="2788920" cy="493776"/>
          </a:xfrm>
          <a:prstGeom prst="rect">
            <a:avLst/>
          </a:prstGeom>
          <a:noFill/>
          <a:ln/>
        </p:spPr>
        <p:txBody>
          <a:bodyPr wrap="square" lIns="0" tIns="0" rIns="0" bIns="0" rtlCol="0" anchor="ctr">
            <a:normAutofit/>
          </a:bodyPr>
          <a:lstStyle/>
          <a:p>
            <a:pPr indent="0" marL="0">
              <a:buNone/>
            </a:pPr>
            <a:r>
              <a:rPr lang="en-US" sz="1500" b="1" dirty="0">
                <a:solidFill>
                  <a:srgbClr val="46D39A"/>
                </a:solidFill>
                <a:latin typeface="Courier New" pitchFamily="34" charset="0"/>
                <a:ea typeface="Courier New" pitchFamily="34" charset="-122"/>
                <a:cs typeface="Courier New" pitchFamily="34" charset="-120"/>
              </a:rPr>
              <a:t>$ </a:t>
            </a:r>
            <a:pPr indent="0" marL="0">
              <a:buNone/>
            </a:pPr>
            <a:r>
              <a:rPr lang="en-US" sz="1500" b="1" dirty="0">
                <a:solidFill>
                  <a:srgbClr val="FFFFFF"/>
                </a:solidFill>
                <a:latin typeface="Courier New" pitchFamily="34" charset="0"/>
                <a:ea typeface="Courier New" pitchFamily="34" charset="-122"/>
                <a:cs typeface="Courier New" pitchFamily="34" charset="-120"/>
              </a:rPr>
              <a:t>cat notes.txt</a:t>
            </a:r>
            <a:endParaRPr lang="en-US" sz="1500" dirty="0"/>
          </a:p>
        </p:txBody>
      </p:sp>
      <p:sp>
        <p:nvSpPr>
          <p:cNvPr id="29" name="Text 26"/>
          <p:cNvSpPr txBox="1"/>
          <p:nvPr/>
        </p:nvSpPr>
        <p:spPr>
          <a:xfrm>
            <a:off x="7132320" y="4709160"/>
            <a:ext cx="274320" cy="987552"/>
          </a:xfrm>
          <a:prstGeom prst="rect">
            <a:avLst/>
          </a:prstGeom>
          <a:noFill/>
          <a:ln/>
        </p:spPr>
        <p:txBody>
          <a:bodyPr wrap="square" lIns="0" tIns="0" rIns="0" bIns="0" rtlCol="0" anchor="ctr"/>
          <a:lstStyle/>
          <a:p>
            <a:pPr algn="ctr" indent="0" marL="0">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30" name="Shape 27"/>
          <p:cNvSpPr/>
          <p:nvPr/>
        </p:nvSpPr>
        <p:spPr>
          <a:xfrm>
            <a:off x="7406640" y="4709160"/>
            <a:ext cx="4233672" cy="987552"/>
          </a:xfrm>
          <a:prstGeom prst="roundRect">
            <a:avLst>
              <a:gd name="adj" fmla="val 14815"/>
            </a:avLst>
          </a:prstGeom>
          <a:solidFill>
            <a:srgbClr val="E8F3EF"/>
          </a:solidFill>
          <a:ln w="12700">
            <a:solidFill>
              <a:srgbClr val="A2CFBD"/>
            </a:solidFill>
            <a:prstDash val="solid"/>
          </a:ln>
        </p:spPr>
      </p:sp>
      <p:sp>
        <p:nvSpPr>
          <p:cNvPr id="31" name="Text 28"/>
          <p:cNvSpPr txBox="1"/>
          <p:nvPr/>
        </p:nvSpPr>
        <p:spPr>
          <a:xfrm>
            <a:off x="7680960" y="4709160"/>
            <a:ext cx="3730752" cy="987552"/>
          </a:xfrm>
          <a:prstGeom prst="rect">
            <a:avLst/>
          </a:prstGeom>
          <a:noFill/>
          <a:ln/>
        </p:spPr>
        <p:txBody>
          <a:bodyPr wrap="square" lIns="0" tIns="0" rIns="0" bIns="0" rtlCol="0" anchor="ctr">
            <a:normAutofit/>
          </a:bodyPr>
          <a:lstStyle/>
          <a:p>
            <a:pPr indent="0" marL="0">
              <a:buNone/>
            </a:pPr>
            <a:r>
              <a:rPr lang="en-US" sz="1600" b="1" dirty="0">
                <a:solidFill>
                  <a:srgbClr val="0E5A3E"/>
                </a:solidFill>
                <a:latin typeface="Courier New" pitchFamily="34" charset="0"/>
                <a:ea typeface="Courier New" pitchFamily="34" charset="-122"/>
                <a:cs typeface="Courier New" pitchFamily="34" charset="-120"/>
              </a:rPr>
              <a:t>Welcome, player.</a:t>
            </a:r>
            <a:endParaRPr lang="en-US" sz="1600" dirty="0"/>
          </a:p>
        </p:txBody>
      </p:sp>
      <p:sp>
        <p:nvSpPr>
          <p:cNvPr id="32" name="Text 29"/>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24 / 79</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Anatomy of a command</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ls -l /home</a:t>
            </a:r>
            <a:endParaRPr lang="en-US" sz="1300" dirty="0"/>
          </a:p>
        </p:txBody>
      </p:sp>
      <p:sp>
        <p:nvSpPr>
          <p:cNvPr id="8" name="Shape 5"/>
          <p:cNvSpPr/>
          <p:nvPr/>
        </p:nvSpPr>
        <p:spPr>
          <a:xfrm>
            <a:off x="548640" y="1508760"/>
            <a:ext cx="11094415" cy="1371600"/>
          </a:xfrm>
          <a:prstGeom prst="roundRect">
            <a:avLst>
              <a:gd name="adj" fmla="val 6667"/>
            </a:avLst>
          </a:prstGeom>
          <a:solidFill>
            <a:srgbClr val="0E1726"/>
          </a:solidFill>
          <a:ln/>
        </p:spPr>
      </p:sp>
      <p:sp>
        <p:nvSpPr>
          <p:cNvPr id="9" name="Text 6"/>
          <p:cNvSpPr txBox="1"/>
          <p:nvPr/>
        </p:nvSpPr>
        <p:spPr>
          <a:xfrm>
            <a:off x="548640" y="1508760"/>
            <a:ext cx="11094415" cy="1371600"/>
          </a:xfrm>
          <a:prstGeom prst="rect">
            <a:avLst/>
          </a:prstGeom>
          <a:noFill/>
          <a:ln/>
        </p:spPr>
        <p:txBody>
          <a:bodyPr wrap="square" lIns="0" tIns="0" rIns="0" bIns="0" rtlCol="0" anchor="ctr"/>
          <a:lstStyle/>
          <a:p>
            <a:pPr algn="ctr" indent="0" marL="0">
              <a:buNone/>
            </a:pPr>
            <a:r>
              <a:rPr lang="en-US" sz="3600" b="1" dirty="0">
                <a:solidFill>
                  <a:srgbClr val="46D39A"/>
                </a:solidFill>
                <a:latin typeface="Courier New" pitchFamily="34" charset="0"/>
                <a:ea typeface="Courier New" pitchFamily="34" charset="-122"/>
                <a:cs typeface="Courier New" pitchFamily="34" charset="-120"/>
              </a:rPr>
              <a:t>player</a:t>
            </a:r>
            <a:pPr algn="ctr" indent="0" marL="0">
              <a:buNone/>
            </a:pPr>
            <a:r>
              <a:rPr lang="en-US" sz="3600" b="1" dirty="0">
                <a:solidFill>
                  <a:srgbClr val="B8C4D9"/>
                </a:solidFill>
                <a:latin typeface="Courier New" pitchFamily="34" charset="0"/>
                <a:ea typeface="Courier New" pitchFamily="34" charset="-122"/>
                <a:cs typeface="Courier New" pitchFamily="34" charset="-120"/>
              </a:rPr>
              <a:t>@</a:t>
            </a:r>
            <a:pPr algn="ctr" indent="0" marL="0">
              <a:buNone/>
            </a:pPr>
            <a:r>
              <a:rPr lang="en-US" sz="3600" b="1" dirty="0">
                <a:solidFill>
                  <a:srgbClr val="7FB2FF"/>
                </a:solidFill>
                <a:latin typeface="Courier New" pitchFamily="34" charset="0"/>
                <a:ea typeface="Courier New" pitchFamily="34" charset="-122"/>
                <a:cs typeface="Courier New" pitchFamily="34" charset="-120"/>
              </a:rPr>
              <a:t>quest</a:t>
            </a:r>
            <a:pPr algn="ctr" indent="0" marL="0">
              <a:buNone/>
            </a:pPr>
            <a:r>
              <a:rPr lang="en-US" sz="3600" b="1" dirty="0">
                <a:solidFill>
                  <a:srgbClr val="B8C4D9"/>
                </a:solidFill>
                <a:latin typeface="Courier New" pitchFamily="34" charset="0"/>
                <a:ea typeface="Courier New" pitchFamily="34" charset="-122"/>
                <a:cs typeface="Courier New" pitchFamily="34" charset="-120"/>
              </a:rPr>
              <a:t>:</a:t>
            </a:r>
            <a:pPr algn="ctr" indent="0" marL="0">
              <a:buNone/>
            </a:pPr>
            <a:r>
              <a:rPr lang="en-US" sz="3600" b="1" dirty="0">
                <a:solidFill>
                  <a:srgbClr val="F5A623"/>
                </a:solidFill>
                <a:latin typeface="Courier New" pitchFamily="34" charset="0"/>
                <a:ea typeface="Courier New" pitchFamily="34" charset="-122"/>
                <a:cs typeface="Courier New" pitchFamily="34" charset="-120"/>
              </a:rPr>
              <a:t>~</a:t>
            </a:r>
            <a:pPr algn="ctr" indent="0" marL="0">
              <a:buNone/>
            </a:pPr>
            <a:r>
              <a:rPr lang="en-US" sz="3600" b="1" dirty="0">
                <a:solidFill>
                  <a:srgbClr val="B8C4D9"/>
                </a:solidFill>
                <a:latin typeface="Courier New" pitchFamily="34" charset="0"/>
                <a:ea typeface="Courier New" pitchFamily="34" charset="-122"/>
                <a:cs typeface="Courier New" pitchFamily="34" charset="-120"/>
              </a:rPr>
              <a:t>$ </a:t>
            </a:r>
            <a:pPr algn="ctr" indent="0" marL="0">
              <a:buNone/>
            </a:pPr>
            <a:r>
              <a:rPr lang="en-US" sz="3600" b="1" dirty="0">
                <a:solidFill>
                  <a:srgbClr val="FFFFFF"/>
                </a:solidFill>
                <a:latin typeface="Courier New" pitchFamily="34" charset="0"/>
                <a:ea typeface="Courier New" pitchFamily="34" charset="-122"/>
                <a:cs typeface="Courier New" pitchFamily="34" charset="-120"/>
              </a:rPr>
              <a:t>ls</a:t>
            </a:r>
            <a:pPr algn="ctr" indent="0" marL="0">
              <a:buNone/>
            </a:pPr>
            <a:r>
              <a:rPr lang="en-US" sz="3600" b="1" dirty="0">
                <a:solidFill>
                  <a:srgbClr val="FF8FB1"/>
                </a:solidFill>
                <a:latin typeface="Courier New" pitchFamily="34" charset="0"/>
                <a:ea typeface="Courier New" pitchFamily="34" charset="-122"/>
                <a:cs typeface="Courier New" pitchFamily="34" charset="-120"/>
              </a:rPr>
              <a:t> -l</a:t>
            </a:r>
            <a:pPr algn="ctr" indent="0" marL="0">
              <a:buNone/>
            </a:pPr>
            <a:r>
              <a:rPr lang="en-US" sz="3600" b="1" dirty="0">
                <a:solidFill>
                  <a:srgbClr val="7EE0D2"/>
                </a:solidFill>
                <a:latin typeface="Courier New" pitchFamily="34" charset="0"/>
                <a:ea typeface="Courier New" pitchFamily="34" charset="-122"/>
                <a:cs typeface="Courier New" pitchFamily="34" charset="-120"/>
              </a:rPr>
              <a:t> /home</a:t>
            </a:r>
            <a:endParaRPr lang="en-US" sz="3600" dirty="0"/>
          </a:p>
        </p:txBody>
      </p:sp>
      <p:sp>
        <p:nvSpPr>
          <p:cNvPr id="10" name="Shape 7"/>
          <p:cNvSpPr/>
          <p:nvPr/>
        </p:nvSpPr>
        <p:spPr>
          <a:xfrm>
            <a:off x="548640" y="3246120"/>
            <a:ext cx="3566160" cy="1188720"/>
          </a:xfrm>
          <a:prstGeom prst="roundRect">
            <a:avLst>
              <a:gd name="adj" fmla="val 7692"/>
            </a:avLst>
          </a:prstGeom>
          <a:solidFill>
            <a:srgbClr val="F1F5FB"/>
          </a:solidFill>
          <a:ln/>
        </p:spPr>
      </p:sp>
      <p:sp>
        <p:nvSpPr>
          <p:cNvPr id="11" name="Text 8"/>
          <p:cNvSpPr txBox="1"/>
          <p:nvPr/>
        </p:nvSpPr>
        <p:spPr>
          <a:xfrm>
            <a:off x="777240" y="3383280"/>
            <a:ext cx="3108960" cy="365760"/>
          </a:xfrm>
          <a:prstGeom prst="rect">
            <a:avLst/>
          </a:prstGeom>
          <a:noFill/>
          <a:ln/>
        </p:spPr>
        <p:txBody>
          <a:bodyPr wrap="square" lIns="0" tIns="0" rIns="0" bIns="0" rtlCol="0" anchor="t"/>
          <a:lstStyle/>
          <a:p>
            <a:pPr indent="0" marL="0">
              <a:buNone/>
            </a:pPr>
            <a:r>
              <a:rPr lang="en-US" sz="2000" b="1" dirty="0">
                <a:solidFill>
                  <a:srgbClr val="17875A"/>
                </a:solidFill>
                <a:latin typeface="Courier New" pitchFamily="34" charset="0"/>
                <a:ea typeface="Courier New" pitchFamily="34" charset="-122"/>
                <a:cs typeface="Courier New" pitchFamily="34" charset="-120"/>
              </a:rPr>
              <a:t>player</a:t>
            </a:r>
            <a:endParaRPr lang="en-US" sz="2000" dirty="0"/>
          </a:p>
        </p:txBody>
      </p:sp>
      <p:sp>
        <p:nvSpPr>
          <p:cNvPr id="12" name="Text 9"/>
          <p:cNvSpPr txBox="1"/>
          <p:nvPr/>
        </p:nvSpPr>
        <p:spPr>
          <a:xfrm>
            <a:off x="777240" y="3840480"/>
            <a:ext cx="3200400" cy="457200"/>
          </a:xfrm>
          <a:prstGeom prst="rect">
            <a:avLst/>
          </a:prstGeom>
          <a:noFill/>
          <a:ln/>
        </p:spPr>
        <p:txBody>
          <a:bodyPr wrap="square" lIns="0" tIns="0" rIns="0" bIns="0" rtlCol="0" anchor="t"/>
          <a:lstStyle/>
          <a:p>
            <a:pPr indent="0" marL="0">
              <a:buNone/>
            </a:pPr>
            <a:r>
              <a:rPr lang="en-US" sz="1500" b="1" dirty="0">
                <a:solidFill>
                  <a:srgbClr val="12213A"/>
                </a:solidFill>
                <a:latin typeface="Calibri" pitchFamily="34" charset="0"/>
                <a:ea typeface="Calibri" pitchFamily="34" charset="-122"/>
                <a:cs typeface="Calibri" pitchFamily="34" charset="-120"/>
              </a:rPr>
              <a:t>Who you are: </a:t>
            </a:r>
            <a:pPr indent="0" marL="0">
              <a:buNone/>
            </a:pPr>
            <a:r>
              <a:rPr lang="en-US" sz="1500" dirty="0">
                <a:solidFill>
                  <a:srgbClr val="12213A"/>
                </a:solidFill>
                <a:latin typeface="Calibri" pitchFamily="34" charset="0"/>
                <a:ea typeface="Calibri" pitchFamily="34" charset="-122"/>
                <a:cs typeface="Calibri" pitchFamily="34" charset="-120"/>
              </a:rPr>
              <a:t>the account inside your computer</a:t>
            </a:r>
            <a:endParaRPr lang="en-US" sz="1500" dirty="0"/>
          </a:p>
        </p:txBody>
      </p:sp>
      <p:sp>
        <p:nvSpPr>
          <p:cNvPr id="13" name="Shape 10"/>
          <p:cNvSpPr/>
          <p:nvPr/>
        </p:nvSpPr>
        <p:spPr>
          <a:xfrm>
            <a:off x="4306824" y="3246120"/>
            <a:ext cx="3566160" cy="1188720"/>
          </a:xfrm>
          <a:prstGeom prst="roundRect">
            <a:avLst>
              <a:gd name="adj" fmla="val 7692"/>
            </a:avLst>
          </a:prstGeom>
          <a:solidFill>
            <a:srgbClr val="F1F5FB"/>
          </a:solidFill>
          <a:ln/>
        </p:spPr>
      </p:sp>
      <p:sp>
        <p:nvSpPr>
          <p:cNvPr id="14" name="Text 11"/>
          <p:cNvSpPr txBox="1"/>
          <p:nvPr/>
        </p:nvSpPr>
        <p:spPr>
          <a:xfrm>
            <a:off x="4535424" y="3383280"/>
            <a:ext cx="3108960" cy="365760"/>
          </a:xfrm>
          <a:prstGeom prst="rect">
            <a:avLst/>
          </a:prstGeom>
          <a:noFill/>
          <a:ln/>
        </p:spPr>
        <p:txBody>
          <a:bodyPr wrap="square" lIns="0" tIns="0" rIns="0" bIns="0" rtlCol="0" anchor="t"/>
          <a:lstStyle/>
          <a:p>
            <a:pPr indent="0" marL="0">
              <a:buNone/>
            </a:pPr>
            <a:r>
              <a:rPr lang="en-US" sz="2000" b="1" dirty="0">
                <a:solidFill>
                  <a:srgbClr val="2459D8"/>
                </a:solidFill>
                <a:latin typeface="Courier New" pitchFamily="34" charset="0"/>
                <a:ea typeface="Courier New" pitchFamily="34" charset="-122"/>
                <a:cs typeface="Courier New" pitchFamily="34" charset="-120"/>
              </a:rPr>
              <a:t>quest</a:t>
            </a:r>
            <a:endParaRPr lang="en-US" sz="2000" dirty="0"/>
          </a:p>
        </p:txBody>
      </p:sp>
      <p:sp>
        <p:nvSpPr>
          <p:cNvPr id="15" name="Text 12"/>
          <p:cNvSpPr txBox="1"/>
          <p:nvPr/>
        </p:nvSpPr>
        <p:spPr>
          <a:xfrm>
            <a:off x="4535424" y="3840480"/>
            <a:ext cx="3200400" cy="457200"/>
          </a:xfrm>
          <a:prstGeom prst="rect">
            <a:avLst/>
          </a:prstGeom>
          <a:noFill/>
          <a:ln/>
        </p:spPr>
        <p:txBody>
          <a:bodyPr wrap="square" lIns="0" tIns="0" rIns="0" bIns="0" rtlCol="0" anchor="t"/>
          <a:lstStyle/>
          <a:p>
            <a:pPr indent="0" marL="0">
              <a:buNone/>
            </a:pPr>
            <a:r>
              <a:rPr lang="en-US" sz="1500" b="1" dirty="0">
                <a:solidFill>
                  <a:srgbClr val="12213A"/>
                </a:solidFill>
                <a:latin typeface="Calibri" pitchFamily="34" charset="0"/>
                <a:ea typeface="Calibri" pitchFamily="34" charset="-122"/>
                <a:cs typeface="Calibri" pitchFamily="34" charset="-120"/>
              </a:rPr>
              <a:t>Which computer: </a:t>
            </a:r>
            <a:pPr indent="0" marL="0">
              <a:buNone/>
            </a:pPr>
            <a:r>
              <a:rPr lang="en-US" sz="1500" dirty="0">
                <a:solidFill>
                  <a:srgbClr val="12213A"/>
                </a:solidFill>
                <a:latin typeface="Calibri" pitchFamily="34" charset="0"/>
                <a:ea typeface="Calibri" pitchFamily="34" charset="-122"/>
                <a:cs typeface="Calibri" pitchFamily="34" charset="-120"/>
              </a:rPr>
              <a:t>the Linux running in your tab</a:t>
            </a:r>
            <a:endParaRPr lang="en-US" sz="1500" dirty="0"/>
          </a:p>
        </p:txBody>
      </p:sp>
      <p:sp>
        <p:nvSpPr>
          <p:cNvPr id="16" name="Shape 13"/>
          <p:cNvSpPr/>
          <p:nvPr/>
        </p:nvSpPr>
        <p:spPr>
          <a:xfrm>
            <a:off x="8065008" y="3246120"/>
            <a:ext cx="3566160" cy="1188720"/>
          </a:xfrm>
          <a:prstGeom prst="roundRect">
            <a:avLst>
              <a:gd name="adj" fmla="val 7692"/>
            </a:avLst>
          </a:prstGeom>
          <a:solidFill>
            <a:srgbClr val="F1F5FB"/>
          </a:solidFill>
          <a:ln/>
        </p:spPr>
      </p:sp>
      <p:sp>
        <p:nvSpPr>
          <p:cNvPr id="17" name="Text 14"/>
          <p:cNvSpPr txBox="1"/>
          <p:nvPr/>
        </p:nvSpPr>
        <p:spPr>
          <a:xfrm>
            <a:off x="8293608" y="3383280"/>
            <a:ext cx="3108960" cy="365760"/>
          </a:xfrm>
          <a:prstGeom prst="rect">
            <a:avLst/>
          </a:prstGeom>
          <a:noFill/>
          <a:ln/>
        </p:spPr>
        <p:txBody>
          <a:bodyPr wrap="square" lIns="0" tIns="0" rIns="0" bIns="0" rtlCol="0" anchor="t"/>
          <a:lstStyle/>
          <a:p>
            <a:pPr indent="0" marL="0">
              <a:buNone/>
            </a:pPr>
            <a:r>
              <a:rPr lang="en-US" sz="2000" b="1" dirty="0">
                <a:solidFill>
                  <a:srgbClr val="C07A00"/>
                </a:solidFill>
                <a:latin typeface="Courier New" pitchFamily="34" charset="0"/>
                <a:ea typeface="Courier New" pitchFamily="34" charset="-122"/>
                <a:cs typeface="Courier New" pitchFamily="34" charset="-120"/>
              </a:rPr>
              <a:t>~</a:t>
            </a:r>
            <a:endParaRPr lang="en-US" sz="2000" dirty="0"/>
          </a:p>
        </p:txBody>
      </p:sp>
      <p:sp>
        <p:nvSpPr>
          <p:cNvPr id="18" name="Text 15"/>
          <p:cNvSpPr txBox="1"/>
          <p:nvPr/>
        </p:nvSpPr>
        <p:spPr>
          <a:xfrm>
            <a:off x="8293608" y="3840480"/>
            <a:ext cx="3200400" cy="457200"/>
          </a:xfrm>
          <a:prstGeom prst="rect">
            <a:avLst/>
          </a:prstGeom>
          <a:noFill/>
          <a:ln/>
        </p:spPr>
        <p:txBody>
          <a:bodyPr wrap="square" lIns="0" tIns="0" rIns="0" bIns="0" rtlCol="0" anchor="t"/>
          <a:lstStyle/>
          <a:p>
            <a:pPr indent="0" marL="0">
              <a:buNone/>
            </a:pPr>
            <a:r>
              <a:rPr lang="en-US" sz="1500" b="1" dirty="0">
                <a:solidFill>
                  <a:srgbClr val="12213A"/>
                </a:solidFill>
                <a:latin typeface="Calibri" pitchFamily="34" charset="0"/>
                <a:ea typeface="Calibri" pitchFamily="34" charset="-122"/>
                <a:cs typeface="Calibri" pitchFamily="34" charset="-120"/>
              </a:rPr>
              <a:t>Where you are: </a:t>
            </a:r>
            <a:pPr indent="0" marL="0">
              <a:buNone/>
            </a:pPr>
            <a:r>
              <a:rPr lang="en-US" sz="1500" dirty="0">
                <a:solidFill>
                  <a:srgbClr val="12213A"/>
                </a:solidFill>
                <a:latin typeface="Calibri" pitchFamily="34" charset="0"/>
                <a:ea typeface="Calibri" pitchFamily="34" charset="-122"/>
                <a:cs typeface="Calibri" pitchFamily="34" charset="-120"/>
              </a:rPr>
              <a:t>~ means your home folder</a:t>
            </a:r>
            <a:endParaRPr lang="en-US" sz="1500" dirty="0"/>
          </a:p>
        </p:txBody>
      </p:sp>
      <p:sp>
        <p:nvSpPr>
          <p:cNvPr id="19" name="Shape 16"/>
          <p:cNvSpPr/>
          <p:nvPr/>
        </p:nvSpPr>
        <p:spPr>
          <a:xfrm>
            <a:off x="548640" y="4663440"/>
            <a:ext cx="3566160" cy="1188720"/>
          </a:xfrm>
          <a:prstGeom prst="roundRect">
            <a:avLst>
              <a:gd name="adj" fmla="val 7692"/>
            </a:avLst>
          </a:prstGeom>
          <a:solidFill>
            <a:srgbClr val="F1F5FB"/>
          </a:solidFill>
          <a:ln/>
        </p:spPr>
      </p:sp>
      <p:sp>
        <p:nvSpPr>
          <p:cNvPr id="20" name="Text 17"/>
          <p:cNvSpPr txBox="1"/>
          <p:nvPr/>
        </p:nvSpPr>
        <p:spPr>
          <a:xfrm>
            <a:off x="777240" y="4800600"/>
            <a:ext cx="3108960" cy="365760"/>
          </a:xfrm>
          <a:prstGeom prst="rect">
            <a:avLst/>
          </a:prstGeom>
          <a:noFill/>
          <a:ln/>
        </p:spPr>
        <p:txBody>
          <a:bodyPr wrap="square" lIns="0" tIns="0" rIns="0" bIns="0" rtlCol="0" anchor="t"/>
          <a:lstStyle/>
          <a:p>
            <a:pPr indent="0" marL="0">
              <a:buNone/>
            </a:pPr>
            <a:r>
              <a:rPr lang="en-US" sz="2000" b="1" dirty="0">
                <a:solidFill>
                  <a:srgbClr val="12213A"/>
                </a:solidFill>
                <a:latin typeface="Courier New" pitchFamily="34" charset="0"/>
                <a:ea typeface="Courier New" pitchFamily="34" charset="-122"/>
                <a:cs typeface="Courier New" pitchFamily="34" charset="-120"/>
              </a:rPr>
              <a:t>ls</a:t>
            </a:r>
            <a:endParaRPr lang="en-US" sz="2000" dirty="0"/>
          </a:p>
        </p:txBody>
      </p:sp>
      <p:sp>
        <p:nvSpPr>
          <p:cNvPr id="21" name="Text 18"/>
          <p:cNvSpPr txBox="1"/>
          <p:nvPr/>
        </p:nvSpPr>
        <p:spPr>
          <a:xfrm>
            <a:off x="777240" y="5257800"/>
            <a:ext cx="3200400" cy="457200"/>
          </a:xfrm>
          <a:prstGeom prst="rect">
            <a:avLst/>
          </a:prstGeom>
          <a:noFill/>
          <a:ln/>
        </p:spPr>
        <p:txBody>
          <a:bodyPr wrap="square" lIns="0" tIns="0" rIns="0" bIns="0" rtlCol="0" anchor="t"/>
          <a:lstStyle/>
          <a:p>
            <a:pPr indent="0" marL="0">
              <a:buNone/>
            </a:pPr>
            <a:r>
              <a:rPr lang="en-US" sz="1500" b="1" dirty="0">
                <a:solidFill>
                  <a:srgbClr val="12213A"/>
                </a:solidFill>
                <a:latin typeface="Calibri" pitchFamily="34" charset="0"/>
                <a:ea typeface="Calibri" pitchFamily="34" charset="-122"/>
                <a:cs typeface="Calibri" pitchFamily="34" charset="-120"/>
              </a:rPr>
              <a:t>The command: </a:t>
            </a:r>
            <a:pPr indent="0" marL="0">
              <a:buNone/>
            </a:pPr>
            <a:r>
              <a:rPr lang="en-US" sz="1500" dirty="0">
                <a:solidFill>
                  <a:srgbClr val="12213A"/>
                </a:solidFill>
                <a:latin typeface="Calibri" pitchFamily="34" charset="0"/>
                <a:ea typeface="Calibri" pitchFamily="34" charset="-122"/>
                <a:cs typeface="Calibri" pitchFamily="34" charset="-120"/>
              </a:rPr>
              <a:t>what to do: list files</a:t>
            </a:r>
            <a:endParaRPr lang="en-US" sz="1500" dirty="0"/>
          </a:p>
        </p:txBody>
      </p:sp>
      <p:sp>
        <p:nvSpPr>
          <p:cNvPr id="22" name="Shape 19"/>
          <p:cNvSpPr/>
          <p:nvPr/>
        </p:nvSpPr>
        <p:spPr>
          <a:xfrm>
            <a:off x="4306824" y="4663440"/>
            <a:ext cx="3566160" cy="1188720"/>
          </a:xfrm>
          <a:prstGeom prst="roundRect">
            <a:avLst>
              <a:gd name="adj" fmla="val 7692"/>
            </a:avLst>
          </a:prstGeom>
          <a:solidFill>
            <a:srgbClr val="F1F5FB"/>
          </a:solidFill>
          <a:ln/>
        </p:spPr>
      </p:sp>
      <p:sp>
        <p:nvSpPr>
          <p:cNvPr id="23" name="Text 20"/>
          <p:cNvSpPr txBox="1"/>
          <p:nvPr/>
        </p:nvSpPr>
        <p:spPr>
          <a:xfrm>
            <a:off x="4535424" y="4800600"/>
            <a:ext cx="3108960" cy="365760"/>
          </a:xfrm>
          <a:prstGeom prst="rect">
            <a:avLst/>
          </a:prstGeom>
          <a:noFill/>
          <a:ln/>
        </p:spPr>
        <p:txBody>
          <a:bodyPr wrap="square" lIns="0" tIns="0" rIns="0" bIns="0" rtlCol="0" anchor="t"/>
          <a:lstStyle/>
          <a:p>
            <a:pPr indent="0" marL="0">
              <a:buNone/>
            </a:pPr>
            <a:r>
              <a:rPr lang="en-US" sz="2000" b="1" dirty="0">
                <a:solidFill>
                  <a:srgbClr val="C2356A"/>
                </a:solidFill>
                <a:latin typeface="Courier New" pitchFamily="34" charset="0"/>
                <a:ea typeface="Courier New" pitchFamily="34" charset="-122"/>
                <a:cs typeface="Courier New" pitchFamily="34" charset="-120"/>
              </a:rPr>
              <a:t>-l</a:t>
            </a:r>
            <a:endParaRPr lang="en-US" sz="2000" dirty="0"/>
          </a:p>
        </p:txBody>
      </p:sp>
      <p:sp>
        <p:nvSpPr>
          <p:cNvPr id="24" name="Text 21"/>
          <p:cNvSpPr txBox="1"/>
          <p:nvPr/>
        </p:nvSpPr>
        <p:spPr>
          <a:xfrm>
            <a:off x="4535424" y="5257800"/>
            <a:ext cx="3200400" cy="457200"/>
          </a:xfrm>
          <a:prstGeom prst="rect">
            <a:avLst/>
          </a:prstGeom>
          <a:noFill/>
          <a:ln/>
        </p:spPr>
        <p:txBody>
          <a:bodyPr wrap="square" lIns="0" tIns="0" rIns="0" bIns="0" rtlCol="0" anchor="t"/>
          <a:lstStyle/>
          <a:p>
            <a:pPr indent="0" marL="0">
              <a:buNone/>
            </a:pPr>
            <a:r>
              <a:rPr lang="en-US" sz="1500" b="1" dirty="0">
                <a:solidFill>
                  <a:srgbClr val="12213A"/>
                </a:solidFill>
                <a:latin typeface="Calibri" pitchFamily="34" charset="0"/>
                <a:ea typeface="Calibri" pitchFamily="34" charset="-122"/>
                <a:cs typeface="Calibri" pitchFamily="34" charset="-120"/>
              </a:rPr>
              <a:t>An option: </a:t>
            </a:r>
            <a:pPr indent="0" marL="0">
              <a:buNone/>
            </a:pPr>
            <a:r>
              <a:rPr lang="en-US" sz="1500" dirty="0">
                <a:solidFill>
                  <a:srgbClr val="12213A"/>
                </a:solidFill>
                <a:latin typeface="Calibri" pitchFamily="34" charset="0"/>
                <a:ea typeface="Calibri" pitchFamily="34" charset="-122"/>
                <a:cs typeface="Calibri" pitchFamily="34" charset="-120"/>
              </a:rPr>
              <a:t>how to do it: the long format</a:t>
            </a:r>
            <a:endParaRPr lang="en-US" sz="1500" dirty="0"/>
          </a:p>
        </p:txBody>
      </p:sp>
      <p:sp>
        <p:nvSpPr>
          <p:cNvPr id="25" name="Shape 22"/>
          <p:cNvSpPr/>
          <p:nvPr/>
        </p:nvSpPr>
        <p:spPr>
          <a:xfrm>
            <a:off x="8065008" y="4663440"/>
            <a:ext cx="3566160" cy="1188720"/>
          </a:xfrm>
          <a:prstGeom prst="roundRect">
            <a:avLst>
              <a:gd name="adj" fmla="val 7692"/>
            </a:avLst>
          </a:prstGeom>
          <a:solidFill>
            <a:srgbClr val="F1F5FB"/>
          </a:solidFill>
          <a:ln/>
        </p:spPr>
      </p:sp>
      <p:sp>
        <p:nvSpPr>
          <p:cNvPr id="26" name="Text 23"/>
          <p:cNvSpPr txBox="1"/>
          <p:nvPr/>
        </p:nvSpPr>
        <p:spPr>
          <a:xfrm>
            <a:off x="8293608" y="4800600"/>
            <a:ext cx="3108960" cy="365760"/>
          </a:xfrm>
          <a:prstGeom prst="rect">
            <a:avLst/>
          </a:prstGeom>
          <a:noFill/>
          <a:ln/>
        </p:spPr>
        <p:txBody>
          <a:bodyPr wrap="square" lIns="0" tIns="0" rIns="0" bIns="0" rtlCol="0" anchor="t"/>
          <a:lstStyle/>
          <a:p>
            <a:pPr indent="0" marL="0">
              <a:buNone/>
            </a:pPr>
            <a:r>
              <a:rPr lang="en-US" sz="2000" b="1" dirty="0">
                <a:solidFill>
                  <a:srgbClr val="0E8C7A"/>
                </a:solidFill>
                <a:latin typeface="Courier New" pitchFamily="34" charset="0"/>
                <a:ea typeface="Courier New" pitchFamily="34" charset="-122"/>
                <a:cs typeface="Courier New" pitchFamily="34" charset="-120"/>
              </a:rPr>
              <a:t>/home</a:t>
            </a:r>
            <a:endParaRPr lang="en-US" sz="2000" dirty="0"/>
          </a:p>
        </p:txBody>
      </p:sp>
      <p:sp>
        <p:nvSpPr>
          <p:cNvPr id="27" name="Text 24"/>
          <p:cNvSpPr txBox="1"/>
          <p:nvPr/>
        </p:nvSpPr>
        <p:spPr>
          <a:xfrm>
            <a:off x="8293608" y="5257800"/>
            <a:ext cx="3200400" cy="457200"/>
          </a:xfrm>
          <a:prstGeom prst="rect">
            <a:avLst/>
          </a:prstGeom>
          <a:noFill/>
          <a:ln/>
        </p:spPr>
        <p:txBody>
          <a:bodyPr wrap="square" lIns="0" tIns="0" rIns="0" bIns="0" rtlCol="0" anchor="t"/>
          <a:lstStyle/>
          <a:p>
            <a:pPr indent="0" marL="0">
              <a:buNone/>
            </a:pPr>
            <a:r>
              <a:rPr lang="en-US" sz="1500" b="1" dirty="0">
                <a:solidFill>
                  <a:srgbClr val="12213A"/>
                </a:solidFill>
                <a:latin typeface="Calibri" pitchFamily="34" charset="0"/>
                <a:ea typeface="Calibri" pitchFamily="34" charset="-122"/>
                <a:cs typeface="Calibri" pitchFamily="34" charset="-120"/>
              </a:rPr>
              <a:t>An argument: </a:t>
            </a:r>
            <a:pPr indent="0" marL="0">
              <a:buNone/>
            </a:pPr>
            <a:r>
              <a:rPr lang="en-US" sz="1500" dirty="0">
                <a:solidFill>
                  <a:srgbClr val="12213A"/>
                </a:solidFill>
                <a:latin typeface="Calibri" pitchFamily="34" charset="0"/>
                <a:ea typeface="Calibri" pitchFamily="34" charset="-122"/>
                <a:cs typeface="Calibri" pitchFamily="34" charset="-120"/>
              </a:rPr>
              <a:t>what to do it to</a:t>
            </a:r>
            <a:endParaRPr lang="en-US" sz="1500" dirty="0"/>
          </a:p>
        </p:txBody>
      </p:sp>
      <p:sp>
        <p:nvSpPr>
          <p:cNvPr id="28" name="Text 25"/>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25 / 79</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Ask any command: --help</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wc --help</a:t>
            </a:r>
            <a:endParaRPr lang="en-US" sz="1300" dirty="0"/>
          </a:p>
        </p:txBody>
      </p:sp>
      <p:sp>
        <p:nvSpPr>
          <p:cNvPr id="8" name="Shape 5"/>
          <p:cNvSpPr/>
          <p:nvPr/>
        </p:nvSpPr>
        <p:spPr>
          <a:xfrm>
            <a:off x="548640" y="1463040"/>
            <a:ext cx="6492240" cy="4434840"/>
          </a:xfrm>
          <a:prstGeom prst="roundRect">
            <a:avLst>
              <a:gd name="adj" fmla="val 2062"/>
            </a:avLst>
          </a:prstGeom>
          <a:solidFill>
            <a:srgbClr val="0E1726"/>
          </a:solidFill>
          <a:ln/>
          <a:effectLst>
            <a:outerShdw sx="100000" sy="100000" kx="0" ky="0" algn="bl" rotWithShape="0" blurRad="127000" dist="38100" dir="5400000">
              <a:srgbClr val="12213A">
                <a:alpha val="22000"/>
              </a:srgbClr>
            </a:outerShdw>
          </a:effectLst>
        </p:spPr>
      </p:sp>
      <p:sp>
        <p:nvSpPr>
          <p:cNvPr id="9" name="Shape 6"/>
          <p:cNvSpPr/>
          <p:nvPr/>
        </p:nvSpPr>
        <p:spPr>
          <a:xfrm>
            <a:off x="749808" y="1618488"/>
            <a:ext cx="118872" cy="118872"/>
          </a:xfrm>
          <a:prstGeom prst="ellipse">
            <a:avLst/>
          </a:prstGeom>
          <a:solidFill>
            <a:srgbClr val="E5534B"/>
          </a:solidFill>
          <a:ln/>
        </p:spPr>
      </p:sp>
      <p:sp>
        <p:nvSpPr>
          <p:cNvPr id="10" name="Shape 7"/>
          <p:cNvSpPr/>
          <p:nvPr/>
        </p:nvSpPr>
        <p:spPr>
          <a:xfrm>
            <a:off x="950976" y="1618488"/>
            <a:ext cx="118872" cy="118872"/>
          </a:xfrm>
          <a:prstGeom prst="ellipse">
            <a:avLst/>
          </a:prstGeom>
          <a:solidFill>
            <a:srgbClr val="F5A623"/>
          </a:solidFill>
          <a:ln/>
        </p:spPr>
      </p:sp>
      <p:sp>
        <p:nvSpPr>
          <p:cNvPr id="11" name="Shape 8"/>
          <p:cNvSpPr/>
          <p:nvPr/>
        </p:nvSpPr>
        <p:spPr>
          <a:xfrm>
            <a:off x="1152144" y="1618488"/>
            <a:ext cx="118872" cy="118872"/>
          </a:xfrm>
          <a:prstGeom prst="ellipse">
            <a:avLst/>
          </a:prstGeom>
          <a:solidFill>
            <a:srgbClr val="46D39A"/>
          </a:solidFill>
          <a:ln/>
        </p:spPr>
      </p:sp>
      <p:sp>
        <p:nvSpPr>
          <p:cNvPr id="12" name="Text 9"/>
          <p:cNvSpPr txBox="1"/>
          <p:nvPr/>
        </p:nvSpPr>
        <p:spPr>
          <a:xfrm>
            <a:off x="1463040" y="1536192"/>
            <a:ext cx="46634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the command explains itself</a:t>
            </a:r>
            <a:endParaRPr lang="en-US" sz="1000" dirty="0"/>
          </a:p>
        </p:txBody>
      </p:sp>
      <p:sp>
        <p:nvSpPr>
          <p:cNvPr id="13" name="Text 10"/>
          <p:cNvSpPr txBox="1"/>
          <p:nvPr/>
        </p:nvSpPr>
        <p:spPr>
          <a:xfrm>
            <a:off x="822960" y="1920240"/>
            <a:ext cx="5943600" cy="3840480"/>
          </a:xfrm>
          <a:prstGeom prst="rect">
            <a:avLst/>
          </a:prstGeom>
          <a:noFill/>
          <a:ln/>
        </p:spPr>
        <p:txBody>
          <a:bodyPr wrap="square" lIns="0" tIns="0" rIns="0" bIns="0" rtlCol="0" anchor="t"/>
          <a:lstStyle/>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wc --help</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Usage: wc [-cmlwL] [FILE]...</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Count lines, words, and bytes for FILEs</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        -c      Count bytes</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        -m      Count characters</a:t>
            </a:r>
            <a:endParaRPr lang="en-US" sz="1500" dirty="0"/>
          </a:p>
          <a:p>
            <a:pPr indent="0" marL="0">
              <a:spcAft>
                <a:spcPts val="200"/>
              </a:spcAft>
              <a:buNone/>
            </a:pPr>
            <a:r>
              <a:rPr lang="en-US" sz="1500" b="1" dirty="0">
                <a:solidFill>
                  <a:srgbClr val="F5A623"/>
                </a:solidFill>
                <a:latin typeface="Courier New" pitchFamily="34" charset="0"/>
                <a:ea typeface="Courier New" pitchFamily="34" charset="-122"/>
                <a:cs typeface="Courier New" pitchFamily="34" charset="-120"/>
              </a:rPr>
              <a:t>        -l      Count newlines</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        -w      Count words</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        -L      Print longest line length</a:t>
            </a:r>
            <a:endParaRPr lang="en-US" sz="1500" dirty="0"/>
          </a:p>
        </p:txBody>
      </p:sp>
      <p:sp>
        <p:nvSpPr>
          <p:cNvPr id="14" name="Shape 11"/>
          <p:cNvSpPr/>
          <p:nvPr/>
        </p:nvSpPr>
        <p:spPr>
          <a:xfrm>
            <a:off x="7315200" y="1463040"/>
            <a:ext cx="4325112" cy="1325880"/>
          </a:xfrm>
          <a:prstGeom prst="roundRect">
            <a:avLst>
              <a:gd name="adj" fmla="val 6897"/>
            </a:avLst>
          </a:prstGeom>
          <a:solidFill>
            <a:srgbClr val="F1F5FB"/>
          </a:solidFill>
          <a:ln/>
        </p:spPr>
      </p:sp>
      <p:sp>
        <p:nvSpPr>
          <p:cNvPr id="15" name="Shape 12"/>
          <p:cNvSpPr/>
          <p:nvPr/>
        </p:nvSpPr>
        <p:spPr>
          <a:xfrm>
            <a:off x="7315200" y="1463040"/>
            <a:ext cx="109728" cy="1325880"/>
          </a:xfrm>
          <a:prstGeom prst="rect">
            <a:avLst/>
          </a:prstGeom>
          <a:solidFill>
            <a:srgbClr val="2459D8"/>
          </a:solidFill>
          <a:ln/>
        </p:spPr>
      </p:sp>
      <p:sp>
        <p:nvSpPr>
          <p:cNvPr id="16" name="Text 13"/>
          <p:cNvSpPr txBox="1"/>
          <p:nvPr/>
        </p:nvSpPr>
        <p:spPr>
          <a:xfrm>
            <a:off x="7635240" y="1600200"/>
            <a:ext cx="3840480" cy="36576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Usage line</a:t>
            </a:r>
            <a:endParaRPr lang="en-US" sz="1800" dirty="0"/>
          </a:p>
        </p:txBody>
      </p:sp>
      <p:sp>
        <p:nvSpPr>
          <p:cNvPr id="17" name="Text 14"/>
          <p:cNvSpPr txBox="1"/>
          <p:nvPr/>
        </p:nvSpPr>
        <p:spPr>
          <a:xfrm>
            <a:off x="7635240" y="1993392"/>
            <a:ext cx="3886200" cy="73152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The anatomy of the command. [ ] means optional. FILE... means one or more files.</a:t>
            </a:r>
            <a:endParaRPr lang="en-US" sz="1400" dirty="0"/>
          </a:p>
        </p:txBody>
      </p:sp>
      <p:sp>
        <p:nvSpPr>
          <p:cNvPr id="18" name="Shape 15"/>
          <p:cNvSpPr/>
          <p:nvPr/>
        </p:nvSpPr>
        <p:spPr>
          <a:xfrm>
            <a:off x="7315200" y="2971800"/>
            <a:ext cx="4325112" cy="1325880"/>
          </a:xfrm>
          <a:prstGeom prst="roundRect">
            <a:avLst>
              <a:gd name="adj" fmla="val 6897"/>
            </a:avLst>
          </a:prstGeom>
          <a:solidFill>
            <a:srgbClr val="F1F5FB"/>
          </a:solidFill>
          <a:ln/>
        </p:spPr>
      </p:sp>
      <p:sp>
        <p:nvSpPr>
          <p:cNvPr id="19" name="Shape 16"/>
          <p:cNvSpPr/>
          <p:nvPr/>
        </p:nvSpPr>
        <p:spPr>
          <a:xfrm>
            <a:off x="7315200" y="2971800"/>
            <a:ext cx="109728" cy="1325880"/>
          </a:xfrm>
          <a:prstGeom prst="rect">
            <a:avLst/>
          </a:prstGeom>
          <a:solidFill>
            <a:srgbClr val="7448D4"/>
          </a:solidFill>
          <a:ln/>
        </p:spPr>
      </p:sp>
      <p:sp>
        <p:nvSpPr>
          <p:cNvPr id="20" name="Text 17"/>
          <p:cNvSpPr txBox="1"/>
          <p:nvPr/>
        </p:nvSpPr>
        <p:spPr>
          <a:xfrm>
            <a:off x="7635240" y="3108960"/>
            <a:ext cx="3840480" cy="36576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Option list</a:t>
            </a:r>
            <a:endParaRPr lang="en-US" sz="1800" dirty="0"/>
          </a:p>
        </p:txBody>
      </p:sp>
      <p:sp>
        <p:nvSpPr>
          <p:cNvPr id="21" name="Text 18"/>
          <p:cNvSpPr txBox="1"/>
          <p:nvPr/>
        </p:nvSpPr>
        <p:spPr>
          <a:xfrm>
            <a:off x="7635240" y="3502152"/>
            <a:ext cx="3886200" cy="73152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One option per line, with what it does. Pick the one that matches your goal.</a:t>
            </a:r>
            <a:endParaRPr lang="en-US" sz="1400" dirty="0"/>
          </a:p>
        </p:txBody>
      </p:sp>
      <p:sp>
        <p:nvSpPr>
          <p:cNvPr id="22" name="Shape 19"/>
          <p:cNvSpPr/>
          <p:nvPr/>
        </p:nvSpPr>
        <p:spPr>
          <a:xfrm>
            <a:off x="7315200" y="4480560"/>
            <a:ext cx="4325112" cy="1325880"/>
          </a:xfrm>
          <a:prstGeom prst="roundRect">
            <a:avLst>
              <a:gd name="adj" fmla="val 6897"/>
            </a:avLst>
          </a:prstGeom>
          <a:solidFill>
            <a:srgbClr val="F1F5FB"/>
          </a:solidFill>
          <a:ln/>
        </p:spPr>
      </p:sp>
      <p:sp>
        <p:nvSpPr>
          <p:cNvPr id="23" name="Shape 20"/>
          <p:cNvSpPr/>
          <p:nvPr/>
        </p:nvSpPr>
        <p:spPr>
          <a:xfrm>
            <a:off x="7315200" y="4480560"/>
            <a:ext cx="109728" cy="1325880"/>
          </a:xfrm>
          <a:prstGeom prst="rect">
            <a:avLst/>
          </a:prstGeom>
          <a:solidFill>
            <a:srgbClr val="2A9FD6"/>
          </a:solidFill>
          <a:ln/>
        </p:spPr>
      </p:sp>
      <p:sp>
        <p:nvSpPr>
          <p:cNvPr id="24" name="Text 21"/>
          <p:cNvSpPr txBox="1"/>
          <p:nvPr/>
        </p:nvSpPr>
        <p:spPr>
          <a:xfrm>
            <a:off x="7635240" y="4617720"/>
            <a:ext cx="3840480" cy="36576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Then try it</a:t>
            </a:r>
            <a:endParaRPr lang="en-US" sz="1800" dirty="0"/>
          </a:p>
        </p:txBody>
      </p:sp>
      <p:sp>
        <p:nvSpPr>
          <p:cNvPr id="25" name="Text 22"/>
          <p:cNvSpPr txBox="1"/>
          <p:nvPr/>
        </p:nvSpPr>
        <p:spPr>
          <a:xfrm>
            <a:off x="7635240" y="5010912"/>
            <a:ext cx="3886200" cy="73152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Put the option between the command and the file:  wc -l file</a:t>
            </a:r>
            <a:endParaRPr lang="en-US" sz="1400" dirty="0"/>
          </a:p>
        </p:txBody>
      </p:sp>
      <p:sp>
        <p:nvSpPr>
          <p:cNvPr id="26" name="Text 23"/>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26 / 79</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Go deeper: man, and finding new commands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ls /bin | wc -l</a:t>
            </a:r>
            <a:endParaRPr lang="en-US" sz="1300" dirty="0"/>
          </a:p>
        </p:txBody>
      </p:sp>
      <p:sp>
        <p:nvSpPr>
          <p:cNvPr id="8" name="Shape 5"/>
          <p:cNvSpPr/>
          <p:nvPr/>
        </p:nvSpPr>
        <p:spPr>
          <a:xfrm>
            <a:off x="548640" y="1463040"/>
            <a:ext cx="5989320" cy="1005840"/>
          </a:xfrm>
          <a:prstGeom prst="roundRect">
            <a:avLst>
              <a:gd name="adj" fmla="val 9091"/>
            </a:avLst>
          </a:prstGeom>
          <a:solidFill>
            <a:srgbClr val="F1F5FB"/>
          </a:solidFill>
          <a:ln/>
        </p:spPr>
      </p:sp>
      <p:sp>
        <p:nvSpPr>
          <p:cNvPr id="9" name="Shape 6"/>
          <p:cNvSpPr/>
          <p:nvPr/>
        </p:nvSpPr>
        <p:spPr>
          <a:xfrm>
            <a:off x="548640" y="1463040"/>
            <a:ext cx="91440" cy="1005840"/>
          </a:xfrm>
          <a:prstGeom prst="rect">
            <a:avLst/>
          </a:prstGeom>
          <a:solidFill>
            <a:srgbClr val="2459D8"/>
          </a:solidFill>
          <a:ln/>
        </p:spPr>
      </p:sp>
      <p:sp>
        <p:nvSpPr>
          <p:cNvPr id="10" name="Text 7"/>
          <p:cNvSpPr txBox="1"/>
          <p:nvPr/>
        </p:nvSpPr>
        <p:spPr>
          <a:xfrm>
            <a:off x="822960" y="1536192"/>
            <a:ext cx="3017520" cy="36576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Read the manual</a:t>
            </a:r>
            <a:endParaRPr lang="en-US" sz="1700" dirty="0"/>
          </a:p>
        </p:txBody>
      </p:sp>
      <p:sp>
        <p:nvSpPr>
          <p:cNvPr id="11" name="Shape 8"/>
          <p:cNvSpPr/>
          <p:nvPr/>
        </p:nvSpPr>
        <p:spPr>
          <a:xfrm>
            <a:off x="3977640" y="1554480"/>
            <a:ext cx="2377440" cy="384048"/>
          </a:xfrm>
          <a:prstGeom prst="roundRect">
            <a:avLst>
              <a:gd name="adj" fmla="val 14286"/>
            </a:avLst>
          </a:prstGeom>
          <a:solidFill>
            <a:srgbClr val="0E1726"/>
          </a:solidFill>
          <a:ln/>
        </p:spPr>
      </p:sp>
      <p:sp>
        <p:nvSpPr>
          <p:cNvPr id="12" name="Text 9"/>
          <p:cNvSpPr txBox="1"/>
          <p:nvPr/>
        </p:nvSpPr>
        <p:spPr>
          <a:xfrm>
            <a:off x="3977640" y="1554480"/>
            <a:ext cx="237744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man grep</a:t>
            </a:r>
            <a:endParaRPr lang="en-US" sz="1300" dirty="0"/>
          </a:p>
        </p:txBody>
      </p:sp>
      <p:sp>
        <p:nvSpPr>
          <p:cNvPr id="13" name="Text 10"/>
          <p:cNvSpPr txBox="1"/>
          <p:nvPr/>
        </p:nvSpPr>
        <p:spPr>
          <a:xfrm>
            <a:off x="822960" y="1965960"/>
            <a:ext cx="5532120" cy="45720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Every option and examples. Arrows to move, / to search, q to quit.  </a:t>
            </a:r>
            <a:pPr indent="0" marL="0">
              <a:buNone/>
            </a:pPr>
            <a:r>
              <a:rPr lang="en-US" sz="1300" b="1" dirty="0">
                <a:solidFill>
                  <a:srgbClr val="56657E"/>
                </a:solidFill>
                <a:latin typeface="Calibri" pitchFamily="34" charset="0"/>
                <a:ea typeface="Calibri" pitchFamily="34" charset="-122"/>
                <a:cs typeface="Calibri" pitchFamily="34" charset="-120"/>
              </a:rPr>
              <a:t>full Linux &amp; Mac</a:t>
            </a:r>
            <a:endParaRPr lang="en-US" sz="1300" dirty="0"/>
          </a:p>
        </p:txBody>
      </p:sp>
      <p:sp>
        <p:nvSpPr>
          <p:cNvPr id="14" name="Shape 11"/>
          <p:cNvSpPr/>
          <p:nvPr/>
        </p:nvSpPr>
        <p:spPr>
          <a:xfrm>
            <a:off x="548640" y="2578608"/>
            <a:ext cx="5989320" cy="1005840"/>
          </a:xfrm>
          <a:prstGeom prst="roundRect">
            <a:avLst>
              <a:gd name="adj" fmla="val 9091"/>
            </a:avLst>
          </a:prstGeom>
          <a:solidFill>
            <a:srgbClr val="F1F5FB"/>
          </a:solidFill>
          <a:ln/>
        </p:spPr>
      </p:sp>
      <p:sp>
        <p:nvSpPr>
          <p:cNvPr id="15" name="Shape 12"/>
          <p:cNvSpPr/>
          <p:nvPr/>
        </p:nvSpPr>
        <p:spPr>
          <a:xfrm>
            <a:off x="548640" y="2578608"/>
            <a:ext cx="91440" cy="1005840"/>
          </a:xfrm>
          <a:prstGeom prst="rect">
            <a:avLst/>
          </a:prstGeom>
          <a:solidFill>
            <a:srgbClr val="7448D4"/>
          </a:solidFill>
          <a:ln/>
        </p:spPr>
      </p:sp>
      <p:sp>
        <p:nvSpPr>
          <p:cNvPr id="16" name="Text 13"/>
          <p:cNvSpPr txBox="1"/>
          <p:nvPr/>
        </p:nvSpPr>
        <p:spPr>
          <a:xfrm>
            <a:off x="822960" y="2651760"/>
            <a:ext cx="3017520" cy="36576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Search by the job</a:t>
            </a:r>
            <a:endParaRPr lang="en-US" sz="1700" dirty="0"/>
          </a:p>
        </p:txBody>
      </p:sp>
      <p:sp>
        <p:nvSpPr>
          <p:cNvPr id="17" name="Shape 14"/>
          <p:cNvSpPr/>
          <p:nvPr/>
        </p:nvSpPr>
        <p:spPr>
          <a:xfrm>
            <a:off x="3977640" y="2670048"/>
            <a:ext cx="2377440" cy="384048"/>
          </a:xfrm>
          <a:prstGeom prst="roundRect">
            <a:avLst>
              <a:gd name="adj" fmla="val 14286"/>
            </a:avLst>
          </a:prstGeom>
          <a:solidFill>
            <a:srgbClr val="0E1726"/>
          </a:solidFill>
          <a:ln/>
        </p:spPr>
      </p:sp>
      <p:sp>
        <p:nvSpPr>
          <p:cNvPr id="18" name="Text 15"/>
          <p:cNvSpPr txBox="1"/>
          <p:nvPr/>
        </p:nvSpPr>
        <p:spPr>
          <a:xfrm>
            <a:off x="3977640" y="2670048"/>
            <a:ext cx="237744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apropos rename</a:t>
            </a:r>
            <a:endParaRPr lang="en-US" sz="1300" dirty="0"/>
          </a:p>
        </p:txBody>
      </p:sp>
      <p:sp>
        <p:nvSpPr>
          <p:cNvPr id="19" name="Text 16"/>
          <p:cNvSpPr txBox="1"/>
          <p:nvPr/>
        </p:nvSpPr>
        <p:spPr>
          <a:xfrm>
            <a:off x="822960" y="3081528"/>
            <a:ext cx="5532120" cy="45720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Don't know the name? Search what commands do. Same as man -k.  </a:t>
            </a:r>
            <a:pPr indent="0" marL="0">
              <a:buNone/>
            </a:pPr>
            <a:r>
              <a:rPr lang="en-US" sz="1300" b="1" dirty="0">
                <a:solidFill>
                  <a:srgbClr val="56657E"/>
                </a:solidFill>
                <a:latin typeface="Calibri" pitchFamily="34" charset="0"/>
                <a:ea typeface="Calibri" pitchFamily="34" charset="-122"/>
                <a:cs typeface="Calibri" pitchFamily="34" charset="-120"/>
              </a:rPr>
              <a:t>full Linux &amp; Mac</a:t>
            </a:r>
            <a:endParaRPr lang="en-US" sz="1300" dirty="0"/>
          </a:p>
        </p:txBody>
      </p:sp>
      <p:sp>
        <p:nvSpPr>
          <p:cNvPr id="20" name="Shape 17"/>
          <p:cNvSpPr/>
          <p:nvPr/>
        </p:nvSpPr>
        <p:spPr>
          <a:xfrm>
            <a:off x="548640" y="3694176"/>
            <a:ext cx="5989320" cy="1005840"/>
          </a:xfrm>
          <a:prstGeom prst="roundRect">
            <a:avLst>
              <a:gd name="adj" fmla="val 9091"/>
            </a:avLst>
          </a:prstGeom>
          <a:solidFill>
            <a:srgbClr val="F1F5FB"/>
          </a:solidFill>
          <a:ln/>
        </p:spPr>
      </p:sp>
      <p:sp>
        <p:nvSpPr>
          <p:cNvPr id="21" name="Shape 18"/>
          <p:cNvSpPr/>
          <p:nvPr/>
        </p:nvSpPr>
        <p:spPr>
          <a:xfrm>
            <a:off x="548640" y="3694176"/>
            <a:ext cx="91440" cy="1005840"/>
          </a:xfrm>
          <a:prstGeom prst="rect">
            <a:avLst/>
          </a:prstGeom>
          <a:solidFill>
            <a:srgbClr val="D1416B"/>
          </a:solidFill>
          <a:ln/>
        </p:spPr>
      </p:sp>
      <p:sp>
        <p:nvSpPr>
          <p:cNvPr id="22" name="Text 19"/>
          <p:cNvSpPr txBox="1"/>
          <p:nvPr/>
        </p:nvSpPr>
        <p:spPr>
          <a:xfrm>
            <a:off x="822960" y="3767328"/>
            <a:ext cx="3017520" cy="36576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One line or a few examples</a:t>
            </a:r>
            <a:endParaRPr lang="en-US" sz="1700" dirty="0"/>
          </a:p>
        </p:txBody>
      </p:sp>
      <p:sp>
        <p:nvSpPr>
          <p:cNvPr id="23" name="Shape 20"/>
          <p:cNvSpPr/>
          <p:nvPr/>
        </p:nvSpPr>
        <p:spPr>
          <a:xfrm>
            <a:off x="3977640" y="3785616"/>
            <a:ext cx="2377440" cy="384048"/>
          </a:xfrm>
          <a:prstGeom prst="roundRect">
            <a:avLst>
              <a:gd name="adj" fmla="val 14286"/>
            </a:avLst>
          </a:prstGeom>
          <a:solidFill>
            <a:srgbClr val="0E1726"/>
          </a:solidFill>
          <a:ln/>
        </p:spPr>
      </p:sp>
      <p:sp>
        <p:nvSpPr>
          <p:cNvPr id="24" name="Text 21"/>
          <p:cNvSpPr txBox="1"/>
          <p:nvPr/>
        </p:nvSpPr>
        <p:spPr>
          <a:xfrm>
            <a:off x="3977640" y="3785616"/>
            <a:ext cx="237744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whatis ls   tldr tar</a:t>
            </a:r>
            <a:endParaRPr lang="en-US" sz="1300" dirty="0"/>
          </a:p>
        </p:txBody>
      </p:sp>
      <p:sp>
        <p:nvSpPr>
          <p:cNvPr id="25" name="Text 22"/>
          <p:cNvSpPr txBox="1"/>
          <p:nvPr/>
        </p:nvSpPr>
        <p:spPr>
          <a:xfrm>
            <a:off x="822960" y="4197096"/>
            <a:ext cx="5532120" cy="45720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A one-line summary, or the most useful examples.  </a:t>
            </a:r>
            <a:pPr indent="0" marL="0">
              <a:buNone/>
            </a:pPr>
            <a:r>
              <a:rPr lang="en-US" sz="1300" b="1" dirty="0">
                <a:solidFill>
                  <a:srgbClr val="56657E"/>
                </a:solidFill>
                <a:latin typeface="Calibri" pitchFamily="34" charset="0"/>
                <a:ea typeface="Calibri" pitchFamily="34" charset="-122"/>
                <a:cs typeface="Calibri" pitchFamily="34" charset="-120"/>
              </a:rPr>
              <a:t>full Linux &amp; Mac</a:t>
            </a:r>
            <a:endParaRPr lang="en-US" sz="1300" dirty="0"/>
          </a:p>
        </p:txBody>
      </p:sp>
      <p:sp>
        <p:nvSpPr>
          <p:cNvPr id="26" name="Shape 23"/>
          <p:cNvSpPr/>
          <p:nvPr/>
        </p:nvSpPr>
        <p:spPr>
          <a:xfrm>
            <a:off x="548640" y="4809744"/>
            <a:ext cx="5989320" cy="1005840"/>
          </a:xfrm>
          <a:prstGeom prst="roundRect">
            <a:avLst>
              <a:gd name="adj" fmla="val 9091"/>
            </a:avLst>
          </a:prstGeom>
          <a:solidFill>
            <a:srgbClr val="F1F5FB"/>
          </a:solidFill>
          <a:ln/>
        </p:spPr>
      </p:sp>
      <p:sp>
        <p:nvSpPr>
          <p:cNvPr id="27" name="Shape 24"/>
          <p:cNvSpPr/>
          <p:nvPr/>
        </p:nvSpPr>
        <p:spPr>
          <a:xfrm>
            <a:off x="548640" y="4809744"/>
            <a:ext cx="91440" cy="1005840"/>
          </a:xfrm>
          <a:prstGeom prst="rect">
            <a:avLst/>
          </a:prstGeom>
          <a:solidFill>
            <a:srgbClr val="17875A"/>
          </a:solidFill>
          <a:ln/>
        </p:spPr>
      </p:sp>
      <p:sp>
        <p:nvSpPr>
          <p:cNvPr id="28" name="Text 25"/>
          <p:cNvSpPr txBox="1"/>
          <p:nvPr/>
        </p:nvSpPr>
        <p:spPr>
          <a:xfrm>
            <a:off x="822960" y="4882896"/>
            <a:ext cx="3017520" cy="36576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See everything you have</a:t>
            </a:r>
            <a:endParaRPr lang="en-US" sz="1700" dirty="0"/>
          </a:p>
        </p:txBody>
      </p:sp>
      <p:sp>
        <p:nvSpPr>
          <p:cNvPr id="29" name="Shape 26"/>
          <p:cNvSpPr/>
          <p:nvPr/>
        </p:nvSpPr>
        <p:spPr>
          <a:xfrm>
            <a:off x="3977640" y="4901184"/>
            <a:ext cx="2377440" cy="384048"/>
          </a:xfrm>
          <a:prstGeom prst="roundRect">
            <a:avLst>
              <a:gd name="adj" fmla="val 14286"/>
            </a:avLst>
          </a:prstGeom>
          <a:solidFill>
            <a:srgbClr val="0E1726"/>
          </a:solidFill>
          <a:ln/>
        </p:spPr>
      </p:sp>
      <p:sp>
        <p:nvSpPr>
          <p:cNvPr id="30" name="Text 27"/>
          <p:cNvSpPr txBox="1"/>
          <p:nvPr/>
        </p:nvSpPr>
        <p:spPr>
          <a:xfrm>
            <a:off x="3977640" y="4901184"/>
            <a:ext cx="237744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ls /bin</a:t>
            </a:r>
            <a:endParaRPr lang="en-US" sz="1300" dirty="0"/>
          </a:p>
        </p:txBody>
      </p:sp>
      <p:sp>
        <p:nvSpPr>
          <p:cNvPr id="31" name="Text 28"/>
          <p:cNvSpPr txBox="1"/>
          <p:nvPr/>
        </p:nvSpPr>
        <p:spPr>
          <a:xfrm>
            <a:off x="822960" y="5312664"/>
            <a:ext cx="5532120" cy="45720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Every command on this computer. In the CTF too.  </a:t>
            </a:r>
            <a:pPr indent="0" marL="0">
              <a:buNone/>
            </a:pPr>
            <a:r>
              <a:rPr lang="en-US" sz="1300" b="1" dirty="0">
                <a:solidFill>
                  <a:srgbClr val="17875A"/>
                </a:solidFill>
                <a:latin typeface="Calibri" pitchFamily="34" charset="0"/>
                <a:ea typeface="Calibri" pitchFamily="34" charset="-122"/>
                <a:cs typeface="Calibri" pitchFamily="34" charset="-120"/>
              </a:rPr>
              <a:t>works in the CTF</a:t>
            </a:r>
            <a:endParaRPr lang="en-US" sz="1300" dirty="0"/>
          </a:p>
        </p:txBody>
      </p:sp>
      <p:sp>
        <p:nvSpPr>
          <p:cNvPr id="32" name="Shape 29"/>
          <p:cNvSpPr/>
          <p:nvPr/>
        </p:nvSpPr>
        <p:spPr>
          <a:xfrm>
            <a:off x="6766560" y="1463040"/>
            <a:ext cx="4873752" cy="4434840"/>
          </a:xfrm>
          <a:prstGeom prst="roundRect">
            <a:avLst>
              <a:gd name="adj" fmla="val 2062"/>
            </a:avLst>
          </a:prstGeom>
          <a:solidFill>
            <a:srgbClr val="0E1726"/>
          </a:solidFill>
          <a:ln/>
          <a:effectLst>
            <a:outerShdw sx="100000" sy="100000" kx="0" ky="0" algn="bl" rotWithShape="0" blurRad="127000" dist="38100" dir="5400000">
              <a:srgbClr val="12213A">
                <a:alpha val="22000"/>
              </a:srgbClr>
            </a:outerShdw>
          </a:effectLst>
        </p:spPr>
      </p:sp>
      <p:sp>
        <p:nvSpPr>
          <p:cNvPr id="33" name="Shape 30"/>
          <p:cNvSpPr/>
          <p:nvPr/>
        </p:nvSpPr>
        <p:spPr>
          <a:xfrm>
            <a:off x="6967728" y="1618488"/>
            <a:ext cx="118872" cy="118872"/>
          </a:xfrm>
          <a:prstGeom prst="ellipse">
            <a:avLst/>
          </a:prstGeom>
          <a:solidFill>
            <a:srgbClr val="E5534B"/>
          </a:solidFill>
          <a:ln/>
        </p:spPr>
      </p:sp>
      <p:sp>
        <p:nvSpPr>
          <p:cNvPr id="34" name="Shape 31"/>
          <p:cNvSpPr/>
          <p:nvPr/>
        </p:nvSpPr>
        <p:spPr>
          <a:xfrm>
            <a:off x="7168896" y="1618488"/>
            <a:ext cx="118872" cy="118872"/>
          </a:xfrm>
          <a:prstGeom prst="ellipse">
            <a:avLst/>
          </a:prstGeom>
          <a:solidFill>
            <a:srgbClr val="F5A623"/>
          </a:solidFill>
          <a:ln/>
        </p:spPr>
      </p:sp>
      <p:sp>
        <p:nvSpPr>
          <p:cNvPr id="35" name="Shape 32"/>
          <p:cNvSpPr/>
          <p:nvPr/>
        </p:nvSpPr>
        <p:spPr>
          <a:xfrm>
            <a:off x="7370064" y="1618488"/>
            <a:ext cx="118872" cy="118872"/>
          </a:xfrm>
          <a:prstGeom prst="ellipse">
            <a:avLst/>
          </a:prstGeom>
          <a:solidFill>
            <a:srgbClr val="46D39A"/>
          </a:solidFill>
          <a:ln/>
        </p:spPr>
      </p:sp>
      <p:sp>
        <p:nvSpPr>
          <p:cNvPr id="36" name="Text 33"/>
          <p:cNvSpPr txBox="1"/>
          <p:nvPr/>
        </p:nvSpPr>
        <p:spPr>
          <a:xfrm>
            <a:off x="7680960" y="1536192"/>
            <a:ext cx="3044952"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discovering commands</a:t>
            </a:r>
            <a:endParaRPr lang="en-US" sz="1000" dirty="0"/>
          </a:p>
        </p:txBody>
      </p:sp>
      <p:sp>
        <p:nvSpPr>
          <p:cNvPr id="37" name="Text 34"/>
          <p:cNvSpPr txBox="1"/>
          <p:nvPr/>
        </p:nvSpPr>
        <p:spPr>
          <a:xfrm>
            <a:off x="7040880" y="1920240"/>
            <a:ext cx="4325112" cy="3840480"/>
          </a:xfrm>
          <a:prstGeom prst="rect">
            <a:avLst/>
          </a:prstGeom>
          <a:noFill/>
          <a:ln/>
        </p:spPr>
        <p:txBody>
          <a:bodyPr wrap="square" lIns="0" tIns="0" rIns="0" bIns="0" rtlCol="0" anchor="t"/>
          <a:lstStyle/>
          <a:p>
            <a:pPr indent="0" marL="0">
              <a:spcAft>
                <a:spcPts val="200"/>
              </a:spcAft>
              <a:buNone/>
            </a:pPr>
            <a:r>
              <a:rPr lang="en-US" sz="1400" dirty="0">
                <a:solidFill>
                  <a:srgbClr val="7F8FAD"/>
                </a:solidFill>
                <a:latin typeface="Courier New" pitchFamily="34" charset="0"/>
                <a:ea typeface="Courier New" pitchFamily="34" charset="-122"/>
                <a:cs typeface="Courier New" pitchFamily="34" charset="-120"/>
              </a:rPr>
              <a:t># on a full Linux machine or a Mac:</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apropos rename</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mv (1)        - move (rename) files</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rename (1)    - rename multiple files</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man mv</a:t>
            </a:r>
            <a:endParaRPr lang="en-US" sz="1400" dirty="0"/>
          </a:p>
          <a:p>
            <a:pPr indent="0" marL="0">
              <a:spcAft>
                <a:spcPts val="200"/>
              </a:spcAft>
              <a:buNone/>
            </a:pPr>
            <a:r>
              <a:rPr lang="en-US" sz="1400" dirty="0">
                <a:solidFill>
                  <a:srgbClr val="7F8FAD"/>
                </a:solidFill>
                <a:latin typeface="Courier New" pitchFamily="34" charset="0"/>
                <a:ea typeface="Courier New" pitchFamily="34" charset="-122"/>
                <a:cs typeface="Courier New" pitchFamily="34" charset="-120"/>
              </a:rPr>
              <a:t># press q to quit</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 </a:t>
            </a:r>
            <a:endParaRPr lang="en-US" sz="1400" dirty="0"/>
          </a:p>
          <a:p>
            <a:pPr indent="0" marL="0">
              <a:spcAft>
                <a:spcPts val="200"/>
              </a:spcAft>
              <a:buNone/>
            </a:pPr>
            <a:r>
              <a:rPr lang="en-US" sz="1400" dirty="0">
                <a:solidFill>
                  <a:srgbClr val="7F8FAD"/>
                </a:solidFill>
                <a:latin typeface="Courier New" pitchFamily="34" charset="0"/>
                <a:ea typeface="Courier New" pitchFamily="34" charset="-122"/>
                <a:cs typeface="Courier New" pitchFamily="34" charset="-120"/>
              </a:rPr>
              <a:t># in the CTF:</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ls /bin | wc -l</a:t>
            </a:r>
            <a:endParaRPr lang="en-US" sz="1400" dirty="0"/>
          </a:p>
          <a:p>
            <a:pPr indent="0" marL="0">
              <a:spcAft>
                <a:spcPts val="200"/>
              </a:spcAft>
              <a:buNone/>
            </a:pPr>
            <a:r>
              <a:rPr lang="en-US" sz="1400" b="1" dirty="0">
                <a:solidFill>
                  <a:srgbClr val="F5A623"/>
                </a:solidFill>
                <a:latin typeface="Courier New" pitchFamily="34" charset="0"/>
                <a:ea typeface="Courier New" pitchFamily="34" charset="-122"/>
                <a:cs typeface="Courier New" pitchFamily="34" charset="-120"/>
              </a:rPr>
              <a:t># hundreds of commands</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ls /bin | grep sum</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md5sum  sha1sum  sha256sum ...</a:t>
            </a:r>
            <a:endParaRPr lang="en-US" sz="1400" dirty="0"/>
          </a:p>
        </p:txBody>
      </p:sp>
      <p:sp>
        <p:nvSpPr>
          <p:cNvPr id="38" name="Text 35"/>
          <p:cNvSpPr txBox="1"/>
          <p:nvPr/>
        </p:nvSpPr>
        <p:spPr>
          <a:xfrm>
            <a:off x="548640" y="5989320"/>
            <a:ext cx="11094415" cy="320040"/>
          </a:xfrm>
          <a:prstGeom prst="rect">
            <a:avLst/>
          </a:prstGeom>
          <a:noFill/>
          <a:ln/>
        </p:spPr>
        <p:txBody>
          <a:bodyPr wrap="square" lIns="0" tIns="0" rIns="0" bIns="0" rtlCol="0" anchor="t"/>
          <a:lstStyle/>
          <a:p>
            <a:pPr indent="0" marL="0">
              <a:buNone/>
            </a:pPr>
            <a:r>
              <a:rPr lang="en-US" sz="1300" b="1" dirty="0">
                <a:solidFill>
                  <a:srgbClr val="56657E"/>
                </a:solidFill>
                <a:latin typeface="Calibri" pitchFamily="34" charset="0"/>
                <a:ea typeface="Calibri" pitchFamily="34" charset="-122"/>
                <a:cs typeface="Calibri" pitchFamily="34" charset="-120"/>
              </a:rPr>
              <a:t>Online: </a:t>
            </a:r>
            <a:pPr indent="0" marL="0">
              <a:buNone/>
            </a:pPr>
            <a:r>
              <a:rPr lang="en-US" sz="1300" dirty="0">
                <a:solidFill>
                  <a:srgbClr val="56657E"/>
                </a:solidFill>
                <a:latin typeface="Calibri" pitchFamily="34" charset="0"/>
                <a:ea typeface="Calibri" pitchFamily="34" charset="-122"/>
                <a:cs typeface="Calibri" pitchFamily="34" charset="-120"/>
              </a:rPr>
              <a:t>explainshell.com explains any command line, part by part. tldr.sh has short examples.</a:t>
            </a:r>
            <a:endParaRPr lang="en-US" sz="1300" dirty="0"/>
          </a:p>
        </p:txBody>
      </p:sp>
      <p:sp>
        <p:nvSpPr>
          <p:cNvPr id="39" name="Text 36"/>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27 / 79</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Type less, fix faster</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cd miss&lt;Tab&gt;&lt;Tab&gt;</a:t>
            </a:r>
            <a:endParaRPr lang="en-US" sz="1300" dirty="0"/>
          </a:p>
        </p:txBody>
      </p:sp>
      <p:sp>
        <p:nvSpPr>
          <p:cNvPr id="8" name="Shape 5"/>
          <p:cNvSpPr/>
          <p:nvPr/>
        </p:nvSpPr>
        <p:spPr>
          <a:xfrm>
            <a:off x="548640" y="1463040"/>
            <a:ext cx="5486400" cy="3291840"/>
          </a:xfrm>
          <a:prstGeom prst="roundRect">
            <a:avLst>
              <a:gd name="adj" fmla="val 2778"/>
            </a:avLst>
          </a:prstGeom>
          <a:solidFill>
            <a:srgbClr val="0E1726"/>
          </a:solidFill>
          <a:ln/>
          <a:effectLst>
            <a:outerShdw sx="100000" sy="100000" kx="0" ky="0" algn="bl" rotWithShape="0" blurRad="127000" dist="38100" dir="5400000">
              <a:srgbClr val="12213A">
                <a:alpha val="22000"/>
              </a:srgbClr>
            </a:outerShdw>
          </a:effectLst>
        </p:spPr>
      </p:sp>
      <p:sp>
        <p:nvSpPr>
          <p:cNvPr id="9" name="Shape 6"/>
          <p:cNvSpPr/>
          <p:nvPr/>
        </p:nvSpPr>
        <p:spPr>
          <a:xfrm>
            <a:off x="749808" y="1618488"/>
            <a:ext cx="118872" cy="118872"/>
          </a:xfrm>
          <a:prstGeom prst="ellipse">
            <a:avLst/>
          </a:prstGeom>
          <a:solidFill>
            <a:srgbClr val="E5534B"/>
          </a:solidFill>
          <a:ln/>
        </p:spPr>
      </p:sp>
      <p:sp>
        <p:nvSpPr>
          <p:cNvPr id="10" name="Shape 7"/>
          <p:cNvSpPr/>
          <p:nvPr/>
        </p:nvSpPr>
        <p:spPr>
          <a:xfrm>
            <a:off x="950976" y="1618488"/>
            <a:ext cx="118872" cy="118872"/>
          </a:xfrm>
          <a:prstGeom prst="ellipse">
            <a:avLst/>
          </a:prstGeom>
          <a:solidFill>
            <a:srgbClr val="F5A623"/>
          </a:solidFill>
          <a:ln/>
        </p:spPr>
      </p:sp>
      <p:sp>
        <p:nvSpPr>
          <p:cNvPr id="11" name="Shape 8"/>
          <p:cNvSpPr/>
          <p:nvPr/>
        </p:nvSpPr>
        <p:spPr>
          <a:xfrm>
            <a:off x="1152144" y="1618488"/>
            <a:ext cx="118872" cy="118872"/>
          </a:xfrm>
          <a:prstGeom prst="ellipse">
            <a:avLst/>
          </a:prstGeom>
          <a:solidFill>
            <a:srgbClr val="46D39A"/>
          </a:solidFill>
          <a:ln/>
        </p:spPr>
      </p:sp>
      <p:sp>
        <p:nvSpPr>
          <p:cNvPr id="12" name="Text 9"/>
          <p:cNvSpPr txBox="1"/>
          <p:nvPr/>
        </p:nvSpPr>
        <p:spPr>
          <a:xfrm>
            <a:off x="1463040" y="1536192"/>
            <a:ext cx="365760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Tab finishes names for you</a:t>
            </a:r>
            <a:endParaRPr lang="en-US" sz="1000" dirty="0"/>
          </a:p>
        </p:txBody>
      </p:sp>
      <p:sp>
        <p:nvSpPr>
          <p:cNvPr id="13" name="Text 10"/>
          <p:cNvSpPr txBox="1"/>
          <p:nvPr/>
        </p:nvSpPr>
        <p:spPr>
          <a:xfrm>
            <a:off x="822960" y="1920240"/>
            <a:ext cx="4937760" cy="2697480"/>
          </a:xfrm>
          <a:prstGeom prst="rect">
            <a:avLst/>
          </a:prstGeom>
          <a:noFill/>
          <a:ln/>
        </p:spPr>
        <p:txBody>
          <a:bodyPr wrap="square" lIns="0" tIns="0" rIns="0" bIns="0" rtlCol="0" anchor="t"/>
          <a:lstStyle/>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cd miss&lt;Tab&gt;</a:t>
            </a:r>
            <a:endParaRPr lang="en-US" sz="1500" dirty="0"/>
          </a:p>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cd mission</a:t>
            </a:r>
            <a:pPr indent="0" marL="0">
              <a:spcAft>
                <a:spcPts val="200"/>
              </a:spcAft>
              <a:buNone/>
            </a:pPr>
            <a:r>
              <a:rPr lang="en-US" sz="1500" dirty="0">
                <a:solidFill>
                  <a:srgbClr val="7F8FAD"/>
                </a:solidFill>
                <a:latin typeface="Courier New" pitchFamily="34" charset="0"/>
                <a:ea typeface="Courier New" pitchFamily="34" charset="-122"/>
                <a:cs typeface="Courier New" pitchFamily="34" charset="-120"/>
              </a:rPr>
              <a:t>   # 10 matches, so it stops</a:t>
            </a:r>
            <a:endParaRPr lang="en-US" sz="1500" dirty="0"/>
          </a:p>
          <a:p>
            <a:pPr indent="0" marL="0">
              <a:spcAft>
                <a:spcPts val="200"/>
              </a:spcAft>
              <a:buNone/>
            </a:pPr>
            <a:r>
              <a:rPr lang="en-US" sz="1500" dirty="0">
                <a:solidFill>
                  <a:srgbClr val="7F8FAD"/>
                </a:solidFill>
                <a:latin typeface="Courier New" pitchFamily="34" charset="0"/>
                <a:ea typeface="Courier New" pitchFamily="34" charset="-122"/>
                <a:cs typeface="Courier New" pitchFamily="34" charset="-120"/>
              </a:rPr>
              <a:t># press Tab twice to list them</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mission1/  mission2/  ...  mission10/</a:t>
            </a:r>
            <a:endParaRPr lang="en-US" sz="1500" dirty="0"/>
          </a:p>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cd mission4/arch&lt;Tab&gt;</a:t>
            </a:r>
            <a:endParaRPr lang="en-US" sz="1500" dirty="0"/>
          </a:p>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cd mission4/archive/</a:t>
            </a:r>
            <a:endParaRPr lang="en-US" sz="1500" dirty="0"/>
          </a:p>
        </p:txBody>
      </p:sp>
      <p:sp>
        <p:nvSpPr>
          <p:cNvPr id="14" name="Shape 11"/>
          <p:cNvSpPr/>
          <p:nvPr/>
        </p:nvSpPr>
        <p:spPr>
          <a:xfrm>
            <a:off x="6355080" y="1463040"/>
            <a:ext cx="1737360" cy="685800"/>
          </a:xfrm>
          <a:prstGeom prst="roundRect">
            <a:avLst>
              <a:gd name="adj" fmla="val 13333"/>
            </a:avLst>
          </a:prstGeom>
          <a:solidFill>
            <a:srgbClr val="FFFFFF"/>
          </a:solidFill>
          <a:ln w="31750">
            <a:solidFill>
              <a:srgbClr val="2A9FD6"/>
            </a:solidFill>
            <a:prstDash val="solid"/>
          </a:ln>
        </p:spPr>
      </p:sp>
      <p:sp>
        <p:nvSpPr>
          <p:cNvPr id="15" name="Text 12"/>
          <p:cNvSpPr txBox="1"/>
          <p:nvPr/>
        </p:nvSpPr>
        <p:spPr>
          <a:xfrm>
            <a:off x="6355080" y="1463040"/>
            <a:ext cx="1737360" cy="685800"/>
          </a:xfrm>
          <a:prstGeom prst="rect">
            <a:avLst/>
          </a:prstGeom>
          <a:noFill/>
          <a:ln/>
        </p:spPr>
        <p:txBody>
          <a:bodyPr wrap="square" lIns="0" tIns="0" rIns="0" bIns="0" rtlCol="0" anchor="ctr"/>
          <a:lstStyle/>
          <a:p>
            <a:pPr algn="ctr" indent="0" marL="0">
              <a:buNone/>
            </a:pPr>
            <a:r>
              <a:rPr lang="en-US" sz="1700" b="1" dirty="0">
                <a:solidFill>
                  <a:srgbClr val="2A9FD6"/>
                </a:solidFill>
                <a:latin typeface="Courier New" pitchFamily="34" charset="0"/>
                <a:ea typeface="Courier New" pitchFamily="34" charset="-122"/>
                <a:cs typeface="Courier New" pitchFamily="34" charset="-120"/>
              </a:rPr>
              <a:t>Tab</a:t>
            </a:r>
            <a:endParaRPr lang="en-US" sz="1700" dirty="0"/>
          </a:p>
        </p:txBody>
      </p:sp>
      <p:sp>
        <p:nvSpPr>
          <p:cNvPr id="16" name="Text 13"/>
          <p:cNvSpPr txBox="1"/>
          <p:nvPr/>
        </p:nvSpPr>
        <p:spPr>
          <a:xfrm>
            <a:off x="8275320" y="1463040"/>
            <a:ext cx="3383280" cy="685800"/>
          </a:xfrm>
          <a:prstGeom prst="rect">
            <a:avLst/>
          </a:prstGeom>
          <a:noFill/>
          <a:ln/>
        </p:spPr>
        <p:txBody>
          <a:bodyPr wrap="square" lIns="0" tIns="0" rIns="0" bIns="0" rtlCol="0" anchor="ctr"/>
          <a:lstStyle/>
          <a:p>
            <a:pPr indent="0" marL="0">
              <a:buNone/>
            </a:pPr>
            <a:r>
              <a:rPr lang="en-US" sz="1800" dirty="0">
                <a:solidFill>
                  <a:srgbClr val="12213A"/>
                </a:solidFill>
                <a:latin typeface="Calibri" pitchFamily="34" charset="0"/>
                <a:ea typeface="Calibri" pitchFamily="34" charset="-122"/>
                <a:cs typeface="Calibri" pitchFamily="34" charset="-120"/>
              </a:rPr>
              <a:t>finish a name or path</a:t>
            </a:r>
            <a:endParaRPr lang="en-US" sz="1800" dirty="0"/>
          </a:p>
        </p:txBody>
      </p:sp>
      <p:sp>
        <p:nvSpPr>
          <p:cNvPr id="17" name="Shape 14"/>
          <p:cNvSpPr/>
          <p:nvPr/>
        </p:nvSpPr>
        <p:spPr>
          <a:xfrm>
            <a:off x="6355080" y="2304288"/>
            <a:ext cx="1737360" cy="685800"/>
          </a:xfrm>
          <a:prstGeom prst="roundRect">
            <a:avLst>
              <a:gd name="adj" fmla="val 13333"/>
            </a:avLst>
          </a:prstGeom>
          <a:solidFill>
            <a:srgbClr val="FFFFFF"/>
          </a:solidFill>
          <a:ln w="31750">
            <a:solidFill>
              <a:srgbClr val="2459D8"/>
            </a:solidFill>
            <a:prstDash val="solid"/>
          </a:ln>
        </p:spPr>
      </p:sp>
      <p:sp>
        <p:nvSpPr>
          <p:cNvPr id="18" name="Text 15"/>
          <p:cNvSpPr txBox="1"/>
          <p:nvPr/>
        </p:nvSpPr>
        <p:spPr>
          <a:xfrm>
            <a:off x="6355080" y="2304288"/>
            <a:ext cx="1737360" cy="685800"/>
          </a:xfrm>
          <a:prstGeom prst="rect">
            <a:avLst/>
          </a:prstGeom>
          <a:noFill/>
          <a:ln/>
        </p:spPr>
        <p:txBody>
          <a:bodyPr wrap="square" lIns="0" tIns="0" rIns="0" bIns="0" rtlCol="0" anchor="ctr"/>
          <a:lstStyle/>
          <a:p>
            <a:pPr algn="ctr" indent="0" marL="0">
              <a:buNone/>
            </a:pPr>
            <a:r>
              <a:rPr lang="en-US" sz="1700" b="1" dirty="0">
                <a:solidFill>
                  <a:srgbClr val="2459D8"/>
                </a:solidFill>
                <a:latin typeface="Courier New" pitchFamily="34" charset="0"/>
                <a:ea typeface="Courier New" pitchFamily="34" charset="-122"/>
                <a:cs typeface="Courier New" pitchFamily="34" charset="-120"/>
              </a:rPr>
              <a:t>Up arrow</a:t>
            </a:r>
            <a:endParaRPr lang="en-US" sz="1700" dirty="0"/>
          </a:p>
        </p:txBody>
      </p:sp>
      <p:sp>
        <p:nvSpPr>
          <p:cNvPr id="19" name="Text 16"/>
          <p:cNvSpPr txBox="1"/>
          <p:nvPr/>
        </p:nvSpPr>
        <p:spPr>
          <a:xfrm>
            <a:off x="8275320" y="2304288"/>
            <a:ext cx="3383280" cy="685800"/>
          </a:xfrm>
          <a:prstGeom prst="rect">
            <a:avLst/>
          </a:prstGeom>
          <a:noFill/>
          <a:ln/>
        </p:spPr>
        <p:txBody>
          <a:bodyPr wrap="square" lIns="0" tIns="0" rIns="0" bIns="0" rtlCol="0" anchor="ctr"/>
          <a:lstStyle/>
          <a:p>
            <a:pPr indent="0" marL="0">
              <a:buNone/>
            </a:pPr>
            <a:r>
              <a:rPr lang="en-US" sz="1800" dirty="0">
                <a:solidFill>
                  <a:srgbClr val="12213A"/>
                </a:solidFill>
                <a:latin typeface="Calibri" pitchFamily="34" charset="0"/>
                <a:ea typeface="Calibri" pitchFamily="34" charset="-122"/>
                <a:cs typeface="Calibri" pitchFamily="34" charset="-120"/>
              </a:rPr>
              <a:t>bring back the last command</a:t>
            </a:r>
            <a:endParaRPr lang="en-US" sz="1800" dirty="0"/>
          </a:p>
        </p:txBody>
      </p:sp>
      <p:sp>
        <p:nvSpPr>
          <p:cNvPr id="20" name="Shape 17"/>
          <p:cNvSpPr/>
          <p:nvPr/>
        </p:nvSpPr>
        <p:spPr>
          <a:xfrm>
            <a:off x="6355080" y="3145536"/>
            <a:ext cx="1737360" cy="685800"/>
          </a:xfrm>
          <a:prstGeom prst="roundRect">
            <a:avLst>
              <a:gd name="adj" fmla="val 13333"/>
            </a:avLst>
          </a:prstGeom>
          <a:solidFill>
            <a:srgbClr val="FFFFFF"/>
          </a:solidFill>
          <a:ln w="31750">
            <a:solidFill>
              <a:srgbClr val="D1416B"/>
            </a:solidFill>
            <a:prstDash val="solid"/>
          </a:ln>
        </p:spPr>
      </p:sp>
      <p:sp>
        <p:nvSpPr>
          <p:cNvPr id="21" name="Text 18"/>
          <p:cNvSpPr txBox="1"/>
          <p:nvPr/>
        </p:nvSpPr>
        <p:spPr>
          <a:xfrm>
            <a:off x="6355080" y="3145536"/>
            <a:ext cx="1737360" cy="685800"/>
          </a:xfrm>
          <a:prstGeom prst="rect">
            <a:avLst/>
          </a:prstGeom>
          <a:noFill/>
          <a:ln/>
        </p:spPr>
        <p:txBody>
          <a:bodyPr wrap="square" lIns="0" tIns="0" rIns="0" bIns="0" rtlCol="0" anchor="ctr"/>
          <a:lstStyle/>
          <a:p>
            <a:pPr algn="ctr" indent="0" marL="0">
              <a:buNone/>
            </a:pPr>
            <a:r>
              <a:rPr lang="en-US" sz="1700" b="1" dirty="0">
                <a:solidFill>
                  <a:srgbClr val="D1416B"/>
                </a:solidFill>
                <a:latin typeface="Courier New" pitchFamily="34" charset="0"/>
                <a:ea typeface="Courier New" pitchFamily="34" charset="-122"/>
                <a:cs typeface="Courier New" pitchFamily="34" charset="-120"/>
              </a:rPr>
              <a:t>Ctrl+C</a:t>
            </a:r>
            <a:endParaRPr lang="en-US" sz="1700" dirty="0"/>
          </a:p>
        </p:txBody>
      </p:sp>
      <p:sp>
        <p:nvSpPr>
          <p:cNvPr id="22" name="Text 19"/>
          <p:cNvSpPr txBox="1"/>
          <p:nvPr/>
        </p:nvSpPr>
        <p:spPr>
          <a:xfrm>
            <a:off x="8275320" y="3145536"/>
            <a:ext cx="3383280" cy="685800"/>
          </a:xfrm>
          <a:prstGeom prst="rect">
            <a:avLst/>
          </a:prstGeom>
          <a:noFill/>
          <a:ln/>
        </p:spPr>
        <p:txBody>
          <a:bodyPr wrap="square" lIns="0" tIns="0" rIns="0" bIns="0" rtlCol="0" anchor="ctr"/>
          <a:lstStyle/>
          <a:p>
            <a:pPr indent="0" marL="0">
              <a:buNone/>
            </a:pPr>
            <a:r>
              <a:rPr lang="en-US" sz="1800" dirty="0">
                <a:solidFill>
                  <a:srgbClr val="12213A"/>
                </a:solidFill>
                <a:latin typeface="Calibri" pitchFamily="34" charset="0"/>
                <a:ea typeface="Calibri" pitchFamily="34" charset="-122"/>
                <a:cs typeface="Calibri" pitchFamily="34" charset="-120"/>
              </a:rPr>
              <a:t>stop what is running</a:t>
            </a:r>
            <a:endParaRPr lang="en-US" sz="1800" dirty="0"/>
          </a:p>
        </p:txBody>
      </p:sp>
      <p:sp>
        <p:nvSpPr>
          <p:cNvPr id="23" name="Shape 20"/>
          <p:cNvSpPr/>
          <p:nvPr/>
        </p:nvSpPr>
        <p:spPr>
          <a:xfrm>
            <a:off x="6355080" y="3986784"/>
            <a:ext cx="1737360" cy="685800"/>
          </a:xfrm>
          <a:prstGeom prst="roundRect">
            <a:avLst>
              <a:gd name="adj" fmla="val 13333"/>
            </a:avLst>
          </a:prstGeom>
          <a:solidFill>
            <a:srgbClr val="FFFFFF"/>
          </a:solidFill>
          <a:ln w="31750">
            <a:solidFill>
              <a:srgbClr val="7448D4"/>
            </a:solidFill>
            <a:prstDash val="solid"/>
          </a:ln>
        </p:spPr>
      </p:sp>
      <p:sp>
        <p:nvSpPr>
          <p:cNvPr id="24" name="Text 21"/>
          <p:cNvSpPr txBox="1"/>
          <p:nvPr/>
        </p:nvSpPr>
        <p:spPr>
          <a:xfrm>
            <a:off x="6355080" y="3986784"/>
            <a:ext cx="1737360" cy="685800"/>
          </a:xfrm>
          <a:prstGeom prst="rect">
            <a:avLst/>
          </a:prstGeom>
          <a:noFill/>
          <a:ln/>
        </p:spPr>
        <p:txBody>
          <a:bodyPr wrap="square" lIns="0" tIns="0" rIns="0" bIns="0" rtlCol="0" anchor="ctr"/>
          <a:lstStyle/>
          <a:p>
            <a:pPr algn="ctr" indent="0" marL="0">
              <a:buNone/>
            </a:pPr>
            <a:r>
              <a:rPr lang="en-US" sz="1700" b="1" dirty="0">
                <a:solidFill>
                  <a:srgbClr val="7448D4"/>
                </a:solidFill>
                <a:latin typeface="Courier New" pitchFamily="34" charset="0"/>
                <a:ea typeface="Courier New" pitchFamily="34" charset="-122"/>
                <a:cs typeface="Courier New" pitchFamily="34" charset="-120"/>
              </a:rPr>
              <a:t>clear</a:t>
            </a:r>
            <a:endParaRPr lang="en-US" sz="1700" dirty="0"/>
          </a:p>
        </p:txBody>
      </p:sp>
      <p:sp>
        <p:nvSpPr>
          <p:cNvPr id="25" name="Text 22"/>
          <p:cNvSpPr txBox="1"/>
          <p:nvPr/>
        </p:nvSpPr>
        <p:spPr>
          <a:xfrm>
            <a:off x="8275320" y="3986784"/>
            <a:ext cx="3383280" cy="685800"/>
          </a:xfrm>
          <a:prstGeom prst="rect">
            <a:avLst/>
          </a:prstGeom>
          <a:noFill/>
          <a:ln/>
        </p:spPr>
        <p:txBody>
          <a:bodyPr wrap="square" lIns="0" tIns="0" rIns="0" bIns="0" rtlCol="0" anchor="ctr"/>
          <a:lstStyle/>
          <a:p>
            <a:pPr indent="0" marL="0">
              <a:buNone/>
            </a:pPr>
            <a:r>
              <a:rPr lang="en-US" sz="1800" dirty="0">
                <a:solidFill>
                  <a:srgbClr val="12213A"/>
                </a:solidFill>
                <a:latin typeface="Calibri" pitchFamily="34" charset="0"/>
                <a:ea typeface="Calibri" pitchFamily="34" charset="-122"/>
                <a:cs typeface="Calibri" pitchFamily="34" charset="-120"/>
              </a:rPr>
              <a:t>wipe the screen</a:t>
            </a:r>
            <a:endParaRPr lang="en-US" sz="1800" dirty="0"/>
          </a:p>
        </p:txBody>
      </p:sp>
      <p:sp>
        <p:nvSpPr>
          <p:cNvPr id="26" name="Shape 23"/>
          <p:cNvSpPr/>
          <p:nvPr/>
        </p:nvSpPr>
        <p:spPr>
          <a:xfrm>
            <a:off x="548640" y="4983480"/>
            <a:ext cx="11094415" cy="914400"/>
          </a:xfrm>
          <a:prstGeom prst="roundRect">
            <a:avLst>
              <a:gd name="adj" fmla="val 10000"/>
            </a:avLst>
          </a:prstGeom>
          <a:solidFill>
            <a:srgbClr val="F1F5FB"/>
          </a:solidFill>
          <a:ln/>
        </p:spPr>
      </p:sp>
      <p:sp>
        <p:nvSpPr>
          <p:cNvPr id="27" name="Shape 24"/>
          <p:cNvSpPr/>
          <p:nvPr/>
        </p:nvSpPr>
        <p:spPr>
          <a:xfrm>
            <a:off x="777240" y="5120640"/>
            <a:ext cx="640080" cy="640080"/>
          </a:xfrm>
          <a:prstGeom prst="ellipse">
            <a:avLst/>
          </a:prstGeom>
          <a:solidFill>
            <a:srgbClr val="2459D8"/>
          </a:solidFill>
          <a:ln/>
        </p:spPr>
      </p:sp>
      <p:pic>
        <p:nvPicPr>
          <p:cNvPr id="28" name="Image 0" descr="preencoded.png">    </p:cNvPr>
          <p:cNvPicPr>
            <a:picLocks noChangeAspect="1"/>
          </p:cNvPicPr>
          <p:nvPr/>
        </p:nvPicPr>
        <p:blipFill>
          <a:blip r:embed="rId1"/>
          <a:stretch>
            <a:fillRect/>
          </a:stretch>
        </p:blipFill>
        <p:spPr>
          <a:xfrm>
            <a:off x="937260" y="5280660"/>
            <a:ext cx="320040" cy="320040"/>
          </a:xfrm>
          <a:prstGeom prst="rect">
            <a:avLst/>
          </a:prstGeom>
        </p:spPr>
      </p:pic>
      <p:sp>
        <p:nvSpPr>
          <p:cNvPr id="29" name="Text 25"/>
          <p:cNvSpPr txBox="1"/>
          <p:nvPr/>
        </p:nvSpPr>
        <p:spPr>
          <a:xfrm>
            <a:off x="1645920" y="4983480"/>
            <a:ext cx="9692640" cy="914400"/>
          </a:xfrm>
          <a:prstGeom prst="rect">
            <a:avLst/>
          </a:prstGeom>
          <a:noFill/>
          <a:ln/>
        </p:spPr>
        <p:txBody>
          <a:bodyPr wrap="square" lIns="0" tIns="0" rIns="0" bIns="0" rtlCol="0" anchor="ctr"/>
          <a:lstStyle/>
          <a:p>
            <a:pPr indent="0" marL="0">
              <a:buNone/>
            </a:pPr>
            <a:r>
              <a:rPr lang="en-US" sz="1700" b="1" dirty="0">
                <a:solidFill>
                  <a:srgbClr val="12213A"/>
                </a:solidFill>
                <a:latin typeface="Calibri" pitchFamily="34" charset="0"/>
                <a:ea typeface="Calibri" pitchFamily="34" charset="-122"/>
                <a:cs typeface="Calibri" pitchFamily="34" charset="-120"/>
              </a:rPr>
              <a:t>Tab is speed. </a:t>
            </a:r>
            <a:pPr indent="0" marL="0">
              <a:buNone/>
            </a:pPr>
            <a:r>
              <a:rPr lang="en-US" sz="1700" dirty="0">
                <a:solidFill>
                  <a:srgbClr val="12213A"/>
                </a:solidFill>
                <a:latin typeface="Calibri" pitchFamily="34" charset="0"/>
                <a:ea typeface="Calibri" pitchFamily="34" charset="-122"/>
                <a:cs typeface="Calibri" pitchFamily="34" charset="-120"/>
              </a:rPr>
              <a:t>Long paths like archive/charlie/bin-x7q2/k3d9fa.gem take seconds with Tab and a minute without it.</a:t>
            </a:r>
            <a:endParaRPr lang="en-US" sz="1700" dirty="0"/>
          </a:p>
        </p:txBody>
      </p:sp>
      <p:sp>
        <p:nvSpPr>
          <p:cNvPr id="30" name="Text 26"/>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28 / 79</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3" name="Shape 0"/>
          <p:cNvSpPr/>
          <p:nvPr/>
        </p:nvSpPr>
        <p:spPr>
          <a:xfrm>
            <a:off x="0" y="0"/>
            <a:ext cx="256032" cy="6858000"/>
          </a:xfrm>
          <a:prstGeom prst="rect">
            <a:avLst/>
          </a:prstGeom>
          <a:solidFill>
            <a:srgbClr val="7448D4"/>
          </a:solidFill>
          <a:ln/>
        </p:spPr>
      </p:sp>
      <p:sp>
        <p:nvSpPr>
          <p:cNvPr id="4" name="Shape 1"/>
          <p:cNvSpPr/>
          <p:nvPr/>
        </p:nvSpPr>
        <p:spPr>
          <a:xfrm>
            <a:off x="640080" y="685800"/>
            <a:ext cx="1188720" cy="1188720"/>
          </a:xfrm>
          <a:prstGeom prst="ellipse">
            <a:avLst/>
          </a:prstGeom>
          <a:solidFill>
            <a:srgbClr val="7448D4"/>
          </a:solidFill>
          <a:ln/>
        </p:spPr>
      </p:sp>
      <p:sp>
        <p:nvSpPr>
          <p:cNvPr id="5" name="Text 2"/>
          <p:cNvSpPr txBox="1"/>
          <p:nvPr/>
        </p:nvSpPr>
        <p:spPr>
          <a:xfrm>
            <a:off x="640080" y="685800"/>
            <a:ext cx="1188720" cy="1188720"/>
          </a:xfrm>
          <a:prstGeom prst="rect">
            <a:avLst/>
          </a:prstGeom>
          <a:noFill/>
          <a:ln/>
        </p:spPr>
        <p:txBody>
          <a:bodyPr wrap="square" lIns="0" tIns="0" rIns="0" bIns="0" rtlCol="0" anchor="ctr"/>
          <a:lstStyle/>
          <a:p>
            <a:pPr algn="ctr" indent="0" marL="0">
              <a:buNone/>
            </a:pPr>
            <a:r>
              <a:rPr lang="en-US" sz="5400" b="1" dirty="0">
                <a:solidFill>
                  <a:srgbClr val="FFFFFF"/>
                </a:solidFill>
                <a:latin typeface="Arial" pitchFamily="34" charset="0"/>
                <a:ea typeface="Arial" pitchFamily="34" charset="-122"/>
                <a:cs typeface="Arial" pitchFamily="34" charset="-120"/>
              </a:rPr>
              <a:t>3</a:t>
            </a:r>
            <a:endParaRPr lang="en-US" sz="5400" dirty="0"/>
          </a:p>
        </p:txBody>
      </p:sp>
      <p:sp>
        <p:nvSpPr>
          <p:cNvPr id="6" name="Text 3"/>
          <p:cNvSpPr txBox="1"/>
          <p:nvPr/>
        </p:nvSpPr>
        <p:spPr>
          <a:xfrm>
            <a:off x="2148840" y="731520"/>
            <a:ext cx="5486400" cy="365760"/>
          </a:xfrm>
          <a:prstGeom prst="rect">
            <a:avLst/>
          </a:prstGeom>
          <a:noFill/>
          <a:ln/>
        </p:spPr>
        <p:txBody>
          <a:bodyPr wrap="square" lIns="0" tIns="0" rIns="0" bIns="0" rtlCol="0" anchor="ctr"/>
          <a:lstStyle/>
          <a:p>
            <a:pPr indent="0" marL="0">
              <a:buNone/>
            </a:pPr>
            <a:r>
              <a:rPr lang="en-US" sz="1500" dirty="0">
                <a:solidFill>
                  <a:srgbClr val="56657E"/>
                </a:solidFill>
                <a:latin typeface="Courier New" pitchFamily="34" charset="0"/>
                <a:ea typeface="Courier New" pitchFamily="34" charset="-122"/>
                <a:cs typeface="Courier New" pitchFamily="34" charset="-120"/>
              </a:rPr>
              <a:t>Big idea 3 of 4</a:t>
            </a:r>
            <a:endParaRPr lang="en-US" sz="1500" dirty="0"/>
          </a:p>
        </p:txBody>
      </p:sp>
      <p:sp>
        <p:nvSpPr>
          <p:cNvPr id="7" name="Text 4"/>
          <p:cNvSpPr txBox="1"/>
          <p:nvPr/>
        </p:nvSpPr>
        <p:spPr>
          <a:xfrm>
            <a:off x="2148840" y="1051560"/>
            <a:ext cx="9144000" cy="822960"/>
          </a:xfrm>
          <a:prstGeom prst="rect">
            <a:avLst/>
          </a:prstGeom>
          <a:noFill/>
          <a:ln/>
        </p:spPr>
        <p:txBody>
          <a:bodyPr wrap="square" lIns="0" tIns="0" rIns="0" bIns="0" rtlCol="0" anchor="ctr"/>
          <a:lstStyle/>
          <a:p>
            <a:pPr indent="0" marL="0">
              <a:buNone/>
            </a:pPr>
            <a:r>
              <a:rPr lang="en-US" sz="4400" b="1" dirty="0">
                <a:solidFill>
                  <a:srgbClr val="12213A"/>
                </a:solidFill>
                <a:latin typeface="Arial" pitchFamily="34" charset="0"/>
                <a:ea typeface="Arial" pitchFamily="34" charset="-122"/>
                <a:cs typeface="Arial" pitchFamily="34" charset="-120"/>
              </a:rPr>
              <a:t>Searching</a:t>
            </a:r>
            <a:endParaRPr lang="en-US" sz="4400" dirty="0"/>
          </a:p>
        </p:txBody>
      </p:sp>
      <p:sp>
        <p:nvSpPr>
          <p:cNvPr id="8" name="Text 5"/>
          <p:cNvSpPr txBox="1"/>
          <p:nvPr/>
        </p:nvSpPr>
        <p:spPr>
          <a:xfrm>
            <a:off x="640080" y="2194560"/>
            <a:ext cx="10911535" cy="1005840"/>
          </a:xfrm>
          <a:prstGeom prst="rect">
            <a:avLst/>
          </a:prstGeom>
          <a:noFill/>
          <a:ln/>
        </p:spPr>
        <p:txBody>
          <a:bodyPr wrap="square" lIns="0" tIns="0" rIns="0" bIns="0" rtlCol="0" anchor="t"/>
          <a:lstStyle/>
          <a:p>
            <a:pPr indent="0" marL="0">
              <a:buNone/>
            </a:pPr>
            <a:r>
              <a:rPr lang="en-US" sz="2500" dirty="0">
                <a:solidFill>
                  <a:srgbClr val="12213A"/>
                </a:solidFill>
                <a:latin typeface="Calibri" pitchFamily="34" charset="0"/>
                <a:ea typeface="Calibri" pitchFamily="34" charset="-122"/>
                <a:cs typeface="Calibri" pitchFamily="34" charset="-120"/>
              </a:rPr>
              <a:t>When there is too much to read by hand, let the computer search: by name, or inside files.</a:t>
            </a:r>
            <a:endParaRPr lang="en-US" sz="2500" dirty="0"/>
          </a:p>
        </p:txBody>
      </p:sp>
      <p:sp>
        <p:nvSpPr>
          <p:cNvPr id="9" name="Shape 6"/>
          <p:cNvSpPr/>
          <p:nvPr/>
        </p:nvSpPr>
        <p:spPr>
          <a:xfrm>
            <a:off x="640080" y="3520440"/>
            <a:ext cx="3520440" cy="1965960"/>
          </a:xfrm>
          <a:prstGeom prst="roundRect">
            <a:avLst>
              <a:gd name="adj" fmla="val 4651"/>
            </a:avLst>
          </a:prstGeom>
          <a:solidFill>
            <a:srgbClr val="F1F5FB"/>
          </a:solidFill>
          <a:ln/>
        </p:spPr>
      </p:sp>
      <p:sp>
        <p:nvSpPr>
          <p:cNvPr id="10" name="Text 7"/>
          <p:cNvSpPr txBox="1"/>
          <p:nvPr/>
        </p:nvSpPr>
        <p:spPr>
          <a:xfrm>
            <a:off x="914400" y="3657600"/>
            <a:ext cx="3017520" cy="457200"/>
          </a:xfrm>
          <a:prstGeom prst="rect">
            <a:avLst/>
          </a:prstGeom>
          <a:noFill/>
          <a:ln/>
        </p:spPr>
        <p:txBody>
          <a:bodyPr wrap="square" lIns="0" tIns="0" rIns="0" bIns="0" rtlCol="0" anchor="t"/>
          <a:lstStyle/>
          <a:p>
            <a:pPr indent="0" marL="0">
              <a:buNone/>
            </a:pPr>
            <a:r>
              <a:rPr lang="en-US" sz="2200" b="1" dirty="0">
                <a:solidFill>
                  <a:srgbClr val="7448D4"/>
                </a:solidFill>
                <a:latin typeface="Arial" pitchFamily="34" charset="0"/>
                <a:ea typeface="Arial" pitchFamily="34" charset="-122"/>
                <a:cs typeface="Arial" pitchFamily="34" charset="-120"/>
              </a:rPr>
              <a:t>By name</a:t>
            </a:r>
            <a:endParaRPr lang="en-US" sz="2200" dirty="0"/>
          </a:p>
        </p:txBody>
      </p:sp>
      <p:sp>
        <p:nvSpPr>
          <p:cNvPr id="11" name="Shape 8"/>
          <p:cNvSpPr/>
          <p:nvPr/>
        </p:nvSpPr>
        <p:spPr>
          <a:xfrm>
            <a:off x="914400" y="4206240"/>
            <a:ext cx="2971800" cy="457200"/>
          </a:xfrm>
          <a:prstGeom prst="roundRect">
            <a:avLst>
              <a:gd name="adj" fmla="val 16000"/>
            </a:avLst>
          </a:prstGeom>
          <a:solidFill>
            <a:srgbClr val="0E1726"/>
          </a:solidFill>
          <a:ln/>
        </p:spPr>
      </p:sp>
      <p:sp>
        <p:nvSpPr>
          <p:cNvPr id="12" name="Text 9"/>
          <p:cNvSpPr txBox="1"/>
          <p:nvPr/>
        </p:nvSpPr>
        <p:spPr>
          <a:xfrm>
            <a:off x="914400" y="4206240"/>
            <a:ext cx="2971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find</a:t>
            </a:r>
            <a:endParaRPr lang="en-US" sz="1500" dirty="0"/>
          </a:p>
        </p:txBody>
      </p:sp>
      <p:sp>
        <p:nvSpPr>
          <p:cNvPr id="13" name="Text 10"/>
          <p:cNvSpPr txBox="1"/>
          <p:nvPr/>
        </p:nvSpPr>
        <p:spPr>
          <a:xfrm>
            <a:off x="914400" y="4754880"/>
            <a:ext cx="3017520" cy="640080"/>
          </a:xfrm>
          <a:prstGeom prst="rect">
            <a:avLst/>
          </a:prstGeom>
          <a:noFill/>
          <a:ln/>
        </p:spPr>
        <p:txBody>
          <a:bodyPr wrap="square" lIns="0" tIns="0" rIns="0" bIns="0" rtlCol="0" anchor="t"/>
          <a:lstStyle/>
          <a:p>
            <a:pPr indent="0" marL="0">
              <a:buNone/>
            </a:pPr>
            <a:r>
              <a:rPr lang="en-US" sz="1450" dirty="0">
                <a:solidFill>
                  <a:srgbClr val="56657E"/>
                </a:solidFill>
                <a:latin typeface="Calibri" pitchFamily="34" charset="0"/>
                <a:ea typeface="Calibri" pitchFamily="34" charset="-122"/>
                <a:cs typeface="Calibri" pitchFamily="34" charset="-120"/>
              </a:rPr>
              <a:t>Search the whole folder tree for a name.</a:t>
            </a:r>
            <a:endParaRPr lang="en-US" sz="1450" dirty="0"/>
          </a:p>
        </p:txBody>
      </p:sp>
      <p:sp>
        <p:nvSpPr>
          <p:cNvPr id="14" name="Shape 11"/>
          <p:cNvSpPr/>
          <p:nvPr/>
        </p:nvSpPr>
        <p:spPr>
          <a:xfrm>
            <a:off x="4370832" y="3520440"/>
            <a:ext cx="3520440" cy="1965960"/>
          </a:xfrm>
          <a:prstGeom prst="roundRect">
            <a:avLst>
              <a:gd name="adj" fmla="val 4651"/>
            </a:avLst>
          </a:prstGeom>
          <a:solidFill>
            <a:srgbClr val="F1F5FB"/>
          </a:solidFill>
          <a:ln/>
        </p:spPr>
      </p:sp>
      <p:sp>
        <p:nvSpPr>
          <p:cNvPr id="15" name="Text 12"/>
          <p:cNvSpPr txBox="1"/>
          <p:nvPr/>
        </p:nvSpPr>
        <p:spPr>
          <a:xfrm>
            <a:off x="4645152" y="3657600"/>
            <a:ext cx="3017520" cy="457200"/>
          </a:xfrm>
          <a:prstGeom prst="rect">
            <a:avLst/>
          </a:prstGeom>
          <a:noFill/>
          <a:ln/>
        </p:spPr>
        <p:txBody>
          <a:bodyPr wrap="square" lIns="0" tIns="0" rIns="0" bIns="0" rtlCol="0" anchor="t"/>
          <a:lstStyle/>
          <a:p>
            <a:pPr indent="0" marL="0">
              <a:buNone/>
            </a:pPr>
            <a:r>
              <a:rPr lang="en-US" sz="2200" b="1" dirty="0">
                <a:solidFill>
                  <a:srgbClr val="7448D4"/>
                </a:solidFill>
                <a:latin typeface="Arial" pitchFamily="34" charset="0"/>
                <a:ea typeface="Arial" pitchFamily="34" charset="-122"/>
                <a:cs typeface="Arial" pitchFamily="34" charset="-120"/>
              </a:rPr>
              <a:t>Inside files</a:t>
            </a:r>
            <a:endParaRPr lang="en-US" sz="2200" dirty="0"/>
          </a:p>
        </p:txBody>
      </p:sp>
      <p:sp>
        <p:nvSpPr>
          <p:cNvPr id="16" name="Shape 13"/>
          <p:cNvSpPr/>
          <p:nvPr/>
        </p:nvSpPr>
        <p:spPr>
          <a:xfrm>
            <a:off x="4645152" y="4206240"/>
            <a:ext cx="2971800" cy="457200"/>
          </a:xfrm>
          <a:prstGeom prst="roundRect">
            <a:avLst>
              <a:gd name="adj" fmla="val 16000"/>
            </a:avLst>
          </a:prstGeom>
          <a:solidFill>
            <a:srgbClr val="0E1726"/>
          </a:solidFill>
          <a:ln/>
        </p:spPr>
      </p:sp>
      <p:sp>
        <p:nvSpPr>
          <p:cNvPr id="17" name="Text 14"/>
          <p:cNvSpPr txBox="1"/>
          <p:nvPr/>
        </p:nvSpPr>
        <p:spPr>
          <a:xfrm>
            <a:off x="4645152" y="4206240"/>
            <a:ext cx="2971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grep</a:t>
            </a:r>
            <a:endParaRPr lang="en-US" sz="1500" dirty="0"/>
          </a:p>
        </p:txBody>
      </p:sp>
      <p:sp>
        <p:nvSpPr>
          <p:cNvPr id="18" name="Text 15"/>
          <p:cNvSpPr txBox="1"/>
          <p:nvPr/>
        </p:nvSpPr>
        <p:spPr>
          <a:xfrm>
            <a:off x="4645152" y="4754880"/>
            <a:ext cx="3017520" cy="640080"/>
          </a:xfrm>
          <a:prstGeom prst="rect">
            <a:avLst/>
          </a:prstGeom>
          <a:noFill/>
          <a:ln/>
        </p:spPr>
        <p:txBody>
          <a:bodyPr wrap="square" lIns="0" tIns="0" rIns="0" bIns="0" rtlCol="0" anchor="t"/>
          <a:lstStyle/>
          <a:p>
            <a:pPr indent="0" marL="0">
              <a:buNone/>
            </a:pPr>
            <a:r>
              <a:rPr lang="en-US" sz="1450" dirty="0">
                <a:solidFill>
                  <a:srgbClr val="56657E"/>
                </a:solidFill>
                <a:latin typeface="Calibri" pitchFamily="34" charset="0"/>
                <a:ea typeface="Calibri" pitchFamily="34" charset="-122"/>
                <a:cs typeface="Calibri" pitchFamily="34" charset="-120"/>
              </a:rPr>
              <a:t>Print only the lines that contain your word.</a:t>
            </a:r>
            <a:endParaRPr lang="en-US" sz="1450" dirty="0"/>
          </a:p>
        </p:txBody>
      </p:sp>
      <p:sp>
        <p:nvSpPr>
          <p:cNvPr id="19" name="Shape 16"/>
          <p:cNvSpPr/>
          <p:nvPr/>
        </p:nvSpPr>
        <p:spPr>
          <a:xfrm>
            <a:off x="8101584" y="3520440"/>
            <a:ext cx="3520440" cy="1965960"/>
          </a:xfrm>
          <a:prstGeom prst="roundRect">
            <a:avLst>
              <a:gd name="adj" fmla="val 4651"/>
            </a:avLst>
          </a:prstGeom>
          <a:solidFill>
            <a:srgbClr val="F1F5FB"/>
          </a:solidFill>
          <a:ln/>
        </p:spPr>
      </p:sp>
      <p:sp>
        <p:nvSpPr>
          <p:cNvPr id="20" name="Text 17"/>
          <p:cNvSpPr txBox="1"/>
          <p:nvPr/>
        </p:nvSpPr>
        <p:spPr>
          <a:xfrm>
            <a:off x="8375904" y="3657600"/>
            <a:ext cx="3017520" cy="457200"/>
          </a:xfrm>
          <a:prstGeom prst="rect">
            <a:avLst/>
          </a:prstGeom>
          <a:noFill/>
          <a:ln/>
        </p:spPr>
        <p:txBody>
          <a:bodyPr wrap="square" lIns="0" tIns="0" rIns="0" bIns="0" rtlCol="0" anchor="t"/>
          <a:lstStyle/>
          <a:p>
            <a:pPr indent="0" marL="0">
              <a:buNone/>
            </a:pPr>
            <a:r>
              <a:rPr lang="en-US" sz="2200" b="1" dirty="0">
                <a:solidFill>
                  <a:srgbClr val="7448D4"/>
                </a:solidFill>
                <a:latin typeface="Arial" pitchFamily="34" charset="0"/>
                <a:ea typeface="Arial" pitchFamily="34" charset="-122"/>
                <a:cs typeface="Arial" pitchFamily="34" charset="-120"/>
              </a:rPr>
              <a:t>Chain</a:t>
            </a:r>
            <a:endParaRPr lang="en-US" sz="2200" dirty="0"/>
          </a:p>
        </p:txBody>
      </p:sp>
      <p:sp>
        <p:nvSpPr>
          <p:cNvPr id="21" name="Shape 18"/>
          <p:cNvSpPr/>
          <p:nvPr/>
        </p:nvSpPr>
        <p:spPr>
          <a:xfrm>
            <a:off x="8375904" y="4206240"/>
            <a:ext cx="2971800" cy="457200"/>
          </a:xfrm>
          <a:prstGeom prst="roundRect">
            <a:avLst>
              <a:gd name="adj" fmla="val 16000"/>
            </a:avLst>
          </a:prstGeom>
          <a:solidFill>
            <a:srgbClr val="0E1726"/>
          </a:solidFill>
          <a:ln/>
        </p:spPr>
      </p:sp>
      <p:sp>
        <p:nvSpPr>
          <p:cNvPr id="22" name="Text 19"/>
          <p:cNvSpPr txBox="1"/>
          <p:nvPr/>
        </p:nvSpPr>
        <p:spPr>
          <a:xfrm>
            <a:off x="8375904" y="4206240"/>
            <a:ext cx="2971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a:t>
            </a:r>
            <a:endParaRPr lang="en-US" sz="1500" dirty="0"/>
          </a:p>
        </p:txBody>
      </p:sp>
      <p:sp>
        <p:nvSpPr>
          <p:cNvPr id="23" name="Text 20"/>
          <p:cNvSpPr txBox="1"/>
          <p:nvPr/>
        </p:nvSpPr>
        <p:spPr>
          <a:xfrm>
            <a:off x="8375904" y="4754880"/>
            <a:ext cx="3017520" cy="640080"/>
          </a:xfrm>
          <a:prstGeom prst="rect">
            <a:avLst/>
          </a:prstGeom>
          <a:noFill/>
          <a:ln/>
        </p:spPr>
        <p:txBody>
          <a:bodyPr wrap="square" lIns="0" tIns="0" rIns="0" bIns="0" rtlCol="0" anchor="t"/>
          <a:lstStyle/>
          <a:p>
            <a:pPr indent="0" marL="0">
              <a:buNone/>
            </a:pPr>
            <a:r>
              <a:rPr lang="en-US" sz="1450" dirty="0">
                <a:solidFill>
                  <a:srgbClr val="56657E"/>
                </a:solidFill>
                <a:latin typeface="Calibri" pitchFamily="34" charset="0"/>
                <a:ea typeface="Calibri" pitchFamily="34" charset="-122"/>
                <a:cs typeface="Calibri" pitchFamily="34" charset="-120"/>
              </a:rPr>
              <a:t>Feed one command's output into the next.</a:t>
            </a:r>
            <a:endParaRPr lang="en-US" sz="1450" dirty="0"/>
          </a:p>
        </p:txBody>
      </p:sp>
      <p:sp>
        <p:nvSpPr>
          <p:cNvPr id="24" name="Text 21"/>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29 / 79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Finding files with find</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find /etc -name "p*"</a:t>
            </a:r>
            <a:endParaRPr lang="en-US" sz="1300" dirty="0"/>
          </a:p>
        </p:txBody>
      </p:sp>
      <p:sp>
        <p:nvSpPr>
          <p:cNvPr id="8" name="Shape 5"/>
          <p:cNvSpPr/>
          <p:nvPr/>
        </p:nvSpPr>
        <p:spPr>
          <a:xfrm>
            <a:off x="548640" y="1645920"/>
            <a:ext cx="1188720" cy="685800"/>
          </a:xfrm>
          <a:prstGeom prst="roundRect">
            <a:avLst>
              <a:gd name="adj" fmla="val 10667"/>
            </a:avLst>
          </a:prstGeom>
          <a:solidFill>
            <a:srgbClr val="12213A"/>
          </a:solidFill>
          <a:ln/>
        </p:spPr>
      </p:sp>
      <p:sp>
        <p:nvSpPr>
          <p:cNvPr id="9" name="Text 6"/>
          <p:cNvSpPr txBox="1"/>
          <p:nvPr/>
        </p:nvSpPr>
        <p:spPr>
          <a:xfrm>
            <a:off x="548640" y="1645920"/>
            <a:ext cx="1188720" cy="685800"/>
          </a:xfrm>
          <a:prstGeom prst="rect">
            <a:avLst/>
          </a:prstGeom>
          <a:no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find</a:t>
            </a:r>
            <a:endParaRPr lang="en-US" sz="1700" dirty="0"/>
          </a:p>
        </p:txBody>
      </p:sp>
      <p:sp>
        <p:nvSpPr>
          <p:cNvPr id="10" name="Text 7"/>
          <p:cNvSpPr txBox="1"/>
          <p:nvPr/>
        </p:nvSpPr>
        <p:spPr>
          <a:xfrm>
            <a:off x="548640" y="2423160"/>
            <a:ext cx="1188720" cy="82296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the command</a:t>
            </a:r>
            <a:endParaRPr lang="en-US" sz="1300" dirty="0"/>
          </a:p>
        </p:txBody>
      </p:sp>
      <p:sp>
        <p:nvSpPr>
          <p:cNvPr id="11" name="Shape 8"/>
          <p:cNvSpPr/>
          <p:nvPr/>
        </p:nvSpPr>
        <p:spPr>
          <a:xfrm>
            <a:off x="1847088" y="1645920"/>
            <a:ext cx="1645920" cy="685800"/>
          </a:xfrm>
          <a:prstGeom prst="roundRect">
            <a:avLst>
              <a:gd name="adj" fmla="val 10667"/>
            </a:avLst>
          </a:prstGeom>
          <a:solidFill>
            <a:srgbClr val="2459D8"/>
          </a:solidFill>
          <a:ln/>
        </p:spPr>
      </p:sp>
      <p:sp>
        <p:nvSpPr>
          <p:cNvPr id="12" name="Text 9"/>
          <p:cNvSpPr txBox="1"/>
          <p:nvPr/>
        </p:nvSpPr>
        <p:spPr>
          <a:xfrm>
            <a:off x="1847088" y="1645920"/>
            <a:ext cx="1645920" cy="685800"/>
          </a:xfrm>
          <a:prstGeom prst="rect">
            <a:avLst/>
          </a:prstGeom>
          <a:no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/etc</a:t>
            </a:r>
            <a:endParaRPr lang="en-US" sz="1700" dirty="0"/>
          </a:p>
        </p:txBody>
      </p:sp>
      <p:sp>
        <p:nvSpPr>
          <p:cNvPr id="13" name="Text 10"/>
          <p:cNvSpPr txBox="1"/>
          <p:nvPr/>
        </p:nvSpPr>
        <p:spPr>
          <a:xfrm>
            <a:off x="1847088" y="2423160"/>
            <a:ext cx="1645920" cy="82296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where to start looking</a:t>
            </a:r>
            <a:endParaRPr lang="en-US" sz="1300" dirty="0"/>
          </a:p>
        </p:txBody>
      </p:sp>
      <p:sp>
        <p:nvSpPr>
          <p:cNvPr id="14" name="Shape 11"/>
          <p:cNvSpPr/>
          <p:nvPr/>
        </p:nvSpPr>
        <p:spPr>
          <a:xfrm>
            <a:off x="3602736" y="1645920"/>
            <a:ext cx="2834640" cy="685800"/>
          </a:xfrm>
          <a:prstGeom prst="roundRect">
            <a:avLst>
              <a:gd name="adj" fmla="val 10667"/>
            </a:avLst>
          </a:prstGeom>
          <a:solidFill>
            <a:srgbClr val="7448D4"/>
          </a:solidFill>
          <a:ln/>
        </p:spPr>
      </p:sp>
      <p:sp>
        <p:nvSpPr>
          <p:cNvPr id="15" name="Text 12"/>
          <p:cNvSpPr txBox="1"/>
          <p:nvPr/>
        </p:nvSpPr>
        <p:spPr>
          <a:xfrm>
            <a:off x="3602736" y="1645920"/>
            <a:ext cx="2834640" cy="685800"/>
          </a:xfrm>
          <a:prstGeom prst="rect">
            <a:avLst/>
          </a:prstGeom>
          <a:no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-name "p*"</a:t>
            </a:r>
            <a:endParaRPr lang="en-US" sz="1700" dirty="0"/>
          </a:p>
        </p:txBody>
      </p:sp>
      <p:sp>
        <p:nvSpPr>
          <p:cNvPr id="16" name="Text 13"/>
          <p:cNvSpPr txBox="1"/>
          <p:nvPr/>
        </p:nvSpPr>
        <p:spPr>
          <a:xfrm>
            <a:off x="3602736" y="2423160"/>
            <a:ext cx="2834640" cy="82296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what to match: any name starting with p</a:t>
            </a:r>
            <a:endParaRPr lang="en-US" sz="1300" dirty="0"/>
          </a:p>
        </p:txBody>
      </p:sp>
      <p:sp>
        <p:nvSpPr>
          <p:cNvPr id="17" name="Shape 14"/>
          <p:cNvSpPr/>
          <p:nvPr/>
        </p:nvSpPr>
        <p:spPr>
          <a:xfrm>
            <a:off x="548640" y="3611880"/>
            <a:ext cx="2834640" cy="457200"/>
          </a:xfrm>
          <a:prstGeom prst="roundRect">
            <a:avLst>
              <a:gd name="adj" fmla="val 16000"/>
            </a:avLst>
          </a:prstGeom>
          <a:solidFill>
            <a:srgbClr val="0E1726"/>
          </a:solidFill>
          <a:ln/>
        </p:spPr>
      </p:sp>
      <p:sp>
        <p:nvSpPr>
          <p:cNvPr id="18" name="Text 15"/>
          <p:cNvSpPr txBox="1"/>
          <p:nvPr/>
        </p:nvSpPr>
        <p:spPr>
          <a:xfrm>
            <a:off x="548640" y="3611880"/>
            <a:ext cx="28346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-name passwd</a:t>
            </a:r>
            <a:endParaRPr lang="en-US" sz="1500" dirty="0"/>
          </a:p>
        </p:txBody>
      </p:sp>
      <p:sp>
        <p:nvSpPr>
          <p:cNvPr id="19" name="Text 16"/>
          <p:cNvSpPr txBox="1"/>
          <p:nvPr/>
        </p:nvSpPr>
        <p:spPr>
          <a:xfrm>
            <a:off x="3611880" y="3611880"/>
            <a:ext cx="278892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match one exact name</a:t>
            </a:r>
            <a:endParaRPr lang="en-US" sz="1700" dirty="0"/>
          </a:p>
        </p:txBody>
      </p:sp>
      <p:sp>
        <p:nvSpPr>
          <p:cNvPr id="20" name="Shape 17"/>
          <p:cNvSpPr/>
          <p:nvPr/>
        </p:nvSpPr>
        <p:spPr>
          <a:xfrm>
            <a:off x="548640" y="4251960"/>
            <a:ext cx="2834640" cy="457200"/>
          </a:xfrm>
          <a:prstGeom prst="roundRect">
            <a:avLst>
              <a:gd name="adj" fmla="val 16000"/>
            </a:avLst>
          </a:prstGeom>
          <a:solidFill>
            <a:srgbClr val="0E1726"/>
          </a:solidFill>
          <a:ln/>
        </p:spPr>
      </p:sp>
      <p:sp>
        <p:nvSpPr>
          <p:cNvPr id="21" name="Text 18"/>
          <p:cNvSpPr txBox="1"/>
          <p:nvPr/>
        </p:nvSpPr>
        <p:spPr>
          <a:xfrm>
            <a:off x="548640" y="4251960"/>
            <a:ext cx="28346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-name "*.txt"</a:t>
            </a:r>
            <a:endParaRPr lang="en-US" sz="1500" dirty="0"/>
          </a:p>
        </p:txBody>
      </p:sp>
      <p:sp>
        <p:nvSpPr>
          <p:cNvPr id="22" name="Text 19"/>
          <p:cNvSpPr txBox="1"/>
          <p:nvPr/>
        </p:nvSpPr>
        <p:spPr>
          <a:xfrm>
            <a:off x="3611880" y="4251960"/>
            <a:ext cx="278892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match a pattern</a:t>
            </a:r>
            <a:endParaRPr lang="en-US" sz="1700" dirty="0"/>
          </a:p>
        </p:txBody>
      </p:sp>
      <p:sp>
        <p:nvSpPr>
          <p:cNvPr id="23" name="Shape 20"/>
          <p:cNvSpPr/>
          <p:nvPr/>
        </p:nvSpPr>
        <p:spPr>
          <a:xfrm>
            <a:off x="548640" y="4892040"/>
            <a:ext cx="2834640" cy="457200"/>
          </a:xfrm>
          <a:prstGeom prst="roundRect">
            <a:avLst>
              <a:gd name="adj" fmla="val 16000"/>
            </a:avLst>
          </a:prstGeom>
          <a:solidFill>
            <a:srgbClr val="0E1726"/>
          </a:solidFill>
          <a:ln/>
        </p:spPr>
      </p:sp>
      <p:sp>
        <p:nvSpPr>
          <p:cNvPr id="24" name="Text 21"/>
          <p:cNvSpPr txBox="1"/>
          <p:nvPr/>
        </p:nvSpPr>
        <p:spPr>
          <a:xfrm>
            <a:off x="548640" y="4892040"/>
            <a:ext cx="28346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-type d</a:t>
            </a:r>
            <a:endParaRPr lang="en-US" sz="1500" dirty="0"/>
          </a:p>
        </p:txBody>
      </p:sp>
      <p:sp>
        <p:nvSpPr>
          <p:cNvPr id="25" name="Text 22"/>
          <p:cNvSpPr txBox="1"/>
          <p:nvPr/>
        </p:nvSpPr>
        <p:spPr>
          <a:xfrm>
            <a:off x="3611880" y="4892040"/>
            <a:ext cx="278892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only folders (f for files)</a:t>
            </a:r>
            <a:endParaRPr lang="en-US" sz="1700" dirty="0"/>
          </a:p>
        </p:txBody>
      </p:sp>
      <p:sp>
        <p:nvSpPr>
          <p:cNvPr id="26" name="Shape 23"/>
          <p:cNvSpPr/>
          <p:nvPr/>
        </p:nvSpPr>
        <p:spPr>
          <a:xfrm>
            <a:off x="6675120" y="1463040"/>
            <a:ext cx="4937760" cy="4434840"/>
          </a:xfrm>
          <a:prstGeom prst="roundRect">
            <a:avLst>
              <a:gd name="adj" fmla="val 2062"/>
            </a:avLst>
          </a:prstGeom>
          <a:solidFill>
            <a:srgbClr val="0E1726"/>
          </a:solidFill>
          <a:ln/>
          <a:effectLst>
            <a:outerShdw sx="100000" sy="100000" kx="0" ky="0" algn="bl" rotWithShape="0" blurRad="127000" dist="38100" dir="5400000">
              <a:srgbClr val="12213A">
                <a:alpha val="22000"/>
              </a:srgbClr>
            </a:outerShdw>
          </a:effectLst>
        </p:spPr>
      </p:sp>
      <p:sp>
        <p:nvSpPr>
          <p:cNvPr id="27" name="Shape 24"/>
          <p:cNvSpPr/>
          <p:nvPr/>
        </p:nvSpPr>
        <p:spPr>
          <a:xfrm>
            <a:off x="6876288" y="1618488"/>
            <a:ext cx="118872" cy="118872"/>
          </a:xfrm>
          <a:prstGeom prst="ellipse">
            <a:avLst/>
          </a:prstGeom>
          <a:solidFill>
            <a:srgbClr val="E5534B"/>
          </a:solidFill>
          <a:ln/>
        </p:spPr>
      </p:sp>
      <p:sp>
        <p:nvSpPr>
          <p:cNvPr id="28" name="Shape 25"/>
          <p:cNvSpPr/>
          <p:nvPr/>
        </p:nvSpPr>
        <p:spPr>
          <a:xfrm>
            <a:off x="7077456" y="1618488"/>
            <a:ext cx="118872" cy="118872"/>
          </a:xfrm>
          <a:prstGeom prst="ellipse">
            <a:avLst/>
          </a:prstGeom>
          <a:solidFill>
            <a:srgbClr val="F5A623"/>
          </a:solidFill>
          <a:ln/>
        </p:spPr>
      </p:sp>
      <p:sp>
        <p:nvSpPr>
          <p:cNvPr id="29" name="Shape 26"/>
          <p:cNvSpPr/>
          <p:nvPr/>
        </p:nvSpPr>
        <p:spPr>
          <a:xfrm>
            <a:off x="7278624" y="1618488"/>
            <a:ext cx="118872" cy="118872"/>
          </a:xfrm>
          <a:prstGeom prst="ellipse">
            <a:avLst/>
          </a:prstGeom>
          <a:solidFill>
            <a:srgbClr val="46D39A"/>
          </a:solidFill>
          <a:ln/>
        </p:spPr>
      </p:sp>
      <p:sp>
        <p:nvSpPr>
          <p:cNvPr id="30" name="Text 27"/>
          <p:cNvSpPr txBox="1"/>
          <p:nvPr/>
        </p:nvSpPr>
        <p:spPr>
          <a:xfrm>
            <a:off x="6949440" y="1920240"/>
            <a:ext cx="4389120" cy="3840480"/>
          </a:xfrm>
          <a:prstGeom prst="rect">
            <a:avLst/>
          </a:prstGeom>
          <a:noFill/>
          <a:ln/>
        </p:spPr>
        <p:txBody>
          <a:bodyPr wrap="square" lIns="0" tIns="0" rIns="0" bIns="0" rtlCol="0" anchor="t"/>
          <a:lstStyle/>
          <a:p>
            <a:pPr indent="0" marL="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600" b="1" dirty="0">
                <a:solidFill>
                  <a:srgbClr val="FFFFFF"/>
                </a:solidFill>
                <a:latin typeface="Courier New" pitchFamily="34" charset="0"/>
                <a:ea typeface="Courier New" pitchFamily="34" charset="-122"/>
                <a:cs typeface="Courier New" pitchFamily="34" charset="-120"/>
              </a:rPr>
              <a:t>find /etc -name "p*"</a:t>
            </a:r>
            <a:endParaRPr lang="en-US" sz="1600" dirty="0"/>
          </a:p>
          <a:p>
            <a:pPr indent="0" marL="0">
              <a:spcAft>
                <a:spcPts val="200"/>
              </a:spcAft>
              <a:buNone/>
            </a:pPr>
            <a:r>
              <a:rPr lang="en-US" sz="1600" dirty="0">
                <a:solidFill>
                  <a:srgbClr val="B8C4D9"/>
                </a:solidFill>
                <a:latin typeface="Courier New" pitchFamily="34" charset="0"/>
                <a:ea typeface="Courier New" pitchFamily="34" charset="-122"/>
                <a:cs typeface="Courier New" pitchFamily="34" charset="-120"/>
              </a:rPr>
              <a:t>/etc/passwd</a:t>
            </a:r>
            <a:endParaRPr lang="en-US" sz="1600" dirty="0"/>
          </a:p>
          <a:p>
            <a:pPr indent="0" marL="0">
              <a:spcAft>
                <a:spcPts val="200"/>
              </a:spcAft>
              <a:buNone/>
            </a:pPr>
            <a:r>
              <a:rPr lang="en-US" sz="1600" dirty="0">
                <a:solidFill>
                  <a:srgbClr val="B8C4D9"/>
                </a:solidFill>
                <a:latin typeface="Courier New" pitchFamily="34" charset="0"/>
                <a:ea typeface="Courier New" pitchFamily="34" charset="-122"/>
                <a:cs typeface="Courier New" pitchFamily="34" charset="-120"/>
              </a:rPr>
              <a:t>/etc/profile</a:t>
            </a:r>
            <a:endParaRPr lang="en-US" sz="1600" dirty="0"/>
          </a:p>
          <a:p>
            <a:pPr indent="0" marL="0">
              <a:spcAft>
                <a:spcPts val="200"/>
              </a:spcAft>
              <a:buNone/>
            </a:pPr>
            <a:r>
              <a:rPr lang="en-US" sz="1600" dirty="0">
                <a:solidFill>
                  <a:srgbClr val="B8C4D9"/>
                </a:solidFill>
                <a:latin typeface="Courier New" pitchFamily="34" charset="0"/>
                <a:ea typeface="Courier New" pitchFamily="34" charset="-122"/>
                <a:cs typeface="Courier New" pitchFamily="34" charset="-120"/>
              </a:rPr>
              <a:t> </a:t>
            </a:r>
            <a:endParaRPr lang="en-US" sz="1600" dirty="0"/>
          </a:p>
          <a:p>
            <a:pPr indent="0" marL="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600" b="1" dirty="0">
                <a:solidFill>
                  <a:srgbClr val="FFFFFF"/>
                </a:solidFill>
                <a:latin typeface="Courier New" pitchFamily="34" charset="0"/>
                <a:ea typeface="Courier New" pitchFamily="34" charset="-122"/>
                <a:cs typeface="Courier New" pitchFamily="34" charset="-120"/>
              </a:rPr>
              <a:t>find /etc -type d</a:t>
            </a:r>
            <a:endParaRPr lang="en-US" sz="1600" dirty="0"/>
          </a:p>
          <a:p>
            <a:pPr indent="0" marL="0">
              <a:spcAft>
                <a:spcPts val="200"/>
              </a:spcAft>
              <a:buNone/>
            </a:pPr>
            <a:r>
              <a:rPr lang="en-US" sz="1600" dirty="0">
                <a:solidFill>
                  <a:srgbClr val="B8C4D9"/>
                </a:solidFill>
                <a:latin typeface="Courier New" pitchFamily="34" charset="0"/>
                <a:ea typeface="Courier New" pitchFamily="34" charset="-122"/>
                <a:cs typeface="Courier New" pitchFamily="34" charset="-120"/>
              </a:rPr>
              <a:t>/etc</a:t>
            </a:r>
            <a:endParaRPr lang="en-US" sz="1600" dirty="0"/>
          </a:p>
          <a:p>
            <a:pPr indent="0" marL="0">
              <a:spcAft>
                <a:spcPts val="200"/>
              </a:spcAft>
              <a:buNone/>
            </a:pPr>
            <a:r>
              <a:rPr lang="en-US" sz="1600" dirty="0">
                <a:solidFill>
                  <a:srgbClr val="B8C4D9"/>
                </a:solidFill>
                <a:latin typeface="Courier New" pitchFamily="34" charset="0"/>
                <a:ea typeface="Courier New" pitchFamily="34" charset="-122"/>
                <a:cs typeface="Courier New" pitchFamily="34" charset="-120"/>
              </a:rPr>
              <a:t>/etc/quest</a:t>
            </a:r>
            <a:endParaRPr lang="en-US" sz="1600" dirty="0"/>
          </a:p>
        </p:txBody>
      </p:sp>
      <p:sp>
        <p:nvSpPr>
          <p:cNvPr id="31" name="Text 28"/>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30 / 79</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Searching inside files: grep</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grep player /etc/passwd</a:t>
            </a:r>
            <a:endParaRPr lang="en-US" sz="1300" dirty="0"/>
          </a:p>
        </p:txBody>
      </p:sp>
      <p:sp>
        <p:nvSpPr>
          <p:cNvPr id="8" name="Shape 5"/>
          <p:cNvSpPr/>
          <p:nvPr/>
        </p:nvSpPr>
        <p:spPr>
          <a:xfrm>
            <a:off x="548640" y="1463040"/>
            <a:ext cx="11094415" cy="2514600"/>
          </a:xfrm>
          <a:prstGeom prst="roundRect">
            <a:avLst>
              <a:gd name="adj" fmla="val 3636"/>
            </a:avLst>
          </a:prstGeom>
          <a:solidFill>
            <a:srgbClr val="0E1726"/>
          </a:solidFill>
          <a:ln/>
          <a:effectLst>
            <a:outerShdw sx="100000" sy="100000" kx="0" ky="0" algn="bl" rotWithShape="0" blurRad="127000" dist="38100" dir="5400000">
              <a:srgbClr val="12213A">
                <a:alpha val="22000"/>
              </a:srgbClr>
            </a:outerShdw>
          </a:effectLst>
        </p:spPr>
      </p:sp>
      <p:sp>
        <p:nvSpPr>
          <p:cNvPr id="9" name="Shape 6"/>
          <p:cNvSpPr/>
          <p:nvPr/>
        </p:nvSpPr>
        <p:spPr>
          <a:xfrm>
            <a:off x="749808" y="1618488"/>
            <a:ext cx="118872" cy="118872"/>
          </a:xfrm>
          <a:prstGeom prst="ellipse">
            <a:avLst/>
          </a:prstGeom>
          <a:solidFill>
            <a:srgbClr val="E5534B"/>
          </a:solidFill>
          <a:ln/>
        </p:spPr>
      </p:sp>
      <p:sp>
        <p:nvSpPr>
          <p:cNvPr id="10" name="Shape 7"/>
          <p:cNvSpPr/>
          <p:nvPr/>
        </p:nvSpPr>
        <p:spPr>
          <a:xfrm>
            <a:off x="950976" y="1618488"/>
            <a:ext cx="118872" cy="118872"/>
          </a:xfrm>
          <a:prstGeom prst="ellipse">
            <a:avLst/>
          </a:prstGeom>
          <a:solidFill>
            <a:srgbClr val="F5A623"/>
          </a:solidFill>
          <a:ln/>
        </p:spPr>
      </p:sp>
      <p:sp>
        <p:nvSpPr>
          <p:cNvPr id="11" name="Shape 8"/>
          <p:cNvSpPr/>
          <p:nvPr/>
        </p:nvSpPr>
        <p:spPr>
          <a:xfrm>
            <a:off x="1152144" y="1618488"/>
            <a:ext cx="118872" cy="118872"/>
          </a:xfrm>
          <a:prstGeom prst="ellipse">
            <a:avLst/>
          </a:prstGeom>
          <a:solidFill>
            <a:srgbClr val="46D39A"/>
          </a:solidFill>
          <a:ln/>
        </p:spPr>
      </p:sp>
      <p:sp>
        <p:nvSpPr>
          <p:cNvPr id="12" name="Text 9"/>
          <p:cNvSpPr txBox="1"/>
          <p:nvPr/>
        </p:nvSpPr>
        <p:spPr>
          <a:xfrm>
            <a:off x="822960" y="1920240"/>
            <a:ext cx="10545775" cy="1920240"/>
          </a:xfrm>
          <a:prstGeom prst="rect">
            <a:avLst/>
          </a:prstGeom>
          <a:noFill/>
          <a:ln/>
        </p:spPr>
        <p:txBody>
          <a:bodyPr wrap="square" lIns="0" tIns="0" rIns="0" bIns="0" rtlCol="0" anchor="t"/>
          <a:lstStyle/>
          <a:p>
            <a:pPr indent="0" marL="0">
              <a:spcAft>
                <a:spcPts val="200"/>
              </a:spcAft>
              <a:buNone/>
            </a:pPr>
            <a:r>
              <a:rPr lang="en-US" sz="17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700" b="1" dirty="0">
                <a:solidFill>
                  <a:srgbClr val="FFFFFF"/>
                </a:solidFill>
                <a:latin typeface="Courier New" pitchFamily="34" charset="0"/>
                <a:ea typeface="Courier New" pitchFamily="34" charset="-122"/>
                <a:cs typeface="Courier New" pitchFamily="34" charset="-120"/>
              </a:rPr>
              <a:t>grep player /etc/passwd</a:t>
            </a:r>
            <a:pPr indent="0" marL="0">
              <a:spcAft>
                <a:spcPts val="200"/>
              </a:spcAft>
              <a:buNone/>
            </a:pPr>
            <a:r>
              <a:rPr lang="en-US" sz="1700" dirty="0">
                <a:solidFill>
                  <a:srgbClr val="7F8FAD"/>
                </a:solidFill>
                <a:latin typeface="Courier New" pitchFamily="34" charset="0"/>
                <a:ea typeface="Courier New" pitchFamily="34" charset="-122"/>
                <a:cs typeface="Courier New" pitchFamily="34" charset="-120"/>
              </a:rPr>
              <a:t>   # search one file</a:t>
            </a:r>
            <a:endParaRPr lang="en-US" sz="1700" dirty="0"/>
          </a:p>
          <a:p>
            <a:pPr indent="0" marL="0">
              <a:spcAft>
                <a:spcPts val="200"/>
              </a:spcAft>
              <a:buNone/>
            </a:pPr>
            <a:r>
              <a:rPr lang="en-US" sz="1700" b="1" dirty="0">
                <a:solidFill>
                  <a:srgbClr val="F5A623"/>
                </a:solidFill>
                <a:latin typeface="Courier New" pitchFamily="34" charset="0"/>
                <a:ea typeface="Courier New" pitchFamily="34" charset="-122"/>
                <a:cs typeface="Courier New" pitchFamily="34" charset="-120"/>
              </a:rPr>
              <a:t>player:x:1000:1000:player:/home/player:/bin/sh</a:t>
            </a:r>
            <a:endParaRPr lang="en-US" sz="1700" dirty="0"/>
          </a:p>
          <a:p>
            <a:pPr indent="0" marL="0">
              <a:spcAft>
                <a:spcPts val="200"/>
              </a:spcAft>
              <a:buNone/>
            </a:pPr>
            <a:r>
              <a:rPr lang="en-US" sz="17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700" b="1" dirty="0">
                <a:solidFill>
                  <a:srgbClr val="FFFFFF"/>
                </a:solidFill>
                <a:latin typeface="Courier New" pitchFamily="34" charset="0"/>
                <a:ea typeface="Courier New" pitchFamily="34" charset="-122"/>
                <a:cs typeface="Courier New" pitchFamily="34" charset="-120"/>
              </a:rPr>
              <a:t>grep -r PS1 /etc</a:t>
            </a:r>
            <a:pPr indent="0" marL="0">
              <a:spcAft>
                <a:spcPts val="200"/>
              </a:spcAft>
              <a:buNone/>
            </a:pPr>
            <a:r>
              <a:rPr lang="en-US" sz="1700" dirty="0">
                <a:solidFill>
                  <a:srgbClr val="7F8FAD"/>
                </a:solidFill>
                <a:latin typeface="Courier New" pitchFamily="34" charset="0"/>
                <a:ea typeface="Courier New" pitchFamily="34" charset="-122"/>
                <a:cs typeface="Courier New" pitchFamily="34" charset="-120"/>
              </a:rPr>
              <a:t>   # search every file below here</a:t>
            </a:r>
            <a:endParaRPr lang="en-US" sz="1700" dirty="0"/>
          </a:p>
          <a:p>
            <a:pPr indent="0" marL="0">
              <a:spcAft>
                <a:spcPts val="200"/>
              </a:spcAft>
              <a:buNone/>
            </a:pPr>
            <a:r>
              <a:rPr lang="en-US" sz="1700" b="1" dirty="0">
                <a:solidFill>
                  <a:srgbClr val="F5A623"/>
                </a:solidFill>
                <a:latin typeface="Courier New" pitchFamily="34" charset="0"/>
                <a:ea typeface="Courier New" pitchFamily="34" charset="-122"/>
                <a:cs typeface="Courier New" pitchFamily="34" charset="-120"/>
              </a:rPr>
              <a:t>/etc/profile:export PS1='...'</a:t>
            </a:r>
            <a:endParaRPr lang="en-US" sz="1700" dirty="0"/>
          </a:p>
        </p:txBody>
      </p:sp>
      <p:sp>
        <p:nvSpPr>
          <p:cNvPr id="13" name="Shape 10"/>
          <p:cNvSpPr/>
          <p:nvPr/>
        </p:nvSpPr>
        <p:spPr>
          <a:xfrm>
            <a:off x="548640" y="4343400"/>
            <a:ext cx="3566160" cy="1554480"/>
          </a:xfrm>
          <a:prstGeom prst="roundRect">
            <a:avLst>
              <a:gd name="adj" fmla="val 5882"/>
            </a:avLst>
          </a:prstGeom>
          <a:solidFill>
            <a:srgbClr val="F1F5FB"/>
          </a:solidFill>
          <a:ln/>
        </p:spPr>
      </p:sp>
      <p:sp>
        <p:nvSpPr>
          <p:cNvPr id="14" name="Text 11"/>
          <p:cNvSpPr txBox="1"/>
          <p:nvPr/>
        </p:nvSpPr>
        <p:spPr>
          <a:xfrm>
            <a:off x="777240" y="4526280"/>
            <a:ext cx="3200400" cy="365760"/>
          </a:xfrm>
          <a:prstGeom prst="rect">
            <a:avLst/>
          </a:prstGeom>
          <a:noFill/>
          <a:ln/>
        </p:spPr>
        <p:txBody>
          <a:bodyPr wrap="square" lIns="0" tIns="0" rIns="0" bIns="0" rtlCol="0" anchor="t"/>
          <a:lstStyle/>
          <a:p>
            <a:pPr indent="0" marL="0">
              <a:buNone/>
            </a:pPr>
            <a:r>
              <a:rPr lang="en-US" sz="1600" b="1" dirty="0">
                <a:solidFill>
                  <a:srgbClr val="12213A"/>
                </a:solidFill>
                <a:latin typeface="Courier New" pitchFamily="34" charset="0"/>
                <a:ea typeface="Courier New" pitchFamily="34" charset="-122"/>
                <a:cs typeface="Courier New" pitchFamily="34" charset="-120"/>
              </a:rPr>
              <a:t>grep word file</a:t>
            </a:r>
            <a:endParaRPr lang="en-US" sz="1600" dirty="0"/>
          </a:p>
        </p:txBody>
      </p:sp>
      <p:sp>
        <p:nvSpPr>
          <p:cNvPr id="15" name="Text 12"/>
          <p:cNvSpPr txBox="1"/>
          <p:nvPr/>
        </p:nvSpPr>
        <p:spPr>
          <a:xfrm>
            <a:off x="777240" y="4983480"/>
            <a:ext cx="3108960" cy="82296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print the lines that contain the word</a:t>
            </a:r>
            <a:endParaRPr lang="en-US" sz="1600" dirty="0"/>
          </a:p>
        </p:txBody>
      </p:sp>
      <p:sp>
        <p:nvSpPr>
          <p:cNvPr id="16" name="Shape 13"/>
          <p:cNvSpPr/>
          <p:nvPr/>
        </p:nvSpPr>
        <p:spPr>
          <a:xfrm>
            <a:off x="4306824" y="4343400"/>
            <a:ext cx="3566160" cy="1554480"/>
          </a:xfrm>
          <a:prstGeom prst="roundRect">
            <a:avLst>
              <a:gd name="adj" fmla="val 5882"/>
            </a:avLst>
          </a:prstGeom>
          <a:solidFill>
            <a:srgbClr val="F1F5FB"/>
          </a:solidFill>
          <a:ln/>
        </p:spPr>
      </p:sp>
      <p:sp>
        <p:nvSpPr>
          <p:cNvPr id="17" name="Text 14"/>
          <p:cNvSpPr txBox="1"/>
          <p:nvPr/>
        </p:nvSpPr>
        <p:spPr>
          <a:xfrm>
            <a:off x="4535424" y="4526280"/>
            <a:ext cx="3200400" cy="365760"/>
          </a:xfrm>
          <a:prstGeom prst="rect">
            <a:avLst/>
          </a:prstGeom>
          <a:noFill/>
          <a:ln/>
        </p:spPr>
        <p:txBody>
          <a:bodyPr wrap="square" lIns="0" tIns="0" rIns="0" bIns="0" rtlCol="0" anchor="t"/>
          <a:lstStyle/>
          <a:p>
            <a:pPr indent="0" marL="0">
              <a:buNone/>
            </a:pPr>
            <a:r>
              <a:rPr lang="en-US" sz="1600" b="1" dirty="0">
                <a:solidFill>
                  <a:srgbClr val="12213A"/>
                </a:solidFill>
                <a:latin typeface="Courier New" pitchFamily="34" charset="0"/>
                <a:ea typeface="Courier New" pitchFamily="34" charset="-122"/>
                <a:cs typeface="Courier New" pitchFamily="34" charset="-120"/>
              </a:rPr>
              <a:t>grep -r word /etc</a:t>
            </a:r>
            <a:endParaRPr lang="en-US" sz="1600" dirty="0"/>
          </a:p>
        </p:txBody>
      </p:sp>
      <p:sp>
        <p:nvSpPr>
          <p:cNvPr id="18" name="Text 15"/>
          <p:cNvSpPr txBox="1"/>
          <p:nvPr/>
        </p:nvSpPr>
        <p:spPr>
          <a:xfrm>
            <a:off x="4535424" y="4983480"/>
            <a:ext cx="3108960" cy="82296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search every file in every folder below</a:t>
            </a:r>
            <a:endParaRPr lang="en-US" sz="1600" dirty="0"/>
          </a:p>
        </p:txBody>
      </p:sp>
      <p:sp>
        <p:nvSpPr>
          <p:cNvPr id="19" name="Shape 16"/>
          <p:cNvSpPr/>
          <p:nvPr/>
        </p:nvSpPr>
        <p:spPr>
          <a:xfrm>
            <a:off x="8065008" y="4343400"/>
            <a:ext cx="3566160" cy="1554480"/>
          </a:xfrm>
          <a:prstGeom prst="roundRect">
            <a:avLst>
              <a:gd name="adj" fmla="val 5882"/>
            </a:avLst>
          </a:prstGeom>
          <a:solidFill>
            <a:srgbClr val="F1F5FB"/>
          </a:solidFill>
          <a:ln/>
        </p:spPr>
      </p:sp>
      <p:sp>
        <p:nvSpPr>
          <p:cNvPr id="20" name="Text 17"/>
          <p:cNvSpPr txBox="1"/>
          <p:nvPr/>
        </p:nvSpPr>
        <p:spPr>
          <a:xfrm>
            <a:off x="8293608" y="4526280"/>
            <a:ext cx="3200400" cy="365760"/>
          </a:xfrm>
          <a:prstGeom prst="rect">
            <a:avLst/>
          </a:prstGeom>
          <a:noFill/>
          <a:ln/>
        </p:spPr>
        <p:txBody>
          <a:bodyPr wrap="square" lIns="0" tIns="0" rIns="0" bIns="0" rtlCol="0" anchor="t"/>
          <a:lstStyle/>
          <a:p>
            <a:pPr indent="0" marL="0">
              <a:buNone/>
            </a:pPr>
            <a:r>
              <a:rPr lang="en-US" sz="1600" b="1" dirty="0">
                <a:solidFill>
                  <a:srgbClr val="12213A"/>
                </a:solidFill>
                <a:latin typeface="Courier New" pitchFamily="34" charset="0"/>
                <a:ea typeface="Courier New" pitchFamily="34" charset="-122"/>
                <a:cs typeface="Courier New" pitchFamily="34" charset="-120"/>
              </a:rPr>
              <a:t>grep -c word file</a:t>
            </a:r>
            <a:endParaRPr lang="en-US" sz="1600" dirty="0"/>
          </a:p>
        </p:txBody>
      </p:sp>
      <p:sp>
        <p:nvSpPr>
          <p:cNvPr id="21" name="Text 18"/>
          <p:cNvSpPr txBox="1"/>
          <p:nvPr/>
        </p:nvSpPr>
        <p:spPr>
          <a:xfrm>
            <a:off x="8293608" y="4983480"/>
            <a:ext cx="3108960" cy="82296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just count the matching lines</a:t>
            </a:r>
            <a:endParaRPr lang="en-US" sz="1600" dirty="0"/>
          </a:p>
        </p:txBody>
      </p:sp>
      <p:sp>
        <p:nvSpPr>
          <p:cNvPr id="22" name="Text 19"/>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31 / 79</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Pipes: chain small tools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ls /bin | grep sh | wc -l</a:t>
            </a:r>
            <a:endParaRPr lang="en-US" sz="1300" dirty="0"/>
          </a:p>
        </p:txBody>
      </p:sp>
      <p:sp>
        <p:nvSpPr>
          <p:cNvPr id="8" name="Shape 5"/>
          <p:cNvSpPr/>
          <p:nvPr/>
        </p:nvSpPr>
        <p:spPr>
          <a:xfrm>
            <a:off x="548640" y="1463040"/>
            <a:ext cx="11094415" cy="777240"/>
          </a:xfrm>
          <a:prstGeom prst="roundRect">
            <a:avLst>
              <a:gd name="adj" fmla="val 11765"/>
            </a:avLst>
          </a:prstGeom>
          <a:solidFill>
            <a:srgbClr val="0E1726"/>
          </a:solidFill>
          <a:ln/>
        </p:spPr>
      </p:sp>
      <p:sp>
        <p:nvSpPr>
          <p:cNvPr id="9" name="Text 6"/>
          <p:cNvSpPr txBox="1"/>
          <p:nvPr/>
        </p:nvSpPr>
        <p:spPr>
          <a:xfrm>
            <a:off x="868680" y="1463040"/>
            <a:ext cx="10454335" cy="777240"/>
          </a:xfrm>
          <a:prstGeom prst="rect">
            <a:avLst/>
          </a:prstGeom>
          <a:noFill/>
          <a:ln/>
        </p:spPr>
        <p:txBody>
          <a:bodyPr wrap="square" lIns="0" tIns="0" rIns="0" bIns="0" rtlCol="0" anchor="ctr"/>
          <a:lstStyle/>
          <a:p>
            <a:pPr indent="0" marL="0">
              <a:buNone/>
            </a:pPr>
            <a:r>
              <a:rPr lang="en-US" sz="2400" b="1" dirty="0">
                <a:solidFill>
                  <a:srgbClr val="46D39A"/>
                </a:solidFill>
                <a:latin typeface="Courier New" pitchFamily="34" charset="0"/>
                <a:ea typeface="Courier New" pitchFamily="34" charset="-122"/>
                <a:cs typeface="Courier New" pitchFamily="34" charset="-120"/>
              </a:rPr>
              <a:t>$ </a:t>
            </a:r>
            <a:pPr indent="0" marL="0">
              <a:buNone/>
            </a:pPr>
            <a:r>
              <a:rPr lang="en-US" sz="2400" b="1" dirty="0">
                <a:solidFill>
                  <a:srgbClr val="FFFFFF"/>
                </a:solidFill>
                <a:latin typeface="Courier New" pitchFamily="34" charset="0"/>
                <a:ea typeface="Courier New" pitchFamily="34" charset="-122"/>
                <a:cs typeface="Courier New" pitchFamily="34" charset="-120"/>
              </a:rPr>
              <a:t>ls /bin </a:t>
            </a:r>
            <a:pPr indent="0" marL="0">
              <a:buNone/>
            </a:pPr>
            <a:r>
              <a:rPr lang="en-US" sz="2400" b="1" dirty="0">
                <a:solidFill>
                  <a:srgbClr val="F5A623"/>
                </a:solidFill>
                <a:latin typeface="Courier New" pitchFamily="34" charset="0"/>
                <a:ea typeface="Courier New" pitchFamily="34" charset="-122"/>
                <a:cs typeface="Courier New" pitchFamily="34" charset="-120"/>
              </a:rPr>
              <a:t>|</a:t>
            </a:r>
            <a:pPr indent="0" marL="0">
              <a:buNone/>
            </a:pPr>
            <a:r>
              <a:rPr lang="en-US" sz="2400" b="1" dirty="0">
                <a:solidFill>
                  <a:srgbClr val="FFFFFF"/>
                </a:solidFill>
                <a:latin typeface="Courier New" pitchFamily="34" charset="0"/>
                <a:ea typeface="Courier New" pitchFamily="34" charset="-122"/>
                <a:cs typeface="Courier New" pitchFamily="34" charset="-120"/>
              </a:rPr>
              <a:t> grep sh </a:t>
            </a:r>
            <a:pPr indent="0" marL="0">
              <a:buNone/>
            </a:pPr>
            <a:r>
              <a:rPr lang="en-US" sz="2400" b="1" dirty="0">
                <a:solidFill>
                  <a:srgbClr val="F5A623"/>
                </a:solidFill>
                <a:latin typeface="Courier New" pitchFamily="34" charset="0"/>
                <a:ea typeface="Courier New" pitchFamily="34" charset="-122"/>
                <a:cs typeface="Courier New" pitchFamily="34" charset="-120"/>
              </a:rPr>
              <a:t>|</a:t>
            </a:r>
            <a:pPr indent="0" marL="0">
              <a:buNone/>
            </a:pPr>
            <a:r>
              <a:rPr lang="en-US" sz="2400" b="1" dirty="0">
                <a:solidFill>
                  <a:srgbClr val="FFFFFF"/>
                </a:solidFill>
                <a:latin typeface="Courier New" pitchFamily="34" charset="0"/>
                <a:ea typeface="Courier New" pitchFamily="34" charset="-122"/>
                <a:cs typeface="Courier New" pitchFamily="34" charset="-120"/>
              </a:rPr>
              <a:t> wc -l</a:t>
            </a:r>
            <a:endParaRPr lang="en-US" sz="2400" dirty="0"/>
          </a:p>
        </p:txBody>
      </p:sp>
      <p:sp>
        <p:nvSpPr>
          <p:cNvPr id="10" name="Shape 7"/>
          <p:cNvSpPr/>
          <p:nvPr/>
        </p:nvSpPr>
        <p:spPr>
          <a:xfrm>
            <a:off x="548640" y="2606040"/>
            <a:ext cx="2834640" cy="3291840"/>
          </a:xfrm>
          <a:prstGeom prst="roundRect">
            <a:avLst>
              <a:gd name="adj" fmla="val 3226"/>
            </a:avLst>
          </a:prstGeom>
          <a:solidFill>
            <a:srgbClr val="F1F5FB"/>
          </a:solidFill>
          <a:ln/>
        </p:spPr>
      </p:sp>
      <p:sp>
        <p:nvSpPr>
          <p:cNvPr id="11" name="Shape 8"/>
          <p:cNvSpPr/>
          <p:nvPr/>
        </p:nvSpPr>
        <p:spPr>
          <a:xfrm>
            <a:off x="731520" y="2788920"/>
            <a:ext cx="2468880" cy="457200"/>
          </a:xfrm>
          <a:prstGeom prst="roundRect">
            <a:avLst>
              <a:gd name="adj" fmla="val 16000"/>
            </a:avLst>
          </a:prstGeom>
          <a:solidFill>
            <a:srgbClr val="56657E"/>
          </a:solidFill>
          <a:ln/>
        </p:spPr>
      </p:sp>
      <p:sp>
        <p:nvSpPr>
          <p:cNvPr id="12" name="Text 9"/>
          <p:cNvSpPr txBox="1"/>
          <p:nvPr/>
        </p:nvSpPr>
        <p:spPr>
          <a:xfrm>
            <a:off x="731520" y="2788920"/>
            <a:ext cx="24688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ls /bin</a:t>
            </a:r>
            <a:endParaRPr lang="en-US" sz="1500" dirty="0"/>
          </a:p>
        </p:txBody>
      </p:sp>
      <p:sp>
        <p:nvSpPr>
          <p:cNvPr id="13" name="Text 10"/>
          <p:cNvSpPr txBox="1"/>
          <p:nvPr/>
        </p:nvSpPr>
        <p:spPr>
          <a:xfrm>
            <a:off x="731520" y="3337560"/>
            <a:ext cx="2468880" cy="36576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list every command</a:t>
            </a:r>
            <a:endParaRPr lang="en-US" sz="1300" dirty="0"/>
          </a:p>
        </p:txBody>
      </p:sp>
      <p:sp>
        <p:nvSpPr>
          <p:cNvPr id="14" name="Text 11"/>
          <p:cNvSpPr txBox="1"/>
          <p:nvPr/>
        </p:nvSpPr>
        <p:spPr>
          <a:xfrm>
            <a:off x="731520" y="3794760"/>
            <a:ext cx="2468880" cy="2011680"/>
          </a:xfrm>
          <a:prstGeom prst="rect">
            <a:avLst/>
          </a:prstGeom>
          <a:noFill/>
          <a:ln/>
        </p:spPr>
        <p:txBody>
          <a:bodyPr wrap="square" lIns="0" tIns="0" rIns="0" bIns="0" rtlCol="0" anchor="t"/>
          <a:lstStyle/>
          <a:p>
            <a:pPr indent="0" marL="0">
              <a:buNone/>
            </a:pPr>
            <a:r>
              <a:rPr lang="en-US" sz="1500" dirty="0">
                <a:solidFill>
                  <a:srgbClr val="12213A"/>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12213A"/>
                </a:solidFill>
                <a:latin typeface="Courier New" pitchFamily="34" charset="0"/>
                <a:ea typeface="Courier New" pitchFamily="34" charset="-122"/>
                <a:cs typeface="Courier New" pitchFamily="34" charset="-120"/>
              </a:rPr>
              <a:t>acpid</a:t>
            </a:r>
            <a:endParaRPr lang="en-US" sz="1500" dirty="0"/>
          </a:p>
          <a:p>
            <a:pPr indent="0" marL="0">
              <a:buNone/>
            </a:pPr>
            <a:r>
              <a:rPr lang="en-US" sz="1500" dirty="0">
                <a:solidFill>
                  <a:srgbClr val="12213A"/>
                </a:solidFill>
                <a:latin typeface="Courier New" pitchFamily="34" charset="0"/>
                <a:ea typeface="Courier New" pitchFamily="34" charset="-122"/>
                <a:cs typeface="Courier New" pitchFamily="34" charset="-120"/>
              </a:rPr>
              <a:t>adjtimex</a:t>
            </a:r>
            <a:endParaRPr lang="en-US" sz="1500" dirty="0"/>
          </a:p>
          <a:p>
            <a:pPr indent="0" marL="0">
              <a:buNone/>
            </a:pPr>
            <a:r>
              <a:rPr lang="en-US" sz="1500" dirty="0">
                <a:solidFill>
                  <a:srgbClr val="12213A"/>
                </a:solidFill>
                <a:latin typeface="Courier New" pitchFamily="34" charset="0"/>
                <a:ea typeface="Courier New" pitchFamily="34" charset="-122"/>
                <a:cs typeface="Courier New" pitchFamily="34" charset="-120"/>
              </a:rPr>
              <a:t>ash</a:t>
            </a:r>
            <a:endParaRPr lang="en-US" sz="1500" dirty="0"/>
          </a:p>
          <a:p>
            <a:pPr indent="0" marL="0">
              <a:buNone/>
            </a:pPr>
            <a:r>
              <a:rPr lang="en-US" sz="1500" dirty="0">
                <a:solidFill>
                  <a:srgbClr val="12213A"/>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12213A"/>
                </a:solidFill>
                <a:latin typeface="Courier New" pitchFamily="34" charset="0"/>
                <a:ea typeface="Courier New" pitchFamily="34" charset="-122"/>
                <a:cs typeface="Courier New" pitchFamily="34" charset="-120"/>
              </a:rPr>
              <a:t>zcat</a:t>
            </a:r>
            <a:endParaRPr lang="en-US" sz="1500" dirty="0"/>
          </a:p>
        </p:txBody>
      </p:sp>
      <p:sp>
        <p:nvSpPr>
          <p:cNvPr id="15" name="Text 12"/>
          <p:cNvSpPr txBox="1"/>
          <p:nvPr/>
        </p:nvSpPr>
        <p:spPr>
          <a:xfrm>
            <a:off x="3383280" y="3840480"/>
            <a:ext cx="329184" cy="548640"/>
          </a:xfrm>
          <a:prstGeom prst="rect">
            <a:avLst/>
          </a:prstGeom>
          <a:noFill/>
          <a:ln/>
        </p:spPr>
        <p:txBody>
          <a:bodyPr wrap="square" lIns="0" tIns="0" rIns="0" bIns="0" rtlCol="0" anchor="ctr"/>
          <a:lstStyle/>
          <a:p>
            <a:pPr algn="ctr" indent="0" marL="0">
              <a:buNone/>
            </a:pPr>
            <a:r>
              <a:rPr lang="en-US" sz="2400" b="1" dirty="0">
                <a:solidFill>
                  <a:srgbClr val="F5A623"/>
                </a:solidFill>
                <a:latin typeface="Courier New" pitchFamily="34" charset="0"/>
                <a:ea typeface="Courier New" pitchFamily="34" charset="-122"/>
                <a:cs typeface="Courier New" pitchFamily="34" charset="-120"/>
              </a:rPr>
              <a:t>|</a:t>
            </a:r>
            <a:endParaRPr lang="en-US" sz="2400" dirty="0"/>
          </a:p>
        </p:txBody>
      </p:sp>
      <p:sp>
        <p:nvSpPr>
          <p:cNvPr id="16" name="Shape 13"/>
          <p:cNvSpPr/>
          <p:nvPr/>
        </p:nvSpPr>
        <p:spPr>
          <a:xfrm>
            <a:off x="3712464" y="2606040"/>
            <a:ext cx="2834640" cy="3291840"/>
          </a:xfrm>
          <a:prstGeom prst="roundRect">
            <a:avLst>
              <a:gd name="adj" fmla="val 3226"/>
            </a:avLst>
          </a:prstGeom>
          <a:solidFill>
            <a:srgbClr val="F1F5FB"/>
          </a:solidFill>
          <a:ln/>
        </p:spPr>
      </p:sp>
      <p:sp>
        <p:nvSpPr>
          <p:cNvPr id="17" name="Shape 14"/>
          <p:cNvSpPr/>
          <p:nvPr/>
        </p:nvSpPr>
        <p:spPr>
          <a:xfrm>
            <a:off x="3895344" y="2788920"/>
            <a:ext cx="2468880" cy="457200"/>
          </a:xfrm>
          <a:prstGeom prst="roundRect">
            <a:avLst>
              <a:gd name="adj" fmla="val 16000"/>
            </a:avLst>
          </a:prstGeom>
          <a:solidFill>
            <a:srgbClr val="2459D8"/>
          </a:solidFill>
          <a:ln/>
        </p:spPr>
      </p:sp>
      <p:sp>
        <p:nvSpPr>
          <p:cNvPr id="18" name="Text 15"/>
          <p:cNvSpPr txBox="1"/>
          <p:nvPr/>
        </p:nvSpPr>
        <p:spPr>
          <a:xfrm>
            <a:off x="3895344" y="2788920"/>
            <a:ext cx="24688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grep sh</a:t>
            </a:r>
            <a:endParaRPr lang="en-US" sz="1500" dirty="0"/>
          </a:p>
        </p:txBody>
      </p:sp>
      <p:sp>
        <p:nvSpPr>
          <p:cNvPr id="19" name="Text 16"/>
          <p:cNvSpPr txBox="1"/>
          <p:nvPr/>
        </p:nvSpPr>
        <p:spPr>
          <a:xfrm>
            <a:off x="3895344" y="3337560"/>
            <a:ext cx="2468880" cy="36576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keep names containing sh</a:t>
            </a:r>
            <a:endParaRPr lang="en-US" sz="1300" dirty="0"/>
          </a:p>
        </p:txBody>
      </p:sp>
      <p:sp>
        <p:nvSpPr>
          <p:cNvPr id="20" name="Text 17"/>
          <p:cNvSpPr txBox="1"/>
          <p:nvPr/>
        </p:nvSpPr>
        <p:spPr>
          <a:xfrm>
            <a:off x="3895344" y="3794760"/>
            <a:ext cx="2468880" cy="2011680"/>
          </a:xfrm>
          <a:prstGeom prst="rect">
            <a:avLst/>
          </a:prstGeom>
          <a:noFill/>
          <a:ln/>
        </p:spPr>
        <p:txBody>
          <a:bodyPr wrap="square" lIns="0" tIns="0" rIns="0" bIns="0" rtlCol="0" anchor="t"/>
          <a:lstStyle/>
          <a:p>
            <a:pPr indent="0" marL="0">
              <a:buNone/>
            </a:pPr>
            <a:r>
              <a:rPr lang="en-US" sz="1500" dirty="0">
                <a:solidFill>
                  <a:srgbClr val="12213A"/>
                </a:solidFill>
                <a:latin typeface="Courier New" pitchFamily="34" charset="0"/>
                <a:ea typeface="Courier New" pitchFamily="34" charset="-122"/>
                <a:cs typeface="Courier New" pitchFamily="34" charset="-120"/>
              </a:rPr>
              <a:t>ash</a:t>
            </a:r>
            <a:endParaRPr lang="en-US" sz="1500" dirty="0"/>
          </a:p>
          <a:p>
            <a:pPr indent="0" marL="0">
              <a:buNone/>
            </a:pPr>
            <a:r>
              <a:rPr lang="en-US" sz="1500" dirty="0">
                <a:solidFill>
                  <a:srgbClr val="12213A"/>
                </a:solidFill>
                <a:latin typeface="Courier New" pitchFamily="34" charset="0"/>
                <a:ea typeface="Courier New" pitchFamily="34" charset="-122"/>
                <a:cs typeface="Courier New" pitchFamily="34" charset="-120"/>
              </a:rPr>
              <a:t>sh</a:t>
            </a:r>
            <a:endParaRPr lang="en-US" sz="1500" dirty="0"/>
          </a:p>
          <a:p>
            <a:pPr indent="0" marL="0">
              <a:buNone/>
            </a:pPr>
            <a:r>
              <a:rPr lang="en-US" sz="1500" dirty="0">
                <a:solidFill>
                  <a:srgbClr val="12213A"/>
                </a:solidFill>
                <a:latin typeface="Courier New" pitchFamily="34" charset="0"/>
                <a:ea typeface="Courier New" pitchFamily="34" charset="-122"/>
                <a:cs typeface="Courier New" pitchFamily="34" charset="-120"/>
              </a:rPr>
              <a:t>sha1sum</a:t>
            </a:r>
            <a:endParaRPr lang="en-US" sz="1500" dirty="0"/>
          </a:p>
          <a:p>
            <a:pPr indent="0" marL="0">
              <a:buNone/>
            </a:pPr>
            <a:r>
              <a:rPr lang="en-US" sz="1500" dirty="0">
                <a:solidFill>
                  <a:srgbClr val="12213A"/>
                </a:solidFill>
                <a:latin typeface="Courier New" pitchFamily="34" charset="0"/>
                <a:ea typeface="Courier New" pitchFamily="34" charset="-122"/>
                <a:cs typeface="Courier New" pitchFamily="34" charset="-120"/>
              </a:rPr>
              <a:t>sha256sum</a:t>
            </a:r>
            <a:endParaRPr lang="en-US" sz="1500" dirty="0"/>
          </a:p>
          <a:p>
            <a:pPr indent="0" marL="0">
              <a:buNone/>
            </a:pPr>
            <a:r>
              <a:rPr lang="en-US" sz="1500" dirty="0">
                <a:solidFill>
                  <a:srgbClr val="12213A"/>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12213A"/>
                </a:solidFill>
                <a:latin typeface="Courier New" pitchFamily="34" charset="0"/>
                <a:ea typeface="Courier New" pitchFamily="34" charset="-122"/>
                <a:cs typeface="Courier New" pitchFamily="34" charset="-120"/>
              </a:rPr>
              <a:t>unshare</a:t>
            </a:r>
            <a:endParaRPr lang="en-US" sz="1500" dirty="0"/>
          </a:p>
        </p:txBody>
      </p:sp>
      <p:sp>
        <p:nvSpPr>
          <p:cNvPr id="21" name="Text 18"/>
          <p:cNvSpPr txBox="1"/>
          <p:nvPr/>
        </p:nvSpPr>
        <p:spPr>
          <a:xfrm>
            <a:off x="6547104" y="3840480"/>
            <a:ext cx="329184" cy="548640"/>
          </a:xfrm>
          <a:prstGeom prst="rect">
            <a:avLst/>
          </a:prstGeom>
          <a:noFill/>
          <a:ln/>
        </p:spPr>
        <p:txBody>
          <a:bodyPr wrap="square" lIns="0" tIns="0" rIns="0" bIns="0" rtlCol="0" anchor="ctr"/>
          <a:lstStyle/>
          <a:p>
            <a:pPr algn="ctr" indent="0" marL="0">
              <a:buNone/>
            </a:pPr>
            <a:r>
              <a:rPr lang="en-US" sz="2400" b="1" dirty="0">
                <a:solidFill>
                  <a:srgbClr val="F5A623"/>
                </a:solidFill>
                <a:latin typeface="Courier New" pitchFamily="34" charset="0"/>
                <a:ea typeface="Courier New" pitchFamily="34" charset="-122"/>
                <a:cs typeface="Courier New" pitchFamily="34" charset="-120"/>
              </a:rPr>
              <a:t>|</a:t>
            </a:r>
            <a:endParaRPr lang="en-US" sz="2400" dirty="0"/>
          </a:p>
        </p:txBody>
      </p:sp>
      <p:sp>
        <p:nvSpPr>
          <p:cNvPr id="22" name="Shape 19"/>
          <p:cNvSpPr/>
          <p:nvPr/>
        </p:nvSpPr>
        <p:spPr>
          <a:xfrm>
            <a:off x="6876288" y="2606040"/>
            <a:ext cx="2514600" cy="3291840"/>
          </a:xfrm>
          <a:prstGeom prst="roundRect">
            <a:avLst>
              <a:gd name="adj" fmla="val 3636"/>
            </a:avLst>
          </a:prstGeom>
          <a:solidFill>
            <a:srgbClr val="F1F5FB"/>
          </a:solidFill>
          <a:ln/>
        </p:spPr>
      </p:sp>
      <p:sp>
        <p:nvSpPr>
          <p:cNvPr id="23" name="Shape 20"/>
          <p:cNvSpPr/>
          <p:nvPr/>
        </p:nvSpPr>
        <p:spPr>
          <a:xfrm>
            <a:off x="7059168" y="2788920"/>
            <a:ext cx="2148840" cy="457200"/>
          </a:xfrm>
          <a:prstGeom prst="roundRect">
            <a:avLst>
              <a:gd name="adj" fmla="val 16000"/>
            </a:avLst>
          </a:prstGeom>
          <a:solidFill>
            <a:srgbClr val="7448D4"/>
          </a:solidFill>
          <a:ln/>
        </p:spPr>
      </p:sp>
      <p:sp>
        <p:nvSpPr>
          <p:cNvPr id="24" name="Text 21"/>
          <p:cNvSpPr txBox="1"/>
          <p:nvPr/>
        </p:nvSpPr>
        <p:spPr>
          <a:xfrm>
            <a:off x="7059168" y="2788920"/>
            <a:ext cx="21488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wc -l</a:t>
            </a:r>
            <a:endParaRPr lang="en-US" sz="1500" dirty="0"/>
          </a:p>
        </p:txBody>
      </p:sp>
      <p:sp>
        <p:nvSpPr>
          <p:cNvPr id="25" name="Text 22"/>
          <p:cNvSpPr txBox="1"/>
          <p:nvPr/>
        </p:nvSpPr>
        <p:spPr>
          <a:xfrm>
            <a:off x="7059168" y="3337560"/>
            <a:ext cx="2148840" cy="36576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count the lines</a:t>
            </a:r>
            <a:endParaRPr lang="en-US" sz="1300" dirty="0"/>
          </a:p>
        </p:txBody>
      </p:sp>
      <p:sp>
        <p:nvSpPr>
          <p:cNvPr id="26" name="Text 23"/>
          <p:cNvSpPr txBox="1"/>
          <p:nvPr/>
        </p:nvSpPr>
        <p:spPr>
          <a:xfrm>
            <a:off x="7059168" y="3794760"/>
            <a:ext cx="2148840" cy="2011680"/>
          </a:xfrm>
          <a:prstGeom prst="rect">
            <a:avLst/>
          </a:prstGeom>
          <a:noFill/>
          <a:ln/>
        </p:spPr>
        <p:txBody>
          <a:bodyPr wrap="square" lIns="0" tIns="0" rIns="0" bIns="0" rtlCol="0" anchor="t"/>
          <a:lstStyle/>
          <a:p>
            <a:pPr indent="0" marL="0">
              <a:buNone/>
            </a:pPr>
            <a:r>
              <a:rPr lang="en-US" sz="1500" b="1" dirty="0">
                <a:solidFill>
                  <a:srgbClr val="17875A"/>
                </a:solidFill>
                <a:latin typeface="Courier New" pitchFamily="34" charset="0"/>
                <a:ea typeface="Courier New" pitchFamily="34" charset="-122"/>
                <a:cs typeface="Courier New" pitchFamily="34" charset="-120"/>
              </a:rPr>
              <a:t>10</a:t>
            </a:r>
            <a:endParaRPr lang="en-US" sz="1500" dirty="0"/>
          </a:p>
        </p:txBody>
      </p:sp>
      <p:sp>
        <p:nvSpPr>
          <p:cNvPr id="27" name="Text 24"/>
          <p:cNvSpPr txBox="1"/>
          <p:nvPr/>
        </p:nvSpPr>
        <p:spPr>
          <a:xfrm>
            <a:off x="9390888" y="3840480"/>
            <a:ext cx="329184" cy="548640"/>
          </a:xfrm>
          <a:prstGeom prst="rect">
            <a:avLst/>
          </a:prstGeom>
          <a:noFill/>
          <a:ln/>
        </p:spPr>
        <p:txBody>
          <a:bodyPr wrap="square" lIns="0" tIns="0" rIns="0" bIns="0" rtlCol="0" anchor="ctr"/>
          <a:lstStyle/>
          <a:p>
            <a:pPr algn="ctr" indent="0" marL="0">
              <a:buNone/>
            </a:pPr>
            <a:r>
              <a:rPr lang="en-US" sz="2400" b="1" dirty="0">
                <a:solidFill>
                  <a:srgbClr val="F5A623"/>
                </a:solidFill>
                <a:latin typeface="Courier New" pitchFamily="34" charset="0"/>
                <a:ea typeface="Courier New" pitchFamily="34" charset="-122"/>
                <a:cs typeface="Courier New" pitchFamily="34" charset="-120"/>
              </a:rPr>
              <a:t>=</a:t>
            </a:r>
            <a:endParaRPr lang="en-US" sz="2400" dirty="0"/>
          </a:p>
        </p:txBody>
      </p:sp>
      <p:sp>
        <p:nvSpPr>
          <p:cNvPr id="28" name="Shape 25"/>
          <p:cNvSpPr/>
          <p:nvPr/>
        </p:nvSpPr>
        <p:spPr>
          <a:xfrm>
            <a:off x="9720072" y="2606040"/>
            <a:ext cx="1920240" cy="3291840"/>
          </a:xfrm>
          <a:prstGeom prst="roundRect">
            <a:avLst>
              <a:gd name="adj" fmla="val 4762"/>
            </a:avLst>
          </a:prstGeom>
          <a:solidFill>
            <a:srgbClr val="F1F5FB"/>
          </a:solidFill>
          <a:ln/>
        </p:spPr>
      </p:sp>
      <p:sp>
        <p:nvSpPr>
          <p:cNvPr id="29" name="Shape 26"/>
          <p:cNvSpPr/>
          <p:nvPr/>
        </p:nvSpPr>
        <p:spPr>
          <a:xfrm>
            <a:off x="9902952" y="2788920"/>
            <a:ext cx="1554480" cy="457200"/>
          </a:xfrm>
          <a:prstGeom prst="roundRect">
            <a:avLst>
              <a:gd name="adj" fmla="val 16000"/>
            </a:avLst>
          </a:prstGeom>
          <a:solidFill>
            <a:srgbClr val="D1416B"/>
          </a:solidFill>
          <a:ln/>
        </p:spPr>
      </p:sp>
      <p:sp>
        <p:nvSpPr>
          <p:cNvPr id="30" name="Text 27"/>
          <p:cNvSpPr txBox="1"/>
          <p:nvPr/>
        </p:nvSpPr>
        <p:spPr>
          <a:xfrm>
            <a:off x="9902952" y="2788920"/>
            <a:ext cx="15544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answer</a:t>
            </a:r>
            <a:endParaRPr lang="en-US" sz="1500" dirty="0"/>
          </a:p>
        </p:txBody>
      </p:sp>
      <p:sp>
        <p:nvSpPr>
          <p:cNvPr id="31" name="Text 28"/>
          <p:cNvSpPr txBox="1"/>
          <p:nvPr/>
        </p:nvSpPr>
        <p:spPr>
          <a:xfrm>
            <a:off x="9902952" y="3337560"/>
            <a:ext cx="1554480" cy="36576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one number</a:t>
            </a:r>
            <a:endParaRPr lang="en-US" sz="1300" dirty="0"/>
          </a:p>
        </p:txBody>
      </p:sp>
      <p:sp>
        <p:nvSpPr>
          <p:cNvPr id="32" name="Text 29"/>
          <p:cNvSpPr txBox="1"/>
          <p:nvPr/>
        </p:nvSpPr>
        <p:spPr>
          <a:xfrm>
            <a:off x="9902952" y="3794760"/>
            <a:ext cx="1554480" cy="2011680"/>
          </a:xfrm>
          <a:prstGeom prst="rect">
            <a:avLst/>
          </a:prstGeom>
          <a:noFill/>
          <a:ln/>
        </p:spPr>
        <p:txBody>
          <a:bodyPr wrap="square" lIns="0" tIns="0" rIns="0" bIns="0" rtlCol="0" anchor="t"/>
          <a:lstStyle/>
          <a:p>
            <a:pPr indent="0" marL="0">
              <a:buNone/>
            </a:pPr>
            <a:r>
              <a:rPr lang="en-US" sz="1500" b="1" dirty="0">
                <a:solidFill>
                  <a:srgbClr val="17875A"/>
                </a:solidFill>
                <a:latin typeface="Courier New" pitchFamily="34" charset="0"/>
                <a:ea typeface="Courier New" pitchFamily="34" charset="-122"/>
                <a:cs typeface="Courier New" pitchFamily="34" charset="-120"/>
              </a:rPr>
              <a:t>10 commands</a:t>
            </a:r>
            <a:endParaRPr lang="en-US" sz="1500" dirty="0"/>
          </a:p>
        </p:txBody>
      </p:sp>
      <p:sp>
        <p:nvSpPr>
          <p:cNvPr id="33" name="Text 30"/>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32 / 79</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Sort and count: sort, uniq, cut</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cut -d: -f1 /etc/passwd</a:t>
            </a:r>
            <a:endParaRPr lang="en-US" sz="1300" dirty="0"/>
          </a:p>
        </p:txBody>
      </p:sp>
      <p:sp>
        <p:nvSpPr>
          <p:cNvPr id="8" name="Shape 5"/>
          <p:cNvSpPr/>
          <p:nvPr/>
        </p:nvSpPr>
        <p:spPr>
          <a:xfrm>
            <a:off x="548640" y="1645920"/>
            <a:ext cx="2377440" cy="457200"/>
          </a:xfrm>
          <a:prstGeom prst="roundRect">
            <a:avLst>
              <a:gd name="adj" fmla="val 16000"/>
            </a:avLst>
          </a:prstGeom>
          <a:solidFill>
            <a:srgbClr val="0E1726"/>
          </a:solidFill>
          <a:ln/>
        </p:spPr>
      </p:sp>
      <p:sp>
        <p:nvSpPr>
          <p:cNvPr id="9" name="Text 6"/>
          <p:cNvSpPr txBox="1"/>
          <p:nvPr/>
        </p:nvSpPr>
        <p:spPr>
          <a:xfrm>
            <a:off x="548640" y="1645920"/>
            <a:ext cx="23774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sort file</a:t>
            </a:r>
            <a:endParaRPr lang="en-US" sz="1500" dirty="0"/>
          </a:p>
        </p:txBody>
      </p:sp>
      <p:sp>
        <p:nvSpPr>
          <p:cNvPr id="10" name="Text 7"/>
          <p:cNvSpPr txBox="1"/>
          <p:nvPr/>
        </p:nvSpPr>
        <p:spPr>
          <a:xfrm>
            <a:off x="3154680" y="1645920"/>
            <a:ext cx="278892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put lines in order</a:t>
            </a:r>
            <a:endParaRPr lang="en-US" sz="1700" dirty="0"/>
          </a:p>
        </p:txBody>
      </p:sp>
      <p:sp>
        <p:nvSpPr>
          <p:cNvPr id="11" name="Shape 8"/>
          <p:cNvSpPr/>
          <p:nvPr/>
        </p:nvSpPr>
        <p:spPr>
          <a:xfrm>
            <a:off x="548640" y="2423160"/>
            <a:ext cx="2377440" cy="457200"/>
          </a:xfrm>
          <a:prstGeom prst="roundRect">
            <a:avLst>
              <a:gd name="adj" fmla="val 16000"/>
            </a:avLst>
          </a:prstGeom>
          <a:solidFill>
            <a:srgbClr val="0E1726"/>
          </a:solidFill>
          <a:ln/>
        </p:spPr>
      </p:sp>
      <p:sp>
        <p:nvSpPr>
          <p:cNvPr id="12" name="Text 9"/>
          <p:cNvSpPr txBox="1"/>
          <p:nvPr/>
        </p:nvSpPr>
        <p:spPr>
          <a:xfrm>
            <a:off x="548640" y="2423160"/>
            <a:ext cx="23774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uniq -c</a:t>
            </a:r>
            <a:endParaRPr lang="en-US" sz="1500" dirty="0"/>
          </a:p>
        </p:txBody>
      </p:sp>
      <p:sp>
        <p:nvSpPr>
          <p:cNvPr id="13" name="Text 10"/>
          <p:cNvSpPr txBox="1"/>
          <p:nvPr/>
        </p:nvSpPr>
        <p:spPr>
          <a:xfrm>
            <a:off x="3154680" y="2423160"/>
            <a:ext cx="278892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count neighbouring repeats</a:t>
            </a:r>
            <a:endParaRPr lang="en-US" sz="1700" dirty="0"/>
          </a:p>
        </p:txBody>
      </p:sp>
      <p:sp>
        <p:nvSpPr>
          <p:cNvPr id="14" name="Shape 11"/>
          <p:cNvSpPr/>
          <p:nvPr/>
        </p:nvSpPr>
        <p:spPr>
          <a:xfrm>
            <a:off x="548640" y="3200400"/>
            <a:ext cx="2377440" cy="457200"/>
          </a:xfrm>
          <a:prstGeom prst="roundRect">
            <a:avLst>
              <a:gd name="adj" fmla="val 16000"/>
            </a:avLst>
          </a:prstGeom>
          <a:solidFill>
            <a:srgbClr val="0E1726"/>
          </a:solidFill>
          <a:ln/>
        </p:spPr>
      </p:sp>
      <p:sp>
        <p:nvSpPr>
          <p:cNvPr id="15" name="Text 12"/>
          <p:cNvSpPr txBox="1"/>
          <p:nvPr/>
        </p:nvSpPr>
        <p:spPr>
          <a:xfrm>
            <a:off x="548640" y="3200400"/>
            <a:ext cx="23774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uniq -u</a:t>
            </a:r>
            <a:endParaRPr lang="en-US" sz="1500" dirty="0"/>
          </a:p>
        </p:txBody>
      </p:sp>
      <p:sp>
        <p:nvSpPr>
          <p:cNvPr id="16" name="Text 13"/>
          <p:cNvSpPr txBox="1"/>
          <p:nvPr/>
        </p:nvSpPr>
        <p:spPr>
          <a:xfrm>
            <a:off x="3154680" y="3200400"/>
            <a:ext cx="278892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only lines with no twin</a:t>
            </a:r>
            <a:endParaRPr lang="en-US" sz="1700" dirty="0"/>
          </a:p>
        </p:txBody>
      </p:sp>
      <p:sp>
        <p:nvSpPr>
          <p:cNvPr id="17" name="Shape 14"/>
          <p:cNvSpPr/>
          <p:nvPr/>
        </p:nvSpPr>
        <p:spPr>
          <a:xfrm>
            <a:off x="548640" y="3977640"/>
            <a:ext cx="2377440" cy="457200"/>
          </a:xfrm>
          <a:prstGeom prst="roundRect">
            <a:avLst>
              <a:gd name="adj" fmla="val 16000"/>
            </a:avLst>
          </a:prstGeom>
          <a:solidFill>
            <a:srgbClr val="0E1726"/>
          </a:solidFill>
          <a:ln/>
        </p:spPr>
      </p:sp>
      <p:sp>
        <p:nvSpPr>
          <p:cNvPr id="18" name="Text 15"/>
          <p:cNvSpPr txBox="1"/>
          <p:nvPr/>
        </p:nvSpPr>
        <p:spPr>
          <a:xfrm>
            <a:off x="548640" y="3977640"/>
            <a:ext cx="23774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cut -d: -f1</a:t>
            </a:r>
            <a:endParaRPr lang="en-US" sz="1500" dirty="0"/>
          </a:p>
        </p:txBody>
      </p:sp>
      <p:sp>
        <p:nvSpPr>
          <p:cNvPr id="19" name="Text 16"/>
          <p:cNvSpPr txBox="1"/>
          <p:nvPr/>
        </p:nvSpPr>
        <p:spPr>
          <a:xfrm>
            <a:off x="3154680" y="3977640"/>
            <a:ext cx="278892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keep field 1 (split at :)</a:t>
            </a:r>
            <a:endParaRPr lang="en-US" sz="1700" dirty="0"/>
          </a:p>
        </p:txBody>
      </p:sp>
      <p:sp>
        <p:nvSpPr>
          <p:cNvPr id="20" name="Shape 17"/>
          <p:cNvSpPr/>
          <p:nvPr/>
        </p:nvSpPr>
        <p:spPr>
          <a:xfrm>
            <a:off x="548640" y="4892040"/>
            <a:ext cx="5394960" cy="1005840"/>
          </a:xfrm>
          <a:prstGeom prst="roundRect">
            <a:avLst>
              <a:gd name="adj" fmla="val 9091"/>
            </a:avLst>
          </a:prstGeom>
          <a:solidFill>
            <a:srgbClr val="FFF4DC"/>
          </a:solidFill>
          <a:ln/>
        </p:spPr>
      </p:sp>
      <p:sp>
        <p:nvSpPr>
          <p:cNvPr id="21" name="Text 18"/>
          <p:cNvSpPr txBox="1"/>
          <p:nvPr/>
        </p:nvSpPr>
        <p:spPr>
          <a:xfrm>
            <a:off x="822960" y="4892040"/>
            <a:ext cx="4846320" cy="1005840"/>
          </a:xfrm>
          <a:prstGeom prst="rect">
            <a:avLst/>
          </a:prstGeom>
          <a:noFill/>
          <a:ln/>
        </p:spPr>
        <p:txBody>
          <a:bodyPr wrap="square" lIns="0" tIns="0" rIns="0" bIns="0" rtlCol="0" anchor="ctr"/>
          <a:lstStyle/>
          <a:p>
            <a:pPr indent="0" marL="0">
              <a:buNone/>
            </a:pPr>
            <a:r>
              <a:rPr lang="en-US" sz="1600" b="1" dirty="0">
                <a:solidFill>
                  <a:srgbClr val="12213A"/>
                </a:solidFill>
                <a:latin typeface="Calibri" pitchFamily="34" charset="0"/>
                <a:ea typeface="Calibri" pitchFamily="34" charset="-122"/>
                <a:cs typeface="Calibri" pitchFamily="34" charset="-120"/>
              </a:rPr>
              <a:t>Rule of thumb: </a:t>
            </a:r>
            <a:pPr indent="0" marL="0">
              <a:buNone/>
            </a:pPr>
            <a:r>
              <a:rPr lang="en-US" sz="1600" dirty="0">
                <a:solidFill>
                  <a:srgbClr val="12213A"/>
                </a:solidFill>
                <a:latin typeface="Calibri" pitchFamily="34" charset="0"/>
                <a:ea typeface="Calibri" pitchFamily="34" charset="-122"/>
                <a:cs typeface="Calibri" pitchFamily="34" charset="-120"/>
              </a:rPr>
              <a:t>sort first, then uniq. uniq only compares lines that sit next to each other.</a:t>
            </a:r>
            <a:endParaRPr lang="en-US" sz="1600" dirty="0"/>
          </a:p>
        </p:txBody>
      </p:sp>
      <p:sp>
        <p:nvSpPr>
          <p:cNvPr id="22" name="Shape 19"/>
          <p:cNvSpPr/>
          <p:nvPr/>
        </p:nvSpPr>
        <p:spPr>
          <a:xfrm>
            <a:off x="6400800" y="1463040"/>
            <a:ext cx="5212080" cy="4480560"/>
          </a:xfrm>
          <a:prstGeom prst="roundRect">
            <a:avLst>
              <a:gd name="adj" fmla="val 2041"/>
            </a:avLst>
          </a:prstGeom>
          <a:solidFill>
            <a:srgbClr val="0E1726"/>
          </a:solidFill>
          <a:ln/>
          <a:effectLst>
            <a:outerShdw sx="100000" sy="100000" kx="0" ky="0" algn="bl" rotWithShape="0" blurRad="127000" dist="38100" dir="5400000">
              <a:srgbClr val="12213A">
                <a:alpha val="22000"/>
              </a:srgbClr>
            </a:outerShdw>
          </a:effectLst>
        </p:spPr>
      </p:sp>
      <p:sp>
        <p:nvSpPr>
          <p:cNvPr id="23" name="Shape 20"/>
          <p:cNvSpPr/>
          <p:nvPr/>
        </p:nvSpPr>
        <p:spPr>
          <a:xfrm>
            <a:off x="6601968" y="1618488"/>
            <a:ext cx="118872" cy="118872"/>
          </a:xfrm>
          <a:prstGeom prst="ellipse">
            <a:avLst/>
          </a:prstGeom>
          <a:solidFill>
            <a:srgbClr val="E5534B"/>
          </a:solidFill>
          <a:ln/>
        </p:spPr>
      </p:sp>
      <p:sp>
        <p:nvSpPr>
          <p:cNvPr id="24" name="Shape 21"/>
          <p:cNvSpPr/>
          <p:nvPr/>
        </p:nvSpPr>
        <p:spPr>
          <a:xfrm>
            <a:off x="6803136" y="1618488"/>
            <a:ext cx="118872" cy="118872"/>
          </a:xfrm>
          <a:prstGeom prst="ellipse">
            <a:avLst/>
          </a:prstGeom>
          <a:solidFill>
            <a:srgbClr val="F5A623"/>
          </a:solidFill>
          <a:ln/>
        </p:spPr>
      </p:sp>
      <p:sp>
        <p:nvSpPr>
          <p:cNvPr id="25" name="Shape 22"/>
          <p:cNvSpPr/>
          <p:nvPr/>
        </p:nvSpPr>
        <p:spPr>
          <a:xfrm>
            <a:off x="7004304" y="1618488"/>
            <a:ext cx="118872" cy="118872"/>
          </a:xfrm>
          <a:prstGeom prst="ellipse">
            <a:avLst/>
          </a:prstGeom>
          <a:solidFill>
            <a:srgbClr val="46D39A"/>
          </a:solidFill>
          <a:ln/>
        </p:spPr>
      </p:sp>
      <p:sp>
        <p:nvSpPr>
          <p:cNvPr id="26" name="Text 23"/>
          <p:cNvSpPr txBox="1"/>
          <p:nvPr/>
        </p:nvSpPr>
        <p:spPr>
          <a:xfrm>
            <a:off x="7315200" y="1536192"/>
            <a:ext cx="338328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sort and uniq</a:t>
            </a:r>
            <a:endParaRPr lang="en-US" sz="1000" dirty="0"/>
          </a:p>
        </p:txBody>
      </p:sp>
      <p:sp>
        <p:nvSpPr>
          <p:cNvPr id="27" name="Text 24"/>
          <p:cNvSpPr txBox="1"/>
          <p:nvPr/>
        </p:nvSpPr>
        <p:spPr>
          <a:xfrm>
            <a:off x="6675120" y="1920240"/>
            <a:ext cx="4663440" cy="3886200"/>
          </a:xfrm>
          <a:prstGeom prst="rect">
            <a:avLst/>
          </a:prstGeom>
          <a:noFill/>
          <a:ln/>
        </p:spPr>
        <p:txBody>
          <a:bodyPr wrap="square" lIns="0" tIns="0" rIns="0" bIns="0" rtlCol="0" anchor="t"/>
          <a:lstStyle/>
          <a:p>
            <a:pPr indent="0" marL="0">
              <a:spcAft>
                <a:spcPts val="200"/>
              </a:spcAft>
              <a:buNone/>
            </a:pPr>
            <a:r>
              <a:rPr lang="en-US" sz="1400" dirty="0">
                <a:solidFill>
                  <a:srgbClr val="7F8FAD"/>
                </a:solidFill>
                <a:latin typeface="Courier New" pitchFamily="34" charset="0"/>
                <a:ea typeface="Courier New" pitchFamily="34" charset="-122"/>
                <a:cs typeface="Courier New" pitchFamily="34" charset="-120"/>
              </a:rPr>
              <a:t># an example file</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cat snacks.txt</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chips</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apple</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chips</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pear</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apple</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chips</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sort snacks.txt | uniq -c</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      2 apple</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      3 chips</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      1 pear</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sort snacks.txt | uniq -u</a:t>
            </a:r>
            <a:endParaRPr lang="en-US" sz="1400" dirty="0"/>
          </a:p>
          <a:p>
            <a:pPr indent="0" marL="0">
              <a:spcAft>
                <a:spcPts val="200"/>
              </a:spcAft>
              <a:buNone/>
            </a:pPr>
            <a:r>
              <a:rPr lang="en-US" sz="1400" b="1" dirty="0">
                <a:solidFill>
                  <a:srgbClr val="F5A623"/>
                </a:solidFill>
                <a:latin typeface="Courier New" pitchFamily="34" charset="0"/>
                <a:ea typeface="Courier New" pitchFamily="34" charset="-122"/>
                <a:cs typeface="Courier New" pitchFamily="34" charset="-120"/>
              </a:rPr>
              <a:t>pear</a:t>
            </a:r>
            <a:endParaRPr lang="en-US" sz="1400" dirty="0"/>
          </a:p>
        </p:txBody>
      </p:sp>
      <p:sp>
        <p:nvSpPr>
          <p:cNvPr id="28" name="Text 25"/>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33 / 79</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3" name="Shape 0"/>
          <p:cNvSpPr/>
          <p:nvPr/>
        </p:nvSpPr>
        <p:spPr>
          <a:xfrm>
            <a:off x="0" y="0"/>
            <a:ext cx="256032" cy="6858000"/>
          </a:xfrm>
          <a:prstGeom prst="rect">
            <a:avLst/>
          </a:prstGeom>
          <a:solidFill>
            <a:srgbClr val="E8820C"/>
          </a:solidFill>
          <a:ln/>
        </p:spPr>
      </p:sp>
      <p:sp>
        <p:nvSpPr>
          <p:cNvPr id="4" name="Shape 1"/>
          <p:cNvSpPr/>
          <p:nvPr/>
        </p:nvSpPr>
        <p:spPr>
          <a:xfrm>
            <a:off x="640080" y="685800"/>
            <a:ext cx="1188720" cy="1188720"/>
          </a:xfrm>
          <a:prstGeom prst="ellipse">
            <a:avLst/>
          </a:prstGeom>
          <a:solidFill>
            <a:srgbClr val="E8820C"/>
          </a:solidFill>
          <a:ln/>
        </p:spPr>
      </p:sp>
      <p:sp>
        <p:nvSpPr>
          <p:cNvPr id="5" name="Text 2"/>
          <p:cNvSpPr txBox="1"/>
          <p:nvPr/>
        </p:nvSpPr>
        <p:spPr>
          <a:xfrm>
            <a:off x="640080" y="685800"/>
            <a:ext cx="1188720" cy="1188720"/>
          </a:xfrm>
          <a:prstGeom prst="rect">
            <a:avLst/>
          </a:prstGeom>
          <a:noFill/>
          <a:ln/>
        </p:spPr>
        <p:txBody>
          <a:bodyPr wrap="square" lIns="0" tIns="0" rIns="0" bIns="0" rtlCol="0" anchor="ctr"/>
          <a:lstStyle/>
          <a:p>
            <a:pPr algn="ctr" indent="0" marL="0">
              <a:buNone/>
            </a:pPr>
            <a:r>
              <a:rPr lang="en-US" sz="5400" b="1" dirty="0">
                <a:solidFill>
                  <a:srgbClr val="FFFFFF"/>
                </a:solidFill>
                <a:latin typeface="Arial" pitchFamily="34" charset="0"/>
                <a:ea typeface="Arial" pitchFamily="34" charset="-122"/>
                <a:cs typeface="Arial" pitchFamily="34" charset="-120"/>
              </a:rPr>
              <a:t>4</a:t>
            </a:r>
            <a:endParaRPr lang="en-US" sz="5400" dirty="0"/>
          </a:p>
        </p:txBody>
      </p:sp>
      <p:sp>
        <p:nvSpPr>
          <p:cNvPr id="6" name="Text 3"/>
          <p:cNvSpPr txBox="1"/>
          <p:nvPr/>
        </p:nvSpPr>
        <p:spPr>
          <a:xfrm>
            <a:off x="2148840" y="731520"/>
            <a:ext cx="5486400" cy="365760"/>
          </a:xfrm>
          <a:prstGeom prst="rect">
            <a:avLst/>
          </a:prstGeom>
          <a:noFill/>
          <a:ln/>
        </p:spPr>
        <p:txBody>
          <a:bodyPr wrap="square" lIns="0" tIns="0" rIns="0" bIns="0" rtlCol="0" anchor="ctr"/>
          <a:lstStyle/>
          <a:p>
            <a:pPr indent="0" marL="0">
              <a:buNone/>
            </a:pPr>
            <a:r>
              <a:rPr lang="en-US" sz="1500" dirty="0">
                <a:solidFill>
                  <a:srgbClr val="56657E"/>
                </a:solidFill>
                <a:latin typeface="Courier New" pitchFamily="34" charset="0"/>
                <a:ea typeface="Courier New" pitchFamily="34" charset="-122"/>
                <a:cs typeface="Courier New" pitchFamily="34" charset="-120"/>
              </a:rPr>
              <a:t>Big idea 4 of 4</a:t>
            </a:r>
            <a:endParaRPr lang="en-US" sz="1500" dirty="0"/>
          </a:p>
        </p:txBody>
      </p:sp>
      <p:sp>
        <p:nvSpPr>
          <p:cNvPr id="7" name="Text 4"/>
          <p:cNvSpPr txBox="1"/>
          <p:nvPr/>
        </p:nvSpPr>
        <p:spPr>
          <a:xfrm>
            <a:off x="2148840" y="1051560"/>
            <a:ext cx="9144000" cy="822960"/>
          </a:xfrm>
          <a:prstGeom prst="rect">
            <a:avLst/>
          </a:prstGeom>
          <a:noFill/>
          <a:ln/>
        </p:spPr>
        <p:txBody>
          <a:bodyPr wrap="square" lIns="0" tIns="0" rIns="0" bIns="0" rtlCol="0" anchor="ctr"/>
          <a:lstStyle/>
          <a:p>
            <a:pPr indent="0" marL="0">
              <a:buNone/>
            </a:pPr>
            <a:r>
              <a:rPr lang="en-US" sz="4400" b="1" dirty="0">
                <a:solidFill>
                  <a:srgbClr val="12213A"/>
                </a:solidFill>
                <a:latin typeface="Arial" pitchFamily="34" charset="0"/>
                <a:ea typeface="Arial" pitchFamily="34" charset="-122"/>
                <a:cs typeface="Arial" pitchFamily="34" charset="-120"/>
              </a:rPr>
              <a:t>Text power tools</a:t>
            </a:r>
            <a:endParaRPr lang="en-US" sz="4400" dirty="0"/>
          </a:p>
        </p:txBody>
      </p:sp>
      <p:sp>
        <p:nvSpPr>
          <p:cNvPr id="8" name="Text 5"/>
          <p:cNvSpPr txBox="1"/>
          <p:nvPr/>
        </p:nvSpPr>
        <p:spPr>
          <a:xfrm>
            <a:off x="640080" y="2194560"/>
            <a:ext cx="10911535" cy="1005840"/>
          </a:xfrm>
          <a:prstGeom prst="rect">
            <a:avLst/>
          </a:prstGeom>
          <a:noFill/>
          <a:ln/>
        </p:spPr>
        <p:txBody>
          <a:bodyPr wrap="square" lIns="0" tIns="0" rIns="0" bIns="0" rtlCol="0" anchor="t"/>
          <a:lstStyle/>
          <a:p>
            <a:pPr indent="0" marL="0">
              <a:buNone/>
            </a:pPr>
            <a:r>
              <a:rPr lang="en-US" sz="2500" dirty="0">
                <a:solidFill>
                  <a:srgbClr val="12213A"/>
                </a:solidFill>
                <a:latin typeface="Calibri" pitchFamily="34" charset="0"/>
                <a:ea typeface="Calibri" pitchFamily="34" charset="-122"/>
                <a:cs typeface="Calibri" pitchFamily="34" charset="-120"/>
              </a:rPr>
              <a:t>When text needs cleaning or a column pulled out, sed and awk do it in one line.</a:t>
            </a:r>
            <a:endParaRPr lang="en-US" sz="2500" dirty="0"/>
          </a:p>
        </p:txBody>
      </p:sp>
      <p:sp>
        <p:nvSpPr>
          <p:cNvPr id="9" name="Shape 6"/>
          <p:cNvSpPr/>
          <p:nvPr/>
        </p:nvSpPr>
        <p:spPr>
          <a:xfrm>
            <a:off x="640080" y="3520440"/>
            <a:ext cx="3520440" cy="1965960"/>
          </a:xfrm>
          <a:prstGeom prst="roundRect">
            <a:avLst>
              <a:gd name="adj" fmla="val 4651"/>
            </a:avLst>
          </a:prstGeom>
          <a:solidFill>
            <a:srgbClr val="F1F5FB"/>
          </a:solidFill>
          <a:ln/>
        </p:spPr>
      </p:sp>
      <p:sp>
        <p:nvSpPr>
          <p:cNvPr id="10" name="Text 7"/>
          <p:cNvSpPr txBox="1"/>
          <p:nvPr/>
        </p:nvSpPr>
        <p:spPr>
          <a:xfrm>
            <a:off x="914400" y="3657600"/>
            <a:ext cx="3017520" cy="457200"/>
          </a:xfrm>
          <a:prstGeom prst="rect">
            <a:avLst/>
          </a:prstGeom>
          <a:noFill/>
          <a:ln/>
        </p:spPr>
        <p:txBody>
          <a:bodyPr wrap="square" lIns="0" tIns="0" rIns="0" bIns="0" rtlCol="0" anchor="t"/>
          <a:lstStyle/>
          <a:p>
            <a:pPr indent="0" marL="0">
              <a:buNone/>
            </a:pPr>
            <a:r>
              <a:rPr lang="en-US" sz="2200" b="1" dirty="0">
                <a:solidFill>
                  <a:srgbClr val="E8820C"/>
                </a:solidFill>
                <a:latin typeface="Arial" pitchFamily="34" charset="0"/>
                <a:ea typeface="Arial" pitchFamily="34" charset="-122"/>
                <a:cs typeface="Arial" pitchFamily="34" charset="-120"/>
              </a:rPr>
              <a:t>Replace</a:t>
            </a:r>
            <a:endParaRPr lang="en-US" sz="2200" dirty="0"/>
          </a:p>
        </p:txBody>
      </p:sp>
      <p:sp>
        <p:nvSpPr>
          <p:cNvPr id="11" name="Shape 8"/>
          <p:cNvSpPr/>
          <p:nvPr/>
        </p:nvSpPr>
        <p:spPr>
          <a:xfrm>
            <a:off x="914400" y="4206240"/>
            <a:ext cx="2971800" cy="457200"/>
          </a:xfrm>
          <a:prstGeom prst="roundRect">
            <a:avLst>
              <a:gd name="adj" fmla="val 16000"/>
            </a:avLst>
          </a:prstGeom>
          <a:solidFill>
            <a:srgbClr val="0E1726"/>
          </a:solidFill>
          <a:ln/>
        </p:spPr>
      </p:sp>
      <p:sp>
        <p:nvSpPr>
          <p:cNvPr id="12" name="Text 9"/>
          <p:cNvSpPr txBox="1"/>
          <p:nvPr/>
        </p:nvSpPr>
        <p:spPr>
          <a:xfrm>
            <a:off x="914400" y="4206240"/>
            <a:ext cx="2971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sed 's/a/b/g'</a:t>
            </a:r>
            <a:endParaRPr lang="en-US" sz="1500" dirty="0"/>
          </a:p>
        </p:txBody>
      </p:sp>
      <p:sp>
        <p:nvSpPr>
          <p:cNvPr id="13" name="Text 10"/>
          <p:cNvSpPr txBox="1"/>
          <p:nvPr/>
        </p:nvSpPr>
        <p:spPr>
          <a:xfrm>
            <a:off x="914400" y="4754880"/>
            <a:ext cx="3017520" cy="640080"/>
          </a:xfrm>
          <a:prstGeom prst="rect">
            <a:avLst/>
          </a:prstGeom>
          <a:noFill/>
          <a:ln/>
        </p:spPr>
        <p:txBody>
          <a:bodyPr wrap="square" lIns="0" tIns="0" rIns="0" bIns="0" rtlCol="0" anchor="t"/>
          <a:lstStyle/>
          <a:p>
            <a:pPr indent="0" marL="0">
              <a:buNone/>
            </a:pPr>
            <a:r>
              <a:rPr lang="en-US" sz="1450" dirty="0">
                <a:solidFill>
                  <a:srgbClr val="56657E"/>
                </a:solidFill>
                <a:latin typeface="Calibri" pitchFamily="34" charset="0"/>
                <a:ea typeface="Calibri" pitchFamily="34" charset="-122"/>
                <a:cs typeface="Calibri" pitchFamily="34" charset="-120"/>
              </a:rPr>
              <a:t>Swap or delete text everywhere in a file.</a:t>
            </a:r>
            <a:endParaRPr lang="en-US" sz="1450" dirty="0"/>
          </a:p>
        </p:txBody>
      </p:sp>
      <p:sp>
        <p:nvSpPr>
          <p:cNvPr id="14" name="Shape 11"/>
          <p:cNvSpPr/>
          <p:nvPr/>
        </p:nvSpPr>
        <p:spPr>
          <a:xfrm>
            <a:off x="4370832" y="3520440"/>
            <a:ext cx="3520440" cy="1965960"/>
          </a:xfrm>
          <a:prstGeom prst="roundRect">
            <a:avLst>
              <a:gd name="adj" fmla="val 4651"/>
            </a:avLst>
          </a:prstGeom>
          <a:solidFill>
            <a:srgbClr val="F1F5FB"/>
          </a:solidFill>
          <a:ln/>
        </p:spPr>
      </p:sp>
      <p:sp>
        <p:nvSpPr>
          <p:cNvPr id="15" name="Text 12"/>
          <p:cNvSpPr txBox="1"/>
          <p:nvPr/>
        </p:nvSpPr>
        <p:spPr>
          <a:xfrm>
            <a:off x="4645152" y="3657600"/>
            <a:ext cx="3017520" cy="457200"/>
          </a:xfrm>
          <a:prstGeom prst="rect">
            <a:avLst/>
          </a:prstGeom>
          <a:noFill/>
          <a:ln/>
        </p:spPr>
        <p:txBody>
          <a:bodyPr wrap="square" lIns="0" tIns="0" rIns="0" bIns="0" rtlCol="0" anchor="t"/>
          <a:lstStyle/>
          <a:p>
            <a:pPr indent="0" marL="0">
              <a:buNone/>
            </a:pPr>
            <a:r>
              <a:rPr lang="en-US" sz="2200" b="1" dirty="0">
                <a:solidFill>
                  <a:srgbClr val="E8820C"/>
                </a:solidFill>
                <a:latin typeface="Arial" pitchFamily="34" charset="0"/>
                <a:ea typeface="Arial" pitchFamily="34" charset="-122"/>
                <a:cs typeface="Arial" pitchFamily="34" charset="-120"/>
              </a:rPr>
              <a:t>Pull a column</a:t>
            </a:r>
            <a:endParaRPr lang="en-US" sz="2200" dirty="0"/>
          </a:p>
        </p:txBody>
      </p:sp>
      <p:sp>
        <p:nvSpPr>
          <p:cNvPr id="16" name="Shape 13"/>
          <p:cNvSpPr/>
          <p:nvPr/>
        </p:nvSpPr>
        <p:spPr>
          <a:xfrm>
            <a:off x="4645152" y="4206240"/>
            <a:ext cx="2971800" cy="457200"/>
          </a:xfrm>
          <a:prstGeom prst="roundRect">
            <a:avLst>
              <a:gd name="adj" fmla="val 16000"/>
            </a:avLst>
          </a:prstGeom>
          <a:solidFill>
            <a:srgbClr val="0E1726"/>
          </a:solidFill>
          <a:ln/>
        </p:spPr>
      </p:sp>
      <p:sp>
        <p:nvSpPr>
          <p:cNvPr id="17" name="Text 14"/>
          <p:cNvSpPr txBox="1"/>
          <p:nvPr/>
        </p:nvSpPr>
        <p:spPr>
          <a:xfrm>
            <a:off x="4645152" y="4206240"/>
            <a:ext cx="2971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awk '{print $3}'</a:t>
            </a:r>
            <a:endParaRPr lang="en-US" sz="1500" dirty="0"/>
          </a:p>
        </p:txBody>
      </p:sp>
      <p:sp>
        <p:nvSpPr>
          <p:cNvPr id="18" name="Text 15"/>
          <p:cNvSpPr txBox="1"/>
          <p:nvPr/>
        </p:nvSpPr>
        <p:spPr>
          <a:xfrm>
            <a:off x="4645152" y="4754880"/>
            <a:ext cx="3017520" cy="640080"/>
          </a:xfrm>
          <a:prstGeom prst="rect">
            <a:avLst/>
          </a:prstGeom>
          <a:noFill/>
          <a:ln/>
        </p:spPr>
        <p:txBody>
          <a:bodyPr wrap="square" lIns="0" tIns="0" rIns="0" bIns="0" rtlCol="0" anchor="t"/>
          <a:lstStyle/>
          <a:p>
            <a:pPr indent="0" marL="0">
              <a:buNone/>
            </a:pPr>
            <a:r>
              <a:rPr lang="en-US" sz="1450" dirty="0">
                <a:solidFill>
                  <a:srgbClr val="56657E"/>
                </a:solidFill>
                <a:latin typeface="Calibri" pitchFamily="34" charset="0"/>
                <a:ea typeface="Calibri" pitchFamily="34" charset="-122"/>
                <a:cs typeface="Calibri" pitchFamily="34" charset="-120"/>
              </a:rPr>
              <a:t>Print just the field you need.</a:t>
            </a:r>
            <a:endParaRPr lang="en-US" sz="1450" dirty="0"/>
          </a:p>
        </p:txBody>
      </p:sp>
      <p:sp>
        <p:nvSpPr>
          <p:cNvPr id="19" name="Shape 16"/>
          <p:cNvSpPr/>
          <p:nvPr/>
        </p:nvSpPr>
        <p:spPr>
          <a:xfrm>
            <a:off x="8101584" y="3520440"/>
            <a:ext cx="3520440" cy="1965960"/>
          </a:xfrm>
          <a:prstGeom prst="roundRect">
            <a:avLst>
              <a:gd name="adj" fmla="val 4651"/>
            </a:avLst>
          </a:prstGeom>
          <a:solidFill>
            <a:srgbClr val="F1F5FB"/>
          </a:solidFill>
          <a:ln/>
        </p:spPr>
      </p:sp>
      <p:sp>
        <p:nvSpPr>
          <p:cNvPr id="20" name="Text 17"/>
          <p:cNvSpPr txBox="1"/>
          <p:nvPr/>
        </p:nvSpPr>
        <p:spPr>
          <a:xfrm>
            <a:off x="8375904" y="3657600"/>
            <a:ext cx="3017520" cy="457200"/>
          </a:xfrm>
          <a:prstGeom prst="rect">
            <a:avLst/>
          </a:prstGeom>
          <a:noFill/>
          <a:ln/>
        </p:spPr>
        <p:txBody>
          <a:bodyPr wrap="square" lIns="0" tIns="0" rIns="0" bIns="0" rtlCol="0" anchor="t"/>
          <a:lstStyle/>
          <a:p>
            <a:pPr indent="0" marL="0">
              <a:buNone/>
            </a:pPr>
            <a:r>
              <a:rPr lang="en-US" sz="2200" b="1" dirty="0">
                <a:solidFill>
                  <a:srgbClr val="E8820C"/>
                </a:solidFill>
                <a:latin typeface="Arial" pitchFamily="34" charset="0"/>
                <a:ea typeface="Arial" pitchFamily="34" charset="-122"/>
                <a:cs typeface="Arial" pitchFamily="34" charset="-120"/>
              </a:rPr>
              <a:t>Save it</a:t>
            </a:r>
            <a:endParaRPr lang="en-US" sz="2200" dirty="0"/>
          </a:p>
        </p:txBody>
      </p:sp>
      <p:sp>
        <p:nvSpPr>
          <p:cNvPr id="21" name="Shape 18"/>
          <p:cNvSpPr/>
          <p:nvPr/>
        </p:nvSpPr>
        <p:spPr>
          <a:xfrm>
            <a:off x="8375904" y="4206240"/>
            <a:ext cx="2971800" cy="457200"/>
          </a:xfrm>
          <a:prstGeom prst="roundRect">
            <a:avLst>
              <a:gd name="adj" fmla="val 16000"/>
            </a:avLst>
          </a:prstGeom>
          <a:solidFill>
            <a:srgbClr val="0E1726"/>
          </a:solidFill>
          <a:ln/>
        </p:spPr>
      </p:sp>
      <p:sp>
        <p:nvSpPr>
          <p:cNvPr id="22" name="Text 19"/>
          <p:cNvSpPr txBox="1"/>
          <p:nvPr/>
        </p:nvSpPr>
        <p:spPr>
          <a:xfrm>
            <a:off x="8375904" y="4206240"/>
            <a:ext cx="2971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&gt; file</a:t>
            </a:r>
            <a:endParaRPr lang="en-US" sz="1500" dirty="0"/>
          </a:p>
        </p:txBody>
      </p:sp>
      <p:sp>
        <p:nvSpPr>
          <p:cNvPr id="23" name="Text 20"/>
          <p:cNvSpPr txBox="1"/>
          <p:nvPr/>
        </p:nvSpPr>
        <p:spPr>
          <a:xfrm>
            <a:off x="8375904" y="4754880"/>
            <a:ext cx="3017520" cy="640080"/>
          </a:xfrm>
          <a:prstGeom prst="rect">
            <a:avLst/>
          </a:prstGeom>
          <a:noFill/>
          <a:ln/>
        </p:spPr>
        <p:txBody>
          <a:bodyPr wrap="square" lIns="0" tIns="0" rIns="0" bIns="0" rtlCol="0" anchor="t"/>
          <a:lstStyle/>
          <a:p>
            <a:pPr indent="0" marL="0">
              <a:buNone/>
            </a:pPr>
            <a:r>
              <a:rPr lang="en-US" sz="1450" dirty="0">
                <a:solidFill>
                  <a:srgbClr val="56657E"/>
                </a:solidFill>
                <a:latin typeface="Calibri" pitchFamily="34" charset="0"/>
                <a:ea typeface="Calibri" pitchFamily="34" charset="-122"/>
                <a:cs typeface="Calibri" pitchFamily="34" charset="-120"/>
              </a:rPr>
              <a:t>Send the output into a file to reuse.</a:t>
            </a:r>
            <a:endParaRPr lang="en-US" sz="1450" dirty="0"/>
          </a:p>
        </p:txBody>
      </p:sp>
      <p:sp>
        <p:nvSpPr>
          <p:cNvPr id="24" name="Text 21"/>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34 / 79</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Reshape text: sed and awk</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awk '{print $1}' /etc/passwd</a:t>
            </a:r>
            <a:endParaRPr lang="en-US" sz="1300" dirty="0"/>
          </a:p>
        </p:txBody>
      </p:sp>
      <p:sp>
        <p:nvSpPr>
          <p:cNvPr id="8" name="Shape 5"/>
          <p:cNvSpPr/>
          <p:nvPr/>
        </p:nvSpPr>
        <p:spPr>
          <a:xfrm>
            <a:off x="548640" y="1554480"/>
            <a:ext cx="3291840" cy="2011680"/>
          </a:xfrm>
          <a:prstGeom prst="roundRect">
            <a:avLst>
              <a:gd name="adj" fmla="val 4545"/>
            </a:avLst>
          </a:prstGeom>
          <a:solidFill>
            <a:srgbClr val="F1F5FB"/>
          </a:solidFill>
          <a:ln/>
        </p:spPr>
      </p:sp>
      <p:sp>
        <p:nvSpPr>
          <p:cNvPr id="9" name="Text 6"/>
          <p:cNvSpPr txBox="1"/>
          <p:nvPr/>
        </p:nvSpPr>
        <p:spPr>
          <a:xfrm>
            <a:off x="822960" y="1737360"/>
            <a:ext cx="2743200" cy="411480"/>
          </a:xfrm>
          <a:prstGeom prst="rect">
            <a:avLst/>
          </a:prstGeom>
          <a:noFill/>
          <a:ln/>
        </p:spPr>
        <p:txBody>
          <a:bodyPr wrap="square" lIns="0" tIns="0" rIns="0" bIns="0" rtlCol="0" anchor="t"/>
          <a:lstStyle/>
          <a:p>
            <a:pPr indent="0" marL="0">
              <a:buNone/>
            </a:pPr>
            <a:r>
              <a:rPr lang="en-US" sz="2200" b="1" dirty="0">
                <a:solidFill>
                  <a:srgbClr val="2459D8"/>
                </a:solidFill>
                <a:latin typeface="Arial" pitchFamily="34" charset="0"/>
                <a:ea typeface="Arial" pitchFamily="34" charset="-122"/>
                <a:cs typeface="Arial" pitchFamily="34" charset="-120"/>
              </a:rPr>
              <a:t>sed</a:t>
            </a:r>
            <a:endParaRPr lang="en-US" sz="2200" dirty="0"/>
          </a:p>
        </p:txBody>
      </p:sp>
      <p:sp>
        <p:nvSpPr>
          <p:cNvPr id="10" name="Text 7"/>
          <p:cNvSpPr txBox="1"/>
          <p:nvPr/>
        </p:nvSpPr>
        <p:spPr>
          <a:xfrm>
            <a:off x="822960" y="2240280"/>
            <a:ext cx="2743200" cy="1188720"/>
          </a:xfrm>
          <a:prstGeom prst="rect">
            <a:avLst/>
          </a:prstGeom>
          <a:noFill/>
          <a:ln/>
        </p:spPr>
        <p:txBody>
          <a:bodyPr wrap="square" lIns="0" tIns="0" rIns="0" bIns="0" rtlCol="0" anchor="t"/>
          <a:lstStyle/>
          <a:p>
            <a:pPr indent="0" marL="0">
              <a:buNone/>
            </a:pPr>
            <a:r>
              <a:rPr lang="en-US" sz="1550" dirty="0">
                <a:solidFill>
                  <a:srgbClr val="56657E"/>
                </a:solidFill>
                <a:latin typeface="Calibri" pitchFamily="34" charset="0"/>
                <a:ea typeface="Calibri" pitchFamily="34" charset="-122"/>
                <a:cs typeface="Calibri" pitchFamily="34" charset="-120"/>
              </a:rPr>
              <a:t>The stream editor. s/old/new/g replaces every copy; leave 'new' empty to delete.</a:t>
            </a:r>
            <a:endParaRPr lang="en-US" sz="1550" dirty="0"/>
          </a:p>
        </p:txBody>
      </p:sp>
      <p:sp>
        <p:nvSpPr>
          <p:cNvPr id="11" name="Shape 8"/>
          <p:cNvSpPr/>
          <p:nvPr/>
        </p:nvSpPr>
        <p:spPr>
          <a:xfrm>
            <a:off x="548640" y="3794760"/>
            <a:ext cx="3291840" cy="2103120"/>
          </a:xfrm>
          <a:prstGeom prst="roundRect">
            <a:avLst>
              <a:gd name="adj" fmla="val 4348"/>
            </a:avLst>
          </a:prstGeom>
          <a:solidFill>
            <a:srgbClr val="F1F5FB"/>
          </a:solidFill>
          <a:ln/>
        </p:spPr>
      </p:sp>
      <p:sp>
        <p:nvSpPr>
          <p:cNvPr id="12" name="Text 9"/>
          <p:cNvSpPr txBox="1"/>
          <p:nvPr/>
        </p:nvSpPr>
        <p:spPr>
          <a:xfrm>
            <a:off x="822960" y="3977640"/>
            <a:ext cx="2743200" cy="411480"/>
          </a:xfrm>
          <a:prstGeom prst="rect">
            <a:avLst/>
          </a:prstGeom>
          <a:noFill/>
          <a:ln/>
        </p:spPr>
        <p:txBody>
          <a:bodyPr wrap="square" lIns="0" tIns="0" rIns="0" bIns="0" rtlCol="0" anchor="t"/>
          <a:lstStyle/>
          <a:p>
            <a:pPr indent="0" marL="0">
              <a:buNone/>
            </a:pPr>
            <a:r>
              <a:rPr lang="en-US" sz="2200" b="1" dirty="0">
                <a:solidFill>
                  <a:srgbClr val="D1416B"/>
                </a:solidFill>
                <a:latin typeface="Arial" pitchFamily="34" charset="0"/>
                <a:ea typeface="Arial" pitchFamily="34" charset="-122"/>
                <a:cs typeface="Arial" pitchFamily="34" charset="-120"/>
              </a:rPr>
              <a:t>awk</a:t>
            </a:r>
            <a:endParaRPr lang="en-US" sz="2200" dirty="0"/>
          </a:p>
        </p:txBody>
      </p:sp>
      <p:sp>
        <p:nvSpPr>
          <p:cNvPr id="13" name="Text 10"/>
          <p:cNvSpPr txBox="1"/>
          <p:nvPr/>
        </p:nvSpPr>
        <p:spPr>
          <a:xfrm>
            <a:off x="822960" y="4480560"/>
            <a:ext cx="2743200" cy="1188720"/>
          </a:xfrm>
          <a:prstGeom prst="rect">
            <a:avLst/>
          </a:prstGeom>
          <a:noFill/>
          <a:ln/>
        </p:spPr>
        <p:txBody>
          <a:bodyPr wrap="square" lIns="0" tIns="0" rIns="0" bIns="0" rtlCol="0" anchor="t"/>
          <a:lstStyle/>
          <a:p>
            <a:pPr indent="0" marL="0">
              <a:buNone/>
            </a:pPr>
            <a:r>
              <a:rPr lang="en-US" sz="1550" dirty="0">
                <a:solidFill>
                  <a:srgbClr val="56657E"/>
                </a:solidFill>
                <a:latin typeface="Calibri" pitchFamily="34" charset="0"/>
                <a:ea typeface="Calibri" pitchFamily="34" charset="-122"/>
                <a:cs typeface="Calibri" pitchFamily="34" charset="-120"/>
              </a:rPr>
              <a:t>The column tool. print $3 prints the 3rd field of every line; add /word/ to filter.</a:t>
            </a:r>
            <a:endParaRPr lang="en-US" sz="1550" dirty="0"/>
          </a:p>
        </p:txBody>
      </p:sp>
      <p:sp>
        <p:nvSpPr>
          <p:cNvPr id="14" name="Shape 11"/>
          <p:cNvSpPr/>
          <p:nvPr/>
        </p:nvSpPr>
        <p:spPr>
          <a:xfrm>
            <a:off x="4206240" y="1463040"/>
            <a:ext cx="7406640" cy="4434840"/>
          </a:xfrm>
          <a:prstGeom prst="roundRect">
            <a:avLst>
              <a:gd name="adj" fmla="val 2062"/>
            </a:avLst>
          </a:prstGeom>
          <a:solidFill>
            <a:srgbClr val="0E1726"/>
          </a:solidFill>
          <a:ln/>
          <a:effectLst>
            <a:outerShdw sx="100000" sy="100000" kx="0" ky="0" algn="bl" rotWithShape="0" blurRad="127000" dist="38100" dir="5400000">
              <a:srgbClr val="12213A">
                <a:alpha val="22000"/>
              </a:srgbClr>
            </a:outerShdw>
          </a:effectLst>
        </p:spPr>
      </p:sp>
      <p:sp>
        <p:nvSpPr>
          <p:cNvPr id="15" name="Shape 12"/>
          <p:cNvSpPr/>
          <p:nvPr/>
        </p:nvSpPr>
        <p:spPr>
          <a:xfrm>
            <a:off x="4407408" y="1618488"/>
            <a:ext cx="118872" cy="118872"/>
          </a:xfrm>
          <a:prstGeom prst="ellipse">
            <a:avLst/>
          </a:prstGeom>
          <a:solidFill>
            <a:srgbClr val="E5534B"/>
          </a:solidFill>
          <a:ln/>
        </p:spPr>
      </p:sp>
      <p:sp>
        <p:nvSpPr>
          <p:cNvPr id="16" name="Shape 13"/>
          <p:cNvSpPr/>
          <p:nvPr/>
        </p:nvSpPr>
        <p:spPr>
          <a:xfrm>
            <a:off x="4608576" y="1618488"/>
            <a:ext cx="118872" cy="118872"/>
          </a:xfrm>
          <a:prstGeom prst="ellipse">
            <a:avLst/>
          </a:prstGeom>
          <a:solidFill>
            <a:srgbClr val="F5A623"/>
          </a:solidFill>
          <a:ln/>
        </p:spPr>
      </p:sp>
      <p:sp>
        <p:nvSpPr>
          <p:cNvPr id="17" name="Shape 14"/>
          <p:cNvSpPr/>
          <p:nvPr/>
        </p:nvSpPr>
        <p:spPr>
          <a:xfrm>
            <a:off x="4809744" y="1618488"/>
            <a:ext cx="118872" cy="118872"/>
          </a:xfrm>
          <a:prstGeom prst="ellipse">
            <a:avLst/>
          </a:prstGeom>
          <a:solidFill>
            <a:srgbClr val="46D39A"/>
          </a:solidFill>
          <a:ln/>
        </p:spPr>
      </p:sp>
      <p:sp>
        <p:nvSpPr>
          <p:cNvPr id="18" name="Text 15"/>
          <p:cNvSpPr txBox="1"/>
          <p:nvPr/>
        </p:nvSpPr>
        <p:spPr>
          <a:xfrm>
            <a:off x="4480560" y="1920240"/>
            <a:ext cx="6858000" cy="3840480"/>
          </a:xfrm>
          <a:prstGeom prst="rect">
            <a:avLst/>
          </a:prstGeom>
          <a:noFill/>
          <a:ln/>
        </p:spPr>
        <p:txBody>
          <a:bodyPr wrap="square" lIns="0" tIns="0" rIns="0" bIns="0" rtlCol="0" anchor="t"/>
          <a:lstStyle/>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cat team.txt</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ada    lead  42</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linus  dev   7</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grace  dev   99</a:t>
            </a:r>
            <a:endParaRPr lang="en-US" sz="1500" dirty="0"/>
          </a:p>
          <a:p>
            <a:pPr indent="0" marL="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sed 's/dev/engineer/g' team.txt</a:t>
            </a:r>
            <a:pPr indent="0" marL="0">
              <a:spcAft>
                <a:spcPts val="200"/>
              </a:spcAft>
              <a:buNone/>
            </a:pPr>
            <a:r>
              <a:rPr lang="en-US" sz="1500" dirty="0">
                <a:solidFill>
                  <a:srgbClr val="7F8FAD"/>
                </a:solidFill>
                <a:latin typeface="Courier New" pitchFamily="34" charset="0"/>
                <a:ea typeface="Courier New" pitchFamily="34" charset="-122"/>
                <a:cs typeface="Courier New" pitchFamily="34" charset="-120"/>
              </a:rPr>
              <a:t>   # replace text</a:t>
            </a:r>
            <a:endParaRPr lang="en-US" sz="1500" dirty="0"/>
          </a:p>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awk '{print $1}' team.txt      </a:t>
            </a:r>
            <a:pPr indent="0" marL="0">
              <a:spcAft>
                <a:spcPts val="200"/>
              </a:spcAft>
              <a:buNone/>
            </a:pPr>
            <a:r>
              <a:rPr lang="en-US" sz="1500" dirty="0">
                <a:solidFill>
                  <a:srgbClr val="7F8FAD"/>
                </a:solidFill>
                <a:latin typeface="Courier New" pitchFamily="34" charset="0"/>
                <a:ea typeface="Courier New" pitchFamily="34" charset="-122"/>
                <a:cs typeface="Courier New" pitchFamily="34" charset="-120"/>
              </a:rPr>
              <a:t>   # column 1</a:t>
            </a:r>
            <a:endParaRPr lang="en-US" sz="1500" dirty="0"/>
          </a:p>
          <a:p>
            <a:pPr indent="0" marL="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500" b="1" dirty="0">
                <a:solidFill>
                  <a:srgbClr val="FFFFFF"/>
                </a:solidFill>
                <a:latin typeface="Courier New" pitchFamily="34" charset="0"/>
                <a:ea typeface="Courier New" pitchFamily="34" charset="-122"/>
                <a:cs typeface="Courier New" pitchFamily="34" charset="-120"/>
              </a:rPr>
              <a:t>awk '/dev/{print $1}' team.txt </a:t>
            </a:r>
            <a:pPr indent="0" marL="0">
              <a:spcAft>
                <a:spcPts val="200"/>
              </a:spcAft>
              <a:buNone/>
            </a:pPr>
            <a:r>
              <a:rPr lang="en-US" sz="1500" dirty="0">
                <a:solidFill>
                  <a:srgbClr val="7F8FAD"/>
                </a:solidFill>
                <a:latin typeface="Courier New" pitchFamily="34" charset="0"/>
                <a:ea typeface="Courier New" pitchFamily="34" charset="-122"/>
                <a:cs typeface="Courier New" pitchFamily="34" charset="-120"/>
              </a:rPr>
              <a:t>   # filtered</a:t>
            </a:r>
            <a:endParaRPr lang="en-US" sz="1500" dirty="0"/>
          </a:p>
        </p:txBody>
      </p:sp>
      <p:sp>
        <p:nvSpPr>
          <p:cNvPr id="19" name="Text 16"/>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35 / 79</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When you are stuck</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hint 1</a:t>
            </a:r>
            <a:endParaRPr lang="en-US" sz="1300" dirty="0"/>
          </a:p>
        </p:txBody>
      </p:sp>
      <p:sp>
        <p:nvSpPr>
          <p:cNvPr id="8" name="Shape 5"/>
          <p:cNvSpPr/>
          <p:nvPr/>
        </p:nvSpPr>
        <p:spPr>
          <a:xfrm>
            <a:off x="548640" y="1554480"/>
            <a:ext cx="3566160" cy="2011680"/>
          </a:xfrm>
          <a:prstGeom prst="roundRect">
            <a:avLst>
              <a:gd name="adj" fmla="val 4545"/>
            </a:avLst>
          </a:prstGeom>
          <a:solidFill>
            <a:srgbClr val="F1F5FB"/>
          </a:solidFill>
          <a:ln/>
        </p:spPr>
      </p:sp>
      <p:sp>
        <p:nvSpPr>
          <p:cNvPr id="9" name="Shape 6"/>
          <p:cNvSpPr/>
          <p:nvPr/>
        </p:nvSpPr>
        <p:spPr>
          <a:xfrm>
            <a:off x="822960" y="1828800"/>
            <a:ext cx="640080" cy="640080"/>
          </a:xfrm>
          <a:prstGeom prst="ellipse">
            <a:avLst/>
          </a:prstGeom>
          <a:solidFill>
            <a:srgbClr val="F5A623"/>
          </a:solidFill>
          <a:ln/>
        </p:spPr>
      </p:sp>
      <p:pic>
        <p:nvPicPr>
          <p:cNvPr id="10" name="Image 0" descr="preencoded.png">    </p:cNvPr>
          <p:cNvPicPr>
            <a:picLocks noChangeAspect="1"/>
          </p:cNvPicPr>
          <p:nvPr/>
        </p:nvPicPr>
        <p:blipFill>
          <a:blip r:embed="rId1"/>
          <a:stretch>
            <a:fillRect/>
          </a:stretch>
        </p:blipFill>
        <p:spPr>
          <a:xfrm>
            <a:off x="982980" y="1988820"/>
            <a:ext cx="320040" cy="320040"/>
          </a:xfrm>
          <a:prstGeom prst="rect">
            <a:avLst/>
          </a:prstGeom>
        </p:spPr>
      </p:pic>
      <p:sp>
        <p:nvSpPr>
          <p:cNvPr id="11" name="Text 7"/>
          <p:cNvSpPr txBox="1"/>
          <p:nvPr/>
        </p:nvSpPr>
        <p:spPr>
          <a:xfrm>
            <a:off x="1645920" y="1828800"/>
            <a:ext cx="2377440" cy="640080"/>
          </a:xfrm>
          <a:prstGeom prst="rect">
            <a:avLst/>
          </a:prstGeom>
          <a:noFill/>
          <a:ln/>
        </p:spPr>
        <p:txBody>
          <a:bodyPr wrap="square" lIns="0" tIns="0" rIns="0" bIns="0" rtlCol="0" anchor="ctr"/>
          <a:lstStyle/>
          <a:p>
            <a:pPr indent="0" marL="0">
              <a:buNone/>
            </a:pPr>
            <a:r>
              <a:rPr lang="en-US" sz="2000" b="1" dirty="0">
                <a:solidFill>
                  <a:srgbClr val="12213A"/>
                </a:solidFill>
                <a:latin typeface="Courier New" pitchFamily="34" charset="0"/>
                <a:ea typeface="Courier New" pitchFamily="34" charset="-122"/>
                <a:cs typeface="Courier New" pitchFamily="34" charset="-120"/>
              </a:rPr>
              <a:t>hint 1</a:t>
            </a:r>
            <a:endParaRPr lang="en-US" sz="2000" dirty="0"/>
          </a:p>
        </p:txBody>
      </p:sp>
      <p:sp>
        <p:nvSpPr>
          <p:cNvPr id="12" name="Text 8"/>
          <p:cNvSpPr txBox="1"/>
          <p:nvPr/>
        </p:nvSpPr>
        <p:spPr>
          <a:xfrm>
            <a:off x="822960" y="2651760"/>
            <a:ext cx="3017520" cy="77724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hint N shows the price; hint N --show buys it. 5% of the mission each.</a:t>
            </a:r>
            <a:endParaRPr lang="en-US" sz="1600" dirty="0"/>
          </a:p>
        </p:txBody>
      </p:sp>
      <p:sp>
        <p:nvSpPr>
          <p:cNvPr id="13" name="Shape 9"/>
          <p:cNvSpPr/>
          <p:nvPr/>
        </p:nvSpPr>
        <p:spPr>
          <a:xfrm>
            <a:off x="4306824" y="1554480"/>
            <a:ext cx="3566160" cy="2011680"/>
          </a:xfrm>
          <a:prstGeom prst="roundRect">
            <a:avLst>
              <a:gd name="adj" fmla="val 4545"/>
            </a:avLst>
          </a:prstGeom>
          <a:solidFill>
            <a:srgbClr val="F1F5FB"/>
          </a:solidFill>
          <a:ln/>
        </p:spPr>
      </p:sp>
      <p:sp>
        <p:nvSpPr>
          <p:cNvPr id="14" name="Shape 10"/>
          <p:cNvSpPr/>
          <p:nvPr/>
        </p:nvSpPr>
        <p:spPr>
          <a:xfrm>
            <a:off x="4581144" y="1828800"/>
            <a:ext cx="640080" cy="640080"/>
          </a:xfrm>
          <a:prstGeom prst="ellipse">
            <a:avLst/>
          </a:prstGeom>
          <a:solidFill>
            <a:srgbClr val="2459D8"/>
          </a:solidFill>
          <a:ln/>
        </p:spPr>
      </p:sp>
      <p:pic>
        <p:nvPicPr>
          <p:cNvPr id="15" name="Image 1" descr="preencoded.png">    </p:cNvPr>
          <p:cNvPicPr>
            <a:picLocks noChangeAspect="1"/>
          </p:cNvPicPr>
          <p:nvPr/>
        </p:nvPicPr>
        <p:blipFill>
          <a:blip r:embed="rId2"/>
          <a:stretch>
            <a:fillRect/>
          </a:stretch>
        </p:blipFill>
        <p:spPr>
          <a:xfrm>
            <a:off x="4741164" y="1988820"/>
            <a:ext cx="320040" cy="320040"/>
          </a:xfrm>
          <a:prstGeom prst="rect">
            <a:avLst/>
          </a:prstGeom>
        </p:spPr>
      </p:pic>
      <p:sp>
        <p:nvSpPr>
          <p:cNvPr id="16" name="Text 11"/>
          <p:cNvSpPr txBox="1"/>
          <p:nvPr/>
        </p:nvSpPr>
        <p:spPr>
          <a:xfrm>
            <a:off x="5404104" y="1828800"/>
            <a:ext cx="2377440" cy="640080"/>
          </a:xfrm>
          <a:prstGeom prst="rect">
            <a:avLst/>
          </a:prstGeom>
          <a:noFill/>
          <a:ln/>
        </p:spPr>
        <p:txBody>
          <a:bodyPr wrap="square" lIns="0" tIns="0" rIns="0" bIns="0" rtlCol="0" anchor="ctr"/>
          <a:lstStyle/>
          <a:p>
            <a:pPr indent="0" marL="0">
              <a:buNone/>
            </a:pPr>
            <a:r>
              <a:rPr lang="en-US" sz="2000" b="1" dirty="0">
                <a:solidFill>
                  <a:srgbClr val="12213A"/>
                </a:solidFill>
                <a:latin typeface="Courier New" pitchFamily="34" charset="0"/>
                <a:ea typeface="Courier New" pitchFamily="34" charset="-122"/>
                <a:cs typeface="Courier New" pitchFamily="34" charset="-120"/>
              </a:rPr>
              <a:t>--help</a:t>
            </a:r>
            <a:endParaRPr lang="en-US" sz="2000" dirty="0"/>
          </a:p>
        </p:txBody>
      </p:sp>
      <p:sp>
        <p:nvSpPr>
          <p:cNvPr id="17" name="Text 12"/>
          <p:cNvSpPr txBox="1"/>
          <p:nvPr/>
        </p:nvSpPr>
        <p:spPr>
          <a:xfrm>
            <a:off x="4581144" y="2651760"/>
            <a:ext cx="3017520" cy="77724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Any command explains itself. Read the option list.</a:t>
            </a:r>
            <a:endParaRPr lang="en-US" sz="1600" dirty="0"/>
          </a:p>
        </p:txBody>
      </p:sp>
      <p:sp>
        <p:nvSpPr>
          <p:cNvPr id="18" name="Shape 13"/>
          <p:cNvSpPr/>
          <p:nvPr/>
        </p:nvSpPr>
        <p:spPr>
          <a:xfrm>
            <a:off x="8065008" y="1554480"/>
            <a:ext cx="3566160" cy="2011680"/>
          </a:xfrm>
          <a:prstGeom prst="roundRect">
            <a:avLst>
              <a:gd name="adj" fmla="val 4545"/>
            </a:avLst>
          </a:prstGeom>
          <a:solidFill>
            <a:srgbClr val="F1F5FB"/>
          </a:solidFill>
          <a:ln/>
        </p:spPr>
      </p:sp>
      <p:sp>
        <p:nvSpPr>
          <p:cNvPr id="19" name="Shape 14"/>
          <p:cNvSpPr/>
          <p:nvPr/>
        </p:nvSpPr>
        <p:spPr>
          <a:xfrm>
            <a:off x="8339328" y="1828800"/>
            <a:ext cx="640080" cy="640080"/>
          </a:xfrm>
          <a:prstGeom prst="ellipse">
            <a:avLst/>
          </a:prstGeom>
          <a:solidFill>
            <a:srgbClr val="2A9FD6"/>
          </a:solidFill>
          <a:ln/>
        </p:spPr>
      </p:sp>
      <p:pic>
        <p:nvPicPr>
          <p:cNvPr id="20" name="Image 2" descr="preencoded.png">    </p:cNvPr>
          <p:cNvPicPr>
            <a:picLocks noChangeAspect="1"/>
          </p:cNvPicPr>
          <p:nvPr/>
        </p:nvPicPr>
        <p:blipFill>
          <a:blip r:embed="rId3"/>
          <a:stretch>
            <a:fillRect/>
          </a:stretch>
        </p:blipFill>
        <p:spPr>
          <a:xfrm>
            <a:off x="8499348" y="1988820"/>
            <a:ext cx="320040" cy="320040"/>
          </a:xfrm>
          <a:prstGeom prst="rect">
            <a:avLst/>
          </a:prstGeom>
        </p:spPr>
      </p:pic>
      <p:sp>
        <p:nvSpPr>
          <p:cNvPr id="21" name="Text 15"/>
          <p:cNvSpPr txBox="1"/>
          <p:nvPr/>
        </p:nvSpPr>
        <p:spPr>
          <a:xfrm>
            <a:off x="9162288" y="1828800"/>
            <a:ext cx="2377440" cy="640080"/>
          </a:xfrm>
          <a:prstGeom prst="rect">
            <a:avLst/>
          </a:prstGeom>
          <a:noFill/>
          <a:ln/>
        </p:spPr>
        <p:txBody>
          <a:bodyPr wrap="square" lIns="0" tIns="0" rIns="0" bIns="0" rtlCol="0" anchor="ctr"/>
          <a:lstStyle/>
          <a:p>
            <a:pPr indent="0" marL="0">
              <a:buNone/>
            </a:pPr>
            <a:r>
              <a:rPr lang="en-US" sz="2000" b="1" dirty="0">
                <a:solidFill>
                  <a:srgbClr val="12213A"/>
                </a:solidFill>
                <a:latin typeface="Courier New" pitchFamily="34" charset="0"/>
                <a:ea typeface="Courier New" pitchFamily="34" charset="-122"/>
                <a:cs typeface="Courier New" pitchFamily="34" charset="-120"/>
              </a:rPr>
              <a:t>Tab</a:t>
            </a:r>
            <a:endParaRPr lang="en-US" sz="2000" dirty="0"/>
          </a:p>
        </p:txBody>
      </p:sp>
      <p:sp>
        <p:nvSpPr>
          <p:cNvPr id="22" name="Text 16"/>
          <p:cNvSpPr txBox="1"/>
          <p:nvPr/>
        </p:nvSpPr>
        <p:spPr>
          <a:xfrm>
            <a:off x="8339328" y="2651760"/>
            <a:ext cx="3017520" cy="77724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Finishes file names for you</a:t>
            </a:r>
            <a:endParaRPr lang="en-US" sz="1600" dirty="0"/>
          </a:p>
        </p:txBody>
      </p:sp>
      <p:sp>
        <p:nvSpPr>
          <p:cNvPr id="23" name="Shape 17"/>
          <p:cNvSpPr/>
          <p:nvPr/>
        </p:nvSpPr>
        <p:spPr>
          <a:xfrm>
            <a:off x="548640" y="3794760"/>
            <a:ext cx="3566160" cy="2011680"/>
          </a:xfrm>
          <a:prstGeom prst="roundRect">
            <a:avLst>
              <a:gd name="adj" fmla="val 4545"/>
            </a:avLst>
          </a:prstGeom>
          <a:solidFill>
            <a:srgbClr val="F1F5FB"/>
          </a:solidFill>
          <a:ln/>
        </p:spPr>
      </p:sp>
      <p:sp>
        <p:nvSpPr>
          <p:cNvPr id="24" name="Shape 18"/>
          <p:cNvSpPr/>
          <p:nvPr/>
        </p:nvSpPr>
        <p:spPr>
          <a:xfrm>
            <a:off x="822960" y="4069080"/>
            <a:ext cx="640080" cy="640080"/>
          </a:xfrm>
          <a:prstGeom prst="ellipse">
            <a:avLst/>
          </a:prstGeom>
          <a:solidFill>
            <a:srgbClr val="7448D4"/>
          </a:solidFill>
          <a:ln/>
        </p:spPr>
      </p:sp>
      <p:pic>
        <p:nvPicPr>
          <p:cNvPr id="25" name="Image 3" descr="preencoded.png">    </p:cNvPr>
          <p:cNvPicPr>
            <a:picLocks noChangeAspect="1"/>
          </p:cNvPicPr>
          <p:nvPr/>
        </p:nvPicPr>
        <p:blipFill>
          <a:blip r:embed="rId4"/>
          <a:stretch>
            <a:fillRect/>
          </a:stretch>
        </p:blipFill>
        <p:spPr>
          <a:xfrm>
            <a:off x="982980" y="4229100"/>
            <a:ext cx="320040" cy="320040"/>
          </a:xfrm>
          <a:prstGeom prst="rect">
            <a:avLst/>
          </a:prstGeom>
        </p:spPr>
      </p:pic>
      <p:sp>
        <p:nvSpPr>
          <p:cNvPr id="26" name="Text 19"/>
          <p:cNvSpPr txBox="1"/>
          <p:nvPr/>
        </p:nvSpPr>
        <p:spPr>
          <a:xfrm>
            <a:off x="1645920" y="4069080"/>
            <a:ext cx="2377440" cy="640080"/>
          </a:xfrm>
          <a:prstGeom prst="rect">
            <a:avLst/>
          </a:prstGeom>
          <a:noFill/>
          <a:ln/>
        </p:spPr>
        <p:txBody>
          <a:bodyPr wrap="square" lIns="0" tIns="0" rIns="0" bIns="0" rtlCol="0" anchor="ctr"/>
          <a:lstStyle/>
          <a:p>
            <a:pPr indent="0" marL="0">
              <a:buNone/>
            </a:pPr>
            <a:r>
              <a:rPr lang="en-US" sz="2000" b="1" dirty="0">
                <a:solidFill>
                  <a:srgbClr val="12213A"/>
                </a:solidFill>
                <a:latin typeface="Courier New" pitchFamily="34" charset="0"/>
                <a:ea typeface="Courier New" pitchFamily="34" charset="-122"/>
                <a:cs typeface="Courier New" pitchFamily="34" charset="-120"/>
              </a:rPr>
              <a:t>Up arrow</a:t>
            </a:r>
            <a:endParaRPr lang="en-US" sz="2000" dirty="0"/>
          </a:p>
        </p:txBody>
      </p:sp>
      <p:sp>
        <p:nvSpPr>
          <p:cNvPr id="27" name="Text 20"/>
          <p:cNvSpPr txBox="1"/>
          <p:nvPr/>
        </p:nvSpPr>
        <p:spPr>
          <a:xfrm>
            <a:off x="822960" y="4892040"/>
            <a:ext cx="3017520" cy="77724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Brings back your last command</a:t>
            </a:r>
            <a:endParaRPr lang="en-US" sz="1600" dirty="0"/>
          </a:p>
        </p:txBody>
      </p:sp>
      <p:sp>
        <p:nvSpPr>
          <p:cNvPr id="28" name="Shape 21"/>
          <p:cNvSpPr/>
          <p:nvPr/>
        </p:nvSpPr>
        <p:spPr>
          <a:xfrm>
            <a:off x="4306824" y="3794760"/>
            <a:ext cx="3566160" cy="2011680"/>
          </a:xfrm>
          <a:prstGeom prst="roundRect">
            <a:avLst>
              <a:gd name="adj" fmla="val 4545"/>
            </a:avLst>
          </a:prstGeom>
          <a:solidFill>
            <a:srgbClr val="F1F5FB"/>
          </a:solidFill>
          <a:ln/>
        </p:spPr>
      </p:sp>
      <p:sp>
        <p:nvSpPr>
          <p:cNvPr id="29" name="Shape 22"/>
          <p:cNvSpPr/>
          <p:nvPr/>
        </p:nvSpPr>
        <p:spPr>
          <a:xfrm>
            <a:off x="4581144" y="4069080"/>
            <a:ext cx="640080" cy="640080"/>
          </a:xfrm>
          <a:prstGeom prst="ellipse">
            <a:avLst/>
          </a:prstGeom>
          <a:solidFill>
            <a:srgbClr val="D1416B"/>
          </a:solidFill>
          <a:ln/>
        </p:spPr>
      </p:sp>
      <p:pic>
        <p:nvPicPr>
          <p:cNvPr id="30" name="Image 4" descr="preencoded.png">    </p:cNvPr>
          <p:cNvPicPr>
            <a:picLocks noChangeAspect="1"/>
          </p:cNvPicPr>
          <p:nvPr/>
        </p:nvPicPr>
        <p:blipFill>
          <a:blip r:embed="rId5"/>
          <a:stretch>
            <a:fillRect/>
          </a:stretch>
        </p:blipFill>
        <p:spPr>
          <a:xfrm>
            <a:off x="4741164" y="4229100"/>
            <a:ext cx="320040" cy="320040"/>
          </a:xfrm>
          <a:prstGeom prst="rect">
            <a:avLst/>
          </a:prstGeom>
        </p:spPr>
      </p:pic>
      <p:sp>
        <p:nvSpPr>
          <p:cNvPr id="31" name="Text 23"/>
          <p:cNvSpPr txBox="1"/>
          <p:nvPr/>
        </p:nvSpPr>
        <p:spPr>
          <a:xfrm>
            <a:off x="5404104" y="4069080"/>
            <a:ext cx="2377440" cy="640080"/>
          </a:xfrm>
          <a:prstGeom prst="rect">
            <a:avLst/>
          </a:prstGeom>
          <a:noFill/>
          <a:ln/>
        </p:spPr>
        <p:txBody>
          <a:bodyPr wrap="square" lIns="0" tIns="0" rIns="0" bIns="0" rtlCol="0" anchor="ctr"/>
          <a:lstStyle/>
          <a:p>
            <a:pPr indent="0" marL="0">
              <a:buNone/>
            </a:pPr>
            <a:r>
              <a:rPr lang="en-US" sz="2000" b="1" dirty="0">
                <a:solidFill>
                  <a:srgbClr val="12213A"/>
                </a:solidFill>
                <a:latin typeface="Courier New" pitchFamily="34" charset="0"/>
                <a:ea typeface="Courier New" pitchFamily="34" charset="-122"/>
                <a:cs typeface="Courier New" pitchFamily="34" charset="-120"/>
              </a:rPr>
              <a:t>Ctrl+C</a:t>
            </a:r>
            <a:endParaRPr lang="en-US" sz="2000" dirty="0"/>
          </a:p>
        </p:txBody>
      </p:sp>
      <p:sp>
        <p:nvSpPr>
          <p:cNvPr id="32" name="Text 24"/>
          <p:cNvSpPr txBox="1"/>
          <p:nvPr/>
        </p:nvSpPr>
        <p:spPr>
          <a:xfrm>
            <a:off x="4581144" y="4892040"/>
            <a:ext cx="3017520" cy="77724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Stops whatever is running</a:t>
            </a:r>
            <a:endParaRPr lang="en-US" sz="1600" dirty="0"/>
          </a:p>
        </p:txBody>
      </p:sp>
      <p:sp>
        <p:nvSpPr>
          <p:cNvPr id="33" name="Shape 25"/>
          <p:cNvSpPr/>
          <p:nvPr/>
        </p:nvSpPr>
        <p:spPr>
          <a:xfrm>
            <a:off x="8065008" y="3794760"/>
            <a:ext cx="3566160" cy="2011680"/>
          </a:xfrm>
          <a:prstGeom prst="roundRect">
            <a:avLst>
              <a:gd name="adj" fmla="val 4545"/>
            </a:avLst>
          </a:prstGeom>
          <a:solidFill>
            <a:srgbClr val="F1F5FB"/>
          </a:solidFill>
          <a:ln/>
        </p:spPr>
      </p:sp>
      <p:sp>
        <p:nvSpPr>
          <p:cNvPr id="34" name="Shape 26"/>
          <p:cNvSpPr/>
          <p:nvPr/>
        </p:nvSpPr>
        <p:spPr>
          <a:xfrm>
            <a:off x="8339328" y="4069080"/>
            <a:ext cx="640080" cy="640080"/>
          </a:xfrm>
          <a:prstGeom prst="ellipse">
            <a:avLst/>
          </a:prstGeom>
          <a:solidFill>
            <a:srgbClr val="17875A"/>
          </a:solidFill>
          <a:ln/>
        </p:spPr>
      </p:sp>
      <p:pic>
        <p:nvPicPr>
          <p:cNvPr id="35" name="Image 5" descr="preencoded.png">    </p:cNvPr>
          <p:cNvPicPr>
            <a:picLocks noChangeAspect="1"/>
          </p:cNvPicPr>
          <p:nvPr/>
        </p:nvPicPr>
        <p:blipFill>
          <a:blip r:embed="rId6"/>
          <a:stretch>
            <a:fillRect/>
          </a:stretch>
        </p:blipFill>
        <p:spPr>
          <a:xfrm>
            <a:off x="8499348" y="4229100"/>
            <a:ext cx="320040" cy="320040"/>
          </a:xfrm>
          <a:prstGeom prst="rect">
            <a:avLst/>
          </a:prstGeom>
        </p:spPr>
      </p:pic>
      <p:sp>
        <p:nvSpPr>
          <p:cNvPr id="36" name="Text 27"/>
          <p:cNvSpPr txBox="1"/>
          <p:nvPr/>
        </p:nvSpPr>
        <p:spPr>
          <a:xfrm>
            <a:off x="9162288" y="4069080"/>
            <a:ext cx="2377440" cy="640080"/>
          </a:xfrm>
          <a:prstGeom prst="rect">
            <a:avLst/>
          </a:prstGeom>
          <a:noFill/>
          <a:ln/>
        </p:spPr>
        <p:txBody>
          <a:bodyPr wrap="square" lIns="0" tIns="0" rIns="0" bIns="0" rtlCol="0" anchor="ctr"/>
          <a:lstStyle/>
          <a:p>
            <a:pPr indent="0" marL="0">
              <a:buNone/>
            </a:pPr>
            <a:r>
              <a:rPr lang="en-US" sz="2000" b="1" dirty="0">
                <a:solidFill>
                  <a:srgbClr val="12213A"/>
                </a:solidFill>
                <a:latin typeface="Arial" pitchFamily="34" charset="0"/>
                <a:ea typeface="Arial" pitchFamily="34" charset="-122"/>
                <a:cs typeface="Arial" pitchFamily="34" charset="-120"/>
              </a:rPr>
              <a:t>Read the error</a:t>
            </a:r>
            <a:endParaRPr lang="en-US" sz="2000" dirty="0"/>
          </a:p>
        </p:txBody>
      </p:sp>
      <p:sp>
        <p:nvSpPr>
          <p:cNvPr id="37" name="Text 28"/>
          <p:cNvSpPr txBox="1"/>
          <p:nvPr/>
        </p:nvSpPr>
        <p:spPr>
          <a:xfrm>
            <a:off x="8339328" y="4892040"/>
            <a:ext cx="3017520" cy="77724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Permission denied is a clue, not a failure</a:t>
            </a:r>
            <a:endParaRPr lang="en-US" sz="1600" dirty="0"/>
          </a:p>
        </p:txBody>
      </p:sp>
      <p:sp>
        <p:nvSpPr>
          <p:cNvPr id="38" name="Text 29"/>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36 / 79</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Your toolbox</a:t>
            </a:r>
            <a:endParaRPr lang="en-US" sz="3200" dirty="0"/>
          </a:p>
        </p:txBody>
      </p:sp>
      <p:sp>
        <p:nvSpPr>
          <p:cNvPr id="4" name="Shape 1"/>
          <p:cNvSpPr/>
          <p:nvPr/>
        </p:nvSpPr>
        <p:spPr>
          <a:xfrm>
            <a:off x="548640" y="1463040"/>
            <a:ext cx="2331720" cy="960120"/>
          </a:xfrm>
          <a:prstGeom prst="roundRect">
            <a:avLst>
              <a:gd name="adj" fmla="val 9524"/>
            </a:avLst>
          </a:prstGeom>
          <a:solidFill>
            <a:srgbClr val="17875A"/>
          </a:solidFill>
          <a:ln/>
        </p:spPr>
      </p:sp>
      <p:sp>
        <p:nvSpPr>
          <p:cNvPr id="5" name="Text 2"/>
          <p:cNvSpPr txBox="1"/>
          <p:nvPr/>
        </p:nvSpPr>
        <p:spPr>
          <a:xfrm>
            <a:off x="685800" y="1463040"/>
            <a:ext cx="2148840" cy="96012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1  </a:t>
            </a:r>
            <a:pPr indent="0" marL="0">
              <a:buNone/>
            </a:pPr>
            <a:r>
              <a:rPr lang="en-US" sz="1400" b="1" dirty="0">
                <a:solidFill>
                  <a:srgbClr val="FFFFFF"/>
                </a:solidFill>
                <a:latin typeface="Arial" pitchFamily="34" charset="0"/>
                <a:ea typeface="Arial" pitchFamily="34" charset="-122"/>
                <a:cs typeface="Arial" pitchFamily="34" charset="-120"/>
              </a:rPr>
              <a:t>The file system</a:t>
            </a:r>
            <a:endParaRPr lang="en-US" sz="2000" dirty="0"/>
          </a:p>
        </p:txBody>
      </p:sp>
      <p:sp>
        <p:nvSpPr>
          <p:cNvPr id="6" name="Shape 3"/>
          <p:cNvSpPr/>
          <p:nvPr/>
        </p:nvSpPr>
        <p:spPr>
          <a:xfrm>
            <a:off x="3017520" y="1463040"/>
            <a:ext cx="2011680" cy="960120"/>
          </a:xfrm>
          <a:prstGeom prst="roundRect">
            <a:avLst>
              <a:gd name="adj" fmla="val 9524"/>
            </a:avLst>
          </a:prstGeom>
          <a:solidFill>
            <a:srgbClr val="F1F5FB"/>
          </a:solidFill>
          <a:ln/>
        </p:spPr>
      </p:sp>
      <p:sp>
        <p:nvSpPr>
          <p:cNvPr id="7" name="Text 4"/>
          <p:cNvSpPr txBox="1"/>
          <p:nvPr/>
        </p:nvSpPr>
        <p:spPr>
          <a:xfrm>
            <a:off x="3154680" y="1536192"/>
            <a:ext cx="1600200" cy="411480"/>
          </a:xfrm>
          <a:prstGeom prst="rect">
            <a:avLst/>
          </a:prstGeom>
          <a:noFill/>
          <a:ln/>
        </p:spPr>
        <p:txBody>
          <a:bodyPr wrap="square" lIns="0" tIns="0" rIns="0" bIns="0" rtlCol="0" anchor="ctr"/>
          <a:lstStyle/>
          <a:p>
            <a:pPr indent="0" marL="0">
              <a:buNone/>
            </a:pPr>
            <a:r>
              <a:rPr lang="en-US" sz="1500" b="1" dirty="0">
                <a:solidFill>
                  <a:srgbClr val="12213A"/>
                </a:solidFill>
                <a:latin typeface="Courier New" pitchFamily="34" charset="0"/>
                <a:ea typeface="Courier New" pitchFamily="34" charset="-122"/>
                <a:cs typeface="Courier New" pitchFamily="34" charset="-120"/>
              </a:rPr>
              <a:t>pwd  cd  cd ..</a:t>
            </a:r>
            <a:endParaRPr lang="en-US" sz="1500" dirty="0"/>
          </a:p>
        </p:txBody>
      </p:sp>
      <p:sp>
        <p:nvSpPr>
          <p:cNvPr id="8" name="Text 5"/>
          <p:cNvSpPr txBox="1"/>
          <p:nvPr/>
        </p:nvSpPr>
        <p:spPr>
          <a:xfrm>
            <a:off x="3154680" y="1965960"/>
            <a:ext cx="1828800" cy="36576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where am I? move</a:t>
            </a:r>
            <a:endParaRPr lang="en-US" sz="1300" dirty="0"/>
          </a:p>
        </p:txBody>
      </p:sp>
      <p:sp>
        <p:nvSpPr>
          <p:cNvPr id="9" name="Shape 6"/>
          <p:cNvSpPr/>
          <p:nvPr/>
        </p:nvSpPr>
        <p:spPr>
          <a:xfrm>
            <a:off x="5193792" y="1463040"/>
            <a:ext cx="2011680" cy="960120"/>
          </a:xfrm>
          <a:prstGeom prst="roundRect">
            <a:avLst>
              <a:gd name="adj" fmla="val 9524"/>
            </a:avLst>
          </a:prstGeom>
          <a:solidFill>
            <a:srgbClr val="F1F5FB"/>
          </a:solidFill>
          <a:ln/>
        </p:spPr>
      </p:sp>
      <p:sp>
        <p:nvSpPr>
          <p:cNvPr id="10" name="Text 7"/>
          <p:cNvSpPr txBox="1"/>
          <p:nvPr/>
        </p:nvSpPr>
        <p:spPr>
          <a:xfrm>
            <a:off x="5330952" y="1536192"/>
            <a:ext cx="1600200" cy="411480"/>
          </a:xfrm>
          <a:prstGeom prst="rect">
            <a:avLst/>
          </a:prstGeom>
          <a:noFill/>
          <a:ln/>
        </p:spPr>
        <p:txBody>
          <a:bodyPr wrap="square" lIns="0" tIns="0" rIns="0" bIns="0" rtlCol="0" anchor="ctr"/>
          <a:lstStyle/>
          <a:p>
            <a:pPr indent="0" marL="0">
              <a:buNone/>
            </a:pPr>
            <a:r>
              <a:rPr lang="en-US" sz="1500" b="1" dirty="0">
                <a:solidFill>
                  <a:srgbClr val="12213A"/>
                </a:solidFill>
                <a:latin typeface="Courier New" pitchFamily="34" charset="0"/>
                <a:ea typeface="Courier New" pitchFamily="34" charset="-122"/>
                <a:cs typeface="Courier New" pitchFamily="34" charset="-120"/>
              </a:rPr>
              <a:t>ls  ls -a</a:t>
            </a:r>
            <a:endParaRPr lang="en-US" sz="1500" dirty="0"/>
          </a:p>
        </p:txBody>
      </p:sp>
      <p:sp>
        <p:nvSpPr>
          <p:cNvPr id="11" name="Text 8"/>
          <p:cNvSpPr txBox="1"/>
          <p:nvPr/>
        </p:nvSpPr>
        <p:spPr>
          <a:xfrm>
            <a:off x="5330952" y="1965960"/>
            <a:ext cx="1828800" cy="36576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look in folders</a:t>
            </a:r>
            <a:endParaRPr lang="en-US" sz="1300" dirty="0"/>
          </a:p>
        </p:txBody>
      </p:sp>
      <p:sp>
        <p:nvSpPr>
          <p:cNvPr id="12" name="Shape 9"/>
          <p:cNvSpPr/>
          <p:nvPr/>
        </p:nvSpPr>
        <p:spPr>
          <a:xfrm>
            <a:off x="7370064" y="1463040"/>
            <a:ext cx="2011680" cy="960120"/>
          </a:xfrm>
          <a:prstGeom prst="roundRect">
            <a:avLst>
              <a:gd name="adj" fmla="val 9524"/>
            </a:avLst>
          </a:prstGeom>
          <a:solidFill>
            <a:srgbClr val="F1F5FB"/>
          </a:solidFill>
          <a:ln/>
        </p:spPr>
      </p:sp>
      <p:sp>
        <p:nvSpPr>
          <p:cNvPr id="13" name="Text 10"/>
          <p:cNvSpPr txBox="1"/>
          <p:nvPr/>
        </p:nvSpPr>
        <p:spPr>
          <a:xfrm>
            <a:off x="7507224" y="1536192"/>
            <a:ext cx="1600200" cy="411480"/>
          </a:xfrm>
          <a:prstGeom prst="rect">
            <a:avLst/>
          </a:prstGeom>
          <a:noFill/>
          <a:ln/>
        </p:spPr>
        <p:txBody>
          <a:bodyPr wrap="square" lIns="0" tIns="0" rIns="0" bIns="0" rtlCol="0" anchor="ctr"/>
          <a:lstStyle/>
          <a:p>
            <a:pPr indent="0" marL="0">
              <a:buNone/>
            </a:pPr>
            <a:r>
              <a:rPr lang="en-US" sz="1500" b="1" dirty="0">
                <a:solidFill>
                  <a:srgbClr val="12213A"/>
                </a:solidFill>
                <a:latin typeface="Courier New" pitchFamily="34" charset="0"/>
                <a:ea typeface="Courier New" pitchFamily="34" charset="-122"/>
                <a:cs typeface="Courier New" pitchFamily="34" charset="-120"/>
              </a:rPr>
              <a:t>cat</a:t>
            </a:r>
            <a:endParaRPr lang="en-US" sz="1500" dirty="0"/>
          </a:p>
        </p:txBody>
      </p:sp>
      <p:sp>
        <p:nvSpPr>
          <p:cNvPr id="14" name="Text 11"/>
          <p:cNvSpPr txBox="1"/>
          <p:nvPr/>
        </p:nvSpPr>
        <p:spPr>
          <a:xfrm>
            <a:off x="7507224" y="1965960"/>
            <a:ext cx="1828800" cy="36576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look in files</a:t>
            </a:r>
            <a:endParaRPr lang="en-US" sz="1300" dirty="0"/>
          </a:p>
        </p:txBody>
      </p:sp>
      <p:sp>
        <p:nvSpPr>
          <p:cNvPr id="15" name="Shape 12"/>
          <p:cNvSpPr/>
          <p:nvPr/>
        </p:nvSpPr>
        <p:spPr>
          <a:xfrm>
            <a:off x="9546336" y="1463040"/>
            <a:ext cx="2011680" cy="960120"/>
          </a:xfrm>
          <a:prstGeom prst="roundRect">
            <a:avLst>
              <a:gd name="adj" fmla="val 9524"/>
            </a:avLst>
          </a:prstGeom>
          <a:solidFill>
            <a:srgbClr val="F1F5FB"/>
          </a:solidFill>
          <a:ln/>
        </p:spPr>
      </p:sp>
      <p:sp>
        <p:nvSpPr>
          <p:cNvPr id="16" name="Text 13"/>
          <p:cNvSpPr txBox="1"/>
          <p:nvPr/>
        </p:nvSpPr>
        <p:spPr>
          <a:xfrm>
            <a:off x="9683496" y="1536192"/>
            <a:ext cx="1600200" cy="411480"/>
          </a:xfrm>
          <a:prstGeom prst="rect">
            <a:avLst/>
          </a:prstGeom>
          <a:noFill/>
          <a:ln/>
        </p:spPr>
        <p:txBody>
          <a:bodyPr wrap="square" lIns="0" tIns="0" rIns="0" bIns="0" rtlCol="0" anchor="ctr"/>
          <a:lstStyle/>
          <a:p>
            <a:pPr indent="0" marL="0">
              <a:buNone/>
            </a:pPr>
            <a:r>
              <a:rPr lang="en-US" sz="1500" b="1" dirty="0">
                <a:solidFill>
                  <a:srgbClr val="12213A"/>
                </a:solidFill>
                <a:latin typeface="Courier New" pitchFamily="34" charset="0"/>
                <a:ea typeface="Courier New" pitchFamily="34" charset="-122"/>
                <a:cs typeface="Courier New" pitchFamily="34" charset="-120"/>
              </a:rPr>
              <a:t>ls -l  chmod</a:t>
            </a:r>
            <a:endParaRPr lang="en-US" sz="1500" dirty="0"/>
          </a:p>
        </p:txBody>
      </p:sp>
      <p:sp>
        <p:nvSpPr>
          <p:cNvPr id="17" name="Text 14"/>
          <p:cNvSpPr txBox="1"/>
          <p:nvPr/>
        </p:nvSpPr>
        <p:spPr>
          <a:xfrm>
            <a:off x="9683496" y="1965960"/>
            <a:ext cx="1828800" cy="36576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permissions</a:t>
            </a:r>
            <a:endParaRPr lang="en-US" sz="1300" dirty="0"/>
          </a:p>
        </p:txBody>
      </p:sp>
      <p:sp>
        <p:nvSpPr>
          <p:cNvPr id="18" name="Shape 15"/>
          <p:cNvSpPr/>
          <p:nvPr/>
        </p:nvSpPr>
        <p:spPr>
          <a:xfrm>
            <a:off x="548640" y="2560320"/>
            <a:ext cx="2331720" cy="960120"/>
          </a:xfrm>
          <a:prstGeom prst="roundRect">
            <a:avLst>
              <a:gd name="adj" fmla="val 9524"/>
            </a:avLst>
          </a:prstGeom>
          <a:solidFill>
            <a:srgbClr val="2A9FD6"/>
          </a:solidFill>
          <a:ln/>
        </p:spPr>
      </p:sp>
      <p:sp>
        <p:nvSpPr>
          <p:cNvPr id="19" name="Text 16"/>
          <p:cNvSpPr txBox="1"/>
          <p:nvPr/>
        </p:nvSpPr>
        <p:spPr>
          <a:xfrm>
            <a:off x="685800" y="2560320"/>
            <a:ext cx="2148840" cy="96012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2  </a:t>
            </a:r>
            <a:pPr indent="0" marL="0">
              <a:buNone/>
            </a:pPr>
            <a:r>
              <a:rPr lang="en-US" sz="1400" b="1" dirty="0">
                <a:solidFill>
                  <a:srgbClr val="FFFFFF"/>
                </a:solidFill>
                <a:latin typeface="Arial" pitchFamily="34" charset="0"/>
                <a:ea typeface="Arial" pitchFamily="34" charset="-122"/>
                <a:cs typeface="Arial" pitchFamily="34" charset="-120"/>
              </a:rPr>
              <a:t>Learning any command</a:t>
            </a:r>
            <a:endParaRPr lang="en-US" sz="2000" dirty="0"/>
          </a:p>
        </p:txBody>
      </p:sp>
      <p:sp>
        <p:nvSpPr>
          <p:cNvPr id="20" name="Shape 17"/>
          <p:cNvSpPr/>
          <p:nvPr/>
        </p:nvSpPr>
        <p:spPr>
          <a:xfrm>
            <a:off x="3017520" y="2560320"/>
            <a:ext cx="2011680" cy="960120"/>
          </a:xfrm>
          <a:prstGeom prst="roundRect">
            <a:avLst>
              <a:gd name="adj" fmla="val 9524"/>
            </a:avLst>
          </a:prstGeom>
          <a:solidFill>
            <a:srgbClr val="F1F5FB"/>
          </a:solidFill>
          <a:ln/>
        </p:spPr>
      </p:sp>
      <p:sp>
        <p:nvSpPr>
          <p:cNvPr id="21" name="Text 18"/>
          <p:cNvSpPr txBox="1"/>
          <p:nvPr/>
        </p:nvSpPr>
        <p:spPr>
          <a:xfrm>
            <a:off x="3154680" y="2633472"/>
            <a:ext cx="1600200" cy="411480"/>
          </a:xfrm>
          <a:prstGeom prst="rect">
            <a:avLst/>
          </a:prstGeom>
          <a:noFill/>
          <a:ln/>
        </p:spPr>
        <p:txBody>
          <a:bodyPr wrap="square" lIns="0" tIns="0" rIns="0" bIns="0" rtlCol="0" anchor="ctr"/>
          <a:lstStyle/>
          <a:p>
            <a:pPr indent="0" marL="0">
              <a:buNone/>
            </a:pPr>
            <a:r>
              <a:rPr lang="en-US" sz="1500" b="1" dirty="0">
                <a:solidFill>
                  <a:srgbClr val="12213A"/>
                </a:solidFill>
                <a:latin typeface="Courier New" pitchFamily="34" charset="0"/>
                <a:ea typeface="Courier New" pitchFamily="34" charset="-122"/>
                <a:cs typeface="Courier New" pitchFamily="34" charset="-120"/>
              </a:rPr>
              <a:t>--help</a:t>
            </a:r>
            <a:endParaRPr lang="en-US" sz="1500" dirty="0"/>
          </a:p>
        </p:txBody>
      </p:sp>
      <p:sp>
        <p:nvSpPr>
          <p:cNvPr id="22" name="Text 19"/>
          <p:cNvSpPr txBox="1"/>
          <p:nvPr/>
        </p:nvSpPr>
        <p:spPr>
          <a:xfrm>
            <a:off x="3154680" y="3063240"/>
            <a:ext cx="1828800" cy="36576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learn any command</a:t>
            </a:r>
            <a:endParaRPr lang="en-US" sz="1300" dirty="0"/>
          </a:p>
        </p:txBody>
      </p:sp>
      <p:sp>
        <p:nvSpPr>
          <p:cNvPr id="23" name="Shape 20"/>
          <p:cNvSpPr/>
          <p:nvPr/>
        </p:nvSpPr>
        <p:spPr>
          <a:xfrm>
            <a:off x="5193792" y="2560320"/>
            <a:ext cx="2011680" cy="960120"/>
          </a:xfrm>
          <a:prstGeom prst="roundRect">
            <a:avLst>
              <a:gd name="adj" fmla="val 9524"/>
            </a:avLst>
          </a:prstGeom>
          <a:solidFill>
            <a:srgbClr val="F1F5FB"/>
          </a:solidFill>
          <a:ln/>
        </p:spPr>
      </p:sp>
      <p:sp>
        <p:nvSpPr>
          <p:cNvPr id="24" name="Text 21"/>
          <p:cNvSpPr txBox="1"/>
          <p:nvPr/>
        </p:nvSpPr>
        <p:spPr>
          <a:xfrm>
            <a:off x="5330952" y="2633472"/>
            <a:ext cx="1600200" cy="411480"/>
          </a:xfrm>
          <a:prstGeom prst="rect">
            <a:avLst/>
          </a:prstGeom>
          <a:noFill/>
          <a:ln/>
        </p:spPr>
        <p:txBody>
          <a:bodyPr wrap="square" lIns="0" tIns="0" rIns="0" bIns="0" rtlCol="0" anchor="ctr"/>
          <a:lstStyle/>
          <a:p>
            <a:pPr indent="0" marL="0">
              <a:buNone/>
            </a:pPr>
            <a:r>
              <a:rPr lang="en-US" sz="1500" b="1" dirty="0">
                <a:solidFill>
                  <a:srgbClr val="12213A"/>
                </a:solidFill>
                <a:latin typeface="Courier New" pitchFamily="34" charset="0"/>
                <a:ea typeface="Courier New" pitchFamily="34" charset="-122"/>
                <a:cs typeface="Courier New" pitchFamily="34" charset="-120"/>
              </a:rPr>
              <a:t>man  apropos</a:t>
            </a:r>
            <a:endParaRPr lang="en-US" sz="1500" dirty="0"/>
          </a:p>
        </p:txBody>
      </p:sp>
      <p:sp>
        <p:nvSpPr>
          <p:cNvPr id="25" name="Text 22"/>
          <p:cNvSpPr txBox="1"/>
          <p:nvPr/>
        </p:nvSpPr>
        <p:spPr>
          <a:xfrm>
            <a:off x="5330952" y="3063240"/>
            <a:ext cx="1828800" cy="36576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the manual; find by job</a:t>
            </a:r>
            <a:endParaRPr lang="en-US" sz="1300" dirty="0"/>
          </a:p>
        </p:txBody>
      </p:sp>
      <p:sp>
        <p:nvSpPr>
          <p:cNvPr id="26" name="Shape 23"/>
          <p:cNvSpPr/>
          <p:nvPr/>
        </p:nvSpPr>
        <p:spPr>
          <a:xfrm>
            <a:off x="7370064" y="2560320"/>
            <a:ext cx="2011680" cy="960120"/>
          </a:xfrm>
          <a:prstGeom prst="roundRect">
            <a:avLst>
              <a:gd name="adj" fmla="val 9524"/>
            </a:avLst>
          </a:prstGeom>
          <a:solidFill>
            <a:srgbClr val="F1F5FB"/>
          </a:solidFill>
          <a:ln/>
        </p:spPr>
      </p:sp>
      <p:sp>
        <p:nvSpPr>
          <p:cNvPr id="27" name="Text 24"/>
          <p:cNvSpPr txBox="1"/>
          <p:nvPr/>
        </p:nvSpPr>
        <p:spPr>
          <a:xfrm>
            <a:off x="7507224" y="2633472"/>
            <a:ext cx="1600200" cy="411480"/>
          </a:xfrm>
          <a:prstGeom prst="rect">
            <a:avLst/>
          </a:prstGeom>
          <a:noFill/>
          <a:ln/>
        </p:spPr>
        <p:txBody>
          <a:bodyPr wrap="square" lIns="0" tIns="0" rIns="0" bIns="0" rtlCol="0" anchor="ctr"/>
          <a:lstStyle/>
          <a:p>
            <a:pPr indent="0" marL="0">
              <a:buNone/>
            </a:pPr>
            <a:r>
              <a:rPr lang="en-US" sz="1500" b="1" dirty="0">
                <a:solidFill>
                  <a:srgbClr val="12213A"/>
                </a:solidFill>
                <a:latin typeface="Courier New" pitchFamily="34" charset="0"/>
                <a:ea typeface="Courier New" pitchFamily="34" charset="-122"/>
                <a:cs typeface="Courier New" pitchFamily="34" charset="-120"/>
              </a:rPr>
              <a:t>Tab</a:t>
            </a:r>
            <a:endParaRPr lang="en-US" sz="1500" dirty="0"/>
          </a:p>
        </p:txBody>
      </p:sp>
      <p:sp>
        <p:nvSpPr>
          <p:cNvPr id="28" name="Text 25"/>
          <p:cNvSpPr txBox="1"/>
          <p:nvPr/>
        </p:nvSpPr>
        <p:spPr>
          <a:xfrm>
            <a:off x="7507224" y="3063240"/>
            <a:ext cx="1828800" cy="36576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finish names</a:t>
            </a:r>
            <a:endParaRPr lang="en-US" sz="1300" dirty="0"/>
          </a:p>
        </p:txBody>
      </p:sp>
      <p:sp>
        <p:nvSpPr>
          <p:cNvPr id="29" name="Shape 26"/>
          <p:cNvSpPr/>
          <p:nvPr/>
        </p:nvSpPr>
        <p:spPr>
          <a:xfrm>
            <a:off x="548640" y="3657600"/>
            <a:ext cx="2331720" cy="960120"/>
          </a:xfrm>
          <a:prstGeom prst="roundRect">
            <a:avLst>
              <a:gd name="adj" fmla="val 9524"/>
            </a:avLst>
          </a:prstGeom>
          <a:solidFill>
            <a:srgbClr val="7448D4"/>
          </a:solidFill>
          <a:ln/>
        </p:spPr>
      </p:sp>
      <p:sp>
        <p:nvSpPr>
          <p:cNvPr id="30" name="Text 27"/>
          <p:cNvSpPr txBox="1"/>
          <p:nvPr/>
        </p:nvSpPr>
        <p:spPr>
          <a:xfrm>
            <a:off x="685800" y="3657600"/>
            <a:ext cx="2148840" cy="96012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3  </a:t>
            </a:r>
            <a:pPr indent="0" marL="0">
              <a:buNone/>
            </a:pPr>
            <a:r>
              <a:rPr lang="en-US" sz="1400" b="1" dirty="0">
                <a:solidFill>
                  <a:srgbClr val="FFFFFF"/>
                </a:solidFill>
                <a:latin typeface="Arial" pitchFamily="34" charset="0"/>
                <a:ea typeface="Arial" pitchFamily="34" charset="-122"/>
                <a:cs typeface="Arial" pitchFamily="34" charset="-120"/>
              </a:rPr>
              <a:t>Searching</a:t>
            </a:r>
            <a:endParaRPr lang="en-US" sz="2000" dirty="0"/>
          </a:p>
        </p:txBody>
      </p:sp>
      <p:sp>
        <p:nvSpPr>
          <p:cNvPr id="31" name="Shape 28"/>
          <p:cNvSpPr/>
          <p:nvPr/>
        </p:nvSpPr>
        <p:spPr>
          <a:xfrm>
            <a:off x="3017520" y="3657600"/>
            <a:ext cx="2011680" cy="960120"/>
          </a:xfrm>
          <a:prstGeom prst="roundRect">
            <a:avLst>
              <a:gd name="adj" fmla="val 9524"/>
            </a:avLst>
          </a:prstGeom>
          <a:solidFill>
            <a:srgbClr val="F1F5FB"/>
          </a:solidFill>
          <a:ln/>
        </p:spPr>
      </p:sp>
      <p:sp>
        <p:nvSpPr>
          <p:cNvPr id="32" name="Text 29"/>
          <p:cNvSpPr txBox="1"/>
          <p:nvPr/>
        </p:nvSpPr>
        <p:spPr>
          <a:xfrm>
            <a:off x="3154680" y="3730752"/>
            <a:ext cx="1600200" cy="411480"/>
          </a:xfrm>
          <a:prstGeom prst="rect">
            <a:avLst/>
          </a:prstGeom>
          <a:noFill/>
          <a:ln/>
        </p:spPr>
        <p:txBody>
          <a:bodyPr wrap="square" lIns="0" tIns="0" rIns="0" bIns="0" rtlCol="0" anchor="ctr"/>
          <a:lstStyle/>
          <a:p>
            <a:pPr indent="0" marL="0">
              <a:buNone/>
            </a:pPr>
            <a:r>
              <a:rPr lang="en-US" sz="1500" b="1" dirty="0">
                <a:solidFill>
                  <a:srgbClr val="12213A"/>
                </a:solidFill>
                <a:latin typeface="Courier New" pitchFamily="34" charset="0"/>
                <a:ea typeface="Courier New" pitchFamily="34" charset="-122"/>
                <a:cs typeface="Courier New" pitchFamily="34" charset="-120"/>
              </a:rPr>
              <a:t>find</a:t>
            </a:r>
            <a:endParaRPr lang="en-US" sz="1500" dirty="0"/>
          </a:p>
        </p:txBody>
      </p:sp>
      <p:sp>
        <p:nvSpPr>
          <p:cNvPr id="33" name="Text 30"/>
          <p:cNvSpPr txBox="1"/>
          <p:nvPr/>
        </p:nvSpPr>
        <p:spPr>
          <a:xfrm>
            <a:off x="3154680" y="4160520"/>
            <a:ext cx="1828800" cy="36576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search by name</a:t>
            </a:r>
            <a:endParaRPr lang="en-US" sz="1300" dirty="0"/>
          </a:p>
        </p:txBody>
      </p:sp>
      <p:sp>
        <p:nvSpPr>
          <p:cNvPr id="34" name="Shape 31"/>
          <p:cNvSpPr/>
          <p:nvPr/>
        </p:nvSpPr>
        <p:spPr>
          <a:xfrm>
            <a:off x="5193792" y="3657600"/>
            <a:ext cx="2011680" cy="960120"/>
          </a:xfrm>
          <a:prstGeom prst="roundRect">
            <a:avLst>
              <a:gd name="adj" fmla="val 9524"/>
            </a:avLst>
          </a:prstGeom>
          <a:solidFill>
            <a:srgbClr val="F1F5FB"/>
          </a:solidFill>
          <a:ln/>
        </p:spPr>
      </p:sp>
      <p:sp>
        <p:nvSpPr>
          <p:cNvPr id="35" name="Text 32"/>
          <p:cNvSpPr txBox="1"/>
          <p:nvPr/>
        </p:nvSpPr>
        <p:spPr>
          <a:xfrm>
            <a:off x="5330952" y="3730752"/>
            <a:ext cx="1600200" cy="411480"/>
          </a:xfrm>
          <a:prstGeom prst="rect">
            <a:avLst/>
          </a:prstGeom>
          <a:noFill/>
          <a:ln/>
        </p:spPr>
        <p:txBody>
          <a:bodyPr wrap="square" lIns="0" tIns="0" rIns="0" bIns="0" rtlCol="0" anchor="ctr"/>
          <a:lstStyle/>
          <a:p>
            <a:pPr indent="0" marL="0">
              <a:buNone/>
            </a:pPr>
            <a:r>
              <a:rPr lang="en-US" sz="1500" b="1" dirty="0">
                <a:solidFill>
                  <a:srgbClr val="12213A"/>
                </a:solidFill>
                <a:latin typeface="Courier New" pitchFamily="34" charset="0"/>
                <a:ea typeface="Courier New" pitchFamily="34" charset="-122"/>
                <a:cs typeface="Courier New" pitchFamily="34" charset="-120"/>
              </a:rPr>
              <a:t>grep</a:t>
            </a:r>
            <a:endParaRPr lang="en-US" sz="1500" dirty="0"/>
          </a:p>
        </p:txBody>
      </p:sp>
      <p:sp>
        <p:nvSpPr>
          <p:cNvPr id="36" name="Text 33"/>
          <p:cNvSpPr txBox="1"/>
          <p:nvPr/>
        </p:nvSpPr>
        <p:spPr>
          <a:xfrm>
            <a:off x="5330952" y="4160520"/>
            <a:ext cx="1828800" cy="36576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search inside</a:t>
            </a:r>
            <a:endParaRPr lang="en-US" sz="1300" dirty="0"/>
          </a:p>
        </p:txBody>
      </p:sp>
      <p:sp>
        <p:nvSpPr>
          <p:cNvPr id="37" name="Shape 34"/>
          <p:cNvSpPr/>
          <p:nvPr/>
        </p:nvSpPr>
        <p:spPr>
          <a:xfrm>
            <a:off x="7370064" y="3657600"/>
            <a:ext cx="2011680" cy="960120"/>
          </a:xfrm>
          <a:prstGeom prst="roundRect">
            <a:avLst>
              <a:gd name="adj" fmla="val 9524"/>
            </a:avLst>
          </a:prstGeom>
          <a:solidFill>
            <a:srgbClr val="F1F5FB"/>
          </a:solidFill>
          <a:ln/>
        </p:spPr>
      </p:sp>
      <p:sp>
        <p:nvSpPr>
          <p:cNvPr id="38" name="Text 35"/>
          <p:cNvSpPr txBox="1"/>
          <p:nvPr/>
        </p:nvSpPr>
        <p:spPr>
          <a:xfrm>
            <a:off x="7507224" y="3730752"/>
            <a:ext cx="1600200" cy="411480"/>
          </a:xfrm>
          <a:prstGeom prst="rect">
            <a:avLst/>
          </a:prstGeom>
          <a:noFill/>
          <a:ln/>
        </p:spPr>
        <p:txBody>
          <a:bodyPr wrap="square" lIns="0" tIns="0" rIns="0" bIns="0" rtlCol="0" anchor="ctr"/>
          <a:lstStyle/>
          <a:p>
            <a:pPr indent="0" marL="0">
              <a:buNone/>
            </a:pPr>
            <a:r>
              <a:rPr lang="en-US" sz="1500" b="1" dirty="0">
                <a:solidFill>
                  <a:srgbClr val="12213A"/>
                </a:solidFill>
                <a:latin typeface="Courier New" pitchFamily="34" charset="0"/>
                <a:ea typeface="Courier New" pitchFamily="34" charset="-122"/>
                <a:cs typeface="Courier New" pitchFamily="34" charset="-120"/>
              </a:rPr>
              <a:t>head  wc  |</a:t>
            </a:r>
            <a:endParaRPr lang="en-US" sz="1500" dirty="0"/>
          </a:p>
        </p:txBody>
      </p:sp>
      <p:sp>
        <p:nvSpPr>
          <p:cNvPr id="39" name="Text 36"/>
          <p:cNvSpPr txBox="1"/>
          <p:nvPr/>
        </p:nvSpPr>
        <p:spPr>
          <a:xfrm>
            <a:off x="7507224" y="4160520"/>
            <a:ext cx="1828800" cy="36576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peek, count, chain</a:t>
            </a:r>
            <a:endParaRPr lang="en-US" sz="1300" dirty="0"/>
          </a:p>
        </p:txBody>
      </p:sp>
      <p:sp>
        <p:nvSpPr>
          <p:cNvPr id="40" name="Shape 37"/>
          <p:cNvSpPr/>
          <p:nvPr/>
        </p:nvSpPr>
        <p:spPr>
          <a:xfrm>
            <a:off x="9546336" y="3657600"/>
            <a:ext cx="2011680" cy="960120"/>
          </a:xfrm>
          <a:prstGeom prst="roundRect">
            <a:avLst>
              <a:gd name="adj" fmla="val 9524"/>
            </a:avLst>
          </a:prstGeom>
          <a:solidFill>
            <a:srgbClr val="F1F5FB"/>
          </a:solidFill>
          <a:ln/>
        </p:spPr>
      </p:sp>
      <p:sp>
        <p:nvSpPr>
          <p:cNvPr id="41" name="Text 38"/>
          <p:cNvSpPr txBox="1"/>
          <p:nvPr/>
        </p:nvSpPr>
        <p:spPr>
          <a:xfrm>
            <a:off x="9683496" y="3730752"/>
            <a:ext cx="1600200" cy="411480"/>
          </a:xfrm>
          <a:prstGeom prst="rect">
            <a:avLst/>
          </a:prstGeom>
          <a:noFill/>
          <a:ln/>
        </p:spPr>
        <p:txBody>
          <a:bodyPr wrap="square" lIns="0" tIns="0" rIns="0" bIns="0" rtlCol="0" anchor="ctr"/>
          <a:lstStyle/>
          <a:p>
            <a:pPr indent="0" marL="0">
              <a:buNone/>
            </a:pPr>
            <a:r>
              <a:rPr lang="en-US" sz="1500" b="1" dirty="0">
                <a:solidFill>
                  <a:srgbClr val="12213A"/>
                </a:solidFill>
                <a:latin typeface="Courier New" pitchFamily="34" charset="0"/>
                <a:ea typeface="Courier New" pitchFamily="34" charset="-122"/>
                <a:cs typeface="Courier New" pitchFamily="34" charset="-120"/>
              </a:rPr>
              <a:t>sort  uniq  cut</a:t>
            </a:r>
            <a:endParaRPr lang="en-US" sz="1500" dirty="0"/>
          </a:p>
        </p:txBody>
      </p:sp>
      <p:sp>
        <p:nvSpPr>
          <p:cNvPr id="42" name="Text 39"/>
          <p:cNvSpPr txBox="1"/>
          <p:nvPr/>
        </p:nvSpPr>
        <p:spPr>
          <a:xfrm>
            <a:off x="9683496" y="4160520"/>
            <a:ext cx="1828800" cy="36576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sort, count, slice</a:t>
            </a:r>
            <a:endParaRPr lang="en-US" sz="1300" dirty="0"/>
          </a:p>
        </p:txBody>
      </p:sp>
      <p:sp>
        <p:nvSpPr>
          <p:cNvPr id="43" name="Shape 40"/>
          <p:cNvSpPr/>
          <p:nvPr/>
        </p:nvSpPr>
        <p:spPr>
          <a:xfrm>
            <a:off x="548640" y="4754880"/>
            <a:ext cx="2331720" cy="960120"/>
          </a:xfrm>
          <a:prstGeom prst="roundRect">
            <a:avLst>
              <a:gd name="adj" fmla="val 9524"/>
            </a:avLst>
          </a:prstGeom>
          <a:solidFill>
            <a:srgbClr val="E8820C"/>
          </a:solidFill>
          <a:ln/>
        </p:spPr>
      </p:sp>
      <p:sp>
        <p:nvSpPr>
          <p:cNvPr id="44" name="Text 41"/>
          <p:cNvSpPr txBox="1"/>
          <p:nvPr/>
        </p:nvSpPr>
        <p:spPr>
          <a:xfrm>
            <a:off x="685800" y="4754880"/>
            <a:ext cx="2148840" cy="96012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4  </a:t>
            </a:r>
            <a:pPr indent="0" marL="0">
              <a:buNone/>
            </a:pPr>
            <a:r>
              <a:rPr lang="en-US" sz="1400" b="1" dirty="0">
                <a:solidFill>
                  <a:srgbClr val="FFFFFF"/>
                </a:solidFill>
                <a:latin typeface="Arial" pitchFamily="34" charset="0"/>
                <a:ea typeface="Arial" pitchFamily="34" charset="-122"/>
                <a:cs typeface="Arial" pitchFamily="34" charset="-120"/>
              </a:rPr>
              <a:t>Text power tools</a:t>
            </a:r>
            <a:endParaRPr lang="en-US" sz="2000" dirty="0"/>
          </a:p>
        </p:txBody>
      </p:sp>
      <p:sp>
        <p:nvSpPr>
          <p:cNvPr id="45" name="Shape 42"/>
          <p:cNvSpPr/>
          <p:nvPr/>
        </p:nvSpPr>
        <p:spPr>
          <a:xfrm>
            <a:off x="3017520" y="4754880"/>
            <a:ext cx="2011680" cy="960120"/>
          </a:xfrm>
          <a:prstGeom prst="roundRect">
            <a:avLst>
              <a:gd name="adj" fmla="val 9524"/>
            </a:avLst>
          </a:prstGeom>
          <a:solidFill>
            <a:srgbClr val="F1F5FB"/>
          </a:solidFill>
          <a:ln/>
        </p:spPr>
      </p:sp>
      <p:sp>
        <p:nvSpPr>
          <p:cNvPr id="46" name="Text 43"/>
          <p:cNvSpPr txBox="1"/>
          <p:nvPr/>
        </p:nvSpPr>
        <p:spPr>
          <a:xfrm>
            <a:off x="3154680" y="4828032"/>
            <a:ext cx="1600200" cy="411480"/>
          </a:xfrm>
          <a:prstGeom prst="rect">
            <a:avLst/>
          </a:prstGeom>
          <a:noFill/>
          <a:ln/>
        </p:spPr>
        <p:txBody>
          <a:bodyPr wrap="square" lIns="0" tIns="0" rIns="0" bIns="0" rtlCol="0" anchor="ctr"/>
          <a:lstStyle/>
          <a:p>
            <a:pPr indent="0" marL="0">
              <a:buNone/>
            </a:pPr>
            <a:r>
              <a:rPr lang="en-US" sz="1500" b="1" dirty="0">
                <a:solidFill>
                  <a:srgbClr val="12213A"/>
                </a:solidFill>
                <a:latin typeface="Courier New" pitchFamily="34" charset="0"/>
                <a:ea typeface="Courier New" pitchFamily="34" charset="-122"/>
                <a:cs typeface="Courier New" pitchFamily="34" charset="-120"/>
              </a:rPr>
              <a:t>sed 's///g'</a:t>
            </a:r>
            <a:endParaRPr lang="en-US" sz="1500" dirty="0"/>
          </a:p>
        </p:txBody>
      </p:sp>
      <p:sp>
        <p:nvSpPr>
          <p:cNvPr id="47" name="Text 44"/>
          <p:cNvSpPr txBox="1"/>
          <p:nvPr/>
        </p:nvSpPr>
        <p:spPr>
          <a:xfrm>
            <a:off x="3154680" y="5257800"/>
            <a:ext cx="1828800" cy="36576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find &amp; replace</a:t>
            </a:r>
            <a:endParaRPr lang="en-US" sz="1300" dirty="0"/>
          </a:p>
        </p:txBody>
      </p:sp>
      <p:sp>
        <p:nvSpPr>
          <p:cNvPr id="48" name="Shape 45"/>
          <p:cNvSpPr/>
          <p:nvPr/>
        </p:nvSpPr>
        <p:spPr>
          <a:xfrm>
            <a:off x="5193792" y="4754880"/>
            <a:ext cx="2011680" cy="960120"/>
          </a:xfrm>
          <a:prstGeom prst="roundRect">
            <a:avLst>
              <a:gd name="adj" fmla="val 9524"/>
            </a:avLst>
          </a:prstGeom>
          <a:solidFill>
            <a:srgbClr val="F1F5FB"/>
          </a:solidFill>
          <a:ln/>
        </p:spPr>
      </p:sp>
      <p:sp>
        <p:nvSpPr>
          <p:cNvPr id="49" name="Text 46"/>
          <p:cNvSpPr txBox="1"/>
          <p:nvPr/>
        </p:nvSpPr>
        <p:spPr>
          <a:xfrm>
            <a:off x="5330952" y="4828032"/>
            <a:ext cx="1600200" cy="411480"/>
          </a:xfrm>
          <a:prstGeom prst="rect">
            <a:avLst/>
          </a:prstGeom>
          <a:noFill/>
          <a:ln/>
        </p:spPr>
        <p:txBody>
          <a:bodyPr wrap="square" lIns="0" tIns="0" rIns="0" bIns="0" rtlCol="0" anchor="ctr"/>
          <a:lstStyle/>
          <a:p>
            <a:pPr indent="0" marL="0">
              <a:buNone/>
            </a:pPr>
            <a:r>
              <a:rPr lang="en-US" sz="1500" b="1" dirty="0">
                <a:solidFill>
                  <a:srgbClr val="12213A"/>
                </a:solidFill>
                <a:latin typeface="Courier New" pitchFamily="34" charset="0"/>
                <a:ea typeface="Courier New" pitchFamily="34" charset="-122"/>
                <a:cs typeface="Courier New" pitchFamily="34" charset="-120"/>
              </a:rPr>
              <a:t>awk  &gt;  forge</a:t>
            </a:r>
            <a:endParaRPr lang="en-US" sz="1500" dirty="0"/>
          </a:p>
        </p:txBody>
      </p:sp>
      <p:sp>
        <p:nvSpPr>
          <p:cNvPr id="50" name="Text 47"/>
          <p:cNvSpPr txBox="1"/>
          <p:nvPr/>
        </p:nvSpPr>
        <p:spPr>
          <a:xfrm>
            <a:off x="5330952" y="5257800"/>
            <a:ext cx="1828800" cy="36576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pull &amp; forge</a:t>
            </a:r>
            <a:endParaRPr lang="en-US" sz="1300" dirty="0"/>
          </a:p>
        </p:txBody>
      </p:sp>
      <p:sp>
        <p:nvSpPr>
          <p:cNvPr id="51" name="Text 48"/>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37 / 79</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48640" y="640080"/>
            <a:ext cx="2103120" cy="3108960"/>
          </a:xfrm>
          <a:prstGeom prst="rect">
            <a:avLst/>
          </a:prstGeom>
          <a:noFill/>
          <a:ln/>
        </p:spPr>
        <p:txBody>
          <a:bodyPr wrap="square" lIns="0" tIns="0" rIns="0" bIns="0" rtlCol="0" anchor="ctr"/>
          <a:lstStyle/>
          <a:p>
            <a:pPr indent="0" marL="0">
              <a:buNone/>
            </a:pPr>
            <a:r>
              <a:rPr lang="en-US" sz="23000" b="1" dirty="0">
                <a:solidFill>
                  <a:srgbClr val="7448D4"/>
                </a:solidFill>
                <a:latin typeface="Arial" pitchFamily="34" charset="0"/>
                <a:ea typeface="Arial" pitchFamily="34" charset="-122"/>
                <a:cs typeface="Arial" pitchFamily="34" charset="-120"/>
              </a:rPr>
              <a:t>3</a:t>
            </a:r>
            <a:endParaRPr lang="en-US" sz="23000" dirty="0"/>
          </a:p>
        </p:txBody>
      </p:sp>
      <p:sp>
        <p:nvSpPr>
          <p:cNvPr id="3" name="Text 1"/>
          <p:cNvSpPr txBox="1"/>
          <p:nvPr/>
        </p:nvSpPr>
        <p:spPr>
          <a:xfrm>
            <a:off x="2743200" y="640080"/>
            <a:ext cx="6949440" cy="3108960"/>
          </a:xfrm>
          <a:prstGeom prst="rect">
            <a:avLst/>
          </a:prstGeom>
          <a:noFill/>
          <a:ln/>
        </p:spPr>
        <p:txBody>
          <a:bodyPr wrap="square" lIns="0" tIns="0" rIns="0" bIns="0" rtlCol="0" anchor="ctr">
            <a:normAutofit/>
          </a:bodyPr>
          <a:lstStyle/>
          <a:p>
            <a:pPr indent="0" marL="0">
              <a:buNone/>
            </a:pPr>
            <a:r>
              <a:rPr lang="en-US" sz="5600" b="1" dirty="0">
                <a:solidFill>
                  <a:srgbClr val="12213A"/>
                </a:solidFill>
                <a:latin typeface="Arial" pitchFamily="34" charset="0"/>
                <a:ea typeface="Arial" pitchFamily="34" charset="-122"/>
                <a:cs typeface="Arial" pitchFamily="34" charset="-120"/>
              </a:rPr>
              <a:t>Capture a flag</a:t>
            </a:r>
            <a:endParaRPr lang="en-US" sz="5600" dirty="0"/>
          </a:p>
        </p:txBody>
      </p:sp>
      <p:sp>
        <p:nvSpPr>
          <p:cNvPr id="4" name="Shape 2"/>
          <p:cNvSpPr/>
          <p:nvPr/>
        </p:nvSpPr>
        <p:spPr>
          <a:xfrm>
            <a:off x="548640" y="5074920"/>
            <a:ext cx="6492240" cy="731520"/>
          </a:xfrm>
          <a:prstGeom prst="roundRect">
            <a:avLst>
              <a:gd name="adj" fmla="val 12500"/>
            </a:avLst>
          </a:prstGeom>
          <a:solidFill>
            <a:srgbClr val="0E1726"/>
          </a:solidFill>
          <a:ln/>
          <a:effectLst>
            <a:outerShdw sx="100000" sy="100000" kx="0" ky="0" algn="bl" rotWithShape="0" blurRad="101600" dist="25400" dir="5400000">
              <a:srgbClr val="6E86AE">
                <a:alpha val="35000"/>
              </a:srgbClr>
            </a:outerShdw>
          </a:effectLst>
        </p:spPr>
      </p:sp>
      <p:sp>
        <p:nvSpPr>
          <p:cNvPr id="5" name="Text 3"/>
          <p:cNvSpPr txBox="1"/>
          <p:nvPr/>
        </p:nvSpPr>
        <p:spPr>
          <a:xfrm>
            <a:off x="822960" y="5074920"/>
            <a:ext cx="6035040" cy="731520"/>
          </a:xfrm>
          <a:prstGeom prst="rect">
            <a:avLst/>
          </a:prstGeom>
          <a:noFill/>
          <a:ln/>
        </p:spPr>
        <p:txBody>
          <a:bodyPr wrap="square" lIns="0" tIns="0" rIns="0" bIns="0" rtlCol="0" anchor="ctr">
            <a:normAutofit/>
          </a:bodyPr>
          <a:lstStyle/>
          <a:p>
            <a:pPr indent="0" marL="0">
              <a:buNone/>
            </a:pPr>
            <a:r>
              <a:rPr lang="en-US" sz="1800" b="1" dirty="0">
                <a:solidFill>
                  <a:srgbClr val="46D39A"/>
                </a:solidFill>
                <a:latin typeface="Courier New" pitchFamily="34" charset="0"/>
                <a:ea typeface="Courier New" pitchFamily="34" charset="-122"/>
                <a:cs typeface="Courier New" pitchFamily="34" charset="-120"/>
              </a:rPr>
              <a:t>$ </a:t>
            </a:r>
            <a:pPr indent="0" marL="0">
              <a:buNone/>
            </a:pPr>
            <a:r>
              <a:rPr lang="en-US" sz="1800" b="1" dirty="0">
                <a:solidFill>
                  <a:srgbClr val="FFFFFF"/>
                </a:solidFill>
                <a:latin typeface="Courier New" pitchFamily="34" charset="0"/>
                <a:ea typeface="Courier New" pitchFamily="34" charset="-122"/>
                <a:cs typeface="Courier New" pitchFamily="34" charset="-120"/>
              </a:rPr>
              <a:t>./capture   # read, try, check, repeat</a:t>
            </a:r>
            <a:endParaRPr lang="en-US" sz="1800" dirty="0"/>
          </a:p>
        </p:txBody>
      </p:sp>
      <p:sp>
        <p:nvSpPr>
          <p:cNvPr id="7" name="Text 4"/>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38 / 79</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How we'll work through it</a:t>
            </a:r>
            <a:endParaRPr lang="en-US" sz="3200" dirty="0"/>
          </a:p>
        </p:txBody>
      </p:sp>
      <p:sp>
        <p:nvSpPr>
          <p:cNvPr id="4" name="Shape 1"/>
          <p:cNvSpPr/>
          <p:nvPr/>
        </p:nvSpPr>
        <p:spPr>
          <a:xfrm>
            <a:off x="548640" y="2651760"/>
            <a:ext cx="1691640" cy="2331720"/>
          </a:xfrm>
          <a:prstGeom prst="roundRect">
            <a:avLst>
              <a:gd name="adj" fmla="val 6486"/>
            </a:avLst>
          </a:prstGeom>
          <a:solidFill>
            <a:srgbClr val="17875A"/>
          </a:solidFill>
          <a:ln/>
        </p:spPr>
      </p:sp>
      <p:sp>
        <p:nvSpPr>
          <p:cNvPr id="5" name="Text 2"/>
          <p:cNvSpPr txBox="1"/>
          <p:nvPr/>
        </p:nvSpPr>
        <p:spPr>
          <a:xfrm>
            <a:off x="685800" y="2788920"/>
            <a:ext cx="141732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6" name="Text 3"/>
          <p:cNvSpPr txBox="1"/>
          <p:nvPr/>
        </p:nvSpPr>
        <p:spPr>
          <a:xfrm>
            <a:off x="640080" y="3246120"/>
            <a:ext cx="1508760" cy="731520"/>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Arial" pitchFamily="34" charset="0"/>
                <a:ea typeface="Arial" pitchFamily="34" charset="-122"/>
                <a:cs typeface="Arial" pitchFamily="34" charset="-120"/>
              </a:rPr>
              <a:t>Teach</a:t>
            </a:r>
            <a:endParaRPr lang="en-US" sz="2200" dirty="0"/>
          </a:p>
        </p:txBody>
      </p:sp>
      <p:sp>
        <p:nvSpPr>
          <p:cNvPr id="7" name="Text 4"/>
          <p:cNvSpPr txBox="1"/>
          <p:nvPr/>
        </p:nvSpPr>
        <p:spPr>
          <a:xfrm>
            <a:off x="640080" y="4069080"/>
            <a:ext cx="150876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name the idea</a:t>
            </a:r>
            <a:endParaRPr lang="en-US" sz="1300" dirty="0"/>
          </a:p>
        </p:txBody>
      </p:sp>
      <p:sp>
        <p:nvSpPr>
          <p:cNvPr id="8" name="Text 5"/>
          <p:cNvSpPr txBox="1"/>
          <p:nvPr/>
        </p:nvSpPr>
        <p:spPr>
          <a:xfrm>
            <a:off x="2221992" y="3474720"/>
            <a:ext cx="201168" cy="731520"/>
          </a:xfrm>
          <a:prstGeom prst="rect">
            <a:avLst/>
          </a:prstGeom>
          <a:noFill/>
          <a:ln/>
        </p:spPr>
        <p:txBody>
          <a:bodyPr wrap="square" lIns="0" tIns="0" rIns="0" bIns="0" rtlCol="0" anchor="ctr"/>
          <a:lstStyle/>
          <a:p>
            <a:pPr algn="ctr" indent="0" marL="0">
              <a:buNone/>
            </a:pPr>
            <a:r>
              <a:rPr lang="en-US" sz="1800" b="1" dirty="0">
                <a:solidFill>
                  <a:srgbClr val="56657E"/>
                </a:solidFill>
                <a:latin typeface="Courier New" pitchFamily="34" charset="0"/>
                <a:ea typeface="Courier New" pitchFamily="34" charset="-122"/>
                <a:cs typeface="Courier New" pitchFamily="34" charset="-120"/>
              </a:rPr>
              <a:t>&gt;</a:t>
            </a:r>
            <a:endParaRPr lang="en-US" sz="1800" dirty="0"/>
          </a:p>
        </p:txBody>
      </p:sp>
      <p:sp>
        <p:nvSpPr>
          <p:cNvPr id="9" name="Shape 6"/>
          <p:cNvSpPr/>
          <p:nvPr/>
        </p:nvSpPr>
        <p:spPr>
          <a:xfrm>
            <a:off x="2404872" y="2651760"/>
            <a:ext cx="1691640" cy="2331720"/>
          </a:xfrm>
          <a:prstGeom prst="roundRect">
            <a:avLst>
              <a:gd name="adj" fmla="val 6486"/>
            </a:avLst>
          </a:prstGeom>
          <a:solidFill>
            <a:srgbClr val="2A9FD6"/>
          </a:solidFill>
          <a:ln/>
        </p:spPr>
      </p:sp>
      <p:sp>
        <p:nvSpPr>
          <p:cNvPr id="10" name="Text 7"/>
          <p:cNvSpPr txBox="1"/>
          <p:nvPr/>
        </p:nvSpPr>
        <p:spPr>
          <a:xfrm>
            <a:off x="2542032" y="2788920"/>
            <a:ext cx="141732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1" name="Text 8"/>
          <p:cNvSpPr txBox="1"/>
          <p:nvPr/>
        </p:nvSpPr>
        <p:spPr>
          <a:xfrm>
            <a:off x="2496312" y="3246120"/>
            <a:ext cx="1508760" cy="731520"/>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Arial" pitchFamily="34" charset="0"/>
                <a:ea typeface="Arial" pitchFamily="34" charset="-122"/>
                <a:cs typeface="Arial" pitchFamily="34" charset="-120"/>
              </a:rPr>
              <a:t>Ask</a:t>
            </a:r>
            <a:endParaRPr lang="en-US" sz="2200" dirty="0"/>
          </a:p>
        </p:txBody>
      </p:sp>
      <p:sp>
        <p:nvSpPr>
          <p:cNvPr id="12" name="Text 9"/>
          <p:cNvSpPr txBox="1"/>
          <p:nvPr/>
        </p:nvSpPr>
        <p:spPr>
          <a:xfrm>
            <a:off x="2496312" y="4069080"/>
            <a:ext cx="150876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a question first</a:t>
            </a:r>
            <a:endParaRPr lang="en-US" sz="1300" dirty="0"/>
          </a:p>
        </p:txBody>
      </p:sp>
      <p:sp>
        <p:nvSpPr>
          <p:cNvPr id="13" name="Text 10"/>
          <p:cNvSpPr txBox="1"/>
          <p:nvPr/>
        </p:nvSpPr>
        <p:spPr>
          <a:xfrm>
            <a:off x="4078224" y="3474720"/>
            <a:ext cx="201168" cy="731520"/>
          </a:xfrm>
          <a:prstGeom prst="rect">
            <a:avLst/>
          </a:prstGeom>
          <a:noFill/>
          <a:ln/>
        </p:spPr>
        <p:txBody>
          <a:bodyPr wrap="square" lIns="0" tIns="0" rIns="0" bIns="0" rtlCol="0" anchor="ctr"/>
          <a:lstStyle/>
          <a:p>
            <a:pPr algn="ctr" indent="0" marL="0">
              <a:buNone/>
            </a:pPr>
            <a:r>
              <a:rPr lang="en-US" sz="1800" b="1" dirty="0">
                <a:solidFill>
                  <a:srgbClr val="56657E"/>
                </a:solidFill>
                <a:latin typeface="Courier New" pitchFamily="34" charset="0"/>
                <a:ea typeface="Courier New" pitchFamily="34" charset="-122"/>
                <a:cs typeface="Courier New" pitchFamily="34" charset="-120"/>
              </a:rPr>
              <a:t>&gt;</a:t>
            </a:r>
            <a:endParaRPr lang="en-US" sz="1800" dirty="0"/>
          </a:p>
        </p:txBody>
      </p:sp>
      <p:sp>
        <p:nvSpPr>
          <p:cNvPr id="14" name="Shape 11"/>
          <p:cNvSpPr/>
          <p:nvPr/>
        </p:nvSpPr>
        <p:spPr>
          <a:xfrm>
            <a:off x="4261104" y="2651760"/>
            <a:ext cx="1691640" cy="2331720"/>
          </a:xfrm>
          <a:prstGeom prst="roundRect">
            <a:avLst>
              <a:gd name="adj" fmla="val 6486"/>
            </a:avLst>
          </a:prstGeom>
          <a:solidFill>
            <a:srgbClr val="2459D8"/>
          </a:solidFill>
          <a:ln/>
        </p:spPr>
      </p:sp>
      <p:sp>
        <p:nvSpPr>
          <p:cNvPr id="15" name="Text 12"/>
          <p:cNvSpPr txBox="1"/>
          <p:nvPr/>
        </p:nvSpPr>
        <p:spPr>
          <a:xfrm>
            <a:off x="4398264" y="2788920"/>
            <a:ext cx="141732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6" name="Text 13"/>
          <p:cNvSpPr txBox="1"/>
          <p:nvPr/>
        </p:nvSpPr>
        <p:spPr>
          <a:xfrm>
            <a:off x="4352544" y="3246120"/>
            <a:ext cx="1508760" cy="731520"/>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Arial" pitchFamily="34" charset="0"/>
                <a:ea typeface="Arial" pitchFamily="34" charset="-122"/>
                <a:cs typeface="Arial" pitchFamily="34" charset="-120"/>
              </a:rPr>
              <a:t>Predict</a:t>
            </a:r>
            <a:endParaRPr lang="en-US" sz="2200" dirty="0"/>
          </a:p>
        </p:txBody>
      </p:sp>
      <p:sp>
        <p:nvSpPr>
          <p:cNvPr id="17" name="Text 14"/>
          <p:cNvSpPr txBox="1"/>
          <p:nvPr/>
        </p:nvSpPr>
        <p:spPr>
          <a:xfrm>
            <a:off x="4352544" y="4069080"/>
            <a:ext cx="150876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what will happen?</a:t>
            </a:r>
            <a:endParaRPr lang="en-US" sz="1300" dirty="0"/>
          </a:p>
        </p:txBody>
      </p:sp>
      <p:sp>
        <p:nvSpPr>
          <p:cNvPr id="18" name="Text 15"/>
          <p:cNvSpPr txBox="1"/>
          <p:nvPr/>
        </p:nvSpPr>
        <p:spPr>
          <a:xfrm>
            <a:off x="5934456" y="3474720"/>
            <a:ext cx="201168" cy="731520"/>
          </a:xfrm>
          <a:prstGeom prst="rect">
            <a:avLst/>
          </a:prstGeom>
          <a:noFill/>
          <a:ln/>
        </p:spPr>
        <p:txBody>
          <a:bodyPr wrap="square" lIns="0" tIns="0" rIns="0" bIns="0" rtlCol="0" anchor="ctr"/>
          <a:lstStyle/>
          <a:p>
            <a:pPr algn="ctr" indent="0" marL="0">
              <a:buNone/>
            </a:pPr>
            <a:r>
              <a:rPr lang="en-US" sz="1800" b="1" dirty="0">
                <a:solidFill>
                  <a:srgbClr val="56657E"/>
                </a:solidFill>
                <a:latin typeface="Courier New" pitchFamily="34" charset="0"/>
                <a:ea typeface="Courier New" pitchFamily="34" charset="-122"/>
                <a:cs typeface="Courier New" pitchFamily="34" charset="-120"/>
              </a:rPr>
              <a:t>&gt;</a:t>
            </a:r>
            <a:endParaRPr lang="en-US" sz="1800" dirty="0"/>
          </a:p>
        </p:txBody>
      </p:sp>
      <p:sp>
        <p:nvSpPr>
          <p:cNvPr id="19" name="Shape 16"/>
          <p:cNvSpPr/>
          <p:nvPr/>
        </p:nvSpPr>
        <p:spPr>
          <a:xfrm>
            <a:off x="6117336" y="2651760"/>
            <a:ext cx="1691640" cy="2331720"/>
          </a:xfrm>
          <a:prstGeom prst="roundRect">
            <a:avLst>
              <a:gd name="adj" fmla="val 6486"/>
            </a:avLst>
          </a:prstGeom>
          <a:solidFill>
            <a:srgbClr val="7448D4"/>
          </a:solidFill>
          <a:ln/>
        </p:spPr>
      </p:sp>
      <p:sp>
        <p:nvSpPr>
          <p:cNvPr id="20" name="Text 17"/>
          <p:cNvSpPr txBox="1"/>
          <p:nvPr/>
        </p:nvSpPr>
        <p:spPr>
          <a:xfrm>
            <a:off x="6254496" y="2788920"/>
            <a:ext cx="141732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21" name="Text 18"/>
          <p:cNvSpPr txBox="1"/>
          <p:nvPr/>
        </p:nvSpPr>
        <p:spPr>
          <a:xfrm>
            <a:off x="6208776" y="3246120"/>
            <a:ext cx="1508760" cy="731520"/>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Arial" pitchFamily="34" charset="0"/>
                <a:ea typeface="Arial" pitchFamily="34" charset="-122"/>
                <a:cs typeface="Arial" pitchFamily="34" charset="-120"/>
              </a:rPr>
              <a:t>Try</a:t>
            </a:r>
            <a:endParaRPr lang="en-US" sz="2200" dirty="0"/>
          </a:p>
        </p:txBody>
      </p:sp>
      <p:sp>
        <p:nvSpPr>
          <p:cNvPr id="22" name="Text 19"/>
          <p:cNvSpPr txBox="1"/>
          <p:nvPr/>
        </p:nvSpPr>
        <p:spPr>
          <a:xfrm>
            <a:off x="6208776" y="4069080"/>
            <a:ext cx="150876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run the command</a:t>
            </a:r>
            <a:endParaRPr lang="en-US" sz="1300" dirty="0"/>
          </a:p>
        </p:txBody>
      </p:sp>
      <p:sp>
        <p:nvSpPr>
          <p:cNvPr id="23" name="Text 20"/>
          <p:cNvSpPr txBox="1"/>
          <p:nvPr/>
        </p:nvSpPr>
        <p:spPr>
          <a:xfrm>
            <a:off x="7790688" y="3474720"/>
            <a:ext cx="201168" cy="731520"/>
          </a:xfrm>
          <a:prstGeom prst="rect">
            <a:avLst/>
          </a:prstGeom>
          <a:noFill/>
          <a:ln/>
        </p:spPr>
        <p:txBody>
          <a:bodyPr wrap="square" lIns="0" tIns="0" rIns="0" bIns="0" rtlCol="0" anchor="ctr"/>
          <a:lstStyle/>
          <a:p>
            <a:pPr algn="ctr" indent="0" marL="0">
              <a:buNone/>
            </a:pPr>
            <a:r>
              <a:rPr lang="en-US" sz="1800" b="1" dirty="0">
                <a:solidFill>
                  <a:srgbClr val="56657E"/>
                </a:solidFill>
                <a:latin typeface="Courier New" pitchFamily="34" charset="0"/>
                <a:ea typeface="Courier New" pitchFamily="34" charset="-122"/>
                <a:cs typeface="Courier New" pitchFamily="34" charset="-120"/>
              </a:rPr>
              <a:t>&gt;</a:t>
            </a:r>
            <a:endParaRPr lang="en-US" sz="1800" dirty="0"/>
          </a:p>
        </p:txBody>
      </p:sp>
      <p:sp>
        <p:nvSpPr>
          <p:cNvPr id="24" name="Shape 21"/>
          <p:cNvSpPr/>
          <p:nvPr/>
        </p:nvSpPr>
        <p:spPr>
          <a:xfrm>
            <a:off x="7973568" y="2651760"/>
            <a:ext cx="1691640" cy="2331720"/>
          </a:xfrm>
          <a:prstGeom prst="roundRect">
            <a:avLst>
              <a:gd name="adj" fmla="val 6486"/>
            </a:avLst>
          </a:prstGeom>
          <a:solidFill>
            <a:srgbClr val="D1416B"/>
          </a:solidFill>
          <a:ln/>
        </p:spPr>
      </p:sp>
      <p:sp>
        <p:nvSpPr>
          <p:cNvPr id="25" name="Text 22"/>
          <p:cNvSpPr txBox="1"/>
          <p:nvPr/>
        </p:nvSpPr>
        <p:spPr>
          <a:xfrm>
            <a:off x="8110728" y="2788920"/>
            <a:ext cx="141732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5</a:t>
            </a:r>
            <a:endParaRPr lang="en-US" sz="1700" dirty="0"/>
          </a:p>
        </p:txBody>
      </p:sp>
      <p:sp>
        <p:nvSpPr>
          <p:cNvPr id="26" name="Text 23"/>
          <p:cNvSpPr txBox="1"/>
          <p:nvPr/>
        </p:nvSpPr>
        <p:spPr>
          <a:xfrm>
            <a:off x="8065008" y="3246120"/>
            <a:ext cx="1508760" cy="731520"/>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Arial" pitchFamily="34" charset="0"/>
                <a:ea typeface="Arial" pitchFamily="34" charset="-122"/>
                <a:cs typeface="Arial" pitchFamily="34" charset="-120"/>
              </a:rPr>
              <a:t>Explain</a:t>
            </a:r>
            <a:endParaRPr lang="en-US" sz="2200" dirty="0"/>
          </a:p>
        </p:txBody>
      </p:sp>
      <p:sp>
        <p:nvSpPr>
          <p:cNvPr id="27" name="Text 24"/>
          <p:cNvSpPr txBox="1"/>
          <p:nvPr/>
        </p:nvSpPr>
        <p:spPr>
          <a:xfrm>
            <a:off x="8065008" y="4069080"/>
            <a:ext cx="150876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in your words</a:t>
            </a:r>
            <a:endParaRPr lang="en-US" sz="1300" dirty="0"/>
          </a:p>
        </p:txBody>
      </p:sp>
      <p:sp>
        <p:nvSpPr>
          <p:cNvPr id="28" name="Text 25"/>
          <p:cNvSpPr txBox="1"/>
          <p:nvPr/>
        </p:nvSpPr>
        <p:spPr>
          <a:xfrm>
            <a:off x="9646920" y="3474720"/>
            <a:ext cx="201168" cy="731520"/>
          </a:xfrm>
          <a:prstGeom prst="rect">
            <a:avLst/>
          </a:prstGeom>
          <a:noFill/>
          <a:ln/>
        </p:spPr>
        <p:txBody>
          <a:bodyPr wrap="square" lIns="0" tIns="0" rIns="0" bIns="0" rtlCol="0" anchor="ctr"/>
          <a:lstStyle/>
          <a:p>
            <a:pPr algn="ctr" indent="0" marL="0">
              <a:buNone/>
            </a:pPr>
            <a:r>
              <a:rPr lang="en-US" sz="1800" b="1" dirty="0">
                <a:solidFill>
                  <a:srgbClr val="56657E"/>
                </a:solidFill>
                <a:latin typeface="Courier New" pitchFamily="34" charset="0"/>
                <a:ea typeface="Courier New" pitchFamily="34" charset="-122"/>
                <a:cs typeface="Courier New" pitchFamily="34" charset="-120"/>
              </a:rPr>
              <a:t>&gt;</a:t>
            </a:r>
            <a:endParaRPr lang="en-US" sz="1800" dirty="0"/>
          </a:p>
        </p:txBody>
      </p:sp>
      <p:sp>
        <p:nvSpPr>
          <p:cNvPr id="29" name="Shape 26"/>
          <p:cNvSpPr/>
          <p:nvPr/>
        </p:nvSpPr>
        <p:spPr>
          <a:xfrm>
            <a:off x="9829800" y="2651760"/>
            <a:ext cx="1691640" cy="2331720"/>
          </a:xfrm>
          <a:prstGeom prst="roundRect">
            <a:avLst>
              <a:gd name="adj" fmla="val 6486"/>
            </a:avLst>
          </a:prstGeom>
          <a:solidFill>
            <a:srgbClr val="17875A"/>
          </a:solidFill>
          <a:ln/>
        </p:spPr>
      </p:sp>
      <p:sp>
        <p:nvSpPr>
          <p:cNvPr id="30" name="Text 27"/>
          <p:cNvSpPr txBox="1"/>
          <p:nvPr/>
        </p:nvSpPr>
        <p:spPr>
          <a:xfrm>
            <a:off x="9966960" y="2788920"/>
            <a:ext cx="141732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6</a:t>
            </a:r>
            <a:endParaRPr lang="en-US" sz="1700" dirty="0"/>
          </a:p>
        </p:txBody>
      </p:sp>
      <p:sp>
        <p:nvSpPr>
          <p:cNvPr id="31" name="Text 28"/>
          <p:cNvSpPr txBox="1"/>
          <p:nvPr/>
        </p:nvSpPr>
        <p:spPr>
          <a:xfrm>
            <a:off x="9921240" y="3246120"/>
            <a:ext cx="1508760" cy="731520"/>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Arial" pitchFamily="34" charset="0"/>
                <a:ea typeface="Arial" pitchFamily="34" charset="-122"/>
                <a:cs typeface="Arial" pitchFamily="34" charset="-120"/>
              </a:rPr>
              <a:t>Apply</a:t>
            </a:r>
            <a:endParaRPr lang="en-US" sz="2200" dirty="0"/>
          </a:p>
        </p:txBody>
      </p:sp>
      <p:sp>
        <p:nvSpPr>
          <p:cNvPr id="32" name="Text 29"/>
          <p:cNvSpPr txBox="1"/>
          <p:nvPr/>
        </p:nvSpPr>
        <p:spPr>
          <a:xfrm>
            <a:off x="9921240" y="4069080"/>
            <a:ext cx="150876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on the next one</a:t>
            </a:r>
            <a:endParaRPr lang="en-US" sz="1300" dirty="0"/>
          </a:p>
        </p:txBody>
      </p:sp>
      <p:sp>
        <p:nvSpPr>
          <p:cNvPr id="33" name="Text 30"/>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39 / 79</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The challenges</a:t>
            </a:r>
            <a:endParaRPr lang="en-US" sz="3200" dirty="0"/>
          </a:p>
        </p:txBody>
      </p:sp>
      <p:sp>
        <p:nvSpPr>
          <p:cNvPr id="4" name="Shape 1"/>
          <p:cNvSpPr/>
          <p:nvPr/>
        </p:nvSpPr>
        <p:spPr>
          <a:xfrm>
            <a:off x="548640" y="1463040"/>
            <a:ext cx="2103120" cy="2103120"/>
          </a:xfrm>
          <a:prstGeom prst="roundRect">
            <a:avLst>
              <a:gd name="adj" fmla="val 4348"/>
            </a:avLst>
          </a:prstGeom>
          <a:solidFill>
            <a:srgbClr val="F1F5FB"/>
          </a:solidFill>
          <a:ln/>
        </p:spPr>
      </p:sp>
      <p:sp>
        <p:nvSpPr>
          <p:cNvPr id="5" name="Shape 2"/>
          <p:cNvSpPr/>
          <p:nvPr/>
        </p:nvSpPr>
        <p:spPr>
          <a:xfrm>
            <a:off x="548640" y="1463040"/>
            <a:ext cx="2103120" cy="91440"/>
          </a:xfrm>
          <a:prstGeom prst="rect">
            <a:avLst/>
          </a:prstGeom>
          <a:solidFill>
            <a:srgbClr val="17875A"/>
          </a:solidFill>
          <a:ln/>
        </p:spPr>
      </p:sp>
      <p:sp>
        <p:nvSpPr>
          <p:cNvPr id="6" name="Shape 3"/>
          <p:cNvSpPr/>
          <p:nvPr/>
        </p:nvSpPr>
        <p:spPr>
          <a:xfrm>
            <a:off x="713232" y="1719072"/>
            <a:ext cx="502920" cy="502920"/>
          </a:xfrm>
          <a:prstGeom prst="ellipse">
            <a:avLst/>
          </a:prstGeom>
          <a:solidFill>
            <a:srgbClr val="17875A"/>
          </a:solidFill>
          <a:ln/>
        </p:spPr>
      </p:sp>
      <p:sp>
        <p:nvSpPr>
          <p:cNvPr id="7" name="Text 4"/>
          <p:cNvSpPr txBox="1"/>
          <p:nvPr/>
        </p:nvSpPr>
        <p:spPr>
          <a:xfrm>
            <a:off x="713232" y="171907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8" name="Text 5"/>
          <p:cNvSpPr txBox="1"/>
          <p:nvPr/>
        </p:nvSpPr>
        <p:spPr>
          <a:xfrm>
            <a:off x="1325880" y="1719072"/>
            <a:ext cx="1188720" cy="502920"/>
          </a:xfrm>
          <a:prstGeom prst="rect">
            <a:avLst/>
          </a:prstGeom>
          <a:noFill/>
          <a:ln/>
        </p:spPr>
        <p:txBody>
          <a:bodyPr wrap="square" lIns="0" tIns="0" rIns="0" bIns="0" rtlCol="0" anchor="ctr"/>
          <a:lstStyle/>
          <a:p>
            <a:pPr algn="r" indent="0" marL="0">
              <a:buNone/>
            </a:pPr>
            <a:r>
              <a:rPr lang="en-US" sz="1200" b="1" dirty="0">
                <a:solidFill>
                  <a:srgbClr val="2459D8"/>
                </a:solidFill>
                <a:latin typeface="Calibri" pitchFamily="34" charset="0"/>
                <a:ea typeface="Calibri" pitchFamily="34" charset="-122"/>
                <a:cs typeface="Calibri" pitchFamily="34" charset="-120"/>
              </a:rPr>
              <a:t>We do</a:t>
            </a:r>
            <a:endParaRPr lang="en-US" sz="1200" dirty="0"/>
          </a:p>
        </p:txBody>
      </p:sp>
      <p:sp>
        <p:nvSpPr>
          <p:cNvPr id="9" name="Text 6"/>
          <p:cNvSpPr txBox="1"/>
          <p:nvPr/>
        </p:nvSpPr>
        <p:spPr>
          <a:xfrm>
            <a:off x="713232" y="228600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Make your move</a:t>
            </a:r>
            <a:endParaRPr lang="en-US" sz="1500" dirty="0"/>
          </a:p>
        </p:txBody>
      </p:sp>
      <p:sp>
        <p:nvSpPr>
          <p:cNvPr id="10" name="Shape 7"/>
          <p:cNvSpPr/>
          <p:nvPr/>
        </p:nvSpPr>
        <p:spPr>
          <a:xfrm>
            <a:off x="713232" y="2852928"/>
            <a:ext cx="1783080" cy="347472"/>
          </a:xfrm>
          <a:prstGeom prst="roundRect">
            <a:avLst>
              <a:gd name="adj" fmla="val 50000"/>
            </a:avLst>
          </a:prstGeom>
          <a:solidFill>
            <a:srgbClr val="E2F5EC"/>
          </a:solidFill>
          <a:ln/>
        </p:spPr>
      </p:sp>
      <p:sp>
        <p:nvSpPr>
          <p:cNvPr id="11" name="Text 8"/>
          <p:cNvSpPr txBox="1"/>
          <p:nvPr/>
        </p:nvSpPr>
        <p:spPr>
          <a:xfrm>
            <a:off x="713232" y="2852928"/>
            <a:ext cx="1783080" cy="347472"/>
          </a:xfrm>
          <a:prstGeom prst="rect">
            <a:avLst/>
          </a:prstGeom>
          <a:noFill/>
          <a:ln/>
        </p:spPr>
        <p:txBody>
          <a:bodyPr wrap="square" lIns="0" tIns="0" rIns="0" bIns="0" rtlCol="0" anchor="ctr"/>
          <a:lstStyle/>
          <a:p>
            <a:pPr algn="ctr" indent="0" marL="0">
              <a:buNone/>
            </a:pPr>
            <a:r>
              <a:rPr lang="en-US" sz="1050" b="1" dirty="0">
                <a:solidFill>
                  <a:srgbClr val="12704B"/>
                </a:solidFill>
                <a:latin typeface="Calibri" pitchFamily="34" charset="0"/>
                <a:ea typeface="Calibri" pitchFamily="34" charset="-122"/>
                <a:cs typeface="Calibri" pitchFamily="34" charset="-120"/>
              </a:rPr>
              <a:t>EASY  ·  100</a:t>
            </a:r>
            <a:endParaRPr lang="en-US" sz="1050" dirty="0"/>
          </a:p>
        </p:txBody>
      </p:sp>
      <p:sp>
        <p:nvSpPr>
          <p:cNvPr id="12" name="Text 9"/>
          <p:cNvSpPr txBox="1"/>
          <p:nvPr/>
        </p:nvSpPr>
        <p:spPr>
          <a:xfrm>
            <a:off x="713232" y="3246120"/>
            <a:ext cx="1828800" cy="274320"/>
          </a:xfrm>
          <a:prstGeom prst="rect">
            <a:avLst/>
          </a:prstGeom>
          <a:noFill/>
          <a:ln/>
        </p:spPr>
        <p:txBody>
          <a:bodyPr wrap="square" lIns="0" tIns="0" rIns="0" bIns="0" rtlCol="0" anchor="t"/>
          <a:lstStyle/>
          <a:p>
            <a:pPr indent="0" marL="0">
              <a:buNone/>
            </a:pPr>
            <a:r>
              <a:rPr lang="en-US" sz="1000" dirty="0">
                <a:solidFill>
                  <a:srgbClr val="56657E"/>
                </a:solidFill>
                <a:latin typeface="Courier New" pitchFamily="34" charset="0"/>
                <a:ea typeface="Courier New" pitchFamily="34" charset="-122"/>
                <a:cs typeface="Courier New" pitchFamily="34" charset="-120"/>
              </a:rPr>
              <a:t>pwd  ls  cd  cd ..</a:t>
            </a:r>
            <a:endParaRPr lang="en-US" sz="1000" dirty="0"/>
          </a:p>
        </p:txBody>
      </p:sp>
      <p:sp>
        <p:nvSpPr>
          <p:cNvPr id="13" name="Shape 10"/>
          <p:cNvSpPr/>
          <p:nvPr/>
        </p:nvSpPr>
        <p:spPr>
          <a:xfrm>
            <a:off x="2788920" y="1463040"/>
            <a:ext cx="2103120" cy="2103120"/>
          </a:xfrm>
          <a:prstGeom prst="roundRect">
            <a:avLst>
              <a:gd name="adj" fmla="val 4348"/>
            </a:avLst>
          </a:prstGeom>
          <a:solidFill>
            <a:srgbClr val="F1F5FB"/>
          </a:solidFill>
          <a:ln/>
        </p:spPr>
      </p:sp>
      <p:sp>
        <p:nvSpPr>
          <p:cNvPr id="14" name="Shape 11"/>
          <p:cNvSpPr/>
          <p:nvPr/>
        </p:nvSpPr>
        <p:spPr>
          <a:xfrm>
            <a:off x="2788920" y="1463040"/>
            <a:ext cx="2103120" cy="91440"/>
          </a:xfrm>
          <a:prstGeom prst="rect">
            <a:avLst/>
          </a:prstGeom>
          <a:solidFill>
            <a:srgbClr val="2A9FD6"/>
          </a:solidFill>
          <a:ln/>
        </p:spPr>
      </p:sp>
      <p:sp>
        <p:nvSpPr>
          <p:cNvPr id="15" name="Shape 12"/>
          <p:cNvSpPr/>
          <p:nvPr/>
        </p:nvSpPr>
        <p:spPr>
          <a:xfrm>
            <a:off x="2953512" y="1719072"/>
            <a:ext cx="502920" cy="502920"/>
          </a:xfrm>
          <a:prstGeom prst="ellipse">
            <a:avLst/>
          </a:prstGeom>
          <a:solidFill>
            <a:srgbClr val="2A9FD6"/>
          </a:solidFill>
          <a:ln/>
        </p:spPr>
      </p:sp>
      <p:sp>
        <p:nvSpPr>
          <p:cNvPr id="16" name="Text 13"/>
          <p:cNvSpPr txBox="1"/>
          <p:nvPr/>
        </p:nvSpPr>
        <p:spPr>
          <a:xfrm>
            <a:off x="2953512" y="171907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7" name="Text 14"/>
          <p:cNvSpPr txBox="1"/>
          <p:nvPr/>
        </p:nvSpPr>
        <p:spPr>
          <a:xfrm>
            <a:off x="3566160" y="1719072"/>
            <a:ext cx="1188720" cy="502920"/>
          </a:xfrm>
          <a:prstGeom prst="rect">
            <a:avLst/>
          </a:prstGeom>
          <a:noFill/>
          <a:ln/>
        </p:spPr>
        <p:txBody>
          <a:bodyPr wrap="square" lIns="0" tIns="0" rIns="0" bIns="0" rtlCol="0" anchor="ctr"/>
          <a:lstStyle/>
          <a:p>
            <a:pPr algn="r" indent="0" marL="0">
              <a:buNone/>
            </a:pPr>
            <a:r>
              <a:rPr lang="en-US" sz="1200" b="1" dirty="0">
                <a:solidFill>
                  <a:srgbClr val="2459D8"/>
                </a:solidFill>
                <a:latin typeface="Calibri" pitchFamily="34" charset="0"/>
                <a:ea typeface="Calibri" pitchFamily="34" charset="-122"/>
                <a:cs typeface="Calibri" pitchFamily="34" charset="-120"/>
              </a:rPr>
              <a:t>We do</a:t>
            </a:r>
            <a:endParaRPr lang="en-US" sz="1200" dirty="0"/>
          </a:p>
        </p:txBody>
      </p:sp>
      <p:sp>
        <p:nvSpPr>
          <p:cNvPr id="18" name="Text 15"/>
          <p:cNvSpPr txBox="1"/>
          <p:nvPr/>
        </p:nvSpPr>
        <p:spPr>
          <a:xfrm>
            <a:off x="2953512" y="228600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Let the cat out of the bag</a:t>
            </a:r>
            <a:endParaRPr lang="en-US" sz="1500" dirty="0"/>
          </a:p>
        </p:txBody>
      </p:sp>
      <p:sp>
        <p:nvSpPr>
          <p:cNvPr id="19" name="Shape 16"/>
          <p:cNvSpPr/>
          <p:nvPr/>
        </p:nvSpPr>
        <p:spPr>
          <a:xfrm>
            <a:off x="2953512" y="2852928"/>
            <a:ext cx="1783080" cy="347472"/>
          </a:xfrm>
          <a:prstGeom prst="roundRect">
            <a:avLst>
              <a:gd name="adj" fmla="val 50000"/>
            </a:avLst>
          </a:prstGeom>
          <a:solidFill>
            <a:srgbClr val="E2F5EC"/>
          </a:solidFill>
          <a:ln/>
        </p:spPr>
      </p:sp>
      <p:sp>
        <p:nvSpPr>
          <p:cNvPr id="20" name="Text 17"/>
          <p:cNvSpPr txBox="1"/>
          <p:nvPr/>
        </p:nvSpPr>
        <p:spPr>
          <a:xfrm>
            <a:off x="2953512" y="2852928"/>
            <a:ext cx="1783080" cy="347472"/>
          </a:xfrm>
          <a:prstGeom prst="rect">
            <a:avLst/>
          </a:prstGeom>
          <a:noFill/>
          <a:ln/>
        </p:spPr>
        <p:txBody>
          <a:bodyPr wrap="square" lIns="0" tIns="0" rIns="0" bIns="0" rtlCol="0" anchor="ctr"/>
          <a:lstStyle/>
          <a:p>
            <a:pPr algn="ctr" indent="0" marL="0">
              <a:buNone/>
            </a:pPr>
            <a:r>
              <a:rPr lang="en-US" sz="1050" b="1" dirty="0">
                <a:solidFill>
                  <a:srgbClr val="12704B"/>
                </a:solidFill>
                <a:latin typeface="Calibri" pitchFamily="34" charset="0"/>
                <a:ea typeface="Calibri" pitchFamily="34" charset="-122"/>
                <a:cs typeface="Calibri" pitchFamily="34" charset="-120"/>
              </a:rPr>
              <a:t>EASY  ·  100</a:t>
            </a:r>
            <a:endParaRPr lang="en-US" sz="1050" dirty="0"/>
          </a:p>
        </p:txBody>
      </p:sp>
      <p:sp>
        <p:nvSpPr>
          <p:cNvPr id="21" name="Text 18"/>
          <p:cNvSpPr txBox="1"/>
          <p:nvPr/>
        </p:nvSpPr>
        <p:spPr>
          <a:xfrm>
            <a:off x="2953512" y="3246120"/>
            <a:ext cx="1828800" cy="274320"/>
          </a:xfrm>
          <a:prstGeom prst="rect">
            <a:avLst/>
          </a:prstGeom>
          <a:noFill/>
          <a:ln/>
        </p:spPr>
        <p:txBody>
          <a:bodyPr wrap="square" lIns="0" tIns="0" rIns="0" bIns="0" rtlCol="0" anchor="t"/>
          <a:lstStyle/>
          <a:p>
            <a:pPr indent="0" marL="0">
              <a:buNone/>
            </a:pPr>
            <a:r>
              <a:rPr lang="en-US" sz="1000" dirty="0">
                <a:solidFill>
                  <a:srgbClr val="56657E"/>
                </a:solidFill>
                <a:latin typeface="Courier New" pitchFamily="34" charset="0"/>
                <a:ea typeface="Courier New" pitchFamily="34" charset="-122"/>
                <a:cs typeface="Courier New" pitchFamily="34" charset="-120"/>
              </a:rPr>
              <a:t>cat  --help</a:t>
            </a:r>
            <a:endParaRPr lang="en-US" sz="1000" dirty="0"/>
          </a:p>
        </p:txBody>
      </p:sp>
      <p:sp>
        <p:nvSpPr>
          <p:cNvPr id="22" name="Shape 19"/>
          <p:cNvSpPr/>
          <p:nvPr/>
        </p:nvSpPr>
        <p:spPr>
          <a:xfrm>
            <a:off x="5029200" y="1463040"/>
            <a:ext cx="2103120" cy="2103120"/>
          </a:xfrm>
          <a:prstGeom prst="roundRect">
            <a:avLst>
              <a:gd name="adj" fmla="val 4348"/>
            </a:avLst>
          </a:prstGeom>
          <a:solidFill>
            <a:srgbClr val="F1F5FB"/>
          </a:solidFill>
          <a:ln/>
        </p:spPr>
      </p:sp>
      <p:sp>
        <p:nvSpPr>
          <p:cNvPr id="23" name="Shape 20"/>
          <p:cNvSpPr/>
          <p:nvPr/>
        </p:nvSpPr>
        <p:spPr>
          <a:xfrm>
            <a:off x="5029200" y="1463040"/>
            <a:ext cx="2103120" cy="91440"/>
          </a:xfrm>
          <a:prstGeom prst="rect">
            <a:avLst/>
          </a:prstGeom>
          <a:solidFill>
            <a:srgbClr val="2459D8"/>
          </a:solidFill>
          <a:ln/>
        </p:spPr>
      </p:sp>
      <p:sp>
        <p:nvSpPr>
          <p:cNvPr id="24" name="Shape 21"/>
          <p:cNvSpPr/>
          <p:nvPr/>
        </p:nvSpPr>
        <p:spPr>
          <a:xfrm>
            <a:off x="5193792" y="1719072"/>
            <a:ext cx="502920" cy="502920"/>
          </a:xfrm>
          <a:prstGeom prst="ellipse">
            <a:avLst/>
          </a:prstGeom>
          <a:solidFill>
            <a:srgbClr val="2459D8"/>
          </a:solidFill>
          <a:ln/>
        </p:spPr>
      </p:sp>
      <p:sp>
        <p:nvSpPr>
          <p:cNvPr id="25" name="Text 22"/>
          <p:cNvSpPr txBox="1"/>
          <p:nvPr/>
        </p:nvSpPr>
        <p:spPr>
          <a:xfrm>
            <a:off x="5193792" y="171907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26" name="Text 23"/>
          <p:cNvSpPr txBox="1"/>
          <p:nvPr/>
        </p:nvSpPr>
        <p:spPr>
          <a:xfrm>
            <a:off x="5806440" y="1719072"/>
            <a:ext cx="1188720" cy="502920"/>
          </a:xfrm>
          <a:prstGeom prst="rect">
            <a:avLst/>
          </a:prstGeom>
          <a:noFill/>
          <a:ln/>
        </p:spPr>
        <p:txBody>
          <a:bodyPr wrap="square" lIns="0" tIns="0" rIns="0" bIns="0" rtlCol="0" anchor="ctr"/>
          <a:lstStyle/>
          <a:p>
            <a:pPr algn="r" indent="0" marL="0">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27" name="Text 24"/>
          <p:cNvSpPr txBox="1"/>
          <p:nvPr/>
        </p:nvSpPr>
        <p:spPr>
          <a:xfrm>
            <a:off x="5193792" y="228600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Now you see me</a:t>
            </a:r>
            <a:endParaRPr lang="en-US" sz="1500" dirty="0"/>
          </a:p>
        </p:txBody>
      </p:sp>
      <p:sp>
        <p:nvSpPr>
          <p:cNvPr id="28" name="Shape 25"/>
          <p:cNvSpPr/>
          <p:nvPr/>
        </p:nvSpPr>
        <p:spPr>
          <a:xfrm>
            <a:off x="5193792" y="2852928"/>
            <a:ext cx="1783080" cy="347472"/>
          </a:xfrm>
          <a:prstGeom prst="roundRect">
            <a:avLst>
              <a:gd name="adj" fmla="val 50000"/>
            </a:avLst>
          </a:prstGeom>
          <a:solidFill>
            <a:srgbClr val="E2F5EC"/>
          </a:solidFill>
          <a:ln/>
        </p:spPr>
      </p:sp>
      <p:sp>
        <p:nvSpPr>
          <p:cNvPr id="29" name="Text 26"/>
          <p:cNvSpPr txBox="1"/>
          <p:nvPr/>
        </p:nvSpPr>
        <p:spPr>
          <a:xfrm>
            <a:off x="5193792" y="2852928"/>
            <a:ext cx="1783080" cy="347472"/>
          </a:xfrm>
          <a:prstGeom prst="rect">
            <a:avLst/>
          </a:prstGeom>
          <a:noFill/>
          <a:ln/>
        </p:spPr>
        <p:txBody>
          <a:bodyPr wrap="square" lIns="0" tIns="0" rIns="0" bIns="0" rtlCol="0" anchor="ctr"/>
          <a:lstStyle/>
          <a:p>
            <a:pPr algn="ctr" indent="0" marL="0">
              <a:buNone/>
            </a:pPr>
            <a:r>
              <a:rPr lang="en-US" sz="1050" b="1" dirty="0">
                <a:solidFill>
                  <a:srgbClr val="12704B"/>
                </a:solidFill>
                <a:latin typeface="Calibri" pitchFamily="34" charset="0"/>
                <a:ea typeface="Calibri" pitchFamily="34" charset="-122"/>
                <a:cs typeface="Calibri" pitchFamily="34" charset="-120"/>
              </a:rPr>
              <a:t>EASY  ·  100</a:t>
            </a:r>
            <a:endParaRPr lang="en-US" sz="1050" dirty="0"/>
          </a:p>
        </p:txBody>
      </p:sp>
      <p:sp>
        <p:nvSpPr>
          <p:cNvPr id="30" name="Text 27"/>
          <p:cNvSpPr txBox="1"/>
          <p:nvPr/>
        </p:nvSpPr>
        <p:spPr>
          <a:xfrm>
            <a:off x="5193792" y="3246120"/>
            <a:ext cx="1828800" cy="274320"/>
          </a:xfrm>
          <a:prstGeom prst="rect">
            <a:avLst/>
          </a:prstGeom>
          <a:noFill/>
          <a:ln/>
        </p:spPr>
        <p:txBody>
          <a:bodyPr wrap="square" lIns="0" tIns="0" rIns="0" bIns="0" rtlCol="0" anchor="t"/>
          <a:lstStyle/>
          <a:p>
            <a:pPr indent="0" marL="0">
              <a:buNone/>
            </a:pPr>
            <a:r>
              <a:rPr lang="en-US" sz="1000" dirty="0">
                <a:solidFill>
                  <a:srgbClr val="56657E"/>
                </a:solidFill>
                <a:latin typeface="Courier New" pitchFamily="34" charset="0"/>
                <a:ea typeface="Courier New" pitchFamily="34" charset="-122"/>
                <a:cs typeface="Courier New" pitchFamily="34" charset="-120"/>
              </a:rPr>
              <a:t>ls -a</a:t>
            </a:r>
            <a:endParaRPr lang="en-US" sz="1000" dirty="0"/>
          </a:p>
        </p:txBody>
      </p:sp>
      <p:sp>
        <p:nvSpPr>
          <p:cNvPr id="31" name="Shape 28"/>
          <p:cNvSpPr/>
          <p:nvPr/>
        </p:nvSpPr>
        <p:spPr>
          <a:xfrm>
            <a:off x="7269480" y="1463040"/>
            <a:ext cx="2103120" cy="2103120"/>
          </a:xfrm>
          <a:prstGeom prst="roundRect">
            <a:avLst>
              <a:gd name="adj" fmla="val 4348"/>
            </a:avLst>
          </a:prstGeom>
          <a:solidFill>
            <a:srgbClr val="F1F5FB"/>
          </a:solidFill>
          <a:ln/>
        </p:spPr>
      </p:sp>
      <p:sp>
        <p:nvSpPr>
          <p:cNvPr id="32" name="Shape 29"/>
          <p:cNvSpPr/>
          <p:nvPr/>
        </p:nvSpPr>
        <p:spPr>
          <a:xfrm>
            <a:off x="7269480" y="1463040"/>
            <a:ext cx="2103120" cy="91440"/>
          </a:xfrm>
          <a:prstGeom prst="rect">
            <a:avLst/>
          </a:prstGeom>
          <a:solidFill>
            <a:srgbClr val="7448D4"/>
          </a:solidFill>
          <a:ln/>
        </p:spPr>
      </p:sp>
      <p:sp>
        <p:nvSpPr>
          <p:cNvPr id="33" name="Shape 30"/>
          <p:cNvSpPr/>
          <p:nvPr/>
        </p:nvSpPr>
        <p:spPr>
          <a:xfrm>
            <a:off x="7434072" y="1719072"/>
            <a:ext cx="502920" cy="502920"/>
          </a:xfrm>
          <a:prstGeom prst="ellipse">
            <a:avLst/>
          </a:prstGeom>
          <a:solidFill>
            <a:srgbClr val="7448D4"/>
          </a:solidFill>
          <a:ln/>
        </p:spPr>
      </p:sp>
      <p:sp>
        <p:nvSpPr>
          <p:cNvPr id="34" name="Text 31"/>
          <p:cNvSpPr txBox="1"/>
          <p:nvPr/>
        </p:nvSpPr>
        <p:spPr>
          <a:xfrm>
            <a:off x="7434072" y="171907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35" name="Text 32"/>
          <p:cNvSpPr txBox="1"/>
          <p:nvPr/>
        </p:nvSpPr>
        <p:spPr>
          <a:xfrm>
            <a:off x="8046720" y="1719072"/>
            <a:ext cx="1188720" cy="502920"/>
          </a:xfrm>
          <a:prstGeom prst="rect">
            <a:avLst/>
          </a:prstGeom>
          <a:noFill/>
          <a:ln/>
        </p:spPr>
        <p:txBody>
          <a:bodyPr wrap="square" lIns="0" tIns="0" rIns="0" bIns="0" rtlCol="0" anchor="ctr"/>
          <a:lstStyle/>
          <a:p>
            <a:pPr algn="r" indent="0" marL="0">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36" name="Text 33"/>
          <p:cNvSpPr txBox="1"/>
          <p:nvPr/>
        </p:nvSpPr>
        <p:spPr>
          <a:xfrm>
            <a:off x="7434072" y="228600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Needle in the tree</a:t>
            </a:r>
            <a:endParaRPr lang="en-US" sz="1500" dirty="0"/>
          </a:p>
        </p:txBody>
      </p:sp>
      <p:sp>
        <p:nvSpPr>
          <p:cNvPr id="37" name="Shape 34"/>
          <p:cNvSpPr/>
          <p:nvPr/>
        </p:nvSpPr>
        <p:spPr>
          <a:xfrm>
            <a:off x="7434072" y="2852928"/>
            <a:ext cx="1783080" cy="347472"/>
          </a:xfrm>
          <a:prstGeom prst="roundRect">
            <a:avLst>
              <a:gd name="adj" fmla="val 50000"/>
            </a:avLst>
          </a:prstGeom>
          <a:solidFill>
            <a:srgbClr val="FFF4DE"/>
          </a:solidFill>
          <a:ln/>
        </p:spPr>
      </p:sp>
      <p:sp>
        <p:nvSpPr>
          <p:cNvPr id="38" name="Text 35"/>
          <p:cNvSpPr txBox="1"/>
          <p:nvPr/>
        </p:nvSpPr>
        <p:spPr>
          <a:xfrm>
            <a:off x="7434072" y="2852928"/>
            <a:ext cx="1783080" cy="347472"/>
          </a:xfrm>
          <a:prstGeom prst="rect">
            <a:avLst/>
          </a:prstGeom>
          <a:noFill/>
          <a:ln/>
        </p:spPr>
        <p:txBody>
          <a:bodyPr wrap="square" lIns="0" tIns="0" rIns="0" bIns="0" rtlCol="0" anchor="ctr"/>
          <a:lstStyle/>
          <a:p>
            <a:pPr algn="ctr" indent="0" marL="0">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39" name="Text 36"/>
          <p:cNvSpPr txBox="1"/>
          <p:nvPr/>
        </p:nvSpPr>
        <p:spPr>
          <a:xfrm>
            <a:off x="7434072" y="3246120"/>
            <a:ext cx="1828800" cy="274320"/>
          </a:xfrm>
          <a:prstGeom prst="rect">
            <a:avLst/>
          </a:prstGeom>
          <a:noFill/>
          <a:ln/>
        </p:spPr>
        <p:txBody>
          <a:bodyPr wrap="square" lIns="0" tIns="0" rIns="0" bIns="0" rtlCol="0" anchor="t"/>
          <a:lstStyle/>
          <a:p>
            <a:pPr indent="0" marL="0">
              <a:buNone/>
            </a:pPr>
            <a:r>
              <a:rPr lang="en-US" sz="1000" dirty="0">
                <a:solidFill>
                  <a:srgbClr val="56657E"/>
                </a:solidFill>
                <a:latin typeface="Courier New" pitchFamily="34" charset="0"/>
                <a:ea typeface="Courier New" pitchFamily="34" charset="-122"/>
                <a:cs typeface="Courier New" pitchFamily="34" charset="-120"/>
              </a:rPr>
              <a:t>find -name</a:t>
            </a:r>
            <a:endParaRPr lang="en-US" sz="1000" dirty="0"/>
          </a:p>
        </p:txBody>
      </p:sp>
      <p:sp>
        <p:nvSpPr>
          <p:cNvPr id="40" name="Shape 37"/>
          <p:cNvSpPr/>
          <p:nvPr/>
        </p:nvSpPr>
        <p:spPr>
          <a:xfrm>
            <a:off x="9509760" y="1463040"/>
            <a:ext cx="2103120" cy="2103120"/>
          </a:xfrm>
          <a:prstGeom prst="roundRect">
            <a:avLst>
              <a:gd name="adj" fmla="val 4348"/>
            </a:avLst>
          </a:prstGeom>
          <a:solidFill>
            <a:srgbClr val="F1F5FB"/>
          </a:solidFill>
          <a:ln/>
        </p:spPr>
      </p:sp>
      <p:sp>
        <p:nvSpPr>
          <p:cNvPr id="41" name="Shape 38"/>
          <p:cNvSpPr/>
          <p:nvPr/>
        </p:nvSpPr>
        <p:spPr>
          <a:xfrm>
            <a:off x="9509760" y="1463040"/>
            <a:ext cx="2103120" cy="91440"/>
          </a:xfrm>
          <a:prstGeom prst="rect">
            <a:avLst/>
          </a:prstGeom>
          <a:solidFill>
            <a:srgbClr val="D1416B"/>
          </a:solidFill>
          <a:ln/>
        </p:spPr>
      </p:sp>
      <p:sp>
        <p:nvSpPr>
          <p:cNvPr id="42" name="Shape 39"/>
          <p:cNvSpPr/>
          <p:nvPr/>
        </p:nvSpPr>
        <p:spPr>
          <a:xfrm>
            <a:off x="9674352" y="1719072"/>
            <a:ext cx="502920" cy="502920"/>
          </a:xfrm>
          <a:prstGeom prst="ellipse">
            <a:avLst/>
          </a:prstGeom>
          <a:solidFill>
            <a:srgbClr val="D1416B"/>
          </a:solidFill>
          <a:ln/>
        </p:spPr>
      </p:sp>
      <p:sp>
        <p:nvSpPr>
          <p:cNvPr id="43" name="Text 40"/>
          <p:cNvSpPr txBox="1"/>
          <p:nvPr/>
        </p:nvSpPr>
        <p:spPr>
          <a:xfrm>
            <a:off x="9674352" y="171907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5</a:t>
            </a:r>
            <a:endParaRPr lang="en-US" sz="1700" dirty="0"/>
          </a:p>
        </p:txBody>
      </p:sp>
      <p:sp>
        <p:nvSpPr>
          <p:cNvPr id="44" name="Text 41"/>
          <p:cNvSpPr txBox="1"/>
          <p:nvPr/>
        </p:nvSpPr>
        <p:spPr>
          <a:xfrm>
            <a:off x="10287000" y="1719072"/>
            <a:ext cx="1188720" cy="502920"/>
          </a:xfrm>
          <a:prstGeom prst="rect">
            <a:avLst/>
          </a:prstGeom>
          <a:noFill/>
          <a:ln/>
        </p:spPr>
        <p:txBody>
          <a:bodyPr wrap="square" lIns="0" tIns="0" rIns="0" bIns="0" rtlCol="0" anchor="ctr"/>
          <a:lstStyle/>
          <a:p>
            <a:pPr algn="r" indent="0" marL="0">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45" name="Text 42"/>
          <p:cNvSpPr txBox="1"/>
          <p:nvPr/>
        </p:nvSpPr>
        <p:spPr>
          <a:xfrm>
            <a:off x="9674352" y="228600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Search party</a:t>
            </a:r>
            <a:endParaRPr lang="en-US" sz="1500" dirty="0"/>
          </a:p>
        </p:txBody>
      </p:sp>
      <p:sp>
        <p:nvSpPr>
          <p:cNvPr id="46" name="Shape 43"/>
          <p:cNvSpPr/>
          <p:nvPr/>
        </p:nvSpPr>
        <p:spPr>
          <a:xfrm>
            <a:off x="9674352" y="2852928"/>
            <a:ext cx="1783080" cy="347472"/>
          </a:xfrm>
          <a:prstGeom prst="roundRect">
            <a:avLst>
              <a:gd name="adj" fmla="val 50000"/>
            </a:avLst>
          </a:prstGeom>
          <a:solidFill>
            <a:srgbClr val="FFF4DE"/>
          </a:solidFill>
          <a:ln/>
        </p:spPr>
      </p:sp>
      <p:sp>
        <p:nvSpPr>
          <p:cNvPr id="47" name="Text 44"/>
          <p:cNvSpPr txBox="1"/>
          <p:nvPr/>
        </p:nvSpPr>
        <p:spPr>
          <a:xfrm>
            <a:off x="9674352" y="2852928"/>
            <a:ext cx="1783080" cy="347472"/>
          </a:xfrm>
          <a:prstGeom prst="rect">
            <a:avLst/>
          </a:prstGeom>
          <a:noFill/>
          <a:ln/>
        </p:spPr>
        <p:txBody>
          <a:bodyPr wrap="square" lIns="0" tIns="0" rIns="0" bIns="0" rtlCol="0" anchor="ctr"/>
          <a:lstStyle/>
          <a:p>
            <a:pPr algn="ctr" indent="0" marL="0">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48" name="Text 45"/>
          <p:cNvSpPr txBox="1"/>
          <p:nvPr/>
        </p:nvSpPr>
        <p:spPr>
          <a:xfrm>
            <a:off x="9674352" y="3246120"/>
            <a:ext cx="1828800" cy="274320"/>
          </a:xfrm>
          <a:prstGeom prst="rect">
            <a:avLst/>
          </a:prstGeom>
          <a:noFill/>
          <a:ln/>
        </p:spPr>
        <p:txBody>
          <a:bodyPr wrap="square" lIns="0" tIns="0" rIns="0" bIns="0" rtlCol="0" anchor="t"/>
          <a:lstStyle/>
          <a:p>
            <a:pPr indent="0" marL="0">
              <a:buNone/>
            </a:pPr>
            <a:r>
              <a:rPr lang="en-US" sz="1000" dirty="0">
                <a:solidFill>
                  <a:srgbClr val="56657E"/>
                </a:solidFill>
                <a:latin typeface="Courier New" pitchFamily="34" charset="0"/>
                <a:ea typeface="Courier New" pitchFamily="34" charset="-122"/>
                <a:cs typeface="Courier New" pitchFamily="34" charset="-120"/>
              </a:rPr>
              <a:t>grep</a:t>
            </a:r>
            <a:endParaRPr lang="en-US" sz="1000" dirty="0"/>
          </a:p>
        </p:txBody>
      </p:sp>
      <p:sp>
        <p:nvSpPr>
          <p:cNvPr id="49" name="Shape 46"/>
          <p:cNvSpPr/>
          <p:nvPr/>
        </p:nvSpPr>
        <p:spPr>
          <a:xfrm>
            <a:off x="548640" y="3703320"/>
            <a:ext cx="2103120" cy="2103120"/>
          </a:xfrm>
          <a:prstGeom prst="roundRect">
            <a:avLst>
              <a:gd name="adj" fmla="val 4348"/>
            </a:avLst>
          </a:prstGeom>
          <a:solidFill>
            <a:srgbClr val="F1F5FB"/>
          </a:solidFill>
          <a:ln/>
        </p:spPr>
      </p:sp>
      <p:sp>
        <p:nvSpPr>
          <p:cNvPr id="50" name="Shape 47"/>
          <p:cNvSpPr/>
          <p:nvPr/>
        </p:nvSpPr>
        <p:spPr>
          <a:xfrm>
            <a:off x="548640" y="3703320"/>
            <a:ext cx="2103120" cy="91440"/>
          </a:xfrm>
          <a:prstGeom prst="rect">
            <a:avLst/>
          </a:prstGeom>
          <a:solidFill>
            <a:srgbClr val="E8820C"/>
          </a:solidFill>
          <a:ln/>
        </p:spPr>
      </p:sp>
      <p:sp>
        <p:nvSpPr>
          <p:cNvPr id="51" name="Shape 48"/>
          <p:cNvSpPr/>
          <p:nvPr/>
        </p:nvSpPr>
        <p:spPr>
          <a:xfrm>
            <a:off x="713232" y="3959352"/>
            <a:ext cx="502920" cy="502920"/>
          </a:xfrm>
          <a:prstGeom prst="ellipse">
            <a:avLst/>
          </a:prstGeom>
          <a:solidFill>
            <a:srgbClr val="E8820C"/>
          </a:solidFill>
          <a:ln/>
        </p:spPr>
      </p:sp>
      <p:sp>
        <p:nvSpPr>
          <p:cNvPr id="52" name="Text 49"/>
          <p:cNvSpPr txBox="1"/>
          <p:nvPr/>
        </p:nvSpPr>
        <p:spPr>
          <a:xfrm>
            <a:off x="713232" y="395935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6</a:t>
            </a:r>
            <a:endParaRPr lang="en-US" sz="1700" dirty="0"/>
          </a:p>
        </p:txBody>
      </p:sp>
      <p:sp>
        <p:nvSpPr>
          <p:cNvPr id="53" name="Text 50"/>
          <p:cNvSpPr txBox="1"/>
          <p:nvPr/>
        </p:nvSpPr>
        <p:spPr>
          <a:xfrm>
            <a:off x="1325880" y="3959352"/>
            <a:ext cx="1188720" cy="502920"/>
          </a:xfrm>
          <a:prstGeom prst="rect">
            <a:avLst/>
          </a:prstGeom>
          <a:noFill/>
          <a:ln/>
        </p:spPr>
        <p:txBody>
          <a:bodyPr wrap="square" lIns="0" tIns="0" rIns="0" bIns="0" rtlCol="0" anchor="ctr"/>
          <a:lstStyle/>
          <a:p>
            <a:pPr algn="r" indent="0" marL="0">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54" name="Text 51"/>
          <p:cNvSpPr txBox="1"/>
          <p:nvPr/>
        </p:nvSpPr>
        <p:spPr>
          <a:xfrm>
            <a:off x="713232" y="452628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Odd one out</a:t>
            </a:r>
            <a:endParaRPr lang="en-US" sz="1500" dirty="0"/>
          </a:p>
        </p:txBody>
      </p:sp>
      <p:sp>
        <p:nvSpPr>
          <p:cNvPr id="55" name="Shape 52"/>
          <p:cNvSpPr/>
          <p:nvPr/>
        </p:nvSpPr>
        <p:spPr>
          <a:xfrm>
            <a:off x="713232" y="5093208"/>
            <a:ext cx="1783080" cy="347472"/>
          </a:xfrm>
          <a:prstGeom prst="roundRect">
            <a:avLst>
              <a:gd name="adj" fmla="val 50000"/>
            </a:avLst>
          </a:prstGeom>
          <a:solidFill>
            <a:srgbClr val="FFF4DE"/>
          </a:solidFill>
          <a:ln/>
        </p:spPr>
      </p:sp>
      <p:sp>
        <p:nvSpPr>
          <p:cNvPr id="56" name="Text 53"/>
          <p:cNvSpPr txBox="1"/>
          <p:nvPr/>
        </p:nvSpPr>
        <p:spPr>
          <a:xfrm>
            <a:off x="713232" y="5093208"/>
            <a:ext cx="1783080" cy="347472"/>
          </a:xfrm>
          <a:prstGeom prst="rect">
            <a:avLst/>
          </a:prstGeom>
          <a:noFill/>
          <a:ln/>
        </p:spPr>
        <p:txBody>
          <a:bodyPr wrap="square" lIns="0" tIns="0" rIns="0" bIns="0" rtlCol="0" anchor="ctr"/>
          <a:lstStyle/>
          <a:p>
            <a:pPr algn="ctr" indent="0" marL="0">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57" name="Text 54"/>
          <p:cNvSpPr txBox="1"/>
          <p:nvPr/>
        </p:nvSpPr>
        <p:spPr>
          <a:xfrm>
            <a:off x="713232" y="5486400"/>
            <a:ext cx="1828800" cy="274320"/>
          </a:xfrm>
          <a:prstGeom prst="rect">
            <a:avLst/>
          </a:prstGeom>
          <a:noFill/>
          <a:ln/>
        </p:spPr>
        <p:txBody>
          <a:bodyPr wrap="square" lIns="0" tIns="0" rIns="0" bIns="0" rtlCol="0" anchor="t"/>
          <a:lstStyle/>
          <a:p>
            <a:pPr indent="0" marL="0">
              <a:buNone/>
            </a:pPr>
            <a:r>
              <a:rPr lang="en-US" sz="1000" dirty="0">
                <a:solidFill>
                  <a:srgbClr val="56657E"/>
                </a:solidFill>
                <a:latin typeface="Courier New" pitchFamily="34" charset="0"/>
                <a:ea typeface="Courier New" pitchFamily="34" charset="-122"/>
                <a:cs typeface="Courier New" pitchFamily="34" charset="-120"/>
              </a:rPr>
              <a:t>sort  uniq  |</a:t>
            </a:r>
            <a:endParaRPr lang="en-US" sz="1000" dirty="0"/>
          </a:p>
        </p:txBody>
      </p:sp>
      <p:sp>
        <p:nvSpPr>
          <p:cNvPr id="58" name="Shape 55"/>
          <p:cNvSpPr/>
          <p:nvPr/>
        </p:nvSpPr>
        <p:spPr>
          <a:xfrm>
            <a:off x="2788920" y="3703320"/>
            <a:ext cx="2103120" cy="2103120"/>
          </a:xfrm>
          <a:prstGeom prst="roundRect">
            <a:avLst>
              <a:gd name="adj" fmla="val 4348"/>
            </a:avLst>
          </a:prstGeom>
          <a:solidFill>
            <a:srgbClr val="F1F5FB"/>
          </a:solidFill>
          <a:ln/>
        </p:spPr>
      </p:sp>
      <p:sp>
        <p:nvSpPr>
          <p:cNvPr id="59" name="Shape 56"/>
          <p:cNvSpPr/>
          <p:nvPr/>
        </p:nvSpPr>
        <p:spPr>
          <a:xfrm>
            <a:off x="2788920" y="3703320"/>
            <a:ext cx="2103120" cy="91440"/>
          </a:xfrm>
          <a:prstGeom prst="rect">
            <a:avLst/>
          </a:prstGeom>
          <a:solidFill>
            <a:srgbClr val="C9A227"/>
          </a:solidFill>
          <a:ln/>
        </p:spPr>
      </p:sp>
      <p:sp>
        <p:nvSpPr>
          <p:cNvPr id="60" name="Shape 57"/>
          <p:cNvSpPr/>
          <p:nvPr/>
        </p:nvSpPr>
        <p:spPr>
          <a:xfrm>
            <a:off x="2953512" y="3959352"/>
            <a:ext cx="502920" cy="502920"/>
          </a:xfrm>
          <a:prstGeom prst="ellipse">
            <a:avLst/>
          </a:prstGeom>
          <a:solidFill>
            <a:srgbClr val="C9A227"/>
          </a:solidFill>
          <a:ln/>
        </p:spPr>
      </p:sp>
      <p:sp>
        <p:nvSpPr>
          <p:cNvPr id="61" name="Text 58"/>
          <p:cNvSpPr txBox="1"/>
          <p:nvPr/>
        </p:nvSpPr>
        <p:spPr>
          <a:xfrm>
            <a:off x="2953512" y="395935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7</a:t>
            </a:r>
            <a:endParaRPr lang="en-US" sz="1700" dirty="0"/>
          </a:p>
        </p:txBody>
      </p:sp>
      <p:sp>
        <p:nvSpPr>
          <p:cNvPr id="62" name="Text 59"/>
          <p:cNvSpPr txBox="1"/>
          <p:nvPr/>
        </p:nvSpPr>
        <p:spPr>
          <a:xfrm>
            <a:off x="3566160" y="3959352"/>
            <a:ext cx="1188720" cy="502920"/>
          </a:xfrm>
          <a:prstGeom prst="rect">
            <a:avLst/>
          </a:prstGeom>
          <a:noFill/>
          <a:ln/>
        </p:spPr>
        <p:txBody>
          <a:bodyPr wrap="square" lIns="0" tIns="0" rIns="0" bIns="0" rtlCol="0" anchor="ctr"/>
          <a:lstStyle/>
          <a:p>
            <a:pPr algn="r" indent="0" marL="0">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63" name="Text 60"/>
          <p:cNvSpPr txBox="1"/>
          <p:nvPr/>
        </p:nvSpPr>
        <p:spPr>
          <a:xfrm>
            <a:off x="2953512" y="452628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Permission denied</a:t>
            </a:r>
            <a:endParaRPr lang="en-US" sz="1500" dirty="0"/>
          </a:p>
        </p:txBody>
      </p:sp>
      <p:sp>
        <p:nvSpPr>
          <p:cNvPr id="64" name="Shape 61"/>
          <p:cNvSpPr/>
          <p:nvPr/>
        </p:nvSpPr>
        <p:spPr>
          <a:xfrm>
            <a:off x="2953512" y="5093208"/>
            <a:ext cx="1783080" cy="347472"/>
          </a:xfrm>
          <a:prstGeom prst="roundRect">
            <a:avLst>
              <a:gd name="adj" fmla="val 50000"/>
            </a:avLst>
          </a:prstGeom>
          <a:solidFill>
            <a:srgbClr val="FFF4DE"/>
          </a:solidFill>
          <a:ln/>
        </p:spPr>
      </p:sp>
      <p:sp>
        <p:nvSpPr>
          <p:cNvPr id="65" name="Text 62"/>
          <p:cNvSpPr txBox="1"/>
          <p:nvPr/>
        </p:nvSpPr>
        <p:spPr>
          <a:xfrm>
            <a:off x="2953512" y="5093208"/>
            <a:ext cx="1783080" cy="347472"/>
          </a:xfrm>
          <a:prstGeom prst="rect">
            <a:avLst/>
          </a:prstGeom>
          <a:noFill/>
          <a:ln/>
        </p:spPr>
        <p:txBody>
          <a:bodyPr wrap="square" lIns="0" tIns="0" rIns="0" bIns="0" rtlCol="0" anchor="ctr"/>
          <a:lstStyle/>
          <a:p>
            <a:pPr algn="ctr" indent="0" marL="0">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66" name="Text 63"/>
          <p:cNvSpPr txBox="1"/>
          <p:nvPr/>
        </p:nvSpPr>
        <p:spPr>
          <a:xfrm>
            <a:off x="2953512" y="5486400"/>
            <a:ext cx="1828800" cy="274320"/>
          </a:xfrm>
          <a:prstGeom prst="rect">
            <a:avLst/>
          </a:prstGeom>
          <a:noFill/>
          <a:ln/>
        </p:spPr>
        <p:txBody>
          <a:bodyPr wrap="square" lIns="0" tIns="0" rIns="0" bIns="0" rtlCol="0" anchor="t"/>
          <a:lstStyle/>
          <a:p>
            <a:pPr indent="0" marL="0">
              <a:buNone/>
            </a:pPr>
            <a:r>
              <a:rPr lang="en-US" sz="1000" dirty="0">
                <a:solidFill>
                  <a:srgbClr val="56657E"/>
                </a:solidFill>
                <a:latin typeface="Courier New" pitchFamily="34" charset="0"/>
                <a:ea typeface="Courier New" pitchFamily="34" charset="-122"/>
                <a:cs typeface="Courier New" pitchFamily="34" charset="-120"/>
              </a:rPr>
              <a:t>ls -l  chmod +x</a:t>
            </a:r>
            <a:endParaRPr lang="en-US" sz="1000" dirty="0"/>
          </a:p>
        </p:txBody>
      </p:sp>
      <p:sp>
        <p:nvSpPr>
          <p:cNvPr id="67" name="Shape 64"/>
          <p:cNvSpPr/>
          <p:nvPr/>
        </p:nvSpPr>
        <p:spPr>
          <a:xfrm>
            <a:off x="5029200" y="3703320"/>
            <a:ext cx="2103120" cy="2103120"/>
          </a:xfrm>
          <a:prstGeom prst="roundRect">
            <a:avLst>
              <a:gd name="adj" fmla="val 4348"/>
            </a:avLst>
          </a:prstGeom>
          <a:solidFill>
            <a:srgbClr val="F1F5FB"/>
          </a:solidFill>
          <a:ln/>
        </p:spPr>
      </p:sp>
      <p:sp>
        <p:nvSpPr>
          <p:cNvPr id="68" name="Shape 65"/>
          <p:cNvSpPr/>
          <p:nvPr/>
        </p:nvSpPr>
        <p:spPr>
          <a:xfrm>
            <a:off x="5029200" y="3703320"/>
            <a:ext cx="2103120" cy="91440"/>
          </a:xfrm>
          <a:prstGeom prst="rect">
            <a:avLst/>
          </a:prstGeom>
          <a:solidFill>
            <a:srgbClr val="0F9488"/>
          </a:solidFill>
          <a:ln/>
        </p:spPr>
      </p:sp>
      <p:sp>
        <p:nvSpPr>
          <p:cNvPr id="69" name="Shape 66"/>
          <p:cNvSpPr/>
          <p:nvPr/>
        </p:nvSpPr>
        <p:spPr>
          <a:xfrm>
            <a:off x="5193792" y="3959352"/>
            <a:ext cx="502920" cy="502920"/>
          </a:xfrm>
          <a:prstGeom prst="ellipse">
            <a:avLst/>
          </a:prstGeom>
          <a:solidFill>
            <a:srgbClr val="0F9488"/>
          </a:solidFill>
          <a:ln/>
        </p:spPr>
      </p:sp>
      <p:sp>
        <p:nvSpPr>
          <p:cNvPr id="70" name="Text 67"/>
          <p:cNvSpPr txBox="1"/>
          <p:nvPr/>
        </p:nvSpPr>
        <p:spPr>
          <a:xfrm>
            <a:off x="5193792" y="395935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8</a:t>
            </a:r>
            <a:endParaRPr lang="en-US" sz="1700" dirty="0"/>
          </a:p>
        </p:txBody>
      </p:sp>
      <p:sp>
        <p:nvSpPr>
          <p:cNvPr id="71" name="Text 68"/>
          <p:cNvSpPr txBox="1"/>
          <p:nvPr/>
        </p:nvSpPr>
        <p:spPr>
          <a:xfrm>
            <a:off x="5806440" y="3959352"/>
            <a:ext cx="1188720" cy="502920"/>
          </a:xfrm>
          <a:prstGeom prst="rect">
            <a:avLst/>
          </a:prstGeom>
          <a:noFill/>
          <a:ln/>
        </p:spPr>
        <p:txBody>
          <a:bodyPr wrap="square" lIns="0" tIns="0" rIns="0" bIns="0" rtlCol="0" anchor="ctr"/>
          <a:lstStyle/>
          <a:p>
            <a:pPr algn="r" indent="0" marL="0">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72" name="Text 69"/>
          <p:cNvSpPr txBox="1"/>
          <p:nvPr/>
        </p:nvSpPr>
        <p:spPr>
          <a:xfrm>
            <a:off x="5193792" y="452628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Find and replace</a:t>
            </a:r>
            <a:endParaRPr lang="en-US" sz="1500" dirty="0"/>
          </a:p>
        </p:txBody>
      </p:sp>
      <p:sp>
        <p:nvSpPr>
          <p:cNvPr id="73" name="Shape 70"/>
          <p:cNvSpPr/>
          <p:nvPr/>
        </p:nvSpPr>
        <p:spPr>
          <a:xfrm>
            <a:off x="5193792" y="5093208"/>
            <a:ext cx="1783080" cy="347472"/>
          </a:xfrm>
          <a:prstGeom prst="roundRect">
            <a:avLst>
              <a:gd name="adj" fmla="val 50000"/>
            </a:avLst>
          </a:prstGeom>
          <a:solidFill>
            <a:srgbClr val="FDE8EC"/>
          </a:solidFill>
          <a:ln/>
        </p:spPr>
      </p:sp>
      <p:sp>
        <p:nvSpPr>
          <p:cNvPr id="74" name="Text 71"/>
          <p:cNvSpPr txBox="1"/>
          <p:nvPr/>
        </p:nvSpPr>
        <p:spPr>
          <a:xfrm>
            <a:off x="5193792" y="5093208"/>
            <a:ext cx="1783080" cy="347472"/>
          </a:xfrm>
          <a:prstGeom prst="rect">
            <a:avLst/>
          </a:prstGeom>
          <a:noFill/>
          <a:ln/>
        </p:spPr>
        <p:txBody>
          <a:bodyPr wrap="square" lIns="0" tIns="0" rIns="0" bIns="0" rtlCol="0" anchor="ctr"/>
          <a:lstStyle/>
          <a:p>
            <a:pPr algn="ctr" indent="0" marL="0">
              <a:buNone/>
            </a:pPr>
            <a:r>
              <a:rPr lang="en-US" sz="1050" b="1" dirty="0">
                <a:solidFill>
                  <a:srgbClr val="B4233F"/>
                </a:solidFill>
                <a:latin typeface="Calibri" pitchFamily="34" charset="0"/>
                <a:ea typeface="Calibri" pitchFamily="34" charset="-122"/>
                <a:cs typeface="Calibri" pitchFamily="34" charset="-120"/>
              </a:rPr>
              <a:t>HARD  ·  400</a:t>
            </a:r>
            <a:endParaRPr lang="en-US" sz="1050" dirty="0"/>
          </a:p>
        </p:txBody>
      </p:sp>
      <p:sp>
        <p:nvSpPr>
          <p:cNvPr id="75" name="Text 72"/>
          <p:cNvSpPr txBox="1"/>
          <p:nvPr/>
        </p:nvSpPr>
        <p:spPr>
          <a:xfrm>
            <a:off x="5193792" y="5486400"/>
            <a:ext cx="1828800" cy="274320"/>
          </a:xfrm>
          <a:prstGeom prst="rect">
            <a:avLst/>
          </a:prstGeom>
          <a:noFill/>
          <a:ln/>
        </p:spPr>
        <p:txBody>
          <a:bodyPr wrap="square" lIns="0" tIns="0" rIns="0" bIns="0" rtlCol="0" anchor="t"/>
          <a:lstStyle/>
          <a:p>
            <a:pPr indent="0" marL="0">
              <a:buNone/>
            </a:pPr>
            <a:r>
              <a:rPr lang="en-US" sz="1000" dirty="0">
                <a:solidFill>
                  <a:srgbClr val="56657E"/>
                </a:solidFill>
                <a:latin typeface="Courier New" pitchFamily="34" charset="0"/>
                <a:ea typeface="Courier New" pitchFamily="34" charset="-122"/>
                <a:cs typeface="Courier New" pitchFamily="34" charset="-120"/>
              </a:rPr>
              <a:t>sed 's/old/new/g'</a:t>
            </a:r>
            <a:endParaRPr lang="en-US" sz="1000" dirty="0"/>
          </a:p>
        </p:txBody>
      </p:sp>
      <p:sp>
        <p:nvSpPr>
          <p:cNvPr id="76" name="Shape 73"/>
          <p:cNvSpPr/>
          <p:nvPr/>
        </p:nvSpPr>
        <p:spPr>
          <a:xfrm>
            <a:off x="7269480" y="3703320"/>
            <a:ext cx="2103120" cy="2103120"/>
          </a:xfrm>
          <a:prstGeom prst="roundRect">
            <a:avLst>
              <a:gd name="adj" fmla="val 4348"/>
            </a:avLst>
          </a:prstGeom>
          <a:solidFill>
            <a:srgbClr val="F1F5FB"/>
          </a:solidFill>
          <a:ln/>
        </p:spPr>
      </p:sp>
      <p:sp>
        <p:nvSpPr>
          <p:cNvPr id="77" name="Shape 74"/>
          <p:cNvSpPr/>
          <p:nvPr/>
        </p:nvSpPr>
        <p:spPr>
          <a:xfrm>
            <a:off x="7269480" y="3703320"/>
            <a:ext cx="2103120" cy="91440"/>
          </a:xfrm>
          <a:prstGeom prst="rect">
            <a:avLst/>
          </a:prstGeom>
          <a:solidFill>
            <a:srgbClr val="5B6EE1"/>
          </a:solidFill>
          <a:ln/>
        </p:spPr>
      </p:sp>
      <p:sp>
        <p:nvSpPr>
          <p:cNvPr id="78" name="Shape 75"/>
          <p:cNvSpPr/>
          <p:nvPr/>
        </p:nvSpPr>
        <p:spPr>
          <a:xfrm>
            <a:off x="7434072" y="3959352"/>
            <a:ext cx="502920" cy="502920"/>
          </a:xfrm>
          <a:prstGeom prst="ellipse">
            <a:avLst/>
          </a:prstGeom>
          <a:solidFill>
            <a:srgbClr val="5B6EE1"/>
          </a:solidFill>
          <a:ln/>
        </p:spPr>
      </p:sp>
      <p:sp>
        <p:nvSpPr>
          <p:cNvPr id="79" name="Text 76"/>
          <p:cNvSpPr txBox="1"/>
          <p:nvPr/>
        </p:nvSpPr>
        <p:spPr>
          <a:xfrm>
            <a:off x="7434072" y="395935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9</a:t>
            </a:r>
            <a:endParaRPr lang="en-US" sz="1700" dirty="0"/>
          </a:p>
        </p:txBody>
      </p:sp>
      <p:sp>
        <p:nvSpPr>
          <p:cNvPr id="80" name="Text 77"/>
          <p:cNvSpPr txBox="1"/>
          <p:nvPr/>
        </p:nvSpPr>
        <p:spPr>
          <a:xfrm>
            <a:off x="8046720" y="3959352"/>
            <a:ext cx="1188720" cy="502920"/>
          </a:xfrm>
          <a:prstGeom prst="rect">
            <a:avLst/>
          </a:prstGeom>
          <a:noFill/>
          <a:ln/>
        </p:spPr>
        <p:txBody>
          <a:bodyPr wrap="square" lIns="0" tIns="0" rIns="0" bIns="0" rtlCol="0" anchor="ctr"/>
          <a:lstStyle/>
          <a:p>
            <a:pPr algn="r" indent="0" marL="0">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81" name="Text 78"/>
          <p:cNvSpPr txBox="1"/>
          <p:nvPr/>
        </p:nvSpPr>
        <p:spPr>
          <a:xfrm>
            <a:off x="7434072" y="452628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Forge the key</a:t>
            </a:r>
            <a:endParaRPr lang="en-US" sz="1500" dirty="0"/>
          </a:p>
        </p:txBody>
      </p:sp>
      <p:sp>
        <p:nvSpPr>
          <p:cNvPr id="82" name="Shape 79"/>
          <p:cNvSpPr/>
          <p:nvPr/>
        </p:nvSpPr>
        <p:spPr>
          <a:xfrm>
            <a:off x="7434072" y="5093208"/>
            <a:ext cx="1783080" cy="347472"/>
          </a:xfrm>
          <a:prstGeom prst="roundRect">
            <a:avLst>
              <a:gd name="adj" fmla="val 50000"/>
            </a:avLst>
          </a:prstGeom>
          <a:solidFill>
            <a:srgbClr val="FDE8EC"/>
          </a:solidFill>
          <a:ln/>
        </p:spPr>
      </p:sp>
      <p:sp>
        <p:nvSpPr>
          <p:cNvPr id="83" name="Text 80"/>
          <p:cNvSpPr txBox="1"/>
          <p:nvPr/>
        </p:nvSpPr>
        <p:spPr>
          <a:xfrm>
            <a:off x="7434072" y="5093208"/>
            <a:ext cx="1783080" cy="347472"/>
          </a:xfrm>
          <a:prstGeom prst="rect">
            <a:avLst/>
          </a:prstGeom>
          <a:noFill/>
          <a:ln/>
        </p:spPr>
        <p:txBody>
          <a:bodyPr wrap="square" lIns="0" tIns="0" rIns="0" bIns="0" rtlCol="0" anchor="ctr"/>
          <a:lstStyle/>
          <a:p>
            <a:pPr algn="ctr" indent="0" marL="0">
              <a:buNone/>
            </a:pPr>
            <a:r>
              <a:rPr lang="en-US" sz="1050" b="1" dirty="0">
                <a:solidFill>
                  <a:srgbClr val="B4233F"/>
                </a:solidFill>
                <a:latin typeface="Calibri" pitchFamily="34" charset="0"/>
                <a:ea typeface="Calibri" pitchFamily="34" charset="-122"/>
                <a:cs typeface="Calibri" pitchFamily="34" charset="-120"/>
              </a:rPr>
              <a:t>HARD  ·  400</a:t>
            </a:r>
            <a:endParaRPr lang="en-US" sz="1050" dirty="0"/>
          </a:p>
        </p:txBody>
      </p:sp>
      <p:sp>
        <p:nvSpPr>
          <p:cNvPr id="84" name="Text 81"/>
          <p:cNvSpPr txBox="1"/>
          <p:nvPr/>
        </p:nvSpPr>
        <p:spPr>
          <a:xfrm>
            <a:off x="7434072" y="5486400"/>
            <a:ext cx="1828800" cy="274320"/>
          </a:xfrm>
          <a:prstGeom prst="rect">
            <a:avLst/>
          </a:prstGeom>
          <a:noFill/>
          <a:ln/>
        </p:spPr>
        <p:txBody>
          <a:bodyPr wrap="square" lIns="0" tIns="0" rIns="0" bIns="0" rtlCol="0" anchor="t"/>
          <a:lstStyle/>
          <a:p>
            <a:pPr indent="0" marL="0">
              <a:buNone/>
            </a:pPr>
            <a:r>
              <a:rPr lang="en-US" sz="1000" dirty="0">
                <a:solidFill>
                  <a:srgbClr val="56657E"/>
                </a:solidFill>
                <a:latin typeface="Courier New" pitchFamily="34" charset="0"/>
                <a:ea typeface="Courier New" pitchFamily="34" charset="-122"/>
                <a:cs typeface="Courier New" pitchFamily="34" charset="-120"/>
              </a:rPr>
              <a:t>awk  &gt;  forge</a:t>
            </a:r>
            <a:endParaRPr lang="en-US" sz="1000" dirty="0"/>
          </a:p>
        </p:txBody>
      </p:sp>
      <p:sp>
        <p:nvSpPr>
          <p:cNvPr id="85" name="Shape 82"/>
          <p:cNvSpPr/>
          <p:nvPr/>
        </p:nvSpPr>
        <p:spPr>
          <a:xfrm>
            <a:off x="9509760" y="3703320"/>
            <a:ext cx="2103120" cy="2103120"/>
          </a:xfrm>
          <a:prstGeom prst="roundRect">
            <a:avLst>
              <a:gd name="adj" fmla="val 4348"/>
            </a:avLst>
          </a:prstGeom>
          <a:solidFill>
            <a:srgbClr val="F1F5FB"/>
          </a:solidFill>
          <a:ln/>
        </p:spPr>
      </p:sp>
      <p:sp>
        <p:nvSpPr>
          <p:cNvPr id="86" name="Shape 83"/>
          <p:cNvSpPr/>
          <p:nvPr/>
        </p:nvSpPr>
        <p:spPr>
          <a:xfrm>
            <a:off x="9509760" y="3703320"/>
            <a:ext cx="2103120" cy="91440"/>
          </a:xfrm>
          <a:prstGeom prst="rect">
            <a:avLst/>
          </a:prstGeom>
          <a:solidFill>
            <a:srgbClr val="B4233F"/>
          </a:solidFill>
          <a:ln/>
        </p:spPr>
      </p:sp>
      <p:sp>
        <p:nvSpPr>
          <p:cNvPr id="87" name="Shape 84"/>
          <p:cNvSpPr/>
          <p:nvPr/>
        </p:nvSpPr>
        <p:spPr>
          <a:xfrm>
            <a:off x="9674352" y="3959352"/>
            <a:ext cx="502920" cy="502920"/>
          </a:xfrm>
          <a:prstGeom prst="ellipse">
            <a:avLst/>
          </a:prstGeom>
          <a:solidFill>
            <a:srgbClr val="B4233F"/>
          </a:solidFill>
          <a:ln/>
        </p:spPr>
      </p:sp>
      <p:sp>
        <p:nvSpPr>
          <p:cNvPr id="88" name="Text 85"/>
          <p:cNvSpPr txBox="1"/>
          <p:nvPr/>
        </p:nvSpPr>
        <p:spPr>
          <a:xfrm>
            <a:off x="9674352" y="395935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10</a:t>
            </a:r>
            <a:endParaRPr lang="en-US" sz="1700" dirty="0"/>
          </a:p>
        </p:txBody>
      </p:sp>
      <p:sp>
        <p:nvSpPr>
          <p:cNvPr id="89" name="Text 86"/>
          <p:cNvSpPr txBox="1"/>
          <p:nvPr/>
        </p:nvSpPr>
        <p:spPr>
          <a:xfrm>
            <a:off x="10287000" y="3959352"/>
            <a:ext cx="1188720" cy="502920"/>
          </a:xfrm>
          <a:prstGeom prst="rect">
            <a:avLst/>
          </a:prstGeom>
          <a:noFill/>
          <a:ln/>
        </p:spPr>
        <p:txBody>
          <a:bodyPr wrap="square" lIns="0" tIns="0" rIns="0" bIns="0" rtlCol="0" anchor="ctr"/>
          <a:lstStyle/>
          <a:p>
            <a:pPr algn="r" indent="0" marL="0">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90" name="Text 87"/>
          <p:cNvSpPr txBox="1"/>
          <p:nvPr/>
        </p:nvSpPr>
        <p:spPr>
          <a:xfrm>
            <a:off x="9674352" y="452628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Endgame</a:t>
            </a:r>
            <a:endParaRPr lang="en-US" sz="1500" dirty="0"/>
          </a:p>
        </p:txBody>
      </p:sp>
      <p:sp>
        <p:nvSpPr>
          <p:cNvPr id="91" name="Shape 88"/>
          <p:cNvSpPr/>
          <p:nvPr/>
        </p:nvSpPr>
        <p:spPr>
          <a:xfrm>
            <a:off x="9674352" y="5093208"/>
            <a:ext cx="1783080" cy="347472"/>
          </a:xfrm>
          <a:prstGeom prst="roundRect">
            <a:avLst>
              <a:gd name="adj" fmla="val 50000"/>
            </a:avLst>
          </a:prstGeom>
          <a:solidFill>
            <a:srgbClr val="2A1430"/>
          </a:solidFill>
          <a:ln/>
        </p:spPr>
      </p:sp>
      <p:sp>
        <p:nvSpPr>
          <p:cNvPr id="92" name="Text 89"/>
          <p:cNvSpPr txBox="1"/>
          <p:nvPr/>
        </p:nvSpPr>
        <p:spPr>
          <a:xfrm>
            <a:off x="9674352" y="5093208"/>
            <a:ext cx="1783080" cy="347472"/>
          </a:xfrm>
          <a:prstGeom prst="rect">
            <a:avLst/>
          </a:prstGeom>
          <a:noFill/>
          <a:ln/>
        </p:spPr>
        <p:txBody>
          <a:bodyPr wrap="square" lIns="0" tIns="0" rIns="0" bIns="0" rtlCol="0" anchor="ctr"/>
          <a:lstStyle/>
          <a:p>
            <a:pPr algn="ctr" indent="0" marL="0">
              <a:buNone/>
            </a:pPr>
            <a:r>
              <a:rPr lang="en-US" sz="1050" b="1" dirty="0">
                <a:solidFill>
                  <a:srgbClr val="FF8FB1"/>
                </a:solidFill>
                <a:latin typeface="Calibri" pitchFamily="34" charset="0"/>
                <a:ea typeface="Calibri" pitchFamily="34" charset="-122"/>
                <a:cs typeface="Calibri" pitchFamily="34" charset="-120"/>
              </a:rPr>
              <a:t>VERY HARD  ·  800</a:t>
            </a:r>
            <a:endParaRPr lang="en-US" sz="1050" dirty="0"/>
          </a:p>
        </p:txBody>
      </p:sp>
      <p:sp>
        <p:nvSpPr>
          <p:cNvPr id="93" name="Text 90"/>
          <p:cNvSpPr txBox="1"/>
          <p:nvPr/>
        </p:nvSpPr>
        <p:spPr>
          <a:xfrm>
            <a:off x="9674352" y="5486400"/>
            <a:ext cx="1828800" cy="274320"/>
          </a:xfrm>
          <a:prstGeom prst="rect">
            <a:avLst/>
          </a:prstGeom>
          <a:noFill/>
          <a:ln/>
        </p:spPr>
        <p:txBody>
          <a:bodyPr wrap="square" lIns="0" tIns="0" rIns="0" bIns="0" rtlCol="0" anchor="t"/>
          <a:lstStyle/>
          <a:p>
            <a:pPr indent="0" marL="0">
              <a:buNone/>
            </a:pPr>
            <a:r>
              <a:rPr lang="en-US" sz="1000" dirty="0">
                <a:solidFill>
                  <a:srgbClr val="56657E"/>
                </a:solidFill>
                <a:latin typeface="Courier New" pitchFamily="34" charset="0"/>
                <a:ea typeface="Courier New" pitchFamily="34" charset="-122"/>
                <a:cs typeface="Courier New" pitchFamily="34" charset="-120"/>
              </a:rPr>
              <a:t>find  grep  cut  chmod</a:t>
            </a:r>
            <a:endParaRPr lang="en-US" sz="1000" dirty="0"/>
          </a:p>
        </p:txBody>
      </p:sp>
      <p:sp>
        <p:nvSpPr>
          <p:cNvPr id="94" name="Text 91"/>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40 / 79</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3" name="Shape 0"/>
          <p:cNvSpPr/>
          <p:nvPr/>
        </p:nvSpPr>
        <p:spPr>
          <a:xfrm>
            <a:off x="548640" y="438912"/>
            <a:ext cx="1828800" cy="347472"/>
          </a:xfrm>
          <a:prstGeom prst="roundRect">
            <a:avLst>
              <a:gd name="adj" fmla="val 50000"/>
            </a:avLst>
          </a:prstGeom>
          <a:solidFill>
            <a:srgbClr val="17875A"/>
          </a:solidFill>
          <a:ln/>
        </p:spPr>
      </p:sp>
      <p:sp>
        <p:nvSpPr>
          <p:cNvPr id="4" name="Text 1"/>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1 of 10</a:t>
            </a:r>
            <a:endParaRPr lang="en-US" sz="1400" dirty="0"/>
          </a:p>
        </p:txBody>
      </p:sp>
      <p:sp>
        <p:nvSpPr>
          <p:cNvPr id="5" name="Shape 2"/>
          <p:cNvSpPr/>
          <p:nvPr/>
        </p:nvSpPr>
        <p:spPr>
          <a:xfrm>
            <a:off x="2514600" y="438912"/>
            <a:ext cx="1828800" cy="347472"/>
          </a:xfrm>
          <a:prstGeom prst="roundRect">
            <a:avLst>
              <a:gd name="adj" fmla="val 50000"/>
            </a:avLst>
          </a:prstGeom>
          <a:solidFill>
            <a:srgbClr val="E2F5EC"/>
          </a:solidFill>
          <a:ln/>
        </p:spPr>
      </p:sp>
      <p:sp>
        <p:nvSpPr>
          <p:cNvPr id="6" name="Text 3"/>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7" name="Shape 4"/>
          <p:cNvSpPr/>
          <p:nvPr/>
        </p:nvSpPr>
        <p:spPr>
          <a:xfrm>
            <a:off x="6766560" y="420624"/>
            <a:ext cx="421538" cy="402336"/>
          </a:xfrm>
          <a:prstGeom prst="roundRect">
            <a:avLst>
              <a:gd name="adj" fmla="val 13636"/>
            </a:avLst>
          </a:prstGeom>
          <a:solidFill>
            <a:srgbClr val="17875A"/>
          </a:solidFill>
          <a:ln/>
        </p:spPr>
      </p:sp>
      <p:sp>
        <p:nvSpPr>
          <p:cNvPr id="8" name="Text 5"/>
          <p:cNvSpPr txBox="1"/>
          <p:nvPr/>
        </p:nvSpPr>
        <p:spPr>
          <a:xfrm>
            <a:off x="6766560"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Shape 6"/>
          <p:cNvSpPr/>
          <p:nvPr/>
        </p:nvSpPr>
        <p:spPr>
          <a:xfrm>
            <a:off x="7261250" y="475488"/>
            <a:ext cx="421538" cy="292608"/>
          </a:xfrm>
          <a:prstGeom prst="roundRect">
            <a:avLst>
              <a:gd name="adj" fmla="val 18750"/>
            </a:avLst>
          </a:prstGeom>
          <a:solidFill>
            <a:srgbClr val="E4EAF3"/>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75488"/>
            <a:ext cx="421538" cy="292608"/>
          </a:xfrm>
          <a:prstGeom prst="roundRect">
            <a:avLst>
              <a:gd name="adj" fmla="val 18750"/>
            </a:avLst>
          </a:prstGeom>
          <a:solidFill>
            <a:srgbClr val="E4EAF3"/>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75488"/>
            <a:ext cx="421538" cy="292608"/>
          </a:xfrm>
          <a:prstGeom prst="roundRect">
            <a:avLst>
              <a:gd name="adj" fmla="val 18750"/>
            </a:avLst>
          </a:prstGeom>
          <a:solidFill>
            <a:srgbClr val="E4EAF3"/>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75488"/>
            <a:ext cx="421538" cy="292608"/>
          </a:xfrm>
          <a:prstGeom prst="roundRect">
            <a:avLst>
              <a:gd name="adj" fmla="val 18750"/>
            </a:avLst>
          </a:prstGeom>
          <a:solidFill>
            <a:srgbClr val="E4EAF3"/>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75488"/>
            <a:ext cx="421538" cy="292608"/>
          </a:xfrm>
          <a:prstGeom prst="roundRect">
            <a:avLst>
              <a:gd name="adj" fmla="val 18750"/>
            </a:avLst>
          </a:prstGeom>
          <a:solidFill>
            <a:srgbClr val="E4EAF3"/>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75488"/>
            <a:ext cx="421538" cy="292608"/>
          </a:xfrm>
          <a:prstGeom prst="roundRect">
            <a:avLst>
              <a:gd name="adj" fmla="val 18750"/>
            </a:avLst>
          </a:prstGeom>
          <a:solidFill>
            <a:srgbClr val="E4EAF3"/>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75488"/>
            <a:ext cx="421538" cy="292608"/>
          </a:xfrm>
          <a:prstGeom prst="roundRect">
            <a:avLst>
              <a:gd name="adj" fmla="val 18750"/>
            </a:avLst>
          </a:prstGeom>
          <a:solidFill>
            <a:srgbClr val="E4EAF3"/>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75488"/>
            <a:ext cx="421538" cy="292608"/>
          </a:xfrm>
          <a:prstGeom prst="roundRect">
            <a:avLst>
              <a:gd name="adj" fmla="val 18750"/>
            </a:avLst>
          </a:prstGeom>
          <a:solidFill>
            <a:srgbClr val="E4EAF3"/>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Make your move</a:t>
            </a:r>
            <a:endParaRPr lang="en-US" sz="4200" dirty="0"/>
          </a:p>
        </p:txBody>
      </p:sp>
      <p:sp>
        <p:nvSpPr>
          <p:cNvPr id="28" name="Shape 25"/>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29" name="Text 26"/>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0" name="Text 27"/>
          <p:cNvSpPr txBox="1"/>
          <p:nvPr/>
        </p:nvSpPr>
        <p:spPr>
          <a:xfrm>
            <a:off x="914400" y="2560320"/>
            <a:ext cx="5715000" cy="2057400"/>
          </a:xfrm>
          <a:prstGeom prst="rect">
            <a:avLst/>
          </a:prstGeom>
          <a:noFill/>
          <a:ln/>
        </p:spPr>
        <p:txBody>
          <a:bodyPr wrap="square" lIns="0" tIns="0" rIns="0" bIns="0" rtlCol="0" anchor="t"/>
          <a:lstStyle/>
          <a:p>
            <a:pPr indent="0" marL="0">
              <a:buNone/>
            </a:pPr>
            <a:r>
              <a:rPr lang="en-US" sz="2200" dirty="0">
                <a:solidFill>
                  <a:srgbClr val="FFFFFF"/>
                </a:solidFill>
                <a:latin typeface="Calibri" pitchFamily="34" charset="0"/>
                <a:ea typeface="Calibri" pitchFamily="34" charset="-122"/>
                <a:cs typeface="Calibri" pitchFamily="34" charset="-120"/>
              </a:rPr>
              <a:t>A flag waits at the end of a trail of folders. Nothing needs opening: the file names are signposts. Read them with ls, follow them with cd.</a:t>
            </a:r>
            <a:endParaRPr lang="en-US" sz="2200" dirty="0"/>
          </a:p>
        </p:txBody>
      </p:sp>
      <p:sp>
        <p:nvSpPr>
          <p:cNvPr id="31" name="Text 28"/>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~/mission1/town</a:t>
            </a:r>
            <a:endParaRPr lang="en-US" sz="1300" dirty="0"/>
          </a:p>
        </p:txBody>
      </p:sp>
      <p:sp>
        <p:nvSpPr>
          <p:cNvPr id="32" name="Shape 29"/>
          <p:cNvSpPr/>
          <p:nvPr/>
        </p:nvSpPr>
        <p:spPr>
          <a:xfrm>
            <a:off x="914400" y="5166360"/>
            <a:ext cx="3291840" cy="502920"/>
          </a:xfrm>
          <a:prstGeom prst="roundRect">
            <a:avLst>
              <a:gd name="adj" fmla="val 14545"/>
            </a:avLst>
          </a:prstGeom>
          <a:solidFill>
            <a:srgbClr val="F5A623"/>
          </a:solidFill>
          <a:ln/>
        </p:spPr>
      </p:sp>
      <p:sp>
        <p:nvSpPr>
          <p:cNvPr id="33" name="Text 30"/>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50" dirty="0">
                <a:solidFill>
                  <a:srgbClr val="12213A"/>
                </a:solidFill>
                <a:latin typeface="Calibri" pitchFamily="34" charset="0"/>
                <a:ea typeface="Calibri" pitchFamily="34" charset="-122"/>
                <a:cs typeface="Calibri" pitchFamily="34" charset="-120"/>
              </a:rPr>
              <a:t>Tools: </a:t>
            </a:r>
            <a:pPr algn="ctr" indent="0" marL="0">
              <a:buNone/>
            </a:pPr>
            <a:r>
              <a:rPr lang="en-US" sz="1350" b="1" dirty="0">
                <a:solidFill>
                  <a:srgbClr val="12213A"/>
                </a:solidFill>
                <a:latin typeface="Courier New" pitchFamily="34" charset="0"/>
                <a:ea typeface="Courier New" pitchFamily="34" charset="-122"/>
                <a:cs typeface="Courier New" pitchFamily="34" charset="-120"/>
              </a:rPr>
              <a:t>pwd  ls  cd  cd ..</a:t>
            </a:r>
            <a:endParaRPr lang="en-US" sz="1350" dirty="0"/>
          </a:p>
        </p:txBody>
      </p:sp>
      <p:sp>
        <p:nvSpPr>
          <p:cNvPr id="34" name="Shape 31"/>
          <p:cNvSpPr/>
          <p:nvPr/>
        </p:nvSpPr>
        <p:spPr>
          <a:xfrm>
            <a:off x="4389120" y="5166360"/>
            <a:ext cx="2240280" cy="502920"/>
          </a:xfrm>
          <a:prstGeom prst="roundRect">
            <a:avLst>
              <a:gd name="adj" fmla="val 14545"/>
            </a:avLst>
          </a:prstGeom>
          <a:solidFill>
            <a:srgbClr val="2B3B5C"/>
          </a:solidFill>
          <a:ln/>
        </p:spPr>
      </p:sp>
      <p:sp>
        <p:nvSpPr>
          <p:cNvPr id="35" name="Text 32"/>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+100 points</a:t>
            </a:r>
            <a:endParaRPr lang="en-US" sz="1600" dirty="0"/>
          </a:p>
        </p:txBody>
      </p:sp>
      <p:sp>
        <p:nvSpPr>
          <p:cNvPr id="36" name="Shape 33"/>
          <p:cNvSpPr/>
          <p:nvPr/>
        </p:nvSpPr>
        <p:spPr>
          <a:xfrm>
            <a:off x="7269480" y="1920240"/>
            <a:ext cx="4370832" cy="2788920"/>
          </a:xfrm>
          <a:prstGeom prst="roundRect">
            <a:avLst>
              <a:gd name="adj" fmla="val 3279"/>
            </a:avLst>
          </a:prstGeom>
          <a:solidFill>
            <a:srgbClr val="F1F5FB"/>
          </a:solidFill>
          <a:ln/>
        </p:spPr>
      </p:sp>
      <p:sp>
        <p:nvSpPr>
          <p:cNvPr id="37" name="Text 34"/>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38" name="Text 35"/>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Which command shows where you are right now?</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A sign says 'dead end, go back up'. What do we type?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will we know which names are folders and which are signs?</a:t>
            </a:r>
            <a:endParaRPr lang="en-US" sz="1550" dirty="0"/>
          </a:p>
        </p:txBody>
      </p:sp>
      <p:sp>
        <p:nvSpPr>
          <p:cNvPr id="39" name="Shape 36"/>
          <p:cNvSpPr/>
          <p:nvPr/>
        </p:nvSpPr>
        <p:spPr>
          <a:xfrm>
            <a:off x="7269480" y="4892040"/>
            <a:ext cx="4370832" cy="1051560"/>
          </a:xfrm>
          <a:prstGeom prst="roundRect">
            <a:avLst>
              <a:gd name="adj" fmla="val 8696"/>
            </a:avLst>
          </a:prstGeom>
          <a:solidFill>
            <a:srgbClr val="2459D8"/>
          </a:solidFill>
          <a:ln/>
        </p:spPr>
      </p:sp>
      <p:sp>
        <p:nvSpPr>
          <p:cNvPr id="40" name="Text 37"/>
          <p:cNvSpPr txBox="1"/>
          <p:nvPr/>
        </p:nvSpPr>
        <p:spPr>
          <a:xfrm>
            <a:off x="7498080" y="4892040"/>
            <a:ext cx="15544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We do</a:t>
            </a:r>
            <a:endParaRPr lang="en-US" sz="2400" dirty="0"/>
          </a:p>
        </p:txBody>
      </p:sp>
      <p:sp>
        <p:nvSpPr>
          <p:cNvPr id="41" name="Text 38"/>
          <p:cNvSpPr txBox="1"/>
          <p:nvPr/>
        </p:nvSpPr>
        <p:spPr>
          <a:xfrm>
            <a:off x="9098280" y="4892040"/>
            <a:ext cx="2377440" cy="10515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Class calls out each command. Mentor types.</a:t>
            </a:r>
            <a:endParaRPr lang="en-US" sz="1350" dirty="0"/>
          </a:p>
        </p:txBody>
      </p:sp>
      <p:sp>
        <p:nvSpPr>
          <p:cNvPr id="42" name="Text 39"/>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41 / 79</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3" name="Shape 0"/>
          <p:cNvSpPr/>
          <p:nvPr/>
        </p:nvSpPr>
        <p:spPr>
          <a:xfrm>
            <a:off x="548640" y="438912"/>
            <a:ext cx="2103120" cy="347472"/>
          </a:xfrm>
          <a:prstGeom prst="roundRect">
            <a:avLst>
              <a:gd name="adj" fmla="val 50000"/>
            </a:avLst>
          </a:prstGeom>
          <a:solidFill>
            <a:srgbClr val="17875A"/>
          </a:solidFill>
          <a:ln/>
        </p:spPr>
      </p:sp>
      <p:sp>
        <p:nvSpPr>
          <p:cNvPr id="4" name="Text 1"/>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1 of 10</a:t>
            </a:r>
            <a:endParaRPr lang="en-US" sz="1400" dirty="0"/>
          </a:p>
        </p:txBody>
      </p:sp>
      <p:sp>
        <p:nvSpPr>
          <p:cNvPr id="5" name="Shape 2"/>
          <p:cNvSpPr/>
          <p:nvPr/>
        </p:nvSpPr>
        <p:spPr>
          <a:xfrm>
            <a:off x="2788920" y="438912"/>
            <a:ext cx="1828800" cy="347472"/>
          </a:xfrm>
          <a:prstGeom prst="roundRect">
            <a:avLst>
              <a:gd name="adj" fmla="val 50000"/>
            </a:avLst>
          </a:prstGeom>
          <a:solidFill>
            <a:srgbClr val="E2F5EC"/>
          </a:solidFill>
          <a:ln/>
        </p:spPr>
      </p:sp>
      <p:sp>
        <p:nvSpPr>
          <p:cNvPr id="6" name="Text 3"/>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7" name="Shape 4"/>
          <p:cNvSpPr/>
          <p:nvPr/>
        </p:nvSpPr>
        <p:spPr>
          <a:xfrm>
            <a:off x="6766560" y="420624"/>
            <a:ext cx="421538" cy="402336"/>
          </a:xfrm>
          <a:prstGeom prst="roundRect">
            <a:avLst>
              <a:gd name="adj" fmla="val 13636"/>
            </a:avLst>
          </a:prstGeom>
          <a:solidFill>
            <a:srgbClr val="17875A"/>
          </a:solidFill>
          <a:ln/>
        </p:spPr>
      </p:sp>
      <p:sp>
        <p:nvSpPr>
          <p:cNvPr id="8" name="Text 5"/>
          <p:cNvSpPr txBox="1"/>
          <p:nvPr/>
        </p:nvSpPr>
        <p:spPr>
          <a:xfrm>
            <a:off x="6766560"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Shape 6"/>
          <p:cNvSpPr/>
          <p:nvPr/>
        </p:nvSpPr>
        <p:spPr>
          <a:xfrm>
            <a:off x="7261250" y="475488"/>
            <a:ext cx="421538" cy="292608"/>
          </a:xfrm>
          <a:prstGeom prst="roundRect">
            <a:avLst>
              <a:gd name="adj" fmla="val 18750"/>
            </a:avLst>
          </a:prstGeom>
          <a:solidFill>
            <a:srgbClr val="E4EAF3"/>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75488"/>
            <a:ext cx="421538" cy="292608"/>
          </a:xfrm>
          <a:prstGeom prst="roundRect">
            <a:avLst>
              <a:gd name="adj" fmla="val 18750"/>
            </a:avLst>
          </a:prstGeom>
          <a:solidFill>
            <a:srgbClr val="E4EAF3"/>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75488"/>
            <a:ext cx="421538" cy="292608"/>
          </a:xfrm>
          <a:prstGeom prst="roundRect">
            <a:avLst>
              <a:gd name="adj" fmla="val 18750"/>
            </a:avLst>
          </a:prstGeom>
          <a:solidFill>
            <a:srgbClr val="E4EAF3"/>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75488"/>
            <a:ext cx="421538" cy="292608"/>
          </a:xfrm>
          <a:prstGeom prst="roundRect">
            <a:avLst>
              <a:gd name="adj" fmla="val 18750"/>
            </a:avLst>
          </a:prstGeom>
          <a:solidFill>
            <a:srgbClr val="E4EAF3"/>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75488"/>
            <a:ext cx="421538" cy="292608"/>
          </a:xfrm>
          <a:prstGeom prst="roundRect">
            <a:avLst>
              <a:gd name="adj" fmla="val 18750"/>
            </a:avLst>
          </a:prstGeom>
          <a:solidFill>
            <a:srgbClr val="E4EAF3"/>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75488"/>
            <a:ext cx="421538" cy="292608"/>
          </a:xfrm>
          <a:prstGeom prst="roundRect">
            <a:avLst>
              <a:gd name="adj" fmla="val 18750"/>
            </a:avLst>
          </a:prstGeom>
          <a:solidFill>
            <a:srgbClr val="E4EAF3"/>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75488"/>
            <a:ext cx="421538" cy="292608"/>
          </a:xfrm>
          <a:prstGeom prst="roundRect">
            <a:avLst>
              <a:gd name="adj" fmla="val 18750"/>
            </a:avLst>
          </a:prstGeom>
          <a:solidFill>
            <a:srgbClr val="E4EAF3"/>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75488"/>
            <a:ext cx="421538" cy="292608"/>
          </a:xfrm>
          <a:prstGeom prst="roundRect">
            <a:avLst>
              <a:gd name="adj" fmla="val 18750"/>
            </a:avLst>
          </a:prstGeom>
          <a:solidFill>
            <a:srgbClr val="E4EAF3"/>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Solving Make your move</a:t>
            </a:r>
            <a:endParaRPr lang="en-US" sz="3000" dirty="0"/>
          </a:p>
        </p:txBody>
      </p:sp>
      <p:sp>
        <p:nvSpPr>
          <p:cNvPr id="28" name="Shape 25"/>
          <p:cNvSpPr/>
          <p:nvPr/>
        </p:nvSpPr>
        <p:spPr>
          <a:xfrm>
            <a:off x="548640" y="1691640"/>
            <a:ext cx="6720840" cy="4251960"/>
          </a:xfrm>
          <a:prstGeom prst="roundRect">
            <a:avLst>
              <a:gd name="adj" fmla="val 2151"/>
            </a:avLst>
          </a:prstGeom>
          <a:solidFill>
            <a:srgbClr val="0E1726"/>
          </a:solidFill>
          <a:ln/>
          <a:effectLst>
            <a:outerShdw sx="100000" sy="100000" kx="0" ky="0" algn="bl" rotWithShape="0" blurRad="127000" dist="38100" dir="5400000">
              <a:srgbClr val="12213A">
                <a:alpha val="22000"/>
              </a:srgbClr>
            </a:outerShdw>
          </a:effectLst>
        </p:spPr>
      </p:sp>
      <p:sp>
        <p:nvSpPr>
          <p:cNvPr id="29" name="Shape 26"/>
          <p:cNvSpPr/>
          <p:nvPr/>
        </p:nvSpPr>
        <p:spPr>
          <a:xfrm>
            <a:off x="749808" y="1847088"/>
            <a:ext cx="118872" cy="118872"/>
          </a:xfrm>
          <a:prstGeom prst="ellipse">
            <a:avLst/>
          </a:prstGeom>
          <a:solidFill>
            <a:srgbClr val="E5534B"/>
          </a:solidFill>
          <a:ln/>
        </p:spPr>
      </p:sp>
      <p:sp>
        <p:nvSpPr>
          <p:cNvPr id="30" name="Shape 27"/>
          <p:cNvSpPr/>
          <p:nvPr/>
        </p:nvSpPr>
        <p:spPr>
          <a:xfrm>
            <a:off x="950976" y="1847088"/>
            <a:ext cx="118872" cy="118872"/>
          </a:xfrm>
          <a:prstGeom prst="ellipse">
            <a:avLst/>
          </a:prstGeom>
          <a:solidFill>
            <a:srgbClr val="F5A623"/>
          </a:solidFill>
          <a:ln/>
        </p:spPr>
      </p:sp>
      <p:sp>
        <p:nvSpPr>
          <p:cNvPr id="31" name="Shape 28"/>
          <p:cNvSpPr/>
          <p:nvPr/>
        </p:nvSpPr>
        <p:spPr>
          <a:xfrm>
            <a:off x="1152144" y="1847088"/>
            <a:ext cx="118872" cy="118872"/>
          </a:xfrm>
          <a:prstGeom prst="ellipse">
            <a:avLst/>
          </a:prstGeom>
          <a:solidFill>
            <a:srgbClr val="46D39A"/>
          </a:solidFill>
          <a:ln/>
        </p:spPr>
      </p:sp>
      <p:sp>
        <p:nvSpPr>
          <p:cNvPr id="32" name="Text 29"/>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3" name="Text 30"/>
          <p:cNvSpPr txBox="1"/>
          <p:nvPr/>
        </p:nvSpPr>
        <p:spPr>
          <a:xfrm>
            <a:off x="822960" y="2148840"/>
            <a:ext cx="6172200" cy="3657600"/>
          </a:xfrm>
          <a:prstGeom prst="rect">
            <a:avLst/>
          </a:prstGeom>
          <a:noFill/>
          <a:ln/>
        </p:spPr>
        <p:txBody>
          <a:bodyPr wrap="square" lIns="0" tIns="0" rIns="0" bIns="0" rtlCol="0" anchor="t"/>
          <a:lstStyle/>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cd ~/mission1/town</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ls</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library  market  park  sign--go-into-the-library</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cd library</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ls</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dead-end--go-back-up-and-try-the-park</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cd ..</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cd park</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ls</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gazebo  go-into-the-gazebo-then-the-crate</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cd gazebo/crate</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ls</a:t>
            </a:r>
            <a:endParaRPr lang="en-US" sz="1200" dirty="0"/>
          </a:p>
          <a:p>
            <a:pPr indent="0" marL="0">
              <a:spcAft>
                <a:spcPts val="200"/>
              </a:spcAft>
              <a:buNone/>
            </a:pPr>
            <a:r>
              <a:rPr lang="en-US" sz="1200" b="1" dirty="0">
                <a:solidFill>
                  <a:srgbClr val="F5A623"/>
                </a:solidFill>
                <a:latin typeface="Courier New" pitchFamily="34" charset="0"/>
                <a:ea typeface="Courier New" pitchFamily="34" charset="-122"/>
                <a:cs typeface="Courier New" pitchFamily="34" charset="-120"/>
              </a:rPr>
              <a:t>CYBA{moves-...}  you-made-it--the-flag-is-the-file-name</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submit CYBA{moves-...}</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Correct! +100 points</a:t>
            </a:r>
            <a:endParaRPr lang="en-US" sz="1200" dirty="0"/>
          </a:p>
        </p:txBody>
      </p:sp>
      <p:sp>
        <p:nvSpPr>
          <p:cNvPr id="34" name="Text 31"/>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5" name="Shape 32"/>
          <p:cNvSpPr/>
          <p:nvPr/>
        </p:nvSpPr>
        <p:spPr>
          <a:xfrm>
            <a:off x="7543800" y="2194560"/>
            <a:ext cx="457200" cy="457200"/>
          </a:xfrm>
          <a:prstGeom prst="ellipse">
            <a:avLst/>
          </a:prstGeom>
          <a:solidFill>
            <a:srgbClr val="17875A"/>
          </a:solidFill>
          <a:ln/>
        </p:spPr>
      </p:sp>
      <p:sp>
        <p:nvSpPr>
          <p:cNvPr id="36" name="Text 33"/>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7" name="Text 34"/>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ls read the signposts: the names of the files in each folder.</a:t>
            </a:r>
            <a:endParaRPr lang="en-US" sz="1400" dirty="0"/>
          </a:p>
        </p:txBody>
      </p:sp>
      <p:sp>
        <p:nvSpPr>
          <p:cNvPr id="38" name="Shape 35"/>
          <p:cNvSpPr/>
          <p:nvPr/>
        </p:nvSpPr>
        <p:spPr>
          <a:xfrm>
            <a:off x="7543800" y="2980944"/>
            <a:ext cx="457200" cy="457200"/>
          </a:xfrm>
          <a:prstGeom prst="ellipse">
            <a:avLst/>
          </a:prstGeom>
          <a:solidFill>
            <a:srgbClr val="17875A"/>
          </a:solidFill>
          <a:ln/>
        </p:spPr>
      </p:sp>
      <p:sp>
        <p:nvSpPr>
          <p:cNvPr id="39" name="Text 36"/>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0" name="Text 37"/>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cd followed them, and cd .. backed out of the dead end.</a:t>
            </a:r>
            <a:endParaRPr lang="en-US" sz="1400" dirty="0"/>
          </a:p>
        </p:txBody>
      </p:sp>
      <p:sp>
        <p:nvSpPr>
          <p:cNvPr id="41" name="Shape 38"/>
          <p:cNvSpPr/>
          <p:nvPr/>
        </p:nvSpPr>
        <p:spPr>
          <a:xfrm>
            <a:off x="7543800" y="3767328"/>
            <a:ext cx="457200" cy="457200"/>
          </a:xfrm>
          <a:prstGeom prst="ellipse">
            <a:avLst/>
          </a:prstGeom>
          <a:solidFill>
            <a:srgbClr val="17875A"/>
          </a:solidFill>
          <a:ln/>
        </p:spPr>
      </p:sp>
      <p:sp>
        <p:nvSpPr>
          <p:cNvPr id="42" name="Text 39"/>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3" name="Text 40"/>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The last folder's file is named after the flag. No cat needed.</a:t>
            </a:r>
            <a:endParaRPr lang="en-US" sz="1400" dirty="0"/>
          </a:p>
        </p:txBody>
      </p:sp>
      <p:sp>
        <p:nvSpPr>
          <p:cNvPr id="44" name="Shape 41"/>
          <p:cNvSpPr/>
          <p:nvPr/>
        </p:nvSpPr>
        <p:spPr>
          <a:xfrm>
            <a:off x="7543800" y="4572000"/>
            <a:ext cx="4096512" cy="749808"/>
          </a:xfrm>
          <a:prstGeom prst="roundRect">
            <a:avLst>
              <a:gd name="adj" fmla="val 12195"/>
            </a:avLst>
          </a:prstGeom>
          <a:solidFill>
            <a:srgbClr val="FFF4DC"/>
          </a:solidFill>
          <a:ln/>
        </p:spPr>
      </p:sp>
      <p:sp>
        <p:nvSpPr>
          <p:cNvPr id="45" name="Text 42"/>
          <p:cNvSpPr txBox="1"/>
          <p:nvPr/>
        </p:nvSpPr>
        <p:spPr>
          <a:xfrm>
            <a:off x="7699248" y="4572000"/>
            <a:ext cx="3803904" cy="749808"/>
          </a:xfrm>
          <a:prstGeom prst="rect">
            <a:avLst/>
          </a:prstGeom>
          <a:noFill/>
          <a:ln/>
        </p:spPr>
        <p:txBody>
          <a:bodyPr wrap="square" lIns="0" tIns="0" rIns="0" bIns="0" rtlCol="0" anchor="ctr"/>
          <a:lstStyle/>
          <a:p>
            <a:pPr indent="0" marL="0">
              <a:buNone/>
            </a:pPr>
            <a:r>
              <a:rPr lang="en-US" sz="1300" b="1" dirty="0">
                <a:solidFill>
                  <a:srgbClr val="12213A"/>
                </a:solidFill>
                <a:latin typeface="Calibri" pitchFamily="34" charset="0"/>
                <a:ea typeface="Calibri" pitchFamily="34" charset="-122"/>
                <a:cs typeface="Calibri" pitchFamily="34" charset="-120"/>
              </a:rPr>
              <a:t>Real world: </a:t>
            </a:r>
            <a:pPr indent="0" marL="0">
              <a:buNone/>
            </a:pPr>
            <a:r>
              <a:rPr lang="en-US" sz="1300" dirty="0">
                <a:solidFill>
                  <a:srgbClr val="12213A"/>
                </a:solidFill>
                <a:latin typeface="Calibri" pitchFamily="34" charset="0"/>
                <a:ea typeface="Calibri" pitchFamily="34" charset="-122"/>
                <a:cs typeface="Calibri" pitchFamily="34" charset="-120"/>
              </a:rPr>
              <a:t>Responders land on unfamiliar servers and have to find their way around by typing.</a:t>
            </a:r>
            <a:endParaRPr lang="en-US" sz="1300" dirty="0"/>
          </a:p>
        </p:txBody>
      </p:sp>
      <p:sp>
        <p:nvSpPr>
          <p:cNvPr id="46" name="Shape 43"/>
          <p:cNvSpPr/>
          <p:nvPr/>
        </p:nvSpPr>
        <p:spPr>
          <a:xfrm>
            <a:off x="7543800" y="5413248"/>
            <a:ext cx="4096512" cy="566928"/>
          </a:xfrm>
          <a:prstGeom prst="roundRect">
            <a:avLst>
              <a:gd name="adj" fmla="val 16129"/>
            </a:avLst>
          </a:prstGeom>
          <a:solidFill>
            <a:srgbClr val="F1F5FB"/>
          </a:solidFill>
          <a:ln/>
        </p:spPr>
      </p:sp>
      <p:sp>
        <p:nvSpPr>
          <p:cNvPr id="47" name="Text 44"/>
          <p:cNvSpPr txBox="1"/>
          <p:nvPr/>
        </p:nvSpPr>
        <p:spPr>
          <a:xfrm>
            <a:off x="7699248" y="5413248"/>
            <a:ext cx="3803904" cy="566928"/>
          </a:xfrm>
          <a:prstGeom prst="rect">
            <a:avLst/>
          </a:prstGeom>
          <a:noFill/>
          <a:ln/>
        </p:spPr>
        <p:txBody>
          <a:bodyPr wrap="square" lIns="0" tIns="0" rIns="0" bIns="0" rtlCol="0" anchor="ctr"/>
          <a:lstStyle/>
          <a:p>
            <a:pPr indent="0" marL="0">
              <a:buNone/>
            </a:pPr>
            <a:r>
              <a:rPr lang="en-US" sz="1200" b="1" dirty="0">
                <a:solidFill>
                  <a:srgbClr val="17875A"/>
                </a:solidFill>
                <a:latin typeface="Calibri" pitchFamily="34" charset="0"/>
                <a:ea typeface="Calibri" pitchFamily="34" charset="-122"/>
                <a:cs typeface="Calibri" pitchFamily="34" charset="-120"/>
              </a:rPr>
              <a:t>Stretch: </a:t>
            </a:r>
            <a:pPr indent="0" marL="0">
              <a:buNone/>
            </a:pPr>
            <a:r>
              <a:rPr lang="en-US" sz="1200" dirty="0">
                <a:solidFill>
                  <a:srgbClr val="12213A"/>
                </a:solidFill>
                <a:latin typeface="Calibri" pitchFamily="34" charset="0"/>
                <a:ea typeface="Calibri" pitchFamily="34" charset="-122"/>
                <a:cs typeface="Calibri" pitchFamily="34" charset="-120"/>
              </a:rPr>
              <a:t>From the crate folder, how many  cd ..  get you back to ~/mission1? Check with pwd.</a:t>
            </a:r>
            <a:endParaRPr lang="en-US" sz="1200" dirty="0"/>
          </a:p>
        </p:txBody>
      </p:sp>
      <p:sp>
        <p:nvSpPr>
          <p:cNvPr id="48" name="Text 45"/>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49" name="Text 46"/>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42 / 79</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3" name="Shape 0"/>
          <p:cNvSpPr/>
          <p:nvPr/>
        </p:nvSpPr>
        <p:spPr>
          <a:xfrm>
            <a:off x="548640" y="438912"/>
            <a:ext cx="1828800" cy="347472"/>
          </a:xfrm>
          <a:prstGeom prst="roundRect">
            <a:avLst>
              <a:gd name="adj" fmla="val 50000"/>
            </a:avLst>
          </a:prstGeom>
          <a:solidFill>
            <a:srgbClr val="2A9FD6"/>
          </a:solidFill>
          <a:ln/>
        </p:spPr>
      </p:sp>
      <p:sp>
        <p:nvSpPr>
          <p:cNvPr id="4" name="Text 1"/>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2 of 10</a:t>
            </a:r>
            <a:endParaRPr lang="en-US" sz="1400" dirty="0"/>
          </a:p>
        </p:txBody>
      </p:sp>
      <p:sp>
        <p:nvSpPr>
          <p:cNvPr id="5" name="Shape 2"/>
          <p:cNvSpPr/>
          <p:nvPr/>
        </p:nvSpPr>
        <p:spPr>
          <a:xfrm>
            <a:off x="2514600" y="438912"/>
            <a:ext cx="1828800" cy="347472"/>
          </a:xfrm>
          <a:prstGeom prst="roundRect">
            <a:avLst>
              <a:gd name="adj" fmla="val 50000"/>
            </a:avLst>
          </a:prstGeom>
          <a:solidFill>
            <a:srgbClr val="E2F5EC"/>
          </a:solidFill>
          <a:ln/>
        </p:spPr>
      </p:sp>
      <p:sp>
        <p:nvSpPr>
          <p:cNvPr id="6" name="Text 3"/>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20624"/>
            <a:ext cx="421538" cy="402336"/>
          </a:xfrm>
          <a:prstGeom prst="roundRect">
            <a:avLst>
              <a:gd name="adj" fmla="val 13636"/>
            </a:avLst>
          </a:prstGeom>
          <a:solidFill>
            <a:srgbClr val="2A9FD6"/>
          </a:solidFill>
          <a:ln/>
        </p:spPr>
      </p:sp>
      <p:sp>
        <p:nvSpPr>
          <p:cNvPr id="10" name="Text 7"/>
          <p:cNvSpPr txBox="1"/>
          <p:nvPr/>
        </p:nvSpPr>
        <p:spPr>
          <a:xfrm>
            <a:off x="7261250"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Shape 8"/>
          <p:cNvSpPr/>
          <p:nvPr/>
        </p:nvSpPr>
        <p:spPr>
          <a:xfrm>
            <a:off x="7755941" y="475488"/>
            <a:ext cx="421538" cy="292608"/>
          </a:xfrm>
          <a:prstGeom prst="roundRect">
            <a:avLst>
              <a:gd name="adj" fmla="val 18750"/>
            </a:avLst>
          </a:prstGeom>
          <a:solidFill>
            <a:srgbClr val="E4EAF3"/>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75488"/>
            <a:ext cx="421538" cy="292608"/>
          </a:xfrm>
          <a:prstGeom prst="roundRect">
            <a:avLst>
              <a:gd name="adj" fmla="val 18750"/>
            </a:avLst>
          </a:prstGeom>
          <a:solidFill>
            <a:srgbClr val="E4EAF3"/>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75488"/>
            <a:ext cx="421538" cy="292608"/>
          </a:xfrm>
          <a:prstGeom prst="roundRect">
            <a:avLst>
              <a:gd name="adj" fmla="val 18750"/>
            </a:avLst>
          </a:prstGeom>
          <a:solidFill>
            <a:srgbClr val="E4EAF3"/>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75488"/>
            <a:ext cx="421538" cy="292608"/>
          </a:xfrm>
          <a:prstGeom prst="roundRect">
            <a:avLst>
              <a:gd name="adj" fmla="val 18750"/>
            </a:avLst>
          </a:prstGeom>
          <a:solidFill>
            <a:srgbClr val="E4EAF3"/>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75488"/>
            <a:ext cx="421538" cy="292608"/>
          </a:xfrm>
          <a:prstGeom prst="roundRect">
            <a:avLst>
              <a:gd name="adj" fmla="val 18750"/>
            </a:avLst>
          </a:prstGeom>
          <a:solidFill>
            <a:srgbClr val="E4EAF3"/>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75488"/>
            <a:ext cx="421538" cy="292608"/>
          </a:xfrm>
          <a:prstGeom prst="roundRect">
            <a:avLst>
              <a:gd name="adj" fmla="val 18750"/>
            </a:avLst>
          </a:prstGeom>
          <a:solidFill>
            <a:srgbClr val="E4EAF3"/>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75488"/>
            <a:ext cx="421538" cy="292608"/>
          </a:xfrm>
          <a:prstGeom prst="roundRect">
            <a:avLst>
              <a:gd name="adj" fmla="val 18750"/>
            </a:avLst>
          </a:prstGeom>
          <a:solidFill>
            <a:srgbClr val="E4EAF3"/>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Let the cat out of the bag</a:t>
            </a:r>
            <a:endParaRPr lang="en-US" sz="4200" dirty="0"/>
          </a:p>
        </p:txBody>
      </p:sp>
      <p:sp>
        <p:nvSpPr>
          <p:cNvPr id="28" name="Shape 25"/>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29" name="Text 26"/>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0" name="Text 27"/>
          <p:cNvSpPr txBox="1"/>
          <p:nvPr/>
        </p:nvSpPr>
        <p:spPr>
          <a:xfrm>
            <a:off x="914400" y="2560320"/>
            <a:ext cx="5715000" cy="2057400"/>
          </a:xfrm>
          <a:prstGeom prst="rect">
            <a:avLst/>
          </a:prstGeom>
          <a:noFill/>
          <a:ln/>
        </p:spPr>
        <p:txBody>
          <a:bodyPr wrap="square" lIns="0" tIns="0" rIns="0" bIns="0" rtlCol="0" anchor="t"/>
          <a:lstStyle/>
          <a:p>
            <a:pPr indent="0" marL="0">
              <a:buNone/>
            </a:pPr>
            <a:r>
              <a:rPr lang="en-US" sz="2200" dirty="0">
                <a:solidFill>
                  <a:srgbClr val="FFFFFF"/>
                </a:solidFill>
                <a:latin typeface="Calibri" pitchFamily="34" charset="0"/>
                <a:ea typeface="Calibri" pitchFamily="34" charset="-122"/>
                <a:cs typeface="Calibri" pitchFamily="34" charset="-120"/>
              </a:rPr>
              <a:t>bag.txt has 100 lines and every one looks like a flag. README.txt names the one real line. Counting by hand is how mistakes happen: make cat number the lines.</a:t>
            </a:r>
            <a:endParaRPr lang="en-US" sz="2200" dirty="0"/>
          </a:p>
        </p:txBody>
      </p:sp>
      <p:sp>
        <p:nvSpPr>
          <p:cNvPr id="31" name="Text 28"/>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~/mission2</a:t>
            </a:r>
            <a:endParaRPr lang="en-US" sz="1300" dirty="0"/>
          </a:p>
        </p:txBody>
      </p:sp>
      <p:sp>
        <p:nvSpPr>
          <p:cNvPr id="32" name="Shape 29"/>
          <p:cNvSpPr/>
          <p:nvPr/>
        </p:nvSpPr>
        <p:spPr>
          <a:xfrm>
            <a:off x="914400" y="5166360"/>
            <a:ext cx="3291840" cy="502920"/>
          </a:xfrm>
          <a:prstGeom prst="roundRect">
            <a:avLst>
              <a:gd name="adj" fmla="val 14545"/>
            </a:avLst>
          </a:prstGeom>
          <a:solidFill>
            <a:srgbClr val="F5A623"/>
          </a:solidFill>
          <a:ln/>
        </p:spPr>
      </p:sp>
      <p:sp>
        <p:nvSpPr>
          <p:cNvPr id="33" name="Text 30"/>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50" dirty="0">
                <a:solidFill>
                  <a:srgbClr val="12213A"/>
                </a:solidFill>
                <a:latin typeface="Calibri" pitchFamily="34" charset="0"/>
                <a:ea typeface="Calibri" pitchFamily="34" charset="-122"/>
                <a:cs typeface="Calibri" pitchFamily="34" charset="-120"/>
              </a:rPr>
              <a:t>Tools: </a:t>
            </a:r>
            <a:pPr algn="ctr" indent="0" marL="0">
              <a:buNone/>
            </a:pPr>
            <a:r>
              <a:rPr lang="en-US" sz="1350" b="1" dirty="0">
                <a:solidFill>
                  <a:srgbClr val="12213A"/>
                </a:solidFill>
                <a:latin typeface="Courier New" pitchFamily="34" charset="0"/>
                <a:ea typeface="Courier New" pitchFamily="34" charset="-122"/>
                <a:cs typeface="Courier New" pitchFamily="34" charset="-120"/>
              </a:rPr>
              <a:t>cat  --help</a:t>
            </a:r>
            <a:endParaRPr lang="en-US" sz="1350" dirty="0"/>
          </a:p>
        </p:txBody>
      </p:sp>
      <p:sp>
        <p:nvSpPr>
          <p:cNvPr id="34" name="Shape 31"/>
          <p:cNvSpPr/>
          <p:nvPr/>
        </p:nvSpPr>
        <p:spPr>
          <a:xfrm>
            <a:off x="4389120" y="5166360"/>
            <a:ext cx="2240280" cy="502920"/>
          </a:xfrm>
          <a:prstGeom prst="roundRect">
            <a:avLst>
              <a:gd name="adj" fmla="val 14545"/>
            </a:avLst>
          </a:prstGeom>
          <a:solidFill>
            <a:srgbClr val="2B3B5C"/>
          </a:solidFill>
          <a:ln/>
        </p:spPr>
      </p:sp>
      <p:sp>
        <p:nvSpPr>
          <p:cNvPr id="35" name="Text 32"/>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+100 points</a:t>
            </a:r>
            <a:endParaRPr lang="en-US" sz="1600" dirty="0"/>
          </a:p>
        </p:txBody>
      </p:sp>
      <p:sp>
        <p:nvSpPr>
          <p:cNvPr id="36" name="Shape 33"/>
          <p:cNvSpPr/>
          <p:nvPr/>
        </p:nvSpPr>
        <p:spPr>
          <a:xfrm>
            <a:off x="7269480" y="1920240"/>
            <a:ext cx="4370832" cy="2788920"/>
          </a:xfrm>
          <a:prstGeom prst="roundRect">
            <a:avLst>
              <a:gd name="adj" fmla="val 3279"/>
            </a:avLst>
          </a:prstGeom>
          <a:solidFill>
            <a:srgbClr val="F1F5FB"/>
          </a:solidFill>
          <a:ln/>
        </p:spPr>
      </p:sp>
      <p:sp>
        <p:nvSpPr>
          <p:cNvPr id="37" name="Text 34"/>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38" name="Text 35"/>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do we read README.txt?</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could we find out what options cat has?</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Once the lines are numbered, how do we find ours fast?</a:t>
            </a:r>
            <a:endParaRPr lang="en-US" sz="1550" dirty="0"/>
          </a:p>
        </p:txBody>
      </p:sp>
      <p:sp>
        <p:nvSpPr>
          <p:cNvPr id="39" name="Shape 36"/>
          <p:cNvSpPr/>
          <p:nvPr/>
        </p:nvSpPr>
        <p:spPr>
          <a:xfrm>
            <a:off x="7269480" y="4892040"/>
            <a:ext cx="4370832" cy="1051560"/>
          </a:xfrm>
          <a:prstGeom prst="roundRect">
            <a:avLst>
              <a:gd name="adj" fmla="val 8696"/>
            </a:avLst>
          </a:prstGeom>
          <a:solidFill>
            <a:srgbClr val="2459D8"/>
          </a:solidFill>
          <a:ln/>
        </p:spPr>
      </p:sp>
      <p:sp>
        <p:nvSpPr>
          <p:cNvPr id="40" name="Text 37"/>
          <p:cNvSpPr txBox="1"/>
          <p:nvPr/>
        </p:nvSpPr>
        <p:spPr>
          <a:xfrm>
            <a:off x="7498080" y="4892040"/>
            <a:ext cx="15544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We do</a:t>
            </a:r>
            <a:endParaRPr lang="en-US" sz="2400" dirty="0"/>
          </a:p>
        </p:txBody>
      </p:sp>
      <p:sp>
        <p:nvSpPr>
          <p:cNvPr id="41" name="Text 38"/>
          <p:cNvSpPr txBox="1"/>
          <p:nvPr/>
        </p:nvSpPr>
        <p:spPr>
          <a:xfrm>
            <a:off x="9098280" y="4892040"/>
            <a:ext cx="2377440" cy="10515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Class calls out each command. Mentor types.</a:t>
            </a:r>
            <a:endParaRPr lang="en-US" sz="1350" dirty="0"/>
          </a:p>
        </p:txBody>
      </p:sp>
      <p:sp>
        <p:nvSpPr>
          <p:cNvPr id="42" name="Text 39"/>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43 / 79</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3" name="Shape 0"/>
          <p:cNvSpPr/>
          <p:nvPr/>
        </p:nvSpPr>
        <p:spPr>
          <a:xfrm>
            <a:off x="548640" y="438912"/>
            <a:ext cx="2103120" cy="347472"/>
          </a:xfrm>
          <a:prstGeom prst="roundRect">
            <a:avLst>
              <a:gd name="adj" fmla="val 50000"/>
            </a:avLst>
          </a:prstGeom>
          <a:solidFill>
            <a:srgbClr val="2A9FD6"/>
          </a:solidFill>
          <a:ln/>
        </p:spPr>
      </p:sp>
      <p:sp>
        <p:nvSpPr>
          <p:cNvPr id="4" name="Text 1"/>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2 of 10</a:t>
            </a:r>
            <a:endParaRPr lang="en-US" sz="1400" dirty="0"/>
          </a:p>
        </p:txBody>
      </p:sp>
      <p:sp>
        <p:nvSpPr>
          <p:cNvPr id="5" name="Shape 2"/>
          <p:cNvSpPr/>
          <p:nvPr/>
        </p:nvSpPr>
        <p:spPr>
          <a:xfrm>
            <a:off x="2788920" y="438912"/>
            <a:ext cx="1828800" cy="347472"/>
          </a:xfrm>
          <a:prstGeom prst="roundRect">
            <a:avLst>
              <a:gd name="adj" fmla="val 50000"/>
            </a:avLst>
          </a:prstGeom>
          <a:solidFill>
            <a:srgbClr val="E2F5EC"/>
          </a:solidFill>
          <a:ln/>
        </p:spPr>
      </p:sp>
      <p:sp>
        <p:nvSpPr>
          <p:cNvPr id="6" name="Text 3"/>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20624"/>
            <a:ext cx="421538" cy="402336"/>
          </a:xfrm>
          <a:prstGeom prst="roundRect">
            <a:avLst>
              <a:gd name="adj" fmla="val 13636"/>
            </a:avLst>
          </a:prstGeom>
          <a:solidFill>
            <a:srgbClr val="2A9FD6"/>
          </a:solidFill>
          <a:ln/>
        </p:spPr>
      </p:sp>
      <p:sp>
        <p:nvSpPr>
          <p:cNvPr id="10" name="Text 7"/>
          <p:cNvSpPr txBox="1"/>
          <p:nvPr/>
        </p:nvSpPr>
        <p:spPr>
          <a:xfrm>
            <a:off x="7261250"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Shape 8"/>
          <p:cNvSpPr/>
          <p:nvPr/>
        </p:nvSpPr>
        <p:spPr>
          <a:xfrm>
            <a:off x="7755941" y="475488"/>
            <a:ext cx="421538" cy="292608"/>
          </a:xfrm>
          <a:prstGeom prst="roundRect">
            <a:avLst>
              <a:gd name="adj" fmla="val 18750"/>
            </a:avLst>
          </a:prstGeom>
          <a:solidFill>
            <a:srgbClr val="E4EAF3"/>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75488"/>
            <a:ext cx="421538" cy="292608"/>
          </a:xfrm>
          <a:prstGeom prst="roundRect">
            <a:avLst>
              <a:gd name="adj" fmla="val 18750"/>
            </a:avLst>
          </a:prstGeom>
          <a:solidFill>
            <a:srgbClr val="E4EAF3"/>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75488"/>
            <a:ext cx="421538" cy="292608"/>
          </a:xfrm>
          <a:prstGeom prst="roundRect">
            <a:avLst>
              <a:gd name="adj" fmla="val 18750"/>
            </a:avLst>
          </a:prstGeom>
          <a:solidFill>
            <a:srgbClr val="E4EAF3"/>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75488"/>
            <a:ext cx="421538" cy="292608"/>
          </a:xfrm>
          <a:prstGeom prst="roundRect">
            <a:avLst>
              <a:gd name="adj" fmla="val 18750"/>
            </a:avLst>
          </a:prstGeom>
          <a:solidFill>
            <a:srgbClr val="E4EAF3"/>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75488"/>
            <a:ext cx="421538" cy="292608"/>
          </a:xfrm>
          <a:prstGeom prst="roundRect">
            <a:avLst>
              <a:gd name="adj" fmla="val 18750"/>
            </a:avLst>
          </a:prstGeom>
          <a:solidFill>
            <a:srgbClr val="E4EAF3"/>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75488"/>
            <a:ext cx="421538" cy="292608"/>
          </a:xfrm>
          <a:prstGeom prst="roundRect">
            <a:avLst>
              <a:gd name="adj" fmla="val 18750"/>
            </a:avLst>
          </a:prstGeom>
          <a:solidFill>
            <a:srgbClr val="E4EAF3"/>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75488"/>
            <a:ext cx="421538" cy="292608"/>
          </a:xfrm>
          <a:prstGeom prst="roundRect">
            <a:avLst>
              <a:gd name="adj" fmla="val 18750"/>
            </a:avLst>
          </a:prstGeom>
          <a:solidFill>
            <a:srgbClr val="E4EAF3"/>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Solving Let the cat out of the bag</a:t>
            </a:r>
            <a:endParaRPr lang="en-US" sz="3000" dirty="0"/>
          </a:p>
        </p:txBody>
      </p:sp>
      <p:sp>
        <p:nvSpPr>
          <p:cNvPr id="28" name="Shape 25"/>
          <p:cNvSpPr/>
          <p:nvPr/>
        </p:nvSpPr>
        <p:spPr>
          <a:xfrm>
            <a:off x="548640" y="1691640"/>
            <a:ext cx="6720840" cy="4251960"/>
          </a:xfrm>
          <a:prstGeom prst="roundRect">
            <a:avLst>
              <a:gd name="adj" fmla="val 2151"/>
            </a:avLst>
          </a:prstGeom>
          <a:solidFill>
            <a:srgbClr val="0E1726"/>
          </a:solidFill>
          <a:ln/>
          <a:effectLst>
            <a:outerShdw sx="100000" sy="100000" kx="0" ky="0" algn="bl" rotWithShape="0" blurRad="127000" dist="38100" dir="5400000">
              <a:srgbClr val="12213A">
                <a:alpha val="22000"/>
              </a:srgbClr>
            </a:outerShdw>
          </a:effectLst>
        </p:spPr>
      </p:sp>
      <p:sp>
        <p:nvSpPr>
          <p:cNvPr id="29" name="Shape 26"/>
          <p:cNvSpPr/>
          <p:nvPr/>
        </p:nvSpPr>
        <p:spPr>
          <a:xfrm>
            <a:off x="749808" y="1847088"/>
            <a:ext cx="118872" cy="118872"/>
          </a:xfrm>
          <a:prstGeom prst="ellipse">
            <a:avLst/>
          </a:prstGeom>
          <a:solidFill>
            <a:srgbClr val="E5534B"/>
          </a:solidFill>
          <a:ln/>
        </p:spPr>
      </p:sp>
      <p:sp>
        <p:nvSpPr>
          <p:cNvPr id="30" name="Shape 27"/>
          <p:cNvSpPr/>
          <p:nvPr/>
        </p:nvSpPr>
        <p:spPr>
          <a:xfrm>
            <a:off x="950976" y="1847088"/>
            <a:ext cx="118872" cy="118872"/>
          </a:xfrm>
          <a:prstGeom prst="ellipse">
            <a:avLst/>
          </a:prstGeom>
          <a:solidFill>
            <a:srgbClr val="F5A623"/>
          </a:solidFill>
          <a:ln/>
        </p:spPr>
      </p:sp>
      <p:sp>
        <p:nvSpPr>
          <p:cNvPr id="31" name="Shape 28"/>
          <p:cNvSpPr/>
          <p:nvPr/>
        </p:nvSpPr>
        <p:spPr>
          <a:xfrm>
            <a:off x="1152144" y="1847088"/>
            <a:ext cx="118872" cy="118872"/>
          </a:xfrm>
          <a:prstGeom prst="ellipse">
            <a:avLst/>
          </a:prstGeom>
          <a:solidFill>
            <a:srgbClr val="46D39A"/>
          </a:solidFill>
          <a:ln/>
        </p:spPr>
      </p:sp>
      <p:sp>
        <p:nvSpPr>
          <p:cNvPr id="32" name="Text 29"/>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3" name="Text 30"/>
          <p:cNvSpPr txBox="1"/>
          <p:nvPr/>
        </p:nvSpPr>
        <p:spPr>
          <a:xfrm>
            <a:off x="822960" y="2148840"/>
            <a:ext cx="6172200" cy="3657600"/>
          </a:xfrm>
          <a:prstGeom prst="rect">
            <a:avLst/>
          </a:prstGeom>
          <a:noFill/>
          <a:ln/>
        </p:spPr>
        <p:txBody>
          <a:bodyPr wrap="square" lIns="0" tIns="0" rIns="0" bIns="0" rtlCol="0" anchor="t"/>
          <a:lstStyle/>
          <a:p>
            <a:pPr indent="0" marL="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50" b="1" dirty="0">
                <a:solidFill>
                  <a:srgbClr val="FFFFFF"/>
                </a:solidFill>
                <a:latin typeface="Courier New" pitchFamily="34" charset="0"/>
                <a:ea typeface="Courier New" pitchFamily="34" charset="-122"/>
                <a:cs typeface="Courier New" pitchFamily="34" charset="-120"/>
              </a:rPr>
              <a:t>cd ~/mission2</a:t>
            </a:r>
            <a:endParaRPr lang="en-US" sz="1250" dirty="0"/>
          </a:p>
          <a:p>
            <a:pPr indent="0" marL="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50" b="1" dirty="0">
                <a:solidFill>
                  <a:srgbClr val="FFFFFF"/>
                </a:solidFill>
                <a:latin typeface="Courier New" pitchFamily="34" charset="0"/>
                <a:ea typeface="Courier New" pitchFamily="34" charset="-122"/>
                <a:cs typeface="Courier New" pitchFamily="34" charset="-120"/>
              </a:rPr>
              <a:t>cat README.txt</a:t>
            </a:r>
            <a:endParaRPr lang="en-US" sz="1250" dirty="0"/>
          </a:p>
          <a:p>
            <a:pPr indent="0" marL="0">
              <a:spcAft>
                <a:spcPts val="200"/>
              </a:spcAft>
              <a:buNone/>
            </a:pPr>
            <a:r>
              <a:rPr lang="en-US" sz="1250" dirty="0">
                <a:solidFill>
                  <a:srgbClr val="B8C4D9"/>
                </a:solidFill>
                <a:latin typeface="Courier New" pitchFamily="34" charset="0"/>
                <a:ea typeface="Courier New" pitchFamily="34" charset="-122"/>
                <a:cs typeface="Courier New" pitchFamily="34" charset="-120"/>
              </a:rPr>
              <a:t>The cat is hiding in bag.txt.</a:t>
            </a:r>
            <a:endParaRPr lang="en-US" sz="1250" dirty="0"/>
          </a:p>
          <a:p>
            <a:pPr indent="0" marL="0">
              <a:spcAft>
                <a:spcPts val="200"/>
              </a:spcAft>
              <a:buNone/>
            </a:pPr>
            <a:r>
              <a:rPr lang="en-US" sz="1250" dirty="0">
                <a:solidFill>
                  <a:srgbClr val="B8C4D9"/>
                </a:solidFill>
                <a:latin typeface="Courier New" pitchFamily="34" charset="0"/>
                <a:ea typeface="Courier New" pitchFamily="34" charset="-122"/>
                <a:cs typeface="Courier New" pitchFamily="34" charset="-120"/>
              </a:rPr>
              <a:t>Every line in the bag looks like a flag,</a:t>
            </a:r>
            <a:endParaRPr lang="en-US" sz="1250" dirty="0"/>
          </a:p>
          <a:p>
            <a:pPr indent="0" marL="0">
              <a:spcAft>
                <a:spcPts val="200"/>
              </a:spcAft>
              <a:buNone/>
            </a:pPr>
            <a:r>
              <a:rPr lang="en-US" sz="1250" dirty="0">
                <a:solidFill>
                  <a:srgbClr val="B8C4D9"/>
                </a:solidFill>
                <a:latin typeface="Courier New" pitchFamily="34" charset="0"/>
                <a:ea typeface="Courier New" pitchFamily="34" charset="-122"/>
                <a:cs typeface="Courier New" pitchFamily="34" charset="-120"/>
              </a:rPr>
              <a:t>but only line 63 is real.</a:t>
            </a:r>
            <a:endParaRPr lang="en-US" sz="1250" dirty="0"/>
          </a:p>
          <a:p>
            <a:pPr indent="0" marL="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50" b="1" dirty="0">
                <a:solidFill>
                  <a:srgbClr val="FFFFFF"/>
                </a:solidFill>
                <a:latin typeface="Courier New" pitchFamily="34" charset="0"/>
                <a:ea typeface="Courier New" pitchFamily="34" charset="-122"/>
                <a:cs typeface="Courier New" pitchFamily="34" charset="-120"/>
              </a:rPr>
              <a:t>cat --help</a:t>
            </a:r>
            <a:endParaRPr lang="en-US" sz="1250" dirty="0"/>
          </a:p>
          <a:p>
            <a:pPr indent="0" marL="0">
              <a:spcAft>
                <a:spcPts val="200"/>
              </a:spcAft>
              <a:buNone/>
            </a:pPr>
            <a:r>
              <a:rPr lang="en-US" sz="1250" dirty="0">
                <a:solidFill>
                  <a:srgbClr val="B8C4D9"/>
                </a:solidFill>
                <a:latin typeface="Courier New" pitchFamily="34" charset="0"/>
                <a:ea typeface="Courier New" pitchFamily="34" charset="-122"/>
                <a:cs typeface="Courier New" pitchFamily="34" charset="-120"/>
              </a:rPr>
              <a:t>Usage: cat [-nbvteA] [FILE]...</a:t>
            </a:r>
            <a:endParaRPr lang="en-US" sz="1250" dirty="0"/>
          </a:p>
          <a:p>
            <a:pPr indent="0" marL="0">
              <a:spcAft>
                <a:spcPts val="200"/>
              </a:spcAft>
              <a:buNone/>
            </a:pPr>
            <a:r>
              <a:rPr lang="en-US" sz="1250" dirty="0">
                <a:solidFill>
                  <a:srgbClr val="B8C4D9"/>
                </a:solidFill>
                <a:latin typeface="Courier New" pitchFamily="34" charset="0"/>
                <a:ea typeface="Courier New" pitchFamily="34" charset="-122"/>
                <a:cs typeface="Courier New" pitchFamily="34" charset="-120"/>
              </a:rPr>
              <a:t>        -n      Number output lines</a:t>
            </a:r>
            <a:endParaRPr lang="en-US" sz="1250" dirty="0"/>
          </a:p>
          <a:p>
            <a:pPr indent="0" marL="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50" b="1" dirty="0">
                <a:solidFill>
                  <a:srgbClr val="FFFFFF"/>
                </a:solidFill>
                <a:latin typeface="Courier New" pitchFamily="34" charset="0"/>
                <a:ea typeface="Courier New" pitchFamily="34" charset="-122"/>
                <a:cs typeface="Courier New" pitchFamily="34" charset="-120"/>
              </a:rPr>
              <a:t>cat -n bag.txt</a:t>
            </a:r>
            <a:endParaRPr lang="en-US" sz="1250" dirty="0"/>
          </a:p>
          <a:p>
            <a:pPr indent="0" marL="0">
              <a:spcAft>
                <a:spcPts val="200"/>
              </a:spcAft>
              <a:buNone/>
            </a:pPr>
            <a:r>
              <a:rPr lang="en-US" sz="1250" dirty="0">
                <a:solidFill>
                  <a:srgbClr val="B8C4D9"/>
                </a:solidFill>
                <a:latin typeface="Courier New" pitchFamily="34" charset="0"/>
                <a:ea typeface="Courier New" pitchFamily="34" charset="-122"/>
                <a:cs typeface="Courier New" pitchFamily="34" charset="-120"/>
              </a:rPr>
              <a:t>    62  meow CYBA{cat-1f0c2a9e}</a:t>
            </a:r>
            <a:endParaRPr lang="en-US" sz="1250" dirty="0"/>
          </a:p>
          <a:p>
            <a:pPr indent="0" marL="0">
              <a:spcAft>
                <a:spcPts val="200"/>
              </a:spcAft>
              <a:buNone/>
            </a:pPr>
            <a:r>
              <a:rPr lang="en-US" sz="1250" b="1" dirty="0">
                <a:solidFill>
                  <a:srgbClr val="F5A623"/>
                </a:solidFill>
                <a:latin typeface="Courier New" pitchFamily="34" charset="0"/>
                <a:ea typeface="Courier New" pitchFamily="34" charset="-122"/>
                <a:cs typeface="Courier New" pitchFamily="34" charset="-120"/>
              </a:rPr>
              <a:t>    63  meow CYBA{cat-...}</a:t>
            </a:r>
            <a:endParaRPr lang="en-US" sz="1250" dirty="0"/>
          </a:p>
          <a:p>
            <a:pPr indent="0" marL="0">
              <a:spcAft>
                <a:spcPts val="200"/>
              </a:spcAft>
              <a:buNone/>
            </a:pPr>
            <a:r>
              <a:rPr lang="en-US" sz="1250" dirty="0">
                <a:solidFill>
                  <a:srgbClr val="B8C4D9"/>
                </a:solidFill>
                <a:latin typeface="Courier New" pitchFamily="34" charset="0"/>
                <a:ea typeface="Courier New" pitchFamily="34" charset="-122"/>
                <a:cs typeface="Courier New" pitchFamily="34" charset="-120"/>
              </a:rPr>
              <a:t>    64  meow CYBA{cat-77b3d4c1}</a:t>
            </a:r>
            <a:endParaRPr lang="en-US" sz="1250" dirty="0"/>
          </a:p>
          <a:p>
            <a:pPr indent="0" marL="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50" b="1" dirty="0">
                <a:solidFill>
                  <a:srgbClr val="FFFFFF"/>
                </a:solidFill>
                <a:latin typeface="Courier New" pitchFamily="34" charset="0"/>
                <a:ea typeface="Courier New" pitchFamily="34" charset="-122"/>
                <a:cs typeface="Courier New" pitchFamily="34" charset="-120"/>
              </a:rPr>
              <a:t>submit CYBA{cat-...}</a:t>
            </a:r>
            <a:endParaRPr lang="en-US" sz="1250" dirty="0"/>
          </a:p>
          <a:p>
            <a:pPr indent="0" marL="0">
              <a:spcAft>
                <a:spcPts val="200"/>
              </a:spcAft>
              <a:buNone/>
            </a:pPr>
            <a:r>
              <a:rPr lang="en-US" sz="1250" dirty="0">
                <a:solidFill>
                  <a:srgbClr val="B8C4D9"/>
                </a:solidFill>
                <a:latin typeface="Courier New" pitchFamily="34" charset="0"/>
                <a:ea typeface="Courier New" pitchFamily="34" charset="-122"/>
                <a:cs typeface="Courier New" pitchFamily="34" charset="-120"/>
              </a:rPr>
              <a:t>Correct! +100 points</a:t>
            </a:r>
            <a:endParaRPr lang="en-US" sz="1250" dirty="0"/>
          </a:p>
        </p:txBody>
      </p:sp>
      <p:sp>
        <p:nvSpPr>
          <p:cNvPr id="34" name="Text 31"/>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5" name="Shape 32"/>
          <p:cNvSpPr/>
          <p:nvPr/>
        </p:nvSpPr>
        <p:spPr>
          <a:xfrm>
            <a:off x="7543800" y="2194560"/>
            <a:ext cx="457200" cy="457200"/>
          </a:xfrm>
          <a:prstGeom prst="ellipse">
            <a:avLst/>
          </a:prstGeom>
          <a:solidFill>
            <a:srgbClr val="2A9FD6"/>
          </a:solidFill>
          <a:ln/>
        </p:spPr>
      </p:sp>
      <p:sp>
        <p:nvSpPr>
          <p:cNvPr id="36" name="Text 33"/>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7" name="Text 34"/>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cat printed README.txt, which named the real line.</a:t>
            </a:r>
            <a:endParaRPr lang="en-US" sz="1400" dirty="0"/>
          </a:p>
        </p:txBody>
      </p:sp>
      <p:sp>
        <p:nvSpPr>
          <p:cNvPr id="38" name="Shape 35"/>
          <p:cNvSpPr/>
          <p:nvPr/>
        </p:nvSpPr>
        <p:spPr>
          <a:xfrm>
            <a:off x="7543800" y="2980944"/>
            <a:ext cx="457200" cy="457200"/>
          </a:xfrm>
          <a:prstGeom prst="ellipse">
            <a:avLst/>
          </a:prstGeom>
          <a:solidFill>
            <a:srgbClr val="2A9FD6"/>
          </a:solidFill>
          <a:ln/>
        </p:spPr>
      </p:sp>
      <p:sp>
        <p:nvSpPr>
          <p:cNvPr id="39" name="Text 36"/>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0" name="Text 37"/>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cat --help listed its options; -n numbers the lines.</a:t>
            </a:r>
            <a:endParaRPr lang="en-US" sz="1400" dirty="0"/>
          </a:p>
        </p:txBody>
      </p:sp>
      <p:sp>
        <p:nvSpPr>
          <p:cNvPr id="41" name="Shape 38"/>
          <p:cNvSpPr/>
          <p:nvPr/>
        </p:nvSpPr>
        <p:spPr>
          <a:xfrm>
            <a:off x="7543800" y="3767328"/>
            <a:ext cx="457200" cy="457200"/>
          </a:xfrm>
          <a:prstGeom prst="ellipse">
            <a:avLst/>
          </a:prstGeom>
          <a:solidFill>
            <a:srgbClr val="2A9FD6"/>
          </a:solidFill>
          <a:ln/>
        </p:spPr>
      </p:sp>
      <p:sp>
        <p:nvSpPr>
          <p:cNvPr id="42" name="Text 39"/>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3" name="Text 40"/>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cat -n bag.txt put a number on every line, so line 63 was easy to spot.</a:t>
            </a:r>
            <a:endParaRPr lang="en-US" sz="1400" dirty="0"/>
          </a:p>
        </p:txBody>
      </p:sp>
      <p:sp>
        <p:nvSpPr>
          <p:cNvPr id="44" name="Shape 41"/>
          <p:cNvSpPr/>
          <p:nvPr/>
        </p:nvSpPr>
        <p:spPr>
          <a:xfrm>
            <a:off x="7543800" y="4572000"/>
            <a:ext cx="4096512" cy="749808"/>
          </a:xfrm>
          <a:prstGeom prst="roundRect">
            <a:avLst>
              <a:gd name="adj" fmla="val 12195"/>
            </a:avLst>
          </a:prstGeom>
          <a:solidFill>
            <a:srgbClr val="FFF4DC"/>
          </a:solidFill>
          <a:ln/>
        </p:spPr>
      </p:sp>
      <p:sp>
        <p:nvSpPr>
          <p:cNvPr id="45" name="Text 42"/>
          <p:cNvSpPr txBox="1"/>
          <p:nvPr/>
        </p:nvSpPr>
        <p:spPr>
          <a:xfrm>
            <a:off x="7699248" y="4572000"/>
            <a:ext cx="3803904" cy="749808"/>
          </a:xfrm>
          <a:prstGeom prst="rect">
            <a:avLst/>
          </a:prstGeom>
          <a:noFill/>
          <a:ln/>
        </p:spPr>
        <p:txBody>
          <a:bodyPr wrap="square" lIns="0" tIns="0" rIns="0" bIns="0" rtlCol="0" anchor="ctr"/>
          <a:lstStyle/>
          <a:p>
            <a:pPr indent="0" marL="0">
              <a:buNone/>
            </a:pPr>
            <a:r>
              <a:rPr lang="en-US" sz="1300" b="1" dirty="0">
                <a:solidFill>
                  <a:srgbClr val="12213A"/>
                </a:solidFill>
                <a:latin typeface="Calibri" pitchFamily="34" charset="0"/>
                <a:ea typeface="Calibri" pitchFamily="34" charset="-122"/>
                <a:cs typeface="Calibri" pitchFamily="34" charset="-120"/>
              </a:rPr>
              <a:t>Real world: </a:t>
            </a:r>
            <a:pPr indent="0" marL="0">
              <a:buNone/>
            </a:pPr>
            <a:r>
              <a:rPr lang="en-US" sz="1300" dirty="0">
                <a:solidFill>
                  <a:srgbClr val="12213A"/>
                </a:solidFill>
                <a:latin typeface="Calibri" pitchFamily="34" charset="0"/>
                <a:ea typeface="Calibri" pitchFamily="34" charset="-122"/>
                <a:cs typeface="Calibri" pitchFamily="34" charset="-120"/>
              </a:rPr>
              <a:t>Engineers learn new tools every week. Reading --help is how they do it.</a:t>
            </a:r>
            <a:endParaRPr lang="en-US" sz="1300" dirty="0"/>
          </a:p>
        </p:txBody>
      </p:sp>
      <p:sp>
        <p:nvSpPr>
          <p:cNvPr id="46" name="Shape 43"/>
          <p:cNvSpPr/>
          <p:nvPr/>
        </p:nvSpPr>
        <p:spPr>
          <a:xfrm>
            <a:off x="7543800" y="5413248"/>
            <a:ext cx="4096512" cy="566928"/>
          </a:xfrm>
          <a:prstGeom prst="roundRect">
            <a:avLst>
              <a:gd name="adj" fmla="val 16129"/>
            </a:avLst>
          </a:prstGeom>
          <a:solidFill>
            <a:srgbClr val="F1F5FB"/>
          </a:solidFill>
          <a:ln/>
        </p:spPr>
      </p:sp>
      <p:sp>
        <p:nvSpPr>
          <p:cNvPr id="47" name="Text 44"/>
          <p:cNvSpPr txBox="1"/>
          <p:nvPr/>
        </p:nvSpPr>
        <p:spPr>
          <a:xfrm>
            <a:off x="7699248" y="5413248"/>
            <a:ext cx="3803904" cy="566928"/>
          </a:xfrm>
          <a:prstGeom prst="rect">
            <a:avLst/>
          </a:prstGeom>
          <a:noFill/>
          <a:ln/>
        </p:spPr>
        <p:txBody>
          <a:bodyPr wrap="square" lIns="0" tIns="0" rIns="0" bIns="0" rtlCol="0" anchor="ctr"/>
          <a:lstStyle/>
          <a:p>
            <a:pPr indent="0" marL="0">
              <a:buNone/>
            </a:pPr>
            <a:r>
              <a:rPr lang="en-US" sz="1200" b="1" dirty="0">
                <a:solidFill>
                  <a:srgbClr val="2A9FD6"/>
                </a:solidFill>
                <a:latin typeface="Calibri" pitchFamily="34" charset="0"/>
                <a:ea typeface="Calibri" pitchFamily="34" charset="-122"/>
                <a:cs typeface="Calibri" pitchFamily="34" charset="-120"/>
              </a:rPr>
              <a:t>Stretch: </a:t>
            </a:r>
            <a:pPr indent="0" marL="0">
              <a:buNone/>
            </a:pPr>
            <a:r>
              <a:rPr lang="en-US" sz="1200" dirty="0">
                <a:solidFill>
                  <a:srgbClr val="12213A"/>
                </a:solidFill>
                <a:latin typeface="Calibri" pitchFamily="34" charset="0"/>
                <a:ea typeface="Calibri" pitchFamily="34" charset="-122"/>
                <a:cs typeface="Calibri" pitchFamily="34" charset="-120"/>
              </a:rPr>
              <a:t>Try  cat --help  again. What does -b do differently from -n?</a:t>
            </a:r>
            <a:endParaRPr lang="en-US" sz="1200" dirty="0"/>
          </a:p>
        </p:txBody>
      </p:sp>
      <p:sp>
        <p:nvSpPr>
          <p:cNvPr id="48" name="Text 45"/>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49" name="Text 46"/>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44 / 79</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Now you try</a:t>
            </a:r>
            <a:endParaRPr lang="en-US" sz="3200" dirty="0"/>
          </a:p>
        </p:txBody>
      </p:sp>
      <p:sp>
        <p:nvSpPr>
          <p:cNvPr id="4" name="Text 1"/>
          <p:cNvSpPr txBox="1"/>
          <p:nvPr/>
        </p:nvSpPr>
        <p:spPr>
          <a:xfrm>
            <a:off x="548640" y="1417320"/>
            <a:ext cx="11094415" cy="457200"/>
          </a:xfrm>
          <a:prstGeom prst="rect">
            <a:avLst/>
          </a:prstGeom>
          <a:noFill/>
          <a:ln/>
        </p:spPr>
        <p:txBody>
          <a:bodyPr wrap="square" lIns="0" tIns="0" rIns="0" bIns="0" rtlCol="0" anchor="t"/>
          <a:lstStyle/>
          <a:p>
            <a:pPr indent="0" marL="0">
              <a:buNone/>
            </a:pPr>
            <a:r>
              <a:rPr lang="en-US" sz="1800" dirty="0">
                <a:solidFill>
                  <a:srgbClr val="56657E"/>
                </a:solidFill>
                <a:latin typeface="Calibri" pitchFamily="34" charset="0"/>
                <a:ea typeface="Calibri" pitchFamily="34" charset="-122"/>
                <a:cs typeface="Calibri" pitchFamily="34" charset="-120"/>
              </a:rPr>
              <a:t>Pick a challenge and run the loop. You don't have to finish - starting is the win.</a:t>
            </a:r>
            <a:endParaRPr lang="en-US" sz="1800" dirty="0"/>
          </a:p>
        </p:txBody>
      </p:sp>
      <p:sp>
        <p:nvSpPr>
          <p:cNvPr id="5" name="Shape 2"/>
          <p:cNvSpPr/>
          <p:nvPr/>
        </p:nvSpPr>
        <p:spPr>
          <a:xfrm>
            <a:off x="548640" y="2057400"/>
            <a:ext cx="3566160" cy="1280160"/>
          </a:xfrm>
          <a:prstGeom prst="roundRect">
            <a:avLst>
              <a:gd name="adj" fmla="val 7143"/>
            </a:avLst>
          </a:prstGeom>
          <a:solidFill>
            <a:srgbClr val="F1F5FB"/>
          </a:solidFill>
          <a:ln/>
        </p:spPr>
      </p:sp>
      <p:sp>
        <p:nvSpPr>
          <p:cNvPr id="6" name="Shape 3"/>
          <p:cNvSpPr/>
          <p:nvPr/>
        </p:nvSpPr>
        <p:spPr>
          <a:xfrm>
            <a:off x="548640" y="2057400"/>
            <a:ext cx="109728" cy="1280160"/>
          </a:xfrm>
          <a:prstGeom prst="roundRect">
            <a:avLst/>
          </a:prstGeom>
          <a:solidFill>
            <a:srgbClr val="17875A"/>
          </a:solidFill>
          <a:ln/>
        </p:spPr>
      </p:sp>
      <p:sp>
        <p:nvSpPr>
          <p:cNvPr id="7" name="Text 4"/>
          <p:cNvSpPr txBox="1"/>
          <p:nvPr/>
        </p:nvSpPr>
        <p:spPr>
          <a:xfrm>
            <a:off x="868680" y="2258568"/>
            <a:ext cx="3108960" cy="548640"/>
          </a:xfrm>
          <a:prstGeom prst="rect">
            <a:avLst/>
          </a:prstGeom>
          <a:noFill/>
          <a:ln/>
        </p:spPr>
        <p:txBody>
          <a:bodyPr wrap="square" lIns="0" tIns="0" rIns="0" bIns="0" rtlCol="0" anchor="t"/>
          <a:lstStyle/>
          <a:p>
            <a:pPr indent="0" marL="0">
              <a:buNone/>
            </a:pPr>
            <a:r>
              <a:rPr lang="en-US" sz="1650" b="1" dirty="0">
                <a:solidFill>
                  <a:srgbClr val="12213A"/>
                </a:solidFill>
                <a:latin typeface="Calibri" pitchFamily="34" charset="0"/>
                <a:ea typeface="Calibri" pitchFamily="34" charset="-122"/>
                <a:cs typeface="Calibri" pitchFamily="34" charset="-120"/>
              </a:rPr>
              <a:t>Reveal hidden files</a:t>
            </a:r>
            <a:endParaRPr lang="en-US" sz="1650" dirty="0"/>
          </a:p>
        </p:txBody>
      </p:sp>
      <p:sp>
        <p:nvSpPr>
          <p:cNvPr id="8" name="Shape 5"/>
          <p:cNvSpPr/>
          <p:nvPr/>
        </p:nvSpPr>
        <p:spPr>
          <a:xfrm>
            <a:off x="868680" y="2807208"/>
            <a:ext cx="2011680" cy="384048"/>
          </a:xfrm>
          <a:prstGeom prst="roundRect">
            <a:avLst>
              <a:gd name="adj" fmla="val 19048"/>
            </a:avLst>
          </a:prstGeom>
          <a:solidFill>
            <a:srgbClr val="0E1726"/>
          </a:solidFill>
          <a:ln/>
        </p:spPr>
      </p:sp>
      <p:sp>
        <p:nvSpPr>
          <p:cNvPr id="9" name="Text 6"/>
          <p:cNvSpPr txBox="1"/>
          <p:nvPr/>
        </p:nvSpPr>
        <p:spPr>
          <a:xfrm>
            <a:off x="868680" y="2807208"/>
            <a:ext cx="2011680" cy="384048"/>
          </a:xfrm>
          <a:prstGeom prst="rect">
            <a:avLst/>
          </a:prstGeom>
          <a:noFill/>
          <a:ln/>
        </p:spPr>
        <p:txBody>
          <a:bodyPr wrap="square" lIns="0" tIns="0" rIns="0" bIns="0" rtlCol="0" anchor="ctr"/>
          <a:lstStyle/>
          <a:p>
            <a:pPr algn="ctr" indent="0" marL="0">
              <a:buNone/>
            </a:pPr>
            <a:r>
              <a:rPr lang="en-US" sz="1300" b="1" dirty="0">
                <a:solidFill>
                  <a:srgbClr val="46D39A"/>
                </a:solidFill>
                <a:latin typeface="Courier New" pitchFamily="34" charset="0"/>
                <a:ea typeface="Courier New" pitchFamily="34" charset="-122"/>
                <a:cs typeface="Courier New" pitchFamily="34" charset="-120"/>
              </a:rPr>
              <a:t>ls -a</a:t>
            </a:r>
            <a:endParaRPr lang="en-US" sz="1300" dirty="0"/>
          </a:p>
        </p:txBody>
      </p:sp>
      <p:sp>
        <p:nvSpPr>
          <p:cNvPr id="10" name="Shape 7"/>
          <p:cNvSpPr/>
          <p:nvPr/>
        </p:nvSpPr>
        <p:spPr>
          <a:xfrm>
            <a:off x="4306824" y="2057400"/>
            <a:ext cx="3566160" cy="1280160"/>
          </a:xfrm>
          <a:prstGeom prst="roundRect">
            <a:avLst>
              <a:gd name="adj" fmla="val 7143"/>
            </a:avLst>
          </a:prstGeom>
          <a:solidFill>
            <a:srgbClr val="F1F5FB"/>
          </a:solidFill>
          <a:ln/>
        </p:spPr>
      </p:sp>
      <p:sp>
        <p:nvSpPr>
          <p:cNvPr id="11" name="Shape 8"/>
          <p:cNvSpPr/>
          <p:nvPr/>
        </p:nvSpPr>
        <p:spPr>
          <a:xfrm>
            <a:off x="4306824" y="2057400"/>
            <a:ext cx="109728" cy="1280160"/>
          </a:xfrm>
          <a:prstGeom prst="roundRect">
            <a:avLst/>
          </a:prstGeom>
          <a:solidFill>
            <a:srgbClr val="2459D8"/>
          </a:solidFill>
          <a:ln/>
        </p:spPr>
      </p:sp>
      <p:sp>
        <p:nvSpPr>
          <p:cNvPr id="12" name="Text 9"/>
          <p:cNvSpPr txBox="1"/>
          <p:nvPr/>
        </p:nvSpPr>
        <p:spPr>
          <a:xfrm>
            <a:off x="4626864" y="2258568"/>
            <a:ext cx="3108960" cy="548640"/>
          </a:xfrm>
          <a:prstGeom prst="rect">
            <a:avLst/>
          </a:prstGeom>
          <a:noFill/>
          <a:ln/>
        </p:spPr>
        <p:txBody>
          <a:bodyPr wrap="square" lIns="0" tIns="0" rIns="0" bIns="0" rtlCol="0" anchor="t"/>
          <a:lstStyle/>
          <a:p>
            <a:pPr indent="0" marL="0">
              <a:buNone/>
            </a:pPr>
            <a:r>
              <a:rPr lang="en-US" sz="1650" b="1" dirty="0">
                <a:solidFill>
                  <a:srgbClr val="12213A"/>
                </a:solidFill>
                <a:latin typeface="Calibri" pitchFamily="34" charset="0"/>
                <a:ea typeface="Calibri" pitchFamily="34" charset="-122"/>
                <a:cs typeface="Calibri" pitchFamily="34" charset="-120"/>
              </a:rPr>
              <a:t>Search a folder tree</a:t>
            </a:r>
            <a:endParaRPr lang="en-US" sz="1650" dirty="0"/>
          </a:p>
        </p:txBody>
      </p:sp>
      <p:sp>
        <p:nvSpPr>
          <p:cNvPr id="13" name="Shape 10"/>
          <p:cNvSpPr/>
          <p:nvPr/>
        </p:nvSpPr>
        <p:spPr>
          <a:xfrm>
            <a:off x="4626864" y="2807208"/>
            <a:ext cx="2011680" cy="384048"/>
          </a:xfrm>
          <a:prstGeom prst="roundRect">
            <a:avLst>
              <a:gd name="adj" fmla="val 19048"/>
            </a:avLst>
          </a:prstGeom>
          <a:solidFill>
            <a:srgbClr val="0E1726"/>
          </a:solidFill>
          <a:ln/>
        </p:spPr>
      </p:sp>
      <p:sp>
        <p:nvSpPr>
          <p:cNvPr id="14" name="Text 11"/>
          <p:cNvSpPr txBox="1"/>
          <p:nvPr/>
        </p:nvSpPr>
        <p:spPr>
          <a:xfrm>
            <a:off x="4626864" y="2807208"/>
            <a:ext cx="2011680" cy="384048"/>
          </a:xfrm>
          <a:prstGeom prst="rect">
            <a:avLst/>
          </a:prstGeom>
          <a:noFill/>
          <a:ln/>
        </p:spPr>
        <p:txBody>
          <a:bodyPr wrap="square" lIns="0" tIns="0" rIns="0" bIns="0" rtlCol="0" anchor="ctr"/>
          <a:lstStyle/>
          <a:p>
            <a:pPr algn="ctr" indent="0" marL="0">
              <a:buNone/>
            </a:pPr>
            <a:r>
              <a:rPr lang="en-US" sz="1300" b="1" dirty="0">
                <a:solidFill>
                  <a:srgbClr val="46D39A"/>
                </a:solidFill>
                <a:latin typeface="Courier New" pitchFamily="34" charset="0"/>
                <a:ea typeface="Courier New" pitchFamily="34" charset="-122"/>
                <a:cs typeface="Courier New" pitchFamily="34" charset="-120"/>
              </a:rPr>
              <a:t>find -name</a:t>
            </a:r>
            <a:endParaRPr lang="en-US" sz="1300" dirty="0"/>
          </a:p>
        </p:txBody>
      </p:sp>
      <p:sp>
        <p:nvSpPr>
          <p:cNvPr id="15" name="Shape 12"/>
          <p:cNvSpPr/>
          <p:nvPr/>
        </p:nvSpPr>
        <p:spPr>
          <a:xfrm>
            <a:off x="8065008" y="2057400"/>
            <a:ext cx="3566160" cy="1280160"/>
          </a:xfrm>
          <a:prstGeom prst="roundRect">
            <a:avLst>
              <a:gd name="adj" fmla="val 7143"/>
            </a:avLst>
          </a:prstGeom>
          <a:solidFill>
            <a:srgbClr val="F1F5FB"/>
          </a:solidFill>
          <a:ln/>
        </p:spPr>
      </p:sp>
      <p:sp>
        <p:nvSpPr>
          <p:cNvPr id="16" name="Shape 13"/>
          <p:cNvSpPr/>
          <p:nvPr/>
        </p:nvSpPr>
        <p:spPr>
          <a:xfrm>
            <a:off x="8065008" y="2057400"/>
            <a:ext cx="109728" cy="1280160"/>
          </a:xfrm>
          <a:prstGeom prst="roundRect">
            <a:avLst/>
          </a:prstGeom>
          <a:solidFill>
            <a:srgbClr val="7448D4"/>
          </a:solidFill>
          <a:ln/>
        </p:spPr>
      </p:sp>
      <p:sp>
        <p:nvSpPr>
          <p:cNvPr id="17" name="Text 14"/>
          <p:cNvSpPr txBox="1"/>
          <p:nvPr/>
        </p:nvSpPr>
        <p:spPr>
          <a:xfrm>
            <a:off x="8385048" y="2258568"/>
            <a:ext cx="3108960" cy="548640"/>
          </a:xfrm>
          <a:prstGeom prst="rect">
            <a:avLst/>
          </a:prstGeom>
          <a:noFill/>
          <a:ln/>
        </p:spPr>
        <p:txBody>
          <a:bodyPr wrap="square" lIns="0" tIns="0" rIns="0" bIns="0" rtlCol="0" anchor="t"/>
          <a:lstStyle/>
          <a:p>
            <a:pPr indent="0" marL="0">
              <a:buNone/>
            </a:pPr>
            <a:r>
              <a:rPr lang="en-US" sz="1650" b="1" dirty="0">
                <a:solidFill>
                  <a:srgbClr val="12213A"/>
                </a:solidFill>
                <a:latin typeface="Calibri" pitchFamily="34" charset="0"/>
                <a:ea typeface="Calibri" pitchFamily="34" charset="-122"/>
                <a:cs typeface="Calibri" pitchFamily="34" charset="-120"/>
              </a:rPr>
              <a:t>Search inside a big log</a:t>
            </a:r>
            <a:endParaRPr lang="en-US" sz="1650" dirty="0"/>
          </a:p>
        </p:txBody>
      </p:sp>
      <p:sp>
        <p:nvSpPr>
          <p:cNvPr id="18" name="Shape 15"/>
          <p:cNvSpPr/>
          <p:nvPr/>
        </p:nvSpPr>
        <p:spPr>
          <a:xfrm>
            <a:off x="8385048" y="2807208"/>
            <a:ext cx="2011680" cy="384048"/>
          </a:xfrm>
          <a:prstGeom prst="roundRect">
            <a:avLst>
              <a:gd name="adj" fmla="val 19048"/>
            </a:avLst>
          </a:prstGeom>
          <a:solidFill>
            <a:srgbClr val="0E1726"/>
          </a:solidFill>
          <a:ln/>
        </p:spPr>
      </p:sp>
      <p:sp>
        <p:nvSpPr>
          <p:cNvPr id="19" name="Text 16"/>
          <p:cNvSpPr txBox="1"/>
          <p:nvPr/>
        </p:nvSpPr>
        <p:spPr>
          <a:xfrm>
            <a:off x="8385048" y="2807208"/>
            <a:ext cx="2011680" cy="384048"/>
          </a:xfrm>
          <a:prstGeom prst="rect">
            <a:avLst/>
          </a:prstGeom>
          <a:noFill/>
          <a:ln/>
        </p:spPr>
        <p:txBody>
          <a:bodyPr wrap="square" lIns="0" tIns="0" rIns="0" bIns="0" rtlCol="0" anchor="ctr"/>
          <a:lstStyle/>
          <a:p>
            <a:pPr algn="ctr" indent="0" marL="0">
              <a:buNone/>
            </a:pPr>
            <a:r>
              <a:rPr lang="en-US" sz="1300" b="1" dirty="0">
                <a:solidFill>
                  <a:srgbClr val="46D39A"/>
                </a:solidFill>
                <a:latin typeface="Courier New" pitchFamily="34" charset="0"/>
                <a:ea typeface="Courier New" pitchFamily="34" charset="-122"/>
                <a:cs typeface="Courier New" pitchFamily="34" charset="-120"/>
              </a:rPr>
              <a:t>grep</a:t>
            </a:r>
            <a:endParaRPr lang="en-US" sz="1300" dirty="0"/>
          </a:p>
        </p:txBody>
      </p:sp>
      <p:sp>
        <p:nvSpPr>
          <p:cNvPr id="20" name="Shape 17"/>
          <p:cNvSpPr/>
          <p:nvPr/>
        </p:nvSpPr>
        <p:spPr>
          <a:xfrm>
            <a:off x="548640" y="3566160"/>
            <a:ext cx="3566160" cy="1280160"/>
          </a:xfrm>
          <a:prstGeom prst="roundRect">
            <a:avLst>
              <a:gd name="adj" fmla="val 7143"/>
            </a:avLst>
          </a:prstGeom>
          <a:solidFill>
            <a:srgbClr val="F1F5FB"/>
          </a:solidFill>
          <a:ln/>
        </p:spPr>
      </p:sp>
      <p:sp>
        <p:nvSpPr>
          <p:cNvPr id="21" name="Shape 18"/>
          <p:cNvSpPr/>
          <p:nvPr/>
        </p:nvSpPr>
        <p:spPr>
          <a:xfrm>
            <a:off x="548640" y="3566160"/>
            <a:ext cx="109728" cy="1280160"/>
          </a:xfrm>
          <a:prstGeom prst="roundRect">
            <a:avLst/>
          </a:prstGeom>
          <a:solidFill>
            <a:srgbClr val="D1416B"/>
          </a:solidFill>
          <a:ln/>
        </p:spPr>
      </p:sp>
      <p:sp>
        <p:nvSpPr>
          <p:cNvPr id="22" name="Text 19"/>
          <p:cNvSpPr txBox="1"/>
          <p:nvPr/>
        </p:nvSpPr>
        <p:spPr>
          <a:xfrm>
            <a:off x="868680" y="3767328"/>
            <a:ext cx="3108960" cy="548640"/>
          </a:xfrm>
          <a:prstGeom prst="rect">
            <a:avLst/>
          </a:prstGeom>
          <a:noFill/>
          <a:ln/>
        </p:spPr>
        <p:txBody>
          <a:bodyPr wrap="square" lIns="0" tIns="0" rIns="0" bIns="0" rtlCol="0" anchor="t"/>
          <a:lstStyle/>
          <a:p>
            <a:pPr indent="0" marL="0">
              <a:buNone/>
            </a:pPr>
            <a:r>
              <a:rPr lang="en-US" sz="1650" b="1" dirty="0">
                <a:solidFill>
                  <a:srgbClr val="12213A"/>
                </a:solidFill>
                <a:latin typeface="Calibri" pitchFamily="34" charset="0"/>
                <a:ea typeface="Calibri" pitchFamily="34" charset="-122"/>
                <a:cs typeface="Calibri" pitchFamily="34" charset="-120"/>
              </a:rPr>
              <a:t>Unlock a script</a:t>
            </a:r>
            <a:endParaRPr lang="en-US" sz="1650" dirty="0"/>
          </a:p>
        </p:txBody>
      </p:sp>
      <p:sp>
        <p:nvSpPr>
          <p:cNvPr id="23" name="Shape 20"/>
          <p:cNvSpPr/>
          <p:nvPr/>
        </p:nvSpPr>
        <p:spPr>
          <a:xfrm>
            <a:off x="868680" y="4315968"/>
            <a:ext cx="2011680" cy="384048"/>
          </a:xfrm>
          <a:prstGeom prst="roundRect">
            <a:avLst>
              <a:gd name="adj" fmla="val 19048"/>
            </a:avLst>
          </a:prstGeom>
          <a:solidFill>
            <a:srgbClr val="0E1726"/>
          </a:solidFill>
          <a:ln/>
        </p:spPr>
      </p:sp>
      <p:sp>
        <p:nvSpPr>
          <p:cNvPr id="24" name="Text 21"/>
          <p:cNvSpPr txBox="1"/>
          <p:nvPr/>
        </p:nvSpPr>
        <p:spPr>
          <a:xfrm>
            <a:off x="868680" y="4315968"/>
            <a:ext cx="2011680" cy="384048"/>
          </a:xfrm>
          <a:prstGeom prst="rect">
            <a:avLst/>
          </a:prstGeom>
          <a:noFill/>
          <a:ln/>
        </p:spPr>
        <p:txBody>
          <a:bodyPr wrap="square" lIns="0" tIns="0" rIns="0" bIns="0" rtlCol="0" anchor="ctr"/>
          <a:lstStyle/>
          <a:p>
            <a:pPr algn="ctr" indent="0" marL="0">
              <a:buNone/>
            </a:pPr>
            <a:r>
              <a:rPr lang="en-US" sz="1300" b="1" dirty="0">
                <a:solidFill>
                  <a:srgbClr val="46D39A"/>
                </a:solidFill>
                <a:latin typeface="Courier New" pitchFamily="34" charset="0"/>
                <a:ea typeface="Courier New" pitchFamily="34" charset="-122"/>
                <a:cs typeface="Courier New" pitchFamily="34" charset="-120"/>
              </a:rPr>
              <a:t>chmod +x</a:t>
            </a:r>
            <a:endParaRPr lang="en-US" sz="1300" dirty="0"/>
          </a:p>
        </p:txBody>
      </p:sp>
      <p:sp>
        <p:nvSpPr>
          <p:cNvPr id="25" name="Shape 22"/>
          <p:cNvSpPr/>
          <p:nvPr/>
        </p:nvSpPr>
        <p:spPr>
          <a:xfrm>
            <a:off x="4306824" y="3566160"/>
            <a:ext cx="3566160" cy="1280160"/>
          </a:xfrm>
          <a:prstGeom prst="roundRect">
            <a:avLst>
              <a:gd name="adj" fmla="val 7143"/>
            </a:avLst>
          </a:prstGeom>
          <a:solidFill>
            <a:srgbClr val="F1F5FB"/>
          </a:solidFill>
          <a:ln/>
        </p:spPr>
      </p:sp>
      <p:sp>
        <p:nvSpPr>
          <p:cNvPr id="26" name="Shape 23"/>
          <p:cNvSpPr/>
          <p:nvPr/>
        </p:nvSpPr>
        <p:spPr>
          <a:xfrm>
            <a:off x="4306824" y="3566160"/>
            <a:ext cx="109728" cy="1280160"/>
          </a:xfrm>
          <a:prstGeom prst="roundRect">
            <a:avLst/>
          </a:prstGeom>
          <a:solidFill>
            <a:srgbClr val="5B6EE1"/>
          </a:solidFill>
          <a:ln/>
        </p:spPr>
      </p:sp>
      <p:sp>
        <p:nvSpPr>
          <p:cNvPr id="27" name="Text 24"/>
          <p:cNvSpPr txBox="1"/>
          <p:nvPr/>
        </p:nvSpPr>
        <p:spPr>
          <a:xfrm>
            <a:off x="4626864" y="3767328"/>
            <a:ext cx="3108960" cy="548640"/>
          </a:xfrm>
          <a:prstGeom prst="rect">
            <a:avLst/>
          </a:prstGeom>
          <a:noFill/>
          <a:ln/>
        </p:spPr>
        <p:txBody>
          <a:bodyPr wrap="square" lIns="0" tIns="0" rIns="0" bIns="0" rtlCol="0" anchor="t"/>
          <a:lstStyle/>
          <a:p>
            <a:pPr indent="0" marL="0">
              <a:buNone/>
            </a:pPr>
            <a:r>
              <a:rPr lang="en-US" sz="1650" b="1" dirty="0">
                <a:solidFill>
                  <a:srgbClr val="12213A"/>
                </a:solidFill>
                <a:latin typeface="Calibri" pitchFamily="34" charset="0"/>
                <a:ea typeface="Calibri" pitchFamily="34" charset="-122"/>
                <a:cs typeface="Calibri" pitchFamily="34" charset="-120"/>
              </a:rPr>
              <a:t>Clean up a corrupted file</a:t>
            </a:r>
            <a:endParaRPr lang="en-US" sz="1650" dirty="0"/>
          </a:p>
        </p:txBody>
      </p:sp>
      <p:sp>
        <p:nvSpPr>
          <p:cNvPr id="28" name="Shape 25"/>
          <p:cNvSpPr/>
          <p:nvPr/>
        </p:nvSpPr>
        <p:spPr>
          <a:xfrm>
            <a:off x="4626864" y="4315968"/>
            <a:ext cx="2011680" cy="384048"/>
          </a:xfrm>
          <a:prstGeom prst="roundRect">
            <a:avLst>
              <a:gd name="adj" fmla="val 19048"/>
            </a:avLst>
          </a:prstGeom>
          <a:solidFill>
            <a:srgbClr val="0E1726"/>
          </a:solidFill>
          <a:ln/>
        </p:spPr>
      </p:sp>
      <p:sp>
        <p:nvSpPr>
          <p:cNvPr id="29" name="Text 26"/>
          <p:cNvSpPr txBox="1"/>
          <p:nvPr/>
        </p:nvSpPr>
        <p:spPr>
          <a:xfrm>
            <a:off x="4626864" y="4315968"/>
            <a:ext cx="2011680" cy="384048"/>
          </a:xfrm>
          <a:prstGeom prst="rect">
            <a:avLst/>
          </a:prstGeom>
          <a:noFill/>
          <a:ln/>
        </p:spPr>
        <p:txBody>
          <a:bodyPr wrap="square" lIns="0" tIns="0" rIns="0" bIns="0" rtlCol="0" anchor="ctr"/>
          <a:lstStyle/>
          <a:p>
            <a:pPr algn="ctr" indent="0" marL="0">
              <a:buNone/>
            </a:pPr>
            <a:r>
              <a:rPr lang="en-US" sz="1300" b="1" dirty="0">
                <a:solidFill>
                  <a:srgbClr val="46D39A"/>
                </a:solidFill>
                <a:latin typeface="Courier New" pitchFamily="34" charset="0"/>
                <a:ea typeface="Courier New" pitchFamily="34" charset="-122"/>
                <a:cs typeface="Courier New" pitchFamily="34" charset="-120"/>
              </a:rPr>
              <a:t>sed</a:t>
            </a:r>
            <a:endParaRPr lang="en-US" sz="1300" dirty="0"/>
          </a:p>
        </p:txBody>
      </p:sp>
      <p:sp>
        <p:nvSpPr>
          <p:cNvPr id="30" name="Shape 27"/>
          <p:cNvSpPr/>
          <p:nvPr/>
        </p:nvSpPr>
        <p:spPr>
          <a:xfrm>
            <a:off x="8065008" y="3566160"/>
            <a:ext cx="3566160" cy="1280160"/>
          </a:xfrm>
          <a:prstGeom prst="roundRect">
            <a:avLst>
              <a:gd name="adj" fmla="val 7143"/>
            </a:avLst>
          </a:prstGeom>
          <a:solidFill>
            <a:srgbClr val="F1F5FB"/>
          </a:solidFill>
          <a:ln/>
        </p:spPr>
      </p:sp>
      <p:sp>
        <p:nvSpPr>
          <p:cNvPr id="31" name="Shape 28"/>
          <p:cNvSpPr/>
          <p:nvPr/>
        </p:nvSpPr>
        <p:spPr>
          <a:xfrm>
            <a:off x="8065008" y="3566160"/>
            <a:ext cx="109728" cy="1280160"/>
          </a:xfrm>
          <a:prstGeom prst="roundRect">
            <a:avLst/>
          </a:prstGeom>
          <a:solidFill>
            <a:srgbClr val="0F9488"/>
          </a:solidFill>
          <a:ln/>
        </p:spPr>
      </p:sp>
      <p:sp>
        <p:nvSpPr>
          <p:cNvPr id="32" name="Text 29"/>
          <p:cNvSpPr txBox="1"/>
          <p:nvPr/>
        </p:nvSpPr>
        <p:spPr>
          <a:xfrm>
            <a:off x="8385048" y="3767328"/>
            <a:ext cx="3108960" cy="548640"/>
          </a:xfrm>
          <a:prstGeom prst="rect">
            <a:avLst/>
          </a:prstGeom>
          <a:noFill/>
          <a:ln/>
        </p:spPr>
        <p:txBody>
          <a:bodyPr wrap="square" lIns="0" tIns="0" rIns="0" bIns="0" rtlCol="0" anchor="t"/>
          <a:lstStyle/>
          <a:p>
            <a:pPr indent="0" marL="0">
              <a:buNone/>
            </a:pPr>
            <a:r>
              <a:rPr lang="en-US" sz="1650" b="1" dirty="0">
                <a:solidFill>
                  <a:srgbClr val="12213A"/>
                </a:solidFill>
                <a:latin typeface="Calibri" pitchFamily="34" charset="0"/>
                <a:ea typeface="Calibri" pitchFamily="34" charset="-122"/>
                <a:cs typeface="Calibri" pitchFamily="34" charset="-120"/>
              </a:rPr>
              <a:t>Chain tools with a pipe</a:t>
            </a:r>
            <a:endParaRPr lang="en-US" sz="1650" dirty="0"/>
          </a:p>
        </p:txBody>
      </p:sp>
      <p:sp>
        <p:nvSpPr>
          <p:cNvPr id="33" name="Shape 30"/>
          <p:cNvSpPr/>
          <p:nvPr/>
        </p:nvSpPr>
        <p:spPr>
          <a:xfrm>
            <a:off x="8385048" y="4315968"/>
            <a:ext cx="2011680" cy="384048"/>
          </a:xfrm>
          <a:prstGeom prst="roundRect">
            <a:avLst>
              <a:gd name="adj" fmla="val 19048"/>
            </a:avLst>
          </a:prstGeom>
          <a:solidFill>
            <a:srgbClr val="0E1726"/>
          </a:solidFill>
          <a:ln/>
        </p:spPr>
      </p:sp>
      <p:sp>
        <p:nvSpPr>
          <p:cNvPr id="34" name="Text 31"/>
          <p:cNvSpPr txBox="1"/>
          <p:nvPr/>
        </p:nvSpPr>
        <p:spPr>
          <a:xfrm>
            <a:off x="8385048" y="4315968"/>
            <a:ext cx="2011680" cy="384048"/>
          </a:xfrm>
          <a:prstGeom prst="rect">
            <a:avLst/>
          </a:prstGeom>
          <a:noFill/>
          <a:ln/>
        </p:spPr>
        <p:txBody>
          <a:bodyPr wrap="square" lIns="0" tIns="0" rIns="0" bIns="0" rtlCol="0" anchor="ctr"/>
          <a:lstStyle/>
          <a:p>
            <a:pPr algn="ctr" indent="0" marL="0">
              <a:buNone/>
            </a:pPr>
            <a:r>
              <a:rPr lang="en-US" sz="1300" b="1" dirty="0">
                <a:solidFill>
                  <a:srgbClr val="46D39A"/>
                </a:solidFill>
                <a:latin typeface="Courier New" pitchFamily="34" charset="0"/>
                <a:ea typeface="Courier New" pitchFamily="34" charset="-122"/>
                <a:cs typeface="Courier New" pitchFamily="34" charset="-120"/>
              </a:rPr>
              <a:t>sort | uniq</a:t>
            </a:r>
            <a:endParaRPr lang="en-US" sz="1300" dirty="0"/>
          </a:p>
        </p:txBody>
      </p:sp>
      <p:sp>
        <p:nvSpPr>
          <p:cNvPr id="35" name="Text 32"/>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45 / 79</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Side quests: for anyone who wants more</a:t>
            </a:r>
            <a:endParaRPr lang="en-US" sz="3200" dirty="0"/>
          </a:p>
        </p:txBody>
      </p:sp>
      <p:sp>
        <p:nvSpPr>
          <p:cNvPr id="4" name="Shape 1"/>
          <p:cNvSpPr/>
          <p:nvPr/>
        </p:nvSpPr>
        <p:spPr>
          <a:xfrm>
            <a:off x="548640" y="1508760"/>
            <a:ext cx="5449824" cy="2057400"/>
          </a:xfrm>
          <a:prstGeom prst="roundRect">
            <a:avLst>
              <a:gd name="adj" fmla="val 5333"/>
            </a:avLst>
          </a:prstGeom>
          <a:solidFill>
            <a:srgbClr val="0E1726"/>
          </a:solidFill>
          <a:ln/>
        </p:spPr>
      </p:sp>
      <p:sp>
        <p:nvSpPr>
          <p:cNvPr id="5" name="Text 2"/>
          <p:cNvSpPr txBox="1"/>
          <p:nvPr/>
        </p:nvSpPr>
        <p:spPr>
          <a:xfrm>
            <a:off x="868680" y="1691640"/>
            <a:ext cx="347472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Count the haystack</a:t>
            </a:r>
            <a:endParaRPr lang="en-US" sz="2200" dirty="0"/>
          </a:p>
        </p:txBody>
      </p:sp>
      <p:sp>
        <p:nvSpPr>
          <p:cNvPr id="6" name="Text 3"/>
          <p:cNvSpPr txBox="1"/>
          <p:nvPr/>
        </p:nvSpPr>
        <p:spPr>
          <a:xfrm>
            <a:off x="4206240" y="1737360"/>
            <a:ext cx="1554480" cy="365760"/>
          </a:xfrm>
          <a:prstGeom prst="rect">
            <a:avLst/>
          </a:prstGeom>
          <a:noFill/>
          <a:ln/>
        </p:spPr>
        <p:txBody>
          <a:bodyPr wrap="square" lIns="0" tIns="0" rIns="0" bIns="0" rtlCol="0" anchor="ctr"/>
          <a:lstStyle/>
          <a:p>
            <a:pPr algn="r" indent="0" marL="0">
              <a:buNone/>
            </a:pPr>
            <a:r>
              <a:rPr lang="en-US" sz="1200" dirty="0">
                <a:solidFill>
                  <a:srgbClr val="7F8FAD"/>
                </a:solidFill>
                <a:latin typeface="Courier New" pitchFamily="34" charset="0"/>
                <a:ea typeface="Courier New" pitchFamily="34" charset="-122"/>
                <a:cs typeface="Courier New" pitchFamily="34" charset="-120"/>
              </a:rPr>
              <a:t>~/mission4</a:t>
            </a:r>
            <a:endParaRPr lang="en-US" sz="1200" dirty="0"/>
          </a:p>
        </p:txBody>
      </p:sp>
      <p:sp>
        <p:nvSpPr>
          <p:cNvPr id="7" name="Text 4"/>
          <p:cNvSpPr txBox="1"/>
          <p:nvPr/>
        </p:nvSpPr>
        <p:spPr>
          <a:xfrm>
            <a:off x="868680" y="2240280"/>
            <a:ext cx="4846320" cy="777240"/>
          </a:xfrm>
          <a:prstGeom prst="rect">
            <a:avLst/>
          </a:prstGeom>
          <a:noFill/>
          <a:ln/>
        </p:spPr>
        <p:txBody>
          <a:bodyPr wrap="square" lIns="0" tIns="0" rIns="0" bIns="0" rtlCol="0" anchor="t"/>
          <a:lstStyle/>
          <a:p>
            <a:pPr indent="0" marL="0">
              <a:buNone/>
            </a:pPr>
            <a:r>
              <a:rPr lang="en-US" sz="1600" dirty="0">
                <a:solidFill>
                  <a:srgbClr val="B8C4D9"/>
                </a:solidFill>
                <a:latin typeface="Calibri" pitchFamily="34" charset="0"/>
                <a:ea typeface="Calibri" pitchFamily="34" charset="-122"/>
                <a:cs typeface="Calibri" pitchFamily="34" charset="-120"/>
              </a:rPr>
              <a:t>How many files did find search through? How many folders?</a:t>
            </a:r>
            <a:endParaRPr lang="en-US" sz="1600" dirty="0"/>
          </a:p>
        </p:txBody>
      </p:sp>
      <p:sp>
        <p:nvSpPr>
          <p:cNvPr id="8" name="Text 5"/>
          <p:cNvSpPr txBox="1"/>
          <p:nvPr/>
        </p:nvSpPr>
        <p:spPr>
          <a:xfrm>
            <a:off x="868680" y="3044952"/>
            <a:ext cx="4846320" cy="365760"/>
          </a:xfrm>
          <a:prstGeom prst="rect">
            <a:avLst/>
          </a:prstGeom>
          <a:noFill/>
          <a:ln/>
        </p:spPr>
        <p:txBody>
          <a:bodyPr wrap="square" lIns="0" tIns="0" rIns="0" bIns="0" rtlCol="0" anchor="ctr"/>
          <a:lstStyle/>
          <a:p>
            <a:pPr indent="0" marL="0">
              <a:buNone/>
            </a:pPr>
            <a:r>
              <a:rPr lang="en-US" sz="1400" b="1" dirty="0">
                <a:solidFill>
                  <a:srgbClr val="46D39A"/>
                </a:solidFill>
                <a:latin typeface="Courier New" pitchFamily="34" charset="0"/>
                <a:ea typeface="Courier New" pitchFamily="34" charset="-122"/>
                <a:cs typeface="Courier New" pitchFamily="34" charset="-120"/>
              </a:rPr>
              <a:t>$ </a:t>
            </a:r>
            <a:pPr indent="0" marL="0">
              <a:buNone/>
            </a:pPr>
            <a:r>
              <a:rPr lang="en-US" sz="1400" b="1" dirty="0">
                <a:solidFill>
                  <a:srgbClr val="F5A623"/>
                </a:solidFill>
                <a:latin typeface="Courier New" pitchFamily="34" charset="0"/>
                <a:ea typeface="Courier New" pitchFamily="34" charset="-122"/>
                <a:cs typeface="Courier New" pitchFamily="34" charset="-120"/>
              </a:rPr>
              <a:t>find archive -type f | wc -l</a:t>
            </a:r>
            <a:endParaRPr lang="en-US" sz="1400" dirty="0"/>
          </a:p>
        </p:txBody>
      </p:sp>
      <p:sp>
        <p:nvSpPr>
          <p:cNvPr id="9" name="Shape 6"/>
          <p:cNvSpPr/>
          <p:nvPr/>
        </p:nvSpPr>
        <p:spPr>
          <a:xfrm>
            <a:off x="6190488" y="1508760"/>
            <a:ext cx="5449824" cy="2057400"/>
          </a:xfrm>
          <a:prstGeom prst="roundRect">
            <a:avLst>
              <a:gd name="adj" fmla="val 5333"/>
            </a:avLst>
          </a:prstGeom>
          <a:solidFill>
            <a:srgbClr val="0E1726"/>
          </a:solidFill>
          <a:ln/>
        </p:spPr>
      </p:sp>
      <p:sp>
        <p:nvSpPr>
          <p:cNvPr id="10" name="Text 7"/>
          <p:cNvSpPr txBox="1"/>
          <p:nvPr/>
        </p:nvSpPr>
        <p:spPr>
          <a:xfrm>
            <a:off x="6510528" y="1691640"/>
            <a:ext cx="347472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Who failed most?</a:t>
            </a:r>
            <a:endParaRPr lang="en-US" sz="2200" dirty="0"/>
          </a:p>
        </p:txBody>
      </p:sp>
      <p:sp>
        <p:nvSpPr>
          <p:cNvPr id="11" name="Text 8"/>
          <p:cNvSpPr txBox="1"/>
          <p:nvPr/>
        </p:nvSpPr>
        <p:spPr>
          <a:xfrm>
            <a:off x="9848088" y="1737360"/>
            <a:ext cx="1554480" cy="365760"/>
          </a:xfrm>
          <a:prstGeom prst="rect">
            <a:avLst/>
          </a:prstGeom>
          <a:noFill/>
          <a:ln/>
        </p:spPr>
        <p:txBody>
          <a:bodyPr wrap="square" lIns="0" tIns="0" rIns="0" bIns="0" rtlCol="0" anchor="ctr"/>
          <a:lstStyle/>
          <a:p>
            <a:pPr algn="r" indent="0" marL="0">
              <a:buNone/>
            </a:pPr>
            <a:r>
              <a:rPr lang="en-US" sz="1200" dirty="0">
                <a:solidFill>
                  <a:srgbClr val="7F8FAD"/>
                </a:solidFill>
                <a:latin typeface="Courier New" pitchFamily="34" charset="0"/>
                <a:ea typeface="Courier New" pitchFamily="34" charset="-122"/>
                <a:cs typeface="Courier New" pitchFamily="34" charset="-120"/>
              </a:rPr>
              <a:t>~/mission5</a:t>
            </a:r>
            <a:endParaRPr lang="en-US" sz="1200" dirty="0"/>
          </a:p>
        </p:txBody>
      </p:sp>
      <p:sp>
        <p:nvSpPr>
          <p:cNvPr id="12" name="Text 9"/>
          <p:cNvSpPr txBox="1"/>
          <p:nvPr/>
        </p:nvSpPr>
        <p:spPr>
          <a:xfrm>
            <a:off x="6510528" y="2240280"/>
            <a:ext cx="4846320" cy="777240"/>
          </a:xfrm>
          <a:prstGeom prst="rect">
            <a:avLst/>
          </a:prstGeom>
          <a:noFill/>
          <a:ln/>
        </p:spPr>
        <p:txBody>
          <a:bodyPr wrap="square" lIns="0" tIns="0" rIns="0" bIns="0" rtlCol="0" anchor="t"/>
          <a:lstStyle/>
          <a:p>
            <a:pPr indent="0" marL="0">
              <a:buNone/>
            </a:pPr>
            <a:r>
              <a:rPr lang="en-US" sz="1600" dirty="0">
                <a:solidFill>
                  <a:srgbClr val="B8C4D9"/>
                </a:solidFill>
                <a:latin typeface="Calibri" pitchFamily="34" charset="0"/>
                <a:ea typeface="Calibri" pitchFamily="34" charset="-122"/>
                <a:cs typeface="Calibri" pitchFamily="34" charset="-120"/>
              </a:rPr>
              <a:t>Which user has the most LOGIN_FAIL lines? Build it one pipe at a time.</a:t>
            </a:r>
            <a:endParaRPr lang="en-US" sz="1600" dirty="0"/>
          </a:p>
        </p:txBody>
      </p:sp>
      <p:sp>
        <p:nvSpPr>
          <p:cNvPr id="13" name="Text 10"/>
          <p:cNvSpPr txBox="1"/>
          <p:nvPr/>
        </p:nvSpPr>
        <p:spPr>
          <a:xfrm>
            <a:off x="6510528" y="3044952"/>
            <a:ext cx="4846320" cy="365760"/>
          </a:xfrm>
          <a:prstGeom prst="rect">
            <a:avLst/>
          </a:prstGeom>
          <a:noFill/>
          <a:ln/>
        </p:spPr>
        <p:txBody>
          <a:bodyPr wrap="square" lIns="0" tIns="0" rIns="0" bIns="0" rtlCol="0" anchor="ctr"/>
          <a:lstStyle/>
          <a:p>
            <a:pPr indent="0" marL="0">
              <a:buNone/>
            </a:pPr>
            <a:r>
              <a:rPr lang="en-US" sz="1400" b="1" dirty="0">
                <a:solidFill>
                  <a:srgbClr val="46D39A"/>
                </a:solidFill>
                <a:latin typeface="Courier New" pitchFamily="34" charset="0"/>
                <a:ea typeface="Courier New" pitchFamily="34" charset="-122"/>
                <a:cs typeface="Courier New" pitchFamily="34" charset="-120"/>
              </a:rPr>
              <a:t>$ </a:t>
            </a:r>
            <a:pPr indent="0" marL="0">
              <a:buNone/>
            </a:pPr>
            <a:r>
              <a:rPr lang="en-US" sz="1400" b="1" dirty="0">
                <a:solidFill>
                  <a:srgbClr val="F5A623"/>
                </a:solidFill>
                <a:latin typeface="Courier New" pitchFamily="34" charset="0"/>
                <a:ea typeface="Courier New" pitchFamily="34" charset="-122"/>
                <a:cs typeface="Courier New" pitchFamily="34" charset="-120"/>
              </a:rPr>
              <a:t>grep · cut · sort · uniq -c</a:t>
            </a:r>
            <a:endParaRPr lang="en-US" sz="1400" dirty="0"/>
          </a:p>
        </p:txBody>
      </p:sp>
      <p:sp>
        <p:nvSpPr>
          <p:cNvPr id="14" name="Shape 11"/>
          <p:cNvSpPr/>
          <p:nvPr/>
        </p:nvSpPr>
        <p:spPr>
          <a:xfrm>
            <a:off x="548640" y="3749040"/>
            <a:ext cx="5449824" cy="2057400"/>
          </a:xfrm>
          <a:prstGeom prst="roundRect">
            <a:avLst>
              <a:gd name="adj" fmla="val 5333"/>
            </a:avLst>
          </a:prstGeom>
          <a:solidFill>
            <a:srgbClr val="0E1726"/>
          </a:solidFill>
          <a:ln/>
        </p:spPr>
      </p:sp>
      <p:sp>
        <p:nvSpPr>
          <p:cNvPr id="15" name="Text 12"/>
          <p:cNvSpPr txBox="1"/>
          <p:nvPr/>
        </p:nvSpPr>
        <p:spPr>
          <a:xfrm>
            <a:off x="868680" y="3931920"/>
            <a:ext cx="347472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Head count</a:t>
            </a:r>
            <a:endParaRPr lang="en-US" sz="2200" dirty="0"/>
          </a:p>
        </p:txBody>
      </p:sp>
      <p:sp>
        <p:nvSpPr>
          <p:cNvPr id="16" name="Text 13"/>
          <p:cNvSpPr txBox="1"/>
          <p:nvPr/>
        </p:nvSpPr>
        <p:spPr>
          <a:xfrm>
            <a:off x="4206240" y="3977640"/>
            <a:ext cx="1554480" cy="365760"/>
          </a:xfrm>
          <a:prstGeom prst="rect">
            <a:avLst/>
          </a:prstGeom>
          <a:noFill/>
          <a:ln/>
        </p:spPr>
        <p:txBody>
          <a:bodyPr wrap="square" lIns="0" tIns="0" rIns="0" bIns="0" rtlCol="0" anchor="ctr"/>
          <a:lstStyle/>
          <a:p>
            <a:pPr algn="r" indent="0" marL="0">
              <a:buNone/>
            </a:pPr>
            <a:r>
              <a:rPr lang="en-US" sz="1200" dirty="0">
                <a:solidFill>
                  <a:srgbClr val="7F8FAD"/>
                </a:solidFill>
                <a:latin typeface="Courier New" pitchFamily="34" charset="0"/>
                <a:ea typeface="Courier New" pitchFamily="34" charset="-122"/>
                <a:cs typeface="Courier New" pitchFamily="34" charset="-120"/>
              </a:rPr>
              <a:t>~/mission5</a:t>
            </a:r>
            <a:endParaRPr lang="en-US" sz="1200" dirty="0"/>
          </a:p>
        </p:txBody>
      </p:sp>
      <p:sp>
        <p:nvSpPr>
          <p:cNvPr id="17" name="Text 14"/>
          <p:cNvSpPr txBox="1"/>
          <p:nvPr/>
        </p:nvSpPr>
        <p:spPr>
          <a:xfrm>
            <a:off x="868680" y="4480560"/>
            <a:ext cx="4846320" cy="777240"/>
          </a:xfrm>
          <a:prstGeom prst="rect">
            <a:avLst/>
          </a:prstGeom>
          <a:noFill/>
          <a:ln/>
        </p:spPr>
        <p:txBody>
          <a:bodyPr wrap="square" lIns="0" tIns="0" rIns="0" bIns="0" rtlCol="0" anchor="t"/>
          <a:lstStyle/>
          <a:p>
            <a:pPr indent="0" marL="0">
              <a:buNone/>
            </a:pPr>
            <a:r>
              <a:rPr lang="en-US" sz="1600" dirty="0">
                <a:solidFill>
                  <a:srgbClr val="B8C4D9"/>
                </a:solidFill>
                <a:latin typeface="Calibri" pitchFamily="34" charset="0"/>
                <a:ea typeface="Calibri" pitchFamily="34" charset="-122"/>
                <a:cs typeface="Calibri" pitchFamily="34" charset="-120"/>
              </a:rPr>
              <a:t>How many different user names appear in access.log?</a:t>
            </a:r>
            <a:endParaRPr lang="en-US" sz="1600" dirty="0"/>
          </a:p>
        </p:txBody>
      </p:sp>
      <p:sp>
        <p:nvSpPr>
          <p:cNvPr id="18" name="Text 15"/>
          <p:cNvSpPr txBox="1"/>
          <p:nvPr/>
        </p:nvSpPr>
        <p:spPr>
          <a:xfrm>
            <a:off x="868680" y="5285232"/>
            <a:ext cx="4846320" cy="365760"/>
          </a:xfrm>
          <a:prstGeom prst="rect">
            <a:avLst/>
          </a:prstGeom>
          <a:noFill/>
          <a:ln/>
        </p:spPr>
        <p:txBody>
          <a:bodyPr wrap="square" lIns="0" tIns="0" rIns="0" bIns="0" rtlCol="0" anchor="ctr"/>
          <a:lstStyle/>
          <a:p>
            <a:pPr indent="0" marL="0">
              <a:buNone/>
            </a:pPr>
            <a:r>
              <a:rPr lang="en-US" sz="1400" b="1" dirty="0">
                <a:solidFill>
                  <a:srgbClr val="46D39A"/>
                </a:solidFill>
                <a:latin typeface="Courier New" pitchFamily="34" charset="0"/>
                <a:ea typeface="Courier New" pitchFamily="34" charset="-122"/>
                <a:cs typeface="Courier New" pitchFamily="34" charset="-120"/>
              </a:rPr>
              <a:t>$ </a:t>
            </a:r>
            <a:pPr indent="0" marL="0">
              <a:buNone/>
            </a:pPr>
            <a:r>
              <a:rPr lang="en-US" sz="1400" b="1" dirty="0">
                <a:solidFill>
                  <a:srgbClr val="F5A623"/>
                </a:solidFill>
                <a:latin typeface="Courier New" pitchFamily="34" charset="0"/>
                <a:ea typeface="Courier New" pitchFamily="34" charset="-122"/>
                <a:cs typeface="Courier New" pitchFamily="34" charset="-120"/>
              </a:rPr>
              <a:t>cut -d' ' -f2 · sort -u · wc -l</a:t>
            </a:r>
            <a:endParaRPr lang="en-US" sz="1400" dirty="0"/>
          </a:p>
        </p:txBody>
      </p:sp>
      <p:sp>
        <p:nvSpPr>
          <p:cNvPr id="19" name="Shape 16"/>
          <p:cNvSpPr/>
          <p:nvPr/>
        </p:nvSpPr>
        <p:spPr>
          <a:xfrm>
            <a:off x="6190488" y="3749040"/>
            <a:ext cx="5449824" cy="2057400"/>
          </a:xfrm>
          <a:prstGeom prst="roundRect">
            <a:avLst>
              <a:gd name="adj" fmla="val 5333"/>
            </a:avLst>
          </a:prstGeom>
          <a:solidFill>
            <a:srgbClr val="0E1726"/>
          </a:solidFill>
          <a:ln/>
        </p:spPr>
      </p:sp>
      <p:sp>
        <p:nvSpPr>
          <p:cNvPr id="20" name="Text 17"/>
          <p:cNvSpPr txBox="1"/>
          <p:nvPr/>
        </p:nvSpPr>
        <p:spPr>
          <a:xfrm>
            <a:off x="6510528" y="3931920"/>
            <a:ext cx="347472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Swap secrets</a:t>
            </a:r>
            <a:endParaRPr lang="en-US" sz="2200" dirty="0"/>
          </a:p>
        </p:txBody>
      </p:sp>
      <p:sp>
        <p:nvSpPr>
          <p:cNvPr id="21" name="Text 18"/>
          <p:cNvSpPr txBox="1"/>
          <p:nvPr/>
        </p:nvSpPr>
        <p:spPr>
          <a:xfrm>
            <a:off x="9848088" y="3977640"/>
            <a:ext cx="1554480" cy="365760"/>
          </a:xfrm>
          <a:prstGeom prst="rect">
            <a:avLst/>
          </a:prstGeom>
          <a:noFill/>
          <a:ln/>
        </p:spPr>
        <p:txBody>
          <a:bodyPr wrap="square" lIns="0" tIns="0" rIns="0" bIns="0" rtlCol="0" anchor="ctr"/>
          <a:lstStyle/>
          <a:p>
            <a:pPr algn="r" indent="0" marL="0">
              <a:buNone/>
            </a:pPr>
            <a:r>
              <a:rPr lang="en-US" sz="1200" dirty="0">
                <a:solidFill>
                  <a:srgbClr val="7F8FAD"/>
                </a:solidFill>
                <a:latin typeface="Courier New" pitchFamily="34" charset="0"/>
                <a:ea typeface="Courier New" pitchFamily="34" charset="-122"/>
                <a:cs typeface="Courier New" pitchFamily="34" charset="-120"/>
              </a:rPr>
              <a:t>anywhere</a:t>
            </a:r>
            <a:endParaRPr lang="en-US" sz="1200" dirty="0"/>
          </a:p>
        </p:txBody>
      </p:sp>
      <p:sp>
        <p:nvSpPr>
          <p:cNvPr id="22" name="Text 19"/>
          <p:cNvSpPr txBox="1"/>
          <p:nvPr/>
        </p:nvSpPr>
        <p:spPr>
          <a:xfrm>
            <a:off x="6510528" y="4480560"/>
            <a:ext cx="4846320" cy="777240"/>
          </a:xfrm>
          <a:prstGeom prst="rect">
            <a:avLst/>
          </a:prstGeom>
          <a:noFill/>
          <a:ln/>
        </p:spPr>
        <p:txBody>
          <a:bodyPr wrap="square" lIns="0" tIns="0" rIns="0" bIns="0" rtlCol="0" anchor="t"/>
          <a:lstStyle/>
          <a:p>
            <a:pPr indent="0" marL="0">
              <a:buNone/>
            </a:pPr>
            <a:r>
              <a:rPr lang="en-US" sz="1600" dirty="0">
                <a:solidFill>
                  <a:srgbClr val="B8C4D9"/>
                </a:solidFill>
                <a:latin typeface="Calibri" pitchFamily="34" charset="0"/>
                <a:ea typeface="Calibri" pitchFamily="34" charset="-122"/>
                <a:cs typeface="Calibri" pitchFamily="34" charset="-120"/>
              </a:rPr>
              <a:t>Reverse a message, write it on paper, swap with the next team, reverse theirs back.</a:t>
            </a:r>
            <a:endParaRPr lang="en-US" sz="1600" dirty="0"/>
          </a:p>
        </p:txBody>
      </p:sp>
      <p:sp>
        <p:nvSpPr>
          <p:cNvPr id="23" name="Text 20"/>
          <p:cNvSpPr txBox="1"/>
          <p:nvPr/>
        </p:nvSpPr>
        <p:spPr>
          <a:xfrm>
            <a:off x="6510528" y="5285232"/>
            <a:ext cx="4846320" cy="365760"/>
          </a:xfrm>
          <a:prstGeom prst="rect">
            <a:avLst/>
          </a:prstGeom>
          <a:noFill/>
          <a:ln/>
        </p:spPr>
        <p:txBody>
          <a:bodyPr wrap="square" lIns="0" tIns="0" rIns="0" bIns="0" rtlCol="0" anchor="ctr"/>
          <a:lstStyle/>
          <a:p>
            <a:pPr indent="0" marL="0">
              <a:buNone/>
            </a:pPr>
            <a:r>
              <a:rPr lang="en-US" sz="1400" b="1" dirty="0">
                <a:solidFill>
                  <a:srgbClr val="46D39A"/>
                </a:solidFill>
                <a:latin typeface="Courier New" pitchFamily="34" charset="0"/>
                <a:ea typeface="Courier New" pitchFamily="34" charset="-122"/>
                <a:cs typeface="Courier New" pitchFamily="34" charset="-120"/>
              </a:rPr>
              <a:t>$ </a:t>
            </a:r>
            <a:pPr indent="0" marL="0">
              <a:buNone/>
            </a:pPr>
            <a:r>
              <a:rPr lang="en-US" sz="1400" b="1" dirty="0">
                <a:solidFill>
                  <a:srgbClr val="F5A623"/>
                </a:solidFill>
                <a:latin typeface="Courier New" pitchFamily="34" charset="0"/>
                <a:ea typeface="Courier New" pitchFamily="34" charset="-122"/>
                <a:cs typeface="Courier New" pitchFamily="34" charset="-120"/>
              </a:rPr>
              <a:t>echo ... | rev</a:t>
            </a:r>
            <a:endParaRPr lang="en-US" sz="1400" dirty="0"/>
          </a:p>
        </p:txBody>
      </p:sp>
      <p:sp>
        <p:nvSpPr>
          <p:cNvPr id="24" name="Text 21"/>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46 / 79</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548640" y="640080"/>
            <a:ext cx="2103120" cy="3108960"/>
          </a:xfrm>
          <a:prstGeom prst="rect">
            <a:avLst/>
          </a:prstGeom>
          <a:noFill/>
          <a:ln/>
        </p:spPr>
        <p:txBody>
          <a:bodyPr wrap="square" lIns="0" tIns="0" rIns="0" bIns="0" rtlCol="0" anchor="ctr"/>
          <a:lstStyle/>
          <a:p>
            <a:pPr indent="0" marL="0">
              <a:buNone/>
            </a:pPr>
            <a:r>
              <a:rPr lang="en-US" sz="23000" b="1" dirty="0">
                <a:solidFill>
                  <a:srgbClr val="D1416B"/>
                </a:solidFill>
                <a:latin typeface="Arial" pitchFamily="34" charset="0"/>
                <a:ea typeface="Arial" pitchFamily="34" charset="-122"/>
                <a:cs typeface="Arial" pitchFamily="34" charset="-120"/>
              </a:rPr>
              <a:t>4</a:t>
            </a:r>
            <a:endParaRPr lang="en-US" sz="23000" dirty="0"/>
          </a:p>
        </p:txBody>
      </p:sp>
      <p:sp>
        <p:nvSpPr>
          <p:cNvPr id="3" name="Text 1"/>
          <p:cNvSpPr txBox="1"/>
          <p:nvPr/>
        </p:nvSpPr>
        <p:spPr>
          <a:xfrm>
            <a:off x="2743200" y="640080"/>
            <a:ext cx="6949440" cy="3108960"/>
          </a:xfrm>
          <a:prstGeom prst="rect">
            <a:avLst/>
          </a:prstGeom>
          <a:noFill/>
          <a:ln/>
        </p:spPr>
        <p:txBody>
          <a:bodyPr wrap="square" lIns="0" tIns="0" rIns="0" bIns="0" rtlCol="0" anchor="ctr">
            <a:normAutofit/>
          </a:bodyPr>
          <a:lstStyle/>
          <a:p>
            <a:pPr indent="0" marL="0">
              <a:buNone/>
            </a:pPr>
            <a:r>
              <a:rPr lang="en-US" sz="5600" b="1" dirty="0">
                <a:solidFill>
                  <a:srgbClr val="12213A"/>
                </a:solidFill>
                <a:latin typeface="Arial" pitchFamily="34" charset="0"/>
                <a:ea typeface="Arial" pitchFamily="34" charset="-122"/>
                <a:cs typeface="Arial" pitchFamily="34" charset="-120"/>
              </a:rPr>
              <a:t>Reflection</a:t>
            </a:r>
            <a:endParaRPr lang="en-US" sz="5600" dirty="0"/>
          </a:p>
        </p:txBody>
      </p:sp>
      <p:sp>
        <p:nvSpPr>
          <p:cNvPr id="4" name="Shape 2"/>
          <p:cNvSpPr/>
          <p:nvPr/>
        </p:nvSpPr>
        <p:spPr>
          <a:xfrm>
            <a:off x="548640" y="5074920"/>
            <a:ext cx="6492240" cy="731520"/>
          </a:xfrm>
          <a:prstGeom prst="roundRect">
            <a:avLst>
              <a:gd name="adj" fmla="val 12500"/>
            </a:avLst>
          </a:prstGeom>
          <a:solidFill>
            <a:srgbClr val="0E1726"/>
          </a:solidFill>
          <a:ln/>
          <a:effectLst>
            <a:outerShdw sx="100000" sy="100000" kx="0" ky="0" algn="bl" rotWithShape="0" blurRad="101600" dist="25400" dir="5400000">
              <a:srgbClr val="6E86AE">
                <a:alpha val="35000"/>
              </a:srgbClr>
            </a:outerShdw>
          </a:effectLst>
        </p:spPr>
      </p:sp>
      <p:sp>
        <p:nvSpPr>
          <p:cNvPr id="5" name="Text 3"/>
          <p:cNvSpPr txBox="1"/>
          <p:nvPr/>
        </p:nvSpPr>
        <p:spPr>
          <a:xfrm>
            <a:off x="822960" y="5074920"/>
            <a:ext cx="6035040" cy="731520"/>
          </a:xfrm>
          <a:prstGeom prst="rect">
            <a:avLst/>
          </a:prstGeom>
          <a:noFill/>
          <a:ln/>
        </p:spPr>
        <p:txBody>
          <a:bodyPr wrap="square" lIns="0" tIns="0" rIns="0" bIns="0" rtlCol="0" anchor="ctr">
            <a:normAutofit/>
          </a:bodyPr>
          <a:lstStyle/>
          <a:p>
            <a:pPr indent="0" marL="0">
              <a:buNone/>
            </a:pPr>
            <a:r>
              <a:rPr lang="en-US" sz="1800" b="1" dirty="0">
                <a:solidFill>
                  <a:srgbClr val="46D39A"/>
                </a:solidFill>
                <a:latin typeface="Courier New" pitchFamily="34" charset="0"/>
                <a:ea typeface="Courier New" pitchFamily="34" charset="-122"/>
                <a:cs typeface="Courier New" pitchFamily="34" charset="-120"/>
              </a:rPr>
              <a:t>$ </a:t>
            </a:r>
            <a:pPr indent="0" marL="0">
              <a:buNone/>
            </a:pPr>
            <a:r>
              <a:rPr lang="en-US" sz="1800" b="1" dirty="0">
                <a:solidFill>
                  <a:srgbClr val="FFFFFF"/>
                </a:solidFill>
                <a:latin typeface="Courier New" pitchFamily="34" charset="0"/>
                <a:ea typeface="Courier New" pitchFamily="34" charset="-122"/>
                <a:cs typeface="Courier New" pitchFamily="34" charset="-120"/>
              </a:rPr>
              <a:t>echo "$(whoami) leveled up"</a:t>
            </a:r>
            <a:endParaRPr lang="en-US" sz="1800" dirty="0"/>
          </a:p>
        </p:txBody>
      </p:sp>
      <p:sp>
        <p:nvSpPr>
          <p:cNvPr id="7" name="Text 4"/>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47 / 79</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Can you cheat? Try it.</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ls -l /etc/quest</a:t>
            </a:r>
            <a:endParaRPr lang="en-US" sz="1300" dirty="0"/>
          </a:p>
        </p:txBody>
      </p:sp>
      <p:sp>
        <p:nvSpPr>
          <p:cNvPr id="8" name="Shape 5"/>
          <p:cNvSpPr/>
          <p:nvPr/>
        </p:nvSpPr>
        <p:spPr>
          <a:xfrm>
            <a:off x="548640" y="1600200"/>
            <a:ext cx="822960" cy="868680"/>
          </a:xfrm>
          <a:prstGeom prst="roundRect">
            <a:avLst>
              <a:gd name="adj" fmla="val 8889"/>
            </a:avLst>
          </a:prstGeom>
          <a:solidFill>
            <a:srgbClr val="56657E"/>
          </a:solidFill>
          <a:ln/>
        </p:spPr>
      </p:sp>
      <p:sp>
        <p:nvSpPr>
          <p:cNvPr id="9" name="Text 6"/>
          <p:cNvSpPr txBox="1"/>
          <p:nvPr/>
        </p:nvSpPr>
        <p:spPr>
          <a:xfrm>
            <a:off x="548640" y="1600200"/>
            <a:ext cx="82296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Courier New" pitchFamily="34" charset="0"/>
                <a:ea typeface="Courier New" pitchFamily="34" charset="-122"/>
                <a:cs typeface="Courier New" pitchFamily="34" charset="-120"/>
              </a:rPr>
              <a:t>-</a:t>
            </a:r>
            <a:endParaRPr lang="en-US" sz="3000" dirty="0"/>
          </a:p>
        </p:txBody>
      </p:sp>
      <p:sp>
        <p:nvSpPr>
          <p:cNvPr id="10" name="Text 7"/>
          <p:cNvSpPr txBox="1"/>
          <p:nvPr/>
        </p:nvSpPr>
        <p:spPr>
          <a:xfrm>
            <a:off x="548640" y="2578608"/>
            <a:ext cx="822960" cy="320040"/>
          </a:xfrm>
          <a:prstGeom prst="rect">
            <a:avLst/>
          </a:prstGeom>
          <a:noFill/>
          <a:ln/>
        </p:spPr>
        <p:txBody>
          <a:bodyPr wrap="square" lIns="0" tIns="0" rIns="0" bIns="0" rtlCol="0" anchor="t"/>
          <a:lstStyle/>
          <a:p>
            <a:pPr indent="0" marL="0">
              <a:buNone/>
            </a:pPr>
            <a:r>
              <a:rPr lang="en-US" sz="1500" b="1" dirty="0">
                <a:solidFill>
                  <a:srgbClr val="56657E"/>
                </a:solidFill>
                <a:latin typeface="Calibri" pitchFamily="34" charset="0"/>
                <a:ea typeface="Calibri" pitchFamily="34" charset="-122"/>
                <a:cs typeface="Calibri" pitchFamily="34" charset="-120"/>
              </a:rPr>
              <a:t>file type</a:t>
            </a:r>
            <a:endParaRPr lang="en-US" sz="1500" dirty="0"/>
          </a:p>
        </p:txBody>
      </p:sp>
      <p:sp>
        <p:nvSpPr>
          <p:cNvPr id="11" name="Text 8"/>
          <p:cNvSpPr txBox="1"/>
          <p:nvPr/>
        </p:nvSpPr>
        <p:spPr>
          <a:xfrm>
            <a:off x="548640" y="2907792"/>
            <a:ext cx="822960" cy="64008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 is a file</a:t>
            </a:r>
            <a:endParaRPr lang="en-US" sz="1300" dirty="0"/>
          </a:p>
          <a:p>
            <a:pPr indent="0" marL="0">
              <a:buNone/>
            </a:pPr>
            <a:r>
              <a:rPr lang="en-US" sz="1300" dirty="0">
                <a:solidFill>
                  <a:srgbClr val="56657E"/>
                </a:solidFill>
                <a:latin typeface="Calibri" pitchFamily="34" charset="0"/>
                <a:ea typeface="Calibri" pitchFamily="34" charset="-122"/>
                <a:cs typeface="Calibri" pitchFamily="34" charset="-120"/>
              </a:rPr>
              <a:t>d is a folder</a:t>
            </a:r>
            <a:endParaRPr lang="en-US" sz="1300" dirty="0"/>
          </a:p>
        </p:txBody>
      </p:sp>
      <p:sp>
        <p:nvSpPr>
          <p:cNvPr id="12" name="Shape 9"/>
          <p:cNvSpPr/>
          <p:nvPr/>
        </p:nvSpPr>
        <p:spPr>
          <a:xfrm>
            <a:off x="1481328" y="1600200"/>
            <a:ext cx="1737360" cy="868680"/>
          </a:xfrm>
          <a:prstGeom prst="roundRect">
            <a:avLst>
              <a:gd name="adj" fmla="val 8421"/>
            </a:avLst>
          </a:prstGeom>
          <a:solidFill>
            <a:srgbClr val="2459D8"/>
          </a:solidFill>
          <a:ln/>
        </p:spPr>
      </p:sp>
      <p:sp>
        <p:nvSpPr>
          <p:cNvPr id="13" name="Text 10"/>
          <p:cNvSpPr txBox="1"/>
          <p:nvPr/>
        </p:nvSpPr>
        <p:spPr>
          <a:xfrm>
            <a:off x="1481328" y="1600200"/>
            <a:ext cx="173736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Courier New" pitchFamily="34" charset="0"/>
                <a:ea typeface="Courier New" pitchFamily="34" charset="-122"/>
                <a:cs typeface="Courier New" pitchFamily="34" charset="-120"/>
              </a:rPr>
              <a:t>rw-</a:t>
            </a:r>
            <a:endParaRPr lang="en-US" sz="3000" dirty="0"/>
          </a:p>
        </p:txBody>
      </p:sp>
      <p:sp>
        <p:nvSpPr>
          <p:cNvPr id="14" name="Text 11"/>
          <p:cNvSpPr txBox="1"/>
          <p:nvPr/>
        </p:nvSpPr>
        <p:spPr>
          <a:xfrm>
            <a:off x="1481328" y="2578608"/>
            <a:ext cx="1737360" cy="320040"/>
          </a:xfrm>
          <a:prstGeom prst="rect">
            <a:avLst/>
          </a:prstGeom>
          <a:noFill/>
          <a:ln/>
        </p:spPr>
        <p:txBody>
          <a:bodyPr wrap="square" lIns="0" tIns="0" rIns="0" bIns="0" rtlCol="0" anchor="t"/>
          <a:lstStyle/>
          <a:p>
            <a:pPr indent="0" marL="0">
              <a:buNone/>
            </a:pPr>
            <a:r>
              <a:rPr lang="en-US" sz="1500" b="1" dirty="0">
                <a:solidFill>
                  <a:srgbClr val="2459D8"/>
                </a:solidFill>
                <a:latin typeface="Calibri" pitchFamily="34" charset="0"/>
                <a:ea typeface="Calibri" pitchFamily="34" charset="-122"/>
                <a:cs typeface="Calibri" pitchFamily="34" charset="-120"/>
              </a:rPr>
              <a:t>owner</a:t>
            </a:r>
            <a:endParaRPr lang="en-US" sz="1500" dirty="0"/>
          </a:p>
        </p:txBody>
      </p:sp>
      <p:sp>
        <p:nvSpPr>
          <p:cNvPr id="15" name="Text 12"/>
          <p:cNvSpPr txBox="1"/>
          <p:nvPr/>
        </p:nvSpPr>
        <p:spPr>
          <a:xfrm>
            <a:off x="1481328" y="2907792"/>
            <a:ext cx="1737360" cy="64008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may read</a:t>
            </a:r>
            <a:endParaRPr lang="en-US" sz="1300" dirty="0"/>
          </a:p>
          <a:p>
            <a:pPr indent="0" marL="0">
              <a:buNone/>
            </a:pPr>
            <a:r>
              <a:rPr lang="en-US" sz="1300" dirty="0">
                <a:solidFill>
                  <a:srgbClr val="56657E"/>
                </a:solidFill>
                <a:latin typeface="Calibri" pitchFamily="34" charset="0"/>
                <a:ea typeface="Calibri" pitchFamily="34" charset="-122"/>
                <a:cs typeface="Calibri" pitchFamily="34" charset="-120"/>
              </a:rPr>
              <a:t>and write</a:t>
            </a:r>
            <a:endParaRPr lang="en-US" sz="1300" dirty="0"/>
          </a:p>
        </p:txBody>
      </p:sp>
      <p:sp>
        <p:nvSpPr>
          <p:cNvPr id="16" name="Shape 13"/>
          <p:cNvSpPr/>
          <p:nvPr/>
        </p:nvSpPr>
        <p:spPr>
          <a:xfrm>
            <a:off x="3328416" y="1600200"/>
            <a:ext cx="1737360" cy="868680"/>
          </a:xfrm>
          <a:prstGeom prst="roundRect">
            <a:avLst>
              <a:gd name="adj" fmla="val 8421"/>
            </a:avLst>
          </a:prstGeom>
          <a:solidFill>
            <a:srgbClr val="7448D4"/>
          </a:solidFill>
          <a:ln/>
        </p:spPr>
      </p:sp>
      <p:sp>
        <p:nvSpPr>
          <p:cNvPr id="17" name="Text 14"/>
          <p:cNvSpPr txBox="1"/>
          <p:nvPr/>
        </p:nvSpPr>
        <p:spPr>
          <a:xfrm>
            <a:off x="3328416" y="1600200"/>
            <a:ext cx="173736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Courier New" pitchFamily="34" charset="0"/>
                <a:ea typeface="Courier New" pitchFamily="34" charset="-122"/>
                <a:cs typeface="Courier New" pitchFamily="34" charset="-120"/>
              </a:rPr>
              <a:t>r--</a:t>
            </a:r>
            <a:endParaRPr lang="en-US" sz="3000" dirty="0"/>
          </a:p>
        </p:txBody>
      </p:sp>
      <p:sp>
        <p:nvSpPr>
          <p:cNvPr id="18" name="Text 15"/>
          <p:cNvSpPr txBox="1"/>
          <p:nvPr/>
        </p:nvSpPr>
        <p:spPr>
          <a:xfrm>
            <a:off x="3328416" y="2578608"/>
            <a:ext cx="1737360" cy="320040"/>
          </a:xfrm>
          <a:prstGeom prst="rect">
            <a:avLst/>
          </a:prstGeom>
          <a:noFill/>
          <a:ln/>
        </p:spPr>
        <p:txBody>
          <a:bodyPr wrap="square" lIns="0" tIns="0" rIns="0" bIns="0" rtlCol="0" anchor="t"/>
          <a:lstStyle/>
          <a:p>
            <a:pPr indent="0" marL="0">
              <a:buNone/>
            </a:pPr>
            <a:r>
              <a:rPr lang="en-US" sz="1500" b="1" dirty="0">
                <a:solidFill>
                  <a:srgbClr val="7448D4"/>
                </a:solidFill>
                <a:latin typeface="Calibri" pitchFamily="34" charset="0"/>
                <a:ea typeface="Calibri" pitchFamily="34" charset="-122"/>
                <a:cs typeface="Calibri" pitchFamily="34" charset="-120"/>
              </a:rPr>
              <a:t>group</a:t>
            </a:r>
            <a:endParaRPr lang="en-US" sz="1500" dirty="0"/>
          </a:p>
        </p:txBody>
      </p:sp>
      <p:sp>
        <p:nvSpPr>
          <p:cNvPr id="19" name="Text 16"/>
          <p:cNvSpPr txBox="1"/>
          <p:nvPr/>
        </p:nvSpPr>
        <p:spPr>
          <a:xfrm>
            <a:off x="3328416" y="2907792"/>
            <a:ext cx="1737360" cy="64008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may only</a:t>
            </a:r>
            <a:endParaRPr lang="en-US" sz="1300" dirty="0"/>
          </a:p>
          <a:p>
            <a:pPr indent="0" marL="0">
              <a:buNone/>
            </a:pPr>
            <a:r>
              <a:rPr lang="en-US" sz="1300" dirty="0">
                <a:solidFill>
                  <a:srgbClr val="56657E"/>
                </a:solidFill>
                <a:latin typeface="Calibri" pitchFamily="34" charset="0"/>
                <a:ea typeface="Calibri" pitchFamily="34" charset="-122"/>
                <a:cs typeface="Calibri" pitchFamily="34" charset="-120"/>
              </a:rPr>
              <a:t>read</a:t>
            </a:r>
            <a:endParaRPr lang="en-US" sz="1300" dirty="0"/>
          </a:p>
        </p:txBody>
      </p:sp>
      <p:sp>
        <p:nvSpPr>
          <p:cNvPr id="20" name="Shape 17"/>
          <p:cNvSpPr/>
          <p:nvPr/>
        </p:nvSpPr>
        <p:spPr>
          <a:xfrm>
            <a:off x="5175504" y="1600200"/>
            <a:ext cx="1737360" cy="868680"/>
          </a:xfrm>
          <a:prstGeom prst="roundRect">
            <a:avLst>
              <a:gd name="adj" fmla="val 8421"/>
            </a:avLst>
          </a:prstGeom>
          <a:solidFill>
            <a:srgbClr val="D1416B"/>
          </a:solidFill>
          <a:ln/>
        </p:spPr>
      </p:sp>
      <p:sp>
        <p:nvSpPr>
          <p:cNvPr id="21" name="Text 18"/>
          <p:cNvSpPr txBox="1"/>
          <p:nvPr/>
        </p:nvSpPr>
        <p:spPr>
          <a:xfrm>
            <a:off x="5175504" y="1600200"/>
            <a:ext cx="173736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Courier New" pitchFamily="34" charset="0"/>
                <a:ea typeface="Courier New" pitchFamily="34" charset="-122"/>
                <a:cs typeface="Courier New" pitchFamily="34" charset="-120"/>
              </a:rPr>
              <a:t>r--</a:t>
            </a:r>
            <a:endParaRPr lang="en-US" sz="3000" dirty="0"/>
          </a:p>
        </p:txBody>
      </p:sp>
      <p:sp>
        <p:nvSpPr>
          <p:cNvPr id="22" name="Text 19"/>
          <p:cNvSpPr txBox="1"/>
          <p:nvPr/>
        </p:nvSpPr>
        <p:spPr>
          <a:xfrm>
            <a:off x="5175504" y="2578608"/>
            <a:ext cx="1737360" cy="320040"/>
          </a:xfrm>
          <a:prstGeom prst="rect">
            <a:avLst/>
          </a:prstGeom>
          <a:noFill/>
          <a:ln/>
        </p:spPr>
        <p:txBody>
          <a:bodyPr wrap="square" lIns="0" tIns="0" rIns="0" bIns="0" rtlCol="0" anchor="t"/>
          <a:lstStyle/>
          <a:p>
            <a:pPr indent="0" marL="0">
              <a:buNone/>
            </a:pPr>
            <a:r>
              <a:rPr lang="en-US" sz="1500" b="1" dirty="0">
                <a:solidFill>
                  <a:srgbClr val="D1416B"/>
                </a:solidFill>
                <a:latin typeface="Calibri" pitchFamily="34" charset="0"/>
                <a:ea typeface="Calibri" pitchFamily="34" charset="-122"/>
                <a:cs typeface="Calibri" pitchFamily="34" charset="-120"/>
              </a:rPr>
              <a:t>everyone else</a:t>
            </a:r>
            <a:endParaRPr lang="en-US" sz="1500" dirty="0"/>
          </a:p>
        </p:txBody>
      </p:sp>
      <p:sp>
        <p:nvSpPr>
          <p:cNvPr id="23" name="Text 20"/>
          <p:cNvSpPr txBox="1"/>
          <p:nvPr/>
        </p:nvSpPr>
        <p:spPr>
          <a:xfrm>
            <a:off x="5175504" y="2907792"/>
            <a:ext cx="1737360" cy="64008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may only</a:t>
            </a:r>
            <a:endParaRPr lang="en-US" sz="1300" dirty="0"/>
          </a:p>
          <a:p>
            <a:pPr indent="0" marL="0">
              <a:buNone/>
            </a:pPr>
            <a:r>
              <a:rPr lang="en-US" sz="1300" dirty="0">
                <a:solidFill>
                  <a:srgbClr val="56657E"/>
                </a:solidFill>
                <a:latin typeface="Calibri" pitchFamily="34" charset="0"/>
                <a:ea typeface="Calibri" pitchFamily="34" charset="-122"/>
                <a:cs typeface="Calibri" pitchFamily="34" charset="-120"/>
              </a:rPr>
              <a:t>read</a:t>
            </a:r>
            <a:endParaRPr lang="en-US" sz="1300" dirty="0"/>
          </a:p>
        </p:txBody>
      </p:sp>
      <p:sp>
        <p:nvSpPr>
          <p:cNvPr id="24" name="Text 21"/>
          <p:cNvSpPr txBox="1"/>
          <p:nvPr/>
        </p:nvSpPr>
        <p:spPr>
          <a:xfrm>
            <a:off x="548640" y="3749040"/>
            <a:ext cx="5943600" cy="365760"/>
          </a:xfrm>
          <a:prstGeom prst="rect">
            <a:avLst/>
          </a:prstGeom>
          <a:noFill/>
          <a:ln/>
        </p:spPr>
        <p:txBody>
          <a:bodyPr wrap="square" lIns="0" tIns="0" rIns="0" bIns="0" rtlCol="0" anchor="t"/>
          <a:lstStyle/>
          <a:p>
            <a:pPr indent="0" marL="0">
              <a:buNone/>
            </a:pPr>
            <a:r>
              <a:rPr lang="en-US" sz="1500" dirty="0">
                <a:solidFill>
                  <a:srgbClr val="56657E"/>
                </a:solidFill>
                <a:latin typeface="Courier New" pitchFamily="34" charset="0"/>
                <a:ea typeface="Courier New" pitchFamily="34" charset="-122"/>
                <a:cs typeface="Courier New" pitchFamily="34" charset="-120"/>
              </a:rPr>
              <a:t>r = read     w = write     x = run</a:t>
            </a:r>
            <a:endParaRPr lang="en-US" sz="1500" dirty="0"/>
          </a:p>
        </p:txBody>
      </p:sp>
      <p:sp>
        <p:nvSpPr>
          <p:cNvPr id="25" name="Shape 22"/>
          <p:cNvSpPr/>
          <p:nvPr/>
        </p:nvSpPr>
        <p:spPr>
          <a:xfrm>
            <a:off x="548640" y="4297680"/>
            <a:ext cx="6309360" cy="1600200"/>
          </a:xfrm>
          <a:prstGeom prst="roundRect">
            <a:avLst>
              <a:gd name="adj" fmla="val 5714"/>
            </a:avLst>
          </a:prstGeom>
          <a:solidFill>
            <a:srgbClr val="FFF4DC"/>
          </a:solidFill>
          <a:ln/>
        </p:spPr>
      </p:sp>
      <p:sp>
        <p:nvSpPr>
          <p:cNvPr id="26" name="Text 23"/>
          <p:cNvSpPr txBox="1"/>
          <p:nvPr/>
        </p:nvSpPr>
        <p:spPr>
          <a:xfrm>
            <a:off x="822960" y="4297680"/>
            <a:ext cx="5760720" cy="1600200"/>
          </a:xfrm>
          <a:prstGeom prst="rect">
            <a:avLst/>
          </a:prstGeom>
          <a:noFill/>
          <a:ln/>
        </p:spPr>
        <p:txBody>
          <a:bodyPr wrap="square" lIns="0" tIns="0" rIns="0" bIns="0" rtlCol="0" anchor="ctr"/>
          <a:lstStyle/>
          <a:p>
            <a:pPr indent="0" marL="0">
              <a:buNone/>
            </a:pPr>
            <a:r>
              <a:rPr lang="en-US" sz="1700" b="1" dirty="0">
                <a:solidFill>
                  <a:srgbClr val="12213A"/>
                </a:solidFill>
                <a:latin typeface="Calibri" pitchFamily="34" charset="0"/>
                <a:ea typeface="Calibri" pitchFamily="34" charset="-122"/>
                <a:cs typeface="Calibri" pitchFamily="34" charset="-120"/>
              </a:rPr>
              <a:t>Why it fails: </a:t>
            </a:r>
            <a:pPr indent="0" marL="0">
              <a:buNone/>
            </a:pPr>
            <a:r>
              <a:rPr lang="en-US" sz="1700" dirty="0">
                <a:solidFill>
                  <a:srgbClr val="12213A"/>
                </a:solidFill>
                <a:latin typeface="Calibri" pitchFamily="34" charset="0"/>
                <a:ea typeface="Calibri" pitchFamily="34" charset="-122"/>
                <a:cs typeface="Calibri" pitchFamily="34" charset="-120"/>
              </a:rPr>
              <a:t>the answer files belong to root, so you can read but not change them. And they hold fingerprints, not flags.</a:t>
            </a:r>
            <a:endParaRPr lang="en-US" sz="1700" dirty="0"/>
          </a:p>
        </p:txBody>
      </p:sp>
      <p:sp>
        <p:nvSpPr>
          <p:cNvPr id="27" name="Shape 24"/>
          <p:cNvSpPr/>
          <p:nvPr/>
        </p:nvSpPr>
        <p:spPr>
          <a:xfrm>
            <a:off x="7086600" y="1463040"/>
            <a:ext cx="4553712" cy="4434840"/>
          </a:xfrm>
          <a:prstGeom prst="roundRect">
            <a:avLst>
              <a:gd name="adj" fmla="val 2062"/>
            </a:avLst>
          </a:prstGeom>
          <a:solidFill>
            <a:srgbClr val="0E1726"/>
          </a:solidFill>
          <a:ln/>
          <a:effectLst>
            <a:outerShdw sx="100000" sy="100000" kx="0" ky="0" algn="bl" rotWithShape="0" blurRad="127000" dist="38100" dir="5400000">
              <a:srgbClr val="12213A">
                <a:alpha val="22000"/>
              </a:srgbClr>
            </a:outerShdw>
          </a:effectLst>
        </p:spPr>
      </p:sp>
      <p:sp>
        <p:nvSpPr>
          <p:cNvPr id="28" name="Shape 25"/>
          <p:cNvSpPr/>
          <p:nvPr/>
        </p:nvSpPr>
        <p:spPr>
          <a:xfrm>
            <a:off x="7287768" y="1618488"/>
            <a:ext cx="118872" cy="118872"/>
          </a:xfrm>
          <a:prstGeom prst="ellipse">
            <a:avLst/>
          </a:prstGeom>
          <a:solidFill>
            <a:srgbClr val="E5534B"/>
          </a:solidFill>
          <a:ln/>
        </p:spPr>
      </p:sp>
      <p:sp>
        <p:nvSpPr>
          <p:cNvPr id="29" name="Shape 26"/>
          <p:cNvSpPr/>
          <p:nvPr/>
        </p:nvSpPr>
        <p:spPr>
          <a:xfrm>
            <a:off x="7488936" y="1618488"/>
            <a:ext cx="118872" cy="118872"/>
          </a:xfrm>
          <a:prstGeom prst="ellipse">
            <a:avLst/>
          </a:prstGeom>
          <a:solidFill>
            <a:srgbClr val="F5A623"/>
          </a:solidFill>
          <a:ln/>
        </p:spPr>
      </p:sp>
      <p:sp>
        <p:nvSpPr>
          <p:cNvPr id="30" name="Shape 27"/>
          <p:cNvSpPr/>
          <p:nvPr/>
        </p:nvSpPr>
        <p:spPr>
          <a:xfrm>
            <a:off x="7690104" y="1618488"/>
            <a:ext cx="118872" cy="118872"/>
          </a:xfrm>
          <a:prstGeom prst="ellipse">
            <a:avLst/>
          </a:prstGeom>
          <a:solidFill>
            <a:srgbClr val="46D39A"/>
          </a:solidFill>
          <a:ln/>
        </p:spPr>
      </p:sp>
      <p:sp>
        <p:nvSpPr>
          <p:cNvPr id="31" name="Text 28"/>
          <p:cNvSpPr txBox="1"/>
          <p:nvPr/>
        </p:nvSpPr>
        <p:spPr>
          <a:xfrm>
            <a:off x="7360920" y="1920240"/>
            <a:ext cx="4005072" cy="3840480"/>
          </a:xfrm>
          <a:prstGeom prst="rect">
            <a:avLst/>
          </a:prstGeom>
          <a:noFill/>
          <a:ln/>
        </p:spPr>
        <p:txBody>
          <a:bodyPr wrap="square" lIns="0" tIns="0" rIns="0" bIns="0" rtlCol="0" anchor="t"/>
          <a:lstStyle/>
          <a:p>
            <a:pPr indent="0" marL="0">
              <a:spcAft>
                <a:spcPts val="200"/>
              </a:spcAft>
              <a:buNone/>
            </a:pPr>
            <a:r>
              <a:rPr lang="en-US" sz="13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00" b="1" dirty="0">
                <a:solidFill>
                  <a:srgbClr val="FFFFFF"/>
                </a:solidFill>
                <a:latin typeface="Courier New" pitchFamily="34" charset="0"/>
                <a:ea typeface="Courier New" pitchFamily="34" charset="-122"/>
                <a:cs typeface="Courier New" pitchFamily="34" charset="-120"/>
              </a:rPr>
              <a:t>ls -l /etc/quest</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-rw-r--r-- 1 root root 65 ... 1</a:t>
            </a:r>
            <a:endParaRPr lang="en-US" sz="1300" dirty="0"/>
          </a:p>
          <a:p>
            <a:pPr indent="0" marL="0">
              <a:spcAft>
                <a:spcPts val="200"/>
              </a:spcAft>
              <a:buNone/>
            </a:pPr>
            <a:r>
              <a:rPr lang="en-US" sz="1300" dirty="0">
                <a:solidFill>
                  <a:srgbClr val="7F8FAD"/>
                </a:solidFill>
                <a:latin typeface="Courier New" pitchFamily="34" charset="0"/>
                <a:ea typeface="Courier New" pitchFamily="34" charset="-122"/>
                <a:cs typeface="Courier New" pitchFamily="34" charset="-120"/>
              </a:rPr>
              <a:t># ...and 2 to 6</a:t>
            </a:r>
            <a:endParaRPr lang="en-US" sz="1300" dirty="0"/>
          </a:p>
          <a:p>
            <a:pPr indent="0" marL="0">
              <a:spcAft>
                <a:spcPts val="200"/>
              </a:spcAft>
              <a:buNone/>
            </a:pPr>
            <a:r>
              <a:rPr lang="en-US" sz="13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00" b="1" dirty="0">
                <a:solidFill>
                  <a:srgbClr val="FFFFFF"/>
                </a:solidFill>
                <a:latin typeface="Courier New" pitchFamily="34" charset="0"/>
                <a:ea typeface="Courier New" pitchFamily="34" charset="-122"/>
                <a:cs typeface="Courier New" pitchFamily="34" charset="-120"/>
              </a:rPr>
              <a:t>cat /etc/quest/1</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&lt;64 letters and digits&gt;</a:t>
            </a:r>
            <a:endParaRPr lang="en-US" sz="1300" dirty="0"/>
          </a:p>
          <a:p>
            <a:pPr indent="0" marL="0">
              <a:spcAft>
                <a:spcPts val="200"/>
              </a:spcAft>
              <a:buNone/>
            </a:pPr>
            <a:r>
              <a:rPr lang="en-US" sz="13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00" b="1" dirty="0">
                <a:solidFill>
                  <a:srgbClr val="FFFFFF"/>
                </a:solidFill>
                <a:latin typeface="Courier New" pitchFamily="34" charset="0"/>
                <a:ea typeface="Courier New" pitchFamily="34" charset="-122"/>
                <a:cs typeface="Courier New" pitchFamily="34" charset="-120"/>
              </a:rPr>
              <a:t>echo hacked &gt; /etc/quest/1</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-sh: can't create /etc/quest/1:</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  Permission denied</a:t>
            </a:r>
            <a:endParaRPr lang="en-US" sz="1300" dirty="0"/>
          </a:p>
          <a:p>
            <a:pPr indent="0" marL="0">
              <a:spcAft>
                <a:spcPts val="200"/>
              </a:spcAft>
              <a:buNone/>
            </a:pPr>
            <a:r>
              <a:rPr lang="en-US" sz="13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00" b="1" dirty="0">
                <a:solidFill>
                  <a:srgbClr val="FFFFFF"/>
                </a:solidFill>
                <a:latin typeface="Courier New" pitchFamily="34" charset="0"/>
                <a:ea typeface="Courier New" pitchFamily="34" charset="-122"/>
                <a:cs typeface="Courier New" pitchFamily="34" charset="-120"/>
              </a:rPr>
              <a:t>submit CYBA{fake-12345678}</a:t>
            </a:r>
            <a:endParaRPr lang="en-US" sz="1300" dirty="0"/>
          </a:p>
          <a:p>
            <a:pPr indent="0" marL="0">
              <a:spcAft>
                <a:spcPts val="200"/>
              </a:spcAft>
              <a:buNone/>
            </a:pPr>
            <a:r>
              <a:rPr lang="en-US" sz="1300" b="1" dirty="0">
                <a:solidFill>
                  <a:srgbClr val="F5A623"/>
                </a:solidFill>
                <a:latin typeface="Courier New" pitchFamily="34" charset="0"/>
                <a:ea typeface="Courier New" pitchFamily="34" charset="-122"/>
                <a:cs typeface="Courier New" pitchFamily="34" charset="-120"/>
              </a:rPr>
              <a:t>Incorrect flag. Keep hunting!</a:t>
            </a:r>
            <a:endParaRPr lang="en-US" sz="1300" dirty="0"/>
          </a:p>
        </p:txBody>
      </p:sp>
      <p:sp>
        <p:nvSpPr>
          <p:cNvPr id="32" name="Text 29"/>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48 / 79</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How does submit know you're right?</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echo hello | sha256sum</a:t>
            </a:r>
            <a:endParaRPr lang="en-US" sz="1300" dirty="0"/>
          </a:p>
        </p:txBody>
      </p:sp>
      <p:sp>
        <p:nvSpPr>
          <p:cNvPr id="8" name="Shape 5"/>
          <p:cNvSpPr/>
          <p:nvPr/>
        </p:nvSpPr>
        <p:spPr>
          <a:xfrm>
            <a:off x="548640" y="1600200"/>
            <a:ext cx="3108960" cy="914400"/>
          </a:xfrm>
          <a:prstGeom prst="roundRect">
            <a:avLst>
              <a:gd name="adj" fmla="val 10000"/>
            </a:avLst>
          </a:prstGeom>
          <a:solidFill>
            <a:srgbClr val="F1F5FB"/>
          </a:solidFill>
          <a:ln/>
        </p:spPr>
      </p:sp>
      <p:sp>
        <p:nvSpPr>
          <p:cNvPr id="9" name="Text 6"/>
          <p:cNvSpPr txBox="1"/>
          <p:nvPr/>
        </p:nvSpPr>
        <p:spPr>
          <a:xfrm>
            <a:off x="731520" y="1691640"/>
            <a:ext cx="2743200" cy="274320"/>
          </a:xfrm>
          <a:prstGeom prst="rect">
            <a:avLst/>
          </a:prstGeom>
          <a:noFill/>
          <a:ln/>
        </p:spPr>
        <p:txBody>
          <a:bodyPr wrap="square" lIns="0" tIns="0" rIns="0" bIns="0" rtlCol="0" anchor="t"/>
          <a:lstStyle/>
          <a:p>
            <a:pPr indent="0" marL="0">
              <a:buNone/>
            </a:pPr>
            <a:r>
              <a:rPr lang="en-US" sz="1200" dirty="0">
                <a:solidFill>
                  <a:srgbClr val="56657E"/>
                </a:solidFill>
                <a:latin typeface="Calibri" pitchFamily="34" charset="0"/>
                <a:ea typeface="Calibri" pitchFamily="34" charset="-122"/>
                <a:cs typeface="Calibri" pitchFamily="34" charset="-120"/>
              </a:rPr>
              <a:t>your guess</a:t>
            </a:r>
            <a:endParaRPr lang="en-US" sz="1200" dirty="0"/>
          </a:p>
        </p:txBody>
      </p:sp>
      <p:sp>
        <p:nvSpPr>
          <p:cNvPr id="10" name="Text 7"/>
          <p:cNvSpPr txBox="1"/>
          <p:nvPr/>
        </p:nvSpPr>
        <p:spPr>
          <a:xfrm>
            <a:off x="731520" y="1984248"/>
            <a:ext cx="2834640" cy="411480"/>
          </a:xfrm>
          <a:prstGeom prst="rect">
            <a:avLst/>
          </a:prstGeom>
          <a:noFill/>
          <a:ln/>
        </p:spPr>
        <p:txBody>
          <a:bodyPr wrap="square" lIns="0" tIns="0" rIns="0" bIns="0" rtlCol="0" anchor="t"/>
          <a:lstStyle/>
          <a:p>
            <a:pPr indent="0" marL="0">
              <a:buNone/>
            </a:pPr>
            <a:r>
              <a:rPr lang="en-US" sz="1400" b="1" dirty="0">
                <a:solidFill>
                  <a:srgbClr val="17875A"/>
                </a:solidFill>
                <a:latin typeface="Courier New" pitchFamily="34" charset="0"/>
                <a:ea typeface="Courier New" pitchFamily="34" charset="-122"/>
                <a:cs typeface="Courier New" pitchFamily="34" charset="-120"/>
              </a:rPr>
              <a:t>CYBA{moves-4c8c640b}</a:t>
            </a:r>
            <a:endParaRPr lang="en-US" sz="1400" dirty="0"/>
          </a:p>
        </p:txBody>
      </p:sp>
      <p:sp>
        <p:nvSpPr>
          <p:cNvPr id="11" name="Text 8"/>
          <p:cNvSpPr txBox="1"/>
          <p:nvPr/>
        </p:nvSpPr>
        <p:spPr>
          <a:xfrm>
            <a:off x="3657600" y="1600200"/>
            <a:ext cx="365760" cy="914400"/>
          </a:xfrm>
          <a:prstGeom prst="rect">
            <a:avLst/>
          </a:prstGeom>
          <a:noFill/>
          <a:ln/>
        </p:spPr>
        <p:txBody>
          <a:bodyPr wrap="square" lIns="0" tIns="0" rIns="0" bIns="0" rtlCol="0" anchor="ctr"/>
          <a:lstStyle/>
          <a:p>
            <a:pPr algn="ctr" indent="0" marL="0">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2" name="Shape 9"/>
          <p:cNvSpPr/>
          <p:nvPr/>
        </p:nvSpPr>
        <p:spPr>
          <a:xfrm>
            <a:off x="4023360" y="1600200"/>
            <a:ext cx="1371600" cy="914400"/>
          </a:xfrm>
          <a:prstGeom prst="roundRect">
            <a:avLst>
              <a:gd name="adj" fmla="val 10000"/>
            </a:avLst>
          </a:prstGeom>
          <a:solidFill>
            <a:srgbClr val="0E1726"/>
          </a:solidFill>
          <a:ln/>
        </p:spPr>
      </p:sp>
      <p:sp>
        <p:nvSpPr>
          <p:cNvPr id="13" name="Text 10"/>
          <p:cNvSpPr txBox="1"/>
          <p:nvPr/>
        </p:nvSpPr>
        <p:spPr>
          <a:xfrm>
            <a:off x="4023360" y="1600200"/>
            <a:ext cx="1371600"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SHA-256</a:t>
            </a:r>
            <a:endParaRPr lang="en-US" sz="1500" dirty="0"/>
          </a:p>
        </p:txBody>
      </p:sp>
      <p:sp>
        <p:nvSpPr>
          <p:cNvPr id="14" name="Text 11"/>
          <p:cNvSpPr txBox="1"/>
          <p:nvPr/>
        </p:nvSpPr>
        <p:spPr>
          <a:xfrm>
            <a:off x="5394960" y="1600200"/>
            <a:ext cx="365760" cy="914400"/>
          </a:xfrm>
          <a:prstGeom prst="rect">
            <a:avLst/>
          </a:prstGeom>
          <a:noFill/>
          <a:ln/>
        </p:spPr>
        <p:txBody>
          <a:bodyPr wrap="square" lIns="0" tIns="0" rIns="0" bIns="0" rtlCol="0" anchor="ctr"/>
          <a:lstStyle/>
          <a:p>
            <a:pPr algn="ctr" indent="0" marL="0">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5" name="Shape 12"/>
          <p:cNvSpPr/>
          <p:nvPr/>
        </p:nvSpPr>
        <p:spPr>
          <a:xfrm>
            <a:off x="5760720" y="1600200"/>
            <a:ext cx="2651760" cy="914400"/>
          </a:xfrm>
          <a:prstGeom prst="roundRect">
            <a:avLst>
              <a:gd name="adj" fmla="val 10000"/>
            </a:avLst>
          </a:prstGeom>
          <a:solidFill>
            <a:srgbClr val="F1F5FB"/>
          </a:solidFill>
          <a:ln/>
        </p:spPr>
      </p:sp>
      <p:sp>
        <p:nvSpPr>
          <p:cNvPr id="16" name="Text 13"/>
          <p:cNvSpPr txBox="1"/>
          <p:nvPr/>
        </p:nvSpPr>
        <p:spPr>
          <a:xfrm>
            <a:off x="5943600" y="1691640"/>
            <a:ext cx="2286000" cy="274320"/>
          </a:xfrm>
          <a:prstGeom prst="rect">
            <a:avLst/>
          </a:prstGeom>
          <a:noFill/>
          <a:ln/>
        </p:spPr>
        <p:txBody>
          <a:bodyPr wrap="square" lIns="0" tIns="0" rIns="0" bIns="0" rtlCol="0" anchor="t"/>
          <a:lstStyle/>
          <a:p>
            <a:pPr indent="0" marL="0">
              <a:buNone/>
            </a:pPr>
            <a:r>
              <a:rPr lang="en-US" sz="1200" dirty="0">
                <a:solidFill>
                  <a:srgbClr val="56657E"/>
                </a:solidFill>
                <a:latin typeface="Calibri" pitchFamily="34" charset="0"/>
                <a:ea typeface="Calibri" pitchFamily="34" charset="-122"/>
                <a:cs typeface="Calibri" pitchFamily="34" charset="-120"/>
              </a:rPr>
              <a:t>fingerprint</a:t>
            </a:r>
            <a:endParaRPr lang="en-US" sz="1200" dirty="0"/>
          </a:p>
        </p:txBody>
      </p:sp>
      <p:sp>
        <p:nvSpPr>
          <p:cNvPr id="17" name="Text 14"/>
          <p:cNvSpPr txBox="1"/>
          <p:nvPr/>
        </p:nvSpPr>
        <p:spPr>
          <a:xfrm>
            <a:off x="5943600" y="1984248"/>
            <a:ext cx="2377440" cy="411480"/>
          </a:xfrm>
          <a:prstGeom prst="rect">
            <a:avLst/>
          </a:prstGeom>
          <a:noFill/>
          <a:ln/>
        </p:spPr>
        <p:txBody>
          <a:bodyPr wrap="square" lIns="0" tIns="0" rIns="0" bIns="0" rtlCol="0" anchor="t"/>
          <a:lstStyle/>
          <a:p>
            <a:pPr indent="0" marL="0">
              <a:buNone/>
            </a:pPr>
            <a:r>
              <a:rPr lang="en-US" sz="1500" b="1" dirty="0">
                <a:solidFill>
                  <a:srgbClr val="12213A"/>
                </a:solidFill>
                <a:latin typeface="Courier New" pitchFamily="34" charset="0"/>
                <a:ea typeface="Courier New" pitchFamily="34" charset="-122"/>
                <a:cs typeface="Courier New" pitchFamily="34" charset="-120"/>
              </a:rPr>
              <a:t>b49ce699...6b22</a:t>
            </a:r>
            <a:endParaRPr lang="en-US" sz="1500" dirty="0"/>
          </a:p>
        </p:txBody>
      </p:sp>
      <p:sp>
        <p:nvSpPr>
          <p:cNvPr id="18" name="Shape 15"/>
          <p:cNvSpPr/>
          <p:nvPr/>
        </p:nvSpPr>
        <p:spPr>
          <a:xfrm>
            <a:off x="8595360" y="1600200"/>
            <a:ext cx="3044952" cy="914400"/>
          </a:xfrm>
          <a:prstGeom prst="roundRect">
            <a:avLst>
              <a:gd name="adj" fmla="val 10000"/>
            </a:avLst>
          </a:prstGeom>
          <a:solidFill>
            <a:srgbClr val="E2F5EC"/>
          </a:solidFill>
          <a:ln w="19050">
            <a:solidFill>
              <a:srgbClr val="17875A"/>
            </a:solidFill>
            <a:prstDash val="solid"/>
          </a:ln>
        </p:spPr>
      </p:sp>
      <p:sp>
        <p:nvSpPr>
          <p:cNvPr id="19" name="Text 16"/>
          <p:cNvSpPr txBox="1"/>
          <p:nvPr/>
        </p:nvSpPr>
        <p:spPr>
          <a:xfrm>
            <a:off x="8823960" y="1600200"/>
            <a:ext cx="2697480" cy="914400"/>
          </a:xfrm>
          <a:prstGeom prst="rect">
            <a:avLst/>
          </a:prstGeom>
          <a:noFill/>
          <a:ln/>
        </p:spPr>
        <p:txBody>
          <a:bodyPr wrap="square" lIns="0" tIns="0" rIns="0" bIns="0" rtlCol="0" anchor="ctr"/>
          <a:lstStyle/>
          <a:p>
            <a:pPr indent="0" marL="0">
              <a:buNone/>
            </a:pPr>
            <a:r>
              <a:rPr lang="en-US" sz="1500" b="1" dirty="0">
                <a:solidFill>
                  <a:srgbClr val="0F5A3B"/>
                </a:solidFill>
                <a:latin typeface="Calibri" pitchFamily="34" charset="0"/>
                <a:ea typeface="Calibri" pitchFamily="34" charset="-122"/>
                <a:cs typeface="Calibri" pitchFamily="34" charset="-120"/>
              </a:rPr>
              <a:t>Matches the saved one</a:t>
            </a:r>
            <a:endParaRPr lang="en-US" sz="1500" dirty="0"/>
          </a:p>
          <a:p>
            <a:pPr indent="0" marL="0">
              <a:buNone/>
            </a:pPr>
            <a:r>
              <a:rPr lang="en-US" sz="1500" dirty="0">
                <a:solidFill>
                  <a:srgbClr val="0F5A3B"/>
                </a:solidFill>
                <a:latin typeface="Calibri" pitchFamily="34" charset="0"/>
                <a:ea typeface="Calibri" pitchFamily="34" charset="-122"/>
                <a:cs typeface="Calibri" pitchFamily="34" charset="-120"/>
              </a:rPr>
              <a:t>Correct! +100 points.</a:t>
            </a:r>
            <a:endParaRPr lang="en-US" sz="1500" dirty="0"/>
          </a:p>
        </p:txBody>
      </p:sp>
      <p:sp>
        <p:nvSpPr>
          <p:cNvPr id="20" name="Shape 17"/>
          <p:cNvSpPr/>
          <p:nvPr/>
        </p:nvSpPr>
        <p:spPr>
          <a:xfrm>
            <a:off x="548640" y="2743200"/>
            <a:ext cx="3108960" cy="914400"/>
          </a:xfrm>
          <a:prstGeom prst="roundRect">
            <a:avLst>
              <a:gd name="adj" fmla="val 10000"/>
            </a:avLst>
          </a:prstGeom>
          <a:solidFill>
            <a:srgbClr val="F1F5FB"/>
          </a:solidFill>
          <a:ln/>
        </p:spPr>
      </p:sp>
      <p:sp>
        <p:nvSpPr>
          <p:cNvPr id="21" name="Text 18"/>
          <p:cNvSpPr txBox="1"/>
          <p:nvPr/>
        </p:nvSpPr>
        <p:spPr>
          <a:xfrm>
            <a:off x="731520" y="2834640"/>
            <a:ext cx="2743200" cy="274320"/>
          </a:xfrm>
          <a:prstGeom prst="rect">
            <a:avLst/>
          </a:prstGeom>
          <a:noFill/>
          <a:ln/>
        </p:spPr>
        <p:txBody>
          <a:bodyPr wrap="square" lIns="0" tIns="0" rIns="0" bIns="0" rtlCol="0" anchor="t"/>
          <a:lstStyle/>
          <a:p>
            <a:pPr indent="0" marL="0">
              <a:buNone/>
            </a:pPr>
            <a:r>
              <a:rPr lang="en-US" sz="1200" dirty="0">
                <a:solidFill>
                  <a:srgbClr val="56657E"/>
                </a:solidFill>
                <a:latin typeface="Calibri" pitchFamily="34" charset="0"/>
                <a:ea typeface="Calibri" pitchFamily="34" charset="-122"/>
                <a:cs typeface="Calibri" pitchFamily="34" charset="-120"/>
              </a:rPr>
              <a:t>your guess</a:t>
            </a:r>
            <a:endParaRPr lang="en-US" sz="1200" dirty="0"/>
          </a:p>
        </p:txBody>
      </p:sp>
      <p:sp>
        <p:nvSpPr>
          <p:cNvPr id="22" name="Text 19"/>
          <p:cNvSpPr txBox="1"/>
          <p:nvPr/>
        </p:nvSpPr>
        <p:spPr>
          <a:xfrm>
            <a:off x="731520" y="3127248"/>
            <a:ext cx="2834640" cy="411480"/>
          </a:xfrm>
          <a:prstGeom prst="rect">
            <a:avLst/>
          </a:prstGeom>
          <a:noFill/>
          <a:ln/>
        </p:spPr>
        <p:txBody>
          <a:bodyPr wrap="square" lIns="0" tIns="0" rIns="0" bIns="0" rtlCol="0" anchor="t"/>
          <a:lstStyle/>
          <a:p>
            <a:pPr indent="0" marL="0">
              <a:buNone/>
            </a:pPr>
            <a:r>
              <a:rPr lang="en-US" sz="1400" b="1" dirty="0">
                <a:solidFill>
                  <a:srgbClr val="B93434"/>
                </a:solidFill>
                <a:latin typeface="Courier New" pitchFamily="34" charset="0"/>
                <a:ea typeface="Courier New" pitchFamily="34" charset="-122"/>
                <a:cs typeface="Courier New" pitchFamily="34" charset="-120"/>
              </a:rPr>
              <a:t>CYBA{fake-12345678}</a:t>
            </a:r>
            <a:endParaRPr lang="en-US" sz="1400" dirty="0"/>
          </a:p>
        </p:txBody>
      </p:sp>
      <p:sp>
        <p:nvSpPr>
          <p:cNvPr id="23" name="Text 20"/>
          <p:cNvSpPr txBox="1"/>
          <p:nvPr/>
        </p:nvSpPr>
        <p:spPr>
          <a:xfrm>
            <a:off x="3657600" y="2743200"/>
            <a:ext cx="365760" cy="914400"/>
          </a:xfrm>
          <a:prstGeom prst="rect">
            <a:avLst/>
          </a:prstGeom>
          <a:noFill/>
          <a:ln/>
        </p:spPr>
        <p:txBody>
          <a:bodyPr wrap="square" lIns="0" tIns="0" rIns="0" bIns="0" rtlCol="0" anchor="ctr"/>
          <a:lstStyle/>
          <a:p>
            <a:pPr algn="ctr" indent="0" marL="0">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24" name="Shape 21"/>
          <p:cNvSpPr/>
          <p:nvPr/>
        </p:nvSpPr>
        <p:spPr>
          <a:xfrm>
            <a:off x="4023360" y="2743200"/>
            <a:ext cx="1371600" cy="914400"/>
          </a:xfrm>
          <a:prstGeom prst="roundRect">
            <a:avLst>
              <a:gd name="adj" fmla="val 10000"/>
            </a:avLst>
          </a:prstGeom>
          <a:solidFill>
            <a:srgbClr val="0E1726"/>
          </a:solidFill>
          <a:ln/>
        </p:spPr>
      </p:sp>
      <p:sp>
        <p:nvSpPr>
          <p:cNvPr id="25" name="Text 22"/>
          <p:cNvSpPr txBox="1"/>
          <p:nvPr/>
        </p:nvSpPr>
        <p:spPr>
          <a:xfrm>
            <a:off x="4023360" y="2743200"/>
            <a:ext cx="1371600"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SHA-256</a:t>
            </a:r>
            <a:endParaRPr lang="en-US" sz="1500" dirty="0"/>
          </a:p>
        </p:txBody>
      </p:sp>
      <p:sp>
        <p:nvSpPr>
          <p:cNvPr id="26" name="Text 23"/>
          <p:cNvSpPr txBox="1"/>
          <p:nvPr/>
        </p:nvSpPr>
        <p:spPr>
          <a:xfrm>
            <a:off x="5394960" y="2743200"/>
            <a:ext cx="365760" cy="914400"/>
          </a:xfrm>
          <a:prstGeom prst="rect">
            <a:avLst/>
          </a:prstGeom>
          <a:noFill/>
          <a:ln/>
        </p:spPr>
        <p:txBody>
          <a:bodyPr wrap="square" lIns="0" tIns="0" rIns="0" bIns="0" rtlCol="0" anchor="ctr"/>
          <a:lstStyle/>
          <a:p>
            <a:pPr algn="ctr" indent="0" marL="0">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27" name="Shape 24"/>
          <p:cNvSpPr/>
          <p:nvPr/>
        </p:nvSpPr>
        <p:spPr>
          <a:xfrm>
            <a:off x="5760720" y="2743200"/>
            <a:ext cx="2651760" cy="914400"/>
          </a:xfrm>
          <a:prstGeom prst="roundRect">
            <a:avLst>
              <a:gd name="adj" fmla="val 10000"/>
            </a:avLst>
          </a:prstGeom>
          <a:solidFill>
            <a:srgbClr val="F1F5FB"/>
          </a:solidFill>
          <a:ln/>
        </p:spPr>
      </p:sp>
      <p:sp>
        <p:nvSpPr>
          <p:cNvPr id="28" name="Text 25"/>
          <p:cNvSpPr txBox="1"/>
          <p:nvPr/>
        </p:nvSpPr>
        <p:spPr>
          <a:xfrm>
            <a:off x="5943600" y="2834640"/>
            <a:ext cx="2286000" cy="274320"/>
          </a:xfrm>
          <a:prstGeom prst="rect">
            <a:avLst/>
          </a:prstGeom>
          <a:noFill/>
          <a:ln/>
        </p:spPr>
        <p:txBody>
          <a:bodyPr wrap="square" lIns="0" tIns="0" rIns="0" bIns="0" rtlCol="0" anchor="t"/>
          <a:lstStyle/>
          <a:p>
            <a:pPr indent="0" marL="0">
              <a:buNone/>
            </a:pPr>
            <a:r>
              <a:rPr lang="en-US" sz="1200" dirty="0">
                <a:solidFill>
                  <a:srgbClr val="56657E"/>
                </a:solidFill>
                <a:latin typeface="Calibri" pitchFamily="34" charset="0"/>
                <a:ea typeface="Calibri" pitchFamily="34" charset="-122"/>
                <a:cs typeface="Calibri" pitchFamily="34" charset="-120"/>
              </a:rPr>
              <a:t>fingerprint</a:t>
            </a:r>
            <a:endParaRPr lang="en-US" sz="1200" dirty="0"/>
          </a:p>
        </p:txBody>
      </p:sp>
      <p:sp>
        <p:nvSpPr>
          <p:cNvPr id="29" name="Text 26"/>
          <p:cNvSpPr txBox="1"/>
          <p:nvPr/>
        </p:nvSpPr>
        <p:spPr>
          <a:xfrm>
            <a:off x="5943600" y="3127248"/>
            <a:ext cx="2377440" cy="411480"/>
          </a:xfrm>
          <a:prstGeom prst="rect">
            <a:avLst/>
          </a:prstGeom>
          <a:noFill/>
          <a:ln/>
        </p:spPr>
        <p:txBody>
          <a:bodyPr wrap="square" lIns="0" tIns="0" rIns="0" bIns="0" rtlCol="0" anchor="t"/>
          <a:lstStyle/>
          <a:p>
            <a:pPr indent="0" marL="0">
              <a:buNone/>
            </a:pPr>
            <a:r>
              <a:rPr lang="en-US" sz="1500" b="1" dirty="0">
                <a:solidFill>
                  <a:srgbClr val="12213A"/>
                </a:solidFill>
                <a:latin typeface="Courier New" pitchFamily="34" charset="0"/>
                <a:ea typeface="Courier New" pitchFamily="34" charset="-122"/>
                <a:cs typeface="Courier New" pitchFamily="34" charset="-120"/>
              </a:rPr>
              <a:t>cb1cffe1...c5d1</a:t>
            </a:r>
            <a:endParaRPr lang="en-US" sz="1500" dirty="0"/>
          </a:p>
        </p:txBody>
      </p:sp>
      <p:sp>
        <p:nvSpPr>
          <p:cNvPr id="30" name="Shape 27"/>
          <p:cNvSpPr/>
          <p:nvPr/>
        </p:nvSpPr>
        <p:spPr>
          <a:xfrm>
            <a:off x="8595360" y="2743200"/>
            <a:ext cx="3044952" cy="914400"/>
          </a:xfrm>
          <a:prstGeom prst="roundRect">
            <a:avLst>
              <a:gd name="adj" fmla="val 10000"/>
            </a:avLst>
          </a:prstGeom>
          <a:solidFill>
            <a:srgbClr val="FBE9E9"/>
          </a:solidFill>
          <a:ln w="19050">
            <a:solidFill>
              <a:srgbClr val="B93434"/>
            </a:solidFill>
            <a:prstDash val="solid"/>
          </a:ln>
        </p:spPr>
      </p:sp>
      <p:sp>
        <p:nvSpPr>
          <p:cNvPr id="31" name="Text 28"/>
          <p:cNvSpPr txBox="1"/>
          <p:nvPr/>
        </p:nvSpPr>
        <p:spPr>
          <a:xfrm>
            <a:off x="8823960" y="2743200"/>
            <a:ext cx="2697480" cy="914400"/>
          </a:xfrm>
          <a:prstGeom prst="rect">
            <a:avLst/>
          </a:prstGeom>
          <a:noFill/>
          <a:ln/>
        </p:spPr>
        <p:txBody>
          <a:bodyPr wrap="square" lIns="0" tIns="0" rIns="0" bIns="0" rtlCol="0" anchor="ctr"/>
          <a:lstStyle/>
          <a:p>
            <a:pPr indent="0" marL="0">
              <a:buNone/>
            </a:pPr>
            <a:r>
              <a:rPr lang="en-US" sz="1500" b="1" dirty="0">
                <a:solidFill>
                  <a:srgbClr val="B93434"/>
                </a:solidFill>
                <a:latin typeface="Calibri" pitchFamily="34" charset="0"/>
                <a:ea typeface="Calibri" pitchFamily="34" charset="-122"/>
                <a:cs typeface="Calibri" pitchFamily="34" charset="-120"/>
              </a:rPr>
              <a:t>No match</a:t>
            </a:r>
            <a:endParaRPr lang="en-US" sz="1500" dirty="0"/>
          </a:p>
          <a:p>
            <a:pPr indent="0" marL="0">
              <a:buNone/>
            </a:pPr>
            <a:r>
              <a:rPr lang="en-US" sz="1500" dirty="0">
                <a:solidFill>
                  <a:srgbClr val="B93434"/>
                </a:solidFill>
                <a:latin typeface="Calibri" pitchFamily="34" charset="0"/>
                <a:ea typeface="Calibri" pitchFamily="34" charset="-122"/>
                <a:cs typeface="Calibri" pitchFamily="34" charset="-120"/>
              </a:rPr>
              <a:t>Incorrect flag.</a:t>
            </a:r>
            <a:endParaRPr lang="en-US" sz="1500" dirty="0"/>
          </a:p>
        </p:txBody>
      </p:sp>
      <p:sp>
        <p:nvSpPr>
          <p:cNvPr id="32" name="Shape 29"/>
          <p:cNvSpPr/>
          <p:nvPr/>
        </p:nvSpPr>
        <p:spPr>
          <a:xfrm>
            <a:off x="548640" y="4023360"/>
            <a:ext cx="3566160" cy="914400"/>
          </a:xfrm>
          <a:prstGeom prst="roundRect">
            <a:avLst>
              <a:gd name="adj" fmla="val 10000"/>
            </a:avLst>
          </a:prstGeom>
          <a:solidFill>
            <a:srgbClr val="F1F5FB"/>
          </a:solidFill>
          <a:ln/>
        </p:spPr>
      </p:sp>
      <p:sp>
        <p:nvSpPr>
          <p:cNvPr id="33" name="Shape 30"/>
          <p:cNvSpPr/>
          <p:nvPr/>
        </p:nvSpPr>
        <p:spPr>
          <a:xfrm>
            <a:off x="731520" y="4160520"/>
            <a:ext cx="640080" cy="640080"/>
          </a:xfrm>
          <a:prstGeom prst="ellipse">
            <a:avLst/>
          </a:prstGeom>
          <a:solidFill>
            <a:srgbClr val="2459D8"/>
          </a:solidFill>
          <a:ln/>
        </p:spPr>
      </p:sp>
      <p:pic>
        <p:nvPicPr>
          <p:cNvPr id="34" name="Image 0" descr="preencoded.png">    </p:cNvPr>
          <p:cNvPicPr>
            <a:picLocks noChangeAspect="1"/>
          </p:cNvPicPr>
          <p:nvPr/>
        </p:nvPicPr>
        <p:blipFill>
          <a:blip r:embed="rId1"/>
          <a:stretch>
            <a:fillRect/>
          </a:stretch>
        </p:blipFill>
        <p:spPr>
          <a:xfrm>
            <a:off x="891540" y="4320540"/>
            <a:ext cx="320040" cy="320040"/>
          </a:xfrm>
          <a:prstGeom prst="rect">
            <a:avLst/>
          </a:prstGeom>
        </p:spPr>
      </p:pic>
      <p:sp>
        <p:nvSpPr>
          <p:cNvPr id="35" name="Text 31"/>
          <p:cNvSpPr txBox="1"/>
          <p:nvPr/>
        </p:nvSpPr>
        <p:spPr>
          <a:xfrm>
            <a:off x="1508760" y="4023360"/>
            <a:ext cx="2514600" cy="914400"/>
          </a:xfrm>
          <a:prstGeom prst="rect">
            <a:avLst/>
          </a:prstGeom>
          <a:noFill/>
          <a:ln/>
        </p:spPr>
        <p:txBody>
          <a:bodyPr wrap="square" lIns="0" tIns="0" rIns="0" bIns="0" rtlCol="0" anchor="ctr"/>
          <a:lstStyle/>
          <a:p>
            <a:pPr indent="0" marL="0">
              <a:buNone/>
            </a:pPr>
            <a:r>
              <a:rPr lang="en-US" sz="1550" b="1" dirty="0">
                <a:solidFill>
                  <a:srgbClr val="12213A"/>
                </a:solidFill>
                <a:latin typeface="Calibri" pitchFamily="34" charset="0"/>
                <a:ea typeface="Calibri" pitchFamily="34" charset="-122"/>
                <a:cs typeface="Calibri" pitchFamily="34" charset="-120"/>
              </a:rPr>
              <a:t>Same input, same fingerprint</a:t>
            </a:r>
            <a:endParaRPr lang="en-US" sz="1550" dirty="0"/>
          </a:p>
        </p:txBody>
      </p:sp>
      <p:sp>
        <p:nvSpPr>
          <p:cNvPr id="36" name="Shape 32"/>
          <p:cNvSpPr/>
          <p:nvPr/>
        </p:nvSpPr>
        <p:spPr>
          <a:xfrm>
            <a:off x="4306824" y="4023360"/>
            <a:ext cx="3566160" cy="914400"/>
          </a:xfrm>
          <a:prstGeom prst="roundRect">
            <a:avLst>
              <a:gd name="adj" fmla="val 10000"/>
            </a:avLst>
          </a:prstGeom>
          <a:solidFill>
            <a:srgbClr val="F1F5FB"/>
          </a:solidFill>
          <a:ln/>
        </p:spPr>
      </p:sp>
      <p:sp>
        <p:nvSpPr>
          <p:cNvPr id="37" name="Shape 33"/>
          <p:cNvSpPr/>
          <p:nvPr/>
        </p:nvSpPr>
        <p:spPr>
          <a:xfrm>
            <a:off x="4489704" y="4160520"/>
            <a:ext cx="640080" cy="640080"/>
          </a:xfrm>
          <a:prstGeom prst="ellipse">
            <a:avLst/>
          </a:prstGeom>
          <a:solidFill>
            <a:srgbClr val="7448D4"/>
          </a:solidFill>
          <a:ln/>
        </p:spPr>
      </p:sp>
      <p:pic>
        <p:nvPicPr>
          <p:cNvPr id="38" name="Image 1" descr="preencoded.png">    </p:cNvPr>
          <p:cNvPicPr>
            <a:picLocks noChangeAspect="1"/>
          </p:cNvPicPr>
          <p:nvPr/>
        </p:nvPicPr>
        <p:blipFill>
          <a:blip r:embed="rId2"/>
          <a:stretch>
            <a:fillRect/>
          </a:stretch>
        </p:blipFill>
        <p:spPr>
          <a:xfrm>
            <a:off x="4649724" y="4320540"/>
            <a:ext cx="320040" cy="320040"/>
          </a:xfrm>
          <a:prstGeom prst="rect">
            <a:avLst/>
          </a:prstGeom>
        </p:spPr>
      </p:pic>
      <p:sp>
        <p:nvSpPr>
          <p:cNvPr id="39" name="Text 34"/>
          <p:cNvSpPr txBox="1"/>
          <p:nvPr/>
        </p:nvSpPr>
        <p:spPr>
          <a:xfrm>
            <a:off x="5266944" y="4023360"/>
            <a:ext cx="2514600" cy="914400"/>
          </a:xfrm>
          <a:prstGeom prst="rect">
            <a:avLst/>
          </a:prstGeom>
          <a:noFill/>
          <a:ln/>
        </p:spPr>
        <p:txBody>
          <a:bodyPr wrap="square" lIns="0" tIns="0" rIns="0" bIns="0" rtlCol="0" anchor="ctr"/>
          <a:lstStyle/>
          <a:p>
            <a:pPr indent="0" marL="0">
              <a:buNone/>
            </a:pPr>
            <a:r>
              <a:rPr lang="en-US" sz="1550" b="1" dirty="0">
                <a:solidFill>
                  <a:srgbClr val="12213A"/>
                </a:solidFill>
                <a:latin typeface="Calibri" pitchFamily="34" charset="0"/>
                <a:ea typeface="Calibri" pitchFamily="34" charset="-122"/>
                <a:cs typeface="Calibri" pitchFamily="34" charset="-120"/>
              </a:rPr>
              <a:t>One letter changes everything</a:t>
            </a:r>
            <a:endParaRPr lang="en-US" sz="1550" dirty="0"/>
          </a:p>
        </p:txBody>
      </p:sp>
      <p:sp>
        <p:nvSpPr>
          <p:cNvPr id="40" name="Shape 35"/>
          <p:cNvSpPr/>
          <p:nvPr/>
        </p:nvSpPr>
        <p:spPr>
          <a:xfrm>
            <a:off x="8065008" y="4023360"/>
            <a:ext cx="3566160" cy="914400"/>
          </a:xfrm>
          <a:prstGeom prst="roundRect">
            <a:avLst>
              <a:gd name="adj" fmla="val 10000"/>
            </a:avLst>
          </a:prstGeom>
          <a:solidFill>
            <a:srgbClr val="F1F5FB"/>
          </a:solidFill>
          <a:ln/>
        </p:spPr>
      </p:sp>
      <p:sp>
        <p:nvSpPr>
          <p:cNvPr id="41" name="Shape 36"/>
          <p:cNvSpPr/>
          <p:nvPr/>
        </p:nvSpPr>
        <p:spPr>
          <a:xfrm>
            <a:off x="8247888" y="4160520"/>
            <a:ext cx="640080" cy="640080"/>
          </a:xfrm>
          <a:prstGeom prst="ellipse">
            <a:avLst/>
          </a:prstGeom>
          <a:solidFill>
            <a:srgbClr val="D1416B"/>
          </a:solidFill>
          <a:ln/>
        </p:spPr>
      </p:sp>
      <p:pic>
        <p:nvPicPr>
          <p:cNvPr id="42" name="Image 2" descr="preencoded.png">    </p:cNvPr>
          <p:cNvPicPr>
            <a:picLocks noChangeAspect="1"/>
          </p:cNvPicPr>
          <p:nvPr/>
        </p:nvPicPr>
        <p:blipFill>
          <a:blip r:embed="rId3"/>
          <a:stretch>
            <a:fillRect/>
          </a:stretch>
        </p:blipFill>
        <p:spPr>
          <a:xfrm>
            <a:off x="8407908" y="4320540"/>
            <a:ext cx="320040" cy="320040"/>
          </a:xfrm>
          <a:prstGeom prst="rect">
            <a:avLst/>
          </a:prstGeom>
        </p:spPr>
      </p:pic>
      <p:sp>
        <p:nvSpPr>
          <p:cNvPr id="43" name="Text 37"/>
          <p:cNvSpPr txBox="1"/>
          <p:nvPr/>
        </p:nvSpPr>
        <p:spPr>
          <a:xfrm>
            <a:off x="9025128" y="4023360"/>
            <a:ext cx="2514600" cy="914400"/>
          </a:xfrm>
          <a:prstGeom prst="rect">
            <a:avLst/>
          </a:prstGeom>
          <a:noFill/>
          <a:ln/>
        </p:spPr>
        <p:txBody>
          <a:bodyPr wrap="square" lIns="0" tIns="0" rIns="0" bIns="0" rtlCol="0" anchor="ctr"/>
          <a:lstStyle/>
          <a:p>
            <a:pPr indent="0" marL="0">
              <a:buNone/>
            </a:pPr>
            <a:r>
              <a:rPr lang="en-US" sz="1550" b="1" dirty="0">
                <a:solidFill>
                  <a:srgbClr val="12213A"/>
                </a:solidFill>
                <a:latin typeface="Calibri" pitchFamily="34" charset="0"/>
                <a:ea typeface="Calibri" pitchFamily="34" charset="-122"/>
                <a:cs typeface="Calibri" pitchFamily="34" charset="-120"/>
              </a:rPr>
              <a:t>One way only: no way back</a:t>
            </a:r>
            <a:endParaRPr lang="en-US" sz="1550" dirty="0"/>
          </a:p>
        </p:txBody>
      </p:sp>
      <p:sp>
        <p:nvSpPr>
          <p:cNvPr id="44" name="Text 38"/>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49 / 79</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Your skill passport</a:t>
            </a:r>
            <a:endParaRPr lang="en-US" sz="3200" dirty="0"/>
          </a:p>
        </p:txBody>
      </p:sp>
      <p:sp>
        <p:nvSpPr>
          <p:cNvPr id="4" name="Shape 1"/>
          <p:cNvSpPr/>
          <p:nvPr/>
        </p:nvSpPr>
        <p:spPr>
          <a:xfrm>
            <a:off x="548640" y="1508760"/>
            <a:ext cx="1719072" cy="1298448"/>
          </a:xfrm>
          <a:prstGeom prst="roundRect">
            <a:avLst>
              <a:gd name="adj" fmla="val 8451"/>
            </a:avLst>
          </a:prstGeom>
          <a:solidFill>
            <a:srgbClr val="FFFFFF"/>
          </a:solidFill>
          <a:ln w="31750">
            <a:solidFill>
              <a:srgbClr val="17875A"/>
            </a:solidFill>
            <a:prstDash val="dash"/>
          </a:ln>
        </p:spPr>
      </p:sp>
      <p:sp>
        <p:nvSpPr>
          <p:cNvPr id="5" name="Text 2"/>
          <p:cNvSpPr txBox="1"/>
          <p:nvPr/>
        </p:nvSpPr>
        <p:spPr>
          <a:xfrm>
            <a:off x="548640" y="1691640"/>
            <a:ext cx="1719072" cy="548640"/>
          </a:xfrm>
          <a:prstGeom prst="rect">
            <a:avLst/>
          </a:prstGeom>
          <a:noFill/>
          <a:ln/>
        </p:spPr>
        <p:txBody>
          <a:bodyPr wrap="square" lIns="0" tIns="0" rIns="0" bIns="0" rtlCol="0" anchor="ctr"/>
          <a:lstStyle/>
          <a:p>
            <a:pPr algn="ctr" indent="0" marL="0">
              <a:buNone/>
            </a:pPr>
            <a:r>
              <a:rPr lang="en-US" sz="2000" b="1" dirty="0">
                <a:solidFill>
                  <a:srgbClr val="17875A"/>
                </a:solidFill>
                <a:latin typeface="Courier New" pitchFamily="34" charset="0"/>
                <a:ea typeface="Courier New" pitchFamily="34" charset="-122"/>
                <a:cs typeface="Courier New" pitchFamily="34" charset="-120"/>
              </a:rPr>
              <a:t>pwd</a:t>
            </a:r>
            <a:endParaRPr lang="en-US" sz="2000" dirty="0"/>
          </a:p>
        </p:txBody>
      </p:sp>
      <p:sp>
        <p:nvSpPr>
          <p:cNvPr id="6" name="Text 3"/>
          <p:cNvSpPr txBox="1"/>
          <p:nvPr/>
        </p:nvSpPr>
        <p:spPr>
          <a:xfrm>
            <a:off x="548640" y="231343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1</a:t>
            </a:r>
            <a:endParaRPr lang="en-US" sz="1200" dirty="0"/>
          </a:p>
        </p:txBody>
      </p:sp>
      <p:sp>
        <p:nvSpPr>
          <p:cNvPr id="7" name="Shape 4"/>
          <p:cNvSpPr/>
          <p:nvPr/>
        </p:nvSpPr>
        <p:spPr>
          <a:xfrm>
            <a:off x="2414016" y="1508760"/>
            <a:ext cx="1719072" cy="1298448"/>
          </a:xfrm>
          <a:prstGeom prst="roundRect">
            <a:avLst>
              <a:gd name="adj" fmla="val 8451"/>
            </a:avLst>
          </a:prstGeom>
          <a:solidFill>
            <a:srgbClr val="FFFFFF"/>
          </a:solidFill>
          <a:ln w="31750">
            <a:solidFill>
              <a:srgbClr val="17875A"/>
            </a:solidFill>
            <a:prstDash val="dash"/>
          </a:ln>
        </p:spPr>
      </p:sp>
      <p:sp>
        <p:nvSpPr>
          <p:cNvPr id="8" name="Text 5"/>
          <p:cNvSpPr txBox="1"/>
          <p:nvPr/>
        </p:nvSpPr>
        <p:spPr>
          <a:xfrm>
            <a:off x="2414016" y="1691640"/>
            <a:ext cx="1719072" cy="548640"/>
          </a:xfrm>
          <a:prstGeom prst="rect">
            <a:avLst/>
          </a:prstGeom>
          <a:noFill/>
          <a:ln/>
        </p:spPr>
        <p:txBody>
          <a:bodyPr wrap="square" lIns="0" tIns="0" rIns="0" bIns="0" rtlCol="0" anchor="ctr"/>
          <a:lstStyle/>
          <a:p>
            <a:pPr algn="ctr" indent="0" marL="0">
              <a:buNone/>
            </a:pPr>
            <a:r>
              <a:rPr lang="en-US" sz="2000" b="1" dirty="0">
                <a:solidFill>
                  <a:srgbClr val="17875A"/>
                </a:solidFill>
                <a:latin typeface="Courier New" pitchFamily="34" charset="0"/>
                <a:ea typeface="Courier New" pitchFamily="34" charset="-122"/>
                <a:cs typeface="Courier New" pitchFamily="34" charset="-120"/>
              </a:rPr>
              <a:t>ls</a:t>
            </a:r>
            <a:endParaRPr lang="en-US" sz="2000" dirty="0"/>
          </a:p>
        </p:txBody>
      </p:sp>
      <p:sp>
        <p:nvSpPr>
          <p:cNvPr id="9" name="Text 6"/>
          <p:cNvSpPr txBox="1"/>
          <p:nvPr/>
        </p:nvSpPr>
        <p:spPr>
          <a:xfrm>
            <a:off x="2414016" y="231343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1</a:t>
            </a:r>
            <a:endParaRPr lang="en-US" sz="1200" dirty="0"/>
          </a:p>
        </p:txBody>
      </p:sp>
      <p:sp>
        <p:nvSpPr>
          <p:cNvPr id="10" name="Shape 7"/>
          <p:cNvSpPr/>
          <p:nvPr/>
        </p:nvSpPr>
        <p:spPr>
          <a:xfrm>
            <a:off x="4279392" y="1508760"/>
            <a:ext cx="1719072" cy="1298448"/>
          </a:xfrm>
          <a:prstGeom prst="roundRect">
            <a:avLst>
              <a:gd name="adj" fmla="val 8451"/>
            </a:avLst>
          </a:prstGeom>
          <a:solidFill>
            <a:srgbClr val="FFFFFF"/>
          </a:solidFill>
          <a:ln w="31750">
            <a:solidFill>
              <a:srgbClr val="17875A"/>
            </a:solidFill>
            <a:prstDash val="dash"/>
          </a:ln>
        </p:spPr>
      </p:sp>
      <p:sp>
        <p:nvSpPr>
          <p:cNvPr id="11" name="Text 8"/>
          <p:cNvSpPr txBox="1"/>
          <p:nvPr/>
        </p:nvSpPr>
        <p:spPr>
          <a:xfrm>
            <a:off x="4279392" y="1691640"/>
            <a:ext cx="1719072" cy="548640"/>
          </a:xfrm>
          <a:prstGeom prst="rect">
            <a:avLst/>
          </a:prstGeom>
          <a:noFill/>
          <a:ln/>
        </p:spPr>
        <p:txBody>
          <a:bodyPr wrap="square" lIns="0" tIns="0" rIns="0" bIns="0" rtlCol="0" anchor="ctr"/>
          <a:lstStyle/>
          <a:p>
            <a:pPr algn="ctr" indent="0" marL="0">
              <a:buNone/>
            </a:pPr>
            <a:r>
              <a:rPr lang="en-US" sz="2000" b="1" dirty="0">
                <a:solidFill>
                  <a:srgbClr val="17875A"/>
                </a:solidFill>
                <a:latin typeface="Courier New" pitchFamily="34" charset="0"/>
                <a:ea typeface="Courier New" pitchFamily="34" charset="-122"/>
                <a:cs typeface="Courier New" pitchFamily="34" charset="-120"/>
              </a:rPr>
              <a:t>cd  cd ..</a:t>
            </a:r>
            <a:endParaRPr lang="en-US" sz="2000" dirty="0"/>
          </a:p>
        </p:txBody>
      </p:sp>
      <p:sp>
        <p:nvSpPr>
          <p:cNvPr id="12" name="Text 9"/>
          <p:cNvSpPr txBox="1"/>
          <p:nvPr/>
        </p:nvSpPr>
        <p:spPr>
          <a:xfrm>
            <a:off x="4279392" y="231343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1</a:t>
            </a:r>
            <a:endParaRPr lang="en-US" sz="1200" dirty="0"/>
          </a:p>
        </p:txBody>
      </p:sp>
      <p:sp>
        <p:nvSpPr>
          <p:cNvPr id="13" name="Shape 10"/>
          <p:cNvSpPr/>
          <p:nvPr/>
        </p:nvSpPr>
        <p:spPr>
          <a:xfrm>
            <a:off x="6144768" y="1508760"/>
            <a:ext cx="1719072" cy="1298448"/>
          </a:xfrm>
          <a:prstGeom prst="roundRect">
            <a:avLst>
              <a:gd name="adj" fmla="val 8451"/>
            </a:avLst>
          </a:prstGeom>
          <a:solidFill>
            <a:srgbClr val="FFFFFF"/>
          </a:solidFill>
          <a:ln w="31750">
            <a:solidFill>
              <a:srgbClr val="2A9FD6"/>
            </a:solidFill>
            <a:prstDash val="dash"/>
          </a:ln>
        </p:spPr>
      </p:sp>
      <p:sp>
        <p:nvSpPr>
          <p:cNvPr id="14" name="Text 11"/>
          <p:cNvSpPr txBox="1"/>
          <p:nvPr/>
        </p:nvSpPr>
        <p:spPr>
          <a:xfrm>
            <a:off x="6144768" y="1691640"/>
            <a:ext cx="1719072" cy="548640"/>
          </a:xfrm>
          <a:prstGeom prst="rect">
            <a:avLst/>
          </a:prstGeom>
          <a:noFill/>
          <a:ln/>
        </p:spPr>
        <p:txBody>
          <a:bodyPr wrap="square" lIns="0" tIns="0" rIns="0" bIns="0" rtlCol="0" anchor="ctr"/>
          <a:lstStyle/>
          <a:p>
            <a:pPr algn="ctr" indent="0" marL="0">
              <a:buNone/>
            </a:pPr>
            <a:r>
              <a:rPr lang="en-US" sz="2000" b="1" dirty="0">
                <a:solidFill>
                  <a:srgbClr val="2A9FD6"/>
                </a:solidFill>
                <a:latin typeface="Courier New" pitchFamily="34" charset="0"/>
                <a:ea typeface="Courier New" pitchFamily="34" charset="-122"/>
                <a:cs typeface="Courier New" pitchFamily="34" charset="-120"/>
              </a:rPr>
              <a:t>cat</a:t>
            </a:r>
            <a:endParaRPr lang="en-US" sz="2000" dirty="0"/>
          </a:p>
        </p:txBody>
      </p:sp>
      <p:sp>
        <p:nvSpPr>
          <p:cNvPr id="15" name="Text 12"/>
          <p:cNvSpPr txBox="1"/>
          <p:nvPr/>
        </p:nvSpPr>
        <p:spPr>
          <a:xfrm>
            <a:off x="6144768" y="231343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2</a:t>
            </a:r>
            <a:endParaRPr lang="en-US" sz="1200" dirty="0"/>
          </a:p>
        </p:txBody>
      </p:sp>
      <p:sp>
        <p:nvSpPr>
          <p:cNvPr id="16" name="Shape 13"/>
          <p:cNvSpPr/>
          <p:nvPr/>
        </p:nvSpPr>
        <p:spPr>
          <a:xfrm>
            <a:off x="8010144" y="1508760"/>
            <a:ext cx="1719072" cy="1298448"/>
          </a:xfrm>
          <a:prstGeom prst="roundRect">
            <a:avLst>
              <a:gd name="adj" fmla="val 8451"/>
            </a:avLst>
          </a:prstGeom>
          <a:solidFill>
            <a:srgbClr val="FFFFFF"/>
          </a:solidFill>
          <a:ln w="31750">
            <a:solidFill>
              <a:srgbClr val="2A9FD6"/>
            </a:solidFill>
            <a:prstDash val="dash"/>
          </a:ln>
        </p:spPr>
      </p:sp>
      <p:sp>
        <p:nvSpPr>
          <p:cNvPr id="17" name="Text 14"/>
          <p:cNvSpPr txBox="1"/>
          <p:nvPr/>
        </p:nvSpPr>
        <p:spPr>
          <a:xfrm>
            <a:off x="8010144" y="1691640"/>
            <a:ext cx="1719072" cy="548640"/>
          </a:xfrm>
          <a:prstGeom prst="rect">
            <a:avLst/>
          </a:prstGeom>
          <a:noFill/>
          <a:ln/>
        </p:spPr>
        <p:txBody>
          <a:bodyPr wrap="square" lIns="0" tIns="0" rIns="0" bIns="0" rtlCol="0" anchor="ctr"/>
          <a:lstStyle/>
          <a:p>
            <a:pPr algn="ctr" indent="0" marL="0">
              <a:buNone/>
            </a:pPr>
            <a:r>
              <a:rPr lang="en-US" sz="2000" b="1" dirty="0">
                <a:solidFill>
                  <a:srgbClr val="2A9FD6"/>
                </a:solidFill>
                <a:latin typeface="Courier New" pitchFamily="34" charset="0"/>
                <a:ea typeface="Courier New" pitchFamily="34" charset="-122"/>
                <a:cs typeface="Courier New" pitchFamily="34" charset="-120"/>
              </a:rPr>
              <a:t>--help</a:t>
            </a:r>
            <a:endParaRPr lang="en-US" sz="2000" dirty="0"/>
          </a:p>
        </p:txBody>
      </p:sp>
      <p:sp>
        <p:nvSpPr>
          <p:cNvPr id="18" name="Text 15"/>
          <p:cNvSpPr txBox="1"/>
          <p:nvPr/>
        </p:nvSpPr>
        <p:spPr>
          <a:xfrm>
            <a:off x="8010144" y="231343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2</a:t>
            </a:r>
            <a:endParaRPr lang="en-US" sz="1200" dirty="0"/>
          </a:p>
        </p:txBody>
      </p:sp>
      <p:sp>
        <p:nvSpPr>
          <p:cNvPr id="19" name="Shape 16"/>
          <p:cNvSpPr/>
          <p:nvPr/>
        </p:nvSpPr>
        <p:spPr>
          <a:xfrm>
            <a:off x="9875520" y="1508760"/>
            <a:ext cx="1719072" cy="1298448"/>
          </a:xfrm>
          <a:prstGeom prst="roundRect">
            <a:avLst>
              <a:gd name="adj" fmla="val 8451"/>
            </a:avLst>
          </a:prstGeom>
          <a:solidFill>
            <a:srgbClr val="FFFFFF"/>
          </a:solidFill>
          <a:ln w="31750">
            <a:solidFill>
              <a:srgbClr val="2459D8"/>
            </a:solidFill>
            <a:prstDash val="dash"/>
          </a:ln>
        </p:spPr>
      </p:sp>
      <p:sp>
        <p:nvSpPr>
          <p:cNvPr id="20" name="Text 17"/>
          <p:cNvSpPr txBox="1"/>
          <p:nvPr/>
        </p:nvSpPr>
        <p:spPr>
          <a:xfrm>
            <a:off x="9875520" y="1691640"/>
            <a:ext cx="1719072" cy="548640"/>
          </a:xfrm>
          <a:prstGeom prst="rect">
            <a:avLst/>
          </a:prstGeom>
          <a:noFill/>
          <a:ln/>
        </p:spPr>
        <p:txBody>
          <a:bodyPr wrap="square" lIns="0" tIns="0" rIns="0" bIns="0" rtlCol="0" anchor="ctr"/>
          <a:lstStyle/>
          <a:p>
            <a:pPr algn="ctr" indent="0" marL="0">
              <a:buNone/>
            </a:pPr>
            <a:r>
              <a:rPr lang="en-US" sz="2000" b="1" dirty="0">
                <a:solidFill>
                  <a:srgbClr val="2459D8"/>
                </a:solidFill>
                <a:latin typeface="Courier New" pitchFamily="34" charset="0"/>
                <a:ea typeface="Courier New" pitchFamily="34" charset="-122"/>
                <a:cs typeface="Courier New" pitchFamily="34" charset="-120"/>
              </a:rPr>
              <a:t>ls -a</a:t>
            </a:r>
            <a:endParaRPr lang="en-US" sz="2000" dirty="0"/>
          </a:p>
        </p:txBody>
      </p:sp>
      <p:sp>
        <p:nvSpPr>
          <p:cNvPr id="21" name="Text 18"/>
          <p:cNvSpPr txBox="1"/>
          <p:nvPr/>
        </p:nvSpPr>
        <p:spPr>
          <a:xfrm>
            <a:off x="9875520" y="231343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3</a:t>
            </a:r>
            <a:endParaRPr lang="en-US" sz="1200" dirty="0"/>
          </a:p>
        </p:txBody>
      </p:sp>
      <p:sp>
        <p:nvSpPr>
          <p:cNvPr id="22" name="Shape 19"/>
          <p:cNvSpPr/>
          <p:nvPr/>
        </p:nvSpPr>
        <p:spPr>
          <a:xfrm>
            <a:off x="548640" y="2971800"/>
            <a:ext cx="1719072" cy="1298448"/>
          </a:xfrm>
          <a:prstGeom prst="roundRect">
            <a:avLst>
              <a:gd name="adj" fmla="val 8451"/>
            </a:avLst>
          </a:prstGeom>
          <a:solidFill>
            <a:srgbClr val="FFFFFF"/>
          </a:solidFill>
          <a:ln w="31750">
            <a:solidFill>
              <a:srgbClr val="2459D8"/>
            </a:solidFill>
            <a:prstDash val="dash"/>
          </a:ln>
        </p:spPr>
      </p:sp>
      <p:sp>
        <p:nvSpPr>
          <p:cNvPr id="23" name="Text 20"/>
          <p:cNvSpPr txBox="1"/>
          <p:nvPr/>
        </p:nvSpPr>
        <p:spPr>
          <a:xfrm>
            <a:off x="548640" y="3154680"/>
            <a:ext cx="1719072" cy="548640"/>
          </a:xfrm>
          <a:prstGeom prst="rect">
            <a:avLst/>
          </a:prstGeom>
          <a:noFill/>
          <a:ln/>
        </p:spPr>
        <p:txBody>
          <a:bodyPr wrap="square" lIns="0" tIns="0" rIns="0" bIns="0" rtlCol="0" anchor="ctr"/>
          <a:lstStyle/>
          <a:p>
            <a:pPr algn="ctr" indent="0" marL="0">
              <a:buNone/>
            </a:pPr>
            <a:r>
              <a:rPr lang="en-US" sz="2000" b="1" dirty="0">
                <a:solidFill>
                  <a:srgbClr val="2459D8"/>
                </a:solidFill>
                <a:latin typeface="Courier New" pitchFamily="34" charset="0"/>
                <a:ea typeface="Courier New" pitchFamily="34" charset="-122"/>
                <a:cs typeface="Courier New" pitchFamily="34" charset="-120"/>
              </a:rPr>
              <a:t>Tab</a:t>
            </a:r>
            <a:endParaRPr lang="en-US" sz="2000" dirty="0"/>
          </a:p>
        </p:txBody>
      </p:sp>
      <p:sp>
        <p:nvSpPr>
          <p:cNvPr id="24" name="Text 21"/>
          <p:cNvSpPr txBox="1"/>
          <p:nvPr/>
        </p:nvSpPr>
        <p:spPr>
          <a:xfrm>
            <a:off x="548640" y="377647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3</a:t>
            </a:r>
            <a:endParaRPr lang="en-US" sz="1200" dirty="0"/>
          </a:p>
        </p:txBody>
      </p:sp>
      <p:sp>
        <p:nvSpPr>
          <p:cNvPr id="25" name="Shape 22"/>
          <p:cNvSpPr/>
          <p:nvPr/>
        </p:nvSpPr>
        <p:spPr>
          <a:xfrm>
            <a:off x="2414016" y="2971800"/>
            <a:ext cx="1719072" cy="1298448"/>
          </a:xfrm>
          <a:prstGeom prst="roundRect">
            <a:avLst>
              <a:gd name="adj" fmla="val 8451"/>
            </a:avLst>
          </a:prstGeom>
          <a:solidFill>
            <a:srgbClr val="FFFFFF"/>
          </a:solidFill>
          <a:ln w="31750">
            <a:solidFill>
              <a:srgbClr val="7448D4"/>
            </a:solidFill>
            <a:prstDash val="dash"/>
          </a:ln>
        </p:spPr>
      </p:sp>
      <p:sp>
        <p:nvSpPr>
          <p:cNvPr id="26" name="Text 23"/>
          <p:cNvSpPr txBox="1"/>
          <p:nvPr/>
        </p:nvSpPr>
        <p:spPr>
          <a:xfrm>
            <a:off x="2414016" y="3154680"/>
            <a:ext cx="1719072" cy="548640"/>
          </a:xfrm>
          <a:prstGeom prst="rect">
            <a:avLst/>
          </a:prstGeom>
          <a:noFill/>
          <a:ln/>
        </p:spPr>
        <p:txBody>
          <a:bodyPr wrap="square" lIns="0" tIns="0" rIns="0" bIns="0" rtlCol="0" anchor="ctr"/>
          <a:lstStyle/>
          <a:p>
            <a:pPr algn="ctr" indent="0" marL="0">
              <a:buNone/>
            </a:pPr>
            <a:r>
              <a:rPr lang="en-US" sz="2000" b="1" dirty="0">
                <a:solidFill>
                  <a:srgbClr val="7448D4"/>
                </a:solidFill>
                <a:latin typeface="Courier New" pitchFamily="34" charset="0"/>
                <a:ea typeface="Courier New" pitchFamily="34" charset="-122"/>
                <a:cs typeface="Courier New" pitchFamily="34" charset="-120"/>
              </a:rPr>
              <a:t>find</a:t>
            </a:r>
            <a:endParaRPr lang="en-US" sz="2000" dirty="0"/>
          </a:p>
        </p:txBody>
      </p:sp>
      <p:sp>
        <p:nvSpPr>
          <p:cNvPr id="27" name="Text 24"/>
          <p:cNvSpPr txBox="1"/>
          <p:nvPr/>
        </p:nvSpPr>
        <p:spPr>
          <a:xfrm>
            <a:off x="2414016" y="377647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4</a:t>
            </a:r>
            <a:endParaRPr lang="en-US" sz="1200" dirty="0"/>
          </a:p>
        </p:txBody>
      </p:sp>
      <p:sp>
        <p:nvSpPr>
          <p:cNvPr id="28" name="Shape 25"/>
          <p:cNvSpPr/>
          <p:nvPr/>
        </p:nvSpPr>
        <p:spPr>
          <a:xfrm>
            <a:off x="4279392" y="2971800"/>
            <a:ext cx="1719072" cy="1298448"/>
          </a:xfrm>
          <a:prstGeom prst="roundRect">
            <a:avLst>
              <a:gd name="adj" fmla="val 8451"/>
            </a:avLst>
          </a:prstGeom>
          <a:solidFill>
            <a:srgbClr val="FFFFFF"/>
          </a:solidFill>
          <a:ln w="31750">
            <a:solidFill>
              <a:srgbClr val="D1416B"/>
            </a:solidFill>
            <a:prstDash val="dash"/>
          </a:ln>
        </p:spPr>
      </p:sp>
      <p:sp>
        <p:nvSpPr>
          <p:cNvPr id="29" name="Text 26"/>
          <p:cNvSpPr txBox="1"/>
          <p:nvPr/>
        </p:nvSpPr>
        <p:spPr>
          <a:xfrm>
            <a:off x="4279392" y="3154680"/>
            <a:ext cx="1719072" cy="548640"/>
          </a:xfrm>
          <a:prstGeom prst="rect">
            <a:avLst/>
          </a:prstGeom>
          <a:noFill/>
          <a:ln/>
        </p:spPr>
        <p:txBody>
          <a:bodyPr wrap="square" lIns="0" tIns="0" rIns="0" bIns="0" rtlCol="0" anchor="ctr"/>
          <a:lstStyle/>
          <a:p>
            <a:pPr algn="ctr" indent="0" marL="0">
              <a:buNone/>
            </a:pPr>
            <a:r>
              <a:rPr lang="en-US" sz="2000" b="1" dirty="0">
                <a:solidFill>
                  <a:srgbClr val="D1416B"/>
                </a:solidFill>
                <a:latin typeface="Courier New" pitchFamily="34" charset="0"/>
                <a:ea typeface="Courier New" pitchFamily="34" charset="-122"/>
                <a:cs typeface="Courier New" pitchFamily="34" charset="-120"/>
              </a:rPr>
              <a:t>grep</a:t>
            </a:r>
            <a:endParaRPr lang="en-US" sz="2000" dirty="0"/>
          </a:p>
        </p:txBody>
      </p:sp>
      <p:sp>
        <p:nvSpPr>
          <p:cNvPr id="30" name="Text 27"/>
          <p:cNvSpPr txBox="1"/>
          <p:nvPr/>
        </p:nvSpPr>
        <p:spPr>
          <a:xfrm>
            <a:off x="4279392" y="377647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5</a:t>
            </a:r>
            <a:endParaRPr lang="en-US" sz="1200" dirty="0"/>
          </a:p>
        </p:txBody>
      </p:sp>
      <p:sp>
        <p:nvSpPr>
          <p:cNvPr id="31" name="Shape 28"/>
          <p:cNvSpPr/>
          <p:nvPr/>
        </p:nvSpPr>
        <p:spPr>
          <a:xfrm>
            <a:off x="6144768" y="2971800"/>
            <a:ext cx="1719072" cy="1298448"/>
          </a:xfrm>
          <a:prstGeom prst="roundRect">
            <a:avLst>
              <a:gd name="adj" fmla="val 8451"/>
            </a:avLst>
          </a:prstGeom>
          <a:solidFill>
            <a:srgbClr val="FFFFFF"/>
          </a:solidFill>
          <a:ln w="31750">
            <a:solidFill>
              <a:srgbClr val="D1416B"/>
            </a:solidFill>
            <a:prstDash val="dash"/>
          </a:ln>
        </p:spPr>
      </p:sp>
      <p:sp>
        <p:nvSpPr>
          <p:cNvPr id="32" name="Text 29"/>
          <p:cNvSpPr txBox="1"/>
          <p:nvPr/>
        </p:nvSpPr>
        <p:spPr>
          <a:xfrm>
            <a:off x="6144768" y="3154680"/>
            <a:ext cx="1719072" cy="548640"/>
          </a:xfrm>
          <a:prstGeom prst="rect">
            <a:avLst/>
          </a:prstGeom>
          <a:noFill/>
          <a:ln/>
        </p:spPr>
        <p:txBody>
          <a:bodyPr wrap="square" lIns="0" tIns="0" rIns="0" bIns="0" rtlCol="0" anchor="ctr"/>
          <a:lstStyle/>
          <a:p>
            <a:pPr algn="ctr" indent="0" marL="0">
              <a:buNone/>
            </a:pPr>
            <a:r>
              <a:rPr lang="en-US" sz="1400" b="1" dirty="0">
                <a:solidFill>
                  <a:srgbClr val="D1416B"/>
                </a:solidFill>
                <a:latin typeface="Courier New" pitchFamily="34" charset="0"/>
                <a:ea typeface="Courier New" pitchFamily="34" charset="-122"/>
                <a:cs typeface="Courier New" pitchFamily="34" charset="-120"/>
              </a:rPr>
              <a:t>head  wc -l</a:t>
            </a:r>
            <a:endParaRPr lang="en-US" sz="1400" dirty="0"/>
          </a:p>
        </p:txBody>
      </p:sp>
      <p:sp>
        <p:nvSpPr>
          <p:cNvPr id="33" name="Text 30"/>
          <p:cNvSpPr txBox="1"/>
          <p:nvPr/>
        </p:nvSpPr>
        <p:spPr>
          <a:xfrm>
            <a:off x="6144768" y="377647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5</a:t>
            </a:r>
            <a:endParaRPr lang="en-US" sz="1200" dirty="0"/>
          </a:p>
        </p:txBody>
      </p:sp>
      <p:sp>
        <p:nvSpPr>
          <p:cNvPr id="34" name="Shape 31"/>
          <p:cNvSpPr/>
          <p:nvPr/>
        </p:nvSpPr>
        <p:spPr>
          <a:xfrm>
            <a:off x="8010144" y="2971800"/>
            <a:ext cx="1719072" cy="1298448"/>
          </a:xfrm>
          <a:prstGeom prst="roundRect">
            <a:avLst>
              <a:gd name="adj" fmla="val 8451"/>
            </a:avLst>
          </a:prstGeom>
          <a:solidFill>
            <a:srgbClr val="FFFFFF"/>
          </a:solidFill>
          <a:ln w="31750">
            <a:solidFill>
              <a:srgbClr val="E8820C"/>
            </a:solidFill>
            <a:prstDash val="dash"/>
          </a:ln>
        </p:spPr>
      </p:sp>
      <p:sp>
        <p:nvSpPr>
          <p:cNvPr id="35" name="Text 32"/>
          <p:cNvSpPr txBox="1"/>
          <p:nvPr/>
        </p:nvSpPr>
        <p:spPr>
          <a:xfrm>
            <a:off x="8010144" y="3154680"/>
            <a:ext cx="1719072" cy="548640"/>
          </a:xfrm>
          <a:prstGeom prst="rect">
            <a:avLst/>
          </a:prstGeom>
          <a:noFill/>
          <a:ln/>
        </p:spPr>
        <p:txBody>
          <a:bodyPr wrap="square" lIns="0" tIns="0" rIns="0" bIns="0" rtlCol="0" anchor="ctr"/>
          <a:lstStyle/>
          <a:p>
            <a:pPr algn="ctr" indent="0" marL="0">
              <a:buNone/>
            </a:pPr>
            <a:r>
              <a:rPr lang="en-US" sz="2000" b="1" dirty="0">
                <a:solidFill>
                  <a:srgbClr val="E8820C"/>
                </a:solidFill>
                <a:latin typeface="Courier New" pitchFamily="34" charset="0"/>
                <a:ea typeface="Courier New" pitchFamily="34" charset="-122"/>
                <a:cs typeface="Courier New" pitchFamily="34" charset="-120"/>
              </a:rPr>
              <a:t>|</a:t>
            </a:r>
            <a:endParaRPr lang="en-US" sz="2000" dirty="0"/>
          </a:p>
        </p:txBody>
      </p:sp>
      <p:sp>
        <p:nvSpPr>
          <p:cNvPr id="36" name="Text 33"/>
          <p:cNvSpPr txBox="1"/>
          <p:nvPr/>
        </p:nvSpPr>
        <p:spPr>
          <a:xfrm>
            <a:off x="8010144" y="377647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6</a:t>
            </a:r>
            <a:endParaRPr lang="en-US" sz="1200" dirty="0"/>
          </a:p>
        </p:txBody>
      </p:sp>
      <p:sp>
        <p:nvSpPr>
          <p:cNvPr id="37" name="Shape 34"/>
          <p:cNvSpPr/>
          <p:nvPr/>
        </p:nvSpPr>
        <p:spPr>
          <a:xfrm>
            <a:off x="9875520" y="2971800"/>
            <a:ext cx="1719072" cy="1298448"/>
          </a:xfrm>
          <a:prstGeom prst="roundRect">
            <a:avLst>
              <a:gd name="adj" fmla="val 8451"/>
            </a:avLst>
          </a:prstGeom>
          <a:solidFill>
            <a:srgbClr val="FFFFFF"/>
          </a:solidFill>
          <a:ln w="31750">
            <a:solidFill>
              <a:srgbClr val="E8820C"/>
            </a:solidFill>
            <a:prstDash val="dash"/>
          </a:ln>
        </p:spPr>
      </p:sp>
      <p:sp>
        <p:nvSpPr>
          <p:cNvPr id="38" name="Text 35"/>
          <p:cNvSpPr txBox="1"/>
          <p:nvPr/>
        </p:nvSpPr>
        <p:spPr>
          <a:xfrm>
            <a:off x="9875520" y="3154680"/>
            <a:ext cx="1719072" cy="548640"/>
          </a:xfrm>
          <a:prstGeom prst="rect">
            <a:avLst/>
          </a:prstGeom>
          <a:noFill/>
          <a:ln/>
        </p:spPr>
        <p:txBody>
          <a:bodyPr wrap="square" lIns="0" tIns="0" rIns="0" bIns="0" rtlCol="0" anchor="ctr"/>
          <a:lstStyle/>
          <a:p>
            <a:pPr algn="ctr" indent="0" marL="0">
              <a:buNone/>
            </a:pPr>
            <a:r>
              <a:rPr lang="en-US" sz="1400" b="1" dirty="0">
                <a:solidFill>
                  <a:srgbClr val="E8820C"/>
                </a:solidFill>
                <a:latin typeface="Courier New" pitchFamily="34" charset="0"/>
                <a:ea typeface="Courier New" pitchFamily="34" charset="-122"/>
                <a:cs typeface="Courier New" pitchFamily="34" charset="-120"/>
              </a:rPr>
              <a:t>sort  uniq</a:t>
            </a:r>
            <a:endParaRPr lang="en-US" sz="1400" dirty="0"/>
          </a:p>
        </p:txBody>
      </p:sp>
      <p:sp>
        <p:nvSpPr>
          <p:cNvPr id="39" name="Text 36"/>
          <p:cNvSpPr txBox="1"/>
          <p:nvPr/>
        </p:nvSpPr>
        <p:spPr>
          <a:xfrm>
            <a:off x="9875520" y="377647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6</a:t>
            </a:r>
            <a:endParaRPr lang="en-US" sz="1200" dirty="0"/>
          </a:p>
        </p:txBody>
      </p:sp>
      <p:sp>
        <p:nvSpPr>
          <p:cNvPr id="40" name="Shape 37"/>
          <p:cNvSpPr/>
          <p:nvPr/>
        </p:nvSpPr>
        <p:spPr>
          <a:xfrm>
            <a:off x="548640" y="4434840"/>
            <a:ext cx="1719072" cy="1298448"/>
          </a:xfrm>
          <a:prstGeom prst="roundRect">
            <a:avLst>
              <a:gd name="adj" fmla="val 8451"/>
            </a:avLst>
          </a:prstGeom>
          <a:solidFill>
            <a:srgbClr val="FFFFFF"/>
          </a:solidFill>
          <a:ln w="31750">
            <a:solidFill>
              <a:srgbClr val="C9A227"/>
            </a:solidFill>
            <a:prstDash val="dash"/>
          </a:ln>
        </p:spPr>
      </p:sp>
      <p:sp>
        <p:nvSpPr>
          <p:cNvPr id="41" name="Text 38"/>
          <p:cNvSpPr txBox="1"/>
          <p:nvPr/>
        </p:nvSpPr>
        <p:spPr>
          <a:xfrm>
            <a:off x="548640" y="4617720"/>
            <a:ext cx="1719072" cy="548640"/>
          </a:xfrm>
          <a:prstGeom prst="rect">
            <a:avLst/>
          </a:prstGeom>
          <a:noFill/>
          <a:ln/>
        </p:spPr>
        <p:txBody>
          <a:bodyPr wrap="square" lIns="0" tIns="0" rIns="0" bIns="0" rtlCol="0" anchor="ctr"/>
          <a:lstStyle/>
          <a:p>
            <a:pPr algn="ctr" indent="0" marL="0">
              <a:buNone/>
            </a:pPr>
            <a:r>
              <a:rPr lang="en-US" sz="2000" b="1" dirty="0">
                <a:solidFill>
                  <a:srgbClr val="C9A227"/>
                </a:solidFill>
                <a:latin typeface="Courier New" pitchFamily="34" charset="0"/>
                <a:ea typeface="Courier New" pitchFamily="34" charset="-122"/>
                <a:cs typeface="Courier New" pitchFamily="34" charset="-120"/>
              </a:rPr>
              <a:t>ls -l</a:t>
            </a:r>
            <a:endParaRPr lang="en-US" sz="2000" dirty="0"/>
          </a:p>
        </p:txBody>
      </p:sp>
      <p:sp>
        <p:nvSpPr>
          <p:cNvPr id="42" name="Text 39"/>
          <p:cNvSpPr txBox="1"/>
          <p:nvPr/>
        </p:nvSpPr>
        <p:spPr>
          <a:xfrm>
            <a:off x="548640" y="523951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7</a:t>
            </a:r>
            <a:endParaRPr lang="en-US" sz="1200" dirty="0"/>
          </a:p>
        </p:txBody>
      </p:sp>
      <p:sp>
        <p:nvSpPr>
          <p:cNvPr id="43" name="Shape 40"/>
          <p:cNvSpPr/>
          <p:nvPr/>
        </p:nvSpPr>
        <p:spPr>
          <a:xfrm>
            <a:off x="2414016" y="4434840"/>
            <a:ext cx="1719072" cy="1298448"/>
          </a:xfrm>
          <a:prstGeom prst="roundRect">
            <a:avLst>
              <a:gd name="adj" fmla="val 8451"/>
            </a:avLst>
          </a:prstGeom>
          <a:solidFill>
            <a:srgbClr val="FFFFFF"/>
          </a:solidFill>
          <a:ln w="31750">
            <a:solidFill>
              <a:srgbClr val="C9A227"/>
            </a:solidFill>
            <a:prstDash val="dash"/>
          </a:ln>
        </p:spPr>
      </p:sp>
      <p:sp>
        <p:nvSpPr>
          <p:cNvPr id="44" name="Text 41"/>
          <p:cNvSpPr txBox="1"/>
          <p:nvPr/>
        </p:nvSpPr>
        <p:spPr>
          <a:xfrm>
            <a:off x="2414016" y="4617720"/>
            <a:ext cx="1719072" cy="548640"/>
          </a:xfrm>
          <a:prstGeom prst="rect">
            <a:avLst/>
          </a:prstGeom>
          <a:noFill/>
          <a:ln/>
        </p:spPr>
        <p:txBody>
          <a:bodyPr wrap="square" lIns="0" tIns="0" rIns="0" bIns="0" rtlCol="0" anchor="ctr"/>
          <a:lstStyle/>
          <a:p>
            <a:pPr algn="ctr" indent="0" marL="0">
              <a:buNone/>
            </a:pPr>
            <a:r>
              <a:rPr lang="en-US" sz="2000" b="1" dirty="0">
                <a:solidFill>
                  <a:srgbClr val="C9A227"/>
                </a:solidFill>
                <a:latin typeface="Courier New" pitchFamily="34" charset="0"/>
                <a:ea typeface="Courier New" pitchFamily="34" charset="-122"/>
                <a:cs typeface="Courier New" pitchFamily="34" charset="-120"/>
              </a:rPr>
              <a:t>chmod +x</a:t>
            </a:r>
            <a:endParaRPr lang="en-US" sz="2000" dirty="0"/>
          </a:p>
        </p:txBody>
      </p:sp>
      <p:sp>
        <p:nvSpPr>
          <p:cNvPr id="45" name="Text 42"/>
          <p:cNvSpPr txBox="1"/>
          <p:nvPr/>
        </p:nvSpPr>
        <p:spPr>
          <a:xfrm>
            <a:off x="2414016" y="523951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7</a:t>
            </a:r>
            <a:endParaRPr lang="en-US" sz="1200" dirty="0"/>
          </a:p>
        </p:txBody>
      </p:sp>
      <p:sp>
        <p:nvSpPr>
          <p:cNvPr id="46" name="Shape 43"/>
          <p:cNvSpPr/>
          <p:nvPr/>
        </p:nvSpPr>
        <p:spPr>
          <a:xfrm>
            <a:off x="4279392" y="4434840"/>
            <a:ext cx="1719072" cy="1298448"/>
          </a:xfrm>
          <a:prstGeom prst="roundRect">
            <a:avLst>
              <a:gd name="adj" fmla="val 8451"/>
            </a:avLst>
          </a:prstGeom>
          <a:solidFill>
            <a:srgbClr val="FFFFFF"/>
          </a:solidFill>
          <a:ln w="31750">
            <a:solidFill>
              <a:srgbClr val="0F9488"/>
            </a:solidFill>
            <a:prstDash val="dash"/>
          </a:ln>
        </p:spPr>
      </p:sp>
      <p:sp>
        <p:nvSpPr>
          <p:cNvPr id="47" name="Text 44"/>
          <p:cNvSpPr txBox="1"/>
          <p:nvPr/>
        </p:nvSpPr>
        <p:spPr>
          <a:xfrm>
            <a:off x="4279392" y="4617720"/>
            <a:ext cx="1719072" cy="548640"/>
          </a:xfrm>
          <a:prstGeom prst="rect">
            <a:avLst/>
          </a:prstGeom>
          <a:noFill/>
          <a:ln/>
        </p:spPr>
        <p:txBody>
          <a:bodyPr wrap="square" lIns="0" tIns="0" rIns="0" bIns="0" rtlCol="0" anchor="ctr"/>
          <a:lstStyle/>
          <a:p>
            <a:pPr algn="ctr" indent="0" marL="0">
              <a:buNone/>
            </a:pPr>
            <a:r>
              <a:rPr lang="en-US" sz="2000" b="1" dirty="0">
                <a:solidFill>
                  <a:srgbClr val="0F9488"/>
                </a:solidFill>
                <a:latin typeface="Courier New" pitchFamily="34" charset="0"/>
                <a:ea typeface="Courier New" pitchFamily="34" charset="-122"/>
                <a:cs typeface="Courier New" pitchFamily="34" charset="-120"/>
              </a:rPr>
              <a:t>sed</a:t>
            </a:r>
            <a:endParaRPr lang="en-US" sz="2000" dirty="0"/>
          </a:p>
        </p:txBody>
      </p:sp>
      <p:sp>
        <p:nvSpPr>
          <p:cNvPr id="48" name="Text 45"/>
          <p:cNvSpPr txBox="1"/>
          <p:nvPr/>
        </p:nvSpPr>
        <p:spPr>
          <a:xfrm>
            <a:off x="4279392" y="523951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8</a:t>
            </a:r>
            <a:endParaRPr lang="en-US" sz="1200" dirty="0"/>
          </a:p>
        </p:txBody>
      </p:sp>
      <p:sp>
        <p:nvSpPr>
          <p:cNvPr id="49" name="Shape 46"/>
          <p:cNvSpPr/>
          <p:nvPr/>
        </p:nvSpPr>
        <p:spPr>
          <a:xfrm>
            <a:off x="6144768" y="4434840"/>
            <a:ext cx="1719072" cy="1298448"/>
          </a:xfrm>
          <a:prstGeom prst="roundRect">
            <a:avLst>
              <a:gd name="adj" fmla="val 8451"/>
            </a:avLst>
          </a:prstGeom>
          <a:solidFill>
            <a:srgbClr val="FFFFFF"/>
          </a:solidFill>
          <a:ln w="31750">
            <a:solidFill>
              <a:srgbClr val="5B6EE1"/>
            </a:solidFill>
            <a:prstDash val="dash"/>
          </a:ln>
        </p:spPr>
      </p:sp>
      <p:sp>
        <p:nvSpPr>
          <p:cNvPr id="50" name="Text 47"/>
          <p:cNvSpPr txBox="1"/>
          <p:nvPr/>
        </p:nvSpPr>
        <p:spPr>
          <a:xfrm>
            <a:off x="6144768" y="4617720"/>
            <a:ext cx="1719072" cy="548640"/>
          </a:xfrm>
          <a:prstGeom prst="rect">
            <a:avLst/>
          </a:prstGeom>
          <a:noFill/>
          <a:ln/>
        </p:spPr>
        <p:txBody>
          <a:bodyPr wrap="square" lIns="0" tIns="0" rIns="0" bIns="0" rtlCol="0" anchor="ctr"/>
          <a:lstStyle/>
          <a:p>
            <a:pPr algn="ctr" indent="0" marL="0">
              <a:buNone/>
            </a:pPr>
            <a:r>
              <a:rPr lang="en-US" sz="2000" b="1" dirty="0">
                <a:solidFill>
                  <a:srgbClr val="5B6EE1"/>
                </a:solidFill>
                <a:latin typeface="Courier New" pitchFamily="34" charset="0"/>
                <a:ea typeface="Courier New" pitchFamily="34" charset="-122"/>
                <a:cs typeface="Courier New" pitchFamily="34" charset="-120"/>
              </a:rPr>
              <a:t>awk</a:t>
            </a:r>
            <a:endParaRPr lang="en-US" sz="2000" dirty="0"/>
          </a:p>
        </p:txBody>
      </p:sp>
      <p:sp>
        <p:nvSpPr>
          <p:cNvPr id="51" name="Text 48"/>
          <p:cNvSpPr txBox="1"/>
          <p:nvPr/>
        </p:nvSpPr>
        <p:spPr>
          <a:xfrm>
            <a:off x="6144768" y="523951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9</a:t>
            </a:r>
            <a:endParaRPr lang="en-US" sz="1200" dirty="0"/>
          </a:p>
        </p:txBody>
      </p:sp>
      <p:sp>
        <p:nvSpPr>
          <p:cNvPr id="52" name="Shape 49"/>
          <p:cNvSpPr/>
          <p:nvPr/>
        </p:nvSpPr>
        <p:spPr>
          <a:xfrm>
            <a:off x="8010144" y="4434840"/>
            <a:ext cx="1719072" cy="1298448"/>
          </a:xfrm>
          <a:prstGeom prst="roundRect">
            <a:avLst>
              <a:gd name="adj" fmla="val 8451"/>
            </a:avLst>
          </a:prstGeom>
          <a:solidFill>
            <a:srgbClr val="FFFFFF"/>
          </a:solidFill>
          <a:ln w="31750">
            <a:solidFill>
              <a:srgbClr val="B4233F"/>
            </a:solidFill>
            <a:prstDash val="dash"/>
          </a:ln>
        </p:spPr>
      </p:sp>
      <p:sp>
        <p:nvSpPr>
          <p:cNvPr id="53" name="Text 50"/>
          <p:cNvSpPr txBox="1"/>
          <p:nvPr/>
        </p:nvSpPr>
        <p:spPr>
          <a:xfrm>
            <a:off x="8010144" y="4617720"/>
            <a:ext cx="1719072" cy="548640"/>
          </a:xfrm>
          <a:prstGeom prst="rect">
            <a:avLst/>
          </a:prstGeom>
          <a:noFill/>
          <a:ln/>
        </p:spPr>
        <p:txBody>
          <a:bodyPr wrap="square" lIns="0" tIns="0" rIns="0" bIns="0" rtlCol="0" anchor="ctr"/>
          <a:lstStyle/>
          <a:p>
            <a:pPr algn="ctr" indent="0" marL="0">
              <a:buNone/>
            </a:pPr>
            <a:r>
              <a:rPr lang="en-US" sz="2000" b="1" dirty="0">
                <a:solidFill>
                  <a:srgbClr val="B4233F"/>
                </a:solidFill>
                <a:latin typeface="Courier New" pitchFamily="34" charset="0"/>
                <a:ea typeface="Courier New" pitchFamily="34" charset="-122"/>
                <a:cs typeface="Courier New" pitchFamily="34" charset="-120"/>
              </a:rPr>
              <a:t>cut</a:t>
            </a:r>
            <a:endParaRPr lang="en-US" sz="2000" dirty="0"/>
          </a:p>
        </p:txBody>
      </p:sp>
      <p:sp>
        <p:nvSpPr>
          <p:cNvPr id="54" name="Text 51"/>
          <p:cNvSpPr txBox="1"/>
          <p:nvPr/>
        </p:nvSpPr>
        <p:spPr>
          <a:xfrm>
            <a:off x="8010144" y="523951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10</a:t>
            </a:r>
            <a:endParaRPr lang="en-US" sz="1200" dirty="0"/>
          </a:p>
        </p:txBody>
      </p:sp>
      <p:sp>
        <p:nvSpPr>
          <p:cNvPr id="55" name="Shape 52"/>
          <p:cNvSpPr/>
          <p:nvPr/>
        </p:nvSpPr>
        <p:spPr>
          <a:xfrm>
            <a:off x="9875520" y="4434840"/>
            <a:ext cx="1719072" cy="1298448"/>
          </a:xfrm>
          <a:prstGeom prst="roundRect">
            <a:avLst>
              <a:gd name="adj" fmla="val 8451"/>
            </a:avLst>
          </a:prstGeom>
          <a:solidFill>
            <a:srgbClr val="FFFFFF"/>
          </a:solidFill>
          <a:ln w="31750">
            <a:solidFill>
              <a:srgbClr val="56657E"/>
            </a:solidFill>
            <a:prstDash val="dash"/>
          </a:ln>
        </p:spPr>
      </p:sp>
      <p:sp>
        <p:nvSpPr>
          <p:cNvPr id="56" name="Text 53"/>
          <p:cNvSpPr txBox="1"/>
          <p:nvPr/>
        </p:nvSpPr>
        <p:spPr>
          <a:xfrm>
            <a:off x="9875520" y="4617720"/>
            <a:ext cx="1719072" cy="548640"/>
          </a:xfrm>
          <a:prstGeom prst="rect">
            <a:avLst/>
          </a:prstGeom>
          <a:noFill/>
          <a:ln/>
        </p:spPr>
        <p:txBody>
          <a:bodyPr wrap="square" lIns="0" tIns="0" rIns="0" bIns="0" rtlCol="0" anchor="ctr"/>
          <a:lstStyle/>
          <a:p>
            <a:pPr algn="ctr" indent="0" marL="0">
              <a:buNone/>
            </a:pPr>
            <a:r>
              <a:rPr lang="en-US" sz="2000" b="1" dirty="0">
                <a:solidFill>
                  <a:srgbClr val="56657E"/>
                </a:solidFill>
                <a:latin typeface="Courier New" pitchFamily="34" charset="0"/>
                <a:ea typeface="Courier New" pitchFamily="34" charset="-122"/>
                <a:cs typeface="Courier New" pitchFamily="34" charset="-120"/>
              </a:rPr>
              <a:t>sha256sum</a:t>
            </a:r>
            <a:endParaRPr lang="en-US" sz="2000" dirty="0"/>
          </a:p>
        </p:txBody>
      </p:sp>
      <p:sp>
        <p:nvSpPr>
          <p:cNvPr id="57" name="Text 54"/>
          <p:cNvSpPr txBox="1"/>
          <p:nvPr/>
        </p:nvSpPr>
        <p:spPr>
          <a:xfrm>
            <a:off x="9875520" y="5239512"/>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Debrief</a:t>
            </a:r>
            <a:endParaRPr lang="en-US" sz="1200" dirty="0"/>
          </a:p>
        </p:txBody>
      </p:sp>
      <p:sp>
        <p:nvSpPr>
          <p:cNvPr id="58" name="Text 55"/>
          <p:cNvSpPr txBox="1"/>
          <p:nvPr/>
        </p:nvSpPr>
        <p:spPr>
          <a:xfrm>
            <a:off x="548640" y="6035040"/>
            <a:ext cx="11094415" cy="320040"/>
          </a:xfrm>
          <a:prstGeom prst="rect">
            <a:avLst/>
          </a:prstGeom>
          <a:noFill/>
          <a:ln/>
        </p:spPr>
        <p:txBody>
          <a:bodyPr wrap="square" lIns="0" tIns="0" rIns="0" bIns="0" rtlCol="0" anchor="t"/>
          <a:lstStyle/>
          <a:p>
            <a:pPr indent="0" marL="0">
              <a:buNone/>
            </a:pPr>
            <a:r>
              <a:rPr lang="en-US" sz="1500" b="1" dirty="0">
                <a:solidFill>
                  <a:srgbClr val="12213A"/>
                </a:solidFill>
                <a:latin typeface="Calibri" pitchFamily="34" charset="0"/>
                <a:ea typeface="Calibri" pitchFamily="34" charset="-122"/>
                <a:cs typeface="Calibri" pitchFamily="34" charset="-120"/>
              </a:rPr>
              <a:t>Eighteen tools, used on a real Linux system, in one session.</a:t>
            </a:r>
            <a:endParaRPr lang="en-US" sz="1500" dirty="0"/>
          </a:p>
        </p:txBody>
      </p:sp>
      <p:sp>
        <p:nvSpPr>
          <p:cNvPr id="59" name="Text 56"/>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50 / 79</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What you just did is the job</a:t>
            </a:r>
            <a:endParaRPr lang="en-US" sz="3200" dirty="0"/>
          </a:p>
        </p:txBody>
      </p:sp>
      <p:sp>
        <p:nvSpPr>
          <p:cNvPr id="4" name="Shape 1"/>
          <p:cNvSpPr/>
          <p:nvPr/>
        </p:nvSpPr>
        <p:spPr>
          <a:xfrm>
            <a:off x="548640" y="1554480"/>
            <a:ext cx="731520" cy="731520"/>
          </a:xfrm>
          <a:prstGeom prst="ellipse">
            <a:avLst/>
          </a:prstGeom>
          <a:solidFill>
            <a:srgbClr val="17875A"/>
          </a:solidFill>
          <a:ln/>
        </p:spPr>
      </p:sp>
      <p:pic>
        <p:nvPicPr>
          <p:cNvPr id="5" name="Image 0" descr="preencoded.png">    </p:cNvPr>
          <p:cNvPicPr>
            <a:picLocks noChangeAspect="1"/>
          </p:cNvPicPr>
          <p:nvPr/>
        </p:nvPicPr>
        <p:blipFill>
          <a:blip r:embed="rId1"/>
          <a:stretch>
            <a:fillRect/>
          </a:stretch>
        </p:blipFill>
        <p:spPr>
          <a:xfrm>
            <a:off x="731520" y="1737360"/>
            <a:ext cx="365760" cy="365760"/>
          </a:xfrm>
          <a:prstGeom prst="rect">
            <a:avLst/>
          </a:prstGeom>
        </p:spPr>
      </p:pic>
      <p:sp>
        <p:nvSpPr>
          <p:cNvPr id="6" name="Text 2"/>
          <p:cNvSpPr txBox="1"/>
          <p:nvPr/>
        </p:nvSpPr>
        <p:spPr>
          <a:xfrm>
            <a:off x="1508760" y="1554480"/>
            <a:ext cx="5486400" cy="365760"/>
          </a:xfrm>
          <a:prstGeom prst="rect">
            <a:avLst/>
          </a:prstGeom>
          <a:noFill/>
          <a:ln/>
        </p:spPr>
        <p:txBody>
          <a:bodyPr wrap="square" lIns="0" tIns="0" rIns="0" bIns="0" rtlCol="0" anchor="t"/>
          <a:lstStyle/>
          <a:p>
            <a:pPr indent="0" marL="0">
              <a:buNone/>
            </a:pPr>
            <a:r>
              <a:rPr lang="en-US" sz="1800" b="1" dirty="0">
                <a:solidFill>
                  <a:srgbClr val="12213A"/>
                </a:solidFill>
                <a:latin typeface="Courier New" pitchFamily="34" charset="0"/>
                <a:ea typeface="Courier New" pitchFamily="34" charset="-122"/>
                <a:cs typeface="Courier New" pitchFamily="34" charset="-120"/>
              </a:rPr>
              <a:t>cd, ls and ls -a</a:t>
            </a:r>
            <a:endParaRPr lang="en-US" sz="1800" dirty="0"/>
          </a:p>
        </p:txBody>
      </p:sp>
      <p:sp>
        <p:nvSpPr>
          <p:cNvPr id="7" name="Text 3"/>
          <p:cNvSpPr txBox="1"/>
          <p:nvPr/>
        </p:nvSpPr>
        <p:spPr>
          <a:xfrm>
            <a:off x="1508760" y="1938528"/>
            <a:ext cx="5669280" cy="41148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Finding your way around an unfamiliar server, hidden files included</a:t>
            </a:r>
            <a:endParaRPr lang="en-US" sz="1600" dirty="0"/>
          </a:p>
        </p:txBody>
      </p:sp>
      <p:sp>
        <p:nvSpPr>
          <p:cNvPr id="8" name="Shape 4"/>
          <p:cNvSpPr/>
          <p:nvPr/>
        </p:nvSpPr>
        <p:spPr>
          <a:xfrm>
            <a:off x="548640" y="2651760"/>
            <a:ext cx="731520" cy="731520"/>
          </a:xfrm>
          <a:prstGeom prst="ellipse">
            <a:avLst/>
          </a:prstGeom>
          <a:solidFill>
            <a:srgbClr val="7448D4"/>
          </a:solidFill>
          <a:ln/>
        </p:spPr>
      </p:sp>
      <p:pic>
        <p:nvPicPr>
          <p:cNvPr id="9" name="Image 1" descr="preencoded.png">    </p:cNvPr>
          <p:cNvPicPr>
            <a:picLocks noChangeAspect="1"/>
          </p:cNvPicPr>
          <p:nvPr/>
        </p:nvPicPr>
        <p:blipFill>
          <a:blip r:embed="rId2"/>
          <a:stretch>
            <a:fillRect/>
          </a:stretch>
        </p:blipFill>
        <p:spPr>
          <a:xfrm>
            <a:off x="731520" y="2834640"/>
            <a:ext cx="365760" cy="365760"/>
          </a:xfrm>
          <a:prstGeom prst="rect">
            <a:avLst/>
          </a:prstGeom>
        </p:spPr>
      </p:pic>
      <p:sp>
        <p:nvSpPr>
          <p:cNvPr id="10" name="Text 5"/>
          <p:cNvSpPr txBox="1"/>
          <p:nvPr/>
        </p:nvSpPr>
        <p:spPr>
          <a:xfrm>
            <a:off x="1508760" y="2651760"/>
            <a:ext cx="5486400" cy="365760"/>
          </a:xfrm>
          <a:prstGeom prst="rect">
            <a:avLst/>
          </a:prstGeom>
          <a:noFill/>
          <a:ln/>
        </p:spPr>
        <p:txBody>
          <a:bodyPr wrap="square" lIns="0" tIns="0" rIns="0" bIns="0" rtlCol="0" anchor="t"/>
          <a:lstStyle/>
          <a:p>
            <a:pPr indent="0" marL="0">
              <a:buNone/>
            </a:pPr>
            <a:r>
              <a:rPr lang="en-US" sz="1800" b="1" dirty="0">
                <a:solidFill>
                  <a:srgbClr val="12213A"/>
                </a:solidFill>
                <a:latin typeface="Courier New" pitchFamily="34" charset="0"/>
                <a:ea typeface="Courier New" pitchFamily="34" charset="-122"/>
                <a:cs typeface="Courier New" pitchFamily="34" charset="-120"/>
              </a:rPr>
              <a:t>find and grep</a:t>
            </a:r>
            <a:endParaRPr lang="en-US" sz="1800" dirty="0"/>
          </a:p>
        </p:txBody>
      </p:sp>
      <p:sp>
        <p:nvSpPr>
          <p:cNvPr id="11" name="Text 6"/>
          <p:cNvSpPr txBox="1"/>
          <p:nvPr/>
        </p:nvSpPr>
        <p:spPr>
          <a:xfrm>
            <a:off x="1508760" y="3035808"/>
            <a:ext cx="5669280" cy="41148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Searching servers and logs for the one line that shows an intruder</a:t>
            </a:r>
            <a:endParaRPr lang="en-US" sz="1600" dirty="0"/>
          </a:p>
        </p:txBody>
      </p:sp>
      <p:sp>
        <p:nvSpPr>
          <p:cNvPr id="12" name="Shape 7"/>
          <p:cNvSpPr/>
          <p:nvPr/>
        </p:nvSpPr>
        <p:spPr>
          <a:xfrm>
            <a:off x="548640" y="3749040"/>
            <a:ext cx="731520" cy="731520"/>
          </a:xfrm>
          <a:prstGeom prst="ellipse">
            <a:avLst/>
          </a:prstGeom>
          <a:solidFill>
            <a:srgbClr val="2A9FD6"/>
          </a:solidFill>
          <a:ln/>
        </p:spPr>
      </p:sp>
      <p:pic>
        <p:nvPicPr>
          <p:cNvPr id="13" name="Image 2" descr="preencoded.png">    </p:cNvPr>
          <p:cNvPicPr>
            <a:picLocks noChangeAspect="1"/>
          </p:cNvPicPr>
          <p:nvPr/>
        </p:nvPicPr>
        <p:blipFill>
          <a:blip r:embed="rId3"/>
          <a:stretch>
            <a:fillRect/>
          </a:stretch>
        </p:blipFill>
        <p:spPr>
          <a:xfrm>
            <a:off x="731520" y="3931920"/>
            <a:ext cx="365760" cy="365760"/>
          </a:xfrm>
          <a:prstGeom prst="rect">
            <a:avLst/>
          </a:prstGeom>
        </p:spPr>
      </p:pic>
      <p:sp>
        <p:nvSpPr>
          <p:cNvPr id="14" name="Text 8"/>
          <p:cNvSpPr txBox="1"/>
          <p:nvPr/>
        </p:nvSpPr>
        <p:spPr>
          <a:xfrm>
            <a:off x="1508760" y="3749040"/>
            <a:ext cx="5486400" cy="365760"/>
          </a:xfrm>
          <a:prstGeom prst="rect">
            <a:avLst/>
          </a:prstGeom>
          <a:noFill/>
          <a:ln/>
        </p:spPr>
        <p:txBody>
          <a:bodyPr wrap="square" lIns="0" tIns="0" rIns="0" bIns="0" rtlCol="0" anchor="t"/>
          <a:lstStyle/>
          <a:p>
            <a:pPr indent="0" marL="0">
              <a:buNone/>
            </a:pPr>
            <a:r>
              <a:rPr lang="en-US" sz="1800" b="1" dirty="0">
                <a:solidFill>
                  <a:srgbClr val="12213A"/>
                </a:solidFill>
                <a:latin typeface="Courier New" pitchFamily="34" charset="0"/>
                <a:ea typeface="Courier New" pitchFamily="34" charset="-122"/>
                <a:cs typeface="Courier New" pitchFamily="34" charset="-120"/>
              </a:rPr>
              <a:t>--help</a:t>
            </a:r>
            <a:endParaRPr lang="en-US" sz="1800" dirty="0"/>
          </a:p>
        </p:txBody>
      </p:sp>
      <p:sp>
        <p:nvSpPr>
          <p:cNvPr id="15" name="Text 9"/>
          <p:cNvSpPr txBox="1"/>
          <p:nvPr/>
        </p:nvSpPr>
        <p:spPr>
          <a:xfrm>
            <a:off x="1508760" y="4133088"/>
            <a:ext cx="5669280" cy="41148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Learning a new tool in minutes, without anyone teaching you</a:t>
            </a:r>
            <a:endParaRPr lang="en-US" sz="1600" dirty="0"/>
          </a:p>
        </p:txBody>
      </p:sp>
      <p:sp>
        <p:nvSpPr>
          <p:cNvPr id="16" name="Shape 10"/>
          <p:cNvSpPr/>
          <p:nvPr/>
        </p:nvSpPr>
        <p:spPr>
          <a:xfrm>
            <a:off x="548640" y="4846320"/>
            <a:ext cx="731520" cy="731520"/>
          </a:xfrm>
          <a:prstGeom prst="ellipse">
            <a:avLst/>
          </a:prstGeom>
          <a:solidFill>
            <a:srgbClr val="D1416B"/>
          </a:solidFill>
          <a:ln/>
        </p:spPr>
      </p:sp>
      <p:pic>
        <p:nvPicPr>
          <p:cNvPr id="17" name="Image 3" descr="preencoded.png">    </p:cNvPr>
          <p:cNvPicPr>
            <a:picLocks noChangeAspect="1"/>
          </p:cNvPicPr>
          <p:nvPr/>
        </p:nvPicPr>
        <p:blipFill>
          <a:blip r:embed="rId4"/>
          <a:stretch>
            <a:fillRect/>
          </a:stretch>
        </p:blipFill>
        <p:spPr>
          <a:xfrm>
            <a:off x="731520" y="5029200"/>
            <a:ext cx="365760" cy="365760"/>
          </a:xfrm>
          <a:prstGeom prst="rect">
            <a:avLst/>
          </a:prstGeom>
        </p:spPr>
      </p:pic>
      <p:sp>
        <p:nvSpPr>
          <p:cNvPr id="18" name="Text 11"/>
          <p:cNvSpPr txBox="1"/>
          <p:nvPr/>
        </p:nvSpPr>
        <p:spPr>
          <a:xfrm>
            <a:off x="1508760" y="4846320"/>
            <a:ext cx="5486400" cy="365760"/>
          </a:xfrm>
          <a:prstGeom prst="rect">
            <a:avLst/>
          </a:prstGeom>
          <a:noFill/>
          <a:ln/>
        </p:spPr>
        <p:txBody>
          <a:bodyPr wrap="square" lIns="0" tIns="0" rIns="0" bIns="0" rtlCol="0" anchor="t"/>
          <a:lstStyle/>
          <a:p>
            <a:pPr indent="0" marL="0">
              <a:buNone/>
            </a:pPr>
            <a:r>
              <a:rPr lang="en-US" sz="1800" b="1" dirty="0">
                <a:solidFill>
                  <a:srgbClr val="12213A"/>
                </a:solidFill>
                <a:latin typeface="Courier New" pitchFamily="34" charset="0"/>
                <a:ea typeface="Courier New" pitchFamily="34" charset="-122"/>
                <a:cs typeface="Courier New" pitchFamily="34" charset="-120"/>
              </a:rPr>
              <a:t>sed and awk</a:t>
            </a:r>
            <a:endParaRPr lang="en-US" sz="1800" dirty="0"/>
          </a:p>
        </p:txBody>
      </p:sp>
      <p:sp>
        <p:nvSpPr>
          <p:cNvPr id="19" name="Text 12"/>
          <p:cNvSpPr txBox="1"/>
          <p:nvPr/>
        </p:nvSpPr>
        <p:spPr>
          <a:xfrm>
            <a:off x="1508760" y="5230368"/>
            <a:ext cx="5669280" cy="41148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Cleaning up messy data and pulling out the fields that matter</a:t>
            </a:r>
            <a:endParaRPr lang="en-US" sz="1600" dirty="0"/>
          </a:p>
        </p:txBody>
      </p:sp>
      <p:sp>
        <p:nvSpPr>
          <p:cNvPr id="20" name="Shape 13"/>
          <p:cNvSpPr/>
          <p:nvPr/>
        </p:nvSpPr>
        <p:spPr>
          <a:xfrm>
            <a:off x="7406640" y="1554480"/>
            <a:ext cx="4233672" cy="4343400"/>
          </a:xfrm>
          <a:prstGeom prst="roundRect">
            <a:avLst>
              <a:gd name="adj" fmla="val 2160"/>
            </a:avLst>
          </a:prstGeom>
          <a:solidFill>
            <a:srgbClr val="F1F5FB"/>
          </a:solidFill>
          <a:ln/>
        </p:spPr>
      </p:sp>
      <p:sp>
        <p:nvSpPr>
          <p:cNvPr id="21" name="Text 14"/>
          <p:cNvSpPr txBox="1"/>
          <p:nvPr/>
        </p:nvSpPr>
        <p:spPr>
          <a:xfrm>
            <a:off x="7726680" y="1783080"/>
            <a:ext cx="3657600" cy="411480"/>
          </a:xfrm>
          <a:prstGeom prst="rect">
            <a:avLst/>
          </a:prstGeom>
          <a:noFill/>
          <a:ln/>
        </p:spPr>
        <p:txBody>
          <a:bodyPr wrap="square" lIns="0" tIns="0" rIns="0" bIns="0" rtlCol="0" anchor="t"/>
          <a:lstStyle/>
          <a:p>
            <a:pPr indent="0" marL="0">
              <a:buNone/>
            </a:pPr>
            <a:r>
              <a:rPr lang="en-US" sz="2000" b="1" dirty="0">
                <a:solidFill>
                  <a:srgbClr val="12213A"/>
                </a:solidFill>
                <a:latin typeface="Arial" pitchFamily="34" charset="0"/>
                <a:ea typeface="Arial" pitchFamily="34" charset="-122"/>
                <a:cs typeface="Arial" pitchFamily="34" charset="-120"/>
              </a:rPr>
              <a:t>Ask the room</a:t>
            </a:r>
            <a:endParaRPr lang="en-US" sz="2000" dirty="0"/>
          </a:p>
        </p:txBody>
      </p:sp>
      <p:sp>
        <p:nvSpPr>
          <p:cNvPr id="22" name="Text 15"/>
          <p:cNvSpPr txBox="1"/>
          <p:nvPr/>
        </p:nvSpPr>
        <p:spPr>
          <a:xfrm>
            <a:off x="7726680" y="2377440"/>
            <a:ext cx="3657600" cy="3291840"/>
          </a:xfrm>
          <a:prstGeom prst="rect">
            <a:avLst/>
          </a:prstGeom>
          <a:noFill/>
          <a:ln/>
        </p:spPr>
        <p:txBody>
          <a:bodyPr wrap="square" lIns="0" tIns="0" rIns="0" bIns="0" rtlCol="0" anchor="t"/>
          <a:lstStyle/>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Which mission had your biggest Took time? Why?</a:t>
            </a:r>
            <a:endParaRPr lang="en-US" sz="1600" dirty="0"/>
          </a:p>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Which command will you remember next week?</a:t>
            </a:r>
            <a:endParaRPr lang="en-US" sz="1600" dirty="0"/>
          </a:p>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If you defended the server in mission 5, how would you catch the intruder sooner?</a:t>
            </a:r>
            <a:endParaRPr lang="en-US" sz="1600" dirty="0"/>
          </a:p>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Where have you seen something 'hidden' that wasn't really secret?</a:t>
            </a:r>
            <a:endParaRPr lang="en-US" sz="1600" dirty="0"/>
          </a:p>
        </p:txBody>
      </p:sp>
      <p:sp>
        <p:nvSpPr>
          <p:cNvPr id="23" name="Text 16"/>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51 / 79</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Keep climbing</a:t>
            </a:r>
            <a:endParaRPr lang="en-US" sz="3200" dirty="0"/>
          </a:p>
        </p:txBody>
      </p:sp>
      <p:sp>
        <p:nvSpPr>
          <p:cNvPr id="4" name="Shape 1"/>
          <p:cNvSpPr/>
          <p:nvPr/>
        </p:nvSpPr>
        <p:spPr>
          <a:xfrm>
            <a:off x="548640" y="1554480"/>
            <a:ext cx="3566160" cy="3017520"/>
          </a:xfrm>
          <a:prstGeom prst="roundRect">
            <a:avLst>
              <a:gd name="adj" fmla="val 3030"/>
            </a:avLst>
          </a:prstGeom>
          <a:solidFill>
            <a:srgbClr val="F1F5FB"/>
          </a:solidFill>
          <a:ln/>
        </p:spPr>
      </p:sp>
      <p:sp>
        <p:nvSpPr>
          <p:cNvPr id="5" name="Text 2"/>
          <p:cNvSpPr txBox="1"/>
          <p:nvPr/>
        </p:nvSpPr>
        <p:spPr>
          <a:xfrm>
            <a:off x="822960" y="1783080"/>
            <a:ext cx="3108960" cy="457200"/>
          </a:xfrm>
          <a:prstGeom prst="rect">
            <a:avLst/>
          </a:prstGeom>
          <a:noFill/>
          <a:ln/>
        </p:spPr>
        <p:txBody>
          <a:bodyPr wrap="square" lIns="0" tIns="0" rIns="0" bIns="0" rtlCol="0" anchor="t"/>
          <a:lstStyle/>
          <a:p>
            <a:pPr indent="0" marL="0">
              <a:buNone/>
            </a:pPr>
            <a:r>
              <a:rPr lang="en-US" sz="2000" b="1" dirty="0">
                <a:solidFill>
                  <a:srgbClr val="2459D8"/>
                </a:solidFill>
                <a:latin typeface="Arial" pitchFamily="34" charset="0"/>
                <a:ea typeface="Arial" pitchFamily="34" charset="-122"/>
                <a:cs typeface="Arial" pitchFamily="34" charset="-120"/>
              </a:rPr>
              <a:t>Next: CyberQuest</a:t>
            </a:r>
            <a:endParaRPr lang="en-US" sz="2000" dirty="0"/>
          </a:p>
        </p:txBody>
      </p:sp>
      <p:sp>
        <p:nvSpPr>
          <p:cNvPr id="6" name="Text 3"/>
          <p:cNvSpPr txBox="1"/>
          <p:nvPr/>
        </p:nvSpPr>
        <p:spPr>
          <a:xfrm>
            <a:off x="822960" y="2331720"/>
            <a:ext cx="3108960" cy="457200"/>
          </a:xfrm>
          <a:prstGeom prst="rect">
            <a:avLst/>
          </a:prstGeom>
          <a:noFill/>
          <a:ln/>
        </p:spPr>
        <p:txBody>
          <a:bodyPr wrap="square" lIns="0" tIns="0" rIns="0" bIns="0" rtlCol="0" anchor="t"/>
          <a:lstStyle/>
          <a:p>
            <a:pPr indent="0" marL="0">
              <a:buNone/>
            </a:pPr>
            <a:r>
              <a:rPr lang="en-US" sz="1300" b="1" dirty="0">
                <a:solidFill>
                  <a:srgbClr val="12213A"/>
                </a:solidFill>
                <a:latin typeface="Courier New" pitchFamily="34" charset="0"/>
                <a:ea typeface="Courier New" pitchFamily="34" charset="-122"/>
                <a:cs typeface="Courier New" pitchFamily="34" charset="-120"/>
              </a:rPr>
              <a:t>[CyberQuest Academy link]</a:t>
            </a:r>
            <a:endParaRPr lang="en-US" sz="1300" dirty="0"/>
          </a:p>
        </p:txBody>
      </p:sp>
      <p:sp>
        <p:nvSpPr>
          <p:cNvPr id="7" name="Text 4"/>
          <p:cNvSpPr txBox="1"/>
          <p:nvPr/>
        </p:nvSpPr>
        <p:spPr>
          <a:xfrm>
            <a:off x="822960" y="2880360"/>
            <a:ext cx="3017520" cy="155448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More CTFs, live scoreboards and harder missions are waiting for you there.</a:t>
            </a:r>
            <a:endParaRPr lang="en-US" sz="1600" dirty="0"/>
          </a:p>
        </p:txBody>
      </p:sp>
      <p:sp>
        <p:nvSpPr>
          <p:cNvPr id="8" name="Shape 5"/>
          <p:cNvSpPr/>
          <p:nvPr/>
        </p:nvSpPr>
        <p:spPr>
          <a:xfrm>
            <a:off x="4306824" y="1554480"/>
            <a:ext cx="3566160" cy="3017520"/>
          </a:xfrm>
          <a:prstGeom prst="roundRect">
            <a:avLst>
              <a:gd name="adj" fmla="val 3030"/>
            </a:avLst>
          </a:prstGeom>
          <a:solidFill>
            <a:srgbClr val="F1F5FB"/>
          </a:solidFill>
          <a:ln/>
        </p:spPr>
      </p:sp>
      <p:sp>
        <p:nvSpPr>
          <p:cNvPr id="9" name="Text 6"/>
          <p:cNvSpPr txBox="1"/>
          <p:nvPr/>
        </p:nvSpPr>
        <p:spPr>
          <a:xfrm>
            <a:off x="4581144" y="1783080"/>
            <a:ext cx="3108960" cy="457200"/>
          </a:xfrm>
          <a:prstGeom prst="rect">
            <a:avLst/>
          </a:prstGeom>
          <a:noFill/>
          <a:ln/>
        </p:spPr>
        <p:txBody>
          <a:bodyPr wrap="square" lIns="0" tIns="0" rIns="0" bIns="0" rtlCol="0" anchor="t"/>
          <a:lstStyle/>
          <a:p>
            <a:pPr indent="0" marL="0">
              <a:buNone/>
            </a:pPr>
            <a:r>
              <a:rPr lang="en-US" sz="2000" b="1" dirty="0">
                <a:solidFill>
                  <a:srgbClr val="7448D4"/>
                </a:solidFill>
                <a:latin typeface="Arial" pitchFamily="34" charset="0"/>
                <a:ea typeface="Arial" pitchFamily="34" charset="-122"/>
                <a:cs typeface="Arial" pitchFamily="34" charset="-120"/>
              </a:rPr>
              <a:t>Replay the Linux CTF</a:t>
            </a:r>
            <a:endParaRPr lang="en-US" sz="2000" dirty="0"/>
          </a:p>
        </p:txBody>
      </p:sp>
      <p:sp>
        <p:nvSpPr>
          <p:cNvPr id="10" name="Text 7"/>
          <p:cNvSpPr txBox="1"/>
          <p:nvPr/>
        </p:nvSpPr>
        <p:spPr>
          <a:xfrm>
            <a:off x="4581144" y="2331720"/>
            <a:ext cx="3108960" cy="457200"/>
          </a:xfrm>
          <a:prstGeom prst="rect">
            <a:avLst/>
          </a:prstGeom>
          <a:noFill/>
          <a:ln/>
        </p:spPr>
        <p:txBody>
          <a:bodyPr wrap="square" lIns="0" tIns="0" rIns="0" bIns="0" rtlCol="0" anchor="t"/>
          <a:lstStyle/>
          <a:p>
            <a:pPr indent="0" marL="0">
              <a:buNone/>
            </a:pPr>
            <a:r>
              <a:rPr lang="en-US" sz="1300" b="1" dirty="0">
                <a:solidFill>
                  <a:srgbClr val="12213A"/>
                </a:solidFill>
                <a:latin typeface="Courier New" pitchFamily="34" charset="0"/>
                <a:ea typeface="Courier New" pitchFamily="34" charset="-122"/>
                <a:cs typeface="Courier New" pitchFamily="34" charset="-120"/>
              </a:rPr>
              <a:t>[your CTF link]</a:t>
            </a:r>
            <a:endParaRPr lang="en-US" sz="1300" dirty="0"/>
          </a:p>
        </p:txBody>
      </p:sp>
      <p:sp>
        <p:nvSpPr>
          <p:cNvPr id="11" name="Text 8"/>
          <p:cNvSpPr txBox="1"/>
          <p:nvPr/>
        </p:nvSpPr>
        <p:spPr>
          <a:xfrm>
            <a:off x="4581144" y="2880360"/>
            <a:ext cx="3017520" cy="155448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Works at home. Every replay hides six new flags. Beat your time.</a:t>
            </a:r>
            <a:endParaRPr lang="en-US" sz="1600" dirty="0"/>
          </a:p>
        </p:txBody>
      </p:sp>
      <p:sp>
        <p:nvSpPr>
          <p:cNvPr id="12" name="Shape 9"/>
          <p:cNvSpPr/>
          <p:nvPr/>
        </p:nvSpPr>
        <p:spPr>
          <a:xfrm>
            <a:off x="8065008" y="1554480"/>
            <a:ext cx="3566160" cy="3017520"/>
          </a:xfrm>
          <a:prstGeom prst="roundRect">
            <a:avLst>
              <a:gd name="adj" fmla="val 3030"/>
            </a:avLst>
          </a:prstGeom>
          <a:solidFill>
            <a:srgbClr val="F1F5FB"/>
          </a:solidFill>
          <a:ln/>
        </p:spPr>
      </p:sp>
      <p:sp>
        <p:nvSpPr>
          <p:cNvPr id="13" name="Text 10"/>
          <p:cNvSpPr txBox="1"/>
          <p:nvPr/>
        </p:nvSpPr>
        <p:spPr>
          <a:xfrm>
            <a:off x="8339328" y="1783080"/>
            <a:ext cx="3108960" cy="457200"/>
          </a:xfrm>
          <a:prstGeom prst="rect">
            <a:avLst/>
          </a:prstGeom>
          <a:noFill/>
          <a:ln/>
        </p:spPr>
        <p:txBody>
          <a:bodyPr wrap="square" lIns="0" tIns="0" rIns="0" bIns="0" rtlCol="0" anchor="t"/>
          <a:lstStyle/>
          <a:p>
            <a:pPr indent="0" marL="0">
              <a:buNone/>
            </a:pPr>
            <a:r>
              <a:rPr lang="en-US" sz="2000" b="1" dirty="0">
                <a:solidFill>
                  <a:srgbClr val="D1416B"/>
                </a:solidFill>
                <a:latin typeface="Arial" pitchFamily="34" charset="0"/>
                <a:ea typeface="Arial" pitchFamily="34" charset="-122"/>
                <a:cs typeface="Arial" pitchFamily="34" charset="-120"/>
              </a:rPr>
              <a:t>Teach someone</a:t>
            </a:r>
            <a:endParaRPr lang="en-US" sz="2000" dirty="0"/>
          </a:p>
        </p:txBody>
      </p:sp>
      <p:sp>
        <p:nvSpPr>
          <p:cNvPr id="14" name="Text 11"/>
          <p:cNvSpPr txBox="1"/>
          <p:nvPr/>
        </p:nvSpPr>
        <p:spPr>
          <a:xfrm>
            <a:off x="8339328" y="2331720"/>
            <a:ext cx="3108960" cy="457200"/>
          </a:xfrm>
          <a:prstGeom prst="rect">
            <a:avLst/>
          </a:prstGeom>
          <a:noFill/>
          <a:ln/>
        </p:spPr>
        <p:txBody>
          <a:bodyPr wrap="square" lIns="0" tIns="0" rIns="0" bIns="0" rtlCol="0" anchor="t"/>
          <a:lstStyle/>
          <a:p>
            <a:pPr indent="0" marL="0">
              <a:buNone/>
            </a:pPr>
            <a:r>
              <a:rPr lang="en-US" sz="1300" b="1" dirty="0">
                <a:solidFill>
                  <a:srgbClr val="12213A"/>
                </a:solidFill>
                <a:latin typeface="Courier New" pitchFamily="34" charset="0"/>
                <a:ea typeface="Courier New" pitchFamily="34" charset="-122"/>
                <a:cs typeface="Courier New" pitchFamily="34" charset="-120"/>
              </a:rPr>
              <a:t>cd, ls -a, grep, --help</a:t>
            </a:r>
            <a:endParaRPr lang="en-US" sz="1300" dirty="0"/>
          </a:p>
        </p:txBody>
      </p:sp>
      <p:sp>
        <p:nvSpPr>
          <p:cNvPr id="15" name="Text 12"/>
          <p:cNvSpPr txBox="1"/>
          <p:nvPr/>
        </p:nvSpPr>
        <p:spPr>
          <a:xfrm>
            <a:off x="8339328" y="2880360"/>
            <a:ext cx="3017520" cy="155448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Show a friend or family member one trick from today. Teaching is the fastest way to remember.</a:t>
            </a:r>
            <a:endParaRPr lang="en-US" sz="1600" dirty="0"/>
          </a:p>
        </p:txBody>
      </p:sp>
      <p:sp>
        <p:nvSpPr>
          <p:cNvPr id="16" name="Shape 13"/>
          <p:cNvSpPr/>
          <p:nvPr/>
        </p:nvSpPr>
        <p:spPr>
          <a:xfrm>
            <a:off x="548640" y="4846320"/>
            <a:ext cx="11094415" cy="1051560"/>
          </a:xfrm>
          <a:prstGeom prst="roundRect">
            <a:avLst>
              <a:gd name="adj" fmla="val 8696"/>
            </a:avLst>
          </a:prstGeom>
          <a:solidFill>
            <a:srgbClr val="0E1726"/>
          </a:solidFill>
          <a:ln/>
          <a:effectLst>
            <a:outerShdw sx="100000" sy="100000" kx="0" ky="0" algn="bl" rotWithShape="0" blurRad="127000" dist="38100" dir="5400000">
              <a:srgbClr val="12213A">
                <a:alpha val="22000"/>
              </a:srgbClr>
            </a:outerShdw>
          </a:effectLst>
        </p:spPr>
      </p:sp>
      <p:sp>
        <p:nvSpPr>
          <p:cNvPr id="17" name="Shape 14"/>
          <p:cNvSpPr/>
          <p:nvPr/>
        </p:nvSpPr>
        <p:spPr>
          <a:xfrm>
            <a:off x="749808" y="5001768"/>
            <a:ext cx="118872" cy="118872"/>
          </a:xfrm>
          <a:prstGeom prst="ellipse">
            <a:avLst/>
          </a:prstGeom>
          <a:solidFill>
            <a:srgbClr val="E5534B"/>
          </a:solidFill>
          <a:ln/>
        </p:spPr>
      </p:sp>
      <p:sp>
        <p:nvSpPr>
          <p:cNvPr id="18" name="Shape 15"/>
          <p:cNvSpPr/>
          <p:nvPr/>
        </p:nvSpPr>
        <p:spPr>
          <a:xfrm>
            <a:off x="950976" y="5001768"/>
            <a:ext cx="118872" cy="118872"/>
          </a:xfrm>
          <a:prstGeom prst="ellipse">
            <a:avLst/>
          </a:prstGeom>
          <a:solidFill>
            <a:srgbClr val="F5A623"/>
          </a:solidFill>
          <a:ln/>
        </p:spPr>
      </p:sp>
      <p:sp>
        <p:nvSpPr>
          <p:cNvPr id="19" name="Shape 16"/>
          <p:cNvSpPr/>
          <p:nvPr/>
        </p:nvSpPr>
        <p:spPr>
          <a:xfrm>
            <a:off x="1152144" y="5001768"/>
            <a:ext cx="118872" cy="118872"/>
          </a:xfrm>
          <a:prstGeom prst="ellipse">
            <a:avLst/>
          </a:prstGeom>
          <a:solidFill>
            <a:srgbClr val="46D39A"/>
          </a:solidFill>
          <a:ln/>
        </p:spPr>
      </p:sp>
      <p:sp>
        <p:nvSpPr>
          <p:cNvPr id="20" name="Text 17"/>
          <p:cNvSpPr txBox="1"/>
          <p:nvPr/>
        </p:nvSpPr>
        <p:spPr>
          <a:xfrm>
            <a:off x="822960" y="5303520"/>
            <a:ext cx="10545775" cy="457200"/>
          </a:xfrm>
          <a:prstGeom prst="rect">
            <a:avLst/>
          </a:prstGeom>
          <a:noFill/>
          <a:ln/>
        </p:spPr>
        <p:txBody>
          <a:bodyPr wrap="square" lIns="0" tIns="0" rIns="0" bIns="0" rtlCol="0" anchor="t"/>
          <a:lstStyle/>
          <a:p>
            <a:pPr indent="0" marL="0">
              <a:spcAft>
                <a:spcPts val="200"/>
              </a:spcAft>
              <a:buNone/>
            </a:pPr>
            <a:r>
              <a:rPr lang="en-US" sz="18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800" b="1" dirty="0">
                <a:solidFill>
                  <a:srgbClr val="FFFFFF"/>
                </a:solidFill>
                <a:latin typeface="Courier New" pitchFamily="34" charset="0"/>
                <a:ea typeface="Courier New" pitchFamily="34" charset="-122"/>
                <a:cs typeface="Courier New" pitchFamily="34" charset="-120"/>
              </a:rPr>
              <a:t>echo "Thanks for playing. Keep typing."</a:t>
            </a:r>
            <a:endParaRPr lang="en-US" sz="1800" dirty="0"/>
          </a:p>
        </p:txBody>
      </p:sp>
      <p:sp>
        <p:nvSpPr>
          <p:cNvPr id="21" name="Text 18"/>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52 / 79</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7F8FAD"/>
                </a:solidFill>
                <a:latin typeface="Calibri" pitchFamily="34" charset="0"/>
                <a:ea typeface="Calibri" pitchFamily="34" charset="-122"/>
                <a:cs typeface="Calibri" pitchFamily="34" charset="-120"/>
              </a:rPr>
              <a:t>Lockheed Martin CyberQuest® Academy   ·   Linux CTF</a:t>
            </a:r>
            <a:endParaRPr lang="en-US" sz="1000" dirty="0"/>
          </a:p>
        </p:txBody>
      </p:sp>
      <p:sp>
        <p:nvSpPr>
          <p:cNvPr id="4" name="Text 1"/>
          <p:cNvSpPr txBox="1"/>
          <p:nvPr/>
        </p:nvSpPr>
        <p:spPr>
          <a:xfrm>
            <a:off x="548640" y="1371600"/>
            <a:ext cx="10058400" cy="914400"/>
          </a:xfrm>
          <a:prstGeom prst="rect">
            <a:avLst/>
          </a:prstGeom>
          <a:noFill/>
          <a:ln/>
        </p:spPr>
        <p:txBody>
          <a:bodyPr wrap="square" lIns="0" tIns="0" rIns="0" bIns="0" rtlCol="0" anchor="ctr"/>
          <a:lstStyle/>
          <a:p>
            <a:pPr indent="0" marL="0">
              <a:buNone/>
            </a:pPr>
            <a:r>
              <a:rPr lang="en-US" sz="4000" b="1" dirty="0">
                <a:solidFill>
                  <a:srgbClr val="7F8FAD"/>
                </a:solidFill>
                <a:latin typeface="Arial" pitchFamily="34" charset="0"/>
                <a:ea typeface="Arial" pitchFamily="34" charset="-122"/>
                <a:cs typeface="Arial" pitchFamily="34" charset="-120"/>
              </a:rPr>
              <a:t>Mentor</a:t>
            </a:r>
            <a:endParaRPr lang="en-US" sz="4000" dirty="0"/>
          </a:p>
        </p:txBody>
      </p:sp>
      <p:sp>
        <p:nvSpPr>
          <p:cNvPr id="5" name="Text 2"/>
          <p:cNvSpPr txBox="1"/>
          <p:nvPr/>
        </p:nvSpPr>
        <p:spPr>
          <a:xfrm>
            <a:off x="548640" y="2148840"/>
            <a:ext cx="10058400" cy="1463040"/>
          </a:xfrm>
          <a:prstGeom prst="rect">
            <a:avLst/>
          </a:prstGeom>
          <a:noFill/>
          <a:ln/>
        </p:spPr>
        <p:txBody>
          <a:bodyPr wrap="square" lIns="0" tIns="0" rIns="0" bIns="0" rtlCol="0" anchor="ctr"/>
          <a:lstStyle/>
          <a:p>
            <a:pPr indent="0" marL="0">
              <a:buNone/>
            </a:pPr>
            <a:r>
              <a:rPr lang="en-US" sz="9200" b="1" dirty="0">
                <a:solidFill>
                  <a:srgbClr val="FFFFFF"/>
                </a:solidFill>
                <a:latin typeface="Arial" pitchFamily="34" charset="0"/>
                <a:ea typeface="Arial" pitchFamily="34" charset="-122"/>
                <a:cs typeface="Arial" pitchFamily="34" charset="-120"/>
              </a:rPr>
              <a:t>Appendix</a:t>
            </a:r>
            <a:endParaRPr lang="en-US" sz="9200" dirty="0"/>
          </a:p>
        </p:txBody>
      </p:sp>
      <p:sp>
        <p:nvSpPr>
          <p:cNvPr id="6" name="Text 3"/>
          <p:cNvSpPr txBox="1"/>
          <p:nvPr/>
        </p:nvSpPr>
        <p:spPr>
          <a:xfrm>
            <a:off x="548640" y="3794760"/>
            <a:ext cx="9601200" cy="914400"/>
          </a:xfrm>
          <a:prstGeom prst="rect">
            <a:avLst/>
          </a:prstGeom>
          <a:noFill/>
          <a:ln/>
        </p:spPr>
        <p:txBody>
          <a:bodyPr wrap="square" lIns="0" tIns="0" rIns="0" bIns="0" rtlCol="0" anchor="t"/>
          <a:lstStyle/>
          <a:p>
            <a:pPr indent="0" marL="0">
              <a:buNone/>
            </a:pPr>
            <a:r>
              <a:rPr lang="en-US" sz="2200" dirty="0">
                <a:solidFill>
                  <a:srgbClr val="B8C4D9"/>
                </a:solidFill>
                <a:latin typeface="Calibri" pitchFamily="34" charset="0"/>
                <a:ea typeface="Calibri" pitchFamily="34" charset="-122"/>
                <a:cs typeface="Calibri" pitchFamily="34" charset="-120"/>
              </a:rPr>
              <a:t>The page layout, the mechanics, the answer key, and what to do when things go wrong.</a:t>
            </a:r>
            <a:endParaRPr lang="en-US" sz="2200" dirty="0"/>
          </a:p>
        </p:txBody>
      </p:sp>
      <p:sp>
        <p:nvSpPr>
          <p:cNvPr id="7" name="Shape 4"/>
          <p:cNvSpPr/>
          <p:nvPr/>
        </p:nvSpPr>
        <p:spPr>
          <a:xfrm>
            <a:off x="548640" y="4892040"/>
            <a:ext cx="11094415" cy="822960"/>
          </a:xfrm>
          <a:prstGeom prst="roundRect">
            <a:avLst>
              <a:gd name="adj" fmla="val 11111"/>
            </a:avLst>
          </a:prstGeom>
          <a:solidFill>
            <a:srgbClr val="162238"/>
          </a:solidFill>
          <a:ln/>
        </p:spPr>
      </p:sp>
      <p:sp>
        <p:nvSpPr>
          <p:cNvPr id="8" name="Text 5"/>
          <p:cNvSpPr txBox="1"/>
          <p:nvPr/>
        </p:nvSpPr>
        <p:spPr>
          <a:xfrm>
            <a:off x="868680" y="4892040"/>
            <a:ext cx="10454335" cy="822960"/>
          </a:xfrm>
          <a:prstGeom prst="rect">
            <a:avLst/>
          </a:prstGeom>
          <a:noFill/>
          <a:ln/>
        </p:spPr>
        <p:txBody>
          <a:bodyPr wrap="square" lIns="0" tIns="0" rIns="0" bIns="0" rtlCol="0" anchor="ctr"/>
          <a:lstStyle/>
          <a:p>
            <a:pPr indent="0" marL="0">
              <a:buNone/>
            </a:pPr>
            <a:r>
              <a:rPr lang="en-US" sz="2000" b="1" dirty="0">
                <a:solidFill>
                  <a:srgbClr val="46D39A"/>
                </a:solidFill>
                <a:latin typeface="Courier New" pitchFamily="34" charset="0"/>
                <a:ea typeface="Courier New" pitchFamily="34" charset="-122"/>
                <a:cs typeface="Courier New" pitchFamily="34" charset="-120"/>
              </a:rPr>
              <a:t>$ </a:t>
            </a:r>
            <a:pPr indent="0" marL="0">
              <a:buNone/>
            </a:pPr>
            <a:r>
              <a:rPr lang="en-US" sz="2000" b="1" dirty="0">
                <a:solidFill>
                  <a:srgbClr val="FFFFFF"/>
                </a:solidFill>
                <a:latin typeface="Courier New" pitchFamily="34" charset="0"/>
                <a:ea typeface="Courier New" pitchFamily="34" charset="-122"/>
                <a:cs typeface="Courier New" pitchFamily="34" charset="-120"/>
              </a:rPr>
              <a:t>man mentor   # for the person running the room</a:t>
            </a:r>
            <a:endParaRPr lang="en-US" sz="2000" dirty="0"/>
          </a:p>
        </p:txBody>
      </p:sp>
      <p:sp>
        <p:nvSpPr>
          <p:cNvPr id="9" name="Text 6"/>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7F8FAD"/>
                </a:solidFill>
                <a:latin typeface="Calibri" pitchFamily="34" charset="0"/>
                <a:ea typeface="Calibri" pitchFamily="34" charset="-122"/>
                <a:cs typeface="Calibri" pitchFamily="34" charset="-120"/>
              </a:rPr>
              <a:t>Linux CTF   ·   53 / 79</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Anatomy of the competition page</a:t>
            </a:r>
            <a:endParaRPr lang="en-US" sz="3200" dirty="0"/>
          </a:p>
        </p:txBody>
      </p:sp>
      <p:sp>
        <p:nvSpPr>
          <p:cNvPr id="4" name="Shape 1"/>
          <p:cNvSpPr/>
          <p:nvPr/>
        </p:nvSpPr>
        <p:spPr>
          <a:xfrm>
            <a:off x="502920" y="1463040"/>
            <a:ext cx="6675120" cy="3968496"/>
          </a:xfrm>
          <a:prstGeom prst="roundRect">
            <a:avLst>
              <a:gd name="adj" fmla="val 1382"/>
            </a:avLst>
          </a:prstGeom>
          <a:solidFill>
            <a:srgbClr val="FFFFFF"/>
          </a:solidFill>
          <a:ln w="19050">
            <a:solidFill>
              <a:srgbClr val="D6DEEA"/>
            </a:solidFill>
            <a:prstDash val="solid"/>
          </a:ln>
          <a:effectLst>
            <a:outerShdw sx="100000" sy="100000" kx="0" ky="0" algn="bl" rotWithShape="0" blurRad="127000" dist="38100" dir="5400000">
              <a:srgbClr val="12213A">
                <a:alpha val="15000"/>
              </a:srgbClr>
            </a:outerShdw>
          </a:effectLst>
        </p:spPr>
      </p:sp>
      <p:pic>
        <p:nvPicPr>
          <p:cNvPr id="5" name="Image 0" descr="/home/claude/cyberquest-ctf/slides/img/page.png">    </p:cNvPr>
          <p:cNvPicPr>
            <a:picLocks noChangeAspect="1"/>
          </p:cNvPicPr>
          <p:nvPr/>
        </p:nvPicPr>
        <p:blipFill>
          <a:blip r:embed="rId1"/>
          <a:stretch>
            <a:fillRect/>
          </a:stretch>
        </p:blipFill>
        <p:spPr>
          <a:xfrm>
            <a:off x="548640" y="1508760"/>
            <a:ext cx="6583680" cy="3872484"/>
          </a:xfrm>
          <a:prstGeom prst="rect">
            <a:avLst/>
          </a:prstGeom>
        </p:spPr>
      </p:pic>
      <p:sp>
        <p:nvSpPr>
          <p:cNvPr id="6" name="Shape 2"/>
          <p:cNvSpPr/>
          <p:nvPr/>
        </p:nvSpPr>
        <p:spPr>
          <a:xfrm>
            <a:off x="2239204" y="1437222"/>
            <a:ext cx="365760" cy="365760"/>
          </a:xfrm>
          <a:prstGeom prst="ellipse">
            <a:avLst/>
          </a:prstGeom>
          <a:solidFill>
            <a:srgbClr val="2A9FD6"/>
          </a:solidFill>
          <a:ln w="25400">
            <a:solidFill>
              <a:srgbClr val="FFFFFF"/>
            </a:solidFill>
            <a:prstDash val="solid"/>
          </a:ln>
        </p:spPr>
      </p:sp>
      <p:sp>
        <p:nvSpPr>
          <p:cNvPr id="7" name="Text 3"/>
          <p:cNvSpPr txBox="1"/>
          <p:nvPr/>
        </p:nvSpPr>
        <p:spPr>
          <a:xfrm>
            <a:off x="2239204" y="143722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Shape 4"/>
          <p:cNvSpPr/>
          <p:nvPr/>
        </p:nvSpPr>
        <p:spPr>
          <a:xfrm>
            <a:off x="4722607" y="1814815"/>
            <a:ext cx="365760" cy="365760"/>
          </a:xfrm>
          <a:prstGeom prst="ellipse">
            <a:avLst/>
          </a:prstGeom>
          <a:solidFill>
            <a:srgbClr val="F5A623"/>
          </a:solidFill>
          <a:ln w="25400">
            <a:solidFill>
              <a:srgbClr val="FFFFFF"/>
            </a:solidFill>
            <a:prstDash val="solid"/>
          </a:ln>
        </p:spPr>
      </p:sp>
      <p:sp>
        <p:nvSpPr>
          <p:cNvPr id="9" name="Text 5"/>
          <p:cNvSpPr txBox="1"/>
          <p:nvPr/>
        </p:nvSpPr>
        <p:spPr>
          <a:xfrm>
            <a:off x="4722607" y="1814815"/>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0" name="Shape 6"/>
          <p:cNvSpPr/>
          <p:nvPr/>
        </p:nvSpPr>
        <p:spPr>
          <a:xfrm>
            <a:off x="5477794" y="1814815"/>
            <a:ext cx="365760" cy="365760"/>
          </a:xfrm>
          <a:prstGeom prst="ellipse">
            <a:avLst/>
          </a:prstGeom>
          <a:solidFill>
            <a:srgbClr val="2459D8"/>
          </a:solidFill>
          <a:ln w="25400">
            <a:solidFill>
              <a:srgbClr val="FFFFFF"/>
            </a:solidFill>
            <a:prstDash val="solid"/>
          </a:ln>
        </p:spPr>
      </p:sp>
      <p:sp>
        <p:nvSpPr>
          <p:cNvPr id="11" name="Text 7"/>
          <p:cNvSpPr txBox="1"/>
          <p:nvPr/>
        </p:nvSpPr>
        <p:spPr>
          <a:xfrm>
            <a:off x="5477794" y="1814815"/>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2" name="Shape 8"/>
          <p:cNvSpPr/>
          <p:nvPr/>
        </p:nvSpPr>
        <p:spPr>
          <a:xfrm>
            <a:off x="5293838" y="2090749"/>
            <a:ext cx="365760" cy="365760"/>
          </a:xfrm>
          <a:prstGeom prst="ellipse">
            <a:avLst/>
          </a:prstGeom>
          <a:solidFill>
            <a:srgbClr val="17875A"/>
          </a:solidFill>
          <a:ln w="25400">
            <a:solidFill>
              <a:srgbClr val="FFFFFF"/>
            </a:solidFill>
            <a:prstDash val="solid"/>
          </a:ln>
        </p:spPr>
      </p:sp>
      <p:sp>
        <p:nvSpPr>
          <p:cNvPr id="13" name="Text 9"/>
          <p:cNvSpPr txBox="1"/>
          <p:nvPr/>
        </p:nvSpPr>
        <p:spPr>
          <a:xfrm>
            <a:off x="5293838" y="2090749"/>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4" name="Shape 10"/>
          <p:cNvSpPr/>
          <p:nvPr/>
        </p:nvSpPr>
        <p:spPr>
          <a:xfrm>
            <a:off x="5700477" y="2657139"/>
            <a:ext cx="365760" cy="365760"/>
          </a:xfrm>
          <a:prstGeom prst="ellipse">
            <a:avLst/>
          </a:prstGeom>
          <a:solidFill>
            <a:srgbClr val="D1416B"/>
          </a:solidFill>
          <a:ln w="25400">
            <a:solidFill>
              <a:srgbClr val="FFFFFF"/>
            </a:solidFill>
            <a:prstDash val="solid"/>
          </a:ln>
        </p:spPr>
      </p:sp>
      <p:sp>
        <p:nvSpPr>
          <p:cNvPr id="15" name="Text 11"/>
          <p:cNvSpPr txBox="1"/>
          <p:nvPr/>
        </p:nvSpPr>
        <p:spPr>
          <a:xfrm>
            <a:off x="5700477" y="2657139"/>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16" name="Shape 12"/>
          <p:cNvSpPr/>
          <p:nvPr/>
        </p:nvSpPr>
        <p:spPr>
          <a:xfrm>
            <a:off x="6533119" y="3620486"/>
            <a:ext cx="365760" cy="365760"/>
          </a:xfrm>
          <a:prstGeom prst="ellipse">
            <a:avLst/>
          </a:prstGeom>
          <a:solidFill>
            <a:srgbClr val="7448D4"/>
          </a:solidFill>
          <a:ln w="25400">
            <a:solidFill>
              <a:srgbClr val="FFFFFF"/>
            </a:solidFill>
            <a:prstDash val="solid"/>
          </a:ln>
        </p:spPr>
      </p:sp>
      <p:sp>
        <p:nvSpPr>
          <p:cNvPr id="17" name="Text 13"/>
          <p:cNvSpPr txBox="1"/>
          <p:nvPr/>
        </p:nvSpPr>
        <p:spPr>
          <a:xfrm>
            <a:off x="6533119" y="362048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18" name="Shape 14"/>
          <p:cNvSpPr/>
          <p:nvPr/>
        </p:nvSpPr>
        <p:spPr>
          <a:xfrm>
            <a:off x="2447365" y="3359075"/>
            <a:ext cx="365760" cy="365760"/>
          </a:xfrm>
          <a:prstGeom prst="ellipse">
            <a:avLst/>
          </a:prstGeom>
          <a:solidFill>
            <a:srgbClr val="56657E"/>
          </a:solidFill>
          <a:ln w="25400">
            <a:solidFill>
              <a:srgbClr val="FFFFFF"/>
            </a:solidFill>
            <a:prstDash val="solid"/>
          </a:ln>
        </p:spPr>
      </p:sp>
      <p:sp>
        <p:nvSpPr>
          <p:cNvPr id="19" name="Text 15"/>
          <p:cNvSpPr txBox="1"/>
          <p:nvPr/>
        </p:nvSpPr>
        <p:spPr>
          <a:xfrm>
            <a:off x="2447365" y="3359075"/>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20" name="Shape 16"/>
          <p:cNvSpPr/>
          <p:nvPr/>
        </p:nvSpPr>
        <p:spPr>
          <a:xfrm>
            <a:off x="6470187" y="4985632"/>
            <a:ext cx="365760" cy="365760"/>
          </a:xfrm>
          <a:prstGeom prst="ellipse">
            <a:avLst/>
          </a:prstGeom>
          <a:solidFill>
            <a:srgbClr val="2459D8"/>
          </a:solidFill>
          <a:ln w="25400">
            <a:solidFill>
              <a:srgbClr val="FFFFFF"/>
            </a:solidFill>
            <a:prstDash val="solid"/>
          </a:ln>
        </p:spPr>
      </p:sp>
      <p:sp>
        <p:nvSpPr>
          <p:cNvPr id="21" name="Text 17"/>
          <p:cNvSpPr txBox="1"/>
          <p:nvPr/>
        </p:nvSpPr>
        <p:spPr>
          <a:xfrm>
            <a:off x="6470187" y="49856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22" name="Text 18"/>
          <p:cNvSpPr txBox="1"/>
          <p:nvPr/>
        </p:nvSpPr>
        <p:spPr>
          <a:xfrm>
            <a:off x="548640" y="5577840"/>
            <a:ext cx="6400800" cy="320040"/>
          </a:xfrm>
          <a:prstGeom prst="rect">
            <a:avLst/>
          </a:prstGeom>
          <a:noFill/>
          <a:ln/>
        </p:spPr>
        <p:txBody>
          <a:bodyPr wrap="square" lIns="0" tIns="0" rIns="0" bIns="0" rtlCol="0" anchor="t"/>
          <a:lstStyle/>
          <a:p>
            <a:pPr indent="0" marL="0">
              <a:buNone/>
            </a:pPr>
            <a:r>
              <a:rPr lang="en-US" sz="1200" dirty="0">
                <a:solidFill>
                  <a:srgbClr val="56657E"/>
                </a:solidFill>
                <a:latin typeface="Calibri" pitchFamily="34" charset="0"/>
                <a:ea typeface="Calibri" pitchFamily="34" charset="-122"/>
                <a:cs typeface="Calibri" pitchFamily="34" charset="-120"/>
              </a:rPr>
              <a:t>Mid-game: missions 1 and 2 captured, mission 3 open.</a:t>
            </a:r>
            <a:endParaRPr lang="en-US" sz="1200" dirty="0"/>
          </a:p>
        </p:txBody>
      </p:sp>
      <p:sp>
        <p:nvSpPr>
          <p:cNvPr id="23" name="Shape 19"/>
          <p:cNvSpPr/>
          <p:nvPr/>
        </p:nvSpPr>
        <p:spPr>
          <a:xfrm>
            <a:off x="7406640" y="1527048"/>
            <a:ext cx="329184" cy="329184"/>
          </a:xfrm>
          <a:prstGeom prst="ellipse">
            <a:avLst/>
          </a:prstGeom>
          <a:solidFill>
            <a:srgbClr val="2A9FD6"/>
          </a:solidFill>
          <a:ln/>
        </p:spPr>
      </p:sp>
      <p:sp>
        <p:nvSpPr>
          <p:cNvPr id="24" name="Text 20"/>
          <p:cNvSpPr txBox="1"/>
          <p:nvPr/>
        </p:nvSpPr>
        <p:spPr>
          <a:xfrm>
            <a:off x="7406640" y="15270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25" name="Text 21"/>
          <p:cNvSpPr txBox="1"/>
          <p:nvPr/>
        </p:nvSpPr>
        <p:spPr>
          <a:xfrm>
            <a:off x="7863840" y="1481328"/>
            <a:ext cx="3794760" cy="45720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Progress track  </a:t>
            </a:r>
            <a:pPr indent="0" marL="0">
              <a:buNone/>
            </a:pPr>
            <a:r>
              <a:rPr lang="en-US" sz="1300" dirty="0">
                <a:solidFill>
                  <a:srgbClr val="56657E"/>
                </a:solidFill>
                <a:latin typeface="Calibri" pitchFamily="34" charset="0"/>
                <a:ea typeface="Calibri" pitchFamily="34" charset="-122"/>
                <a:cs typeface="Calibri" pitchFamily="34" charset="-120"/>
              </a:rPr>
              <a:t>One coloured bar lights up per flag.</a:t>
            </a:r>
            <a:endParaRPr lang="en-US" sz="1600" dirty="0"/>
          </a:p>
        </p:txBody>
      </p:sp>
      <p:sp>
        <p:nvSpPr>
          <p:cNvPr id="26" name="Shape 22"/>
          <p:cNvSpPr/>
          <p:nvPr/>
        </p:nvSpPr>
        <p:spPr>
          <a:xfrm>
            <a:off x="7406640" y="2075688"/>
            <a:ext cx="329184" cy="329184"/>
          </a:xfrm>
          <a:prstGeom prst="ellipse">
            <a:avLst/>
          </a:prstGeom>
          <a:solidFill>
            <a:srgbClr val="F5A623"/>
          </a:solidFill>
          <a:ln/>
        </p:spPr>
      </p:sp>
      <p:sp>
        <p:nvSpPr>
          <p:cNvPr id="27" name="Text 23"/>
          <p:cNvSpPr txBox="1"/>
          <p:nvPr/>
        </p:nvSpPr>
        <p:spPr>
          <a:xfrm>
            <a:off x="7406640" y="20756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8" name="Text 24"/>
          <p:cNvSpPr txBox="1"/>
          <p:nvPr/>
        </p:nvSpPr>
        <p:spPr>
          <a:xfrm>
            <a:off x="7863840" y="2029968"/>
            <a:ext cx="3794760" cy="45720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Points  </a:t>
            </a:r>
            <a:pPr indent="0" marL="0">
              <a:buNone/>
            </a:pPr>
            <a:r>
              <a:rPr lang="en-US" sz="1300" dirty="0">
                <a:solidFill>
                  <a:srgbClr val="56657E"/>
                </a:solidFill>
                <a:latin typeface="Calibri" pitchFamily="34" charset="0"/>
                <a:ea typeface="Calibri" pitchFamily="34" charset="-122"/>
                <a:cs typeface="Calibri" pitchFamily="34" charset="-120"/>
              </a:rPr>
              <a:t>Your score, out of 2,700.</a:t>
            </a:r>
            <a:endParaRPr lang="en-US" sz="1600" dirty="0"/>
          </a:p>
        </p:txBody>
      </p:sp>
      <p:sp>
        <p:nvSpPr>
          <p:cNvPr id="29" name="Shape 25"/>
          <p:cNvSpPr/>
          <p:nvPr/>
        </p:nvSpPr>
        <p:spPr>
          <a:xfrm>
            <a:off x="7406640" y="2624328"/>
            <a:ext cx="329184" cy="329184"/>
          </a:xfrm>
          <a:prstGeom prst="ellipse">
            <a:avLst/>
          </a:prstGeom>
          <a:solidFill>
            <a:srgbClr val="2459D8"/>
          </a:solidFill>
          <a:ln/>
        </p:spPr>
      </p:sp>
      <p:sp>
        <p:nvSpPr>
          <p:cNvPr id="30" name="Text 26"/>
          <p:cNvSpPr txBox="1"/>
          <p:nvPr/>
        </p:nvSpPr>
        <p:spPr>
          <a:xfrm>
            <a:off x="7406640" y="26243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31" name="Text 27"/>
          <p:cNvSpPr txBox="1"/>
          <p:nvPr/>
        </p:nvSpPr>
        <p:spPr>
          <a:xfrm>
            <a:off x="7863840" y="2578608"/>
            <a:ext cx="3794760" cy="45720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Clock  </a:t>
            </a:r>
            <a:pPr indent="0" marL="0">
              <a:buNone/>
            </a:pPr>
            <a:r>
              <a:rPr lang="en-US" sz="1300" dirty="0">
                <a:solidFill>
                  <a:srgbClr val="56657E"/>
                </a:solidFill>
                <a:latin typeface="Calibri" pitchFamily="34" charset="0"/>
                <a:ea typeface="Calibri" pitchFamily="34" charset="-122"/>
                <a:cs typeface="Calibri" pitchFamily="34" charset="-120"/>
              </a:rPr>
              <a:t>Starts at Mission 1 and counts up.</a:t>
            </a:r>
            <a:endParaRPr lang="en-US" sz="1600" dirty="0"/>
          </a:p>
        </p:txBody>
      </p:sp>
      <p:sp>
        <p:nvSpPr>
          <p:cNvPr id="32" name="Shape 28"/>
          <p:cNvSpPr/>
          <p:nvPr/>
        </p:nvSpPr>
        <p:spPr>
          <a:xfrm>
            <a:off x="7406640" y="3172968"/>
            <a:ext cx="329184" cy="329184"/>
          </a:xfrm>
          <a:prstGeom prst="ellipse">
            <a:avLst/>
          </a:prstGeom>
          <a:solidFill>
            <a:srgbClr val="17875A"/>
          </a:solidFill>
          <a:ln/>
        </p:spPr>
      </p:sp>
      <p:sp>
        <p:nvSpPr>
          <p:cNvPr id="33" name="Text 29"/>
          <p:cNvSpPr txBox="1"/>
          <p:nvPr/>
        </p:nvSpPr>
        <p:spPr>
          <a:xfrm>
            <a:off x="7406640" y="31729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34" name="Text 30"/>
          <p:cNvSpPr txBox="1"/>
          <p:nvPr/>
        </p:nvSpPr>
        <p:spPr>
          <a:xfrm>
            <a:off x="7863840" y="3127248"/>
            <a:ext cx="3794760" cy="45720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Stepper  </a:t>
            </a:r>
            <a:pPr indent="0" marL="0">
              <a:buNone/>
            </a:pPr>
            <a:r>
              <a:rPr lang="en-US" sz="1300" dirty="0">
                <a:solidFill>
                  <a:srgbClr val="56657E"/>
                </a:solidFill>
                <a:latin typeface="Calibri" pitchFamily="34" charset="0"/>
                <a:ea typeface="Calibri" pitchFamily="34" charset="-122"/>
                <a:cs typeface="Calibri" pitchFamily="34" charset="-120"/>
              </a:rPr>
              <a:t>A green check per captured flag.</a:t>
            </a:r>
            <a:endParaRPr lang="en-US" sz="1600" dirty="0"/>
          </a:p>
        </p:txBody>
      </p:sp>
      <p:sp>
        <p:nvSpPr>
          <p:cNvPr id="35" name="Shape 31"/>
          <p:cNvSpPr/>
          <p:nvPr/>
        </p:nvSpPr>
        <p:spPr>
          <a:xfrm>
            <a:off x="7406640" y="3721608"/>
            <a:ext cx="329184" cy="329184"/>
          </a:xfrm>
          <a:prstGeom prst="ellipse">
            <a:avLst/>
          </a:prstGeom>
          <a:solidFill>
            <a:srgbClr val="D1416B"/>
          </a:solidFill>
          <a:ln/>
        </p:spPr>
      </p:sp>
      <p:sp>
        <p:nvSpPr>
          <p:cNvPr id="36" name="Text 32"/>
          <p:cNvSpPr txBox="1"/>
          <p:nvPr/>
        </p:nvSpPr>
        <p:spPr>
          <a:xfrm>
            <a:off x="7406640" y="3721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37" name="Text 33"/>
          <p:cNvSpPr txBox="1"/>
          <p:nvPr/>
        </p:nvSpPr>
        <p:spPr>
          <a:xfrm>
            <a:off x="7863840" y="3675888"/>
            <a:ext cx="3794760" cy="45720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Level and points  </a:t>
            </a:r>
            <a:pPr indent="0" marL="0">
              <a:buNone/>
            </a:pPr>
            <a:r>
              <a:rPr lang="en-US" sz="1300" dirty="0">
                <a:solidFill>
                  <a:srgbClr val="56657E"/>
                </a:solidFill>
                <a:latin typeface="Calibri" pitchFamily="34" charset="0"/>
                <a:ea typeface="Calibri" pitchFamily="34" charset="-122"/>
                <a:cs typeface="Calibri" pitchFamily="34" charset="-120"/>
              </a:rPr>
              <a:t>Easy 100 up to Very Hard 800.</a:t>
            </a:r>
            <a:endParaRPr lang="en-US" sz="1600" dirty="0"/>
          </a:p>
        </p:txBody>
      </p:sp>
      <p:sp>
        <p:nvSpPr>
          <p:cNvPr id="38" name="Shape 34"/>
          <p:cNvSpPr/>
          <p:nvPr/>
        </p:nvSpPr>
        <p:spPr>
          <a:xfrm>
            <a:off x="7406640" y="4270248"/>
            <a:ext cx="329184" cy="329184"/>
          </a:xfrm>
          <a:prstGeom prst="ellipse">
            <a:avLst/>
          </a:prstGeom>
          <a:solidFill>
            <a:srgbClr val="7448D4"/>
          </a:solidFill>
          <a:ln/>
        </p:spPr>
      </p:sp>
      <p:sp>
        <p:nvSpPr>
          <p:cNvPr id="39" name="Text 35"/>
          <p:cNvSpPr txBox="1"/>
          <p:nvPr/>
        </p:nvSpPr>
        <p:spPr>
          <a:xfrm>
            <a:off x="7406640" y="42702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40" name="Text 36"/>
          <p:cNvSpPr txBox="1"/>
          <p:nvPr/>
        </p:nvSpPr>
        <p:spPr>
          <a:xfrm>
            <a:off x="7863840" y="4224528"/>
            <a:ext cx="3794760" cy="45720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Copy buttons  </a:t>
            </a:r>
            <a:pPr indent="0" marL="0">
              <a:buNone/>
            </a:pPr>
            <a:r>
              <a:rPr lang="en-US" sz="1300" dirty="0">
                <a:solidFill>
                  <a:srgbClr val="56657E"/>
                </a:solidFill>
                <a:latin typeface="Calibri" pitchFamily="34" charset="0"/>
                <a:ea typeface="Calibri" pitchFamily="34" charset="-122"/>
                <a:cs typeface="Calibri" pitchFamily="34" charset="-120"/>
              </a:rPr>
              <a:t>Copy a starting command, then paste it.</a:t>
            </a:r>
            <a:endParaRPr lang="en-US" sz="1600" dirty="0"/>
          </a:p>
        </p:txBody>
      </p:sp>
      <p:sp>
        <p:nvSpPr>
          <p:cNvPr id="41" name="Shape 37"/>
          <p:cNvSpPr/>
          <p:nvPr/>
        </p:nvSpPr>
        <p:spPr>
          <a:xfrm>
            <a:off x="7406640" y="4818888"/>
            <a:ext cx="329184" cy="329184"/>
          </a:xfrm>
          <a:prstGeom prst="ellipse">
            <a:avLst/>
          </a:prstGeom>
          <a:solidFill>
            <a:srgbClr val="56657E"/>
          </a:solidFill>
          <a:ln/>
        </p:spPr>
      </p:sp>
      <p:sp>
        <p:nvSpPr>
          <p:cNvPr id="42" name="Text 38"/>
          <p:cNvSpPr txBox="1"/>
          <p:nvPr/>
        </p:nvSpPr>
        <p:spPr>
          <a:xfrm>
            <a:off x="7406640" y="48188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7</a:t>
            </a:r>
            <a:endParaRPr lang="en-US" sz="1200" dirty="0"/>
          </a:p>
        </p:txBody>
      </p:sp>
      <p:sp>
        <p:nvSpPr>
          <p:cNvPr id="43" name="Text 39"/>
          <p:cNvSpPr txBox="1"/>
          <p:nvPr/>
        </p:nvSpPr>
        <p:spPr>
          <a:xfrm>
            <a:off x="7863840" y="4773168"/>
            <a:ext cx="3794760" cy="45720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Terminal  </a:t>
            </a:r>
            <a:pPr indent="0" marL="0">
              <a:buNone/>
            </a:pPr>
            <a:r>
              <a:rPr lang="en-US" sz="1300" dirty="0">
                <a:solidFill>
                  <a:srgbClr val="56657E"/>
                </a:solidFill>
                <a:latin typeface="Calibri" pitchFamily="34" charset="0"/>
                <a:ea typeface="Calibri" pitchFamily="34" charset="-122"/>
                <a:cs typeface="Calibri" pitchFamily="34" charset="-120"/>
              </a:rPr>
              <a:t>Click inside it before you type.</a:t>
            </a:r>
            <a:endParaRPr lang="en-US" sz="1600" dirty="0"/>
          </a:p>
        </p:txBody>
      </p:sp>
      <p:sp>
        <p:nvSpPr>
          <p:cNvPr id="44" name="Shape 40"/>
          <p:cNvSpPr/>
          <p:nvPr/>
        </p:nvSpPr>
        <p:spPr>
          <a:xfrm>
            <a:off x="7406640" y="5367528"/>
            <a:ext cx="329184" cy="329184"/>
          </a:xfrm>
          <a:prstGeom prst="ellipse">
            <a:avLst/>
          </a:prstGeom>
          <a:solidFill>
            <a:srgbClr val="2459D8"/>
          </a:solidFill>
          <a:ln/>
        </p:spPr>
      </p:sp>
      <p:sp>
        <p:nvSpPr>
          <p:cNvPr id="45" name="Text 41"/>
          <p:cNvSpPr txBox="1"/>
          <p:nvPr/>
        </p:nvSpPr>
        <p:spPr>
          <a:xfrm>
            <a:off x="7406640" y="53675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8</a:t>
            </a:r>
            <a:endParaRPr lang="en-US" sz="1200" dirty="0"/>
          </a:p>
        </p:txBody>
      </p:sp>
      <p:sp>
        <p:nvSpPr>
          <p:cNvPr id="46" name="Text 42"/>
          <p:cNvSpPr txBox="1"/>
          <p:nvPr/>
        </p:nvSpPr>
        <p:spPr>
          <a:xfrm>
            <a:off x="7863840" y="5321808"/>
            <a:ext cx="3794760" cy="45720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Next mission  </a:t>
            </a:r>
            <a:pPr indent="0" marL="0">
              <a:buNone/>
            </a:pPr>
            <a:r>
              <a:rPr lang="en-US" sz="1300" dirty="0">
                <a:solidFill>
                  <a:srgbClr val="56657E"/>
                </a:solidFill>
                <a:latin typeface="Calibri" pitchFamily="34" charset="0"/>
                <a:ea typeface="Calibri" pitchFamily="34" charset="-122"/>
                <a:cs typeface="Calibri" pitchFamily="34" charset="-120"/>
              </a:rPr>
              <a:t>Unlocks when the flag is captured.</a:t>
            </a:r>
            <a:endParaRPr lang="en-US" sz="1600" dirty="0"/>
          </a:p>
        </p:txBody>
      </p:sp>
      <p:sp>
        <p:nvSpPr>
          <p:cNvPr id="47" name="Text 43"/>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54 / 79</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Mentor appendix: set-up before class</a:t>
            </a:r>
            <a:endParaRPr lang="en-US" sz="3200" dirty="0"/>
          </a:p>
        </p:txBody>
      </p:sp>
      <p:sp>
        <p:nvSpPr>
          <p:cNvPr id="4" name="Shape 1"/>
          <p:cNvSpPr/>
          <p:nvPr/>
        </p:nvSpPr>
        <p:spPr>
          <a:xfrm>
            <a:off x="548640" y="1600200"/>
            <a:ext cx="457200" cy="457200"/>
          </a:xfrm>
          <a:prstGeom prst="ellipse">
            <a:avLst/>
          </a:prstGeom>
          <a:solidFill>
            <a:srgbClr val="2459D8"/>
          </a:solidFill>
          <a:ln/>
        </p:spPr>
      </p:sp>
      <p:sp>
        <p:nvSpPr>
          <p:cNvPr id="5" name="Text 2"/>
          <p:cNvSpPr txBox="1"/>
          <p:nvPr/>
        </p:nvSpPr>
        <p:spPr>
          <a:xfrm>
            <a:off x="548640" y="1600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6" name="Text 3"/>
          <p:cNvSpPr txBox="1"/>
          <p:nvPr/>
        </p:nvSpPr>
        <p:spPr>
          <a:xfrm>
            <a:off x="1188720" y="1572768"/>
            <a:ext cx="5760720" cy="749808"/>
          </a:xfrm>
          <a:prstGeom prst="rect">
            <a:avLst/>
          </a:prstGeom>
          <a:noFill/>
          <a:ln/>
        </p:spPr>
        <p:txBody>
          <a:bodyPr wrap="square" lIns="0" tIns="0" rIns="0" bIns="0" rtlCol="0" anchor="t"/>
          <a:lstStyle/>
          <a:p>
            <a:pPr indent="0" marL="0">
              <a:buNone/>
            </a:pPr>
            <a:r>
              <a:rPr lang="en-US" sz="1600" b="1" dirty="0">
                <a:solidFill>
                  <a:srgbClr val="12213A"/>
                </a:solidFill>
                <a:latin typeface="Calibri" pitchFamily="34" charset="0"/>
                <a:ea typeface="Calibri" pitchFamily="34" charset="-122"/>
                <a:cs typeface="Calibri" pitchFamily="34" charset="-120"/>
              </a:rPr>
              <a:t>Push the project to GitLab. </a:t>
            </a:r>
            <a:pPr indent="0" marL="0">
              <a:buNone/>
            </a:pPr>
            <a:r>
              <a:rPr lang="en-US" sz="1600" dirty="0">
                <a:solidFill>
                  <a:srgbClr val="12213A"/>
                </a:solidFill>
                <a:latin typeface="Calibri" pitchFamily="34" charset="0"/>
                <a:ea typeface="Calibri" pitchFamily="34" charset="-122"/>
                <a:cs typeface="Calibri" pitchFamily="34" charset="-120"/>
              </a:rPr>
              <a:t>The pages job publishes it. Set Pages visibility to Everyone.</a:t>
            </a:r>
            <a:endParaRPr lang="en-US" sz="1600" dirty="0"/>
          </a:p>
        </p:txBody>
      </p:sp>
      <p:sp>
        <p:nvSpPr>
          <p:cNvPr id="7" name="Shape 4"/>
          <p:cNvSpPr/>
          <p:nvPr/>
        </p:nvSpPr>
        <p:spPr>
          <a:xfrm>
            <a:off x="548640" y="2441448"/>
            <a:ext cx="457200" cy="457200"/>
          </a:xfrm>
          <a:prstGeom prst="ellipse">
            <a:avLst/>
          </a:prstGeom>
          <a:solidFill>
            <a:srgbClr val="2459D8"/>
          </a:solidFill>
          <a:ln/>
        </p:spPr>
      </p:sp>
      <p:sp>
        <p:nvSpPr>
          <p:cNvPr id="8" name="Text 5"/>
          <p:cNvSpPr txBox="1"/>
          <p:nvPr/>
        </p:nvSpPr>
        <p:spPr>
          <a:xfrm>
            <a:off x="548640" y="24414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9" name="Text 6"/>
          <p:cNvSpPr txBox="1"/>
          <p:nvPr/>
        </p:nvSpPr>
        <p:spPr>
          <a:xfrm>
            <a:off x="1188720" y="2414016"/>
            <a:ext cx="5760720" cy="749808"/>
          </a:xfrm>
          <a:prstGeom prst="rect">
            <a:avLst/>
          </a:prstGeom>
          <a:noFill/>
          <a:ln/>
        </p:spPr>
        <p:txBody>
          <a:bodyPr wrap="square" lIns="0" tIns="0" rIns="0" bIns="0" rtlCol="0" anchor="t"/>
          <a:lstStyle/>
          <a:p>
            <a:pPr indent="0" marL="0">
              <a:buNone/>
            </a:pPr>
            <a:r>
              <a:rPr lang="en-US" sz="1600" b="1" dirty="0">
                <a:solidFill>
                  <a:srgbClr val="12213A"/>
                </a:solidFill>
                <a:latin typeface="Calibri" pitchFamily="34" charset="0"/>
                <a:ea typeface="Calibri" pitchFamily="34" charset="-122"/>
                <a:cs typeface="Calibri" pitchFamily="34" charset="-120"/>
              </a:rPr>
              <a:t>Write the address </a:t>
            </a:r>
            <a:pPr indent="0" marL="0">
              <a:buNone/>
            </a:pPr>
            <a:r>
              <a:rPr lang="en-US" sz="1600" dirty="0">
                <a:solidFill>
                  <a:srgbClr val="12213A"/>
                </a:solidFill>
                <a:latin typeface="Calibri" pitchFamily="34" charset="0"/>
                <a:ea typeface="Calibri" pitchFamily="34" charset="-122"/>
                <a:cs typeface="Calibri" pitchFamily="34" charset="-120"/>
              </a:rPr>
              <a:t>on the 'Open the CTF' slide.</a:t>
            </a:r>
            <a:endParaRPr lang="en-US" sz="1600" dirty="0"/>
          </a:p>
        </p:txBody>
      </p:sp>
      <p:sp>
        <p:nvSpPr>
          <p:cNvPr id="10" name="Shape 7"/>
          <p:cNvSpPr/>
          <p:nvPr/>
        </p:nvSpPr>
        <p:spPr>
          <a:xfrm>
            <a:off x="548640" y="3282696"/>
            <a:ext cx="457200" cy="457200"/>
          </a:xfrm>
          <a:prstGeom prst="ellipse">
            <a:avLst/>
          </a:prstGeom>
          <a:solidFill>
            <a:srgbClr val="2459D8"/>
          </a:solidFill>
          <a:ln/>
        </p:spPr>
      </p:sp>
      <p:sp>
        <p:nvSpPr>
          <p:cNvPr id="11" name="Text 8"/>
          <p:cNvSpPr txBox="1"/>
          <p:nvPr/>
        </p:nvSpPr>
        <p:spPr>
          <a:xfrm>
            <a:off x="548640" y="328269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2" name="Text 9"/>
          <p:cNvSpPr txBox="1"/>
          <p:nvPr/>
        </p:nvSpPr>
        <p:spPr>
          <a:xfrm>
            <a:off x="1188720" y="3255264"/>
            <a:ext cx="5760720" cy="749808"/>
          </a:xfrm>
          <a:prstGeom prst="rect">
            <a:avLst/>
          </a:prstGeom>
          <a:noFill/>
          <a:ln/>
        </p:spPr>
        <p:txBody>
          <a:bodyPr wrap="square" lIns="0" tIns="0" rIns="0" bIns="0" rtlCol="0" anchor="t"/>
          <a:lstStyle/>
          <a:p>
            <a:pPr indent="0" marL="0">
              <a:buNone/>
            </a:pPr>
            <a:r>
              <a:rPr lang="en-US" sz="1600" b="1" dirty="0">
                <a:solidFill>
                  <a:srgbClr val="12213A"/>
                </a:solidFill>
                <a:latin typeface="Calibri" pitchFamily="34" charset="0"/>
                <a:ea typeface="Calibri" pitchFamily="34" charset="-122"/>
                <a:cs typeface="Calibri" pitchFamily="34" charset="-120"/>
              </a:rPr>
              <a:t>Test on a student Chromebook, on school Wi-Fi. </a:t>
            </a:r>
            <a:pPr indent="0" marL="0">
              <a:buNone/>
            </a:pPr>
            <a:r>
              <a:rPr lang="en-US" sz="1600" dirty="0">
                <a:solidFill>
                  <a:srgbClr val="12213A"/>
                </a:solidFill>
                <a:latin typeface="Calibri" pitchFamily="34" charset="0"/>
                <a:ea typeface="Calibri" pitchFamily="34" charset="-122"/>
                <a:cs typeface="Calibri" pitchFamily="34" charset="-120"/>
              </a:rPr>
              <a:t>It must reach 'Ready'.</a:t>
            </a:r>
            <a:endParaRPr lang="en-US" sz="1600" dirty="0"/>
          </a:p>
        </p:txBody>
      </p:sp>
      <p:sp>
        <p:nvSpPr>
          <p:cNvPr id="13" name="Shape 10"/>
          <p:cNvSpPr/>
          <p:nvPr/>
        </p:nvSpPr>
        <p:spPr>
          <a:xfrm>
            <a:off x="548640" y="4123944"/>
            <a:ext cx="457200" cy="457200"/>
          </a:xfrm>
          <a:prstGeom prst="ellipse">
            <a:avLst/>
          </a:prstGeom>
          <a:solidFill>
            <a:srgbClr val="2459D8"/>
          </a:solidFill>
          <a:ln/>
        </p:spPr>
      </p:sp>
      <p:sp>
        <p:nvSpPr>
          <p:cNvPr id="14" name="Text 11"/>
          <p:cNvSpPr txBox="1"/>
          <p:nvPr/>
        </p:nvSpPr>
        <p:spPr>
          <a:xfrm>
            <a:off x="548640" y="4123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5" name="Text 12"/>
          <p:cNvSpPr txBox="1"/>
          <p:nvPr/>
        </p:nvSpPr>
        <p:spPr>
          <a:xfrm>
            <a:off x="1188720" y="4096512"/>
            <a:ext cx="5760720" cy="749808"/>
          </a:xfrm>
          <a:prstGeom prst="rect">
            <a:avLst/>
          </a:prstGeom>
          <a:noFill/>
          <a:ln/>
        </p:spPr>
        <p:txBody>
          <a:bodyPr wrap="square" lIns="0" tIns="0" rIns="0" bIns="0" rtlCol="0" anchor="t"/>
          <a:lstStyle/>
          <a:p>
            <a:pPr indent="0" marL="0">
              <a:buNone/>
            </a:pPr>
            <a:r>
              <a:rPr lang="en-US" sz="1600" b="1" dirty="0">
                <a:solidFill>
                  <a:srgbClr val="12213A"/>
                </a:solidFill>
                <a:latin typeface="Calibri" pitchFamily="34" charset="0"/>
                <a:ea typeface="Calibri" pitchFamily="34" charset="-122"/>
                <a:cs typeface="Calibri" pitchFamily="34" charset="-120"/>
              </a:rPr>
              <a:t>Blocked page? </a:t>
            </a:r>
            <a:pPr indent="0" marL="0">
              <a:buNone/>
            </a:pPr>
            <a:r>
              <a:rPr lang="en-US" sz="1600" dirty="0">
                <a:solidFill>
                  <a:srgbClr val="12213A"/>
                </a:solidFill>
                <a:latin typeface="Calibri" pitchFamily="34" charset="0"/>
                <a:ea typeface="Calibri" pitchFamily="34" charset="-122"/>
                <a:cs typeface="Calibri" pitchFamily="34" charset="-120"/>
              </a:rPr>
              <a:t>Ask IT to allow your *.gitlab.io address.</a:t>
            </a:r>
            <a:endParaRPr lang="en-US" sz="1600" dirty="0"/>
          </a:p>
        </p:txBody>
      </p:sp>
      <p:sp>
        <p:nvSpPr>
          <p:cNvPr id="16" name="Shape 13"/>
          <p:cNvSpPr/>
          <p:nvPr/>
        </p:nvSpPr>
        <p:spPr>
          <a:xfrm>
            <a:off x="548640" y="4965192"/>
            <a:ext cx="457200" cy="457200"/>
          </a:xfrm>
          <a:prstGeom prst="ellipse">
            <a:avLst/>
          </a:prstGeom>
          <a:solidFill>
            <a:srgbClr val="2459D8"/>
          </a:solidFill>
          <a:ln/>
        </p:spPr>
      </p:sp>
      <p:sp>
        <p:nvSpPr>
          <p:cNvPr id="17" name="Text 14"/>
          <p:cNvSpPr txBox="1"/>
          <p:nvPr/>
        </p:nvSpPr>
        <p:spPr>
          <a:xfrm>
            <a:off x="548640" y="49651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18" name="Text 15"/>
          <p:cNvSpPr txBox="1"/>
          <p:nvPr/>
        </p:nvSpPr>
        <p:spPr>
          <a:xfrm>
            <a:off x="1188720" y="4937760"/>
            <a:ext cx="5760720" cy="749808"/>
          </a:xfrm>
          <a:prstGeom prst="rect">
            <a:avLst/>
          </a:prstGeom>
          <a:noFill/>
          <a:ln/>
        </p:spPr>
        <p:txBody>
          <a:bodyPr wrap="square" lIns="0" tIns="0" rIns="0" bIns="0" rtlCol="0" anchor="t"/>
          <a:lstStyle/>
          <a:p>
            <a:pPr indent="0" marL="0">
              <a:buNone/>
            </a:pPr>
            <a:r>
              <a:rPr lang="en-US" sz="1600" b="1" dirty="0">
                <a:solidFill>
                  <a:srgbClr val="12213A"/>
                </a:solidFill>
                <a:latin typeface="Calibri" pitchFamily="34" charset="0"/>
                <a:ea typeface="Calibri" pitchFamily="34" charset="-122"/>
                <a:cs typeface="Calibri" pitchFamily="34" charset="-120"/>
              </a:rPr>
              <a:t>Play all ten missions yourself once. </a:t>
            </a:r>
            <a:pPr indent="0" marL="0">
              <a:buNone/>
            </a:pPr>
            <a:r>
              <a:rPr lang="en-US" sz="1600" dirty="0">
                <a:solidFill>
                  <a:srgbClr val="12213A"/>
                </a:solidFill>
                <a:latin typeface="Calibri" pitchFamily="34" charset="0"/>
                <a:ea typeface="Calibri" pitchFamily="34" charset="-122"/>
                <a:cs typeface="Calibri" pitchFamily="34" charset="-120"/>
              </a:rPr>
              <a:t>Note your time: it makes a fun target.</a:t>
            </a:r>
            <a:endParaRPr lang="en-US" sz="1600" dirty="0"/>
          </a:p>
        </p:txBody>
      </p:sp>
      <p:sp>
        <p:nvSpPr>
          <p:cNvPr id="19" name="Shape 16"/>
          <p:cNvSpPr/>
          <p:nvPr/>
        </p:nvSpPr>
        <p:spPr>
          <a:xfrm>
            <a:off x="7406640" y="1554480"/>
            <a:ext cx="4233672" cy="4343400"/>
          </a:xfrm>
          <a:prstGeom prst="roundRect">
            <a:avLst>
              <a:gd name="adj" fmla="val 2160"/>
            </a:avLst>
          </a:prstGeom>
          <a:solidFill>
            <a:srgbClr val="FFF4DC"/>
          </a:solidFill>
          <a:ln/>
        </p:spPr>
      </p:sp>
      <p:sp>
        <p:nvSpPr>
          <p:cNvPr id="20" name="Text 17"/>
          <p:cNvSpPr txBox="1"/>
          <p:nvPr/>
        </p:nvSpPr>
        <p:spPr>
          <a:xfrm>
            <a:off x="7680960" y="1737360"/>
            <a:ext cx="3657600" cy="411480"/>
          </a:xfrm>
          <a:prstGeom prst="rect">
            <a:avLst/>
          </a:prstGeom>
          <a:noFill/>
          <a:ln/>
        </p:spPr>
        <p:txBody>
          <a:bodyPr wrap="square" lIns="0" tIns="0" rIns="0" bIns="0" rtlCol="0" anchor="t"/>
          <a:lstStyle/>
          <a:p>
            <a:pPr indent="0" marL="0">
              <a:buNone/>
            </a:pPr>
            <a:r>
              <a:rPr lang="en-US" sz="2000" b="1" dirty="0">
                <a:solidFill>
                  <a:srgbClr val="12213A"/>
                </a:solidFill>
                <a:latin typeface="Arial" pitchFamily="34" charset="0"/>
                <a:ea typeface="Arial" pitchFamily="34" charset="-122"/>
                <a:cs typeface="Arial" pitchFamily="34" charset="-120"/>
              </a:rPr>
              <a:t>The day before</a:t>
            </a:r>
            <a:endParaRPr lang="en-US" sz="2000" dirty="0"/>
          </a:p>
        </p:txBody>
      </p:sp>
      <p:sp>
        <p:nvSpPr>
          <p:cNvPr id="21" name="Text 18"/>
          <p:cNvSpPr txBox="1"/>
          <p:nvPr/>
        </p:nvSpPr>
        <p:spPr>
          <a:xfrm>
            <a:off x="7680960" y="2286000"/>
            <a:ext cx="3749040" cy="347472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12213A"/>
                </a:solidFill>
                <a:latin typeface="Calibri" pitchFamily="34" charset="0"/>
                <a:ea typeface="Calibri" pitchFamily="34" charset="-122"/>
                <a:cs typeface="Calibri" pitchFamily="34" charset="-120"/>
              </a:rPr>
              <a:t>Open the link on a student device and time the boot.</a:t>
            </a:r>
            <a:endParaRPr lang="en-US" sz="1600" dirty="0"/>
          </a:p>
          <a:p>
            <a:pPr marL="342900" indent="-342900">
              <a:spcAft>
                <a:spcPts val="900"/>
              </a:spcAft>
              <a:buSzPct val="100000"/>
              <a:buChar char="•"/>
            </a:pPr>
            <a:r>
              <a:rPr lang="en-US" sz="1600" dirty="0">
                <a:solidFill>
                  <a:srgbClr val="12213A"/>
                </a:solidFill>
                <a:latin typeface="Calibri" pitchFamily="34" charset="0"/>
                <a:ea typeface="Calibri" pitchFamily="34" charset="-122"/>
                <a:cs typeface="Calibri" pitchFamily="34" charset="-120"/>
              </a:rPr>
              <a:t>'Ready' or 'Ready (lite mode)' are both fine.</a:t>
            </a:r>
            <a:endParaRPr lang="en-US" sz="1600" dirty="0"/>
          </a:p>
          <a:p>
            <a:pPr marL="342900" indent="-342900">
              <a:spcAft>
                <a:spcPts val="900"/>
              </a:spcAft>
              <a:buSzPct val="100000"/>
              <a:buChar char="•"/>
            </a:pPr>
            <a:r>
              <a:rPr lang="en-US" sz="1600" dirty="0">
                <a:solidFill>
                  <a:srgbClr val="12213A"/>
                </a:solidFill>
                <a:latin typeface="Calibri" pitchFamily="34" charset="0"/>
                <a:ea typeface="Calibri" pitchFamily="34" charset="-122"/>
                <a:cs typeface="Calibri" pitchFamily="34" charset="-120"/>
              </a:rPr>
              <a:t>Have a Plan B: a projector demo from a device that works.</a:t>
            </a:r>
            <a:endParaRPr lang="en-US" sz="1600" dirty="0"/>
          </a:p>
          <a:p>
            <a:pPr marL="342900" indent="-342900">
              <a:spcAft>
                <a:spcPts val="900"/>
              </a:spcAft>
              <a:buSzPct val="100000"/>
              <a:buChar char="•"/>
            </a:pPr>
            <a:r>
              <a:rPr lang="en-US" sz="1600" dirty="0">
                <a:solidFill>
                  <a:srgbClr val="12213A"/>
                </a:solidFill>
                <a:latin typeface="Calibri" pitchFamily="34" charset="0"/>
                <a:ea typeface="Calibri" pitchFamily="34" charset="-122"/>
                <a:cs typeface="Calibri" pitchFamily="34" charset="-120"/>
              </a:rPr>
              <a:t>Bring the link as a QR code or short link for the board.</a:t>
            </a:r>
            <a:endParaRPr lang="en-US" sz="1600" dirty="0"/>
          </a:p>
        </p:txBody>
      </p:sp>
      <p:sp>
        <p:nvSpPr>
          <p:cNvPr id="22" name="Text 19"/>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55 / 79</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Mentor appendix: how the page works</a:t>
            </a:r>
            <a:endParaRPr lang="en-US" sz="3200" dirty="0"/>
          </a:p>
        </p:txBody>
      </p:sp>
      <p:sp>
        <p:nvSpPr>
          <p:cNvPr id="4" name="Shape 1"/>
          <p:cNvSpPr/>
          <p:nvPr/>
        </p:nvSpPr>
        <p:spPr>
          <a:xfrm>
            <a:off x="548640" y="1554480"/>
            <a:ext cx="3566160" cy="3063240"/>
          </a:xfrm>
          <a:prstGeom prst="roundRect">
            <a:avLst>
              <a:gd name="adj" fmla="val 2985"/>
            </a:avLst>
          </a:prstGeom>
          <a:solidFill>
            <a:srgbClr val="F1F5FB"/>
          </a:solidFill>
          <a:ln/>
        </p:spPr>
      </p:sp>
      <p:sp>
        <p:nvSpPr>
          <p:cNvPr id="5" name="Shape 2"/>
          <p:cNvSpPr/>
          <p:nvPr/>
        </p:nvSpPr>
        <p:spPr>
          <a:xfrm>
            <a:off x="822960" y="1783080"/>
            <a:ext cx="868680" cy="868680"/>
          </a:xfrm>
          <a:prstGeom prst="ellipse">
            <a:avLst/>
          </a:prstGeom>
          <a:solidFill>
            <a:srgbClr val="2A9FD6"/>
          </a:solidFill>
          <a:ln/>
        </p:spPr>
      </p:sp>
      <p:pic>
        <p:nvPicPr>
          <p:cNvPr id="6" name="Image 0" descr="preencoded.png">    </p:cNvPr>
          <p:cNvPicPr>
            <a:picLocks noChangeAspect="1"/>
          </p:cNvPicPr>
          <p:nvPr/>
        </p:nvPicPr>
        <p:blipFill>
          <a:blip r:embed="rId1"/>
          <a:stretch>
            <a:fillRect/>
          </a:stretch>
        </p:blipFill>
        <p:spPr>
          <a:xfrm>
            <a:off x="1040130" y="2000250"/>
            <a:ext cx="434340" cy="434340"/>
          </a:xfrm>
          <a:prstGeom prst="rect">
            <a:avLst/>
          </a:prstGeom>
        </p:spPr>
      </p:pic>
      <p:sp>
        <p:nvSpPr>
          <p:cNvPr id="7" name="Text 3"/>
          <p:cNvSpPr txBox="1"/>
          <p:nvPr/>
        </p:nvSpPr>
        <p:spPr>
          <a:xfrm>
            <a:off x="822960" y="2834640"/>
            <a:ext cx="3017520" cy="457200"/>
          </a:xfrm>
          <a:prstGeom prst="rect">
            <a:avLst/>
          </a:prstGeom>
          <a:noFill/>
          <a:ln/>
        </p:spPr>
        <p:txBody>
          <a:bodyPr wrap="square" lIns="0" tIns="0" rIns="0" bIns="0" rtlCol="0" anchor="t"/>
          <a:lstStyle/>
          <a:p>
            <a:pPr indent="0" marL="0">
              <a:buNone/>
            </a:pPr>
            <a:r>
              <a:rPr lang="en-US" sz="2200" b="1" dirty="0">
                <a:solidFill>
                  <a:srgbClr val="12213A"/>
                </a:solidFill>
                <a:latin typeface="Arial" pitchFamily="34" charset="0"/>
                <a:ea typeface="Arial" pitchFamily="34" charset="-122"/>
                <a:cs typeface="Arial" pitchFamily="34" charset="-120"/>
              </a:rPr>
              <a:t>A real terminal</a:t>
            </a:r>
            <a:endParaRPr lang="en-US" sz="2200" dirty="0"/>
          </a:p>
        </p:txBody>
      </p:sp>
      <p:sp>
        <p:nvSpPr>
          <p:cNvPr id="8" name="Text 4"/>
          <p:cNvSpPr txBox="1"/>
          <p:nvPr/>
        </p:nvSpPr>
        <p:spPr>
          <a:xfrm>
            <a:off x="822960" y="3337560"/>
            <a:ext cx="3017520" cy="118872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A Linux shell with standard commands, running in your tab.</a:t>
            </a:r>
            <a:endParaRPr lang="en-US" sz="1600" dirty="0"/>
          </a:p>
        </p:txBody>
      </p:sp>
      <p:sp>
        <p:nvSpPr>
          <p:cNvPr id="9" name="Shape 5"/>
          <p:cNvSpPr/>
          <p:nvPr/>
        </p:nvSpPr>
        <p:spPr>
          <a:xfrm>
            <a:off x="4306824" y="1554480"/>
            <a:ext cx="3566160" cy="3063240"/>
          </a:xfrm>
          <a:prstGeom prst="roundRect">
            <a:avLst>
              <a:gd name="adj" fmla="val 2985"/>
            </a:avLst>
          </a:prstGeom>
          <a:solidFill>
            <a:srgbClr val="F1F5FB"/>
          </a:solidFill>
          <a:ln/>
        </p:spPr>
      </p:sp>
      <p:sp>
        <p:nvSpPr>
          <p:cNvPr id="10" name="Shape 6"/>
          <p:cNvSpPr/>
          <p:nvPr/>
        </p:nvSpPr>
        <p:spPr>
          <a:xfrm>
            <a:off x="4581144" y="1783080"/>
            <a:ext cx="868680" cy="868680"/>
          </a:xfrm>
          <a:prstGeom prst="ellipse">
            <a:avLst/>
          </a:prstGeom>
          <a:solidFill>
            <a:srgbClr val="7448D4"/>
          </a:solidFill>
          <a:ln/>
        </p:spPr>
      </p:sp>
      <p:pic>
        <p:nvPicPr>
          <p:cNvPr id="11" name="Image 1" descr="preencoded.png">    </p:cNvPr>
          <p:cNvPicPr>
            <a:picLocks noChangeAspect="1"/>
          </p:cNvPicPr>
          <p:nvPr/>
        </p:nvPicPr>
        <p:blipFill>
          <a:blip r:embed="rId2"/>
          <a:stretch>
            <a:fillRect/>
          </a:stretch>
        </p:blipFill>
        <p:spPr>
          <a:xfrm>
            <a:off x="4798314" y="2000250"/>
            <a:ext cx="434340" cy="434340"/>
          </a:xfrm>
          <a:prstGeom prst="rect">
            <a:avLst/>
          </a:prstGeom>
        </p:spPr>
      </p:pic>
      <p:sp>
        <p:nvSpPr>
          <p:cNvPr id="12" name="Text 7"/>
          <p:cNvSpPr txBox="1"/>
          <p:nvPr/>
        </p:nvSpPr>
        <p:spPr>
          <a:xfrm>
            <a:off x="4581144" y="2834640"/>
            <a:ext cx="3017520" cy="457200"/>
          </a:xfrm>
          <a:prstGeom prst="rect">
            <a:avLst/>
          </a:prstGeom>
          <a:noFill/>
          <a:ln/>
        </p:spPr>
        <p:txBody>
          <a:bodyPr wrap="square" lIns="0" tIns="0" rIns="0" bIns="0" rtlCol="0" anchor="t"/>
          <a:lstStyle/>
          <a:p>
            <a:pPr indent="0" marL="0">
              <a:buNone/>
            </a:pPr>
            <a:r>
              <a:rPr lang="en-US" sz="2200" b="1" dirty="0">
                <a:solidFill>
                  <a:srgbClr val="12213A"/>
                </a:solidFill>
                <a:latin typeface="Arial" pitchFamily="34" charset="0"/>
                <a:ea typeface="Arial" pitchFamily="34" charset="-122"/>
                <a:cs typeface="Arial" pitchFamily="34" charset="-120"/>
              </a:rPr>
              <a:t>Ten missions</a:t>
            </a:r>
            <a:endParaRPr lang="en-US" sz="2200" dirty="0"/>
          </a:p>
        </p:txBody>
      </p:sp>
      <p:sp>
        <p:nvSpPr>
          <p:cNvPr id="13" name="Text 8"/>
          <p:cNvSpPr txBox="1"/>
          <p:nvPr/>
        </p:nvSpPr>
        <p:spPr>
          <a:xfrm>
            <a:off x="4581144" y="3337560"/>
            <a:ext cx="3017520" cy="118872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2,700 points, easiest first. New random flags on every page load.</a:t>
            </a:r>
            <a:endParaRPr lang="en-US" sz="1600" dirty="0"/>
          </a:p>
        </p:txBody>
      </p:sp>
      <p:sp>
        <p:nvSpPr>
          <p:cNvPr id="14" name="Shape 9"/>
          <p:cNvSpPr/>
          <p:nvPr/>
        </p:nvSpPr>
        <p:spPr>
          <a:xfrm>
            <a:off x="8065008" y="1554480"/>
            <a:ext cx="3566160" cy="3063240"/>
          </a:xfrm>
          <a:prstGeom prst="roundRect">
            <a:avLst>
              <a:gd name="adj" fmla="val 2985"/>
            </a:avLst>
          </a:prstGeom>
          <a:solidFill>
            <a:srgbClr val="F1F5FB"/>
          </a:solidFill>
          <a:ln/>
        </p:spPr>
      </p:sp>
      <p:sp>
        <p:nvSpPr>
          <p:cNvPr id="15" name="Shape 10"/>
          <p:cNvSpPr/>
          <p:nvPr/>
        </p:nvSpPr>
        <p:spPr>
          <a:xfrm>
            <a:off x="8339328" y="1783080"/>
            <a:ext cx="868680" cy="868680"/>
          </a:xfrm>
          <a:prstGeom prst="ellipse">
            <a:avLst/>
          </a:prstGeom>
          <a:solidFill>
            <a:srgbClr val="D1416B"/>
          </a:solidFill>
          <a:ln/>
        </p:spPr>
      </p:sp>
      <p:pic>
        <p:nvPicPr>
          <p:cNvPr id="16" name="Image 2" descr="preencoded.png">    </p:cNvPr>
          <p:cNvPicPr>
            <a:picLocks noChangeAspect="1"/>
          </p:cNvPicPr>
          <p:nvPr/>
        </p:nvPicPr>
        <p:blipFill>
          <a:blip r:embed="rId3"/>
          <a:stretch>
            <a:fillRect/>
          </a:stretch>
        </p:blipFill>
        <p:spPr>
          <a:xfrm>
            <a:off x="8556498" y="2000250"/>
            <a:ext cx="434340" cy="434340"/>
          </a:xfrm>
          <a:prstGeom prst="rect">
            <a:avLst/>
          </a:prstGeom>
        </p:spPr>
      </p:pic>
      <p:sp>
        <p:nvSpPr>
          <p:cNvPr id="17" name="Text 11"/>
          <p:cNvSpPr txBox="1"/>
          <p:nvPr/>
        </p:nvSpPr>
        <p:spPr>
          <a:xfrm>
            <a:off x="8339328" y="2834640"/>
            <a:ext cx="3017520" cy="457200"/>
          </a:xfrm>
          <a:prstGeom prst="rect">
            <a:avLst/>
          </a:prstGeom>
          <a:noFill/>
          <a:ln/>
        </p:spPr>
        <p:txBody>
          <a:bodyPr wrap="square" lIns="0" tIns="0" rIns="0" bIns="0" rtlCol="0" anchor="t"/>
          <a:lstStyle/>
          <a:p>
            <a:pPr indent="0" marL="0">
              <a:buNone/>
            </a:pPr>
            <a:r>
              <a:rPr lang="en-US" sz="2200" b="1" dirty="0">
                <a:solidFill>
                  <a:srgbClr val="12213A"/>
                </a:solidFill>
                <a:latin typeface="Arial" pitchFamily="34" charset="0"/>
                <a:ea typeface="Arial" pitchFamily="34" charset="-122"/>
                <a:cs typeface="Arial" pitchFamily="34" charset="-120"/>
              </a:rPr>
              <a:t>Nothing to install</a:t>
            </a:r>
            <a:endParaRPr lang="en-US" sz="2200" dirty="0"/>
          </a:p>
        </p:txBody>
      </p:sp>
      <p:sp>
        <p:nvSpPr>
          <p:cNvPr id="18" name="Text 12"/>
          <p:cNvSpPr txBox="1"/>
          <p:nvPr/>
        </p:nvSpPr>
        <p:spPr>
          <a:xfrm>
            <a:off x="8339328" y="3337560"/>
            <a:ext cx="3017520" cy="118872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One link. No accounts. Works on Chromebooks, laptops and desktops.</a:t>
            </a:r>
            <a:endParaRPr lang="en-US" sz="1600" dirty="0"/>
          </a:p>
        </p:txBody>
      </p:sp>
      <p:sp>
        <p:nvSpPr>
          <p:cNvPr id="19" name="Text 13"/>
          <p:cNvSpPr txBox="1"/>
          <p:nvPr/>
        </p:nvSpPr>
        <p:spPr>
          <a:xfrm>
            <a:off x="548640" y="4892040"/>
            <a:ext cx="2743200" cy="320040"/>
          </a:xfrm>
          <a:prstGeom prst="rect">
            <a:avLst/>
          </a:prstGeom>
          <a:noFill/>
          <a:ln/>
        </p:spPr>
        <p:txBody>
          <a:bodyPr wrap="square" lIns="0" tIns="0" rIns="0" bIns="0" rtlCol="0" anchor="t"/>
          <a:lstStyle/>
          <a:p>
            <a:pPr indent="0" marL="0">
              <a:buNone/>
            </a:pPr>
            <a:r>
              <a:rPr lang="en-US" sz="1400" b="1" dirty="0">
                <a:solidFill>
                  <a:srgbClr val="56657E"/>
                </a:solidFill>
                <a:latin typeface="Calibri" pitchFamily="34" charset="0"/>
                <a:ea typeface="Calibri" pitchFamily="34" charset="-122"/>
                <a:cs typeface="Calibri" pitchFamily="34" charset="-120"/>
              </a:rPr>
              <a:t>Under the hood</a:t>
            </a:r>
            <a:endParaRPr lang="en-US" sz="1400" dirty="0"/>
          </a:p>
        </p:txBody>
      </p:sp>
      <p:sp>
        <p:nvSpPr>
          <p:cNvPr id="20" name="Shape 14"/>
          <p:cNvSpPr/>
          <p:nvPr/>
        </p:nvSpPr>
        <p:spPr>
          <a:xfrm>
            <a:off x="548640" y="5303520"/>
            <a:ext cx="1499616" cy="347472"/>
          </a:xfrm>
          <a:prstGeom prst="roundRect">
            <a:avLst>
              <a:gd name="adj" fmla="val 50000"/>
            </a:avLst>
          </a:prstGeom>
          <a:solidFill>
            <a:srgbClr val="E4EAF3"/>
          </a:solidFill>
          <a:ln/>
        </p:spPr>
      </p:sp>
      <p:sp>
        <p:nvSpPr>
          <p:cNvPr id="21" name="Text 15"/>
          <p:cNvSpPr txBox="1"/>
          <p:nvPr/>
        </p:nvSpPr>
        <p:spPr>
          <a:xfrm>
            <a:off x="548640" y="5303520"/>
            <a:ext cx="1499616" cy="347472"/>
          </a:xfrm>
          <a:prstGeom prst="rect">
            <a:avLst/>
          </a:prstGeom>
          <a:noFill/>
          <a:ln/>
        </p:spPr>
        <p:txBody>
          <a:bodyPr wrap="square" lIns="0" tIns="0" rIns="0" bIns="0" rtlCol="0" anchor="ctr"/>
          <a:lstStyle/>
          <a:p>
            <a:pPr algn="ctr" indent="0" marL="0">
              <a:buNone/>
            </a:pPr>
            <a:r>
              <a:rPr lang="en-US" sz="1250" b="1" dirty="0">
                <a:solidFill>
                  <a:srgbClr val="56657E"/>
                </a:solidFill>
                <a:latin typeface="Calibri" pitchFamily="34" charset="0"/>
                <a:ea typeface="Calibri" pitchFamily="34" charset="-122"/>
                <a:cs typeface="Calibri" pitchFamily="34" charset="-120"/>
              </a:rPr>
              <a:t>Your browser</a:t>
            </a:r>
            <a:endParaRPr lang="en-US" sz="1250" dirty="0"/>
          </a:p>
        </p:txBody>
      </p:sp>
      <p:sp>
        <p:nvSpPr>
          <p:cNvPr id="22" name="Text 16"/>
          <p:cNvSpPr txBox="1"/>
          <p:nvPr/>
        </p:nvSpPr>
        <p:spPr>
          <a:xfrm>
            <a:off x="2048256" y="5303520"/>
            <a:ext cx="109728" cy="347472"/>
          </a:xfrm>
          <a:prstGeom prst="rect">
            <a:avLst/>
          </a:prstGeom>
          <a:noFill/>
          <a:ln/>
        </p:spPr>
        <p:txBody>
          <a:bodyPr wrap="square" lIns="0" tIns="0" rIns="0" bIns="0" rtlCol="0" anchor="ctr"/>
          <a:lstStyle/>
          <a:p>
            <a:pPr algn="ctr" indent="0" marL="0">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23" name="Shape 17"/>
          <p:cNvSpPr/>
          <p:nvPr/>
        </p:nvSpPr>
        <p:spPr>
          <a:xfrm>
            <a:off x="2212848" y="5303520"/>
            <a:ext cx="2542032" cy="347472"/>
          </a:xfrm>
          <a:prstGeom prst="roundRect">
            <a:avLst>
              <a:gd name="adj" fmla="val 50000"/>
            </a:avLst>
          </a:prstGeom>
          <a:solidFill>
            <a:srgbClr val="2459D8"/>
          </a:solidFill>
          <a:ln/>
        </p:spPr>
      </p:sp>
      <p:sp>
        <p:nvSpPr>
          <p:cNvPr id="24" name="Text 18"/>
          <p:cNvSpPr txBox="1"/>
          <p:nvPr/>
        </p:nvSpPr>
        <p:spPr>
          <a:xfrm>
            <a:off x="2212848" y="5303520"/>
            <a:ext cx="254203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v86: a PC in WebAssembly</a:t>
            </a:r>
            <a:endParaRPr lang="en-US" sz="1250" dirty="0"/>
          </a:p>
        </p:txBody>
      </p:sp>
      <p:sp>
        <p:nvSpPr>
          <p:cNvPr id="25" name="Text 19"/>
          <p:cNvSpPr txBox="1"/>
          <p:nvPr/>
        </p:nvSpPr>
        <p:spPr>
          <a:xfrm>
            <a:off x="4754880" y="5303520"/>
            <a:ext cx="109728" cy="347472"/>
          </a:xfrm>
          <a:prstGeom prst="rect">
            <a:avLst/>
          </a:prstGeom>
          <a:noFill/>
          <a:ln/>
        </p:spPr>
        <p:txBody>
          <a:bodyPr wrap="square" lIns="0" tIns="0" rIns="0" bIns="0" rtlCol="0" anchor="ctr"/>
          <a:lstStyle/>
          <a:p>
            <a:pPr algn="ctr" indent="0" marL="0">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26" name="Shape 20"/>
          <p:cNvSpPr/>
          <p:nvPr/>
        </p:nvSpPr>
        <p:spPr>
          <a:xfrm>
            <a:off x="4919472" y="5303520"/>
            <a:ext cx="1499616" cy="347472"/>
          </a:xfrm>
          <a:prstGeom prst="roundRect">
            <a:avLst>
              <a:gd name="adj" fmla="val 50000"/>
            </a:avLst>
          </a:prstGeom>
          <a:solidFill>
            <a:srgbClr val="7448D4"/>
          </a:solidFill>
          <a:ln/>
        </p:spPr>
      </p:sp>
      <p:sp>
        <p:nvSpPr>
          <p:cNvPr id="27" name="Text 21"/>
          <p:cNvSpPr txBox="1"/>
          <p:nvPr/>
        </p:nvSpPr>
        <p:spPr>
          <a:xfrm>
            <a:off x="4919472" y="5303520"/>
            <a:ext cx="1499616"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Linux kernel</a:t>
            </a:r>
            <a:endParaRPr lang="en-US" sz="1250" dirty="0"/>
          </a:p>
        </p:txBody>
      </p:sp>
      <p:sp>
        <p:nvSpPr>
          <p:cNvPr id="28" name="Text 22"/>
          <p:cNvSpPr txBox="1"/>
          <p:nvPr/>
        </p:nvSpPr>
        <p:spPr>
          <a:xfrm>
            <a:off x="6419088" y="5303520"/>
            <a:ext cx="109728" cy="347472"/>
          </a:xfrm>
          <a:prstGeom prst="rect">
            <a:avLst/>
          </a:prstGeom>
          <a:noFill/>
          <a:ln/>
        </p:spPr>
        <p:txBody>
          <a:bodyPr wrap="square" lIns="0" tIns="0" rIns="0" bIns="0" rtlCol="0" anchor="ctr"/>
          <a:lstStyle/>
          <a:p>
            <a:pPr algn="ctr" indent="0" marL="0">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29" name="Shape 23"/>
          <p:cNvSpPr/>
          <p:nvPr/>
        </p:nvSpPr>
        <p:spPr>
          <a:xfrm>
            <a:off x="6583680" y="5303520"/>
            <a:ext cx="1847088" cy="347472"/>
          </a:xfrm>
          <a:prstGeom prst="roundRect">
            <a:avLst>
              <a:gd name="adj" fmla="val 50000"/>
            </a:avLst>
          </a:prstGeom>
          <a:solidFill>
            <a:srgbClr val="D1416B"/>
          </a:solidFill>
          <a:ln/>
        </p:spPr>
      </p:sp>
      <p:sp>
        <p:nvSpPr>
          <p:cNvPr id="30" name="Text 24"/>
          <p:cNvSpPr txBox="1"/>
          <p:nvPr/>
        </p:nvSpPr>
        <p:spPr>
          <a:xfrm>
            <a:off x="6583680" y="5303520"/>
            <a:ext cx="1847088"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BusyBox commands</a:t>
            </a:r>
            <a:endParaRPr lang="en-US" sz="1250" dirty="0"/>
          </a:p>
        </p:txBody>
      </p:sp>
      <p:sp>
        <p:nvSpPr>
          <p:cNvPr id="31" name="Text 25"/>
          <p:cNvSpPr txBox="1"/>
          <p:nvPr/>
        </p:nvSpPr>
        <p:spPr>
          <a:xfrm>
            <a:off x="8430768" y="5303520"/>
            <a:ext cx="109728" cy="347472"/>
          </a:xfrm>
          <a:prstGeom prst="rect">
            <a:avLst/>
          </a:prstGeom>
          <a:noFill/>
          <a:ln/>
        </p:spPr>
        <p:txBody>
          <a:bodyPr wrap="square" lIns="0" tIns="0" rIns="0" bIns="0" rtlCol="0" anchor="ctr"/>
          <a:lstStyle/>
          <a:p>
            <a:pPr algn="ctr" indent="0" marL="0">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32" name="Shape 26"/>
          <p:cNvSpPr/>
          <p:nvPr/>
        </p:nvSpPr>
        <p:spPr>
          <a:xfrm>
            <a:off x="8595360" y="5303520"/>
            <a:ext cx="1847088" cy="347472"/>
          </a:xfrm>
          <a:prstGeom prst="roundRect">
            <a:avLst>
              <a:gd name="adj" fmla="val 50000"/>
            </a:avLst>
          </a:prstGeom>
          <a:solidFill>
            <a:srgbClr val="F5A623"/>
          </a:solidFill>
          <a:ln/>
        </p:spPr>
      </p:sp>
      <p:sp>
        <p:nvSpPr>
          <p:cNvPr id="33" name="Text 27"/>
          <p:cNvSpPr txBox="1"/>
          <p:nvPr/>
        </p:nvSpPr>
        <p:spPr>
          <a:xfrm>
            <a:off x="8595360" y="5303520"/>
            <a:ext cx="1847088" cy="347472"/>
          </a:xfrm>
          <a:prstGeom prst="rect">
            <a:avLst/>
          </a:prstGeom>
          <a:noFill/>
          <a:ln/>
        </p:spPr>
        <p:txBody>
          <a:bodyPr wrap="square" lIns="0" tIns="0" rIns="0" bIns="0" rtlCol="0" anchor="ctr"/>
          <a:lstStyle/>
          <a:p>
            <a:pPr algn="ctr" indent="0" marL="0">
              <a:buNone/>
            </a:pPr>
            <a:r>
              <a:rPr lang="en-US" sz="1250" b="1" dirty="0">
                <a:solidFill>
                  <a:srgbClr val="12213A"/>
                </a:solidFill>
                <a:latin typeface="Calibri" pitchFamily="34" charset="0"/>
                <a:ea typeface="Calibri" pitchFamily="34" charset="-122"/>
                <a:cs typeface="Calibri" pitchFamily="34" charset="-120"/>
              </a:rPr>
              <a:t>Your 10 missions</a:t>
            </a:r>
            <a:endParaRPr lang="en-US" sz="1250" dirty="0"/>
          </a:p>
        </p:txBody>
      </p:sp>
      <p:sp>
        <p:nvSpPr>
          <p:cNvPr id="34" name="Text 28"/>
          <p:cNvSpPr txBox="1"/>
          <p:nvPr/>
        </p:nvSpPr>
        <p:spPr>
          <a:xfrm>
            <a:off x="548640" y="5852160"/>
            <a:ext cx="10515600" cy="32004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No WebAssembly? The page switches to lite mode: a simulated shell with the same missions.</a:t>
            </a:r>
            <a:endParaRPr lang="en-US" sz="1300" dirty="0"/>
          </a:p>
        </p:txBody>
      </p:sp>
      <p:sp>
        <p:nvSpPr>
          <p:cNvPr id="35" name="Text 29"/>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56 / 79</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Mentor appendix: open the CTF</a:t>
            </a:r>
            <a:endParaRPr lang="en-US" sz="3200" dirty="0"/>
          </a:p>
        </p:txBody>
      </p:sp>
      <p:sp>
        <p:nvSpPr>
          <p:cNvPr id="4" name="Shape 1"/>
          <p:cNvSpPr/>
          <p:nvPr/>
        </p:nvSpPr>
        <p:spPr>
          <a:xfrm>
            <a:off x="548640" y="1691640"/>
            <a:ext cx="457200" cy="457200"/>
          </a:xfrm>
          <a:prstGeom prst="ellipse">
            <a:avLst/>
          </a:prstGeom>
          <a:solidFill>
            <a:srgbClr val="2459D8"/>
          </a:solidFill>
          <a:ln/>
        </p:spPr>
      </p:sp>
      <p:sp>
        <p:nvSpPr>
          <p:cNvPr id="5" name="Text 2"/>
          <p:cNvSpPr txBox="1"/>
          <p:nvPr/>
        </p:nvSpPr>
        <p:spPr>
          <a:xfrm>
            <a:off x="548640" y="16916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6" name="Text 3"/>
          <p:cNvSpPr txBox="1"/>
          <p:nvPr/>
        </p:nvSpPr>
        <p:spPr>
          <a:xfrm>
            <a:off x="1188720" y="1664208"/>
            <a:ext cx="5394960" cy="91440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Open Chrome </a:t>
            </a:r>
            <a:pPr indent="0" marL="0">
              <a:buNone/>
            </a:pPr>
            <a:r>
              <a:rPr lang="en-US" sz="1800" dirty="0">
                <a:solidFill>
                  <a:srgbClr val="12213A"/>
                </a:solidFill>
                <a:latin typeface="Calibri" pitchFamily="34" charset="0"/>
                <a:ea typeface="Calibri" pitchFamily="34" charset="-122"/>
                <a:cs typeface="Calibri" pitchFamily="34" charset="-120"/>
              </a:rPr>
              <a:t>and type the address from the box on the right.</a:t>
            </a:r>
            <a:endParaRPr lang="en-US" sz="1800" dirty="0"/>
          </a:p>
        </p:txBody>
      </p:sp>
      <p:sp>
        <p:nvSpPr>
          <p:cNvPr id="7" name="Shape 4"/>
          <p:cNvSpPr/>
          <p:nvPr/>
        </p:nvSpPr>
        <p:spPr>
          <a:xfrm>
            <a:off x="548640" y="2697480"/>
            <a:ext cx="457200" cy="457200"/>
          </a:xfrm>
          <a:prstGeom prst="ellipse">
            <a:avLst/>
          </a:prstGeom>
          <a:solidFill>
            <a:srgbClr val="2459D8"/>
          </a:solidFill>
          <a:ln/>
        </p:spPr>
      </p:sp>
      <p:sp>
        <p:nvSpPr>
          <p:cNvPr id="8" name="Text 5"/>
          <p:cNvSpPr txBox="1"/>
          <p:nvPr/>
        </p:nvSpPr>
        <p:spPr>
          <a:xfrm>
            <a:off x="548640" y="26974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9" name="Text 6"/>
          <p:cNvSpPr txBox="1"/>
          <p:nvPr/>
        </p:nvSpPr>
        <p:spPr>
          <a:xfrm>
            <a:off x="1188720" y="2670048"/>
            <a:ext cx="5394960" cy="91440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Watch it boot. </a:t>
            </a:r>
            <a:pPr indent="0" marL="0">
              <a:buNone/>
            </a:pPr>
            <a:r>
              <a:rPr lang="en-US" sz="1800" dirty="0">
                <a:solidFill>
                  <a:srgbClr val="12213A"/>
                </a:solidFill>
                <a:latin typeface="Calibri" pitchFamily="34" charset="0"/>
                <a:ea typeface="Calibri" pitchFamily="34" charset="-122"/>
                <a:cs typeface="Calibri" pitchFamily="34" charset="-120"/>
              </a:rPr>
              <a:t>The status says 'Ready' when Linux is up.</a:t>
            </a:r>
            <a:endParaRPr lang="en-US" sz="1800" dirty="0"/>
          </a:p>
        </p:txBody>
      </p:sp>
      <p:sp>
        <p:nvSpPr>
          <p:cNvPr id="10" name="Shape 7"/>
          <p:cNvSpPr/>
          <p:nvPr/>
        </p:nvSpPr>
        <p:spPr>
          <a:xfrm>
            <a:off x="548640" y="3703320"/>
            <a:ext cx="457200" cy="457200"/>
          </a:xfrm>
          <a:prstGeom prst="ellipse">
            <a:avLst/>
          </a:prstGeom>
          <a:solidFill>
            <a:srgbClr val="2459D8"/>
          </a:solidFill>
          <a:ln/>
        </p:spPr>
      </p:sp>
      <p:sp>
        <p:nvSpPr>
          <p:cNvPr id="11" name="Text 8"/>
          <p:cNvSpPr txBox="1"/>
          <p:nvPr/>
        </p:nvSpPr>
        <p:spPr>
          <a:xfrm>
            <a:off x="548640" y="37033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2" name="Text 9"/>
          <p:cNvSpPr txBox="1"/>
          <p:nvPr/>
        </p:nvSpPr>
        <p:spPr>
          <a:xfrm>
            <a:off x="1188720" y="3675888"/>
            <a:ext cx="5394960" cy="91440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Click inside the black terminal. </a:t>
            </a:r>
            <a:pPr indent="0" marL="0">
              <a:buNone/>
            </a:pPr>
            <a:r>
              <a:rPr lang="en-US" sz="1800" dirty="0">
                <a:solidFill>
                  <a:srgbClr val="12213A"/>
                </a:solidFill>
                <a:latin typeface="Calibri" pitchFamily="34" charset="0"/>
                <a:ea typeface="Calibri" pitchFamily="34" charset="-122"/>
                <a:cs typeface="Calibri" pitchFamily="34" charset="-120"/>
              </a:rPr>
              <a:t>A cursor should blink.</a:t>
            </a:r>
            <a:endParaRPr lang="en-US" sz="1800" dirty="0"/>
          </a:p>
        </p:txBody>
      </p:sp>
      <p:sp>
        <p:nvSpPr>
          <p:cNvPr id="13" name="Shape 10"/>
          <p:cNvSpPr/>
          <p:nvPr/>
        </p:nvSpPr>
        <p:spPr>
          <a:xfrm>
            <a:off x="548640" y="4709160"/>
            <a:ext cx="457200" cy="457200"/>
          </a:xfrm>
          <a:prstGeom prst="ellipse">
            <a:avLst/>
          </a:prstGeom>
          <a:solidFill>
            <a:srgbClr val="2459D8"/>
          </a:solidFill>
          <a:ln/>
        </p:spPr>
      </p:sp>
      <p:sp>
        <p:nvSpPr>
          <p:cNvPr id="14" name="Text 11"/>
          <p:cNvSpPr txBox="1"/>
          <p:nvPr/>
        </p:nvSpPr>
        <p:spPr>
          <a:xfrm>
            <a:off x="548640" y="47091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5" name="Text 12"/>
          <p:cNvSpPr txBox="1"/>
          <p:nvPr/>
        </p:nvSpPr>
        <p:spPr>
          <a:xfrm>
            <a:off x="1188720" y="4681728"/>
            <a:ext cx="5394960" cy="91440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Never reload the page. </a:t>
            </a:r>
            <a:pPr indent="0" marL="0">
              <a:buNone/>
            </a:pPr>
            <a:r>
              <a:rPr lang="en-US" sz="1800" dirty="0">
                <a:solidFill>
                  <a:srgbClr val="12213A"/>
                </a:solidFill>
                <a:latin typeface="Calibri" pitchFamily="34" charset="0"/>
                <a:ea typeface="Calibri" pitchFamily="34" charset="-122"/>
                <a:cs typeface="Calibri" pitchFamily="34" charset="-120"/>
              </a:rPr>
              <a:t>Reloading means new flags, zero points and a reset clock.</a:t>
            </a:r>
            <a:endParaRPr lang="en-US" sz="1800" dirty="0"/>
          </a:p>
        </p:txBody>
      </p:sp>
      <p:sp>
        <p:nvSpPr>
          <p:cNvPr id="16" name="Shape 13"/>
          <p:cNvSpPr/>
          <p:nvPr/>
        </p:nvSpPr>
        <p:spPr>
          <a:xfrm>
            <a:off x="7040880" y="1554480"/>
            <a:ext cx="4599432" cy="2926080"/>
          </a:xfrm>
          <a:prstGeom prst="roundRect">
            <a:avLst>
              <a:gd name="adj" fmla="val 3750"/>
            </a:avLst>
          </a:prstGeom>
          <a:solidFill>
            <a:srgbClr val="0E1726"/>
          </a:solidFill>
          <a:ln/>
        </p:spPr>
      </p:sp>
      <p:sp>
        <p:nvSpPr>
          <p:cNvPr id="17" name="Text 14"/>
          <p:cNvSpPr txBox="1"/>
          <p:nvPr/>
        </p:nvSpPr>
        <p:spPr>
          <a:xfrm>
            <a:off x="7040880" y="1737360"/>
            <a:ext cx="4599432" cy="365760"/>
          </a:xfrm>
          <a:prstGeom prst="rect">
            <a:avLst/>
          </a:prstGeom>
          <a:noFill/>
          <a:ln/>
        </p:spPr>
        <p:txBody>
          <a:bodyPr wrap="square" lIns="0" tIns="0" rIns="0" bIns="0" rtlCol="0" anchor="ctr"/>
          <a:lstStyle/>
          <a:p>
            <a:pPr algn="ctr" indent="0" marL="0">
              <a:buNone/>
            </a:pPr>
            <a:r>
              <a:rPr lang="en-US" sz="1600" dirty="0">
                <a:solidFill>
                  <a:srgbClr val="B8C4D9"/>
                </a:solidFill>
                <a:latin typeface="Calibri" pitchFamily="34" charset="0"/>
                <a:ea typeface="Calibri" pitchFamily="34" charset="-122"/>
                <a:cs typeface="Calibri" pitchFamily="34" charset="-120"/>
              </a:rPr>
              <a:t>CTF address</a:t>
            </a:r>
            <a:endParaRPr lang="en-US" sz="1600" dirty="0"/>
          </a:p>
        </p:txBody>
      </p:sp>
      <p:sp>
        <p:nvSpPr>
          <p:cNvPr id="18" name="Shape 15"/>
          <p:cNvSpPr/>
          <p:nvPr/>
        </p:nvSpPr>
        <p:spPr>
          <a:xfrm>
            <a:off x="7406640" y="2331720"/>
            <a:ext cx="3867912" cy="1371600"/>
          </a:xfrm>
          <a:prstGeom prst="roundRect">
            <a:avLst>
              <a:gd name="adj" fmla="val 5333"/>
            </a:avLst>
          </a:prstGeom>
          <a:solidFill>
            <a:srgbClr val="162238"/>
          </a:solidFill>
          <a:ln w="25400">
            <a:solidFill>
              <a:srgbClr val="F5A623"/>
            </a:solidFill>
            <a:prstDash val="dash"/>
          </a:ln>
        </p:spPr>
      </p:sp>
      <p:sp>
        <p:nvSpPr>
          <p:cNvPr id="19" name="Text 16"/>
          <p:cNvSpPr txBox="1"/>
          <p:nvPr/>
        </p:nvSpPr>
        <p:spPr>
          <a:xfrm>
            <a:off x="7406640" y="2331720"/>
            <a:ext cx="3867912" cy="1371600"/>
          </a:xfrm>
          <a:prstGeom prst="rect">
            <a:avLst/>
          </a:prstGeom>
          <a:noFill/>
          <a:ln/>
        </p:spPr>
        <p:txBody>
          <a:bodyPr wrap="square" lIns="0" tIns="0" rIns="0" bIns="0" rtlCol="0" anchor="ctr"/>
          <a:lstStyle/>
          <a:p>
            <a:pPr algn="ctr" indent="0" marL="0">
              <a:buNone/>
            </a:pPr>
            <a:r>
              <a:rPr lang="en-US" sz="2000" b="1" dirty="0">
                <a:solidFill>
                  <a:srgbClr val="F5A623"/>
                </a:solidFill>
                <a:latin typeface="Courier New" pitchFamily="34" charset="0"/>
                <a:ea typeface="Courier New" pitchFamily="34" charset="-122"/>
                <a:cs typeface="Courier New" pitchFamily="34" charset="-120"/>
              </a:rPr>
              <a:t>your-group.gitlab.io/...</a:t>
            </a:r>
            <a:endParaRPr lang="en-US" sz="2000" dirty="0"/>
          </a:p>
        </p:txBody>
      </p:sp>
      <p:sp>
        <p:nvSpPr>
          <p:cNvPr id="20" name="Text 17"/>
          <p:cNvSpPr txBox="1"/>
          <p:nvPr/>
        </p:nvSpPr>
        <p:spPr>
          <a:xfrm>
            <a:off x="7040880" y="3840480"/>
            <a:ext cx="4599432" cy="365760"/>
          </a:xfrm>
          <a:prstGeom prst="rect">
            <a:avLst/>
          </a:prstGeom>
          <a:noFill/>
          <a:ln/>
        </p:spPr>
        <p:txBody>
          <a:bodyPr wrap="square" lIns="0" tIns="0" rIns="0" bIns="0" rtlCol="0" anchor="ctr"/>
          <a:lstStyle/>
          <a:p>
            <a:pPr algn="ctr" indent="0" marL="0">
              <a:buNone/>
            </a:pPr>
            <a:r>
              <a:rPr lang="en-US" sz="1400" dirty="0">
                <a:solidFill>
                  <a:srgbClr val="7F8FAD"/>
                </a:solidFill>
                <a:latin typeface="Calibri" pitchFamily="34" charset="0"/>
                <a:ea typeface="Calibri" pitchFamily="34" charset="-122"/>
                <a:cs typeface="Calibri" pitchFamily="34" charset="-120"/>
              </a:rPr>
              <a:t>Type it exactly. One computer per pair.</a:t>
            </a:r>
            <a:endParaRPr lang="en-US" sz="1400" dirty="0"/>
          </a:p>
        </p:txBody>
      </p:sp>
      <p:sp>
        <p:nvSpPr>
          <p:cNvPr id="21" name="Shape 18"/>
          <p:cNvSpPr/>
          <p:nvPr/>
        </p:nvSpPr>
        <p:spPr>
          <a:xfrm>
            <a:off x="7040880" y="4709160"/>
            <a:ext cx="4599432" cy="1188720"/>
          </a:xfrm>
          <a:prstGeom prst="roundRect">
            <a:avLst>
              <a:gd name="adj" fmla="val 7692"/>
            </a:avLst>
          </a:prstGeom>
          <a:solidFill>
            <a:srgbClr val="FFF4DC"/>
          </a:solidFill>
          <a:ln/>
        </p:spPr>
      </p:sp>
      <p:sp>
        <p:nvSpPr>
          <p:cNvPr id="22" name="Text 19"/>
          <p:cNvSpPr txBox="1"/>
          <p:nvPr/>
        </p:nvSpPr>
        <p:spPr>
          <a:xfrm>
            <a:off x="7315200" y="4709160"/>
            <a:ext cx="4114800" cy="118872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Don't type yet! </a:t>
            </a:r>
            <a:pPr indent="0" marL="0">
              <a:buNone/>
            </a:pPr>
            <a:r>
              <a:rPr lang="en-US" sz="1500" dirty="0">
                <a:solidFill>
                  <a:srgbClr val="12213A"/>
                </a:solidFill>
                <a:latin typeface="Calibri" pitchFamily="34" charset="0"/>
                <a:ea typeface="Calibri" pitchFamily="34" charset="-122"/>
                <a:cs typeface="Calibri" pitchFamily="34" charset="-120"/>
              </a:rPr>
              <a:t>The clock starts on your first keystroke in Mission 1 — explore the page freely first.</a:t>
            </a:r>
            <a:endParaRPr lang="en-US" sz="1500" dirty="0"/>
          </a:p>
        </p:txBody>
      </p:sp>
      <p:sp>
        <p:nvSpPr>
          <p:cNvPr id="23" name="Text 20"/>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57 / 79</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Mentor appendix: every command is a conversation</a:t>
            </a:r>
            <a:endParaRPr lang="en-US" sz="3200" dirty="0"/>
          </a:p>
        </p:txBody>
      </p:sp>
      <p:sp>
        <p:nvSpPr>
          <p:cNvPr id="4" name="Shape 1"/>
          <p:cNvSpPr/>
          <p:nvPr/>
        </p:nvSpPr>
        <p:spPr>
          <a:xfrm>
            <a:off x="548640" y="1508760"/>
            <a:ext cx="2514600" cy="2148840"/>
          </a:xfrm>
          <a:prstGeom prst="roundRect">
            <a:avLst>
              <a:gd name="adj" fmla="val 4255"/>
            </a:avLst>
          </a:prstGeom>
          <a:solidFill>
            <a:srgbClr val="F1F5FB"/>
          </a:solidFill>
          <a:ln/>
        </p:spPr>
      </p:sp>
      <p:sp>
        <p:nvSpPr>
          <p:cNvPr id="5" name="Text 2"/>
          <p:cNvSpPr txBox="1"/>
          <p:nvPr/>
        </p:nvSpPr>
        <p:spPr>
          <a:xfrm>
            <a:off x="822960" y="1645920"/>
            <a:ext cx="914400" cy="731520"/>
          </a:xfrm>
          <a:prstGeom prst="rect">
            <a:avLst/>
          </a:prstGeom>
          <a:noFill/>
          <a:ln/>
        </p:spPr>
        <p:txBody>
          <a:bodyPr wrap="square" lIns="0" tIns="0" rIns="0" bIns="0" rtlCol="0" anchor="ctr"/>
          <a:lstStyle/>
          <a:p>
            <a:pPr indent="0" marL="0">
              <a:buNone/>
            </a:pPr>
            <a:r>
              <a:rPr lang="en-US" sz="4400" b="1" dirty="0">
                <a:solidFill>
                  <a:srgbClr val="2A9FD6"/>
                </a:solidFill>
                <a:latin typeface="Arial" pitchFamily="34" charset="0"/>
                <a:ea typeface="Arial" pitchFamily="34" charset="-122"/>
                <a:cs typeface="Arial" pitchFamily="34" charset="-120"/>
              </a:rPr>
              <a:t>1</a:t>
            </a:r>
            <a:endParaRPr lang="en-US" sz="4400" dirty="0"/>
          </a:p>
        </p:txBody>
      </p:sp>
      <p:sp>
        <p:nvSpPr>
          <p:cNvPr id="6" name="Text 3"/>
          <p:cNvSpPr txBox="1"/>
          <p:nvPr/>
        </p:nvSpPr>
        <p:spPr>
          <a:xfrm>
            <a:off x="822960" y="2395728"/>
            <a:ext cx="2057400" cy="411480"/>
          </a:xfrm>
          <a:prstGeom prst="rect">
            <a:avLst/>
          </a:prstGeom>
          <a:noFill/>
          <a:ln/>
        </p:spPr>
        <p:txBody>
          <a:bodyPr wrap="square" lIns="0" tIns="0" rIns="0" bIns="0" rtlCol="0" anchor="t"/>
          <a:lstStyle/>
          <a:p>
            <a:pPr indent="0" marL="0">
              <a:buNone/>
            </a:pPr>
            <a:r>
              <a:rPr lang="en-US" sz="2000" b="1" dirty="0">
                <a:solidFill>
                  <a:srgbClr val="12213A"/>
                </a:solidFill>
                <a:latin typeface="Arial" pitchFamily="34" charset="0"/>
                <a:ea typeface="Arial" pitchFamily="34" charset="-122"/>
                <a:cs typeface="Arial" pitchFamily="34" charset="-120"/>
              </a:rPr>
              <a:t>Prompt appears</a:t>
            </a:r>
            <a:endParaRPr lang="en-US" sz="2000" dirty="0"/>
          </a:p>
        </p:txBody>
      </p:sp>
      <p:sp>
        <p:nvSpPr>
          <p:cNvPr id="7" name="Text 4"/>
          <p:cNvSpPr txBox="1"/>
          <p:nvPr/>
        </p:nvSpPr>
        <p:spPr>
          <a:xfrm>
            <a:off x="822960" y="2834640"/>
            <a:ext cx="2057400" cy="73152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The computer says: your turn.</a:t>
            </a:r>
            <a:endParaRPr lang="en-US" sz="1500" dirty="0"/>
          </a:p>
        </p:txBody>
      </p:sp>
      <p:sp>
        <p:nvSpPr>
          <p:cNvPr id="8" name="Text 5"/>
          <p:cNvSpPr txBox="1"/>
          <p:nvPr/>
        </p:nvSpPr>
        <p:spPr>
          <a:xfrm>
            <a:off x="3063240" y="2240280"/>
            <a:ext cx="292608" cy="548640"/>
          </a:xfrm>
          <a:prstGeom prst="rect">
            <a:avLst/>
          </a:prstGeom>
          <a:noFill/>
          <a:ln/>
        </p:spPr>
        <p:txBody>
          <a:bodyPr wrap="square" lIns="0" tIns="0" rIns="0" bIns="0" rtlCol="0" anchor="ctr"/>
          <a:lstStyle/>
          <a:p>
            <a:pPr algn="ctr" indent="0" marL="0">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9" name="Shape 6"/>
          <p:cNvSpPr/>
          <p:nvPr/>
        </p:nvSpPr>
        <p:spPr>
          <a:xfrm>
            <a:off x="3355848" y="1508760"/>
            <a:ext cx="2514600" cy="2148840"/>
          </a:xfrm>
          <a:prstGeom prst="roundRect">
            <a:avLst>
              <a:gd name="adj" fmla="val 4255"/>
            </a:avLst>
          </a:prstGeom>
          <a:solidFill>
            <a:srgbClr val="F1F5FB"/>
          </a:solidFill>
          <a:ln/>
        </p:spPr>
      </p:sp>
      <p:sp>
        <p:nvSpPr>
          <p:cNvPr id="10" name="Text 7"/>
          <p:cNvSpPr txBox="1"/>
          <p:nvPr/>
        </p:nvSpPr>
        <p:spPr>
          <a:xfrm>
            <a:off x="3630168" y="1645920"/>
            <a:ext cx="914400" cy="731520"/>
          </a:xfrm>
          <a:prstGeom prst="rect">
            <a:avLst/>
          </a:prstGeom>
          <a:noFill/>
          <a:ln/>
        </p:spPr>
        <p:txBody>
          <a:bodyPr wrap="square" lIns="0" tIns="0" rIns="0" bIns="0" rtlCol="0" anchor="ctr"/>
          <a:lstStyle/>
          <a:p>
            <a:pPr indent="0" marL="0">
              <a:buNone/>
            </a:pPr>
            <a:r>
              <a:rPr lang="en-US" sz="4400" b="1" dirty="0">
                <a:solidFill>
                  <a:srgbClr val="2459D8"/>
                </a:solidFill>
                <a:latin typeface="Arial" pitchFamily="34" charset="0"/>
                <a:ea typeface="Arial" pitchFamily="34" charset="-122"/>
                <a:cs typeface="Arial" pitchFamily="34" charset="-120"/>
              </a:rPr>
              <a:t>2</a:t>
            </a:r>
            <a:endParaRPr lang="en-US" sz="4400" dirty="0"/>
          </a:p>
        </p:txBody>
      </p:sp>
      <p:sp>
        <p:nvSpPr>
          <p:cNvPr id="11" name="Text 8"/>
          <p:cNvSpPr txBox="1"/>
          <p:nvPr/>
        </p:nvSpPr>
        <p:spPr>
          <a:xfrm>
            <a:off x="3630168" y="2395728"/>
            <a:ext cx="2057400" cy="411480"/>
          </a:xfrm>
          <a:prstGeom prst="rect">
            <a:avLst/>
          </a:prstGeom>
          <a:noFill/>
          <a:ln/>
        </p:spPr>
        <p:txBody>
          <a:bodyPr wrap="square" lIns="0" tIns="0" rIns="0" bIns="0" rtlCol="0" anchor="t"/>
          <a:lstStyle/>
          <a:p>
            <a:pPr indent="0" marL="0">
              <a:buNone/>
            </a:pPr>
            <a:r>
              <a:rPr lang="en-US" sz="2000" b="1" dirty="0">
                <a:solidFill>
                  <a:srgbClr val="12213A"/>
                </a:solidFill>
                <a:latin typeface="Arial" pitchFamily="34" charset="0"/>
                <a:ea typeface="Arial" pitchFamily="34" charset="-122"/>
                <a:cs typeface="Arial" pitchFamily="34" charset="-120"/>
              </a:rPr>
              <a:t>You type</a:t>
            </a:r>
            <a:endParaRPr lang="en-US" sz="2000" dirty="0"/>
          </a:p>
        </p:txBody>
      </p:sp>
      <p:sp>
        <p:nvSpPr>
          <p:cNvPr id="12" name="Text 9"/>
          <p:cNvSpPr txBox="1"/>
          <p:nvPr/>
        </p:nvSpPr>
        <p:spPr>
          <a:xfrm>
            <a:off x="3630168" y="2834640"/>
            <a:ext cx="2057400" cy="73152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Letters appear after the $. Nothing runs yet.</a:t>
            </a:r>
            <a:endParaRPr lang="en-US" sz="1500" dirty="0"/>
          </a:p>
        </p:txBody>
      </p:sp>
      <p:sp>
        <p:nvSpPr>
          <p:cNvPr id="13" name="Text 10"/>
          <p:cNvSpPr txBox="1"/>
          <p:nvPr/>
        </p:nvSpPr>
        <p:spPr>
          <a:xfrm>
            <a:off x="5870448" y="2240280"/>
            <a:ext cx="292608" cy="548640"/>
          </a:xfrm>
          <a:prstGeom prst="rect">
            <a:avLst/>
          </a:prstGeom>
          <a:noFill/>
          <a:ln/>
        </p:spPr>
        <p:txBody>
          <a:bodyPr wrap="square" lIns="0" tIns="0" rIns="0" bIns="0" rtlCol="0" anchor="ctr"/>
          <a:lstStyle/>
          <a:p>
            <a:pPr algn="ctr" indent="0" marL="0">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4" name="Shape 11"/>
          <p:cNvSpPr/>
          <p:nvPr/>
        </p:nvSpPr>
        <p:spPr>
          <a:xfrm>
            <a:off x="6163056" y="1508760"/>
            <a:ext cx="2514600" cy="2148840"/>
          </a:xfrm>
          <a:prstGeom prst="roundRect">
            <a:avLst>
              <a:gd name="adj" fmla="val 4255"/>
            </a:avLst>
          </a:prstGeom>
          <a:solidFill>
            <a:srgbClr val="F1F5FB"/>
          </a:solidFill>
          <a:ln/>
        </p:spPr>
      </p:sp>
      <p:sp>
        <p:nvSpPr>
          <p:cNvPr id="15" name="Text 12"/>
          <p:cNvSpPr txBox="1"/>
          <p:nvPr/>
        </p:nvSpPr>
        <p:spPr>
          <a:xfrm>
            <a:off x="6437376" y="1645920"/>
            <a:ext cx="914400" cy="731520"/>
          </a:xfrm>
          <a:prstGeom prst="rect">
            <a:avLst/>
          </a:prstGeom>
          <a:noFill/>
          <a:ln/>
        </p:spPr>
        <p:txBody>
          <a:bodyPr wrap="square" lIns="0" tIns="0" rIns="0" bIns="0" rtlCol="0" anchor="ctr"/>
          <a:lstStyle/>
          <a:p>
            <a:pPr indent="0" marL="0">
              <a:buNone/>
            </a:pPr>
            <a:r>
              <a:rPr lang="en-US" sz="4400" b="1" dirty="0">
                <a:solidFill>
                  <a:srgbClr val="7448D4"/>
                </a:solidFill>
                <a:latin typeface="Arial" pitchFamily="34" charset="0"/>
                <a:ea typeface="Arial" pitchFamily="34" charset="-122"/>
                <a:cs typeface="Arial" pitchFamily="34" charset="-120"/>
              </a:rPr>
              <a:t>3</a:t>
            </a:r>
            <a:endParaRPr lang="en-US" sz="4400" dirty="0"/>
          </a:p>
        </p:txBody>
      </p:sp>
      <p:sp>
        <p:nvSpPr>
          <p:cNvPr id="16" name="Text 13"/>
          <p:cNvSpPr txBox="1"/>
          <p:nvPr/>
        </p:nvSpPr>
        <p:spPr>
          <a:xfrm>
            <a:off x="6437376" y="2395728"/>
            <a:ext cx="2057400" cy="411480"/>
          </a:xfrm>
          <a:prstGeom prst="rect">
            <a:avLst/>
          </a:prstGeom>
          <a:noFill/>
          <a:ln/>
        </p:spPr>
        <p:txBody>
          <a:bodyPr wrap="square" lIns="0" tIns="0" rIns="0" bIns="0" rtlCol="0" anchor="t"/>
          <a:lstStyle/>
          <a:p>
            <a:pPr indent="0" marL="0">
              <a:buNone/>
            </a:pPr>
            <a:r>
              <a:rPr lang="en-US" sz="2000" b="1" dirty="0">
                <a:solidFill>
                  <a:srgbClr val="12213A"/>
                </a:solidFill>
                <a:latin typeface="Arial" pitchFamily="34" charset="0"/>
                <a:ea typeface="Arial" pitchFamily="34" charset="-122"/>
                <a:cs typeface="Arial" pitchFamily="34" charset="-120"/>
              </a:rPr>
              <a:t>You press Enter</a:t>
            </a:r>
            <a:endParaRPr lang="en-US" sz="2000" dirty="0"/>
          </a:p>
        </p:txBody>
      </p:sp>
      <p:sp>
        <p:nvSpPr>
          <p:cNvPr id="17" name="Text 14"/>
          <p:cNvSpPr txBox="1"/>
          <p:nvPr/>
        </p:nvSpPr>
        <p:spPr>
          <a:xfrm>
            <a:off x="6437376" y="2834640"/>
            <a:ext cx="2057400" cy="73152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Now the computer runs the command.</a:t>
            </a:r>
            <a:endParaRPr lang="en-US" sz="1500" dirty="0"/>
          </a:p>
        </p:txBody>
      </p:sp>
      <p:sp>
        <p:nvSpPr>
          <p:cNvPr id="18" name="Text 15"/>
          <p:cNvSpPr txBox="1"/>
          <p:nvPr/>
        </p:nvSpPr>
        <p:spPr>
          <a:xfrm>
            <a:off x="8677656" y="2240280"/>
            <a:ext cx="292608" cy="548640"/>
          </a:xfrm>
          <a:prstGeom prst="rect">
            <a:avLst/>
          </a:prstGeom>
          <a:noFill/>
          <a:ln/>
        </p:spPr>
        <p:txBody>
          <a:bodyPr wrap="square" lIns="0" tIns="0" rIns="0" bIns="0" rtlCol="0" anchor="ctr"/>
          <a:lstStyle/>
          <a:p>
            <a:pPr algn="ctr" indent="0" marL="0">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9" name="Shape 16"/>
          <p:cNvSpPr/>
          <p:nvPr/>
        </p:nvSpPr>
        <p:spPr>
          <a:xfrm>
            <a:off x="8970264" y="1508760"/>
            <a:ext cx="2514600" cy="2148840"/>
          </a:xfrm>
          <a:prstGeom prst="roundRect">
            <a:avLst>
              <a:gd name="adj" fmla="val 4255"/>
            </a:avLst>
          </a:prstGeom>
          <a:solidFill>
            <a:srgbClr val="F1F5FB"/>
          </a:solidFill>
          <a:ln/>
        </p:spPr>
      </p:sp>
      <p:sp>
        <p:nvSpPr>
          <p:cNvPr id="20" name="Text 17"/>
          <p:cNvSpPr txBox="1"/>
          <p:nvPr/>
        </p:nvSpPr>
        <p:spPr>
          <a:xfrm>
            <a:off x="9244584" y="1645920"/>
            <a:ext cx="914400" cy="731520"/>
          </a:xfrm>
          <a:prstGeom prst="rect">
            <a:avLst/>
          </a:prstGeom>
          <a:noFill/>
          <a:ln/>
        </p:spPr>
        <p:txBody>
          <a:bodyPr wrap="square" lIns="0" tIns="0" rIns="0" bIns="0" rtlCol="0" anchor="ctr"/>
          <a:lstStyle/>
          <a:p>
            <a:pPr indent="0" marL="0">
              <a:buNone/>
            </a:pPr>
            <a:r>
              <a:rPr lang="en-US" sz="4400" b="1" dirty="0">
                <a:solidFill>
                  <a:srgbClr val="D1416B"/>
                </a:solidFill>
                <a:latin typeface="Arial" pitchFamily="34" charset="0"/>
                <a:ea typeface="Arial" pitchFamily="34" charset="-122"/>
                <a:cs typeface="Arial" pitchFamily="34" charset="-120"/>
              </a:rPr>
              <a:t>4</a:t>
            </a:r>
            <a:endParaRPr lang="en-US" sz="4400" dirty="0"/>
          </a:p>
        </p:txBody>
      </p:sp>
      <p:sp>
        <p:nvSpPr>
          <p:cNvPr id="21" name="Text 18"/>
          <p:cNvSpPr txBox="1"/>
          <p:nvPr/>
        </p:nvSpPr>
        <p:spPr>
          <a:xfrm>
            <a:off x="9244584" y="2395728"/>
            <a:ext cx="2057400" cy="411480"/>
          </a:xfrm>
          <a:prstGeom prst="rect">
            <a:avLst/>
          </a:prstGeom>
          <a:noFill/>
          <a:ln/>
        </p:spPr>
        <p:txBody>
          <a:bodyPr wrap="square" lIns="0" tIns="0" rIns="0" bIns="0" rtlCol="0" anchor="t"/>
          <a:lstStyle/>
          <a:p>
            <a:pPr indent="0" marL="0">
              <a:buNone/>
            </a:pPr>
            <a:r>
              <a:rPr lang="en-US" sz="2000" b="1" dirty="0">
                <a:solidFill>
                  <a:srgbClr val="12213A"/>
                </a:solidFill>
                <a:latin typeface="Arial" pitchFamily="34" charset="0"/>
                <a:ea typeface="Arial" pitchFamily="34" charset="-122"/>
                <a:cs typeface="Arial" pitchFamily="34" charset="-120"/>
              </a:rPr>
              <a:t>Output appears</a:t>
            </a:r>
            <a:endParaRPr lang="en-US" sz="2000" dirty="0"/>
          </a:p>
        </p:txBody>
      </p:sp>
      <p:sp>
        <p:nvSpPr>
          <p:cNvPr id="22" name="Text 19"/>
          <p:cNvSpPr txBox="1"/>
          <p:nvPr/>
        </p:nvSpPr>
        <p:spPr>
          <a:xfrm>
            <a:off x="9244584" y="2834640"/>
            <a:ext cx="2057400" cy="73152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Then a new prompt, and back to step 1.</a:t>
            </a:r>
            <a:endParaRPr lang="en-US" sz="1500" dirty="0"/>
          </a:p>
        </p:txBody>
      </p:sp>
      <p:sp>
        <p:nvSpPr>
          <p:cNvPr id="23" name="Text 20"/>
          <p:cNvSpPr txBox="1"/>
          <p:nvPr/>
        </p:nvSpPr>
        <p:spPr>
          <a:xfrm>
            <a:off x="11484864" y="2240280"/>
            <a:ext cx="292608" cy="548640"/>
          </a:xfrm>
          <a:prstGeom prst="rect">
            <a:avLst/>
          </a:prstGeom>
          <a:noFill/>
          <a:ln/>
        </p:spPr>
        <p:txBody>
          <a:bodyPr wrap="square" lIns="0" tIns="0" rIns="0" bIns="0" rtlCol="0" anchor="ctr"/>
          <a:lstStyle/>
          <a:p>
            <a:pPr algn="ctr" indent="0" marL="0">
              <a:buNone/>
            </a:pPr>
            <a:r>
              <a:rPr lang="en-US" sz="2200" b="1" dirty="0">
                <a:solidFill>
                  <a:srgbClr val="56657E"/>
                </a:solidFill>
                <a:latin typeface="Calibri" pitchFamily="34" charset="0"/>
                <a:ea typeface="Calibri" pitchFamily="34" charset="-122"/>
                <a:cs typeface="Calibri" pitchFamily="34" charset="-120"/>
              </a:rPr>
              <a:t>↺</a:t>
            </a:r>
            <a:endParaRPr lang="en-US" sz="2200" dirty="0"/>
          </a:p>
        </p:txBody>
      </p:sp>
      <p:sp>
        <p:nvSpPr>
          <p:cNvPr id="24" name="Shape 21"/>
          <p:cNvSpPr/>
          <p:nvPr/>
        </p:nvSpPr>
        <p:spPr>
          <a:xfrm>
            <a:off x="548640" y="3931920"/>
            <a:ext cx="5440680" cy="2011680"/>
          </a:xfrm>
          <a:prstGeom prst="roundRect">
            <a:avLst>
              <a:gd name="adj" fmla="val 4545"/>
            </a:avLst>
          </a:prstGeom>
          <a:solidFill>
            <a:srgbClr val="0E1726"/>
          </a:solidFill>
          <a:ln/>
          <a:effectLst>
            <a:outerShdw sx="100000" sy="100000" kx="0" ky="0" algn="bl" rotWithShape="0" blurRad="127000" dist="38100" dir="5400000">
              <a:srgbClr val="12213A">
                <a:alpha val="22000"/>
              </a:srgbClr>
            </a:outerShdw>
          </a:effectLst>
        </p:spPr>
      </p:sp>
      <p:sp>
        <p:nvSpPr>
          <p:cNvPr id="25" name="Shape 22"/>
          <p:cNvSpPr/>
          <p:nvPr/>
        </p:nvSpPr>
        <p:spPr>
          <a:xfrm>
            <a:off x="749808" y="4087368"/>
            <a:ext cx="118872" cy="118872"/>
          </a:xfrm>
          <a:prstGeom prst="ellipse">
            <a:avLst/>
          </a:prstGeom>
          <a:solidFill>
            <a:srgbClr val="E5534B"/>
          </a:solidFill>
          <a:ln/>
        </p:spPr>
      </p:sp>
      <p:sp>
        <p:nvSpPr>
          <p:cNvPr id="26" name="Shape 23"/>
          <p:cNvSpPr/>
          <p:nvPr/>
        </p:nvSpPr>
        <p:spPr>
          <a:xfrm>
            <a:off x="950976" y="4087368"/>
            <a:ext cx="118872" cy="118872"/>
          </a:xfrm>
          <a:prstGeom prst="ellipse">
            <a:avLst/>
          </a:prstGeom>
          <a:solidFill>
            <a:srgbClr val="F5A623"/>
          </a:solidFill>
          <a:ln/>
        </p:spPr>
      </p:sp>
      <p:sp>
        <p:nvSpPr>
          <p:cNvPr id="27" name="Shape 24"/>
          <p:cNvSpPr/>
          <p:nvPr/>
        </p:nvSpPr>
        <p:spPr>
          <a:xfrm>
            <a:off x="1152144" y="4087368"/>
            <a:ext cx="118872" cy="118872"/>
          </a:xfrm>
          <a:prstGeom prst="ellipse">
            <a:avLst/>
          </a:prstGeom>
          <a:solidFill>
            <a:srgbClr val="46D39A"/>
          </a:solidFill>
          <a:ln/>
        </p:spPr>
      </p:sp>
      <p:sp>
        <p:nvSpPr>
          <p:cNvPr id="28" name="Text 25"/>
          <p:cNvSpPr txBox="1"/>
          <p:nvPr/>
        </p:nvSpPr>
        <p:spPr>
          <a:xfrm>
            <a:off x="1463040" y="4005072"/>
            <a:ext cx="361188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no output? that's normal</a:t>
            </a:r>
            <a:endParaRPr lang="en-US" sz="1000" dirty="0"/>
          </a:p>
        </p:txBody>
      </p:sp>
      <p:sp>
        <p:nvSpPr>
          <p:cNvPr id="29" name="Text 26"/>
          <p:cNvSpPr txBox="1"/>
          <p:nvPr/>
        </p:nvSpPr>
        <p:spPr>
          <a:xfrm>
            <a:off x="822960" y="4389120"/>
            <a:ext cx="4892040" cy="1417320"/>
          </a:xfrm>
          <a:prstGeom prst="rect">
            <a:avLst/>
          </a:prstGeom>
          <a:noFill/>
          <a:ln/>
        </p:spPr>
        <p:txBody>
          <a:bodyPr wrap="square" lIns="0" tIns="0" rIns="0" bIns="0" rtlCol="0" anchor="t"/>
          <a:lstStyle/>
          <a:p>
            <a:pPr indent="0" marL="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600" b="1" dirty="0">
                <a:solidFill>
                  <a:srgbClr val="FFFFFF"/>
                </a:solidFill>
                <a:latin typeface="Courier New" pitchFamily="34" charset="0"/>
                <a:ea typeface="Courier New" pitchFamily="34" charset="-122"/>
                <a:cs typeface="Courier New" pitchFamily="34" charset="-120"/>
              </a:rPr>
              <a:t>cd /etc</a:t>
            </a:r>
            <a:endParaRPr lang="en-US" sz="1600" dirty="0"/>
          </a:p>
          <a:p>
            <a:pPr indent="0" marL="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600" b="1" dirty="0">
                <a:solidFill>
                  <a:srgbClr val="FFFFFF"/>
                </a:solidFill>
                <a:latin typeface="Courier New" pitchFamily="34" charset="0"/>
                <a:ea typeface="Courier New" pitchFamily="34" charset="-122"/>
                <a:cs typeface="Courier New" pitchFamily="34" charset="-120"/>
              </a:rPr>
              <a:t>pwd</a:t>
            </a:r>
            <a:endParaRPr lang="en-US" sz="1600" dirty="0"/>
          </a:p>
          <a:p>
            <a:pPr indent="0" marL="0">
              <a:spcAft>
                <a:spcPts val="200"/>
              </a:spcAft>
              <a:buNone/>
            </a:pPr>
            <a:r>
              <a:rPr lang="en-US" sz="1600" dirty="0">
                <a:solidFill>
                  <a:srgbClr val="B8C4D9"/>
                </a:solidFill>
                <a:latin typeface="Courier New" pitchFamily="34" charset="0"/>
                <a:ea typeface="Courier New" pitchFamily="34" charset="-122"/>
                <a:cs typeface="Courier New" pitchFamily="34" charset="-120"/>
              </a:rPr>
              <a:t>/etc</a:t>
            </a:r>
            <a:endParaRPr lang="en-US" sz="1600" dirty="0"/>
          </a:p>
          <a:p>
            <a:pPr indent="0" marL="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600" b="1" dirty="0">
                <a:solidFill>
                  <a:srgbClr val="FFFFFF"/>
                </a:solidFill>
                <a:latin typeface="Courier New" pitchFamily="34" charset="0"/>
                <a:ea typeface="Courier New" pitchFamily="34" charset="-122"/>
                <a:cs typeface="Courier New" pitchFamily="34" charset="-120"/>
              </a:rPr>
              <a:t>cd ~</a:t>
            </a:r>
            <a:endParaRPr lang="en-US" sz="1600" dirty="0"/>
          </a:p>
        </p:txBody>
      </p:sp>
      <p:sp>
        <p:nvSpPr>
          <p:cNvPr id="30" name="Shape 27"/>
          <p:cNvSpPr/>
          <p:nvPr/>
        </p:nvSpPr>
        <p:spPr>
          <a:xfrm>
            <a:off x="6199632" y="3931920"/>
            <a:ext cx="5440680" cy="2011680"/>
          </a:xfrm>
          <a:prstGeom prst="roundRect">
            <a:avLst>
              <a:gd name="adj" fmla="val 4545"/>
            </a:avLst>
          </a:prstGeom>
          <a:solidFill>
            <a:srgbClr val="0E1726"/>
          </a:solidFill>
          <a:ln/>
          <a:effectLst>
            <a:outerShdw sx="100000" sy="100000" kx="0" ky="0" algn="bl" rotWithShape="0" blurRad="127000" dist="38100" dir="5400000">
              <a:srgbClr val="12213A">
                <a:alpha val="22000"/>
              </a:srgbClr>
            </a:outerShdw>
          </a:effectLst>
        </p:spPr>
      </p:sp>
      <p:sp>
        <p:nvSpPr>
          <p:cNvPr id="31" name="Shape 28"/>
          <p:cNvSpPr/>
          <p:nvPr/>
        </p:nvSpPr>
        <p:spPr>
          <a:xfrm>
            <a:off x="6400800" y="4087368"/>
            <a:ext cx="118872" cy="118872"/>
          </a:xfrm>
          <a:prstGeom prst="ellipse">
            <a:avLst/>
          </a:prstGeom>
          <a:solidFill>
            <a:srgbClr val="E5534B"/>
          </a:solidFill>
          <a:ln/>
        </p:spPr>
      </p:sp>
      <p:sp>
        <p:nvSpPr>
          <p:cNvPr id="32" name="Shape 29"/>
          <p:cNvSpPr/>
          <p:nvPr/>
        </p:nvSpPr>
        <p:spPr>
          <a:xfrm>
            <a:off x="6601968" y="4087368"/>
            <a:ext cx="118872" cy="118872"/>
          </a:xfrm>
          <a:prstGeom prst="ellipse">
            <a:avLst/>
          </a:prstGeom>
          <a:solidFill>
            <a:srgbClr val="F5A623"/>
          </a:solidFill>
          <a:ln/>
        </p:spPr>
      </p:sp>
      <p:sp>
        <p:nvSpPr>
          <p:cNvPr id="33" name="Shape 30"/>
          <p:cNvSpPr/>
          <p:nvPr/>
        </p:nvSpPr>
        <p:spPr>
          <a:xfrm>
            <a:off x="6803136" y="4087368"/>
            <a:ext cx="118872" cy="118872"/>
          </a:xfrm>
          <a:prstGeom prst="ellipse">
            <a:avLst/>
          </a:prstGeom>
          <a:solidFill>
            <a:srgbClr val="46D39A"/>
          </a:solidFill>
          <a:ln/>
        </p:spPr>
      </p:sp>
      <p:sp>
        <p:nvSpPr>
          <p:cNvPr id="34" name="Text 31"/>
          <p:cNvSpPr txBox="1"/>
          <p:nvPr/>
        </p:nvSpPr>
        <p:spPr>
          <a:xfrm>
            <a:off x="7114032" y="4005072"/>
            <a:ext cx="361188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errors are output too: read them</a:t>
            </a:r>
            <a:endParaRPr lang="en-US" sz="1000" dirty="0"/>
          </a:p>
        </p:txBody>
      </p:sp>
      <p:sp>
        <p:nvSpPr>
          <p:cNvPr id="35" name="Text 32"/>
          <p:cNvSpPr txBox="1"/>
          <p:nvPr/>
        </p:nvSpPr>
        <p:spPr>
          <a:xfrm>
            <a:off x="6473952" y="4389120"/>
            <a:ext cx="4892040" cy="1417320"/>
          </a:xfrm>
          <a:prstGeom prst="rect">
            <a:avLst/>
          </a:prstGeom>
          <a:noFill/>
          <a:ln/>
        </p:spPr>
        <p:txBody>
          <a:bodyPr wrap="square" lIns="0" tIns="0" rIns="0" bIns="0" rtlCol="0" anchor="t"/>
          <a:lstStyle/>
          <a:p>
            <a:pPr indent="0" marL="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600" b="1" dirty="0">
                <a:solidFill>
                  <a:srgbClr val="FFFFFF"/>
                </a:solidFill>
                <a:latin typeface="Courier New" pitchFamily="34" charset="0"/>
                <a:ea typeface="Courier New" pitchFamily="34" charset="-122"/>
                <a:cs typeface="Courier New" pitchFamily="34" charset="-120"/>
              </a:rPr>
              <a:t>LS</a:t>
            </a:r>
            <a:endParaRPr lang="en-US" sz="1600" dirty="0"/>
          </a:p>
          <a:p>
            <a:pPr indent="0" marL="0">
              <a:spcAft>
                <a:spcPts val="200"/>
              </a:spcAft>
              <a:buNone/>
            </a:pPr>
            <a:r>
              <a:rPr lang="en-US" sz="1600" dirty="0">
                <a:solidFill>
                  <a:srgbClr val="B8C4D9"/>
                </a:solidFill>
                <a:latin typeface="Courier New" pitchFamily="34" charset="0"/>
                <a:ea typeface="Courier New" pitchFamily="34" charset="-122"/>
                <a:cs typeface="Courier New" pitchFamily="34" charset="-120"/>
              </a:rPr>
              <a:t>-sh: LS: not found</a:t>
            </a:r>
            <a:endParaRPr lang="en-US" sz="1600" dirty="0"/>
          </a:p>
          <a:p>
            <a:pPr indent="0" marL="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600" b="1" dirty="0">
                <a:solidFill>
                  <a:srgbClr val="FFFFFF"/>
                </a:solidFill>
                <a:latin typeface="Courier New" pitchFamily="34" charset="0"/>
                <a:ea typeface="Courier New" pitchFamily="34" charset="-122"/>
                <a:cs typeface="Courier New" pitchFamily="34" charset="-120"/>
              </a:rPr>
              <a:t>ls /nope</a:t>
            </a:r>
            <a:endParaRPr lang="en-US" sz="1600" dirty="0"/>
          </a:p>
          <a:p>
            <a:pPr indent="0" marL="0">
              <a:spcAft>
                <a:spcPts val="200"/>
              </a:spcAft>
              <a:buNone/>
            </a:pPr>
            <a:r>
              <a:rPr lang="en-US" sz="1600" dirty="0">
                <a:solidFill>
                  <a:srgbClr val="B8C4D9"/>
                </a:solidFill>
                <a:latin typeface="Courier New" pitchFamily="34" charset="0"/>
                <a:ea typeface="Courier New" pitchFamily="34" charset="-122"/>
                <a:cs typeface="Courier New" pitchFamily="34" charset="-120"/>
              </a:rPr>
              <a:t>ls: /nope: No such file or directory</a:t>
            </a:r>
            <a:endParaRPr lang="en-US" sz="1600" dirty="0"/>
          </a:p>
        </p:txBody>
      </p:sp>
      <p:sp>
        <p:nvSpPr>
          <p:cNvPr id="36" name="Text 33"/>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58 / 79</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Mentor appendix: your first three commands</a:t>
            </a:r>
            <a:endParaRPr lang="en-US" sz="3200" dirty="0"/>
          </a:p>
        </p:txBody>
      </p:sp>
      <p:sp>
        <p:nvSpPr>
          <p:cNvPr id="4" name="Shape 1"/>
          <p:cNvSpPr/>
          <p:nvPr/>
        </p:nvSpPr>
        <p:spPr>
          <a:xfrm>
            <a:off x="548640" y="1645920"/>
            <a:ext cx="457200" cy="457200"/>
          </a:xfrm>
          <a:prstGeom prst="ellipse">
            <a:avLst/>
          </a:prstGeom>
          <a:solidFill>
            <a:srgbClr val="2459D8"/>
          </a:solidFill>
          <a:ln/>
        </p:spPr>
      </p:sp>
      <p:sp>
        <p:nvSpPr>
          <p:cNvPr id="5" name="Text 2"/>
          <p:cNvSpPr txBox="1"/>
          <p:nvPr/>
        </p:nvSpPr>
        <p:spPr>
          <a:xfrm>
            <a:off x="548640" y="1645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6" name="Text 3"/>
          <p:cNvSpPr txBox="1"/>
          <p:nvPr/>
        </p:nvSpPr>
        <p:spPr>
          <a:xfrm>
            <a:off x="1188720" y="1618488"/>
            <a:ext cx="4480560" cy="86868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Click inside the terminal </a:t>
            </a:r>
            <a:pPr indent="0" marL="0">
              <a:buNone/>
            </a:pPr>
            <a:r>
              <a:rPr lang="en-US" sz="1700" dirty="0">
                <a:solidFill>
                  <a:srgbClr val="12213A"/>
                </a:solidFill>
                <a:latin typeface="Calibri" pitchFamily="34" charset="0"/>
                <a:ea typeface="Calibri" pitchFamily="34" charset="-122"/>
                <a:cs typeface="Calibri" pitchFamily="34" charset="-120"/>
              </a:rPr>
              <a:t>so your typing goes there.</a:t>
            </a:r>
            <a:endParaRPr lang="en-US" sz="1700" dirty="0"/>
          </a:p>
        </p:txBody>
      </p:sp>
      <p:sp>
        <p:nvSpPr>
          <p:cNvPr id="7" name="Shape 4"/>
          <p:cNvSpPr/>
          <p:nvPr/>
        </p:nvSpPr>
        <p:spPr>
          <a:xfrm>
            <a:off x="548640" y="2606040"/>
            <a:ext cx="457200" cy="457200"/>
          </a:xfrm>
          <a:prstGeom prst="ellipse">
            <a:avLst/>
          </a:prstGeom>
          <a:solidFill>
            <a:srgbClr val="2459D8"/>
          </a:solidFill>
          <a:ln/>
        </p:spPr>
      </p:sp>
      <p:sp>
        <p:nvSpPr>
          <p:cNvPr id="8" name="Text 5"/>
          <p:cNvSpPr txBox="1"/>
          <p:nvPr/>
        </p:nvSpPr>
        <p:spPr>
          <a:xfrm>
            <a:off x="548640" y="2606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9" name="Text 6"/>
          <p:cNvSpPr txBox="1"/>
          <p:nvPr/>
        </p:nvSpPr>
        <p:spPr>
          <a:xfrm>
            <a:off x="1188720" y="2578608"/>
            <a:ext cx="4480560" cy="86868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Type a command, press Enter. </a:t>
            </a:r>
            <a:pPr indent="0" marL="0">
              <a:buNone/>
            </a:pPr>
            <a:r>
              <a:rPr lang="en-US" sz="1700" dirty="0">
                <a:solidFill>
                  <a:srgbClr val="12213A"/>
                </a:solidFill>
                <a:latin typeface="Calibri" pitchFamily="34" charset="0"/>
                <a:ea typeface="Calibri" pitchFamily="34" charset="-122"/>
                <a:cs typeface="Calibri" pitchFamily="34" charset="-120"/>
              </a:rPr>
              <a:t>Nothing happens until you press Enter.</a:t>
            </a:r>
            <a:endParaRPr lang="en-US" sz="1700" dirty="0"/>
          </a:p>
        </p:txBody>
      </p:sp>
      <p:sp>
        <p:nvSpPr>
          <p:cNvPr id="10" name="Shape 7"/>
          <p:cNvSpPr/>
          <p:nvPr/>
        </p:nvSpPr>
        <p:spPr>
          <a:xfrm>
            <a:off x="548640" y="3566160"/>
            <a:ext cx="457200" cy="457200"/>
          </a:xfrm>
          <a:prstGeom prst="ellipse">
            <a:avLst/>
          </a:prstGeom>
          <a:solidFill>
            <a:srgbClr val="2459D8"/>
          </a:solidFill>
          <a:ln/>
        </p:spPr>
      </p:sp>
      <p:sp>
        <p:nvSpPr>
          <p:cNvPr id="11" name="Text 8"/>
          <p:cNvSpPr txBox="1"/>
          <p:nvPr/>
        </p:nvSpPr>
        <p:spPr>
          <a:xfrm>
            <a:off x="548640" y="35661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2" name="Text 9"/>
          <p:cNvSpPr txBox="1"/>
          <p:nvPr/>
        </p:nvSpPr>
        <p:spPr>
          <a:xfrm>
            <a:off x="1188720" y="3538728"/>
            <a:ext cx="4480560" cy="86868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Type the three commands </a:t>
            </a:r>
            <a:pPr indent="0" marL="0">
              <a:buNone/>
            </a:pPr>
            <a:r>
              <a:rPr lang="en-US" sz="1700" dirty="0">
                <a:solidFill>
                  <a:srgbClr val="12213A"/>
                </a:solidFill>
                <a:latin typeface="Calibri" pitchFamily="34" charset="0"/>
                <a:ea typeface="Calibri" pitchFamily="34" charset="-122"/>
                <a:cs typeface="Calibri" pitchFamily="34" charset="-120"/>
              </a:rPr>
              <a:t>on the right, one at a time.</a:t>
            </a:r>
            <a:endParaRPr lang="en-US" sz="1700" dirty="0"/>
          </a:p>
        </p:txBody>
      </p:sp>
      <p:sp>
        <p:nvSpPr>
          <p:cNvPr id="13" name="Shape 10"/>
          <p:cNvSpPr/>
          <p:nvPr/>
        </p:nvSpPr>
        <p:spPr>
          <a:xfrm>
            <a:off x="548640" y="4526280"/>
            <a:ext cx="457200" cy="457200"/>
          </a:xfrm>
          <a:prstGeom prst="ellipse">
            <a:avLst/>
          </a:prstGeom>
          <a:solidFill>
            <a:srgbClr val="2459D8"/>
          </a:solidFill>
          <a:ln/>
        </p:spPr>
      </p:sp>
      <p:sp>
        <p:nvSpPr>
          <p:cNvPr id="14" name="Text 11"/>
          <p:cNvSpPr txBox="1"/>
          <p:nvPr/>
        </p:nvSpPr>
        <p:spPr>
          <a:xfrm>
            <a:off x="548640" y="45262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5" name="Text 12"/>
          <p:cNvSpPr txBox="1"/>
          <p:nvPr/>
        </p:nvSpPr>
        <p:spPr>
          <a:xfrm>
            <a:off x="1188720" y="4498848"/>
            <a:ext cx="4480560" cy="86868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Leave the missions alone </a:t>
            </a:r>
            <a:pPr indent="0" marL="0">
              <a:buNone/>
            </a:pPr>
            <a:r>
              <a:rPr lang="en-US" sz="1700" dirty="0">
                <a:solidFill>
                  <a:srgbClr val="12213A"/>
                </a:solidFill>
                <a:latin typeface="Calibri" pitchFamily="34" charset="0"/>
                <a:ea typeface="Calibri" pitchFamily="34" charset="-122"/>
                <a:cs typeface="Calibri" pitchFamily="34" charset="-120"/>
              </a:rPr>
              <a:t>for now. The competition comes later.</a:t>
            </a:r>
            <a:endParaRPr lang="en-US" sz="1700" dirty="0"/>
          </a:p>
        </p:txBody>
      </p:sp>
      <p:sp>
        <p:nvSpPr>
          <p:cNvPr id="16" name="Shape 13"/>
          <p:cNvSpPr/>
          <p:nvPr/>
        </p:nvSpPr>
        <p:spPr>
          <a:xfrm>
            <a:off x="548640" y="5486400"/>
            <a:ext cx="5120640" cy="548640"/>
          </a:xfrm>
          <a:prstGeom prst="roundRect">
            <a:avLst>
              <a:gd name="adj" fmla="val 16667"/>
            </a:avLst>
          </a:prstGeom>
          <a:solidFill>
            <a:srgbClr val="E2F5EC"/>
          </a:solidFill>
          <a:ln/>
        </p:spPr>
      </p:sp>
      <p:sp>
        <p:nvSpPr>
          <p:cNvPr id="17" name="Text 14"/>
          <p:cNvSpPr txBox="1"/>
          <p:nvPr/>
        </p:nvSpPr>
        <p:spPr>
          <a:xfrm>
            <a:off x="822960" y="5486400"/>
            <a:ext cx="4754880" cy="548640"/>
          </a:xfrm>
          <a:prstGeom prst="rect">
            <a:avLst/>
          </a:prstGeom>
          <a:noFill/>
          <a:ln/>
        </p:spPr>
        <p:txBody>
          <a:bodyPr wrap="square" lIns="0" tIns="0" rIns="0" bIns="0" rtlCol="0" anchor="ctr"/>
          <a:lstStyle/>
          <a:p>
            <a:pPr indent="0" marL="0">
              <a:buNone/>
            </a:pPr>
            <a:r>
              <a:rPr lang="en-US" sz="1600" b="1" dirty="0">
                <a:solidFill>
                  <a:srgbClr val="0F6A45"/>
                </a:solidFill>
                <a:latin typeface="Calibri" pitchFamily="34" charset="0"/>
                <a:ea typeface="Calibri" pitchFamily="34" charset="-122"/>
                <a:cs typeface="Calibri" pitchFamily="34" charset="-120"/>
              </a:rPr>
              <a:t>Thumbs up when you see mission1 to mission10.</a:t>
            </a:r>
            <a:endParaRPr lang="en-US" sz="1600" dirty="0"/>
          </a:p>
        </p:txBody>
      </p:sp>
      <p:sp>
        <p:nvSpPr>
          <p:cNvPr id="18" name="Shape 15"/>
          <p:cNvSpPr/>
          <p:nvPr/>
        </p:nvSpPr>
        <p:spPr>
          <a:xfrm>
            <a:off x="6126480" y="1463040"/>
            <a:ext cx="5513832" cy="4526280"/>
          </a:xfrm>
          <a:prstGeom prst="roundRect">
            <a:avLst>
              <a:gd name="adj" fmla="val 2020"/>
            </a:avLst>
          </a:prstGeom>
          <a:solidFill>
            <a:srgbClr val="0E1726"/>
          </a:solidFill>
          <a:ln/>
          <a:effectLst>
            <a:outerShdw sx="100000" sy="100000" kx="0" ky="0" algn="bl" rotWithShape="0" blurRad="127000" dist="38100" dir="5400000">
              <a:srgbClr val="12213A">
                <a:alpha val="22000"/>
              </a:srgbClr>
            </a:outerShdw>
          </a:effectLst>
        </p:spPr>
      </p:sp>
      <p:sp>
        <p:nvSpPr>
          <p:cNvPr id="19" name="Shape 16"/>
          <p:cNvSpPr/>
          <p:nvPr/>
        </p:nvSpPr>
        <p:spPr>
          <a:xfrm>
            <a:off x="6327648" y="1618488"/>
            <a:ext cx="118872" cy="118872"/>
          </a:xfrm>
          <a:prstGeom prst="ellipse">
            <a:avLst/>
          </a:prstGeom>
          <a:solidFill>
            <a:srgbClr val="E5534B"/>
          </a:solidFill>
          <a:ln/>
        </p:spPr>
      </p:sp>
      <p:sp>
        <p:nvSpPr>
          <p:cNvPr id="20" name="Shape 17"/>
          <p:cNvSpPr/>
          <p:nvPr/>
        </p:nvSpPr>
        <p:spPr>
          <a:xfrm>
            <a:off x="6528816" y="1618488"/>
            <a:ext cx="118872" cy="118872"/>
          </a:xfrm>
          <a:prstGeom prst="ellipse">
            <a:avLst/>
          </a:prstGeom>
          <a:solidFill>
            <a:srgbClr val="F5A623"/>
          </a:solidFill>
          <a:ln/>
        </p:spPr>
      </p:sp>
      <p:sp>
        <p:nvSpPr>
          <p:cNvPr id="21" name="Shape 18"/>
          <p:cNvSpPr/>
          <p:nvPr/>
        </p:nvSpPr>
        <p:spPr>
          <a:xfrm>
            <a:off x="6729984" y="1618488"/>
            <a:ext cx="118872" cy="118872"/>
          </a:xfrm>
          <a:prstGeom prst="ellipse">
            <a:avLst/>
          </a:prstGeom>
          <a:solidFill>
            <a:srgbClr val="46D39A"/>
          </a:solidFill>
          <a:ln/>
        </p:spPr>
      </p:sp>
      <p:sp>
        <p:nvSpPr>
          <p:cNvPr id="22" name="Text 19"/>
          <p:cNvSpPr txBox="1"/>
          <p:nvPr/>
        </p:nvSpPr>
        <p:spPr>
          <a:xfrm>
            <a:off x="7040880" y="1536192"/>
            <a:ext cx="3685032"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your own Linux computer</a:t>
            </a:r>
            <a:endParaRPr lang="en-US" sz="1000" dirty="0"/>
          </a:p>
        </p:txBody>
      </p:sp>
      <p:sp>
        <p:nvSpPr>
          <p:cNvPr id="23" name="Text 20"/>
          <p:cNvSpPr txBox="1"/>
          <p:nvPr/>
        </p:nvSpPr>
        <p:spPr>
          <a:xfrm>
            <a:off x="6400800" y="1920240"/>
            <a:ext cx="4965192" cy="3931920"/>
          </a:xfrm>
          <a:prstGeom prst="rect">
            <a:avLst/>
          </a:prstGeom>
          <a:noFill/>
          <a:ln/>
        </p:spPr>
        <p:txBody>
          <a:bodyPr wrap="square" lIns="0" tIns="0" rIns="0" bIns="0" rtlCol="0" anchor="t"/>
          <a:lstStyle/>
          <a:p>
            <a:pPr indent="0" marL="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600" b="1" dirty="0">
                <a:solidFill>
                  <a:srgbClr val="FFFFFF"/>
                </a:solidFill>
                <a:latin typeface="Courier New" pitchFamily="34" charset="0"/>
                <a:ea typeface="Courier New" pitchFamily="34" charset="-122"/>
                <a:cs typeface="Courier New" pitchFamily="34" charset="-120"/>
              </a:rPr>
              <a:t>whoami</a:t>
            </a:r>
            <a:endParaRPr lang="en-US" sz="1600" dirty="0"/>
          </a:p>
          <a:p>
            <a:pPr indent="0" marL="0">
              <a:spcAft>
                <a:spcPts val="200"/>
              </a:spcAft>
              <a:buNone/>
            </a:pPr>
            <a:r>
              <a:rPr lang="en-US" sz="1600" dirty="0">
                <a:solidFill>
                  <a:srgbClr val="B8C4D9"/>
                </a:solidFill>
                <a:latin typeface="Courier New" pitchFamily="34" charset="0"/>
                <a:ea typeface="Courier New" pitchFamily="34" charset="-122"/>
                <a:cs typeface="Courier New" pitchFamily="34" charset="-120"/>
              </a:rPr>
              <a:t>player</a:t>
            </a:r>
            <a:endParaRPr lang="en-US" sz="1600" dirty="0"/>
          </a:p>
          <a:p>
            <a:pPr indent="0" marL="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600" b="1" dirty="0">
                <a:solidFill>
                  <a:srgbClr val="FFFFFF"/>
                </a:solidFill>
                <a:latin typeface="Courier New" pitchFamily="34" charset="0"/>
                <a:ea typeface="Courier New" pitchFamily="34" charset="-122"/>
                <a:cs typeface="Courier New" pitchFamily="34" charset="-120"/>
              </a:rPr>
              <a:t>pwd</a:t>
            </a:r>
            <a:endParaRPr lang="en-US" sz="1600" dirty="0"/>
          </a:p>
          <a:p>
            <a:pPr indent="0" marL="0">
              <a:spcAft>
                <a:spcPts val="200"/>
              </a:spcAft>
              <a:buNone/>
            </a:pPr>
            <a:r>
              <a:rPr lang="en-US" sz="1600" dirty="0">
                <a:solidFill>
                  <a:srgbClr val="B8C4D9"/>
                </a:solidFill>
                <a:latin typeface="Courier New" pitchFamily="34" charset="0"/>
                <a:ea typeface="Courier New" pitchFamily="34" charset="-122"/>
                <a:cs typeface="Courier New" pitchFamily="34" charset="-120"/>
              </a:rPr>
              <a:t>/home/player</a:t>
            </a:r>
            <a:endParaRPr lang="en-US" sz="1600" dirty="0"/>
          </a:p>
          <a:p>
            <a:pPr indent="0" marL="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600" b="1" dirty="0">
                <a:solidFill>
                  <a:srgbClr val="FFFFFF"/>
                </a:solidFill>
                <a:latin typeface="Courier New" pitchFamily="34" charset="0"/>
                <a:ea typeface="Courier New" pitchFamily="34" charset="-122"/>
                <a:cs typeface="Courier New" pitchFamily="34" charset="-120"/>
              </a:rPr>
              <a:t>ls</a:t>
            </a:r>
            <a:endParaRPr lang="en-US" sz="1600" dirty="0"/>
          </a:p>
          <a:p>
            <a:pPr indent="0" marL="0">
              <a:spcAft>
                <a:spcPts val="200"/>
              </a:spcAft>
              <a:buNone/>
            </a:pPr>
            <a:r>
              <a:rPr lang="en-US" sz="1600" b="1" dirty="0">
                <a:solidFill>
                  <a:srgbClr val="F5A623"/>
                </a:solidFill>
                <a:latin typeface="Courier New" pitchFamily="34" charset="0"/>
                <a:ea typeface="Courier New" pitchFamily="34" charset="-122"/>
                <a:cs typeface="Courier New" pitchFamily="34" charset="-120"/>
              </a:rPr>
              <a:t>README.txt  mission10  mission4  mission7</a:t>
            </a:r>
            <a:endParaRPr lang="en-US" sz="1600" dirty="0"/>
          </a:p>
          <a:p>
            <a:pPr indent="0" marL="0">
              <a:spcAft>
                <a:spcPts val="200"/>
              </a:spcAft>
              <a:buNone/>
            </a:pPr>
            <a:r>
              <a:rPr lang="en-US" sz="1600" b="1" dirty="0">
                <a:solidFill>
                  <a:srgbClr val="F5A623"/>
                </a:solidFill>
                <a:latin typeface="Courier New" pitchFamily="34" charset="0"/>
                <a:ea typeface="Courier New" pitchFamily="34" charset="-122"/>
                <a:cs typeface="Courier New" pitchFamily="34" charset="-120"/>
              </a:rPr>
              <a:t>mission1    mission2   mission5  mission8</a:t>
            </a:r>
            <a:endParaRPr lang="en-US" sz="1600" dirty="0"/>
          </a:p>
          <a:p>
            <a:pPr indent="0" marL="0">
              <a:spcAft>
                <a:spcPts val="200"/>
              </a:spcAft>
              <a:buNone/>
            </a:pPr>
            <a:r>
              <a:rPr lang="en-US" sz="1600" b="1" dirty="0">
                <a:solidFill>
                  <a:srgbClr val="F5A623"/>
                </a:solidFill>
                <a:latin typeface="Courier New" pitchFamily="34" charset="0"/>
                <a:ea typeface="Courier New" pitchFamily="34" charset="-122"/>
                <a:cs typeface="Courier New" pitchFamily="34" charset="-120"/>
              </a:rPr>
              <a:t>orientation.txt  ...  mission9</a:t>
            </a:r>
            <a:endParaRPr lang="en-US" sz="1600" dirty="0"/>
          </a:p>
        </p:txBody>
      </p:sp>
      <p:sp>
        <p:nvSpPr>
          <p:cNvPr id="24" name="Text 21"/>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59 / 79</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Mentor appendix: answer key</a:t>
            </a:r>
            <a:endParaRPr lang="en-US" sz="3200" dirty="0"/>
          </a:p>
        </p:txBody>
      </p:sp>
      <p:sp>
        <p:nvSpPr>
          <p:cNvPr id="4" name="Shape 1"/>
          <p:cNvSpPr/>
          <p:nvPr/>
        </p:nvSpPr>
        <p:spPr>
          <a:xfrm>
            <a:off x="548640" y="1325880"/>
            <a:ext cx="11094415" cy="301752"/>
          </a:xfrm>
          <a:prstGeom prst="rect">
            <a:avLst/>
          </a:prstGeom>
          <a:solidFill>
            <a:srgbClr val="F1F5FB"/>
          </a:solidFill>
          <a:ln/>
        </p:spPr>
      </p:sp>
      <p:sp>
        <p:nvSpPr>
          <p:cNvPr id="5" name="Shape 2"/>
          <p:cNvSpPr/>
          <p:nvPr/>
        </p:nvSpPr>
        <p:spPr>
          <a:xfrm>
            <a:off x="658368" y="1362456"/>
            <a:ext cx="228600" cy="228600"/>
          </a:xfrm>
          <a:prstGeom prst="ellipse">
            <a:avLst/>
          </a:prstGeom>
          <a:solidFill>
            <a:srgbClr val="17875A"/>
          </a:solidFill>
          <a:ln/>
        </p:spPr>
      </p:sp>
      <p:sp>
        <p:nvSpPr>
          <p:cNvPr id="6" name="Text 3"/>
          <p:cNvSpPr txBox="1"/>
          <p:nvPr/>
        </p:nvSpPr>
        <p:spPr>
          <a:xfrm>
            <a:off x="658368" y="1362456"/>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7" name="Text 4"/>
          <p:cNvSpPr txBox="1"/>
          <p:nvPr/>
        </p:nvSpPr>
        <p:spPr>
          <a:xfrm>
            <a:off x="1005840" y="1325880"/>
            <a:ext cx="2377440" cy="301752"/>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Make your move</a:t>
            </a:r>
            <a:endParaRPr lang="en-US" sz="1200" dirty="0"/>
          </a:p>
        </p:txBody>
      </p:sp>
      <p:sp>
        <p:nvSpPr>
          <p:cNvPr id="8" name="Text 5"/>
          <p:cNvSpPr txBox="1"/>
          <p:nvPr/>
        </p:nvSpPr>
        <p:spPr>
          <a:xfrm>
            <a:off x="3383280" y="1325880"/>
            <a:ext cx="6949440" cy="301752"/>
          </a:xfrm>
          <a:prstGeom prst="rect">
            <a:avLst/>
          </a:prstGeom>
          <a:noFill/>
          <a:ln/>
        </p:spPr>
        <p:txBody>
          <a:bodyPr wrap="square" lIns="0" tIns="0" rIns="0" bIns="0" rtlCol="0" anchor="ctr"/>
          <a:lstStyle/>
          <a:p>
            <a:pPr indent="0" marL="0">
              <a:buNone/>
            </a:pPr>
            <a:r>
              <a:rPr lang="en-US" sz="1000" dirty="0">
                <a:solidFill>
                  <a:srgbClr val="12213A"/>
                </a:solidFill>
                <a:latin typeface="Courier New" pitchFamily="34" charset="0"/>
                <a:ea typeface="Courier New" pitchFamily="34" charset="-122"/>
                <a:cs typeface="Courier New" pitchFamily="34" charset="-120"/>
              </a:rPr>
              <a:t>cd town; ls; cd &lt;sign&gt;; cd ..; cd &lt;right place&gt;; cd &lt;a&gt;/&lt;b&gt;; ls</a:t>
            </a:r>
            <a:endParaRPr lang="en-US" sz="1000" dirty="0"/>
          </a:p>
        </p:txBody>
      </p:sp>
      <p:sp>
        <p:nvSpPr>
          <p:cNvPr id="9" name="Text 6"/>
          <p:cNvSpPr txBox="1"/>
          <p:nvPr/>
        </p:nvSpPr>
        <p:spPr>
          <a:xfrm>
            <a:off x="10241280" y="1325880"/>
            <a:ext cx="1371600" cy="301752"/>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Easy · 100</a:t>
            </a:r>
            <a:endParaRPr lang="en-US" sz="1100" dirty="0"/>
          </a:p>
        </p:txBody>
      </p:sp>
      <p:sp>
        <p:nvSpPr>
          <p:cNvPr id="10" name="Shape 7"/>
          <p:cNvSpPr/>
          <p:nvPr/>
        </p:nvSpPr>
        <p:spPr>
          <a:xfrm>
            <a:off x="548640" y="1627632"/>
            <a:ext cx="11094415" cy="301752"/>
          </a:xfrm>
          <a:prstGeom prst="rect">
            <a:avLst/>
          </a:prstGeom>
          <a:solidFill>
            <a:srgbClr val="FFFFFF"/>
          </a:solidFill>
          <a:ln/>
        </p:spPr>
      </p:sp>
      <p:sp>
        <p:nvSpPr>
          <p:cNvPr id="11" name="Shape 8"/>
          <p:cNvSpPr/>
          <p:nvPr/>
        </p:nvSpPr>
        <p:spPr>
          <a:xfrm>
            <a:off x="658368" y="1664208"/>
            <a:ext cx="228600" cy="228600"/>
          </a:xfrm>
          <a:prstGeom prst="ellipse">
            <a:avLst/>
          </a:prstGeom>
          <a:solidFill>
            <a:srgbClr val="2A9FD6"/>
          </a:solidFill>
          <a:ln/>
        </p:spPr>
      </p:sp>
      <p:sp>
        <p:nvSpPr>
          <p:cNvPr id="12" name="Text 9"/>
          <p:cNvSpPr txBox="1"/>
          <p:nvPr/>
        </p:nvSpPr>
        <p:spPr>
          <a:xfrm>
            <a:off x="658368" y="1664208"/>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3" name="Text 10"/>
          <p:cNvSpPr txBox="1"/>
          <p:nvPr/>
        </p:nvSpPr>
        <p:spPr>
          <a:xfrm>
            <a:off x="1005840" y="1627632"/>
            <a:ext cx="2377440" cy="301752"/>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Let the cat out of the bag</a:t>
            </a:r>
            <a:endParaRPr lang="en-US" sz="1200" dirty="0"/>
          </a:p>
        </p:txBody>
      </p:sp>
      <p:sp>
        <p:nvSpPr>
          <p:cNvPr id="14" name="Text 11"/>
          <p:cNvSpPr txBox="1"/>
          <p:nvPr/>
        </p:nvSpPr>
        <p:spPr>
          <a:xfrm>
            <a:off x="3383280" y="1627632"/>
            <a:ext cx="6949440" cy="301752"/>
          </a:xfrm>
          <a:prstGeom prst="rect">
            <a:avLst/>
          </a:prstGeom>
          <a:noFill/>
          <a:ln/>
        </p:spPr>
        <p:txBody>
          <a:bodyPr wrap="square" lIns="0" tIns="0" rIns="0" bIns="0" rtlCol="0" anchor="ctr"/>
          <a:lstStyle/>
          <a:p>
            <a:pPr indent="0" marL="0">
              <a:buNone/>
            </a:pPr>
            <a:r>
              <a:rPr lang="en-US" sz="1000" dirty="0">
                <a:solidFill>
                  <a:srgbClr val="12213A"/>
                </a:solidFill>
                <a:latin typeface="Courier New" pitchFamily="34" charset="0"/>
                <a:ea typeface="Courier New" pitchFamily="34" charset="-122"/>
                <a:cs typeface="Courier New" pitchFamily="34" charset="-120"/>
              </a:rPr>
              <a:t>cat README.txt;  cat --help;  cat -n bag.txt</a:t>
            </a:r>
            <a:endParaRPr lang="en-US" sz="1000" dirty="0"/>
          </a:p>
        </p:txBody>
      </p:sp>
      <p:sp>
        <p:nvSpPr>
          <p:cNvPr id="15" name="Text 12"/>
          <p:cNvSpPr txBox="1"/>
          <p:nvPr/>
        </p:nvSpPr>
        <p:spPr>
          <a:xfrm>
            <a:off x="10241280" y="1627632"/>
            <a:ext cx="1371600" cy="301752"/>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Easy · 100</a:t>
            </a:r>
            <a:endParaRPr lang="en-US" sz="1100" dirty="0"/>
          </a:p>
        </p:txBody>
      </p:sp>
      <p:sp>
        <p:nvSpPr>
          <p:cNvPr id="16" name="Shape 13"/>
          <p:cNvSpPr/>
          <p:nvPr/>
        </p:nvSpPr>
        <p:spPr>
          <a:xfrm>
            <a:off x="548640" y="1929384"/>
            <a:ext cx="11094415" cy="301752"/>
          </a:xfrm>
          <a:prstGeom prst="rect">
            <a:avLst/>
          </a:prstGeom>
          <a:solidFill>
            <a:srgbClr val="F1F5FB"/>
          </a:solidFill>
          <a:ln/>
        </p:spPr>
      </p:sp>
      <p:sp>
        <p:nvSpPr>
          <p:cNvPr id="17" name="Shape 14"/>
          <p:cNvSpPr/>
          <p:nvPr/>
        </p:nvSpPr>
        <p:spPr>
          <a:xfrm>
            <a:off x="658368" y="1965960"/>
            <a:ext cx="228600" cy="228600"/>
          </a:xfrm>
          <a:prstGeom prst="ellipse">
            <a:avLst/>
          </a:prstGeom>
          <a:solidFill>
            <a:srgbClr val="2459D8"/>
          </a:solidFill>
          <a:ln/>
        </p:spPr>
      </p:sp>
      <p:sp>
        <p:nvSpPr>
          <p:cNvPr id="18" name="Text 15"/>
          <p:cNvSpPr txBox="1"/>
          <p:nvPr/>
        </p:nvSpPr>
        <p:spPr>
          <a:xfrm>
            <a:off x="658368" y="1965960"/>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19" name="Text 16"/>
          <p:cNvSpPr txBox="1"/>
          <p:nvPr/>
        </p:nvSpPr>
        <p:spPr>
          <a:xfrm>
            <a:off x="1005840" y="1929384"/>
            <a:ext cx="2377440" cy="301752"/>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Now you see me</a:t>
            </a:r>
            <a:endParaRPr lang="en-US" sz="1200" dirty="0"/>
          </a:p>
        </p:txBody>
      </p:sp>
      <p:sp>
        <p:nvSpPr>
          <p:cNvPr id="20" name="Text 17"/>
          <p:cNvSpPr txBox="1"/>
          <p:nvPr/>
        </p:nvSpPr>
        <p:spPr>
          <a:xfrm>
            <a:off x="3383280" y="1929384"/>
            <a:ext cx="6949440" cy="301752"/>
          </a:xfrm>
          <a:prstGeom prst="rect">
            <a:avLst/>
          </a:prstGeom>
          <a:noFill/>
          <a:ln/>
        </p:spPr>
        <p:txBody>
          <a:bodyPr wrap="square" lIns="0" tIns="0" rIns="0" bIns="0" rtlCol="0" anchor="ctr"/>
          <a:lstStyle/>
          <a:p>
            <a:pPr indent="0" marL="0">
              <a:buNone/>
            </a:pPr>
            <a:r>
              <a:rPr lang="en-US" sz="1000" dirty="0">
                <a:solidFill>
                  <a:srgbClr val="12213A"/>
                </a:solidFill>
                <a:latin typeface="Courier New" pitchFamily="34" charset="0"/>
                <a:ea typeface="Courier New" pitchFamily="34" charset="-122"/>
                <a:cs typeface="Courier New" pitchFamily="34" charset="-120"/>
              </a:rPr>
              <a:t>ls -a;  cat the dot file that is not .old-...</a:t>
            </a:r>
            <a:endParaRPr lang="en-US" sz="1000" dirty="0"/>
          </a:p>
        </p:txBody>
      </p:sp>
      <p:sp>
        <p:nvSpPr>
          <p:cNvPr id="21" name="Text 18"/>
          <p:cNvSpPr txBox="1"/>
          <p:nvPr/>
        </p:nvSpPr>
        <p:spPr>
          <a:xfrm>
            <a:off x="10241280" y="1929384"/>
            <a:ext cx="1371600" cy="301752"/>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Easy · 100</a:t>
            </a:r>
            <a:endParaRPr lang="en-US" sz="1100" dirty="0"/>
          </a:p>
        </p:txBody>
      </p:sp>
      <p:sp>
        <p:nvSpPr>
          <p:cNvPr id="22" name="Shape 19"/>
          <p:cNvSpPr/>
          <p:nvPr/>
        </p:nvSpPr>
        <p:spPr>
          <a:xfrm>
            <a:off x="548640" y="2231136"/>
            <a:ext cx="11094415" cy="301752"/>
          </a:xfrm>
          <a:prstGeom prst="rect">
            <a:avLst/>
          </a:prstGeom>
          <a:solidFill>
            <a:srgbClr val="FFFFFF"/>
          </a:solidFill>
          <a:ln/>
        </p:spPr>
      </p:sp>
      <p:sp>
        <p:nvSpPr>
          <p:cNvPr id="23" name="Shape 20"/>
          <p:cNvSpPr/>
          <p:nvPr/>
        </p:nvSpPr>
        <p:spPr>
          <a:xfrm>
            <a:off x="658368" y="2267712"/>
            <a:ext cx="228600" cy="228600"/>
          </a:xfrm>
          <a:prstGeom prst="ellipse">
            <a:avLst/>
          </a:prstGeom>
          <a:solidFill>
            <a:srgbClr val="7448D4"/>
          </a:solidFill>
          <a:ln/>
        </p:spPr>
      </p:sp>
      <p:sp>
        <p:nvSpPr>
          <p:cNvPr id="24" name="Text 21"/>
          <p:cNvSpPr txBox="1"/>
          <p:nvPr/>
        </p:nvSpPr>
        <p:spPr>
          <a:xfrm>
            <a:off x="658368" y="2267712"/>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25" name="Text 22"/>
          <p:cNvSpPr txBox="1"/>
          <p:nvPr/>
        </p:nvSpPr>
        <p:spPr>
          <a:xfrm>
            <a:off x="1005840" y="2231136"/>
            <a:ext cx="2377440" cy="301752"/>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Needle in the tree</a:t>
            </a:r>
            <a:endParaRPr lang="en-US" sz="1200" dirty="0"/>
          </a:p>
        </p:txBody>
      </p:sp>
      <p:sp>
        <p:nvSpPr>
          <p:cNvPr id="26" name="Text 23"/>
          <p:cNvSpPr txBox="1"/>
          <p:nvPr/>
        </p:nvSpPr>
        <p:spPr>
          <a:xfrm>
            <a:off x="3383280" y="2231136"/>
            <a:ext cx="6949440" cy="301752"/>
          </a:xfrm>
          <a:prstGeom prst="rect">
            <a:avLst/>
          </a:prstGeom>
          <a:noFill/>
          <a:ln/>
        </p:spPr>
        <p:txBody>
          <a:bodyPr wrap="square" lIns="0" tIns="0" rIns="0" bIns="0" rtlCol="0" anchor="ctr"/>
          <a:lstStyle/>
          <a:p>
            <a:pPr indent="0" marL="0">
              <a:buNone/>
            </a:pPr>
            <a:r>
              <a:rPr lang="en-US" sz="1000" dirty="0">
                <a:solidFill>
                  <a:srgbClr val="12213A"/>
                </a:solidFill>
                <a:latin typeface="Courier New" pitchFamily="34" charset="0"/>
                <a:ea typeface="Courier New" pitchFamily="34" charset="-122"/>
                <a:cs typeface="Courier New" pitchFamily="34" charset="-120"/>
              </a:rPr>
              <a:t>cat README.txt;  find archive -name "*.&lt;ending&gt;";  cat &lt;path&gt;</a:t>
            </a:r>
            <a:endParaRPr lang="en-US" sz="1000" dirty="0"/>
          </a:p>
        </p:txBody>
      </p:sp>
      <p:sp>
        <p:nvSpPr>
          <p:cNvPr id="27" name="Text 24"/>
          <p:cNvSpPr txBox="1"/>
          <p:nvPr/>
        </p:nvSpPr>
        <p:spPr>
          <a:xfrm>
            <a:off x="10241280" y="2231136"/>
            <a:ext cx="1371600" cy="301752"/>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28" name="Shape 25"/>
          <p:cNvSpPr/>
          <p:nvPr/>
        </p:nvSpPr>
        <p:spPr>
          <a:xfrm>
            <a:off x="548640" y="2532888"/>
            <a:ext cx="11094415" cy="301752"/>
          </a:xfrm>
          <a:prstGeom prst="rect">
            <a:avLst/>
          </a:prstGeom>
          <a:solidFill>
            <a:srgbClr val="F1F5FB"/>
          </a:solidFill>
          <a:ln/>
        </p:spPr>
      </p:sp>
      <p:sp>
        <p:nvSpPr>
          <p:cNvPr id="29" name="Shape 26"/>
          <p:cNvSpPr/>
          <p:nvPr/>
        </p:nvSpPr>
        <p:spPr>
          <a:xfrm>
            <a:off x="658368" y="2569464"/>
            <a:ext cx="228600" cy="228600"/>
          </a:xfrm>
          <a:prstGeom prst="ellipse">
            <a:avLst/>
          </a:prstGeom>
          <a:solidFill>
            <a:srgbClr val="D1416B"/>
          </a:solidFill>
          <a:ln/>
        </p:spPr>
      </p:sp>
      <p:sp>
        <p:nvSpPr>
          <p:cNvPr id="30" name="Text 27"/>
          <p:cNvSpPr txBox="1"/>
          <p:nvPr/>
        </p:nvSpPr>
        <p:spPr>
          <a:xfrm>
            <a:off x="658368" y="2569464"/>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31" name="Text 28"/>
          <p:cNvSpPr txBox="1"/>
          <p:nvPr/>
        </p:nvSpPr>
        <p:spPr>
          <a:xfrm>
            <a:off x="1005840" y="2532888"/>
            <a:ext cx="2377440" cy="301752"/>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Search party</a:t>
            </a:r>
            <a:endParaRPr lang="en-US" sz="1200" dirty="0"/>
          </a:p>
        </p:txBody>
      </p:sp>
      <p:sp>
        <p:nvSpPr>
          <p:cNvPr id="32" name="Text 29"/>
          <p:cNvSpPr txBox="1"/>
          <p:nvPr/>
        </p:nvSpPr>
        <p:spPr>
          <a:xfrm>
            <a:off x="3383280" y="2532888"/>
            <a:ext cx="6949440" cy="301752"/>
          </a:xfrm>
          <a:prstGeom prst="rect">
            <a:avLst/>
          </a:prstGeom>
          <a:noFill/>
          <a:ln/>
        </p:spPr>
        <p:txBody>
          <a:bodyPr wrap="square" lIns="0" tIns="0" rIns="0" bIns="0" rtlCol="0" anchor="ctr"/>
          <a:lstStyle/>
          <a:p>
            <a:pPr indent="0" marL="0">
              <a:buNone/>
            </a:pPr>
            <a:r>
              <a:rPr lang="en-US" sz="1000" dirty="0">
                <a:solidFill>
                  <a:srgbClr val="12213A"/>
                </a:solidFill>
                <a:latin typeface="Courier New" pitchFamily="34" charset="0"/>
                <a:ea typeface="Courier New" pitchFamily="34" charset="-122"/>
                <a:cs typeface="Courier New" pitchFamily="34" charset="-120"/>
              </a:rPr>
              <a:t>cat README.txt;  grep &lt;name&gt; access.log</a:t>
            </a:r>
            <a:endParaRPr lang="en-US" sz="1000" dirty="0"/>
          </a:p>
        </p:txBody>
      </p:sp>
      <p:sp>
        <p:nvSpPr>
          <p:cNvPr id="33" name="Text 30"/>
          <p:cNvSpPr txBox="1"/>
          <p:nvPr/>
        </p:nvSpPr>
        <p:spPr>
          <a:xfrm>
            <a:off x="10241280" y="2532888"/>
            <a:ext cx="1371600" cy="301752"/>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34" name="Shape 31"/>
          <p:cNvSpPr/>
          <p:nvPr/>
        </p:nvSpPr>
        <p:spPr>
          <a:xfrm>
            <a:off x="548640" y="2834640"/>
            <a:ext cx="11094415" cy="301752"/>
          </a:xfrm>
          <a:prstGeom prst="rect">
            <a:avLst/>
          </a:prstGeom>
          <a:solidFill>
            <a:srgbClr val="FFFFFF"/>
          </a:solidFill>
          <a:ln/>
        </p:spPr>
      </p:sp>
      <p:sp>
        <p:nvSpPr>
          <p:cNvPr id="35" name="Shape 32"/>
          <p:cNvSpPr/>
          <p:nvPr/>
        </p:nvSpPr>
        <p:spPr>
          <a:xfrm>
            <a:off x="658368" y="2871216"/>
            <a:ext cx="228600" cy="228600"/>
          </a:xfrm>
          <a:prstGeom prst="ellipse">
            <a:avLst/>
          </a:prstGeom>
          <a:solidFill>
            <a:srgbClr val="E8820C"/>
          </a:solidFill>
          <a:ln/>
        </p:spPr>
      </p:sp>
      <p:sp>
        <p:nvSpPr>
          <p:cNvPr id="36" name="Text 33"/>
          <p:cNvSpPr txBox="1"/>
          <p:nvPr/>
        </p:nvSpPr>
        <p:spPr>
          <a:xfrm>
            <a:off x="658368" y="2871216"/>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6</a:t>
            </a:r>
            <a:endParaRPr lang="en-US" sz="900" dirty="0"/>
          </a:p>
        </p:txBody>
      </p:sp>
      <p:sp>
        <p:nvSpPr>
          <p:cNvPr id="37" name="Text 34"/>
          <p:cNvSpPr txBox="1"/>
          <p:nvPr/>
        </p:nvSpPr>
        <p:spPr>
          <a:xfrm>
            <a:off x="1005840" y="2834640"/>
            <a:ext cx="2377440" cy="301752"/>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Odd one out</a:t>
            </a:r>
            <a:endParaRPr lang="en-US" sz="1200" dirty="0"/>
          </a:p>
        </p:txBody>
      </p:sp>
      <p:sp>
        <p:nvSpPr>
          <p:cNvPr id="38" name="Text 35"/>
          <p:cNvSpPr txBox="1"/>
          <p:nvPr/>
        </p:nvSpPr>
        <p:spPr>
          <a:xfrm>
            <a:off x="3383280" y="2834640"/>
            <a:ext cx="6949440" cy="301752"/>
          </a:xfrm>
          <a:prstGeom prst="rect">
            <a:avLst/>
          </a:prstGeom>
          <a:noFill/>
          <a:ln/>
        </p:spPr>
        <p:txBody>
          <a:bodyPr wrap="square" lIns="0" tIns="0" rIns="0" bIns="0" rtlCol="0" anchor="ctr"/>
          <a:lstStyle/>
          <a:p>
            <a:pPr indent="0" marL="0">
              <a:buNone/>
            </a:pPr>
            <a:r>
              <a:rPr lang="en-US" sz="1000" dirty="0">
                <a:solidFill>
                  <a:srgbClr val="12213A"/>
                </a:solidFill>
                <a:latin typeface="Courier New" pitchFamily="34" charset="0"/>
                <a:ea typeface="Courier New" pitchFamily="34" charset="-122"/>
                <a:cs typeface="Courier New" pitchFamily="34" charset="-120"/>
              </a:rPr>
              <a:t>sort codes.txt | uniq -u</a:t>
            </a:r>
            <a:endParaRPr lang="en-US" sz="1000" dirty="0"/>
          </a:p>
        </p:txBody>
      </p:sp>
      <p:sp>
        <p:nvSpPr>
          <p:cNvPr id="39" name="Text 36"/>
          <p:cNvSpPr txBox="1"/>
          <p:nvPr/>
        </p:nvSpPr>
        <p:spPr>
          <a:xfrm>
            <a:off x="10241280" y="2834640"/>
            <a:ext cx="1371600" cy="301752"/>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40" name="Shape 37"/>
          <p:cNvSpPr/>
          <p:nvPr/>
        </p:nvSpPr>
        <p:spPr>
          <a:xfrm>
            <a:off x="548640" y="3136392"/>
            <a:ext cx="11094415" cy="301752"/>
          </a:xfrm>
          <a:prstGeom prst="rect">
            <a:avLst/>
          </a:prstGeom>
          <a:solidFill>
            <a:srgbClr val="F1F5FB"/>
          </a:solidFill>
          <a:ln/>
        </p:spPr>
      </p:sp>
      <p:sp>
        <p:nvSpPr>
          <p:cNvPr id="41" name="Shape 38"/>
          <p:cNvSpPr/>
          <p:nvPr/>
        </p:nvSpPr>
        <p:spPr>
          <a:xfrm>
            <a:off x="658368" y="3172968"/>
            <a:ext cx="228600" cy="228600"/>
          </a:xfrm>
          <a:prstGeom prst="ellipse">
            <a:avLst/>
          </a:prstGeom>
          <a:solidFill>
            <a:srgbClr val="C9A227"/>
          </a:solidFill>
          <a:ln/>
        </p:spPr>
      </p:sp>
      <p:sp>
        <p:nvSpPr>
          <p:cNvPr id="42" name="Text 39"/>
          <p:cNvSpPr txBox="1"/>
          <p:nvPr/>
        </p:nvSpPr>
        <p:spPr>
          <a:xfrm>
            <a:off x="658368" y="3172968"/>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7</a:t>
            </a:r>
            <a:endParaRPr lang="en-US" sz="900" dirty="0"/>
          </a:p>
        </p:txBody>
      </p:sp>
      <p:sp>
        <p:nvSpPr>
          <p:cNvPr id="43" name="Text 40"/>
          <p:cNvSpPr txBox="1"/>
          <p:nvPr/>
        </p:nvSpPr>
        <p:spPr>
          <a:xfrm>
            <a:off x="1005840" y="3136392"/>
            <a:ext cx="2377440" cy="301752"/>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Permission denied</a:t>
            </a:r>
            <a:endParaRPr lang="en-US" sz="1200" dirty="0"/>
          </a:p>
        </p:txBody>
      </p:sp>
      <p:sp>
        <p:nvSpPr>
          <p:cNvPr id="44" name="Text 41"/>
          <p:cNvSpPr txBox="1"/>
          <p:nvPr/>
        </p:nvSpPr>
        <p:spPr>
          <a:xfrm>
            <a:off x="3383280" y="3136392"/>
            <a:ext cx="6949440" cy="301752"/>
          </a:xfrm>
          <a:prstGeom prst="rect">
            <a:avLst/>
          </a:prstGeom>
          <a:noFill/>
          <a:ln/>
        </p:spPr>
        <p:txBody>
          <a:bodyPr wrap="square" lIns="0" tIns="0" rIns="0" bIns="0" rtlCol="0" anchor="ctr"/>
          <a:lstStyle/>
          <a:p>
            <a:pPr indent="0" marL="0">
              <a:buNone/>
            </a:pPr>
            <a:r>
              <a:rPr lang="en-US" sz="1000" dirty="0">
                <a:solidFill>
                  <a:srgbClr val="12213A"/>
                </a:solidFill>
                <a:latin typeface="Courier New" pitchFamily="34" charset="0"/>
                <a:ea typeface="Courier New" pitchFamily="34" charset="-122"/>
                <a:cs typeface="Courier New" pitchFamily="34" charset="-120"/>
              </a:rPr>
              <a:t>chmod +x unlock.sh;  ./unlock.sh</a:t>
            </a:r>
            <a:endParaRPr lang="en-US" sz="1000" dirty="0"/>
          </a:p>
        </p:txBody>
      </p:sp>
      <p:sp>
        <p:nvSpPr>
          <p:cNvPr id="45" name="Text 42"/>
          <p:cNvSpPr txBox="1"/>
          <p:nvPr/>
        </p:nvSpPr>
        <p:spPr>
          <a:xfrm>
            <a:off x="10241280" y="3136392"/>
            <a:ext cx="1371600" cy="301752"/>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46" name="Shape 43"/>
          <p:cNvSpPr/>
          <p:nvPr/>
        </p:nvSpPr>
        <p:spPr>
          <a:xfrm>
            <a:off x="548640" y="3438144"/>
            <a:ext cx="11094415" cy="301752"/>
          </a:xfrm>
          <a:prstGeom prst="rect">
            <a:avLst/>
          </a:prstGeom>
          <a:solidFill>
            <a:srgbClr val="FFFFFF"/>
          </a:solidFill>
          <a:ln/>
        </p:spPr>
      </p:sp>
      <p:sp>
        <p:nvSpPr>
          <p:cNvPr id="47" name="Shape 44"/>
          <p:cNvSpPr/>
          <p:nvPr/>
        </p:nvSpPr>
        <p:spPr>
          <a:xfrm>
            <a:off x="658368" y="3474720"/>
            <a:ext cx="228600" cy="228600"/>
          </a:xfrm>
          <a:prstGeom prst="ellipse">
            <a:avLst/>
          </a:prstGeom>
          <a:solidFill>
            <a:srgbClr val="0F9488"/>
          </a:solidFill>
          <a:ln/>
        </p:spPr>
      </p:sp>
      <p:sp>
        <p:nvSpPr>
          <p:cNvPr id="48" name="Text 45"/>
          <p:cNvSpPr txBox="1"/>
          <p:nvPr/>
        </p:nvSpPr>
        <p:spPr>
          <a:xfrm>
            <a:off x="658368" y="3474720"/>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8</a:t>
            </a:r>
            <a:endParaRPr lang="en-US" sz="900" dirty="0"/>
          </a:p>
        </p:txBody>
      </p:sp>
      <p:sp>
        <p:nvSpPr>
          <p:cNvPr id="49" name="Text 46"/>
          <p:cNvSpPr txBox="1"/>
          <p:nvPr/>
        </p:nvSpPr>
        <p:spPr>
          <a:xfrm>
            <a:off x="1005840" y="3438144"/>
            <a:ext cx="2377440" cy="301752"/>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Find and replace</a:t>
            </a:r>
            <a:endParaRPr lang="en-US" sz="1200" dirty="0"/>
          </a:p>
        </p:txBody>
      </p:sp>
      <p:sp>
        <p:nvSpPr>
          <p:cNvPr id="50" name="Text 47"/>
          <p:cNvSpPr txBox="1"/>
          <p:nvPr/>
        </p:nvSpPr>
        <p:spPr>
          <a:xfrm>
            <a:off x="3383280" y="3438144"/>
            <a:ext cx="6949440" cy="301752"/>
          </a:xfrm>
          <a:prstGeom prst="rect">
            <a:avLst/>
          </a:prstGeom>
          <a:noFill/>
          <a:ln/>
        </p:spPr>
        <p:txBody>
          <a:bodyPr wrap="square" lIns="0" tIns="0" rIns="0" bIns="0" rtlCol="0" anchor="ctr"/>
          <a:lstStyle/>
          <a:p>
            <a:pPr indent="0" marL="0">
              <a:buNone/>
            </a:pPr>
            <a:r>
              <a:rPr lang="en-US" sz="1000" dirty="0">
                <a:solidFill>
                  <a:srgbClr val="12213A"/>
                </a:solidFill>
                <a:latin typeface="Courier New" pitchFamily="34" charset="0"/>
                <a:ea typeface="Courier New" pitchFamily="34" charset="-122"/>
                <a:cs typeface="Courier New" pitchFamily="34" charset="-120"/>
              </a:rPr>
              <a:t>sed 's/JUNK//g' message.txt   (JUNK is the repeating string)</a:t>
            </a:r>
            <a:endParaRPr lang="en-US" sz="1000" dirty="0"/>
          </a:p>
        </p:txBody>
      </p:sp>
      <p:sp>
        <p:nvSpPr>
          <p:cNvPr id="51" name="Text 48"/>
          <p:cNvSpPr txBox="1"/>
          <p:nvPr/>
        </p:nvSpPr>
        <p:spPr>
          <a:xfrm>
            <a:off x="10241280" y="3438144"/>
            <a:ext cx="1371600" cy="301752"/>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Hard · 400</a:t>
            </a:r>
            <a:endParaRPr lang="en-US" sz="1100" dirty="0"/>
          </a:p>
        </p:txBody>
      </p:sp>
      <p:sp>
        <p:nvSpPr>
          <p:cNvPr id="52" name="Shape 49"/>
          <p:cNvSpPr/>
          <p:nvPr/>
        </p:nvSpPr>
        <p:spPr>
          <a:xfrm>
            <a:off x="548640" y="3739896"/>
            <a:ext cx="11094415" cy="301752"/>
          </a:xfrm>
          <a:prstGeom prst="rect">
            <a:avLst/>
          </a:prstGeom>
          <a:solidFill>
            <a:srgbClr val="F1F5FB"/>
          </a:solidFill>
          <a:ln/>
        </p:spPr>
      </p:sp>
      <p:sp>
        <p:nvSpPr>
          <p:cNvPr id="53" name="Shape 50"/>
          <p:cNvSpPr/>
          <p:nvPr/>
        </p:nvSpPr>
        <p:spPr>
          <a:xfrm>
            <a:off x="658368" y="3776472"/>
            <a:ext cx="228600" cy="228600"/>
          </a:xfrm>
          <a:prstGeom prst="ellipse">
            <a:avLst/>
          </a:prstGeom>
          <a:solidFill>
            <a:srgbClr val="5B6EE1"/>
          </a:solidFill>
          <a:ln/>
        </p:spPr>
      </p:sp>
      <p:sp>
        <p:nvSpPr>
          <p:cNvPr id="54" name="Text 51"/>
          <p:cNvSpPr txBox="1"/>
          <p:nvPr/>
        </p:nvSpPr>
        <p:spPr>
          <a:xfrm>
            <a:off x="658368" y="3776472"/>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9</a:t>
            </a:r>
            <a:endParaRPr lang="en-US" sz="900" dirty="0"/>
          </a:p>
        </p:txBody>
      </p:sp>
      <p:sp>
        <p:nvSpPr>
          <p:cNvPr id="55" name="Text 52"/>
          <p:cNvSpPr txBox="1"/>
          <p:nvPr/>
        </p:nvSpPr>
        <p:spPr>
          <a:xfrm>
            <a:off x="1005840" y="3739896"/>
            <a:ext cx="2377440" cy="301752"/>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Forge the key</a:t>
            </a:r>
            <a:endParaRPr lang="en-US" sz="1200" dirty="0"/>
          </a:p>
        </p:txBody>
      </p:sp>
      <p:sp>
        <p:nvSpPr>
          <p:cNvPr id="56" name="Text 53"/>
          <p:cNvSpPr txBox="1"/>
          <p:nvPr/>
        </p:nvSpPr>
        <p:spPr>
          <a:xfrm>
            <a:off x="3383280" y="3739896"/>
            <a:ext cx="6949440" cy="301752"/>
          </a:xfrm>
          <a:prstGeom prst="rect">
            <a:avLst/>
          </a:prstGeom>
          <a:noFill/>
          <a:ln/>
        </p:spPr>
        <p:txBody>
          <a:bodyPr wrap="square" lIns="0" tIns="0" rIns="0" bIns="0" rtlCol="0" anchor="ctr"/>
          <a:lstStyle/>
          <a:p>
            <a:pPr indent="0" marL="0">
              <a:buNone/>
            </a:pPr>
            <a:r>
              <a:rPr lang="en-US" sz="1000" dirty="0">
                <a:solidFill>
                  <a:srgbClr val="12213A"/>
                </a:solidFill>
                <a:latin typeface="Courier New" pitchFamily="34" charset="0"/>
                <a:ea typeface="Courier New" pitchFamily="34" charset="-122"/>
                <a:cs typeface="Courier New" pitchFamily="34" charset="-120"/>
              </a:rPr>
              <a:t>awk '/admin/{print $3}' records.txt &gt; keys.txt ; forge keys.txt</a:t>
            </a:r>
            <a:endParaRPr lang="en-US" sz="1000" dirty="0"/>
          </a:p>
        </p:txBody>
      </p:sp>
      <p:sp>
        <p:nvSpPr>
          <p:cNvPr id="57" name="Text 54"/>
          <p:cNvSpPr txBox="1"/>
          <p:nvPr/>
        </p:nvSpPr>
        <p:spPr>
          <a:xfrm>
            <a:off x="10241280" y="3739896"/>
            <a:ext cx="1371600" cy="301752"/>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Hard · 400</a:t>
            </a:r>
            <a:endParaRPr lang="en-US" sz="1100" dirty="0"/>
          </a:p>
        </p:txBody>
      </p:sp>
      <p:sp>
        <p:nvSpPr>
          <p:cNvPr id="58" name="Shape 55"/>
          <p:cNvSpPr/>
          <p:nvPr/>
        </p:nvSpPr>
        <p:spPr>
          <a:xfrm>
            <a:off x="548640" y="4041648"/>
            <a:ext cx="11094415" cy="301752"/>
          </a:xfrm>
          <a:prstGeom prst="rect">
            <a:avLst/>
          </a:prstGeom>
          <a:solidFill>
            <a:srgbClr val="FFFFFF"/>
          </a:solidFill>
          <a:ln/>
        </p:spPr>
      </p:sp>
      <p:sp>
        <p:nvSpPr>
          <p:cNvPr id="59" name="Shape 56"/>
          <p:cNvSpPr/>
          <p:nvPr/>
        </p:nvSpPr>
        <p:spPr>
          <a:xfrm>
            <a:off x="658368" y="4078224"/>
            <a:ext cx="228600" cy="228600"/>
          </a:xfrm>
          <a:prstGeom prst="ellipse">
            <a:avLst/>
          </a:prstGeom>
          <a:solidFill>
            <a:srgbClr val="B4233F"/>
          </a:solidFill>
          <a:ln/>
        </p:spPr>
      </p:sp>
      <p:sp>
        <p:nvSpPr>
          <p:cNvPr id="60" name="Text 57"/>
          <p:cNvSpPr txBox="1"/>
          <p:nvPr/>
        </p:nvSpPr>
        <p:spPr>
          <a:xfrm>
            <a:off x="658368" y="4078224"/>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10</a:t>
            </a:r>
            <a:endParaRPr lang="en-US" sz="900" dirty="0"/>
          </a:p>
        </p:txBody>
      </p:sp>
      <p:sp>
        <p:nvSpPr>
          <p:cNvPr id="61" name="Text 58"/>
          <p:cNvSpPr txBox="1"/>
          <p:nvPr/>
        </p:nvSpPr>
        <p:spPr>
          <a:xfrm>
            <a:off x="1005840" y="4041648"/>
            <a:ext cx="2377440" cy="301752"/>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Endgame</a:t>
            </a:r>
            <a:endParaRPr lang="en-US" sz="1200" dirty="0"/>
          </a:p>
        </p:txBody>
      </p:sp>
      <p:sp>
        <p:nvSpPr>
          <p:cNvPr id="62" name="Text 59"/>
          <p:cNvSpPr txBox="1"/>
          <p:nvPr/>
        </p:nvSpPr>
        <p:spPr>
          <a:xfrm>
            <a:off x="3383280" y="4041648"/>
            <a:ext cx="6949440" cy="301752"/>
          </a:xfrm>
          <a:prstGeom prst="rect">
            <a:avLst/>
          </a:prstGeom>
          <a:noFill/>
          <a:ln/>
        </p:spPr>
        <p:txBody>
          <a:bodyPr wrap="square" lIns="0" tIns="0" rIns="0" bIns="0" rtlCol="0" anchor="ctr"/>
          <a:lstStyle/>
          <a:p>
            <a:pPr indent="0" marL="0">
              <a:buNone/>
            </a:pPr>
            <a:r>
              <a:rPr lang="en-US" sz="1000" dirty="0">
                <a:solidFill>
                  <a:srgbClr val="12213A"/>
                </a:solidFill>
                <a:latin typeface="Courier New" pitchFamily="34" charset="0"/>
                <a:ea typeface="Courier New" pitchFamily="34" charset="-122"/>
                <a:cs typeface="Courier New" pitchFamily="34" charset="-120"/>
              </a:rPr>
              <a:t>find vault -name ".*";  grep NAME auth.log | cut -d= -f4;  chmod +x unlock.sh</a:t>
            </a:r>
            <a:endParaRPr lang="en-US" sz="1000" dirty="0"/>
          </a:p>
        </p:txBody>
      </p:sp>
      <p:sp>
        <p:nvSpPr>
          <p:cNvPr id="63" name="Text 60"/>
          <p:cNvSpPr txBox="1"/>
          <p:nvPr/>
        </p:nvSpPr>
        <p:spPr>
          <a:xfrm>
            <a:off x="10241280" y="4041648"/>
            <a:ext cx="1371600" cy="301752"/>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Very Hard · 800</a:t>
            </a:r>
            <a:endParaRPr lang="en-US" sz="1100" dirty="0"/>
          </a:p>
        </p:txBody>
      </p:sp>
      <p:sp>
        <p:nvSpPr>
          <p:cNvPr id="64" name="Shape 61"/>
          <p:cNvSpPr/>
          <p:nvPr/>
        </p:nvSpPr>
        <p:spPr>
          <a:xfrm>
            <a:off x="548640" y="4343400"/>
            <a:ext cx="11094415" cy="301752"/>
          </a:xfrm>
          <a:prstGeom prst="rect">
            <a:avLst/>
          </a:prstGeom>
          <a:solidFill>
            <a:srgbClr val="F1F5FB"/>
          </a:solidFill>
          <a:ln/>
        </p:spPr>
      </p:sp>
      <p:sp>
        <p:nvSpPr>
          <p:cNvPr id="65" name="Shape 62"/>
          <p:cNvSpPr/>
          <p:nvPr/>
        </p:nvSpPr>
        <p:spPr>
          <a:xfrm>
            <a:off x="658368" y="4379976"/>
            <a:ext cx="228600" cy="228600"/>
          </a:xfrm>
          <a:prstGeom prst="ellipse">
            <a:avLst/>
          </a:prstGeom>
          <a:solidFill>
            <a:srgbClr val="56657E"/>
          </a:solidFill>
          <a:ln/>
        </p:spPr>
      </p:sp>
      <p:sp>
        <p:nvSpPr>
          <p:cNvPr id="66" name="Text 63"/>
          <p:cNvSpPr txBox="1"/>
          <p:nvPr/>
        </p:nvSpPr>
        <p:spPr>
          <a:xfrm>
            <a:off x="658368" y="4379976"/>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67" name="Text 64"/>
          <p:cNvSpPr txBox="1"/>
          <p:nvPr/>
        </p:nvSpPr>
        <p:spPr>
          <a:xfrm>
            <a:off x="1005840" y="4343400"/>
            <a:ext cx="2377440" cy="301752"/>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Count the haystack</a:t>
            </a:r>
            <a:endParaRPr lang="en-US" sz="1200" dirty="0"/>
          </a:p>
        </p:txBody>
      </p:sp>
      <p:sp>
        <p:nvSpPr>
          <p:cNvPr id="68" name="Text 65"/>
          <p:cNvSpPr txBox="1"/>
          <p:nvPr/>
        </p:nvSpPr>
        <p:spPr>
          <a:xfrm>
            <a:off x="3383280" y="4343400"/>
            <a:ext cx="6949440" cy="301752"/>
          </a:xfrm>
          <a:prstGeom prst="rect">
            <a:avLst/>
          </a:prstGeom>
          <a:noFill/>
          <a:ln/>
        </p:spPr>
        <p:txBody>
          <a:bodyPr wrap="square" lIns="0" tIns="0" rIns="0" bIns="0" rtlCol="0" anchor="ctr"/>
          <a:lstStyle/>
          <a:p>
            <a:pPr indent="0" marL="0">
              <a:buNone/>
            </a:pPr>
            <a:r>
              <a:rPr lang="en-US" sz="1000" dirty="0">
                <a:solidFill>
                  <a:srgbClr val="12213A"/>
                </a:solidFill>
                <a:latin typeface="Courier New" pitchFamily="34" charset="0"/>
                <a:ea typeface="Courier New" pitchFamily="34" charset="-122"/>
                <a:cs typeface="Courier New" pitchFamily="34" charset="-120"/>
              </a:rPr>
              <a:t>find archive -type f | wc -l  (81);  -type d  (26)</a:t>
            </a:r>
            <a:endParaRPr lang="en-US" sz="1000" dirty="0"/>
          </a:p>
        </p:txBody>
      </p:sp>
      <p:sp>
        <p:nvSpPr>
          <p:cNvPr id="69" name="Text 66"/>
          <p:cNvSpPr txBox="1"/>
          <p:nvPr/>
        </p:nvSpPr>
        <p:spPr>
          <a:xfrm>
            <a:off x="10241280" y="4343400"/>
            <a:ext cx="1371600" cy="301752"/>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side quest</a:t>
            </a:r>
            <a:endParaRPr lang="en-US" sz="1100" dirty="0"/>
          </a:p>
        </p:txBody>
      </p:sp>
      <p:sp>
        <p:nvSpPr>
          <p:cNvPr id="70" name="Shape 67"/>
          <p:cNvSpPr/>
          <p:nvPr/>
        </p:nvSpPr>
        <p:spPr>
          <a:xfrm>
            <a:off x="548640" y="4645152"/>
            <a:ext cx="11094415" cy="301752"/>
          </a:xfrm>
          <a:prstGeom prst="rect">
            <a:avLst/>
          </a:prstGeom>
          <a:solidFill>
            <a:srgbClr val="FFFFFF"/>
          </a:solidFill>
          <a:ln/>
        </p:spPr>
      </p:sp>
      <p:sp>
        <p:nvSpPr>
          <p:cNvPr id="71" name="Shape 68"/>
          <p:cNvSpPr/>
          <p:nvPr/>
        </p:nvSpPr>
        <p:spPr>
          <a:xfrm>
            <a:off x="658368" y="4681728"/>
            <a:ext cx="228600" cy="228600"/>
          </a:xfrm>
          <a:prstGeom prst="ellipse">
            <a:avLst/>
          </a:prstGeom>
          <a:solidFill>
            <a:srgbClr val="56657E"/>
          </a:solidFill>
          <a:ln/>
        </p:spPr>
      </p:sp>
      <p:sp>
        <p:nvSpPr>
          <p:cNvPr id="72" name="Text 69"/>
          <p:cNvSpPr txBox="1"/>
          <p:nvPr/>
        </p:nvSpPr>
        <p:spPr>
          <a:xfrm>
            <a:off x="658368" y="4681728"/>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73" name="Text 70"/>
          <p:cNvSpPr txBox="1"/>
          <p:nvPr/>
        </p:nvSpPr>
        <p:spPr>
          <a:xfrm>
            <a:off x="1005840" y="4645152"/>
            <a:ext cx="2377440" cy="301752"/>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Who failed most?</a:t>
            </a:r>
            <a:endParaRPr lang="en-US" sz="1200" dirty="0"/>
          </a:p>
        </p:txBody>
      </p:sp>
      <p:sp>
        <p:nvSpPr>
          <p:cNvPr id="74" name="Text 71"/>
          <p:cNvSpPr txBox="1"/>
          <p:nvPr/>
        </p:nvSpPr>
        <p:spPr>
          <a:xfrm>
            <a:off x="3383280" y="4645152"/>
            <a:ext cx="6949440" cy="301752"/>
          </a:xfrm>
          <a:prstGeom prst="rect">
            <a:avLst/>
          </a:prstGeom>
          <a:noFill/>
          <a:ln/>
        </p:spPr>
        <p:txBody>
          <a:bodyPr wrap="square" lIns="0" tIns="0" rIns="0" bIns="0" rtlCol="0" anchor="ctr"/>
          <a:lstStyle/>
          <a:p>
            <a:pPr indent="0" marL="0">
              <a:buNone/>
            </a:pPr>
            <a:r>
              <a:rPr lang="en-US" sz="1000" dirty="0">
                <a:solidFill>
                  <a:srgbClr val="12213A"/>
                </a:solidFill>
                <a:latin typeface="Courier New" pitchFamily="34" charset="0"/>
                <a:ea typeface="Courier New" pitchFamily="34" charset="-122"/>
                <a:cs typeface="Courier New" pitchFamily="34" charset="-120"/>
              </a:rPr>
              <a:t>grep LOGIN_FAIL access.log | cut -d' ' -f2 | sort | uniq -c | sort -n</a:t>
            </a:r>
            <a:endParaRPr lang="en-US" sz="1000" dirty="0"/>
          </a:p>
        </p:txBody>
      </p:sp>
      <p:sp>
        <p:nvSpPr>
          <p:cNvPr id="75" name="Text 72"/>
          <p:cNvSpPr txBox="1"/>
          <p:nvPr/>
        </p:nvSpPr>
        <p:spPr>
          <a:xfrm>
            <a:off x="10241280" y="4645152"/>
            <a:ext cx="1371600" cy="301752"/>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side quest</a:t>
            </a:r>
            <a:endParaRPr lang="en-US" sz="1100" dirty="0"/>
          </a:p>
        </p:txBody>
      </p:sp>
      <p:sp>
        <p:nvSpPr>
          <p:cNvPr id="76" name="Shape 73"/>
          <p:cNvSpPr/>
          <p:nvPr/>
        </p:nvSpPr>
        <p:spPr>
          <a:xfrm>
            <a:off x="548640" y="4946904"/>
            <a:ext cx="11094415" cy="301752"/>
          </a:xfrm>
          <a:prstGeom prst="rect">
            <a:avLst/>
          </a:prstGeom>
          <a:solidFill>
            <a:srgbClr val="F1F5FB"/>
          </a:solidFill>
          <a:ln/>
        </p:spPr>
      </p:sp>
      <p:sp>
        <p:nvSpPr>
          <p:cNvPr id="77" name="Shape 74"/>
          <p:cNvSpPr/>
          <p:nvPr/>
        </p:nvSpPr>
        <p:spPr>
          <a:xfrm>
            <a:off x="658368" y="4983480"/>
            <a:ext cx="228600" cy="228600"/>
          </a:xfrm>
          <a:prstGeom prst="ellipse">
            <a:avLst/>
          </a:prstGeom>
          <a:solidFill>
            <a:srgbClr val="56657E"/>
          </a:solidFill>
          <a:ln/>
        </p:spPr>
      </p:sp>
      <p:sp>
        <p:nvSpPr>
          <p:cNvPr id="78" name="Text 75"/>
          <p:cNvSpPr txBox="1"/>
          <p:nvPr/>
        </p:nvSpPr>
        <p:spPr>
          <a:xfrm>
            <a:off x="658368" y="4983480"/>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79" name="Text 76"/>
          <p:cNvSpPr txBox="1"/>
          <p:nvPr/>
        </p:nvSpPr>
        <p:spPr>
          <a:xfrm>
            <a:off x="1005840" y="4946904"/>
            <a:ext cx="2377440" cy="301752"/>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Head count</a:t>
            </a:r>
            <a:endParaRPr lang="en-US" sz="1200" dirty="0"/>
          </a:p>
        </p:txBody>
      </p:sp>
      <p:sp>
        <p:nvSpPr>
          <p:cNvPr id="80" name="Text 77"/>
          <p:cNvSpPr txBox="1"/>
          <p:nvPr/>
        </p:nvSpPr>
        <p:spPr>
          <a:xfrm>
            <a:off x="3383280" y="4946904"/>
            <a:ext cx="6949440" cy="301752"/>
          </a:xfrm>
          <a:prstGeom prst="rect">
            <a:avLst/>
          </a:prstGeom>
          <a:noFill/>
          <a:ln/>
        </p:spPr>
        <p:txBody>
          <a:bodyPr wrap="square" lIns="0" tIns="0" rIns="0" bIns="0" rtlCol="0" anchor="ctr"/>
          <a:lstStyle/>
          <a:p>
            <a:pPr indent="0" marL="0">
              <a:buNone/>
            </a:pPr>
            <a:r>
              <a:rPr lang="en-US" sz="1000" dirty="0">
                <a:solidFill>
                  <a:srgbClr val="12213A"/>
                </a:solidFill>
                <a:latin typeface="Courier New" pitchFamily="34" charset="0"/>
                <a:ea typeface="Courier New" pitchFamily="34" charset="-122"/>
                <a:cs typeface="Courier New" pitchFamily="34" charset="-120"/>
              </a:rPr>
              <a:t>cut -d' ' -f2 access.log | sort -u | wc -l  (11)</a:t>
            </a:r>
            <a:endParaRPr lang="en-US" sz="1000" dirty="0"/>
          </a:p>
        </p:txBody>
      </p:sp>
      <p:sp>
        <p:nvSpPr>
          <p:cNvPr id="81" name="Text 78"/>
          <p:cNvSpPr txBox="1"/>
          <p:nvPr/>
        </p:nvSpPr>
        <p:spPr>
          <a:xfrm>
            <a:off x="10241280" y="4946904"/>
            <a:ext cx="1371600" cy="301752"/>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side quest</a:t>
            </a:r>
            <a:endParaRPr lang="en-US" sz="1100" dirty="0"/>
          </a:p>
        </p:txBody>
      </p:sp>
      <p:sp>
        <p:nvSpPr>
          <p:cNvPr id="82" name="Shape 79"/>
          <p:cNvSpPr/>
          <p:nvPr/>
        </p:nvSpPr>
        <p:spPr>
          <a:xfrm>
            <a:off x="548640" y="5248656"/>
            <a:ext cx="11094415" cy="301752"/>
          </a:xfrm>
          <a:prstGeom prst="rect">
            <a:avLst/>
          </a:prstGeom>
          <a:solidFill>
            <a:srgbClr val="FFFFFF"/>
          </a:solidFill>
          <a:ln/>
        </p:spPr>
      </p:sp>
      <p:sp>
        <p:nvSpPr>
          <p:cNvPr id="83" name="Shape 80"/>
          <p:cNvSpPr/>
          <p:nvPr/>
        </p:nvSpPr>
        <p:spPr>
          <a:xfrm>
            <a:off x="658368" y="5285232"/>
            <a:ext cx="228600" cy="228600"/>
          </a:xfrm>
          <a:prstGeom prst="ellipse">
            <a:avLst/>
          </a:prstGeom>
          <a:solidFill>
            <a:srgbClr val="56657E"/>
          </a:solidFill>
          <a:ln/>
        </p:spPr>
      </p:sp>
      <p:sp>
        <p:nvSpPr>
          <p:cNvPr id="84" name="Text 81"/>
          <p:cNvSpPr txBox="1"/>
          <p:nvPr/>
        </p:nvSpPr>
        <p:spPr>
          <a:xfrm>
            <a:off x="658368" y="5285232"/>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85" name="Text 82"/>
          <p:cNvSpPr txBox="1"/>
          <p:nvPr/>
        </p:nvSpPr>
        <p:spPr>
          <a:xfrm>
            <a:off x="1005840" y="5248656"/>
            <a:ext cx="2377440" cy="301752"/>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Swap secrets</a:t>
            </a:r>
            <a:endParaRPr lang="en-US" sz="1200" dirty="0"/>
          </a:p>
        </p:txBody>
      </p:sp>
      <p:sp>
        <p:nvSpPr>
          <p:cNvPr id="86" name="Text 83"/>
          <p:cNvSpPr txBox="1"/>
          <p:nvPr/>
        </p:nvSpPr>
        <p:spPr>
          <a:xfrm>
            <a:off x="3383280" y="5248656"/>
            <a:ext cx="6949440" cy="301752"/>
          </a:xfrm>
          <a:prstGeom prst="rect">
            <a:avLst/>
          </a:prstGeom>
          <a:noFill/>
          <a:ln/>
        </p:spPr>
        <p:txBody>
          <a:bodyPr wrap="square" lIns="0" tIns="0" rIns="0" bIns="0" rtlCol="0" anchor="ctr"/>
          <a:lstStyle/>
          <a:p>
            <a:pPr indent="0" marL="0">
              <a:buNone/>
            </a:pPr>
            <a:r>
              <a:rPr lang="en-US" sz="1000" dirty="0">
                <a:solidFill>
                  <a:srgbClr val="12213A"/>
                </a:solidFill>
                <a:latin typeface="Courier New" pitchFamily="34" charset="0"/>
                <a:ea typeface="Courier New" pitchFamily="34" charset="-122"/>
                <a:cs typeface="Courier New" pitchFamily="34" charset="-120"/>
              </a:rPr>
              <a:t>echo &lt;text&gt; | rev;   then rev it back</a:t>
            </a:r>
            <a:endParaRPr lang="en-US" sz="1000" dirty="0"/>
          </a:p>
        </p:txBody>
      </p:sp>
      <p:sp>
        <p:nvSpPr>
          <p:cNvPr id="87" name="Text 84"/>
          <p:cNvSpPr txBox="1"/>
          <p:nvPr/>
        </p:nvSpPr>
        <p:spPr>
          <a:xfrm>
            <a:off x="10241280" y="5248656"/>
            <a:ext cx="1371600" cy="301752"/>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side quest</a:t>
            </a:r>
            <a:endParaRPr lang="en-US" sz="1100" dirty="0"/>
          </a:p>
        </p:txBody>
      </p:sp>
      <p:sp>
        <p:nvSpPr>
          <p:cNvPr id="88" name="Text 85"/>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60 / 79</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Mentor appendix: when things go wrong</a:t>
            </a:r>
            <a:endParaRPr lang="en-US" sz="3200" dirty="0"/>
          </a:p>
        </p:txBody>
      </p:sp>
      <p:sp>
        <p:nvSpPr>
          <p:cNvPr id="4" name="Shape 1"/>
          <p:cNvSpPr/>
          <p:nvPr/>
        </p:nvSpPr>
        <p:spPr>
          <a:xfrm>
            <a:off x="548640" y="1463040"/>
            <a:ext cx="5449824" cy="1005840"/>
          </a:xfrm>
          <a:prstGeom prst="roundRect">
            <a:avLst>
              <a:gd name="adj" fmla="val 9091"/>
            </a:avLst>
          </a:prstGeom>
          <a:solidFill>
            <a:srgbClr val="F1F5FB"/>
          </a:solidFill>
          <a:ln/>
        </p:spPr>
      </p:sp>
      <p:sp>
        <p:nvSpPr>
          <p:cNvPr id="5" name="Text 2"/>
          <p:cNvSpPr txBox="1"/>
          <p:nvPr/>
        </p:nvSpPr>
        <p:spPr>
          <a:xfrm>
            <a:off x="777240" y="1554480"/>
            <a:ext cx="5029200" cy="320040"/>
          </a:xfrm>
          <a:prstGeom prst="rect">
            <a:avLst/>
          </a:prstGeom>
          <a:noFill/>
          <a:ln/>
        </p:spPr>
        <p:txBody>
          <a:bodyPr wrap="square" lIns="0" tIns="0" rIns="0" bIns="0" rtlCol="0" anchor="t"/>
          <a:lstStyle/>
          <a:p>
            <a:pPr indent="0" marL="0">
              <a:buNone/>
            </a:pPr>
            <a:r>
              <a:rPr lang="en-US" sz="1450" b="1" dirty="0">
                <a:solidFill>
                  <a:srgbClr val="B93434"/>
                </a:solidFill>
                <a:latin typeface="Calibri" pitchFamily="34" charset="0"/>
                <a:ea typeface="Calibri" pitchFamily="34" charset="-122"/>
                <a:cs typeface="Calibri" pitchFamily="34" charset="-120"/>
              </a:rPr>
              <a:t>The page asks for a GitLab sign-in</a:t>
            </a:r>
            <a:endParaRPr lang="en-US" sz="1450" dirty="0"/>
          </a:p>
        </p:txBody>
      </p:sp>
      <p:sp>
        <p:nvSpPr>
          <p:cNvPr id="6" name="Text 3"/>
          <p:cNvSpPr txBox="1"/>
          <p:nvPr/>
        </p:nvSpPr>
        <p:spPr>
          <a:xfrm>
            <a:off x="777240" y="1874520"/>
            <a:ext cx="5029200" cy="548640"/>
          </a:xfrm>
          <a:prstGeom prst="rect">
            <a:avLst/>
          </a:prstGeom>
          <a:noFill/>
          <a:ln/>
        </p:spPr>
        <p:txBody>
          <a:bodyPr wrap="square" lIns="0" tIns="0" rIns="0" bIns="0" rtlCol="0" anchor="t"/>
          <a:lstStyle/>
          <a:p>
            <a:pPr indent="0" marL="0">
              <a:buNone/>
            </a:pPr>
            <a:r>
              <a:rPr lang="en-US" sz="1250" dirty="0">
                <a:solidFill>
                  <a:srgbClr val="12213A"/>
                </a:solidFill>
                <a:latin typeface="Calibri" pitchFamily="34" charset="0"/>
                <a:ea typeface="Calibri" pitchFamily="34" charset="-122"/>
                <a:cs typeface="Calibri" pitchFamily="34" charset="-120"/>
              </a:rPr>
              <a:t>Pages visibility is not public. Settings &gt; General &gt; Visibility &gt; Pages: Everyone.</a:t>
            </a:r>
            <a:endParaRPr lang="en-US" sz="1250" dirty="0"/>
          </a:p>
        </p:txBody>
      </p:sp>
      <p:sp>
        <p:nvSpPr>
          <p:cNvPr id="7" name="Shape 4"/>
          <p:cNvSpPr/>
          <p:nvPr/>
        </p:nvSpPr>
        <p:spPr>
          <a:xfrm>
            <a:off x="6190488" y="1463040"/>
            <a:ext cx="5449824" cy="1005840"/>
          </a:xfrm>
          <a:prstGeom prst="roundRect">
            <a:avLst>
              <a:gd name="adj" fmla="val 9091"/>
            </a:avLst>
          </a:prstGeom>
          <a:solidFill>
            <a:srgbClr val="F1F5FB"/>
          </a:solidFill>
          <a:ln/>
        </p:spPr>
      </p:sp>
      <p:sp>
        <p:nvSpPr>
          <p:cNvPr id="8" name="Text 5"/>
          <p:cNvSpPr txBox="1"/>
          <p:nvPr/>
        </p:nvSpPr>
        <p:spPr>
          <a:xfrm>
            <a:off x="6419088" y="1554480"/>
            <a:ext cx="5029200" cy="320040"/>
          </a:xfrm>
          <a:prstGeom prst="rect">
            <a:avLst/>
          </a:prstGeom>
          <a:noFill/>
          <a:ln/>
        </p:spPr>
        <p:txBody>
          <a:bodyPr wrap="square" lIns="0" tIns="0" rIns="0" bIns="0" rtlCol="0" anchor="t"/>
          <a:lstStyle/>
          <a:p>
            <a:pPr indent="0" marL="0">
              <a:buNone/>
            </a:pPr>
            <a:r>
              <a:rPr lang="en-US" sz="1450" b="1" dirty="0">
                <a:solidFill>
                  <a:srgbClr val="B93434"/>
                </a:solidFill>
                <a:latin typeface="Calibri" pitchFamily="34" charset="0"/>
                <a:ea typeface="Calibri" pitchFamily="34" charset="-122"/>
                <a:cs typeface="Calibri" pitchFamily="34" charset="-120"/>
              </a:rPr>
              <a:t>The page will not load at all</a:t>
            </a:r>
            <a:endParaRPr lang="en-US" sz="1450" dirty="0"/>
          </a:p>
        </p:txBody>
      </p:sp>
      <p:sp>
        <p:nvSpPr>
          <p:cNvPr id="9" name="Text 6"/>
          <p:cNvSpPr txBox="1"/>
          <p:nvPr/>
        </p:nvSpPr>
        <p:spPr>
          <a:xfrm>
            <a:off x="6419088" y="1874520"/>
            <a:ext cx="5029200" cy="548640"/>
          </a:xfrm>
          <a:prstGeom prst="rect">
            <a:avLst/>
          </a:prstGeom>
          <a:noFill/>
          <a:ln/>
        </p:spPr>
        <p:txBody>
          <a:bodyPr wrap="square" lIns="0" tIns="0" rIns="0" bIns="0" rtlCol="0" anchor="t"/>
          <a:lstStyle/>
          <a:p>
            <a:pPr indent="0" marL="0">
              <a:buNone/>
            </a:pPr>
            <a:r>
              <a:rPr lang="en-US" sz="1250" dirty="0">
                <a:solidFill>
                  <a:srgbClr val="12213A"/>
                </a:solidFill>
                <a:latin typeface="Calibri" pitchFamily="34" charset="0"/>
                <a:ea typeface="Calibri" pitchFamily="34" charset="-122"/>
                <a:cs typeface="Calibri" pitchFamily="34" charset="-120"/>
              </a:rPr>
              <a:t>The web filter is blocking *.gitlab.io. Ask IT to allow your Pages address.</a:t>
            </a:r>
            <a:endParaRPr lang="en-US" sz="1250" dirty="0"/>
          </a:p>
        </p:txBody>
      </p:sp>
      <p:sp>
        <p:nvSpPr>
          <p:cNvPr id="10" name="Shape 7"/>
          <p:cNvSpPr/>
          <p:nvPr/>
        </p:nvSpPr>
        <p:spPr>
          <a:xfrm>
            <a:off x="548640" y="2596896"/>
            <a:ext cx="5449824" cy="1005840"/>
          </a:xfrm>
          <a:prstGeom prst="roundRect">
            <a:avLst>
              <a:gd name="adj" fmla="val 9091"/>
            </a:avLst>
          </a:prstGeom>
          <a:solidFill>
            <a:srgbClr val="F1F5FB"/>
          </a:solidFill>
          <a:ln/>
        </p:spPr>
      </p:sp>
      <p:sp>
        <p:nvSpPr>
          <p:cNvPr id="11" name="Text 8"/>
          <p:cNvSpPr txBox="1"/>
          <p:nvPr/>
        </p:nvSpPr>
        <p:spPr>
          <a:xfrm>
            <a:off x="777240" y="2688336"/>
            <a:ext cx="5029200" cy="320040"/>
          </a:xfrm>
          <a:prstGeom prst="rect">
            <a:avLst/>
          </a:prstGeom>
          <a:noFill/>
          <a:ln/>
        </p:spPr>
        <p:txBody>
          <a:bodyPr wrap="square" lIns="0" tIns="0" rIns="0" bIns="0" rtlCol="0" anchor="t"/>
          <a:lstStyle/>
          <a:p>
            <a:pPr indent="0" marL="0">
              <a:buNone/>
            </a:pPr>
            <a:r>
              <a:rPr lang="en-US" sz="1450" b="1" dirty="0">
                <a:solidFill>
                  <a:srgbClr val="B93434"/>
                </a:solidFill>
                <a:latin typeface="Calibri" pitchFamily="34" charset="0"/>
                <a:ea typeface="Calibri" pitchFamily="34" charset="-122"/>
                <a:cs typeface="Calibri" pitchFamily="34" charset="-120"/>
              </a:rPr>
              <a:t>Status says 'Ready (lite mode)'</a:t>
            </a:r>
            <a:endParaRPr lang="en-US" sz="1450" dirty="0"/>
          </a:p>
        </p:txBody>
      </p:sp>
      <p:sp>
        <p:nvSpPr>
          <p:cNvPr id="12" name="Text 9"/>
          <p:cNvSpPr txBox="1"/>
          <p:nvPr/>
        </p:nvSpPr>
        <p:spPr>
          <a:xfrm>
            <a:off x="777240" y="3008376"/>
            <a:ext cx="5029200" cy="548640"/>
          </a:xfrm>
          <a:prstGeom prst="rect">
            <a:avLst/>
          </a:prstGeom>
          <a:noFill/>
          <a:ln/>
        </p:spPr>
        <p:txBody>
          <a:bodyPr wrap="square" lIns="0" tIns="0" rIns="0" bIns="0" rtlCol="0" anchor="t"/>
          <a:lstStyle/>
          <a:p>
            <a:pPr indent="0" marL="0">
              <a:buNone/>
            </a:pPr>
            <a:r>
              <a:rPr lang="en-US" sz="1250" dirty="0">
                <a:solidFill>
                  <a:srgbClr val="12213A"/>
                </a:solidFill>
                <a:latin typeface="Calibri" pitchFamily="34" charset="0"/>
                <a:ea typeface="Calibri" pitchFamily="34" charset="-122"/>
                <a:cs typeface="Calibri" pitchFamily="34" charset="-120"/>
              </a:rPr>
              <a:t>That browser blocks WebAssembly. Lite mode has the same missions: carry on.</a:t>
            </a:r>
            <a:endParaRPr lang="en-US" sz="1250" dirty="0"/>
          </a:p>
        </p:txBody>
      </p:sp>
      <p:sp>
        <p:nvSpPr>
          <p:cNvPr id="13" name="Shape 10"/>
          <p:cNvSpPr/>
          <p:nvPr/>
        </p:nvSpPr>
        <p:spPr>
          <a:xfrm>
            <a:off x="6190488" y="2596896"/>
            <a:ext cx="5449824" cy="1005840"/>
          </a:xfrm>
          <a:prstGeom prst="roundRect">
            <a:avLst>
              <a:gd name="adj" fmla="val 9091"/>
            </a:avLst>
          </a:prstGeom>
          <a:solidFill>
            <a:srgbClr val="F1F5FB"/>
          </a:solidFill>
          <a:ln/>
        </p:spPr>
      </p:sp>
      <p:sp>
        <p:nvSpPr>
          <p:cNvPr id="14" name="Text 11"/>
          <p:cNvSpPr txBox="1"/>
          <p:nvPr/>
        </p:nvSpPr>
        <p:spPr>
          <a:xfrm>
            <a:off x="6419088" y="2688336"/>
            <a:ext cx="5029200" cy="320040"/>
          </a:xfrm>
          <a:prstGeom prst="rect">
            <a:avLst/>
          </a:prstGeom>
          <a:noFill/>
          <a:ln/>
        </p:spPr>
        <p:txBody>
          <a:bodyPr wrap="square" lIns="0" tIns="0" rIns="0" bIns="0" rtlCol="0" anchor="t"/>
          <a:lstStyle/>
          <a:p>
            <a:pPr indent="0" marL="0">
              <a:buNone/>
            </a:pPr>
            <a:r>
              <a:rPr lang="en-US" sz="1450" b="1" dirty="0">
                <a:solidFill>
                  <a:srgbClr val="B93434"/>
                </a:solidFill>
                <a:latin typeface="Calibri" pitchFamily="34" charset="0"/>
                <a:ea typeface="Calibri" pitchFamily="34" charset="-122"/>
                <a:cs typeface="Calibri" pitchFamily="34" charset="-120"/>
              </a:rPr>
              <a:t>Typing does nothing</a:t>
            </a:r>
            <a:endParaRPr lang="en-US" sz="1450" dirty="0"/>
          </a:p>
        </p:txBody>
      </p:sp>
      <p:sp>
        <p:nvSpPr>
          <p:cNvPr id="15" name="Text 12"/>
          <p:cNvSpPr txBox="1"/>
          <p:nvPr/>
        </p:nvSpPr>
        <p:spPr>
          <a:xfrm>
            <a:off x="6419088" y="3008376"/>
            <a:ext cx="5029200" cy="548640"/>
          </a:xfrm>
          <a:prstGeom prst="rect">
            <a:avLst/>
          </a:prstGeom>
          <a:noFill/>
          <a:ln/>
        </p:spPr>
        <p:txBody>
          <a:bodyPr wrap="square" lIns="0" tIns="0" rIns="0" bIns="0" rtlCol="0" anchor="t"/>
          <a:lstStyle/>
          <a:p>
            <a:pPr indent="0" marL="0">
              <a:buNone/>
            </a:pPr>
            <a:r>
              <a:rPr lang="en-US" sz="1250" dirty="0">
                <a:solidFill>
                  <a:srgbClr val="12213A"/>
                </a:solidFill>
                <a:latin typeface="Calibri" pitchFamily="34" charset="0"/>
                <a:ea typeface="Calibri" pitchFamily="34" charset="-122"/>
                <a:cs typeface="Calibri" pitchFamily="34" charset="-120"/>
              </a:rPr>
              <a:t>Click inside the black terminal first.</a:t>
            </a:r>
            <a:endParaRPr lang="en-US" sz="1250" dirty="0"/>
          </a:p>
        </p:txBody>
      </p:sp>
      <p:sp>
        <p:nvSpPr>
          <p:cNvPr id="16" name="Shape 13"/>
          <p:cNvSpPr/>
          <p:nvPr/>
        </p:nvSpPr>
        <p:spPr>
          <a:xfrm>
            <a:off x="548640" y="3730752"/>
            <a:ext cx="5449824" cy="1005840"/>
          </a:xfrm>
          <a:prstGeom prst="roundRect">
            <a:avLst>
              <a:gd name="adj" fmla="val 9091"/>
            </a:avLst>
          </a:prstGeom>
          <a:solidFill>
            <a:srgbClr val="F1F5FB"/>
          </a:solidFill>
          <a:ln/>
        </p:spPr>
      </p:sp>
      <p:sp>
        <p:nvSpPr>
          <p:cNvPr id="17" name="Text 14"/>
          <p:cNvSpPr txBox="1"/>
          <p:nvPr/>
        </p:nvSpPr>
        <p:spPr>
          <a:xfrm>
            <a:off x="777240" y="3822192"/>
            <a:ext cx="5029200" cy="320040"/>
          </a:xfrm>
          <a:prstGeom prst="rect">
            <a:avLst/>
          </a:prstGeom>
          <a:noFill/>
          <a:ln/>
        </p:spPr>
        <p:txBody>
          <a:bodyPr wrap="square" lIns="0" tIns="0" rIns="0" bIns="0" rtlCol="0" anchor="t"/>
          <a:lstStyle/>
          <a:p>
            <a:pPr indent="0" marL="0">
              <a:buNone/>
            </a:pPr>
            <a:r>
              <a:rPr lang="en-US" sz="1450" b="1" dirty="0">
                <a:solidFill>
                  <a:srgbClr val="B93434"/>
                </a:solidFill>
                <a:latin typeface="Calibri" pitchFamily="34" charset="0"/>
                <a:ea typeface="Calibri" pitchFamily="34" charset="-122"/>
                <a:cs typeface="Calibri" pitchFamily="34" charset="-120"/>
              </a:rPr>
              <a:t>"Incorrect flag"</a:t>
            </a:r>
            <a:endParaRPr lang="en-US" sz="1450" dirty="0"/>
          </a:p>
        </p:txBody>
      </p:sp>
      <p:sp>
        <p:nvSpPr>
          <p:cNvPr id="18" name="Text 15"/>
          <p:cNvSpPr txBox="1"/>
          <p:nvPr/>
        </p:nvSpPr>
        <p:spPr>
          <a:xfrm>
            <a:off x="777240" y="4142232"/>
            <a:ext cx="5029200" cy="548640"/>
          </a:xfrm>
          <a:prstGeom prst="rect">
            <a:avLst/>
          </a:prstGeom>
          <a:noFill/>
          <a:ln/>
        </p:spPr>
        <p:txBody>
          <a:bodyPr wrap="square" lIns="0" tIns="0" rIns="0" bIns="0" rtlCol="0" anchor="t"/>
          <a:lstStyle/>
          <a:p>
            <a:pPr indent="0" marL="0">
              <a:buNone/>
            </a:pPr>
            <a:r>
              <a:rPr lang="en-US" sz="1250" dirty="0">
                <a:solidFill>
                  <a:srgbClr val="12213A"/>
                </a:solidFill>
                <a:latin typeface="Calibri" pitchFamily="34" charset="0"/>
                <a:ea typeface="Calibri" pitchFamily="34" charset="-122"/>
                <a:cs typeface="Calibri" pitchFamily="34" charset="-120"/>
              </a:rPr>
              <a:t>Copy the whole flag, CYBA{ to }, with no extra spaces. Flags from another computer never work.</a:t>
            </a:r>
            <a:endParaRPr lang="en-US" sz="1250" dirty="0"/>
          </a:p>
        </p:txBody>
      </p:sp>
      <p:sp>
        <p:nvSpPr>
          <p:cNvPr id="19" name="Shape 16"/>
          <p:cNvSpPr/>
          <p:nvPr/>
        </p:nvSpPr>
        <p:spPr>
          <a:xfrm>
            <a:off x="6190488" y="3730752"/>
            <a:ext cx="5449824" cy="1005840"/>
          </a:xfrm>
          <a:prstGeom prst="roundRect">
            <a:avLst>
              <a:gd name="adj" fmla="val 9091"/>
            </a:avLst>
          </a:prstGeom>
          <a:solidFill>
            <a:srgbClr val="F1F5FB"/>
          </a:solidFill>
          <a:ln/>
        </p:spPr>
      </p:sp>
      <p:sp>
        <p:nvSpPr>
          <p:cNvPr id="20" name="Text 17"/>
          <p:cNvSpPr txBox="1"/>
          <p:nvPr/>
        </p:nvSpPr>
        <p:spPr>
          <a:xfrm>
            <a:off x="6419088" y="3822192"/>
            <a:ext cx="5029200" cy="320040"/>
          </a:xfrm>
          <a:prstGeom prst="rect">
            <a:avLst/>
          </a:prstGeom>
          <a:noFill/>
          <a:ln/>
        </p:spPr>
        <p:txBody>
          <a:bodyPr wrap="square" lIns="0" tIns="0" rIns="0" bIns="0" rtlCol="0" anchor="t"/>
          <a:lstStyle/>
          <a:p>
            <a:pPr indent="0" marL="0">
              <a:buNone/>
            </a:pPr>
            <a:r>
              <a:rPr lang="en-US" sz="1450" b="1" dirty="0">
                <a:solidFill>
                  <a:srgbClr val="B93434"/>
                </a:solidFill>
                <a:latin typeface="Calibri" pitchFamily="34" charset="0"/>
                <a:ea typeface="Calibri" pitchFamily="34" charset="-122"/>
                <a:cs typeface="Calibri" pitchFamily="34" charset="-120"/>
              </a:rPr>
              <a:t>Page was reloaded by accident</a:t>
            </a:r>
            <a:endParaRPr lang="en-US" sz="1450" dirty="0"/>
          </a:p>
        </p:txBody>
      </p:sp>
      <p:sp>
        <p:nvSpPr>
          <p:cNvPr id="21" name="Text 18"/>
          <p:cNvSpPr txBox="1"/>
          <p:nvPr/>
        </p:nvSpPr>
        <p:spPr>
          <a:xfrm>
            <a:off x="6419088" y="4142232"/>
            <a:ext cx="5029200" cy="548640"/>
          </a:xfrm>
          <a:prstGeom prst="rect">
            <a:avLst/>
          </a:prstGeom>
          <a:noFill/>
          <a:ln/>
        </p:spPr>
        <p:txBody>
          <a:bodyPr wrap="square" lIns="0" tIns="0" rIns="0" bIns="0" rtlCol="0" anchor="t"/>
          <a:lstStyle/>
          <a:p>
            <a:pPr indent="0" marL="0">
              <a:buNone/>
            </a:pPr>
            <a:r>
              <a:rPr lang="en-US" sz="1250" dirty="0">
                <a:solidFill>
                  <a:srgbClr val="12213A"/>
                </a:solidFill>
                <a:latin typeface="Calibri" pitchFamily="34" charset="0"/>
                <a:ea typeface="Calibri" pitchFamily="34" charset="-122"/>
                <a:cs typeface="Calibri" pitchFamily="34" charset="-120"/>
              </a:rPr>
              <a:t>New computer, new flags, points and clock reset. The second run is fast.</a:t>
            </a:r>
            <a:endParaRPr lang="en-US" sz="1250" dirty="0"/>
          </a:p>
        </p:txBody>
      </p:sp>
      <p:sp>
        <p:nvSpPr>
          <p:cNvPr id="22" name="Shape 19"/>
          <p:cNvSpPr/>
          <p:nvPr/>
        </p:nvSpPr>
        <p:spPr>
          <a:xfrm>
            <a:off x="548640" y="4864608"/>
            <a:ext cx="5449824" cy="1005840"/>
          </a:xfrm>
          <a:prstGeom prst="roundRect">
            <a:avLst>
              <a:gd name="adj" fmla="val 9091"/>
            </a:avLst>
          </a:prstGeom>
          <a:solidFill>
            <a:srgbClr val="F1F5FB"/>
          </a:solidFill>
          <a:ln/>
        </p:spPr>
      </p:sp>
      <p:sp>
        <p:nvSpPr>
          <p:cNvPr id="23" name="Text 20"/>
          <p:cNvSpPr txBox="1"/>
          <p:nvPr/>
        </p:nvSpPr>
        <p:spPr>
          <a:xfrm>
            <a:off x="777240" y="4956048"/>
            <a:ext cx="5029200" cy="320040"/>
          </a:xfrm>
          <a:prstGeom prst="rect">
            <a:avLst/>
          </a:prstGeom>
          <a:noFill/>
          <a:ln/>
        </p:spPr>
        <p:txBody>
          <a:bodyPr wrap="square" lIns="0" tIns="0" rIns="0" bIns="0" rtlCol="0" anchor="t"/>
          <a:lstStyle/>
          <a:p>
            <a:pPr indent="0" marL="0">
              <a:buNone/>
            </a:pPr>
            <a:r>
              <a:rPr lang="en-US" sz="1450" b="1" dirty="0">
                <a:solidFill>
                  <a:srgbClr val="B93434"/>
                </a:solidFill>
                <a:latin typeface="Calibri" pitchFamily="34" charset="0"/>
                <a:ea typeface="Calibri" pitchFamily="34" charset="-122"/>
                <a:cs typeface="Calibri" pitchFamily="34" charset="-120"/>
              </a:rPr>
              <a:t>Screen flooded with text, or stuck</a:t>
            </a:r>
            <a:endParaRPr lang="en-US" sz="1450" dirty="0"/>
          </a:p>
        </p:txBody>
      </p:sp>
      <p:sp>
        <p:nvSpPr>
          <p:cNvPr id="24" name="Text 21"/>
          <p:cNvSpPr txBox="1"/>
          <p:nvPr/>
        </p:nvSpPr>
        <p:spPr>
          <a:xfrm>
            <a:off x="777240" y="5276088"/>
            <a:ext cx="5029200" cy="548640"/>
          </a:xfrm>
          <a:prstGeom prst="rect">
            <a:avLst/>
          </a:prstGeom>
          <a:noFill/>
          <a:ln/>
        </p:spPr>
        <p:txBody>
          <a:bodyPr wrap="square" lIns="0" tIns="0" rIns="0" bIns="0" rtlCol="0" anchor="t"/>
          <a:lstStyle/>
          <a:p>
            <a:pPr indent="0" marL="0">
              <a:buNone/>
            </a:pPr>
            <a:r>
              <a:rPr lang="en-US" sz="1250" dirty="0">
                <a:solidFill>
                  <a:srgbClr val="12213A"/>
                </a:solidFill>
                <a:latin typeface="Calibri" pitchFamily="34" charset="0"/>
                <a:ea typeface="Calibri" pitchFamily="34" charset="-122"/>
                <a:cs typeface="Calibri" pitchFamily="34" charset="-120"/>
              </a:rPr>
              <a:t>Ctrl+C stops a command. q quits less. clear wipes the screen.</a:t>
            </a:r>
            <a:endParaRPr lang="en-US" sz="1250" dirty="0"/>
          </a:p>
        </p:txBody>
      </p:sp>
      <p:sp>
        <p:nvSpPr>
          <p:cNvPr id="25" name="Shape 22"/>
          <p:cNvSpPr/>
          <p:nvPr/>
        </p:nvSpPr>
        <p:spPr>
          <a:xfrm>
            <a:off x="6190488" y="4864608"/>
            <a:ext cx="5449824" cy="1005840"/>
          </a:xfrm>
          <a:prstGeom prst="roundRect">
            <a:avLst>
              <a:gd name="adj" fmla="val 9091"/>
            </a:avLst>
          </a:prstGeom>
          <a:solidFill>
            <a:srgbClr val="F1F5FB"/>
          </a:solidFill>
          <a:ln/>
        </p:spPr>
      </p:sp>
      <p:sp>
        <p:nvSpPr>
          <p:cNvPr id="26" name="Text 23"/>
          <p:cNvSpPr txBox="1"/>
          <p:nvPr/>
        </p:nvSpPr>
        <p:spPr>
          <a:xfrm>
            <a:off x="6419088" y="4956048"/>
            <a:ext cx="5029200" cy="320040"/>
          </a:xfrm>
          <a:prstGeom prst="rect">
            <a:avLst/>
          </a:prstGeom>
          <a:noFill/>
          <a:ln/>
        </p:spPr>
        <p:txBody>
          <a:bodyPr wrap="square" lIns="0" tIns="0" rIns="0" bIns="0" rtlCol="0" anchor="t"/>
          <a:lstStyle/>
          <a:p>
            <a:pPr indent="0" marL="0">
              <a:buNone/>
            </a:pPr>
            <a:r>
              <a:rPr lang="en-US" sz="1450" b="1" dirty="0">
                <a:solidFill>
                  <a:srgbClr val="B93434"/>
                </a:solidFill>
                <a:latin typeface="Calibri" pitchFamily="34" charset="0"/>
                <a:ea typeface="Calibri" pitchFamily="34" charset="-122"/>
                <a:cs typeface="Calibri" pitchFamily="34" charset="-120"/>
              </a:rPr>
              <a:t>The clock didn't start</a:t>
            </a:r>
            <a:endParaRPr lang="en-US" sz="1450" dirty="0"/>
          </a:p>
        </p:txBody>
      </p:sp>
      <p:sp>
        <p:nvSpPr>
          <p:cNvPr id="27" name="Text 24"/>
          <p:cNvSpPr txBox="1"/>
          <p:nvPr/>
        </p:nvSpPr>
        <p:spPr>
          <a:xfrm>
            <a:off x="6419088" y="5276088"/>
            <a:ext cx="5029200" cy="548640"/>
          </a:xfrm>
          <a:prstGeom prst="rect">
            <a:avLst/>
          </a:prstGeom>
          <a:noFill/>
          <a:ln/>
        </p:spPr>
        <p:txBody>
          <a:bodyPr wrap="square" lIns="0" tIns="0" rIns="0" bIns="0" rtlCol="0" anchor="t"/>
          <a:lstStyle/>
          <a:p>
            <a:pPr indent="0" marL="0">
              <a:buNone/>
            </a:pPr>
            <a:r>
              <a:rPr lang="en-US" sz="1250" dirty="0">
                <a:solidFill>
                  <a:srgbClr val="12213A"/>
                </a:solidFill>
                <a:latin typeface="Calibri" pitchFamily="34" charset="0"/>
                <a:ea typeface="Calibri" pitchFamily="34" charset="-122"/>
                <a:cs typeface="Calibri" pitchFamily="34" charset="-120"/>
              </a:rPr>
              <a:t>It starts at the first keystroke in the terminal, once you begin Mission 1.</a:t>
            </a:r>
            <a:endParaRPr lang="en-US" sz="1250" dirty="0"/>
          </a:p>
        </p:txBody>
      </p:sp>
      <p:sp>
        <p:nvSpPr>
          <p:cNvPr id="28" name="Text 25"/>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61 / 79</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Running this in one hour</a:t>
            </a:r>
            <a:endParaRPr lang="en-US" sz="3200" dirty="0"/>
          </a:p>
        </p:txBody>
      </p:sp>
      <p:sp>
        <p:nvSpPr>
          <p:cNvPr id="4" name="Shape 1"/>
          <p:cNvSpPr/>
          <p:nvPr/>
        </p:nvSpPr>
        <p:spPr>
          <a:xfrm>
            <a:off x="548640" y="1463040"/>
            <a:ext cx="5440680" cy="3246120"/>
          </a:xfrm>
          <a:prstGeom prst="roundRect">
            <a:avLst>
              <a:gd name="adj" fmla="val 2817"/>
            </a:avLst>
          </a:prstGeom>
          <a:solidFill>
            <a:srgbClr val="F1F5FB"/>
          </a:solidFill>
          <a:ln/>
        </p:spPr>
      </p:sp>
      <p:sp>
        <p:nvSpPr>
          <p:cNvPr id="5" name="Shape 2"/>
          <p:cNvSpPr/>
          <p:nvPr/>
        </p:nvSpPr>
        <p:spPr>
          <a:xfrm>
            <a:off x="548640" y="1463040"/>
            <a:ext cx="5440680" cy="109728"/>
          </a:xfrm>
          <a:prstGeom prst="roundRect">
            <a:avLst/>
          </a:prstGeom>
          <a:solidFill>
            <a:srgbClr val="17875A"/>
          </a:solidFill>
          <a:ln/>
        </p:spPr>
      </p:sp>
      <p:sp>
        <p:nvSpPr>
          <p:cNvPr id="6" name="Text 3"/>
          <p:cNvSpPr txBox="1"/>
          <p:nvPr/>
        </p:nvSpPr>
        <p:spPr>
          <a:xfrm>
            <a:off x="868680" y="1691640"/>
            <a:ext cx="4846320" cy="457200"/>
          </a:xfrm>
          <a:prstGeom prst="rect">
            <a:avLst/>
          </a:prstGeom>
          <a:noFill/>
          <a:ln/>
        </p:spPr>
        <p:txBody>
          <a:bodyPr wrap="square" lIns="0" tIns="0" rIns="0" bIns="0" rtlCol="0" anchor="t"/>
          <a:lstStyle/>
          <a:p>
            <a:pPr indent="0" marL="0">
              <a:buNone/>
            </a:pPr>
            <a:r>
              <a:rPr lang="en-US" sz="2000" b="1" dirty="0">
                <a:solidFill>
                  <a:srgbClr val="0F6A45"/>
                </a:solidFill>
                <a:latin typeface="Arial" pitchFamily="34" charset="0"/>
                <a:ea typeface="Arial" pitchFamily="34" charset="-122"/>
                <a:cs typeface="Arial" pitchFamily="34" charset="-120"/>
              </a:rPr>
              <a:t>Core - always do</a:t>
            </a:r>
            <a:endParaRPr lang="en-US" sz="2000" dirty="0"/>
          </a:p>
        </p:txBody>
      </p:sp>
      <p:sp>
        <p:nvSpPr>
          <p:cNvPr id="7" name="Text 4"/>
          <p:cNvSpPr txBox="1"/>
          <p:nvPr/>
        </p:nvSpPr>
        <p:spPr>
          <a:xfrm>
            <a:off x="868680" y="2286000"/>
            <a:ext cx="4846320" cy="2286000"/>
          </a:xfrm>
          <a:prstGeom prst="rect">
            <a:avLst/>
          </a:prstGeom>
          <a:noFill/>
          <a:ln/>
        </p:spPr>
        <p:txBody>
          <a:bodyPr wrap="square" lIns="0" tIns="0" rIns="0" bIns="0" rtlCol="0" anchor="t"/>
          <a:lstStyle/>
          <a:p>
            <a:pPr marL="342900" indent="-342900">
              <a:spcAft>
                <a:spcPts val="600"/>
              </a:spcAft>
              <a:buSzPct val="100000"/>
              <a:buChar char="•"/>
            </a:pPr>
            <a:r>
              <a:rPr lang="en-US" sz="1550" dirty="0">
                <a:solidFill>
                  <a:srgbClr val="12213A"/>
                </a:solidFill>
                <a:latin typeface="Calibri" pitchFamily="34" charset="0"/>
                <a:ea typeface="Calibri" pitchFamily="34" charset="-122"/>
                <a:cs typeface="Calibri" pitchFamily="34" charset="-120"/>
              </a:rPr>
              <a:t>What a CTF is + the flag</a:t>
            </a:r>
            <a:endParaRPr lang="en-US" sz="1550" dirty="0"/>
          </a:p>
          <a:p>
            <a:pPr marL="342900" indent="-342900">
              <a:spcAft>
                <a:spcPts val="600"/>
              </a:spcAft>
              <a:buSzPct val="100000"/>
              <a:buChar char="•"/>
            </a:pPr>
            <a:r>
              <a:rPr lang="en-US" sz="1550" dirty="0">
                <a:solidFill>
                  <a:srgbClr val="12213A"/>
                </a:solidFill>
                <a:latin typeface="Calibri" pitchFamily="34" charset="0"/>
                <a:ea typeface="Calibri" pitchFamily="34" charset="-122"/>
                <a:cs typeface="Calibri" pitchFamily="34" charset="-120"/>
              </a:rPr>
              <a:t>The flow of every challenge</a:t>
            </a:r>
            <a:endParaRPr lang="en-US" sz="1550" dirty="0"/>
          </a:p>
          <a:p>
            <a:pPr marL="342900" indent="-342900">
              <a:spcAft>
                <a:spcPts val="600"/>
              </a:spcAft>
              <a:buSzPct val="100000"/>
              <a:buChar char="•"/>
            </a:pPr>
            <a:r>
              <a:rPr lang="en-US" sz="1550" dirty="0">
                <a:solidFill>
                  <a:srgbClr val="12213A"/>
                </a:solidFill>
                <a:latin typeface="Calibri" pitchFamily="34" charset="0"/>
                <a:ea typeface="Calibri" pitchFamily="34" charset="-122"/>
                <a:cs typeface="Calibri" pitchFamily="34" charset="-120"/>
              </a:rPr>
              <a:t>A few command demos, live</a:t>
            </a:r>
            <a:endParaRPr lang="en-US" sz="1550" dirty="0"/>
          </a:p>
          <a:p>
            <a:pPr marL="342900" indent="-342900">
              <a:spcAft>
                <a:spcPts val="600"/>
              </a:spcAft>
              <a:buSzPct val="100000"/>
              <a:buChar char="•"/>
            </a:pPr>
            <a:r>
              <a:rPr lang="en-US" sz="1550" dirty="0">
                <a:solidFill>
                  <a:srgbClr val="12213A"/>
                </a:solidFill>
                <a:latin typeface="Calibri" pitchFamily="34" charset="0"/>
                <a:ea typeface="Calibri" pitchFamily="34" charset="-122"/>
                <a:cs typeface="Calibri" pitchFamily="34" charset="-120"/>
              </a:rPr>
              <a:t>Capture Mission 1 together</a:t>
            </a:r>
            <a:endParaRPr lang="en-US" sz="1550" dirty="0"/>
          </a:p>
          <a:p>
            <a:pPr marL="342900" indent="-342900">
              <a:spcAft>
                <a:spcPts val="600"/>
              </a:spcAft>
              <a:buSzPct val="100000"/>
              <a:buChar char="•"/>
            </a:pPr>
            <a:r>
              <a:rPr lang="en-US" sz="1550" dirty="0">
                <a:solidFill>
                  <a:srgbClr val="12213A"/>
                </a:solidFill>
                <a:latin typeface="Calibri" pitchFamily="34" charset="0"/>
                <a:ea typeface="Calibri" pitchFamily="34" charset="-122"/>
                <a:cs typeface="Calibri" pitchFamily="34" charset="-120"/>
              </a:rPr>
              <a:t>Let students start one on their own</a:t>
            </a:r>
            <a:endParaRPr lang="en-US" sz="1550" dirty="0"/>
          </a:p>
          <a:p>
            <a:pPr marL="342900" indent="-342900">
              <a:spcAft>
                <a:spcPts val="600"/>
              </a:spcAft>
              <a:buSzPct val="100000"/>
              <a:buChar char="•"/>
            </a:pPr>
            <a:r>
              <a:rPr lang="en-US" sz="1550" dirty="0">
                <a:solidFill>
                  <a:srgbClr val="12213A"/>
                </a:solidFill>
                <a:latin typeface="Calibri" pitchFamily="34" charset="0"/>
                <a:ea typeface="Calibri" pitchFamily="34" charset="-122"/>
                <a:cs typeface="Calibri" pitchFamily="34" charset="-120"/>
              </a:rPr>
              <a:t>Reflect: what you did, why it matters</a:t>
            </a:r>
            <a:endParaRPr lang="en-US" sz="1550" dirty="0"/>
          </a:p>
        </p:txBody>
      </p:sp>
      <p:sp>
        <p:nvSpPr>
          <p:cNvPr id="8" name="Shape 5"/>
          <p:cNvSpPr/>
          <p:nvPr/>
        </p:nvSpPr>
        <p:spPr>
          <a:xfrm>
            <a:off x="6190488" y="1463040"/>
            <a:ext cx="5440680" cy="3246120"/>
          </a:xfrm>
          <a:prstGeom prst="roundRect">
            <a:avLst>
              <a:gd name="adj" fmla="val 2817"/>
            </a:avLst>
          </a:prstGeom>
          <a:solidFill>
            <a:srgbClr val="F1F5FB"/>
          </a:solidFill>
          <a:ln/>
        </p:spPr>
      </p:sp>
      <p:sp>
        <p:nvSpPr>
          <p:cNvPr id="9" name="Shape 6"/>
          <p:cNvSpPr/>
          <p:nvPr/>
        </p:nvSpPr>
        <p:spPr>
          <a:xfrm>
            <a:off x="6190488" y="1463040"/>
            <a:ext cx="5440680" cy="109728"/>
          </a:xfrm>
          <a:prstGeom prst="roundRect">
            <a:avLst/>
          </a:prstGeom>
          <a:solidFill>
            <a:srgbClr val="9AA7BC"/>
          </a:solidFill>
          <a:ln/>
        </p:spPr>
      </p:sp>
      <p:sp>
        <p:nvSpPr>
          <p:cNvPr id="10" name="Text 7"/>
          <p:cNvSpPr txBox="1"/>
          <p:nvPr/>
        </p:nvSpPr>
        <p:spPr>
          <a:xfrm>
            <a:off x="6510528" y="1691640"/>
            <a:ext cx="4846320" cy="457200"/>
          </a:xfrm>
          <a:prstGeom prst="rect">
            <a:avLst/>
          </a:prstGeom>
          <a:noFill/>
          <a:ln/>
        </p:spPr>
        <p:txBody>
          <a:bodyPr wrap="square" lIns="0" tIns="0" rIns="0" bIns="0" rtlCol="0" anchor="t"/>
          <a:lstStyle/>
          <a:p>
            <a:pPr indent="0" marL="0">
              <a:buNone/>
            </a:pPr>
            <a:r>
              <a:rPr lang="en-US" sz="2000" b="1" dirty="0">
                <a:solidFill>
                  <a:srgbClr val="56657E"/>
                </a:solidFill>
                <a:latin typeface="Arial" pitchFamily="34" charset="0"/>
                <a:ea typeface="Arial" pitchFamily="34" charset="-122"/>
                <a:cs typeface="Arial" pitchFamily="34" charset="-120"/>
              </a:rPr>
              <a:t>Flexible - if there is time</a:t>
            </a:r>
            <a:endParaRPr lang="en-US" sz="2000" dirty="0"/>
          </a:p>
        </p:txBody>
      </p:sp>
      <p:sp>
        <p:nvSpPr>
          <p:cNvPr id="11" name="Text 8"/>
          <p:cNvSpPr txBox="1"/>
          <p:nvPr/>
        </p:nvSpPr>
        <p:spPr>
          <a:xfrm>
            <a:off x="6510528" y="2286000"/>
            <a:ext cx="4846320" cy="2286000"/>
          </a:xfrm>
          <a:prstGeom prst="rect">
            <a:avLst/>
          </a:prstGeom>
          <a:noFill/>
          <a:ln/>
        </p:spPr>
        <p:txBody>
          <a:bodyPr wrap="square" lIns="0" tIns="0" rIns="0" bIns="0" rtlCol="0" anchor="t"/>
          <a:lstStyle/>
          <a:p>
            <a:pPr marL="342900" indent="-342900">
              <a:spcAft>
                <a:spcPts val="600"/>
              </a:spcAft>
              <a:buSzPct val="100000"/>
              <a:buChar char="•"/>
            </a:pPr>
            <a:r>
              <a:rPr lang="en-US" sz="1550" dirty="0">
                <a:solidFill>
                  <a:srgbClr val="12213A"/>
                </a:solidFill>
                <a:latin typeface="Calibri" pitchFamily="34" charset="0"/>
                <a:ea typeface="Calibri" pitchFamily="34" charset="-122"/>
                <a:cs typeface="Calibri" pitchFamily="34" charset="-120"/>
              </a:rPr>
              <a:t>Full Linux history, CLI vs GUI</a:t>
            </a:r>
            <a:endParaRPr lang="en-US" sz="1550" dirty="0"/>
          </a:p>
          <a:p>
            <a:pPr marL="342900" indent="-342900">
              <a:spcAft>
                <a:spcPts val="600"/>
              </a:spcAft>
              <a:buSzPct val="100000"/>
              <a:buChar char="•"/>
            </a:pPr>
            <a:r>
              <a:rPr lang="en-US" sz="1550" dirty="0">
                <a:solidFill>
                  <a:srgbClr val="12213A"/>
                </a:solidFill>
                <a:latin typeface="Calibri" pitchFamily="34" charset="0"/>
                <a:ea typeface="Calibri" pitchFamily="34" charset="-122"/>
                <a:cs typeface="Calibri" pitchFamily="34" charset="-120"/>
              </a:rPr>
              <a:t>Every command slide</a:t>
            </a:r>
            <a:endParaRPr lang="en-US" sz="1550" dirty="0"/>
          </a:p>
          <a:p>
            <a:pPr marL="342900" indent="-342900">
              <a:spcAft>
                <a:spcPts val="600"/>
              </a:spcAft>
              <a:buSzPct val="100000"/>
              <a:buChar char="•"/>
            </a:pPr>
            <a:r>
              <a:rPr lang="en-US" sz="1550" dirty="0">
                <a:solidFill>
                  <a:srgbClr val="12213A"/>
                </a:solidFill>
                <a:latin typeface="Calibri" pitchFamily="34" charset="0"/>
                <a:ea typeface="Calibri" pitchFamily="34" charset="-122"/>
                <a:cs typeface="Calibri" pitchFamily="34" charset="-120"/>
              </a:rPr>
              <a:t>Missions 3-10 (the mission bank)</a:t>
            </a:r>
            <a:endParaRPr lang="en-US" sz="1550" dirty="0"/>
          </a:p>
          <a:p>
            <a:pPr marL="342900" indent="-342900">
              <a:spcAft>
                <a:spcPts val="600"/>
              </a:spcAft>
              <a:buSzPct val="100000"/>
              <a:buChar char="•"/>
            </a:pPr>
            <a:r>
              <a:rPr lang="en-US" sz="1550" dirty="0">
                <a:solidFill>
                  <a:srgbClr val="12213A"/>
                </a:solidFill>
                <a:latin typeface="Calibri" pitchFamily="34" charset="0"/>
                <a:ea typeface="Calibri" pitchFamily="34" charset="-122"/>
                <a:cs typeface="Calibri" pitchFamily="34" charset="-120"/>
              </a:rPr>
              <a:t>Side quests</a:t>
            </a:r>
            <a:endParaRPr lang="en-US" sz="1550" dirty="0"/>
          </a:p>
          <a:p>
            <a:pPr marL="342900" indent="-342900">
              <a:spcAft>
                <a:spcPts val="600"/>
              </a:spcAft>
              <a:buSzPct val="100000"/>
              <a:buChar char="•"/>
            </a:pPr>
            <a:r>
              <a:rPr lang="en-US" sz="1550" dirty="0">
                <a:solidFill>
                  <a:srgbClr val="12213A"/>
                </a:solidFill>
                <a:latin typeface="Calibri" pitchFamily="34" charset="0"/>
                <a:ea typeface="Calibri" pitchFamily="34" charset="-122"/>
                <a:cs typeface="Calibri" pitchFamily="34" charset="-120"/>
              </a:rPr>
              <a:t>Reading the scorecard</a:t>
            </a:r>
            <a:endParaRPr lang="en-US" sz="1550" dirty="0"/>
          </a:p>
          <a:p>
            <a:pPr marL="342900" indent="-342900">
              <a:spcAft>
                <a:spcPts val="600"/>
              </a:spcAft>
              <a:buSzPct val="100000"/>
              <a:buChar char="•"/>
            </a:pPr>
            <a:r>
              <a:rPr lang="en-US" sz="1550" dirty="0">
                <a:solidFill>
                  <a:srgbClr val="12213A"/>
                </a:solidFill>
                <a:latin typeface="Calibri" pitchFamily="34" charset="0"/>
                <a:ea typeface="Calibri" pitchFamily="34" charset="-122"/>
                <a:cs typeface="Calibri" pitchFamily="34" charset="-120"/>
              </a:rPr>
              <a:t>How submit works under the hood</a:t>
            </a:r>
            <a:endParaRPr lang="en-US" sz="1550" dirty="0"/>
          </a:p>
        </p:txBody>
      </p:sp>
      <p:sp>
        <p:nvSpPr>
          <p:cNvPr id="12" name="Shape 9"/>
          <p:cNvSpPr/>
          <p:nvPr/>
        </p:nvSpPr>
        <p:spPr>
          <a:xfrm>
            <a:off x="548640" y="4892040"/>
            <a:ext cx="11094415" cy="1051560"/>
          </a:xfrm>
          <a:prstGeom prst="roundRect">
            <a:avLst>
              <a:gd name="adj" fmla="val 8696"/>
            </a:avLst>
          </a:prstGeom>
          <a:solidFill>
            <a:srgbClr val="FFF4DC"/>
          </a:solidFill>
          <a:ln/>
        </p:spPr>
      </p:sp>
      <p:sp>
        <p:nvSpPr>
          <p:cNvPr id="13" name="Text 10"/>
          <p:cNvSpPr txBox="1"/>
          <p:nvPr/>
        </p:nvSpPr>
        <p:spPr>
          <a:xfrm>
            <a:off x="822960" y="4892040"/>
            <a:ext cx="10545775" cy="105156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Discussion prompts:  </a:t>
            </a:r>
            <a:pPr indent="0" marL="0">
              <a:buNone/>
            </a:pPr>
            <a:r>
              <a:rPr lang="en-US" sz="1500" dirty="0">
                <a:solidFill>
                  <a:srgbClr val="12213A"/>
                </a:solidFill>
                <a:latin typeface="Calibri" pitchFamily="34" charset="0"/>
                <a:ea typeface="Calibri" pitchFamily="34" charset="-122"/>
                <a:cs typeface="Calibri" pitchFamily="34" charset="-120"/>
              </a:rPr>
              <a:t>“Who thinks they've used Linux today?”   “Why would a company pay someone to find hidden things?”   “What is the clue telling you?”   “What did the output say - what would you try next?”</a:t>
            </a:r>
            <a:endParaRPr lang="en-US" sz="1500" dirty="0"/>
          </a:p>
        </p:txBody>
      </p:sp>
      <p:sp>
        <p:nvSpPr>
          <p:cNvPr id="14" name="Text 11"/>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62 / 79</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Mission bank: missions 3-10</a:t>
            </a:r>
            <a:endParaRPr lang="en-US" sz="3200" dirty="0"/>
          </a:p>
        </p:txBody>
      </p:sp>
      <p:sp>
        <p:nvSpPr>
          <p:cNvPr id="4" name="Text 1"/>
          <p:cNvSpPr txBox="1"/>
          <p:nvPr/>
        </p:nvSpPr>
        <p:spPr>
          <a:xfrm>
            <a:off x="548640" y="1828800"/>
            <a:ext cx="11094415" cy="548640"/>
          </a:xfrm>
          <a:prstGeom prst="rect">
            <a:avLst/>
          </a:prstGeom>
          <a:noFill/>
          <a:ln/>
        </p:spPr>
        <p:txBody>
          <a:bodyPr wrap="square" lIns="0" tIns="0" rIns="0" bIns="0" rtlCol="0" anchor="t"/>
          <a:lstStyle/>
          <a:p>
            <a:pPr indent="0" marL="0">
              <a:buNone/>
            </a:pPr>
            <a:r>
              <a:rPr lang="en-US" sz="1800" dirty="0">
                <a:solidFill>
                  <a:srgbClr val="56657E"/>
                </a:solidFill>
                <a:latin typeface="Calibri" pitchFamily="34" charset="0"/>
                <a:ea typeface="Calibri" pitchFamily="34" charset="-122"/>
                <a:cs typeface="Calibri" pitchFamily="34" charset="-120"/>
              </a:rPr>
              <a:t>Each has a brief (clue + questions) and a walkthrough (one path). Pull up whatever a student needs.</a:t>
            </a:r>
            <a:endParaRPr lang="en-US" sz="1800" dirty="0"/>
          </a:p>
        </p:txBody>
      </p:sp>
      <p:sp>
        <p:nvSpPr>
          <p:cNvPr id="5" name="Shape 2"/>
          <p:cNvSpPr/>
          <p:nvPr/>
        </p:nvSpPr>
        <p:spPr>
          <a:xfrm>
            <a:off x="548640" y="2651760"/>
            <a:ext cx="2606040" cy="1371600"/>
          </a:xfrm>
          <a:prstGeom prst="roundRect">
            <a:avLst>
              <a:gd name="adj" fmla="val 6667"/>
            </a:avLst>
          </a:prstGeom>
          <a:solidFill>
            <a:srgbClr val="F1F5FB"/>
          </a:solidFill>
          <a:ln/>
        </p:spPr>
      </p:sp>
      <p:sp>
        <p:nvSpPr>
          <p:cNvPr id="6" name="Shape 3"/>
          <p:cNvSpPr/>
          <p:nvPr/>
        </p:nvSpPr>
        <p:spPr>
          <a:xfrm>
            <a:off x="777240" y="2880360"/>
            <a:ext cx="457200" cy="457200"/>
          </a:xfrm>
          <a:prstGeom prst="ellipse">
            <a:avLst/>
          </a:prstGeom>
          <a:solidFill>
            <a:srgbClr val="2459D8"/>
          </a:solidFill>
          <a:ln/>
        </p:spPr>
      </p:sp>
      <p:sp>
        <p:nvSpPr>
          <p:cNvPr id="7" name="Text 4"/>
          <p:cNvSpPr txBox="1"/>
          <p:nvPr/>
        </p:nvSpPr>
        <p:spPr>
          <a:xfrm>
            <a:off x="777240" y="28803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8" name="Text 5"/>
          <p:cNvSpPr txBox="1"/>
          <p:nvPr/>
        </p:nvSpPr>
        <p:spPr>
          <a:xfrm>
            <a:off x="1371600" y="2852928"/>
            <a:ext cx="1691640" cy="548640"/>
          </a:xfrm>
          <a:prstGeom prst="rect">
            <a:avLst/>
          </a:prstGeom>
          <a:noFill/>
          <a:ln/>
        </p:spPr>
        <p:txBody>
          <a:bodyPr wrap="square" lIns="0" tIns="0" rIns="0" bIns="0" rtlCol="0" anchor="ctr"/>
          <a:lstStyle/>
          <a:p>
            <a:pPr indent="0" marL="0">
              <a:buNone/>
            </a:pPr>
            <a:r>
              <a:rPr lang="en-US" sz="1400" b="1" dirty="0">
                <a:solidFill>
                  <a:srgbClr val="12213A"/>
                </a:solidFill>
                <a:latin typeface="Calibri" pitchFamily="34" charset="0"/>
                <a:ea typeface="Calibri" pitchFamily="34" charset="-122"/>
                <a:cs typeface="Calibri" pitchFamily="34" charset="-120"/>
              </a:rPr>
              <a:t>Now you see me</a:t>
            </a:r>
            <a:endParaRPr lang="en-US" sz="1400" dirty="0"/>
          </a:p>
        </p:txBody>
      </p:sp>
      <p:sp>
        <p:nvSpPr>
          <p:cNvPr id="9" name="Shape 6"/>
          <p:cNvSpPr/>
          <p:nvPr/>
        </p:nvSpPr>
        <p:spPr>
          <a:xfrm>
            <a:off x="777240" y="3474720"/>
            <a:ext cx="1600200" cy="347472"/>
          </a:xfrm>
          <a:prstGeom prst="roundRect">
            <a:avLst>
              <a:gd name="adj" fmla="val 50000"/>
            </a:avLst>
          </a:prstGeom>
          <a:solidFill>
            <a:srgbClr val="E2F5EC"/>
          </a:solidFill>
          <a:ln/>
        </p:spPr>
      </p:sp>
      <p:sp>
        <p:nvSpPr>
          <p:cNvPr id="10" name="Text 7"/>
          <p:cNvSpPr txBox="1"/>
          <p:nvPr/>
        </p:nvSpPr>
        <p:spPr>
          <a:xfrm>
            <a:off x="777240" y="3474720"/>
            <a:ext cx="1600200" cy="347472"/>
          </a:xfrm>
          <a:prstGeom prst="rect">
            <a:avLst/>
          </a:prstGeom>
          <a:noFill/>
          <a:ln/>
        </p:spPr>
        <p:txBody>
          <a:bodyPr wrap="square" lIns="0" tIns="0" rIns="0" bIns="0" rtlCol="0" anchor="ctr"/>
          <a:lstStyle/>
          <a:p>
            <a:pPr algn="ctr" indent="0" marL="0">
              <a:buNone/>
            </a:pPr>
            <a:r>
              <a:rPr lang="en-US" sz="950" b="1" dirty="0">
                <a:solidFill>
                  <a:srgbClr val="12704B"/>
                </a:solidFill>
                <a:latin typeface="Calibri" pitchFamily="34" charset="0"/>
                <a:ea typeface="Calibri" pitchFamily="34" charset="-122"/>
                <a:cs typeface="Calibri" pitchFamily="34" charset="-120"/>
              </a:rPr>
              <a:t>EASY  ·  100</a:t>
            </a:r>
            <a:endParaRPr lang="en-US" sz="950" dirty="0"/>
          </a:p>
        </p:txBody>
      </p:sp>
      <p:sp>
        <p:nvSpPr>
          <p:cNvPr id="11" name="Text 8"/>
          <p:cNvSpPr txBox="1"/>
          <p:nvPr/>
        </p:nvSpPr>
        <p:spPr>
          <a:xfrm>
            <a:off x="2423160" y="3493008"/>
            <a:ext cx="640080" cy="274320"/>
          </a:xfrm>
          <a:prstGeom prst="rect">
            <a:avLst/>
          </a:prstGeom>
          <a:noFill/>
          <a:ln/>
        </p:spPr>
        <p:txBody>
          <a:bodyPr wrap="square" lIns="0" tIns="0" rIns="0" bIns="0" rtlCol="0" anchor="t">
            <a:normAutofit/>
          </a:bodyPr>
          <a:lstStyle/>
          <a:p>
            <a:pPr indent="0" marL="0">
              <a:buNone/>
            </a:pPr>
            <a:r>
              <a:rPr lang="en-US" sz="900" dirty="0">
                <a:solidFill>
                  <a:srgbClr val="56657E"/>
                </a:solidFill>
                <a:latin typeface="Courier New" pitchFamily="34" charset="0"/>
                <a:ea typeface="Courier New" pitchFamily="34" charset="-122"/>
                <a:cs typeface="Courier New" pitchFamily="34" charset="-120"/>
              </a:rPr>
              <a:t>ls -a</a:t>
            </a:r>
            <a:endParaRPr lang="en-US" sz="900" dirty="0"/>
          </a:p>
        </p:txBody>
      </p:sp>
      <p:sp>
        <p:nvSpPr>
          <p:cNvPr id="12" name="Shape 9"/>
          <p:cNvSpPr/>
          <p:nvPr/>
        </p:nvSpPr>
        <p:spPr>
          <a:xfrm>
            <a:off x="3364992" y="2651760"/>
            <a:ext cx="2606040" cy="1371600"/>
          </a:xfrm>
          <a:prstGeom prst="roundRect">
            <a:avLst>
              <a:gd name="adj" fmla="val 6667"/>
            </a:avLst>
          </a:prstGeom>
          <a:solidFill>
            <a:srgbClr val="F1F5FB"/>
          </a:solidFill>
          <a:ln/>
        </p:spPr>
      </p:sp>
      <p:sp>
        <p:nvSpPr>
          <p:cNvPr id="13" name="Shape 10"/>
          <p:cNvSpPr/>
          <p:nvPr/>
        </p:nvSpPr>
        <p:spPr>
          <a:xfrm>
            <a:off x="3593592" y="2880360"/>
            <a:ext cx="457200" cy="457200"/>
          </a:xfrm>
          <a:prstGeom prst="ellipse">
            <a:avLst/>
          </a:prstGeom>
          <a:solidFill>
            <a:srgbClr val="7448D4"/>
          </a:solidFill>
          <a:ln/>
        </p:spPr>
      </p:sp>
      <p:sp>
        <p:nvSpPr>
          <p:cNvPr id="14" name="Text 11"/>
          <p:cNvSpPr txBox="1"/>
          <p:nvPr/>
        </p:nvSpPr>
        <p:spPr>
          <a:xfrm>
            <a:off x="3593592" y="28803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5" name="Text 12"/>
          <p:cNvSpPr txBox="1"/>
          <p:nvPr/>
        </p:nvSpPr>
        <p:spPr>
          <a:xfrm>
            <a:off x="4187952" y="2852928"/>
            <a:ext cx="1691640" cy="548640"/>
          </a:xfrm>
          <a:prstGeom prst="rect">
            <a:avLst/>
          </a:prstGeom>
          <a:noFill/>
          <a:ln/>
        </p:spPr>
        <p:txBody>
          <a:bodyPr wrap="square" lIns="0" tIns="0" rIns="0" bIns="0" rtlCol="0" anchor="ctr"/>
          <a:lstStyle/>
          <a:p>
            <a:pPr indent="0" marL="0">
              <a:buNone/>
            </a:pPr>
            <a:r>
              <a:rPr lang="en-US" sz="1400" b="1" dirty="0">
                <a:solidFill>
                  <a:srgbClr val="12213A"/>
                </a:solidFill>
                <a:latin typeface="Calibri" pitchFamily="34" charset="0"/>
                <a:ea typeface="Calibri" pitchFamily="34" charset="-122"/>
                <a:cs typeface="Calibri" pitchFamily="34" charset="-120"/>
              </a:rPr>
              <a:t>Needle in the tree</a:t>
            </a:r>
            <a:endParaRPr lang="en-US" sz="1400" dirty="0"/>
          </a:p>
        </p:txBody>
      </p:sp>
      <p:sp>
        <p:nvSpPr>
          <p:cNvPr id="16" name="Shape 13"/>
          <p:cNvSpPr/>
          <p:nvPr/>
        </p:nvSpPr>
        <p:spPr>
          <a:xfrm>
            <a:off x="3593592" y="3474720"/>
            <a:ext cx="1600200" cy="347472"/>
          </a:xfrm>
          <a:prstGeom prst="roundRect">
            <a:avLst>
              <a:gd name="adj" fmla="val 50000"/>
            </a:avLst>
          </a:prstGeom>
          <a:solidFill>
            <a:srgbClr val="FFF4DE"/>
          </a:solidFill>
          <a:ln/>
        </p:spPr>
      </p:sp>
      <p:sp>
        <p:nvSpPr>
          <p:cNvPr id="17" name="Text 14"/>
          <p:cNvSpPr txBox="1"/>
          <p:nvPr/>
        </p:nvSpPr>
        <p:spPr>
          <a:xfrm>
            <a:off x="3593592" y="3474720"/>
            <a:ext cx="1600200" cy="347472"/>
          </a:xfrm>
          <a:prstGeom prst="rect">
            <a:avLst/>
          </a:prstGeom>
          <a:noFill/>
          <a:ln/>
        </p:spPr>
        <p:txBody>
          <a:bodyPr wrap="square" lIns="0" tIns="0" rIns="0" bIns="0" rtlCol="0" anchor="ctr"/>
          <a:lstStyle/>
          <a:p>
            <a:pPr algn="ctr" indent="0" marL="0">
              <a:buNone/>
            </a:pPr>
            <a:r>
              <a:rPr lang="en-US" sz="950" b="1" dirty="0">
                <a:solidFill>
                  <a:srgbClr val="9A5B00"/>
                </a:solidFill>
                <a:latin typeface="Calibri" pitchFamily="34" charset="0"/>
                <a:ea typeface="Calibri" pitchFamily="34" charset="-122"/>
                <a:cs typeface="Calibri" pitchFamily="34" charset="-120"/>
              </a:rPr>
              <a:t>MEDIUM  ·  200</a:t>
            </a:r>
            <a:endParaRPr lang="en-US" sz="950" dirty="0"/>
          </a:p>
        </p:txBody>
      </p:sp>
      <p:sp>
        <p:nvSpPr>
          <p:cNvPr id="18" name="Text 15"/>
          <p:cNvSpPr txBox="1"/>
          <p:nvPr/>
        </p:nvSpPr>
        <p:spPr>
          <a:xfrm>
            <a:off x="5239512" y="3493008"/>
            <a:ext cx="640080" cy="274320"/>
          </a:xfrm>
          <a:prstGeom prst="rect">
            <a:avLst/>
          </a:prstGeom>
          <a:noFill/>
          <a:ln/>
        </p:spPr>
        <p:txBody>
          <a:bodyPr wrap="square" lIns="0" tIns="0" rIns="0" bIns="0" rtlCol="0" anchor="t">
            <a:normAutofit/>
          </a:bodyPr>
          <a:lstStyle/>
          <a:p>
            <a:pPr indent="0" marL="0">
              <a:buNone/>
            </a:pPr>
            <a:r>
              <a:rPr lang="en-US" sz="900" dirty="0">
                <a:solidFill>
                  <a:srgbClr val="56657E"/>
                </a:solidFill>
                <a:latin typeface="Courier New" pitchFamily="34" charset="0"/>
                <a:ea typeface="Courier New" pitchFamily="34" charset="-122"/>
                <a:cs typeface="Courier New" pitchFamily="34" charset="-120"/>
              </a:rPr>
              <a:t>find -name</a:t>
            </a:r>
            <a:endParaRPr lang="en-US" sz="900" dirty="0"/>
          </a:p>
        </p:txBody>
      </p:sp>
      <p:sp>
        <p:nvSpPr>
          <p:cNvPr id="19" name="Shape 16"/>
          <p:cNvSpPr/>
          <p:nvPr/>
        </p:nvSpPr>
        <p:spPr>
          <a:xfrm>
            <a:off x="6181344" y="2651760"/>
            <a:ext cx="2606040" cy="1371600"/>
          </a:xfrm>
          <a:prstGeom prst="roundRect">
            <a:avLst>
              <a:gd name="adj" fmla="val 6667"/>
            </a:avLst>
          </a:prstGeom>
          <a:solidFill>
            <a:srgbClr val="F1F5FB"/>
          </a:solidFill>
          <a:ln/>
        </p:spPr>
      </p:sp>
      <p:sp>
        <p:nvSpPr>
          <p:cNvPr id="20" name="Shape 17"/>
          <p:cNvSpPr/>
          <p:nvPr/>
        </p:nvSpPr>
        <p:spPr>
          <a:xfrm>
            <a:off x="6409944" y="2880360"/>
            <a:ext cx="457200" cy="457200"/>
          </a:xfrm>
          <a:prstGeom prst="ellipse">
            <a:avLst/>
          </a:prstGeom>
          <a:solidFill>
            <a:srgbClr val="D1416B"/>
          </a:solidFill>
          <a:ln/>
        </p:spPr>
      </p:sp>
      <p:sp>
        <p:nvSpPr>
          <p:cNvPr id="21" name="Text 18"/>
          <p:cNvSpPr txBox="1"/>
          <p:nvPr/>
        </p:nvSpPr>
        <p:spPr>
          <a:xfrm>
            <a:off x="6409944" y="28803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22" name="Text 19"/>
          <p:cNvSpPr txBox="1"/>
          <p:nvPr/>
        </p:nvSpPr>
        <p:spPr>
          <a:xfrm>
            <a:off x="7004304" y="2852928"/>
            <a:ext cx="1691640" cy="548640"/>
          </a:xfrm>
          <a:prstGeom prst="rect">
            <a:avLst/>
          </a:prstGeom>
          <a:noFill/>
          <a:ln/>
        </p:spPr>
        <p:txBody>
          <a:bodyPr wrap="square" lIns="0" tIns="0" rIns="0" bIns="0" rtlCol="0" anchor="ctr"/>
          <a:lstStyle/>
          <a:p>
            <a:pPr indent="0" marL="0">
              <a:buNone/>
            </a:pPr>
            <a:r>
              <a:rPr lang="en-US" sz="1400" b="1" dirty="0">
                <a:solidFill>
                  <a:srgbClr val="12213A"/>
                </a:solidFill>
                <a:latin typeface="Calibri" pitchFamily="34" charset="0"/>
                <a:ea typeface="Calibri" pitchFamily="34" charset="-122"/>
                <a:cs typeface="Calibri" pitchFamily="34" charset="-120"/>
              </a:rPr>
              <a:t>Search party</a:t>
            </a:r>
            <a:endParaRPr lang="en-US" sz="1400" dirty="0"/>
          </a:p>
        </p:txBody>
      </p:sp>
      <p:sp>
        <p:nvSpPr>
          <p:cNvPr id="23" name="Shape 20"/>
          <p:cNvSpPr/>
          <p:nvPr/>
        </p:nvSpPr>
        <p:spPr>
          <a:xfrm>
            <a:off x="6409944" y="3474720"/>
            <a:ext cx="1600200" cy="347472"/>
          </a:xfrm>
          <a:prstGeom prst="roundRect">
            <a:avLst>
              <a:gd name="adj" fmla="val 50000"/>
            </a:avLst>
          </a:prstGeom>
          <a:solidFill>
            <a:srgbClr val="FFF4DE"/>
          </a:solidFill>
          <a:ln/>
        </p:spPr>
      </p:sp>
      <p:sp>
        <p:nvSpPr>
          <p:cNvPr id="24" name="Text 21"/>
          <p:cNvSpPr txBox="1"/>
          <p:nvPr/>
        </p:nvSpPr>
        <p:spPr>
          <a:xfrm>
            <a:off x="6409944" y="3474720"/>
            <a:ext cx="1600200" cy="347472"/>
          </a:xfrm>
          <a:prstGeom prst="rect">
            <a:avLst/>
          </a:prstGeom>
          <a:noFill/>
          <a:ln/>
        </p:spPr>
        <p:txBody>
          <a:bodyPr wrap="square" lIns="0" tIns="0" rIns="0" bIns="0" rtlCol="0" anchor="ctr"/>
          <a:lstStyle/>
          <a:p>
            <a:pPr algn="ctr" indent="0" marL="0">
              <a:buNone/>
            </a:pPr>
            <a:r>
              <a:rPr lang="en-US" sz="950" b="1" dirty="0">
                <a:solidFill>
                  <a:srgbClr val="9A5B00"/>
                </a:solidFill>
                <a:latin typeface="Calibri" pitchFamily="34" charset="0"/>
                <a:ea typeface="Calibri" pitchFamily="34" charset="-122"/>
                <a:cs typeface="Calibri" pitchFamily="34" charset="-120"/>
              </a:rPr>
              <a:t>MEDIUM  ·  200</a:t>
            </a:r>
            <a:endParaRPr lang="en-US" sz="950" dirty="0"/>
          </a:p>
        </p:txBody>
      </p:sp>
      <p:sp>
        <p:nvSpPr>
          <p:cNvPr id="25" name="Text 22"/>
          <p:cNvSpPr txBox="1"/>
          <p:nvPr/>
        </p:nvSpPr>
        <p:spPr>
          <a:xfrm>
            <a:off x="8055864" y="3493008"/>
            <a:ext cx="640080" cy="274320"/>
          </a:xfrm>
          <a:prstGeom prst="rect">
            <a:avLst/>
          </a:prstGeom>
          <a:noFill/>
          <a:ln/>
        </p:spPr>
        <p:txBody>
          <a:bodyPr wrap="square" lIns="0" tIns="0" rIns="0" bIns="0" rtlCol="0" anchor="t">
            <a:normAutofit/>
          </a:bodyPr>
          <a:lstStyle/>
          <a:p>
            <a:pPr indent="0" marL="0">
              <a:buNone/>
            </a:pPr>
            <a:r>
              <a:rPr lang="en-US" sz="900" dirty="0">
                <a:solidFill>
                  <a:srgbClr val="56657E"/>
                </a:solidFill>
                <a:latin typeface="Courier New" pitchFamily="34" charset="0"/>
                <a:ea typeface="Courier New" pitchFamily="34" charset="-122"/>
                <a:cs typeface="Courier New" pitchFamily="34" charset="-120"/>
              </a:rPr>
              <a:t>grep</a:t>
            </a:r>
            <a:endParaRPr lang="en-US" sz="900" dirty="0"/>
          </a:p>
        </p:txBody>
      </p:sp>
      <p:sp>
        <p:nvSpPr>
          <p:cNvPr id="26" name="Shape 23"/>
          <p:cNvSpPr/>
          <p:nvPr/>
        </p:nvSpPr>
        <p:spPr>
          <a:xfrm>
            <a:off x="8997696" y="2651760"/>
            <a:ext cx="2606040" cy="1371600"/>
          </a:xfrm>
          <a:prstGeom prst="roundRect">
            <a:avLst>
              <a:gd name="adj" fmla="val 6667"/>
            </a:avLst>
          </a:prstGeom>
          <a:solidFill>
            <a:srgbClr val="F1F5FB"/>
          </a:solidFill>
          <a:ln/>
        </p:spPr>
      </p:sp>
      <p:sp>
        <p:nvSpPr>
          <p:cNvPr id="27" name="Shape 24"/>
          <p:cNvSpPr/>
          <p:nvPr/>
        </p:nvSpPr>
        <p:spPr>
          <a:xfrm>
            <a:off x="9226296" y="2880360"/>
            <a:ext cx="457200" cy="457200"/>
          </a:xfrm>
          <a:prstGeom prst="ellipse">
            <a:avLst/>
          </a:prstGeom>
          <a:solidFill>
            <a:srgbClr val="E8820C"/>
          </a:solidFill>
          <a:ln/>
        </p:spPr>
      </p:sp>
      <p:sp>
        <p:nvSpPr>
          <p:cNvPr id="28" name="Text 25"/>
          <p:cNvSpPr txBox="1"/>
          <p:nvPr/>
        </p:nvSpPr>
        <p:spPr>
          <a:xfrm>
            <a:off x="9226296" y="28803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6</a:t>
            </a:r>
            <a:endParaRPr lang="en-US" sz="1500" dirty="0"/>
          </a:p>
        </p:txBody>
      </p:sp>
      <p:sp>
        <p:nvSpPr>
          <p:cNvPr id="29" name="Text 26"/>
          <p:cNvSpPr txBox="1"/>
          <p:nvPr/>
        </p:nvSpPr>
        <p:spPr>
          <a:xfrm>
            <a:off x="9820656" y="2852928"/>
            <a:ext cx="1691640" cy="548640"/>
          </a:xfrm>
          <a:prstGeom prst="rect">
            <a:avLst/>
          </a:prstGeom>
          <a:noFill/>
          <a:ln/>
        </p:spPr>
        <p:txBody>
          <a:bodyPr wrap="square" lIns="0" tIns="0" rIns="0" bIns="0" rtlCol="0" anchor="ctr"/>
          <a:lstStyle/>
          <a:p>
            <a:pPr indent="0" marL="0">
              <a:buNone/>
            </a:pPr>
            <a:r>
              <a:rPr lang="en-US" sz="1400" b="1" dirty="0">
                <a:solidFill>
                  <a:srgbClr val="12213A"/>
                </a:solidFill>
                <a:latin typeface="Calibri" pitchFamily="34" charset="0"/>
                <a:ea typeface="Calibri" pitchFamily="34" charset="-122"/>
                <a:cs typeface="Calibri" pitchFamily="34" charset="-120"/>
              </a:rPr>
              <a:t>Odd one out</a:t>
            </a:r>
            <a:endParaRPr lang="en-US" sz="1400" dirty="0"/>
          </a:p>
        </p:txBody>
      </p:sp>
      <p:sp>
        <p:nvSpPr>
          <p:cNvPr id="30" name="Shape 27"/>
          <p:cNvSpPr/>
          <p:nvPr/>
        </p:nvSpPr>
        <p:spPr>
          <a:xfrm>
            <a:off x="9226296" y="3474720"/>
            <a:ext cx="1600200" cy="347472"/>
          </a:xfrm>
          <a:prstGeom prst="roundRect">
            <a:avLst>
              <a:gd name="adj" fmla="val 50000"/>
            </a:avLst>
          </a:prstGeom>
          <a:solidFill>
            <a:srgbClr val="FFF4DE"/>
          </a:solidFill>
          <a:ln/>
        </p:spPr>
      </p:sp>
      <p:sp>
        <p:nvSpPr>
          <p:cNvPr id="31" name="Text 28"/>
          <p:cNvSpPr txBox="1"/>
          <p:nvPr/>
        </p:nvSpPr>
        <p:spPr>
          <a:xfrm>
            <a:off x="9226296" y="3474720"/>
            <a:ext cx="1600200" cy="347472"/>
          </a:xfrm>
          <a:prstGeom prst="rect">
            <a:avLst/>
          </a:prstGeom>
          <a:noFill/>
          <a:ln/>
        </p:spPr>
        <p:txBody>
          <a:bodyPr wrap="square" lIns="0" tIns="0" rIns="0" bIns="0" rtlCol="0" anchor="ctr"/>
          <a:lstStyle/>
          <a:p>
            <a:pPr algn="ctr" indent="0" marL="0">
              <a:buNone/>
            </a:pPr>
            <a:r>
              <a:rPr lang="en-US" sz="950" b="1" dirty="0">
                <a:solidFill>
                  <a:srgbClr val="9A5B00"/>
                </a:solidFill>
                <a:latin typeface="Calibri" pitchFamily="34" charset="0"/>
                <a:ea typeface="Calibri" pitchFamily="34" charset="-122"/>
                <a:cs typeface="Calibri" pitchFamily="34" charset="-120"/>
              </a:rPr>
              <a:t>MEDIUM  ·  200</a:t>
            </a:r>
            <a:endParaRPr lang="en-US" sz="950" dirty="0"/>
          </a:p>
        </p:txBody>
      </p:sp>
      <p:sp>
        <p:nvSpPr>
          <p:cNvPr id="32" name="Text 29"/>
          <p:cNvSpPr txBox="1"/>
          <p:nvPr/>
        </p:nvSpPr>
        <p:spPr>
          <a:xfrm>
            <a:off x="10872216" y="3493008"/>
            <a:ext cx="640080" cy="274320"/>
          </a:xfrm>
          <a:prstGeom prst="rect">
            <a:avLst/>
          </a:prstGeom>
          <a:noFill/>
          <a:ln/>
        </p:spPr>
        <p:txBody>
          <a:bodyPr wrap="square" lIns="0" tIns="0" rIns="0" bIns="0" rtlCol="0" anchor="t">
            <a:normAutofit/>
          </a:bodyPr>
          <a:lstStyle/>
          <a:p>
            <a:pPr indent="0" marL="0">
              <a:buNone/>
            </a:pPr>
            <a:r>
              <a:rPr lang="en-US" sz="900" dirty="0">
                <a:solidFill>
                  <a:srgbClr val="56657E"/>
                </a:solidFill>
                <a:latin typeface="Courier New" pitchFamily="34" charset="0"/>
                <a:ea typeface="Courier New" pitchFamily="34" charset="-122"/>
                <a:cs typeface="Courier New" pitchFamily="34" charset="-120"/>
              </a:rPr>
              <a:t>sort  uniq  |</a:t>
            </a:r>
            <a:endParaRPr lang="en-US" sz="900" dirty="0"/>
          </a:p>
        </p:txBody>
      </p:sp>
      <p:sp>
        <p:nvSpPr>
          <p:cNvPr id="33" name="Shape 30"/>
          <p:cNvSpPr/>
          <p:nvPr/>
        </p:nvSpPr>
        <p:spPr>
          <a:xfrm>
            <a:off x="548640" y="4251960"/>
            <a:ext cx="2606040" cy="1371600"/>
          </a:xfrm>
          <a:prstGeom prst="roundRect">
            <a:avLst>
              <a:gd name="adj" fmla="val 6667"/>
            </a:avLst>
          </a:prstGeom>
          <a:solidFill>
            <a:srgbClr val="F1F5FB"/>
          </a:solidFill>
          <a:ln/>
        </p:spPr>
      </p:sp>
      <p:sp>
        <p:nvSpPr>
          <p:cNvPr id="34" name="Shape 31"/>
          <p:cNvSpPr/>
          <p:nvPr/>
        </p:nvSpPr>
        <p:spPr>
          <a:xfrm>
            <a:off x="777240" y="4480560"/>
            <a:ext cx="457200" cy="457200"/>
          </a:xfrm>
          <a:prstGeom prst="ellipse">
            <a:avLst/>
          </a:prstGeom>
          <a:solidFill>
            <a:srgbClr val="C9A227"/>
          </a:solidFill>
          <a:ln/>
        </p:spPr>
      </p:sp>
      <p:sp>
        <p:nvSpPr>
          <p:cNvPr id="35" name="Text 32"/>
          <p:cNvSpPr txBox="1"/>
          <p:nvPr/>
        </p:nvSpPr>
        <p:spPr>
          <a:xfrm>
            <a:off x="777240" y="4480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7</a:t>
            </a:r>
            <a:endParaRPr lang="en-US" sz="1500" dirty="0"/>
          </a:p>
        </p:txBody>
      </p:sp>
      <p:sp>
        <p:nvSpPr>
          <p:cNvPr id="36" name="Text 33"/>
          <p:cNvSpPr txBox="1"/>
          <p:nvPr/>
        </p:nvSpPr>
        <p:spPr>
          <a:xfrm>
            <a:off x="1371600" y="4453128"/>
            <a:ext cx="1691640" cy="548640"/>
          </a:xfrm>
          <a:prstGeom prst="rect">
            <a:avLst/>
          </a:prstGeom>
          <a:noFill/>
          <a:ln/>
        </p:spPr>
        <p:txBody>
          <a:bodyPr wrap="square" lIns="0" tIns="0" rIns="0" bIns="0" rtlCol="0" anchor="ctr"/>
          <a:lstStyle/>
          <a:p>
            <a:pPr indent="0" marL="0">
              <a:buNone/>
            </a:pPr>
            <a:r>
              <a:rPr lang="en-US" sz="1400" b="1" dirty="0">
                <a:solidFill>
                  <a:srgbClr val="12213A"/>
                </a:solidFill>
                <a:latin typeface="Calibri" pitchFamily="34" charset="0"/>
                <a:ea typeface="Calibri" pitchFamily="34" charset="-122"/>
                <a:cs typeface="Calibri" pitchFamily="34" charset="-120"/>
              </a:rPr>
              <a:t>Permission denied</a:t>
            </a:r>
            <a:endParaRPr lang="en-US" sz="1400" dirty="0"/>
          </a:p>
        </p:txBody>
      </p:sp>
      <p:sp>
        <p:nvSpPr>
          <p:cNvPr id="37" name="Shape 34"/>
          <p:cNvSpPr/>
          <p:nvPr/>
        </p:nvSpPr>
        <p:spPr>
          <a:xfrm>
            <a:off x="777240" y="5074920"/>
            <a:ext cx="1600200" cy="347472"/>
          </a:xfrm>
          <a:prstGeom prst="roundRect">
            <a:avLst>
              <a:gd name="adj" fmla="val 50000"/>
            </a:avLst>
          </a:prstGeom>
          <a:solidFill>
            <a:srgbClr val="FFF4DE"/>
          </a:solidFill>
          <a:ln/>
        </p:spPr>
      </p:sp>
      <p:sp>
        <p:nvSpPr>
          <p:cNvPr id="38" name="Text 35"/>
          <p:cNvSpPr txBox="1"/>
          <p:nvPr/>
        </p:nvSpPr>
        <p:spPr>
          <a:xfrm>
            <a:off x="777240" y="5074920"/>
            <a:ext cx="1600200" cy="347472"/>
          </a:xfrm>
          <a:prstGeom prst="rect">
            <a:avLst/>
          </a:prstGeom>
          <a:noFill/>
          <a:ln/>
        </p:spPr>
        <p:txBody>
          <a:bodyPr wrap="square" lIns="0" tIns="0" rIns="0" bIns="0" rtlCol="0" anchor="ctr"/>
          <a:lstStyle/>
          <a:p>
            <a:pPr algn="ctr" indent="0" marL="0">
              <a:buNone/>
            </a:pPr>
            <a:r>
              <a:rPr lang="en-US" sz="950" b="1" dirty="0">
                <a:solidFill>
                  <a:srgbClr val="9A5B00"/>
                </a:solidFill>
                <a:latin typeface="Calibri" pitchFamily="34" charset="0"/>
                <a:ea typeface="Calibri" pitchFamily="34" charset="-122"/>
                <a:cs typeface="Calibri" pitchFamily="34" charset="-120"/>
              </a:rPr>
              <a:t>MEDIUM  ·  200</a:t>
            </a:r>
            <a:endParaRPr lang="en-US" sz="950" dirty="0"/>
          </a:p>
        </p:txBody>
      </p:sp>
      <p:sp>
        <p:nvSpPr>
          <p:cNvPr id="39" name="Text 36"/>
          <p:cNvSpPr txBox="1"/>
          <p:nvPr/>
        </p:nvSpPr>
        <p:spPr>
          <a:xfrm>
            <a:off x="2423160" y="5093208"/>
            <a:ext cx="640080" cy="274320"/>
          </a:xfrm>
          <a:prstGeom prst="rect">
            <a:avLst/>
          </a:prstGeom>
          <a:noFill/>
          <a:ln/>
        </p:spPr>
        <p:txBody>
          <a:bodyPr wrap="square" lIns="0" tIns="0" rIns="0" bIns="0" rtlCol="0" anchor="t">
            <a:normAutofit/>
          </a:bodyPr>
          <a:lstStyle/>
          <a:p>
            <a:pPr indent="0" marL="0">
              <a:buNone/>
            </a:pPr>
            <a:r>
              <a:rPr lang="en-US" sz="900" dirty="0">
                <a:solidFill>
                  <a:srgbClr val="56657E"/>
                </a:solidFill>
                <a:latin typeface="Courier New" pitchFamily="34" charset="0"/>
                <a:ea typeface="Courier New" pitchFamily="34" charset="-122"/>
                <a:cs typeface="Courier New" pitchFamily="34" charset="-120"/>
              </a:rPr>
              <a:t>ls -l  chmod +x</a:t>
            </a:r>
            <a:endParaRPr lang="en-US" sz="900" dirty="0"/>
          </a:p>
        </p:txBody>
      </p:sp>
      <p:sp>
        <p:nvSpPr>
          <p:cNvPr id="40" name="Shape 37"/>
          <p:cNvSpPr/>
          <p:nvPr/>
        </p:nvSpPr>
        <p:spPr>
          <a:xfrm>
            <a:off x="3364992" y="4251960"/>
            <a:ext cx="2606040" cy="1371600"/>
          </a:xfrm>
          <a:prstGeom prst="roundRect">
            <a:avLst>
              <a:gd name="adj" fmla="val 6667"/>
            </a:avLst>
          </a:prstGeom>
          <a:solidFill>
            <a:srgbClr val="F1F5FB"/>
          </a:solidFill>
          <a:ln/>
        </p:spPr>
      </p:sp>
      <p:sp>
        <p:nvSpPr>
          <p:cNvPr id="41" name="Shape 38"/>
          <p:cNvSpPr/>
          <p:nvPr/>
        </p:nvSpPr>
        <p:spPr>
          <a:xfrm>
            <a:off x="3593592" y="4480560"/>
            <a:ext cx="457200" cy="457200"/>
          </a:xfrm>
          <a:prstGeom prst="ellipse">
            <a:avLst/>
          </a:prstGeom>
          <a:solidFill>
            <a:srgbClr val="0F9488"/>
          </a:solidFill>
          <a:ln/>
        </p:spPr>
      </p:sp>
      <p:sp>
        <p:nvSpPr>
          <p:cNvPr id="42" name="Text 39"/>
          <p:cNvSpPr txBox="1"/>
          <p:nvPr/>
        </p:nvSpPr>
        <p:spPr>
          <a:xfrm>
            <a:off x="3593592" y="4480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8</a:t>
            </a:r>
            <a:endParaRPr lang="en-US" sz="1500" dirty="0"/>
          </a:p>
        </p:txBody>
      </p:sp>
      <p:sp>
        <p:nvSpPr>
          <p:cNvPr id="43" name="Text 40"/>
          <p:cNvSpPr txBox="1"/>
          <p:nvPr/>
        </p:nvSpPr>
        <p:spPr>
          <a:xfrm>
            <a:off x="4187952" y="4453128"/>
            <a:ext cx="1691640" cy="548640"/>
          </a:xfrm>
          <a:prstGeom prst="rect">
            <a:avLst/>
          </a:prstGeom>
          <a:noFill/>
          <a:ln/>
        </p:spPr>
        <p:txBody>
          <a:bodyPr wrap="square" lIns="0" tIns="0" rIns="0" bIns="0" rtlCol="0" anchor="ctr"/>
          <a:lstStyle/>
          <a:p>
            <a:pPr indent="0" marL="0">
              <a:buNone/>
            </a:pPr>
            <a:r>
              <a:rPr lang="en-US" sz="1400" b="1" dirty="0">
                <a:solidFill>
                  <a:srgbClr val="12213A"/>
                </a:solidFill>
                <a:latin typeface="Calibri" pitchFamily="34" charset="0"/>
                <a:ea typeface="Calibri" pitchFamily="34" charset="-122"/>
                <a:cs typeface="Calibri" pitchFamily="34" charset="-120"/>
              </a:rPr>
              <a:t>Find and replace</a:t>
            </a:r>
            <a:endParaRPr lang="en-US" sz="1400" dirty="0"/>
          </a:p>
        </p:txBody>
      </p:sp>
      <p:sp>
        <p:nvSpPr>
          <p:cNvPr id="44" name="Shape 41"/>
          <p:cNvSpPr/>
          <p:nvPr/>
        </p:nvSpPr>
        <p:spPr>
          <a:xfrm>
            <a:off x="3593592" y="5074920"/>
            <a:ext cx="1600200" cy="347472"/>
          </a:xfrm>
          <a:prstGeom prst="roundRect">
            <a:avLst>
              <a:gd name="adj" fmla="val 50000"/>
            </a:avLst>
          </a:prstGeom>
          <a:solidFill>
            <a:srgbClr val="FDE8EC"/>
          </a:solidFill>
          <a:ln/>
        </p:spPr>
      </p:sp>
      <p:sp>
        <p:nvSpPr>
          <p:cNvPr id="45" name="Text 42"/>
          <p:cNvSpPr txBox="1"/>
          <p:nvPr/>
        </p:nvSpPr>
        <p:spPr>
          <a:xfrm>
            <a:off x="3593592" y="5074920"/>
            <a:ext cx="1600200" cy="347472"/>
          </a:xfrm>
          <a:prstGeom prst="rect">
            <a:avLst/>
          </a:prstGeom>
          <a:noFill/>
          <a:ln/>
        </p:spPr>
        <p:txBody>
          <a:bodyPr wrap="square" lIns="0" tIns="0" rIns="0" bIns="0" rtlCol="0" anchor="ctr"/>
          <a:lstStyle/>
          <a:p>
            <a:pPr algn="ctr" indent="0" marL="0">
              <a:buNone/>
            </a:pPr>
            <a:r>
              <a:rPr lang="en-US" sz="950" b="1" dirty="0">
                <a:solidFill>
                  <a:srgbClr val="B4233F"/>
                </a:solidFill>
                <a:latin typeface="Calibri" pitchFamily="34" charset="0"/>
                <a:ea typeface="Calibri" pitchFamily="34" charset="-122"/>
                <a:cs typeface="Calibri" pitchFamily="34" charset="-120"/>
              </a:rPr>
              <a:t>HARD  ·  400</a:t>
            </a:r>
            <a:endParaRPr lang="en-US" sz="950" dirty="0"/>
          </a:p>
        </p:txBody>
      </p:sp>
      <p:sp>
        <p:nvSpPr>
          <p:cNvPr id="46" name="Text 43"/>
          <p:cNvSpPr txBox="1"/>
          <p:nvPr/>
        </p:nvSpPr>
        <p:spPr>
          <a:xfrm>
            <a:off x="5239512" y="5093208"/>
            <a:ext cx="640080" cy="274320"/>
          </a:xfrm>
          <a:prstGeom prst="rect">
            <a:avLst/>
          </a:prstGeom>
          <a:noFill/>
          <a:ln/>
        </p:spPr>
        <p:txBody>
          <a:bodyPr wrap="square" lIns="0" tIns="0" rIns="0" bIns="0" rtlCol="0" anchor="t">
            <a:normAutofit/>
          </a:bodyPr>
          <a:lstStyle/>
          <a:p>
            <a:pPr indent="0" marL="0">
              <a:buNone/>
            </a:pPr>
            <a:r>
              <a:rPr lang="en-US" sz="900" dirty="0">
                <a:solidFill>
                  <a:srgbClr val="56657E"/>
                </a:solidFill>
                <a:latin typeface="Courier New" pitchFamily="34" charset="0"/>
                <a:ea typeface="Courier New" pitchFamily="34" charset="-122"/>
                <a:cs typeface="Courier New" pitchFamily="34" charset="-120"/>
              </a:rPr>
              <a:t>sed 's/old/new/g'</a:t>
            </a:r>
            <a:endParaRPr lang="en-US" sz="900" dirty="0"/>
          </a:p>
        </p:txBody>
      </p:sp>
      <p:sp>
        <p:nvSpPr>
          <p:cNvPr id="47" name="Shape 44"/>
          <p:cNvSpPr/>
          <p:nvPr/>
        </p:nvSpPr>
        <p:spPr>
          <a:xfrm>
            <a:off x="6181344" y="4251960"/>
            <a:ext cx="2606040" cy="1371600"/>
          </a:xfrm>
          <a:prstGeom prst="roundRect">
            <a:avLst>
              <a:gd name="adj" fmla="val 6667"/>
            </a:avLst>
          </a:prstGeom>
          <a:solidFill>
            <a:srgbClr val="F1F5FB"/>
          </a:solidFill>
          <a:ln/>
        </p:spPr>
      </p:sp>
      <p:sp>
        <p:nvSpPr>
          <p:cNvPr id="48" name="Shape 45"/>
          <p:cNvSpPr/>
          <p:nvPr/>
        </p:nvSpPr>
        <p:spPr>
          <a:xfrm>
            <a:off x="6409944" y="4480560"/>
            <a:ext cx="457200" cy="457200"/>
          </a:xfrm>
          <a:prstGeom prst="ellipse">
            <a:avLst/>
          </a:prstGeom>
          <a:solidFill>
            <a:srgbClr val="5B6EE1"/>
          </a:solidFill>
          <a:ln/>
        </p:spPr>
      </p:sp>
      <p:sp>
        <p:nvSpPr>
          <p:cNvPr id="49" name="Text 46"/>
          <p:cNvSpPr txBox="1"/>
          <p:nvPr/>
        </p:nvSpPr>
        <p:spPr>
          <a:xfrm>
            <a:off x="6409944" y="4480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9</a:t>
            </a:r>
            <a:endParaRPr lang="en-US" sz="1500" dirty="0"/>
          </a:p>
        </p:txBody>
      </p:sp>
      <p:sp>
        <p:nvSpPr>
          <p:cNvPr id="50" name="Text 47"/>
          <p:cNvSpPr txBox="1"/>
          <p:nvPr/>
        </p:nvSpPr>
        <p:spPr>
          <a:xfrm>
            <a:off x="7004304" y="4453128"/>
            <a:ext cx="1691640" cy="548640"/>
          </a:xfrm>
          <a:prstGeom prst="rect">
            <a:avLst/>
          </a:prstGeom>
          <a:noFill/>
          <a:ln/>
        </p:spPr>
        <p:txBody>
          <a:bodyPr wrap="square" lIns="0" tIns="0" rIns="0" bIns="0" rtlCol="0" anchor="ctr"/>
          <a:lstStyle/>
          <a:p>
            <a:pPr indent="0" marL="0">
              <a:buNone/>
            </a:pPr>
            <a:r>
              <a:rPr lang="en-US" sz="1400" b="1" dirty="0">
                <a:solidFill>
                  <a:srgbClr val="12213A"/>
                </a:solidFill>
                <a:latin typeface="Calibri" pitchFamily="34" charset="0"/>
                <a:ea typeface="Calibri" pitchFamily="34" charset="-122"/>
                <a:cs typeface="Calibri" pitchFamily="34" charset="-120"/>
              </a:rPr>
              <a:t>Forge the key</a:t>
            </a:r>
            <a:endParaRPr lang="en-US" sz="1400" dirty="0"/>
          </a:p>
        </p:txBody>
      </p:sp>
      <p:sp>
        <p:nvSpPr>
          <p:cNvPr id="51" name="Shape 48"/>
          <p:cNvSpPr/>
          <p:nvPr/>
        </p:nvSpPr>
        <p:spPr>
          <a:xfrm>
            <a:off x="6409944" y="5074920"/>
            <a:ext cx="1600200" cy="347472"/>
          </a:xfrm>
          <a:prstGeom prst="roundRect">
            <a:avLst>
              <a:gd name="adj" fmla="val 50000"/>
            </a:avLst>
          </a:prstGeom>
          <a:solidFill>
            <a:srgbClr val="FDE8EC"/>
          </a:solidFill>
          <a:ln/>
        </p:spPr>
      </p:sp>
      <p:sp>
        <p:nvSpPr>
          <p:cNvPr id="52" name="Text 49"/>
          <p:cNvSpPr txBox="1"/>
          <p:nvPr/>
        </p:nvSpPr>
        <p:spPr>
          <a:xfrm>
            <a:off x="6409944" y="5074920"/>
            <a:ext cx="1600200" cy="347472"/>
          </a:xfrm>
          <a:prstGeom prst="rect">
            <a:avLst/>
          </a:prstGeom>
          <a:noFill/>
          <a:ln/>
        </p:spPr>
        <p:txBody>
          <a:bodyPr wrap="square" lIns="0" tIns="0" rIns="0" bIns="0" rtlCol="0" anchor="ctr"/>
          <a:lstStyle/>
          <a:p>
            <a:pPr algn="ctr" indent="0" marL="0">
              <a:buNone/>
            </a:pPr>
            <a:r>
              <a:rPr lang="en-US" sz="950" b="1" dirty="0">
                <a:solidFill>
                  <a:srgbClr val="B4233F"/>
                </a:solidFill>
                <a:latin typeface="Calibri" pitchFamily="34" charset="0"/>
                <a:ea typeface="Calibri" pitchFamily="34" charset="-122"/>
                <a:cs typeface="Calibri" pitchFamily="34" charset="-120"/>
              </a:rPr>
              <a:t>HARD  ·  400</a:t>
            </a:r>
            <a:endParaRPr lang="en-US" sz="950" dirty="0"/>
          </a:p>
        </p:txBody>
      </p:sp>
      <p:sp>
        <p:nvSpPr>
          <p:cNvPr id="53" name="Text 50"/>
          <p:cNvSpPr txBox="1"/>
          <p:nvPr/>
        </p:nvSpPr>
        <p:spPr>
          <a:xfrm>
            <a:off x="8055864" y="5093208"/>
            <a:ext cx="640080" cy="274320"/>
          </a:xfrm>
          <a:prstGeom prst="rect">
            <a:avLst/>
          </a:prstGeom>
          <a:noFill/>
          <a:ln/>
        </p:spPr>
        <p:txBody>
          <a:bodyPr wrap="square" lIns="0" tIns="0" rIns="0" bIns="0" rtlCol="0" anchor="t">
            <a:normAutofit/>
          </a:bodyPr>
          <a:lstStyle/>
          <a:p>
            <a:pPr indent="0" marL="0">
              <a:buNone/>
            </a:pPr>
            <a:r>
              <a:rPr lang="en-US" sz="900" dirty="0">
                <a:solidFill>
                  <a:srgbClr val="56657E"/>
                </a:solidFill>
                <a:latin typeface="Courier New" pitchFamily="34" charset="0"/>
                <a:ea typeface="Courier New" pitchFamily="34" charset="-122"/>
                <a:cs typeface="Courier New" pitchFamily="34" charset="-120"/>
              </a:rPr>
              <a:t>awk  &gt;  forge</a:t>
            </a:r>
            <a:endParaRPr lang="en-US" sz="900" dirty="0"/>
          </a:p>
        </p:txBody>
      </p:sp>
      <p:sp>
        <p:nvSpPr>
          <p:cNvPr id="54" name="Shape 51"/>
          <p:cNvSpPr/>
          <p:nvPr/>
        </p:nvSpPr>
        <p:spPr>
          <a:xfrm>
            <a:off x="8997696" y="4251960"/>
            <a:ext cx="2606040" cy="1371600"/>
          </a:xfrm>
          <a:prstGeom prst="roundRect">
            <a:avLst>
              <a:gd name="adj" fmla="val 6667"/>
            </a:avLst>
          </a:prstGeom>
          <a:solidFill>
            <a:srgbClr val="F1F5FB"/>
          </a:solidFill>
          <a:ln/>
        </p:spPr>
      </p:sp>
      <p:sp>
        <p:nvSpPr>
          <p:cNvPr id="55" name="Shape 52"/>
          <p:cNvSpPr/>
          <p:nvPr/>
        </p:nvSpPr>
        <p:spPr>
          <a:xfrm>
            <a:off x="9226296" y="4480560"/>
            <a:ext cx="457200" cy="457200"/>
          </a:xfrm>
          <a:prstGeom prst="ellipse">
            <a:avLst/>
          </a:prstGeom>
          <a:solidFill>
            <a:srgbClr val="B4233F"/>
          </a:solidFill>
          <a:ln/>
        </p:spPr>
      </p:sp>
      <p:sp>
        <p:nvSpPr>
          <p:cNvPr id="56" name="Text 53"/>
          <p:cNvSpPr txBox="1"/>
          <p:nvPr/>
        </p:nvSpPr>
        <p:spPr>
          <a:xfrm>
            <a:off x="9226296" y="4480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10</a:t>
            </a:r>
            <a:endParaRPr lang="en-US" sz="1500" dirty="0"/>
          </a:p>
        </p:txBody>
      </p:sp>
      <p:sp>
        <p:nvSpPr>
          <p:cNvPr id="57" name="Text 54"/>
          <p:cNvSpPr txBox="1"/>
          <p:nvPr/>
        </p:nvSpPr>
        <p:spPr>
          <a:xfrm>
            <a:off x="9820656" y="4453128"/>
            <a:ext cx="1691640" cy="548640"/>
          </a:xfrm>
          <a:prstGeom prst="rect">
            <a:avLst/>
          </a:prstGeom>
          <a:noFill/>
          <a:ln/>
        </p:spPr>
        <p:txBody>
          <a:bodyPr wrap="square" lIns="0" tIns="0" rIns="0" bIns="0" rtlCol="0" anchor="ctr"/>
          <a:lstStyle/>
          <a:p>
            <a:pPr indent="0" marL="0">
              <a:buNone/>
            </a:pPr>
            <a:r>
              <a:rPr lang="en-US" sz="1400" b="1" dirty="0">
                <a:solidFill>
                  <a:srgbClr val="12213A"/>
                </a:solidFill>
                <a:latin typeface="Calibri" pitchFamily="34" charset="0"/>
                <a:ea typeface="Calibri" pitchFamily="34" charset="-122"/>
                <a:cs typeface="Calibri" pitchFamily="34" charset="-120"/>
              </a:rPr>
              <a:t>Endgame</a:t>
            </a:r>
            <a:endParaRPr lang="en-US" sz="1400" dirty="0"/>
          </a:p>
        </p:txBody>
      </p:sp>
      <p:sp>
        <p:nvSpPr>
          <p:cNvPr id="58" name="Shape 55"/>
          <p:cNvSpPr/>
          <p:nvPr/>
        </p:nvSpPr>
        <p:spPr>
          <a:xfrm>
            <a:off x="9226296" y="5074920"/>
            <a:ext cx="1600200" cy="347472"/>
          </a:xfrm>
          <a:prstGeom prst="roundRect">
            <a:avLst>
              <a:gd name="adj" fmla="val 50000"/>
            </a:avLst>
          </a:prstGeom>
          <a:solidFill>
            <a:srgbClr val="2A1430"/>
          </a:solidFill>
          <a:ln/>
        </p:spPr>
      </p:sp>
      <p:sp>
        <p:nvSpPr>
          <p:cNvPr id="59" name="Text 56"/>
          <p:cNvSpPr txBox="1"/>
          <p:nvPr/>
        </p:nvSpPr>
        <p:spPr>
          <a:xfrm>
            <a:off x="9226296" y="5074920"/>
            <a:ext cx="1600200" cy="347472"/>
          </a:xfrm>
          <a:prstGeom prst="rect">
            <a:avLst/>
          </a:prstGeom>
          <a:noFill/>
          <a:ln/>
        </p:spPr>
        <p:txBody>
          <a:bodyPr wrap="square" lIns="0" tIns="0" rIns="0" bIns="0" rtlCol="0" anchor="ctr"/>
          <a:lstStyle/>
          <a:p>
            <a:pPr algn="ctr" indent="0" marL="0">
              <a:buNone/>
            </a:pPr>
            <a:r>
              <a:rPr lang="en-US" sz="950" b="1" dirty="0">
                <a:solidFill>
                  <a:srgbClr val="FF8FB1"/>
                </a:solidFill>
                <a:latin typeface="Calibri" pitchFamily="34" charset="0"/>
                <a:ea typeface="Calibri" pitchFamily="34" charset="-122"/>
                <a:cs typeface="Calibri" pitchFamily="34" charset="-120"/>
              </a:rPr>
              <a:t>VERY HARD  ·  800</a:t>
            </a:r>
            <a:endParaRPr lang="en-US" sz="950" dirty="0"/>
          </a:p>
        </p:txBody>
      </p:sp>
      <p:sp>
        <p:nvSpPr>
          <p:cNvPr id="60" name="Text 57"/>
          <p:cNvSpPr txBox="1"/>
          <p:nvPr/>
        </p:nvSpPr>
        <p:spPr>
          <a:xfrm>
            <a:off x="10872216" y="5093208"/>
            <a:ext cx="640080" cy="274320"/>
          </a:xfrm>
          <a:prstGeom prst="rect">
            <a:avLst/>
          </a:prstGeom>
          <a:noFill/>
          <a:ln/>
        </p:spPr>
        <p:txBody>
          <a:bodyPr wrap="square" lIns="0" tIns="0" rIns="0" bIns="0" rtlCol="0" anchor="t">
            <a:normAutofit/>
          </a:bodyPr>
          <a:lstStyle/>
          <a:p>
            <a:pPr indent="0" marL="0">
              <a:buNone/>
            </a:pPr>
            <a:r>
              <a:rPr lang="en-US" sz="900" dirty="0">
                <a:solidFill>
                  <a:srgbClr val="56657E"/>
                </a:solidFill>
                <a:latin typeface="Courier New" pitchFamily="34" charset="0"/>
                <a:ea typeface="Courier New" pitchFamily="34" charset="-122"/>
                <a:cs typeface="Courier New" pitchFamily="34" charset="-120"/>
              </a:rPr>
              <a:t>find  grep  cut  chmod</a:t>
            </a:r>
            <a:endParaRPr lang="en-US" sz="900" dirty="0"/>
          </a:p>
        </p:txBody>
      </p:sp>
      <p:sp>
        <p:nvSpPr>
          <p:cNvPr id="61" name="Text 58"/>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63 / 79</a:t>
            </a:r>
            <a:endParaRPr lang="en-US" sz="1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3" name="Shape 0"/>
          <p:cNvSpPr/>
          <p:nvPr/>
        </p:nvSpPr>
        <p:spPr>
          <a:xfrm>
            <a:off x="548640" y="438912"/>
            <a:ext cx="1828800" cy="347472"/>
          </a:xfrm>
          <a:prstGeom prst="roundRect">
            <a:avLst>
              <a:gd name="adj" fmla="val 50000"/>
            </a:avLst>
          </a:prstGeom>
          <a:solidFill>
            <a:srgbClr val="2459D8"/>
          </a:solidFill>
          <a:ln/>
        </p:spPr>
      </p:sp>
      <p:sp>
        <p:nvSpPr>
          <p:cNvPr id="4" name="Text 1"/>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3 of 10</a:t>
            </a:r>
            <a:endParaRPr lang="en-US" sz="1400" dirty="0"/>
          </a:p>
        </p:txBody>
      </p:sp>
      <p:sp>
        <p:nvSpPr>
          <p:cNvPr id="5" name="Shape 2"/>
          <p:cNvSpPr/>
          <p:nvPr/>
        </p:nvSpPr>
        <p:spPr>
          <a:xfrm>
            <a:off x="2514600" y="438912"/>
            <a:ext cx="1828800" cy="347472"/>
          </a:xfrm>
          <a:prstGeom prst="roundRect">
            <a:avLst>
              <a:gd name="adj" fmla="val 50000"/>
            </a:avLst>
          </a:prstGeom>
          <a:solidFill>
            <a:srgbClr val="E2F5EC"/>
          </a:solidFill>
          <a:ln/>
        </p:spPr>
      </p:sp>
      <p:sp>
        <p:nvSpPr>
          <p:cNvPr id="6" name="Text 3"/>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75488"/>
            <a:ext cx="421538" cy="292608"/>
          </a:xfrm>
          <a:prstGeom prst="roundRect">
            <a:avLst>
              <a:gd name="adj" fmla="val 18750"/>
            </a:avLst>
          </a:prstGeom>
          <a:solidFill>
            <a:srgbClr val="2A9FD6"/>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20624"/>
            <a:ext cx="421538" cy="402336"/>
          </a:xfrm>
          <a:prstGeom prst="roundRect">
            <a:avLst>
              <a:gd name="adj" fmla="val 13636"/>
            </a:avLst>
          </a:prstGeom>
          <a:solidFill>
            <a:srgbClr val="2459D8"/>
          </a:solidFill>
          <a:ln/>
        </p:spPr>
      </p:sp>
      <p:sp>
        <p:nvSpPr>
          <p:cNvPr id="12" name="Text 9"/>
          <p:cNvSpPr txBox="1"/>
          <p:nvPr/>
        </p:nvSpPr>
        <p:spPr>
          <a:xfrm>
            <a:off x="7755941"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3" name="Shape 10"/>
          <p:cNvSpPr/>
          <p:nvPr/>
        </p:nvSpPr>
        <p:spPr>
          <a:xfrm>
            <a:off x="8250631" y="475488"/>
            <a:ext cx="421538" cy="292608"/>
          </a:xfrm>
          <a:prstGeom prst="roundRect">
            <a:avLst>
              <a:gd name="adj" fmla="val 18750"/>
            </a:avLst>
          </a:prstGeom>
          <a:solidFill>
            <a:srgbClr val="E4EAF3"/>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75488"/>
            <a:ext cx="421538" cy="292608"/>
          </a:xfrm>
          <a:prstGeom prst="roundRect">
            <a:avLst>
              <a:gd name="adj" fmla="val 18750"/>
            </a:avLst>
          </a:prstGeom>
          <a:solidFill>
            <a:srgbClr val="E4EAF3"/>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75488"/>
            <a:ext cx="421538" cy="292608"/>
          </a:xfrm>
          <a:prstGeom prst="roundRect">
            <a:avLst>
              <a:gd name="adj" fmla="val 18750"/>
            </a:avLst>
          </a:prstGeom>
          <a:solidFill>
            <a:srgbClr val="E4EAF3"/>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75488"/>
            <a:ext cx="421538" cy="292608"/>
          </a:xfrm>
          <a:prstGeom prst="roundRect">
            <a:avLst>
              <a:gd name="adj" fmla="val 18750"/>
            </a:avLst>
          </a:prstGeom>
          <a:solidFill>
            <a:srgbClr val="E4EAF3"/>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75488"/>
            <a:ext cx="421538" cy="292608"/>
          </a:xfrm>
          <a:prstGeom prst="roundRect">
            <a:avLst>
              <a:gd name="adj" fmla="val 18750"/>
            </a:avLst>
          </a:prstGeom>
          <a:solidFill>
            <a:srgbClr val="E4EAF3"/>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75488"/>
            <a:ext cx="421538" cy="292608"/>
          </a:xfrm>
          <a:prstGeom prst="roundRect">
            <a:avLst>
              <a:gd name="adj" fmla="val 18750"/>
            </a:avLst>
          </a:prstGeom>
          <a:solidFill>
            <a:srgbClr val="E4EAF3"/>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Now you see me</a:t>
            </a:r>
            <a:endParaRPr lang="en-US" sz="4200" dirty="0"/>
          </a:p>
        </p:txBody>
      </p:sp>
      <p:sp>
        <p:nvSpPr>
          <p:cNvPr id="28" name="Shape 25"/>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29" name="Text 26"/>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0" name="Text 27"/>
          <p:cNvSpPr txBox="1"/>
          <p:nvPr/>
        </p:nvSpPr>
        <p:spPr>
          <a:xfrm>
            <a:off x="914400" y="2560320"/>
            <a:ext cx="5715000" cy="2057400"/>
          </a:xfrm>
          <a:prstGeom prst="rect">
            <a:avLst/>
          </a:prstGeom>
          <a:noFill/>
          <a:ln/>
        </p:spPr>
        <p:txBody>
          <a:bodyPr wrap="square" lIns="0" tIns="0" rIns="0" bIns="0" rtlCol="0" anchor="t"/>
          <a:lstStyle/>
          <a:p>
            <a:pPr indent="0" marL="0">
              <a:buNone/>
            </a:pPr>
            <a:r>
              <a:rPr lang="en-US" sz="2200" dirty="0">
                <a:solidFill>
                  <a:srgbClr val="FFFFFF"/>
                </a:solidFill>
                <a:latin typeface="Calibri" pitchFamily="34" charset="0"/>
                <a:ea typeface="Calibri" pitchFamily="34" charset="-122"/>
                <a:cs typeface="Calibri" pitchFamily="34" charset="-120"/>
              </a:rPr>
              <a:t>There is a flag in this folder, but plain ls will not show it. Files whose names start with a dot are hidden. One hidden file is a decoy.</a:t>
            </a:r>
            <a:endParaRPr lang="en-US" sz="2200" dirty="0"/>
          </a:p>
        </p:txBody>
      </p:sp>
      <p:sp>
        <p:nvSpPr>
          <p:cNvPr id="31" name="Text 28"/>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~/mission3</a:t>
            </a:r>
            <a:endParaRPr lang="en-US" sz="1300" dirty="0"/>
          </a:p>
        </p:txBody>
      </p:sp>
      <p:sp>
        <p:nvSpPr>
          <p:cNvPr id="32" name="Shape 29"/>
          <p:cNvSpPr/>
          <p:nvPr/>
        </p:nvSpPr>
        <p:spPr>
          <a:xfrm>
            <a:off x="914400" y="5166360"/>
            <a:ext cx="3291840" cy="502920"/>
          </a:xfrm>
          <a:prstGeom prst="roundRect">
            <a:avLst>
              <a:gd name="adj" fmla="val 14545"/>
            </a:avLst>
          </a:prstGeom>
          <a:solidFill>
            <a:srgbClr val="F5A623"/>
          </a:solidFill>
          <a:ln/>
        </p:spPr>
      </p:sp>
      <p:sp>
        <p:nvSpPr>
          <p:cNvPr id="33" name="Text 30"/>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50" dirty="0">
                <a:solidFill>
                  <a:srgbClr val="12213A"/>
                </a:solidFill>
                <a:latin typeface="Calibri" pitchFamily="34" charset="0"/>
                <a:ea typeface="Calibri" pitchFamily="34" charset="-122"/>
                <a:cs typeface="Calibri" pitchFamily="34" charset="-120"/>
              </a:rPr>
              <a:t>Tools: </a:t>
            </a:r>
            <a:pPr algn="ctr" indent="0" marL="0">
              <a:buNone/>
            </a:pPr>
            <a:r>
              <a:rPr lang="en-US" sz="1350" b="1" dirty="0">
                <a:solidFill>
                  <a:srgbClr val="12213A"/>
                </a:solidFill>
                <a:latin typeface="Courier New" pitchFamily="34" charset="0"/>
                <a:ea typeface="Courier New" pitchFamily="34" charset="-122"/>
                <a:cs typeface="Courier New" pitchFamily="34" charset="-120"/>
              </a:rPr>
              <a:t>ls -a</a:t>
            </a:r>
            <a:endParaRPr lang="en-US" sz="1350" dirty="0"/>
          </a:p>
        </p:txBody>
      </p:sp>
      <p:sp>
        <p:nvSpPr>
          <p:cNvPr id="34" name="Shape 31"/>
          <p:cNvSpPr/>
          <p:nvPr/>
        </p:nvSpPr>
        <p:spPr>
          <a:xfrm>
            <a:off x="4389120" y="5166360"/>
            <a:ext cx="2240280" cy="502920"/>
          </a:xfrm>
          <a:prstGeom prst="roundRect">
            <a:avLst>
              <a:gd name="adj" fmla="val 14545"/>
            </a:avLst>
          </a:prstGeom>
          <a:solidFill>
            <a:srgbClr val="2B3B5C"/>
          </a:solidFill>
          <a:ln/>
        </p:spPr>
      </p:sp>
      <p:sp>
        <p:nvSpPr>
          <p:cNvPr id="35" name="Text 32"/>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+100 points</a:t>
            </a:r>
            <a:endParaRPr lang="en-US" sz="1600" dirty="0"/>
          </a:p>
        </p:txBody>
      </p:sp>
      <p:sp>
        <p:nvSpPr>
          <p:cNvPr id="36" name="Shape 33"/>
          <p:cNvSpPr/>
          <p:nvPr/>
        </p:nvSpPr>
        <p:spPr>
          <a:xfrm>
            <a:off x="7269480" y="1920240"/>
            <a:ext cx="4370832" cy="2788920"/>
          </a:xfrm>
          <a:prstGeom prst="roundRect">
            <a:avLst>
              <a:gd name="adj" fmla="val 3279"/>
            </a:avLst>
          </a:prstGeom>
          <a:solidFill>
            <a:srgbClr val="F1F5FB"/>
          </a:solidFill>
          <a:ln/>
        </p:spPr>
      </p:sp>
      <p:sp>
        <p:nvSpPr>
          <p:cNvPr id="37" name="Text 34"/>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38" name="Text 35"/>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did we learn about names that start with a dot?</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Which ls option shows them?</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will we tell the real file from the decoy?</a:t>
            </a:r>
            <a:endParaRPr lang="en-US" sz="1550" dirty="0"/>
          </a:p>
        </p:txBody>
      </p:sp>
      <p:sp>
        <p:nvSpPr>
          <p:cNvPr id="39" name="Shape 36"/>
          <p:cNvSpPr/>
          <p:nvPr/>
        </p:nvSpPr>
        <p:spPr>
          <a:xfrm>
            <a:off x="7269480" y="4892040"/>
            <a:ext cx="4370832" cy="1051560"/>
          </a:xfrm>
          <a:prstGeom prst="roundRect">
            <a:avLst>
              <a:gd name="adj" fmla="val 8696"/>
            </a:avLst>
          </a:prstGeom>
          <a:solidFill>
            <a:srgbClr val="17875A"/>
          </a:solidFill>
          <a:ln/>
        </p:spPr>
      </p:sp>
      <p:sp>
        <p:nvSpPr>
          <p:cNvPr id="40" name="Text 37"/>
          <p:cNvSpPr txBox="1"/>
          <p:nvPr/>
        </p:nvSpPr>
        <p:spPr>
          <a:xfrm>
            <a:off x="7498080" y="4892040"/>
            <a:ext cx="15544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1" name="Text 38"/>
          <p:cNvSpPr txBox="1"/>
          <p:nvPr/>
        </p:nvSpPr>
        <p:spPr>
          <a:xfrm>
            <a:off x="9098280" y="4892040"/>
            <a:ext cx="2377440" cy="10515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Students try on their own. Reveal after.</a:t>
            </a:r>
            <a:endParaRPr lang="en-US" sz="1350" dirty="0"/>
          </a:p>
        </p:txBody>
      </p:sp>
      <p:sp>
        <p:nvSpPr>
          <p:cNvPr id="42" name="Text 39"/>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64 / 79</a:t>
            </a:r>
            <a:endParaRPr lang="en-US" sz="1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3" name="Shape 0"/>
          <p:cNvSpPr/>
          <p:nvPr/>
        </p:nvSpPr>
        <p:spPr>
          <a:xfrm>
            <a:off x="548640" y="438912"/>
            <a:ext cx="2103120" cy="347472"/>
          </a:xfrm>
          <a:prstGeom prst="roundRect">
            <a:avLst>
              <a:gd name="adj" fmla="val 50000"/>
            </a:avLst>
          </a:prstGeom>
          <a:solidFill>
            <a:srgbClr val="2459D8"/>
          </a:solidFill>
          <a:ln/>
        </p:spPr>
      </p:sp>
      <p:sp>
        <p:nvSpPr>
          <p:cNvPr id="4" name="Text 1"/>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3 of 10</a:t>
            </a:r>
            <a:endParaRPr lang="en-US" sz="1400" dirty="0"/>
          </a:p>
        </p:txBody>
      </p:sp>
      <p:sp>
        <p:nvSpPr>
          <p:cNvPr id="5" name="Shape 2"/>
          <p:cNvSpPr/>
          <p:nvPr/>
        </p:nvSpPr>
        <p:spPr>
          <a:xfrm>
            <a:off x="2788920" y="438912"/>
            <a:ext cx="1828800" cy="347472"/>
          </a:xfrm>
          <a:prstGeom prst="roundRect">
            <a:avLst>
              <a:gd name="adj" fmla="val 50000"/>
            </a:avLst>
          </a:prstGeom>
          <a:solidFill>
            <a:srgbClr val="E2F5EC"/>
          </a:solidFill>
          <a:ln/>
        </p:spPr>
      </p:sp>
      <p:sp>
        <p:nvSpPr>
          <p:cNvPr id="6" name="Text 3"/>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75488"/>
            <a:ext cx="421538" cy="292608"/>
          </a:xfrm>
          <a:prstGeom prst="roundRect">
            <a:avLst>
              <a:gd name="adj" fmla="val 18750"/>
            </a:avLst>
          </a:prstGeom>
          <a:solidFill>
            <a:srgbClr val="2A9FD6"/>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20624"/>
            <a:ext cx="421538" cy="402336"/>
          </a:xfrm>
          <a:prstGeom prst="roundRect">
            <a:avLst>
              <a:gd name="adj" fmla="val 13636"/>
            </a:avLst>
          </a:prstGeom>
          <a:solidFill>
            <a:srgbClr val="2459D8"/>
          </a:solidFill>
          <a:ln/>
        </p:spPr>
      </p:sp>
      <p:sp>
        <p:nvSpPr>
          <p:cNvPr id="12" name="Text 9"/>
          <p:cNvSpPr txBox="1"/>
          <p:nvPr/>
        </p:nvSpPr>
        <p:spPr>
          <a:xfrm>
            <a:off x="7755941"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3" name="Shape 10"/>
          <p:cNvSpPr/>
          <p:nvPr/>
        </p:nvSpPr>
        <p:spPr>
          <a:xfrm>
            <a:off x="8250631" y="475488"/>
            <a:ext cx="421538" cy="292608"/>
          </a:xfrm>
          <a:prstGeom prst="roundRect">
            <a:avLst>
              <a:gd name="adj" fmla="val 18750"/>
            </a:avLst>
          </a:prstGeom>
          <a:solidFill>
            <a:srgbClr val="E4EAF3"/>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75488"/>
            <a:ext cx="421538" cy="292608"/>
          </a:xfrm>
          <a:prstGeom prst="roundRect">
            <a:avLst>
              <a:gd name="adj" fmla="val 18750"/>
            </a:avLst>
          </a:prstGeom>
          <a:solidFill>
            <a:srgbClr val="E4EAF3"/>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75488"/>
            <a:ext cx="421538" cy="292608"/>
          </a:xfrm>
          <a:prstGeom prst="roundRect">
            <a:avLst>
              <a:gd name="adj" fmla="val 18750"/>
            </a:avLst>
          </a:prstGeom>
          <a:solidFill>
            <a:srgbClr val="E4EAF3"/>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75488"/>
            <a:ext cx="421538" cy="292608"/>
          </a:xfrm>
          <a:prstGeom prst="roundRect">
            <a:avLst>
              <a:gd name="adj" fmla="val 18750"/>
            </a:avLst>
          </a:prstGeom>
          <a:solidFill>
            <a:srgbClr val="E4EAF3"/>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75488"/>
            <a:ext cx="421538" cy="292608"/>
          </a:xfrm>
          <a:prstGeom prst="roundRect">
            <a:avLst>
              <a:gd name="adj" fmla="val 18750"/>
            </a:avLst>
          </a:prstGeom>
          <a:solidFill>
            <a:srgbClr val="E4EAF3"/>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75488"/>
            <a:ext cx="421538" cy="292608"/>
          </a:xfrm>
          <a:prstGeom prst="roundRect">
            <a:avLst>
              <a:gd name="adj" fmla="val 18750"/>
            </a:avLst>
          </a:prstGeom>
          <a:solidFill>
            <a:srgbClr val="E4EAF3"/>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Solving Now you see me</a:t>
            </a:r>
            <a:endParaRPr lang="en-US" sz="3000" dirty="0"/>
          </a:p>
        </p:txBody>
      </p:sp>
      <p:sp>
        <p:nvSpPr>
          <p:cNvPr id="28" name="Shape 25"/>
          <p:cNvSpPr/>
          <p:nvPr/>
        </p:nvSpPr>
        <p:spPr>
          <a:xfrm>
            <a:off x="548640" y="1691640"/>
            <a:ext cx="6720840" cy="4251960"/>
          </a:xfrm>
          <a:prstGeom prst="roundRect">
            <a:avLst>
              <a:gd name="adj" fmla="val 2151"/>
            </a:avLst>
          </a:prstGeom>
          <a:solidFill>
            <a:srgbClr val="0E1726"/>
          </a:solidFill>
          <a:ln/>
          <a:effectLst>
            <a:outerShdw sx="100000" sy="100000" kx="0" ky="0" algn="bl" rotWithShape="0" blurRad="127000" dist="38100" dir="5400000">
              <a:srgbClr val="12213A">
                <a:alpha val="22000"/>
              </a:srgbClr>
            </a:outerShdw>
          </a:effectLst>
        </p:spPr>
      </p:sp>
      <p:sp>
        <p:nvSpPr>
          <p:cNvPr id="29" name="Shape 26"/>
          <p:cNvSpPr/>
          <p:nvPr/>
        </p:nvSpPr>
        <p:spPr>
          <a:xfrm>
            <a:off x="749808" y="1847088"/>
            <a:ext cx="118872" cy="118872"/>
          </a:xfrm>
          <a:prstGeom prst="ellipse">
            <a:avLst/>
          </a:prstGeom>
          <a:solidFill>
            <a:srgbClr val="E5534B"/>
          </a:solidFill>
          <a:ln/>
        </p:spPr>
      </p:sp>
      <p:sp>
        <p:nvSpPr>
          <p:cNvPr id="30" name="Shape 27"/>
          <p:cNvSpPr/>
          <p:nvPr/>
        </p:nvSpPr>
        <p:spPr>
          <a:xfrm>
            <a:off x="950976" y="1847088"/>
            <a:ext cx="118872" cy="118872"/>
          </a:xfrm>
          <a:prstGeom prst="ellipse">
            <a:avLst/>
          </a:prstGeom>
          <a:solidFill>
            <a:srgbClr val="F5A623"/>
          </a:solidFill>
          <a:ln/>
        </p:spPr>
      </p:sp>
      <p:sp>
        <p:nvSpPr>
          <p:cNvPr id="31" name="Shape 28"/>
          <p:cNvSpPr/>
          <p:nvPr/>
        </p:nvSpPr>
        <p:spPr>
          <a:xfrm>
            <a:off x="1152144" y="1847088"/>
            <a:ext cx="118872" cy="118872"/>
          </a:xfrm>
          <a:prstGeom prst="ellipse">
            <a:avLst/>
          </a:prstGeom>
          <a:solidFill>
            <a:srgbClr val="46D39A"/>
          </a:solidFill>
          <a:ln/>
        </p:spPr>
      </p:sp>
      <p:sp>
        <p:nvSpPr>
          <p:cNvPr id="32" name="Text 29"/>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3" name="Text 30"/>
          <p:cNvSpPr txBox="1"/>
          <p:nvPr/>
        </p:nvSpPr>
        <p:spPr>
          <a:xfrm>
            <a:off x="822960" y="2148840"/>
            <a:ext cx="6172200" cy="3657600"/>
          </a:xfrm>
          <a:prstGeom prst="rect">
            <a:avLst/>
          </a:prstGeom>
          <a:noFill/>
          <a:ln/>
        </p:spPr>
        <p:txBody>
          <a:bodyPr wrap="square" lIns="0" tIns="0" rIns="0" bIns="0" rtlCol="0" anchor="t"/>
          <a:lstStyle/>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cd ~/mission3</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ls</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notes.txt</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ls -a</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  ..  .old-n0mp  .stash  notes.txt</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cat .old-n0mp</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Close, but this hidden file is a decoy.</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cat .stash</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You found the hidden file.</a:t>
            </a:r>
            <a:endParaRPr lang="en-US" sz="1400" dirty="0"/>
          </a:p>
          <a:p>
            <a:pPr indent="0" marL="0">
              <a:spcAft>
                <a:spcPts val="200"/>
              </a:spcAft>
              <a:buNone/>
            </a:pPr>
            <a:r>
              <a:rPr lang="en-US" sz="1400" b="1" dirty="0">
                <a:solidFill>
                  <a:srgbClr val="F5A623"/>
                </a:solidFill>
                <a:latin typeface="Courier New" pitchFamily="34" charset="0"/>
                <a:ea typeface="Courier New" pitchFamily="34" charset="-122"/>
                <a:cs typeface="Courier New" pitchFamily="34" charset="-120"/>
              </a:rPr>
              <a:t>Flag: CYBA{hidden-...}</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submit CYBA{hidden-...}</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Correct! +100 points</a:t>
            </a:r>
            <a:endParaRPr lang="en-US" sz="1400" dirty="0"/>
          </a:p>
        </p:txBody>
      </p:sp>
      <p:sp>
        <p:nvSpPr>
          <p:cNvPr id="34" name="Text 31"/>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5" name="Shape 32"/>
          <p:cNvSpPr/>
          <p:nvPr/>
        </p:nvSpPr>
        <p:spPr>
          <a:xfrm>
            <a:off x="7543800" y="2194560"/>
            <a:ext cx="457200" cy="457200"/>
          </a:xfrm>
          <a:prstGeom prst="ellipse">
            <a:avLst/>
          </a:prstGeom>
          <a:solidFill>
            <a:srgbClr val="2459D8"/>
          </a:solidFill>
          <a:ln/>
        </p:spPr>
      </p:sp>
      <p:sp>
        <p:nvSpPr>
          <p:cNvPr id="36" name="Text 33"/>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7" name="Text 34"/>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Plain ls skipped every name that starts with a dot.</a:t>
            </a:r>
            <a:endParaRPr lang="en-US" sz="1400" dirty="0"/>
          </a:p>
        </p:txBody>
      </p:sp>
      <p:sp>
        <p:nvSpPr>
          <p:cNvPr id="38" name="Shape 35"/>
          <p:cNvSpPr/>
          <p:nvPr/>
        </p:nvSpPr>
        <p:spPr>
          <a:xfrm>
            <a:off x="7543800" y="2980944"/>
            <a:ext cx="457200" cy="457200"/>
          </a:xfrm>
          <a:prstGeom prst="ellipse">
            <a:avLst/>
          </a:prstGeom>
          <a:solidFill>
            <a:srgbClr val="2459D8"/>
          </a:solidFill>
          <a:ln/>
        </p:spPr>
      </p:sp>
      <p:sp>
        <p:nvSpPr>
          <p:cNvPr id="39" name="Text 36"/>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0" name="Text 37"/>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ls -a showed them all, decoy included.</a:t>
            </a:r>
            <a:endParaRPr lang="en-US" sz="1400" dirty="0"/>
          </a:p>
        </p:txBody>
      </p:sp>
      <p:sp>
        <p:nvSpPr>
          <p:cNvPr id="41" name="Shape 38"/>
          <p:cNvSpPr/>
          <p:nvPr/>
        </p:nvSpPr>
        <p:spPr>
          <a:xfrm>
            <a:off x="7543800" y="3767328"/>
            <a:ext cx="457200" cy="457200"/>
          </a:xfrm>
          <a:prstGeom prst="ellipse">
            <a:avLst/>
          </a:prstGeom>
          <a:solidFill>
            <a:srgbClr val="2459D8"/>
          </a:solidFill>
          <a:ln/>
        </p:spPr>
      </p:sp>
      <p:sp>
        <p:nvSpPr>
          <p:cNvPr id="42" name="Text 39"/>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3" name="Text 40"/>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cat read each one until the real flag appeared.</a:t>
            </a:r>
            <a:endParaRPr lang="en-US" sz="1400" dirty="0"/>
          </a:p>
        </p:txBody>
      </p:sp>
      <p:sp>
        <p:nvSpPr>
          <p:cNvPr id="44" name="Shape 41"/>
          <p:cNvSpPr/>
          <p:nvPr/>
        </p:nvSpPr>
        <p:spPr>
          <a:xfrm>
            <a:off x="7543800" y="4572000"/>
            <a:ext cx="4096512" cy="749808"/>
          </a:xfrm>
          <a:prstGeom prst="roundRect">
            <a:avLst>
              <a:gd name="adj" fmla="val 12195"/>
            </a:avLst>
          </a:prstGeom>
          <a:solidFill>
            <a:srgbClr val="FFF4DC"/>
          </a:solidFill>
          <a:ln/>
        </p:spPr>
      </p:sp>
      <p:sp>
        <p:nvSpPr>
          <p:cNvPr id="45" name="Text 42"/>
          <p:cNvSpPr txBox="1"/>
          <p:nvPr/>
        </p:nvSpPr>
        <p:spPr>
          <a:xfrm>
            <a:off x="7699248" y="4572000"/>
            <a:ext cx="3803904" cy="749808"/>
          </a:xfrm>
          <a:prstGeom prst="rect">
            <a:avLst/>
          </a:prstGeom>
          <a:noFill/>
          <a:ln/>
        </p:spPr>
        <p:txBody>
          <a:bodyPr wrap="square" lIns="0" tIns="0" rIns="0" bIns="0" rtlCol="0" anchor="ctr"/>
          <a:lstStyle/>
          <a:p>
            <a:pPr indent="0" marL="0">
              <a:buNone/>
            </a:pPr>
            <a:r>
              <a:rPr lang="en-US" sz="1300" b="1" dirty="0">
                <a:solidFill>
                  <a:srgbClr val="12213A"/>
                </a:solidFill>
                <a:latin typeface="Calibri" pitchFamily="34" charset="0"/>
                <a:ea typeface="Calibri" pitchFamily="34" charset="-122"/>
                <a:cs typeface="Calibri" pitchFamily="34" charset="-120"/>
              </a:rPr>
              <a:t>Real world: </a:t>
            </a:r>
            <a:pPr indent="0" marL="0">
              <a:buNone/>
            </a:pPr>
            <a:r>
              <a:rPr lang="en-US" sz="1300" dirty="0">
                <a:solidFill>
                  <a:srgbClr val="12213A"/>
                </a:solidFill>
                <a:latin typeface="Calibri" pitchFamily="34" charset="0"/>
                <a:ea typeface="Calibri" pitchFamily="34" charset="-122"/>
                <a:cs typeface="Calibri" pitchFamily="34" charset="-120"/>
              </a:rPr>
              <a:t>On a suspicious machine, ls -a is one of the first commands an investigator runs.</a:t>
            </a:r>
            <a:endParaRPr lang="en-US" sz="1300" dirty="0"/>
          </a:p>
        </p:txBody>
      </p:sp>
      <p:sp>
        <p:nvSpPr>
          <p:cNvPr id="46" name="Shape 43"/>
          <p:cNvSpPr/>
          <p:nvPr/>
        </p:nvSpPr>
        <p:spPr>
          <a:xfrm>
            <a:off x="7543800" y="5413248"/>
            <a:ext cx="4096512" cy="566928"/>
          </a:xfrm>
          <a:prstGeom prst="roundRect">
            <a:avLst>
              <a:gd name="adj" fmla="val 16129"/>
            </a:avLst>
          </a:prstGeom>
          <a:solidFill>
            <a:srgbClr val="F1F5FB"/>
          </a:solidFill>
          <a:ln/>
        </p:spPr>
      </p:sp>
      <p:sp>
        <p:nvSpPr>
          <p:cNvPr id="47" name="Text 44"/>
          <p:cNvSpPr txBox="1"/>
          <p:nvPr/>
        </p:nvSpPr>
        <p:spPr>
          <a:xfrm>
            <a:off x="7699248" y="5413248"/>
            <a:ext cx="3803904" cy="566928"/>
          </a:xfrm>
          <a:prstGeom prst="rect">
            <a:avLst/>
          </a:prstGeom>
          <a:noFill/>
          <a:ln/>
        </p:spPr>
        <p:txBody>
          <a:bodyPr wrap="square" lIns="0" tIns="0" rIns="0" bIns="0" rtlCol="0" anchor="ctr"/>
          <a:lstStyle/>
          <a:p>
            <a:pPr indent="0" marL="0">
              <a:buNone/>
            </a:pPr>
            <a:r>
              <a:rPr lang="en-US" sz="1200" b="1" dirty="0">
                <a:solidFill>
                  <a:srgbClr val="2459D8"/>
                </a:solidFill>
                <a:latin typeface="Calibri" pitchFamily="34" charset="0"/>
                <a:ea typeface="Calibri" pitchFamily="34" charset="-122"/>
                <a:cs typeface="Calibri" pitchFamily="34" charset="-120"/>
              </a:rPr>
              <a:t>Stretch: </a:t>
            </a:r>
            <a:pPr indent="0" marL="0">
              <a:buNone/>
            </a:pPr>
            <a:r>
              <a:rPr lang="en-US" sz="1200" dirty="0">
                <a:solidFill>
                  <a:srgbClr val="12213A"/>
                </a:solidFill>
                <a:latin typeface="Calibri" pitchFamily="34" charset="0"/>
                <a:ea typeface="Calibri" pitchFamily="34" charset="-122"/>
                <a:cs typeface="Calibri" pitchFamily="34" charset="-120"/>
              </a:rPr>
              <a:t>Run  ls -a ~  . Which hidden file lives in your home folder?</a:t>
            </a:r>
            <a:endParaRPr lang="en-US" sz="1200" dirty="0"/>
          </a:p>
        </p:txBody>
      </p:sp>
      <p:sp>
        <p:nvSpPr>
          <p:cNvPr id="48" name="Text 45"/>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49" name="Text 46"/>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65 / 79</a:t>
            </a:r>
            <a:endParaRPr lang="en-US" sz="1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3" name="Shape 0"/>
          <p:cNvSpPr/>
          <p:nvPr/>
        </p:nvSpPr>
        <p:spPr>
          <a:xfrm>
            <a:off x="548640" y="438912"/>
            <a:ext cx="1828800" cy="347472"/>
          </a:xfrm>
          <a:prstGeom prst="roundRect">
            <a:avLst>
              <a:gd name="adj" fmla="val 50000"/>
            </a:avLst>
          </a:prstGeom>
          <a:solidFill>
            <a:srgbClr val="7448D4"/>
          </a:solidFill>
          <a:ln/>
        </p:spPr>
      </p:sp>
      <p:sp>
        <p:nvSpPr>
          <p:cNvPr id="4" name="Text 1"/>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4 of 10</a:t>
            </a:r>
            <a:endParaRPr lang="en-US" sz="1400" dirty="0"/>
          </a:p>
        </p:txBody>
      </p:sp>
      <p:sp>
        <p:nvSpPr>
          <p:cNvPr id="5" name="Shape 2"/>
          <p:cNvSpPr/>
          <p:nvPr/>
        </p:nvSpPr>
        <p:spPr>
          <a:xfrm>
            <a:off x="2514600" y="438912"/>
            <a:ext cx="1828800" cy="347472"/>
          </a:xfrm>
          <a:prstGeom prst="roundRect">
            <a:avLst>
              <a:gd name="adj" fmla="val 50000"/>
            </a:avLst>
          </a:prstGeom>
          <a:solidFill>
            <a:srgbClr val="FFF4DE"/>
          </a:solidFill>
          <a:ln/>
        </p:spPr>
      </p:sp>
      <p:sp>
        <p:nvSpPr>
          <p:cNvPr id="6" name="Text 3"/>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75488"/>
            <a:ext cx="421538" cy="292608"/>
          </a:xfrm>
          <a:prstGeom prst="roundRect">
            <a:avLst>
              <a:gd name="adj" fmla="val 18750"/>
            </a:avLst>
          </a:prstGeom>
          <a:solidFill>
            <a:srgbClr val="2A9FD6"/>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75488"/>
            <a:ext cx="421538" cy="292608"/>
          </a:xfrm>
          <a:prstGeom prst="roundRect">
            <a:avLst>
              <a:gd name="adj" fmla="val 18750"/>
            </a:avLst>
          </a:prstGeom>
          <a:solidFill>
            <a:srgbClr val="2459D8"/>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20624"/>
            <a:ext cx="421538" cy="402336"/>
          </a:xfrm>
          <a:prstGeom prst="roundRect">
            <a:avLst>
              <a:gd name="adj" fmla="val 13636"/>
            </a:avLst>
          </a:prstGeom>
          <a:solidFill>
            <a:srgbClr val="7448D4"/>
          </a:solidFill>
          <a:ln/>
        </p:spPr>
      </p:sp>
      <p:sp>
        <p:nvSpPr>
          <p:cNvPr id="14" name="Text 11"/>
          <p:cNvSpPr txBox="1"/>
          <p:nvPr/>
        </p:nvSpPr>
        <p:spPr>
          <a:xfrm>
            <a:off x="8250631"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5" name="Shape 12"/>
          <p:cNvSpPr/>
          <p:nvPr/>
        </p:nvSpPr>
        <p:spPr>
          <a:xfrm>
            <a:off x="8745322" y="475488"/>
            <a:ext cx="421538" cy="292608"/>
          </a:xfrm>
          <a:prstGeom prst="roundRect">
            <a:avLst>
              <a:gd name="adj" fmla="val 18750"/>
            </a:avLst>
          </a:prstGeom>
          <a:solidFill>
            <a:srgbClr val="E4EAF3"/>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75488"/>
            <a:ext cx="421538" cy="292608"/>
          </a:xfrm>
          <a:prstGeom prst="roundRect">
            <a:avLst>
              <a:gd name="adj" fmla="val 18750"/>
            </a:avLst>
          </a:prstGeom>
          <a:solidFill>
            <a:srgbClr val="E4EAF3"/>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75488"/>
            <a:ext cx="421538" cy="292608"/>
          </a:xfrm>
          <a:prstGeom prst="roundRect">
            <a:avLst>
              <a:gd name="adj" fmla="val 18750"/>
            </a:avLst>
          </a:prstGeom>
          <a:solidFill>
            <a:srgbClr val="E4EAF3"/>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75488"/>
            <a:ext cx="421538" cy="292608"/>
          </a:xfrm>
          <a:prstGeom prst="roundRect">
            <a:avLst>
              <a:gd name="adj" fmla="val 18750"/>
            </a:avLst>
          </a:prstGeom>
          <a:solidFill>
            <a:srgbClr val="E4EAF3"/>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75488"/>
            <a:ext cx="421538" cy="292608"/>
          </a:xfrm>
          <a:prstGeom prst="roundRect">
            <a:avLst>
              <a:gd name="adj" fmla="val 18750"/>
            </a:avLst>
          </a:prstGeom>
          <a:solidFill>
            <a:srgbClr val="E4EAF3"/>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Needle in the tree</a:t>
            </a:r>
            <a:endParaRPr lang="en-US" sz="4200" dirty="0"/>
          </a:p>
        </p:txBody>
      </p:sp>
      <p:sp>
        <p:nvSpPr>
          <p:cNvPr id="28" name="Shape 25"/>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29" name="Text 26"/>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0" name="Text 27"/>
          <p:cNvSpPr txBox="1"/>
          <p:nvPr/>
        </p:nvSpPr>
        <p:spPr>
          <a:xfrm>
            <a:off x="914400" y="2560320"/>
            <a:ext cx="5715000" cy="2057400"/>
          </a:xfrm>
          <a:prstGeom prst="rect">
            <a:avLst/>
          </a:prstGeom>
          <a:noFill/>
          <a:ln/>
        </p:spPr>
        <p:txBody>
          <a:bodyPr wrap="square" lIns="0" tIns="0" rIns="0" bIns="0" rtlCol="0" anchor="t"/>
          <a:lstStyle/>
          <a:p>
            <a:pPr indent="0" marL="0">
              <a:buNone/>
            </a:pPr>
            <a:r>
              <a:rPr lang="en-US" sz="2200" dirty="0">
                <a:solidFill>
                  <a:srgbClr val="FFFFFF"/>
                </a:solidFill>
                <a:latin typeface="Calibri" pitchFamily="34" charset="0"/>
                <a:ea typeface="Calibri" pitchFamily="34" charset="-122"/>
                <a:cs typeface="Calibri" pitchFamily="34" charset="-120"/>
              </a:rPr>
              <a:t>The archive folder holds about 80 files in 20 folders. One file has the ending named in README.txt, and it holds the flag.</a:t>
            </a:r>
            <a:endParaRPr lang="en-US" sz="2200" dirty="0"/>
          </a:p>
        </p:txBody>
      </p:sp>
      <p:sp>
        <p:nvSpPr>
          <p:cNvPr id="31" name="Text 28"/>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~/mission4</a:t>
            </a:r>
            <a:endParaRPr lang="en-US" sz="1300" dirty="0"/>
          </a:p>
        </p:txBody>
      </p:sp>
      <p:sp>
        <p:nvSpPr>
          <p:cNvPr id="32" name="Shape 29"/>
          <p:cNvSpPr/>
          <p:nvPr/>
        </p:nvSpPr>
        <p:spPr>
          <a:xfrm>
            <a:off x="914400" y="5166360"/>
            <a:ext cx="3291840" cy="502920"/>
          </a:xfrm>
          <a:prstGeom prst="roundRect">
            <a:avLst>
              <a:gd name="adj" fmla="val 14545"/>
            </a:avLst>
          </a:prstGeom>
          <a:solidFill>
            <a:srgbClr val="F5A623"/>
          </a:solidFill>
          <a:ln/>
        </p:spPr>
      </p:sp>
      <p:sp>
        <p:nvSpPr>
          <p:cNvPr id="33" name="Text 30"/>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50" dirty="0">
                <a:solidFill>
                  <a:srgbClr val="12213A"/>
                </a:solidFill>
                <a:latin typeface="Calibri" pitchFamily="34" charset="0"/>
                <a:ea typeface="Calibri" pitchFamily="34" charset="-122"/>
                <a:cs typeface="Calibri" pitchFamily="34" charset="-120"/>
              </a:rPr>
              <a:t>Tools: </a:t>
            </a:r>
            <a:pPr algn="ctr" indent="0" marL="0">
              <a:buNone/>
            </a:pPr>
            <a:r>
              <a:rPr lang="en-US" sz="1350" b="1" dirty="0">
                <a:solidFill>
                  <a:srgbClr val="12213A"/>
                </a:solidFill>
                <a:latin typeface="Courier New" pitchFamily="34" charset="0"/>
                <a:ea typeface="Courier New" pitchFamily="34" charset="-122"/>
                <a:cs typeface="Courier New" pitchFamily="34" charset="-120"/>
              </a:rPr>
              <a:t>find -name</a:t>
            </a:r>
            <a:endParaRPr lang="en-US" sz="1350" dirty="0"/>
          </a:p>
        </p:txBody>
      </p:sp>
      <p:sp>
        <p:nvSpPr>
          <p:cNvPr id="34" name="Shape 31"/>
          <p:cNvSpPr/>
          <p:nvPr/>
        </p:nvSpPr>
        <p:spPr>
          <a:xfrm>
            <a:off x="4389120" y="5166360"/>
            <a:ext cx="2240280" cy="502920"/>
          </a:xfrm>
          <a:prstGeom prst="roundRect">
            <a:avLst>
              <a:gd name="adj" fmla="val 14545"/>
            </a:avLst>
          </a:prstGeom>
          <a:solidFill>
            <a:srgbClr val="2B3B5C"/>
          </a:solidFill>
          <a:ln/>
        </p:spPr>
      </p:sp>
      <p:sp>
        <p:nvSpPr>
          <p:cNvPr id="35" name="Text 32"/>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6" name="Shape 33"/>
          <p:cNvSpPr/>
          <p:nvPr/>
        </p:nvSpPr>
        <p:spPr>
          <a:xfrm>
            <a:off x="7269480" y="1920240"/>
            <a:ext cx="4370832" cy="2788920"/>
          </a:xfrm>
          <a:prstGeom prst="roundRect">
            <a:avLst>
              <a:gd name="adj" fmla="val 3279"/>
            </a:avLst>
          </a:prstGeom>
          <a:solidFill>
            <a:srgbClr val="F1F5FB"/>
          </a:solidFill>
          <a:ln/>
        </p:spPr>
      </p:sp>
      <p:sp>
        <p:nvSpPr>
          <p:cNvPr id="37" name="Text 34"/>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38" name="Text 35"/>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Opening 20 folders by hand would take ages. Which tool searches for us?</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does the star in  "*.gem"  mean?</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Once find prints a path, how do we read that file?</a:t>
            </a:r>
            <a:endParaRPr lang="en-US" sz="1550" dirty="0"/>
          </a:p>
        </p:txBody>
      </p:sp>
      <p:sp>
        <p:nvSpPr>
          <p:cNvPr id="39" name="Shape 36"/>
          <p:cNvSpPr/>
          <p:nvPr/>
        </p:nvSpPr>
        <p:spPr>
          <a:xfrm>
            <a:off x="7269480" y="4892040"/>
            <a:ext cx="4370832" cy="1051560"/>
          </a:xfrm>
          <a:prstGeom prst="roundRect">
            <a:avLst>
              <a:gd name="adj" fmla="val 8696"/>
            </a:avLst>
          </a:prstGeom>
          <a:solidFill>
            <a:srgbClr val="17875A"/>
          </a:solidFill>
          <a:ln/>
        </p:spPr>
      </p:sp>
      <p:sp>
        <p:nvSpPr>
          <p:cNvPr id="40" name="Text 37"/>
          <p:cNvSpPr txBox="1"/>
          <p:nvPr/>
        </p:nvSpPr>
        <p:spPr>
          <a:xfrm>
            <a:off x="7498080" y="4892040"/>
            <a:ext cx="15544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1" name="Text 38"/>
          <p:cNvSpPr txBox="1"/>
          <p:nvPr/>
        </p:nvSpPr>
        <p:spPr>
          <a:xfrm>
            <a:off x="9098280" y="4892040"/>
            <a:ext cx="2377440" cy="10515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Students try on their own. Reveal after.</a:t>
            </a:r>
            <a:endParaRPr lang="en-US" sz="1350" dirty="0"/>
          </a:p>
        </p:txBody>
      </p:sp>
      <p:sp>
        <p:nvSpPr>
          <p:cNvPr id="42" name="Text 39"/>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66 / 79</a:t>
            </a:r>
            <a:endParaRPr lang="en-US" sz="1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3" name="Shape 0"/>
          <p:cNvSpPr/>
          <p:nvPr/>
        </p:nvSpPr>
        <p:spPr>
          <a:xfrm>
            <a:off x="548640" y="438912"/>
            <a:ext cx="2103120" cy="347472"/>
          </a:xfrm>
          <a:prstGeom prst="roundRect">
            <a:avLst>
              <a:gd name="adj" fmla="val 50000"/>
            </a:avLst>
          </a:prstGeom>
          <a:solidFill>
            <a:srgbClr val="7448D4"/>
          </a:solidFill>
          <a:ln/>
        </p:spPr>
      </p:sp>
      <p:sp>
        <p:nvSpPr>
          <p:cNvPr id="4" name="Text 1"/>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4 of 10</a:t>
            </a:r>
            <a:endParaRPr lang="en-US" sz="1400" dirty="0"/>
          </a:p>
        </p:txBody>
      </p:sp>
      <p:sp>
        <p:nvSpPr>
          <p:cNvPr id="5" name="Shape 2"/>
          <p:cNvSpPr/>
          <p:nvPr/>
        </p:nvSpPr>
        <p:spPr>
          <a:xfrm>
            <a:off x="2788920" y="438912"/>
            <a:ext cx="1828800" cy="347472"/>
          </a:xfrm>
          <a:prstGeom prst="roundRect">
            <a:avLst>
              <a:gd name="adj" fmla="val 50000"/>
            </a:avLst>
          </a:prstGeom>
          <a:solidFill>
            <a:srgbClr val="FFF4DE"/>
          </a:solidFill>
          <a:ln/>
        </p:spPr>
      </p:sp>
      <p:sp>
        <p:nvSpPr>
          <p:cNvPr id="6" name="Text 3"/>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75488"/>
            <a:ext cx="421538" cy="292608"/>
          </a:xfrm>
          <a:prstGeom prst="roundRect">
            <a:avLst>
              <a:gd name="adj" fmla="val 18750"/>
            </a:avLst>
          </a:prstGeom>
          <a:solidFill>
            <a:srgbClr val="2A9FD6"/>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75488"/>
            <a:ext cx="421538" cy="292608"/>
          </a:xfrm>
          <a:prstGeom prst="roundRect">
            <a:avLst>
              <a:gd name="adj" fmla="val 18750"/>
            </a:avLst>
          </a:prstGeom>
          <a:solidFill>
            <a:srgbClr val="2459D8"/>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20624"/>
            <a:ext cx="421538" cy="402336"/>
          </a:xfrm>
          <a:prstGeom prst="roundRect">
            <a:avLst>
              <a:gd name="adj" fmla="val 13636"/>
            </a:avLst>
          </a:prstGeom>
          <a:solidFill>
            <a:srgbClr val="7448D4"/>
          </a:solidFill>
          <a:ln/>
        </p:spPr>
      </p:sp>
      <p:sp>
        <p:nvSpPr>
          <p:cNvPr id="14" name="Text 11"/>
          <p:cNvSpPr txBox="1"/>
          <p:nvPr/>
        </p:nvSpPr>
        <p:spPr>
          <a:xfrm>
            <a:off x="8250631"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5" name="Shape 12"/>
          <p:cNvSpPr/>
          <p:nvPr/>
        </p:nvSpPr>
        <p:spPr>
          <a:xfrm>
            <a:off x="8745322" y="475488"/>
            <a:ext cx="421538" cy="292608"/>
          </a:xfrm>
          <a:prstGeom prst="roundRect">
            <a:avLst>
              <a:gd name="adj" fmla="val 18750"/>
            </a:avLst>
          </a:prstGeom>
          <a:solidFill>
            <a:srgbClr val="E4EAF3"/>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75488"/>
            <a:ext cx="421538" cy="292608"/>
          </a:xfrm>
          <a:prstGeom prst="roundRect">
            <a:avLst>
              <a:gd name="adj" fmla="val 18750"/>
            </a:avLst>
          </a:prstGeom>
          <a:solidFill>
            <a:srgbClr val="E4EAF3"/>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75488"/>
            <a:ext cx="421538" cy="292608"/>
          </a:xfrm>
          <a:prstGeom prst="roundRect">
            <a:avLst>
              <a:gd name="adj" fmla="val 18750"/>
            </a:avLst>
          </a:prstGeom>
          <a:solidFill>
            <a:srgbClr val="E4EAF3"/>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75488"/>
            <a:ext cx="421538" cy="292608"/>
          </a:xfrm>
          <a:prstGeom prst="roundRect">
            <a:avLst>
              <a:gd name="adj" fmla="val 18750"/>
            </a:avLst>
          </a:prstGeom>
          <a:solidFill>
            <a:srgbClr val="E4EAF3"/>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75488"/>
            <a:ext cx="421538" cy="292608"/>
          </a:xfrm>
          <a:prstGeom prst="roundRect">
            <a:avLst>
              <a:gd name="adj" fmla="val 18750"/>
            </a:avLst>
          </a:prstGeom>
          <a:solidFill>
            <a:srgbClr val="E4EAF3"/>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Solving Needle in the tree</a:t>
            </a:r>
            <a:endParaRPr lang="en-US" sz="3000" dirty="0"/>
          </a:p>
        </p:txBody>
      </p:sp>
      <p:sp>
        <p:nvSpPr>
          <p:cNvPr id="28" name="Shape 25"/>
          <p:cNvSpPr/>
          <p:nvPr/>
        </p:nvSpPr>
        <p:spPr>
          <a:xfrm>
            <a:off x="548640" y="1691640"/>
            <a:ext cx="6720840" cy="4251960"/>
          </a:xfrm>
          <a:prstGeom prst="roundRect">
            <a:avLst>
              <a:gd name="adj" fmla="val 2151"/>
            </a:avLst>
          </a:prstGeom>
          <a:solidFill>
            <a:srgbClr val="0E1726"/>
          </a:solidFill>
          <a:ln/>
          <a:effectLst>
            <a:outerShdw sx="100000" sy="100000" kx="0" ky="0" algn="bl" rotWithShape="0" blurRad="127000" dist="38100" dir="5400000">
              <a:srgbClr val="12213A">
                <a:alpha val="22000"/>
              </a:srgbClr>
            </a:outerShdw>
          </a:effectLst>
        </p:spPr>
      </p:sp>
      <p:sp>
        <p:nvSpPr>
          <p:cNvPr id="29" name="Shape 26"/>
          <p:cNvSpPr/>
          <p:nvPr/>
        </p:nvSpPr>
        <p:spPr>
          <a:xfrm>
            <a:off x="749808" y="1847088"/>
            <a:ext cx="118872" cy="118872"/>
          </a:xfrm>
          <a:prstGeom prst="ellipse">
            <a:avLst/>
          </a:prstGeom>
          <a:solidFill>
            <a:srgbClr val="E5534B"/>
          </a:solidFill>
          <a:ln/>
        </p:spPr>
      </p:sp>
      <p:sp>
        <p:nvSpPr>
          <p:cNvPr id="30" name="Shape 27"/>
          <p:cNvSpPr/>
          <p:nvPr/>
        </p:nvSpPr>
        <p:spPr>
          <a:xfrm>
            <a:off x="950976" y="1847088"/>
            <a:ext cx="118872" cy="118872"/>
          </a:xfrm>
          <a:prstGeom prst="ellipse">
            <a:avLst/>
          </a:prstGeom>
          <a:solidFill>
            <a:srgbClr val="F5A623"/>
          </a:solidFill>
          <a:ln/>
        </p:spPr>
      </p:sp>
      <p:sp>
        <p:nvSpPr>
          <p:cNvPr id="31" name="Shape 28"/>
          <p:cNvSpPr/>
          <p:nvPr/>
        </p:nvSpPr>
        <p:spPr>
          <a:xfrm>
            <a:off x="1152144" y="1847088"/>
            <a:ext cx="118872" cy="118872"/>
          </a:xfrm>
          <a:prstGeom prst="ellipse">
            <a:avLst/>
          </a:prstGeom>
          <a:solidFill>
            <a:srgbClr val="46D39A"/>
          </a:solidFill>
          <a:ln/>
        </p:spPr>
      </p:sp>
      <p:sp>
        <p:nvSpPr>
          <p:cNvPr id="32" name="Text 29"/>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3" name="Text 30"/>
          <p:cNvSpPr txBox="1"/>
          <p:nvPr/>
        </p:nvSpPr>
        <p:spPr>
          <a:xfrm>
            <a:off x="822960" y="2148840"/>
            <a:ext cx="6172200" cy="3657600"/>
          </a:xfrm>
          <a:prstGeom prst="rect">
            <a:avLst/>
          </a:prstGeom>
          <a:noFill/>
          <a:ln/>
        </p:spPr>
        <p:txBody>
          <a:bodyPr wrap="square" lIns="0" tIns="0" rIns="0" bIns="0" rtlCol="0" anchor="t"/>
          <a:lstStyle/>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cd ~/mission4</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cat README.txt</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Somewhere in archive/ is ONE file ending in .gem</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It holds the flag.</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find archive -name "*.gem"</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archive/charlie/bin-x7q2/k3d9fa.gem</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cat archive/charlie/bin-x7q2/k3d9fa.gem</a:t>
            </a:r>
            <a:endParaRPr lang="en-US" sz="1400" dirty="0"/>
          </a:p>
          <a:p>
            <a:pPr indent="0" marL="0">
              <a:spcAft>
                <a:spcPts val="200"/>
              </a:spcAft>
              <a:buNone/>
            </a:pPr>
            <a:r>
              <a:rPr lang="en-US" sz="1400" b="1" dirty="0">
                <a:solidFill>
                  <a:srgbClr val="F5A623"/>
                </a:solidFill>
                <a:latin typeface="Courier New" pitchFamily="34" charset="0"/>
                <a:ea typeface="Courier New" pitchFamily="34" charset="-122"/>
                <a:cs typeface="Courier New" pitchFamily="34" charset="-120"/>
              </a:rPr>
              <a:t>Flag: CYBA{finder-...}</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submit CYBA{finder-...}</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Correct! +200 points</a:t>
            </a:r>
            <a:endParaRPr lang="en-US" sz="1400" dirty="0"/>
          </a:p>
        </p:txBody>
      </p:sp>
      <p:sp>
        <p:nvSpPr>
          <p:cNvPr id="34" name="Text 31"/>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5" name="Shape 32"/>
          <p:cNvSpPr/>
          <p:nvPr/>
        </p:nvSpPr>
        <p:spPr>
          <a:xfrm>
            <a:off x="7543800" y="2194560"/>
            <a:ext cx="457200" cy="457200"/>
          </a:xfrm>
          <a:prstGeom prst="ellipse">
            <a:avLst/>
          </a:prstGeom>
          <a:solidFill>
            <a:srgbClr val="7448D4"/>
          </a:solidFill>
          <a:ln/>
        </p:spPr>
      </p:sp>
      <p:sp>
        <p:nvSpPr>
          <p:cNvPr id="36" name="Text 33"/>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7" name="Text 34"/>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README.txt turned 'some file' into a pattern: any name ending in .gem.</a:t>
            </a:r>
            <a:endParaRPr lang="en-US" sz="1400" dirty="0"/>
          </a:p>
        </p:txBody>
      </p:sp>
      <p:sp>
        <p:nvSpPr>
          <p:cNvPr id="38" name="Shape 35"/>
          <p:cNvSpPr/>
          <p:nvPr/>
        </p:nvSpPr>
        <p:spPr>
          <a:xfrm>
            <a:off x="7543800" y="2980944"/>
            <a:ext cx="457200" cy="457200"/>
          </a:xfrm>
          <a:prstGeom prst="ellipse">
            <a:avLst/>
          </a:prstGeom>
          <a:solidFill>
            <a:srgbClr val="7448D4"/>
          </a:solidFill>
          <a:ln/>
        </p:spPr>
      </p:sp>
      <p:sp>
        <p:nvSpPr>
          <p:cNvPr id="39" name="Text 36"/>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0" name="Text 37"/>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find searched every folder below archive in one go.</a:t>
            </a:r>
            <a:endParaRPr lang="en-US" sz="1400" dirty="0"/>
          </a:p>
        </p:txBody>
      </p:sp>
      <p:sp>
        <p:nvSpPr>
          <p:cNvPr id="41" name="Shape 38"/>
          <p:cNvSpPr/>
          <p:nvPr/>
        </p:nvSpPr>
        <p:spPr>
          <a:xfrm>
            <a:off x="7543800" y="3767328"/>
            <a:ext cx="457200" cy="457200"/>
          </a:xfrm>
          <a:prstGeom prst="ellipse">
            <a:avLst/>
          </a:prstGeom>
          <a:solidFill>
            <a:srgbClr val="7448D4"/>
          </a:solidFill>
          <a:ln/>
        </p:spPr>
      </p:sp>
      <p:sp>
        <p:nvSpPr>
          <p:cNvPr id="42" name="Text 39"/>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3" name="Text 40"/>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cat read the file at the exact path find printed.</a:t>
            </a:r>
            <a:endParaRPr lang="en-US" sz="1400" dirty="0"/>
          </a:p>
        </p:txBody>
      </p:sp>
      <p:sp>
        <p:nvSpPr>
          <p:cNvPr id="44" name="Shape 41"/>
          <p:cNvSpPr/>
          <p:nvPr/>
        </p:nvSpPr>
        <p:spPr>
          <a:xfrm>
            <a:off x="7543800" y="4572000"/>
            <a:ext cx="4096512" cy="749808"/>
          </a:xfrm>
          <a:prstGeom prst="roundRect">
            <a:avLst>
              <a:gd name="adj" fmla="val 12195"/>
            </a:avLst>
          </a:prstGeom>
          <a:solidFill>
            <a:srgbClr val="FFF4DC"/>
          </a:solidFill>
          <a:ln/>
        </p:spPr>
      </p:sp>
      <p:sp>
        <p:nvSpPr>
          <p:cNvPr id="45" name="Text 42"/>
          <p:cNvSpPr txBox="1"/>
          <p:nvPr/>
        </p:nvSpPr>
        <p:spPr>
          <a:xfrm>
            <a:off x="7699248" y="4572000"/>
            <a:ext cx="3803904" cy="749808"/>
          </a:xfrm>
          <a:prstGeom prst="rect">
            <a:avLst/>
          </a:prstGeom>
          <a:noFill/>
          <a:ln/>
        </p:spPr>
        <p:txBody>
          <a:bodyPr wrap="square" lIns="0" tIns="0" rIns="0" bIns="0" rtlCol="0" anchor="ctr"/>
          <a:lstStyle/>
          <a:p>
            <a:pPr indent="0" marL="0">
              <a:buNone/>
            </a:pPr>
            <a:r>
              <a:rPr lang="en-US" sz="1300" b="1" dirty="0">
                <a:solidFill>
                  <a:srgbClr val="12213A"/>
                </a:solidFill>
                <a:latin typeface="Calibri" pitchFamily="34" charset="0"/>
                <a:ea typeface="Calibri" pitchFamily="34" charset="-122"/>
                <a:cs typeface="Calibri" pitchFamily="34" charset="-120"/>
              </a:rPr>
              <a:t>Real world: </a:t>
            </a:r>
            <a:pPr indent="0" marL="0">
              <a:buNone/>
            </a:pPr>
            <a:r>
              <a:rPr lang="en-US" sz="1300" dirty="0">
                <a:solidFill>
                  <a:srgbClr val="12213A"/>
                </a:solidFill>
                <a:latin typeface="Calibri" pitchFamily="34" charset="0"/>
                <a:ea typeface="Calibri" pitchFamily="34" charset="-122"/>
                <a:cs typeface="Calibri" pitchFamily="34" charset="-120"/>
              </a:rPr>
              <a:t>Responders search whole servers for key and password files that should not be there.</a:t>
            </a:r>
            <a:endParaRPr lang="en-US" sz="1300" dirty="0"/>
          </a:p>
        </p:txBody>
      </p:sp>
      <p:sp>
        <p:nvSpPr>
          <p:cNvPr id="46" name="Shape 43"/>
          <p:cNvSpPr/>
          <p:nvPr/>
        </p:nvSpPr>
        <p:spPr>
          <a:xfrm>
            <a:off x="7543800" y="5413248"/>
            <a:ext cx="4096512" cy="566928"/>
          </a:xfrm>
          <a:prstGeom prst="roundRect">
            <a:avLst>
              <a:gd name="adj" fmla="val 16129"/>
            </a:avLst>
          </a:prstGeom>
          <a:solidFill>
            <a:srgbClr val="F1F5FB"/>
          </a:solidFill>
          <a:ln/>
        </p:spPr>
      </p:sp>
      <p:sp>
        <p:nvSpPr>
          <p:cNvPr id="47" name="Text 44"/>
          <p:cNvSpPr txBox="1"/>
          <p:nvPr/>
        </p:nvSpPr>
        <p:spPr>
          <a:xfrm>
            <a:off x="7699248" y="5413248"/>
            <a:ext cx="3803904" cy="566928"/>
          </a:xfrm>
          <a:prstGeom prst="rect">
            <a:avLst/>
          </a:prstGeom>
          <a:noFill/>
          <a:ln/>
        </p:spPr>
        <p:txBody>
          <a:bodyPr wrap="square" lIns="0" tIns="0" rIns="0" bIns="0" rtlCol="0" anchor="ctr"/>
          <a:lstStyle/>
          <a:p>
            <a:pPr indent="0" marL="0">
              <a:buNone/>
            </a:pPr>
            <a:r>
              <a:rPr lang="en-US" sz="1200" b="1" dirty="0">
                <a:solidFill>
                  <a:srgbClr val="7448D4"/>
                </a:solidFill>
                <a:latin typeface="Calibri" pitchFamily="34" charset="0"/>
                <a:ea typeface="Calibri" pitchFamily="34" charset="-122"/>
                <a:cs typeface="Calibri" pitchFamily="34" charset="-120"/>
              </a:rPr>
              <a:t>Stretch: </a:t>
            </a:r>
            <a:pPr indent="0" marL="0">
              <a:buNone/>
            </a:pPr>
            <a:r>
              <a:rPr lang="en-US" sz="1200" dirty="0">
                <a:solidFill>
                  <a:srgbClr val="12213A"/>
                </a:solidFill>
                <a:latin typeface="Calibri" pitchFamily="34" charset="0"/>
                <a:ea typeface="Calibri" pitchFamily="34" charset="-122"/>
                <a:cs typeface="Calibri" pitchFamily="34" charset="-120"/>
              </a:rPr>
              <a:t>Type the cat command again, but press Tab after each few letters of the path.</a:t>
            </a:r>
            <a:endParaRPr lang="en-US" sz="1200" dirty="0"/>
          </a:p>
        </p:txBody>
      </p:sp>
      <p:sp>
        <p:nvSpPr>
          <p:cNvPr id="48" name="Text 45"/>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49" name="Text 46"/>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67 / 79</a:t>
            </a:r>
            <a:endParaRPr lang="en-US" sz="1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3" name="Shape 0"/>
          <p:cNvSpPr/>
          <p:nvPr/>
        </p:nvSpPr>
        <p:spPr>
          <a:xfrm>
            <a:off x="548640" y="438912"/>
            <a:ext cx="1828800" cy="347472"/>
          </a:xfrm>
          <a:prstGeom prst="roundRect">
            <a:avLst>
              <a:gd name="adj" fmla="val 50000"/>
            </a:avLst>
          </a:prstGeom>
          <a:solidFill>
            <a:srgbClr val="D1416B"/>
          </a:solidFill>
          <a:ln/>
        </p:spPr>
      </p:sp>
      <p:sp>
        <p:nvSpPr>
          <p:cNvPr id="4" name="Text 1"/>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5 of 10</a:t>
            </a:r>
            <a:endParaRPr lang="en-US" sz="1400" dirty="0"/>
          </a:p>
        </p:txBody>
      </p:sp>
      <p:sp>
        <p:nvSpPr>
          <p:cNvPr id="5" name="Shape 2"/>
          <p:cNvSpPr/>
          <p:nvPr/>
        </p:nvSpPr>
        <p:spPr>
          <a:xfrm>
            <a:off x="2514600" y="438912"/>
            <a:ext cx="1828800" cy="347472"/>
          </a:xfrm>
          <a:prstGeom prst="roundRect">
            <a:avLst>
              <a:gd name="adj" fmla="val 50000"/>
            </a:avLst>
          </a:prstGeom>
          <a:solidFill>
            <a:srgbClr val="FFF4DE"/>
          </a:solidFill>
          <a:ln/>
        </p:spPr>
      </p:sp>
      <p:sp>
        <p:nvSpPr>
          <p:cNvPr id="6" name="Text 3"/>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75488"/>
            <a:ext cx="421538" cy="292608"/>
          </a:xfrm>
          <a:prstGeom prst="roundRect">
            <a:avLst>
              <a:gd name="adj" fmla="val 18750"/>
            </a:avLst>
          </a:prstGeom>
          <a:solidFill>
            <a:srgbClr val="2A9FD6"/>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75488"/>
            <a:ext cx="421538" cy="292608"/>
          </a:xfrm>
          <a:prstGeom prst="roundRect">
            <a:avLst>
              <a:gd name="adj" fmla="val 18750"/>
            </a:avLst>
          </a:prstGeom>
          <a:solidFill>
            <a:srgbClr val="2459D8"/>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75488"/>
            <a:ext cx="421538" cy="292608"/>
          </a:xfrm>
          <a:prstGeom prst="roundRect">
            <a:avLst>
              <a:gd name="adj" fmla="val 18750"/>
            </a:avLst>
          </a:prstGeom>
          <a:solidFill>
            <a:srgbClr val="7448D4"/>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20624"/>
            <a:ext cx="421538" cy="402336"/>
          </a:xfrm>
          <a:prstGeom prst="roundRect">
            <a:avLst>
              <a:gd name="adj" fmla="val 13636"/>
            </a:avLst>
          </a:prstGeom>
          <a:solidFill>
            <a:srgbClr val="D1416B"/>
          </a:solidFill>
          <a:ln/>
        </p:spPr>
      </p:sp>
      <p:sp>
        <p:nvSpPr>
          <p:cNvPr id="16" name="Text 13"/>
          <p:cNvSpPr txBox="1"/>
          <p:nvPr/>
        </p:nvSpPr>
        <p:spPr>
          <a:xfrm>
            <a:off x="8745322"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17" name="Shape 14"/>
          <p:cNvSpPr/>
          <p:nvPr/>
        </p:nvSpPr>
        <p:spPr>
          <a:xfrm>
            <a:off x="9240012" y="475488"/>
            <a:ext cx="421538" cy="292608"/>
          </a:xfrm>
          <a:prstGeom prst="roundRect">
            <a:avLst>
              <a:gd name="adj" fmla="val 18750"/>
            </a:avLst>
          </a:prstGeom>
          <a:solidFill>
            <a:srgbClr val="E4EAF3"/>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75488"/>
            <a:ext cx="421538" cy="292608"/>
          </a:xfrm>
          <a:prstGeom prst="roundRect">
            <a:avLst>
              <a:gd name="adj" fmla="val 18750"/>
            </a:avLst>
          </a:prstGeom>
          <a:solidFill>
            <a:srgbClr val="E4EAF3"/>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75488"/>
            <a:ext cx="421538" cy="292608"/>
          </a:xfrm>
          <a:prstGeom prst="roundRect">
            <a:avLst>
              <a:gd name="adj" fmla="val 18750"/>
            </a:avLst>
          </a:prstGeom>
          <a:solidFill>
            <a:srgbClr val="E4EAF3"/>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75488"/>
            <a:ext cx="421538" cy="292608"/>
          </a:xfrm>
          <a:prstGeom prst="roundRect">
            <a:avLst>
              <a:gd name="adj" fmla="val 18750"/>
            </a:avLst>
          </a:prstGeom>
          <a:solidFill>
            <a:srgbClr val="E4EAF3"/>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Search party</a:t>
            </a:r>
            <a:endParaRPr lang="en-US" sz="4200" dirty="0"/>
          </a:p>
        </p:txBody>
      </p:sp>
      <p:sp>
        <p:nvSpPr>
          <p:cNvPr id="28" name="Shape 25"/>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29" name="Text 26"/>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0" name="Text 27"/>
          <p:cNvSpPr txBox="1"/>
          <p:nvPr/>
        </p:nvSpPr>
        <p:spPr>
          <a:xfrm>
            <a:off x="914400" y="2560320"/>
            <a:ext cx="5715000" cy="2057400"/>
          </a:xfrm>
          <a:prstGeom prst="rect">
            <a:avLst/>
          </a:prstGeom>
          <a:noFill/>
          <a:ln/>
        </p:spPr>
        <p:txBody>
          <a:bodyPr wrap="square" lIns="0" tIns="0" rIns="0" bIns="0" rtlCol="0" anchor="t"/>
          <a:lstStyle/>
          <a:p>
            <a:pPr indent="0" marL="0">
              <a:buNone/>
            </a:pPr>
            <a:r>
              <a:rPr lang="en-US" sz="2200" dirty="0">
                <a:solidFill>
                  <a:srgbClr val="FFFFFF"/>
                </a:solidFill>
                <a:latin typeface="Calibri" pitchFamily="34" charset="0"/>
                <a:ea typeface="Calibri" pitchFamily="34" charset="-122"/>
                <a:cs typeface="Calibri" pitchFamily="34" charset="-120"/>
              </a:rPr>
              <a:t>An intruder logged in once. Their line is buried in access.log, which has 12,000 lines. The token on that line is the flag.</a:t>
            </a:r>
            <a:endParaRPr lang="en-US" sz="2200" dirty="0"/>
          </a:p>
        </p:txBody>
      </p:sp>
      <p:sp>
        <p:nvSpPr>
          <p:cNvPr id="31" name="Text 28"/>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~/mission5</a:t>
            </a:r>
            <a:endParaRPr lang="en-US" sz="1300" dirty="0"/>
          </a:p>
        </p:txBody>
      </p:sp>
      <p:sp>
        <p:nvSpPr>
          <p:cNvPr id="32" name="Shape 29"/>
          <p:cNvSpPr/>
          <p:nvPr/>
        </p:nvSpPr>
        <p:spPr>
          <a:xfrm>
            <a:off x="914400" y="5166360"/>
            <a:ext cx="3291840" cy="502920"/>
          </a:xfrm>
          <a:prstGeom prst="roundRect">
            <a:avLst>
              <a:gd name="adj" fmla="val 14545"/>
            </a:avLst>
          </a:prstGeom>
          <a:solidFill>
            <a:srgbClr val="F5A623"/>
          </a:solidFill>
          <a:ln/>
        </p:spPr>
      </p:sp>
      <p:sp>
        <p:nvSpPr>
          <p:cNvPr id="33" name="Text 30"/>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50" dirty="0">
                <a:solidFill>
                  <a:srgbClr val="12213A"/>
                </a:solidFill>
                <a:latin typeface="Calibri" pitchFamily="34" charset="0"/>
                <a:ea typeface="Calibri" pitchFamily="34" charset="-122"/>
                <a:cs typeface="Calibri" pitchFamily="34" charset="-120"/>
              </a:rPr>
              <a:t>Tools: </a:t>
            </a:r>
            <a:pPr algn="ctr" indent="0" marL="0">
              <a:buNone/>
            </a:pPr>
            <a:r>
              <a:rPr lang="en-US" sz="1350" b="1" dirty="0">
                <a:solidFill>
                  <a:srgbClr val="12213A"/>
                </a:solidFill>
                <a:latin typeface="Courier New" pitchFamily="34" charset="0"/>
                <a:ea typeface="Courier New" pitchFamily="34" charset="-122"/>
                <a:cs typeface="Courier New" pitchFamily="34" charset="-120"/>
              </a:rPr>
              <a:t>grep</a:t>
            </a:r>
            <a:endParaRPr lang="en-US" sz="1350" dirty="0"/>
          </a:p>
        </p:txBody>
      </p:sp>
      <p:sp>
        <p:nvSpPr>
          <p:cNvPr id="34" name="Shape 31"/>
          <p:cNvSpPr/>
          <p:nvPr/>
        </p:nvSpPr>
        <p:spPr>
          <a:xfrm>
            <a:off x="4389120" y="5166360"/>
            <a:ext cx="2240280" cy="502920"/>
          </a:xfrm>
          <a:prstGeom prst="roundRect">
            <a:avLst>
              <a:gd name="adj" fmla="val 14545"/>
            </a:avLst>
          </a:prstGeom>
          <a:solidFill>
            <a:srgbClr val="2B3B5C"/>
          </a:solidFill>
          <a:ln/>
        </p:spPr>
      </p:sp>
      <p:sp>
        <p:nvSpPr>
          <p:cNvPr id="35" name="Text 32"/>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6" name="Shape 33"/>
          <p:cNvSpPr/>
          <p:nvPr/>
        </p:nvSpPr>
        <p:spPr>
          <a:xfrm>
            <a:off x="7269480" y="1920240"/>
            <a:ext cx="4370832" cy="2788920"/>
          </a:xfrm>
          <a:prstGeom prst="roundRect">
            <a:avLst>
              <a:gd name="adj" fmla="val 3279"/>
            </a:avLst>
          </a:prstGeom>
          <a:solidFill>
            <a:srgbClr val="F1F5FB"/>
          </a:solidFill>
          <a:ln/>
        </p:spPr>
      </p:sp>
      <p:sp>
        <p:nvSpPr>
          <p:cNvPr id="37" name="Text 34"/>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38" name="Text 35"/>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happens if we just cat a 12,000-line file?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find searches file names. What searches inside a file?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word should we search for?</a:t>
            </a:r>
            <a:endParaRPr lang="en-US" sz="1550" dirty="0"/>
          </a:p>
        </p:txBody>
      </p:sp>
      <p:sp>
        <p:nvSpPr>
          <p:cNvPr id="39" name="Shape 36"/>
          <p:cNvSpPr/>
          <p:nvPr/>
        </p:nvSpPr>
        <p:spPr>
          <a:xfrm>
            <a:off x="7269480" y="4892040"/>
            <a:ext cx="4370832" cy="1051560"/>
          </a:xfrm>
          <a:prstGeom prst="roundRect">
            <a:avLst>
              <a:gd name="adj" fmla="val 8696"/>
            </a:avLst>
          </a:prstGeom>
          <a:solidFill>
            <a:srgbClr val="17875A"/>
          </a:solidFill>
          <a:ln/>
        </p:spPr>
      </p:sp>
      <p:sp>
        <p:nvSpPr>
          <p:cNvPr id="40" name="Text 37"/>
          <p:cNvSpPr txBox="1"/>
          <p:nvPr/>
        </p:nvSpPr>
        <p:spPr>
          <a:xfrm>
            <a:off x="7498080" y="4892040"/>
            <a:ext cx="15544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1" name="Text 38"/>
          <p:cNvSpPr txBox="1"/>
          <p:nvPr/>
        </p:nvSpPr>
        <p:spPr>
          <a:xfrm>
            <a:off x="9098280" y="4892040"/>
            <a:ext cx="2377440" cy="10515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Students try on their own. Reveal after.</a:t>
            </a:r>
            <a:endParaRPr lang="en-US" sz="1350" dirty="0"/>
          </a:p>
        </p:txBody>
      </p:sp>
      <p:sp>
        <p:nvSpPr>
          <p:cNvPr id="42" name="Text 39"/>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68 / 79</a:t>
            </a:r>
            <a:endParaRPr lang="en-US" sz="1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3" name="Shape 0"/>
          <p:cNvSpPr/>
          <p:nvPr/>
        </p:nvSpPr>
        <p:spPr>
          <a:xfrm>
            <a:off x="548640" y="438912"/>
            <a:ext cx="2103120" cy="347472"/>
          </a:xfrm>
          <a:prstGeom prst="roundRect">
            <a:avLst>
              <a:gd name="adj" fmla="val 50000"/>
            </a:avLst>
          </a:prstGeom>
          <a:solidFill>
            <a:srgbClr val="D1416B"/>
          </a:solidFill>
          <a:ln/>
        </p:spPr>
      </p:sp>
      <p:sp>
        <p:nvSpPr>
          <p:cNvPr id="4" name="Text 1"/>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5 of 10</a:t>
            </a:r>
            <a:endParaRPr lang="en-US" sz="1400" dirty="0"/>
          </a:p>
        </p:txBody>
      </p:sp>
      <p:sp>
        <p:nvSpPr>
          <p:cNvPr id="5" name="Shape 2"/>
          <p:cNvSpPr/>
          <p:nvPr/>
        </p:nvSpPr>
        <p:spPr>
          <a:xfrm>
            <a:off x="2788920" y="438912"/>
            <a:ext cx="1828800" cy="347472"/>
          </a:xfrm>
          <a:prstGeom prst="roundRect">
            <a:avLst>
              <a:gd name="adj" fmla="val 50000"/>
            </a:avLst>
          </a:prstGeom>
          <a:solidFill>
            <a:srgbClr val="FFF4DE"/>
          </a:solidFill>
          <a:ln/>
        </p:spPr>
      </p:sp>
      <p:sp>
        <p:nvSpPr>
          <p:cNvPr id="6" name="Text 3"/>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75488"/>
            <a:ext cx="421538" cy="292608"/>
          </a:xfrm>
          <a:prstGeom prst="roundRect">
            <a:avLst>
              <a:gd name="adj" fmla="val 18750"/>
            </a:avLst>
          </a:prstGeom>
          <a:solidFill>
            <a:srgbClr val="2A9FD6"/>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75488"/>
            <a:ext cx="421538" cy="292608"/>
          </a:xfrm>
          <a:prstGeom prst="roundRect">
            <a:avLst>
              <a:gd name="adj" fmla="val 18750"/>
            </a:avLst>
          </a:prstGeom>
          <a:solidFill>
            <a:srgbClr val="2459D8"/>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75488"/>
            <a:ext cx="421538" cy="292608"/>
          </a:xfrm>
          <a:prstGeom prst="roundRect">
            <a:avLst>
              <a:gd name="adj" fmla="val 18750"/>
            </a:avLst>
          </a:prstGeom>
          <a:solidFill>
            <a:srgbClr val="7448D4"/>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20624"/>
            <a:ext cx="421538" cy="402336"/>
          </a:xfrm>
          <a:prstGeom prst="roundRect">
            <a:avLst>
              <a:gd name="adj" fmla="val 13636"/>
            </a:avLst>
          </a:prstGeom>
          <a:solidFill>
            <a:srgbClr val="D1416B"/>
          </a:solidFill>
          <a:ln/>
        </p:spPr>
      </p:sp>
      <p:sp>
        <p:nvSpPr>
          <p:cNvPr id="16" name="Text 13"/>
          <p:cNvSpPr txBox="1"/>
          <p:nvPr/>
        </p:nvSpPr>
        <p:spPr>
          <a:xfrm>
            <a:off x="8745322"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17" name="Shape 14"/>
          <p:cNvSpPr/>
          <p:nvPr/>
        </p:nvSpPr>
        <p:spPr>
          <a:xfrm>
            <a:off x="9240012" y="475488"/>
            <a:ext cx="421538" cy="292608"/>
          </a:xfrm>
          <a:prstGeom prst="roundRect">
            <a:avLst>
              <a:gd name="adj" fmla="val 18750"/>
            </a:avLst>
          </a:prstGeom>
          <a:solidFill>
            <a:srgbClr val="E4EAF3"/>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75488"/>
            <a:ext cx="421538" cy="292608"/>
          </a:xfrm>
          <a:prstGeom prst="roundRect">
            <a:avLst>
              <a:gd name="adj" fmla="val 18750"/>
            </a:avLst>
          </a:prstGeom>
          <a:solidFill>
            <a:srgbClr val="E4EAF3"/>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75488"/>
            <a:ext cx="421538" cy="292608"/>
          </a:xfrm>
          <a:prstGeom prst="roundRect">
            <a:avLst>
              <a:gd name="adj" fmla="val 18750"/>
            </a:avLst>
          </a:prstGeom>
          <a:solidFill>
            <a:srgbClr val="E4EAF3"/>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75488"/>
            <a:ext cx="421538" cy="292608"/>
          </a:xfrm>
          <a:prstGeom prst="roundRect">
            <a:avLst>
              <a:gd name="adj" fmla="val 18750"/>
            </a:avLst>
          </a:prstGeom>
          <a:solidFill>
            <a:srgbClr val="E4EAF3"/>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Solving Search party</a:t>
            </a:r>
            <a:endParaRPr lang="en-US" sz="3000" dirty="0"/>
          </a:p>
        </p:txBody>
      </p:sp>
      <p:sp>
        <p:nvSpPr>
          <p:cNvPr id="28" name="Shape 25"/>
          <p:cNvSpPr/>
          <p:nvPr/>
        </p:nvSpPr>
        <p:spPr>
          <a:xfrm>
            <a:off x="548640" y="1691640"/>
            <a:ext cx="6720840" cy="4251960"/>
          </a:xfrm>
          <a:prstGeom prst="roundRect">
            <a:avLst>
              <a:gd name="adj" fmla="val 2151"/>
            </a:avLst>
          </a:prstGeom>
          <a:solidFill>
            <a:srgbClr val="0E1726"/>
          </a:solidFill>
          <a:ln/>
          <a:effectLst>
            <a:outerShdw sx="100000" sy="100000" kx="0" ky="0" algn="bl" rotWithShape="0" blurRad="127000" dist="38100" dir="5400000">
              <a:srgbClr val="12213A">
                <a:alpha val="22000"/>
              </a:srgbClr>
            </a:outerShdw>
          </a:effectLst>
        </p:spPr>
      </p:sp>
      <p:sp>
        <p:nvSpPr>
          <p:cNvPr id="29" name="Shape 26"/>
          <p:cNvSpPr/>
          <p:nvPr/>
        </p:nvSpPr>
        <p:spPr>
          <a:xfrm>
            <a:off x="749808" y="1847088"/>
            <a:ext cx="118872" cy="118872"/>
          </a:xfrm>
          <a:prstGeom prst="ellipse">
            <a:avLst/>
          </a:prstGeom>
          <a:solidFill>
            <a:srgbClr val="E5534B"/>
          </a:solidFill>
          <a:ln/>
        </p:spPr>
      </p:sp>
      <p:sp>
        <p:nvSpPr>
          <p:cNvPr id="30" name="Shape 27"/>
          <p:cNvSpPr/>
          <p:nvPr/>
        </p:nvSpPr>
        <p:spPr>
          <a:xfrm>
            <a:off x="950976" y="1847088"/>
            <a:ext cx="118872" cy="118872"/>
          </a:xfrm>
          <a:prstGeom prst="ellipse">
            <a:avLst/>
          </a:prstGeom>
          <a:solidFill>
            <a:srgbClr val="F5A623"/>
          </a:solidFill>
          <a:ln/>
        </p:spPr>
      </p:sp>
      <p:sp>
        <p:nvSpPr>
          <p:cNvPr id="31" name="Shape 28"/>
          <p:cNvSpPr/>
          <p:nvPr/>
        </p:nvSpPr>
        <p:spPr>
          <a:xfrm>
            <a:off x="1152144" y="1847088"/>
            <a:ext cx="118872" cy="118872"/>
          </a:xfrm>
          <a:prstGeom prst="ellipse">
            <a:avLst/>
          </a:prstGeom>
          <a:solidFill>
            <a:srgbClr val="46D39A"/>
          </a:solidFill>
          <a:ln/>
        </p:spPr>
      </p:sp>
      <p:sp>
        <p:nvSpPr>
          <p:cNvPr id="32" name="Text 29"/>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3" name="Text 30"/>
          <p:cNvSpPr txBox="1"/>
          <p:nvPr/>
        </p:nvSpPr>
        <p:spPr>
          <a:xfrm>
            <a:off x="822960" y="2148840"/>
            <a:ext cx="6172200" cy="3657600"/>
          </a:xfrm>
          <a:prstGeom prst="rect">
            <a:avLst/>
          </a:prstGeom>
          <a:noFill/>
          <a:ln/>
        </p:spPr>
        <p:txBody>
          <a:bodyPr wrap="square" lIns="0" tIns="0" rIns="0" bIns="0" rtlCol="0" anchor="t"/>
          <a:lstStyle/>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cd ~/mission5</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cat README.txt</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An intruder logged in ONCE as:  red_panda</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wc -l access.log</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12000 access.log</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head -2 access.log</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08:00:00 user=erin action=LOGOUT token=1cca26ec</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08:00:01 user=ivan action=LOGIN_FAIL token=5bb550e1</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grep red_panda access.log</a:t>
            </a:r>
            <a:endParaRPr lang="en-US" sz="1200" dirty="0"/>
          </a:p>
          <a:p>
            <a:pPr indent="0" marL="0">
              <a:spcAft>
                <a:spcPts val="200"/>
              </a:spcAft>
              <a:buNone/>
            </a:pPr>
            <a:r>
              <a:rPr lang="en-US" sz="1200" b="1" dirty="0">
                <a:solidFill>
                  <a:srgbClr val="F5A623"/>
                </a:solidFill>
                <a:latin typeface="Courier New" pitchFamily="34" charset="0"/>
                <a:ea typeface="Courier New" pitchFamily="34" charset="-122"/>
                <a:cs typeface="Courier New" pitchFamily="34" charset="-120"/>
              </a:rPr>
              <a:t>10:47:13 user=red_panda action=LOGIN_OK token=CYBA{grep-...}</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submit CYBA{grep-...}</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Correct! +200 points</a:t>
            </a:r>
            <a:endParaRPr lang="en-US" sz="1200" dirty="0"/>
          </a:p>
        </p:txBody>
      </p:sp>
      <p:sp>
        <p:nvSpPr>
          <p:cNvPr id="34" name="Text 31"/>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5" name="Shape 32"/>
          <p:cNvSpPr/>
          <p:nvPr/>
        </p:nvSpPr>
        <p:spPr>
          <a:xfrm>
            <a:off x="7543800" y="2194560"/>
            <a:ext cx="457200" cy="457200"/>
          </a:xfrm>
          <a:prstGeom prst="ellipse">
            <a:avLst/>
          </a:prstGeom>
          <a:solidFill>
            <a:srgbClr val="D1416B"/>
          </a:solidFill>
          <a:ln/>
        </p:spPr>
      </p:sp>
      <p:sp>
        <p:nvSpPr>
          <p:cNvPr id="36" name="Text 33"/>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7" name="Text 34"/>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wc -l proved the log is far too long to read.</a:t>
            </a:r>
            <a:endParaRPr lang="en-US" sz="1400" dirty="0"/>
          </a:p>
        </p:txBody>
      </p:sp>
      <p:sp>
        <p:nvSpPr>
          <p:cNvPr id="38" name="Shape 35"/>
          <p:cNvSpPr/>
          <p:nvPr/>
        </p:nvSpPr>
        <p:spPr>
          <a:xfrm>
            <a:off x="7543800" y="2980944"/>
            <a:ext cx="457200" cy="457200"/>
          </a:xfrm>
          <a:prstGeom prst="ellipse">
            <a:avLst/>
          </a:prstGeom>
          <a:solidFill>
            <a:srgbClr val="D1416B"/>
          </a:solidFill>
          <a:ln/>
        </p:spPr>
      </p:sp>
      <p:sp>
        <p:nvSpPr>
          <p:cNvPr id="39" name="Text 36"/>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0" name="Text 37"/>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head showed the shape of one line: time, user, action, token.</a:t>
            </a:r>
            <a:endParaRPr lang="en-US" sz="1400" dirty="0"/>
          </a:p>
        </p:txBody>
      </p:sp>
      <p:sp>
        <p:nvSpPr>
          <p:cNvPr id="41" name="Shape 38"/>
          <p:cNvSpPr/>
          <p:nvPr/>
        </p:nvSpPr>
        <p:spPr>
          <a:xfrm>
            <a:off x="7543800" y="3767328"/>
            <a:ext cx="457200" cy="457200"/>
          </a:xfrm>
          <a:prstGeom prst="ellipse">
            <a:avLst/>
          </a:prstGeom>
          <a:solidFill>
            <a:srgbClr val="D1416B"/>
          </a:solidFill>
          <a:ln/>
        </p:spPr>
      </p:sp>
      <p:sp>
        <p:nvSpPr>
          <p:cNvPr id="42" name="Text 39"/>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3" name="Text 40"/>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grep kept only the intruder's line. The token is the flag.</a:t>
            </a:r>
            <a:endParaRPr lang="en-US" sz="1400" dirty="0"/>
          </a:p>
        </p:txBody>
      </p:sp>
      <p:sp>
        <p:nvSpPr>
          <p:cNvPr id="44" name="Shape 41"/>
          <p:cNvSpPr/>
          <p:nvPr/>
        </p:nvSpPr>
        <p:spPr>
          <a:xfrm>
            <a:off x="7543800" y="4572000"/>
            <a:ext cx="4096512" cy="749808"/>
          </a:xfrm>
          <a:prstGeom prst="roundRect">
            <a:avLst>
              <a:gd name="adj" fmla="val 12195"/>
            </a:avLst>
          </a:prstGeom>
          <a:solidFill>
            <a:srgbClr val="FFF4DC"/>
          </a:solidFill>
          <a:ln/>
        </p:spPr>
      </p:sp>
      <p:sp>
        <p:nvSpPr>
          <p:cNvPr id="45" name="Text 42"/>
          <p:cNvSpPr txBox="1"/>
          <p:nvPr/>
        </p:nvSpPr>
        <p:spPr>
          <a:xfrm>
            <a:off x="7699248" y="4572000"/>
            <a:ext cx="3803904" cy="749808"/>
          </a:xfrm>
          <a:prstGeom prst="rect">
            <a:avLst/>
          </a:prstGeom>
          <a:noFill/>
          <a:ln/>
        </p:spPr>
        <p:txBody>
          <a:bodyPr wrap="square" lIns="0" tIns="0" rIns="0" bIns="0" rtlCol="0" anchor="ctr"/>
          <a:lstStyle/>
          <a:p>
            <a:pPr indent="0" marL="0">
              <a:buNone/>
            </a:pPr>
            <a:r>
              <a:rPr lang="en-US" sz="1300" b="1" dirty="0">
                <a:solidFill>
                  <a:srgbClr val="12213A"/>
                </a:solidFill>
                <a:latin typeface="Calibri" pitchFamily="34" charset="0"/>
                <a:ea typeface="Calibri" pitchFamily="34" charset="-122"/>
                <a:cs typeface="Calibri" pitchFamily="34" charset="-120"/>
              </a:rPr>
              <a:t>Real world: </a:t>
            </a:r>
            <a:pPr indent="0" marL="0">
              <a:buNone/>
            </a:pPr>
            <a:r>
              <a:rPr lang="en-US" sz="1300" dirty="0">
                <a:solidFill>
                  <a:srgbClr val="12213A"/>
                </a:solidFill>
                <a:latin typeface="Calibri" pitchFamily="34" charset="0"/>
                <a:ea typeface="Calibri" pitchFamily="34" charset="-122"/>
                <a:cs typeface="Calibri" pitchFamily="34" charset="-120"/>
              </a:rPr>
              <a:t>Security analysts search millions of log lines for one name or address every day.</a:t>
            </a:r>
            <a:endParaRPr lang="en-US" sz="1300" dirty="0"/>
          </a:p>
        </p:txBody>
      </p:sp>
      <p:sp>
        <p:nvSpPr>
          <p:cNvPr id="46" name="Shape 43"/>
          <p:cNvSpPr/>
          <p:nvPr/>
        </p:nvSpPr>
        <p:spPr>
          <a:xfrm>
            <a:off x="7543800" y="5413248"/>
            <a:ext cx="4096512" cy="566928"/>
          </a:xfrm>
          <a:prstGeom prst="roundRect">
            <a:avLst>
              <a:gd name="adj" fmla="val 16129"/>
            </a:avLst>
          </a:prstGeom>
          <a:solidFill>
            <a:srgbClr val="F1F5FB"/>
          </a:solidFill>
          <a:ln/>
        </p:spPr>
      </p:sp>
      <p:sp>
        <p:nvSpPr>
          <p:cNvPr id="47" name="Text 44"/>
          <p:cNvSpPr txBox="1"/>
          <p:nvPr/>
        </p:nvSpPr>
        <p:spPr>
          <a:xfrm>
            <a:off x="7699248" y="5413248"/>
            <a:ext cx="3803904" cy="566928"/>
          </a:xfrm>
          <a:prstGeom prst="rect">
            <a:avLst/>
          </a:prstGeom>
          <a:noFill/>
          <a:ln/>
        </p:spPr>
        <p:txBody>
          <a:bodyPr wrap="square" lIns="0" tIns="0" rIns="0" bIns="0" rtlCol="0" anchor="ctr"/>
          <a:lstStyle/>
          <a:p>
            <a:pPr indent="0" marL="0">
              <a:buNone/>
            </a:pPr>
            <a:r>
              <a:rPr lang="en-US" sz="1200" b="1" dirty="0">
                <a:solidFill>
                  <a:srgbClr val="D1416B"/>
                </a:solidFill>
                <a:latin typeface="Calibri" pitchFamily="34" charset="0"/>
                <a:ea typeface="Calibri" pitchFamily="34" charset="-122"/>
                <a:cs typeface="Calibri" pitchFamily="34" charset="-120"/>
              </a:rPr>
              <a:t>Stretch: </a:t>
            </a:r>
            <a:pPr indent="0" marL="0">
              <a:buNone/>
            </a:pPr>
            <a:r>
              <a:rPr lang="en-US" sz="1200" dirty="0">
                <a:solidFill>
                  <a:srgbClr val="12213A"/>
                </a:solidFill>
                <a:latin typeface="Calibri" pitchFamily="34" charset="0"/>
                <a:ea typeface="Calibri" pitchFamily="34" charset="-122"/>
                <a:cs typeface="Calibri" pitchFamily="34" charset="-120"/>
              </a:rPr>
              <a:t>Try  grep -c LOGIN_OK access.log  . What does -c change?</a:t>
            </a:r>
            <a:endParaRPr lang="en-US" sz="1200" dirty="0"/>
          </a:p>
        </p:txBody>
      </p:sp>
      <p:sp>
        <p:nvSpPr>
          <p:cNvPr id="48" name="Text 45"/>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49" name="Text 46"/>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69 / 79</a:t>
            </a:r>
            <a:endParaRPr lang="en-US" sz="1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3" name="Shape 0"/>
          <p:cNvSpPr/>
          <p:nvPr/>
        </p:nvSpPr>
        <p:spPr>
          <a:xfrm>
            <a:off x="548640" y="438912"/>
            <a:ext cx="1828800" cy="347472"/>
          </a:xfrm>
          <a:prstGeom prst="roundRect">
            <a:avLst>
              <a:gd name="adj" fmla="val 50000"/>
            </a:avLst>
          </a:prstGeom>
          <a:solidFill>
            <a:srgbClr val="E8820C"/>
          </a:solidFill>
          <a:ln/>
        </p:spPr>
      </p:sp>
      <p:sp>
        <p:nvSpPr>
          <p:cNvPr id="4" name="Text 1"/>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6 of 10</a:t>
            </a:r>
            <a:endParaRPr lang="en-US" sz="1400" dirty="0"/>
          </a:p>
        </p:txBody>
      </p:sp>
      <p:sp>
        <p:nvSpPr>
          <p:cNvPr id="5" name="Shape 2"/>
          <p:cNvSpPr/>
          <p:nvPr/>
        </p:nvSpPr>
        <p:spPr>
          <a:xfrm>
            <a:off x="2514600" y="438912"/>
            <a:ext cx="1828800" cy="347472"/>
          </a:xfrm>
          <a:prstGeom prst="roundRect">
            <a:avLst>
              <a:gd name="adj" fmla="val 50000"/>
            </a:avLst>
          </a:prstGeom>
          <a:solidFill>
            <a:srgbClr val="FFF4DE"/>
          </a:solidFill>
          <a:ln/>
        </p:spPr>
      </p:sp>
      <p:sp>
        <p:nvSpPr>
          <p:cNvPr id="6" name="Text 3"/>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75488"/>
            <a:ext cx="421538" cy="292608"/>
          </a:xfrm>
          <a:prstGeom prst="roundRect">
            <a:avLst>
              <a:gd name="adj" fmla="val 18750"/>
            </a:avLst>
          </a:prstGeom>
          <a:solidFill>
            <a:srgbClr val="2A9FD6"/>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75488"/>
            <a:ext cx="421538" cy="292608"/>
          </a:xfrm>
          <a:prstGeom prst="roundRect">
            <a:avLst>
              <a:gd name="adj" fmla="val 18750"/>
            </a:avLst>
          </a:prstGeom>
          <a:solidFill>
            <a:srgbClr val="2459D8"/>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75488"/>
            <a:ext cx="421538" cy="292608"/>
          </a:xfrm>
          <a:prstGeom prst="roundRect">
            <a:avLst>
              <a:gd name="adj" fmla="val 18750"/>
            </a:avLst>
          </a:prstGeom>
          <a:solidFill>
            <a:srgbClr val="7448D4"/>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75488"/>
            <a:ext cx="421538" cy="292608"/>
          </a:xfrm>
          <a:prstGeom prst="roundRect">
            <a:avLst>
              <a:gd name="adj" fmla="val 18750"/>
            </a:avLst>
          </a:prstGeom>
          <a:solidFill>
            <a:srgbClr val="D1416B"/>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20624"/>
            <a:ext cx="421538" cy="402336"/>
          </a:xfrm>
          <a:prstGeom prst="roundRect">
            <a:avLst>
              <a:gd name="adj" fmla="val 13636"/>
            </a:avLst>
          </a:prstGeom>
          <a:solidFill>
            <a:srgbClr val="E8820C"/>
          </a:solidFill>
          <a:ln/>
        </p:spPr>
      </p:sp>
      <p:sp>
        <p:nvSpPr>
          <p:cNvPr id="18" name="Text 15"/>
          <p:cNvSpPr txBox="1"/>
          <p:nvPr/>
        </p:nvSpPr>
        <p:spPr>
          <a:xfrm>
            <a:off x="9240012"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19" name="Shape 16"/>
          <p:cNvSpPr/>
          <p:nvPr/>
        </p:nvSpPr>
        <p:spPr>
          <a:xfrm>
            <a:off x="9734702" y="475488"/>
            <a:ext cx="421538" cy="292608"/>
          </a:xfrm>
          <a:prstGeom prst="roundRect">
            <a:avLst>
              <a:gd name="adj" fmla="val 18750"/>
            </a:avLst>
          </a:prstGeom>
          <a:solidFill>
            <a:srgbClr val="E4EAF3"/>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75488"/>
            <a:ext cx="421538" cy="292608"/>
          </a:xfrm>
          <a:prstGeom prst="roundRect">
            <a:avLst>
              <a:gd name="adj" fmla="val 18750"/>
            </a:avLst>
          </a:prstGeom>
          <a:solidFill>
            <a:srgbClr val="E4EAF3"/>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75488"/>
            <a:ext cx="421538" cy="292608"/>
          </a:xfrm>
          <a:prstGeom prst="roundRect">
            <a:avLst>
              <a:gd name="adj" fmla="val 18750"/>
            </a:avLst>
          </a:prstGeom>
          <a:solidFill>
            <a:srgbClr val="E4EAF3"/>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Odd one out</a:t>
            </a:r>
            <a:endParaRPr lang="en-US" sz="4200" dirty="0"/>
          </a:p>
        </p:txBody>
      </p:sp>
      <p:sp>
        <p:nvSpPr>
          <p:cNvPr id="28" name="Shape 25"/>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29" name="Text 26"/>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0" name="Text 27"/>
          <p:cNvSpPr txBox="1"/>
          <p:nvPr/>
        </p:nvSpPr>
        <p:spPr>
          <a:xfrm>
            <a:off x="914400" y="2560320"/>
            <a:ext cx="5715000" cy="2057400"/>
          </a:xfrm>
          <a:prstGeom prst="rect">
            <a:avLst/>
          </a:prstGeom>
          <a:noFill/>
          <a:ln/>
        </p:spPr>
        <p:txBody>
          <a:bodyPr wrap="square" lIns="0" tIns="0" rIns="0" bIns="0" rtlCol="0" anchor="t"/>
          <a:lstStyle/>
          <a:p>
            <a:pPr indent="0" marL="0">
              <a:buNone/>
            </a:pPr>
            <a:r>
              <a:rPr lang="en-US" sz="2200" dirty="0">
                <a:solidFill>
                  <a:srgbClr val="FFFFFF"/>
                </a:solidFill>
                <a:latin typeface="Calibri" pitchFamily="34" charset="0"/>
                <a:ea typeface="Calibri" pitchFamily="34" charset="-122"/>
                <a:cs typeface="Calibri" pitchFamily="34" charset="-120"/>
              </a:rPr>
              <a:t>codes.txt holds about 900 flags. Every fake one appears at least twice; the real one appears exactly once. Sort the lines so twins sit together, then keep the loner.</a:t>
            </a:r>
            <a:endParaRPr lang="en-US" sz="2200" dirty="0"/>
          </a:p>
        </p:txBody>
      </p:sp>
      <p:sp>
        <p:nvSpPr>
          <p:cNvPr id="31" name="Text 28"/>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~/mission6</a:t>
            </a:r>
            <a:endParaRPr lang="en-US" sz="1300" dirty="0"/>
          </a:p>
        </p:txBody>
      </p:sp>
      <p:sp>
        <p:nvSpPr>
          <p:cNvPr id="32" name="Shape 29"/>
          <p:cNvSpPr/>
          <p:nvPr/>
        </p:nvSpPr>
        <p:spPr>
          <a:xfrm>
            <a:off x="914400" y="5166360"/>
            <a:ext cx="3291840" cy="502920"/>
          </a:xfrm>
          <a:prstGeom prst="roundRect">
            <a:avLst>
              <a:gd name="adj" fmla="val 14545"/>
            </a:avLst>
          </a:prstGeom>
          <a:solidFill>
            <a:srgbClr val="F5A623"/>
          </a:solidFill>
          <a:ln/>
        </p:spPr>
      </p:sp>
      <p:sp>
        <p:nvSpPr>
          <p:cNvPr id="33" name="Text 30"/>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50" dirty="0">
                <a:solidFill>
                  <a:srgbClr val="12213A"/>
                </a:solidFill>
                <a:latin typeface="Calibri" pitchFamily="34" charset="0"/>
                <a:ea typeface="Calibri" pitchFamily="34" charset="-122"/>
                <a:cs typeface="Calibri" pitchFamily="34" charset="-120"/>
              </a:rPr>
              <a:t>Tools: </a:t>
            </a:r>
            <a:pPr algn="ctr" indent="0" marL="0">
              <a:buNone/>
            </a:pPr>
            <a:r>
              <a:rPr lang="en-US" sz="1350" b="1" dirty="0">
                <a:solidFill>
                  <a:srgbClr val="12213A"/>
                </a:solidFill>
                <a:latin typeface="Courier New" pitchFamily="34" charset="0"/>
                <a:ea typeface="Courier New" pitchFamily="34" charset="-122"/>
                <a:cs typeface="Courier New" pitchFamily="34" charset="-120"/>
              </a:rPr>
              <a:t>sort  uniq  |</a:t>
            </a:r>
            <a:endParaRPr lang="en-US" sz="1350" dirty="0"/>
          </a:p>
        </p:txBody>
      </p:sp>
      <p:sp>
        <p:nvSpPr>
          <p:cNvPr id="34" name="Shape 31"/>
          <p:cNvSpPr/>
          <p:nvPr/>
        </p:nvSpPr>
        <p:spPr>
          <a:xfrm>
            <a:off x="4389120" y="5166360"/>
            <a:ext cx="2240280" cy="502920"/>
          </a:xfrm>
          <a:prstGeom prst="roundRect">
            <a:avLst>
              <a:gd name="adj" fmla="val 14545"/>
            </a:avLst>
          </a:prstGeom>
          <a:solidFill>
            <a:srgbClr val="2B3B5C"/>
          </a:solidFill>
          <a:ln/>
        </p:spPr>
      </p:sp>
      <p:sp>
        <p:nvSpPr>
          <p:cNvPr id="35" name="Text 32"/>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6" name="Shape 33"/>
          <p:cNvSpPr/>
          <p:nvPr/>
        </p:nvSpPr>
        <p:spPr>
          <a:xfrm>
            <a:off x="7269480" y="1920240"/>
            <a:ext cx="4370832" cy="2788920"/>
          </a:xfrm>
          <a:prstGeom prst="roundRect">
            <a:avLst>
              <a:gd name="adj" fmla="val 3279"/>
            </a:avLst>
          </a:prstGeom>
          <a:solidFill>
            <a:srgbClr val="F1F5FB"/>
          </a:solidFill>
          <a:ln/>
        </p:spPr>
      </p:sp>
      <p:sp>
        <p:nvSpPr>
          <p:cNvPr id="37" name="Text 34"/>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38" name="Text 35"/>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Why would sorting help us spot duplicates?</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does the | symbol do with two commands?</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Which uniq option keeps only the lines with no twin?</a:t>
            </a:r>
            <a:endParaRPr lang="en-US" sz="1550" dirty="0"/>
          </a:p>
        </p:txBody>
      </p:sp>
      <p:sp>
        <p:nvSpPr>
          <p:cNvPr id="39" name="Shape 36"/>
          <p:cNvSpPr/>
          <p:nvPr/>
        </p:nvSpPr>
        <p:spPr>
          <a:xfrm>
            <a:off x="7269480" y="4892040"/>
            <a:ext cx="4370832" cy="1051560"/>
          </a:xfrm>
          <a:prstGeom prst="roundRect">
            <a:avLst>
              <a:gd name="adj" fmla="val 8696"/>
            </a:avLst>
          </a:prstGeom>
          <a:solidFill>
            <a:srgbClr val="17875A"/>
          </a:solidFill>
          <a:ln/>
        </p:spPr>
      </p:sp>
      <p:sp>
        <p:nvSpPr>
          <p:cNvPr id="40" name="Text 37"/>
          <p:cNvSpPr txBox="1"/>
          <p:nvPr/>
        </p:nvSpPr>
        <p:spPr>
          <a:xfrm>
            <a:off x="7498080" y="4892040"/>
            <a:ext cx="15544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1" name="Text 38"/>
          <p:cNvSpPr txBox="1"/>
          <p:nvPr/>
        </p:nvSpPr>
        <p:spPr>
          <a:xfrm>
            <a:off x="9098280" y="4892040"/>
            <a:ext cx="2377440" cy="10515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Students try on their own. Reveal after.</a:t>
            </a:r>
            <a:endParaRPr lang="en-US" sz="1350" dirty="0"/>
          </a:p>
        </p:txBody>
      </p:sp>
      <p:sp>
        <p:nvSpPr>
          <p:cNvPr id="42" name="Text 39"/>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70 / 79</a:t>
            </a:r>
            <a:endParaRPr lang="en-US" sz="1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3" name="Shape 0"/>
          <p:cNvSpPr/>
          <p:nvPr/>
        </p:nvSpPr>
        <p:spPr>
          <a:xfrm>
            <a:off x="548640" y="438912"/>
            <a:ext cx="2103120" cy="347472"/>
          </a:xfrm>
          <a:prstGeom prst="roundRect">
            <a:avLst>
              <a:gd name="adj" fmla="val 50000"/>
            </a:avLst>
          </a:prstGeom>
          <a:solidFill>
            <a:srgbClr val="E8820C"/>
          </a:solidFill>
          <a:ln/>
        </p:spPr>
      </p:sp>
      <p:sp>
        <p:nvSpPr>
          <p:cNvPr id="4" name="Text 1"/>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6 of 10</a:t>
            </a:r>
            <a:endParaRPr lang="en-US" sz="1400" dirty="0"/>
          </a:p>
        </p:txBody>
      </p:sp>
      <p:sp>
        <p:nvSpPr>
          <p:cNvPr id="5" name="Shape 2"/>
          <p:cNvSpPr/>
          <p:nvPr/>
        </p:nvSpPr>
        <p:spPr>
          <a:xfrm>
            <a:off x="2788920" y="438912"/>
            <a:ext cx="1828800" cy="347472"/>
          </a:xfrm>
          <a:prstGeom prst="roundRect">
            <a:avLst>
              <a:gd name="adj" fmla="val 50000"/>
            </a:avLst>
          </a:prstGeom>
          <a:solidFill>
            <a:srgbClr val="FFF4DE"/>
          </a:solidFill>
          <a:ln/>
        </p:spPr>
      </p:sp>
      <p:sp>
        <p:nvSpPr>
          <p:cNvPr id="6" name="Text 3"/>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75488"/>
            <a:ext cx="421538" cy="292608"/>
          </a:xfrm>
          <a:prstGeom prst="roundRect">
            <a:avLst>
              <a:gd name="adj" fmla="val 18750"/>
            </a:avLst>
          </a:prstGeom>
          <a:solidFill>
            <a:srgbClr val="2A9FD6"/>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75488"/>
            <a:ext cx="421538" cy="292608"/>
          </a:xfrm>
          <a:prstGeom prst="roundRect">
            <a:avLst>
              <a:gd name="adj" fmla="val 18750"/>
            </a:avLst>
          </a:prstGeom>
          <a:solidFill>
            <a:srgbClr val="2459D8"/>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75488"/>
            <a:ext cx="421538" cy="292608"/>
          </a:xfrm>
          <a:prstGeom prst="roundRect">
            <a:avLst>
              <a:gd name="adj" fmla="val 18750"/>
            </a:avLst>
          </a:prstGeom>
          <a:solidFill>
            <a:srgbClr val="7448D4"/>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75488"/>
            <a:ext cx="421538" cy="292608"/>
          </a:xfrm>
          <a:prstGeom prst="roundRect">
            <a:avLst>
              <a:gd name="adj" fmla="val 18750"/>
            </a:avLst>
          </a:prstGeom>
          <a:solidFill>
            <a:srgbClr val="D1416B"/>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20624"/>
            <a:ext cx="421538" cy="402336"/>
          </a:xfrm>
          <a:prstGeom prst="roundRect">
            <a:avLst>
              <a:gd name="adj" fmla="val 13636"/>
            </a:avLst>
          </a:prstGeom>
          <a:solidFill>
            <a:srgbClr val="E8820C"/>
          </a:solidFill>
          <a:ln/>
        </p:spPr>
      </p:sp>
      <p:sp>
        <p:nvSpPr>
          <p:cNvPr id="18" name="Text 15"/>
          <p:cNvSpPr txBox="1"/>
          <p:nvPr/>
        </p:nvSpPr>
        <p:spPr>
          <a:xfrm>
            <a:off x="9240012"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19" name="Shape 16"/>
          <p:cNvSpPr/>
          <p:nvPr/>
        </p:nvSpPr>
        <p:spPr>
          <a:xfrm>
            <a:off x="9734702" y="475488"/>
            <a:ext cx="421538" cy="292608"/>
          </a:xfrm>
          <a:prstGeom prst="roundRect">
            <a:avLst>
              <a:gd name="adj" fmla="val 18750"/>
            </a:avLst>
          </a:prstGeom>
          <a:solidFill>
            <a:srgbClr val="E4EAF3"/>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75488"/>
            <a:ext cx="421538" cy="292608"/>
          </a:xfrm>
          <a:prstGeom prst="roundRect">
            <a:avLst>
              <a:gd name="adj" fmla="val 18750"/>
            </a:avLst>
          </a:prstGeom>
          <a:solidFill>
            <a:srgbClr val="E4EAF3"/>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75488"/>
            <a:ext cx="421538" cy="292608"/>
          </a:xfrm>
          <a:prstGeom prst="roundRect">
            <a:avLst>
              <a:gd name="adj" fmla="val 18750"/>
            </a:avLst>
          </a:prstGeom>
          <a:solidFill>
            <a:srgbClr val="E4EAF3"/>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Solving Odd one out</a:t>
            </a:r>
            <a:endParaRPr lang="en-US" sz="3000" dirty="0"/>
          </a:p>
        </p:txBody>
      </p:sp>
      <p:sp>
        <p:nvSpPr>
          <p:cNvPr id="28" name="Shape 25"/>
          <p:cNvSpPr/>
          <p:nvPr/>
        </p:nvSpPr>
        <p:spPr>
          <a:xfrm>
            <a:off x="548640" y="1691640"/>
            <a:ext cx="6720840" cy="4251960"/>
          </a:xfrm>
          <a:prstGeom prst="roundRect">
            <a:avLst>
              <a:gd name="adj" fmla="val 2151"/>
            </a:avLst>
          </a:prstGeom>
          <a:solidFill>
            <a:srgbClr val="0E1726"/>
          </a:solidFill>
          <a:ln/>
          <a:effectLst>
            <a:outerShdw sx="100000" sy="100000" kx="0" ky="0" algn="bl" rotWithShape="0" blurRad="127000" dist="38100" dir="5400000">
              <a:srgbClr val="12213A">
                <a:alpha val="22000"/>
              </a:srgbClr>
            </a:outerShdw>
          </a:effectLst>
        </p:spPr>
      </p:sp>
      <p:sp>
        <p:nvSpPr>
          <p:cNvPr id="29" name="Shape 26"/>
          <p:cNvSpPr/>
          <p:nvPr/>
        </p:nvSpPr>
        <p:spPr>
          <a:xfrm>
            <a:off x="749808" y="1847088"/>
            <a:ext cx="118872" cy="118872"/>
          </a:xfrm>
          <a:prstGeom prst="ellipse">
            <a:avLst/>
          </a:prstGeom>
          <a:solidFill>
            <a:srgbClr val="E5534B"/>
          </a:solidFill>
          <a:ln/>
        </p:spPr>
      </p:sp>
      <p:sp>
        <p:nvSpPr>
          <p:cNvPr id="30" name="Shape 27"/>
          <p:cNvSpPr/>
          <p:nvPr/>
        </p:nvSpPr>
        <p:spPr>
          <a:xfrm>
            <a:off x="950976" y="1847088"/>
            <a:ext cx="118872" cy="118872"/>
          </a:xfrm>
          <a:prstGeom prst="ellipse">
            <a:avLst/>
          </a:prstGeom>
          <a:solidFill>
            <a:srgbClr val="F5A623"/>
          </a:solidFill>
          <a:ln/>
        </p:spPr>
      </p:sp>
      <p:sp>
        <p:nvSpPr>
          <p:cNvPr id="31" name="Shape 28"/>
          <p:cNvSpPr/>
          <p:nvPr/>
        </p:nvSpPr>
        <p:spPr>
          <a:xfrm>
            <a:off x="1152144" y="1847088"/>
            <a:ext cx="118872" cy="118872"/>
          </a:xfrm>
          <a:prstGeom prst="ellipse">
            <a:avLst/>
          </a:prstGeom>
          <a:solidFill>
            <a:srgbClr val="46D39A"/>
          </a:solidFill>
          <a:ln/>
        </p:spPr>
      </p:sp>
      <p:sp>
        <p:nvSpPr>
          <p:cNvPr id="32" name="Text 29"/>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3" name="Text 30"/>
          <p:cNvSpPr txBox="1"/>
          <p:nvPr/>
        </p:nvSpPr>
        <p:spPr>
          <a:xfrm>
            <a:off x="822960" y="2148840"/>
            <a:ext cx="6172200" cy="3657600"/>
          </a:xfrm>
          <a:prstGeom prst="rect">
            <a:avLst/>
          </a:prstGeom>
          <a:noFill/>
          <a:ln/>
        </p:spPr>
        <p:txBody>
          <a:bodyPr wrap="square" lIns="0" tIns="0" rIns="0" bIns="0" rtlCol="0" anchor="t"/>
          <a:lstStyle/>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cd ~/mission6</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head -3 codes.txt</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CYBA{odd-3f9a0c1e}</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CYBA{odd-b27d44a0}</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CYBA{odd-3f9a0c1e}</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wc -l codes.txt</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906 codes.txt</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uniq --help</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        -u      Only print unique lines</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sort codes.txt | uniq -u</a:t>
            </a:r>
            <a:endParaRPr lang="en-US" sz="1200" dirty="0"/>
          </a:p>
          <a:p>
            <a:pPr indent="0" marL="0">
              <a:spcAft>
                <a:spcPts val="200"/>
              </a:spcAft>
              <a:buNone/>
            </a:pPr>
            <a:r>
              <a:rPr lang="en-US" sz="1200" b="1" dirty="0">
                <a:solidFill>
                  <a:srgbClr val="F5A623"/>
                </a:solidFill>
                <a:latin typeface="Courier New" pitchFamily="34" charset="0"/>
                <a:ea typeface="Courier New" pitchFamily="34" charset="-122"/>
                <a:cs typeface="Courier New" pitchFamily="34" charset="-120"/>
              </a:rPr>
              <a:t>CYBA{odd-...}</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submit CYBA{odd-...}</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Correct! +200 points</a:t>
            </a:r>
            <a:endParaRPr lang="en-US" sz="1200" dirty="0"/>
          </a:p>
        </p:txBody>
      </p:sp>
      <p:sp>
        <p:nvSpPr>
          <p:cNvPr id="34" name="Text 31"/>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5" name="Shape 32"/>
          <p:cNvSpPr/>
          <p:nvPr/>
        </p:nvSpPr>
        <p:spPr>
          <a:xfrm>
            <a:off x="7543800" y="2194560"/>
            <a:ext cx="457200" cy="457200"/>
          </a:xfrm>
          <a:prstGeom prst="ellipse">
            <a:avLst/>
          </a:prstGeom>
          <a:solidFill>
            <a:srgbClr val="E8820C"/>
          </a:solidFill>
          <a:ln/>
        </p:spPr>
      </p:sp>
      <p:sp>
        <p:nvSpPr>
          <p:cNvPr id="36" name="Text 33"/>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7" name="Text 34"/>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sort put identical lines next to each other.</a:t>
            </a:r>
            <a:endParaRPr lang="en-US" sz="1400" dirty="0"/>
          </a:p>
        </p:txBody>
      </p:sp>
      <p:sp>
        <p:nvSpPr>
          <p:cNvPr id="38" name="Shape 35"/>
          <p:cNvSpPr/>
          <p:nvPr/>
        </p:nvSpPr>
        <p:spPr>
          <a:xfrm>
            <a:off x="7543800" y="2980944"/>
            <a:ext cx="457200" cy="457200"/>
          </a:xfrm>
          <a:prstGeom prst="ellipse">
            <a:avLst/>
          </a:prstGeom>
          <a:solidFill>
            <a:srgbClr val="E8820C"/>
          </a:solidFill>
          <a:ln/>
        </p:spPr>
      </p:sp>
      <p:sp>
        <p:nvSpPr>
          <p:cNvPr id="39" name="Text 36"/>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0" name="Text 37"/>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uniq -u kept only the lines that appear exactly once.</a:t>
            </a:r>
            <a:endParaRPr lang="en-US" sz="1400" dirty="0"/>
          </a:p>
        </p:txBody>
      </p:sp>
      <p:sp>
        <p:nvSpPr>
          <p:cNvPr id="41" name="Shape 38"/>
          <p:cNvSpPr/>
          <p:nvPr/>
        </p:nvSpPr>
        <p:spPr>
          <a:xfrm>
            <a:off x="7543800" y="3767328"/>
            <a:ext cx="457200" cy="457200"/>
          </a:xfrm>
          <a:prstGeom prst="ellipse">
            <a:avLst/>
          </a:prstGeom>
          <a:solidFill>
            <a:srgbClr val="E8820C"/>
          </a:solidFill>
          <a:ln/>
        </p:spPr>
      </p:sp>
      <p:sp>
        <p:nvSpPr>
          <p:cNvPr id="42" name="Text 39"/>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3" name="Text 40"/>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The pipe fed sort's output straight into uniq: no extra file needed.</a:t>
            </a:r>
            <a:endParaRPr lang="en-US" sz="1400" dirty="0"/>
          </a:p>
        </p:txBody>
      </p:sp>
      <p:sp>
        <p:nvSpPr>
          <p:cNvPr id="44" name="Shape 41"/>
          <p:cNvSpPr/>
          <p:nvPr/>
        </p:nvSpPr>
        <p:spPr>
          <a:xfrm>
            <a:off x="7543800" y="4572000"/>
            <a:ext cx="4096512" cy="749808"/>
          </a:xfrm>
          <a:prstGeom prst="roundRect">
            <a:avLst>
              <a:gd name="adj" fmla="val 12195"/>
            </a:avLst>
          </a:prstGeom>
          <a:solidFill>
            <a:srgbClr val="FFF4DC"/>
          </a:solidFill>
          <a:ln/>
        </p:spPr>
      </p:sp>
      <p:sp>
        <p:nvSpPr>
          <p:cNvPr id="45" name="Text 42"/>
          <p:cNvSpPr txBox="1"/>
          <p:nvPr/>
        </p:nvSpPr>
        <p:spPr>
          <a:xfrm>
            <a:off x="7699248" y="4572000"/>
            <a:ext cx="3803904" cy="749808"/>
          </a:xfrm>
          <a:prstGeom prst="rect">
            <a:avLst/>
          </a:prstGeom>
          <a:noFill/>
          <a:ln/>
        </p:spPr>
        <p:txBody>
          <a:bodyPr wrap="square" lIns="0" tIns="0" rIns="0" bIns="0" rtlCol="0" anchor="ctr"/>
          <a:lstStyle/>
          <a:p>
            <a:pPr indent="0" marL="0">
              <a:buNone/>
            </a:pPr>
            <a:r>
              <a:rPr lang="en-US" sz="1300" b="1" dirty="0">
                <a:solidFill>
                  <a:srgbClr val="12213A"/>
                </a:solidFill>
                <a:latin typeface="Calibri" pitchFamily="34" charset="0"/>
                <a:ea typeface="Calibri" pitchFamily="34" charset="-122"/>
                <a:cs typeface="Calibri" pitchFamily="34" charset="-120"/>
              </a:rPr>
              <a:t>Real world: </a:t>
            </a:r>
            <a:pPr indent="0" marL="0">
              <a:buNone/>
            </a:pPr>
            <a:r>
              <a:rPr lang="en-US" sz="1300" dirty="0">
                <a:solidFill>
                  <a:srgbClr val="12213A"/>
                </a:solidFill>
                <a:latin typeface="Calibri" pitchFamily="34" charset="0"/>
                <a:ea typeface="Calibri" pitchFamily="34" charset="-122"/>
                <a:cs typeface="Calibri" pitchFamily="34" charset="-120"/>
              </a:rPr>
              <a:t>Analysts run sort | uniq -c on logs every day to find the one odd event among millions.</a:t>
            </a:r>
            <a:endParaRPr lang="en-US" sz="1300" dirty="0"/>
          </a:p>
        </p:txBody>
      </p:sp>
      <p:sp>
        <p:nvSpPr>
          <p:cNvPr id="46" name="Shape 43"/>
          <p:cNvSpPr/>
          <p:nvPr/>
        </p:nvSpPr>
        <p:spPr>
          <a:xfrm>
            <a:off x="7543800" y="5413248"/>
            <a:ext cx="4096512" cy="566928"/>
          </a:xfrm>
          <a:prstGeom prst="roundRect">
            <a:avLst>
              <a:gd name="adj" fmla="val 16129"/>
            </a:avLst>
          </a:prstGeom>
          <a:solidFill>
            <a:srgbClr val="F1F5FB"/>
          </a:solidFill>
          <a:ln/>
        </p:spPr>
      </p:sp>
      <p:sp>
        <p:nvSpPr>
          <p:cNvPr id="47" name="Text 44"/>
          <p:cNvSpPr txBox="1"/>
          <p:nvPr/>
        </p:nvSpPr>
        <p:spPr>
          <a:xfrm>
            <a:off x="7699248" y="5413248"/>
            <a:ext cx="3803904" cy="566928"/>
          </a:xfrm>
          <a:prstGeom prst="rect">
            <a:avLst/>
          </a:prstGeom>
          <a:noFill/>
          <a:ln/>
        </p:spPr>
        <p:txBody>
          <a:bodyPr wrap="square" lIns="0" tIns="0" rIns="0" bIns="0" rtlCol="0" anchor="ctr"/>
          <a:lstStyle/>
          <a:p>
            <a:pPr indent="0" marL="0">
              <a:buNone/>
            </a:pPr>
            <a:r>
              <a:rPr lang="en-US" sz="1200" b="1" dirty="0">
                <a:solidFill>
                  <a:srgbClr val="E8820C"/>
                </a:solidFill>
                <a:latin typeface="Calibri" pitchFamily="34" charset="0"/>
                <a:ea typeface="Calibri" pitchFamily="34" charset="-122"/>
                <a:cs typeface="Calibri" pitchFamily="34" charset="-120"/>
              </a:rPr>
              <a:t>Stretch: </a:t>
            </a:r>
            <a:pPr indent="0" marL="0">
              <a:buNone/>
            </a:pPr>
            <a:r>
              <a:rPr lang="en-US" sz="1200" dirty="0">
                <a:solidFill>
                  <a:srgbClr val="12213A"/>
                </a:solidFill>
                <a:latin typeface="Calibri" pitchFamily="34" charset="0"/>
                <a:ea typeface="Calibri" pitchFamily="34" charset="-122"/>
                <a:cs typeface="Calibri" pitchFamily="34" charset="-120"/>
              </a:rPr>
              <a:t>Try  sort codes.txt | uniq -c | sort -n | head -3  . What does the first column mean?</a:t>
            </a:r>
            <a:endParaRPr lang="en-US" sz="1200" dirty="0"/>
          </a:p>
        </p:txBody>
      </p:sp>
      <p:sp>
        <p:nvSpPr>
          <p:cNvPr id="48" name="Text 45"/>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49" name="Text 46"/>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71 / 79</a:t>
            </a:r>
            <a:endParaRPr lang="en-US" sz="1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3" name="Shape 0"/>
          <p:cNvSpPr/>
          <p:nvPr/>
        </p:nvSpPr>
        <p:spPr>
          <a:xfrm>
            <a:off x="548640" y="438912"/>
            <a:ext cx="1828800" cy="347472"/>
          </a:xfrm>
          <a:prstGeom prst="roundRect">
            <a:avLst>
              <a:gd name="adj" fmla="val 50000"/>
            </a:avLst>
          </a:prstGeom>
          <a:solidFill>
            <a:srgbClr val="C9A227"/>
          </a:solidFill>
          <a:ln/>
        </p:spPr>
      </p:sp>
      <p:sp>
        <p:nvSpPr>
          <p:cNvPr id="4" name="Text 1"/>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7 of 10</a:t>
            </a:r>
            <a:endParaRPr lang="en-US" sz="1400" dirty="0"/>
          </a:p>
        </p:txBody>
      </p:sp>
      <p:sp>
        <p:nvSpPr>
          <p:cNvPr id="5" name="Shape 2"/>
          <p:cNvSpPr/>
          <p:nvPr/>
        </p:nvSpPr>
        <p:spPr>
          <a:xfrm>
            <a:off x="2514600" y="438912"/>
            <a:ext cx="1828800" cy="347472"/>
          </a:xfrm>
          <a:prstGeom prst="roundRect">
            <a:avLst>
              <a:gd name="adj" fmla="val 50000"/>
            </a:avLst>
          </a:prstGeom>
          <a:solidFill>
            <a:srgbClr val="FFF4DE"/>
          </a:solidFill>
          <a:ln/>
        </p:spPr>
      </p:sp>
      <p:sp>
        <p:nvSpPr>
          <p:cNvPr id="6" name="Text 3"/>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75488"/>
            <a:ext cx="421538" cy="292608"/>
          </a:xfrm>
          <a:prstGeom prst="roundRect">
            <a:avLst>
              <a:gd name="adj" fmla="val 18750"/>
            </a:avLst>
          </a:prstGeom>
          <a:solidFill>
            <a:srgbClr val="2A9FD6"/>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75488"/>
            <a:ext cx="421538" cy="292608"/>
          </a:xfrm>
          <a:prstGeom prst="roundRect">
            <a:avLst>
              <a:gd name="adj" fmla="val 18750"/>
            </a:avLst>
          </a:prstGeom>
          <a:solidFill>
            <a:srgbClr val="2459D8"/>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75488"/>
            <a:ext cx="421538" cy="292608"/>
          </a:xfrm>
          <a:prstGeom prst="roundRect">
            <a:avLst>
              <a:gd name="adj" fmla="val 18750"/>
            </a:avLst>
          </a:prstGeom>
          <a:solidFill>
            <a:srgbClr val="7448D4"/>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75488"/>
            <a:ext cx="421538" cy="292608"/>
          </a:xfrm>
          <a:prstGeom prst="roundRect">
            <a:avLst>
              <a:gd name="adj" fmla="val 18750"/>
            </a:avLst>
          </a:prstGeom>
          <a:solidFill>
            <a:srgbClr val="D1416B"/>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75488"/>
            <a:ext cx="421538" cy="292608"/>
          </a:xfrm>
          <a:prstGeom prst="roundRect">
            <a:avLst>
              <a:gd name="adj" fmla="val 18750"/>
            </a:avLst>
          </a:prstGeom>
          <a:solidFill>
            <a:srgbClr val="E8820C"/>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20624"/>
            <a:ext cx="421538" cy="402336"/>
          </a:xfrm>
          <a:prstGeom prst="roundRect">
            <a:avLst>
              <a:gd name="adj" fmla="val 13636"/>
            </a:avLst>
          </a:prstGeom>
          <a:solidFill>
            <a:srgbClr val="C9A227"/>
          </a:solidFill>
          <a:ln/>
        </p:spPr>
      </p:sp>
      <p:sp>
        <p:nvSpPr>
          <p:cNvPr id="20" name="Text 17"/>
          <p:cNvSpPr txBox="1"/>
          <p:nvPr/>
        </p:nvSpPr>
        <p:spPr>
          <a:xfrm>
            <a:off x="9734702"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21" name="Shape 18"/>
          <p:cNvSpPr/>
          <p:nvPr/>
        </p:nvSpPr>
        <p:spPr>
          <a:xfrm>
            <a:off x="10229393" y="475488"/>
            <a:ext cx="421538" cy="292608"/>
          </a:xfrm>
          <a:prstGeom prst="roundRect">
            <a:avLst>
              <a:gd name="adj" fmla="val 18750"/>
            </a:avLst>
          </a:prstGeom>
          <a:solidFill>
            <a:srgbClr val="E4EAF3"/>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75488"/>
            <a:ext cx="421538" cy="292608"/>
          </a:xfrm>
          <a:prstGeom prst="roundRect">
            <a:avLst>
              <a:gd name="adj" fmla="val 18750"/>
            </a:avLst>
          </a:prstGeom>
          <a:solidFill>
            <a:srgbClr val="E4EAF3"/>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Permission denied</a:t>
            </a:r>
            <a:endParaRPr lang="en-US" sz="4200" dirty="0"/>
          </a:p>
        </p:txBody>
      </p:sp>
      <p:sp>
        <p:nvSpPr>
          <p:cNvPr id="28" name="Shape 25"/>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29" name="Text 26"/>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0" name="Text 27"/>
          <p:cNvSpPr txBox="1"/>
          <p:nvPr/>
        </p:nvSpPr>
        <p:spPr>
          <a:xfrm>
            <a:off x="914400" y="2560320"/>
            <a:ext cx="5715000" cy="2057400"/>
          </a:xfrm>
          <a:prstGeom prst="rect">
            <a:avLst/>
          </a:prstGeom>
          <a:noFill/>
          <a:ln/>
        </p:spPr>
        <p:txBody>
          <a:bodyPr wrap="square" lIns="0" tIns="0" rIns="0" bIns="0" rtlCol="0" anchor="t"/>
          <a:lstStyle/>
          <a:p>
            <a:pPr indent="0" marL="0">
              <a:buNone/>
            </a:pPr>
            <a:r>
              <a:rPr lang="en-US" sz="2200" dirty="0">
                <a:solidFill>
                  <a:srgbClr val="FFFFFF"/>
                </a:solidFill>
                <a:latin typeface="Calibri" pitchFamily="34" charset="0"/>
                <a:ea typeface="Calibri" pitchFamily="34" charset="-122"/>
                <a:cs typeface="Calibri" pitchFamily="34" charset="-120"/>
              </a:rPr>
              <a:t>The flag is behind a locked door: unlock.sh, a script. Run it and Linux refuses. ls -l shows the file's permissions, and you own the file, so you can change them.</a:t>
            </a:r>
            <a:endParaRPr lang="en-US" sz="2200" dirty="0"/>
          </a:p>
        </p:txBody>
      </p:sp>
      <p:sp>
        <p:nvSpPr>
          <p:cNvPr id="31" name="Text 28"/>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~/mission7</a:t>
            </a:r>
            <a:endParaRPr lang="en-US" sz="1300" dirty="0"/>
          </a:p>
        </p:txBody>
      </p:sp>
      <p:sp>
        <p:nvSpPr>
          <p:cNvPr id="32" name="Shape 29"/>
          <p:cNvSpPr/>
          <p:nvPr/>
        </p:nvSpPr>
        <p:spPr>
          <a:xfrm>
            <a:off x="914400" y="5166360"/>
            <a:ext cx="3291840" cy="502920"/>
          </a:xfrm>
          <a:prstGeom prst="roundRect">
            <a:avLst>
              <a:gd name="adj" fmla="val 14545"/>
            </a:avLst>
          </a:prstGeom>
          <a:solidFill>
            <a:srgbClr val="F5A623"/>
          </a:solidFill>
          <a:ln/>
        </p:spPr>
      </p:sp>
      <p:sp>
        <p:nvSpPr>
          <p:cNvPr id="33" name="Text 30"/>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50" dirty="0">
                <a:solidFill>
                  <a:srgbClr val="12213A"/>
                </a:solidFill>
                <a:latin typeface="Calibri" pitchFamily="34" charset="0"/>
                <a:ea typeface="Calibri" pitchFamily="34" charset="-122"/>
                <a:cs typeface="Calibri" pitchFamily="34" charset="-120"/>
              </a:rPr>
              <a:t>Tools: </a:t>
            </a:r>
            <a:pPr algn="ctr" indent="0" marL="0">
              <a:buNone/>
            </a:pPr>
            <a:r>
              <a:rPr lang="en-US" sz="1350" b="1" dirty="0">
                <a:solidFill>
                  <a:srgbClr val="12213A"/>
                </a:solidFill>
                <a:latin typeface="Courier New" pitchFamily="34" charset="0"/>
                <a:ea typeface="Courier New" pitchFamily="34" charset="-122"/>
                <a:cs typeface="Courier New" pitchFamily="34" charset="-120"/>
              </a:rPr>
              <a:t>ls -l  chmod +x</a:t>
            </a:r>
            <a:endParaRPr lang="en-US" sz="1350" dirty="0"/>
          </a:p>
        </p:txBody>
      </p:sp>
      <p:sp>
        <p:nvSpPr>
          <p:cNvPr id="34" name="Shape 31"/>
          <p:cNvSpPr/>
          <p:nvPr/>
        </p:nvSpPr>
        <p:spPr>
          <a:xfrm>
            <a:off x="4389120" y="5166360"/>
            <a:ext cx="2240280" cy="502920"/>
          </a:xfrm>
          <a:prstGeom prst="roundRect">
            <a:avLst>
              <a:gd name="adj" fmla="val 14545"/>
            </a:avLst>
          </a:prstGeom>
          <a:solidFill>
            <a:srgbClr val="2B3B5C"/>
          </a:solidFill>
          <a:ln/>
        </p:spPr>
      </p:sp>
      <p:sp>
        <p:nvSpPr>
          <p:cNvPr id="35" name="Text 32"/>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6" name="Shape 33"/>
          <p:cNvSpPr/>
          <p:nvPr/>
        </p:nvSpPr>
        <p:spPr>
          <a:xfrm>
            <a:off x="7269480" y="1920240"/>
            <a:ext cx="4370832" cy="2788920"/>
          </a:xfrm>
          <a:prstGeom prst="roundRect">
            <a:avLst>
              <a:gd name="adj" fmla="val 3279"/>
            </a:avLst>
          </a:prstGeom>
          <a:solidFill>
            <a:srgbClr val="F1F5FB"/>
          </a:solidFill>
          <a:ln/>
        </p:spPr>
      </p:sp>
      <p:sp>
        <p:nvSpPr>
          <p:cNvPr id="37" name="Text 34"/>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38" name="Text 35"/>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is 'Permission denied' telling us?</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In  -rw-r--r--  which letter would mean 'can run'?</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do we add that permission?</a:t>
            </a:r>
            <a:endParaRPr lang="en-US" sz="1550" dirty="0"/>
          </a:p>
        </p:txBody>
      </p:sp>
      <p:sp>
        <p:nvSpPr>
          <p:cNvPr id="39" name="Shape 36"/>
          <p:cNvSpPr/>
          <p:nvPr/>
        </p:nvSpPr>
        <p:spPr>
          <a:xfrm>
            <a:off x="7269480" y="4892040"/>
            <a:ext cx="4370832" cy="1051560"/>
          </a:xfrm>
          <a:prstGeom prst="roundRect">
            <a:avLst>
              <a:gd name="adj" fmla="val 8696"/>
            </a:avLst>
          </a:prstGeom>
          <a:solidFill>
            <a:srgbClr val="17875A"/>
          </a:solidFill>
          <a:ln/>
        </p:spPr>
      </p:sp>
      <p:sp>
        <p:nvSpPr>
          <p:cNvPr id="40" name="Text 37"/>
          <p:cNvSpPr txBox="1"/>
          <p:nvPr/>
        </p:nvSpPr>
        <p:spPr>
          <a:xfrm>
            <a:off x="7498080" y="4892040"/>
            <a:ext cx="15544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1" name="Text 38"/>
          <p:cNvSpPr txBox="1"/>
          <p:nvPr/>
        </p:nvSpPr>
        <p:spPr>
          <a:xfrm>
            <a:off x="9098280" y="4892040"/>
            <a:ext cx="2377440" cy="10515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Students try on their own. Reveal after.</a:t>
            </a:r>
            <a:endParaRPr lang="en-US" sz="1350" dirty="0"/>
          </a:p>
        </p:txBody>
      </p:sp>
      <p:sp>
        <p:nvSpPr>
          <p:cNvPr id="42" name="Text 39"/>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72 / 79</a:t>
            </a:r>
            <a:endParaRPr lang="en-US" sz="1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3" name="Shape 0"/>
          <p:cNvSpPr/>
          <p:nvPr/>
        </p:nvSpPr>
        <p:spPr>
          <a:xfrm>
            <a:off x="548640" y="438912"/>
            <a:ext cx="2103120" cy="347472"/>
          </a:xfrm>
          <a:prstGeom prst="roundRect">
            <a:avLst>
              <a:gd name="adj" fmla="val 50000"/>
            </a:avLst>
          </a:prstGeom>
          <a:solidFill>
            <a:srgbClr val="C9A227"/>
          </a:solidFill>
          <a:ln/>
        </p:spPr>
      </p:sp>
      <p:sp>
        <p:nvSpPr>
          <p:cNvPr id="4" name="Text 1"/>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7 of 10</a:t>
            </a:r>
            <a:endParaRPr lang="en-US" sz="1400" dirty="0"/>
          </a:p>
        </p:txBody>
      </p:sp>
      <p:sp>
        <p:nvSpPr>
          <p:cNvPr id="5" name="Shape 2"/>
          <p:cNvSpPr/>
          <p:nvPr/>
        </p:nvSpPr>
        <p:spPr>
          <a:xfrm>
            <a:off x="2788920" y="438912"/>
            <a:ext cx="1828800" cy="347472"/>
          </a:xfrm>
          <a:prstGeom prst="roundRect">
            <a:avLst>
              <a:gd name="adj" fmla="val 50000"/>
            </a:avLst>
          </a:prstGeom>
          <a:solidFill>
            <a:srgbClr val="FFF4DE"/>
          </a:solidFill>
          <a:ln/>
        </p:spPr>
      </p:sp>
      <p:sp>
        <p:nvSpPr>
          <p:cNvPr id="6" name="Text 3"/>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75488"/>
            <a:ext cx="421538" cy="292608"/>
          </a:xfrm>
          <a:prstGeom prst="roundRect">
            <a:avLst>
              <a:gd name="adj" fmla="val 18750"/>
            </a:avLst>
          </a:prstGeom>
          <a:solidFill>
            <a:srgbClr val="2A9FD6"/>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75488"/>
            <a:ext cx="421538" cy="292608"/>
          </a:xfrm>
          <a:prstGeom prst="roundRect">
            <a:avLst>
              <a:gd name="adj" fmla="val 18750"/>
            </a:avLst>
          </a:prstGeom>
          <a:solidFill>
            <a:srgbClr val="2459D8"/>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75488"/>
            <a:ext cx="421538" cy="292608"/>
          </a:xfrm>
          <a:prstGeom prst="roundRect">
            <a:avLst>
              <a:gd name="adj" fmla="val 18750"/>
            </a:avLst>
          </a:prstGeom>
          <a:solidFill>
            <a:srgbClr val="7448D4"/>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75488"/>
            <a:ext cx="421538" cy="292608"/>
          </a:xfrm>
          <a:prstGeom prst="roundRect">
            <a:avLst>
              <a:gd name="adj" fmla="val 18750"/>
            </a:avLst>
          </a:prstGeom>
          <a:solidFill>
            <a:srgbClr val="D1416B"/>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75488"/>
            <a:ext cx="421538" cy="292608"/>
          </a:xfrm>
          <a:prstGeom prst="roundRect">
            <a:avLst>
              <a:gd name="adj" fmla="val 18750"/>
            </a:avLst>
          </a:prstGeom>
          <a:solidFill>
            <a:srgbClr val="E8820C"/>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20624"/>
            <a:ext cx="421538" cy="402336"/>
          </a:xfrm>
          <a:prstGeom prst="roundRect">
            <a:avLst>
              <a:gd name="adj" fmla="val 13636"/>
            </a:avLst>
          </a:prstGeom>
          <a:solidFill>
            <a:srgbClr val="C9A227"/>
          </a:solidFill>
          <a:ln/>
        </p:spPr>
      </p:sp>
      <p:sp>
        <p:nvSpPr>
          <p:cNvPr id="20" name="Text 17"/>
          <p:cNvSpPr txBox="1"/>
          <p:nvPr/>
        </p:nvSpPr>
        <p:spPr>
          <a:xfrm>
            <a:off x="9734702"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21" name="Shape 18"/>
          <p:cNvSpPr/>
          <p:nvPr/>
        </p:nvSpPr>
        <p:spPr>
          <a:xfrm>
            <a:off x="10229393" y="475488"/>
            <a:ext cx="421538" cy="292608"/>
          </a:xfrm>
          <a:prstGeom prst="roundRect">
            <a:avLst>
              <a:gd name="adj" fmla="val 18750"/>
            </a:avLst>
          </a:prstGeom>
          <a:solidFill>
            <a:srgbClr val="E4EAF3"/>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75488"/>
            <a:ext cx="421538" cy="292608"/>
          </a:xfrm>
          <a:prstGeom prst="roundRect">
            <a:avLst>
              <a:gd name="adj" fmla="val 18750"/>
            </a:avLst>
          </a:prstGeom>
          <a:solidFill>
            <a:srgbClr val="E4EAF3"/>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Solving Permission denied</a:t>
            </a:r>
            <a:endParaRPr lang="en-US" sz="3000" dirty="0"/>
          </a:p>
        </p:txBody>
      </p:sp>
      <p:sp>
        <p:nvSpPr>
          <p:cNvPr id="28" name="Shape 25"/>
          <p:cNvSpPr/>
          <p:nvPr/>
        </p:nvSpPr>
        <p:spPr>
          <a:xfrm>
            <a:off x="548640" y="1691640"/>
            <a:ext cx="6720840" cy="4251960"/>
          </a:xfrm>
          <a:prstGeom prst="roundRect">
            <a:avLst>
              <a:gd name="adj" fmla="val 2151"/>
            </a:avLst>
          </a:prstGeom>
          <a:solidFill>
            <a:srgbClr val="0E1726"/>
          </a:solidFill>
          <a:ln/>
          <a:effectLst>
            <a:outerShdw sx="100000" sy="100000" kx="0" ky="0" algn="bl" rotWithShape="0" blurRad="127000" dist="38100" dir="5400000">
              <a:srgbClr val="12213A">
                <a:alpha val="22000"/>
              </a:srgbClr>
            </a:outerShdw>
          </a:effectLst>
        </p:spPr>
      </p:sp>
      <p:sp>
        <p:nvSpPr>
          <p:cNvPr id="29" name="Shape 26"/>
          <p:cNvSpPr/>
          <p:nvPr/>
        </p:nvSpPr>
        <p:spPr>
          <a:xfrm>
            <a:off x="749808" y="1847088"/>
            <a:ext cx="118872" cy="118872"/>
          </a:xfrm>
          <a:prstGeom prst="ellipse">
            <a:avLst/>
          </a:prstGeom>
          <a:solidFill>
            <a:srgbClr val="E5534B"/>
          </a:solidFill>
          <a:ln/>
        </p:spPr>
      </p:sp>
      <p:sp>
        <p:nvSpPr>
          <p:cNvPr id="30" name="Shape 27"/>
          <p:cNvSpPr/>
          <p:nvPr/>
        </p:nvSpPr>
        <p:spPr>
          <a:xfrm>
            <a:off x="950976" y="1847088"/>
            <a:ext cx="118872" cy="118872"/>
          </a:xfrm>
          <a:prstGeom prst="ellipse">
            <a:avLst/>
          </a:prstGeom>
          <a:solidFill>
            <a:srgbClr val="F5A623"/>
          </a:solidFill>
          <a:ln/>
        </p:spPr>
      </p:sp>
      <p:sp>
        <p:nvSpPr>
          <p:cNvPr id="31" name="Shape 28"/>
          <p:cNvSpPr/>
          <p:nvPr/>
        </p:nvSpPr>
        <p:spPr>
          <a:xfrm>
            <a:off x="1152144" y="1847088"/>
            <a:ext cx="118872" cy="118872"/>
          </a:xfrm>
          <a:prstGeom prst="ellipse">
            <a:avLst/>
          </a:prstGeom>
          <a:solidFill>
            <a:srgbClr val="46D39A"/>
          </a:solidFill>
          <a:ln/>
        </p:spPr>
      </p:sp>
      <p:sp>
        <p:nvSpPr>
          <p:cNvPr id="32" name="Text 29"/>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3" name="Text 30"/>
          <p:cNvSpPr txBox="1"/>
          <p:nvPr/>
        </p:nvSpPr>
        <p:spPr>
          <a:xfrm>
            <a:off x="822960" y="2148840"/>
            <a:ext cx="6172200" cy="3657600"/>
          </a:xfrm>
          <a:prstGeom prst="rect">
            <a:avLst/>
          </a:prstGeom>
          <a:noFill/>
          <a:ln/>
        </p:spPr>
        <p:txBody>
          <a:bodyPr wrap="square" lIns="0" tIns="0" rIns="0" bIns="0" rtlCol="0" anchor="t"/>
          <a:lstStyle/>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cd ~/mission7</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./unlock.sh</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-sh: ./unlock.sh: Permission denied</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ls -l unlock.sh</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-rw-r--r--  1 player player  108 unlock.sh</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chmod +x unlock.sh</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ls -l unlock.sh</a:t>
            </a:r>
            <a:endParaRPr lang="en-US" sz="1200" dirty="0"/>
          </a:p>
          <a:p>
            <a:pPr indent="0" marL="0">
              <a:spcAft>
                <a:spcPts val="200"/>
              </a:spcAft>
              <a:buNone/>
            </a:pPr>
            <a:r>
              <a:rPr lang="en-US" sz="1200" b="1" dirty="0">
                <a:solidFill>
                  <a:srgbClr val="F5A623"/>
                </a:solidFill>
                <a:latin typeface="Courier New" pitchFamily="34" charset="0"/>
                <a:ea typeface="Courier New" pitchFamily="34" charset="-122"/>
                <a:cs typeface="Courier New" pitchFamily="34" charset="-120"/>
              </a:rPr>
              <a:t>-rwxr-xr-x  1 player player  108 unlock.sh</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./unlock.sh</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Access granted.</a:t>
            </a:r>
            <a:endParaRPr lang="en-US" sz="1200" dirty="0"/>
          </a:p>
          <a:p>
            <a:pPr indent="0" marL="0">
              <a:spcAft>
                <a:spcPts val="200"/>
              </a:spcAft>
              <a:buNone/>
            </a:pPr>
            <a:r>
              <a:rPr lang="en-US" sz="1200" b="1" dirty="0">
                <a:solidFill>
                  <a:srgbClr val="F5A623"/>
                </a:solidFill>
                <a:latin typeface="Courier New" pitchFamily="34" charset="0"/>
                <a:ea typeface="Courier New" pitchFamily="34" charset="-122"/>
                <a:cs typeface="Courier New" pitchFamily="34" charset="-120"/>
              </a:rPr>
              <a:t>Flag: CYBA{exec-...}</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submit CYBA{exec-...}</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Correct! +200 points</a:t>
            </a:r>
            <a:endParaRPr lang="en-US" sz="1200" dirty="0"/>
          </a:p>
        </p:txBody>
      </p:sp>
      <p:sp>
        <p:nvSpPr>
          <p:cNvPr id="34" name="Text 31"/>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5" name="Shape 32"/>
          <p:cNvSpPr/>
          <p:nvPr/>
        </p:nvSpPr>
        <p:spPr>
          <a:xfrm>
            <a:off x="7543800" y="2194560"/>
            <a:ext cx="457200" cy="457200"/>
          </a:xfrm>
          <a:prstGeom prst="ellipse">
            <a:avLst/>
          </a:prstGeom>
          <a:solidFill>
            <a:srgbClr val="C9A227"/>
          </a:solidFill>
          <a:ln/>
        </p:spPr>
      </p:sp>
      <p:sp>
        <p:nvSpPr>
          <p:cNvPr id="36" name="Text 33"/>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7" name="Text 34"/>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ls -l showed r and w, but no x: readable, not runnable.</a:t>
            </a:r>
            <a:endParaRPr lang="en-US" sz="1400" dirty="0"/>
          </a:p>
        </p:txBody>
      </p:sp>
      <p:sp>
        <p:nvSpPr>
          <p:cNvPr id="38" name="Shape 35"/>
          <p:cNvSpPr/>
          <p:nvPr/>
        </p:nvSpPr>
        <p:spPr>
          <a:xfrm>
            <a:off x="7543800" y="2980944"/>
            <a:ext cx="457200" cy="457200"/>
          </a:xfrm>
          <a:prstGeom prst="ellipse">
            <a:avLst/>
          </a:prstGeom>
          <a:solidFill>
            <a:srgbClr val="C9A227"/>
          </a:solidFill>
          <a:ln/>
        </p:spPr>
      </p:sp>
      <p:sp>
        <p:nvSpPr>
          <p:cNvPr id="39" name="Text 36"/>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0" name="Text 37"/>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chmod +x added the execute permission.</a:t>
            </a:r>
            <a:endParaRPr lang="en-US" sz="1400" dirty="0"/>
          </a:p>
        </p:txBody>
      </p:sp>
      <p:sp>
        <p:nvSpPr>
          <p:cNvPr id="41" name="Shape 38"/>
          <p:cNvSpPr/>
          <p:nvPr/>
        </p:nvSpPr>
        <p:spPr>
          <a:xfrm>
            <a:off x="7543800" y="3767328"/>
            <a:ext cx="457200" cy="457200"/>
          </a:xfrm>
          <a:prstGeom prst="ellipse">
            <a:avLst/>
          </a:prstGeom>
          <a:solidFill>
            <a:srgbClr val="C9A227"/>
          </a:solidFill>
          <a:ln/>
        </p:spPr>
      </p:sp>
      <p:sp>
        <p:nvSpPr>
          <p:cNvPr id="42" name="Text 39"/>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3" name="Text 40"/>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./unlock.sh ran the script from this folder, and it printed the flag.</a:t>
            </a:r>
            <a:endParaRPr lang="en-US" sz="1400" dirty="0"/>
          </a:p>
        </p:txBody>
      </p:sp>
      <p:sp>
        <p:nvSpPr>
          <p:cNvPr id="44" name="Shape 41"/>
          <p:cNvSpPr/>
          <p:nvPr/>
        </p:nvSpPr>
        <p:spPr>
          <a:xfrm>
            <a:off x="7543800" y="4572000"/>
            <a:ext cx="4096512" cy="749808"/>
          </a:xfrm>
          <a:prstGeom prst="roundRect">
            <a:avLst>
              <a:gd name="adj" fmla="val 12195"/>
            </a:avLst>
          </a:prstGeom>
          <a:solidFill>
            <a:srgbClr val="FFF4DC"/>
          </a:solidFill>
          <a:ln/>
        </p:spPr>
      </p:sp>
      <p:sp>
        <p:nvSpPr>
          <p:cNvPr id="45" name="Text 42"/>
          <p:cNvSpPr txBox="1"/>
          <p:nvPr/>
        </p:nvSpPr>
        <p:spPr>
          <a:xfrm>
            <a:off x="7699248" y="4572000"/>
            <a:ext cx="3803904" cy="749808"/>
          </a:xfrm>
          <a:prstGeom prst="rect">
            <a:avLst/>
          </a:prstGeom>
          <a:noFill/>
          <a:ln/>
        </p:spPr>
        <p:txBody>
          <a:bodyPr wrap="square" lIns="0" tIns="0" rIns="0" bIns="0" rtlCol="0" anchor="ctr"/>
          <a:lstStyle/>
          <a:p>
            <a:pPr indent="0" marL="0">
              <a:buNone/>
            </a:pPr>
            <a:r>
              <a:rPr lang="en-US" sz="1300" b="1" dirty="0">
                <a:solidFill>
                  <a:srgbClr val="12213A"/>
                </a:solidFill>
                <a:latin typeface="Calibri" pitchFamily="34" charset="0"/>
                <a:ea typeface="Calibri" pitchFamily="34" charset="-122"/>
                <a:cs typeface="Calibri" pitchFamily="34" charset="-120"/>
              </a:rPr>
              <a:t>Real world: </a:t>
            </a:r>
            <a:pPr indent="0" marL="0">
              <a:buNone/>
            </a:pPr>
            <a:r>
              <a:rPr lang="en-US" sz="1300" dirty="0">
                <a:solidFill>
                  <a:srgbClr val="12213A"/>
                </a:solidFill>
                <a:latin typeface="Calibri" pitchFamily="34" charset="0"/>
                <a:ea typeface="Calibri" pitchFamily="34" charset="-122"/>
                <a:cs typeface="Calibri" pitchFamily="34" charset="-120"/>
              </a:rPr>
              <a:t>Admins fix 'Permission denied' every week; attackers hunt for files whose permissions are too loose.</a:t>
            </a:r>
            <a:endParaRPr lang="en-US" sz="1300" dirty="0"/>
          </a:p>
        </p:txBody>
      </p:sp>
      <p:sp>
        <p:nvSpPr>
          <p:cNvPr id="46" name="Shape 43"/>
          <p:cNvSpPr/>
          <p:nvPr/>
        </p:nvSpPr>
        <p:spPr>
          <a:xfrm>
            <a:off x="7543800" y="5413248"/>
            <a:ext cx="4096512" cy="566928"/>
          </a:xfrm>
          <a:prstGeom prst="roundRect">
            <a:avLst>
              <a:gd name="adj" fmla="val 16129"/>
            </a:avLst>
          </a:prstGeom>
          <a:solidFill>
            <a:srgbClr val="F1F5FB"/>
          </a:solidFill>
          <a:ln/>
        </p:spPr>
      </p:sp>
      <p:sp>
        <p:nvSpPr>
          <p:cNvPr id="47" name="Text 44"/>
          <p:cNvSpPr txBox="1"/>
          <p:nvPr/>
        </p:nvSpPr>
        <p:spPr>
          <a:xfrm>
            <a:off x="7699248" y="5413248"/>
            <a:ext cx="3803904" cy="566928"/>
          </a:xfrm>
          <a:prstGeom prst="rect">
            <a:avLst/>
          </a:prstGeom>
          <a:noFill/>
          <a:ln/>
        </p:spPr>
        <p:txBody>
          <a:bodyPr wrap="square" lIns="0" tIns="0" rIns="0" bIns="0" rtlCol="0" anchor="ctr"/>
          <a:lstStyle/>
          <a:p>
            <a:pPr indent="0" marL="0">
              <a:buNone/>
            </a:pPr>
            <a:r>
              <a:rPr lang="en-US" sz="1200" b="1" dirty="0">
                <a:solidFill>
                  <a:srgbClr val="C9A227"/>
                </a:solidFill>
                <a:latin typeface="Calibri" pitchFamily="34" charset="0"/>
                <a:ea typeface="Calibri" pitchFamily="34" charset="-122"/>
                <a:cs typeface="Calibri" pitchFamily="34" charset="-120"/>
              </a:rPr>
              <a:t>Stretch: </a:t>
            </a:r>
            <a:pPr indent="0" marL="0">
              <a:buNone/>
            </a:pPr>
            <a:r>
              <a:rPr lang="en-US" sz="1200" dirty="0">
                <a:solidFill>
                  <a:srgbClr val="12213A"/>
                </a:solidFill>
                <a:latin typeface="Calibri" pitchFamily="34" charset="0"/>
                <a:ea typeface="Calibri" pitchFamily="34" charset="-122"/>
                <a:cs typeface="Calibri" pitchFamily="34" charset="-120"/>
              </a:rPr>
              <a:t>Run  ls -l /etc/quest  . Who owns those files? Can you chmod them?</a:t>
            </a:r>
            <a:endParaRPr lang="en-US" sz="1200" dirty="0"/>
          </a:p>
        </p:txBody>
      </p:sp>
      <p:sp>
        <p:nvSpPr>
          <p:cNvPr id="48" name="Text 45"/>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49" name="Text 46"/>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73 / 79</a:t>
            </a:r>
            <a:endParaRPr lang="en-US" sz="1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3" name="Shape 0"/>
          <p:cNvSpPr/>
          <p:nvPr/>
        </p:nvSpPr>
        <p:spPr>
          <a:xfrm>
            <a:off x="548640" y="438912"/>
            <a:ext cx="1828800" cy="347472"/>
          </a:xfrm>
          <a:prstGeom prst="roundRect">
            <a:avLst>
              <a:gd name="adj" fmla="val 50000"/>
            </a:avLst>
          </a:prstGeom>
          <a:solidFill>
            <a:srgbClr val="0F9488"/>
          </a:solidFill>
          <a:ln/>
        </p:spPr>
      </p:sp>
      <p:sp>
        <p:nvSpPr>
          <p:cNvPr id="4" name="Text 1"/>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8 of 10</a:t>
            </a:r>
            <a:endParaRPr lang="en-US" sz="1400" dirty="0"/>
          </a:p>
        </p:txBody>
      </p:sp>
      <p:sp>
        <p:nvSpPr>
          <p:cNvPr id="5" name="Shape 2"/>
          <p:cNvSpPr/>
          <p:nvPr/>
        </p:nvSpPr>
        <p:spPr>
          <a:xfrm>
            <a:off x="2514600" y="438912"/>
            <a:ext cx="1828800" cy="347472"/>
          </a:xfrm>
          <a:prstGeom prst="roundRect">
            <a:avLst>
              <a:gd name="adj" fmla="val 50000"/>
            </a:avLst>
          </a:prstGeom>
          <a:solidFill>
            <a:srgbClr val="FDE8EC"/>
          </a:solidFill>
          <a:ln/>
        </p:spPr>
      </p:sp>
      <p:sp>
        <p:nvSpPr>
          <p:cNvPr id="6" name="Text 3"/>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75488"/>
            <a:ext cx="421538" cy="292608"/>
          </a:xfrm>
          <a:prstGeom prst="roundRect">
            <a:avLst>
              <a:gd name="adj" fmla="val 18750"/>
            </a:avLst>
          </a:prstGeom>
          <a:solidFill>
            <a:srgbClr val="2A9FD6"/>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75488"/>
            <a:ext cx="421538" cy="292608"/>
          </a:xfrm>
          <a:prstGeom prst="roundRect">
            <a:avLst>
              <a:gd name="adj" fmla="val 18750"/>
            </a:avLst>
          </a:prstGeom>
          <a:solidFill>
            <a:srgbClr val="2459D8"/>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75488"/>
            <a:ext cx="421538" cy="292608"/>
          </a:xfrm>
          <a:prstGeom prst="roundRect">
            <a:avLst>
              <a:gd name="adj" fmla="val 18750"/>
            </a:avLst>
          </a:prstGeom>
          <a:solidFill>
            <a:srgbClr val="7448D4"/>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75488"/>
            <a:ext cx="421538" cy="292608"/>
          </a:xfrm>
          <a:prstGeom prst="roundRect">
            <a:avLst>
              <a:gd name="adj" fmla="val 18750"/>
            </a:avLst>
          </a:prstGeom>
          <a:solidFill>
            <a:srgbClr val="D1416B"/>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75488"/>
            <a:ext cx="421538" cy="292608"/>
          </a:xfrm>
          <a:prstGeom prst="roundRect">
            <a:avLst>
              <a:gd name="adj" fmla="val 18750"/>
            </a:avLst>
          </a:prstGeom>
          <a:solidFill>
            <a:srgbClr val="E8820C"/>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75488"/>
            <a:ext cx="421538" cy="292608"/>
          </a:xfrm>
          <a:prstGeom prst="roundRect">
            <a:avLst>
              <a:gd name="adj" fmla="val 18750"/>
            </a:avLst>
          </a:prstGeom>
          <a:solidFill>
            <a:srgbClr val="C9A227"/>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20624"/>
            <a:ext cx="421538" cy="402336"/>
          </a:xfrm>
          <a:prstGeom prst="roundRect">
            <a:avLst>
              <a:gd name="adj" fmla="val 13636"/>
            </a:avLst>
          </a:prstGeom>
          <a:solidFill>
            <a:srgbClr val="0F9488"/>
          </a:solidFill>
          <a:ln/>
        </p:spPr>
      </p:sp>
      <p:sp>
        <p:nvSpPr>
          <p:cNvPr id="22" name="Text 19"/>
          <p:cNvSpPr txBox="1"/>
          <p:nvPr/>
        </p:nvSpPr>
        <p:spPr>
          <a:xfrm>
            <a:off x="10229393"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23" name="Shape 20"/>
          <p:cNvSpPr/>
          <p:nvPr/>
        </p:nvSpPr>
        <p:spPr>
          <a:xfrm>
            <a:off x="10724083" y="475488"/>
            <a:ext cx="421538" cy="292608"/>
          </a:xfrm>
          <a:prstGeom prst="roundRect">
            <a:avLst>
              <a:gd name="adj" fmla="val 18750"/>
            </a:avLst>
          </a:prstGeom>
          <a:solidFill>
            <a:srgbClr val="E4EAF3"/>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Find and replace</a:t>
            </a:r>
            <a:endParaRPr lang="en-US" sz="4200" dirty="0"/>
          </a:p>
        </p:txBody>
      </p:sp>
      <p:sp>
        <p:nvSpPr>
          <p:cNvPr id="28" name="Shape 25"/>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29" name="Text 26"/>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0" name="Text 27"/>
          <p:cNvSpPr txBox="1"/>
          <p:nvPr/>
        </p:nvSpPr>
        <p:spPr>
          <a:xfrm>
            <a:off x="914400" y="2560320"/>
            <a:ext cx="5715000" cy="2057400"/>
          </a:xfrm>
          <a:prstGeom prst="rect">
            <a:avLst/>
          </a:prstGeom>
          <a:noFill/>
          <a:ln/>
        </p:spPr>
        <p:txBody>
          <a:bodyPr wrap="square" lIns="0" tIns="0" rIns="0" bIns="0" rtlCol="0" anchor="t"/>
          <a:lstStyle/>
          <a:p>
            <a:pPr indent="0" marL="0">
              <a:buNone/>
            </a:pPr>
            <a:r>
              <a:rPr lang="en-US" sz="2200" dirty="0">
                <a:solidFill>
                  <a:srgbClr val="FFFFFF"/>
                </a:solidFill>
                <a:latin typeface="Calibri" pitchFamily="34" charset="0"/>
                <a:ea typeface="Calibri" pitchFamily="34" charset="-122"/>
                <a:cs typeface="Calibri" pitchFamily="34" charset="-120"/>
              </a:rPr>
              <a:t>message.txt is corrupted: the same junk string is wedged all through the flag. Spot the junk, then strip every copy with one sed substitution.</a:t>
            </a:r>
            <a:endParaRPr lang="en-US" sz="2200" dirty="0"/>
          </a:p>
        </p:txBody>
      </p:sp>
      <p:sp>
        <p:nvSpPr>
          <p:cNvPr id="31" name="Text 28"/>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~/mission8</a:t>
            </a:r>
            <a:endParaRPr lang="en-US" sz="1300" dirty="0"/>
          </a:p>
        </p:txBody>
      </p:sp>
      <p:sp>
        <p:nvSpPr>
          <p:cNvPr id="32" name="Shape 29"/>
          <p:cNvSpPr/>
          <p:nvPr/>
        </p:nvSpPr>
        <p:spPr>
          <a:xfrm>
            <a:off x="914400" y="5166360"/>
            <a:ext cx="3291840" cy="502920"/>
          </a:xfrm>
          <a:prstGeom prst="roundRect">
            <a:avLst>
              <a:gd name="adj" fmla="val 14545"/>
            </a:avLst>
          </a:prstGeom>
          <a:solidFill>
            <a:srgbClr val="F5A623"/>
          </a:solidFill>
          <a:ln/>
        </p:spPr>
      </p:sp>
      <p:sp>
        <p:nvSpPr>
          <p:cNvPr id="33" name="Text 30"/>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50" dirty="0">
                <a:solidFill>
                  <a:srgbClr val="12213A"/>
                </a:solidFill>
                <a:latin typeface="Calibri" pitchFamily="34" charset="0"/>
                <a:ea typeface="Calibri" pitchFamily="34" charset="-122"/>
                <a:cs typeface="Calibri" pitchFamily="34" charset="-120"/>
              </a:rPr>
              <a:t>Tools: </a:t>
            </a:r>
            <a:pPr algn="ctr" indent="0" marL="0">
              <a:buNone/>
            </a:pPr>
            <a:r>
              <a:rPr lang="en-US" sz="1350" b="1" dirty="0">
                <a:solidFill>
                  <a:srgbClr val="12213A"/>
                </a:solidFill>
                <a:latin typeface="Courier New" pitchFamily="34" charset="0"/>
                <a:ea typeface="Courier New" pitchFamily="34" charset="-122"/>
                <a:cs typeface="Courier New" pitchFamily="34" charset="-120"/>
              </a:rPr>
              <a:t>sed 's/old/new/g'</a:t>
            </a:r>
            <a:endParaRPr lang="en-US" sz="1350" dirty="0"/>
          </a:p>
        </p:txBody>
      </p:sp>
      <p:sp>
        <p:nvSpPr>
          <p:cNvPr id="34" name="Shape 31"/>
          <p:cNvSpPr/>
          <p:nvPr/>
        </p:nvSpPr>
        <p:spPr>
          <a:xfrm>
            <a:off x="4389120" y="5166360"/>
            <a:ext cx="2240280" cy="502920"/>
          </a:xfrm>
          <a:prstGeom prst="roundRect">
            <a:avLst>
              <a:gd name="adj" fmla="val 14545"/>
            </a:avLst>
          </a:prstGeom>
          <a:solidFill>
            <a:srgbClr val="2B3B5C"/>
          </a:solidFill>
          <a:ln/>
        </p:spPr>
      </p:sp>
      <p:sp>
        <p:nvSpPr>
          <p:cNvPr id="35" name="Text 32"/>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+400 points</a:t>
            </a:r>
            <a:endParaRPr lang="en-US" sz="1600" dirty="0"/>
          </a:p>
        </p:txBody>
      </p:sp>
      <p:sp>
        <p:nvSpPr>
          <p:cNvPr id="36" name="Shape 33"/>
          <p:cNvSpPr/>
          <p:nvPr/>
        </p:nvSpPr>
        <p:spPr>
          <a:xfrm>
            <a:off x="7269480" y="1920240"/>
            <a:ext cx="4370832" cy="2788920"/>
          </a:xfrm>
          <a:prstGeom prst="roundRect">
            <a:avLst>
              <a:gd name="adj" fmla="val 3279"/>
            </a:avLst>
          </a:prstGeom>
          <a:solidFill>
            <a:srgbClr val="F1F5FB"/>
          </a:solidFill>
          <a:ln/>
        </p:spPr>
      </p:sp>
      <p:sp>
        <p:nvSpPr>
          <p:cNvPr id="37" name="Text 34"/>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38" name="Text 35"/>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cat the file. What junk string repeats between the characters?</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does the s in sed 's/old/new/g' do?</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To delete text, what do you replace it with?</a:t>
            </a:r>
            <a:endParaRPr lang="en-US" sz="1550" dirty="0"/>
          </a:p>
        </p:txBody>
      </p:sp>
      <p:sp>
        <p:nvSpPr>
          <p:cNvPr id="39" name="Shape 36"/>
          <p:cNvSpPr/>
          <p:nvPr/>
        </p:nvSpPr>
        <p:spPr>
          <a:xfrm>
            <a:off x="7269480" y="4892040"/>
            <a:ext cx="4370832" cy="1051560"/>
          </a:xfrm>
          <a:prstGeom prst="roundRect">
            <a:avLst>
              <a:gd name="adj" fmla="val 8696"/>
            </a:avLst>
          </a:prstGeom>
          <a:solidFill>
            <a:srgbClr val="17875A"/>
          </a:solidFill>
          <a:ln/>
        </p:spPr>
      </p:sp>
      <p:sp>
        <p:nvSpPr>
          <p:cNvPr id="40" name="Text 37"/>
          <p:cNvSpPr txBox="1"/>
          <p:nvPr/>
        </p:nvSpPr>
        <p:spPr>
          <a:xfrm>
            <a:off x="7498080" y="4892040"/>
            <a:ext cx="15544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1" name="Text 38"/>
          <p:cNvSpPr txBox="1"/>
          <p:nvPr/>
        </p:nvSpPr>
        <p:spPr>
          <a:xfrm>
            <a:off x="9098280" y="4892040"/>
            <a:ext cx="2377440" cy="10515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Students try on their own. Reveal after.</a:t>
            </a:r>
            <a:endParaRPr lang="en-US" sz="1350" dirty="0"/>
          </a:p>
        </p:txBody>
      </p:sp>
      <p:sp>
        <p:nvSpPr>
          <p:cNvPr id="42" name="Text 39"/>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74 / 79</a:t>
            </a:r>
            <a:endParaRPr lang="en-US" sz="10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3" name="Shape 0"/>
          <p:cNvSpPr/>
          <p:nvPr/>
        </p:nvSpPr>
        <p:spPr>
          <a:xfrm>
            <a:off x="548640" y="438912"/>
            <a:ext cx="2103120" cy="347472"/>
          </a:xfrm>
          <a:prstGeom prst="roundRect">
            <a:avLst>
              <a:gd name="adj" fmla="val 50000"/>
            </a:avLst>
          </a:prstGeom>
          <a:solidFill>
            <a:srgbClr val="0F9488"/>
          </a:solidFill>
          <a:ln/>
        </p:spPr>
      </p:sp>
      <p:sp>
        <p:nvSpPr>
          <p:cNvPr id="4" name="Text 1"/>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8 of 10</a:t>
            </a:r>
            <a:endParaRPr lang="en-US" sz="1400" dirty="0"/>
          </a:p>
        </p:txBody>
      </p:sp>
      <p:sp>
        <p:nvSpPr>
          <p:cNvPr id="5" name="Shape 2"/>
          <p:cNvSpPr/>
          <p:nvPr/>
        </p:nvSpPr>
        <p:spPr>
          <a:xfrm>
            <a:off x="2788920" y="438912"/>
            <a:ext cx="1828800" cy="347472"/>
          </a:xfrm>
          <a:prstGeom prst="roundRect">
            <a:avLst>
              <a:gd name="adj" fmla="val 50000"/>
            </a:avLst>
          </a:prstGeom>
          <a:solidFill>
            <a:srgbClr val="FDE8EC"/>
          </a:solidFill>
          <a:ln/>
        </p:spPr>
      </p:sp>
      <p:sp>
        <p:nvSpPr>
          <p:cNvPr id="6" name="Text 3"/>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75488"/>
            <a:ext cx="421538" cy="292608"/>
          </a:xfrm>
          <a:prstGeom prst="roundRect">
            <a:avLst>
              <a:gd name="adj" fmla="val 18750"/>
            </a:avLst>
          </a:prstGeom>
          <a:solidFill>
            <a:srgbClr val="2A9FD6"/>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75488"/>
            <a:ext cx="421538" cy="292608"/>
          </a:xfrm>
          <a:prstGeom prst="roundRect">
            <a:avLst>
              <a:gd name="adj" fmla="val 18750"/>
            </a:avLst>
          </a:prstGeom>
          <a:solidFill>
            <a:srgbClr val="2459D8"/>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75488"/>
            <a:ext cx="421538" cy="292608"/>
          </a:xfrm>
          <a:prstGeom prst="roundRect">
            <a:avLst>
              <a:gd name="adj" fmla="val 18750"/>
            </a:avLst>
          </a:prstGeom>
          <a:solidFill>
            <a:srgbClr val="7448D4"/>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75488"/>
            <a:ext cx="421538" cy="292608"/>
          </a:xfrm>
          <a:prstGeom prst="roundRect">
            <a:avLst>
              <a:gd name="adj" fmla="val 18750"/>
            </a:avLst>
          </a:prstGeom>
          <a:solidFill>
            <a:srgbClr val="D1416B"/>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75488"/>
            <a:ext cx="421538" cy="292608"/>
          </a:xfrm>
          <a:prstGeom prst="roundRect">
            <a:avLst>
              <a:gd name="adj" fmla="val 18750"/>
            </a:avLst>
          </a:prstGeom>
          <a:solidFill>
            <a:srgbClr val="E8820C"/>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75488"/>
            <a:ext cx="421538" cy="292608"/>
          </a:xfrm>
          <a:prstGeom prst="roundRect">
            <a:avLst>
              <a:gd name="adj" fmla="val 18750"/>
            </a:avLst>
          </a:prstGeom>
          <a:solidFill>
            <a:srgbClr val="C9A227"/>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20624"/>
            <a:ext cx="421538" cy="402336"/>
          </a:xfrm>
          <a:prstGeom prst="roundRect">
            <a:avLst>
              <a:gd name="adj" fmla="val 13636"/>
            </a:avLst>
          </a:prstGeom>
          <a:solidFill>
            <a:srgbClr val="0F9488"/>
          </a:solidFill>
          <a:ln/>
        </p:spPr>
      </p:sp>
      <p:sp>
        <p:nvSpPr>
          <p:cNvPr id="22" name="Text 19"/>
          <p:cNvSpPr txBox="1"/>
          <p:nvPr/>
        </p:nvSpPr>
        <p:spPr>
          <a:xfrm>
            <a:off x="10229393"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23" name="Shape 20"/>
          <p:cNvSpPr/>
          <p:nvPr/>
        </p:nvSpPr>
        <p:spPr>
          <a:xfrm>
            <a:off x="10724083" y="475488"/>
            <a:ext cx="421538" cy="292608"/>
          </a:xfrm>
          <a:prstGeom prst="roundRect">
            <a:avLst>
              <a:gd name="adj" fmla="val 18750"/>
            </a:avLst>
          </a:prstGeom>
          <a:solidFill>
            <a:srgbClr val="E4EAF3"/>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Solving Find and replace</a:t>
            </a:r>
            <a:endParaRPr lang="en-US" sz="3000" dirty="0"/>
          </a:p>
        </p:txBody>
      </p:sp>
      <p:sp>
        <p:nvSpPr>
          <p:cNvPr id="28" name="Shape 25"/>
          <p:cNvSpPr/>
          <p:nvPr/>
        </p:nvSpPr>
        <p:spPr>
          <a:xfrm>
            <a:off x="548640" y="1691640"/>
            <a:ext cx="6720840" cy="4251960"/>
          </a:xfrm>
          <a:prstGeom prst="roundRect">
            <a:avLst>
              <a:gd name="adj" fmla="val 2151"/>
            </a:avLst>
          </a:prstGeom>
          <a:solidFill>
            <a:srgbClr val="0E1726"/>
          </a:solidFill>
          <a:ln/>
          <a:effectLst>
            <a:outerShdw sx="100000" sy="100000" kx="0" ky="0" algn="bl" rotWithShape="0" blurRad="127000" dist="38100" dir="5400000">
              <a:srgbClr val="12213A">
                <a:alpha val="22000"/>
              </a:srgbClr>
            </a:outerShdw>
          </a:effectLst>
        </p:spPr>
      </p:sp>
      <p:sp>
        <p:nvSpPr>
          <p:cNvPr id="29" name="Shape 26"/>
          <p:cNvSpPr/>
          <p:nvPr/>
        </p:nvSpPr>
        <p:spPr>
          <a:xfrm>
            <a:off x="749808" y="1847088"/>
            <a:ext cx="118872" cy="118872"/>
          </a:xfrm>
          <a:prstGeom prst="ellipse">
            <a:avLst/>
          </a:prstGeom>
          <a:solidFill>
            <a:srgbClr val="E5534B"/>
          </a:solidFill>
          <a:ln/>
        </p:spPr>
      </p:sp>
      <p:sp>
        <p:nvSpPr>
          <p:cNvPr id="30" name="Shape 27"/>
          <p:cNvSpPr/>
          <p:nvPr/>
        </p:nvSpPr>
        <p:spPr>
          <a:xfrm>
            <a:off x="950976" y="1847088"/>
            <a:ext cx="118872" cy="118872"/>
          </a:xfrm>
          <a:prstGeom prst="ellipse">
            <a:avLst/>
          </a:prstGeom>
          <a:solidFill>
            <a:srgbClr val="F5A623"/>
          </a:solidFill>
          <a:ln/>
        </p:spPr>
      </p:sp>
      <p:sp>
        <p:nvSpPr>
          <p:cNvPr id="31" name="Shape 28"/>
          <p:cNvSpPr/>
          <p:nvPr/>
        </p:nvSpPr>
        <p:spPr>
          <a:xfrm>
            <a:off x="1152144" y="1847088"/>
            <a:ext cx="118872" cy="118872"/>
          </a:xfrm>
          <a:prstGeom prst="ellipse">
            <a:avLst/>
          </a:prstGeom>
          <a:solidFill>
            <a:srgbClr val="46D39A"/>
          </a:solidFill>
          <a:ln/>
        </p:spPr>
      </p:sp>
      <p:sp>
        <p:nvSpPr>
          <p:cNvPr id="32" name="Text 29"/>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3" name="Text 30"/>
          <p:cNvSpPr txBox="1"/>
          <p:nvPr/>
        </p:nvSpPr>
        <p:spPr>
          <a:xfrm>
            <a:off x="822960" y="2148840"/>
            <a:ext cx="6172200" cy="3657600"/>
          </a:xfrm>
          <a:prstGeom prst="rect">
            <a:avLst/>
          </a:prstGeom>
          <a:noFill/>
          <a:ln/>
        </p:spPr>
        <p:txBody>
          <a:bodyPr wrap="square" lIns="0" tIns="0" rIns="0" bIns="0" rtlCol="0" anchor="t"/>
          <a:lstStyle/>
          <a:p>
            <a:pPr indent="0" marL="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50" b="1" dirty="0">
                <a:solidFill>
                  <a:srgbClr val="FFFFFF"/>
                </a:solidFill>
                <a:latin typeface="Courier New" pitchFamily="34" charset="0"/>
                <a:ea typeface="Courier New" pitchFamily="34" charset="-122"/>
                <a:cs typeface="Courier New" pitchFamily="34" charset="-120"/>
              </a:rPr>
              <a:t>cd ~/mission8</a:t>
            </a:r>
            <a:endParaRPr lang="en-US" sz="1250" dirty="0"/>
          </a:p>
          <a:p>
            <a:pPr indent="0" marL="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50" b="1" dirty="0">
                <a:solidFill>
                  <a:srgbClr val="FFFFFF"/>
                </a:solidFill>
                <a:latin typeface="Courier New" pitchFamily="34" charset="0"/>
                <a:ea typeface="Courier New" pitchFamily="34" charset="-122"/>
                <a:cs typeface="Courier New" pitchFamily="34" charset="-120"/>
              </a:rPr>
              <a:t>cat message.txt</a:t>
            </a:r>
            <a:endParaRPr lang="en-US" sz="1250" dirty="0"/>
          </a:p>
          <a:p>
            <a:pPr indent="0" marL="0">
              <a:spcAft>
                <a:spcPts val="200"/>
              </a:spcAft>
              <a:buNone/>
            </a:pPr>
            <a:r>
              <a:rPr lang="en-US" sz="1250" dirty="0">
                <a:solidFill>
                  <a:srgbClr val="B8C4D9"/>
                </a:solidFill>
                <a:latin typeface="Courier New" pitchFamily="34" charset="0"/>
                <a:ea typeface="Courier New" pitchFamily="34" charset="-122"/>
                <a:cs typeface="Courier New" pitchFamily="34" charset="-120"/>
              </a:rPr>
              <a:t>This file is corrupted: the same junk string ...</a:t>
            </a:r>
            <a:endParaRPr lang="en-US" sz="1250" dirty="0"/>
          </a:p>
          <a:p>
            <a:pPr indent="0" marL="0">
              <a:spcAft>
                <a:spcPts val="200"/>
              </a:spcAft>
              <a:buNone/>
            </a:pPr>
            <a:r>
              <a:rPr lang="en-US" sz="1250" dirty="0">
                <a:solidFill>
                  <a:srgbClr val="B8C4D9"/>
                </a:solidFill>
                <a:latin typeface="Courier New" pitchFamily="34" charset="0"/>
                <a:ea typeface="Courier New" pitchFamily="34" charset="-122"/>
                <a:cs typeface="Courier New" pitchFamily="34" charset="-120"/>
              </a:rPr>
              <a:t>Flag: CQZYQZBQZAQZ{QZsQZeQZdQZ-QZ...QZ}</a:t>
            </a:r>
            <a:endParaRPr lang="en-US" sz="1250" dirty="0"/>
          </a:p>
          <a:p>
            <a:pPr indent="0" marL="0">
              <a:spcAft>
                <a:spcPts val="200"/>
              </a:spcAft>
              <a:buNone/>
            </a:pPr>
            <a:r>
              <a:rPr lang="en-US" sz="1250" dirty="0">
                <a:solidFill>
                  <a:srgbClr val="7F8FAD"/>
                </a:solidFill>
                <a:latin typeface="Courier New" pitchFamily="34" charset="0"/>
                <a:ea typeface="Courier New" pitchFamily="34" charset="-122"/>
                <a:cs typeface="Courier New" pitchFamily="34" charset="-120"/>
              </a:rPr>
              <a:t># the junk is QZ, wedged between every character</a:t>
            </a:r>
            <a:endParaRPr lang="en-US" sz="1250" dirty="0"/>
          </a:p>
          <a:p>
            <a:pPr indent="0" marL="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50" b="1" dirty="0">
                <a:solidFill>
                  <a:srgbClr val="FFFFFF"/>
                </a:solidFill>
                <a:latin typeface="Courier New" pitchFamily="34" charset="0"/>
                <a:ea typeface="Courier New" pitchFamily="34" charset="-122"/>
                <a:cs typeface="Courier New" pitchFamily="34" charset="-120"/>
              </a:rPr>
              <a:t>sed 's/QZ//g' message.txt</a:t>
            </a:r>
            <a:endParaRPr lang="en-US" sz="1250" dirty="0"/>
          </a:p>
          <a:p>
            <a:pPr indent="0" marL="0">
              <a:spcAft>
                <a:spcPts val="200"/>
              </a:spcAft>
              <a:buNone/>
            </a:pPr>
            <a:r>
              <a:rPr lang="en-US" sz="1250" b="1" dirty="0">
                <a:solidFill>
                  <a:srgbClr val="F5A623"/>
                </a:solidFill>
                <a:latin typeface="Courier New" pitchFamily="34" charset="0"/>
                <a:ea typeface="Courier New" pitchFamily="34" charset="-122"/>
                <a:cs typeface="Courier New" pitchFamily="34" charset="-120"/>
              </a:rPr>
              <a:t>Flag: CYBA{sed-...}</a:t>
            </a:r>
            <a:endParaRPr lang="en-US" sz="1250" dirty="0"/>
          </a:p>
          <a:p>
            <a:pPr indent="0" marL="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50" b="1" dirty="0">
                <a:solidFill>
                  <a:srgbClr val="FFFFFF"/>
                </a:solidFill>
                <a:latin typeface="Courier New" pitchFamily="34" charset="0"/>
                <a:ea typeface="Courier New" pitchFamily="34" charset="-122"/>
                <a:cs typeface="Courier New" pitchFamily="34" charset="-120"/>
              </a:rPr>
              <a:t>submit CYBA{sed-...}</a:t>
            </a:r>
            <a:endParaRPr lang="en-US" sz="1250" dirty="0"/>
          </a:p>
          <a:p>
            <a:pPr indent="0" marL="0">
              <a:spcAft>
                <a:spcPts val="200"/>
              </a:spcAft>
              <a:buNone/>
            </a:pPr>
            <a:r>
              <a:rPr lang="en-US" sz="1250" dirty="0">
                <a:solidFill>
                  <a:srgbClr val="B8C4D9"/>
                </a:solidFill>
                <a:latin typeface="Courier New" pitchFamily="34" charset="0"/>
                <a:ea typeface="Courier New" pitchFamily="34" charset="-122"/>
                <a:cs typeface="Courier New" pitchFamily="34" charset="-120"/>
              </a:rPr>
              <a:t>Correct! +400 points</a:t>
            </a:r>
            <a:endParaRPr lang="en-US" sz="1250" dirty="0"/>
          </a:p>
        </p:txBody>
      </p:sp>
      <p:sp>
        <p:nvSpPr>
          <p:cNvPr id="34" name="Text 31"/>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5" name="Shape 32"/>
          <p:cNvSpPr/>
          <p:nvPr/>
        </p:nvSpPr>
        <p:spPr>
          <a:xfrm>
            <a:off x="7543800" y="2194560"/>
            <a:ext cx="457200" cy="457200"/>
          </a:xfrm>
          <a:prstGeom prst="ellipse">
            <a:avLst/>
          </a:prstGeom>
          <a:solidFill>
            <a:srgbClr val="0F9488"/>
          </a:solidFill>
          <a:ln/>
        </p:spPr>
      </p:sp>
      <p:sp>
        <p:nvSpPr>
          <p:cNvPr id="36" name="Text 33"/>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7" name="Text 34"/>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cat showed the flag with a junk string packed between every character.</a:t>
            </a:r>
            <a:endParaRPr lang="en-US" sz="1400" dirty="0"/>
          </a:p>
        </p:txBody>
      </p:sp>
      <p:sp>
        <p:nvSpPr>
          <p:cNvPr id="38" name="Shape 35"/>
          <p:cNvSpPr/>
          <p:nvPr/>
        </p:nvSpPr>
        <p:spPr>
          <a:xfrm>
            <a:off x="7543800" y="2980944"/>
            <a:ext cx="457200" cy="457200"/>
          </a:xfrm>
          <a:prstGeom prst="ellipse">
            <a:avLst/>
          </a:prstGeom>
          <a:solidFill>
            <a:srgbClr val="0F9488"/>
          </a:solidFill>
          <a:ln/>
        </p:spPr>
      </p:sp>
      <p:sp>
        <p:nvSpPr>
          <p:cNvPr id="39" name="Text 36"/>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0" name="Text 37"/>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sed 's/QZ//g' replaced every copy of the junk with nothing.</a:t>
            </a:r>
            <a:endParaRPr lang="en-US" sz="1400" dirty="0"/>
          </a:p>
        </p:txBody>
      </p:sp>
      <p:sp>
        <p:nvSpPr>
          <p:cNvPr id="41" name="Shape 38"/>
          <p:cNvSpPr/>
          <p:nvPr/>
        </p:nvSpPr>
        <p:spPr>
          <a:xfrm>
            <a:off x="7543800" y="3767328"/>
            <a:ext cx="457200" cy="457200"/>
          </a:xfrm>
          <a:prstGeom prst="ellipse">
            <a:avLst/>
          </a:prstGeom>
          <a:solidFill>
            <a:srgbClr val="0F9488"/>
          </a:solidFill>
          <a:ln/>
        </p:spPr>
      </p:sp>
      <p:sp>
        <p:nvSpPr>
          <p:cNvPr id="42" name="Text 39"/>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3" name="Text 40"/>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An empty replacement is how you delete text with sed.</a:t>
            </a:r>
            <a:endParaRPr lang="en-US" sz="1400" dirty="0"/>
          </a:p>
        </p:txBody>
      </p:sp>
      <p:sp>
        <p:nvSpPr>
          <p:cNvPr id="44" name="Shape 41"/>
          <p:cNvSpPr/>
          <p:nvPr/>
        </p:nvSpPr>
        <p:spPr>
          <a:xfrm>
            <a:off x="7543800" y="4572000"/>
            <a:ext cx="4096512" cy="749808"/>
          </a:xfrm>
          <a:prstGeom prst="roundRect">
            <a:avLst>
              <a:gd name="adj" fmla="val 12195"/>
            </a:avLst>
          </a:prstGeom>
          <a:solidFill>
            <a:srgbClr val="FFF4DC"/>
          </a:solidFill>
          <a:ln/>
        </p:spPr>
      </p:sp>
      <p:sp>
        <p:nvSpPr>
          <p:cNvPr id="45" name="Text 42"/>
          <p:cNvSpPr txBox="1"/>
          <p:nvPr/>
        </p:nvSpPr>
        <p:spPr>
          <a:xfrm>
            <a:off x="7699248" y="4572000"/>
            <a:ext cx="3803904" cy="749808"/>
          </a:xfrm>
          <a:prstGeom prst="rect">
            <a:avLst/>
          </a:prstGeom>
          <a:noFill/>
          <a:ln/>
        </p:spPr>
        <p:txBody>
          <a:bodyPr wrap="square" lIns="0" tIns="0" rIns="0" bIns="0" rtlCol="0" anchor="ctr"/>
          <a:lstStyle/>
          <a:p>
            <a:pPr indent="0" marL="0">
              <a:buNone/>
            </a:pPr>
            <a:r>
              <a:rPr lang="en-US" sz="1300" b="1" dirty="0">
                <a:solidFill>
                  <a:srgbClr val="12213A"/>
                </a:solidFill>
                <a:latin typeface="Calibri" pitchFamily="34" charset="0"/>
                <a:ea typeface="Calibri" pitchFamily="34" charset="-122"/>
                <a:cs typeface="Calibri" pitchFamily="34" charset="-120"/>
              </a:rPr>
              <a:t>Real world: </a:t>
            </a:r>
            <a:pPr indent="0" marL="0">
              <a:buNone/>
            </a:pPr>
            <a:r>
              <a:rPr lang="en-US" sz="1300" dirty="0">
                <a:solidFill>
                  <a:srgbClr val="12213A"/>
                </a:solidFill>
                <a:latin typeface="Calibri" pitchFamily="34" charset="0"/>
                <a:ea typeface="Calibri" pitchFamily="34" charset="-122"/>
                <a:cs typeface="Calibri" pitchFamily="34" charset="-120"/>
              </a:rPr>
              <a:t>Analysts clean up noisy logs and dumps with sed constantly: strip markers, fix formats, pull signal from noise.</a:t>
            </a:r>
            <a:endParaRPr lang="en-US" sz="1300" dirty="0"/>
          </a:p>
        </p:txBody>
      </p:sp>
      <p:sp>
        <p:nvSpPr>
          <p:cNvPr id="46" name="Shape 43"/>
          <p:cNvSpPr/>
          <p:nvPr/>
        </p:nvSpPr>
        <p:spPr>
          <a:xfrm>
            <a:off x="7543800" y="5413248"/>
            <a:ext cx="4096512" cy="566928"/>
          </a:xfrm>
          <a:prstGeom prst="roundRect">
            <a:avLst>
              <a:gd name="adj" fmla="val 16129"/>
            </a:avLst>
          </a:prstGeom>
          <a:solidFill>
            <a:srgbClr val="F1F5FB"/>
          </a:solidFill>
          <a:ln/>
        </p:spPr>
      </p:sp>
      <p:sp>
        <p:nvSpPr>
          <p:cNvPr id="47" name="Text 44"/>
          <p:cNvSpPr txBox="1"/>
          <p:nvPr/>
        </p:nvSpPr>
        <p:spPr>
          <a:xfrm>
            <a:off x="7699248" y="5413248"/>
            <a:ext cx="3803904" cy="566928"/>
          </a:xfrm>
          <a:prstGeom prst="rect">
            <a:avLst/>
          </a:prstGeom>
          <a:noFill/>
          <a:ln/>
        </p:spPr>
        <p:txBody>
          <a:bodyPr wrap="square" lIns="0" tIns="0" rIns="0" bIns="0" rtlCol="0" anchor="ctr"/>
          <a:lstStyle/>
          <a:p>
            <a:pPr indent="0" marL="0">
              <a:buNone/>
            </a:pPr>
            <a:r>
              <a:rPr lang="en-US" sz="1200" b="1" dirty="0">
                <a:solidFill>
                  <a:srgbClr val="0F9488"/>
                </a:solidFill>
                <a:latin typeface="Calibri" pitchFamily="34" charset="0"/>
                <a:ea typeface="Calibri" pitchFamily="34" charset="-122"/>
                <a:cs typeface="Calibri" pitchFamily="34" charset="-120"/>
              </a:rPr>
              <a:t>Stretch: </a:t>
            </a:r>
            <a:pPr indent="0" marL="0">
              <a:buNone/>
            </a:pPr>
            <a:r>
              <a:rPr lang="en-US" sz="1200" dirty="0">
                <a:solidFill>
                  <a:srgbClr val="12213A"/>
                </a:solidFill>
                <a:latin typeface="Calibri" pitchFamily="34" charset="0"/>
                <a:ea typeface="Calibri" pitchFamily="34" charset="-122"/>
                <a:cs typeface="Calibri" pitchFamily="34" charset="-120"/>
              </a:rPr>
              <a:t>Replace instead of delete: run sed 's/a/@/g' on any file. What changed?</a:t>
            </a:r>
            <a:endParaRPr lang="en-US" sz="1200" dirty="0"/>
          </a:p>
        </p:txBody>
      </p:sp>
      <p:sp>
        <p:nvSpPr>
          <p:cNvPr id="48" name="Text 45"/>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49" name="Text 46"/>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75 / 79</a:t>
            </a:r>
            <a:endParaRPr lang="en-US" sz="10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3" name="Shape 0"/>
          <p:cNvSpPr/>
          <p:nvPr/>
        </p:nvSpPr>
        <p:spPr>
          <a:xfrm>
            <a:off x="548640" y="438912"/>
            <a:ext cx="1828800" cy="347472"/>
          </a:xfrm>
          <a:prstGeom prst="roundRect">
            <a:avLst>
              <a:gd name="adj" fmla="val 50000"/>
            </a:avLst>
          </a:prstGeom>
          <a:solidFill>
            <a:srgbClr val="5B6EE1"/>
          </a:solidFill>
          <a:ln/>
        </p:spPr>
      </p:sp>
      <p:sp>
        <p:nvSpPr>
          <p:cNvPr id="4" name="Text 1"/>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9 of 10</a:t>
            </a:r>
            <a:endParaRPr lang="en-US" sz="1400" dirty="0"/>
          </a:p>
        </p:txBody>
      </p:sp>
      <p:sp>
        <p:nvSpPr>
          <p:cNvPr id="5" name="Shape 2"/>
          <p:cNvSpPr/>
          <p:nvPr/>
        </p:nvSpPr>
        <p:spPr>
          <a:xfrm>
            <a:off x="2514600" y="438912"/>
            <a:ext cx="1828800" cy="347472"/>
          </a:xfrm>
          <a:prstGeom prst="roundRect">
            <a:avLst>
              <a:gd name="adj" fmla="val 50000"/>
            </a:avLst>
          </a:prstGeom>
          <a:solidFill>
            <a:srgbClr val="FDE8EC"/>
          </a:solidFill>
          <a:ln/>
        </p:spPr>
      </p:sp>
      <p:sp>
        <p:nvSpPr>
          <p:cNvPr id="6" name="Text 3"/>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75488"/>
            <a:ext cx="421538" cy="292608"/>
          </a:xfrm>
          <a:prstGeom prst="roundRect">
            <a:avLst>
              <a:gd name="adj" fmla="val 18750"/>
            </a:avLst>
          </a:prstGeom>
          <a:solidFill>
            <a:srgbClr val="2A9FD6"/>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75488"/>
            <a:ext cx="421538" cy="292608"/>
          </a:xfrm>
          <a:prstGeom prst="roundRect">
            <a:avLst>
              <a:gd name="adj" fmla="val 18750"/>
            </a:avLst>
          </a:prstGeom>
          <a:solidFill>
            <a:srgbClr val="2459D8"/>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75488"/>
            <a:ext cx="421538" cy="292608"/>
          </a:xfrm>
          <a:prstGeom prst="roundRect">
            <a:avLst>
              <a:gd name="adj" fmla="val 18750"/>
            </a:avLst>
          </a:prstGeom>
          <a:solidFill>
            <a:srgbClr val="7448D4"/>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75488"/>
            <a:ext cx="421538" cy="292608"/>
          </a:xfrm>
          <a:prstGeom prst="roundRect">
            <a:avLst>
              <a:gd name="adj" fmla="val 18750"/>
            </a:avLst>
          </a:prstGeom>
          <a:solidFill>
            <a:srgbClr val="D1416B"/>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75488"/>
            <a:ext cx="421538" cy="292608"/>
          </a:xfrm>
          <a:prstGeom prst="roundRect">
            <a:avLst>
              <a:gd name="adj" fmla="val 18750"/>
            </a:avLst>
          </a:prstGeom>
          <a:solidFill>
            <a:srgbClr val="E8820C"/>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75488"/>
            <a:ext cx="421538" cy="292608"/>
          </a:xfrm>
          <a:prstGeom prst="roundRect">
            <a:avLst>
              <a:gd name="adj" fmla="val 18750"/>
            </a:avLst>
          </a:prstGeom>
          <a:solidFill>
            <a:srgbClr val="C9A227"/>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75488"/>
            <a:ext cx="421538" cy="292608"/>
          </a:xfrm>
          <a:prstGeom prst="roundRect">
            <a:avLst>
              <a:gd name="adj" fmla="val 18750"/>
            </a:avLst>
          </a:prstGeom>
          <a:solidFill>
            <a:srgbClr val="0F9488"/>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20624"/>
            <a:ext cx="421538" cy="402336"/>
          </a:xfrm>
          <a:prstGeom prst="roundRect">
            <a:avLst>
              <a:gd name="adj" fmla="val 13636"/>
            </a:avLst>
          </a:prstGeom>
          <a:solidFill>
            <a:srgbClr val="5B6EE1"/>
          </a:solidFill>
          <a:ln/>
        </p:spPr>
      </p:sp>
      <p:sp>
        <p:nvSpPr>
          <p:cNvPr id="24" name="Text 21"/>
          <p:cNvSpPr txBox="1"/>
          <p:nvPr/>
        </p:nvSpPr>
        <p:spPr>
          <a:xfrm>
            <a:off x="10724083"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9</a:t>
            </a:r>
            <a:endParaRPr lang="en-US" sz="13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Forge the key</a:t>
            </a:r>
            <a:endParaRPr lang="en-US" sz="4200" dirty="0"/>
          </a:p>
        </p:txBody>
      </p:sp>
      <p:sp>
        <p:nvSpPr>
          <p:cNvPr id="28" name="Shape 25"/>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29" name="Text 26"/>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0" name="Text 27"/>
          <p:cNvSpPr txBox="1"/>
          <p:nvPr/>
        </p:nvSpPr>
        <p:spPr>
          <a:xfrm>
            <a:off x="914400" y="2560320"/>
            <a:ext cx="5715000" cy="2057400"/>
          </a:xfrm>
          <a:prstGeom prst="rect">
            <a:avLst/>
          </a:prstGeom>
          <a:noFill/>
          <a:ln/>
        </p:spPr>
        <p:txBody>
          <a:bodyPr wrap="square" lIns="0" tIns="0" rIns="0" bIns="0" rtlCol="0" anchor="t"/>
          <a:lstStyle/>
          <a:p>
            <a:pPr indent="0" marL="0">
              <a:buNone/>
            </a:pPr>
            <a:r>
              <a:rPr lang="en-US" sz="2200" dirty="0">
                <a:solidFill>
                  <a:srgbClr val="FFFFFF"/>
                </a:solidFill>
                <a:latin typeface="Calibri" pitchFamily="34" charset="0"/>
                <a:ea typeface="Calibri" pitchFamily="34" charset="-122"/>
                <a:cs typeface="Calibri" pitchFamily="34" charset="-120"/>
              </a:rPr>
              <a:t>records.txt is an access table: user, role, token. The three admin rows hold the flag's three parts, in order. Pull them with awk, save them with &gt;, then forge the flag.</a:t>
            </a:r>
            <a:endParaRPr lang="en-US" sz="2200" dirty="0"/>
          </a:p>
        </p:txBody>
      </p:sp>
      <p:sp>
        <p:nvSpPr>
          <p:cNvPr id="31" name="Text 28"/>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~/mission9</a:t>
            </a:r>
            <a:endParaRPr lang="en-US" sz="1300" dirty="0"/>
          </a:p>
        </p:txBody>
      </p:sp>
      <p:sp>
        <p:nvSpPr>
          <p:cNvPr id="32" name="Shape 29"/>
          <p:cNvSpPr/>
          <p:nvPr/>
        </p:nvSpPr>
        <p:spPr>
          <a:xfrm>
            <a:off x="914400" y="5166360"/>
            <a:ext cx="3291840" cy="502920"/>
          </a:xfrm>
          <a:prstGeom prst="roundRect">
            <a:avLst>
              <a:gd name="adj" fmla="val 14545"/>
            </a:avLst>
          </a:prstGeom>
          <a:solidFill>
            <a:srgbClr val="F5A623"/>
          </a:solidFill>
          <a:ln/>
        </p:spPr>
      </p:sp>
      <p:sp>
        <p:nvSpPr>
          <p:cNvPr id="33" name="Text 30"/>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50" dirty="0">
                <a:solidFill>
                  <a:srgbClr val="12213A"/>
                </a:solidFill>
                <a:latin typeface="Calibri" pitchFamily="34" charset="0"/>
                <a:ea typeface="Calibri" pitchFamily="34" charset="-122"/>
                <a:cs typeface="Calibri" pitchFamily="34" charset="-120"/>
              </a:rPr>
              <a:t>Tools: </a:t>
            </a:r>
            <a:pPr algn="ctr" indent="0" marL="0">
              <a:buNone/>
            </a:pPr>
            <a:r>
              <a:rPr lang="en-US" sz="1350" b="1" dirty="0">
                <a:solidFill>
                  <a:srgbClr val="12213A"/>
                </a:solidFill>
                <a:latin typeface="Courier New" pitchFamily="34" charset="0"/>
                <a:ea typeface="Courier New" pitchFamily="34" charset="-122"/>
                <a:cs typeface="Courier New" pitchFamily="34" charset="-120"/>
              </a:rPr>
              <a:t>awk  &gt;  forge</a:t>
            </a:r>
            <a:endParaRPr lang="en-US" sz="1350" dirty="0"/>
          </a:p>
        </p:txBody>
      </p:sp>
      <p:sp>
        <p:nvSpPr>
          <p:cNvPr id="34" name="Shape 31"/>
          <p:cNvSpPr/>
          <p:nvPr/>
        </p:nvSpPr>
        <p:spPr>
          <a:xfrm>
            <a:off x="4389120" y="5166360"/>
            <a:ext cx="2240280" cy="502920"/>
          </a:xfrm>
          <a:prstGeom prst="roundRect">
            <a:avLst>
              <a:gd name="adj" fmla="val 14545"/>
            </a:avLst>
          </a:prstGeom>
          <a:solidFill>
            <a:srgbClr val="2B3B5C"/>
          </a:solidFill>
          <a:ln/>
        </p:spPr>
      </p:sp>
      <p:sp>
        <p:nvSpPr>
          <p:cNvPr id="35" name="Text 32"/>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+400 points</a:t>
            </a:r>
            <a:endParaRPr lang="en-US" sz="1600" dirty="0"/>
          </a:p>
        </p:txBody>
      </p:sp>
      <p:sp>
        <p:nvSpPr>
          <p:cNvPr id="36" name="Shape 33"/>
          <p:cNvSpPr/>
          <p:nvPr/>
        </p:nvSpPr>
        <p:spPr>
          <a:xfrm>
            <a:off x="7269480" y="1920240"/>
            <a:ext cx="4370832" cy="2788920"/>
          </a:xfrm>
          <a:prstGeom prst="roundRect">
            <a:avLst>
              <a:gd name="adj" fmla="val 3279"/>
            </a:avLst>
          </a:prstGeom>
          <a:solidFill>
            <a:srgbClr val="F1F5FB"/>
          </a:solidFill>
          <a:ln/>
        </p:spPr>
      </p:sp>
      <p:sp>
        <p:nvSpPr>
          <p:cNvPr id="37" name="Text 34"/>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38" name="Text 35"/>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Which column is the token: $1, $2 or $3?</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do you print it only for the admin rows?</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do you save that output into a file?</a:t>
            </a:r>
            <a:endParaRPr lang="en-US" sz="1550" dirty="0"/>
          </a:p>
        </p:txBody>
      </p:sp>
      <p:sp>
        <p:nvSpPr>
          <p:cNvPr id="39" name="Shape 36"/>
          <p:cNvSpPr/>
          <p:nvPr/>
        </p:nvSpPr>
        <p:spPr>
          <a:xfrm>
            <a:off x="7269480" y="4892040"/>
            <a:ext cx="4370832" cy="1051560"/>
          </a:xfrm>
          <a:prstGeom prst="roundRect">
            <a:avLst>
              <a:gd name="adj" fmla="val 8696"/>
            </a:avLst>
          </a:prstGeom>
          <a:solidFill>
            <a:srgbClr val="17875A"/>
          </a:solidFill>
          <a:ln/>
        </p:spPr>
      </p:sp>
      <p:sp>
        <p:nvSpPr>
          <p:cNvPr id="40" name="Text 37"/>
          <p:cNvSpPr txBox="1"/>
          <p:nvPr/>
        </p:nvSpPr>
        <p:spPr>
          <a:xfrm>
            <a:off x="7498080" y="4892040"/>
            <a:ext cx="15544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1" name="Text 38"/>
          <p:cNvSpPr txBox="1"/>
          <p:nvPr/>
        </p:nvSpPr>
        <p:spPr>
          <a:xfrm>
            <a:off x="9098280" y="4892040"/>
            <a:ext cx="2377440" cy="10515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Students try on their own. Reveal after.</a:t>
            </a:r>
            <a:endParaRPr lang="en-US" sz="1350" dirty="0"/>
          </a:p>
        </p:txBody>
      </p:sp>
      <p:sp>
        <p:nvSpPr>
          <p:cNvPr id="42" name="Text 39"/>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76 / 79</a:t>
            </a:r>
            <a:endParaRPr lang="en-US" sz="1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3" name="Shape 0"/>
          <p:cNvSpPr/>
          <p:nvPr/>
        </p:nvSpPr>
        <p:spPr>
          <a:xfrm>
            <a:off x="548640" y="438912"/>
            <a:ext cx="2103120" cy="347472"/>
          </a:xfrm>
          <a:prstGeom prst="roundRect">
            <a:avLst>
              <a:gd name="adj" fmla="val 50000"/>
            </a:avLst>
          </a:prstGeom>
          <a:solidFill>
            <a:srgbClr val="5B6EE1"/>
          </a:solidFill>
          <a:ln/>
        </p:spPr>
      </p:sp>
      <p:sp>
        <p:nvSpPr>
          <p:cNvPr id="4" name="Text 1"/>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9 of 10</a:t>
            </a:r>
            <a:endParaRPr lang="en-US" sz="1400" dirty="0"/>
          </a:p>
        </p:txBody>
      </p:sp>
      <p:sp>
        <p:nvSpPr>
          <p:cNvPr id="5" name="Shape 2"/>
          <p:cNvSpPr/>
          <p:nvPr/>
        </p:nvSpPr>
        <p:spPr>
          <a:xfrm>
            <a:off x="2788920" y="438912"/>
            <a:ext cx="1828800" cy="347472"/>
          </a:xfrm>
          <a:prstGeom prst="roundRect">
            <a:avLst>
              <a:gd name="adj" fmla="val 50000"/>
            </a:avLst>
          </a:prstGeom>
          <a:solidFill>
            <a:srgbClr val="FDE8EC"/>
          </a:solidFill>
          <a:ln/>
        </p:spPr>
      </p:sp>
      <p:sp>
        <p:nvSpPr>
          <p:cNvPr id="6" name="Text 3"/>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75488"/>
            <a:ext cx="421538" cy="292608"/>
          </a:xfrm>
          <a:prstGeom prst="roundRect">
            <a:avLst>
              <a:gd name="adj" fmla="val 18750"/>
            </a:avLst>
          </a:prstGeom>
          <a:solidFill>
            <a:srgbClr val="2A9FD6"/>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75488"/>
            <a:ext cx="421538" cy="292608"/>
          </a:xfrm>
          <a:prstGeom prst="roundRect">
            <a:avLst>
              <a:gd name="adj" fmla="val 18750"/>
            </a:avLst>
          </a:prstGeom>
          <a:solidFill>
            <a:srgbClr val="2459D8"/>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75488"/>
            <a:ext cx="421538" cy="292608"/>
          </a:xfrm>
          <a:prstGeom prst="roundRect">
            <a:avLst>
              <a:gd name="adj" fmla="val 18750"/>
            </a:avLst>
          </a:prstGeom>
          <a:solidFill>
            <a:srgbClr val="7448D4"/>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75488"/>
            <a:ext cx="421538" cy="292608"/>
          </a:xfrm>
          <a:prstGeom prst="roundRect">
            <a:avLst>
              <a:gd name="adj" fmla="val 18750"/>
            </a:avLst>
          </a:prstGeom>
          <a:solidFill>
            <a:srgbClr val="D1416B"/>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75488"/>
            <a:ext cx="421538" cy="292608"/>
          </a:xfrm>
          <a:prstGeom prst="roundRect">
            <a:avLst>
              <a:gd name="adj" fmla="val 18750"/>
            </a:avLst>
          </a:prstGeom>
          <a:solidFill>
            <a:srgbClr val="E8820C"/>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75488"/>
            <a:ext cx="421538" cy="292608"/>
          </a:xfrm>
          <a:prstGeom prst="roundRect">
            <a:avLst>
              <a:gd name="adj" fmla="val 18750"/>
            </a:avLst>
          </a:prstGeom>
          <a:solidFill>
            <a:srgbClr val="C9A227"/>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75488"/>
            <a:ext cx="421538" cy="292608"/>
          </a:xfrm>
          <a:prstGeom prst="roundRect">
            <a:avLst>
              <a:gd name="adj" fmla="val 18750"/>
            </a:avLst>
          </a:prstGeom>
          <a:solidFill>
            <a:srgbClr val="0F9488"/>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20624"/>
            <a:ext cx="421538" cy="402336"/>
          </a:xfrm>
          <a:prstGeom prst="roundRect">
            <a:avLst>
              <a:gd name="adj" fmla="val 13636"/>
            </a:avLst>
          </a:prstGeom>
          <a:solidFill>
            <a:srgbClr val="5B6EE1"/>
          </a:solidFill>
          <a:ln/>
        </p:spPr>
      </p:sp>
      <p:sp>
        <p:nvSpPr>
          <p:cNvPr id="24" name="Text 21"/>
          <p:cNvSpPr txBox="1"/>
          <p:nvPr/>
        </p:nvSpPr>
        <p:spPr>
          <a:xfrm>
            <a:off x="10724083"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9</a:t>
            </a:r>
            <a:endParaRPr lang="en-US" sz="13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Solving Forge the key</a:t>
            </a:r>
            <a:endParaRPr lang="en-US" sz="3000" dirty="0"/>
          </a:p>
        </p:txBody>
      </p:sp>
      <p:sp>
        <p:nvSpPr>
          <p:cNvPr id="28" name="Shape 25"/>
          <p:cNvSpPr/>
          <p:nvPr/>
        </p:nvSpPr>
        <p:spPr>
          <a:xfrm>
            <a:off x="548640" y="1691640"/>
            <a:ext cx="6720840" cy="4251960"/>
          </a:xfrm>
          <a:prstGeom prst="roundRect">
            <a:avLst>
              <a:gd name="adj" fmla="val 2151"/>
            </a:avLst>
          </a:prstGeom>
          <a:solidFill>
            <a:srgbClr val="0E1726"/>
          </a:solidFill>
          <a:ln/>
          <a:effectLst>
            <a:outerShdw sx="100000" sy="100000" kx="0" ky="0" algn="bl" rotWithShape="0" blurRad="127000" dist="38100" dir="5400000">
              <a:srgbClr val="12213A">
                <a:alpha val="22000"/>
              </a:srgbClr>
            </a:outerShdw>
          </a:effectLst>
        </p:spPr>
      </p:sp>
      <p:sp>
        <p:nvSpPr>
          <p:cNvPr id="29" name="Shape 26"/>
          <p:cNvSpPr/>
          <p:nvPr/>
        </p:nvSpPr>
        <p:spPr>
          <a:xfrm>
            <a:off x="749808" y="1847088"/>
            <a:ext cx="118872" cy="118872"/>
          </a:xfrm>
          <a:prstGeom prst="ellipse">
            <a:avLst/>
          </a:prstGeom>
          <a:solidFill>
            <a:srgbClr val="E5534B"/>
          </a:solidFill>
          <a:ln/>
        </p:spPr>
      </p:sp>
      <p:sp>
        <p:nvSpPr>
          <p:cNvPr id="30" name="Shape 27"/>
          <p:cNvSpPr/>
          <p:nvPr/>
        </p:nvSpPr>
        <p:spPr>
          <a:xfrm>
            <a:off x="950976" y="1847088"/>
            <a:ext cx="118872" cy="118872"/>
          </a:xfrm>
          <a:prstGeom prst="ellipse">
            <a:avLst/>
          </a:prstGeom>
          <a:solidFill>
            <a:srgbClr val="F5A623"/>
          </a:solidFill>
          <a:ln/>
        </p:spPr>
      </p:sp>
      <p:sp>
        <p:nvSpPr>
          <p:cNvPr id="31" name="Shape 28"/>
          <p:cNvSpPr/>
          <p:nvPr/>
        </p:nvSpPr>
        <p:spPr>
          <a:xfrm>
            <a:off x="1152144" y="1847088"/>
            <a:ext cx="118872" cy="118872"/>
          </a:xfrm>
          <a:prstGeom prst="ellipse">
            <a:avLst/>
          </a:prstGeom>
          <a:solidFill>
            <a:srgbClr val="46D39A"/>
          </a:solidFill>
          <a:ln/>
        </p:spPr>
      </p:sp>
      <p:sp>
        <p:nvSpPr>
          <p:cNvPr id="32" name="Text 29"/>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3" name="Text 30"/>
          <p:cNvSpPr txBox="1"/>
          <p:nvPr/>
        </p:nvSpPr>
        <p:spPr>
          <a:xfrm>
            <a:off x="822960" y="2148840"/>
            <a:ext cx="6172200" cy="3657600"/>
          </a:xfrm>
          <a:prstGeom prst="rect">
            <a:avLst/>
          </a:prstGeom>
          <a:noFill/>
          <a:ln/>
        </p:spPr>
        <p:txBody>
          <a:bodyPr wrap="square" lIns="0" tIns="0" rIns="0" bIns="0" rtlCol="0" anchor="t"/>
          <a:lstStyle/>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cd ~/mission9</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cat records.txt</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user role token</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dave guest 15b8</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ivan admin 5a37</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grace user 4f20</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awk '/admin/{print $3}' records.txt &gt; keys.txt</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forge keys.txt</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Forging the key...</a:t>
            </a:r>
            <a:endParaRPr lang="en-US" sz="1200" dirty="0"/>
          </a:p>
          <a:p>
            <a:pPr indent="0" marL="0">
              <a:spcAft>
                <a:spcPts val="200"/>
              </a:spcAft>
              <a:buNone/>
            </a:pPr>
            <a:r>
              <a:rPr lang="en-US" sz="1200" b="1" dirty="0">
                <a:solidFill>
                  <a:srgbClr val="F5A623"/>
                </a:solidFill>
                <a:latin typeface="Courier New" pitchFamily="34" charset="0"/>
                <a:ea typeface="Courier New" pitchFamily="34" charset="-122"/>
                <a:cs typeface="Courier New" pitchFamily="34" charset="-120"/>
              </a:rPr>
              <a:t>CYBA{forge-5a37...}</a:t>
            </a:r>
            <a:endParaRPr lang="en-US" sz="1200" dirty="0"/>
          </a:p>
          <a:p>
            <a:pPr indent="0" marL="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submit CYBA{forge-...}</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Correct! +400 points</a:t>
            </a:r>
            <a:endParaRPr lang="en-US" sz="1200" dirty="0"/>
          </a:p>
        </p:txBody>
      </p:sp>
      <p:sp>
        <p:nvSpPr>
          <p:cNvPr id="34" name="Text 31"/>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5" name="Shape 32"/>
          <p:cNvSpPr/>
          <p:nvPr/>
        </p:nvSpPr>
        <p:spPr>
          <a:xfrm>
            <a:off x="7543800" y="2194560"/>
            <a:ext cx="457200" cy="457200"/>
          </a:xfrm>
          <a:prstGeom prst="ellipse">
            <a:avLst/>
          </a:prstGeom>
          <a:solidFill>
            <a:srgbClr val="5B6EE1"/>
          </a:solidFill>
          <a:ln/>
        </p:spPr>
      </p:sp>
      <p:sp>
        <p:nvSpPr>
          <p:cNvPr id="36" name="Text 33"/>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7" name="Text 34"/>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awk '/admin/{print $3}' printed the 3rd field (the token) of every admin row.</a:t>
            </a:r>
            <a:endParaRPr lang="en-US" sz="1400" dirty="0"/>
          </a:p>
        </p:txBody>
      </p:sp>
      <p:sp>
        <p:nvSpPr>
          <p:cNvPr id="38" name="Shape 35"/>
          <p:cNvSpPr/>
          <p:nvPr/>
        </p:nvSpPr>
        <p:spPr>
          <a:xfrm>
            <a:off x="7543800" y="2980944"/>
            <a:ext cx="457200" cy="457200"/>
          </a:xfrm>
          <a:prstGeom prst="ellipse">
            <a:avLst/>
          </a:prstGeom>
          <a:solidFill>
            <a:srgbClr val="5B6EE1"/>
          </a:solidFill>
          <a:ln/>
        </p:spPr>
      </p:sp>
      <p:sp>
        <p:nvSpPr>
          <p:cNvPr id="39" name="Text 36"/>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0" name="Text 37"/>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The &gt; saved those three parts into keys.txt.</a:t>
            </a:r>
            <a:endParaRPr lang="en-US" sz="1400" dirty="0"/>
          </a:p>
        </p:txBody>
      </p:sp>
      <p:sp>
        <p:nvSpPr>
          <p:cNvPr id="41" name="Shape 38"/>
          <p:cNvSpPr/>
          <p:nvPr/>
        </p:nvSpPr>
        <p:spPr>
          <a:xfrm>
            <a:off x="7543800" y="3767328"/>
            <a:ext cx="457200" cy="457200"/>
          </a:xfrm>
          <a:prstGeom prst="ellipse">
            <a:avLst/>
          </a:prstGeom>
          <a:solidFill>
            <a:srgbClr val="5B6EE1"/>
          </a:solidFill>
          <a:ln/>
        </p:spPr>
      </p:sp>
      <p:sp>
        <p:nvSpPr>
          <p:cNvPr id="42" name="Text 39"/>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3" name="Text 40"/>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forge read the file and assembled the parts into the flag.</a:t>
            </a:r>
            <a:endParaRPr lang="en-US" sz="1400" dirty="0"/>
          </a:p>
        </p:txBody>
      </p:sp>
      <p:sp>
        <p:nvSpPr>
          <p:cNvPr id="44" name="Shape 41"/>
          <p:cNvSpPr/>
          <p:nvPr/>
        </p:nvSpPr>
        <p:spPr>
          <a:xfrm>
            <a:off x="7543800" y="4572000"/>
            <a:ext cx="4096512" cy="749808"/>
          </a:xfrm>
          <a:prstGeom prst="roundRect">
            <a:avLst>
              <a:gd name="adj" fmla="val 12195"/>
            </a:avLst>
          </a:prstGeom>
          <a:solidFill>
            <a:srgbClr val="FFF4DC"/>
          </a:solidFill>
          <a:ln/>
        </p:spPr>
      </p:sp>
      <p:sp>
        <p:nvSpPr>
          <p:cNvPr id="45" name="Text 42"/>
          <p:cNvSpPr txBox="1"/>
          <p:nvPr/>
        </p:nvSpPr>
        <p:spPr>
          <a:xfrm>
            <a:off x="7699248" y="4572000"/>
            <a:ext cx="3803904" cy="749808"/>
          </a:xfrm>
          <a:prstGeom prst="rect">
            <a:avLst/>
          </a:prstGeom>
          <a:noFill/>
          <a:ln/>
        </p:spPr>
        <p:txBody>
          <a:bodyPr wrap="square" lIns="0" tIns="0" rIns="0" bIns="0" rtlCol="0" anchor="ctr"/>
          <a:lstStyle/>
          <a:p>
            <a:pPr indent="0" marL="0">
              <a:buNone/>
            </a:pPr>
            <a:r>
              <a:rPr lang="en-US" sz="1300" b="1" dirty="0">
                <a:solidFill>
                  <a:srgbClr val="12213A"/>
                </a:solidFill>
                <a:latin typeface="Calibri" pitchFamily="34" charset="0"/>
                <a:ea typeface="Calibri" pitchFamily="34" charset="-122"/>
                <a:cs typeface="Calibri" pitchFamily="34" charset="-120"/>
              </a:rPr>
              <a:t>Real world: </a:t>
            </a:r>
            <a:pPr indent="0" marL="0">
              <a:buNone/>
            </a:pPr>
            <a:r>
              <a:rPr lang="en-US" sz="1300" dirty="0">
                <a:solidFill>
                  <a:srgbClr val="12213A"/>
                </a:solidFill>
                <a:latin typeface="Calibri" pitchFamily="34" charset="0"/>
                <a:ea typeface="Calibri" pitchFamily="34" charset="-122"/>
                <a:cs typeface="Calibri" pitchFamily="34" charset="-120"/>
              </a:rPr>
              <a:t>awk is the Swiss-army knife for columns: usernames from logs, totals from CSVs, the one field that matters.</a:t>
            </a:r>
            <a:endParaRPr lang="en-US" sz="1300" dirty="0"/>
          </a:p>
        </p:txBody>
      </p:sp>
      <p:sp>
        <p:nvSpPr>
          <p:cNvPr id="46" name="Shape 43"/>
          <p:cNvSpPr/>
          <p:nvPr/>
        </p:nvSpPr>
        <p:spPr>
          <a:xfrm>
            <a:off x="7543800" y="5413248"/>
            <a:ext cx="4096512" cy="566928"/>
          </a:xfrm>
          <a:prstGeom prst="roundRect">
            <a:avLst>
              <a:gd name="adj" fmla="val 16129"/>
            </a:avLst>
          </a:prstGeom>
          <a:solidFill>
            <a:srgbClr val="F1F5FB"/>
          </a:solidFill>
          <a:ln/>
        </p:spPr>
      </p:sp>
      <p:sp>
        <p:nvSpPr>
          <p:cNvPr id="47" name="Text 44"/>
          <p:cNvSpPr txBox="1"/>
          <p:nvPr/>
        </p:nvSpPr>
        <p:spPr>
          <a:xfrm>
            <a:off x="7699248" y="5413248"/>
            <a:ext cx="3803904" cy="566928"/>
          </a:xfrm>
          <a:prstGeom prst="rect">
            <a:avLst/>
          </a:prstGeom>
          <a:noFill/>
          <a:ln/>
        </p:spPr>
        <p:txBody>
          <a:bodyPr wrap="square" lIns="0" tIns="0" rIns="0" bIns="0" rtlCol="0" anchor="ctr"/>
          <a:lstStyle/>
          <a:p>
            <a:pPr indent="0" marL="0">
              <a:buNone/>
            </a:pPr>
            <a:r>
              <a:rPr lang="en-US" sz="1200" b="1" dirty="0">
                <a:solidFill>
                  <a:srgbClr val="5B6EE1"/>
                </a:solidFill>
                <a:latin typeface="Calibri" pitchFamily="34" charset="0"/>
                <a:ea typeface="Calibri" pitchFamily="34" charset="-122"/>
                <a:cs typeface="Calibri" pitchFamily="34" charset="-120"/>
              </a:rPr>
              <a:t>Stretch: </a:t>
            </a:r>
            <a:pPr indent="0" marL="0">
              <a:buNone/>
            </a:pPr>
            <a:r>
              <a:rPr lang="en-US" sz="1200" dirty="0">
                <a:solidFill>
                  <a:srgbClr val="12213A"/>
                </a:solidFill>
                <a:latin typeface="Calibri" pitchFamily="34" charset="0"/>
                <a:ea typeface="Calibri" pitchFamily="34" charset="-122"/>
                <a:cs typeface="Calibri" pitchFamily="34" charset="-120"/>
              </a:rPr>
              <a:t>Print two columns at once: awk '/admin/{print $1, $3}' records.txt. What do you get?</a:t>
            </a:r>
            <a:endParaRPr lang="en-US" sz="1200" dirty="0"/>
          </a:p>
        </p:txBody>
      </p:sp>
      <p:sp>
        <p:nvSpPr>
          <p:cNvPr id="48" name="Text 45"/>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49" name="Text 46"/>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77 / 79</a:t>
            </a:r>
            <a:endParaRPr lang="en-US" sz="10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3" name="Shape 0"/>
          <p:cNvSpPr/>
          <p:nvPr/>
        </p:nvSpPr>
        <p:spPr>
          <a:xfrm>
            <a:off x="548640" y="438912"/>
            <a:ext cx="1828800" cy="347472"/>
          </a:xfrm>
          <a:prstGeom prst="roundRect">
            <a:avLst>
              <a:gd name="adj" fmla="val 50000"/>
            </a:avLst>
          </a:prstGeom>
          <a:solidFill>
            <a:srgbClr val="B4233F"/>
          </a:solidFill>
          <a:ln/>
        </p:spPr>
      </p:sp>
      <p:sp>
        <p:nvSpPr>
          <p:cNvPr id="4" name="Text 1"/>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10 of 10</a:t>
            </a:r>
            <a:endParaRPr lang="en-US" sz="1400" dirty="0"/>
          </a:p>
        </p:txBody>
      </p:sp>
      <p:sp>
        <p:nvSpPr>
          <p:cNvPr id="5" name="Shape 2"/>
          <p:cNvSpPr/>
          <p:nvPr/>
        </p:nvSpPr>
        <p:spPr>
          <a:xfrm>
            <a:off x="2514600" y="438912"/>
            <a:ext cx="1828800" cy="347472"/>
          </a:xfrm>
          <a:prstGeom prst="roundRect">
            <a:avLst>
              <a:gd name="adj" fmla="val 50000"/>
            </a:avLst>
          </a:prstGeom>
          <a:solidFill>
            <a:srgbClr val="2A1430"/>
          </a:solidFill>
          <a:ln/>
        </p:spPr>
      </p:sp>
      <p:sp>
        <p:nvSpPr>
          <p:cNvPr id="6" name="Text 3"/>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FF8FB1"/>
                </a:solidFill>
                <a:latin typeface="Calibri" pitchFamily="34" charset="0"/>
                <a:ea typeface="Calibri" pitchFamily="34" charset="-122"/>
                <a:cs typeface="Calibri" pitchFamily="34" charset="-120"/>
              </a:rPr>
              <a:t>VERY HARD  ·  800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75488"/>
            <a:ext cx="421538" cy="292608"/>
          </a:xfrm>
          <a:prstGeom prst="roundRect">
            <a:avLst>
              <a:gd name="adj" fmla="val 18750"/>
            </a:avLst>
          </a:prstGeom>
          <a:solidFill>
            <a:srgbClr val="2A9FD6"/>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75488"/>
            <a:ext cx="421538" cy="292608"/>
          </a:xfrm>
          <a:prstGeom prst="roundRect">
            <a:avLst>
              <a:gd name="adj" fmla="val 18750"/>
            </a:avLst>
          </a:prstGeom>
          <a:solidFill>
            <a:srgbClr val="2459D8"/>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75488"/>
            <a:ext cx="421538" cy="292608"/>
          </a:xfrm>
          <a:prstGeom prst="roundRect">
            <a:avLst>
              <a:gd name="adj" fmla="val 18750"/>
            </a:avLst>
          </a:prstGeom>
          <a:solidFill>
            <a:srgbClr val="7448D4"/>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75488"/>
            <a:ext cx="421538" cy="292608"/>
          </a:xfrm>
          <a:prstGeom prst="roundRect">
            <a:avLst>
              <a:gd name="adj" fmla="val 18750"/>
            </a:avLst>
          </a:prstGeom>
          <a:solidFill>
            <a:srgbClr val="D1416B"/>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75488"/>
            <a:ext cx="421538" cy="292608"/>
          </a:xfrm>
          <a:prstGeom prst="roundRect">
            <a:avLst>
              <a:gd name="adj" fmla="val 18750"/>
            </a:avLst>
          </a:prstGeom>
          <a:solidFill>
            <a:srgbClr val="E8820C"/>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75488"/>
            <a:ext cx="421538" cy="292608"/>
          </a:xfrm>
          <a:prstGeom prst="roundRect">
            <a:avLst>
              <a:gd name="adj" fmla="val 18750"/>
            </a:avLst>
          </a:prstGeom>
          <a:solidFill>
            <a:srgbClr val="C9A227"/>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75488"/>
            <a:ext cx="421538" cy="292608"/>
          </a:xfrm>
          <a:prstGeom prst="roundRect">
            <a:avLst>
              <a:gd name="adj" fmla="val 18750"/>
            </a:avLst>
          </a:prstGeom>
          <a:solidFill>
            <a:srgbClr val="0F9488"/>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75488"/>
            <a:ext cx="421538" cy="292608"/>
          </a:xfrm>
          <a:prstGeom prst="roundRect">
            <a:avLst>
              <a:gd name="adj" fmla="val 18750"/>
            </a:avLst>
          </a:prstGeom>
          <a:solidFill>
            <a:srgbClr val="5B6EE1"/>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20624"/>
            <a:ext cx="421538" cy="402336"/>
          </a:xfrm>
          <a:prstGeom prst="roundRect">
            <a:avLst>
              <a:gd name="adj" fmla="val 13636"/>
            </a:avLst>
          </a:prstGeom>
          <a:solidFill>
            <a:srgbClr val="B4233F"/>
          </a:solidFill>
          <a:ln/>
        </p:spPr>
      </p:sp>
      <p:sp>
        <p:nvSpPr>
          <p:cNvPr id="26" name="Text 23"/>
          <p:cNvSpPr txBox="1"/>
          <p:nvPr/>
        </p:nvSpPr>
        <p:spPr>
          <a:xfrm>
            <a:off x="11218774"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10</a:t>
            </a:r>
            <a:endParaRPr lang="en-US" sz="1300" dirty="0"/>
          </a:p>
        </p:txBody>
      </p:sp>
      <p:sp>
        <p:nvSpPr>
          <p:cNvPr id="27" name="Text 24"/>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Endgame</a:t>
            </a:r>
            <a:endParaRPr lang="en-US" sz="4200" dirty="0"/>
          </a:p>
        </p:txBody>
      </p:sp>
      <p:sp>
        <p:nvSpPr>
          <p:cNvPr id="28" name="Shape 25"/>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29" name="Text 26"/>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0" name="Text 27"/>
          <p:cNvSpPr txBox="1"/>
          <p:nvPr/>
        </p:nvSpPr>
        <p:spPr>
          <a:xfrm>
            <a:off x="914400" y="2560320"/>
            <a:ext cx="5715000" cy="2057400"/>
          </a:xfrm>
          <a:prstGeom prst="rect">
            <a:avLst/>
          </a:prstGeom>
          <a:noFill/>
          <a:ln/>
        </p:spPr>
        <p:txBody>
          <a:bodyPr wrap="square" lIns="0" tIns="0" rIns="0" bIns="0" rtlCol="0" anchor="t"/>
          <a:lstStyle/>
          <a:p>
            <a:pPr indent="0" marL="0">
              <a:buNone/>
            </a:pPr>
            <a:r>
              <a:rPr lang="en-US" sz="2200" dirty="0">
                <a:solidFill>
                  <a:srgbClr val="FFFFFF"/>
                </a:solidFill>
                <a:latin typeface="Calibri" pitchFamily="34" charset="0"/>
                <a:ea typeface="Calibri" pitchFamily="34" charset="-122"/>
                <a:cs typeface="Calibri" pitchFamily="34" charset="-120"/>
              </a:rPr>
              <a:t>The final boss. The flag is split into three pieces, each hidden a different way: a hidden file in a folder tree, a token in a log line, and a locked script. Assemble CYBA{piece1-piece2-piece3}.</a:t>
            </a:r>
            <a:endParaRPr lang="en-US" sz="2200" dirty="0"/>
          </a:p>
        </p:txBody>
      </p:sp>
      <p:sp>
        <p:nvSpPr>
          <p:cNvPr id="31" name="Text 28"/>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~/mission10</a:t>
            </a:r>
            <a:endParaRPr lang="en-US" sz="1300" dirty="0"/>
          </a:p>
        </p:txBody>
      </p:sp>
      <p:sp>
        <p:nvSpPr>
          <p:cNvPr id="32" name="Shape 29"/>
          <p:cNvSpPr/>
          <p:nvPr/>
        </p:nvSpPr>
        <p:spPr>
          <a:xfrm>
            <a:off x="914400" y="5166360"/>
            <a:ext cx="3291840" cy="502920"/>
          </a:xfrm>
          <a:prstGeom prst="roundRect">
            <a:avLst>
              <a:gd name="adj" fmla="val 14545"/>
            </a:avLst>
          </a:prstGeom>
          <a:solidFill>
            <a:srgbClr val="F5A623"/>
          </a:solidFill>
          <a:ln/>
        </p:spPr>
      </p:sp>
      <p:sp>
        <p:nvSpPr>
          <p:cNvPr id="33" name="Text 30"/>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50" dirty="0">
                <a:solidFill>
                  <a:srgbClr val="12213A"/>
                </a:solidFill>
                <a:latin typeface="Calibri" pitchFamily="34" charset="0"/>
                <a:ea typeface="Calibri" pitchFamily="34" charset="-122"/>
                <a:cs typeface="Calibri" pitchFamily="34" charset="-120"/>
              </a:rPr>
              <a:t>Tools: </a:t>
            </a:r>
            <a:pPr algn="ctr" indent="0" marL="0">
              <a:buNone/>
            </a:pPr>
            <a:r>
              <a:rPr lang="en-US" sz="1350" b="1" dirty="0">
                <a:solidFill>
                  <a:srgbClr val="12213A"/>
                </a:solidFill>
                <a:latin typeface="Courier New" pitchFamily="34" charset="0"/>
                <a:ea typeface="Courier New" pitchFamily="34" charset="-122"/>
                <a:cs typeface="Courier New" pitchFamily="34" charset="-120"/>
              </a:rPr>
              <a:t>find  grep  cut  chmod</a:t>
            </a:r>
            <a:endParaRPr lang="en-US" sz="1350" dirty="0"/>
          </a:p>
        </p:txBody>
      </p:sp>
      <p:sp>
        <p:nvSpPr>
          <p:cNvPr id="34" name="Shape 31"/>
          <p:cNvSpPr/>
          <p:nvPr/>
        </p:nvSpPr>
        <p:spPr>
          <a:xfrm>
            <a:off x="4389120" y="5166360"/>
            <a:ext cx="2240280" cy="502920"/>
          </a:xfrm>
          <a:prstGeom prst="roundRect">
            <a:avLst>
              <a:gd name="adj" fmla="val 14545"/>
            </a:avLst>
          </a:prstGeom>
          <a:solidFill>
            <a:srgbClr val="2B3B5C"/>
          </a:solidFill>
          <a:ln/>
        </p:spPr>
      </p:sp>
      <p:sp>
        <p:nvSpPr>
          <p:cNvPr id="35" name="Text 32"/>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+800 points</a:t>
            </a:r>
            <a:endParaRPr lang="en-US" sz="1600" dirty="0"/>
          </a:p>
        </p:txBody>
      </p:sp>
      <p:sp>
        <p:nvSpPr>
          <p:cNvPr id="36" name="Shape 33"/>
          <p:cNvSpPr/>
          <p:nvPr/>
        </p:nvSpPr>
        <p:spPr>
          <a:xfrm>
            <a:off x="7269480" y="1920240"/>
            <a:ext cx="4370832" cy="2788920"/>
          </a:xfrm>
          <a:prstGeom prst="roundRect">
            <a:avLst>
              <a:gd name="adj" fmla="val 3279"/>
            </a:avLst>
          </a:prstGeom>
          <a:solidFill>
            <a:srgbClr val="F1F5FB"/>
          </a:solidFill>
          <a:ln/>
        </p:spPr>
      </p:sp>
      <p:sp>
        <p:nvSpPr>
          <p:cNvPr id="37" name="Text 34"/>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38" name="Text 35"/>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Which earlier mission taught the skill for each piece?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can we pull just the token out of one log line?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In which order do the pieces go?</a:t>
            </a:r>
            <a:endParaRPr lang="en-US" sz="1550" dirty="0"/>
          </a:p>
        </p:txBody>
      </p:sp>
      <p:sp>
        <p:nvSpPr>
          <p:cNvPr id="39" name="Shape 36"/>
          <p:cNvSpPr/>
          <p:nvPr/>
        </p:nvSpPr>
        <p:spPr>
          <a:xfrm>
            <a:off x="7269480" y="4892040"/>
            <a:ext cx="4370832" cy="1051560"/>
          </a:xfrm>
          <a:prstGeom prst="roundRect">
            <a:avLst>
              <a:gd name="adj" fmla="val 8696"/>
            </a:avLst>
          </a:prstGeom>
          <a:solidFill>
            <a:srgbClr val="17875A"/>
          </a:solidFill>
          <a:ln/>
        </p:spPr>
      </p:sp>
      <p:sp>
        <p:nvSpPr>
          <p:cNvPr id="40" name="Text 37"/>
          <p:cNvSpPr txBox="1"/>
          <p:nvPr/>
        </p:nvSpPr>
        <p:spPr>
          <a:xfrm>
            <a:off x="7498080" y="4892040"/>
            <a:ext cx="15544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1" name="Text 38"/>
          <p:cNvSpPr txBox="1"/>
          <p:nvPr/>
        </p:nvSpPr>
        <p:spPr>
          <a:xfrm>
            <a:off x="9098280" y="4892040"/>
            <a:ext cx="2377440" cy="10515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Students try on their own. Reveal after.</a:t>
            </a:r>
            <a:endParaRPr lang="en-US" sz="1350" dirty="0"/>
          </a:p>
        </p:txBody>
      </p:sp>
      <p:sp>
        <p:nvSpPr>
          <p:cNvPr id="42" name="Text 39"/>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78 / 79</a:t>
            </a:r>
            <a:endParaRPr lang="en-US" sz="10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3" name="Shape 0"/>
          <p:cNvSpPr/>
          <p:nvPr/>
        </p:nvSpPr>
        <p:spPr>
          <a:xfrm>
            <a:off x="548640" y="438912"/>
            <a:ext cx="2103120" cy="347472"/>
          </a:xfrm>
          <a:prstGeom prst="roundRect">
            <a:avLst>
              <a:gd name="adj" fmla="val 50000"/>
            </a:avLst>
          </a:prstGeom>
          <a:solidFill>
            <a:srgbClr val="B4233F"/>
          </a:solidFill>
          <a:ln/>
        </p:spPr>
      </p:sp>
      <p:sp>
        <p:nvSpPr>
          <p:cNvPr id="4" name="Text 1"/>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10 of 10</a:t>
            </a:r>
            <a:endParaRPr lang="en-US" sz="1400" dirty="0"/>
          </a:p>
        </p:txBody>
      </p:sp>
      <p:sp>
        <p:nvSpPr>
          <p:cNvPr id="5" name="Shape 2"/>
          <p:cNvSpPr/>
          <p:nvPr/>
        </p:nvSpPr>
        <p:spPr>
          <a:xfrm>
            <a:off x="2788920" y="438912"/>
            <a:ext cx="1828800" cy="347472"/>
          </a:xfrm>
          <a:prstGeom prst="roundRect">
            <a:avLst>
              <a:gd name="adj" fmla="val 50000"/>
            </a:avLst>
          </a:prstGeom>
          <a:solidFill>
            <a:srgbClr val="2A1430"/>
          </a:solidFill>
          <a:ln/>
        </p:spPr>
      </p:sp>
      <p:sp>
        <p:nvSpPr>
          <p:cNvPr id="6" name="Text 3"/>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FF8FB1"/>
                </a:solidFill>
                <a:latin typeface="Calibri" pitchFamily="34" charset="0"/>
                <a:ea typeface="Calibri" pitchFamily="34" charset="-122"/>
                <a:cs typeface="Calibri" pitchFamily="34" charset="-120"/>
              </a:rPr>
              <a:t>VERY HARD  ·  800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75488"/>
            <a:ext cx="421538" cy="292608"/>
          </a:xfrm>
          <a:prstGeom prst="roundRect">
            <a:avLst>
              <a:gd name="adj" fmla="val 18750"/>
            </a:avLst>
          </a:prstGeom>
          <a:solidFill>
            <a:srgbClr val="2A9FD6"/>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75488"/>
            <a:ext cx="421538" cy="292608"/>
          </a:xfrm>
          <a:prstGeom prst="roundRect">
            <a:avLst>
              <a:gd name="adj" fmla="val 18750"/>
            </a:avLst>
          </a:prstGeom>
          <a:solidFill>
            <a:srgbClr val="2459D8"/>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75488"/>
            <a:ext cx="421538" cy="292608"/>
          </a:xfrm>
          <a:prstGeom prst="roundRect">
            <a:avLst>
              <a:gd name="adj" fmla="val 18750"/>
            </a:avLst>
          </a:prstGeom>
          <a:solidFill>
            <a:srgbClr val="7448D4"/>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75488"/>
            <a:ext cx="421538" cy="292608"/>
          </a:xfrm>
          <a:prstGeom prst="roundRect">
            <a:avLst>
              <a:gd name="adj" fmla="val 18750"/>
            </a:avLst>
          </a:prstGeom>
          <a:solidFill>
            <a:srgbClr val="D1416B"/>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75488"/>
            <a:ext cx="421538" cy="292608"/>
          </a:xfrm>
          <a:prstGeom prst="roundRect">
            <a:avLst>
              <a:gd name="adj" fmla="val 18750"/>
            </a:avLst>
          </a:prstGeom>
          <a:solidFill>
            <a:srgbClr val="E8820C"/>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75488"/>
            <a:ext cx="421538" cy="292608"/>
          </a:xfrm>
          <a:prstGeom prst="roundRect">
            <a:avLst>
              <a:gd name="adj" fmla="val 18750"/>
            </a:avLst>
          </a:prstGeom>
          <a:solidFill>
            <a:srgbClr val="C9A227"/>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75488"/>
            <a:ext cx="421538" cy="292608"/>
          </a:xfrm>
          <a:prstGeom prst="roundRect">
            <a:avLst>
              <a:gd name="adj" fmla="val 18750"/>
            </a:avLst>
          </a:prstGeom>
          <a:solidFill>
            <a:srgbClr val="0F9488"/>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75488"/>
            <a:ext cx="421538" cy="292608"/>
          </a:xfrm>
          <a:prstGeom prst="roundRect">
            <a:avLst>
              <a:gd name="adj" fmla="val 18750"/>
            </a:avLst>
          </a:prstGeom>
          <a:solidFill>
            <a:srgbClr val="5B6EE1"/>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20624"/>
            <a:ext cx="421538" cy="402336"/>
          </a:xfrm>
          <a:prstGeom prst="roundRect">
            <a:avLst>
              <a:gd name="adj" fmla="val 13636"/>
            </a:avLst>
          </a:prstGeom>
          <a:solidFill>
            <a:srgbClr val="B4233F"/>
          </a:solidFill>
          <a:ln/>
        </p:spPr>
      </p:sp>
      <p:sp>
        <p:nvSpPr>
          <p:cNvPr id="26" name="Text 23"/>
          <p:cNvSpPr txBox="1"/>
          <p:nvPr/>
        </p:nvSpPr>
        <p:spPr>
          <a:xfrm>
            <a:off x="11218774"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10</a:t>
            </a:r>
            <a:endParaRPr lang="en-US" sz="1300" dirty="0"/>
          </a:p>
        </p:txBody>
      </p:sp>
      <p:sp>
        <p:nvSpPr>
          <p:cNvPr id="27" name="Text 24"/>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Solving Endgame</a:t>
            </a:r>
            <a:endParaRPr lang="en-US" sz="3000" dirty="0"/>
          </a:p>
        </p:txBody>
      </p:sp>
      <p:sp>
        <p:nvSpPr>
          <p:cNvPr id="28" name="Shape 25"/>
          <p:cNvSpPr/>
          <p:nvPr/>
        </p:nvSpPr>
        <p:spPr>
          <a:xfrm>
            <a:off x="548640" y="1691640"/>
            <a:ext cx="6720840" cy="4251960"/>
          </a:xfrm>
          <a:prstGeom prst="roundRect">
            <a:avLst>
              <a:gd name="adj" fmla="val 2151"/>
            </a:avLst>
          </a:prstGeom>
          <a:solidFill>
            <a:srgbClr val="0E1726"/>
          </a:solidFill>
          <a:ln/>
          <a:effectLst>
            <a:outerShdw sx="100000" sy="100000" kx="0" ky="0" algn="bl" rotWithShape="0" blurRad="127000" dist="38100" dir="5400000">
              <a:srgbClr val="12213A">
                <a:alpha val="22000"/>
              </a:srgbClr>
            </a:outerShdw>
          </a:effectLst>
        </p:spPr>
      </p:sp>
      <p:sp>
        <p:nvSpPr>
          <p:cNvPr id="29" name="Shape 26"/>
          <p:cNvSpPr/>
          <p:nvPr/>
        </p:nvSpPr>
        <p:spPr>
          <a:xfrm>
            <a:off x="749808" y="1847088"/>
            <a:ext cx="118872" cy="118872"/>
          </a:xfrm>
          <a:prstGeom prst="ellipse">
            <a:avLst/>
          </a:prstGeom>
          <a:solidFill>
            <a:srgbClr val="E5534B"/>
          </a:solidFill>
          <a:ln/>
        </p:spPr>
      </p:sp>
      <p:sp>
        <p:nvSpPr>
          <p:cNvPr id="30" name="Shape 27"/>
          <p:cNvSpPr/>
          <p:nvPr/>
        </p:nvSpPr>
        <p:spPr>
          <a:xfrm>
            <a:off x="950976" y="1847088"/>
            <a:ext cx="118872" cy="118872"/>
          </a:xfrm>
          <a:prstGeom prst="ellipse">
            <a:avLst/>
          </a:prstGeom>
          <a:solidFill>
            <a:srgbClr val="F5A623"/>
          </a:solidFill>
          <a:ln/>
        </p:spPr>
      </p:sp>
      <p:sp>
        <p:nvSpPr>
          <p:cNvPr id="31" name="Shape 28"/>
          <p:cNvSpPr/>
          <p:nvPr/>
        </p:nvSpPr>
        <p:spPr>
          <a:xfrm>
            <a:off x="1152144" y="1847088"/>
            <a:ext cx="118872" cy="118872"/>
          </a:xfrm>
          <a:prstGeom prst="ellipse">
            <a:avLst/>
          </a:prstGeom>
          <a:solidFill>
            <a:srgbClr val="46D39A"/>
          </a:solidFill>
          <a:ln/>
        </p:spPr>
      </p:sp>
      <p:sp>
        <p:nvSpPr>
          <p:cNvPr id="32" name="Text 29"/>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3" name="Text 30"/>
          <p:cNvSpPr txBox="1"/>
          <p:nvPr/>
        </p:nvSpPr>
        <p:spPr>
          <a:xfrm>
            <a:off x="822960" y="2148840"/>
            <a:ext cx="6172200" cy="3657600"/>
          </a:xfrm>
          <a:prstGeom prst="rect">
            <a:avLst/>
          </a:prstGeom>
          <a:noFill/>
          <a:ln/>
        </p:spPr>
        <p:txBody>
          <a:bodyPr wrap="square" lIns="0" tIns="0" rIns="0" bIns="0" rtlCol="0" anchor="t"/>
          <a:lstStyle/>
          <a:p>
            <a:pPr indent="0" marL="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00" b="1" dirty="0">
                <a:solidFill>
                  <a:srgbClr val="FFFFFF"/>
                </a:solidFill>
                <a:latin typeface="Courier New" pitchFamily="34" charset="0"/>
                <a:ea typeface="Courier New" pitchFamily="34" charset="-122"/>
                <a:cs typeface="Courier New" pitchFamily="34" charset="-120"/>
              </a:rPr>
              <a:t>cd ~/mission10</a:t>
            </a:r>
            <a:endParaRPr lang="en-US" sz="1100" dirty="0"/>
          </a:p>
          <a:p>
            <a:pPr indent="0" marL="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00" b="1" dirty="0">
                <a:solidFill>
                  <a:srgbClr val="FFFFFF"/>
                </a:solidFill>
                <a:latin typeface="Courier New" pitchFamily="34" charset="0"/>
                <a:ea typeface="Courier New" pitchFamily="34" charset="-122"/>
                <a:cs typeface="Courier New" pitchFamily="34" charset="-120"/>
              </a:rPr>
              <a:t>grep Piece README.txt</a:t>
            </a:r>
            <a:endParaRPr lang="en-US" sz="1100" dirty="0"/>
          </a:p>
          <a:p>
            <a:pPr indent="0" marL="0">
              <a:spcAft>
                <a:spcPts val="200"/>
              </a:spcAft>
              <a:buNone/>
            </a:pPr>
            <a:r>
              <a:rPr lang="en-US" sz="1100" dirty="0">
                <a:solidFill>
                  <a:srgbClr val="B8C4D9"/>
                </a:solidFill>
                <a:latin typeface="Courier New" pitchFamily="34" charset="0"/>
                <a:ea typeface="Courier New" pitchFamily="34" charset="-122"/>
                <a:cs typeface="Courier New" pitchFamily="34" charset="-120"/>
              </a:rPr>
              <a:t>  Piece 2: glitch logged in once in auth.log ...</a:t>
            </a:r>
            <a:endParaRPr lang="en-US" sz="1100" dirty="0"/>
          </a:p>
          <a:p>
            <a:pPr indent="0" marL="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00" b="1" dirty="0">
                <a:solidFill>
                  <a:srgbClr val="FFFFFF"/>
                </a:solidFill>
                <a:latin typeface="Courier New" pitchFamily="34" charset="0"/>
                <a:ea typeface="Courier New" pitchFamily="34" charset="-122"/>
                <a:cs typeface="Courier New" pitchFamily="34" charset="-120"/>
              </a:rPr>
              <a:t>find vault -name ".*" -type f</a:t>
            </a:r>
            <a:endParaRPr lang="en-US" sz="1100" dirty="0"/>
          </a:p>
          <a:p>
            <a:pPr indent="0" marL="0">
              <a:spcAft>
                <a:spcPts val="200"/>
              </a:spcAft>
              <a:buNone/>
            </a:pPr>
            <a:r>
              <a:rPr lang="en-US" sz="1100" dirty="0">
                <a:solidFill>
                  <a:srgbClr val="B8C4D9"/>
                </a:solidFill>
                <a:latin typeface="Courier New" pitchFamily="34" charset="0"/>
                <a:ea typeface="Courier New" pitchFamily="34" charset="-122"/>
                <a:cs typeface="Courier New" pitchFamily="34" charset="-120"/>
              </a:rPr>
              <a:t>vault/south/rack-ml4/.stash   (+ 3 decoys)</a:t>
            </a:r>
            <a:endParaRPr lang="en-US" sz="1100" dirty="0"/>
          </a:p>
          <a:p>
            <a:pPr indent="0" marL="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00" b="1" dirty="0">
                <a:solidFill>
                  <a:srgbClr val="FFFFFF"/>
                </a:solidFill>
                <a:latin typeface="Courier New" pitchFamily="34" charset="0"/>
                <a:ea typeface="Courier New" pitchFamily="34" charset="-122"/>
                <a:cs typeface="Courier New" pitchFamily="34" charset="-120"/>
              </a:rPr>
              <a:t>cat vault/south/rack-ml4/.stash</a:t>
            </a:r>
            <a:endParaRPr lang="en-US" sz="1100" dirty="0"/>
          </a:p>
          <a:p>
            <a:pPr indent="0" marL="0">
              <a:spcAft>
                <a:spcPts val="200"/>
              </a:spcAft>
              <a:buNone/>
            </a:pPr>
            <a:r>
              <a:rPr lang="en-US" sz="1100" b="1" dirty="0">
                <a:solidFill>
                  <a:srgbClr val="F5A623"/>
                </a:solidFill>
                <a:latin typeface="Courier New" pitchFamily="34" charset="0"/>
                <a:ea typeface="Courier New" pitchFamily="34" charset="-122"/>
                <a:cs typeface="Courier New" pitchFamily="34" charset="-120"/>
              </a:rPr>
              <a:t>piece 1: 244e32</a:t>
            </a:r>
            <a:endParaRPr lang="en-US" sz="1100" dirty="0"/>
          </a:p>
          <a:p>
            <a:pPr indent="0" marL="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00" b="1" dirty="0">
                <a:solidFill>
                  <a:srgbClr val="FFFFFF"/>
                </a:solidFill>
                <a:latin typeface="Courier New" pitchFamily="34" charset="0"/>
                <a:ea typeface="Courier New" pitchFamily="34" charset="-122"/>
                <a:cs typeface="Courier New" pitchFamily="34" charset="-120"/>
              </a:rPr>
              <a:t>grep glitch auth.log | cut -d= -f4</a:t>
            </a:r>
            <a:endParaRPr lang="en-US" sz="1100" dirty="0"/>
          </a:p>
          <a:p>
            <a:pPr indent="0" marL="0">
              <a:spcAft>
                <a:spcPts val="200"/>
              </a:spcAft>
              <a:buNone/>
            </a:pPr>
            <a:r>
              <a:rPr lang="en-US" sz="1100" b="1" dirty="0">
                <a:solidFill>
                  <a:srgbClr val="F5A623"/>
                </a:solidFill>
                <a:latin typeface="Courier New" pitchFamily="34" charset="0"/>
                <a:ea typeface="Courier New" pitchFamily="34" charset="-122"/>
                <a:cs typeface="Courier New" pitchFamily="34" charset="-120"/>
              </a:rPr>
              <a:t>piece 2: a7fdd6</a:t>
            </a:r>
            <a:endParaRPr lang="en-US" sz="1100" dirty="0"/>
          </a:p>
          <a:p>
            <a:pPr indent="0" marL="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00" b="1" dirty="0">
                <a:solidFill>
                  <a:srgbClr val="FFFFFF"/>
                </a:solidFill>
                <a:latin typeface="Courier New" pitchFamily="34" charset="0"/>
                <a:ea typeface="Courier New" pitchFamily="34" charset="-122"/>
                <a:cs typeface="Courier New" pitchFamily="34" charset="-120"/>
              </a:rPr>
              <a:t>chmod +x unlock.sh &amp;&amp; ./unlock.sh</a:t>
            </a:r>
            <a:endParaRPr lang="en-US" sz="1100" dirty="0"/>
          </a:p>
          <a:p>
            <a:pPr indent="0" marL="0">
              <a:spcAft>
                <a:spcPts val="200"/>
              </a:spcAft>
              <a:buNone/>
            </a:pPr>
            <a:r>
              <a:rPr lang="en-US" sz="1100" b="1" dirty="0">
                <a:solidFill>
                  <a:srgbClr val="F5A623"/>
                </a:solidFill>
                <a:latin typeface="Courier New" pitchFamily="34" charset="0"/>
                <a:ea typeface="Courier New" pitchFamily="34" charset="-122"/>
                <a:cs typeface="Courier New" pitchFamily="34" charset="-120"/>
              </a:rPr>
              <a:t>piece 3: 917b9b</a:t>
            </a:r>
            <a:endParaRPr lang="en-US" sz="1100" dirty="0"/>
          </a:p>
          <a:p>
            <a:pPr indent="0" marL="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00" b="1" dirty="0">
                <a:solidFill>
                  <a:srgbClr val="FFFFFF"/>
                </a:solidFill>
                <a:latin typeface="Courier New" pitchFamily="34" charset="0"/>
                <a:ea typeface="Courier New" pitchFamily="34" charset="-122"/>
                <a:cs typeface="Courier New" pitchFamily="34" charset="-120"/>
              </a:rPr>
              <a:t>submit CYBA{244e32-a7fdd6-917b9b}</a:t>
            </a:r>
            <a:endParaRPr lang="en-US" sz="1100" dirty="0"/>
          </a:p>
          <a:p>
            <a:pPr indent="0" marL="0">
              <a:spcAft>
                <a:spcPts val="200"/>
              </a:spcAft>
              <a:buNone/>
            </a:pPr>
            <a:r>
              <a:rPr lang="en-US" sz="1100" dirty="0">
                <a:solidFill>
                  <a:srgbClr val="B8C4D9"/>
                </a:solidFill>
                <a:latin typeface="Courier New" pitchFamily="34" charset="0"/>
                <a:ea typeface="Courier New" pitchFamily="34" charset="-122"/>
                <a:cs typeface="Courier New" pitchFamily="34" charset="-120"/>
              </a:rPr>
              <a:t>Correct! +800 points</a:t>
            </a:r>
            <a:endParaRPr lang="en-US" sz="1100" dirty="0"/>
          </a:p>
        </p:txBody>
      </p:sp>
      <p:sp>
        <p:nvSpPr>
          <p:cNvPr id="34" name="Text 31"/>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5" name="Shape 32"/>
          <p:cNvSpPr/>
          <p:nvPr/>
        </p:nvSpPr>
        <p:spPr>
          <a:xfrm>
            <a:off x="7543800" y="2194560"/>
            <a:ext cx="457200" cy="457200"/>
          </a:xfrm>
          <a:prstGeom prst="ellipse">
            <a:avLst/>
          </a:prstGeom>
          <a:solidFill>
            <a:srgbClr val="B4233F"/>
          </a:solidFill>
          <a:ln/>
        </p:spPr>
      </p:sp>
      <p:sp>
        <p:nvSpPr>
          <p:cNvPr id="36" name="Text 33"/>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7" name="Text 34"/>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find listed every hidden file in vault; cat told the real piece from the decoys.</a:t>
            </a:r>
            <a:endParaRPr lang="en-US" sz="1400" dirty="0"/>
          </a:p>
        </p:txBody>
      </p:sp>
      <p:sp>
        <p:nvSpPr>
          <p:cNvPr id="38" name="Shape 35"/>
          <p:cNvSpPr/>
          <p:nvPr/>
        </p:nvSpPr>
        <p:spPr>
          <a:xfrm>
            <a:off x="7543800" y="2980944"/>
            <a:ext cx="457200" cy="457200"/>
          </a:xfrm>
          <a:prstGeom prst="ellipse">
            <a:avLst/>
          </a:prstGeom>
          <a:solidFill>
            <a:srgbClr val="B4233F"/>
          </a:solidFill>
          <a:ln/>
        </p:spPr>
      </p:sp>
      <p:sp>
        <p:nvSpPr>
          <p:cNvPr id="39" name="Text 36"/>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0" name="Text 37"/>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grep found the intruder's line, and cut kept field 4: the token, right after token=.</a:t>
            </a:r>
            <a:endParaRPr lang="en-US" sz="1400" dirty="0"/>
          </a:p>
        </p:txBody>
      </p:sp>
      <p:sp>
        <p:nvSpPr>
          <p:cNvPr id="41" name="Shape 38"/>
          <p:cNvSpPr/>
          <p:nvPr/>
        </p:nvSpPr>
        <p:spPr>
          <a:xfrm>
            <a:off x="7543800" y="3767328"/>
            <a:ext cx="457200" cy="457200"/>
          </a:xfrm>
          <a:prstGeom prst="ellipse">
            <a:avLst/>
          </a:prstGeom>
          <a:solidFill>
            <a:srgbClr val="B4233F"/>
          </a:solidFill>
          <a:ln/>
        </p:spPr>
      </p:sp>
      <p:sp>
        <p:nvSpPr>
          <p:cNvPr id="42" name="Text 39"/>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3" name="Text 40"/>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chmod +x unlocked the script, which printed piece 3.</a:t>
            </a:r>
            <a:endParaRPr lang="en-US" sz="1400" dirty="0"/>
          </a:p>
        </p:txBody>
      </p:sp>
      <p:sp>
        <p:nvSpPr>
          <p:cNvPr id="44" name="Shape 41"/>
          <p:cNvSpPr/>
          <p:nvPr/>
        </p:nvSpPr>
        <p:spPr>
          <a:xfrm>
            <a:off x="7543800" y="4572000"/>
            <a:ext cx="4096512" cy="749808"/>
          </a:xfrm>
          <a:prstGeom prst="roundRect">
            <a:avLst>
              <a:gd name="adj" fmla="val 12195"/>
            </a:avLst>
          </a:prstGeom>
          <a:solidFill>
            <a:srgbClr val="FFF4DC"/>
          </a:solidFill>
          <a:ln/>
        </p:spPr>
      </p:sp>
      <p:sp>
        <p:nvSpPr>
          <p:cNvPr id="45" name="Text 42"/>
          <p:cNvSpPr txBox="1"/>
          <p:nvPr/>
        </p:nvSpPr>
        <p:spPr>
          <a:xfrm>
            <a:off x="7699248" y="4572000"/>
            <a:ext cx="3803904" cy="749808"/>
          </a:xfrm>
          <a:prstGeom prst="rect">
            <a:avLst/>
          </a:prstGeom>
          <a:noFill/>
          <a:ln/>
        </p:spPr>
        <p:txBody>
          <a:bodyPr wrap="square" lIns="0" tIns="0" rIns="0" bIns="0" rtlCol="0" anchor="ctr"/>
          <a:lstStyle/>
          <a:p>
            <a:pPr indent="0" marL="0">
              <a:buNone/>
            </a:pPr>
            <a:r>
              <a:rPr lang="en-US" sz="1300" b="1" dirty="0">
                <a:solidFill>
                  <a:srgbClr val="12213A"/>
                </a:solidFill>
                <a:latin typeface="Calibri" pitchFamily="34" charset="0"/>
                <a:ea typeface="Calibri" pitchFamily="34" charset="-122"/>
                <a:cs typeface="Calibri" pitchFamily="34" charset="-120"/>
              </a:rPr>
              <a:t>Real world: </a:t>
            </a:r>
            <a:pPr indent="0" marL="0">
              <a:buNone/>
            </a:pPr>
            <a:r>
              <a:rPr lang="en-US" sz="1300" dirty="0">
                <a:solidFill>
                  <a:srgbClr val="12213A"/>
                </a:solidFill>
                <a:latin typeface="Calibri" pitchFamily="34" charset="0"/>
                <a:ea typeface="Calibri" pitchFamily="34" charset="-122"/>
                <a:cs typeface="Calibri" pitchFamily="34" charset="-120"/>
              </a:rPr>
              <a:t>Real incidents are never one trick: responders chain search, logs and a quick script to rebuild what happened.</a:t>
            </a:r>
            <a:endParaRPr lang="en-US" sz="1300" dirty="0"/>
          </a:p>
        </p:txBody>
      </p:sp>
      <p:sp>
        <p:nvSpPr>
          <p:cNvPr id="46" name="Shape 43"/>
          <p:cNvSpPr/>
          <p:nvPr/>
        </p:nvSpPr>
        <p:spPr>
          <a:xfrm>
            <a:off x="7543800" y="5413248"/>
            <a:ext cx="4096512" cy="566928"/>
          </a:xfrm>
          <a:prstGeom prst="roundRect">
            <a:avLst>
              <a:gd name="adj" fmla="val 16129"/>
            </a:avLst>
          </a:prstGeom>
          <a:solidFill>
            <a:srgbClr val="F1F5FB"/>
          </a:solidFill>
          <a:ln/>
        </p:spPr>
      </p:sp>
      <p:sp>
        <p:nvSpPr>
          <p:cNvPr id="47" name="Text 44"/>
          <p:cNvSpPr txBox="1"/>
          <p:nvPr/>
        </p:nvSpPr>
        <p:spPr>
          <a:xfrm>
            <a:off x="7699248" y="5413248"/>
            <a:ext cx="3803904" cy="566928"/>
          </a:xfrm>
          <a:prstGeom prst="rect">
            <a:avLst/>
          </a:prstGeom>
          <a:noFill/>
          <a:ln/>
        </p:spPr>
        <p:txBody>
          <a:bodyPr wrap="square" lIns="0" tIns="0" rIns="0" bIns="0" rtlCol="0" anchor="ctr"/>
          <a:lstStyle/>
          <a:p>
            <a:pPr indent="0" marL="0">
              <a:buNone/>
            </a:pPr>
            <a:r>
              <a:rPr lang="en-US" sz="1200" b="1" dirty="0">
                <a:solidFill>
                  <a:srgbClr val="B4233F"/>
                </a:solidFill>
                <a:latin typeface="Calibri" pitchFamily="34" charset="0"/>
                <a:ea typeface="Calibri" pitchFamily="34" charset="-122"/>
                <a:cs typeface="Calibri" pitchFamily="34" charset="-120"/>
              </a:rPr>
              <a:t>Stretch: </a:t>
            </a:r>
            <a:pPr indent="0" marL="0">
              <a:buNone/>
            </a:pPr>
            <a:r>
              <a:rPr lang="en-US" sz="1200" dirty="0">
                <a:solidFill>
                  <a:srgbClr val="12213A"/>
                </a:solidFill>
                <a:latin typeface="Calibri" pitchFamily="34" charset="0"/>
                <a:ea typeface="Calibri" pitchFamily="34" charset="-122"/>
                <a:cs typeface="Calibri" pitchFamily="34" charset="-120"/>
              </a:rPr>
              <a:t>The clock stops on your last flag. Which mission took you longest? That is the skill to practise next.</a:t>
            </a:r>
            <a:endParaRPr lang="en-US" sz="1200" dirty="0"/>
          </a:p>
        </p:txBody>
      </p:sp>
      <p:sp>
        <p:nvSpPr>
          <p:cNvPr id="48" name="Text 45"/>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49" name="Text 46"/>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Linux CTF   ·   79 / 79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79</Slides>
  <Notes>79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79</vt:i4>
      </vt:variant>
    </vt:vector>
  </HeadingPairs>
  <TitlesOfParts>
    <vt:vector size="8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CyberQuest Linux CTF: learn the command line, then compete</dc:title>
  <dc:subject>PptxGenJS Presentation</dc:subject>
  <dc:creator>CyberQuest Academy</dc:creator>
  <cp:lastModifiedBy>CyberQuest Academy</cp:lastModifiedBy>
  <cp:revision>1</cp:revision>
  <dcterms:created xsi:type="dcterms:W3CDTF">2026-10-10T02:23:21Z</dcterms:created>
  <dcterms:modified xsi:type="dcterms:W3CDTF">2026-10-10T02:23:21Z</dcterms:modified>
</cp:coreProperties>
</file>