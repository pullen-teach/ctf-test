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428a162-ec04-9bee-b2c5-b80ea8c20d5a}">
          <p14:sldIdLst>
            <p14:sldId id="256"/>
            <p14:sldId id="257"/>
            <p14:sldId id="258"/>
          </p14:sldIdLst>
        </p14:section>
        <p14:section name="Part 1 · Crypto fundamentals" id="{1a74b113-a401-2b36-2ccf-69d8b723271e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art 2 · Crypto essentials" id="{c7db7524-a776-052c-12db-584924896a25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Part 3 · The competition" id="{c3a94dbe-fa87-366b-2762-d241051ab853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Part 4 · Debrief" id="{c7d1d57b-9655-5756-d480-e5c4face4f34}">
          <p14:sldIdLst>
            <p14:sldId id="289"/>
            <p14:sldId id="290"/>
            <p14:sldId id="291"/>
            <p14:sldId id="292"/>
          </p14:sldIdLst>
        </p14:section>
        <p14:section name="Mentor appendix" id="{a4bb2a70-8eea-66fc-ce75-a175b55b1696}">
          <p14:sldIdLst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One sentence on who you are and how you use codes or crypto at work.
Promise: 'In 90 minutes you'll learn how secret messages are hidden and cracked, then compete to break 9 of them for 2,500 points.'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plan. Timing for 90 min: opening 3, Part 1 fundamentals 12, Part 2 essentials 25, Part 3 compete 40, Part 4 debrief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CTF is a puzzle competition for security skills. Each puzzle hides a flag: a secret string. Find it, submit it, score points.
Every flag today starts with CYBA and has its secret in curly braces. Stress: this CTF is built to be cracked; real systems are not yours to attack.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 of story before the hands-on part. Keep it fast and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Cryptography is the science of protecting information: keeping it secret, and proving it hasn't changed. People have done it for thousands of years; today it runs quietly behind almost everything you do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useful idea in crypto CTFs. Students confuse these constantly.
Encoding has NO key: anyone can undo it (base64, hex). Encryption needs a KEY to undo (Caesar, Vigenere). Hashing is ONE-WAY: it cannot be undone at all, only compared.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it as a story: people have hidden messages for 2,000 years, and every method here appears in today's competition.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personal. Students use cryptography hundreds of times a day without noticing.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page is the same terminal as the Linux CTF, plus crypto tools. Every command is safe to 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 Have students open the CTF (mentor appendix has the steps). Demo each tool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of Part 2. Each idea powers missions in the competition.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Encoding = same data, new clothes. No key. base64 uses A-Z a-z 0-9 + / and often ends in =. Hex uses 0-9 a-f, two characters per byte. Recognise them by sight, then decode.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oldest cipher. Shift every letter a fixed number of places: with a shift of 3, A becomes D. ROT13 is just a shift of 13, and because the alphabet is 26 letters, doing it twice brings you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Weak ciphers break two ways. A Caesar has only 25 keys, so a computer tries them all: brute force. A substitution has far too many keys to try, but letters betray it: in English, e and t are the most common, and 'the' appears again and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300 years this was unbreakable by hand. Instead of one shift, a keyword gives a different shift for every letter, then repeats. The trick in a CTF is finding the keyword: it is often hidden nearby, or crackable from a clue.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hash turns any data into a short fingerprint. The same input always gives the same hash, and changing one letter changes everything. You cannot turn a hash back into the data, but you can hash a guess and compare. That's how a weak password gets cracked, and how this CTF checks your flags without ever storing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One-slide recap before the competition, grouped by the four ideas. Point and name; don't re-teach.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 Have everyone reload for a fresh set of flags, zero points and a clean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rules clear before the clock matters. Points come from difficulty: Easy 100, Medium 200, Hard 400, Very Hard 800. The nine missions total 2,500, plus 50 bonus for the warm-up. The clock counts up from your first command in Mission 1 and stops at the last flag. Most points wins; ties break on time. Hints cost 5% of a mission, charged once. Wrong flags cost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Drill this five-step routine so the only new thing each round is the puzzle. Step 4 trips people up: copy the flag from CYBA to the closing brace.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 screenshot. The sidebar carries the mission, the stepper, points, the clock and flags captured. The clock waits during the warm-up and starts with Mission 1. Most common issue: typing before clicking inside the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together, untimed, before the clock matters. It practises the capture routine: read orientation.txt, find the flag on the last line, submit it for 50 bonus. Or skip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of the competition. The commands appear in the order Part 2 taught them: encodings, then ciphers, then breaking them, then hashes, then everything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1 OF 9: Base camp [Easy, 100 pts]
Read the brief, let teams work, then reveal the terminal. Flags differ on every computer, so students still run the commands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2 OF 9: Hex marks the spot [Easy, 100 pts]
Read the brief, let teams work, then reveal the terminal. Flags differ on every computer, so students still run the commands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3 OF 9: Spin cycle [Easy, 100 pts]
Read the brief, let teams work, then reveal the terminal. Flags differ on every computer, so students still run the commands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4 OF 9: Hail Caesar [Medium, 200 pts]
Read the brief, let teams work, then reveal the terminal. Flags differ on every computer, so students still run the commands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5 OF 9: Russian doll [Medium, 200 pts]
Read the brief, let teams work, then reveal the terminal. Flags differ on every computer, so students still run the commands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6 OF 9: Fingerprints [Medium, 200 pts]
Read the brief, let teams work, then reveal the terminal. Flags differ on every computer, so students still run the commands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7 OF 9: Letter detective [Hard, 400 pts]
Read the brief, let teams work, then reveal the terminal. Flags differ on every computer, so students still run the commands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8 OF 9: Keyword cipher [Hard, 400 pts]
Read the brief, let teams work, then reveal the terminal. Flags differ on every computer, so students still run the commands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9 OF 9: The vault [Very Hard, 800 pts]
Read the brief, let teams work, then reveal the terminal. Flags differ on every computer, so students still run the commands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last flag lands the clock stops and the sidebar shows the finish screen. Walk the scorecard: points per mission and the total, Took (time since your previous flag, where you got stuck) and Time (the clock when you submitted). Then the replay challenge: a new set of ciphers, can you beat your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Applaud the fastest teams and the team that got unstuck the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clever part, and a lesson in hashing. At start-up the CTF makes nine random flags, stores only their SHA-256 fingerprints, and throws the flags away. submit fingerprints your guess and compares. A match means correct. Because a hash can't be reversed, reading the stored file never reveals a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missions to real work. Let students answer before you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what students can do next. Fill in your links. Point them to CyberQuest Academy and the replayable CTF.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MENTOR READING: run this with students right before Part 2, so every device is booted for the Try it commands. Give two or three minutes; walk the room. Write your CTF address in the box beforehand. Most important rule: do not reload during the competition.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MENTORS. Hide when presenting. Flags are random per load; only fingerprints are stored, so play each mission yourself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MENTORS. Hide when presenting. Most problems are the school web filter or the page being reloaded.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CyberQuest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CTF: crack the code, then compete.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mentorship session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500176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0" name="Shape 7"/>
          <p:cNvSpPr/>
          <p:nvPr/>
        </p:nvSpPr>
        <p:spPr>
          <a:xfrm>
            <a:off x="950976" y="500176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Shape 8"/>
          <p:cNvSpPr/>
          <p:nvPr/>
        </p:nvSpPr>
        <p:spPr>
          <a:xfrm>
            <a:off x="1152144" y="500176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53035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'Q1lCQXt3ZWxjb21lfQ==' | base64 -d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CYBA{welcome}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in four parts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2624328" cy="3566160"/>
          </a:xfrm>
          <a:prstGeom prst="roundRect">
            <a:avLst>
              <a:gd name="adj" fmla="val 3484"/>
            </a:avLst>
          </a:prstGeom>
          <a:solidFill>
            <a:srgbClr val="F1F5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737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7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490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crypto is, and why it is everywhere.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55848" y="1554480"/>
            <a:ext cx="2624328" cy="3566160"/>
          </a:xfrm>
          <a:prstGeom prst="roundRect">
            <a:avLst>
              <a:gd name="adj" fmla="val 3484"/>
            </a:avLst>
          </a:prstGeom>
          <a:solidFill>
            <a:srgbClr val="F1F5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630168" y="1737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45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6000" dirty="0"/>
          </a:p>
        </p:txBody>
      </p:sp>
      <p:sp>
        <p:nvSpPr>
          <p:cNvPr id="13" name="Text 10"/>
          <p:cNvSpPr txBox="1"/>
          <p:nvPr/>
        </p:nvSpPr>
        <p:spPr>
          <a:xfrm>
            <a:off x="3630168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630168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Essentials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630168" y="37490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Encodings, ciphers, how to break them, hashes.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63056" y="1554480"/>
            <a:ext cx="2624328" cy="3566160"/>
          </a:xfrm>
          <a:prstGeom prst="roundRect">
            <a:avLst>
              <a:gd name="adj" fmla="val 3484"/>
            </a:avLst>
          </a:prstGeom>
          <a:solidFill>
            <a:srgbClr val="F1F5F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37376" y="1737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44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6000" dirty="0"/>
          </a:p>
        </p:txBody>
      </p:sp>
      <p:sp>
        <p:nvSpPr>
          <p:cNvPr id="18" name="Text 15"/>
          <p:cNvSpPr txBox="1"/>
          <p:nvPr/>
        </p:nvSpPr>
        <p:spPr>
          <a:xfrm>
            <a:off x="6437376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37376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6437376" y="37490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flags, 2,500 points, one clock. Easiest first.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970264" y="1554480"/>
            <a:ext cx="2624328" cy="3566160"/>
          </a:xfrm>
          <a:prstGeom prst="roundRect">
            <a:avLst>
              <a:gd name="adj" fmla="val 3484"/>
            </a:avLst>
          </a:prstGeom>
          <a:solidFill>
            <a:srgbClr val="F1F5F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244584" y="1737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14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000" dirty="0"/>
          </a:p>
        </p:txBody>
      </p:sp>
      <p:sp>
        <p:nvSpPr>
          <p:cNvPr id="23" name="Text 20"/>
          <p:cNvSpPr txBox="1"/>
          <p:nvPr/>
        </p:nvSpPr>
        <p:spPr>
          <a:xfrm>
            <a:off x="9244584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244584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9244584" y="37490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stays fair, and where this leads.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FFF4D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22960" y="534924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deal: </a:t>
            </a:r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maths degree needed. You'll crack real ciphers today with a few simple commands.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capture the flag?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0E172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CYBA</a:t>
            </a:r>
            <a:pPr algn="ctr" indent="0" marL="0">
              <a:buNone/>
            </a:pPr>
            <a:r>
              <a:rPr lang="en-US" sz="40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caesar-8fba6fd0</a:t>
            </a:r>
            <a:pPr algn="ctr" indent="0" marL="0">
              <a:buNone/>
            </a:pPr>
            <a:r>
              <a:rPr lang="en-US" sz="40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1F5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87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886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the same start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06824" y="32004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1F5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35424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5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  }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35424" y="3886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65008" y="32004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1F5F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93608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141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caesar-8fba6fd0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93608" y="3886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 you crack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84632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FF4D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484632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matters. </a:t>
            </a:r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hidden thing, legally and with permission, is exactly what security professionals are paid to do.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b="1" dirty="0">
                <a:solidFill>
                  <a:srgbClr val="17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0" dirty="0"/>
          </a:p>
        </p:txBody>
      </p:sp>
      <p:sp>
        <p:nvSpPr>
          <p:cNvPr id="6" name="Text 3"/>
          <p:cNvSpPr txBox="1"/>
          <p:nvPr/>
        </p:nvSpPr>
        <p:spPr>
          <a:xfrm>
            <a:off x="39319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 of 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8745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fundamentals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3931920" y="3337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cryptography is, why it underpins the whole internet, and the three ideas you'll use all day.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16223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48920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secret | base64   # a first taste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cryptography?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rgbClr val="2459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8516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6276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64592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right people can read it. That's encryption.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3017520"/>
            <a:ext cx="822960" cy="822960"/>
          </a:xfrm>
          <a:prstGeom prst="ellipse">
            <a:avLst/>
          </a:prstGeom>
          <a:solidFill>
            <a:srgbClr val="E8820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22326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45920" y="2999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1645920" y="3474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data hasn't been changed. That's hashing.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8640" y="4389120"/>
            <a:ext cx="822960" cy="822960"/>
          </a:xfrm>
          <a:prstGeom prst="ellipse">
            <a:avLst/>
          </a:prstGeom>
          <a:solidFill>
            <a:srgbClr val="7448D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59486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45920" y="4370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</a:t>
            </a:r>
            <a:endParaRPr lang="en-US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1645920" y="4846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who really sent it. That's signatures.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7223760" y="1645920"/>
            <a:ext cx="4416552" cy="4023360"/>
          </a:xfrm>
          <a:prstGeom prst="roundRect">
            <a:avLst>
              <a:gd name="adj" fmla="val 2273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424928" y="180136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0" name="Shape 14"/>
          <p:cNvSpPr/>
          <p:nvPr/>
        </p:nvSpPr>
        <p:spPr>
          <a:xfrm>
            <a:off x="7626096" y="180136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Shape 15"/>
          <p:cNvSpPr/>
          <p:nvPr/>
        </p:nvSpPr>
        <p:spPr>
          <a:xfrm>
            <a:off x="7827264" y="180136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138160" y="1719072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we'll crack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0" y="2103120"/>
            <a:ext cx="386791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today's CTF is about the first two: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encryption  -&gt; keep a secret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hashing     -&gt; prove a fingerprint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the oldest trick of all: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codes &amp; ciphers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hide a message in plain sight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Encode, encrypt, hash: not the same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566160" cy="3657600"/>
          </a:xfrm>
          <a:prstGeom prst="roundRect">
            <a:avLst>
              <a:gd name="adj" fmla="val 3590"/>
            </a:avLst>
          </a:prstGeom>
          <a:solidFill>
            <a:srgbClr val="F1EDF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828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44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way to write the same data.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383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44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key. Anyone decodes it.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44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base64, hex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06824" y="1600200"/>
            <a:ext cx="3566160" cy="3657600"/>
          </a:xfrm>
          <a:prstGeom prst="roundRect">
            <a:avLst>
              <a:gd name="adj" fmla="val 3590"/>
            </a:avLst>
          </a:prstGeom>
          <a:solidFill>
            <a:srgbClr val="E7EE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26864" y="1828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5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626864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Scrambled with a secret key.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626864" y="3383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5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the key to read it.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626864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45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Caesar, Vigenere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65008" y="1600200"/>
            <a:ext cx="3566160" cy="3657600"/>
          </a:xfrm>
          <a:prstGeom prst="roundRect">
            <a:avLst>
              <a:gd name="adj" fmla="val 3590"/>
            </a:avLst>
          </a:prstGeom>
          <a:solidFill>
            <a:srgbClr val="FDE8E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85048" y="1828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4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385048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one-way fingerprint of the data.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385048" y="3383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undone, only compared.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385048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SHA-256, MD5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548640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FFF4D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2960" y="54864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question on any puzzle: </a:t>
            </a:r>
            <a:pPr indent="0" marL="0">
              <a:buNone/>
            </a:pPr>
            <a:r>
              <a:rPr lang="en-US" sz="16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encoded, encrypted, or hashed? The answer tells you how to attack it.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history of secret writing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1787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BC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03120" cy="30175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Caesar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2900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Julius Caesar shifts each letter a few places to hide army orders.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80360" y="182880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2A9F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880360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800s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2788920" y="2743200"/>
            <a:ext cx="2103120" cy="30175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97180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Al-Kindi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342900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Arab scholar breaks ciphers by counting letters: frequency analysis.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120640" y="182880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7448D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120640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1500s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5029200" y="2743200"/>
            <a:ext cx="2103120" cy="30175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21208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44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Vigenere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212080" y="342900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keyword changes the shift for every letter: unbroken for 300 years.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60920" y="182880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D1416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360920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1940s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7269480" y="2743200"/>
            <a:ext cx="2103120" cy="30175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5236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14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Enigma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452360" y="342900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Codebreakers at Bletchley Park crack Nazi machines and shorten the war.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601200" y="182880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2459D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601200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900" dirty="0"/>
          </a:p>
        </p:txBody>
      </p:sp>
      <p:sp>
        <p:nvSpPr>
          <p:cNvPr id="28" name="Shape 25"/>
          <p:cNvSpPr/>
          <p:nvPr/>
        </p:nvSpPr>
        <p:spPr>
          <a:xfrm>
            <a:off x="9509760" y="2743200"/>
            <a:ext cx="2103120" cy="30175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69264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5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Everywhere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9692640" y="342900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Maths-based crypto secures every website, payment and message.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is everywhere you look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2459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padlock in your browser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https site encrypts the page on its way to you.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4306824" y="1600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12" name="Shape 8"/>
          <p:cNvSpPr/>
          <p:nvPr/>
        </p:nvSpPr>
        <p:spPr>
          <a:xfrm>
            <a:off x="4581144" y="1874520"/>
            <a:ext cx="731520" cy="731520"/>
          </a:xfrm>
          <a:prstGeom prst="ellipse">
            <a:avLst/>
          </a:prstGeom>
          <a:solidFill>
            <a:srgbClr val="7448D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0574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9824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messages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81144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and iMessage are end-to-end encrypted.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8065008" y="1600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17" name="Shape 12"/>
          <p:cNvSpPr/>
          <p:nvPr/>
        </p:nvSpPr>
        <p:spPr>
          <a:xfrm>
            <a:off x="8339328" y="1874520"/>
            <a:ext cx="731520" cy="731520"/>
          </a:xfrm>
          <a:prstGeom prst="ellipse">
            <a:avLst/>
          </a:prstGeom>
          <a:solidFill>
            <a:srgbClr val="1787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0574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08008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39328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numbers are encrypted in transit and hashed at rest.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548640" y="379476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22" name="Shape 16"/>
          <p:cNvSpPr/>
          <p:nvPr/>
        </p:nvSpPr>
        <p:spPr>
          <a:xfrm>
            <a:off x="822960" y="4069080"/>
            <a:ext cx="731520" cy="731520"/>
          </a:xfrm>
          <a:prstGeom prst="ellipse">
            <a:avLst/>
          </a:prstGeom>
          <a:solidFill>
            <a:srgbClr val="D1416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5196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1640" y="4069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passwords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822960" y="4937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sites store only a hash of your password, never the password.</a:t>
            </a:r>
            <a:endParaRPr lang="en-US" sz="1450" dirty="0"/>
          </a:p>
        </p:txBody>
      </p:sp>
      <p:sp>
        <p:nvSpPr>
          <p:cNvPr id="26" name="Shape 19"/>
          <p:cNvSpPr/>
          <p:nvPr/>
        </p:nvSpPr>
        <p:spPr>
          <a:xfrm>
            <a:off x="4306824" y="379476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27" name="Shape 20"/>
          <p:cNvSpPr/>
          <p:nvPr/>
        </p:nvSpPr>
        <p:spPr>
          <a:xfrm>
            <a:off x="4581144" y="4069080"/>
            <a:ext cx="731520" cy="731520"/>
          </a:xfrm>
          <a:prstGeom prst="ellipse">
            <a:avLst/>
          </a:prstGeom>
          <a:solidFill>
            <a:srgbClr val="2A9FD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25196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449824" y="4069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Crypto-currency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4581144" y="4937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is built entirely on hashing and signatures.</a:t>
            </a:r>
            <a:endParaRPr lang="en-US" sz="1450" dirty="0"/>
          </a:p>
        </p:txBody>
      </p:sp>
      <p:sp>
        <p:nvSpPr>
          <p:cNvPr id="31" name="Shape 23"/>
          <p:cNvSpPr/>
          <p:nvPr/>
        </p:nvSpPr>
        <p:spPr>
          <a:xfrm>
            <a:off x="8065008" y="379476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32" name="Shape 24"/>
          <p:cNvSpPr/>
          <p:nvPr/>
        </p:nvSpPr>
        <p:spPr>
          <a:xfrm>
            <a:off x="8339328" y="4069080"/>
            <a:ext cx="731520" cy="731520"/>
          </a:xfrm>
          <a:prstGeom prst="ellipse">
            <a:avLst/>
          </a:prstGeom>
          <a:solidFill>
            <a:srgbClr val="E8820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4251960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208008" y="4069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wifi</a:t>
            </a:r>
            <a:endParaRPr lang="en-US" sz="1700" dirty="0"/>
          </a:p>
        </p:txBody>
      </p:sp>
      <p:sp>
        <p:nvSpPr>
          <p:cNvPr id="35" name="Text 26"/>
          <p:cNvSpPr txBox="1"/>
          <p:nvPr/>
        </p:nvSpPr>
        <p:spPr>
          <a:xfrm>
            <a:off x="8339328" y="4937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protecting your home network is a cipher key.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CTF toolkit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783080"/>
            <a:ext cx="822960" cy="822960"/>
          </a:xfrm>
          <a:prstGeom prst="ellipse">
            <a:avLst/>
          </a:prstGeom>
          <a:solidFill>
            <a:srgbClr val="2A9F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9888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terminal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 shell in your browser tab. No install.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06824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12" name="Shape 8"/>
          <p:cNvSpPr/>
          <p:nvPr/>
        </p:nvSpPr>
        <p:spPr>
          <a:xfrm>
            <a:off x="4581144" y="1783080"/>
            <a:ext cx="822960" cy="822960"/>
          </a:xfrm>
          <a:prstGeom prst="ellipse">
            <a:avLst/>
          </a:prstGeom>
          <a:solidFill>
            <a:srgbClr val="7448D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19888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9824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missions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581144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points, easiest first. New flags on every load.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065008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17" name="Shape 12"/>
          <p:cNvSpPr/>
          <p:nvPr/>
        </p:nvSpPr>
        <p:spPr>
          <a:xfrm>
            <a:off x="8339328" y="1783080"/>
            <a:ext cx="822960" cy="822960"/>
          </a:xfrm>
          <a:prstGeom prst="ellipse">
            <a:avLst/>
          </a:prstGeom>
          <a:solidFill>
            <a:srgbClr val="D1416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68" y="19888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08008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tools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8339328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caesar, freq, vigenere, xxd, base64, sha256sum.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393192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9808" y="408736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3" name="Shape 17"/>
          <p:cNvSpPr/>
          <p:nvPr/>
        </p:nvSpPr>
        <p:spPr>
          <a:xfrm>
            <a:off x="950976" y="408736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Shape 18"/>
          <p:cNvSpPr/>
          <p:nvPr/>
        </p:nvSpPr>
        <p:spPr>
          <a:xfrm>
            <a:off x="1152144" y="408736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1463040" y="4005072"/>
            <a:ext cx="9265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tool has --help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4389120"/>
            <a:ext cx="105457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'try me' | base64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dHJ5IG1lCg==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3 &lt;&lt;&lt; 'hello'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khoor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-n password | sha256sum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5e884898da...  -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b="1" dirty="0">
                <a:solidFill>
                  <a:srgbClr val="245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000" dirty="0"/>
          </a:p>
        </p:txBody>
      </p:sp>
      <p:sp>
        <p:nvSpPr>
          <p:cNvPr id="6" name="Text 3"/>
          <p:cNvSpPr txBox="1"/>
          <p:nvPr/>
        </p:nvSpPr>
        <p:spPr>
          <a:xfrm>
            <a:off x="39319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 of 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8745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essentials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3931920" y="3337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big ideas and the tools for each. Open the CTF now so you can try every command (see the mentor appendix).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16223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48920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 crypto   # the essentials, in 25 minutes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big ideas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624328" cy="4434840"/>
          </a:xfrm>
          <a:prstGeom prst="roundRect">
            <a:avLst>
              <a:gd name="adj" fmla="val 3484"/>
            </a:avLst>
          </a:prstGeom>
          <a:solidFill>
            <a:srgbClr val="F1F5FB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810512"/>
            <a:ext cx="640080" cy="640080"/>
          </a:xfrm>
          <a:prstGeom prst="ellipse">
            <a:avLst/>
          </a:prstGeom>
          <a:solidFill>
            <a:srgbClr val="2A9FD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4747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written a different way. No key, so anyone can undo it.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355848" y="1508760"/>
            <a:ext cx="2624328" cy="4434840"/>
          </a:xfrm>
          <a:prstGeom prst="roundRect">
            <a:avLst>
              <a:gd name="adj" fmla="val 3484"/>
            </a:avLst>
          </a:prstGeom>
          <a:solidFill>
            <a:srgbClr val="F1F5FB"/>
          </a:solidFill>
          <a:ln/>
        </p:spPr>
      </p:sp>
      <p:sp>
        <p:nvSpPr>
          <p:cNvPr id="12" name="Shape 9"/>
          <p:cNvSpPr/>
          <p:nvPr/>
        </p:nvSpPr>
        <p:spPr>
          <a:xfrm>
            <a:off x="3584448" y="1810512"/>
            <a:ext cx="640080" cy="640080"/>
          </a:xfrm>
          <a:prstGeom prst="ellipse">
            <a:avLst/>
          </a:prstGeom>
          <a:solidFill>
            <a:srgbClr val="7448D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584448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584448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ciphers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584448" y="34747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ways to hide a message by moving or swapping letters.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63056" y="1508760"/>
            <a:ext cx="2624328" cy="4434840"/>
          </a:xfrm>
          <a:prstGeom prst="roundRect">
            <a:avLst>
              <a:gd name="adj" fmla="val 3484"/>
            </a:avLst>
          </a:prstGeom>
          <a:solidFill>
            <a:srgbClr val="F1F5FB"/>
          </a:solidFill>
          <a:ln/>
        </p:spPr>
      </p:sp>
      <p:sp>
        <p:nvSpPr>
          <p:cNvPr id="17" name="Shape 14"/>
          <p:cNvSpPr/>
          <p:nvPr/>
        </p:nvSpPr>
        <p:spPr>
          <a:xfrm>
            <a:off x="6391656" y="1810512"/>
            <a:ext cx="640080" cy="640080"/>
          </a:xfrm>
          <a:prstGeom prst="ellipse">
            <a:avLst/>
          </a:prstGeom>
          <a:solidFill>
            <a:srgbClr val="D141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91656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391656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ciphers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391656" y="34747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the key if the cipher is weak.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8970264" y="1508760"/>
            <a:ext cx="2624328" cy="4434840"/>
          </a:xfrm>
          <a:prstGeom prst="roundRect">
            <a:avLst>
              <a:gd name="adj" fmla="val 3484"/>
            </a:avLst>
          </a:prstGeom>
          <a:solidFill>
            <a:srgbClr val="F1F5FB"/>
          </a:solidFill>
          <a:ln/>
        </p:spPr>
      </p:sp>
      <p:sp>
        <p:nvSpPr>
          <p:cNvPr id="22" name="Shape 19"/>
          <p:cNvSpPr/>
          <p:nvPr/>
        </p:nvSpPr>
        <p:spPr>
          <a:xfrm>
            <a:off x="9198864" y="1810512"/>
            <a:ext cx="640080" cy="640080"/>
          </a:xfrm>
          <a:prstGeom prst="ellipse">
            <a:avLst/>
          </a:prstGeom>
          <a:solidFill>
            <a:srgbClr val="E8820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198864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9198864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Hashes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9198864" y="34747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one-way fingerprint. You can compare, but never reverse.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162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Encodings: base64 and hex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894015" y="502920"/>
            <a:ext cx="3749040" cy="548640"/>
          </a:xfrm>
          <a:prstGeom prst="roundRect">
            <a:avLst>
              <a:gd name="adj" fmla="val 20000"/>
            </a:avLst>
          </a:prstGeom>
          <a:solidFill>
            <a:srgbClr val="E2F5EC"/>
          </a:solidFill>
          <a:ln w="19050">
            <a:solidFill>
              <a:srgbClr val="1787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85455" y="594360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1787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85455" y="594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91295" y="502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hi | base64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64592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E172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base64 -d FILE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246120" y="1645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base64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242316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E172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xxd -r -p FILE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246120" y="2423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plain hex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E172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xxd -p FILE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246120" y="3200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text into hex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48640" y="397764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E172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 FILE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246120" y="3977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text into base64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48920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4D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48920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them apart: </a:t>
            </a:r>
            <a:pPr indent="0" marL="0">
              <a:buNone/>
            </a:pPr>
            <a:r>
              <a:rPr lang="en-US" sz="16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0-9 and a-f = hex. Mixed-case letters with +, / or = = base64.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00800" y="1463040"/>
            <a:ext cx="5212080" cy="4434840"/>
          </a:xfrm>
          <a:prstGeom prst="roundRect">
            <a:avLst>
              <a:gd name="adj" fmla="val 2062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601968" y="161848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6" name="Shape 23"/>
          <p:cNvSpPr/>
          <p:nvPr/>
        </p:nvSpPr>
        <p:spPr>
          <a:xfrm>
            <a:off x="6803136" y="161848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Shape 24"/>
          <p:cNvSpPr/>
          <p:nvPr/>
        </p:nvSpPr>
        <p:spPr>
          <a:xfrm>
            <a:off x="7004304" y="161848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315200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encodings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675120" y="192024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-n hi | base64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aGk=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aGk= | base64 -d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-n hi | xxd -p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6869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6869 | xxd -r -p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162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Caesar and ROT13: shifting letters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894015" y="502920"/>
            <a:ext cx="3749040" cy="548640"/>
          </a:xfrm>
          <a:prstGeom prst="roundRect">
            <a:avLst>
              <a:gd name="adj" fmla="val 20000"/>
            </a:avLst>
          </a:prstGeom>
          <a:solidFill>
            <a:srgbClr val="E2F5EC"/>
          </a:solidFill>
          <a:ln w="19050">
            <a:solidFill>
              <a:srgbClr val="1787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85455" y="594360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1787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85455" y="594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91295" y="502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3 &lt;&lt;&lt; hello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55448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0E172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155448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 D E F ...  </a:t>
            </a:r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+3  -&gt;  </a:t>
            </a:r>
            <a:pPr indent="0" marL="0">
              <a:buNone/>
            </a:pPr>
            <a:r>
              <a:rPr lang="en-US" sz="2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E F G H I ...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48640" y="310896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0E172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N FILE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880360" y="3108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every letter by N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384048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0E172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-N FILE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880360" y="3840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back the other way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48640" y="457200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0E172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13 FILE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880360" y="4572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ROT13 (its own undo)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400800" y="3017520"/>
            <a:ext cx="5212080" cy="2834640"/>
          </a:xfrm>
          <a:prstGeom prst="roundRect">
            <a:avLst>
              <a:gd name="adj" fmla="val 3226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01968" y="317296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3" name="Shape 20"/>
          <p:cNvSpPr/>
          <p:nvPr/>
        </p:nvSpPr>
        <p:spPr>
          <a:xfrm>
            <a:off x="6803136" y="317296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Shape 21"/>
          <p:cNvSpPr/>
          <p:nvPr/>
        </p:nvSpPr>
        <p:spPr>
          <a:xfrm>
            <a:off x="7004304" y="317296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315200" y="3090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and shift back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3474720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3 &lt;&lt;&lt; 'hello'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khoor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-3 &lt;&lt;&lt; 'khoor'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13 &lt;&lt;&lt; 'why'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162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ciphers without the key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894015" y="502920"/>
            <a:ext cx="3749040" cy="548640"/>
          </a:xfrm>
          <a:prstGeom prst="roundRect">
            <a:avLst>
              <a:gd name="adj" fmla="val 20000"/>
            </a:avLst>
          </a:prstGeom>
          <a:solidFill>
            <a:srgbClr val="E2F5EC"/>
          </a:solidFill>
          <a:ln w="19050">
            <a:solidFill>
              <a:srgbClr val="1787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85455" y="594360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1787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85455" y="594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91295" y="502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--all scroll.txt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60020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44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2402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possible keys? Try them all. caesar --all prints all 25 shifts; one reads as English.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14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analysis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4348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keys? Count letters with freq. The top letter is probably e; the top 3-letter word is probably 'the'. Guess, then check.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00800" y="160020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01968" y="175564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8" name="Shape 15"/>
          <p:cNvSpPr/>
          <p:nvPr/>
        </p:nvSpPr>
        <p:spPr>
          <a:xfrm>
            <a:off x="6803136" y="175564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Shape 16"/>
          <p:cNvSpPr/>
          <p:nvPr/>
        </p:nvSpPr>
        <p:spPr>
          <a:xfrm>
            <a:off x="7004304" y="175564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letters leak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2057400"/>
            <a:ext cx="46634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 cipher.txt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   58  ##############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   41  ##########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   33  ########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 is most common -&gt; probably 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the commonest 3-letter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word -&gt; probably 'the'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cipher.txt | tr 'tgk' 'ETH'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162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Vigenere: a keyword cipher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894015" y="502920"/>
            <a:ext cx="3749040" cy="548640"/>
          </a:xfrm>
          <a:prstGeom prst="roundRect">
            <a:avLst>
              <a:gd name="adj" fmla="val 20000"/>
            </a:avLst>
          </a:prstGeom>
          <a:solidFill>
            <a:srgbClr val="E2F5EC"/>
          </a:solidFill>
          <a:ln w="19050">
            <a:solidFill>
              <a:srgbClr val="1787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85455" y="594360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1787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85455" y="594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91295" y="502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vigenere -d KEY secret.txt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55448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E172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15544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 </a:t>
            </a:r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E M O N L E M O N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msg: 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 T A C K A T D...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1546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E172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vigenere -d KEY FILE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246120" y="3154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with a keyword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38862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E172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vigenere -e KEY FILE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246120" y="3886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48640" y="461772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E172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" y="4617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vigenere --help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246120" y="46177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400800" y="3063240"/>
            <a:ext cx="5212080" cy="2834640"/>
          </a:xfrm>
          <a:prstGeom prst="roundRect">
            <a:avLst>
              <a:gd name="adj" fmla="val 3226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01968" y="321868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3" name="Shape 20"/>
          <p:cNvSpPr/>
          <p:nvPr/>
        </p:nvSpPr>
        <p:spPr>
          <a:xfrm>
            <a:off x="6803136" y="321868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Shape 21"/>
          <p:cNvSpPr/>
          <p:nvPr/>
        </p:nvSpPr>
        <p:spPr>
          <a:xfrm>
            <a:off x="7004304" y="321868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315200" y="3136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 in, keyword out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3520440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vigenere -e lemon &lt;&lt;&lt; 'attack'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lxfopv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vigenere -d lemon &lt;&lt;&lt; 'lxfopv'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162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Hashes: one-way fingerprints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894015" y="502920"/>
            <a:ext cx="3749040" cy="548640"/>
          </a:xfrm>
          <a:prstGeom prst="roundRect">
            <a:avLst>
              <a:gd name="adj" fmla="val 20000"/>
            </a:avLst>
          </a:prstGeom>
          <a:solidFill>
            <a:srgbClr val="E2F5EC"/>
          </a:solidFill>
          <a:ln w="19050">
            <a:solidFill>
              <a:srgbClr val="1787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85455" y="594360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1787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85455" y="594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91295" y="502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-n hello | sha256sum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554480"/>
            <a:ext cx="5669280" cy="3017520"/>
          </a:xfrm>
          <a:prstGeom prst="roundRect">
            <a:avLst>
              <a:gd name="adj" fmla="val 3030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2" name="Shape 9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Shape 10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463040" y="1627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sensitive to change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2011680"/>
            <a:ext cx="51206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-n hello | sha256sum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2cf24dba5fb0a30e...  -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-n hellp | sha256sum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7d6fd7774f0d87624...  -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letter changed -&gt; totally different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70916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FFF4D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47091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5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 stores your password's hash, not your password. If the password is a common word, an attacker hashes a wordlist and finds the match.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0" y="1600200"/>
            <a:ext cx="777240" cy="777240"/>
          </a:xfrm>
          <a:prstGeom prst="ellipse">
            <a:avLst/>
          </a:prstGeom>
          <a:solidFill>
            <a:srgbClr val="17875A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5110" y="1794510"/>
            <a:ext cx="388620" cy="3886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406640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in, same out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6400800" y="3063240"/>
            <a:ext cx="777240" cy="777240"/>
          </a:xfrm>
          <a:prstGeom prst="ellipse">
            <a:avLst/>
          </a:prstGeom>
          <a:solidFill>
            <a:srgbClr val="D1416B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110" y="3257550"/>
            <a:ext cx="388620" cy="3886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406640" y="3154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letter flips it all</a:t>
            </a:r>
            <a:endParaRPr lang="en-US" sz="1900" dirty="0"/>
          </a:p>
        </p:txBody>
      </p:sp>
      <p:sp>
        <p:nvSpPr>
          <p:cNvPr id="24" name="Shape 19"/>
          <p:cNvSpPr/>
          <p:nvPr/>
        </p:nvSpPr>
        <p:spPr>
          <a:xfrm>
            <a:off x="6400800" y="4526280"/>
            <a:ext cx="777240" cy="777240"/>
          </a:xfrm>
          <a:prstGeom prst="ellipse">
            <a:avLst/>
          </a:prstGeom>
          <a:solidFill>
            <a:srgbClr val="2459D8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110" y="4720590"/>
            <a:ext cx="388620" cy="3886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06640" y="4617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undo, only compare</a:t>
            </a:r>
            <a:endParaRPr lang="en-US" sz="19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toolbox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2A9F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4630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37560" y="146304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F1F5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474720" y="15544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base64 -d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9751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base64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23560" y="146304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F1F5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60720" y="15544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xxd -r -p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19751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hex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256032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7448D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5800" y="2560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ciphers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337560" y="256032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F1F5F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474720" y="2651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30723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letters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23560" y="256032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F1F5F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760720" y="2651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13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760720" y="30723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ROT13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909560" y="256032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F1F5F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046720" y="2651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vigenere -d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046720" y="30723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cipher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365760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D1416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5800" y="36576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ciphers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3337560" y="365760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F1F5F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474720" y="3749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--all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474720" y="41696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623560" y="365760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F1F5F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760720" y="3749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760720" y="41696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letters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909560" y="365760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F1F5FB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046720" y="3749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'a' 'B'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046720" y="41696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letters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48640" y="475488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E8820C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85800" y="47548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Hashes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3337560" y="47548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F1F5FB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3474720" y="4846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sha256sum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3474720" y="52669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623560" y="47548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F1F5FB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5760720" y="4846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5760720" y="52669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 hash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b="1" dirty="0">
                <a:solidFill>
                  <a:srgbClr val="744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000" dirty="0"/>
          </a:p>
        </p:txBody>
      </p:sp>
      <p:sp>
        <p:nvSpPr>
          <p:cNvPr id="6" name="Text 3"/>
          <p:cNvSpPr txBox="1"/>
          <p:nvPr/>
        </p:nvSpPr>
        <p:spPr>
          <a:xfrm>
            <a:off x="39319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 of 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8745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competition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3931920" y="3337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warm-up, nine missions, 2,500 points, one clock. Easiest first; the vault is the Very Hard finale.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16223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48920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./capture --all   # 9 flags, 2,500 points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scoring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E2F5E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73736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27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0604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7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97180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1-3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55848" y="160020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355848" y="173736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4600" dirty="0"/>
          </a:p>
        </p:txBody>
      </p:sp>
      <p:sp>
        <p:nvSpPr>
          <p:cNvPr id="12" name="Text 9"/>
          <p:cNvSpPr txBox="1"/>
          <p:nvPr/>
        </p:nvSpPr>
        <p:spPr>
          <a:xfrm>
            <a:off x="3355848" y="260604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355848" y="297180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4-6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63056" y="160020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DE8E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163056" y="173736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4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4600" dirty="0"/>
          </a:p>
        </p:txBody>
      </p:sp>
      <p:sp>
        <p:nvSpPr>
          <p:cNvPr id="16" name="Text 13"/>
          <p:cNvSpPr txBox="1"/>
          <p:nvPr/>
        </p:nvSpPr>
        <p:spPr>
          <a:xfrm>
            <a:off x="6163056" y="260604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163056" y="297180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7-8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970264" y="160020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2A143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970264" y="173736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8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</a:t>
            </a:r>
            <a:endParaRPr lang="en-US" sz="4600" dirty="0"/>
          </a:p>
        </p:txBody>
      </p:sp>
      <p:sp>
        <p:nvSpPr>
          <p:cNvPr id="20" name="Text 17"/>
          <p:cNvSpPr txBox="1"/>
          <p:nvPr/>
        </p:nvSpPr>
        <p:spPr>
          <a:xfrm>
            <a:off x="8970264" y="260604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HARD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970264" y="297180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9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361188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1F5FB"/>
          </a:solidFill>
          <a:ln/>
        </p:spPr>
      </p:sp>
      <p:sp>
        <p:nvSpPr>
          <p:cNvPr id="23" name="Shape 20"/>
          <p:cNvSpPr/>
          <p:nvPr/>
        </p:nvSpPr>
        <p:spPr>
          <a:xfrm>
            <a:off x="822960" y="3794760"/>
            <a:ext cx="685800" cy="685800"/>
          </a:xfrm>
          <a:prstGeom prst="ellipse">
            <a:avLst/>
          </a:prstGeom>
          <a:solidFill>
            <a:srgbClr val="2459D8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3966210"/>
            <a:ext cx="342900" cy="3429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691640" y="3840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counts up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22960" y="47091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Mission 1, stops at your last flag. Nobody is cut off.</a:t>
            </a:r>
            <a:endParaRPr lang="en-US" sz="1450" dirty="0"/>
          </a:p>
        </p:txBody>
      </p:sp>
      <p:sp>
        <p:nvSpPr>
          <p:cNvPr id="27" name="Shape 23"/>
          <p:cNvSpPr/>
          <p:nvPr/>
        </p:nvSpPr>
        <p:spPr>
          <a:xfrm>
            <a:off x="4306824" y="361188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1F5FB"/>
          </a:solidFill>
          <a:ln/>
        </p:spPr>
      </p:sp>
      <p:sp>
        <p:nvSpPr>
          <p:cNvPr id="28" name="Shape 24"/>
          <p:cNvSpPr/>
          <p:nvPr/>
        </p:nvSpPr>
        <p:spPr>
          <a:xfrm>
            <a:off x="4581144" y="379476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594" y="3966210"/>
            <a:ext cx="342900" cy="3429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449824" y="3840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points wins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4581144" y="47091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on points? The faster time wins.</a:t>
            </a:r>
            <a:endParaRPr lang="en-US" sz="1450" dirty="0"/>
          </a:p>
        </p:txBody>
      </p:sp>
      <p:sp>
        <p:nvSpPr>
          <p:cNvPr id="32" name="Shape 27"/>
          <p:cNvSpPr/>
          <p:nvPr/>
        </p:nvSpPr>
        <p:spPr>
          <a:xfrm>
            <a:off x="8065008" y="361188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1F5FB"/>
          </a:solidFill>
          <a:ln/>
        </p:spPr>
      </p:sp>
      <p:sp>
        <p:nvSpPr>
          <p:cNvPr id="33" name="Shape 28"/>
          <p:cNvSpPr/>
          <p:nvPr/>
        </p:nvSpPr>
        <p:spPr>
          <a:xfrm>
            <a:off x="8339328" y="3794760"/>
            <a:ext cx="685800" cy="685800"/>
          </a:xfrm>
          <a:prstGeom prst="ellipse">
            <a:avLst/>
          </a:prstGeom>
          <a:solidFill>
            <a:srgbClr val="17875A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778" y="3966210"/>
            <a:ext cx="342900" cy="34290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208008" y="3840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cost 5%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8339328" y="47091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that mission, charged once. Wrong flags are free.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capture routine, every time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" y="1828800"/>
            <a:ext cx="914400" cy="914400"/>
          </a:xfrm>
          <a:prstGeom prst="ellipse">
            <a:avLst/>
          </a:prstGeom>
          <a:solidFill>
            <a:srgbClr val="2A9F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0574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23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5204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 brief.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2560320" y="20116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2816352" y="16002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13" name="Shape 9"/>
          <p:cNvSpPr/>
          <p:nvPr/>
        </p:nvSpPr>
        <p:spPr>
          <a:xfrm>
            <a:off x="3364992" y="1828800"/>
            <a:ext cx="914400" cy="914400"/>
          </a:xfrm>
          <a:prstGeom prst="ellipse">
            <a:avLst/>
          </a:prstGeom>
          <a:solidFill>
            <a:srgbClr val="2459D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20574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53512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</a:t>
            </a:r>
            <a:endParaRPr lang="en-US" sz="2300" dirty="0"/>
          </a:p>
        </p:txBody>
      </p:sp>
      <p:sp>
        <p:nvSpPr>
          <p:cNvPr id="16" name="Text 11"/>
          <p:cNvSpPr txBox="1"/>
          <p:nvPr/>
        </p:nvSpPr>
        <p:spPr>
          <a:xfrm>
            <a:off x="2999232" y="35204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encoded, encrypted, or hashed?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4828032" y="20116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5084064" y="16002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19" name="Shape 14"/>
          <p:cNvSpPr/>
          <p:nvPr/>
        </p:nvSpPr>
        <p:spPr>
          <a:xfrm>
            <a:off x="5632704" y="1828800"/>
            <a:ext cx="914400" cy="914400"/>
          </a:xfrm>
          <a:prstGeom prst="ellipse">
            <a:avLst/>
          </a:prstGeom>
          <a:solidFill>
            <a:srgbClr val="7448D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0574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221224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</a:t>
            </a:r>
            <a:endParaRPr lang="en-US" sz="2300" dirty="0"/>
          </a:p>
        </p:txBody>
      </p:sp>
      <p:sp>
        <p:nvSpPr>
          <p:cNvPr id="22" name="Text 16"/>
          <p:cNvSpPr txBox="1"/>
          <p:nvPr/>
        </p:nvSpPr>
        <p:spPr>
          <a:xfrm>
            <a:off x="5266944" y="35204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tool that fits.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095744" y="20116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7351776" y="16002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25" name="Shape 19"/>
          <p:cNvSpPr/>
          <p:nvPr/>
        </p:nvSpPr>
        <p:spPr>
          <a:xfrm>
            <a:off x="7900416" y="1828800"/>
            <a:ext cx="914400" cy="914400"/>
          </a:xfrm>
          <a:prstGeom prst="ellipse">
            <a:avLst/>
          </a:prstGeom>
          <a:solidFill>
            <a:srgbClr val="D1416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0574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488936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</a:t>
            </a:r>
            <a:endParaRPr lang="en-US" sz="2300" dirty="0"/>
          </a:p>
        </p:txBody>
      </p:sp>
      <p:sp>
        <p:nvSpPr>
          <p:cNvPr id="28" name="Text 21"/>
          <p:cNvSpPr txBox="1"/>
          <p:nvPr/>
        </p:nvSpPr>
        <p:spPr>
          <a:xfrm>
            <a:off x="7534656" y="35204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flag.</a:t>
            </a:r>
            <a:endParaRPr lang="en-US" sz="1450" dirty="0"/>
          </a:p>
        </p:txBody>
      </p:sp>
      <p:sp>
        <p:nvSpPr>
          <p:cNvPr id="29" name="Text 22"/>
          <p:cNvSpPr txBox="1"/>
          <p:nvPr/>
        </p:nvSpPr>
        <p:spPr>
          <a:xfrm>
            <a:off x="9363456" y="20116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200" dirty="0"/>
          </a:p>
        </p:txBody>
      </p:sp>
      <p:sp>
        <p:nvSpPr>
          <p:cNvPr id="30" name="Shape 23"/>
          <p:cNvSpPr/>
          <p:nvPr/>
        </p:nvSpPr>
        <p:spPr>
          <a:xfrm>
            <a:off x="9619488" y="16002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31" name="Shape 24"/>
          <p:cNvSpPr/>
          <p:nvPr/>
        </p:nvSpPr>
        <p:spPr>
          <a:xfrm>
            <a:off x="10168128" y="1828800"/>
            <a:ext cx="914400" cy="914400"/>
          </a:xfrm>
          <a:prstGeom prst="ellipse">
            <a:avLst/>
          </a:prstGeom>
          <a:solidFill>
            <a:srgbClr val="17875A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728" y="205740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756648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2300" dirty="0"/>
          </a:p>
        </p:txBody>
      </p:sp>
      <p:sp>
        <p:nvSpPr>
          <p:cNvPr id="34" name="Text 26"/>
          <p:cNvSpPr txBox="1"/>
          <p:nvPr/>
        </p:nvSpPr>
        <p:spPr>
          <a:xfrm>
            <a:off x="9802368" y="35204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CYBA{...}</a:t>
            </a:r>
            <a:endParaRPr lang="en-US" sz="1450" dirty="0"/>
          </a:p>
        </p:txBody>
      </p:sp>
      <p:sp>
        <p:nvSpPr>
          <p:cNvPr id="35" name="Shape 27"/>
          <p:cNvSpPr/>
          <p:nvPr/>
        </p:nvSpPr>
        <p:spPr>
          <a:xfrm>
            <a:off x="548640" y="50292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49808" y="518464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7" name="Shape 29"/>
          <p:cNvSpPr/>
          <p:nvPr/>
        </p:nvSpPr>
        <p:spPr>
          <a:xfrm>
            <a:off x="950976" y="518464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8" name="Shape 30"/>
          <p:cNvSpPr/>
          <p:nvPr/>
        </p:nvSpPr>
        <p:spPr>
          <a:xfrm>
            <a:off x="1152144" y="518464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822960" y="54864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 CYBA{caesar-8fba6fd0}</a:t>
            </a:r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Correct! +200 points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the page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87782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6DE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13A">
                <a:alpha val="15000"/>
              </a:srgbClr>
            </a:outerShdw>
          </a:effectLst>
        </p:spPr>
      </p:sp>
      <p:pic>
        <p:nvPicPr>
          <p:cNvPr id="7" name="Image 0" descr="/home/claude/crypto-ctf/slides/img/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8686800" cy="26356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0" y="1600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 </a:t>
            </a:r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welcome and how to play.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9144000" y="2468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 </a:t>
            </a:r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is the warm-up; a dot per mission.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0" y="3337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&amp; clock  </a:t>
            </a:r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out of 2,550, clock from Mission 1.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9144000" y="4206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panel  </a:t>
            </a:r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Brief, Start Here, Quick Reference.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9144000" y="5074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 </a:t>
            </a:r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inside before you type.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0: the warm-up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787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6420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</a:t>
            </a:r>
            <a:pPr indent="0" marL="0">
              <a:buNone/>
            </a:pPr>
            <a:r>
              <a:rPr lang="en-US" sz="18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orientation.txt</a:t>
            </a:r>
            <a:pPr indent="0" marL="0">
              <a:buNone/>
            </a:pPr>
            <a:r>
              <a:rPr lang="en-US" sz="18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read it.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17875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57860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warm-up flag is on the last line.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17875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49300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it, then </a:t>
            </a:r>
            <a:pPr indent="0" marL="0">
              <a:buNone/>
            </a:pPr>
            <a:r>
              <a:rPr lang="en-US" sz="18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pPr indent="0" marL="0">
              <a:buNone/>
            </a:pPr>
            <a:r>
              <a:rPr lang="en-US" sz="18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paste.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17875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440740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bonus, or press </a:t>
            </a:r>
            <a:pPr indent="0" marL="0">
              <a:buNone/>
            </a:pPr>
            <a:r>
              <a:rPr lang="en-US" sz="18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warm-up.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48640" y="5486400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E2F5E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5486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Untimed: the clock starts with Mission 1.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126480" y="1463040"/>
            <a:ext cx="5513832" cy="4434840"/>
          </a:xfrm>
          <a:prstGeom prst="roundRect">
            <a:avLst>
              <a:gd name="adj" fmla="val 2062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27648" y="161848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2" name="Shape 19"/>
          <p:cNvSpPr/>
          <p:nvPr/>
        </p:nvSpPr>
        <p:spPr>
          <a:xfrm>
            <a:off x="6528816" y="161848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Shape 20"/>
          <p:cNvSpPr/>
          <p:nvPr/>
        </p:nvSpPr>
        <p:spPr>
          <a:xfrm>
            <a:off x="6729984" y="161848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040880" y="15361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player@quest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1920240"/>
            <a:ext cx="49651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orientation.txt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CTF Orientation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Warm-up flag: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CYBA{warmup-...}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 CYBA{warmup-...}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Correct! +50 points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trail: nine missions, 2,500 points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7" name="Shape 4"/>
          <p:cNvSpPr/>
          <p:nvPr/>
        </p:nvSpPr>
        <p:spPr>
          <a:xfrm>
            <a:off x="713232" y="1719072"/>
            <a:ext cx="502920" cy="502920"/>
          </a:xfrm>
          <a:prstGeom prst="ellipse">
            <a:avLst/>
          </a:prstGeom>
          <a:solidFill>
            <a:srgbClr val="17875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camp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3232" y="285292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2F5E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13232" y="28529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7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 ·  100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base64 -d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88920" y="146304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14" name="Shape 11"/>
          <p:cNvSpPr/>
          <p:nvPr/>
        </p:nvSpPr>
        <p:spPr>
          <a:xfrm>
            <a:off x="2953512" y="1719072"/>
            <a:ext cx="502920" cy="502920"/>
          </a:xfrm>
          <a:prstGeom prst="ellipse">
            <a:avLst/>
          </a:prstGeom>
          <a:solidFill>
            <a:srgbClr val="2A9FD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95351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2953512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marks the spot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953512" y="285292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2F5E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953512" y="28529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7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 ·  100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2953512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xxd -r -p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0" y="146304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21" name="Shape 18"/>
          <p:cNvSpPr/>
          <p:nvPr/>
        </p:nvSpPr>
        <p:spPr>
          <a:xfrm>
            <a:off x="5193792" y="1719072"/>
            <a:ext cx="502920" cy="502920"/>
          </a:xfrm>
          <a:prstGeom prst="ellipse">
            <a:avLst/>
          </a:prstGeom>
          <a:solidFill>
            <a:srgbClr val="2459D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19379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193792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cycle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193792" y="285292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2F5E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193792" y="28529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7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 ·  100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193792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13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269480" y="146304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28" name="Shape 25"/>
          <p:cNvSpPr/>
          <p:nvPr/>
        </p:nvSpPr>
        <p:spPr>
          <a:xfrm>
            <a:off x="7434072" y="1719072"/>
            <a:ext cx="502920" cy="502920"/>
          </a:xfrm>
          <a:prstGeom prst="ellipse">
            <a:avLst/>
          </a:prstGeom>
          <a:solidFill>
            <a:srgbClr val="7448D4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43407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7434072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Hail Caesar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7434072" y="285292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434072" y="28529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200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7434072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--all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509760" y="146304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35" name="Shape 32"/>
          <p:cNvSpPr/>
          <p:nvPr/>
        </p:nvSpPr>
        <p:spPr>
          <a:xfrm>
            <a:off x="9674352" y="1719072"/>
            <a:ext cx="502920" cy="502920"/>
          </a:xfrm>
          <a:prstGeom prst="ellipse">
            <a:avLst/>
          </a:prstGeom>
          <a:solidFill>
            <a:srgbClr val="D1416B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67435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9674352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doll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9674352" y="285292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9674352" y="28529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200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9674352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48640" y="370332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42" name="Shape 39"/>
          <p:cNvSpPr/>
          <p:nvPr/>
        </p:nvSpPr>
        <p:spPr>
          <a:xfrm>
            <a:off x="713232" y="3959352"/>
            <a:ext cx="502920" cy="502920"/>
          </a:xfrm>
          <a:prstGeom prst="ellipse">
            <a:avLst/>
          </a:prstGeom>
          <a:solidFill>
            <a:srgbClr val="E8820C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13232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713232" y="4572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713232" y="509320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13232" y="50932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200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713232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sha256sum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788920" y="370332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49" name="Shape 46"/>
          <p:cNvSpPr/>
          <p:nvPr/>
        </p:nvSpPr>
        <p:spPr>
          <a:xfrm>
            <a:off x="2953512" y="3959352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2953512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51" name="Text 48"/>
          <p:cNvSpPr txBox="1"/>
          <p:nvPr/>
        </p:nvSpPr>
        <p:spPr>
          <a:xfrm>
            <a:off x="2953512" y="4572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detective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2953512" y="509320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FDE8EC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2953512" y="50932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 ·  400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2953512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freq, tr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5029200" y="370332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56" name="Shape 53"/>
          <p:cNvSpPr/>
          <p:nvPr/>
        </p:nvSpPr>
        <p:spPr>
          <a:xfrm>
            <a:off x="5193792" y="3959352"/>
            <a:ext cx="502920" cy="50292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5193792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58" name="Text 55"/>
          <p:cNvSpPr txBox="1"/>
          <p:nvPr/>
        </p:nvSpPr>
        <p:spPr>
          <a:xfrm>
            <a:off x="5193792" y="4572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cipher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5193792" y="509320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FDE8EC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5193792" y="50932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 ·  400</a:t>
            </a:r>
            <a:endParaRPr lang="en-US" sz="1050" dirty="0"/>
          </a:p>
        </p:txBody>
      </p:sp>
      <p:sp>
        <p:nvSpPr>
          <p:cNvPr id="61" name="Text 58"/>
          <p:cNvSpPr txBox="1"/>
          <p:nvPr/>
        </p:nvSpPr>
        <p:spPr>
          <a:xfrm>
            <a:off x="5193792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vigenere -d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7269480" y="370332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F1F5FB"/>
          </a:solidFill>
          <a:ln/>
        </p:spPr>
      </p:sp>
      <p:sp>
        <p:nvSpPr>
          <p:cNvPr id="63" name="Shape 60"/>
          <p:cNvSpPr/>
          <p:nvPr/>
        </p:nvSpPr>
        <p:spPr>
          <a:xfrm>
            <a:off x="7434072" y="3959352"/>
            <a:ext cx="502920" cy="502920"/>
          </a:xfrm>
          <a:prstGeom prst="ellipse">
            <a:avLst/>
          </a:prstGeom>
          <a:solidFill>
            <a:srgbClr val="5B6EE1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7434072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700" dirty="0"/>
          </a:p>
        </p:txBody>
      </p:sp>
      <p:sp>
        <p:nvSpPr>
          <p:cNvPr id="65" name="Text 62"/>
          <p:cNvSpPr txBox="1"/>
          <p:nvPr/>
        </p:nvSpPr>
        <p:spPr>
          <a:xfrm>
            <a:off x="7434072" y="4572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</a:t>
            </a:r>
            <a:endParaRPr lang="en-US" sz="1500" dirty="0"/>
          </a:p>
        </p:txBody>
      </p:sp>
      <p:sp>
        <p:nvSpPr>
          <p:cNvPr id="66" name="Shape 63"/>
          <p:cNvSpPr/>
          <p:nvPr/>
        </p:nvSpPr>
        <p:spPr>
          <a:xfrm>
            <a:off x="7434072" y="509320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2A1430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7434072" y="50932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HARD  ·  800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7434072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of it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Mission 0, the warm-up: optional, untimed, +50 bonus.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45720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17875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57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1 of 9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0604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2F5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06040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7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 ·  100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66560" y="438912"/>
            <a:ext cx="476504" cy="402336"/>
          </a:xfrm>
          <a:prstGeom prst="roundRect">
            <a:avLst>
              <a:gd name="adj" fmla="val 13636"/>
            </a:avLst>
          </a:prstGeom>
          <a:solidFill>
            <a:srgbClr val="17875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66560" y="438912"/>
            <a:ext cx="47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621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621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6587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587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41552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1552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65184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5184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51484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484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06449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06449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061415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61415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116380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116380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camp</a:t>
            </a:r>
            <a:endParaRPr lang="en-US" sz="4000" dirty="0"/>
          </a:p>
        </p:txBody>
      </p:sp>
      <p:sp>
        <p:nvSpPr>
          <p:cNvPr id="28" name="Shape 25"/>
          <p:cNvSpPr/>
          <p:nvPr/>
        </p:nvSpPr>
        <p:spPr>
          <a:xfrm>
            <a:off x="548640" y="1965960"/>
            <a:ext cx="5760720" cy="2468880"/>
          </a:xfrm>
          <a:prstGeom prst="roundRect">
            <a:avLst>
              <a:gd name="adj" fmla="val 3704"/>
            </a:avLst>
          </a:prstGeom>
          <a:solidFill>
            <a:srgbClr val="F1F5F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25603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message.b64 is written in base64: letters, digits, + and /, often ending in =. Decode it to read the flag.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46177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48640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algn="ctr"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base64 -d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566160" y="46177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B3B5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566160" y="4617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+100 points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5349240"/>
            <a:ext cx="5760720" cy="685800"/>
          </a:xfrm>
          <a:prstGeom prst="roundRect">
            <a:avLst>
              <a:gd name="adj" fmla="val 13333"/>
            </a:avLst>
          </a:prstGeom>
          <a:solidFill>
            <a:srgbClr val="E2F5EC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22960" y="534924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happened: </a:t>
            </a:r>
            <a:pPr indent="0" marL="0">
              <a:buNone/>
            </a:pPr>
            <a:r>
              <a:rPr lang="en-US" sz="135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base64 -d turned the encoding back into text. Encoding needs no key: anyone can undo it.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172200" y="1965960"/>
            <a:ext cx="5468112" cy="4069080"/>
          </a:xfrm>
          <a:prstGeom prst="roundRect">
            <a:avLst>
              <a:gd name="adj" fmla="val 2247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73368" y="212140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9" name="Shape 36"/>
          <p:cNvSpPr/>
          <p:nvPr/>
        </p:nvSpPr>
        <p:spPr>
          <a:xfrm>
            <a:off x="6574536" y="212140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0" name="Shape 37"/>
          <p:cNvSpPr/>
          <p:nvPr/>
        </p:nvSpPr>
        <p:spPr>
          <a:xfrm>
            <a:off x="6775704" y="212140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086600" y="20391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player@quest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446520" y="2423160"/>
            <a:ext cx="49194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~/mission1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message.b64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V2VsY29tZSB0byBiYXNlIGNhbXAh...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base64 -d message.b64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to base camp!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Flag: CYBA{base-...}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45720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2A9FD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57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2 of 9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0604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2F5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06040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7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 ·  100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6656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17875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6656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6216" y="438912"/>
            <a:ext cx="476504" cy="402336"/>
          </a:xfrm>
          <a:prstGeom prst="roundRect">
            <a:avLst>
              <a:gd name="adj" fmla="val 13636"/>
            </a:avLst>
          </a:prstGeom>
          <a:solidFill>
            <a:srgbClr val="2A9F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6216" y="438912"/>
            <a:ext cx="47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86587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587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41552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1552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65184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5184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51484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484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06449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06449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061415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61415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116380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116380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 marks the spot</a:t>
            </a:r>
            <a:endParaRPr lang="en-US" sz="4000" dirty="0"/>
          </a:p>
        </p:txBody>
      </p:sp>
      <p:sp>
        <p:nvSpPr>
          <p:cNvPr id="28" name="Shape 25"/>
          <p:cNvSpPr/>
          <p:nvPr/>
        </p:nvSpPr>
        <p:spPr>
          <a:xfrm>
            <a:off x="548640" y="1965960"/>
            <a:ext cx="5760720" cy="2468880"/>
          </a:xfrm>
          <a:prstGeom prst="roundRect">
            <a:avLst>
              <a:gd name="adj" fmla="val 3704"/>
            </a:avLst>
          </a:prstGeom>
          <a:solidFill>
            <a:srgbClr val="F1F5F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25603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can be written as two hex characters (0-9, a-f): 'A' is 41, a space is 20. Turn the hex back into text.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46177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48640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algn="ctr"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xxd -r -p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566160" y="46177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B3B5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566160" y="4617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+100 points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5349240"/>
            <a:ext cx="5760720" cy="685800"/>
          </a:xfrm>
          <a:prstGeom prst="roundRect">
            <a:avLst>
              <a:gd name="adj" fmla="val 13333"/>
            </a:avLst>
          </a:prstGeom>
          <a:solidFill>
            <a:srgbClr val="E2F5EC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22960" y="534924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happened: </a:t>
            </a:r>
            <a:pPr indent="0" marL="0">
              <a:buNone/>
            </a:pPr>
            <a:r>
              <a:rPr lang="en-US" sz="135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xxd -r -p reversed plain hex into text. -r reverses, -p means plain hex with no columns.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172200" y="1965960"/>
            <a:ext cx="5468112" cy="4069080"/>
          </a:xfrm>
          <a:prstGeom prst="roundRect">
            <a:avLst>
              <a:gd name="adj" fmla="val 2247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73368" y="212140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9" name="Shape 36"/>
          <p:cNvSpPr/>
          <p:nvPr/>
        </p:nvSpPr>
        <p:spPr>
          <a:xfrm>
            <a:off x="6574536" y="212140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0" name="Shape 37"/>
          <p:cNvSpPr/>
          <p:nvPr/>
        </p:nvSpPr>
        <p:spPr>
          <a:xfrm>
            <a:off x="6775704" y="212140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086600" y="20391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player@quest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446520" y="2423160"/>
            <a:ext cx="49194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~/mission2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signal.hex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48657820776169746573...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xxd -r -p signal.hex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 writes every byte as two characters.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Flag: CYBA{hex-...}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45720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2459D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57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3 of 9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0604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2F5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06040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7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 ·  100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6656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17875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6656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621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2A9F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621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65872" y="438912"/>
            <a:ext cx="476504" cy="402336"/>
          </a:xfrm>
          <a:prstGeom prst="roundRect">
            <a:avLst>
              <a:gd name="adj" fmla="val 13636"/>
            </a:avLst>
          </a:prstGeom>
          <a:solidFill>
            <a:srgbClr val="2459D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5872" y="438912"/>
            <a:ext cx="47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41552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1552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65184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5184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51484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484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06449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06449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061415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61415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116380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116380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 cycle</a:t>
            </a:r>
            <a:endParaRPr lang="en-US" sz="4000" dirty="0"/>
          </a:p>
        </p:txBody>
      </p:sp>
      <p:sp>
        <p:nvSpPr>
          <p:cNvPr id="28" name="Shape 25"/>
          <p:cNvSpPr/>
          <p:nvPr/>
        </p:nvSpPr>
        <p:spPr>
          <a:xfrm>
            <a:off x="548640" y="1965960"/>
            <a:ext cx="5760720" cy="2468880"/>
          </a:xfrm>
          <a:prstGeom prst="roundRect">
            <a:avLst>
              <a:gd name="adj" fmla="val 3704"/>
            </a:avLst>
          </a:prstGeom>
          <a:solidFill>
            <a:srgbClr val="F1F5F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5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25603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ROT13 rotates every letter 13 places: A becomes N. Rotating by 13 twice returns to the start, so rotate again to read it.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46177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48640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algn="ctr"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13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566160" y="46177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B3B5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566160" y="4617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+100 points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5349240"/>
            <a:ext cx="5760720" cy="685800"/>
          </a:xfrm>
          <a:prstGeom prst="roundRect">
            <a:avLst>
              <a:gd name="adj" fmla="val 13333"/>
            </a:avLst>
          </a:prstGeom>
          <a:solidFill>
            <a:srgbClr val="E2F5EC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22960" y="534924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happened: </a:t>
            </a:r>
            <a:pPr indent="0" marL="0">
              <a:buNone/>
            </a:pPr>
            <a:r>
              <a:rPr lang="en-US" sz="135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13 rotated the letters back. ROT13 is its own undo, because 13 + 13 = 26, a full loop.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172200" y="1965960"/>
            <a:ext cx="5468112" cy="4069080"/>
          </a:xfrm>
          <a:prstGeom prst="roundRect">
            <a:avLst>
              <a:gd name="adj" fmla="val 2247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73368" y="212140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9" name="Shape 36"/>
          <p:cNvSpPr/>
          <p:nvPr/>
        </p:nvSpPr>
        <p:spPr>
          <a:xfrm>
            <a:off x="6574536" y="212140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0" name="Shape 37"/>
          <p:cNvSpPr/>
          <p:nvPr/>
        </p:nvSpPr>
        <p:spPr>
          <a:xfrm>
            <a:off x="6775704" y="212140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086600" y="20391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player@quest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446520" y="2423160"/>
            <a:ext cx="49194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~/mission3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note.txt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Ebgngr zr 13 cynprf...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13 note.txt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 me 13 places and I spin right back.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Flag: CYBA{rot-...}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45720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7448D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57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4 of 9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0604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06040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200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6656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17875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6656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621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2A9F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621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6587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2459D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587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415528" y="438912"/>
            <a:ext cx="476504" cy="402336"/>
          </a:xfrm>
          <a:prstGeom prst="roundRect">
            <a:avLst>
              <a:gd name="adj" fmla="val 13636"/>
            </a:avLst>
          </a:prstGeom>
          <a:solidFill>
            <a:srgbClr val="7448D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15528" y="438912"/>
            <a:ext cx="47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965184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5184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51484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484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06449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06449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061415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61415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116380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116380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Hail Caesar</a:t>
            </a:r>
            <a:endParaRPr lang="en-US" sz="4000" dirty="0"/>
          </a:p>
        </p:txBody>
      </p:sp>
      <p:sp>
        <p:nvSpPr>
          <p:cNvPr id="28" name="Shape 25"/>
          <p:cNvSpPr/>
          <p:nvPr/>
        </p:nvSpPr>
        <p:spPr>
          <a:xfrm>
            <a:off x="548640" y="1965960"/>
            <a:ext cx="5760720" cy="2468880"/>
          </a:xfrm>
          <a:prstGeom prst="roundRect">
            <a:avLst>
              <a:gd name="adj" fmla="val 3704"/>
            </a:avLst>
          </a:prstGeom>
          <a:solidFill>
            <a:srgbClr val="F1F5F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44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25603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scroll.txt uses a Caesar shift, but nobody wrote down which one. There are only 25 shifts, so let the computer try them all.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46177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48640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algn="ctr"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--all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566160" y="46177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B3B5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566160" y="4617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+200 points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5349240"/>
            <a:ext cx="5760720" cy="685800"/>
          </a:xfrm>
          <a:prstGeom prst="roundRect">
            <a:avLst>
              <a:gd name="adj" fmla="val 13333"/>
            </a:avLst>
          </a:prstGeom>
          <a:solidFill>
            <a:srgbClr val="E2F5EC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22960" y="534924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happened: </a:t>
            </a:r>
            <a:pPr indent="0" marL="0">
              <a:buNone/>
            </a:pPr>
            <a:r>
              <a:rPr lang="en-US" sz="135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--all showed all 25 shifts; one reads as English. Trying every key is a brute-force attack.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172200" y="1965960"/>
            <a:ext cx="5468112" cy="4069080"/>
          </a:xfrm>
          <a:prstGeom prst="roundRect">
            <a:avLst>
              <a:gd name="adj" fmla="val 2247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73368" y="212140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9" name="Shape 36"/>
          <p:cNvSpPr/>
          <p:nvPr/>
        </p:nvSpPr>
        <p:spPr>
          <a:xfrm>
            <a:off x="6574536" y="212140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0" name="Shape 37"/>
          <p:cNvSpPr/>
          <p:nvPr/>
        </p:nvSpPr>
        <p:spPr>
          <a:xfrm>
            <a:off x="6775704" y="212140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086600" y="20391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player@quest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446520" y="2423160"/>
            <a:ext cx="49194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~/mission4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--all scroll.txt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 1: Tdoj ...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 3: Veni vidi vici: I came...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3 scroll.txt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Flag: CYBA{caesar-...}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45720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D1416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57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5 of 9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0604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06040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200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6656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17875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6656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621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2A9F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621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6587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2459D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587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41552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7448D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1552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65184" y="438912"/>
            <a:ext cx="476504" cy="402336"/>
          </a:xfrm>
          <a:prstGeom prst="roundRect">
            <a:avLst>
              <a:gd name="adj" fmla="val 13636"/>
            </a:avLst>
          </a:prstGeom>
          <a:solidFill>
            <a:srgbClr val="D141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5184" y="438912"/>
            <a:ext cx="47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51484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484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06449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06449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061415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61415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116380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116380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Russian doll</a:t>
            </a:r>
            <a:endParaRPr lang="en-US" sz="4000" dirty="0"/>
          </a:p>
        </p:txBody>
      </p:sp>
      <p:sp>
        <p:nvSpPr>
          <p:cNvPr id="28" name="Shape 25"/>
          <p:cNvSpPr/>
          <p:nvPr/>
        </p:nvSpPr>
        <p:spPr>
          <a:xfrm>
            <a:off x="548640" y="1965960"/>
            <a:ext cx="5760720" cy="2468880"/>
          </a:xfrm>
          <a:prstGeom prst="roundRect">
            <a:avLst>
              <a:gd name="adj" fmla="val 3704"/>
            </a:avLst>
          </a:prstGeom>
          <a:solidFill>
            <a:srgbClr val="F1F5F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4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25603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message is wrapped in three layers: hex, base64 and ROT13. Work out the order from the outside in, and peel with pipes.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46177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48640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algn="ctr"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566160" y="46177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B3B5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566160" y="4617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+200 points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5349240"/>
            <a:ext cx="5760720" cy="685800"/>
          </a:xfrm>
          <a:prstGeom prst="roundRect">
            <a:avLst>
              <a:gd name="adj" fmla="val 13333"/>
            </a:avLst>
          </a:prstGeom>
          <a:solidFill>
            <a:srgbClr val="E2F5EC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22960" y="534924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happened: </a:t>
            </a:r>
            <a:pPr indent="0" marL="0">
              <a:buNone/>
            </a:pPr>
            <a:r>
              <a:rPr lang="en-US" sz="135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each layer (hex = only 0-9 a-f; base64 = mixed case and =) let us pipe one decoder into the next.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172200" y="1965960"/>
            <a:ext cx="5468112" cy="4069080"/>
          </a:xfrm>
          <a:prstGeom prst="roundRect">
            <a:avLst>
              <a:gd name="adj" fmla="val 2247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73368" y="212140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9" name="Shape 36"/>
          <p:cNvSpPr/>
          <p:nvPr/>
        </p:nvSpPr>
        <p:spPr>
          <a:xfrm>
            <a:off x="6574536" y="212140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0" name="Shape 37"/>
          <p:cNvSpPr/>
          <p:nvPr/>
        </p:nvSpPr>
        <p:spPr>
          <a:xfrm>
            <a:off x="6775704" y="212140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086600" y="20391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player@quest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446520" y="2423160"/>
            <a:ext cx="49194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~/mission5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doll.txt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54474a6f49474a6...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xxd -r -p doll.txt | base64 -d | caesar 13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opened every doll!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Flag: CYBA{doll-...}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45720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E8820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57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6 of 9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0604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06040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200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6656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17875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6656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621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2A9F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621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6587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2459D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587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41552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7448D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1552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65184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D141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5184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514840" y="438912"/>
            <a:ext cx="476504" cy="402336"/>
          </a:xfrm>
          <a:prstGeom prst="roundRect">
            <a:avLst>
              <a:gd name="adj" fmla="val 13636"/>
            </a:avLst>
          </a:prstGeom>
          <a:solidFill>
            <a:srgbClr val="E8820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4840" y="438912"/>
            <a:ext cx="47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006449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06449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061415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61415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116380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116380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Fingerprints</a:t>
            </a:r>
            <a:endParaRPr lang="en-US" sz="4000" dirty="0"/>
          </a:p>
        </p:txBody>
      </p:sp>
      <p:sp>
        <p:nvSpPr>
          <p:cNvPr id="28" name="Shape 25"/>
          <p:cNvSpPr/>
          <p:nvPr/>
        </p:nvSpPr>
        <p:spPr>
          <a:xfrm>
            <a:off x="548640" y="1965960"/>
            <a:ext cx="5760720" cy="2468880"/>
          </a:xfrm>
          <a:prstGeom prst="roundRect">
            <a:avLst>
              <a:gd name="adj" fmla="val 3704"/>
            </a:avLst>
          </a:prstGeom>
          <a:solidFill>
            <a:srgbClr val="F1F5F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8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25603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is a fingerprint for data. The keys folder holds a dozen look-alike keys; README gives the SHA-256 of the real one.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46177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48640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algn="ctr"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sha256sum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566160" y="46177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B3B5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566160" y="4617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+200 points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5349240"/>
            <a:ext cx="5760720" cy="685800"/>
          </a:xfrm>
          <a:prstGeom prst="roundRect">
            <a:avLst>
              <a:gd name="adj" fmla="val 13333"/>
            </a:avLst>
          </a:prstGeom>
          <a:solidFill>
            <a:srgbClr val="E2F5EC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22960" y="534924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happened: </a:t>
            </a:r>
            <a:pPr indent="0" marL="0">
              <a:buNone/>
            </a:pPr>
            <a:r>
              <a:rPr lang="en-US" sz="135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sha256sum fingerprinted every key; grep matched the one from README. You can't reverse a hash, but you can compare.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172200" y="1965960"/>
            <a:ext cx="5468112" cy="4069080"/>
          </a:xfrm>
          <a:prstGeom prst="roundRect">
            <a:avLst>
              <a:gd name="adj" fmla="val 2247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73368" y="212140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9" name="Shape 36"/>
          <p:cNvSpPr/>
          <p:nvPr/>
        </p:nvSpPr>
        <p:spPr>
          <a:xfrm>
            <a:off x="6574536" y="212140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0" name="Shape 37"/>
          <p:cNvSpPr/>
          <p:nvPr/>
        </p:nvSpPr>
        <p:spPr>
          <a:xfrm>
            <a:off x="6775704" y="212140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086600" y="20391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player@quest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446520" y="2423160"/>
            <a:ext cx="49194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~/mission6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README.txt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fingerprint: 9ba7be9e...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sha256sum keys/* | grep 9ba7be9e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9ba7be9e... keys/key-qxra.txt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keys/key-qxra.txt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CYBA{print-...}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45720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57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7 of 9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0604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DE8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06040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 ·  400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6656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17875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6656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621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2A9F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621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6587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2459D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587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41552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7448D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1552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65184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D141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5184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51484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8820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484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064496" y="438912"/>
            <a:ext cx="476504" cy="402336"/>
          </a:xfrm>
          <a:prstGeom prst="roundRect">
            <a:avLst>
              <a:gd name="adj" fmla="val 13636"/>
            </a:avLst>
          </a:prstGeom>
          <a:solidFill>
            <a:srgbClr val="C9A22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064496" y="438912"/>
            <a:ext cx="47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061415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61415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116380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116380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 detective</a:t>
            </a:r>
            <a:endParaRPr lang="en-US" sz="4000" dirty="0"/>
          </a:p>
        </p:txBody>
      </p:sp>
      <p:sp>
        <p:nvSpPr>
          <p:cNvPr id="28" name="Shape 25"/>
          <p:cNvSpPr/>
          <p:nvPr/>
        </p:nvSpPr>
        <p:spPr>
          <a:xfrm>
            <a:off x="548640" y="1965960"/>
            <a:ext cx="5760720" cy="2468880"/>
          </a:xfrm>
          <a:prstGeom prst="roundRect">
            <a:avLst>
              <a:gd name="adj" fmla="val 3704"/>
            </a:avLst>
          </a:prstGeom>
          <a:solidFill>
            <a:srgbClr val="F1F5F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25603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substitution cipher swaps every letter for another. Too many keys to brute-force, but language leaks: e and t are common, and 'the' repeats.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46177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48640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algn="ctr"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freq, tr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566160" y="46177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B3B5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566160" y="4617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+400 points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5349240"/>
            <a:ext cx="5760720" cy="685800"/>
          </a:xfrm>
          <a:prstGeom prst="roundRect">
            <a:avLst>
              <a:gd name="adj" fmla="val 13333"/>
            </a:avLst>
          </a:prstGeom>
          <a:solidFill>
            <a:srgbClr val="E2F5EC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22960" y="534924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happened: </a:t>
            </a:r>
            <a:pPr indent="0" marL="0">
              <a:buNone/>
            </a:pPr>
            <a:r>
              <a:rPr lang="en-US" sz="135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 ranked the letters; the most common is usually e, and the commonest 3-letter word is 'the'. tr tested each guess.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172200" y="1965960"/>
            <a:ext cx="5468112" cy="4069080"/>
          </a:xfrm>
          <a:prstGeom prst="roundRect">
            <a:avLst>
              <a:gd name="adj" fmla="val 2247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73368" y="212140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9" name="Shape 36"/>
          <p:cNvSpPr/>
          <p:nvPr/>
        </p:nvSpPr>
        <p:spPr>
          <a:xfrm>
            <a:off x="6574536" y="212140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0" name="Shape 37"/>
          <p:cNvSpPr/>
          <p:nvPr/>
        </p:nvSpPr>
        <p:spPr>
          <a:xfrm>
            <a:off x="6775704" y="212140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086600" y="20391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player@quest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446520" y="2423160"/>
            <a:ext cx="49194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~/mission7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 cipher.txt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   58  ####...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   41  ###...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cipher.txt | tr 'tg' 'ET'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message...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...the secret word is cipher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45720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0F948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57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8 of 9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0604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DE8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06040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 ·  400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6656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17875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6656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621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2A9F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621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6587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2459D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587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41552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7448D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1552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65184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D141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5184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51484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8820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484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06449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C9A22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06449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0614152" y="438912"/>
            <a:ext cx="476504" cy="402336"/>
          </a:xfrm>
          <a:prstGeom prst="roundRect">
            <a:avLst>
              <a:gd name="adj" fmla="val 13636"/>
            </a:avLst>
          </a:prstGeom>
          <a:solidFill>
            <a:srgbClr val="0F948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614152" y="438912"/>
            <a:ext cx="47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116380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4EAF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116380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cipher</a:t>
            </a:r>
            <a:endParaRPr lang="en-US" sz="4000" dirty="0"/>
          </a:p>
        </p:txBody>
      </p:sp>
      <p:sp>
        <p:nvSpPr>
          <p:cNvPr id="28" name="Shape 25"/>
          <p:cNvSpPr/>
          <p:nvPr/>
        </p:nvSpPr>
        <p:spPr>
          <a:xfrm>
            <a:off x="548640" y="1965960"/>
            <a:ext cx="5760720" cy="2468880"/>
          </a:xfrm>
          <a:prstGeom prst="roundRect">
            <a:avLst>
              <a:gd name="adj" fmla="val 3704"/>
            </a:avLst>
          </a:prstGeom>
          <a:solidFill>
            <a:srgbClr val="F1F5F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25603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Vigenere cipher is a Caesar shift that changes with every letter, following a keyword. The keyword is hidden in plain sight in poem.txt.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46177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48640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algn="ctr"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vigenere -d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566160" y="46177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B3B5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566160" y="4617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+400 points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5349240"/>
            <a:ext cx="5760720" cy="685800"/>
          </a:xfrm>
          <a:prstGeom prst="roundRect">
            <a:avLst>
              <a:gd name="adj" fmla="val 13333"/>
            </a:avLst>
          </a:prstGeom>
          <a:solidFill>
            <a:srgbClr val="E2F5EC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22960" y="534924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happened: </a:t>
            </a:r>
            <a:pPr indent="0" marL="0">
              <a:buNone/>
            </a:pPr>
            <a:r>
              <a:rPr lang="en-US" sz="135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letter of each line of the poem spelled the keyword (an acrostic). vigenere -d undid the shifting.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172200" y="1965960"/>
            <a:ext cx="5468112" cy="4069080"/>
          </a:xfrm>
          <a:prstGeom prst="roundRect">
            <a:avLst>
              <a:gd name="adj" fmla="val 2247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73368" y="212140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9" name="Shape 36"/>
          <p:cNvSpPr/>
          <p:nvPr/>
        </p:nvSpPr>
        <p:spPr>
          <a:xfrm>
            <a:off x="6574536" y="212140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0" name="Shape 37"/>
          <p:cNvSpPr/>
          <p:nvPr/>
        </p:nvSpPr>
        <p:spPr>
          <a:xfrm>
            <a:off x="6775704" y="212140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086600" y="20391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player@quest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446520" y="2423160"/>
            <a:ext cx="49194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~/mission8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poem.txt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Clouds drift / Echoes fade / ...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letters spell: cedar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vigenere -d cedar secret.txt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Flag: CYBA{keyword-...}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45720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5B6EE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57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9 of 9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0604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A143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06040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HARD  ·  800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6656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17875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6656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621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2A9F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621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6587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2459D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587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415528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7448D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15528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65184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D141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5184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514840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E8820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4840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064496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C9A22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064496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0614152" y="493776"/>
            <a:ext cx="476504" cy="292608"/>
          </a:xfrm>
          <a:prstGeom prst="roundRect">
            <a:avLst>
              <a:gd name="adj" fmla="val 18750"/>
            </a:avLst>
          </a:prstGeom>
          <a:solidFill>
            <a:srgbClr val="0F948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614152" y="493776"/>
            <a:ext cx="47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1163808" y="438912"/>
            <a:ext cx="476504" cy="402336"/>
          </a:xfrm>
          <a:prstGeom prst="roundRect">
            <a:avLst>
              <a:gd name="adj" fmla="val 13636"/>
            </a:avLst>
          </a:prstGeom>
          <a:solidFill>
            <a:srgbClr val="5B6EE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1163808" y="438912"/>
            <a:ext cx="47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vault</a:t>
            </a:r>
            <a:endParaRPr lang="en-US" sz="4000" dirty="0"/>
          </a:p>
        </p:txBody>
      </p:sp>
      <p:sp>
        <p:nvSpPr>
          <p:cNvPr id="28" name="Shape 25"/>
          <p:cNvSpPr/>
          <p:nvPr/>
        </p:nvSpPr>
        <p:spPr>
          <a:xfrm>
            <a:off x="548640" y="1965960"/>
            <a:ext cx="5760720" cy="2468880"/>
          </a:xfrm>
          <a:prstGeom prst="roundRect">
            <a:avLst>
              <a:gd name="adj" fmla="val 3704"/>
            </a:avLst>
          </a:prstGeom>
          <a:solidFill>
            <a:srgbClr val="F1F5F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6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25603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vault.b64 was Vigenere-encrypted, then base64-encoded. The keyword is in key.txt, but that note was itself scrambled with a Caesar shift.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46177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48640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algn="ctr"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of it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566160" y="46177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B3B5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566160" y="4617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+800 points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5349240"/>
            <a:ext cx="5760720" cy="685800"/>
          </a:xfrm>
          <a:prstGeom prst="roundRect">
            <a:avLst>
              <a:gd name="adj" fmla="val 13333"/>
            </a:avLst>
          </a:prstGeom>
          <a:solidFill>
            <a:srgbClr val="E2F5EC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22960" y="534924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happened: </a:t>
            </a:r>
            <a:pPr indent="0" marL="0">
              <a:buNone/>
            </a:pPr>
            <a:r>
              <a:rPr lang="en-US" sz="135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--all recovered the keyword, base64 -d peeled the outer layer, vigenere -d decrypted the core. Every skill, chained.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172200" y="1965960"/>
            <a:ext cx="5468112" cy="4069080"/>
          </a:xfrm>
          <a:prstGeom prst="roundRect">
            <a:avLst>
              <a:gd name="adj" fmla="val 2247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73368" y="212140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9" name="Shape 36"/>
          <p:cNvSpPr/>
          <p:nvPr/>
        </p:nvSpPr>
        <p:spPr>
          <a:xfrm>
            <a:off x="6574536" y="212140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0" name="Shape 37"/>
          <p:cNvSpPr/>
          <p:nvPr/>
        </p:nvSpPr>
        <p:spPr>
          <a:xfrm>
            <a:off x="6775704" y="212140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086600" y="20391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player@quest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446520" y="2423160"/>
            <a:ext cx="49194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--all key.txt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16: The vault keyword is copper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base64 -d vault.b64 | vigenere -d copper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cracked the vault.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Flag: CYBA{vault-...}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scorecard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1F5FB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6642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206240" y="166420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for all nine flags, 2,550 with the warm-up.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265176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1F5FB"/>
          </a:solidFill>
          <a:ln/>
        </p:spPr>
      </p:sp>
      <p:sp>
        <p:nvSpPr>
          <p:cNvPr id="12" name="Shape 8"/>
          <p:cNvSpPr/>
          <p:nvPr/>
        </p:nvSpPr>
        <p:spPr>
          <a:xfrm>
            <a:off x="822960" y="2788920"/>
            <a:ext cx="685800" cy="685800"/>
          </a:xfrm>
          <a:prstGeom prst="ellipse">
            <a:avLst/>
          </a:prstGeom>
          <a:solidFill>
            <a:srgbClr val="2459D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2960370"/>
            <a:ext cx="342900" cy="342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37360" y="27614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206240" y="276148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since your previous flag. Your biggest Took is where you got stuck.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374904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1F5FB"/>
          </a:solidFill>
          <a:ln/>
        </p:spPr>
      </p:sp>
      <p:sp>
        <p:nvSpPr>
          <p:cNvPr id="17" name="Shape 12"/>
          <p:cNvSpPr/>
          <p:nvPr/>
        </p:nvSpPr>
        <p:spPr>
          <a:xfrm>
            <a:off x="822960" y="3886200"/>
            <a:ext cx="685800" cy="685800"/>
          </a:xfrm>
          <a:prstGeom prst="ellipse">
            <a:avLst/>
          </a:prstGeom>
          <a:solidFill>
            <a:srgbClr val="1787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4057650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37360" y="38587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4206240" y="385876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when you submitted each flag.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484632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1F5FB"/>
          </a:solidFill>
          <a:ln/>
        </p:spPr>
      </p:sp>
      <p:sp>
        <p:nvSpPr>
          <p:cNvPr id="22" name="Shape 16"/>
          <p:cNvSpPr/>
          <p:nvPr/>
        </p:nvSpPr>
        <p:spPr>
          <a:xfrm>
            <a:off x="822960" y="4983480"/>
            <a:ext cx="685800" cy="685800"/>
          </a:xfrm>
          <a:prstGeom prst="ellipse">
            <a:avLst/>
          </a:prstGeom>
          <a:solidFill>
            <a:srgbClr val="7448D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5154930"/>
            <a:ext cx="342900" cy="342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9560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4206240" y="495604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set of ciphers and a clean clock. Beat your time.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b="1" dirty="0">
                <a:solidFill>
                  <a:srgbClr val="D14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5000" dirty="0"/>
          </a:p>
        </p:txBody>
      </p:sp>
      <p:sp>
        <p:nvSpPr>
          <p:cNvPr id="6" name="Text 3"/>
          <p:cNvSpPr txBox="1"/>
          <p:nvPr/>
        </p:nvSpPr>
        <p:spPr>
          <a:xfrm>
            <a:off x="39319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4 of 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8745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3931920" y="3337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game stays fair, what you just did, and how to keep going.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16223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48920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"$(whoami) cracked the code"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submit know you're right?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11094415" cy="2377440"/>
          </a:xfrm>
          <a:prstGeom prst="roundRect">
            <a:avLst>
              <a:gd name="adj" fmla="val 3846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80136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0136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0136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463040" y="1719072"/>
            <a:ext cx="9265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fingerprints are stored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103120"/>
            <a:ext cx="105457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/etc/quest/4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a3f9...  # just a fingerprint, not the flag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 CYBA{caesar-8fba6fd0}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fingerprints your guess, compares, matches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Correct! +200 points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429768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FFF4D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429768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real websites check passwords. </a:t>
            </a:r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store the hash, compare the hash of what you type, and never keep the password itself. It's also why a site can tell you your password is right but can never email it back to you.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just did is the job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49824" cy="201168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rgbClr val="2A9F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68830"/>
            <a:ext cx="388620" cy="3886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8745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encodings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743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 that's been base64'd or hex'd: everyday work for developers and analysts.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0488" y="1600200"/>
            <a:ext cx="5449824" cy="201168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12" name="Shape 8"/>
          <p:cNvSpPr/>
          <p:nvPr/>
        </p:nvSpPr>
        <p:spPr>
          <a:xfrm>
            <a:off x="6464808" y="1874520"/>
            <a:ext cx="777240" cy="777240"/>
          </a:xfrm>
          <a:prstGeom prst="ellipse">
            <a:avLst/>
          </a:prstGeom>
          <a:solidFill>
            <a:srgbClr val="7448D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118" y="2068830"/>
            <a:ext cx="388620" cy="3886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79208" y="18745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weak ciphers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464808" y="2743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and cracking weak home-made crypto is a real finding in security audits.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9824" cy="201168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17" name="Shape 12"/>
          <p:cNvSpPr/>
          <p:nvPr/>
        </p:nvSpPr>
        <p:spPr>
          <a:xfrm>
            <a:off x="822960" y="4069080"/>
            <a:ext cx="777240" cy="777240"/>
          </a:xfrm>
          <a:prstGeom prst="ellipse">
            <a:avLst/>
          </a:prstGeom>
          <a:solidFill>
            <a:srgbClr val="E8820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263390"/>
            <a:ext cx="388620" cy="3886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37360" y="40690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hashing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822960" y="4937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hashes vs encryption is the foundation of password security.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0488" y="3794760"/>
            <a:ext cx="5449824" cy="2011680"/>
          </a:xfrm>
          <a:prstGeom prst="roundRect">
            <a:avLst>
              <a:gd name="adj" fmla="val 4545"/>
            </a:avLst>
          </a:prstGeom>
          <a:solidFill>
            <a:srgbClr val="F1F5FB"/>
          </a:solidFill>
          <a:ln/>
        </p:spPr>
      </p:sp>
      <p:sp>
        <p:nvSpPr>
          <p:cNvPr id="22" name="Shape 16"/>
          <p:cNvSpPr/>
          <p:nvPr/>
        </p:nvSpPr>
        <p:spPr>
          <a:xfrm>
            <a:off x="6464808" y="4069080"/>
            <a:ext cx="777240" cy="777240"/>
          </a:xfrm>
          <a:prstGeom prst="ellipse">
            <a:avLst/>
          </a:prstGeom>
          <a:solidFill>
            <a:srgbClr val="D1416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118" y="4263390"/>
            <a:ext cx="388620" cy="3886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379208" y="40690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like an attacker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6464808" y="4937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hidden thing, with permission, is what security pros are paid to do.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cracking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49824" cy="3017520"/>
          </a:xfrm>
          <a:prstGeom prst="roundRect">
            <a:avLst>
              <a:gd name="adj" fmla="val 3030"/>
            </a:avLst>
          </a:prstGeom>
          <a:solidFill>
            <a:srgbClr val="F1F5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5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CyberQuest Academy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[CyberQuest link]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0632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CTFs, live scoreboards, and harder crypto: RSA, XOR and modern ciphers.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90488" y="1645920"/>
            <a:ext cx="5449824" cy="3017520"/>
          </a:xfrm>
          <a:prstGeom prst="roundRect">
            <a:avLst>
              <a:gd name="adj" fmla="val 3030"/>
            </a:avLst>
          </a:prstGeom>
          <a:solidFill>
            <a:srgbClr val="F1F5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10528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the Crypto CTF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510528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[your CTF link]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510528" y="30632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at home. Every replay is a fresh set of ciphers and a fresh clock.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493776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49808" y="509320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6" name="Shape 13"/>
          <p:cNvSpPr/>
          <p:nvPr/>
        </p:nvSpPr>
        <p:spPr>
          <a:xfrm>
            <a:off x="950976" y="509320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Shape 14"/>
          <p:cNvSpPr/>
          <p:nvPr/>
        </p:nvSpPr>
        <p:spPr>
          <a:xfrm>
            <a:off x="1152144" y="509320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39496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"Thanks for playing. Keep cracking."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appendix: open the CTF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2459D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64208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CTF link </a:t>
            </a:r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Chrome from the box on the right.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2459D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624328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boot. </a:t>
            </a:r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says Ready when it's up.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2459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584448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inside the black terminal. </a:t>
            </a:r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cursor should blink.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459D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4544568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command: </a:t>
            </a:r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hi | base64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040880" y="1645920"/>
            <a:ext cx="4599432" cy="2743200"/>
          </a:xfrm>
          <a:prstGeom prst="roundRect">
            <a:avLst>
              <a:gd name="adj" fmla="val 4000"/>
            </a:avLst>
          </a:prstGeom>
          <a:solidFill>
            <a:srgbClr val="0E172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040880" y="182880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address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406640" y="2377440"/>
            <a:ext cx="3867912" cy="1280160"/>
          </a:xfrm>
          <a:prstGeom prst="roundRect">
            <a:avLst>
              <a:gd name="adj" fmla="val 5714"/>
            </a:avLst>
          </a:prstGeom>
          <a:solidFill>
            <a:srgbClr val="162238"/>
          </a:solidFill>
          <a:ln w="25400">
            <a:solidFill>
              <a:srgbClr val="F5A623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7406640" y="2377440"/>
            <a:ext cx="3867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your-group.gitlab.io/...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040880" y="4663440"/>
            <a:ext cx="4599432" cy="1188720"/>
          </a:xfrm>
          <a:prstGeom prst="roundRect">
            <a:avLst>
              <a:gd name="adj" fmla="val 7692"/>
            </a:avLst>
          </a:prstGeom>
          <a:solidFill>
            <a:srgbClr val="FFF4D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15200" y="46634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reload! </a:t>
            </a:r>
            <a:pPr indent="0" marL="0">
              <a:buNone/>
            </a:pPr>
            <a:r>
              <a:rPr lang="en-US" sz="15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reload builds a new set of ciphers and resets points and the clock.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appendix: answer key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7" name="Shape 4"/>
          <p:cNvSpPr/>
          <p:nvPr/>
        </p:nvSpPr>
        <p:spPr>
          <a:xfrm>
            <a:off x="658368" y="1490472"/>
            <a:ext cx="274320" cy="274320"/>
          </a:xfrm>
          <a:prstGeom prst="ellipse">
            <a:avLst/>
          </a:prstGeom>
          <a:solidFill>
            <a:srgbClr val="56657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8368" y="1490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1371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orientation.txt; submit the last line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50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" y="1947672"/>
            <a:ext cx="274320" cy="274320"/>
          </a:xfrm>
          <a:prstGeom prst="ellipse">
            <a:avLst/>
          </a:prstGeom>
          <a:solidFill>
            <a:srgbClr val="17875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8368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camp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18288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base64 -d message.b64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24128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100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9" name="Shape 16"/>
          <p:cNvSpPr/>
          <p:nvPr/>
        </p:nvSpPr>
        <p:spPr>
          <a:xfrm>
            <a:off x="658368" y="2404872"/>
            <a:ext cx="274320" cy="274320"/>
          </a:xfrm>
          <a:prstGeom prst="ellipse">
            <a:avLst/>
          </a:prstGeom>
          <a:solidFill>
            <a:srgbClr val="2A9FD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58368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marks the spot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749040" y="22860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xxd -r -p signal.hex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100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2743200"/>
            <a:ext cx="1109441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658368" y="2862072"/>
            <a:ext cx="274320" cy="274320"/>
          </a:xfrm>
          <a:prstGeom prst="ellipse">
            <a:avLst/>
          </a:prstGeom>
          <a:solidFill>
            <a:srgbClr val="2459D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58368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09728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cycle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749040" y="27432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13 note.txt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100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3200400"/>
            <a:ext cx="11094415" cy="457200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368" y="3319272"/>
            <a:ext cx="274320" cy="274320"/>
          </a:xfrm>
          <a:prstGeom prst="ellipse">
            <a:avLst/>
          </a:prstGeom>
          <a:solidFill>
            <a:srgbClr val="7448D4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5836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9728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Hail Caesar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3749040" y="32004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--all scroll.txt; caesar N scroll.txt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024128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200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48640" y="3657600"/>
            <a:ext cx="1109441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4"/>
          <p:cNvSpPr/>
          <p:nvPr/>
        </p:nvSpPr>
        <p:spPr>
          <a:xfrm>
            <a:off x="658368" y="3776472"/>
            <a:ext cx="274320" cy="274320"/>
          </a:xfrm>
          <a:prstGeom prst="ellipse">
            <a:avLst/>
          </a:prstGeom>
          <a:solidFill>
            <a:srgbClr val="D1416B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58368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9728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doll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3749040" y="3657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xxd -r -p doll.txt | base64 -d | caesar 13  (or swap first two)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24128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200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43" name="Shape 40"/>
          <p:cNvSpPr/>
          <p:nvPr/>
        </p:nvSpPr>
        <p:spPr>
          <a:xfrm>
            <a:off x="658368" y="4233672"/>
            <a:ext cx="274320" cy="274320"/>
          </a:xfrm>
          <a:prstGeom prst="ellipse">
            <a:avLst/>
          </a:prstGeom>
          <a:solidFill>
            <a:srgbClr val="E8820C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58368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109728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3749040" y="41148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sha256sum keys/* | grep &lt;fp&gt;; cat &lt;match&gt;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24128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200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6"/>
          <p:cNvSpPr/>
          <p:nvPr/>
        </p:nvSpPr>
        <p:spPr>
          <a:xfrm>
            <a:off x="658368" y="4690872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658368" y="4690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97280" y="4572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detective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3749040" y="45720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 cipher.txt; tr guesses; read word+number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241280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400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55" name="Shape 52"/>
          <p:cNvSpPr/>
          <p:nvPr/>
        </p:nvSpPr>
        <p:spPr>
          <a:xfrm>
            <a:off x="658368" y="5148072"/>
            <a:ext cx="274320" cy="274320"/>
          </a:xfrm>
          <a:prstGeom prst="ellipse">
            <a:avLst/>
          </a:prstGeom>
          <a:solidFill>
            <a:srgbClr val="0F9488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658368" y="5148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97280" y="5029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cipher</a:t>
            </a:r>
            <a:endParaRPr lang="en-US" sz="1300" dirty="0"/>
          </a:p>
        </p:txBody>
      </p:sp>
      <p:sp>
        <p:nvSpPr>
          <p:cNvPr id="58" name="Text 55"/>
          <p:cNvSpPr txBox="1"/>
          <p:nvPr/>
        </p:nvSpPr>
        <p:spPr>
          <a:xfrm>
            <a:off x="3749040" y="50292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letters of poem.txt spell the key; vigenere -d KEY secret.txt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241280" y="5029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400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8"/>
          <p:cNvSpPr/>
          <p:nvPr/>
        </p:nvSpPr>
        <p:spPr>
          <a:xfrm>
            <a:off x="658368" y="5605272"/>
            <a:ext cx="274320" cy="274320"/>
          </a:xfrm>
          <a:prstGeom prst="ellipse">
            <a:avLst/>
          </a:prstGeom>
          <a:solidFill>
            <a:srgbClr val="5B6EE1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658368" y="5605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97280" y="5486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</a:t>
            </a:r>
            <a:endParaRPr lang="en-US" sz="1300" dirty="0"/>
          </a:p>
        </p:txBody>
      </p:sp>
      <p:sp>
        <p:nvSpPr>
          <p:cNvPr id="64" name="Text 61"/>
          <p:cNvSpPr txBox="1"/>
          <p:nvPr/>
        </p:nvSpPr>
        <p:spPr>
          <a:xfrm>
            <a:off x="3749040" y="54864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 --all key.txt; base64 -d vault.b64 | vigenere -d KEY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10241280" y="5486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Hard 800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appendix: when things go wrong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Crypto CTF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49824" cy="1188720"/>
          </a:xfrm>
          <a:prstGeom prst="roundRect">
            <a:avLst>
              <a:gd name="adj" fmla="val 7692"/>
            </a:avLst>
          </a:prstGeom>
          <a:solidFill>
            <a:srgbClr val="F1F5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won't load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filter may block *.gitlab.io. Ask IT to allow your Pages address.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90488" y="1554480"/>
            <a:ext cx="5449824" cy="1188720"/>
          </a:xfrm>
          <a:prstGeom prst="roundRect">
            <a:avLst>
              <a:gd name="adj" fmla="val 7692"/>
            </a:avLst>
          </a:prstGeom>
          <a:solidFill>
            <a:srgbClr val="F1F5F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19088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says 'lite mode'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19088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browser blocks WebAssembly. Lite mode has the same missions: carry 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880360"/>
            <a:ext cx="5449824" cy="1188720"/>
          </a:xfrm>
          <a:prstGeom prst="roundRect">
            <a:avLst>
              <a:gd name="adj" fmla="val 7692"/>
            </a:avLst>
          </a:prstGeom>
          <a:solidFill>
            <a:srgbClr val="F1F5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2990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does nothing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337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inside the black terminal first.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90488" y="2880360"/>
            <a:ext cx="5449824" cy="1188720"/>
          </a:xfrm>
          <a:prstGeom prst="roundRect">
            <a:avLst>
              <a:gd name="adj" fmla="val 7692"/>
            </a:avLst>
          </a:prstGeom>
          <a:solidFill>
            <a:srgbClr val="F1F5F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19088" y="2990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"Incorrect flag"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19088" y="3337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whole flag, CYBA{ to }, no extra spaces. Flags from another computer never work.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206240"/>
            <a:ext cx="5449824" cy="1188720"/>
          </a:xfrm>
          <a:prstGeom prst="roundRect">
            <a:avLst>
              <a:gd name="adj" fmla="val 7692"/>
            </a:avLst>
          </a:prstGeom>
          <a:solidFill>
            <a:srgbClr val="F1F5F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4315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says 'not found'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spelling: caesar, freq, vigenere, xxd. Type the tool with --help.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90488" y="4206240"/>
            <a:ext cx="5449824" cy="1188720"/>
          </a:xfrm>
          <a:prstGeom prst="roundRect">
            <a:avLst>
              <a:gd name="adj" fmla="val 7692"/>
            </a:avLst>
          </a:prstGeom>
          <a:solidFill>
            <a:srgbClr val="F1F5F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19088" y="4315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was reloaded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ciphers, points and clock reset. The second run is fast.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CyberQuest Crypto CTF: learn cryptography, then compete</dc:title>
  <dc:subject>PptxGenJS Presentation</dc:subject>
  <dc:creator>CyberQuest Academy</dc:creator>
  <cp:lastModifiedBy>CyberQuest Academy</cp:lastModifiedBy>
  <cp:revision>1</cp:revision>
  <dcterms:created xsi:type="dcterms:W3CDTF">2026-10-09T05:42:26Z</dcterms:created>
  <dcterms:modified xsi:type="dcterms:W3CDTF">2026-10-09T05:42:26Z</dcterms:modified>
</cp:coreProperties>
</file>